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09"/>
  </p:notesMasterIdLst>
  <p:sldIdLst>
    <p:sldId id="572" r:id="rId2"/>
    <p:sldId id="585" r:id="rId3"/>
    <p:sldId id="586" r:id="rId4"/>
    <p:sldId id="574" r:id="rId5"/>
    <p:sldId id="575" r:id="rId6"/>
    <p:sldId id="576" r:id="rId7"/>
    <p:sldId id="584" r:id="rId8"/>
    <p:sldId id="573" r:id="rId9"/>
    <p:sldId id="577" r:id="rId10"/>
    <p:sldId id="578" r:id="rId11"/>
    <p:sldId id="579" r:id="rId12"/>
    <p:sldId id="580" r:id="rId13"/>
    <p:sldId id="581" r:id="rId14"/>
    <p:sldId id="582" r:id="rId15"/>
    <p:sldId id="583" r:id="rId16"/>
    <p:sldId id="587" r:id="rId17"/>
    <p:sldId id="588" r:id="rId18"/>
    <p:sldId id="589" r:id="rId19"/>
    <p:sldId id="590" r:id="rId20"/>
    <p:sldId id="284" r:id="rId21"/>
    <p:sldId id="288" r:id="rId22"/>
    <p:sldId id="285" r:id="rId23"/>
    <p:sldId id="286" r:id="rId24"/>
    <p:sldId id="287"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385" r:id="rId122"/>
    <p:sldId id="386" r:id="rId123"/>
    <p:sldId id="387" r:id="rId124"/>
    <p:sldId id="388" r:id="rId125"/>
    <p:sldId id="389" r:id="rId126"/>
    <p:sldId id="390" r:id="rId127"/>
    <p:sldId id="391" r:id="rId128"/>
    <p:sldId id="392" r:id="rId129"/>
    <p:sldId id="393" r:id="rId130"/>
    <p:sldId id="394" r:id="rId131"/>
    <p:sldId id="395" r:id="rId132"/>
    <p:sldId id="396" r:id="rId133"/>
    <p:sldId id="397" r:id="rId134"/>
    <p:sldId id="398" r:id="rId135"/>
    <p:sldId id="399" r:id="rId136"/>
    <p:sldId id="400" r:id="rId137"/>
    <p:sldId id="401" r:id="rId138"/>
    <p:sldId id="402" r:id="rId139"/>
    <p:sldId id="403" r:id="rId140"/>
    <p:sldId id="404" r:id="rId141"/>
    <p:sldId id="405" r:id="rId142"/>
    <p:sldId id="406" r:id="rId143"/>
    <p:sldId id="407" r:id="rId144"/>
    <p:sldId id="408" r:id="rId145"/>
    <p:sldId id="409" r:id="rId146"/>
    <p:sldId id="410" r:id="rId147"/>
    <p:sldId id="411" r:id="rId148"/>
    <p:sldId id="412" r:id="rId149"/>
    <p:sldId id="413" r:id="rId150"/>
    <p:sldId id="414" r:id="rId151"/>
    <p:sldId id="415" r:id="rId152"/>
    <p:sldId id="416" r:id="rId153"/>
    <p:sldId id="417" r:id="rId154"/>
    <p:sldId id="418" r:id="rId155"/>
    <p:sldId id="419" r:id="rId156"/>
    <p:sldId id="420" r:id="rId157"/>
    <p:sldId id="421" r:id="rId158"/>
    <p:sldId id="422" r:id="rId159"/>
    <p:sldId id="423" r:id="rId160"/>
    <p:sldId id="424" r:id="rId161"/>
    <p:sldId id="425" r:id="rId162"/>
    <p:sldId id="426" r:id="rId163"/>
    <p:sldId id="427" r:id="rId164"/>
    <p:sldId id="428" r:id="rId165"/>
    <p:sldId id="429" r:id="rId166"/>
    <p:sldId id="430" r:id="rId167"/>
    <p:sldId id="431" r:id="rId168"/>
    <p:sldId id="432" r:id="rId169"/>
    <p:sldId id="433" r:id="rId170"/>
    <p:sldId id="434" r:id="rId171"/>
    <p:sldId id="435" r:id="rId172"/>
    <p:sldId id="436" r:id="rId173"/>
    <p:sldId id="437" r:id="rId174"/>
    <p:sldId id="438" r:id="rId175"/>
    <p:sldId id="439" r:id="rId176"/>
    <p:sldId id="440" r:id="rId17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 id="478" r:id="rId215"/>
    <p:sldId id="479" r:id="rId216"/>
    <p:sldId id="480" r:id="rId217"/>
    <p:sldId id="481" r:id="rId218"/>
    <p:sldId id="482" r:id="rId219"/>
    <p:sldId id="483" r:id="rId220"/>
    <p:sldId id="484" r:id="rId221"/>
    <p:sldId id="485" r:id="rId222"/>
    <p:sldId id="486" r:id="rId223"/>
    <p:sldId id="487" r:id="rId224"/>
    <p:sldId id="488" r:id="rId225"/>
    <p:sldId id="489" r:id="rId226"/>
    <p:sldId id="490" r:id="rId227"/>
    <p:sldId id="491" r:id="rId228"/>
    <p:sldId id="492" r:id="rId229"/>
    <p:sldId id="493" r:id="rId230"/>
    <p:sldId id="494" r:id="rId231"/>
    <p:sldId id="495" r:id="rId232"/>
    <p:sldId id="496" r:id="rId233"/>
    <p:sldId id="497" r:id="rId234"/>
    <p:sldId id="498" r:id="rId235"/>
    <p:sldId id="499" r:id="rId236"/>
    <p:sldId id="500" r:id="rId237"/>
    <p:sldId id="501" r:id="rId238"/>
    <p:sldId id="502" r:id="rId239"/>
    <p:sldId id="503" r:id="rId240"/>
    <p:sldId id="504" r:id="rId241"/>
    <p:sldId id="505" r:id="rId242"/>
    <p:sldId id="506" r:id="rId243"/>
    <p:sldId id="507" r:id="rId244"/>
    <p:sldId id="508" r:id="rId245"/>
    <p:sldId id="509" r:id="rId246"/>
    <p:sldId id="510" r:id="rId247"/>
    <p:sldId id="511" r:id="rId248"/>
    <p:sldId id="512" r:id="rId249"/>
    <p:sldId id="513" r:id="rId250"/>
    <p:sldId id="514" r:id="rId251"/>
    <p:sldId id="515" r:id="rId252"/>
    <p:sldId id="516" r:id="rId253"/>
    <p:sldId id="517" r:id="rId254"/>
    <p:sldId id="518" r:id="rId255"/>
    <p:sldId id="519" r:id="rId256"/>
    <p:sldId id="520" r:id="rId257"/>
    <p:sldId id="521" r:id="rId258"/>
    <p:sldId id="522" r:id="rId259"/>
    <p:sldId id="523" r:id="rId260"/>
    <p:sldId id="524" r:id="rId261"/>
    <p:sldId id="525" r:id="rId262"/>
    <p:sldId id="526" r:id="rId263"/>
    <p:sldId id="527" r:id="rId264"/>
    <p:sldId id="528" r:id="rId265"/>
    <p:sldId id="529" r:id="rId266"/>
    <p:sldId id="530" r:id="rId267"/>
    <p:sldId id="531" r:id="rId268"/>
    <p:sldId id="532" r:id="rId269"/>
    <p:sldId id="533" r:id="rId270"/>
    <p:sldId id="534" r:id="rId271"/>
    <p:sldId id="535" r:id="rId272"/>
    <p:sldId id="536" r:id="rId273"/>
    <p:sldId id="537" r:id="rId274"/>
    <p:sldId id="538" r:id="rId275"/>
    <p:sldId id="539" r:id="rId276"/>
    <p:sldId id="540" r:id="rId277"/>
    <p:sldId id="541" r:id="rId278"/>
    <p:sldId id="542" r:id="rId279"/>
    <p:sldId id="543" r:id="rId280"/>
    <p:sldId id="544" r:id="rId281"/>
    <p:sldId id="545" r:id="rId282"/>
    <p:sldId id="546" r:id="rId283"/>
    <p:sldId id="547" r:id="rId284"/>
    <p:sldId id="548" r:id="rId285"/>
    <p:sldId id="549" r:id="rId286"/>
    <p:sldId id="550" r:id="rId287"/>
    <p:sldId id="551" r:id="rId288"/>
    <p:sldId id="552" r:id="rId289"/>
    <p:sldId id="553" r:id="rId290"/>
    <p:sldId id="554" r:id="rId291"/>
    <p:sldId id="555" r:id="rId292"/>
    <p:sldId id="556" r:id="rId293"/>
    <p:sldId id="557" r:id="rId294"/>
    <p:sldId id="558" r:id="rId295"/>
    <p:sldId id="559" r:id="rId296"/>
    <p:sldId id="560" r:id="rId297"/>
    <p:sldId id="561" r:id="rId298"/>
    <p:sldId id="562" r:id="rId299"/>
    <p:sldId id="563" r:id="rId300"/>
    <p:sldId id="564" r:id="rId301"/>
    <p:sldId id="565" r:id="rId302"/>
    <p:sldId id="566" r:id="rId303"/>
    <p:sldId id="567" r:id="rId304"/>
    <p:sldId id="568" r:id="rId305"/>
    <p:sldId id="569" r:id="rId306"/>
    <p:sldId id="570" r:id="rId307"/>
    <p:sldId id="571" r:id="rId30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88664"/>
  </p:normalViewPr>
  <p:slideViewPr>
    <p:cSldViewPr snapToGrid="0" snapToObjects="1">
      <p:cViewPr>
        <p:scale>
          <a:sx n="91" d="100"/>
          <a:sy n="91" d="100"/>
        </p:scale>
        <p:origin x="137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presProps" Target="presProps.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viewProps" Target="view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theme" Target="theme/theme1.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9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VN"/>
              <a:t>Quá trình nhấn mạnh có làm là đc, ko nặng nhẹ đúng sai</a:t>
            </a:r>
          </a:p>
        </p:txBody>
      </p:sp>
    </p:spTree>
    <p:extLst>
      <p:ext uri="{BB962C8B-B14F-4D97-AF65-F5344CB8AC3E}">
        <p14:creationId xmlns:p14="http://schemas.microsoft.com/office/powerpoint/2010/main" val="8090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Máy tính và các mô hình toán học/AI chỉ có thể tính toán trên số, không thể "hiểu" trực tiếp khái niệm định tính như "khách hàng trung thành" hay "nội dung hấp dẫn".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Bước đầu tiên của mọi bài toán phân tích dữ liệu là chuyển đổi (encode) đối tượng thực tế thành một tập hợp con số có ý nghĩa — quá trình này gọi là trích xuất đặc trưng (feature extraction).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thay vì nói "khách hàng A khá tích cực", ta đo lường cụ thể: lượt xem = 45, lượt nhấp = 6, mức tương tác = 7.5/10.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Khi đã có các con số, ta có thể so sánh, tính toán, và đưa vào các mô hình dự đoán — đó chính là lý do đại số tuyến tính trở thành công cụ nền tảng.</a:t>
            </a:r>
            <a:endParaRPr lang="en-US" sz="1200" dirty="0"/>
          </a:p>
          <a:p>
            <a:endParaRPr lang="en-VN"/>
          </a:p>
        </p:txBody>
      </p:sp>
    </p:spTree>
    <p:extLst>
      <p:ext uri="{BB962C8B-B14F-4D97-AF65-F5344CB8AC3E}">
        <p14:creationId xmlns:p14="http://schemas.microsoft.com/office/powerpoint/2010/main" val="4058190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Dữ liệu trong truyền thông số (15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Các nguồn dữ liệu: khách hàng, chiến dịch, mạng xã hội, CRM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Khái niệm Đặc trưng &amp; Vector (30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Feature, vector, thành phần, số chiều, ký hiệu toán học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Biểu diễn đối tượng truyền thông bằng vector (20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Khách hàng, nội dung, chiến dịch — ví dụ cụ thể có số liệu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Tạo vector từ dữ liệu thật, trực quan hóa bằng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Thảo luận &amp; Tổng kết (10 phút)</a:t>
            </a:r>
            <a:endParaRPr lang="en-US" sz="1800" dirty="0"/>
          </a:p>
          <a:p>
            <a:endParaRPr lang="en-VN"/>
          </a:p>
        </p:txBody>
      </p:sp>
    </p:spTree>
    <p:extLst>
      <p:ext uri="{BB962C8B-B14F-4D97-AF65-F5344CB8AC3E}">
        <p14:creationId xmlns:p14="http://schemas.microsoft.com/office/powerpoint/2010/main" val="1775937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Là mọi thông tin được thu thập, lưu trữ và xử lý dưới dạng số hóa trong quá trình một doanh nghiệp truyền thông/marketing vận hành.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Bốn nhóm dữ liệu phổ biến nhất mà sinh viên ngành truyền thông đa phương tiện sẽ gặp:</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khách hàng (Customer Data) — hồ sơ, hành vi mua sắm, tương tác</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chiến dịch marketing (Campaign Data) — ngân sách, kênh, hiệu suất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mạng xã hội (Social Data) — lượt thích, chia sẻ, bình luận, follower</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CRM (Customer Relationship Management) — lịch sử liên hệ, hỗ trợ</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Điểm chung: tất cả đều có thể mô tả bằng một tập hợp các con số đo lường được — đây chính là nền tảng để dùng đại số tuyến tính.</a:t>
            </a:r>
            <a:endParaRPr lang="en-US" sz="1800" dirty="0"/>
          </a:p>
          <a:p>
            <a:endParaRPr lang="en-VN"/>
          </a:p>
        </p:txBody>
      </p:sp>
    </p:spTree>
    <p:extLst>
      <p:ext uri="{BB962C8B-B14F-4D97-AF65-F5344CB8AC3E}">
        <p14:creationId xmlns:p14="http://schemas.microsoft.com/office/powerpoint/2010/main" val="2394205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Thông tin nhân khẩu học: tuổi, giới tính, khu vực, thu nhập ước tính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duyệt web/app: số lượt xem trang, số lượt xem sản phẩm, thời gian truy cập</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tương tác quảng cáo: số lượt nhấp (click), số lần hiển thị (impression)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mua sắm: số lần mua, tổng chi tiêu, giá trị đơn hàng trung bình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Chỉ số tổng hợp: điểm mức độ tương tác (engagement score), điểm trung thành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 Toàn bộ các chỉ số này sẽ là các "đặc trưng" (feature) mà chúng ta dùng để mô tả một khách hàng bằng vector trong phần tiếp theo.</a:t>
            </a:r>
            <a:endParaRPr lang="en-US" sz="1200" dirty="0"/>
          </a:p>
          <a:p>
            <a:endParaRPr lang="en-VN"/>
          </a:p>
        </p:txBody>
      </p:sp>
    </p:spTree>
    <p:extLst>
      <p:ext uri="{BB962C8B-B14F-4D97-AF65-F5344CB8AC3E}">
        <p14:creationId xmlns:p14="http://schemas.microsoft.com/office/powerpoint/2010/main" val="2959080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VN"/>
          </a:p>
        </p:txBody>
      </p:sp>
    </p:spTree>
    <p:extLst>
      <p:ext uri="{BB962C8B-B14F-4D97-AF65-F5344CB8AC3E}">
        <p14:creationId xmlns:p14="http://schemas.microsoft.com/office/powerpoint/2010/main" val="831264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lượng (numeric): tuổi, thu nhập, lượt xem, chi tiêu — đã sẵn là số</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tính cần mã hóa (categorical): giới tính, khu vực, loại sản phẩm — cần chuyển thành số (ví dụ: mã hóa 0/1)</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Một đối tượng dữ liệu (khách hàng, nội dung, chiến dịch) thường được mô tả bằng NHIỀU đặc trưng cùng lúc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Tập hợp </a:t>
            </a:r>
            <a:r>
              <a:rPr lang="en-US" sz="1200" b="1" dirty="0">
                <a:solidFill>
                  <a:srgbClr val="262626"/>
                </a:solidFill>
                <a:latin typeface="Aptos" pitchFamily="34" charset="0"/>
                <a:ea typeface="Aptos" pitchFamily="34" charset="-122"/>
                <a:cs typeface="Aptos" pitchFamily="34" charset="-120"/>
              </a:rPr>
              <a:t>có thứ tự </a:t>
            </a:r>
            <a:r>
              <a:rPr lang="en-US" sz="1200" dirty="0">
                <a:solidFill>
                  <a:srgbClr val="262626"/>
                </a:solidFill>
                <a:latin typeface="Aptos" pitchFamily="34" charset="0"/>
                <a:ea typeface="Aptos" pitchFamily="34" charset="-122"/>
                <a:cs typeface="Aptos" pitchFamily="34" charset="-120"/>
              </a:rPr>
              <a:t>của nhiều đặc trưng chính là một VECTOR — nội dung của slide tiếp theo</a:t>
            </a:r>
          </a:p>
          <a:p>
            <a:pPr marL="0" indent="0">
              <a:lnSpc>
                <a:spcPts val="2500"/>
              </a:lnSpc>
              <a:spcAft>
                <a:spcPts val="1400"/>
              </a:spcAft>
              <a:buSzPct val="100000"/>
              <a:buNone/>
            </a:pPr>
            <a:endParaRPr lang="en-US" sz="1200" dirty="0">
              <a:solidFill>
                <a:srgbClr val="262626"/>
              </a:solidFill>
              <a:latin typeface="Aptos" pitchFamily="34" charset="0"/>
            </a:endParaRPr>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để mô tả MỘT đối tượng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Lưu ý thường gây nhầm lẫn: 200 khách hàng, mỗi người có vector 6 chiều — số chiều VẪN LÀ 6, không phải 200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càng nhiều đặc trưng → số chiều càng cao → mô tả đối tượng càng chi tiết, nhưng cũng phức tạp hơn khi tính toán và trực quan hóa (sẽ học ở buổi 15 — PCA)</a:t>
            </a:r>
            <a:endParaRPr lang="en-US" sz="1200" dirty="0"/>
          </a:p>
          <a:p>
            <a:pPr marL="0" indent="0">
              <a:lnSpc>
                <a:spcPts val="2500"/>
              </a:lnSpc>
              <a:spcAft>
                <a:spcPts val="1400"/>
              </a:spcAft>
              <a:buSzPct val="100000"/>
              <a:buNone/>
            </a:pPr>
            <a:endParaRPr lang="en-US" sz="1200" dirty="0">
              <a:solidFill>
                <a:srgbClr val="262626"/>
              </a:solidFill>
              <a:latin typeface="Aptos" pitchFamily="34" charset="0"/>
            </a:endParaRPr>
          </a:p>
        </p:txBody>
      </p:sp>
    </p:spTree>
    <p:extLst>
      <p:ext uri="{BB962C8B-B14F-4D97-AF65-F5344CB8AC3E}">
        <p14:creationId xmlns:p14="http://schemas.microsoft.com/office/powerpoint/2010/main" val="70265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Mỗi vector đặc trưng có thể được xem như tọa độ của MỘT ĐIỂM trong một không gian n chiều — gọi là không gian đặc trưng (feature space).</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2 đặc trưng (n=2), ta có thể vẽ trực tiếp trên mặt phẳng: trục hoành = đặc trưng 1, trục tung = đặc trưng 2, mỗi khách hàng là 1 điểm.</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3 đặc trưng (n=3), vẫn vẽ được trong không gian 3 chiều.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n &gt; 3 đặc trưng (trường hợp thực tế phổ biến), ta KHÔNG THỂ vẽ trực tiếp — nhưng về mặt toán học, khái niệm "điểm trong không gian n chiều" vẫn hoàn toàn hợp lệ và tính toán được.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Ý nghĩa thực tế: hai khách hàng có vector đặc trưng gần nhau trong không gian này thường có hành vi tương tự nhau — đây là ý tưởng nền tảng cho buổi 9-10 (khoảng cách, độ tương đồng).</a:t>
            </a:r>
            <a:endParaRPr lang="en-US" sz="1200" dirty="0"/>
          </a:p>
          <a:p>
            <a:endParaRPr lang="en-VN"/>
          </a:p>
        </p:txBody>
      </p:sp>
    </p:spTree>
    <p:extLst>
      <p:ext uri="{BB962C8B-B14F-4D97-AF65-F5344CB8AC3E}">
        <p14:creationId xmlns:p14="http://schemas.microsoft.com/office/powerpoint/2010/main" val="338167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1. Nếu muốn mô tả một khách hàng chi tiết hơn, bạn sẽ thêm đặc trưng nào vào vector hiện tại? Vì sao đặc trưng đó quan trọng trong bối cảnh truyền thông/marketing?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2. Hai khách hàng có cùng số chiều vector nhưng khác thứ tự đặc trưng (ví dụ một người để tuổi ở vị trí 1, người kia để thu nhập ở vị trí 1) — điều gì sẽ xảy ra nếu ta so sánh trực tiếp hai vector này? Vì sao cần quy ước thứ tự thống nhất?</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3. Một bài đăng mạng xã hội và một khách hàng có thể có SỐ CHIỀU vector khác nhau — điều này có gây trở ngại gì khi phân tích dữ liệu không? Khi nào thì cần số chiều giống nhau?</a:t>
            </a:r>
            <a:endParaRPr lang="en-US" sz="1200" dirty="0"/>
          </a:p>
          <a:p>
            <a:endParaRPr lang="en-VN"/>
          </a:p>
        </p:txBody>
      </p:sp>
    </p:spTree>
    <p:extLst>
      <p:ext uri="{BB962C8B-B14F-4D97-AF65-F5344CB8AC3E}">
        <p14:creationId xmlns:p14="http://schemas.microsoft.com/office/powerpoint/2010/main" val="2217833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1 học cách BIỂU DIỄN một đối tượng bằng vector — nhưng dữ liệu thực tế hiếm khi dùng riêng lẻ từng vector.</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thực tế: "Khách hàng điển hình của một phân khúc trông như thế nào?" — cần kết hợp NHIỀU vector khách hàng lại.</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khác: "Khách hàng nào đáng ưu tiên chăm sóc nhất?" — cần một ĐIỂM TỔNG HỢP dựa trên nhiều tiêu chí có mức độ quan trọng khác nhau.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Cả hai bài toán trên đều được giải quyết bằng các PHÉP TOÁN VECTOR — nội dung trọng tâm hôm nay.</a:t>
            </a:r>
            <a:endParaRPr lang="en-US" sz="1200" dirty="0"/>
          </a:p>
          <a:p>
            <a:endParaRPr lang="en-VN"/>
          </a:p>
        </p:txBody>
      </p:sp>
    </p:spTree>
    <p:extLst>
      <p:ext uri="{BB962C8B-B14F-4D97-AF65-F5344CB8AC3E}">
        <p14:creationId xmlns:p14="http://schemas.microsoft.com/office/powerpoint/2010/main" val="1609449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Phép cộng/trừ vector thực hiện theo TỪNG THÀNH PHẦN (element-wise) — vị trí nào cộng/trừ với đúng vị trí đó.</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Điều kiện bắt buộc: hai vector phải CÙNG SỐ CHIỀU, nếu không phép toán không xác định.</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Ý nghĩa: (x − y) biểu diễn "sự khác biệt" giữa hai đối tượng theo từng đặc trưng.</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khách hàng A và B cùng có 6 đặc trưng → (x_A − x_B) cho biết A hơn/kém B bao nhiêu ở mỗi đặc trưng.</a:t>
            </a:r>
            <a:endParaRPr lang="en-US" sz="1200" dirty="0"/>
          </a:p>
          <a:p>
            <a:endParaRPr lang="en-VN"/>
          </a:p>
        </p:txBody>
      </p:sp>
    </p:spTree>
    <p:extLst>
      <p:ext uri="{BB962C8B-B14F-4D97-AF65-F5344CB8AC3E}">
        <p14:creationId xmlns:p14="http://schemas.microsoft.com/office/powerpoint/2010/main" val="3806940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Nhân MỌI thành phần của vector với cùng một số thực c (gọi là scalar).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 &gt; 1: "phóng đại" độ lớn vector; 0 &lt; c &lt; 1: "thu nhỏ"; c âm: đảo chiều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Ứng dụng: điều chỉnh mức độ ảnh hưởng của một vector khi đưa vào một phép tính tổng hợp.</a:t>
            </a:r>
            <a:endParaRPr lang="en-US" sz="1200" dirty="0"/>
          </a:p>
          <a:p>
            <a:endParaRPr lang="en-VN"/>
          </a:p>
        </p:txBody>
      </p:sp>
    </p:spTree>
    <p:extLst>
      <p:ext uri="{BB962C8B-B14F-4D97-AF65-F5344CB8AC3E}">
        <p14:creationId xmlns:p14="http://schemas.microsoft.com/office/powerpoint/2010/main" val="997237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trực tiếp đến khái niệm 'buyer persona' quen thuộc trong ngành marketing — vector trung bình chính là công thức toán học đứng sau khái niệm đó.</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này rất gần gũi vì mọi sinh viên đều tự tính GPA của mình — giúp khái niệm 'tổ hợp tuyến tính' bớt trừu tượng.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khái niệm quan trọng nhất buổi học — dành nhiều thời gian với ví dụ số cụ thể trước khi chuyển sang phần liên hệ liên ngành.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tinh thần: từ 'hệ số' hôm nay, buổi 3 sẽ gọi chính xác là 'trọng số w' trong công thức z=wᵀx+b.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tổ hợp tuyến tính không phải khái niệm riêng của khoa học máy tính — đây là công cụ nền tảng dùng rộng rãi trong kinh tế, giáo dục, khoa học chính trị để xây dựng các chỉ số tổng hợp mà sinh viên gặp hàng ngày trên báo chí.</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việc CHỌN trọng số phản ánh CHIẾN LƯỢC kinh doanh, không chỉ là con số toán học thuần túy.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lại 3 điểm mấu chốt, xác nhận CLO đã đạt qua bài tập áp dụng đã làm trong lớp, và preview công thức z=wᵀx+b sẽ xuất hiện ngay buổi sau.</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Ôn lại công thức tổ hợp tuyến tính, chuẩn bị chuyển sang trường hợp đặc biệt: tổ hợp tuyến tính của CÁC ĐẶC TRƯNG (không phải các đối tượng) — đó chính là tích vô hướng.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lập trực tiếp với buổi 2: buổi 2 tổng hợp nhiều ĐỐI TƯỢNG, buổi 3 tổng hợp nhiều ĐẶC TRƯNG của một đối tượng — giúp sinh viên phân biệt hai bài toán tưởng giống nhưng khác bản chất.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ví dụ số ngay tại chỗ: x=[2,3,1], y=[4,0,5] → x·y = 2×4+3×0+1×5 = 8+0+5=13. Nhấn mạnh kết quả là MỘT SỐ, khác hẳn phép cộng vector (buổi 2) cho ra MỘT VECTOR.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công thức quan trọng nhất môn học — viết to lên bảng và nói rõ sinh viên sẽ gặp lại công thức này NHIỀU LẦN dưới các tên gọi khác nhau trong suốt 12 buổi còn lại.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kỹ năng DIỄN GIẢI mô hình (model interpretation) — kỹ năng thực tế quan trọng hơn cả việc tính toán, vì người làm truyền thông/marketing cần GIẢI THÍCH được mô hình cho người không chuyên.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đến khái niệm 'hệ số hồi quy' mà sinh viên sẽ gặp lại chính xác ở buổi 12-13 — đây là lần đầu tiên khái niệm 'hiệu ứng biên' xuất hiện trong môn học.</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bản lề — vẽ sơ đồ nhỏ trên bảng thể hiện z là 'nút giao' của toàn bộ các buổi học tiếp theo, giúp sinh viên thấy tính hệ thống, tránh cảm giác học rời rạc.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credit score đặc biệt hữu ích vì liên quan trực tiếp đến các vấn đề đạo đức AI (thiên vị thuật toán) sẽ được nhắc kỹ hơn ở buổi 4 khi học logistic regression.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CHỈ LÀ ví dụ giáo dục để minh họa toán học, không dùng để chẩn đoán thật — tránh gây hiểu lầm.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nối tiếp trực tiếp từ buổi 1-2, dùng lại đúng bộ dữ liệu khách hàng quen thuộc.</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z=wᵀx+b là 'trái tim' của môn học — mọi buổi tiếp theo chỉ là các biến thể và mở rộng của công thức này.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Ôn công thức z=wᵀx+b, viết lại trên bảng, chuẩn bị giới thiệu hàm sigmoid như một 'bước tiếp theo' tự nhiên.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trục số từ -∞ đến +∞ (đại diện cho z) và một đoạn [0,1] (đại diện cho xác suất) để sinh viên hình dung trực quan 'bài toán nén' cần giải quyết.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đồ thị chữ S lên bảng, đánh dấu 3 điểm mốc: z rất âm, z=0, z rất dương. Đây là kiến thức nền tảng quan trọng nhất buổi học.</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điểm gây nhầm lẫn kinh điển: 'logistic regression' là bài toán phân loại chứ không phải hồi quy giá trị liên tục — sẽ đối chiếu rõ hơn ở buổi 12-13.</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chi phí bất đối xứng: bỏ lỡ một khách hàng tiềm năng (ngưỡng cao) tốn kém khác với gửi quảng cáo cho người không quan tâm (ngưỡng thấp) — chi phí hai loại sai lầm khác nhau tùy ngành.</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mở rộng — có thể lược bớt nếu thời gian không đủ, nhưng rất hữu ích cho sinh viên sau này đọc báo cáo nghiên cứu khoa học xã hội có nhắc đến 'odds ratio'.</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thời gian nhiều hơn cho ví dụ COMPAS — đây là cơ hội tốt để thảo luận về trách nhiệm đạo đức của người xây dựng mô hình dữ liệu, rất phù hợp với sinh viên ngành Truyền thông cần hiểu tác động xã hội của công nghệ.</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thực tế: nhiều trường đại học dùng mô hình tương tự trong hệ thống 'cảnh báo sớm' (early warning system) để hỗ trợ sinh viên có nguy cơ bỏ học.</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là mô hình sẽ cài đặt trong lab hôm nay.</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lại 3 điểm mấu chốt và dành thời gian cuối giờ để mở rộng thảo luận về đạo đức thuật toán nếu lớp còn hứng thú.</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hạn chế của cách làm buổi 3-4 (tính từng khách hàng một) — tạo động lực học ma trận.</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một bảng Excel đơn giản lên bảng (5 dòng x 3 cột) và nói: 'đây chính xác là một ma trận' — giúp khái niệm bớt trừu tượng ngay từ đầu.</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một ma trận cụ thể 4×3 lên bảng, đánh số hàng/cột, chỉ ra phần tử X23 để sinh viên quen với ký hiệu chỉ số kép.</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KHÔNG PHẢI là quy ước duy nhất có thể có, nhưng là quy ước chuẩn công nghiệp — sinh viên cần nhớ chính xác để tránh nhầm lẫn khi đọc tài liệu/code của người khác.</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họa bằng cách xoay bảng dữ liệu mẫu 90 độ trên bảng — sinh viên cần thấy chuyển vị KHÔNG làm mất dữ liệu, chỉ đổi cách sắp xếp.</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kỹ thuật quan trọng cho lab — nhấn mạnh sinh viên PHẢI kiểm tra .shape trước khi thực hiện phép toán, thói quen này sẽ tránh rất nhiều lỗi trong các buổi sau.</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cho thấy CÙNG một cấu trúc toán học (ma trận) được dùng trong ba lĩnh vực hoàn toàn khác nhau — minh chứng cho sức mạnh tổng quát của đại số tuyến tính.</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đơn giản hóa của bài toán thực tế trong phân tích truyền thông: theo dõi tần suất chủ đề xuất hiện trên báo chí theo thời gian.</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là bảng dữ liệu sẽ dùng lại trong lab hôm nay.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kỹ thuật, cần đảm bảo mọi sinh viên phân biệt rõ vector và ma trận trước khi sang buổi 6 — đây là nền tảng bắt buộc.</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hạn chế 'chậm' của vòng lặp for đã thấy ở buổi 4 khi tính accuracy cho 200 khách hàng — tạo động lực học phép nhân ma trận.</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một trong những khoảnh khắc 'aha' quan trọng nhất môn học — chuẩn bị đo thời gian chạy thực tế trong lab để sinh viên thấy rõ hiệu quả.</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hình chữ nhật trên bảng minh họa quy tắc 'cột trong = hàng ngoài' — kỹ năng đọc kích thước ma trận sẽ theo sinh viên đến hết môn học.</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insight quan trọng nhất: liên kết trực tiếp buổi 3 (z cho 1 người) với buổi 6 (Z cho nhiều người) — không phải hai kiến thức tách biệt.</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khái niệm broadcasting của NumPy — một số cộng với một vector sẽ tự động cộng vào từng phần tử, không cần lặp lại số đó thành vector.</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Sẽ đo thời gian thực tế trong lab bằng module time của Python để sinh viên thấy con số cụ thể, không chỉ là lý thuyết suông.</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trực tiếp đến việc sinh viên có thể sẽ làm việc với dữ liệu khảo sát xã hội/marketing quy mô lớn trong công việc thực tế sau này.</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thực tế trong ngành bảo hiểm — actuary (chuyên viên tính phí bảo hiểm) dùng chính xác kỹ thuật này.</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xác là dòng code trọng tâm của lab hôm nay.</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bản lề kỹ thuật quan trọng — đảm bảo mọi sinh viên tự tay chạy và so sánh được thời gian for-loop vs vector hóa trước khi kết thúc buổi.</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z=Xw+b cho một đầu ra, dẫn dắt vào câu hỏi mở rộng cho nhiều đầu ra.</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'giải mật' quan trọng: giúp sinh viên hết sợ hãi khái niệm 'neural network' bằng cách chỉ ra nó chỉ là mở rộng trực tiếp của logistic regression đã học.</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3 nơ-ron song song, cùng nhận đầu vào x, mỗi nơ-ron có một mũi tên trọng số riêng dẫn đến một đầu ra riêng.</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lần đầu tiên khái niệm 'ma trận trọng số' xuất hiện — khái niệm này sẽ là trung tâm của mọi mô hình deep learning sau này.</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công thức trọng tâm buổi học — dành thời gian vẽ sơ đồ kích thước trên bảng (X: m×n, W: n×k, Z: m×k) để sinh viên không bị lạc trong các con số.</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kỹ năng thực hành quan trọng — nhấn mạnh thói quen debug bằng .shape sẽ tiết kiệm rất nhiều thời gian cho sinh viên trong các dự án lớn hơn sau này.</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dù tên gọi 'neural network' gợi liên tưởng sinh học, về bản chất toán học nó chỉ là phép nhân ma trận + hàm kích hoạt — không có gì huyền bí.</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giúp sinh viên thấy khái niệm 'nhiều nơ-ron trong một lớp' không chỉ dùng trong AI mà là một MÔ HÌNH TƯ DUY tổng quát cho bài toán đánh giá đa chiều.</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là mô hình sẽ cài đặt trong lab hôm nay.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then chốt để 'giải thiêng' khái niệm neural network — kiểm tra kỹ trước khi kết thúc rằng sinh viên hiểu Z=XW+b chỉ là mở rộng của z=Xw+b, không phải kiến thức hoàn toàn mới.</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Ôn lại công thức Z=XW+b và ma trận kích hoạt A — nhấn mạnh A có CÙNG kích thước với Z, chuẩn bị cho ý tưởng 'xếp chồng' lớp.</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tổng hợp quan trọng — nên dành 2-3 phút vẽ lại toàn bộ sơ đồ buổi 1→7 trên bảng trước khi vào nội dung mới, giúp sinh viên thấy tính liền mạch.</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vai trò của hàm kích hoạt phi tuyến — đây là lý do sâu xa vì sao neural network mạnh hơn nhiều so với chỉ dùng hồi quy tuyến tính nhiều lớp (vốn sẽ suy biến về 1 lớp).</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luồng dữ liệu trên bảng: X → [Lớp 1: W¹,b¹] → A¹ → [Lớp 2: W²,b²] → Ŷ. Đánh dấu rõ kích thước ma trận ở mỗi mũi tên.</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kỹ năng thực hành cốt lõi — cho sinh viên tự vẽ bảng kích thước trước khi viết code trong lab.</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nâng cao hơn — nếu thời gian hạn chế có thể chỉ nêu kết luận (bỏ qua diễn giải đại số chi tiết) nhưng nên giữ lại vì đây là một trong những sự thật toán học thú vị nhất của deep learning.</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'điểm nhấn' của buổi học — giúp sinh viên ngành Truyền thông đa phương tiện thấy được sợi dây liên kết trực tiếp giữa bài tập Python đơn giản hôm nay và các công cụ AI phức tạp họ dùng hàng ngày.</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tính tay ví dụ này trên bảng với vài con số cụ thể trước khi sinh viên làm trên máy — giúp 'giải mã' quá trình forward propagation từng bước một cách trực quan.</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Khuyến khích sinh viên luôn vẽ bảng kích thước này ra giấy trước khi code — đây là kỹ năng gỡ lỗi (debug) quan trọng nhất khi làm việc với mạng nơ-ron nhiều lớp.</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'case study' quan trọng cho đánh giá A2 — đảm bảo mọi sinh viên tự tay chạy được forward_propagation() và hiểu ý nghĩa từng bước trước khi kết thúc.</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một bước ngoặt của môn học: buổi 1-8 xoay quanh dự đoán (prediction), buổi 9-11 xoay quanh đo lường tương đồng (similarity/distance) — nền tảng cho hệ thống gợi ý và phát hiện bất thường ở buổi 10-11.</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vẽ nhanh 5-6 điểm trên mặt phẳng 2 chiều (trục = 2 đặc trưng) để sinh viên thấy trực quan trước khi vào công thức — giúp công thức không còn trừu tượng.</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ngược lại công thức z=wᵀx+b của buổi 3 — nhấn mạnh chuẩn chỉ là một trường hợp đặc biệt của tích vô hướng (x nhân với chính nó).</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sớm về vấn đề sẽ học ở buổi 11: nếu các đặc trưng có thang đo rất khác nhau (tuổi 18-60 vs thu nhập hàng triệu), đặc trưng có giá trị lớn hơn sẽ "lấn át" khoảng cách — cần chuẩn hóa trước khi so sánh.</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sâu thuật toán K-Means (ngoài phạm vi môn học) — chỉ cần sinh viên hiểu khoảng cách Euclid là VIÊN GẠCH nền tảng của các thuật toán này.</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Gieo hạt giống cho buổi 12 — khi học Least Squares, có thể quay lại nhắc slide này để sinh viên thấy sự liên kết giữa các buổi học tưởng chừng không liên quan.</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ví dụ Hofstede để mở rộng liên hệ ra khỏi phạm vi truyền thông/marketing, cho sinh viên thấy công cụ toán học này phổ quát đến mức nào trong khoa học xã hội.</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sinh viên tự tính tay d(A,C) trước khi hiện đáp án — củng cố công thức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thứ hai củng cố ứng dụng anomaly detection — nên hỏi sinh viên dự đoán chiến dịch nào bất thường TRƯỚC khi tính toán để tăng tính tương tác.</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bản lề mở đầu nhóm 3 buổi về similarity/chuẩn hóa (9-11) — nhấn mạnh câu hỏi mở ở cuối giờ về ảnh hưởng của thang đo để tạo mạch nối sang buổi 10-11.</a:t>
            </a:r>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sự khác biệt triết lý: khoảng cách Euclid quan tâm 'gần nhau bao nhiêu về SỐ LƯỢNG', cosine similarity quan tâm 'giống nhau bao nhiêu về TỶ LỆ/HƯỚNG'.</a:t>
            </a:r>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A/B nên vẽ lên bảng dưới dạng 2 vector trong mặt phẳng — sinh viên sẽ thấy trực quan rằng 2 vector này gần như CÙNG HƯỚNG dù độ dài khác nhau rất nhiều.</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tính "tái sử dụng" của tích vô hướng — một phép toán nền tảng phục vụ nhiều mục đích khác nhau tùy ngữ cảnh, đây là vẻ đẹp của đại số tuyến tính.</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buổi học — dành thời gian cho sinh viên tự đối chiếu công thức cosine similarity với công thức khoảng cách Euclid buổi 9 để thấy rõ khác biệt.</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hỏi thảo luận còn để ngỏ từ cuối buổi 9 (về vector từ khóa nhiều chiều) — chốt lại đây chính là lý do cosine similarity phổ biến hơn trong xử lý văn bản.</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lưu ý thực hành nhỏ nhưng quan trọng — nhiều sinh viên khi tự làm dự án về sau dễ nhầm lẫn dấu (similarity vs distance) dẫn đến sắp xếp kết quả ngược.</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này chọn có chủ đích để bao phủ 3 lĩnh vực khác nhau (thư viện học, ngôn ngữ học, xã hội học) — nhấn mạnh cosine similarity là công cụ liên ngành bậc nhất trong toàn bộ đại số tuyến tính ứng dụng.</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'aha moment' của buổi học — nên dừng lại hỏi sinh viên dự đoán kết quả trước khi hiện đáp số.</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được thiết kế với tỷ lệ đúng 2 lần để sinh viên tự kiểm chứng bằng tay kết quả cos_sim=1 một cách dễ dàng, củng cố trực giác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tính ứng dụng cao — sinh viên ngành truyền thông thường rất hứng thú với ví dụ hệ thống gợi ý; có thể liên hệ trực tiếp đến TikTok/YouTube nếu còn thời gian.</a:t>
            </a:r>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rõ câu hỏi mở từ buổi 9: 'nếu thu nhập tính bằng đồng thay vì triệu đồng, khoảng cách Euclid thay đổi thế nào?' — hôm nay chính là câu trả lời đầy đủ.</a:t>
            </a:r>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nên lấy trực tiếp từ ngành truyền thông (reach, tần suất, ngân sách) vì đây chính là ứng dụng nêu rõ trong đề cương môn học.</a:t>
            </a:r>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minh họa nhược điểm bằng ví dụ nhanh: nếu một chiến dịch có ngân sách đột biến 10 tỷ trong khi các chiến dịch khác chỉ vài trăm triệu, Min-Max sẽ nén gần hết dữ liệu về gần 0.</a:t>
            </a:r>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trực tiếp ưu-nhược điểm Min-Max vs Z-score trên bảng — đây là kiến thức sinh viên cần nhớ lâu dài, không chỉ cho môn học này.</a:t>
            </a:r>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lưu ý cuối là một lỗi thực hành rất phổ biến (data leakage) — nên nhấn mạnh dù không đi sâu, sinh viên sẽ gặp lại khái niệm này nếu học tiếp các môn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rộng (không bắt buộc đi sâu) — giới thiệu để sinh viên biết còn lựa chọn thứ ba, hữu ích nếu các em tiếp tục học các môn phân tích dữ liệu nâng cao sau này.</a:t>
            </a:r>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này đều xoay quanh một thông điệp chung: chuẩn hóa là công cụ CÔNG BẰNG HÓA khi so sánh các đối tượng trên nhiều thang đo khác nhau — không riêng gì lĩnh vực truyền thông/marketing.</a:t>
            </a:r>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cho sinh viên tự tính chuẩn hóa cột 'Tần suất' bằng tay ngay tại lớp để củng cố công thức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này nối trực tiếp với phần liên hệ liên ngành (WHO Growth Charts) — nên trình chiếu sau khi đã giới thiệu liên hệ liên ngành để tăng tính thuyết phục.</a:t>
            </a:r>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tính kỹ thuật cao nhưng ứng dụng rất rõ ràng — nên dành thời gian cho ví dụ HDI vì sinh viên thường thấy gần gũi với các bài báo/thống kê quốc gia đã từng đọc.</a:t>
            </a:r>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rõ ngay từ đầu sự khác biệt cốt lõi: logistic regression (buổi 4) → phân loại (0/1, xác suất); hồi quy tuyến tính (buổi 12) → dự đoán số thực liên tục. Đây là điểm sinh viên dễ nhầm lẫn nhất.</a:t>
            </a:r>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từ 'giả định' đường thẳng — đây là một lựa chọn mô hình, không phải sự thật tuyệt đối; buổi 13-14 sẽ mở rộng sang nhiều biến nhưng ý tưởng đường thẳng/siêu phẳng vẫn giữ nguyên.</a:t>
            </a:r>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phương trình đường thẳng học sinh đã biết từ cấp 3 — giúp giảm cảm giác 'kiến thức mới hoàn toàn' và tăng tự tin cho sinh viên.</a:t>
            </a:r>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vào đạo hàm/chứng minh công thức nghiệm — chỉ cần trực giác hình học: đường hồi quy là đường 'ôm sát' đám mây điểm nhất. sklearn sẽ tính hộ nghiệm chính xác.</a:t>
            </a:r>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chỉ giới thiệu MAE và RMSE (không cần thêm R² nếu thời gian hạn chế) — quan trọng là sinh viên hiểu ý nghĩa THỰC TẾ của các chỉ số này chứ không chỉ công thức.</a:t>
            </a:r>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là chỉ số sinh viên sẽ gặp thường xuyên nhất khi đọc báo cáo/bài báo khoa học xã hội có dùng hồi quy — nên đảm bảo các em nhớ được ý nghĩa trực quan (% biến thiên được giải thích).</a:t>
            </a:r>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chọn từ 3 lĩnh vực lớn của khoa học xã hội (kinh tế, y tế, chính trị) đều là các mô hình hồi quy tuyến tính đơn NỔI TIẾNG trong lịch sử — giúp sinh viên thấy công cụ vừa học không phải bài tập giả định mà là nền tảng nghiên cứu thực thụ.</a:t>
            </a:r>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khái niệm nội suy (interpolation, dự đoán trong phạm vi dữ liệu) và ngoại suy (extrapolation, dự đoán ngoài phạm vi dữ liệu — rủi ro cao hơn, nên cảnh báo sinh viên).</a:t>
            </a:r>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sinh viên: đường cong Phillips gốc thực ra không hoàn toàn tuyến tính và đã bị nhiều nhà kinh tế học hiện đại phản biện — nhưng vẫn là ví dụ lịch sử tuyệt vời về sức ảnh hưởng của hồi quy tuyến tính đơn.</a:t>
            </a:r>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bản lề mở đầu mạch hồi quy — đảm bảo sinh viên phân biệt rõ ràng hồi quy (dự đoán số liên tục) và phân loại (buổi 3-4, dự đoán nhãn/xác suất) trước khi sang buổi 13.</a:t>
            </a:r>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'ồ, hóa ra vậy!' quan trọng của buổi học — cho sinh viên thấy hồi quy nhiều biến không phải kiến thức mới mà là sự HỘI TỤ của mạch vector/ma trận (buổi 1-8) với mạch hồi quy (buổi 12).</a:t>
            </a:r>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lại sơ đồ: 1 chiến dịch = 1 vector x (buổi 1) → nhiều chiến dịch = ma trận X (buổi 5) → z=Xw+b tính nhiều đầu ra (buổi 6) — hồi quy nhiều biến hôm nay dùng lại NGUYÊN VẸN cấu trúc toán học này.</a:t>
            </a:r>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tổng hợp then chốt — nếu sinh viên nắm vững buổi 6 (z=Xw+b), công thức này sẽ không có gì mới về mặt toán học, chỉ mới về cách DIỄN GIẢI.</a:t>
            </a:r>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cụm 'ceteris paribus' (các yếu tố khác không đổi) — đây là khái niệm sinh viên sẽ gặp lại nhiều trong kinh tế học và các môn phân tích dữ liệu sau này.</a:t>
            </a:r>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thi/kiểm tra rất phổ biến — nên cho sinh viên tự tổng kết bảng so sánh 2 cột (hồi quy tuyến tính | logistic regression) ngay tại lớp.</a:t>
            </a:r>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thức thực hành quan trọng liên kết trực tiếp với câu hỏi thảo luận cuối buổi (voter turnout, World Happiness Report) — nên giảng trước khi vào phần thảo luận để sinh viên có công cụ trả lời.</a:t>
            </a:r>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World Happiness Report rất trực quan và dễ tìm dữ liệu thật trên mạng nếu sinh viên muốn tự khám phá thêm sau giờ học — có thể gợi ý nguồn worldhappiness.report.</a:t>
            </a:r>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hệ số âm là điểm nhấn giáo dục quan trọng — cho sinh viên thấy hồi quy không chỉ để dự đoán mà còn để RA QUYẾT ĐỊNH chiến lược (giảm tần suất quá mức).</a:t>
            </a:r>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một lần nữa: so sánh độ lớn hệ số CHỈ có ý nghĩa khi các biến đã được chuẩn hóa cùng thang đo (buổi 11) — nếu không, hệ số lớn có thể chỉ do đơn vị đo nhỏ.</a:t>
            </a:r>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khối lượng kiến thức lớn — ưu tiên đảm bảo sinh viên hiểu rõ cách DIỄN GIẢI hệ số hơn là nhớ công thức, vì đây là kỹ năng sẽ dùng trực tiếp ở buổi 14.</a:t>
            </a:r>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treo lại slide sơ đồ tổng mạch kiến thức (vector→ma trận→phép nhân ma trận→hồi quy) ngay đầu giờ để sinh viên thấy rõ đây là buổi 'ráp nối' toàn bộ môn học vào một ứng dụng thực tế.</a:t>
            </a:r>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thời gian, có thể nhắc sinh viên rằng MMM là một trong những kỹ năng phân tích dữ liệu marketing được săn đón nhất hiện nay trên thị trường lao động ngành truyền thông số.</a:t>
            </a:r>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việc tái sử dụng quy ước tổ chức dữ liệu từ buổi 5 — đây là minh chứng cho tính nhất quán của toàn bộ khung toán học xuyên suốt môn học.</a:t>
            </a:r>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hội tụ toán học rõ ràng nhất của toàn môn học — nên dừng lại, chỉ tay lần lượt vào công thức buổi 6, buổi 13, và buổi 14 để sinh viên thấy chúng chỉ là MỘT công thức được đặt tên khác nhau.</a:t>
            </a:r>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bước 'từ phân tích đến hành động' — nhấn mạnh với sinh viên rằng một mô hình hồi quy tốt chỉ có giá trị khi nó dẫn tới một QUYẾT ĐỊNH cụ thể, không chỉ dừng ở việc tính hệ số.</a:t>
            </a:r>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'bản đồ tổng thể' quan trọng nhất của buổi 14 — nên dành riêng vài phút để sinh viên tự chỉ ra buổi nào tương ứng với bước nào trong công thức trước khi chuyển sang lab.</a:t>
            </a:r>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cốt lõi của slide này: MMM không chỉ là công cụ marketing — nó là MỘT DẠNG của bài toán phân bổ nguồn lực có giới hạn, xuất hiện ở bất kỳ đâu có ngân sách hữu hạn và nhiều lựa chọn đầu tư.</a:t>
            </a:r>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với sinh viên: đây là dữ liệu giả lập với rất ít giai đoạn (chỉ minh họa) — MMM thực tế cần dữ liệu lịch sử dài hạn (hàng chục đến hàng trăm giai đoạn) để ước lượng đáng tin cậy.</a:t>
            </a:r>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tổng hợp mô phỏng sát nhất với công việc thực tế của một Marketing Analyst — nên dành thời gian để sinh viên tự viết ra 2-3 câu đề xuất bằng lời của riêng mình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'đỉnh cao ứng dụng' của môn học — nên dành thời gian cuối giờ để sinh viên tự vẽ lại sơ đồ tổng mạch kiến thức trước khi bước vào buổi ôn tập cuối cùng.</a:t>
            </a:r>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đặc biệt: vừa có nội dung mới (PCA) vừa là buổi ôn tập/tổng kết trước khi thi — cần phân bổ thời gian cân đối giữa hai phần, không để phần ôn tập lấn át nội dung mới.</a:t>
            </a:r>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hỏi sinh viên: 'nếu có một bảng Excel với 50 cột đặc trưng khách hàng, làm sao vẽ một biểu đồ duy nhất để nhìn tổng quan?' để dẫn dắt vào nhu cầu thực tế của giảm chiều trước khi giới thiệu PCA.</a:t>
            </a:r>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sâu toán học của 'curse of dimensionality' — chỉ cần sinh viên có trực giác về vấn đề trước khi học giải pháp (PCA).</a:t>
            </a:r>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buổi học — nhấn mạnh rõ ràng với sinh viên rằng môn học KHÔNG yêu cầu tính trị riêng/vector riêng, chỉ cần hiểu Ý NGHĨA và biết dùng PCA() của sklearn.</a:t>
            </a:r>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vòng tròn kiến thức: PCA (buổi cuối) dùng lại chính khái niệm 'tổ hợp tuyến tính' mở đầu môn học ở buổi 2 — một minh chứng đẹp cho tính liền mạch của toàn bộ 15 buổi.</a:t>
            </a:r>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tổng kết quan trọng nhất của toàn môn học — nên dành thời gian để sinh viên tự đối chiếu với sơ đồ họ đã tự vẽ trong phần bài tập về nhà chuẩn bị cho buổi này (nếu đã giao trước).</a:t>
            </a:r>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bản đồ gene châu Âu là một trong những minh chứng trực quan và gây ấn tượng nhất về PCA trong khoa học — nên dành thời gian mô tả kỹ nếu sinh viên hứng thú, có thể tìm hình ảnh minh họa trên mạng để trình chiếu.</a:t>
            </a:r>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tổng hợp — cố gắng liên hệ ngược lại buổi 9 (khoảng cách) và buổi 11 (chuẩn hóa) ngay trong lúc giảng để củng cố tính liền mạch trước bài thi.</a:t>
            </a:r>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không có 'con số đúng tuyệt đối' cho ngưỡng % phương sai cần giữ — đây là một lựa chọn thực hành tùy bài toán, cần đánh đổi giữa độ đơn giản (ít chiều) và độ trung thực (giữ nhiều thông tin).</a:t>
            </a:r>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tổng kết — nên dành phần lớn 30 phút cuối để giải đáp thắc mắc tự do và nhấn mạnh lại những khái niệm sinh viên thường nhầm lẫn nhất trong suốt môn học trước khi thi.</a:t>
            </a:r>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D2EB7-1B1E-28B1-9F60-6F89DB11F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BA10E7D4-303F-151E-71CF-993D44CAF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0E3251FF-530A-5570-D42C-4D8BC6856A61}"/>
              </a:ext>
            </a:extLst>
          </p:cNvPr>
          <p:cNvSpPr>
            <a:spLocks noGrp="1"/>
          </p:cNvSpPr>
          <p:nvPr>
            <p:ph type="dt" sz="half" idx="10"/>
          </p:nvPr>
        </p:nvSpPr>
        <p:spPr/>
        <p:txBody>
          <a:bodyPr/>
          <a:lstStyle/>
          <a:p>
            <a:fld id="{82E25FF7-E26C-F848-811E-FC976A9B4525}" type="datetime1">
              <a:t>8/23/26</a:t>
            </a:fld>
            <a:endParaRPr lang="en-VN"/>
          </a:p>
        </p:txBody>
      </p:sp>
      <p:sp>
        <p:nvSpPr>
          <p:cNvPr id="5" name="Footer Placeholder 4">
            <a:extLst>
              <a:ext uri="{FF2B5EF4-FFF2-40B4-BE49-F238E27FC236}">
                <a16:creationId xmlns:a16="http://schemas.microsoft.com/office/drawing/2014/main" id="{072402C2-7131-4B9B-18FB-728835E6D43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DCB1298-9426-ECEB-3890-593BB5FC224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615075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BB85-BE59-D0B5-4A46-FBC8B602B4F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3A05BD62-628F-8E38-88E3-97F5E2605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265BAEF-9B27-9553-CE23-E9CD13ECC476}"/>
              </a:ext>
            </a:extLst>
          </p:cNvPr>
          <p:cNvSpPr>
            <a:spLocks noGrp="1"/>
          </p:cNvSpPr>
          <p:nvPr>
            <p:ph type="dt" sz="half" idx="10"/>
          </p:nvPr>
        </p:nvSpPr>
        <p:spPr/>
        <p:txBody>
          <a:bodyPr/>
          <a:lstStyle/>
          <a:p>
            <a:fld id="{BC7294EA-9DF6-1847-B6C6-44CAAA92C54C}" type="datetime1">
              <a:t>8/23/26</a:t>
            </a:fld>
            <a:endParaRPr lang="en-VN"/>
          </a:p>
        </p:txBody>
      </p:sp>
      <p:sp>
        <p:nvSpPr>
          <p:cNvPr id="5" name="Footer Placeholder 4">
            <a:extLst>
              <a:ext uri="{FF2B5EF4-FFF2-40B4-BE49-F238E27FC236}">
                <a16:creationId xmlns:a16="http://schemas.microsoft.com/office/drawing/2014/main" id="{A5863DB3-E10F-307D-A8C9-2D13A97425D2}"/>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CED4670-B1A3-6CFA-9FDC-84577D31B9F0}"/>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076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63232-24CE-3495-24DB-3EF119FAD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49DE0179-B436-95FF-6881-470F44441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12C8D-C181-EFA3-44AF-3F6BD573DDD6}"/>
              </a:ext>
            </a:extLst>
          </p:cNvPr>
          <p:cNvSpPr>
            <a:spLocks noGrp="1"/>
          </p:cNvSpPr>
          <p:nvPr>
            <p:ph type="dt" sz="half" idx="10"/>
          </p:nvPr>
        </p:nvSpPr>
        <p:spPr/>
        <p:txBody>
          <a:bodyPr/>
          <a:lstStyle/>
          <a:p>
            <a:fld id="{C58DC065-51A2-1944-89B3-2D8B92D32A40}" type="datetime1">
              <a:t>8/23/26</a:t>
            </a:fld>
            <a:endParaRPr lang="en-VN"/>
          </a:p>
        </p:txBody>
      </p:sp>
      <p:sp>
        <p:nvSpPr>
          <p:cNvPr id="5" name="Footer Placeholder 4">
            <a:extLst>
              <a:ext uri="{FF2B5EF4-FFF2-40B4-BE49-F238E27FC236}">
                <a16:creationId xmlns:a16="http://schemas.microsoft.com/office/drawing/2014/main" id="{0BA26F89-5465-6A77-8456-9DE942CDC3E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78FC6B7-C6A9-98B6-1371-82C3B87F48A5}"/>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16377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553C-61E8-5B80-CA70-D79C0CA7919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67249FA-9B61-904A-E4E6-22D9FFB866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E9C3853C-55DB-3D30-F3E1-F638B824EA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514ACACB-8D0F-80CA-DF3E-B07D59DCBC57}"/>
              </a:ext>
            </a:extLst>
          </p:cNvPr>
          <p:cNvSpPr>
            <a:spLocks noGrp="1"/>
          </p:cNvSpPr>
          <p:nvPr>
            <p:ph type="dt" sz="half" idx="10"/>
          </p:nvPr>
        </p:nvSpPr>
        <p:spPr/>
        <p:txBody>
          <a:bodyPr/>
          <a:lstStyle/>
          <a:p>
            <a:fld id="{6F7E55AB-339B-6A45-B6AB-AC13DBDB4049}" type="datetime1">
              <a:t>8/23/26</a:t>
            </a:fld>
            <a:endParaRPr lang="en-VN"/>
          </a:p>
        </p:txBody>
      </p:sp>
      <p:sp>
        <p:nvSpPr>
          <p:cNvPr id="6" name="Footer Placeholder 5">
            <a:extLst>
              <a:ext uri="{FF2B5EF4-FFF2-40B4-BE49-F238E27FC236}">
                <a16:creationId xmlns:a16="http://schemas.microsoft.com/office/drawing/2014/main" id="{D80E34C5-1596-3C2B-A9FC-3BC8E0A4D3FA}"/>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D58F89E2-FBA0-D1F8-6C4B-AE8549FE756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21094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0040-5CE9-6ED3-99B1-EA779BFDD6A7}"/>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064FE46C-1E79-D7A9-2BBD-554E4B42F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851B6F-8CF8-199D-CFA5-CCED6758D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947B84DC-9EEC-810A-C96B-B6CDA434F5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F7DC-54A0-7F90-6075-FFBDED4CCA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F4A4FFD1-C671-ABED-DB75-F3849F98FE86}"/>
              </a:ext>
            </a:extLst>
          </p:cNvPr>
          <p:cNvSpPr>
            <a:spLocks noGrp="1"/>
          </p:cNvSpPr>
          <p:nvPr>
            <p:ph type="dt" sz="half" idx="10"/>
          </p:nvPr>
        </p:nvSpPr>
        <p:spPr/>
        <p:txBody>
          <a:bodyPr/>
          <a:lstStyle/>
          <a:p>
            <a:fld id="{AA389517-5F7B-1A48-B2D0-541A8D382216}" type="datetime1">
              <a:t>8/23/26</a:t>
            </a:fld>
            <a:endParaRPr lang="en-VN"/>
          </a:p>
        </p:txBody>
      </p:sp>
      <p:sp>
        <p:nvSpPr>
          <p:cNvPr id="8" name="Footer Placeholder 7">
            <a:extLst>
              <a:ext uri="{FF2B5EF4-FFF2-40B4-BE49-F238E27FC236}">
                <a16:creationId xmlns:a16="http://schemas.microsoft.com/office/drawing/2014/main" id="{B9C0B0CE-55A0-83CC-CC85-04CBA47996E1}"/>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1281213-971B-2418-A489-346C1BBE1AF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79854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4DAC-8D71-54CC-960E-2297E53C4104}"/>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CA86C8B-E30D-9149-F643-D09F30BC6F93}"/>
              </a:ext>
            </a:extLst>
          </p:cNvPr>
          <p:cNvSpPr>
            <a:spLocks noGrp="1"/>
          </p:cNvSpPr>
          <p:nvPr>
            <p:ph type="dt" sz="half" idx="10"/>
          </p:nvPr>
        </p:nvSpPr>
        <p:spPr/>
        <p:txBody>
          <a:bodyPr/>
          <a:lstStyle/>
          <a:p>
            <a:fld id="{736ADF89-C1D1-2C40-AB91-9FD0218BB13C}" type="datetime1">
              <a:t>8/23/26</a:t>
            </a:fld>
            <a:endParaRPr lang="en-VN"/>
          </a:p>
        </p:txBody>
      </p:sp>
      <p:sp>
        <p:nvSpPr>
          <p:cNvPr id="4" name="Footer Placeholder 3">
            <a:extLst>
              <a:ext uri="{FF2B5EF4-FFF2-40B4-BE49-F238E27FC236}">
                <a16:creationId xmlns:a16="http://schemas.microsoft.com/office/drawing/2014/main" id="{D47DF1D4-7EEB-F353-0AFC-F5987392C03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8A0833DC-23E4-AA98-E6FF-0A9B8C346AC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97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870E2-F76B-9BEF-594D-E3D0664B2497}"/>
              </a:ext>
            </a:extLst>
          </p:cNvPr>
          <p:cNvSpPr>
            <a:spLocks noGrp="1"/>
          </p:cNvSpPr>
          <p:nvPr>
            <p:ph type="dt" sz="half" idx="10"/>
          </p:nvPr>
        </p:nvSpPr>
        <p:spPr/>
        <p:txBody>
          <a:bodyPr/>
          <a:lstStyle/>
          <a:p>
            <a:fld id="{59CA9CF6-35E6-1B40-A0CF-6207030B0A37}" type="datetime1">
              <a:t>8/23/26</a:t>
            </a:fld>
            <a:endParaRPr lang="en-VN"/>
          </a:p>
        </p:txBody>
      </p:sp>
      <p:sp>
        <p:nvSpPr>
          <p:cNvPr id="3" name="Footer Placeholder 2">
            <a:extLst>
              <a:ext uri="{FF2B5EF4-FFF2-40B4-BE49-F238E27FC236}">
                <a16:creationId xmlns:a16="http://schemas.microsoft.com/office/drawing/2014/main" id="{3F4E854C-822C-4859-C98D-736E7647DAB9}"/>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27974099-E27E-A7FF-F26C-57DAC90695B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384386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8B5-5616-ACF0-367C-0C106D156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FD4F065C-C76C-4F5A-A9D0-FCA4050A2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A10418F5-36E0-9499-C116-35CBB289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DCED1-9871-8967-C1E0-694C31B94FF8}"/>
              </a:ext>
            </a:extLst>
          </p:cNvPr>
          <p:cNvSpPr>
            <a:spLocks noGrp="1"/>
          </p:cNvSpPr>
          <p:nvPr>
            <p:ph type="dt" sz="half" idx="10"/>
          </p:nvPr>
        </p:nvSpPr>
        <p:spPr/>
        <p:txBody>
          <a:bodyPr/>
          <a:lstStyle/>
          <a:p>
            <a:fld id="{3606A959-C3DA-6746-83B8-925C94531607}" type="datetime1">
              <a:t>8/23/26</a:t>
            </a:fld>
            <a:endParaRPr lang="en-VN"/>
          </a:p>
        </p:txBody>
      </p:sp>
      <p:sp>
        <p:nvSpPr>
          <p:cNvPr id="6" name="Footer Placeholder 5">
            <a:extLst>
              <a:ext uri="{FF2B5EF4-FFF2-40B4-BE49-F238E27FC236}">
                <a16:creationId xmlns:a16="http://schemas.microsoft.com/office/drawing/2014/main" id="{3AD29EC2-BD39-1120-4A3A-170E1E6B7D8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DA3EDB8-0D18-76F8-AF17-ABE2E812786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29845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DC76-E440-DDDF-2E91-497334582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042889E8-C3FB-CBB2-6791-6B14DC8644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1008C5D-5800-B579-326B-B7A93F0627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BAC9-BDE5-DCCB-353F-D062EB381464}"/>
              </a:ext>
            </a:extLst>
          </p:cNvPr>
          <p:cNvSpPr>
            <a:spLocks noGrp="1"/>
          </p:cNvSpPr>
          <p:nvPr>
            <p:ph type="dt" sz="half" idx="10"/>
          </p:nvPr>
        </p:nvSpPr>
        <p:spPr/>
        <p:txBody>
          <a:bodyPr/>
          <a:lstStyle/>
          <a:p>
            <a:fld id="{D5821FD2-5E6B-284F-BD68-6B80320A55AE}" type="datetime1">
              <a:t>8/23/26</a:t>
            </a:fld>
            <a:endParaRPr lang="en-VN"/>
          </a:p>
        </p:txBody>
      </p:sp>
      <p:sp>
        <p:nvSpPr>
          <p:cNvPr id="6" name="Footer Placeholder 5">
            <a:extLst>
              <a:ext uri="{FF2B5EF4-FFF2-40B4-BE49-F238E27FC236}">
                <a16:creationId xmlns:a16="http://schemas.microsoft.com/office/drawing/2014/main" id="{33485F42-C3F1-C298-2769-BE2C6217165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57CC4851-4822-DE59-0069-6BC05E60702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57270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30CA-8C57-6C7D-3F33-620D6C9235E1}"/>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5D4585E-298D-1592-8170-EC4E1E55C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F51A3F4-80FE-567E-74E4-3B685269534F}"/>
              </a:ext>
            </a:extLst>
          </p:cNvPr>
          <p:cNvSpPr>
            <a:spLocks noGrp="1"/>
          </p:cNvSpPr>
          <p:nvPr>
            <p:ph type="dt" sz="half" idx="10"/>
          </p:nvPr>
        </p:nvSpPr>
        <p:spPr/>
        <p:txBody>
          <a:bodyPr/>
          <a:lstStyle/>
          <a:p>
            <a:fld id="{50E64214-25EB-4347-9246-150A384E9BE9}" type="datetime1">
              <a:t>8/23/26</a:t>
            </a:fld>
            <a:endParaRPr lang="en-VN"/>
          </a:p>
        </p:txBody>
      </p:sp>
      <p:sp>
        <p:nvSpPr>
          <p:cNvPr id="5" name="Footer Placeholder 4">
            <a:extLst>
              <a:ext uri="{FF2B5EF4-FFF2-40B4-BE49-F238E27FC236}">
                <a16:creationId xmlns:a16="http://schemas.microsoft.com/office/drawing/2014/main" id="{78F74EAE-ADAC-929E-772A-E15D535D3B3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9621D65-3164-4A2B-6779-5CAD30487C3F}"/>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18510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EF072-C52F-4353-7B4F-25F1F96140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AD43B8C2-1AC2-9703-ADA1-B31EB81C14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2350AAE-0F3E-2104-B1A8-BAC1B65BF041}"/>
              </a:ext>
            </a:extLst>
          </p:cNvPr>
          <p:cNvSpPr>
            <a:spLocks noGrp="1"/>
          </p:cNvSpPr>
          <p:nvPr>
            <p:ph type="dt" sz="half" idx="10"/>
          </p:nvPr>
        </p:nvSpPr>
        <p:spPr/>
        <p:txBody>
          <a:bodyPr/>
          <a:lstStyle/>
          <a:p>
            <a:fld id="{1FB7D04D-469B-B843-8EC9-54A9E5D3433D}" type="datetime1">
              <a:t>8/23/26</a:t>
            </a:fld>
            <a:endParaRPr lang="en-VN"/>
          </a:p>
        </p:txBody>
      </p:sp>
      <p:sp>
        <p:nvSpPr>
          <p:cNvPr id="5" name="Footer Placeholder 4">
            <a:extLst>
              <a:ext uri="{FF2B5EF4-FFF2-40B4-BE49-F238E27FC236}">
                <a16:creationId xmlns:a16="http://schemas.microsoft.com/office/drawing/2014/main" id="{4A1396E2-279B-1204-A4E2-C63FF71731E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6416E23-C9BD-3032-9A25-9EF3178CE93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191311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95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7140A9-814D-6179-8FF7-A0DDCA7806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3AB1E57D-95B0-7EFF-CCFC-BDB7AB167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1BBADB3-5637-E8A3-B39E-CDB22032D3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3B5607-7351-9A4C-87E7-7CA91C2F05ED}" type="datetime1">
              <a:t>8/23/26</a:t>
            </a:fld>
            <a:endParaRPr lang="en-VN"/>
          </a:p>
        </p:txBody>
      </p:sp>
      <p:sp>
        <p:nvSpPr>
          <p:cNvPr id="5" name="Footer Placeholder 4">
            <a:extLst>
              <a:ext uri="{FF2B5EF4-FFF2-40B4-BE49-F238E27FC236}">
                <a16:creationId xmlns:a16="http://schemas.microsoft.com/office/drawing/2014/main" id="{EBC0BCA7-3B2C-A1AA-BD03-31E0D0E60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DC42823E-5988-E291-BFD0-7FF3B6F61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63FB4D-4462-1148-A41B-A6D56F6F932D}" type="slidenum">
              <a:t>‹#›</a:t>
            </a:fld>
            <a:endParaRPr lang="en-VN"/>
          </a:p>
        </p:txBody>
      </p:sp>
    </p:spTree>
    <p:extLst>
      <p:ext uri="{BB962C8B-B14F-4D97-AF65-F5344CB8AC3E}">
        <p14:creationId xmlns:p14="http://schemas.microsoft.com/office/powerpoint/2010/main" val="411857122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1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1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1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1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1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1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1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63.xml"/><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264.xml"/><Relationship Id="rId1" Type="http://schemas.openxmlformats.org/officeDocument/2006/relationships/slideLayout" Target="../slideLayouts/slideLayout12.xml"/></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65.xml"/><Relationship Id="rId1" Type="http://schemas.openxmlformats.org/officeDocument/2006/relationships/slideLayout" Target="../slideLayouts/slideLayout12.xml"/></Relationships>
</file>

<file path=ppt/slides/_rels/slide273.xml.rels><?xml version="1.0" encoding="UTF-8" standalone="yes"?>
<Relationships xmlns="http://schemas.openxmlformats.org/package/2006/relationships"><Relationship Id="rId2" Type="http://schemas.openxmlformats.org/officeDocument/2006/relationships/notesSlide" Target="../notesSlides/notesSlide266.xml"/><Relationship Id="rId1" Type="http://schemas.openxmlformats.org/officeDocument/2006/relationships/slideLayout" Target="../slideLayouts/slideLayout12.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68.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2" Type="http://schemas.openxmlformats.org/officeDocument/2006/relationships/notesSlide" Target="../notesSlides/notesSlide269.xml"/><Relationship Id="rId1" Type="http://schemas.openxmlformats.org/officeDocument/2006/relationships/slideLayout" Target="../slideLayouts/slideLayout12.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0.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71.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272.xml"/><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73.xml"/><Relationship Id="rId1" Type="http://schemas.openxmlformats.org/officeDocument/2006/relationships/slideLayout" Target="../slideLayouts/slideLayout12.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75.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76.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79.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1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12.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85.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87.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12.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1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1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12.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298.xml"/><Relationship Id="rId1" Type="http://schemas.openxmlformats.org/officeDocument/2006/relationships/slideLayout" Target="../slideLayouts/slideLayout12.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299.xml"/><Relationship Id="rId1" Type="http://schemas.openxmlformats.org/officeDocument/2006/relationships/slideLayout" Target="../slideLayouts/slideLayout12.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F336-D6F7-D9FF-2856-17B61E7CC7AB}"/>
              </a:ext>
            </a:extLst>
          </p:cNvPr>
          <p:cNvSpPr>
            <a:spLocks noGrp="1"/>
          </p:cNvSpPr>
          <p:nvPr>
            <p:ph type="ctrTitle"/>
          </p:nvPr>
        </p:nvSpPr>
        <p:spPr/>
        <p:txBody>
          <a:bodyPr/>
          <a:lstStyle/>
          <a:p>
            <a:r>
              <a:rPr lang="en-VN"/>
              <a:t>MM010</a:t>
            </a:r>
          </a:p>
        </p:txBody>
      </p:sp>
      <p:sp>
        <p:nvSpPr>
          <p:cNvPr id="3" name="Subtitle 2">
            <a:extLst>
              <a:ext uri="{FF2B5EF4-FFF2-40B4-BE49-F238E27FC236}">
                <a16:creationId xmlns:a16="http://schemas.microsoft.com/office/drawing/2014/main" id="{D30950AD-7BA9-148A-31F4-19B8E9E66AF8}"/>
              </a:ext>
            </a:extLst>
          </p:cNvPr>
          <p:cNvSpPr>
            <a:spLocks noGrp="1"/>
          </p:cNvSpPr>
          <p:nvPr>
            <p:ph type="subTitle" idx="1"/>
          </p:nvPr>
        </p:nvSpPr>
        <p:spPr/>
        <p:txBody>
          <a:bodyPr/>
          <a:lstStyle/>
          <a:p>
            <a:r>
              <a:rPr lang="en-VN"/>
              <a:t>Đại số tuyến tính ứng dụng trong truyền thông</a:t>
            </a:r>
          </a:p>
          <a:p>
            <a:r>
              <a:rPr lang="en-VN"/>
              <a:t>LA for MM</a:t>
            </a:r>
          </a:p>
        </p:txBody>
      </p:sp>
      <p:sp>
        <p:nvSpPr>
          <p:cNvPr id="4" name="Slide Number Placeholder 3">
            <a:extLst>
              <a:ext uri="{FF2B5EF4-FFF2-40B4-BE49-F238E27FC236}">
                <a16:creationId xmlns:a16="http://schemas.microsoft.com/office/drawing/2014/main" id="{7D4937EE-EC28-131B-292C-184AA374E2ED}"/>
              </a:ext>
            </a:extLst>
          </p:cNvPr>
          <p:cNvSpPr>
            <a:spLocks noGrp="1"/>
          </p:cNvSpPr>
          <p:nvPr>
            <p:ph type="sldNum" sz="quarter" idx="12"/>
          </p:nvPr>
        </p:nvSpPr>
        <p:spPr/>
        <p:txBody>
          <a:bodyPr/>
          <a:lstStyle/>
          <a:p>
            <a:fld id="{9663FB4D-4462-1148-A41B-A6D56F6F932D}" type="slidenum">
              <a:t>1</a:t>
            </a:fld>
            <a:endParaRPr lang="en-VN"/>
          </a:p>
        </p:txBody>
      </p:sp>
    </p:spTree>
    <p:extLst>
      <p:ext uri="{BB962C8B-B14F-4D97-AF65-F5344CB8AC3E}">
        <p14:creationId xmlns:p14="http://schemas.microsoft.com/office/powerpoint/2010/main" val="86394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9915-846F-76B9-BA4E-E9FB5C06C074}"/>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BC9FB7C9-D285-6A44-F390-D64423B33F97}"/>
              </a:ext>
            </a:extLst>
          </p:cNvPr>
          <p:cNvSpPr>
            <a:spLocks noGrp="1"/>
          </p:cNvSpPr>
          <p:nvPr>
            <p:ph idx="1"/>
          </p:nvPr>
        </p:nvSpPr>
        <p:spPr/>
        <p:txBody>
          <a:bodyPr/>
          <a:lstStyle/>
          <a:p>
            <a:pPr marL="0" indent="0">
              <a:buNone/>
            </a:pPr>
            <a:r>
              <a:rPr lang="en-VN"/>
              <a:t>Personal/Intro.pptx</a:t>
            </a:r>
          </a:p>
        </p:txBody>
      </p:sp>
      <p:sp>
        <p:nvSpPr>
          <p:cNvPr id="4" name="Slide Number Placeholder 3">
            <a:extLst>
              <a:ext uri="{FF2B5EF4-FFF2-40B4-BE49-F238E27FC236}">
                <a16:creationId xmlns:a16="http://schemas.microsoft.com/office/drawing/2014/main" id="{C0EDFEBC-0CCB-E4ED-E057-19D5816702FD}"/>
              </a:ext>
            </a:extLst>
          </p:cNvPr>
          <p:cNvSpPr>
            <a:spLocks noGrp="1"/>
          </p:cNvSpPr>
          <p:nvPr>
            <p:ph type="sldNum" sz="quarter" idx="12"/>
          </p:nvPr>
        </p:nvSpPr>
        <p:spPr/>
        <p:txBody>
          <a:bodyPr/>
          <a:lstStyle/>
          <a:p>
            <a:fld id="{9663FB4D-4462-1148-A41B-A6D56F6F932D}" type="slidenum">
              <a:t>2</a:t>
            </a:fld>
            <a:endParaRPr lang="en-VN"/>
          </a:p>
        </p:txBody>
      </p:sp>
    </p:spTree>
    <p:extLst>
      <p:ext uri="{BB962C8B-B14F-4D97-AF65-F5344CB8AC3E}">
        <p14:creationId xmlns:p14="http://schemas.microsoft.com/office/powerpoint/2010/main" val="384693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F46D4-618C-112E-F8E2-FCEE63794159}"/>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0423BD77-1499-65DE-AE3F-3B51F3C897F8}"/>
              </a:ext>
            </a:extLst>
          </p:cNvPr>
          <p:cNvSpPr>
            <a:spLocks noGrp="1"/>
          </p:cNvSpPr>
          <p:nvPr>
            <p:ph idx="1"/>
          </p:nvPr>
        </p:nvSpPr>
        <p:spPr/>
        <p:txBody>
          <a:bodyPr/>
          <a:lstStyle/>
          <a:p>
            <a:pPr marL="0" indent="0">
              <a:buNone/>
            </a:pPr>
            <a:r>
              <a:rPr lang="en-VN"/>
              <a:t>Quá trình: 50%</a:t>
            </a:r>
          </a:p>
          <a:p>
            <a:pPr>
              <a:buFontTx/>
              <a:buChar char="-"/>
            </a:pPr>
            <a:r>
              <a:rPr lang="en-US"/>
              <a:t>Trả lời câu hỏi </a:t>
            </a:r>
          </a:p>
          <a:p>
            <a:pPr>
              <a:buFontTx/>
              <a:buChar char="-"/>
            </a:pPr>
            <a:r>
              <a:rPr lang="en-US"/>
              <a:t>Bài tập</a:t>
            </a:r>
          </a:p>
          <a:p>
            <a:pPr>
              <a:buFontTx/>
              <a:buChar char="-"/>
            </a:pPr>
            <a:r>
              <a:rPr lang="en-US"/>
              <a:t>Thảo luận</a:t>
            </a:r>
          </a:p>
          <a:p>
            <a:pPr>
              <a:buFontTx/>
              <a:buChar char="-"/>
            </a:pPr>
            <a:r>
              <a:rPr lang="en-US"/>
              <a:t>Bài lab</a:t>
            </a:r>
            <a:endParaRPr lang="en-VN"/>
          </a:p>
          <a:p>
            <a:pPr marL="0" indent="0">
              <a:buNone/>
            </a:pPr>
            <a:r>
              <a:rPr lang="en-VN"/>
              <a:t>Đồ án cuối kì: 50%</a:t>
            </a:r>
          </a:p>
        </p:txBody>
      </p:sp>
      <p:sp>
        <p:nvSpPr>
          <p:cNvPr id="4" name="Slide Number Placeholder 3">
            <a:extLst>
              <a:ext uri="{FF2B5EF4-FFF2-40B4-BE49-F238E27FC236}">
                <a16:creationId xmlns:a16="http://schemas.microsoft.com/office/drawing/2014/main" id="{B6E8D7EB-0553-32DD-AA67-B8DD984A144A}"/>
              </a:ext>
            </a:extLst>
          </p:cNvPr>
          <p:cNvSpPr>
            <a:spLocks noGrp="1"/>
          </p:cNvSpPr>
          <p:nvPr>
            <p:ph type="sldNum" sz="quarter" idx="12"/>
          </p:nvPr>
        </p:nvSpPr>
        <p:spPr/>
        <p:txBody>
          <a:bodyPr/>
          <a:lstStyle/>
          <a:p>
            <a:fld id="{9663FB4D-4462-1148-A41B-A6D56F6F932D}" type="slidenum">
              <a:t>3</a:t>
            </a:fld>
            <a:endParaRPr lang="en-VN"/>
          </a:p>
        </p:txBody>
      </p:sp>
    </p:spTree>
    <p:extLst>
      <p:ext uri="{BB962C8B-B14F-4D97-AF65-F5344CB8AC3E}">
        <p14:creationId xmlns:p14="http://schemas.microsoft.com/office/powerpoint/2010/main" val="396954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0876-148E-E389-3485-A7B7F5E7AB30}"/>
              </a:ext>
            </a:extLst>
          </p:cNvPr>
          <p:cNvSpPr>
            <a:spLocks noGrp="1"/>
          </p:cNvSpPr>
          <p:nvPr>
            <p:ph type="title"/>
          </p:nvPr>
        </p:nvSpPr>
        <p:spPr/>
        <p:txBody>
          <a:bodyPr/>
          <a:lstStyle/>
          <a:p>
            <a:r>
              <a:rPr lang="en-VN"/>
              <a:t>Intro</a:t>
            </a:r>
          </a:p>
        </p:txBody>
      </p:sp>
      <p:pic>
        <p:nvPicPr>
          <p:cNvPr id="1026" name="Picture 2" descr="Khám phá bộ sưu tập hình nền TikTok đẹp nhất - TikTok Wallpaper, mang đến  phong cách độc đáo cho thiết bị của bạn.">
            <a:extLst>
              <a:ext uri="{FF2B5EF4-FFF2-40B4-BE49-F238E27FC236}">
                <a16:creationId xmlns:a16="http://schemas.microsoft.com/office/drawing/2014/main" id="{3D411BD8-2046-07F7-C019-28FBBC9A673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7"/>
            <a:ext cx="2593180" cy="48021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YouTube?">
            <a:extLst>
              <a:ext uri="{FF2B5EF4-FFF2-40B4-BE49-F238E27FC236}">
                <a16:creationId xmlns:a16="http://schemas.microsoft.com/office/drawing/2014/main" id="{A0EC80DA-D49B-7655-EB0D-AFF7375852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004" b="32222"/>
          <a:stretch>
            <a:fillRect/>
          </a:stretch>
        </p:blipFill>
        <p:spPr bwMode="auto">
          <a:xfrm rot="16200000">
            <a:off x="2007219" y="3239777"/>
            <a:ext cx="3962400" cy="8642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iến lược giúp shop Shopee được nhiều người biết đến nhanh chóng | Height  Media">
            <a:extLst>
              <a:ext uri="{FF2B5EF4-FFF2-40B4-BE49-F238E27FC236}">
                <a16:creationId xmlns:a16="http://schemas.microsoft.com/office/drawing/2014/main" id="{F12230BA-9FA8-D2AC-A2C0-B3DBD1A4CDD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92" t="9791" r="24766" b="21875"/>
          <a:stretch>
            <a:fillRect/>
          </a:stretch>
        </p:blipFill>
        <p:spPr bwMode="auto">
          <a:xfrm>
            <a:off x="4545458" y="1690686"/>
            <a:ext cx="4024312" cy="26558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BDBA417-51A7-B1D8-6B2D-80C0319A7786}"/>
              </a:ext>
            </a:extLst>
          </p:cNvPr>
          <p:cNvSpPr txBox="1"/>
          <p:nvPr/>
        </p:nvSpPr>
        <p:spPr>
          <a:xfrm>
            <a:off x="9645804" y="2598003"/>
            <a:ext cx="1488688" cy="830997"/>
          </a:xfrm>
          <a:prstGeom prst="rect">
            <a:avLst/>
          </a:prstGeom>
          <a:noFill/>
        </p:spPr>
        <p:txBody>
          <a:bodyPr wrap="square" rtlCol="0">
            <a:spAutoFit/>
          </a:bodyPr>
          <a:lstStyle/>
          <a:p>
            <a:r>
              <a:rPr lang="en-VN" sz="4800"/>
              <a:t>Data</a:t>
            </a:r>
          </a:p>
        </p:txBody>
      </p:sp>
      <p:cxnSp>
        <p:nvCxnSpPr>
          <p:cNvPr id="7" name="Straight Arrow Connector 6">
            <a:extLst>
              <a:ext uri="{FF2B5EF4-FFF2-40B4-BE49-F238E27FC236}">
                <a16:creationId xmlns:a16="http://schemas.microsoft.com/office/drawing/2014/main" id="{8869D945-3236-00F3-7673-D5E7101B8450}"/>
              </a:ext>
            </a:extLst>
          </p:cNvPr>
          <p:cNvCxnSpPr>
            <a:stCxn id="1032" idx="3"/>
            <a:endCxn id="5" idx="1"/>
          </p:cNvCxnSpPr>
          <p:nvPr/>
        </p:nvCxnSpPr>
        <p:spPr>
          <a:xfrm flipV="1">
            <a:off x="8569770" y="3013502"/>
            <a:ext cx="1076034" cy="5126"/>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60EAD7C2-E4E4-AEB3-C8B5-8322D10BF37C}"/>
              </a:ext>
            </a:extLst>
          </p:cNvPr>
          <p:cNvSpPr txBox="1"/>
          <p:nvPr/>
        </p:nvSpPr>
        <p:spPr>
          <a:xfrm>
            <a:off x="8955836" y="5019444"/>
            <a:ext cx="2868623" cy="830997"/>
          </a:xfrm>
          <a:prstGeom prst="rect">
            <a:avLst/>
          </a:prstGeom>
          <a:noFill/>
        </p:spPr>
        <p:txBody>
          <a:bodyPr wrap="square" rtlCol="0">
            <a:spAutoFit/>
          </a:bodyPr>
          <a:lstStyle/>
          <a:p>
            <a:r>
              <a:rPr lang="en-VN" sz="4800"/>
              <a:t>Outcome</a:t>
            </a:r>
          </a:p>
        </p:txBody>
      </p:sp>
      <p:cxnSp>
        <p:nvCxnSpPr>
          <p:cNvPr id="10" name="Straight Arrow Connector 9">
            <a:extLst>
              <a:ext uri="{FF2B5EF4-FFF2-40B4-BE49-F238E27FC236}">
                <a16:creationId xmlns:a16="http://schemas.microsoft.com/office/drawing/2014/main" id="{9394E51F-F972-7D1F-C94B-3AD9CA69E6E8}"/>
              </a:ext>
            </a:extLst>
          </p:cNvPr>
          <p:cNvCxnSpPr>
            <a:cxnSpLocks/>
            <a:stCxn id="5" idx="2"/>
            <a:endCxn id="9" idx="0"/>
          </p:cNvCxnSpPr>
          <p:nvPr/>
        </p:nvCxnSpPr>
        <p:spPr>
          <a:xfrm>
            <a:off x="10390148" y="3429000"/>
            <a:ext cx="0" cy="159044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A20F737-5903-E50C-3790-219F89BDD51E}"/>
              </a:ext>
            </a:extLst>
          </p:cNvPr>
          <p:cNvSpPr txBox="1"/>
          <p:nvPr/>
        </p:nvSpPr>
        <p:spPr>
          <a:xfrm>
            <a:off x="10496986" y="3993389"/>
            <a:ext cx="1327473" cy="461665"/>
          </a:xfrm>
          <a:prstGeom prst="rect">
            <a:avLst/>
          </a:prstGeom>
          <a:noFill/>
        </p:spPr>
        <p:txBody>
          <a:bodyPr wrap="square" rtlCol="0">
            <a:spAutoFit/>
          </a:bodyPr>
          <a:lstStyle/>
          <a:p>
            <a:r>
              <a:rPr lang="en-VN" sz="2400"/>
              <a:t>Process</a:t>
            </a:r>
          </a:p>
        </p:txBody>
      </p:sp>
      <p:sp>
        <p:nvSpPr>
          <p:cNvPr id="18" name="TextBox 17">
            <a:extLst>
              <a:ext uri="{FF2B5EF4-FFF2-40B4-BE49-F238E27FC236}">
                <a16:creationId xmlns:a16="http://schemas.microsoft.com/office/drawing/2014/main" id="{A300B451-39EA-ED9E-07CD-B5AD5A7C76BA}"/>
              </a:ext>
            </a:extLst>
          </p:cNvPr>
          <p:cNvSpPr txBox="1"/>
          <p:nvPr/>
        </p:nvSpPr>
        <p:spPr>
          <a:xfrm>
            <a:off x="4495902" y="5019443"/>
            <a:ext cx="2593180" cy="830997"/>
          </a:xfrm>
          <a:prstGeom prst="rect">
            <a:avLst/>
          </a:prstGeom>
          <a:noFill/>
        </p:spPr>
        <p:txBody>
          <a:bodyPr wrap="square" rtlCol="0">
            <a:spAutoFit/>
          </a:bodyPr>
          <a:lstStyle/>
          <a:p>
            <a:r>
              <a:rPr lang="en-VN" sz="4800"/>
              <a:t>Decision</a:t>
            </a:r>
          </a:p>
        </p:txBody>
      </p:sp>
      <p:cxnSp>
        <p:nvCxnSpPr>
          <p:cNvPr id="19" name="Straight Arrow Connector 18">
            <a:extLst>
              <a:ext uri="{FF2B5EF4-FFF2-40B4-BE49-F238E27FC236}">
                <a16:creationId xmlns:a16="http://schemas.microsoft.com/office/drawing/2014/main" id="{69732B69-947C-CEB7-13CF-D9ECAC86C880}"/>
              </a:ext>
            </a:extLst>
          </p:cNvPr>
          <p:cNvCxnSpPr>
            <a:cxnSpLocks/>
            <a:stCxn id="9" idx="1"/>
            <a:endCxn id="18" idx="3"/>
          </p:cNvCxnSpPr>
          <p:nvPr/>
        </p:nvCxnSpPr>
        <p:spPr>
          <a:xfrm flipH="1" flipV="1">
            <a:off x="7089082" y="5434942"/>
            <a:ext cx="1866754" cy="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0C6A1E8-8B7B-FC9F-B66B-60691F1651E5}"/>
              </a:ext>
            </a:extLst>
          </p:cNvPr>
          <p:cNvSpPr txBox="1"/>
          <p:nvPr/>
        </p:nvSpPr>
        <p:spPr>
          <a:xfrm>
            <a:off x="7374674" y="5508537"/>
            <a:ext cx="1733113" cy="461665"/>
          </a:xfrm>
          <a:prstGeom prst="rect">
            <a:avLst/>
          </a:prstGeom>
          <a:noFill/>
        </p:spPr>
        <p:txBody>
          <a:bodyPr wrap="square" rtlCol="0">
            <a:spAutoFit/>
          </a:bodyPr>
          <a:lstStyle/>
          <a:p>
            <a:r>
              <a:rPr lang="en-VN" sz="2400"/>
              <a:t>Elaborate</a:t>
            </a:r>
          </a:p>
        </p:txBody>
      </p:sp>
      <p:sp>
        <p:nvSpPr>
          <p:cNvPr id="24" name="Slide Number Placeholder 23">
            <a:extLst>
              <a:ext uri="{FF2B5EF4-FFF2-40B4-BE49-F238E27FC236}">
                <a16:creationId xmlns:a16="http://schemas.microsoft.com/office/drawing/2014/main" id="{957406AC-F89E-34D3-8259-73DECCBCC3CA}"/>
              </a:ext>
            </a:extLst>
          </p:cNvPr>
          <p:cNvSpPr>
            <a:spLocks noGrp="1"/>
          </p:cNvSpPr>
          <p:nvPr>
            <p:ph type="sldNum" sz="quarter" idx="12"/>
          </p:nvPr>
        </p:nvSpPr>
        <p:spPr/>
        <p:txBody>
          <a:bodyPr/>
          <a:lstStyle/>
          <a:p>
            <a:fld id="{9663FB4D-4462-1148-A41B-A6D56F6F932D}" type="slidenum">
              <a:t>4</a:t>
            </a:fld>
            <a:endParaRPr lang="en-VN"/>
          </a:p>
        </p:txBody>
      </p:sp>
      <p:sp>
        <p:nvSpPr>
          <p:cNvPr id="25" name="Oval 24">
            <a:extLst>
              <a:ext uri="{FF2B5EF4-FFF2-40B4-BE49-F238E27FC236}">
                <a16:creationId xmlns:a16="http://schemas.microsoft.com/office/drawing/2014/main" id="{20CCFE26-E2C1-263E-5E36-2BAC7770F4B3}"/>
              </a:ext>
            </a:extLst>
          </p:cNvPr>
          <p:cNvSpPr/>
          <p:nvPr/>
        </p:nvSpPr>
        <p:spPr>
          <a:xfrm>
            <a:off x="10222523" y="3911328"/>
            <a:ext cx="1746739" cy="6020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TextBox 25">
            <a:extLst>
              <a:ext uri="{FF2B5EF4-FFF2-40B4-BE49-F238E27FC236}">
                <a16:creationId xmlns:a16="http://schemas.microsoft.com/office/drawing/2014/main" id="{F39C51CF-4A58-2129-D070-FB3E2D53D3BA}"/>
              </a:ext>
            </a:extLst>
          </p:cNvPr>
          <p:cNvSpPr txBox="1"/>
          <p:nvPr/>
        </p:nvSpPr>
        <p:spPr>
          <a:xfrm>
            <a:off x="10472181" y="1607986"/>
            <a:ext cx="1707996" cy="923330"/>
          </a:xfrm>
          <a:prstGeom prst="rect">
            <a:avLst/>
          </a:prstGeom>
          <a:noFill/>
        </p:spPr>
        <p:txBody>
          <a:bodyPr wrap="square" rtlCol="0">
            <a:spAutoFit/>
          </a:bodyPr>
          <a:lstStyle/>
          <a:p>
            <a:pPr algn="r"/>
            <a:r>
              <a:rPr lang="en-VN">
                <a:solidFill>
                  <a:srgbClr val="FF0000"/>
                </a:solidFill>
              </a:rPr>
              <a:t>Khối lượng tính toán lớn, cần máy tính</a:t>
            </a:r>
          </a:p>
        </p:txBody>
      </p:sp>
      <p:cxnSp>
        <p:nvCxnSpPr>
          <p:cNvPr id="28" name="Curved Connector 27">
            <a:extLst>
              <a:ext uri="{FF2B5EF4-FFF2-40B4-BE49-F238E27FC236}">
                <a16:creationId xmlns:a16="http://schemas.microsoft.com/office/drawing/2014/main" id="{F6A69010-D808-1761-27EF-FF649767F236}"/>
              </a:ext>
            </a:extLst>
          </p:cNvPr>
          <p:cNvCxnSpPr>
            <a:cxnSpLocks/>
            <a:stCxn id="26" idx="2"/>
            <a:endCxn id="25" idx="0"/>
          </p:cNvCxnSpPr>
          <p:nvPr/>
        </p:nvCxnSpPr>
        <p:spPr>
          <a:xfrm rot="5400000">
            <a:off x="10521030" y="3106179"/>
            <a:ext cx="1380012" cy="230286"/>
          </a:xfrm>
          <a:prstGeom prst="curved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971B-9223-0089-59D7-D83E19709FD8}"/>
              </a:ext>
            </a:extLst>
          </p:cNvPr>
          <p:cNvSpPr>
            <a:spLocks noGrp="1"/>
          </p:cNvSpPr>
          <p:nvPr>
            <p:ph type="title"/>
          </p:nvPr>
        </p:nvSpPr>
        <p:spPr/>
        <p:txBody>
          <a:bodyPr/>
          <a:lstStyle/>
          <a:p>
            <a:r>
              <a:rPr lang="en-VN"/>
              <a:t>Linear algebra: backbone of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0096ABC-8ED2-3FAB-CA83-39BCC571E40B}"/>
                  </a:ext>
                </a:extLst>
              </p:cNvPr>
              <p:cNvSpPr>
                <a:spLocks noGrp="1"/>
              </p:cNvSpPr>
              <p:nvPr>
                <p:ph idx="1"/>
              </p:nvPr>
            </p:nvSpPr>
            <p:spPr>
              <a:xfrm>
                <a:off x="921834" y="1827121"/>
                <a:ext cx="2272990" cy="1117600"/>
              </a:xfrm>
            </p:spPr>
            <p:txBody>
              <a:bodyPr>
                <a:noAutofit/>
              </a:bodyPr>
              <a:lstStyle/>
              <a:p>
                <a:pPr marL="0" indent="0" algn="ctr">
                  <a:buNone/>
                </a:pPr>
                <a:r>
                  <a:rPr lang="en-VN" sz="3600"/>
                  <a:t>Scalar (</a:t>
                </a:r>
                <a14:m>
                  <m:oMath xmlns:m="http://schemas.openxmlformats.org/officeDocument/2006/math">
                    <m:r>
                      <a:rPr lang="en-VN" sz="3600" i="1">
                        <a:latin typeface="Cambria Math" panose="02040503050406030204" pitchFamily="18" charset="0"/>
                      </a:rPr>
                      <m:t>𝑘</m:t>
                    </m:r>
                  </m:oMath>
                </a14:m>
                <a:r>
                  <a:rPr lang="en-VN" sz="3600"/>
                  <a:t>)</a:t>
                </a:r>
              </a:p>
              <a:p>
                <a:pPr marL="0" indent="0" algn="ctr">
                  <a:buNone/>
                </a:pPr>
                <a:r>
                  <a:rPr lang="en-VN" sz="3600"/>
                  <a:t>4</a:t>
                </a:r>
              </a:p>
            </p:txBody>
          </p:sp>
        </mc:Choice>
        <mc:Fallback>
          <p:sp>
            <p:nvSpPr>
              <p:cNvPr id="3" name="Content Placeholder 2">
                <a:extLst>
                  <a:ext uri="{FF2B5EF4-FFF2-40B4-BE49-F238E27FC236}">
                    <a16:creationId xmlns:a16="http://schemas.microsoft.com/office/drawing/2014/main" id="{90096ABC-8ED2-3FAB-CA83-39BCC571E40B}"/>
                  </a:ext>
                </a:extLst>
              </p:cNvPr>
              <p:cNvSpPr>
                <a:spLocks noGrp="1" noRot="1" noChangeAspect="1" noMove="1" noResize="1" noEditPoints="1" noAdjustHandles="1" noChangeArrowheads="1" noChangeShapeType="1" noTextEdit="1"/>
              </p:cNvSpPr>
              <p:nvPr>
                <p:ph idx="1"/>
              </p:nvPr>
            </p:nvSpPr>
            <p:spPr>
              <a:xfrm>
                <a:off x="921834" y="1827121"/>
                <a:ext cx="2272990" cy="1117600"/>
              </a:xfrm>
              <a:blipFill>
                <a:blip r:embed="rId2"/>
                <a:stretch>
                  <a:fillRect l="-3333" t="-13636" r="-3333" b="-2954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5C7DC644-8285-594D-7365-1328FAE1CE0F}"/>
                  </a:ext>
                </a:extLst>
              </p:cNvPr>
              <p:cNvSpPr txBox="1">
                <a:spLocks/>
              </p:cNvSpPr>
              <p:nvPr/>
            </p:nvSpPr>
            <p:spPr>
              <a:xfrm>
                <a:off x="3111190" y="1825625"/>
                <a:ext cx="2763644" cy="15701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VN" sz="3600"/>
                  <a:t>Vector(</a:t>
                </a:r>
                <a14:m>
                  <m:oMath xmlns:m="http://schemas.openxmlformats.org/officeDocument/2006/math">
                    <m:acc>
                      <m:accPr>
                        <m:chr m:val="⃗"/>
                        <m:ctrlPr>
                          <a:rPr lang="en-VN" sz="3600" i="1" smtClean="0">
                            <a:latin typeface="Cambria Math" panose="02040503050406030204" pitchFamily="18" charset="0"/>
                          </a:rPr>
                        </m:ctrlPr>
                      </m:accPr>
                      <m:e>
                        <m:r>
                          <a:rPr lang="en-VN" sz="3600" i="1">
                            <a:latin typeface="Cambria Math" panose="02040503050406030204" pitchFamily="18" charset="0"/>
                          </a:rPr>
                          <m:t>𝑣</m:t>
                        </m:r>
                      </m:e>
                    </m:acc>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1"/>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4</m:t>
                                </m:r>
                              </m:e>
                            </m:mr>
                            <m:mr>
                              <m:e>
                                <m:r>
                                  <a:rPr lang="vi-VN" sz="3600" b="0" i="1" smtClean="0">
                                    <a:latin typeface="Cambria Math" panose="02040503050406030204" pitchFamily="18" charset="0"/>
                                  </a:rPr>
                                  <m:t>5</m:t>
                                </m:r>
                              </m:e>
                            </m:mr>
                          </m:m>
                        </m:e>
                      </m:d>
                    </m:oMath>
                  </m:oMathPara>
                </a14:m>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p:txBody>
          </p:sp>
        </mc:Choice>
        <mc:Fallback>
          <p:sp>
            <p:nvSpPr>
              <p:cNvPr id="5" name="Content Placeholder 2">
                <a:extLst>
                  <a:ext uri="{FF2B5EF4-FFF2-40B4-BE49-F238E27FC236}">
                    <a16:creationId xmlns:a16="http://schemas.microsoft.com/office/drawing/2014/main" id="{5C7DC644-8285-594D-7365-1328FAE1CE0F}"/>
                  </a:ext>
                </a:extLst>
              </p:cNvPr>
              <p:cNvSpPr txBox="1">
                <a:spLocks noRot="1" noChangeAspect="1" noMove="1" noResize="1" noEditPoints="1" noAdjustHandles="1" noChangeArrowheads="1" noChangeShapeType="1" noTextEdit="1"/>
              </p:cNvSpPr>
              <p:nvPr/>
            </p:nvSpPr>
            <p:spPr>
              <a:xfrm>
                <a:off x="3111190" y="1825625"/>
                <a:ext cx="2763644" cy="1570110"/>
              </a:xfrm>
              <a:prstGeom prst="rect">
                <a:avLst/>
              </a:prstGeom>
              <a:blipFill>
                <a:blip r:embed="rId3"/>
                <a:stretch>
                  <a:fillRect t="-136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0BC9808-65DB-92AA-1ADD-CCFCA7C2A021}"/>
                  </a:ext>
                </a:extLst>
              </p:cNvPr>
              <p:cNvSpPr txBox="1"/>
              <p:nvPr/>
            </p:nvSpPr>
            <p:spPr>
              <a:xfrm>
                <a:off x="838200" y="3401116"/>
                <a:ext cx="2440259" cy="1570110"/>
              </a:xfrm>
              <a:prstGeom prst="rect">
                <a:avLst/>
              </a:prstGeom>
              <a:noFill/>
            </p:spPr>
            <p:txBody>
              <a:bodyPr wrap="square">
                <a:spAutoFit/>
              </a:bodyPr>
              <a:lstStyle/>
              <a:p>
                <a:pPr marL="0" indent="0" algn="ctr">
                  <a:buFont typeface="Arial" panose="020B0604020202020204" pitchFamily="34" charset="0"/>
                  <a:buNone/>
                </a:pPr>
                <a:r>
                  <a:rPr lang="en-VN" sz="3600"/>
                  <a:t>Matrix (</a:t>
                </a:r>
                <a14:m>
                  <m:oMath xmlns:m="http://schemas.openxmlformats.org/officeDocument/2006/math">
                    <m:r>
                      <a:rPr lang="en-VN" sz="3600" i="1">
                        <a:latin typeface="Cambria Math" panose="02040503050406030204" pitchFamily="18" charset="0"/>
                      </a:rPr>
                      <m:t>𝑀</m:t>
                    </m:r>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1</m:t>
                                </m:r>
                              </m:e>
                              <m:e>
                                <m:r>
                                  <a:rPr lang="vi-VN" sz="3600" b="0" i="1" smtClean="0">
                                    <a:latin typeface="Cambria Math" panose="02040503050406030204" pitchFamily="18" charset="0"/>
                                  </a:rPr>
                                  <m:t>2</m:t>
                                </m:r>
                              </m:e>
                            </m:mr>
                            <m:mr>
                              <m:e>
                                <m:r>
                                  <a:rPr lang="vi-VN" sz="3600" b="0" i="1" smtClean="0">
                                    <a:latin typeface="Cambria Math" panose="02040503050406030204" pitchFamily="18" charset="0"/>
                                  </a:rPr>
                                  <m:t>3</m:t>
                                </m:r>
                              </m:e>
                              <m:e>
                                <m:r>
                                  <a:rPr lang="vi-VN" sz="3600" b="0" i="1" smtClean="0">
                                    <a:latin typeface="Cambria Math" panose="02040503050406030204" pitchFamily="18" charset="0"/>
                                  </a:rPr>
                                  <m:t>4</m:t>
                                </m:r>
                              </m:e>
                            </m:mr>
                          </m:m>
                        </m:e>
                      </m:d>
                    </m:oMath>
                  </m:oMathPara>
                </a14:m>
                <a:endParaRPr lang="en-VN" sz="3600"/>
              </a:p>
            </p:txBody>
          </p:sp>
        </mc:Choice>
        <mc:Fallback>
          <p:sp>
            <p:nvSpPr>
              <p:cNvPr id="7" name="TextBox 6">
                <a:extLst>
                  <a:ext uri="{FF2B5EF4-FFF2-40B4-BE49-F238E27FC236}">
                    <a16:creationId xmlns:a16="http://schemas.microsoft.com/office/drawing/2014/main" id="{30BC9808-65DB-92AA-1ADD-CCFCA7C2A021}"/>
                  </a:ext>
                </a:extLst>
              </p:cNvPr>
              <p:cNvSpPr txBox="1">
                <a:spLocks noRot="1" noChangeAspect="1" noMove="1" noResize="1" noEditPoints="1" noAdjustHandles="1" noChangeArrowheads="1" noChangeShapeType="1" noTextEdit="1"/>
              </p:cNvSpPr>
              <p:nvPr/>
            </p:nvSpPr>
            <p:spPr>
              <a:xfrm>
                <a:off x="838200" y="3401116"/>
                <a:ext cx="2440259" cy="1570110"/>
              </a:xfrm>
              <a:prstGeom prst="rect">
                <a:avLst/>
              </a:prstGeom>
              <a:blipFill>
                <a:blip r:embed="rId4"/>
                <a:stretch>
                  <a:fillRect l="-2073" t="-5600" r="-1554" b="-56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CFF849B-6A20-5311-8ED3-553E83051F3D}"/>
                  </a:ext>
                </a:extLst>
              </p:cNvPr>
              <p:cNvSpPr txBox="1"/>
              <p:nvPr/>
            </p:nvSpPr>
            <p:spPr>
              <a:xfrm>
                <a:off x="3051717" y="3401116"/>
                <a:ext cx="3044283" cy="1785682"/>
              </a:xfrm>
              <a:prstGeom prst="rect">
                <a:avLst/>
              </a:prstGeom>
              <a:noFill/>
            </p:spPr>
            <p:txBody>
              <a:bodyPr wrap="square">
                <a:spAutoFit/>
              </a:bodyPr>
              <a:lstStyle/>
              <a:p>
                <a:pPr marL="0" indent="0" algn="ctr">
                  <a:buFont typeface="Arial" panose="020B0604020202020204" pitchFamily="34" charset="0"/>
                  <a:buNone/>
                </a:pPr>
                <a:r>
                  <a:rPr lang="en-VN" sz="3600"/>
                  <a:t>Tensor (</a:t>
                </a:r>
                <a14:m>
                  <m:oMath xmlns:m="http://schemas.openxmlformats.org/officeDocument/2006/math">
                    <m:sSub>
                      <m:sSubPr>
                        <m:ctrlPr>
                          <a:rPr lang="vi-VN" sz="3600" b="0" i="1">
                            <a:latin typeface="Cambria Math" panose="02040503050406030204" pitchFamily="18" charset="0"/>
                          </a:rPr>
                        </m:ctrlPr>
                      </m:sSubPr>
                      <m:e>
                        <m:r>
                          <a:rPr lang="vi-VN" sz="3600" b="0" i="1">
                            <a:latin typeface="Cambria Math" panose="02040503050406030204" pitchFamily="18" charset="0"/>
                            <a:ea typeface="Cambria Math" panose="02040503050406030204" pitchFamily="18" charset="0"/>
                          </a:rPr>
                          <m:t>𝒯</m:t>
                        </m:r>
                      </m:e>
                      <m:sub>
                        <m:r>
                          <a:rPr lang="vi-VN" sz="3600" i="1">
                            <a:latin typeface="Cambria Math" panose="02040503050406030204" pitchFamily="18" charset="0"/>
                          </a:rPr>
                          <m:t>𝑖𝑗𝑘</m:t>
                        </m:r>
                      </m:sub>
                    </m:sSub>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m:t>
                                </m:r>
                                <m:r>
                                  <a:rPr lang="vi-VN" sz="3600" b="0" i="1" smtClean="0">
                                    <a:latin typeface="Cambria Math" panose="02040503050406030204" pitchFamily="18" charset="0"/>
                                  </a:rPr>
                                  <m:t>1 2]</m:t>
                                </m:r>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5 6</m:t>
                                    </m:r>
                                  </m:e>
                                </m:d>
                              </m:e>
                            </m:mr>
                            <m:mr>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3 4</m:t>
                                    </m:r>
                                  </m:e>
                                </m:d>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7 8</m:t>
                                    </m:r>
                                  </m:e>
                                </m:d>
                              </m:e>
                            </m:mr>
                          </m:m>
                        </m:e>
                      </m:d>
                    </m:oMath>
                  </m:oMathPara>
                </a14:m>
                <a:endParaRPr lang="en-VN" sz="3600"/>
              </a:p>
            </p:txBody>
          </p:sp>
        </mc:Choice>
        <mc:Fallback>
          <p:sp>
            <p:nvSpPr>
              <p:cNvPr id="8" name="TextBox 7">
                <a:extLst>
                  <a:ext uri="{FF2B5EF4-FFF2-40B4-BE49-F238E27FC236}">
                    <a16:creationId xmlns:a16="http://schemas.microsoft.com/office/drawing/2014/main" id="{8CFF849B-6A20-5311-8ED3-553E83051F3D}"/>
                  </a:ext>
                </a:extLst>
              </p:cNvPr>
              <p:cNvSpPr txBox="1">
                <a:spLocks noRot="1" noChangeAspect="1" noMove="1" noResize="1" noEditPoints="1" noAdjustHandles="1" noChangeArrowheads="1" noChangeShapeType="1" noTextEdit="1"/>
              </p:cNvSpPr>
              <p:nvPr/>
            </p:nvSpPr>
            <p:spPr>
              <a:xfrm>
                <a:off x="3051717" y="3401116"/>
                <a:ext cx="3044283" cy="1785682"/>
              </a:xfrm>
              <a:prstGeom prst="rect">
                <a:avLst/>
              </a:prstGeom>
              <a:blipFill>
                <a:blip r:embed="rId5"/>
                <a:stretch>
                  <a:fillRect t="-4225" b="-9859"/>
                </a:stretch>
              </a:blipFill>
            </p:spPr>
            <p:txBody>
              <a:bodyPr/>
              <a:lstStyle/>
              <a:p>
                <a:r>
                  <a:rPr lang="en-VN">
                    <a:noFill/>
                  </a:rPr>
                  <a:t> </a:t>
                </a:r>
              </a:p>
            </p:txBody>
          </p:sp>
        </mc:Fallback>
      </mc:AlternateContent>
      <p:sp>
        <p:nvSpPr>
          <p:cNvPr id="9" name="Rectangle 8">
            <a:extLst>
              <a:ext uri="{FF2B5EF4-FFF2-40B4-BE49-F238E27FC236}">
                <a16:creationId xmlns:a16="http://schemas.microsoft.com/office/drawing/2014/main" id="{4DBDE117-58A4-00EE-16FC-A4807577C703}"/>
              </a:ext>
            </a:extLst>
          </p:cNvPr>
          <p:cNvSpPr/>
          <p:nvPr/>
        </p:nvSpPr>
        <p:spPr>
          <a:xfrm>
            <a:off x="925551"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53644D8-30CC-B022-03D5-F965228C27A5}"/>
              </a:ext>
            </a:extLst>
          </p:cNvPr>
          <p:cNvSpPr txBox="1"/>
          <p:nvPr/>
        </p:nvSpPr>
        <p:spPr>
          <a:xfrm>
            <a:off x="921834" y="5296829"/>
            <a:ext cx="5170449" cy="646331"/>
          </a:xfrm>
          <a:prstGeom prst="rect">
            <a:avLst/>
          </a:prstGeom>
          <a:noFill/>
        </p:spPr>
        <p:txBody>
          <a:bodyPr wrap="square" rtlCol="0">
            <a:spAutoFit/>
          </a:bodyPr>
          <a:lstStyle/>
          <a:p>
            <a:pPr algn="ctr"/>
            <a:r>
              <a:rPr lang="en-VN" sz="3600"/>
              <a:t>Data</a:t>
            </a:r>
          </a:p>
        </p:txBody>
      </p:sp>
      <p:sp>
        <p:nvSpPr>
          <p:cNvPr id="11" name="Rectangle 10">
            <a:extLst>
              <a:ext uri="{FF2B5EF4-FFF2-40B4-BE49-F238E27FC236}">
                <a16:creationId xmlns:a16="http://schemas.microsoft.com/office/drawing/2014/main" id="{1570C180-5F8B-0797-5151-25055F3F2A3B}"/>
              </a:ext>
            </a:extLst>
          </p:cNvPr>
          <p:cNvSpPr/>
          <p:nvPr/>
        </p:nvSpPr>
        <p:spPr>
          <a:xfrm>
            <a:off x="6328318"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1D4AE55-251D-9647-C5B6-087165F94C75}"/>
              </a:ext>
            </a:extLst>
          </p:cNvPr>
          <p:cNvSpPr txBox="1"/>
          <p:nvPr/>
        </p:nvSpPr>
        <p:spPr>
          <a:xfrm>
            <a:off x="6324601" y="5296829"/>
            <a:ext cx="5170449" cy="1015663"/>
          </a:xfrm>
          <a:prstGeom prst="rect">
            <a:avLst/>
          </a:prstGeom>
          <a:noFill/>
        </p:spPr>
        <p:txBody>
          <a:bodyPr wrap="square" rtlCol="0">
            <a:spAutoFit/>
          </a:bodyPr>
          <a:lstStyle/>
          <a:p>
            <a:pPr algn="ctr"/>
            <a:r>
              <a:rPr lang="en-VN" sz="3600"/>
              <a:t>Process</a:t>
            </a:r>
          </a:p>
          <a:p>
            <a:pPr algn="ctr"/>
            <a:r>
              <a:rPr lang="en-VN" sz="2400"/>
              <a:t>Operation/Function/Mapping</a:t>
            </a:r>
          </a:p>
        </p:txBody>
      </p:sp>
      <mc:AlternateContent xmlns:mc="http://schemas.openxmlformats.org/markup-compatibility/2006">
        <mc:Choice xmlns:a14="http://schemas.microsoft.com/office/drawing/2010/main" Requires="a14">
          <p:sp>
            <p:nvSpPr>
              <p:cNvPr id="13" name="Content Placeholder 2">
                <a:extLst>
                  <a:ext uri="{FF2B5EF4-FFF2-40B4-BE49-F238E27FC236}">
                    <a16:creationId xmlns:a16="http://schemas.microsoft.com/office/drawing/2014/main" id="{E1E5D175-21F6-DDBC-4964-F31175765F22}"/>
                  </a:ext>
                </a:extLst>
              </p:cNvPr>
              <p:cNvSpPr txBox="1">
                <a:spLocks/>
              </p:cNvSpPr>
              <p:nvPr/>
            </p:nvSpPr>
            <p:spPr>
              <a:xfrm>
                <a:off x="6324601" y="1858890"/>
                <a:ext cx="2763644"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𝑇</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𝑊</m:t>
                      </m:r>
                    </m:oMath>
                  </m:oMathPara>
                </a14:m>
                <a:endParaRPr lang="en-VN" sz="3600" i="1"/>
              </a:p>
            </p:txBody>
          </p:sp>
        </mc:Choice>
        <mc:Fallback>
          <p:sp>
            <p:nvSpPr>
              <p:cNvPr id="13" name="Content Placeholder 2">
                <a:extLst>
                  <a:ext uri="{FF2B5EF4-FFF2-40B4-BE49-F238E27FC236}">
                    <a16:creationId xmlns:a16="http://schemas.microsoft.com/office/drawing/2014/main" id="{E1E5D175-21F6-DDBC-4964-F31175765F22}"/>
                  </a:ext>
                </a:extLst>
              </p:cNvPr>
              <p:cNvSpPr txBox="1">
                <a:spLocks noRot="1" noChangeAspect="1" noMove="1" noResize="1" noEditPoints="1" noAdjustHandles="1" noChangeArrowheads="1" noChangeShapeType="1" noTextEdit="1"/>
              </p:cNvSpPr>
              <p:nvPr/>
            </p:nvSpPr>
            <p:spPr>
              <a:xfrm>
                <a:off x="6324601" y="1858890"/>
                <a:ext cx="2763644" cy="646331"/>
              </a:xfrm>
              <a:prstGeom prst="rect">
                <a:avLst/>
              </a:prstGeom>
              <a:blipFill>
                <a:blip r:embed="rId6"/>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4" name="Content Placeholder 2">
                <a:extLst>
                  <a:ext uri="{FF2B5EF4-FFF2-40B4-BE49-F238E27FC236}">
                    <a16:creationId xmlns:a16="http://schemas.microsoft.com/office/drawing/2014/main" id="{C8AC09AD-1C95-9780-D415-E913F84D19E5}"/>
                  </a:ext>
                </a:extLst>
              </p:cNvPr>
              <p:cNvSpPr txBox="1">
                <a:spLocks/>
              </p:cNvSpPr>
              <p:nvPr/>
            </p:nvSpPr>
            <p:spPr>
              <a:xfrm>
                <a:off x="6324600" y="2610680"/>
                <a:ext cx="3053575"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vi-VN" sz="3600" i="0">
                          <a:latin typeface="Cambria Math" panose="02040503050406030204" pitchFamily="18" charset="0"/>
                        </a:rPr>
                        <m:t>Ker</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𝑘</m:t>
                      </m:r>
                    </m:oMath>
                  </m:oMathPara>
                </a14:m>
                <a:endParaRPr lang="en-VN" sz="3600" i="1"/>
              </a:p>
            </p:txBody>
          </p:sp>
        </mc:Choice>
        <mc:Fallback>
          <p:sp>
            <p:nvSpPr>
              <p:cNvPr id="14" name="Content Placeholder 2">
                <a:extLst>
                  <a:ext uri="{FF2B5EF4-FFF2-40B4-BE49-F238E27FC236}">
                    <a16:creationId xmlns:a16="http://schemas.microsoft.com/office/drawing/2014/main" id="{C8AC09AD-1C95-9780-D415-E913F84D19E5}"/>
                  </a:ext>
                </a:extLst>
              </p:cNvPr>
              <p:cNvSpPr txBox="1">
                <a:spLocks noRot="1" noChangeAspect="1" noMove="1" noResize="1" noEditPoints="1" noAdjustHandles="1" noChangeArrowheads="1" noChangeShapeType="1" noTextEdit="1"/>
              </p:cNvSpPr>
              <p:nvPr/>
            </p:nvSpPr>
            <p:spPr>
              <a:xfrm>
                <a:off x="6324600" y="2610680"/>
                <a:ext cx="3053575" cy="646331"/>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Content Placeholder 2">
                <a:extLst>
                  <a:ext uri="{FF2B5EF4-FFF2-40B4-BE49-F238E27FC236}">
                    <a16:creationId xmlns:a16="http://schemas.microsoft.com/office/drawing/2014/main" id="{B12DB163-C700-66CE-2E38-957CE37C9D5F}"/>
                  </a:ext>
                </a:extLst>
              </p:cNvPr>
              <p:cNvSpPr txBox="1">
                <a:spLocks/>
              </p:cNvSpPr>
              <p:nvPr/>
            </p:nvSpPr>
            <p:spPr>
              <a:xfrm>
                <a:off x="6324600" y="3362470"/>
                <a:ext cx="2172630"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𝑣</m:t>
                      </m:r>
                      <m:r>
                        <a:rPr lang="vi-VN" sz="360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𝑉</m:t>
                      </m:r>
                    </m:oMath>
                  </m:oMathPara>
                </a14:m>
                <a:endParaRPr lang="en-VN" sz="3600" i="1"/>
              </a:p>
            </p:txBody>
          </p:sp>
        </mc:Choice>
        <mc:Fallback>
          <p:sp>
            <p:nvSpPr>
              <p:cNvPr id="15" name="Content Placeholder 2">
                <a:extLst>
                  <a:ext uri="{FF2B5EF4-FFF2-40B4-BE49-F238E27FC236}">
                    <a16:creationId xmlns:a16="http://schemas.microsoft.com/office/drawing/2014/main" id="{B12DB163-C700-66CE-2E38-957CE37C9D5F}"/>
                  </a:ext>
                </a:extLst>
              </p:cNvPr>
              <p:cNvSpPr txBox="1">
                <a:spLocks noRot="1" noChangeAspect="1" noMove="1" noResize="1" noEditPoints="1" noAdjustHandles="1" noChangeArrowheads="1" noChangeShapeType="1" noTextEdit="1"/>
              </p:cNvSpPr>
              <p:nvPr/>
            </p:nvSpPr>
            <p:spPr>
              <a:xfrm>
                <a:off x="6324600" y="3362470"/>
                <a:ext cx="2172630" cy="646331"/>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6" name="Content Placeholder 2">
                <a:extLst>
                  <a:ext uri="{FF2B5EF4-FFF2-40B4-BE49-F238E27FC236}">
                    <a16:creationId xmlns:a16="http://schemas.microsoft.com/office/drawing/2014/main" id="{B6861095-7F88-BB4D-F326-EA1778A9F85C}"/>
                  </a:ext>
                </a:extLst>
              </p:cNvPr>
              <p:cNvSpPr txBox="1">
                <a:spLocks/>
              </p:cNvSpPr>
              <p:nvPr/>
            </p:nvSpPr>
            <p:spPr>
              <a:xfrm>
                <a:off x="6659136" y="4114260"/>
                <a:ext cx="3053576"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vi-VN" sz="3600" i="1">
                          <a:latin typeface="Cambria Math" panose="02040503050406030204" pitchFamily="18" charset="0"/>
                          <a:ea typeface="Cambria Math" panose="02040503050406030204" pitchFamily="18" charset="0"/>
                        </a:rPr>
                        <m:t>⊙</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𝑢</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𝑣</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𝑘</m:t>
                      </m:r>
                    </m:oMath>
                  </m:oMathPara>
                </a14:m>
                <a:endParaRPr lang="en-VN" sz="3600" i="1"/>
              </a:p>
            </p:txBody>
          </p:sp>
        </mc:Choice>
        <mc:Fallback>
          <p:sp>
            <p:nvSpPr>
              <p:cNvPr id="16" name="Content Placeholder 2">
                <a:extLst>
                  <a:ext uri="{FF2B5EF4-FFF2-40B4-BE49-F238E27FC236}">
                    <a16:creationId xmlns:a16="http://schemas.microsoft.com/office/drawing/2014/main" id="{B6861095-7F88-BB4D-F326-EA1778A9F85C}"/>
                  </a:ext>
                </a:extLst>
              </p:cNvPr>
              <p:cNvSpPr txBox="1">
                <a:spLocks noRot="1" noChangeAspect="1" noMove="1" noResize="1" noEditPoints="1" noAdjustHandles="1" noChangeArrowheads="1" noChangeShapeType="1" noTextEdit="1"/>
              </p:cNvSpPr>
              <p:nvPr/>
            </p:nvSpPr>
            <p:spPr>
              <a:xfrm>
                <a:off x="6659136" y="4114260"/>
                <a:ext cx="3053576" cy="646331"/>
              </a:xfrm>
              <a:prstGeom prst="rect">
                <a:avLst/>
              </a:prstGeom>
              <a:blipFill>
                <a:blip r:embed="rId9"/>
                <a:stretch>
                  <a:fillRect l="-3320" b="-3922"/>
                </a:stretch>
              </a:blipFill>
            </p:spPr>
            <p:txBody>
              <a:bodyPr/>
              <a:lstStyle/>
              <a:p>
                <a:r>
                  <a:rPr lang="en-VN">
                    <a:noFill/>
                  </a:rPr>
                  <a:t> </a:t>
                </a:r>
              </a:p>
            </p:txBody>
          </p:sp>
        </mc:Fallback>
      </mc:AlternateContent>
      <p:sp>
        <p:nvSpPr>
          <p:cNvPr id="17" name="Slide Number Placeholder 16">
            <a:extLst>
              <a:ext uri="{FF2B5EF4-FFF2-40B4-BE49-F238E27FC236}">
                <a16:creationId xmlns:a16="http://schemas.microsoft.com/office/drawing/2014/main" id="{5878C9D6-4335-762E-D7CB-4D76C18BDFDE}"/>
              </a:ext>
            </a:extLst>
          </p:cNvPr>
          <p:cNvSpPr>
            <a:spLocks noGrp="1"/>
          </p:cNvSpPr>
          <p:nvPr>
            <p:ph type="sldNum" sz="quarter" idx="12"/>
          </p:nvPr>
        </p:nvSpPr>
        <p:spPr/>
        <p:txBody>
          <a:bodyPr/>
          <a:lstStyle/>
          <a:p>
            <a:fld id="{9663FB4D-4462-1148-A41B-A6D56F6F932D}" type="slidenum">
              <a:t>5</a:t>
            </a:fld>
            <a:endParaRPr lang="en-VN"/>
          </a:p>
        </p:txBody>
      </p:sp>
    </p:spTree>
    <p:extLst>
      <p:ext uri="{BB962C8B-B14F-4D97-AF65-F5344CB8AC3E}">
        <p14:creationId xmlns:p14="http://schemas.microsoft.com/office/powerpoint/2010/main" val="3319070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528B-4C8D-A1A3-4443-833A1AB5ED02}"/>
              </a:ext>
            </a:extLst>
          </p:cNvPr>
          <p:cNvSpPr>
            <a:spLocks noGrp="1"/>
          </p:cNvSpPr>
          <p:nvPr>
            <p:ph type="title"/>
          </p:nvPr>
        </p:nvSpPr>
        <p:spPr/>
        <p:txBody>
          <a:bodyPr/>
          <a:lstStyle/>
          <a:p>
            <a:r>
              <a:rPr lang="en-VN"/>
              <a:t>Outline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BD3523-12E1-29E7-0BA4-3DDC90EB646C}"/>
                  </a:ext>
                </a:extLst>
              </p:cNvPr>
              <p:cNvSpPr>
                <a:spLocks noGrp="1"/>
              </p:cNvSpPr>
              <p:nvPr>
                <p:ph idx="1"/>
              </p:nvPr>
            </p:nvSpPr>
            <p:spPr>
              <a:xfrm>
                <a:off x="838199" y="1825625"/>
                <a:ext cx="5696415" cy="4351338"/>
              </a:xfrm>
            </p:spPr>
            <p:txBody>
              <a:bodyPr>
                <a:normAutofit/>
              </a:bodyPr>
              <a:lstStyle/>
              <a:p>
                <a:pPr marL="514350" indent="-514350">
                  <a:buAutoNum type="arabicPeriod"/>
                </a:pPr>
                <a:r>
                  <a:rPr lang="en-VN"/>
                  <a:t>Vector</a:t>
                </a:r>
              </a:p>
              <a:p>
                <a:pPr marL="514350" indent="-514350">
                  <a:buAutoNum type="arabicPeriod"/>
                </a:pPr>
                <a:r>
                  <a:rPr lang="en-VN"/>
                  <a:t>Operations on vector: </a:t>
                </a:r>
                <a14:m>
                  <m:oMath xmlns:m="http://schemas.openxmlformats.org/officeDocument/2006/math">
                    <m:r>
                      <a:rPr lang="en-VN" i="1">
                        <a:latin typeface="Cambria Math" panose="02040503050406030204" pitchFamily="18" charset="0"/>
                      </a:rPr>
                      <m:t>+,−,∗,</m:t>
                    </m:r>
                    <m:r>
                      <a:rPr lang="en-VN" i="1">
                        <a:latin typeface="Cambria Math" panose="02040503050406030204" pitchFamily="18" charset="0"/>
                        <a:ea typeface="Cambria Math" panose="02040503050406030204" pitchFamily="18" charset="0"/>
                      </a:rPr>
                      <m:t>⨀</m:t>
                    </m:r>
                  </m:oMath>
                </a14:m>
                <a:endParaRPr lang="en-VN"/>
              </a:p>
              <a:p>
                <a:pPr marL="514350" indent="-514350">
                  <a:buAutoNum type="arabicPeriod"/>
                </a:pPr>
                <a:r>
                  <a:rPr lang="en-VN"/>
                  <a:t>Application</a:t>
                </a:r>
              </a:p>
              <a:p>
                <a:pPr marL="514350" indent="-514350">
                  <a:buAutoNum type="arabicPeriod"/>
                </a:pPr>
                <a:r>
                  <a:rPr lang="en-VN"/>
                  <a:t>Linear regression / Logistic regression</a:t>
                </a:r>
              </a:p>
              <a:p>
                <a:pPr marL="514350" indent="-514350">
                  <a:buAutoNum type="arabicPeriod"/>
                </a:pPr>
                <a:r>
                  <a:rPr lang="en-VN"/>
                  <a:t>Matrix</a:t>
                </a:r>
              </a:p>
              <a:p>
                <a:pPr marL="514350" indent="-514350">
                  <a:buAutoNum type="arabicPeriod"/>
                </a:pPr>
                <a:r>
                  <a:rPr lang="en-VN"/>
                  <a:t>Operations on matrix: </a:t>
                </a:r>
                <a14:m>
                  <m:oMath xmlns:m="http://schemas.openxmlformats.org/officeDocument/2006/math">
                    <m:r>
                      <a:rPr lang="en-VN" i="1">
                        <a:latin typeface="Cambria Math" panose="02040503050406030204" pitchFamily="18" charset="0"/>
                      </a:rPr>
                      <m:t>+,−,∗,</m:t>
                    </m:r>
                    <m:r>
                      <a:rPr lang="en-VN" i="1">
                        <a:latin typeface="Cambria Math" panose="02040503050406030204" pitchFamily="18" charset="0"/>
                        <a:ea typeface="Cambria Math" panose="02040503050406030204" pitchFamily="18" charset="0"/>
                      </a:rPr>
                      <m:t>⨀</m:t>
                    </m:r>
                  </m:oMath>
                </a14:m>
                <a:endParaRPr lang="en-VN"/>
              </a:p>
              <a:p>
                <a:pPr marL="0" indent="0">
                  <a:buNone/>
                </a:pPr>
                <a:r>
                  <a:rPr lang="en-VN"/>
                  <a:t>7, 8. Application: Neural net</a:t>
                </a:r>
              </a:p>
            </p:txBody>
          </p:sp>
        </mc:Choice>
        <mc:Fallback>
          <p:sp>
            <p:nvSpPr>
              <p:cNvPr id="3" name="Content Placeholder 2">
                <a:extLst>
                  <a:ext uri="{FF2B5EF4-FFF2-40B4-BE49-F238E27FC236}">
                    <a16:creationId xmlns:a16="http://schemas.microsoft.com/office/drawing/2014/main" id="{5BBD3523-12E1-29E7-0BA4-3DDC90EB646C}"/>
                  </a:ext>
                </a:extLst>
              </p:cNvPr>
              <p:cNvSpPr>
                <a:spLocks noGrp="1" noRot="1" noChangeAspect="1" noMove="1" noResize="1" noEditPoints="1" noAdjustHandles="1" noChangeArrowheads="1" noChangeShapeType="1" noTextEdit="1"/>
              </p:cNvSpPr>
              <p:nvPr>
                <p:ph idx="1"/>
              </p:nvPr>
            </p:nvSpPr>
            <p:spPr>
              <a:xfrm>
                <a:off x="838199" y="1825625"/>
                <a:ext cx="5696415" cy="4351338"/>
              </a:xfrm>
              <a:blipFill>
                <a:blip r:embed="rId2"/>
                <a:stretch>
                  <a:fillRect l="-2000" t="-232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981CB0C9-5E29-7259-303C-B657BBD8EFA4}"/>
              </a:ext>
            </a:extLst>
          </p:cNvPr>
          <p:cNvSpPr>
            <a:spLocks noGrp="1"/>
          </p:cNvSpPr>
          <p:nvPr>
            <p:ph type="sldNum" sz="quarter" idx="12"/>
          </p:nvPr>
        </p:nvSpPr>
        <p:spPr/>
        <p:txBody>
          <a:bodyPr/>
          <a:lstStyle/>
          <a:p>
            <a:fld id="{9663FB4D-4462-1148-A41B-A6D56F6F932D}" type="slidenum">
              <a:t>6</a:t>
            </a:fld>
            <a:endParaRPr lang="en-VN"/>
          </a:p>
        </p:txBody>
      </p:sp>
      <p:sp>
        <p:nvSpPr>
          <p:cNvPr id="6" name="TextBox 5">
            <a:extLst>
              <a:ext uri="{FF2B5EF4-FFF2-40B4-BE49-F238E27FC236}">
                <a16:creationId xmlns:a16="http://schemas.microsoft.com/office/drawing/2014/main" id="{D0C3635E-CFA6-1E93-3B15-6CBA75C5FAD4}"/>
              </a:ext>
            </a:extLst>
          </p:cNvPr>
          <p:cNvSpPr txBox="1"/>
          <p:nvPr/>
        </p:nvSpPr>
        <p:spPr>
          <a:xfrm>
            <a:off x="6595017" y="1825625"/>
            <a:ext cx="4758783" cy="2092881"/>
          </a:xfrm>
          <a:prstGeom prst="rect">
            <a:avLst/>
          </a:prstGeom>
          <a:noFill/>
        </p:spPr>
        <p:txBody>
          <a:bodyPr wrap="square">
            <a:spAutoFit/>
          </a:bodyPr>
          <a:lstStyle/>
          <a:p>
            <a:pPr marL="0" indent="0">
              <a:buNone/>
            </a:pPr>
            <a:r>
              <a:rPr lang="en-VN" sz="2600"/>
              <a:t>9, 10. Metrics</a:t>
            </a:r>
          </a:p>
          <a:p>
            <a:pPr marL="0" indent="0">
              <a:buNone/>
            </a:pPr>
            <a:r>
              <a:rPr lang="en-VN" sz="2600"/>
              <a:t>11. Adv operation on matrix</a:t>
            </a:r>
          </a:p>
          <a:p>
            <a:pPr marL="0" indent="0">
              <a:buNone/>
            </a:pPr>
            <a:r>
              <a:rPr lang="en-VN" sz="2600"/>
              <a:t>12. Intro research topics</a:t>
            </a:r>
          </a:p>
          <a:p>
            <a:pPr marL="0" indent="0">
              <a:buNone/>
            </a:pPr>
            <a:r>
              <a:rPr lang="en-VN" sz="2600"/>
              <a:t>13. Dicussion</a:t>
            </a:r>
          </a:p>
          <a:p>
            <a:pPr marL="0" indent="0">
              <a:buNone/>
            </a:pPr>
            <a:r>
              <a:rPr lang="en-VN" sz="2600"/>
              <a:t>14, 15. Presentation</a:t>
            </a:r>
          </a:p>
        </p:txBody>
      </p:sp>
      <p:pic>
        <p:nvPicPr>
          <p:cNvPr id="3074" name="Picture 2" descr="Bandai Ichibansho The Quintessential Quintuplets Encounter Trajectory Miku  Nakano Figure blue">
            <a:extLst>
              <a:ext uri="{FF2B5EF4-FFF2-40B4-BE49-F238E27FC236}">
                <a16:creationId xmlns:a16="http://schemas.microsoft.com/office/drawing/2014/main" id="{ACBF9C56-88E3-D8BD-BCEB-6D284B677A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44" r="16727"/>
          <a:stretch>
            <a:fillRect/>
          </a:stretch>
        </p:blipFill>
        <p:spPr bwMode="auto">
          <a:xfrm>
            <a:off x="6595017" y="4058302"/>
            <a:ext cx="1578827" cy="235543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urved Connector 7">
            <a:extLst>
              <a:ext uri="{FF2B5EF4-FFF2-40B4-BE49-F238E27FC236}">
                <a16:creationId xmlns:a16="http://schemas.microsoft.com/office/drawing/2014/main" id="{1F695310-8464-BAC4-8A28-DC5AE7F33EDD}"/>
              </a:ext>
            </a:extLst>
          </p:cNvPr>
          <p:cNvCxnSpPr>
            <a:stCxn id="6" idx="2"/>
            <a:endCxn id="3074" idx="3"/>
          </p:cNvCxnSpPr>
          <p:nvPr/>
        </p:nvCxnSpPr>
        <p:spPr>
          <a:xfrm rot="5400000">
            <a:off x="7915370" y="4176981"/>
            <a:ext cx="1317515" cy="800565"/>
          </a:xfrm>
          <a:prstGeom prst="curvedConnector2">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B229E56-E25E-CEEE-4293-0B995DE5BCE1}"/>
              </a:ext>
            </a:extLst>
          </p:cNvPr>
          <p:cNvSpPr txBox="1"/>
          <p:nvPr/>
        </p:nvSpPr>
        <p:spPr>
          <a:xfrm>
            <a:off x="6595017" y="6423412"/>
            <a:ext cx="3135816" cy="369332"/>
          </a:xfrm>
          <a:prstGeom prst="rect">
            <a:avLst/>
          </a:prstGeom>
          <a:noFill/>
        </p:spPr>
        <p:txBody>
          <a:bodyPr wrap="square" rtlCol="0">
            <a:spAutoFit/>
          </a:bodyPr>
          <a:lstStyle/>
          <a:p>
            <a:r>
              <a:rPr lang="en-VN"/>
              <a:t>*Best presentation award</a:t>
            </a:r>
          </a:p>
        </p:txBody>
      </p:sp>
      <p:sp>
        <p:nvSpPr>
          <p:cNvPr id="10" name="Rectangle 9">
            <a:extLst>
              <a:ext uri="{FF2B5EF4-FFF2-40B4-BE49-F238E27FC236}">
                <a16:creationId xmlns:a16="http://schemas.microsoft.com/office/drawing/2014/main" id="{B85883E6-0C36-66BA-C66F-B4F9DC5EB082}"/>
              </a:ext>
            </a:extLst>
          </p:cNvPr>
          <p:cNvSpPr/>
          <p:nvPr/>
        </p:nvSpPr>
        <p:spPr>
          <a:xfrm>
            <a:off x="6595017" y="2680570"/>
            <a:ext cx="3738956" cy="1237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9D8A753-6FD4-0B1C-B918-AB863989AD03}"/>
                  </a:ext>
                </a:extLst>
              </p:cNvPr>
              <p:cNvSpPr txBox="1"/>
              <p:nvPr/>
            </p:nvSpPr>
            <p:spPr>
              <a:xfrm>
                <a:off x="10362017" y="2625844"/>
                <a:ext cx="1365337" cy="1292662"/>
              </a:xfrm>
              <a:prstGeom prst="rect">
                <a:avLst/>
              </a:prstGeom>
              <a:noFill/>
            </p:spPr>
            <p:txBody>
              <a:bodyPr wrap="square" rtlCol="0">
                <a:spAutoFit/>
              </a:bodyPr>
              <a:lstStyle/>
              <a:p>
                <a:r>
                  <a:rPr lang="en-VN" sz="2600">
                    <a:solidFill>
                      <a:srgbClr val="FF0000"/>
                    </a:solidFill>
                  </a:rPr>
                  <a:t>Group 1</a:t>
                </a:r>
                <a14:m>
                  <m:oMath xmlns:m="http://schemas.openxmlformats.org/officeDocument/2006/math">
                    <m:r>
                      <a:rPr lang="vi-VN" sz="2600" b="0" i="1">
                        <a:solidFill>
                          <a:srgbClr val="FF0000"/>
                        </a:solidFill>
                        <a:latin typeface="Cambria Math" panose="02040503050406030204" pitchFamily="18" charset="0"/>
                      </a:rPr>
                      <m:t>→</m:t>
                    </m:r>
                  </m:oMath>
                </a14:m>
                <a:r>
                  <a:rPr lang="en-VN" sz="2600">
                    <a:solidFill>
                      <a:srgbClr val="FF0000"/>
                    </a:solidFill>
                  </a:rPr>
                  <a:t>5 mem</a:t>
                </a:r>
              </a:p>
            </p:txBody>
          </p:sp>
        </mc:Choice>
        <mc:Fallback>
          <p:sp>
            <p:nvSpPr>
              <p:cNvPr id="11" name="TextBox 10">
                <a:extLst>
                  <a:ext uri="{FF2B5EF4-FFF2-40B4-BE49-F238E27FC236}">
                    <a16:creationId xmlns:a16="http://schemas.microsoft.com/office/drawing/2014/main" id="{A9D8A753-6FD4-0B1C-B918-AB863989AD03}"/>
                  </a:ext>
                </a:extLst>
              </p:cNvPr>
              <p:cNvSpPr txBox="1">
                <a:spLocks noRot="1" noChangeAspect="1" noMove="1" noResize="1" noEditPoints="1" noAdjustHandles="1" noChangeArrowheads="1" noChangeShapeType="1" noTextEdit="1"/>
              </p:cNvSpPr>
              <p:nvPr/>
            </p:nvSpPr>
            <p:spPr>
              <a:xfrm>
                <a:off x="10362017" y="2625844"/>
                <a:ext cx="1365337" cy="1292662"/>
              </a:xfrm>
              <a:prstGeom prst="rect">
                <a:avLst/>
              </a:prstGeom>
              <a:blipFill>
                <a:blip r:embed="rId4"/>
                <a:stretch>
                  <a:fillRect l="-8333" t="-3883" b="-10680"/>
                </a:stretch>
              </a:blipFill>
            </p:spPr>
            <p:txBody>
              <a:bodyPr/>
              <a:lstStyle/>
              <a:p>
                <a:r>
                  <a:rPr lang="en-VN">
                    <a:noFill/>
                  </a:rPr>
                  <a:t> </a:t>
                </a:r>
              </a:p>
            </p:txBody>
          </p:sp>
        </mc:Fallback>
      </mc:AlternateContent>
    </p:spTree>
    <p:extLst>
      <p:ext uri="{BB962C8B-B14F-4D97-AF65-F5344CB8AC3E}">
        <p14:creationId xmlns:p14="http://schemas.microsoft.com/office/powerpoint/2010/main" val="26301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7E02-3B9C-329F-3D39-1071C30601C3}"/>
              </a:ext>
            </a:extLst>
          </p:cNvPr>
          <p:cNvSpPr>
            <a:spLocks noGrp="1"/>
          </p:cNvSpPr>
          <p:nvPr>
            <p:ph type="title"/>
          </p:nvPr>
        </p:nvSpPr>
        <p:spPr/>
        <p:txBody>
          <a:bodyPr/>
          <a:lstStyle/>
          <a:p>
            <a:r>
              <a:rPr lang="en-VN"/>
              <a:t>Find your group</a:t>
            </a:r>
          </a:p>
        </p:txBody>
      </p:sp>
      <p:sp>
        <p:nvSpPr>
          <p:cNvPr id="4" name="Slide Number Placeholder 3">
            <a:extLst>
              <a:ext uri="{FF2B5EF4-FFF2-40B4-BE49-F238E27FC236}">
                <a16:creationId xmlns:a16="http://schemas.microsoft.com/office/drawing/2014/main" id="{CCF7A3A2-BBF3-15D4-BBB7-1A64D14184B9}"/>
              </a:ext>
            </a:extLst>
          </p:cNvPr>
          <p:cNvSpPr>
            <a:spLocks noGrp="1"/>
          </p:cNvSpPr>
          <p:nvPr>
            <p:ph type="sldNum" sz="quarter" idx="12"/>
          </p:nvPr>
        </p:nvSpPr>
        <p:spPr/>
        <p:txBody>
          <a:bodyPr/>
          <a:lstStyle/>
          <a:p>
            <a:fld id="{9663FB4D-4462-1148-A41B-A6D56F6F932D}" type="slidenum">
              <a:t>7</a:t>
            </a:fld>
            <a:endParaRPr lang="en-VN"/>
          </a:p>
        </p:txBody>
      </p:sp>
      <p:pic>
        <p:nvPicPr>
          <p:cNvPr id="4098" name="Picture 2">
            <a:extLst>
              <a:ext uri="{FF2B5EF4-FFF2-40B4-BE49-F238E27FC236}">
                <a16:creationId xmlns:a16="http://schemas.microsoft.com/office/drawing/2014/main" id="{DC3FF099-573C-95CA-A2BA-9217B40E99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45072"/>
            <a:ext cx="3784203" cy="378420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77EBD041-D91A-2048-F21A-099FA9EF42E6}"/>
              </a:ext>
            </a:extLst>
          </p:cNvPr>
          <p:cNvSpPr txBox="1">
            <a:spLocks/>
          </p:cNvSpPr>
          <p:nvPr/>
        </p:nvSpPr>
        <p:spPr>
          <a:xfrm>
            <a:off x="838200" y="5629275"/>
            <a:ext cx="3784203" cy="4959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VN"/>
              <a:t>MM010.R11</a:t>
            </a:r>
          </a:p>
        </p:txBody>
      </p:sp>
    </p:spTree>
    <p:extLst>
      <p:ext uri="{BB962C8B-B14F-4D97-AF65-F5344CB8AC3E}">
        <p14:creationId xmlns:p14="http://schemas.microsoft.com/office/powerpoint/2010/main" val="402155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9AD4-D220-412D-B371-12AC5CE560D4}"/>
              </a:ext>
            </a:extLst>
          </p:cNvPr>
          <p:cNvSpPr>
            <a:spLocks noGrp="1"/>
          </p:cNvSpPr>
          <p:nvPr>
            <p:ph type="title"/>
          </p:nvPr>
        </p:nvSpPr>
        <p:spPr/>
        <p:txBody>
          <a:bodyPr/>
          <a:lstStyle/>
          <a:p>
            <a:r>
              <a:rPr lang="en-VN"/>
              <a:t>1. Vector</a:t>
            </a:r>
          </a:p>
        </p:txBody>
      </p:sp>
      <p:sp>
        <p:nvSpPr>
          <p:cNvPr id="3" name="Content Placeholder 2">
            <a:extLst>
              <a:ext uri="{FF2B5EF4-FFF2-40B4-BE49-F238E27FC236}">
                <a16:creationId xmlns:a16="http://schemas.microsoft.com/office/drawing/2014/main" id="{59A73791-71A1-2D76-22C6-D147BCCB7C7A}"/>
              </a:ext>
            </a:extLst>
          </p:cNvPr>
          <p:cNvSpPr>
            <a:spLocks noGrp="1"/>
          </p:cNvSpPr>
          <p:nvPr>
            <p:ph idx="1"/>
          </p:nvPr>
        </p:nvSpPr>
        <p:spPr/>
        <p:txBody>
          <a:bodyPr/>
          <a:lstStyle/>
          <a:p>
            <a:pPr>
              <a:buFontTx/>
              <a:buChar char="-"/>
            </a:pPr>
            <a:r>
              <a:rPr lang="en-VN"/>
              <a:t>Vector representation: element / dim</a:t>
            </a:r>
          </a:p>
          <a:p>
            <a:pPr>
              <a:buFontTx/>
              <a:buChar char="-"/>
            </a:pPr>
            <a:r>
              <a:rPr lang="en-VN"/>
              <a:t>Feature vector</a:t>
            </a:r>
          </a:p>
          <a:p>
            <a:pPr>
              <a:buFontTx/>
              <a:buChar char="-"/>
            </a:pPr>
            <a:r>
              <a:rPr lang="en-VN"/>
              <a:t>Lab</a:t>
            </a:r>
          </a:p>
        </p:txBody>
      </p:sp>
      <p:sp>
        <p:nvSpPr>
          <p:cNvPr id="4" name="Slide Number Placeholder 3">
            <a:extLst>
              <a:ext uri="{FF2B5EF4-FFF2-40B4-BE49-F238E27FC236}">
                <a16:creationId xmlns:a16="http://schemas.microsoft.com/office/drawing/2014/main" id="{16AAE229-15C8-2662-24E7-C62977E7AAD7}"/>
              </a:ext>
            </a:extLst>
          </p:cNvPr>
          <p:cNvSpPr>
            <a:spLocks noGrp="1"/>
          </p:cNvSpPr>
          <p:nvPr>
            <p:ph type="sldNum" sz="quarter" idx="12"/>
          </p:nvPr>
        </p:nvSpPr>
        <p:spPr/>
        <p:txBody>
          <a:bodyPr/>
          <a:lstStyle/>
          <a:p>
            <a:fld id="{9663FB4D-4462-1148-A41B-A6D56F6F932D}" type="slidenum">
              <a:t>8</a:t>
            </a:fld>
            <a:endParaRPr lang="en-VN"/>
          </a:p>
        </p:txBody>
      </p:sp>
    </p:spTree>
    <p:extLst>
      <p:ext uri="{BB962C8B-B14F-4D97-AF65-F5344CB8AC3E}">
        <p14:creationId xmlns:p14="http://schemas.microsoft.com/office/powerpoint/2010/main" val="155688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1DEE-35CB-8256-CE60-D8E63F0AEA7C}"/>
              </a:ext>
            </a:extLst>
          </p:cNvPr>
          <p:cNvSpPr>
            <a:spLocks noGrp="1"/>
          </p:cNvSpPr>
          <p:nvPr>
            <p:ph type="title"/>
          </p:nvPr>
        </p:nvSpPr>
        <p:spPr/>
        <p:txBody>
          <a:bodyPr/>
          <a:lstStyle/>
          <a:p>
            <a:r>
              <a:rPr lang="en-VN"/>
              <a:t>1.1. Vector: source of data</a:t>
            </a:r>
          </a:p>
        </p:txBody>
      </p:sp>
      <p:graphicFrame>
        <p:nvGraphicFramePr>
          <p:cNvPr id="5" name="Content Placeholder 4">
            <a:extLst>
              <a:ext uri="{FF2B5EF4-FFF2-40B4-BE49-F238E27FC236}">
                <a16:creationId xmlns:a16="http://schemas.microsoft.com/office/drawing/2014/main" id="{E7054E74-5335-900C-4281-36AEC242D8D3}"/>
              </a:ext>
            </a:extLst>
          </p:cNvPr>
          <p:cNvGraphicFramePr>
            <a:graphicFrameLocks noGrp="1"/>
          </p:cNvGraphicFramePr>
          <p:nvPr>
            <p:ph idx="1"/>
            <p:extLst>
              <p:ext uri="{D42A27DB-BD31-4B8C-83A1-F6EECF244321}">
                <p14:modId xmlns:p14="http://schemas.microsoft.com/office/powerpoint/2010/main" val="1670963536"/>
              </p:ext>
            </p:extLst>
          </p:nvPr>
        </p:nvGraphicFramePr>
        <p:xfrm>
          <a:off x="838200" y="1825624"/>
          <a:ext cx="10313019"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gridCol w="3437673">
                  <a:extLst>
                    <a:ext uri="{9D8B030D-6E8A-4147-A177-3AD203B41FA5}">
                      <a16:colId xmlns:a16="http://schemas.microsoft.com/office/drawing/2014/main" val="3422533869"/>
                    </a:ext>
                  </a:extLst>
                </a:gridCol>
                <a:gridCol w="3437673">
                  <a:extLst>
                    <a:ext uri="{9D8B030D-6E8A-4147-A177-3AD203B41FA5}">
                      <a16:colId xmlns:a16="http://schemas.microsoft.com/office/drawing/2014/main" val="360930221"/>
                    </a:ext>
                  </a:extLst>
                </a:gridCol>
              </a:tblGrid>
              <a:tr h="594191">
                <a:tc>
                  <a:txBody>
                    <a:bodyPr/>
                    <a:lstStyle/>
                    <a:p>
                      <a:r>
                        <a:rPr lang="en-VN" sz="2800">
                          <a:solidFill>
                            <a:schemeClr val="tx1"/>
                          </a:solidFill>
                        </a:rPr>
                        <a:t>Bài đăng mạng xã hội</a:t>
                      </a:r>
                    </a:p>
                  </a:txBody>
                  <a:tcPr anchor="ctr"/>
                </a:tc>
                <a:tc>
                  <a:txBody>
                    <a:bodyPr/>
                    <a:lstStyle/>
                    <a:p>
                      <a:r>
                        <a:rPr lang="en-VN" sz="2800">
                          <a:solidFill>
                            <a:schemeClr val="tx1"/>
                          </a:solidFill>
                        </a:rPr>
                        <a:t>Dữ liệu khách hàng</a:t>
                      </a:r>
                    </a:p>
                  </a:txBody>
                  <a:tcPr anchor="ctr"/>
                </a:tc>
                <a:tc>
                  <a:txBody>
                    <a:bodyPr/>
                    <a:lstStyle/>
                    <a:p>
                      <a:r>
                        <a:rPr lang="en-VN" sz="2800">
                          <a:solidFill>
                            <a:schemeClr val="tx1"/>
                          </a:solidFill>
                        </a:rPr>
                        <a:t>CRM</a:t>
                      </a:r>
                    </a:p>
                  </a:txBody>
                  <a:tcPr anchor="ctr"/>
                </a:tc>
                <a:extLst>
                  <a:ext uri="{0D108BD9-81ED-4DB2-BD59-A6C34878D82A}">
                    <a16:rowId xmlns:a16="http://schemas.microsoft.com/office/drawing/2014/main" val="935959999"/>
                  </a:ext>
                </a:extLst>
              </a:tr>
              <a:tr h="2676492">
                <a:tc>
                  <a:txBody>
                    <a:bodyPr/>
                    <a:lstStyle/>
                    <a:p>
                      <a:endParaRPr lang="en-VN" sz="2800">
                        <a:solidFill>
                          <a:schemeClr val="tx1"/>
                        </a:solidFill>
                      </a:endParaRPr>
                    </a:p>
                  </a:txBody>
                  <a:tcPr anchor="ctr"/>
                </a:tc>
                <a:tc>
                  <a:txBody>
                    <a:bodyPr/>
                    <a:lstStyle/>
                    <a:p>
                      <a:endParaRPr lang="en-VN" sz="28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22E35D34-665E-6BCA-43A2-673B37504EEB}"/>
              </a:ext>
            </a:extLst>
          </p:cNvPr>
          <p:cNvSpPr>
            <a:spLocks noGrp="1"/>
          </p:cNvSpPr>
          <p:nvPr>
            <p:ph type="sldNum" sz="quarter" idx="12"/>
          </p:nvPr>
        </p:nvSpPr>
        <p:spPr/>
        <p:txBody>
          <a:bodyPr/>
          <a:lstStyle/>
          <a:p>
            <a:fld id="{9663FB4D-4462-1148-A41B-A6D56F6F932D}" type="slidenum">
              <a:t>9</a:t>
            </a:fld>
            <a:endParaRPr lang="en-VN"/>
          </a:p>
        </p:txBody>
      </p:sp>
      <p:sp>
        <p:nvSpPr>
          <p:cNvPr id="6" name="TextBox 5">
            <a:extLst>
              <a:ext uri="{FF2B5EF4-FFF2-40B4-BE49-F238E27FC236}">
                <a16:creationId xmlns:a16="http://schemas.microsoft.com/office/drawing/2014/main" id="{E49EDDA0-EED7-D8FA-AF2D-07EB9922F6A4}"/>
              </a:ext>
            </a:extLst>
          </p:cNvPr>
          <p:cNvSpPr txBox="1"/>
          <p:nvPr/>
        </p:nvSpPr>
        <p:spPr>
          <a:xfrm>
            <a:off x="689516" y="5655456"/>
            <a:ext cx="3111190" cy="492443"/>
          </a:xfrm>
          <a:prstGeom prst="rect">
            <a:avLst/>
          </a:prstGeom>
          <a:noFill/>
        </p:spPr>
        <p:txBody>
          <a:bodyPr wrap="square" rtlCol="0">
            <a:spAutoFit/>
          </a:bodyPr>
          <a:lstStyle/>
          <a:p>
            <a:r>
              <a:rPr lang="en-VN" sz="2600"/>
              <a:t>Bài đăng ổn không?</a:t>
            </a:r>
          </a:p>
        </p:txBody>
      </p:sp>
      <p:sp>
        <p:nvSpPr>
          <p:cNvPr id="7" name="TextBox 6">
            <a:extLst>
              <a:ext uri="{FF2B5EF4-FFF2-40B4-BE49-F238E27FC236}">
                <a16:creationId xmlns:a16="http://schemas.microsoft.com/office/drawing/2014/main" id="{BBE703E3-BD24-8D92-CFFC-4AD95C79CBAA}"/>
              </a:ext>
            </a:extLst>
          </p:cNvPr>
          <p:cNvSpPr txBox="1"/>
          <p:nvPr/>
        </p:nvSpPr>
        <p:spPr>
          <a:xfrm>
            <a:off x="4198432" y="5665271"/>
            <a:ext cx="3111190" cy="892552"/>
          </a:xfrm>
          <a:prstGeom prst="rect">
            <a:avLst/>
          </a:prstGeom>
          <a:noFill/>
        </p:spPr>
        <p:txBody>
          <a:bodyPr wrap="square" rtlCol="0">
            <a:spAutoFit/>
          </a:bodyPr>
          <a:lstStyle/>
          <a:p>
            <a:r>
              <a:rPr lang="en-VN" sz="2600"/>
              <a:t>Nam hay nữ mua hàng nhiều hơn?</a:t>
            </a:r>
          </a:p>
        </p:txBody>
      </p:sp>
      <p:sp>
        <p:nvSpPr>
          <p:cNvPr id="8" name="TextBox 7">
            <a:extLst>
              <a:ext uri="{FF2B5EF4-FFF2-40B4-BE49-F238E27FC236}">
                <a16:creationId xmlns:a16="http://schemas.microsoft.com/office/drawing/2014/main" id="{EE307722-3811-15B1-1CBC-8B902A859BC4}"/>
              </a:ext>
            </a:extLst>
          </p:cNvPr>
          <p:cNvSpPr txBox="1"/>
          <p:nvPr/>
        </p:nvSpPr>
        <p:spPr>
          <a:xfrm>
            <a:off x="7707348" y="5655456"/>
            <a:ext cx="3111190" cy="892552"/>
          </a:xfrm>
          <a:prstGeom prst="rect">
            <a:avLst/>
          </a:prstGeom>
          <a:noFill/>
        </p:spPr>
        <p:txBody>
          <a:bodyPr wrap="square" rtlCol="0">
            <a:spAutoFit/>
          </a:bodyPr>
          <a:lstStyle/>
          <a:p>
            <a:r>
              <a:rPr lang="en-VN" sz="2600"/>
              <a:t>Nên đặt thêm loại hàng nào?</a:t>
            </a:r>
          </a:p>
        </p:txBody>
      </p:sp>
      <p:cxnSp>
        <p:nvCxnSpPr>
          <p:cNvPr id="10" name="Straight Arrow Connector 9">
            <a:extLst>
              <a:ext uri="{FF2B5EF4-FFF2-40B4-BE49-F238E27FC236}">
                <a16:creationId xmlns:a16="http://schemas.microsoft.com/office/drawing/2014/main" id="{2B4B5C4F-BE21-48F9-9D06-DDB10113889A}"/>
              </a:ext>
            </a:extLst>
          </p:cNvPr>
          <p:cNvCxnSpPr>
            <a:endCxn id="6" idx="0"/>
          </p:cNvCxnSpPr>
          <p:nvPr/>
        </p:nvCxnSpPr>
        <p:spPr>
          <a:xfrm>
            <a:off x="2245111" y="5096307"/>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2EFC1E27-C81B-871F-8FEE-36BC2C215C06}"/>
              </a:ext>
            </a:extLst>
          </p:cNvPr>
          <p:cNvCxnSpPr/>
          <p:nvPr/>
        </p:nvCxnSpPr>
        <p:spPr>
          <a:xfrm>
            <a:off x="5994708" y="5106122"/>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7878F52D-AC47-45F7-191D-086505C92BB2}"/>
              </a:ext>
            </a:extLst>
          </p:cNvPr>
          <p:cNvCxnSpPr/>
          <p:nvPr/>
        </p:nvCxnSpPr>
        <p:spPr>
          <a:xfrm>
            <a:off x="9492474" y="5096306"/>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6A20BF9E-00EB-BE80-A791-CC871C3EE493}"/>
              </a:ext>
            </a:extLst>
          </p:cNvPr>
          <p:cNvSpPr txBox="1"/>
          <p:nvPr/>
        </p:nvSpPr>
        <p:spPr>
          <a:xfrm>
            <a:off x="838200" y="2468381"/>
            <a:ext cx="3360232" cy="2492990"/>
          </a:xfrm>
          <a:prstGeom prst="rect">
            <a:avLst/>
          </a:prstGeom>
          <a:noFill/>
        </p:spPr>
        <p:txBody>
          <a:bodyPr wrap="square">
            <a:spAutoFit/>
          </a:bodyPr>
          <a:lstStyle/>
          <a:p>
            <a:r>
              <a:rPr lang="en-VN" sz="2600">
                <a:solidFill>
                  <a:schemeClr val="tx1"/>
                </a:solidFill>
              </a:rPr>
              <a:t>Lượt like / cảm xúc</a:t>
            </a:r>
          </a:p>
          <a:p>
            <a:r>
              <a:rPr lang="en-VN" sz="2600">
                <a:solidFill>
                  <a:schemeClr val="tx1"/>
                </a:solidFill>
              </a:rPr>
              <a:t>Lượt share</a:t>
            </a:r>
          </a:p>
          <a:p>
            <a:r>
              <a:rPr lang="en-VN" sz="2600">
                <a:solidFill>
                  <a:schemeClr val="tx1"/>
                </a:solidFill>
              </a:rPr>
              <a:t>Số bình luận</a:t>
            </a:r>
          </a:p>
          <a:p>
            <a:r>
              <a:rPr lang="en-VN" sz="2600">
                <a:solidFill>
                  <a:schemeClr val="tx1"/>
                </a:solidFill>
              </a:rPr>
              <a:t>Net follows</a:t>
            </a:r>
          </a:p>
          <a:p>
            <a:r>
              <a:rPr lang="en-VN" sz="2600">
                <a:solidFill>
                  <a:schemeClr val="tx1"/>
                </a:solidFill>
              </a:rPr>
              <a:t>Engagement</a:t>
            </a:r>
          </a:p>
          <a:p>
            <a:r>
              <a:rPr lang="en-VN" sz="2600">
                <a:solidFill>
                  <a:schemeClr val="tx1"/>
                </a:solidFill>
              </a:rPr>
              <a:t>…</a:t>
            </a:r>
          </a:p>
        </p:txBody>
      </p:sp>
      <p:sp>
        <p:nvSpPr>
          <p:cNvPr id="16" name="TextBox 15">
            <a:extLst>
              <a:ext uri="{FF2B5EF4-FFF2-40B4-BE49-F238E27FC236}">
                <a16:creationId xmlns:a16="http://schemas.microsoft.com/office/drawing/2014/main" id="{D4E52A9C-78F9-9FB5-9F42-A46B9966322E}"/>
              </a:ext>
            </a:extLst>
          </p:cNvPr>
          <p:cNvSpPr txBox="1"/>
          <p:nvPr/>
        </p:nvSpPr>
        <p:spPr>
          <a:xfrm>
            <a:off x="4311801" y="2468381"/>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18" name="TextBox 17">
            <a:extLst>
              <a:ext uri="{FF2B5EF4-FFF2-40B4-BE49-F238E27FC236}">
                <a16:creationId xmlns:a16="http://schemas.microsoft.com/office/drawing/2014/main" id="{8A109987-6255-9D08-504F-2B18FD60A175}"/>
              </a:ext>
            </a:extLst>
          </p:cNvPr>
          <p:cNvSpPr txBox="1"/>
          <p:nvPr/>
        </p:nvSpPr>
        <p:spPr>
          <a:xfrm>
            <a:off x="7707348" y="2468381"/>
            <a:ext cx="3087019" cy="24929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2600">
                <a:solidFill>
                  <a:schemeClr val="tx1"/>
                </a:solidFill>
              </a:rPr>
              <a:t>Lịch sử mua hàng</a:t>
            </a:r>
          </a:p>
          <a:p>
            <a:r>
              <a:rPr lang="en-VN" sz="2600">
                <a:solidFill>
                  <a:schemeClr val="tx1"/>
                </a:solidFill>
              </a:rPr>
              <a:t>Lịch sử liên hệ</a:t>
            </a:r>
          </a:p>
          <a:p>
            <a:r>
              <a:rPr lang="en-VN" sz="2600">
                <a:solidFill>
                  <a:schemeClr val="tx1"/>
                </a:solidFill>
              </a:rPr>
              <a:t>Lịch sử hỗ trợ</a:t>
            </a:r>
          </a:p>
          <a:p>
            <a:endParaRPr lang="en-VN" sz="2600">
              <a:solidFill>
                <a:schemeClr val="tx1"/>
              </a:solidFill>
            </a:endParaRPr>
          </a:p>
          <a:p>
            <a:endParaRPr lang="en-VN" sz="2600">
              <a:solidFill>
                <a:schemeClr val="tx1"/>
              </a:solidFill>
            </a:endParaRPr>
          </a:p>
          <a:p>
            <a:r>
              <a:rPr lang="en-VN" sz="2600">
                <a:solidFill>
                  <a:schemeClr val="tx1"/>
                </a:solidFill>
              </a:rPr>
              <a:t>…</a:t>
            </a:r>
          </a:p>
        </p:txBody>
      </p:sp>
    </p:spTree>
    <p:extLst>
      <p:ext uri="{BB962C8B-B14F-4D97-AF65-F5344CB8AC3E}">
        <p14:creationId xmlns:p14="http://schemas.microsoft.com/office/powerpoint/2010/main" val="320623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4" grpId="0"/>
      <p:bldP spid="16"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EB41-7216-BA8A-A7AB-AAB30E0CA8AE}"/>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3C4C44F-42C4-C503-D6C8-360E7D916436}"/>
              </a:ext>
            </a:extLst>
          </p:cNvPr>
          <p:cNvGraphicFramePr>
            <a:graphicFrameLocks noGrp="1"/>
          </p:cNvGraphicFramePr>
          <p:nvPr>
            <p:ph idx="1"/>
            <p:extLst>
              <p:ext uri="{D42A27DB-BD31-4B8C-83A1-F6EECF244321}">
                <p14:modId xmlns:p14="http://schemas.microsoft.com/office/powerpoint/2010/main" val="1398602934"/>
              </p:ext>
            </p:extLst>
          </p:nvPr>
        </p:nvGraphicFramePr>
        <p:xfrm>
          <a:off x="838200" y="4699929"/>
          <a:ext cx="3437673" cy="2021546"/>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tblGrid>
              <a:tr h="406479">
                <a:tc>
                  <a:txBody>
                    <a:bodyPr/>
                    <a:lstStyle/>
                    <a:p>
                      <a:r>
                        <a:rPr lang="en-VN" sz="2800">
                          <a:solidFill>
                            <a:schemeClr val="tx1"/>
                          </a:solidFill>
                        </a:rPr>
                        <a:t>Bài đăng mạng xã hội</a:t>
                      </a:r>
                    </a:p>
                  </a:txBody>
                  <a:tcPr anchor="ctr"/>
                </a:tc>
                <a:extLst>
                  <a:ext uri="{0D108BD9-81ED-4DB2-BD59-A6C34878D82A}">
                    <a16:rowId xmlns:a16="http://schemas.microsoft.com/office/drawing/2014/main" val="935959999"/>
                  </a:ext>
                </a:extLst>
              </a:tr>
              <a:tr h="1503386">
                <a:tc>
                  <a:txBody>
                    <a:bodyPr/>
                    <a:lstStyle/>
                    <a:p>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B6220D51-1BF6-0C9D-283B-30FE90C799FD}"/>
              </a:ext>
            </a:extLst>
          </p:cNvPr>
          <p:cNvSpPr>
            <a:spLocks noGrp="1"/>
          </p:cNvSpPr>
          <p:nvPr>
            <p:ph type="sldNum" sz="quarter" idx="12"/>
          </p:nvPr>
        </p:nvSpPr>
        <p:spPr/>
        <p:txBody>
          <a:bodyPr/>
          <a:lstStyle/>
          <a:p>
            <a:fld id="{9663FB4D-4462-1148-A41B-A6D56F6F932D}" type="slidenum">
              <a:t>10</a:t>
            </a:fld>
            <a:endParaRPr lang="en-VN"/>
          </a:p>
        </p:txBody>
      </p:sp>
      <p:sp>
        <p:nvSpPr>
          <p:cNvPr id="14" name="TextBox 13">
            <a:extLst>
              <a:ext uri="{FF2B5EF4-FFF2-40B4-BE49-F238E27FC236}">
                <a16:creationId xmlns:a16="http://schemas.microsoft.com/office/drawing/2014/main" id="{26F04328-9341-43BD-DCB5-663A9A8416D5}"/>
              </a:ext>
            </a:extLst>
          </p:cNvPr>
          <p:cNvSpPr txBox="1"/>
          <p:nvPr/>
        </p:nvSpPr>
        <p:spPr>
          <a:xfrm>
            <a:off x="838200" y="5342685"/>
            <a:ext cx="3360232" cy="1292662"/>
          </a:xfrm>
          <a:prstGeom prst="rect">
            <a:avLst/>
          </a:prstGeom>
          <a:noFill/>
        </p:spPr>
        <p:txBody>
          <a:bodyPr wrap="square">
            <a:spAutoFit/>
          </a:bodyPr>
          <a:lstStyle/>
          <a:p>
            <a:r>
              <a:rPr lang="en-VN" sz="2600">
                <a:solidFill>
                  <a:schemeClr val="tx1"/>
                </a:solidFill>
              </a:rPr>
              <a:t>Interactions</a:t>
            </a:r>
          </a:p>
          <a:p>
            <a:r>
              <a:rPr lang="en-VN" sz="2600">
                <a:solidFill>
                  <a:schemeClr val="tx1"/>
                </a:solidFill>
              </a:rPr>
              <a:t>Net follows</a:t>
            </a:r>
          </a:p>
          <a:p>
            <a:r>
              <a:rPr lang="en-VN" sz="2600">
                <a:solidFill>
                  <a:schemeClr val="tx1"/>
                </a:solidFill>
              </a:rPr>
              <a:t>Views</a:t>
            </a:r>
          </a:p>
        </p:txBody>
      </p:sp>
      <p:sp>
        <p:nvSpPr>
          <p:cNvPr id="16" name="TextBox 15">
            <a:extLst>
              <a:ext uri="{FF2B5EF4-FFF2-40B4-BE49-F238E27FC236}">
                <a16:creationId xmlns:a16="http://schemas.microsoft.com/office/drawing/2014/main" id="{29E9F71E-0006-DAB8-F814-401FCF1E4899}"/>
              </a:ext>
            </a:extLst>
          </p:cNvPr>
          <p:cNvSpPr txBox="1"/>
          <p:nvPr/>
        </p:nvSpPr>
        <p:spPr>
          <a:xfrm>
            <a:off x="3341645" y="5342685"/>
            <a:ext cx="1051936" cy="1292662"/>
          </a:xfrm>
          <a:prstGeom prst="rect">
            <a:avLst/>
          </a:prstGeom>
          <a:noFill/>
        </p:spPr>
        <p:txBody>
          <a:bodyPr wrap="square">
            <a:spAutoFit/>
          </a:bodyPr>
          <a:lstStyle/>
          <a:p>
            <a:r>
              <a:rPr lang="en-VN" sz="2600"/>
              <a:t>13</a:t>
            </a:r>
            <a:endParaRPr lang="en-VN" sz="2600">
              <a:solidFill>
                <a:schemeClr val="tx1"/>
              </a:solidFill>
            </a:endParaRPr>
          </a:p>
          <a:p>
            <a:r>
              <a:rPr lang="en-VN" sz="2600">
                <a:solidFill>
                  <a:schemeClr val="tx1"/>
                </a:solidFill>
              </a:rPr>
              <a:t>-1</a:t>
            </a:r>
          </a:p>
          <a:p>
            <a:r>
              <a:rPr lang="en-VN" sz="2600">
                <a:solidFill>
                  <a:schemeClr val="tx1"/>
                </a:solidFill>
              </a:rPr>
              <a:t>1665</a:t>
            </a:r>
          </a:p>
        </p:txBody>
      </p:sp>
      <p:pic>
        <p:nvPicPr>
          <p:cNvPr id="9" name="Picture 8" descr="A screenshot of a computer&#10;&#10;AI-generated content may be incorrect.">
            <a:extLst>
              <a:ext uri="{FF2B5EF4-FFF2-40B4-BE49-F238E27FC236}">
                <a16:creationId xmlns:a16="http://schemas.microsoft.com/office/drawing/2014/main" id="{84E4F092-4C00-ABFF-492C-F5097528B790}"/>
              </a:ext>
            </a:extLst>
          </p:cNvPr>
          <p:cNvPicPr>
            <a:picLocks noChangeAspect="1"/>
          </p:cNvPicPr>
          <p:nvPr/>
        </p:nvPicPr>
        <p:blipFill>
          <a:blip r:embed="rId3"/>
          <a:stretch>
            <a:fillRect/>
          </a:stretch>
        </p:blipFill>
        <p:spPr>
          <a:xfrm>
            <a:off x="838200" y="112861"/>
            <a:ext cx="9232726" cy="4485403"/>
          </a:xfrm>
          <a:prstGeom prst="rect">
            <a:avLst/>
          </a:prstGeom>
        </p:spPr>
      </p:pic>
      <p:cxnSp>
        <p:nvCxnSpPr>
          <p:cNvPr id="13" name="Straight Arrow Connector 12">
            <a:extLst>
              <a:ext uri="{FF2B5EF4-FFF2-40B4-BE49-F238E27FC236}">
                <a16:creationId xmlns:a16="http://schemas.microsoft.com/office/drawing/2014/main" id="{8B64B3AC-73BB-A425-C08F-90BD02ADA89E}"/>
              </a:ext>
            </a:extLst>
          </p:cNvPr>
          <p:cNvCxnSpPr>
            <a:cxnSpLocks/>
          </p:cNvCxnSpPr>
          <p:nvPr/>
        </p:nvCxnSpPr>
        <p:spPr>
          <a:xfrm>
            <a:off x="2724614" y="5606552"/>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DC1393E9-DB6E-24BD-E084-01D38DF75B7F}"/>
              </a:ext>
            </a:extLst>
          </p:cNvPr>
          <p:cNvCxnSpPr>
            <a:cxnSpLocks/>
          </p:cNvCxnSpPr>
          <p:nvPr/>
        </p:nvCxnSpPr>
        <p:spPr>
          <a:xfrm>
            <a:off x="2724614" y="6004279"/>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57E9C61-F656-9050-E7F6-2F7CED68DCF0}"/>
              </a:ext>
            </a:extLst>
          </p:cNvPr>
          <p:cNvCxnSpPr>
            <a:cxnSpLocks/>
          </p:cNvCxnSpPr>
          <p:nvPr/>
        </p:nvCxnSpPr>
        <p:spPr>
          <a:xfrm>
            <a:off x="2724614" y="6390855"/>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35DBA5D7-0BAA-09BB-C9AA-C14C69D90E12}"/>
                  </a:ext>
                </a:extLst>
              </p:cNvPr>
              <p:cNvSpPr txBox="1"/>
              <p:nvPr/>
            </p:nvSpPr>
            <p:spPr>
              <a:xfrm>
                <a:off x="4924186" y="5413123"/>
                <a:ext cx="1051936" cy="11823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p:sp>
            <p:nvSpPr>
              <p:cNvPr id="20" name="TextBox 19">
                <a:extLst>
                  <a:ext uri="{FF2B5EF4-FFF2-40B4-BE49-F238E27FC236}">
                    <a16:creationId xmlns:a16="http://schemas.microsoft.com/office/drawing/2014/main" id="{35DBA5D7-0BAA-09BB-C9AA-C14C69D90E12}"/>
                  </a:ext>
                </a:extLst>
              </p:cNvPr>
              <p:cNvSpPr txBox="1">
                <a:spLocks noRot="1" noChangeAspect="1" noMove="1" noResize="1" noEditPoints="1" noAdjustHandles="1" noChangeArrowheads="1" noChangeShapeType="1" noTextEdit="1"/>
              </p:cNvSpPr>
              <p:nvPr/>
            </p:nvSpPr>
            <p:spPr>
              <a:xfrm>
                <a:off x="4924186" y="5413123"/>
                <a:ext cx="1051936" cy="1182311"/>
              </a:xfrm>
              <a:prstGeom prst="rect">
                <a:avLst/>
              </a:prstGeom>
              <a:blipFill>
                <a:blip r:embed="rId4"/>
                <a:stretch>
                  <a:fillRect r="-1190" b="-212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8817D676-2A73-EE3F-ADCF-C07F92A301F9}"/>
                  </a:ext>
                </a:extLst>
              </p:cNvPr>
              <p:cNvSpPr txBox="1"/>
              <p:nvPr/>
            </p:nvSpPr>
            <p:spPr>
              <a:xfrm>
                <a:off x="4224137" y="5742793"/>
                <a:ext cx="936702" cy="49244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𝑣</m:t>
                      </m:r>
                      <m:r>
                        <a:rPr lang="vi-VN" sz="2600" b="0" i="1">
                          <a:latin typeface="Cambria Math" panose="02040503050406030204" pitchFamily="18" charset="0"/>
                        </a:rPr>
                        <m:t>=</m:t>
                      </m:r>
                    </m:oMath>
                  </m:oMathPara>
                </a14:m>
                <a:endParaRPr lang="en-VN" sz="2600" i="1"/>
              </a:p>
            </p:txBody>
          </p:sp>
        </mc:Choice>
        <mc:Fallback>
          <p:sp>
            <p:nvSpPr>
              <p:cNvPr id="23" name="TextBox 22">
                <a:extLst>
                  <a:ext uri="{FF2B5EF4-FFF2-40B4-BE49-F238E27FC236}">
                    <a16:creationId xmlns:a16="http://schemas.microsoft.com/office/drawing/2014/main" id="{8817D676-2A73-EE3F-ADCF-C07F92A301F9}"/>
                  </a:ext>
                </a:extLst>
              </p:cNvPr>
              <p:cNvSpPr txBox="1">
                <a:spLocks noRot="1" noChangeAspect="1" noMove="1" noResize="1" noEditPoints="1" noAdjustHandles="1" noChangeArrowheads="1" noChangeShapeType="1" noTextEdit="1"/>
              </p:cNvSpPr>
              <p:nvPr/>
            </p:nvSpPr>
            <p:spPr>
              <a:xfrm>
                <a:off x="4224137" y="5742793"/>
                <a:ext cx="936702" cy="492443"/>
              </a:xfrm>
              <a:prstGeom prst="rect">
                <a:avLst/>
              </a:prstGeom>
              <a:blipFill>
                <a:blip r:embed="rId5"/>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265790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33D1A-D75F-D6EF-3787-F9C809D5F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45DF-E574-B67A-AC25-07C54C1AA606}"/>
              </a:ext>
            </a:extLst>
          </p:cNvPr>
          <p:cNvSpPr>
            <a:spLocks noGrp="1"/>
          </p:cNvSpPr>
          <p:nvPr>
            <p:ph type="title"/>
          </p:nvPr>
        </p:nvSpPr>
        <p:spPr/>
        <p:txBody>
          <a:bodyPr/>
          <a:lstStyle/>
          <a:p>
            <a:r>
              <a:rPr lang="en-VN"/>
              <a:t>1.2. Vector</a:t>
            </a:r>
          </a:p>
        </p:txBody>
      </p:sp>
      <p:sp>
        <p:nvSpPr>
          <p:cNvPr id="4" name="Slide Number Placeholder 3">
            <a:extLst>
              <a:ext uri="{FF2B5EF4-FFF2-40B4-BE49-F238E27FC236}">
                <a16:creationId xmlns:a16="http://schemas.microsoft.com/office/drawing/2014/main" id="{9B759638-C26B-4E16-9664-2FE4D4AF7CA5}"/>
              </a:ext>
            </a:extLst>
          </p:cNvPr>
          <p:cNvSpPr>
            <a:spLocks noGrp="1"/>
          </p:cNvSpPr>
          <p:nvPr>
            <p:ph type="sldNum" sz="quarter" idx="12"/>
          </p:nvPr>
        </p:nvSpPr>
        <p:spPr/>
        <p:txBody>
          <a:bodyPr/>
          <a:lstStyle/>
          <a:p>
            <a:fld id="{9663FB4D-4462-1148-A41B-A6D56F6F932D}" type="slidenum">
              <a:t>11</a:t>
            </a:fld>
            <a:endParaRPr lang="en-VN"/>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232033F-E94B-47D1-27F9-88FFFDF6750B}"/>
                  </a:ext>
                </a:extLst>
              </p:cNvPr>
              <p:cNvSpPr txBox="1"/>
              <p:nvPr/>
            </p:nvSpPr>
            <p:spPr>
              <a:xfrm>
                <a:off x="838200" y="1565953"/>
                <a:ext cx="2049966" cy="11503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p:sp>
            <p:nvSpPr>
              <p:cNvPr id="20" name="TextBox 19">
                <a:extLst>
                  <a:ext uri="{FF2B5EF4-FFF2-40B4-BE49-F238E27FC236}">
                    <a16:creationId xmlns:a16="http://schemas.microsoft.com/office/drawing/2014/main" id="{B232033F-E94B-47D1-27F9-88FFFDF6750B}"/>
                  </a:ext>
                </a:extLst>
              </p:cNvPr>
              <p:cNvSpPr txBox="1">
                <a:spLocks noRot="1" noChangeAspect="1" noMove="1" noResize="1" noEditPoints="1" noAdjustHandles="1" noChangeArrowheads="1" noChangeShapeType="1" noTextEdit="1"/>
              </p:cNvSpPr>
              <p:nvPr/>
            </p:nvSpPr>
            <p:spPr>
              <a:xfrm>
                <a:off x="838200" y="1565953"/>
                <a:ext cx="2049966" cy="1150380"/>
              </a:xfrm>
              <a:prstGeom prst="rect">
                <a:avLst/>
              </a:prstGeom>
              <a:blipFill>
                <a:blip r:embed="rId3"/>
                <a:stretch>
                  <a:fillRect b="-434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EB3C2F9-AA7D-4911-5B31-29D1C5F61174}"/>
                  </a:ext>
                </a:extLst>
              </p:cNvPr>
              <p:cNvSpPr txBox="1"/>
              <p:nvPr/>
            </p:nvSpPr>
            <p:spPr>
              <a:xfrm>
                <a:off x="4361057" y="2390925"/>
                <a:ext cx="2049966" cy="15663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m>
                                  <m:mPr>
                                    <m:mcs>
                                      <m:mc>
                                        <m:mcPr>
                                          <m:count m:val="1"/>
                                          <m:mcJc m:val="center"/>
                                        </m:mcPr>
                                      </m:mc>
                                    </m:mcs>
                                    <m:ctrlPr>
                                      <a:rPr lang="vi-VN" sz="2600" b="0" i="1">
                                        <a:solidFill>
                                          <a:schemeClr val="tx1"/>
                                        </a:solidFill>
                                        <a:latin typeface="Cambria Math" panose="02040503050406030204" pitchFamily="18" charset="0"/>
                                      </a:rPr>
                                    </m:ctrlPr>
                                  </m:mPr>
                                  <m:mr>
                                    <m:e>
                                      <m:sSub>
                                        <m:sSubPr>
                                          <m:ctrlPr>
                                            <a:rPr lang="vi-VN" sz="2600" b="0" i="1">
                                              <a:latin typeface="Cambria Math" panose="02040503050406030204" pitchFamily="18" charset="0"/>
                                            </a:rPr>
                                          </m:ctrlPr>
                                        </m:sSubPr>
                                        <m:e>
                                          <m:r>
                                            <m:rPr>
                                              <m:brk m:alnAt="7"/>
                                            </m:rPr>
                                            <a:rPr lang="vi-VN" sz="2600" i="1">
                                              <a:latin typeface="Cambria Math" panose="02040503050406030204" pitchFamily="18" charset="0"/>
                                            </a:rPr>
                                            <m:t>𝑣</m:t>
                                          </m:r>
                                        </m:e>
                                        <m:sub>
                                          <m:r>
                                            <a:rPr lang="vi-VN" sz="2600" b="0" i="1">
                                              <a:latin typeface="Cambria Math" panose="02040503050406030204" pitchFamily="18" charset="0"/>
                                            </a:rPr>
                                            <m:t>1</m:t>
                                          </m:r>
                                        </m:sub>
                                      </m:sSub>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b="0" i="1">
                                              <a:latin typeface="Cambria Math" panose="02040503050406030204" pitchFamily="18" charset="0"/>
                                            </a:rPr>
                                            <m:t>2</m:t>
                                          </m:r>
                                        </m:sub>
                                      </m:sSub>
                                    </m:e>
                                  </m:mr>
                                </m:m>
                              </m:e>
                            </m:mr>
                            <m:m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m:t>
                                      </m:r>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i="1">
                                              <a:latin typeface="Cambria Math" panose="02040503050406030204" pitchFamily="18" charset="0"/>
                                            </a:rPr>
                                            <m:t>𝑀</m:t>
                                          </m:r>
                                        </m:sub>
                                      </m:sSub>
                                    </m:e>
                                  </m:mr>
                                </m:m>
                              </m:e>
                            </m:mr>
                          </m:m>
                        </m:e>
                      </m:d>
                    </m:oMath>
                  </m:oMathPara>
                </a14:m>
                <a:endParaRPr lang="en-VN" sz="2600" i="1">
                  <a:solidFill>
                    <a:schemeClr val="tx1"/>
                  </a:solidFill>
                </a:endParaRPr>
              </a:p>
            </p:txBody>
          </p:sp>
        </mc:Choice>
        <mc:Fallback>
          <p:sp>
            <p:nvSpPr>
              <p:cNvPr id="7" name="TextBox 6">
                <a:extLst>
                  <a:ext uri="{FF2B5EF4-FFF2-40B4-BE49-F238E27FC236}">
                    <a16:creationId xmlns:a16="http://schemas.microsoft.com/office/drawing/2014/main" id="{4EB3C2F9-AA7D-4911-5B31-29D1C5F61174}"/>
                  </a:ext>
                </a:extLst>
              </p:cNvPr>
              <p:cNvSpPr txBox="1">
                <a:spLocks noRot="1" noChangeAspect="1" noMove="1" noResize="1" noEditPoints="1" noAdjustHandles="1" noChangeArrowheads="1" noChangeShapeType="1" noTextEdit="1"/>
              </p:cNvSpPr>
              <p:nvPr/>
            </p:nvSpPr>
            <p:spPr>
              <a:xfrm>
                <a:off x="4361057" y="2390925"/>
                <a:ext cx="2049966" cy="1566391"/>
              </a:xfrm>
              <a:prstGeom prst="rect">
                <a:avLst/>
              </a:prstGeom>
              <a:blipFill>
                <a:blip r:embed="rId4"/>
                <a:stretch>
                  <a:fillRect/>
                </a:stretch>
              </a:blipFill>
            </p:spPr>
            <p:txBody>
              <a:bodyPr/>
              <a:lstStyle/>
              <a:p>
                <a:r>
                  <a:rPr lang="en-VN">
                    <a:noFill/>
                  </a:rPr>
                  <a:t> </a:t>
                </a:r>
              </a:p>
            </p:txBody>
          </p:sp>
        </mc:Fallback>
      </mc:AlternateContent>
      <p:sp>
        <p:nvSpPr>
          <p:cNvPr id="8" name="TextBox 7">
            <a:extLst>
              <a:ext uri="{FF2B5EF4-FFF2-40B4-BE49-F238E27FC236}">
                <a16:creationId xmlns:a16="http://schemas.microsoft.com/office/drawing/2014/main" id="{C6BC2117-1EAF-113F-D65D-695A21646D98}"/>
              </a:ext>
            </a:extLst>
          </p:cNvPr>
          <p:cNvSpPr txBox="1"/>
          <p:nvPr/>
        </p:nvSpPr>
        <p:spPr>
          <a:xfrm>
            <a:off x="6690732" y="2214637"/>
            <a:ext cx="2174487" cy="492443"/>
          </a:xfrm>
          <a:prstGeom prst="rect">
            <a:avLst/>
          </a:prstGeom>
          <a:noFill/>
        </p:spPr>
        <p:txBody>
          <a:bodyPr wrap="square" rtlCol="0">
            <a:spAutoFit/>
          </a:bodyPr>
          <a:lstStyle/>
          <a:p>
            <a:r>
              <a:rPr lang="en-US" sz="2600"/>
              <a:t>I</a:t>
            </a:r>
            <a:r>
              <a:rPr lang="en-VN" sz="2600"/>
              <a:t>ndex (chỉ số)</a:t>
            </a:r>
          </a:p>
        </p:txBody>
      </p:sp>
      <p:cxnSp>
        <p:nvCxnSpPr>
          <p:cNvPr id="11" name="Straight Arrow Connector 10">
            <a:extLst>
              <a:ext uri="{FF2B5EF4-FFF2-40B4-BE49-F238E27FC236}">
                <a16:creationId xmlns:a16="http://schemas.microsoft.com/office/drawing/2014/main" id="{B53F8549-DA90-6316-3E2C-1B071190D895}"/>
              </a:ext>
            </a:extLst>
          </p:cNvPr>
          <p:cNvCxnSpPr>
            <a:endCxn id="8" idx="1"/>
          </p:cNvCxnSpPr>
          <p:nvPr/>
        </p:nvCxnSpPr>
        <p:spPr>
          <a:xfrm flipV="1">
            <a:off x="5586761" y="2460859"/>
            <a:ext cx="1103971" cy="24622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19F6065-29AA-EE16-AF03-87AD658EEEFD}"/>
              </a:ext>
            </a:extLst>
          </p:cNvPr>
          <p:cNvCxnSpPr>
            <a:cxnSpLocks/>
            <a:endCxn id="8" idx="1"/>
          </p:cNvCxnSpPr>
          <p:nvPr/>
        </p:nvCxnSpPr>
        <p:spPr>
          <a:xfrm flipV="1">
            <a:off x="5586761" y="2460859"/>
            <a:ext cx="1103971" cy="58342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4F483DC-F93D-F41D-A173-D0C136F3208B}"/>
              </a:ext>
            </a:extLst>
          </p:cNvPr>
          <p:cNvCxnSpPr>
            <a:cxnSpLocks/>
            <a:endCxn id="8" idx="1"/>
          </p:cNvCxnSpPr>
          <p:nvPr/>
        </p:nvCxnSpPr>
        <p:spPr>
          <a:xfrm flipV="1">
            <a:off x="5586761" y="2460859"/>
            <a:ext cx="1103971" cy="135285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3B8DA50-A810-4DE6-D496-4E0BD8A5E6E2}"/>
              </a:ext>
            </a:extLst>
          </p:cNvPr>
          <p:cNvSpPr txBox="1"/>
          <p:nvPr/>
        </p:nvSpPr>
        <p:spPr>
          <a:xfrm>
            <a:off x="3970299" y="1460219"/>
            <a:ext cx="2887236" cy="492443"/>
          </a:xfrm>
          <a:prstGeom prst="rect">
            <a:avLst/>
          </a:prstGeom>
          <a:noFill/>
        </p:spPr>
        <p:txBody>
          <a:bodyPr wrap="square" rtlCol="0">
            <a:spAutoFit/>
          </a:bodyPr>
          <a:lstStyle/>
          <a:p>
            <a:r>
              <a:rPr lang="en-US" sz="2600"/>
              <a:t>Element</a:t>
            </a:r>
            <a:r>
              <a:rPr lang="en-VN" sz="2600"/>
              <a:t> (phần tử)</a:t>
            </a:r>
          </a:p>
        </p:txBody>
      </p:sp>
      <p:sp>
        <p:nvSpPr>
          <p:cNvPr id="26" name="Rectangle 25">
            <a:extLst>
              <a:ext uri="{FF2B5EF4-FFF2-40B4-BE49-F238E27FC236}">
                <a16:creationId xmlns:a16="http://schemas.microsoft.com/office/drawing/2014/main" id="{0B560CCA-04E0-19D9-620A-DB9DC8C580DD}"/>
              </a:ext>
            </a:extLst>
          </p:cNvPr>
          <p:cNvSpPr/>
          <p:nvPr/>
        </p:nvSpPr>
        <p:spPr>
          <a:xfrm>
            <a:off x="5029200" y="2341755"/>
            <a:ext cx="769434" cy="468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7" name="Straight Arrow Connector 26">
            <a:extLst>
              <a:ext uri="{FF2B5EF4-FFF2-40B4-BE49-F238E27FC236}">
                <a16:creationId xmlns:a16="http://schemas.microsoft.com/office/drawing/2014/main" id="{3AC06A82-CE4C-D28A-7E93-8B332A25E109}"/>
              </a:ext>
            </a:extLst>
          </p:cNvPr>
          <p:cNvCxnSpPr>
            <a:cxnSpLocks/>
            <a:stCxn id="26" idx="0"/>
            <a:endCxn id="25" idx="2"/>
          </p:cNvCxnSpPr>
          <p:nvPr/>
        </p:nvCxnSpPr>
        <p:spPr>
          <a:xfrm flipV="1">
            <a:off x="5413917" y="1952662"/>
            <a:ext cx="0" cy="38909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5C77FFE-4B15-9BB0-0A83-27C340DC3659}"/>
                  </a:ext>
                </a:extLst>
              </p:cNvPr>
              <p:cNvSpPr txBox="1"/>
              <p:nvPr/>
            </p:nvSpPr>
            <p:spPr>
              <a:xfrm>
                <a:off x="838200" y="4141668"/>
                <a:ext cx="9132518" cy="1692771"/>
              </a:xfrm>
              <a:prstGeom prst="rect">
                <a:avLst/>
              </a:prstGeom>
              <a:noFill/>
            </p:spPr>
            <p:txBody>
              <a:bodyPr wrap="square" rtlCol="0">
                <a:spAutoFit/>
              </a:bodyPr>
              <a:lstStyle/>
              <a:p>
                <a:r>
                  <a:rPr lang="en-VN" sz="2600"/>
                  <a:t>Một số kí hiệu toán:</a:t>
                </a:r>
              </a:p>
              <a:p>
                <a:endParaRPr lang="en-VN" sz="2600"/>
              </a:p>
              <a:p>
                <a14:m>
                  <m:oMath xmlns:m="http://schemas.openxmlformats.org/officeDocument/2006/math">
                    <m:r>
                      <m:rPr>
                        <m:sty m:val="p"/>
                      </m:rPr>
                      <a:rPr lang="en-US" sz="2600" i="1">
                        <a:latin typeface="Cambria Math" panose="02040503050406030204" pitchFamily="18" charset="0"/>
                      </a:rPr>
                      <m:t>d</m:t>
                    </m:r>
                    <m:r>
                      <m:rPr>
                        <m:sty m:val="p"/>
                      </m:rPr>
                      <a:rPr lang="en-VN" sz="2600" i="1">
                        <a:latin typeface="Cambria Math" panose="02040503050406030204" pitchFamily="18" charset="0"/>
                      </a:rPr>
                      <m:t>im</m:t>
                    </m:r>
                    <m:d>
                      <m:dPr>
                        <m:ctrlPr>
                          <a:rPr lang="vi-VN" sz="2600" b="0" i="1">
                            <a:latin typeface="Cambria Math" panose="02040503050406030204" pitchFamily="18" charset="0"/>
                          </a:rPr>
                        </m:ctrlPr>
                      </m:dPr>
                      <m:e>
                        <m:r>
                          <a:rPr lang="vi-VN" sz="2600" i="1">
                            <a:latin typeface="Cambria Math" panose="02040503050406030204" pitchFamily="18" charset="0"/>
                          </a:rPr>
                          <m:t>𝑣</m:t>
                        </m:r>
                      </m:e>
                    </m:d>
                    <m:r>
                      <a:rPr lang="vi-VN" sz="2600" b="0" i="1">
                        <a:latin typeface="Cambria Math" panose="02040503050406030204" pitchFamily="18" charset="0"/>
                      </a:rPr>
                      <m:t>/</m:t>
                    </m:r>
                    <m:d>
                      <m:dPr>
                        <m:begChr m:val="|"/>
                        <m:endChr m:val="|"/>
                        <m:ctrlPr>
                          <a:rPr lang="vi-VN" sz="2600" b="0" i="1">
                            <a:latin typeface="Cambria Math" panose="02040503050406030204" pitchFamily="18" charset="0"/>
                          </a:rPr>
                        </m:ctrlPr>
                      </m:dPr>
                      <m:e>
                        <m:r>
                          <a:rPr lang="vi-VN" sz="2600" i="1">
                            <a:latin typeface="Cambria Math" panose="02040503050406030204" pitchFamily="18" charset="0"/>
                          </a:rPr>
                          <m:t>𝑣</m:t>
                        </m:r>
                      </m:e>
                    </m:d>
                  </m:oMath>
                </a14:m>
                <a:r>
                  <a:rPr lang="en-VN" sz="2600"/>
                  <a:t>: số lượng phần tử / số chiều của </a:t>
                </a:r>
                <a14:m>
                  <m:oMath xmlns:m="http://schemas.openxmlformats.org/officeDocument/2006/math">
                    <m:r>
                      <a:rPr lang="en-VN" sz="2600" i="1">
                        <a:latin typeface="Cambria Math" panose="02040503050406030204" pitchFamily="18" charset="0"/>
                      </a:rPr>
                      <m:t>𝑣</m:t>
                    </m:r>
                  </m:oMath>
                </a14:m>
                <a:endParaRPr lang="en-VN" sz="2600"/>
              </a:p>
              <a:p>
                <a14:m>
                  <m:oMath xmlns:m="http://schemas.openxmlformats.org/officeDocument/2006/math">
                    <m:sSub>
                      <m:sSubPr>
                        <m:ctrlPr>
                          <a:rPr lang="vi-VN" sz="2600" b="0" i="1">
                            <a:latin typeface="Cambria Math" panose="02040503050406030204" pitchFamily="18" charset="0"/>
                          </a:rPr>
                        </m:ctrlPr>
                      </m:sSubPr>
                      <m:e>
                        <m:r>
                          <a:rPr lang="en-US" sz="2600" i="1">
                            <a:latin typeface="Cambria Math" panose="02040503050406030204" pitchFamily="18" charset="0"/>
                          </a:rPr>
                          <m:t>𝑣</m:t>
                        </m:r>
                      </m:e>
                      <m:sub>
                        <m:r>
                          <a:rPr lang="vi-VN" sz="2600" i="1">
                            <a:latin typeface="Cambria Math" panose="02040503050406030204" pitchFamily="18" charset="0"/>
                          </a:rPr>
                          <m:t>𝑖</m:t>
                        </m:r>
                      </m:sub>
                    </m:sSub>
                    <m:r>
                      <a:rPr lang="vi-VN" sz="2600" b="0" i="1">
                        <a:latin typeface="Cambria Math" panose="02040503050406030204" pitchFamily="18" charset="0"/>
                      </a:rPr>
                      <m:t>/</m:t>
                    </m:r>
                    <m:r>
                      <a:rPr lang="vi-VN" sz="2600" i="1">
                        <a:latin typeface="Cambria Math" panose="02040503050406030204" pitchFamily="18" charset="0"/>
                      </a:rPr>
                      <m:t>𝑣</m:t>
                    </m:r>
                    <m:d>
                      <m:dPr>
                        <m:begChr m:val="["/>
                        <m:endChr m:val="]"/>
                        <m:ctrlPr>
                          <a:rPr lang="vi-VN" sz="2600" i="1">
                            <a:latin typeface="Cambria Math" panose="02040503050406030204" pitchFamily="18" charset="0"/>
                          </a:rPr>
                        </m:ctrlPr>
                      </m:dPr>
                      <m:e>
                        <m:r>
                          <a:rPr lang="vi-VN" sz="2600" i="1">
                            <a:latin typeface="Cambria Math" panose="02040503050406030204" pitchFamily="18" charset="0"/>
                          </a:rPr>
                          <m:t>𝑖</m:t>
                        </m:r>
                      </m:e>
                    </m:d>
                    <m:r>
                      <a:rPr lang="vi-VN" sz="2600" b="0" i="1">
                        <a:latin typeface="Cambria Math" panose="02040503050406030204" pitchFamily="18" charset="0"/>
                      </a:rPr>
                      <m:t>/</m:t>
                    </m:r>
                    <m:r>
                      <a:rPr lang="vi-VN" sz="2600" i="1">
                        <a:latin typeface="Cambria Math" panose="02040503050406030204" pitchFamily="18" charset="0"/>
                      </a:rPr>
                      <m:t>𝑣</m:t>
                    </m:r>
                    <m:d>
                      <m:dPr>
                        <m:ctrlPr>
                          <a:rPr lang="vi-VN" sz="2600" b="0" i="1">
                            <a:latin typeface="Cambria Math" panose="02040503050406030204" pitchFamily="18" charset="0"/>
                          </a:rPr>
                        </m:ctrlPr>
                      </m:dPr>
                      <m:e>
                        <m:r>
                          <a:rPr lang="vi-VN" sz="2600" i="1">
                            <a:latin typeface="Cambria Math" panose="02040503050406030204" pitchFamily="18" charset="0"/>
                          </a:rPr>
                          <m:t>𝑖</m:t>
                        </m:r>
                      </m:e>
                    </m:d>
                  </m:oMath>
                </a14:m>
                <a:r>
                  <a:rPr lang="en-VN" sz="2600"/>
                  <a:t>: phần tử thứ </a:t>
                </a:r>
                <a14:m>
                  <m:oMath xmlns:m="http://schemas.openxmlformats.org/officeDocument/2006/math">
                    <m:r>
                      <a:rPr lang="en-US" sz="2600" i="1">
                        <a:latin typeface="Cambria Math" panose="02040503050406030204" pitchFamily="18" charset="0"/>
                      </a:rPr>
                      <m:t>𝑖</m:t>
                    </m:r>
                  </m:oMath>
                </a14:m>
                <a:r>
                  <a:rPr lang="en-US" sz="2600"/>
                  <a:t> thuộc </a:t>
                </a:r>
                <a14:m>
                  <m:oMath xmlns:m="http://schemas.openxmlformats.org/officeDocument/2006/math">
                    <m:r>
                      <a:rPr lang="en-US" sz="2600" i="1">
                        <a:latin typeface="Cambria Math" panose="02040503050406030204" pitchFamily="18" charset="0"/>
                      </a:rPr>
                      <m:t>𝑣</m:t>
                    </m:r>
                  </m:oMath>
                </a14:m>
                <a:endParaRPr lang="en-VN" sz="2600"/>
              </a:p>
            </p:txBody>
          </p:sp>
        </mc:Choice>
        <mc:Fallback>
          <p:sp>
            <p:nvSpPr>
              <p:cNvPr id="31" name="TextBox 30">
                <a:extLst>
                  <a:ext uri="{FF2B5EF4-FFF2-40B4-BE49-F238E27FC236}">
                    <a16:creationId xmlns:a16="http://schemas.microsoft.com/office/drawing/2014/main" id="{35C77FFE-4B15-9BB0-0A83-27C340DC3659}"/>
                  </a:ext>
                </a:extLst>
              </p:cNvPr>
              <p:cNvSpPr txBox="1">
                <a:spLocks noRot="1" noChangeAspect="1" noMove="1" noResize="1" noEditPoints="1" noAdjustHandles="1" noChangeArrowheads="1" noChangeShapeType="1" noTextEdit="1"/>
              </p:cNvSpPr>
              <p:nvPr/>
            </p:nvSpPr>
            <p:spPr>
              <a:xfrm>
                <a:off x="838200" y="4141668"/>
                <a:ext cx="9132518" cy="1692771"/>
              </a:xfrm>
              <a:prstGeom prst="rect">
                <a:avLst/>
              </a:prstGeom>
              <a:blipFill>
                <a:blip r:embed="rId5"/>
                <a:stretch>
                  <a:fillRect l="-1250" t="-2963" b="-8148"/>
                </a:stretch>
              </a:blipFill>
            </p:spPr>
            <p:txBody>
              <a:bodyPr/>
              <a:lstStyle/>
              <a:p>
                <a:r>
                  <a:rPr lang="en-VN">
                    <a:noFill/>
                  </a:rPr>
                  <a:t> </a:t>
                </a:r>
              </a:p>
            </p:txBody>
          </p:sp>
        </mc:Fallback>
      </mc:AlternateContent>
    </p:spTree>
    <p:extLst>
      <p:ext uri="{BB962C8B-B14F-4D97-AF65-F5344CB8AC3E}">
        <p14:creationId xmlns:p14="http://schemas.microsoft.com/office/powerpoint/2010/main" val="256469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4AA1-F016-1256-E2CD-690DA3922156}"/>
              </a:ext>
            </a:extLst>
          </p:cNvPr>
          <p:cNvSpPr>
            <a:spLocks noGrp="1"/>
          </p:cNvSpPr>
          <p:nvPr>
            <p:ph type="title"/>
          </p:nvPr>
        </p:nvSpPr>
        <p:spPr/>
        <p:txBody>
          <a:bodyPr/>
          <a:lstStyle/>
          <a:p>
            <a:r>
              <a:rPr lang="en-VN"/>
              <a:t>1.3. Feature vector</a:t>
            </a:r>
          </a:p>
        </p:txBody>
      </p:sp>
      <p:sp>
        <p:nvSpPr>
          <p:cNvPr id="3" name="Content Placeholder 2">
            <a:extLst>
              <a:ext uri="{FF2B5EF4-FFF2-40B4-BE49-F238E27FC236}">
                <a16:creationId xmlns:a16="http://schemas.microsoft.com/office/drawing/2014/main" id="{717162D9-B34D-68CE-BE4E-C38C78A2AADA}"/>
              </a:ext>
            </a:extLst>
          </p:cNvPr>
          <p:cNvSpPr>
            <a:spLocks noGrp="1"/>
          </p:cNvSpPr>
          <p:nvPr>
            <p:ph idx="1"/>
          </p:nvPr>
        </p:nvSpPr>
        <p:spPr/>
        <p:txBody>
          <a:bodyPr/>
          <a:lstStyle/>
          <a:p>
            <a:pPr marL="0" indent="0">
              <a:buNone/>
            </a:pPr>
            <a:r>
              <a:rPr lang="en-VN"/>
              <a:t>Feature vector (vector đặc trưng) đơn giản là vector</a:t>
            </a:r>
          </a:p>
        </p:txBody>
      </p:sp>
      <p:sp>
        <p:nvSpPr>
          <p:cNvPr id="4" name="Slide Number Placeholder 3">
            <a:extLst>
              <a:ext uri="{FF2B5EF4-FFF2-40B4-BE49-F238E27FC236}">
                <a16:creationId xmlns:a16="http://schemas.microsoft.com/office/drawing/2014/main" id="{2743446C-A2FE-90FE-D7ED-1644CF4F5670}"/>
              </a:ext>
            </a:extLst>
          </p:cNvPr>
          <p:cNvSpPr>
            <a:spLocks noGrp="1"/>
          </p:cNvSpPr>
          <p:nvPr>
            <p:ph type="sldNum" sz="quarter" idx="12"/>
          </p:nvPr>
        </p:nvSpPr>
        <p:spPr/>
        <p:txBody>
          <a:bodyPr/>
          <a:lstStyle/>
          <a:p>
            <a:fld id="{9663FB4D-4462-1148-A41B-A6D56F6F932D}" type="slidenum">
              <a:t>12</a:t>
            </a:fld>
            <a:endParaRPr lang="en-VN"/>
          </a:p>
        </p:txBody>
      </p:sp>
      <p:graphicFrame>
        <p:nvGraphicFramePr>
          <p:cNvPr id="6" name="Table 5">
            <a:extLst>
              <a:ext uri="{FF2B5EF4-FFF2-40B4-BE49-F238E27FC236}">
                <a16:creationId xmlns:a16="http://schemas.microsoft.com/office/drawing/2014/main" id="{D9F023FE-992D-BDD1-AED8-39C5F5A55CA8}"/>
              </a:ext>
            </a:extLst>
          </p:cNvPr>
          <p:cNvGraphicFramePr>
            <a:graphicFrameLocks noGrp="1"/>
          </p:cNvGraphicFramePr>
          <p:nvPr>
            <p:extLst>
              <p:ext uri="{D42A27DB-BD31-4B8C-83A1-F6EECF244321}">
                <p14:modId xmlns:p14="http://schemas.microsoft.com/office/powerpoint/2010/main" val="2638886369"/>
              </p:ext>
            </p:extLst>
          </p:nvPr>
        </p:nvGraphicFramePr>
        <p:xfrm>
          <a:off x="838200" y="2564661"/>
          <a:ext cx="3437673"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108448331"/>
                    </a:ext>
                  </a:extLst>
                </a:gridCol>
              </a:tblGrid>
              <a:tr h="594191">
                <a:tc>
                  <a:txBody>
                    <a:bodyPr/>
                    <a:lstStyle/>
                    <a:p>
                      <a:r>
                        <a:rPr lang="en-VN" sz="2800">
                          <a:solidFill>
                            <a:schemeClr val="tx1"/>
                          </a:solidFill>
                        </a:rPr>
                        <a:t>Dữ liệu khách hàng</a:t>
                      </a:r>
                    </a:p>
                  </a:txBody>
                  <a:tcPr anchor="ctr"/>
                </a:tc>
                <a:extLst>
                  <a:ext uri="{0D108BD9-81ED-4DB2-BD59-A6C34878D82A}">
                    <a16:rowId xmlns:a16="http://schemas.microsoft.com/office/drawing/2014/main" val="2830693018"/>
                  </a:ext>
                </a:extLst>
              </a:tr>
              <a:tr h="2676492">
                <a:tc>
                  <a:txBody>
                    <a:bodyPr/>
                    <a:lstStyle/>
                    <a:p>
                      <a:endParaRPr lang="en-VN" sz="2800">
                        <a:solidFill>
                          <a:schemeClr val="tx1"/>
                        </a:solidFill>
                      </a:endParaRPr>
                    </a:p>
                  </a:txBody>
                  <a:tcPr anchor="ctr"/>
                </a:tc>
                <a:extLst>
                  <a:ext uri="{0D108BD9-81ED-4DB2-BD59-A6C34878D82A}">
                    <a16:rowId xmlns:a16="http://schemas.microsoft.com/office/drawing/2014/main" val="4056907567"/>
                  </a:ext>
                </a:extLst>
              </a:tr>
            </a:tbl>
          </a:graphicData>
        </a:graphic>
      </p:graphicFrame>
      <p:sp>
        <p:nvSpPr>
          <p:cNvPr id="7" name="TextBox 6">
            <a:extLst>
              <a:ext uri="{FF2B5EF4-FFF2-40B4-BE49-F238E27FC236}">
                <a16:creationId xmlns:a16="http://schemas.microsoft.com/office/drawing/2014/main" id="{19E613F6-35A3-CB81-24D6-67BA1A67E147}"/>
              </a:ext>
            </a:extLst>
          </p:cNvPr>
          <p:cNvSpPr txBox="1"/>
          <p:nvPr/>
        </p:nvSpPr>
        <p:spPr>
          <a:xfrm>
            <a:off x="838200" y="3207416"/>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8" name="TextBox 7">
            <a:extLst>
              <a:ext uri="{FF2B5EF4-FFF2-40B4-BE49-F238E27FC236}">
                <a16:creationId xmlns:a16="http://schemas.microsoft.com/office/drawing/2014/main" id="{3C04E863-0090-0E70-E61A-5F151AAF529E}"/>
              </a:ext>
            </a:extLst>
          </p:cNvPr>
          <p:cNvSpPr txBox="1"/>
          <p:nvPr/>
        </p:nvSpPr>
        <p:spPr>
          <a:xfrm>
            <a:off x="4422731" y="3207416"/>
            <a:ext cx="4082441" cy="2492990"/>
          </a:xfrm>
          <a:prstGeom prst="rect">
            <a:avLst/>
          </a:prstGeom>
          <a:noFill/>
        </p:spPr>
        <p:txBody>
          <a:bodyPr wrap="square">
            <a:spAutoFit/>
          </a:bodyPr>
          <a:lstStyle/>
          <a:p>
            <a:r>
              <a:rPr lang="en-VN" sz="2600"/>
              <a:t>Vũ Tuấn Hải</a:t>
            </a:r>
            <a:endParaRPr lang="en-VN" sz="2600">
              <a:solidFill>
                <a:schemeClr val="tx1"/>
              </a:solidFill>
            </a:endParaRPr>
          </a:p>
          <a:p>
            <a:r>
              <a:rPr lang="en-VN" sz="2600">
                <a:solidFill>
                  <a:schemeClr val="tx1"/>
                </a:solidFill>
              </a:rPr>
              <a:t>27</a:t>
            </a:r>
          </a:p>
          <a:p>
            <a:r>
              <a:rPr lang="en-VN" sz="2600"/>
              <a:t>Nam</a:t>
            </a:r>
            <a:endParaRPr lang="en-VN" sz="2600">
              <a:solidFill>
                <a:schemeClr val="tx1"/>
              </a:solidFill>
            </a:endParaRPr>
          </a:p>
          <a:p>
            <a:r>
              <a:rPr lang="en-VN" sz="2600">
                <a:solidFill>
                  <a:schemeClr val="tx1"/>
                </a:solidFill>
              </a:rPr>
              <a:t>0814822188</a:t>
            </a:r>
          </a:p>
          <a:p>
            <a:r>
              <a:rPr lang="en-US" sz="2600">
                <a:solidFill>
                  <a:schemeClr val="tx1"/>
                </a:solidFill>
              </a:rPr>
              <a:t>P</a:t>
            </a:r>
            <a:r>
              <a:rPr lang="en-VN" sz="2600">
                <a:solidFill>
                  <a:schemeClr val="tx1"/>
                </a:solidFill>
              </a:rPr>
              <a:t>hường Đông Hoà, TPHCM</a:t>
            </a:r>
          </a:p>
          <a:p>
            <a:r>
              <a:rPr lang="en-VN" sz="2600">
                <a:solidFill>
                  <a:schemeClr val="tx1"/>
                </a:solidFill>
              </a:rPr>
              <a:t>…</a:t>
            </a:r>
          </a:p>
        </p:txBody>
      </p:sp>
      <p:sp>
        <p:nvSpPr>
          <p:cNvPr id="9" name="TextBox 8">
            <a:extLst>
              <a:ext uri="{FF2B5EF4-FFF2-40B4-BE49-F238E27FC236}">
                <a16:creationId xmlns:a16="http://schemas.microsoft.com/office/drawing/2014/main" id="{87009994-2103-9E11-E797-23C90A43C822}"/>
              </a:ext>
            </a:extLst>
          </p:cNvPr>
          <p:cNvSpPr txBox="1"/>
          <p:nvPr/>
        </p:nvSpPr>
        <p:spPr>
          <a:xfrm>
            <a:off x="9025526" y="3207416"/>
            <a:ext cx="2485894" cy="2492990"/>
          </a:xfrm>
          <a:prstGeom prst="rect">
            <a:avLst/>
          </a:prstGeom>
          <a:noFill/>
        </p:spPr>
        <p:txBody>
          <a:bodyPr wrap="square">
            <a:spAutoFit/>
          </a:bodyPr>
          <a:lstStyle/>
          <a:p>
            <a:r>
              <a:rPr lang="en-US" sz="2600"/>
              <a:t>56 C5 A9 20 …</a:t>
            </a:r>
          </a:p>
          <a:p>
            <a:r>
              <a:rPr lang="en-VN" sz="2600">
                <a:solidFill>
                  <a:schemeClr val="tx1"/>
                </a:solidFill>
              </a:rPr>
              <a:t>27</a:t>
            </a:r>
          </a:p>
          <a:p>
            <a:r>
              <a:rPr lang="en-VN" sz="2600"/>
              <a:t>1</a:t>
            </a:r>
            <a:endParaRPr lang="en-VN" sz="2600">
              <a:solidFill>
                <a:schemeClr val="tx1"/>
              </a:solidFill>
            </a:endParaRPr>
          </a:p>
          <a:p>
            <a:r>
              <a:rPr lang="en-VN" sz="2600">
                <a:solidFill>
                  <a:schemeClr val="tx1"/>
                </a:solidFill>
              </a:rPr>
              <a:t>0814822188</a:t>
            </a:r>
          </a:p>
          <a:p>
            <a:r>
              <a:rPr lang="en-US" sz="2600"/>
              <a:t>075308</a:t>
            </a:r>
          </a:p>
          <a:p>
            <a:r>
              <a:rPr lang="en-US" sz="2600">
                <a:solidFill>
                  <a:schemeClr val="tx1"/>
                </a:solidFill>
              </a:rPr>
              <a:t>…</a:t>
            </a:r>
            <a:endParaRPr lang="en-VN" sz="2600">
              <a:solidFill>
                <a:schemeClr val="tx1"/>
              </a:solidFill>
            </a:endParaRPr>
          </a:p>
        </p:txBody>
      </p:sp>
      <p:cxnSp>
        <p:nvCxnSpPr>
          <p:cNvPr id="11" name="Straight Arrow Connector 10">
            <a:extLst>
              <a:ext uri="{FF2B5EF4-FFF2-40B4-BE49-F238E27FC236}">
                <a16:creationId xmlns:a16="http://schemas.microsoft.com/office/drawing/2014/main" id="{993AC9F8-8E5C-FD97-3FF4-0AD39F52BD32}"/>
              </a:ext>
            </a:extLst>
          </p:cNvPr>
          <p:cNvCxnSpPr>
            <a:endCxn id="8" idx="1"/>
          </p:cNvCxnSpPr>
          <p:nvPr/>
        </p:nvCxnSpPr>
        <p:spPr>
          <a:xfrm>
            <a:off x="3473610" y="4453911"/>
            <a:ext cx="94912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3780D9C-FE2C-18CD-A425-16DFD9AA8789}"/>
              </a:ext>
            </a:extLst>
          </p:cNvPr>
          <p:cNvCxnSpPr>
            <a:cxnSpLocks/>
            <a:stCxn id="8" idx="3"/>
            <a:endCxn id="9" idx="1"/>
          </p:cNvCxnSpPr>
          <p:nvPr/>
        </p:nvCxnSpPr>
        <p:spPr>
          <a:xfrm>
            <a:off x="8505172" y="4453911"/>
            <a:ext cx="520354"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9" name="Double Bracket 18">
            <a:extLst>
              <a:ext uri="{FF2B5EF4-FFF2-40B4-BE49-F238E27FC236}">
                <a16:creationId xmlns:a16="http://schemas.microsoft.com/office/drawing/2014/main" id="{0FBDADB3-9B7B-ED0D-94ED-0BE8A5D1FE6D}"/>
              </a:ext>
            </a:extLst>
          </p:cNvPr>
          <p:cNvSpPr/>
          <p:nvPr/>
        </p:nvSpPr>
        <p:spPr>
          <a:xfrm>
            <a:off x="8987948" y="3133323"/>
            <a:ext cx="2272952" cy="2627928"/>
          </a:xfrm>
          <a:prstGeom prst="bracketPair">
            <a:avLst>
              <a:gd name="adj" fmla="val 1115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p:sp>
        <p:nvSpPr>
          <p:cNvPr id="20" name="TextBox 19">
            <a:extLst>
              <a:ext uri="{FF2B5EF4-FFF2-40B4-BE49-F238E27FC236}">
                <a16:creationId xmlns:a16="http://schemas.microsoft.com/office/drawing/2014/main" id="{FBBB233C-67E4-9E15-9A74-4B65E00BE02D}"/>
              </a:ext>
            </a:extLst>
          </p:cNvPr>
          <p:cNvSpPr txBox="1"/>
          <p:nvPr/>
        </p:nvSpPr>
        <p:spPr>
          <a:xfrm>
            <a:off x="2308082" y="3182778"/>
            <a:ext cx="1967791" cy="492443"/>
          </a:xfrm>
          <a:prstGeom prst="rect">
            <a:avLst/>
          </a:prstGeom>
          <a:noFill/>
        </p:spPr>
        <p:txBody>
          <a:bodyPr wrap="square">
            <a:spAutoFit/>
          </a:bodyPr>
          <a:lstStyle/>
          <a:p>
            <a:r>
              <a:rPr lang="en-VN" sz="2600">
                <a:solidFill>
                  <a:srgbClr val="FF0000"/>
                </a:solidFill>
              </a:rPr>
              <a:t>1 đặc trưng</a:t>
            </a:r>
          </a:p>
        </p:txBody>
      </p:sp>
      <p:cxnSp>
        <p:nvCxnSpPr>
          <p:cNvPr id="22" name="Straight Arrow Connector 21">
            <a:extLst>
              <a:ext uri="{FF2B5EF4-FFF2-40B4-BE49-F238E27FC236}">
                <a16:creationId xmlns:a16="http://schemas.microsoft.com/office/drawing/2014/main" id="{9AA69792-F77D-A742-0BA2-E30034737AD4}"/>
              </a:ext>
            </a:extLst>
          </p:cNvPr>
          <p:cNvCxnSpPr>
            <a:cxnSpLocks/>
            <a:endCxn id="20" idx="1"/>
          </p:cNvCxnSpPr>
          <p:nvPr/>
        </p:nvCxnSpPr>
        <p:spPr>
          <a:xfrm>
            <a:off x="1565753" y="3429000"/>
            <a:ext cx="742329"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9521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966-94FF-F029-795F-9CC71E87F965}"/>
              </a:ext>
            </a:extLst>
          </p:cNvPr>
          <p:cNvSpPr>
            <a:spLocks noGrp="1"/>
          </p:cNvSpPr>
          <p:nvPr>
            <p:ph type="title"/>
          </p:nvPr>
        </p:nvSpPr>
        <p:spPr/>
        <p:txBody>
          <a:bodyPr/>
          <a:lstStyle/>
          <a:p>
            <a:r>
              <a:rPr lang="en-VN"/>
              <a:t>1.4. Vector space </a:t>
            </a:r>
          </a:p>
        </p:txBody>
      </p:sp>
      <p:sp>
        <p:nvSpPr>
          <p:cNvPr id="4" name="Slide Number Placeholder 3">
            <a:extLst>
              <a:ext uri="{FF2B5EF4-FFF2-40B4-BE49-F238E27FC236}">
                <a16:creationId xmlns:a16="http://schemas.microsoft.com/office/drawing/2014/main" id="{E9FC1AF6-062A-8BD5-CEC4-5D8F87CAECF1}"/>
              </a:ext>
            </a:extLst>
          </p:cNvPr>
          <p:cNvSpPr>
            <a:spLocks noGrp="1"/>
          </p:cNvSpPr>
          <p:nvPr>
            <p:ph type="sldNum" sz="quarter" idx="12"/>
          </p:nvPr>
        </p:nvSpPr>
        <p:spPr/>
        <p:txBody>
          <a:bodyPr/>
          <a:lstStyle/>
          <a:p>
            <a:fld id="{9663FB4D-4462-1148-A41B-A6D56F6F932D}" type="slidenum">
              <a:t>13</a:t>
            </a:fld>
            <a:endParaRPr lang="en-VN"/>
          </a:p>
        </p:txBody>
      </p:sp>
      <p:graphicFrame>
        <p:nvGraphicFramePr>
          <p:cNvPr id="5" name="Table 4">
            <a:extLst>
              <a:ext uri="{FF2B5EF4-FFF2-40B4-BE49-F238E27FC236}">
                <a16:creationId xmlns:a16="http://schemas.microsoft.com/office/drawing/2014/main" id="{8FD5876C-CE02-7947-1D59-635DFFCF9A42}"/>
              </a:ext>
            </a:extLst>
          </p:cNvPr>
          <p:cNvGraphicFramePr>
            <a:graphicFrameLocks noGrp="1"/>
          </p:cNvGraphicFramePr>
          <p:nvPr>
            <p:extLst>
              <p:ext uri="{D42A27DB-BD31-4B8C-83A1-F6EECF244321}">
                <p14:modId xmlns:p14="http://schemas.microsoft.com/office/powerpoint/2010/main" val="2303350969"/>
              </p:ext>
            </p:extLst>
          </p:nvPr>
        </p:nvGraphicFramePr>
        <p:xfrm>
          <a:off x="1056000" y="1681475"/>
          <a:ext cx="5040000" cy="504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3585201736"/>
                    </a:ext>
                  </a:extLst>
                </a:gridCol>
                <a:gridCol w="630000">
                  <a:extLst>
                    <a:ext uri="{9D8B030D-6E8A-4147-A177-3AD203B41FA5}">
                      <a16:colId xmlns:a16="http://schemas.microsoft.com/office/drawing/2014/main" val="90738605"/>
                    </a:ext>
                  </a:extLst>
                </a:gridCol>
                <a:gridCol w="630000">
                  <a:extLst>
                    <a:ext uri="{9D8B030D-6E8A-4147-A177-3AD203B41FA5}">
                      <a16:colId xmlns:a16="http://schemas.microsoft.com/office/drawing/2014/main" val="7944393"/>
                    </a:ext>
                  </a:extLst>
                </a:gridCol>
                <a:gridCol w="630000">
                  <a:extLst>
                    <a:ext uri="{9D8B030D-6E8A-4147-A177-3AD203B41FA5}">
                      <a16:colId xmlns:a16="http://schemas.microsoft.com/office/drawing/2014/main" val="3692114308"/>
                    </a:ext>
                  </a:extLst>
                </a:gridCol>
                <a:gridCol w="630000">
                  <a:extLst>
                    <a:ext uri="{9D8B030D-6E8A-4147-A177-3AD203B41FA5}">
                      <a16:colId xmlns:a16="http://schemas.microsoft.com/office/drawing/2014/main" val="883693823"/>
                    </a:ext>
                  </a:extLst>
                </a:gridCol>
                <a:gridCol w="630000">
                  <a:extLst>
                    <a:ext uri="{9D8B030D-6E8A-4147-A177-3AD203B41FA5}">
                      <a16:colId xmlns:a16="http://schemas.microsoft.com/office/drawing/2014/main" val="3559820191"/>
                    </a:ext>
                  </a:extLst>
                </a:gridCol>
                <a:gridCol w="630000">
                  <a:extLst>
                    <a:ext uri="{9D8B030D-6E8A-4147-A177-3AD203B41FA5}">
                      <a16:colId xmlns:a16="http://schemas.microsoft.com/office/drawing/2014/main" val="2795689282"/>
                    </a:ext>
                  </a:extLst>
                </a:gridCol>
                <a:gridCol w="630000">
                  <a:extLst>
                    <a:ext uri="{9D8B030D-6E8A-4147-A177-3AD203B41FA5}">
                      <a16:colId xmlns:a16="http://schemas.microsoft.com/office/drawing/2014/main" val="1971065981"/>
                    </a:ext>
                  </a:extLst>
                </a:gridCol>
              </a:tblGrid>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64711039"/>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946622004"/>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658022670"/>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56486156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858491976"/>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4246757713"/>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1972205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989482718"/>
                  </a:ext>
                </a:extLst>
              </a:tr>
            </a:tbl>
          </a:graphicData>
        </a:graphic>
      </p:graphicFrame>
      <p:cxnSp>
        <p:nvCxnSpPr>
          <p:cNvPr id="7" name="Straight Arrow Connector 6">
            <a:extLst>
              <a:ext uri="{FF2B5EF4-FFF2-40B4-BE49-F238E27FC236}">
                <a16:creationId xmlns:a16="http://schemas.microsoft.com/office/drawing/2014/main" id="{7DBB0C1E-76B5-133D-1B1C-7B2D726E2B0F}"/>
              </a:ext>
            </a:extLst>
          </p:cNvPr>
          <p:cNvCxnSpPr>
            <a:cxnSpLocks/>
            <a:stCxn id="5" idx="2"/>
          </p:cNvCxnSpPr>
          <p:nvPr/>
        </p:nvCxnSpPr>
        <p:spPr>
          <a:xfrm flipV="1">
            <a:off x="3576000" y="1415441"/>
            <a:ext cx="0" cy="530603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B7A800F3-1507-4E3A-F310-98A533DF3D70}"/>
              </a:ext>
            </a:extLst>
          </p:cNvPr>
          <p:cNvCxnSpPr>
            <a:cxnSpLocks/>
            <a:stCxn id="5" idx="1"/>
          </p:cNvCxnSpPr>
          <p:nvPr/>
        </p:nvCxnSpPr>
        <p:spPr>
          <a:xfrm>
            <a:off x="1056000" y="4201475"/>
            <a:ext cx="5357326"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A9BB51F-71D3-748C-70EA-FEAAE6DB57DA}"/>
                  </a:ext>
                </a:extLst>
              </p:cNvPr>
              <p:cNvSpPr txBox="1"/>
              <p:nvPr/>
            </p:nvSpPr>
            <p:spPr>
              <a:xfrm>
                <a:off x="6560634" y="1681475"/>
                <a:ext cx="3322402" cy="75687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r>
                        <a:rPr lang="vi-VN" sz="2600" i="1">
                          <a:solidFill>
                            <a:srgbClr val="FF0000"/>
                          </a:solidFill>
                          <a:latin typeface="Cambria Math" panose="02040503050406030204" pitchFamily="18" charset="0"/>
                        </a:rPr>
                        <m:t>=</m:t>
                      </m:r>
                      <m:d>
                        <m:dPr>
                          <m:begChr m:val="["/>
                          <m:endChr m:val="]"/>
                          <m:ctrlPr>
                            <a:rPr lang="vi-VN" sz="2600" b="0" i="1">
                              <a:solidFill>
                                <a:srgbClr val="FF0000"/>
                              </a:solidFill>
                              <a:latin typeface="Cambria Math" panose="02040503050406030204" pitchFamily="18" charset="0"/>
                            </a:rPr>
                          </m:ctrlPr>
                        </m:dPr>
                        <m:e>
                          <m:m>
                            <m:mPr>
                              <m:mcs>
                                <m:mc>
                                  <m:mcPr>
                                    <m:count m:val="1"/>
                                    <m:mcJc m:val="center"/>
                                  </m:mcPr>
                                </m:mc>
                              </m:mcs>
                              <m:ctrlPr>
                                <a:rPr lang="vi-VN" sz="2600" b="0" i="1">
                                  <a:solidFill>
                                    <a:srgbClr val="FF0000"/>
                                  </a:solidFill>
                                  <a:latin typeface="Cambria Math" panose="02040503050406030204" pitchFamily="18" charset="0"/>
                                </a:rPr>
                              </m:ctrlPr>
                            </m:mPr>
                            <m:mr>
                              <m:e>
                                <m:r>
                                  <m:rPr>
                                    <m:brk m:alnAt="7"/>
                                  </m:rPr>
                                  <a:rPr lang="vi-VN" sz="2600" b="0" i="1">
                                    <a:solidFill>
                                      <a:srgbClr val="FF0000"/>
                                    </a:solidFill>
                                    <a:latin typeface="Cambria Math" panose="02040503050406030204" pitchFamily="18" charset="0"/>
                                  </a:rPr>
                                  <m:t>1</m:t>
                                </m:r>
                              </m:e>
                            </m:mr>
                            <m:mr>
                              <m:e>
                                <m:r>
                                  <a:rPr lang="vi-VN" sz="2600" b="0" i="1">
                                    <a:solidFill>
                                      <a:srgbClr val="FF0000"/>
                                    </a:solidFill>
                                    <a:latin typeface="Cambria Math" panose="02040503050406030204" pitchFamily="18" charset="0"/>
                                  </a:rPr>
                                  <m:t>2</m:t>
                                </m:r>
                              </m:e>
                            </m:mr>
                          </m:m>
                        </m:e>
                      </m:d>
                      <m:r>
                        <a:rPr lang="vi-VN" sz="2600" b="0" i="1">
                          <a:solidFill>
                            <a:schemeClr val="tx1"/>
                          </a:solidFill>
                          <a:latin typeface="Cambria Math" panose="02040503050406030204" pitchFamily="18" charset="0"/>
                        </a:rPr>
                        <m:t>,</m:t>
                      </m:r>
                      <m:sSub>
                        <m:sSubPr>
                          <m:ctrlPr>
                            <a:rPr lang="vi-VN" sz="2600" b="0" i="1">
                              <a:solidFill>
                                <a:srgbClr val="0070C0"/>
                              </a:solidFill>
                              <a:latin typeface="Cambria Math" panose="02040503050406030204" pitchFamily="18" charset="0"/>
                            </a:rPr>
                          </m:ctrlPr>
                        </m:sSubPr>
                        <m:e>
                          <m:r>
                            <a:rPr lang="vi-VN"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r>
                        <a:rPr lang="vi-VN" sz="2600" b="0" i="1">
                          <a:solidFill>
                            <a:srgbClr val="0070C0"/>
                          </a:solidFill>
                          <a:latin typeface="Cambria Math" panose="02040503050406030204" pitchFamily="18" charset="0"/>
                        </a:rPr>
                        <m:t>=</m:t>
                      </m:r>
                      <m:d>
                        <m:dPr>
                          <m:begChr m:val="["/>
                          <m:endChr m:val="]"/>
                          <m:ctrlPr>
                            <a:rPr lang="vi-VN" sz="2600" b="0" i="1">
                              <a:solidFill>
                                <a:srgbClr val="0070C0"/>
                              </a:solidFill>
                              <a:latin typeface="Cambria Math" panose="02040503050406030204" pitchFamily="18" charset="0"/>
                            </a:rPr>
                          </m:ctrlPr>
                        </m:dPr>
                        <m:e>
                          <m:m>
                            <m:mPr>
                              <m:mcs>
                                <m:mc>
                                  <m:mcPr>
                                    <m:count m:val="1"/>
                                    <m:mcJc m:val="center"/>
                                  </m:mcPr>
                                </m:mc>
                              </m:mcs>
                              <m:ctrlPr>
                                <a:rPr lang="vi-VN" sz="2600" b="0" i="1">
                                  <a:solidFill>
                                    <a:srgbClr val="0070C0"/>
                                  </a:solidFill>
                                  <a:latin typeface="Cambria Math" panose="02040503050406030204" pitchFamily="18" charset="0"/>
                                </a:rPr>
                              </m:ctrlPr>
                            </m:mPr>
                            <m:mr>
                              <m:e>
                                <m:r>
                                  <m:rPr>
                                    <m:brk m:alnAt="7"/>
                                  </m:rPr>
                                  <a:rPr lang="vi-VN" sz="2600" b="0" i="1">
                                    <a:solidFill>
                                      <a:srgbClr val="0070C0"/>
                                    </a:solidFill>
                                    <a:latin typeface="Cambria Math" panose="02040503050406030204" pitchFamily="18" charset="0"/>
                                  </a:rPr>
                                  <m:t>−1</m:t>
                                </m:r>
                              </m:e>
                            </m:mr>
                            <m:mr>
                              <m:e>
                                <m:r>
                                  <a:rPr lang="vi-VN" sz="2600" b="0" i="1">
                                    <a:solidFill>
                                      <a:srgbClr val="0070C0"/>
                                    </a:solidFill>
                                    <a:latin typeface="Cambria Math" panose="02040503050406030204" pitchFamily="18" charset="0"/>
                                  </a:rPr>
                                  <m:t>1</m:t>
                                </m:r>
                              </m:e>
                            </m:mr>
                          </m:m>
                        </m:e>
                      </m:d>
                    </m:oMath>
                  </m:oMathPara>
                </a14:m>
                <a:endParaRPr lang="en-VN" sz="2600" i="1">
                  <a:solidFill>
                    <a:schemeClr val="tx1"/>
                  </a:solidFill>
                </a:endParaRPr>
              </a:p>
            </p:txBody>
          </p:sp>
        </mc:Choice>
        <mc:Fallback>
          <p:sp>
            <p:nvSpPr>
              <p:cNvPr id="14" name="TextBox 13">
                <a:extLst>
                  <a:ext uri="{FF2B5EF4-FFF2-40B4-BE49-F238E27FC236}">
                    <a16:creationId xmlns:a16="http://schemas.microsoft.com/office/drawing/2014/main" id="{3A9BB51F-71D3-748C-70EA-FEAAE6DB57DA}"/>
                  </a:ext>
                </a:extLst>
              </p:cNvPr>
              <p:cNvSpPr txBox="1">
                <a:spLocks noRot="1" noChangeAspect="1" noMove="1" noResize="1" noEditPoints="1" noAdjustHandles="1" noChangeArrowheads="1" noChangeShapeType="1" noTextEdit="1"/>
              </p:cNvSpPr>
              <p:nvPr/>
            </p:nvSpPr>
            <p:spPr>
              <a:xfrm>
                <a:off x="6560634" y="1681475"/>
                <a:ext cx="3322402" cy="756874"/>
              </a:xfrm>
              <a:prstGeom prst="rect">
                <a:avLst/>
              </a:prstGeom>
              <a:blipFill>
                <a:blip r:embed="rId3"/>
                <a:stretch>
                  <a:fillRect b="-8333"/>
                </a:stretch>
              </a:blipFill>
            </p:spPr>
            <p:txBody>
              <a:bodyPr/>
              <a:lstStyle/>
              <a:p>
                <a:r>
                  <a:rPr lang="en-VN">
                    <a:noFill/>
                  </a:rPr>
                  <a:t> </a:t>
                </a:r>
              </a:p>
            </p:txBody>
          </p:sp>
        </mc:Fallback>
      </mc:AlternateContent>
      <p:sp>
        <p:nvSpPr>
          <p:cNvPr id="15" name="Oval 14">
            <a:extLst>
              <a:ext uri="{FF2B5EF4-FFF2-40B4-BE49-F238E27FC236}">
                <a16:creationId xmlns:a16="http://schemas.microsoft.com/office/drawing/2014/main" id="{4812DC22-AC8D-9DB9-5ECD-33F244C40C37}"/>
              </a:ext>
            </a:extLst>
          </p:cNvPr>
          <p:cNvSpPr>
            <a:spLocks noChangeAspect="1"/>
          </p:cNvSpPr>
          <p:nvPr/>
        </p:nvSpPr>
        <p:spPr>
          <a:xfrm>
            <a:off x="4083485" y="2805830"/>
            <a:ext cx="288000" cy="28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175526F3-0DA1-B9BC-7D91-FE8656FC78E8}"/>
              </a:ext>
            </a:extLst>
          </p:cNvPr>
          <p:cNvSpPr>
            <a:spLocks noChangeAspect="1"/>
          </p:cNvSpPr>
          <p:nvPr/>
        </p:nvSpPr>
        <p:spPr>
          <a:xfrm>
            <a:off x="2823267" y="3399300"/>
            <a:ext cx="288000" cy="288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D4D8BAC3-99A0-59E5-DBC5-0E7ED88C1811}"/>
                  </a:ext>
                </a:extLst>
              </p:cNvPr>
              <p:cNvSpPr txBox="1"/>
              <p:nvPr/>
            </p:nvSpPr>
            <p:spPr>
              <a:xfrm>
                <a:off x="4186695" y="2456470"/>
                <a:ext cx="544880" cy="40011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oMath>
                  </m:oMathPara>
                </a14:m>
                <a:endParaRPr lang="en-VN" sz="2600" i="1">
                  <a:solidFill>
                    <a:srgbClr val="FF0000"/>
                  </a:solidFill>
                </a:endParaRPr>
              </a:p>
            </p:txBody>
          </p:sp>
        </mc:Choice>
        <mc:Fallback>
          <p:sp>
            <p:nvSpPr>
              <p:cNvPr id="17" name="TextBox 16">
                <a:extLst>
                  <a:ext uri="{FF2B5EF4-FFF2-40B4-BE49-F238E27FC236}">
                    <a16:creationId xmlns:a16="http://schemas.microsoft.com/office/drawing/2014/main" id="{D4D8BAC3-99A0-59E5-DBC5-0E7ED88C1811}"/>
                  </a:ext>
                </a:extLst>
              </p:cNvPr>
              <p:cNvSpPr txBox="1">
                <a:spLocks noRot="1" noChangeAspect="1" noMove="1" noResize="1" noEditPoints="1" noAdjustHandles="1" noChangeArrowheads="1" noChangeShapeType="1" noTextEdit="1"/>
              </p:cNvSpPr>
              <p:nvPr/>
            </p:nvSpPr>
            <p:spPr>
              <a:xfrm>
                <a:off x="4186695" y="2456470"/>
                <a:ext cx="544880" cy="400110"/>
              </a:xfrm>
              <a:prstGeom prst="rect">
                <a:avLst/>
              </a:prstGeom>
              <a:blipFill>
                <a:blip r:embed="rId4"/>
                <a:stretch>
                  <a:fillRect b="-909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114002D-B06C-D25C-EA4A-331AA1B2CAE0}"/>
                  </a:ext>
                </a:extLst>
              </p:cNvPr>
              <p:cNvSpPr txBox="1"/>
              <p:nvPr/>
            </p:nvSpPr>
            <p:spPr>
              <a:xfrm>
                <a:off x="2871734" y="3047488"/>
                <a:ext cx="544880" cy="40011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vi-VN" sz="2600" b="0" i="1">
                              <a:solidFill>
                                <a:srgbClr val="0070C0"/>
                              </a:solidFill>
                              <a:latin typeface="Cambria Math" panose="02040503050406030204" pitchFamily="18" charset="0"/>
                            </a:rPr>
                          </m:ctrlPr>
                        </m:sSubPr>
                        <m:e>
                          <m:r>
                            <a:rPr lang="en-US"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oMath>
                  </m:oMathPara>
                </a14:m>
                <a:endParaRPr lang="en-VN" sz="2600" i="1">
                  <a:solidFill>
                    <a:srgbClr val="0070C0"/>
                  </a:solidFill>
                </a:endParaRPr>
              </a:p>
            </p:txBody>
          </p:sp>
        </mc:Choice>
        <mc:Fallback>
          <p:sp>
            <p:nvSpPr>
              <p:cNvPr id="18" name="TextBox 17">
                <a:extLst>
                  <a:ext uri="{FF2B5EF4-FFF2-40B4-BE49-F238E27FC236}">
                    <a16:creationId xmlns:a16="http://schemas.microsoft.com/office/drawing/2014/main" id="{2114002D-B06C-D25C-EA4A-331AA1B2CAE0}"/>
                  </a:ext>
                </a:extLst>
              </p:cNvPr>
              <p:cNvSpPr txBox="1">
                <a:spLocks noRot="1" noChangeAspect="1" noMove="1" noResize="1" noEditPoints="1" noAdjustHandles="1" noChangeArrowheads="1" noChangeShapeType="1" noTextEdit="1"/>
              </p:cNvSpPr>
              <p:nvPr/>
            </p:nvSpPr>
            <p:spPr>
              <a:xfrm>
                <a:off x="2871734" y="3047488"/>
                <a:ext cx="544880" cy="400110"/>
              </a:xfrm>
              <a:prstGeom prst="rect">
                <a:avLst/>
              </a:prstGeom>
              <a:blipFill>
                <a:blip r:embed="rId5"/>
                <a:stretch>
                  <a:fillRect b="-12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19E8747-95B3-334E-369E-BD3A383B75D9}"/>
                  </a:ext>
                </a:extLst>
              </p:cNvPr>
              <p:cNvSpPr txBox="1"/>
              <p:nvPr/>
            </p:nvSpPr>
            <p:spPr>
              <a:xfrm>
                <a:off x="4227485" y="5517826"/>
                <a:ext cx="2054269" cy="492443"/>
              </a:xfrm>
              <a:prstGeom prst="rect">
                <a:avLst/>
              </a:prstGeom>
              <a:noFill/>
            </p:spPr>
            <p:txBody>
              <a:bodyPr wrap="square" rtlCol="0">
                <a:spAutoFit/>
              </a:bodyPr>
              <a:lstStyle/>
              <a:p>
                <a14:m>
                  <m:oMath xmlns:m="http://schemas.openxmlformats.org/officeDocument/2006/math">
                    <m:sSup>
                      <m:sSupPr>
                        <m:ctrlPr>
                          <a:rPr lang="vi-VN" sz="2600" b="0" i="1">
                            <a:latin typeface="Cambria Math" panose="02040503050406030204" pitchFamily="18" charset="0"/>
                            <a:ea typeface="Cambria Math" panose="02040503050406030204" pitchFamily="18" charset="0"/>
                          </a:rPr>
                        </m:ctrlPr>
                      </m:sSupPr>
                      <m:e>
                        <m:r>
                          <a:rPr lang="en-VN" sz="2600" i="1">
                            <a:latin typeface="Cambria Math" panose="02040503050406030204" pitchFamily="18" charset="0"/>
                            <a:ea typeface="Cambria Math" panose="02040503050406030204" pitchFamily="18" charset="0"/>
                          </a:rPr>
                          <m:t>ℝ</m:t>
                        </m:r>
                      </m:e>
                      <m:sup>
                        <m:r>
                          <a:rPr lang="vi-VN" sz="2600" b="0" i="1">
                            <a:latin typeface="Cambria Math" panose="02040503050406030204" pitchFamily="18" charset="0"/>
                            <a:ea typeface="Cambria Math" panose="02040503050406030204" pitchFamily="18" charset="0"/>
                          </a:rPr>
                          <m:t>2</m:t>
                        </m:r>
                      </m:sup>
                    </m:sSup>
                  </m:oMath>
                </a14:m>
                <a:r>
                  <a:rPr lang="en-VN" sz="2600"/>
                  <a:t> space</a:t>
                </a:r>
              </a:p>
            </p:txBody>
          </p:sp>
        </mc:Choice>
        <mc:Fallback>
          <p:sp>
            <p:nvSpPr>
              <p:cNvPr id="19" name="TextBox 18">
                <a:extLst>
                  <a:ext uri="{FF2B5EF4-FFF2-40B4-BE49-F238E27FC236}">
                    <a16:creationId xmlns:a16="http://schemas.microsoft.com/office/drawing/2014/main" id="{119E8747-95B3-334E-369E-BD3A383B75D9}"/>
                  </a:ext>
                </a:extLst>
              </p:cNvPr>
              <p:cNvSpPr txBox="1">
                <a:spLocks noRot="1" noChangeAspect="1" noMove="1" noResize="1" noEditPoints="1" noAdjustHandles="1" noChangeArrowheads="1" noChangeShapeType="1" noTextEdit="1"/>
              </p:cNvSpPr>
              <p:nvPr/>
            </p:nvSpPr>
            <p:spPr>
              <a:xfrm>
                <a:off x="4227485" y="5517826"/>
                <a:ext cx="2054269" cy="492443"/>
              </a:xfrm>
              <a:prstGeom prst="rect">
                <a:avLst/>
              </a:prstGeom>
              <a:blipFill>
                <a:blip r:embed="rId6"/>
                <a:stretch>
                  <a:fillRect l="-613" t="-10000" b="-27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D5DA2F7-3E69-C8A2-D40C-FAC188FF92B7}"/>
                  </a:ext>
                </a:extLst>
              </p:cNvPr>
              <p:cNvSpPr txBox="1"/>
              <p:nvPr/>
            </p:nvSpPr>
            <p:spPr>
              <a:xfrm>
                <a:off x="3576001" y="4254004"/>
                <a:ext cx="610694" cy="49244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vi-VN" sz="2600" b="0" i="1">
                          <a:latin typeface="Cambria Math" panose="02040503050406030204" pitchFamily="18" charset="0"/>
                          <a:ea typeface="Cambria Math" panose="02040503050406030204" pitchFamily="18" charset="0"/>
                        </a:rPr>
                        <m:t>0</m:t>
                      </m:r>
                    </m:oMath>
                  </m:oMathPara>
                </a14:m>
                <a:endParaRPr lang="en-VN" sz="2600"/>
              </a:p>
            </p:txBody>
          </p:sp>
        </mc:Choice>
        <mc:Fallback>
          <p:sp>
            <p:nvSpPr>
              <p:cNvPr id="20" name="TextBox 19">
                <a:extLst>
                  <a:ext uri="{FF2B5EF4-FFF2-40B4-BE49-F238E27FC236}">
                    <a16:creationId xmlns:a16="http://schemas.microsoft.com/office/drawing/2014/main" id="{0D5DA2F7-3E69-C8A2-D40C-FAC188FF92B7}"/>
                  </a:ext>
                </a:extLst>
              </p:cNvPr>
              <p:cNvSpPr txBox="1">
                <a:spLocks noRot="1" noChangeAspect="1" noMove="1" noResize="1" noEditPoints="1" noAdjustHandles="1" noChangeArrowheads="1" noChangeShapeType="1" noTextEdit="1"/>
              </p:cNvSpPr>
              <p:nvPr/>
            </p:nvSpPr>
            <p:spPr>
              <a:xfrm>
                <a:off x="3576001" y="4254004"/>
                <a:ext cx="610694" cy="492443"/>
              </a:xfrm>
              <a:prstGeom prst="rect">
                <a:avLst/>
              </a:prstGeom>
              <a:blipFill>
                <a:blip r:embed="rId7"/>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49226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68E0-0A29-0541-B667-F2FE552D7627}"/>
              </a:ext>
            </a:extLst>
          </p:cNvPr>
          <p:cNvSpPr>
            <a:spLocks noGrp="1"/>
          </p:cNvSpPr>
          <p:nvPr>
            <p:ph type="title"/>
          </p:nvPr>
        </p:nvSpPr>
        <p:spPr/>
        <p:txBody>
          <a:bodyPr/>
          <a:lstStyle/>
          <a:p>
            <a:r>
              <a:rPr lang="en-VN"/>
              <a:t>1.5. Lab</a:t>
            </a:r>
          </a:p>
        </p:txBody>
      </p:sp>
      <p:sp>
        <p:nvSpPr>
          <p:cNvPr id="3" name="Content Placeholder 2">
            <a:extLst>
              <a:ext uri="{FF2B5EF4-FFF2-40B4-BE49-F238E27FC236}">
                <a16:creationId xmlns:a16="http://schemas.microsoft.com/office/drawing/2014/main" id="{7A8676E4-6D45-F36B-A621-5B78A5A336E5}"/>
              </a:ext>
            </a:extLst>
          </p:cNvPr>
          <p:cNvSpPr>
            <a:spLocks noGrp="1"/>
          </p:cNvSpPr>
          <p:nvPr>
            <p:ph idx="1"/>
          </p:nvPr>
        </p:nvSpPr>
        <p:spPr/>
        <p:txBody>
          <a:bodyPr/>
          <a:lstStyle/>
          <a:p>
            <a:pPr marL="0" indent="0">
              <a:buNone/>
            </a:pPr>
            <a:r>
              <a:rPr lang="en-VN"/>
              <a:t>Bước 1. Thu thập dữ liệu của menu quán caf</a:t>
            </a:r>
            <a:r>
              <a:rPr lang="en-US"/>
              <a:t>é</a:t>
            </a:r>
            <a:r>
              <a:rPr lang="en-VN"/>
              <a:t> REAL</a:t>
            </a:r>
          </a:p>
          <a:p>
            <a:pPr marL="0" indent="0">
              <a:buNone/>
            </a:pPr>
            <a:r>
              <a:rPr lang="en-VN"/>
              <a:t>(từ 2 đặc trưng trở lên, 10 món trở lên)</a:t>
            </a:r>
          </a:p>
          <a:p>
            <a:pPr marL="0" indent="0">
              <a:buNone/>
            </a:pPr>
            <a:r>
              <a:rPr lang="en-VN"/>
              <a:t>Bước 2. Vẽ trên một mặt phẳng 2 chiều</a:t>
            </a:r>
          </a:p>
          <a:p>
            <a:pPr>
              <a:buFontTx/>
              <a:buChar char="-"/>
            </a:pPr>
            <a:r>
              <a:rPr lang="en-VN"/>
              <a:t>Vẽ bằng máy hoặc</a:t>
            </a:r>
          </a:p>
          <a:p>
            <a:pPr>
              <a:buFontTx/>
              <a:buChar char="-"/>
            </a:pPr>
            <a:r>
              <a:rPr lang="en-VN"/>
              <a:t>Vẽ trên giấy</a:t>
            </a:r>
          </a:p>
          <a:p>
            <a:pPr marL="0" indent="0">
              <a:buNone/>
            </a:pPr>
            <a:r>
              <a:rPr lang="en-VN"/>
              <a:t>Bước 3. Có gì hay xuất hiện không?</a:t>
            </a:r>
          </a:p>
        </p:txBody>
      </p:sp>
      <p:sp>
        <p:nvSpPr>
          <p:cNvPr id="4" name="Slide Number Placeholder 3">
            <a:extLst>
              <a:ext uri="{FF2B5EF4-FFF2-40B4-BE49-F238E27FC236}">
                <a16:creationId xmlns:a16="http://schemas.microsoft.com/office/drawing/2014/main" id="{1955F1BF-6BE4-DB83-8A03-9766354CC2D6}"/>
              </a:ext>
            </a:extLst>
          </p:cNvPr>
          <p:cNvSpPr>
            <a:spLocks noGrp="1"/>
          </p:cNvSpPr>
          <p:nvPr>
            <p:ph type="sldNum" sz="quarter" idx="12"/>
          </p:nvPr>
        </p:nvSpPr>
        <p:spPr/>
        <p:txBody>
          <a:bodyPr/>
          <a:lstStyle/>
          <a:p>
            <a:fld id="{9663FB4D-4462-1148-A41B-A6D56F6F932D}" type="slidenum">
              <a:t>14</a:t>
            </a:fld>
            <a:endParaRPr lang="en-VN"/>
          </a:p>
        </p:txBody>
      </p:sp>
    </p:spTree>
    <p:extLst>
      <p:ext uri="{BB962C8B-B14F-4D97-AF65-F5344CB8AC3E}">
        <p14:creationId xmlns:p14="http://schemas.microsoft.com/office/powerpoint/2010/main" val="1007746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2866-8952-9D8D-22D4-6954CC937D76}"/>
              </a:ext>
            </a:extLst>
          </p:cNvPr>
          <p:cNvSpPr>
            <a:spLocks noGrp="1"/>
          </p:cNvSpPr>
          <p:nvPr>
            <p:ph type="title"/>
          </p:nvPr>
        </p:nvSpPr>
        <p:spPr/>
        <p:txBody>
          <a:bodyPr/>
          <a:lstStyle/>
          <a:p>
            <a:r>
              <a:rPr lang="en-VN"/>
              <a:t>1.6. Dicussion: Q&amp;A</a:t>
            </a:r>
          </a:p>
        </p:txBody>
      </p:sp>
      <p:sp>
        <p:nvSpPr>
          <p:cNvPr id="3" name="Content Placeholder 2">
            <a:extLst>
              <a:ext uri="{FF2B5EF4-FFF2-40B4-BE49-F238E27FC236}">
                <a16:creationId xmlns:a16="http://schemas.microsoft.com/office/drawing/2014/main" id="{FF42ADDF-D3A8-84E3-37C3-F86E52A59346}"/>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6B23EE38-F5CF-82E4-AD84-0C6EC800AB53}"/>
              </a:ext>
            </a:extLst>
          </p:cNvPr>
          <p:cNvSpPr>
            <a:spLocks noGrp="1"/>
          </p:cNvSpPr>
          <p:nvPr>
            <p:ph type="sldNum" sz="quarter" idx="12"/>
          </p:nvPr>
        </p:nvSpPr>
        <p:spPr/>
        <p:txBody>
          <a:bodyPr/>
          <a:lstStyle/>
          <a:p>
            <a:fld id="{9663FB4D-4462-1148-A41B-A6D56F6F932D}" type="slidenum">
              <a:t>15</a:t>
            </a:fld>
            <a:endParaRPr lang="en-VN"/>
          </a:p>
        </p:txBody>
      </p:sp>
    </p:spTree>
    <p:extLst>
      <p:ext uri="{BB962C8B-B14F-4D97-AF65-F5344CB8AC3E}">
        <p14:creationId xmlns:p14="http://schemas.microsoft.com/office/powerpoint/2010/main" val="70066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9EA7-662B-05F1-B8D3-193478841499}"/>
              </a:ext>
            </a:extLst>
          </p:cNvPr>
          <p:cNvSpPr>
            <a:spLocks noGrp="1"/>
          </p:cNvSpPr>
          <p:nvPr>
            <p:ph type="title"/>
          </p:nvPr>
        </p:nvSpPr>
        <p:spPr/>
        <p:txBody>
          <a:bodyPr/>
          <a:lstStyle/>
          <a:p>
            <a:r>
              <a:rPr lang="en-VN"/>
              <a:t>2. Operations on vector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D1F39B-570B-C4E1-A7A0-194E960CADA8}"/>
                  </a:ext>
                </a:extLst>
              </p:cNvPr>
              <p:cNvSpPr>
                <a:spLocks noGrp="1"/>
              </p:cNvSpPr>
              <p:nvPr>
                <p:ph idx="1"/>
              </p:nvPr>
            </p:nvSpPr>
            <p:spPr/>
            <p:txBody>
              <a:bodyPr/>
              <a:lstStyle/>
              <a:p>
                <a:pPr>
                  <a:buFontTx/>
                  <a:buChar char="-"/>
                </a:pPr>
                <a14:m>
                  <m:oMath xmlns:m="http://schemas.openxmlformats.org/officeDocument/2006/math">
                    <m:r>
                      <a:rPr lang="en-VN" i="1">
                        <a:latin typeface="Cambria Math" panose="02040503050406030204" pitchFamily="18" charset="0"/>
                      </a:rPr>
                      <m:t>+,−,∗,</m:t>
                    </m:r>
                    <m:nary>
                      <m:naryPr>
                        <m:chr m:val="⨀"/>
                        <m:subHide m:val="on"/>
                        <m:supHide m:val="on"/>
                        <m:ctrlPr>
                          <a:rPr lang="en-VN" i="1">
                            <a:latin typeface="Cambria Math" panose="02040503050406030204" pitchFamily="18" charset="0"/>
                            <a:ea typeface="Cambria Math" panose="02040503050406030204" pitchFamily="18" charset="0"/>
                          </a:rPr>
                        </m:ctrlPr>
                      </m:naryPr>
                      <m:sub/>
                      <m:sup/>
                      <m:e>
                        <m:r>
                          <a:rPr lang="vi-VN" b="0" i="1">
                            <a:latin typeface="Cambria Math" panose="02040503050406030204" pitchFamily="18" charset="0"/>
                          </a:rPr>
                          <m:t>,  </m:t>
                        </m:r>
                        <m:r>
                          <a:rPr lang="vi-VN" b="0" i="1">
                            <a:latin typeface="Cambria Math" panose="02040503050406030204" pitchFamily="18" charset="0"/>
                            <a:ea typeface="Cambria Math" panose="02040503050406030204" pitchFamily="18" charset="0"/>
                          </a:rPr>
                          <m:t>⊗,⊺</m:t>
                        </m:r>
                      </m:e>
                    </m:nary>
                  </m:oMath>
                </a14:m>
                <a:endParaRPr lang="vi-VN">
                  <a:ea typeface="Cambria Math" panose="02040503050406030204" pitchFamily="18" charset="0"/>
                </a:endParaRPr>
              </a:p>
              <a:p>
                <a:pPr marL="0" indent="0">
                  <a:buNone/>
                </a:pPr>
                <a:r>
                  <a:rPr lang="en-VN"/>
                  <a:t>- Linear combination</a:t>
                </a:r>
              </a:p>
              <a:p>
                <a:pPr>
                  <a:buFontTx/>
                  <a:buChar char="-"/>
                </a:pPr>
                <a:r>
                  <a:rPr lang="en-VN"/>
                  <a:t>Lab</a:t>
                </a:r>
              </a:p>
            </p:txBody>
          </p:sp>
        </mc:Choice>
        <mc:Fallback>
          <p:sp>
            <p:nvSpPr>
              <p:cNvPr id="3" name="Content Placeholder 2">
                <a:extLst>
                  <a:ext uri="{FF2B5EF4-FFF2-40B4-BE49-F238E27FC236}">
                    <a16:creationId xmlns:a16="http://schemas.microsoft.com/office/drawing/2014/main" id="{12D1F39B-570B-C4E1-A7A0-194E960CADA8}"/>
                  </a:ext>
                </a:extLst>
              </p:cNvPr>
              <p:cNvSpPr>
                <a:spLocks noGrp="1" noRot="1" noChangeAspect="1" noMove="1" noResize="1" noEditPoints="1" noAdjustHandles="1" noChangeArrowheads="1" noChangeShapeType="1" noTextEdit="1"/>
              </p:cNvSpPr>
              <p:nvPr>
                <p:ph idx="1"/>
              </p:nvPr>
            </p:nvSpPr>
            <p:spPr>
              <a:blipFill>
                <a:blip r:embed="rId3"/>
                <a:stretch>
                  <a:fillRect l="-1206" t="-1250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4FBD9786-4E9A-5BBE-9039-B778362CF8E7}"/>
              </a:ext>
            </a:extLst>
          </p:cNvPr>
          <p:cNvSpPr>
            <a:spLocks noGrp="1"/>
          </p:cNvSpPr>
          <p:nvPr>
            <p:ph type="sldNum" sz="quarter" idx="12"/>
          </p:nvPr>
        </p:nvSpPr>
        <p:spPr/>
        <p:txBody>
          <a:bodyPr/>
          <a:lstStyle/>
          <a:p>
            <a:fld id="{9663FB4D-4462-1148-A41B-A6D56F6F932D}" type="slidenum">
              <a:t>16</a:t>
            </a:fld>
            <a:endParaRPr lang="en-VN"/>
          </a:p>
        </p:txBody>
      </p:sp>
    </p:spTree>
    <p:extLst>
      <p:ext uri="{BB962C8B-B14F-4D97-AF65-F5344CB8AC3E}">
        <p14:creationId xmlns:p14="http://schemas.microsoft.com/office/powerpoint/2010/main" val="4255680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E7E43-2FF8-C840-21A0-8410E11EAF2F}"/>
              </a:ext>
            </a:extLst>
          </p:cNvPr>
          <p:cNvSpPr>
            <a:spLocks noGrp="1"/>
          </p:cNvSpPr>
          <p:nvPr>
            <p:ph type="title"/>
          </p:nvPr>
        </p:nvSpPr>
        <p:spPr/>
        <p:txBody>
          <a:bodyPr/>
          <a:lstStyle/>
          <a:p>
            <a:r>
              <a:rPr lang="en-VN"/>
              <a:t>2.1. Element-wise operations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B58D27-82A7-FBB0-90FC-A8A80022C673}"/>
                  </a:ext>
                </a:extLst>
              </p:cNvPr>
              <p:cNvSpPr>
                <a:spLocks noGrp="1"/>
              </p:cNvSpPr>
              <p:nvPr>
                <p:ph idx="1"/>
              </p:nvPr>
            </p:nvSpPr>
            <p:spPr>
              <a:xfrm>
                <a:off x="838200" y="1825625"/>
                <a:ext cx="10515600" cy="529268"/>
              </a:xfrm>
            </p:spPr>
            <p:txBody>
              <a:bodyPr/>
              <a:lstStyle/>
              <a:p>
                <a:pPr marL="0" indent="0">
                  <a:buNone/>
                </a:pPr>
                <a14:m>
                  <m:oMath xmlns:m="http://schemas.openxmlformats.org/officeDocument/2006/math">
                    <m:r>
                      <a:rPr lang="en-US" i="1">
                        <a:latin typeface="Cambria Math" panose="02040503050406030204" pitchFamily="18" charset="0"/>
                      </a:rPr>
                      <m:t>𝑢</m:t>
                    </m:r>
                    <m:r>
                      <a:rPr lang="vi-VN" b="0" i="1">
                        <a:latin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𝑤</m:t>
                    </m:r>
                  </m:oMath>
                </a14:m>
                <a:r>
                  <a:rPr lang="en-VN" i="1"/>
                  <a:t> </a:t>
                </a:r>
                <a:r>
                  <a:rPr lang="en-VN"/>
                  <a:t>nếu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oMath>
                </a14:m>
                <a:r>
                  <a:rPr lang="en-VN" i="1"/>
                  <a:t> </a:t>
                </a:r>
                <a:r>
                  <a:rPr lang="en-VN"/>
                  <a:t>và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𝑤</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r>
                  <a:rPr lang="en-VN" i="1"/>
                  <a:t> </a:t>
                </a:r>
              </a:p>
            </p:txBody>
          </p:sp>
        </mc:Choice>
        <mc:Fallback>
          <p:sp>
            <p:nvSpPr>
              <p:cNvPr id="3" name="Content Placeholder 2">
                <a:extLst>
                  <a:ext uri="{FF2B5EF4-FFF2-40B4-BE49-F238E27FC236}">
                    <a16:creationId xmlns:a16="http://schemas.microsoft.com/office/drawing/2014/main" id="{DAB58D27-82A7-FBB0-90FC-A8A80022C673}"/>
                  </a:ext>
                </a:extLst>
              </p:cNvPr>
              <p:cNvSpPr>
                <a:spLocks noGrp="1" noRot="1" noChangeAspect="1" noMove="1" noResize="1" noEditPoints="1" noAdjustHandles="1" noChangeArrowheads="1" noChangeShapeType="1" noTextEdit="1"/>
              </p:cNvSpPr>
              <p:nvPr>
                <p:ph idx="1"/>
              </p:nvPr>
            </p:nvSpPr>
            <p:spPr>
              <a:xfrm>
                <a:off x="838200" y="1825625"/>
                <a:ext cx="10515600" cy="529268"/>
              </a:xfrm>
              <a:blipFill>
                <a:blip r:embed="rId3"/>
                <a:stretch>
                  <a:fillRect t="-18605" b="-2325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AD6675A-3647-34BB-BBFB-3AF9FD672D71}"/>
              </a:ext>
            </a:extLst>
          </p:cNvPr>
          <p:cNvSpPr>
            <a:spLocks noGrp="1"/>
          </p:cNvSpPr>
          <p:nvPr>
            <p:ph type="sldNum" sz="quarter" idx="12"/>
          </p:nvPr>
        </p:nvSpPr>
        <p:spPr/>
        <p:txBody>
          <a:bodyPr/>
          <a:lstStyle/>
          <a:p>
            <a:fld id="{9663FB4D-4462-1148-A41B-A6D56F6F932D}" type="slidenum">
              <a:t>17</a:t>
            </a:fld>
            <a:endParaRPr lang="en-VN"/>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AA0C6BFE-E63F-49AF-4410-13EC68BA3C89}"/>
                  </a:ext>
                </a:extLst>
              </p:cNvPr>
              <p:cNvSpPr txBox="1">
                <a:spLocks/>
              </p:cNvSpPr>
              <p:nvPr/>
            </p:nvSpPr>
            <p:spPr>
              <a:xfrm>
                <a:off x="838200" y="2489829"/>
                <a:ext cx="1051560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1+4</m:t>
                              </m:r>
                            </m:e>
                          </m:mr>
                          <m:mr>
                            <m:e>
                              <m:r>
                                <a:rPr lang="vi-VN" b="0" i="1">
                                  <a:latin typeface="Cambria Math" panose="02040503050406030204" pitchFamily="18" charset="0"/>
                                </a:rPr>
                                <m:t>2+5</m:t>
                              </m:r>
                            </m:e>
                          </m:mr>
                          <m:mr>
                            <m:e>
                              <m:r>
                                <a:rPr lang="vi-VN" b="0" i="1">
                                  <a:latin typeface="Cambria Math" panose="02040503050406030204" pitchFamily="18" charset="0"/>
                                </a:rPr>
                                <m:t>3+6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5</m:t>
                              </m:r>
                            </m:e>
                          </m:mr>
                          <m:mr>
                            <m:e>
                              <m:r>
                                <a:rPr lang="vi-VN" b="0" i="1">
                                  <a:latin typeface="Cambria Math" panose="02040503050406030204" pitchFamily="18" charset="0"/>
                                </a:rPr>
                                <m:t>7</m:t>
                              </m:r>
                            </m:e>
                          </m:mr>
                          <m:mr>
                            <m:e>
                              <m:r>
                                <a:rPr lang="vi-VN" b="0" i="1">
                                  <a:latin typeface="Cambria Math" panose="02040503050406030204" pitchFamily="18" charset="0"/>
                                </a:rPr>
                                <m:t>9</m:t>
                              </m:r>
                            </m:e>
                          </m:mr>
                        </m:m>
                      </m:e>
                    </m:d>
                  </m:oMath>
                </a14:m>
                <a:r>
                  <a:rPr lang="en-VN" i="1"/>
                  <a:t> </a:t>
                </a:r>
              </a:p>
            </p:txBody>
          </p:sp>
        </mc:Choice>
        <mc:Fallback>
          <p:sp>
            <p:nvSpPr>
              <p:cNvPr id="5" name="Content Placeholder 2">
                <a:extLst>
                  <a:ext uri="{FF2B5EF4-FFF2-40B4-BE49-F238E27FC236}">
                    <a16:creationId xmlns:a16="http://schemas.microsoft.com/office/drawing/2014/main" id="{AA0C6BFE-E63F-49AF-4410-13EC68BA3C89}"/>
                  </a:ext>
                </a:extLst>
              </p:cNvPr>
              <p:cNvSpPr txBox="1">
                <a:spLocks noRot="1" noChangeAspect="1" noMove="1" noResize="1" noEditPoints="1" noAdjustHandles="1" noChangeArrowheads="1" noChangeShapeType="1" noTextEdit="1"/>
              </p:cNvSpPr>
              <p:nvPr/>
            </p:nvSpPr>
            <p:spPr>
              <a:xfrm>
                <a:off x="838200" y="2489829"/>
                <a:ext cx="10515600" cy="1205349"/>
              </a:xfrm>
              <a:prstGeom prst="rect">
                <a:avLst/>
              </a:prstGeom>
              <a:blipFill>
                <a:blip r:embed="rId4"/>
                <a:stretch>
                  <a:fillRect t="-3125" b="-208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95E8A90B-CFEE-E3D7-75F6-A328BB7FC6A6}"/>
                  </a:ext>
                </a:extLst>
              </p:cNvPr>
              <p:cNvSpPr txBox="1">
                <a:spLocks/>
              </p:cNvSpPr>
              <p:nvPr/>
            </p:nvSpPr>
            <p:spPr>
              <a:xfrm>
                <a:off x="838200" y="3830114"/>
                <a:ext cx="1051560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1−4</m:t>
                              </m:r>
                            </m:e>
                          </m:mr>
                          <m:mr>
                            <m:e>
                              <m:r>
                                <a:rPr lang="vi-VN" b="0" i="1">
                                  <a:latin typeface="Cambria Math" panose="02040503050406030204" pitchFamily="18" charset="0"/>
                                </a:rPr>
                                <m:t>2−5</m:t>
                              </m:r>
                            </m:e>
                          </m:mr>
                          <m:mr>
                            <m:e>
                              <m:r>
                                <a:rPr lang="vi-VN" b="0" i="1">
                                  <a:latin typeface="Cambria Math" panose="02040503050406030204" pitchFamily="18" charset="0"/>
                                </a:rPr>
                                <m:t>3−6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−3</m:t>
                              </m:r>
                            </m:e>
                          </m:mr>
                          <m:mr>
                            <m:e>
                              <m:r>
                                <a:rPr lang="vi-VN" b="0" i="1">
                                  <a:latin typeface="Cambria Math" panose="02040503050406030204" pitchFamily="18" charset="0"/>
                                </a:rPr>
                                <m:t>−3</m:t>
                              </m:r>
                            </m:e>
                          </m:mr>
                          <m:mr>
                            <m:e>
                              <m:r>
                                <a:rPr lang="vi-VN" b="0" i="1">
                                  <a:latin typeface="Cambria Math" panose="02040503050406030204" pitchFamily="18" charset="0"/>
                                </a:rPr>
                                <m:t>−3</m:t>
                              </m:r>
                            </m:e>
                          </m:mr>
                        </m:m>
                      </m:e>
                    </m:d>
                  </m:oMath>
                </a14:m>
                <a:r>
                  <a:rPr lang="en-VN" i="1"/>
                  <a:t> </a:t>
                </a:r>
              </a:p>
            </p:txBody>
          </p:sp>
        </mc:Choice>
        <mc:Fallback>
          <p:sp>
            <p:nvSpPr>
              <p:cNvPr id="6" name="Content Placeholder 2">
                <a:extLst>
                  <a:ext uri="{FF2B5EF4-FFF2-40B4-BE49-F238E27FC236}">
                    <a16:creationId xmlns:a16="http://schemas.microsoft.com/office/drawing/2014/main" id="{95E8A90B-CFEE-E3D7-75F6-A328BB7FC6A6}"/>
                  </a:ext>
                </a:extLst>
              </p:cNvPr>
              <p:cNvSpPr txBox="1">
                <a:spLocks noRot="1" noChangeAspect="1" noMove="1" noResize="1" noEditPoints="1" noAdjustHandles="1" noChangeArrowheads="1" noChangeShapeType="1" noTextEdit="1"/>
              </p:cNvSpPr>
              <p:nvPr/>
            </p:nvSpPr>
            <p:spPr>
              <a:xfrm>
                <a:off x="838200" y="3830114"/>
                <a:ext cx="10515600" cy="1205349"/>
              </a:xfrm>
              <a:prstGeom prst="rect">
                <a:avLst/>
              </a:prstGeom>
              <a:blipFill>
                <a:blip r:embed="rId5"/>
                <a:stretch>
                  <a:fillRect t="-4167"/>
                </a:stretch>
              </a:blipFill>
            </p:spPr>
            <p:txBody>
              <a:bodyPr/>
              <a:lstStyle/>
              <a:p>
                <a:r>
                  <a:rPr lang="en-VN">
                    <a:noFill/>
                  </a:rPr>
                  <a:t> </a:t>
                </a:r>
              </a:p>
            </p:txBody>
          </p:sp>
        </mc:Fallback>
      </mc:AlternateContent>
    </p:spTree>
    <p:extLst>
      <p:ext uri="{BB962C8B-B14F-4D97-AF65-F5344CB8AC3E}">
        <p14:creationId xmlns:p14="http://schemas.microsoft.com/office/powerpoint/2010/main" val="3329969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5939-B319-3E3A-D8C7-616193590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32FF1-87CD-468C-6B07-CBC2F11E5F44}"/>
              </a:ext>
            </a:extLst>
          </p:cNvPr>
          <p:cNvSpPr>
            <a:spLocks noGrp="1"/>
          </p:cNvSpPr>
          <p:nvPr>
            <p:ph type="title"/>
          </p:nvPr>
        </p:nvSpPr>
        <p:spPr/>
        <p:txBody>
          <a:bodyPr/>
          <a:lstStyle/>
          <a:p>
            <a:r>
              <a:rPr lang="en-VN"/>
              <a:t>2.2. Mul operations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E08A31-A414-4C15-598D-0B7B65EEA13B}"/>
                  </a:ext>
                </a:extLst>
              </p:cNvPr>
              <p:cNvSpPr>
                <a:spLocks noGrp="1"/>
              </p:cNvSpPr>
              <p:nvPr>
                <p:ph idx="1"/>
              </p:nvPr>
            </p:nvSpPr>
            <p:spPr>
              <a:xfrm>
                <a:off x="838200" y="1690687"/>
                <a:ext cx="7992649" cy="1738313"/>
              </a:xfrm>
            </p:spPr>
            <p:txBody>
              <a:bodyPr>
                <a:normAutofit/>
              </a:bodyPr>
              <a:lstStyle/>
              <a:p>
                <a:pPr marL="0" indent="0">
                  <a:buNone/>
                </a:pPr>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𝑤</m:t>
                    </m:r>
                  </m:oMath>
                </a14:m>
                <a:r>
                  <a:rPr lang="en-VN" i="1"/>
                  <a:t> </a:t>
                </a:r>
                <a:r>
                  <a:rPr lang="en-VN"/>
                  <a:t>if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oMath>
                </a14:m>
                <a:r>
                  <a:rPr lang="en-VN" i="1"/>
                  <a:t>,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𝑤</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endParaRPr lang="en-VN" i="1"/>
              </a:p>
              <a:p>
                <a:pPr marL="0" indent="0">
                  <a:buNone/>
                </a:pPr>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𝑢𝑣</m:t>
                    </m:r>
                    <m:r>
                      <a:rPr lang="vi-VN" b="0" i="1">
                        <a:latin typeface="Cambria Math" panose="02040503050406030204" pitchFamily="18" charset="0"/>
                      </a:rPr>
                      <m:t>=</m:t>
                    </m:r>
                    <m:r>
                      <a:rPr lang="vi-VN" i="1">
                        <a:latin typeface="Cambria Math" panose="02040503050406030204" pitchFamily="18" charset="0"/>
                      </a:rPr>
                      <m:t>𝑘</m:t>
                    </m:r>
                  </m:oMath>
                </a14:m>
                <a:r>
                  <a:rPr lang="en-VN" i="1"/>
                  <a:t> </a:t>
                </a:r>
                <a:r>
                  <a:rPr lang="en-VN"/>
                  <a:t>if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oMath>
                </a14:m>
                <a:r>
                  <a:rPr lang="en-VN"/>
                  <a:t>, </a:t>
                </a:r>
                <a14:m>
                  <m:oMath xmlns:m="http://schemas.openxmlformats.org/officeDocument/2006/math">
                    <m:r>
                      <a:rPr lang="en-VN" b="0" i="1">
                        <a:latin typeface="Cambria Math" panose="02040503050406030204" pitchFamily="18" charset="0"/>
                      </a:rPr>
                      <m:t>𝑘</m:t>
                    </m:r>
                    <m:r>
                      <a:rPr lang="vi-VN" b="0" i="1">
                        <a:latin typeface="Cambria Math" panose="02040503050406030204" pitchFamily="18" charset="0"/>
                      </a:rPr>
                      <m:t>=</m:t>
                    </m:r>
                    <m:nary>
                      <m:naryPr>
                        <m:chr m:val="∑"/>
                        <m:ctrlPr>
                          <a:rPr lang="vi-VN" b="0" i="1">
                            <a:latin typeface="Cambria Math" panose="02040503050406030204" pitchFamily="18" charset="0"/>
                          </a:rPr>
                        </m:ctrlPr>
                      </m:naryPr>
                      <m:sub>
                        <m:r>
                          <m:rPr>
                            <m:brk m:alnAt="23"/>
                          </m:rPr>
                          <a:rPr lang="vi-VN" i="1">
                            <a:latin typeface="Cambria Math" panose="02040503050406030204" pitchFamily="18" charset="0"/>
                          </a:rPr>
                          <m:t>𝑖</m:t>
                        </m:r>
                        <m:r>
                          <a:rPr lang="vi-VN" b="0" i="1">
                            <a:latin typeface="Cambria Math" panose="02040503050406030204" pitchFamily="18" charset="0"/>
                          </a:rPr>
                          <m:t>=1</m:t>
                        </m:r>
                      </m:sub>
                      <m:sup>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sup>
                      <m:e>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e>
                    </m:nary>
                  </m:oMath>
                </a14:m>
                <a:endParaRPr lang="en-VN" i="1"/>
              </a:p>
              <a:p>
                <a:pPr marL="0" indent="0">
                  <a:buNone/>
                </a:pPr>
                <a14:m>
                  <m:oMath xmlns:m="http://schemas.openxmlformats.org/officeDocument/2006/math">
                    <m:r>
                      <a:rPr lang="en-US" i="1">
                        <a:latin typeface="Cambria Math" panose="02040503050406030204" pitchFamily="18" charset="0"/>
                      </a:rPr>
                      <m:t>𝑘</m:t>
                    </m:r>
                    <m:r>
                      <a:rPr lang="en-VN" i="1">
                        <a:latin typeface="Cambria Math" panose="02040503050406030204" pitchFamily="18" charset="0"/>
                      </a:rPr>
                      <m:t>𝑢</m:t>
                    </m:r>
                    <m:r>
                      <a:rPr lang="vi-VN" b="0" i="1">
                        <a:latin typeface="Cambria Math" panose="02040503050406030204" pitchFamily="18" charset="0"/>
                      </a:rPr>
                      <m:t>=</m:t>
                    </m:r>
                    <m:r>
                      <a:rPr lang="vi-VN" i="1">
                        <a:latin typeface="Cambria Math" panose="02040503050406030204" pitchFamily="18" charset="0"/>
                      </a:rPr>
                      <m:t>𝑣</m:t>
                    </m:r>
                    <m:r>
                      <a:rPr lang="vi-VN" b="0" i="0">
                        <a:latin typeface="Cambria Math" panose="02040503050406030204" pitchFamily="18" charset="0"/>
                      </a:rPr>
                      <m:t>,</m:t>
                    </m:r>
                    <m:r>
                      <a:rPr lang="vi-VN" b="0" i="1">
                        <a:latin typeface="Cambria Math" panose="02040503050406030204" pitchFamily="18" charset="0"/>
                      </a:rPr>
                      <m:t> </m:t>
                    </m:r>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oMath>
                </a14:m>
                <a:r>
                  <a:rPr lang="en-VN" i="1"/>
                  <a:t>,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m:t>
                        </m:r>
                        <m:r>
                          <a:rPr lang="vi-VN" i="1">
                            <a:latin typeface="Cambria Math" panose="02040503050406030204" pitchFamily="18" charset="0"/>
                          </a:rPr>
                          <m:t>𝑢</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r>
                  <a:rPr lang="en-VN" i="1"/>
                  <a:t>, </a:t>
                </a:r>
                <a14:m>
                  <m:oMath xmlns:m="http://schemas.openxmlformats.org/officeDocument/2006/math">
                    <m:r>
                      <a:rPr lang="en-VN" i="1">
                        <a:latin typeface="Cambria Math" panose="02040503050406030204" pitchFamily="18" charset="0"/>
                      </a:rPr>
                      <m:t>𝑘</m:t>
                    </m:r>
                    <m:r>
                      <a:rPr lang="vi-VN" b="0" i="1">
                        <a:latin typeface="Cambria Math" panose="02040503050406030204" pitchFamily="18" charset="0"/>
                      </a:rPr>
                      <m:t>∈</m:t>
                    </m:r>
                    <m:r>
                      <a:rPr lang="vi-VN" b="0" i="1">
                        <a:latin typeface="Cambria Math" panose="02040503050406030204" pitchFamily="18" charset="0"/>
                        <a:ea typeface="Cambria Math" panose="02040503050406030204" pitchFamily="18" charset="0"/>
                      </a:rPr>
                      <m:t>ℝ</m:t>
                    </m:r>
                  </m:oMath>
                </a14:m>
                <a:endParaRPr lang="en-VN" i="1"/>
              </a:p>
            </p:txBody>
          </p:sp>
        </mc:Choice>
        <mc:Fallback>
          <p:sp>
            <p:nvSpPr>
              <p:cNvPr id="3" name="Content Placeholder 2">
                <a:extLst>
                  <a:ext uri="{FF2B5EF4-FFF2-40B4-BE49-F238E27FC236}">
                    <a16:creationId xmlns:a16="http://schemas.microsoft.com/office/drawing/2014/main" id="{52E08A31-A414-4C15-598D-0B7B65EEA13B}"/>
                  </a:ext>
                </a:extLst>
              </p:cNvPr>
              <p:cNvSpPr>
                <a:spLocks noGrp="1" noRot="1" noChangeAspect="1" noMove="1" noResize="1" noEditPoints="1" noAdjustHandles="1" noChangeArrowheads="1" noChangeShapeType="1" noTextEdit="1"/>
              </p:cNvSpPr>
              <p:nvPr>
                <p:ph idx="1"/>
              </p:nvPr>
            </p:nvSpPr>
            <p:spPr>
              <a:xfrm>
                <a:off x="838200" y="1690687"/>
                <a:ext cx="7992649" cy="1738313"/>
              </a:xfrm>
              <a:blipFill>
                <a:blip r:embed="rId3"/>
                <a:stretch>
                  <a:fillRect l="-635" t="-7194" b="-19424"/>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2E25EA5-FF7C-E6E5-897A-9BEFF72373CE}"/>
              </a:ext>
            </a:extLst>
          </p:cNvPr>
          <p:cNvSpPr>
            <a:spLocks noGrp="1"/>
          </p:cNvSpPr>
          <p:nvPr>
            <p:ph type="sldNum" sz="quarter" idx="12"/>
          </p:nvPr>
        </p:nvSpPr>
        <p:spPr/>
        <p:txBody>
          <a:bodyPr/>
          <a:lstStyle/>
          <a:p>
            <a:fld id="{9663FB4D-4462-1148-A41B-A6D56F6F932D}" type="slidenum">
              <a:t>18</a:t>
            </a:fld>
            <a:endParaRPr lang="en-VN"/>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BB982B0D-C0C9-682A-3E5B-302A64BF9E96}"/>
                  </a:ext>
                </a:extLst>
              </p:cNvPr>
              <p:cNvSpPr txBox="1">
                <a:spLocks/>
              </p:cNvSpPr>
              <p:nvPr/>
            </p:nvSpPr>
            <p:spPr>
              <a:xfrm>
                <a:off x="838198" y="5167313"/>
                <a:ext cx="6614787" cy="1189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en-US"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r>
                      <a:rPr lang="vi-VN" i="1">
                        <a:latin typeface="Cambria Math" panose="02040503050406030204" pitchFamily="18" charset="0"/>
                      </a:rPr>
                      <m:t>1</m:t>
                    </m:r>
                    <m:r>
                      <a:rPr lang="vi-VN" b="0" i="1">
                        <a:latin typeface="Cambria Math" panose="02040503050406030204" pitchFamily="18" charset="0"/>
                      </a:rPr>
                      <m:t>×4+2×5+3×6=32</m:t>
                    </m:r>
                  </m:oMath>
                </a14:m>
                <a:r>
                  <a:rPr lang="en-VN" i="1"/>
                  <a:t> </a:t>
                </a:r>
              </a:p>
            </p:txBody>
          </p:sp>
        </mc:Choice>
        <mc:Fallback>
          <p:sp>
            <p:nvSpPr>
              <p:cNvPr id="5" name="Content Placeholder 2">
                <a:extLst>
                  <a:ext uri="{FF2B5EF4-FFF2-40B4-BE49-F238E27FC236}">
                    <a16:creationId xmlns:a16="http://schemas.microsoft.com/office/drawing/2014/main" id="{BB982B0D-C0C9-682A-3E5B-302A64BF9E96}"/>
                  </a:ext>
                </a:extLst>
              </p:cNvPr>
              <p:cNvSpPr txBox="1">
                <a:spLocks noRot="1" noChangeAspect="1" noMove="1" noResize="1" noEditPoints="1" noAdjustHandles="1" noChangeArrowheads="1" noChangeShapeType="1" noTextEdit="1"/>
              </p:cNvSpPr>
              <p:nvPr/>
            </p:nvSpPr>
            <p:spPr>
              <a:xfrm>
                <a:off x="838198" y="5167313"/>
                <a:ext cx="6614787" cy="1189037"/>
              </a:xfrm>
              <a:prstGeom prst="rect">
                <a:avLst/>
              </a:prstGeom>
              <a:blipFill>
                <a:blip r:embed="rId4"/>
                <a:stretch>
                  <a:fillRect t="-5319" b="-212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02D7328D-42AB-1529-CA2C-F7E76928705B}"/>
                  </a:ext>
                </a:extLst>
              </p:cNvPr>
              <p:cNvSpPr txBox="1">
                <a:spLocks/>
              </p:cNvSpPr>
              <p:nvPr/>
            </p:nvSpPr>
            <p:spPr>
              <a:xfrm>
                <a:off x="838200" y="3687325"/>
                <a:ext cx="422649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vi-VN" b="0" i="1" smtClean="0">
                        <a:latin typeface="Cambria Math" panose="02040503050406030204" pitchFamily="18" charset="0"/>
                      </a:rPr>
                      <m:t>2</m:t>
                    </m:r>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2×1</m:t>
                              </m:r>
                            </m:e>
                          </m:mr>
                          <m:mr>
                            <m:e>
                              <m:r>
                                <a:rPr lang="vi-VN" b="0" i="1">
                                  <a:latin typeface="Cambria Math" panose="02040503050406030204" pitchFamily="18" charset="0"/>
                                </a:rPr>
                                <m:t>2</m:t>
                              </m:r>
                              <m:r>
                                <m:rPr>
                                  <m:brk m:alnAt="7"/>
                                </m:rPr>
                                <a:rPr lang="vi-VN" i="1">
                                  <a:latin typeface="Cambria Math" panose="02040503050406030204" pitchFamily="18" charset="0"/>
                                </a:rPr>
                                <m:t>×</m:t>
                              </m:r>
                              <m:r>
                                <a:rPr lang="vi-VN" b="0" i="1">
                                  <a:latin typeface="Cambria Math" panose="02040503050406030204" pitchFamily="18" charset="0"/>
                                </a:rPr>
                                <m:t>2</m:t>
                              </m:r>
                            </m:e>
                          </m:mr>
                          <m:mr>
                            <m:e>
                              <m:r>
                                <a:rPr lang="vi-VN" b="0" i="1">
                                  <a:latin typeface="Cambria Math" panose="02040503050406030204" pitchFamily="18" charset="0"/>
                                </a:rPr>
                                <m:t>2</m:t>
                              </m:r>
                              <m:r>
                                <m:rPr>
                                  <m:brk m:alnAt="7"/>
                                </m:rPr>
                                <a:rPr lang="vi-VN" i="1">
                                  <a:latin typeface="Cambria Math" panose="02040503050406030204" pitchFamily="18" charset="0"/>
                                </a:rPr>
                                <m:t>×</m:t>
                              </m:r>
                              <m:r>
                                <a:rPr lang="vi-VN" b="0" i="1">
                                  <a:latin typeface="Cambria Math" panose="02040503050406030204" pitchFamily="18" charset="0"/>
                                </a:rPr>
                                <m:t>3</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2</m:t>
                              </m:r>
                            </m:e>
                          </m:mr>
                          <m:mr>
                            <m:e>
                              <m:r>
                                <a:rPr lang="vi-VN" b="0" i="1">
                                  <a:latin typeface="Cambria Math" panose="02040503050406030204" pitchFamily="18" charset="0"/>
                                </a:rPr>
                                <m:t>4</m:t>
                              </m:r>
                            </m:e>
                          </m:mr>
                          <m:mr>
                            <m:e>
                              <m:r>
                                <a:rPr lang="vi-VN" b="0" i="1">
                                  <a:latin typeface="Cambria Math" panose="02040503050406030204" pitchFamily="18" charset="0"/>
                                </a:rPr>
                                <m:t>6</m:t>
                              </m:r>
                            </m:e>
                          </m:mr>
                        </m:m>
                      </m:e>
                    </m:d>
                  </m:oMath>
                </a14:m>
                <a:r>
                  <a:rPr lang="en-VN" i="1"/>
                  <a:t> </a:t>
                </a:r>
              </a:p>
            </p:txBody>
          </p:sp>
        </mc:Choice>
        <mc:Fallback>
          <p:sp>
            <p:nvSpPr>
              <p:cNvPr id="7" name="Content Placeholder 2">
                <a:extLst>
                  <a:ext uri="{FF2B5EF4-FFF2-40B4-BE49-F238E27FC236}">
                    <a16:creationId xmlns:a16="http://schemas.microsoft.com/office/drawing/2014/main" id="{02D7328D-42AB-1529-CA2C-F7E76928705B}"/>
                  </a:ext>
                </a:extLst>
              </p:cNvPr>
              <p:cNvSpPr txBox="1">
                <a:spLocks noRot="1" noChangeAspect="1" noMove="1" noResize="1" noEditPoints="1" noAdjustHandles="1" noChangeArrowheads="1" noChangeShapeType="1" noTextEdit="1"/>
              </p:cNvSpPr>
              <p:nvPr/>
            </p:nvSpPr>
            <p:spPr>
              <a:xfrm>
                <a:off x="838200" y="3687325"/>
                <a:ext cx="4226490" cy="1205349"/>
              </a:xfrm>
              <a:prstGeom prst="rect">
                <a:avLst/>
              </a:prstGeom>
              <a:blipFill>
                <a:blip r:embed="rId5"/>
                <a:stretch>
                  <a:fillRect l="-901" t="-312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8FB239DC-E782-9B3F-720B-205D4CF5F5D4}"/>
                  </a:ext>
                </a:extLst>
              </p:cNvPr>
              <p:cNvSpPr txBox="1">
                <a:spLocks/>
              </p:cNvSpPr>
              <p:nvPr/>
            </p:nvSpPr>
            <p:spPr>
              <a:xfrm>
                <a:off x="9138519" y="1684425"/>
                <a:ext cx="1819927" cy="1603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i="1">
                        <a:solidFill>
                          <a:srgbClr val="FF0000"/>
                        </a:solidFill>
                      </a:rPr>
                      <m:t>𝑢</m:t>
                    </m:r>
                    <m:r>
                      <a:rPr lang="vi-VN" b="0" i="1">
                        <a:solidFill>
                          <a:srgbClr val="FF0000"/>
                        </a:solidFill>
                      </a:rPr>
                      <m:t>∗</m:t>
                    </m:r>
                    <m:r>
                      <a:rPr lang="vi-VN" i="1">
                        <a:solidFill>
                          <a:srgbClr val="FF0000"/>
                        </a:solidFill>
                      </a:rPr>
                      <m:t>𝑣</m:t>
                    </m:r>
                  </m:oMath>
                </a14:m>
                <a:r>
                  <a:rPr lang="en-VN" i="1">
                    <a:solidFill>
                      <a:srgbClr val="FF0000"/>
                    </a:solidFill>
                  </a:rPr>
                  <a:t> </a:t>
                </a:r>
              </a:p>
              <a:p>
                <a:pPr marL="0" indent="0">
                  <a:buNone/>
                </a:pPr>
                <a14:m>
                  <m:oMath xmlns:m="http://schemas.openxmlformats.org/officeDocument/2006/math">
                    <m:r>
                      <a:rPr lang="en-VN" i="1">
                        <a:solidFill>
                          <a:srgbClr val="FF0000"/>
                        </a:solidFill>
                      </a:rPr>
                      <m:t>𝑢</m:t>
                    </m:r>
                    <m:r>
                      <a:rPr lang="vi-VN" b="0" i="1">
                        <a:solidFill>
                          <a:srgbClr val="FF0000"/>
                        </a:solidFill>
                      </a:rPr>
                      <m:t>.</m:t>
                    </m:r>
                    <m:r>
                      <m:rPr>
                        <m:sty m:val="p"/>
                      </m:rPr>
                      <a:rPr lang="vi-VN" i="0">
                        <a:solidFill>
                          <a:srgbClr val="FF0000"/>
                        </a:solidFill>
                      </a:rPr>
                      <m:t>dot</m:t>
                    </m:r>
                    <m:d>
                      <m:dPr>
                        <m:ctrlPr>
                          <a:rPr lang="vi-VN" b="0" i="1">
                            <a:solidFill>
                              <a:srgbClr val="FF0000"/>
                            </a:solidFill>
                          </a:rPr>
                        </m:ctrlPr>
                      </m:dPr>
                      <m:e>
                        <m:r>
                          <a:rPr lang="vi-VN" i="1">
                            <a:solidFill>
                              <a:srgbClr val="FF0000"/>
                            </a:solidFill>
                          </a:rPr>
                          <m:t>𝑣</m:t>
                        </m:r>
                      </m:e>
                    </m:d>
                  </m:oMath>
                </a14:m>
                <a:r>
                  <a:rPr lang="vi-VN" b="0" i="1">
                    <a:solidFill>
                      <a:srgbClr val="FF0000"/>
                    </a:solidFill>
                  </a:rPr>
                  <a:t> </a:t>
                </a:r>
              </a:p>
              <a:p>
                <a:pPr marL="0" indent="0">
                  <a:buNone/>
                </a:pPr>
                <a14:m>
                  <m:oMath xmlns:m="http://schemas.openxmlformats.org/officeDocument/2006/math">
                    <m:r>
                      <a:rPr lang="en-VN" i="1" smtClean="0">
                        <a:solidFill>
                          <a:srgbClr val="FF0000"/>
                        </a:solidFill>
                      </a:rPr>
                      <m:t>𝑘</m:t>
                    </m:r>
                    <m:r>
                      <a:rPr lang="vi-VN" b="0" i="1" smtClean="0">
                        <a:solidFill>
                          <a:srgbClr val="FF0000"/>
                        </a:solidFill>
                      </a:rPr>
                      <m:t>∗</m:t>
                    </m:r>
                    <m:r>
                      <a:rPr lang="vi-VN" i="1">
                        <a:solidFill>
                          <a:srgbClr val="FF0000"/>
                        </a:solidFill>
                      </a:rPr>
                      <m:t>𝑢</m:t>
                    </m:r>
                  </m:oMath>
                </a14:m>
                <a:r>
                  <a:rPr lang="en-VN" i="1">
                    <a:solidFill>
                      <a:srgbClr val="FF0000"/>
                    </a:solidFill>
                  </a:rPr>
                  <a:t> </a:t>
                </a:r>
              </a:p>
            </p:txBody>
          </p:sp>
        </mc:Choice>
        <mc:Fallback>
          <p:sp>
            <p:nvSpPr>
              <p:cNvPr id="8" name="Content Placeholder 2">
                <a:extLst>
                  <a:ext uri="{FF2B5EF4-FFF2-40B4-BE49-F238E27FC236}">
                    <a16:creationId xmlns:a16="http://schemas.microsoft.com/office/drawing/2014/main" id="{8FB239DC-E782-9B3F-720B-205D4CF5F5D4}"/>
                  </a:ext>
                </a:extLst>
              </p:cNvPr>
              <p:cNvSpPr txBox="1">
                <a:spLocks noRot="1" noChangeAspect="1" noMove="1" noResize="1" noEditPoints="1" noAdjustHandles="1" noChangeArrowheads="1" noChangeShapeType="1" noTextEdit="1"/>
              </p:cNvSpPr>
              <p:nvPr/>
            </p:nvSpPr>
            <p:spPr>
              <a:xfrm>
                <a:off x="9138519" y="1684425"/>
                <a:ext cx="1819927" cy="1603658"/>
              </a:xfrm>
              <a:prstGeom prst="rect">
                <a:avLst/>
              </a:prstGeom>
              <a:blipFill>
                <a:blip r:embed="rId6"/>
                <a:stretch>
                  <a:fillRect l="-2069"/>
                </a:stretch>
              </a:blipFill>
            </p:spPr>
            <p:txBody>
              <a:bodyPr/>
              <a:lstStyle/>
              <a:p>
                <a:r>
                  <a:rPr lang="en-VN">
                    <a:noFill/>
                  </a:rPr>
                  <a:t> </a:t>
                </a:r>
              </a:p>
            </p:txBody>
          </p:sp>
        </mc:Fallback>
      </mc:AlternateContent>
      <p:cxnSp>
        <p:nvCxnSpPr>
          <p:cNvPr id="10" name="Straight Connector 9">
            <a:extLst>
              <a:ext uri="{FF2B5EF4-FFF2-40B4-BE49-F238E27FC236}">
                <a16:creationId xmlns:a16="http://schemas.microsoft.com/office/drawing/2014/main" id="{600044F2-8FCA-2173-8A64-96FBDAA7B656}"/>
              </a:ext>
            </a:extLst>
          </p:cNvPr>
          <p:cNvCxnSpPr/>
          <p:nvPr/>
        </p:nvCxnSpPr>
        <p:spPr>
          <a:xfrm>
            <a:off x="8918532" y="1690687"/>
            <a:ext cx="0" cy="144082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64F3256-84A9-A5B8-4745-19F1D10D78B2}"/>
              </a:ext>
            </a:extLst>
          </p:cNvPr>
          <p:cNvSpPr txBox="1"/>
          <p:nvPr/>
        </p:nvSpPr>
        <p:spPr>
          <a:xfrm>
            <a:off x="9138519" y="1161205"/>
            <a:ext cx="1503123" cy="523220"/>
          </a:xfrm>
          <a:prstGeom prst="rect">
            <a:avLst/>
          </a:prstGeom>
          <a:noFill/>
        </p:spPr>
        <p:txBody>
          <a:bodyPr wrap="square" rtlCol="0">
            <a:spAutoFit/>
          </a:bodyPr>
          <a:lstStyle/>
          <a:p>
            <a:r>
              <a:rPr lang="en-VN" sz="2800" b="1">
                <a:solidFill>
                  <a:srgbClr val="FF0000"/>
                </a:solidFill>
              </a:rPr>
              <a:t>Python</a:t>
            </a:r>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0B20EFC5-6F9A-1307-BD95-203EA11490FA}"/>
                  </a:ext>
                </a:extLst>
              </p:cNvPr>
              <p:cNvSpPr txBox="1">
                <a:spLocks/>
              </p:cNvSpPr>
              <p:nvPr/>
            </p:nvSpPr>
            <p:spPr>
              <a:xfrm>
                <a:off x="4477535" y="3703638"/>
                <a:ext cx="4948826" cy="1189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en-US"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m:t>
                                </m:r>
                                <m:r>
                                  <a:rPr lang="vi-VN" b="0" i="1">
                                    <a:latin typeface="Cambria Math" panose="02040503050406030204" pitchFamily="18" charset="0"/>
                                  </a:rPr>
                                  <m:t>×</m:t>
                                </m:r>
                                <m:r>
                                  <a:rPr lang="vi-VN" i="1">
                                    <a:latin typeface="Cambria Math" panose="02040503050406030204" pitchFamily="18" charset="0"/>
                                  </a:rPr>
                                  <m:t>4</m:t>
                                </m:r>
                              </m:e>
                            </m:mr>
                            <m:mr>
                              <m:e>
                                <m:r>
                                  <a:rPr lang="vi-VN" b="0" i="1">
                                    <a:latin typeface="Cambria Math" panose="02040503050406030204" pitchFamily="18" charset="0"/>
                                  </a:rPr>
                                  <m:t>2×5</m:t>
                                </m:r>
                              </m:e>
                            </m:mr>
                            <m:mr>
                              <m:e>
                                <m:r>
                                  <a:rPr lang="vi-VN" b="0" i="1">
                                    <a:latin typeface="Cambria Math" panose="02040503050406030204" pitchFamily="18" charset="0"/>
                                  </a:rPr>
                                  <m:t>3×</m:t>
                                </m:r>
                                <m:r>
                                  <a:rPr lang="vi-VN"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10</m:t>
                                </m:r>
                              </m:e>
                            </m:mr>
                            <m:mr>
                              <m:e>
                                <m:r>
                                  <a:rPr lang="vi-VN" b="0" i="1">
                                    <a:latin typeface="Cambria Math" panose="02040503050406030204" pitchFamily="18" charset="0"/>
                                  </a:rPr>
                                  <m:t>18</m:t>
                                </m:r>
                              </m:e>
                            </m:mr>
                          </m:m>
                        </m:e>
                      </m:d>
                    </m:oMath>
                  </m:oMathPara>
                </a14:m>
                <a:endParaRPr lang="en-VN" i="1"/>
              </a:p>
            </p:txBody>
          </p:sp>
        </mc:Choice>
        <mc:Fallback>
          <p:sp>
            <p:nvSpPr>
              <p:cNvPr id="12" name="Content Placeholder 2">
                <a:extLst>
                  <a:ext uri="{FF2B5EF4-FFF2-40B4-BE49-F238E27FC236}">
                    <a16:creationId xmlns:a16="http://schemas.microsoft.com/office/drawing/2014/main" id="{0B20EFC5-6F9A-1307-BD95-203EA11490FA}"/>
                  </a:ext>
                </a:extLst>
              </p:cNvPr>
              <p:cNvSpPr txBox="1">
                <a:spLocks noRot="1" noChangeAspect="1" noMove="1" noResize="1" noEditPoints="1" noAdjustHandles="1" noChangeArrowheads="1" noChangeShapeType="1" noTextEdit="1"/>
              </p:cNvSpPr>
              <p:nvPr/>
            </p:nvSpPr>
            <p:spPr>
              <a:xfrm>
                <a:off x="4477535" y="3703638"/>
                <a:ext cx="4948826" cy="1189037"/>
              </a:xfrm>
              <a:prstGeom prst="rect">
                <a:avLst/>
              </a:prstGeom>
              <a:blipFill>
                <a:blip r:embed="rId7"/>
                <a:stretch>
                  <a:fillRect t="-4211" b="-1053"/>
                </a:stretch>
              </a:blipFill>
            </p:spPr>
            <p:txBody>
              <a:bodyPr/>
              <a:lstStyle/>
              <a:p>
                <a:r>
                  <a:rPr lang="en-VN">
                    <a:noFill/>
                  </a:rPr>
                  <a:t> </a:t>
                </a:r>
              </a:p>
            </p:txBody>
          </p:sp>
        </mc:Fallback>
      </mc:AlternateContent>
    </p:spTree>
    <p:extLst>
      <p:ext uri="{BB962C8B-B14F-4D97-AF65-F5344CB8AC3E}">
        <p14:creationId xmlns:p14="http://schemas.microsoft.com/office/powerpoint/2010/main" val="1840979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49720-5FBC-98DD-3C5F-ED097CED4116}"/>
              </a:ext>
            </a:extLst>
          </p:cNvPr>
          <p:cNvSpPr>
            <a:spLocks noGrp="1"/>
          </p:cNvSpPr>
          <p:nvPr>
            <p:ph type="title"/>
          </p:nvPr>
        </p:nvSpPr>
        <p:spPr/>
        <p:txBody>
          <a:bodyPr/>
          <a:lstStyle/>
          <a:p>
            <a:r>
              <a:rPr lang="en-VN"/>
              <a:t>2.2. Ex</a:t>
            </a:r>
          </a:p>
        </p:txBody>
      </p:sp>
      <p:sp>
        <p:nvSpPr>
          <p:cNvPr id="4" name="Slide Number Placeholder 3">
            <a:extLst>
              <a:ext uri="{FF2B5EF4-FFF2-40B4-BE49-F238E27FC236}">
                <a16:creationId xmlns:a16="http://schemas.microsoft.com/office/drawing/2014/main" id="{16B47B04-88AA-9DF9-98A0-77FF5D15EE55}"/>
              </a:ext>
            </a:extLst>
          </p:cNvPr>
          <p:cNvSpPr>
            <a:spLocks noGrp="1"/>
          </p:cNvSpPr>
          <p:nvPr>
            <p:ph type="sldNum" sz="quarter" idx="12"/>
          </p:nvPr>
        </p:nvSpPr>
        <p:spPr/>
        <p:txBody>
          <a:bodyPr/>
          <a:lstStyle/>
          <a:p>
            <a:fld id="{9663FB4D-4462-1148-A41B-A6D56F6F932D}" type="slidenum">
              <a:t>19</a:t>
            </a:fld>
            <a:endParaRPr lang="en-VN"/>
          </a:p>
        </p:txBody>
      </p:sp>
      <p:graphicFrame>
        <p:nvGraphicFramePr>
          <p:cNvPr id="5" name="Table 0">
            <a:extLst>
              <a:ext uri="{FF2B5EF4-FFF2-40B4-BE49-F238E27FC236}">
                <a16:creationId xmlns:a16="http://schemas.microsoft.com/office/drawing/2014/main" id="{46270AA6-9C0B-3D23-AC32-2F9CF4330FD3}"/>
              </a:ext>
            </a:extLst>
          </p:cNvPr>
          <p:cNvGraphicFramePr>
            <a:graphicFrameLocks noGrp="1"/>
          </p:cNvGraphicFramePr>
          <p:nvPr>
            <p:extLst>
              <p:ext uri="{D42A27DB-BD31-4B8C-83A1-F6EECF244321}">
                <p14:modId xmlns:p14="http://schemas.microsoft.com/office/powerpoint/2010/main" val="1541923772"/>
              </p:ext>
            </p:extLst>
          </p:nvPr>
        </p:nvGraphicFramePr>
        <p:xfrm>
          <a:off x="838200" y="1690688"/>
          <a:ext cx="4422732" cy="2438400"/>
        </p:xfrm>
        <a:graphic>
          <a:graphicData uri="http://schemas.openxmlformats.org/drawingml/2006/table">
            <a:tbl>
              <a:tblPr>
                <a:tableStyleId>{5940675A-B579-460E-94D1-54222C63F5DA}</a:tableStyleId>
              </a:tblPr>
              <a:tblGrid>
                <a:gridCol w="1854694">
                  <a:extLst>
                    <a:ext uri="{9D8B030D-6E8A-4147-A177-3AD203B41FA5}">
                      <a16:colId xmlns:a16="http://schemas.microsoft.com/office/drawing/2014/main" val="20000"/>
                    </a:ext>
                  </a:extLst>
                </a:gridCol>
                <a:gridCol w="1284019">
                  <a:extLst>
                    <a:ext uri="{9D8B030D-6E8A-4147-A177-3AD203B41FA5}">
                      <a16:colId xmlns:a16="http://schemas.microsoft.com/office/drawing/2014/main" val="20001"/>
                    </a:ext>
                  </a:extLst>
                </a:gridCol>
                <a:gridCol w="1284019">
                  <a:extLst>
                    <a:ext uri="{9D8B030D-6E8A-4147-A177-3AD203B41FA5}">
                      <a16:colId xmlns:a16="http://schemas.microsoft.com/office/drawing/2014/main" val="20002"/>
                    </a:ext>
                  </a:extLst>
                </a:gridCol>
              </a:tblGrid>
              <a:tr h="384048">
                <a:tc>
                  <a:txBody>
                    <a:bodyPr/>
                    <a:lstStyle/>
                    <a:p>
                      <a:pPr marL="0" indent="0">
                        <a:buNone/>
                      </a:pPr>
                      <a:r>
                        <a:rPr lang="en-US" sz="2600" b="1" dirty="0">
                          <a:latin typeface="Aptos" charset="0"/>
                          <a:ea typeface="Aptos" charset="0"/>
                          <a:cs typeface="Aptos" charset="0"/>
                        </a:rPr>
                        <a:t>ID</a:t>
                      </a:r>
                    </a:p>
                  </a:txBody>
                  <a:tcPr marL="73152" marR="73152" anchor="ctr"/>
                </a:tc>
                <a:tc>
                  <a:txBody>
                    <a:bodyPr/>
                    <a:lstStyle/>
                    <a:p>
                      <a:pPr marL="0" indent="0">
                        <a:buNone/>
                      </a:pPr>
                      <a:r>
                        <a:rPr lang="en-US" sz="2600" b="1" dirty="0">
                          <a:solidFill>
                            <a:srgbClr val="262626"/>
                          </a:solidFill>
                        </a:rPr>
                        <a:t>Score</a:t>
                      </a:r>
                      <a:endParaRPr lang="en-US" sz="2600" dirty="0">
                        <a:latin typeface="Aptos" charset="0"/>
                        <a:ea typeface="Aptos" charset="0"/>
                        <a:cs typeface="Aptos" charset="0"/>
                      </a:endParaRPr>
                    </a:p>
                  </a:txBody>
                  <a:tcPr marL="73152" marR="73152" anchor="ctr"/>
                </a:tc>
                <a:tc>
                  <a:txBody>
                    <a:bodyPr/>
                    <a:lstStyle/>
                    <a:p>
                      <a:pPr marL="0" indent="0">
                        <a:buNone/>
                      </a:pPr>
                      <a:r>
                        <a:rPr lang="en-US" sz="2600" b="1" dirty="0">
                          <a:solidFill>
                            <a:srgbClr val="262626"/>
                          </a:solidFill>
                          <a:latin typeface="Aptos" charset="0"/>
                          <a:ea typeface="Aptos" charset="0"/>
                          <a:cs typeface="Aptos" charset="0"/>
                        </a:rPr>
                        <a:t>Credits</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0"/>
                  </a:ext>
                </a:extLst>
              </a:tr>
              <a:tr h="384048">
                <a:tc>
                  <a:txBody>
                    <a:bodyPr/>
                    <a:lstStyle/>
                    <a:p>
                      <a:pPr marL="0" indent="0">
                        <a:buNone/>
                      </a:pPr>
                      <a:r>
                        <a:rPr lang="en-US" sz="2600" dirty="0">
                          <a:solidFill>
                            <a:srgbClr val="262626"/>
                          </a:solidFill>
                          <a:latin typeface="Aptos" charset="0"/>
                          <a:ea typeface="Aptos" charset="0"/>
                          <a:cs typeface="Aptos" charset="0"/>
                        </a:rPr>
                        <a:t>IT001</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8.5</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3</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1"/>
                  </a:ext>
                </a:extLst>
              </a:tr>
              <a:tr h="384048">
                <a:tc>
                  <a:txBody>
                    <a:bodyPr/>
                    <a:lstStyle/>
                    <a:p>
                      <a:pPr marL="0" indent="0">
                        <a:buNone/>
                      </a:pPr>
                      <a:r>
                        <a:rPr lang="en-US" sz="2600" dirty="0">
                          <a:solidFill>
                            <a:srgbClr val="262626"/>
                          </a:solidFill>
                          <a:latin typeface="Aptos" charset="0"/>
                          <a:ea typeface="Aptos" charset="0"/>
                          <a:cs typeface="Aptos" charset="0"/>
                        </a:rPr>
                        <a:t>IT002</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7.0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2</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2"/>
                  </a:ext>
                </a:extLst>
              </a:tr>
              <a:tr h="384048">
                <a:tc>
                  <a:txBody>
                    <a:bodyPr/>
                    <a:lstStyle/>
                    <a:p>
                      <a:pPr marL="0" indent="0">
                        <a:buNone/>
                      </a:pPr>
                      <a:r>
                        <a:rPr lang="en-US" sz="2600" dirty="0">
                          <a:solidFill>
                            <a:srgbClr val="262626"/>
                          </a:solidFill>
                          <a:latin typeface="Aptos" charset="0"/>
                          <a:ea typeface="Aptos" charset="0"/>
                          <a:cs typeface="Aptos" charset="0"/>
                        </a:rPr>
                        <a:t>IT003</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9.0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2</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3"/>
                  </a:ext>
                </a:extLst>
              </a:tr>
              <a:tr h="384048">
                <a:tc>
                  <a:txBody>
                    <a:bodyPr/>
                    <a:lstStyle/>
                    <a:p>
                      <a:pPr marL="0" indent="0">
                        <a:buNone/>
                      </a:pPr>
                      <a:r>
                        <a:rPr lang="en-US" sz="2600" dirty="0">
                          <a:solidFill>
                            <a:srgbClr val="262626"/>
                          </a:solidFill>
                          <a:latin typeface="Aptos" charset="0"/>
                          <a:ea typeface="Aptos" charset="0"/>
                          <a:cs typeface="Aptos" charset="0"/>
                        </a:rPr>
                        <a:t>ENG003</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8.0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3</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8634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2 · PHẦN LÝ THUYẾT 3/5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Vector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(1/k) · (x₁ + x₂ + ... + x_k)</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Vector trung bình của k đối tượng = cộng k vector rồi chia đều cho k, tính theo từng thành phần.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Đại diện cho "hồ sơ điển hình" (typical profile) của một nhóm/phân khúc dữ liệu.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Ứng dụng phổ biến: xây dựng "khách hàng mẫu" (customer persona) đại diện cho một phân khúc thị trường trong marketing.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Tính GPA có trọng số tín chỉ</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Sinh viên X học 4 môn trong một học kỳ:</a:t>
            </a:r>
            <a:endParaRPr lang="en-US" sz="15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669280" cy="1920240"/>
        </p:xfrm>
        <a:graphic>
          <a:graphicData uri="http://schemas.openxmlformats.org/drawingml/2006/table">
            <a:tbl>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Môn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Điểm</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Tín chỉ</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Toán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Văn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7.0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Anh văn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Tin học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GPA = Σ(điểmᵢ × tín chỉᵢ) / Σ(tín chỉᵢ)</a:t>
            </a:r>
            <a:endParaRPr lang="en-US" sz="13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Tử số chính là một tổ hợp tuyến tính của điểm, với hệ số là số tín chỉ từng môn.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(8.5×3 + 7.0×2 + 9.0×2 + 8.0×3) / (3+2+2+3)</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(25.5+14+18+24) / 10 = 81.5/10 = 8.15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Công thức GPA quen thuộc chính là một tổ hợp tuyến tính!</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2 · PHẦN LÝ THUYẾT 4/5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 hợp tuyến tính (linear combination)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v = c₁x₁ + c₂x₂ + ... + c_kx_k</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Tổng quát hóa của phép cộng và nhân scalar: kết hợp NHIỀU vector với các HỆ SỐ (trọng số) khác nhau cho từng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Vector trung bình là một trường hợp đặc biệt của tổ hợp tuyến tính khi mọi hệ số đều bằng 1/k.</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cᵢ càng lớn → vector xᵢ càng đóng góp nhiều vào kết quả tổng hợp v.</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2 · PHẦN LÝ THUYẾT 5/5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Ý nghĩa của hệ số trong tổ hợp tuyến tính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dương: đặc trưng đó đóng góp CÙNG chiều vào kết quả; hệ số âm: đóng góp NGƯỢC chiều.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tổng các hệ số bằng 1, ta có tổ hợp "lồi" (convex combination) — thường dùng khi muốn kết quả nằm trong phạm vi hợp lý của dữ liệu gốc.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Thay đổi hệ số → thay đổi mức độ ưu tiên của mô hình. Đây chính là khái niệm "trọng số" (weight) sẽ theo sinh viên xuyên suốt phần còn lại của môn học.</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 hợp tuyến tính trong đời sống và các ngành khoa học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 Chỉ số giá tiêu dùng (CPI)</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CPI được tính bằng tổ hợp tuyến tính có trọng số của giá các nhóm hàng hóa trong "rổ hàng hóa" tiêu dùng (lương thực, nhà ở, giao thông,...); trọng số phản ánh tỷ trọng chi tiêu thực tế của hộ gia đình cho từng nhóm.</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Giáo dục — Điểm trung bình tích lũy (GPA có trọng số tín chỉ)</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GPA = tổ hợp tuyến tính của điểm từng môn học, với hệ số là số tín chỉ của môn đó — môn nhiều tín chỉ ảnh hưởng đến GPA nhiều hơn môn ít tín chỉ.</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Các chỉ số tổng hợp (Composite Index)</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Nhiều chỉ số quốc tế như Chỉ số Dân chủ (Democracy Index) hay Chỉ số Cảm nhận Tham nhũng (Corruption Perceptions Index) được xây dựng bằng cách tổng hợp có trọng số nhiều tiêu chí thành phần khác nhau.</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Điểm ưu tiên chăm sóc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score = 0.1·lượt_xem + 0.3·lượt_nhấp + 0.4·chi_tiêu + 0.2·mức_tương_tác</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Khách hàng A có: lượt_xem=45, lượt_nhấp=6, chi_tiêu=3.2, mức_tương_tác=7.5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score_A = 0.1(45) + 0.3(6) + 0.4(3.2) + 0.2(7.5) = 4.5 + 1.8 + 1.28 + 1.5 = 9.08</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Trọng số 0.4 cho chi_tiêu thể hiện lựa chọn: doanh nghiệp ưu tiên khách hàng CHI TIÊU NHIỀU khi phân bổ nguồn lực chăm sóc khách hàng.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Đổi trọng số → đổi triết lý kinh doanh: nếu đổi trọng số cao nhất sang mức_tương_tác, doanh nghiệp đang ưu tiên khách hàng GẮN BÓ hơn là khách hàng chi nhiều tiền.</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vector trung bình của một phân khúc khách hàng và điểm khách hàng có trọng số bằng NumPy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Tiếp tục dùng bộ 200 khách hàng đã tạo ở buổi 1</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thực hiện phép toán vector hóa (vectorization), không dùng vòng lặp for</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Hồ sơ trung bình của một phân khúc; bảng điểm khách hàng theo 2 bộ trọng số khác nhau</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Xác định phân khúc &amp; tính vector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Lọc khách hàng theo điều kiện (ví dụ chi_tieu &gt; median) bằng pandas boolean indexing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trung bình từng cột bằng df.mean() — đây chính là vector trung bình theo từng thành phần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vector trung bình của 2 phân khúc khác nhau (chi tiêu cao vs chi tiêu thấp)</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2"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điểm có trọng số bằng phép nhân ma trận-vector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các cột cần dùng thành ma trận X (nhiều khách hàng × nhiều đặc trưng)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Định nghĩa vector trọng số w dưới dạng NumPy array</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điểm cho TẤT CẢ khách hàng cùng lúc bằng X @ w — bước đệm chuẩn bị cho khái niệm nhân ma trận ở buổi 6</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diem = X @ w</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2"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khi thay đổi trọng số</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Định nghĩa bộ trọng số thứ hai w2, tính lại điểm cho toàn bộ khách hàng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Sắp xếp và so sánh top-10 khách hàng theo 2 bộ trọng số khác nhau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Trực quan hóa bằng biểu đồ cột so sánh song song hai bộ điểm</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2"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Xây dựng chỉ số tổng hợp của riêng bạn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Chọn một lĩnh vực bạn quan tâm (thể thao, âm nhạc, phim ảnh, ẩm thực,...)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Xác định 3-4 tiêu chí đánh giá và gán trọng số cho từng tiêu chí (tổng trọng số = 1)</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tổng hợp cho 3 đối tượng cụ thể (ví dụ 3 cầu thủ, 3 bộ phim) bằng công thức tổ hợp tuyến tính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trọng số bạn chọn có phản ánh đúng thứ tự ưu tiên cá nhân của bạn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Đánh giá hiệu suất KOL/Influencer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KOL có: follower=50,000, tỷ lệ tương tác=4.5%, số bài đăng/tháng=20, tỷ lệ phản hồi bình luận=80%</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một công thức tổ hợp tuyến tính ("điểm KOL") từ các chỉ số trên với bộ trọng số hợp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Giải thích lý do chọn trọng số: chỉ số nào nên quan trọng nhất khi lựa chọn KOL cho một chiến dịch quảng cáo sản phẩm mới?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vô tình đặt TẤT CẢ trọng số bằng nhau khi tính điểm tổng hợp, kết quả có còn phản ánh đúng "ưu tiên" không? Khi nào nên dùng trọng số bằng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Chỉ số CPI hay GPA đều là tổ hợp tuyến tính — nhưng ai là người QUYẾT ĐỊNH trọng số? Việc chọn trọng số có mang tính chủ quan hay thậm chí chính trị không? Cho ví dụ.</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trọng số trong công thức điểm khách hàng bị đặt SAI DẤU (dương thay vì âm), điều gì sẽ xảy ra với thứ hạng khách hàng?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vector trung bình cho phân khúc "chi tiêu thấp" và so sánh với phân khúc "chi tiêu cao".</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Tự chọn một bộ trọng số w3 khác, giải thích ý nghĩa lựa chọn, tính điểm và so sánh với w1, w2.</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Vẽ biểu đồ so sánh top-10 khách hàng theo 2 bộ trọng số (dùng notebook thực hành).</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Cộng/trừ vector thực hiện theo từng thành phần và cần hai vector cùng số chiều.
• Tổ hợp tuyến tính v=c1x1+...+ckxk là công cụ tổng hợp nhiều vector với các mức ưu tiên (trọng số) khác nhau.
• Tổ hợp tuyến tính xuất hiện khắp nơi ngoài đời sống: CPI, GPA, các chỉ số tổng hợp trong kinh tế và xã hội.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vector trung bình và điểm có trọng số, vận dụng vào bài toán khách hàng thực tế.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Tích vô hướng (dot product) — chính là phép tính đứng sau tổ hợp tuyến tính hôm nay — và công thức z=wᵀx+b sẽ là nền tảng của MỌI mô hình tuyến tính trong suốt phần còn lại của môn học.</a:t>
            </a:r>
            <a:endParaRPr lang="en-US" sz="17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2084832"/>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Phép toán vector, tổ hợp tuyến tính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&amp; ví dụ</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2: Phép toán vector và tổ hợp tuyến tính</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3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Tích vô hướng và mô hình tính điểm</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tích vô hướng và công thức z = wᵀx + b; áp dụng để tính điểm tiềm năng/nguy cơ của một đối tượng từ nhiều đặc trưng có trọng số.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2: Phép toán vector và tổ hợp tuyến tính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2: tổ hợp tuyến tính v = c1x1 + c2x2 + ... + ckxk — kết hợp NHIỀU VECTOR với các hệ số khác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Vector trung bình là trường hợp đặc biệt khi mọi hệ số bằng 1/k.</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nếu chỉ có MỘT vector đặc trưng (một khách hàng) nhưng muốn tính MỘT điểm số duy nhất từ nhiều đặc trưng của người đó thì sao?</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Tích vô hướng &amp; công thức z=wᵀx+b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Ý nghĩa trọng số &amp; độ nhạy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nhiều vector đến một điểm số duy nhất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2 kết hợp NHIỀU VECTOR (nhiều khách hàng) thành một vector trung bình.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đặt câu hỏi ngược lại: với MỘT khách hàng (một vector x) có nhiều đặc trưng, làm sao tính ra MỘT con số duy nhất thể hiện "điểm" của người đó?</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Ví dụ thực tế: điểm tín dụng ngân hàng, điểm nguy cơ bệnh tật, điểm xét tuyển đại học — tất cả đều là MỘT con số tổng hợp từ NHIỀU yếu tố đầu vào.</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Công cụ toán học cho bài toán này chính là TÍCH VÔ HƯỚNG (dot product).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3 · PHẦN LÝ THUYẾT 1/5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Định nghĩa tích vô hướng (dot product)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y = Σ xᵢyᵢ = x₁y₁ + x₂y₂ + ... + xₙyₙ</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Tích vô hướng của hai vector CÙNG SỐ CHIỀU cho ra một SỐ THỰC duy nhất (không phải một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Cách tính: nhân từng cặp thành phần tương ứng của hai vector rồi cộng tất cả kết quả lại.</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Ký hiệu khác thường gặp: x·y hoặc xᵀy (dạng ma trận — sẽ gặp lại ở buổi 5-6).</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Có thể xem tích vô hướng là một tổ hợp tuyến tính ĐẶC BIỆT của buổi 2, trong đó các hệ số cᵢ chính là các thành phần yᵢ.</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3 · PHẦN LÝ THUYẾT 2/5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tổng quát: z = wᵀx + b</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wᵀx + b = w₁x₁ + w₂x₂ + ... + wₙxₙ + 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 là vector TRỌNG SỐ (weight) — thể hiện mức độ quan trọng của từng đặc trưng.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là vector ĐẶC TRƯNG của đối tượng cần tính điểm (khách hàng, hồ sơ vay, bệnh nhân,...).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 là hệ số điều chỉnh (bias/intercept) — giá trị "nền" của z khi mọi đặc trưng bằng 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công thức NỀN TẢNG của gần như mọi mô hình tuyến tính sẽ học trong môn: logistic regression (buổi 4), neural network (buổi 7-8), hồi quy (buổi 12-14).</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3 · PHẦN LÝ THUYẾT 3/5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Ý nghĩa của từng trọng số wᵢ</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wᵢ dương và lớn: đặc trưng xᵢ ảnh hưởng MẠNH và CÙNG CHIỀU đến z (xᵢ tăng → z tăng).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wᵢ âm: đặc trưng xᵢ ảnh hưởng NGƯỢC CHIỀU đến z (xᵢ tăng → z giảm).</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wᵢ ≈ 0: đặc trưng xᵢ gần như KHÔNG ảnh hưởng đến kết quả z.</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 dịch chuyển toàn bộ kết quả lên hoặc xuống, không phụ thuộc vào giá trị của x.</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3 · PHẦN LÝ THUYẾT 4/5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Độ nhạy (sensitivity) của z theo từng trọng số</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xᵢ tăng thêm đúng 1 đơn vị (các đặc trưng khác giữ nguyên), z thay đổi đúng bằng wᵢ.</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gọi là "hiệu ứng biên" (marginal effect) — khái niệm quan trọng trong kinh tế lượng và khoa học xã hội định lượng.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Ứng dụng thực tế: giúp diễn giải mô hình theo ngôn ngữ tự nhiên, ví dụ "mỗi 1 điểm tăng thêm ở mức độ tương tác làm điểm khách hàng tăng thêm 0.2".</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3 · PHẦN LÝ THUYẾT 5/5</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tính điểm một đối tượng đến mô hình dự đoán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 chính là bước tính toán ĐẦU TIÊN của hầu hết các mô hình học máy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4: z sẽ được đưa qua hàm sigmoid để trở thành một XÁC SUẤT (logistic regression).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 chính z (không qua sigmoid) sẽ là GIÁ TRỊ DỰ ĐOÁN trực tiếp trong hồi quy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6-7: z sẽ được tính ĐỒNG THỜI cho nhiều đối tượng, nhiều đầu ra bằng phép nhân ma trận.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z = wᵀx + b trong các mô hình đánh giá và dự báo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Tài chính - Ngân hàng — Điểm tín dụng (Credit Score)</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chấm điểm tín dụng (như FICO Score) tính một điểm số duy nhất bằng tổ hợp có trọng số của lịch sử thanh toán, tỷ lệ nợ/thu nhập, độ dài lịch sử tín dụng,... — về bản chất là công thức z=wᵀx+b.</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khoa — Thang điểm nguy cơ lâm sàng</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Nhiều thang điểm y khoa (ví dụ thang điểm nguy cơ tim mạch Framingham) tính điểm nguy cơ bệnh bằng tổ hợp có trọng số của tuổi, huyết áp, cholesterol và các yếu tố khác.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Giáo dục — Điểm xét tuyển đại học</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Điểm xét tuyển thường kết hợp điểm thi các môn theo khối xét tuyển (có hệ số/trọng số khác nhau tùy ngành) cộng thêm điểm ưu tiên khu vực/đối tượng — một dạng z=wᵀx+b với b là điểm ưu tiên.</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Thang điểm nguy cơ sức khỏe (minh họa đơn giản hóa)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Mô hình minh họa (số liệu mang tính giáo dục, KHÔNG phải công thức y khoa chính thức):</a:t>
            </a:r>
            <a:endParaRPr lang="en-US" sz="1550" dirty="0"/>
          </a:p>
        </p:txBody>
      </p:sp>
      <p:sp>
        <p:nvSpPr>
          <p:cNvPr id="6" name="Text 4"/>
          <p:cNvSpPr/>
          <p:nvPr/>
        </p:nvSpPr>
        <p:spPr>
          <a:xfrm>
            <a:off x="457200" y="230428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risk = 0.04·tuổi + 0.03·huyết_áp − 0.05·HDL_cholesterol − 2</a:t>
            </a:r>
            <a:endParaRPr lang="en-US" sz="1300" dirty="0"/>
          </a:p>
        </p:txBody>
      </p:sp>
      <p:sp>
        <p:nvSpPr>
          <p:cNvPr id="7" name="Text 5"/>
          <p:cNvSpPr/>
          <p:nvPr/>
        </p:nvSpPr>
        <p:spPr>
          <a:xfrm>
            <a:off x="457200" y="3264408"/>
            <a:ext cx="1124712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Bệnh nhân: tuổi=55, huyết_áp=140, HDL=45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risk = 0.04(55) + 0.03(140) − 0.05(45) − 2 = 2.2+4.2−2.25−2 = 2.15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Trọng số dương cho tuổi/huyết áp: nguy cơ TĂNG theo hai yếu tố này.</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Trọng số âm cho HDL (cholesterol "tốt"): HDL càng cao, nguy cơ càng GIẢM.</a:t>
            </a:r>
            <a:endParaRPr lang="en-US" sz="1550" dirty="0"/>
          </a:p>
        </p:txBody>
      </p:sp>
      <p:sp>
        <p:nvSpPr>
          <p:cNvPr id="9"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10"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Điểm nguy cơ rời bỏ dịch vụ (churn risk)</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z = −0.02·tuổi −0.01·thu_nhập −0.03·lượt_xem +0.10·lượt_nhấp −0.05·chi_tiêu −0.20·tương_tác + 5</a:t>
            </a:r>
            <a:endParaRPr lang="en-US" sz="12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Khách hàng có mức_tương_tác THẤP → trọng số −0.20 (âm, hệ số lớn) khiến z TĂNG mạnh → nguy cơ rời bỏ cao.</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Khách hàng chi_tiêu CAO → trọng số −0.05 khiến z GIẢM → nguy cơ rời bỏ thấp hơn.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Đây chính là mô hình sẽ cài đặt trong lab hôm nay bằng NumPy.</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Cài đặt hàm tính z = wᵀx + b bằng NumPy, áp dụng cho một khách hàng và cho nhiều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200 khách hàng quen thuộc, 6 đặc trưng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dùng np.dot() hoặc toán tử @ để tính tích vô hướng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điểm nguy cơ rời bỏ của 200 khách hàng; phân tích độ nhạy theo từng trọng số</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Cài đặt công thức z = wᵀx + b cho một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Định nghĩa vector trọng số w và bias b theo ví dụ đã học</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Lấy vector đặc trưng x của một khách hàng cụ thể</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z bằng np.dot(w, x) + b và so sánh với cách tính thủ công</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 = np.dot(w, x) + b</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3"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Mở rộng: tính z cho TẤT CẢ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vòng lặp for để tính z cho từng khách hàng một (cách làm "chậm", sẽ cải tiến ở buổi 6)</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Lưu kết quả vào một cột mới trong DataFrame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Sắp xếp và liệt kê top-10 khách hàng có z (nguy cơ rời bỏ) cao nhất</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Phân tích độ nhạy theo từng trọng số</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Chọn một khách hàng cụ thể, tính z gốc</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Lần lượt nhân đôi từng trọng số wᵢ (giữ nguyên các trọng số khác), tính lại z và ghi nhận Δz</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Xếp hạng các đặc trưng theo mức độ ảnh hưởng (|Δz|) — đặc trưng nào "nhạy" nhất?</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Xây dựng thang điểm xét tuyển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một ngành đại học xét tuyển dựa trên: điểm Toán, điểm Văn, điểm Anh, điểm ưu tiên khu vực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bộ trọng số w hợp lý (ngành Truyền thông có thể ưu tiên Văn/Anh hơn Toán) và bias b (điểm ưu tiên)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xét tuyển cho 2 thí sinh giả định và so sánh kết quả</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Mô hình chấm điểm tiềm năng viral của nội dung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bài đăng có: số lượt chia sẻ trong giờ đầu, độ dài caption, có ảnh/video hay không (0/1), giờ đăng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công thức z = wᵀx + b dự đoán "tiềm năng viral" và giải thích dấu của từng trọng số</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Thử tính z cho 2 bài đăng khác nhau và so sánh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ngân hàng dùng một mô hình z=wᵀx+b để chấm điểm tín dụng, và một trong các đặc trưng x vô tình liên quan đến khu vực sinh sống (có thể tương quan với chủng tộc/thu nhập vùng miền) — điều gì có thể xảy ra? Đây có phải là vấn đề đạo đức AI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Giữa việc có 10 đặc trưng với trọng số nhỏ và 3 đặc trưng với trọng số lớn, mô hình nào dễ DIỄN GIẢI hơn cho người không chuyên? Vì sao điều này quan trọng trong truyền thông?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bias b rất lớn so với phần wᵀx, mô hình có còn phân biệt tốt giữa các đối tượng khác nhau không?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Đặt b = 0, tính lại z cho toàn bộ khách hàng, vẽ histogram so sánh phân phối z trước/sau.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Xác định đặc trưng có ảnh hưởng lớn nhất đến z dựa trên phân tích độ nhạy đã làm trong lab.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Đề xuất một bộ trọng số khác cho bài toán "tính điểm tiềm năng mua hàng" (không phải nguy cơ rời bỏ) và giải thích lý do chọn dấu của từng trọng số.</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Tích vô hướng x·y = Σxᵢyᵢ biến hai vector cùng chiều thành MỘT số thực.
• z = wᵀx + b là công thức nền tảng sẽ xuất hiện lại xuyên suốt môn học dưới nhiều tên gọi khác nhau.
• Dấu và độ lớn của mỗi trọng số wᵢ cho biết chiều và mức độ ảnh hưởng của đặc trưng tương ứng đến kết quả z.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z=wᵀx+b và diễn giải được ý nghĩa của từng trọng số trong bối cảnh thực tế.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Logistic Regression — đưa z vừa học qua hàm sigmoid để biến thành XÁC SUẤT, giải quyết bài toán phân loại nhị phân (có/không, mua/không mua) rất phổ biến trong truyền thông và marketing.</a:t>
            </a:r>
            <a:endParaRPr lang="en-US" sz="17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Tích vô hướng, z=wᵀx+b</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Ý nghĩa trọng số &amp; độ nhạy</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3: Tích vô hướng và mô hình tính điểm</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4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Logistic regression và phân loại nhị phân</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bài toán phân loại nhị phân và hàm sigmoid; áp dụng logistic regression để dự đoán hành vi khách hàng và thảo luận vấn đề đạo đức thuật toán.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3: Tích vô hướng và mô hình tính điểm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3: z = wᵀx + b tính ra một số thực bất kỳ, thể hiện 'điểm' của một đối tượng dựa trên nhiều đặc trưng có trọng số.</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z có thể âm, dương, hoặc rất lớn/rất nhỏ — chưa có giới hạn rõ ràng.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nhiều bài toán thực tế cần câu trả lời XÁC SUẤT trong khoảng [0,1] (vd: khả năng khách hàng mua hàng là 73%) — làm sao chuyển z thành xác suất?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Hàm sigmoid &amp; xác suất dự đoán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Logistic regression &amp; ngưỡng phân loại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đạo đức thuật toán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điểm số đến xác suất: bài toán phân loại nhị phân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Rất nhiều câu hỏi trong truyền thông/marketing có dạng CÓ/KHÔNG: khách hàng có nhấp quảng cáo không? Có mua sản phẩm không? Có rời bỏ dịch vụ không?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gọi là bài toán PHÂN LOẠI NHỊ PHÂN (binary classification) — chỉ có 2 lớp kết quả (0 hoặc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z = wᵀx + b ở buổi 3 chưa đủ: z có thể là bất kỳ số thực nào (−∞ đến +∞), trong khi ta cần một XÁC SUẤT nằm trong [0,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Cần một hàm số "nén" z về khoảng [0,1] — đó là hàm SIGMOID, và khi kết hợp với z=wᵀx+b ta có mô hình LOGISTIC REGRESSION.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Hàm kích hoạt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σ(z) = 1 / (1 + e^(−z))</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Hàm sigmoid nhận đầu vào là MỘT SỐ THỰC BẤT KỲ z và trả về một giá trị luôn nằm trong khoảng (0,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z = 0 → σ(z) = 0.5 (điểm "cân bằng", không nghiêng về lớp nào).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z rất lớn (dương) → σ(z) tiến gần 1; khi z rất nhỏ (âm) → σ(z) tiến gần 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Hình dạng đồ thị chữ S đặc trưng (S-curve) — quen thuộc trong nhiều mô hình tăng trưởng ở sinh học và xã hội học.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Logistic Regression: kết hợp z và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σ(z) = σ(wᵀx + b) = 1 / (1 + e^(−(wᵀx+b)))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 tính z=wᵀx+b (buổi 3) rồi đưa qua hàm sigmoid để có xác suất dự đoán ŷ.</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được diễn giải là XÁC SUẤT đối tượng thuộc lớp 1 (ví dụ: xác suất khách hàng sẽ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Mặc dù tên gọi có chữ "regression" (hồi quy), đây thực chất là một mô hình PHÂN LOẠI — điểm dễ gây nhầm lẫn cần lưu ý.</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Ngưỡng phân loại (decision threshold)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ngưỡng  →  dự đoán lớp 1;   ŷ &lt; ngưỡng  →  dự đoán lớp 0</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Ngưỡng mặc định thường là 0.5, nhưng có thể điều chỉnh tùy bài toán.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Hạ ngưỡng (vd: 0.3): mô hình dự đoán lớp 1 ("sẽ mua"/"sẽ mắc bệnh") DỄ DÀNG hơn — bắt được nhiều trường hợp thật hơn nhưng cũng báo động giả nhiều hơn.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Tăng ngưỡng (vd: 0.7): mô hình "thận trọng" hơn, chỉ dự đoán lớp 1 khi rất chắc chắn.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Lựa chọn ngưỡng phụ thuộc vào CHI PHÍ của từng loại sai lầm trong bài toán thực tế.</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Odds và Log-odds (mở rộng)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log( ŷ / (1−ŷ) ) = z = wᵀx + 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"Odds" (tỷ số cược) = ŷ/(1−ŷ) — cách diễn giải xác suất quen thuộc trong cá cược và dịch tễ học.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thực chất mô hình hóa LOG-ODDS như một hàm TUYẾN TÍNH của x — đây là lý do có tên gọi "linear model" dù đầu ra không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dịch tễ học, hệ số hồi quy logistic thường được báo cáo dưới dạng "odds ratio" = e^wᵀ.</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Logistic Regression trong khoa học xã hội, y tế và... vấn đề đạo đức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Dịch tễ học — Dự đoán nguy cơ mắc bệnh</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Logistic regression là công cụ chuẩn mực trong nghiên cứu dịch tễ để ước lượng nguy cơ mắc bệnh dựa trên các yếu tố nguy cơ (hút thuốc, tuổi, tiền sử gia đình,...), báo cáo kết quả dưới dạng "odds ratio".</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Dự đoán hành vi bỏ phiếu</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dự báo bầu cử thường dùng logistic regression để ước lượng xác suất một cử tri sẽ bỏ phiếu cho một ứng viên, dựa trên đặc điểm nhân khẩu học và khảo sát.</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Tư pháp hình sự — Công cụ đánh giá rủi ro (và tranh cãi đạo đức)</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số hệ thống tư pháp từng dùng các mô hình tương tự logistic regression (như COMPAS ở Mỹ) để ước lượng nguy cơ tái phạm — gây tranh cãi lớn về THIÊN VỊ THUẬT TOÁN (algorithmic bias) khi mô hình học phải các định kiến có sẵn trong dữ liệu lịch sử.</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Dự đoán khả năng sinh viên bỏ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z = 0.02·điểm_TB − 0.15·số_buổi_vắng − 0.01·khoảng_cách_nhà(km) + 1</a:t>
            </a:r>
            <a:endParaRPr lang="en-US" sz="125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Sinh viên có điểm TB=6.5, vắng 8 buổi, nhà cách trường 15km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z = 0.02(6.5) − 0.15(8) − 0.01(15) + 1 = 0.13 − 1.2 − 0.15 + 1 = −0.22</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σ(−0.22) ≈ 0.445 → xác suất bỏ học ước tính ~44.5%, thuộc nhóm cần được hỗ trợ, tư vấn sớm.</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Dự đoán khách hàng nhấp quảng cáo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0.05·lượt_xem + 0.35·mức_tương_tác − 0.02·thu_nhập − 3</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Khách hàng: lượt_xem=45, mức_tương_tác=7.5, thu_nhập=15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z = 0.05(45)+0.35(7.5)−0.02(15)−3 = 2.25+2.625−0.3−3 = 1.575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σ(1.575) ≈ 0.83 → 83% khả năng khách hàng này sẽ nhấp vào quảng cáo — nên ưu tiên nhắm mục tiêu (targeting).</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Cài đặt hàm sigmoid và mô hình logistic regression bằng NumPy; thử nghiệm với nhiều ngưỡng phân loại</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200 khách hàng, có sẵn nhãn nhap_quang_cao (0/1) để đối chiếu độ chính xác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để cài đặt thủ công; (tùy chọn nâng cao) scikit-learn để so sánh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xác suất dự đoán cho từng khách hàng; so sánh accuracy ở 3 mức ngưỡng khác nhau</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Cài đặt hàm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hàm sigmoid bằng NumPy — lưu ý dùng np.exp() để hàm hoạt động trên cả một mảng số</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đồ thị hàm sigmoid bằng Matplotlib để kiểm chứng hình dạng chữ S</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def sigmoid(z): return 1 / (1 + np.exp(-z))</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4"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xác suất dự đoán cho toàn bộ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Định nghĩa trọng số w và bias b theo ví dụ đã học</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z cho từng khách hàng (dùng vòng lặp for — sẽ tối ưu ở buổi 6), sau đó áp dụng sigmoid</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Lưu xác suất dự đoán vào một cột mới trong DataFrame</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accuracy ở nhiều mức ngưỡng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mỗi ngưỡng trong {0.3, 0.5, 0.7}: tính dự đoán lớp (0/1), so sánh với nhãn thật nhap_quang_cao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accuracy = tỷ lệ dự đoán đúng cho từng ngưỡng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Nhận xét: ngưỡng nào cho accuracy cao nhất? Đánh đổi gì khi thay đổi ngưỡng?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cảnh báo sớm sinh viên có nguy cơ bỏ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công thức ở phần ví dụ liên ngành, tính xác suất bỏ học cho 3 sinh viên với hồ sơ khác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ngưỡng phù hợp để hệ thống "cảnh báo" — nên thấp hay cao? Vì sao (liên hệ đến chi phí bỏ sót một sinh viên cần hỗ trợ)?</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Tối ưu ngân sách quảng cáo bằng ngưỡng xác suất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chiến dịch có ngân sách chỉ đủ tiếp cận 20% khách hàng tiềm năng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cách dùng xác suất dự đoán (ŷ) để chọn đúng 20% khách hàng nên nhắm mục tiêu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cách này có công bằng với các khách hàng bị loại không? Có rủi ro thiên vị nào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Chấm điểm rủi ro tín dụng (Credit Scoring) bằng logistic regression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Các tổ chức tài chính dùng logistic regression để dự đoán xác suất một khoản vay bị vỡ nợ, từ các đặc trưng như thu nhập, lịch sử trả nợ, tỷ lệ nợ/thu nhập — mô hình nền tảng của điểm FICO score tại Hoa Kỳ</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trọng số w giả lập của 2 đặc trưng (thu nhập, tỷ lệ nợ/thu nhập), tính xác suất vỡ nợ cho một hồ sơ vay cụ thể</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mô hình học từ dữ liệu lịch sử có sẵn thiên vị (ví dụ ưu ái một nhóm nhân khẩu học), hậu quả xã hội có thể là gì?</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Trong bài toán dự đoán bỏ học, sai lầm nào "tốn kém" hơn: dự đoán một sinh viên sẽ bỏ học nhưng thực ra không (false positive), hay bỏ sót một sinh viên thực sự có nguy cơ (false negative)? Ngưỡng nên chọn cao hay thấp?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mô hình logistic regression học từ dữ liệu lịch sử có chứa định kiến (ví dụ khu vực nghèo bị từ chối vay nhiều hơn trong quá khứ), mô hình có lặp lại định kiến đó không? Làm sao phát hiện và giảm thiểu?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gọi là "logistic REGRESSION" dù bài toán là phân loại? Tên gọi này có gây hiểu lầm không?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Thử một ngưỡng phân loại khác (ví dụ 0.4) — accuracy thay đổi thế nào? Số dự đoán sai loại nào tăng/giảm?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Áp dụng logistic regression tương tự để dự đoán khả năng khách hàng RỜI BỎ dịch vụ (tự định nghĩa trọng số hợp lý).</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(nâng cao):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Dùng sklearn.linear_model.LogisticRegression để HỌC trọng số từ dữ liệu thật và so sánh với trọng số tự đặt.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Sigmoid σ(z) = 1/(1+e⁻ᶻ) nén mọi số thực về khoảng (0,1), phù hợp biểu diễn xác suất.
• Logistic regression = z=wᵀx+b (buổi 3) + sigmoid — mô hình PHÂN LOẠI, không phải hồi quy giá trị liên tục.
• Ngưỡng phân loại là một lựa chọn có ý nghĩa thực tế và đạo đức, không chỉ là tham số toán học.
</a:t>
            </a:r>
            <a:r>
              <a:rPr lang="en-US" sz="1550" b="1" dirty="0">
                <a:solidFill>
                  <a:srgbClr val="262626"/>
                </a:solidFill>
                <a:latin typeface="Aptos" pitchFamily="34" charset="0"/>
                <a:ea typeface="Aptos" pitchFamily="34" charset="-122"/>
                <a:cs typeface="Aptos" pitchFamily="34" charset="-120"/>
              </a:rPr>
              <a:t>Checklist CLO G2.1, G2.2: </a:t>
            </a:r>
            <a:r>
              <a:rPr lang="en-US" sz="1550" dirty="0">
                <a:solidFill>
                  <a:srgbClr val="262626"/>
                </a:solidFill>
                <a:latin typeface="Aptos" pitchFamily="34" charset="0"/>
                <a:ea typeface="Aptos" pitchFamily="34" charset="-122"/>
                <a:cs typeface="Aptos" pitchFamily="34" charset="-120"/>
              </a:rPr>
              <a:t>Sinh viên cài đặt được sigmoid và logistic regression, hiểu và vận dụng được khái niệm ngưỡng phân loại.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Ma trận — cách tổ chức dữ liệu của NHIỀU khách hàng cùng lúc thành một bảng số duy nhất, chuẩn bị nền tảng để tính z cho hàng trăm khách hàng chỉ bằng MỘT phép tính (buổi 6).</a:t>
            </a:r>
            <a:endParaRPr lang="en-US" sz="17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Sigmoid, logistic regression, ngưỡng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&amp; đạo đức thuật toán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5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Ma trận và biểu diễn tập dữ liệu</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khái niệm ma trận và quy ước tổ chức dữ liệu dạng bảng cho nhiều đối tượng cùng lúc.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4: Logistic regression và phân loại nhị phân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3-4: với MỘT khách hàng (một vector x), ta tính z=wᵀx+b rồi qua sigmoid để có xác suất dự đoán.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Nhưng thực tế cần tính z cho HÀNG TRĂM, HÀNG NGÀN khách hàng cùng lúc — làm từng người một (vòng lặp for) rất chậm.</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làm sao gộp nhiều vector khách hàng thành MỘT cấu trúc dữ liệu duy nhất để tính toán đồng loạt?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Khái niệm ma trận, kích thước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Ma trận dữ liệu &amp; chuyển vị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một vector đến một bảng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200 khách hàng, mỗi người một vector 6 chiều — về bản chất đây chính là một BẢNG DỮ LIỆU quen thuộc (giống một file Excel/CSV).</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Trong đại số tuyến tính, một bảng số có nhiều hàng và nhiều cột được gọi là MA TRẬN (matrix).</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Ma trận là bước mở rộng tự nhiên của vector: vector là một "hàng" hoặc "cột" số; ma trận là TẬP HỢP NHIỀU vector xếp lại với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Việc tổ chức dữ liệu đúng cách bằng ma trận là bước chuẩn bị bắt buộc để buổi 6 có thể tính toán cho hàng trăm khách hàng chỉ bằng MỘT phép nhân duy nhất.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5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Khái niệm ma trận, hàng, cột và kích thước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ℝ^(m×n)   (m hàng, n cột)</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 trận là một bảng số chữ nhật, gồm m HÀNG (row) và n CỘT (column).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Kích thước của ma trận được viết là m×n — luôn ghi SỐ HÀNG trước, SỐ CỘT sau (quy ước cần nhớ chính xác).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phần tử trong ma trận được xác định bằng vị trí (hàng i, cột j), ký hiệu Xᵢⱼ.</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Một vector thực chất là trường hợp đặc biệt của ma trận: vector cột là ma trận n×1, vector hàng là ma trận 1×n.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5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dữ liệu (data matrix)</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 trận dữ liệu là cách tổ chức TOÀN BỘ tập dữ liệu thành một ma trận duy nhất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Quy ước CHUẨN (sẽ dùng xuyên suốt môn học): mỗi HÀNG là một đối tượng (khách hàng, chiến dịch,...), mỗi CỘT là một đặc trưng.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200 khách hàng, 6 đặc trưng → ma trận dữ liệu X có kích thước 200×6.</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quy ước phổ biến nhất trong khoa học dữ liệu (pandas DataFrame, scikit-learn đều theo quy ước hàng=mẫu, cột=đặc trưng).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5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Chuyển vị ma trận (transpose)</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(Xᵀ)ᵢⱼ = Xⱼᵢ</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Chuyển vị hoán đổi vai trò hàng ↔ cột: ma trận X kích thước m×n sau khi chuyển vị Xᵀ có kích thước n×m.</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Phần tử ở hàng i cột j của Xᵀ chính là phần tử ở hàng j cột i của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Ý nghĩa thực tế: nếu X có "mỗi hàng là 1 khách hàng", thì Xᵀ có "mỗi hàng là 1 đặc trưng, mỗi cột là 1 khách hàng" — hai cách nhìn khác nhau trên CÙNG một dữ liệu.</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5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Phân biệt một vector và một ma trận (tập nhiều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(một khách hàng) là MỘT vector, kích thước (6,) trong NumPy — không có khái niệm hàng/cột rõ ràng.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(200 khách hàng) là MỘT ma trận, kích thước (200,6) — có 2 chiều rõ ràng: hàng và cột.</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lỗi sinh viên rất hay gặp khi lập trình: nhầm lẫn giữa mảng 1 chiều (vector) và mảng 2 chiều (ma trận) trong NumPy.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Cách kiểm tra nhanh trong Python: dùng .shape — vector cho ra (n,), ma trận cho ra (m,n).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trong kinh tế học, ngôn ngữ học và khoa học mạng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 Ma trận đầu vào - đầu ra (Input-Output, Leontief)</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kinh tế học Wassily Leontief (giải Nobel Kinh tế 1973) dùng ma trận để mô tả mối quan hệ giữa các ngành kinh tế: mỗi hàng/cột là một ngành, mỗi phần tử thể hiện mức độ ngành này tiêu thụ đầu ra của ngành kia.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Ngôn ngữ học tính toán — Ma trận Document-Term</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Trong xử lý ngôn ngữ tự nhiên (NLP), một tập văn bản được biểu diễn bằng ma trận document-term: mỗi HÀNG là một văn bản, mỗi CỘT là một từ vựng, giá trị là tần suất xuất hiện — cùng quy ước 'hàng=mẫu, cột=đặc trưng' vừa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mạng xã hội — Ma trận kề (Adjacency Matrix)</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Phân tích mạng xã hội (Social Network Analysis) biểu diễn quan hệ 'ai kết nối với ai' bằng ma trận kề: hàng và cột đều là người dùng, giá trị 1/0 thể hiện có/không có kết nối — nền tảng của các thuật toán gợi ý bạn bè.</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Ma trận Document-Term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3 tiêu đề bài báo, đếm tần suất 4 từ khóa:</a:t>
            </a:r>
            <a:endParaRPr lang="en-US" sz="155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Bài báo</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"kinh tế"</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"y tế"</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"giáo dục"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Đây là ma trận 3×3 (3 bài báo × 3 từ khóa) — mỗi hàng là một bài báo, mỗi cột là tần suất một từ.</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Chuyển vị ma trận này sẽ cho: mỗi hàng là MỘT TỪ, mỗi cột là MỘT BÀI BÁO — hữu ích khi muốn phân tích theo từ khóa thay vì theo bài báo.</a:t>
            </a:r>
            <a:endParaRPr lang="en-US" sz="1550" dirty="0"/>
          </a:p>
        </p:txBody>
      </p:sp>
      <p:sp>
        <p:nvSpPr>
          <p:cNvPr id="9"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10"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Ma trận dữ liệu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Ma trận dữ liệu X (200 khách hàng × 6 đặc trưng) — trích 3 dòng đầu:</a:t>
            </a:r>
            <a:endParaRPr lang="en-US" sz="155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Tuổi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Thu nhập</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KH001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KH002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KH003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X.shape = (200, 6) — 200 hàng (khách hàng), 6 cột (đặc trưng)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X[0] lấy ra hàng đầu tiên → vector 6 chiều của khách hàng KH001</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X[:, 1] lấy ra cột thứ 2 (chỉ số 1) → vector 200 chiều gồm TOÀN BỘ giá trị thu nhập của mọi khách hàng</a:t>
            </a:r>
            <a:endParaRPr lang="en-US" sz="1550" dirty="0"/>
          </a:p>
        </p:txBody>
      </p:sp>
      <p:sp>
        <p:nvSpPr>
          <p:cNvPr id="9"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10"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ma trận dữ liệu X từ nhiều vector khách hàng và thực hành truy xuất hàng/cột/phần tử</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200 khách hàng, 6 đặc trưng quen thuộc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(.shape, indexing) và pandas (.values để chuyển DataFrame thành ma trận NumPy)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X hoàn chỉnh; minh chứng X.T.T == X; ma trận con theo yêu cầu</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Xây dựng ma trận dữ liệu từ DataFrame</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DataFrame pandas thành ma trận NumPy bằng .values</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kích thước bằng X.shape — phải ra đúng (200, 6)</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X[0] (một vector) với X (toàn bộ ma trận) bằng cách in shape của từng cái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X = df[cols_feature].values</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5"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Truy xuất hàng, cột và chuyển vị</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hàng thứ 5 (khách hàng thứ 5): X[4] (lưu ý chỉ số bắt đầu từ 0)</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cột thứ 3 (đặc trưng thứ 3, ví dụ lượt_xem): X[:, 2]</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ma trận chuyển vị X.T và kiểm tra kích thước đã đảo ngược</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Kiểm chứng tính chất &amp; tạo ma trận con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chứng (X.T).T bằng với X ban đầu bằng np.array_equal()</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Tạo ma trận con X_sub chỉ gồm 2 cột ["chi_tieu","muc_tuong_tac"] của 10 khách hàng đầu tiên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kích thước X_sub để xác nhận đúng (10, 2)</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Xây dựng ma trận Document-Term từ văn bản thật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Lấy 3-5 tiêu đề bài báo/bài đăng mạng xã hội thật mà bạn quan tâm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Chọn 4-5 từ khóa quan trọng và đếm tần suất xuất hiện trong mỗi tiêu đề</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Xây dựng ma trận document-term thủ công (trên giấy hoặc Excel) rồi đối chiếu với cách làm trong Python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Ma trận theo dõi đa kênh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agency truyền thông theo dõi 4 chiến dịch trên 3 kênh (Facebook, TikTok, YouTube) theo số lượt tiếp cận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Tổ chức dữ liệu này thành một ma trận 4×3 (hàng=chiến dịch, cột=kênh)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Viết ra ma trận chuyển vị và giải thích ý nghĩa của cách tổ chức mới (hàng=kênh, cột=chiến dịch)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Ma trận Input-Output trong kinh tế học (Leontief)</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Nhà kinh tế học Wassily Leontief dùng ma trận Input-Output để biểu diễn dòng chảy hàng hóa giữa các ngành kinh tế (hàng=ngành cung cấp, cột=ngành tiêu thụ) — công trình đoạt giải Nobel Kinh tế 1973</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một ma trận 3×3 giả lập (nông nghiệp, công nghiệp, dịch vụ), xác định ngành nào phụ thuộc nhiều nhất vào đầu vào từ ngành khác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cấu trúc ma trận Input-Output có điểm gì tương đồng với ma trận dữ liệu khách hàng đã học ở đầu buổi?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quy ước 'hàng = đối tượng, cột = đặc trưng' lại phổ biến hơn quy ước ngược lại? Điều gì sẽ xảy ra nếu hai người trong một nhóm dùng hai quy ước khác nhau khi làm việc chung trên cùng bộ dữ liệu?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Ma trận document-term có thể có RẤT NHIỀU cột (hàng chục nghìn từ vựng) nhưng phần lớn giá trị bằng 0 (một bài báo không chứa hết mọi từ trong từ điển) — điều này có ý nghĩa gì về mặt lưu trữ/tính toán?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ma trận kề trong phân tích mạng xã hội có kích thước 1 triệu × 1 triệu (1 triệu người dùng), việc lưu trữ toàn bộ ma trận này có khả thi không? Gợi ý: liên hệ đến khái niệm 'ma trận thưa' (sparse matrix).</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In ra hàng thứ 5 và cột thứ 3 của ma trận dữ liệu X.</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Xác thực X.T.T bằng với X ban đầu bằng np.array_equal().</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Tạo ma trận con chỉ gồm 2 đặc trưng của 10 khách hàng đầu tiên, in kích thước và giải thích ý nghĩa.</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Ma trận là bảng số m×n — luôn ghi số hàng trước, số cột sau.
• Quy ước chuẩn: mỗi hàng là một đối tượng (mẫu dữ liệu), mỗi cột là một đặc trưng.
• Chuyển vị hoán đổi vai trò hàng/cột mà không làm mất thông tin — hai cách nhìn khác nhau trên cùng dữ liệu.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xây dựng và thao tác được với ma trận dữ liệu, phân biệt rõ vector và ma trận.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Phép nhân ma trận với vector — công cụ để tính z=Xw+b cho TOÀN BỘ 200 khách hàng chỉ bằng MỘT dòng code, thay vì vòng lặp for như buổi 3-4.</a:t>
            </a:r>
            <a:endParaRPr lang="en-US" sz="17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Khái niệm ma trận, kích thước</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Ma trận dữ liệu &amp; chuyển vị</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5: Ma trận và biểu diễn tập dữ liệu</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6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Phép nhân ma trận trên nhiều quan sát</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Thực hiện phép nhân ma trận với vector để tính mô hình z=wᵀx+b cho nhiều đối tượng đồng thời, thay thế vòng lặp for.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5: Ma trận và biểu diễn tập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5: ma trận dữ liệu X (200×6) tổ chức toàn bộ khách hàng trong MỘT cấu trúc duy nhất — mỗi hàng một khách hàng.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3-4 phải tính z=wᵀx+b cho TỪNG khách hàng một bằng vòng lặp for — chậm và cồng kềnh.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có cách nào tính z cho TẤT CẢ 200 khách hàng chỉ bằng MỘT phép tính duy nhất?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Phép nhân ma trận với vector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z = Xw + b cho nhiều quan sát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(50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Vector hóa: tính cho 200 khách hàng nhanh như tính cho 1 người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Ở buổi 3-4, mỗi khi cần tính z cho một khách hàng mới, ta phải viết lại: z = w[0]*x[0] + w[1]*x[1] + ... — và lặp lại 200 lần cho 200 khách hàng.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Đại số tuyến tính cho phép "gói gọn" toàn bộ 200 phép tính đó thành MỘT phép nhân ma trận duy nhất: Z = Xw + b.</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Kỹ thuật này gọi là VECTOR HÓA (vectorization) — nền tảng giúp các thư viện như NumPy, TensorFlow, PyTorch chạy nhanh hơn hàng trăm lần so với vòng lặp Python thông thường.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là bước ngoặt quan trọng: từ nay, sinh viên sẽ tính mô hình cho TOÀN BỘ tập dữ liệu chỉ bằng một dòng code.</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Điều kiện nhân ma trận với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(m×n) · w (n×1)  =  z (m×1)</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Để nhân ma trận X với vector w, SỐ CỘT của X phải bằng SỐ CHIỀU của w — đây là điều kiện bắt buộc.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Kết quả z là một vector có SỐ CHIỀU bằng SỐ HÀNG của X (mỗi hàng của X cho ra đúng một giá trị z tương ứng).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điều kiện kích thước không thỏa, phép nhân KHÔNG XÁC ĐỊNH — NumPy sẽ báo lỗi.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Ý nghĩa: mỗi hàng của X nhân với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zᵢ = Xᵢ · w = xᵢ₁w₁ + xᵢ₂w₂ + ... + xᵢₙwₙ</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Phép nhân ma trận-vector về bản chất là thực hiện TÍCH VÔ HƯỚNG (buổi 3) giữa MỖI HÀNG của X và vector w.</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zᵢ (phần tử thứ i của kết quả z) chính là z=wᵀx+b đã tính cho riêng khách hàng thứ i.</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 Phép nhân ma trận-vector không phải kiến thức MỚI mà là cách LÀM ĐỒNG THỜI những gì buổi 3 đã làm cho từng khách hàng.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z = Xw + b cho nhiều quan sát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Xw + b   (b được "cộng broadcast" vào từng phần tử)</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 = Xw + b tính đồng thời điểm số cho MỌI khách hàng trong ma trận X chỉ bằng một phép toán.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 là một số duy nhất nhưng được tự động "lan truyền" (broadcasting) để cộng vào từng phần tử của Xw — tính năng tiện lợi của NumPy.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Áp dụng sigmoid lên toàn bộ vector z (σ(z)) sẽ cho ra xác suất dự đoán cho TẤT CẢ khách hàng cùng lúc.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Vector hóa (vectorization) và hiệu năng tính toán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Vector hóa là kỹ thuật thay thế vòng lặp for bằng các phép toán ma trận/vector được thư viện tối ưu hóa ở tầng thấp (C, Fortran).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dữ liệu lớn (hàng triệu quan sát), vector hóa có thể nhanh hơn vòng lặp for hàng chục đến hàng trăm lần.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lý do vì sao NumPy, và sau này TensorFlow/PyTorch, đều được xây dựng xoay quanh phép toán ma trận thay vì vòng lặp thuần Python.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toán hàng loạt trong kinh tế lượng và khoa học dữ liệu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lượng (Econometrics) — Hồi quy đa biến dạng ma trận</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phần mềm thống kê xã hội (Stata, R, SPSS) đều dùng phép nhân ma trận để ước lượng hồi quy cho hàng nghìn quan sát khảo sát cùng lúc, thay vì tính từng người trả lời khảo sát một.</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dữ liệu xã hội — Xử lý khảo sát quy mô lớn</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khảo sát xã hội học quy mô quốc gia (như Điều tra Dân số, World Values Survey) có hàng chục nghìn người trả lời — phép toán vector hóa giúp xử lý và phân tích dữ liệu này trong vài giây thay vì hàng giờ.</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Tính điểm rủi ro bảo hiểm cho nhiều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Công ty bảo hiểm có ma trận hồ sơ của 4 khách hàng (tuổi, số năm lái xe, số lần tai nạn):</a:t>
            </a:r>
            <a:endParaRPr lang="en-US" sz="155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Tuổi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Năm lái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Tai nạn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D</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z = Xw + b,  w=[-0.02, -0.03, 0.5], b=2</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Chỉ với MỘT phép nhân ma trận X(4×3) @ w(3,), ta có ngay 4 điểm rủi ro cho cả 4 khách hàng.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Không cần viết 4 dòng code riêng biệt cho 4 khách hàng.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z = Xw + b cho 200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 @ w + b   # X.shape=(200,3), w.shape=(3,) → z.shape=(200,)</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Một dòng code duy nhất thay thế 200 lần lặp thủ công đã làm ở buổi 3-4.</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Kết quả z là một vector 200 phần tử — mỗi phần tử là điểm số của đúng một khách hàng theo đúng thứ tự trong ma trận X.</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6</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z=Xw+b và xác suất dự đoán cho toàn bộ 200 khách hàng bằng một phép nhân ma trận duy nhất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dữ liệu X đã xây dựng ở buổi 5</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hoặc np.dot cho ma trận), module time để đo hiệu năng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Vector z và xác suất dự đoán cho 200 khách hàng; bảng so sánh thời gian chạy for-loop vs vector hóa</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bằng vòng lặp for (cách làm cũ)</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lại cách tính z từng khách hàng một bằng vòng lặp for (ôn lại buổi 3-4)</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Đo thời gian chạy bằng module time.time()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Lưu kết quả z_loop để đối chiếu ở bước sau</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bằng phép nhân ma trận (vector hóa)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lại đúng phép tính trên bằng MỘT dòng: X @ w + 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Đo thời gian chạy và so sánh với cách làm vòng lặp</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chứng hai kết quả GIỐNG NHAU bằng np.allclose(z_loop, z_vec)</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z_vec = X @ w + b</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sigmoid &amp; thử kích thước sai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sigmoid lên toàn bộ vector z để có xác suất dự đoán cho 200 khách hàng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Đếm số khách hàng có xác suất &gt; 0.8 bằng một dòng code (không vòng lặp)</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Thử NHÂN SAI KÍCH THƯỚC (ví dụ dùng vector w có 4 phần tử thay vì 3) và đọc hiểu thông báo lỗi của NumPy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điểm rủi ro cho một danh sách khách hàng bảo hiểm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ví dụ bảo hiểm ở trên, mở rộng thành 10 khách hàng (tự tạo dữ liệu ngẫu nhiên hợp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rủi ro cho cả 10 người bằng một phép nhân ma trận duy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Xếp hạng và đề xuất mức phí bảo hiểm khác nhau cho các nhóm rủi ro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Chấm điểm hàng loạt bài đăng mạng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có ma trận đặc trưng của 50 bài đăng (lượt thích, lượt bình luận, lượt chia sẻ)</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vector trọng số w để tính "điểm lan truyền" (viral score) cho cả 50 bài đăng cùng lúc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Viết công thức Python (giả lập, không cần chạy) thể hiện phép tính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Chấm điểm xét tuyển đại học hàng loạt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Nhiều trường đại học chấm điểm xét tuyển bằng công thức có trọng số cho điểm học bạ, điểm thi chuẩn hóa và hoạt động ngoại khóa — về bản chất là z=Xw+b áp dụng cho toàn bộ hồ sơ ứng viên cùng lúc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ma trận hồ sơ của 5 ứng viên (3 tiêu chí) và vector trọng số w, tính điểm xét tuyển cho cả 5 ứng viên bằng MỘT phép nhân ma trận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việc dùng chung một công thức z=Xw+b cho hàng chục ngàn hồ sơ có ưu điểm và rủi ro gì so với việc từng hội đồng xét duyệt riêng lẻ?</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số lượng khách hàng tăng từ 200 lên 2 triệu, sự khác biệt về thời gian chạy giữa vòng lặp for và vector hóa sẽ thay đổi thế nào? Quan trọng hơn hay kém quan trọng hơn?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Phép nhân ma trận Xw+b có thể tính SAI mà không báo lỗi nếu nhầm thứ tự cột trong X so với thứ tự trọng số trong w — làm sao phòng tránh lỗi này trong thực tế?</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Ngoài tốc độ, vector hóa còn có lợi ích nào khác về mặt ĐỘ RÕ RÀNG của code so với vòng lặp for?</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Thử nhân X với một vector kích thước sai, ghi lại thông báo lỗi và giải thích theo điều kiện tương thích kích thước.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xác suất dự đoán cho toàn bộ 200 khách hàng, đếm số người có xác suất &gt; 0.8.</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Đo và ghi lại thời gian chạy của vòng lặp for so với vector hóa trên bộ dữ liệu 200 khách hàng, viết nhận xét ngắn.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6</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z = Xw + b tính điểm số cho TẤT CẢ đối tượng trong X chỉ bằng một phép nhân ma trận-vector.
• Điều kiện bắt buộc: số cột của X phải bằng số chiều của w.
• Vector hóa nhanh hơn nhiều so với vòng lặp for và là nền tảng của mọi thư viện tính toán khoa học hiện đại.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thực hiện được phép nhân ma trận-vector và giải thích được lợi ích của vector hóa so với vòng lặp for.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Ma trận trọng số W — mở rộng từ MỘT vector trọng số w sang MỘT ma trận trọng số, cho phép tính ĐỒNG THỜI nhiều đầu ra khác nhau cho mỗi khách hàng — bước đệm trực tiếp vào neural network.</a:t>
            </a:r>
            <a:endParaRPr lang="en-US" sz="17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Điều kiện nhân ma trận-vector</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z=Xw+b, 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7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Ma trận trọng số và nhiều tổ hợp tuyến tính</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neural network là mở rộng của logistic regression với nhiều nơ-ron dùng chung một ma trận trọng số, tính đồng thời nhiều đầu ra.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6: Phép nhân ma trận trên nhiều quan sát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6: z = Xw + b tính MỘT điểm số cho MỖI khách hàng trong ma trận X, dùng chung MỘT vector trọng số w.</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Kết quả z là một vector — mỗi khách hàng có đúng MỘT giá trị đầu ra.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nếu muốn dự đoán CÙNG LÚC NHIỀU điều về một khách hàng (vd: khả năng tương tác, khả năng mua hàng, khả năng rời bỏ) thì sao?</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Từ một nơ-ron đến nhiều nơ-ron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Ma trận trọng số W, công thức Z=XW+b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một 'nơ-ron' đến một 'lớp'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Logistic regression (buổi 4) có thể xem như MỘT "nơ-ron" nhân tạo: nhận nhiều đầu vào x, tính z=wᵀx+b, rồi qua sigmoid để ra MỘT đầu ra.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Neural network (mạng nơ-ron) đơn giản chỉ là việc đặt NHIỀU nơ-ron như vậy CẠNH NHAU trong cùng một lớp (layer), mỗi nơ-ron có vector trọng số riêng.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Thay vì viết riêng z1=w1ᵀx+b1, z2=w2ᵀx+b2, z3=w3ᵀx+b3,... ta có thể gộp các vector trọng số w1,w2,w3 thành các CỘT của một MA TRẬN TRỌNG SỐ W.</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chính là bước đi từ logistic regression sang neural network — về bản chất chỉ là mở rộng số lượng 'nơ-ron' trong một lớp.</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logistic regression đến một lớp nhiều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1 vector trọng số w → 1 đầu ra (ví dụ: xác suất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Neural network (1 lớp, k nơ-ron): k vector trọng số khác nhau → k đầu ra khác nhau, tính CÙNG LÚC từ CÙNG một đầu vào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nơ-ron trong lớp "nhìn" toàn bộ đầu vào x, nhưng dùng bộ trọng số RIÊNG để tính một đầu ra RIÊNG.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Ví dụ: 3 nơ-ron dự đoán 3 điều khác nhau (tương tác, mua hàng, rời bỏ) từ CÙNG một hồ sơ khách hàng.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trọng số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W ∈ ℝ^(n×k)   (n đặc trưng đầu vào, k nơ-ron)</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Thay vì k vector trọng số riêng biệt, ta gộp chúng thành MỘT ma trận W, trong đó MỖI CỘT của W là vector trọng số của MỘT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đầu vào có n đặc trưng và lớp có k nơ-ron, thì W có kích thước n×k.</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 trận trọng số W chính là "bộ tham số" mà mô hình neural network cần học được từ dữ liệu (ở các môn học sau, quá trình này gọi là huấn luyện/training).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tổng quát: Z = XW + b</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XW + b   ,   X(m×n), W(n×k)  →  Z(m×k)</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là ma trận dữ liệu (m đối tượng × n đặc trưng), W là ma trận trọng số (n đặc trưng × k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Kết quả Z có kích thước m×k: MỖI HÀNG là một đối tượng, MỖI CỘT là kết quả của một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phiên bản MA TRẬN-MA TRẬN của công thức z=Xw+b (buổi 6, ma trận-vector) — cùng một ý tưởng, mở rộng thêm một chiều.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có Z, áp dụng sigmoid lên TOÀN BỘ ma trận Z (elementwise) để có ma trận xác suất A cùng kích thước.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Kiểm tra kích thước ở từng bước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Luôn kiểm tra: số CỘT của X phải bằng số HÀNG của W (điều kiện nhân ma trận-ma trận, sẽ học kỹ hơn ở buổi 8).</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Thói quen tốt: trước khi viết code, vẽ nhanh kích thước từng ma trận ra giấy để tránh lỗi runtime khó debug.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Python/NumPy, luôn dùng .shape để xác nhận kích thước sau MỖI bước tính toán quan trọng.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nơ-ron sinh học đến nơ-ron nhân tạo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thần kinh (Neuroscience) — Nguồn cảm hứng ban đầu</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Mô hình toán học đầu tiên của "nơ-ron nhân tạo" (McCulloch-Pitts, 1943) lấy cảm hứng trực tiếp từ cách nơ-ron sinh học trong não bộ nhận nhiều tín hiệu đầu vào, tổng hợp có trọng số, rồi "kích hoạt" nếu đủ ngưỡng — gần như chính xác công thức z=wᵀx+b với hàm kích hoạt.</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Tâm lý học nhận thức — Mô hình xử lý song song (Parallel Distributed Processing)</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Trường phái tâm lý học nhận thức những năm 1980 (Rumelhart &amp; McClelland) đề xuất rằng nhận thức của con người có thể được mô tả bằng các mạng nơ-ron xử lý song song nhiều thông tin cùng lúc — ý tưởng "nhiều nơ-ron trong một lớp" học hôm nay.</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Mô hình đánh giá đa chiều một ứng viên tuyển dụng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Bộ phận nhân sự muốn đánh giá 3 khía cạnh của một ứng viên từ CÙNG một bộ hồ sơ (kinh nghiệm, học vấn, phỏng vấn):</a:t>
            </a:r>
            <a:endParaRPr lang="en-US" sz="1550" dirty="0"/>
          </a:p>
        </p:txBody>
      </p:sp>
      <p:sp>
        <p:nvSpPr>
          <p:cNvPr id="6" name="Text 4"/>
          <p:cNvSpPr/>
          <p:nvPr/>
        </p:nvSpPr>
        <p:spPr>
          <a:xfrm>
            <a:off x="457200" y="2304288"/>
            <a:ext cx="1124712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1: điểm phù hợp kỹ thuật (trọng số cao cho kinh nghiệm)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2: điểm phù hợp văn hóa công ty (trọng số cao cho phỏng vấn)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3: điểm tiềm năng phát triển dài hạn (trọng số cao cho học vấn)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Ba nơ-ron dùng CHUNG đầu vào (hồ sơ ứng viên) nhưng cho ra BA đánh giá khác nhau — đúng cấu trúc Z=XW+b.</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3 nơ-ron dự đoán 3 hành vi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XW + b   ,  X(200×3), W(3×3)  →  Z(200×3)</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3 đặc trưng đầu vào: lượt_xem, mức_tương_tác, thu_nhập</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3 nơ-ron (3 cột của W): khả năng tương tác, khả năng mua hàng, khả năng rời bỏ</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Kết quả Z(200×3): mỗi hàng là một khách hàng, mỗi cột là một trong ba khả năng dự đoán.</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7</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3 nơ-ron trong một lớp, tính đồng thời 3 khả năng dự đoán cho mỗi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3 đặc trưng: lượt_xem, mức_tương_tác, thu_nhập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phép nhân ma trận X @ W</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Z (200×3) và ma trận xác suất A sau sigmoid cho 3 khả năng của từng khách hàng</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Xây dựng ma trận trọng số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Khởi tạo ma trận W kích thước (3,3) — mỗi cột là trọng số của một nơ-ron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Khởi tạo vector bias b kích thước (3,) — mỗi phần tử là bias của một nơ-ron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W và b để xác nhận đúng kích thước trước khi tính toán</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 XW + b và áp dụng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điều kiện nhân ma trận: số cột X phải bằng số hàng W</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Z bằng phép nhân ma trận, kiểm tra Z.shape == (200,3)</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hàm sigmoid (đã viết ở buổi 4) lên toàn bộ ma trận Z để có ma trận xác suất A</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 = X @ W + b;  A = sigmoid(Z)</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kết quả cho từng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ma trận A thành DataFrame với tên cột rõ ràng (kha_nang_tuong_tac, kha_nang_mua_hang, kha_nang_roi_bo)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Liệt kê top-5 khách hàng có khả năng mua hàng cao nhất</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một khách hàng có thể có khả năng mua hàng cao NHƯNG cũng có khả năng rời bỏ cao — thảo luận ý nghĩa thực tế</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đánh giá đa chiều ứng viên tuyển dụng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ví dụ đánh giá ứng viên ở trên, tự đề xuất ma trận trọng số W (3 đặc trưng × 3 tiêu chí đánh giá)</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3 tiêu chí cho 2 ứng viên giả định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một ứng viên điểm kỹ thuật cao nhưng điểm văn hóa thấp nên được xử lý thế nào trong quy trình tuyển dụng?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Mô hình phân loại đa nhãn nội dung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hệ thống kiểm duyệt nội dung cần đánh giá đồng thời: nội dung có phải quảng cáo không? có ngôn từ nhạy cảm không? có phù hợp trẻ em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cấu trúc ma trận trọng số W (giả lập) cho bài toán 3 đầu ra này từ một bộ đặc trưng văn bản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Mạng nơ-ron McCulloch–Pitts và khoa học thần kinh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hình toán học nơ-ron nhân tạo đầu tiên (McCulloch–Pitts, 1943) lấy cảm hứng trực tiếp từ cách một nơ-ron sinh học tổng hợp NHIỀU tín hiệu đầu vào có trọng số khác nhau trước khi 'kích hoạt' — chính là ý tưởng z=Xw+b vừa học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việc một ma trận trọng số W có thể biểu diễn ĐỒNG THỜI hoạt động của nhiều 'nơ-ron' gợi ý điều gì về cách bộ não xử lý thông tin song song?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công ty chỉ có đủ nguồn lực chăm sóc khách hàng có khả năng mua hàng CAO và khả năng rời bỏ THẤP, làm sao kết hợp 2 cột kết quả trong ma trận A để chọn đúng nhóm khách hàng này?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dùng chung một tập đặc trưng đầu vào cho nhiều nơ-ron có ưu điểm gì so với xây dựng 3 mô hình logistic regression HOÀN TOÀN riêng biệt cho 3 bài toán?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Ma trận trọng số W trong ví dụ hôm nay được ĐẶT SẴN — trong thực tế mô hình sẽ TỰ HỌC ra W từ dữ liệu. Bạn nghĩ dữ liệu cần có gì để có thể 'học' được W?</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Kiểm tra Z.shape và giải thích vì sao lại có kích thước đó theo công thức Z=XW+b.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Thêm một nơ-ron thứ 4 vào W (thêm một cột trọng số) và tính lại Z, A.</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bị dữ liệu và cấu trúc cho một mạng 1 hidden layer (3-4 node) với trọng số cho trước để dùng ở buổi 8.</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7</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Neural network (1 lớp) = nhiều nơ-ron logistic regression đặt song song, mỗi nơ-ron có vector trọng số riêng.
• Các vector trọng số được gộp thành các CỘT của ma trận trọng số W.
• Z = XW + b tính đồng thời NHIỀU đầu ra cho MỌI đối tượng, mở rộng trực tiếp từ z=Xw+b của buổi 6.
</a:t>
            </a:r>
            <a:r>
              <a:rPr lang="en-US" sz="1550" b="1" dirty="0">
                <a:solidFill>
                  <a:srgbClr val="262626"/>
                </a:solidFill>
                <a:latin typeface="Aptos" pitchFamily="34" charset="0"/>
                <a:ea typeface="Aptos" pitchFamily="34" charset="-122"/>
                <a:cs typeface="Aptos" pitchFamily="34" charset="-120"/>
              </a:rPr>
              <a:t>Checklist CLO G1.1, G2.2: </a:t>
            </a:r>
            <a:r>
              <a:rPr lang="en-US" sz="1550" dirty="0">
                <a:solidFill>
                  <a:srgbClr val="262626"/>
                </a:solidFill>
                <a:latin typeface="Aptos" pitchFamily="34" charset="0"/>
                <a:ea typeface="Aptos" pitchFamily="34" charset="-122"/>
                <a:cs typeface="Aptos" pitchFamily="34" charset="-120"/>
              </a:rPr>
              <a:t>Sinh viên xây dựng được ma trận trọng số W và tính đồng thời nhiều đầu ra cho nhiều đối tượng.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Case study Neural Network nhiều lớp — xếp CHỒNG nhiều lớp nơ-ron lên nhau (forward propagation), và liên hệ đến cách các mạng nơ-ron xử lý ảnh/video trong truyền thông đa phương tiện hoạt động.</a:t>
            </a:r>
            <a:endParaRPr lang="en-US" sz="17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Từ 1 nơ-ron đến nhiều nơ-ron, ma trận W</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&amp; ví dụ</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8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Phép nhân ma trận qua nhiều lớp: case study Neural Network</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Thực hiện forward propagation qua nhiều lớp mạng nơ-ron với bộ tham số cho sẵn; liên hệ đến mạng nơ-ron xử lý ảnh/video.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A2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7: Ma trận trọng số và nhiều tổ hợp tuyến tính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7: Z = XW + b tính đồng thời NHIỀU đầu ra (nhiều nơ-ron) cho MỖI đối tượng trong MỘT lớp mạng.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Áp dụng sigmoid lên Z cho ra ma trận kích hoạt A cùng kích thước.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nếu đầu ra A của lớp này lại trở thành ĐẦU VÀO của một lớp khác thì sao? Đó chính là ý tưởng của mạng nơ-ron NHIỀU LỚP (deep neural network).</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Một lớp mạng: biến đổi tuyến tính + kích hoạt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Forward propagation qua nhiều lớp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AI xử lý ảnh/video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Case study: Xếp chồng nhiều lớp mạng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7 dừng lại ở MỘT lớp: đầu vào X → ma trận trọng số W → đầu ra 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Nhưng các mô hình AI hiện đại (nhận diện ảnh, dịch máy, ChatGPT) đều có HÀNG CHỤC đến HÀNG TRĂM lớp xếp chồng lên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Ý tưởng cốt lõi rất đơn giản: đầu ra A của lớp này trở thành đầu vào X của lớp TIẾP THEO, và quá trình lặp lại.</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học hôm nay là buổi "case study" tổng hợp toàn bộ mạch kiến thức từ buổi 1 đến buổi 7 vào MỘT bài toán hoàn chỉnh: forward propagation qua 2 lớp.</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Một lớp mạng nơ-ron: biến đổi tuyến tính + hàm kích hoạt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Lớp = (biến đổi tuyến tính: Z=XW+b)  +  (hàm kích hoạt: A=σ(Z))</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"lớp" (layer) trong mạng nơ-ron gồm đúng HAI bước: biến đổi tuyến tính (Z=XW+b) rồi áp dụng hàm kích hoạt (A=σ(Z)).</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Hàm kích hoạt (activation function) như sigmoid tạo ra tính PHI TUYẾN — nếu không có bước này, xếp chồng nhiều lớp tuyến tính vẫn chỉ tương đương MỘT lớp tuyến tính duy nhất (một sự thật toán học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"Hidden layer" (lớp ẩn) là các lớp trung gian; "output layer" (lớp đầu ra) là lớp cuối cùng cho ra kết quả dự đoán.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Forward propagation qua 2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A¹ = σ(XW¹+b¹)  ;   Ŷ = A² = σ(A¹W²+b²)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Forward propagation (lan truyền tiến) là quá trình đưa dữ liệu đi từ đầu vào X, qua lần lượt các lớp, đến đầu ra cuối cùng Ŷ.</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Lớp 1 (hidden layer): nhận X, tính ra A¹ bằng W¹, b¹.</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Lớp 2 (output layer): nhận CHÍNH A¹ làm đầu vào (không phải X nữa!), tính ra Ŷ bằng W², b².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điểm mấu chốt: A¹ đóng VAI TRÒ KÉP — vừa là đầu ra của lớp 1, vừa là đầu vào của lớp 2.</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Theo dõi kích thước ma trận qua từng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X có kích thước (m, n₀), W¹ có kích thước (n₀, n₁) → A¹ có kích thước (m, n₁), với n₁ là số node của hidden layer.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W² phải có kích thước (n₁, n₂) để nhân được với A¹ — số HÀNG của W² phải khớp số CỘT của A¹.</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Kỹ năng quan trọng nhất buổi học: LUÔN theo dõi kích thước ma trận ở MỖI bước để phát hiện lỗi sớm.</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Vì sao cần hàm kích hoạt phi tuyến? (chứng minh trực giác)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Nếu bỏ σ: A²=(XW¹+b¹)W²+b²=X(W¹W²)+(b¹W²+b²)=XW'+b'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bỏ hàm kích hoạt ở mọi lớp, xếp chồng 2 phép biến đổi tuyến tính liên tiếp về mặt đại số vẫn CHỈ tương đương một phép biến đổi tuyến tính duy nhất (với W'=W¹W², b'=b¹W²+b²).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Điều này có nghĩa: một mạng 100 lớp KHÔNG hàm kích hoạt cũng chỉ mạnh ngang một lớp logistic regression — hàm kích hoạt phi tuyến chính là thứ tạo nên SỨC MẠNH thực sự của deep learning.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lý do toán học sâu xa (không chỉ là quy ước kỹ thuật) giải thích vì sao mọi kiến trúc mạng nơ-ron hiện đại đều bắt buộc có hàm kích hoạt phi tuyến ở các lớp ẩn.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dự đoán khách hàng đến nhận diện ảnh/video: cùng một phép toán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Thị giác máy tính (Computer Vision) — Nhận diện nội dung, gắn thẻ ảnh/video</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mạng nơ-ron tích chập (CNN) dùng để nhận diện đối tượng trong ảnh/video (được dùng trong kiểm duyệt nội dung, gắn thẻ tự động trên mạng xã hội) về bản chất LẶP LẠI đúng phép nhân ma trận nhiều lớp vừa học — chỉ khác là đầu vào X là các pixel ảnh thay vì đặc trưng khách hàng.</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Xử lý ngôn ngữ tự nhiên (NLP) — Dịch máy, chatbot</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ngôn ngữ lớn (như nền tảng đứng sau ChatGPT) cũng xếp chồng hàng chục đến hàng trăm lớp biến đổi tuyến tính + phi tuyến tương tự — quy mô lớn hơn rất nhiều nhưng nguyên lý toán học CƠ BẢN giống hệt bài học hôm nay.</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Forward propagation với số liệu cụ thể</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Một khách hàng có x = [45, 7.5] (lượt_xem, mức_tương_tác), mạng 2 lớp với 2 node ẩn:</a:t>
            </a:r>
            <a:endParaRPr lang="en-US" sz="1550" dirty="0"/>
          </a:p>
        </p:txBody>
      </p:sp>
      <p:sp>
        <p:nvSpPr>
          <p:cNvPr id="6" name="Text 4"/>
          <p:cNvSpPr/>
          <p:nvPr/>
        </p:nvSpPr>
        <p:spPr>
          <a:xfrm>
            <a:off x="457200" y="2304288"/>
            <a:ext cx="1124712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Z¹ = xW¹+b¹ → A¹=σ(Z¹) → Z²=A¹W²+b² → Ŷ=σ(Z²)</a:t>
            </a:r>
            <a:endParaRPr lang="en-US" sz="1200" dirty="0"/>
          </a:p>
        </p:txBody>
      </p:sp>
      <p:sp>
        <p:nvSpPr>
          <p:cNvPr id="7" name="Text 5"/>
          <p:cNvSpPr/>
          <p:nvPr/>
        </p:nvSpPr>
        <p:spPr>
          <a:xfrm>
            <a:off x="457200" y="3264408"/>
            <a:ext cx="1124712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Giả sử W¹, b¹, W² , b² đã cho trước (như trong lab)</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Bước 1: tính Z¹ (2 giá trị, ứng với 2 node ẩn), áp dụng sigmoid → A¹</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Bước 2: dùng A¹ làm đầu vào mới, tính Z² (1 giá trị), áp dụng sigmoid → Ŷ (xác suất dự đoán cuối cùng)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Toàn bộ quá trình chỉ gồm 2 lần lặp lại của (nhân ma trận + hàm kích hoạt).</a:t>
            </a:r>
            <a:endParaRPr lang="en-US" sz="1550" dirty="0"/>
          </a:p>
        </p:txBody>
      </p:sp>
      <p:sp>
        <p:nvSpPr>
          <p:cNvPr id="9"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0"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Theo dõi kích thước ma trận qua mạng 3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Mạng 3 lớp cho 200 khách hàng, 5 đặc trưng đầu vào, 2 hidden layer (8 node và 4 node), 1 output:</a:t>
            </a:r>
            <a:endParaRPr lang="en-US" sz="1550" dirty="0"/>
          </a:p>
        </p:txBody>
      </p:sp>
      <p:graphicFrame>
        <p:nvGraphicFramePr>
          <p:cNvPr id="160"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Lớp</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Trọng số</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Kích thước đầu ra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Hidden 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W¹(5,8)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A¹: (200,8)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Hidden 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W²(8,4)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A²: (200,4)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Output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W³(4,1)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A³: (200,1)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Số CỘT của X (5) phải khớp số HÀNG của W¹ (5) — điều kiện tương thích quen thuộc từ buổi 6.</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Số node ở mỗi lớp (8, 4, 1) là do NGƯỜI THIẾT KẾ mạng chọn — không có công thức cố định, thường chọn giảm dần về phía output.</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Bảng theo dõi kích thước như thế này nên trở thành thói quen TRƯỚC KHI viết code cho bất kỳ mạng nơ-ron nào.</a:t>
            </a:r>
            <a:endParaRPr lang="en-US" sz="1550" dirty="0"/>
          </a:p>
        </p:txBody>
      </p:sp>
      <p:sp>
        <p:nvSpPr>
          <p:cNvPr id="9"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0"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8</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Thực hành forward propagation qua 2 lớp (hidden layer + output layer) với bộ tham số cho sẵn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3 đặc trưng đầu vào (lượt_xem, mức_tương_tác, thu_nhập)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viết hàm forward_propagation() hoàn chỉnh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Hàm forward_propagation tái sử dụng được; bảng kích thước Z1,A1,Z2,A2 ở từng bước (dùng cho đánh giá A2)</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Khởi tạo tham số cho 2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Hidden layer: W1 kích thước (3,4) — 3 đặc trưng đầu vào, 4 node ẩn; b1 kích thước (4,)</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Output layer: W2 kích thước (4,1) — 4 node ẩn, 1 đầu ra; b2 kích thước (1,)</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tất cả tham số để xác nhận trước khi tính toán</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Viết hàm forward_propagation() hoàn chỉnh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Bước 1: Z1 = X@W1+b1, A1 = sigmoid(Z1)</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Bước 2: Z2 = A1@W2+b2, A2 = sigmoid(Z2)</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Hàm trả về cả Z1, A1, Z2, A2 để kiểm tra từng bước (không chỉ kết quả cuối)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def forward_propagation(X, W1,b1,W2,b2): ...</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Kiểm tra kích thước &amp; đánh giá kết quả</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X, Z1, A1, Z2, A2 theo đúng thứ tự luồng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A2 thành dự đoán nhị phân (ngưỡng 0.5) và so sánh với nhãn thật nhap_quang_cao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Ghi nhận: vì W1, W2 là ngẫu nhiên (chưa được huấn luyện), accuracy có thể thấp — đây là điều BÌNH THƯỜNG ở giai đoạn này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2 lớp cho hệ thống phát hiện tin giả (giả lập)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đầu vào X là 3 đặc trưng của một bài đăng (số lượng nguồn trích dẫn, độ dài bài viết, tỷ lệ chữ IN HOA)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tả (không cần code) cấu trúc một mạng 2 lớp: hidden layer 4 node → output layer 1 node (xác suất là tin giả)</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những đặc trưng nào khác nên được thêm vào để mô hình thực tế hơn?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Theo dõi luồng dữ liệu qua nhiều lớp xử lý ảnh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hệ thống gắn thẻ ảnh tự động có 3 lớp: lớp 1 (nhận diện cạnh/màu sắc cơ bản), lớp 2 (nhận diện hình khối), lớp 3 (nhận diện đối tượng cụ thể)</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Vẽ sơ đồ luồng dữ liệu qua 3 lớp này, đánh dấu đầu ra của mỗi lớp là đầu vào của lớp tiếp theo, tương tự bài học hôm nay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Mạng nơ-ron nhiều lớp trong chẩn đoán y khoa hỗ trợ bằng AI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Các hệ thống AI hỗ trợ chẩn đoán (ví dụ phát hiện bất thường trên ảnh X-quang) dùng mạng nơ-ron nhiều lớp với đầu vào là pixel ảnh y khoa và đầu ra là xác suất có bệnh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tả (không cần code) một kiến trúc 3 lớp giả lập cho bài toán này, nêu rõ số node hợp lý ở mỗi lớp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vì sao các hệ thống AI y khoa cần được kiểm định (validation) đặc biệt nghiêm ngặt so với AI gắn thẻ ảnh mạng xã hội thông thường?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bỏ hàm kích hoạt sigmoid ở lớp ẩn (chỉ giữ lại phép nhân ma trận Z=XW+b), việc xếp chồng 2 lớp có còn mạnh hơn 1 lớp không? (Gợi ý: thử nhân 2 phép biến đổi tuyến tính liên tiếp bằng đại số — kết quả có phải vẫn là một phép biến đổi tuyến tính?)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các mô hình AI hiện đại cần RẤT NHIỀU lớp (hàng chục, hàng trăm) thay vì chỉ 2 lớp như bài lab hôm nay?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một mạng nơ-ron xử lý ảnh 'nhìn' thấy nội dung nhạy cảm để tự động gắn thẻ/kiểm duyệt có thể sai ở đâu? Hậu quả xã hội nếu mô hình sai là gì?</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Thêm một hidden layer thứ hai (ví dụ 3 node) và viết lại forward_propagation() cho 3 lớp.</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accuracy của dự đoán so với nhap_quang_cao, giải thích vì sao kết quả có thể chưa tốt với tham số ngẫu nhiên.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8</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Một lớp mạng = biến đổi tuyến tính (Z=XW+b) + hàm kích hoạt phi tuyến (A=σ(Z)).
• Forward propagation: đầu ra của lớp này là đầu vào của lớp tiếp theo, lặp lại qua nhiều lớp.
• Các mạng nơ-ron xử lý ảnh/video/văn bản trong truyền thông đa phương tiện dùng CHÍNH XÁC nguyên lý này, chỉ khác quy mô.
</a:t>
            </a:r>
            <a:r>
              <a:rPr lang="en-US" sz="1550" b="1" dirty="0">
                <a:solidFill>
                  <a:srgbClr val="262626"/>
                </a:solidFill>
                <a:latin typeface="Aptos" pitchFamily="34" charset="0"/>
                <a:ea typeface="Aptos" pitchFamily="34" charset="-122"/>
                <a:cs typeface="Aptos" pitchFamily="34" charset="-120"/>
              </a:rPr>
              <a:t>Checklist CLO G2.2: </a:t>
            </a:r>
            <a:r>
              <a:rPr lang="en-US" sz="1550" dirty="0">
                <a:solidFill>
                  <a:srgbClr val="262626"/>
                </a:solidFill>
                <a:latin typeface="Aptos" pitchFamily="34" charset="0"/>
                <a:ea typeface="Aptos" pitchFamily="34" charset="-122"/>
                <a:cs typeface="Aptos" pitchFamily="34" charset="-120"/>
              </a:rPr>
              <a:t>Sinh viên cài đặt được forward propagation qua 2 lớp và theo dõi đúng kích thước ma trận ở từng bước.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Chuẩn vector và khoảng cách Euclid — chuyển hướng sang một nhóm công cụ MỚI: đo lường độ giống/khác nhau giữa các đối tượng, nền tảng cho hệ thống gợi ý và phát hiện bất thường.</a:t>
            </a:r>
            <a:endParaRPr lang="en-US" sz="1700" dirty="0"/>
          </a:p>
        </p:txBody>
      </p:sp>
      <p:graphicFrame>
        <p:nvGraphicFramePr>
          <p:cNvPr id="170"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Một lớp &amp; forward propagation nhiều lớp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AI ảnh/video</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9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Chuẩn vector và khoảng cách Euclid</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Tính được chuẩn Euclid và khoảng cách Euclid giữa hai vector; vận dụng để tìm đối tượng tương tự, phát hiện bất thường và phân nhóm dữ liệu trong không gian đặc trưng.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8: Phép nhân ma trận qua nhiều lớp: case study Neural Network</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8: forward propagation Z=XW+b qua nhiều lớp khép lại mạch "dự đoán một nhãn/xác suất" kéo dài từ buổi 3 đến buổi 8.</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Từ buổi 9, mạch kiến thức chuyển hướng: không dự đoán nhãn nữa, mà đo ĐỘ GIỐNG hoặc ĐỘ KHÁC giữa hai đối tượng dữ liệu.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mở đầu: hai khách hàng có vector đặc trưng x và y — làm sao biến trực giác "hai người này khá giống nhau" thành MỘT con số cụ thể?</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Chuẩn Euclid: độ dài của một vector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Khoảng cách Euclid giữa hai điểm dữ liệu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khoảng cách văn hóa, y tế, đô thị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(20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dự đoán sang đo lường: khoảng cách trong không gian đặc trưng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Mỗi khách hàng, bài đăng hay chiến dịch đã được biểu diễn thành một vector đặc trưng từ buổi 1 — nghĩa là một ĐIỂM trong không gian nhiều chiều.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Trực giác hình học đơn giản: hai điểm càng gần nhau trong không gian này thì hai đối tượng càng "giống nhau" theo các đặc trưng đã chọn.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Bài toán hôm nay: biến trực giác "gần — xa" thành công thức toán học chính xác, có thể tính bằng NumPy cho hàng ngàn cặp đối tượng cùng lúc.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Ba ứng dụng thực tế sẽ xuất hiện xuyên suốt buổi học: tìm đối tượng tương tự (similarity search), phát hiện bất thường (anomaly detection), và phân nhóm dữ liệu (clustering).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Euclid (Euclidean norm) — độ dài của một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√(x₁² + x₂² + ... + xₙ²) = √(xᵀx)</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Chuẩn (norm) của vector x, ký hiệu ‖x‖, là độ dài của vector đó — một số không âm duy nhất, không phụ thuộc hướng.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vector trong mặt phẳng (n=2), công thức chính là định lý Pythagoras quen thuộc: cạnh huyền = √(cạnh₁² + cạnh₂²).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có thể tính gọn bằng tích vô hướng của x với chính nó: ‖x‖ = √(xᵀx) — liên hệ trực tiếp với tích vô hướng đã học ở buổi 3.</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NumPy: np.linalg.norm(x) tính trực tiếp, không cần viết tay công thức căn bậc hai.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Khoảng cách Euclid — độ lệch giữa hai điểm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d(x, y) = ‖x − y‖ = √( Σᵢ (xᵢ − yᵢ)² )</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Khoảng cách Euclid giữa hai vector x và y chính là chuẩn của vector hiệu (x − y) — "đi từ điểm y đến điểm x xa bao nhiêu".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d(x,y) = 0 khi và chỉ khi hai điểm trùng nhau; d(x,y) càng lớn, hai đối tượng càng khác biệt theo các đặc trưng đang xét.</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Tính chất đối xứng: d(x,y) = d(y,x) — thứ tự so sánh không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scipy.spatial.distance.euclidean() hoặc np.linalg.norm(x-y) đều tính được; với nhiều cặp cùng lúc dùng scipy.spatial.distance.cdist().</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Không gian đặc trưng và ba ứng dụng của khoảng cách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Không gian đặc trưng (feature space): mỗi đối tượng dữ liệu là MỘT điểm trong không gian có số chiều bằng số đặc trưng.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Similarity search: tìm k đối tượng có khoảng cách nhỏ nhất đến một đối tượng cho trước ("khách hàng giống bạn A nhất là ai?").</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Anomaly detection: đối tượng có khoảng cách trung bình đến các đối tượng khác lớn bất thường có thể là dữ liệu bất thường hoặc gian lận.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Clustering (phân nhóm): các thuật toán như K-Means dùng chính khoảng cách Euclid để gom các điểm gần nhau thành từng cụm.</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Bình phương khoảng cách và mối liên hệ với tổng bình phương sai số</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d(x,y)² = ‖x−y‖² = Σᵢ(xᵢ−yᵢ)²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thực hành, nhiều thuật toán (như K-Means) dùng BÌNH PHƯƠNG khoảng cách thay vì khoảng cách thật — vì d² tính nhanh hơn (bỏ qua bước căn bậc hai) và vẫn giữ nguyên thứ tự so sánh (d² lớn hơn khi d lớn hơn).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Công thức Σᵢ(xᵢ−yᵢ)² sẽ xuất hiện lại gần như nguyên vẹn ở buổi 12 dưới tên gọi khác: "tổng bình phương sai số" trong nguyên lý Least Squares của hồi quy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một ví dụ nữa cho thấy một vài công thức toán học nền tảng (ở đây là tổng bình phương độ lệch) liên tục tái xuất hiện dưới các tên gọi và bài toán khác nhau trong suốt môn học.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Khoảng cách không chỉ là con số: đo "gần – xa" giữa các thực thể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Nhân chủng học &amp; Kinh doanh quốc tế — Khoảng cách văn hóa (Hofstede Cultural Distance)</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nghiên cứu Geert Hofstede biểu diễn văn hóa mỗi quốc gia bằng vector 6 chiều (khoảng cách quyền lực, chủ nghĩa cá nhân, tránh rủi ro,...). Chỉ số Kogut–Singh dùng công thức tương tự khoảng cách Euclid để đo "khoảng cách văn hóa" giữa hai quốc gia — chỉ số này được doanh nghiệp dùng để đánh giá rủi ro khi mở rộng thị trường hoặc M&amp;A xuyên quốc gia.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&amp; Chẩn đoán — Phát hiện bất thường trong xét nghiệm sinh hóa</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bảng xét nghiệm máu (đường huyết, cholesterol, huyết áp,...) chính là một vector đặc trưng của bệnh nhân. Hệ thống hỗ trợ chẩn đoán tính khoảng cách Euclid từ vector này đến "vector trung bình của người khỏe mạnh" để gắn cờ các ca cần bác sĩ xem xét thêm — cùng nguyên lý anomaly detection vừa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Quy hoạch đô thị &amp; Địa lý — Bài toán vị trí cơ sở (Facility Location Problem)</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Khi chọn vị trí đặt trạm y tế, bưu điện hay trạm sạc xe điện, các nhà quy hoạch tối thiểu hóa tổng khoảng cách Euclid từ vị trí đề xuất đến tất cả khu dân cư xung quanh — bài toán tối ưu kinh điển xây dựng hoàn toàn trên khái niệm khoảng cách vừa học.</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Khoảng cách giữa ba khách hàng trong không gian đặc trưng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Ba khách hàng với 2 đặc trưng (tuổi, thu nhập/triệu):</a:t>
            </a:r>
            <a:endParaRPr lang="en-US" sz="1550" dirty="0"/>
          </a:p>
        </p:txBody>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Tuổi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Thu nhập</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27</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d(A,B)=√((25−27)²+(15−16)²)</a:t>
            </a:r>
            <a:endParaRPr lang="en-US" sz="13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d(A,B) rất nhỏ → A và B là hai khách hàng "gần nhau", có thể xếp cùng một phân khúc.</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d(A,C) và d(B,C) sẽ lớn hơn nhiều → C khác biệt rõ rệt so với A, B.</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Chỉ với phép trừ và bình phương, ta đã có căn cứ định lượng để phân khúc khách hàng.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Phát hiện chiến dịch quảng cáo bất thường bằng khoảng cách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5 chiến dịch với 2 đặc trưng (CTR %, tỷ lệ chuyển đổi %):</a:t>
            </a:r>
            <a:endParaRPr lang="en-US" sz="1550" dirty="0"/>
          </a:p>
        </p:txBody>
      </p:sp>
      <p:graphicFrame>
        <p:nvGraphicFramePr>
          <p:cNvPr id="181"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Chiến dịch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CTR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Chuyển đổi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d̄ᵢ = trung bình(d(i,j)) với mọi j≠i</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Chiến dịch 4 có CTR cao bất thường (9.8%) nhưng tỷ lệ chuyển đổi rất thấp — khoảng cách trung bình từ nó đến 3 chiến dịch còn lại sẽ LỚN HƠN HẲN.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Hệ thống tự động có thể gắn cờ chiến dịch 4 để đội ngũ marketing kiểm tra (nghi ngờ click ảo/gian lận, vì CTR cao nhưng không chuyển đổi thành hành động thực).</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9</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khoảng cách Euclid giữa các khách hàng/chiến dịch; tìm đối tượng gần nhau nhất; phát hiện đối tượng bất thường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200 khách hàng (tuổi, thu nhập, lượt xem, mức tương tác) đã dùng từ buổi 1</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scipy.spatial.distance (cdist, euclidean)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khoảng cách giữa các khách hàng; danh sách top-5 khách hàng gần nhau nhất; danh sách khách hàng bất thường</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khoảng cách Euclid giữa từng cặp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scipy.spatial.distance.cdist() để tính ma trận khoảng cách D kích thước (200,200) trong một dòng lệnh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đường chéo chính của D phải toàn số 0 (khoảng cách từ một khách hàng đến chính nó)</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Xác nhận D đối xứng: D[i,j] phải bằng D[j,i]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 = cdist(X, X, metric='euclidean')</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Tìm k khách hàng gần nhau nhất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Chọn một khách hàng bất kỳ, lấy hàng tương ứng trong D</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np.argsort() để sắp xếp và lấy ra 5 khách hàng có khoảng cách nhỏ nhất (bỏ qua khoảng cách=0 với chính nó)</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đặc trưng của 5 khách hàng này để quan sát: chúng có thực sự "giống" khách hàng gốc không?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Phát hiện khách hàng có đặc điểm khác biệt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mỗi khách hàng, tính khoảng cách TRUNG BÌNH đến tất cả các khách hàng còn lại</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Sắp xếp giảm dần, lấy ra top-5 khách hàng có khoảng cách trung bình LỚN NHẤT — đây là những khách hàng "khác biệt" nhất so với phần còn lại</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Thảo luận: khách hàng khác biệt có phải luôn là dữ liệu SAI/lỗi không, hay có thể là nhóm khách hàng đặc thù cần chiến lược riêng?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khoảng cách văn hóa Hofstede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2 quốc gia với vector văn hóa rút gọn 3 chiều: Việt Nam ≈ (70, 20, 30), Hoa Kỳ ≈ (40, 91, 46) (chỉ số minh họa: khoảng cách quyền lực, chủ nghĩa cá nhân, nam tính)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khoảng cách Euclid giữa hai vector này bằng tay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một doanh nghiệp truyền thông muốn triển khai cùng một chiến dịch quảng cáo ở cả hai quốc gia — khoảng cách văn hóa lớn nên được xử lý như thế nào trong chiến lược nội dung?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Phát hiện chiến dịch quảng cáo bất thường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tập 10 chiến dịch quảng cáo có vector đặc trưng (ngân sách, số lượt click, tỷ lệ chuyển đổi)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khoảng cách Euclid đến "vector trung bình" của cả 10 chiến dịch để xếp hạng mức độ bất thường của từng chiến dịch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chiến dịch bất thường nhất nên được đội ngũ marketing xem xét theo hướng nào — lỗi kỹ thuật, gian lận click, hay thành công vượt trội?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Bài toán vị trí cơ sở y tế cộng đồng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tọa độ (x,y) của 5 khu dân cư trên một bản đồ đơn giản (đơn vị km)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bằng trực giác một vị trí đặt trạm y tế mới sao cho tổng khoảng cách Euclid đến cả 5 khu dân cư là nhỏ nhất, giải thích cách suy luận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1 trong 5 khu dân cư có dân số đông hơn hẳn các khu còn lại, vị trí tối ưu nên thay đổi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đặc trưng có đơn vị đo lớn hơn hẳn (ví dụ thu nhập tính bằng đồng thay vì triệu đồng), khoảng cách Euclid sẽ bị ảnh hưởng như thế nào? Vấn đề này gợi ý điều gì cho buổi học tiếp theo?</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Khoảng cách Euclid có phù hợp để so sánh hai bài đăng mạng xã hội dựa trên vector từ khóa (rất nhiều chiều, đa số giá trị = 0) hay không? Bạn dự đoán vấn đề gì có thể xảy ra?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Trong bài toán phát hiện bất thường, việc gắn cờ một đối tượng là "khác biệt" có luôn đồng nghĩa với việc đối tượng đó là lỗi/gian lận không? Cho một ví dụ phản chứng.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khoảng cách Euclid giữa 5 cặp khách hàng do sinh viên tự chọn, đối chiếu bằng tay và bằng NumPy.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Viết hàm find_k_nearest(X, idx, k) trả về k khách hàng gần nhất với khách hàng tại vị trí idx.</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Đọc trước khái niệm tích vô hướng và góc giữa hai vector, chuẩn bị cho khái niệm cosine similarity ở buổi 10.</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9</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Chuẩn Euclid ‖x‖ đo độ dài một vector; khoảng cách Euclid d(x,y)=‖x−y‖ đo độ lệch giữa hai điểm dữ liệu.
• Khoảng cách nhỏ → hai đối tượng giống nhau; khoảng cách trung bình lớn bất thường → có thể là outlier.
• Ba ứng dụng cốt lõi: similarity search, anomaly detection, và nền tảng cho các thuật toán phân nhóm (clustering).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khoảng cách Euclid giữa các đối tượng dữ liệu và vận dụng để tìm đối tượng tương tự/bất thường.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Góc giữa vector và Cosine Similarity — một thước đo tương đồng KHÁC, không quan tâm độ dài mà chỉ quan tâm HƯỚNG của vector, khắc phục một số hạn chế của khoảng cách Euclid.</a:t>
            </a:r>
            <a:endParaRPr lang="en-US" sz="1700" dirty="0"/>
          </a:p>
        </p:txBody>
      </p:sp>
      <p:graphicFrame>
        <p:nvGraphicFramePr>
          <p:cNvPr id="191"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Chuẩn Euclid &amp; khoảng cách Euclid</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10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Góc giữa vector và cosine similarity</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Tính được cosine similarity giữa hai vector; phân biệt được khoảng cách và độ tương đồng; xây dựng mô hình gợi ý nội dung/sản phẩm đơn giản.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9: Chuẩn vector và khoảng cách Euclid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 khoảng cách Euclid d(x,y)=‖x−y‖ đo độ lệch giữa hai điểm — hữu ích nhưng nhạy cảm với ĐỘ LỚN (thang đo) của các đặc trưng.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để ngỏ cuối buổi 9: nếu ta chỉ quan tâm HƯỚNG của vector (sở thích, xu hướng) chứ không quan tâm độ lớn (ví dụ mức độ hoạt động), thước đo nào phù hợp hơn?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cosine similarity — thước đo tương đồng dựa trên GÓC giữa hai vector, được dùng rộng rãi nhất trong hệ thống gợi ý và tìm kiếm.</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Góc giữa hai vector và tích vô hướng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Cosine similarity: công thức và ý nghĩa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tìm kiếm, ngôn ngữ học, mạng xã hội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hệ thống gợi ý đơn giản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(20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Hai khách hàng "giống nhau" theo cách nào?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Khách hàng A xem rất nhiều nội dung (100 video/tháng) với tỷ lệ 80% thể thao – 20% ẩm thực; khách hàng B xem ít nội dung hơn (10 video/tháng) nhưng CÙNG tỷ lệ 80% thể thao – 20% ẩm thực.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Theo khoảng cách Euclid, A và B có thể "xa" nhau (vì tổng số lượt xem chênh lệch lớn). Nhưng về SỞ THÍCH, hai người này gần như giống hệt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Cosine similarity được thiết kế chính xác cho tình huống này: đo độ tương đồng dựa trên HƯỚNG (tỷ lệ giữa các thành phần), bỏ qua độ lớn tổng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là lý do cosine similarity là công cụ tiêu chuẩn trong tìm kiếm văn bản, hệ thống gợi ý và phân tích hành vi người dùng.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Tích vô hướng và góc giữa hai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x·y = ‖x‖‖y‖cosθ  ⟹  cosθ = (x·y) / (‖x‖‖y‖)</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Công thức hình học của tích vô hướng liên hệ trực tiếp tích vô hướng (buổi 3), chuẩn Euclid (buổi 9) và góc θ giữa hai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θ = 0° (hai vector cùng hướng): cosθ = 1. Khi θ = 90° (vuông góc, không liên quan): cosθ = 0. Khi θ = 180° (ngược hướng): cosθ =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lần thứ ba tích vô hướng xuất hiện trong môn học — mỗi lần một vai trò khác nhau: tính điểm số (buổi 3), tính chuẩn (buổi 9), và giờ là đo góc.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Cosine similarity — độ tương đồng dựa trên hướng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cos_sim(x,y) = (x·y) / (‖x‖ ‖y‖) = Σxᵢyᵢ / (√Σxᵢ²·√Σyᵢ²)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Cosine similarity chính là cosθ ở công thức trên — giá trị nằm trong đoạn [−1, 1] (hoặc [0,1] nếu dữ liệu không âm, như tần suất từ khóa).</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cos_sim = 1: hai vector cùng hướng hoàn toàn (giống nhau tối đa về tỷ lệ). cos_sim = 0: không liên quan. cos_sim gần −1: xu hướng đối lập.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Khác biệt cốt lõi với khoảng cách Euclid: cosine similarity KHÔNG bị ảnh hưởng bởi việc nhân vector với một hằng số dương (đổi độ lớn nhưng giữ nguyên hướng).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Khi nào dùng khoảng cách Euclid, khi nào dùng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Dùng khoảng cách Euclid khi ĐỘ LỚN có ý nghĩa quan trọng (ví dụ: tuổi, thu nhập — chênh lệch số lượng thực sự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Dùng cosine similarity khi TỶ LỆ/HƯỚNG quan trọng hơn độ lớn tổng thể (ví dụ: hồ sơ sở thích, vector từ khóa văn bản có độ dài bài viết khác nhau).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thực hành, vector từ khóa văn bản/bài đăng thường có RẤT NHIỀU chiều và đa số giá trị bằng 0 (dữ liệu thưa — sparse) — cosine similarity xử lý tốt trường hợp này hơn khoảng cách Euclid.</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Cosine distance và mối liên hệ với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cosine_distance(x,y) = 1 − cos_sim(x,y)</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Nhiều thư viện (như scipy) trả về "cosine distance" thay vì "cosine similarity" trực tiếp — hai đại lượng liên hệ đơn giản qua công thức 1 trừ nhau.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cosine distance = 0 khi hai vector cùng hướng hoàn toàn (giống hệt về hướng); cosine distance càng lớn, hai vector càng khác hướng.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thực hành quan trọng: luôn kiểm tra tài liệu (documentation) của hàm đang dùng để biết đang nhận về SIMILARITY (càng lớn càng giống) hay DISTANCE (càng lớn càng khác) — nhầm lẫn hai khái niệm này là lỗi rất phổ biến.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Đo "độ giống" trong tìm kiếm, ngôn ngữ và mạng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thư viện &amp; Truy hồi thông tin (Information Retrieval) — Công cụ tìm kiếm</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công cụ tìm kiếm (Google, thư viện số) biểu diễn mỗi tài liệu và mỗi truy vấn tìm kiếm thành vector tần suất từ khóa (document-term vector, thường dùng trọng số TF-IDF), rồi xếp hạng kết quả theo cosine similarity giữa vector truy vấn và vector tài liệu — nguyên lý cốt lõi của tìm kiếm hiện đại suốt hơn 40 năm qua.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Ngôn ngữ học tính toán (Computational Linguistics) — Word embeddings</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như Word2Vec, GloVe biểu diễn mỗi từ thành một vector số (embedding) sao cho các từ có nghĩa gần nhau có cosine similarity cao — ví dụ vector('vua') và vector('nữ hoàng') có cosine similarity lớn hơn nhiều so với vector('vua') và vector('chuối'). Đây là nền tảng của các mô hình ngôn ngữ hiện đại.</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truyền thông — Lý thuyết đồng dạng (Homophily) trong mạng xã hội</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Nghiên cứu xã hội học chỉ ra con người có xu hướng kết nối với người có sở thích/quan điểm tương tự (homophily). Các nền tảng mạng xã hội định lượng "tương tự" này bằng cosine similarity giữa vector hành vi (loại nội dung tương tác) để gợi ý kết bạn hoặc nội dung.</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So sánh sở thích nội dung của hai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Vector tỷ lệ xem nội dung (thể thao, ẩm thực, du lịch) của 2 khách hàng:</a:t>
            </a:r>
            <a:endParaRPr lang="en-US" sz="1550" dirty="0"/>
          </a:p>
        </p:txBody>
      </p:sp>
      <p:graphicFrame>
        <p:nvGraphicFramePr>
          <p:cNvPr id="201"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Thể thao</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Ẩm thực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Du lịch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 (100 video/tháng)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 (10 video/tháng)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cos_sim(A,B) = (A·B)/(‖A‖‖B‖) ≈ 1.0</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Dù tổng lượt xem chênh lệch 10 lần, cosine similarity giữa A và B gần bằng 1 — vì tỷ lệ sở thích HOÀN TOÀN giống nhau.</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Nếu dùng khoảng cách Euclid, d(A,B) sẽ khá lớn do chênh lệch tổng lượt xem — kết luận khác hẳn.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Minh chứng trực tiếp cho lý do vì sao chọn đúng thước đo tương đồng quan trọng đến vậy.</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Cosine similarity giữa 2 tài liệu văn bản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Vector tần suất 4 từ khóa (AI, marketing, dữ liệu, khách hàng) của 2 tiêu đề bài viết:</a:t>
            </a:r>
            <a:endParaRPr lang="en-US" sz="1550" dirty="0"/>
          </a:p>
        </p:txBody>
      </p:sp>
      <p:graphicFrame>
        <p:nvGraphicFramePr>
          <p:cNvPr id="202"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Tài liệu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AI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marketing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dữ liệu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cos_sim(A,B) = 1.0  (B = 2×A theo từng thành phần)</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Vector của Bài B là vector của Bài A nhân đôi từng thành phần — nghĩa là CÙNG HƯỚNG tuyệt đối, dù độ dài bài viết B gấp đôi bài A.</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bằng chứng toán học trực tiếp: cosine similarity không bị ảnh hưởng bởi việc nhân vector với một hằng số dương (độ dài văn bản khác nhau).</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10</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cosine similarity giữa các khách hàng; xây dựng mô hình gợi ý nội dung đơn giản dựa trên độ tương đồng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Vector tỷ lệ tương tác theo 5 chủ đề nội dung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scipy.spatial.distance.cosine (hoặc tự viết công thức), sklearn.metrics.pairwise.cosine_similarity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cosine similarity; hàm gợi ý top-3 nội dung/khách hàng tương tự</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Tự viết hàm cosine similarity và đối chiếu với thư viện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hàm cosine_similarity(x, y) từ công thức gốc bằng np.dot và np.linalg.norm</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Đối chiếu kết quả với sklearn.metrics.pairwise.cosine_similarity để xác nhận tính đúng đắn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cosine_similarity(x, x) phải luôn bằng 1 (một vector so với chính nó)</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cos_sim = np.dot(x,y) / (np.linalg.norm(x)*np.linalg.norm(y))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ma trận cosine similarity cho toàn bộ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sklearn để tính ma trận tương đồng (200,200) trong một dòng lệnh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với ma trận khoảng cách Euclid đã tính ở buổi 9 (cùng dữ liệu) — quan sát các cặp khách hàng được xếp hạng khác nhau ra sao</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Xây dựng hàm gợi ý nội dung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một khách hàng cho trước, tìm 3 khách hàng có cosine similarity cao nhất (không tính chính họ)</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Gợi ý: đề xuất nội dung mà 3 khách hàng "tương tự" này tương tác nhiều nhưng khách hàng gốc chưa xem — đây chính là nguyên lý cốt lõi của collaborative filtering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Tìm tài liệu liên quan bằng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3 đoạn văn bản ngắn được biểu diễn thành vector tần suất 5 từ khóa (giả lập, không cần xử lý ngôn ngữ tự nhiên thật)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cosine similarity giữa các cặp văn bản, xác định 2 văn bản nào "gần nghĩa" nhau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vì sao công cụ tìm kiếm ưu tiên cosine similarity hơn khoảng cách Euclid khi so khớp truy vấn với hàng triệu tài liệu có độ dài khác nhau?</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Gợi ý người theo dõi có sở thích tương tự</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vector hành vi tương tác (like, share, comment theo 4 chủ đề) của 5 người dùng mạng xã hội giả lập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Xác định cặp người dùng có cosine similarity cao nhất — đề xuất họ có thể muốn theo dõi lẫn nhau hoặc thấy nội dung của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rủi ro: gợi ý dựa trên tương đồng sở thích quá mạnh có thể góp phần tạo "buồng vọng âm" (echo chamber)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Word embeddings và loại suy ngôn ngữ</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Giải thích (không cần code) vì sao trong không gian word embeddings, vector('Hà Nội') − vector('Việt Nam') + vector('Pháp') lại cho ra một vector gần với vector('Paris') nhất theo cosine similarity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phép "loại suy" (analogy) này gợi ý điều gì về cách các mô hình ngôn ngữ 'hiểu' mối quan hệ ngữ nghĩa giữa các từ, hoàn toàn thông qua vector và góc?</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Hai khách hàng có cosine similarity = 1 có nhất thiết phải có cùng khoảng cách Euclid = 0 không? Vì sao?</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khách hàng hoàn toàn KHÔNG tương tác với nội dung nào (vector toàn số 0), cosine similarity của họ với bất kỳ ai khác sẽ tính được không? Vấn đề toán học nào xảy ra?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"Buồng vọng âm" (echo chamber) trên mạng xã hội có liên quan gì đến việc hệ thống gợi ý dựa quá nhiều vào cosine similarity? Có giải pháp nào để cân bằng?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cosine similarity giữa 3 cặp khách hàng do sinh viên tự chọn, so sánh với khoảng cách Euclid tương ứng và giải thích khác biệt.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Mở rộng hàm gợi ý ở lab để trả về top-5 thay vì top-3, và loại bỏ các khách hàng có tổng tương tác quá thấp (&lt; 5 lượt) khỏi kết quả gợi ý.</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10</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Cosine similarity = cosθ = (x·y)/(‖x‖‖y‖) đo độ tương đồng dựa trên HƯỚNG, không phụ thuộc độ lớn của vector.
• Khoảng cách Euclid phù hợp khi độ lớn có ý nghĩa; cosine similarity phù hợp khi tỷ lệ/hướng quan trọng hơn, đặc biệt với dữ liệu thưa nhiều chiều.
• Cosine similarity là nền tảng toán học của công cụ tìm kiếm, word embeddings và hệ thống gợi ý nội dung.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cosine similarity, phân biệt được với khoảng cách Euclid và xây dựng được một mô hình gợi ý đơn giản.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Chuẩn hóa dữ liệu — giải quyết triệt để vấn đề "thang đo khác nhau" đã nhắc đến ở buổi 9, chuẩn bị nền tảng sạch cho các mô hình hồi quy ở buổi 12-14.</a:t>
            </a:r>
            <a:endParaRPr lang="en-US" sz="17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Góc giữa vector &amp; cosine similarity</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hệ thống gợi ý</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11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Chuẩn hóa dữ liệu</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Áp dụng chuẩn hóa Min-Max và Z-score ở mức ứng dụng; đánh giá ảnh hưởng của chuẩn hóa đến khoảng cách, độ tương đồng và mô hình dự đoán.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10: Góc giữa vector và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9-10 đã hai lần cảnh báo: khi các đặc trưng có thang đo khác nhau (tuổi tính bằng năm, thu nhập tính bằng triệu đồng), khoảng cách Euclid bị đặc trưng có giá trị lớn hơn "lấn át".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giải quyết triệt để vấn đề này: chuẩn hóa dữ liệu (data normalization/standardization) — đưa mọi đặc trưng về cùng một thang đo TRƯỚC khi so sánh hoặc đưa vào mô hình.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cũng là bước chuẩn bị quan trọng cho nhóm buổi hồi quy (12-14) sắp tới.</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Vấn đề của thang đo khác nhau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Chuẩn hóa Min-Max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Chuẩn hóa Z-score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HDI, tăng trưởng trẻ em, PISA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Vì sao "3 điểm khác biệt về tuổi" và "3 triệu đồng khác biệt về thu nhập" không thể so sánh trực tiếp?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Giả sử một mô hình lập kế hoạch truyền thông cần so sánh các kênh quảng cáo dựa trên 3 chỉ số: reach (hàng trăm ngàn), tần suất (1-10 lần), và ngân sách (hàng chục triệu đồng).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Nếu đưa thẳng 3 chỉ số này vào công thức khoảng cách hoặc mô hình hồi quy, chỉ số có ĐƠN VỊ LỚN NHẤT (reach, ngân sách) sẽ áp đảo hoàn toàn chỉ số có đơn vị nhỏ (tần suất) — dù về mặt ý nghĩa cả ba đều quan trọng như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Chuẩn hóa dữ liệu là bước tiền xử lý bắt buộc: đưa các đặc trưng có đơn vị/thang đo khác nhau về một thang đo CHUNG, có thể so sánh công bằng.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Min-Max — đưa dữ liệu về đoạn [0,1]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 − min(x)) / (max(x) − min(x))</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Chuẩn hóa Min-Max co giãn tuyến tính mọi giá trị của một đặc trưng về đoạn [0, 1]: giá trị nhỏ nhất → 0, giá trị lớn nhất →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Ưu điểm: dễ hiểu, giữ nguyên hình dạng phân bố dữ liệu gốc, phù hợp khi biết trước khoảng giá trị hợp lý (ví dụ điểm số 0-100).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Nhược điểm: rất nhạy cảm với outlier — một giá trị cực đại bất thường sẽ "nén" toàn bộ dữ liệu còn lại về gần 0.</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Z-score — đưa dữ liệu về độ lệch so với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 − μ) / σ    (μ: trung bình, σ: độ lệch chuẩn)</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Z-score đo mỗi giá trị lệch bao nhiêu ĐỘ LỆCH CHUẨN so với giá trị trung bình của đặc trưng đó.</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chuẩn hóa, đặc trưng có trung bình = 0 và độ lệch chuẩn = 1 — không bị giới hạn trong đoạn cố định như Min-Max.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Ít nhạy cảm với outlier hơn Min-Max (vì dùng trung bình/độ lệch chuẩn thay vì giá trị min/max cực đoan); được ưa chuộng trong hầu hết mô hình thống kê và machine learning.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ảnh hưởng thế nào đến khoảng cách và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chuẩn hóa, mọi đặc trưng đóng góp CÔNG BẰNG vào khoảng cách Euclid (buổi 9) — không còn đặc trưng nào bị "lấn át" chỉ vì đơn vị đo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Đối với hồi quy tuyến tính/logistic (buổi 3, 4, 12-14), chuẩn hóa giúp các hệ số/trọng số dễ so sánh với nhau hơn (một trọng số lớn thực sự phản ánh ảnh hưởng lớn, không phải do đơn vị đo).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thực hành quan trọng: phải tính min/max hoặc μ/σ từ tập dữ liệu HUẤN LUYỆN, sau đó áp dụng CÙNG các giá trị đó cho dữ liệu mới — không tính lại riêng cho từng tập.</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Robust Scaling — chuẩn hóa bền vững với outlier (giới thiệu mở rộng)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 − median(x)) / IQR(x)   (IQR: khoảng tứ phân vị)</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dữ liệu có nhiều outlier cực đoan (ví dụ một vài chiến dịch viral có lượt tương tác cao gấp trăm lần bình thường), cả Min-Max lẫn Z-score đều bị outlier chi phối mạnh.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Robust Scaling dùng TRUNG VỊ (median) thay vì trung bình, và KHOẢNG TỨ PHÂN VỊ (IQR — khoảng cách giữa phân vị 25% và 75%) thay vì độ lệch chuẩn — cả hai đại lượng này ít bị outlier ảnh hưởng hơn nhiều.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sklearn.preprocessing.RobustScaler cài đặt sẵn phương pháp này — sinh viên chỉ cần biết TỒN TẠI lựa chọn thứ ba này khi Min-Max và Z-score đều không phù hợp.</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để so sánh công bằng: từ chỉ số phát triển con người đến sức khỏe trẻ em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phát triển — Chỉ số Phát triển Con người (HDI, UNDP)</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Liên Hợp Quốc tính HDI của mỗi quốc gia từ 3 chỉ số có đơn vị hoàn toàn khác nhau: tuổi thọ trung bình (năm), số năm đi học (năm), và GNI bình quân đầu người (USD, chênh lệch hàng trăm lần giữa các nước). UNDP dùng chính công thức chuẩn hóa Min-Max cho từng chỉ số trước khi gộp thành một điểm số tổng hợp duy nhất.</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&amp; Nhi khoa — Biểu đồ tăng trưởng WHO (Growth Charts) và Z-score</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Tổ chức Y tế Thế giới (WHO) đánh giá tình trạng dinh dưỡng trẻ em bằng cách chuyển cân nặng/chiều cao của từng trẻ thành Z-score so với phân bố chuẩn theo độ tuổi (weight-for-age z-score) — một trẻ có z-score dưới −2 được xem là suy dinh dưỡng. Đây là ứng dụng y tế trực tiếp của công thức Z-score vừa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Giáo dục &amp; Khảo thí — Chuẩn hóa điểm thi PISA, SAT</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Khi so sánh học sinh giữa các quốc gia hoặc các đợt thi khác nhau (độ khó đề khác nhau), các tổ chức khảo thí như PISA, SAT không dùng điểm thô mà chuẩn hóa điểm số (tương tự Z-score) để đảm bảo công bằng khi so sánh giữa các năm/các nước có đề thi khác nhau.</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Chuẩn hóa các chỉ số kênh truyền thông trước khi so sánh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Ba kênh quảng cáo với reach (nghìn người), tần suất (lần) và ngân sách (triệu đồng):</a:t>
            </a:r>
            <a:endParaRPr lang="en-US" sz="1550" dirty="0"/>
          </a:p>
        </p:txBody>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Kênh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Reach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Tần suất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Search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x' = (x−min)/(max−min)  áp dụng cho từng cột</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Trước chuẩn hóa: reach (hàng trăm) và ngân sách (hàng trăm) sẽ áp đảo hoàn toàn tần suất (chỉ 1 chữ số) trong bất kỳ phép so sánh nào.</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Min-Max từng cột về [0,1], cả ba chỉ số đóng góp công bằng khi tính "điểm hiệu quả tổng hợp" của mỗi kênh.</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là bước tiền xử lý bắt buộc trước khi xây dựng mô hình Media Mix Modeling ở buổi 14.</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Chuẩn hóa Z-score cho một chỉ số y tế</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Cân nặng (kg) của 5 trẻ 5 tuổi, so với trung bình μ=18kg, độ lệch chuẩn σ=2kg:</a:t>
            </a:r>
            <a:endParaRPr lang="en-US" sz="1550" dirty="0"/>
          </a:p>
        </p:txBody>
      </p:sp>
      <p:graphicFrame>
        <p:nvGraphicFramePr>
          <p:cNvPr id="223"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Trẻ</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Cân nặng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Z-score</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(x−18)/2</a:t>
            </a:r>
            <a:endParaRPr lang="en-US" sz="13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Trẻ số 2 có z-score = −2.0 — theo tiêu chuẩn WHO, đây là ngưỡng CẦN CHÚ Ý về nguy cơ suy dinh dưỡng.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Cùng một công thức Z-score vừa học ở phần lý thuyết, chỉ đổi ngữ cảnh từ 'chiến dịch truyền thông' sang 'chỉ số y tế trẻ em'.</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Áp dụng Min-Max và Z-score cho các biến truyền thông; so sánh khoảng cách/mô hình trước và sau chuẩn hóa</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chiến dịch (ngân sách, lượt tiếp cận, lượt nhấp, mức tương tác, doanh thu)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(viết công thức tay); sklearn.preprocessing.MinMaxScaler, StandardScaler (đối chiếu)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Dữ liệu đã chuẩn hóa theo 2 phương pháp; báo cáo so sánh khoảng cách trước/sau chuẩn hóa</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Min-Max và Z-score bằng NumPy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hàm min_max_normalize(x) và z_score_normalize(x) áp dụng cho từng cột của ma trận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Đối chiếu kết quả với sklearn.preprocessing.MinMaxScaler và StandardScaler để xác nhận tính đúng đắn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min/max và mean/std của dữ liệu trước và sau chuẩn hóa để xác nhận trực quan</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 = (x - x.mean()) / x.std()</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khoảng cách trước và sau khi chuẩn hóa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lại ma trận khoảng cách Euclid (như buổi 9) trên dữ liệu GỐC (chưa chuẩn hóa) và trên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cặp khách hàng/chiến dịch được xếp hạng "gần nhau nhất" có thay đổi không khi chuyển từ dữ liệu gốc sang dữ liệu chuẩn hóa?</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Đánh giá ảnh hưởng của chuẩn hóa đến mô hình dự đoán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lại mô hình logistic regression (buổi 4) với trọng số cho trước, áp dụng trên dữ liệu gốc và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giá trị z=wᵀx+b trong hai trường hợp — quan sát mức độ mà đặc trưng có đơn vị lớn chi phối kết quả khi KHÔNG chuẩn hóa</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HDI rút gọn cho 3 quốc gia giả lập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3 quốc gia với tuổi thọ (năm), số năm đi học (năm), và GNI/người (USD, chênh lệch lớn)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Áp dụng chuẩn hóa Min-Max cho từng chỉ số, sau đó tính trung bình cộng đơn giản của 3 chỉ số đã chuẩn hóa làm "HDI rút gọn"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không chuẩn hóa GNI trước, kết quả xếp hạng 3 quốc gia sẽ sai lệch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Xây dựng điểm hiệu quả kênh tổng hợp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ví dụ 3 kênh TV/Social/Search ở trên, chuẩn hóa Z-score cho cả reach, tần suất và ngân sách (ngân sách lấy giá trị NGHỊCH — càng thấp càng tốt)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công thức điểm hiệu quả tổng hợp = trung bình có trọng số của các chỉ số đã chuẩn hóa, và xếp hạng 3 kênh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So sánh điểm PISA giữa các năm thi khác nhau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điểm thô môn Toán của một học sinh qua 2 kỳ thi PISA khác nhau (đề khác độ khó, phân bố điểm toàn cầu khác nhau mỗi kỳ)</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Giải thích (không cần tính toán chi tiết) vì sao KHÔNG thể so sánh trực tiếp 2 điểm thô này, và chuẩn hóa Z-score theo phân bố của MỖI kỳ thi giúp so sánh công bằng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WHO chọn Z-score thay vì Min-Max để đánh giá suy dinh dưỡng trẻ em? (Gợi ý: nghĩ về việc có nên để một trường hợp cân nặng cực đoan làm lệch thang đo của toàn bộ nhóm trẻ còn lại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kênh truyền thông MỚI xuất hiện với ngân sách vượt xa mọi kênh trước đó, việc chuẩn hóa lại toàn bộ dữ liệu (thay vì áp dụng min/max cũ) có thể gây ra vấn đề gì cho việc so sánh với các báo cáo trước đây?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Chuẩn hóa có làm thay đổi Ý NGHĨA của dữ liệu gốc không, hay chỉ thay đổi CÁCH biểu diễn? Cho ví dụ để minh họa.</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hóa Min-Max và Z-score cho biến 'doanh thu' trong bộ dữ liệu chiến dịch, so sánh phân bố trước/sau bằng histogram.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Giải thích bằng lời (không cần code) vì sao chuẩn hóa là bước cần thiết trước khi xây mô hình hồi quy nhiều biến ở buổi 13.</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Chuẩn hóa Min-Max đưa dữ liệu về [0,1]; chuẩn hóa Z-score đưa dữ liệu về trung bình 0, độ lệch chuẩn 1 — mỗi phương pháp có ưu/nhược điểm riêng.
• Chuẩn hóa giải quyết vấn đề đặc trưng có đơn vị lớn 'lấn át' đặc trưng khác trong khoảng cách và mô hình dự đoán.
• Chuẩn hóa là bước tiền xử lý phổ biến trong nhiều lĩnh vực xã hội (HDI, tăng trưởng trẻ em, khảo thí), không riêng gì dữ liệu truyền thông.
</a:t>
            </a:r>
            <a:r>
              <a:rPr lang="en-US" sz="1550" b="1" dirty="0">
                <a:solidFill>
                  <a:srgbClr val="262626"/>
                </a:solidFill>
                <a:latin typeface="Aptos" pitchFamily="34" charset="0"/>
                <a:ea typeface="Aptos" pitchFamily="34" charset="-122"/>
                <a:cs typeface="Aptos" pitchFamily="34" charset="-120"/>
              </a:rPr>
              <a:t>Checklist CLO G2.1, G6.1: </a:t>
            </a:r>
            <a:r>
              <a:rPr lang="en-US" sz="1550" dirty="0">
                <a:solidFill>
                  <a:srgbClr val="262626"/>
                </a:solidFill>
                <a:latin typeface="Aptos" pitchFamily="34" charset="0"/>
                <a:ea typeface="Aptos" pitchFamily="34" charset="-122"/>
                <a:cs typeface="Aptos" pitchFamily="34" charset="-120"/>
              </a:rPr>
              <a:t>Sinh viên áp dụng được Min-Max và Z-score, và đánh giá được ảnh hưởng của chuẩn hóa đến khoảng cách và mô hình dự đoán.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Hồi quy tuyến tính đơn — bắt đầu nhóm 3 buổi về hồi quy (12-14), xây dựng mô hình dự đoán giá trị liên tục (không còn là phân loại nhị phân như buổi 4) từ một hoặc nhiều biến đầu vào.</a:t>
            </a:r>
            <a:endParaRPr lang="en-US" sz="1700" dirty="0"/>
          </a:p>
        </p:txBody>
      </p:sp>
      <p:graphicFrame>
        <p:nvGraphicFramePr>
          <p:cNvPr id="233"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Min-Max &amp; Z-score</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12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Hồi quy tuyến tính đơn</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và trực quan hóa mô hình hồi quy tuyến tính đơn để dự đoán giá trị liên tục; đánh giá chất lượng mô hình thông qua sai số dự đoán.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11: Chuẩn hóa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9-11 đã trang bị bộ công cụ đo lường: khoảng cách Euclid, cosine similarity, chuẩn hóa dữ liệu — tất cả phục vụ việc SO SÁNH đối tượng.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4 từng học logistic regression để dự đoán MỘT NHÃN nhị phân (có/không nhấp quảng cáo). Hôm nay quay lại bài toán dự đoán, nhưng với mục tiêu khác hẳn: dự đoán một GIÁ TRỊ LIÊN TỤC (ví dụ: doanh thu, mức độ tương tác).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mở đầu: nếu biết ngân sách quảng cáo, ta có thể dự đoán TRƯỚC mức độ tương tác kỳ vọng hay không? Bằng công cụ toán học nào?</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Bài toán dự đoán giá trị liên tục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Đường hồi quy tuyến tính và nguyên lý bình phương tối thiểu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kinh tế học, y tế công cộng, khoa học chính trị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dự đoán mức tương tác từ ngân sách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phân loại sang dự đoán số: bài toán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agency truyền thông muốn trả lời câu hỏi: "Nếu chi 50 triệu đồng cho quảng cáo, mức độ tương tác (Engagement Score) kỳ vọng là bao nhiêu?" — đây KHÔNG phải câu hỏi có/không, mà là câu hỏi về một con số cụ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Bài toán hồi quy (regression): dự đoán một biến phụ thuộc (dependent variable, ví dụ Engagement) liên tục dựa trên một hoặc nhiều biến độc lập (independent variable, ví dụ ngân sách).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Hồi quy tuyến tính đơn (simple linear regression) là dạng đơn giản nhất: chỉ MỘT biến độc lập, và giả định mối quan hệ giữa hai biến là một ĐƯỜNG THẲNG.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β₀ + β₁x   (β₀: hệ số chặn, β₁: hệ số góc/độ dốc)</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(đọc là "y mũ") là giá trị DỰ ĐOÁN, để phân biệt với giá trị THỰC TẾ y quan sát được trong dữ liệu.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β₀ (hệ số chặn — intercept): giá trị dự đoán khi x = 0. β₁ (hệ số góc — slope): mỗi khi x tăng 1 đơn vị, ŷ thay đổi trung bình β₁ đơn vị.</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chính là phương trình đường thẳng y=ax+b quen thuộc từ toán phổ thông — điểm khác biệt là bây giờ a, b (tức β₁, β₀) được TÌM RA từ dữ liệu thực tế, không cho trước.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Sai số dự đoán (residual) và nguyên lý bình phương tối thiểu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eᵢ = yᵢ − ŷᵢ  ;  minimize Σᵢ eᵢ² = Σᵢ (yᵢ − β₀ − β₁xᵢ)²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Sai số dự đoán (residual) eᵢ là khoảng cách theo trục dọc giữa giá trị thực tế yᵢ và giá trị dự đoán ŷᵢ trên đường hồi quy.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Nguyên lý bình phương tối thiểu (Least Squares): chọn β₀, β₁ sao cho TỔNG BÌNH PHƯƠNG của mọi sai số là nhỏ nhất — bình phương để sai số dương/âm không triệt tiêu nhau, đồng thời phạt nặng các sai số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Về mặt hình học: trong tất cả đường thẳng có thể vẽ qua đám mây điểm dữ liệu, đường hồi quy Least Squares là đường "gần" các điểm dữ liệu nhất theo tiêu chí bình phương sai số.</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Đánh giá chất lượng mô hình qua sai số dự đoán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MAE = (1/m)Σ|eᵢ|  ;  MSE = (1/m)Σeᵢ²  ;  RMSE = √MSE</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MAE (Mean Absolute Error): sai số trung bình theo giá trị tuyệt đối — dễ diễn giải (cùng đơn vị với 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MSE/RMSE (Mean/Root Squared Error): phạt nặng hơn các sai số lớn do có bình phương; RMSE đưa về lại đúng đơn vị của 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Mô hình có RMSE càng nhỏ (so với độ lớn trung bình của y) thì dự đoán càng đáng tin cậy — nhưng RMSE=0 tuyệt đối gần như không thể và cũng là dấu hiệu đáng ngờ (overfitting).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Hệ số xác định R² — mô hình giải thích được bao nhiêu phần biến thiên?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R² = 1 − (Σ(yᵢ−ŷᵢ)² / Σ(yᵢ−ȳ)²)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(đọc "R bình phương") so sánh sai số của mô hình với sai số nếu chỉ đơn giản dự đoán bằng GIÁ TRỊ TRUNG BÌNH ȳ cho mọi trường hợp.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 1: mô hình dự đoán hoàn hảo. R² = 0: mô hình không tốt hơn việc đoán trung bình. R² có thể âm nếu mô hình còn tệ hơn cả đoán trung bình.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được dùng phổ biến hơn MAE/RMSE khi cần so sánh CHẤT LƯỢNG tương đối giữa các mô hình khác nhau, vì nó không phụ thuộc đơn vị của y (luôn nằm trong thang chuẩn dễ diễn giải).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Đường thẳng kể chuyện: hồi quy tuyến tính trong kinh tế, y tế và chính trị</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vĩ mô — Đường cong Phillips (Phillips Curve)</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kinh tế học A.W. Phillips (1958) phát hiện mối quan hệ (gần tuyến tính trong ngắn hạn) giữa tỷ lệ thất nghiệp và tỷ lệ lạm phát tiền lương — một trong những mô hình hồi quy có ảnh hưởng nhất lịch sử kinh tế học, vẫn được ngân hàng trung ương tham khảo khi hoạch định chính sách tiền tệ.</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Đường cong Preston (thu nhập và tuổi thọ)</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nhân khẩu học Samuel Preston (1975) hồi quy tuổi thọ trung bình theo GDP bình quân đầu người của các quốc gia, cho thấy thu nhập cao hơn tương quan với tuổi thọ cao hơn (dù mối quan hệ thực tế hơi cong, phần đầu gần như tuyến tính) — công cụ kinh điển trong nghiên cứu bất bình đẳng y tế toàn cầu.</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Chi tiêu vận động tranh cử và kết quả bầu cử</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khoa học chính trị thường hồi quy tỷ lệ phiếu bầu của ứng viên theo ngân sách vận động tranh cử để ước lượng "hiệu suất trên mỗi đồng chi tiêu" — hệ số góc β₁ trong các nghiên cứu này chính là con số các chiến dịch tranh cử thực sự quan tâm.</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Dự đoán mức tương tác từ ngân sách quảng cáo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Dữ liệu 5 chiến dịch (ngân sách triệu đồng, Engagement Score):</a:t>
            </a:r>
            <a:endParaRPr lang="en-US" sz="1550" dirty="0"/>
          </a:p>
        </p:txBody>
      </p:sp>
      <p:graphicFrame>
        <p:nvGraphicFramePr>
          <p:cNvPr id="243"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Chiến dịch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Engagement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ŷ = β₀ + β₁·ngân_sách  (ước lượng: β₀≈10, β₁≈1.3)</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Đường hồi quy ước lượng cho thấy mỗi 1 triệu đồng ngân sách tăng thêm, Engagement Score kỳ vọng tăng khoảng 1.3 điểm.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Với ngân sách 25 triệu (chưa từng xuất hiện trong dữ liệu), mô hình có thể NỘI SUY dự đoán Engagement ≈ β₀+β₁×25.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là giá trị cốt lõi của hồi quy: dự đoán cho các trường hợp CHƯA TỪNG quan sát.</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Đường cong Phillips rút gọn (kinh tế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Dữ liệu giả lập 5 năm (tỷ lệ thất nghiệp %, tỷ lệ lạm phát %):</a:t>
            </a:r>
            <a:endParaRPr lang="en-US" sz="1550" dirty="0"/>
          </a:p>
        </p:txBody>
      </p:sp>
      <p:graphicFrame>
        <p:nvGraphicFramePr>
          <p:cNvPr id="24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Năm</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Thất nghiệp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Lạm phát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ŷ_lạm_phát = β₀ + β₁·thất_nghiệp  (β₁ ước lượng ÂM)</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góc β₁ ÂM: thất nghiệp tăng thường đi kèm lạm phát giảm — đúng như quan sát gốc của Phillips năm 1958.</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Một mô hình hồi quy tuyến tính đơn giản đã từng ảnh hưởng đến chính sách tiền tệ của nhiều quốc gia trong hàng chục năm.</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tuyến tính đơn dự đoán Engagement/doanh thu từ ngân sách quảng cáo; trực quan hóa đường hồi quy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chiến dịch (ngân sách quảng cáo, Engagement Score, doanh thu)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(np.polyfit), sklearn.linear_model.LinearRegression,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Đồ thị điểm dữ liệu + đường hồi quy; bảng MAE/RMSE của mô hình</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sklearn.linear_model.LinearRegression().fit() với X là ngân sách, y là Engagement Score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model.intercept_ (β₀) và model.coef_ (β₁), diễn giải ý nghĩa thực tế của hai hệ số này</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model.fit(X.reshape(-1,1), 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Trực quan hóa đường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scatter plot dữ liệu thực tế (ngân sách vs Engagement)</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đè lên đường hồi quy ŷ=β₀+β₁x bằng matplotlib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Quan sát trực quan: các điểm dữ liệu phân bố quanh đường hồi quy như thế nào — gần sát hay phân tán rộng?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sai số dự đoán và đánh giá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ŷ cho toàn bộ dữ liệu, sau đó tính MAE và RMSE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RMSE với độ lệch chuẩn của y gốc — nếu RMSE nhỏ hơn nhiều so với độ lệch chuẩn, mô hình đang nắm bắt được xu hướng thực sự</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MAE, RMSE = mean(|y-ŷ|), sqrt(mean((y-ŷ)²))</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Hồi quy đơn giản kiểu đường cong Phillips</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6 năm: tỷ lệ thất nghiệp (%) và tỷ lệ lạm phát (%)</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Ước lượng bằng mắt (hoặc np.polyfit) một đường hồi quy tuyến tính đơn giản giữa hai biến này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hệ số góc âm trong ví dụ này có ý nghĩa kinh tế gì? Mối quan hệ này có luôn đúng trong dài hạn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Dự đoán doanh thu từ số lượt hiển thị quảng cáo (impressions)</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Xây dựng mô hình hồi quy đơn giữa số lượt hiển thị (impressions, nghìn) và doanh thu (triệu đồng) từ dữ liệu chiến dịch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mô hình để dự đoán doanh thu kỳ vọng nếu tăng impressions lên 20% so với mức trung bình hiện tại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dự đoán này có đáng tin cậy nếu mức tăng 20% vượt xa phạm vi dữ liệu từng quan sát (ngoại suy)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Đường cong Preston (thu nhập và tuổi thọ)</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5 quốc gia (GDP/người nghìn USD, tuổi thọ trung bình năm)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Ước lượng hồi quy tuyến tính đơn giữa hai biến, tính R² để đánh giá mức độ phù hợp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tại sao đường cong Preston thực tế có xu hướng "phẳng dần" ở mức thu nhập cao (không còn tuyến tính) — điều này gợi ý giới hạn gì của hồi quy tuyến tính?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Hồi quy tuyến tính giả định mối quan hệ giữa x và y là ĐƯỜNG THẲNG. Bạn có thể nghĩ ra một mối quan hệ trong truyền thông/marketing mà giả định này KHÔNG hợp lý không? (Gợi ý: hiệu ứng bão hòa quảng cáo — chi càng nhiều, hiệu quả biên càng giảm.)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nguyên lý Least Squares dùng BÌNH PHƯƠNG sai số thay vì dùng GIÁ TRỊ TUYỆT ĐỐI của sai số?</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"Tương quan không đồng nghĩa với nhân quả" — áp dụng câu này vào ví dụ đường cong Phillips: ngân sách quảng cáo TĂNG có chắc chắn là NGUYÊN NHÂN khiến Engagement tăng không, hay có thể có yếu tố khác đứng sau cả hai?</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tuyến tính đơn dự đoán doanh thu từ số lượt nhấp (clicks), báo cáo β₀, β₁, MAE, RMSE.</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Vẽ đồ thị scatter + đường hồi quy cho mô hình ở Bài 1, nhận xét mức độ phù hợp bằng mắt.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Đọc trước khái niệm biểu diễn hồi quy nhiều biến bằng vector hệ số và ma trận dữ liệu, chuẩn bị cho buổi 13.</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Hồi quy tuyến tính đơn: ŷ=β₀+β₁x, tìm β₀,β₁ bằng nguyên lý bình phương tối thiểu (Least Squares) để tối thiểu hóa tổng bình phương sai số.
• MAE/RMSE là các thước đo chuẩn để đánh giá chất lượng dự đoán của mô hình hồi quy.
• Hồi quy tuyến tính là công cụ nền tảng trong nhiều lĩnh vực xã hội: kinh tế học (Phillips Curve), y tế công cộng (Preston Curve), khoa học chính trị.
</a:t>
            </a:r>
            <a:r>
              <a:rPr lang="en-US" sz="1550" b="1" dirty="0">
                <a:solidFill>
                  <a:srgbClr val="262626"/>
                </a:solidFill>
                <a:latin typeface="Aptos" pitchFamily="34" charset="0"/>
                <a:ea typeface="Aptos" pitchFamily="34" charset="-122"/>
                <a:cs typeface="Aptos" pitchFamily="34" charset="-120"/>
              </a:rPr>
              <a:t>Checklist CLO G1.1, G2.2: </a:t>
            </a:r>
            <a:r>
              <a:rPr lang="en-US" sz="1550" dirty="0">
                <a:solidFill>
                  <a:srgbClr val="262626"/>
                </a:solidFill>
                <a:latin typeface="Aptos" pitchFamily="34" charset="0"/>
                <a:ea typeface="Aptos" pitchFamily="34" charset="-122"/>
                <a:cs typeface="Aptos" pitchFamily="34" charset="-120"/>
              </a:rPr>
              <a:t>Sinh viên xây dựng được mô hình hồi quy tuyến tính đơn, trực quan hóa đường hồi quy và đánh giá chất lượng mô hình qua sai số dự đoán.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Hồi quy nhiều biến và diễn giải mô hình — mở rộng từ MỘT biến độc lập sang NHIỀU biến, dùng lại chính ma trận dữ liệu và vector hệ số đã quen thuộc từ các buổi trước.</a:t>
            </a:r>
            <a:endParaRPr lang="en-US" sz="17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Đường hồi quy &amp; Least Squares</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13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Hồi quy nhiều biến và diễn giải mô hình</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mô hình hồi quy nhiều biến bằng vector hệ số và ma trận dữ liệu; diễn giải ý nghĩa và mức độ ảnh hưởng của từng hệ số hồi quy.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12: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12: hồi quy tuyến tính đơn ŷ=β₀+β₁x dự đoán một giá trị liên tục từ MỘT biến độc lập duy nhất.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Thực tế: doanh thu một chiến dịch không chỉ phụ thuộc ngân sách, mà còn phụ thuộc lượt tiếp cận, tần suất hiển thị, thời lượng chiến dịch, mức khuyến mãi... — nhiều biến CÙNG LÚC.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làm sao mở rộng ŷ=β₀+β₁x thành một mô hình dùng ĐƯỢC nhiều biến đầu vào? Câu trả lời hóa ra đã có sẵn từ buổi 5-6: ma trận và phép nhân ma trận.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Từ hồi quy đơn sang hồi quy nhiều biến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Biểu diễn ma trận và diễn giải hệ số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So sánh hồi quy tuyến tính và logistic regression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hạnh phúc quốc gia, bầu cử, y tế công cộng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Doanh thu chiến dịch phụ thuộc nhiều yếu tố cùng lúc — mô hình hóa thế nào?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chiến dịch truyền thông có thể có 5 biến đầu vào: ngân sách, lượt tiếp cận, tần suất hiển thị, thời lượng chiến dịch, mức khuyến mãi.</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Ý tưởng mở rộng tự nhiên: thay vì một hệ số β₁ cho một biến x, ta cần một VECTOR hệ số β = [β₁,β₂,...,β₅] cho một VECTOR biến đầu vào x=[x₁,...,x₅] của MỖI chiến dịch.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Và khi có NHIỀU chiến dịch (nhiều hàng dữ liệu) cùng lúc, các vector đầu vào xếp chồng thành một MA TRẬN dữ liệu X — đúng cấu trúc đã học từ buổi 5.</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hồi quy nhiều biến dưới dạng ma trận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Xβ + β₀   (dạng vector hóa cho TẤT CẢ quan sát cùng lúc)</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p biến đầu vào, mô hình cho MỘT quan sát: ŷᵢ = β₀ + β₁x₁ᵢ + β₂x₂ᵢ + ... + βₚxₚᵢ = β₀ + xᵢᵀβ.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m quan sát xếp thành ma trận dữ liệu X (kích thước m×p, mỗi hàng một quan sát), toàn bộ dự đoán được tính CÙNG LÚC: ŷ = Xβ + β₀ — chính xác công thức z=Xw+b đã học ở buổi 6, chỉ đổi tên biến.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β (vector hệ số hồi quy, kích thước p) đóng vai trò hoàn toàn giống vector trọng số w của logistic regression (buổi 4, 6) — cùng một cấu trúc toán học, khác bài toán ứng dụng.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ý nghĩa của từng hệ số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βⱼ diễn giải: "giữ NGUYÊN mọi biến khác không đổi, khi biến xⱼ tăng 1 đơn vị, ŷ thay đổi trung bình βⱼ đơn vị" — đây là cụm từ diễn giải chuẩn cần ghi nhớ (ceteris paribus).</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Dấu của hệ số (dương/âm) cho biết chiều ảnh hưởng; độ lớn của hệ số (SAU KHI đã chuẩn hóa các biến — nhắc lại buổi 11) cho biết mức độ ảnh hưởng tương đối giữa các biến.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quan trọng: hệ số hồi quy đo TƯƠNG QUAN trong mô hình, không tự động chứng minh QUAN HỆ NHÂN QUẢ — hai biến đầu vào có thể tương quan với nhau (đa cộng tuyến) làm hệ số khó diễn giải chính xác.</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hồi quy tuyến tính và Logistic Regression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Hồi quy tuyến tính (buổi 12-13): đầu ra ŷ là số THỰC bất kỳ, dự đoán giá trị liên tục (doanh thu, Engagement Score).</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(buổi 4): đầu ra là xác suất trong đoạn [0,1] nhờ hàm sigmoid, dùng để phân loại nhị phân (có/không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Cả hai đều dùng chung công thức lõi z=Xw+b — khác biệt duy nhất là logistic regression áp thêm hàm kích hoạt sigmoid lên z, còn hồi quy tuyến tính dùng thẳng z làm kết quả.</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Đa cộng tuyến (Multicollinearity) — khi các biến đầu vào 'giẫm chân' nhau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Đa cộng tuyến xảy ra khi hai hay nhiều biến đầu vào tương quan RẤT MẠNH với nhau (ví dụ ngân sách TV và ngân sách tổng thường tăng/giảm cùng chiều).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Hậu quả: mô hình vẫn dự đoán ŷ tốt, nhưng các hệ số βⱼ riêng lẻ trở nên KHÔNG ỔN ĐỊNH và khó diễn giải chính xác — mô hình "không biết" nên gán công cho biến nào trong hai biến tương quan.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Cách phát hiện đơn giản ở mức ứng dụng: tính ma trận tương quan (correlation matrix) giữa các biến đầu vào trước khi huấn luyện mô hình — hệ số tương quan gần ±1 giữa hai biến là dấu hiệu cảnh báo.</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Nhiều biến, một mô hình: từ chỉ số hạnh phúc quốc gia đến tỷ lệ đi bầu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&amp; Kinh tế hạnh phúc — World Happiness Report</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Báo cáo Hạnh phúc Thế giới (World Happiness Report, Liên Hợp Quốc) xếp hạng các quốc gia bằng mô hình hồi quy nhiều biến: điểm hạnh phúc trung bình được hồi quy theo GDP bình quân đầu người, hỗ trợ xã hội, tuổi thọ khỏe mạnh, tự do lựa chọn cuộc sống, sự hào phóng và mức độ tham nhũng — mỗi hệ số βⱼ cho biết mức đóng góp của từng yếu tố vào hạnh phúc quốc gia.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Các yếu tố ảnh hưởng tỷ lệ đi bầu (voter turnout)</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khoa học chính trị hồi quy tỷ lệ cử tri đi bầu tại từng khu vực theo nhiều biến: trình độ học vấn trung bình, thu nhập, độ tuổi trung bình, khoảng cách đến điểm bỏ phiếu — giúp các cơ quan bầu cử dự đoán và cải thiện tỷ lệ tham gia.</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Các yếu tố quyết định xã hội của sức khỏe (Social Determinants of Health)</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WHO và các nhà dịch tễ học hồi quy tuổi thọ hoặc tỷ lệ tử vong theo nhiều biến kinh tế-xã hội cùng lúc: thu nhập, trình độ giáo dục, khả năng tiếp cận y tế, mức ô nhiễm môi trường — mô hình nhiều biến giúp tách bạch ảnh hưởng RIÊNG của từng yếu tố.</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Mô hình hồi quy nhiều biến cho doanh thu chiến dịch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3 biến đầu vào: ngân sách (triệu), lượt tiếp cận (nghìn), tần suất hiển thị (lần); hệ số ước lượng:</a:t>
            </a:r>
            <a:endParaRPr lang="en-US" sz="1550" dirty="0"/>
          </a:p>
        </p:txBody>
      </p:sp>
      <p:graphicFrame>
        <p:nvGraphicFramePr>
          <p:cNvPr id="26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Biến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Hệ số βⱼ</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Lượt tiếp cận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Tần suất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50" i="1" dirty="0">
                <a:solidFill>
                  <a:srgbClr val="1A1A1A"/>
                </a:solidFill>
                <a:latin typeface="Cambria" pitchFamily="34" charset="0"/>
                <a:ea typeface="Cambria" pitchFamily="34" charset="-122"/>
                <a:cs typeface="Cambria" pitchFamily="34" charset="-120"/>
              </a:rPr>
              <a:t>ŷ = β₀+0.8·ngân_sách+0.15·tiếp_cận−0.3·tần_suất</a:t>
            </a:r>
            <a:endParaRPr lang="en-US" sz="11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tần suất ÂM (−0.3) là một phát hiện đáng chú ý: tần suất hiển thị quá cao có thể làm GIẢM doanh thu (hiệu ứng "ad fatigue" — khách hàng khó chịu vì thấy quảng cáo quá nhiều lần).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giá trị thực sự của việc diễn giải hệ số: không chỉ dự đoán, mà còn phát hiện insight để điều chỉnh chiến lược.</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Mô hình rút gọn kiểu World Happiness Report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3 biến đầu vào (GDP/người, hỗ trợ xã hội, tuổi thọ khỏe mạnh — đã chuẩn hóa) và hệ số ước lượng:</a:t>
            </a:r>
            <a:endParaRPr lang="en-US" sz="1550" dirty="0"/>
          </a:p>
        </p:txBody>
      </p:sp>
      <p:graphicFrame>
        <p:nvGraphicFramePr>
          <p:cNvPr id="265"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Biến (đã chuẩn hóa)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Hệ số βⱼ</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GDP/người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Hỗ trợ xã hội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0.42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Tuổi thọ khỏe mạnh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0.28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00" i="1" dirty="0">
                <a:solidFill>
                  <a:srgbClr val="1A1A1A"/>
                </a:solidFill>
                <a:latin typeface="Cambria" pitchFamily="34" charset="0"/>
                <a:ea typeface="Cambria" pitchFamily="34" charset="-122"/>
                <a:cs typeface="Cambria" pitchFamily="34" charset="-120"/>
              </a:rPr>
              <a:t>ŷ_hạnh_phúc = β₀+0.35·GDP+0.42·hỗ_trợ+0.28·tuổi_thọ</a:t>
            </a:r>
            <a:endParaRPr lang="en-US" sz="11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(buổi 11), hệ số "hỗ trợ xã hội" (0.42) lớn hơn cả GDP/người (0.35) — gợi ý yếu tố xã hội có thể đóng góp mạnh không kém yếu tố kinh tế.</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lý do World Happiness Report luôn nhấn mạnh: hạnh phúc không chỉ đến từ thu nhập.</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nhiều biến dự đoán doanh thu/tỷ lệ chuyển đổi; diễn giải hệ số; so sánh với hồi quy đơn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Ngân sách, lượt tiếp cận, tần suất hiển thị, thời lượng chiến dịch, mức khuyến mãi</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sklearn.linear_model.LinearRegression (multi-feature), pandas,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hệ số hồi quy đã diễn giải; so sánh RMSE giữa mô hình đơn biến (buổi 12) và nhiều biến</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hồi quy nhiều biến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Chuẩn bị ma trận X gồm 5 cột (5 biến đầu vào) và vector y (doanh thu)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LinearRegression().fit(X, y), in ra model.coef_ (vector 5 hệ số) và model.intercept_</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 y)  # X: ma trận (m, 5)</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hệ số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Ghép tên biến với hệ số tương ứng thành bảng dễ đọc (dùng pandas.DataFrame)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mỗi hệ số, viết một câu diễn giải theo mẫu chuẩn: "giữ các biến khác không đổi, khi [biến] tăng 1 đơn vị, doanh thu thay đổi trung bình [hệ số] đơn vị"</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hồi quy đơn biến và nhiều biến trên cùng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lại một mô hình hồi quy ĐƠN BIẾN chỉ dùng ngân sách (như buổi 12) trên cùng bộ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RMSE của hai mô hình — mô hình nhiều biến có cải thiện đáng kể so với mô hình đơn biến không?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hồi quy rút gọn kiểu World Happiness Report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8 quốc gia với 3 biến (GDP/người, hỗ trợ xã hội, tuổi thọ khỏe mạnh) và điểm hạnh phúc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Huấn luyện mô hình hồi quy nhiều biến, xác định biến nào có hệ số (đã chuẩn hóa) lớn nhất — yếu tố nào 'đóng góp' nhiều nhất vào hạnh phúc theo mô hình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Phát hiện hiệu ứng 'ad fatigue' qua hệ số âm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mô hình đã huấn luyện trong lab, nếu hệ số của biến tần suất là ÂM, đề xuất một khuyến nghị cụ thể cho đội ngũ lập kế hoạch truyền thông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nên giới hạn tần suất hiển thị tối đa bao nhiêu lần/tuần dựa trên phát hiện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Phát hiện đa cộng tuyến trong dữ liệu bầu cử</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ma trận tương quan giả lập giữa 3 biến (thu nhập trung bình, trình độ học vấn trung bình, tỷ lệ đi bầu) của các khu vực bầu cử</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Xác định cặp biến nào có tương quan cao nhất (dấu hiệu đa cộng tuyến) và đề xuất cách xử lý (ví dụ chỉ giữ lại một trong hai biến tương quan)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hai biến đầu vào (ví dụ ngân sách và lượt tiếp cận) có tương quan RẤT MẠNH với nhau (đa cộng tuyến), việc diễn giải riêng từng hệ số βⱼ có còn đáng tin cậy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World Happiness Report dùng hồi quy nhiều biến để XẾP HẠNG quốc gia — điều này có nghĩa GDP cao chắc chắn là NGUYÊN NHÂN gây ra hạnh phúc cao hơn không? Có góc nhìn nào khác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thêm càng nhiều biến vào mô hình, RMSE trên chính dữ liệu huấn luyện gần như luôn giảm — điều này có phải luôn là dấu hiệu tốt? Vấn đề gì có thể xảy ra (liên hệ overfitting)?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nhiều biến dự đoán tỷ lệ chuyển đổi từ 4 biến do sinh viên chọn, báo cáo và diễn giải toàn bộ hệ số.</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So sánh RMSE giữa mô hình 2 biến và mô hình 4 biến trên cùng bộ dữ liệu, nhận xét.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bị câu hỏi/thắc mắc về Media Mix Modeling để thảo luận đầu buổi 14.</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Hồi quy nhiều biến ŷ=Xβ+β₀ dùng lại chính xác cấu trúc ma trận z=Xw+b đã học từ buổi 6 — chỉ khác cách diễn giải bài toán.
• Mỗi hệ số βⱼ diễn giải theo nguyên tắc ceteris paribus (giữ các biến khác không đổi); dấu và độ lớn hệ số mang ý nghĩa chiến lược quan trọng.
• Hồi quy tuyến tính và logistic regression dùng CHUNG công thức z=Xw+b, chỉ khác ở việc có áp dụng hàm kích hoạt sigmoid hay không.
</a:t>
            </a:r>
            <a:r>
              <a:rPr lang="en-US" sz="1550" b="1" dirty="0">
                <a:solidFill>
                  <a:srgbClr val="262626"/>
                </a:solidFill>
                <a:latin typeface="Aptos" pitchFamily="34" charset="0"/>
                <a:ea typeface="Aptos" pitchFamily="34" charset="-122"/>
                <a:cs typeface="Aptos" pitchFamily="34" charset="-120"/>
              </a:rPr>
              <a:t>Checklist CLO G2.1, G6.1: </a:t>
            </a:r>
            <a:r>
              <a:rPr lang="en-US" sz="1550" dirty="0">
                <a:solidFill>
                  <a:srgbClr val="262626"/>
                </a:solidFill>
                <a:latin typeface="Aptos" pitchFamily="34" charset="0"/>
                <a:ea typeface="Aptos" pitchFamily="34" charset="-122"/>
                <a:cs typeface="Aptos" pitchFamily="34" charset="-120"/>
              </a:rPr>
              <a:t>Sinh viên xây dựng được mô hình hồi quy nhiều biến, diễn giải đúng ý nghĩa hệ số và phân biệt được với logistic regression.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Ứng dụng hồi quy trong lập kế hoạch truyền thông (Media Mix Modeling) — áp dụng trực tiếp mọi kiến thức buổi 12-13 vào bài toán phân bổ ngân sách trên nhiều kênh truyền thông.</a:t>
            </a:r>
            <a:endParaRPr lang="en-US" sz="1700" dirty="0"/>
          </a:p>
        </p:txBody>
      </p:sp>
      <p:graphicFrame>
        <p:nvGraphicFramePr>
          <p:cNvPr id="275"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Ma trận hóa &amp; diễn giải hệ số</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So sánh với logistic regression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8</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bài tập,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14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Ứng dụng hồi quy trong phân tích và lập kế hoạch truyền thông</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mô hình Media Mix Modeling dự đoán hiệu quả chiến dịch từ ngân sách phân bổ trên nhiều kênh; tổng kết toàn bộ mạch kiến thức vector–ma trận–hồi quy của môn học.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13: Hồi quy nhiều biến và diễn giải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13: ŷ=Xβ+β₀ dự đoán một đại lượng liên tục từ NHIỀU biến, mỗi hệ số βⱼ diễn giải mức đóng góp riêng của từng biến.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áp dụng NGUYÊN VẸN mô hình này vào một bài toán kinh điển của ngành truyền thông: Media Mix Modeling (MMM) — biết ngân sách phân bổ trên các kênh (TV, social, search, OOH), dự đoán hiệu quả chiến dịch tổng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cũng là buổi "tổng hợp mạch" — mọi khái niệm từ buổi 1 (vector) đến buổi 13 (hồi quy nhiều biến) sẽ hội tụ vào một bài toán ứng dụng hoàn chỉnh.</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Media Mix Modeling là gì?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Ma trận kế hoạch truyền thông và mô hình hồi quy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Tổng kết mạch: vector → ma trận → hồi quy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chính sách công, y tế công cộng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toán kinh điển của ngành truyền thông: phân bổ ngân sách trên nhiều kênh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doanh nghiệp có ngân sách marketing cố định, cần chia cho nhiều kênh: TV, mạng xã hội (social), tìm kiếm (search), quảng cáo ngoài trời (OOH). Câu hỏi: kênh nào mang lại hiệu quả (reach, doanh thu) tốt nhất trên mỗi đồng chi tiêu?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Media Mix Modeling (MMM) là phương pháp dùng hồi quy để trả lời câu hỏi này: hồi quy một chỉ số hiệu quả (ví dụ doanh thu) theo ngân sách chi cho TỪNG kênh trong TỪNG giai đoạn/chiến dịch.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MMM là một trong những ứng dụng thương mại lớn nhất của hồi quy tuyến tính — được các tập đoàn quảng cáo và nền tảng công nghệ lớn dùng để tối ưu ngân sách hàng tỷ đô la mỗi năm.</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kế hoạch truyền thông (Media Plan Matrix)</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HÀNG của ma trận X là một giai đoạn hoặc chiến dịch cụ thể (ví dụ: tuần 1, tuần 2,... hoặc chiến dịch A, B, 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CỘT của ma trận X là một kênh truyền thông (TV, social, search, OOH) — giá trị trong ô là ngân sách chi cho kênh đó trong giai đoạn tương ứng.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CHÍNH XÁC là quy ước tổ chức dữ liệu đã học từ buổi 5 (mỗi hàng một đối tượng, mỗi cột một đặc trưng) — chỉ khác "đối tượng" giờ là một giai đoạn/chiến dịch thay vì một khách hàng.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Media Mix Modeling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β₀ + β_TV·x_TV + β_Social·x_Social + β_Search·x_Search + β_OOH·x_OOH</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là chỉ số hiệu quả cần dự đoán (thường là doanh thu hoặc reach); mỗi β_kênh cho biết mức đóng góp của MỖI ĐỒNG ngân sách chi cho kênh đó vào kết quả cuối cùng.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Dưới dạng ma trận cho TẤT CẢ giai đoạn cùng lúc: ŷ = Xβ + β₀ — đúng công thức z=Xw+b (buổi 6) và ŷ=Xβ+β₀ (buổi 13), không có gì mới về mặt toán học.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β_kênh lớn nhất (sau khi đã chuẩn hóa các kênh theo buổi 11, vì ngân sách các kênh có thể chênh lệch quy mô) cho biết kênh nào đang mang lại hiệu suất trên mỗi đồng chi tiêu tốt nhất.</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hệ số hồi quy đến đề xuất phân bổ lại ngân sách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Hiệu suất biên kênh k ≈ β_k (sau chuẩn hóa)  →  dịch ngân sách từ β thấp sang β cao</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có β_TV, β_Social, β_Search, β_OOH (đã chuẩn hóa), quy tắc quyết định đơn giản nhất: dịch chuyển một phần ngân sách từ kênh có β THẤP sang kênh có β CAO để tăng hiệu quả tổng thể, GIỮ NGUYÊN tổng ngân sách.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bài toán tối ưu hóa phân bổ nguồn lực (resource allocation) cơ bản — mô hình hồi quy cung cấp "tỷ giá quy đổi" giữa ngân sách và hiệu quả cho mỗi kênh.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Giới hạn quan trọng cần lưu ý: mô hình giả định quan hệ TUYẾN TÍNH nên chỉ đáng tin trong phạm vi ngân sách GẦN với dữ liệu lịch sử — dịch chuyển quá lớn có thể vượt ra ngoài vùng ngoại suy an toàn (nhắc lại khái niệm ngoại suy từ buổi 12).</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mạch toán học: từ vector đến Media Mix Modeling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 một chiến dịch = một VECTOR đặc trưng. Buổi 5: nhiều chiến dịch xếp thành MA TRẬN dữ liệu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3-4: trọng số là một VECTOR w, tích vô hướng z=wᵀx+b tính điểm cho MỘT đối tượng. Buổi 6: z=Xw+b tính điểm cho NHIỀU đối tượng cùng lúc bằng phép nhân ma trận.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12-14: hồi quy chỉ là bài toán TÌM RA vector trọng số β tối ưu từ dữ liệu, thay vì được cho trước như buổi 3-8 — cùng một cấu trúc z=Xw+b, khác ở chỗ w=β được HỌC từ dữ liệu.</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phân bổ ngân sách quảng cáo đến phân bổ nguồn lực công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chính sách công — Phân bổ ngân sách cho các chương trình xã hội</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Chính phủ và các tổ chức phi lợi nhuận đối mặt với bài toán TƯƠNG TỰ MMM khi phân bổ ngân sách công cho nhiều chương trình (giáo dục, y tế, an sinh xã hội): hồi quy các chỉ số phúc lợi xã hội theo ngân sách phân bổ cho từng chương trình trong quá khứ để ước lượng "hiệu suất trên mỗi đồng ngân sách công" của từng lĩnh vực.</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Phân bổ nguồn lực phòng chống dịch bệnh</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Trong các chiến dịch y tế công cộng (ví dụ phòng chống dịch bệnh), nguồn lực được phân bổ cho nhiều hoạt động: xét nghiệm, tiêm chủng, truyền thông y tế cộng đồng. Mô hình hồi quy tương tự MMM — hồi quy số ca nhiễm giảm (hoặc tỷ lệ tiêm chủng tăng) theo ngân sách chi cho từng hoạt động — giúp cơ quan y tế tối ưu phân bổ nguồn lực hạn chế.</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Quản trị chuỗi cung ứng &amp; bán lẻ đa kênh — Phân bổ đầu tư giữa các kênh bán hàng</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bán lẻ đa kênh (cửa hàng vật lý, website, sàn thương mại điện tử) dùng đúng khung MMM để quyết định đầu tư mở rộng vào kênh nào mang lại doanh thu biên cao nhất trên mỗi đồng đầu tư.</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Media Mix Model với 4 kênh truyền thông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Ma trận kế hoạch truyền thông (ngân sách triệu đồng) và doanh thu (triệu đồng) qua 4 giai đoạn:</a:t>
            </a:r>
            <a:endParaRPr lang="en-US" sz="1550" dirty="0"/>
          </a:p>
        </p:txBody>
      </p:sp>
      <p:graphicFrame>
        <p:nvGraphicFramePr>
          <p:cNvPr id="285"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Giai đoạn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Doanh thu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70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395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00" i="1" dirty="0">
                <a:solidFill>
                  <a:srgbClr val="1A1A1A"/>
                </a:solidFill>
                <a:latin typeface="Cambria" pitchFamily="34" charset="0"/>
                <a:ea typeface="Cambria" pitchFamily="34" charset="-122"/>
                <a:cs typeface="Cambria" pitchFamily="34" charset="-120"/>
              </a:rPr>
              <a:t>ŷ = β₀+β_TV·x_TV+β_Social·x_Social  (ước lượng: β_TV≈2.1, β_Social≈1.6)</a:t>
            </a:r>
            <a:endParaRPr lang="en-US" sz="11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β_TV &gt; β_Social (sau chuẩn hóa) trong ví dụ này gợi ý TV đang mang lại hiệu suất trên mỗi đồng cao hơn Social ở giai đoạn phân tích.</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Đội ngũ lập kế hoạch có thể dùng phát hiện này để đề xuất điều chỉnh phân bổ ngân sách cho các giai đoạn tiếp theo.</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Đề xuất tái phân bổ ngân sách từ kết quả MMM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Ngân sách hiện tại và hệ số đóng góp (đã chuẩn hóa) của 4 kênh:</a:t>
            </a:r>
            <a:endParaRPr lang="en-US" sz="1550" dirty="0"/>
          </a:p>
        </p:txBody>
      </p:sp>
      <p:graphicFrame>
        <p:nvGraphicFramePr>
          <p:cNvPr id="286"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Kênh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 hiện tại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β (chuẩn hóa)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Search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1.7</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OOH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Đề xuất: giảm OOH, TV → tăng Search, Social</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Search có β cao nhất (1.7) nhưng ngân sách hiện tại chỉ 20% — gợi ý kênh này đang được ĐẦU TƯ DƯỚI MỨC tối ưu so với hiệu suất mang lại.</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OOH có β thấp nhất (0.3) nhưng vẫn chiếm 10% ngân sách — ứng viên đầu tiên để cắt giảm khi cần tái phân bổ.</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xác là loại đề xuất một chuyên viên phân tích MMM thực thụ sẽ trình bày cho ban lãnh đạo marketing.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Media Mix Modeling hoàn chỉnh dự đoán doanh thu/reach từ ngân sách 4 kênh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kế hoạch truyền thông mô phỏng (nhiều giai đoạn × 4 kênh: TV, Social, Search, OOH)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pandas, sklearn.linear_model.LinearRegression, sklearn.preprocessing.StandardScaler,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hệ số đóng góp từng kênh (đã chuẩn hóa); đề xuất phân bổ ngân sách tối ưu hơn</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ma trận kế hoạch truyền thông trước khi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chuẩn hóa Z-score (buổi 11) cho từng cột (từng kênh) của ma trận X trước khi đưa vào mô hình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Giải thích vì sao bước này bắt buộc: nếu không chuẩn hóa, kênh có ngân sách trung bình lớn hơn sẽ có hệ số dễ bị hiểu nhầm là 'quan trọng hơn' dù không phải vậy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MMM và trích xuất hệ số đóng góp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LinearRegression trên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Ghép hệ số với tên kênh, sắp xếp giảm dần theo độ lớn — xác định kênh có mức đóng góp cao nhất trên mỗi đơn vị ngân sách chuẩn hóa</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model.fit(X_scaled, 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phỏng kịch bản phân bổ ngân sách khác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Giữ tổng ngân sách không đổi, thử dịch chuyển một phần ngân sách từ kênh có hệ số thấp sang kênh có hệ số cao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mô hình đã huấn luyện để dự đoán doanh thu ước tính của kịch bản phân bổ MỚI, so sánh với kịch bản hiện tại</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phân bổ nguồn lực phòng chống dịch bệnh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ngân sách chi cho xét nghiệm, tiêm chủng, truyền thông y tế qua 6 giai đoạn, và số ca nhiễm mới giảm tương ứng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Xây dựng mô hình hồi quy tương tự MMM, xác định hoạt động nào có hệ số đóng góp (làm giảm ca nhiễm) lớn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khác biệt đạo đức nào cần cân nhắc khi phân bổ NGUỒN LỰC Y TẾ dựa trên mô hình, so với chỉ đơn thuần phân bổ ngân sách quảng cáo?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Đề xuất tái phân bổ ngân sách quý tiếp theo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kết quả lab, viết một đề xuất ngắn (dạng gạch đầu dòng) gửi cho "khách hàng" giả định: nên tăng/giảm ngân sách kênh nào, tăng/giảm bao nhiêu phần trăm, và dự đoán tác động đến doanh thu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Nêu rõ ít nhất một giới hạn của mô hình mà đề xuất cần lưu ý (ví dụ: mô hình dựa trên dữ liệu lịch sử, không tính đến bão hòa thị trường)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Phân bổ đầu tư đa kênh bán lẻ</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hệ số đóng góp (đã chuẩn hóa) của 3 kênh bán hàng (cửa hàng vật lý, website, sàn thương mại điện tử) đối với doanh thu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một kịch bản tái phân bổ ngân sách đầu tư mở rộng giữa 3 kênh, giải thích logic dựa trên hệ số</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quyết định phân bổ này có nên chỉ dựa vào MỘT mô hình hồi quy duy nhất không, hay cần kết hợp thêm yếu tố nào khác (ví dụ xu hướng dài hạn của thị trường)?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MMM giả định mối quan hệ TUYẾN TÍNH giữa ngân sách một kênh và hiệu quả. Trong thực tế, chi tiêu quá nhiều cho một kênh có thể gây hiệu ứng "bão hòa" (hiệu quả biên giảm dần) — giả định tuyến tính có còn hợp lý trong trường hợp này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hai kênh (ví dụ TV và Social) luôn được tăng/giảm ngân sách CÙNG LÚC trong dữ liệu lịch sử, mô hình có thể tách biệt chính xác đóng góp RIÊNG của từng kênh không? (liên hệ đa cộng tuyến đã nhắc ở buổi 13)</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dùng mô hình để phân bổ nguồn lực y tế công cộng (bài tập áp dụng liên ngành) có nên tuân theo NGUYÊN TẮC KHÁC với việc phân bổ ngân sách quảng cáo thương mại không? Vì sao?</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Mở rộng mô hình MMM trong lab thêm 1 kênh (ví dụ OOH), huấn luyện lại và báo cáo hệ số đầy đủ.</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Viết báo cáo ngắn (nửa trang) tổng hợp toàn bộ mạch kiến thức vector→ma trận→hồi quy đã học từ buổi 1 đến buổi 14, chuẩn bị cho buổi tổng kết môn học.</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170"/>
              </a:lnSpc>
              <a:buNone/>
            </a:pPr>
            <a:r>
              <a:rPr lang="en-US" sz="1677" b="1" dirty="0">
                <a:solidFill>
                  <a:srgbClr val="262626"/>
                </a:solidFill>
                <a:latin typeface="Aptos" pitchFamily="34" charset="0"/>
                <a:ea typeface="Aptos" pitchFamily="34" charset="-122"/>
                <a:cs typeface="Aptos" pitchFamily="34" charset="-120"/>
              </a:rPr>
              <a:t>Điểm mấu chốt cần nhớ:
</a:t>
            </a:r>
            <a:r>
              <a:rPr lang="en-US" sz="1529" dirty="0">
                <a:solidFill>
                  <a:srgbClr val="262626"/>
                </a:solidFill>
                <a:latin typeface="Aptos" pitchFamily="34" charset="0"/>
                <a:ea typeface="Aptos" pitchFamily="34" charset="-122"/>
                <a:cs typeface="Aptos" pitchFamily="34" charset="-120"/>
              </a:rPr>
              <a:t>• Media Mix Modeling = hồi quy nhiều biến (buổi 13) áp dụng trực tiếp vào ma trận kế hoạch truyền thông (mỗi hàng = giai đoạn, mỗi cột = kênh).
• Toàn bộ mạch môn học hội tụ tại đây: một đối tượng là vector (buổi 1) → nhiều đối tượng tạo ma trận (buổi 5) → trọng số là vector (buổi 3-4) → phép nhân ma trận dự đoán cho nhiều đối tượng cùng lúc (buổi 6, 13, 14).
• Chuẩn hóa dữ liệu (buổi 11) là bước bắt buộc trước khi so sánh mức đóng góp giữa các kênh có ngân sách chênh lệch quy mô.
</a:t>
            </a:r>
            <a:r>
              <a:rPr lang="en-US" sz="1529" b="1" dirty="0">
                <a:solidFill>
                  <a:srgbClr val="262626"/>
                </a:solidFill>
                <a:latin typeface="Aptos" pitchFamily="34" charset="0"/>
                <a:ea typeface="Aptos" pitchFamily="34" charset="-122"/>
                <a:cs typeface="Aptos" pitchFamily="34" charset="-120"/>
              </a:rPr>
              <a:t>Checklist CLO G2.1, G6.1: </a:t>
            </a:r>
            <a:r>
              <a:rPr lang="en-US" sz="1529" dirty="0">
                <a:solidFill>
                  <a:srgbClr val="262626"/>
                </a:solidFill>
                <a:latin typeface="Aptos" pitchFamily="34" charset="0"/>
                <a:ea typeface="Aptos" pitchFamily="34" charset="-122"/>
                <a:cs typeface="Aptos" pitchFamily="34" charset="-120"/>
              </a:rPr>
              <a:t>Sinh viên xây dựng được mô hình Media Mix Modeling hoàn chỉnh và liên hệ được với cấu trúc toán học xuyên suốt môn học. ✓
</a:t>
            </a:r>
            <a:r>
              <a:rPr lang="en-US" sz="1529" b="1" dirty="0">
                <a:solidFill>
                  <a:srgbClr val="262626"/>
                </a:solidFill>
                <a:latin typeface="Aptos" pitchFamily="34" charset="0"/>
                <a:ea typeface="Aptos" pitchFamily="34" charset="-122"/>
                <a:cs typeface="Aptos" pitchFamily="34" charset="-120"/>
              </a:rPr>
              <a:t>Buổi tiếp theo: </a:t>
            </a:r>
            <a:r>
              <a:rPr lang="en-US" sz="1529" dirty="0">
                <a:solidFill>
                  <a:srgbClr val="262626"/>
                </a:solidFill>
                <a:latin typeface="Aptos" pitchFamily="34" charset="0"/>
                <a:ea typeface="Aptos" pitchFamily="34" charset="-122"/>
                <a:cs typeface="Aptos" pitchFamily="34" charset="-120"/>
              </a:rPr>
              <a:t>Buổi cuối: dữ liệu nhiều chiều, khái niệm giảm chiều (PCA) và tổng kết toàn bộ vai trò của đại số tuyến tính trong phân tích dữ liệu và AI — chuẩn bị cho bài thi cuối kỳ.</a:t>
            </a:r>
            <a:endParaRPr lang="en-US" sz="1677" dirty="0"/>
          </a:p>
        </p:txBody>
      </p:sp>
      <p:graphicFrame>
        <p:nvGraphicFramePr>
          <p:cNvPr id="296"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Ma trận kế hoạch truyền thông &amp; mô hình MMM</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Tổng kết mạch kiến thức</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bài tập,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15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Dữ liệu nhiều chiều, giảm chiều và tổng hợp ứng dụng</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khái niệm giảm chiều dữ liệu (PCA) ở mức ứng dụng; trực quan hóa dữ liệu nhiều chiều trên mặt phẳng hai chiều; tổng kết vai trò của đại số tuyến tính trong phân tích dữ liệu và AI.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G2.2,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Ôn tập, Thực hành Python, Thi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A4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14: Ứng dụng hồi quy trong phân tích và lập kế hoạch truyền thông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14 khép lại mạch ỨNG DỤNG (Media Mix Modeling) — hội tụ toàn bộ vector, ma trận, hồi quy đã học từ buổi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Xuyên suốt 14 buổi, dữ liệu luôn được biểu diễn bằng vector với SỐ CHIỀU cố định (2-5 đặc trưng trong hầu hết ví dụ). Nhưng dữ liệu thực tế thường có HÀNG CHỤC đến HÀNG TRĂM đặc trưng — vậy làm sao con người có thể "nhìn thấy" và hiểu được dữ liệu như vậy?</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cuối cùng giới thiệu một công cụ giải quyết đúng vấn đề này — giảm chiều dữ liệu (dimensionality reduction) — trước khi tổng kết toàn bộ môn học.</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Vấn đề của dữ liệu nhiều chiều &amp; khái niệm giảm chiều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PCA ở mức ứng dụng (không đi sâu trị riêng/vector riêng)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tâm lý học, xã hội học, di truyền học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trực quan hóa chiến dịch nhiều đặc trưng trên 2D (35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Tổng kết toàn bộ môn học &amp; giải đáp trước khi thi (30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Làm sao "nhìn thấy" dữ liệu có 20 chiều?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Con người có thể trực quan hóa dữ liệu 1 chiều (đường số), 2 chiều (mặt phẳng), tối đa 3 chiều (không gian) — nhưng một bộ dữ liệu khách hàng thực tế có thể có 20, 50, thậm chí hàng trăm đặc trưng (tuổi, thu nhập, hàng chục hành vi tương tác khác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Giảm chiều (dimensionality reduction): tìm cách biểu diễn dữ liệu nhiều chiều bằng ÍT chiều hơn (thường là 2 hoặc 3 chiều để vẽ được), trong khi vẫn giữ lại càng nhiều THÔNG TIN/CẤU TRÚC quan trọng của dữ liệu gốc càng tốt.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PCA (Principal Component Analysis — Phân tích thành phần chính) là kỹ thuật giảm chiều phổ biến nhất, và tất cả các phép toán nó dùng — vector, ma trận, chuẩn, tích vô hướng — đều là những công cụ ta đã học xuyên suốt môn học này.</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3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Khó khăn của không gian nhiều chiều ("lời nguyền chiều" — Curse of Dimensionality)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số chiều tăng, con người mất khả năng trực quan hóa trực tiếp (không vẽ được biểu đồ &gt;3 chiều); đồng thời khoảng cách Euclid giữa các điểm dữ liệu (buổi 9) có xu hướng trở nên KÉM PHÂN BIỆT hơn khi số chiều rất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Nhiều đặc trưng trong dữ liệu thực tế có tương quan với nhau (ví dụ lượt xem và mức tương tác thường tăng cùng chiều) — nghĩa là THÔNG TIN THỰC SỰ độc lập trong dữ liệu có thể ít hơn số chiều ban đầu.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Ý tưởng của giảm chiều: tận dụng các tương quan này để nén dữ liệu về ít chiều hơn mà không mất quá nhiều thông tin.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3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PCA ở mức ứng dụng: tìm hướng biến thiên lớn nhất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PC1 = hướng mà dữ liệu "trải rộng" (phương sai) nhiều nhất</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PCA tìm ra các "thành phần chính" (principal components) — đây là các HƯỚNG (thực chất là các vector) trong không gian dữ liệu gốc, được sắp xếp theo mức độ dữ liệu biến thiên (phương sai) dọc theo hướng đó, từ nhiều nhất đến ít nhất.</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Thành phần chính thứ nhất (PC1) là hướng mà dữ liệu "trải rộng" nhiều nhất; PC2 là hướng trải rộng nhiều thứ hai và VUÔNG GÓC với PC1 (tái sử dụng khái niệm góc vuông giữa hai vector từ buổi 10).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môn học này ta KHÔNG tính trị riêng/vector riêng (eigenvalues/eigenvectors, nội dung của môn Đại số tuyến tính thuần túy) — chỉ cần hiểu ở mức sklearn.decomposition.PCA() làm việc này hộ, và diễn giải được KẾT QUẢ nó trả về.</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điểm dữ liệu gốc (nhiều chiều) được "chiếu" (project) xuống 2 thành phần chính đầu tiên để có tọa độ (PC1, PC2) — vẽ được trên mặt phẳng 2 chiều thông thường.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3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kết quả PCA và đánh đổi khi giảm chiều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explained_variance_ratio_ của mỗi thành phần chính cho biết thành phần đó "giữ lại" bao nhiêu phần trăm biến thiên (thông tin) của dữ liệu gốc.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PC1+PC2 giữ lại được ví dụ 85% tổng phương sai, nghĩa là biểu đồ 2 chiều từ PCA phản ánh khá trung thực cấu trúc dữ liệu gốc nhiều chiều — nhưng vẫn có 15% thông tin bị "mất" khi nén.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Trục PC1, PC2 không còn mang ý nghĩa trực tiếp như đặc trưng gốc (không còn là "tuổi" hay "thu nhập" nữa) mà là TỔ HỢP TUYẾN TÍNH của nhiều đặc trưng gốc — liên hệ trực tiếp lại khái niệm tổ hợp tuyến tính đã học từ buổi 2.</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3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toàn bộ mạch kiến thức môn học (bản đồ 15 buổi)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 dữ liệu là VECTOR, các phép toán cơ bản (cộng, nhân với số, tổ hợp tuyến tính) trên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3-8: tích vô hướng, ma trận, phép nhân ma trận — xây dựng mô hình DỰ ĐOÁN (logistic regression, neural network nhiều lớp).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9-11: chuẩn, khoảng cách, góc, chuẩn hóa — công cụ ĐO LƯỜNG tương đồng/khác biệt giữa các đối tượng dữ liệu.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12-14: hồi quy tuyến tính đơn/nhiều biến — mô hình DỰ ĐOÁN giá trị liên tục, đỉnh điểm là Media Mix Modeling.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15: PCA — GIẢM CHIỀU để trực quan hóa và tổng kết toàn bộ vai trò của đại số tuyến tính trong phân tích dữ liệu và AI.</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3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Nén thông tin nhiều chiều: từ tính cách con người đến bản đồ di truyền loài người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Tâm lý học — Mô hình tính cách Big Five (Factor Analysis)</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tâm lý học xây dựng mô hình tính cách Big Five (Cởi mở, Tận tâm, Hướng ngoại, Dễ chịu, Bất ổn cảm xúc) bằng kỹ thuật giảm chiều họ hàng với PCA (Factor Analysis), nén HÀNG TRĂM câu hỏi trắc nghiệm tính cách xuống chỉ còn 5 "thành phần chính" mà vẫn giữ được phần lớn thông tin về sự khác biệt tính cách giữa con người.</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văn hóa — Bản đồ giá trị văn hóa thế giới (Inglehart–Welzel Cultural Map)</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Dự án World Values Survey khảo sát hàng chục giá trị văn hóa-xã hội của người dân ở hơn 100 quốc gia, sau đó dùng kỹ thuật giảm chiều để nén xuống 2 trục chính (giá trị truyền thống/thế tục và giá trị sinh tồn/tự thể hiện), tạo ra bản đồ văn hóa thế giới nổi tiếng được trích dẫn trong hàng ngàn nghiên cứu xã hội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Di truyền học &amp; Nhân chủng học sinh học — Bản đồ di truyền quần thể người (Population Genetics PCA)</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khám phá nổi tiếng: khi các nhà di truyền học áp dụng PCA lên dữ liệu gene của hàng ngàn người châu Âu (mỗi người là một vector với hàng trăm ngàn chiều — các biến thể gene), bản đồ PCA 2 chiều thu được có hình dạng gần như TRÙNG KHỚP với bản đồ địa lý thực tế của châu Âu — minh chứng ấn tượng cho sức mạnh của giảm chiều tuyến tính trong việc phát hiện cấu trúc ẩn của dữ liệu.</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3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Giảm chiều 5 đặc trưng chiến dịch xuống 2 chiều để so sánh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10 chiến dịch, mỗi chiến dịch có 5 đặc trưng (ngân sách, reach, tần suất, CTR, engagement) → khó vẽ trực tiếp trên một biểu đồ:</a:t>
            </a:r>
            <a:endParaRPr lang="en-US" sz="1550" dirty="0"/>
          </a:p>
        </p:txBody>
      </p:sp>
      <p:sp>
        <p:nvSpPr>
          <p:cNvPr id="6" name="Text 4"/>
          <p:cNvSpPr/>
          <p:nvPr/>
        </p:nvSpPr>
        <p:spPr>
          <a:xfrm>
            <a:off x="457200" y="2304288"/>
            <a:ext cx="1124712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PCA(n_components=2).fit_transform(X_scaled) → tọa độ (PC1, PC2) cho mỗi chiến dịch</a:t>
            </a:r>
            <a:endParaRPr lang="en-US" sz="1250" dirty="0"/>
          </a:p>
        </p:txBody>
      </p:sp>
      <p:sp>
        <p:nvSpPr>
          <p:cNvPr id="7" name="Text 5"/>
          <p:cNvSpPr/>
          <p:nvPr/>
        </p:nvSpPr>
        <p:spPr>
          <a:xfrm>
            <a:off x="457200" y="3264408"/>
            <a:ext cx="1124712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(buổi 11) và áp dụng PCA, mỗi chiến dịch (vốn có 5 chiều) chỉ còn 2 tọa độ (PC1, PC2) — vẽ được trên một biểu đồ scatter duy nhất.</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Các chiến dịch có đặc điểm TỔNG THỂ tương tự nhau (theo cả 5 đặc trưng gốc) sẽ xuất hiện GẦN NHAU trên biểu đồ 2D này — liên hệ trực tiếp khái niệm khoảng cách Euclid từ buổi 9.</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Đội ngũ lập kế hoạch truyền thông có thể nhìn một biểu đồ duy nhất để nhận diện các nhóm/cụm chiến dịch có đặc điểm tương đồng, thay vì so sánh 5 bảng số liệu riêng lẻ.</a:t>
            </a:r>
            <a:endParaRPr lang="en-US" sz="1550" dirty="0"/>
          </a:p>
        </p:txBody>
      </p:sp>
      <p:sp>
        <p:nvSpPr>
          <p:cNvPr id="9"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0"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3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Tỷ lệ phương sai giữ lại qua các thành phần chính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Kết quả PCA trên bộ dữ liệu 6 đặc trưng khách hàng:</a:t>
            </a:r>
            <a:endParaRPr lang="en-US" sz="1550" dirty="0"/>
          </a:p>
        </p:txBody>
      </p:sp>
      <p:graphicFrame>
        <p:nvGraphicFramePr>
          <p:cNvPr id="307"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Thành phần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 Phương sai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 Lũy kế</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explained_variance_ratio_ = [0.52, 0.28, 0.09, ...]</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Chỉ 2 thành phần chính (PC1+PC2) đã giữ lại 80% thông tin từ 6 đặc trưng gốc — biểu đồ 2D vẫn phản ánh khá trung thực cấu trúc dữ liệu.</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cách một nhà phân tích dữ liệu QUYẾT ĐỊNH nên dùng bao nhiêu thành phần chính: chọn đủ để tổng % lũy kế đạt một ngưỡng chấp nhận được (thường 70-90%).</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3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Áp dụng PCA để trực quan hóa dữ liệu chiến dịch/khách hàng nhiều đặc trưng trên mặt phẳng 2 chiều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khách hàng/chiến dịch đầy đủ với 5+ đặc trưng đã dùng xuyên suốt môn học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sklearn.preprocessing.StandardScaler, sklearn.decomposition.PCA,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Biểu đồ scatter 2D từ PCA; báo cáo % phương sai giữ lại; nhận xét các cụm quan sát được</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3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dữ liệu trước khi áp dụng PCA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StandardScaler (Z-score, buổi 11) cho toàn bộ đặc trưng — bước BẮT BUỘC vì PCA rất nhạy cảm với thang đo khác nhau giữa các đặc trưng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Xác nhận dữ liệu sau chuẩn hóa có trung bình ≈0 và độ lệch chuẩn ≈1 cho mỗi cột</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PCA và trực quan hóa kết quả</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PCA(n_components=2) để giảm dữ liệu xuống 2 chiều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scatter plot của (PC1, PC2) cho toàn bộ khách hàng/chiến dịch bằng matplotlib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pca.explained_variance_ratio_ và tổng của 2 giá trị này — diễn giải phần trăm thông tin đã giữ lại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X_pca = PCA(n_components=2).fit_transform(X_scaled)</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Quan sát và diễn giải cấu trúc dữ liệu trên biểu đồ 2D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Quan sát biểu đồ: có xuất hiện các CỤM (nhóm điểm gần nhau) rõ rệt không?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Tô màu các điểm theo một đặc trưng gốc (ví dụ nhóm khách hàng đã nhấp quảng cáo hay chưa) để xem cụm trên biểu đồ PCA có liên hệ với đặc trưng đó không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Đây là bài lab CUỐI CÙNG của môn học — dành thời gian để mỗi sinh viên tự trình bày ngắn gọn một quan sát thú vị từ biểu đồ của mình</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Diễn giải một 'bản đồ' PCA giả lập kiểu World Values Survey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một biểu đồ PCA giả lập (mô tả bằng lời) thể hiện 8 quốc gia trên 2 trục: 'giá trị truyền thống ↔ thế tục' và 'giá trị sinh tồn ↔ tự thể hiện'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Dựa trên vị trí các quốc gia trên biểu đồ, thảo luận: hai quốc gia ở gần nhau trên bản đồ này có thể có điểm chung gì về văn hóa-xã hội?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Đề xuất phân nhóm chiến lược nội dung từ kết quả PCA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biểu đồ PCA của lab (10+ chiến dịch), xác định bằng mắt 2-3 'cụm' chiến dịch có vị trí gần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Đặt tên gợi ý cho mỗi cụm (ví dụ: 'chiến dịch ngân sách thấp - tương tác cao', 'chiến dịch ngân sách cao - reach rộng') và đề xuất một chiến lược nội dung phù hợp cho mỗi cụm</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Diễn giải PCA trắc nghiệm tính cách Big Five</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một bài trắc nghiệm 50 câu hỏi tâm lý được giảm chiều bằng PCA xuống còn 5 thành phần chính, mỗi thành phần tương ứng gần đúng với một trong 5 nhóm tính cách (Cởi mở, Tận tâm, Hướng ngoại, Dễ chịu, Bất ổn cảm xúc)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2 thành phần chính đầu tiên chỉ giữ lại 40% tổng phương sai (thấp hơn nhiều so với ví dụ chiến dịch truyền thông ở trên), điều đó gợi ý gì về mức độ 'độc lập' giữa các đặc điểm tính cách con người so với các đặc trưng chiến dịch quảng cáo?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PCA giữ lại được 85% phương sai với 2 thành phần chính — 15% thông tin 'mất đi' có luôn là điều xấu? Trong trường hợp nào việc đánh đổi này hoàn toàn hợp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Bản đồ gene châu Âu từ PCA trùng khớp với bản đồ địa lý là một phát hiện đáng kinh ngạc — điều này có ý nghĩa gì về mối quan hệ giữa cấu trúc TOÁN HỌC ẩn trong dữ liệu và cấu trúc THỰC TẾ của thế giới?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Nhìn lại toàn bộ 15 buổi học: khái niệm toán học nào (vector, ma trận, tích vô hướng, chuẩn, hồi quy...) bạn thấy xuất hiện lặp lại NHIỀU LẦN nhất dưới các vỏ bọc ứng dụng khác nhau? Vì sao điều đó lại quan trọng?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Ôn tập cuối kỳ: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Tự vẽ sơ đồ tổng hợp toàn bộ 15 buổi học (vector → ma trận → phép nhân ma trận → hồi quy/phân loại → similarity/chuẩn hóa → giảm chiều), ghi chú công thức cốt lõi của mỗi buổi.</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Ôn tập thực hành: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Xem lại toàn bộ 15 mục trong notebook MM010_BaiLabThucHanh.ipynb, đảm bảo có thể tự chạy lại mọi đoạn code chính không cần xem đáp án.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1910"/>
              </a:lnSpc>
              <a:buNone/>
            </a:pPr>
            <a:r>
              <a:rPr lang="en-US" sz="1476" b="1" dirty="0">
                <a:solidFill>
                  <a:srgbClr val="262626"/>
                </a:solidFill>
                <a:latin typeface="Aptos" pitchFamily="34" charset="0"/>
                <a:ea typeface="Aptos" pitchFamily="34" charset="-122"/>
                <a:cs typeface="Aptos" pitchFamily="34" charset="-120"/>
              </a:rPr>
              <a:t>Điểm mấu chốt cần nhớ:
</a:t>
            </a:r>
            <a:r>
              <a:rPr lang="en-US" sz="1346" dirty="0">
                <a:solidFill>
                  <a:srgbClr val="262626"/>
                </a:solidFill>
                <a:latin typeface="Aptos" pitchFamily="34" charset="0"/>
                <a:ea typeface="Aptos" pitchFamily="34" charset="-122"/>
                <a:cs typeface="Aptos" pitchFamily="34" charset="-120"/>
              </a:rPr>
              <a:t>• PCA giảm dữ liệu nhiều chiều xuống ít chiều hơn (thường 2-3 chiều) để trực quan hóa, dựa trên tìm các hướng (thành phần chính) có phương sai lớn nhất — dùng lại chính khái niệm tổ hợp tuyến tính từ buổi 2.
• Đại số tuyến tính (vector, ma trận, tích vô hướng, chuẩn) là NGÔN NGỮ CHUNG bên dưới hầu hết công cụ phân tích dữ liệu và AI hiện đại — từ logistic regression, neural network, đến hệ thống gợi ý và giảm chiều.
• Toàn bộ 15 buổi học chỉ xoay quanh một số ít phép toán cốt lõi (cộng/nhân vector, tích vô hướng, nhân ma trận, chuẩn) được TÁI SỬ DỤNG liên tục dưới nhiều bài toán ứng dụng khác nhau trong truyền thông đa phương tiện.
</a:t>
            </a:r>
            <a:r>
              <a:rPr lang="en-US" sz="1346" b="1" dirty="0">
                <a:solidFill>
                  <a:srgbClr val="262626"/>
                </a:solidFill>
                <a:latin typeface="Aptos" pitchFamily="34" charset="0"/>
                <a:ea typeface="Aptos" pitchFamily="34" charset="-122"/>
                <a:cs typeface="Aptos" pitchFamily="34" charset="-120"/>
              </a:rPr>
              <a:t>Checklist CLO G1.1, G2.1, G2.2, G6.1: </a:t>
            </a:r>
            <a:r>
              <a:rPr lang="en-US" sz="1346" dirty="0">
                <a:solidFill>
                  <a:srgbClr val="262626"/>
                </a:solidFill>
                <a:latin typeface="Aptos" pitchFamily="34" charset="0"/>
                <a:ea typeface="Aptos" pitchFamily="34" charset="-122"/>
                <a:cs typeface="Aptos" pitchFamily="34" charset="-120"/>
              </a:rPr>
              <a:t>Sinh viên hiểu và vận dụng được PCA ở mức ứng dụng, đồng thời tổng hợp được toàn bộ vai trò của đại số tuyến tính trong phân tích dữ liệu và AI qua cả môn học. ✓
</a:t>
            </a:r>
            <a:r>
              <a:rPr lang="en-US" sz="1346" b="1" dirty="0">
                <a:solidFill>
                  <a:srgbClr val="262626"/>
                </a:solidFill>
                <a:latin typeface="Aptos" pitchFamily="34" charset="0"/>
                <a:ea typeface="Aptos" pitchFamily="34" charset="-122"/>
                <a:cs typeface="Aptos" pitchFamily="34" charset="-120"/>
              </a:rPr>
              <a:t>Buổi tiếp theo: </a:t>
            </a:r>
            <a:r>
              <a:rPr lang="en-US" sz="1346" dirty="0">
                <a:solidFill>
                  <a:srgbClr val="262626"/>
                </a:solidFill>
                <a:latin typeface="Aptos" pitchFamily="34" charset="0"/>
                <a:ea typeface="Aptos" pitchFamily="34" charset="-122"/>
                <a:cs typeface="Aptos" pitchFamily="34" charset="-120"/>
              </a:rPr>
              <a:t>Kết thúc môn học — sinh viên chuẩn bị cho bài thi cuối kỳ (A4) dựa trên toàn bộ nội dung 15 buổi; các kỹ năng đã học là nền tảng trực tiếp cho các môn Machine Learning và Xử lý dữ liệu đa phương tiện nâng cao.</a:t>
            </a:r>
            <a:endParaRPr lang="en-US" sz="1476" dirty="0"/>
          </a:p>
        </p:txBody>
      </p:sp>
      <p:graphicFrame>
        <p:nvGraphicFramePr>
          <p:cNvPr id="317"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PCA ở mức ứng dụng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trực quan hóa 2D</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Tổng kết toàn môn &amp; giải đáp trước thi</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27007</TotalTime>
  <Words>49471</Words>
  <Application>Microsoft Macintosh PowerPoint</Application>
  <PresentationFormat>Widescreen</PresentationFormat>
  <Paragraphs>3406</Paragraphs>
  <Slides>307</Slides>
  <Notes>300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307</vt:i4>
      </vt:variant>
    </vt:vector>
  </HeadingPairs>
  <TitlesOfParts>
    <vt:vector size="313" baseType="lpstr">
      <vt:lpstr>Aptos</vt:lpstr>
      <vt:lpstr>Aptos Display</vt:lpstr>
      <vt:lpstr>Arial</vt:lpstr>
      <vt:lpstr>Cambria</vt:lpstr>
      <vt:lpstr>Cambria Math</vt:lpstr>
      <vt:lpstr>Custom Design</vt:lpstr>
      <vt:lpstr>MM010</vt:lpstr>
      <vt:lpstr>Intro</vt:lpstr>
      <vt:lpstr>Intro</vt:lpstr>
      <vt:lpstr>Intro</vt:lpstr>
      <vt:lpstr>Linear algebra: backbone of data</vt:lpstr>
      <vt:lpstr>Outline</vt:lpstr>
      <vt:lpstr>Find your group</vt:lpstr>
      <vt:lpstr>1. Vector</vt:lpstr>
      <vt:lpstr>1.1. Vector: source of data</vt:lpstr>
      <vt:lpstr>PowerPoint Presentation</vt:lpstr>
      <vt:lpstr>1.2. Vector</vt:lpstr>
      <vt:lpstr>1.3. Feature vector</vt:lpstr>
      <vt:lpstr>1.4. Vector space </vt:lpstr>
      <vt:lpstr>1.5. Lab</vt:lpstr>
      <vt:lpstr>1.6. Dicussion: Q&amp;A</vt:lpstr>
      <vt:lpstr>2. Operations on vector</vt:lpstr>
      <vt:lpstr>2.1. Element-wise operations</vt:lpstr>
      <vt:lpstr>2.2. Mul operations</vt:lpstr>
      <vt:lpstr>2.2. 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MM010 – Đại số tuyến tính ứng dụng trong Truyền thông</dc:title>
  <dc:subject>PptxGenJS Presentation</dc:subject>
  <dc:creator>TS. Vũ Tuấn Hải</dc:creator>
  <cp:lastModifiedBy>Vũ Tuấn Hải</cp:lastModifiedBy>
  <cp:revision>12</cp:revision>
  <dcterms:created xsi:type="dcterms:W3CDTF">2026-08-22T05:26:08Z</dcterms:created>
  <dcterms:modified xsi:type="dcterms:W3CDTF">2026-09-10T02:17:24Z</dcterms:modified>
</cp:coreProperties>
</file>