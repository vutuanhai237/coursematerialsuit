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322" r:id="rId4"/>
    <p:sldId id="326" r:id="rId5"/>
    <p:sldId id="327" r:id="rId6"/>
    <p:sldId id="328" r:id="rId7"/>
    <p:sldId id="336" r:id="rId8"/>
    <p:sldId id="329" r:id="rId9"/>
    <p:sldId id="331" r:id="rId10"/>
    <p:sldId id="330" r:id="rId11"/>
    <p:sldId id="261" r:id="rId12"/>
    <p:sldId id="287" r:id="rId13"/>
    <p:sldId id="260" r:id="rId14"/>
    <p:sldId id="292" r:id="rId15"/>
    <p:sldId id="293" r:id="rId16"/>
    <p:sldId id="294" r:id="rId17"/>
    <p:sldId id="295" r:id="rId18"/>
    <p:sldId id="297" r:id="rId19"/>
    <p:sldId id="301" r:id="rId20"/>
    <p:sldId id="332" r:id="rId21"/>
    <p:sldId id="333" r:id="rId22"/>
    <p:sldId id="296" r:id="rId23"/>
    <p:sldId id="334" r:id="rId24"/>
    <p:sldId id="315" r:id="rId25"/>
    <p:sldId id="335" r:id="rId26"/>
    <p:sldId id="310" r:id="rId27"/>
    <p:sldId id="321" r:id="rId28"/>
    <p:sldId id="323" r:id="rId29"/>
    <p:sldId id="324" r:id="rId30"/>
    <p:sldId id="337" r:id="rId31"/>
    <p:sldId id="338" r:id="rId32"/>
    <p:sldId id="320" r:id="rId33"/>
    <p:sldId id="339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CC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913490FE-222C-42CF-9C83-63B3D6C4B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6007CF71-9E50-4310-8AAD-F3C5F2806AEA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4DF2EC67-009D-441E-8155-7F48DF343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97236A6D-293D-41D4-ACE9-5F130D95F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6170529F-239F-42B6-ACEA-04B316B75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D0B99A2E-8BE3-4797-8F89-9E5DC230B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417833F5-5011-4C26-AEFD-9132B436D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B2A7851F-7DDB-4715-9E23-5EDBA4CE8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2E44FC4C-0A3B-47F5-BAF5-B870DFF26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F3FC10E3-B9CC-42DE-AD15-956631F84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249B062A-4B0A-4E15-B508-B03584A39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200166A0-1ADE-41FD-987D-8F8CC069F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87794350-0867-4F1D-ADBE-D235FA394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DA7E9885-F2D0-44A1-B7B3-63EAA132F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4C7F5004-215D-4205-BF2B-AFC601FDF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52A54AF0-BAEA-4376-99E5-4C070E54C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1F7B58B1-437A-4FB7-84BD-5B8285C81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05FC15AE-FA18-493B-92F8-7FE49FBA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1DECDDBE-6CD0-4DB9-A2A8-E4B1F9F19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B8DFFD26-AB01-472F-9728-F4EB04E85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0C6285C7-97BA-43B3-91B0-09C15002B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261E352E-E883-4782-983D-77EBD7991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63427B4A-5002-46E6-939C-7C3B24D42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8849A43B-B19E-4B69-8A10-D00E92473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E850943E-98A7-4787-AE90-F02256808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17509880-C6F4-4B24-8027-21CB1F61A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F4AA4D9D-657A-4394-BFCB-B63DE8596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5535E539-1743-4C3B-9304-92B1D1824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02772A1B-CA95-4089-8DA3-60045F09A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2333B933-0423-4BF2-942B-771AA1B3F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B51AC8BA-D94D-4C2F-8F5B-7766B3A54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A00E7784-C3F1-4F23-A10A-58A926D86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33F77434-DF50-49D1-B69F-8F83B7F9E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A32D968F-142F-4BD3-AF69-0186A6396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8E1E5C4C-7086-473A-AF6D-8445D1F3E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CAC9CA0F-0D98-4167-9A08-BF6E71D76A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BDF60F66-4407-429A-8EF4-65D6D92760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722D-0D19-44D1-B7B3-3A426FD9F3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98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030BC8-E586-4DB0-A045-136B31563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4160BA-C6A1-4F82-B4A5-EA8C4696E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7B57D68-7166-433D-8505-18314B1E8A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19E7E-9400-44EC-B854-DF225CA2E9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96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4EB8AA4-68FE-4983-9CB4-98440E38B8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41AEF2-3965-4046-9C6F-20FBF57CBF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C1F29CA-7C8C-4BC0-99BA-D2298D23A9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03A1F-AA90-4768-A3FB-BCF38A5A68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26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4295B3-F705-4F4A-BEFB-B1E9F2AA34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225707-757A-4C49-9A20-C66D4267F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3E71448-5C34-4A84-9BC2-1768FB7A31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C3E5B-B60D-474B-947B-C05E8504A7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74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46657D6-C7C0-4178-8011-5F9B319311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77079BF-9561-4C87-8C9C-22DBDB6D6F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D107973-39F8-4B15-9ACC-5DACF8D24A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05D84-6F35-4374-9142-5DFC3BE8C5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97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9B362F-0F1F-4B4A-8F65-C570B297D8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A17849D-B111-45F1-8764-D16D8C83E8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AB5BE6-4549-4B71-9685-9F13110BC4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567A87-946A-486C-9360-6D37A0351B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91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799C17D-553F-466E-AC15-7C3A919BDF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1EC2107-846A-4EDB-9055-5E352D914F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8D45A9A-696E-4E2B-B75F-FBAD789E01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E300D-57AE-43A6-95B4-294E2F8DED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14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FDDB3D-C821-49C1-89FA-8C412D0FC1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ACABF5-6257-4980-9BBF-4C887A5003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7E6EA90-EA79-42A6-8B84-06F39B635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0E2F1-0972-416F-A546-71B3EF06BF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076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3EC530-2621-4EE0-8B6A-BF874ECE3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366E2-090F-487D-9BE2-B2D46A874C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38DC24D-5DE6-4385-A7D6-1F7389F197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68A5A-7535-4116-8271-EDA0185F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2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67D74E-4DBD-4036-B53B-B409A27D5E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586B8F-53D3-48AE-8D20-CD8684AF5C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CD00CD-8A9D-4F53-A007-100D66DABB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6C1E3-2803-4BE3-8B06-C68B4E699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39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C6FB18-527D-450E-9FAE-F3E11D9F34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43DF5C-EB5B-4B6A-B6D7-2581E99933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D61F8CA-DB10-4EDD-BAAF-6D1AD19736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0895B-AD3E-428E-B895-EAF5B8ED7B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134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F9CD7213-9C09-4AB4-8CA5-D27E810E1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F94B6EC-D293-49B2-A4AD-D58663B85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4671A1-E67B-4C4A-8342-B2C9C4C06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F3D2C361-127F-4935-BBAD-F1907E20EF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BCE8B597-EC9A-4D20-BD88-BC7D8D0B6A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6C8C4729-60CD-4E58-8AF7-EEEFD428AE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C3614112-121E-4202-AEF1-DC5821A828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2A30FAF0-8CAC-4069-8719-0F7C5950FCD4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>
              <a:extLst>
                <a:ext uri="{FF2B5EF4-FFF2-40B4-BE49-F238E27FC236}">
                  <a16:creationId xmlns:a16="http://schemas.microsoft.com/office/drawing/2014/main" id="{ECABEA27-BF03-46E5-AD0E-B78240630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>
              <a:extLst>
                <a:ext uri="{FF2B5EF4-FFF2-40B4-BE49-F238E27FC236}">
                  <a16:creationId xmlns:a16="http://schemas.microsoft.com/office/drawing/2014/main" id="{6A9BA4A0-8404-4408-AC76-1D6BFB089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>
              <a:extLst>
                <a:ext uri="{FF2B5EF4-FFF2-40B4-BE49-F238E27FC236}">
                  <a16:creationId xmlns:a16="http://schemas.microsoft.com/office/drawing/2014/main" id="{ED138EE7-47FE-488E-8ECF-9DF1640E3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7FE96BDD-158E-4A4A-A20E-50085FEBE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9269D713-4E5E-4665-A6B4-68A174680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>
              <a:extLst>
                <a:ext uri="{FF2B5EF4-FFF2-40B4-BE49-F238E27FC236}">
                  <a16:creationId xmlns:a16="http://schemas.microsoft.com/office/drawing/2014/main" id="{FF088743-8CE5-411F-BF78-1981613FC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>
              <a:extLst>
                <a:ext uri="{FF2B5EF4-FFF2-40B4-BE49-F238E27FC236}">
                  <a16:creationId xmlns:a16="http://schemas.microsoft.com/office/drawing/2014/main" id="{B857D1D3-58C8-4939-89A2-88C75ABC6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>
              <a:extLst>
                <a:ext uri="{FF2B5EF4-FFF2-40B4-BE49-F238E27FC236}">
                  <a16:creationId xmlns:a16="http://schemas.microsoft.com/office/drawing/2014/main" id="{36B7036D-1016-49E2-8227-2686206CA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EB217773-325E-4388-B0AF-287AA7892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9F85AD00-46D0-43ED-83EB-F02872B10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>
              <a:extLst>
                <a:ext uri="{FF2B5EF4-FFF2-40B4-BE49-F238E27FC236}">
                  <a16:creationId xmlns:a16="http://schemas.microsoft.com/office/drawing/2014/main" id="{9B20591C-190D-43E3-BA6D-4282AFDF0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>
              <a:extLst>
                <a:ext uri="{FF2B5EF4-FFF2-40B4-BE49-F238E27FC236}">
                  <a16:creationId xmlns:a16="http://schemas.microsoft.com/office/drawing/2014/main" id="{EB9A434D-1AAF-427B-9824-0B5DC5F0C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>
              <a:extLst>
                <a:ext uri="{FF2B5EF4-FFF2-40B4-BE49-F238E27FC236}">
                  <a16:creationId xmlns:a16="http://schemas.microsoft.com/office/drawing/2014/main" id="{FE3264EC-793D-4C78-A151-58F27D77C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F2CEA599-01D1-40C9-83DC-B33D2EE7A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E64D3CA1-0F06-48DB-8FF0-94FC93EDA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>
              <a:extLst>
                <a:ext uri="{FF2B5EF4-FFF2-40B4-BE49-F238E27FC236}">
                  <a16:creationId xmlns:a16="http://schemas.microsoft.com/office/drawing/2014/main" id="{8BC37425-9442-4B74-8E4D-A1DA3E533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>
              <a:extLst>
                <a:ext uri="{FF2B5EF4-FFF2-40B4-BE49-F238E27FC236}">
                  <a16:creationId xmlns:a16="http://schemas.microsoft.com/office/drawing/2014/main" id="{B18DA504-5BD5-41A6-B3A8-BA7A69AEB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>
              <a:extLst>
                <a:ext uri="{FF2B5EF4-FFF2-40B4-BE49-F238E27FC236}">
                  <a16:creationId xmlns:a16="http://schemas.microsoft.com/office/drawing/2014/main" id="{0FB88C4A-9650-491E-9695-1B33367C0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8F8AE0B6-EE7F-4FEE-9ED4-95064BBA4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>
              <a:extLst>
                <a:ext uri="{FF2B5EF4-FFF2-40B4-BE49-F238E27FC236}">
                  <a16:creationId xmlns:a16="http://schemas.microsoft.com/office/drawing/2014/main" id="{768EF398-654B-4DF1-9BF8-4ADE8F4F3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>
              <a:extLst>
                <a:ext uri="{FF2B5EF4-FFF2-40B4-BE49-F238E27FC236}">
                  <a16:creationId xmlns:a16="http://schemas.microsoft.com/office/drawing/2014/main" id="{1A8FDBDC-4345-4437-94E3-B6EB8F7F9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>
              <a:extLst>
                <a:ext uri="{FF2B5EF4-FFF2-40B4-BE49-F238E27FC236}">
                  <a16:creationId xmlns:a16="http://schemas.microsoft.com/office/drawing/2014/main" id="{8ACD414E-A1E6-44CA-9D3D-442A245C7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>
              <a:extLst>
                <a:ext uri="{FF2B5EF4-FFF2-40B4-BE49-F238E27FC236}">
                  <a16:creationId xmlns:a16="http://schemas.microsoft.com/office/drawing/2014/main" id="{EF9851FD-7C7F-4006-B8B2-1A3FC459A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>
              <a:extLst>
                <a:ext uri="{FF2B5EF4-FFF2-40B4-BE49-F238E27FC236}">
                  <a16:creationId xmlns:a16="http://schemas.microsoft.com/office/drawing/2014/main" id="{08D6405F-92E1-47E9-AED1-5A769B828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>
              <a:extLst>
                <a:ext uri="{FF2B5EF4-FFF2-40B4-BE49-F238E27FC236}">
                  <a16:creationId xmlns:a16="http://schemas.microsoft.com/office/drawing/2014/main" id="{9E55A35F-D588-457B-B7AA-4287607B4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>
              <a:extLst>
                <a:ext uri="{FF2B5EF4-FFF2-40B4-BE49-F238E27FC236}">
                  <a16:creationId xmlns:a16="http://schemas.microsoft.com/office/drawing/2014/main" id="{23BB3298-9D5F-4246-AEA4-0AF65E82C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>
              <a:extLst>
                <a:ext uri="{FF2B5EF4-FFF2-40B4-BE49-F238E27FC236}">
                  <a16:creationId xmlns:a16="http://schemas.microsoft.com/office/drawing/2014/main" id="{6881E905-F288-488F-A31D-209CE130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>
              <a:extLst>
                <a:ext uri="{FF2B5EF4-FFF2-40B4-BE49-F238E27FC236}">
                  <a16:creationId xmlns:a16="http://schemas.microsoft.com/office/drawing/2014/main" id="{25800D3F-258A-4591-8F93-8C4532BD4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>
              <a:extLst>
                <a:ext uri="{FF2B5EF4-FFF2-40B4-BE49-F238E27FC236}">
                  <a16:creationId xmlns:a16="http://schemas.microsoft.com/office/drawing/2014/main" id="{48099B94-8157-4240-9F6C-AAE28BE35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>
              <a:extLst>
                <a:ext uri="{FF2B5EF4-FFF2-40B4-BE49-F238E27FC236}">
                  <a16:creationId xmlns:a16="http://schemas.microsoft.com/office/drawing/2014/main" id="{D8C22756-6467-455F-AFCF-2BD198B70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>
              <a:extLst>
                <a:ext uri="{FF2B5EF4-FFF2-40B4-BE49-F238E27FC236}">
                  <a16:creationId xmlns:a16="http://schemas.microsoft.com/office/drawing/2014/main" id="{48F7501D-5714-4323-8D68-DA569CB30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4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C1EA683-C175-40EA-B5FE-C08826C42FC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Init &amp; simple drawing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7AF64DF-80C4-41A6-97F6-14CF9B28C8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 sz="24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4106AA7-E81A-483C-854A-8E7122363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8AE3688-2AFC-4C18-9E49-BDC1E5C93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Create a skeleton DirectX 10 project</a:t>
            </a:r>
          </a:p>
          <a:p>
            <a:pPr eaLnBrk="1" hangingPunct="1"/>
            <a:r>
              <a:rPr lang="en-US" altLang="en-US"/>
              <a:t>Understand game loop </a:t>
            </a:r>
          </a:p>
          <a:p>
            <a:pPr eaLnBrk="1" hangingPunct="1"/>
            <a:r>
              <a:rPr lang="en-US" altLang="en-US"/>
              <a:t>Render a sprite </a:t>
            </a:r>
          </a:p>
          <a:p>
            <a:pPr eaLnBrk="1" hangingPunct="1"/>
            <a:r>
              <a:rPr lang="en-US" altLang="en-US"/>
              <a:t>Create simple movement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0AA5945-A55F-416A-85D7-816DBEF14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Set up sample project on VS2019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5053F8B-DC5E-4738-B808-B70503BBF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Create </a:t>
            </a:r>
            <a:r>
              <a:rPr lang="en-US" altLang="en-US">
                <a:solidFill>
                  <a:srgbClr val="FFC000"/>
                </a:solidFill>
              </a:rPr>
              <a:t>C++ | Windows | Desktop | Empty</a:t>
            </a:r>
            <a:r>
              <a:rPr lang="en-US" altLang="en-US"/>
              <a:t> project</a:t>
            </a:r>
          </a:p>
          <a:p>
            <a:pPr eaLnBrk="1" hangingPunct="1"/>
            <a:r>
              <a:rPr lang="en-US" altLang="en-US"/>
              <a:t>Link to D3D10 lib</a:t>
            </a:r>
          </a:p>
          <a:p>
            <a:pPr eaLnBrk="1" hangingPunct="1"/>
            <a:r>
              <a:rPr lang="en-US" altLang="en-US"/>
              <a:t>Install D3D10X lib using NuGet </a:t>
            </a:r>
          </a:p>
          <a:p>
            <a:pPr eaLnBrk="1" hangingPunct="1"/>
            <a:r>
              <a:rPr lang="en-US" altLang="en-US"/>
              <a:t>Hide unrelated debug messages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BEEE043-21F1-4137-B3A2-D17764B03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600200"/>
            <a:ext cx="848677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2">
            <a:extLst>
              <a:ext uri="{FF2B5EF4-FFF2-40B4-BE49-F238E27FC236}">
                <a16:creationId xmlns:a16="http://schemas.microsoft.com/office/drawing/2014/main" id="{77F597B2-7DC5-49E8-B153-BABA2A0B2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Create an empty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CF365-83C9-4E51-9C5E-419F3C529763}"/>
              </a:ext>
            </a:extLst>
          </p:cNvPr>
          <p:cNvSpPr/>
          <p:nvPr/>
        </p:nvSpPr>
        <p:spPr>
          <a:xfrm>
            <a:off x="328613" y="1600200"/>
            <a:ext cx="6986587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FB71778-8A2A-406B-86F5-E707631AF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687513"/>
            <a:ext cx="604837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>
            <a:extLst>
              <a:ext uri="{FF2B5EF4-FFF2-40B4-BE49-F238E27FC236}">
                <a16:creationId xmlns:a16="http://schemas.microsoft.com/office/drawing/2014/main" id="{9018A5A6-EE55-4567-B145-25C955788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Create an empty project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297F399-FA8D-4670-9F5A-52B72A9222EB}"/>
              </a:ext>
            </a:extLst>
          </p:cNvPr>
          <p:cNvSpPr/>
          <p:nvPr/>
        </p:nvSpPr>
        <p:spPr>
          <a:xfrm>
            <a:off x="833438" y="3276600"/>
            <a:ext cx="4953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CB75712-E17A-4A6D-BB1A-B1B6CE5916E9}"/>
              </a:ext>
            </a:extLst>
          </p:cNvPr>
          <p:cNvSpPr/>
          <p:nvPr/>
        </p:nvSpPr>
        <p:spPr>
          <a:xfrm>
            <a:off x="990600" y="3906838"/>
            <a:ext cx="4953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>
            <a:extLst>
              <a:ext uri="{FF2B5EF4-FFF2-40B4-BE49-F238E27FC236}">
                <a16:creationId xmlns:a16="http://schemas.microsoft.com/office/drawing/2014/main" id="{69882ED4-9CB1-493A-ABCF-57E8ED256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635"/>
          <a:stretch>
            <a:fillRect/>
          </a:stretch>
        </p:blipFill>
        <p:spPr bwMode="auto">
          <a:xfrm>
            <a:off x="0" y="1676400"/>
            <a:ext cx="9144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2">
            <a:extLst>
              <a:ext uri="{FF2B5EF4-FFF2-40B4-BE49-F238E27FC236}">
                <a16:creationId xmlns:a16="http://schemas.microsoft.com/office/drawing/2014/main" id="{8DC0804F-489C-412A-996E-9AD4A0E60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Setting up project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83A4D95-9BE3-46C0-8282-EE6D5CBAFF94}"/>
              </a:ext>
            </a:extLst>
          </p:cNvPr>
          <p:cNvSpPr/>
          <p:nvPr/>
        </p:nvSpPr>
        <p:spPr>
          <a:xfrm>
            <a:off x="209550" y="3992563"/>
            <a:ext cx="4953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7" name="TextBox 8">
            <a:extLst>
              <a:ext uri="{FF2B5EF4-FFF2-40B4-BE49-F238E27FC236}">
                <a16:creationId xmlns:a16="http://schemas.microsoft.com/office/drawing/2014/main" id="{308E2F0C-7376-4BCB-ABE2-D1C60A400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791200"/>
            <a:ext cx="8693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/>
              <a:t>Project &gt; Properties &gt; Linker &gt; Input</a:t>
            </a:r>
          </a:p>
          <a:p>
            <a:endParaRPr lang="en-US" altLang="en-US" b="1" dirty="0"/>
          </a:p>
          <a:p>
            <a:r>
              <a:rPr lang="en-US" altLang="en-US" b="1" dirty="0"/>
              <a:t>Make sure you select the matching platform: </a:t>
            </a:r>
            <a:r>
              <a:rPr lang="en-US" altLang="en-US" b="1" dirty="0">
                <a:solidFill>
                  <a:srgbClr val="FFFF00"/>
                </a:solidFill>
              </a:rPr>
              <a:t>x64</a:t>
            </a:r>
            <a:r>
              <a:rPr lang="en-US" altLang="en-US" b="1" dirty="0"/>
              <a:t> (64-bit) or </a:t>
            </a:r>
            <a:r>
              <a:rPr lang="en-US" altLang="en-US" b="1" dirty="0">
                <a:solidFill>
                  <a:srgbClr val="FFFF00"/>
                </a:solidFill>
              </a:rPr>
              <a:t>x86</a:t>
            </a:r>
            <a:r>
              <a:rPr lang="en-US" altLang="en-US" b="1" dirty="0"/>
              <a:t> (32-bit)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C5638DCE-C672-4CA9-9382-DDA87DD52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82644"/>
              </p:ext>
            </p:extLst>
          </p:nvPr>
        </p:nvGraphicFramePr>
        <p:xfrm>
          <a:off x="4544111" y="411480"/>
          <a:ext cx="3276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8281880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2334048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284124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93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1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666321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F1BB92C6-0431-4F16-B0B4-026E83793EC9}"/>
              </a:ext>
            </a:extLst>
          </p:cNvPr>
          <p:cNvSpPr/>
          <p:nvPr/>
        </p:nvSpPr>
        <p:spPr>
          <a:xfrm rot="16200000">
            <a:off x="8667750" y="2876550"/>
            <a:ext cx="4953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7E0B86B-1483-469E-AA8E-72E42461EE93}"/>
              </a:ext>
            </a:extLst>
          </p:cNvPr>
          <p:cNvSpPr/>
          <p:nvPr/>
        </p:nvSpPr>
        <p:spPr>
          <a:xfrm rot="16200000">
            <a:off x="5094588" y="3167449"/>
            <a:ext cx="4953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42A802E-40B9-40A6-BAB9-EDE7DFAD54C9}"/>
              </a:ext>
            </a:extLst>
          </p:cNvPr>
          <p:cNvSpPr/>
          <p:nvPr/>
        </p:nvSpPr>
        <p:spPr>
          <a:xfrm rot="5400000">
            <a:off x="4473575" y="1771650"/>
            <a:ext cx="4953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8DC0804F-489C-412A-996E-9AD4A0E60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Setting up project</a:t>
            </a:r>
          </a:p>
        </p:txBody>
      </p:sp>
      <p:sp>
        <p:nvSpPr>
          <p:cNvPr id="8197" name="TextBox 8">
            <a:extLst>
              <a:ext uri="{FF2B5EF4-FFF2-40B4-BE49-F238E27FC236}">
                <a16:creationId xmlns:a16="http://schemas.microsoft.com/office/drawing/2014/main" id="{308E2F0C-7376-4BCB-ABE2-D1C60A400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791200"/>
            <a:ext cx="8693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/>
              <a:t>Project &gt; Properties &gt; Linker &gt; Input</a:t>
            </a:r>
          </a:p>
          <a:p>
            <a:endParaRPr lang="en-US" altLang="en-US" b="1" dirty="0"/>
          </a:p>
          <a:p>
            <a:r>
              <a:rPr lang="en-US" altLang="en-US" b="1" dirty="0"/>
              <a:t>Make sure you select the matching platform: </a:t>
            </a:r>
            <a:r>
              <a:rPr lang="en-US" altLang="en-US" b="1" dirty="0">
                <a:solidFill>
                  <a:srgbClr val="FFFF00"/>
                </a:solidFill>
              </a:rPr>
              <a:t>x64</a:t>
            </a:r>
            <a:r>
              <a:rPr lang="en-US" altLang="en-US" b="1" dirty="0"/>
              <a:t> (64-bit) or </a:t>
            </a:r>
            <a:r>
              <a:rPr lang="en-US" altLang="en-US" b="1" dirty="0">
                <a:solidFill>
                  <a:srgbClr val="FFFF00"/>
                </a:solidFill>
              </a:rPr>
              <a:t>x86</a:t>
            </a:r>
            <a:r>
              <a:rPr lang="en-US" altLang="en-US" b="1" dirty="0"/>
              <a:t> (32-bit)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35EBBB2-DE4D-4A47-9469-76FA1981A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090816"/>
              </p:ext>
            </p:extLst>
          </p:nvPr>
        </p:nvGraphicFramePr>
        <p:xfrm>
          <a:off x="1371600" y="2491899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281880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33404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4124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93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1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666321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FAC70099-F09A-41B1-9F0C-9D3D226D8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3886200"/>
            <a:ext cx="8693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/>
              <a:t>x64 : </a:t>
            </a:r>
            <a:r>
              <a:rPr lang="en-US" altLang="en-US" dirty="0"/>
              <a:t>64-bit code, today’s standard</a:t>
            </a:r>
          </a:p>
          <a:p>
            <a:r>
              <a:rPr lang="en-US" altLang="en-US" b="1" dirty="0"/>
              <a:t>x86 : 32-bit code </a:t>
            </a:r>
          </a:p>
        </p:txBody>
      </p:sp>
    </p:spTree>
    <p:extLst>
      <p:ext uri="{BB962C8B-B14F-4D97-AF65-F5344CB8AC3E}">
        <p14:creationId xmlns:p14="http://schemas.microsoft.com/office/powerpoint/2010/main" val="247672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D16A7789-09EF-4941-858B-A55518B0A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Setting up project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0246833-38EE-4B90-9796-C189BAAD7421}"/>
              </a:ext>
            </a:extLst>
          </p:cNvPr>
          <p:cNvSpPr/>
          <p:nvPr/>
        </p:nvSpPr>
        <p:spPr>
          <a:xfrm>
            <a:off x="1104900" y="2209800"/>
            <a:ext cx="495300" cy="3048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1" name="TextBox 6">
            <a:extLst>
              <a:ext uri="{FF2B5EF4-FFF2-40B4-BE49-F238E27FC236}">
                <a16:creationId xmlns:a16="http://schemas.microsoft.com/office/drawing/2014/main" id="{5488DAF7-9003-4707-9AEB-D123882B3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34" y="6371105"/>
            <a:ext cx="88968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/>
              <a:t>Add  </a:t>
            </a:r>
            <a:r>
              <a:rPr lang="en-US" altLang="en-US" b="1" dirty="0">
                <a:solidFill>
                  <a:srgbClr val="FFC000"/>
                </a:solidFill>
              </a:rPr>
              <a:t>d3d10.lib, </a:t>
            </a:r>
            <a:r>
              <a:rPr lang="en-US" altLang="en-US" sz="1800" b="1" dirty="0">
                <a:solidFill>
                  <a:srgbClr val="FFFF00"/>
                </a:solidFill>
                <a:latin typeface="Courier New" panose="02070309020205020404" pitchFamily="49" charset="0"/>
              </a:rPr>
              <a:t>dxguid.lib,dinput8.lib </a:t>
            </a:r>
            <a:r>
              <a:rPr lang="en-US" altLang="en-US" b="1" dirty="0"/>
              <a:t>into list of linked libraries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61BC0-5AB3-495F-B5B8-E9A23C0AF3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00" t="23333" r="37500" b="26297"/>
          <a:stretch/>
        </p:blipFill>
        <p:spPr>
          <a:xfrm>
            <a:off x="1676399" y="1752600"/>
            <a:ext cx="3966883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FE28BDE-5FEA-4FF7-90A6-BD57EBF24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Install D3D10x library </a:t>
            </a: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79ECD150-726D-4EC1-ABBC-E02D7CC72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7" b="13889"/>
          <a:stretch>
            <a:fillRect/>
          </a:stretch>
        </p:blipFill>
        <p:spPr bwMode="auto">
          <a:xfrm>
            <a:off x="190500" y="1676400"/>
            <a:ext cx="8763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9">
            <a:extLst>
              <a:ext uri="{FF2B5EF4-FFF2-40B4-BE49-F238E27FC236}">
                <a16:creationId xmlns:a16="http://schemas.microsoft.com/office/drawing/2014/main" id="{86825753-9F0F-47C6-87B3-5535DDA6D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8"/>
          <a:stretch>
            <a:fillRect/>
          </a:stretch>
        </p:blipFill>
        <p:spPr bwMode="auto">
          <a:xfrm>
            <a:off x="201613" y="4930775"/>
            <a:ext cx="8751887" cy="180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2C97780-9940-4E76-ABD8-5B94C16C554D}"/>
              </a:ext>
            </a:extLst>
          </p:cNvPr>
          <p:cNvSpPr/>
          <p:nvPr/>
        </p:nvSpPr>
        <p:spPr>
          <a:xfrm>
            <a:off x="6324600" y="2971800"/>
            <a:ext cx="1981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F9808-3271-4A45-A84C-3AD7285458E0}"/>
              </a:ext>
            </a:extLst>
          </p:cNvPr>
          <p:cNvSpPr/>
          <p:nvPr/>
        </p:nvSpPr>
        <p:spPr>
          <a:xfrm>
            <a:off x="135408" y="5410200"/>
            <a:ext cx="260779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EBCBD986-95E4-44D0-AAA4-2171B7874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5911334"/>
            <a:ext cx="464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/>
              <a:t>Install-Package Microsoft.DXSDK.D3DX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8F4321D-C13E-48CC-B0D7-EED3F00B5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Turn off unwanted debug messages</a:t>
            </a:r>
          </a:p>
        </p:txBody>
      </p:sp>
      <p:sp>
        <p:nvSpPr>
          <p:cNvPr id="11267" name="TextBox 6">
            <a:extLst>
              <a:ext uri="{FF2B5EF4-FFF2-40B4-BE49-F238E27FC236}">
                <a16:creationId xmlns:a16="http://schemas.microsoft.com/office/drawing/2014/main" id="{E4635480-3A40-48A9-A3DA-A150C7A44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1676400"/>
            <a:ext cx="601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/>
              <a:t>Tools &gt; Options &gt; Debugging &gt; Output Window</a:t>
            </a:r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id="{8D168011-D1CF-4265-A43E-228F4F03B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" t="-4285" r="17517" b="26265"/>
          <a:stretch>
            <a:fillRect/>
          </a:stretch>
        </p:blipFill>
        <p:spPr bwMode="auto">
          <a:xfrm>
            <a:off x="177800" y="1920875"/>
            <a:ext cx="7543800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48CE83-596C-47EC-B2FF-03FA2CA77991}"/>
              </a:ext>
            </a:extLst>
          </p:cNvPr>
          <p:cNvSpPr txBox="1"/>
          <p:nvPr/>
        </p:nvSpPr>
        <p:spPr>
          <a:xfrm>
            <a:off x="2514600" y="4648200"/>
            <a:ext cx="6019800" cy="6461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Turn OFF everything under General Output Settings except </a:t>
            </a:r>
            <a:r>
              <a:rPr lang="en-US" b="1" dirty="0">
                <a:solidFill>
                  <a:srgbClr val="FF0000"/>
                </a:solidFill>
              </a:rPr>
              <a:t>Exception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5B7C801-4035-4F34-B302-DE5E14BE7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DirectX components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E51572F-E805-48CF-8E49-ABCBDF993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FF00"/>
                </a:solidFill>
              </a:rPr>
              <a:t>Direct3D</a:t>
            </a:r>
          </a:p>
          <a:p>
            <a:pPr eaLnBrk="1" hangingPunct="1"/>
            <a:r>
              <a:rPr lang="en-US" altLang="en-US"/>
              <a:t>DirectX Audio: </a:t>
            </a:r>
          </a:p>
          <a:p>
            <a:pPr lvl="1" eaLnBrk="1" hangingPunct="1"/>
            <a:r>
              <a:rPr lang="en-US" altLang="en-US"/>
              <a:t>DirectMusic</a:t>
            </a:r>
          </a:p>
          <a:p>
            <a:pPr lvl="1" eaLnBrk="1" hangingPunct="1"/>
            <a:r>
              <a:rPr lang="en-US" altLang="en-US"/>
              <a:t>DirectSound</a:t>
            </a:r>
          </a:p>
          <a:p>
            <a:pPr lvl="1" eaLnBrk="1" hangingPunct="1"/>
            <a:r>
              <a:rPr lang="en-US" altLang="en-US"/>
              <a:t>DirectSound3D</a:t>
            </a:r>
          </a:p>
          <a:p>
            <a:pPr eaLnBrk="1" hangingPunct="1"/>
            <a:r>
              <a:rPr lang="en-US" altLang="en-US">
                <a:solidFill>
                  <a:srgbClr val="FFFF00"/>
                </a:solidFill>
              </a:rPr>
              <a:t>DirectInput</a:t>
            </a:r>
          </a:p>
          <a:p>
            <a:pPr eaLnBrk="1" hangingPunct="1"/>
            <a:r>
              <a:rPr lang="en-US" altLang="en-US"/>
              <a:t>DirectPlay: obsoleted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>
              <a:solidFill>
                <a:srgbClr val="FFFF00"/>
              </a:solidFill>
            </a:endParaRPr>
          </a:p>
          <a:p>
            <a:pPr lvl="1" eaLnBrk="1" hangingPunct="1"/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AAD33996-F3D4-4931-BD36-96E1EABDD6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66725"/>
            <a:ext cx="7097713" cy="2133600"/>
          </a:xfrm>
        </p:spPr>
        <p:txBody>
          <a:bodyPr/>
          <a:lstStyle/>
          <a:p>
            <a:pPr eaLnBrk="1" hangingPunct="1"/>
            <a:r>
              <a:rPr lang="en-US" altLang="en-US" sz="3600"/>
              <a:t>A simple window application</a:t>
            </a:r>
          </a:p>
        </p:txBody>
      </p:sp>
      <p:sp>
        <p:nvSpPr>
          <p:cNvPr id="13315" name="Rectangle 5">
            <a:extLst>
              <a:ext uri="{FF2B5EF4-FFF2-40B4-BE49-F238E27FC236}">
                <a16:creationId xmlns:a16="http://schemas.microsoft.com/office/drawing/2014/main" id="{061F51D8-88CF-4974-914C-77BE27CF23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7800EDC-24A9-466D-B3D6-17C47EB33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A simple window application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37B7237-C658-4B85-A3A5-9FDD6AEC2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Create a window class</a:t>
            </a:r>
          </a:p>
          <a:p>
            <a:pPr eaLnBrk="1" hangingPunct="1"/>
            <a:r>
              <a:rPr lang="en-US" altLang="en-US" dirty="0"/>
              <a:t>Create a window </a:t>
            </a:r>
          </a:p>
          <a:p>
            <a:pPr eaLnBrk="1" hangingPunct="1"/>
            <a:r>
              <a:rPr lang="en-US" altLang="en-US" dirty="0"/>
              <a:t>Create message loop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dirty="0"/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A244D90-DAA2-424E-8771-DB5D4FABF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8900"/>
            <a:ext cx="7543800" cy="639763"/>
          </a:xfrm>
        </p:spPr>
        <p:txBody>
          <a:bodyPr/>
          <a:lstStyle/>
          <a:p>
            <a:pPr eaLnBrk="1" hangingPunct="1"/>
            <a:r>
              <a:rPr lang="en-US" altLang="en-US" sz="3500"/>
              <a:t>Creating a window class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3CACFA5-E76E-48EE-B1E2-98C8430BD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6106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b="1" noProof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WNDCLASSEX wc;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wc.cbSize = sizeof(WNDCLASSEX);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b="1" noProof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wc.style = CS_HREDRAW | CS_VREDRAW;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wc.hInstance = hInstance;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b="1" noProof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</a:t>
            </a:r>
            <a:r>
              <a:rPr lang="en-US" altLang="en-US" sz="1800" b="1" noProof="1">
                <a:solidFill>
                  <a:srgbClr val="FFFF00"/>
                </a:solidFill>
                <a:latin typeface="Courier New" panose="02070309020205020404" pitchFamily="49" charset="0"/>
              </a:rPr>
              <a:t>wc.lpfnWndProc = (WNDPROC)WinProc;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wc.cbClsExtra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wc.cbWndExtra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wc.hIcon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wc.hCursor = LoadCursor(NULL, IDC_ARROW);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wc.hbrBackground = (HBRUSH)GetStockObject(WHITE_BRUSH);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wc.lpszMenuName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wc.lpszClassName = 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“</a:t>
            </a:r>
            <a:r>
              <a:rPr lang="en-US" altLang="en-US" sz="16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GameWindow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”</a:t>
            </a:r>
            <a:r>
              <a:rPr lang="en-US" altLang="en-US" sz="1600" b="1" noProof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wc.hIconSm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	RegisterClassEx(&amp;wc);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b="1" dirty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b="1" dirty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80000"/>
              </a:lnSpc>
            </a:pPr>
            <a:endParaRPr lang="en-US" altLang="en-US" sz="1400" dirty="0"/>
          </a:p>
          <a:p>
            <a:pPr lvl="1" eaLnBrk="1" hangingPunct="1">
              <a:lnSpc>
                <a:spcPct val="80000"/>
              </a:lnSpc>
            </a:pPr>
            <a:endParaRPr lang="en-US" altLang="en-US" sz="1500" dirty="0">
              <a:solidFill>
                <a:srgbClr val="FFFF00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5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500" dirty="0"/>
          </a:p>
        </p:txBody>
      </p:sp>
      <p:sp>
        <p:nvSpPr>
          <p:cNvPr id="15364" name="AutoShape 4" descr="graphics/01fig03.gif">
            <a:extLst>
              <a:ext uri="{FF2B5EF4-FFF2-40B4-BE49-F238E27FC236}">
                <a16:creationId xmlns:a16="http://schemas.microsoft.com/office/drawing/2014/main" id="{434A0DB5-79A2-4423-BA8B-F1DB5AE2BF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0" y="2257425"/>
            <a:ext cx="47625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DB09C888-F5E5-4C62-AFED-EF2360055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791200"/>
            <a:ext cx="396240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Register a new Window Class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1E2BC6C-D787-4E8C-A3F0-7D3A56CF0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Creating a window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7ACFA6F-DBCC-405F-B1B9-DFC2458C7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6106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WNDCLASSEX wc;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wc.cbSize = sizeof(WNDCLASSEX);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wc.style = CS_HREDRAW | CS_VREDRAW;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wc.hInstance = hInstance;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</a:t>
            </a:r>
            <a:r>
              <a:rPr lang="en-US" altLang="en-US" sz="1800" b="1" noProof="1">
                <a:solidFill>
                  <a:srgbClr val="FFFF00"/>
                </a:solidFill>
                <a:latin typeface="Courier New" panose="02070309020205020404" pitchFamily="49" charset="0"/>
              </a:rPr>
              <a:t>wc.lpfnWndProc = (WNDPROC)WinProc;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wc.cbClsExtra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wc.cbWndExtra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wc.hIcon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wc.hCursor = LoadCursor(NULL, IDC_ARROW);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wc.hbrBackground = (HBRUSH)GetStockObject(WHITE_BRUSH);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wc.lpszMenuName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wc.lpszClassName = </a:t>
            </a:r>
            <a:r>
              <a:rPr lang="en-US" altLang="en-US" sz="1600" b="1">
                <a:solidFill>
                  <a:srgbClr val="FFFF00"/>
                </a:solidFill>
                <a:latin typeface="Courier New" panose="02070309020205020404" pitchFamily="49" charset="0"/>
              </a:rPr>
              <a:t>“GameWindow”</a:t>
            </a:r>
            <a:r>
              <a:rPr lang="en-US" altLang="en-US" sz="1600" noProof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wc.hIconSm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urier New" panose="02070309020205020404" pitchFamily="49" charset="0"/>
              </a:rPr>
              <a:t>	RegisterClassEx(&amp;wc);</a:t>
            </a:r>
            <a:endParaRPr lang="en-US" altLang="en-US" sz="160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b="1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80000"/>
              </a:lnSpc>
            </a:pPr>
            <a:endParaRPr lang="en-US" altLang="en-US" sz="1400"/>
          </a:p>
          <a:p>
            <a:pPr lvl="1" eaLnBrk="1" hangingPunct="1">
              <a:lnSpc>
                <a:spcPct val="80000"/>
              </a:lnSpc>
            </a:pPr>
            <a:endParaRPr lang="en-US" altLang="en-US" sz="1500">
              <a:solidFill>
                <a:srgbClr val="FFFF00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5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500"/>
          </a:p>
        </p:txBody>
      </p:sp>
      <p:sp>
        <p:nvSpPr>
          <p:cNvPr id="16388" name="AutoShape 4" descr="graphics/01fig03.gif">
            <a:extLst>
              <a:ext uri="{FF2B5EF4-FFF2-40B4-BE49-F238E27FC236}">
                <a16:creationId xmlns:a16="http://schemas.microsoft.com/office/drawing/2014/main" id="{6A41DAB8-58F1-4A26-92FA-DFDADF3A37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0" y="2257425"/>
            <a:ext cx="47625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20A84237-8FDE-4DE8-A7C4-A8429865D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905000"/>
            <a:ext cx="3505200" cy="1190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Specify the function to handle the messages sent to windows of this class – Window Procedure (WinProc)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203B9E9-4E20-4347-A671-765ABBBAF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Creating a window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9E80052-7B0C-4C09-9B93-9024A09309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610600" cy="594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HWND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hWnd</a:t>
            </a:r>
            <a:r>
              <a:rPr lang="en-US" altLang="en-US" sz="1600" b="1" dirty="0">
                <a:latin typeface="Courier New" panose="02070309020205020404" pitchFamily="49" charset="0"/>
              </a:rPr>
              <a:t> =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CreateWindow</a:t>
            </a:r>
            <a:r>
              <a:rPr lang="en-US" altLang="en-US" sz="1600" b="1" dirty="0">
                <a:latin typeface="Courier New" panose="02070309020205020404" pitchFamily="49" charset="0"/>
              </a:rPr>
              <a:t>(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“</a:t>
            </a:r>
            <a:r>
              <a:rPr lang="en-US" altLang="en-US" sz="16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GameWindow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”, </a:t>
            </a:r>
            <a:r>
              <a:rPr lang="en-US" altLang="en-US" sz="1600" b="1" dirty="0">
                <a:latin typeface="Courier New" panose="02070309020205020404" pitchFamily="49" charset="0"/>
              </a:rPr>
              <a:t>// Window class name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“00 - Intro",</a:t>
            </a:r>
            <a:r>
              <a:rPr lang="en-US" altLang="en-US" sz="1600" b="1" dirty="0">
                <a:latin typeface="Courier New" panose="02070309020205020404" pitchFamily="49" charset="0"/>
              </a:rPr>
              <a:t>	// Title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WS_OVERLAPPEDWINDOW, 		// Window type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CW_USEDEFAULT,			// Initial position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CW_USEDEFAULT,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800,				// Width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600,				// Height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NULL,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NULL,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hInstance</a:t>
            </a:r>
            <a:r>
              <a:rPr lang="en-US" altLang="en-US" sz="1600" b="1" dirty="0">
                <a:latin typeface="Courier New" panose="02070309020205020404" pitchFamily="49" charset="0"/>
              </a:rPr>
              <a:t>,			// Program instance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NULL);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if (!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hWnd</a:t>
            </a:r>
            <a:r>
              <a:rPr lang="en-US" altLang="en-US" sz="1600" b="1" dirty="0">
                <a:latin typeface="Courier New" panose="02070309020205020404" pitchFamily="49" charset="0"/>
              </a:rPr>
              <a:t>)...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ShowWindow</a:t>
            </a:r>
            <a:r>
              <a:rPr lang="en-US" altLang="en-US" sz="1600" b="1" dirty="0">
                <a:latin typeface="Courier New" panose="02070309020205020404" pitchFamily="49" charset="0"/>
              </a:rPr>
              <a:t>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hWnd,nCmdShow</a:t>
            </a:r>
            <a:r>
              <a:rPr lang="en-US" altLang="en-US" sz="16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UpdateWindow</a:t>
            </a:r>
            <a:r>
              <a:rPr lang="en-US" altLang="en-US" sz="1600" b="1" dirty="0">
                <a:latin typeface="Courier New" panose="02070309020205020404" pitchFamily="49" charset="0"/>
              </a:rPr>
              <a:t>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hWnd</a:t>
            </a:r>
            <a:r>
              <a:rPr lang="en-US" altLang="en-US" sz="1600" b="1" dirty="0">
                <a:latin typeface="Courier New" panose="02070309020205020404" pitchFamily="49" charset="0"/>
              </a:rPr>
              <a:t>);</a:t>
            </a: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 lvl="2" eaLnBrk="1" hangingPunct="1"/>
            <a:endParaRPr lang="en-US" altLang="en-US" dirty="0"/>
          </a:p>
          <a:p>
            <a:pPr lvl="1" eaLnBrk="1" hangingPunct="1"/>
            <a:endParaRPr lang="en-US" altLang="en-US" dirty="0">
              <a:solidFill>
                <a:srgbClr val="FFFF00"/>
              </a:solidFill>
            </a:endParaRPr>
          </a:p>
          <a:p>
            <a:pPr lvl="1" eaLnBrk="1" hangingPunct="1"/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7412" name="AutoShape 4" descr="graphics/01fig03.gif">
            <a:extLst>
              <a:ext uri="{FF2B5EF4-FFF2-40B4-BE49-F238E27FC236}">
                <a16:creationId xmlns:a16="http://schemas.microsoft.com/office/drawing/2014/main" id="{0EEDFE37-3E6C-4830-9369-CDD4457A3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0" y="2257425"/>
            <a:ext cx="47625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8EDCEC76-53B4-492E-A773-6ED42B70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762000"/>
            <a:ext cx="350520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Create a window from the registered class</a:t>
            </a: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9C15F512-D466-4741-913F-CA7A243C3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562600"/>
            <a:ext cx="350520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Display the window AND update the window’s content.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02185E6-BA07-4B62-A187-178931F14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Message loop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839808A-4600-4AAB-8C21-4397C6642C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610600" cy="594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MSG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msg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while (</a:t>
            </a:r>
            <a:r>
              <a:rPr lang="en-US" altLang="en-US" sz="16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GetMessage</a:t>
            </a:r>
            <a:r>
              <a:rPr lang="en-US" altLang="en-US" sz="1600" b="1" dirty="0">
                <a:latin typeface="Courier New" panose="02070309020205020404" pitchFamily="49" charset="0"/>
              </a:rPr>
              <a:t>(&amp;msg, NULL, 0, 0))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TranslateMessage</a:t>
            </a:r>
            <a:r>
              <a:rPr lang="en-US" altLang="en-US" sz="1600" b="1" dirty="0">
                <a:latin typeface="Courier New" panose="02070309020205020404" pitchFamily="49" charset="0"/>
              </a:rPr>
              <a:t>(&amp;msg);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DispatchMessage</a:t>
            </a:r>
            <a:r>
              <a:rPr lang="en-US" altLang="en-US" sz="1600" b="1" dirty="0">
                <a:latin typeface="Courier New" panose="02070309020205020404" pitchFamily="49" charset="0"/>
              </a:rPr>
              <a:t>(&amp;msg);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return 0;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lvl="1" eaLnBrk="1" hangingPunct="1"/>
            <a:endParaRPr lang="en-US" altLang="en-US" b="1" dirty="0">
              <a:solidFill>
                <a:srgbClr val="FFFF00"/>
              </a:solidFill>
            </a:endParaRPr>
          </a:p>
          <a:p>
            <a:pPr lvl="1" eaLnBrk="1" hangingPunct="1"/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3556" name="AutoShape 4" descr="graphics/01fig03.gif">
            <a:extLst>
              <a:ext uri="{FF2B5EF4-FFF2-40B4-BE49-F238E27FC236}">
                <a16:creationId xmlns:a16="http://schemas.microsoft.com/office/drawing/2014/main" id="{EBC5F9F4-6327-4955-B19E-E9FFAED21B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0" y="2257425"/>
            <a:ext cx="47625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5000CD18-1E40-465B-806C-A486855AE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657600"/>
            <a:ext cx="830580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</a:rPr>
              <a:t>Sleep </a:t>
            </a:r>
            <a:r>
              <a:rPr lang="en-US" altLang="en-US" sz="1800">
                <a:solidFill>
                  <a:schemeClr val="bg1"/>
                </a:solidFill>
              </a:rPr>
              <a:t>until a message is available  from the message queue (GetMessage) and send it to the appropriate window. </a:t>
            </a:r>
          </a:p>
        </p:txBody>
      </p:sp>
      <p:sp>
        <p:nvSpPr>
          <p:cNvPr id="23558" name="Text Box 7">
            <a:extLst>
              <a:ext uri="{FF2B5EF4-FFF2-40B4-BE49-F238E27FC236}">
                <a16:creationId xmlns:a16="http://schemas.microsoft.com/office/drawing/2014/main" id="{CC1BEF43-4F56-482B-BA7C-526F47F43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29200"/>
            <a:ext cx="830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</a:rPr>
              <a:t>This message loop is NOT appropriate for real-time game, why?</a:t>
            </a:r>
          </a:p>
        </p:txBody>
      </p:sp>
    </p:spTree>
    <p:extLst>
      <p:ext uri="{BB962C8B-B14F-4D97-AF65-F5344CB8AC3E}">
        <p14:creationId xmlns:p14="http://schemas.microsoft.com/office/powerpoint/2010/main" val="178946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D050F905-5D30-4DC7-B678-8237BDC2C6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923087" cy="2133600"/>
          </a:xfrm>
        </p:spPr>
        <p:txBody>
          <a:bodyPr/>
          <a:lstStyle/>
          <a:p>
            <a:pPr eaLnBrk="1" hangingPunct="1"/>
            <a:r>
              <a:rPr lang="en-US" altLang="en-US" sz="4000"/>
              <a:t>A simple Direct3D 10 game</a:t>
            </a:r>
          </a:p>
        </p:txBody>
      </p:sp>
      <p:sp>
        <p:nvSpPr>
          <p:cNvPr id="18435" name="Rectangle 5">
            <a:extLst>
              <a:ext uri="{FF2B5EF4-FFF2-40B4-BE49-F238E27FC236}">
                <a16:creationId xmlns:a16="http://schemas.microsoft.com/office/drawing/2014/main" id="{9906C516-1B1B-4F5D-96B9-C8D66CB36B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CFFEF65-F862-4953-85CD-CBB396AEF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Simple Direct3D 10 game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39EB44F2-7F76-46D8-8FB4-CB32D323C6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Initiate Direct3D 10</a:t>
            </a:r>
          </a:p>
          <a:p>
            <a:r>
              <a:rPr lang="en-US" altLang="en-US" dirty="0"/>
              <a:t>Load a texture and create a sprite</a:t>
            </a:r>
          </a:p>
          <a:p>
            <a:r>
              <a:rPr lang="en-US" altLang="en-US" dirty="0"/>
              <a:t>Game loop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Render</a:t>
            </a:r>
            <a:r>
              <a:rPr lang="en-US" altLang="en-US" dirty="0"/>
              <a:t> world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Update</a:t>
            </a:r>
            <a:r>
              <a:rPr lang="en-US" altLang="en-US" dirty="0"/>
              <a:t> world</a:t>
            </a:r>
          </a:p>
          <a:p>
            <a:r>
              <a:rPr lang="en-US" altLang="en-US" dirty="0"/>
              <a:t>Limiting max frame rate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5EB1E73-0F94-43DC-91C9-33B1D8675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 dirty="0"/>
              <a:t>Init Direct3D 10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910E258-1DF1-45E3-B9B4-C8D4951F9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719263"/>
            <a:ext cx="8915400" cy="4910137"/>
          </a:xfrm>
        </p:spPr>
        <p:txBody>
          <a:bodyPr/>
          <a:lstStyle/>
          <a:p>
            <a:r>
              <a:rPr lang="en-US" altLang="en-US" dirty="0"/>
              <a:t>Create device and swap chain</a:t>
            </a:r>
          </a:p>
          <a:p>
            <a:pPr lvl="1"/>
            <a:r>
              <a:rPr lang="en-US" altLang="en-US" sz="2000" dirty="0"/>
              <a:t>D3D10CreateDeviceAndSwapChain</a:t>
            </a:r>
          </a:p>
          <a:p>
            <a:r>
              <a:rPr lang="en-US" altLang="en-US" dirty="0"/>
              <a:t>Create &amp; set render target view to the device</a:t>
            </a:r>
          </a:p>
          <a:p>
            <a:pPr lvl="1"/>
            <a:r>
              <a:rPr lang="en-US" altLang="en-US" sz="2000" dirty="0" err="1"/>
              <a:t>CreateRenderTargetView</a:t>
            </a:r>
            <a:endParaRPr lang="en-US" altLang="en-US" sz="2000" dirty="0"/>
          </a:p>
          <a:p>
            <a:pPr lvl="1"/>
            <a:r>
              <a:rPr lang="en-US" altLang="en-US" sz="2000" dirty="0" err="1"/>
              <a:t>OMSetRenderTargets</a:t>
            </a:r>
            <a:endParaRPr lang="en-US" altLang="en-US" sz="2000" dirty="0"/>
          </a:p>
          <a:p>
            <a:pPr lvl="1"/>
            <a:r>
              <a:rPr lang="en-US" altLang="en-US" sz="2000" dirty="0" err="1"/>
              <a:t>RSSetViewports</a:t>
            </a:r>
            <a:endParaRPr lang="en-US" altLang="en-US" sz="2000" dirty="0"/>
          </a:p>
          <a:p>
            <a:r>
              <a:rPr lang="en-US" altLang="en-US" dirty="0"/>
              <a:t>Create and initiate Sprite drawing support library</a:t>
            </a:r>
          </a:p>
          <a:p>
            <a:pPr lvl="1"/>
            <a:r>
              <a:rPr lang="en-US" altLang="en-US" sz="2000" dirty="0"/>
              <a:t>D3DX10CreateSprite</a:t>
            </a:r>
          </a:p>
          <a:p>
            <a:pPr lvl="1"/>
            <a:r>
              <a:rPr lang="en-US" altLang="en-US" sz="2000" dirty="0"/>
              <a:t>D3DXMatrixOrthoOffCenterLH</a:t>
            </a:r>
          </a:p>
          <a:p>
            <a:pPr lvl="1"/>
            <a:r>
              <a:rPr lang="en-US" altLang="en-US" sz="2000" dirty="0" err="1"/>
              <a:t>SetProjectionTransform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68404AE-87B1-4E5E-8527-97A4400F8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Load a texture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A1BB17B7-75BA-4676-9FE9-70B9FA686C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719263"/>
            <a:ext cx="8915400" cy="4910137"/>
          </a:xfrm>
        </p:spPr>
        <p:txBody>
          <a:bodyPr/>
          <a:lstStyle/>
          <a:p>
            <a:r>
              <a:rPr lang="en-US" altLang="en-US" dirty="0"/>
              <a:t>Load a </a:t>
            </a:r>
            <a:r>
              <a:rPr lang="en-US" altLang="en-US" dirty="0">
                <a:solidFill>
                  <a:srgbClr val="FFFF00"/>
                </a:solidFill>
              </a:rPr>
              <a:t>resource</a:t>
            </a:r>
            <a:r>
              <a:rPr lang="en-US" altLang="en-US" dirty="0"/>
              <a:t> from file</a:t>
            </a:r>
          </a:p>
          <a:p>
            <a:pPr lvl="1"/>
            <a:r>
              <a:rPr lang="en-US" altLang="en-US" sz="2000" dirty="0"/>
              <a:t>D3DX10CreateTextureFromFile</a:t>
            </a:r>
          </a:p>
          <a:p>
            <a:r>
              <a:rPr lang="en-US" altLang="en-US" dirty="0"/>
              <a:t>Retrieve texture interface (</a:t>
            </a:r>
            <a:r>
              <a:rPr lang="en-US" altLang="en-US" dirty="0" err="1"/>
              <a:t>i.e</a:t>
            </a:r>
            <a:r>
              <a:rPr lang="en-US" altLang="en-US" dirty="0"/>
              <a:t> convert to texture)</a:t>
            </a:r>
          </a:p>
          <a:p>
            <a:pPr lvl="1"/>
            <a:r>
              <a:rPr lang="en-US" altLang="en-US" sz="2000" dirty="0" err="1"/>
              <a:t>QueryInterface</a:t>
            </a:r>
            <a:endParaRPr lang="en-US" altLang="en-US" sz="2000" dirty="0"/>
          </a:p>
          <a:p>
            <a:r>
              <a:rPr lang="en-US" altLang="en-US" dirty="0"/>
              <a:t>Create </a:t>
            </a:r>
            <a:r>
              <a:rPr lang="en-US" altLang="en-US" i="1" dirty="0">
                <a:solidFill>
                  <a:srgbClr val="FFFF00"/>
                </a:solidFill>
              </a:rPr>
              <a:t>shader</a:t>
            </a:r>
            <a:r>
              <a:rPr lang="en-US" altLang="en-US" dirty="0"/>
              <a:t> resource view for the sprite</a:t>
            </a:r>
          </a:p>
          <a:p>
            <a:pPr lvl="1"/>
            <a:r>
              <a:rPr lang="en-US" altLang="en-US" sz="2000" dirty="0" err="1"/>
              <a:t>CreateShaderResourceView</a:t>
            </a:r>
            <a:endParaRPr lang="en-US" altLang="en-US" sz="2000" dirty="0"/>
          </a:p>
          <a:p>
            <a:r>
              <a:rPr lang="en-US" altLang="en-US" dirty="0"/>
              <a:t>Initiate a DirectX 10 sprite 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0DF97D1-5363-4709-825C-764874914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Game loop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AD0EDE7-F886-4148-AFD4-B2CFB6109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610600" cy="594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int done =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while (!done)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if (</a:t>
            </a:r>
            <a:r>
              <a:rPr lang="en-US" altLang="en-US" sz="16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PeekMessage</a:t>
            </a:r>
            <a:r>
              <a:rPr lang="en-US" altLang="en-US" sz="1600" b="1" dirty="0">
                <a:latin typeface="Courier New" panose="02070309020205020404" pitchFamily="49" charset="0"/>
              </a:rPr>
              <a:t>(&amp;msg,NULL,0,0,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PM_REMOVE</a:t>
            </a:r>
            <a:r>
              <a:rPr lang="en-US" altLang="en-US" sz="1600" b="1" dirty="0">
                <a:latin typeface="Courier New" panose="02070309020205020404" pitchFamily="49" charset="0"/>
              </a:rPr>
              <a:t>))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msg.message</a:t>
            </a:r>
            <a:r>
              <a:rPr lang="en-US" altLang="en-US" sz="1600" b="1" dirty="0">
                <a:latin typeface="Courier New" panose="02070309020205020404" pitchFamily="49" charset="0"/>
              </a:rPr>
              <a:t>==WM_QUIT) done=1;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TranslateMessage</a:t>
            </a:r>
            <a:r>
              <a:rPr lang="en-US" altLang="en-US" sz="1600" b="1" dirty="0">
                <a:latin typeface="Courier New" panose="02070309020205020404" pitchFamily="49" charset="0"/>
              </a:rPr>
              <a:t>(&amp;msg);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DispatchMessage</a:t>
            </a:r>
            <a:r>
              <a:rPr lang="en-US" altLang="en-US" sz="1600" b="1" dirty="0">
                <a:latin typeface="Courier New" panose="02070309020205020404" pitchFamily="49" charset="0"/>
              </a:rPr>
              <a:t>(&amp;msg);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...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	</a:t>
            </a: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Update(dt);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			Render();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FFFF00"/>
                </a:solidFill>
                <a:latin typeface="Courier New" panose="02070309020205020404" pitchFamily="49" charset="0"/>
              </a:rPr>
              <a:t>		...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b="1" dirty="0"/>
          </a:p>
        </p:txBody>
      </p:sp>
      <p:sp>
        <p:nvSpPr>
          <p:cNvPr id="24580" name="Text Box 6">
            <a:extLst>
              <a:ext uri="{FF2B5EF4-FFF2-40B4-BE49-F238E27FC236}">
                <a16:creationId xmlns:a16="http://schemas.microsoft.com/office/drawing/2014/main" id="{DD997015-27E0-4609-B5DF-4F78BD8EF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91200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</a:rPr>
              <a:t>PeekMessage:</a:t>
            </a:r>
            <a:r>
              <a:rPr lang="en-US" altLang="en-US" sz="2000"/>
              <a:t> </a:t>
            </a:r>
            <a:r>
              <a:rPr lang="en-US" altLang="en-US" sz="2000" b="1"/>
              <a:t>Check</a:t>
            </a:r>
            <a:r>
              <a:rPr lang="en-US" altLang="en-US" sz="2000"/>
              <a:t> if there is a message, get it to </a:t>
            </a:r>
            <a:r>
              <a:rPr lang="en-US" altLang="en-US" sz="2000">
                <a:solidFill>
                  <a:srgbClr val="FFFF00"/>
                </a:solidFill>
              </a:rPr>
              <a:t>msg</a:t>
            </a:r>
            <a:r>
              <a:rPr lang="en-US" altLang="en-US" sz="2000"/>
              <a:t> and remove that message from queue. If there is NO message, return </a:t>
            </a:r>
            <a:r>
              <a:rPr lang="en-US" altLang="en-US" sz="2000">
                <a:solidFill>
                  <a:srgbClr val="FFFF00"/>
                </a:solidFill>
              </a:rPr>
              <a:t>false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25C857F-1DA4-4B98-BB11-351B749FE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Render world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78484363-3470-4F0B-8A4A-E43CB7FD4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19263"/>
            <a:ext cx="8229600" cy="4833937"/>
          </a:xfrm>
        </p:spPr>
        <p:txBody>
          <a:bodyPr/>
          <a:lstStyle/>
          <a:p>
            <a:r>
              <a:rPr lang="en-US" altLang="en-US" dirty="0"/>
              <a:t>Render a frame </a:t>
            </a:r>
          </a:p>
          <a:p>
            <a:pPr lvl="1"/>
            <a:r>
              <a:rPr lang="en-US" altLang="en-US" sz="2000" dirty="0"/>
              <a:t>Only </a:t>
            </a:r>
            <a:r>
              <a:rPr lang="en-US" altLang="en-US" sz="2000" dirty="0">
                <a:solidFill>
                  <a:srgbClr val="FFFF00"/>
                </a:solidFill>
              </a:rPr>
              <a:t>READ</a:t>
            </a:r>
            <a:r>
              <a:rPr lang="en-US" altLang="en-US" sz="2000" dirty="0"/>
              <a:t> world’s status (i.e. every object’s status in the world)</a:t>
            </a:r>
          </a:p>
          <a:p>
            <a:pPr lvl="1"/>
            <a:r>
              <a:rPr lang="en-US" altLang="en-US" sz="2000" dirty="0"/>
              <a:t>Do </a:t>
            </a:r>
            <a:r>
              <a:rPr lang="en-US" altLang="en-US" sz="2000" dirty="0">
                <a:solidFill>
                  <a:srgbClr val="FF0000"/>
                </a:solidFill>
              </a:rPr>
              <a:t>NOT</a:t>
            </a:r>
            <a:r>
              <a:rPr lang="en-US" altLang="en-US" sz="2000" dirty="0"/>
              <a:t> update world’s status</a:t>
            </a:r>
          </a:p>
          <a:p>
            <a:r>
              <a:rPr lang="en-US" altLang="en-US" dirty="0"/>
              <a:t>Clear the back buffer (i.e. clear the window)</a:t>
            </a:r>
          </a:p>
          <a:p>
            <a:pPr lvl="1"/>
            <a:r>
              <a:rPr lang="en-US" altLang="en-US" sz="2000" dirty="0" err="1"/>
              <a:t>ClearRenderTargetView</a:t>
            </a:r>
            <a:endParaRPr lang="en-US" altLang="en-US" sz="2000" dirty="0"/>
          </a:p>
          <a:p>
            <a:r>
              <a:rPr lang="en-US" altLang="en-US" dirty="0"/>
              <a:t>Compose and set the </a:t>
            </a:r>
            <a:r>
              <a:rPr lang="en-US" altLang="en-US" i="1" dirty="0">
                <a:solidFill>
                  <a:srgbClr val="FFFF00"/>
                </a:solidFill>
              </a:rPr>
              <a:t>world transform matrix</a:t>
            </a:r>
          </a:p>
          <a:p>
            <a:pPr lvl="1"/>
            <a:r>
              <a:rPr lang="en-US" altLang="en-US" sz="2000" dirty="0"/>
              <a:t>Translation: based on sprite location</a:t>
            </a:r>
          </a:p>
          <a:p>
            <a:pPr lvl="1"/>
            <a:r>
              <a:rPr lang="en-US" altLang="en-US" sz="2000" dirty="0"/>
              <a:t>Scale: based on sprite width and height</a:t>
            </a:r>
          </a:p>
          <a:p>
            <a:r>
              <a:rPr lang="en-US" altLang="en-US" dirty="0"/>
              <a:t>Draw a sprite</a:t>
            </a:r>
          </a:p>
          <a:p>
            <a:pPr lvl="1"/>
            <a:r>
              <a:rPr lang="en-US" altLang="en-US" sz="2000" dirty="0" err="1"/>
              <a:t>DrawSpritesImmediate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3FD13DF-61E8-4785-A425-C36AC0A37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Back buffer &amp; double buffering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A0F748-1103-4BD8-8F4B-0044375B234D}"/>
              </a:ext>
            </a:extLst>
          </p:cNvPr>
          <p:cNvSpPr/>
          <p:nvPr/>
        </p:nvSpPr>
        <p:spPr>
          <a:xfrm>
            <a:off x="3886200" y="2209800"/>
            <a:ext cx="22860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05EC73-FA3F-4F63-962A-62F78BE7DD90}"/>
              </a:ext>
            </a:extLst>
          </p:cNvPr>
          <p:cNvSpPr/>
          <p:nvPr/>
        </p:nvSpPr>
        <p:spPr>
          <a:xfrm>
            <a:off x="685800" y="2209800"/>
            <a:ext cx="22860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1E3570-9677-49A0-9D50-8DC0503A8661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2971800" y="3048000"/>
            <a:ext cx="91440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12">
            <a:extLst>
              <a:ext uri="{FF2B5EF4-FFF2-40B4-BE49-F238E27FC236}">
                <a16:creationId xmlns:a16="http://schemas.microsoft.com/office/drawing/2014/main" id="{4C0C8701-4CBC-4DFB-9F27-03083EB92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1054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Texture</a:t>
            </a:r>
          </a:p>
        </p:txBody>
      </p:sp>
      <p:pic>
        <p:nvPicPr>
          <p:cNvPr id="26631" name="Picture 13" descr="lcd.jpg">
            <a:extLst>
              <a:ext uri="{FF2B5EF4-FFF2-40B4-BE49-F238E27FC236}">
                <a16:creationId xmlns:a16="http://schemas.microsoft.com/office/drawing/2014/main" id="{87479643-7892-4C85-AAA4-9B3A21BC3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39963"/>
            <a:ext cx="1905000" cy="160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707A1D-9F34-4CCE-A50A-E04A60591411}"/>
              </a:ext>
            </a:extLst>
          </p:cNvPr>
          <p:cNvCxnSpPr>
            <a:stCxn id="5" idx="3"/>
            <a:endCxn id="14" idx="1"/>
          </p:cNvCxnSpPr>
          <p:nvPr/>
        </p:nvCxnSpPr>
        <p:spPr>
          <a:xfrm flipV="1">
            <a:off x="6172200" y="3044825"/>
            <a:ext cx="609600" cy="317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3" name="TextBox 23">
            <a:extLst>
              <a:ext uri="{FF2B5EF4-FFF2-40B4-BE49-F238E27FC236}">
                <a16:creationId xmlns:a16="http://schemas.microsoft.com/office/drawing/2014/main" id="{7D10BD9F-8C2B-48B0-8A41-D2A91ADCF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7526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Back Buffer</a:t>
            </a:r>
          </a:p>
        </p:txBody>
      </p:sp>
      <p:sp>
        <p:nvSpPr>
          <p:cNvPr id="26634" name="TextBox 24">
            <a:extLst>
              <a:ext uri="{FF2B5EF4-FFF2-40B4-BE49-F238E27FC236}">
                <a16:creationId xmlns:a16="http://schemas.microsoft.com/office/drawing/2014/main" id="{4618E932-79DE-4F72-BA24-03791187D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7526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Frame Buffer</a:t>
            </a:r>
          </a:p>
        </p:txBody>
      </p:sp>
      <p:sp>
        <p:nvSpPr>
          <p:cNvPr id="26" name="Curved Down Arrow 25">
            <a:extLst>
              <a:ext uri="{FF2B5EF4-FFF2-40B4-BE49-F238E27FC236}">
                <a16:creationId xmlns:a16="http://schemas.microsoft.com/office/drawing/2014/main" id="{CC62CEFF-65EF-4C4D-A143-872F1E1890B3}"/>
              </a:ext>
            </a:extLst>
          </p:cNvPr>
          <p:cNvSpPr/>
          <p:nvPr/>
        </p:nvSpPr>
        <p:spPr>
          <a:xfrm rot="17276891">
            <a:off x="-170656" y="3221832"/>
            <a:ext cx="2346325" cy="642937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2E9EA7-81A1-4CEB-8F6F-05D8CD752020}"/>
              </a:ext>
            </a:extLst>
          </p:cNvPr>
          <p:cNvSpPr/>
          <p:nvPr/>
        </p:nvSpPr>
        <p:spPr>
          <a:xfrm>
            <a:off x="7162800" y="2590800"/>
            <a:ext cx="935038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6637" name="TextBox 32">
            <a:extLst>
              <a:ext uri="{FF2B5EF4-FFF2-40B4-BE49-F238E27FC236}">
                <a16:creationId xmlns:a16="http://schemas.microsoft.com/office/drawing/2014/main" id="{D763AE5B-B88B-4023-AD0F-A463A21B9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4019550"/>
            <a:ext cx="4152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C000"/>
                </a:solidFill>
              </a:rPr>
              <a:t>DrawSpritesImmediate</a:t>
            </a:r>
          </a:p>
        </p:txBody>
      </p:sp>
      <p:sp>
        <p:nvSpPr>
          <p:cNvPr id="26638" name="TextBox 33">
            <a:extLst>
              <a:ext uri="{FF2B5EF4-FFF2-40B4-BE49-F238E27FC236}">
                <a16:creationId xmlns:a16="http://schemas.microsoft.com/office/drawing/2014/main" id="{6796FD5C-8B4C-4521-BD86-99AD38D7E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1242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FF00"/>
                </a:solidFill>
              </a:rPr>
              <a:t>Present</a:t>
            </a:r>
          </a:p>
        </p:txBody>
      </p:sp>
      <p:sp>
        <p:nvSpPr>
          <p:cNvPr id="26639" name="TextBox 31">
            <a:extLst>
              <a:ext uri="{FF2B5EF4-FFF2-40B4-BE49-F238E27FC236}">
                <a16:creationId xmlns:a16="http://schemas.microsoft.com/office/drawing/2014/main" id="{83976D62-F93E-4704-8D10-2F1FC3B51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62484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brick.png</a:t>
            </a:r>
          </a:p>
        </p:txBody>
      </p:sp>
      <p:sp>
        <p:nvSpPr>
          <p:cNvPr id="26640" name="Rectangle 34">
            <a:extLst>
              <a:ext uri="{FF2B5EF4-FFF2-40B4-BE49-F238E27FC236}">
                <a16:creationId xmlns:a16="http://schemas.microsoft.com/office/drawing/2014/main" id="{972AAB21-0A55-43E7-AAC5-F5FFAA32A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638800"/>
            <a:ext cx="419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C000"/>
                </a:solidFill>
                <a:latin typeface="Courier New" panose="02070309020205020404" pitchFamily="49" charset="0"/>
              </a:rPr>
              <a:t>D3DX10CreateTextureFromFile</a:t>
            </a:r>
            <a:endParaRPr lang="en-US" altLang="en-US" sz="1800">
              <a:solidFill>
                <a:srgbClr val="FFC000"/>
              </a:solidFill>
            </a:endParaRPr>
          </a:p>
        </p:txBody>
      </p:sp>
      <p:sp>
        <p:nvSpPr>
          <p:cNvPr id="36" name="Curved Down Arrow 35">
            <a:extLst>
              <a:ext uri="{FF2B5EF4-FFF2-40B4-BE49-F238E27FC236}">
                <a16:creationId xmlns:a16="http://schemas.microsoft.com/office/drawing/2014/main" id="{2F555C46-B4A0-4298-B18B-6B5FE72B5E3D}"/>
              </a:ext>
            </a:extLst>
          </p:cNvPr>
          <p:cNvSpPr/>
          <p:nvPr/>
        </p:nvSpPr>
        <p:spPr>
          <a:xfrm rot="12863093" flipV="1">
            <a:off x="1385888" y="5016500"/>
            <a:ext cx="2565400" cy="577850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F9D68A-0BF8-40A7-97B3-4CB740A86017}"/>
              </a:ext>
            </a:extLst>
          </p:cNvPr>
          <p:cNvSpPr/>
          <p:nvPr/>
        </p:nvSpPr>
        <p:spPr>
          <a:xfrm>
            <a:off x="152400" y="1219200"/>
            <a:ext cx="8839200" cy="42672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6643" name="TextBox 37">
            <a:extLst>
              <a:ext uri="{FF2B5EF4-FFF2-40B4-BE49-F238E27FC236}">
                <a16:creationId xmlns:a16="http://schemas.microsoft.com/office/drawing/2014/main" id="{BDC2EA38-8E07-49B1-9CA2-D75B27D89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849313"/>
            <a:ext cx="160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Render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184B1E-3C10-47E4-95BE-9975B9A47B0E}"/>
              </a:ext>
            </a:extLst>
          </p:cNvPr>
          <p:cNvSpPr/>
          <p:nvPr/>
        </p:nvSpPr>
        <p:spPr>
          <a:xfrm>
            <a:off x="3124200" y="5638800"/>
            <a:ext cx="3810000" cy="12192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6645" name="TextBox 39">
            <a:extLst>
              <a:ext uri="{FF2B5EF4-FFF2-40B4-BE49-F238E27FC236}">
                <a16:creationId xmlns:a16="http://schemas.microsoft.com/office/drawing/2014/main" id="{8196F608-AB49-476F-842C-9E09C7EC9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943600"/>
            <a:ext cx="190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LoadResources</a:t>
            </a:r>
          </a:p>
        </p:txBody>
      </p:sp>
      <p:sp>
        <p:nvSpPr>
          <p:cNvPr id="26646" name="TextBox 42">
            <a:extLst>
              <a:ext uri="{FF2B5EF4-FFF2-40B4-BE49-F238E27FC236}">
                <a16:creationId xmlns:a16="http://schemas.microsoft.com/office/drawing/2014/main" id="{B48469EA-FF0E-4702-AC2F-26CDB4E1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371600"/>
            <a:ext cx="304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C000"/>
                </a:solidFill>
              </a:rPr>
              <a:t>ClearRenderTargetView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4A5BEF7-416A-4AA0-8FFB-1BB41725F119}"/>
              </a:ext>
            </a:extLst>
          </p:cNvPr>
          <p:cNvCxnSpPr/>
          <p:nvPr/>
        </p:nvCxnSpPr>
        <p:spPr>
          <a:xfrm>
            <a:off x="2743200" y="1752600"/>
            <a:ext cx="0" cy="8382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48" name="Picture 2">
            <a:extLst>
              <a:ext uri="{FF2B5EF4-FFF2-40B4-BE49-F238E27FC236}">
                <a16:creationId xmlns:a16="http://schemas.microsoft.com/office/drawing/2014/main" id="{C3CF2439-3031-4082-92C1-BAB1FFEF8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595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9" name="Picture 30">
            <a:extLst>
              <a:ext uri="{FF2B5EF4-FFF2-40B4-BE49-F238E27FC236}">
                <a16:creationId xmlns:a16="http://schemas.microsoft.com/office/drawing/2014/main" id="{FE67760F-48EF-4C68-BF5C-D04C7B890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2563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0" name="Picture 31">
            <a:extLst>
              <a:ext uri="{FF2B5EF4-FFF2-40B4-BE49-F238E27FC236}">
                <a16:creationId xmlns:a16="http://schemas.microsoft.com/office/drawing/2014/main" id="{C054A86E-1F54-4E40-BD16-42905BAAD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5606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1" name="Picture 32">
            <a:extLst>
              <a:ext uri="{FF2B5EF4-FFF2-40B4-BE49-F238E27FC236}">
                <a16:creationId xmlns:a16="http://schemas.microsoft.com/office/drawing/2014/main" id="{7ABF4F4C-8618-4398-AD3A-DA80231DA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213" y="2743200"/>
            <a:ext cx="1905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52" name="TextBox 24">
            <a:extLst>
              <a:ext uri="{FF2B5EF4-FFF2-40B4-BE49-F238E27FC236}">
                <a16:creationId xmlns:a16="http://schemas.microsoft.com/office/drawing/2014/main" id="{5C76E3FF-6E6A-4803-8167-C1F4E415E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755775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Screen/Display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11B9363-1C05-4D7D-8259-B09854E4F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Update world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A2CD4920-01A6-41AE-8D52-CCE641B205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1752600"/>
            <a:ext cx="8610600" cy="4411662"/>
          </a:xfrm>
        </p:spPr>
        <p:txBody>
          <a:bodyPr/>
          <a:lstStyle/>
          <a:p>
            <a:r>
              <a:rPr lang="en-US" altLang="en-US" dirty="0"/>
              <a:t>Update </a:t>
            </a:r>
            <a:r>
              <a:rPr lang="en-US" altLang="en-US" dirty="0">
                <a:solidFill>
                  <a:srgbClr val="FFFF00"/>
                </a:solidFill>
              </a:rPr>
              <a:t>world</a:t>
            </a:r>
            <a:r>
              <a:rPr lang="en-US" altLang="en-US" dirty="0"/>
              <a:t> status</a:t>
            </a:r>
          </a:p>
          <a:p>
            <a:pPr lvl="1"/>
            <a:r>
              <a:rPr lang="en-US" altLang="en-US" dirty="0"/>
              <a:t>update status (position, speed, etc.) of each object in the game world </a:t>
            </a:r>
          </a:p>
          <a:p>
            <a:r>
              <a:rPr lang="en-US" altLang="en-US" dirty="0"/>
              <a:t>Must </a:t>
            </a:r>
            <a:r>
              <a:rPr lang="en-US" altLang="en-US" dirty="0">
                <a:solidFill>
                  <a:srgbClr val="FFFF00"/>
                </a:solidFill>
              </a:rPr>
              <a:t>not</a:t>
            </a:r>
            <a:r>
              <a:rPr lang="en-US" altLang="en-US" dirty="0"/>
              <a:t> contain any code related to rendering</a:t>
            </a:r>
          </a:p>
          <a:p>
            <a:pPr lvl="1"/>
            <a:r>
              <a:rPr lang="en-US" altLang="en-US" dirty="0"/>
              <a:t>Must not read/write sprite, image, </a:t>
            </a:r>
            <a:r>
              <a:rPr lang="en-US" altLang="en-US" dirty="0" err="1"/>
              <a:t>etc</a:t>
            </a:r>
            <a:r>
              <a:rPr lang="en-US" altLang="en-US" dirty="0"/>
              <a:t> 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BCE6C9F-3C3A-4BAC-8C4B-CC1D68E6A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Limiting max frame rate</a:t>
            </a:r>
            <a:endParaRPr lang="en-US" altLang="en-US" sz="3500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725BE6B-6F7B-4F56-AFED-6A1886D3A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7696200" cy="5638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#define MAX_FRAME_RATE 60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ULONGLONG </a:t>
            </a:r>
            <a:r>
              <a:rPr lang="en-US" altLang="en-US" sz="14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frameStart</a:t>
            </a:r>
            <a:r>
              <a:rPr lang="en-US" altLang="en-US" sz="1400" b="1" dirty="0">
                <a:latin typeface="Courier New" panose="02070309020205020404" pitchFamily="49" charset="0"/>
              </a:rPr>
              <a:t> 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GetTickCount</a:t>
            </a:r>
            <a:r>
              <a:rPr lang="en-US" altLang="en-US" sz="14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ULONGLONG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tickPerFrame</a:t>
            </a:r>
            <a:r>
              <a:rPr lang="en-US" altLang="en-US" sz="1400" b="1" dirty="0">
                <a:latin typeface="Courier New" panose="02070309020205020404" pitchFamily="49" charset="0"/>
              </a:rPr>
              <a:t> = 1000 / MAX_FRAME_RATE;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while (!done)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if (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PeekMessage</a:t>
            </a:r>
            <a:r>
              <a:rPr lang="en-US" altLang="en-US" sz="1400" b="1" dirty="0">
                <a:latin typeface="Courier New" panose="02070309020205020404" pitchFamily="49" charset="0"/>
              </a:rPr>
              <a:t>(&amp;msg,NULL,0,0,PM_REMOVE))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  // ...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ULONGLONG now = GetTickCount64();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DWORD dt = </a:t>
            </a:r>
            <a:r>
              <a:rPr lang="en-US" altLang="en-US" sz="1400" b="1" dirty="0">
                <a:solidFill>
                  <a:srgbClr val="FFFF00"/>
                </a:solidFill>
                <a:latin typeface="Courier New" panose="02070309020205020404" pitchFamily="49" charset="0"/>
              </a:rPr>
              <a:t>now – </a:t>
            </a:r>
            <a:r>
              <a:rPr lang="en-US" altLang="en-US" sz="14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frameStart</a:t>
            </a:r>
            <a:r>
              <a:rPr lang="en-US" altLang="en-US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if ( dt &gt;=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tickPerFrame</a:t>
            </a:r>
            <a:r>
              <a:rPr lang="en-US" altLang="en-US" sz="1400" b="1" dirty="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	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frameStart</a:t>
            </a:r>
            <a:r>
              <a:rPr lang="en-US" altLang="en-US" sz="1400" b="1" dirty="0">
                <a:latin typeface="Courier New" panose="02070309020205020404" pitchFamily="49" charset="0"/>
              </a:rPr>
              <a:t> = now;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	Update(dt);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	Render();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else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		Sleep(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tickPerFrame</a:t>
            </a:r>
            <a:r>
              <a:rPr lang="en-US" altLang="en-US" sz="1400" b="1" dirty="0">
                <a:latin typeface="Courier New" panose="02070309020205020404" pitchFamily="49" charset="0"/>
              </a:rPr>
              <a:t> - dt);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b="1" dirty="0">
              <a:solidFill>
                <a:srgbClr val="FFFF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	}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16884762-E4BE-4494-81C5-2634A3C9C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600200"/>
            <a:ext cx="297180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</a:rPr>
              <a:t>1 tick ~ 1millisecond </a:t>
            </a:r>
            <a:endParaRPr lang="en-US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38F606E-61BF-4E1B-ABCD-68B0F4322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Limiting max frame rate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1BC6A9B-2F73-4621-8984-E023FF60F82B}"/>
              </a:ext>
            </a:extLst>
          </p:cNvPr>
          <p:cNvCxnSpPr/>
          <p:nvPr/>
        </p:nvCxnSpPr>
        <p:spPr>
          <a:xfrm>
            <a:off x="152400" y="3200400"/>
            <a:ext cx="8839200" cy="0"/>
          </a:xfrm>
          <a:prstGeom prst="straightConnector1">
            <a:avLst/>
          </a:prstGeom>
          <a:ln w="76200">
            <a:solidFill>
              <a:schemeClr val="bg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2A3003-2A08-46C6-A4BF-F790D8C3201D}"/>
              </a:ext>
            </a:extLst>
          </p:cNvPr>
          <p:cNvCxnSpPr>
            <a:cxnSpLocks/>
          </p:cNvCxnSpPr>
          <p:nvPr/>
        </p:nvCxnSpPr>
        <p:spPr>
          <a:xfrm>
            <a:off x="304800" y="2895600"/>
            <a:ext cx="0" cy="60960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0F991D-EEB8-4AC1-A261-942571F103C1}"/>
              </a:ext>
            </a:extLst>
          </p:cNvPr>
          <p:cNvCxnSpPr>
            <a:cxnSpLocks/>
          </p:cNvCxnSpPr>
          <p:nvPr/>
        </p:nvCxnSpPr>
        <p:spPr>
          <a:xfrm>
            <a:off x="4343400" y="2895600"/>
            <a:ext cx="0" cy="60960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DEE044-9CF7-4113-9A64-AFBF7C1DC4BB}"/>
              </a:ext>
            </a:extLst>
          </p:cNvPr>
          <p:cNvCxnSpPr>
            <a:cxnSpLocks/>
          </p:cNvCxnSpPr>
          <p:nvPr/>
        </p:nvCxnSpPr>
        <p:spPr>
          <a:xfrm>
            <a:off x="1371600" y="3048000"/>
            <a:ext cx="0" cy="30480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3" name="TextBox 20">
            <a:extLst>
              <a:ext uri="{FF2B5EF4-FFF2-40B4-BE49-F238E27FC236}">
                <a16:creationId xmlns:a16="http://schemas.microsoft.com/office/drawing/2014/main" id="{87865C32-9CA8-432F-A121-B3338F6DC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1720850"/>
            <a:ext cx="606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now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EB08-A748-44F2-93CA-67E0F5B4DA2B}"/>
              </a:ext>
            </a:extLst>
          </p:cNvPr>
          <p:cNvCxnSpPr>
            <a:cxnSpLocks/>
          </p:cNvCxnSpPr>
          <p:nvPr/>
        </p:nvCxnSpPr>
        <p:spPr>
          <a:xfrm>
            <a:off x="1371600" y="2667000"/>
            <a:ext cx="0" cy="190500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12DC5C-5EE0-47EC-A840-BE120B65498D}"/>
              </a:ext>
            </a:extLst>
          </p:cNvPr>
          <p:cNvCxnSpPr>
            <a:cxnSpLocks/>
          </p:cNvCxnSpPr>
          <p:nvPr/>
        </p:nvCxnSpPr>
        <p:spPr>
          <a:xfrm>
            <a:off x="301625" y="2667000"/>
            <a:ext cx="0" cy="289560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86D989-DB67-4010-B608-BCCA6961A0B5}"/>
              </a:ext>
            </a:extLst>
          </p:cNvPr>
          <p:cNvCxnSpPr>
            <a:cxnSpLocks/>
          </p:cNvCxnSpPr>
          <p:nvPr/>
        </p:nvCxnSpPr>
        <p:spPr>
          <a:xfrm>
            <a:off x="301625" y="4343400"/>
            <a:ext cx="1069975" cy="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solid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8B8D46C-B0C2-4868-B459-0F06B1F766D7}"/>
              </a:ext>
            </a:extLst>
          </p:cNvPr>
          <p:cNvCxnSpPr>
            <a:cxnSpLocks/>
            <a:stCxn id="29719" idx="0"/>
          </p:cNvCxnSpPr>
          <p:nvPr/>
        </p:nvCxnSpPr>
        <p:spPr>
          <a:xfrm>
            <a:off x="4340225" y="2259013"/>
            <a:ext cx="6350" cy="345440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FC2C70-5F56-4EA4-AF47-04DCE378E7EB}"/>
              </a:ext>
            </a:extLst>
          </p:cNvPr>
          <p:cNvCxnSpPr>
            <a:cxnSpLocks/>
          </p:cNvCxnSpPr>
          <p:nvPr/>
        </p:nvCxnSpPr>
        <p:spPr>
          <a:xfrm flipV="1">
            <a:off x="1765300" y="3886200"/>
            <a:ext cx="2598738" cy="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solid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9" name="TextBox 32">
            <a:extLst>
              <a:ext uri="{FF2B5EF4-FFF2-40B4-BE49-F238E27FC236}">
                <a16:creationId xmlns:a16="http://schemas.microsoft.com/office/drawing/2014/main" id="{BAAB195A-B29D-437A-AC2F-BDA58C97C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897313"/>
            <a:ext cx="735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sleep</a:t>
            </a:r>
          </a:p>
        </p:txBody>
      </p:sp>
      <p:sp>
        <p:nvSpPr>
          <p:cNvPr id="29710" name="TextBox 33">
            <a:extLst>
              <a:ext uri="{FF2B5EF4-FFF2-40B4-BE49-F238E27FC236}">
                <a16:creationId xmlns:a16="http://schemas.microsoft.com/office/drawing/2014/main" id="{8CB7E919-D341-4D88-8731-AC45020BF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27550"/>
            <a:ext cx="3152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actual (update + render) time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AE04221-C9B9-4486-9947-A3FFC1F6109B}"/>
              </a:ext>
            </a:extLst>
          </p:cNvPr>
          <p:cNvCxnSpPr>
            <a:cxnSpLocks/>
          </p:cNvCxnSpPr>
          <p:nvPr/>
        </p:nvCxnSpPr>
        <p:spPr>
          <a:xfrm>
            <a:off x="301625" y="5257800"/>
            <a:ext cx="4038600" cy="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solid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2" name="TextBox 38">
            <a:extLst>
              <a:ext uri="{FF2B5EF4-FFF2-40B4-BE49-F238E27FC236}">
                <a16:creationId xmlns:a16="http://schemas.microsoft.com/office/drawing/2014/main" id="{1C40D0BB-FCD0-4327-8F7C-A4AFC6E1C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5343525"/>
            <a:ext cx="1557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tickPerFrame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257C0C-101F-4CE1-B647-C737BFBE7E7A}"/>
              </a:ext>
            </a:extLst>
          </p:cNvPr>
          <p:cNvCxnSpPr>
            <a:cxnSpLocks/>
          </p:cNvCxnSpPr>
          <p:nvPr/>
        </p:nvCxnSpPr>
        <p:spPr>
          <a:xfrm>
            <a:off x="8402638" y="2895600"/>
            <a:ext cx="0" cy="60960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4" name="TextBox 40">
            <a:extLst>
              <a:ext uri="{FF2B5EF4-FFF2-40B4-BE49-F238E27FC236}">
                <a16:creationId xmlns:a16="http://schemas.microsoft.com/office/drawing/2014/main" id="{9A9BC4EB-A3A0-42C8-8762-50D7D95D3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113" y="2238375"/>
            <a:ext cx="1044576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Frame 1</a:t>
            </a:r>
          </a:p>
        </p:txBody>
      </p:sp>
      <p:sp>
        <p:nvSpPr>
          <p:cNvPr id="29715" name="TextBox 42">
            <a:extLst>
              <a:ext uri="{FF2B5EF4-FFF2-40B4-BE49-F238E27FC236}">
                <a16:creationId xmlns:a16="http://schemas.microsoft.com/office/drawing/2014/main" id="{C7111AE7-58B8-47BB-8660-5DBC3B0CF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6388" y="1714500"/>
            <a:ext cx="606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now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D7DC4E8-151F-4193-A8EE-05058789187E}"/>
              </a:ext>
            </a:extLst>
          </p:cNvPr>
          <p:cNvCxnSpPr>
            <a:cxnSpLocks/>
          </p:cNvCxnSpPr>
          <p:nvPr/>
        </p:nvCxnSpPr>
        <p:spPr>
          <a:xfrm>
            <a:off x="301625" y="3619500"/>
            <a:ext cx="1463675" cy="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solid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7" name="TextBox 47">
            <a:extLst>
              <a:ext uri="{FF2B5EF4-FFF2-40B4-BE49-F238E27FC236}">
                <a16:creationId xmlns:a16="http://schemas.microsoft.com/office/drawing/2014/main" id="{B1F722F7-1414-4CC1-B846-870E4E179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587750"/>
            <a:ext cx="377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dt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8013E0C-67F4-400C-90E5-EAD8EE02DB9E}"/>
              </a:ext>
            </a:extLst>
          </p:cNvPr>
          <p:cNvCxnSpPr>
            <a:cxnSpLocks/>
          </p:cNvCxnSpPr>
          <p:nvPr/>
        </p:nvCxnSpPr>
        <p:spPr>
          <a:xfrm flipH="1">
            <a:off x="301625" y="3200400"/>
            <a:ext cx="1069975" cy="0"/>
          </a:xfrm>
          <a:prstGeom prst="line">
            <a:avLst/>
          </a:prstGeom>
          <a:ln w="38100"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9" name="TextBox 53">
            <a:extLst>
              <a:ext uri="{FF2B5EF4-FFF2-40B4-BE49-F238E27FC236}">
                <a16:creationId xmlns:a16="http://schemas.microsoft.com/office/drawing/2014/main" id="{AF7687E2-A95E-46FB-94FE-DF7327A6A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2259013"/>
            <a:ext cx="1044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Frame 2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B69D670-8FB5-43B3-B69E-5C1B28A125FA}"/>
              </a:ext>
            </a:extLst>
          </p:cNvPr>
          <p:cNvCxnSpPr>
            <a:cxnSpLocks/>
          </p:cNvCxnSpPr>
          <p:nvPr/>
        </p:nvCxnSpPr>
        <p:spPr>
          <a:xfrm>
            <a:off x="8402638" y="2514600"/>
            <a:ext cx="0" cy="304800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38305A7-5F17-4336-9707-D43707BAC740}"/>
              </a:ext>
            </a:extLst>
          </p:cNvPr>
          <p:cNvCxnSpPr>
            <a:cxnSpLocks/>
          </p:cNvCxnSpPr>
          <p:nvPr/>
        </p:nvCxnSpPr>
        <p:spPr>
          <a:xfrm>
            <a:off x="4364038" y="5257800"/>
            <a:ext cx="4038600" cy="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solid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22" name="TextBox 56">
            <a:extLst>
              <a:ext uri="{FF2B5EF4-FFF2-40B4-BE49-F238E27FC236}">
                <a16:creationId xmlns:a16="http://schemas.microsoft.com/office/drawing/2014/main" id="{9797C3CB-2A04-4915-AECB-AADB2C849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950" y="5376863"/>
            <a:ext cx="15573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tickPerFrame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10B3FD0-B9C8-43F7-B7FA-6414294A89C6}"/>
              </a:ext>
            </a:extLst>
          </p:cNvPr>
          <p:cNvCxnSpPr>
            <a:cxnSpLocks/>
          </p:cNvCxnSpPr>
          <p:nvPr/>
        </p:nvCxnSpPr>
        <p:spPr>
          <a:xfrm flipH="1">
            <a:off x="4364038" y="3200400"/>
            <a:ext cx="2265362" cy="0"/>
          </a:xfrm>
          <a:prstGeom prst="line">
            <a:avLst/>
          </a:prstGeom>
          <a:ln w="38100"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35DE7BE-76AF-4BDF-9E45-B92267D9C935}"/>
              </a:ext>
            </a:extLst>
          </p:cNvPr>
          <p:cNvCxnSpPr>
            <a:cxnSpLocks/>
          </p:cNvCxnSpPr>
          <p:nvPr/>
        </p:nvCxnSpPr>
        <p:spPr>
          <a:xfrm>
            <a:off x="6629400" y="2895600"/>
            <a:ext cx="0" cy="53340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C9338FA-2544-4F69-9949-81B7A2D4C89B}"/>
              </a:ext>
            </a:extLst>
          </p:cNvPr>
          <p:cNvCxnSpPr>
            <a:cxnSpLocks/>
          </p:cNvCxnSpPr>
          <p:nvPr/>
        </p:nvCxnSpPr>
        <p:spPr>
          <a:xfrm>
            <a:off x="1762125" y="2174874"/>
            <a:ext cx="3175" cy="2178050"/>
          </a:xfrm>
          <a:prstGeom prst="line">
            <a:avLst/>
          </a:prstGeom>
          <a:ln w="12700">
            <a:solidFill>
              <a:schemeClr val="tx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B2FF50-B74D-42DE-AD45-6E7EAF85FCC9}"/>
              </a:ext>
            </a:extLst>
          </p:cNvPr>
          <p:cNvCxnSpPr/>
          <p:nvPr/>
        </p:nvCxnSpPr>
        <p:spPr>
          <a:xfrm>
            <a:off x="838200" y="4343400"/>
            <a:ext cx="195263" cy="1841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29DF5A5-6ED6-4044-BCD8-558F76695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600"/>
              <a:t>Movement</a:t>
            </a:r>
            <a:endParaRPr lang="en-US" altLang="en-US" sz="350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E2C7F0-539E-4CEE-88FF-EFD074121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5638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while (!done)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// 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Update(dt);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solidFill>
                  <a:srgbClr val="FFFF00"/>
                </a:solidFill>
                <a:latin typeface="Courier New" panose="02070309020205020404" pitchFamily="49" charset="0"/>
              </a:rPr>
              <a:t>// brick_x++;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Render();	</a:t>
            </a:r>
            <a:endParaRPr lang="en-US" altLang="en-US" sz="1800" b="1" i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DFB3B3F-5553-4C10-9EA2-DB72735FD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600"/>
              <a:t>Frame-rate dependent movement</a:t>
            </a:r>
            <a:endParaRPr lang="en-US" altLang="en-US" sz="350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E836379-B752-477E-A5BA-0C8F089C11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2971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while (!done)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// 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Update(dt);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solidFill>
                  <a:srgbClr val="FFFF00"/>
                </a:solidFill>
                <a:latin typeface="Courier New" panose="02070309020205020404" pitchFamily="49" charset="0"/>
              </a:rPr>
              <a:t>// brick_x += brick_vx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*dt</a:t>
            </a:r>
            <a:r>
              <a:rPr lang="en-US" altLang="en-US" sz="1800" b="1">
                <a:solidFill>
                  <a:srgbClr val="FFFF00"/>
                </a:solidFill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Render();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11B9363-1C05-4D7D-8259-B09854E4F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 dirty="0"/>
              <a:t>Exercise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A2CD4920-01A6-41AE-8D52-CCE641B205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1752600"/>
            <a:ext cx="8610600" cy="4800600"/>
          </a:xfrm>
        </p:spPr>
        <p:txBody>
          <a:bodyPr/>
          <a:lstStyle/>
          <a:p>
            <a:r>
              <a:rPr lang="en-US" altLang="en-US" dirty="0"/>
              <a:t>Change the brick into a pool ball</a:t>
            </a:r>
          </a:p>
          <a:p>
            <a:r>
              <a:rPr lang="en-US" altLang="en-US" dirty="0"/>
              <a:t>Make the ball move and deflect from both dimensions just like a pool ball</a:t>
            </a:r>
          </a:p>
          <a:p>
            <a:r>
              <a:rPr lang="en-US" altLang="en-US" dirty="0"/>
              <a:t>Make many balls moving </a:t>
            </a:r>
          </a:p>
          <a:p>
            <a:r>
              <a:rPr lang="en-US" altLang="en-US" dirty="0"/>
              <a:t>Challenge: can you make the ball movement more real?</a:t>
            </a:r>
          </a:p>
          <a:p>
            <a:pPr lvl="1"/>
            <a:r>
              <a:rPr lang="en-US" altLang="en-US" dirty="0"/>
              <a:t>Hint: adding acceleration and friction</a:t>
            </a:r>
          </a:p>
        </p:txBody>
      </p:sp>
      <p:pic>
        <p:nvPicPr>
          <p:cNvPr id="1026" name="Picture 2" descr="The first plastic. It all started with a billiard ball - Plastics le Mag">
            <a:extLst>
              <a:ext uri="{FF2B5EF4-FFF2-40B4-BE49-F238E27FC236}">
                <a16:creationId xmlns:a16="http://schemas.microsoft.com/office/drawing/2014/main" id="{61A4C7ED-77DA-456D-931D-5CE6483A4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524000"/>
            <a:ext cx="864207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901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11B9363-1C05-4D7D-8259-B09854E4F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 dirty="0"/>
              <a:t>Sample 00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A2CD4920-01A6-41AE-8D52-CCE641B205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1752600"/>
            <a:ext cx="8610600" cy="4800600"/>
          </a:xfrm>
        </p:spPr>
        <p:txBody>
          <a:bodyPr/>
          <a:lstStyle/>
          <a:p>
            <a:r>
              <a:rPr lang="en-US" altLang="en-US" dirty="0" err="1"/>
              <a:t>DebugOut</a:t>
            </a:r>
            <a:r>
              <a:rPr lang="en-US" altLang="en-US" dirty="0"/>
              <a:t> : </a:t>
            </a:r>
          </a:p>
          <a:p>
            <a:pPr lvl="1"/>
            <a:r>
              <a:rPr lang="en-US" altLang="en-US" dirty="0"/>
              <a:t>output debug string to console</a:t>
            </a:r>
          </a:p>
          <a:p>
            <a:r>
              <a:rPr lang="en-US" altLang="en-US" dirty="0" err="1"/>
              <a:t>DebugOutTitle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output a string to the game’s window title </a:t>
            </a:r>
          </a:p>
          <a:p>
            <a:r>
              <a:rPr lang="en-US" altLang="en-US" dirty="0"/>
              <a:t>_W(__FILE__) , __LINE__ macros </a:t>
            </a:r>
          </a:p>
        </p:txBody>
      </p:sp>
    </p:spTree>
    <p:extLst>
      <p:ext uri="{BB962C8B-B14F-4D97-AF65-F5344CB8AC3E}">
        <p14:creationId xmlns:p14="http://schemas.microsoft.com/office/powerpoint/2010/main" val="1591706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F24919-4FBE-4470-BC6E-FC3FB1D31AE5}"/>
              </a:ext>
            </a:extLst>
          </p:cNvPr>
          <p:cNvSpPr/>
          <p:nvPr/>
        </p:nvSpPr>
        <p:spPr>
          <a:xfrm>
            <a:off x="609600" y="1524000"/>
            <a:ext cx="7086600" cy="47244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32C7292-4AB6-43D2-A206-EEC18C38C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Window client area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F61C04-382C-4081-AB60-38A0B5BF7908}"/>
              </a:ext>
            </a:extLst>
          </p:cNvPr>
          <p:cNvSpPr/>
          <p:nvPr/>
        </p:nvSpPr>
        <p:spPr>
          <a:xfrm>
            <a:off x="762000" y="2057400"/>
            <a:ext cx="6781800" cy="4038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CLIENT 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E64BC-4223-4F54-AB95-66484302DFF4}"/>
              </a:ext>
            </a:extLst>
          </p:cNvPr>
          <p:cNvSpPr/>
          <p:nvPr/>
        </p:nvSpPr>
        <p:spPr>
          <a:xfrm>
            <a:off x="762000" y="1600200"/>
            <a:ext cx="6781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D80193-D308-44EC-9B87-F2AEEFBBEA06}"/>
              </a:ext>
            </a:extLst>
          </p:cNvPr>
          <p:cNvSpPr/>
          <p:nvPr/>
        </p:nvSpPr>
        <p:spPr>
          <a:xfrm>
            <a:off x="762000" y="1600200"/>
            <a:ext cx="381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9EA5D-F287-49B1-BE86-28CE02EE9A94}"/>
              </a:ext>
            </a:extLst>
          </p:cNvPr>
          <p:cNvSpPr/>
          <p:nvPr/>
        </p:nvSpPr>
        <p:spPr>
          <a:xfrm>
            <a:off x="7162800" y="1600200"/>
            <a:ext cx="381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1C9B5C-CAD0-4026-AAB5-61813249FB89}"/>
              </a:ext>
            </a:extLst>
          </p:cNvPr>
          <p:cNvSpPr/>
          <p:nvPr/>
        </p:nvSpPr>
        <p:spPr>
          <a:xfrm>
            <a:off x="6781800" y="1600200"/>
            <a:ext cx="381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AB5FDD-D68A-49AF-ABC6-FAB4661627C4}"/>
              </a:ext>
            </a:extLst>
          </p:cNvPr>
          <p:cNvSpPr/>
          <p:nvPr/>
        </p:nvSpPr>
        <p:spPr>
          <a:xfrm>
            <a:off x="6402388" y="1600200"/>
            <a:ext cx="381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_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9DA45-5EBF-4719-BF91-2476C660E67F}"/>
              </a:ext>
            </a:extLst>
          </p:cNvPr>
          <p:cNvSpPr/>
          <p:nvPr/>
        </p:nvSpPr>
        <p:spPr>
          <a:xfrm>
            <a:off x="6858000" y="1676400"/>
            <a:ext cx="228600" cy="228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05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732C7292-4AB6-43D2-A206-EEC18C38C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pPr eaLnBrk="1" hangingPunct="1"/>
            <a:r>
              <a:rPr lang="en-US" altLang="en-US" sz="3500"/>
              <a:t>Window client area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5EEDB9-1091-458D-8EDB-AC83161AA9AE}"/>
              </a:ext>
            </a:extLst>
          </p:cNvPr>
          <p:cNvCxnSpPr/>
          <p:nvPr/>
        </p:nvCxnSpPr>
        <p:spPr>
          <a:xfrm>
            <a:off x="838200" y="1371600"/>
            <a:ext cx="0" cy="48768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FD2A68-14BC-4F57-9919-F2EA34FB3CC8}"/>
              </a:ext>
            </a:extLst>
          </p:cNvPr>
          <p:cNvCxnSpPr>
            <a:cxnSpLocks/>
          </p:cNvCxnSpPr>
          <p:nvPr/>
        </p:nvCxnSpPr>
        <p:spPr>
          <a:xfrm>
            <a:off x="838200" y="1379838"/>
            <a:ext cx="586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E7FB7F2-BD43-4817-848C-F1E3C4D95E69}"/>
              </a:ext>
            </a:extLst>
          </p:cNvPr>
          <p:cNvSpPr/>
          <p:nvPr/>
        </p:nvSpPr>
        <p:spPr>
          <a:xfrm>
            <a:off x="1828798" y="5046362"/>
            <a:ext cx="304799" cy="30479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72B0133E-C44E-4747-9893-406CC03B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4" y="25908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2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5E66F753-2278-473C-BE18-EFD4FA4C3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381" y="930184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 err="1"/>
              <a:t>brick_x</a:t>
            </a:r>
            <a:endParaRPr lang="en-US" alt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36DBB0-CEF2-4997-8B28-1042433B1543}"/>
              </a:ext>
            </a:extLst>
          </p:cNvPr>
          <p:cNvCxnSpPr>
            <a:cxnSpLocks/>
          </p:cNvCxnSpPr>
          <p:nvPr/>
        </p:nvCxnSpPr>
        <p:spPr>
          <a:xfrm flipV="1">
            <a:off x="611804" y="1299516"/>
            <a:ext cx="0" cy="494888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E3A86C-3175-4238-A358-8C036C4CE34D}"/>
              </a:ext>
            </a:extLst>
          </p:cNvPr>
          <p:cNvCxnSpPr>
            <a:cxnSpLocks/>
          </p:cNvCxnSpPr>
          <p:nvPr/>
        </p:nvCxnSpPr>
        <p:spPr>
          <a:xfrm>
            <a:off x="611804" y="6248400"/>
            <a:ext cx="5867400" cy="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8B419C2-EC3C-44F5-9F23-0F077F8DE8A8}"/>
              </a:ext>
            </a:extLst>
          </p:cNvPr>
          <p:cNvSpPr/>
          <p:nvPr/>
        </p:nvSpPr>
        <p:spPr>
          <a:xfrm>
            <a:off x="1828798" y="2590800"/>
            <a:ext cx="304799" cy="3047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08C50434-155C-4FFF-ABBB-816FF7175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4" y="4981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19851966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">
      <a:dk1>
        <a:srgbClr val="4F747B"/>
      </a:dk1>
      <a:lt1>
        <a:srgbClr val="FFFFFF"/>
      </a:lt1>
      <a:dk2>
        <a:srgbClr val="000000"/>
      </a:dk2>
      <a:lt2>
        <a:srgbClr val="C0C0C0"/>
      </a:lt2>
      <a:accent1>
        <a:srgbClr val="859868"/>
      </a:accent1>
      <a:accent2>
        <a:srgbClr val="5F5F5F"/>
      </a:accent2>
      <a:accent3>
        <a:srgbClr val="AAAAAA"/>
      </a:accent3>
      <a:accent4>
        <a:srgbClr val="DADADA"/>
      </a:accent4>
      <a:accent5>
        <a:srgbClr val="C2CAB9"/>
      </a:accent5>
      <a:accent6>
        <a:srgbClr val="555555"/>
      </a:accent6>
      <a:hlink>
        <a:srgbClr val="5F5F5F"/>
      </a:hlink>
      <a:folHlink>
        <a:srgbClr val="BA1212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4767</TotalTime>
  <Words>1352</Words>
  <Application>Microsoft Office PowerPoint</Application>
  <PresentationFormat>On-screen Show (4:3)</PresentationFormat>
  <Paragraphs>286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Courier New</vt:lpstr>
      <vt:lpstr>Wingdings</vt:lpstr>
      <vt:lpstr>Network</vt:lpstr>
      <vt:lpstr>Init &amp; simple drawing</vt:lpstr>
      <vt:lpstr>Objectives</vt:lpstr>
      <vt:lpstr>Set up sample project on VS2019</vt:lpstr>
      <vt:lpstr>Create an empty project</vt:lpstr>
      <vt:lpstr>Create an empty project</vt:lpstr>
      <vt:lpstr>Setting up project</vt:lpstr>
      <vt:lpstr>Setting up project</vt:lpstr>
      <vt:lpstr>Setting up project</vt:lpstr>
      <vt:lpstr>Install D3D10x library </vt:lpstr>
      <vt:lpstr>Turn off unwanted debug messages</vt:lpstr>
      <vt:lpstr>DirectX components</vt:lpstr>
      <vt:lpstr>A simple window application</vt:lpstr>
      <vt:lpstr>A simple window application</vt:lpstr>
      <vt:lpstr>Creating a window class</vt:lpstr>
      <vt:lpstr>Creating a window</vt:lpstr>
      <vt:lpstr>Creating a window</vt:lpstr>
      <vt:lpstr>Message loop</vt:lpstr>
      <vt:lpstr>A simple Direct3D 10 game</vt:lpstr>
      <vt:lpstr>Simple Direct3D 10 game</vt:lpstr>
      <vt:lpstr>Init Direct3D 10</vt:lpstr>
      <vt:lpstr>Load a texture</vt:lpstr>
      <vt:lpstr>Game loop</vt:lpstr>
      <vt:lpstr>Render world</vt:lpstr>
      <vt:lpstr>Back buffer &amp; double buffering</vt:lpstr>
      <vt:lpstr>Update world</vt:lpstr>
      <vt:lpstr>Limiting max frame rate</vt:lpstr>
      <vt:lpstr>Limiting max frame rate</vt:lpstr>
      <vt:lpstr>Movement</vt:lpstr>
      <vt:lpstr>Frame-rate dependent movement</vt:lpstr>
      <vt:lpstr>Exercise</vt:lpstr>
      <vt:lpstr>Sample 00</vt:lpstr>
      <vt:lpstr>Window client area</vt:lpstr>
      <vt:lpstr>Window client area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Đinh Nguyễn Anh Dũng</cp:lastModifiedBy>
  <cp:revision>545</cp:revision>
  <cp:lastPrinted>1601-01-01T00:00:00Z</cp:lastPrinted>
  <dcterms:created xsi:type="dcterms:W3CDTF">1601-01-01T00:00:00Z</dcterms:created>
  <dcterms:modified xsi:type="dcterms:W3CDTF">2023-03-25T02:12:02Z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