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4" r:id="rId2"/>
    <p:sldId id="261" r:id="rId3"/>
    <p:sldId id="265" r:id="rId4"/>
    <p:sldId id="276" r:id="rId5"/>
    <p:sldId id="267" r:id="rId6"/>
    <p:sldId id="277" r:id="rId7"/>
    <p:sldId id="262" r:id="rId8"/>
    <p:sldId id="269" r:id="rId9"/>
    <p:sldId id="278" r:id="rId10"/>
    <p:sldId id="270" r:id="rId11"/>
    <p:sldId id="271" r:id="rId12"/>
    <p:sldId id="268" r:id="rId13"/>
    <p:sldId id="272" r:id="rId14"/>
    <p:sldId id="273" r:id="rId15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hông có Kiểu, Lưới Bảng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27"/>
  </p:normalViewPr>
  <p:slideViewPr>
    <p:cSldViewPr snapToGrid="0">
      <p:cViewPr>
        <p:scale>
          <a:sx n="103" d="100"/>
          <a:sy n="103" d="100"/>
        </p:scale>
        <p:origin x="800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9T07:10:48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24575,'-4'6'0,"1"3"0,2 2 0,1-1 0,0-2 0,0-5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9T07:10:52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9T07:11:41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61D66D-790A-42FE-9F35-47D6C83EFAA2}" type="datetimeFigureOut">
              <a:rPr lang="vi-VN" smtClean="0"/>
              <a:t>15/1/26</a:t>
            </a:fld>
            <a:endParaRPr lang="vi-VN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16DF54-78B0-4903-8B9A-8E88D0176FC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83989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B56F43B-C421-4FC1-BF73-D6F1C86FAF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C798ADB8-956B-47FE-B3AD-73B647B5B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7643D3CF-139A-4E11-A7F5-D7ADD1A6D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ADBB0-DFBB-4DCA-A0C8-E8E421A3A1BE}" type="datetime1">
              <a:rPr lang="vi-VN" smtClean="0"/>
              <a:t>15/1/26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81140645-1512-4335-8476-F3108E95F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E5FEBEA6-BB46-4F2D-AE8C-1F0EABDAA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43683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BDC0A4C-1EE4-4ED5-867C-BD41B7EBD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C15102C-474F-43F1-9B51-487124E87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D41D3381-5C7A-445D-8756-295C20380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4ABA2-F96A-4642-AB00-30B67DAE18DC}" type="datetime1">
              <a:rPr lang="vi-VN" smtClean="0"/>
              <a:t>15/1/26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15DB3BAF-2010-405D-890A-A664927C7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900C6BE0-E62F-4779-AF3C-85CA11D5C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43372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6818C3C-B515-4D3A-85A9-A3BAEB324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B9B21172-A207-48AA-9F86-22FFA5295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CD0A4E73-55C6-46C3-AF62-11D8BC172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10CBF-AA1C-442C-8908-2E147AAB595F}" type="datetime1">
              <a:rPr lang="vi-VN" smtClean="0"/>
              <a:t>15/1/26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BE30C147-8040-43D9-A71E-FD5481DC7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6947C5C8-BE0B-4C86-A454-27BF21167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89382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93C0710-FE88-4A9B-B9A3-E28490D47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91D57A46-12B4-4545-9D99-4174EB0992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87924178-C40B-4F5C-BFAA-55FB178DA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F1B8E41F-4A3E-4F22-9856-C461A5E34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5865D-2E54-4B89-8689-1A851FA9B0C2}" type="datetime1">
              <a:rPr lang="vi-VN" smtClean="0"/>
              <a:t>15/1/26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0A43F3EF-66D9-4339-95A3-48314D14A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67038853-8DDD-4501-A476-2EFE83DD0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73794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1A0E904-EFCE-46FC-803C-6DB78BB9A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17CCA23D-A113-4D05-8A66-6DD71FB58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C01E6C1A-A0ED-4444-8CE3-E41398A0E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74EB86F6-8460-4399-85EB-856A1C5E3C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EF8C5568-1A81-420E-ACBA-2DBF5C5082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7BDF83D4-603F-4CE6-AC9B-88FCDD872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FCA60-D758-4057-AC39-283123382124}" type="datetime1">
              <a:rPr lang="vi-VN" smtClean="0"/>
              <a:t>15/1/26</a:t>
            </a:fld>
            <a:endParaRPr lang="vi-VN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1B31F924-96E6-4EB1-8F2A-1208789DA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20C21F78-3645-4410-845B-0FD2AB3A8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90508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1E3E84A-DF91-462F-9EE9-7D0D2DD3A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994DF4E4-7B5C-455C-8042-0619075B1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3298-1CF5-4179-AF41-9A5CDD968281}" type="datetime1">
              <a:rPr lang="vi-VN" smtClean="0"/>
              <a:t>15/1/26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041FB397-378F-476F-97A2-24AF8258C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1DB2F8A-B207-4D73-B590-1C9BCA6C1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40861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D019CFA5-4300-4497-855D-D2F78B44B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16FA-DA8A-46A1-935B-81637D3DCF4F}" type="datetime1">
              <a:rPr lang="vi-VN" smtClean="0"/>
              <a:t>15/1/26</a:t>
            </a:fld>
            <a:endParaRPr lang="vi-VN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8A3CE94B-F3BD-4EA3-A014-339D5F8BD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9BDB017B-2A0B-4625-8D88-E7B81FF53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09625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FAB6530-5BFA-4B78-BAFA-8DDE7EA72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CCF86F9F-15C6-4351-A589-FCB4FC268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058C7C77-0C4C-408A-B92A-322BA7F5F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DBC9DC99-427F-4FA4-9ADB-DD6F40A9E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DEEF0-E224-4B78-9425-C6F80B2F1143}" type="datetime1">
              <a:rPr lang="vi-VN" smtClean="0"/>
              <a:t>15/1/26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68396942-938D-4A49-A62C-DB5E58C21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E06AF21A-36C2-40E0-94FD-EA0E9FB2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59656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301AA81-85A7-4AE6-855A-B7FAFC2B3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22C34202-787D-471B-A284-ACCC756812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7F11EC97-D276-47CC-8BCE-536F1F2DE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8BB0E528-3994-4676-887A-B2A865039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CE8C9-A9C3-4798-8CE0-26142FD84B4C}" type="datetime1">
              <a:rPr lang="vi-VN" smtClean="0"/>
              <a:t>15/1/26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E6F8D4F5-69B2-48CF-8BDC-B697627DD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182F01CB-0761-41F7-8BEE-B0F85FED7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5465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B464E48-B581-40BF-93D5-83DB4EF00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58DE2AE1-7C63-4442-A208-DCBD9176B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D5D391E-E8C8-4EFD-A5DB-00E6119BE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BE2F6-B0D3-466A-82B2-ABEFC48B3338}" type="datetime1">
              <a:rPr lang="vi-VN" smtClean="0"/>
              <a:t>15/1/26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4B0928B0-4D02-44C8-920F-49E2F7BC3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7C429E5E-68EC-41B2-AE5E-558FC8C13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49520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265135BA-1892-4F5F-8BA9-43936E4283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F50FD219-85BA-47CA-A367-05D50FA0A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409665D-BCE3-4A48-924C-7D65F09BE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DA87-581A-4368-87FF-97BD13CE399D}" type="datetime1">
              <a:rPr lang="vi-VN" smtClean="0"/>
              <a:t>15/1/26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7D371709-9056-443A-A027-801FA2BC5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CC65B05A-913F-4031-B997-C3A362DEA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65544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A6C3BC26-C104-4EB0-B9AE-2A85E9E48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0C32949E-5E5C-466F-9E49-642FDBDE7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EEA77896-A215-4959-99FB-F4F26F14B8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E2CA6-4B42-4742-895B-98FFB0FAE4AD}" type="datetime1">
              <a:rPr lang="vi-VN" smtClean="0"/>
              <a:t>15/1/26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63128FEA-EA3A-4D0B-874A-417C160062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E48E849-C77C-466C-BFCD-EA23E387CB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93359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0.png"/><Relationship Id="rId5" Type="http://schemas.openxmlformats.org/officeDocument/2006/relationships/customXml" Target="../ink/ink2.xml"/><Relationship Id="rId4" Type="http://schemas.openxmlformats.org/officeDocument/2006/relationships/image" Target="../media/image34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3450256-972B-45BE-BAD2-3177A6B8E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45"/>
            <a:ext cx="10515600" cy="780629"/>
          </a:xfrm>
        </p:spPr>
        <p:txBody>
          <a:bodyPr/>
          <a:lstStyle/>
          <a:p>
            <a:r>
              <a:rPr lang="en-US"/>
              <a:t>Single qubit gate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EDACA0F0-C758-4C1E-9EFE-71586761D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1</a:t>
            </a:fld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E5DF4A2-2561-0368-9B2C-C3E2E9B596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3388533"/>
                  </p:ext>
                </p:extLst>
              </p:nvPr>
            </p:nvGraphicFramePr>
            <p:xfrm>
              <a:off x="967129" y="3386693"/>
              <a:ext cx="9901500" cy="334677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75375">
                      <a:extLst>
                        <a:ext uri="{9D8B030D-6E8A-4147-A177-3AD203B41FA5}">
                          <a16:colId xmlns:a16="http://schemas.microsoft.com/office/drawing/2014/main" val="3544462324"/>
                        </a:ext>
                      </a:extLst>
                    </a:gridCol>
                    <a:gridCol w="2475375">
                      <a:extLst>
                        <a:ext uri="{9D8B030D-6E8A-4147-A177-3AD203B41FA5}">
                          <a16:colId xmlns:a16="http://schemas.microsoft.com/office/drawing/2014/main" val="1668064342"/>
                        </a:ext>
                      </a:extLst>
                    </a:gridCol>
                    <a:gridCol w="2475375">
                      <a:extLst>
                        <a:ext uri="{9D8B030D-6E8A-4147-A177-3AD203B41FA5}">
                          <a16:colId xmlns:a16="http://schemas.microsoft.com/office/drawing/2014/main" val="2239233392"/>
                        </a:ext>
                      </a:extLst>
                    </a:gridCol>
                    <a:gridCol w="2475375">
                      <a:extLst>
                        <a:ext uri="{9D8B030D-6E8A-4147-A177-3AD203B41FA5}">
                          <a16:colId xmlns:a16="http://schemas.microsoft.com/office/drawing/2014/main" val="1036597050"/>
                        </a:ext>
                      </a:extLst>
                    </a:gridCol>
                  </a:tblGrid>
                  <a:tr h="72475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b="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en-V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VN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oMath>
                            </m:oMathPara>
                          </a14:m>
                          <a:endParaRPr lang="en-VN" i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b="0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oMath>
                            </m:oMathPara>
                          </a14:m>
                          <a:endParaRPr lang="en-VN" i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VN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oMath>
                            </m:oMathPara>
                          </a14:m>
                          <a:endParaRPr lang="en-VN" i="1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6756251"/>
                      </a:ext>
                    </a:extLst>
                  </a:tr>
                  <a:tr h="131101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VN" sz="3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e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 sz="3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 sz="3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vi-VN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vi-VN" sz="3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vi-VN" sz="3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vi-VN" sz="3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vi-VN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vi-VN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vi-VN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 sz="32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96586236"/>
                      </a:ext>
                    </a:extLst>
                  </a:tr>
                  <a:tr h="131101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|0⟩⟨1|+|1⟩⟨0|</m:t>
                                </m:r>
                              </m:oMath>
                            </m:oMathPara>
                          </a14:m>
                          <a:endParaRPr lang="en-US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|0⟩⟨1|+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|1⟩⟨0|</m:t>
                                </m:r>
                              </m:oMath>
                            </m:oMathPara>
                          </a14:m>
                          <a:endParaRPr lang="en-VN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|0⟩⟨0|−|1⟩⟨1</m:t>
                                </m:r>
                                <m:r>
                                  <a:rPr lang="vi-VN" sz="2000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en-VN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vi-VN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vi-VN" sz="20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vi-VN" sz="2000" b="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  <m:r>
                                  <a:rPr lang="vi-VN" sz="2000" b="0" i="1">
                                    <a:latin typeface="Cambria Math" panose="02040503050406030204" pitchFamily="18" charset="0"/>
                                  </a:rPr>
                                  <m:t>( 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|0⟩⟨0|+</m:t>
                                </m:r>
                                <m:r>
                                  <a:rPr lang="vi-VN" sz="2000" b="0" i="1">
                                    <a:latin typeface="Cambria Math" panose="02040503050406030204" pitchFamily="18" charset="0"/>
                                  </a:rPr>
                                  <m:t>|0⟩⟨1|+|1⟩⟨0|−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|1⟩⟨1</m:t>
                                </m:r>
                                <m:r>
                                  <a:rPr lang="vi-VN" sz="2000" b="0" i="1">
                                    <a:latin typeface="Cambria Math" panose="02040503050406030204" pitchFamily="18" charset="0"/>
                                  </a:rPr>
                                  <m:t>|)</m:t>
                                </m:r>
                              </m:oMath>
                            </m:oMathPara>
                          </a14:m>
                          <a:endParaRPr lang="en-VN" sz="16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6203327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E5DF4A2-2561-0368-9B2C-C3E2E9B596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3388533"/>
                  </p:ext>
                </p:extLst>
              </p:nvPr>
            </p:nvGraphicFramePr>
            <p:xfrm>
              <a:off x="967129" y="3386693"/>
              <a:ext cx="9901500" cy="334677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75375">
                      <a:extLst>
                        <a:ext uri="{9D8B030D-6E8A-4147-A177-3AD203B41FA5}">
                          <a16:colId xmlns:a16="http://schemas.microsoft.com/office/drawing/2014/main" val="3544462324"/>
                        </a:ext>
                      </a:extLst>
                    </a:gridCol>
                    <a:gridCol w="2475375">
                      <a:extLst>
                        <a:ext uri="{9D8B030D-6E8A-4147-A177-3AD203B41FA5}">
                          <a16:colId xmlns:a16="http://schemas.microsoft.com/office/drawing/2014/main" val="1668064342"/>
                        </a:ext>
                      </a:extLst>
                    </a:gridCol>
                    <a:gridCol w="2475375">
                      <a:extLst>
                        <a:ext uri="{9D8B030D-6E8A-4147-A177-3AD203B41FA5}">
                          <a16:colId xmlns:a16="http://schemas.microsoft.com/office/drawing/2014/main" val="2239233392"/>
                        </a:ext>
                      </a:extLst>
                    </a:gridCol>
                    <a:gridCol w="2475375">
                      <a:extLst>
                        <a:ext uri="{9D8B030D-6E8A-4147-A177-3AD203B41FA5}">
                          <a16:colId xmlns:a16="http://schemas.microsoft.com/office/drawing/2014/main" val="1036597050"/>
                        </a:ext>
                      </a:extLst>
                    </a:gridCol>
                  </a:tblGrid>
                  <a:tr h="724750"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13" t="-1754" r="-300513" b="-3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513" t="-1754" r="-200513" b="-3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513" t="-1754" r="-100513" b="-3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513" t="-1754" r="-513" b="-36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6756251"/>
                      </a:ext>
                    </a:extLst>
                  </a:tr>
                  <a:tr h="1311014"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13" t="-55769" r="-300513" b="-1009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513" t="-55769" r="-200513" b="-1009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513" t="-55769" r="-100513" b="-1009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513" t="-55769" r="-513" b="-1009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6586236"/>
                      </a:ext>
                    </a:extLst>
                  </a:tr>
                  <a:tr h="1311014"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13" t="-155769" r="-300513" b="-9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513" t="-155769" r="-200513" b="-9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513" t="-155769" r="-100513" b="-9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513" t="-155769" r="-513" b="-9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20332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35853723-287F-940E-C3F0-16D29651C440}"/>
              </a:ext>
            </a:extLst>
          </p:cNvPr>
          <p:cNvSpPr/>
          <p:nvPr/>
        </p:nvSpPr>
        <p:spPr>
          <a:xfrm>
            <a:off x="1972019" y="3546839"/>
            <a:ext cx="418641" cy="4737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D5DA48-8FE7-7F4F-71A2-B3F61D91F5CB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1685581" y="3783701"/>
            <a:ext cx="286438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26B02E-C905-456F-1454-14D4703971C4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2390660" y="3783701"/>
            <a:ext cx="299811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5038DF2-0281-8956-A7DC-D28F5C6C0EC6}"/>
              </a:ext>
            </a:extLst>
          </p:cNvPr>
          <p:cNvSpPr/>
          <p:nvPr/>
        </p:nvSpPr>
        <p:spPr>
          <a:xfrm>
            <a:off x="4448978" y="3546838"/>
            <a:ext cx="418641" cy="4737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B53B36-786D-3A5D-8260-4B00250476C9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4162540" y="3783700"/>
            <a:ext cx="286438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466374A-4310-8110-FE3E-1FF27ED40D58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4867619" y="3783700"/>
            <a:ext cx="299811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5B797065-3E02-E7D4-186D-CEB443F56936}"/>
              </a:ext>
            </a:extLst>
          </p:cNvPr>
          <p:cNvSpPr/>
          <p:nvPr/>
        </p:nvSpPr>
        <p:spPr>
          <a:xfrm>
            <a:off x="6905742" y="3546837"/>
            <a:ext cx="418641" cy="4737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C299917-ABD7-3039-C184-83EBA1094E2A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6619304" y="3783699"/>
            <a:ext cx="286438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6C3846-58B4-0329-D325-65AE8E294F75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7324383" y="3783699"/>
            <a:ext cx="299811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8C7999D-970B-1460-FB94-A67C377B85C4}"/>
              </a:ext>
            </a:extLst>
          </p:cNvPr>
          <p:cNvSpPr/>
          <p:nvPr/>
        </p:nvSpPr>
        <p:spPr>
          <a:xfrm>
            <a:off x="9382701" y="3546836"/>
            <a:ext cx="418641" cy="4737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E4DAFCC-9F8E-6EDE-BA95-D09C661A3A55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9096263" y="3783698"/>
            <a:ext cx="286438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144C2E1-7268-8756-0B23-73309770A9A7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9801342" y="3783698"/>
            <a:ext cx="299811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4" name="Picture 2">
            <a:extLst>
              <a:ext uri="{FF2B5EF4-FFF2-40B4-BE49-F238E27FC236}">
                <a16:creationId xmlns:a16="http://schemas.microsoft.com/office/drawing/2014/main" id="{98EBCFCF-D9BC-904C-762C-E959EAEF580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501" y="1230741"/>
            <a:ext cx="2117594" cy="2117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7EE5AF4E-080D-6DB5-C17D-36DCDF822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396" y="1269099"/>
            <a:ext cx="2117594" cy="2117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625F3F9-7F08-C4B1-BAEA-BD4C9FF8E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8362" y="1269099"/>
            <a:ext cx="2032918" cy="2032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5C6D6DB-A369-735D-D6B0-B5DFC7CB2C8B}"/>
              </a:ext>
            </a:extLst>
          </p:cNvPr>
          <p:cNvSpPr txBox="1"/>
          <p:nvPr/>
        </p:nvSpPr>
        <p:spPr>
          <a:xfrm rot="16200000">
            <a:off x="-405805" y="4626505"/>
            <a:ext cx="1581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>
                <a:solidFill>
                  <a:srgbClr val="FF0000"/>
                </a:solidFill>
              </a:rPr>
              <a:t>Matrix form</a:t>
            </a:r>
          </a:p>
        </p:txBody>
      </p:sp>
      <p:sp>
        <p:nvSpPr>
          <p:cNvPr id="34" name="Left Brace 33">
            <a:extLst>
              <a:ext uri="{FF2B5EF4-FFF2-40B4-BE49-F238E27FC236}">
                <a16:creationId xmlns:a16="http://schemas.microsoft.com/office/drawing/2014/main" id="{8157A0CB-331B-B986-AEF4-899D2F3F5E42}"/>
              </a:ext>
            </a:extLst>
          </p:cNvPr>
          <p:cNvSpPr/>
          <p:nvPr/>
        </p:nvSpPr>
        <p:spPr>
          <a:xfrm>
            <a:off x="601243" y="4143461"/>
            <a:ext cx="281820" cy="1261278"/>
          </a:xfrm>
          <a:prstGeom prst="leftBrace">
            <a:avLst>
              <a:gd name="adj1" fmla="val 45363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5" name="Left Brace 34">
            <a:extLst>
              <a:ext uri="{FF2B5EF4-FFF2-40B4-BE49-F238E27FC236}">
                <a16:creationId xmlns:a16="http://schemas.microsoft.com/office/drawing/2014/main" id="{6DD5B560-D390-6325-5ED1-75B111AF46E3}"/>
              </a:ext>
            </a:extLst>
          </p:cNvPr>
          <p:cNvSpPr/>
          <p:nvPr/>
        </p:nvSpPr>
        <p:spPr>
          <a:xfrm>
            <a:off x="604676" y="3389922"/>
            <a:ext cx="251233" cy="630639"/>
          </a:xfrm>
          <a:prstGeom prst="leftBrace">
            <a:avLst>
              <a:gd name="adj1" fmla="val 45363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2A28D2-2A11-DD10-9FEF-E6E3E68C25DE}"/>
              </a:ext>
            </a:extLst>
          </p:cNvPr>
          <p:cNvSpPr txBox="1"/>
          <p:nvPr/>
        </p:nvSpPr>
        <p:spPr>
          <a:xfrm rot="16200000">
            <a:off x="-123270" y="3516544"/>
            <a:ext cx="1051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>
                <a:solidFill>
                  <a:srgbClr val="FF0000"/>
                </a:solidFill>
              </a:rPr>
              <a:t>Notation</a:t>
            </a:r>
          </a:p>
        </p:txBody>
      </p:sp>
    </p:spTree>
    <p:extLst>
      <p:ext uri="{BB962C8B-B14F-4D97-AF65-F5344CB8AC3E}">
        <p14:creationId xmlns:p14="http://schemas.microsoft.com/office/powerpoint/2010/main" val="3940504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E910018-B6F5-47A1-A7C1-F7553D199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Single qubit gate: properties</a:t>
            </a:r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A446B301-A728-44B8-8D64-C451117054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908323" cy="59629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All Pauli matrices have eigenvalues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±1</m:t>
                    </m:r>
                  </m:oMath>
                </a14:m>
                <a:r>
                  <a:rPr lang="en-US"/>
                  <a:t> and its eigenvectors (eigenstates):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A446B301-A728-44B8-8D64-C451117054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908323" cy="596299"/>
              </a:xfrm>
              <a:blipFill>
                <a:blip r:embed="rId2"/>
                <a:stretch>
                  <a:fillRect l="-1047" t="-16667" b="-83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739FE2D-B1C2-4189-BA6C-5E6841426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2</a:t>
            </a:fld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47C8C7-D187-4626-BEA3-99F898FE7F9E}"/>
                  </a:ext>
                </a:extLst>
              </p:cNvPr>
              <p:cNvSpPr txBox="1"/>
              <p:nvPr/>
            </p:nvSpPr>
            <p:spPr>
              <a:xfrm>
                <a:off x="1343798" y="2421924"/>
                <a:ext cx="6098058" cy="31066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800"/>
                  <a:t> </a:t>
                </a:r>
              </a:p>
              <a:p>
                <a:pPr marL="0" indent="0">
                  <a:buNone/>
                </a:pPr>
                <a:endParaRPr lang="en-US" sz="280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</m:m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800"/>
                  <a:t> </a:t>
                </a:r>
              </a:p>
              <a:p>
                <a:pPr marL="0" indent="0">
                  <a:buNone/>
                </a:pPr>
                <a:endParaRPr lang="en-US" sz="280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800"/>
                  <a:t>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47C8C7-D187-4626-BEA3-99F898FE7F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798" y="2421924"/>
                <a:ext cx="6098058" cy="3106684"/>
              </a:xfrm>
              <a:prstGeom prst="rect">
                <a:avLst/>
              </a:prstGeom>
              <a:blipFill>
                <a:blip r:embed="rId3"/>
                <a:stretch>
                  <a:fillRect l="-1037" b="-122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hỗ dành sẵn cho Nội dung 2">
                <a:extLst>
                  <a:ext uri="{FF2B5EF4-FFF2-40B4-BE49-F238E27FC236}">
                    <a16:creationId xmlns:a16="http://schemas.microsoft.com/office/drawing/2014/main" id="{C0866EB0-9ACA-F816-8029-9F151B62CE6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6154866"/>
                <a:ext cx="9998677" cy="596300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>
                    <a:solidFill>
                      <a:srgbClr val="FF0000"/>
                    </a:solidFill>
                  </a:rPr>
                  <a:t>Exercise</a:t>
                </a:r>
                <a:r>
                  <a:rPr lang="en-US">
                    <a:solidFill>
                      <a:srgbClr val="FF0000"/>
                    </a:solidFill>
                  </a:rPr>
                  <a:t>: What are eigenstates of Identity matrix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>
                    <a:solidFill>
                      <a:srgbClr val="FF0000"/>
                    </a:solidFill>
                  </a:rPr>
                  <a:t> Pauli matrix)?</a:t>
                </a:r>
                <a:endParaRPr lang="vi-VN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Chỗ dành sẵn cho Nội dung 2">
                <a:extLst>
                  <a:ext uri="{FF2B5EF4-FFF2-40B4-BE49-F238E27FC236}">
                    <a16:creationId xmlns:a16="http://schemas.microsoft.com/office/drawing/2014/main" id="{C0866EB0-9ACA-F816-8029-9F151B62CE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6154866"/>
                <a:ext cx="9998677" cy="596300"/>
              </a:xfrm>
              <a:prstGeom prst="rect">
                <a:avLst/>
              </a:prstGeom>
              <a:blipFill>
                <a:blip r:embed="rId4"/>
                <a:stretch>
                  <a:fillRect l="-1141" t="-14583" r="-507" b="-10417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146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A80CB2D-FD77-4CA5-912B-B65E6590B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Single qubit gate: phase gate</a:t>
            </a:r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EC0F06D-7349-4198-A64C-8A8650F3B0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0" i="0">
                    <a:solidFill>
                      <a:srgbClr val="000000"/>
                    </a:solidFill>
                    <a:effectLst/>
                    <a:latin typeface="Calibri (Thân)"/>
                  </a:rPr>
                  <a:t>The P-gate performs a rotation of 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b="0" i="0">
                    <a:solidFill>
                      <a:srgbClr val="000000"/>
                    </a:solidFill>
                    <a:effectLst/>
                    <a:latin typeface="Calibri (Thân)"/>
                  </a:rPr>
                  <a:t> around the Z-axis direction:</a:t>
                </a:r>
              </a:p>
              <a:p>
                <a:pPr marL="0" indent="0">
                  <a:buNone/>
                </a:pPr>
                <a:endParaRPr lang="en-US" b="0" i="1">
                  <a:latin typeface="Calibri (Thân)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 gate: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vi-V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vi-VN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vi-VN" b="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vi-V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ra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𝑆𝑆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T gate: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g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rad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vi-V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rad>
                    </m:oMath>
                  </m:oMathPara>
                </a14:m>
                <a:endParaRPr lang="vi-VN" i="1"/>
              </a:p>
            </p:txBody>
          </p:sp>
        </mc:Choice>
        <mc:Fallback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EC0F06D-7349-4198-A64C-8A8650F3B0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206" t="-298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4A9403F-AF74-4807-BBF0-2197102D1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3</a:t>
            </a:fld>
            <a:endParaRPr lang="vi-V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A4EB1F-45F3-74E2-3034-A90E26DC2AF5}"/>
              </a:ext>
            </a:extLst>
          </p:cNvPr>
          <p:cNvSpPr/>
          <p:nvPr/>
        </p:nvSpPr>
        <p:spPr>
          <a:xfrm>
            <a:off x="4472848" y="2776251"/>
            <a:ext cx="583894" cy="4847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6E0061-55D1-48E7-7F47-E685F7C0C5CC}"/>
              </a:ext>
            </a:extLst>
          </p:cNvPr>
          <p:cNvSpPr txBox="1"/>
          <p:nvPr/>
        </p:nvSpPr>
        <p:spPr>
          <a:xfrm>
            <a:off x="3299549" y="2271982"/>
            <a:ext cx="119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Parameter</a:t>
            </a: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ABAED0FE-2250-3F29-E755-940465DCDFB7}"/>
              </a:ext>
            </a:extLst>
          </p:cNvPr>
          <p:cNvCxnSpPr>
            <a:cxnSpLocks/>
            <a:stCxn id="5" idx="0"/>
            <a:endCxn id="6" idx="3"/>
          </p:cNvCxnSpPr>
          <p:nvPr/>
        </p:nvCxnSpPr>
        <p:spPr>
          <a:xfrm rot="16200000" flipV="1">
            <a:off x="4470037" y="2481492"/>
            <a:ext cx="319603" cy="269915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86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A80CB2D-FD77-4CA5-912B-B65E6590B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Single qubit gate: Parameterized gate </a:t>
            </a:r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EC0F06D-7349-4198-A64C-8A8650F3B0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840904"/>
                <a:ext cx="8030378" cy="845103"/>
              </a:xfrm>
              <a:ln>
                <a:solidFill>
                  <a:srgbClr val="FF0000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>
                    <a:solidFill>
                      <a:srgbClr val="FF0000"/>
                    </a:solidFill>
                  </a:rPr>
                  <a:t>Excercise</a:t>
                </a:r>
                <a:r>
                  <a:rPr lang="en-US" sz="2400">
                    <a:solidFill>
                      <a:srgbClr val="FF0000"/>
                    </a:solidFill>
                  </a:rPr>
                  <a:t>: 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>
                    <a:solidFill>
                      <a:srgbClr val="FF0000"/>
                    </a:solidFill>
                  </a:rPr>
                  <a:t> and matrix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>
                    <a:solidFill>
                      <a:srgbClr val="FF0000"/>
                    </a:solidFill>
                  </a:rPr>
                  <a:t> 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400">
                    <a:solidFill>
                      <a:srgbClr val="FF0000"/>
                    </a:solidFill>
                  </a:rPr>
                  <a:t>. Prove:</a:t>
                </a:r>
                <a:endParaRPr lang="en-US" sz="2400" b="0" i="1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𝑖𝑥𝐴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func>
                        <m:func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4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EC0F06D-7349-4198-A64C-8A8650F3B0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840904"/>
                <a:ext cx="8030378" cy="845103"/>
              </a:xfrm>
              <a:blipFill>
                <a:blip r:embed="rId2"/>
                <a:stretch>
                  <a:fillRect l="-1104" t="-7246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4A9403F-AF74-4807-BBF0-2197102D1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4</a:t>
            </a:fld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4149339-252A-2C2D-8764-BF137D753C5B}"/>
                  </a:ext>
                </a:extLst>
              </p:cNvPr>
              <p:cNvSpPr txBox="1"/>
              <p:nvPr/>
            </p:nvSpPr>
            <p:spPr>
              <a:xfrm>
                <a:off x="937352" y="1690202"/>
                <a:ext cx="9740102" cy="8511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2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VN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vi-V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vi-VN" sz="2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vi-VN" sz="2800" b="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vi-VN" sz="28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vi-VN" sz="28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vi-VN" sz="28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vi-VN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vi-VN" sz="2800" b="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vi-VN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num>
                            <m:den>
                              <m:r>
                                <a:rPr lang="vi-VN" sz="28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vi-VN" sz="2800" b="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vi-VN" sz="2800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vi-VN" sz="2800" b="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f>
                            <m:fPr>
                              <m:ctrlPr>
                                <a:rPr lang="vi-VN" sz="28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vi-VN" sz="2800" b="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vi-VN" sz="28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vi-VN" sz="2800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vi-VN" sz="28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vi-VN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func>
                            <m:funcPr>
                              <m:ctrlPr>
                                <a:rPr lang="vi-VN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vi-VN" sz="2800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vi-VN" sz="2800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vi-VN" sz="2800" b="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vi-VN" sz="28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r>
                            <a:rPr lang="vi-VN" sz="28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vi-VN" sz="2800" b="0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vi-VN" sz="28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vi-VN" sz="2800" b="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func>
                                      <m:funcPr>
                                        <m:ctrlPr>
                                          <a:rPr lang="vi-VN" sz="28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brk m:alnAt="7"/>
                                          </m:rPr>
                                          <a:rPr lang="vi-VN" sz="2800" b="0" i="1">
                                            <a:latin typeface="Cambria Math" panose="02040503050406030204" pitchFamily="18" charset="0"/>
                                          </a:rPr>
                                          <m:t>𝑐𝑜𝑠</m:t>
                                        </m:r>
                                      </m:fName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vi-VN" sz="2800" b="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  <m:r>
                                          <a:rPr lang="vi-VN" sz="2800" b="0" i="1">
                                            <a:latin typeface="Cambria Math" panose="02040503050406030204" pitchFamily="18" charset="0"/>
                                          </a:rPr>
                                          <m:t>/2</m:t>
                                        </m:r>
                                      </m:e>
                                    </m:func>
                                  </m:e>
                                  <m:e>
                                    <m:r>
                                      <a:rPr lang="vi-VN" sz="2800" b="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vi-VN" sz="2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func>
                                      <m:funcPr>
                                        <m:ctrlPr>
                                          <a:rPr lang="vi-VN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a:rPr lang="vi-VN" sz="2800" i="1">
                                            <a:latin typeface="Cambria Math" panose="02040503050406030204" pitchFamily="18" charset="0"/>
                                          </a:rPr>
                                          <m:t>𝑠𝑖𝑛</m:t>
                                        </m:r>
                                      </m:fName>
                                      <m:e>
                                        <m:r>
                                          <a:rPr lang="vi-VN" sz="2800" b="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  <m:r>
                                          <a:rPr lang="vi-VN" sz="2800" b="0" i="1">
                                            <a:latin typeface="Cambria Math" panose="02040503050406030204" pitchFamily="18" charset="0"/>
                                          </a:rPr>
                                          <m:t>/2</m:t>
                                        </m:r>
                                      </m:e>
                                    </m:func>
                                  </m:e>
                                </m:mr>
                                <m:mr>
                                  <m:e>
                                    <m:r>
                                      <a:rPr lang="vi-VN" sz="2800" b="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vi-VN" sz="2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func>
                                      <m:funcPr>
                                        <m:ctrlPr>
                                          <a:rPr lang="vi-VN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a:rPr lang="vi-VN" sz="2800" i="1">
                                            <a:latin typeface="Cambria Math" panose="02040503050406030204" pitchFamily="18" charset="0"/>
                                          </a:rPr>
                                          <m:t>𝑠𝑖𝑛</m:t>
                                        </m:r>
                                      </m:fName>
                                      <m:e>
                                        <m:r>
                                          <a:rPr lang="vi-VN" sz="2800" b="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  <m:r>
                                          <a:rPr lang="vi-VN" sz="2800" b="0" i="1">
                                            <a:latin typeface="Cambria Math" panose="02040503050406030204" pitchFamily="18" charset="0"/>
                                          </a:rPr>
                                          <m:t>/2</m:t>
                                        </m:r>
                                      </m:e>
                                    </m:func>
                                  </m:e>
                                  <m:e>
                                    <m:func>
                                      <m:funcPr>
                                        <m:ctrlPr>
                                          <a:rPr lang="vi-VN" sz="28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a:rPr lang="vi-VN" sz="2800" b="0" i="1">
                                            <a:latin typeface="Cambria Math" panose="02040503050406030204" pitchFamily="18" charset="0"/>
                                          </a:rPr>
                                          <m:t>𝑐𝑜𝑠</m:t>
                                        </m:r>
                                      </m:fName>
                                      <m:e>
                                        <m:r>
                                          <a:rPr lang="vi-VN" sz="2800" b="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  <m:r>
                                          <a:rPr lang="vi-VN" sz="2800" b="0" i="1">
                                            <a:latin typeface="Cambria Math" panose="02040503050406030204" pitchFamily="18" charset="0"/>
                                          </a:rPr>
                                          <m:t>/2</m:t>
                                        </m:r>
                                      </m:e>
                                    </m:func>
                                  </m:e>
                                </m:mr>
                              </m:m>
                            </m:e>
                          </m:d>
                        </m:e>
                      </m:func>
                    </m:oMath>
                  </m:oMathPara>
                </a14:m>
                <a:endParaRPr lang="en-VN" sz="2800" i="1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4149339-252A-2C2D-8764-BF137D753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352" y="1690202"/>
                <a:ext cx="9740102" cy="851130"/>
              </a:xfrm>
              <a:prstGeom prst="rect">
                <a:avLst/>
              </a:prstGeom>
              <a:blipFill>
                <a:blip r:embed="rId3"/>
                <a:stretch>
                  <a:fillRect l="-260" b="-1739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ECE175CB-8446-D2AC-5079-8E6F6312CB12}"/>
              </a:ext>
            </a:extLst>
          </p:cNvPr>
          <p:cNvSpPr/>
          <p:nvPr/>
        </p:nvSpPr>
        <p:spPr>
          <a:xfrm>
            <a:off x="937352" y="1831493"/>
            <a:ext cx="1035586" cy="6169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AB44DA-9E18-B4E5-DCC9-7294EB5C0092}"/>
                  </a:ext>
                </a:extLst>
              </p:cNvPr>
              <p:cNvSpPr txBox="1"/>
              <p:nvPr/>
            </p:nvSpPr>
            <p:spPr>
              <a:xfrm>
                <a:off x="937352" y="2489907"/>
                <a:ext cx="9135321" cy="8511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2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VN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vi-VN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vi-VN" sz="2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vi-VN" sz="2800" b="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vi-VN" sz="28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vi-VN" sz="28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vi-VN" sz="28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vi-VN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vi-VN" sz="2800" b="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vi-VN" sz="28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num>
                            <m:den>
                              <m:r>
                                <a:rPr lang="vi-VN" sz="28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vi-VN" sz="2800" b="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vi-VN" sz="2800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vi-VN" sz="2800" b="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f>
                            <m:fPr>
                              <m:ctrlPr>
                                <a:rPr lang="vi-VN" sz="28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vi-VN" sz="2800" b="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vi-VN" sz="28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vi-VN" sz="2800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vi-VN" sz="28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vi-VN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func>
                            <m:funcPr>
                              <m:ctrlPr>
                                <a:rPr lang="vi-VN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vi-VN" sz="2800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vi-VN" sz="2800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vi-VN" sz="2800" b="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vi-VN" sz="28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r>
                            <a:rPr lang="vi-VN" sz="28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vi-VN" sz="2800" b="0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vi-VN" sz="28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vi-VN" sz="2800" b="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func>
                                      <m:funcPr>
                                        <m:ctrlPr>
                                          <a:rPr lang="vi-VN" sz="28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brk m:alnAt="7"/>
                                          </m:rPr>
                                          <a:rPr lang="vi-VN" sz="2800" b="0" i="1">
                                            <a:latin typeface="Cambria Math" panose="02040503050406030204" pitchFamily="18" charset="0"/>
                                          </a:rPr>
                                          <m:t>𝑐𝑜𝑠</m:t>
                                        </m:r>
                                      </m:fName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vi-VN" sz="2800" b="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  <m:r>
                                          <a:rPr lang="vi-VN" sz="2800" b="0" i="1">
                                            <a:latin typeface="Cambria Math" panose="02040503050406030204" pitchFamily="18" charset="0"/>
                                          </a:rPr>
                                          <m:t>/2</m:t>
                                        </m:r>
                                      </m:e>
                                    </m:func>
                                  </m:e>
                                  <m:e>
                                    <m:r>
                                      <a:rPr lang="vi-VN" sz="2800" b="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unc>
                                      <m:funcPr>
                                        <m:ctrlPr>
                                          <a:rPr lang="vi-VN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a:rPr lang="vi-VN" sz="2800" i="1">
                                            <a:latin typeface="Cambria Math" panose="02040503050406030204" pitchFamily="18" charset="0"/>
                                          </a:rPr>
                                          <m:t>𝑠𝑖𝑛</m:t>
                                        </m:r>
                                      </m:fName>
                                      <m:e>
                                        <m:r>
                                          <a:rPr lang="vi-VN" sz="2800" b="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  <m:r>
                                          <a:rPr lang="vi-VN" sz="2800" b="0" i="1">
                                            <a:latin typeface="Cambria Math" panose="02040503050406030204" pitchFamily="18" charset="0"/>
                                          </a:rPr>
                                          <m:t>/2</m:t>
                                        </m:r>
                                      </m:e>
                                    </m:func>
                                  </m:e>
                                </m:mr>
                                <m:mr>
                                  <m:e>
                                    <m:func>
                                      <m:funcPr>
                                        <m:ctrlPr>
                                          <a:rPr lang="vi-VN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a:rPr lang="vi-VN" sz="2800" i="1">
                                            <a:latin typeface="Cambria Math" panose="02040503050406030204" pitchFamily="18" charset="0"/>
                                          </a:rPr>
                                          <m:t>𝑠𝑖𝑛</m:t>
                                        </m:r>
                                      </m:fName>
                                      <m:e>
                                        <m:r>
                                          <a:rPr lang="vi-VN" sz="2800" b="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  <m:r>
                                          <a:rPr lang="vi-VN" sz="2800" b="0" i="1">
                                            <a:latin typeface="Cambria Math" panose="02040503050406030204" pitchFamily="18" charset="0"/>
                                          </a:rPr>
                                          <m:t>/2</m:t>
                                        </m:r>
                                      </m:e>
                                    </m:func>
                                  </m:e>
                                  <m:e>
                                    <m:func>
                                      <m:funcPr>
                                        <m:ctrlPr>
                                          <a:rPr lang="vi-VN" sz="28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a:rPr lang="vi-VN" sz="2800" b="0" i="1">
                                            <a:latin typeface="Cambria Math" panose="02040503050406030204" pitchFamily="18" charset="0"/>
                                          </a:rPr>
                                          <m:t>𝑐𝑜𝑠</m:t>
                                        </m:r>
                                      </m:fName>
                                      <m:e>
                                        <m:r>
                                          <a:rPr lang="vi-VN" sz="2800" b="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  <m:r>
                                          <a:rPr lang="vi-VN" sz="2800" b="0" i="1">
                                            <a:latin typeface="Cambria Math" panose="02040503050406030204" pitchFamily="18" charset="0"/>
                                          </a:rPr>
                                          <m:t>/2</m:t>
                                        </m:r>
                                      </m:e>
                                    </m:func>
                                  </m:e>
                                </m:mr>
                              </m:m>
                            </m:e>
                          </m:d>
                        </m:e>
                      </m:func>
                    </m:oMath>
                  </m:oMathPara>
                </a14:m>
                <a:endParaRPr lang="en-VN" sz="2800" i="1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AB44DA-9E18-B4E5-DCC9-7294EB5C0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352" y="2489907"/>
                <a:ext cx="9135321" cy="851130"/>
              </a:xfrm>
              <a:prstGeom prst="rect">
                <a:avLst/>
              </a:prstGeom>
              <a:blipFill>
                <a:blip r:embed="rId4"/>
                <a:stretch>
                  <a:fillRect l="-556" t="-1449" b="-1739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DE88B713-DA0B-A235-DD97-FF4999909C6D}"/>
              </a:ext>
            </a:extLst>
          </p:cNvPr>
          <p:cNvSpPr/>
          <p:nvPr/>
        </p:nvSpPr>
        <p:spPr>
          <a:xfrm>
            <a:off x="937352" y="2631198"/>
            <a:ext cx="1035586" cy="6169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963B633-D232-E2DF-13EB-E24CA8F3F459}"/>
                  </a:ext>
                </a:extLst>
              </p:cNvPr>
              <p:cNvSpPr txBox="1"/>
              <p:nvPr/>
            </p:nvSpPr>
            <p:spPr>
              <a:xfrm>
                <a:off x="937352" y="3338009"/>
                <a:ext cx="8211030" cy="8451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2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VN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vi-VN" sz="28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ctrlPr>
                            <a:rPr lang="vi-VN" sz="2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vi-VN" sz="2800" b="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vi-VN" sz="28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vi-VN" sz="28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vi-VN" sz="28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vi-VN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vi-VN" sz="2800" b="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vi-VN" sz="28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num>
                            <m:den>
                              <m:r>
                                <a:rPr lang="vi-VN" sz="28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vi-VN" sz="2800" b="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vi-VN" sz="2800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vi-VN" sz="2800" b="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f>
                            <m:fPr>
                              <m:ctrlPr>
                                <a:rPr lang="vi-VN" sz="28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vi-VN" sz="2800" b="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vi-VN" sz="28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vi-VN" sz="2800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vi-VN" sz="28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vi-VN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func>
                            <m:funcPr>
                              <m:ctrlPr>
                                <a:rPr lang="vi-VN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vi-VN" sz="2800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vi-VN" sz="2800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vi-VN" sz="2800" b="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vi-VN" sz="28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r>
                            <a:rPr lang="vi-VN" sz="2800" i="1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vi-VN" sz="2800" b="0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vi-VN" sz="28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vi-VN" sz="2800" b="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p>
                                      <m:sSupPr>
                                        <m:ctrlPr>
                                          <a:rPr lang="vi-VN" sz="28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vi-VN" sz="2800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vi-VN" sz="2800" b="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vi-VN" sz="28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m:rPr>
                                            <m:brk m:alnAt="7"/>
                                          </m:rPr>
                                          <a:rPr lang="vi-VN" sz="2800" b="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  <m:r>
                                          <a:rPr lang="vi-VN" sz="2800" b="0" i="1">
                                            <a:latin typeface="Cambria Math" panose="02040503050406030204" pitchFamily="18" charset="0"/>
                                          </a:rPr>
                                          <m:t>/2</m:t>
                                        </m:r>
                                      </m:sup>
                                    </m:sSup>
                                  </m:e>
                                  <m:e>
                                    <m:r>
                                      <a:rPr lang="vi-VN" sz="2800" b="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vi-VN" sz="2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vi-VN" sz="28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vi-VN" sz="2800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vi-VN" sz="28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vi-VN" sz="2800" b="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  <m:r>
                                          <a:rPr lang="vi-VN" sz="2800" b="0" i="1">
                                            <a:latin typeface="Cambria Math" panose="02040503050406030204" pitchFamily="18" charset="0"/>
                                          </a:rPr>
                                          <m:t>/2</m:t>
                                        </m:r>
                                      </m:sup>
                                    </m:sSup>
                                  </m:e>
                                </m:mr>
                              </m:m>
                            </m:e>
                          </m:d>
                        </m:e>
                      </m:func>
                    </m:oMath>
                  </m:oMathPara>
                </a14:m>
                <a:endParaRPr lang="en-VN" sz="2800" i="1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963B633-D232-E2DF-13EB-E24CA8F3F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352" y="3338009"/>
                <a:ext cx="8211030" cy="845103"/>
              </a:xfrm>
              <a:prstGeom prst="rect">
                <a:avLst/>
              </a:prstGeom>
              <a:blipFill>
                <a:blip r:embed="rId5"/>
                <a:stretch>
                  <a:fillRect l="-463" t="-2985" b="-1194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316B47A8-9C7A-2A9D-E0F5-71A2B2A26E81}"/>
              </a:ext>
            </a:extLst>
          </p:cNvPr>
          <p:cNvSpPr/>
          <p:nvPr/>
        </p:nvSpPr>
        <p:spPr>
          <a:xfrm>
            <a:off x="937352" y="3479300"/>
            <a:ext cx="1035586" cy="6169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17A670-EF99-CF99-A4BD-8098C005FC99}"/>
                  </a:ext>
                </a:extLst>
              </p:cNvPr>
              <p:cNvSpPr txBox="1"/>
              <p:nvPr/>
            </p:nvSpPr>
            <p:spPr>
              <a:xfrm>
                <a:off x="838200" y="4321375"/>
                <a:ext cx="48804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sz="2400"/>
                  <a:t>Parameter </a:t>
                </a:r>
                <a14:m>
                  <m:oMath xmlns:m="http://schemas.openxmlformats.org/officeDocument/2006/math">
                    <m:r>
                      <a:rPr lang="vi-VN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VN" sz="2400"/>
                  <a:t> is ranged from 0 to </a:t>
                </a:r>
                <a14:m>
                  <m:oMath xmlns:m="http://schemas.openxmlformats.org/officeDocument/2006/math">
                    <m:r>
                      <a:rPr lang="vi-VN" sz="2400" b="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vi-VN" sz="2400" b="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VN" sz="240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17A670-EF99-CF99-A4BD-8098C005F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321375"/>
                <a:ext cx="4880472" cy="461665"/>
              </a:xfrm>
              <a:prstGeom prst="rect">
                <a:avLst/>
              </a:prstGeom>
              <a:blipFill>
                <a:blip r:embed="rId6"/>
                <a:stretch>
                  <a:fillRect l="-2078" t="-8108" b="-2973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2642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A80CB2D-FD77-4CA5-912B-B65E6590B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Single qubit gate: universe (U) gate</a:t>
            </a:r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EC0F06D-7349-4198-A64C-8A8650F3B0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0" i="0">
                    <a:solidFill>
                      <a:srgbClr val="000000"/>
                    </a:solidFill>
                    <a:effectLst/>
                    <a:latin typeface="Calibri (Thân)"/>
                  </a:rPr>
                  <a:t>U gate is the most general of all single-qubit quantum gates:</a:t>
                </a:r>
              </a:p>
              <a:p>
                <a:pPr marL="0" indent="0">
                  <a:buNone/>
                </a:pPr>
                <a:endParaRPr lang="en-US">
                  <a:solidFill>
                    <a:srgbClr val="000000"/>
                  </a:solidFill>
                  <a:latin typeface="Calibri (Thân)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os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sup>
                                </m:sSup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func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p>
                                </m:sSup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num>
                                      <m:den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func>
                              </m:e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num>
                                      <m:den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m:oMathPara>
                </a14:m>
                <a:endParaRPr lang="vi-VN"/>
              </a:p>
            </p:txBody>
          </p:sp>
        </mc:Choice>
        <mc:Fallback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EC0F06D-7349-4198-A64C-8A8650F3B0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206" t="-216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4A9403F-AF74-4807-BBF0-2197102D1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53555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94C0-4B51-F662-4AD5-51D7F4B9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Multi-qubit gate: Control-Not (CX) gate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CC28D-D820-E628-804D-4C99A4C7F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6</a:t>
            </a:fld>
            <a:endParaRPr lang="vi-V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0652219-DF1B-FEDD-5110-F8BC1F425FE5}"/>
              </a:ext>
            </a:extLst>
          </p:cNvPr>
          <p:cNvCxnSpPr/>
          <p:nvPr/>
        </p:nvCxnSpPr>
        <p:spPr>
          <a:xfrm>
            <a:off x="969485" y="1828800"/>
            <a:ext cx="14400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1C19B7-1822-11E2-A226-5602568429DE}"/>
              </a:ext>
            </a:extLst>
          </p:cNvPr>
          <p:cNvCxnSpPr/>
          <p:nvPr/>
        </p:nvCxnSpPr>
        <p:spPr>
          <a:xfrm>
            <a:off x="969485" y="2300689"/>
            <a:ext cx="14400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67FA12A-2848-D92F-3DD6-1B475098FE66}"/>
              </a:ext>
            </a:extLst>
          </p:cNvPr>
          <p:cNvSpPr>
            <a:spLocks noChangeAspect="1"/>
          </p:cNvSpPr>
          <p:nvPr/>
        </p:nvSpPr>
        <p:spPr>
          <a:xfrm>
            <a:off x="1564395" y="1727967"/>
            <a:ext cx="216000" cy="20166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E7AE9AD-9191-215E-67AD-4C4434C46428}"/>
                  </a:ext>
                </a:extLst>
              </p:cNvPr>
              <p:cNvSpPr txBox="1"/>
              <p:nvPr/>
            </p:nvSpPr>
            <p:spPr>
              <a:xfrm>
                <a:off x="1435483" y="1996425"/>
                <a:ext cx="42631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3200" b="0" i="1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VN" sz="320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E7AE9AD-9191-215E-67AD-4C4434C46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483" y="1996425"/>
                <a:ext cx="426319" cy="584775"/>
              </a:xfrm>
              <a:prstGeom prst="rect">
                <a:avLst/>
              </a:prstGeom>
              <a:blipFill>
                <a:blip r:embed="rId2"/>
                <a:stretch>
                  <a:fillRect l="-5714" r="-1714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E0DE72-FD71-D45A-2AA9-622D9B86C0E5}"/>
              </a:ext>
            </a:extLst>
          </p:cNvPr>
          <p:cNvCxnSpPr>
            <a:cxnSpLocks/>
            <a:endCxn id="8" idx="4"/>
          </p:cNvCxnSpPr>
          <p:nvPr/>
        </p:nvCxnSpPr>
        <p:spPr>
          <a:xfrm flipV="1">
            <a:off x="1672395" y="1929632"/>
            <a:ext cx="0" cy="37105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3B1573-5F53-9744-7FA2-F5AC5F362260}"/>
              </a:ext>
            </a:extLst>
          </p:cNvPr>
          <p:cNvCxnSpPr/>
          <p:nvPr/>
        </p:nvCxnSpPr>
        <p:spPr>
          <a:xfrm>
            <a:off x="969485" y="2761735"/>
            <a:ext cx="14400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417DE66-0F85-779E-5EE9-E9636B5EBA50}"/>
              </a:ext>
            </a:extLst>
          </p:cNvPr>
          <p:cNvCxnSpPr/>
          <p:nvPr/>
        </p:nvCxnSpPr>
        <p:spPr>
          <a:xfrm>
            <a:off x="969485" y="3233624"/>
            <a:ext cx="14400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803C6A0E-8884-08DD-9BCF-6DF05B1EF8F0}"/>
              </a:ext>
            </a:extLst>
          </p:cNvPr>
          <p:cNvSpPr>
            <a:spLocks noChangeAspect="1"/>
          </p:cNvSpPr>
          <p:nvPr/>
        </p:nvSpPr>
        <p:spPr>
          <a:xfrm>
            <a:off x="1564395" y="2660902"/>
            <a:ext cx="216000" cy="201665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BB3207B-76C4-1648-403F-CBD37C66F1B5}"/>
                  </a:ext>
                </a:extLst>
              </p:cNvPr>
              <p:cNvSpPr txBox="1"/>
              <p:nvPr/>
            </p:nvSpPr>
            <p:spPr>
              <a:xfrm>
                <a:off x="1435483" y="2929360"/>
                <a:ext cx="42631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3200" b="0" i="1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VN" sz="320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BB3207B-76C4-1648-403F-CBD37C66F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483" y="2929360"/>
                <a:ext cx="426319" cy="584775"/>
              </a:xfrm>
              <a:prstGeom prst="rect">
                <a:avLst/>
              </a:prstGeom>
              <a:blipFill>
                <a:blip r:embed="rId3"/>
                <a:stretch>
                  <a:fillRect l="-5714" r="-1714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3AF726C-CFB8-EFEB-17C1-228722C25916}"/>
              </a:ext>
            </a:extLst>
          </p:cNvPr>
          <p:cNvCxnSpPr>
            <a:cxnSpLocks/>
            <a:endCxn id="15" idx="4"/>
          </p:cNvCxnSpPr>
          <p:nvPr/>
        </p:nvCxnSpPr>
        <p:spPr>
          <a:xfrm flipV="1">
            <a:off x="1672395" y="2862567"/>
            <a:ext cx="0" cy="37105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915B5C9C-5D50-36FE-6391-C85AFB2E6D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4138764"/>
                  </p:ext>
                </p:extLst>
              </p:nvPr>
            </p:nvGraphicFramePr>
            <p:xfrm>
              <a:off x="4625941" y="1594022"/>
              <a:ext cx="5893662" cy="201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964554">
                      <a:extLst>
                        <a:ext uri="{9D8B030D-6E8A-4147-A177-3AD203B41FA5}">
                          <a16:colId xmlns:a16="http://schemas.microsoft.com/office/drawing/2014/main" val="1401356232"/>
                        </a:ext>
                      </a:extLst>
                    </a:gridCol>
                    <a:gridCol w="1964554">
                      <a:extLst>
                        <a:ext uri="{9D8B030D-6E8A-4147-A177-3AD203B41FA5}">
                          <a16:colId xmlns:a16="http://schemas.microsoft.com/office/drawing/2014/main" val="4271350536"/>
                        </a:ext>
                      </a:extLst>
                    </a:gridCol>
                    <a:gridCol w="1964554">
                      <a:extLst>
                        <a:ext uri="{9D8B030D-6E8A-4147-A177-3AD203B41FA5}">
                          <a16:colId xmlns:a16="http://schemas.microsoft.com/office/drawing/2014/main" val="268573675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VN" sz="2400" b="1"/>
                            <a:t>Control qubit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VN" sz="2400" b="1"/>
                            <a:t> Target qubit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VN" sz="2400" b="1"/>
                            <a:t>Result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13036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400" b="0" i="1">
                                    <a:latin typeface="Cambria Math" panose="02040503050406030204" pitchFamily="18" charset="0"/>
                                  </a:rPr>
                                  <m:t>|0⟩</m:t>
                                </m:r>
                              </m:oMath>
                            </m:oMathPara>
                          </a14:m>
                          <a:endParaRPr lang="en-VN" sz="2400"/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400" b="0" i="1">
                                    <a:latin typeface="Cambria Math" panose="02040503050406030204" pitchFamily="18" charset="0"/>
                                  </a:rPr>
                                  <m:t>|0⟩</m:t>
                                </m:r>
                              </m:oMath>
                            </m:oMathPara>
                          </a14:m>
                          <a:endParaRPr lang="en-VN" sz="2400"/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400" b="0" i="1">
                                    <a:latin typeface="Cambria Math" panose="02040503050406030204" pitchFamily="18" charset="0"/>
                                  </a:rPr>
                                  <m:t>|1⟩</m:t>
                                </m:r>
                              </m:oMath>
                            </m:oMathPara>
                          </a14:m>
                          <a:endParaRPr lang="en-VN" sz="2400"/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400" b="0" i="1">
                                    <a:latin typeface="Cambria Math" panose="02040503050406030204" pitchFamily="18" charset="0"/>
                                  </a:rPr>
                                  <m:t>|1⟩</m:t>
                                </m:r>
                              </m:oMath>
                            </m:oMathPara>
                          </a14:m>
                          <a:endParaRPr lang="en-VN" sz="2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400" b="0" i="1">
                                    <a:latin typeface="Cambria Math" panose="02040503050406030204" pitchFamily="18" charset="0"/>
                                  </a:rPr>
                                  <m:t>|0⟩</m:t>
                                </m:r>
                              </m:oMath>
                            </m:oMathPara>
                          </a14:m>
                          <a:endParaRPr lang="en-VN" sz="2400"/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400" b="0" i="1">
                                    <a:latin typeface="Cambria Math" panose="02040503050406030204" pitchFamily="18" charset="0"/>
                                  </a:rPr>
                                  <m:t>|1⟩</m:t>
                                </m:r>
                              </m:oMath>
                            </m:oMathPara>
                          </a14:m>
                          <a:endParaRPr lang="en-VN" sz="2400"/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400" b="0" i="1">
                                    <a:latin typeface="Cambria Math" panose="02040503050406030204" pitchFamily="18" charset="0"/>
                                  </a:rPr>
                                  <m:t>|0⟩</m:t>
                                </m:r>
                              </m:oMath>
                            </m:oMathPara>
                          </a14:m>
                          <a:endParaRPr lang="en-VN" sz="2400"/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400" b="0" i="1">
                                    <a:latin typeface="Cambria Math" panose="02040503050406030204" pitchFamily="18" charset="0"/>
                                  </a:rPr>
                                  <m:t>|1⟩</m:t>
                                </m:r>
                              </m:oMath>
                            </m:oMathPara>
                          </a14:m>
                          <a:endParaRPr lang="en-VN" sz="2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⟩"/>
                                    <m:ctrlPr>
                                      <a:rPr lang="vi-VN" sz="24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vi-VN" sz="2400" b="0" i="1">
                                        <a:latin typeface="Cambria Math" panose="02040503050406030204" pitchFamily="18" charset="0"/>
                                      </a:rPr>
                                      <m:t>00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vi-VN" sz="2400" b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400" b="0" i="1">
                                    <a:latin typeface="Cambria Math" panose="02040503050406030204" pitchFamily="18" charset="0"/>
                                  </a:rPr>
                                  <m:t>|01⟩</m:t>
                                </m:r>
                              </m:oMath>
                            </m:oMathPara>
                          </a14:m>
                          <a:endParaRPr lang="en-VN" sz="240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400" b="0" i="1">
                                    <a:latin typeface="Cambria Math" panose="02040503050406030204" pitchFamily="18" charset="0"/>
                                  </a:rPr>
                                  <m:t>|11⟩</m:t>
                                </m:r>
                              </m:oMath>
                            </m:oMathPara>
                          </a14:m>
                          <a:endParaRPr lang="en-VN" sz="240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400" b="0" i="1">
                                    <a:latin typeface="Cambria Math" panose="02040503050406030204" pitchFamily="18" charset="0"/>
                                  </a:rPr>
                                  <m:t>|10⟩</m:t>
                                </m:r>
                              </m:oMath>
                            </m:oMathPara>
                          </a14:m>
                          <a:endParaRPr lang="en-VN" sz="2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8526724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915B5C9C-5D50-36FE-6391-C85AFB2E6D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4138764"/>
                  </p:ext>
                </p:extLst>
              </p:nvPr>
            </p:nvGraphicFramePr>
            <p:xfrm>
              <a:off x="4625941" y="1594022"/>
              <a:ext cx="5893662" cy="201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964554">
                      <a:extLst>
                        <a:ext uri="{9D8B030D-6E8A-4147-A177-3AD203B41FA5}">
                          <a16:colId xmlns:a16="http://schemas.microsoft.com/office/drawing/2014/main" val="1401356232"/>
                        </a:ext>
                      </a:extLst>
                    </a:gridCol>
                    <a:gridCol w="1964554">
                      <a:extLst>
                        <a:ext uri="{9D8B030D-6E8A-4147-A177-3AD203B41FA5}">
                          <a16:colId xmlns:a16="http://schemas.microsoft.com/office/drawing/2014/main" val="4271350536"/>
                        </a:ext>
                      </a:extLst>
                    </a:gridCol>
                    <a:gridCol w="1964554">
                      <a:extLst>
                        <a:ext uri="{9D8B030D-6E8A-4147-A177-3AD203B41FA5}">
                          <a16:colId xmlns:a16="http://schemas.microsoft.com/office/drawing/2014/main" val="268573675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VN" sz="2400" b="1"/>
                            <a:t>Control qubit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VN" sz="2400" b="1"/>
                            <a:t> Target qubit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VN" sz="2400" b="1"/>
                            <a:t>Result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1303614"/>
                      </a:ext>
                    </a:extLst>
                  </a:tr>
                  <a:tr h="1554480"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>
                        <a:blipFill>
                          <a:blip r:embed="rId4"/>
                          <a:stretch>
                            <a:fillRect l="-645" t="-32520" r="-200645" b="-56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>
                        <a:blipFill>
                          <a:blip r:embed="rId4"/>
                          <a:stretch>
                            <a:fillRect l="-100645" t="-32520" r="-100645" b="-56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>
                        <a:blipFill>
                          <a:blip r:embed="rId4"/>
                          <a:stretch>
                            <a:fillRect l="-200645" t="-32520" r="-645" b="-56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526724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EB0E690D-23B5-EF8D-53CD-458FEDEFFABE}"/>
              </a:ext>
            </a:extLst>
          </p:cNvPr>
          <p:cNvSpPr/>
          <p:nvPr/>
        </p:nvSpPr>
        <p:spPr>
          <a:xfrm>
            <a:off x="838200" y="1594022"/>
            <a:ext cx="1679285" cy="8896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A2923C1-CC22-F6E3-502A-28053E462D48}"/>
                  </a:ext>
                </a:extLst>
              </p:cNvPr>
              <p:cNvSpPr txBox="1"/>
              <p:nvPr/>
            </p:nvSpPr>
            <p:spPr>
              <a:xfrm>
                <a:off x="2630805" y="2422277"/>
                <a:ext cx="145928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>
                    <a:solidFill>
                      <a:srgbClr val="FF0000"/>
                    </a:solidFill>
                  </a:rPr>
                  <a:t>Flip target if control is </a:t>
                </a:r>
                <a14:m>
                  <m:oMath xmlns:m="http://schemas.openxmlformats.org/officeDocument/2006/math">
                    <m:r>
                      <a:rPr lang="vi-VN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endParaRPr lang="en-VN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A2923C1-CC22-F6E3-502A-28053E462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0805" y="2422277"/>
                <a:ext cx="1459281" cy="646331"/>
              </a:xfrm>
              <a:prstGeom prst="rect">
                <a:avLst/>
              </a:prstGeom>
              <a:blipFill>
                <a:blip r:embed="rId5"/>
                <a:stretch>
                  <a:fillRect l="-3448" t="-3846" b="-1538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CEB05426-CBBC-3CBF-D052-9B4A3A46CA2E}"/>
              </a:ext>
            </a:extLst>
          </p:cNvPr>
          <p:cNvCxnSpPr>
            <a:cxnSpLocks/>
            <a:stCxn id="21" idx="3"/>
            <a:endCxn id="22" idx="0"/>
          </p:cNvCxnSpPr>
          <p:nvPr/>
        </p:nvCxnSpPr>
        <p:spPr>
          <a:xfrm>
            <a:off x="2517485" y="2038865"/>
            <a:ext cx="842961" cy="383412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5F34DA41-8A0D-D87F-A154-BA7318E51A08}"/>
              </a:ext>
            </a:extLst>
          </p:cNvPr>
          <p:cNvSpPr/>
          <p:nvPr/>
        </p:nvSpPr>
        <p:spPr>
          <a:xfrm>
            <a:off x="849842" y="2579838"/>
            <a:ext cx="1679285" cy="88968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BCD524B-C757-BC90-1FFE-1068A2032213}"/>
                  </a:ext>
                </a:extLst>
              </p:cNvPr>
              <p:cNvSpPr txBox="1"/>
              <p:nvPr/>
            </p:nvSpPr>
            <p:spPr>
              <a:xfrm>
                <a:off x="564332" y="3687130"/>
                <a:ext cx="1742302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VN">
                    <a:solidFill>
                      <a:srgbClr val="00B050"/>
                    </a:solidFill>
                  </a:rPr>
                  <a:t>Flip target if control is </a:t>
                </a:r>
                <a14:m>
                  <m:oMath xmlns:m="http://schemas.openxmlformats.org/officeDocument/2006/math">
                    <m:r>
                      <a:rPr lang="vi-VN" b="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endParaRPr lang="en-VN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BCD524B-C757-BC90-1FFE-1068A2032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332" y="3687130"/>
                <a:ext cx="1742302" cy="646331"/>
              </a:xfrm>
              <a:prstGeom prst="rect">
                <a:avLst/>
              </a:prstGeom>
              <a:blipFill>
                <a:blip r:embed="rId6"/>
                <a:stretch>
                  <a:fillRect l="-2899" t="-3846" b="-134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D2633142-CDB3-674E-0D4F-EFF5CE542408}"/>
              </a:ext>
            </a:extLst>
          </p:cNvPr>
          <p:cNvCxnSpPr>
            <a:cxnSpLocks/>
            <a:stCxn id="26" idx="1"/>
            <a:endCxn id="27" idx="1"/>
          </p:cNvCxnSpPr>
          <p:nvPr/>
        </p:nvCxnSpPr>
        <p:spPr>
          <a:xfrm rot="10800000" flipV="1">
            <a:off x="564332" y="3024680"/>
            <a:ext cx="285510" cy="985615"/>
          </a:xfrm>
          <a:prstGeom prst="curvedConnector3">
            <a:avLst>
              <a:gd name="adj1" fmla="val 145443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DFAD3370-3F2B-9640-0713-956568A5FF2D}"/>
              </a:ext>
            </a:extLst>
          </p:cNvPr>
          <p:cNvCxnSpPr>
            <a:cxnSpLocks/>
            <a:stCxn id="22" idx="2"/>
            <a:endCxn id="20" idx="1"/>
          </p:cNvCxnSpPr>
          <p:nvPr/>
        </p:nvCxnSpPr>
        <p:spPr>
          <a:xfrm rot="5400000" flipH="1" flipV="1">
            <a:off x="3758820" y="2201487"/>
            <a:ext cx="468746" cy="1265495"/>
          </a:xfrm>
          <a:prstGeom prst="curvedConnector4">
            <a:avLst>
              <a:gd name="adj1" fmla="val -48768"/>
              <a:gd name="adj2" fmla="val 7882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01C47580-F5A1-AB4B-0C59-4F6A7A2118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717257"/>
              </p:ext>
            </p:extLst>
          </p:nvPr>
        </p:nvGraphicFramePr>
        <p:xfrm>
          <a:off x="4625941" y="4539096"/>
          <a:ext cx="7236548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7855">
                  <a:extLst>
                    <a:ext uri="{9D8B030D-6E8A-4147-A177-3AD203B41FA5}">
                      <a16:colId xmlns:a16="http://schemas.microsoft.com/office/drawing/2014/main" val="1401356232"/>
                    </a:ext>
                  </a:extLst>
                </a:gridCol>
                <a:gridCol w="1977081">
                  <a:extLst>
                    <a:ext uri="{9D8B030D-6E8A-4147-A177-3AD203B41FA5}">
                      <a16:colId xmlns:a16="http://schemas.microsoft.com/office/drawing/2014/main" val="4242532352"/>
                    </a:ext>
                  </a:extLst>
                </a:gridCol>
                <a:gridCol w="1940010">
                  <a:extLst>
                    <a:ext uri="{9D8B030D-6E8A-4147-A177-3AD203B41FA5}">
                      <a16:colId xmlns:a16="http://schemas.microsoft.com/office/drawing/2014/main" val="4271350536"/>
                    </a:ext>
                  </a:extLst>
                </a:gridCol>
                <a:gridCol w="1371602">
                  <a:extLst>
                    <a:ext uri="{9D8B030D-6E8A-4147-A177-3AD203B41FA5}">
                      <a16:colId xmlns:a16="http://schemas.microsoft.com/office/drawing/2014/main" val="26857367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VN" sz="2400" b="1"/>
                        <a:t>1st Control qubit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VN" sz="2400" b="1"/>
                        <a:t>2nd Control qubit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2400" b="1"/>
                        <a:t> Target qubit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2400" b="1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03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VN" sz="240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240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240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240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5267248"/>
                  </a:ext>
                </a:extLst>
              </a:tr>
            </a:tbl>
          </a:graphicData>
        </a:graphic>
      </p:graphicFrame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AFC4C96-2A51-BFE6-703B-F50D2CB9C235}"/>
              </a:ext>
            </a:extLst>
          </p:cNvPr>
          <p:cNvCxnSpPr/>
          <p:nvPr/>
        </p:nvCxnSpPr>
        <p:spPr>
          <a:xfrm>
            <a:off x="981127" y="4802394"/>
            <a:ext cx="14400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5F8F4E0-2F3C-B70F-C6BA-2D143B1787AE}"/>
              </a:ext>
            </a:extLst>
          </p:cNvPr>
          <p:cNvCxnSpPr/>
          <p:nvPr/>
        </p:nvCxnSpPr>
        <p:spPr>
          <a:xfrm>
            <a:off x="981127" y="5274283"/>
            <a:ext cx="14400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B6A3A77C-C2F6-5C6F-649C-3ED17816705A}"/>
              </a:ext>
            </a:extLst>
          </p:cNvPr>
          <p:cNvSpPr>
            <a:spLocks noChangeAspect="1"/>
          </p:cNvSpPr>
          <p:nvPr/>
        </p:nvSpPr>
        <p:spPr>
          <a:xfrm>
            <a:off x="1576037" y="4701561"/>
            <a:ext cx="216000" cy="20166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55475BF-C466-95CC-3E75-654186F80642}"/>
                  </a:ext>
                </a:extLst>
              </p:cNvPr>
              <p:cNvSpPr txBox="1"/>
              <p:nvPr/>
            </p:nvSpPr>
            <p:spPr>
              <a:xfrm>
                <a:off x="1447125" y="5489005"/>
                <a:ext cx="42631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3200" b="0" i="1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VN" sz="320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55475BF-C466-95CC-3E75-654186F80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125" y="5489005"/>
                <a:ext cx="426319" cy="584775"/>
              </a:xfrm>
              <a:prstGeom prst="rect">
                <a:avLst/>
              </a:prstGeom>
              <a:blipFill>
                <a:blip r:embed="rId7"/>
                <a:stretch>
                  <a:fillRect l="-5714" r="-1714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63D1925-7EBB-F73C-9A15-705C98853B39}"/>
              </a:ext>
            </a:extLst>
          </p:cNvPr>
          <p:cNvCxnSpPr>
            <a:cxnSpLocks/>
            <a:endCxn id="44" idx="4"/>
          </p:cNvCxnSpPr>
          <p:nvPr/>
        </p:nvCxnSpPr>
        <p:spPr>
          <a:xfrm flipV="1">
            <a:off x="1684037" y="4903226"/>
            <a:ext cx="0" cy="91603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C068E2E4-BBF6-F9A1-212F-D51439B8C57A}"/>
              </a:ext>
            </a:extLst>
          </p:cNvPr>
          <p:cNvSpPr/>
          <p:nvPr/>
        </p:nvSpPr>
        <p:spPr>
          <a:xfrm>
            <a:off x="849842" y="4567616"/>
            <a:ext cx="1679285" cy="15366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48" name="Curved Connector 47">
            <a:extLst>
              <a:ext uri="{FF2B5EF4-FFF2-40B4-BE49-F238E27FC236}">
                <a16:creationId xmlns:a16="http://schemas.microsoft.com/office/drawing/2014/main" id="{A5A16D0C-6508-73B7-6CB1-C47FC789B044}"/>
              </a:ext>
            </a:extLst>
          </p:cNvPr>
          <p:cNvCxnSpPr>
            <a:cxnSpLocks/>
            <a:stCxn id="47" idx="3"/>
            <a:endCxn id="41" idx="1"/>
          </p:cNvCxnSpPr>
          <p:nvPr/>
        </p:nvCxnSpPr>
        <p:spPr>
          <a:xfrm flipV="1">
            <a:off x="2529127" y="5179176"/>
            <a:ext cx="2096814" cy="156751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A752C97-542A-E7EA-E56A-62BAE6BC0B6A}"/>
              </a:ext>
            </a:extLst>
          </p:cNvPr>
          <p:cNvCxnSpPr/>
          <p:nvPr/>
        </p:nvCxnSpPr>
        <p:spPr>
          <a:xfrm>
            <a:off x="981127" y="5808966"/>
            <a:ext cx="14400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4342D089-2D4B-ACE9-EE02-04BE54737FAB}"/>
              </a:ext>
            </a:extLst>
          </p:cNvPr>
          <p:cNvSpPr>
            <a:spLocks noChangeAspect="1"/>
          </p:cNvSpPr>
          <p:nvPr/>
        </p:nvSpPr>
        <p:spPr>
          <a:xfrm>
            <a:off x="1580153" y="5187595"/>
            <a:ext cx="216000" cy="20166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59773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E910018-B6F5-47A1-A7C1-F7553D199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Basis</a:t>
            </a:r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A446B301-A728-44B8-8D64-C451117054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5"/>
                <a:ext cx="5257800" cy="223464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/>
                  <a:t> have no effect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|0⟩</m:t>
                    </m:r>
                  </m:oMath>
                </a14:m>
                <a:r>
                  <a:rPr lang="en-US"/>
                  <a:t> &amp;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|0⟩⟨0|−|1⟩⟨1|</m:t>
                        </m:r>
                        <m:r>
                          <m:rPr>
                            <m:nor/>
                          </m:rPr>
                          <a:rPr lang="en-US"/>
                          <m:t> </m:t>
                        </m:r>
                      </m:e>
                    </m:d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=|0⟩</m:t>
                    </m:r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|0⟩⟨0|−|1⟩⟨1|</m:t>
                        </m:r>
                        <m:r>
                          <m:rPr>
                            <m:nor/>
                          </m:rPr>
                          <a:rPr lang="en-US"/>
                          <m:t> </m:t>
                        </m:r>
                      </m:e>
                    </m:d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=−|1⟩</m:t>
                    </m:r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:r>
                  <a:rPr lang="en-US"/>
                  <a:t>This is called the Z-basis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,|1⟩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A446B301-A728-44B8-8D64-C451117054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5"/>
                <a:ext cx="5257800" cy="2234642"/>
              </a:xfrm>
              <a:blipFill>
                <a:blip r:embed="rId2"/>
                <a:stretch>
                  <a:fillRect l="-2410" t="-452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739FE2D-B1C2-4189-BA6C-5E6841426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7</a:t>
            </a:fld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hỗ dành sẵn cho Nội dung 2">
                <a:extLst>
                  <a:ext uri="{FF2B5EF4-FFF2-40B4-BE49-F238E27FC236}">
                    <a16:creationId xmlns:a16="http://schemas.microsoft.com/office/drawing/2014/main" id="{286DDB95-BBD5-AD68-0A4D-EF0573FEE8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4060268"/>
                <a:ext cx="5257799" cy="2234642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>
                    <a:solidFill>
                      <a:srgbClr val="FF0000"/>
                    </a:solidFill>
                  </a:rPr>
                  <a:t>X-basis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</m:d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,|−⟩</m:t>
                        </m:r>
                      </m:e>
                    </m:d>
                  </m:oMath>
                </a14:m>
                <a:endParaRPr lang="en-US">
                  <a:solidFill>
                    <a:srgbClr val="FF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>
                    <a:solidFill>
                      <a:srgbClr val="FF0000"/>
                    </a:solidFill>
                    <a:latin typeface="Calibri (Thân)"/>
                  </a:rPr>
                  <a:t>Y-basis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↺⟩</m:t>
                        </m:r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,|</m:t>
                        </m:r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↻</m:t>
                        </m:r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d>
                  </m:oMath>
                </a14:m>
                <a:endParaRPr lang="en-US">
                  <a:solidFill>
                    <a:srgbClr val="FF0000"/>
                  </a:solidFill>
                  <a:latin typeface="Calibri (Thân)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>
                    <a:solidFill>
                      <a:srgbClr val="FF0000"/>
                    </a:solidFill>
                    <a:latin typeface="Calibri (Thân)"/>
                  </a:rPr>
                  <a:t>There are in fact an infinite number of bases; we simply need Z and X.</a:t>
                </a:r>
              </a:p>
            </p:txBody>
          </p:sp>
        </mc:Choice>
        <mc:Fallback>
          <p:sp>
            <p:nvSpPr>
              <p:cNvPr id="5" name="Chỗ dành sẵn cho Nội dung 2">
                <a:extLst>
                  <a:ext uri="{FF2B5EF4-FFF2-40B4-BE49-F238E27FC236}">
                    <a16:creationId xmlns:a16="http://schemas.microsoft.com/office/drawing/2014/main" id="{286DDB95-BBD5-AD68-0A4D-EF0573FEE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060268"/>
                <a:ext cx="5257799" cy="2234642"/>
              </a:xfrm>
              <a:prstGeom prst="rect">
                <a:avLst/>
              </a:prstGeom>
              <a:blipFill>
                <a:blip r:embed="rId3"/>
                <a:stretch>
                  <a:fillRect l="-2163" t="-618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Đường kết nối Mũi tên Thẳng 5">
            <a:extLst>
              <a:ext uri="{FF2B5EF4-FFF2-40B4-BE49-F238E27FC236}">
                <a16:creationId xmlns:a16="http://schemas.microsoft.com/office/drawing/2014/main" id="{6273657E-9D8A-2758-A018-CA86E0BC13D7}"/>
              </a:ext>
            </a:extLst>
          </p:cNvPr>
          <p:cNvCxnSpPr>
            <a:cxnSpLocks/>
          </p:cNvCxnSpPr>
          <p:nvPr/>
        </p:nvCxnSpPr>
        <p:spPr>
          <a:xfrm flipV="1">
            <a:off x="6095999" y="1174220"/>
            <a:ext cx="0" cy="2556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Đường kết nối Mũi tên Thẳng 6">
            <a:extLst>
              <a:ext uri="{FF2B5EF4-FFF2-40B4-BE49-F238E27FC236}">
                <a16:creationId xmlns:a16="http://schemas.microsoft.com/office/drawing/2014/main" id="{8E664E9C-E04E-5F36-FC08-56BDB021BE2C}"/>
              </a:ext>
            </a:extLst>
          </p:cNvPr>
          <p:cNvCxnSpPr>
            <a:cxnSpLocks/>
          </p:cNvCxnSpPr>
          <p:nvPr/>
        </p:nvCxnSpPr>
        <p:spPr>
          <a:xfrm>
            <a:off x="6096000" y="3730220"/>
            <a:ext cx="1620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Hộp Văn bản 11">
                <a:extLst>
                  <a:ext uri="{FF2B5EF4-FFF2-40B4-BE49-F238E27FC236}">
                    <a16:creationId xmlns:a16="http://schemas.microsoft.com/office/drawing/2014/main" id="{FF2AFD64-6D3E-C3E7-036F-E08C0B01DE07}"/>
                  </a:ext>
                </a:extLst>
              </p:cNvPr>
              <p:cNvSpPr txBox="1"/>
              <p:nvPr/>
            </p:nvSpPr>
            <p:spPr>
              <a:xfrm>
                <a:off x="7426174" y="3534820"/>
                <a:ext cx="10187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|0⟩</m:t>
                      </m:r>
                    </m:oMath>
                  </m:oMathPara>
                </a14:m>
                <a:endParaRPr lang="vi-VN"/>
              </a:p>
            </p:txBody>
          </p:sp>
        </mc:Choice>
        <mc:Fallback>
          <p:sp>
            <p:nvSpPr>
              <p:cNvPr id="9" name="Hộp Văn bản 11">
                <a:extLst>
                  <a:ext uri="{FF2B5EF4-FFF2-40B4-BE49-F238E27FC236}">
                    <a16:creationId xmlns:a16="http://schemas.microsoft.com/office/drawing/2014/main" id="{FF2AFD64-6D3E-C3E7-036F-E08C0B01D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6174" y="3534820"/>
                <a:ext cx="1018735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Hộp Văn bản 12">
                <a:extLst>
                  <a:ext uri="{FF2B5EF4-FFF2-40B4-BE49-F238E27FC236}">
                    <a16:creationId xmlns:a16="http://schemas.microsoft.com/office/drawing/2014/main" id="{4583D631-1657-5446-3E5B-0259C915B2F2}"/>
                  </a:ext>
                </a:extLst>
              </p:cNvPr>
              <p:cNvSpPr txBox="1"/>
              <p:nvPr/>
            </p:nvSpPr>
            <p:spPr>
              <a:xfrm>
                <a:off x="5869264" y="1051746"/>
                <a:ext cx="10187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|1⟩</m:t>
                      </m:r>
                    </m:oMath>
                  </m:oMathPara>
                </a14:m>
                <a:endParaRPr lang="vi-VN"/>
              </a:p>
            </p:txBody>
          </p:sp>
        </mc:Choice>
        <mc:Fallback>
          <p:sp>
            <p:nvSpPr>
              <p:cNvPr id="10" name="Hộp Văn bản 12">
                <a:extLst>
                  <a:ext uri="{FF2B5EF4-FFF2-40B4-BE49-F238E27FC236}">
                    <a16:creationId xmlns:a16="http://schemas.microsoft.com/office/drawing/2014/main" id="{4583D631-1657-5446-3E5B-0259C915B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9264" y="1051746"/>
                <a:ext cx="1018735" cy="369332"/>
              </a:xfrm>
              <a:prstGeom prst="rect">
                <a:avLst/>
              </a:prstGeom>
              <a:blipFill>
                <a:blip r:embed="rId5"/>
                <a:stretch>
                  <a:fillRect b="-2069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Đường kết nối Mũi tên Thẳng 13">
            <a:extLst>
              <a:ext uri="{FF2B5EF4-FFF2-40B4-BE49-F238E27FC236}">
                <a16:creationId xmlns:a16="http://schemas.microsoft.com/office/drawing/2014/main" id="{FF20A4D7-78D7-C936-4109-E02715F93110}"/>
              </a:ext>
            </a:extLst>
          </p:cNvPr>
          <p:cNvCxnSpPr>
            <a:cxnSpLocks/>
          </p:cNvCxnSpPr>
          <p:nvPr/>
        </p:nvCxnSpPr>
        <p:spPr>
          <a:xfrm flipV="1">
            <a:off x="6095999" y="2400386"/>
            <a:ext cx="1584000" cy="1347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Hộp Văn bản 16">
                <a:extLst>
                  <a:ext uri="{FF2B5EF4-FFF2-40B4-BE49-F238E27FC236}">
                    <a16:creationId xmlns:a16="http://schemas.microsoft.com/office/drawing/2014/main" id="{6E71F16E-DA5D-119D-5E5D-5B1F2AE9027C}"/>
                  </a:ext>
                </a:extLst>
              </p:cNvPr>
              <p:cNvSpPr txBox="1"/>
              <p:nvPr/>
            </p:nvSpPr>
            <p:spPr>
              <a:xfrm>
                <a:off x="7401460" y="2002920"/>
                <a:ext cx="10187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vi-VN"/>
              </a:p>
            </p:txBody>
          </p:sp>
        </mc:Choice>
        <mc:Fallback>
          <p:sp>
            <p:nvSpPr>
              <p:cNvPr id="12" name="Hộp Văn bản 16">
                <a:extLst>
                  <a:ext uri="{FF2B5EF4-FFF2-40B4-BE49-F238E27FC236}">
                    <a16:creationId xmlns:a16="http://schemas.microsoft.com/office/drawing/2014/main" id="{6E71F16E-DA5D-119D-5E5D-5B1F2AE902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460" y="2002920"/>
                <a:ext cx="1018735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Đường nối Thẳng 18">
            <a:extLst>
              <a:ext uri="{FF2B5EF4-FFF2-40B4-BE49-F238E27FC236}">
                <a16:creationId xmlns:a16="http://schemas.microsoft.com/office/drawing/2014/main" id="{14832C89-2A9B-05F2-AEFE-56212EBEA7FF}"/>
              </a:ext>
            </a:extLst>
          </p:cNvPr>
          <p:cNvCxnSpPr>
            <a:cxnSpLocks/>
          </p:cNvCxnSpPr>
          <p:nvPr/>
        </p:nvCxnSpPr>
        <p:spPr>
          <a:xfrm>
            <a:off x="7682881" y="2376083"/>
            <a:ext cx="33119" cy="1354137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Đường nối Thẳng 19">
            <a:extLst>
              <a:ext uri="{FF2B5EF4-FFF2-40B4-BE49-F238E27FC236}">
                <a16:creationId xmlns:a16="http://schemas.microsoft.com/office/drawing/2014/main" id="{F859782A-C52A-8953-A523-263687D6852E}"/>
              </a:ext>
            </a:extLst>
          </p:cNvPr>
          <p:cNvCxnSpPr>
            <a:cxnSpLocks/>
          </p:cNvCxnSpPr>
          <p:nvPr/>
        </p:nvCxnSpPr>
        <p:spPr>
          <a:xfrm flipH="1">
            <a:off x="6095999" y="2376083"/>
            <a:ext cx="1584000" cy="0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Hộp Văn bản 24">
                <a:extLst>
                  <a:ext uri="{FF2B5EF4-FFF2-40B4-BE49-F238E27FC236}">
                    <a16:creationId xmlns:a16="http://schemas.microsoft.com/office/drawing/2014/main" id="{52D83173-AFA1-5F92-104D-340EDEB698A6}"/>
                  </a:ext>
                </a:extLst>
              </p:cNvPr>
              <p:cNvSpPr txBox="1"/>
              <p:nvPr/>
            </p:nvSpPr>
            <p:spPr>
              <a:xfrm>
                <a:off x="7631787" y="2892666"/>
                <a:ext cx="7487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vi-VN"/>
              </a:p>
            </p:txBody>
          </p:sp>
        </mc:Choice>
        <mc:Fallback>
          <p:sp>
            <p:nvSpPr>
              <p:cNvPr id="15" name="Hộp Văn bản 24">
                <a:extLst>
                  <a:ext uri="{FF2B5EF4-FFF2-40B4-BE49-F238E27FC236}">
                    <a16:creationId xmlns:a16="http://schemas.microsoft.com/office/drawing/2014/main" id="{52D83173-AFA1-5F92-104D-340EDEB69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1787" y="2892666"/>
                <a:ext cx="74871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Hộp Văn bản 25">
                <a:extLst>
                  <a:ext uri="{FF2B5EF4-FFF2-40B4-BE49-F238E27FC236}">
                    <a16:creationId xmlns:a16="http://schemas.microsoft.com/office/drawing/2014/main" id="{D3184756-97F7-0CEA-3DB7-FC9BE81A724C}"/>
                  </a:ext>
                </a:extLst>
              </p:cNvPr>
              <p:cNvSpPr txBox="1"/>
              <p:nvPr/>
            </p:nvSpPr>
            <p:spPr>
              <a:xfrm>
                <a:off x="6629058" y="1947670"/>
                <a:ext cx="7487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vi-VN"/>
              </a:p>
            </p:txBody>
          </p:sp>
        </mc:Choice>
        <mc:Fallback>
          <p:sp>
            <p:nvSpPr>
              <p:cNvPr id="16" name="Hộp Văn bản 25">
                <a:extLst>
                  <a:ext uri="{FF2B5EF4-FFF2-40B4-BE49-F238E27FC236}">
                    <a16:creationId xmlns:a16="http://schemas.microsoft.com/office/drawing/2014/main" id="{D3184756-97F7-0CEA-3DB7-FC9BE81A7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058" y="1947670"/>
                <a:ext cx="748713" cy="369332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Đường kết nối Mũi tên Thẳng 26">
            <a:extLst>
              <a:ext uri="{FF2B5EF4-FFF2-40B4-BE49-F238E27FC236}">
                <a16:creationId xmlns:a16="http://schemas.microsoft.com/office/drawing/2014/main" id="{54CAF757-3925-240C-AE24-9B4CAD53FEB3}"/>
              </a:ext>
            </a:extLst>
          </p:cNvPr>
          <p:cNvCxnSpPr>
            <a:cxnSpLocks/>
          </p:cNvCxnSpPr>
          <p:nvPr/>
        </p:nvCxnSpPr>
        <p:spPr>
          <a:xfrm flipV="1">
            <a:off x="9047610" y="1203683"/>
            <a:ext cx="2419253" cy="25265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Đường kết nối Mũi tên Thẳng 27">
            <a:extLst>
              <a:ext uri="{FF2B5EF4-FFF2-40B4-BE49-F238E27FC236}">
                <a16:creationId xmlns:a16="http://schemas.microsoft.com/office/drawing/2014/main" id="{A2B05BBF-2BEC-181B-47C5-D555742AA083}"/>
              </a:ext>
            </a:extLst>
          </p:cNvPr>
          <p:cNvCxnSpPr>
            <a:cxnSpLocks/>
          </p:cNvCxnSpPr>
          <p:nvPr/>
        </p:nvCxnSpPr>
        <p:spPr>
          <a:xfrm>
            <a:off x="9047610" y="3730220"/>
            <a:ext cx="1595120" cy="14164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Hộp Văn bản 29">
                <a:extLst>
                  <a:ext uri="{FF2B5EF4-FFF2-40B4-BE49-F238E27FC236}">
                    <a16:creationId xmlns:a16="http://schemas.microsoft.com/office/drawing/2014/main" id="{E91A1580-6D49-949C-1C23-446722DD030B}"/>
                  </a:ext>
                </a:extLst>
              </p:cNvPr>
              <p:cNvSpPr txBox="1"/>
              <p:nvPr/>
            </p:nvSpPr>
            <p:spPr>
              <a:xfrm>
                <a:off x="10484272" y="4854202"/>
                <a:ext cx="7974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</m:oMath>
                  </m:oMathPara>
                </a14:m>
                <a:endParaRPr lang="vi-VN"/>
              </a:p>
            </p:txBody>
          </p:sp>
        </mc:Choice>
        <mc:Fallback>
          <p:sp>
            <p:nvSpPr>
              <p:cNvPr id="22" name="Hộp Văn bản 29">
                <a:extLst>
                  <a:ext uri="{FF2B5EF4-FFF2-40B4-BE49-F238E27FC236}">
                    <a16:creationId xmlns:a16="http://schemas.microsoft.com/office/drawing/2014/main" id="{E91A1580-6D49-949C-1C23-446722DD0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4272" y="4854202"/>
                <a:ext cx="79748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Hộp Văn bản 32">
                <a:extLst>
                  <a:ext uri="{FF2B5EF4-FFF2-40B4-BE49-F238E27FC236}">
                    <a16:creationId xmlns:a16="http://schemas.microsoft.com/office/drawing/2014/main" id="{2278C08F-608E-CA15-1990-B74FFBA9EEB0}"/>
                  </a:ext>
                </a:extLst>
              </p:cNvPr>
              <p:cNvSpPr txBox="1"/>
              <p:nvPr/>
            </p:nvSpPr>
            <p:spPr>
              <a:xfrm>
                <a:off x="10858340" y="2335615"/>
                <a:ext cx="10187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vi-VN"/>
              </a:p>
            </p:txBody>
          </p:sp>
        </mc:Choice>
        <mc:Fallback>
          <p:sp>
            <p:nvSpPr>
              <p:cNvPr id="23" name="Hộp Văn bản 32">
                <a:extLst>
                  <a:ext uri="{FF2B5EF4-FFF2-40B4-BE49-F238E27FC236}">
                    <a16:creationId xmlns:a16="http://schemas.microsoft.com/office/drawing/2014/main" id="{2278C08F-608E-CA15-1990-B74FFBA9E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8340" y="2335615"/>
                <a:ext cx="1018735" cy="369332"/>
              </a:xfrm>
              <a:prstGeom prst="rect">
                <a:avLst/>
              </a:prstGeom>
              <a:blipFill>
                <a:blip r:embed="rId10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Đường nối Thẳng 33">
            <a:extLst>
              <a:ext uri="{FF2B5EF4-FFF2-40B4-BE49-F238E27FC236}">
                <a16:creationId xmlns:a16="http://schemas.microsoft.com/office/drawing/2014/main" id="{FA3B0324-1400-AFF9-5096-ABA2EE4FA99B}"/>
              </a:ext>
            </a:extLst>
          </p:cNvPr>
          <p:cNvCxnSpPr>
            <a:cxnSpLocks/>
          </p:cNvCxnSpPr>
          <p:nvPr/>
        </p:nvCxnSpPr>
        <p:spPr>
          <a:xfrm flipH="1">
            <a:off x="9459481" y="2452258"/>
            <a:ext cx="1491860" cy="165624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Đường nối Thẳng 34">
            <a:extLst>
              <a:ext uri="{FF2B5EF4-FFF2-40B4-BE49-F238E27FC236}">
                <a16:creationId xmlns:a16="http://schemas.microsoft.com/office/drawing/2014/main" id="{31602392-B6A6-3982-1C5D-4A2960DC771D}"/>
              </a:ext>
            </a:extLst>
          </p:cNvPr>
          <p:cNvCxnSpPr>
            <a:cxnSpLocks/>
          </p:cNvCxnSpPr>
          <p:nvPr/>
        </p:nvCxnSpPr>
        <p:spPr>
          <a:xfrm flipH="1" flipV="1">
            <a:off x="10622996" y="2127584"/>
            <a:ext cx="328346" cy="282915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Hộp Văn bản 35">
                <a:extLst>
                  <a:ext uri="{FF2B5EF4-FFF2-40B4-BE49-F238E27FC236}">
                    <a16:creationId xmlns:a16="http://schemas.microsoft.com/office/drawing/2014/main" id="{46C5284B-26C8-ABBE-53D9-15FF54C25C55}"/>
                  </a:ext>
                </a:extLst>
              </p:cNvPr>
              <p:cNvSpPr txBox="1"/>
              <p:nvPr/>
            </p:nvSpPr>
            <p:spPr>
              <a:xfrm>
                <a:off x="9693160" y="3970018"/>
                <a:ext cx="7487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vi-VN"/>
              </a:p>
            </p:txBody>
          </p:sp>
        </mc:Choice>
        <mc:Fallback>
          <p:sp>
            <p:nvSpPr>
              <p:cNvPr id="26" name="Hộp Văn bản 35">
                <a:extLst>
                  <a:ext uri="{FF2B5EF4-FFF2-40B4-BE49-F238E27FC236}">
                    <a16:creationId xmlns:a16="http://schemas.microsoft.com/office/drawing/2014/main" id="{46C5284B-26C8-ABBE-53D9-15FF54C25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3160" y="3970018"/>
                <a:ext cx="74871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Hộp Văn bản 36">
                <a:extLst>
                  <a:ext uri="{FF2B5EF4-FFF2-40B4-BE49-F238E27FC236}">
                    <a16:creationId xmlns:a16="http://schemas.microsoft.com/office/drawing/2014/main" id="{A28148DF-805B-CCAE-BBC9-A1DF7542ECB1}"/>
                  </a:ext>
                </a:extLst>
              </p:cNvPr>
              <p:cNvSpPr txBox="1"/>
              <p:nvPr/>
            </p:nvSpPr>
            <p:spPr>
              <a:xfrm>
                <a:off x="9874283" y="1674185"/>
                <a:ext cx="7487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vi-VN"/>
              </a:p>
            </p:txBody>
          </p:sp>
        </mc:Choice>
        <mc:Fallback>
          <p:sp>
            <p:nvSpPr>
              <p:cNvPr id="27" name="Hộp Văn bản 36">
                <a:extLst>
                  <a:ext uri="{FF2B5EF4-FFF2-40B4-BE49-F238E27FC236}">
                    <a16:creationId xmlns:a16="http://schemas.microsoft.com/office/drawing/2014/main" id="{A28148DF-805B-CCAE-BBC9-A1DF7542E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4283" y="1674185"/>
                <a:ext cx="748713" cy="369332"/>
              </a:xfrm>
              <a:prstGeom prst="rect">
                <a:avLst/>
              </a:prstGeom>
              <a:blipFill>
                <a:blip r:embed="rId12"/>
                <a:stretch>
                  <a:fillRect b="-2069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Hộp Văn bản 45">
                <a:extLst>
                  <a:ext uri="{FF2B5EF4-FFF2-40B4-BE49-F238E27FC236}">
                    <a16:creationId xmlns:a16="http://schemas.microsoft.com/office/drawing/2014/main" id="{BF415A64-D744-8B39-8E28-D2A613B6254E}"/>
                  </a:ext>
                </a:extLst>
              </p:cNvPr>
              <p:cNvSpPr txBox="1"/>
              <p:nvPr/>
            </p:nvSpPr>
            <p:spPr>
              <a:xfrm>
                <a:off x="11440337" y="933990"/>
                <a:ext cx="5967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</m:oMath>
                  </m:oMathPara>
                </a14:m>
                <a:endParaRPr lang="vi-VN"/>
              </a:p>
            </p:txBody>
          </p:sp>
        </mc:Choice>
        <mc:Fallback>
          <p:sp>
            <p:nvSpPr>
              <p:cNvPr id="28" name="Hộp Văn bản 45">
                <a:extLst>
                  <a:ext uri="{FF2B5EF4-FFF2-40B4-BE49-F238E27FC236}">
                    <a16:creationId xmlns:a16="http://schemas.microsoft.com/office/drawing/2014/main" id="{BF415A64-D744-8B39-8E28-D2A613B62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0337" y="933990"/>
                <a:ext cx="59670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Đường kết nối Mũi tên Thẳng 50">
            <a:extLst>
              <a:ext uri="{FF2B5EF4-FFF2-40B4-BE49-F238E27FC236}">
                <a16:creationId xmlns:a16="http://schemas.microsoft.com/office/drawing/2014/main" id="{29384F44-F70F-DA4E-9C70-40127A6311DD}"/>
              </a:ext>
            </a:extLst>
          </p:cNvPr>
          <p:cNvCxnSpPr>
            <a:cxnSpLocks/>
          </p:cNvCxnSpPr>
          <p:nvPr/>
        </p:nvCxnSpPr>
        <p:spPr>
          <a:xfrm flipV="1">
            <a:off x="9080727" y="2390034"/>
            <a:ext cx="1936359" cy="137195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F8D52C2-2065-4B10-8DB4-AEBF4E5209D0}"/>
                  </a:ext>
                </a:extLst>
              </p:cNvPr>
              <p:cNvSpPr txBox="1"/>
              <p:nvPr/>
            </p:nvSpPr>
            <p:spPr>
              <a:xfrm>
                <a:off x="8197976" y="3293534"/>
                <a:ext cx="756617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5400" b="0" i="1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VN" sz="540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F8D52C2-2065-4B10-8DB4-AEBF4E520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976" y="3293534"/>
                <a:ext cx="756617" cy="830997"/>
              </a:xfrm>
              <a:prstGeom prst="rect">
                <a:avLst/>
              </a:prstGeom>
              <a:blipFill>
                <a:blip r:embed="rId14"/>
                <a:stretch>
                  <a:fillRect l="-14754" r="-1311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0850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31FC031-721D-46AA-BA9D-54876C434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Quantum Circuit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F35A04D-8C5C-453C-A11B-B6BFA6CCB5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F35A04D-8C5C-453C-A11B-B6BFA6CCB5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675E7085-9858-4FEC-B11D-705607913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8</a:t>
            </a:fld>
            <a:endParaRPr lang="vi-VN"/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794C64BA-5527-46A4-A4E6-B04A931AEE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275" t="56459" r="51960" b="23958"/>
          <a:stretch/>
        </p:blipFill>
        <p:spPr>
          <a:xfrm>
            <a:off x="9758288" y="1690688"/>
            <a:ext cx="1886655" cy="1773457"/>
          </a:xfrm>
          <a:prstGeom prst="rect">
            <a:avLst/>
          </a:prstGeo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1B891959-52A1-4284-B32C-69C42B034C4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061" t="31184" r="52703" b="52410"/>
          <a:stretch/>
        </p:blipFill>
        <p:spPr>
          <a:xfrm>
            <a:off x="9721155" y="4366419"/>
            <a:ext cx="1886466" cy="155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292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3752E-E168-7B54-FC32-D0B808B52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3DF81D7-8CE8-3809-55E9-6347395DF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Quantum circuit: single qubit</a:t>
            </a:r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62500AF-5FE2-008D-80A9-80325A7A68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2683476" cy="109057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⟩"/>
                        <m:ctrlPr>
                          <a:rPr lang="vi-V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vi-V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vi-V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vi-V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 </a:t>
                </a:r>
              </a:p>
            </p:txBody>
          </p:sp>
        </mc:Choice>
        <mc:Fallback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62500AF-5FE2-008D-80A9-80325A7A68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2683476" cy="1090570"/>
              </a:xfrm>
              <a:blipFill>
                <a:blip r:embed="rId2"/>
                <a:stretch>
                  <a:fillRect t="-11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40EBCA74-4A76-29DA-69EB-D5D934178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9</a:t>
            </a:fld>
            <a:endParaRPr lang="vi-V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6629E42-ED1E-37E2-9B30-37B1DCF297A9}"/>
              </a:ext>
            </a:extLst>
          </p:cNvPr>
          <p:cNvCxnSpPr/>
          <p:nvPr/>
        </p:nvCxnSpPr>
        <p:spPr>
          <a:xfrm>
            <a:off x="4720282" y="1940009"/>
            <a:ext cx="236014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ED308C9-DE58-2EC0-434B-147CFD80FDE0}"/>
              </a:ext>
            </a:extLst>
          </p:cNvPr>
          <p:cNvSpPr/>
          <p:nvPr/>
        </p:nvSpPr>
        <p:spPr>
          <a:xfrm>
            <a:off x="3882082" y="1690688"/>
            <a:ext cx="3494902" cy="5480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hỗ dành sẵn cho Nội dung 2">
                <a:extLst>
                  <a:ext uri="{FF2B5EF4-FFF2-40B4-BE49-F238E27FC236}">
                    <a16:creationId xmlns:a16="http://schemas.microsoft.com/office/drawing/2014/main" id="{4462BCC4-C9BA-3884-E9BC-8C5E375F15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82082" y="1718059"/>
                <a:ext cx="850557" cy="54275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9" name="Chỗ dành sẵn cho Nội dung 2">
                <a:extLst>
                  <a:ext uri="{FF2B5EF4-FFF2-40B4-BE49-F238E27FC236}">
                    <a16:creationId xmlns:a16="http://schemas.microsoft.com/office/drawing/2014/main" id="{4462BCC4-C9BA-3884-E9BC-8C5E375F1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2082" y="1718059"/>
                <a:ext cx="850557" cy="5427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24F045-6900-F769-BDEF-0AF0FB061E90}"/>
              </a:ext>
            </a:extLst>
          </p:cNvPr>
          <p:cNvCxnSpPr/>
          <p:nvPr/>
        </p:nvCxnSpPr>
        <p:spPr>
          <a:xfrm>
            <a:off x="4707925" y="2510133"/>
            <a:ext cx="236014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hỗ dành sẵn cho Nội dung 2">
                <a:extLst>
                  <a:ext uri="{FF2B5EF4-FFF2-40B4-BE49-F238E27FC236}">
                    <a16:creationId xmlns:a16="http://schemas.microsoft.com/office/drawing/2014/main" id="{91D1B180-B3D9-A16E-9417-7935757374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69725" y="2288183"/>
                <a:ext cx="850557" cy="54275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vi-VN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>
          <p:sp>
            <p:nvSpPr>
              <p:cNvPr id="12" name="Chỗ dành sẵn cho Nội dung 2">
                <a:extLst>
                  <a:ext uri="{FF2B5EF4-FFF2-40B4-BE49-F238E27FC236}">
                    <a16:creationId xmlns:a16="http://schemas.microsoft.com/office/drawing/2014/main" id="{91D1B180-B3D9-A16E-9417-793575737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9725" y="2288183"/>
                <a:ext cx="850557" cy="5427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26AEB8AE-E959-9C65-122F-AFB2A922711A}"/>
              </a:ext>
            </a:extLst>
          </p:cNvPr>
          <p:cNvSpPr/>
          <p:nvPr/>
        </p:nvSpPr>
        <p:spPr>
          <a:xfrm>
            <a:off x="3882082" y="2315555"/>
            <a:ext cx="3494902" cy="5153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31645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31FC031-721D-46AA-BA9D-54876C434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4.1. Circuit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F35A04D-8C5C-453C-A11B-B6BFA6CCB5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𝐶𝑁𝑂𝑇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F35A04D-8C5C-453C-A11B-B6BFA6CCB5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675E7085-9858-4FEC-B11D-705607913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10</a:t>
            </a:fld>
            <a:endParaRPr lang="vi-VN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7E55F622-C3DC-4A0F-9729-94D7D8237C3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756" t="50000" r="52587" b="33949"/>
          <a:stretch/>
        </p:blipFill>
        <p:spPr>
          <a:xfrm>
            <a:off x="9383151" y="2134772"/>
            <a:ext cx="1970649" cy="167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723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31FC031-721D-46AA-BA9D-54876C434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4.1. Circuit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F35A04D-8C5C-453C-A11B-B6BFA6CCB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What the output of this circuit?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675E7085-9858-4FEC-B11D-705607913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11</a:t>
            </a:fld>
            <a:endParaRPr lang="vi-VN"/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A3DE708F-D2FF-44CE-B742-D518FEBCCF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640" t="56000" r="47606" b="25538"/>
          <a:stretch/>
        </p:blipFill>
        <p:spPr>
          <a:xfrm>
            <a:off x="7808740" y="2387990"/>
            <a:ext cx="3545060" cy="234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901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31FC031-721D-46AA-BA9D-54876C434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Entangled states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F35A04D-8C5C-453C-A11B-B6BFA6CCB5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We can write down a state as the tensor product of the qubits.</a:t>
                </a:r>
              </a:p>
              <a:p>
                <a:pPr marL="0" indent="0">
                  <a:buNone/>
                </a:pPr>
                <a:r>
                  <a:rPr lang="en-US"/>
                  <a:t>Example: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⊗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|10⟩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F35A04D-8C5C-453C-A11B-B6BFA6CCB5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675E7085-9858-4FEC-B11D-705607913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12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06633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90E79AB-B32B-4444-BA6E-C65E58181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4.2. Entangled States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6BDCE80D-1EA9-494F-82BC-92D0CB6769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We saw in the previous section we could create the state: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+|11⟩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This is known as a Bell state, 50% probability of being measured in the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/>
                  <a:t> 50% probability of being measured in the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6BDCE80D-1EA9-494F-82BC-92D0CB6769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791E5B2A-5D44-4DC5-BACF-CC03F042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13</a:t>
            </a:fld>
            <a:endParaRPr lang="vi-VN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A91C252-0CE4-E77C-588A-5CE62283AC5D}"/>
              </a:ext>
            </a:extLst>
          </p:cNvPr>
          <p:cNvGrpSpPr/>
          <p:nvPr/>
        </p:nvGrpSpPr>
        <p:grpSpPr>
          <a:xfrm>
            <a:off x="7233480" y="2959022"/>
            <a:ext cx="226080" cy="29160"/>
            <a:chOff x="7233480" y="2959022"/>
            <a:chExt cx="226080" cy="2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61965CB-873B-0936-BB33-F0B016383477}"/>
                    </a:ext>
                  </a:extLst>
                </p14:cNvPr>
                <p14:cNvContentPartPr/>
                <p14:nvPr/>
              </p14:nvContentPartPr>
              <p14:xfrm>
                <a:off x="7233480" y="2971262"/>
                <a:ext cx="3240" cy="16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61965CB-873B-0936-BB33-F0B01638347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224840" y="2962262"/>
                  <a:ext cx="208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9C8F0BB-F97E-6D42-8B14-C20AC6C71B40}"/>
                    </a:ext>
                  </a:extLst>
                </p14:cNvPr>
                <p14:cNvContentPartPr/>
                <p14:nvPr/>
              </p14:nvContentPartPr>
              <p14:xfrm>
                <a:off x="7459200" y="2959022"/>
                <a:ext cx="360" cy="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9C8F0BB-F97E-6D42-8B14-C20AC6C71B4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450200" y="295038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A7A185D-7E33-DB09-CEBB-7B54DDE2A31A}"/>
                  </a:ext>
                </a:extLst>
              </p14:cNvPr>
              <p14:cNvContentPartPr/>
              <p14:nvPr/>
            </p14:nvContentPartPr>
            <p14:xfrm>
              <a:off x="7091280" y="4130462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A7A185D-7E33-DB09-CEBB-7B54DDE2A31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82640" y="4121462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6183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8EDC767-5F07-41EC-848E-C95263AB2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4.2. Entangled state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AF7846C-68F0-40EC-9A02-7DF3CF2BC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If we measured the first qubit, what are the value of the second qubit?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It’s also called as “spooky action at a distance” or EPR paradox.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522AA30B-B3BC-4698-991F-C646590A5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14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89518014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6452</TotalTime>
  <Words>642</Words>
  <Application>Microsoft Macintosh PowerPoint</Application>
  <PresentationFormat>Widescreen</PresentationFormat>
  <Paragraphs>144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 (Thân)</vt:lpstr>
      <vt:lpstr>Cambria Math</vt:lpstr>
      <vt:lpstr>Times New Roman</vt:lpstr>
      <vt:lpstr>Chủ đề Office</vt:lpstr>
      <vt:lpstr>Single qubit gate</vt:lpstr>
      <vt:lpstr>Single qubit gate: properties</vt:lpstr>
      <vt:lpstr>Single qubit gate: phase gate</vt:lpstr>
      <vt:lpstr>Single qubit gate: Parameterized gate </vt:lpstr>
      <vt:lpstr>Single qubit gate: universe (U) gate</vt:lpstr>
      <vt:lpstr>Multi-qubit gate: Control-Not (CX) gate</vt:lpstr>
      <vt:lpstr>Basis</vt:lpstr>
      <vt:lpstr>Quantum Circuit</vt:lpstr>
      <vt:lpstr>Quantum circuit: single qubit</vt:lpstr>
      <vt:lpstr>4.1. Circuit</vt:lpstr>
      <vt:lpstr>4.1. Circuit</vt:lpstr>
      <vt:lpstr>4. Entangled states</vt:lpstr>
      <vt:lpstr>4.2. Entangled States</vt:lpstr>
      <vt:lpstr>4.2. Entangled state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computing</dc:title>
  <dc:creator>Tuan Hai</dc:creator>
  <cp:lastModifiedBy>Nguyễn Thị Lê Thủy</cp:lastModifiedBy>
  <cp:revision>62</cp:revision>
  <dcterms:created xsi:type="dcterms:W3CDTF">2021-10-22T13:04:24Z</dcterms:created>
  <dcterms:modified xsi:type="dcterms:W3CDTF">2026-01-19T05:55:46Z</dcterms:modified>
</cp:coreProperties>
</file>