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309" r:id="rId2"/>
    <p:sldId id="307" r:id="rId3"/>
    <p:sldId id="310" r:id="rId4"/>
    <p:sldId id="31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12" r:id="rId17"/>
    <p:sldId id="272" r:id="rId18"/>
    <p:sldId id="313" r:id="rId19"/>
    <p:sldId id="314" r:id="rId20"/>
    <p:sldId id="315" r:id="rId21"/>
    <p:sldId id="316" r:id="rId22"/>
    <p:sldId id="317" r:id="rId23"/>
    <p:sldId id="318" r:id="rId24"/>
    <p:sldId id="279" r:id="rId25"/>
    <p:sldId id="319" r:id="rId26"/>
    <p:sldId id="320" r:id="rId27"/>
    <p:sldId id="282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8" r:id="rId37"/>
    <p:sldId id="283" r:id="rId38"/>
    <p:sldId id="321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70" r:id="rId52"/>
    <p:sldId id="268" r:id="rId53"/>
    <p:sldId id="298" r:id="rId54"/>
    <p:sldId id="256" r:id="rId55"/>
    <p:sldId id="257" r:id="rId56"/>
    <p:sldId id="277" r:id="rId57"/>
    <p:sldId id="276" r:id="rId58"/>
    <p:sldId id="278" r:id="rId59"/>
    <p:sldId id="280" r:id="rId60"/>
    <p:sldId id="258" r:id="rId61"/>
    <p:sldId id="259" r:id="rId62"/>
    <p:sldId id="260" r:id="rId63"/>
    <p:sldId id="261" r:id="rId64"/>
    <p:sldId id="262" r:id="rId65"/>
    <p:sldId id="263" r:id="rId66"/>
    <p:sldId id="264" r:id="rId67"/>
    <p:sldId id="265" r:id="rId68"/>
    <p:sldId id="266" r:id="rId69"/>
    <p:sldId id="267" r:id="rId70"/>
    <p:sldId id="284" r:id="rId71"/>
    <p:sldId id="269" r:id="rId72"/>
    <p:sldId id="273" r:id="rId73"/>
    <p:sldId id="275" r:id="rId74"/>
    <p:sldId id="274" r:id="rId75"/>
    <p:sldId id="285" r:id="rId76"/>
    <p:sldId id="271" r:id="rId77"/>
    <p:sldId id="281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8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3-06T08:33:19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20017 3448 0,'25'0'31,"0"0"-31,0 0 15,0 0 1,-1 0 15,1-25-15,0 0-16,0-24 16,24-1-16,1-49 15,-50 74-15,50-49 16,-26 24-1,1 25-15,-25 0 16,0 1-16,0 73 94,0 50-79,50 25-15,-25 25 16,-25-99-16,0-1 16,24 1-16,1-50 15,-25 25-15,0 0 16</inkml:trace>
  <inkml:trace contextRef="#ctx0" brushRef="#br0" timeOffset="542.03">20712 3101 0,'0'24'78,"-25"-24"-78,25 25 15,0 25-15,0-25 16,0-1-16,0 26 16,0 0-16,0-26 15,0 26 1,75-25-1,-51 0-15,1-25 0,0 0 16,0 0-16,0 0 16,24 0-1,-24 0 1,0-50-16,-25-24 16,25-1-16,-25 50 15,0-24-15,0-1 16,0 25-16,0 1 15,0-26-15,0 25 16,0-24-16,-50 49 16,25-25-1,-24 0 1,24 25-16</inkml:trace>
  <inkml:trace contextRef="#ctx0" brushRef="#br0" timeOffset="1072.66">21158 2952 0,'0'49'62,"0"-24"-46,0 0-16,-24 25 15,24-1-15,0 1 0,0-25 16,0 24 0,0-24-16,24 25 15,51-1 1,-50-49-16,-1 0 16,1 0-1,0 0 1,0 0-16,0-25 15,-1 1-15,-24-26 16,0 0-16,0 1 16,0-26-16,0 26 15,0-1 1,0-24-16,0 24 16</inkml:trace>
  <inkml:trace contextRef="#ctx0" brushRef="#br0" timeOffset="1736.74">22051 2977 0,'-49'0'16,"24"0"-1,-25 24-15,1 1 16,24 25-16,-25-1 15,26-24 1,-26 0 0,25 25-16,25-26 15,0 26 1,0 0-16,0-26 16,0 1-16,0 0 15,0 0 1,25-25-16,0 25 15,24-25 1,1 0-16,0 0 0,-26 0 16,26-25-1,0 0-15,-50 0 16,24-74-16,1 25 16,0 24-16,-25 0 15,0 26-15,0-76 16,0 51-16,0-1 15</inkml:trace>
  <inkml:trace contextRef="#ctx0" brushRef="#br0" timeOffset="2109.86">22374 3076 0,'74'0'31,"-24"0"-31,24 0 16,-49 0-1,25 0-15,-26 0 16,1 0-16,0 0 16,25 0-1,-25 0-15,-1 0 16</inkml:trace>
  <inkml:trace contextRef="#ctx0" brushRef="#br0" timeOffset="2423.65">22845 2952 0,'25'0'16,"0"0"-1,0 0-15,-25 25 32,0 24-17,0 1 48,0-25-48,-25-1 1</inkml:trace>
  <inkml:trace contextRef="#ctx0" brushRef="#br0" timeOffset="2998.23">23986 2877 0,'0'0'0,"25"0"15,-25 50 32,0 0-47,0-1 16,0-24-16,0 49 15,0-24-15,-25 0 16,0 24 0,1-24-16,-26-1 15,0-24-15,25 25 16,1-1-16,-1-49 16,25 25 30,0 0-14,74-25-32,-24 0 15,0 0-15,24-25 16,0 25-16,-24 0 16,0-50-16</inkml:trace>
  <inkml:trace contextRef="#ctx0" brushRef="#br0" timeOffset="4386.58">24383 3051 0,'0'-25'32,"-25"25"-17,-24 75 1,49-1-1,0-24-15,0-1 16,0-24-16,0 49 16,0-49-16,49 50 15,50-26 1,-49-49-16,-25 0 16,24 0-1,26 0-15,-26-25 16,26-49-16,-26 24 15,-24 1-15,25-26 16,-50 51-16,0-26 16,0 0-16,0-24 15,0 49-15,0-49 16,0 49 0,0 0-16,-50 0 15,1 25-15,24 0 16,0 0-16,0 0 31,25 25 0,0 25-31,25-25 16,25-25-16,-1 24 16,26-24-16,-26 0 15,75 0-15,-74 0 16,-25 0-16,0 0 15,-1 0 32,-48 75-31,24-26-16,-25 26 16,0 49-16,25-99 15,-50 24-15,50-24 16,0 0-1,0 0-15,25-25 32,25 0-17,-1 0-15,-24-25 16,25 0 0,-25-25-16,-1 26 15,26-100-15,-50 99 16,0-25-16,0 25 15,0-24-15,0 24 16,0 0 0,0-24-16,-25 49 15,0 0 1,1 0-16,-1 0 16,25 24 15,0 1-16,0 0-15,49-25 16,26 0 0,-50 0-16,-1 0 15,1 0-15,0 25 32,-25 0-17,0-1-15,25 51 16,-25-26-1,0 1 1,0-25 0,25 24-16,24-49 31,-49 25-31,50-25 16,-1 0-16,1 0 15,0 0-15,-1-49 31,-24-1-31,-25 0 0,25 26 16,-25-51-16,0 50 16,0 1-16,0-1 15,0-50 1,0 26 0,-25 24-16,0 0 15,-49 0-15,49 25 16,0 0-16,-49 0 15,24 0-15,1 0 16,-26 25 0</inkml:trace>
  <inkml:trace contextRef="#ctx0" brushRef="#br0" timeOffset="8646">26318 2877 0,'25'-24'15,"-25"-1"-15,-25 25 16,25-50-16,-25 50 16,25-25-16,-25 25 15,0-24-15,1-1 16,-1 0-16,0 25 15,0-25-15,-24 0 16,-1 0-16,-99-49 16,50 49-16,-50-49 15,99 49-15,-49 25 16,-74-25-16,-1-24 16,0 24-1,1 0-15,-1 0 16,-24 25-16,24 0 15,-24-25-15,24 25 16,25 0-16,-25 0 0,50 0 16,0 0-1,25 0-15,-25 0 16,25 0-16,-50 0 16,50 0-16,0 0 15,-25 0-15,24 0 16,-24 0-16,50 0 15,-25 0-15,49 0 16,-24 0-16,-1 0 16,-49 0-1,25 0-15,-50 25 0,50 0 16,0-25-16,24 25 16,1-25-16,0 0 15,24 25-15,0-25 16,-24 0-1,24 0-15,1 0 16,-26 0-16,26 0 16,24 0-16,-25 0 15,25 0-15,-24 0 16,-1 0-16,25 0 16,1 0-16,-26 0 15,0 0-15,1 49 16,-26-24-16,-24 0 15,50 24-15,-26-24 16,1 25-16,-50 24 16,74-49-16,1 0 15,-51 49-15,1 1 16,-25-1 0,0 25-16,74-24 15,1-50-15,-26 24 0,1 26 16,-25 24-1,24 0-15,75-49 16,0 74 0,0-75-16,0 26 15,0-1-15,50 1 16,-50-26-16,50 1 16,-26-1-16,51 75 15,-1-49-15,25 24 16,25-25-16,25-24 15,0-25-15,-25 0 16,75-1-16,-26 1 16,1 25-1,-1-25-15,26-1 0,-25 1 16,24 0-16,-24-25 16,-1 0-16,26 0 15,-1 0 1,-24 0-16,24 0 15,1 0-15,-1 0 16,1 0-16,-1 0 16,0 0-16,1 0 15,24 0-15,0 0 16,25 0-16,-24 0 16,-1 0-16,50 0 15,0 0-15,-50 0 16,0 0-16,25 0 15,-49 0-15,-51 0 16,26 0-16,-75 0 16,0 0-16,25 0 15,-74 0 1,0 0-16,-26 0 16,1 0-16,0 0 15,0 0 1,24-25-1,-24 0 17,25 1-32,-50-26 15,25 0-15,-25 26 16,24-51-16,-24 26 16,0-26-16,0 26 15,0-26-15,0 26 16,0-26-16,0 1 15,0 24-15,0-24 16,0 49-16,0 0 16,0-24-16,0-1 15,-49 25-15,24 0 16,25-49-16,-25 74 16,25-50-1,-49-24-15,24 49 16,25 0-16,-50-24 15,25 24 1,1 0-16,24 0 16,-25 0-16,0 1 15,0-1-15,0 0 16,25-25 0,-24 50-1,24-24 63</inkml:trace>
  <inkml:trace contextRef="#ctx0" brushRef="#br0" timeOffset="11566.82">20588 4663 0,'-25'0'47,"25"25"-47,0 25 16,0-1-1,0 1-15,0 24 16,0 26-16,0-51 16,0 26-16,0-1 15,0-24-15,25 24 16,24 0-16,1 26 15,0-51-15,-25 50 16,24 1-16,1-51 16,-25-24-16,-1 25 15,26-25-15,0-25 16,24 49-16,-24-24 16,24-25-16,0 50 15,26-50-15,-26 0 16,0 0-1,1 0-15,49 0 16,-50 0-16,1 0 0,24 0 16,-25 0-1,1 0-15,-26 0 16,-24 0-16,0 0 16,25 0-1,-26 0-15,1 0 16,25 0-1</inkml:trace>
  <inkml:trace contextRef="#ctx0" brushRef="#br0" timeOffset="12127">22200 5829 0,'25'0'16,"25"25"0,-1 0-16,1 0 15,-1-1 1,1 26-16,0-25 15,-26-25-15,26 25 0,-50-1 16,25-24 47,-25 25-17,0 0-46,-25 0 16,-25 24-16,1 1 16,24-50-1,25 25-15,-25-25 16,0 0 0</inkml:trace>
  <inkml:trace contextRef="#ctx0" brushRef="#br0" timeOffset="13115.47">20489 4812 0,'0'50'47,"24"-25"-31,-24 49-16,0-24 15,0-1-15,0 50 16,0 75-16,0 0 16,0-26-16,0 26 15,0 0-15,0-1 16,0-49-16,0 25 15,0-25-15,0-25 16,0 1-16,0-26 16,0 1-16,0-1 15,25-24-15,0 24 32,0-24-32,0 24 15,-1-49-15,51 24 16,-1 51-16,1-51 0,-50 1 15,24-1-15,50 1 16,-24-25 0,-1 0-16,-24-25 15,74 24-15,0 1 16,-75-25-16,75 0 16,-49 0-16,24 0 15,-74 0-15,0 0 16,0 0 78,-1 0-79,1-25 16</inkml:trace>
  <inkml:trace contextRef="#ctx0" brushRef="#br0" timeOffset="13530.41">21952 7417 0,'50'0'16,"-25"0"-16,24 24 16,-49 1-16,50 25 15,-1-1-15,-49-24 0,50 25 16,-25-25-16,24-1 15,-49 1 1,25 0 0,-25 0 31,0 24-47,0-24 46,-49-25-30,24 0 15</inkml:trace>
  <inkml:trace contextRef="#ctx0" brushRef="#br0" timeOffset="17073.16">23267 7342 0,'-25'0'16,"0"0"-16,-24 0 15,24 0 1,0 0-16,-49 25 15,74 0 32,-25 24-31,25-24 0,0 0-16,0 0 15,0 0-15,0-1 0,49-24 16,-24 25-1,50 0-15,-51-25 16,1 0-16,0 25 16,0-25-1,-25 25 32,0-1-47,0 51 16,-25-26-1,0-49 1,0 0 0,1 0-16,-26 0 15</inkml:trace>
  <inkml:trace contextRef="#ctx0" brushRef="#br0" timeOffset="17549.64">23515 7565 0,'0'-24'31,"-25"24"1,0 0-32,0 0 31,1 0-16,-1 0-15,25 24 16,0 1 0,0 0-1,0 0-15,25 0 16,-1-25 0,1 0-16,0 0 15,0 0-15,24 0 31,-49-25 16,0 0-31</inkml:trace>
  <inkml:trace contextRef="#ctx0" brushRef="#br0" timeOffset="17886.41">23416 7268 0,'49'0'15,"26"0"1,-51 0-16,1 0 15,50 0 1,-51 0 0,1 0-1,25 0 1,-1 0 0,-49-25-1,50-49-15,-25 24 16,-25 25-16,50-49 15,-26 24-15,-24 25 16,25-24-16</inkml:trace>
  <inkml:trace contextRef="#ctx0" brushRef="#br0" timeOffset="18571.5">24234 7466 0,'-49'0'94,"24"0"-78,0 0-1,-25 25-15,50 0 16,0 0-1,0 24 1,0-24 0,0 0-16,0 0 15,25-25 17,0 0-32,0 0 15,24 0 1,-49-25-16,25 0 15,0 0-15,-25 0 16,0-49-16,0 49 16,0 0-1,0 50 48,0 50-63,0-1 15,0-24-15,0 49 16,0-25 0,0-24-16,0-25 15,0-1-15,0 26 16,0-25-16</inkml:trace>
  <inkml:trace contextRef="#ctx0" brushRef="#br0" timeOffset="19121.75">24408 7541 0,'49'24'16,"-49"26"-16,0 24 15,50-49 1,-25 50-16,-25-51 16,0 1-16,25 0 46,24-25-30,-24-50-16,25-49 16,-26 25-16,51-50 31,-26 99-31,-49-49 0,0 98 78,0 26-62,50-25-16,-50 24 15,0 1-15,0-25 16</inkml:trace>
  <inkml:trace contextRef="#ctx0" brushRef="#br0" timeOffset="19908.88">24929 7094 0,'25'0'47,"-25"99"-47,24-24 15,-24 24 1,0-49-16,0 24 16,0-49-16,25 24 15,-25-24-15,25-25 78,25-25-46,-26-49-32,1 49 0,0-49 15,0 74-15,0-25 16,-1 25 31,1 0-32,-25 50 17,0-1-17,0-24 1,0 0-16,0 0 15,-25-25 1</inkml:trace>
  <inkml:trace contextRef="#ctx0" brushRef="#br0" timeOffset="20181.58">25400 7293 0,'25'0'16,"-25"24"-16,0 1 15,0 25-15,0-1 16,0 1-16,25 0 15,-1-26 1,26-148 47</inkml:trace>
  <inkml:trace contextRef="#ctx0" brushRef="#br0" timeOffset="20469.24">25722 6970 0,'0'25'15,"0"49"-15,0-24 16,50 24-16,-50-24 15,0 0-15,0-26 16,0 26-16,0-25 78,-25-25-62</inkml:trace>
  <inkml:trace contextRef="#ctx0" brushRef="#br0" timeOffset="20640.97">25698 7317 0,'49'0'0,"-24"0"16,25 0-1,-26-24 1,1-1 31</inkml:trace>
  <inkml:trace contextRef="#ctx0" brushRef="#br0" timeOffset="20873.09">25524 6921 0</inkml:trace>
  <inkml:trace contextRef="#ctx0" brushRef="#br0" timeOffset="25428.09">23217 6102 0,'0'-25'110,"0"-49"-110,25-1 15,-25 26-15,0-1 16,25-24-16,0-26 15,-25 51-15,0-26 16,0 1-16,0 24 16,0-24-16,0 49 15,0 0-15,0 1 32,-25 24 14,0 124-30,25-50 0,0 0-16,0 75 15,0 0-15,0 0 16,0-124-16,0 24 16,0-24-16,0 0 15,0 0 1,25-50 62,0 0-78,-25 0 16</inkml:trace>
  <inkml:trace contextRef="#ctx0" brushRef="#br0" timeOffset="26923.1">23440 5779 0,'0'-24'31,"0"48"0,-24 1-15,24 50-16,0-26 15,0 26-15,0-50 16,0 24-16,0-24 0,0 0 31,24 0-31,1-25 16,0 0-16,0 0 16,24 0-1,-24 0-15,0 0 16,25-25-1,-26 0-15,-24-25 16,25-24-16,-25 49 16,0 0-1,0 1-15,0-1 16,0 0-16,0 0 16,-25 25-1,1 0-15,-26 0 16,25 0-1,0 0 1,50 0 47,0 0-63,25 0 15,-1 0-15,-24 0 16,0 0-1,0 0-15,-1 0 16,-48 25 78,-1 25-79,25-26-15,0 51 16,0-50-16,0-1 16,25-24 31,-1 0-47,26 0 15,-25 0-15,25 0 16,-26 0-1,1 0 1,25-49-16,-50 24 16,49 0-1,-49-24 1,0 24-16,0 0 16,0 50 62,0 0-78,25 49 15,0-24-15,-25 24 16,25-24-16,74 24 16,-74-24-16,-25-1 15,25-24-15,-25-50 110,0 0-95,0 1-15,0-1 16,0 0-1,0 0-15,0 0 16,0 1 15</inkml:trace>
  <inkml:trace contextRef="#ctx0" brushRef="#br0" timeOffset="27171.18">24309 5705 0,'-50'50'94</inkml:trace>
  <inkml:trace contextRef="#ctx0" brushRef="#br0" timeOffset="27495.69">23887 6375 0</inkml:trace>
  <inkml:trace contextRef="#ctx0" brushRef="#br0" timeOffset="39030.39">25574 5333 0,'-25'0'47,"-25"0"-47,1 0 15,-1 0 17,25 0-17,-24 0 1,24 50-1,-25-26-15,1 26 16,-1 24-16,0-24 16,1 0-16,24-1 15,-25 26-15,50-51 16,0 1-16,0 0 16,0 25-16,0-25 15,0-1 1,0 1-1,25 0-15,0-25 16,0 0-16,24 0 16,1 0-1,-25 0-15,0 0 16,-1 0-16,1 0 16,0 0-16,0 0 15,0 0-15,-1 0 16,1 0-1,0 0 1,0 0 0,-50 0 109</inkml:trace>
  <inkml:trace contextRef="#ctx0" brushRef="#br0" timeOffset="39569.96">24978 5779 0,'25'0'31,"25"0"-15,-1 0-16,-24 0 15,50 0 1,-51 0-16,26 0 16,-25 0-16,24 0 15,1 0-15,0 0 16,24 0 0,-49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3-06T08:37:52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11435 7045 0,'25'0'63,"0"0"-63,74 0 15,-50 0-15,26 0 16,24 0-16,25 0 16,74 0-16,-49 0 15,50 0-15,-1 0 16,75 0-1,0 0-15,-25 0 16,25 0-16,24 0 16,1 0-16,0 0 15,24 0-15,-24 0 0,24 0 16,-24 0 0,0 0-16,24 0 15,-49 0-15,25 0 16,-50 0-16,25 0 15,-25 0-15,-25 0 16,-25 0-16,-74 0 16,0 0-16,-49 0 15,-50 0-15,24 0 16</inkml:trace>
  <inkml:trace contextRef="#ctx0" brushRef="#br0" timeOffset="1099.38">14039 3051 0,'-24'-25'47,"24"0"-47,-50 25 16,25 0-16,-24 0 16,-26 0-16,26-24 15,-1 24-15,0 0 16,-24-25-16,49 0 15,-24 25-15,24 0 16,0 0-16,0 0 16,0 0 62,25 74-63,-49 50-15,24-49 16,25-1-16,0 25 16,-25 1-1,0 48-15,1-23 16,-1 23-16,0 26 16,0 0-16,0-26 15,25 1-15,0-25 16,0 50-16,0 49 15,0 25-15,0 0 16,0-49-16,0-1 16,0 1-1,0-26-15,0 1 0,0-50 16,0 49-16,0-48 16,0-51-16,0 0 15,0-24-15,0-25 16,0 0-1,0 24-15,0-24 16,0 0-16,0 0 16,0-1-16,0 1 15,0 0 1,0 0-16</inkml:trace>
  <inkml:trace contextRef="#ctx0" brushRef="#br0" timeOffset="2157.87">13965 2877 0,'0'25'31,"0"25"-31,50-25 16,-26 49-16,1-49 16,25 0-16,-25 24 15,24-24-15,-24 49 16,0-74-1,-25 25 1,0 0-16,0 0 16,0 49-16,0-24 15,0 74 1,0 25-16,0-50 16,0 0-16,0-24 0,0 73 15,-25-24-15,0 50 16,0 0-16,1-1 15,24 1 1,0-25-16,0 0 16,0-1-16,0 1 15,0-50-15,0 1 16,0-26-16,0-49 16,0 49-16,0-49 15,0 0-15,0 0 16,0 49-1,0-49 1,0 25-16,0-1 16,0 26-16,0 24 15,0-25-15,0-49 16,0 0-16,0 0 16,0 24-1,0 26 1,0-26-1,0 1-15,0-25 16,0 24-16,24-24 16,-24 0-16,0 25 15,0-26 17,25-48 61</inkml:trace>
  <inkml:trace contextRef="#ctx0" brushRef="#br0" timeOffset="2567.14">14684 5358 0,'0'49'31,"50"1"-31,-50 0 15,0 24-15,0 25 16,0 25-16,25 25 16,0 25-16,-25-75 15,0 0-15,0 25 16,0-49 0,0-1-16,0-24 15,0-26-15,0 1 16,0 0-16,0 25 15,0-26 1</inkml:trace>
  <inkml:trace contextRef="#ctx0" brushRef="#br0" timeOffset="3170.02">14784 5234 0,'24'0'31,"26"0"-15,49 25-16,-49-1 15,24-24-15,1 0 16,49 0-16,-25 0 16,-25-24-16,-24-1 15,49 0-15,-99 75 78,0 24-62,0 25-16,0-24 16,0 24-16,0 0 15,-25 50-15,1 0 0,24-75 16,0 25-1,0 25-15,0-24 16,0-26-16,0 0 16,0 1-16,0-50 15,0 49-15,0-24 16,0-26-16,0 1 94,-25-25-94,-25-49 15,1-26-15</inkml:trace>
  <inkml:trace contextRef="#ctx0" brushRef="#br0" timeOffset="3961.12">12502 5879 0,'0'0'0,"-50"0"0,-49 0 15,49 0-15,25 0 16,-49 0-1,49 0-15,-25 0 0,1 0 16,-1 0 0,25 0-16,-24 0 15,24 0-15,0 0 32,25 25-32,-25 74 15,1-74-15,24-1 16,-25 26-16,25-25 15,0 24-15,0 1 16,0 24-16,0-24 16,0 24-16,0-24 15,0 0-15,0 98 16,0-73-16,0-1 16,0-24-16,0 49 15,0-49-15,0-1 16,0-24-16,0 0 15,25-25 64</inkml:trace>
  <inkml:trace contextRef="#ctx0" brushRef="#br0" timeOffset="4371.14">12774 5507 0,'0'24'15,"0"26"1,0 0-16,0 74 16,0-50-16,0 75 15,0-99-15,0 49 16,0 0-16,0 25 15,0-25-15,0 0 16,0-24-16,0-50 16</inkml:trace>
  <inkml:trace contextRef="#ctx0" brushRef="#br0" timeOffset="6284.78">10864 2505 0,'-24'0'31,"24"75"-31,0 24 16,0 0-16,0 50 16,0-25-16,0-25 15,0 25 1,0-74-16,0 49 15,0 0-15,0 50 0,0 25 16,0 24 0,0-24-16,0 24 0,0 1 15,0-1 1,0-24-16,0 24 16,0-24-16,0-75 15,0 25-15,0 0 16,0 0-16,0-25 15,0 1-15,0-1 16,0 0-16,0 0 16,0-24-16,0-1 15,0-24-15,0-1 16,0 26 0,0-26-16,0-24 0,0 25 15,0-26-15,0 51 16,0-50-1,0 49 1,0-24-16,0-25 16,0-1-1,0 1 1,0 0 0,24-25 62,26 0-78,-25 0 15,49 0-15,1-25 16,-26 0-16,26 25 16,-1 0-1,1-24-15,-1-26 16,0 50-16,1 0 0,24-25 15,-49 25-15,74 0 16,-75 0-16,50 0 16,1 0-1,73 0-15,1 0 16,0 0-16,-50 0 16,-25 0-16,-25 0 15,25 0-15,-24 0 16,-1 0-16,1 0 15,-1 0-15,-24 0 16,-1 0-16,1 0 16,24 0-1,26 0 1,-51 0-16,-24 0 0,25 0 16,49 0-16,-25 25 15,-24 0-15,-1-25 16,-24 0-1,25 0-15,-25 0 16</inkml:trace>
  <inkml:trace contextRef="#ctx0" brushRef="#br0" timeOffset="8348.94">16222 5804 0,'0'75'47,"0"-26"-31,0 26-16,25-1 15,-25 75-15,25-50 16,-25 0-16,0 1 16,0-51-16,0 1 15,0 24-15,0-24 16,25-1-16,-1-24 15,-24 25 1,0 0-16,25-50 0,-25-25 94</inkml:trace>
  <inkml:trace contextRef="#ctx0" brushRef="#br0" timeOffset="8882.42">16197 5978 0,'0'-25'47,"100"-24"-31,-26 24-16,25 25 16,-24-25-16,49 0 0,-50 25 15,-49 0-15,0 0 16,0 0 31,-25 50-32,0 24-15,0 1 16,0 24-16,0-25 16,0 1-16,0-26 15,0 50-15,0-49 16,0 0-1,0-26-15,0 1 0,24 0 16,-24 0-16,0 24 16,0-24-1,0 0-15,0 0 16,0 0 0,0 24-1</inkml:trace>
  <inkml:trace contextRef="#ctx0" brushRef="#br0" timeOffset="12229.85">12675 7342 0,'0'25'16,"-25"-25"15,1 0-15,-26 0-16,0 0 15,1 0-15,-1 0 16,25 0 0,1 0-16,-26 0 15,-24 0-15,49 0 16,0 0-16,-50 0 16,51 25-16,-1-25 15,25 25-15,-25-25 16,0 49-16,0-49 15,1 50-15,-1-1 16,25-24 0,0 25-16,0-25 15,0-1 1,0 1-16,0 25 16,0-25-16,25-1 15,-1 1 1,26 0-1,-25-25 1,24 0-16,1 0 0,25 0 16,-51 0-16,1 0 15,0 0 1,0 0-16,0 0 16,-1 0-1,26 0 1,0 0-1,-1-25 17,-49 0-17,25 1 1,-25-1-16,0 0 0,25 0 16,-25 0-1,0 1 1,0-1-1,0-50 1,0 51 0,0-26-16,0 25 15,-25 25 1,-25-25 15,50 1 0,-24 24-15,-1 0 0,0 0-16,0 0 15,0 0-15,1 0 16,24-25-16,-25 25 31</inkml:trace>
  <inkml:trace contextRef="#ctx0" brushRef="#br0" timeOffset="15638">13965 7640 0,'0'-25'15,"-25"0"-15,-24 0 16,-1 1-16,0 24 15,1-25-15,24 25 16,-49 0-16,24-25 16,0 25-16,26 0 15,-26 0-15,0 0 16,-24 0-16,49 0 16,-24 25-16,24 0 15,25-1-15,-25 1 16,25 0-1,0 0 1,0 0 0,0-1-16,0 26 15,0-25 1,0 0-16,0-1 16,0 1-16,74-25 15,26 0 1,-76 0-16,76 0 15,-51 0-15,26 0 16,-1 0-16,-49 0 16,24 0-16,-24-25 15,0 1 1,-25-1-16,0 0 16,0 0-16,0 0 15,0 1 1,0-1-1</inkml:trace>
  <inkml:trace contextRef="#ctx0" brushRef="#br0" timeOffset="16377.72">15131 7565 0,'0'-24'32,"-25"-1"-17,-25 25 1,-49 0-16,25 0 15,-1 0-15,51 0 16,-26 0-16,0 0 16,26 0-16,-1 0 15,-25 0-15,25 0 32,25 49-17,0 1 1,0-25-16,0 0 15,0-1-15,0 26 16,0-25-16,0 49 16,25-49-1,0 0-15,25-25 16,-1 0-16,1 0 16,24 0-16,25 0 0,1 0 15,-26 0 1,75-50-16,-75 50 15,-49-25-15,25 1 16,-25-1 0,-1 0 15,-24 0-15,0 0-1,0 1-15,0-1 16,0 0-1,0-25-15,0 26 0</inkml:trace>
  <inkml:trace contextRef="#ctx0" brushRef="#br0" timeOffset="19908.79">17239 7392 0,'0'0'0,"-25"-25"0,1 25 15,-1 0 1,0 0-1,0 0-15,0 0 16,1-25 0,-1 0-16,0 25 15,-25 0 1,1 0-16,-26 0 16,51 0-1,-26 0-15,-24 0 16,49 0-1,0 0-15,0 0 16,0 0-16,1 0 16,-26 0 15,25 0-15,0 0-16,1 0 15,24 50-15,0-25 16,0 0-16,0 24 15,0 26 1,0-51-16,0 26 16,49 24-16,-49-24 15,50 0-15,-1-1 16,1 1-16,0-25 16,-50-1-16,49-24 15,1 0-15,-1 0 16,-24 0-16,25 0 15,-1 0 1,1 0-16,-25 0 0,0 0 16,-1 0-1,26 0 1,-50-24 15,25 24-31,0-50 16,-25 25-16,0 0 15,0 1-15,24 24 0,-24-25 16,0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3-06T08:34:38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1910 6648 0,'25'0'47,"0"0"-31,24 0 0,1 0-16,24 0 15,-24 0 1,74-25-16,0 25 15,-50 0-15,25-25 16,26 0-16,73 25 0,0-25 16,50 25-16,-49-24 15,24-1 1,25 25-16,-25 0 16,-24 0-16,-1 0 15,1-25-15,-1 0 16,1 25-16,-26 0 15,1-25-15,-50 25 16,25-24-16,24-1 16,-73 25-16,-26 0 15,25 0-15,-24 0 16,-1 0-16,-24 0 16,-26 0-16,1 0 15</inkml:trace>
  <inkml:trace contextRef="#ctx0" brushRef="#br0" timeOffset="47627.08">19645 7069 0,'0'0'0,"-223"0"16,99 0 0,0 0-16,50 0 15,-26 0-15,51 0 16,-26 0-16,-24 0 16,-25 0-16,0 0 15,0 50-15,25 0 16,0 24-16,-1-24 15,-24 24-15,100-24 16,-51 49 0,50-50-16,-24 100 15,24-99-15,25 74 0,0-75 16,-25 1 0,25 25-16,0 49 15,0-50-15,0-24 16,0 49-16,25 25 15,25 25-15,-26-50 16,51 25-16,-26-25 16,51 25-16,-51 0 15,-24-74-15,49 24 16,-49-24-16,25 24 16,-25-49-16,-1 25 15,26-26-15,0 26 16,-26-50-1,-24 25-15,50-25 0,0 0 16,-25 0 0,-1 0-16,1 0 15,25 0 1,-1 0-16,-24-25 16,25 0-16,24-24 15,25-26-15,-74 75 16,50-49-16,-26-1 15,1 0-15,74 1 16,-75-26-16,51 26 16,-51-1-16,1 25 15,-25 1-15,24-1 16,-49 0-16,25 0 16,0-49-16,-25 24 15,25 25 1,0 0-16,-25 1 15,0-1-15,24-25 16,-24 25 0,25-24-16,-25-26 15,0 51-15,0-1 0,0-25 16,0 1 0,0-26-16,0 50 15,0 1-15,0-26 16,0 25-16,0 0 15,0-24-15,0-50 16,0 74-16,0-25 16,0 0-1,0 1-15,0 24 16,0-49-16,-25 24 16,-24-49-16,49 24 15,-50 1-15,1-50 16,24 25-1,0 49-15,0 1 0,0-1 16,25-24-16,0 49 16,-25-25-1,1 25-15,24 1 16,0-26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8557F-942D-4D79-9DBA-8CDE25DABF92}" type="datetimeFigureOut">
              <a:rPr lang="vi-VN" smtClean="0"/>
              <a:t>2/6/26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7B159-7645-448A-869E-8C0E0F79E3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57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 + 1 + … = N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47708-E4C8-424D-BCA7-BDABBB150E25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84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5CEC098-7121-4B38-8ECF-936989D40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3ED40E6-A590-45F7-8611-9386987E3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B00E92C-B2FD-42E5-A94C-5B75069F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58F8-38F2-4121-BC18-6B15C398FD89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389ECCD-B0FA-465B-AFB7-17A5BB5A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33D90A7-8D9A-4AFD-BD4D-64792C4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791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B5E092F-0B73-449B-8D1F-9AEF82D9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6FC7FF3-81CF-4493-BD6B-72B6B2E73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13F5F15-BA73-4486-A89D-A79848C0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FAB1A-8D86-40F3-9364-CCE75F6AD91C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EDE38EE-8FC5-4B8E-931F-61749838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AEBCE7B-F42A-4E9F-9DBA-6A883A72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869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8630B12-38F1-427F-970A-8938DFE5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4334B55-2455-4FCB-82DE-22DC9908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5222E07-8B19-486F-A152-A025A46D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1C43-C551-4AE6-91EA-65529F79C25E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CB6720B-E208-4CD6-A0D8-C0AC34B3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7531B28-21F6-4CA4-97B0-B5708603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555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59D49E-7316-4A14-A1F0-E44F42C1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FF922A-A834-45E1-B590-48DF4816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C7C7A1-2C43-4FDB-B79A-C80B726FF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91EC4DE-A67E-4441-9243-1D3CA83D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76F6-910B-42D4-95B0-FE1D6627009E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160B54B-6AF3-40B5-9430-85946AC30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AF21B59-57C5-4DD4-A17D-CAF25366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118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A1D085-310D-46CE-8AA6-D638CFBD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C00F051-8396-4C78-BC41-87ADAC98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C235878-554E-4F32-96F9-2F1B7DDF1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D7657DB-ED34-4025-9B08-047B1AD79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E091AD-9FB9-45C5-AE39-D0F592E9C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22A7D55-2C00-474D-9E53-C9F8A491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91FF-2E09-405A-BDE2-4EE2DDD4E68D}" type="datetime1">
              <a:rPr lang="vi-VN" smtClean="0"/>
              <a:t>2/6/26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A17FD48-DFBE-4620-80FF-F7487ACD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154D39F-8641-488F-952E-7FD4F6AE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646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0BD5D22-46AE-4412-9197-88DBAD5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6FA701C2-356C-45D7-AA60-8C5B0A7B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42F-E64F-4F46-9923-15BD5CF12713}" type="datetime1">
              <a:rPr lang="vi-VN" smtClean="0"/>
              <a:t>2/6/26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F4658E3-BC43-4FBF-8108-96D3CCF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F84A363-5AF3-4619-A2E5-829D86B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292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127AD835-E6F1-4B18-84AA-4A615508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6B39-0D09-44F9-B5B4-938C905124E2}" type="datetime1">
              <a:rPr lang="vi-VN" smtClean="0"/>
              <a:t>2/6/26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1D555FBA-7200-4C71-A81C-E556BD39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23E8B6D-9D7E-4038-BD37-3CD5D07A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245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6AC978F-DE08-4846-A00E-59A1927F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52CFD67-9788-4DAC-B330-E284F7871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338C364-B1E9-4611-9645-AB35A7E3D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5FD888C-2A45-43B7-BF28-CA60DE5C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B980-1A9E-4CC7-97E1-74242BE1F70B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F1FA9B8-98C7-4321-8498-397014D3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18B0B05-1319-4432-825D-CE584E7B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123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C8A173-8DBE-441E-83B2-4B42C24A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6FC5226-EF8B-4CB3-A914-2E4428CC9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1D1019-76B8-4064-B577-94C34B74D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863B1CD-5B3D-4029-B03D-932FF728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904E6-F1C8-40FF-9F48-47A42FFD6C8F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6A9D3D4-F889-4BDC-8A08-3D0E113A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42583FB-6B23-4ABE-8153-2B6B1D36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399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6462041-966A-4FDE-AC86-0A4FAC68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A682BF6-0A44-4F07-81FF-7F05296A3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09BD3F9-7EE5-41E3-8612-F5C7775A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58176-9D1F-4C11-B5BA-06DB6A8EB1AD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608D259-5FE8-485A-A568-2D916134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27C69ED-87C5-4893-ADA6-3C1D3B40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646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3B262D6-A3C0-422F-9A51-D959302D2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7C3754E-8A4A-4580-8EDD-CA0C944E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5EC5287-11A1-4355-A1C4-1F3A7DD8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BE23-DA8B-4564-8758-91325607C2D7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B1A5B09-CB36-4CBB-8132-F5E998A3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C864047-6346-4633-ABE2-35BFDA38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787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4C55D00A-FDA3-4248-84BE-E6B68EFD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405C4E7-75EC-43DB-8275-B132E6825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3E02367-80E3-4B50-A009-A310A1652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61035-3292-4F7C-A07C-37830550B457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383CE9B-8226-4859-9B8D-F8FFFCED8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C9980EA-6030-46CE-B0EA-E877040A0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91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00.png"/><Relationship Id="rId7" Type="http://schemas.openxmlformats.org/officeDocument/2006/relationships/image" Target="../media/image15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90.png"/><Relationship Id="rId5" Type="http://schemas.openxmlformats.org/officeDocument/2006/relationships/image" Target="../media/image120.png"/><Relationship Id="rId10" Type="http://schemas.openxmlformats.org/officeDocument/2006/relationships/image" Target="../media/image180.png"/><Relationship Id="rId4" Type="http://schemas.openxmlformats.org/officeDocument/2006/relationships/image" Target="../media/image110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37.png"/><Relationship Id="rId7" Type="http://schemas.openxmlformats.org/officeDocument/2006/relationships/customXml" Target="../ink/ink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customXml" Target="../ink/ink1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45.png"/><Relationship Id="rId7" Type="http://schemas.openxmlformats.org/officeDocument/2006/relationships/customXml" Target="../ink/ink3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51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170.png"/><Relationship Id="rId4" Type="http://schemas.openxmlformats.org/officeDocument/2006/relationships/image" Target="../media/image16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27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gif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101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81.g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0.png"/><Relationship Id="rId3" Type="http://schemas.openxmlformats.org/officeDocument/2006/relationships/image" Target="../media/image710.png"/><Relationship Id="rId7" Type="http://schemas.openxmlformats.org/officeDocument/2006/relationships/image" Target="../media/image1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11" Type="http://schemas.openxmlformats.org/officeDocument/2006/relationships/image" Target="../media/image1500.png"/><Relationship Id="rId5" Type="http://schemas.openxmlformats.org/officeDocument/2006/relationships/image" Target="../media/image910.png"/><Relationship Id="rId10" Type="http://schemas.openxmlformats.org/officeDocument/2006/relationships/image" Target="../media/image140.png"/><Relationship Id="rId4" Type="http://schemas.openxmlformats.org/officeDocument/2006/relationships/image" Target="../media/image810.png"/><Relationship Id="rId9" Type="http://schemas.openxmlformats.org/officeDocument/2006/relationships/image" Target="../media/image130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1.png"/><Relationship Id="rId5" Type="http://schemas.openxmlformats.org/officeDocument/2006/relationships/image" Target="../media/image1801.png"/><Relationship Id="rId4" Type="http://schemas.openxmlformats.org/officeDocument/2006/relationships/image" Target="../media/image171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1.png"/><Relationship Id="rId7" Type="http://schemas.openxmlformats.org/officeDocument/2006/relationships/image" Target="../media/image252.png"/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0.png"/><Relationship Id="rId11" Type="http://schemas.openxmlformats.org/officeDocument/2006/relationships/image" Target="../media/image280.png"/><Relationship Id="rId5" Type="http://schemas.openxmlformats.org/officeDocument/2006/relationships/image" Target="../media/image2310.png"/><Relationship Id="rId10" Type="http://schemas.openxmlformats.org/officeDocument/2006/relationships/image" Target="../media/image271.png"/><Relationship Id="rId4" Type="http://schemas.openxmlformats.org/officeDocument/2006/relationships/image" Target="../media/image220.png"/><Relationship Id="rId9" Type="http://schemas.openxmlformats.org/officeDocument/2006/relationships/image" Target="../media/image180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2.png"/><Relationship Id="rId5" Type="http://schemas.openxmlformats.org/officeDocument/2006/relationships/image" Target="../media/image360.png"/><Relationship Id="rId10" Type="http://schemas.openxmlformats.org/officeDocument/2006/relationships/image" Target="../media/image401.png"/><Relationship Id="rId4" Type="http://schemas.openxmlformats.org/officeDocument/2006/relationships/image" Target="../media/image350.png"/><Relationship Id="rId9" Type="http://schemas.openxmlformats.org/officeDocument/2006/relationships/image" Target="../media/image31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9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12" Type="http://schemas.openxmlformats.org/officeDocument/2006/relationships/image" Target="../media/image580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2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Relationship Id="rId14" Type="http://schemas.openxmlformats.org/officeDocument/2006/relationships/image" Target="../media/image60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713.png"/><Relationship Id="rId5" Type="http://schemas.openxmlformats.org/officeDocument/2006/relationships/image" Target="../media/image650.png"/><Relationship Id="rId15" Type="http://schemas.openxmlformats.org/officeDocument/2006/relationships/image" Target="../media/image141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690.png"/><Relationship Id="rId14" Type="http://schemas.openxmlformats.org/officeDocument/2006/relationships/image" Target="../media/image74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81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15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800.png"/><Relationship Id="rId5" Type="http://schemas.openxmlformats.org/officeDocument/2006/relationships/image" Target="../media/image77.png"/><Relationship Id="rId10" Type="http://schemas.openxmlformats.org/officeDocument/2006/relationships/image" Target="../media/image790.png"/><Relationship Id="rId4" Type="http://schemas.openxmlformats.org/officeDocument/2006/relationships/image" Target="../media/image640.png"/><Relationship Id="rId9" Type="http://schemas.openxmlformats.org/officeDocument/2006/relationships/image" Target="../media/image780.png"/><Relationship Id="rId14" Type="http://schemas.openxmlformats.org/officeDocument/2006/relationships/image" Target="../media/image82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800.png"/><Relationship Id="rId5" Type="http://schemas.openxmlformats.org/officeDocument/2006/relationships/image" Target="../media/image77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780.png"/><Relationship Id="rId14" Type="http://schemas.openxmlformats.org/officeDocument/2006/relationships/image" Target="../media/image74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750.png"/><Relationship Id="rId3" Type="http://schemas.openxmlformats.org/officeDocument/2006/relationships/image" Target="../media/image900.png"/><Relationship Id="rId7" Type="http://schemas.openxmlformats.org/officeDocument/2006/relationships/image" Target="../media/image94.png"/><Relationship Id="rId12" Type="http://schemas.openxmlformats.org/officeDocument/2006/relationships/image" Target="../media/image620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612.png"/><Relationship Id="rId5" Type="http://schemas.openxmlformats.org/officeDocument/2006/relationships/image" Target="../media/image1910.png"/><Relationship Id="rId10" Type="http://schemas.openxmlformats.org/officeDocument/2006/relationships/image" Target="../media/image480.png"/><Relationship Id="rId4" Type="http://schemas.openxmlformats.org/officeDocument/2006/relationships/image" Target="../media/image91.png"/><Relationship Id="rId9" Type="http://schemas.openxmlformats.org/officeDocument/2006/relationships/image" Target="../media/image460.png"/><Relationship Id="rId14" Type="http://schemas.openxmlformats.org/officeDocument/2006/relationships/image" Target="../media/image76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0.png"/><Relationship Id="rId18" Type="http://schemas.openxmlformats.org/officeDocument/2006/relationships/image" Target="../media/image105.png"/><Relationship Id="rId3" Type="http://schemas.openxmlformats.org/officeDocument/2006/relationships/image" Target="../media/image90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2210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gif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11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81.gi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8.png"/><Relationship Id="rId7" Type="http://schemas.openxmlformats.org/officeDocument/2006/relationships/image" Target="../media/image13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29.png"/><Relationship Id="rId9" Type="http://schemas.openxmlformats.org/officeDocument/2006/relationships/image" Target="../media/image13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6.png"/><Relationship Id="rId7" Type="http://schemas.openxmlformats.org/officeDocument/2006/relationships/image" Target="../media/image152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5.png"/><Relationship Id="rId5" Type="http://schemas.openxmlformats.org/officeDocument/2006/relationships/image" Target="../media/image148.png"/><Relationship Id="rId10" Type="http://schemas.openxmlformats.org/officeDocument/2006/relationships/image" Target="../media/image154.png"/><Relationship Id="rId4" Type="http://schemas.openxmlformats.org/officeDocument/2006/relationships/image" Target="../media/image147.png"/><Relationship Id="rId9" Type="http://schemas.openxmlformats.org/officeDocument/2006/relationships/image" Target="../media/image14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3.png"/><Relationship Id="rId5" Type="http://schemas.openxmlformats.org/officeDocument/2006/relationships/image" Target="../media/image166.png"/><Relationship Id="rId10" Type="http://schemas.openxmlformats.org/officeDocument/2006/relationships/image" Target="../media/image172.png"/><Relationship Id="rId4" Type="http://schemas.openxmlformats.org/officeDocument/2006/relationships/image" Target="../media/image165.png"/><Relationship Id="rId9" Type="http://schemas.openxmlformats.org/officeDocument/2006/relationships/image" Target="../media/image15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5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4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11" Type="http://schemas.openxmlformats.org/officeDocument/2006/relationships/image" Target="../media/image193.png"/><Relationship Id="rId5" Type="http://schemas.openxmlformats.org/officeDocument/2006/relationships/image" Target="../media/image185.png"/><Relationship Id="rId10" Type="http://schemas.openxmlformats.org/officeDocument/2006/relationships/image" Target="../media/image192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Relationship Id="rId14" Type="http://schemas.openxmlformats.org/officeDocument/2006/relationships/image" Target="../media/image196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3.png"/><Relationship Id="rId3" Type="http://schemas.openxmlformats.org/officeDocument/2006/relationships/image" Target="../media/image198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5" Type="http://schemas.openxmlformats.org/officeDocument/2006/relationships/image" Target="../media/image215.png"/><Relationship Id="rId10" Type="http://schemas.openxmlformats.org/officeDocument/2006/relationships/image" Target="../media/image207.png"/><Relationship Id="rId4" Type="http://schemas.openxmlformats.org/officeDocument/2006/relationships/image" Target="../media/image199.png"/><Relationship Id="rId9" Type="http://schemas.openxmlformats.org/officeDocument/2006/relationships/image" Target="../media/image206.png"/><Relationship Id="rId14" Type="http://schemas.openxmlformats.org/officeDocument/2006/relationships/image" Target="../media/image214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22.png"/><Relationship Id="rId3" Type="http://schemas.openxmlformats.org/officeDocument/2006/relationships/image" Target="../media/image198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21.png"/><Relationship Id="rId5" Type="http://schemas.openxmlformats.org/officeDocument/2006/relationships/image" Target="../media/image217.png"/><Relationship Id="rId10" Type="http://schemas.openxmlformats.org/officeDocument/2006/relationships/image" Target="../media/image219.png"/><Relationship Id="rId4" Type="http://schemas.openxmlformats.org/officeDocument/2006/relationships/image" Target="../media/image199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3.png"/><Relationship Id="rId3" Type="http://schemas.openxmlformats.org/officeDocument/2006/relationships/image" Target="../media/image198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21.png"/><Relationship Id="rId5" Type="http://schemas.openxmlformats.org/officeDocument/2006/relationships/image" Target="../media/image217.png"/><Relationship Id="rId10" Type="http://schemas.openxmlformats.org/officeDocument/2006/relationships/image" Target="../media/image207.png"/><Relationship Id="rId4" Type="http://schemas.openxmlformats.org/officeDocument/2006/relationships/image" Target="../media/image199.png"/><Relationship Id="rId9" Type="http://schemas.openxmlformats.org/officeDocument/2006/relationships/image" Target="../media/image218.png"/><Relationship Id="rId14" Type="http://schemas.openxmlformats.org/officeDocument/2006/relationships/image" Target="../media/image21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37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Relationship Id="rId14" Type="http://schemas.openxmlformats.org/officeDocument/2006/relationships/image" Target="../media/image238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45.png"/><Relationship Id="rId18" Type="http://schemas.openxmlformats.org/officeDocument/2006/relationships/image" Target="../media/image250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12" Type="http://schemas.openxmlformats.org/officeDocument/2006/relationships/image" Target="../media/image244.png"/><Relationship Id="rId17" Type="http://schemas.openxmlformats.org/officeDocument/2006/relationships/image" Target="../media/image249.png"/><Relationship Id="rId2" Type="http://schemas.openxmlformats.org/officeDocument/2006/relationships/image" Target="../media/image226.png"/><Relationship Id="rId16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43.png"/><Relationship Id="rId5" Type="http://schemas.openxmlformats.org/officeDocument/2006/relationships/image" Target="../media/image239.png"/><Relationship Id="rId15" Type="http://schemas.openxmlformats.org/officeDocument/2006/relationships/image" Target="../media/image247.png"/><Relationship Id="rId10" Type="http://schemas.openxmlformats.org/officeDocument/2006/relationships/image" Target="../media/image242.png"/><Relationship Id="rId4" Type="http://schemas.openxmlformats.org/officeDocument/2006/relationships/image" Target="../media/image228.png"/><Relationship Id="rId9" Type="http://schemas.openxmlformats.org/officeDocument/2006/relationships/image" Target="../media/image241.png"/><Relationship Id="rId14" Type="http://schemas.openxmlformats.org/officeDocument/2006/relationships/image" Target="../media/image24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BD9C0F-41AF-4469-BB12-C2EFFE42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1. What is Phase kickback?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654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AE9099-4EEB-4CFF-8D53-257FE647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Global phase &amp; relative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87ABE-D085-4B39-B259-BAD04F133A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Consider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vi-V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vi-V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|0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vi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vi-V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|0</m:t>
                          </m:r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|1</m:t>
                          </m:r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vi-VN" b="0" i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vi-VN" b="0" i="0">
                    <a:latin typeface="Calibri (Thân)"/>
                    <a:ea typeface="Cambria Math" panose="02040503050406030204" pitchFamily="18" charset="0"/>
                  </a:rPr>
                  <a:t>is vanish while conduct the measurement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vi-V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87ABE-D085-4B39-B259-BAD04F133A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09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5D24E8E9-6A8B-4086-BE3B-F38C14F24719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652669" y="1558526"/>
            <a:ext cx="3044740" cy="4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3707DD8C-DE11-4A84-8722-D3D115C995BA}"/>
                  </a:ext>
                </a:extLst>
              </p:cNvPr>
              <p:cNvSpPr txBox="1"/>
              <p:nvPr/>
            </p:nvSpPr>
            <p:spPr>
              <a:xfrm>
                <a:off x="202095" y="179940"/>
                <a:ext cx="9458740" cy="1242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Suppose a unitary operator (matrix)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/>
                  <a:t> has an eigenvector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with eigenvalue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p>
                    </m:sSup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is unknown,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). Note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because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|=1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 b="1"/>
                  <a:t>Goal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is the phase that kicked back</a:t>
                </a:r>
                <a:endParaRPr lang="vi-VN"/>
              </a:p>
              <a:p>
                <a:endParaRPr lang="vi-VN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3707DD8C-DE11-4A84-8722-D3D115C99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179940"/>
                <a:ext cx="9458740" cy="1242263"/>
              </a:xfrm>
              <a:prstGeom prst="rect">
                <a:avLst/>
              </a:prstGeom>
              <a:blipFill>
                <a:blip r:embed="rId2"/>
                <a:stretch>
                  <a:fillRect l="-515" t="-34975" r="-966" b="-310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EFF11AC-4363-4D9F-A1CE-03EA3F1D61F0}"/>
              </a:ext>
            </a:extLst>
          </p:cNvPr>
          <p:cNvCxnSpPr>
            <a:cxnSpLocks/>
          </p:cNvCxnSpPr>
          <p:nvPr/>
        </p:nvCxnSpPr>
        <p:spPr>
          <a:xfrm>
            <a:off x="6337300" y="668551"/>
            <a:ext cx="3151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2C9946D2-E217-47CB-8916-EEA5EA918B18}"/>
                  </a:ext>
                </a:extLst>
              </p:cNvPr>
              <p:cNvSpPr txBox="1"/>
              <p:nvPr/>
            </p:nvSpPr>
            <p:spPr>
              <a:xfrm>
                <a:off x="9660835" y="179940"/>
                <a:ext cx="2448339" cy="2375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(1)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r>
                  <a:rPr lang="en-US"/>
                  <a:t>From (1) &amp; (2):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vi-V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d>
                        <m:dPr>
                          <m:begChr m:val="|"/>
                          <m:endChr m:val="|"/>
                          <m:ctrlP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2C9946D2-E217-47CB-8916-EEA5EA918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835" y="179940"/>
                <a:ext cx="2448339" cy="2375137"/>
              </a:xfrm>
              <a:prstGeom prst="rect">
                <a:avLst/>
              </a:prstGeom>
              <a:blipFill>
                <a:blip r:embed="rId3"/>
                <a:stretch>
                  <a:fillRect l="-22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92DCCB46-FB3E-4756-B923-811D7F930B87}"/>
              </a:ext>
            </a:extLst>
          </p:cNvPr>
          <p:cNvSpPr/>
          <p:nvPr/>
        </p:nvSpPr>
        <p:spPr>
          <a:xfrm>
            <a:off x="1103243" y="1286633"/>
            <a:ext cx="556591" cy="5523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0B50CC27-90A4-4588-8DDA-963ABA72BECD}"/>
                  </a:ext>
                </a:extLst>
              </p:cNvPr>
              <p:cNvSpPr txBox="1"/>
              <p:nvPr/>
            </p:nvSpPr>
            <p:spPr>
              <a:xfrm>
                <a:off x="202095" y="1378152"/>
                <a:ext cx="4505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0B50CC27-90A4-4588-8DDA-963ABA7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1378152"/>
                <a:ext cx="450574" cy="369332"/>
              </a:xfrm>
              <a:prstGeom prst="rect">
                <a:avLst/>
              </a:prstGeom>
              <a:blipFill>
                <a:blip r:embed="rId4"/>
                <a:stretch>
                  <a:fillRect l="-29730" t="-118033" r="-114865" b="-18524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C3593F4C-B3D2-4B68-89FA-ABADD49573A1}"/>
                  </a:ext>
                </a:extLst>
              </p:cNvPr>
              <p:cNvSpPr txBox="1"/>
              <p:nvPr/>
            </p:nvSpPr>
            <p:spPr>
              <a:xfrm>
                <a:off x="202095" y="2118932"/>
                <a:ext cx="4505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C3593F4C-B3D2-4B68-89FA-ABADD4957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2118932"/>
                <a:ext cx="450574" cy="369332"/>
              </a:xfrm>
              <a:prstGeom prst="rect">
                <a:avLst/>
              </a:prstGeom>
              <a:blipFill>
                <a:blip r:embed="rId5"/>
                <a:stretch>
                  <a:fillRect l="-27027" t="-120000" r="-117568" b="-190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Đường nối Thẳng 20">
            <a:extLst>
              <a:ext uri="{FF2B5EF4-FFF2-40B4-BE49-F238E27FC236}">
                <a16:creationId xmlns:a16="http://schemas.microsoft.com/office/drawing/2014/main" id="{47E35272-F61F-4CEA-ACCA-24E4656719C1}"/>
              </a:ext>
            </a:extLst>
          </p:cNvPr>
          <p:cNvCxnSpPr>
            <a:cxnSpLocks/>
          </p:cNvCxnSpPr>
          <p:nvPr/>
        </p:nvCxnSpPr>
        <p:spPr>
          <a:xfrm>
            <a:off x="652669" y="2316850"/>
            <a:ext cx="34433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64C88F1A-6F21-4AC5-9554-A150D9431C90}"/>
              </a:ext>
            </a:extLst>
          </p:cNvPr>
          <p:cNvSpPr/>
          <p:nvPr/>
        </p:nvSpPr>
        <p:spPr>
          <a:xfrm>
            <a:off x="2042491" y="2027412"/>
            <a:ext cx="556591" cy="5523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</a:t>
            </a:r>
            <a:endParaRPr lang="vi-VN"/>
          </a:p>
        </p:txBody>
      </p:sp>
      <p:cxnSp>
        <p:nvCxnSpPr>
          <p:cNvPr id="23" name="Đường nối Thẳng 22">
            <a:extLst>
              <a:ext uri="{FF2B5EF4-FFF2-40B4-BE49-F238E27FC236}">
                <a16:creationId xmlns:a16="http://schemas.microsoft.com/office/drawing/2014/main" id="{293C487F-5064-4142-B039-4B52AE2C48D6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320786" y="1562818"/>
            <a:ext cx="1" cy="4645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017C31A7-46EE-47CB-BFED-64970FB79C29}"/>
              </a:ext>
            </a:extLst>
          </p:cNvPr>
          <p:cNvSpPr/>
          <p:nvPr/>
        </p:nvSpPr>
        <p:spPr>
          <a:xfrm>
            <a:off x="2229910" y="1477127"/>
            <a:ext cx="181752" cy="1713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D44D2420-A83D-4598-8337-0A1FAB3C0323}"/>
              </a:ext>
            </a:extLst>
          </p:cNvPr>
          <p:cNvSpPr/>
          <p:nvPr/>
        </p:nvSpPr>
        <p:spPr>
          <a:xfrm>
            <a:off x="3697409" y="1282340"/>
            <a:ext cx="556591" cy="552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</a:t>
            </a:r>
            <a:endParaRPr lang="vi-VN"/>
          </a:p>
        </p:txBody>
      </p:sp>
      <p:sp>
        <p:nvSpPr>
          <p:cNvPr id="28" name="Cung 27">
            <a:extLst>
              <a:ext uri="{FF2B5EF4-FFF2-40B4-BE49-F238E27FC236}">
                <a16:creationId xmlns:a16="http://schemas.microsoft.com/office/drawing/2014/main" id="{83074520-2584-4108-9069-F0EB374B4CDD}"/>
              </a:ext>
            </a:extLst>
          </p:cNvPr>
          <p:cNvSpPr/>
          <p:nvPr/>
        </p:nvSpPr>
        <p:spPr>
          <a:xfrm rot="18900000">
            <a:off x="3756631" y="1524556"/>
            <a:ext cx="496648" cy="516661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B5D2581A-7B8C-4F1D-BC34-B0B4F0C03C0D}"/>
              </a:ext>
            </a:extLst>
          </p:cNvPr>
          <p:cNvCxnSpPr/>
          <p:nvPr/>
        </p:nvCxnSpPr>
        <p:spPr>
          <a:xfrm flipV="1">
            <a:off x="3955503" y="1373859"/>
            <a:ext cx="140493" cy="16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AE0B652E-2016-4C4B-991B-84D42E588A0A}"/>
              </a:ext>
            </a:extLst>
          </p:cNvPr>
          <p:cNvSpPr txBox="1"/>
          <p:nvPr/>
        </p:nvSpPr>
        <p:spPr>
          <a:xfrm>
            <a:off x="2626045" y="1245892"/>
            <a:ext cx="92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control</a:t>
            </a:r>
            <a:endParaRPr lang="vi-VN" sz="1400" i="1"/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C1658A4C-CB80-48C6-B5FF-D39297661ACF}"/>
              </a:ext>
            </a:extLst>
          </p:cNvPr>
          <p:cNvSpPr txBox="1"/>
          <p:nvPr/>
        </p:nvSpPr>
        <p:spPr>
          <a:xfrm>
            <a:off x="2626045" y="1998267"/>
            <a:ext cx="92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target</a:t>
            </a:r>
            <a:endParaRPr lang="vi-VN" sz="1400" i="1"/>
          </a:p>
        </p:txBody>
      </p:sp>
      <p:cxnSp>
        <p:nvCxnSpPr>
          <p:cNvPr id="34" name="Đường nối Thẳng 33">
            <a:extLst>
              <a:ext uri="{FF2B5EF4-FFF2-40B4-BE49-F238E27FC236}">
                <a16:creationId xmlns:a16="http://schemas.microsoft.com/office/drawing/2014/main" id="{A40B27F8-3FD8-4EC5-A497-A83706CC5839}"/>
              </a:ext>
            </a:extLst>
          </p:cNvPr>
          <p:cNvCxnSpPr/>
          <p:nvPr/>
        </p:nvCxnSpPr>
        <p:spPr>
          <a:xfrm flipV="1">
            <a:off x="1252950" y="2152155"/>
            <a:ext cx="257175" cy="336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38">
            <a:extLst>
              <a:ext uri="{FF2B5EF4-FFF2-40B4-BE49-F238E27FC236}">
                <a16:creationId xmlns:a16="http://schemas.microsoft.com/office/drawing/2014/main" id="{DCEABFE8-9B15-428D-BFD8-A2E7B2006D1C}"/>
              </a:ext>
            </a:extLst>
          </p:cNvPr>
          <p:cNvCxnSpPr/>
          <p:nvPr/>
        </p:nvCxnSpPr>
        <p:spPr>
          <a:xfrm flipV="1">
            <a:off x="887825" y="1334102"/>
            <a:ext cx="0" cy="11938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D476BA23-D437-474A-9F31-18FA80F00BF1}"/>
              </a:ext>
            </a:extLst>
          </p:cNvPr>
          <p:cNvCxnSpPr/>
          <p:nvPr/>
        </p:nvCxnSpPr>
        <p:spPr>
          <a:xfrm flipV="1">
            <a:off x="1853025" y="1334102"/>
            <a:ext cx="0" cy="11938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Đường nối Thẳng 40">
            <a:extLst>
              <a:ext uri="{FF2B5EF4-FFF2-40B4-BE49-F238E27FC236}">
                <a16:creationId xmlns:a16="http://schemas.microsoft.com/office/drawing/2014/main" id="{2ED9CE78-45EB-455D-9801-9C9330C56598}"/>
              </a:ext>
            </a:extLst>
          </p:cNvPr>
          <p:cNvCxnSpPr/>
          <p:nvPr/>
        </p:nvCxnSpPr>
        <p:spPr>
          <a:xfrm flipV="1">
            <a:off x="3390481" y="1334102"/>
            <a:ext cx="0" cy="11938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Hộp Văn bản 43">
            <a:extLst>
              <a:ext uri="{FF2B5EF4-FFF2-40B4-BE49-F238E27FC236}">
                <a16:creationId xmlns:a16="http://schemas.microsoft.com/office/drawing/2014/main" id="{1DB037D6-FE44-4F90-9CA0-E239D1B22AF4}"/>
              </a:ext>
            </a:extLst>
          </p:cNvPr>
          <p:cNvSpPr txBox="1"/>
          <p:nvPr/>
        </p:nvSpPr>
        <p:spPr>
          <a:xfrm>
            <a:off x="732044" y="2560960"/>
            <a:ext cx="3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</a:t>
            </a:r>
            <a:endParaRPr lang="vi-VN"/>
          </a:p>
        </p:txBody>
      </p:sp>
      <p:sp>
        <p:nvSpPr>
          <p:cNvPr id="45" name="Hộp Văn bản 44">
            <a:extLst>
              <a:ext uri="{FF2B5EF4-FFF2-40B4-BE49-F238E27FC236}">
                <a16:creationId xmlns:a16="http://schemas.microsoft.com/office/drawing/2014/main" id="{2C12B83C-F616-4D92-A0CB-926BF951DA37}"/>
              </a:ext>
            </a:extLst>
          </p:cNvPr>
          <p:cNvSpPr txBox="1"/>
          <p:nvPr/>
        </p:nvSpPr>
        <p:spPr>
          <a:xfrm>
            <a:off x="1697244" y="2560960"/>
            <a:ext cx="3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</a:t>
            </a:r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453D2EC4-4A79-4B59-8BAA-48369E203DC8}"/>
              </a:ext>
            </a:extLst>
          </p:cNvPr>
          <p:cNvSpPr txBox="1"/>
          <p:nvPr/>
        </p:nvSpPr>
        <p:spPr>
          <a:xfrm>
            <a:off x="3234700" y="2556827"/>
            <a:ext cx="31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2E100A0E-AD67-48D5-9A79-C54D6661BB50}"/>
                  </a:ext>
                </a:extLst>
              </p:cNvPr>
              <p:cNvSpPr txBox="1"/>
              <p:nvPr/>
            </p:nvSpPr>
            <p:spPr>
              <a:xfrm>
                <a:off x="202095" y="3161034"/>
                <a:ext cx="5408130" cy="402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A, state: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2E100A0E-AD67-48D5-9A79-C54D6661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3161034"/>
                <a:ext cx="5408130" cy="402354"/>
              </a:xfrm>
              <a:prstGeom prst="rect">
                <a:avLst/>
              </a:prstGeom>
              <a:blipFill>
                <a:blip r:embed="rId6"/>
                <a:stretch>
                  <a:fillRect l="-902" t="-156061" b="-23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6F4B4B82-F533-43F0-BF8D-DCA64B5D3122}"/>
                  </a:ext>
                </a:extLst>
              </p:cNvPr>
              <p:cNvSpPr txBox="1"/>
              <p:nvPr/>
            </p:nvSpPr>
            <p:spPr>
              <a:xfrm>
                <a:off x="202095" y="3598929"/>
                <a:ext cx="5408130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B,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6F4B4B82-F533-43F0-BF8D-DCA64B5D3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3598929"/>
                <a:ext cx="5408130" cy="525465"/>
              </a:xfrm>
              <a:prstGeom prst="rect">
                <a:avLst/>
              </a:prstGeom>
              <a:blipFill>
                <a:blip r:embed="rId7"/>
                <a:stretch>
                  <a:fillRect l="-902" t="-68966" b="-11379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A13EA6F8-6B3F-4AF5-B063-A02198F27DCC}"/>
                  </a:ext>
                </a:extLst>
              </p:cNvPr>
              <p:cNvSpPr txBox="1"/>
              <p:nvPr/>
            </p:nvSpPr>
            <p:spPr>
              <a:xfrm>
                <a:off x="202095" y="4139525"/>
                <a:ext cx="5408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Between B &amp; C, Control-U applied only component that has qubit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A13EA6F8-6B3F-4AF5-B063-A02198F2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4139525"/>
                <a:ext cx="5408130" cy="646331"/>
              </a:xfrm>
              <a:prstGeom prst="rect">
                <a:avLst/>
              </a:prstGeom>
              <a:blipFill>
                <a:blip r:embed="rId8"/>
                <a:stretch>
                  <a:fillRect l="-902" t="-26415" r="-676" b="-10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A3D90D45-C22D-47DE-964D-F5F207078F37}"/>
                  </a:ext>
                </a:extLst>
              </p:cNvPr>
              <p:cNvSpPr txBox="1"/>
              <p:nvPr/>
            </p:nvSpPr>
            <p:spPr>
              <a:xfrm>
                <a:off x="202095" y="4785856"/>
                <a:ext cx="5408130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C,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/>
                  <a:t>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A3D90D45-C22D-47DE-964D-F5F207078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4785856"/>
                <a:ext cx="5408130" cy="1016689"/>
              </a:xfrm>
              <a:prstGeom prst="rect">
                <a:avLst/>
              </a:prstGeom>
              <a:blipFill>
                <a:blip r:embed="rId9"/>
                <a:stretch>
                  <a:fillRect l="-902" b="-179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8FF79508-6FD0-4F3F-9953-0F688F9CDBAD}"/>
                  </a:ext>
                </a:extLst>
              </p:cNvPr>
              <p:cNvSpPr txBox="1"/>
              <p:nvPr/>
            </p:nvSpPr>
            <p:spPr>
              <a:xfrm>
                <a:off x="202095" y="5888270"/>
                <a:ext cx="54081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gets factored out,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remains unchanged</a:t>
                </a:r>
                <a:endParaRPr lang="vi-VN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8FF79508-6FD0-4F3F-9953-0F688F9CD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95" y="5888270"/>
                <a:ext cx="5408130" cy="369332"/>
              </a:xfrm>
              <a:prstGeom prst="rect">
                <a:avLst/>
              </a:prstGeom>
              <a:blipFill>
                <a:blip r:embed="rId10"/>
                <a:stretch>
                  <a:fillRect t="-119672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A7F7571F-0A50-4974-99E7-00BD001E96C3}"/>
                  </a:ext>
                </a:extLst>
              </p:cNvPr>
              <p:cNvSpPr txBox="1"/>
              <p:nvPr/>
            </p:nvSpPr>
            <p:spPr>
              <a:xfrm>
                <a:off x="5610225" y="3172611"/>
                <a:ext cx="5408130" cy="864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Consider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At C,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A7F7571F-0A50-4974-99E7-00BD001E9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25" y="3172611"/>
                <a:ext cx="5408130" cy="864532"/>
              </a:xfrm>
              <a:prstGeom prst="rect">
                <a:avLst/>
              </a:prstGeom>
              <a:blipFill>
                <a:blip r:embed="rId11"/>
                <a:stretch>
                  <a:fillRect l="-902" t="-72535" b="-5493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97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5" grpId="0" animBg="1"/>
      <p:bldP spid="17" grpId="0"/>
      <p:bldP spid="18" grpId="0"/>
      <p:bldP spid="22" grpId="0" animBg="1"/>
      <p:bldP spid="26" grpId="0" animBg="1"/>
      <p:bldP spid="27" grpId="0" animBg="1"/>
      <p:bldP spid="28" grpId="0" animBg="1"/>
      <p:bldP spid="31" grpId="0"/>
      <p:bldP spid="3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BD9C0F-41AF-4469-BB12-C2EFFE42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2. Quantum Fourier Transform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258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7D21AC5-F08C-44E0-B23D-3AE7767E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6DC0E10-4B9D-4448-8C0F-395735D6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One of the most useful ways of solving a problem in mathematics or computer science is to transform it into some other problem for which a solution is known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402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Discrete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Give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– dimensional complex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55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Or the unitary matrix: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20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ea typeface="Cambria Math" panose="020405030504060302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is unitary</a:t>
                </a:r>
              </a:p>
              <a:p>
                <a:pPr marL="514350" indent="-514350">
                  <a:buAutoNum type="arabicPeriod"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rad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begChr m:val="⟨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rad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⟩⟨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⟩⟨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58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2.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/>
                  <a:t> acts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|00…0⟩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00…0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∗0∗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rad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/>
                  <a:t> is the number of qubits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735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Intuition: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𝑆𝑡𝑎𝑡𝑒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𝑐𝑜𝑚𝑝𝑢𝑡𝑎𝑡𝑖𝑜𝑛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𝑏𝑎𝑠𝑖𝑠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𝑆𝑡𝑎𝑡𝑒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𝐹𝑜𝑢𝑟𝑖𝑒𝑟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𝑏𝑎𝑠𝑖𝑠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denotes for the state in Fourier basis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47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basiscounting">
            <a:extLst>
              <a:ext uri="{FF2B5EF4-FFF2-40B4-BE49-F238E27FC236}">
                <a16:creationId xmlns:a16="http://schemas.microsoft.com/office/drawing/2014/main" id="{C89910BF-EBEF-43A7-967E-7BCF58EF135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538" y="994901"/>
            <a:ext cx="82677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basiscounting">
            <a:extLst>
              <a:ext uri="{FF2B5EF4-FFF2-40B4-BE49-F238E27FC236}">
                <a16:creationId xmlns:a16="http://schemas.microsoft.com/office/drawing/2014/main" id="{251DE2FD-47F3-4BFA-AB5A-29912041F1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063" y="3782961"/>
            <a:ext cx="825817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FBA2D7B-BE6C-44B2-9DE0-6B09D68460CF}"/>
              </a:ext>
            </a:extLst>
          </p:cNvPr>
          <p:cNvSpPr txBox="1"/>
          <p:nvPr/>
        </p:nvSpPr>
        <p:spPr>
          <a:xfrm>
            <a:off x="644321" y="2042651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Computation basis</a:t>
            </a:r>
            <a:endParaRPr lang="vi-VN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5B79C25-80FB-45A9-B7A9-56B20EEC358A}"/>
              </a:ext>
            </a:extLst>
          </p:cNvPr>
          <p:cNvSpPr txBox="1"/>
          <p:nvPr/>
        </p:nvSpPr>
        <p:spPr>
          <a:xfrm>
            <a:off x="644321" y="4830711"/>
            <a:ext cx="1671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Fourier basis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852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E03490-22B3-462E-BF95-992E75B3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Example 1 qubit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Similarly, we have: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3422ED6-5403-4578-8B22-BF684398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405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462441-D772-4892-8B9A-1434481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3.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the number of qubits, the computation basis of its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Using the binary representation in writing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30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462441-D772-4892-8B9A-1434481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𝑄𝐹𝑇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bSup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𝑖𝑥𝑦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5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(rewriting in fractional binary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83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462441-D772-4892-8B9A-1434481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 Quantum Fourier transform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(rewriting in fractional binary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⊗…⊗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4BC72-DF1E-43C3-9A7B-EACD3B77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69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5A253246-8BCE-4329-80E6-CE55FA80C71A}"/>
                  </a:ext>
                </a:extLst>
              </p:cNvPr>
              <p:cNvSpPr txBox="1"/>
              <p:nvPr/>
            </p:nvSpPr>
            <p:spPr>
              <a:xfrm>
                <a:off x="341243" y="502478"/>
                <a:ext cx="6705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Consider vector (state)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components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5A253246-8BCE-4329-80E6-CE55FA80C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502478"/>
                <a:ext cx="6705600" cy="369332"/>
              </a:xfrm>
              <a:prstGeom prst="rect">
                <a:avLst/>
              </a:prstGeom>
              <a:blipFill>
                <a:blip r:embed="rId2"/>
                <a:stretch>
                  <a:fillRect l="-818" t="-119672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569D48C-5A16-42E0-A63F-77F62BBE7376}"/>
                  </a:ext>
                </a:extLst>
              </p:cNvPr>
              <p:cNvSpPr txBox="1"/>
              <p:nvPr/>
            </p:nvSpPr>
            <p:spPr>
              <a:xfrm>
                <a:off x="341243" y="871810"/>
                <a:ext cx="11642036" cy="502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DFT: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/>
                  <a:t> root of unity)</a:t>
                </a:r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569D48C-5A16-42E0-A63F-77F62BBE7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871810"/>
                <a:ext cx="11642036" cy="502573"/>
              </a:xfrm>
              <a:prstGeom prst="rect">
                <a:avLst/>
              </a:prstGeom>
              <a:blipFill>
                <a:blip r:embed="rId3"/>
                <a:stretch>
                  <a:fillRect l="-471" t="-73171" b="-12682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84C72320-41B5-4A28-9173-FE831AD89BF0}"/>
                  </a:ext>
                </a:extLst>
              </p:cNvPr>
              <p:cNvSpPr txBox="1"/>
              <p:nvPr/>
            </p:nvSpPr>
            <p:spPr>
              <a:xfrm>
                <a:off x="341243" y="1374383"/>
                <a:ext cx="10233992" cy="264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QFT has the same formula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/>
                  <a:t>), be expressed as the map: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sup>
                        </m:sSubSup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/>
                  <a:t> </a:t>
                </a:r>
              </a:p>
              <a:p>
                <a:r>
                  <a:rPr lang="en-US"/>
                  <a:t>or the unitary matrix:</a:t>
                </a:r>
              </a:p>
              <a:p>
                <a:endParaRPr lang="en-US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𝑗𝑘</m:t>
                                  </m:r>
                                </m:sup>
                              </m:sSubSup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  <m:d>
                            <m:dPr>
                              <m:begChr m:val="⟨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endParaRPr lang="en-US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84C72320-41B5-4A28-9173-FE831AD89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1374383"/>
                <a:ext cx="10233992" cy="2641621"/>
              </a:xfrm>
              <a:prstGeom prst="rect">
                <a:avLst/>
              </a:prstGeom>
              <a:blipFill>
                <a:blip r:embed="rId4"/>
                <a:stretch>
                  <a:fillRect l="-536" t="-1451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Hình ảnh 10">
            <a:extLst>
              <a:ext uri="{FF2B5EF4-FFF2-40B4-BE49-F238E27FC236}">
                <a16:creationId xmlns:a16="http://schemas.microsoft.com/office/drawing/2014/main" id="{A92FEABE-7971-4AF2-AD19-AEE8D39A2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955" y="2098980"/>
            <a:ext cx="6373908" cy="2245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D3C34168-F5C5-4A85-ABED-09531FABCAA2}"/>
                  </a:ext>
                </a:extLst>
              </p:cNvPr>
              <p:cNvSpPr txBox="1"/>
              <p:nvPr/>
            </p:nvSpPr>
            <p:spPr>
              <a:xfrm>
                <a:off x="341243" y="5705808"/>
                <a:ext cx="719924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𝑄𝐹𝑇</m:t>
                    </m:r>
                  </m:oMath>
                </a14:m>
                <a:r>
                  <a:rPr lang="en-US"/>
                  <a:t> transforms from the computational (Z) basis to the Fourier basis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𝑄𝐹𝑇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D3C34168-F5C5-4A85-ABED-09531FAB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5705808"/>
                <a:ext cx="7199244" cy="646331"/>
              </a:xfrm>
              <a:prstGeom prst="rect">
                <a:avLst/>
              </a:prstGeom>
              <a:blipFill>
                <a:blip r:embed="rId6"/>
                <a:stretch>
                  <a:fillRect t="-26415" b="-10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5452E797-FA85-4FDB-8360-8795AF2FEC83}"/>
                  </a:ext>
                </a:extLst>
              </p:cNvPr>
              <p:cNvSpPr txBox="1"/>
              <p:nvPr/>
            </p:nvSpPr>
            <p:spPr>
              <a:xfrm>
                <a:off x="341243" y="3476264"/>
                <a:ext cx="6096000" cy="594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/>
                  <a:t>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5452E797-FA85-4FDB-8360-8795AF2F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" y="3476264"/>
                <a:ext cx="6096000" cy="594586"/>
              </a:xfrm>
              <a:prstGeom prst="rect">
                <a:avLst/>
              </a:prstGeom>
              <a:blipFill>
                <a:blip r:embed="rId7"/>
                <a:stretch>
                  <a:fillRect l="-900" b="-1530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Hình ảnh 15">
            <a:extLst>
              <a:ext uri="{FF2B5EF4-FFF2-40B4-BE49-F238E27FC236}">
                <a16:creationId xmlns:a16="http://schemas.microsoft.com/office/drawing/2014/main" id="{DC2B74E2-F9F6-4D52-8E69-15FCF0092A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4" y="4176632"/>
            <a:ext cx="31432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8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9C2F644-9BCE-415F-A0A8-4EF09164F8F8}"/>
                  </a:ext>
                </a:extLst>
              </p:cNvPr>
              <p:cNvSpPr txBox="1"/>
              <p:nvPr/>
            </p:nvSpPr>
            <p:spPr>
              <a:xfrm>
                <a:off x="245165" y="225287"/>
                <a:ext cx="11701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Hadamard gate (H) is the simplest case of QFT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=−1)</m:t>
                    </m:r>
                  </m:oMath>
                </a14:m>
                <a:r>
                  <a:rPr lang="en-US"/>
                  <a:t>, it transform state from Z – basis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to X – basis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9C2F644-9BCE-415F-A0A8-4EF09164F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225287"/>
                <a:ext cx="11701670" cy="369332"/>
              </a:xfrm>
              <a:prstGeom prst="rect">
                <a:avLst/>
              </a:prstGeom>
              <a:blipFill>
                <a:blip r:embed="rId2"/>
                <a:stretch>
                  <a:fillRect l="-417" t="-119672" r="-2396" b="-1836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D72F494-0FBD-4DAF-A844-282803D31DAC}"/>
                  </a:ext>
                </a:extLst>
              </p:cNvPr>
              <p:cNvSpPr txBox="1"/>
              <p:nvPr/>
            </p:nvSpPr>
            <p:spPr>
              <a:xfrm>
                <a:off x="245165" y="594619"/>
                <a:ext cx="11701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Consider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D72F494-0FBD-4DAF-A844-282803D31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594619"/>
                <a:ext cx="11701670" cy="369332"/>
              </a:xfrm>
              <a:prstGeom prst="rect">
                <a:avLst/>
              </a:prstGeom>
              <a:blipFill>
                <a:blip r:embed="rId3"/>
                <a:stretch>
                  <a:fillRect l="-417" t="-121667" b="-18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4F71E0B-D9E5-4923-9486-6766CB84E403}"/>
                  </a:ext>
                </a:extLst>
              </p:cNvPr>
              <p:cNvSpPr txBox="1"/>
              <p:nvPr/>
            </p:nvSpPr>
            <p:spPr>
              <a:xfrm>
                <a:off x="245165" y="1099931"/>
                <a:ext cx="782540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4F71E0B-D9E5-4923-9486-6766CB84E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1099931"/>
                <a:ext cx="7825409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D84F675A-C903-4606-802D-F7D48382124A}"/>
                  </a:ext>
                </a:extLst>
              </p:cNvPr>
              <p:cNvSpPr txBox="1"/>
              <p:nvPr/>
            </p:nvSpPr>
            <p:spPr>
              <a:xfrm>
                <a:off x="4923183" y="1099931"/>
                <a:ext cx="782540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D84F675A-C903-4606-802D-F7D483821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183" y="1099931"/>
                <a:ext cx="7825409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B1D9D5B0-5EF2-4DEF-BF45-1EA4DF031188}"/>
                  </a:ext>
                </a:extLst>
              </p:cNvPr>
              <p:cNvSpPr txBox="1"/>
              <p:nvPr/>
            </p:nvSpPr>
            <p:spPr>
              <a:xfrm>
                <a:off x="245165" y="1769402"/>
                <a:ext cx="782540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𝑄𝐹𝑇</m:t>
                          </m:r>
                        </m:sub>
                      </m:sSub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|0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B1D9D5B0-5EF2-4DEF-BF45-1EA4DF03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1769402"/>
                <a:ext cx="7825409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Hình ảnh 11">
            <a:extLst>
              <a:ext uri="{FF2B5EF4-FFF2-40B4-BE49-F238E27FC236}">
                <a16:creationId xmlns:a16="http://schemas.microsoft.com/office/drawing/2014/main" id="{110FC25D-80F3-4C74-9EFC-5A25CACD0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164" y="2434008"/>
            <a:ext cx="10650455" cy="42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94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4F97599-5A20-484E-8416-300054FCE960}"/>
              </a:ext>
            </a:extLst>
          </p:cNvPr>
          <p:cNvSpPr txBox="1"/>
          <p:nvPr/>
        </p:nvSpPr>
        <p:spPr>
          <a:xfrm>
            <a:off x="331305" y="239404"/>
            <a:ext cx="7752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QFT used for?</a:t>
            </a:r>
            <a:endParaRPr lang="vi-VN"/>
          </a:p>
        </p:txBody>
      </p:sp>
      <p:pic>
        <p:nvPicPr>
          <p:cNvPr id="1026" name="Picture 2" descr="zbasiscounting">
            <a:extLst>
              <a:ext uri="{FF2B5EF4-FFF2-40B4-BE49-F238E27FC236}">
                <a16:creationId xmlns:a16="http://schemas.microsoft.com/office/drawing/2014/main" id="{38019F79-C43F-459A-9FBD-7326B4AADC7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5" y="1105718"/>
            <a:ext cx="7752522" cy="196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basiscounting">
            <a:extLst>
              <a:ext uri="{FF2B5EF4-FFF2-40B4-BE49-F238E27FC236}">
                <a16:creationId xmlns:a16="http://schemas.microsoft.com/office/drawing/2014/main" id="{B60B185D-D2AD-4FFF-9E7A-02022015F84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5" y="3521052"/>
            <a:ext cx="7743589" cy="196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24A0257-D118-4E48-BE7A-C0A9DA3557D1}"/>
              </a:ext>
            </a:extLst>
          </p:cNvPr>
          <p:cNvSpPr txBox="1"/>
          <p:nvPr/>
        </p:nvSpPr>
        <p:spPr>
          <a:xfrm>
            <a:off x="8507897" y="1555617"/>
            <a:ext cx="274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Counting in Z-basis seems like to classical computing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FC89CE48-A381-4FB5-A798-95AC62AAA5E9}"/>
                  </a:ext>
                </a:extLst>
              </p:cNvPr>
              <p:cNvSpPr txBox="1"/>
              <p:nvPr/>
            </p:nvSpPr>
            <p:spPr>
              <a:xfrm>
                <a:off x="8507897" y="3403146"/>
                <a:ext cx="3352798" cy="2505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Counting in X-basis</a:t>
                </a:r>
              </a:p>
              <a:p>
                <a:r>
                  <a:rPr lang="en-US"/>
                  <a:t>Example count 5 by 4 qubit:</a:t>
                </a:r>
              </a:p>
              <a:p>
                <a:r>
                  <a:rPr lang="en-US"/>
                  <a:t>Qubit 0: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r>
                  <a:rPr lang="en-US"/>
                  <a:t>Qubit 1: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r>
                  <a:rPr lang="en-US"/>
                  <a:t>Qubit 2: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r>
                  <a:rPr lang="en-US"/>
                  <a:t>Qubit 3: rotate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(rad)</a:t>
                </a:r>
              </a:p>
              <a:p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FC89CE48-A381-4FB5-A798-95AC62AAA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97" y="3403146"/>
                <a:ext cx="3352798" cy="2505814"/>
              </a:xfrm>
              <a:prstGeom prst="rect">
                <a:avLst/>
              </a:prstGeom>
              <a:blipFill>
                <a:blip r:embed="rId4"/>
                <a:stretch>
                  <a:fillRect l="-1636" t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Hình ảnh 8">
            <a:extLst>
              <a:ext uri="{FF2B5EF4-FFF2-40B4-BE49-F238E27FC236}">
                <a16:creationId xmlns:a16="http://schemas.microsoft.com/office/drawing/2014/main" id="{EFED77E9-618B-4640-8FB8-63FC5F9A8B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94" t="83308" r="20054"/>
          <a:stretch/>
        </p:blipFill>
        <p:spPr>
          <a:xfrm>
            <a:off x="430093" y="5908960"/>
            <a:ext cx="7546011" cy="70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89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antum circuit for Quantum-Fourier-Transform with n qubits (without rearranging the order of output states). It uses the binary fraction notation introduced below.">
            <a:extLst>
              <a:ext uri="{FF2B5EF4-FFF2-40B4-BE49-F238E27FC236}">
                <a16:creationId xmlns:a16="http://schemas.microsoft.com/office/drawing/2014/main" id="{1AE73642-8E15-43A1-A886-A846EF718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51308" cy="28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67C52DD6-711D-499F-AF1A-B81F0A79167A}"/>
              </a:ext>
            </a:extLst>
          </p:cNvPr>
          <p:cNvCxnSpPr/>
          <p:nvPr/>
        </p:nvCxnSpPr>
        <p:spPr>
          <a:xfrm flipH="1">
            <a:off x="7663412" y="742122"/>
            <a:ext cx="1775791" cy="2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FF75498-890A-43D6-8536-2FA0A7075562}"/>
              </a:ext>
            </a:extLst>
          </p:cNvPr>
          <p:cNvSpPr txBox="1"/>
          <p:nvPr/>
        </p:nvSpPr>
        <p:spPr>
          <a:xfrm>
            <a:off x="9581320" y="557456"/>
            <a:ext cx="233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 out the phases</a:t>
            </a:r>
            <a:endParaRPr lang="vi-V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30FACCF-8C3D-4825-A184-BCDCD7F4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5235"/>
            <a:ext cx="5577111" cy="376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66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BD9C0F-41AF-4469-BB12-C2EFFE42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3. Quantum Phase Estimation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3569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878AECE-CE69-4E3F-ACB9-A8689F42D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304" y="275119"/>
                <a:ext cx="11569148" cy="44161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Suppose a unitary operator (matrix)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/>
                  <a:t> has an eigenvector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/>
                  <a:t> with eigenvalue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is unknown,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). Note that: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/>
                  <a:t> because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|=1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 b="1"/>
                  <a:t>Goal</a:t>
                </a:r>
                <a:r>
                  <a:rPr lang="en-US"/>
                  <a:t>: 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/>
                  <a:t>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bit</a:t>
                </a:r>
              </a:p>
              <a:p>
                <a:pPr marL="0" indent="0">
                  <a:buNone/>
                </a:pPr>
                <a:r>
                  <a:rPr lang="en-US"/>
                  <a:t>Input: eigenvector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/>
                  <a:t> and controlled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/>
                  <a:t> operator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878AECE-CE69-4E3F-ACB9-A8689F42D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304" y="275119"/>
                <a:ext cx="11569148" cy="4416151"/>
              </a:xfrm>
              <a:blipFill>
                <a:blip r:embed="rId2"/>
                <a:stretch>
                  <a:fillRect l="-1054" t="-2207" r="-58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139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8A406D9-CD0B-4CB6-9957-EFD82781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4" y="125078"/>
            <a:ext cx="7051156" cy="29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Ngoặc móc Phải 4">
            <a:extLst>
              <a:ext uri="{FF2B5EF4-FFF2-40B4-BE49-F238E27FC236}">
                <a16:creationId xmlns:a16="http://schemas.microsoft.com/office/drawing/2014/main" id="{295CCA99-331A-46C9-A5FE-F7425E30A5C0}"/>
              </a:ext>
            </a:extLst>
          </p:cNvPr>
          <p:cNvSpPr/>
          <p:nvPr/>
        </p:nvSpPr>
        <p:spPr>
          <a:xfrm>
            <a:off x="7441198" y="715617"/>
            <a:ext cx="404089" cy="1577009"/>
          </a:xfrm>
          <a:prstGeom prst="rightBrace">
            <a:avLst>
              <a:gd name="adj1" fmla="val 59347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Ngoặc móc Phải 5">
            <a:extLst>
              <a:ext uri="{FF2B5EF4-FFF2-40B4-BE49-F238E27FC236}">
                <a16:creationId xmlns:a16="http://schemas.microsoft.com/office/drawing/2014/main" id="{816B5CDE-DF18-46ED-8626-CC0EC32C5E35}"/>
              </a:ext>
            </a:extLst>
          </p:cNvPr>
          <p:cNvSpPr/>
          <p:nvPr/>
        </p:nvSpPr>
        <p:spPr>
          <a:xfrm>
            <a:off x="7441197" y="2428870"/>
            <a:ext cx="404089" cy="601283"/>
          </a:xfrm>
          <a:prstGeom prst="rightBrace">
            <a:avLst>
              <a:gd name="adj1" fmla="val 33103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/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First register</a:t>
                </a:r>
              </a:p>
              <a:p>
                <a:r>
                  <a:rPr lang="en-US" b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qubits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/>
                  <a:t> )</a:t>
                </a:r>
                <a:endParaRPr lang="vi-VN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blipFill>
                <a:blip r:embed="rId3"/>
                <a:stretch>
                  <a:fillRect l="-3830" t="-3311"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/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Second register</a:t>
                </a:r>
              </a:p>
              <a:p>
                <a:r>
                  <a:rPr lang="en-US" b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qubits to encode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/>
                  <a:t>)</a:t>
                </a:r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blipFill>
                <a:blip r:embed="rId4"/>
                <a:stretch>
                  <a:fillRect l="-3830" t="-2538" r="-21702" b="-563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DDD7019-6AE0-40B4-883D-C763D4E4B941}"/>
              </a:ext>
            </a:extLst>
          </p:cNvPr>
          <p:cNvCxnSpPr/>
          <p:nvPr/>
        </p:nvCxnSpPr>
        <p:spPr>
          <a:xfrm>
            <a:off x="1391478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314ECC4-B756-4D73-8940-F3BA5B919FE8}"/>
              </a:ext>
            </a:extLst>
          </p:cNvPr>
          <p:cNvCxnSpPr/>
          <p:nvPr/>
        </p:nvCxnSpPr>
        <p:spPr>
          <a:xfrm>
            <a:off x="5042451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/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Initial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0…0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blipFill>
                <a:blip r:embed="rId5"/>
                <a:stretch>
                  <a:fillRect l="-2302" t="-52252" r="-18926" b="-1387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0F5EEB27-3760-4880-AC35-08997441D322}"/>
              </a:ext>
            </a:extLst>
          </p:cNvPr>
          <p:cNvCxnSpPr/>
          <p:nvPr/>
        </p:nvCxnSpPr>
        <p:spPr>
          <a:xfrm>
            <a:off x="887896" y="2729511"/>
            <a:ext cx="0" cy="436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CC12D33-CF98-4A3A-9993-84584F47317C}"/>
              </a:ext>
            </a:extLst>
          </p:cNvPr>
          <p:cNvCxnSpPr>
            <a:cxnSpLocks/>
          </p:cNvCxnSpPr>
          <p:nvPr/>
        </p:nvCxnSpPr>
        <p:spPr>
          <a:xfrm>
            <a:off x="4750905" y="1373413"/>
            <a:ext cx="0" cy="2414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0BA247-3E3A-4A69-BADF-8C2DB0CDC7A8}"/>
                  </a:ext>
                </a:extLst>
              </p:cNvPr>
              <p:cNvSpPr txBox="1"/>
              <p:nvPr/>
            </p:nvSpPr>
            <p:spPr>
              <a:xfrm>
                <a:off x="197784" y="3222093"/>
                <a:ext cx="4360964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gate: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9" name="Hộp Văn bản 18">
                <a:extLst>
                  <a:ext uri="{FF2B5EF4-FFF2-40B4-BE49-F238E27FC236}">
                    <a16:creationId xmlns:a16="http://schemas.microsoft.com/office/drawing/2014/main" id="{4A0BA247-3E3A-4A69-BADF-8C2DB0CDC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4" y="3222093"/>
                <a:ext cx="4360964" cy="565539"/>
              </a:xfrm>
              <a:prstGeom prst="rect">
                <a:avLst/>
              </a:prstGeom>
              <a:blipFill>
                <a:blip r:embed="rId6"/>
                <a:stretch>
                  <a:fillRect l="-1117" t="-68478" b="-9891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E713BBBE-A380-4E0B-83A9-7516C32CC564}"/>
              </a:ext>
            </a:extLst>
          </p:cNvPr>
          <p:cNvSpPr txBox="1"/>
          <p:nvPr/>
        </p:nvSpPr>
        <p:spPr>
          <a:xfrm>
            <a:off x="197784" y="3787632"/>
            <a:ext cx="436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Apply controlled unitary operations </a:t>
            </a:r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D4271CEB-A1C1-458D-9FA1-ACCF44EFF77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36"/>
          <a:stretch/>
        </p:blipFill>
        <p:spPr>
          <a:xfrm>
            <a:off x="197784" y="4353171"/>
            <a:ext cx="10889382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62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8A406D9-CD0B-4CB6-9957-EFD82781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4" y="125078"/>
            <a:ext cx="7051156" cy="29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Ngoặc móc Phải 4">
            <a:extLst>
              <a:ext uri="{FF2B5EF4-FFF2-40B4-BE49-F238E27FC236}">
                <a16:creationId xmlns:a16="http://schemas.microsoft.com/office/drawing/2014/main" id="{295CCA99-331A-46C9-A5FE-F7425E30A5C0}"/>
              </a:ext>
            </a:extLst>
          </p:cNvPr>
          <p:cNvSpPr/>
          <p:nvPr/>
        </p:nvSpPr>
        <p:spPr>
          <a:xfrm>
            <a:off x="7441198" y="715617"/>
            <a:ext cx="404089" cy="1577009"/>
          </a:xfrm>
          <a:prstGeom prst="rightBrace">
            <a:avLst>
              <a:gd name="adj1" fmla="val 59347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6" name="Ngoặc móc Phải 5">
            <a:extLst>
              <a:ext uri="{FF2B5EF4-FFF2-40B4-BE49-F238E27FC236}">
                <a16:creationId xmlns:a16="http://schemas.microsoft.com/office/drawing/2014/main" id="{816B5CDE-DF18-46ED-8626-CC0EC32C5E35}"/>
              </a:ext>
            </a:extLst>
          </p:cNvPr>
          <p:cNvSpPr/>
          <p:nvPr/>
        </p:nvSpPr>
        <p:spPr>
          <a:xfrm>
            <a:off x="7441197" y="2428870"/>
            <a:ext cx="404089" cy="601283"/>
          </a:xfrm>
          <a:prstGeom prst="rightBrace">
            <a:avLst>
              <a:gd name="adj1" fmla="val 33103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/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qubits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)</a:t>
                </a:r>
                <a:endParaRPr lang="vi-VN" dirty="0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blipFill>
                <a:blip r:embed="rId3"/>
                <a:stretch>
                  <a:fillRect l="-3830" t="-3311"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/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Second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qubits to encode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  <a:endParaRPr lang="vi-VN" dirty="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blipFill>
                <a:blip r:embed="rId4"/>
                <a:stretch>
                  <a:fillRect l="-3830" t="-2538" r="-21702" b="-563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DDD7019-6AE0-40B4-883D-C763D4E4B941}"/>
              </a:ext>
            </a:extLst>
          </p:cNvPr>
          <p:cNvCxnSpPr/>
          <p:nvPr/>
        </p:nvCxnSpPr>
        <p:spPr>
          <a:xfrm>
            <a:off x="1391478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314ECC4-B756-4D73-8940-F3BA5B919FE8}"/>
              </a:ext>
            </a:extLst>
          </p:cNvPr>
          <p:cNvCxnSpPr/>
          <p:nvPr/>
        </p:nvCxnSpPr>
        <p:spPr>
          <a:xfrm>
            <a:off x="5042451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/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Initial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0…0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blipFill>
                <a:blip r:embed="rId5"/>
                <a:stretch>
                  <a:fillRect l="-2302" t="-52252" r="-18926" b="-1387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CC12D33-CF98-4A3A-9993-84584F47317C}"/>
              </a:ext>
            </a:extLst>
          </p:cNvPr>
          <p:cNvCxnSpPr>
            <a:cxnSpLocks/>
          </p:cNvCxnSpPr>
          <p:nvPr/>
        </p:nvCxnSpPr>
        <p:spPr>
          <a:xfrm>
            <a:off x="3412436" y="1139687"/>
            <a:ext cx="0" cy="2033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E713BBBE-A380-4E0B-83A9-7516C32CC564}"/>
              </a:ext>
            </a:extLst>
          </p:cNvPr>
          <p:cNvSpPr txBox="1"/>
          <p:nvPr/>
        </p:nvSpPr>
        <p:spPr>
          <a:xfrm>
            <a:off x="197784" y="3254349"/>
            <a:ext cx="436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Apply controlled unitary operations </a:t>
            </a:r>
            <a:endParaRPr lang="vi-VN" dirty="0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4B83C1E0-5155-4894-AAC5-95984E9ED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84" y="3711915"/>
            <a:ext cx="9515475" cy="1190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4F0A9DBC-AB88-4083-8D9B-21747B436BDB}"/>
                  </a:ext>
                </a:extLst>
              </p:cNvPr>
              <p:cNvSpPr txBox="1"/>
              <p:nvPr/>
            </p:nvSpPr>
            <p:spPr>
              <a:xfrm>
                <a:off x="197784" y="5070652"/>
                <a:ext cx="5274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/>
                  <a:t> denote for the binary representation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4F0A9DBC-AB88-4083-8D9B-21747B43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4" y="5070652"/>
                <a:ext cx="5274366" cy="369332"/>
              </a:xfrm>
              <a:prstGeom prst="rect">
                <a:avLst/>
              </a:prstGeom>
              <a:blipFill>
                <a:blip r:embed="rId7"/>
                <a:stretch>
                  <a:fillRect l="-924" t="-121667" b="-18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762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8A406D9-CD0B-4CB6-9957-EFD82781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4" y="125078"/>
            <a:ext cx="7051156" cy="29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Ngoặc móc Phải 4">
            <a:extLst>
              <a:ext uri="{FF2B5EF4-FFF2-40B4-BE49-F238E27FC236}">
                <a16:creationId xmlns:a16="http://schemas.microsoft.com/office/drawing/2014/main" id="{295CCA99-331A-46C9-A5FE-F7425E30A5C0}"/>
              </a:ext>
            </a:extLst>
          </p:cNvPr>
          <p:cNvSpPr/>
          <p:nvPr/>
        </p:nvSpPr>
        <p:spPr>
          <a:xfrm>
            <a:off x="7441198" y="715617"/>
            <a:ext cx="404089" cy="1577009"/>
          </a:xfrm>
          <a:prstGeom prst="rightBrace">
            <a:avLst>
              <a:gd name="adj1" fmla="val 59347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6" name="Ngoặc móc Phải 5">
            <a:extLst>
              <a:ext uri="{FF2B5EF4-FFF2-40B4-BE49-F238E27FC236}">
                <a16:creationId xmlns:a16="http://schemas.microsoft.com/office/drawing/2014/main" id="{816B5CDE-DF18-46ED-8626-CC0EC32C5E35}"/>
              </a:ext>
            </a:extLst>
          </p:cNvPr>
          <p:cNvSpPr/>
          <p:nvPr/>
        </p:nvSpPr>
        <p:spPr>
          <a:xfrm>
            <a:off x="7441197" y="2428870"/>
            <a:ext cx="404089" cy="601283"/>
          </a:xfrm>
          <a:prstGeom prst="rightBrace">
            <a:avLst>
              <a:gd name="adj1" fmla="val 33103"/>
              <a:gd name="adj2" fmla="val 4890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/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qubits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)</a:t>
                </a:r>
                <a:endParaRPr lang="vi-VN" dirty="0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4B101395-4184-410A-B652-D5E7B092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042456"/>
                <a:ext cx="1432235" cy="923330"/>
              </a:xfrm>
              <a:prstGeom prst="rect">
                <a:avLst/>
              </a:prstGeom>
              <a:blipFill>
                <a:blip r:embed="rId3"/>
                <a:stretch>
                  <a:fillRect l="-3830" t="-3311"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/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Second register</a:t>
                </a:r>
              </a:p>
              <a:p>
                <a:r>
                  <a:rPr lang="en-US" b="0" dirty="0"/>
                  <a:t>(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qubits to encode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  <a:endParaRPr lang="vi-VN" dirty="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0696ECB-AE57-4849-BAB8-3B17276D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1965786"/>
                <a:ext cx="1432235" cy="1200329"/>
              </a:xfrm>
              <a:prstGeom prst="rect">
                <a:avLst/>
              </a:prstGeom>
              <a:blipFill>
                <a:blip r:embed="rId4"/>
                <a:stretch>
                  <a:fillRect l="-3830" t="-2538" r="-21702" b="-563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DDD7019-6AE0-40B4-883D-C763D4E4B941}"/>
              </a:ext>
            </a:extLst>
          </p:cNvPr>
          <p:cNvCxnSpPr/>
          <p:nvPr/>
        </p:nvCxnSpPr>
        <p:spPr>
          <a:xfrm>
            <a:off x="1391478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314ECC4-B756-4D73-8940-F3BA5B919FE8}"/>
              </a:ext>
            </a:extLst>
          </p:cNvPr>
          <p:cNvCxnSpPr/>
          <p:nvPr/>
        </p:nvCxnSpPr>
        <p:spPr>
          <a:xfrm>
            <a:off x="5042451" y="463826"/>
            <a:ext cx="0" cy="270228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/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Initial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0…0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33FC73E7-BAFD-4320-8C47-92636200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34" y="363103"/>
                <a:ext cx="2386385" cy="679353"/>
              </a:xfrm>
              <a:prstGeom prst="rect">
                <a:avLst/>
              </a:prstGeom>
              <a:blipFill>
                <a:blip r:embed="rId5"/>
                <a:stretch>
                  <a:fillRect l="-2302" t="-52252" r="-18926" b="-1387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2CC12D33-CF98-4A3A-9993-84584F47317C}"/>
              </a:ext>
            </a:extLst>
          </p:cNvPr>
          <p:cNvCxnSpPr>
            <a:cxnSpLocks/>
          </p:cNvCxnSpPr>
          <p:nvPr/>
        </p:nvCxnSpPr>
        <p:spPr>
          <a:xfrm>
            <a:off x="3412436" y="1139687"/>
            <a:ext cx="0" cy="2033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E713BBBE-A380-4E0B-83A9-7516C32CC564}"/>
                  </a:ext>
                </a:extLst>
              </p:cNvPr>
              <p:cNvSpPr txBox="1"/>
              <p:nvPr/>
            </p:nvSpPr>
            <p:spPr>
              <a:xfrm>
                <a:off x="197784" y="3254349"/>
                <a:ext cx="7051156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Apply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/>
                  <a:t>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/>
                  <a:t>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E713BBBE-A380-4E0B-83A9-7516C32CC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4" y="3254349"/>
                <a:ext cx="7051156" cy="565539"/>
              </a:xfrm>
              <a:prstGeom prst="rect">
                <a:avLst/>
              </a:prstGeom>
              <a:blipFill>
                <a:blip r:embed="rId6"/>
                <a:stretch>
                  <a:fillRect l="-691" t="-104301" b="-1430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CC6A075A-7143-4730-AB4D-4727E9C17F30}"/>
              </a:ext>
            </a:extLst>
          </p:cNvPr>
          <p:cNvSpPr txBox="1"/>
          <p:nvPr/>
        </p:nvSpPr>
        <p:spPr>
          <a:xfrm>
            <a:off x="197784" y="3897954"/>
            <a:ext cx="705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Yields:</a:t>
            </a:r>
          </a:p>
          <a:p>
            <a:endParaRPr lang="vi-VN"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42100885-6842-4805-A281-2E014F75B4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088" y="4224381"/>
            <a:ext cx="9610725" cy="847725"/>
          </a:xfrm>
          <a:prstGeom prst="rect">
            <a:avLst/>
          </a:prstGeom>
        </p:spPr>
      </p:pic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F79B6D2F-B8E2-47C0-B7C5-7A7BED5C26D0}"/>
              </a:ext>
            </a:extLst>
          </p:cNvPr>
          <p:cNvSpPr/>
          <p:nvPr/>
        </p:nvSpPr>
        <p:spPr>
          <a:xfrm>
            <a:off x="1709530" y="4221119"/>
            <a:ext cx="1934818" cy="101349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47D2CB82-6116-42BD-8FB8-D60F4A2DFB45}"/>
              </a:ext>
            </a:extLst>
          </p:cNvPr>
          <p:cNvCxnSpPr>
            <a:stCxn id="23" idx="2"/>
            <a:endCxn id="13" idx="0"/>
          </p:cNvCxnSpPr>
          <p:nvPr/>
        </p:nvCxnSpPr>
        <p:spPr>
          <a:xfrm flipH="1">
            <a:off x="2676939" y="3819888"/>
            <a:ext cx="1046423" cy="401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27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040325D3-9264-4417-863A-9092D417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5" y="220110"/>
            <a:ext cx="9658350" cy="212407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E7B16840-E6C7-46DC-9F29-6EA190BB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55" y="2547937"/>
            <a:ext cx="100107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63D01C6E-DFD0-4F63-9D42-12848991B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236675"/>
            <a:ext cx="5586205" cy="38156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D7D9FC0C-24B7-4C66-8BD9-00C66FD41C38}"/>
                  </a:ext>
                </a:extLst>
              </p:cNvPr>
              <p:cNvSpPr txBox="1"/>
              <p:nvPr/>
            </p:nvSpPr>
            <p:spPr>
              <a:xfrm>
                <a:off x="450573" y="4263717"/>
                <a:ext cx="4028661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001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=1/8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D7D9FC0C-24B7-4C66-8BD9-00C66FD41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3" y="4263717"/>
                <a:ext cx="4028661" cy="484043"/>
              </a:xfrm>
              <a:prstGeom prst="rect">
                <a:avLst/>
              </a:prstGeom>
              <a:blipFill>
                <a:blip r:embed="rId3"/>
                <a:stretch>
                  <a:fillRect l="-1362" b="-75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Hình ảnh 7">
            <a:extLst>
              <a:ext uri="{FF2B5EF4-FFF2-40B4-BE49-F238E27FC236}">
                <a16:creationId xmlns:a16="http://schemas.microsoft.com/office/drawing/2014/main" id="{13EC8624-1B1C-4E11-804A-A8FBC4CB5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153" y="236675"/>
            <a:ext cx="5424528" cy="3851329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A76C565E-247B-4275-ADA5-DAC25B9E1073}"/>
              </a:ext>
            </a:extLst>
          </p:cNvPr>
          <p:cNvSpPr txBox="1"/>
          <p:nvPr/>
        </p:nvSpPr>
        <p:spPr>
          <a:xfrm>
            <a:off x="6096000" y="4263717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see our most likely results are 010(bin) = 2(dec) and 011(bin) = 3(dec). These two results would tell us that θ = 0.25 (off by 25%) and θ = 0.375 (off by 13%) respectively</a:t>
            </a:r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68182CD3-7A11-4449-8C9E-350438400139}"/>
              </a:ext>
            </a:extLst>
          </p:cNvPr>
          <p:cNvSpPr/>
          <p:nvPr/>
        </p:nvSpPr>
        <p:spPr>
          <a:xfrm>
            <a:off x="2663687" y="236675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FA8F20D0-39FC-4BA3-BE6A-FD28CFD8C9BF}"/>
              </a:ext>
            </a:extLst>
          </p:cNvPr>
          <p:cNvSpPr/>
          <p:nvPr/>
        </p:nvSpPr>
        <p:spPr>
          <a:xfrm>
            <a:off x="7933208" y="236675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BB80608D-CD57-407C-B677-37A966B43B7A}"/>
              </a:ext>
            </a:extLst>
          </p:cNvPr>
          <p:cNvSpPr/>
          <p:nvPr/>
        </p:nvSpPr>
        <p:spPr>
          <a:xfrm>
            <a:off x="7277225" y="2323892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2185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BE834AF6-DB3B-402B-8ECC-5771B37D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18648"/>
            <a:ext cx="6029325" cy="4314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2DC35415-9925-4773-AA35-977670291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549" y="4463797"/>
                <a:ext cx="7779025" cy="10380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The two most likely measurements are now 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Mono"/>
                  </a:rPr>
                  <a:t>01011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 (decimal 11) and 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Mono"/>
                  </a:rPr>
                  <a:t>01010</a:t>
                </a:r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 (decimal 10). Measuring these results would tell us </a:t>
                </a:r>
                <a14:m>
                  <m:oMath xmlns:m="http://schemas.openxmlformats.org/officeDocument/2006/math"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IBM Plex Sans"/>
                  </a:rPr>
                  <a:t> is: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vi-VN" altLang="vi-VN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vi-VN" altLang="vi-VN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sSup>
                          <m:sSupPr>
                            <m:ctrlPr>
                              <a:rPr kumimoji="0" lang="vi-VN" altLang="vi-VN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vi-VN" altLang="vi-VN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0" lang="vi-VN" altLang="vi-VN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kumimoji="0" lang="vi-VN" altLang="vi-VN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=0.344,</m:t>
                    </m:r>
                    <m:r>
                      <a:rPr lang="vi-VN" alt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vi-VN" alt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alt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alt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vi-VN" alt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sSupPr>
                            <m:ctrlPr>
                              <a:rPr lang="vi-VN" alt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alt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alt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vi-VN" alt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kumimoji="0" lang="vi-VN" altLang="vi-VN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13</a:t>
                </a:r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2DC35415-9925-4773-AA35-977670291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549" y="4463797"/>
                <a:ext cx="7779025" cy="1038041"/>
              </a:xfrm>
              <a:prstGeom prst="rect">
                <a:avLst/>
              </a:prstGeom>
              <a:blipFill>
                <a:blip r:embed="rId3"/>
                <a:stretch>
                  <a:fillRect l="-705" t="-2339" b="-2924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6000FC65-7275-4D49-9401-BF0044269C8D}"/>
              </a:ext>
            </a:extLst>
          </p:cNvPr>
          <p:cNvSpPr/>
          <p:nvPr/>
        </p:nvSpPr>
        <p:spPr>
          <a:xfrm>
            <a:off x="2252870" y="223423"/>
            <a:ext cx="1020417" cy="75723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8832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4DCAF4-EA6C-4010-BBE6-B0325F450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Solving large linear system of equations by HHL Algorithm</a:t>
            </a:r>
            <a:br>
              <a:rPr lang="vi-VN" dirty="0"/>
            </a:br>
            <a:endParaRPr lang="vi-VN" dirty="0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489152C-BB1B-4D42-BA1F-9F86E22D8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20/2/2021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01021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0D702C-F948-4641-AD2A-25093F51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6EF3C52-FBB3-4CCD-97A6-D892E0E36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.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Hermitian,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d>
                      <m:dPr>
                        <m:begChr m:val=""/>
                        <m:endChr m:val="⟩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eigenvector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eigenvalue, respectively) </a:t>
                </a:r>
                <a:endParaRPr lang="vi-VN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6EF3C52-FBB3-4CCD-97A6-D892E0E36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6551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8C2C01-8AA9-4F10-973F-AF0F5F3D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824826-21AD-4E7E-9170-87F7F0075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=−3,</m:t>
                    </m:r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=2,</m:t>
                    </m:r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vi-VN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vi-VN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=−3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vi-VN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vi-VN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vi-VN" dirty="0">
                  <a:effectLst/>
                  <a:latin typeface="Arial" panose="020B0604020202020204" pitchFamily="34" charset="0"/>
                  <a:ea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824826-21AD-4E7E-9170-87F7F0075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19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3B2EE0-B9BD-4F2E-B9A5-42631837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B1E1A-A989-4C95-B687-676A4C57D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05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Then: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d>
                      <m:r>
                        <a:rPr lang="vi-VN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  </m:t>
                      </m:r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vi-VN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dirty="0">
                  <a:effectLst/>
                  <a:latin typeface="Arial" panose="020B0604020202020204" pitchFamily="34" charset="0"/>
                  <a:ea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dirty="0"/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3B1E1A-A989-4C95-B687-676A4C57D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0597"/>
              </a:xfrm>
              <a:blipFill>
                <a:blip r:embed="rId2"/>
                <a:stretch>
                  <a:fillRect l="-1809" t="-17403" b="-493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103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7125C43-56B4-4B34-80B4-3181684E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 Light (Đầu đề)"/>
              </a:rPr>
              <a:t>2. HHL </a:t>
            </a:r>
            <a:r>
              <a:rPr lang="vi-VN" dirty="0" err="1">
                <a:latin typeface="Calibri Light (Đầu đề)"/>
              </a:rPr>
              <a:t>Algorithm</a:t>
            </a:r>
            <a:endParaRPr lang="vi-VN">
              <a:latin typeface="Calibri Light (Đầu đề)"/>
            </a:endParaRPr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C746BC6C-D06F-40E1-9AF7-83568D624B2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766"/>
            <a:ext cx="10515600" cy="5108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61310C5B-0B58-4B80-B8CB-138CD3D045CD}"/>
              </a:ext>
            </a:extLst>
          </p:cNvPr>
          <p:cNvCxnSpPr>
            <a:cxnSpLocks/>
          </p:cNvCxnSpPr>
          <p:nvPr/>
        </p:nvCxnSpPr>
        <p:spPr>
          <a:xfrm>
            <a:off x="1688123" y="2147597"/>
            <a:ext cx="0" cy="1093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12AC1183-52B2-4D12-9F87-2A0014DF5BDB}"/>
                  </a:ext>
                </a:extLst>
              </p:cNvPr>
              <p:cNvSpPr txBox="1"/>
              <p:nvPr/>
            </p:nvSpPr>
            <p:spPr>
              <a:xfrm>
                <a:off x="288388" y="1594490"/>
                <a:ext cx="27994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>
                    <a:latin typeface="Calibri (Thân)"/>
                    <a:ea typeface="Cambria" panose="02040503050406030204" pitchFamily="18" charset="0"/>
                  </a:rPr>
                  <a:t>Load eigenvalue of </a:t>
                </a:r>
                <a14:m>
                  <m:oMath xmlns:m="http://schemas.openxmlformats.org/officeDocument/2006/math">
                    <m:r>
                      <a:rPr lang="vi-VN" sz="24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vi-VN" sz="2400">
                  <a:latin typeface="Calibri (Thân)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12AC1183-52B2-4D12-9F87-2A0014DF5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88" y="1594490"/>
                <a:ext cx="2799469" cy="461665"/>
              </a:xfrm>
              <a:prstGeom prst="rect">
                <a:avLst/>
              </a:prstGeom>
              <a:blipFill>
                <a:blip r:embed="rId3"/>
                <a:stretch>
                  <a:fillRect l="-3261" t="-10667" b="-30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41115388-02D5-4B70-B965-98D8FEA77C05}"/>
              </a:ext>
            </a:extLst>
          </p:cNvPr>
          <p:cNvCxnSpPr>
            <a:cxnSpLocks/>
          </p:cNvCxnSpPr>
          <p:nvPr/>
        </p:nvCxnSpPr>
        <p:spPr>
          <a:xfrm flipH="1" flipV="1">
            <a:off x="1840523" y="5473661"/>
            <a:ext cx="982190" cy="745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D938F497-7DA6-405E-88C6-BAF07A35F59E}"/>
                  </a:ext>
                </a:extLst>
              </p:cNvPr>
              <p:cNvSpPr txBox="1"/>
              <p:nvPr/>
            </p:nvSpPr>
            <p:spPr>
              <a:xfrm>
                <a:off x="2443546" y="6262042"/>
                <a:ext cx="1288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>
                    <a:latin typeface="Calibri (Thân)"/>
                    <a:ea typeface="Cambria" panose="02040503050406030204" pitchFamily="18" charset="0"/>
                  </a:rPr>
                  <a:t>Load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vi-VN" sz="2400">
                    <a:latin typeface="Calibri (Thân)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D938F497-7DA6-405E-88C6-BAF07A35F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546" y="6262042"/>
                <a:ext cx="1288621" cy="461665"/>
              </a:xfrm>
              <a:prstGeom prst="rect">
                <a:avLst/>
              </a:prstGeom>
              <a:blipFill>
                <a:blip r:embed="rId4"/>
                <a:stretch>
                  <a:fillRect l="-7583" t="-130263" r="-45972" b="-19473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201AC1C7-BADE-4D3C-92CA-EC21D46BFF1F}"/>
              </a:ext>
            </a:extLst>
          </p:cNvPr>
          <p:cNvCxnSpPr>
            <a:cxnSpLocks/>
          </p:cNvCxnSpPr>
          <p:nvPr/>
        </p:nvCxnSpPr>
        <p:spPr>
          <a:xfrm flipV="1">
            <a:off x="1272209" y="4650669"/>
            <a:ext cx="415913" cy="1519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9B7D0D3E-CEB6-47D9-860B-0EA45515BD43}"/>
              </a:ext>
            </a:extLst>
          </p:cNvPr>
          <p:cNvSpPr txBox="1"/>
          <p:nvPr/>
        </p:nvSpPr>
        <p:spPr>
          <a:xfrm>
            <a:off x="288388" y="6262042"/>
            <a:ext cx="1552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>
                <a:latin typeface="Calibri (Thân)"/>
                <a:ea typeface="Cambria" panose="02040503050406030204" pitchFamily="18" charset="0"/>
              </a:rPr>
              <a:t>Ancilla bit</a:t>
            </a:r>
          </a:p>
        </p:txBody>
      </p:sp>
    </p:spTree>
    <p:extLst>
      <p:ext uri="{BB962C8B-B14F-4D97-AF65-F5344CB8AC3E}">
        <p14:creationId xmlns:p14="http://schemas.microsoft.com/office/powerpoint/2010/main" val="2415012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4E76321-5B0D-4EFB-B188-3B2846A3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3. Run on qiskit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3B2D93F5-1505-4569-B0B2-480C9535C0B1}"/>
              </a:ext>
            </a:extLst>
          </p:cNvPr>
          <p:cNvSpPr txBox="1"/>
          <p:nvPr/>
        </p:nvSpPr>
        <p:spPr>
          <a:xfrm>
            <a:off x="2555601" y="4694550"/>
            <a:ext cx="237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Approximate t</a:t>
            </a:r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6F34F66-64FF-4483-9818-53B57412C214}"/>
              </a:ext>
            </a:extLst>
          </p:cNvPr>
          <p:cNvSpPr txBox="1"/>
          <p:nvPr/>
        </p:nvSpPr>
        <p:spPr>
          <a:xfrm>
            <a:off x="7509012" y="4854263"/>
            <a:ext cx="237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Exactly t</a:t>
            </a:r>
            <a:endParaRPr lang="vi-VN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8A734C29-C6F9-48C0-859F-2DE022EA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5161"/>
            <a:ext cx="2448339" cy="1580927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C82AC941-6B55-4C90-B8DD-E1900F9360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907"/>
          <a:stretch/>
        </p:blipFill>
        <p:spPr>
          <a:xfrm>
            <a:off x="838199" y="3056088"/>
            <a:ext cx="4634949" cy="1580926"/>
          </a:xfrm>
          <a:prstGeom prst="rect">
            <a:avLst/>
          </a:prstGeom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9ED276C7-13AA-42D6-9BFC-4F9D4BDCDCAC}"/>
              </a:ext>
            </a:extLst>
          </p:cNvPr>
          <p:cNvSpPr txBox="1"/>
          <p:nvPr/>
        </p:nvSpPr>
        <p:spPr>
          <a:xfrm>
            <a:off x="82825" y="4879216"/>
            <a:ext cx="1364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Norm 2 between 2 solutions</a:t>
            </a:r>
            <a:endParaRPr lang="vi-VN"/>
          </a:p>
        </p:txBody>
      </p:sp>
      <p:cxnSp>
        <p:nvCxnSpPr>
          <p:cNvPr id="21" name="Đường kết nối: Mũi tên Gấp khúc 20">
            <a:extLst>
              <a:ext uri="{FF2B5EF4-FFF2-40B4-BE49-F238E27FC236}">
                <a16:creationId xmlns:a16="http://schemas.microsoft.com/office/drawing/2014/main" id="{DD1B476C-1BCF-4589-8975-F61C13F253BC}"/>
              </a:ext>
            </a:extLst>
          </p:cNvPr>
          <p:cNvCxnSpPr/>
          <p:nvPr/>
        </p:nvCxnSpPr>
        <p:spPr>
          <a:xfrm flipV="1">
            <a:off x="235225" y="4217930"/>
            <a:ext cx="530087" cy="4936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Hình ảnh 22">
            <a:extLst>
              <a:ext uri="{FF2B5EF4-FFF2-40B4-BE49-F238E27FC236}">
                <a16:creationId xmlns:a16="http://schemas.microsoft.com/office/drawing/2014/main" id="{35270AB6-9DB1-4BFA-A090-12D1EDB9C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34" y="3056089"/>
            <a:ext cx="4742775" cy="1580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Viết tay 23">
                <a:extLst>
                  <a:ext uri="{FF2B5EF4-FFF2-40B4-BE49-F238E27FC236}">
                    <a16:creationId xmlns:a16="http://schemas.microsoft.com/office/drawing/2014/main" id="{047F3FA1-5B19-4ECE-927E-6486BAD5B08C}"/>
                  </a:ext>
                </a:extLst>
              </p14:cNvPr>
              <p14:cNvContentPartPr/>
              <p14:nvPr/>
            </p14:nvContentPartPr>
            <p14:xfrm>
              <a:off x="6795360" y="803520"/>
              <a:ext cx="2920320" cy="2081160"/>
            </p14:xfrm>
          </p:contentPart>
        </mc:Choice>
        <mc:Fallback xmlns="">
          <p:pic>
            <p:nvPicPr>
              <p:cNvPr id="24" name="Viết tay 23">
                <a:extLst>
                  <a:ext uri="{FF2B5EF4-FFF2-40B4-BE49-F238E27FC236}">
                    <a16:creationId xmlns:a16="http://schemas.microsoft.com/office/drawing/2014/main" id="{047F3FA1-5B19-4ECE-927E-6486BAD5B0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6000" y="794160"/>
                <a:ext cx="2939040" cy="20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Viết tay 24">
                <a:extLst>
                  <a:ext uri="{FF2B5EF4-FFF2-40B4-BE49-F238E27FC236}">
                    <a16:creationId xmlns:a16="http://schemas.microsoft.com/office/drawing/2014/main" id="{6649AB35-D487-4F1D-802C-150C2013E21B}"/>
                  </a:ext>
                </a:extLst>
              </p14:cNvPr>
              <p14:cNvContentPartPr/>
              <p14:nvPr/>
            </p14:nvContentPartPr>
            <p14:xfrm>
              <a:off x="3902400" y="901800"/>
              <a:ext cx="2813040" cy="1955880"/>
            </p14:xfrm>
          </p:contentPart>
        </mc:Choice>
        <mc:Fallback xmlns="">
          <p:pic>
            <p:nvPicPr>
              <p:cNvPr id="25" name="Viết tay 24">
                <a:extLst>
                  <a:ext uri="{FF2B5EF4-FFF2-40B4-BE49-F238E27FC236}">
                    <a16:creationId xmlns:a16="http://schemas.microsoft.com/office/drawing/2014/main" id="{6649AB35-D487-4F1D-802C-150C2013E2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93040" y="892440"/>
                <a:ext cx="2831760" cy="19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6791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36AA93DC-0939-47E5-88D6-E8BD051A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69459" cy="789540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1DBDE6B9-237D-4237-8BB5-111A302BB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540"/>
            <a:ext cx="8669459" cy="1742391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837959F1-3966-47E5-BAE1-CF2238155293}"/>
              </a:ext>
            </a:extLst>
          </p:cNvPr>
          <p:cNvSpPr txBox="1"/>
          <p:nvPr/>
        </p:nvSpPr>
        <p:spPr>
          <a:xfrm>
            <a:off x="8772939" y="944248"/>
            <a:ext cx="163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3 GB RAM</a:t>
            </a:r>
            <a:endParaRPr lang="vi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7C4D0E6E-C259-4A5F-8411-2094AEA1C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31931"/>
            <a:ext cx="4121834" cy="3042884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3C769C45-490A-4FF7-B2EB-61BB753F31AD}"/>
              </a:ext>
            </a:extLst>
          </p:cNvPr>
          <p:cNvSpPr txBox="1"/>
          <p:nvPr/>
        </p:nvSpPr>
        <p:spPr>
          <a:xfrm>
            <a:off x="1245908" y="5743357"/>
            <a:ext cx="163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3.9 GB RAM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96088E3D-131C-4427-ACCC-C63A91B3F3F7}"/>
                  </a:ext>
                </a:extLst>
              </p:cNvPr>
              <p:cNvSpPr txBox="1"/>
              <p:nvPr/>
            </p:nvSpPr>
            <p:spPr>
              <a:xfrm>
                <a:off x="9382966" y="5743357"/>
                <a:ext cx="2710069" cy="895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𝑅𝐴𝑀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0.5 ∗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𝑇𝐼𝑀𝐸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96088E3D-131C-4427-ACCC-C63A91B3F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966" y="5743357"/>
                <a:ext cx="2710069" cy="8956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69562DA-71E2-4669-B30C-A3A4D2292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1834" y="3393997"/>
            <a:ext cx="7971201" cy="21504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Viết tay 14">
                <a:extLst>
                  <a:ext uri="{FF2B5EF4-FFF2-40B4-BE49-F238E27FC236}">
                    <a16:creationId xmlns:a16="http://schemas.microsoft.com/office/drawing/2014/main" id="{D853E5B7-1168-4E96-810A-1B495F642409}"/>
                  </a:ext>
                </a:extLst>
              </p14:cNvPr>
              <p14:cNvContentPartPr/>
              <p14:nvPr/>
            </p14:nvContentPartPr>
            <p14:xfrm>
              <a:off x="687600" y="2295000"/>
              <a:ext cx="6438600" cy="1188000"/>
            </p14:xfrm>
          </p:contentPart>
        </mc:Choice>
        <mc:Fallback xmlns="">
          <p:pic>
            <p:nvPicPr>
              <p:cNvPr id="15" name="Viết tay 14">
                <a:extLst>
                  <a:ext uri="{FF2B5EF4-FFF2-40B4-BE49-F238E27FC236}">
                    <a16:creationId xmlns:a16="http://schemas.microsoft.com/office/drawing/2014/main" id="{D853E5B7-1168-4E96-810A-1B495F6424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8240" y="2285640"/>
                <a:ext cx="6457320" cy="12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1470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E0C74698-1B93-44D8-92CE-7BB05E7D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3" y="862840"/>
            <a:ext cx="9913040" cy="1058511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3851C5E-8A31-4DB5-9EB4-25F2DB754379}"/>
              </a:ext>
            </a:extLst>
          </p:cNvPr>
          <p:cNvSpPr txBox="1"/>
          <p:nvPr/>
        </p:nvSpPr>
        <p:spPr>
          <a:xfrm>
            <a:off x="410403" y="318052"/>
            <a:ext cx="5274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5000 x 5000 matrix solving by classical computer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39A7755B-C1E1-4BA8-B09A-4CB8E929759E}"/>
                  </a:ext>
                </a:extLst>
              </p:cNvPr>
              <p:cNvSpPr txBox="1"/>
              <p:nvPr/>
            </p:nvSpPr>
            <p:spPr>
              <a:xfrm>
                <a:off x="410402" y="2096807"/>
                <a:ext cx="6785527" cy="1489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5000 x 5000 matrix solving by quantum simulation require: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𝑅𝐴𝑀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0.5 ∗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2(5000)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=35 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𝑇𝐼𝑀𝐸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5000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vi-VN"/>
              </a:p>
              <a:p>
                <a:endParaRPr lang="vi-VN"/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39A7755B-C1E1-4BA8-B09A-4CB8E9297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2" y="2096807"/>
                <a:ext cx="6785527" cy="1489254"/>
              </a:xfrm>
              <a:prstGeom prst="rect">
                <a:avLst/>
              </a:prstGeom>
              <a:blipFill>
                <a:blip r:embed="rId3"/>
                <a:stretch>
                  <a:fillRect l="-719" t="-245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16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6687B9-2786-4415-95FF-D42FC6FE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HHL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228F092-E9A9-414B-9032-59019EE86C81}"/>
              </a:ext>
            </a:extLst>
          </p:cNvPr>
          <p:cNvSpPr/>
          <p:nvPr/>
        </p:nvSpPr>
        <p:spPr>
          <a:xfrm>
            <a:off x="944218" y="2792379"/>
            <a:ext cx="2236304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Quantum phase estimation (QPE)</a:t>
            </a:r>
            <a:endParaRPr lang="vi-VN" sz="2000"/>
          </a:p>
        </p:txBody>
      </p:sp>
      <p:pic>
        <p:nvPicPr>
          <p:cNvPr id="5" name="Chỗ dành sẵn cho Nội dung 3">
            <a:extLst>
              <a:ext uri="{FF2B5EF4-FFF2-40B4-BE49-F238E27FC236}">
                <a16:creationId xmlns:a16="http://schemas.microsoft.com/office/drawing/2014/main" id="{4A7ED0D7-9831-4477-9E4C-AA07CC94F1B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4215"/>
            <a:ext cx="5416826" cy="26313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Đường kết nối: Mũi tên Gấp khúc 6">
            <a:extLst>
              <a:ext uri="{FF2B5EF4-FFF2-40B4-BE49-F238E27FC236}">
                <a16:creationId xmlns:a16="http://schemas.microsoft.com/office/drawing/2014/main" id="{C0E6A843-E526-494B-A19B-FECD3A7A210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180522" y="2411896"/>
            <a:ext cx="4611756" cy="1043265"/>
          </a:xfrm>
          <a:prstGeom prst="bentConnector3">
            <a:avLst>
              <a:gd name="adj1" fmla="val 1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C363DA86-00F8-495B-9BA5-A19205E21FEF}"/>
              </a:ext>
            </a:extLst>
          </p:cNvPr>
          <p:cNvSpPr/>
          <p:nvPr/>
        </p:nvSpPr>
        <p:spPr>
          <a:xfrm>
            <a:off x="9117496" y="5117445"/>
            <a:ext cx="2236304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Inverse of QPE</a:t>
            </a:r>
            <a:endParaRPr lang="vi-VN" sz="2000"/>
          </a:p>
        </p:txBody>
      </p:sp>
      <p:cxnSp>
        <p:nvCxnSpPr>
          <p:cNvPr id="13" name="Đường kết nối: Mũi tên Gấp khúc 12">
            <a:extLst>
              <a:ext uri="{FF2B5EF4-FFF2-40B4-BE49-F238E27FC236}">
                <a16:creationId xmlns:a16="http://schemas.microsoft.com/office/drawing/2014/main" id="{DC492DBF-6B46-42DA-A37D-F98690B6C9B6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8323799" y="3205595"/>
            <a:ext cx="2705548" cy="111815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B2D05528-59C6-47EF-86F6-B22A949FA7E1}"/>
              </a:ext>
            </a:extLst>
          </p:cNvPr>
          <p:cNvSpPr/>
          <p:nvPr/>
        </p:nvSpPr>
        <p:spPr>
          <a:xfrm>
            <a:off x="944218" y="5154063"/>
            <a:ext cx="1613452" cy="89835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Phase kickback</a:t>
            </a:r>
            <a:endParaRPr lang="vi-VN" sz="2000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0AB5115B-E37B-4E49-8D5B-52E4F9DD1AB9}"/>
              </a:ext>
            </a:extLst>
          </p:cNvPr>
          <p:cNvSpPr/>
          <p:nvPr/>
        </p:nvSpPr>
        <p:spPr>
          <a:xfrm>
            <a:off x="3180522" y="5154063"/>
            <a:ext cx="2236304" cy="89835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Quantum Fourier transform (QFT)</a:t>
            </a:r>
            <a:endParaRPr lang="vi-VN" sz="2000"/>
          </a:p>
        </p:txBody>
      </p:sp>
      <p:cxnSp>
        <p:nvCxnSpPr>
          <p:cNvPr id="18" name="Đường kết nối: Mũi tên Gấp khúc 17">
            <a:extLst>
              <a:ext uri="{FF2B5EF4-FFF2-40B4-BE49-F238E27FC236}">
                <a16:creationId xmlns:a16="http://schemas.microsoft.com/office/drawing/2014/main" id="{613AB459-8D35-49D3-AE88-2F9694173228}"/>
              </a:ext>
            </a:extLst>
          </p:cNvPr>
          <p:cNvCxnSpPr>
            <a:cxnSpLocks/>
            <a:stCxn id="16" idx="0"/>
            <a:endCxn id="4" idx="2"/>
          </p:cNvCxnSpPr>
          <p:nvPr/>
        </p:nvCxnSpPr>
        <p:spPr>
          <a:xfrm rot="5400000" flipH="1" flipV="1">
            <a:off x="1388597" y="4480290"/>
            <a:ext cx="1036121" cy="31142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: Mũi tên Gấp khúc 21">
            <a:extLst>
              <a:ext uri="{FF2B5EF4-FFF2-40B4-BE49-F238E27FC236}">
                <a16:creationId xmlns:a16="http://schemas.microsoft.com/office/drawing/2014/main" id="{9EE5905C-9B03-4E27-AB46-E14D2FA1F96F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rot="16200000" flipV="1">
            <a:off x="2662462" y="3517851"/>
            <a:ext cx="1036121" cy="223630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502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58FD24-EA0B-47A7-8E7E-F32B91EB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Questions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3A9B016-A83D-471C-A727-8D71B95FB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4018"/>
          </a:xfrm>
        </p:spPr>
        <p:txBody>
          <a:bodyPr/>
          <a:lstStyle/>
          <a:p>
            <a:pPr marL="0" indent="0">
              <a:buNone/>
            </a:pPr>
            <a:r>
              <a:rPr lang="vi-VN">
                <a:latin typeface="Calibri (Thân)"/>
              </a:rPr>
              <a:t>1. What ancilla qubits used for?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11113D3-26F2-4692-B9BE-99F6334DB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87" y="2546518"/>
            <a:ext cx="4591929" cy="376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A7EC552-55F1-495C-8A24-64097DBEFDD1}"/>
              </a:ext>
            </a:extLst>
          </p:cNvPr>
          <p:cNvSpPr txBox="1"/>
          <p:nvPr/>
        </p:nvSpPr>
        <p:spPr>
          <a:xfrm>
            <a:off x="5584874" y="2546518"/>
            <a:ext cx="4754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sz="2800">
                <a:latin typeface="Calibri (Thân)"/>
              </a:rPr>
              <a:t>Store output</a:t>
            </a:r>
          </a:p>
          <a:p>
            <a:pPr marL="285750" indent="-285750">
              <a:buFontTx/>
              <a:buChar char="-"/>
            </a:pPr>
            <a:r>
              <a:rPr lang="vi-VN" sz="2800">
                <a:latin typeface="Calibri (Thân)"/>
              </a:rPr>
              <a:t>Padding for higher order gate with use less component than normal</a:t>
            </a:r>
          </a:p>
        </p:txBody>
      </p:sp>
    </p:spTree>
    <p:extLst>
      <p:ext uri="{BB962C8B-B14F-4D97-AF65-F5344CB8AC3E}">
        <p14:creationId xmlns:p14="http://schemas.microsoft.com/office/powerpoint/2010/main" val="3480903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58FD24-EA0B-47A7-8E7E-F32B91EB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 Light (Đầu đề)"/>
              </a:rPr>
              <a:t>Questions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3A9B016-A83D-471C-A727-8D71B95FB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36922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vi-VN">
                <a:latin typeface="Calibri (Thân)"/>
              </a:rPr>
              <a:t>How many iterations needed?</a:t>
            </a:r>
          </a:p>
          <a:p>
            <a:pPr marL="514350" indent="-514350">
              <a:buAutoNum type="arabicPeriod"/>
            </a:pPr>
            <a:r>
              <a:rPr lang="vi-VN">
                <a:latin typeface="Calibri (Thân)"/>
              </a:rPr>
              <a:t>Common time?</a:t>
            </a:r>
          </a:p>
          <a:p>
            <a:pPr marL="514350" indent="-514350">
              <a:buAutoNum type="arabicPeriod"/>
            </a:pPr>
            <a:r>
              <a:rPr lang="vi-VN">
                <a:latin typeface="Calibri (Thân)"/>
              </a:rPr>
              <a:t>The relationship between size of input (n) and number of qubits </a:t>
            </a:r>
          </a:p>
          <a:p>
            <a:pPr marL="514350" indent="-514350">
              <a:buAutoNum type="arabicPeriod"/>
            </a:pPr>
            <a:endParaRPr lang="vi-VN">
              <a:latin typeface="Calibri (Thân)"/>
            </a:endParaRPr>
          </a:p>
        </p:txBody>
      </p:sp>
    </p:spTree>
    <p:extLst>
      <p:ext uri="{BB962C8B-B14F-4D97-AF65-F5344CB8AC3E}">
        <p14:creationId xmlns:p14="http://schemas.microsoft.com/office/powerpoint/2010/main" val="3167173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15CA0E-01B5-4BAE-9498-7BE72E7A0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search algothrithm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9EC6AD3-A3F8-42CA-A065-77283B557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Lov Grover 1995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1120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58501F0-69F5-4034-9FDE-D444E4AC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Problem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3723630-C915-4FB5-B263-9D2F446C1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376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Given an unordered array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elements, find a particular element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Classical: brute-force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queries (average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)</a:t>
                </a:r>
              </a:p>
              <a:p>
                <a:pPr marL="0" indent="0">
                  <a:buNone/>
                </a:pPr>
                <a:r>
                  <a:rPr lang="en-US"/>
                  <a:t>Quantum: grover’s algothrithm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3723630-C915-4FB5-B263-9D2F446C1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3760"/>
                <a:ext cx="10515600" cy="4351338"/>
              </a:xfr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C9074310-0E00-4523-8859-7D3C0CC2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20" t="48387" r="28992" b="36122"/>
          <a:stretch/>
        </p:blipFill>
        <p:spPr>
          <a:xfrm>
            <a:off x="838200" y="3470352"/>
            <a:ext cx="9243847" cy="208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10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F267E48-2D45-440C-BCB3-6DE0235B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088" y="542925"/>
            <a:ext cx="85248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51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A2920E8-D235-4346-A46D-9E235CB8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Algothrithm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839B449-8F2E-4BAE-91DC-6ECDC3CE4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Imagine that you are given a function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{0, 1} </m:t>
                    </m:r>
                  </m:oMath>
                </a14:m>
                <a:r>
                  <a:rPr lang="en-US"/>
                  <a:t>and you are assured that there exists exactly one binary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is a unitary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/>
                  <a:t> that take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839B449-8F2E-4BAE-91DC-6ECDC3CE4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726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023D266-553A-4D38-81AA-F7E7BEA1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Algothrithm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BB4A0D3B-4C6D-4143-BD47-5FBD3984E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690688"/>
            <a:ext cx="6561406" cy="328456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4A21E236-E198-4898-BB52-AD88C6B1902E}"/>
                  </a:ext>
                </a:extLst>
              </p:cNvPr>
              <p:cNvSpPr txBox="1"/>
              <p:nvPr/>
            </p:nvSpPr>
            <p:spPr>
              <a:xfrm>
                <a:off x="7695027" y="1748741"/>
                <a:ext cx="36587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=2,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4A21E236-E198-4898-BB52-AD88C6B1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27" y="1748741"/>
                <a:ext cx="365877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042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BE4261-A43E-42B8-BFEC-5FFF9C97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Algothrithm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D09B88BC-B142-41CA-850F-5A0F1A3E9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33537"/>
            <a:ext cx="8105775" cy="3590925"/>
          </a:xfr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6C16800F-5425-40BF-B3B1-3CB2502C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97" y="67296"/>
            <a:ext cx="6107356" cy="346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08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18FB88-6D1F-48D0-82FD-B7478E2F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038E401-3653-43EE-904A-4AD14165EE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12859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=101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Initial state: (1)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038E401-3653-43EE-904A-4AD14165E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128590"/>
              </a:xfrm>
              <a:blipFill>
                <a:blip r:embed="rId2"/>
                <a:stretch>
                  <a:fillRect l="-1217" b="-268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5F781D86-991A-4A45-A46C-77279A1FA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66293"/>
            <a:ext cx="7053775" cy="1093544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F6FEC031-7754-4D90-8FF8-D86535E4D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26574"/>
            <a:ext cx="7658686" cy="12837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After 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/>
                  <a:t> (2):</a:t>
                </a:r>
                <a:endParaRPr lang="vi-VN"/>
              </a:p>
            </p:txBody>
          </p:sp>
        </mc:Choice>
        <mc:Fallback xmlns="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  <a:blipFill>
                <a:blip r:embed="rId5"/>
                <a:stretch>
                  <a:fillRect l="-1217" t="-13265" b="-122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682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18FB88-6D1F-48D0-82FD-B7478E2F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038E401-3653-43EE-904A-4AD14165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859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After apply Phase inversion: (3a)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Calculate average of all elements in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 (3a)</a:t>
                </a:r>
                <a:endParaRPr lang="vi-VN"/>
              </a:p>
            </p:txBody>
          </p:sp>
        </mc:Choice>
        <mc:Fallback xmlns="">
          <p:sp>
            <p:nvSpPr>
              <p:cNvPr id="8" name="Chỗ dành sẵn cho Nội dung 2">
                <a:extLst>
                  <a:ext uri="{FF2B5EF4-FFF2-40B4-BE49-F238E27FC236}">
                    <a16:creationId xmlns:a16="http://schemas.microsoft.com/office/drawing/2014/main" id="{CD43D72E-49E2-4BDC-8A69-DCA3A86A0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8479"/>
                <a:ext cx="10515600" cy="598095"/>
              </a:xfrm>
              <a:prstGeom prst="rect">
                <a:avLst/>
              </a:prstGeom>
              <a:blipFill>
                <a:blip r:embed="rId2"/>
                <a:stretch>
                  <a:fillRect l="-1217" t="-16327" b="-91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Hình ảnh 5">
            <a:extLst>
              <a:ext uri="{FF2B5EF4-FFF2-40B4-BE49-F238E27FC236}">
                <a16:creationId xmlns:a16="http://schemas.microsoft.com/office/drawing/2014/main" id="{A0C90042-69E6-4C30-AFF1-3C378C30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03364"/>
            <a:ext cx="8639175" cy="1171575"/>
          </a:xfrm>
          <a:prstGeom prst="rect">
            <a:avLst/>
          </a:prstGeom>
        </p:spPr>
      </p:pic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CEA64477-43BA-475E-ACB1-994B9E3D2C3E}"/>
              </a:ext>
            </a:extLst>
          </p:cNvPr>
          <p:cNvSpPr/>
          <p:nvPr/>
        </p:nvSpPr>
        <p:spPr>
          <a:xfrm>
            <a:off x="6414867" y="2433024"/>
            <a:ext cx="1055077" cy="1280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BA5A88B1-2D78-459D-8A90-7BF6DA69B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90379"/>
            <a:ext cx="5235837" cy="134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62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ình ảnh 5">
            <a:extLst>
              <a:ext uri="{FF2B5EF4-FFF2-40B4-BE49-F238E27FC236}">
                <a16:creationId xmlns:a16="http://schemas.microsoft.com/office/drawing/2014/main" id="{5D5A849E-C330-48FC-9864-D95C1E41C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57" t="28528" r="32444" b="27697"/>
          <a:stretch/>
        </p:blipFill>
        <p:spPr>
          <a:xfrm>
            <a:off x="5963213" y="156888"/>
            <a:ext cx="3841968" cy="2413873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36DD9B4E-E509-40D8-8D54-ACCCA0A3EA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97"/>
          <a:stretch/>
        </p:blipFill>
        <p:spPr>
          <a:xfrm>
            <a:off x="849848" y="839516"/>
            <a:ext cx="4393849" cy="1731245"/>
          </a:xfrm>
          <a:prstGeom prst="rect">
            <a:avLst/>
          </a:prstGeom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F3643F48-25C8-44E3-A626-5649E1EE3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05698"/>
            <a:ext cx="7649528" cy="1210621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727A341E-1909-47A0-82D0-BE289B2C4B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802"/>
          <a:stretch/>
        </p:blipFill>
        <p:spPr>
          <a:xfrm>
            <a:off x="838200" y="4051256"/>
            <a:ext cx="7315949" cy="139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60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E879AE-9768-4C48-8251-5DC97CBF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 (iteration 1)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/>
              <p:nvPr/>
            </p:nvSpPr>
            <p:spPr>
              <a:xfrm>
                <a:off x="748959" y="4865243"/>
                <a:ext cx="6529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59" y="4865243"/>
                <a:ext cx="65297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Hình ảnh 10">
            <a:extLst>
              <a:ext uri="{FF2B5EF4-FFF2-40B4-BE49-F238E27FC236}">
                <a16:creationId xmlns:a16="http://schemas.microsoft.com/office/drawing/2014/main" id="{65FCEC65-2942-437F-A4AA-F10420E4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94" y="1451447"/>
            <a:ext cx="6787009" cy="2993918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F78563F6-DCC9-4446-A420-8CEDD3427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264" y="4445365"/>
            <a:ext cx="7812225" cy="1066209"/>
          </a:xfrm>
          <a:prstGeom prst="rect">
            <a:avLst/>
          </a:prstGeom>
        </p:spPr>
      </p:pic>
      <p:pic>
        <p:nvPicPr>
          <p:cNvPr id="15" name="Hình ảnh 14">
            <a:extLst>
              <a:ext uri="{FF2B5EF4-FFF2-40B4-BE49-F238E27FC236}">
                <a16:creationId xmlns:a16="http://schemas.microsoft.com/office/drawing/2014/main" id="{059DA054-91B6-4662-B939-108B48D5CC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8877"/>
          <a:stretch/>
        </p:blipFill>
        <p:spPr>
          <a:xfrm>
            <a:off x="3086279" y="5540641"/>
            <a:ext cx="8784811" cy="1066209"/>
          </a:xfrm>
          <a:prstGeom prst="rect">
            <a:avLst/>
          </a:prstGeom>
        </p:spPr>
      </p:pic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FF978D0-1251-405F-9D11-83F0DABAF48E}"/>
              </a:ext>
            </a:extLst>
          </p:cNvPr>
          <p:cNvSpPr txBox="1"/>
          <p:nvPr/>
        </p:nvSpPr>
        <p:spPr>
          <a:xfrm>
            <a:off x="134668" y="6031210"/>
            <a:ext cx="2951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After phase inversion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23493776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E879AE-9768-4C48-8251-5DC97CBF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 (iteration 2)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37156C6-8A56-4D48-B350-C84D44592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8337"/>
            <a:ext cx="7096125" cy="2981325"/>
          </a:xfr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8E088A78-2BB6-4C40-A63F-C91EA3C38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75" y="5167311"/>
            <a:ext cx="9505950" cy="114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/>
              <p:nvPr/>
            </p:nvSpPr>
            <p:spPr>
              <a:xfrm>
                <a:off x="868387" y="5663980"/>
                <a:ext cx="6529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87" y="5663980"/>
                <a:ext cx="65297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82FE7193-E6DD-4CBC-A722-3EB6A342875F}"/>
                  </a:ext>
                </a:extLst>
              </p:cNvPr>
              <p:cNvSpPr txBox="1"/>
              <p:nvPr/>
            </p:nvSpPr>
            <p:spPr>
              <a:xfrm>
                <a:off x="7934325" y="2981639"/>
                <a:ext cx="4023213" cy="1417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Remember that we need to repeat step 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√(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to achieve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82FE7193-E6DD-4CBC-A722-3EB6A3428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325" y="2981639"/>
                <a:ext cx="4023213" cy="1417119"/>
              </a:xfrm>
              <a:prstGeom prst="rect">
                <a:avLst/>
              </a:prstGeom>
              <a:blipFill>
                <a:blip r:embed="rId5"/>
                <a:stretch>
                  <a:fillRect l="-3182" t="-3863" r="-1212" b="-1115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Hình ảnh 3">
            <a:extLst>
              <a:ext uri="{FF2B5EF4-FFF2-40B4-BE49-F238E27FC236}">
                <a16:creationId xmlns:a16="http://schemas.microsoft.com/office/drawing/2014/main" id="{90C3633D-0264-4350-9F5B-3A73FEC85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707" y="359527"/>
            <a:ext cx="4357556" cy="129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89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E879AE-9768-4C48-8251-5DC97CBF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Example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8E088A78-2BB6-4C40-A63F-C91EA3C38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88" y="1690688"/>
            <a:ext cx="9505950" cy="114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/>
              <p:nvPr/>
            </p:nvSpPr>
            <p:spPr>
              <a:xfrm>
                <a:off x="838200" y="2187357"/>
                <a:ext cx="6529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vi-VN" sz="36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63CD10D-68AE-49C3-837A-647AC6E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87357"/>
                <a:ext cx="65297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hỗ dành sẵn cho Nội dung 2">
                <a:extLst>
                  <a:ext uri="{FF2B5EF4-FFF2-40B4-BE49-F238E27FC236}">
                    <a16:creationId xmlns:a16="http://schemas.microsoft.com/office/drawing/2014/main" id="{B61FFF2D-4D2F-4690-92D7-BCB2CFF99C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16251"/>
                <a:ext cx="10515600" cy="3476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Measure: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|101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=0.9453=94.53%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=0.0078=0.78%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9" name="Chỗ dành sẵn cho Nội dung 2">
                <a:extLst>
                  <a:ext uri="{FF2B5EF4-FFF2-40B4-BE49-F238E27FC236}">
                    <a16:creationId xmlns:a16="http://schemas.microsoft.com/office/drawing/2014/main" id="{B61FFF2D-4D2F-4690-92D7-BCB2CFF99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16251"/>
                <a:ext cx="10515600" cy="3476624"/>
              </a:xfrm>
              <a:blipFill>
                <a:blip r:embed="rId4"/>
                <a:stretch>
                  <a:fillRect l="-1217" t="-29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4862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DF0D03F3-58D8-49FD-958A-67F543C15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7603"/>
            <a:ext cx="8024446" cy="548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785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7927F25-9A9E-43C6-A8EC-C4A73612C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45058" cy="180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4F182137-350F-439B-B368-6A808220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39" y="1806291"/>
            <a:ext cx="5610225" cy="4010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8685E71-A574-4E36-B772-A01FBA428CBA}"/>
                  </a:ext>
                </a:extLst>
              </p:cNvPr>
              <p:cNvSpPr txBox="1"/>
              <p:nvPr/>
            </p:nvSpPr>
            <p:spPr>
              <a:xfrm>
                <a:off x="2216103" y="6111336"/>
                <a:ext cx="2806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=101 &amp; 110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18685E71-A574-4E36-B772-A01FBA428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103" y="6111336"/>
                <a:ext cx="2806063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ình ảnh 6">
            <a:extLst>
              <a:ext uri="{FF2B5EF4-FFF2-40B4-BE49-F238E27FC236}">
                <a16:creationId xmlns:a16="http://schemas.microsoft.com/office/drawing/2014/main" id="{098BC11A-3C8A-4C7B-9CE6-822DE5D76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200" y="1760478"/>
            <a:ext cx="5878391" cy="417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26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1688A78-EEFD-4D9F-AABD-34A7C270F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6653"/>
            <a:ext cx="10515600" cy="65028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Excute on real device</a:t>
            </a:r>
            <a:endParaRPr lang="vi-VN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BE9D0C10-B3F7-48FD-B264-44B4053D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6942"/>
            <a:ext cx="5786510" cy="4031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58B31435-CB5E-41AA-A37A-B5F33B517E7E}"/>
                  </a:ext>
                </a:extLst>
              </p:cNvPr>
              <p:cNvSpPr txBox="1"/>
              <p:nvPr/>
            </p:nvSpPr>
            <p:spPr>
              <a:xfrm>
                <a:off x="1102263" y="5338951"/>
                <a:ext cx="2806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=0110 &amp; 1001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58B31435-CB5E-41AA-A37A-B5F33B517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263" y="5338951"/>
                <a:ext cx="2806063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0967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F76A250-D7E7-4D04-9CB9-525A3CD00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DA3C5F0-649F-44AC-80A3-DB3B03CEE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4/3/2022</a:t>
            </a:r>
          </a:p>
          <a:p>
            <a:endParaRPr lang="en-US"/>
          </a:p>
          <a:p>
            <a:r>
              <a:rPr lang="en-US"/>
              <a:t>Vu Tuan Hai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B42BF7F-5EA8-4AC9-B49B-E7D463E8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72783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Take the random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The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/>
                  <a:t> is a 1-D random walk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/>
                  <a:t> </a:t>
                </a:r>
                <a:endParaRPr lang="vi-VN" sz="240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  <a:blipFill>
                <a:blip r:embed="rId2"/>
                <a:stretch>
                  <a:fillRect l="-1751" t="-174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andom walk | Matlab Geeks">
            <a:extLst>
              <a:ext uri="{FF2B5EF4-FFF2-40B4-BE49-F238E27FC236}">
                <a16:creationId xmlns:a16="http://schemas.microsoft.com/office/drawing/2014/main" id="{4DCEBEC6-CCA2-4D9D-BF3C-AD24426024F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555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310447B2-C97D-4557-82BB-7378B4E8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91901"/>
            <a:ext cx="4746674" cy="316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00C2965-A592-4039-8821-22DE4AB2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99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39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310447B2-C97D-4557-82BB-7378B4E8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620616"/>
            <a:ext cx="5193199" cy="3462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  <a:blipFill>
                <a:blip r:embed="rId4"/>
                <a:stretch>
                  <a:fillRect l="-2536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831A033-A0AB-485D-979F-7D47B95B29BE}"/>
              </a:ext>
            </a:extLst>
          </p:cNvPr>
          <p:cNvSpPr/>
          <p:nvPr/>
        </p:nvSpPr>
        <p:spPr>
          <a:xfrm>
            <a:off x="8772938" y="202601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53A356B-4D05-452A-8BF2-844182AF6788}"/>
              </a:ext>
            </a:extLst>
          </p:cNvPr>
          <p:cNvSpPr/>
          <p:nvPr/>
        </p:nvSpPr>
        <p:spPr>
          <a:xfrm>
            <a:off x="8402705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B6173152-10EE-4DD1-BBCC-BFF4E552B698}"/>
              </a:ext>
            </a:extLst>
          </p:cNvPr>
          <p:cNvSpPr/>
          <p:nvPr/>
        </p:nvSpPr>
        <p:spPr>
          <a:xfrm>
            <a:off x="9236764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CC1E331-0EB0-4876-82E2-6EEEFD724F2F}"/>
              </a:ext>
            </a:extLst>
          </p:cNvPr>
          <p:cNvSpPr/>
          <p:nvPr/>
        </p:nvSpPr>
        <p:spPr>
          <a:xfrm>
            <a:off x="7938879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521058B-3CDF-404D-83BE-184A2E2535C1}"/>
              </a:ext>
            </a:extLst>
          </p:cNvPr>
          <p:cNvSpPr/>
          <p:nvPr/>
        </p:nvSpPr>
        <p:spPr>
          <a:xfrm>
            <a:off x="8772938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E09E589F-5CF7-40D5-8147-93F4E8439A3E}"/>
              </a:ext>
            </a:extLst>
          </p:cNvPr>
          <p:cNvSpPr/>
          <p:nvPr/>
        </p:nvSpPr>
        <p:spPr>
          <a:xfrm>
            <a:off x="747505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FD197754-7570-4B0D-A1D3-04FC0BA1733C}"/>
              </a:ext>
            </a:extLst>
          </p:cNvPr>
          <p:cNvSpPr/>
          <p:nvPr/>
        </p:nvSpPr>
        <p:spPr>
          <a:xfrm>
            <a:off x="8309112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8AE151BE-AB98-4C98-9A2D-B15089D51F24}"/>
              </a:ext>
            </a:extLst>
          </p:cNvPr>
          <p:cNvSpPr/>
          <p:nvPr/>
        </p:nvSpPr>
        <p:spPr>
          <a:xfrm>
            <a:off x="9236764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D7A7CAC1-3B82-4F96-B056-3049C90C0614}"/>
              </a:ext>
            </a:extLst>
          </p:cNvPr>
          <p:cNvSpPr/>
          <p:nvPr/>
        </p:nvSpPr>
        <p:spPr>
          <a:xfrm>
            <a:off x="1007082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4C530DC-0F51-4CF7-A37A-4F69B2E3064F}"/>
              </a:ext>
            </a:extLst>
          </p:cNvPr>
          <p:cNvSpPr/>
          <p:nvPr/>
        </p:nvSpPr>
        <p:spPr>
          <a:xfrm>
            <a:off x="9700590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4A3EF583-4B67-44CC-8065-52496B760A94}"/>
              </a:ext>
            </a:extLst>
          </p:cNvPr>
          <p:cNvSpPr/>
          <p:nvPr/>
        </p:nvSpPr>
        <p:spPr>
          <a:xfrm>
            <a:off x="793887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5CD0EFC-1170-4743-9A41-C36F6E8C58F0}"/>
              </a:ext>
            </a:extLst>
          </p:cNvPr>
          <p:cNvSpPr/>
          <p:nvPr/>
        </p:nvSpPr>
        <p:spPr>
          <a:xfrm>
            <a:off x="8772938" y="507155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537F991-C65D-4B03-AE5C-97BE6A474FA6}"/>
              </a:ext>
            </a:extLst>
          </p:cNvPr>
          <p:cNvSpPr/>
          <p:nvPr/>
        </p:nvSpPr>
        <p:spPr>
          <a:xfrm>
            <a:off x="9700590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A5D3D17F-020E-4797-890E-D0C6AB4C225D}"/>
              </a:ext>
            </a:extLst>
          </p:cNvPr>
          <p:cNvSpPr/>
          <p:nvPr/>
        </p:nvSpPr>
        <p:spPr>
          <a:xfrm>
            <a:off x="1053464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4EFCD2BD-40C3-41AF-9B5E-D352B8592676}"/>
              </a:ext>
            </a:extLst>
          </p:cNvPr>
          <p:cNvSpPr/>
          <p:nvPr/>
        </p:nvSpPr>
        <p:spPr>
          <a:xfrm>
            <a:off x="7011227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A54138E-56A7-4467-BABD-12083B0E1C4C}"/>
              </a:ext>
            </a:extLst>
          </p:cNvPr>
          <p:cNvCxnSpPr/>
          <p:nvPr/>
        </p:nvCxnSpPr>
        <p:spPr>
          <a:xfrm flipH="1">
            <a:off x="8634618" y="2259581"/>
            <a:ext cx="370233" cy="66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4F4C0180-8264-4EFB-B22D-2EFAEB02AABA}"/>
              </a:ext>
            </a:extLst>
          </p:cNvPr>
          <p:cNvCxnSpPr>
            <a:cxnSpLocks/>
          </p:cNvCxnSpPr>
          <p:nvPr/>
        </p:nvCxnSpPr>
        <p:spPr>
          <a:xfrm>
            <a:off x="8627578" y="2919634"/>
            <a:ext cx="377274" cy="75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09B8963F-1A76-448F-B78E-619DACF6B96B}"/>
              </a:ext>
            </a:extLst>
          </p:cNvPr>
          <p:cNvCxnSpPr>
            <a:cxnSpLocks/>
          </p:cNvCxnSpPr>
          <p:nvPr/>
        </p:nvCxnSpPr>
        <p:spPr>
          <a:xfrm>
            <a:off x="9049578" y="3684052"/>
            <a:ext cx="454922" cy="82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B025A4A2-3AE0-481D-A5F8-E75CD7A1117E}"/>
              </a:ext>
            </a:extLst>
          </p:cNvPr>
          <p:cNvCxnSpPr>
            <a:cxnSpLocks/>
          </p:cNvCxnSpPr>
          <p:nvPr/>
        </p:nvCxnSpPr>
        <p:spPr>
          <a:xfrm flipH="1">
            <a:off x="9004852" y="4510585"/>
            <a:ext cx="428002" cy="79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C8A9CB46-C07D-419C-9D9D-6DFF2C7F3125}"/>
              </a:ext>
            </a:extLst>
          </p:cNvPr>
          <p:cNvSpPr txBox="1"/>
          <p:nvPr/>
        </p:nvSpPr>
        <p:spPr>
          <a:xfrm>
            <a:off x="8523114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5BE22278-0A49-46E2-A45F-41D373759446}"/>
              </a:ext>
            </a:extLst>
          </p:cNvPr>
          <p:cNvSpPr txBox="1"/>
          <p:nvPr/>
        </p:nvSpPr>
        <p:spPr>
          <a:xfrm>
            <a:off x="10363197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7" name="Chỗ dành sẵn cho Số hiệu Bản chiếu 36">
            <a:extLst>
              <a:ext uri="{FF2B5EF4-FFF2-40B4-BE49-F238E27FC236}">
                <a16:creationId xmlns:a16="http://schemas.microsoft.com/office/drawing/2014/main" id="{D5BE46F8-7E0E-4D8A-86F4-5B83FEB9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9922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Đường nối Thẳng 6">
            <a:extLst>
              <a:ext uri="{FF2B5EF4-FFF2-40B4-BE49-F238E27FC236}">
                <a16:creationId xmlns:a16="http://schemas.microsoft.com/office/drawing/2014/main" id="{AE61587A-4F24-467D-8BCF-DAB3C6AF8288}"/>
              </a:ext>
            </a:extLst>
          </p:cNvPr>
          <p:cNvCxnSpPr/>
          <p:nvPr/>
        </p:nvCxnSpPr>
        <p:spPr>
          <a:xfrm>
            <a:off x="1152939" y="2173357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3A3FEB42-F87B-4722-8A17-789E9CB04DF7}"/>
              </a:ext>
            </a:extLst>
          </p:cNvPr>
          <p:cNvCxnSpPr/>
          <p:nvPr/>
        </p:nvCxnSpPr>
        <p:spPr>
          <a:xfrm>
            <a:off x="1152939" y="2488405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E06F719C-9E9C-4704-B2FB-43FA45AD74C2}"/>
              </a:ext>
            </a:extLst>
          </p:cNvPr>
          <p:cNvCxnSpPr/>
          <p:nvPr/>
        </p:nvCxnSpPr>
        <p:spPr>
          <a:xfrm>
            <a:off x="1152939" y="2799831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êu đề 1">
            <a:extLst>
              <a:ext uri="{FF2B5EF4-FFF2-40B4-BE49-F238E27FC236}">
                <a16:creationId xmlns:a16="http://schemas.microsoft.com/office/drawing/2014/main" id="{550CF6D4-C8B6-48DD-B96F-74C7699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 (using superposition)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FF0F45F4-A93E-4E6B-80F0-3F5A9838D775}"/>
                  </a:ext>
                </a:extLst>
              </p:cNvPr>
              <p:cNvSpPr/>
              <p:nvPr/>
            </p:nvSpPr>
            <p:spPr>
              <a:xfrm>
                <a:off x="2915478" y="1825625"/>
                <a:ext cx="1590261" cy="1325563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Incre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FF0F45F4-A93E-4E6B-80F0-3F5A9838D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478" y="1825625"/>
                <a:ext cx="1590261" cy="1325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FE3C7E6D-1D7E-4FA6-A526-F9AD123FCA0A}"/>
                  </a:ext>
                </a:extLst>
              </p:cNvPr>
              <p:cNvSpPr/>
              <p:nvPr/>
            </p:nvSpPr>
            <p:spPr>
              <a:xfrm>
                <a:off x="5188226" y="1825624"/>
                <a:ext cx="1590261" cy="1325563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Decre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FE3C7E6D-1D7E-4FA6-A526-F9AD123FC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226" y="1825624"/>
                <a:ext cx="1590261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05C7580-6BB2-4CC1-9ED5-3304D0EA9182}"/>
              </a:ext>
            </a:extLst>
          </p:cNvPr>
          <p:cNvCxnSpPr/>
          <p:nvPr/>
        </p:nvCxnSpPr>
        <p:spPr>
          <a:xfrm>
            <a:off x="1152939" y="4038909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B670D47-F614-41F0-8ABD-79B1A29AD83C}"/>
              </a:ext>
            </a:extLst>
          </p:cNvPr>
          <p:cNvSpPr/>
          <p:nvPr/>
        </p:nvSpPr>
        <p:spPr>
          <a:xfrm>
            <a:off x="1954696" y="3759285"/>
            <a:ext cx="549966" cy="55924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</a:t>
            </a:r>
            <a:endParaRPr lang="vi-VN"/>
          </a:p>
        </p:txBody>
      </p: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86D6CF22-E129-40F5-AEF1-6CC1F6A3E6A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710609" y="315118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1137A8D5-D7B1-44DB-B8F9-442ED9F4A8D2}"/>
              </a:ext>
            </a:extLst>
          </p:cNvPr>
          <p:cNvCxnSpPr>
            <a:cxnSpLocks/>
          </p:cNvCxnSpPr>
          <p:nvPr/>
        </p:nvCxnSpPr>
        <p:spPr>
          <a:xfrm>
            <a:off x="5983356" y="313192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0E15848C-C376-497F-B348-7A956F7E5401}"/>
              </a:ext>
            </a:extLst>
          </p:cNvPr>
          <p:cNvSpPr/>
          <p:nvPr/>
        </p:nvSpPr>
        <p:spPr>
          <a:xfrm>
            <a:off x="3594654" y="3929579"/>
            <a:ext cx="212033" cy="2186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9F019541-C528-4364-8931-A20C75FC8B83}"/>
              </a:ext>
            </a:extLst>
          </p:cNvPr>
          <p:cNvSpPr/>
          <p:nvPr/>
        </p:nvSpPr>
        <p:spPr>
          <a:xfrm>
            <a:off x="5878998" y="3929579"/>
            <a:ext cx="212033" cy="2186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0" name="Đường kết nối: Mũi tên Gấp khúc 19">
            <a:extLst>
              <a:ext uri="{FF2B5EF4-FFF2-40B4-BE49-F238E27FC236}">
                <a16:creationId xmlns:a16="http://schemas.microsoft.com/office/drawing/2014/main" id="{1C531EF8-60CD-42AE-A61A-30A4A3DE5981}"/>
              </a:ext>
            </a:extLst>
          </p:cNvPr>
          <p:cNvCxnSpPr/>
          <p:nvPr/>
        </p:nvCxnSpPr>
        <p:spPr>
          <a:xfrm>
            <a:off x="4191000" y="3151187"/>
            <a:ext cx="4889500" cy="277813"/>
          </a:xfrm>
          <a:prstGeom prst="bentConnector3">
            <a:avLst>
              <a:gd name="adj1" fmla="val -390"/>
            </a:avLst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9408D3D2-664E-4FD5-A119-CE5D16FAFAF3}"/>
                  </a:ext>
                </a:extLst>
              </p:cNvPr>
              <p:cNvSpPr txBox="1"/>
              <p:nvPr/>
            </p:nvSpPr>
            <p:spPr>
              <a:xfrm>
                <a:off x="8795302" y="3039377"/>
                <a:ext cx="28724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→|011⟩</m:t>
                      </m:r>
                    </m:oMath>
                  </m:oMathPara>
                </a14:m>
                <a:endParaRPr lang="en-US"/>
              </a:p>
              <a:p>
                <a:pPr algn="ctr"/>
                <a:r>
                  <a:rPr lang="en-US"/>
                  <a:t>…</a:t>
                </a:r>
              </a:p>
            </p:txBody>
          </p:sp>
        </mc:Choice>
        <mc:Fallback xmlns="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9408D3D2-664E-4FD5-A119-CE5D16FA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302" y="3039377"/>
                <a:ext cx="2872409" cy="923330"/>
              </a:xfrm>
              <a:prstGeom prst="rect">
                <a:avLst/>
              </a:prstGeom>
              <a:blipFill>
                <a:blip r:embed="rId5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hỗ dành sẵn cho Số hiệu Bản chiếu 22">
            <a:extLst>
              <a:ext uri="{FF2B5EF4-FFF2-40B4-BE49-F238E27FC236}">
                <a16:creationId xmlns:a16="http://schemas.microsoft.com/office/drawing/2014/main" id="{83932E58-C761-41F2-8273-4453AC55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57</a:t>
            </a:fld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D03EB3B2-E650-4197-B0EA-23E78E8348F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428" t="54051" r="24693" b="35983"/>
          <a:stretch/>
        </p:blipFill>
        <p:spPr>
          <a:xfrm>
            <a:off x="996114" y="4998362"/>
            <a:ext cx="7368773" cy="75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926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Paranormal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39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  <a:blipFill>
                <a:blip r:embed="rId3"/>
                <a:stretch>
                  <a:fillRect l="-2415" t="-23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831A033-A0AB-485D-979F-7D47B95B29BE}"/>
              </a:ext>
            </a:extLst>
          </p:cNvPr>
          <p:cNvSpPr/>
          <p:nvPr/>
        </p:nvSpPr>
        <p:spPr>
          <a:xfrm>
            <a:off x="8818027" y="212022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53A356B-4D05-452A-8BF2-844182AF6788}"/>
              </a:ext>
            </a:extLst>
          </p:cNvPr>
          <p:cNvSpPr/>
          <p:nvPr/>
        </p:nvSpPr>
        <p:spPr>
          <a:xfrm>
            <a:off x="8447794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B6173152-10EE-4DD1-BBCC-BFF4E552B698}"/>
              </a:ext>
            </a:extLst>
          </p:cNvPr>
          <p:cNvSpPr/>
          <p:nvPr/>
        </p:nvSpPr>
        <p:spPr>
          <a:xfrm>
            <a:off x="9281853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CC1E331-0EB0-4876-82E2-6EEEFD724F2F}"/>
              </a:ext>
            </a:extLst>
          </p:cNvPr>
          <p:cNvSpPr/>
          <p:nvPr/>
        </p:nvSpPr>
        <p:spPr>
          <a:xfrm>
            <a:off x="7983968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521058B-3CDF-404D-83BE-184A2E2535C1}"/>
              </a:ext>
            </a:extLst>
          </p:cNvPr>
          <p:cNvSpPr/>
          <p:nvPr/>
        </p:nvSpPr>
        <p:spPr>
          <a:xfrm>
            <a:off x="8818027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E09E589F-5CF7-40D5-8147-93F4E8439A3E}"/>
              </a:ext>
            </a:extLst>
          </p:cNvPr>
          <p:cNvSpPr/>
          <p:nvPr/>
        </p:nvSpPr>
        <p:spPr>
          <a:xfrm>
            <a:off x="752014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FD197754-7570-4B0D-A1D3-04FC0BA1733C}"/>
              </a:ext>
            </a:extLst>
          </p:cNvPr>
          <p:cNvSpPr/>
          <p:nvPr/>
        </p:nvSpPr>
        <p:spPr>
          <a:xfrm>
            <a:off x="8354201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8AE151BE-AB98-4C98-9A2D-B15089D51F24}"/>
              </a:ext>
            </a:extLst>
          </p:cNvPr>
          <p:cNvSpPr/>
          <p:nvPr/>
        </p:nvSpPr>
        <p:spPr>
          <a:xfrm>
            <a:off x="9281853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D7A7CAC1-3B82-4F96-B056-3049C90C0614}"/>
              </a:ext>
            </a:extLst>
          </p:cNvPr>
          <p:cNvSpPr/>
          <p:nvPr/>
        </p:nvSpPr>
        <p:spPr>
          <a:xfrm>
            <a:off x="1011591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4C530DC-0F51-4CF7-A37A-4F69B2E3064F}"/>
              </a:ext>
            </a:extLst>
          </p:cNvPr>
          <p:cNvSpPr/>
          <p:nvPr/>
        </p:nvSpPr>
        <p:spPr>
          <a:xfrm>
            <a:off x="9745679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4A3EF583-4B67-44CC-8065-52496B760A94}"/>
              </a:ext>
            </a:extLst>
          </p:cNvPr>
          <p:cNvSpPr/>
          <p:nvPr/>
        </p:nvSpPr>
        <p:spPr>
          <a:xfrm>
            <a:off x="798396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5CD0EFC-1170-4743-9A41-C36F6E8C58F0}"/>
              </a:ext>
            </a:extLst>
          </p:cNvPr>
          <p:cNvSpPr/>
          <p:nvPr/>
        </p:nvSpPr>
        <p:spPr>
          <a:xfrm>
            <a:off x="8818027" y="516576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537F991-C65D-4B03-AE5C-97BE6A474FA6}"/>
              </a:ext>
            </a:extLst>
          </p:cNvPr>
          <p:cNvSpPr/>
          <p:nvPr/>
        </p:nvSpPr>
        <p:spPr>
          <a:xfrm>
            <a:off x="9745679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A5D3D17F-020E-4797-890E-D0C6AB4C225D}"/>
              </a:ext>
            </a:extLst>
          </p:cNvPr>
          <p:cNvSpPr/>
          <p:nvPr/>
        </p:nvSpPr>
        <p:spPr>
          <a:xfrm>
            <a:off x="1057973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4EFCD2BD-40C3-41AF-9B5E-D352B8592676}"/>
              </a:ext>
            </a:extLst>
          </p:cNvPr>
          <p:cNvSpPr/>
          <p:nvPr/>
        </p:nvSpPr>
        <p:spPr>
          <a:xfrm>
            <a:off x="7056316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A54138E-56A7-4467-BABD-12083B0E1C4C}"/>
              </a:ext>
            </a:extLst>
          </p:cNvPr>
          <p:cNvCxnSpPr/>
          <p:nvPr/>
        </p:nvCxnSpPr>
        <p:spPr>
          <a:xfrm flipH="1">
            <a:off x="8679707" y="2353796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4F4C0180-8264-4EFB-B22D-2EFAEB02AABA}"/>
              </a:ext>
            </a:extLst>
          </p:cNvPr>
          <p:cNvCxnSpPr>
            <a:cxnSpLocks/>
          </p:cNvCxnSpPr>
          <p:nvPr/>
        </p:nvCxnSpPr>
        <p:spPr>
          <a:xfrm>
            <a:off x="8672667" y="3013849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09B8963F-1A76-448F-B78E-619DACF6B96B}"/>
              </a:ext>
            </a:extLst>
          </p:cNvPr>
          <p:cNvCxnSpPr>
            <a:cxnSpLocks/>
          </p:cNvCxnSpPr>
          <p:nvPr/>
        </p:nvCxnSpPr>
        <p:spPr>
          <a:xfrm>
            <a:off x="9094667" y="3778267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B025A4A2-3AE0-481D-A5F8-E75CD7A1117E}"/>
              </a:ext>
            </a:extLst>
          </p:cNvPr>
          <p:cNvCxnSpPr>
            <a:cxnSpLocks/>
          </p:cNvCxnSpPr>
          <p:nvPr/>
        </p:nvCxnSpPr>
        <p:spPr>
          <a:xfrm flipH="1">
            <a:off x="9049941" y="4604800"/>
            <a:ext cx="428002" cy="7945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C8A9CB46-C07D-419C-9D9D-6DFF2C7F3125}"/>
              </a:ext>
            </a:extLst>
          </p:cNvPr>
          <p:cNvSpPr txBox="1"/>
          <p:nvPr/>
        </p:nvSpPr>
        <p:spPr>
          <a:xfrm>
            <a:off x="8767915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5BE22278-0A49-46E2-A45F-41D373759446}"/>
              </a:ext>
            </a:extLst>
          </p:cNvPr>
          <p:cNvSpPr txBox="1"/>
          <p:nvPr/>
        </p:nvSpPr>
        <p:spPr>
          <a:xfrm>
            <a:off x="10408286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D7C9A4CD-69BD-4201-AE4D-29B9D15E1126}"/>
              </a:ext>
            </a:extLst>
          </p:cNvPr>
          <p:cNvCxnSpPr/>
          <p:nvPr/>
        </p:nvCxnSpPr>
        <p:spPr>
          <a:xfrm flipH="1">
            <a:off x="8262123" y="3090633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607D0CB3-1500-4389-B75F-AD863ED445A7}"/>
              </a:ext>
            </a:extLst>
          </p:cNvPr>
          <p:cNvCxnSpPr/>
          <p:nvPr/>
        </p:nvCxnSpPr>
        <p:spPr>
          <a:xfrm flipH="1">
            <a:off x="7835296" y="3842871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Đường kết nối Mũi tên Thẳng 31">
            <a:extLst>
              <a:ext uri="{FF2B5EF4-FFF2-40B4-BE49-F238E27FC236}">
                <a16:creationId xmlns:a16="http://schemas.microsoft.com/office/drawing/2014/main" id="{96427FD5-BF8B-480C-88FD-5480375CBA01}"/>
              </a:ext>
            </a:extLst>
          </p:cNvPr>
          <p:cNvCxnSpPr>
            <a:cxnSpLocks/>
          </p:cNvCxnSpPr>
          <p:nvPr/>
        </p:nvCxnSpPr>
        <p:spPr>
          <a:xfrm flipH="1">
            <a:off x="7342496" y="4584816"/>
            <a:ext cx="430402" cy="7647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DBF5BFBC-D42D-4DA8-B01E-3C2C04A15DAF}"/>
              </a:ext>
            </a:extLst>
          </p:cNvPr>
          <p:cNvCxnSpPr>
            <a:cxnSpLocks/>
          </p:cNvCxnSpPr>
          <p:nvPr/>
        </p:nvCxnSpPr>
        <p:spPr>
          <a:xfrm flipH="1">
            <a:off x="8223332" y="4631591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71AA9D23-1AC1-4D3D-AD25-E248D3A0B599}"/>
              </a:ext>
            </a:extLst>
          </p:cNvPr>
          <p:cNvCxnSpPr>
            <a:cxnSpLocks/>
          </p:cNvCxnSpPr>
          <p:nvPr/>
        </p:nvCxnSpPr>
        <p:spPr>
          <a:xfrm flipH="1">
            <a:off x="8643884" y="3818265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FB4C7293-3176-4C60-B12D-1FE6DEAA9770}"/>
              </a:ext>
            </a:extLst>
          </p:cNvPr>
          <p:cNvCxnSpPr>
            <a:cxnSpLocks/>
          </p:cNvCxnSpPr>
          <p:nvPr/>
        </p:nvCxnSpPr>
        <p:spPr>
          <a:xfrm flipH="1">
            <a:off x="9594242" y="3755276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79BBE65F-F1FB-41DA-AECB-16B9F62E57F9}"/>
              </a:ext>
            </a:extLst>
          </p:cNvPr>
          <p:cNvCxnSpPr>
            <a:cxnSpLocks/>
          </p:cNvCxnSpPr>
          <p:nvPr/>
        </p:nvCxnSpPr>
        <p:spPr>
          <a:xfrm flipH="1">
            <a:off x="9987322" y="4617257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Đường kết nối Mũi tên Thẳng 39">
            <a:extLst>
              <a:ext uri="{FF2B5EF4-FFF2-40B4-BE49-F238E27FC236}">
                <a16:creationId xmlns:a16="http://schemas.microsoft.com/office/drawing/2014/main" id="{C5A4DA36-EA40-48FB-BB6E-E26E9936F3D0}"/>
              </a:ext>
            </a:extLst>
          </p:cNvPr>
          <p:cNvCxnSpPr>
            <a:cxnSpLocks/>
          </p:cNvCxnSpPr>
          <p:nvPr/>
        </p:nvCxnSpPr>
        <p:spPr>
          <a:xfrm flipH="1">
            <a:off x="9164720" y="2929133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ADB63264-41F8-4388-9F2E-E85DCC5658BB}"/>
              </a:ext>
            </a:extLst>
          </p:cNvPr>
          <p:cNvCxnSpPr>
            <a:cxnSpLocks/>
          </p:cNvCxnSpPr>
          <p:nvPr/>
        </p:nvCxnSpPr>
        <p:spPr>
          <a:xfrm>
            <a:off x="8229754" y="3862572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43C60605-29D3-4320-88E8-FB967CEAA98F}"/>
              </a:ext>
            </a:extLst>
          </p:cNvPr>
          <p:cNvCxnSpPr>
            <a:cxnSpLocks/>
          </p:cNvCxnSpPr>
          <p:nvPr/>
        </p:nvCxnSpPr>
        <p:spPr>
          <a:xfrm>
            <a:off x="8651754" y="4626990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Đường kết nối Mũi tên Thẳng 42">
            <a:extLst>
              <a:ext uri="{FF2B5EF4-FFF2-40B4-BE49-F238E27FC236}">
                <a16:creationId xmlns:a16="http://schemas.microsoft.com/office/drawing/2014/main" id="{62348DE3-D9EA-49E2-B038-CD5599286246}"/>
              </a:ext>
            </a:extLst>
          </p:cNvPr>
          <p:cNvCxnSpPr>
            <a:cxnSpLocks/>
          </p:cNvCxnSpPr>
          <p:nvPr/>
        </p:nvCxnSpPr>
        <p:spPr>
          <a:xfrm>
            <a:off x="9130696" y="2265090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6534866F-AD6D-4C76-BB16-F95A23BF11B3}"/>
              </a:ext>
            </a:extLst>
          </p:cNvPr>
          <p:cNvCxnSpPr>
            <a:cxnSpLocks/>
          </p:cNvCxnSpPr>
          <p:nvPr/>
        </p:nvCxnSpPr>
        <p:spPr>
          <a:xfrm>
            <a:off x="9552696" y="3029508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7821BAD0-1AA5-4B9F-AA13-8D82BF2AD974}"/>
              </a:ext>
            </a:extLst>
          </p:cNvPr>
          <p:cNvCxnSpPr>
            <a:cxnSpLocks/>
          </p:cNvCxnSpPr>
          <p:nvPr/>
        </p:nvCxnSpPr>
        <p:spPr>
          <a:xfrm>
            <a:off x="10005752" y="3867394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kết nối Mũi tên Thẳng 45">
            <a:extLst>
              <a:ext uri="{FF2B5EF4-FFF2-40B4-BE49-F238E27FC236}">
                <a16:creationId xmlns:a16="http://schemas.microsoft.com/office/drawing/2014/main" id="{DF291E54-63A2-4210-97A9-20C279D7929C}"/>
              </a:ext>
            </a:extLst>
          </p:cNvPr>
          <p:cNvCxnSpPr>
            <a:cxnSpLocks/>
          </p:cNvCxnSpPr>
          <p:nvPr/>
        </p:nvCxnSpPr>
        <p:spPr>
          <a:xfrm>
            <a:off x="10427752" y="463181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kết nối Mũi tên Thẳng 46">
            <a:extLst>
              <a:ext uri="{FF2B5EF4-FFF2-40B4-BE49-F238E27FC236}">
                <a16:creationId xmlns:a16="http://schemas.microsoft.com/office/drawing/2014/main" id="{8DA1B678-BFB3-4435-8AA4-3957FE443589}"/>
              </a:ext>
            </a:extLst>
          </p:cNvPr>
          <p:cNvCxnSpPr>
            <a:cxnSpLocks/>
          </p:cNvCxnSpPr>
          <p:nvPr/>
        </p:nvCxnSpPr>
        <p:spPr>
          <a:xfrm>
            <a:off x="7774832" y="457280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93A04840-C830-47B5-9A0A-B58935AF7989}"/>
              </a:ext>
            </a:extLst>
          </p:cNvPr>
          <p:cNvCxnSpPr>
            <a:cxnSpLocks/>
          </p:cNvCxnSpPr>
          <p:nvPr/>
        </p:nvCxnSpPr>
        <p:spPr>
          <a:xfrm>
            <a:off x="9563149" y="4596701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png">
            <a:extLst>
              <a:ext uri="{FF2B5EF4-FFF2-40B4-BE49-F238E27FC236}">
                <a16:creationId xmlns:a16="http://schemas.microsoft.com/office/drawing/2014/main" id="{91E01D17-50FF-4633-830B-10B061490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91" y="2560678"/>
            <a:ext cx="5204634" cy="34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790BE0A5-E81E-45DF-8EA3-B1BF6DE2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0103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AC060B-274B-4B30-97DD-FB4E7B51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38453C-3F32-4C5F-B6D0-53B591DF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Quantum walk is described as product of 2 unitary operator: coin flip operator &amp; shift operator 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7FD24C9-8EFE-469D-90C3-30397E35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71913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A826116F-C8D6-4CDA-9E22-AB03BD3F74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8" t="17364" r="36776" b="12905"/>
          <a:stretch/>
        </p:blipFill>
        <p:spPr>
          <a:xfrm>
            <a:off x="8377766" y="1186971"/>
            <a:ext cx="300016" cy="5938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Spatial search (discrete time)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that we have a complete graph with 4 nodes.</a:t>
                </a:r>
              </a:p>
              <a:p>
                <a:pPr marL="0" indent="0">
                  <a:buNone/>
                </a:pPr>
                <a:r>
                  <a:rPr lang="en-US"/>
                  <a:t>One approach is using random walk.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that:</a:t>
                </a:r>
              </a:p>
              <a:p>
                <a:pPr marL="0" indent="0">
                  <a:buNone/>
                </a:pPr>
                <a:r>
                  <a:rPr lang="en-US"/>
                  <a:t>Walker must be in somewhere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  <a:blipFill>
                <a:blip r:embed="rId3"/>
                <a:stretch>
                  <a:fillRect l="-2618" t="-2326" b="-45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9EF332C5-B0CC-4C53-97F2-248F2BFC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21193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Initial state: ¼ at all node</a:t>
                </a:r>
              </a:p>
              <a:p>
                <a:pPr marL="0" indent="0">
                  <a:buNone/>
                </a:pPr>
                <a:r>
                  <a:rPr lang="en-US"/>
                  <a:t>At step k: jump to other random nodes</a:t>
                </a:r>
              </a:p>
              <a:p>
                <a:pPr marL="0" indent="0">
                  <a:buNone/>
                </a:pPr>
                <a:r>
                  <a:rPr lang="en-US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=1/4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  <a:blipFill>
                <a:blip r:embed="rId2"/>
                <a:stretch>
                  <a:fillRect l="-2793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/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/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/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  <a:endCxn id="18" idx="1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157EA582-F420-4EB0-9125-C1FD5BEFEF2B}"/>
              </a:ext>
            </a:extLst>
          </p:cNvPr>
          <p:cNvSpPr txBox="1"/>
          <p:nvPr/>
        </p:nvSpPr>
        <p:spPr>
          <a:xfrm>
            <a:off x="10704444" y="1998139"/>
            <a:ext cx="139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Acts as absorb node</a:t>
            </a:r>
            <a:endParaRPr lang="vi-VN"/>
          </a:p>
        </p:txBody>
      </p:sp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709B8F26-83B1-4733-8E78-285521A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5936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1: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F4F0A7A1-4C0C-4839-8A9B-1D16CE38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90470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1: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1/2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D3F1501-ABE8-4322-BF12-9800D125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06275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2: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9BF078AB-C9D4-4634-A717-03C585C2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47424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2: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∗2=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1EAD8B3-E959-40F7-9B9A-F0797BD9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88684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3: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CCBF69C-1021-4359-A204-C93359E6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30495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3: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8CEF8962-AC60-4E08-AE83-E8FD385B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86303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875B2ADD-B0C9-4A04-A0D5-6FF558640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33" t="40642" r="32035" b="8281"/>
          <a:stretch/>
        </p:blipFill>
        <p:spPr>
          <a:xfrm>
            <a:off x="838200" y="1690688"/>
            <a:ext cx="6244778" cy="318611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blipFill>
                <a:blip r:embed="rId3"/>
                <a:stretch>
                  <a:fillRect l="-3148" t="-2890" b="-722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45699BA-3936-4F5C-A44B-1C377A36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04276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BC716A-C7CE-499C-AC91-0C0DBB9E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Change 4 probs to 12 amplitudes of a wave function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at intermediate steps we cannot observe the system. Then we do not know the current node is the marked node or not.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  <a:blipFill>
                <a:blip r:embed="rId2"/>
                <a:stretch>
                  <a:fillRect l="-2983" t="-2241" r="-2699" b="-32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99115616-464F-4168-87BB-EA1EC03F6149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9684E85B-428C-4543-8725-AE018CFCED5A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57D812CC-19EA-4713-B1BB-AAB3BA2AAF90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C8571D22-3C12-43C1-AF38-A7412EA6DDB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513DB62C-4961-402B-ADFB-AC457C21ABB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CC72069-8258-4088-8910-43E57A6B97E6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34238372-EBF7-4D22-8017-1E0C9D5F6A2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B59491BA-5F94-4A13-81E2-035CB1208423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236E6C80-9897-4AB2-A61D-A8246FA7D43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7E1AEACC-371A-41C4-9A76-C11C449A1AD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3A9A09E9-005D-4285-8737-6A1201C31B80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716DE38D-A6B2-475A-B2E3-D258C9C48CA2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D1AA7F03-2D77-45AB-ADBC-A1B4A0201731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C295A4CB-BFDA-4D46-90D5-EBF6BBBCB7A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641BA443-90B5-4567-BBE1-19E9EF0D0BB7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70CE9047-D81B-453C-8CF1-877A2DAC4E71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3255B1A0-5878-437E-863F-326C0693095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A23F6F56-9B44-41AD-8685-840A0C1776B7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F5235566-7BE0-40D4-9D6A-4434CEBAB33D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/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/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/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/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/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/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/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/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/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1E487595-DC74-4A0D-BAE4-D29304B89453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CB808353-128E-43CB-895B-AA4F6365523F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/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/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Đường kết nối Mũi tên Thẳng 48">
            <a:extLst>
              <a:ext uri="{FF2B5EF4-FFF2-40B4-BE49-F238E27FC236}">
                <a16:creationId xmlns:a16="http://schemas.microsoft.com/office/drawing/2014/main" id="{2F36073C-84DD-46ED-8846-F14666CE1BA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/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ỗ dành sẵn cho Số hiệu Bản chiếu 13">
            <a:extLst>
              <a:ext uri="{FF2B5EF4-FFF2-40B4-BE49-F238E27FC236}">
                <a16:creationId xmlns:a16="http://schemas.microsoft.com/office/drawing/2014/main" id="{49EA9290-FEF4-405C-AB1C-AF86DD0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85731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At step 1 </a:t>
                </a:r>
              </a:p>
              <a:p>
                <a:pPr marL="0" indent="0">
                  <a:buNone/>
                </a:pPr>
                <a:r>
                  <a:rPr lang="en-US"/>
                  <a:t>1a.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1b. Apply a quantum coin flip (-I+2A) that inverts each amplitude about the average amplitude at its vertex. (Nothing happen)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400" t="-3501" r="-32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20A00173-95D1-4C85-8F44-CA54ACBB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70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/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node 2: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blipFill>
                <a:blip r:embed="rId15"/>
                <a:stretch>
                  <a:fillRect l="-1022" b="-48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1039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1c. Shift operator (walk): walker at vertex i pointing to vertex j to hop to vertex j and point back to vertex 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𝑆𝐶𝑄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 r="-25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B563F709-F15A-4367-9FCC-284FCBC3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68641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At step 2 </a:t>
                </a:r>
              </a:p>
              <a:p>
                <a:pPr marL="0" indent="0">
                  <a:buNone/>
                </a:pPr>
                <a:r>
                  <a:rPr lang="en-US"/>
                  <a:t>2a.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CD6F08E-CCDD-4C8F-A2F5-949EECB7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24679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49C2F54C-DC73-455C-9F6C-C779E4949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74" t="25509" r="39135" b="28684"/>
          <a:stretch/>
        </p:blipFill>
        <p:spPr>
          <a:xfrm>
            <a:off x="5897219" y="0"/>
            <a:ext cx="6007364" cy="389552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2b. The coin inverts or reflects each amplitude about their average.</a:t>
                </a:r>
              </a:p>
              <a:p>
                <a:pPr marL="0" indent="0">
                  <a:buNone/>
                </a:pPr>
                <a:r>
                  <a:rPr lang="en-US"/>
                  <a:t>(-I+2A)</a:t>
                </a:r>
              </a:p>
              <a:p>
                <a:pPr marL="0" indent="0">
                  <a:buNone/>
                </a:pPr>
                <a:r>
                  <a:rPr lang="en-US"/>
                  <a:t>At node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  <a:blipFill>
                <a:blip r:embed="rId3"/>
                <a:stretch>
                  <a:fillRect l="-2494" t="-266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252553FC-76BE-470E-819B-13212B66F364}"/>
              </a:ext>
            </a:extLst>
          </p:cNvPr>
          <p:cNvSpPr/>
          <p:nvPr/>
        </p:nvSpPr>
        <p:spPr>
          <a:xfrm>
            <a:off x="6188765" y="662609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Hình Bầu dục 41">
            <a:extLst>
              <a:ext uri="{FF2B5EF4-FFF2-40B4-BE49-F238E27FC236}">
                <a16:creationId xmlns:a16="http://schemas.microsoft.com/office/drawing/2014/main" id="{B806DB49-B5A5-48E5-8AB5-DD66EDC3F1A6}"/>
              </a:ext>
            </a:extLst>
          </p:cNvPr>
          <p:cNvSpPr/>
          <p:nvPr/>
        </p:nvSpPr>
        <p:spPr>
          <a:xfrm>
            <a:off x="9455426" y="2690784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6504C5A7-1B6E-43D6-911B-A540161644AD}"/>
              </a:ext>
            </a:extLst>
          </p:cNvPr>
          <p:cNvSpPr txBox="1"/>
          <p:nvPr/>
        </p:nvSpPr>
        <p:spPr>
          <a:xfrm>
            <a:off x="10469217" y="3114853"/>
            <a:ext cx="143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Current amp</a:t>
            </a:r>
            <a:endParaRPr lang="vi-VN"/>
          </a:p>
        </p:txBody>
      </p: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8E319A5A-4E3B-43F2-87B3-D4BD2F0A13A4}"/>
              </a:ext>
            </a:extLst>
          </p:cNvPr>
          <p:cNvSpPr/>
          <p:nvPr/>
        </p:nvSpPr>
        <p:spPr>
          <a:xfrm>
            <a:off x="7284657" y="2690783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Hình Bầu dục 43">
            <a:extLst>
              <a:ext uri="{FF2B5EF4-FFF2-40B4-BE49-F238E27FC236}">
                <a16:creationId xmlns:a16="http://schemas.microsoft.com/office/drawing/2014/main" id="{C011A9E8-C874-49EB-84EA-55D5210FAC9D}"/>
              </a:ext>
            </a:extLst>
          </p:cNvPr>
          <p:cNvSpPr/>
          <p:nvPr/>
        </p:nvSpPr>
        <p:spPr>
          <a:xfrm>
            <a:off x="10492408" y="628261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1E401CEA-4E2E-44EC-AFC1-D89A23C67D50}"/>
              </a:ext>
            </a:extLst>
          </p:cNvPr>
          <p:cNvSpPr txBox="1"/>
          <p:nvPr/>
        </p:nvSpPr>
        <p:spPr>
          <a:xfrm>
            <a:off x="10018643" y="1544563"/>
            <a:ext cx="17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Reflected amp</a:t>
            </a:r>
            <a:endParaRPr lang="vi-VN"/>
          </a:p>
        </p:txBody>
      </p:sp>
      <p:sp>
        <p:nvSpPr>
          <p:cNvPr id="18" name="Chỗ dành sẵn cho Số hiệu Bản chiếu 17">
            <a:extLst>
              <a:ext uri="{FF2B5EF4-FFF2-40B4-BE49-F238E27FC236}">
                <a16:creationId xmlns:a16="http://schemas.microsoft.com/office/drawing/2014/main" id="{4DA7B37A-CA80-4037-B899-BEEC6731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777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06142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/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/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/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/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88786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314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</a:t>
                </a:r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3149067"/>
              </a:xfrm>
              <a:prstGeom prst="rect">
                <a:avLst/>
              </a:prstGeom>
              <a:blipFill>
                <a:blip r:embed="rId2"/>
                <a:stretch>
                  <a:fillRect l="-3148" t="-1938" b="-46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hỗ dành sẵn cho Nội dung 7">
            <a:extLst>
              <a:ext uri="{FF2B5EF4-FFF2-40B4-BE49-F238E27FC236}">
                <a16:creationId xmlns:a16="http://schemas.microsoft.com/office/drawing/2014/main" id="{5B04DF3B-AF75-42EA-9EE3-E188E75A4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007" t="46627" r="37646" b="18457"/>
          <a:stretch/>
        </p:blipFill>
        <p:spPr>
          <a:xfrm>
            <a:off x="838200" y="1560145"/>
            <a:ext cx="5031403" cy="2458785"/>
          </a:xfr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5600745-9931-4D78-BFB1-D6B7D848B6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36" t="35077" r="26987" b="33334"/>
          <a:stretch/>
        </p:blipFill>
        <p:spPr>
          <a:xfrm>
            <a:off x="7428951" y="2616829"/>
            <a:ext cx="4325727" cy="1708109"/>
          </a:xfrm>
          <a:prstGeom prst="rect">
            <a:avLst/>
          </a:prstGeom>
        </p:spPr>
      </p:pic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C81663C-D263-4C35-B738-6C980C68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76</a:t>
            </a:fld>
            <a:endParaRPr lang="vi-V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3EE736B-A309-460F-AF15-651FF27C0E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69" t="33633" r="10347" b="7554"/>
          <a:stretch/>
        </p:blipFill>
        <p:spPr>
          <a:xfrm>
            <a:off x="838200" y="4089271"/>
            <a:ext cx="5031403" cy="226707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386D36C-16F2-4392-92BF-D37E2DB648D5}"/>
              </a:ext>
            </a:extLst>
          </p:cNvPr>
          <p:cNvSpPr txBox="1"/>
          <p:nvPr/>
        </p:nvSpPr>
        <p:spPr>
          <a:xfrm>
            <a:off x="6096000" y="2770496"/>
            <a:ext cx="5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N=4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432273D6-A8E4-4448-A2BD-186511523269}"/>
              </a:ext>
            </a:extLst>
          </p:cNvPr>
          <p:cNvSpPr txBox="1"/>
          <p:nvPr/>
        </p:nvSpPr>
        <p:spPr>
          <a:xfrm>
            <a:off x="6096000" y="5038144"/>
            <a:ext cx="79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N=100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34615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40557F-989B-48AB-BDC1-6FE06846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B3D67ED-8507-4609-9EF1-4BA39884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77</a:t>
            </a:fld>
            <a:endParaRPr lang="vi-VN"/>
          </a:p>
        </p:txBody>
      </p:sp>
      <p:pic>
        <p:nvPicPr>
          <p:cNvPr id="1028" name="Picture 4" descr="Thomas Wong">
            <a:extLst>
              <a:ext uri="{FF2B5EF4-FFF2-40B4-BE49-F238E27FC236}">
                <a16:creationId xmlns:a16="http://schemas.microsoft.com/office/drawing/2014/main" id="{0EB73307-E223-420D-8FF3-8651EC8F2B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8019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E1F821F-7DF9-418D-ADB6-F5658F3DC9B1}"/>
              </a:ext>
            </a:extLst>
          </p:cNvPr>
          <p:cNvSpPr txBox="1"/>
          <p:nvPr/>
        </p:nvSpPr>
        <p:spPr>
          <a:xfrm>
            <a:off x="838200" y="4260850"/>
            <a:ext cx="2314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Thomas Wong, </a:t>
            </a:r>
          </a:p>
          <a:p>
            <a:r>
              <a:rPr lang="en-US"/>
              <a:t>Creighton University 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296709B8-ED68-4575-8F74-48BE45D64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9" t="13714" r="32389" b="9632"/>
          <a:stretch/>
        </p:blipFill>
        <p:spPr>
          <a:xfrm>
            <a:off x="3971498" y="801806"/>
            <a:ext cx="7615452" cy="525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307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E37B-020E-956D-D216-D56497CB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F935774-78F0-E482-C541-38B86A4F4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345F94F-2865-B1BB-A5AF-B0BE894A1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4/3/2022</a:t>
            </a:r>
          </a:p>
          <a:p>
            <a:endParaRPr lang="en-US"/>
          </a:p>
          <a:p>
            <a:r>
              <a:rPr lang="en-US"/>
              <a:t>Vu Tuan Hai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ACDAD7D-1040-CDD3-B997-B2DDAEA6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20554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BC9B-FB53-04F9-5ECC-8707655C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B3E6F3-53B9-0884-8897-AF5C7EE2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41C2258-351D-3E99-34B8-6FBEAEFE9F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Take the random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The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/>
                  <a:t> is a 1-D random walk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/>
                  <a:t> </a:t>
                </a:r>
                <a:endParaRPr lang="vi-VN" sz="2400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41C2258-351D-3E99-34B8-6FBEAEFE9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  <a:blipFill>
                <a:blip r:embed="rId2"/>
                <a:stretch>
                  <a:fillRect l="-1751" t="-174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andom walk | Matlab Geeks">
            <a:extLst>
              <a:ext uri="{FF2B5EF4-FFF2-40B4-BE49-F238E27FC236}">
                <a16:creationId xmlns:a16="http://schemas.microsoft.com/office/drawing/2014/main" id="{9676F6FD-F489-12D4-1766-ACEC033B6F5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555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9368C6E8-D12C-F948-3DD0-89D7B24B8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91901"/>
            <a:ext cx="4746674" cy="316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BEFA5E-286E-406C-ED95-BBD67135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47838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40FEF-CDE3-CB5D-7416-EB4FAC031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6B3E80C-3724-A6E5-AA34-BA3E0578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E2B29A2-E879-05C9-5237-6C97EE3F0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E2B29A2-E879-05C9-5237-6C97EE3F0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13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4FBCEB89-F917-824D-D22E-F5C4A35DA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620616"/>
            <a:ext cx="5193199" cy="3462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EB8C552B-42C2-4B63-0239-88D6770254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EB8C552B-42C2-4B63-0239-88D677025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  <a:blipFill>
                <a:blip r:embed="rId4"/>
                <a:stretch>
                  <a:fillRect l="-2506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020D5FED-D668-FDE7-3262-A7AEDF2F9642}"/>
              </a:ext>
            </a:extLst>
          </p:cNvPr>
          <p:cNvSpPr/>
          <p:nvPr/>
        </p:nvSpPr>
        <p:spPr>
          <a:xfrm>
            <a:off x="8772938" y="202601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B5AC64AD-7B84-7BD1-504E-FE1A6D7A4D6F}"/>
              </a:ext>
            </a:extLst>
          </p:cNvPr>
          <p:cNvSpPr/>
          <p:nvPr/>
        </p:nvSpPr>
        <p:spPr>
          <a:xfrm>
            <a:off x="8402705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57C071AD-5B7D-FE27-404F-A053B966FD8E}"/>
              </a:ext>
            </a:extLst>
          </p:cNvPr>
          <p:cNvSpPr/>
          <p:nvPr/>
        </p:nvSpPr>
        <p:spPr>
          <a:xfrm>
            <a:off x="9236764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88EBEB55-B3A7-D783-0DDD-5CBC8A67A432}"/>
              </a:ext>
            </a:extLst>
          </p:cNvPr>
          <p:cNvSpPr/>
          <p:nvPr/>
        </p:nvSpPr>
        <p:spPr>
          <a:xfrm>
            <a:off x="7938879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45539661-7251-05F0-2770-53EC9C26F503}"/>
              </a:ext>
            </a:extLst>
          </p:cNvPr>
          <p:cNvSpPr/>
          <p:nvPr/>
        </p:nvSpPr>
        <p:spPr>
          <a:xfrm>
            <a:off x="8772938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F959A446-F947-8DF1-4FDB-A0885797C8F6}"/>
              </a:ext>
            </a:extLst>
          </p:cNvPr>
          <p:cNvSpPr/>
          <p:nvPr/>
        </p:nvSpPr>
        <p:spPr>
          <a:xfrm>
            <a:off x="747505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5470182E-099B-5DFD-8908-1547F4556363}"/>
              </a:ext>
            </a:extLst>
          </p:cNvPr>
          <p:cNvSpPr/>
          <p:nvPr/>
        </p:nvSpPr>
        <p:spPr>
          <a:xfrm>
            <a:off x="8309112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2123D00C-1CD0-388A-DD67-F1DBB0B1A0B4}"/>
              </a:ext>
            </a:extLst>
          </p:cNvPr>
          <p:cNvSpPr/>
          <p:nvPr/>
        </p:nvSpPr>
        <p:spPr>
          <a:xfrm>
            <a:off x="9236764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2CD4A353-275D-EB68-1A8C-EF9A33F3360F}"/>
              </a:ext>
            </a:extLst>
          </p:cNvPr>
          <p:cNvSpPr/>
          <p:nvPr/>
        </p:nvSpPr>
        <p:spPr>
          <a:xfrm>
            <a:off x="1007082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2A506F29-B5D0-BC0E-F6CF-48853F795512}"/>
              </a:ext>
            </a:extLst>
          </p:cNvPr>
          <p:cNvSpPr/>
          <p:nvPr/>
        </p:nvSpPr>
        <p:spPr>
          <a:xfrm>
            <a:off x="9700590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25FB1B42-D65F-22EA-2103-150F7C3EC4C3}"/>
              </a:ext>
            </a:extLst>
          </p:cNvPr>
          <p:cNvSpPr/>
          <p:nvPr/>
        </p:nvSpPr>
        <p:spPr>
          <a:xfrm>
            <a:off x="793887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59DD6A99-3F0D-E2FB-8411-B7557A2BAEB1}"/>
              </a:ext>
            </a:extLst>
          </p:cNvPr>
          <p:cNvSpPr/>
          <p:nvPr/>
        </p:nvSpPr>
        <p:spPr>
          <a:xfrm>
            <a:off x="8772938" y="507155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FFC1BB48-AB98-596F-5BB7-DFCEFF62A0CC}"/>
              </a:ext>
            </a:extLst>
          </p:cNvPr>
          <p:cNvSpPr/>
          <p:nvPr/>
        </p:nvSpPr>
        <p:spPr>
          <a:xfrm>
            <a:off x="9700590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7D599088-F96B-BB5C-3B74-4153AF821493}"/>
              </a:ext>
            </a:extLst>
          </p:cNvPr>
          <p:cNvSpPr/>
          <p:nvPr/>
        </p:nvSpPr>
        <p:spPr>
          <a:xfrm>
            <a:off x="1053464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F414B61D-47AE-5621-3939-7F6A6FE12B00}"/>
              </a:ext>
            </a:extLst>
          </p:cNvPr>
          <p:cNvSpPr/>
          <p:nvPr/>
        </p:nvSpPr>
        <p:spPr>
          <a:xfrm>
            <a:off x="7011227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B5AA28B5-8C9F-307F-A5D4-E51110AF2657}"/>
              </a:ext>
            </a:extLst>
          </p:cNvPr>
          <p:cNvCxnSpPr/>
          <p:nvPr/>
        </p:nvCxnSpPr>
        <p:spPr>
          <a:xfrm flipH="1">
            <a:off x="8634618" y="2259581"/>
            <a:ext cx="370233" cy="66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7CF7F133-3E07-FD55-46D2-121C5843E708}"/>
              </a:ext>
            </a:extLst>
          </p:cNvPr>
          <p:cNvCxnSpPr>
            <a:cxnSpLocks/>
          </p:cNvCxnSpPr>
          <p:nvPr/>
        </p:nvCxnSpPr>
        <p:spPr>
          <a:xfrm>
            <a:off x="8627578" y="2919634"/>
            <a:ext cx="377274" cy="75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EC7F7DEF-7763-E52D-B109-D2FF03EA59A2}"/>
              </a:ext>
            </a:extLst>
          </p:cNvPr>
          <p:cNvCxnSpPr>
            <a:cxnSpLocks/>
          </p:cNvCxnSpPr>
          <p:nvPr/>
        </p:nvCxnSpPr>
        <p:spPr>
          <a:xfrm>
            <a:off x="9049578" y="3684052"/>
            <a:ext cx="454922" cy="82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3A210C56-9CDB-7164-202E-3AC00C8BB0AE}"/>
              </a:ext>
            </a:extLst>
          </p:cNvPr>
          <p:cNvCxnSpPr>
            <a:cxnSpLocks/>
          </p:cNvCxnSpPr>
          <p:nvPr/>
        </p:nvCxnSpPr>
        <p:spPr>
          <a:xfrm flipH="1">
            <a:off x="9004852" y="4510585"/>
            <a:ext cx="428002" cy="79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98956FBA-1EDE-5FC0-8564-DDE7709C13A8}"/>
              </a:ext>
            </a:extLst>
          </p:cNvPr>
          <p:cNvSpPr txBox="1"/>
          <p:nvPr/>
        </p:nvSpPr>
        <p:spPr>
          <a:xfrm>
            <a:off x="8523114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A63787F8-3F4D-DAF9-892C-32B3F9F99B02}"/>
              </a:ext>
            </a:extLst>
          </p:cNvPr>
          <p:cNvSpPr txBox="1"/>
          <p:nvPr/>
        </p:nvSpPr>
        <p:spPr>
          <a:xfrm>
            <a:off x="10363197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7" name="Chỗ dành sẵn cho Số hiệu Bản chiếu 36">
            <a:extLst>
              <a:ext uri="{FF2B5EF4-FFF2-40B4-BE49-F238E27FC236}">
                <a16:creationId xmlns:a16="http://schemas.microsoft.com/office/drawing/2014/main" id="{BDA37204-F873-BA31-13C8-A967591F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2615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D512-AC0C-4A47-5E12-C44DF363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Đường nối Thẳng 6">
            <a:extLst>
              <a:ext uri="{FF2B5EF4-FFF2-40B4-BE49-F238E27FC236}">
                <a16:creationId xmlns:a16="http://schemas.microsoft.com/office/drawing/2014/main" id="{E8F30112-AC77-A29E-BD7B-6C4E3D2F84B3}"/>
              </a:ext>
            </a:extLst>
          </p:cNvPr>
          <p:cNvCxnSpPr/>
          <p:nvPr/>
        </p:nvCxnSpPr>
        <p:spPr>
          <a:xfrm>
            <a:off x="1152939" y="2173357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AC809C31-9370-5B1E-40C8-E7D047B6704A}"/>
              </a:ext>
            </a:extLst>
          </p:cNvPr>
          <p:cNvCxnSpPr/>
          <p:nvPr/>
        </p:nvCxnSpPr>
        <p:spPr>
          <a:xfrm>
            <a:off x="1152939" y="2488405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8B203E03-80E6-3F3F-2AB1-AA520F494A15}"/>
              </a:ext>
            </a:extLst>
          </p:cNvPr>
          <p:cNvCxnSpPr/>
          <p:nvPr/>
        </p:nvCxnSpPr>
        <p:spPr>
          <a:xfrm>
            <a:off x="1152939" y="2799831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êu đề 1">
            <a:extLst>
              <a:ext uri="{FF2B5EF4-FFF2-40B4-BE49-F238E27FC236}">
                <a16:creationId xmlns:a16="http://schemas.microsoft.com/office/drawing/2014/main" id="{9AC51D84-9245-A0DE-7C50-38C09072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 (using superposition) 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D13886C2-FF1A-143B-0CD9-670204903A85}"/>
                  </a:ext>
                </a:extLst>
              </p:cNvPr>
              <p:cNvSpPr/>
              <p:nvPr/>
            </p:nvSpPr>
            <p:spPr>
              <a:xfrm>
                <a:off x="2915478" y="1825625"/>
                <a:ext cx="1590261" cy="1325563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Incre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vi-VN"/>
              </a:p>
            </p:txBody>
          </p:sp>
        </mc:Choice>
        <mc:Fallback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D13886C2-FF1A-143B-0CD9-670204903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478" y="1825625"/>
                <a:ext cx="1590261" cy="1325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26C26AFE-1AA5-109D-7BAC-CD3ACEAB62AE}"/>
                  </a:ext>
                </a:extLst>
              </p:cNvPr>
              <p:cNvSpPr/>
              <p:nvPr/>
            </p:nvSpPr>
            <p:spPr>
              <a:xfrm>
                <a:off x="5188226" y="1825624"/>
                <a:ext cx="1590261" cy="1325563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Decre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vi-VN"/>
              </a:p>
            </p:txBody>
          </p:sp>
        </mc:Choice>
        <mc:Fallback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26C26AFE-1AA5-109D-7BAC-CD3ACEAB6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226" y="1825624"/>
                <a:ext cx="1590261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E4B32E0A-5EAF-5E77-2C7F-4645F445EC03}"/>
              </a:ext>
            </a:extLst>
          </p:cNvPr>
          <p:cNvCxnSpPr/>
          <p:nvPr/>
        </p:nvCxnSpPr>
        <p:spPr>
          <a:xfrm>
            <a:off x="1152939" y="4038909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706558F7-3FB3-BC05-0BF0-02AB4075DB3A}"/>
              </a:ext>
            </a:extLst>
          </p:cNvPr>
          <p:cNvSpPr/>
          <p:nvPr/>
        </p:nvSpPr>
        <p:spPr>
          <a:xfrm>
            <a:off x="1954696" y="3759285"/>
            <a:ext cx="549966" cy="55924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</a:t>
            </a:r>
            <a:endParaRPr lang="vi-VN"/>
          </a:p>
        </p:txBody>
      </p: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94A0DD1C-AE04-3CE1-44AB-DA97022822E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710609" y="315118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06EBD961-0E4B-258F-2823-E124C02FC7C8}"/>
              </a:ext>
            </a:extLst>
          </p:cNvPr>
          <p:cNvCxnSpPr>
            <a:cxnSpLocks/>
          </p:cNvCxnSpPr>
          <p:nvPr/>
        </p:nvCxnSpPr>
        <p:spPr>
          <a:xfrm>
            <a:off x="5983356" y="313192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EE326894-6C4A-9143-68AC-CC510C109C9B}"/>
              </a:ext>
            </a:extLst>
          </p:cNvPr>
          <p:cNvSpPr/>
          <p:nvPr/>
        </p:nvSpPr>
        <p:spPr>
          <a:xfrm>
            <a:off x="3594654" y="3929579"/>
            <a:ext cx="212033" cy="2186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0AF884AC-B657-DB0A-017A-8A9E54943262}"/>
              </a:ext>
            </a:extLst>
          </p:cNvPr>
          <p:cNvSpPr/>
          <p:nvPr/>
        </p:nvSpPr>
        <p:spPr>
          <a:xfrm>
            <a:off x="5878998" y="3929579"/>
            <a:ext cx="212033" cy="2186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0" name="Đường kết nối: Mũi tên Gấp khúc 19">
            <a:extLst>
              <a:ext uri="{FF2B5EF4-FFF2-40B4-BE49-F238E27FC236}">
                <a16:creationId xmlns:a16="http://schemas.microsoft.com/office/drawing/2014/main" id="{9121F729-2480-500C-2C2F-32AA568772BB}"/>
              </a:ext>
            </a:extLst>
          </p:cNvPr>
          <p:cNvCxnSpPr/>
          <p:nvPr/>
        </p:nvCxnSpPr>
        <p:spPr>
          <a:xfrm>
            <a:off x="4191000" y="3151187"/>
            <a:ext cx="4889500" cy="277813"/>
          </a:xfrm>
          <a:prstGeom prst="bentConnector3">
            <a:avLst>
              <a:gd name="adj1" fmla="val -390"/>
            </a:avLst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01E5AB8F-8DA8-8779-0BAE-B258DAA0AF08}"/>
                  </a:ext>
                </a:extLst>
              </p:cNvPr>
              <p:cNvSpPr txBox="1"/>
              <p:nvPr/>
            </p:nvSpPr>
            <p:spPr>
              <a:xfrm>
                <a:off x="8795302" y="3039377"/>
                <a:ext cx="28724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→|011⟩</m:t>
                      </m:r>
                    </m:oMath>
                  </m:oMathPara>
                </a14:m>
                <a:endParaRPr lang="en-US"/>
              </a:p>
              <a:p>
                <a:pPr algn="ctr"/>
                <a:r>
                  <a:rPr lang="en-US"/>
                  <a:t>…</a:t>
                </a:r>
              </a:p>
            </p:txBody>
          </p:sp>
        </mc:Choice>
        <mc:Fallback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01E5AB8F-8DA8-8779-0BAE-B258DAA0A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302" y="3039377"/>
                <a:ext cx="2872409" cy="923330"/>
              </a:xfrm>
              <a:prstGeom prst="rect">
                <a:avLst/>
              </a:prstGeom>
              <a:blipFill>
                <a:blip r:embed="rId4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hỗ dành sẵn cho Số hiệu Bản chiếu 22">
            <a:extLst>
              <a:ext uri="{FF2B5EF4-FFF2-40B4-BE49-F238E27FC236}">
                <a16:creationId xmlns:a16="http://schemas.microsoft.com/office/drawing/2014/main" id="{B16901A8-CB88-50EF-4E31-4D2D22D0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81</a:t>
            </a:fld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EDD0B8F5-C755-C890-EC9C-AA901052CA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428" t="54051" r="24693" b="35983"/>
          <a:stretch/>
        </p:blipFill>
        <p:spPr>
          <a:xfrm>
            <a:off x="996114" y="4998362"/>
            <a:ext cx="7368773" cy="75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109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D5A5-88B8-8947-A1D5-37A27354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77B560D-FEDB-CE76-96E3-997CAD44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400782E-3463-9B51-7E3B-3B462E81FB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Paranormal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400782E-3463-9B51-7E3B-3B462E81F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13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5FB80541-C44D-3C1A-4CE1-0DFDCDC9D3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5FB80541-C44D-3C1A-4CE1-0DFDCDC9D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  <a:blipFill>
                <a:blip r:embed="rId3"/>
                <a:stretch>
                  <a:fillRect l="-2513" t="-23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A7E2599D-5A2E-9C15-AEEA-729BCFBD2ACF}"/>
              </a:ext>
            </a:extLst>
          </p:cNvPr>
          <p:cNvSpPr/>
          <p:nvPr/>
        </p:nvSpPr>
        <p:spPr>
          <a:xfrm>
            <a:off x="8818027" y="212022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D526AE62-02BA-397C-A949-4C3711BD0448}"/>
              </a:ext>
            </a:extLst>
          </p:cNvPr>
          <p:cNvSpPr/>
          <p:nvPr/>
        </p:nvSpPr>
        <p:spPr>
          <a:xfrm>
            <a:off x="8447794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C80BF483-9B0B-1C93-A88D-849C913E1D31}"/>
              </a:ext>
            </a:extLst>
          </p:cNvPr>
          <p:cNvSpPr/>
          <p:nvPr/>
        </p:nvSpPr>
        <p:spPr>
          <a:xfrm>
            <a:off x="9281853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6AB13420-E018-4C56-B59D-7CED5AE5D33F}"/>
              </a:ext>
            </a:extLst>
          </p:cNvPr>
          <p:cNvSpPr/>
          <p:nvPr/>
        </p:nvSpPr>
        <p:spPr>
          <a:xfrm>
            <a:off x="7983968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4188BB3-9C37-015A-E3C3-15F620E75C4D}"/>
              </a:ext>
            </a:extLst>
          </p:cNvPr>
          <p:cNvSpPr/>
          <p:nvPr/>
        </p:nvSpPr>
        <p:spPr>
          <a:xfrm>
            <a:off x="8818027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14721978-4968-22D4-C8E6-819F5D2C1773}"/>
              </a:ext>
            </a:extLst>
          </p:cNvPr>
          <p:cNvSpPr/>
          <p:nvPr/>
        </p:nvSpPr>
        <p:spPr>
          <a:xfrm>
            <a:off x="752014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7DC2A2E0-1FB8-6E98-A34E-8D54A880C506}"/>
              </a:ext>
            </a:extLst>
          </p:cNvPr>
          <p:cNvSpPr/>
          <p:nvPr/>
        </p:nvSpPr>
        <p:spPr>
          <a:xfrm>
            <a:off x="8354201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9A28E510-5A8C-572D-018F-E677B0FE87B1}"/>
              </a:ext>
            </a:extLst>
          </p:cNvPr>
          <p:cNvSpPr/>
          <p:nvPr/>
        </p:nvSpPr>
        <p:spPr>
          <a:xfrm>
            <a:off x="9281853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02A7B057-8786-3099-E72C-F2593084EEA8}"/>
              </a:ext>
            </a:extLst>
          </p:cNvPr>
          <p:cNvSpPr/>
          <p:nvPr/>
        </p:nvSpPr>
        <p:spPr>
          <a:xfrm>
            <a:off x="1011591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533C947-B6CE-4CF5-EB3B-DE6F96FF91AE}"/>
              </a:ext>
            </a:extLst>
          </p:cNvPr>
          <p:cNvSpPr/>
          <p:nvPr/>
        </p:nvSpPr>
        <p:spPr>
          <a:xfrm>
            <a:off x="9745679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231A756B-D3EB-7A8B-7A6D-EC760E463F1F}"/>
              </a:ext>
            </a:extLst>
          </p:cNvPr>
          <p:cNvSpPr/>
          <p:nvPr/>
        </p:nvSpPr>
        <p:spPr>
          <a:xfrm>
            <a:off x="798396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8B3257F6-1FB8-2CCA-6BF5-12AE0E6B1BD0}"/>
              </a:ext>
            </a:extLst>
          </p:cNvPr>
          <p:cNvSpPr/>
          <p:nvPr/>
        </p:nvSpPr>
        <p:spPr>
          <a:xfrm>
            <a:off x="8818027" y="516576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CE815DD4-90C5-9762-1F8A-E05A4E9B3A40}"/>
              </a:ext>
            </a:extLst>
          </p:cNvPr>
          <p:cNvSpPr/>
          <p:nvPr/>
        </p:nvSpPr>
        <p:spPr>
          <a:xfrm>
            <a:off x="9745679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5D1D9FA2-5E62-C459-C82F-9694A293A941}"/>
              </a:ext>
            </a:extLst>
          </p:cNvPr>
          <p:cNvSpPr/>
          <p:nvPr/>
        </p:nvSpPr>
        <p:spPr>
          <a:xfrm>
            <a:off x="1057973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EB2BBF91-296C-1BFE-3546-6BEFFF7B9D40}"/>
              </a:ext>
            </a:extLst>
          </p:cNvPr>
          <p:cNvSpPr/>
          <p:nvPr/>
        </p:nvSpPr>
        <p:spPr>
          <a:xfrm>
            <a:off x="7056316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43CEFB8E-BD20-3B9D-C528-AD8F367E47E7}"/>
              </a:ext>
            </a:extLst>
          </p:cNvPr>
          <p:cNvCxnSpPr/>
          <p:nvPr/>
        </p:nvCxnSpPr>
        <p:spPr>
          <a:xfrm flipH="1">
            <a:off x="8679707" y="2353796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945FB67B-6A38-2DA0-2DED-38A087ECFD89}"/>
              </a:ext>
            </a:extLst>
          </p:cNvPr>
          <p:cNvCxnSpPr>
            <a:cxnSpLocks/>
          </p:cNvCxnSpPr>
          <p:nvPr/>
        </p:nvCxnSpPr>
        <p:spPr>
          <a:xfrm>
            <a:off x="8672667" y="3013849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578D1380-F2FE-80C9-4F68-47646ED43A81}"/>
              </a:ext>
            </a:extLst>
          </p:cNvPr>
          <p:cNvCxnSpPr>
            <a:cxnSpLocks/>
          </p:cNvCxnSpPr>
          <p:nvPr/>
        </p:nvCxnSpPr>
        <p:spPr>
          <a:xfrm>
            <a:off x="9094667" y="3778267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1B9F9BB8-4FBB-79FC-8BA4-8E57EEF6F250}"/>
              </a:ext>
            </a:extLst>
          </p:cNvPr>
          <p:cNvCxnSpPr>
            <a:cxnSpLocks/>
          </p:cNvCxnSpPr>
          <p:nvPr/>
        </p:nvCxnSpPr>
        <p:spPr>
          <a:xfrm flipH="1">
            <a:off x="9049941" y="4604800"/>
            <a:ext cx="428002" cy="7945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03A6DB59-4C31-B057-89D5-4BF02A4FF521}"/>
              </a:ext>
            </a:extLst>
          </p:cNvPr>
          <p:cNvSpPr txBox="1"/>
          <p:nvPr/>
        </p:nvSpPr>
        <p:spPr>
          <a:xfrm>
            <a:off x="8767915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10C9F0ED-D4CD-C679-CF08-ACC636AD63AC}"/>
              </a:ext>
            </a:extLst>
          </p:cNvPr>
          <p:cNvSpPr txBox="1"/>
          <p:nvPr/>
        </p:nvSpPr>
        <p:spPr>
          <a:xfrm>
            <a:off x="10408286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A24BC598-CBC6-123E-7D52-3B41EEC57DB8}"/>
              </a:ext>
            </a:extLst>
          </p:cNvPr>
          <p:cNvCxnSpPr/>
          <p:nvPr/>
        </p:nvCxnSpPr>
        <p:spPr>
          <a:xfrm flipH="1">
            <a:off x="8262123" y="3090633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D387320E-E3B5-30AE-5924-97EC0212EF5C}"/>
              </a:ext>
            </a:extLst>
          </p:cNvPr>
          <p:cNvCxnSpPr/>
          <p:nvPr/>
        </p:nvCxnSpPr>
        <p:spPr>
          <a:xfrm flipH="1">
            <a:off x="7835296" y="3842871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Đường kết nối Mũi tên Thẳng 31">
            <a:extLst>
              <a:ext uri="{FF2B5EF4-FFF2-40B4-BE49-F238E27FC236}">
                <a16:creationId xmlns:a16="http://schemas.microsoft.com/office/drawing/2014/main" id="{BC8BC7A5-6912-B361-3B5F-6774030A7FE4}"/>
              </a:ext>
            </a:extLst>
          </p:cNvPr>
          <p:cNvCxnSpPr>
            <a:cxnSpLocks/>
          </p:cNvCxnSpPr>
          <p:nvPr/>
        </p:nvCxnSpPr>
        <p:spPr>
          <a:xfrm flipH="1">
            <a:off x="7342496" y="4584816"/>
            <a:ext cx="430402" cy="7647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B90C4800-F895-0128-3EE1-9466A37923C7}"/>
              </a:ext>
            </a:extLst>
          </p:cNvPr>
          <p:cNvCxnSpPr>
            <a:cxnSpLocks/>
          </p:cNvCxnSpPr>
          <p:nvPr/>
        </p:nvCxnSpPr>
        <p:spPr>
          <a:xfrm flipH="1">
            <a:off x="8223332" y="4631591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9C87D393-CEBD-1623-270F-E0BF3E1A7767}"/>
              </a:ext>
            </a:extLst>
          </p:cNvPr>
          <p:cNvCxnSpPr>
            <a:cxnSpLocks/>
          </p:cNvCxnSpPr>
          <p:nvPr/>
        </p:nvCxnSpPr>
        <p:spPr>
          <a:xfrm flipH="1">
            <a:off x="8643884" y="3818265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6FEB849F-C5A7-6503-E831-723D69D0A3BA}"/>
              </a:ext>
            </a:extLst>
          </p:cNvPr>
          <p:cNvCxnSpPr>
            <a:cxnSpLocks/>
          </p:cNvCxnSpPr>
          <p:nvPr/>
        </p:nvCxnSpPr>
        <p:spPr>
          <a:xfrm flipH="1">
            <a:off x="9594242" y="3755276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CDCAA87D-DC77-6BEB-87EB-5D48FBDCBE99}"/>
              </a:ext>
            </a:extLst>
          </p:cNvPr>
          <p:cNvCxnSpPr>
            <a:cxnSpLocks/>
          </p:cNvCxnSpPr>
          <p:nvPr/>
        </p:nvCxnSpPr>
        <p:spPr>
          <a:xfrm flipH="1">
            <a:off x="9987322" y="4617257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Đường kết nối Mũi tên Thẳng 39">
            <a:extLst>
              <a:ext uri="{FF2B5EF4-FFF2-40B4-BE49-F238E27FC236}">
                <a16:creationId xmlns:a16="http://schemas.microsoft.com/office/drawing/2014/main" id="{7C472E14-700D-D102-E387-334DF1409100}"/>
              </a:ext>
            </a:extLst>
          </p:cNvPr>
          <p:cNvCxnSpPr>
            <a:cxnSpLocks/>
          </p:cNvCxnSpPr>
          <p:nvPr/>
        </p:nvCxnSpPr>
        <p:spPr>
          <a:xfrm flipH="1">
            <a:off x="9164720" y="2929133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8E2AD100-3855-9364-7D76-9FBC522B98F8}"/>
              </a:ext>
            </a:extLst>
          </p:cNvPr>
          <p:cNvCxnSpPr>
            <a:cxnSpLocks/>
          </p:cNvCxnSpPr>
          <p:nvPr/>
        </p:nvCxnSpPr>
        <p:spPr>
          <a:xfrm>
            <a:off x="8229754" y="3862572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DF444D3A-F15C-9978-96B2-0B79AB5F49EF}"/>
              </a:ext>
            </a:extLst>
          </p:cNvPr>
          <p:cNvCxnSpPr>
            <a:cxnSpLocks/>
          </p:cNvCxnSpPr>
          <p:nvPr/>
        </p:nvCxnSpPr>
        <p:spPr>
          <a:xfrm>
            <a:off x="8651754" y="4626990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Đường kết nối Mũi tên Thẳng 42">
            <a:extLst>
              <a:ext uri="{FF2B5EF4-FFF2-40B4-BE49-F238E27FC236}">
                <a16:creationId xmlns:a16="http://schemas.microsoft.com/office/drawing/2014/main" id="{871F5515-C4CF-E6C7-F0DA-63ACC8AB7ECD}"/>
              </a:ext>
            </a:extLst>
          </p:cNvPr>
          <p:cNvCxnSpPr>
            <a:cxnSpLocks/>
          </p:cNvCxnSpPr>
          <p:nvPr/>
        </p:nvCxnSpPr>
        <p:spPr>
          <a:xfrm>
            <a:off x="9130696" y="2265090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AD3392E1-7219-195B-BC79-582D627BD0DB}"/>
              </a:ext>
            </a:extLst>
          </p:cNvPr>
          <p:cNvCxnSpPr>
            <a:cxnSpLocks/>
          </p:cNvCxnSpPr>
          <p:nvPr/>
        </p:nvCxnSpPr>
        <p:spPr>
          <a:xfrm>
            <a:off x="9552696" y="3029508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1A2BC3ED-E7AD-5FE6-D318-99132AF050BA}"/>
              </a:ext>
            </a:extLst>
          </p:cNvPr>
          <p:cNvCxnSpPr>
            <a:cxnSpLocks/>
          </p:cNvCxnSpPr>
          <p:nvPr/>
        </p:nvCxnSpPr>
        <p:spPr>
          <a:xfrm>
            <a:off x="10005752" y="3867394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kết nối Mũi tên Thẳng 45">
            <a:extLst>
              <a:ext uri="{FF2B5EF4-FFF2-40B4-BE49-F238E27FC236}">
                <a16:creationId xmlns:a16="http://schemas.microsoft.com/office/drawing/2014/main" id="{B6BE9FA3-EBB2-505D-0F5B-CDF17DEBF619}"/>
              </a:ext>
            </a:extLst>
          </p:cNvPr>
          <p:cNvCxnSpPr>
            <a:cxnSpLocks/>
          </p:cNvCxnSpPr>
          <p:nvPr/>
        </p:nvCxnSpPr>
        <p:spPr>
          <a:xfrm>
            <a:off x="10427752" y="463181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kết nối Mũi tên Thẳng 46">
            <a:extLst>
              <a:ext uri="{FF2B5EF4-FFF2-40B4-BE49-F238E27FC236}">
                <a16:creationId xmlns:a16="http://schemas.microsoft.com/office/drawing/2014/main" id="{C75EE754-0111-EF69-76C0-25541D3B983B}"/>
              </a:ext>
            </a:extLst>
          </p:cNvPr>
          <p:cNvCxnSpPr>
            <a:cxnSpLocks/>
          </p:cNvCxnSpPr>
          <p:nvPr/>
        </p:nvCxnSpPr>
        <p:spPr>
          <a:xfrm>
            <a:off x="7774832" y="457280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32699DE8-032C-277F-C139-5321AD887A0E}"/>
              </a:ext>
            </a:extLst>
          </p:cNvPr>
          <p:cNvCxnSpPr>
            <a:cxnSpLocks/>
          </p:cNvCxnSpPr>
          <p:nvPr/>
        </p:nvCxnSpPr>
        <p:spPr>
          <a:xfrm>
            <a:off x="9563149" y="4596701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png">
            <a:extLst>
              <a:ext uri="{FF2B5EF4-FFF2-40B4-BE49-F238E27FC236}">
                <a16:creationId xmlns:a16="http://schemas.microsoft.com/office/drawing/2014/main" id="{AA3B8F2B-DF03-828C-9FA7-1333DA06C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91" y="2560678"/>
            <a:ext cx="5204634" cy="34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D0AC3190-243B-8A0B-448F-E36D010C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22039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5572C-3A87-432F-7193-B5BE20B1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C856706-B883-1363-EF1E-1427D400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35BD5C7-F400-DBE9-7BFC-89B5AF5A6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Quantum walk is described as product of 2 unitary operator: coin flip operator &amp; shift operator 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23D973D-6D82-9828-44C8-440522C7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03195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3A58-2C84-C9B4-BDAF-4427412A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E83B1EDC-F8A1-60C8-3741-4DACFECA21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8" t="17364" r="36776" b="12905"/>
          <a:stretch/>
        </p:blipFill>
        <p:spPr>
          <a:xfrm>
            <a:off x="8377766" y="1186971"/>
            <a:ext cx="300016" cy="5938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C81CF3A3-EB36-1BF7-FA78-EA44B40C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Spatial search (discrete time)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4A583-59A4-BC86-B524-E9F12EE548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that we have a complete graph with 4 nodes.</a:t>
                </a:r>
              </a:p>
              <a:p>
                <a:pPr marL="0" indent="0">
                  <a:buNone/>
                </a:pPr>
                <a:r>
                  <a:rPr lang="en-US"/>
                  <a:t>One approach is using random walk.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that:</a:t>
                </a:r>
              </a:p>
              <a:p>
                <a:pPr marL="0" indent="0">
                  <a:buNone/>
                </a:pPr>
                <a:r>
                  <a:rPr lang="en-US"/>
                  <a:t>Walker must be in somewhere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754A583-59A4-BC86-B524-E9F12EE54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  <a:blipFill>
                <a:blip r:embed="rId3"/>
                <a:stretch>
                  <a:fillRect l="-2618" t="-2326" b="-45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C641BADC-BA3A-EC4F-4AE0-7871D6AA75E6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C5BB47A7-E432-07CB-7BC8-6C966E5DF9B2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E015CB4F-3EBB-6F30-64D2-3DA18A5C2BA3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D05EA83E-DD17-2ECF-9CF5-380A5C1B5C66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8DF0EF5-EACD-D880-575F-6B932DB9376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524F7B9-F28F-6F75-A0DA-44F3E5B07A17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995991DA-0142-E195-C97E-883FC17431DA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67A9C21C-28E4-49B5-4CC3-CF4F61853326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A44FF34F-092C-354D-779D-CA398D13C18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11B10E1C-9D7E-6F0D-E3BE-C1DB4050218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89BE29BB-897B-0ED8-A46B-261384D2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0401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24D7F-9BD7-D287-55AB-AA7F1D13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EB28623-39C4-EE5D-D4A9-9C3746CD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C2CF329-E13E-8575-C5BE-C91B303FE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Initial state: ¼ at all node</a:t>
                </a:r>
              </a:p>
              <a:p>
                <a:pPr marL="0" indent="0">
                  <a:buNone/>
                </a:pPr>
                <a:r>
                  <a:rPr lang="en-US"/>
                  <a:t>At step k: jump to other random nodes</a:t>
                </a:r>
              </a:p>
              <a:p>
                <a:pPr marL="0" indent="0">
                  <a:buNone/>
                </a:pPr>
                <a:r>
                  <a:rPr lang="en-US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=1/4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6C2CF329-E13E-8575-C5BE-C91B303FE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  <a:blipFill>
                <a:blip r:embed="rId2"/>
                <a:stretch>
                  <a:fillRect l="-2793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43F1B186-376F-3172-4D53-04B88F422BF4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F4CFAA26-A30E-E6F4-5CA4-8A4467367E3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F814E7C2-34D4-1BF3-B74A-4A6D03D3916D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BCA62F1C-A168-1275-C086-A53791A6A6A4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A968848E-86F7-42F3-4114-E913EB13B8B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125C7C7A-80E5-A36D-9E0A-992EC2E7A6C4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45F6D528-4060-97E3-EACE-A6420D65C0B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7F61B223-1537-E8B1-D653-698CEFC3DB97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E75582B2-50D6-D656-4292-28548EEF0847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7CFF9013-FB7A-6774-7F78-8172B9F97F4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AF35E6A-85C4-3852-1C4A-3BF2CD799868}"/>
                  </a:ext>
                </a:extLst>
              </p:cNvPr>
              <p:cNvSpPr txBox="1"/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EAF35E6A-85C4-3852-1C4A-3BF2CD799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140CCA82-7699-DE28-A527-65E1B0AD28D2}"/>
                  </a:ext>
                </a:extLst>
              </p:cNvPr>
              <p:cNvSpPr txBox="1"/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140CCA82-7699-DE28-A527-65E1B0AD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7BE1188E-04A6-316B-CD39-292D1CF8948C}"/>
                  </a:ext>
                </a:extLst>
              </p:cNvPr>
              <p:cNvSpPr txBox="1"/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7BE1188E-04A6-316B-CD39-292D1CF89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1A94C42-5B52-FDC3-1767-D7276C9D6647}"/>
                  </a:ext>
                </a:extLst>
              </p:cNvPr>
              <p:cNvSpPr txBox="1"/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51A94C42-5B52-FDC3-1767-D7276C9D6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6FFE87A9-FED4-D513-3BA8-BCBEBB97BD75}"/>
              </a:ext>
            </a:extLst>
          </p:cNvPr>
          <p:cNvCxnSpPr>
            <a:cxnSpLocks/>
            <a:stCxn id="6" idx="0"/>
            <a:endCxn id="18" idx="1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B08F4014-79CC-7FE9-D863-6514B0FAA62D}"/>
              </a:ext>
            </a:extLst>
          </p:cNvPr>
          <p:cNvSpPr txBox="1"/>
          <p:nvPr/>
        </p:nvSpPr>
        <p:spPr>
          <a:xfrm>
            <a:off x="10704444" y="1998139"/>
            <a:ext cx="139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Acts as absorb node</a:t>
            </a:r>
            <a:endParaRPr lang="vi-VN"/>
          </a:p>
        </p:txBody>
      </p:sp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DCC25F2-42FF-2288-2364-06D805A6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19201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5D64-00B9-AE61-D8E7-1E639EAF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C33512-39DE-CFA4-C336-31F706CD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7843394-3D01-F8DC-17A6-005722B38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1: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957FF572-A2B2-8089-2CB0-230D1D93BE11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E604F3F9-BC55-81DC-275D-88BBF977DE74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C6B3665F-6D6B-85E9-E7BC-273D30216C60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C994F565-26F4-E8D5-0D2A-47E68B96837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41A0328-FF0B-86D5-1231-9C47F6F27DE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9CC3D552-4D1F-B1D5-9D9B-833E3FD736CB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BEEEEAEA-4D5D-D797-6A7E-77966C3E76BB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4B8136D1-6CAB-F0F9-5C07-C6F7D76C616E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D5DDF560-FE68-007D-398B-65A522E33DE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3D1E90E0-B70E-3888-6EAE-CEC8EE0C1FCF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4F7B021-D312-6A8D-A1E9-27DB11917358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4F7B021-D312-6A8D-A1E9-27DB11917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8EC41C25-A522-4A38-B257-A9038CE9FC93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4778E2AC-5D87-E98C-114D-193B26D7BFAD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3F18241B-D017-CE24-76F5-DBBCC949B88A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EF2C570F-9DF0-BB1A-F9B1-5B8D5D8BC140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8A4FE6E9-2FFB-9F55-3AE8-7BFDBA7711F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430BDF76-6525-D6A6-6450-870D4E57252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2E9454C-47BB-D8B1-F1F0-087B5D0307B9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23577DE3-81EA-0289-ECE8-BB636073EC0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8C4F177B-318F-655B-E7C0-020783C94449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9EC0C750-EB23-774F-9F27-57FDAFA40311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230187A-7AE2-1B31-2DE1-CCC5272DC64E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230187A-7AE2-1B31-2DE1-CCC5272DC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016405DF-7D95-CCD0-7CC0-AE79112C37F6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016405DF-7D95-CCD0-7CC0-AE79112C3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CB203BC9-BA09-2109-8E36-4C26E59225CD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CB203BC9-BA09-2109-8E36-4C26E5922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64A53EE-89F9-D1DE-7819-019D1559D3CD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64A53EE-89F9-D1DE-7819-019D1559D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F345440C-2527-D467-EFE9-D9C870C1D09F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F345440C-2527-D467-EFE9-D9C870C1D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462F68AD-7C61-2C37-4F98-F4E9D49F98C4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462F68AD-7C61-2C37-4F98-F4E9D49F9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413A9934-BB97-EAA7-B0D0-77829DFAA3EF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413A9934-BB97-EAA7-B0D0-77829DFAA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266A5DB3-5F7C-7A8F-A555-6F266DC1B387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266A5DB3-5F7C-7A8F-A555-6F266DC1B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46B6D9EC-3215-3C86-E100-18248466DF25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46B6D9EC-3215-3C86-E100-18248466D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FB212542-7596-8547-C3CD-595A8F4F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88677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D8E2-F98A-995E-D52E-D38A67B5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9F12EDC-A498-CD16-E4A7-0152A0F7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684CF9E-CD21-4F50-0B66-B0DAFE66FE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1: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1/2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684CF9E-CD21-4F50-0B66-B0DAFE66F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E4F072AA-9F71-2DDE-1DF7-B8752F09FC9F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167BEBCE-8EAA-24CA-5B43-88097951FB68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65698FAF-1C8E-AAF4-1C57-12181D4E0B74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A7002A99-C829-3331-ED6A-02AE4A2756B4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B81ECDBB-6A1E-EF6C-2713-35CA5B95AEB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53A1364C-A797-430F-E4FD-5D2D7402A188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F1772972-08EF-4C6E-A993-D1780FC4160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02D8235F-EAC8-95A0-7F1F-5FD4E713EAA3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DB86EB8E-B340-F910-563A-A7B324E43F88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F78EAB50-093F-C240-48B6-14B5940794D9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2248396D-833C-97DA-6B4F-5263F6F0AEDF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2248396D-833C-97DA-6B4F-5263F6F0A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D11C660D-853C-83DA-932B-D1EBC6F17F07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6AC77118-A6F7-B0FA-B4E7-17D055E3790C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6AC77118-A6F7-B0FA-B4E7-17D055E37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03FBBCA-EECA-CA42-1BE3-3448EE58C61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03FBBCA-EECA-CA42-1BE3-3448EE58C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368C4AB3-0EE2-01A0-761E-89AFA32A9ED4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368C4AB3-0EE2-01A0-761E-89AFA32A9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4D8EF63A-B051-9C02-0B8C-96943296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37860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7E4F8-EB57-36F3-F92B-5382783A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10E112A-53D8-C7A9-095D-90352B01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6270DBE-84CE-032B-5070-0151E5E61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2: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89E492F1-DB98-CD4B-729F-531927F972EA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6CD14371-EA3E-086F-C605-F2CCBF9BD7F8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E5437E32-F32D-5D97-74B3-ACE2B63256B3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0BCDA155-0E97-A1A9-5D22-0CDEF522EC28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FBBFE4B-108E-C277-4CBD-342C4C5A874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9C125A8D-BBAB-75A6-1922-83CC64DC4DB4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ABD6C997-9610-4D8F-ECE4-508C60F415E2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F532D28A-8341-7FDF-278C-32878C9F3222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54E746EC-765C-7385-290D-AC4F921EA96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E77B1393-7949-A3BE-9F11-C811010FDCE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B9A830A-4B03-A9A6-8B59-CCA2DB5B29C4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6B9A830A-4B03-A9A6-8B59-CCA2DB5B2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541B8670-71F9-5B1F-F177-28B8999EA9D2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F8B7D851-C9AA-BF57-3E3D-2A363D0D2F6E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A564E6AE-6F6B-F57E-7D6C-284C5F6A0217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46C48A84-43B9-98F9-4526-A620FEF61098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4DA9ABE-29C3-1927-2BEA-8545EEA0DA9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64C6A0EC-E0E6-11C0-0CAC-D27282223C25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35983BC7-0DE0-D296-D882-46DF95711F29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3AE6466C-0689-00BF-CF80-53B9BEF5B85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55590650-44D7-6F6B-BF63-827F297FA9DE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9E22A70C-EEB5-D269-C46F-1ACD8D433B7A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8C9EDD38-A640-790F-45FE-C40A6AD6DF56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8C9EDD38-A640-790F-45FE-C40A6AD6D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B4707F47-7353-74A6-2347-4C9BF75B8C9D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B4707F47-7353-74A6-2347-4C9BF75B8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4D27BC1C-6D75-00F4-838E-AAA044D30337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4D27BC1C-6D75-00F4-838E-AAA044D30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E152AA3C-5AC7-3B53-28C3-8334A1DC7B91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E152AA3C-5AC7-3B53-28C3-8334A1DC7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92C514F0-29D7-9FE3-1D0E-65AD6B0114E6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92C514F0-29D7-9FE3-1D0E-65AD6B011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04738EC1-15B9-0FEE-47D1-23A23E839D81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04738EC1-15B9-0FEE-47D1-23A23E839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4B1D2248-3BE1-420E-7E5D-445AA21F3D75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4B1D2248-3BE1-420E-7E5D-445AA21F3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03771ACC-A4AA-3E35-5B20-68434F387F0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03771ACC-A4AA-3E35-5B20-68434F387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8661B307-51DA-FC76-20EC-6CAFF79AB92A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8661B307-51DA-FC76-20EC-6CAFF79AB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D92BDFF-1213-E733-986D-7AAE68B0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54066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B691-0C10-F077-134A-52249330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2A0362B-274D-D0C9-CBEF-54B040D42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0DB975B-1BA2-2D42-C737-28FA56C1EC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2: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∗2=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0DB975B-1BA2-2D42-C737-28FA56C1E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527F406B-7EF6-F806-9D70-16F75630050F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C10C2791-D91B-5020-E404-0EB96DC41D67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7FD2D3F7-3574-789A-765E-193075C26FCC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EA94C9B-A2CB-FB23-8286-ED1D58C6D1A5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68A2E8AF-12B5-3C36-01B1-3E10144BA9E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87B2445B-1B89-F49D-20C6-C24AA6EB5A54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30C97265-D341-FFCA-E0AD-4D73C8CE1DA2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5C72C9EC-91FB-028D-5A04-48239243E04A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C8E1B236-9889-69E5-3760-F06B2C6BBD5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2E14ECA8-7676-3E4D-A88D-9A52BA3F47D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087F2E6A-45C8-9306-DBCE-F11FD7BA80E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087F2E6A-45C8-9306-DBCE-F11FD7BA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7DC102F-EB45-511E-DAEE-4A149F16F4A9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5B2202BE-EAAB-309F-5B05-E5D7C09BCC24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5B2202BE-EAAB-309F-5B05-E5D7C09BC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7103E29B-5C30-C1B4-B41A-BBAAA2960AB6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7103E29B-5C30-C1B4-B41A-BBAAA2960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619C89E1-6F55-4E30-70DA-C44E07726CC8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619C89E1-6F55-4E30-70DA-C44E07726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414E4388-C9B0-7F50-A59D-47E64439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561603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ABFD-0F21-A0EC-A144-1B4EC5CB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3BABBBF-3DF8-7868-85DC-30A18A13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CA33D42-F894-DE0C-BFD1-2F2321DB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3: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CB6E1DC-DC57-AA2A-4914-C924843623A9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F39362A8-477D-FE9C-E96B-35E98BA46EE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9697CE70-059A-2729-21F1-C0F52E2050C3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D28B8D45-16AA-E290-711A-6F1E35DDC2E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652A1109-EA27-0FBE-636D-D55C3B9C9379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2C984D14-877C-5FDD-D5C4-A0A11CBDEFE1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631DDA46-C365-4437-3269-3A4275838D09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11363636-A6DF-D883-8D16-C7EEFD06B59C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BFB5D29B-5531-695D-4D4F-16FF2D7CC78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121A93ED-8491-CDDA-BD45-5FED498CB08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DE45142F-2746-9B7A-FF78-F42EB1C3D783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DE45142F-2746-9B7A-FF78-F42EB1C3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38214D9D-A703-82D5-3D7D-2BF7C348D2A2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E5FB2E79-EB8C-7A7D-ADA0-F7F5C7E5FFD2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5AA065F0-3033-1689-38CD-00E71EA49A6A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26E08BE0-08B2-7CB0-F581-C0246787B244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35C91CC-646D-5D4C-30EF-64A58BA00C0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E2DBF0B3-3E6E-5634-2E00-875EC959AD6D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42105757-5CA4-CE12-5F1A-9E58C9FA408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41016D7A-1357-02B6-021F-26092784FCD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E2B3FAE2-579A-40FD-7F5B-A00A76D173A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A2AF09AC-D8E5-4BE8-F238-2A45F95D3A67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EEA56AA9-9BA7-013B-578B-F10E82293C8A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EEA56AA9-9BA7-013B-578B-F10E82293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6955967A-CB77-5DE5-A890-0B20DFAA1DDB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6955967A-CB77-5DE5-A890-0B20DFAA1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77DB05FB-8985-5EEC-D908-8D9885A96DB7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77DB05FB-8985-5EEC-D908-8D9885A96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28F6020F-BC83-C6B4-AFAC-0E2A05C69E45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28F6020F-BC83-C6B4-AFAC-0E2A05C69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58D48613-F80A-BC41-0E16-01E6480050F6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58D48613-F80A-BC41-0E16-01E648005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D1E6F78E-82E3-558A-3762-6DE76C958798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D1E6F78E-82E3-558A-3762-6DE76C95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024D5892-A432-B769-FFFF-4B95A130DF2B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024D5892-A432-B769-FFFF-4B95A130D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BD86FE0E-FD52-E4C8-24C5-FC1A413084FB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BD86FE0E-FD52-E4C8-24C5-FC1A41308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3BD7A6FD-A67B-3FB5-6094-832E4E6459D2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3BD7A6FD-A67B-3FB5-6094-832E4E645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478EF85-BD67-E403-F8CB-BF8CA79B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94319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62B1-BA95-09CC-0A3F-4AC6D50F4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83F84F3-19E7-7726-29DB-DA30A41D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B38917D-3B54-B7E0-95F8-55CE5093B3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3: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B38917D-3B54-B7E0-95F8-55CE5093B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49A1CF03-FC53-423F-A964-3FF12CB77210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65AEC5C7-B03E-F168-5775-90733553B1FB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09E69CD3-F227-BB19-9F65-263C1A8AF53A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5E444998-7934-45E2-0A65-DAAB7915E4C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BD762E8F-72C2-A792-640F-C00E4F1EC06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4CFE0F2D-FE86-D064-C27D-23738A9E597B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9589AFC7-516F-FA1D-4AC0-7CD990747B3B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D4DB5373-F335-CD9F-5C0C-5186564BB243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6FDE1A97-D2E3-3C5E-CA52-AD5584A2A0E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B45F7663-542E-0F4A-F423-7FCBB57FA33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95A86DA4-6FC3-8586-D610-19567FE2CA5F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95A86DA4-6FC3-8586-D610-19567FE2C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5F912886-7249-9A70-4CBD-C00B9B83985C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177A2C73-F2D9-C992-0F74-2EC767F857BC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177A2C73-F2D9-C992-0F74-2EC767F85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CC4A3BC-A74C-EDD9-D780-4A33BB168DE3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CC4A3BC-A74C-EDD9-D780-4A33BB168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344B0C59-9FA3-3335-56FB-B857A6E7A1B0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344B0C59-9FA3-3335-56FB-B857A6E7A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A1739A85-42E7-5E2A-3BF3-A8C7FB85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39644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5E17-D976-FF17-CE09-78C5E811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FE665BA-C5AB-D934-F1D6-0E2F7F61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9D680868-9AD9-CF19-A9EF-AD90FCB5E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33" t="40642" r="32035" b="8281"/>
          <a:stretch/>
        </p:blipFill>
        <p:spPr>
          <a:xfrm>
            <a:off x="838200" y="1690688"/>
            <a:ext cx="6244778" cy="3186112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E02C93A-E6D6-BD28-55DE-DD5A36202460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E02C93A-E6D6-BD28-55DE-DD5A36202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blipFill>
                <a:blip r:embed="rId3"/>
                <a:stretch>
                  <a:fillRect l="-3115" t="-3593" b="-658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20F97DD3-4E2E-843C-9EC3-B2A52F82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563096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AFFC-121C-6AD5-7424-2C489977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B15AE4B-D706-F1B7-82B2-519113FB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5655D2-AAD8-C19D-7BBB-578CDAEC9F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Change 4 probs to 12 amplitudes of a wave function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at intermediate steps we cannot observe the system. Then we do not know the current node is the marked node or not.</a:t>
                </a:r>
                <a:endParaRPr lang="vi-VN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75655D2-AAD8-C19D-7BBB-578CDAEC9F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  <a:blipFill>
                <a:blip r:embed="rId2"/>
                <a:stretch>
                  <a:fillRect l="-2950" t="-2326" r="-2065" b="-2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536707DD-FFAB-ADFC-643B-F89C520B5F36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E89781D0-EB7F-C446-98DB-3F19475B8943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B1F1DAEE-0B85-3E13-0166-3B1E3379DD3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1BD963EC-35DA-22F7-FF83-1927A86A3DF5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ECF7FECD-8753-75D7-DDB9-347714169A88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2B954164-D488-DE5B-BEA1-A2025251096D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EB20206B-EF91-8111-0C02-014D9D98BEFD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45AC5CB6-9F24-A8CA-A8C5-7ABF72052D0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2949A4FC-F263-B640-F850-A15CCA3B1E4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53B79284-8FB1-9EAB-4C47-B1A80E7CE63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5A9B3F6D-B559-162C-E4F1-CC86F0FE9FD3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4D0A3E9F-926F-9FD1-8BD4-345416DD6E01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44943286-8345-BE8B-BD4E-3855B5D6A47B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F2B6C5B9-2FA6-9032-BC63-D016432963E5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E1F9419C-32E3-5812-ABB1-5A7BD8CC88EE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D15F9F78-8006-0E30-FC9F-2E70093ED7AC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1AF03523-C06E-035C-5208-E408EF3F168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2DD5ACF6-F123-5973-AF9C-76D2C5ADB167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BCE477B8-FAA0-A25B-0678-ADC4530EBAE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F09978FE-0849-E7B5-D9E6-2C3A7B877583}"/>
                  </a:ext>
                </a:extLst>
              </p:cNvPr>
              <p:cNvSpPr txBox="1"/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F09978FE-0849-E7B5-D9E6-2C3A7B877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3D947846-F419-F32C-C421-5754EEEB045D}"/>
                  </a:ext>
                </a:extLst>
              </p:cNvPr>
              <p:cNvSpPr txBox="1"/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3D947846-F419-F32C-C421-5754EEEB0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0482399D-DCBB-A5E2-1BAF-6E170A59A186}"/>
                  </a:ext>
                </a:extLst>
              </p:cNvPr>
              <p:cNvSpPr txBox="1"/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0482399D-DCBB-A5E2-1BAF-6E170A59A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FFB53C4D-A5FF-FE6A-8EBB-88F62B11E982}"/>
                  </a:ext>
                </a:extLst>
              </p:cNvPr>
              <p:cNvSpPr txBox="1"/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FFB53C4D-A5FF-FE6A-8EBB-88F62B11E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A5416FC5-2F6B-369A-F847-D000CE0DAF9A}"/>
                  </a:ext>
                </a:extLst>
              </p:cNvPr>
              <p:cNvSpPr txBox="1"/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A5416FC5-2F6B-369A-F847-D000CE0DA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3A74AB08-9333-5F4E-85A3-C4A90E04EAD5}"/>
                  </a:ext>
                </a:extLst>
              </p:cNvPr>
              <p:cNvSpPr txBox="1"/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3A74AB08-9333-5F4E-85A3-C4A90E04E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3F0308DC-4420-E613-8A0B-CD8414A9BFAD}"/>
                  </a:ext>
                </a:extLst>
              </p:cNvPr>
              <p:cNvSpPr txBox="1"/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3F0308DC-4420-E613-8A0B-CD8414A9B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036A8A2D-DC6B-1A7E-6E29-23689E466E73}"/>
                  </a:ext>
                </a:extLst>
              </p:cNvPr>
              <p:cNvSpPr txBox="1"/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036A8A2D-DC6B-1A7E-6E29-23689E46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blipFill>
                <a:blip r:embed="rId1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3F712C1-3FE6-59EC-1CD2-61145B0AD7C4}"/>
                  </a:ext>
                </a:extLst>
              </p:cNvPr>
              <p:cNvSpPr txBox="1"/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3F712C1-3FE6-59EC-1CD2-61145B0AD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blipFill>
                <a:blip r:embed="rId1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D6F75691-52A2-BF6C-F215-CC53255BDD2C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F851647E-C942-D270-FEEC-CA9B0A5379BD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FD61FC95-AE8F-480B-8C90-08609179BBCE}"/>
                  </a:ext>
                </a:extLst>
              </p:cNvPr>
              <p:cNvSpPr txBox="1"/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FD61FC95-AE8F-480B-8C90-08609179B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E7CA3FF3-3426-4F2F-2CFD-83F08D2BA897}"/>
                  </a:ext>
                </a:extLst>
              </p:cNvPr>
              <p:cNvSpPr txBox="1"/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E7CA3FF3-3426-4F2F-2CFD-83F08D2BA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Đường kết nối Mũi tên Thẳng 48">
            <a:extLst>
              <a:ext uri="{FF2B5EF4-FFF2-40B4-BE49-F238E27FC236}">
                <a16:creationId xmlns:a16="http://schemas.microsoft.com/office/drawing/2014/main" id="{E910DEFD-7F71-77CD-45A1-D5302D155F2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C2294DF7-1CFA-6551-587D-E19049F68D94}"/>
                  </a:ext>
                </a:extLst>
              </p:cNvPr>
              <p:cNvSpPr txBox="1"/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C2294DF7-1CFA-6551-587D-E19049F68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ỗ dành sẵn cho Số hiệu Bản chiếu 13">
            <a:extLst>
              <a:ext uri="{FF2B5EF4-FFF2-40B4-BE49-F238E27FC236}">
                <a16:creationId xmlns:a16="http://schemas.microsoft.com/office/drawing/2014/main" id="{9BB2B1C0-433C-BF50-BC0F-CA466FB6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35110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C42A-E851-411E-7CCA-AE7AD028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C34C9D7-77A7-E7B2-3DF5-CCB09463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A2C6696-B6B6-436D-9E71-BB51E6A4E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At step 1 </a:t>
                </a:r>
              </a:p>
              <a:p>
                <a:pPr marL="0" indent="0">
                  <a:buNone/>
                </a:pPr>
                <a:r>
                  <a:rPr lang="en-US"/>
                  <a:t>1a.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1b. Apply a quantum coin flip (-I+2A) that inverts each amplitude about the average amplitude at its vertex. (Nothing happen)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AA2C6696-B6B6-436D-9E71-BB51E6A4E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493" t="-3488" r="-27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B15CF336-BAC3-9443-2180-F6FDA168E7C6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E9562C4E-E8D2-C692-4B94-A0A4B6C1DFC1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FC501937-F657-FF6C-CA19-F2B08F61DFCC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D4DECAC-A9D6-D0A8-EFA1-B6B2181D914B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CE588443-1A74-5618-B2A0-3ED83205A5D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B389B2D9-1CF1-11CC-54FD-878D41263C17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DCC69749-E69F-42E6-EE49-93A17F78AC4A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00701CF2-C4F1-0109-3FA6-11875DAF4639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88EB9293-CBAA-2250-983F-EFE2E94A203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15648CAB-3715-835A-CA0E-84FCF00C3F1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FF947671-586B-3A64-6D88-B624E5601F64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FF947671-586B-3A64-6D88-B624E5601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9AA85994-337E-9559-B914-B91B1DC564E1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5F0D8AE7-8CC0-DB55-F9D0-7ECF0EF52F1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CDFF304-7D18-5779-8BBD-EC3AB035E228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A9375D0B-6091-DA78-B280-080DA236EDF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79E0E78E-7A78-6384-BA60-BDFCDB1A7A9B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2D32DE99-D007-DD93-7337-0B876D9A501A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86150298-9047-38BB-865F-7F7641D7F0B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BADF6CD1-B751-09C8-3A36-46D9EF990CD2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89CD8D62-F8F7-F92F-A119-A3B6304589A7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0E1208FF-13E9-1252-7990-9A2C25043CE8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0E1208FF-13E9-1252-7990-9A2C25043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99C3AFAA-57DA-3B9B-8496-B3BD84D63026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99C3AFAA-57DA-3B9B-8496-B3BD84D63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D6B1DF3C-E47B-185D-DDDB-78DCA8E19B64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D6B1DF3C-E47B-185D-DDDB-78DCA8E19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5AE28F18-D143-A5AC-E9A1-5381A4CDD3EE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5AE28F18-D143-A5AC-E9A1-5381A4CDD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CD64CFEE-4D0A-A100-63B7-88534B993639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CD64CFEE-4D0A-A100-63B7-88534B99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D00E1F83-95EE-E92F-31AA-B40DB1D02718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D00E1F83-95EE-E92F-31AA-B40DB1D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373FCE37-1491-01B8-5CA0-6EBB5CC540CB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373FCE37-1491-01B8-5CA0-6EBB5CC54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 r="-8000"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7CDFE193-EB61-AE00-5D67-D07309C45A99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7CDFE193-EB61-AE00-5D67-D07309C45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8FEE88DC-33F1-86B3-AD80-998B31DA19DF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8FEE88DC-33F1-86B3-AD80-998B31DA1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9820298B-2424-584B-4894-F7FEDC926ED8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CBCBCC3D-2D18-1143-2566-A4134A067946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72E32681-1B0A-0E5B-0002-76F02AB2B4B2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CE346BDA-5984-3948-C4B7-B47D2FEA1F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CE346BDA-5984-3948-C4B7-B47D2FEA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 r="-8000"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88093028-5651-BDAF-E82E-1D8C75A00F90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88093028-5651-BDAF-E82E-1D8C75A00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 r="-6667"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AD226B8-001A-77BD-0D3B-941659F6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94</a:t>
            </a:fld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7E447CCB-9941-FFA4-7E9C-7518D2E14135}"/>
                  </a:ext>
                </a:extLst>
              </p:cNvPr>
              <p:cNvSpPr txBox="1"/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node 2: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7E447CCB-9941-FFA4-7E9C-7518D2E14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blipFill>
                <a:blip r:embed="rId15"/>
                <a:stretch>
                  <a:fillRect l="-1064" b="-5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4981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EBB9-A9B3-1A3E-7D99-A48FE7A0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1950594-F470-F6AD-D935-9F444CDF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2021FE2-6E0C-C435-B01F-7626590CC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1c. Shift operator (walk): walker at vertex i pointing to vertex j to hop to vertex j and point back to vertex 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𝑆𝐶𝑄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2021FE2-6E0C-C435-B01F-7626590CC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 r="-16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FAFE84AB-F87C-0B29-F629-D3A5054FFBCA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B872E7ED-4539-53F5-955D-07BDD77D8E01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E83EEB97-BE68-EAB4-6009-B406D19EADD7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92A6BCFF-CE2F-2C9A-4763-7C748F7A95D7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CFFB9D7F-6B53-C31A-6E68-7F949E442AA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5BD1AE17-429F-AE3A-45BC-85FA7EC9673F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FB7920FE-326B-EF21-88BB-F614896FD56D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AC90D630-F570-ED8E-8B5B-71593FDF9A61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8082BFC9-E8C1-F259-6479-AA91D8ACC09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A0229EE5-2BF5-7DD0-ACA7-25CD4F357AED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C2403B9-1AC6-62A8-6858-0A7BD14EB2D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C2403B9-1AC6-62A8-6858-0A7BD14EB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80BD0348-5BF1-CE22-5ABA-8E83C11C1CCE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5CB7B082-66D4-09F4-C12F-1DCB2DA8595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FC207B1B-ABBA-CD7C-C6D4-CC2F37986F54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0076D24-E2DE-2E98-25FC-5526ECF9C05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9763A083-9460-2505-95D5-FF1CA331D6E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412CF244-7224-3B7D-4529-88488E860FDA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CE1A9A7-1687-38CD-A311-A9F41B3147F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ED8DCC4F-4A3A-AC70-FE2F-A90B8BF050E4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5AD238E-9546-9303-D01D-501A6AF3794E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25143B30-BFF1-61B4-1D44-A1A4B6FB53A5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25143B30-BFF1-61B4-1D44-A1A4B6FB5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0D8233A2-004C-49BF-1F35-322B117CBB3E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0D8233A2-004C-49BF-1F35-322B117CB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 r="-8000"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B055F00F-CF63-04E7-5278-9C4F80B1D302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B055F00F-CF63-04E7-5278-9C4F80B1D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D86D705D-639E-E8AC-D2C6-C76B31E83C85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D86D705D-639E-E8AC-D2C6-C76B31E83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AEAE0FF5-3AFE-C355-6F95-5BD05674F2A3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AEAE0FF5-3AFE-C355-6F95-5BD05674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0018E15F-B7BD-F8A8-79AF-2FA1CD102DF8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0018E15F-B7BD-F8A8-79AF-2FA1CD102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 r="-8000"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6FF88855-3C41-F1C3-6AAD-283EC446530B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6FF88855-3C41-F1C3-6AAD-283EC446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B4D969EC-CB9E-E7AA-8B84-316E117B5898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B4D969EC-CB9E-E7AA-8B84-316E117B5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 r="-8000"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431660C4-E05C-818B-B87C-6A14A74642A3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431660C4-E05C-818B-B87C-6A14A7464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58291055-C561-F89D-C28B-93A9009AA1D0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007099CC-0FDA-B6D5-8B19-205775FFE89A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5D70D80-E5A2-1543-2A2A-F2D585DBE1E2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787C3901-8DFA-700B-37DF-7A01A8DB016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787C3901-8DFA-700B-37DF-7A01A8DB0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44092662-542A-DF02-52C8-64EE1999BFA1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44092662-542A-DF02-52C8-64EE1999B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FBA40720-F601-1F37-F29D-C43C9441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719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319D-095E-54ED-024C-6632E4A4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5CF87E1-4DF8-2ACC-6D4B-81B8D35B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FFAFA42-F03F-AEBE-5D25-1EF8A4919E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At step 2 </a:t>
                </a:r>
              </a:p>
              <a:p>
                <a:pPr marL="0" indent="0">
                  <a:buNone/>
                </a:pPr>
                <a:r>
                  <a:rPr lang="en-US"/>
                  <a:t>2a.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FFAFA42-F03F-AEBE-5D25-1EF8A4919E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5EFA6F1C-412D-A5A7-30B2-A90E5DEFBCA3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F9513CAF-6FDF-D3D4-CA13-CC7E865F34F4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FE39AE6C-289F-E9FE-FCB5-1523D3E11AAF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F730305B-8B18-A248-E937-3A620329DD19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7F00FF6D-66A9-A5E1-86A9-D8A2A1E9454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FDCC4AF-72FD-ED93-E293-B442E9758C71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C409289-E0A4-0051-BC9C-3438645530A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514FBFB3-4926-4067-BCC4-A7B92CC12104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58D908FF-FE4F-2AA6-08F9-D50DA9BFB348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88834645-C222-4B76-4BE1-4EEC55971B0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7AC5AF3E-CAFC-9DAD-6A0C-8950CB541DFD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7AC5AF3E-CAFC-9DAD-6A0C-8950CB54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9A191E69-75F1-4644-F80E-487A0BF8D725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C0FF17C2-0605-9001-4EF3-76A522C6C03B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CE49A458-A164-16E6-E2DB-49A62BE33C66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C357152A-0347-E5A6-8230-4A04EAA34F3F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D104A0E3-EE54-0217-9773-27D5B31DC31D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4A8F1AB8-578D-B5C8-8458-6A418123C6D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0B24126-C96D-CD06-8780-D5C1E0DECAE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A779D36A-4339-BD99-54A5-C3A0DA36BDB0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674F4FD2-EA07-730A-4110-83D00AEC098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AFF2C088-9E3D-8B19-39CF-7878472188D9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AFF2C088-9E3D-8B19-39CF-787847218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708B394B-E59D-77BF-4CA4-E5CF39149483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708B394B-E59D-77BF-4CA4-E5CF39149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 r="-8000"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18A8A4CF-B8E6-5F37-708E-F9B7E8FC17B4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18A8A4CF-B8E6-5F37-708E-F9B7E8FC1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DA491282-0F4E-4F8D-2CF9-B41615F22026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DA491282-0F4E-4F8D-2CF9-B41615F22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1574D9A-6CD2-1556-7C6D-7C75B9449CE8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1574D9A-6CD2-1556-7C6D-7C75B9449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60191965-6FEC-87BB-9C86-FDB4BEE0A9FF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60191965-6FEC-87BB-9C86-FDB4BEE0A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 r="-8000"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57723655-5288-245E-B6E3-F621331CD43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57723655-5288-245E-B6E3-F621331CD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 r="-8000"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838A5F1A-0D86-17E1-AA1C-0BA5BA5EAE18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838A5F1A-0D86-17E1-AA1C-0BA5BA5EA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 r="-8000" b="-44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FCF6F2A2-C740-F103-F7D8-861382891147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FCF6F2A2-C740-F103-F7D8-861382891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EF2E06FE-10D9-C67C-397B-8D808355756E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E213A27C-3B8B-7F0C-C247-3F4C87665BBB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BE325CA3-9237-27F5-114E-CB1B306FB0CB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9862EE97-5466-9A45-C64A-39B542A4FB74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9862EE97-5466-9A45-C64A-39B542A4F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 r="-8000" b="-289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5946AC50-9D76-A213-CAEE-8880ACEDBF52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5946AC50-9D76-A213-CAEE-8880ACEDB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 r="-6667"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31F01D5C-1A49-AC12-999A-01D59E82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9832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87F5-4515-1CF6-8B57-25FF4F65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33C04908-E8DB-AD76-818A-399365E3CB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74" t="25509" r="39135" b="28684"/>
          <a:stretch/>
        </p:blipFill>
        <p:spPr>
          <a:xfrm>
            <a:off x="5897219" y="0"/>
            <a:ext cx="6007364" cy="389552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7C0B2D6-09B4-F08E-0333-D5C7805B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AABF2E8-D15F-ABE0-A0E0-1D0116A36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2b. The coin inverts or reflects each amplitude about their average.</a:t>
                </a:r>
              </a:p>
              <a:p>
                <a:pPr marL="0" indent="0">
                  <a:buNone/>
                </a:pPr>
                <a:r>
                  <a:rPr lang="en-US"/>
                  <a:t>(-I+2A)</a:t>
                </a:r>
              </a:p>
              <a:p>
                <a:pPr marL="0" indent="0">
                  <a:buNone/>
                </a:pPr>
                <a:r>
                  <a:rPr lang="en-US"/>
                  <a:t>At node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9AABF2E8-D15F-ABE0-A0E0-1D0116A36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  <a:blipFill>
                <a:blip r:embed="rId3"/>
                <a:stretch>
                  <a:fillRect l="-2469" t="-277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AC82A4E1-2181-8225-5A6D-F6C98B4C9FE6}"/>
              </a:ext>
            </a:extLst>
          </p:cNvPr>
          <p:cNvSpPr/>
          <p:nvPr/>
        </p:nvSpPr>
        <p:spPr>
          <a:xfrm>
            <a:off x="6188765" y="662609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Hình Bầu dục 41">
            <a:extLst>
              <a:ext uri="{FF2B5EF4-FFF2-40B4-BE49-F238E27FC236}">
                <a16:creationId xmlns:a16="http://schemas.microsoft.com/office/drawing/2014/main" id="{139924E4-FCB7-B848-972E-B2E85C450F23}"/>
              </a:ext>
            </a:extLst>
          </p:cNvPr>
          <p:cNvSpPr/>
          <p:nvPr/>
        </p:nvSpPr>
        <p:spPr>
          <a:xfrm>
            <a:off x="9455426" y="2690784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324B13A8-6E7A-F5A4-6BE1-E2AFFE6E16CA}"/>
              </a:ext>
            </a:extLst>
          </p:cNvPr>
          <p:cNvSpPr txBox="1"/>
          <p:nvPr/>
        </p:nvSpPr>
        <p:spPr>
          <a:xfrm>
            <a:off x="10469217" y="3114853"/>
            <a:ext cx="143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Current amp</a:t>
            </a:r>
            <a:endParaRPr lang="vi-VN"/>
          </a:p>
        </p:txBody>
      </p: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C53B868C-40A4-79B6-A5B0-455033DCDC14}"/>
              </a:ext>
            </a:extLst>
          </p:cNvPr>
          <p:cNvSpPr/>
          <p:nvPr/>
        </p:nvSpPr>
        <p:spPr>
          <a:xfrm>
            <a:off x="7284657" y="2690783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Hình Bầu dục 43">
            <a:extLst>
              <a:ext uri="{FF2B5EF4-FFF2-40B4-BE49-F238E27FC236}">
                <a16:creationId xmlns:a16="http://schemas.microsoft.com/office/drawing/2014/main" id="{207B1990-3A50-7847-27AF-0EDE872BDD6C}"/>
              </a:ext>
            </a:extLst>
          </p:cNvPr>
          <p:cNvSpPr/>
          <p:nvPr/>
        </p:nvSpPr>
        <p:spPr>
          <a:xfrm>
            <a:off x="10492408" y="628261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B8D3B08A-3F52-9C94-7AD0-E60520B47F2B}"/>
              </a:ext>
            </a:extLst>
          </p:cNvPr>
          <p:cNvSpPr txBox="1"/>
          <p:nvPr/>
        </p:nvSpPr>
        <p:spPr>
          <a:xfrm>
            <a:off x="10018643" y="1544563"/>
            <a:ext cx="17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Reflected amp</a:t>
            </a:r>
            <a:endParaRPr lang="vi-VN"/>
          </a:p>
        </p:txBody>
      </p:sp>
      <p:sp>
        <p:nvSpPr>
          <p:cNvPr id="18" name="Chỗ dành sẵn cho Số hiệu Bản chiếu 17">
            <a:extLst>
              <a:ext uri="{FF2B5EF4-FFF2-40B4-BE49-F238E27FC236}">
                <a16:creationId xmlns:a16="http://schemas.microsoft.com/office/drawing/2014/main" id="{B7AE6404-5110-661C-DE25-257C10A1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56723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552BE-9C1F-F64E-4066-49E38B31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B4D340E-85ED-2286-93ED-50E90612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3CF4D70-5FF0-E700-F0FD-C9D6C0D67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C3CF4D70-5FF0-E700-F0FD-C9D6C0D67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 r="-44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379635E4-5F66-EF6E-2D76-B64AD7E216AE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E5D46ED2-A8C6-8693-01C2-512EC58D6E1F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F5B40185-9AD7-9372-9F04-70D9CA42A1DC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B28E2310-A5DC-6314-A4C2-6E816C2FFB46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305A8AFD-33B8-04A3-1B48-26FC30DACD2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6424BEAD-F959-46FD-6EBC-0707944F1BCD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D0857EBD-7DCF-9E82-311E-56B6FEFFD85A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00967493-EC64-449F-9FC6-C5B59DCDF484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5A64E999-932F-B740-9E72-1D3128B7F24D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58C1C55A-B662-2655-131D-F9F5AC39D7C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A80A1E72-08C7-BADA-D1EA-76C257632D4A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A80A1E72-08C7-BADA-D1EA-76C25763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8DB0804-BA08-5731-74E3-52061A870F6C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3E9B8E7F-9252-C2A2-D9BD-3F55A3959B10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58E61801-9C41-A41B-FDA9-4EA0584135DF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8FB3733F-04B4-A7E2-1E4A-91557604672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D682440-AE2B-093D-6094-C0E06B593CFC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C27B5403-2F67-50FC-3C5B-DB25570BD9A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44E6F499-79F9-E4E5-AA2F-71BE24CBC9F3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61947F0C-8D0A-7D1B-2CE9-27F1CB91E9E0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2A14AF58-1398-49BD-90F5-D9B252000CE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9680DD17-55D9-3913-9054-09DF0C01DC8E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9680DD17-55D9-3913-9054-09DF0C01D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F820AB60-98C9-9B26-2223-0BF9A8A9B04E}"/>
                  </a:ext>
                </a:extLst>
              </p:cNvPr>
              <p:cNvSpPr txBox="1"/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F820AB60-98C9-9B26-2223-0BF9A8A9B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 r="-8000"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A0164A35-5D6D-E380-09BC-40DE1BDF9132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A0164A35-5D6D-E380-09BC-40DE1BDF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4D09AB4C-C9ED-DC39-237B-44F33D86C22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4D09AB4C-C9ED-DC39-237B-44F33D86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255E6023-27A3-F157-091C-5A1E90DE3589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255E6023-27A3-F157-091C-5A1E90DE3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1BBD277-947A-D43D-8103-FAC24F39A350}"/>
                  </a:ext>
                </a:extLst>
              </p:cNvPr>
              <p:cNvSpPr txBox="1"/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1BBD277-947A-D43D-8103-FAC24F39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 r="-8000"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0D0EEA58-7CCD-3385-1291-142CEE44EE51}"/>
                  </a:ext>
                </a:extLst>
              </p:cNvPr>
              <p:cNvSpPr txBox="1"/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0D0EEA58-7CCD-3385-1291-142CEE44E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024A21FE-A38B-811C-ED0D-7DFFF2378A93}"/>
                  </a:ext>
                </a:extLst>
              </p:cNvPr>
              <p:cNvSpPr txBox="1"/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024A21FE-A38B-811C-ED0D-7DFFF2378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 r="-6579"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927AC6C2-26B1-6C50-E0AC-877E48B32949}"/>
                  </a:ext>
                </a:extLst>
              </p:cNvPr>
              <p:cNvSpPr txBox="1"/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927AC6C2-26B1-6C50-E0AC-877E48B32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B3D8BFAC-2190-0BCF-1D69-37AEBB94370D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21DD5941-904A-5E66-DB20-9CE5A5F94145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1C5E78B6-F5D8-0D65-09D6-D19E5C1F312F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041E169C-CFF7-B542-3E07-51AF93F9620C}"/>
                  </a:ext>
                </a:extLst>
              </p:cNvPr>
              <p:cNvSpPr txBox="1"/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041E169C-CFF7-B542-3E07-51AF93F96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938AB254-5A5D-0421-C4EB-8F595DF3A6C9}"/>
                  </a:ext>
                </a:extLst>
              </p:cNvPr>
              <p:cNvSpPr txBox="1"/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938AB254-5A5D-0421-C4EB-8F595DF3A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09C9248-85E7-F4A8-27B9-94DFF6C4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367767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6433-ECED-1606-3737-8260A66E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F97EA36-D67F-6113-3A2C-B64DC2ED7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1CF61-758F-E008-B2C4-78054959B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AB1CF61-758F-E008-B2C4-78054959B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 r="-443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541C17FC-7F57-299E-1E13-4AA65335323A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D490BFB5-2E78-46AE-AB3B-C7C04D55D607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94FC8ACD-9F5A-177F-303D-3C733A14D61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B56B1A70-517B-8682-E846-D1C8441A2CC6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6DFE8D14-683A-C8F5-4CCC-6C6C14DF095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1214DDA1-3FD7-6203-6C00-602BD8A53534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FF21E6EB-C876-EC50-8631-2621F157FB15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D0E28BB8-DEE1-5CBB-6066-EC740BCA623A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7C22745-6306-BB9C-6148-6AE22EFB22F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7F69809D-5B03-C754-42FA-CC007592D77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059B93C2-72BD-F4CA-AF88-F43E7C8A00DC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059B93C2-72BD-F4CA-AF88-F43E7C8A0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1B870CA5-421A-AC8A-02B5-EB5F2B4EAAFD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C7DB1DAC-3C44-607A-96DD-AB6EEE7A085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D9D84535-F36C-E800-86C6-7817869DC6B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393FA570-BBCF-8DFF-FF1B-80518B06ECC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F9F7093E-47E8-9A18-2970-D51CC3676DCC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5DF20D4E-0607-56D2-BDA5-DAD50B7827E6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8A262FAC-2858-179B-49DF-A081D7B4A0A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6DE7FE5D-177D-17D9-7B0B-C9CA04341329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445783BF-551D-AE62-C212-641AE0299A4F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EA7A6037-FE75-CD07-EE53-E16093AE5AC4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EA7A6037-FE75-CD07-EE53-E16093AE5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BCC85D42-A8BC-9FBC-5EC5-AAD070ED5A10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BCC85D42-A8BC-9FBC-5EC5-AAD070ED5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 r="-8000"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B86D66CD-EC02-07FB-2684-F38705E2EC02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B86D66CD-EC02-07FB-2684-F38705E2E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7E878CB8-AF7B-B471-427C-13F20393122B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7E878CB8-AF7B-B471-427C-13F203931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3DB37E67-69E4-88C5-E477-03E38AED813E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3DB37E67-69E4-88C5-E477-03E38AED8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04638B9E-437E-56C0-1CBE-2323797445BD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04638B9E-437E-56C0-1CBE-232379744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 r="-8000" b="-579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3C2D6CAA-7A50-D9DD-C83F-B0B1DD846E75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3C2D6CAA-7A50-D9DD-C83F-B0B1DD846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42859964-EC2C-D2E9-74F7-0A874593A3C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42859964-EC2C-D2E9-74F7-0A874593A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 r="-8000"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1EE1436E-1523-DF72-08EB-123A5A8D9611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1EE1436E-1523-DF72-08EB-123A5A8D9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4064A797-ACDA-09E6-28C8-C6A23D1E40FD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CDB59C89-FC0B-5659-0DA1-0AFE10D71D69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0BA35E3C-6E1E-1DE7-862C-D83A77FE5428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3AF44764-A3CB-5388-6BA5-9937ECF4C45D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3AF44764-A3CB-5388-6BA5-9937ECF4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65C23927-1B97-9C99-C0D7-4BA5C09C63E0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65C23927-1B97-9C99-C0D7-4BA5C09C6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53DAE540-AF58-1235-5544-EBD65721F37C}"/>
                  </a:ext>
                </a:extLst>
              </p:cNvPr>
              <p:cNvSpPr txBox="1"/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53DAE540-AF58-1235-5544-EBD65721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blipFill>
                <a:blip r:embed="rId1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3006667A-084C-837C-F9AD-FC705FEBF3A2}"/>
                  </a:ext>
                </a:extLst>
              </p:cNvPr>
              <p:cNvSpPr txBox="1"/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3006667A-084C-837C-F9AD-FC705FEB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blipFill>
                <a:blip r:embed="rId1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03A1A09E-A31F-06E9-8F92-E8ADE51613E6}"/>
                  </a:ext>
                </a:extLst>
              </p:cNvPr>
              <p:cNvSpPr txBox="1"/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03A1A09E-A31F-06E9-8F92-E8ADE5161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blipFill>
                <a:blip r:embed="rId1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8BC93FB-16F0-59E5-008E-197BA5F0D605}"/>
                  </a:ext>
                </a:extLst>
              </p:cNvPr>
              <p:cNvSpPr txBox="1"/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8BC93FB-16F0-59E5-008E-197BA5F0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blipFill>
                <a:blip r:embed="rId18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5E7500B9-F41A-122F-E6BD-05F36CF0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28780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F25F-124A-AA96-1F6B-1C8B31EF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B6C342-D56D-0361-374A-670B77D8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D064D2E3-288B-7DC2-581C-AC0BD854BC0D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314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</a:t>
                </a:r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D064D2E3-288B-7DC2-581C-AC0BD854B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3149067"/>
              </a:xfrm>
              <a:prstGeom prst="rect">
                <a:avLst/>
              </a:prstGeom>
              <a:blipFill>
                <a:blip r:embed="rId2"/>
                <a:stretch>
                  <a:fillRect l="-3115" t="-2419" b="-443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hỗ dành sẵn cho Nội dung 7">
            <a:extLst>
              <a:ext uri="{FF2B5EF4-FFF2-40B4-BE49-F238E27FC236}">
                <a16:creationId xmlns:a16="http://schemas.microsoft.com/office/drawing/2014/main" id="{DB44BAED-A1D0-D2E8-D0C3-8EDF77740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007" t="46627" r="37646" b="18457"/>
          <a:stretch/>
        </p:blipFill>
        <p:spPr>
          <a:xfrm>
            <a:off x="838200" y="1560145"/>
            <a:ext cx="5031403" cy="2458785"/>
          </a:xfr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773146B1-A498-C1E9-E32C-E9F8CACE67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36" t="35077" r="26987" b="33334"/>
          <a:stretch/>
        </p:blipFill>
        <p:spPr>
          <a:xfrm>
            <a:off x="7428951" y="2616829"/>
            <a:ext cx="4325727" cy="1708109"/>
          </a:xfrm>
          <a:prstGeom prst="rect">
            <a:avLst/>
          </a:prstGeom>
        </p:spPr>
      </p:pic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45A436CD-9CAD-0C06-7A69-F2FD6926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100</a:t>
            </a:fld>
            <a:endParaRPr lang="vi-V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AD2E0AAD-A8E0-B331-DAE6-5C6E2A17E5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69" t="33633" r="10347" b="7554"/>
          <a:stretch/>
        </p:blipFill>
        <p:spPr>
          <a:xfrm>
            <a:off x="838200" y="4089271"/>
            <a:ext cx="5031403" cy="226707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61DB36D-A8B8-E9C8-C728-592A453A32E4}"/>
              </a:ext>
            </a:extLst>
          </p:cNvPr>
          <p:cNvSpPr txBox="1"/>
          <p:nvPr/>
        </p:nvSpPr>
        <p:spPr>
          <a:xfrm>
            <a:off x="6096000" y="2770496"/>
            <a:ext cx="5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N=4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1766C56F-C243-DE4E-B303-3A83FB9E767E}"/>
              </a:ext>
            </a:extLst>
          </p:cNvPr>
          <p:cNvSpPr txBox="1"/>
          <p:nvPr/>
        </p:nvSpPr>
        <p:spPr>
          <a:xfrm>
            <a:off x="6096000" y="5038144"/>
            <a:ext cx="79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N=100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672941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F6AE-18E9-1A03-E3AF-3A22F6B4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69DE3C4-EF9E-ACCB-1912-8B476DE2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69A21F8-F6B0-4D14-0260-C2EBAA923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101</a:t>
            </a:fld>
            <a:endParaRPr lang="vi-VN"/>
          </a:p>
        </p:txBody>
      </p:sp>
      <p:pic>
        <p:nvPicPr>
          <p:cNvPr id="1028" name="Picture 4" descr="Thomas Wong">
            <a:extLst>
              <a:ext uri="{FF2B5EF4-FFF2-40B4-BE49-F238E27FC236}">
                <a16:creationId xmlns:a16="http://schemas.microsoft.com/office/drawing/2014/main" id="{62A86507-141C-0D23-1C11-D99D9196FA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8019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DB1F32A6-89AA-BEA3-8F97-CD6F3F006F63}"/>
              </a:ext>
            </a:extLst>
          </p:cNvPr>
          <p:cNvSpPr txBox="1"/>
          <p:nvPr/>
        </p:nvSpPr>
        <p:spPr>
          <a:xfrm>
            <a:off x="838200" y="4260850"/>
            <a:ext cx="2314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Thomas Wong, </a:t>
            </a:r>
          </a:p>
          <a:p>
            <a:r>
              <a:rPr lang="en-US"/>
              <a:t>Creighton University 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8CD5AD70-4F30-AAD0-B336-240403D4E1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9" t="13714" r="32389" b="9632"/>
          <a:stretch/>
        </p:blipFill>
        <p:spPr>
          <a:xfrm>
            <a:off x="3971498" y="801806"/>
            <a:ext cx="7615452" cy="525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02674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3322</TotalTime>
  <Words>3283</Words>
  <Application>Microsoft Macintosh PowerPoint</Application>
  <PresentationFormat>Widescreen</PresentationFormat>
  <Paragraphs>892</Paragraphs>
  <Slides>101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9" baseType="lpstr">
      <vt:lpstr>Arial</vt:lpstr>
      <vt:lpstr>Calibri (Thân)</vt:lpstr>
      <vt:lpstr>Calibri Light (Đầu đề)</vt:lpstr>
      <vt:lpstr>Cambria Math</vt:lpstr>
      <vt:lpstr>IBM Plex Mono</vt:lpstr>
      <vt:lpstr>IBM Plex Sans</vt:lpstr>
      <vt:lpstr>Times New Roman</vt:lpstr>
      <vt:lpstr>Chủ đề Office</vt:lpstr>
      <vt:lpstr>1. What is Phase kickback?</vt:lpstr>
      <vt:lpstr>Global phase &amp; relative phase</vt:lpstr>
      <vt:lpstr>PowerPoint Presentation</vt:lpstr>
      <vt:lpstr>2. Quantum Fourier Transform</vt:lpstr>
      <vt:lpstr>5.1. Quantum Fourier transform</vt:lpstr>
      <vt:lpstr>5.1. Discrete Fourier transform</vt:lpstr>
      <vt:lpstr>5.1. Quantum Fourier transform</vt:lpstr>
      <vt:lpstr>5.1. Quantum Fourier transform</vt:lpstr>
      <vt:lpstr>5.1. Quantum Fourier transform</vt:lpstr>
      <vt:lpstr>5.1. Quantum Fourier transform</vt:lpstr>
      <vt:lpstr>PowerPoint Presentation</vt:lpstr>
      <vt:lpstr>5.1. Quantum Fourier transform</vt:lpstr>
      <vt:lpstr>5.1. Quantum Fourier transform</vt:lpstr>
      <vt:lpstr>5.1. Quantum Fourier transform</vt:lpstr>
      <vt:lpstr>5.1. Quantum Fourier transform</vt:lpstr>
      <vt:lpstr>PowerPoint Presentation</vt:lpstr>
      <vt:lpstr>PowerPoint Presentation</vt:lpstr>
      <vt:lpstr>PowerPoint Presentation</vt:lpstr>
      <vt:lpstr>PowerPoint Presentation</vt:lpstr>
      <vt:lpstr>3. Quantum Phase Estimation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large linear system of equations by HHL Algorithm </vt:lpstr>
      <vt:lpstr>1. Introduction</vt:lpstr>
      <vt:lpstr>1. Introduction</vt:lpstr>
      <vt:lpstr>1. Introduction</vt:lpstr>
      <vt:lpstr>2. HHL Algorithm</vt:lpstr>
      <vt:lpstr>3. Run on qiskit</vt:lpstr>
      <vt:lpstr>PowerPoint Presentation</vt:lpstr>
      <vt:lpstr>PowerPoint Presentation</vt:lpstr>
      <vt:lpstr>Summary HHL</vt:lpstr>
      <vt:lpstr>Questions</vt:lpstr>
      <vt:lpstr>Questions</vt:lpstr>
      <vt:lpstr>Quantum search algothrithm</vt:lpstr>
      <vt:lpstr>1. Problem</vt:lpstr>
      <vt:lpstr>PowerPoint Presentation</vt:lpstr>
      <vt:lpstr>2. Algothrithm</vt:lpstr>
      <vt:lpstr>2. Algothrithm</vt:lpstr>
      <vt:lpstr>2. Algothrithm</vt:lpstr>
      <vt:lpstr>3. Example</vt:lpstr>
      <vt:lpstr>3. Example</vt:lpstr>
      <vt:lpstr>PowerPoint Presentation</vt:lpstr>
      <vt:lpstr>3. Example (iteration 1)</vt:lpstr>
      <vt:lpstr>3. Example (iteration 2)</vt:lpstr>
      <vt:lpstr>3. Example</vt:lpstr>
      <vt:lpstr>PowerPoint Presentation</vt:lpstr>
      <vt:lpstr>PowerPoint Presentation</vt:lpstr>
      <vt:lpstr>PowerPoint Presentation</vt:lpstr>
      <vt:lpstr>Quantum walk</vt:lpstr>
      <vt:lpstr>Random walk</vt:lpstr>
      <vt:lpstr>Random walk</vt:lpstr>
      <vt:lpstr>Quantum walk (using superposition) </vt:lpstr>
      <vt:lpstr>Quantum walk</vt:lpstr>
      <vt:lpstr>Quantum walk</vt:lpstr>
      <vt:lpstr>1. Spatial search (discrete time)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References</vt:lpstr>
      <vt:lpstr>Quantum walk</vt:lpstr>
      <vt:lpstr>Random walk</vt:lpstr>
      <vt:lpstr>Random walk</vt:lpstr>
      <vt:lpstr>Quantum walk (using superposition) </vt:lpstr>
      <vt:lpstr>Quantum walk</vt:lpstr>
      <vt:lpstr>Quantum walk</vt:lpstr>
      <vt:lpstr>1. Spatial search (discrete time)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>Tuan Hai</dc:creator>
  <cp:lastModifiedBy>Tuan Hai Vu</cp:lastModifiedBy>
  <cp:revision>25</cp:revision>
  <dcterms:created xsi:type="dcterms:W3CDTF">2021-08-26T01:36:20Z</dcterms:created>
  <dcterms:modified xsi:type="dcterms:W3CDTF">2026-06-02T09:31:10Z</dcterms:modified>
</cp:coreProperties>
</file>