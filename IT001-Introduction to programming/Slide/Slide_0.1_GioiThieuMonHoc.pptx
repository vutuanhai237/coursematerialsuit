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Quattrocento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ac/YhhAyuAWOVsX/2aW5AHjQ+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5D1963-0C52-4EAC-A566-8B83A437E4A1}">
  <a:tblStyle styleId="{975D1963-0C52-4EAC-A566-8B83A437E4A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F"/>
          </a:solidFill>
        </a:fill>
      </a:tcStyle>
    </a:wholeTbl>
    <a:band1H>
      <a:tcTxStyle/>
      <a:tcStyle>
        <a:fill>
          <a:solidFill>
            <a:srgbClr val="CAD4FF"/>
          </a:solidFill>
        </a:fill>
      </a:tcStyle>
    </a:band1H>
    <a:band2H>
      <a:tcTxStyle/>
    </a:band2H>
    <a:band1V>
      <a:tcTxStyle/>
      <a:tcStyle>
        <a:fill>
          <a:solidFill>
            <a:srgbClr val="CAD4F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Quattrocento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p:cSld name="Tiêu đề">
    <p:spTree>
      <p:nvGrpSpPr>
        <p:cNvPr id="15" name="Shape 15"/>
        <p:cNvGrpSpPr/>
        <p:nvPr/>
      </p:nvGrpSpPr>
      <p:grpSpPr>
        <a:xfrm>
          <a:off x="0" y="0"/>
          <a:ext cx="0" cy="0"/>
          <a:chOff x="0" y="0"/>
          <a:chExt cx="0" cy="0"/>
        </a:xfrm>
      </p:grpSpPr>
      <p:sp>
        <p:nvSpPr>
          <p:cNvPr id="16" name="Google Shape;16;p26"/>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6"/>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26"/>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9" name="Google Shape;19;p26"/>
          <p:cNvGrpSpPr/>
          <p:nvPr/>
        </p:nvGrpSpPr>
        <p:grpSpPr>
          <a:xfrm>
            <a:off x="58527" y="40944"/>
            <a:ext cx="2869771" cy="1563379"/>
            <a:chOff x="44879" y="27296"/>
            <a:chExt cx="2869771" cy="1563379"/>
          </a:xfrm>
        </p:grpSpPr>
        <p:cxnSp>
          <p:nvCxnSpPr>
            <p:cNvPr id="20" name="Google Shape;20;p26"/>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1" name="Google Shape;21;p26"/>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2" name="Google Shape;22;p26"/>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3" name="Google Shape;23;p26"/>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4" name="Google Shape;24;p26"/>
          <p:cNvGrpSpPr/>
          <p:nvPr/>
        </p:nvGrpSpPr>
        <p:grpSpPr>
          <a:xfrm rot="10800000">
            <a:off x="9263702" y="5253677"/>
            <a:ext cx="2869771" cy="1563379"/>
            <a:chOff x="44879" y="27296"/>
            <a:chExt cx="2869771" cy="1563379"/>
          </a:xfrm>
        </p:grpSpPr>
        <p:cxnSp>
          <p:nvCxnSpPr>
            <p:cNvPr id="25" name="Google Shape;25;p26"/>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6" name="Google Shape;26;p26"/>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7" name="Google Shape;27;p26"/>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28" name="Google Shape;28;p26"/>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26"/>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clipart, vector graphics&#10;&#10;Description automatically generated" id="30" name="Google Shape;30;p26"/>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31" name="Google Shape;31;p26"/>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en-US" sz="1400">
                <a:solidFill>
                  <a:srgbClr val="000046"/>
                </a:solidFill>
                <a:latin typeface="Arial"/>
                <a:ea typeface="Arial"/>
                <a:cs typeface="Arial"/>
                <a:sym typeface="Arial"/>
              </a:rPr>
              <a:t>TRƯỜNG ĐẠI HỌC CÔNG NGHỆ THÔNG TIN</a:t>
            </a:r>
            <a:endParaRPr/>
          </a:p>
        </p:txBody>
      </p:sp>
      <p:sp>
        <p:nvSpPr>
          <p:cNvPr id="32" name="Google Shape;32;p26"/>
          <p:cNvSpPr/>
          <p:nvPr/>
        </p:nvSpPr>
        <p:spPr>
          <a:xfrm>
            <a:off x="105836" y="6604291"/>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3" name="Google Shape;33;p26"/>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b="0" i="0" sz="700" u="none" cap="none" strike="noStrike">
                <a:solidFill>
                  <a:schemeClr val="dk1"/>
                </a:solidFill>
                <a:latin typeface="Arial"/>
                <a:ea typeface="Arial"/>
                <a:cs typeface="Arial"/>
                <a:sym typeface="Arial"/>
              </a:defRPr>
            </a:lvl1pPr>
            <a:lvl2pPr indent="0" lvl="1" marL="0" marR="0" algn="ctr">
              <a:spcBef>
                <a:spcPts val="0"/>
              </a:spcBef>
              <a:buNone/>
              <a:defRPr b="0" i="0" sz="700" u="none" cap="none" strike="noStrike">
                <a:solidFill>
                  <a:schemeClr val="dk1"/>
                </a:solidFill>
                <a:latin typeface="Arial"/>
                <a:ea typeface="Arial"/>
                <a:cs typeface="Arial"/>
                <a:sym typeface="Arial"/>
              </a:defRPr>
            </a:lvl2pPr>
            <a:lvl3pPr indent="0" lvl="2" marL="0" marR="0" algn="ctr">
              <a:spcBef>
                <a:spcPts val="0"/>
              </a:spcBef>
              <a:buNone/>
              <a:defRPr b="0" i="0" sz="700" u="none" cap="none" strike="noStrike">
                <a:solidFill>
                  <a:schemeClr val="dk1"/>
                </a:solidFill>
                <a:latin typeface="Arial"/>
                <a:ea typeface="Arial"/>
                <a:cs typeface="Arial"/>
                <a:sym typeface="Arial"/>
              </a:defRPr>
            </a:lvl3pPr>
            <a:lvl4pPr indent="0" lvl="3" marL="0" marR="0" algn="ctr">
              <a:spcBef>
                <a:spcPts val="0"/>
              </a:spcBef>
              <a:buNone/>
              <a:defRPr b="0" i="0" sz="700" u="none" cap="none" strike="noStrike">
                <a:solidFill>
                  <a:schemeClr val="dk1"/>
                </a:solidFill>
                <a:latin typeface="Arial"/>
                <a:ea typeface="Arial"/>
                <a:cs typeface="Arial"/>
                <a:sym typeface="Arial"/>
              </a:defRPr>
            </a:lvl4pPr>
            <a:lvl5pPr indent="0" lvl="4" marL="0" marR="0" algn="ctr">
              <a:spcBef>
                <a:spcPts val="0"/>
              </a:spcBef>
              <a:buNone/>
              <a:defRPr b="0" i="0" sz="700" u="none" cap="none" strike="noStrike">
                <a:solidFill>
                  <a:schemeClr val="dk1"/>
                </a:solidFill>
                <a:latin typeface="Arial"/>
                <a:ea typeface="Arial"/>
                <a:cs typeface="Arial"/>
                <a:sym typeface="Arial"/>
              </a:defRPr>
            </a:lvl5pPr>
            <a:lvl6pPr indent="0" lvl="5" marL="0" marR="0" algn="ctr">
              <a:spcBef>
                <a:spcPts val="0"/>
              </a:spcBef>
              <a:buNone/>
              <a:defRPr b="0" i="0" sz="700" u="none" cap="none" strike="noStrike">
                <a:solidFill>
                  <a:schemeClr val="dk1"/>
                </a:solidFill>
                <a:latin typeface="Arial"/>
                <a:ea typeface="Arial"/>
                <a:cs typeface="Arial"/>
                <a:sym typeface="Arial"/>
              </a:defRPr>
            </a:lvl6pPr>
            <a:lvl7pPr indent="0" lvl="6" marL="0" marR="0" algn="ctr">
              <a:spcBef>
                <a:spcPts val="0"/>
              </a:spcBef>
              <a:buNone/>
              <a:defRPr b="0" i="0" sz="700" u="none" cap="none" strike="noStrike">
                <a:solidFill>
                  <a:schemeClr val="dk1"/>
                </a:solidFill>
                <a:latin typeface="Arial"/>
                <a:ea typeface="Arial"/>
                <a:cs typeface="Arial"/>
                <a:sym typeface="Arial"/>
              </a:defRPr>
            </a:lvl7pPr>
            <a:lvl8pPr indent="0" lvl="7" marL="0" marR="0" algn="ctr">
              <a:spcBef>
                <a:spcPts val="0"/>
              </a:spcBef>
              <a:buNone/>
              <a:defRPr b="0" i="0" sz="700" u="none" cap="none" strike="noStrike">
                <a:solidFill>
                  <a:schemeClr val="dk1"/>
                </a:solidFill>
                <a:latin typeface="Arial"/>
                <a:ea typeface="Arial"/>
                <a:cs typeface="Arial"/>
                <a:sym typeface="Arial"/>
              </a:defRPr>
            </a:lvl8pPr>
            <a:lvl9pPr indent="0" lvl="8" marL="0" marR="0" algn="ctr">
              <a:spcBef>
                <a:spcPts val="0"/>
              </a:spcBef>
              <a:buNone/>
              <a:defRPr b="0" i="0" sz="7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26"/>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4400"/>
              <a:buNone/>
              <a:defRPr b="1" sz="4400">
                <a:solidFill>
                  <a:srgbClr val="00004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6"/>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0046"/>
              </a:buClr>
              <a:buSzPts val="2800"/>
              <a:buNone/>
              <a:defRPr b="1" sz="28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6"/>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6"/>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êu đề chương">
  <p:cSld name="3_Tiêu đề chương">
    <p:spTree>
      <p:nvGrpSpPr>
        <p:cNvPr id="39" name="Shape 39"/>
        <p:cNvGrpSpPr/>
        <p:nvPr/>
      </p:nvGrpSpPr>
      <p:grpSpPr>
        <a:xfrm>
          <a:off x="0" y="0"/>
          <a:ext cx="0" cy="0"/>
          <a:chOff x="0" y="0"/>
          <a:chExt cx="0" cy="0"/>
        </a:xfrm>
      </p:grpSpPr>
      <p:pic>
        <p:nvPicPr>
          <p:cNvPr descr="Background pattern&#10;&#10;Description automatically generated" id="40" name="Google Shape;40;p27"/>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41" name="Google Shape;41;p27"/>
          <p:cNvSpPr/>
          <p:nvPr/>
        </p:nvSpPr>
        <p:spPr>
          <a:xfrm>
            <a:off x="-1" y="-3113"/>
            <a:ext cx="12192000" cy="6858000"/>
          </a:xfrm>
          <a:prstGeom prst="rect">
            <a:avLst/>
          </a:prstGeom>
          <a:gradFill>
            <a:gsLst>
              <a:gs pos="0">
                <a:srgbClr val="0A4671">
                  <a:alpha val="74902"/>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 name="Google Shape;42;p27"/>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 name="Google Shape;43;p27"/>
          <p:cNvGrpSpPr/>
          <p:nvPr/>
        </p:nvGrpSpPr>
        <p:grpSpPr>
          <a:xfrm>
            <a:off x="58527" y="40944"/>
            <a:ext cx="2869771" cy="1563379"/>
            <a:chOff x="44879" y="27296"/>
            <a:chExt cx="2869771" cy="1563379"/>
          </a:xfrm>
        </p:grpSpPr>
        <p:cxnSp>
          <p:nvCxnSpPr>
            <p:cNvPr id="44" name="Google Shape;44;p27"/>
            <p:cNvCxnSpPr/>
            <p:nvPr/>
          </p:nvCxnSpPr>
          <p:spPr>
            <a:xfrm rot="10800000">
              <a:off x="766351" y="34631"/>
              <a:ext cx="2148299" cy="0"/>
            </a:xfrm>
            <a:prstGeom prst="straightConnector1">
              <a:avLst/>
            </a:prstGeom>
            <a:noFill/>
            <a:ln cap="flat" cmpd="sng" w="38100">
              <a:solidFill>
                <a:srgbClr val="00F7FF"/>
              </a:solidFill>
              <a:prstDash val="solid"/>
              <a:miter lim="8000"/>
              <a:headEnd len="sm" w="sm" type="none"/>
              <a:tailEnd len="sm" w="sm" type="none"/>
            </a:ln>
          </p:spPr>
        </p:cxnSp>
        <p:cxnSp>
          <p:nvCxnSpPr>
            <p:cNvPr id="45" name="Google Shape;45;p27"/>
            <p:cNvCxnSpPr/>
            <p:nvPr/>
          </p:nvCxnSpPr>
          <p:spPr>
            <a:xfrm flipH="1">
              <a:off x="44879" y="27296"/>
              <a:ext cx="737495" cy="644210"/>
            </a:xfrm>
            <a:prstGeom prst="straightConnector1">
              <a:avLst/>
            </a:prstGeom>
            <a:noFill/>
            <a:ln cap="flat" cmpd="sng" w="38100">
              <a:solidFill>
                <a:srgbClr val="00F7FF"/>
              </a:solidFill>
              <a:prstDash val="solid"/>
              <a:miter lim="8000"/>
              <a:headEnd len="sm" w="sm" type="none"/>
              <a:tailEnd len="sm" w="sm" type="none"/>
            </a:ln>
          </p:spPr>
        </p:cxnSp>
        <p:cxnSp>
          <p:nvCxnSpPr>
            <p:cNvPr id="46" name="Google Shape;46;p27"/>
            <p:cNvCxnSpPr/>
            <p:nvPr/>
          </p:nvCxnSpPr>
          <p:spPr>
            <a:xfrm rot="10800000">
              <a:off x="52214" y="654128"/>
              <a:ext cx="0" cy="936547"/>
            </a:xfrm>
            <a:prstGeom prst="straightConnector1">
              <a:avLst/>
            </a:prstGeom>
            <a:noFill/>
            <a:ln cap="flat" cmpd="sng" w="38100">
              <a:solidFill>
                <a:srgbClr val="00F7FF"/>
              </a:solidFill>
              <a:prstDash val="solid"/>
              <a:miter lim="8000"/>
              <a:headEnd len="sm" w="sm" type="none"/>
              <a:tailEnd len="sm" w="sm" type="none"/>
            </a:ln>
          </p:spPr>
        </p:cxnSp>
      </p:grpSp>
      <p:sp>
        <p:nvSpPr>
          <p:cNvPr id="47" name="Google Shape;47;p27"/>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 name="Google Shape;48;p27"/>
          <p:cNvGrpSpPr/>
          <p:nvPr/>
        </p:nvGrpSpPr>
        <p:grpSpPr>
          <a:xfrm rot="10800000">
            <a:off x="9263702" y="5253677"/>
            <a:ext cx="2869771" cy="1563379"/>
            <a:chOff x="44879" y="27296"/>
            <a:chExt cx="2869771" cy="1563379"/>
          </a:xfrm>
        </p:grpSpPr>
        <p:cxnSp>
          <p:nvCxnSpPr>
            <p:cNvPr id="49" name="Google Shape;49;p27"/>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50" name="Google Shape;50;p27"/>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51" name="Google Shape;51;p27"/>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52" name="Google Shape;52;p27"/>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27"/>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7"/>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7"/>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56" name="Google Shape;56;p27"/>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7" name="Google Shape;57;p27"/>
          <p:cNvSpPr/>
          <p:nvPr>
            <p:ph idx="1" type="body"/>
          </p:nvPr>
        </p:nvSpPr>
        <p:spPr>
          <a:xfrm>
            <a:off x="1704109" y="3019167"/>
            <a:ext cx="4583866" cy="1439258"/>
          </a:xfrm>
          <a:prstGeom prst="roundRect">
            <a:avLst>
              <a:gd fmla="val 2631" name="adj"/>
            </a:avLst>
          </a:prstGeom>
          <a:solidFill>
            <a:srgbClr val="F2F2F2"/>
          </a:solidFill>
          <a:ln cap="rnd" cmpd="sng" w="19050">
            <a:solidFill>
              <a:srgbClr val="00C6FF"/>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72FF"/>
              </a:buClr>
              <a:buSzPts val="2000"/>
              <a:buNone/>
              <a:defRPr b="1" i="0" sz="2000">
                <a:solidFill>
                  <a:srgbClr val="0072F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8" name="Google Shape;58;p27"/>
          <p:cNvGrpSpPr/>
          <p:nvPr/>
        </p:nvGrpSpPr>
        <p:grpSpPr>
          <a:xfrm>
            <a:off x="-1" y="4458425"/>
            <a:ext cx="8647103" cy="664514"/>
            <a:chOff x="-349411" y="1322122"/>
            <a:chExt cx="8647103" cy="664514"/>
          </a:xfrm>
        </p:grpSpPr>
        <p:cxnSp>
          <p:nvCxnSpPr>
            <p:cNvPr id="59" name="Google Shape;59;p27"/>
            <p:cNvCxnSpPr/>
            <p:nvPr/>
          </p:nvCxnSpPr>
          <p:spPr>
            <a:xfrm>
              <a:off x="-349411" y="1986636"/>
              <a:ext cx="6360520" cy="0"/>
            </a:xfrm>
            <a:prstGeom prst="straightConnector1">
              <a:avLst/>
            </a:prstGeom>
            <a:noFill/>
            <a:ln cap="rnd" cmpd="sng" w="38100">
              <a:solidFill>
                <a:srgbClr val="00F7FF"/>
              </a:solidFill>
              <a:prstDash val="solid"/>
              <a:round/>
              <a:headEnd len="sm" w="sm" type="none"/>
              <a:tailEnd len="sm" w="sm" type="none"/>
            </a:ln>
          </p:spPr>
        </p:cxnSp>
        <p:cxnSp>
          <p:nvCxnSpPr>
            <p:cNvPr id="60" name="Google Shape;60;p27"/>
            <p:cNvCxnSpPr/>
            <p:nvPr/>
          </p:nvCxnSpPr>
          <p:spPr>
            <a:xfrm flipH="1" rot="10800000">
              <a:off x="6011109" y="1480500"/>
              <a:ext cx="591405" cy="506136"/>
            </a:xfrm>
            <a:prstGeom prst="straightConnector1">
              <a:avLst/>
            </a:prstGeom>
            <a:noFill/>
            <a:ln cap="rnd" cmpd="sng" w="38100">
              <a:solidFill>
                <a:srgbClr val="00F7FF"/>
              </a:solidFill>
              <a:prstDash val="solid"/>
              <a:round/>
              <a:headEnd len="sm" w="sm" type="none"/>
              <a:tailEnd len="sm" w="sm" type="none"/>
            </a:ln>
          </p:spPr>
        </p:cxnSp>
        <p:cxnSp>
          <p:nvCxnSpPr>
            <p:cNvPr id="61" name="Google Shape;61;p27"/>
            <p:cNvCxnSpPr/>
            <p:nvPr/>
          </p:nvCxnSpPr>
          <p:spPr>
            <a:xfrm>
              <a:off x="6602514" y="1480500"/>
              <a:ext cx="1378423" cy="0"/>
            </a:xfrm>
            <a:prstGeom prst="straightConnector1">
              <a:avLst/>
            </a:prstGeom>
            <a:noFill/>
            <a:ln cap="rnd" cmpd="sng" w="38100">
              <a:solidFill>
                <a:srgbClr val="00F7FF"/>
              </a:solidFill>
              <a:prstDash val="solid"/>
              <a:round/>
              <a:headEnd len="sm" w="sm" type="none"/>
              <a:tailEnd len="sm" w="sm" type="none"/>
            </a:ln>
          </p:spPr>
        </p:cxnSp>
        <p:sp>
          <p:nvSpPr>
            <p:cNvPr id="62" name="Google Shape;62;p27"/>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3" name="Google Shape;63;p27"/>
          <p:cNvSpPr/>
          <p:nvPr/>
        </p:nvSpPr>
        <p:spPr>
          <a:xfrm>
            <a:off x="796022" y="2736380"/>
            <a:ext cx="2019600" cy="2019600"/>
          </a:xfrm>
          <a:prstGeom prst="ellipse">
            <a:avLst/>
          </a:prstGeom>
          <a:gradFill>
            <a:gsLst>
              <a:gs pos="0">
                <a:srgbClr val="00C6FF"/>
              </a:gs>
              <a:gs pos="100000">
                <a:srgbClr val="0072FF"/>
              </a:gs>
            </a:gsLst>
            <a:lin ang="5400000" scaled="0"/>
          </a:gradFill>
          <a:ln cap="flat" cmpd="sng" w="12700">
            <a:solidFill>
              <a:srgbClr val="00C6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27"/>
          <p:cNvSpPr/>
          <p:nvPr>
            <p:ph idx="2" type="pic"/>
          </p:nvPr>
        </p:nvSpPr>
        <p:spPr>
          <a:xfrm>
            <a:off x="690326" y="2728996"/>
            <a:ext cx="2020888" cy="2019600"/>
          </a:xfrm>
          <a:prstGeom prst="ellipse">
            <a:avLst/>
          </a:prstGeom>
          <a:solidFill>
            <a:schemeClr val="lt1"/>
          </a:solidFill>
          <a:ln cap="flat" cmpd="sng" w="19050">
            <a:solidFill>
              <a:srgbClr val="00F7FF"/>
            </a:solidFill>
            <a:prstDash val="solid"/>
            <a:round/>
            <a:headEnd len="sm" w="sm" type="none"/>
            <a:tailEnd len="sm" w="sm" type="none"/>
          </a:ln>
          <a:effectLst>
            <a:outerShdw blurRad="63500" sx="102000" rotWithShape="0" algn="ctr" sy="102000">
              <a:srgbClr val="000000">
                <a:alpha val="40000"/>
              </a:srgbClr>
            </a:outerShdw>
          </a:effectLst>
        </p:spPr>
      </p:sp>
      <p:sp>
        <p:nvSpPr>
          <p:cNvPr id="65" name="Google Shape;65;p27"/>
          <p:cNvSpPr txBox="1"/>
          <p:nvPr>
            <p:ph idx="3" type="body"/>
          </p:nvPr>
        </p:nvSpPr>
        <p:spPr>
          <a:xfrm>
            <a:off x="2711214" y="2263753"/>
            <a:ext cx="3576761" cy="622002"/>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rgbClr val="00F7FF"/>
              </a:buClr>
              <a:buSzPts val="3600"/>
              <a:buNone/>
              <a:defRPr b="1" sz="36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ục lục">
  <p:cSld name="1_Mục lục">
    <p:spTree>
      <p:nvGrpSpPr>
        <p:cNvPr id="66" name="Shape 66"/>
        <p:cNvGrpSpPr/>
        <p:nvPr/>
      </p:nvGrpSpPr>
      <p:grpSpPr>
        <a:xfrm>
          <a:off x="0" y="0"/>
          <a:ext cx="0" cy="0"/>
          <a:chOff x="0" y="0"/>
          <a:chExt cx="0" cy="0"/>
        </a:xfrm>
      </p:grpSpPr>
      <p:sp>
        <p:nvSpPr>
          <p:cNvPr id="67" name="Google Shape;67;p28"/>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8" name="Google Shape;68;p28"/>
          <p:cNvGrpSpPr/>
          <p:nvPr/>
        </p:nvGrpSpPr>
        <p:grpSpPr>
          <a:xfrm rot="10800000">
            <a:off x="9263702" y="5930537"/>
            <a:ext cx="2869771" cy="886519"/>
            <a:chOff x="44879" y="27296"/>
            <a:chExt cx="2869771" cy="886519"/>
          </a:xfrm>
        </p:grpSpPr>
        <p:cxnSp>
          <p:nvCxnSpPr>
            <p:cNvPr id="69" name="Google Shape;69;p28"/>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70" name="Google Shape;70;p28"/>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71" name="Google Shape;71;p28"/>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72" name="Google Shape;72;p28"/>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73" name="Google Shape;73;p28"/>
          <p:cNvGrpSpPr/>
          <p:nvPr/>
        </p:nvGrpSpPr>
        <p:grpSpPr>
          <a:xfrm>
            <a:off x="-2323526" y="1121391"/>
            <a:ext cx="4841288" cy="5054000"/>
            <a:chOff x="-1259888" y="901609"/>
            <a:chExt cx="4841288" cy="5054000"/>
          </a:xfrm>
        </p:grpSpPr>
        <p:grpSp>
          <p:nvGrpSpPr>
            <p:cNvPr id="74" name="Google Shape;74;p28"/>
            <p:cNvGrpSpPr/>
            <p:nvPr/>
          </p:nvGrpSpPr>
          <p:grpSpPr>
            <a:xfrm>
              <a:off x="-1225468" y="901609"/>
              <a:ext cx="4806868" cy="664514"/>
              <a:chOff x="0" y="901609"/>
              <a:chExt cx="4806868" cy="664514"/>
            </a:xfrm>
          </p:grpSpPr>
          <p:cxnSp>
            <p:nvCxnSpPr>
              <p:cNvPr id="75" name="Google Shape;75;p28"/>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76" name="Google Shape;76;p28"/>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77" name="Google Shape;77;p28"/>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78" name="Google Shape;78;p28"/>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79" name="Google Shape;79;p28"/>
            <p:cNvGrpSpPr/>
            <p:nvPr/>
          </p:nvGrpSpPr>
          <p:grpSpPr>
            <a:xfrm flipH="1" rot="10800000">
              <a:off x="-1225468" y="5291095"/>
              <a:ext cx="4806868" cy="664514"/>
              <a:chOff x="0" y="1232525"/>
              <a:chExt cx="4806868" cy="664514"/>
            </a:xfrm>
          </p:grpSpPr>
          <p:cxnSp>
            <p:nvCxnSpPr>
              <p:cNvPr id="80" name="Google Shape;80;p28"/>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81" name="Google Shape;81;p28"/>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82" name="Google Shape;82;p28"/>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83" name="Google Shape;83;p28"/>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84" name="Google Shape;84;p28"/>
            <p:cNvGrpSpPr/>
            <p:nvPr/>
          </p:nvGrpSpPr>
          <p:grpSpPr>
            <a:xfrm>
              <a:off x="-1225469" y="1860637"/>
              <a:ext cx="3835321" cy="547270"/>
              <a:chOff x="-1" y="1860637"/>
              <a:chExt cx="3835321" cy="547270"/>
            </a:xfrm>
          </p:grpSpPr>
          <p:sp>
            <p:nvSpPr>
              <p:cNvPr id="85" name="Google Shape;85;p28"/>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6" name="Google Shape;86;p28"/>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87" name="Google Shape;87;p28"/>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88" name="Google Shape;88;p28"/>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89" name="Google Shape;89;p28"/>
            <p:cNvGrpSpPr/>
            <p:nvPr/>
          </p:nvGrpSpPr>
          <p:grpSpPr>
            <a:xfrm flipH="1" rot="10800000">
              <a:off x="-1259888" y="4408929"/>
              <a:ext cx="3835321" cy="547270"/>
              <a:chOff x="-1" y="1860637"/>
              <a:chExt cx="3835321" cy="547270"/>
            </a:xfrm>
          </p:grpSpPr>
          <p:sp>
            <p:nvSpPr>
              <p:cNvPr id="90" name="Google Shape;90;p28"/>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1" name="Google Shape;91;p28"/>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92" name="Google Shape;92;p28"/>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93" name="Google Shape;93;p28"/>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94" name="Google Shape;94;p28"/>
            <p:cNvGrpSpPr/>
            <p:nvPr/>
          </p:nvGrpSpPr>
          <p:grpSpPr>
            <a:xfrm>
              <a:off x="-1252333" y="2715185"/>
              <a:ext cx="2776521" cy="436736"/>
              <a:chOff x="-26865" y="2715185"/>
              <a:chExt cx="2776521" cy="436736"/>
            </a:xfrm>
          </p:grpSpPr>
          <p:cxnSp>
            <p:nvCxnSpPr>
              <p:cNvPr id="95" name="Google Shape;95;p28"/>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96" name="Google Shape;96;p28"/>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97" name="Google Shape;97;p28"/>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98" name="Google Shape;98;p28"/>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9" name="Google Shape;99;p28"/>
            <p:cNvGrpSpPr/>
            <p:nvPr/>
          </p:nvGrpSpPr>
          <p:grpSpPr>
            <a:xfrm>
              <a:off x="-1225468" y="3843225"/>
              <a:ext cx="2802371" cy="433101"/>
              <a:chOff x="-34420" y="3843718"/>
              <a:chExt cx="2802371" cy="433101"/>
            </a:xfrm>
          </p:grpSpPr>
          <p:cxnSp>
            <p:nvCxnSpPr>
              <p:cNvPr id="100" name="Google Shape;100;p28"/>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01" name="Google Shape;101;p28"/>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02" name="Google Shape;102;p28"/>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103" name="Google Shape;103;p28"/>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4" name="Google Shape;104;p28"/>
          <p:cNvGrpSpPr/>
          <p:nvPr/>
        </p:nvGrpSpPr>
        <p:grpSpPr>
          <a:xfrm flipH="1">
            <a:off x="9674240" y="1121391"/>
            <a:ext cx="4841288" cy="5054000"/>
            <a:chOff x="-1259888" y="901609"/>
            <a:chExt cx="4841288" cy="5054000"/>
          </a:xfrm>
        </p:grpSpPr>
        <p:grpSp>
          <p:nvGrpSpPr>
            <p:cNvPr id="105" name="Google Shape;105;p28"/>
            <p:cNvGrpSpPr/>
            <p:nvPr/>
          </p:nvGrpSpPr>
          <p:grpSpPr>
            <a:xfrm>
              <a:off x="-1225468" y="901609"/>
              <a:ext cx="4806868" cy="664514"/>
              <a:chOff x="0" y="901609"/>
              <a:chExt cx="4806868" cy="664514"/>
            </a:xfrm>
          </p:grpSpPr>
          <p:cxnSp>
            <p:nvCxnSpPr>
              <p:cNvPr id="106" name="Google Shape;106;p28"/>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07" name="Google Shape;107;p28"/>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08" name="Google Shape;108;p28"/>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109" name="Google Shape;109;p28"/>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10" name="Google Shape;110;p28"/>
            <p:cNvGrpSpPr/>
            <p:nvPr/>
          </p:nvGrpSpPr>
          <p:grpSpPr>
            <a:xfrm flipH="1" rot="10800000">
              <a:off x="-1225468" y="5291095"/>
              <a:ext cx="4806868" cy="664514"/>
              <a:chOff x="0" y="1232525"/>
              <a:chExt cx="4806868" cy="664514"/>
            </a:xfrm>
          </p:grpSpPr>
          <p:cxnSp>
            <p:nvCxnSpPr>
              <p:cNvPr id="111" name="Google Shape;111;p28"/>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12" name="Google Shape;112;p28"/>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13" name="Google Shape;113;p28"/>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114" name="Google Shape;114;p28"/>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15" name="Google Shape;115;p28"/>
            <p:cNvGrpSpPr/>
            <p:nvPr/>
          </p:nvGrpSpPr>
          <p:grpSpPr>
            <a:xfrm>
              <a:off x="-1225469" y="1860637"/>
              <a:ext cx="3835321" cy="547270"/>
              <a:chOff x="-1" y="1860637"/>
              <a:chExt cx="3835321" cy="547270"/>
            </a:xfrm>
          </p:grpSpPr>
          <p:sp>
            <p:nvSpPr>
              <p:cNvPr id="116" name="Google Shape;116;p28"/>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7" name="Google Shape;117;p28"/>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18" name="Google Shape;118;p28"/>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19" name="Google Shape;119;p28"/>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120" name="Google Shape;120;p28"/>
            <p:cNvGrpSpPr/>
            <p:nvPr/>
          </p:nvGrpSpPr>
          <p:grpSpPr>
            <a:xfrm flipH="1" rot="10800000">
              <a:off x="-1259888" y="4408929"/>
              <a:ext cx="3835321" cy="547270"/>
              <a:chOff x="-1" y="1860637"/>
              <a:chExt cx="3835321" cy="547270"/>
            </a:xfrm>
          </p:grpSpPr>
          <p:sp>
            <p:nvSpPr>
              <p:cNvPr id="121" name="Google Shape;121;p28"/>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2" name="Google Shape;122;p28"/>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23" name="Google Shape;123;p28"/>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24" name="Google Shape;124;p28"/>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125" name="Google Shape;125;p28"/>
            <p:cNvGrpSpPr/>
            <p:nvPr/>
          </p:nvGrpSpPr>
          <p:grpSpPr>
            <a:xfrm>
              <a:off x="-1252333" y="2715185"/>
              <a:ext cx="2776521" cy="436736"/>
              <a:chOff x="-26865" y="2715185"/>
              <a:chExt cx="2776521" cy="436736"/>
            </a:xfrm>
          </p:grpSpPr>
          <p:cxnSp>
            <p:nvCxnSpPr>
              <p:cNvPr id="126" name="Google Shape;126;p28"/>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27" name="Google Shape;127;p28"/>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28" name="Google Shape;128;p28"/>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129" name="Google Shape;129;p28"/>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30" name="Google Shape;130;p28"/>
            <p:cNvGrpSpPr/>
            <p:nvPr/>
          </p:nvGrpSpPr>
          <p:grpSpPr>
            <a:xfrm>
              <a:off x="-1225468" y="3843225"/>
              <a:ext cx="2802371" cy="433101"/>
              <a:chOff x="-34420" y="3843718"/>
              <a:chExt cx="2802371" cy="433101"/>
            </a:xfrm>
          </p:grpSpPr>
          <p:cxnSp>
            <p:nvCxnSpPr>
              <p:cNvPr id="131" name="Google Shape;131;p28"/>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32" name="Google Shape;132;p28"/>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133" name="Google Shape;133;p28"/>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134" name="Google Shape;134;p28"/>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35" name="Google Shape;135;p28"/>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36" name="Google Shape;136;p28"/>
          <p:cNvSpPr txBox="1"/>
          <p:nvPr>
            <p:ph idx="12" type="sldNum"/>
          </p:nvPr>
        </p:nvSpPr>
        <p:spPr>
          <a:xfrm>
            <a:off x="58527"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37" name="Google Shape;137;p28"/>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b="1" sz="3600">
              <a:solidFill>
                <a:schemeClr val="lt1"/>
              </a:solidFill>
              <a:latin typeface="Times New Roman"/>
              <a:ea typeface="Times New Roman"/>
              <a:cs typeface="Times New Roman"/>
              <a:sym typeface="Times New Roman"/>
            </a:endParaRPr>
          </a:p>
        </p:txBody>
      </p:sp>
      <p:sp>
        <p:nvSpPr>
          <p:cNvPr id="138" name="Google Shape;138;p28"/>
          <p:cNvSpPr txBox="1"/>
          <p:nvPr>
            <p:ph idx="1" type="body"/>
          </p:nvPr>
        </p:nvSpPr>
        <p:spPr>
          <a:xfrm>
            <a:off x="2033899" y="1559014"/>
            <a:ext cx="8124204" cy="4153664"/>
          </a:xfrm>
          <a:prstGeom prst="rect">
            <a:avLst/>
          </a:prstGeom>
          <a:noFill/>
          <a:ln>
            <a:noFill/>
          </a:ln>
        </p:spPr>
        <p:txBody>
          <a:bodyPr anchorCtr="0" anchor="ctr"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28"/>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0" name="Google Shape;140;p28"/>
          <p:cNvGrpSpPr/>
          <p:nvPr/>
        </p:nvGrpSpPr>
        <p:grpSpPr>
          <a:xfrm>
            <a:off x="58527" y="40944"/>
            <a:ext cx="2869771" cy="886519"/>
            <a:chOff x="44879" y="27296"/>
            <a:chExt cx="2869771" cy="886519"/>
          </a:xfrm>
        </p:grpSpPr>
        <p:cxnSp>
          <p:nvCxnSpPr>
            <p:cNvPr id="141" name="Google Shape;141;p28"/>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142" name="Google Shape;142;p28"/>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143" name="Google Shape;143;p28"/>
            <p:cNvCxnSpPr/>
            <p:nvPr/>
          </p:nvCxnSpPr>
          <p:spPr>
            <a:xfrm rot="10800000">
              <a:off x="52214" y="654128"/>
              <a:ext cx="0" cy="259687"/>
            </a:xfrm>
            <a:prstGeom prst="straightConnector1">
              <a:avLst/>
            </a:prstGeom>
            <a:noFill/>
            <a:ln cap="flat" cmpd="sng" w="38100">
              <a:solidFill>
                <a:srgbClr val="00C6FF"/>
              </a:solidFill>
              <a:prstDash val="solid"/>
              <a:miter lim="8000"/>
              <a:headEnd len="sm" w="sm" type="none"/>
              <a:tailEnd len="sm" w="sm" type="none"/>
            </a:ln>
          </p:spPr>
        </p:cxnSp>
      </p:grpSp>
      <p:sp>
        <p:nvSpPr>
          <p:cNvPr id="144" name="Google Shape;144;p28"/>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8"/>
          <p:cNvSpPr txBox="1"/>
          <p:nvPr>
            <p:ph idx="2" type="body"/>
          </p:nvPr>
        </p:nvSpPr>
        <p:spPr>
          <a:xfrm>
            <a:off x="4859729" y="734646"/>
            <a:ext cx="2714625" cy="4572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28"/>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type="obj">
  <p:cSld name="OBJECT">
    <p:spTree>
      <p:nvGrpSpPr>
        <p:cNvPr id="147" name="Shape 147"/>
        <p:cNvGrpSpPr/>
        <p:nvPr/>
      </p:nvGrpSpPr>
      <p:grpSpPr>
        <a:xfrm>
          <a:off x="0" y="0"/>
          <a:ext cx="0" cy="0"/>
          <a:chOff x="0" y="0"/>
          <a:chExt cx="0" cy="0"/>
        </a:xfrm>
      </p:grpSpPr>
      <p:sp>
        <p:nvSpPr>
          <p:cNvPr id="148" name="Google Shape;148;p29"/>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29"/>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0" name="Google Shape;150;p29"/>
          <p:cNvGrpSpPr/>
          <p:nvPr/>
        </p:nvGrpSpPr>
        <p:grpSpPr>
          <a:xfrm>
            <a:off x="58527" y="54292"/>
            <a:ext cx="2869771" cy="1563379"/>
            <a:chOff x="44879" y="27296"/>
            <a:chExt cx="2869771" cy="1563379"/>
          </a:xfrm>
        </p:grpSpPr>
        <p:cxnSp>
          <p:nvCxnSpPr>
            <p:cNvPr id="151" name="Google Shape;151;p29"/>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152" name="Google Shape;152;p29"/>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153" name="Google Shape;153;p29"/>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154" name="Google Shape;154;p29"/>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29"/>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9"/>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2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58" name="Google Shape;158;p29"/>
          <p:cNvGrpSpPr/>
          <p:nvPr/>
        </p:nvGrpSpPr>
        <p:grpSpPr>
          <a:xfrm>
            <a:off x="16026" y="4629289"/>
            <a:ext cx="434350" cy="2228711"/>
            <a:chOff x="16026" y="4629289"/>
            <a:chExt cx="434350" cy="2228711"/>
          </a:xfrm>
        </p:grpSpPr>
        <p:sp>
          <p:nvSpPr>
            <p:cNvPr id="159" name="Google Shape;159;p29"/>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29"/>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29"/>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29"/>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29"/>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29"/>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65" name="Google Shape;165;p29"/>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9"/>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29"/>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68" name="Google Shape;168;p2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169" name="Google Shape;169;p29"/>
          <p:cNvGrpSpPr/>
          <p:nvPr/>
        </p:nvGrpSpPr>
        <p:grpSpPr>
          <a:xfrm rot="10800000">
            <a:off x="9265363" y="5246044"/>
            <a:ext cx="2869771" cy="1563379"/>
            <a:chOff x="44879" y="27296"/>
            <a:chExt cx="2869771" cy="1563379"/>
          </a:xfrm>
        </p:grpSpPr>
        <p:cxnSp>
          <p:nvCxnSpPr>
            <p:cNvPr id="170" name="Google Shape;170;p29"/>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171" name="Google Shape;171;p29"/>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172" name="Google Shape;172;p29"/>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1">
  <p:cSld name="So sanh 1">
    <p:spTree>
      <p:nvGrpSpPr>
        <p:cNvPr id="173" name="Shape 173"/>
        <p:cNvGrpSpPr/>
        <p:nvPr/>
      </p:nvGrpSpPr>
      <p:grpSpPr>
        <a:xfrm>
          <a:off x="0" y="0"/>
          <a:ext cx="0" cy="0"/>
          <a:chOff x="0" y="0"/>
          <a:chExt cx="0" cy="0"/>
        </a:xfrm>
      </p:grpSpPr>
      <p:sp>
        <p:nvSpPr>
          <p:cNvPr id="174" name="Google Shape;174;p30"/>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30"/>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6" name="Google Shape;176;p30"/>
          <p:cNvGrpSpPr/>
          <p:nvPr/>
        </p:nvGrpSpPr>
        <p:grpSpPr>
          <a:xfrm>
            <a:off x="58527" y="54292"/>
            <a:ext cx="2869771" cy="1563379"/>
            <a:chOff x="44879" y="27296"/>
            <a:chExt cx="2869771" cy="1563379"/>
          </a:xfrm>
        </p:grpSpPr>
        <p:cxnSp>
          <p:nvCxnSpPr>
            <p:cNvPr id="177" name="Google Shape;177;p30"/>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178" name="Google Shape;178;p30"/>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179" name="Google Shape;179;p30"/>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180" name="Google Shape;180;p30"/>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30"/>
          <p:cNvSpPr txBox="1"/>
          <p:nvPr>
            <p:ph idx="1" type="body"/>
          </p:nvPr>
        </p:nvSpPr>
        <p:spPr>
          <a:xfrm>
            <a:off x="774144" y="1233825"/>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3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83" name="Google Shape;183;p30"/>
          <p:cNvGrpSpPr/>
          <p:nvPr/>
        </p:nvGrpSpPr>
        <p:grpSpPr>
          <a:xfrm>
            <a:off x="16026" y="4629289"/>
            <a:ext cx="434350" cy="2228711"/>
            <a:chOff x="16026" y="4629289"/>
            <a:chExt cx="434350" cy="2228711"/>
          </a:xfrm>
        </p:grpSpPr>
        <p:sp>
          <p:nvSpPr>
            <p:cNvPr id="184" name="Google Shape;184;p30"/>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30"/>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30"/>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30"/>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30"/>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30"/>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90" name="Google Shape;190;p30"/>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30"/>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30"/>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93" name="Google Shape;193;p3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194" name="Google Shape;194;p30"/>
          <p:cNvGrpSpPr/>
          <p:nvPr/>
        </p:nvGrpSpPr>
        <p:grpSpPr>
          <a:xfrm rot="10800000">
            <a:off x="9265363" y="5246044"/>
            <a:ext cx="2869771" cy="1563379"/>
            <a:chOff x="44879" y="27296"/>
            <a:chExt cx="2869771" cy="1563379"/>
          </a:xfrm>
        </p:grpSpPr>
        <p:cxnSp>
          <p:nvCxnSpPr>
            <p:cNvPr id="195" name="Google Shape;195;p30"/>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196" name="Google Shape;196;p30"/>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197" name="Google Shape;197;p30"/>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198" name="Google Shape;198;p30"/>
          <p:cNvSpPr txBox="1"/>
          <p:nvPr>
            <p:ph idx="2" type="body"/>
          </p:nvPr>
        </p:nvSpPr>
        <p:spPr>
          <a:xfrm>
            <a:off x="6151800" y="1228490"/>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30"/>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2">
  <p:cSld name="So sanh 2">
    <p:spTree>
      <p:nvGrpSpPr>
        <p:cNvPr id="200" name="Shape 200"/>
        <p:cNvGrpSpPr/>
        <p:nvPr/>
      </p:nvGrpSpPr>
      <p:grpSpPr>
        <a:xfrm>
          <a:off x="0" y="0"/>
          <a:ext cx="0" cy="0"/>
          <a:chOff x="0" y="0"/>
          <a:chExt cx="0" cy="0"/>
        </a:xfrm>
      </p:grpSpPr>
      <p:sp>
        <p:nvSpPr>
          <p:cNvPr id="201" name="Google Shape;201;p31"/>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31"/>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3" name="Google Shape;203;p31"/>
          <p:cNvGrpSpPr/>
          <p:nvPr/>
        </p:nvGrpSpPr>
        <p:grpSpPr>
          <a:xfrm>
            <a:off x="58527" y="54292"/>
            <a:ext cx="2869771" cy="1563379"/>
            <a:chOff x="44879" y="27296"/>
            <a:chExt cx="2869771" cy="1563379"/>
          </a:xfrm>
        </p:grpSpPr>
        <p:cxnSp>
          <p:nvCxnSpPr>
            <p:cNvPr id="204" name="Google Shape;204;p31"/>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05" name="Google Shape;205;p31"/>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06" name="Google Shape;206;p31"/>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07" name="Google Shape;207;p31"/>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31"/>
          <p:cNvSpPr txBox="1"/>
          <p:nvPr>
            <p:ph idx="1" type="body"/>
          </p:nvPr>
        </p:nvSpPr>
        <p:spPr>
          <a:xfrm>
            <a:off x="774144" y="1962615"/>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3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10" name="Google Shape;210;p31"/>
          <p:cNvGrpSpPr/>
          <p:nvPr/>
        </p:nvGrpSpPr>
        <p:grpSpPr>
          <a:xfrm>
            <a:off x="16026" y="4629289"/>
            <a:ext cx="434350" cy="2228711"/>
            <a:chOff x="16026" y="4629289"/>
            <a:chExt cx="434350" cy="2228711"/>
          </a:xfrm>
        </p:grpSpPr>
        <p:sp>
          <p:nvSpPr>
            <p:cNvPr id="211" name="Google Shape;211;p31"/>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31"/>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31"/>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31"/>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31"/>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31"/>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17" name="Google Shape;217;p31"/>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3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31"/>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20" name="Google Shape;220;p3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221" name="Google Shape;221;p31"/>
          <p:cNvGrpSpPr/>
          <p:nvPr/>
        </p:nvGrpSpPr>
        <p:grpSpPr>
          <a:xfrm rot="10800000">
            <a:off x="9265363" y="5246044"/>
            <a:ext cx="2869771" cy="1563379"/>
            <a:chOff x="44879" y="27296"/>
            <a:chExt cx="2869771" cy="1563379"/>
          </a:xfrm>
        </p:grpSpPr>
        <p:cxnSp>
          <p:nvCxnSpPr>
            <p:cNvPr id="222" name="Google Shape;222;p31"/>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23" name="Google Shape;223;p31"/>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24" name="Google Shape;224;p31"/>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25" name="Google Shape;225;p31"/>
          <p:cNvSpPr txBox="1"/>
          <p:nvPr>
            <p:ph idx="2" type="body"/>
          </p:nvPr>
        </p:nvSpPr>
        <p:spPr>
          <a:xfrm>
            <a:off x="6151800" y="1957280"/>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31"/>
          <p:cNvSpPr txBox="1"/>
          <p:nvPr>
            <p:ph idx="3" type="body"/>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31"/>
          <p:cNvSpPr txBox="1"/>
          <p:nvPr>
            <p:ph idx="4" type="body"/>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31"/>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chương">
  <p:cSld name="Tiêu đề chương">
    <p:spTree>
      <p:nvGrpSpPr>
        <p:cNvPr id="229" name="Shape 229"/>
        <p:cNvGrpSpPr/>
        <p:nvPr/>
      </p:nvGrpSpPr>
      <p:grpSpPr>
        <a:xfrm>
          <a:off x="0" y="0"/>
          <a:ext cx="0" cy="0"/>
          <a:chOff x="0" y="0"/>
          <a:chExt cx="0" cy="0"/>
        </a:xfrm>
      </p:grpSpPr>
      <p:pic>
        <p:nvPicPr>
          <p:cNvPr descr="Background pattern&#10;&#10;Description automatically generated" id="230" name="Google Shape;230;p32"/>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231" name="Google Shape;231;p32"/>
          <p:cNvSpPr/>
          <p:nvPr/>
        </p:nvSpPr>
        <p:spPr>
          <a:xfrm>
            <a:off x="-1" y="-3113"/>
            <a:ext cx="12192000" cy="6858000"/>
          </a:xfrm>
          <a:prstGeom prst="rect">
            <a:avLst/>
          </a:prstGeom>
          <a:gradFill>
            <a:gsLst>
              <a:gs pos="0">
                <a:srgbClr val="0A4671">
                  <a:alpha val="74902"/>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32"/>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33" name="Google Shape;233;p32"/>
          <p:cNvGrpSpPr/>
          <p:nvPr/>
        </p:nvGrpSpPr>
        <p:grpSpPr>
          <a:xfrm>
            <a:off x="58527" y="40944"/>
            <a:ext cx="2869771" cy="1563379"/>
            <a:chOff x="44879" y="27296"/>
            <a:chExt cx="2869771" cy="1563379"/>
          </a:xfrm>
        </p:grpSpPr>
        <p:cxnSp>
          <p:nvCxnSpPr>
            <p:cNvPr id="234" name="Google Shape;234;p32"/>
            <p:cNvCxnSpPr/>
            <p:nvPr/>
          </p:nvCxnSpPr>
          <p:spPr>
            <a:xfrm rot="10800000">
              <a:off x="766351" y="34631"/>
              <a:ext cx="2148299" cy="0"/>
            </a:xfrm>
            <a:prstGeom prst="straightConnector1">
              <a:avLst/>
            </a:prstGeom>
            <a:noFill/>
            <a:ln cap="flat" cmpd="sng" w="38100">
              <a:solidFill>
                <a:srgbClr val="00F7FF"/>
              </a:solidFill>
              <a:prstDash val="solid"/>
              <a:miter lim="8000"/>
              <a:headEnd len="sm" w="sm" type="none"/>
              <a:tailEnd len="sm" w="sm" type="none"/>
            </a:ln>
          </p:spPr>
        </p:cxnSp>
        <p:cxnSp>
          <p:nvCxnSpPr>
            <p:cNvPr id="235" name="Google Shape;235;p32"/>
            <p:cNvCxnSpPr/>
            <p:nvPr/>
          </p:nvCxnSpPr>
          <p:spPr>
            <a:xfrm flipH="1">
              <a:off x="44879" y="27296"/>
              <a:ext cx="737495" cy="644210"/>
            </a:xfrm>
            <a:prstGeom prst="straightConnector1">
              <a:avLst/>
            </a:prstGeom>
            <a:noFill/>
            <a:ln cap="flat" cmpd="sng" w="38100">
              <a:solidFill>
                <a:srgbClr val="00F7FF"/>
              </a:solidFill>
              <a:prstDash val="solid"/>
              <a:miter lim="8000"/>
              <a:headEnd len="sm" w="sm" type="none"/>
              <a:tailEnd len="sm" w="sm" type="none"/>
            </a:ln>
          </p:spPr>
        </p:cxnSp>
        <p:cxnSp>
          <p:nvCxnSpPr>
            <p:cNvPr id="236" name="Google Shape;236;p32"/>
            <p:cNvCxnSpPr/>
            <p:nvPr/>
          </p:nvCxnSpPr>
          <p:spPr>
            <a:xfrm rot="10800000">
              <a:off x="52214" y="654128"/>
              <a:ext cx="0" cy="936547"/>
            </a:xfrm>
            <a:prstGeom prst="straightConnector1">
              <a:avLst/>
            </a:prstGeom>
            <a:noFill/>
            <a:ln cap="flat" cmpd="sng" w="38100">
              <a:solidFill>
                <a:srgbClr val="00F7FF"/>
              </a:solidFill>
              <a:prstDash val="solid"/>
              <a:miter lim="8000"/>
              <a:headEnd len="sm" w="sm" type="none"/>
              <a:tailEnd len="sm" w="sm" type="none"/>
            </a:ln>
          </p:spPr>
        </p:cxnSp>
      </p:grpSp>
      <p:sp>
        <p:nvSpPr>
          <p:cNvPr id="237" name="Google Shape;237;p32"/>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38" name="Google Shape;238;p32"/>
          <p:cNvGrpSpPr/>
          <p:nvPr/>
        </p:nvGrpSpPr>
        <p:grpSpPr>
          <a:xfrm rot="10800000">
            <a:off x="9263702" y="5253677"/>
            <a:ext cx="2869771" cy="1563379"/>
            <a:chOff x="44879" y="27296"/>
            <a:chExt cx="2869771" cy="1563379"/>
          </a:xfrm>
        </p:grpSpPr>
        <p:cxnSp>
          <p:nvCxnSpPr>
            <p:cNvPr id="239" name="Google Shape;239;p32"/>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240" name="Google Shape;240;p32"/>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241" name="Google Shape;241;p32"/>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242" name="Google Shape;242;p32"/>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32"/>
          <p:cNvSpPr txBox="1"/>
          <p:nvPr>
            <p:ph idx="1" type="body"/>
          </p:nvPr>
        </p:nvSpPr>
        <p:spPr>
          <a:xfrm>
            <a:off x="1470929" y="2095027"/>
            <a:ext cx="9941071"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p32"/>
          <p:cNvSpPr txBox="1"/>
          <p:nvPr>
            <p:ph idx="2" type="body"/>
          </p:nvPr>
        </p:nvSpPr>
        <p:spPr>
          <a:xfrm>
            <a:off x="1470930" y="3169159"/>
            <a:ext cx="9941070"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32"/>
          <p:cNvSpPr txBox="1"/>
          <p:nvPr>
            <p:ph idx="3" type="body"/>
          </p:nvPr>
        </p:nvSpPr>
        <p:spPr>
          <a:xfrm>
            <a:off x="1470930" y="4137397"/>
            <a:ext cx="7147030" cy="91669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32"/>
          <p:cNvSpPr txBox="1"/>
          <p:nvPr>
            <p:ph idx="4" type="body"/>
          </p:nvPr>
        </p:nvSpPr>
        <p:spPr>
          <a:xfrm>
            <a:off x="8896576" y="5231902"/>
            <a:ext cx="2521280" cy="1577819"/>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rgbClr val="00F7FF"/>
              </a:buClr>
              <a:buSzPts val="12000"/>
              <a:buNone/>
              <a:defRPr b="1" sz="120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7" name="Google Shape;247;p32"/>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
        <p:nvSpPr>
          <p:cNvPr id="248" name="Google Shape;248;p32"/>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32"/>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50" name="Google Shape;250;p32"/>
          <p:cNvGrpSpPr/>
          <p:nvPr/>
        </p:nvGrpSpPr>
        <p:grpSpPr>
          <a:xfrm>
            <a:off x="16026" y="4629289"/>
            <a:ext cx="434350" cy="2228711"/>
            <a:chOff x="16026" y="4629289"/>
            <a:chExt cx="434350" cy="2228711"/>
          </a:xfrm>
        </p:grpSpPr>
        <p:sp>
          <p:nvSpPr>
            <p:cNvPr id="251" name="Google Shape;251;p32"/>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32"/>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32"/>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32"/>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32"/>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32"/>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57" name="Google Shape;257;p32"/>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58" name="Google Shape;258;p32"/>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2">
  <p:cSld name="Noi dung 2">
    <p:spTree>
      <p:nvGrpSpPr>
        <p:cNvPr id="259" name="Shape 259"/>
        <p:cNvGrpSpPr/>
        <p:nvPr/>
      </p:nvGrpSpPr>
      <p:grpSpPr>
        <a:xfrm>
          <a:off x="0" y="0"/>
          <a:ext cx="0" cy="0"/>
          <a:chOff x="0" y="0"/>
          <a:chExt cx="0" cy="0"/>
        </a:xfrm>
      </p:grpSpPr>
      <p:sp>
        <p:nvSpPr>
          <p:cNvPr id="260" name="Google Shape;260;p33"/>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33"/>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2" name="Google Shape;262;p33"/>
          <p:cNvGrpSpPr/>
          <p:nvPr/>
        </p:nvGrpSpPr>
        <p:grpSpPr>
          <a:xfrm>
            <a:off x="58527" y="54292"/>
            <a:ext cx="2869771" cy="1563379"/>
            <a:chOff x="44879" y="27296"/>
            <a:chExt cx="2869771" cy="1563379"/>
          </a:xfrm>
        </p:grpSpPr>
        <p:cxnSp>
          <p:nvCxnSpPr>
            <p:cNvPr id="263" name="Google Shape;263;p33"/>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64" name="Google Shape;264;p33"/>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65" name="Google Shape;265;p33"/>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66" name="Google Shape;266;p33"/>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33"/>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33"/>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3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70" name="Google Shape;270;p33"/>
          <p:cNvGrpSpPr/>
          <p:nvPr/>
        </p:nvGrpSpPr>
        <p:grpSpPr>
          <a:xfrm>
            <a:off x="16026" y="4629289"/>
            <a:ext cx="434350" cy="2228711"/>
            <a:chOff x="16026" y="4629289"/>
            <a:chExt cx="434350" cy="2228711"/>
          </a:xfrm>
        </p:grpSpPr>
        <p:sp>
          <p:nvSpPr>
            <p:cNvPr id="271" name="Google Shape;271;p33"/>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33"/>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33"/>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33"/>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33"/>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33"/>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7" name="Google Shape;277;p3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33"/>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33"/>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80" name="Google Shape;280;p3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281" name="Google Shape;281;p33"/>
          <p:cNvGrpSpPr/>
          <p:nvPr/>
        </p:nvGrpSpPr>
        <p:grpSpPr>
          <a:xfrm rot="10800000">
            <a:off x="9265363" y="5246044"/>
            <a:ext cx="2869771" cy="1563379"/>
            <a:chOff x="44879" y="27296"/>
            <a:chExt cx="2869771" cy="1563379"/>
          </a:xfrm>
        </p:grpSpPr>
        <p:cxnSp>
          <p:nvCxnSpPr>
            <p:cNvPr id="282" name="Google Shape;282;p33"/>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83" name="Google Shape;283;p33"/>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84" name="Google Shape;284;p33"/>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85" name="Google Shape;285;p33"/>
          <p:cNvSpPr txBox="1"/>
          <p:nvPr>
            <p:ph idx="2" type="body"/>
          </p:nvPr>
        </p:nvSpPr>
        <p:spPr>
          <a:xfrm>
            <a:off x="5085934" y="202009"/>
            <a:ext cx="6267866" cy="5969620"/>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ình ảnh">
  <p:cSld name="Hình ảnh">
    <p:spTree>
      <p:nvGrpSpPr>
        <p:cNvPr id="286" name="Shape 286"/>
        <p:cNvGrpSpPr/>
        <p:nvPr/>
      </p:nvGrpSpPr>
      <p:grpSpPr>
        <a:xfrm>
          <a:off x="0" y="0"/>
          <a:ext cx="0" cy="0"/>
          <a:chOff x="0" y="0"/>
          <a:chExt cx="0" cy="0"/>
        </a:xfrm>
      </p:grpSpPr>
      <p:sp>
        <p:nvSpPr>
          <p:cNvPr id="287" name="Google Shape;287;p34"/>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34"/>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89" name="Google Shape;289;p34"/>
          <p:cNvGrpSpPr/>
          <p:nvPr/>
        </p:nvGrpSpPr>
        <p:grpSpPr>
          <a:xfrm>
            <a:off x="58527" y="54292"/>
            <a:ext cx="2869771" cy="1563379"/>
            <a:chOff x="44879" y="27296"/>
            <a:chExt cx="2869771" cy="1563379"/>
          </a:xfrm>
        </p:grpSpPr>
        <p:cxnSp>
          <p:nvCxnSpPr>
            <p:cNvPr id="290" name="Google Shape;290;p34"/>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291" name="Google Shape;291;p34"/>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292" name="Google Shape;292;p34"/>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293" name="Google Shape;293;p34"/>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34"/>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34"/>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3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97" name="Google Shape;297;p34"/>
          <p:cNvGrpSpPr/>
          <p:nvPr/>
        </p:nvGrpSpPr>
        <p:grpSpPr>
          <a:xfrm>
            <a:off x="16026" y="4629289"/>
            <a:ext cx="434350" cy="2228711"/>
            <a:chOff x="16026" y="4629289"/>
            <a:chExt cx="434350" cy="2228711"/>
          </a:xfrm>
        </p:grpSpPr>
        <p:sp>
          <p:nvSpPr>
            <p:cNvPr id="298" name="Google Shape;298;p34"/>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34"/>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34"/>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34"/>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34"/>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34"/>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04" name="Google Shape;304;p3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34"/>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34"/>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07" name="Google Shape;307;p3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308" name="Google Shape;308;p34"/>
          <p:cNvGrpSpPr/>
          <p:nvPr/>
        </p:nvGrpSpPr>
        <p:grpSpPr>
          <a:xfrm rot="10800000">
            <a:off x="9265363" y="5246044"/>
            <a:ext cx="2869771" cy="1563379"/>
            <a:chOff x="44879" y="27296"/>
            <a:chExt cx="2869771" cy="1563379"/>
          </a:xfrm>
        </p:grpSpPr>
        <p:cxnSp>
          <p:nvCxnSpPr>
            <p:cNvPr id="309" name="Google Shape;309;p34"/>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310" name="Google Shape;310;p34"/>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311" name="Google Shape;311;p34"/>
            <p:cNvCxnSpPr/>
            <p:nvPr/>
          </p:nvCxnSpPr>
          <p:spPr>
            <a:xfrm rot="10800000">
              <a:off x="52214" y="654128"/>
              <a:ext cx="0" cy="936547"/>
            </a:xfrm>
            <a:prstGeom prst="straightConnector1">
              <a:avLst/>
            </a:prstGeom>
            <a:noFill/>
            <a:ln cap="flat" cmpd="sng" w="38100">
              <a:solidFill>
                <a:srgbClr val="00C6FF"/>
              </a:solidFill>
              <a:prstDash val="solid"/>
              <a:miter lim="8000"/>
              <a:headEnd len="sm" w="sm" type="none"/>
              <a:tailEnd len="sm" w="sm" type="none"/>
            </a:ln>
          </p:spPr>
        </p:cxnSp>
      </p:grpSp>
      <p:sp>
        <p:nvSpPr>
          <p:cNvPr id="312" name="Google Shape;312;p34"/>
          <p:cNvSpPr/>
          <p:nvPr>
            <p:ph idx="2" type="pic"/>
          </p:nvPr>
        </p:nvSpPr>
        <p:spPr>
          <a:xfrm>
            <a:off x="5160373" y="202009"/>
            <a:ext cx="6237261" cy="5976999"/>
          </a:xfrm>
          <a:prstGeom prst="roundRect">
            <a:avLst>
              <a:gd fmla="val 574" name="adj"/>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1">
  <p:cSld name="Trang trong 1">
    <p:spTree>
      <p:nvGrpSpPr>
        <p:cNvPr id="313" name="Shape 313"/>
        <p:cNvGrpSpPr/>
        <p:nvPr/>
      </p:nvGrpSpPr>
      <p:grpSpPr>
        <a:xfrm>
          <a:off x="0" y="0"/>
          <a:ext cx="0" cy="0"/>
          <a:chOff x="0" y="0"/>
          <a:chExt cx="0" cy="0"/>
        </a:xfrm>
      </p:grpSpPr>
      <p:sp>
        <p:nvSpPr>
          <p:cNvPr id="314" name="Google Shape;314;p3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5" name="Google Shape;315;p35"/>
          <p:cNvGrpSpPr/>
          <p:nvPr/>
        </p:nvGrpSpPr>
        <p:grpSpPr>
          <a:xfrm rot="10800000">
            <a:off x="9263702" y="5930537"/>
            <a:ext cx="2869771" cy="886519"/>
            <a:chOff x="44879" y="27296"/>
            <a:chExt cx="2869771" cy="886519"/>
          </a:xfrm>
        </p:grpSpPr>
        <p:cxnSp>
          <p:nvCxnSpPr>
            <p:cNvPr id="316" name="Google Shape;316;p3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317" name="Google Shape;317;p3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318" name="Google Shape;318;p35"/>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319" name="Google Shape;319;p35"/>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20" name="Google Shape;320;p35"/>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21" name="Google Shape;321;p35"/>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22" name="Google Shape;322;p35"/>
          <p:cNvGrpSpPr/>
          <p:nvPr/>
        </p:nvGrpSpPr>
        <p:grpSpPr>
          <a:xfrm>
            <a:off x="58527" y="40944"/>
            <a:ext cx="2869771" cy="886519"/>
            <a:chOff x="44879" y="27296"/>
            <a:chExt cx="2869771" cy="886519"/>
          </a:xfrm>
        </p:grpSpPr>
        <p:cxnSp>
          <p:nvCxnSpPr>
            <p:cNvPr id="323" name="Google Shape;323;p35"/>
            <p:cNvCxnSpPr/>
            <p:nvPr/>
          </p:nvCxnSpPr>
          <p:spPr>
            <a:xfrm rot="10800000">
              <a:off x="766351" y="34631"/>
              <a:ext cx="2148299" cy="0"/>
            </a:xfrm>
            <a:prstGeom prst="straightConnector1">
              <a:avLst/>
            </a:prstGeom>
            <a:noFill/>
            <a:ln cap="flat" cmpd="sng" w="38100">
              <a:solidFill>
                <a:srgbClr val="00C6FF"/>
              </a:solidFill>
              <a:prstDash val="solid"/>
              <a:miter lim="8000"/>
              <a:headEnd len="sm" w="sm" type="none"/>
              <a:tailEnd len="sm" w="sm" type="none"/>
            </a:ln>
          </p:spPr>
        </p:cxnSp>
        <p:cxnSp>
          <p:nvCxnSpPr>
            <p:cNvPr id="324" name="Google Shape;324;p35"/>
            <p:cNvCxnSpPr/>
            <p:nvPr/>
          </p:nvCxnSpPr>
          <p:spPr>
            <a:xfrm flipH="1">
              <a:off x="44879" y="27296"/>
              <a:ext cx="737495" cy="644210"/>
            </a:xfrm>
            <a:prstGeom prst="straightConnector1">
              <a:avLst/>
            </a:prstGeom>
            <a:noFill/>
            <a:ln cap="flat" cmpd="sng" w="38100">
              <a:solidFill>
                <a:srgbClr val="00C6FF"/>
              </a:solidFill>
              <a:prstDash val="solid"/>
              <a:miter lim="8000"/>
              <a:headEnd len="sm" w="sm" type="none"/>
              <a:tailEnd len="sm" w="sm" type="none"/>
            </a:ln>
          </p:spPr>
        </p:cxnSp>
        <p:cxnSp>
          <p:nvCxnSpPr>
            <p:cNvPr id="325" name="Google Shape;325;p35"/>
            <p:cNvCxnSpPr/>
            <p:nvPr/>
          </p:nvCxnSpPr>
          <p:spPr>
            <a:xfrm rot="10800000">
              <a:off x="52214" y="654128"/>
              <a:ext cx="0" cy="259687"/>
            </a:xfrm>
            <a:prstGeom prst="straightConnector1">
              <a:avLst/>
            </a:prstGeom>
            <a:noFill/>
            <a:ln cap="flat" cmpd="sng" w="38100">
              <a:solidFill>
                <a:srgbClr val="00C6FF"/>
              </a:solidFill>
              <a:prstDash val="solid"/>
              <a:miter lim="8000"/>
              <a:headEnd len="sm" w="sm" type="none"/>
              <a:tailEnd len="sm" w="sm" type="none"/>
            </a:ln>
          </p:spPr>
        </p:cxnSp>
      </p:grpSp>
      <p:sp>
        <p:nvSpPr>
          <p:cNvPr id="326" name="Google Shape;326;p35"/>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3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8" name="Google Shape;328;p35"/>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2">
  <p:cSld name="Trang trong 2">
    <p:spTree>
      <p:nvGrpSpPr>
        <p:cNvPr id="329" name="Shape 329"/>
        <p:cNvGrpSpPr/>
        <p:nvPr/>
      </p:nvGrpSpPr>
      <p:grpSpPr>
        <a:xfrm>
          <a:off x="0" y="0"/>
          <a:ext cx="0" cy="0"/>
          <a:chOff x="0" y="0"/>
          <a:chExt cx="0" cy="0"/>
        </a:xfrm>
      </p:grpSpPr>
      <p:sp>
        <p:nvSpPr>
          <p:cNvPr id="330" name="Google Shape;330;p36"/>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31" name="Google Shape;331;p36"/>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72FF"/>
              </a:buClr>
              <a:buSzPts val="4000"/>
              <a:buFont typeface="Times New Roman"/>
              <a:buNone/>
              <a:defRPr b="1" i="0" sz="4000" u="none" cap="none" strike="noStrik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C95"/>
                </a:solidFill>
                <a:latin typeface="Calibri"/>
                <a:ea typeface="Calibri"/>
                <a:cs typeface="Calibri"/>
                <a:sym typeface="Calibri"/>
              </a:defRPr>
            </a:lvl1pPr>
            <a:lvl2pPr indent="0" lvl="1" marL="0" marR="0" rtl="0" algn="r">
              <a:spcBef>
                <a:spcPts val="0"/>
              </a:spcBef>
              <a:buNone/>
              <a:defRPr b="0" i="0" sz="1200" u="none" cap="none" strike="noStrike">
                <a:solidFill>
                  <a:srgbClr val="8B8C95"/>
                </a:solidFill>
                <a:latin typeface="Calibri"/>
                <a:ea typeface="Calibri"/>
                <a:cs typeface="Calibri"/>
                <a:sym typeface="Calibri"/>
              </a:defRPr>
            </a:lvl2pPr>
            <a:lvl3pPr indent="0" lvl="2" marL="0" marR="0" rtl="0" algn="r">
              <a:spcBef>
                <a:spcPts val="0"/>
              </a:spcBef>
              <a:buNone/>
              <a:defRPr b="0" i="0" sz="1200" u="none" cap="none" strike="noStrike">
                <a:solidFill>
                  <a:srgbClr val="8B8C95"/>
                </a:solidFill>
                <a:latin typeface="Calibri"/>
                <a:ea typeface="Calibri"/>
                <a:cs typeface="Calibri"/>
                <a:sym typeface="Calibri"/>
              </a:defRPr>
            </a:lvl3pPr>
            <a:lvl4pPr indent="0" lvl="3" marL="0" marR="0" rtl="0" algn="r">
              <a:spcBef>
                <a:spcPts val="0"/>
              </a:spcBef>
              <a:buNone/>
              <a:defRPr b="0" i="0" sz="1200" u="none" cap="none" strike="noStrike">
                <a:solidFill>
                  <a:srgbClr val="8B8C95"/>
                </a:solidFill>
                <a:latin typeface="Calibri"/>
                <a:ea typeface="Calibri"/>
                <a:cs typeface="Calibri"/>
                <a:sym typeface="Calibri"/>
              </a:defRPr>
            </a:lvl4pPr>
            <a:lvl5pPr indent="0" lvl="4" marL="0" marR="0" rtl="0" algn="r">
              <a:spcBef>
                <a:spcPts val="0"/>
              </a:spcBef>
              <a:buNone/>
              <a:defRPr b="0" i="0" sz="1200" u="none" cap="none" strike="noStrike">
                <a:solidFill>
                  <a:srgbClr val="8B8C95"/>
                </a:solidFill>
                <a:latin typeface="Calibri"/>
                <a:ea typeface="Calibri"/>
                <a:cs typeface="Calibri"/>
                <a:sym typeface="Calibri"/>
              </a:defRPr>
            </a:lvl5pPr>
            <a:lvl6pPr indent="0" lvl="5" marL="0" marR="0" rtl="0" algn="r">
              <a:spcBef>
                <a:spcPts val="0"/>
              </a:spcBef>
              <a:buNone/>
              <a:defRPr b="0" i="0" sz="1200" u="none" cap="none" strike="noStrike">
                <a:solidFill>
                  <a:srgbClr val="8B8C95"/>
                </a:solidFill>
                <a:latin typeface="Calibri"/>
                <a:ea typeface="Calibri"/>
                <a:cs typeface="Calibri"/>
                <a:sym typeface="Calibri"/>
              </a:defRPr>
            </a:lvl6pPr>
            <a:lvl7pPr indent="0" lvl="6" marL="0" marR="0" rtl="0" algn="r">
              <a:spcBef>
                <a:spcPts val="0"/>
              </a:spcBef>
              <a:buNone/>
              <a:defRPr b="0" i="0" sz="1200" u="none" cap="none" strike="noStrike">
                <a:solidFill>
                  <a:srgbClr val="8B8C95"/>
                </a:solidFill>
                <a:latin typeface="Calibri"/>
                <a:ea typeface="Calibri"/>
                <a:cs typeface="Calibri"/>
                <a:sym typeface="Calibri"/>
              </a:defRPr>
            </a:lvl7pPr>
            <a:lvl8pPr indent="0" lvl="7" marL="0" marR="0" rtl="0" algn="r">
              <a:spcBef>
                <a:spcPts val="0"/>
              </a:spcBef>
              <a:buNone/>
              <a:defRPr b="0" i="0" sz="1200" u="none" cap="none" strike="noStrike">
                <a:solidFill>
                  <a:srgbClr val="8B8C95"/>
                </a:solidFill>
                <a:latin typeface="Calibri"/>
                <a:ea typeface="Calibri"/>
                <a:cs typeface="Calibri"/>
                <a:sym typeface="Calibri"/>
              </a:defRPr>
            </a:lvl8pPr>
            <a:lvl9pPr indent="0" lvl="8" marL="0" marR="0" rtl="0" algn="r">
              <a:spcBef>
                <a:spcPts val="0"/>
              </a:spcBef>
              <a:buNone/>
              <a:defRPr b="0" i="0" sz="1200" u="none" cap="none" strike="noStrike">
                <a:solidFill>
                  <a:srgbClr val="8B8C9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www.cplusplus.com/doc/tutoria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khmt.uit.edu.vn/wecode/thpt/" TargetMode="External"/><Relationship Id="rId4" Type="http://schemas.openxmlformats.org/officeDocument/2006/relationships/hyperlink" Target="http://khmt.uit.edu.vn/wecode/thpt/" TargetMode="External"/><Relationship Id="rId5" Type="http://schemas.openxmlformats.org/officeDocument/2006/relationships/hyperlink" Target="http://khmt.uit.edu.vn/wecode/thp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2F4F"/>
              </a:buClr>
              <a:buSzPts val="700"/>
              <a:buFont typeface="Arial"/>
              <a:buNone/>
            </a:pPr>
            <a:fld id="{00000000-1234-1234-1234-123412341234}" type="slidenum">
              <a:rPr b="0" i="0" lang="en-US" u="none" cap="none" strike="noStrike">
                <a:solidFill>
                  <a:srgbClr val="2A2F4F"/>
                </a:solidFill>
                <a:latin typeface="Arial"/>
                <a:ea typeface="Arial"/>
                <a:cs typeface="Arial"/>
                <a:sym typeface="Arial"/>
              </a:rPr>
              <a:t>‹#›</a:t>
            </a:fld>
            <a:endParaRPr b="0" i="0" u="none" cap="none" strike="noStrike">
              <a:solidFill>
                <a:srgbClr val="2A2F4F"/>
              </a:solidFill>
              <a:latin typeface="Arial"/>
              <a:ea typeface="Arial"/>
              <a:cs typeface="Arial"/>
              <a:sym typeface="Arial"/>
            </a:endParaRPr>
          </a:p>
        </p:txBody>
      </p:sp>
      <p:sp>
        <p:nvSpPr>
          <p:cNvPr id="337" name="Google Shape;337;p1"/>
          <p:cNvSpPr txBox="1"/>
          <p:nvPr>
            <p:ph idx="1" type="body"/>
          </p:nvPr>
        </p:nvSpPr>
        <p:spPr>
          <a:xfrm>
            <a:off x="1850807" y="1766627"/>
            <a:ext cx="8490387" cy="69616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46"/>
              </a:buClr>
              <a:buSzPts val="4400"/>
              <a:buNone/>
            </a:pPr>
            <a:r>
              <a:rPr lang="en-US"/>
              <a:t>IT001 - NHẬP MÔN LẬP TRÌNH</a:t>
            </a:r>
            <a:endParaRPr/>
          </a:p>
        </p:txBody>
      </p:sp>
      <p:sp>
        <p:nvSpPr>
          <p:cNvPr id="338" name="Google Shape;338;p1"/>
          <p:cNvSpPr txBox="1"/>
          <p:nvPr>
            <p:ph idx="2" type="body"/>
          </p:nvPr>
        </p:nvSpPr>
        <p:spPr>
          <a:xfrm>
            <a:off x="367204" y="2755847"/>
            <a:ext cx="11434027" cy="10346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46"/>
              </a:buClr>
              <a:buSzPts val="2800"/>
              <a:buNone/>
            </a:pPr>
            <a:r>
              <a:rPr lang="en-US"/>
              <a:t>GIỚI THIỆU MÔN HỌC NHẬP MÔN LẬP TRÌNH</a:t>
            </a:r>
            <a:endParaRPr/>
          </a:p>
        </p:txBody>
      </p:sp>
      <p:sp>
        <p:nvSpPr>
          <p:cNvPr id="339" name="Google Shape;339;p1"/>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A5A5A5"/>
              </a:buClr>
              <a:buSzPts val="1200"/>
              <a:buNone/>
            </a:pPr>
            <a:r>
              <a:rPr lang="en-US"/>
              <a:t>Giới thiệu về môn học, nội dung, kế hoạch học tập, cách kiểm tra đánh giá và phương pháp học tập</a:t>
            </a:r>
            <a:endParaRPr/>
          </a:p>
        </p:txBody>
      </p:sp>
      <p:sp>
        <p:nvSpPr>
          <p:cNvPr id="340" name="Google Shape;340;p1"/>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41" name="Google Shape;341;p1"/>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Thực hiện bởi Trường Đại học Công nghệ Thông tin, ĐHQG-HCM</a:t>
            </a:r>
            <a:endParaRPr/>
          </a:p>
        </p:txBody>
      </p:sp>
      <p:sp>
        <p:nvSpPr>
          <p:cNvPr id="347" name="Google Shape;347;p3"/>
          <p:cNvSpPr txBox="1"/>
          <p:nvPr>
            <p:ph idx="12" type="sldNum"/>
          </p:nvPr>
        </p:nvSpPr>
        <p:spPr>
          <a:xfrm>
            <a:off x="58527" y="6566400"/>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48" name="Google Shape;348;p3"/>
          <p:cNvSpPr txBox="1"/>
          <p:nvPr>
            <p:ph idx="1" type="body"/>
          </p:nvPr>
        </p:nvSpPr>
        <p:spPr>
          <a:xfrm>
            <a:off x="2788908" y="1533846"/>
            <a:ext cx="8124204" cy="4682396"/>
          </a:xfrm>
          <a:prstGeom prst="rect">
            <a:avLst/>
          </a:prstGeom>
          <a:noFill/>
          <a:ln>
            <a:noFill/>
          </a:ln>
        </p:spPr>
        <p:txBody>
          <a:bodyPr anchorCtr="0" anchor="ctr" bIns="45700" lIns="91425" spcFirstLastPara="1" rIns="91425" wrap="square" tIns="45700">
            <a:noAutofit/>
          </a:bodyPr>
          <a:lstStyle/>
          <a:p>
            <a:pPr indent="-514350" lvl="0" marL="514350" rtl="0" algn="just">
              <a:lnSpc>
                <a:spcPct val="120000"/>
              </a:lnSpc>
              <a:spcBef>
                <a:spcPts val="0"/>
              </a:spcBef>
              <a:spcAft>
                <a:spcPts val="0"/>
              </a:spcAft>
              <a:buClr>
                <a:schemeClr val="dk1"/>
              </a:buClr>
              <a:buSzPts val="2200"/>
              <a:buAutoNum type="arabicPeriod"/>
            </a:pPr>
            <a:r>
              <a:rPr lang="en-US" sz="2200"/>
              <a:t>Thông tin chung về môn học</a:t>
            </a:r>
            <a:endParaRPr/>
          </a:p>
          <a:p>
            <a:pPr indent="-514350" lvl="0" marL="514350" rtl="0" algn="just">
              <a:lnSpc>
                <a:spcPct val="120000"/>
              </a:lnSpc>
              <a:spcBef>
                <a:spcPts val="0"/>
              </a:spcBef>
              <a:spcAft>
                <a:spcPts val="0"/>
              </a:spcAft>
              <a:buClr>
                <a:schemeClr val="dk1"/>
              </a:buClr>
              <a:buSzPts val="2200"/>
              <a:buAutoNum type="arabicPeriod"/>
            </a:pPr>
            <a:r>
              <a:rPr lang="en-US" sz="2200"/>
              <a:t>Mô tả tóm tắt nội dung môn học</a:t>
            </a:r>
            <a:endParaRPr/>
          </a:p>
          <a:p>
            <a:pPr indent="-514350" lvl="0" marL="514350" rtl="0" algn="just">
              <a:lnSpc>
                <a:spcPct val="120000"/>
              </a:lnSpc>
              <a:spcBef>
                <a:spcPts val="0"/>
              </a:spcBef>
              <a:spcAft>
                <a:spcPts val="0"/>
              </a:spcAft>
              <a:buClr>
                <a:schemeClr val="dk1"/>
              </a:buClr>
              <a:buSzPts val="2200"/>
              <a:buAutoNum type="arabicPeriod"/>
            </a:pPr>
            <a:r>
              <a:rPr lang="en-US" sz="2200"/>
              <a:t>Chuẩn đầu ra môn học</a:t>
            </a:r>
            <a:endParaRPr/>
          </a:p>
          <a:p>
            <a:pPr indent="-514350" lvl="0" marL="514350" rtl="0" algn="just">
              <a:lnSpc>
                <a:spcPct val="120000"/>
              </a:lnSpc>
              <a:spcBef>
                <a:spcPts val="0"/>
              </a:spcBef>
              <a:spcAft>
                <a:spcPts val="0"/>
              </a:spcAft>
              <a:buClr>
                <a:schemeClr val="dk1"/>
              </a:buClr>
              <a:buSzPts val="2200"/>
              <a:buAutoNum type="arabicPeriod"/>
            </a:pPr>
            <a:r>
              <a:rPr lang="en-US" sz="2200"/>
              <a:t>Quy định môn học</a:t>
            </a:r>
            <a:endParaRPr/>
          </a:p>
          <a:p>
            <a:pPr indent="-514350" lvl="0" marL="514350" rtl="0" algn="just">
              <a:lnSpc>
                <a:spcPct val="120000"/>
              </a:lnSpc>
              <a:spcBef>
                <a:spcPts val="0"/>
              </a:spcBef>
              <a:spcAft>
                <a:spcPts val="0"/>
              </a:spcAft>
              <a:buClr>
                <a:schemeClr val="dk1"/>
              </a:buClr>
              <a:buSzPts val="2200"/>
              <a:buAutoNum type="arabicPeriod"/>
            </a:pPr>
            <a:r>
              <a:rPr lang="en-US" sz="2200"/>
              <a:t>Nội dung môn học</a:t>
            </a:r>
            <a:endParaRPr/>
          </a:p>
          <a:p>
            <a:pPr indent="-514350" lvl="0" marL="514350" rtl="0" algn="just">
              <a:lnSpc>
                <a:spcPct val="120000"/>
              </a:lnSpc>
              <a:spcBef>
                <a:spcPts val="0"/>
              </a:spcBef>
              <a:spcAft>
                <a:spcPts val="0"/>
              </a:spcAft>
              <a:buClr>
                <a:schemeClr val="dk1"/>
              </a:buClr>
              <a:buSzPts val="2200"/>
              <a:buAutoNum type="arabicPeriod"/>
            </a:pPr>
            <a:r>
              <a:rPr lang="en-US" sz="2200"/>
              <a:t>Kế hoạch học tập</a:t>
            </a:r>
            <a:endParaRPr/>
          </a:p>
          <a:p>
            <a:pPr indent="-514350" lvl="0" marL="514350" rtl="0" algn="just">
              <a:lnSpc>
                <a:spcPct val="120000"/>
              </a:lnSpc>
              <a:spcBef>
                <a:spcPts val="0"/>
              </a:spcBef>
              <a:spcAft>
                <a:spcPts val="0"/>
              </a:spcAft>
              <a:buClr>
                <a:schemeClr val="dk1"/>
              </a:buClr>
              <a:buSzPts val="2200"/>
              <a:buAutoNum type="arabicPeriod"/>
            </a:pPr>
            <a:r>
              <a:rPr lang="en-US" sz="2200"/>
              <a:t>Nội dung Thực hành </a:t>
            </a:r>
            <a:endParaRPr/>
          </a:p>
          <a:p>
            <a:pPr indent="-514350" lvl="0" marL="514350" rtl="0" algn="just">
              <a:lnSpc>
                <a:spcPct val="120000"/>
              </a:lnSpc>
              <a:spcBef>
                <a:spcPts val="0"/>
              </a:spcBef>
              <a:spcAft>
                <a:spcPts val="0"/>
              </a:spcAft>
              <a:buClr>
                <a:schemeClr val="dk1"/>
              </a:buClr>
              <a:buSzPts val="2200"/>
              <a:buAutoNum type="arabicPeriod"/>
            </a:pPr>
            <a:r>
              <a:rPr lang="en-US" sz="2200"/>
              <a:t>Phương pháp dạy và học</a:t>
            </a:r>
            <a:endParaRPr/>
          </a:p>
          <a:p>
            <a:pPr indent="-514350" lvl="0" marL="514350" rtl="0" algn="just">
              <a:lnSpc>
                <a:spcPct val="120000"/>
              </a:lnSpc>
              <a:spcBef>
                <a:spcPts val="0"/>
              </a:spcBef>
              <a:spcAft>
                <a:spcPts val="0"/>
              </a:spcAft>
              <a:buClr>
                <a:schemeClr val="dk1"/>
              </a:buClr>
              <a:buSzPts val="2200"/>
              <a:buAutoNum type="arabicPeriod"/>
            </a:pPr>
            <a:r>
              <a:rPr lang="en-US" sz="2200"/>
              <a:t>Kiểm tra, đánh giá</a:t>
            </a:r>
            <a:endParaRPr/>
          </a:p>
          <a:p>
            <a:pPr indent="-514350" lvl="0" marL="514350" rtl="0" algn="just">
              <a:lnSpc>
                <a:spcPct val="120000"/>
              </a:lnSpc>
              <a:spcBef>
                <a:spcPts val="0"/>
              </a:spcBef>
              <a:spcAft>
                <a:spcPts val="0"/>
              </a:spcAft>
              <a:buClr>
                <a:schemeClr val="dk1"/>
              </a:buClr>
              <a:buSzPts val="2200"/>
              <a:buAutoNum type="arabicPeriod"/>
            </a:pPr>
            <a:r>
              <a:rPr lang="en-US" sz="2200"/>
              <a:t>Tài liệu tham khảo</a:t>
            </a:r>
            <a:endParaRPr/>
          </a:p>
          <a:p>
            <a:pPr indent="-514350" lvl="0" marL="514350" rtl="0" algn="just">
              <a:lnSpc>
                <a:spcPct val="120000"/>
              </a:lnSpc>
              <a:spcBef>
                <a:spcPts val="0"/>
              </a:spcBef>
              <a:spcAft>
                <a:spcPts val="0"/>
              </a:spcAft>
              <a:buClr>
                <a:schemeClr val="dk1"/>
              </a:buClr>
              <a:buSzPts val="2200"/>
              <a:buAutoNum type="arabicPeriod"/>
            </a:pPr>
            <a:r>
              <a:rPr lang="en-US" sz="2200"/>
              <a:t>Phần mềm, công cụ hỗ trợ thực hành</a:t>
            </a:r>
            <a:endParaRPr/>
          </a:p>
        </p:txBody>
      </p:sp>
      <p:sp>
        <p:nvSpPr>
          <p:cNvPr id="349" name="Google Shape;349;p3"/>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June 2025</a:t>
            </a:r>
            <a:endParaRPr/>
          </a:p>
        </p:txBody>
      </p:sp>
      <p:sp>
        <p:nvSpPr>
          <p:cNvPr id="350" name="Google Shape;350;p3"/>
          <p:cNvSpPr txBox="1"/>
          <p:nvPr>
            <p:ph idx="2" type="body"/>
          </p:nvPr>
        </p:nvSpPr>
        <p:spPr>
          <a:xfrm>
            <a:off x="4859729" y="734646"/>
            <a:ext cx="2714625" cy="457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600"/>
              <a:buNone/>
            </a:pPr>
            <a:r>
              <a:rPr lang="en-US"/>
              <a:t>NỘI DUNG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1. Thông tin chung về môn học</a:t>
            </a:r>
            <a:endParaRPr/>
          </a:p>
        </p:txBody>
      </p:sp>
      <p:sp>
        <p:nvSpPr>
          <p:cNvPr id="356" name="Google Shape;356;p4"/>
          <p:cNvSpPr txBox="1"/>
          <p:nvPr>
            <p:ph idx="1" type="body"/>
          </p:nvPr>
        </p:nvSpPr>
        <p:spPr>
          <a:xfrm>
            <a:off x="774145" y="1233824"/>
            <a:ext cx="10579654" cy="527453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rgbClr val="000000"/>
              </a:buClr>
              <a:buSzPts val="2200"/>
              <a:buChar char="•"/>
            </a:pPr>
            <a:r>
              <a:rPr lang="en-US" sz="2200">
                <a:solidFill>
                  <a:srgbClr val="000000"/>
                </a:solidFill>
                <a:highlight>
                  <a:srgbClr val="FFFFFF"/>
                </a:highlight>
                <a:latin typeface="Times New Roman"/>
                <a:ea typeface="Times New Roman"/>
                <a:cs typeface="Times New Roman"/>
                <a:sym typeface="Times New Roman"/>
              </a:rPr>
              <a:t>Khoa phụ trách: Khoa Khoa học Máy tính</a:t>
            </a:r>
            <a:endParaRPr sz="2200">
              <a:solidFill>
                <a:srgbClr val="000000"/>
              </a:solidFill>
              <a:highlight>
                <a:srgbClr val="FFFFFF"/>
              </a:highlight>
              <a:latin typeface="Times New Roman"/>
              <a:ea typeface="Times New Roman"/>
              <a:cs typeface="Times New Roman"/>
              <a:sym typeface="Times New Roman"/>
            </a:endParaRPr>
          </a:p>
          <a:p>
            <a:pPr indent="-228600" lvl="0" marL="228600" rtl="0" algn="just">
              <a:lnSpc>
                <a:spcPct val="100000"/>
              </a:lnSpc>
              <a:spcBef>
                <a:spcPts val="300"/>
              </a:spcBef>
              <a:spcAft>
                <a:spcPts val="0"/>
              </a:spcAft>
              <a:buClr>
                <a:srgbClr val="333333"/>
              </a:buClr>
              <a:buSzPts val="2200"/>
              <a:buChar char="•"/>
            </a:pPr>
            <a:r>
              <a:rPr lang="en-US" sz="2200">
                <a:solidFill>
                  <a:srgbClr val="333333"/>
                </a:solidFill>
                <a:highlight>
                  <a:srgbClr val="FFFFFF"/>
                </a:highlight>
                <a:latin typeface="Times New Roman"/>
                <a:ea typeface="Times New Roman"/>
                <a:cs typeface="Times New Roman"/>
                <a:sym typeface="Times New Roman"/>
              </a:rPr>
              <a:t>Giảng</a:t>
            </a:r>
            <a:r>
              <a:rPr lang="en-US" sz="2200">
                <a:solidFill>
                  <a:srgbClr val="000000"/>
                </a:solidFill>
                <a:highlight>
                  <a:srgbClr val="FFFFFF"/>
                </a:highlight>
                <a:latin typeface="Times New Roman"/>
                <a:ea typeface="Times New Roman"/>
                <a:cs typeface="Times New Roman"/>
                <a:sym typeface="Times New Roman"/>
              </a:rPr>
              <a:t> viên phụ trách :</a:t>
            </a:r>
            <a:endParaRPr sz="2200">
              <a:solidFill>
                <a:srgbClr val="000000"/>
              </a:solidFill>
              <a:highlight>
                <a:srgbClr val="FFFFFF"/>
              </a:highlight>
              <a:latin typeface="Times New Roman"/>
              <a:ea typeface="Times New Roman"/>
              <a:cs typeface="Times New Roman"/>
              <a:sym typeface="Times New Roman"/>
            </a:endParaRPr>
          </a:p>
          <a:p>
            <a:pPr indent="-228600" lvl="1" marL="685800" rtl="0" algn="just">
              <a:lnSpc>
                <a:spcPct val="100000"/>
              </a:lnSpc>
              <a:spcBef>
                <a:spcPts val="300"/>
              </a:spcBef>
              <a:spcAft>
                <a:spcPts val="0"/>
              </a:spcAft>
              <a:buClr>
                <a:srgbClr val="000000"/>
              </a:buClr>
              <a:buSzPts val="2200"/>
              <a:buChar char="•"/>
            </a:pPr>
            <a:r>
              <a:rPr lang="en-US" sz="2200">
                <a:solidFill>
                  <a:srgbClr val="000000"/>
                </a:solidFill>
                <a:highlight>
                  <a:srgbClr val="FFFFFF"/>
                </a:highlight>
                <a:latin typeface="Times New Roman"/>
                <a:ea typeface="Times New Roman"/>
                <a:cs typeface="Times New Roman"/>
                <a:sym typeface="Times New Roman"/>
              </a:rPr>
              <a:t>ThS. Nguyễn Thị Ngọc </a:t>
            </a:r>
            <a:r>
              <a:rPr lang="en-US" sz="2200">
                <a:solidFill>
                  <a:srgbClr val="333333"/>
                </a:solidFill>
                <a:highlight>
                  <a:srgbClr val="FFFFFF"/>
                </a:highlight>
                <a:latin typeface="Times New Roman"/>
                <a:ea typeface="Times New Roman"/>
                <a:cs typeface="Times New Roman"/>
                <a:sym typeface="Times New Roman"/>
              </a:rPr>
              <a:t>Diễm</a:t>
            </a:r>
            <a:endParaRPr sz="2200">
              <a:solidFill>
                <a:srgbClr val="000000"/>
              </a:solidFill>
              <a:highlight>
                <a:srgbClr val="FFFFFF"/>
              </a:highlight>
              <a:latin typeface="Times New Roman"/>
              <a:ea typeface="Times New Roman"/>
              <a:cs typeface="Times New Roman"/>
              <a:sym typeface="Times New Roman"/>
            </a:endParaRPr>
          </a:p>
        </p:txBody>
      </p:sp>
      <p:sp>
        <p:nvSpPr>
          <p:cNvPr id="357" name="Google Shape;357;p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358" name="Google Shape;358;p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59" name="Google Shape;359;p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2. Mô tả tóm tắt nội dung môn học</a:t>
            </a:r>
            <a:endParaRPr/>
          </a:p>
        </p:txBody>
      </p:sp>
      <p:sp>
        <p:nvSpPr>
          <p:cNvPr id="365" name="Google Shape;365;p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366" name="Google Shape;366;p5"/>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67" name="Google Shape;367;p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68" name="Google Shape;368;p5"/>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30000"/>
              </a:lnSpc>
              <a:spcBef>
                <a:spcPts val="0"/>
              </a:spcBef>
              <a:spcAft>
                <a:spcPts val="0"/>
              </a:spcAft>
              <a:buClr>
                <a:schemeClr val="dk1"/>
              </a:buClr>
              <a:buSzPct val="100000"/>
              <a:buChar char="•"/>
            </a:pPr>
            <a:r>
              <a:rPr lang="en-US"/>
              <a:t>Đây là môn học nền tảng, cần thiết cho sinh viên theo học các ngành Công nghệ thông tin. Môn học này trang bị cho sinh viên kiến thức cơ bản về lập trình, cùng với kỹ năng sử dụng ngôn ngữ lập trình C++ để giải quyết các bài toán cơ bản.</a:t>
            </a:r>
            <a:endParaRPr/>
          </a:p>
          <a:p>
            <a:pPr indent="-228600" lvl="0" marL="228600" rtl="0" algn="just">
              <a:lnSpc>
                <a:spcPct val="130000"/>
              </a:lnSpc>
              <a:spcBef>
                <a:spcPts val="900"/>
              </a:spcBef>
              <a:spcAft>
                <a:spcPts val="0"/>
              </a:spcAft>
              <a:buClr>
                <a:schemeClr val="dk1"/>
              </a:buClr>
              <a:buSzPct val="100000"/>
              <a:buChar char="•"/>
            </a:pPr>
            <a:r>
              <a:rPr lang="en-US"/>
              <a:t>Môn học tập trung vào việc giúp sinh viên nắm vững kiểu dữ liệu, các phép toán, cấu trúc điều khiển, hàm, con trỏ, cấu trúc và các khái niệm căn bản khác của ngôn ngữ lập trình C++. </a:t>
            </a:r>
            <a:endParaRPr/>
          </a:p>
          <a:p>
            <a:pPr indent="-228600" lvl="0" marL="228600" rtl="0" algn="just">
              <a:lnSpc>
                <a:spcPct val="130000"/>
              </a:lnSpc>
              <a:spcBef>
                <a:spcPts val="900"/>
              </a:spcBef>
              <a:spcAft>
                <a:spcPts val="0"/>
              </a:spcAft>
              <a:buClr>
                <a:schemeClr val="dk1"/>
              </a:buClr>
              <a:buSzPct val="100000"/>
              <a:buChar char="•"/>
            </a:pPr>
            <a:r>
              <a:rPr lang="en-US"/>
              <a:t>Ngoài ra, sinh viên sẽ được hướng dẫn cách phát hiện và khắc phục lỗi trong quá trình lập trình, nhằm nâng cao khả năng giải quyết vấn đề và phát triển ứng dụng phần mềm hiệu quả.</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3. Chuẩn đầu ra môn học</a:t>
            </a:r>
            <a:endParaRPr/>
          </a:p>
        </p:txBody>
      </p:sp>
      <p:sp>
        <p:nvSpPr>
          <p:cNvPr id="374" name="Google Shape;374;p6"/>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30000"/>
              </a:lnSpc>
              <a:spcBef>
                <a:spcPts val="0"/>
              </a:spcBef>
              <a:spcAft>
                <a:spcPts val="0"/>
              </a:spcAft>
              <a:buClr>
                <a:schemeClr val="dk1"/>
              </a:buClr>
              <a:buSzPct val="100000"/>
              <a:buChar char="•"/>
            </a:pPr>
            <a:r>
              <a:rPr lang="en-US"/>
              <a:t>Trình bày và giải thích được các khái niệm cơ bản về lập trình trên máy tính.</a:t>
            </a:r>
            <a:endParaRPr/>
          </a:p>
          <a:p>
            <a:pPr indent="-228600" lvl="0" marL="228600" rtl="0" algn="just">
              <a:lnSpc>
                <a:spcPct val="130000"/>
              </a:lnSpc>
              <a:spcBef>
                <a:spcPts val="600"/>
              </a:spcBef>
              <a:spcAft>
                <a:spcPts val="0"/>
              </a:spcAft>
              <a:buClr>
                <a:schemeClr val="dk1"/>
              </a:buClr>
              <a:buSzPct val="100000"/>
              <a:buChar char="•"/>
            </a:pPr>
            <a:r>
              <a:rPr lang="en-US"/>
              <a:t>Áp dụng lưu đồ hay mã giả để mô tả một số thuật toán đơn giản; Diễn tả quá trình thực hiện thuật toán trên bộ dữ liệu cụ thể</a:t>
            </a:r>
            <a:endParaRPr/>
          </a:p>
          <a:p>
            <a:pPr indent="-228600" lvl="0" marL="228600" rtl="0" algn="just">
              <a:lnSpc>
                <a:spcPct val="130000"/>
              </a:lnSpc>
              <a:spcBef>
                <a:spcPts val="600"/>
              </a:spcBef>
              <a:spcAft>
                <a:spcPts val="0"/>
              </a:spcAft>
              <a:buClr>
                <a:schemeClr val="dk1"/>
              </a:buClr>
              <a:buSzPct val="100000"/>
              <a:buChar char="•"/>
            </a:pPr>
            <a:r>
              <a:rPr lang="en-US"/>
              <a:t>Hiểu và áp dụng được các quy ước của ngôn ngữ lập trình (C++) như kiểu dữ liệu, các phép toán, cấu trúc điều khiển,  hàm, mảng, cấu trúc, con trỏ, tập tin để viết chương trình trên máy tính.</a:t>
            </a:r>
            <a:endParaRPr/>
          </a:p>
          <a:p>
            <a:pPr indent="-228600" lvl="0" marL="228600" rtl="0" algn="just">
              <a:lnSpc>
                <a:spcPct val="130000"/>
              </a:lnSpc>
              <a:spcBef>
                <a:spcPts val="600"/>
              </a:spcBef>
              <a:spcAft>
                <a:spcPts val="0"/>
              </a:spcAft>
              <a:buClr>
                <a:schemeClr val="dk1"/>
              </a:buClr>
              <a:buSzPct val="100000"/>
              <a:buChar char="•"/>
            </a:pPr>
            <a:r>
              <a:rPr lang="en-US"/>
              <a:t>Sử dụng được ngôn ngữ lập trình (C++) để viết chương trình trên máy tính giải một số bài toán cơ bản</a:t>
            </a:r>
            <a:endParaRPr/>
          </a:p>
          <a:p>
            <a:pPr indent="-228600" lvl="0" marL="228600" rtl="0" algn="just">
              <a:lnSpc>
                <a:spcPct val="130000"/>
              </a:lnSpc>
              <a:spcBef>
                <a:spcPts val="600"/>
              </a:spcBef>
              <a:spcAft>
                <a:spcPts val="0"/>
              </a:spcAft>
              <a:buClr>
                <a:schemeClr val="dk1"/>
              </a:buClr>
              <a:buSzPct val="100000"/>
              <a:buChar char="•"/>
            </a:pPr>
            <a:r>
              <a:rPr lang="en-US"/>
              <a:t>Có khả năng phát hiện lỗi và khắc phục lỗi khi lập trình.</a:t>
            </a:r>
            <a:endParaRPr/>
          </a:p>
          <a:p>
            <a:pPr indent="-64135" lvl="0" marL="228600" rtl="0" algn="just">
              <a:lnSpc>
                <a:spcPct val="130000"/>
              </a:lnSpc>
              <a:spcBef>
                <a:spcPts val="600"/>
              </a:spcBef>
              <a:spcAft>
                <a:spcPts val="0"/>
              </a:spcAft>
              <a:buClr>
                <a:schemeClr val="dk1"/>
              </a:buClr>
              <a:buSzPct val="100000"/>
              <a:buNone/>
            </a:pPr>
            <a:r>
              <a:t/>
            </a:r>
            <a:endParaRPr/>
          </a:p>
        </p:txBody>
      </p:sp>
      <p:sp>
        <p:nvSpPr>
          <p:cNvPr id="375" name="Google Shape;375;p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376" name="Google Shape;376;p6"/>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77" name="Google Shape;377;p6"/>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7"/>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4. Quy định môn học</a:t>
            </a:r>
            <a:endParaRPr/>
          </a:p>
        </p:txBody>
      </p:sp>
      <p:sp>
        <p:nvSpPr>
          <p:cNvPr id="383" name="Google Shape;383;p7"/>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800"/>
              <a:buChar char="•"/>
            </a:pPr>
            <a:r>
              <a:rPr lang="en-US"/>
              <a:t>Học sinh tham dự lớp đầy đủ và đúng giờ</a:t>
            </a:r>
            <a:endParaRPr/>
          </a:p>
          <a:p>
            <a:pPr indent="-228600" lvl="0" marL="228600" rtl="0" algn="just">
              <a:lnSpc>
                <a:spcPct val="130000"/>
              </a:lnSpc>
              <a:spcBef>
                <a:spcPts val="600"/>
              </a:spcBef>
              <a:spcAft>
                <a:spcPts val="0"/>
              </a:spcAft>
              <a:buClr>
                <a:schemeClr val="dk1"/>
              </a:buClr>
              <a:buSzPts val="2800"/>
              <a:buChar char="•"/>
            </a:pPr>
            <a:r>
              <a:rPr lang="en-US"/>
              <a:t>Học sinh hoàn thành bài giảng online trước buổi học</a:t>
            </a:r>
            <a:endParaRPr/>
          </a:p>
          <a:p>
            <a:pPr indent="-228600" lvl="0" marL="228600" rtl="0" algn="just">
              <a:lnSpc>
                <a:spcPct val="130000"/>
              </a:lnSpc>
              <a:spcBef>
                <a:spcPts val="600"/>
              </a:spcBef>
              <a:spcAft>
                <a:spcPts val="0"/>
              </a:spcAft>
              <a:buClr>
                <a:schemeClr val="dk1"/>
              </a:buClr>
              <a:buSzPts val="2800"/>
              <a:buChar char="•"/>
            </a:pPr>
            <a:r>
              <a:rPr lang="en-US"/>
              <a:t>Học sinh tham gia tích cực, nghiêm túc các hoạt động thảo luận, thực hành học tập trên lớp</a:t>
            </a:r>
            <a:endParaRPr/>
          </a:p>
          <a:p>
            <a:pPr indent="-228600" lvl="0" marL="228600" rtl="0" algn="just">
              <a:lnSpc>
                <a:spcPct val="130000"/>
              </a:lnSpc>
              <a:spcBef>
                <a:spcPts val="600"/>
              </a:spcBef>
              <a:spcAft>
                <a:spcPts val="0"/>
              </a:spcAft>
              <a:buClr>
                <a:schemeClr val="dk1"/>
              </a:buClr>
              <a:buSzPts val="2800"/>
              <a:buChar char="•"/>
            </a:pPr>
            <a:r>
              <a:rPr lang="en-US"/>
              <a:t>Học sinh KHÔNG chơi game hoặc sử dụng thiết bị công nghệ phục vụ cho các mục đích khác ngoài nội dung buổi học</a:t>
            </a:r>
            <a:endParaRPr/>
          </a:p>
          <a:p>
            <a:pPr indent="-228600" lvl="0" marL="228600" rtl="0" algn="just">
              <a:lnSpc>
                <a:spcPct val="130000"/>
              </a:lnSpc>
              <a:spcBef>
                <a:spcPts val="600"/>
              </a:spcBef>
              <a:spcAft>
                <a:spcPts val="0"/>
              </a:spcAft>
              <a:buClr>
                <a:schemeClr val="dk1"/>
              </a:buClr>
              <a:buSzPts val="2800"/>
              <a:buChar char="•"/>
            </a:pPr>
            <a:r>
              <a:rPr lang="en-US"/>
              <a:t>Thực hiện các bài tập kiểm tra đầy đủ và đúng thời gian quy định</a:t>
            </a:r>
            <a:endParaRPr/>
          </a:p>
        </p:txBody>
      </p:sp>
      <p:sp>
        <p:nvSpPr>
          <p:cNvPr id="384" name="Google Shape;384;p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385" name="Google Shape;385;p7"/>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86" name="Google Shape;386;p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8"/>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a:t>
            </a:r>
            <a:endParaRPr/>
          </a:p>
        </p:txBody>
      </p:sp>
      <p:sp>
        <p:nvSpPr>
          <p:cNvPr id="392" name="Google Shape;392;p8"/>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30000"/>
              </a:lnSpc>
              <a:spcBef>
                <a:spcPts val="0"/>
              </a:spcBef>
              <a:spcAft>
                <a:spcPts val="0"/>
              </a:spcAft>
              <a:buClr>
                <a:schemeClr val="dk1"/>
              </a:buClr>
              <a:buSzPct val="100000"/>
              <a:buChar char="•"/>
            </a:pPr>
            <a:r>
              <a:rPr lang="en-US"/>
              <a:t>Chương 1. Giới thiệu tổng quan về máy tính và lập trình </a:t>
            </a:r>
            <a:endParaRPr/>
          </a:p>
          <a:p>
            <a:pPr indent="-228600" lvl="0" marL="228600" rtl="0" algn="just">
              <a:lnSpc>
                <a:spcPct val="130000"/>
              </a:lnSpc>
              <a:spcBef>
                <a:spcPts val="600"/>
              </a:spcBef>
              <a:spcAft>
                <a:spcPts val="0"/>
              </a:spcAft>
              <a:buClr>
                <a:schemeClr val="dk1"/>
              </a:buClr>
              <a:buSzPct val="100000"/>
              <a:buChar char="•"/>
            </a:pPr>
            <a:r>
              <a:rPr lang="en-US"/>
              <a:t>Chương 2. Giới thiệu về Thuật toán</a:t>
            </a:r>
            <a:endParaRPr/>
          </a:p>
          <a:p>
            <a:pPr indent="-228600" lvl="0" marL="228600" rtl="0" algn="just">
              <a:lnSpc>
                <a:spcPct val="130000"/>
              </a:lnSpc>
              <a:spcBef>
                <a:spcPts val="600"/>
              </a:spcBef>
              <a:spcAft>
                <a:spcPts val="0"/>
              </a:spcAft>
              <a:buClr>
                <a:schemeClr val="dk1"/>
              </a:buClr>
              <a:buSzPct val="100000"/>
              <a:buChar char="•"/>
            </a:pPr>
            <a:r>
              <a:rPr lang="en-US"/>
              <a:t>Chương 3. Các kiểu dữ liệu cơ sở và phép toán trong C++</a:t>
            </a:r>
            <a:endParaRPr/>
          </a:p>
          <a:p>
            <a:pPr indent="-228600" lvl="0" marL="228600" rtl="0" algn="just">
              <a:lnSpc>
                <a:spcPct val="130000"/>
              </a:lnSpc>
              <a:spcBef>
                <a:spcPts val="600"/>
              </a:spcBef>
              <a:spcAft>
                <a:spcPts val="0"/>
              </a:spcAft>
              <a:buClr>
                <a:schemeClr val="dk1"/>
              </a:buClr>
              <a:buSzPct val="100000"/>
              <a:buChar char="•"/>
            </a:pPr>
            <a:r>
              <a:rPr lang="en-US"/>
              <a:t>Chương 4. Các cấu trúc điều khiển</a:t>
            </a:r>
            <a:endParaRPr/>
          </a:p>
          <a:p>
            <a:pPr indent="-228600" lvl="0" marL="228600" rtl="0" algn="just">
              <a:lnSpc>
                <a:spcPct val="130000"/>
              </a:lnSpc>
              <a:spcBef>
                <a:spcPts val="600"/>
              </a:spcBef>
              <a:spcAft>
                <a:spcPts val="0"/>
              </a:spcAft>
              <a:buClr>
                <a:schemeClr val="dk1"/>
              </a:buClr>
              <a:buSzPct val="100000"/>
              <a:buChar char="•"/>
            </a:pPr>
            <a:r>
              <a:rPr lang="en-US"/>
              <a:t>Chương 5. Hàm và tham số của hàm </a:t>
            </a:r>
            <a:endParaRPr/>
          </a:p>
          <a:p>
            <a:pPr indent="-228600" lvl="0" marL="228600" rtl="0" algn="just">
              <a:lnSpc>
                <a:spcPct val="130000"/>
              </a:lnSpc>
              <a:spcBef>
                <a:spcPts val="600"/>
              </a:spcBef>
              <a:spcAft>
                <a:spcPts val="0"/>
              </a:spcAft>
              <a:buClr>
                <a:schemeClr val="dk1"/>
              </a:buClr>
              <a:buSzPct val="100000"/>
              <a:buChar char="•"/>
            </a:pPr>
            <a:r>
              <a:rPr lang="en-US"/>
              <a:t>Chương 6. Hàm Đệ quy</a:t>
            </a:r>
            <a:endParaRPr/>
          </a:p>
          <a:p>
            <a:pPr indent="-228600" lvl="0" marL="228600" rtl="0" algn="just">
              <a:lnSpc>
                <a:spcPct val="130000"/>
              </a:lnSpc>
              <a:spcBef>
                <a:spcPts val="600"/>
              </a:spcBef>
              <a:spcAft>
                <a:spcPts val="0"/>
              </a:spcAft>
              <a:buClr>
                <a:schemeClr val="dk1"/>
              </a:buClr>
              <a:buSzPct val="100000"/>
              <a:buChar char="•"/>
            </a:pPr>
            <a:r>
              <a:rPr lang="en-US"/>
              <a:t>Chương 7. Mảng</a:t>
            </a:r>
            <a:endParaRPr/>
          </a:p>
          <a:p>
            <a:pPr indent="-228600" lvl="0" marL="228600" rtl="0" algn="just">
              <a:lnSpc>
                <a:spcPct val="130000"/>
              </a:lnSpc>
              <a:spcBef>
                <a:spcPts val="600"/>
              </a:spcBef>
              <a:spcAft>
                <a:spcPts val="0"/>
              </a:spcAft>
              <a:buClr>
                <a:schemeClr val="dk1"/>
              </a:buClr>
              <a:buSzPct val="100000"/>
              <a:buChar char="•"/>
            </a:pPr>
            <a:r>
              <a:rPr lang="en-US"/>
              <a:t>Chương 8. Con trỏ</a:t>
            </a:r>
            <a:endParaRPr/>
          </a:p>
          <a:p>
            <a:pPr indent="-228600" lvl="0" marL="228600" rtl="0" algn="just">
              <a:lnSpc>
                <a:spcPct val="130000"/>
              </a:lnSpc>
              <a:spcBef>
                <a:spcPts val="600"/>
              </a:spcBef>
              <a:spcAft>
                <a:spcPts val="0"/>
              </a:spcAft>
              <a:buClr>
                <a:schemeClr val="dk1"/>
              </a:buClr>
              <a:buSzPct val="100000"/>
              <a:buChar char="•"/>
            </a:pPr>
            <a:r>
              <a:rPr lang="en-US"/>
              <a:t>Chương 9. Cấu trúc</a:t>
            </a:r>
            <a:endParaRPr/>
          </a:p>
        </p:txBody>
      </p:sp>
      <p:sp>
        <p:nvSpPr>
          <p:cNvPr id="393" name="Google Shape;393;p8"/>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394" name="Google Shape;394;p8"/>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395" name="Google Shape;395;p8"/>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9"/>
          <p:cNvSpPr txBox="1"/>
          <p:nvPr>
            <p:ph idx="1" type="body"/>
          </p:nvPr>
        </p:nvSpPr>
        <p:spPr>
          <a:xfrm>
            <a:off x="583644" y="981284"/>
            <a:ext cx="6021183" cy="5527073"/>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400"/>
              <a:buNone/>
            </a:pPr>
            <a:r>
              <a:rPr b="1" lang="en-US" sz="1400">
                <a:latin typeface="Times New Roman"/>
                <a:ea typeface="Times New Roman"/>
                <a:cs typeface="Times New Roman"/>
                <a:sym typeface="Times New Roman"/>
              </a:rPr>
              <a:t>CHƯƠNG 1: GIỚI THIỆU TỔNG QUAN VỀ MÁY TÍNH VÀ LẬP TRÌNH</a:t>
            </a:r>
            <a:endParaRPr b="1" sz="14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 Tổng quan về máy tính</a:t>
            </a:r>
            <a:endParaRPr sz="14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1.1.1 Máy tính là gì?</a:t>
            </a:r>
            <a:endParaRPr sz="14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1.1.2 Xử lý thông tin trên máy tính</a:t>
            </a:r>
            <a:endParaRPr sz="14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1.1.3 Phần cứng máy tính</a:t>
            </a:r>
            <a:endParaRPr sz="14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1.1.4 Phần mềm máy tính</a:t>
            </a:r>
            <a:endParaRPr sz="14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1.1.5 Biểu diễn và đo lường thông tin</a:t>
            </a:r>
            <a:endParaRPr sz="14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1.2 Các khái niệm cơ bản về lập trình</a:t>
            </a:r>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1.2.1 Chương trình máy tính</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1.2.2 Lập trình máy tính, lập trình viên</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1.2.3 Mã nguồn, mã máy</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1.2.4 Ngôn ngữ lập trình</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1.2.5 Chương trình dịch: Trình biên dịch, trình thông dịch</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1.3 Giới thiệu sơ lược về ngôn ngữ lập trình</a:t>
            </a:r>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1.3.1 Vai trò của Ngôn ngữ lập trình</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1.3.2 Ngôn ngữ lập trình cấp thấp</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1.3.3 Ngôn ngữ lập trình cấp cao</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1.3.4 Các ngôn ngữ lập trình thông dụng</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1.4 Giới thiệu ngôn ngữ lập trình C++</a:t>
            </a:r>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1.4.1 Giới thiệu tổng quan về ngôn ngữ C++ </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1.4.2 Các ưu điểm và ứng dụng của C++</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1.4.3 Môi trường, công cụ hỗ trợ lập trình C++</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1.4.4 Biên dịch chương trình C++ </a:t>
            </a:r>
            <a:endParaRPr sz="14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1.4.5 Một số ví dụ minh họa chương trình C++</a:t>
            </a:r>
            <a:endParaRPr/>
          </a:p>
          <a:p>
            <a:pPr indent="0" lvl="0" marL="0" rtl="0" algn="just">
              <a:lnSpc>
                <a:spcPct val="100000"/>
              </a:lnSpc>
              <a:spcBef>
                <a:spcPts val="300"/>
              </a:spcBef>
              <a:spcAft>
                <a:spcPts val="0"/>
              </a:spcAft>
              <a:buClr>
                <a:schemeClr val="dk1"/>
              </a:buClr>
              <a:buSzPts val="1400"/>
              <a:buNone/>
            </a:pPr>
            <a:r>
              <a:t/>
            </a:r>
            <a:endParaRPr sz="1400"/>
          </a:p>
        </p:txBody>
      </p:sp>
      <p:sp>
        <p:nvSpPr>
          <p:cNvPr id="401" name="Google Shape;401;p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02" name="Google Shape;402;p9"/>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03" name="Google Shape;403;p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04" name="Google Shape;404;p9"/>
          <p:cNvSpPr txBox="1"/>
          <p:nvPr>
            <p:ph idx="2" type="body"/>
          </p:nvPr>
        </p:nvSpPr>
        <p:spPr>
          <a:xfrm>
            <a:off x="6694724" y="981284"/>
            <a:ext cx="5202000" cy="5527073"/>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1"/>
              </a:buClr>
              <a:buSzPts val="1400"/>
              <a:buNone/>
            </a:pPr>
            <a:r>
              <a:rPr b="1" lang="en-US" sz="1400">
                <a:latin typeface="Times New Roman"/>
                <a:ea typeface="Times New Roman"/>
                <a:cs typeface="Times New Roman"/>
                <a:sym typeface="Times New Roman"/>
              </a:rPr>
              <a:t>CHƯƠNG 2: </a:t>
            </a:r>
            <a:r>
              <a:rPr b="1" lang="en-US" sz="1400">
                <a:solidFill>
                  <a:srgbClr val="000000"/>
                </a:solidFill>
                <a:highlight>
                  <a:srgbClr val="FFFFFF"/>
                </a:highlight>
                <a:latin typeface="Times New Roman"/>
                <a:ea typeface="Times New Roman"/>
                <a:cs typeface="Times New Roman"/>
                <a:sym typeface="Times New Roman"/>
              </a:rPr>
              <a:t>GIỚI THIỆU VỀ THUẬT TOÁN</a:t>
            </a:r>
            <a:endParaRPr b="1" sz="14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2.1 Khái niệm về vấn đề/ bài toán</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2.2 Các bước giải quyết vấn đề/ bài toán bằng máy tính</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2.3 Khái niệm về thuật toán</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2.4 Các tiêu chuẩn của thuật toán</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2.5 Các phương pháp biểu diễn thuật toán </a:t>
            </a:r>
            <a:endParaRPr sz="1400">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2.5.1 Dùng ngôn ngữ tự nhiên</a:t>
            </a:r>
            <a:endParaRPr sz="14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2.5.2 Dùng lưu đồ - sơ đồ khối (Flowchart)</a:t>
            </a:r>
            <a:endParaRPr sz="14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2.5.3 Dùng mã giả (Pseudo code) </a:t>
            </a:r>
            <a:endParaRPr sz="14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400"/>
              <a:buNone/>
            </a:pPr>
            <a:r>
              <a:rPr lang="en-US" sz="1400">
                <a:solidFill>
                  <a:srgbClr val="0D0D0D"/>
                </a:solidFill>
                <a:latin typeface="Times New Roman"/>
                <a:ea typeface="Times New Roman"/>
                <a:cs typeface="Times New Roman"/>
                <a:sym typeface="Times New Roman"/>
              </a:rPr>
              <a:t>2.5.4 Dùng ngôn ngữ lập trình</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2.6 Độ phức tạp thuật toán</a:t>
            </a:r>
            <a:endParaRPr/>
          </a:p>
          <a:p>
            <a:pPr indent="0" lvl="0" marL="4572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	2.6.1 Tiêu chí lựa chọn thuật toán</a:t>
            </a:r>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2.6.2 Đánh giá thuật toán bằng phương pháp thực nghiệm</a:t>
            </a:r>
            <a:endParaRPr/>
          </a:p>
          <a:p>
            <a:pPr indent="0" lvl="0" marL="914400" marR="0" rtl="0" algn="just">
              <a:lnSpc>
                <a:spcPct val="100000"/>
              </a:lnSpc>
              <a:spcBef>
                <a:spcPts val="0"/>
              </a:spcBef>
              <a:spcAft>
                <a:spcPts val="0"/>
              </a:spcAft>
              <a:buClr>
                <a:schemeClr val="dk1"/>
              </a:buClr>
              <a:buSzPts val="1400"/>
              <a:buNone/>
            </a:pPr>
            <a:r>
              <a:rPr lang="en-US" sz="1400">
                <a:latin typeface="Times New Roman"/>
                <a:ea typeface="Times New Roman"/>
                <a:cs typeface="Times New Roman"/>
                <a:sym typeface="Times New Roman"/>
              </a:rPr>
              <a:t>2.6.3 Đánh giá thuật toán bằng phương pháp xấp xỉ toán học</a:t>
            </a:r>
            <a:endParaRPr sz="1400"/>
          </a:p>
        </p:txBody>
      </p:sp>
      <p:sp>
        <p:nvSpPr>
          <p:cNvPr id="405" name="Google Shape;405;p9"/>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0"/>
          <p:cNvSpPr txBox="1"/>
          <p:nvPr>
            <p:ph idx="1" type="body"/>
          </p:nvPr>
        </p:nvSpPr>
        <p:spPr>
          <a:xfrm>
            <a:off x="774144" y="1224300"/>
            <a:ext cx="5202000" cy="524713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500"/>
              <a:buNone/>
            </a:pPr>
            <a:r>
              <a:rPr b="1" lang="en-US" sz="1500">
                <a:latin typeface="Times New Roman"/>
                <a:ea typeface="Times New Roman"/>
                <a:cs typeface="Times New Roman"/>
                <a:sym typeface="Times New Roman"/>
              </a:rPr>
              <a:t>CHƯƠNG 3: CÁC KIỂU DỮ LIỆU CƠ SỞ, CÁC PHÉP TOÁN VÀ NHẬP XUẤT TRONG C++</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3.1 Cấu trúc chương trình C++</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3.2 Bộ từ vựng (keywords) trong C++</a:t>
            </a:r>
            <a:endParaRPr sz="1500">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3.2.1 Ký tự (Character)</a:t>
            </a:r>
            <a:endParaRPr sz="15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3.2.2 Từ khóa (Keyword)</a:t>
            </a:r>
            <a:endParaRPr sz="15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3.2.3 Dấu chấm phẩy</a:t>
            </a:r>
            <a:endParaRPr sz="15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3.2.4 Tên/ Định danh (Name/Indetifier)</a:t>
            </a:r>
            <a:endParaRPr sz="1500">
              <a:solidFill>
                <a:srgbClr val="0D0D0D"/>
              </a:solidFill>
              <a:latin typeface="Times New Roman"/>
              <a:ea typeface="Times New Roman"/>
              <a:cs typeface="Times New Roman"/>
              <a:sym typeface="Times New Roman"/>
            </a:endParaRPr>
          </a:p>
          <a:p>
            <a:pPr indent="0" lvl="0" marL="13716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3.2.5 Câu chú thích (Comment)</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 Các kiểu dữ liệu cơ sở (Fundamental data types)</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	3.3.1 Kiểu ký tự (Character types)</a:t>
            </a:r>
            <a:endParaRPr sz="15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3.3.2 Kiểu số nguyên (Numerical Integer types)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3.3.3 Kiểu số thực (Floating-point types)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3.3.4 Kiểu luận lý/logic (Boolean type)</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3.3.5 Kiểu void (void type)</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3.3.6 Kiểu nullptr (C++11)</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3.3.7 Từ khoá typedef</a:t>
            </a:r>
            <a:endParaRPr sz="15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3.3.8 Một số hàm hữu ích</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3.4 Biến (Variable) </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3.5 Hằng (Constant)</a:t>
            </a:r>
            <a:endParaRPr/>
          </a:p>
          <a:p>
            <a:pPr indent="0" lvl="0" marL="457200" marR="0" rtl="0" algn="just">
              <a:lnSpc>
                <a:spcPct val="100000"/>
              </a:lnSpc>
              <a:spcBef>
                <a:spcPts val="0"/>
              </a:spcBef>
              <a:spcAft>
                <a:spcPts val="0"/>
              </a:spcAft>
              <a:buClr>
                <a:schemeClr val="dk1"/>
              </a:buClr>
              <a:buSzPts val="1500"/>
              <a:buNone/>
            </a:pPr>
            <a:r>
              <a:t/>
            </a:r>
            <a:endParaRPr sz="1500"/>
          </a:p>
        </p:txBody>
      </p:sp>
      <p:sp>
        <p:nvSpPr>
          <p:cNvPr id="411" name="Google Shape;411;p1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12" name="Google Shape;412;p10"/>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13" name="Google Shape;413;p1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14" name="Google Shape;414;p10"/>
          <p:cNvSpPr txBox="1"/>
          <p:nvPr>
            <p:ph idx="2" type="body"/>
          </p:nvPr>
        </p:nvSpPr>
        <p:spPr>
          <a:xfrm>
            <a:off x="6151800" y="1218965"/>
            <a:ext cx="5202000" cy="524713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 Các phép toán (Operator)</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	3.6.1 Toán tử gán - Assignment Operators</a:t>
            </a:r>
            <a:endParaRPr sz="15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3.6.2 Toán tử toán học - Arithmetic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3.6.3 Toán tử tăng giảm - Increment Operator and Decrement Operator</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3.6.4 Toán tử phẩy - Comma Operator</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3.6.5 Toán tử kết hợp - Compound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3.6.6 Toán tử bit - Bitwise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3.6.7 Toán tử điều kiện - Conditional ternary Operator</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3.6.8 Toán tử quan hệ - Relational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3.6.9 Toán tử luận lý - Logical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3.6.10 Toán tử sizeof - sizeof Operators</a:t>
            </a:r>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3.6.11 Tên gọi toán tử thay thế</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3.7 Biểu thức và độ ưu tiên toán tử</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	3.7.1 Biểu thức</a:t>
            </a:r>
            <a:endParaRPr sz="1500">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3.7.2 Độ ưu tiên toán tử</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3.8 Nhập xuất dữ liệu</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3.8.1 Thư viện nhập xuất</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3.8.2 Câu lệnh xuất</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3.8.3 Câu lệnh nhập</a:t>
            </a:r>
            <a:endParaRPr/>
          </a:p>
          <a:p>
            <a:pPr indent="0" lvl="0" marL="914400" marR="0" rtl="0" algn="just">
              <a:lnSpc>
                <a:spcPct val="100000"/>
              </a:lnSpc>
              <a:spcBef>
                <a:spcPts val="200"/>
              </a:spcBef>
              <a:spcAft>
                <a:spcPts val="0"/>
              </a:spcAft>
              <a:buClr>
                <a:schemeClr val="dk1"/>
              </a:buClr>
              <a:buSzPts val="1500"/>
              <a:buNone/>
            </a:pPr>
            <a:r>
              <a:rPr lang="en-US" sz="1500">
                <a:latin typeface="Times New Roman"/>
                <a:ea typeface="Times New Roman"/>
                <a:cs typeface="Times New Roman"/>
                <a:sym typeface="Times New Roman"/>
              </a:rPr>
              <a:t>3.8.4 Hàm xóa bộ nhớ đệm</a:t>
            </a:r>
            <a:endParaRPr sz="1500"/>
          </a:p>
        </p:txBody>
      </p:sp>
      <p:sp>
        <p:nvSpPr>
          <p:cNvPr id="415" name="Google Shape;415;p10"/>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1"/>
          <p:cNvSpPr txBox="1"/>
          <p:nvPr>
            <p:ph idx="1" type="body"/>
          </p:nvPr>
        </p:nvSpPr>
        <p:spPr>
          <a:xfrm>
            <a:off x="774144" y="1233825"/>
            <a:ext cx="5202000" cy="4943139"/>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CHƯƠNG 4: CÁC CẤU TRÚC ĐIỀU KHIỂN</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4.1 Khái niệm câu lệnh và khối lệnh</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4.2 Phạm vi hoạt động của biến</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4.3 Giới thiệu về cấu trúc điều khiển</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4.4 Cấu trúc rẽ nhánh if, if-else</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4.5 Cấu trúc rẽ nhánh switch-case</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4.6 Cấu trúc vòng lặp for</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4.7 Cấu trúc vòng lặp while</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4.8 Cấu trúc vòng lặp do-while</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4.9 Lệnh break, continue, goto, return</a:t>
            </a:r>
            <a:endParaRPr/>
          </a:p>
          <a:p>
            <a:pPr indent="0" lvl="0" marL="0" rtl="0" algn="just">
              <a:lnSpc>
                <a:spcPct val="130000"/>
              </a:lnSpc>
              <a:spcBef>
                <a:spcPts val="300"/>
              </a:spcBef>
              <a:spcAft>
                <a:spcPts val="0"/>
              </a:spcAft>
              <a:buClr>
                <a:schemeClr val="dk1"/>
              </a:buClr>
              <a:buSzPts val="2800"/>
              <a:buNone/>
            </a:pPr>
            <a:r>
              <a:t/>
            </a:r>
            <a:endParaRPr/>
          </a:p>
        </p:txBody>
      </p:sp>
      <p:sp>
        <p:nvSpPr>
          <p:cNvPr id="421" name="Google Shape;421;p1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22" name="Google Shape;422;p11"/>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23" name="Google Shape;423;p1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24" name="Google Shape;424;p11"/>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
        <p:nvSpPr>
          <p:cNvPr id="425" name="Google Shape;425;p11"/>
          <p:cNvSpPr txBox="1"/>
          <p:nvPr>
            <p:ph idx="2" type="body"/>
          </p:nvPr>
        </p:nvSpPr>
        <p:spPr>
          <a:xfrm>
            <a:off x="6151800" y="1228490"/>
            <a:ext cx="5202000" cy="4943139"/>
          </a:xfrm>
          <a:prstGeom prst="rect">
            <a:avLst/>
          </a:prstGeom>
          <a:noFill/>
          <a:ln>
            <a:noFill/>
          </a:ln>
        </p:spPr>
        <p:txBody>
          <a:bodyPr anchorCtr="0" anchor="t" bIns="45700" lIns="91425" spcFirstLastPara="1" rIns="91425" wrap="square" tIns="45700">
            <a:normAutofit/>
          </a:bodyPr>
          <a:lstStyle/>
          <a:p>
            <a:pPr indent="-50800" lvl="0" marL="228600" rtl="0" algn="just">
              <a:lnSpc>
                <a:spcPct val="130000"/>
              </a:lnSpc>
              <a:spcBef>
                <a:spcPts val="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2"/>
          <p:cNvSpPr txBox="1"/>
          <p:nvPr>
            <p:ph idx="1" type="body"/>
          </p:nvPr>
        </p:nvSpPr>
        <p:spPr>
          <a:xfrm>
            <a:off x="631268" y="1233825"/>
            <a:ext cx="6350557" cy="5166975"/>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500"/>
              <a:buNone/>
            </a:pPr>
            <a:r>
              <a:rPr b="1" lang="en-US" sz="1500">
                <a:latin typeface="Times New Roman"/>
                <a:ea typeface="Times New Roman"/>
                <a:cs typeface="Times New Roman"/>
                <a:sym typeface="Times New Roman"/>
              </a:rPr>
              <a:t>CHƯƠNG 5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5.1 Đặt vấn đề</a:t>
            </a:r>
            <a:endParaRPr sz="15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5.2 Khái niệm hàm và lợi ích của việc sử dụng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5.3 Định nghĩa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5.4 Khai báo hàm, nguyên mẫu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5.5 Khai báo hàm trùng tên</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5.6 Lời gọi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5.7 Phạm vi hoạt động của biến trong hàm</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5.8 Tham số, đối số của hàm </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5.8.1 Khái niệm Tham số, Đối số</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5.8.2 Tham số mặc định (Default Parameter)</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5.8.3 Truyền đối số theo giá trị (Pass by Value)</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5.8.4 Truyền đối số theo tham chiếu (Pass by Reference)</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5.8.5 Truyền đối số theo con trỏ (Pass by Pointer) </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5.8.6 Truyền đối số hằng theo tham chiếu (Pass by Const Reference)</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5.9 Giá trị trả về của hàm</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5.9.1 Hàm trả về giá trị</a:t>
            </a:r>
            <a:endParaRPr sz="15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5.9.2 Hàm trả về void</a:t>
            </a:r>
            <a:endParaRPr sz="15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5.9.3 Hàm trả về tham chiếu</a:t>
            </a:r>
            <a:endParaRPr sz="15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5.9.4 Hàm trả về địa chỉ</a:t>
            </a:r>
            <a:endParaRPr sz="15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chemeClr val="dk1"/>
              </a:buClr>
              <a:buSzPts val="1500"/>
              <a:buNone/>
            </a:pPr>
            <a:r>
              <a:rPr lang="en-US" sz="1500">
                <a:latin typeface="Times New Roman"/>
                <a:ea typeface="Times New Roman"/>
                <a:cs typeface="Times New Roman"/>
                <a:sym typeface="Times New Roman"/>
              </a:rPr>
              <a:t>5.9.5 Giá trị trả về trong hàm main</a:t>
            </a:r>
            <a:endParaRPr sz="1500"/>
          </a:p>
        </p:txBody>
      </p:sp>
      <p:sp>
        <p:nvSpPr>
          <p:cNvPr id="431" name="Google Shape;431;p1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32" name="Google Shape;432;p12"/>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33" name="Google Shape;433;p12"/>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34" name="Google Shape;434;p12"/>
          <p:cNvSpPr txBox="1"/>
          <p:nvPr>
            <p:ph idx="2" type="body"/>
          </p:nvPr>
        </p:nvSpPr>
        <p:spPr>
          <a:xfrm>
            <a:off x="7077075" y="1247541"/>
            <a:ext cx="4800600" cy="515326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1"/>
              </a:buClr>
              <a:buSzPts val="1500"/>
              <a:buNone/>
            </a:pPr>
            <a:r>
              <a:rPr b="1" lang="en-US" sz="1500">
                <a:latin typeface="Times New Roman"/>
                <a:ea typeface="Times New Roman"/>
                <a:cs typeface="Times New Roman"/>
                <a:sym typeface="Times New Roman"/>
              </a:rPr>
              <a:t>CHƯƠNG 6: HÀM ĐỆ QUY</a:t>
            </a:r>
            <a:endParaRPr b="1" sz="15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6.1 Khái niệm đệ quy</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6.2 Khái niệm và Cấu trúc hàm đệ quy</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6.3 Các loại đệ quy</a:t>
            </a:r>
            <a:endParaRPr sz="1500">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6.3.1 Đệ quy tuyến tính</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6.3.2 Đệ quy nhị phân</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6.3.3 Đệ quy phi tuyến</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6.3.4 Đệ quy hỗ tương</a:t>
            </a:r>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6.4 Các bước xây dựng hàm đệ quy</a:t>
            </a:r>
            <a:endParaRPr sz="15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6.5 Nguyên tắc hoạt động của hàm đệ quy</a:t>
            </a:r>
            <a:endParaRPr sz="15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6.6 Ví dụ các bài toán đệ quy cơ bản</a:t>
            </a:r>
            <a:endParaRPr sz="15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500"/>
              <a:buNone/>
            </a:pPr>
            <a:r>
              <a:rPr lang="en-US" sz="1500">
                <a:latin typeface="Times New Roman"/>
                <a:ea typeface="Times New Roman"/>
                <a:cs typeface="Times New Roman"/>
                <a:sym typeface="Times New Roman"/>
              </a:rPr>
              <a:t>6.7 Các vấn đề đệ quy thông dụng</a:t>
            </a:r>
            <a:endParaRPr sz="1500">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6.6.1 Hệ thức truy hồi</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6.6.2 Chia để trị</a:t>
            </a:r>
            <a:endParaRPr/>
          </a:p>
          <a:p>
            <a:pPr indent="0" lvl="0" marL="914400" marR="0" rtl="0" algn="just">
              <a:lnSpc>
                <a:spcPct val="10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6.6.3 Lần ngược</a:t>
            </a:r>
            <a:endParaRPr/>
          </a:p>
          <a:p>
            <a:pPr indent="0" lvl="0" marL="457200" rtl="0" algn="just">
              <a:lnSpc>
                <a:spcPct val="100000"/>
              </a:lnSpc>
              <a:spcBef>
                <a:spcPts val="300"/>
              </a:spcBef>
              <a:spcAft>
                <a:spcPts val="0"/>
              </a:spcAft>
              <a:buClr>
                <a:schemeClr val="dk1"/>
              </a:buClr>
              <a:buSzPts val="1500"/>
              <a:buNone/>
            </a:pPr>
            <a:r>
              <a:rPr lang="en-US" sz="1500">
                <a:latin typeface="Times New Roman"/>
                <a:ea typeface="Times New Roman"/>
                <a:cs typeface="Times New Roman"/>
                <a:sym typeface="Times New Roman"/>
              </a:rPr>
              <a:t>6.8 Ưu điểm và khuyết điểm của phương pháp đệ quy</a:t>
            </a:r>
            <a:endParaRPr sz="1500"/>
          </a:p>
        </p:txBody>
      </p:sp>
      <p:sp>
        <p:nvSpPr>
          <p:cNvPr id="435" name="Google Shape;435;p12"/>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3"/>
          <p:cNvSpPr txBox="1"/>
          <p:nvPr>
            <p:ph idx="1" type="body"/>
          </p:nvPr>
        </p:nvSpPr>
        <p:spPr>
          <a:xfrm>
            <a:off x="774144" y="1233825"/>
            <a:ext cx="5202000" cy="511935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700"/>
              <a:buNone/>
            </a:pPr>
            <a:r>
              <a:rPr b="1" lang="en-US" sz="1700">
                <a:latin typeface="Times New Roman"/>
                <a:ea typeface="Times New Roman"/>
                <a:cs typeface="Times New Roman"/>
                <a:sym typeface="Times New Roman"/>
              </a:rPr>
              <a:t>CHƯƠNG 7: MẢNG</a:t>
            </a:r>
            <a:endParaRPr/>
          </a:p>
          <a:p>
            <a:pPr indent="0" lvl="0" marL="45720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7.1 Đặt vấn đề</a:t>
            </a:r>
            <a:endParaRPr/>
          </a:p>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7.2 Khái niệm mảng và lợi ích của mảng</a:t>
            </a:r>
            <a:endParaRPr/>
          </a:p>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7.3 Các yếu tố xác định mảng </a:t>
            </a:r>
            <a:endParaRPr/>
          </a:p>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7.4 Mảng một chiều</a:t>
            </a:r>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7.4.1 Khai báo và khởi tạo mảng 1 chiều</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7.4.2 Chỉ số mảng và truy xuất phần tử mảng</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7.4.3 Lấy kích thước mảng dùng toán tử sizeof</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7.4.4 Lấy địa chỉ các phần tử mảng  </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7.4.5 Phép Gán dữ liệu kiểu mảng</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7.4.6 Truyền mảng cho hàm và lời gọi hàm</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7.4.7 Một số tác vụ trên mảng 1 chiều</a:t>
            </a:r>
            <a:endParaRPr sz="1700">
              <a:solidFill>
                <a:srgbClr val="0D0D0D"/>
              </a:solidFill>
              <a:latin typeface="Times New Roman"/>
              <a:ea typeface="Times New Roman"/>
              <a:cs typeface="Times New Roman"/>
              <a:sym typeface="Times New Roman"/>
            </a:endParaRPr>
          </a:p>
        </p:txBody>
      </p:sp>
      <p:sp>
        <p:nvSpPr>
          <p:cNvPr id="441" name="Google Shape;441;p1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42" name="Google Shape;442;p1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43" name="Google Shape;443;p1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44" name="Google Shape;444;p13"/>
          <p:cNvSpPr txBox="1"/>
          <p:nvPr>
            <p:ph idx="2" type="body"/>
          </p:nvPr>
        </p:nvSpPr>
        <p:spPr>
          <a:xfrm>
            <a:off x="6151800" y="1228490"/>
            <a:ext cx="5640150" cy="511935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7.5. Mảng hai chiều</a:t>
            </a:r>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7.5.1 Khai báo và khởi tạo mảng 2 chiều</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7.5.2 Chỉ số mảng và truy xuất phần tử mảng</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7.5.3 Lấy kích thước mảng dùng toán tử sizeof</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7.5.4 Lấy địa chỉ các phần tử mảng</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7.5.5 Phép Gán dữ liệu kiểu mảng</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7.5.6 Một số khái niệm liên quan</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7.5.7 Truyền mảng cho hàm và lời gọi hàm</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7.5.8 Các tác vụ trên mảng 2 chiều</a:t>
            </a:r>
            <a:endParaRPr sz="1700">
              <a:solidFill>
                <a:srgbClr val="0D0D0D"/>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7.6 Mảng nhiều chiều</a:t>
            </a:r>
            <a:endParaRPr sz="17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chemeClr val="dk1"/>
              </a:buClr>
              <a:buSzPts val="1700"/>
              <a:buNone/>
            </a:pPr>
            <a:r>
              <a:rPr lang="en-US" sz="1700">
                <a:latin typeface="Times New Roman"/>
                <a:ea typeface="Times New Roman"/>
                <a:cs typeface="Times New Roman"/>
                <a:sym typeface="Times New Roman"/>
              </a:rPr>
              <a:t>7.7 Chuỗi C-String</a:t>
            </a:r>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7.7.1 Khái niệm chuỗi</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7.7.2 Khai báo, khởi tạo chuỗi </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7.7.3 Nhập xuất chuỗi </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7.7.4 Phép gán trên chuỗi </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7.7.5 Truyền chuỗi cho hàm và lời gọi hàm</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7.7.6 Một số tháo tác trên chuỗi</a:t>
            </a:r>
            <a:endParaRPr sz="1700">
              <a:solidFill>
                <a:srgbClr val="0D0D0D"/>
              </a:solidFill>
              <a:latin typeface="Times New Roman"/>
              <a:ea typeface="Times New Roman"/>
              <a:cs typeface="Times New Roman"/>
              <a:sym typeface="Times New Roman"/>
            </a:endParaRPr>
          </a:p>
          <a:p>
            <a:pPr indent="0" lvl="0" marL="914400" marR="0" rtl="0" algn="just">
              <a:lnSpc>
                <a:spcPct val="100000"/>
              </a:lnSpc>
              <a:spcBef>
                <a:spcPts val="200"/>
              </a:spcBef>
              <a:spcAft>
                <a:spcPts val="0"/>
              </a:spcAft>
              <a:buClr>
                <a:srgbClr val="0D0D0D"/>
              </a:buClr>
              <a:buSzPts val="1700"/>
              <a:buNone/>
            </a:pPr>
            <a:r>
              <a:rPr lang="en-US" sz="1700">
                <a:solidFill>
                  <a:srgbClr val="0D0D0D"/>
                </a:solidFill>
                <a:latin typeface="Times New Roman"/>
                <a:ea typeface="Times New Roman"/>
                <a:cs typeface="Times New Roman"/>
                <a:sym typeface="Times New Roman"/>
              </a:rPr>
              <a:t>7.7.7 Một số hàm thông dụng trong thư viện chuỗi</a:t>
            </a:r>
            <a:endParaRPr sz="1700">
              <a:solidFill>
                <a:srgbClr val="0D0D0D"/>
              </a:solidFill>
              <a:latin typeface="Times New Roman"/>
              <a:ea typeface="Times New Roman"/>
              <a:cs typeface="Times New Roman"/>
              <a:sym typeface="Times New Roman"/>
            </a:endParaRPr>
          </a:p>
          <a:p>
            <a:pPr indent="0" lvl="0" marL="0" rtl="0" algn="just">
              <a:lnSpc>
                <a:spcPct val="100000"/>
              </a:lnSpc>
              <a:spcBef>
                <a:spcPts val="300"/>
              </a:spcBef>
              <a:spcAft>
                <a:spcPts val="0"/>
              </a:spcAft>
              <a:buClr>
                <a:schemeClr val="dk1"/>
              </a:buClr>
              <a:buSzPts val="1700"/>
              <a:buNone/>
            </a:pPr>
            <a:r>
              <a:t/>
            </a:r>
            <a:endParaRPr sz="1700"/>
          </a:p>
        </p:txBody>
      </p:sp>
      <p:sp>
        <p:nvSpPr>
          <p:cNvPr id="445" name="Google Shape;445;p13"/>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4"/>
          <p:cNvSpPr txBox="1"/>
          <p:nvPr>
            <p:ph idx="1" type="body"/>
          </p:nvPr>
        </p:nvSpPr>
        <p:spPr>
          <a:xfrm>
            <a:off x="774144" y="1233825"/>
            <a:ext cx="5202000" cy="524713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chemeClr val="dk1"/>
              </a:buClr>
              <a:buSzPts val="1500"/>
              <a:buNone/>
            </a:pPr>
            <a:r>
              <a:rPr b="1" lang="en-US" sz="1500">
                <a:latin typeface="Times New Roman"/>
                <a:ea typeface="Times New Roman"/>
                <a:cs typeface="Times New Roman"/>
                <a:sym typeface="Times New Roman"/>
              </a:rPr>
              <a:t>CHƯƠNG 8: CON TRỎ</a:t>
            </a:r>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 Tổ chức quản lý lưu trữ trong bộ nhớ</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8.2 Khái niệm con trỏ</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8.3 Vai trò, tầm quan trọng của con trỏ</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8.4 Khai báo và khởi tạo biến con trỏ</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8.5 Các phép toán trên con trỏ</a:t>
            </a:r>
            <a:endParaRPr sz="1500">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8.5.1 Con trỏ và toán tử &amp;, *</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8.5.2 Toán tử sizeof</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8.5.3 Phép gán con trỏ</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8.5.4 Phép toán số học trên con trỏ</a:t>
            </a:r>
            <a:endParaRPr sz="1500">
              <a:solidFill>
                <a:srgbClr val="0D0D0D"/>
              </a:solidFill>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8.6 Con trỏ kiểu void</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8.7 Con trỏ nullptr</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8.8 Từ khóa const và con trỏ</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8.9 Con trỏ và mảng một chiều</a:t>
            </a:r>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8.9.1 Mảng 1 chiều và cách lấy địa chỉ</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8.9.2 Mảng 1 chiều và hằng con trỏ</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8.9.3 Truy xuất mảng 1 chiều sử dụng con trỏ</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8.9.4 Các phép toán số học của con trỏ trên mảng</a:t>
            </a:r>
            <a:endParaRPr sz="1500">
              <a:solidFill>
                <a:srgbClr val="0D0D0D"/>
              </a:solidFill>
              <a:latin typeface="Times New Roman"/>
              <a:ea typeface="Times New Roman"/>
              <a:cs typeface="Times New Roman"/>
              <a:sym typeface="Times New Roman"/>
            </a:endParaRPr>
          </a:p>
          <a:p>
            <a:pPr indent="-133350" lvl="0" marL="228600" rtl="0" algn="just">
              <a:lnSpc>
                <a:spcPct val="120000"/>
              </a:lnSpc>
              <a:spcBef>
                <a:spcPts val="300"/>
              </a:spcBef>
              <a:spcAft>
                <a:spcPts val="0"/>
              </a:spcAft>
              <a:buClr>
                <a:schemeClr val="dk1"/>
              </a:buClr>
              <a:buSzPts val="1500"/>
              <a:buNone/>
            </a:pPr>
            <a:r>
              <a:t/>
            </a:r>
            <a:endParaRPr sz="1500"/>
          </a:p>
        </p:txBody>
      </p:sp>
      <p:sp>
        <p:nvSpPr>
          <p:cNvPr id="451" name="Google Shape;451;p1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52" name="Google Shape;452;p1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53" name="Google Shape;453;p1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54" name="Google Shape;454;p14"/>
          <p:cNvSpPr txBox="1"/>
          <p:nvPr>
            <p:ph idx="2" type="body"/>
          </p:nvPr>
        </p:nvSpPr>
        <p:spPr>
          <a:xfrm>
            <a:off x="6151800" y="1228490"/>
            <a:ext cx="5202000" cy="5247130"/>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8.10 Con trỏ và mảng hai chiều</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8.11 Cấp phát và giải phóng ô nhớ</a:t>
            </a:r>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8.11.1 Quản lý bộ nhớ trong C++</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8.11.2 Cấp phát tĩnh, cấp phát động</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8.11.3 Biến cấp phát tĩnh và Biến cấp phát động</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8.11.4 Toán tử cấp phát động new</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8.11.5 Toán tử giải phóng ô nhớ delete</a:t>
            </a:r>
            <a:endParaRPr sz="1500">
              <a:solidFill>
                <a:srgbClr val="0D0D0D"/>
              </a:solidFill>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8.12 Mảng một chiều cấp phát động </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8.13 Con trỏ cấp phát động và chuỗi</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8.14 Mảng hai chiều cấp phát động </a:t>
            </a:r>
            <a:endParaRPr sz="1500">
              <a:latin typeface="Times New Roman"/>
              <a:ea typeface="Times New Roman"/>
              <a:cs typeface="Times New Roman"/>
              <a:sym typeface="Times New Roman"/>
            </a:endParaRPr>
          </a:p>
          <a:p>
            <a:pPr indent="0" lvl="0" marL="457200" marR="0" rtl="0" algn="just">
              <a:lnSpc>
                <a:spcPct val="120000"/>
              </a:lnSpc>
              <a:spcBef>
                <a:spcPts val="0"/>
              </a:spcBef>
              <a:spcAft>
                <a:spcPts val="0"/>
              </a:spcAft>
              <a:buClr>
                <a:schemeClr val="dk1"/>
              </a:buClr>
              <a:buSzPts val="1500"/>
              <a:buNone/>
            </a:pPr>
            <a:r>
              <a:rPr lang="en-US" sz="1500">
                <a:latin typeface="Times New Roman"/>
                <a:ea typeface="Times New Roman"/>
                <a:cs typeface="Times New Roman"/>
                <a:sym typeface="Times New Roman"/>
              </a:rPr>
              <a:t>8.15 Con trỏ và hàm số</a:t>
            </a:r>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8.15.1 Hàm truyền tham số là con trỏ</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8.15.2 Hàm truyền tham số là tham chiếu con trỏ </a:t>
            </a:r>
            <a:endParaRPr sz="1500">
              <a:solidFill>
                <a:srgbClr val="0D0D0D"/>
              </a:solidFill>
              <a:latin typeface="Times New Roman"/>
              <a:ea typeface="Times New Roman"/>
              <a:cs typeface="Times New Roman"/>
              <a:sym typeface="Times New Roman"/>
            </a:endParaRPr>
          </a:p>
          <a:p>
            <a:pPr indent="0" lvl="0" marL="914400" marR="0" rtl="0" algn="just">
              <a:lnSpc>
                <a:spcPct val="120000"/>
              </a:lnSpc>
              <a:spcBef>
                <a:spcPts val="200"/>
              </a:spcBef>
              <a:spcAft>
                <a:spcPts val="0"/>
              </a:spcAft>
              <a:buClr>
                <a:srgbClr val="0D0D0D"/>
              </a:buClr>
              <a:buSzPts val="1500"/>
              <a:buNone/>
            </a:pPr>
            <a:r>
              <a:rPr lang="en-US" sz="1500">
                <a:solidFill>
                  <a:srgbClr val="0D0D0D"/>
                </a:solidFill>
                <a:latin typeface="Times New Roman"/>
                <a:ea typeface="Times New Roman"/>
                <a:cs typeface="Times New Roman"/>
                <a:sym typeface="Times New Roman"/>
              </a:rPr>
              <a:t>8.15.3 Hàm trả về con trỏ cấp phát động</a:t>
            </a:r>
            <a:endParaRPr sz="1500">
              <a:solidFill>
                <a:srgbClr val="0D0D0D"/>
              </a:solidFill>
              <a:latin typeface="Times New Roman"/>
              <a:ea typeface="Times New Roman"/>
              <a:cs typeface="Times New Roman"/>
              <a:sym typeface="Times New Roman"/>
            </a:endParaRPr>
          </a:p>
          <a:p>
            <a:pPr indent="-133350" lvl="0" marL="228600" rtl="0" algn="just">
              <a:lnSpc>
                <a:spcPct val="120000"/>
              </a:lnSpc>
              <a:spcBef>
                <a:spcPts val="300"/>
              </a:spcBef>
              <a:spcAft>
                <a:spcPts val="0"/>
              </a:spcAft>
              <a:buClr>
                <a:schemeClr val="dk1"/>
              </a:buClr>
              <a:buSzPts val="1500"/>
              <a:buNone/>
            </a:pPr>
            <a:r>
              <a:t/>
            </a:r>
            <a:endParaRPr sz="1500"/>
          </a:p>
        </p:txBody>
      </p:sp>
      <p:sp>
        <p:nvSpPr>
          <p:cNvPr id="455" name="Google Shape;455;p14"/>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5"/>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5. Nội dung môn học (tt)</a:t>
            </a:r>
            <a:endParaRPr/>
          </a:p>
        </p:txBody>
      </p:sp>
      <p:sp>
        <p:nvSpPr>
          <p:cNvPr id="461" name="Google Shape;461;p15"/>
          <p:cNvSpPr txBox="1"/>
          <p:nvPr>
            <p:ph idx="1" type="body"/>
          </p:nvPr>
        </p:nvSpPr>
        <p:spPr>
          <a:xfrm>
            <a:off x="774145" y="1233824"/>
            <a:ext cx="6045755" cy="4943139"/>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CHƯƠNG 9: CẤU TRÚC</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9.1 Đặt vấn đề</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9.2 Khai báo và khởi tạo biến cấu trúc</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9.3 Kích thước của cấu trúc</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9.4 Truy xuất thuộc tính của kiểu cấu trúc</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9.5 Phép Gán dữ liệu kiểu cấu trúc</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9.6 Mảng cấu trúc, Cấu trúc phức hợp, Cấu trúc tự trỏ</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9.7 Kiểu hợp nhất union</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9.8 Cấu trúc và con trỏ</a:t>
            </a:r>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9.9 Truyền cấu trúc cho hàm</a:t>
            </a:r>
            <a:endParaRPr sz="1800">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9.10 Ví dụ minh họa</a:t>
            </a:r>
            <a:endParaRPr sz="1800">
              <a:latin typeface="Times New Roman"/>
              <a:ea typeface="Times New Roman"/>
              <a:cs typeface="Times New Roman"/>
              <a:sym typeface="Times New Roman"/>
            </a:endParaRPr>
          </a:p>
          <a:p>
            <a:pPr indent="-50800" lvl="0" marL="228600" rtl="0" algn="just">
              <a:lnSpc>
                <a:spcPct val="130000"/>
              </a:lnSpc>
              <a:spcBef>
                <a:spcPts val="300"/>
              </a:spcBef>
              <a:spcAft>
                <a:spcPts val="0"/>
              </a:spcAft>
              <a:buClr>
                <a:schemeClr val="dk1"/>
              </a:buClr>
              <a:buSzPts val="2800"/>
              <a:buNone/>
            </a:pPr>
            <a:r>
              <a:t/>
            </a:r>
            <a:endParaRPr/>
          </a:p>
        </p:txBody>
      </p:sp>
      <p:sp>
        <p:nvSpPr>
          <p:cNvPr id="462" name="Google Shape;462;p1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63" name="Google Shape;463;p15"/>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64" name="Google Shape;464;p1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6"/>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7. Nội dung Thực hành</a:t>
            </a:r>
            <a:endParaRPr/>
          </a:p>
        </p:txBody>
      </p:sp>
      <p:graphicFrame>
        <p:nvGraphicFramePr>
          <p:cNvPr id="470" name="Google Shape;470;p16"/>
          <p:cNvGraphicFramePr/>
          <p:nvPr/>
        </p:nvGraphicFramePr>
        <p:xfrm>
          <a:off x="556260" y="958666"/>
          <a:ext cx="3000000" cy="3000000"/>
        </p:xfrm>
        <a:graphic>
          <a:graphicData uri="http://schemas.openxmlformats.org/drawingml/2006/table">
            <a:tbl>
              <a:tblPr bandRow="1">
                <a:noFill/>
                <a:tableStyleId>{975D1963-0C52-4EAC-A566-8B83A437E4A1}</a:tableStyleId>
              </a:tblPr>
              <a:tblGrid>
                <a:gridCol w="1667275"/>
                <a:gridCol w="2450075"/>
                <a:gridCol w="3380150"/>
                <a:gridCol w="3947750"/>
              </a:tblGrid>
              <a:tr h="273875">
                <a:tc>
                  <a:txBody>
                    <a:bodyPr/>
                    <a:lstStyle/>
                    <a:p>
                      <a:pPr indent="0" lvl="0" marL="0" marR="0" rtl="0" algn="ctr">
                        <a:lnSpc>
                          <a:spcPct val="100000"/>
                        </a:lnSpc>
                        <a:spcBef>
                          <a:spcPts val="0"/>
                        </a:spcBef>
                        <a:spcAft>
                          <a:spcPts val="0"/>
                        </a:spcAft>
                        <a:buNone/>
                      </a:pPr>
                      <a:r>
                        <a:rPr b="1" lang="en-US" sz="1600" u="none" cap="none" strike="noStrike">
                          <a:solidFill>
                            <a:srgbClr val="141727"/>
                          </a:solidFill>
                          <a:latin typeface="Arial"/>
                          <a:ea typeface="Arial"/>
                          <a:cs typeface="Arial"/>
                          <a:sym typeface="Arial"/>
                        </a:rPr>
                        <a:t>Assignment </a:t>
                      </a:r>
                      <a:endParaRPr/>
                    </a:p>
                    <a:p>
                      <a:pPr indent="0" lvl="0" marL="0" marR="0" rtl="0" algn="ctr">
                        <a:lnSpc>
                          <a:spcPct val="100000"/>
                        </a:lnSpc>
                        <a:spcBef>
                          <a:spcPts val="600"/>
                        </a:spcBef>
                        <a:spcAft>
                          <a:spcPts val="0"/>
                        </a:spcAft>
                        <a:buNone/>
                      </a:pPr>
                      <a:r>
                        <a:rPr b="1" lang="en-US" sz="1600" u="none" cap="none" strike="noStrike">
                          <a:solidFill>
                            <a:srgbClr val="141727"/>
                          </a:solidFill>
                          <a:latin typeface="Arial"/>
                          <a:ea typeface="Arial"/>
                          <a:cs typeface="Arial"/>
                          <a:sym typeface="Arial"/>
                        </a:rPr>
                        <a:t>chủ đề</a:t>
                      </a:r>
                      <a:endParaRPr b="1" sz="1600" u="none" cap="none" strike="noStrike">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141727"/>
                          </a:solidFill>
                          <a:latin typeface="Arial"/>
                          <a:ea typeface="Arial"/>
                          <a:cs typeface="Arial"/>
                          <a:sym typeface="Arial"/>
                        </a:rPr>
                        <a:t>Các Assignment nhỏ tương ứng</a:t>
                      </a:r>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141727"/>
                          </a:solidFill>
                          <a:latin typeface="Arial"/>
                          <a:ea typeface="Arial"/>
                          <a:cs typeface="Arial"/>
                          <a:sym typeface="Arial"/>
                        </a:rPr>
                        <a:t>Nội dung</a:t>
                      </a:r>
                      <a:endParaRPr b="1" sz="1600" u="none" cap="none" strike="noStrike">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u="none" cap="none" strike="noStrike">
                          <a:solidFill>
                            <a:srgbClr val="141727"/>
                          </a:solidFill>
                          <a:latin typeface="Arial"/>
                          <a:ea typeface="Arial"/>
                          <a:cs typeface="Arial"/>
                          <a:sym typeface="Arial"/>
                        </a:rPr>
                        <a:t>Danh sách bài tập mẫu (có video)</a:t>
                      </a:r>
                      <a:endParaRPr b="1" sz="1600" u="none" cap="none" strike="noStrike">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8950">
                <a:tc>
                  <a:txBody>
                    <a:bodyPr/>
                    <a:lstStyle/>
                    <a:p>
                      <a:pPr indent="0" lvl="0" marL="0" marR="0" rtl="0" algn="ctr">
                        <a:lnSpc>
                          <a:spcPct val="100000"/>
                        </a:lnSpc>
                        <a:spcBef>
                          <a:spcPts val="0"/>
                        </a:spcBef>
                        <a:spcAft>
                          <a:spcPts val="0"/>
                        </a:spcAft>
                        <a:buNone/>
                      </a:pPr>
                      <a:r>
                        <a:rPr lang="en-US" sz="1600" u="none" cap="none" strike="noStrike">
                          <a:solidFill>
                            <a:srgbClr val="141727"/>
                          </a:solidFill>
                          <a:latin typeface="Arial"/>
                          <a:ea typeface="Arial"/>
                          <a:cs typeface="Arial"/>
                          <a:sym typeface="Arial"/>
                        </a:rPr>
                        <a:t>Assignment 1  </a:t>
                      </a:r>
                      <a:endParaRPr sz="1600" u="none" cap="none" strike="noStrike">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solidFill>
                            <a:srgbClr val="141727"/>
                          </a:solidFill>
                          <a:latin typeface="Arial"/>
                          <a:ea typeface="Arial"/>
                          <a:cs typeface="Arial"/>
                          <a:sym typeface="Arial"/>
                        </a:rPr>
                        <a:t>Assignment 1 (pre-class)</a:t>
                      </a:r>
                      <a:endParaRPr/>
                    </a:p>
                    <a:p>
                      <a:pPr indent="0" lvl="0" marL="0" marR="0" rtl="0" algn="l">
                        <a:lnSpc>
                          <a:spcPct val="100000"/>
                        </a:lnSpc>
                        <a:spcBef>
                          <a:spcPts val="0"/>
                        </a:spcBef>
                        <a:spcAft>
                          <a:spcPts val="0"/>
                        </a:spcAft>
                        <a:buClr>
                          <a:srgbClr val="00387F"/>
                        </a:buClr>
                        <a:buSzPts val="1600"/>
                        <a:buFont typeface="Arial"/>
                        <a:buNone/>
                      </a:pPr>
                      <a:r>
                        <a:rPr b="1" lang="en-US" sz="1600">
                          <a:solidFill>
                            <a:srgbClr val="00387F"/>
                          </a:solidFill>
                          <a:latin typeface="Arial"/>
                          <a:ea typeface="Arial"/>
                          <a:cs typeface="Arial"/>
                          <a:sym typeface="Arial"/>
                        </a:rPr>
                        <a:t>(LMS – Tuần 4)</a:t>
                      </a:r>
                      <a:endParaRPr/>
                    </a:p>
                    <a:p>
                      <a:pPr indent="0" lvl="0" marL="0" marR="0" rtl="0" algn="l">
                        <a:spcBef>
                          <a:spcPts val="0"/>
                        </a:spcBef>
                        <a:spcAft>
                          <a:spcPts val="0"/>
                        </a:spcAft>
                        <a:buNone/>
                      </a:pPr>
                      <a:r>
                        <a:t/>
                      </a:r>
                      <a:endParaRPr sz="1600">
                        <a:solidFill>
                          <a:srgbClr val="141727"/>
                        </a:solidFill>
                        <a:latin typeface="Arial"/>
                        <a:ea typeface="Arial"/>
                        <a:cs typeface="Arial"/>
                        <a:sym typeface="Arial"/>
                      </a:endParaRPr>
                    </a:p>
                    <a:p>
                      <a:pPr indent="0" lvl="0" marL="0" marR="0" rtl="0" algn="l">
                        <a:spcBef>
                          <a:spcPts val="0"/>
                        </a:spcBef>
                        <a:spcAft>
                          <a:spcPts val="0"/>
                        </a:spcAft>
                        <a:buNone/>
                      </a:pPr>
                      <a:r>
                        <a:rPr lang="en-US" sz="1600">
                          <a:solidFill>
                            <a:srgbClr val="141727"/>
                          </a:solidFill>
                          <a:latin typeface="Arial"/>
                          <a:ea typeface="Arial"/>
                          <a:cs typeface="Arial"/>
                          <a:sym typeface="Arial"/>
                        </a:rPr>
                        <a:t>Assignment 1 (in-class)</a:t>
                      </a:r>
                      <a:endParaRPr sz="1600">
                        <a:solidFill>
                          <a:srgbClr val="141727"/>
                        </a:solidFill>
                        <a:latin typeface="Arial"/>
                        <a:ea typeface="Arial"/>
                        <a:cs typeface="Arial"/>
                        <a:sym typeface="Arial"/>
                      </a:endParaRPr>
                    </a:p>
                    <a:p>
                      <a:pPr indent="0" lvl="0" marL="0" marR="0" rtl="0" algn="l">
                        <a:spcBef>
                          <a:spcPts val="0"/>
                        </a:spcBef>
                        <a:spcAft>
                          <a:spcPts val="0"/>
                        </a:spcAft>
                        <a:buNone/>
                      </a:pPr>
                      <a:r>
                        <a:rPr lang="en-US" sz="1600">
                          <a:solidFill>
                            <a:srgbClr val="141727"/>
                          </a:solidFill>
                          <a:latin typeface="Arial"/>
                          <a:ea typeface="Arial"/>
                          <a:cs typeface="Arial"/>
                          <a:sym typeface="Arial"/>
                        </a:rPr>
                        <a:t>Assignment 1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Làm quen với công cụ lập trình Wecode.</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Làm quen với hệ thống wecode</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và biên dịch một chương trình đơn giản.</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Biên dịch và khắc phục một số lỗi thường gặp.</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1" marL="0" marR="0" rtl="0" algn="l">
                        <a:lnSpc>
                          <a:spcPct val="100000"/>
                        </a:lnSpc>
                        <a:spcBef>
                          <a:spcPts val="0"/>
                        </a:spcBef>
                        <a:spcAft>
                          <a:spcPts val="0"/>
                        </a:spcAft>
                        <a:buClr>
                          <a:srgbClr val="141727"/>
                        </a:buClr>
                        <a:buSzPts val="1600"/>
                        <a:buFont typeface="Calibri"/>
                        <a:buNone/>
                      </a:pPr>
                      <a:r>
                        <a:rPr lang="en-US" sz="1600" u="none" cap="none" strike="noStrike">
                          <a:solidFill>
                            <a:srgbClr val="141727"/>
                          </a:solidFill>
                          <a:latin typeface="Arial"/>
                          <a:ea typeface="Arial"/>
                          <a:cs typeface="Arial"/>
                          <a:sym typeface="Arial"/>
                        </a:rPr>
                        <a:t>1.1 Mã ASCII của ký tự</a:t>
                      </a:r>
                      <a:endParaRPr sz="1600" u="none" cap="none" strike="noStrike">
                        <a:solidFill>
                          <a:srgbClr val="141727"/>
                        </a:solidFill>
                        <a:latin typeface="Arial"/>
                        <a:ea typeface="Arial"/>
                        <a:cs typeface="Arial"/>
                        <a:sym typeface="Arial"/>
                      </a:endParaRPr>
                    </a:p>
                    <a:p>
                      <a:pPr indent="0" lvl="1" marL="0" marR="0" rtl="0" algn="l">
                        <a:lnSpc>
                          <a:spcPct val="100000"/>
                        </a:lnSpc>
                        <a:spcBef>
                          <a:spcPts val="600"/>
                        </a:spcBef>
                        <a:spcAft>
                          <a:spcPts val="0"/>
                        </a:spcAft>
                        <a:buClr>
                          <a:srgbClr val="141727"/>
                        </a:buClr>
                        <a:buSzPts val="1600"/>
                        <a:buFont typeface="Calibri"/>
                        <a:buNone/>
                      </a:pPr>
                      <a:r>
                        <a:rPr lang="en-US" sz="1600" u="none" cap="none" strike="noStrike">
                          <a:solidFill>
                            <a:srgbClr val="141727"/>
                          </a:solidFill>
                          <a:latin typeface="Arial"/>
                          <a:ea typeface="Arial"/>
                          <a:cs typeface="Arial"/>
                          <a:sym typeface="Arial"/>
                        </a:rPr>
                        <a:t>1.2 Tính diện tích tam giác</a:t>
                      </a:r>
                      <a:endParaRPr sz="1600" u="none" cap="none" strike="noStrike">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1.3 Nhập xuất thông tin của một sinh viên</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1325">
                <a:tc>
                  <a:txBody>
                    <a:bodyPr/>
                    <a:lstStyle/>
                    <a:p>
                      <a:pPr indent="0" lvl="0" marL="0" marR="0" rtl="0" algn="ctr">
                        <a:lnSpc>
                          <a:spcPct val="100000"/>
                        </a:lnSpc>
                        <a:spcBef>
                          <a:spcPts val="0"/>
                        </a:spcBef>
                        <a:spcAft>
                          <a:spcPts val="0"/>
                        </a:spcAft>
                        <a:buNone/>
                      </a:pPr>
                      <a:r>
                        <a:rPr lang="en-US" sz="1600">
                          <a:solidFill>
                            <a:srgbClr val="141727"/>
                          </a:solidFill>
                          <a:latin typeface="Arial"/>
                          <a:ea typeface="Arial"/>
                          <a:cs typeface="Arial"/>
                          <a:sym typeface="Arial"/>
                        </a:rPr>
                        <a:t>Assignment 2</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Assignment 2 (pre-class)</a:t>
                      </a:r>
                      <a:endParaRPr/>
                    </a:p>
                    <a:p>
                      <a:pPr indent="0" lvl="0" marL="0" marR="0" rtl="0" algn="l">
                        <a:lnSpc>
                          <a:spcPct val="100000"/>
                        </a:lnSpc>
                        <a:spcBef>
                          <a:spcPts val="0"/>
                        </a:spcBef>
                        <a:spcAft>
                          <a:spcPts val="0"/>
                        </a:spcAft>
                        <a:buClr>
                          <a:srgbClr val="00387F"/>
                        </a:buClr>
                        <a:buSzPts val="1600"/>
                        <a:buFont typeface="Arial"/>
                        <a:buNone/>
                      </a:pPr>
                      <a:r>
                        <a:rPr b="1" lang="en-US" sz="1600">
                          <a:solidFill>
                            <a:srgbClr val="00387F"/>
                          </a:solidFill>
                          <a:latin typeface="Arial"/>
                          <a:ea typeface="Arial"/>
                          <a:cs typeface="Arial"/>
                          <a:sym typeface="Arial"/>
                        </a:rPr>
                        <a:t>(LMS – Tuần 6)</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Assignment 2 (in-class)</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Assignment 2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if, if-else</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cấu trúc vòng lặp for, while, do while</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1" marL="0" marR="0" rtl="0" algn="l">
                        <a:lnSpc>
                          <a:spcPct val="100000"/>
                        </a:lnSpc>
                        <a:spcBef>
                          <a:spcPts val="0"/>
                        </a:spcBef>
                        <a:spcAft>
                          <a:spcPts val="0"/>
                        </a:spcAft>
                        <a:buClr>
                          <a:srgbClr val="141727"/>
                        </a:buClr>
                        <a:buSzPts val="1600"/>
                        <a:buFont typeface="Calibri"/>
                        <a:buNone/>
                      </a:pPr>
                      <a:r>
                        <a:rPr lang="en-US" sz="1600" u="none" cap="none" strike="noStrike">
                          <a:solidFill>
                            <a:srgbClr val="141727"/>
                          </a:solidFill>
                          <a:latin typeface="Arial"/>
                          <a:ea typeface="Arial"/>
                          <a:cs typeface="Arial"/>
                          <a:sym typeface="Arial"/>
                        </a:rPr>
                        <a:t>2.1 Kiểm tra tính chất dãy 3 số</a:t>
                      </a:r>
                      <a:endParaRPr sz="1600" u="none" cap="none" strike="noStrike">
                        <a:solidFill>
                          <a:srgbClr val="141727"/>
                        </a:solidFill>
                        <a:latin typeface="Arial"/>
                        <a:ea typeface="Arial"/>
                        <a:cs typeface="Arial"/>
                        <a:sym typeface="Arial"/>
                      </a:endParaRPr>
                    </a:p>
                    <a:p>
                      <a:pPr indent="0" lvl="1" marL="0" marR="0" rtl="0" algn="l">
                        <a:lnSpc>
                          <a:spcPct val="100000"/>
                        </a:lnSpc>
                        <a:spcBef>
                          <a:spcPts val="600"/>
                        </a:spcBef>
                        <a:spcAft>
                          <a:spcPts val="0"/>
                        </a:spcAft>
                        <a:buClr>
                          <a:srgbClr val="141727"/>
                        </a:buClr>
                        <a:buSzPts val="1600"/>
                        <a:buFont typeface="Calibri"/>
                        <a:buNone/>
                      </a:pPr>
                      <a:r>
                        <a:rPr lang="en-US" sz="1600" u="none" cap="none" strike="noStrike">
                          <a:solidFill>
                            <a:srgbClr val="141727"/>
                          </a:solidFill>
                          <a:latin typeface="Arial"/>
                          <a:ea typeface="Arial"/>
                          <a:cs typeface="Arial"/>
                          <a:sym typeface="Arial"/>
                        </a:rPr>
                        <a:t>2.2 Kiểm tra số nguyên tố</a:t>
                      </a:r>
                      <a:endParaRPr sz="1600" u="none" cap="none" strike="noStrike">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2.3 Tìm chữ số nhỏ nhất trong một số nguyên</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8750">
                <a:tc>
                  <a:txBody>
                    <a:bodyPr/>
                    <a:lstStyle/>
                    <a:p>
                      <a:pPr indent="0" lvl="0" marL="0" marR="0" rtl="0" algn="ctr">
                        <a:lnSpc>
                          <a:spcPct val="100000"/>
                        </a:lnSpc>
                        <a:spcBef>
                          <a:spcPts val="0"/>
                        </a:spcBef>
                        <a:spcAft>
                          <a:spcPts val="0"/>
                        </a:spcAft>
                        <a:buNone/>
                      </a:pPr>
                      <a:r>
                        <a:rPr lang="en-US" sz="1600">
                          <a:solidFill>
                            <a:srgbClr val="141727"/>
                          </a:solidFill>
                          <a:latin typeface="Arial"/>
                          <a:ea typeface="Arial"/>
                          <a:cs typeface="Arial"/>
                          <a:sym typeface="Arial"/>
                        </a:rPr>
                        <a:t>Assignment 3</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Assignment 3 (pre-class)</a:t>
                      </a:r>
                      <a:endParaRPr/>
                    </a:p>
                    <a:p>
                      <a:pPr indent="0" lvl="0" marL="0" marR="0" rtl="0" algn="l">
                        <a:lnSpc>
                          <a:spcPct val="100000"/>
                        </a:lnSpc>
                        <a:spcBef>
                          <a:spcPts val="0"/>
                        </a:spcBef>
                        <a:spcAft>
                          <a:spcPts val="0"/>
                        </a:spcAft>
                        <a:buClr>
                          <a:srgbClr val="00387F"/>
                        </a:buClr>
                        <a:buSzPts val="1600"/>
                        <a:buFont typeface="Arial"/>
                        <a:buNone/>
                      </a:pPr>
                      <a:r>
                        <a:rPr b="1" lang="en-US" sz="1600">
                          <a:solidFill>
                            <a:srgbClr val="00387F"/>
                          </a:solidFill>
                          <a:latin typeface="Arial"/>
                          <a:ea typeface="Arial"/>
                          <a:cs typeface="Arial"/>
                          <a:sym typeface="Arial"/>
                        </a:rPr>
                        <a:t>(LMS – Tuần 8)</a:t>
                      </a:r>
                      <a:endParaRPr/>
                    </a:p>
                    <a:p>
                      <a:pPr indent="0" lvl="0" marL="0" marR="0" rtl="0" algn="l">
                        <a:lnSpc>
                          <a:spcPct val="100000"/>
                        </a:lnSpc>
                        <a:spcBef>
                          <a:spcPts val="0"/>
                        </a:spcBef>
                        <a:spcAft>
                          <a:spcPts val="0"/>
                        </a:spcAft>
                        <a:buClr>
                          <a:schemeClr val="dk1"/>
                        </a:buClr>
                        <a:buSzPts val="1600"/>
                        <a:buFont typeface="Calibri"/>
                        <a:buNone/>
                      </a:pPr>
                      <a:r>
                        <a:t/>
                      </a:r>
                      <a:endParaRPr b="1" sz="1600">
                        <a:solidFill>
                          <a:srgbClr val="00387F"/>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Assignment 3 (in-class)</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Assignment 3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hàm số</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hàm đệ quy</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liên quan đến mảng một chiều</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600">
                          <a:solidFill>
                            <a:srgbClr val="141727"/>
                          </a:solidFill>
                          <a:latin typeface="Arial"/>
                          <a:ea typeface="Arial"/>
                          <a:cs typeface="Arial"/>
                          <a:sym typeface="Arial"/>
                        </a:rPr>
                        <a:t>3.1 Viết hàm Nhập xuất các giá trị cơ bản</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3.2 Viết hàm tính Tổng ước số nguyên tố của 2 số</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3.3 Viết hàm đệ quy tính Tổng các chữ số chẵn (Recursion) - C1: Truyền tham chiếu</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3.4 Viết hàm tính Tổng các chữ số chẵn (Recursion) - C2 Hàm Trả về giá trị</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71" name="Google Shape;471;p1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72" name="Google Shape;472;p16"/>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73" name="Google Shape;473;p16"/>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7"/>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7. Nội dung Thực hành (tt)</a:t>
            </a:r>
            <a:endParaRPr/>
          </a:p>
        </p:txBody>
      </p:sp>
      <p:graphicFrame>
        <p:nvGraphicFramePr>
          <p:cNvPr id="479" name="Google Shape;479;p17"/>
          <p:cNvGraphicFramePr/>
          <p:nvPr/>
        </p:nvGraphicFramePr>
        <p:xfrm>
          <a:off x="556260" y="1063441"/>
          <a:ext cx="3000000" cy="3000000"/>
        </p:xfrm>
        <a:graphic>
          <a:graphicData uri="http://schemas.openxmlformats.org/drawingml/2006/table">
            <a:tbl>
              <a:tblPr bandRow="1">
                <a:noFill/>
                <a:tableStyleId>{975D1963-0C52-4EAC-A566-8B83A437E4A1}</a:tableStyleId>
              </a:tblPr>
              <a:tblGrid>
                <a:gridCol w="1440575"/>
                <a:gridCol w="2563450"/>
                <a:gridCol w="3720125"/>
                <a:gridCol w="3721100"/>
              </a:tblGrid>
              <a:tr h="273875">
                <a:tc>
                  <a:txBody>
                    <a:bodyPr/>
                    <a:lstStyle/>
                    <a:p>
                      <a:pPr indent="0" lvl="0" marL="0" marR="0" rtl="0" algn="ctr">
                        <a:lnSpc>
                          <a:spcPct val="100000"/>
                        </a:lnSpc>
                        <a:spcBef>
                          <a:spcPts val="0"/>
                        </a:spcBef>
                        <a:spcAft>
                          <a:spcPts val="0"/>
                        </a:spcAft>
                        <a:buNone/>
                      </a:pPr>
                      <a:r>
                        <a:rPr b="1" lang="en-US" sz="1600">
                          <a:solidFill>
                            <a:srgbClr val="141727"/>
                          </a:solidFill>
                          <a:latin typeface="Arial"/>
                          <a:ea typeface="Arial"/>
                          <a:cs typeface="Arial"/>
                          <a:sym typeface="Arial"/>
                        </a:rPr>
                        <a:t>Assignment </a:t>
                      </a:r>
                      <a:endParaRPr/>
                    </a:p>
                    <a:p>
                      <a:pPr indent="0" lvl="0" marL="0" marR="0" rtl="0" algn="ctr">
                        <a:lnSpc>
                          <a:spcPct val="100000"/>
                        </a:lnSpc>
                        <a:spcBef>
                          <a:spcPts val="600"/>
                        </a:spcBef>
                        <a:spcAft>
                          <a:spcPts val="0"/>
                        </a:spcAft>
                        <a:buNone/>
                      </a:pPr>
                      <a:r>
                        <a:rPr b="1" lang="en-US" sz="1600">
                          <a:solidFill>
                            <a:srgbClr val="141727"/>
                          </a:solidFill>
                          <a:latin typeface="Arial"/>
                          <a:ea typeface="Arial"/>
                          <a:cs typeface="Arial"/>
                          <a:sym typeface="Arial"/>
                        </a:rPr>
                        <a:t>chủ đề</a:t>
                      </a:r>
                      <a:endParaRPr b="1"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a:solidFill>
                            <a:srgbClr val="141727"/>
                          </a:solidFill>
                          <a:latin typeface="Calibri"/>
                          <a:ea typeface="Calibri"/>
                          <a:cs typeface="Calibri"/>
                          <a:sym typeface="Calibri"/>
                        </a:rPr>
                        <a:t>Các Assignment nhỏ tương ứng</a:t>
                      </a:r>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a:solidFill>
                            <a:srgbClr val="141727"/>
                          </a:solidFill>
                          <a:latin typeface="Arial"/>
                          <a:ea typeface="Arial"/>
                          <a:cs typeface="Arial"/>
                          <a:sym typeface="Arial"/>
                        </a:rPr>
                        <a:t>Nội dung</a:t>
                      </a:r>
                      <a:endParaRPr b="1"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a:solidFill>
                            <a:srgbClr val="141727"/>
                          </a:solidFill>
                          <a:latin typeface="Arial"/>
                          <a:ea typeface="Arial"/>
                          <a:cs typeface="Arial"/>
                          <a:sym typeface="Arial"/>
                        </a:rPr>
                        <a:t>Danh sách bài tập mẫu (có video)</a:t>
                      </a:r>
                      <a:endParaRPr b="1"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7925">
                <a:tc>
                  <a:txBody>
                    <a:bodyPr/>
                    <a:lstStyle/>
                    <a:p>
                      <a:pPr indent="0" lvl="0" marL="0" marR="0" rtl="0" algn="ctr">
                        <a:lnSpc>
                          <a:spcPct val="100000"/>
                        </a:lnSpc>
                        <a:spcBef>
                          <a:spcPts val="0"/>
                        </a:spcBef>
                        <a:spcAft>
                          <a:spcPts val="0"/>
                        </a:spcAft>
                        <a:buNone/>
                      </a:pPr>
                      <a:r>
                        <a:rPr lang="en-US" sz="1600">
                          <a:solidFill>
                            <a:srgbClr val="141727"/>
                          </a:solidFill>
                          <a:latin typeface="Arial"/>
                          <a:ea typeface="Arial"/>
                          <a:cs typeface="Arial"/>
                          <a:sym typeface="Arial"/>
                        </a:rPr>
                        <a:t>Assignment 4</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 (pre-class) </a:t>
                      </a:r>
                      <a:endParaRPr/>
                    </a:p>
                    <a:p>
                      <a:pPr indent="0" lvl="0" marL="0" marR="0" rtl="0" algn="l">
                        <a:spcBef>
                          <a:spcPts val="0"/>
                        </a:spcBef>
                        <a:spcAft>
                          <a:spcPts val="0"/>
                        </a:spcAft>
                        <a:buNone/>
                      </a:pPr>
                      <a:r>
                        <a:rPr lang="en-US" sz="1600">
                          <a:solidFill>
                            <a:srgbClr val="00387F"/>
                          </a:solidFill>
                          <a:latin typeface="Calibri"/>
                          <a:ea typeface="Calibri"/>
                          <a:cs typeface="Calibri"/>
                          <a:sym typeface="Calibri"/>
                        </a:rPr>
                        <a:t>(LMS – Tuần 10)</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(in-class)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liên quan đến mảng một chiều (</a:t>
                      </a:r>
                      <a:r>
                        <a:rPr b="1" lang="en-US" sz="1600">
                          <a:solidFill>
                            <a:srgbClr val="141727"/>
                          </a:solidFill>
                          <a:latin typeface="Arial"/>
                          <a:ea typeface="Arial"/>
                          <a:cs typeface="Arial"/>
                          <a:sym typeface="Arial"/>
                        </a:rPr>
                        <a:t>Lưu ý: Nội dung Mảng 1 chiều được chuyển qua Assignment 3 cho phù hợp với lịch học khóa hè</a:t>
                      </a:r>
                      <a:r>
                        <a:rPr lang="en-US" sz="1600">
                          <a:solidFill>
                            <a:srgbClr val="141727"/>
                          </a:solidFill>
                          <a:latin typeface="Arial"/>
                          <a:ea typeface="Arial"/>
                          <a:cs typeface="Arial"/>
                          <a:sym typeface="Arial"/>
                        </a:rPr>
                        <a:t>)</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liên quan đến mảng hai chiều</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liên quan đến chuỗi</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600">
                          <a:solidFill>
                            <a:srgbClr val="141727"/>
                          </a:solidFill>
                          <a:latin typeface="Arial"/>
                          <a:ea typeface="Arial"/>
                          <a:cs typeface="Arial"/>
                          <a:sym typeface="Arial"/>
                        </a:rPr>
                        <a:t>4.1 Nhập xuất mảng 1D</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4.2 Sắp xếp mảng 1D tăng dần</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4.3 Chèn sau số nguyên tố đầu tiên mảng 1D</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4.4 Nhập xuất mảng 2D</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4.5 Đếm chữ in hoa</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4.6 Xóa khoảng trắng trước dấu chấm trong chuỗi</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1825">
                <a:tc>
                  <a:txBody>
                    <a:bodyPr/>
                    <a:lstStyle/>
                    <a:p>
                      <a:pPr indent="0" lvl="0" marL="0" marR="0" rtl="0" algn="ctr">
                        <a:lnSpc>
                          <a:spcPct val="100000"/>
                        </a:lnSpc>
                        <a:spcBef>
                          <a:spcPts val="0"/>
                        </a:spcBef>
                        <a:spcAft>
                          <a:spcPts val="0"/>
                        </a:spcAft>
                        <a:buNone/>
                      </a:pPr>
                      <a:r>
                        <a:rPr lang="en-US" sz="1600">
                          <a:solidFill>
                            <a:srgbClr val="141727"/>
                          </a:solidFill>
                          <a:latin typeface="Arial"/>
                          <a:ea typeface="Arial"/>
                          <a:cs typeface="Arial"/>
                          <a:sym typeface="Arial"/>
                        </a:rPr>
                        <a:t>Assignment 5</a:t>
                      </a:r>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5 (pre-class)</a:t>
                      </a:r>
                      <a:endParaRPr/>
                    </a:p>
                    <a:p>
                      <a:pPr indent="0" lvl="0" marL="0" marR="0" rtl="0" algn="l">
                        <a:spcBef>
                          <a:spcPts val="0"/>
                        </a:spcBef>
                        <a:spcAft>
                          <a:spcPts val="0"/>
                        </a:spcAft>
                        <a:buNone/>
                      </a:pPr>
                      <a:r>
                        <a:rPr lang="en-US" sz="1600">
                          <a:solidFill>
                            <a:srgbClr val="00387F"/>
                          </a:solidFill>
                          <a:latin typeface="Calibri"/>
                          <a:ea typeface="Calibri"/>
                          <a:cs typeface="Calibri"/>
                          <a:sym typeface="Calibri"/>
                        </a:rPr>
                        <a:t>(LMS – Tuần 12)</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(in-class)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con trỏ cơ bản</a:t>
                      </a:r>
                      <a:endParaRPr sz="1600">
                        <a:solidFill>
                          <a:srgbClr val="141727"/>
                        </a:solidFill>
                        <a:latin typeface="Arial"/>
                        <a:ea typeface="Arial"/>
                        <a:cs typeface="Arial"/>
                        <a:sym typeface="Arial"/>
                      </a:endParaRPr>
                    </a:p>
                    <a:p>
                      <a:pPr indent="-342900" lvl="0" marL="342900" marR="0" rtl="0" algn="l">
                        <a:lnSpc>
                          <a:spcPct val="100000"/>
                        </a:lnSpc>
                        <a:spcBef>
                          <a:spcPts val="60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con trỏ cấp phát động</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600">
                          <a:solidFill>
                            <a:srgbClr val="141727"/>
                          </a:solidFill>
                          <a:latin typeface="Arial"/>
                          <a:ea typeface="Arial"/>
                          <a:cs typeface="Arial"/>
                          <a:sym typeface="Arial"/>
                        </a:rPr>
                        <a:t>5.1 Kiểm tra mảng 1D đối xứng (con trỏ)</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5.2 Tổng toàn mảng 2D (con trỏ)</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5.3 Viết lại hàm strcat (con trỏ)</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0800">
                <a:tc>
                  <a:txBody>
                    <a:bodyPr/>
                    <a:lstStyle/>
                    <a:p>
                      <a:pPr indent="0" lvl="0" marL="0" marR="0" rtl="0" algn="ctr">
                        <a:lnSpc>
                          <a:spcPct val="100000"/>
                        </a:lnSpc>
                        <a:spcBef>
                          <a:spcPts val="0"/>
                        </a:spcBef>
                        <a:spcAft>
                          <a:spcPts val="0"/>
                        </a:spcAft>
                        <a:buNone/>
                      </a:pPr>
                      <a:r>
                        <a:rPr lang="en-US" sz="1600">
                          <a:solidFill>
                            <a:srgbClr val="141727"/>
                          </a:solidFill>
                          <a:latin typeface="Arial"/>
                          <a:ea typeface="Arial"/>
                          <a:cs typeface="Arial"/>
                          <a:sym typeface="Arial"/>
                        </a:rPr>
                        <a:t>Assignment 6</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6 (pre-class)</a:t>
                      </a:r>
                      <a:endParaRPr/>
                    </a:p>
                    <a:p>
                      <a:pPr indent="0" lvl="0" marL="0" marR="0" rtl="0" algn="l">
                        <a:spcBef>
                          <a:spcPts val="0"/>
                        </a:spcBef>
                        <a:spcAft>
                          <a:spcPts val="0"/>
                        </a:spcAft>
                        <a:buNone/>
                      </a:pPr>
                      <a:r>
                        <a:rPr lang="en-US" sz="1600">
                          <a:solidFill>
                            <a:srgbClr val="00387F"/>
                          </a:solidFill>
                          <a:latin typeface="Calibri"/>
                          <a:ea typeface="Calibri"/>
                          <a:cs typeface="Calibri"/>
                          <a:sym typeface="Calibri"/>
                        </a:rPr>
                        <a:t>(LMS – Tuần 14)</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(in-class)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Assignment 4-5-6  (post-class)</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141727"/>
                        </a:buClr>
                        <a:buSzPts val="1600"/>
                        <a:buFont typeface="Arial"/>
                        <a:buChar char="●"/>
                      </a:pPr>
                      <a:r>
                        <a:rPr lang="en-US" sz="1600">
                          <a:solidFill>
                            <a:srgbClr val="141727"/>
                          </a:solidFill>
                          <a:latin typeface="Arial"/>
                          <a:ea typeface="Arial"/>
                          <a:cs typeface="Arial"/>
                          <a:sym typeface="Arial"/>
                        </a:rPr>
                        <a:t>Viết chương trình sử dụng cấu trúc</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600">
                          <a:solidFill>
                            <a:srgbClr val="141727"/>
                          </a:solidFill>
                          <a:latin typeface="Arial"/>
                          <a:ea typeface="Arial"/>
                          <a:cs typeface="Arial"/>
                          <a:sym typeface="Arial"/>
                        </a:rPr>
                        <a:t>6.1 Nhập xuất danh sách điểm Point </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6.2 Nhập xuất danh sách sinh viên</a:t>
                      </a:r>
                      <a:endParaRPr sz="1600">
                        <a:solidFill>
                          <a:srgbClr val="141727"/>
                        </a:solidFill>
                        <a:latin typeface="Arial"/>
                        <a:ea typeface="Arial"/>
                        <a:cs typeface="Arial"/>
                        <a:sym typeface="Arial"/>
                      </a:endParaRPr>
                    </a:p>
                    <a:p>
                      <a:pPr indent="0" lvl="0" marL="0" marR="0" rtl="0" algn="l">
                        <a:lnSpc>
                          <a:spcPct val="100000"/>
                        </a:lnSpc>
                        <a:spcBef>
                          <a:spcPts val="600"/>
                        </a:spcBef>
                        <a:spcAft>
                          <a:spcPts val="0"/>
                        </a:spcAft>
                        <a:buNone/>
                      </a:pPr>
                      <a:r>
                        <a:rPr lang="en-US" sz="1600">
                          <a:solidFill>
                            <a:srgbClr val="141727"/>
                          </a:solidFill>
                          <a:latin typeface="Arial"/>
                          <a:ea typeface="Arial"/>
                          <a:cs typeface="Arial"/>
                          <a:sym typeface="Arial"/>
                        </a:rPr>
                        <a:t>6.3 Chèn vẫn đảm bảo danh sách giảm dần theo MASV</a:t>
                      </a:r>
                      <a:endParaRPr sz="1600">
                        <a:solidFill>
                          <a:srgbClr val="141727"/>
                        </a:solidFill>
                        <a:latin typeface="Arial"/>
                        <a:ea typeface="Arial"/>
                        <a:cs typeface="Arial"/>
                        <a:sym typeface="Arial"/>
                      </a:endParaRPr>
                    </a:p>
                  </a:txBody>
                  <a:tcPr marT="0" marB="0" marR="32950" marL="32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80" name="Google Shape;480;p1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81" name="Google Shape;481;p17"/>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82" name="Google Shape;482;p1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8"/>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8. Phương pháp dạy và học</a:t>
            </a:r>
            <a:endParaRPr/>
          </a:p>
        </p:txBody>
      </p:sp>
      <p:sp>
        <p:nvSpPr>
          <p:cNvPr id="488" name="Google Shape;488;p18"/>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30000"/>
              </a:lnSpc>
              <a:spcBef>
                <a:spcPts val="0"/>
              </a:spcBef>
              <a:spcAft>
                <a:spcPts val="0"/>
              </a:spcAft>
              <a:buClr>
                <a:schemeClr val="dk1"/>
              </a:buClr>
              <a:buSzPct val="100000"/>
              <a:buChar char="•"/>
            </a:pPr>
            <a:r>
              <a:rPr lang="en-US" sz="2200"/>
              <a:t>Phương pháp dạy và học tập: Lớp học đảo ngược (flipped classroom)</a:t>
            </a:r>
            <a:endParaRPr sz="2200"/>
          </a:p>
          <a:p>
            <a:pPr indent="-228600" lvl="0" marL="228600" rtl="0" algn="just">
              <a:lnSpc>
                <a:spcPct val="100000"/>
              </a:lnSpc>
              <a:spcBef>
                <a:spcPts val="600"/>
              </a:spcBef>
              <a:spcAft>
                <a:spcPts val="0"/>
              </a:spcAft>
              <a:buClr>
                <a:schemeClr val="dk1"/>
              </a:buClr>
              <a:buSzPct val="100000"/>
              <a:buChar char="•"/>
            </a:pPr>
            <a:r>
              <a:rPr b="1" lang="en-US" sz="2200"/>
              <a:t>Cách thức thực hiện</a:t>
            </a:r>
            <a:r>
              <a:rPr lang="en-US" sz="2200"/>
              <a:t>:</a:t>
            </a:r>
            <a:endParaRPr/>
          </a:p>
          <a:p>
            <a:pPr indent="-228600" lvl="1" marL="685800" rtl="0" algn="just">
              <a:lnSpc>
                <a:spcPct val="100000"/>
              </a:lnSpc>
              <a:spcBef>
                <a:spcPts val="600"/>
              </a:spcBef>
              <a:spcAft>
                <a:spcPts val="0"/>
              </a:spcAft>
              <a:buClr>
                <a:schemeClr val="dk1"/>
              </a:buClr>
              <a:buSzPct val="100000"/>
              <a:buChar char="•"/>
            </a:pPr>
            <a:r>
              <a:rPr lang="en-US" sz="2200"/>
              <a:t>Giáo viên tạo các video bài giảng ngắn, kèm các tài nguyên học liệu khác, cung cấp trước cho người học để tự học trước ở nhà</a:t>
            </a:r>
            <a:endParaRPr sz="2200"/>
          </a:p>
          <a:p>
            <a:pPr indent="-228600" lvl="1" marL="685800" rtl="0" algn="just">
              <a:lnSpc>
                <a:spcPct val="100000"/>
              </a:lnSpc>
              <a:spcBef>
                <a:spcPts val="600"/>
              </a:spcBef>
              <a:spcAft>
                <a:spcPts val="0"/>
              </a:spcAft>
              <a:buClr>
                <a:schemeClr val="dk1"/>
              </a:buClr>
              <a:buSzPct val="100000"/>
              <a:buChar char="•"/>
            </a:pPr>
            <a:r>
              <a:rPr lang="en-US" sz="2200"/>
              <a:t>Trong thời gian tiếp xúc đồng bộ giáo viên hướng dẫn thảo luận, hỏi-đáp, làm bài tập,... </a:t>
            </a:r>
            <a:r>
              <a:rPr lang="en-US" sz="2200">
                <a:solidFill>
                  <a:srgbClr val="FF0000"/>
                </a:solidFill>
              </a:rPr>
              <a:t>mà không giảng bài</a:t>
            </a:r>
            <a:endParaRPr sz="2200">
              <a:solidFill>
                <a:srgbClr val="FF0000"/>
              </a:solidFill>
            </a:endParaRPr>
          </a:p>
          <a:p>
            <a:pPr indent="-228600" lvl="0" marL="228600" rtl="0" algn="just">
              <a:lnSpc>
                <a:spcPct val="100000"/>
              </a:lnSpc>
              <a:spcBef>
                <a:spcPts val="600"/>
              </a:spcBef>
              <a:spcAft>
                <a:spcPts val="0"/>
              </a:spcAft>
              <a:buClr>
                <a:schemeClr val="dk1"/>
              </a:buClr>
              <a:buSzPct val="100000"/>
              <a:buChar char="•"/>
            </a:pPr>
            <a:r>
              <a:rPr b="1" lang="en-US" sz="2200"/>
              <a:t>Ưu điểm</a:t>
            </a:r>
            <a:r>
              <a:rPr lang="en-US" sz="2200"/>
              <a:t>:</a:t>
            </a:r>
            <a:endParaRPr/>
          </a:p>
          <a:p>
            <a:pPr indent="-228600" lvl="1" marL="685800" rtl="0" algn="just">
              <a:lnSpc>
                <a:spcPct val="100000"/>
              </a:lnSpc>
              <a:spcBef>
                <a:spcPts val="600"/>
              </a:spcBef>
              <a:spcAft>
                <a:spcPts val="0"/>
              </a:spcAft>
              <a:buClr>
                <a:schemeClr val="dk1"/>
              </a:buClr>
              <a:buSzPct val="100000"/>
              <a:buChar char="•"/>
            </a:pPr>
            <a:r>
              <a:rPr lang="en-US" sz="2200"/>
              <a:t>Có nhiều thời gian hướng dẫn, thảo luận khi tiếp xúc đồng bộ</a:t>
            </a:r>
            <a:endParaRPr/>
          </a:p>
          <a:p>
            <a:pPr indent="-228600" lvl="1" marL="685800" rtl="0" algn="just">
              <a:lnSpc>
                <a:spcPct val="100000"/>
              </a:lnSpc>
              <a:spcBef>
                <a:spcPts val="600"/>
              </a:spcBef>
              <a:spcAft>
                <a:spcPts val="0"/>
              </a:spcAft>
              <a:buClr>
                <a:schemeClr val="dk1"/>
              </a:buClr>
              <a:buSzPct val="100000"/>
              <a:buChar char="•"/>
            </a:pPr>
            <a:r>
              <a:rPr lang="en-US" sz="2200"/>
              <a:t>Cho phép người học linh hoạt điều chỉnh nhịp điệu học tập</a:t>
            </a:r>
            <a:endParaRPr/>
          </a:p>
          <a:p>
            <a:pPr indent="-228600" lvl="1" marL="685800" rtl="0" algn="just">
              <a:lnSpc>
                <a:spcPct val="100000"/>
              </a:lnSpc>
              <a:spcBef>
                <a:spcPts val="600"/>
              </a:spcBef>
              <a:spcAft>
                <a:spcPts val="0"/>
              </a:spcAft>
              <a:buClr>
                <a:schemeClr val="dk1"/>
              </a:buClr>
              <a:buSzPct val="100000"/>
              <a:buChar char="•"/>
            </a:pPr>
            <a:r>
              <a:rPr lang="en-US" sz="2200"/>
              <a:t>Phá vỡ rào cản không gian: người học có thể học từ bất cứ nơi đâu</a:t>
            </a:r>
            <a:endParaRPr/>
          </a:p>
          <a:p>
            <a:pPr indent="-228600" lvl="0" marL="228600" rtl="0" algn="just">
              <a:lnSpc>
                <a:spcPct val="100000"/>
              </a:lnSpc>
              <a:spcBef>
                <a:spcPts val="600"/>
              </a:spcBef>
              <a:spcAft>
                <a:spcPts val="0"/>
              </a:spcAft>
              <a:buClr>
                <a:schemeClr val="dk1"/>
              </a:buClr>
              <a:buSzPct val="100000"/>
              <a:buChar char="•"/>
            </a:pPr>
            <a:r>
              <a:rPr b="1" lang="en-US" sz="2200"/>
              <a:t>Nhược điểm</a:t>
            </a:r>
            <a:r>
              <a:rPr lang="en-US" sz="2200"/>
              <a:t>:</a:t>
            </a:r>
            <a:endParaRPr/>
          </a:p>
          <a:p>
            <a:pPr indent="-228600" lvl="1" marL="685800" rtl="0" algn="just">
              <a:lnSpc>
                <a:spcPct val="100000"/>
              </a:lnSpc>
              <a:spcBef>
                <a:spcPts val="600"/>
              </a:spcBef>
              <a:spcAft>
                <a:spcPts val="0"/>
              </a:spcAft>
              <a:buClr>
                <a:schemeClr val="dk1"/>
              </a:buClr>
              <a:buSzPct val="100000"/>
              <a:buChar char="•"/>
            </a:pPr>
            <a:r>
              <a:rPr lang="en-US" sz="2200"/>
              <a:t>Yêu cầu người học có tính tự chủ và khả năng tổ chức cao độ</a:t>
            </a:r>
            <a:endParaRPr/>
          </a:p>
          <a:p>
            <a:pPr indent="-228600" lvl="1" marL="685800" rtl="0" algn="just">
              <a:lnSpc>
                <a:spcPct val="100000"/>
              </a:lnSpc>
              <a:spcBef>
                <a:spcPts val="600"/>
              </a:spcBef>
              <a:spcAft>
                <a:spcPts val="0"/>
              </a:spcAft>
              <a:buClr>
                <a:schemeClr val="dk1"/>
              </a:buClr>
              <a:buSzPct val="100000"/>
              <a:buChar char="•"/>
            </a:pPr>
            <a:r>
              <a:rPr lang="en-US" sz="2200"/>
              <a:t>Đòi hỏi nhiều thời gian chuẩn bị bài giảng video, bài tập cá nhân, kịch bản phối hợp các phiên làm việc đồng bộ và không đồng bộ</a:t>
            </a:r>
            <a:endParaRPr sz="2200"/>
          </a:p>
          <a:p>
            <a:pPr indent="-64135" lvl="0" marL="228600" rtl="0" algn="just">
              <a:lnSpc>
                <a:spcPct val="130000"/>
              </a:lnSpc>
              <a:spcBef>
                <a:spcPts val="600"/>
              </a:spcBef>
              <a:spcAft>
                <a:spcPts val="0"/>
              </a:spcAft>
              <a:buClr>
                <a:schemeClr val="dk1"/>
              </a:buClr>
              <a:buSzPct val="100000"/>
              <a:buNone/>
            </a:pPr>
            <a:r>
              <a:t/>
            </a:r>
            <a:endParaRPr/>
          </a:p>
        </p:txBody>
      </p:sp>
      <p:sp>
        <p:nvSpPr>
          <p:cNvPr id="489" name="Google Shape;489;p18"/>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90" name="Google Shape;490;p18"/>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91" name="Google Shape;491;p18"/>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txBox="1"/>
          <p:nvPr>
            <p:ph idx="1" type="body"/>
          </p:nvPr>
        </p:nvSpPr>
        <p:spPr>
          <a:xfrm>
            <a:off x="774144" y="1962615"/>
            <a:ext cx="5202000" cy="421434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30000"/>
              </a:lnSpc>
              <a:spcBef>
                <a:spcPts val="0"/>
              </a:spcBef>
              <a:spcAft>
                <a:spcPts val="0"/>
              </a:spcAft>
              <a:buClr>
                <a:schemeClr val="dk1"/>
              </a:buClr>
              <a:buSzPct val="100000"/>
              <a:buChar char="•"/>
            </a:pPr>
            <a:r>
              <a:rPr lang="en-US"/>
              <a:t>GV truyền thụ kiến thức, giảng dạy</a:t>
            </a:r>
            <a:endParaRPr/>
          </a:p>
          <a:p>
            <a:pPr indent="-228600" lvl="0" marL="228600" rtl="0" algn="just">
              <a:lnSpc>
                <a:spcPct val="130000"/>
              </a:lnSpc>
              <a:spcBef>
                <a:spcPts val="600"/>
              </a:spcBef>
              <a:spcAft>
                <a:spcPts val="0"/>
              </a:spcAft>
              <a:buClr>
                <a:schemeClr val="dk1"/>
              </a:buClr>
              <a:buSzPct val="100000"/>
              <a:buChar char="•"/>
            </a:pPr>
            <a:r>
              <a:rPr lang="en-US"/>
              <a:t>HS thụ động tiếp thu kiến thức từ giáo viên</a:t>
            </a:r>
            <a:endParaRPr/>
          </a:p>
          <a:p>
            <a:pPr indent="-228600" lvl="0" marL="228600" rtl="0" algn="just">
              <a:lnSpc>
                <a:spcPct val="130000"/>
              </a:lnSpc>
              <a:spcBef>
                <a:spcPts val="600"/>
              </a:spcBef>
              <a:spcAft>
                <a:spcPts val="0"/>
              </a:spcAft>
              <a:buClr>
                <a:schemeClr val="dk1"/>
              </a:buClr>
              <a:buSzPct val="100000"/>
              <a:buChar char="•"/>
            </a:pPr>
            <a:r>
              <a:rPr lang="en-US"/>
              <a:t>HS nghe giảng, ghi chép, làm bài tập</a:t>
            </a:r>
            <a:endParaRPr/>
          </a:p>
          <a:p>
            <a:pPr indent="-228600" lvl="0" marL="228600" rtl="0" algn="just">
              <a:lnSpc>
                <a:spcPct val="130000"/>
              </a:lnSpc>
              <a:spcBef>
                <a:spcPts val="600"/>
              </a:spcBef>
              <a:spcAft>
                <a:spcPts val="0"/>
              </a:spcAft>
              <a:buClr>
                <a:schemeClr val="dk1"/>
              </a:buClr>
              <a:buSzPct val="100000"/>
              <a:buChar char="•"/>
            </a:pPr>
            <a:r>
              <a:rPr lang="en-US"/>
              <a:t>Mức độ tương tác thấp</a:t>
            </a:r>
            <a:endParaRPr/>
          </a:p>
          <a:p>
            <a:pPr indent="-228600" lvl="0" marL="228600" rtl="0" algn="just">
              <a:lnSpc>
                <a:spcPct val="130000"/>
              </a:lnSpc>
              <a:spcBef>
                <a:spcPts val="600"/>
              </a:spcBef>
              <a:spcAft>
                <a:spcPts val="0"/>
              </a:spcAft>
              <a:buClr>
                <a:schemeClr val="dk1"/>
              </a:buClr>
              <a:buSzPct val="100000"/>
              <a:buChar char="•"/>
            </a:pPr>
            <a:r>
              <a:rPr lang="en-US"/>
              <a:t>…</a:t>
            </a:r>
            <a:endParaRPr/>
          </a:p>
        </p:txBody>
      </p:sp>
      <p:sp>
        <p:nvSpPr>
          <p:cNvPr id="497" name="Google Shape;497;p1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498" name="Google Shape;498;p19"/>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499" name="Google Shape;499;p1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00" name="Google Shape;500;p19"/>
          <p:cNvSpPr txBox="1"/>
          <p:nvPr>
            <p:ph idx="2" type="body"/>
          </p:nvPr>
        </p:nvSpPr>
        <p:spPr>
          <a:xfrm>
            <a:off x="6151800" y="1957280"/>
            <a:ext cx="5202000" cy="421434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30000"/>
              </a:lnSpc>
              <a:spcBef>
                <a:spcPts val="0"/>
              </a:spcBef>
              <a:spcAft>
                <a:spcPts val="0"/>
              </a:spcAft>
              <a:buClr>
                <a:schemeClr val="dk1"/>
              </a:buClr>
              <a:buSzPct val="100000"/>
              <a:buChar char="•"/>
            </a:pPr>
            <a:r>
              <a:rPr lang="en-US"/>
              <a:t>GV hướng dẫn, hỗ trợ học sinh học tập</a:t>
            </a:r>
            <a:endParaRPr/>
          </a:p>
          <a:p>
            <a:pPr indent="-228600" lvl="0" marL="228600" rtl="0" algn="just">
              <a:lnSpc>
                <a:spcPct val="130000"/>
              </a:lnSpc>
              <a:spcBef>
                <a:spcPts val="600"/>
              </a:spcBef>
              <a:spcAft>
                <a:spcPts val="0"/>
              </a:spcAft>
              <a:buClr>
                <a:schemeClr val="dk1"/>
              </a:buClr>
              <a:buSzPct val="100000"/>
              <a:buChar char="•"/>
            </a:pPr>
            <a:r>
              <a:rPr lang="en-US"/>
              <a:t>HS chủ động học tập, nghiên cứu trước khi đến lớp</a:t>
            </a:r>
            <a:endParaRPr/>
          </a:p>
          <a:p>
            <a:pPr indent="-228600" lvl="0" marL="228600" rtl="0" algn="just">
              <a:lnSpc>
                <a:spcPct val="130000"/>
              </a:lnSpc>
              <a:spcBef>
                <a:spcPts val="600"/>
              </a:spcBef>
              <a:spcAft>
                <a:spcPts val="0"/>
              </a:spcAft>
              <a:buClr>
                <a:schemeClr val="dk1"/>
              </a:buClr>
              <a:buSzPct val="100000"/>
              <a:buChar char="•"/>
            </a:pPr>
            <a:r>
              <a:rPr lang="en-US"/>
              <a:t>HS thảo luận, giải quyết vấn đề, thực hành</a:t>
            </a:r>
            <a:endParaRPr/>
          </a:p>
          <a:p>
            <a:pPr indent="-228600" lvl="0" marL="228600" rtl="0" algn="just">
              <a:lnSpc>
                <a:spcPct val="130000"/>
              </a:lnSpc>
              <a:spcBef>
                <a:spcPts val="600"/>
              </a:spcBef>
              <a:spcAft>
                <a:spcPts val="0"/>
              </a:spcAft>
              <a:buClr>
                <a:schemeClr val="dk1"/>
              </a:buClr>
              <a:buSzPct val="100000"/>
              <a:buChar char="•"/>
            </a:pPr>
            <a:r>
              <a:rPr lang="en-US"/>
              <a:t>Mức độ tương tác cao</a:t>
            </a:r>
            <a:endParaRPr/>
          </a:p>
          <a:p>
            <a:pPr indent="-228600" lvl="0" marL="228600" rtl="0" algn="just">
              <a:lnSpc>
                <a:spcPct val="130000"/>
              </a:lnSpc>
              <a:spcBef>
                <a:spcPts val="600"/>
              </a:spcBef>
              <a:spcAft>
                <a:spcPts val="0"/>
              </a:spcAft>
              <a:buClr>
                <a:schemeClr val="dk1"/>
              </a:buClr>
              <a:buSzPct val="100000"/>
              <a:buChar char="•"/>
            </a:pPr>
            <a:r>
              <a:rPr lang="en-US"/>
              <a:t>…</a:t>
            </a:r>
            <a:endParaRPr/>
          </a:p>
        </p:txBody>
      </p:sp>
      <p:sp>
        <p:nvSpPr>
          <p:cNvPr id="501" name="Google Shape;501;p19"/>
          <p:cNvSpPr txBox="1"/>
          <p:nvPr>
            <p:ph idx="3" type="body"/>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1"/>
              </a:buClr>
              <a:buSzPts val="2400"/>
              <a:buNone/>
            </a:pPr>
            <a:r>
              <a:rPr lang="en-US"/>
              <a:t>Lớp học truyền thống</a:t>
            </a:r>
            <a:endParaRPr/>
          </a:p>
        </p:txBody>
      </p:sp>
      <p:sp>
        <p:nvSpPr>
          <p:cNvPr id="502" name="Google Shape;502;p19"/>
          <p:cNvSpPr txBox="1"/>
          <p:nvPr>
            <p:ph idx="4" type="body"/>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1"/>
              </a:buClr>
              <a:buSzPts val="2400"/>
              <a:buNone/>
            </a:pPr>
            <a:r>
              <a:rPr lang="en-US"/>
              <a:t>Lớp học đảo ngược</a:t>
            </a:r>
            <a:endParaRPr/>
          </a:p>
        </p:txBody>
      </p:sp>
      <p:sp>
        <p:nvSpPr>
          <p:cNvPr id="503" name="Google Shape;503;p19"/>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Lớp học đảo ngược (flipped classroom)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0"/>
          <p:cNvSpPr txBox="1"/>
          <p:nvPr>
            <p:ph idx="1" type="body"/>
          </p:nvPr>
        </p:nvSpPr>
        <p:spPr>
          <a:xfrm>
            <a:off x="508041" y="2079840"/>
            <a:ext cx="3681005" cy="4214349"/>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Autofit/>
          </a:bodyPr>
          <a:lstStyle/>
          <a:p>
            <a:pPr indent="-228600" lvl="0" marL="228600" rtl="0" algn="just">
              <a:lnSpc>
                <a:spcPct val="130000"/>
              </a:lnSpc>
              <a:spcBef>
                <a:spcPts val="0"/>
              </a:spcBef>
              <a:spcAft>
                <a:spcPts val="0"/>
              </a:spcAft>
              <a:buClr>
                <a:schemeClr val="dk1"/>
              </a:buClr>
              <a:buSzPts val="2400"/>
              <a:buChar char="•"/>
            </a:pPr>
            <a:r>
              <a:rPr lang="en-US" sz="2400"/>
              <a:t>Xem nội dung lý thuyết qua Video, Slide</a:t>
            </a:r>
            <a:endParaRPr/>
          </a:p>
          <a:p>
            <a:pPr indent="-228600" lvl="0" marL="228600" rtl="0" algn="just">
              <a:lnSpc>
                <a:spcPct val="130000"/>
              </a:lnSpc>
              <a:spcBef>
                <a:spcPts val="600"/>
              </a:spcBef>
              <a:spcAft>
                <a:spcPts val="0"/>
              </a:spcAft>
              <a:buClr>
                <a:schemeClr val="dk1"/>
              </a:buClr>
              <a:buSzPts val="2400"/>
              <a:buChar char="•"/>
            </a:pPr>
            <a:r>
              <a:rPr lang="en-US" sz="2400"/>
              <a:t>Làm bài tập Quiz</a:t>
            </a:r>
            <a:endParaRPr/>
          </a:p>
          <a:p>
            <a:pPr indent="-228600" lvl="0" marL="228600" rtl="0" algn="just">
              <a:lnSpc>
                <a:spcPct val="130000"/>
              </a:lnSpc>
              <a:spcBef>
                <a:spcPts val="600"/>
              </a:spcBef>
              <a:spcAft>
                <a:spcPts val="0"/>
              </a:spcAft>
              <a:buClr>
                <a:schemeClr val="dk1"/>
              </a:buClr>
              <a:buSzPts val="2400"/>
              <a:buChar char="•"/>
            </a:pPr>
            <a:r>
              <a:rPr lang="en-US" sz="2400"/>
              <a:t>Làm bài tập Wecode</a:t>
            </a:r>
            <a:endParaRPr sz="2400"/>
          </a:p>
          <a:p>
            <a:pPr indent="-228600" lvl="0" marL="228600" rtl="0" algn="just">
              <a:lnSpc>
                <a:spcPct val="130000"/>
              </a:lnSpc>
              <a:spcBef>
                <a:spcPts val="600"/>
              </a:spcBef>
              <a:spcAft>
                <a:spcPts val="0"/>
              </a:spcAft>
              <a:buClr>
                <a:schemeClr val="dk1"/>
              </a:buClr>
              <a:buSzPts val="2400"/>
              <a:buChar char="•"/>
            </a:pPr>
            <a:r>
              <a:rPr lang="en-US" sz="2400"/>
              <a:t>Học sinh có 1-2 tuần để hoàn thành các chủ đề theo kế hoạch học tập từng buổi</a:t>
            </a:r>
            <a:endParaRPr sz="2400"/>
          </a:p>
        </p:txBody>
      </p:sp>
      <p:sp>
        <p:nvSpPr>
          <p:cNvPr id="509" name="Google Shape;509;p2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510" name="Google Shape;510;p20"/>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511" name="Google Shape;511;p2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12" name="Google Shape;512;p20"/>
          <p:cNvSpPr txBox="1"/>
          <p:nvPr>
            <p:ph idx="2" type="body"/>
          </p:nvPr>
        </p:nvSpPr>
        <p:spPr>
          <a:xfrm>
            <a:off x="4440235" y="2074505"/>
            <a:ext cx="3617429" cy="4214349"/>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400"/>
              <a:buChar char="•"/>
            </a:pPr>
            <a:r>
              <a:rPr lang="en-US" sz="2400"/>
              <a:t>Trao đổi, Thảo luận</a:t>
            </a:r>
            <a:endParaRPr/>
          </a:p>
          <a:p>
            <a:pPr indent="-228600" lvl="0" marL="228600" rtl="0" algn="just">
              <a:lnSpc>
                <a:spcPct val="130000"/>
              </a:lnSpc>
              <a:spcBef>
                <a:spcPts val="600"/>
              </a:spcBef>
              <a:spcAft>
                <a:spcPts val="0"/>
              </a:spcAft>
              <a:buClr>
                <a:schemeClr val="dk1"/>
              </a:buClr>
              <a:buSzPts val="2400"/>
              <a:buChar char="•"/>
            </a:pPr>
            <a:r>
              <a:rPr lang="en-US" sz="2400"/>
              <a:t>Làm bài tập Lý thuyết</a:t>
            </a:r>
            <a:endParaRPr/>
          </a:p>
          <a:p>
            <a:pPr indent="-228600" lvl="0" marL="228600" rtl="0" algn="just">
              <a:lnSpc>
                <a:spcPct val="130000"/>
              </a:lnSpc>
              <a:spcBef>
                <a:spcPts val="600"/>
              </a:spcBef>
              <a:spcAft>
                <a:spcPts val="0"/>
              </a:spcAft>
              <a:buClr>
                <a:schemeClr val="dk1"/>
              </a:buClr>
              <a:buSzPts val="2400"/>
              <a:buChar char="•"/>
            </a:pPr>
            <a:r>
              <a:rPr lang="en-US" sz="2400"/>
              <a:t>Làm bài tập wecode trên lớp </a:t>
            </a:r>
            <a:endParaRPr/>
          </a:p>
        </p:txBody>
      </p:sp>
      <p:sp>
        <p:nvSpPr>
          <p:cNvPr id="513" name="Google Shape;513;p20"/>
          <p:cNvSpPr txBox="1"/>
          <p:nvPr>
            <p:ph idx="3" type="body"/>
          </p:nvPr>
        </p:nvSpPr>
        <p:spPr>
          <a:xfrm>
            <a:off x="508000" y="1233825"/>
            <a:ext cx="3681567" cy="785896"/>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Autofit/>
          </a:bodyPr>
          <a:lstStyle/>
          <a:p>
            <a:pPr indent="0" lvl="0" marL="0" rtl="0" algn="ctr">
              <a:lnSpc>
                <a:spcPct val="120000"/>
              </a:lnSpc>
              <a:spcBef>
                <a:spcPts val="0"/>
              </a:spcBef>
              <a:spcAft>
                <a:spcPts val="0"/>
              </a:spcAft>
              <a:buClr>
                <a:schemeClr val="lt1"/>
              </a:buClr>
              <a:buSzPts val="2000"/>
              <a:buNone/>
            </a:pPr>
            <a:r>
              <a:rPr lang="en-US" sz="2000"/>
              <a:t>Hoạt động trước giờ lên lớp</a:t>
            </a:r>
            <a:endParaRPr/>
          </a:p>
          <a:p>
            <a:pPr indent="0" lvl="0" marL="0" rtl="0" algn="ctr">
              <a:lnSpc>
                <a:spcPct val="120000"/>
              </a:lnSpc>
              <a:spcBef>
                <a:spcPts val="400"/>
              </a:spcBef>
              <a:spcAft>
                <a:spcPts val="0"/>
              </a:spcAft>
              <a:buClr>
                <a:schemeClr val="lt1"/>
              </a:buClr>
              <a:buSzPts val="2000"/>
              <a:buNone/>
            </a:pPr>
            <a:r>
              <a:rPr lang="en-US" sz="2000"/>
              <a:t>Pre-class</a:t>
            </a:r>
            <a:endParaRPr/>
          </a:p>
        </p:txBody>
      </p:sp>
      <p:sp>
        <p:nvSpPr>
          <p:cNvPr id="514" name="Google Shape;514;p20"/>
          <p:cNvSpPr txBox="1"/>
          <p:nvPr>
            <p:ph idx="4" type="body"/>
          </p:nvPr>
        </p:nvSpPr>
        <p:spPr>
          <a:xfrm>
            <a:off x="4439441" y="1233825"/>
            <a:ext cx="3617981" cy="785896"/>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Autofit/>
          </a:bodyPr>
          <a:lstStyle/>
          <a:p>
            <a:pPr indent="0" lvl="0" marL="0" rtl="0" algn="ctr">
              <a:lnSpc>
                <a:spcPct val="120000"/>
              </a:lnSpc>
              <a:spcBef>
                <a:spcPts val="0"/>
              </a:spcBef>
              <a:spcAft>
                <a:spcPts val="0"/>
              </a:spcAft>
              <a:buClr>
                <a:schemeClr val="lt1"/>
              </a:buClr>
              <a:buSzPts val="2000"/>
              <a:buNone/>
            </a:pPr>
            <a:r>
              <a:rPr lang="en-US" sz="2000"/>
              <a:t>Hoạt động tại lớp</a:t>
            </a:r>
            <a:endParaRPr/>
          </a:p>
          <a:p>
            <a:pPr indent="0" lvl="0" marL="0" rtl="0" algn="ctr">
              <a:lnSpc>
                <a:spcPct val="120000"/>
              </a:lnSpc>
              <a:spcBef>
                <a:spcPts val="400"/>
              </a:spcBef>
              <a:spcAft>
                <a:spcPts val="0"/>
              </a:spcAft>
              <a:buClr>
                <a:schemeClr val="lt1"/>
              </a:buClr>
              <a:buSzPts val="2000"/>
              <a:buNone/>
            </a:pPr>
            <a:r>
              <a:rPr lang="en-US" sz="2000"/>
              <a:t>In-class</a:t>
            </a:r>
            <a:endParaRPr/>
          </a:p>
        </p:txBody>
      </p:sp>
      <p:sp>
        <p:nvSpPr>
          <p:cNvPr id="515" name="Google Shape;515;p20"/>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Lớp học đảo ngược</a:t>
            </a:r>
            <a:endParaRPr/>
          </a:p>
        </p:txBody>
      </p:sp>
      <p:sp>
        <p:nvSpPr>
          <p:cNvPr id="516" name="Google Shape;516;p20"/>
          <p:cNvSpPr txBox="1"/>
          <p:nvPr/>
        </p:nvSpPr>
        <p:spPr>
          <a:xfrm>
            <a:off x="8288523" y="1231157"/>
            <a:ext cx="3617981" cy="785896"/>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lt1"/>
              </a:buClr>
              <a:buSzPts val="2000"/>
              <a:buFont typeface="Arial"/>
              <a:buNone/>
            </a:pPr>
            <a:r>
              <a:rPr b="1" i="0" lang="en-US" sz="2000">
                <a:solidFill>
                  <a:schemeClr val="lt1"/>
                </a:solidFill>
                <a:latin typeface="Arial"/>
                <a:ea typeface="Arial"/>
                <a:cs typeface="Arial"/>
                <a:sym typeface="Arial"/>
              </a:rPr>
              <a:t>Hoạt động sau giờ lên lớp</a:t>
            </a:r>
            <a:endParaRPr/>
          </a:p>
          <a:p>
            <a:pPr indent="0" lvl="0" marL="0" marR="0" rtl="0" algn="ctr">
              <a:lnSpc>
                <a:spcPct val="120000"/>
              </a:lnSpc>
              <a:spcBef>
                <a:spcPts val="400"/>
              </a:spcBef>
              <a:spcAft>
                <a:spcPts val="0"/>
              </a:spcAft>
              <a:buClr>
                <a:schemeClr val="lt1"/>
              </a:buClr>
              <a:buSzPts val="2000"/>
              <a:buFont typeface="Arial"/>
              <a:buNone/>
            </a:pPr>
            <a:r>
              <a:rPr b="1" i="0" lang="en-US" sz="2000">
                <a:solidFill>
                  <a:schemeClr val="lt1"/>
                </a:solidFill>
                <a:latin typeface="Arial"/>
                <a:ea typeface="Arial"/>
                <a:cs typeface="Arial"/>
                <a:sym typeface="Arial"/>
              </a:rPr>
              <a:t>Post-class</a:t>
            </a:r>
            <a:endParaRPr/>
          </a:p>
        </p:txBody>
      </p:sp>
      <p:sp>
        <p:nvSpPr>
          <p:cNvPr id="517" name="Google Shape;517;p20"/>
          <p:cNvSpPr txBox="1"/>
          <p:nvPr/>
        </p:nvSpPr>
        <p:spPr>
          <a:xfrm>
            <a:off x="8316668" y="2074504"/>
            <a:ext cx="3617429" cy="4214349"/>
          </a:xfrm>
          <a:prstGeom prst="rect">
            <a:avLst/>
          </a:prstGeom>
          <a:noFill/>
          <a:ln cap="flat" cmpd="sng" w="9525">
            <a:solidFill>
              <a:srgbClr val="141727"/>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3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Làm bài tập Quiz, Wecode về nhà</a:t>
            </a:r>
            <a:endParaRPr sz="2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1"/>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9. Kiểm tra, đánh giá</a:t>
            </a:r>
            <a:endParaRPr/>
          </a:p>
        </p:txBody>
      </p:sp>
      <p:graphicFrame>
        <p:nvGraphicFramePr>
          <p:cNvPr id="523" name="Google Shape;523;p21"/>
          <p:cNvGraphicFramePr/>
          <p:nvPr/>
        </p:nvGraphicFramePr>
        <p:xfrm>
          <a:off x="524332" y="1518809"/>
          <a:ext cx="3000000" cy="3000000"/>
        </p:xfrm>
        <a:graphic>
          <a:graphicData uri="http://schemas.openxmlformats.org/drawingml/2006/table">
            <a:tbl>
              <a:tblPr bandRow="1">
                <a:noFill/>
                <a:tableStyleId>{975D1963-0C52-4EAC-A566-8B83A437E4A1}</a:tableStyleId>
              </a:tblPr>
              <a:tblGrid>
                <a:gridCol w="1006800"/>
                <a:gridCol w="1076825"/>
                <a:gridCol w="925725"/>
                <a:gridCol w="6752025"/>
                <a:gridCol w="1560300"/>
              </a:tblGrid>
              <a:tr h="485600">
                <a:tc gridSpan="2">
                  <a:txBody>
                    <a:bodyPr/>
                    <a:lstStyle/>
                    <a:p>
                      <a:pPr indent="0" lvl="0" marL="0" marR="0" rtl="0" algn="ctr">
                        <a:lnSpc>
                          <a:spcPct val="100000"/>
                        </a:lnSpc>
                        <a:spcBef>
                          <a:spcPts val="0"/>
                        </a:spcBef>
                        <a:spcAft>
                          <a:spcPts val="0"/>
                        </a:spcAft>
                        <a:buNone/>
                      </a:pPr>
                      <a:r>
                        <a:rPr b="1" lang="en-US" sz="1600">
                          <a:latin typeface="Arial"/>
                          <a:ea typeface="Arial"/>
                          <a:cs typeface="Arial"/>
                          <a:sym typeface="Arial"/>
                        </a:rPr>
                        <a:t>Thành phần điểm</a:t>
                      </a:r>
                      <a:endParaRPr b="1"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600">
                          <a:latin typeface="Arial"/>
                          <a:ea typeface="Arial"/>
                          <a:cs typeface="Arial"/>
                          <a:sym typeface="Arial"/>
                        </a:rPr>
                        <a:t>Trọng số</a:t>
                      </a:r>
                      <a:endParaRPr b="1"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a:latin typeface="Arial"/>
                          <a:ea typeface="Arial"/>
                          <a:cs typeface="Arial"/>
                          <a:sym typeface="Arial"/>
                        </a:rPr>
                        <a:t>Cách đánh giá</a:t>
                      </a:r>
                      <a:endParaRPr b="1"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600">
                          <a:latin typeface="Arial"/>
                          <a:ea typeface="Arial"/>
                          <a:cs typeface="Arial"/>
                          <a:sym typeface="Arial"/>
                        </a:rPr>
                        <a:t>Công cụ </a:t>
                      </a:r>
                      <a:endParaRPr/>
                    </a:p>
                    <a:p>
                      <a:pPr indent="0" lvl="0" marL="0" marR="0" rtl="0" algn="ctr">
                        <a:lnSpc>
                          <a:spcPct val="100000"/>
                        </a:lnSpc>
                        <a:spcBef>
                          <a:spcPts val="0"/>
                        </a:spcBef>
                        <a:spcAft>
                          <a:spcPts val="0"/>
                        </a:spcAft>
                        <a:buNone/>
                      </a:pPr>
                      <a:r>
                        <a:rPr b="1" lang="en-US" sz="1600">
                          <a:latin typeface="Arial"/>
                          <a:ea typeface="Arial"/>
                          <a:cs typeface="Arial"/>
                          <a:sym typeface="Arial"/>
                        </a:rPr>
                        <a:t>đánh giá</a:t>
                      </a:r>
                      <a:endParaRPr b="1"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56800">
                <a:tc rowSpan="2">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Quá trình</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Quá trình: LMS</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10%</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Calibri"/>
                          <a:ea typeface="Calibri"/>
                          <a:cs typeface="Calibri"/>
                          <a:sym typeface="Calibri"/>
                        </a:rPr>
                        <a:t>Hoàn thành bài giảng các chương</a:t>
                      </a:r>
                      <a:r>
                        <a:rPr lang="en-US" sz="1600">
                          <a:solidFill>
                            <a:schemeClr val="dk1"/>
                          </a:solidFill>
                          <a:latin typeface="Calibri"/>
                          <a:ea typeface="Calibri"/>
                          <a:cs typeface="Calibri"/>
                          <a:sym typeface="Calibri"/>
                        </a:rPr>
                        <a:t>/ </a:t>
                      </a:r>
                      <a:r>
                        <a:rPr lang="en-US" sz="1600">
                          <a:solidFill>
                            <a:schemeClr val="dk1"/>
                          </a:solidFill>
                          <a:latin typeface="Arial"/>
                          <a:ea typeface="Arial"/>
                          <a:cs typeface="Arial"/>
                          <a:sym typeface="Arial"/>
                        </a:rPr>
                        <a:t>tuần</a:t>
                      </a:r>
                      <a:r>
                        <a:rPr lang="en-US" sz="1600">
                          <a:solidFill>
                            <a:schemeClr val="dk1"/>
                          </a:solidFill>
                          <a:latin typeface="Calibri"/>
                          <a:ea typeface="Calibri"/>
                          <a:cs typeface="Calibri"/>
                          <a:sym typeface="Calibri"/>
                        </a:rPr>
                        <a:t> </a:t>
                      </a:r>
                      <a:r>
                        <a:rPr lang="en-US" sz="1600">
                          <a:latin typeface="Calibri"/>
                          <a:ea typeface="Calibri"/>
                          <a:cs typeface="Calibri"/>
                          <a:sym typeface="Calibri"/>
                        </a:rPr>
                        <a:t>trên </a:t>
                      </a:r>
                      <a:r>
                        <a:rPr lang="en-US" sz="1600">
                          <a:latin typeface="Arial"/>
                          <a:ea typeface="Arial"/>
                          <a:cs typeface="Arial"/>
                          <a:sym typeface="Arial"/>
                        </a:rPr>
                        <a:t>LMS Moodle </a:t>
                      </a:r>
                      <a:r>
                        <a:rPr b="1" lang="en-US" sz="1800">
                          <a:solidFill>
                            <a:schemeClr val="dk1"/>
                          </a:solidFill>
                          <a:latin typeface="Calibri"/>
                          <a:ea typeface="Calibri"/>
                          <a:cs typeface="Calibri"/>
                          <a:sym typeface="Calibri"/>
                        </a:rPr>
                        <a:t>Checklist đủ từng tuần</a:t>
                      </a:r>
                      <a:endParaRPr sz="18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Calibri"/>
                          <a:ea typeface="Calibri"/>
                          <a:cs typeface="Calibri"/>
                          <a:sym typeface="Calibri"/>
                        </a:rPr>
                        <a:t>Hoàn thành các bài kiểm tra </a:t>
                      </a:r>
                      <a:r>
                        <a:rPr lang="en-US" sz="1600">
                          <a:latin typeface="Arial"/>
                          <a:ea typeface="Arial"/>
                          <a:cs typeface="Arial"/>
                          <a:sym typeface="Arial"/>
                        </a:rPr>
                        <a:t>Quiz</a:t>
                      </a:r>
                      <a:r>
                        <a:rPr lang="en-US" sz="1600">
                          <a:latin typeface="Calibri"/>
                          <a:ea typeface="Calibri"/>
                          <a:cs typeface="Calibri"/>
                          <a:sym typeface="Calibri"/>
                        </a:rPr>
                        <a:t> trong quá trình</a:t>
                      </a:r>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Điểm danh các buổi học</a:t>
                      </a:r>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Tích cực tham gia thảo luận trên diễn đàn chung của toàn khóa học</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Điểm cộng khác trong quá trình học do GV quy định</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Microsoft Teams</a:t>
                      </a:r>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Dedication tool</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Quiz</a:t>
                      </a:r>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Forum</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5600">
                <a:tc vMerge="1"/>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Thực hành</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100%</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Hoàn thành nội dung bài Thực hành wecode (</a:t>
                      </a:r>
                      <a:r>
                        <a:rPr lang="en-US" sz="1600">
                          <a:solidFill>
                            <a:srgbClr val="FF0000"/>
                          </a:solidFill>
                          <a:latin typeface="Arial"/>
                          <a:ea typeface="Arial"/>
                          <a:cs typeface="Arial"/>
                          <a:sym typeface="Arial"/>
                        </a:rPr>
                        <a:t>pre-class, in-class, post-class</a:t>
                      </a:r>
                      <a:r>
                        <a:rPr lang="en-US" sz="1600">
                          <a:latin typeface="Arial"/>
                          <a:ea typeface="Arial"/>
                          <a:cs typeface="Arial"/>
                          <a:sym typeface="Arial"/>
                        </a:rPr>
                        <a:t>) trong thời gian cho phép</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Wecode</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14000">
                <a:tc rowSpan="2">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Cuối kỳ</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Thi Cuối kỳ Thực hành</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40%</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Thi Thực hành trên máy tính của phòng Lab</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Làm 4-5 câu thực hành trên wecode, thời gian 60-90 phút</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Không dùng tài liệu, không lên mạng (máy tính trường chỉ kết nối với trang làm bài wecode) 🡺 Học sinh chỉ dùng các phần mềm có sẵn trên máy để chạy chương trình C++ (cụ thể là Codeblock)</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Wecode</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14825">
                <a:tc vMerge="1"/>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Thi Cuối kỳ Lý thuyết</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600">
                          <a:latin typeface="Arial"/>
                          <a:ea typeface="Arial"/>
                          <a:cs typeface="Arial"/>
                          <a:sym typeface="Arial"/>
                        </a:rPr>
                        <a:t>40%</a:t>
                      </a:r>
                      <a:endParaRPr sz="1600">
                        <a:latin typeface="Arial"/>
                        <a:ea typeface="Arial"/>
                        <a:cs typeface="Arial"/>
                        <a:sym typeface="Arial"/>
                      </a:endParaRPr>
                    </a:p>
                  </a:txBody>
                  <a:tcPr marT="0" marB="0" marR="26250" marL="26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Thi Lý thuyết trên máy tính của phòng Lab</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Làm 40-45 câu hỏi lý thuyết dạng bài Quiz trên hệ thống Moodle, thời gian 60 phút</a:t>
                      </a:r>
                      <a:endParaRPr sz="1600">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Không dùng tài liệu, không lên mạng (máy tính trường chỉ kết nối với trang làm bài Quiz trên moodle)</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600"/>
                        <a:buFont typeface="Arial"/>
                        <a:buChar char="●"/>
                      </a:pPr>
                      <a:r>
                        <a:rPr lang="en-US" sz="1600">
                          <a:latin typeface="Arial"/>
                          <a:ea typeface="Arial"/>
                          <a:cs typeface="Arial"/>
                          <a:sym typeface="Arial"/>
                        </a:rPr>
                        <a:t>Quiz</a:t>
                      </a:r>
                      <a:endParaRPr sz="1600">
                        <a:latin typeface="Arial"/>
                        <a:ea typeface="Arial"/>
                        <a:cs typeface="Arial"/>
                        <a:sym typeface="Arial"/>
                      </a:endParaRPr>
                    </a:p>
                  </a:txBody>
                  <a:tcPr marT="0" marB="0" marR="26250" marL="26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24" name="Google Shape;524;p2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525" name="Google Shape;525;p21"/>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526" name="Google Shape;526;p2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27" name="Google Shape;527;p21"/>
          <p:cNvSpPr txBox="1"/>
          <p:nvPr/>
        </p:nvSpPr>
        <p:spPr>
          <a:xfrm>
            <a:off x="956840" y="1032137"/>
            <a:ext cx="5490606" cy="494751"/>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Thang điểm đánh giá: thang điểm 10</a:t>
            </a:r>
            <a:endParaRPr sz="24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2"/>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10. Tài liệu tham khảo</a:t>
            </a:r>
            <a:endParaRPr/>
          </a:p>
        </p:txBody>
      </p:sp>
      <p:sp>
        <p:nvSpPr>
          <p:cNvPr id="533" name="Google Shape;533;p22"/>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t>[1] Giáo trình Nhập môn lập trình - 2022 – Trường ĐH CNTT</a:t>
            </a:r>
            <a:endParaRPr sz="2400"/>
          </a:p>
          <a:p>
            <a:pPr indent="0" lvl="0" marL="0" rtl="0" algn="just">
              <a:lnSpc>
                <a:spcPct val="150000"/>
              </a:lnSpc>
              <a:spcBef>
                <a:spcPts val="600"/>
              </a:spcBef>
              <a:spcAft>
                <a:spcPts val="0"/>
              </a:spcAft>
              <a:buClr>
                <a:schemeClr val="dk1"/>
              </a:buClr>
              <a:buSzPts val="2400"/>
              <a:buNone/>
            </a:pPr>
            <a:r>
              <a:rPr lang="en-US" sz="2400"/>
              <a:t>[2] C++ Programming, 5th Edition, DS Malik, 2011</a:t>
            </a:r>
            <a:endParaRPr sz="2400"/>
          </a:p>
          <a:p>
            <a:pPr indent="0" lvl="0" marL="0" marR="0" rtl="0" algn="just">
              <a:lnSpc>
                <a:spcPct val="150000"/>
              </a:lnSpc>
              <a:spcBef>
                <a:spcPts val="300"/>
              </a:spcBef>
              <a:spcAft>
                <a:spcPts val="0"/>
              </a:spcAft>
              <a:buClr>
                <a:schemeClr val="dk1"/>
              </a:buClr>
              <a:buSzPts val="2400"/>
              <a:buNone/>
            </a:pPr>
            <a:r>
              <a:rPr lang="en-US" sz="2400"/>
              <a:t>[3] Thinking in C++, Bruce Eckel, ebook</a:t>
            </a:r>
            <a:endParaRPr sz="2400"/>
          </a:p>
          <a:p>
            <a:pPr indent="0" lvl="0" marL="0" marR="0" rtl="0" algn="just">
              <a:lnSpc>
                <a:spcPct val="150000"/>
              </a:lnSpc>
              <a:spcBef>
                <a:spcPts val="0"/>
              </a:spcBef>
              <a:spcAft>
                <a:spcPts val="0"/>
              </a:spcAft>
              <a:buClr>
                <a:schemeClr val="dk1"/>
              </a:buClr>
              <a:buSzPts val="2400"/>
              <a:buNone/>
            </a:pPr>
            <a:r>
              <a:rPr lang="en-US" sz="2400"/>
              <a:t>[4] Theory and Problems of Fundamentals of Computing with C++, John R.Hubbard, Schaum’s Outlines Series, McGraw-Hill, 1998</a:t>
            </a:r>
            <a:endParaRPr sz="2400"/>
          </a:p>
          <a:p>
            <a:pPr indent="0" lvl="0" marL="0" marR="0" rtl="0" algn="just">
              <a:lnSpc>
                <a:spcPct val="150000"/>
              </a:lnSpc>
              <a:spcBef>
                <a:spcPts val="0"/>
              </a:spcBef>
              <a:spcAft>
                <a:spcPts val="0"/>
              </a:spcAft>
              <a:buClr>
                <a:schemeClr val="dk1"/>
              </a:buClr>
              <a:buSzPts val="2400"/>
              <a:buNone/>
            </a:pPr>
            <a:r>
              <a:rPr lang="en-US" sz="2400"/>
              <a:t>[5] </a:t>
            </a:r>
            <a:r>
              <a:rPr lang="en-US" sz="2400" u="sng">
                <a:solidFill>
                  <a:schemeClr val="hlink"/>
                </a:solidFill>
                <a:hlinkClick r:id="rId3"/>
              </a:rPr>
              <a:t>http://www.cplusplus.com/doc/tutorial/</a:t>
            </a:r>
            <a:r>
              <a:rPr lang="en-US" sz="2400"/>
              <a:t> </a:t>
            </a:r>
            <a:endParaRPr/>
          </a:p>
        </p:txBody>
      </p:sp>
      <p:sp>
        <p:nvSpPr>
          <p:cNvPr id="534" name="Google Shape;534;p2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535" name="Google Shape;535;p22"/>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536" name="Google Shape;536;p22"/>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3"/>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11. Phần mềm, công cụ hỗ trợ thực hành</a:t>
            </a:r>
            <a:endParaRPr/>
          </a:p>
        </p:txBody>
      </p:sp>
      <p:sp>
        <p:nvSpPr>
          <p:cNvPr id="542" name="Google Shape;542;p23"/>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rgbClr val="081C36"/>
              </a:buClr>
              <a:buSzPts val="2800"/>
              <a:buChar char="•"/>
            </a:pPr>
            <a:r>
              <a:rPr b="0" i="0" lang="en-US">
                <a:solidFill>
                  <a:srgbClr val="081C36"/>
                </a:solidFill>
                <a:highlight>
                  <a:srgbClr val="FFFFFF"/>
                </a:highlight>
                <a:latin typeface="Quattrocento Sans"/>
                <a:ea typeface="Quattrocento Sans"/>
                <a:cs typeface="Quattrocento Sans"/>
                <a:sym typeface="Quattrocento Sans"/>
              </a:rPr>
              <a:t>Sử dụng phần mềm Code::Blocks (http://www.codeblocks.org/) </a:t>
            </a:r>
            <a:endParaRPr/>
          </a:p>
          <a:p>
            <a:pPr indent="-228600" lvl="0" marL="228600" rtl="0" algn="l">
              <a:lnSpc>
                <a:spcPct val="130000"/>
              </a:lnSpc>
              <a:spcBef>
                <a:spcPts val="600"/>
              </a:spcBef>
              <a:spcAft>
                <a:spcPts val="0"/>
              </a:spcAft>
              <a:buClr>
                <a:srgbClr val="081C36"/>
              </a:buClr>
              <a:buSzPts val="2800"/>
              <a:buChar char="•"/>
            </a:pPr>
            <a:r>
              <a:rPr b="0" i="0" lang="en-US">
                <a:solidFill>
                  <a:srgbClr val="081C36"/>
                </a:solidFill>
                <a:highlight>
                  <a:srgbClr val="FFFFFF"/>
                </a:highlight>
                <a:latin typeface="Quattrocento Sans"/>
                <a:ea typeface="Quattrocento Sans"/>
                <a:cs typeface="Quattrocento Sans"/>
                <a:sym typeface="Quattrocento Sans"/>
              </a:rPr>
              <a:t>Phần mềm Microsoft Visual Studio C++</a:t>
            </a:r>
            <a:endParaRPr/>
          </a:p>
          <a:p>
            <a:pPr indent="-228600" lvl="0" marL="228600" rtl="0" algn="l">
              <a:lnSpc>
                <a:spcPct val="130000"/>
              </a:lnSpc>
              <a:spcBef>
                <a:spcPts val="600"/>
              </a:spcBef>
              <a:spcAft>
                <a:spcPts val="0"/>
              </a:spcAft>
              <a:buClr>
                <a:srgbClr val="081C36"/>
              </a:buClr>
              <a:buSzPts val="2800"/>
              <a:buChar char="•"/>
            </a:pPr>
            <a:r>
              <a:rPr b="0" i="0" lang="en-US">
                <a:solidFill>
                  <a:srgbClr val="081C36"/>
                </a:solidFill>
                <a:highlight>
                  <a:srgbClr val="FFFFFF"/>
                </a:highlight>
                <a:latin typeface="Quattrocento Sans"/>
                <a:ea typeface="Quattrocento Sans"/>
                <a:cs typeface="Quattrocento Sans"/>
                <a:sym typeface="Quattrocento Sans"/>
              </a:rPr>
              <a:t>Hệ thống nộp bài tập thực hành wecode online judge </a:t>
            </a:r>
            <a:r>
              <a:rPr b="0" i="0" lang="en-US" u="sng">
                <a:solidFill>
                  <a:srgbClr val="081C36"/>
                </a:solidFill>
                <a:highlight>
                  <a:srgbClr val="FFFFFF"/>
                </a:highlight>
                <a:latin typeface="Quattrocento Sans"/>
                <a:ea typeface="Quattrocento Sans"/>
                <a:cs typeface="Quattrocento Sans"/>
                <a:sym typeface="Quattrocento Sans"/>
                <a:hlinkClick r:id="rId3">
                  <a:extLst>
                    <a:ext uri="{A12FA001-AC4F-418D-AE19-62706E023703}">
                      <ahyp:hlinkClr val="tx"/>
                    </a:ext>
                  </a:extLst>
                </a:hlinkClick>
              </a:rPr>
              <a:t>http://</a:t>
            </a:r>
            <a:r>
              <a:rPr lang="en-US" u="sng">
                <a:solidFill>
                  <a:srgbClr val="081C36"/>
                </a:solidFill>
                <a:highlight>
                  <a:srgbClr val="FFFFFF"/>
                </a:highlight>
                <a:latin typeface="Quattrocento Sans"/>
                <a:ea typeface="Quattrocento Sans"/>
                <a:cs typeface="Quattrocento Sans"/>
                <a:sym typeface="Quattrocento Sans"/>
                <a:hlinkClick r:id="rId4">
                  <a:extLst>
                    <a:ext uri="{A12FA001-AC4F-418D-AE19-62706E023703}">
                      <ahyp:hlinkClr val="tx"/>
                    </a:ext>
                  </a:extLst>
                </a:hlinkClick>
              </a:rPr>
              <a:t>khmt</a:t>
            </a:r>
            <a:r>
              <a:rPr b="0" i="0" lang="en-US" u="sng">
                <a:solidFill>
                  <a:srgbClr val="081C36"/>
                </a:solidFill>
                <a:highlight>
                  <a:srgbClr val="FFFFFF"/>
                </a:highlight>
                <a:latin typeface="Quattrocento Sans"/>
                <a:ea typeface="Quattrocento Sans"/>
                <a:cs typeface="Quattrocento Sans"/>
                <a:sym typeface="Quattrocento Sans"/>
                <a:hlinkClick r:id="rId5">
                  <a:extLst>
                    <a:ext uri="{A12FA001-AC4F-418D-AE19-62706E023703}">
                      <ahyp:hlinkClr val="tx"/>
                    </a:ext>
                  </a:extLst>
                </a:hlinkClick>
              </a:rPr>
              <a:t>.uit.edu.vn/wecode/thpt/</a:t>
            </a:r>
            <a:r>
              <a:rPr b="0" i="0" lang="en-US">
                <a:solidFill>
                  <a:srgbClr val="081C36"/>
                </a:solidFill>
                <a:highlight>
                  <a:srgbClr val="FFFFFF"/>
                </a:highlight>
                <a:latin typeface="Quattrocento Sans"/>
                <a:ea typeface="Quattrocento Sans"/>
                <a:cs typeface="Quattrocento Sans"/>
                <a:sym typeface="Quattrocento Sans"/>
              </a:rPr>
              <a:t> </a:t>
            </a:r>
            <a:endParaRPr b="0" i="0">
              <a:solidFill>
                <a:srgbClr val="081C36"/>
              </a:solidFill>
              <a:highlight>
                <a:srgbClr val="FFFFFF"/>
              </a:highlight>
              <a:latin typeface="Quattrocento Sans"/>
              <a:ea typeface="Quattrocento Sans"/>
              <a:cs typeface="Quattrocento Sans"/>
              <a:sym typeface="Quattrocento Sans"/>
            </a:endParaRPr>
          </a:p>
        </p:txBody>
      </p:sp>
      <p:sp>
        <p:nvSpPr>
          <p:cNvPr id="543" name="Google Shape;543;p2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
        <p:nvSpPr>
          <p:cNvPr id="544" name="Google Shape;544;p2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545" name="Google Shape;545;p2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24"/>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t/>
            </a:r>
            <a:endParaRPr/>
          </a:p>
        </p:txBody>
      </p:sp>
      <p:sp>
        <p:nvSpPr>
          <p:cNvPr id="551" name="Google Shape;551;p24"/>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p>
            <a:pPr indent="0" lvl="0" marL="61722" rtl="0" algn="ctr">
              <a:lnSpc>
                <a:spcPct val="130000"/>
              </a:lnSpc>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Chúc các em học tốt !</a:t>
            </a:r>
            <a:endParaRPr b="1" sz="4000">
              <a:solidFill>
                <a:srgbClr val="FF0000"/>
              </a:solidFill>
              <a:latin typeface="Times New Roman"/>
              <a:ea typeface="Times New Roman"/>
              <a:cs typeface="Times New Roman"/>
              <a:sym typeface="Times New Roman"/>
            </a:endParaRPr>
          </a:p>
        </p:txBody>
      </p:sp>
      <p:sp>
        <p:nvSpPr>
          <p:cNvPr id="552" name="Google Shape;552;p2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00"/>
              <a:buFont typeface="Arial"/>
              <a:buNone/>
            </a:pPr>
            <a:fld id="{00000000-1234-1234-1234-123412341234}" type="slidenum">
              <a:rPr b="0" i="0" lang="en-US" sz="700" u="none" cap="none" strike="noStrike">
                <a:solidFill>
                  <a:srgbClr val="FFFFFF"/>
                </a:solidFill>
                <a:latin typeface="Arial"/>
                <a:ea typeface="Arial"/>
                <a:cs typeface="Arial"/>
                <a:sym typeface="Arial"/>
              </a:rPr>
              <a:t>‹#›</a:t>
            </a:fld>
            <a:endParaRPr b="0" i="0" sz="700" u="none" cap="none" strike="noStrike">
              <a:solidFill>
                <a:srgbClr val="FFFFFF"/>
              </a:solidFill>
              <a:latin typeface="Arial"/>
              <a:ea typeface="Arial"/>
              <a:cs typeface="Arial"/>
              <a:sym typeface="Arial"/>
            </a:endParaRPr>
          </a:p>
        </p:txBody>
      </p:sp>
      <p:pic>
        <p:nvPicPr>
          <p:cNvPr descr="http://www.codeblocks.org/images/blank.png" id="553" name="Google Shape;553;p24"/>
          <p:cNvPicPr preferRelativeResize="0"/>
          <p:nvPr/>
        </p:nvPicPr>
        <p:blipFill rotWithShape="1">
          <a:blip r:embed="rId3">
            <a:alphaModFix/>
          </a:blip>
          <a:srcRect b="0" l="0" r="0" t="0"/>
          <a:stretch/>
        </p:blipFill>
        <p:spPr>
          <a:xfrm>
            <a:off x="2783682" y="-102394"/>
            <a:ext cx="7144" cy="7144"/>
          </a:xfrm>
          <a:prstGeom prst="rect">
            <a:avLst/>
          </a:prstGeom>
          <a:noFill/>
          <a:ln>
            <a:noFill/>
          </a:ln>
        </p:spPr>
      </p:pic>
      <p:pic>
        <p:nvPicPr>
          <p:cNvPr id="554" name="Google Shape;554;p24"/>
          <p:cNvPicPr preferRelativeResize="0"/>
          <p:nvPr/>
        </p:nvPicPr>
        <p:blipFill rotWithShape="1">
          <a:blip r:embed="rId4">
            <a:alphaModFix/>
          </a:blip>
          <a:srcRect b="0" l="0" r="0" t="0"/>
          <a:stretch/>
        </p:blipFill>
        <p:spPr>
          <a:xfrm>
            <a:off x="3670554" y="2628900"/>
            <a:ext cx="4850892" cy="3234690"/>
          </a:xfrm>
          <a:prstGeom prst="rect">
            <a:avLst/>
          </a:prstGeom>
          <a:noFill/>
          <a:ln>
            <a:noFill/>
          </a:ln>
        </p:spPr>
      </p:pic>
      <p:sp>
        <p:nvSpPr>
          <p:cNvPr id="555" name="Google Shape;555;p2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June 2025</a:t>
            </a:r>
            <a:endParaRPr/>
          </a:p>
        </p:txBody>
      </p:sp>
      <p:sp>
        <p:nvSpPr>
          <p:cNvPr id="556" name="Google Shape;556;p2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Thực hiện bởi Trường Đại học Công nghệ Thông tin, ĐHQG-HCM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2023-10-24T06:45:57Z</dcterms:created>
  <dc:creator>diemn</dc:creator>
</cp:coreProperties>
</file>