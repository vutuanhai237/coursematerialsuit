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358" r:id="rId2"/>
    <p:sldId id="359" r:id="rId3"/>
    <p:sldId id="360" r:id="rId4"/>
    <p:sldId id="309" r:id="rId5"/>
    <p:sldId id="307" r:id="rId6"/>
    <p:sldId id="310" r:id="rId7"/>
    <p:sldId id="31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12" r:id="rId20"/>
    <p:sldId id="272" r:id="rId21"/>
    <p:sldId id="313" r:id="rId22"/>
    <p:sldId id="314" r:id="rId23"/>
    <p:sldId id="315" r:id="rId24"/>
    <p:sldId id="316" r:id="rId25"/>
    <p:sldId id="317" r:id="rId26"/>
    <p:sldId id="318" r:id="rId27"/>
    <p:sldId id="279" r:id="rId28"/>
    <p:sldId id="319" r:id="rId29"/>
    <p:sldId id="320" r:id="rId30"/>
    <p:sldId id="282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8" r:id="rId40"/>
    <p:sldId id="283" r:id="rId41"/>
    <p:sldId id="321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70" r:id="rId55"/>
    <p:sldId id="268" r:id="rId56"/>
    <p:sldId id="298" r:id="rId57"/>
    <p:sldId id="256" r:id="rId58"/>
    <p:sldId id="257" r:id="rId59"/>
    <p:sldId id="277" r:id="rId60"/>
    <p:sldId id="276" r:id="rId61"/>
    <p:sldId id="357" r:id="rId62"/>
    <p:sldId id="278" r:id="rId63"/>
    <p:sldId id="280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72"/>
    <p:sldId id="266" r:id="rId73"/>
    <p:sldId id="267" r:id="rId74"/>
    <p:sldId id="284" r:id="rId75"/>
    <p:sldId id="269" r:id="rId76"/>
    <p:sldId id="273" r:id="rId77"/>
    <p:sldId id="275" r:id="rId78"/>
    <p:sldId id="274" r:id="rId79"/>
    <p:sldId id="285" r:id="rId80"/>
    <p:sldId id="271" r:id="rId81"/>
    <p:sldId id="281" r:id="rId8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8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40" autoAdjust="0"/>
    <p:restoredTop sz="94660"/>
  </p:normalViewPr>
  <p:slideViewPr>
    <p:cSldViewPr snapToGrid="0">
      <p:cViewPr>
        <p:scale>
          <a:sx n="105" d="100"/>
          <a:sy n="105" d="100"/>
        </p:scale>
        <p:origin x="38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3:19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20017 3448 0,'25'0'31,"0"0"-31,0 0 15,0 0 1,-1 0 15,1-25-15,0 0-16,0-24 16,24-1-16,1-49 15,-50 74-15,50-49 16,-26 24-1,1 25-15,-25 0 16,0 1-16,0 73 94,0 50-79,50 25-15,-25 25 16,-25-99-16,0-1 16,24 1-16,1-50 15,-25 25-15,0 0 16</inkml:trace>
  <inkml:trace contextRef="#ctx0" brushRef="#br0" timeOffset="542.03">20712 3101 0,'0'24'78,"-25"-24"-78,25 25 15,0 25-15,0-25 16,0-1-16,0 26 16,0 0-16,0-26 15,0 26 1,75-25-1,-51 0-15,1-25 0,0 0 16,0 0-16,0 0 16,24 0-1,-24 0 1,0-50-16,-25-24 16,25-1-16,-25 50 15,0-24-15,0-1 16,0 25-16,0 1 15,0-26-15,0 25 16,0-24-16,-50 49 16,25-25-1,-24 0 1,24 25-16</inkml:trace>
  <inkml:trace contextRef="#ctx0" brushRef="#br0" timeOffset="1072.66">21158 2952 0,'0'49'62,"0"-24"-46,0 0-16,-24 25 15,24-1-15,0 1 0,0-25 16,0 24 0,0-24-16,24 25 15,51-1 1,-50-49-16,-1 0 16,1 0-1,0 0 1,0 0-16,0-25 15,-1 1-15,-24-26 16,0 0-16,0 1 16,0-26-16,0 26 15,0-1 1,0-24-16,0 24 16</inkml:trace>
  <inkml:trace contextRef="#ctx0" brushRef="#br0" timeOffset="1736.74">22051 2977 0,'-49'0'16,"24"0"-1,-25 24-15,1 1 16,24 25-16,-25-1 15,26-24 1,-26 0 0,25 25-16,25-26 15,0 26 1,0 0-16,0-26 16,0 1-16,0 0 15,0 0 1,25-25-16,0 25 15,24-25 1,1 0-16,0 0 0,-26 0 16,26-25-1,0 0-15,-50 0 16,24-74-16,1 25 16,0 24-16,-25 0 15,0 26-15,0-76 16,0 51-16,0-1 15</inkml:trace>
  <inkml:trace contextRef="#ctx0" brushRef="#br0" timeOffset="2109.86">22374 3076 0,'74'0'31,"-24"0"-31,24 0 16,-49 0-1,25 0-15,-26 0 16,1 0-16,0 0 16,25 0-1,-25 0-15,-1 0 16</inkml:trace>
  <inkml:trace contextRef="#ctx0" brushRef="#br0" timeOffset="2423.65">22845 2952 0,'25'0'16,"0"0"-1,0 0-15,-25 25 32,0 24-17,0 1 48,0-25-48,-25-1 1</inkml:trace>
  <inkml:trace contextRef="#ctx0" brushRef="#br0" timeOffset="2998.23">23986 2877 0,'0'0'0,"25"0"15,-25 50 32,0 0-47,0-1 16,0-24-16,0 49 15,0-24-15,-25 0 16,0 24 0,1-24-16,-26-1 15,0-24-15,25 25 16,1-1-16,-1-49 16,25 25 30,0 0-14,74-25-32,-24 0 15,0 0-15,24-25 16,0 25-16,-24 0 16,0-50-16</inkml:trace>
  <inkml:trace contextRef="#ctx0" brushRef="#br0" timeOffset="4386.58">24383 3051 0,'0'-25'32,"-25"25"-17,-24 75 1,49-1-1,0-24-15,0-1 16,0-24-16,0 49 16,0-49-16,49 50 15,50-26 1,-49-49-16,-25 0 16,24 0-1,26 0-15,-26-25 16,26-49-16,-26 24 15,-24 1-15,25-26 16,-50 51-16,0-26 16,0 0-16,0-24 15,0 49-15,0-49 16,0 49 0,0 0-16,-50 0 15,1 25-15,24 0 16,0 0-16,0 0 31,25 25 0,0 25-31,25-25 16,25-25-16,-1 24 16,26-24-16,-26 0 15,75 0-15,-74 0 16,-25 0-16,0 0 15,-1 0 32,-48 75-31,24-26-16,-25 26 16,0 49-16,25-99 15,-50 24-15,50-24 16,0 0-1,0 0-15,25-25 32,25 0-17,-1 0-15,-24-25 16,25 0 0,-25-25-16,-1 26 15,26-100-15,-50 99 16,0-25-16,0 25 15,0-24-15,0 24 16,0 0 0,0-24-16,-25 49 15,0 0 1,1 0-16,-1 0 16,25 24 15,0 1-16,0 0-15,49-25 16,26 0 0,-50 0-16,-1 0 15,1 0-15,0 25 32,-25 0-17,0-1-15,25 51 16,-25-26-1,0 1 1,0-25 0,25 24-16,24-49 31,-49 25-31,50-25 16,-1 0-16,1 0 15,0 0-15,-1-49 31,-24-1-31,-25 0 0,25 26 16,-25-51-16,0 50 16,0 1-16,0-1 15,0-50 1,0 26 0,-25 24-16,0 0 15,-49 0-15,49 25 16,0 0-16,-49 0 15,24 0-15,1 0 16,-26 25 0</inkml:trace>
  <inkml:trace contextRef="#ctx0" brushRef="#br0" timeOffset="8646">26318 2877 0,'25'-24'15,"-25"-1"-15,-25 25 16,25-50-16,-25 50 16,25-25-16,-25 25 15,0-24-15,1-1 16,-1 0-16,0 25 15,0-25-15,-24 0 16,-1 0-16,-99-49 16,50 49-16,-50-49 15,99 49-15,-49 25 16,-74-25-16,-1-24 16,0 24-1,1 0-15,-1 0 16,-24 25-16,24 0 15,-24-25-15,24 25 16,25 0-16,-25 0 0,50 0 16,0 0-1,25 0-15,-25 0 16,25 0-16,-50 0 16,50 0-16,0 0 15,-25 0-15,24 0 16,-24 0-16,50 0 15,-25 0-15,49 0 16,-24 0-16,-1 0 16,-49 0-1,25 0-15,-50 25 0,50 0 16,0-25-16,24 25 16,1-25-16,0 0 15,24 25-15,0-25 16,-24 0-1,24 0-15,1 0 16,-26 0-16,26 0 16,24 0-16,-25 0 15,25 0-15,-24 0 16,-1 0-16,25 0 16,1 0-16,-26 0 15,0 0-15,1 49 16,-26-24-16,-24 0 15,50 24-15,-26-24 16,1 25-16,-50 24 16,74-49-16,1 0 15,-51 49-15,1 1 16,-25-1 0,0 25-16,74-24 15,1-50-15,-26 24 0,1 26 16,-25 24-1,24 0-15,75-49 16,0 74 0,0-75-16,0 26 15,0-1-15,50 1 16,-50-26-16,50 1 16,-26-1-16,51 75 15,-1-49-15,25 24 16,25-25-16,25-24 15,0-25-15,-25 0 16,75-1-16,-26 1 16,1 25-1,-1-25-15,26-1 0,-25 1 16,24 0-16,-24-25 16,-1 0-16,26 0 15,-1 0 1,-24 0-16,24 0 15,1 0-15,-1 0 16,1 0-16,-1 0 16,0 0-16,1 0 15,24 0-15,0 0 16,25 0-16,-24 0 16,-1 0-16,50 0 15,0 0-15,-50 0 16,0 0-16,25 0 15,-49 0-15,-51 0 16,26 0-16,-75 0 16,0 0-16,25 0 15,-74 0 1,0 0-16,-26 0 16,1 0-16,0 0 15,0 0 1,24-25-1,-24 0 17,25 1-32,-50-26 15,25 0-15,-25 26 16,24-51-16,-24 26 16,0-26-16,0 26 15,0-26-15,0 26 16,0-26-16,0 1 15,0 24-15,0-24 16,0 49-16,0 0 16,0-24-16,0-1 15,-49 25-15,24 0 16,25-49-16,-25 74 16,25-50-1,-49-24-15,24 49 16,25 0-16,-50-24 15,25 24 1,1 0-16,24 0 16,-25 0-16,0 1 15,0-1-15,0 0 16,25-25 0,-24 50-1,24-24 63</inkml:trace>
  <inkml:trace contextRef="#ctx0" brushRef="#br0" timeOffset="11566.82">20588 4663 0,'-25'0'47,"25"25"-47,0 25 16,0-1-1,0 1-15,0 24 16,0 26-16,0-51 16,0 26-16,0-1 15,0-24-15,25 24 16,24 0-16,1 26 15,0-51-15,-25 50 16,24 1-16,1-51 16,-25-24-16,-1 25 15,26-25-15,0-25 16,24 49-16,-24-24 16,24-25-16,0 50 15,26-50-15,-26 0 16,0 0-1,1 0-15,49 0 16,-50 0-16,1 0 0,24 0 16,-25 0-1,1 0-15,-26 0 16,-24 0-16,0 0 16,25 0-1,-26 0-15,1 0 16,25 0-1</inkml:trace>
  <inkml:trace contextRef="#ctx0" brushRef="#br0" timeOffset="12127">22200 5829 0,'25'0'16,"25"25"0,-1 0-16,1 0 15,-1-1 1,1 26-16,0-25 15,-26-25-15,26 25 0,-50-1 16,25-24 47,-25 25-17,0 0-46,-25 0 16,-25 24-16,1 1 16,24-50-1,25 25-15,-25-25 16,0 0 0</inkml:trace>
  <inkml:trace contextRef="#ctx0" brushRef="#br0" timeOffset="13115.47">20489 4812 0,'0'50'47,"24"-25"-31,-24 49-16,0-24 15,0-1-15,0 50 16,0 75-16,0 0 16,0-26-16,0 26 15,0 0-15,0-1 16,0-49-16,0 25 15,0-25-15,0-25 16,0 1-16,0-26 16,0 1-16,0-1 15,25-24-15,0 24 32,0-24-32,0 24 15,-1-49-15,51 24 16,-1 51-16,1-51 0,-50 1 15,24-1-15,50 1 16,-24-25 0,-1 0-16,-24-25 15,74 24-15,0 1 16,-75-25-16,75 0 16,-49 0-16,24 0 15,-74 0-15,0 0 16,0 0 78,-1 0-79,1-25 16</inkml:trace>
  <inkml:trace contextRef="#ctx0" brushRef="#br0" timeOffset="13530.41">21952 7417 0,'50'0'16,"-25"0"-16,24 24 16,-49 1-16,50 25 15,-1-1-15,-49-24 0,50 25 16,-25-25-16,24-1 15,-49 1 1,25 0 0,-25 0 31,0 24-47,0-24 46,-49-25-30,24 0 15</inkml:trace>
  <inkml:trace contextRef="#ctx0" brushRef="#br0" timeOffset="17073.16">23267 7342 0,'-25'0'16,"0"0"-16,-24 0 15,24 0 1,0 0-16,-49 25 15,74 0 32,-25 24-31,25-24 0,0 0-16,0 0 15,0 0-15,0-1 0,49-24 16,-24 25-1,50 0-15,-51-25 16,1 0-16,0 25 16,0-25-1,-25 25 32,0-1-47,0 51 16,-25-26-1,0-49 1,0 0 0,1 0-16,-26 0 15</inkml:trace>
  <inkml:trace contextRef="#ctx0" brushRef="#br0" timeOffset="17549.64">23515 7565 0,'0'-24'31,"-25"24"1,0 0-32,0 0 31,1 0-16,-1 0-15,25 24 16,0 1 0,0 0-1,0 0-15,25 0 16,-1-25 0,1 0-16,0 0 15,0 0-15,24 0 31,-49-25 16,0 0-31</inkml:trace>
  <inkml:trace contextRef="#ctx0" brushRef="#br0" timeOffset="17886.41">23416 7268 0,'49'0'15,"26"0"1,-51 0-16,1 0 15,50 0 1,-51 0 0,1 0-1,25 0 1,-1 0 0,-49-25-1,50-49-15,-25 24 16,-25 25-16,50-49 15,-26 24-15,-24 25 16,25-24-16</inkml:trace>
  <inkml:trace contextRef="#ctx0" brushRef="#br0" timeOffset="18571.5">24234 7466 0,'-49'0'94,"24"0"-78,0 0-1,-25 25-15,50 0 16,0 0-1,0 24 1,0-24 0,0 0-16,0 0 15,25-25 17,0 0-32,0 0 15,24 0 1,-49-25-16,25 0 15,0 0-15,-25 0 16,0-49-16,0 49 16,0 0-1,0 50 48,0 50-63,0-1 15,0-24-15,0 49 16,0-25 0,0-24-16,0-25 15,0-1-15,0 26 16,0-25-16</inkml:trace>
  <inkml:trace contextRef="#ctx0" brushRef="#br0" timeOffset="19121.75">24408 7541 0,'49'24'16,"-49"26"-16,0 24 15,50-49 1,-25 50-16,-25-51 16,0 1-16,25 0 46,24-25-30,-24-50-16,25-49 16,-26 25-16,51-50 31,-26 99-31,-49-49 0,0 98 78,0 26-62,50-25-16,-50 24 15,0 1-15,0-25 16</inkml:trace>
  <inkml:trace contextRef="#ctx0" brushRef="#br0" timeOffset="19908.88">24929 7094 0,'25'0'47,"-25"99"-47,24-24 15,-24 24 1,0-49-16,0 24 16,0-49-16,25 24 15,-25-24-15,25-25 78,25-25-46,-26-49-32,1 49 0,0-49 15,0 74-15,0-25 16,-1 25 31,1 0-32,-25 50 17,0-1-17,0-24 1,0 0-16,0 0 15,-25-25 1</inkml:trace>
  <inkml:trace contextRef="#ctx0" brushRef="#br0" timeOffset="20181.58">25400 7293 0,'25'0'16,"-25"24"-16,0 1 15,0 25-15,0-1 16,0 1-16,25 0 15,-1-26 1,26-148 47</inkml:trace>
  <inkml:trace contextRef="#ctx0" brushRef="#br0" timeOffset="20469.24">25722 6970 0,'0'25'15,"0"49"-15,0-24 16,50 24-16,-50-24 15,0 0-15,0-26 16,0 26-16,0-25 78,-25-25-62</inkml:trace>
  <inkml:trace contextRef="#ctx0" brushRef="#br0" timeOffset="20640.97">25698 7317 0,'49'0'0,"-24"0"16,25 0-1,-26-24 1,1-1 31</inkml:trace>
  <inkml:trace contextRef="#ctx0" brushRef="#br0" timeOffset="20873.09">25524 6921 0</inkml:trace>
  <inkml:trace contextRef="#ctx0" brushRef="#br0" timeOffset="25428.09">23217 6102 0,'0'-25'110,"0"-49"-110,25-1 15,-25 26-15,0-1 16,25-24-16,0-26 15,-25 51-15,0-26 16,0 1-16,0 24 16,0-24-16,0 49 15,0 0-15,0 1 32,-25 24 14,0 124-30,25-50 0,0 0-16,0 75 15,0 0-15,0 0 16,0-124-16,0 24 16,0-24-16,0 0 15,0 0 1,25-50 62,0 0-78,-25 0 16</inkml:trace>
  <inkml:trace contextRef="#ctx0" brushRef="#br0" timeOffset="26923.1">23440 5779 0,'0'-24'31,"0"48"0,-24 1-15,24 50-16,0-26 15,0 26-15,0-50 16,0 24-16,0-24 0,0 0 31,24 0-31,1-25 16,0 0-16,0 0 16,24 0-1,-24 0-15,0 0 16,25-25-1,-26 0-15,-24-25 16,25-24-16,-25 49 16,0 0-1,0 1-15,0-1 16,0 0-16,0 0 16,-25 25-1,1 0-15,-26 0 16,25 0-1,0 0 1,50 0 47,0 0-63,25 0 15,-1 0-15,-24 0 16,0 0-1,0 0-15,-1 0 16,-48 25 78,-1 25-79,25-26-15,0 51 16,0-50-16,0-1 16,25-24 31,-1 0-47,26 0 15,-25 0-15,25 0 16,-26 0-1,1 0 1,25-49-16,-50 24 16,49 0-1,-49-24 1,0 24-16,0 0 16,0 50 62,0 0-78,25 49 15,0-24-15,-25 24 16,25-24-16,74 24 16,-74-24-16,-25-1 15,25-24-15,-25-50 110,0 0-95,0 1-15,0-1 16,0 0-1,0 0-15,0 0 16,0 1 15</inkml:trace>
  <inkml:trace contextRef="#ctx0" brushRef="#br0" timeOffset="27171.18">24309 5705 0,'-50'50'94</inkml:trace>
  <inkml:trace contextRef="#ctx0" brushRef="#br0" timeOffset="27495.69">23887 6375 0</inkml:trace>
  <inkml:trace contextRef="#ctx0" brushRef="#br0" timeOffset="39030.39">25574 5333 0,'-25'0'47,"-25"0"-47,1 0 15,-1 0 17,25 0-17,-24 0 1,24 50-1,-25-26-15,1 26 16,-1 24-16,0-24 16,1 0-16,24-1 15,-25 26-15,50-51 16,0 1-16,0 0 16,0 25-16,0-25 15,0-1 1,0 1-1,25 0-15,0-25 16,0 0-16,24 0 16,1 0-1,-25 0-15,0 0 16,-1 0-16,1 0 16,0 0-16,0 0 15,0 0-15,-1 0 16,1 0-1,0 0 1,0 0 0,-50 0 109</inkml:trace>
  <inkml:trace contextRef="#ctx0" brushRef="#br0" timeOffset="39569.96">24978 5779 0,'25'0'31,"25"0"-15,-1 0-16,-24 0 15,50 0 1,-51 0-16,26 0 16,-25 0-16,24 0 15,1 0-15,0 0 16,24 0 0,-49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7:52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11435 7045 0,'25'0'63,"0"0"-63,74 0 15,-50 0-15,26 0 16,24 0-16,25 0 16,74 0-16,-49 0 15,50 0-15,-1 0 16,75 0-1,0 0-15,-25 0 16,25 0-16,24 0 16,1 0-16,0 0 15,24 0-15,-24 0 0,24 0 16,-24 0 0,0 0-16,24 0 15,-49 0-15,25 0 16,-50 0-16,25 0 15,-25 0-15,-25 0 16,-25 0-16,-74 0 16,0 0-16,-49 0 15,-50 0-15,24 0 16</inkml:trace>
  <inkml:trace contextRef="#ctx0" brushRef="#br0" timeOffset="1099.38">14039 3051 0,'-24'-25'47,"24"0"-47,-50 25 16,25 0-16,-24 0 16,-26 0-16,26-24 15,-1 24-15,0 0 16,-24-25-16,49 0 15,-24 25-15,24 0 16,0 0-16,0 0 16,0 0 62,25 74-63,-49 50-15,24-49 16,25-1-16,0 25 16,-25 1-1,0 48-15,1-23 16,-1 23-16,0 26 16,0 0-16,0-26 15,25 1-15,0-25 16,0 50-16,0 49 15,0 25-15,0 0 16,0-49-16,0-1 16,0 1-1,0-26-15,0 1 0,0-50 16,0 49-16,0-48 16,0-51-16,0 0 15,0-24-15,0-25 16,0 0-1,0 24-15,0-24 16,0 0-16,0 0 16,0-1-16,0 1 15,0 0 1,0 0-16</inkml:trace>
  <inkml:trace contextRef="#ctx0" brushRef="#br0" timeOffset="2157.87">13965 2877 0,'0'25'31,"0"25"-31,50-25 16,-26 49-16,1-49 16,25 0-16,-25 24 15,24-24-15,-24 49 16,0-74-1,-25 25 1,0 0-16,0 0 16,0 49-16,0-24 15,0 74 1,0 25-16,0-50 16,0 0-16,0-24 0,0 73 15,-25-24-15,0 50 16,0 0-16,1-1 15,24 1 1,0-25-16,0 0 16,0-1-16,0 1 15,0-50-15,0 1 16,0-26-16,0-49 16,0 49-16,0-49 15,0 0-15,0 0 16,0 49-1,0-49 1,0 25-16,0-1 16,0 26-16,0 24 15,0-25-15,0-49 16,0 0-16,0 0 16,0 24-1,0 26 1,0-26-1,0 1-15,0-25 16,0 24-16,24-24 16,-24 0-16,0 25 15,0-26 17,25-48 61</inkml:trace>
  <inkml:trace contextRef="#ctx0" brushRef="#br0" timeOffset="2567.14">14684 5358 0,'0'49'31,"50"1"-31,-50 0 15,0 24-15,0 25 16,0 25-16,25 25 16,0 25-16,-25-75 15,0 0-15,0 25 16,0-49 0,0-1-16,0-24 15,0-26-15,0 1 16,0 0-16,0 25 15,0-26 1</inkml:trace>
  <inkml:trace contextRef="#ctx0" brushRef="#br0" timeOffset="3170.02">14784 5234 0,'24'0'31,"26"0"-15,49 25-16,-49-1 15,24-24-15,1 0 16,49 0-16,-25 0 16,-25-24-16,-24-1 15,49 0-15,-99 75 78,0 24-62,0 25-16,0-24 16,0 24-16,0 0 15,-25 50-15,1 0 0,24-75 16,0 25-1,0 25-15,0-24 16,0-26-16,0 0 16,0 1-16,0-50 15,0 49-15,0-24 16,0-26-16,0 1 94,-25-25-94,-25-49 15,1-26-15</inkml:trace>
  <inkml:trace contextRef="#ctx0" brushRef="#br0" timeOffset="3961.12">12502 5879 0,'0'0'0,"-50"0"0,-49 0 15,49 0-15,25 0 16,-49 0-1,49 0-15,-25 0 0,1 0 16,-1 0 0,25 0-16,-24 0 15,24 0-15,0 0 32,25 25-32,-25 74 15,1-74-15,24-1 16,-25 26-16,25-25 15,0 24-15,0 1 16,0 24-16,0-24 16,0 24-16,0-24 15,0 0-15,0 98 16,0-73-16,0-1 16,0-24-16,0 49 15,0-49-15,0-1 16,0-24-16,0 0 15,25-25 64</inkml:trace>
  <inkml:trace contextRef="#ctx0" brushRef="#br0" timeOffset="4371.14">12774 5507 0,'0'24'15,"0"26"1,0 0-16,0 74 16,0-50-16,0 75 15,0-99-15,0 49 16,0 0-16,0 25 15,0-25-15,0 0 16,0-24-16,0-50 16</inkml:trace>
  <inkml:trace contextRef="#ctx0" brushRef="#br0" timeOffset="6284.78">10864 2505 0,'-24'0'31,"24"75"-31,0 24 16,0 0-16,0 50 16,0-25-16,0-25 15,0 25 1,0-74-16,0 49 15,0 0-15,0 50 0,0 25 16,0 24 0,0-24-16,0 24 0,0 1 15,0-1 1,0-24-16,0 24 16,0-24-16,0-75 15,0 25-15,0 0 16,0 0-16,0-25 15,0 1-15,0-1 16,0 0-16,0 0 16,0-24-16,0-1 15,0-24-15,0-1 16,0 26 0,0-26-16,0-24 0,0 25 15,0-26-15,0 51 16,0-50-1,0 49 1,0-24-16,0-25 16,0-1-1,0 1 1,0 0 0,24-25 62,26 0-78,-25 0 15,49 0-15,1-25 16,-26 0-16,26 25 16,-1 0-1,1-24-15,-1-26 16,0 50-16,1 0 0,24-25 15,-49 25-15,74 0 16,-75 0-16,50 0 16,1 0-1,73 0-15,1 0 16,0 0-16,-50 0 16,-25 0-16,-25 0 15,25 0-15,-24 0 16,-1 0-16,1 0 15,-1 0-15,-24 0 16,-1 0-16,1 0 16,24 0-1,26 0 1,-51 0-16,-24 0 0,25 0 16,49 0-16,-25 25 15,-24 0-15,-1-25 16,-24 0-1,25 0-15,-25 0 16</inkml:trace>
  <inkml:trace contextRef="#ctx0" brushRef="#br0" timeOffset="8348.94">16222 5804 0,'0'75'47,"0"-26"-31,0 26-16,25-1 15,-25 75-15,25-50 16,-25 0-16,0 1 16,0-51-16,0 1 15,0 24-15,0-24 16,25-1-16,-1-24 15,-24 25 1,0 0-16,25-50 0,-25-25 94</inkml:trace>
  <inkml:trace contextRef="#ctx0" brushRef="#br0" timeOffset="8882.42">16197 5978 0,'0'-25'47,"100"-24"-31,-26 24-16,25 25 16,-24-25-16,49 0 0,-50 25 15,-49 0-15,0 0 16,0 0 31,-25 50-32,0 24-15,0 1 16,0 24-16,0-25 16,0 1-16,0-26 15,0 50-15,0-49 16,0 0-1,0-26-15,0 1 0,24 0 16,-24 0-16,0 24 16,0-24-1,0 0-15,0 0 16,0 0 0,0 24-1</inkml:trace>
  <inkml:trace contextRef="#ctx0" brushRef="#br0" timeOffset="12229.85">12675 7342 0,'0'25'16,"-25"-25"15,1 0-15,-26 0-16,0 0 15,1 0-15,-1 0 16,25 0 0,1 0-16,-26 0 15,-24 0-15,49 0 16,0 0-16,-50 0 16,51 25-16,-1-25 15,25 25-15,-25-25 16,0 49-16,0-49 15,1 50-15,-1-1 16,25-24 0,0 25-16,0-25 15,0-1 1,0 1-16,0 25 16,0-25-16,25-1 15,-1 1 1,26 0-1,-25-25 1,24 0-16,1 0 0,25 0 16,-51 0-16,1 0 15,0 0 1,0 0-16,0 0 16,-1 0-1,26 0 1,0 0-1,-1-25 17,-49 0-17,25 1 1,-25-1-16,0 0 0,25 0 16,-25 0-1,0 1 1,0-1-1,0-50 1,0 51 0,0-26-16,0 25 15,-25 25 1,-25-25 15,50 1 0,-24 24-15,-1 0 0,0 0-16,0 0 15,0 0-15,1 0 16,24-25-16,-25 25 31</inkml:trace>
  <inkml:trace contextRef="#ctx0" brushRef="#br0" timeOffset="15638">13965 7640 0,'0'-25'15,"-25"0"-15,-24 0 16,-1 1-16,0 24 15,1-25-15,24 25 16,-49 0-16,24-25 16,0 25-16,26 0 15,-26 0-15,0 0 16,-24 0-16,49 0 16,-24 25-16,24 0 15,25-1-15,-25 1 16,25 0-1,0 0 1,0 0 0,0-1-16,0 26 15,0-25 1,0 0-16,0-1 16,0 1-16,74-25 15,26 0 1,-76 0-16,76 0 15,-51 0-15,26 0 16,-1 0-16,-49 0 16,24 0-16,-24-25 15,0 1 1,-25-1-16,0 0 16,0 0-16,0 0 15,0 1 1,0-1-1</inkml:trace>
  <inkml:trace contextRef="#ctx0" brushRef="#br0" timeOffset="16377.72">15131 7565 0,'0'-24'32,"-25"-1"-17,-25 25 1,-49 0-16,25 0 15,-1 0-15,51 0 16,-26 0-16,0 0 16,26 0-16,-1 0 15,-25 0-15,25 0 32,25 49-17,0 1 1,0-25-16,0 0 15,0-1-15,0 26 16,0-25-16,0 49 16,25-49-1,0 0-15,25-25 16,-1 0-16,1 0 16,24 0-16,25 0 0,1 0 15,-26 0 1,75-50-16,-75 50 15,-49-25-15,25 1 16,-25-1 0,-1 0 15,-24 0-15,0 0-1,0 1-15,0-1 16,0 0-1,0-25-15,0 26 0</inkml:trace>
  <inkml:trace contextRef="#ctx0" brushRef="#br0" timeOffset="19908.79">17239 7392 0,'0'0'0,"-25"-25"0,1 25 15,-1 0 1,0 0-1,0 0-15,0 0 16,1-25 0,-1 0-16,0 25 15,-25 0 1,1 0-16,-26 0 16,51 0-1,-26 0-15,-24 0 16,49 0-1,0 0-15,0 0 16,0 0-16,1 0 16,-26 0 15,25 0-15,0 0-16,1 0 15,24 50-15,0-25 16,0 0-16,0 24 15,0 26 1,0-51-16,0 26 16,49 24-16,-49-24 15,50 0-15,-1-1 16,1 1-16,0-25 16,-50-1-16,49-24 15,1 0-15,-1 0 16,-24 0-16,25 0 15,-1 0 1,1 0-16,-25 0 0,0 0 16,-1 0-1,26 0 1,-50-24 15,25 24-31,0-50 16,-25 25-16,0 0 15,0 1-15,24 24 0,-24-25 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4:38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1910 6648 0,'25'0'47,"0"0"-31,24 0 0,1 0-16,24 0 15,-24 0 1,74-25-16,0 25 15,-50 0-15,25-25 16,26 0-16,73 25 0,0-25 16,50 25-16,-49-24 15,24-1 1,25 25-16,-25 0 16,-24 0-16,-1 0 15,1-25-15,-1 0 16,1 25-16,-26 0 15,1-25-15,-50 25 16,25-24-16,24-1 16,-73 25-16,-26 0 15,25 0-15,-24 0 16,-1 0-16,-24 0 16,-26 0-16,1 0 15</inkml:trace>
  <inkml:trace contextRef="#ctx0" brushRef="#br0" timeOffset="47627.08">19645 7069 0,'0'0'0,"-223"0"16,99 0 0,0 0-16,50 0 15,-26 0-15,51 0 16,-26 0-16,-24 0 16,-25 0-16,0 0 15,0 50-15,25 0 16,0 24-16,-1-24 15,-24 24-15,100-24 16,-51 49 0,50-50-16,-24 100 15,24-99-15,25 74 0,0-75 16,-25 1 0,25 25-16,0 49 15,0-50-15,0-24 16,0 49-16,25 25 15,25 25-15,-26-50 16,51 25-16,-26-25 16,51 25-16,-51 0 15,-24-74-15,49 24 16,-49-24-16,25 24 16,-25-49-16,-1 25 15,26-26-15,0 26 16,-26-50-1,-24 25-15,50-25 0,0 0 16,-25 0 0,-1 0-16,1 0 15,25 0 1,-1 0-16,-24-25 16,25 0-16,24-24 15,25-26-15,-74 75 16,50-49-16,-26-1 15,1 0-15,74 1 16,-75-26-16,51 26 16,-51-1-16,1 25 15,-25 1-15,24-1 16,-49 0-16,25 0 16,0-49-16,-25 24 15,25 25 1,0 0-16,-25 1 15,0-1-15,24-25 16,-24 25 0,25-24-16,-25-26 15,0 51-15,0-1 0,0-25 16,0 1 0,0-26-16,0 50 15,0 1-15,0-26 16,0 25-16,0 0 15,0-24-15,0-50 16,0 74-16,0-25 16,0 0-1,0 1-15,0 24 16,0-49-16,-25 24 16,-24-49-16,49 24 15,-50 1-15,1-50 16,24 25-1,0 49-15,0 1 0,0-1 16,25-24-16,0 49 16,-25-25-1,1 25-15,24 1 16,0-26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8557F-942D-4D79-9DBA-8CDE25DABF92}" type="datetimeFigureOut">
              <a:rPr lang="vi-VN" smtClean="0"/>
              <a:t>29/9/26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7B159-7645-448A-869E-8C0E0F79E3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57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 + 1 + … = N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47708-E4C8-424D-BCA7-BDABBB150E25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84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5CEC098-7121-4B38-8ECF-936989D4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3ED40E6-A590-45F7-8611-9386987E3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B00E92C-B2FD-42E5-A94C-5B75069F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58F8-38F2-4121-BC18-6B15C398FD89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389ECCD-B0FA-465B-AFB7-17A5BB5A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33D90A7-8D9A-4AFD-BD4D-64792C4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791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B5E092F-0B73-449B-8D1F-9AEF82D9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FC7FF3-81CF-4493-BD6B-72B6B2E73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13F5F15-BA73-4486-A89D-A79848C0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FAB1A-8D86-40F3-9364-CCE75F6AD91C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EDE38EE-8FC5-4B8E-931F-61749838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AEBCE7B-F42A-4E9F-9DBA-6A883A72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869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630B12-38F1-427F-970A-8938DFE5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4334B55-2455-4FCB-82DE-22DC9908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5222E07-8B19-486F-A152-A025A46D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1C43-C551-4AE6-91EA-65529F79C25E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CB6720B-E208-4CD6-A0D8-C0AC34B3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7531B28-21F6-4CA4-97B0-B5708603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555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59D49E-7316-4A14-A1F0-E44F42C1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FF922A-A834-45E1-B590-48DF4816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C7C7A1-2C43-4FDB-B79A-C80B726F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91EC4DE-A67E-4441-9243-1D3CA83D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76F6-910B-42D4-95B0-FE1D6627009E}" type="datetime1">
              <a:rPr lang="vi-VN" smtClean="0"/>
              <a:t>29/9/26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160B54B-6AF3-40B5-9430-85946AC30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AF21B59-57C5-4DD4-A17D-CAF25366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118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A1D085-310D-46CE-8AA6-D638CFB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C00F051-8396-4C78-BC41-87ADAC98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C235878-554E-4F32-96F9-2F1B7DDF1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D7657DB-ED34-4025-9B08-047B1AD79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E091AD-9FB9-45C5-AE39-D0F592E9C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22A7D55-2C00-474D-9E53-C9F8A491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91FF-2E09-405A-BDE2-4EE2DDD4E68D}" type="datetime1">
              <a:rPr lang="vi-VN" smtClean="0"/>
              <a:t>29/9/26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A17FD48-DFBE-4620-80FF-F7487ACD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154D39F-8641-488F-952E-7FD4F6AE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46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0BD5D22-46AE-4412-9197-88DBAD5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6FA701C2-356C-45D7-AA60-8C5B0A7B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42F-E64F-4F46-9923-15BD5CF12713}" type="datetime1">
              <a:rPr lang="vi-VN" smtClean="0"/>
              <a:t>29/9/26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F4658E3-BC43-4FBF-8108-96D3CCF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84A363-5AF3-4619-A2E5-829D86B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292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127AD835-E6F1-4B18-84AA-4A615508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6B39-0D09-44F9-B5B4-938C905124E2}" type="datetime1">
              <a:rPr lang="vi-VN" smtClean="0"/>
              <a:t>29/9/26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1D555FBA-7200-4C71-A81C-E556BD39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23E8B6D-9D7E-4038-BD37-3CD5D07A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245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6AC978F-DE08-4846-A00E-59A1927F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52CFD67-9788-4DAC-B330-E284F7871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338C364-B1E9-4611-9645-AB35A7E3D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5FD888C-2A45-43B7-BF28-CA60DE5C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B980-1A9E-4CC7-97E1-74242BE1F70B}" type="datetime1">
              <a:rPr lang="vi-VN" smtClean="0"/>
              <a:t>29/9/26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F1FA9B8-98C7-4321-8498-397014D3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18B0B05-1319-4432-825D-CE584E7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2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C8A173-8DBE-441E-83B2-4B42C24A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6FC5226-EF8B-4CB3-A914-2E4428CC9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D1019-76B8-4064-B577-94C34B74D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863B1CD-5B3D-4029-B03D-932FF728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904E6-F1C8-40FF-9F48-47A42FFD6C8F}" type="datetime1">
              <a:rPr lang="vi-VN" smtClean="0"/>
              <a:t>29/9/26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6A9D3D4-F889-4BDC-8A08-3D0E113A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42583FB-6B23-4ABE-8153-2B6B1D36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399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6462041-966A-4FDE-AC86-0A4FAC68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A682BF6-0A44-4F07-81FF-7F05296A3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09BD3F9-7EE5-41E3-8612-F5C7775A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58176-9D1F-4C11-B5BA-06DB6A8EB1AD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608D259-5FE8-485A-A568-2D916134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27C69ED-87C5-4893-ADA6-3C1D3B40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646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3B262D6-A3C0-422F-9A51-D959302D2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7C3754E-8A4A-4580-8EDD-CA0C944E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5EC5287-11A1-4355-A1C4-1F3A7DD8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BE23-DA8B-4564-8758-91325607C2D7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B1A5B09-CB36-4CBB-8132-F5E998A3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C864047-6346-4633-ABE2-35BFDA38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787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4C55D00A-FDA3-4248-84BE-E6B68EFD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405C4E7-75EC-43DB-8275-B132E6825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3E02367-80E3-4B50-A009-A310A1652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61035-3292-4F7C-A07C-37830550B457}" type="datetime1">
              <a:rPr lang="vi-VN" smtClean="0"/>
              <a:t>29/9/26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383CE9B-8226-4859-9B8D-F8FFFCED8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C9980EA-6030-46CE-B0EA-E877040A0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91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00.png"/><Relationship Id="rId7" Type="http://schemas.openxmlformats.org/officeDocument/2006/relationships/image" Target="../media/image15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90.png"/><Relationship Id="rId5" Type="http://schemas.openxmlformats.org/officeDocument/2006/relationships/image" Target="../media/image120.png"/><Relationship Id="rId10" Type="http://schemas.openxmlformats.org/officeDocument/2006/relationships/image" Target="../media/image180.png"/><Relationship Id="rId4" Type="http://schemas.openxmlformats.org/officeDocument/2006/relationships/image" Target="../media/image110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39.png"/><Relationship Id="rId7" Type="http://schemas.openxmlformats.org/officeDocument/2006/relationships/customXml" Target="../ink/ink2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customXml" Target="../ink/ink1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48.png"/><Relationship Id="rId7" Type="http://schemas.openxmlformats.org/officeDocument/2006/relationships/customXml" Target="../ink/ink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151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170.png"/><Relationship Id="rId4" Type="http://schemas.openxmlformats.org/officeDocument/2006/relationships/image" Target="../media/image160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2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gif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3" Type="http://schemas.openxmlformats.org/officeDocument/2006/relationships/image" Target="../media/image710.png"/><Relationship Id="rId7" Type="http://schemas.openxmlformats.org/officeDocument/2006/relationships/image" Target="../media/image1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11" Type="http://schemas.openxmlformats.org/officeDocument/2006/relationships/image" Target="../media/image1500.png"/><Relationship Id="rId5" Type="http://schemas.openxmlformats.org/officeDocument/2006/relationships/image" Target="../media/image91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0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1.png"/><Relationship Id="rId5" Type="http://schemas.openxmlformats.org/officeDocument/2006/relationships/image" Target="../media/image1801.png"/><Relationship Id="rId4" Type="http://schemas.openxmlformats.org/officeDocument/2006/relationships/image" Target="../media/image171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2.png"/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0.png"/><Relationship Id="rId11" Type="http://schemas.openxmlformats.org/officeDocument/2006/relationships/image" Target="../media/image280.png"/><Relationship Id="rId5" Type="http://schemas.openxmlformats.org/officeDocument/2006/relationships/image" Target="../media/image2310.png"/><Relationship Id="rId10" Type="http://schemas.openxmlformats.org/officeDocument/2006/relationships/image" Target="../media/image271.png"/><Relationship Id="rId4" Type="http://schemas.openxmlformats.org/officeDocument/2006/relationships/image" Target="../media/image220.png"/><Relationship Id="rId9" Type="http://schemas.openxmlformats.org/officeDocument/2006/relationships/image" Target="../media/image180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2.png"/><Relationship Id="rId5" Type="http://schemas.openxmlformats.org/officeDocument/2006/relationships/image" Target="../media/image360.png"/><Relationship Id="rId10" Type="http://schemas.openxmlformats.org/officeDocument/2006/relationships/image" Target="../media/image401.png"/><Relationship Id="rId4" Type="http://schemas.openxmlformats.org/officeDocument/2006/relationships/image" Target="../media/image350.png"/><Relationship Id="rId9" Type="http://schemas.openxmlformats.org/officeDocument/2006/relationships/image" Target="../media/image31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58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2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13.png"/><Relationship Id="rId5" Type="http://schemas.openxmlformats.org/officeDocument/2006/relationships/image" Target="../media/image650.png"/><Relationship Id="rId15" Type="http://schemas.openxmlformats.org/officeDocument/2006/relationships/image" Target="../media/image141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690.png"/><Relationship Id="rId14" Type="http://schemas.openxmlformats.org/officeDocument/2006/relationships/image" Target="../media/image74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811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0.png"/><Relationship Id="rId10" Type="http://schemas.openxmlformats.org/officeDocument/2006/relationships/image" Target="../media/image79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82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0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74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750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12" Type="http://schemas.openxmlformats.org/officeDocument/2006/relationships/image" Target="../media/image620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11" Type="http://schemas.openxmlformats.org/officeDocument/2006/relationships/image" Target="../media/image612.png"/><Relationship Id="rId5" Type="http://schemas.openxmlformats.org/officeDocument/2006/relationships/image" Target="../media/image1910.png"/><Relationship Id="rId10" Type="http://schemas.openxmlformats.org/officeDocument/2006/relationships/image" Target="../media/image480.png"/><Relationship Id="rId4" Type="http://schemas.openxmlformats.org/officeDocument/2006/relationships/image" Target="../media/image911.png"/><Relationship Id="rId9" Type="http://schemas.openxmlformats.org/officeDocument/2006/relationships/image" Target="../media/image460.png"/><Relationship Id="rId14" Type="http://schemas.openxmlformats.org/officeDocument/2006/relationships/image" Target="../media/image76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1000.png"/><Relationship Id="rId18" Type="http://schemas.openxmlformats.org/officeDocument/2006/relationships/image" Target="../media/image105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2210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1.png"/><Relationship Id="rId9" Type="http://schemas.openxmlformats.org/officeDocument/2006/relationships/image" Target="../media/image960.png"/><Relationship Id="rId14" Type="http://schemas.openxmlformats.org/officeDocument/2006/relationships/image" Target="../media/image10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0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828C-E850-3825-6E8C-7CD9F83B0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D3EEC-D21A-ECF6-0097-7D1B1F06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D827A-389D-91F2-EE92-9BADBE92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4081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D234-8FD5-7BD8-7B2D-027DE609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Shor’s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52F6-AF35-68CE-03F7-27B4EBB9E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=&gt; Quantum phase estimation</a:t>
            </a:r>
          </a:p>
          <a:p>
            <a:pPr marL="0" indent="0">
              <a:buNone/>
            </a:pPr>
            <a:r>
              <a:rPr lang="en-VN"/>
              <a:t>     =&gt; Quantum Fourier transform</a:t>
            </a:r>
          </a:p>
          <a:p>
            <a:pPr marL="0" indent="0">
              <a:buNone/>
            </a:pPr>
            <a:r>
              <a:rPr lang="en-VN"/>
              <a:t>          =&gt; Classical Fourier transform</a:t>
            </a:r>
          </a:p>
          <a:p>
            <a:pPr marL="0" indent="0">
              <a:buNone/>
            </a:pPr>
            <a:r>
              <a:rPr lang="en-VN"/>
              <a:t>     =&gt; Quantum phase kickback</a:t>
            </a:r>
          </a:p>
          <a:p>
            <a:pPr marL="0" indent="0">
              <a:buNone/>
            </a:pPr>
            <a:r>
              <a:rPr lang="en-VN"/>
              <a:t>          =&gt; Global phase &amp; relative phase</a:t>
            </a:r>
          </a:p>
          <a:p>
            <a:pPr marL="0" indent="0">
              <a:buNone/>
            </a:pPr>
            <a:r>
              <a:rPr lang="en-VN"/>
              <a:t>          =&gt; Measurement</a:t>
            </a:r>
          </a:p>
          <a:p>
            <a:pPr marL="0" indent="0">
              <a:buNone/>
            </a:pPr>
            <a:r>
              <a:rPr lang="en-VN"/>
              <a:t>          =&gt; Quantum circuit</a:t>
            </a:r>
          </a:p>
          <a:p>
            <a:pPr marL="0" indent="0">
              <a:buNone/>
            </a:pPr>
            <a:r>
              <a:rPr lang="en-VN"/>
              <a:t>=&gt; Period finding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C84C9-9A4F-F899-C2F8-93A12954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468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EAE9-D695-7365-93ED-AF2C15C6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C58BCF-68A8-E651-5708-2E18FF850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2168" y="1825625"/>
                <a:ext cx="4972291" cy="73185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VN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vi-V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vi-VN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vi-V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VN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C58BCF-68A8-E651-5708-2E18FF850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2168" y="1825625"/>
                <a:ext cx="4972291" cy="7318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6845A-E8CC-4C14-8209-E0215119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EFFC07-717B-46C6-0D8A-9F060DC7A6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1509" y="1847850"/>
                <a:ext cx="561541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VN"/>
                  <a:t>Step 1: choose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randomly such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i="1">
                        <a:latin typeface="Cambria Math" panose="02040503050406030204" pitchFamily="18" charset="0"/>
                      </a:rPr>
                      <m:t>if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≠1?</m:t>
                    </m:r>
                  </m:oMath>
                </a14:m>
                <a:endParaRPr lang="en-VN" i="1"/>
              </a:p>
              <a:p>
                <a:pPr marL="0" indent="0">
                  <a:buNone/>
                </a:pPr>
                <a:r>
                  <a:rPr lang="en-VN"/>
                  <a:t>Step 2: consider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>
                        <a:latin typeface="Cambria Math" panose="02040503050406030204" pitchFamily="18" charset="0"/>
                      </a:rPr>
                      <m:t>mod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VN" i="1"/>
              </a:p>
              <a:p>
                <a:pPr marL="0" indent="0">
                  <a:buNone/>
                </a:pPr>
                <a:r>
                  <a:rPr lang="en-US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VN"/>
              </a:p>
              <a:p>
                <a:pPr marL="0" indent="0">
                  <a:buNone/>
                </a:pPr>
                <a:r>
                  <a:rPr lang="en-VN"/>
                  <a:t>Step 3: Quantum =&gt;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EFFC07-717B-46C6-0D8A-9F060DC7A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509" y="1847850"/>
                <a:ext cx="5615419" cy="4351338"/>
              </a:xfrm>
              <a:prstGeom prst="rect">
                <a:avLst/>
              </a:prstGeom>
              <a:blipFill>
                <a:blip r:embed="rId3"/>
                <a:stretch>
                  <a:fillRect l="-2257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44EAFE7-EC26-D070-87D9-1C4F30D33AB3}"/>
              </a:ext>
            </a:extLst>
          </p:cNvPr>
          <p:cNvSpPr/>
          <p:nvPr/>
        </p:nvSpPr>
        <p:spPr>
          <a:xfrm>
            <a:off x="3068313" y="1825624"/>
            <a:ext cx="784668" cy="547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79F0E-D55A-ACFE-F7EA-9574FD7130E2}"/>
              </a:ext>
            </a:extLst>
          </p:cNvPr>
          <p:cNvSpPr txBox="1"/>
          <p:nvPr/>
        </p:nvSpPr>
        <p:spPr>
          <a:xfrm>
            <a:off x="3092910" y="2372809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Unknown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FD6B2-FBAC-BCD5-341B-D18A600D71EA}"/>
                  </a:ext>
                </a:extLst>
              </p:cNvPr>
              <p:cNvSpPr txBox="1"/>
              <p:nvPr/>
            </p:nvSpPr>
            <p:spPr>
              <a:xfrm>
                <a:off x="1631897" y="3099850"/>
                <a:ext cx="1538178" cy="378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VN" i="0">
                          <a:latin typeface="Cambria Math" panose="02040503050406030204" pitchFamily="18" charset="0"/>
                        </a:rPr>
                        <m:t>cd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vi-VN" b="0" i="1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FD6B2-FBAC-BCD5-341B-D18A600D7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97" y="3099850"/>
                <a:ext cx="1538178" cy="378950"/>
              </a:xfrm>
              <a:prstGeom prst="rect">
                <a:avLst/>
              </a:prstGeom>
              <a:blipFill>
                <a:blip r:embed="rId4"/>
                <a:stretch>
                  <a:fillRect l="-1639" r="-3279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791BC-307A-C2F9-0077-58C15044A9B7}"/>
                  </a:ext>
                </a:extLst>
              </p:cNvPr>
              <p:cNvSpPr txBox="1"/>
              <p:nvPr/>
            </p:nvSpPr>
            <p:spPr>
              <a:xfrm>
                <a:off x="3532701" y="3050050"/>
                <a:ext cx="1538178" cy="378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VN" i="0">
                          <a:latin typeface="Cambria Math" panose="02040503050406030204" pitchFamily="18" charset="0"/>
                        </a:rPr>
                        <m:t>cd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vi-VN" b="0" i="1"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791BC-307A-C2F9-0077-58C15044A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01" y="3050050"/>
                <a:ext cx="1538178" cy="378950"/>
              </a:xfrm>
              <a:prstGeom prst="rect">
                <a:avLst/>
              </a:prstGeom>
              <a:blipFill>
                <a:blip r:embed="rId5"/>
                <a:stretch>
                  <a:fillRect l="-2459" r="-3279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FCD90AA-1844-E263-18A8-21CC158F3EE8}"/>
              </a:ext>
            </a:extLst>
          </p:cNvPr>
          <p:cNvSpPr/>
          <p:nvPr/>
        </p:nvSpPr>
        <p:spPr>
          <a:xfrm>
            <a:off x="2234863" y="3099850"/>
            <a:ext cx="171282" cy="13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2B582-7EA1-9220-D689-5A689E29B074}"/>
              </a:ext>
            </a:extLst>
          </p:cNvPr>
          <p:cNvSpPr txBox="1"/>
          <p:nvPr/>
        </p:nvSpPr>
        <p:spPr>
          <a:xfrm>
            <a:off x="1749522" y="2748001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 is even</a:t>
            </a:r>
            <a:endParaRPr lang="en-VN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C48FCC-671D-21EC-A412-8EF6920342CC}"/>
              </a:ext>
            </a:extLst>
          </p:cNvPr>
          <p:cNvCxnSpPr>
            <a:endCxn id="7" idx="1"/>
          </p:cNvCxnSpPr>
          <p:nvPr/>
        </p:nvCxnSpPr>
        <p:spPr>
          <a:xfrm flipV="1">
            <a:off x="2672363" y="2557475"/>
            <a:ext cx="420547" cy="611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EECB45-D1CF-239E-77AA-383D48BF886A}"/>
              </a:ext>
            </a:extLst>
          </p:cNvPr>
          <p:cNvCxnSpPr>
            <a:cxnSpLocks/>
          </p:cNvCxnSpPr>
          <p:nvPr/>
        </p:nvCxnSpPr>
        <p:spPr>
          <a:xfrm flipH="1" flipV="1">
            <a:off x="4120164" y="2680718"/>
            <a:ext cx="303835" cy="337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1B8E36-73CD-2D58-0BC2-4562A4A5CF75}"/>
                  </a:ext>
                </a:extLst>
              </p:cNvPr>
              <p:cNvSpPr txBox="1"/>
              <p:nvPr/>
            </p:nvSpPr>
            <p:spPr>
              <a:xfrm>
                <a:off x="3080611" y="4115860"/>
                <a:ext cx="1484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vi-VN" b="0" i="1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(mod N)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1B8E36-73CD-2D58-0BC2-4562A4A5C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611" y="4115860"/>
                <a:ext cx="1484061" cy="276999"/>
              </a:xfrm>
              <a:prstGeom prst="rect">
                <a:avLst/>
              </a:prstGeom>
              <a:blipFill>
                <a:blip r:embed="rId6"/>
                <a:stretch>
                  <a:fillRect l="-4237" t="-26087" r="-9322" b="-478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07A811-BDE9-67B7-47B9-E707BBB6E6D4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flipH="1" flipV="1">
            <a:off x="2400986" y="3478800"/>
            <a:ext cx="1421656" cy="637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D3E7DB-510B-FED0-DC7B-98552E780252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3822642" y="3429000"/>
            <a:ext cx="479148" cy="686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869CDE-643F-4070-D895-F16380446DAC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2672363" y="4392859"/>
            <a:ext cx="1150279" cy="459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1CA950-4C8E-5003-5DC4-37521CA49425}"/>
                  </a:ext>
                </a:extLst>
              </p:cNvPr>
              <p:cNvSpPr txBox="1"/>
              <p:nvPr/>
            </p:nvSpPr>
            <p:spPr>
              <a:xfrm>
                <a:off x="2009506" y="4852519"/>
                <a:ext cx="12089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VN"/>
                  <a:t> should min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1CA950-4C8E-5003-5DC4-37521CA49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06" y="4852519"/>
                <a:ext cx="1208921" cy="276999"/>
              </a:xfrm>
              <a:prstGeom prst="rect">
                <a:avLst/>
              </a:prstGeom>
              <a:blipFill>
                <a:blip r:embed="rId7"/>
                <a:stretch>
                  <a:fillRect l="-5208" t="-27273" r="-10417" b="-5454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72EE1F-56E1-3F64-65FC-3FC09C46A541}"/>
                  </a:ext>
                </a:extLst>
              </p:cNvPr>
              <p:cNvSpPr txBox="1"/>
              <p:nvPr/>
            </p:nvSpPr>
            <p:spPr>
              <a:xfrm>
                <a:off x="3758454" y="4846618"/>
                <a:ext cx="2469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VN" i="1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VN" i="0">
                          <a:latin typeface="Cambria Math" panose="02040503050406030204" pitchFamily="18" charset="0"/>
                        </a:rPr>
                        <m:t>cd</m:t>
                      </m:r>
                      <m:d>
                        <m:d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∈(1,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72EE1F-56E1-3F64-65FC-3FC09C46A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454" y="4846618"/>
                <a:ext cx="2469587" cy="276999"/>
              </a:xfrm>
              <a:prstGeom prst="rect">
                <a:avLst/>
              </a:prstGeom>
              <a:blipFill>
                <a:blip r:embed="rId8"/>
                <a:stretch>
                  <a:fillRect l="-2564" r="-3077" b="-3478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D5BF6F-FA25-64D7-8A11-9D22C5139364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4230890" y="4392859"/>
            <a:ext cx="762358" cy="4537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2E2C87-1EC2-6122-60C1-1642D06AFDA3}"/>
                  </a:ext>
                </a:extLst>
              </p:cNvPr>
              <p:cNvSpPr txBox="1"/>
              <p:nvPr/>
            </p:nvSpPr>
            <p:spPr>
              <a:xfrm>
                <a:off x="3037287" y="5839102"/>
                <a:ext cx="17965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vi-V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i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2E2C87-1EC2-6122-60C1-1642D06A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287" y="5839102"/>
                <a:ext cx="1796582" cy="276999"/>
              </a:xfrm>
              <a:prstGeom prst="rect">
                <a:avLst/>
              </a:prstGeom>
              <a:blipFill>
                <a:blip r:embed="rId9"/>
                <a:stretch>
                  <a:fillRect l="-4225" t="-8696" r="-2113" b="-391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83D15B-2022-C702-1B7B-AB4E7043E7D4}"/>
              </a:ext>
            </a:extLst>
          </p:cNvPr>
          <p:cNvCxnSpPr>
            <a:cxnSpLocks/>
            <a:stCxn id="33" idx="0"/>
            <a:endCxn id="27" idx="2"/>
          </p:cNvCxnSpPr>
          <p:nvPr/>
        </p:nvCxnSpPr>
        <p:spPr>
          <a:xfrm flipH="1" flipV="1">
            <a:off x="2613967" y="5129518"/>
            <a:ext cx="1321611" cy="7095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82F9731-65FB-AD2B-E30F-BE5DB8DC89A8}"/>
              </a:ext>
            </a:extLst>
          </p:cNvPr>
          <p:cNvCxnSpPr>
            <a:cxnSpLocks/>
            <a:stCxn id="33" idx="0"/>
            <a:endCxn id="28" idx="2"/>
          </p:cNvCxnSpPr>
          <p:nvPr/>
        </p:nvCxnSpPr>
        <p:spPr>
          <a:xfrm flipV="1">
            <a:off x="3935578" y="5123617"/>
            <a:ext cx="1057670" cy="715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41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1. What is Phase kickback?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654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AE9099-4EEB-4CFF-8D53-257FE647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Global phase &amp; relative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87ABE-D085-4B39-B259-BAD04F133A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Consider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vi-V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vi-V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vi-V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|0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|1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vi-VN" b="0" i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vi-VN" b="0" i="0">
                    <a:latin typeface="Calibri (Thân)"/>
                    <a:ea typeface="Cambria Math" panose="02040503050406030204" pitchFamily="18" charset="0"/>
                  </a:rPr>
                  <a:t>is vanish while conduct the measurement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87ABE-D085-4B39-B259-BAD04F133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09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5D24E8E9-6A8B-4086-BE3B-F38C14F24719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652669" y="1558526"/>
            <a:ext cx="3044740" cy="4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3707DD8C-DE11-4A84-8722-D3D115C995BA}"/>
                  </a:ext>
                </a:extLst>
              </p:cNvPr>
              <p:cNvSpPr txBox="1"/>
              <p:nvPr/>
            </p:nvSpPr>
            <p:spPr>
              <a:xfrm>
                <a:off x="202095" y="179940"/>
                <a:ext cx="9458740" cy="1242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Suppose a unitary operator (matrix)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has an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with eigenvalue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is unknown,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). Note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because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 b="1"/>
                  <a:t>Goal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is the phase that kicked back</a:t>
                </a:r>
                <a:endParaRPr lang="vi-VN"/>
              </a:p>
              <a:p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3707DD8C-DE11-4A84-8722-D3D115C99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179940"/>
                <a:ext cx="9458740" cy="1242263"/>
              </a:xfrm>
              <a:prstGeom prst="rect">
                <a:avLst/>
              </a:prstGeom>
              <a:blipFill>
                <a:blip r:embed="rId2"/>
                <a:stretch>
                  <a:fillRect l="-515" t="-34975" r="-966" b="-310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EFF11AC-4363-4D9F-A1CE-03EA3F1D61F0}"/>
              </a:ext>
            </a:extLst>
          </p:cNvPr>
          <p:cNvCxnSpPr>
            <a:cxnSpLocks/>
          </p:cNvCxnSpPr>
          <p:nvPr/>
        </p:nvCxnSpPr>
        <p:spPr>
          <a:xfrm>
            <a:off x="6337300" y="668551"/>
            <a:ext cx="3151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2C9946D2-E217-47CB-8916-EEA5EA918B18}"/>
                  </a:ext>
                </a:extLst>
              </p:cNvPr>
              <p:cNvSpPr txBox="1"/>
              <p:nvPr/>
            </p:nvSpPr>
            <p:spPr>
              <a:xfrm>
                <a:off x="9660835" y="179940"/>
                <a:ext cx="2448339" cy="2375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(1)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r>
                  <a:rPr lang="en-US"/>
                  <a:t>From (1) &amp; (2):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d>
                        <m:dPr>
                          <m:begChr m:val="|"/>
                          <m:endChr m:val="|"/>
                          <m:ctrlP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2C9946D2-E217-47CB-8916-EEA5EA91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835" y="179940"/>
                <a:ext cx="2448339" cy="2375137"/>
              </a:xfrm>
              <a:prstGeom prst="rect">
                <a:avLst/>
              </a:prstGeom>
              <a:blipFill>
                <a:blip r:embed="rId3"/>
                <a:stretch>
                  <a:fillRect l="-22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92DCCB46-FB3E-4756-B923-811D7F930B87}"/>
              </a:ext>
            </a:extLst>
          </p:cNvPr>
          <p:cNvSpPr/>
          <p:nvPr/>
        </p:nvSpPr>
        <p:spPr>
          <a:xfrm>
            <a:off x="1103243" y="1286633"/>
            <a:ext cx="556591" cy="5523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0B50CC27-90A4-4588-8DDA-963ABA72BECD}"/>
                  </a:ext>
                </a:extLst>
              </p:cNvPr>
              <p:cNvSpPr txBox="1"/>
              <p:nvPr/>
            </p:nvSpPr>
            <p:spPr>
              <a:xfrm>
                <a:off x="202095" y="1378152"/>
                <a:ext cx="4505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0B50CC27-90A4-4588-8DDA-963ABA7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1378152"/>
                <a:ext cx="450574" cy="369332"/>
              </a:xfrm>
              <a:prstGeom prst="rect">
                <a:avLst/>
              </a:prstGeom>
              <a:blipFill>
                <a:blip r:embed="rId4"/>
                <a:stretch>
                  <a:fillRect l="-29730" t="-118033" r="-114865" b="-18524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C3593F4C-B3D2-4B68-89FA-ABADD49573A1}"/>
                  </a:ext>
                </a:extLst>
              </p:cNvPr>
              <p:cNvSpPr txBox="1"/>
              <p:nvPr/>
            </p:nvSpPr>
            <p:spPr>
              <a:xfrm>
                <a:off x="202095" y="2118932"/>
                <a:ext cx="4505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C3593F4C-B3D2-4B68-89FA-ABADD4957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2118932"/>
                <a:ext cx="450574" cy="369332"/>
              </a:xfrm>
              <a:prstGeom prst="rect">
                <a:avLst/>
              </a:prstGeom>
              <a:blipFill>
                <a:blip r:embed="rId5"/>
                <a:stretch>
                  <a:fillRect l="-27027" t="-120000" r="-117568" b="-190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47E35272-F61F-4CEA-ACCA-24E4656719C1}"/>
              </a:ext>
            </a:extLst>
          </p:cNvPr>
          <p:cNvCxnSpPr>
            <a:cxnSpLocks/>
          </p:cNvCxnSpPr>
          <p:nvPr/>
        </p:nvCxnSpPr>
        <p:spPr>
          <a:xfrm>
            <a:off x="652669" y="2316850"/>
            <a:ext cx="3443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64C88F1A-6F21-4AC5-9554-A150D9431C90}"/>
              </a:ext>
            </a:extLst>
          </p:cNvPr>
          <p:cNvSpPr/>
          <p:nvPr/>
        </p:nvSpPr>
        <p:spPr>
          <a:xfrm>
            <a:off x="2042491" y="2027412"/>
            <a:ext cx="556591" cy="5523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</a:t>
            </a:r>
            <a:endParaRPr lang="vi-VN"/>
          </a:p>
        </p:txBody>
      </p:sp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293C487F-5064-4142-B039-4B52AE2C48D6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320786" y="1562818"/>
            <a:ext cx="1" cy="464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017C31A7-46EE-47CB-BFED-64970FB79C29}"/>
              </a:ext>
            </a:extLst>
          </p:cNvPr>
          <p:cNvSpPr/>
          <p:nvPr/>
        </p:nvSpPr>
        <p:spPr>
          <a:xfrm>
            <a:off x="2229910" y="1477127"/>
            <a:ext cx="181752" cy="1713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D44D2420-A83D-4598-8337-0A1FAB3C0323}"/>
              </a:ext>
            </a:extLst>
          </p:cNvPr>
          <p:cNvSpPr/>
          <p:nvPr/>
        </p:nvSpPr>
        <p:spPr>
          <a:xfrm>
            <a:off x="3697409" y="1282340"/>
            <a:ext cx="556591" cy="552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</a:t>
            </a:r>
            <a:endParaRPr lang="vi-VN"/>
          </a:p>
        </p:txBody>
      </p:sp>
      <p:sp>
        <p:nvSpPr>
          <p:cNvPr id="28" name="Cung 27">
            <a:extLst>
              <a:ext uri="{FF2B5EF4-FFF2-40B4-BE49-F238E27FC236}">
                <a16:creationId xmlns:a16="http://schemas.microsoft.com/office/drawing/2014/main" id="{83074520-2584-4108-9069-F0EB374B4CDD}"/>
              </a:ext>
            </a:extLst>
          </p:cNvPr>
          <p:cNvSpPr/>
          <p:nvPr/>
        </p:nvSpPr>
        <p:spPr>
          <a:xfrm rot="18900000">
            <a:off x="3756631" y="1524556"/>
            <a:ext cx="496648" cy="516661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B5D2581A-7B8C-4F1D-BC34-B0B4F0C03C0D}"/>
              </a:ext>
            </a:extLst>
          </p:cNvPr>
          <p:cNvCxnSpPr/>
          <p:nvPr/>
        </p:nvCxnSpPr>
        <p:spPr>
          <a:xfrm flipV="1">
            <a:off x="3955503" y="1373859"/>
            <a:ext cx="140493" cy="16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AE0B652E-2016-4C4B-991B-84D42E588A0A}"/>
              </a:ext>
            </a:extLst>
          </p:cNvPr>
          <p:cNvSpPr txBox="1"/>
          <p:nvPr/>
        </p:nvSpPr>
        <p:spPr>
          <a:xfrm>
            <a:off x="2626045" y="1245892"/>
            <a:ext cx="92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control</a:t>
            </a:r>
            <a:endParaRPr lang="vi-VN" sz="1400" i="1"/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C1658A4C-CB80-48C6-B5FF-D39297661ACF}"/>
              </a:ext>
            </a:extLst>
          </p:cNvPr>
          <p:cNvSpPr txBox="1"/>
          <p:nvPr/>
        </p:nvSpPr>
        <p:spPr>
          <a:xfrm>
            <a:off x="2626045" y="1998267"/>
            <a:ext cx="92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target</a:t>
            </a:r>
            <a:endParaRPr lang="vi-VN" sz="1400" i="1"/>
          </a:p>
        </p:txBody>
      </p:sp>
      <p:cxnSp>
        <p:nvCxnSpPr>
          <p:cNvPr id="34" name="Đường nối Thẳng 33">
            <a:extLst>
              <a:ext uri="{FF2B5EF4-FFF2-40B4-BE49-F238E27FC236}">
                <a16:creationId xmlns:a16="http://schemas.microsoft.com/office/drawing/2014/main" id="{A40B27F8-3FD8-4EC5-A497-A83706CC5839}"/>
              </a:ext>
            </a:extLst>
          </p:cNvPr>
          <p:cNvCxnSpPr/>
          <p:nvPr/>
        </p:nvCxnSpPr>
        <p:spPr>
          <a:xfrm flipV="1">
            <a:off x="1252950" y="2152155"/>
            <a:ext cx="257175" cy="336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DCEABFE8-9B15-428D-BFD8-A2E7B2006D1C}"/>
              </a:ext>
            </a:extLst>
          </p:cNvPr>
          <p:cNvCxnSpPr/>
          <p:nvPr/>
        </p:nvCxnSpPr>
        <p:spPr>
          <a:xfrm flipV="1">
            <a:off x="887825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D476BA23-D437-474A-9F31-18FA80F00BF1}"/>
              </a:ext>
            </a:extLst>
          </p:cNvPr>
          <p:cNvCxnSpPr/>
          <p:nvPr/>
        </p:nvCxnSpPr>
        <p:spPr>
          <a:xfrm flipV="1">
            <a:off x="1853025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Đường nối Thẳng 40">
            <a:extLst>
              <a:ext uri="{FF2B5EF4-FFF2-40B4-BE49-F238E27FC236}">
                <a16:creationId xmlns:a16="http://schemas.microsoft.com/office/drawing/2014/main" id="{2ED9CE78-45EB-455D-9801-9C9330C56598}"/>
              </a:ext>
            </a:extLst>
          </p:cNvPr>
          <p:cNvCxnSpPr/>
          <p:nvPr/>
        </p:nvCxnSpPr>
        <p:spPr>
          <a:xfrm flipV="1">
            <a:off x="3390481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Hộp Văn bản 43">
            <a:extLst>
              <a:ext uri="{FF2B5EF4-FFF2-40B4-BE49-F238E27FC236}">
                <a16:creationId xmlns:a16="http://schemas.microsoft.com/office/drawing/2014/main" id="{1DB037D6-FE44-4F90-9CA0-E239D1B22AF4}"/>
              </a:ext>
            </a:extLst>
          </p:cNvPr>
          <p:cNvSpPr txBox="1"/>
          <p:nvPr/>
        </p:nvSpPr>
        <p:spPr>
          <a:xfrm>
            <a:off x="732044" y="2560960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  <a:endParaRPr lang="vi-VN"/>
          </a:p>
        </p:txBody>
      </p:sp>
      <p:sp>
        <p:nvSpPr>
          <p:cNvPr id="45" name="Hộp Văn bản 44">
            <a:extLst>
              <a:ext uri="{FF2B5EF4-FFF2-40B4-BE49-F238E27FC236}">
                <a16:creationId xmlns:a16="http://schemas.microsoft.com/office/drawing/2014/main" id="{2C12B83C-F616-4D92-A0CB-926BF951DA37}"/>
              </a:ext>
            </a:extLst>
          </p:cNvPr>
          <p:cNvSpPr txBox="1"/>
          <p:nvPr/>
        </p:nvSpPr>
        <p:spPr>
          <a:xfrm>
            <a:off x="1697244" y="2560960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</a:t>
            </a:r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453D2EC4-4A79-4B59-8BAA-48369E203DC8}"/>
              </a:ext>
            </a:extLst>
          </p:cNvPr>
          <p:cNvSpPr txBox="1"/>
          <p:nvPr/>
        </p:nvSpPr>
        <p:spPr>
          <a:xfrm>
            <a:off x="3234700" y="2556827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2E100A0E-AD67-48D5-9A79-C54D6661BB50}"/>
                  </a:ext>
                </a:extLst>
              </p:cNvPr>
              <p:cNvSpPr txBox="1"/>
              <p:nvPr/>
            </p:nvSpPr>
            <p:spPr>
              <a:xfrm>
                <a:off x="202095" y="3161034"/>
                <a:ext cx="5408130" cy="402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A, state: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2E100A0E-AD67-48D5-9A79-C54D6661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3161034"/>
                <a:ext cx="5408130" cy="402354"/>
              </a:xfrm>
              <a:prstGeom prst="rect">
                <a:avLst/>
              </a:prstGeom>
              <a:blipFill>
                <a:blip r:embed="rId6"/>
                <a:stretch>
                  <a:fillRect l="-902" t="-156061" b="-23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6F4B4B82-F533-43F0-BF8D-DCA64B5D3122}"/>
                  </a:ext>
                </a:extLst>
              </p:cNvPr>
              <p:cNvSpPr txBox="1"/>
              <p:nvPr/>
            </p:nvSpPr>
            <p:spPr>
              <a:xfrm>
                <a:off x="202095" y="3598929"/>
                <a:ext cx="5408130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B,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6F4B4B82-F533-43F0-BF8D-DCA64B5D3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3598929"/>
                <a:ext cx="5408130" cy="525465"/>
              </a:xfrm>
              <a:prstGeom prst="rect">
                <a:avLst/>
              </a:prstGeom>
              <a:blipFill>
                <a:blip r:embed="rId7"/>
                <a:stretch>
                  <a:fillRect l="-902" t="-68966" b="-11379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A13EA6F8-6B3F-4AF5-B063-A02198F27DCC}"/>
                  </a:ext>
                </a:extLst>
              </p:cNvPr>
              <p:cNvSpPr txBox="1"/>
              <p:nvPr/>
            </p:nvSpPr>
            <p:spPr>
              <a:xfrm>
                <a:off x="202095" y="4139525"/>
                <a:ext cx="5408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Between B &amp; C, Control-U applied only component that has qubit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A13EA6F8-6B3F-4AF5-B063-A02198F2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4139525"/>
                <a:ext cx="5408130" cy="646331"/>
              </a:xfrm>
              <a:prstGeom prst="rect">
                <a:avLst/>
              </a:prstGeom>
              <a:blipFill>
                <a:blip r:embed="rId8"/>
                <a:stretch>
                  <a:fillRect l="-902" t="-26415" r="-676" b="-10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3D90D45-C22D-47DE-964D-F5F207078F37}"/>
                  </a:ext>
                </a:extLst>
              </p:cNvPr>
              <p:cNvSpPr txBox="1"/>
              <p:nvPr/>
            </p:nvSpPr>
            <p:spPr>
              <a:xfrm>
                <a:off x="202095" y="4785856"/>
                <a:ext cx="5408130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C,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/>
                  <a:t>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3D90D45-C22D-47DE-964D-F5F207078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4785856"/>
                <a:ext cx="5408130" cy="1016689"/>
              </a:xfrm>
              <a:prstGeom prst="rect">
                <a:avLst/>
              </a:prstGeom>
              <a:blipFill>
                <a:blip r:embed="rId9"/>
                <a:stretch>
                  <a:fillRect l="-902" b="-179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8FF79508-6FD0-4F3F-9953-0F688F9CDBAD}"/>
                  </a:ext>
                </a:extLst>
              </p:cNvPr>
              <p:cNvSpPr txBox="1"/>
              <p:nvPr/>
            </p:nvSpPr>
            <p:spPr>
              <a:xfrm>
                <a:off x="202095" y="5888270"/>
                <a:ext cx="54081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gets factored out,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remains unchanged</a:t>
                </a:r>
                <a:endParaRPr lang="vi-VN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8FF79508-6FD0-4F3F-9953-0F688F9CD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5888270"/>
                <a:ext cx="5408130" cy="369332"/>
              </a:xfrm>
              <a:prstGeom prst="rect">
                <a:avLst/>
              </a:prstGeom>
              <a:blipFill>
                <a:blip r:embed="rId10"/>
                <a:stretch>
                  <a:fillRect t="-119672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A7F7571F-0A50-4974-99E7-00BD001E96C3}"/>
                  </a:ext>
                </a:extLst>
              </p:cNvPr>
              <p:cNvSpPr txBox="1"/>
              <p:nvPr/>
            </p:nvSpPr>
            <p:spPr>
              <a:xfrm>
                <a:off x="5610225" y="3172611"/>
                <a:ext cx="5408130" cy="864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At C,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A7F7571F-0A50-4974-99E7-00BD001E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5" y="3172611"/>
                <a:ext cx="5408130" cy="864532"/>
              </a:xfrm>
              <a:prstGeom prst="rect">
                <a:avLst/>
              </a:prstGeom>
              <a:blipFill>
                <a:blip r:embed="rId11"/>
                <a:stretch>
                  <a:fillRect l="-902" t="-72535" b="-5493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9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5" grpId="0" animBg="1"/>
      <p:bldP spid="17" grpId="0"/>
      <p:bldP spid="18" grpId="0"/>
      <p:bldP spid="22" grpId="0" animBg="1"/>
      <p:bldP spid="26" grpId="0" animBg="1"/>
      <p:bldP spid="27" grpId="0" animBg="1"/>
      <p:bldP spid="28" grpId="0" animBg="1"/>
      <p:bldP spid="31" grpId="0"/>
      <p:bldP spid="3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2. Quantum Fourier Transform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258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7D21AC5-F08C-44E0-B23D-3AE7767E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DC0E10-4B9D-4448-8C0F-395735D6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One of the most useful ways of solving a problem in mathematics or computer science is to transform it into some other problem for which a solution is known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402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Discrete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Give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– dimensional complex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55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Or the unitary matrix: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20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ea typeface="Cambria Math" panose="020405030504060302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is unitary</a:t>
                </a:r>
              </a:p>
              <a:p>
                <a:pPr marL="514350" indent="-514350"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rad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⟨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⟩⟨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58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2.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acts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|00…0⟩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00…0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∗0∗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/>
                  <a:t> is the number of qubits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735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Intuition: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𝑆𝑡𝑎𝑡𝑒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𝑐𝑜𝑚𝑝𝑢𝑡𝑎𝑡𝑖𝑜𝑛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𝑏𝑎𝑠𝑖𝑠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𝐹𝑜𝑢𝑟𝑖𝑒𝑟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𝑏𝑎𝑠𝑖𝑠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denotes for the state in Fourier basis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470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basiscounting">
            <a:extLst>
              <a:ext uri="{FF2B5EF4-FFF2-40B4-BE49-F238E27FC236}">
                <a16:creationId xmlns:a16="http://schemas.microsoft.com/office/drawing/2014/main" id="{C89910BF-EBEF-43A7-967E-7BCF58EF135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538" y="994901"/>
            <a:ext cx="82677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basiscounting">
            <a:extLst>
              <a:ext uri="{FF2B5EF4-FFF2-40B4-BE49-F238E27FC236}">
                <a16:creationId xmlns:a16="http://schemas.microsoft.com/office/drawing/2014/main" id="{251DE2FD-47F3-4BFA-AB5A-29912041F1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063" y="3782961"/>
            <a:ext cx="825817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FBA2D7B-BE6C-44B2-9DE0-6B09D68460CF}"/>
              </a:ext>
            </a:extLst>
          </p:cNvPr>
          <p:cNvSpPr txBox="1"/>
          <p:nvPr/>
        </p:nvSpPr>
        <p:spPr>
          <a:xfrm>
            <a:off x="644321" y="2042651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Computation basis</a:t>
            </a:r>
            <a:endParaRPr lang="vi-VN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5B79C25-80FB-45A9-B7A9-56B20EEC358A}"/>
              </a:ext>
            </a:extLst>
          </p:cNvPr>
          <p:cNvSpPr txBox="1"/>
          <p:nvPr/>
        </p:nvSpPr>
        <p:spPr>
          <a:xfrm>
            <a:off x="644321" y="4830711"/>
            <a:ext cx="1671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Fourier basis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8529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Example 1 qubit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Similarly, we have: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405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3.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the number of qubits, the computation basis of its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Using the binary representation in writing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303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𝑄𝐹𝑇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bSup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𝑖𝑥𝑦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5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(rewriting in fractional binary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83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(rewriting in fractional binary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⊗…⊗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699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5A253246-8BCE-4329-80E6-CE55FA80C71A}"/>
                  </a:ext>
                </a:extLst>
              </p:cNvPr>
              <p:cNvSpPr txBox="1"/>
              <p:nvPr/>
            </p:nvSpPr>
            <p:spPr>
              <a:xfrm>
                <a:off x="341243" y="502478"/>
                <a:ext cx="6705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vector (state)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components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5A253246-8BCE-4329-80E6-CE55FA80C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502478"/>
                <a:ext cx="6705600" cy="369332"/>
              </a:xfrm>
              <a:prstGeom prst="rect">
                <a:avLst/>
              </a:prstGeom>
              <a:blipFill>
                <a:blip r:embed="rId2"/>
                <a:stretch>
                  <a:fillRect l="-818" t="-119672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569D48C-5A16-42E0-A63F-77F62BBE7376}"/>
                  </a:ext>
                </a:extLst>
              </p:cNvPr>
              <p:cNvSpPr txBox="1"/>
              <p:nvPr/>
            </p:nvSpPr>
            <p:spPr>
              <a:xfrm>
                <a:off x="341243" y="871810"/>
                <a:ext cx="11642036" cy="502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DFT: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/>
                  <a:t> root of unity)</a:t>
                </a:r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569D48C-5A16-42E0-A63F-77F62BBE7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871810"/>
                <a:ext cx="11642036" cy="502573"/>
              </a:xfrm>
              <a:prstGeom prst="rect">
                <a:avLst/>
              </a:prstGeom>
              <a:blipFill>
                <a:blip r:embed="rId3"/>
                <a:stretch>
                  <a:fillRect l="-471" t="-73171" b="-12682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84C72320-41B5-4A28-9173-FE831AD89BF0}"/>
                  </a:ext>
                </a:extLst>
              </p:cNvPr>
              <p:cNvSpPr txBox="1"/>
              <p:nvPr/>
            </p:nvSpPr>
            <p:spPr>
              <a:xfrm>
                <a:off x="341243" y="1374383"/>
                <a:ext cx="10233992" cy="264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QFT has the same formula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/>
                  <a:t>), be expressed as the map: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/>
                  <a:t> </a:t>
                </a:r>
              </a:p>
              <a:p>
                <a:r>
                  <a:rPr lang="en-US"/>
                  <a:t>or the unitary matrix:</a:t>
                </a:r>
              </a:p>
              <a:p>
                <a:endParaRPr lang="en-US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𝑗𝑘</m:t>
                                  </m:r>
                                </m:sup>
                              </m:sSubSup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  <m:d>
                            <m:dPr>
                              <m:begChr m:val="⟨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84C72320-41B5-4A28-9173-FE831AD89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1374383"/>
                <a:ext cx="10233992" cy="2641621"/>
              </a:xfrm>
              <a:prstGeom prst="rect">
                <a:avLst/>
              </a:prstGeom>
              <a:blipFill>
                <a:blip r:embed="rId4"/>
                <a:stretch>
                  <a:fillRect l="-536" t="-1451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A92FEABE-7971-4AF2-AD19-AEE8D39A2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955" y="2098980"/>
            <a:ext cx="6373908" cy="2245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3C34168-F5C5-4A85-ABED-09531FABCAA2}"/>
                  </a:ext>
                </a:extLst>
              </p:cNvPr>
              <p:cNvSpPr txBox="1"/>
              <p:nvPr/>
            </p:nvSpPr>
            <p:spPr>
              <a:xfrm>
                <a:off x="341243" y="5705808"/>
                <a:ext cx="71992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𝑄𝐹𝑇</m:t>
                    </m:r>
                  </m:oMath>
                </a14:m>
                <a:r>
                  <a:rPr lang="en-US"/>
                  <a:t> transforms from the computational (Z) basis to the Fourier basis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𝑄𝐹𝑇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3C34168-F5C5-4A85-ABED-09531FAB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5705808"/>
                <a:ext cx="7199244" cy="646331"/>
              </a:xfrm>
              <a:prstGeom prst="rect">
                <a:avLst/>
              </a:prstGeom>
              <a:blipFill>
                <a:blip r:embed="rId6"/>
                <a:stretch>
                  <a:fillRect t="-26415" b="-10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5452E797-FA85-4FDB-8360-8795AF2FEC83}"/>
                  </a:ext>
                </a:extLst>
              </p:cNvPr>
              <p:cNvSpPr txBox="1"/>
              <p:nvPr/>
            </p:nvSpPr>
            <p:spPr>
              <a:xfrm>
                <a:off x="341243" y="3476264"/>
                <a:ext cx="6096000" cy="594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/>
                  <a:t>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5452E797-FA85-4FDB-8360-8795AF2F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3476264"/>
                <a:ext cx="6096000" cy="594586"/>
              </a:xfrm>
              <a:prstGeom prst="rect">
                <a:avLst/>
              </a:prstGeom>
              <a:blipFill>
                <a:blip r:embed="rId7"/>
                <a:stretch>
                  <a:fillRect l="-900" b="-1530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Hình ảnh 15">
            <a:extLst>
              <a:ext uri="{FF2B5EF4-FFF2-40B4-BE49-F238E27FC236}">
                <a16:creationId xmlns:a16="http://schemas.microsoft.com/office/drawing/2014/main" id="{DC2B74E2-F9F6-4D52-8E69-15FCF0092A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4" y="4176632"/>
            <a:ext cx="31432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8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9C2F644-9BCE-415F-A0A8-4EF09164F8F8}"/>
                  </a:ext>
                </a:extLst>
              </p:cNvPr>
              <p:cNvSpPr txBox="1"/>
              <p:nvPr/>
            </p:nvSpPr>
            <p:spPr>
              <a:xfrm>
                <a:off x="245165" y="225287"/>
                <a:ext cx="11701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Hadamard gate (H) is the simplest case of QFT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=−1)</m:t>
                    </m:r>
                  </m:oMath>
                </a14:m>
                <a:r>
                  <a:rPr lang="en-US"/>
                  <a:t>, it transform state from Z – basis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to X – basis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9C2F644-9BCE-415F-A0A8-4EF09164F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225287"/>
                <a:ext cx="11701670" cy="369332"/>
              </a:xfrm>
              <a:prstGeom prst="rect">
                <a:avLst/>
              </a:prstGeom>
              <a:blipFill>
                <a:blip r:embed="rId2"/>
                <a:stretch>
                  <a:fillRect l="-417" t="-119672" r="-2396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D72F494-0FBD-4DAF-A844-282803D31DAC}"/>
                  </a:ext>
                </a:extLst>
              </p:cNvPr>
              <p:cNvSpPr txBox="1"/>
              <p:nvPr/>
            </p:nvSpPr>
            <p:spPr>
              <a:xfrm>
                <a:off x="245165" y="594619"/>
                <a:ext cx="11701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D72F494-0FBD-4DAF-A844-282803D31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594619"/>
                <a:ext cx="11701670" cy="369332"/>
              </a:xfrm>
              <a:prstGeom prst="rect">
                <a:avLst/>
              </a:prstGeom>
              <a:blipFill>
                <a:blip r:embed="rId3"/>
                <a:stretch>
                  <a:fillRect l="-417" t="-121667" b="-18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4F71E0B-D9E5-4923-9486-6766CB84E403}"/>
                  </a:ext>
                </a:extLst>
              </p:cNvPr>
              <p:cNvSpPr txBox="1"/>
              <p:nvPr/>
            </p:nvSpPr>
            <p:spPr>
              <a:xfrm>
                <a:off x="245165" y="1099931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4F71E0B-D9E5-4923-9486-6766CB84E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1099931"/>
                <a:ext cx="7825409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D84F675A-C903-4606-802D-F7D48382124A}"/>
                  </a:ext>
                </a:extLst>
              </p:cNvPr>
              <p:cNvSpPr txBox="1"/>
              <p:nvPr/>
            </p:nvSpPr>
            <p:spPr>
              <a:xfrm>
                <a:off x="4923183" y="1099931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D84F675A-C903-4606-802D-F7D48382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183" y="1099931"/>
                <a:ext cx="7825409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B1D9D5B0-5EF2-4DEF-BF45-1EA4DF031188}"/>
                  </a:ext>
                </a:extLst>
              </p:cNvPr>
              <p:cNvSpPr txBox="1"/>
              <p:nvPr/>
            </p:nvSpPr>
            <p:spPr>
              <a:xfrm>
                <a:off x="245165" y="1769402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|0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B1D9D5B0-5EF2-4DEF-BF45-1EA4DF03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1769402"/>
                <a:ext cx="7825409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Hình ảnh 11">
            <a:extLst>
              <a:ext uri="{FF2B5EF4-FFF2-40B4-BE49-F238E27FC236}">
                <a16:creationId xmlns:a16="http://schemas.microsoft.com/office/drawing/2014/main" id="{110FC25D-80F3-4C74-9EFC-5A25CACD0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164" y="2434008"/>
            <a:ext cx="10650455" cy="42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94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4F97599-5A20-484E-8416-300054FCE960}"/>
              </a:ext>
            </a:extLst>
          </p:cNvPr>
          <p:cNvSpPr txBox="1"/>
          <p:nvPr/>
        </p:nvSpPr>
        <p:spPr>
          <a:xfrm>
            <a:off x="331305" y="239404"/>
            <a:ext cx="775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QFT used for?</a:t>
            </a:r>
            <a:endParaRPr lang="vi-VN"/>
          </a:p>
        </p:txBody>
      </p:sp>
      <p:pic>
        <p:nvPicPr>
          <p:cNvPr id="1026" name="Picture 2" descr="zbasiscounting">
            <a:extLst>
              <a:ext uri="{FF2B5EF4-FFF2-40B4-BE49-F238E27FC236}">
                <a16:creationId xmlns:a16="http://schemas.microsoft.com/office/drawing/2014/main" id="{38019F79-C43F-459A-9FBD-7326B4AADC7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5" y="1105718"/>
            <a:ext cx="7752522" cy="196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basiscounting">
            <a:extLst>
              <a:ext uri="{FF2B5EF4-FFF2-40B4-BE49-F238E27FC236}">
                <a16:creationId xmlns:a16="http://schemas.microsoft.com/office/drawing/2014/main" id="{B60B185D-D2AD-4FFF-9E7A-02022015F84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5" y="3521052"/>
            <a:ext cx="7743589" cy="196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24A0257-D118-4E48-BE7A-C0A9DA3557D1}"/>
              </a:ext>
            </a:extLst>
          </p:cNvPr>
          <p:cNvSpPr txBox="1"/>
          <p:nvPr/>
        </p:nvSpPr>
        <p:spPr>
          <a:xfrm>
            <a:off x="8507897" y="1555617"/>
            <a:ext cx="274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Counting in Z-basis seems like to classical computing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C89CE48-A381-4FB5-A798-95AC62AAA5E9}"/>
                  </a:ext>
                </a:extLst>
              </p:cNvPr>
              <p:cNvSpPr txBox="1"/>
              <p:nvPr/>
            </p:nvSpPr>
            <p:spPr>
              <a:xfrm>
                <a:off x="8507897" y="3403146"/>
                <a:ext cx="3352798" cy="250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Counting in X-basis</a:t>
                </a:r>
              </a:p>
              <a:p>
                <a:r>
                  <a:rPr lang="en-US"/>
                  <a:t>Example count 5 by 4 qubit:</a:t>
                </a:r>
              </a:p>
              <a:p>
                <a:r>
                  <a:rPr lang="en-US"/>
                  <a:t>Qubit 0: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1: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2: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3: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C89CE48-A381-4FB5-A798-95AC62AA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97" y="3403146"/>
                <a:ext cx="3352798" cy="2505814"/>
              </a:xfrm>
              <a:prstGeom prst="rect">
                <a:avLst/>
              </a:prstGeom>
              <a:blipFill>
                <a:blip r:embed="rId4"/>
                <a:stretch>
                  <a:fillRect l="-1636" t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Hình ảnh 8">
            <a:extLst>
              <a:ext uri="{FF2B5EF4-FFF2-40B4-BE49-F238E27FC236}">
                <a16:creationId xmlns:a16="http://schemas.microsoft.com/office/drawing/2014/main" id="{EFED77E9-618B-4640-8FB8-63FC5F9A8B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94" t="83308" r="20054"/>
          <a:stretch/>
        </p:blipFill>
        <p:spPr>
          <a:xfrm>
            <a:off x="430093" y="5908960"/>
            <a:ext cx="7546011" cy="70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89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antum circuit for Quantum-Fourier-Transform with n qubits (without rearranging the order of output states). It uses the binary fraction notation introduced below.">
            <a:extLst>
              <a:ext uri="{FF2B5EF4-FFF2-40B4-BE49-F238E27FC236}">
                <a16:creationId xmlns:a16="http://schemas.microsoft.com/office/drawing/2014/main" id="{1AE73642-8E15-43A1-A886-A846EF718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51308" cy="28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67C52DD6-711D-499F-AF1A-B81F0A79167A}"/>
              </a:ext>
            </a:extLst>
          </p:cNvPr>
          <p:cNvCxnSpPr/>
          <p:nvPr/>
        </p:nvCxnSpPr>
        <p:spPr>
          <a:xfrm flipH="1">
            <a:off x="7663412" y="742122"/>
            <a:ext cx="1775791" cy="2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FF75498-890A-43D6-8536-2FA0A7075562}"/>
              </a:ext>
            </a:extLst>
          </p:cNvPr>
          <p:cNvSpPr txBox="1"/>
          <p:nvPr/>
        </p:nvSpPr>
        <p:spPr>
          <a:xfrm>
            <a:off x="9581320" y="557456"/>
            <a:ext cx="233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 out the phases</a:t>
            </a:r>
            <a:endParaRPr lang="vi-V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30FACCF-8C3D-4825-A184-BCDCD7F4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5235"/>
            <a:ext cx="5577111" cy="376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6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3. Quantum Phase Estimation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3569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878AECE-CE69-4E3F-ACB9-A8689F42D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304" y="275119"/>
                <a:ext cx="11569148" cy="44161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Suppose a unitary operator (matrix)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has an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 with eigenvalue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is unknown,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). Note that: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 because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 b="1"/>
                  <a:t>Goal</a:t>
                </a:r>
                <a:r>
                  <a:rPr lang="en-US"/>
                  <a:t>: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/>
                  <a:t>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bit</a:t>
                </a:r>
              </a:p>
              <a:p>
                <a:pPr marL="0" indent="0">
                  <a:buNone/>
                </a:pPr>
                <a:r>
                  <a:rPr lang="en-US"/>
                  <a:t>Input: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and controlled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/>
                  <a:t> operator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878AECE-CE69-4E3F-ACB9-A8689F42D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304" y="275119"/>
                <a:ext cx="11569148" cy="4416151"/>
              </a:xfrm>
              <a:blipFill>
                <a:blip r:embed="rId2"/>
                <a:stretch>
                  <a:fillRect l="-1054" t="-2207" r="-58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139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First register</a:t>
                </a:r>
              </a:p>
              <a:p>
                <a:r>
                  <a:rPr lang="en-US" b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)</a:t>
                </a:r>
                <a:endParaRPr lang="vi-VN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Second register</a:t>
                </a:r>
              </a:p>
              <a:p>
                <a:r>
                  <a:rPr lang="en-US" b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)</a:t>
                </a:r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0F5EEB27-3760-4880-AC35-08997441D322}"/>
              </a:ext>
            </a:extLst>
          </p:cNvPr>
          <p:cNvCxnSpPr/>
          <p:nvPr/>
        </p:nvCxnSpPr>
        <p:spPr>
          <a:xfrm>
            <a:off x="887896" y="2729511"/>
            <a:ext cx="0" cy="43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4750905" y="1373413"/>
            <a:ext cx="0" cy="241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0BA247-3E3A-4A69-BADF-8C2DB0CDC7A8}"/>
                  </a:ext>
                </a:extLst>
              </p:cNvPr>
              <p:cNvSpPr txBox="1"/>
              <p:nvPr/>
            </p:nvSpPr>
            <p:spPr>
              <a:xfrm>
                <a:off x="197784" y="3222093"/>
                <a:ext cx="436096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gate: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0BA247-3E3A-4A69-BADF-8C2DB0CDC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3222093"/>
                <a:ext cx="4360964" cy="565539"/>
              </a:xfrm>
              <a:prstGeom prst="rect">
                <a:avLst/>
              </a:prstGeom>
              <a:blipFill>
                <a:blip r:embed="rId6"/>
                <a:stretch>
                  <a:fillRect l="-1117" t="-68478" b="-9891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E713BBBE-A380-4E0B-83A9-7516C32CC564}"/>
              </a:ext>
            </a:extLst>
          </p:cNvPr>
          <p:cNvSpPr txBox="1"/>
          <p:nvPr/>
        </p:nvSpPr>
        <p:spPr>
          <a:xfrm>
            <a:off x="197784" y="3787632"/>
            <a:ext cx="436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Apply controlled unitary operations </a:t>
            </a:r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D4271CEB-A1C1-458D-9FA1-ACCF44EFF7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36"/>
          <a:stretch/>
        </p:blipFill>
        <p:spPr>
          <a:xfrm>
            <a:off x="197784" y="4353171"/>
            <a:ext cx="10889382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62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)</a:t>
                </a:r>
                <a:endParaRPr lang="vi-VN" dirty="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Second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  <a:endParaRPr lang="vi-VN" dirty="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3412436" y="1139687"/>
            <a:ext cx="0" cy="2033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E713BBBE-A380-4E0B-83A9-7516C32CC564}"/>
              </a:ext>
            </a:extLst>
          </p:cNvPr>
          <p:cNvSpPr txBox="1"/>
          <p:nvPr/>
        </p:nvSpPr>
        <p:spPr>
          <a:xfrm>
            <a:off x="197784" y="3254349"/>
            <a:ext cx="436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 controlled unitary operations </a:t>
            </a:r>
            <a:endParaRPr lang="vi-VN" dirty="0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4B83C1E0-5155-4894-AAC5-95984E9ED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84" y="3711915"/>
            <a:ext cx="9515475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4F0A9DBC-AB88-4083-8D9B-21747B436BDB}"/>
                  </a:ext>
                </a:extLst>
              </p:cNvPr>
              <p:cNvSpPr txBox="1"/>
              <p:nvPr/>
            </p:nvSpPr>
            <p:spPr>
              <a:xfrm>
                <a:off x="197784" y="5070652"/>
                <a:ext cx="5274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/>
                  <a:t> denote for the binary representation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4F0A9DBC-AB88-4083-8D9B-21747B43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5070652"/>
                <a:ext cx="5274366" cy="369332"/>
              </a:xfrm>
              <a:prstGeom prst="rect">
                <a:avLst/>
              </a:prstGeom>
              <a:blipFill>
                <a:blip r:embed="rId7"/>
                <a:stretch>
                  <a:fillRect l="-924" t="-121667" b="-18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76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)</a:t>
                </a:r>
                <a:endParaRPr lang="vi-VN" dirty="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Second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  <a:endParaRPr lang="vi-VN" dirty="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3412436" y="1139687"/>
            <a:ext cx="0" cy="2033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E713BBBE-A380-4E0B-83A9-7516C32CC564}"/>
                  </a:ext>
                </a:extLst>
              </p:cNvPr>
              <p:cNvSpPr txBox="1"/>
              <p:nvPr/>
            </p:nvSpPr>
            <p:spPr>
              <a:xfrm>
                <a:off x="197784" y="3254349"/>
                <a:ext cx="7051156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Apply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/>
                  <a:t>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E713BBBE-A380-4E0B-83A9-7516C32CC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3254349"/>
                <a:ext cx="7051156" cy="565539"/>
              </a:xfrm>
              <a:prstGeom prst="rect">
                <a:avLst/>
              </a:prstGeom>
              <a:blipFill>
                <a:blip r:embed="rId6"/>
                <a:stretch>
                  <a:fillRect l="-691" t="-104301" b="-1430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CC6A075A-7143-4730-AB4D-4727E9C17F30}"/>
              </a:ext>
            </a:extLst>
          </p:cNvPr>
          <p:cNvSpPr txBox="1"/>
          <p:nvPr/>
        </p:nvSpPr>
        <p:spPr>
          <a:xfrm>
            <a:off x="197784" y="3897954"/>
            <a:ext cx="705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Yields:</a:t>
            </a:r>
          </a:p>
          <a:p>
            <a:endParaRPr lang="vi-VN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42100885-6842-4805-A281-2E014F75B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088" y="4224381"/>
            <a:ext cx="9610725" cy="847725"/>
          </a:xfrm>
          <a:prstGeom prst="rect">
            <a:avLst/>
          </a:prstGeom>
        </p:spPr>
      </p:pic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F79B6D2F-B8E2-47C0-B7C5-7A7BED5C26D0}"/>
              </a:ext>
            </a:extLst>
          </p:cNvPr>
          <p:cNvSpPr/>
          <p:nvPr/>
        </p:nvSpPr>
        <p:spPr>
          <a:xfrm>
            <a:off x="1709530" y="4221119"/>
            <a:ext cx="1934818" cy="101349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47D2CB82-6116-42BD-8FB8-D60F4A2DFB45}"/>
              </a:ext>
            </a:extLst>
          </p:cNvPr>
          <p:cNvCxnSpPr>
            <a:stCxn id="23" idx="2"/>
            <a:endCxn id="13" idx="0"/>
          </p:cNvCxnSpPr>
          <p:nvPr/>
        </p:nvCxnSpPr>
        <p:spPr>
          <a:xfrm flipH="1">
            <a:off x="2676939" y="3819888"/>
            <a:ext cx="1046423" cy="401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27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040325D3-9264-4417-863A-9092D417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5" y="220110"/>
            <a:ext cx="9658350" cy="212407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E7B16840-E6C7-46DC-9F29-6EA190BB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55" y="2547937"/>
            <a:ext cx="100107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63D01C6E-DFD0-4F63-9D42-12848991B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36675"/>
            <a:ext cx="5586205" cy="3815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7D9FC0C-24B7-4C66-8BD9-00C66FD41C38}"/>
                  </a:ext>
                </a:extLst>
              </p:cNvPr>
              <p:cNvSpPr txBox="1"/>
              <p:nvPr/>
            </p:nvSpPr>
            <p:spPr>
              <a:xfrm>
                <a:off x="450573" y="4263717"/>
                <a:ext cx="4028661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001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=1/8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7D9FC0C-24B7-4C66-8BD9-00C66FD41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3" y="4263717"/>
                <a:ext cx="4028661" cy="484043"/>
              </a:xfrm>
              <a:prstGeom prst="rect">
                <a:avLst/>
              </a:prstGeom>
              <a:blipFill>
                <a:blip r:embed="rId3"/>
                <a:stretch>
                  <a:fillRect l="-1362" b="-7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Hình ảnh 7">
            <a:extLst>
              <a:ext uri="{FF2B5EF4-FFF2-40B4-BE49-F238E27FC236}">
                <a16:creationId xmlns:a16="http://schemas.microsoft.com/office/drawing/2014/main" id="{13EC8624-1B1C-4E11-804A-A8FBC4CB5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153" y="236675"/>
            <a:ext cx="5424528" cy="3851329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A76C565E-247B-4275-ADA5-DAC25B9E1073}"/>
              </a:ext>
            </a:extLst>
          </p:cNvPr>
          <p:cNvSpPr txBox="1"/>
          <p:nvPr/>
        </p:nvSpPr>
        <p:spPr>
          <a:xfrm>
            <a:off x="6096000" y="4263717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see our most likely results are 010(bin) = 2(dec) and 011(bin) = 3(dec). These two results would tell us that θ = 0.25 (off by 25%) and θ = 0.375 (off by 13%) respectively</a:t>
            </a:r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68182CD3-7A11-4449-8C9E-350438400139}"/>
              </a:ext>
            </a:extLst>
          </p:cNvPr>
          <p:cNvSpPr/>
          <p:nvPr/>
        </p:nvSpPr>
        <p:spPr>
          <a:xfrm>
            <a:off x="2663687" y="236675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FA8F20D0-39FC-4BA3-BE6A-FD28CFD8C9BF}"/>
              </a:ext>
            </a:extLst>
          </p:cNvPr>
          <p:cNvSpPr/>
          <p:nvPr/>
        </p:nvSpPr>
        <p:spPr>
          <a:xfrm>
            <a:off x="7933208" y="236675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BB80608D-CD57-407C-B677-37A966B43B7A}"/>
              </a:ext>
            </a:extLst>
          </p:cNvPr>
          <p:cNvSpPr/>
          <p:nvPr/>
        </p:nvSpPr>
        <p:spPr>
          <a:xfrm>
            <a:off x="7277225" y="2323892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2185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BE834AF6-DB3B-402B-8ECC-5771B37D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18648"/>
            <a:ext cx="6029325" cy="4314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2DC35415-9925-4773-AA35-977670291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549" y="4463797"/>
                <a:ext cx="7779025" cy="10380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The two most likely measurements are now 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Mono"/>
                  </a:rPr>
                  <a:t>01011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(decimal 11) and 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Mono"/>
                  </a:rPr>
                  <a:t>01010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(decimal 10). Measuring these results would tell us </a:t>
                </a:r>
                <a14:m>
                  <m:oMath xmlns:m="http://schemas.openxmlformats.org/officeDocument/2006/math"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is: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vi-VN" altLang="vi-VN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vi-VN" altLang="vi-VN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sSup>
                          <m:sSupPr>
                            <m:ctrlP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=0.344,</m:t>
                    </m:r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alt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alt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vi-VN" alt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sSupPr>
                            <m:ctrlP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13</a:t>
                </a: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2DC35415-9925-4773-AA35-977670291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49" y="4463797"/>
                <a:ext cx="7779025" cy="1038041"/>
              </a:xfrm>
              <a:prstGeom prst="rect">
                <a:avLst/>
              </a:prstGeom>
              <a:blipFill>
                <a:blip r:embed="rId3"/>
                <a:stretch>
                  <a:fillRect l="-705" t="-2339" b="-2924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6000FC65-7275-4D49-9401-BF0044269C8D}"/>
              </a:ext>
            </a:extLst>
          </p:cNvPr>
          <p:cNvSpPr/>
          <p:nvPr/>
        </p:nvSpPr>
        <p:spPr>
          <a:xfrm>
            <a:off x="2252870" y="223423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8832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4DCAF4-EA6C-4010-BBE6-B0325F450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Solving large linear system of equations by HHL Algorithm</a:t>
            </a:r>
            <a:br>
              <a:rPr lang="vi-VN" dirty="0"/>
            </a:br>
            <a:endParaRPr lang="vi-VN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489152C-BB1B-4D42-BA1F-9F86E22D8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20/2/2021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01021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0D702C-F948-4641-AD2A-25093F51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6EF3C52-FBB3-4CCD-97A6-D892E0E36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.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Hermitian,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eigenvector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eigenvalue, respectively) </a:t>
                </a: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6EF3C52-FBB3-4CCD-97A6-D892E0E36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655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8C2C01-8AA9-4F10-973F-AF0F5F3D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824826-21AD-4E7E-9170-87F7F0075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=−3,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=−3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vi-VN" dirty="0">
                  <a:effectLst/>
                  <a:latin typeface="Arial" panose="020B0604020202020204" pitchFamily="34" charset="0"/>
                  <a:ea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824826-21AD-4E7E-9170-87F7F0075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19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3B2EE0-B9BD-4F2E-B9A5-42631837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B1E1A-A989-4C95-B687-676A4C57D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05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Then: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d>
                      <m:r>
                        <a:rPr lang="vi-VN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  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dirty="0">
                  <a:effectLst/>
                  <a:latin typeface="Arial" panose="020B0604020202020204" pitchFamily="34" charset="0"/>
                  <a:ea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B1E1A-A989-4C95-B687-676A4C57D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0597"/>
              </a:xfrm>
              <a:blipFill>
                <a:blip r:embed="rId2"/>
                <a:stretch>
                  <a:fillRect l="-1809" t="-17403" b="-49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103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125C43-56B4-4B34-80B4-3181684E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 Light (Đầu đề)"/>
              </a:rPr>
              <a:t>2. HHL </a:t>
            </a:r>
            <a:r>
              <a:rPr lang="vi-VN" dirty="0" err="1">
                <a:latin typeface="Calibri Light (Đầu đề)"/>
              </a:rPr>
              <a:t>Algorithm</a:t>
            </a:r>
            <a:endParaRPr lang="vi-VN">
              <a:latin typeface="Calibri Light (Đầu đề)"/>
            </a:endParaRPr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C746BC6C-D06F-40E1-9AF7-83568D624B2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766"/>
            <a:ext cx="10515600" cy="5108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61310C5B-0B58-4B80-B8CB-138CD3D045CD}"/>
              </a:ext>
            </a:extLst>
          </p:cNvPr>
          <p:cNvCxnSpPr>
            <a:cxnSpLocks/>
          </p:cNvCxnSpPr>
          <p:nvPr/>
        </p:nvCxnSpPr>
        <p:spPr>
          <a:xfrm>
            <a:off x="1688123" y="2147597"/>
            <a:ext cx="0" cy="1093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2AC1183-52B2-4D12-9F87-2A0014DF5BDB}"/>
                  </a:ext>
                </a:extLst>
              </p:cNvPr>
              <p:cNvSpPr txBox="1"/>
              <p:nvPr/>
            </p:nvSpPr>
            <p:spPr>
              <a:xfrm>
                <a:off x="288388" y="1594490"/>
                <a:ext cx="27994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Load eigenvalue of </a:t>
                </a: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vi-VN" sz="2400">
                  <a:latin typeface="Calibri (Thân)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2AC1183-52B2-4D12-9F87-2A0014DF5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88" y="1594490"/>
                <a:ext cx="2799469" cy="461665"/>
              </a:xfrm>
              <a:prstGeom prst="rect">
                <a:avLst/>
              </a:prstGeom>
              <a:blipFill>
                <a:blip r:embed="rId3"/>
                <a:stretch>
                  <a:fillRect l="-3261" t="-10667" b="-30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41115388-02D5-4B70-B965-98D8FEA77C05}"/>
              </a:ext>
            </a:extLst>
          </p:cNvPr>
          <p:cNvCxnSpPr>
            <a:cxnSpLocks/>
          </p:cNvCxnSpPr>
          <p:nvPr/>
        </p:nvCxnSpPr>
        <p:spPr>
          <a:xfrm flipH="1" flipV="1">
            <a:off x="1840523" y="5473661"/>
            <a:ext cx="982190" cy="745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D938F497-7DA6-405E-88C6-BAF07A35F59E}"/>
                  </a:ext>
                </a:extLst>
              </p:cNvPr>
              <p:cNvSpPr txBox="1"/>
              <p:nvPr/>
            </p:nvSpPr>
            <p:spPr>
              <a:xfrm>
                <a:off x="2443546" y="6262042"/>
                <a:ext cx="1288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Load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D938F497-7DA6-405E-88C6-BAF07A35F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546" y="6262042"/>
                <a:ext cx="1288621" cy="461665"/>
              </a:xfrm>
              <a:prstGeom prst="rect">
                <a:avLst/>
              </a:prstGeom>
              <a:blipFill>
                <a:blip r:embed="rId4"/>
                <a:stretch>
                  <a:fillRect l="-7583" t="-130263" r="-45972" b="-19473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201AC1C7-BADE-4D3C-92CA-EC21D46BFF1F}"/>
              </a:ext>
            </a:extLst>
          </p:cNvPr>
          <p:cNvCxnSpPr>
            <a:cxnSpLocks/>
          </p:cNvCxnSpPr>
          <p:nvPr/>
        </p:nvCxnSpPr>
        <p:spPr>
          <a:xfrm flipV="1">
            <a:off x="1272209" y="4650669"/>
            <a:ext cx="415913" cy="1519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9B7D0D3E-CEB6-47D9-860B-0EA45515BD43}"/>
              </a:ext>
            </a:extLst>
          </p:cNvPr>
          <p:cNvSpPr txBox="1"/>
          <p:nvPr/>
        </p:nvSpPr>
        <p:spPr>
          <a:xfrm>
            <a:off x="288388" y="6262042"/>
            <a:ext cx="1552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latin typeface="Calibri (Thân)"/>
                <a:ea typeface="Cambria" panose="02040503050406030204" pitchFamily="18" charset="0"/>
              </a:rPr>
              <a:t>Ancilla bit</a:t>
            </a:r>
          </a:p>
        </p:txBody>
      </p:sp>
    </p:spTree>
    <p:extLst>
      <p:ext uri="{BB962C8B-B14F-4D97-AF65-F5344CB8AC3E}">
        <p14:creationId xmlns:p14="http://schemas.microsoft.com/office/powerpoint/2010/main" val="2415012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E76321-5B0D-4EFB-B188-3B2846A3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3. Run on qiskit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3B2D93F5-1505-4569-B0B2-480C9535C0B1}"/>
              </a:ext>
            </a:extLst>
          </p:cNvPr>
          <p:cNvSpPr txBox="1"/>
          <p:nvPr/>
        </p:nvSpPr>
        <p:spPr>
          <a:xfrm>
            <a:off x="2555601" y="4694550"/>
            <a:ext cx="237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Approximate t</a:t>
            </a:r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6F34F66-64FF-4483-9818-53B57412C214}"/>
              </a:ext>
            </a:extLst>
          </p:cNvPr>
          <p:cNvSpPr txBox="1"/>
          <p:nvPr/>
        </p:nvSpPr>
        <p:spPr>
          <a:xfrm>
            <a:off x="7509012" y="4854263"/>
            <a:ext cx="237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Exactly t</a:t>
            </a:r>
            <a:endParaRPr lang="vi-VN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8A734C29-C6F9-48C0-859F-2DE022EA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5161"/>
            <a:ext cx="2448339" cy="1580927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C82AC941-6B55-4C90-B8DD-E1900F9360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907"/>
          <a:stretch/>
        </p:blipFill>
        <p:spPr>
          <a:xfrm>
            <a:off x="838199" y="3056088"/>
            <a:ext cx="4634949" cy="1580926"/>
          </a:xfrm>
          <a:prstGeom prst="rect">
            <a:avLst/>
          </a:prstGeom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9ED276C7-13AA-42D6-9BFC-4F9D4BDCDCAC}"/>
              </a:ext>
            </a:extLst>
          </p:cNvPr>
          <p:cNvSpPr txBox="1"/>
          <p:nvPr/>
        </p:nvSpPr>
        <p:spPr>
          <a:xfrm>
            <a:off x="82825" y="4879216"/>
            <a:ext cx="1364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Norm 2 between 2 solutions</a:t>
            </a:r>
            <a:endParaRPr lang="vi-VN"/>
          </a:p>
        </p:txBody>
      </p:sp>
      <p:cxnSp>
        <p:nvCxnSpPr>
          <p:cNvPr id="21" name="Đường kết nối: Mũi tên Gấp khúc 20">
            <a:extLst>
              <a:ext uri="{FF2B5EF4-FFF2-40B4-BE49-F238E27FC236}">
                <a16:creationId xmlns:a16="http://schemas.microsoft.com/office/drawing/2014/main" id="{DD1B476C-1BCF-4589-8975-F61C13F253BC}"/>
              </a:ext>
            </a:extLst>
          </p:cNvPr>
          <p:cNvCxnSpPr/>
          <p:nvPr/>
        </p:nvCxnSpPr>
        <p:spPr>
          <a:xfrm flipV="1">
            <a:off x="235225" y="4217930"/>
            <a:ext cx="530087" cy="4936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Hình ảnh 22">
            <a:extLst>
              <a:ext uri="{FF2B5EF4-FFF2-40B4-BE49-F238E27FC236}">
                <a16:creationId xmlns:a16="http://schemas.microsoft.com/office/drawing/2014/main" id="{35270AB6-9DB1-4BFA-A090-12D1EDB9C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34" y="3056089"/>
            <a:ext cx="4742775" cy="1580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Viết tay 23">
                <a:extLst>
                  <a:ext uri="{FF2B5EF4-FFF2-40B4-BE49-F238E27FC236}">
                    <a16:creationId xmlns:a16="http://schemas.microsoft.com/office/drawing/2014/main" id="{047F3FA1-5B19-4ECE-927E-6486BAD5B08C}"/>
                  </a:ext>
                </a:extLst>
              </p14:cNvPr>
              <p14:cNvContentPartPr/>
              <p14:nvPr/>
            </p14:nvContentPartPr>
            <p14:xfrm>
              <a:off x="6795360" y="803520"/>
              <a:ext cx="2920320" cy="2081160"/>
            </p14:xfrm>
          </p:contentPart>
        </mc:Choice>
        <mc:Fallback xmlns="">
          <p:pic>
            <p:nvPicPr>
              <p:cNvPr id="24" name="Viết tay 23">
                <a:extLst>
                  <a:ext uri="{FF2B5EF4-FFF2-40B4-BE49-F238E27FC236}">
                    <a16:creationId xmlns:a16="http://schemas.microsoft.com/office/drawing/2014/main" id="{047F3FA1-5B19-4ECE-927E-6486BAD5B0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6000" y="794160"/>
                <a:ext cx="2939040" cy="20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Viết tay 24">
                <a:extLst>
                  <a:ext uri="{FF2B5EF4-FFF2-40B4-BE49-F238E27FC236}">
                    <a16:creationId xmlns:a16="http://schemas.microsoft.com/office/drawing/2014/main" id="{6649AB35-D487-4F1D-802C-150C2013E21B}"/>
                  </a:ext>
                </a:extLst>
              </p14:cNvPr>
              <p14:cNvContentPartPr/>
              <p14:nvPr/>
            </p14:nvContentPartPr>
            <p14:xfrm>
              <a:off x="3902400" y="901800"/>
              <a:ext cx="2813040" cy="1955880"/>
            </p14:xfrm>
          </p:contentPart>
        </mc:Choice>
        <mc:Fallback xmlns="">
          <p:pic>
            <p:nvPicPr>
              <p:cNvPr id="25" name="Viết tay 24">
                <a:extLst>
                  <a:ext uri="{FF2B5EF4-FFF2-40B4-BE49-F238E27FC236}">
                    <a16:creationId xmlns:a16="http://schemas.microsoft.com/office/drawing/2014/main" id="{6649AB35-D487-4F1D-802C-150C2013E2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3040" y="892440"/>
                <a:ext cx="2831760" cy="19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791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36AA93DC-0939-47E5-88D6-E8BD051A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69459" cy="78954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1DBDE6B9-237D-4237-8BB5-111A302B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540"/>
            <a:ext cx="8669459" cy="1742391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837959F1-3966-47E5-BAE1-CF2238155293}"/>
              </a:ext>
            </a:extLst>
          </p:cNvPr>
          <p:cNvSpPr txBox="1"/>
          <p:nvPr/>
        </p:nvSpPr>
        <p:spPr>
          <a:xfrm>
            <a:off x="8772939" y="944248"/>
            <a:ext cx="163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3 GB RAM</a:t>
            </a:r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7C4D0E6E-C259-4A5F-8411-2094AEA1C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31931"/>
            <a:ext cx="4121834" cy="3042884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3C769C45-490A-4FF7-B2EB-61BB753F31AD}"/>
              </a:ext>
            </a:extLst>
          </p:cNvPr>
          <p:cNvSpPr txBox="1"/>
          <p:nvPr/>
        </p:nvSpPr>
        <p:spPr>
          <a:xfrm>
            <a:off x="1245908" y="5743357"/>
            <a:ext cx="163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3.9 GB RAM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088E3D-131C-4427-ACCC-C63A91B3F3F7}"/>
                  </a:ext>
                </a:extLst>
              </p:cNvPr>
              <p:cNvSpPr txBox="1"/>
              <p:nvPr/>
            </p:nvSpPr>
            <p:spPr>
              <a:xfrm>
                <a:off x="9382966" y="5743357"/>
                <a:ext cx="2710069" cy="89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𝑅𝐴𝑀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0.5 ∗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𝑇𝐼𝑀𝐸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088E3D-131C-4427-ACCC-C63A91B3F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966" y="5743357"/>
                <a:ext cx="2710069" cy="8956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69562DA-71E2-4669-B30C-A3A4D2292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1834" y="3393997"/>
            <a:ext cx="7971201" cy="2150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Viết tay 14">
                <a:extLst>
                  <a:ext uri="{FF2B5EF4-FFF2-40B4-BE49-F238E27FC236}">
                    <a16:creationId xmlns:a16="http://schemas.microsoft.com/office/drawing/2014/main" id="{D853E5B7-1168-4E96-810A-1B495F642409}"/>
                  </a:ext>
                </a:extLst>
              </p14:cNvPr>
              <p14:cNvContentPartPr/>
              <p14:nvPr/>
            </p14:nvContentPartPr>
            <p14:xfrm>
              <a:off x="687600" y="2295000"/>
              <a:ext cx="6438600" cy="1188000"/>
            </p14:xfrm>
          </p:contentPart>
        </mc:Choice>
        <mc:Fallback xmlns="">
          <p:pic>
            <p:nvPicPr>
              <p:cNvPr id="15" name="Viết tay 14">
                <a:extLst>
                  <a:ext uri="{FF2B5EF4-FFF2-40B4-BE49-F238E27FC236}">
                    <a16:creationId xmlns:a16="http://schemas.microsoft.com/office/drawing/2014/main" id="{D853E5B7-1168-4E96-810A-1B495F6424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8240" y="2285640"/>
                <a:ext cx="6457320" cy="12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1470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E0C74698-1B93-44D8-92CE-7BB05E7D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3" y="862840"/>
            <a:ext cx="9913040" cy="1058511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3851C5E-8A31-4DB5-9EB4-25F2DB754379}"/>
              </a:ext>
            </a:extLst>
          </p:cNvPr>
          <p:cNvSpPr txBox="1"/>
          <p:nvPr/>
        </p:nvSpPr>
        <p:spPr>
          <a:xfrm>
            <a:off x="410403" y="318052"/>
            <a:ext cx="527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5000 x 5000 matrix solving by classical computer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39A7755B-C1E1-4BA8-B09A-4CB8E929759E}"/>
                  </a:ext>
                </a:extLst>
              </p:cNvPr>
              <p:cNvSpPr txBox="1"/>
              <p:nvPr/>
            </p:nvSpPr>
            <p:spPr>
              <a:xfrm>
                <a:off x="410402" y="2096807"/>
                <a:ext cx="6785527" cy="148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5000 x 5000 matrix solving by quantum simulation require: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𝑅𝐴𝑀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0.5 ∗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2(5000)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=35 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𝑇𝐼𝑀𝐸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5000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vi-VN"/>
              </a:p>
              <a:p>
                <a:endParaRPr lang="vi-VN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39A7755B-C1E1-4BA8-B09A-4CB8E9297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2" y="2096807"/>
                <a:ext cx="6785527" cy="1489254"/>
              </a:xfrm>
              <a:prstGeom prst="rect">
                <a:avLst/>
              </a:prstGeom>
              <a:blipFill>
                <a:blip r:embed="rId3"/>
                <a:stretch>
                  <a:fillRect l="-719" t="-245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16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6687B9-2786-4415-95FF-D42FC6FE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HHL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228F092-E9A9-414B-9032-59019EE86C81}"/>
              </a:ext>
            </a:extLst>
          </p:cNvPr>
          <p:cNvSpPr/>
          <p:nvPr/>
        </p:nvSpPr>
        <p:spPr>
          <a:xfrm>
            <a:off x="944218" y="2792379"/>
            <a:ext cx="2236304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Quantum phase estimation (QPE)</a:t>
            </a:r>
            <a:endParaRPr lang="vi-VN" sz="2000"/>
          </a:p>
        </p:txBody>
      </p:sp>
      <p:pic>
        <p:nvPicPr>
          <p:cNvPr id="5" name="Chỗ dành sẵn cho Nội dung 3">
            <a:extLst>
              <a:ext uri="{FF2B5EF4-FFF2-40B4-BE49-F238E27FC236}">
                <a16:creationId xmlns:a16="http://schemas.microsoft.com/office/drawing/2014/main" id="{4A7ED0D7-9831-4477-9E4C-AA07CC94F1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215"/>
            <a:ext cx="5416826" cy="26313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Đường kết nối: Mũi tên Gấp khúc 6">
            <a:extLst>
              <a:ext uri="{FF2B5EF4-FFF2-40B4-BE49-F238E27FC236}">
                <a16:creationId xmlns:a16="http://schemas.microsoft.com/office/drawing/2014/main" id="{C0E6A843-E526-494B-A19B-FECD3A7A210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180522" y="2411896"/>
            <a:ext cx="4611756" cy="1043265"/>
          </a:xfrm>
          <a:prstGeom prst="bentConnector3">
            <a:avLst>
              <a:gd name="adj1" fmla="val 1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C363DA86-00F8-495B-9BA5-A19205E21FEF}"/>
              </a:ext>
            </a:extLst>
          </p:cNvPr>
          <p:cNvSpPr/>
          <p:nvPr/>
        </p:nvSpPr>
        <p:spPr>
          <a:xfrm>
            <a:off x="9117496" y="5117445"/>
            <a:ext cx="2236304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Inverse of QPE</a:t>
            </a:r>
            <a:endParaRPr lang="vi-VN" sz="2000"/>
          </a:p>
        </p:txBody>
      </p:sp>
      <p:cxnSp>
        <p:nvCxnSpPr>
          <p:cNvPr id="13" name="Đường kết nối: Mũi tên Gấp khúc 12">
            <a:extLst>
              <a:ext uri="{FF2B5EF4-FFF2-40B4-BE49-F238E27FC236}">
                <a16:creationId xmlns:a16="http://schemas.microsoft.com/office/drawing/2014/main" id="{DC492DBF-6B46-42DA-A37D-F98690B6C9B6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8323799" y="3205595"/>
            <a:ext cx="2705548" cy="111815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B2D05528-59C6-47EF-86F6-B22A949FA7E1}"/>
              </a:ext>
            </a:extLst>
          </p:cNvPr>
          <p:cNvSpPr/>
          <p:nvPr/>
        </p:nvSpPr>
        <p:spPr>
          <a:xfrm>
            <a:off x="944218" y="5154063"/>
            <a:ext cx="1613452" cy="89835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Phase kickback</a:t>
            </a:r>
            <a:endParaRPr lang="vi-VN" sz="2000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0AB5115B-E37B-4E49-8D5B-52E4F9DD1AB9}"/>
              </a:ext>
            </a:extLst>
          </p:cNvPr>
          <p:cNvSpPr/>
          <p:nvPr/>
        </p:nvSpPr>
        <p:spPr>
          <a:xfrm>
            <a:off x="3180522" y="5154063"/>
            <a:ext cx="2236304" cy="89835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Quantum Fourier transform (QFT)</a:t>
            </a:r>
            <a:endParaRPr lang="vi-VN" sz="2000"/>
          </a:p>
        </p:txBody>
      </p:sp>
      <p:cxnSp>
        <p:nvCxnSpPr>
          <p:cNvPr id="18" name="Đường kết nối: Mũi tên Gấp khúc 17">
            <a:extLst>
              <a:ext uri="{FF2B5EF4-FFF2-40B4-BE49-F238E27FC236}">
                <a16:creationId xmlns:a16="http://schemas.microsoft.com/office/drawing/2014/main" id="{613AB459-8D35-49D3-AE88-2F9694173228}"/>
              </a:ext>
            </a:extLst>
          </p:cNvPr>
          <p:cNvCxnSpPr>
            <a:cxnSpLocks/>
            <a:stCxn id="16" idx="0"/>
            <a:endCxn id="4" idx="2"/>
          </p:cNvCxnSpPr>
          <p:nvPr/>
        </p:nvCxnSpPr>
        <p:spPr>
          <a:xfrm rot="5400000" flipH="1" flipV="1">
            <a:off x="1388597" y="4480290"/>
            <a:ext cx="1036121" cy="31142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: Mũi tên Gấp khúc 21">
            <a:extLst>
              <a:ext uri="{FF2B5EF4-FFF2-40B4-BE49-F238E27FC236}">
                <a16:creationId xmlns:a16="http://schemas.microsoft.com/office/drawing/2014/main" id="{9EE5905C-9B03-4E27-AB46-E14D2FA1F96F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rot="16200000" flipV="1">
            <a:off x="2662462" y="3517851"/>
            <a:ext cx="1036121" cy="223630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02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58FD24-EA0B-47A7-8E7E-F32B91EB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Questions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3A9B016-A83D-471C-A727-8D71B95FB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4018"/>
          </a:xfrm>
        </p:spPr>
        <p:txBody>
          <a:bodyPr/>
          <a:lstStyle/>
          <a:p>
            <a:pPr marL="0" indent="0">
              <a:buNone/>
            </a:pPr>
            <a:r>
              <a:rPr lang="vi-VN">
                <a:latin typeface="Calibri (Thân)"/>
              </a:rPr>
              <a:t>1. What ancilla qubits used for?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11113D3-26F2-4692-B9BE-99F6334DB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87" y="2546518"/>
            <a:ext cx="4591929" cy="376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A7EC552-55F1-495C-8A24-64097DBEFDD1}"/>
              </a:ext>
            </a:extLst>
          </p:cNvPr>
          <p:cNvSpPr txBox="1"/>
          <p:nvPr/>
        </p:nvSpPr>
        <p:spPr>
          <a:xfrm>
            <a:off x="5584874" y="2546518"/>
            <a:ext cx="4754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sz="2800">
                <a:latin typeface="Calibri (Thân)"/>
              </a:rPr>
              <a:t>Store output</a:t>
            </a:r>
          </a:p>
          <a:p>
            <a:pPr marL="285750" indent="-285750">
              <a:buFontTx/>
              <a:buChar char="-"/>
            </a:pPr>
            <a:r>
              <a:rPr lang="vi-VN" sz="2800">
                <a:latin typeface="Calibri (Thân)"/>
              </a:rPr>
              <a:t>Padding for higher order gate with use less component than normal</a:t>
            </a:r>
          </a:p>
        </p:txBody>
      </p:sp>
    </p:spTree>
    <p:extLst>
      <p:ext uri="{BB962C8B-B14F-4D97-AF65-F5344CB8AC3E}">
        <p14:creationId xmlns:p14="http://schemas.microsoft.com/office/powerpoint/2010/main" val="3480903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58FD24-EA0B-47A7-8E7E-F32B91EB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Questions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3A9B016-A83D-471C-A727-8D71B95FB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6922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How many iterations needed?</a:t>
            </a:r>
          </a:p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Common time?</a:t>
            </a:r>
          </a:p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The relationship between size of input (n) and number of qubits </a:t>
            </a:r>
          </a:p>
          <a:p>
            <a:pPr marL="514350" indent="-514350">
              <a:buAutoNum type="arabicPeriod"/>
            </a:pPr>
            <a:endParaRPr lang="vi-VN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3167173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15CA0E-01B5-4BAE-9498-7BE72E7A0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search algothrithm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9EC6AD3-A3F8-42CA-A065-77283B557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Lov Grover 1995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1120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58501F0-69F5-4034-9FDE-D444E4AC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Problem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3723630-C915-4FB5-B263-9D2F446C1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376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Given an unordered array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elements, find a particular element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Classical: brute-force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queries (average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)</a:t>
                </a:r>
              </a:p>
              <a:p>
                <a:pPr marL="0" indent="0">
                  <a:buNone/>
                </a:pPr>
                <a:r>
                  <a:rPr lang="en-US"/>
                  <a:t>Quantum: grover’s algothrithm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3723630-C915-4FB5-B263-9D2F446C1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3760"/>
                <a:ext cx="10515600" cy="4351338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C9074310-0E00-4523-8859-7D3C0CC2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20" t="48387" r="28992" b="36122"/>
          <a:stretch/>
        </p:blipFill>
        <p:spPr>
          <a:xfrm>
            <a:off x="838200" y="3470352"/>
            <a:ext cx="9243847" cy="208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10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F267E48-2D45-440C-BCB3-6DE0235B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088" y="542925"/>
            <a:ext cx="85248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515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2920E8-D235-4346-A46D-9E235CB8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839B449-8F2E-4BAE-91DC-6ECDC3CE4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Imagine that you are given a 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{0, 1} </m:t>
                    </m:r>
                  </m:oMath>
                </a14:m>
                <a:r>
                  <a:rPr lang="en-US"/>
                  <a:t>and you are assured that there exists exactly one binary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is a unitary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/>
                  <a:t> that take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839B449-8F2E-4BAE-91DC-6ECDC3CE4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726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023D266-553A-4D38-81AA-F7E7BEA1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BB4A0D3B-4C6D-4143-BD47-5FBD3984E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6561406" cy="328456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4A21E236-E198-4898-BB52-AD88C6B1902E}"/>
                  </a:ext>
                </a:extLst>
              </p:cNvPr>
              <p:cNvSpPr txBox="1"/>
              <p:nvPr/>
            </p:nvSpPr>
            <p:spPr>
              <a:xfrm>
                <a:off x="7695027" y="1748741"/>
                <a:ext cx="36587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=2,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4A21E236-E198-4898-BB52-AD88C6B1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27" y="1748741"/>
                <a:ext cx="365877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042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BE4261-A43E-42B8-BFEC-5FFF9C97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D09B88BC-B142-41CA-850F-5A0F1A3E9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33537"/>
            <a:ext cx="8105775" cy="3590925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6C16800F-5425-40BF-B3B1-3CB2502C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97" y="67296"/>
            <a:ext cx="6107356" cy="346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08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18FB88-6D1F-48D0-82FD-B7478E2F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038E401-3653-43EE-904A-4AD14165EE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12859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Initial state: (1)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038E401-3653-43EE-904A-4AD14165E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128590"/>
              </a:xfrm>
              <a:blipFill>
                <a:blip r:embed="rId2"/>
                <a:stretch>
                  <a:fillRect l="-1217" b="-268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5F781D86-991A-4A45-A46C-77279A1F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66293"/>
            <a:ext cx="7053775" cy="1093544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F6FEC031-7754-4D90-8FF8-D86535E4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26574"/>
            <a:ext cx="7658686" cy="1283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After 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/>
                  <a:t> (2):</a:t>
                </a:r>
                <a:endParaRPr lang="vi-VN"/>
              </a:p>
            </p:txBody>
          </p:sp>
        </mc:Choice>
        <mc:Fallback xmlns="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  <a:blipFill>
                <a:blip r:embed="rId5"/>
                <a:stretch>
                  <a:fillRect l="-1217" t="-13265" b="-122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682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18FB88-6D1F-48D0-82FD-B7478E2F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038E401-3653-43EE-904A-4AD14165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859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After apply Phase inversion: (3a)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Calculate average of all elements in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(3a)</a:t>
                </a:r>
                <a:endParaRPr lang="vi-VN"/>
              </a:p>
            </p:txBody>
          </p:sp>
        </mc:Choice>
        <mc:Fallback xmlns="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  <a:blipFill>
                <a:blip r:embed="rId2"/>
                <a:stretch>
                  <a:fillRect l="-1217" t="-16327" b="-91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Hình ảnh 5">
            <a:extLst>
              <a:ext uri="{FF2B5EF4-FFF2-40B4-BE49-F238E27FC236}">
                <a16:creationId xmlns:a16="http://schemas.microsoft.com/office/drawing/2014/main" id="{A0C90042-69E6-4C30-AFF1-3C378C30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03364"/>
            <a:ext cx="8639175" cy="1171575"/>
          </a:xfrm>
          <a:prstGeom prst="rect">
            <a:avLst/>
          </a:prstGeom>
        </p:spPr>
      </p:pic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CEA64477-43BA-475E-ACB1-994B9E3D2C3E}"/>
              </a:ext>
            </a:extLst>
          </p:cNvPr>
          <p:cNvSpPr/>
          <p:nvPr/>
        </p:nvSpPr>
        <p:spPr>
          <a:xfrm>
            <a:off x="6414867" y="2433024"/>
            <a:ext cx="1055077" cy="1280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BA5A88B1-2D78-459D-8A90-7BF6DA69B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90379"/>
            <a:ext cx="5235837" cy="134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621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ình ảnh 5">
            <a:extLst>
              <a:ext uri="{FF2B5EF4-FFF2-40B4-BE49-F238E27FC236}">
                <a16:creationId xmlns:a16="http://schemas.microsoft.com/office/drawing/2014/main" id="{5D5A849E-C330-48FC-9864-D95C1E41C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57" t="28528" r="32444" b="27697"/>
          <a:stretch/>
        </p:blipFill>
        <p:spPr>
          <a:xfrm>
            <a:off x="5963213" y="156888"/>
            <a:ext cx="3841968" cy="2413873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36DD9B4E-E509-40D8-8D54-ACCCA0A3EA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97"/>
          <a:stretch/>
        </p:blipFill>
        <p:spPr>
          <a:xfrm>
            <a:off x="849848" y="839516"/>
            <a:ext cx="4393849" cy="1731245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F3643F48-25C8-44E3-A626-5649E1EE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05698"/>
            <a:ext cx="7649528" cy="1210621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727A341E-1909-47A0-82D0-BE289B2C4B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802"/>
          <a:stretch/>
        </p:blipFill>
        <p:spPr>
          <a:xfrm>
            <a:off x="838200" y="4051256"/>
            <a:ext cx="7315949" cy="139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603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 (iteration 1)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748959" y="4865243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59" y="4865243"/>
                <a:ext cx="65297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65FCEC65-2942-437F-A4AA-F10420E4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94" y="1451447"/>
            <a:ext cx="6787009" cy="2993918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F78563F6-DCC9-4446-A420-8CEDD3427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264" y="4445365"/>
            <a:ext cx="7812225" cy="1066209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59DA054-91B6-4662-B939-108B48D5CC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8877"/>
          <a:stretch/>
        </p:blipFill>
        <p:spPr>
          <a:xfrm>
            <a:off x="3086279" y="5540641"/>
            <a:ext cx="8784811" cy="1066209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FF978D0-1251-405F-9D11-83F0DABAF48E}"/>
              </a:ext>
            </a:extLst>
          </p:cNvPr>
          <p:cNvSpPr txBox="1"/>
          <p:nvPr/>
        </p:nvSpPr>
        <p:spPr>
          <a:xfrm>
            <a:off x="134668" y="6031210"/>
            <a:ext cx="2951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After phase inversion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2349377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 (iteration 2)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37156C6-8A56-4D48-B350-C84D44592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8337"/>
            <a:ext cx="7096125" cy="2981325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8E088A78-2BB6-4C40-A63F-C91EA3C38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75" y="5167311"/>
            <a:ext cx="9505950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868387" y="5663980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87" y="5663980"/>
                <a:ext cx="65297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82FE7193-E6DD-4CBC-A722-3EB6A342875F}"/>
                  </a:ext>
                </a:extLst>
              </p:cNvPr>
              <p:cNvSpPr txBox="1"/>
              <p:nvPr/>
            </p:nvSpPr>
            <p:spPr>
              <a:xfrm>
                <a:off x="7934325" y="2981639"/>
                <a:ext cx="4023213" cy="1417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Remember that we need to repeat step 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√(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to achieve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82FE7193-E6DD-4CBC-A722-3EB6A3428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325" y="2981639"/>
                <a:ext cx="4023213" cy="1417119"/>
              </a:xfrm>
              <a:prstGeom prst="rect">
                <a:avLst/>
              </a:prstGeom>
              <a:blipFill>
                <a:blip r:embed="rId5"/>
                <a:stretch>
                  <a:fillRect l="-3182" t="-3863" r="-1212" b="-1115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Hình ảnh 3">
            <a:extLst>
              <a:ext uri="{FF2B5EF4-FFF2-40B4-BE49-F238E27FC236}">
                <a16:creationId xmlns:a16="http://schemas.microsoft.com/office/drawing/2014/main" id="{90C3633D-0264-4350-9F5B-3A73FEC85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707" y="359527"/>
            <a:ext cx="4357556" cy="129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890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8E088A78-2BB6-4C40-A63F-C91EA3C38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88" y="1690688"/>
            <a:ext cx="9505950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838200" y="2187357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87357"/>
                <a:ext cx="65297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B61FFF2D-4D2F-4690-92D7-BCB2CFF99C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16251"/>
                <a:ext cx="10515600" cy="3476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Measure: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|101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=0.9453=94.53%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=0.0078=0.78%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B61FFF2D-4D2F-4690-92D7-BCB2CFF99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16251"/>
                <a:ext cx="10515600" cy="3476624"/>
              </a:xfrm>
              <a:blipFill>
                <a:blip r:embed="rId4"/>
                <a:stretch>
                  <a:fillRect l="-1217" t="-29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486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DF0D03F3-58D8-49FD-958A-67F543C15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7603"/>
            <a:ext cx="8024446" cy="548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78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7927F25-9A9E-43C6-A8EC-C4A73612C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45058" cy="180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4F182137-350F-439B-B368-6A808220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39" y="1806291"/>
            <a:ext cx="5610225" cy="4010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8685E71-A574-4E36-B772-A01FBA428CBA}"/>
                  </a:ext>
                </a:extLst>
              </p:cNvPr>
              <p:cNvSpPr txBox="1"/>
              <p:nvPr/>
            </p:nvSpPr>
            <p:spPr>
              <a:xfrm>
                <a:off x="2216103" y="6111336"/>
                <a:ext cx="2806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=101 &amp; 110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8685E71-A574-4E36-B772-A01FBA428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03" y="6111336"/>
                <a:ext cx="2806063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098BC11A-3C8A-4C7B-9CE6-822DE5D76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200" y="1760478"/>
            <a:ext cx="5878391" cy="417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26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1688A78-EEFD-4D9F-AABD-34A7C270F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6653"/>
            <a:ext cx="10515600" cy="65028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Excute on real device</a:t>
            </a:r>
            <a:endParaRPr lang="vi-V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E9D0C10-B3F7-48FD-B264-44B4053D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6942"/>
            <a:ext cx="5786510" cy="4031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58B31435-CB5E-41AA-A37A-B5F33B517E7E}"/>
                  </a:ext>
                </a:extLst>
              </p:cNvPr>
              <p:cNvSpPr txBox="1"/>
              <p:nvPr/>
            </p:nvSpPr>
            <p:spPr>
              <a:xfrm>
                <a:off x="1102263" y="5338951"/>
                <a:ext cx="2806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=0110 &amp; 1001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58B31435-CB5E-41AA-A37A-B5F33B517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63" y="5338951"/>
                <a:ext cx="2806063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0967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F76A250-D7E7-4D04-9CB9-525A3CD00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DA3C5F0-649F-44AC-80A3-DB3B03CEE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4/3/2022</a:t>
            </a:r>
          </a:p>
          <a:p>
            <a:endParaRPr lang="en-US"/>
          </a:p>
          <a:p>
            <a:r>
              <a:rPr lang="en-US"/>
              <a:t>Vu Tuan Hai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B42BF7F-5EA8-4AC9-B49B-E7D463E8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72783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Take the random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The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/>
                  <a:t> is a 1-D random walk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/>
                  <a:t> 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  <a:blipFill>
                <a:blip r:embed="rId2"/>
                <a:stretch>
                  <a:fillRect l="-1751" t="-174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ndom walk | Matlab Geeks">
            <a:extLst>
              <a:ext uri="{FF2B5EF4-FFF2-40B4-BE49-F238E27FC236}">
                <a16:creationId xmlns:a16="http://schemas.microsoft.com/office/drawing/2014/main" id="{4DCEBEC6-CCA2-4D9D-BF3C-AD24426024F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555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91901"/>
            <a:ext cx="4746674" cy="31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00C2965-A592-4039-8821-22DE4AB2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99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620616"/>
            <a:ext cx="5193199" cy="346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  <a:blipFill>
                <a:blip r:embed="rId4"/>
                <a:stretch>
                  <a:fillRect l="-2536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772938" y="202601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02705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36764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38879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772938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47505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09112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36764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07082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00590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3887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772938" y="507155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00590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3464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11227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34618" y="2259581"/>
            <a:ext cx="370233" cy="66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27578" y="2919634"/>
            <a:ext cx="377274" cy="75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49578" y="3684052"/>
            <a:ext cx="454922" cy="82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04852" y="4510585"/>
            <a:ext cx="428002" cy="79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523114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363197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7" name="Chỗ dành sẵn cho Số hiệu Bản chiếu 36">
            <a:extLst>
              <a:ext uri="{FF2B5EF4-FFF2-40B4-BE49-F238E27FC236}">
                <a16:creationId xmlns:a16="http://schemas.microsoft.com/office/drawing/2014/main" id="{D5BE46F8-7E0E-4D8A-86F4-5B83FEB9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99228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06F719C-9E9C-4704-B2FB-43FA45AD74C2}"/>
              </a:ext>
            </a:extLst>
          </p:cNvPr>
          <p:cNvCxnSpPr>
            <a:cxnSpLocks/>
          </p:cNvCxnSpPr>
          <p:nvPr/>
        </p:nvCxnSpPr>
        <p:spPr>
          <a:xfrm>
            <a:off x="2680855" y="2799831"/>
            <a:ext cx="38654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êu đề 1">
            <a:extLst>
              <a:ext uri="{FF2B5EF4-FFF2-40B4-BE49-F238E27FC236}">
                <a16:creationId xmlns:a16="http://schemas.microsoft.com/office/drawing/2014/main" id="{550CF6D4-C8B6-48DD-B96F-74C7699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 (using superposition)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/>
              <p:nvPr/>
            </p:nvSpPr>
            <p:spPr>
              <a:xfrm>
                <a:off x="2915478" y="2488405"/>
                <a:ext cx="1590261" cy="662783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Incre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78" y="2488405"/>
                <a:ext cx="1590261" cy="662783"/>
              </a:xfrm>
              <a:prstGeom prst="rect">
                <a:avLst/>
              </a:prstGeom>
              <a:blipFill>
                <a:blip r:embed="rId2"/>
                <a:stretch>
                  <a:fillRect b="-107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/>
              <p:nvPr/>
            </p:nvSpPr>
            <p:spPr>
              <a:xfrm>
                <a:off x="4668680" y="2469146"/>
                <a:ext cx="1590261" cy="68204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Decre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80" y="2469146"/>
                <a:ext cx="1590261" cy="682041"/>
              </a:xfrm>
              <a:prstGeom prst="rect">
                <a:avLst/>
              </a:prstGeom>
              <a:blipFill>
                <a:blip r:embed="rId3"/>
                <a:stretch>
                  <a:fillRect b="-8621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05C7580-6BB2-4CC1-9ED5-3304D0EA9182}"/>
              </a:ext>
            </a:extLst>
          </p:cNvPr>
          <p:cNvCxnSpPr>
            <a:cxnSpLocks/>
          </p:cNvCxnSpPr>
          <p:nvPr/>
        </p:nvCxnSpPr>
        <p:spPr>
          <a:xfrm flipV="1">
            <a:off x="2660073" y="4058168"/>
            <a:ext cx="386541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B670D47-F614-41F0-8ABD-79B1A29AD83C}"/>
              </a:ext>
            </a:extLst>
          </p:cNvPr>
          <p:cNvSpPr/>
          <p:nvPr/>
        </p:nvSpPr>
        <p:spPr>
          <a:xfrm>
            <a:off x="2931441" y="3759285"/>
            <a:ext cx="549966" cy="55924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H</a:t>
            </a:r>
            <a:endParaRPr lang="vi-VN" sz="2800"/>
          </a:p>
        </p:txBody>
      </p: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86D6CF22-E129-40F5-AEF1-6CC1F6A3E6A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710609" y="315118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1137A8D5-D7B1-44DB-B8F9-442ED9F4A8D2}"/>
              </a:ext>
            </a:extLst>
          </p:cNvPr>
          <p:cNvCxnSpPr>
            <a:cxnSpLocks/>
          </p:cNvCxnSpPr>
          <p:nvPr/>
        </p:nvCxnSpPr>
        <p:spPr>
          <a:xfrm>
            <a:off x="5463810" y="313192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0E15848C-C376-497F-B348-7A956F7E5401}"/>
              </a:ext>
            </a:extLst>
          </p:cNvPr>
          <p:cNvSpPr/>
          <p:nvPr/>
        </p:nvSpPr>
        <p:spPr>
          <a:xfrm>
            <a:off x="3594654" y="3929579"/>
            <a:ext cx="212033" cy="2186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9F019541-C528-4364-8931-A20C75FC8B83}"/>
              </a:ext>
            </a:extLst>
          </p:cNvPr>
          <p:cNvSpPr/>
          <p:nvPr/>
        </p:nvSpPr>
        <p:spPr>
          <a:xfrm>
            <a:off x="5359452" y="3929579"/>
            <a:ext cx="212033" cy="2186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0" name="Đường kết nối: Mũi tên Gấp khúc 19">
            <a:extLst>
              <a:ext uri="{FF2B5EF4-FFF2-40B4-BE49-F238E27FC236}">
                <a16:creationId xmlns:a16="http://schemas.microsoft.com/office/drawing/2014/main" id="{1C531EF8-60CD-42AE-A61A-30A4A3DE598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191000" y="3151187"/>
            <a:ext cx="1860875" cy="493747"/>
          </a:xfrm>
          <a:prstGeom prst="bentConnector3">
            <a:avLst>
              <a:gd name="adj1" fmla="val 50000"/>
            </a:avLst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/>
              <p:nvPr/>
            </p:nvSpPr>
            <p:spPr>
              <a:xfrm>
                <a:off x="6051875" y="3044769"/>
                <a:ext cx="287240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</m:d>
                    </m:oMath>
                  </m:oMathPara>
                </a14:m>
                <a:endParaRPr lang="en-US" sz="2400" b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→|011⟩</m:t>
                      </m:r>
                    </m:oMath>
                  </m:oMathPara>
                </a14:m>
                <a:endParaRPr lang="en-US" sz="2400"/>
              </a:p>
              <a:p>
                <a:pPr algn="ctr"/>
                <a:r>
                  <a:rPr lang="en-US" sz="2400"/>
                  <a:t>…</a:t>
                </a:r>
              </a:p>
            </p:txBody>
          </p:sp>
        </mc:Choice>
        <mc:Fallback xmlns="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5" y="3044769"/>
                <a:ext cx="2872409" cy="1200329"/>
              </a:xfrm>
              <a:prstGeom prst="rect">
                <a:avLst/>
              </a:prstGeom>
              <a:blipFill>
                <a:blip r:embed="rId4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hỗ dành sẵn cho Số hiệu Bản chiếu 22">
            <a:extLst>
              <a:ext uri="{FF2B5EF4-FFF2-40B4-BE49-F238E27FC236}">
                <a16:creationId xmlns:a16="http://schemas.microsoft.com/office/drawing/2014/main" id="{83932E58-C761-41F2-8273-4453AC55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60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39553-A7BE-98D6-5F2B-6079F611752C}"/>
                  </a:ext>
                </a:extLst>
              </p:cNvPr>
              <p:cNvSpPr txBox="1"/>
              <p:nvPr/>
            </p:nvSpPr>
            <p:spPr>
              <a:xfrm>
                <a:off x="838200" y="5229339"/>
                <a:ext cx="11050732" cy="1186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vi-VN" sz="3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box>
                        <m:boxPr>
                          <m:ctrlPr>
                            <a:rPr lang="en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vertJc m:val="bot"/>
                              <m:ctrlPr>
                                <a:rPr lang="en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r>
                                <a:rPr lang="vi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𝐻</m:t>
                              </m:r>
                            </m:e>
                          </m:groupChr>
                          <m:f>
                            <m:fPr>
                              <m:ctrlPr>
                                <a:rPr lang="en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VN" sz="3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vi-VN" sz="3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(|↑ 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+|↓ 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⊗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|0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r>
                                <a:rPr lang="vi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groupChr>
                          <m:f>
                            <m:fPr>
                              <m:ctrlPr>
                                <a:rPr lang="en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VN" sz="3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vi-VN" sz="3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(|↑ 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|0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+|↓ 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⟩⊗</m:t>
                          </m:r>
                          <m:r>
                            <a:rPr lang="vi-VN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|0</m:t>
                          </m:r>
                          <m:r>
                            <a:rPr lang="vi-VN" sz="3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⟩)</m:t>
                          </m:r>
                        </m:e>
                      </m:box>
                    </m:oMath>
                  </m:oMathPara>
                </a14:m>
                <a:endParaRPr lang="en-VN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39553-A7BE-98D6-5F2B-6079F6117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29339"/>
                <a:ext cx="11050732" cy="1186607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4926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FFA9-C2BC-B55E-CE70-A2F83271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6" name="Content Placeholder 5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CE157FC8-7AC6-8647-BC59-DA7F598A0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9" y="227906"/>
            <a:ext cx="8081072" cy="30186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7A063-3268-D184-F5DE-49055848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61</a:t>
            </a:fld>
            <a:endParaRPr lang="vi-VN"/>
          </a:p>
        </p:txBody>
      </p:sp>
      <p:cxnSp>
        <p:nvCxnSpPr>
          <p:cNvPr id="7" name="Đường nối Thẳng 8">
            <a:extLst>
              <a:ext uri="{FF2B5EF4-FFF2-40B4-BE49-F238E27FC236}">
                <a16:creationId xmlns:a16="http://schemas.microsoft.com/office/drawing/2014/main" id="{6C9B1536-2389-6213-5FA4-EC3F1730F569}"/>
              </a:ext>
            </a:extLst>
          </p:cNvPr>
          <p:cNvCxnSpPr>
            <a:cxnSpLocks/>
          </p:cNvCxnSpPr>
          <p:nvPr/>
        </p:nvCxnSpPr>
        <p:spPr>
          <a:xfrm>
            <a:off x="6484940" y="4974320"/>
            <a:ext cx="252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29D9429D-691C-AABD-3A81-680083223630}"/>
              </a:ext>
            </a:extLst>
          </p:cNvPr>
          <p:cNvCxnSpPr>
            <a:cxnSpLocks/>
          </p:cNvCxnSpPr>
          <p:nvPr/>
        </p:nvCxnSpPr>
        <p:spPr>
          <a:xfrm flipV="1">
            <a:off x="6484940" y="5775457"/>
            <a:ext cx="252000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9631B895-F7E6-BD2C-A03C-7733843118F2}"/>
              </a:ext>
            </a:extLst>
          </p:cNvPr>
          <p:cNvSpPr/>
          <p:nvPr/>
        </p:nvSpPr>
        <p:spPr>
          <a:xfrm rot="16200000">
            <a:off x="6493575" y="4712625"/>
            <a:ext cx="1352965" cy="51549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PREP</a:t>
            </a:r>
            <a:endParaRPr lang="vi-VN" sz="2800"/>
          </a:p>
        </p:txBody>
      </p:sp>
      <p:sp>
        <p:nvSpPr>
          <p:cNvPr id="17" name="Hình chữ nhật 10">
            <a:extLst>
              <a:ext uri="{FF2B5EF4-FFF2-40B4-BE49-F238E27FC236}">
                <a16:creationId xmlns:a16="http://schemas.microsoft.com/office/drawing/2014/main" id="{6689BE11-2982-4C45-57B9-E8C37F298DFA}"/>
              </a:ext>
            </a:extLst>
          </p:cNvPr>
          <p:cNvSpPr/>
          <p:nvPr/>
        </p:nvSpPr>
        <p:spPr>
          <a:xfrm rot="16200000">
            <a:off x="7157904" y="4712630"/>
            <a:ext cx="1352975" cy="51549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SELECT</a:t>
            </a:r>
            <a:endParaRPr lang="vi-VN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ình chữ nhật 10">
                <a:extLst>
                  <a:ext uri="{FF2B5EF4-FFF2-40B4-BE49-F238E27FC236}">
                    <a16:creationId xmlns:a16="http://schemas.microsoft.com/office/drawing/2014/main" id="{1B8176EB-A141-B420-8307-BD85596F6EA1}"/>
                  </a:ext>
                </a:extLst>
              </p:cNvPr>
              <p:cNvSpPr/>
              <p:nvPr/>
            </p:nvSpPr>
            <p:spPr>
              <a:xfrm rot="16200000">
                <a:off x="7822244" y="4712625"/>
                <a:ext cx="1352965" cy="515491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PREP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18" name="Hình chữ nhật 10">
                <a:extLst>
                  <a:ext uri="{FF2B5EF4-FFF2-40B4-BE49-F238E27FC236}">
                    <a16:creationId xmlns:a16="http://schemas.microsoft.com/office/drawing/2014/main" id="{1B8176EB-A141-B420-8307-BD85596F6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22244" y="4712625"/>
                <a:ext cx="1352965" cy="515491"/>
              </a:xfrm>
              <a:prstGeom prst="rect">
                <a:avLst/>
              </a:prstGeom>
              <a:blipFill>
                <a:blip r:embed="rId3"/>
                <a:stretch>
                  <a:fillRect r="-22727" b="-181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Đường nối Thẳng 8">
            <a:extLst>
              <a:ext uri="{FF2B5EF4-FFF2-40B4-BE49-F238E27FC236}">
                <a16:creationId xmlns:a16="http://schemas.microsoft.com/office/drawing/2014/main" id="{190296DB-4AF5-37B4-BD6E-7D2F544364D4}"/>
              </a:ext>
            </a:extLst>
          </p:cNvPr>
          <p:cNvCxnSpPr>
            <a:cxnSpLocks/>
          </p:cNvCxnSpPr>
          <p:nvPr/>
        </p:nvCxnSpPr>
        <p:spPr>
          <a:xfrm flipV="1">
            <a:off x="6637340" y="4849217"/>
            <a:ext cx="142600" cy="27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D2E85A-A3BC-8D41-5754-A4DFCF72711E}"/>
                  </a:ext>
                </a:extLst>
              </p:cNvPr>
              <p:cNvSpPr txBox="1"/>
              <p:nvPr/>
            </p:nvSpPr>
            <p:spPr>
              <a:xfrm>
                <a:off x="5888608" y="5571530"/>
                <a:ext cx="51549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VN" sz="2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D2E85A-A3BC-8D41-5754-A4DFCF727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608" y="5571530"/>
                <a:ext cx="515493" cy="369332"/>
              </a:xfrm>
              <a:prstGeom prst="rect">
                <a:avLst/>
              </a:prstGeom>
              <a:blipFill>
                <a:blip r:embed="rId4"/>
                <a:stretch>
                  <a:fillRect l="-16667" r="-16667" b="-3225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3C582E-E548-570F-1CA1-203BBC25D4C7}"/>
                  </a:ext>
                </a:extLst>
              </p:cNvPr>
              <p:cNvSpPr txBox="1"/>
              <p:nvPr/>
            </p:nvSpPr>
            <p:spPr>
              <a:xfrm>
                <a:off x="5894463" y="4720127"/>
                <a:ext cx="647123" cy="3846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vi-V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24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VN" sz="2400" i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3C582E-E548-570F-1CA1-203BBC25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463" y="4720127"/>
                <a:ext cx="647123" cy="384657"/>
              </a:xfrm>
              <a:prstGeom prst="rect">
                <a:avLst/>
              </a:prstGeom>
              <a:blipFill>
                <a:blip r:embed="rId5"/>
                <a:stretch>
                  <a:fillRect l="-1923" t="-3226" r="-23077"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Đường nối Thẳng 8">
            <a:extLst>
              <a:ext uri="{FF2B5EF4-FFF2-40B4-BE49-F238E27FC236}">
                <a16:creationId xmlns:a16="http://schemas.microsoft.com/office/drawing/2014/main" id="{EC1D9E5D-BFA1-3376-5FAF-78AB6A78B95D}"/>
              </a:ext>
            </a:extLst>
          </p:cNvPr>
          <p:cNvCxnSpPr>
            <a:cxnSpLocks/>
          </p:cNvCxnSpPr>
          <p:nvPr/>
        </p:nvCxnSpPr>
        <p:spPr>
          <a:xfrm>
            <a:off x="-217531" y="4517119"/>
            <a:ext cx="38654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Hình chữ nhật 3">
                <a:extLst>
                  <a:ext uri="{FF2B5EF4-FFF2-40B4-BE49-F238E27FC236}">
                    <a16:creationId xmlns:a16="http://schemas.microsoft.com/office/drawing/2014/main" id="{C4C804EF-865B-E285-96CB-6442DFC15E46}"/>
                  </a:ext>
                </a:extLst>
              </p:cNvPr>
              <p:cNvSpPr/>
              <p:nvPr/>
            </p:nvSpPr>
            <p:spPr>
              <a:xfrm>
                <a:off x="17092" y="4205693"/>
                <a:ext cx="1590261" cy="662783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Incre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24" name="Hình chữ nhật 3">
                <a:extLst>
                  <a:ext uri="{FF2B5EF4-FFF2-40B4-BE49-F238E27FC236}">
                    <a16:creationId xmlns:a16="http://schemas.microsoft.com/office/drawing/2014/main" id="{C4C804EF-865B-E285-96CB-6442DFC15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2" y="4205693"/>
                <a:ext cx="1590261" cy="662783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Hình chữ nhật 4">
                <a:extLst>
                  <a:ext uri="{FF2B5EF4-FFF2-40B4-BE49-F238E27FC236}">
                    <a16:creationId xmlns:a16="http://schemas.microsoft.com/office/drawing/2014/main" id="{0D961988-FFFD-FEFF-D859-33D8A1887FD4}"/>
                  </a:ext>
                </a:extLst>
              </p:cNvPr>
              <p:cNvSpPr/>
              <p:nvPr/>
            </p:nvSpPr>
            <p:spPr>
              <a:xfrm>
                <a:off x="1770294" y="4186434"/>
                <a:ext cx="1590261" cy="68204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Decre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25" name="Hình chữ nhật 4">
                <a:extLst>
                  <a:ext uri="{FF2B5EF4-FFF2-40B4-BE49-F238E27FC236}">
                    <a16:creationId xmlns:a16="http://schemas.microsoft.com/office/drawing/2014/main" id="{0D961988-FFFD-FEFF-D859-33D8A1887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294" y="4186434"/>
                <a:ext cx="1590261" cy="682041"/>
              </a:xfrm>
              <a:prstGeom prst="rect">
                <a:avLst/>
              </a:prstGeom>
              <a:blipFill>
                <a:blip r:embed="rId7"/>
                <a:stretch>
                  <a:fillRect b="-877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Đường nối Thẳng 9">
            <a:extLst>
              <a:ext uri="{FF2B5EF4-FFF2-40B4-BE49-F238E27FC236}">
                <a16:creationId xmlns:a16="http://schemas.microsoft.com/office/drawing/2014/main" id="{A40454CE-268A-AD7D-235E-CFA14C0DD03F}"/>
              </a:ext>
            </a:extLst>
          </p:cNvPr>
          <p:cNvCxnSpPr>
            <a:cxnSpLocks/>
          </p:cNvCxnSpPr>
          <p:nvPr/>
        </p:nvCxnSpPr>
        <p:spPr>
          <a:xfrm flipV="1">
            <a:off x="-238313" y="5775456"/>
            <a:ext cx="386541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Hình chữ nhật 10">
            <a:extLst>
              <a:ext uri="{FF2B5EF4-FFF2-40B4-BE49-F238E27FC236}">
                <a16:creationId xmlns:a16="http://schemas.microsoft.com/office/drawing/2014/main" id="{054CD0F8-4E9D-89C6-20A4-CBD1F480DA7F}"/>
              </a:ext>
            </a:extLst>
          </p:cNvPr>
          <p:cNvSpPr/>
          <p:nvPr/>
        </p:nvSpPr>
        <p:spPr>
          <a:xfrm>
            <a:off x="33055" y="5476573"/>
            <a:ext cx="549966" cy="55924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H</a:t>
            </a:r>
            <a:endParaRPr lang="vi-VN" sz="2800"/>
          </a:p>
        </p:txBody>
      </p:sp>
      <p:cxnSp>
        <p:nvCxnSpPr>
          <p:cNvPr id="28" name="Đường nối Thẳng 11">
            <a:extLst>
              <a:ext uri="{FF2B5EF4-FFF2-40B4-BE49-F238E27FC236}">
                <a16:creationId xmlns:a16="http://schemas.microsoft.com/office/drawing/2014/main" id="{D58AF64C-0954-5474-A4DC-726C019B1540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12223" y="4868476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nối Thẳng 14">
            <a:extLst>
              <a:ext uri="{FF2B5EF4-FFF2-40B4-BE49-F238E27FC236}">
                <a16:creationId xmlns:a16="http://schemas.microsoft.com/office/drawing/2014/main" id="{6EFA2705-00EF-D64E-03AB-A8C97B1390EF}"/>
              </a:ext>
            </a:extLst>
          </p:cNvPr>
          <p:cNvCxnSpPr>
            <a:cxnSpLocks/>
          </p:cNvCxnSpPr>
          <p:nvPr/>
        </p:nvCxnSpPr>
        <p:spPr>
          <a:xfrm>
            <a:off x="2565424" y="4849216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Hình Bầu dục 15">
            <a:extLst>
              <a:ext uri="{FF2B5EF4-FFF2-40B4-BE49-F238E27FC236}">
                <a16:creationId xmlns:a16="http://schemas.microsoft.com/office/drawing/2014/main" id="{05C1481B-C230-B24D-E2E9-3DFA07F80A28}"/>
              </a:ext>
            </a:extLst>
          </p:cNvPr>
          <p:cNvSpPr/>
          <p:nvPr/>
        </p:nvSpPr>
        <p:spPr>
          <a:xfrm>
            <a:off x="696268" y="5646867"/>
            <a:ext cx="212033" cy="2186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Hình Bầu dục 16">
            <a:extLst>
              <a:ext uri="{FF2B5EF4-FFF2-40B4-BE49-F238E27FC236}">
                <a16:creationId xmlns:a16="http://schemas.microsoft.com/office/drawing/2014/main" id="{394CE0C2-166C-657A-83EC-262C93FB1015}"/>
              </a:ext>
            </a:extLst>
          </p:cNvPr>
          <p:cNvSpPr/>
          <p:nvPr/>
        </p:nvSpPr>
        <p:spPr>
          <a:xfrm>
            <a:off x="2461066" y="5646867"/>
            <a:ext cx="212033" cy="2186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2" name="Đường kết nối: Mũi tên Gấp khúc 19">
            <a:extLst>
              <a:ext uri="{FF2B5EF4-FFF2-40B4-BE49-F238E27FC236}">
                <a16:creationId xmlns:a16="http://schemas.microsoft.com/office/drawing/2014/main" id="{AF58A395-675E-2500-90DD-0F37EDA98C96}"/>
              </a:ext>
            </a:extLst>
          </p:cNvPr>
          <p:cNvCxnSpPr>
            <a:cxnSpLocks/>
            <a:stCxn id="24" idx="2"/>
            <a:endCxn id="33" idx="1"/>
          </p:cNvCxnSpPr>
          <p:nvPr/>
        </p:nvCxnSpPr>
        <p:spPr>
          <a:xfrm rot="16200000" flipH="1">
            <a:off x="1658437" y="4022262"/>
            <a:ext cx="637580" cy="2330008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21">
                <a:extLst>
                  <a:ext uri="{FF2B5EF4-FFF2-40B4-BE49-F238E27FC236}">
                    <a16:creationId xmlns:a16="http://schemas.microsoft.com/office/drawing/2014/main" id="{74A4E7CF-1D4C-56AB-D45E-8C03002AA242}"/>
                  </a:ext>
                </a:extLst>
              </p:cNvPr>
              <p:cNvSpPr txBox="1"/>
              <p:nvPr/>
            </p:nvSpPr>
            <p:spPr>
              <a:xfrm>
                <a:off x="3142231" y="4905891"/>
                <a:ext cx="221943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</m:d>
                    </m:oMath>
                  </m:oMathPara>
                </a14:m>
                <a:endParaRPr lang="en-US" sz="2400" b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→|011⟩</m:t>
                      </m:r>
                    </m:oMath>
                  </m:oMathPara>
                </a14:m>
                <a:endParaRPr lang="en-US" sz="2400"/>
              </a:p>
              <a:p>
                <a:pPr algn="ctr"/>
                <a:r>
                  <a:rPr lang="en-US" sz="2400"/>
                  <a:t>…</a:t>
                </a:r>
              </a:p>
            </p:txBody>
          </p:sp>
        </mc:Choice>
        <mc:Fallback xmlns="">
          <p:sp>
            <p:nvSpPr>
              <p:cNvPr id="33" name="Hộp Văn bản 21">
                <a:extLst>
                  <a:ext uri="{FF2B5EF4-FFF2-40B4-BE49-F238E27FC236}">
                    <a16:creationId xmlns:a16="http://schemas.microsoft.com/office/drawing/2014/main" id="{74A4E7CF-1D4C-56AB-D45E-8C03002AA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231" y="4905891"/>
                <a:ext cx="2219430" cy="1200329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A3ED6B6-E32A-0986-B207-573D29A24133}"/>
              </a:ext>
            </a:extLst>
          </p:cNvPr>
          <p:cNvSpPr txBox="1"/>
          <p:nvPr/>
        </p:nvSpPr>
        <p:spPr>
          <a:xfrm>
            <a:off x="1461453" y="5994115"/>
            <a:ext cx="110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(a)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57631B-56B6-3931-6A06-6E17D50C90A0}"/>
              </a:ext>
            </a:extLst>
          </p:cNvPr>
          <p:cNvSpPr txBox="1"/>
          <p:nvPr/>
        </p:nvSpPr>
        <p:spPr>
          <a:xfrm>
            <a:off x="7458309" y="5994115"/>
            <a:ext cx="110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14385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Paranormal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  <a:blipFill>
                <a:blip r:embed="rId3"/>
                <a:stretch>
                  <a:fillRect l="-2415" t="-23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818027" y="212022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47794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81853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83968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818027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52014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54201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81853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11591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45679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8396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818027" y="516576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45679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7973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56316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79707" y="2353796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72667" y="3013849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94667" y="3778267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49941" y="4604800"/>
            <a:ext cx="428002" cy="7945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767915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408286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D7C9A4CD-69BD-4201-AE4D-29B9D15E1126}"/>
              </a:ext>
            </a:extLst>
          </p:cNvPr>
          <p:cNvCxnSpPr/>
          <p:nvPr/>
        </p:nvCxnSpPr>
        <p:spPr>
          <a:xfrm flipH="1">
            <a:off x="8262123" y="3090633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607D0CB3-1500-4389-B75F-AD863ED445A7}"/>
              </a:ext>
            </a:extLst>
          </p:cNvPr>
          <p:cNvCxnSpPr/>
          <p:nvPr/>
        </p:nvCxnSpPr>
        <p:spPr>
          <a:xfrm flipH="1">
            <a:off x="7835296" y="3842871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kết nối Mũi tên Thẳng 31">
            <a:extLst>
              <a:ext uri="{FF2B5EF4-FFF2-40B4-BE49-F238E27FC236}">
                <a16:creationId xmlns:a16="http://schemas.microsoft.com/office/drawing/2014/main" id="{96427FD5-BF8B-480C-88FD-5480375CBA01}"/>
              </a:ext>
            </a:extLst>
          </p:cNvPr>
          <p:cNvCxnSpPr>
            <a:cxnSpLocks/>
          </p:cNvCxnSpPr>
          <p:nvPr/>
        </p:nvCxnSpPr>
        <p:spPr>
          <a:xfrm flipH="1">
            <a:off x="7342496" y="4584816"/>
            <a:ext cx="430402" cy="7647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DBF5BFBC-D42D-4DA8-B01E-3C2C04A15DAF}"/>
              </a:ext>
            </a:extLst>
          </p:cNvPr>
          <p:cNvCxnSpPr>
            <a:cxnSpLocks/>
          </p:cNvCxnSpPr>
          <p:nvPr/>
        </p:nvCxnSpPr>
        <p:spPr>
          <a:xfrm flipH="1">
            <a:off x="8223332" y="4631591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71AA9D23-1AC1-4D3D-AD25-E248D3A0B599}"/>
              </a:ext>
            </a:extLst>
          </p:cNvPr>
          <p:cNvCxnSpPr>
            <a:cxnSpLocks/>
          </p:cNvCxnSpPr>
          <p:nvPr/>
        </p:nvCxnSpPr>
        <p:spPr>
          <a:xfrm flipH="1">
            <a:off x="8643884" y="3818265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FB4C7293-3176-4C60-B12D-1FE6DEAA9770}"/>
              </a:ext>
            </a:extLst>
          </p:cNvPr>
          <p:cNvCxnSpPr>
            <a:cxnSpLocks/>
          </p:cNvCxnSpPr>
          <p:nvPr/>
        </p:nvCxnSpPr>
        <p:spPr>
          <a:xfrm flipH="1">
            <a:off x="9594242" y="3755276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79BBE65F-F1FB-41DA-AECB-16B9F62E57F9}"/>
              </a:ext>
            </a:extLst>
          </p:cNvPr>
          <p:cNvCxnSpPr>
            <a:cxnSpLocks/>
          </p:cNvCxnSpPr>
          <p:nvPr/>
        </p:nvCxnSpPr>
        <p:spPr>
          <a:xfrm flipH="1">
            <a:off x="9987322" y="4617257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Đường kết nối Mũi tên Thẳng 39">
            <a:extLst>
              <a:ext uri="{FF2B5EF4-FFF2-40B4-BE49-F238E27FC236}">
                <a16:creationId xmlns:a16="http://schemas.microsoft.com/office/drawing/2014/main" id="{C5A4DA36-EA40-48FB-BB6E-E26E9936F3D0}"/>
              </a:ext>
            </a:extLst>
          </p:cNvPr>
          <p:cNvCxnSpPr>
            <a:cxnSpLocks/>
          </p:cNvCxnSpPr>
          <p:nvPr/>
        </p:nvCxnSpPr>
        <p:spPr>
          <a:xfrm flipH="1">
            <a:off x="9164720" y="2929133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ADB63264-41F8-4388-9F2E-E85DCC5658BB}"/>
              </a:ext>
            </a:extLst>
          </p:cNvPr>
          <p:cNvCxnSpPr>
            <a:cxnSpLocks/>
          </p:cNvCxnSpPr>
          <p:nvPr/>
        </p:nvCxnSpPr>
        <p:spPr>
          <a:xfrm>
            <a:off x="8229754" y="3862572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43C60605-29D3-4320-88E8-FB967CEAA98F}"/>
              </a:ext>
            </a:extLst>
          </p:cNvPr>
          <p:cNvCxnSpPr>
            <a:cxnSpLocks/>
          </p:cNvCxnSpPr>
          <p:nvPr/>
        </p:nvCxnSpPr>
        <p:spPr>
          <a:xfrm>
            <a:off x="8651754" y="4626990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62348DE3-D9EA-49E2-B038-CD5599286246}"/>
              </a:ext>
            </a:extLst>
          </p:cNvPr>
          <p:cNvCxnSpPr>
            <a:cxnSpLocks/>
          </p:cNvCxnSpPr>
          <p:nvPr/>
        </p:nvCxnSpPr>
        <p:spPr>
          <a:xfrm>
            <a:off x="9130696" y="2265090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6534866F-AD6D-4C76-BB16-F95A23BF11B3}"/>
              </a:ext>
            </a:extLst>
          </p:cNvPr>
          <p:cNvCxnSpPr>
            <a:cxnSpLocks/>
          </p:cNvCxnSpPr>
          <p:nvPr/>
        </p:nvCxnSpPr>
        <p:spPr>
          <a:xfrm>
            <a:off x="9552696" y="3029508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7821BAD0-1AA5-4B9F-AA13-8D82BF2AD974}"/>
              </a:ext>
            </a:extLst>
          </p:cNvPr>
          <p:cNvCxnSpPr>
            <a:cxnSpLocks/>
          </p:cNvCxnSpPr>
          <p:nvPr/>
        </p:nvCxnSpPr>
        <p:spPr>
          <a:xfrm>
            <a:off x="10005752" y="3867394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kết nối Mũi tên Thẳng 45">
            <a:extLst>
              <a:ext uri="{FF2B5EF4-FFF2-40B4-BE49-F238E27FC236}">
                <a16:creationId xmlns:a16="http://schemas.microsoft.com/office/drawing/2014/main" id="{DF291E54-63A2-4210-97A9-20C279D7929C}"/>
              </a:ext>
            </a:extLst>
          </p:cNvPr>
          <p:cNvCxnSpPr>
            <a:cxnSpLocks/>
          </p:cNvCxnSpPr>
          <p:nvPr/>
        </p:nvCxnSpPr>
        <p:spPr>
          <a:xfrm>
            <a:off x="10427752" y="463181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kết nối Mũi tên Thẳng 46">
            <a:extLst>
              <a:ext uri="{FF2B5EF4-FFF2-40B4-BE49-F238E27FC236}">
                <a16:creationId xmlns:a16="http://schemas.microsoft.com/office/drawing/2014/main" id="{8DA1B678-BFB3-4435-8AA4-3957FE443589}"/>
              </a:ext>
            </a:extLst>
          </p:cNvPr>
          <p:cNvCxnSpPr>
            <a:cxnSpLocks/>
          </p:cNvCxnSpPr>
          <p:nvPr/>
        </p:nvCxnSpPr>
        <p:spPr>
          <a:xfrm>
            <a:off x="7774832" y="457280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93A04840-C830-47B5-9A0A-B58935AF7989}"/>
              </a:ext>
            </a:extLst>
          </p:cNvPr>
          <p:cNvCxnSpPr>
            <a:cxnSpLocks/>
          </p:cNvCxnSpPr>
          <p:nvPr/>
        </p:nvCxnSpPr>
        <p:spPr>
          <a:xfrm>
            <a:off x="9563149" y="4596701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ng">
            <a:extLst>
              <a:ext uri="{FF2B5EF4-FFF2-40B4-BE49-F238E27FC236}">
                <a16:creationId xmlns:a16="http://schemas.microsoft.com/office/drawing/2014/main" id="{91E01D17-50FF-4633-830B-10B061490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91" y="2560678"/>
            <a:ext cx="5204634" cy="34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790BE0A5-E81E-45DF-8EA3-B1BF6DE2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010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AC060B-274B-4B30-97DD-FB4E7B5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38453C-3F32-4C5F-B6D0-53B591DF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Quantum walk is described as product of 2 unitary operator: coin flip operator &amp; shift operator 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7FD24C9-8EFE-469D-90C3-30397E35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71913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826116F-C8D6-4CDA-9E22-AB03BD3F74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8" t="17364" r="36776" b="12905"/>
          <a:stretch/>
        </p:blipFill>
        <p:spPr>
          <a:xfrm>
            <a:off x="8377766" y="1186971"/>
            <a:ext cx="300016" cy="5938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Spatial search (discrete time)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that we have a complete graph with 4 nodes.</a:t>
                </a:r>
              </a:p>
              <a:p>
                <a:pPr marL="0" indent="0">
                  <a:buNone/>
                </a:pPr>
                <a:r>
                  <a:rPr lang="en-US"/>
                  <a:t>One approach is using random walk.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that:</a:t>
                </a:r>
              </a:p>
              <a:p>
                <a:pPr marL="0" indent="0">
                  <a:buNone/>
                </a:pPr>
                <a:r>
                  <a:rPr lang="en-US"/>
                  <a:t>Walker must be in somewhere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  <a:blipFill>
                <a:blip r:embed="rId3"/>
                <a:stretch>
                  <a:fillRect l="-2618" t="-2326" b="-45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9EF332C5-B0CC-4C53-97F2-248F2BFC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21193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 state: ¼ at all node</a:t>
                </a:r>
              </a:p>
              <a:p>
                <a:pPr marL="0" indent="0">
                  <a:buNone/>
                </a:pPr>
                <a:r>
                  <a:rPr lang="en-US"/>
                  <a:t>At step k: jump to other random nodes</a:t>
                </a:r>
              </a:p>
              <a:p>
                <a:pPr marL="0" indent="0">
                  <a:buNone/>
                </a:pPr>
                <a:r>
                  <a:rPr lang="en-US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  <a:blipFill>
                <a:blip r:embed="rId2"/>
                <a:stretch>
                  <a:fillRect l="-279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/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/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/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  <a:endCxn id="18" idx="1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157EA582-F420-4EB0-9125-C1FD5BEFEF2B}"/>
              </a:ext>
            </a:extLst>
          </p:cNvPr>
          <p:cNvSpPr txBox="1"/>
          <p:nvPr/>
        </p:nvSpPr>
        <p:spPr>
          <a:xfrm>
            <a:off x="10704444" y="1998139"/>
            <a:ext cx="139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Acts as absorb node</a:t>
            </a:r>
            <a:endParaRPr lang="vi-VN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709B8F26-83B1-4733-8E78-285521A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59368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4F0A7A1-4C0C-4839-8A9B-1D16CE38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90470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1: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1/2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D3F1501-ABE8-4322-BF12-9800D125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06275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9BF078AB-C9D4-4634-A717-03C585C2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7424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2: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∗2=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1EAD8B3-E959-40F7-9B9A-F0797BD9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88684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CCBF69C-1021-4359-A204-C93359E6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0495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3: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8CEF8962-AC60-4E08-AE83-E8FD385B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86303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875B2ADD-B0C9-4A04-A0D5-6FF558640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33" t="40642" r="32035" b="8281"/>
          <a:stretch/>
        </p:blipFill>
        <p:spPr>
          <a:xfrm>
            <a:off x="838200" y="1690688"/>
            <a:ext cx="6244778" cy="31861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blipFill>
                <a:blip r:embed="rId3"/>
                <a:stretch>
                  <a:fillRect l="-3148" t="-2890" b="-722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45699BA-3936-4F5C-A44B-1C377A3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04276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BC716A-C7CE-499C-AC91-0C0DBB9E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Change 4 probs to 12 amplitudes of a wave function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at intermediate steps we cannot observe the system. Then we do not know the current node is the marked node or not.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  <a:blipFill>
                <a:blip r:embed="rId2"/>
                <a:stretch>
                  <a:fillRect l="-2983" t="-2241" r="-2699" b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99115616-464F-4168-87BB-EA1EC03F6149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9684E85B-428C-4543-8725-AE018CFCED5A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57D812CC-19EA-4713-B1BB-AAB3BA2AAF90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C8571D22-3C12-43C1-AF38-A7412EA6DDB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513DB62C-4961-402B-ADFB-AC457C21ABB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CC72069-8258-4088-8910-43E57A6B97E6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34238372-EBF7-4D22-8017-1E0C9D5F6A2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B59491BA-5F94-4A13-81E2-035CB120842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236E6C80-9897-4AB2-A61D-A8246FA7D43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7E1AEACC-371A-41C4-9A76-C11C449A1AD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A9A09E9-005D-4285-8737-6A1201C31B80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716DE38D-A6B2-475A-B2E3-D258C9C48CA2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D1AA7F03-2D77-45AB-ADBC-A1B4A0201731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C295A4CB-BFDA-4D46-90D5-EBF6BBBCB7A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641BA443-90B5-4567-BBE1-19E9EF0D0BB7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70CE9047-D81B-453C-8CF1-877A2DAC4E71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255B1A0-5878-437E-863F-326C0693095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A23F6F56-9B44-41AD-8685-840A0C1776B7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F5235566-7BE0-40D4-9D6A-4434CEBAB33D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/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/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/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/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/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/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/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/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/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1E487595-DC74-4A0D-BAE4-D29304B89453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CB808353-128E-43CB-895B-AA4F6365523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/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/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 Mũi tên Thẳng 48">
            <a:extLst>
              <a:ext uri="{FF2B5EF4-FFF2-40B4-BE49-F238E27FC236}">
                <a16:creationId xmlns:a16="http://schemas.microsoft.com/office/drawing/2014/main" id="{2F36073C-84DD-46ED-8846-F14666CE1BA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/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ỗ dành sẵn cho Số hiệu Bản chiếu 13">
            <a:extLst>
              <a:ext uri="{FF2B5EF4-FFF2-40B4-BE49-F238E27FC236}">
                <a16:creationId xmlns:a16="http://schemas.microsoft.com/office/drawing/2014/main" id="{49EA9290-FEF4-405C-AB1C-AF86DD0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5731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At step 1 </a:t>
                </a:r>
              </a:p>
              <a:p>
                <a:pPr marL="0" indent="0">
                  <a:buNone/>
                </a:pPr>
                <a:r>
                  <a:rPr lang="en-US"/>
                  <a:t>1a.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1b. Apply a quantum coin flip+shift (-I+2A) that inverts each amplitude about the average amplitude at its vertex. (Nothing happen)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493" t="-348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20A00173-95D1-4C85-8F44-CA54ACB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74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/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node 2: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blipFill>
                <a:blip r:embed="rId15"/>
                <a:stretch>
                  <a:fillRect l="-1022" b="-48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103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1c. Shift operator (walk): walker at vertex i pointing to vertex j to hop to vertex j and point back to vertex 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𝑆𝐶𝑄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 r="-16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B563F709-F15A-4367-9FCC-284FCBC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68641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At step 2 </a:t>
                </a:r>
              </a:p>
              <a:p>
                <a:pPr marL="0" indent="0">
                  <a:buNone/>
                </a:pPr>
                <a:r>
                  <a:rPr lang="en-US"/>
                  <a:t>2a.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CD6F08E-CCDD-4C8F-A2F5-949EECB7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24679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9C2F54C-DC73-455C-9F6C-C779E4949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74" t="25509" r="39135" b="28684"/>
          <a:stretch/>
        </p:blipFill>
        <p:spPr>
          <a:xfrm>
            <a:off x="5897219" y="0"/>
            <a:ext cx="6007364" cy="38955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2b. The coin inverts or reflects each amplitude about their average.</a:t>
                </a:r>
              </a:p>
              <a:p>
                <a:pPr marL="0" indent="0">
                  <a:buNone/>
                </a:pPr>
                <a:r>
                  <a:rPr lang="en-US"/>
                  <a:t>(-I+2A)</a:t>
                </a:r>
              </a:p>
              <a:p>
                <a:pPr marL="0" indent="0">
                  <a:buNone/>
                </a:pPr>
                <a:r>
                  <a:rPr lang="en-US"/>
                  <a:t>At node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  <a:blipFill>
                <a:blip r:embed="rId3"/>
                <a:stretch>
                  <a:fillRect l="-2494" t="-266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252553FC-76BE-470E-819B-13212B66F364}"/>
              </a:ext>
            </a:extLst>
          </p:cNvPr>
          <p:cNvSpPr/>
          <p:nvPr/>
        </p:nvSpPr>
        <p:spPr>
          <a:xfrm>
            <a:off x="6188765" y="662609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Hình Bầu dục 41">
            <a:extLst>
              <a:ext uri="{FF2B5EF4-FFF2-40B4-BE49-F238E27FC236}">
                <a16:creationId xmlns:a16="http://schemas.microsoft.com/office/drawing/2014/main" id="{B806DB49-B5A5-48E5-8AB5-DD66EDC3F1A6}"/>
              </a:ext>
            </a:extLst>
          </p:cNvPr>
          <p:cNvSpPr/>
          <p:nvPr/>
        </p:nvSpPr>
        <p:spPr>
          <a:xfrm>
            <a:off x="9455426" y="2690784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6504C5A7-1B6E-43D6-911B-A540161644AD}"/>
              </a:ext>
            </a:extLst>
          </p:cNvPr>
          <p:cNvSpPr txBox="1"/>
          <p:nvPr/>
        </p:nvSpPr>
        <p:spPr>
          <a:xfrm>
            <a:off x="10469217" y="3114853"/>
            <a:ext cx="1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amp</a:t>
            </a:r>
            <a:endParaRPr lang="vi-VN"/>
          </a:p>
        </p:txBody>
      </p: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8E319A5A-4E3B-43F2-87B3-D4BD2F0A13A4}"/>
              </a:ext>
            </a:extLst>
          </p:cNvPr>
          <p:cNvSpPr/>
          <p:nvPr/>
        </p:nvSpPr>
        <p:spPr>
          <a:xfrm>
            <a:off x="7284657" y="2690783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Hình Bầu dục 43">
            <a:extLst>
              <a:ext uri="{FF2B5EF4-FFF2-40B4-BE49-F238E27FC236}">
                <a16:creationId xmlns:a16="http://schemas.microsoft.com/office/drawing/2014/main" id="{C011A9E8-C874-49EB-84EA-55D5210FAC9D}"/>
              </a:ext>
            </a:extLst>
          </p:cNvPr>
          <p:cNvSpPr/>
          <p:nvPr/>
        </p:nvSpPr>
        <p:spPr>
          <a:xfrm>
            <a:off x="10492408" y="628261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1E401CEA-4E2E-44EC-AFC1-D89A23C67D50}"/>
              </a:ext>
            </a:extLst>
          </p:cNvPr>
          <p:cNvSpPr txBox="1"/>
          <p:nvPr/>
        </p:nvSpPr>
        <p:spPr>
          <a:xfrm>
            <a:off x="10018643" y="1544563"/>
            <a:ext cx="17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Reflected amp</a:t>
            </a:r>
            <a:endParaRPr lang="vi-VN"/>
          </a:p>
        </p:txBody>
      </p:sp>
      <p:sp>
        <p:nvSpPr>
          <p:cNvPr id="18" name="Chỗ dành sẵn cho Số hiệu Bản chiếu 17">
            <a:extLst>
              <a:ext uri="{FF2B5EF4-FFF2-40B4-BE49-F238E27FC236}">
                <a16:creationId xmlns:a16="http://schemas.microsoft.com/office/drawing/2014/main" id="{4DA7B37A-CA80-4037-B899-BEEC6731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777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06142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/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/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/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/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88786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199" y="1905000"/>
                <a:ext cx="4569691" cy="314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</a:t>
                </a:r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199" y="1905000"/>
                <a:ext cx="4569691" cy="3149067"/>
              </a:xfrm>
              <a:prstGeom prst="rect">
                <a:avLst/>
              </a:prstGeom>
              <a:blipFill>
                <a:blip r:embed="rId2"/>
                <a:stretch>
                  <a:fillRect l="-2778" t="-2419" b="-44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hỗ dành sẵn cho Nội dung 7">
            <a:extLst>
              <a:ext uri="{FF2B5EF4-FFF2-40B4-BE49-F238E27FC236}">
                <a16:creationId xmlns:a16="http://schemas.microsoft.com/office/drawing/2014/main" id="{5B04DF3B-AF75-42EA-9EE3-E188E75A4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007" t="46627" r="37646" b="18457"/>
          <a:stretch/>
        </p:blipFill>
        <p:spPr>
          <a:xfrm>
            <a:off x="838200" y="1560145"/>
            <a:ext cx="5031403" cy="2458785"/>
          </a:xfr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5600745-9931-4D78-BFB1-D6B7D848B6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36" t="35077" r="22420" b="33334"/>
          <a:stretch>
            <a:fillRect/>
          </a:stretch>
        </p:blipFill>
        <p:spPr>
          <a:xfrm>
            <a:off x="7446536" y="2616829"/>
            <a:ext cx="4763049" cy="1708109"/>
          </a:xfrm>
          <a:prstGeom prst="rect">
            <a:avLst/>
          </a:prstGeom>
        </p:spPr>
      </p:pic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C81663C-D263-4C35-B738-6C980C68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80</a:t>
            </a:fld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3EE736B-A309-460F-AF15-651FF27C0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3633" r="10347" b="7554"/>
          <a:stretch/>
        </p:blipFill>
        <p:spPr>
          <a:xfrm>
            <a:off x="838200" y="4089271"/>
            <a:ext cx="5031403" cy="226707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386D36C-16F2-4392-92BF-D37E2DB648D5}"/>
              </a:ext>
            </a:extLst>
          </p:cNvPr>
          <p:cNvSpPr txBox="1"/>
          <p:nvPr/>
        </p:nvSpPr>
        <p:spPr>
          <a:xfrm>
            <a:off x="6096000" y="2770496"/>
            <a:ext cx="5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N=4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32273D6-A8E4-4448-A2BD-186511523269}"/>
              </a:ext>
            </a:extLst>
          </p:cNvPr>
          <p:cNvSpPr txBox="1"/>
          <p:nvPr/>
        </p:nvSpPr>
        <p:spPr>
          <a:xfrm>
            <a:off x="6096000" y="5038144"/>
            <a:ext cx="79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N=100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34615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40557F-989B-48AB-BDC1-6FE06846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B3D67ED-8507-4609-9EF1-4BA39884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81</a:t>
            </a:fld>
            <a:endParaRPr lang="vi-VN"/>
          </a:p>
        </p:txBody>
      </p:sp>
      <p:pic>
        <p:nvPicPr>
          <p:cNvPr id="1028" name="Picture 4" descr="Thomas Wong">
            <a:extLst>
              <a:ext uri="{FF2B5EF4-FFF2-40B4-BE49-F238E27FC236}">
                <a16:creationId xmlns:a16="http://schemas.microsoft.com/office/drawing/2014/main" id="{0EB73307-E223-420D-8FF3-8651EC8F2B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801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E1F821F-7DF9-418D-ADB6-F5658F3DC9B1}"/>
              </a:ext>
            </a:extLst>
          </p:cNvPr>
          <p:cNvSpPr txBox="1"/>
          <p:nvPr/>
        </p:nvSpPr>
        <p:spPr>
          <a:xfrm>
            <a:off x="838200" y="4260850"/>
            <a:ext cx="231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Thomas Wong, </a:t>
            </a:r>
          </a:p>
          <a:p>
            <a:r>
              <a:rPr lang="en-US"/>
              <a:t>Creighton University 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96709B8-ED68-4575-8F74-48BE45D64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9" t="13714" r="32389" b="9632"/>
          <a:stretch/>
        </p:blipFill>
        <p:spPr>
          <a:xfrm>
            <a:off x="3971498" y="801806"/>
            <a:ext cx="7615452" cy="52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30775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15046</TotalTime>
  <Words>2639</Words>
  <Application>Microsoft Macintosh PowerPoint</Application>
  <PresentationFormat>Widescreen</PresentationFormat>
  <Paragraphs>608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Calibri (Thân)</vt:lpstr>
      <vt:lpstr>Calibri Light (Đầu đề)</vt:lpstr>
      <vt:lpstr>Cambria Math</vt:lpstr>
      <vt:lpstr>IBM Plex Mono</vt:lpstr>
      <vt:lpstr>IBM Plex Sans</vt:lpstr>
      <vt:lpstr>Times New Roman</vt:lpstr>
      <vt:lpstr>Chủ đề Office</vt:lpstr>
      <vt:lpstr>PowerPoint Presentation</vt:lpstr>
      <vt:lpstr>Shor’s algorithm</vt:lpstr>
      <vt:lpstr>Summary</vt:lpstr>
      <vt:lpstr>1. What is Phase kickback?</vt:lpstr>
      <vt:lpstr>Global phase &amp; relative phase</vt:lpstr>
      <vt:lpstr>PowerPoint Presentation</vt:lpstr>
      <vt:lpstr>2. Quantum Fourier Transform</vt:lpstr>
      <vt:lpstr>5.1. Quantum Fourier transform</vt:lpstr>
      <vt:lpstr>5.1. Discrete Fourier transform</vt:lpstr>
      <vt:lpstr>5.1. Quantum Fourier transform</vt:lpstr>
      <vt:lpstr>5.1. Quantum Fourier transform</vt:lpstr>
      <vt:lpstr>5.1. Quantum Fourier transform</vt:lpstr>
      <vt:lpstr>5.1. Quantum Fourier transform</vt:lpstr>
      <vt:lpstr>PowerPoint Presentation</vt:lpstr>
      <vt:lpstr>5.1. Quantum Fourier transform</vt:lpstr>
      <vt:lpstr>5.1. Quantum Fourier transform</vt:lpstr>
      <vt:lpstr>5.1. Quantum Fourier transform</vt:lpstr>
      <vt:lpstr>5.1. Quantum Fourier transform</vt:lpstr>
      <vt:lpstr>PowerPoint Presentation</vt:lpstr>
      <vt:lpstr>PowerPoint Presentation</vt:lpstr>
      <vt:lpstr>PowerPoint Presentation</vt:lpstr>
      <vt:lpstr>PowerPoint Presentation</vt:lpstr>
      <vt:lpstr>3. Quantum Phase Estimation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large linear system of equations by HHL Algorithm </vt:lpstr>
      <vt:lpstr>1. Introduction</vt:lpstr>
      <vt:lpstr>1. Introduction</vt:lpstr>
      <vt:lpstr>1. Introduction</vt:lpstr>
      <vt:lpstr>2. HHL Algorithm</vt:lpstr>
      <vt:lpstr>3. Run on qiskit</vt:lpstr>
      <vt:lpstr>PowerPoint Presentation</vt:lpstr>
      <vt:lpstr>PowerPoint Presentation</vt:lpstr>
      <vt:lpstr>Summary HHL</vt:lpstr>
      <vt:lpstr>Questions</vt:lpstr>
      <vt:lpstr>Questions</vt:lpstr>
      <vt:lpstr>Quantum search algothrithm</vt:lpstr>
      <vt:lpstr>1. Problem</vt:lpstr>
      <vt:lpstr>PowerPoint Presentation</vt:lpstr>
      <vt:lpstr>2. Algothrithm</vt:lpstr>
      <vt:lpstr>2. Algothrithm</vt:lpstr>
      <vt:lpstr>2. Algothrithm</vt:lpstr>
      <vt:lpstr>3. Example</vt:lpstr>
      <vt:lpstr>3. Example</vt:lpstr>
      <vt:lpstr>PowerPoint Presentation</vt:lpstr>
      <vt:lpstr>3. Example (iteration 1)</vt:lpstr>
      <vt:lpstr>3. Example (iteration 2)</vt:lpstr>
      <vt:lpstr>3. Example</vt:lpstr>
      <vt:lpstr>PowerPoint Presentation</vt:lpstr>
      <vt:lpstr>PowerPoint Presentation</vt:lpstr>
      <vt:lpstr>PowerPoint Presentation</vt:lpstr>
      <vt:lpstr>Quantum walk</vt:lpstr>
      <vt:lpstr>Random walk</vt:lpstr>
      <vt:lpstr>Random walk</vt:lpstr>
      <vt:lpstr>Quantum walk (using superposition) </vt:lpstr>
      <vt:lpstr>PowerPoint Presentation</vt:lpstr>
      <vt:lpstr>Quantum walk</vt:lpstr>
      <vt:lpstr>Quantum walk</vt:lpstr>
      <vt:lpstr>1. Spatial search (discrete time)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Tuan Hai</dc:creator>
  <cp:lastModifiedBy>Vũ Tuấn Hải</cp:lastModifiedBy>
  <cp:revision>28</cp:revision>
  <dcterms:created xsi:type="dcterms:W3CDTF">2021-08-26T01:36:20Z</dcterms:created>
  <dcterms:modified xsi:type="dcterms:W3CDTF">2026-09-29T15:02:55Z</dcterms:modified>
</cp:coreProperties>
</file>