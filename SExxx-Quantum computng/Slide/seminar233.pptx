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6"/>
  </p:notesMasterIdLst>
  <p:sldIdLst>
    <p:sldId id="288" r:id="rId2"/>
    <p:sldId id="305" r:id="rId3"/>
    <p:sldId id="373" r:id="rId4"/>
    <p:sldId id="306" r:id="rId5"/>
    <p:sldId id="375" r:id="rId6"/>
    <p:sldId id="335" r:id="rId7"/>
    <p:sldId id="316" r:id="rId8"/>
    <p:sldId id="262" r:id="rId9"/>
    <p:sldId id="320" r:id="rId10"/>
    <p:sldId id="321" r:id="rId11"/>
    <p:sldId id="310" r:id="rId12"/>
    <p:sldId id="324" r:id="rId13"/>
    <p:sldId id="379" r:id="rId14"/>
    <p:sldId id="381" r:id="rId15"/>
    <p:sldId id="383" r:id="rId16"/>
    <p:sldId id="382" r:id="rId17"/>
    <p:sldId id="377" r:id="rId18"/>
    <p:sldId id="340" r:id="rId19"/>
    <p:sldId id="341" r:id="rId20"/>
    <p:sldId id="342" r:id="rId21"/>
    <p:sldId id="380" r:id="rId22"/>
    <p:sldId id="384" r:id="rId23"/>
    <p:sldId id="386" r:id="rId24"/>
    <p:sldId id="387" r:id="rId25"/>
    <p:sldId id="385" r:id="rId26"/>
    <p:sldId id="362" r:id="rId27"/>
    <p:sldId id="368" r:id="rId28"/>
    <p:sldId id="260" r:id="rId29"/>
    <p:sldId id="290" r:id="rId30"/>
    <p:sldId id="303" r:id="rId31"/>
    <p:sldId id="289" r:id="rId32"/>
    <p:sldId id="261" r:id="rId33"/>
    <p:sldId id="276" r:id="rId34"/>
    <p:sldId id="291" r:id="rId35"/>
    <p:sldId id="292" r:id="rId36"/>
    <p:sldId id="346" r:id="rId37"/>
    <p:sldId id="347" r:id="rId38"/>
    <p:sldId id="348" r:id="rId39"/>
    <p:sldId id="307" r:id="rId40"/>
    <p:sldId id="344" r:id="rId41"/>
    <p:sldId id="298" r:id="rId42"/>
    <p:sldId id="355" r:id="rId43"/>
    <p:sldId id="357" r:id="rId44"/>
    <p:sldId id="283" r:id="rId45"/>
    <p:sldId id="284" r:id="rId46"/>
    <p:sldId id="294" r:id="rId47"/>
    <p:sldId id="350" r:id="rId48"/>
    <p:sldId id="257" r:id="rId49"/>
    <p:sldId id="351" r:id="rId50"/>
    <p:sldId id="354" r:id="rId51"/>
    <p:sldId id="264" r:id="rId52"/>
    <p:sldId id="302" r:id="rId53"/>
    <p:sldId id="369" r:id="rId54"/>
    <p:sldId id="372" r:id="rId5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9A0A79-322F-42EC-B777-BCC5D647C99C}" v="1081" dt="2021-03-24T07:34:24.9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944" autoAdjust="0"/>
    <p:restoredTop sz="95970" autoAdjust="0"/>
  </p:normalViewPr>
  <p:slideViewPr>
    <p:cSldViewPr snapToGrid="0">
      <p:cViewPr varScale="1">
        <p:scale>
          <a:sx n="167" d="100"/>
          <a:sy n="167" d="100"/>
        </p:scale>
        <p:origin x="176"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0B902-5759-FC49-B311-2E6FE29404CD}" type="datetimeFigureOut">
              <a:t>29/3/26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2A4BF2-330F-0041-B456-2AF550CE6FFE}" type="slidenum">
              <a:t>‹#›</a:t>
            </a:fld>
            <a:endParaRPr lang="en-VN"/>
          </a:p>
        </p:txBody>
      </p:sp>
    </p:spTree>
    <p:extLst>
      <p:ext uri="{BB962C8B-B14F-4D97-AF65-F5344CB8AC3E}">
        <p14:creationId xmlns:p14="http://schemas.microsoft.com/office/powerpoint/2010/main" val="483633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Lỗi Phase-flip (Lỗi Z)</a:t>
            </a:r>
          </a:p>
          <a:p>
            <a:pPr>
              <a:buFont typeface="Arial" panose="020B0604020202020204" pitchFamily="34" charset="0"/>
              <a:buChar char="•"/>
            </a:pPr>
            <a:r>
              <a:rPr lang="vi-VN" b="1"/>
              <a:t>Dấu hiệu:</a:t>
            </a:r>
            <a:r>
              <a:rPr lang="vi-VN"/>
              <a:t> Xuất hiện các </a:t>
            </a:r>
            <a:r>
              <a:rPr lang="vi-VN" b="1"/>
              <a:t>dấu chấm màu đỏ</a:t>
            </a:r>
            <a:r>
              <a:rPr lang="vi-VN"/>
              <a:t> tại các đỉnh (</a:t>
            </a:r>
            <a:r>
              <a:rPr lang="vi-VN" b="1"/>
              <a:t>Vertices</a:t>
            </a:r>
            <a:r>
              <a:rPr lang="vi-VN"/>
              <a:t>).</a:t>
            </a:r>
          </a:p>
          <a:p>
            <a:pPr>
              <a:buFont typeface="Arial" panose="020B0604020202020204" pitchFamily="34" charset="0"/>
              <a:buChar char="•"/>
            </a:pPr>
            <a:r>
              <a:rPr lang="vi-VN" b="1"/>
              <a:t>Cách xác định:</a:t>
            </a:r>
            <a:r>
              <a:rPr lang="vi-VN"/>
              <a:t> Lỗi này làm thay đổi pha của qubit. Phép đo tính chẵn lẻ trong cơ sở X (X-parity) tại các đỉnh sẽ phát hiện điều này. Nếu có hai dấu chấm đỏ xuất hiện ở hai đầu của một cạnh, qubit nằm trên cạnh đó đã bị lỗi Z.</a:t>
            </a:r>
          </a:p>
        </p:txBody>
      </p:sp>
      <p:sp>
        <p:nvSpPr>
          <p:cNvPr id="4" name="Slide Number Placeholder 3"/>
          <p:cNvSpPr>
            <a:spLocks noGrp="1"/>
          </p:cNvSpPr>
          <p:nvPr>
            <p:ph type="sldNum" sz="quarter" idx="5"/>
          </p:nvPr>
        </p:nvSpPr>
        <p:spPr/>
        <p:txBody>
          <a:bodyPr/>
          <a:lstStyle/>
          <a:p>
            <a:fld id="{F02A4BF2-330F-0041-B456-2AF550CE6FFE}" type="slidenum">
              <a:rPr lang="vi-VN" smtClean="0"/>
              <a:t>14</a:t>
            </a:fld>
            <a:endParaRPr lang="vi-VN"/>
          </a:p>
        </p:txBody>
      </p:sp>
    </p:spTree>
    <p:extLst>
      <p:ext uri="{BB962C8B-B14F-4D97-AF65-F5344CB8AC3E}">
        <p14:creationId xmlns:p14="http://schemas.microsoft.com/office/powerpoint/2010/main" val="741122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Lỗi Phase-flip (Lỗi Z)</a:t>
            </a:r>
          </a:p>
          <a:p>
            <a:pPr>
              <a:buFont typeface="Arial" panose="020B0604020202020204" pitchFamily="34" charset="0"/>
              <a:buChar char="•"/>
            </a:pPr>
            <a:r>
              <a:rPr lang="vi-VN" b="1"/>
              <a:t>Dấu hiệu:</a:t>
            </a:r>
            <a:r>
              <a:rPr lang="vi-VN"/>
              <a:t> Xuất hiện các </a:t>
            </a:r>
            <a:r>
              <a:rPr lang="vi-VN" b="1"/>
              <a:t>dấu chấm màu đỏ</a:t>
            </a:r>
            <a:r>
              <a:rPr lang="vi-VN"/>
              <a:t> tại các đỉnh (</a:t>
            </a:r>
            <a:r>
              <a:rPr lang="vi-VN" b="1"/>
              <a:t>Vertices</a:t>
            </a:r>
            <a:r>
              <a:rPr lang="vi-VN"/>
              <a:t>).</a:t>
            </a:r>
          </a:p>
          <a:p>
            <a:pPr>
              <a:buFont typeface="Arial" panose="020B0604020202020204" pitchFamily="34" charset="0"/>
              <a:buChar char="•"/>
            </a:pPr>
            <a:r>
              <a:rPr lang="vi-VN" b="1"/>
              <a:t>Cách xác định:</a:t>
            </a:r>
            <a:r>
              <a:rPr lang="vi-VN"/>
              <a:t> Lỗi này làm thay đổi pha của qubit. Phép đo tính chẵn lẻ trong cơ sở X (X-parity) tại các đỉnh sẽ phát hiện điều này. Nếu có hai dấu chấm đỏ xuất hiện ở hai đầu của một cạnh, qubit nằm trên cạnh đó đã bị lỗi Z.</a:t>
            </a:r>
          </a:p>
        </p:txBody>
      </p:sp>
      <p:sp>
        <p:nvSpPr>
          <p:cNvPr id="4" name="Slide Number Placeholder 3"/>
          <p:cNvSpPr>
            <a:spLocks noGrp="1"/>
          </p:cNvSpPr>
          <p:nvPr>
            <p:ph type="sldNum" sz="quarter" idx="5"/>
          </p:nvPr>
        </p:nvSpPr>
        <p:spPr/>
        <p:txBody>
          <a:bodyPr/>
          <a:lstStyle/>
          <a:p>
            <a:fld id="{F02A4BF2-330F-0041-B456-2AF550CE6FFE}" type="slidenum">
              <a:rPr lang="vi-VN" smtClean="0"/>
              <a:t>15</a:t>
            </a:fld>
            <a:endParaRPr lang="vi-VN"/>
          </a:p>
        </p:txBody>
      </p:sp>
    </p:spTree>
    <p:extLst>
      <p:ext uri="{BB962C8B-B14F-4D97-AF65-F5344CB8AC3E}">
        <p14:creationId xmlns:p14="http://schemas.microsoft.com/office/powerpoint/2010/main" val="24645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F02A4BF2-330F-0041-B456-2AF550CE6FFE}" type="slidenum">
              <a:rPr lang="vi-VN" smtClean="0"/>
              <a:t>17</a:t>
            </a:fld>
            <a:endParaRPr lang="vi-VN"/>
          </a:p>
        </p:txBody>
      </p:sp>
    </p:spTree>
    <p:extLst>
      <p:ext uri="{BB962C8B-B14F-4D97-AF65-F5344CB8AC3E}">
        <p14:creationId xmlns:p14="http://schemas.microsoft.com/office/powerpoint/2010/main" val="906442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a:solidFill>
                  <a:srgbClr val="E2E5E9"/>
                </a:solidFill>
                <a:effectLst/>
                <a:latin typeface="inherit"/>
              </a:rPr>
              <a:t>Thay vì cứ tống thật nhiều data vào một model, việc chọn đúng cấu trúc mô hình phù hợp với bản chất dữ liệu sẽ hợp lý hơn</a:t>
            </a:r>
          </a:p>
          <a:p>
            <a:pPr algn="l"/>
            <a:r>
              <a:rPr lang="vi-VN" b="0" i="0">
                <a:solidFill>
                  <a:srgbClr val="E2E5E9"/>
                </a:solidFill>
                <a:effectLst/>
                <a:latin typeface="inherit"/>
              </a:rPr>
              <a:t>Nghiên cứu [1] của nhóm Maria Schuld dùng chính cái "tính xấu" của lượng tử – sự phụ thuộc vào thứ tự đo đạc – để giải quyết bài toán classical AI.</a:t>
            </a:r>
          </a:p>
          <a:p>
            <a:pPr algn="l"/>
            <a:r>
              <a:rPr lang="vi-VN" b="0" i="0">
                <a:solidFill>
                  <a:srgbClr val="E2E5E9"/>
                </a:solidFill>
                <a:effectLst/>
                <a:latin typeface="inherit"/>
              </a:rPr>
              <a:t>Trong xác suất cổ điển, p(A x B) = p(B x A), thứ tự bị mất đi. Trên mạch lượng tử, việc đo đại lượng A rồi B (p(A x B)) thường không giống với việc đo B rồi A (p (B x A)) (Anti-commute).</a:t>
            </a:r>
          </a:p>
          <a:p>
            <a:pPr algn="l"/>
            <a:r>
              <a:rPr lang="vi-VN" b="0" i="0">
                <a:solidFill>
                  <a:srgbClr val="E2E5E9"/>
                </a:solidFill>
                <a:effectLst/>
                <a:latin typeface="inherit"/>
              </a:rPr>
              <a:t>Như vậy, nếu muốn model học được tính thứ tự của data, ta có thể dùng các phép đo lượng tử tuần tự làm cấu trúc cốt lõi của model (một cách tự nhiên)</a:t>
            </a:r>
          </a:p>
          <a:p>
            <a:pPr algn="l"/>
            <a:r>
              <a:rPr lang="vi-VN" b="0" i="0">
                <a:solidFill>
                  <a:srgbClr val="E2E5E9"/>
                </a:solidFill>
                <a:effectLst/>
                <a:latin typeface="inherit"/>
              </a:rPr>
              <a:t>Thay vì đo một lần, model thực hiện các phép đo liên tiếp trên cùng một trạng thái lượng tử. Mỗi phép đo "làm sụp đổ" hàm sóng và ảnh hưởng trực tiếp đến kết quả của phép đo sau. Model được huấn luyện để xử lý nhiều thứ tự câu hỏi cùng lúc. Khi đảo thứ tự các observable trong mạch, model tự động điều chỉnh xác suất sinh ra chuỗi kết quả tương ứng.</a:t>
            </a:r>
          </a:p>
          <a:p>
            <a:endParaRPr lang="vi-VN"/>
          </a:p>
        </p:txBody>
      </p:sp>
      <p:sp>
        <p:nvSpPr>
          <p:cNvPr id="4" name="Slide Number Placeholder 3"/>
          <p:cNvSpPr>
            <a:spLocks noGrp="1"/>
          </p:cNvSpPr>
          <p:nvPr>
            <p:ph type="sldNum" sz="quarter" idx="5"/>
          </p:nvPr>
        </p:nvSpPr>
        <p:spPr/>
        <p:txBody>
          <a:bodyPr/>
          <a:lstStyle/>
          <a:p>
            <a:fld id="{F02A4BF2-330F-0041-B456-2AF550CE6FFE}" type="slidenum">
              <a:rPr lang="vi-VN" smtClean="0"/>
              <a:t>24</a:t>
            </a:fld>
            <a:endParaRPr lang="vi-VN"/>
          </a:p>
        </p:txBody>
      </p:sp>
    </p:spTree>
    <p:extLst>
      <p:ext uri="{BB962C8B-B14F-4D97-AF65-F5344CB8AC3E}">
        <p14:creationId xmlns:p14="http://schemas.microsoft.com/office/powerpoint/2010/main" val="1913254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Supported by the universality theorem and rank representation theorem, QuanTA can represent arbitrary matrices effectively, allowing it to achieve performance comparable to or sometimes even better than full fine-tuning, with only a fraction of the parameters. Note: the performance graph is a conceptual illustration.</a:t>
            </a:r>
            <a:endParaRPr lang="vi-VN"/>
          </a:p>
        </p:txBody>
      </p:sp>
      <p:sp>
        <p:nvSpPr>
          <p:cNvPr id="4" name="Slide Number Placeholder 3"/>
          <p:cNvSpPr>
            <a:spLocks noGrp="1"/>
          </p:cNvSpPr>
          <p:nvPr>
            <p:ph type="sldNum" sz="quarter" idx="5"/>
          </p:nvPr>
        </p:nvSpPr>
        <p:spPr/>
        <p:txBody>
          <a:bodyPr/>
          <a:lstStyle/>
          <a:p>
            <a:fld id="{F02A4BF2-330F-0041-B456-2AF550CE6FFE}" type="slidenum">
              <a:rPr lang="vi-VN" smtClean="0"/>
              <a:t>25</a:t>
            </a:fld>
            <a:endParaRPr lang="vi-VN"/>
          </a:p>
        </p:txBody>
      </p:sp>
    </p:spTree>
    <p:extLst>
      <p:ext uri="{BB962C8B-B14F-4D97-AF65-F5344CB8AC3E}">
        <p14:creationId xmlns:p14="http://schemas.microsoft.com/office/powerpoint/2010/main" val="956108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a:effectLst/>
                <a:latin typeface="Calibri" panose="020F0502020204030204" pitchFamily="34" charset="0"/>
                <a:cs typeface="Calibri" panose="020F0502020204030204" pitchFamily="34" charset="0"/>
              </a:rPr>
              <a:t>Mô tả tổng quát của hệ </a:t>
            </a:r>
            <a:r>
              <a:rPr lang="vi-VN" sz="1200" i="1">
                <a:effectLst/>
                <a:latin typeface="Calibri" panose="020F0502020204030204" pitchFamily="34" charset="0"/>
                <a:cs typeface="Calibri" panose="020F0502020204030204" pitchFamily="34" charset="0"/>
              </a:rPr>
              <a:t>hybrid quantum - classical </a:t>
            </a:r>
            <a:r>
              <a:rPr lang="vi-VN" sz="1200">
                <a:effectLst/>
                <a:latin typeface="Calibri" panose="020F0502020204030204" pitchFamily="34" charset="0"/>
                <a:cs typeface="Calibri" panose="020F0502020204030204" pitchFamily="34" charset="0"/>
              </a:rPr>
              <a:t>được sử dụng trong các thuật toán </a:t>
            </a:r>
            <a:r>
              <a:rPr lang="vi-VN" sz="1200" b="1">
                <a:effectLst/>
                <a:latin typeface="Calibri" panose="020F0502020204030204" pitchFamily="34" charset="0"/>
                <a:cs typeface="Calibri" panose="020F0502020204030204" pitchFamily="34" charset="0"/>
              </a:rPr>
              <a:t>QML</a:t>
            </a:r>
            <a:r>
              <a:rPr lang="vi-VN" sz="1200">
                <a:effectLst/>
                <a:latin typeface="Calibri" panose="020F0502020204030204" pitchFamily="34" charset="0"/>
                <a:cs typeface="Calibri" panose="020F0502020204030204" pitchFamily="34" charset="0"/>
              </a:rPr>
              <a:t>. Trong hệ, máy tính lượng tử chuẩn bị các trạng thái (quantum state preparation) và thực hiện phép đo. Máy tính cổ điển sử dụng các kết quả đo để hậu xử lý, và cập nhật </a:t>
            </a:r>
            <a:r>
              <a:rPr lang="vi-VN" sz="1200" i="1">
                <a:effectLst/>
                <a:latin typeface="Calibri" panose="020F0502020204030204" pitchFamily="34" charset="0"/>
                <a:cs typeface="Calibri" panose="020F0502020204030204" pitchFamily="34" charset="0"/>
              </a:rPr>
              <a:t>parameter</a:t>
            </a:r>
            <a:r>
              <a:rPr lang="vi-VN" sz="1200">
                <a:effectLst/>
                <a:latin typeface="Calibri" panose="020F0502020204030204" pitchFamily="34" charset="0"/>
                <a:cs typeface="Calibri" panose="020F0502020204030204" pitchFamily="34" charset="0"/>
              </a:rPr>
              <a:t> 𝜽 cho PQC. Quy trình này được lặp nhiều lần. </a:t>
            </a:r>
            <a:endParaRPr lang="vi-VN" sz="1200">
              <a:latin typeface="Calibri" panose="020F0502020204030204" pitchFamily="34" charset="0"/>
              <a:cs typeface="Calibri" panose="020F0502020204030204" pitchFamily="34" charset="0"/>
            </a:endParaRPr>
          </a:p>
          <a:p>
            <a:endParaRPr lang="en-VN"/>
          </a:p>
        </p:txBody>
      </p:sp>
      <p:sp>
        <p:nvSpPr>
          <p:cNvPr id="4" name="Slide Number Placeholder 3"/>
          <p:cNvSpPr>
            <a:spLocks noGrp="1"/>
          </p:cNvSpPr>
          <p:nvPr>
            <p:ph type="sldNum" sz="quarter" idx="5"/>
          </p:nvPr>
        </p:nvSpPr>
        <p:spPr/>
        <p:txBody>
          <a:bodyPr/>
          <a:lstStyle/>
          <a:p>
            <a:fld id="{89C9BFFF-DB5C-C647-BABC-3A750988F3DE}" type="slidenum">
              <a:rPr lang="en-VN"/>
              <a:t>28</a:t>
            </a:fld>
            <a:endParaRPr lang="en-VN"/>
          </a:p>
        </p:txBody>
      </p:sp>
    </p:spTree>
    <p:extLst>
      <p:ext uri="{BB962C8B-B14F-4D97-AF65-F5344CB8AC3E}">
        <p14:creationId xmlns:p14="http://schemas.microsoft.com/office/powerpoint/2010/main" val="2446444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Làm rõ một số định nghĩa trong QML:</a:t>
            </a:r>
          </a:p>
          <a:p>
            <a:r>
              <a:rPr lang="en-VN"/>
              <a:t>- QML: thuật toán machien learning có chạy trên quantum computer</a:t>
            </a:r>
          </a:p>
          <a:p>
            <a:r>
              <a:rPr lang="en-VN"/>
              <a:t>- Hybrid quantum – classical learning: tập con của QML, chạy trên cả quantum và classical computer. =&gt; Được chú ý hiện nay vì các quantum algorithm yêu cầu số qubit cao =&gt; chưa thích hợp chạy vì ko có tài nguyên</a:t>
            </a:r>
          </a:p>
        </p:txBody>
      </p:sp>
      <p:sp>
        <p:nvSpPr>
          <p:cNvPr id="4" name="Slide Number Placeholder 3"/>
          <p:cNvSpPr>
            <a:spLocks noGrp="1"/>
          </p:cNvSpPr>
          <p:nvPr>
            <p:ph type="sldNum" sz="quarter" idx="5"/>
          </p:nvPr>
        </p:nvSpPr>
        <p:spPr/>
        <p:txBody>
          <a:bodyPr/>
          <a:lstStyle/>
          <a:p>
            <a:fld id="{F02A4BF2-330F-0041-B456-2AF550CE6FFE}" type="slidenum">
              <a:rPr lang="en-VN"/>
              <a:t>29</a:t>
            </a:fld>
            <a:endParaRPr lang="en-VN"/>
          </a:p>
        </p:txBody>
      </p:sp>
    </p:spTree>
    <p:extLst>
      <p:ext uri="{BB962C8B-B14F-4D97-AF65-F5344CB8AC3E}">
        <p14:creationId xmlns:p14="http://schemas.microsoft.com/office/powerpoint/2010/main" val="1674705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Một số tiềm năng, đặc trưng của các mô hình QML đề xuất khi so sánh với mô hình ML cổ điển.</a:t>
            </a:r>
          </a:p>
          <a:p>
            <a:endParaRPr lang="en-VN"/>
          </a:p>
        </p:txBody>
      </p:sp>
      <p:sp>
        <p:nvSpPr>
          <p:cNvPr id="4" name="Slide Number Placeholder 3"/>
          <p:cNvSpPr>
            <a:spLocks noGrp="1"/>
          </p:cNvSpPr>
          <p:nvPr>
            <p:ph type="sldNum" sz="quarter" idx="5"/>
          </p:nvPr>
        </p:nvSpPr>
        <p:spPr/>
        <p:txBody>
          <a:bodyPr/>
          <a:lstStyle/>
          <a:p>
            <a:fld id="{F02A4BF2-330F-0041-B456-2AF550CE6FFE}" type="slidenum">
              <a:rPr lang="en-VN"/>
              <a:t>30</a:t>
            </a:fld>
            <a:endParaRPr lang="en-VN"/>
          </a:p>
        </p:txBody>
      </p:sp>
    </p:spTree>
    <p:extLst>
      <p:ext uri="{BB962C8B-B14F-4D97-AF65-F5344CB8AC3E}">
        <p14:creationId xmlns:p14="http://schemas.microsoft.com/office/powerpoint/2010/main" val="2988781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Phân chia tạm thời các lớp trong QML.</a:t>
            </a:r>
          </a:p>
          <a:p>
            <a:r>
              <a:rPr lang="en-VN"/>
              <a:t>- Liên quan đến ML cổ điển: phiên bản quantum của các thuật toán truyền thống như KNN, SVM, ..</a:t>
            </a:r>
          </a:p>
          <a:p>
            <a:r>
              <a:rPr lang="en-VN"/>
              <a:t>- Liên quan đến Neural network (nói đúng ra lớp này được gọi là quantum deep learninng): phiên bản quantum của các kiến ttrúc neural network khác nhau.</a:t>
            </a:r>
          </a:p>
          <a:p>
            <a:r>
              <a:rPr lang="en-VN"/>
              <a:t>- pure quantum learning: các thuật toán mới hoàn toàn và ko có phiên bản cổ điển tương ứng.</a:t>
            </a:r>
          </a:p>
        </p:txBody>
      </p:sp>
      <p:sp>
        <p:nvSpPr>
          <p:cNvPr id="4" name="Slide Number Placeholder 3"/>
          <p:cNvSpPr>
            <a:spLocks noGrp="1"/>
          </p:cNvSpPr>
          <p:nvPr>
            <p:ph type="sldNum" sz="quarter" idx="5"/>
          </p:nvPr>
        </p:nvSpPr>
        <p:spPr/>
        <p:txBody>
          <a:bodyPr/>
          <a:lstStyle/>
          <a:p>
            <a:fld id="{F02A4BF2-330F-0041-B456-2AF550CE6FFE}" type="slidenum">
              <a:rPr lang="en-VN"/>
              <a:t>31</a:t>
            </a:fld>
            <a:endParaRPr lang="en-VN"/>
          </a:p>
        </p:txBody>
      </p:sp>
    </p:spTree>
    <p:extLst>
      <p:ext uri="{BB962C8B-B14F-4D97-AF65-F5344CB8AC3E}">
        <p14:creationId xmlns:p14="http://schemas.microsoft.com/office/powerpoint/2010/main" val="4150507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𝜙</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𝑥</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14:m>
                  <m:oMath xmlns:m="http://schemas.openxmlformats.org/officeDocument/2006/math">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𝑈</m:t>
                        </m:r>
                      </m:e>
                      <m:sub>
                        <m:r>
                          <a:rPr lang="vi-VN" sz="1200" i="1">
                            <a:effectLst/>
                            <a:latin typeface="Cambria Math" panose="02040503050406030204" pitchFamily="18" charset="0"/>
                            <a:cs typeface="Calibri" panose="020F0502020204030204" pitchFamily="34" charset="0"/>
                          </a:rPr>
                          <m:t>𝜙</m:t>
                        </m:r>
                      </m:sub>
                    </m:sSub>
                  </m:oMath>
                </a14:m>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𝜽</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tác động và trả về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𝜽</m:t>
                        </m:r>
                      </m:e>
                    </m:d>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𝜙</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𝑥</m:t>
                        </m:r>
                      </m:e>
                    </m:d>
                    <m:sSup>
                      <m:sSupPr>
                        <m:ctrlPr>
                          <a:rPr lang="vi-VN" sz="1200" b="0" i="1">
                            <a:effectLst/>
                            <a:latin typeface="Cambria Math" panose="02040503050406030204" pitchFamily="18" charset="0"/>
                            <a:cs typeface="Calibri" panose="020F0502020204030204" pitchFamily="34" charset="0"/>
                          </a:rPr>
                        </m:ctrlPr>
                      </m:sSupPr>
                      <m:e>
                        <m:d>
                          <m:dPr>
                            <m:begChr m:val="|"/>
                            <m:endChr m:val="⟩"/>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0</m:t>
                            </m:r>
                          </m:e>
                        </m:d>
                      </m:e>
                      <m:sup>
                        <m:r>
                          <a:rPr lang="vi-VN" sz="1200" i="1">
                            <a:latin typeface="Cambria Math" panose="02040503050406030204" pitchFamily="18" charset="0"/>
                            <a:cs typeface="Calibri" panose="020F0502020204030204" pitchFamily="34" charset="0"/>
                          </a:rPr>
                          <m:t>⊗</m:t>
                        </m:r>
                        <m:d>
                          <m:dPr>
                            <m:ctrlPr>
                              <a:rPr lang="vi-VN" sz="1200" i="1">
                                <a:latin typeface="Cambria Math" panose="02040503050406030204" pitchFamily="18" charset="0"/>
                                <a:cs typeface="Calibri" panose="020F0502020204030204" pitchFamily="34" charset="0"/>
                              </a:rPr>
                            </m:ctrlPr>
                          </m:dPr>
                          <m:e>
                            <m:r>
                              <a:rPr lang="vi-VN" sz="1200" i="1">
                                <a:latin typeface="Cambria Math" panose="02040503050406030204" pitchFamily="18" charset="0"/>
                                <a:cs typeface="Calibri" panose="020F0502020204030204" pitchFamily="34" charset="0"/>
                              </a:rPr>
                              <m:t>𝑛</m:t>
                            </m:r>
                            <m:r>
                              <a:rPr lang="vi-VN" sz="1200" i="1">
                                <a:latin typeface="Cambria Math" panose="02040503050406030204" pitchFamily="18" charset="0"/>
                                <a:cs typeface="Calibri" panose="020F0502020204030204" pitchFamily="34" charset="0"/>
                              </a:rPr>
                              <m:t>+</m:t>
                            </m:r>
                            <m:r>
                              <a:rPr lang="vi-VN" sz="1200" i="1">
                                <a:latin typeface="Cambria Math" panose="02040503050406030204" pitchFamily="18" charset="0"/>
                                <a:cs typeface="Calibri" panose="020F0502020204030204" pitchFamily="34" charset="0"/>
                              </a:rPr>
                              <m:t>𝑚</m:t>
                            </m:r>
                          </m:e>
                        </m:d>
                      </m:sup>
                    </m:sSup>
                  </m:oMath>
                </a14:m>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m:t>
                    </m:r>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𝑀</m:t>
                        </m:r>
                      </m:e>
                      <m:sub>
                        <m:r>
                          <a:rPr lang="vi-VN" sz="1200" i="1">
                            <a:effectLst/>
                            <a:latin typeface="Cambria Math" panose="02040503050406030204" pitchFamily="18" charset="0"/>
                            <a:cs typeface="Calibri" panose="020F0502020204030204" pitchFamily="34" charset="0"/>
                          </a:rPr>
                          <m:t>𝑖</m:t>
                        </m:r>
                      </m:sub>
                    </m:sSub>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14:m>
                  <m:oMath xmlns:m="http://schemas.openxmlformats.org/officeDocument/2006/math">
                    <m:r>
                      <a:rPr lang="vi-VN" sz="1200" i="1">
                        <a:effectLst/>
                        <a:latin typeface="Cambria Math" panose="02040503050406030204" pitchFamily="18" charset="0"/>
                        <a:cs typeface="Calibri" panose="020F0502020204030204" pitchFamily="34" charset="0"/>
                      </a:rPr>
                      <m:t>𝑓</m:t>
                    </m:r>
                  </m:oMath>
                </a14:m>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Choice>
        <mc:Fallback xmlns="">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𝜙(𝑥)</a:t>
                </a:r>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𝜙</a:t>
                </a:r>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𝑈(𝜽)</a:t>
                </a:r>
                <a:r>
                  <a:rPr lang="vi-VN" sz="1200">
                    <a:effectLst/>
                    <a:latin typeface="Calibri" panose="020F0502020204030204" pitchFamily="34" charset="0"/>
                    <a:cs typeface="Calibri" panose="020F0502020204030204" pitchFamily="34" charset="0"/>
                  </a:rPr>
                  <a:t> tác động và trả về </a:t>
                </a:r>
                <a:r>
                  <a:rPr lang="vi-VN" sz="1200" i="0">
                    <a:effectLst/>
                    <a:latin typeface="Cambria Math" panose="02040503050406030204" pitchFamily="18" charset="0"/>
                    <a:cs typeface="Calibri" panose="020F0502020204030204" pitchFamily="34" charset="0"/>
                  </a:rPr>
                  <a:t>𝑈(𝜽)𝑈𝜙(𝑥)</a:t>
                </a:r>
                <a:r>
                  <a:rPr lang="vi-VN" sz="1200" b="0" i="0">
                    <a:effectLst/>
                    <a:latin typeface="Cambria Math" panose="02040503050406030204" pitchFamily="18"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|0⟩</a:t>
                </a:r>
                <a:r>
                  <a:rPr lang="vi-VN" sz="1200" b="0" i="0">
                    <a:effectLst/>
                    <a:latin typeface="Cambria Math" panose="02040503050406030204" pitchFamily="18" charset="0"/>
                    <a:cs typeface="Calibri" panose="020F0502020204030204" pitchFamily="34" charset="0"/>
                  </a:rPr>
                  <a:t>^(</a:t>
                </a:r>
                <a:r>
                  <a:rPr lang="vi-VN" sz="1200" i="0">
                    <a:latin typeface="Cambria Math" panose="02040503050406030204" pitchFamily="18" charset="0"/>
                    <a:cs typeface="Calibri" panose="020F0502020204030204" pitchFamily="34" charset="0"/>
                  </a:rPr>
                  <a:t>⊗(𝑛+𝑚) </a:t>
                </a:r>
                <a:r>
                  <a:rPr lang="vi-VN" sz="1200" b="0" i="0">
                    <a:effectLst/>
                    <a:latin typeface="Cambria Math" panose="02040503050406030204" pitchFamily="18" charset="0"/>
                    <a:cs typeface="Calibri" panose="020F0502020204030204" pitchFamily="34" charset="0"/>
                  </a:rPr>
                  <a:t>)</a:t>
                </a:r>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{𝑀</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𝑖}</a:t>
                </a:r>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r>
                  <a:rPr lang="vi-VN" sz="1200" i="0">
                    <a:effectLst/>
                    <a:latin typeface="Cambria Math" panose="02040503050406030204" pitchFamily="18" charset="0"/>
                    <a:cs typeface="Calibri" panose="020F0502020204030204" pitchFamily="34" charset="0"/>
                  </a:rPr>
                  <a:t>𝑓</a:t>
                </a:r>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Fallback>
      </mc:AlternateContent>
      <p:sp>
        <p:nvSpPr>
          <p:cNvPr id="4" name="Slide Number Placeholder 3"/>
          <p:cNvSpPr>
            <a:spLocks noGrp="1"/>
          </p:cNvSpPr>
          <p:nvPr>
            <p:ph type="sldNum" sz="quarter" idx="5"/>
          </p:nvPr>
        </p:nvSpPr>
        <p:spPr/>
        <p:txBody>
          <a:bodyPr/>
          <a:lstStyle/>
          <a:p>
            <a:fld id="{89C9BFFF-DB5C-C647-BABC-3A750988F3DE}" type="slidenum">
              <a:rPr lang="en-VN"/>
              <a:t>32</a:t>
            </a:fld>
            <a:endParaRPr lang="en-VN"/>
          </a:p>
        </p:txBody>
      </p:sp>
    </p:spTree>
    <p:extLst>
      <p:ext uri="{BB962C8B-B14F-4D97-AF65-F5344CB8AC3E}">
        <p14:creationId xmlns:p14="http://schemas.microsoft.com/office/powerpoint/2010/main" val="1361461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No. qubit = number of qubit</a:t>
            </a:r>
          </a:p>
          <a:p>
            <a:r>
              <a:rPr lang="en-VN"/>
              <a:t>Circuit depth = độ dài của U_phi</a:t>
            </a:r>
          </a:p>
        </p:txBody>
      </p:sp>
      <p:sp>
        <p:nvSpPr>
          <p:cNvPr id="4" name="Slide Number Placeholder 3"/>
          <p:cNvSpPr>
            <a:spLocks noGrp="1"/>
          </p:cNvSpPr>
          <p:nvPr>
            <p:ph type="sldNum" sz="quarter" idx="5"/>
          </p:nvPr>
        </p:nvSpPr>
        <p:spPr/>
        <p:txBody>
          <a:bodyPr/>
          <a:lstStyle/>
          <a:p>
            <a:fld id="{F02A4BF2-330F-0041-B456-2AF550CE6FFE}" type="slidenum">
              <a:rPr lang="en-VN"/>
              <a:t>33</a:t>
            </a:fld>
            <a:endParaRPr lang="en-VN"/>
          </a:p>
        </p:txBody>
      </p:sp>
    </p:spTree>
    <p:extLst>
      <p:ext uri="{BB962C8B-B14F-4D97-AF65-F5344CB8AC3E}">
        <p14:creationId xmlns:p14="http://schemas.microsoft.com/office/powerpoint/2010/main" val="1750963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Fig 2.1. mình hoạ quá trình xác định label của hình tròn màu trắng</a:t>
            </a:r>
          </a:p>
          <a:p>
            <a:endParaRPr lang="en-VN"/>
          </a:p>
          <a:p>
            <a:r>
              <a:rPr lang="en-VN"/>
              <a:t>Tóm tắt thuật toán KNN</a:t>
            </a:r>
          </a:p>
          <a:p>
            <a:endParaRPr lang="en-VN"/>
          </a:p>
          <a:p>
            <a:r>
              <a:rPr lang="en-VN"/>
              <a:t>Độ phức tạp</a:t>
            </a:r>
          </a:p>
        </p:txBody>
      </p:sp>
      <p:sp>
        <p:nvSpPr>
          <p:cNvPr id="4" name="Slide Number Placeholder 3"/>
          <p:cNvSpPr>
            <a:spLocks noGrp="1"/>
          </p:cNvSpPr>
          <p:nvPr>
            <p:ph type="sldNum" sz="quarter" idx="5"/>
          </p:nvPr>
        </p:nvSpPr>
        <p:spPr/>
        <p:txBody>
          <a:bodyPr/>
          <a:lstStyle/>
          <a:p>
            <a:fld id="{F02A4BF2-330F-0041-B456-2AF550CE6FFE}" type="slidenum">
              <a:rPr lang="en-VN"/>
              <a:t>34</a:t>
            </a:fld>
            <a:endParaRPr lang="en-VN"/>
          </a:p>
        </p:txBody>
      </p:sp>
    </p:spTree>
    <p:extLst>
      <p:ext uri="{BB962C8B-B14F-4D97-AF65-F5344CB8AC3E}">
        <p14:creationId xmlns:p14="http://schemas.microsoft.com/office/powerpoint/2010/main" val="2826856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Phiên bản quantum của KNN</a:t>
            </a:r>
          </a:p>
          <a:p>
            <a:endParaRPr lang="en-VN"/>
          </a:p>
          <a:p>
            <a:r>
              <a:rPr lang="en-VN"/>
              <a:t>Ở đây thay vì tính khoảng cách 2 vector bằng máy tính cổ điển, chúng ta tính trên mạch lượng tử. </a:t>
            </a:r>
            <a:r>
              <a:rPr lang="en-US"/>
              <a:t>G</a:t>
            </a:r>
            <a:r>
              <a:rPr lang="en-VN"/>
              <a:t>iảm độ phức tạp của công đoạn này, các bước 2,3 vẫn tính trên máy cổ điển như bình thường.</a:t>
            </a:r>
          </a:p>
        </p:txBody>
      </p:sp>
      <p:sp>
        <p:nvSpPr>
          <p:cNvPr id="4" name="Slide Number Placeholder 3"/>
          <p:cNvSpPr>
            <a:spLocks noGrp="1"/>
          </p:cNvSpPr>
          <p:nvPr>
            <p:ph type="sldNum" sz="quarter" idx="5"/>
          </p:nvPr>
        </p:nvSpPr>
        <p:spPr/>
        <p:txBody>
          <a:bodyPr/>
          <a:lstStyle/>
          <a:p>
            <a:fld id="{F02A4BF2-330F-0041-B456-2AF550CE6FFE}" type="slidenum">
              <a:rPr lang="en-VN"/>
              <a:t>35</a:t>
            </a:fld>
            <a:endParaRPr lang="en-VN"/>
          </a:p>
        </p:txBody>
      </p:sp>
    </p:spTree>
    <p:extLst>
      <p:ext uri="{BB962C8B-B14F-4D97-AF65-F5344CB8AC3E}">
        <p14:creationId xmlns:p14="http://schemas.microsoft.com/office/powerpoint/2010/main" val="3025510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Fig 2.1. mình hoạ quá trình xác định label của hình tròn màu trắng</a:t>
            </a:r>
          </a:p>
          <a:p>
            <a:endParaRPr lang="en-VN"/>
          </a:p>
          <a:p>
            <a:r>
              <a:rPr lang="en-VN"/>
              <a:t>Tóm tắt thuật toán KNN</a:t>
            </a:r>
          </a:p>
          <a:p>
            <a:endParaRPr lang="en-VN"/>
          </a:p>
          <a:p>
            <a:r>
              <a:rPr lang="en-VN"/>
              <a:t>Độ phức tạp</a:t>
            </a:r>
          </a:p>
        </p:txBody>
      </p:sp>
      <p:sp>
        <p:nvSpPr>
          <p:cNvPr id="4" name="Slide Number Placeholder 3"/>
          <p:cNvSpPr>
            <a:spLocks noGrp="1"/>
          </p:cNvSpPr>
          <p:nvPr>
            <p:ph type="sldNum" sz="quarter" idx="5"/>
          </p:nvPr>
        </p:nvSpPr>
        <p:spPr/>
        <p:txBody>
          <a:bodyPr/>
          <a:lstStyle/>
          <a:p>
            <a:fld id="{F02A4BF2-330F-0041-B456-2AF550CE6FFE}" type="slidenum">
              <a:rPr lang="en-VN"/>
              <a:t>36</a:t>
            </a:fld>
            <a:endParaRPr lang="en-VN"/>
          </a:p>
        </p:txBody>
      </p:sp>
    </p:spTree>
    <p:extLst>
      <p:ext uri="{BB962C8B-B14F-4D97-AF65-F5344CB8AC3E}">
        <p14:creationId xmlns:p14="http://schemas.microsoft.com/office/powerpoint/2010/main" val="414907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𝜙</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𝑥</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14:m>
                  <m:oMath xmlns:m="http://schemas.openxmlformats.org/officeDocument/2006/math">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𝑈</m:t>
                        </m:r>
                      </m:e>
                      <m:sub>
                        <m:r>
                          <a:rPr lang="vi-VN" sz="1200" i="1">
                            <a:effectLst/>
                            <a:latin typeface="Cambria Math" panose="02040503050406030204" pitchFamily="18" charset="0"/>
                            <a:cs typeface="Calibri" panose="020F0502020204030204" pitchFamily="34" charset="0"/>
                          </a:rPr>
                          <m:t>𝜙</m:t>
                        </m:r>
                      </m:sub>
                    </m:sSub>
                  </m:oMath>
                </a14:m>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𝜽</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tác động và trả về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𝜽</m:t>
                        </m:r>
                      </m:e>
                    </m:d>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𝜙</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𝑥</m:t>
                        </m:r>
                      </m:e>
                    </m:d>
                    <m:sSup>
                      <m:sSupPr>
                        <m:ctrlPr>
                          <a:rPr lang="vi-VN" sz="1200" b="0" i="1">
                            <a:effectLst/>
                            <a:latin typeface="Cambria Math" panose="02040503050406030204" pitchFamily="18" charset="0"/>
                            <a:cs typeface="Calibri" panose="020F0502020204030204" pitchFamily="34" charset="0"/>
                          </a:rPr>
                        </m:ctrlPr>
                      </m:sSupPr>
                      <m:e>
                        <m:d>
                          <m:dPr>
                            <m:begChr m:val="|"/>
                            <m:endChr m:val="⟩"/>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0</m:t>
                            </m:r>
                          </m:e>
                        </m:d>
                      </m:e>
                      <m:sup>
                        <m:r>
                          <a:rPr lang="vi-VN" sz="1200" i="1">
                            <a:latin typeface="Cambria Math" panose="02040503050406030204" pitchFamily="18" charset="0"/>
                            <a:cs typeface="Calibri" panose="020F0502020204030204" pitchFamily="34" charset="0"/>
                          </a:rPr>
                          <m:t>⊗</m:t>
                        </m:r>
                        <m:d>
                          <m:dPr>
                            <m:ctrlPr>
                              <a:rPr lang="vi-VN" sz="1200" i="1">
                                <a:latin typeface="Cambria Math" panose="02040503050406030204" pitchFamily="18" charset="0"/>
                                <a:cs typeface="Calibri" panose="020F0502020204030204" pitchFamily="34" charset="0"/>
                              </a:rPr>
                            </m:ctrlPr>
                          </m:dPr>
                          <m:e>
                            <m:r>
                              <a:rPr lang="vi-VN" sz="1200" i="1">
                                <a:latin typeface="Cambria Math" panose="02040503050406030204" pitchFamily="18" charset="0"/>
                                <a:cs typeface="Calibri" panose="020F0502020204030204" pitchFamily="34" charset="0"/>
                              </a:rPr>
                              <m:t>𝑛</m:t>
                            </m:r>
                            <m:r>
                              <a:rPr lang="vi-VN" sz="1200" i="1">
                                <a:latin typeface="Cambria Math" panose="02040503050406030204" pitchFamily="18" charset="0"/>
                                <a:cs typeface="Calibri" panose="020F0502020204030204" pitchFamily="34" charset="0"/>
                              </a:rPr>
                              <m:t>+</m:t>
                            </m:r>
                            <m:r>
                              <a:rPr lang="vi-VN" sz="1200" i="1">
                                <a:latin typeface="Cambria Math" panose="02040503050406030204" pitchFamily="18" charset="0"/>
                                <a:cs typeface="Calibri" panose="020F0502020204030204" pitchFamily="34" charset="0"/>
                              </a:rPr>
                              <m:t>𝑚</m:t>
                            </m:r>
                          </m:e>
                        </m:d>
                      </m:sup>
                    </m:sSup>
                  </m:oMath>
                </a14:m>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m:t>
                    </m:r>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𝑀</m:t>
                        </m:r>
                      </m:e>
                      <m:sub>
                        <m:r>
                          <a:rPr lang="vi-VN" sz="1200" i="1">
                            <a:effectLst/>
                            <a:latin typeface="Cambria Math" panose="02040503050406030204" pitchFamily="18" charset="0"/>
                            <a:cs typeface="Calibri" panose="020F0502020204030204" pitchFamily="34" charset="0"/>
                          </a:rPr>
                          <m:t>𝑖</m:t>
                        </m:r>
                      </m:sub>
                    </m:sSub>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14:m>
                  <m:oMath xmlns:m="http://schemas.openxmlformats.org/officeDocument/2006/math">
                    <m:r>
                      <a:rPr lang="vi-VN" sz="1200" i="1">
                        <a:effectLst/>
                        <a:latin typeface="Cambria Math" panose="02040503050406030204" pitchFamily="18" charset="0"/>
                        <a:cs typeface="Calibri" panose="020F0502020204030204" pitchFamily="34" charset="0"/>
                      </a:rPr>
                      <m:t>𝑓</m:t>
                    </m:r>
                  </m:oMath>
                </a14:m>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Choice>
        <mc:Fallback xmlns="">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𝜙(𝑥)</a:t>
                </a:r>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𝜙</a:t>
                </a:r>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𝑈(𝜽)</a:t>
                </a:r>
                <a:r>
                  <a:rPr lang="vi-VN" sz="1200">
                    <a:effectLst/>
                    <a:latin typeface="Calibri" panose="020F0502020204030204" pitchFamily="34" charset="0"/>
                    <a:cs typeface="Calibri" panose="020F0502020204030204" pitchFamily="34" charset="0"/>
                  </a:rPr>
                  <a:t> tác động và trả về </a:t>
                </a:r>
                <a:r>
                  <a:rPr lang="vi-VN" sz="1200" i="0">
                    <a:effectLst/>
                    <a:latin typeface="Cambria Math" panose="02040503050406030204" pitchFamily="18" charset="0"/>
                    <a:cs typeface="Calibri" panose="020F0502020204030204" pitchFamily="34" charset="0"/>
                  </a:rPr>
                  <a:t>𝑈(𝜽)𝑈𝜙(𝑥)</a:t>
                </a:r>
                <a:r>
                  <a:rPr lang="vi-VN" sz="1200" b="0" i="0">
                    <a:effectLst/>
                    <a:latin typeface="Cambria Math" panose="02040503050406030204" pitchFamily="18"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|0⟩</a:t>
                </a:r>
                <a:r>
                  <a:rPr lang="vi-VN" sz="1200" b="0" i="0">
                    <a:effectLst/>
                    <a:latin typeface="Cambria Math" panose="02040503050406030204" pitchFamily="18" charset="0"/>
                    <a:cs typeface="Calibri" panose="020F0502020204030204" pitchFamily="34" charset="0"/>
                  </a:rPr>
                  <a:t>^(</a:t>
                </a:r>
                <a:r>
                  <a:rPr lang="vi-VN" sz="1200" i="0">
                    <a:latin typeface="Cambria Math" panose="02040503050406030204" pitchFamily="18" charset="0"/>
                    <a:cs typeface="Calibri" panose="020F0502020204030204" pitchFamily="34" charset="0"/>
                  </a:rPr>
                  <a:t>⊗(𝑛+𝑚) </a:t>
                </a:r>
                <a:r>
                  <a:rPr lang="vi-VN" sz="1200" b="0" i="0">
                    <a:effectLst/>
                    <a:latin typeface="Cambria Math" panose="02040503050406030204" pitchFamily="18" charset="0"/>
                    <a:cs typeface="Calibri" panose="020F0502020204030204" pitchFamily="34" charset="0"/>
                  </a:rPr>
                  <a:t>)</a:t>
                </a:r>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{𝑀</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𝑖}</a:t>
                </a:r>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r>
                  <a:rPr lang="vi-VN" sz="1200" i="0">
                    <a:effectLst/>
                    <a:latin typeface="Cambria Math" panose="02040503050406030204" pitchFamily="18" charset="0"/>
                    <a:cs typeface="Calibri" panose="020F0502020204030204" pitchFamily="34" charset="0"/>
                  </a:rPr>
                  <a:t>𝑓</a:t>
                </a:r>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Fallback>
      </mc:AlternateContent>
      <p:sp>
        <p:nvSpPr>
          <p:cNvPr id="4" name="Slide Number Placeholder 3"/>
          <p:cNvSpPr>
            <a:spLocks noGrp="1"/>
          </p:cNvSpPr>
          <p:nvPr>
            <p:ph type="sldNum" sz="quarter" idx="5"/>
          </p:nvPr>
        </p:nvSpPr>
        <p:spPr/>
        <p:txBody>
          <a:bodyPr/>
          <a:lstStyle/>
          <a:p>
            <a:fld id="{89C9BFFF-DB5C-C647-BABC-3A750988F3DE}" type="slidenum">
              <a:rPr lang="en-VN"/>
              <a:t>39</a:t>
            </a:fld>
            <a:endParaRPr lang="en-VN"/>
          </a:p>
        </p:txBody>
      </p:sp>
    </p:spTree>
    <p:extLst>
      <p:ext uri="{BB962C8B-B14F-4D97-AF65-F5344CB8AC3E}">
        <p14:creationId xmlns:p14="http://schemas.microsoft.com/office/powerpoint/2010/main" val="1860490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VN"/>
                  <a:t>Parameterized quantum circuit : mạch lượng tử có chứa tham số</a:t>
                </a:r>
              </a:p>
              <a:p>
                <a:r>
                  <a:rPr lang="en-VN"/>
                  <a:t>parameter-shift rule : phương pháp tính đạo hàm cho tham số thứ </a:t>
                </a:r>
                <a:r>
                  <a:rPr lang="en-US"/>
                  <a:t>I</a:t>
                </a:r>
                <a:endParaRPr lang="en-VN"/>
              </a:p>
              <a:p>
                <a:r>
                  <a:rPr lang="en-VN"/>
                  <a:t>Quantum Natural Gradient: đạo hàm có nhân với ma trận G được gọi là tensor metric, ma trận G tương đương phép biến đổi cơ sở.</a:t>
                </a:r>
              </a:p>
              <a:p>
                <a:pPr marL="0" marR="0" lvl="0" indent="0" algn="l" defTabSz="914400" rtl="0" eaLnBrk="1" fontAlgn="auto" latinLnBrk="0" hangingPunct="1">
                  <a:lnSpc>
                    <a:spcPct val="100000"/>
                  </a:lnSpc>
                  <a:spcBef>
                    <a:spcPts val="0"/>
                  </a:spcBef>
                  <a:spcAft>
                    <a:spcPts val="0"/>
                  </a:spcAft>
                  <a:buClrTx/>
                  <a:buSzTx/>
                  <a:buFontTx/>
                  <a:buNone/>
                  <a:tabLst/>
                  <a:defRPr/>
                </a:pPr>
                <a:r>
                  <a:rPr lang="en-VN"/>
                  <a:t>Expectation value </a:t>
                </a:r>
                <a14:m>
                  <m:oMath xmlns:m="http://schemas.openxmlformats.org/officeDocument/2006/math">
                    <m:r>
                      <a:rPr lang="vi-VN" b="0" i="1">
                        <a:latin typeface="Cambria Math" panose="02040503050406030204" pitchFamily="18" charset="0"/>
                      </a:rPr>
                      <m:t>⟨</m:t>
                    </m:r>
                    <m:r>
                      <a:rPr lang="vi-VN" b="0" i="1">
                        <a:latin typeface="Cambria Math" panose="02040503050406030204" pitchFamily="18" charset="0"/>
                      </a:rPr>
                      <m:t>𝜓</m:t>
                    </m:r>
                    <m:d>
                      <m:dPr>
                        <m:begChr m:val="|"/>
                        <m:endChr m:val="|"/>
                        <m:ctrlPr>
                          <a:rPr lang="vi-VN" b="0" i="1">
                            <a:latin typeface="Cambria Math" panose="02040503050406030204" pitchFamily="18" charset="0"/>
                          </a:rPr>
                        </m:ctrlPr>
                      </m:dPr>
                      <m:e>
                        <m:r>
                          <m:rPr>
                            <m:sty m:val="p"/>
                          </m:rPr>
                          <a:rPr lang="vi-VN" b="0" i="1">
                            <a:latin typeface="Cambria Math" panose="02040503050406030204" pitchFamily="18" charset="0"/>
                          </a:rPr>
                          <m:t>H</m:t>
                        </m:r>
                      </m:e>
                    </m:d>
                    <m:r>
                      <a:rPr lang="vi-VN" b="0" i="1">
                        <a:latin typeface="Cambria Math" panose="02040503050406030204" pitchFamily="18" charset="0"/>
                      </a:rPr>
                      <m:t>𝜓</m:t>
                    </m:r>
                    <m:r>
                      <a:rPr lang="vi-VN" b="0" i="1">
                        <a:latin typeface="Cambria Math" panose="02040503050406030204" pitchFamily="18" charset="0"/>
                      </a:rPr>
                      <m:t>⟩</m:t>
                    </m:r>
                  </m:oMath>
                </a14:m>
                <a:r>
                  <a:rPr lang="en-VN"/>
                  <a:t>: giá trị kì vọng của một Hamiltonian, H là bài toán đang giải quyết.</a:t>
                </a:r>
              </a:p>
              <a:p>
                <a:endParaRPr lang="en-VN"/>
              </a:p>
            </p:txBody>
          </p:sp>
        </mc:Choice>
        <mc:Fallback xmlns="">
          <p:sp>
            <p:nvSpPr>
              <p:cNvPr id="3" name="Notes Placeholder 2"/>
              <p:cNvSpPr>
                <a:spLocks noGrp="1"/>
              </p:cNvSpPr>
              <p:nvPr>
                <p:ph type="body" idx="1"/>
              </p:nvPr>
            </p:nvSpPr>
            <p:spPr/>
            <p:txBody>
              <a:bodyPr/>
              <a:lstStyle/>
              <a:p>
                <a:r>
                  <a:rPr lang="en-VN"/>
                  <a:t>Parameterized quantum circuit : mạch lượng tử có chứa tham số</a:t>
                </a:r>
              </a:p>
              <a:p>
                <a:r>
                  <a:rPr lang="en-VN"/>
                  <a:t>parameter-shift rule : phương pháp tính đạo hàm cho tham số thứ </a:t>
                </a:r>
                <a:r>
                  <a:rPr lang="en-US"/>
                  <a:t>I</a:t>
                </a:r>
                <a:endParaRPr lang="en-VN"/>
              </a:p>
              <a:p>
                <a:r>
                  <a:rPr lang="en-VN"/>
                  <a:t>Quantum Natural Gradient: đạo hàm có nhân với ma trận G được gọi là tensor metric, ma trận G tương đương phép biến đổi cơ sở.</a:t>
                </a:r>
              </a:p>
              <a:p>
                <a:pPr marL="0" marR="0" lvl="0" indent="0" algn="l" defTabSz="914400" rtl="0" eaLnBrk="1" fontAlgn="auto" latinLnBrk="0" hangingPunct="1">
                  <a:lnSpc>
                    <a:spcPct val="100000"/>
                  </a:lnSpc>
                  <a:spcBef>
                    <a:spcPts val="0"/>
                  </a:spcBef>
                  <a:spcAft>
                    <a:spcPts val="0"/>
                  </a:spcAft>
                  <a:buClrTx/>
                  <a:buSzTx/>
                  <a:buFontTx/>
                  <a:buNone/>
                  <a:tabLst/>
                  <a:defRPr/>
                </a:pPr>
                <a:r>
                  <a:rPr lang="en-VN"/>
                  <a:t>Expectation value </a:t>
                </a:r>
                <a:r>
                  <a:rPr lang="vi-VN" b="0" i="0">
                    <a:latin typeface="Cambria Math" panose="02040503050406030204" pitchFamily="18" charset="0"/>
                  </a:rPr>
                  <a:t>⟨𝜓|H|𝜓⟩</a:t>
                </a:r>
                <a:r>
                  <a:rPr lang="en-VN"/>
                  <a:t>: giá trị kì vọng của một Hamiltonian, H là bài toán đang giải quyết.</a:t>
                </a:r>
              </a:p>
              <a:p>
                <a:endParaRPr lang="en-VN"/>
              </a:p>
            </p:txBody>
          </p:sp>
        </mc:Fallback>
      </mc:AlternateContent>
      <p:sp>
        <p:nvSpPr>
          <p:cNvPr id="4" name="Slide Number Placeholder 3"/>
          <p:cNvSpPr>
            <a:spLocks noGrp="1"/>
          </p:cNvSpPr>
          <p:nvPr>
            <p:ph type="sldNum" sz="quarter" idx="5"/>
          </p:nvPr>
        </p:nvSpPr>
        <p:spPr/>
        <p:txBody>
          <a:bodyPr/>
          <a:lstStyle/>
          <a:p>
            <a:fld id="{F02A4BF2-330F-0041-B456-2AF550CE6FFE}" type="slidenum">
              <a:rPr lang="en-VN"/>
              <a:t>41</a:t>
            </a:fld>
            <a:endParaRPr lang="en-VN"/>
          </a:p>
        </p:txBody>
      </p:sp>
    </p:spTree>
    <p:extLst>
      <p:ext uri="{BB962C8B-B14F-4D97-AF65-F5344CB8AC3E}">
        <p14:creationId xmlns:p14="http://schemas.microsoft.com/office/powerpoint/2010/main" val="3024584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First we compute the power (W) as loss function on quantum computer, then compute the gradient, also the new parameter on model.</a:t>
            </a:r>
          </a:p>
          <a:p>
            <a:r>
              <a:rPr lang="en-VN"/>
              <a:t>Then feed it again into quantum computer and run until got the best power values.</a:t>
            </a:r>
          </a:p>
        </p:txBody>
      </p:sp>
      <p:sp>
        <p:nvSpPr>
          <p:cNvPr id="4" name="Slide Number Placeholder 3"/>
          <p:cNvSpPr>
            <a:spLocks noGrp="1"/>
          </p:cNvSpPr>
          <p:nvPr>
            <p:ph type="sldNum" sz="quarter" idx="5"/>
          </p:nvPr>
        </p:nvSpPr>
        <p:spPr/>
        <p:txBody>
          <a:bodyPr/>
          <a:lstStyle/>
          <a:p>
            <a:fld id="{D5185723-9913-4F02-B630-868413D77CE4}" type="slidenum">
              <a:rPr lang="en-US" smtClean="0"/>
              <a:t>45</a:t>
            </a:fld>
            <a:endParaRPr lang="en-US"/>
          </a:p>
        </p:txBody>
      </p:sp>
    </p:spTree>
    <p:extLst>
      <p:ext uri="{BB962C8B-B14F-4D97-AF65-F5344CB8AC3E}">
        <p14:creationId xmlns:p14="http://schemas.microsoft.com/office/powerpoint/2010/main" val="1754245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Mô hình QNN, trong đó lớp Convolutional được thay bằng lớp Quanvolutional (Quantum convolutional), lớp này ít tham số hơn, độ phức tạp tính toán thấp hơn và extract feature tốt hơn</a:t>
            </a:r>
          </a:p>
        </p:txBody>
      </p:sp>
      <p:sp>
        <p:nvSpPr>
          <p:cNvPr id="4" name="Slide Number Placeholder 3"/>
          <p:cNvSpPr>
            <a:spLocks noGrp="1"/>
          </p:cNvSpPr>
          <p:nvPr>
            <p:ph type="sldNum" sz="quarter" idx="5"/>
          </p:nvPr>
        </p:nvSpPr>
        <p:spPr/>
        <p:txBody>
          <a:bodyPr/>
          <a:lstStyle/>
          <a:p>
            <a:fld id="{F02A4BF2-330F-0041-B456-2AF550CE6FFE}" type="slidenum">
              <a:rPr lang="en-VN"/>
              <a:t>46</a:t>
            </a:fld>
            <a:endParaRPr lang="en-VN"/>
          </a:p>
        </p:txBody>
      </p:sp>
    </p:spTree>
    <p:extLst>
      <p:ext uri="{BB962C8B-B14F-4D97-AF65-F5344CB8AC3E}">
        <p14:creationId xmlns:p14="http://schemas.microsoft.com/office/powerpoint/2010/main" val="93388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Mô hình QNN, trong đó lớp Convolutional được thay bằng lớp Quanvolutional (Quantum convolutional), lớp này ít tham số hơn, độ phức tạp tính toán thấp hơn và extract feature tốt hơn</a:t>
            </a:r>
          </a:p>
        </p:txBody>
      </p:sp>
      <p:sp>
        <p:nvSpPr>
          <p:cNvPr id="4" name="Slide Number Placeholder 3"/>
          <p:cNvSpPr>
            <a:spLocks noGrp="1"/>
          </p:cNvSpPr>
          <p:nvPr>
            <p:ph type="sldNum" sz="quarter" idx="5"/>
          </p:nvPr>
        </p:nvSpPr>
        <p:spPr/>
        <p:txBody>
          <a:bodyPr/>
          <a:lstStyle/>
          <a:p>
            <a:fld id="{F02A4BF2-330F-0041-B456-2AF550CE6FFE}" type="slidenum">
              <a:rPr lang="en-VN"/>
              <a:t>47</a:t>
            </a:fld>
            <a:endParaRPr lang="en-VN"/>
          </a:p>
        </p:txBody>
      </p:sp>
    </p:spTree>
    <p:extLst>
      <p:ext uri="{BB962C8B-B14F-4D97-AF65-F5344CB8AC3E}">
        <p14:creationId xmlns:p14="http://schemas.microsoft.com/office/powerpoint/2010/main" val="23908299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Encoder: chuẩn hoá trước khi đưa vào mạch vì trạng thái lượng tử tuân theo born rule.</a:t>
            </a:r>
          </a:p>
          <a:p>
            <a:r>
              <a:rPr lang="en-VN"/>
              <a:t>Operator: ko biết rõ nên sắp xếp các cổng trong mạch ntn nên thường xuyên sử dụng các mạch có cấu trúc dạng graph.</a:t>
            </a:r>
          </a:p>
          <a:p>
            <a:r>
              <a:rPr lang="en-VN"/>
              <a:t>Measure: thường chỉ lấy được p_0000, nếu muốn lấy tất cả các p thì phải sử dụng quantum tomography</a:t>
            </a:r>
          </a:p>
        </p:txBody>
      </p:sp>
      <p:sp>
        <p:nvSpPr>
          <p:cNvPr id="4" name="Slide Number Placeholder 3"/>
          <p:cNvSpPr>
            <a:spLocks noGrp="1"/>
          </p:cNvSpPr>
          <p:nvPr>
            <p:ph type="sldNum" sz="quarter" idx="5"/>
          </p:nvPr>
        </p:nvSpPr>
        <p:spPr/>
        <p:txBody>
          <a:bodyPr/>
          <a:lstStyle/>
          <a:p>
            <a:fld id="{F02A4BF2-330F-0041-B456-2AF550CE6FFE}" type="slidenum">
              <a:rPr lang="en-VN"/>
              <a:t>52</a:t>
            </a:fld>
            <a:endParaRPr lang="en-VN"/>
          </a:p>
        </p:txBody>
      </p:sp>
    </p:spTree>
    <p:extLst>
      <p:ext uri="{BB962C8B-B14F-4D97-AF65-F5344CB8AC3E}">
        <p14:creationId xmlns:p14="http://schemas.microsoft.com/office/powerpoint/2010/main" val="3705600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Encoder: chuẩn hoá trước khi đưa vào mạch vì trạng thái lượng tử tuân theo born rule.</a:t>
            </a:r>
          </a:p>
          <a:p>
            <a:r>
              <a:rPr lang="en-VN"/>
              <a:t>Operator: ko biết rõ nên sắp xếp các cổng trong mạch ntn nên thường xuyên sử dụng các mạch có cấu trúc dạng graph.</a:t>
            </a:r>
          </a:p>
          <a:p>
            <a:r>
              <a:rPr lang="en-VN"/>
              <a:t>Measure: thường chỉ lấy được p_0000, nếu muốn lấy tất cả các p thì phải sử dụng quantum tomography</a:t>
            </a:r>
          </a:p>
        </p:txBody>
      </p:sp>
      <p:sp>
        <p:nvSpPr>
          <p:cNvPr id="4" name="Slide Number Placeholder 3"/>
          <p:cNvSpPr>
            <a:spLocks noGrp="1"/>
          </p:cNvSpPr>
          <p:nvPr>
            <p:ph type="sldNum" sz="quarter" idx="5"/>
          </p:nvPr>
        </p:nvSpPr>
        <p:spPr/>
        <p:txBody>
          <a:bodyPr/>
          <a:lstStyle/>
          <a:p>
            <a:fld id="{F02A4BF2-330F-0041-B456-2AF550CE6FFE}" type="slidenum">
              <a:rPr lang="en-VN"/>
              <a:t>53</a:t>
            </a:fld>
            <a:endParaRPr lang="en-VN"/>
          </a:p>
        </p:txBody>
      </p:sp>
    </p:spTree>
    <p:extLst>
      <p:ext uri="{BB962C8B-B14F-4D97-AF65-F5344CB8AC3E}">
        <p14:creationId xmlns:p14="http://schemas.microsoft.com/office/powerpoint/2010/main" val="3788733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vi-VN"/>
              <a:t>Bấm để sửa kiểu tiêu đề Bản cái</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p:txBody>
          <a:bodyPr/>
          <a:lstStyle/>
          <a:p>
            <a:fld id="{DA395B89-9C57-C14E-8BE0-AB1459039729}" type="datetime1">
              <a:t>29/3/26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2201449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6466417" cy="994172"/>
          </a:xfrm>
        </p:spPr>
        <p:txBody>
          <a:bodyPr/>
          <a:lstStyle/>
          <a:p>
            <a:r>
              <a:rPr lang="vi-VN"/>
              <a:t>Bấm để sửa kiểu tiêu đề Bản cái</a:t>
            </a:r>
            <a:endParaRPr lang="en-US" dirty="0"/>
          </a:p>
        </p:txBody>
      </p:sp>
      <p:sp>
        <p:nvSpPr>
          <p:cNvPr id="3" name="Content Placeholder 2"/>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5E33BEF5-6A3E-D848-998D-041D8EC5FE95}" type="datetime1">
              <a:t>29/3/26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a:xfrm>
            <a:off x="8013700" y="4767263"/>
            <a:ext cx="501650" cy="273844"/>
          </a:xfrm>
        </p:spPr>
        <p:txBody>
          <a:bodyPr/>
          <a:lstStyle/>
          <a:p>
            <a:fld id="{6A45828D-F580-42DE-B77E-860980F07F32}" type="slidenum">
              <a:rPr lang="vi-VN" smtClean="0"/>
              <a:pPr/>
              <a:t>‹#›</a:t>
            </a:fld>
            <a:r>
              <a:rPr lang="en-US"/>
              <a:t>/80</a:t>
            </a:r>
            <a:endParaRPr lang="vi-VN"/>
          </a:p>
        </p:txBody>
      </p:sp>
      <p:pic>
        <p:nvPicPr>
          <p:cNvPr id="8" name="Picture 7" descr="A black and white logo with a brain&#10;&#10;AI-generated content may be incorrect.">
            <a:extLst>
              <a:ext uri="{FF2B5EF4-FFF2-40B4-BE49-F238E27FC236}">
                <a16:creationId xmlns:a16="http://schemas.microsoft.com/office/drawing/2014/main" id="{7511B8F9-11DA-9561-46FF-8A03FC3BF2A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5521" y="210997"/>
            <a:ext cx="567102" cy="738414"/>
          </a:xfrm>
          <a:prstGeom prst="rect">
            <a:avLst/>
          </a:prstGeom>
        </p:spPr>
      </p:pic>
    </p:spTree>
    <p:extLst>
      <p:ext uri="{BB962C8B-B14F-4D97-AF65-F5344CB8AC3E}">
        <p14:creationId xmlns:p14="http://schemas.microsoft.com/office/powerpoint/2010/main" val="3716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vi-VN"/>
              <a:t>Bấm để sửa kiểu tiêu đề Bản cái</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7BAA0ED7-88D8-FA49-AAF2-E08BE54B8ECF}" type="datetime1">
              <a:t>29/3/26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761326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30B95433-F6FA-B04C-92E9-2306169DDF2C}" type="datetime1">
              <a:t>29/3/26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647070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vi-VN"/>
              <a:t>Bấm để sửa kiểu tiêu đề Bản cái</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a:t>Bấm để chỉnh sửa kiểu văn bản của Bản cái</a:t>
            </a:r>
          </a:p>
        </p:txBody>
      </p:sp>
      <p:sp>
        <p:nvSpPr>
          <p:cNvPr id="4" name="Content Placeholder 3"/>
          <p:cNvSpPr>
            <a:spLocks noGrp="1"/>
          </p:cNvSpPr>
          <p:nvPr>
            <p:ph sz="half" idx="2"/>
          </p:nvPr>
        </p:nvSpPr>
        <p:spPr>
          <a:xfrm>
            <a:off x="629842" y="1878806"/>
            <a:ext cx="3868340" cy="2763441"/>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a:t>Bấm để chỉnh sửa kiểu văn bản của Bản cái</a:t>
            </a:r>
          </a:p>
        </p:txBody>
      </p:sp>
      <p:sp>
        <p:nvSpPr>
          <p:cNvPr id="6" name="Content Placeholder 5"/>
          <p:cNvSpPr>
            <a:spLocks noGrp="1"/>
          </p:cNvSpPr>
          <p:nvPr>
            <p:ph sz="quarter" idx="4"/>
          </p:nvPr>
        </p:nvSpPr>
        <p:spPr>
          <a:xfrm>
            <a:off x="4629150" y="1878806"/>
            <a:ext cx="3887391" cy="2763441"/>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7CFDDA64-F76A-3E4C-81BE-88283DEAB4F5}" type="datetime1">
              <a:t>29/3/26</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4132734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Date Placeholder 2"/>
          <p:cNvSpPr>
            <a:spLocks noGrp="1"/>
          </p:cNvSpPr>
          <p:nvPr>
            <p:ph type="dt" sz="half" idx="10"/>
          </p:nvPr>
        </p:nvSpPr>
        <p:spPr/>
        <p:txBody>
          <a:bodyPr/>
          <a:lstStyle/>
          <a:p>
            <a:fld id="{97985755-E611-CE45-9386-D6289B5E1515}" type="datetime1">
              <a:t>29/3/26</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204983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1BE40-7D77-D349-8EEF-16E4FD0330E1}" type="datetime1">
              <a:t>29/3/26</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88536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vi-VN"/>
              <a:t>Bấm để sửa kiểu tiêu đề Bản cái</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982D3C70-B4B3-0B42-BD20-D8F6B87A1AE2}" type="datetime1">
              <a:t>29/3/26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1686434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vi-VN"/>
              <a:t>Bấm biểu tượng để thêm hình ảnh</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FBAB98C1-DCEF-1F42-8106-779581CAB3C2}" type="datetime1">
              <a:t>29/3/26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516455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Vertical Text Placeholder 2"/>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F209B61-39E5-B548-965E-E9C52CAA5990}" type="datetime1">
              <a:t>29/3/26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120099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vi-VN"/>
              <a:t>Bấm để sửa kiểu tiêu đề Bản cái</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05B0B9CA-3E68-BC4C-AC3C-24D8CF60E5D3}" type="datetime1">
              <a:t>29/3/26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1441636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vi-VN"/>
              <a:t>Bấm để sửa kiểu tiêu đề Bản cái</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FE70D67-5D6D-2640-A08F-B8B6B255B5E3}" type="datetime1">
              <a:t>29/3/26</a:t>
            </a:fld>
            <a:endParaRPr lang="vi-V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A45828D-F580-42DE-B77E-860980F07F32}" type="slidenum">
              <a:rPr lang="vi-VN" smtClean="0"/>
              <a:pPr/>
              <a:t>‹#›</a:t>
            </a:fld>
            <a:r>
              <a:rPr lang="en-US"/>
              <a:t>/80</a:t>
            </a:r>
            <a:endParaRPr lang="vi-VN"/>
          </a:p>
        </p:txBody>
      </p:sp>
    </p:spTree>
    <p:extLst>
      <p:ext uri="{BB962C8B-B14F-4D97-AF65-F5344CB8AC3E}">
        <p14:creationId xmlns:p14="http://schemas.microsoft.com/office/powerpoint/2010/main" val="29474973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18" Type="http://schemas.openxmlformats.org/officeDocument/2006/relationships/image" Target="../media/image139.png"/><Relationship Id="rId3" Type="http://schemas.openxmlformats.org/officeDocument/2006/relationships/image" Target="../media/image124.png"/><Relationship Id="rId21" Type="http://schemas.openxmlformats.org/officeDocument/2006/relationships/image" Target="../media/image142.pn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8.png"/><Relationship Id="rId2" Type="http://schemas.openxmlformats.org/officeDocument/2006/relationships/image" Target="../media/image123.png"/><Relationship Id="rId16" Type="http://schemas.openxmlformats.org/officeDocument/2006/relationships/image" Target="../media/image137.png"/><Relationship Id="rId20" Type="http://schemas.openxmlformats.org/officeDocument/2006/relationships/image" Target="../media/image141.png"/><Relationship Id="rId1" Type="http://schemas.openxmlformats.org/officeDocument/2006/relationships/slideLayout" Target="../slideLayouts/slideLayout2.xml"/><Relationship Id="rId6" Type="http://schemas.openxmlformats.org/officeDocument/2006/relationships/image" Target="../media/image127.png"/><Relationship Id="rId11" Type="http://schemas.openxmlformats.org/officeDocument/2006/relationships/image" Target="../media/image132.png"/><Relationship Id="rId5" Type="http://schemas.openxmlformats.org/officeDocument/2006/relationships/image" Target="../media/image126.png"/><Relationship Id="rId15" Type="http://schemas.openxmlformats.org/officeDocument/2006/relationships/image" Target="../media/image136.png"/><Relationship Id="rId10" Type="http://schemas.openxmlformats.org/officeDocument/2006/relationships/image" Target="../media/image131.png"/><Relationship Id="rId19" Type="http://schemas.openxmlformats.org/officeDocument/2006/relationships/image" Target="../media/image140.png"/><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image" Target="../media/image13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8.png"/><Relationship Id="rId3" Type="http://schemas.openxmlformats.org/officeDocument/2006/relationships/image" Target="../media/image6.png"/><Relationship Id="rId21" Type="http://schemas.openxmlformats.org/officeDocument/2006/relationships/image" Target="../media/image23.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7.png"/><Relationship Id="rId2" Type="http://schemas.openxmlformats.org/officeDocument/2006/relationships/image" Target="../media/image5.png"/><Relationship Id="rId16" Type="http://schemas.openxmlformats.org/officeDocument/2006/relationships/image" Target="../media/image19.png"/><Relationship Id="rId20" Type="http://schemas.openxmlformats.org/officeDocument/2006/relationships/hyperlink" Target="https://journals.aps.org/pra/abstract/10.1103/PhysRevA.93.032318" TargetMode="Externa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6.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5.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4.png"/><Relationship Id="rId27"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950.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110.png"/><Relationship Id="rId3" Type="http://schemas.openxmlformats.org/officeDocument/2006/relationships/image" Target="../media/image460.png"/><Relationship Id="rId7" Type="http://schemas.openxmlformats.org/officeDocument/2006/relationships/image" Target="../media/image50.png"/><Relationship Id="rId12" Type="http://schemas.openxmlformats.org/officeDocument/2006/relationships/image" Target="../media/image60.png"/><Relationship Id="rId2" Type="http://schemas.openxmlformats.org/officeDocument/2006/relationships/image" Target="../media/image375.png"/><Relationship Id="rId1" Type="http://schemas.openxmlformats.org/officeDocument/2006/relationships/slideLayout" Target="../slideLayouts/slideLayout2.xml"/><Relationship Id="rId6" Type="http://schemas.openxmlformats.org/officeDocument/2006/relationships/image" Target="../media/image4910.png"/><Relationship Id="rId11" Type="http://schemas.openxmlformats.org/officeDocument/2006/relationships/image" Target="../media/image57.png"/><Relationship Id="rId5" Type="http://schemas.openxmlformats.org/officeDocument/2006/relationships/image" Target="../media/image4810.png"/><Relationship Id="rId10" Type="http://schemas.openxmlformats.org/officeDocument/2006/relationships/image" Target="../media/image53.png"/><Relationship Id="rId4" Type="http://schemas.openxmlformats.org/officeDocument/2006/relationships/image" Target="../media/image470.png"/><Relationship Id="rId9" Type="http://schemas.openxmlformats.org/officeDocument/2006/relationships/image" Target="../media/image52.png"/><Relationship Id="rId14" Type="http://schemas.openxmlformats.org/officeDocument/2006/relationships/image" Target="../media/image79.png"/></Relationships>
</file>

<file path=ppt/slides/_rels/slide12.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91.png"/><Relationship Id="rId2" Type="http://schemas.openxmlformats.org/officeDocument/2006/relationships/image" Target="../media/image600.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38.png"/><Relationship Id="rId5" Type="http://schemas.openxmlformats.org/officeDocument/2006/relationships/image" Target="../media/image82.png"/><Relationship Id="rId15" Type="http://schemas.openxmlformats.org/officeDocument/2006/relationships/image" Target="../media/image94.png"/><Relationship Id="rId10" Type="http://schemas.openxmlformats.org/officeDocument/2006/relationships/image" Target="../media/image89.png"/><Relationship Id="rId4" Type="http://schemas.openxmlformats.org/officeDocument/2006/relationships/image" Target="../media/image81.png"/><Relationship Id="rId9" Type="http://schemas.openxmlformats.org/officeDocument/2006/relationships/image" Target="../media/image88.png"/><Relationship Id="rId1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6.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8" Type="http://schemas.openxmlformats.org/officeDocument/2006/relationships/image" Target="../media/image290.png"/><Relationship Id="rId13" Type="http://schemas.openxmlformats.org/officeDocument/2006/relationships/image" Target="../media/image295.png"/><Relationship Id="rId18" Type="http://schemas.openxmlformats.org/officeDocument/2006/relationships/image" Target="../media/image300.png"/><Relationship Id="rId3" Type="http://schemas.openxmlformats.org/officeDocument/2006/relationships/image" Target="../media/image59.png"/><Relationship Id="rId21" Type="http://schemas.openxmlformats.org/officeDocument/2006/relationships/image" Target="../media/image303.png"/><Relationship Id="rId7" Type="http://schemas.openxmlformats.org/officeDocument/2006/relationships/image" Target="../media/image289.png"/><Relationship Id="rId12" Type="http://schemas.openxmlformats.org/officeDocument/2006/relationships/image" Target="../media/image294.png"/><Relationship Id="rId17" Type="http://schemas.openxmlformats.org/officeDocument/2006/relationships/image" Target="../media/image299.png"/><Relationship Id="rId2" Type="http://schemas.openxmlformats.org/officeDocument/2006/relationships/image" Target="../media/image54.png"/><Relationship Id="rId16" Type="http://schemas.openxmlformats.org/officeDocument/2006/relationships/image" Target="../media/image298.png"/><Relationship Id="rId20" Type="http://schemas.openxmlformats.org/officeDocument/2006/relationships/image" Target="../media/image302.png"/><Relationship Id="rId1" Type="http://schemas.openxmlformats.org/officeDocument/2006/relationships/slideLayout" Target="../slideLayouts/slideLayout2.xml"/><Relationship Id="rId6" Type="http://schemas.openxmlformats.org/officeDocument/2006/relationships/image" Target="../media/image288.png"/><Relationship Id="rId11" Type="http://schemas.openxmlformats.org/officeDocument/2006/relationships/image" Target="../media/image293.png"/><Relationship Id="rId24" Type="http://schemas.openxmlformats.org/officeDocument/2006/relationships/image" Target="../media/image306.png"/><Relationship Id="rId5" Type="http://schemas.openxmlformats.org/officeDocument/2006/relationships/image" Target="../media/image287.png"/><Relationship Id="rId15" Type="http://schemas.openxmlformats.org/officeDocument/2006/relationships/image" Target="../media/image297.png"/><Relationship Id="rId23" Type="http://schemas.openxmlformats.org/officeDocument/2006/relationships/image" Target="../media/image305.png"/><Relationship Id="rId10" Type="http://schemas.openxmlformats.org/officeDocument/2006/relationships/image" Target="../media/image292.png"/><Relationship Id="rId19" Type="http://schemas.openxmlformats.org/officeDocument/2006/relationships/image" Target="../media/image301.png"/><Relationship Id="rId4" Type="http://schemas.openxmlformats.org/officeDocument/2006/relationships/image" Target="../media/image2860.png"/><Relationship Id="rId9" Type="http://schemas.openxmlformats.org/officeDocument/2006/relationships/image" Target="../media/image291.png"/><Relationship Id="rId14" Type="http://schemas.openxmlformats.org/officeDocument/2006/relationships/image" Target="../media/image296.png"/><Relationship Id="rId22" Type="http://schemas.openxmlformats.org/officeDocument/2006/relationships/image" Target="../media/image304.png"/></Relationships>
</file>

<file path=ppt/slides/_rels/slide19.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3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6.xml.rels><?xml version="1.0" encoding="UTF-8" standalone="yes"?>
<Relationships xmlns="http://schemas.openxmlformats.org/package/2006/relationships"><Relationship Id="rId3" Type="http://schemas.openxmlformats.org/officeDocument/2006/relationships/image" Target="../media/image519.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522.png"/><Relationship Id="rId5" Type="http://schemas.openxmlformats.org/officeDocument/2006/relationships/image" Target="../media/image521.png"/><Relationship Id="rId4" Type="http://schemas.openxmlformats.org/officeDocument/2006/relationships/image" Target="../media/image520.png"/></Relationships>
</file>

<file path=ppt/slides/_rels/slide27.xml.rels><?xml version="1.0" encoding="UTF-8" standalone="yes"?>
<Relationships xmlns="http://schemas.openxmlformats.org/package/2006/relationships"><Relationship Id="rId8" Type="http://schemas.openxmlformats.org/officeDocument/2006/relationships/image" Target="../media/image528.png"/><Relationship Id="rId13" Type="http://schemas.openxmlformats.org/officeDocument/2006/relationships/image" Target="../media/image533.png"/><Relationship Id="rId3" Type="http://schemas.openxmlformats.org/officeDocument/2006/relationships/image" Target="../media/image523.png"/><Relationship Id="rId7" Type="http://schemas.openxmlformats.org/officeDocument/2006/relationships/image" Target="../media/image527.png"/><Relationship Id="rId12" Type="http://schemas.openxmlformats.org/officeDocument/2006/relationships/image" Target="../media/image532.png"/><Relationship Id="rId2" Type="http://schemas.openxmlformats.org/officeDocument/2006/relationships/image" Target="../media/image67.png"/><Relationship Id="rId16" Type="http://schemas.openxmlformats.org/officeDocument/2006/relationships/hyperlink" Target="https://arxiv.org/abs/0806.3719" TargetMode="External"/><Relationship Id="rId1" Type="http://schemas.openxmlformats.org/officeDocument/2006/relationships/slideLayout" Target="../slideLayouts/slideLayout2.xml"/><Relationship Id="rId6" Type="http://schemas.openxmlformats.org/officeDocument/2006/relationships/image" Target="../media/image526.png"/><Relationship Id="rId11" Type="http://schemas.openxmlformats.org/officeDocument/2006/relationships/image" Target="../media/image531.png"/><Relationship Id="rId5" Type="http://schemas.openxmlformats.org/officeDocument/2006/relationships/image" Target="../media/image525.png"/><Relationship Id="rId15" Type="http://schemas.openxmlformats.org/officeDocument/2006/relationships/hyperlink" Target="https://arxiv.org/abs/2309.15642" TargetMode="External"/><Relationship Id="rId10" Type="http://schemas.openxmlformats.org/officeDocument/2006/relationships/image" Target="../media/image530.png"/><Relationship Id="rId4" Type="http://schemas.openxmlformats.org/officeDocument/2006/relationships/image" Target="../media/image524.png"/><Relationship Id="rId9" Type="http://schemas.openxmlformats.org/officeDocument/2006/relationships/image" Target="../media/image529.png"/><Relationship Id="rId14" Type="http://schemas.openxmlformats.org/officeDocument/2006/relationships/image" Target="../media/image534.png"/></Relationships>
</file>

<file path=ppt/slides/_rels/slide2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9.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71.gif"/><Relationship Id="rId13" Type="http://schemas.openxmlformats.org/officeDocument/2006/relationships/image" Target="../media/image1610.png"/><Relationship Id="rId18" Type="http://schemas.openxmlformats.org/officeDocument/2006/relationships/image" Target="../media/image210.png"/><Relationship Id="rId3" Type="http://schemas.openxmlformats.org/officeDocument/2006/relationships/image" Target="../media/image70.gif"/><Relationship Id="rId7" Type="http://schemas.openxmlformats.org/officeDocument/2006/relationships/image" Target="../media/image1010.png"/><Relationship Id="rId12" Type="http://schemas.openxmlformats.org/officeDocument/2006/relationships/image" Target="../media/image156.png"/><Relationship Id="rId2" Type="http://schemas.openxmlformats.org/officeDocument/2006/relationships/notesSlide" Target="../notesSlides/notesSlide10.xml"/><Relationship Id="rId16" Type="http://schemas.openxmlformats.org/officeDocument/2006/relationships/image" Target="../media/image1110.png"/><Relationship Id="rId1" Type="http://schemas.openxmlformats.org/officeDocument/2006/relationships/slideLayout" Target="../slideLayouts/slideLayout2.xml"/><Relationship Id="rId6" Type="http://schemas.openxmlformats.org/officeDocument/2006/relationships/image" Target="../media/image810.png"/><Relationship Id="rId5" Type="http://schemas.openxmlformats.org/officeDocument/2006/relationships/image" Target="../media/image710.png"/><Relationship Id="rId15" Type="http://schemas.openxmlformats.org/officeDocument/2006/relationships/image" Target="../media/image180.png"/><Relationship Id="rId10" Type="http://schemas.openxmlformats.org/officeDocument/2006/relationships/image" Target="../media/image160.png"/><Relationship Id="rId4" Type="http://schemas.openxmlformats.org/officeDocument/2006/relationships/image" Target="../media/image610.png"/><Relationship Id="rId9" Type="http://schemas.openxmlformats.org/officeDocument/2006/relationships/image" Target="../media/image72.gif"/><Relationship Id="rId14" Type="http://schemas.openxmlformats.org/officeDocument/2006/relationships/image" Target="../media/image170.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34.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10.png"/><Relationship Id="rId4" Type="http://schemas.openxmlformats.org/officeDocument/2006/relationships/image" Target="../media/image322.png"/></Relationships>
</file>

<file path=ppt/slides/_rels/slide35.xml.rels><?xml version="1.0" encoding="UTF-8" standalone="yes"?>
<Relationships xmlns="http://schemas.openxmlformats.org/package/2006/relationships"><Relationship Id="rId8" Type="http://schemas.openxmlformats.org/officeDocument/2006/relationships/image" Target="../media/image328.png"/><Relationship Id="rId13" Type="http://schemas.openxmlformats.org/officeDocument/2006/relationships/image" Target="../media/image331.png"/><Relationship Id="rId18" Type="http://schemas.openxmlformats.org/officeDocument/2006/relationships/image" Target="../media/image336.png"/><Relationship Id="rId3" Type="http://schemas.openxmlformats.org/officeDocument/2006/relationships/image" Target="../media/image319.png"/><Relationship Id="rId21" Type="http://schemas.openxmlformats.org/officeDocument/2006/relationships/image" Target="../media/image342.png"/><Relationship Id="rId7" Type="http://schemas.openxmlformats.org/officeDocument/2006/relationships/image" Target="../media/image323.png"/><Relationship Id="rId12" Type="http://schemas.openxmlformats.org/officeDocument/2006/relationships/image" Target="../media/image330.png"/><Relationship Id="rId17" Type="http://schemas.openxmlformats.org/officeDocument/2006/relationships/image" Target="../media/image335.png"/><Relationship Id="rId2" Type="http://schemas.openxmlformats.org/officeDocument/2006/relationships/notesSlide" Target="../notesSlides/notesSlide13.xml"/><Relationship Id="rId16" Type="http://schemas.openxmlformats.org/officeDocument/2006/relationships/image" Target="../media/image334.png"/><Relationship Id="rId20"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320.png"/><Relationship Id="rId11" Type="http://schemas.openxmlformats.org/officeDocument/2006/relationships/image" Target="../media/image327.png"/><Relationship Id="rId5" Type="http://schemas.openxmlformats.org/officeDocument/2006/relationships/image" Target="../media/image325.png"/><Relationship Id="rId15" Type="http://schemas.openxmlformats.org/officeDocument/2006/relationships/image" Target="../media/image333.png"/><Relationship Id="rId10" Type="http://schemas.openxmlformats.org/officeDocument/2006/relationships/image" Target="../media/image326.png"/><Relationship Id="rId19" Type="http://schemas.openxmlformats.org/officeDocument/2006/relationships/image" Target="../media/image337.png"/><Relationship Id="rId4" Type="http://schemas.openxmlformats.org/officeDocument/2006/relationships/image" Target="../media/image324.png"/><Relationship Id="rId9" Type="http://schemas.openxmlformats.org/officeDocument/2006/relationships/image" Target="../media/image329.png"/><Relationship Id="rId14" Type="http://schemas.openxmlformats.org/officeDocument/2006/relationships/image" Target="../media/image332.png"/></Relationships>
</file>

<file path=ppt/slides/_rels/slide3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3.gif"/><Relationship Id="rId4" Type="http://schemas.openxmlformats.org/officeDocument/2006/relationships/image" Target="../media/image344.png"/></Relationships>
</file>

<file path=ppt/slides/_rels/slide37.xml.rels><?xml version="1.0" encoding="UTF-8" standalone="yes"?>
<Relationships xmlns="http://schemas.openxmlformats.org/package/2006/relationships"><Relationship Id="rId8" Type="http://schemas.openxmlformats.org/officeDocument/2006/relationships/image" Target="../media/image349.png"/><Relationship Id="rId3" Type="http://schemas.openxmlformats.org/officeDocument/2006/relationships/image" Target="../media/image75.png"/><Relationship Id="rId7" Type="http://schemas.openxmlformats.org/officeDocument/2006/relationships/image" Target="../media/image348.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347.png"/><Relationship Id="rId11" Type="http://schemas.openxmlformats.org/officeDocument/2006/relationships/image" Target="../media/image352.png"/><Relationship Id="rId5" Type="http://schemas.openxmlformats.org/officeDocument/2006/relationships/image" Target="../media/image346.png"/><Relationship Id="rId10" Type="http://schemas.openxmlformats.org/officeDocument/2006/relationships/image" Target="../media/image351.png"/><Relationship Id="rId4" Type="http://schemas.openxmlformats.org/officeDocument/2006/relationships/image" Target="../media/image345.png"/><Relationship Id="rId9" Type="http://schemas.openxmlformats.org/officeDocument/2006/relationships/image" Target="../media/image350.png"/></Relationships>
</file>

<file path=ppt/slides/_rels/slide38.xml.rels><?xml version="1.0" encoding="UTF-8" standalone="yes"?>
<Relationships xmlns="http://schemas.openxmlformats.org/package/2006/relationships"><Relationship Id="rId8" Type="http://schemas.openxmlformats.org/officeDocument/2006/relationships/image" Target="../media/image359.png"/><Relationship Id="rId13" Type="http://schemas.openxmlformats.org/officeDocument/2006/relationships/image" Target="../media/image364.png"/><Relationship Id="rId3" Type="http://schemas.openxmlformats.org/officeDocument/2006/relationships/image" Target="../media/image354.png"/><Relationship Id="rId7" Type="http://schemas.openxmlformats.org/officeDocument/2006/relationships/image" Target="../media/image358.png"/><Relationship Id="rId12" Type="http://schemas.openxmlformats.org/officeDocument/2006/relationships/image" Target="../media/image363.png"/><Relationship Id="rId17" Type="http://schemas.openxmlformats.org/officeDocument/2006/relationships/image" Target="../media/image368.png"/><Relationship Id="rId2" Type="http://schemas.openxmlformats.org/officeDocument/2006/relationships/image" Target="../media/image353.png"/><Relationship Id="rId16" Type="http://schemas.openxmlformats.org/officeDocument/2006/relationships/image" Target="../media/image367.png"/><Relationship Id="rId1" Type="http://schemas.openxmlformats.org/officeDocument/2006/relationships/slideLayout" Target="../slideLayouts/slideLayout2.xml"/><Relationship Id="rId6" Type="http://schemas.openxmlformats.org/officeDocument/2006/relationships/image" Target="../media/image357.png"/><Relationship Id="rId11" Type="http://schemas.openxmlformats.org/officeDocument/2006/relationships/image" Target="../media/image362.png"/><Relationship Id="rId5" Type="http://schemas.openxmlformats.org/officeDocument/2006/relationships/image" Target="../media/image356.png"/><Relationship Id="rId15" Type="http://schemas.openxmlformats.org/officeDocument/2006/relationships/image" Target="../media/image366.png"/><Relationship Id="rId10" Type="http://schemas.openxmlformats.org/officeDocument/2006/relationships/image" Target="../media/image361.png"/><Relationship Id="rId4" Type="http://schemas.openxmlformats.org/officeDocument/2006/relationships/image" Target="../media/image355.png"/><Relationship Id="rId9" Type="http://schemas.openxmlformats.org/officeDocument/2006/relationships/image" Target="../media/image360.png"/><Relationship Id="rId14" Type="http://schemas.openxmlformats.org/officeDocument/2006/relationships/image" Target="../media/image365.png"/></Relationships>
</file>

<file path=ppt/slides/_rels/slide3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6.svg"/></Relationships>
</file>

<file path=ppt/slides/_rels/slide40.xml.rels><?xml version="1.0" encoding="UTF-8" standalone="yes"?>
<Relationships xmlns="http://schemas.openxmlformats.org/package/2006/relationships"><Relationship Id="rId8" Type="http://schemas.openxmlformats.org/officeDocument/2006/relationships/image" Target="../media/image3600.png"/><Relationship Id="rId13" Type="http://schemas.openxmlformats.org/officeDocument/2006/relationships/image" Target="../media/image3650.png"/><Relationship Id="rId18" Type="http://schemas.openxmlformats.org/officeDocument/2006/relationships/image" Target="../media/image370.png"/><Relationship Id="rId3" Type="http://schemas.openxmlformats.org/officeDocument/2006/relationships/image" Target="../media/image3550.png"/><Relationship Id="rId7" Type="http://schemas.openxmlformats.org/officeDocument/2006/relationships/image" Target="../media/image3590.png"/><Relationship Id="rId12" Type="http://schemas.openxmlformats.org/officeDocument/2006/relationships/image" Target="../media/image3640.png"/><Relationship Id="rId17" Type="http://schemas.openxmlformats.org/officeDocument/2006/relationships/image" Target="../media/image3690.png"/><Relationship Id="rId2" Type="http://schemas.openxmlformats.org/officeDocument/2006/relationships/image" Target="../media/image3540.png"/><Relationship Id="rId16" Type="http://schemas.openxmlformats.org/officeDocument/2006/relationships/image" Target="../media/image3680.png"/><Relationship Id="rId20" Type="http://schemas.openxmlformats.org/officeDocument/2006/relationships/image" Target="../media/image372.png"/><Relationship Id="rId1" Type="http://schemas.openxmlformats.org/officeDocument/2006/relationships/slideLayout" Target="../slideLayouts/slideLayout2.xml"/><Relationship Id="rId6" Type="http://schemas.openxmlformats.org/officeDocument/2006/relationships/image" Target="../media/image3580.png"/><Relationship Id="rId11" Type="http://schemas.openxmlformats.org/officeDocument/2006/relationships/image" Target="../media/image3630.png"/><Relationship Id="rId5" Type="http://schemas.openxmlformats.org/officeDocument/2006/relationships/image" Target="../media/image3570.png"/><Relationship Id="rId15" Type="http://schemas.openxmlformats.org/officeDocument/2006/relationships/image" Target="../media/image3670.png"/><Relationship Id="rId10" Type="http://schemas.openxmlformats.org/officeDocument/2006/relationships/image" Target="../media/image3620.png"/><Relationship Id="rId19" Type="http://schemas.openxmlformats.org/officeDocument/2006/relationships/image" Target="../media/image371.png"/><Relationship Id="rId4" Type="http://schemas.openxmlformats.org/officeDocument/2006/relationships/image" Target="../media/image3560.png"/><Relationship Id="rId9" Type="http://schemas.openxmlformats.org/officeDocument/2006/relationships/image" Target="../media/image3610.png"/><Relationship Id="rId14" Type="http://schemas.openxmlformats.org/officeDocument/2006/relationships/image" Target="../media/image3660.png"/></Relationships>
</file>

<file path=ppt/slides/_rels/slide41.xml.rels><?xml version="1.0" encoding="UTF-8" standalone="yes"?>
<Relationships xmlns="http://schemas.openxmlformats.org/package/2006/relationships"><Relationship Id="rId3" Type="http://schemas.openxmlformats.org/officeDocument/2006/relationships/image" Target="../media/image37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381.png"/><Relationship Id="rId13" Type="http://schemas.openxmlformats.org/officeDocument/2006/relationships/image" Target="../media/image386.png"/><Relationship Id="rId3" Type="http://schemas.openxmlformats.org/officeDocument/2006/relationships/image" Target="../media/image376.png"/><Relationship Id="rId7" Type="http://schemas.openxmlformats.org/officeDocument/2006/relationships/image" Target="../media/image380.png"/><Relationship Id="rId12" Type="http://schemas.openxmlformats.org/officeDocument/2006/relationships/image" Target="../media/image385.png"/><Relationship Id="rId2" Type="http://schemas.openxmlformats.org/officeDocument/2006/relationships/image" Target="../media/image90.png"/><Relationship Id="rId16" Type="http://schemas.openxmlformats.org/officeDocument/2006/relationships/image" Target="../media/image389.png"/><Relationship Id="rId1" Type="http://schemas.openxmlformats.org/officeDocument/2006/relationships/slideLayout" Target="../slideLayouts/slideLayout2.xml"/><Relationship Id="rId6" Type="http://schemas.openxmlformats.org/officeDocument/2006/relationships/image" Target="../media/image379.png"/><Relationship Id="rId11" Type="http://schemas.openxmlformats.org/officeDocument/2006/relationships/image" Target="../media/image384.png"/><Relationship Id="rId5" Type="http://schemas.openxmlformats.org/officeDocument/2006/relationships/image" Target="../media/image378.png"/><Relationship Id="rId15" Type="http://schemas.openxmlformats.org/officeDocument/2006/relationships/image" Target="../media/image388.png"/><Relationship Id="rId10" Type="http://schemas.openxmlformats.org/officeDocument/2006/relationships/image" Target="../media/image383.png"/><Relationship Id="rId4" Type="http://schemas.openxmlformats.org/officeDocument/2006/relationships/image" Target="../media/image377.png"/><Relationship Id="rId9" Type="http://schemas.openxmlformats.org/officeDocument/2006/relationships/image" Target="../media/image382.png"/><Relationship Id="rId14" Type="http://schemas.openxmlformats.org/officeDocument/2006/relationships/image" Target="../media/image387.png"/></Relationships>
</file>

<file path=ppt/slides/_rels/slide43.xml.rels><?xml version="1.0" encoding="UTF-8" standalone="yes"?>
<Relationships xmlns="http://schemas.openxmlformats.org/package/2006/relationships"><Relationship Id="rId8" Type="http://schemas.openxmlformats.org/officeDocument/2006/relationships/image" Target="../media/image393.png"/><Relationship Id="rId13" Type="http://schemas.openxmlformats.org/officeDocument/2006/relationships/image" Target="../media/image398.png"/><Relationship Id="rId3" Type="http://schemas.openxmlformats.org/officeDocument/2006/relationships/image" Target="../media/image390.png"/><Relationship Id="rId7" Type="http://schemas.openxmlformats.org/officeDocument/2006/relationships/image" Target="../media/image392.png"/><Relationship Id="rId12" Type="http://schemas.openxmlformats.org/officeDocument/2006/relationships/image" Target="../media/image397.png"/><Relationship Id="rId2" Type="http://schemas.openxmlformats.org/officeDocument/2006/relationships/image" Target="../media/image376.png"/><Relationship Id="rId1" Type="http://schemas.openxmlformats.org/officeDocument/2006/relationships/slideLayout" Target="../slideLayouts/slideLayout2.xml"/><Relationship Id="rId6" Type="http://schemas.openxmlformats.org/officeDocument/2006/relationships/image" Target="../media/image388.png"/><Relationship Id="rId11" Type="http://schemas.openxmlformats.org/officeDocument/2006/relationships/image" Target="../media/image396.png"/><Relationship Id="rId5" Type="http://schemas.openxmlformats.org/officeDocument/2006/relationships/image" Target="../media/image391.png"/><Relationship Id="rId15" Type="http://schemas.openxmlformats.org/officeDocument/2006/relationships/image" Target="../media/image400.png"/><Relationship Id="rId10" Type="http://schemas.openxmlformats.org/officeDocument/2006/relationships/image" Target="../media/image395.png"/><Relationship Id="rId4" Type="http://schemas.openxmlformats.org/officeDocument/2006/relationships/image" Target="../media/image379.png"/><Relationship Id="rId9" Type="http://schemas.openxmlformats.org/officeDocument/2006/relationships/image" Target="../media/image394.png"/><Relationship Id="rId14" Type="http://schemas.openxmlformats.org/officeDocument/2006/relationships/image" Target="../media/image93.png"/></Relationships>
</file>

<file path=ppt/slides/_rels/slide44.xml.rels><?xml version="1.0" encoding="UTF-8" standalone="yes"?>
<Relationships xmlns="http://schemas.openxmlformats.org/package/2006/relationships"><Relationship Id="rId8" Type="http://schemas.openxmlformats.org/officeDocument/2006/relationships/image" Target="../media/image407.png"/><Relationship Id="rId3" Type="http://schemas.openxmlformats.org/officeDocument/2006/relationships/image" Target="../media/image402.png"/><Relationship Id="rId7" Type="http://schemas.openxmlformats.org/officeDocument/2006/relationships/image" Target="../media/image406.pn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405.png"/><Relationship Id="rId5" Type="http://schemas.openxmlformats.org/officeDocument/2006/relationships/image" Target="../media/image404.png"/><Relationship Id="rId4" Type="http://schemas.openxmlformats.org/officeDocument/2006/relationships/image" Target="../media/image403.png"/></Relationships>
</file>

<file path=ppt/slides/_rels/slide45.xml.rels><?xml version="1.0" encoding="UTF-8" standalone="yes"?>
<Relationships xmlns="http://schemas.openxmlformats.org/package/2006/relationships"><Relationship Id="rId8" Type="http://schemas.openxmlformats.org/officeDocument/2006/relationships/image" Target="../media/image413.png"/><Relationship Id="rId13" Type="http://schemas.openxmlformats.org/officeDocument/2006/relationships/image" Target="../media/image418.png"/><Relationship Id="rId3" Type="http://schemas.openxmlformats.org/officeDocument/2006/relationships/image" Target="../media/image408.png"/><Relationship Id="rId7" Type="http://schemas.openxmlformats.org/officeDocument/2006/relationships/image" Target="../media/image412.png"/><Relationship Id="rId12" Type="http://schemas.openxmlformats.org/officeDocument/2006/relationships/image" Target="../media/image41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11.png"/><Relationship Id="rId11" Type="http://schemas.openxmlformats.org/officeDocument/2006/relationships/image" Target="../media/image416.png"/><Relationship Id="rId5" Type="http://schemas.openxmlformats.org/officeDocument/2006/relationships/image" Target="../media/image410.png"/><Relationship Id="rId15" Type="http://schemas.openxmlformats.org/officeDocument/2006/relationships/image" Target="../media/image420.png"/><Relationship Id="rId10" Type="http://schemas.openxmlformats.org/officeDocument/2006/relationships/image" Target="../media/image415.png"/><Relationship Id="rId4" Type="http://schemas.openxmlformats.org/officeDocument/2006/relationships/image" Target="../media/image409.png"/><Relationship Id="rId9" Type="http://schemas.openxmlformats.org/officeDocument/2006/relationships/image" Target="../media/image414.png"/><Relationship Id="rId14" Type="http://schemas.openxmlformats.org/officeDocument/2006/relationships/image" Target="../media/image96.png"/></Relationships>
</file>

<file path=ppt/slides/_rels/slide4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429.png"/><Relationship Id="rId13" Type="http://schemas.openxmlformats.org/officeDocument/2006/relationships/image" Target="../media/image434.png"/><Relationship Id="rId3" Type="http://schemas.openxmlformats.org/officeDocument/2006/relationships/image" Target="../media/image424.png"/><Relationship Id="rId7" Type="http://schemas.openxmlformats.org/officeDocument/2006/relationships/image" Target="../media/image428.png"/><Relationship Id="rId12" Type="http://schemas.openxmlformats.org/officeDocument/2006/relationships/image" Target="../media/image43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27.png"/><Relationship Id="rId11" Type="http://schemas.openxmlformats.org/officeDocument/2006/relationships/image" Target="../media/image432.png"/><Relationship Id="rId5" Type="http://schemas.openxmlformats.org/officeDocument/2006/relationships/image" Target="../media/image426.png"/><Relationship Id="rId10" Type="http://schemas.openxmlformats.org/officeDocument/2006/relationships/image" Target="../media/image431.png"/><Relationship Id="rId4" Type="http://schemas.openxmlformats.org/officeDocument/2006/relationships/image" Target="../media/image425.png"/><Relationship Id="rId9" Type="http://schemas.openxmlformats.org/officeDocument/2006/relationships/image" Target="../media/image430.png"/><Relationship Id="rId14" Type="http://schemas.openxmlformats.org/officeDocument/2006/relationships/image" Target="../media/image435.png"/></Relationships>
</file>

<file path=ppt/slides/_rels/slide48.xml.rels><?xml version="1.0" encoding="UTF-8" standalone="yes"?>
<Relationships xmlns="http://schemas.openxmlformats.org/package/2006/relationships"><Relationship Id="rId8" Type="http://schemas.openxmlformats.org/officeDocument/2006/relationships/image" Target="../media/image442.png"/><Relationship Id="rId3" Type="http://schemas.openxmlformats.org/officeDocument/2006/relationships/image" Target="../media/image437.png"/><Relationship Id="rId7" Type="http://schemas.openxmlformats.org/officeDocument/2006/relationships/image" Target="../media/image441.png"/><Relationship Id="rId2" Type="http://schemas.openxmlformats.org/officeDocument/2006/relationships/image" Target="../media/image436.png"/><Relationship Id="rId1" Type="http://schemas.openxmlformats.org/officeDocument/2006/relationships/slideLayout" Target="../slideLayouts/slideLayout2.xml"/><Relationship Id="rId6" Type="http://schemas.openxmlformats.org/officeDocument/2006/relationships/image" Target="../media/image440.png"/><Relationship Id="rId5" Type="http://schemas.openxmlformats.org/officeDocument/2006/relationships/image" Target="../media/image439.png"/><Relationship Id="rId4" Type="http://schemas.openxmlformats.org/officeDocument/2006/relationships/image" Target="../media/image438.png"/></Relationships>
</file>

<file path=ppt/slides/_rels/slide49.xml.rels><?xml version="1.0" encoding="UTF-8" standalone="yes"?>
<Relationships xmlns="http://schemas.openxmlformats.org/package/2006/relationships"><Relationship Id="rId8" Type="http://schemas.openxmlformats.org/officeDocument/2006/relationships/image" Target="../media/image449.png"/><Relationship Id="rId13" Type="http://schemas.openxmlformats.org/officeDocument/2006/relationships/image" Target="../media/image454.png"/><Relationship Id="rId18" Type="http://schemas.openxmlformats.org/officeDocument/2006/relationships/image" Target="../media/image459.png"/><Relationship Id="rId3" Type="http://schemas.openxmlformats.org/officeDocument/2006/relationships/image" Target="../media/image444.png"/><Relationship Id="rId7" Type="http://schemas.openxmlformats.org/officeDocument/2006/relationships/image" Target="../media/image448.png"/><Relationship Id="rId12" Type="http://schemas.openxmlformats.org/officeDocument/2006/relationships/image" Target="../media/image453.png"/><Relationship Id="rId17" Type="http://schemas.openxmlformats.org/officeDocument/2006/relationships/image" Target="../media/image458.png"/><Relationship Id="rId2" Type="http://schemas.openxmlformats.org/officeDocument/2006/relationships/image" Target="../media/image443.png"/><Relationship Id="rId16" Type="http://schemas.openxmlformats.org/officeDocument/2006/relationships/image" Target="../media/image457.png"/><Relationship Id="rId20" Type="http://schemas.openxmlformats.org/officeDocument/2006/relationships/image" Target="../media/image462.png"/><Relationship Id="rId1" Type="http://schemas.openxmlformats.org/officeDocument/2006/relationships/slideLayout" Target="../slideLayouts/slideLayout2.xml"/><Relationship Id="rId6" Type="http://schemas.openxmlformats.org/officeDocument/2006/relationships/image" Target="../media/image447.png"/><Relationship Id="rId11" Type="http://schemas.openxmlformats.org/officeDocument/2006/relationships/image" Target="../media/image452.png"/><Relationship Id="rId5" Type="http://schemas.openxmlformats.org/officeDocument/2006/relationships/image" Target="../media/image446.png"/><Relationship Id="rId15" Type="http://schemas.openxmlformats.org/officeDocument/2006/relationships/image" Target="../media/image456.png"/><Relationship Id="rId10" Type="http://schemas.openxmlformats.org/officeDocument/2006/relationships/image" Target="../media/image451.png"/><Relationship Id="rId19" Type="http://schemas.openxmlformats.org/officeDocument/2006/relationships/image" Target="../media/image461.png"/><Relationship Id="rId4" Type="http://schemas.openxmlformats.org/officeDocument/2006/relationships/image" Target="../media/image445.png"/><Relationship Id="rId9" Type="http://schemas.openxmlformats.org/officeDocument/2006/relationships/image" Target="../media/image450.png"/><Relationship Id="rId14" Type="http://schemas.openxmlformats.org/officeDocument/2006/relationships/image" Target="../media/image455.png"/></Relationships>
</file>

<file path=ppt/slides/_rels/slide50.xml.rels><?xml version="1.0" encoding="UTF-8" standalone="yes"?>
<Relationships xmlns="http://schemas.openxmlformats.org/package/2006/relationships"><Relationship Id="rId3" Type="http://schemas.openxmlformats.org/officeDocument/2006/relationships/image" Target="../media/image464.png"/><Relationship Id="rId2" Type="http://schemas.openxmlformats.org/officeDocument/2006/relationships/image" Target="../media/image463.png"/><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465.png"/></Relationships>
</file>

<file path=ppt/slides/_rels/slide51.xml.rels><?xml version="1.0" encoding="UTF-8" standalone="yes"?>
<Relationships xmlns="http://schemas.openxmlformats.org/package/2006/relationships"><Relationship Id="rId2" Type="http://schemas.openxmlformats.org/officeDocument/2006/relationships/image" Target="../media/image46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8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8CA5-BB6A-5EBC-38F7-2567029A8823}"/>
              </a:ext>
            </a:extLst>
          </p:cNvPr>
          <p:cNvSpPr>
            <a:spLocks noGrp="1"/>
          </p:cNvSpPr>
          <p:nvPr>
            <p:ph type="ctrTitle"/>
          </p:nvPr>
        </p:nvSpPr>
        <p:spPr>
          <a:xfrm>
            <a:off x="1077098" y="1293341"/>
            <a:ext cx="7372350" cy="1923394"/>
          </a:xfrm>
        </p:spPr>
        <p:txBody>
          <a:bodyPr anchor="t">
            <a:normAutofit fontScale="90000"/>
          </a:bodyPr>
          <a:lstStyle/>
          <a:p>
            <a:pPr algn="l"/>
            <a:r>
              <a:rPr lang="en-US" b="1"/>
              <a:t>AI for quantum</a:t>
            </a:r>
            <a:br>
              <a:rPr lang="en-US" b="1"/>
            </a:br>
            <a:r>
              <a:rPr lang="en-US" b="1"/>
              <a:t>&amp; Quantum for AI</a:t>
            </a:r>
            <a:br>
              <a:rPr lang="en-US" b="1"/>
            </a:br>
            <a:r>
              <a:rPr lang="en-US" b="1"/>
              <a:t>&amp; Quantum AI</a:t>
            </a:r>
            <a:endParaRPr lang="en-VN"/>
          </a:p>
        </p:txBody>
      </p:sp>
      <p:sp>
        <p:nvSpPr>
          <p:cNvPr id="3" name="Subtitle 2">
            <a:extLst>
              <a:ext uri="{FF2B5EF4-FFF2-40B4-BE49-F238E27FC236}">
                <a16:creationId xmlns:a16="http://schemas.microsoft.com/office/drawing/2014/main" id="{CC9A6EE0-2E06-0718-5C73-69B07081863B}"/>
              </a:ext>
            </a:extLst>
          </p:cNvPr>
          <p:cNvSpPr>
            <a:spLocks noGrp="1"/>
          </p:cNvSpPr>
          <p:nvPr>
            <p:ph type="subTitle" idx="1"/>
          </p:nvPr>
        </p:nvSpPr>
        <p:spPr>
          <a:xfrm>
            <a:off x="1143000" y="3311611"/>
            <a:ext cx="6858000" cy="1526551"/>
          </a:xfrm>
        </p:spPr>
        <p:txBody>
          <a:bodyPr>
            <a:normAutofit/>
          </a:bodyPr>
          <a:lstStyle/>
          <a:p>
            <a:pPr algn="l"/>
            <a:r>
              <a:rPr lang="en-US"/>
              <a:t>PhD. </a:t>
            </a:r>
            <a:r>
              <a:rPr lang="en-VN"/>
              <a:t>Vu Tuan Hai</a:t>
            </a:r>
          </a:p>
          <a:p>
            <a:pPr algn="l"/>
            <a:r>
              <a:rPr lang="en-VN"/>
              <a:t>University of Information Technology (UIT), VNUHCM</a:t>
            </a:r>
            <a:endParaRPr lang="en-US"/>
          </a:p>
          <a:p>
            <a:pPr algn="l"/>
            <a:r>
              <a:rPr lang="en-US"/>
              <a:t>Email: haivt@uit.edu.vn</a:t>
            </a:r>
          </a:p>
          <a:p>
            <a:pPr algn="l"/>
            <a:endParaRPr lang="en-US"/>
          </a:p>
        </p:txBody>
      </p:sp>
      <p:sp>
        <p:nvSpPr>
          <p:cNvPr id="4" name="Slide Number Placeholder 3">
            <a:extLst>
              <a:ext uri="{FF2B5EF4-FFF2-40B4-BE49-F238E27FC236}">
                <a16:creationId xmlns:a16="http://schemas.microsoft.com/office/drawing/2014/main" id="{6CBD1614-B956-B316-5EB9-69023E12316F}"/>
              </a:ext>
            </a:extLst>
          </p:cNvPr>
          <p:cNvSpPr>
            <a:spLocks noGrp="1"/>
          </p:cNvSpPr>
          <p:nvPr>
            <p:ph type="sldNum" sz="quarter" idx="12"/>
          </p:nvPr>
        </p:nvSpPr>
        <p:spPr/>
        <p:txBody>
          <a:bodyPr/>
          <a:lstStyle/>
          <a:p>
            <a:fld id="{4E9BB9E5-D81C-FE46-A488-49ADE3951462}" type="slidenum">
              <a:t>1</a:t>
            </a:fld>
            <a:endParaRPr lang="en-VN"/>
          </a:p>
        </p:txBody>
      </p:sp>
      <p:sp>
        <p:nvSpPr>
          <p:cNvPr id="5" name="Subtitle 2">
            <a:extLst>
              <a:ext uri="{FF2B5EF4-FFF2-40B4-BE49-F238E27FC236}">
                <a16:creationId xmlns:a16="http://schemas.microsoft.com/office/drawing/2014/main" id="{BA5CDFCB-7EF3-AD7F-E420-10B1DADA95C7}"/>
              </a:ext>
            </a:extLst>
          </p:cNvPr>
          <p:cNvSpPr txBox="1">
            <a:spLocks/>
          </p:cNvSpPr>
          <p:nvPr/>
        </p:nvSpPr>
        <p:spPr>
          <a:xfrm>
            <a:off x="1143000" y="900632"/>
            <a:ext cx="6858000" cy="1241822"/>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a:t>AQST| Monday 23/03/2026, US-VNUHCM</a:t>
            </a:r>
            <a:endParaRPr lang="en-VN"/>
          </a:p>
          <a:p>
            <a:pPr algn="l"/>
            <a:endParaRPr lang="en-VN"/>
          </a:p>
        </p:txBody>
      </p:sp>
    </p:spTree>
    <p:extLst>
      <p:ext uri="{BB962C8B-B14F-4D97-AF65-F5344CB8AC3E}">
        <p14:creationId xmlns:p14="http://schemas.microsoft.com/office/powerpoint/2010/main" val="1119578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9E8D8-68B2-276B-0986-ABC64844EC9D}"/>
              </a:ext>
            </a:extLst>
          </p:cNvPr>
          <p:cNvSpPr>
            <a:spLocks noGrp="1"/>
          </p:cNvSpPr>
          <p:nvPr>
            <p:ph type="title"/>
          </p:nvPr>
        </p:nvSpPr>
        <p:spPr/>
        <p:txBody>
          <a:bodyPr/>
          <a:lstStyle/>
          <a:p>
            <a:r>
              <a:rPr lang="en-US"/>
              <a:t>Outline</a:t>
            </a:r>
            <a:endParaRPr lang="vi-VN"/>
          </a:p>
        </p:txBody>
      </p:sp>
      <p:sp>
        <p:nvSpPr>
          <p:cNvPr id="3" name="Content Placeholder 2">
            <a:extLst>
              <a:ext uri="{FF2B5EF4-FFF2-40B4-BE49-F238E27FC236}">
                <a16:creationId xmlns:a16="http://schemas.microsoft.com/office/drawing/2014/main" id="{4C9872EA-FA7E-3954-F625-60B2042A4B42}"/>
              </a:ext>
            </a:extLst>
          </p:cNvPr>
          <p:cNvSpPr>
            <a:spLocks noGrp="1"/>
          </p:cNvSpPr>
          <p:nvPr>
            <p:ph idx="1"/>
          </p:nvPr>
        </p:nvSpPr>
        <p:spPr>
          <a:xfrm>
            <a:off x="628650" y="1369219"/>
            <a:ext cx="7312626" cy="3263504"/>
          </a:xfrm>
        </p:spPr>
        <p:txBody>
          <a:bodyPr/>
          <a:lstStyle/>
          <a:p>
            <a:pPr marL="0" indent="0">
              <a:buNone/>
            </a:pPr>
            <a:r>
              <a:rPr lang="en-US" sz="2800"/>
              <a:t>1. AI for quantum</a:t>
            </a:r>
          </a:p>
          <a:p>
            <a:pPr marL="0" indent="0">
              <a:buNone/>
            </a:pPr>
            <a:r>
              <a:rPr lang="en-US" sz="2800"/>
              <a:t>2. Quantum for AI</a:t>
            </a:r>
          </a:p>
          <a:p>
            <a:pPr marL="0" indent="0">
              <a:buNone/>
            </a:pPr>
            <a:r>
              <a:rPr lang="en-US" sz="2800"/>
              <a:t>3. Quantum AI</a:t>
            </a:r>
          </a:p>
        </p:txBody>
      </p:sp>
      <p:sp>
        <p:nvSpPr>
          <p:cNvPr id="4" name="Slide Number Placeholder 3">
            <a:extLst>
              <a:ext uri="{FF2B5EF4-FFF2-40B4-BE49-F238E27FC236}">
                <a16:creationId xmlns:a16="http://schemas.microsoft.com/office/drawing/2014/main" id="{309F9E80-F5FE-C192-F7A7-16848472A45B}"/>
              </a:ext>
            </a:extLst>
          </p:cNvPr>
          <p:cNvSpPr>
            <a:spLocks noGrp="1"/>
          </p:cNvSpPr>
          <p:nvPr>
            <p:ph type="sldNum" sz="quarter" idx="12"/>
          </p:nvPr>
        </p:nvSpPr>
        <p:spPr/>
        <p:txBody>
          <a:bodyPr/>
          <a:lstStyle/>
          <a:p>
            <a:fld id="{6A45828D-F580-42DE-B77E-860980F07F32}" type="slidenum">
              <a:rPr lang="vi-VN" smtClean="0"/>
              <a:t>2</a:t>
            </a:fld>
            <a:endParaRPr lang="vi-VN"/>
          </a:p>
        </p:txBody>
      </p:sp>
      <p:sp>
        <p:nvSpPr>
          <p:cNvPr id="5" name="Oval 4">
            <a:extLst>
              <a:ext uri="{FF2B5EF4-FFF2-40B4-BE49-F238E27FC236}">
                <a16:creationId xmlns:a16="http://schemas.microsoft.com/office/drawing/2014/main" id="{9568DD99-D169-137D-4608-2CEDD3854899}"/>
              </a:ext>
            </a:extLst>
          </p:cNvPr>
          <p:cNvSpPr/>
          <p:nvPr/>
        </p:nvSpPr>
        <p:spPr>
          <a:xfrm>
            <a:off x="3797643" y="839647"/>
            <a:ext cx="3608173" cy="2649493"/>
          </a:xfrm>
          <a:prstGeom prst="ellipse">
            <a:avLst/>
          </a:prstGeom>
          <a:solidFill>
            <a:schemeClr val="bg1">
              <a:lumMod val="85000"/>
              <a:alpha val="5045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6" name="TextBox 5">
            <a:extLst>
              <a:ext uri="{FF2B5EF4-FFF2-40B4-BE49-F238E27FC236}">
                <a16:creationId xmlns:a16="http://schemas.microsoft.com/office/drawing/2014/main" id="{D6CF1849-B232-A39A-EAF5-531C4BA27494}"/>
              </a:ext>
            </a:extLst>
          </p:cNvPr>
          <p:cNvSpPr txBox="1"/>
          <p:nvPr/>
        </p:nvSpPr>
        <p:spPr>
          <a:xfrm>
            <a:off x="4064085" y="1583658"/>
            <a:ext cx="1400432" cy="646331"/>
          </a:xfrm>
          <a:prstGeom prst="rect">
            <a:avLst/>
          </a:prstGeom>
          <a:noFill/>
        </p:spPr>
        <p:txBody>
          <a:bodyPr wrap="square" rtlCol="0">
            <a:spAutoFit/>
          </a:bodyPr>
          <a:lstStyle/>
          <a:p>
            <a:r>
              <a:rPr lang="en-VN"/>
              <a:t>Quantum computing</a:t>
            </a:r>
          </a:p>
        </p:txBody>
      </p:sp>
      <p:sp>
        <p:nvSpPr>
          <p:cNvPr id="7" name="Oval 6">
            <a:extLst>
              <a:ext uri="{FF2B5EF4-FFF2-40B4-BE49-F238E27FC236}">
                <a16:creationId xmlns:a16="http://schemas.microsoft.com/office/drawing/2014/main" id="{37CBF94F-3E57-8B33-3926-20259C47CA29}"/>
              </a:ext>
            </a:extLst>
          </p:cNvPr>
          <p:cNvSpPr/>
          <p:nvPr/>
        </p:nvSpPr>
        <p:spPr>
          <a:xfrm>
            <a:off x="5305170" y="818634"/>
            <a:ext cx="3369273" cy="2649494"/>
          </a:xfrm>
          <a:prstGeom prst="ellipse">
            <a:avLst/>
          </a:prstGeom>
          <a:solidFill>
            <a:schemeClr val="accent2">
              <a:lumMod val="60000"/>
              <a:lumOff val="40000"/>
              <a:alpha val="49585"/>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8" name="TextBox 7">
            <a:extLst>
              <a:ext uri="{FF2B5EF4-FFF2-40B4-BE49-F238E27FC236}">
                <a16:creationId xmlns:a16="http://schemas.microsoft.com/office/drawing/2014/main" id="{A590AE75-D51A-7371-E41F-CB348EE8D6C8}"/>
              </a:ext>
            </a:extLst>
          </p:cNvPr>
          <p:cNvSpPr txBox="1"/>
          <p:nvPr/>
        </p:nvSpPr>
        <p:spPr>
          <a:xfrm>
            <a:off x="7631499" y="2002173"/>
            <a:ext cx="501651" cy="369332"/>
          </a:xfrm>
          <a:prstGeom prst="rect">
            <a:avLst/>
          </a:prstGeom>
          <a:noFill/>
        </p:spPr>
        <p:txBody>
          <a:bodyPr wrap="square" rtlCol="0">
            <a:spAutoFit/>
          </a:bodyPr>
          <a:lstStyle/>
          <a:p>
            <a:r>
              <a:rPr lang="en-VN"/>
              <a:t>AI</a:t>
            </a:r>
          </a:p>
        </p:txBody>
      </p:sp>
      <p:sp>
        <p:nvSpPr>
          <p:cNvPr id="9" name="Oval 8">
            <a:extLst>
              <a:ext uri="{FF2B5EF4-FFF2-40B4-BE49-F238E27FC236}">
                <a16:creationId xmlns:a16="http://schemas.microsoft.com/office/drawing/2014/main" id="{13D04C50-A140-DA1A-FA1F-6EA4E968DD9F}"/>
              </a:ext>
            </a:extLst>
          </p:cNvPr>
          <p:cNvSpPr/>
          <p:nvPr/>
        </p:nvSpPr>
        <p:spPr>
          <a:xfrm>
            <a:off x="5967028" y="907169"/>
            <a:ext cx="2070271" cy="924893"/>
          </a:xfrm>
          <a:prstGeom prst="ellipse">
            <a:avLst/>
          </a:prstGeom>
          <a:solidFill>
            <a:schemeClr val="accent4">
              <a:alpha val="7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10" name="TextBox 9">
            <a:extLst>
              <a:ext uri="{FF2B5EF4-FFF2-40B4-BE49-F238E27FC236}">
                <a16:creationId xmlns:a16="http://schemas.microsoft.com/office/drawing/2014/main" id="{DD04F080-3AD7-955D-18C1-8EB8398C29C4}"/>
              </a:ext>
            </a:extLst>
          </p:cNvPr>
          <p:cNvSpPr txBox="1"/>
          <p:nvPr/>
        </p:nvSpPr>
        <p:spPr>
          <a:xfrm>
            <a:off x="6193166" y="1068794"/>
            <a:ext cx="1655809" cy="369332"/>
          </a:xfrm>
          <a:prstGeom prst="rect">
            <a:avLst/>
          </a:prstGeom>
          <a:noFill/>
        </p:spPr>
        <p:txBody>
          <a:bodyPr wrap="square" rtlCol="0">
            <a:spAutoFit/>
          </a:bodyPr>
          <a:lstStyle/>
          <a:p>
            <a:r>
              <a:rPr lang="en-VN"/>
              <a:t>Quantum for AI</a:t>
            </a:r>
          </a:p>
        </p:txBody>
      </p:sp>
      <p:sp>
        <p:nvSpPr>
          <p:cNvPr id="11" name="Oval 10">
            <a:extLst>
              <a:ext uri="{FF2B5EF4-FFF2-40B4-BE49-F238E27FC236}">
                <a16:creationId xmlns:a16="http://schemas.microsoft.com/office/drawing/2014/main" id="{3D045ACF-26E4-4924-D40E-BE6E6199CAD9}"/>
              </a:ext>
            </a:extLst>
          </p:cNvPr>
          <p:cNvSpPr/>
          <p:nvPr/>
        </p:nvSpPr>
        <p:spPr>
          <a:xfrm>
            <a:off x="4484215" y="2466546"/>
            <a:ext cx="2235028" cy="928794"/>
          </a:xfrm>
          <a:prstGeom prst="ellipse">
            <a:avLst/>
          </a:prstGeom>
          <a:solidFill>
            <a:schemeClr val="accent4">
              <a:alpha val="7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12" name="TextBox 11">
            <a:extLst>
              <a:ext uri="{FF2B5EF4-FFF2-40B4-BE49-F238E27FC236}">
                <a16:creationId xmlns:a16="http://schemas.microsoft.com/office/drawing/2014/main" id="{F0D00019-EA03-7610-E0D6-B616AD2841B7}"/>
              </a:ext>
            </a:extLst>
          </p:cNvPr>
          <p:cNvSpPr txBox="1"/>
          <p:nvPr/>
        </p:nvSpPr>
        <p:spPr>
          <a:xfrm>
            <a:off x="4773824" y="2794927"/>
            <a:ext cx="1655809" cy="369332"/>
          </a:xfrm>
          <a:prstGeom prst="rect">
            <a:avLst/>
          </a:prstGeom>
          <a:noFill/>
        </p:spPr>
        <p:txBody>
          <a:bodyPr wrap="square" rtlCol="0">
            <a:spAutoFit/>
          </a:bodyPr>
          <a:lstStyle/>
          <a:p>
            <a:r>
              <a:rPr lang="en-US"/>
              <a:t>AI for quantum</a:t>
            </a:r>
            <a:endParaRPr lang="en-VN"/>
          </a:p>
        </p:txBody>
      </p:sp>
      <p:sp>
        <p:nvSpPr>
          <p:cNvPr id="13" name="Oval 12">
            <a:extLst>
              <a:ext uri="{FF2B5EF4-FFF2-40B4-BE49-F238E27FC236}">
                <a16:creationId xmlns:a16="http://schemas.microsoft.com/office/drawing/2014/main" id="{95D05B15-1CF7-33F5-93B0-10F07D24EA8A}"/>
              </a:ext>
            </a:extLst>
          </p:cNvPr>
          <p:cNvSpPr/>
          <p:nvPr/>
        </p:nvSpPr>
        <p:spPr>
          <a:xfrm>
            <a:off x="5464517" y="1636987"/>
            <a:ext cx="1801255" cy="1064140"/>
          </a:xfrm>
          <a:prstGeom prst="ellipse">
            <a:avLst/>
          </a:prstGeom>
          <a:solidFill>
            <a:schemeClr val="accent4">
              <a:alpha val="7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14" name="TextBox 13">
            <a:extLst>
              <a:ext uri="{FF2B5EF4-FFF2-40B4-BE49-F238E27FC236}">
                <a16:creationId xmlns:a16="http://schemas.microsoft.com/office/drawing/2014/main" id="{7F7C303B-BE5C-E6FB-F728-6EAC71B77C58}"/>
              </a:ext>
            </a:extLst>
          </p:cNvPr>
          <p:cNvSpPr txBox="1"/>
          <p:nvPr/>
        </p:nvSpPr>
        <p:spPr>
          <a:xfrm>
            <a:off x="5686941" y="1958715"/>
            <a:ext cx="1400432" cy="369332"/>
          </a:xfrm>
          <a:prstGeom prst="rect">
            <a:avLst/>
          </a:prstGeom>
          <a:noFill/>
        </p:spPr>
        <p:txBody>
          <a:bodyPr wrap="square" rtlCol="0">
            <a:spAutoFit/>
          </a:bodyPr>
          <a:lstStyle/>
          <a:p>
            <a:r>
              <a:rPr lang="en-VN"/>
              <a:t>Quantum AI</a:t>
            </a:r>
          </a:p>
        </p:txBody>
      </p:sp>
    </p:spTree>
    <p:extLst>
      <p:ext uri="{BB962C8B-B14F-4D97-AF65-F5344CB8AC3E}">
        <p14:creationId xmlns:p14="http://schemas.microsoft.com/office/powerpoint/2010/main" val="4143088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59DC8-547C-7FB3-2D6F-CCA31E3C3CD7}"/>
              </a:ext>
            </a:extLst>
          </p:cNvPr>
          <p:cNvSpPr>
            <a:spLocks noGrp="1"/>
          </p:cNvSpPr>
          <p:nvPr>
            <p:ph type="title"/>
          </p:nvPr>
        </p:nvSpPr>
        <p:spPr/>
        <p:txBody>
          <a:bodyPr/>
          <a:lstStyle/>
          <a:p>
            <a:r>
              <a:rPr lang="en-VN"/>
              <a:t>Overview</a:t>
            </a:r>
          </a:p>
        </p:txBody>
      </p:sp>
      <p:sp>
        <p:nvSpPr>
          <p:cNvPr id="4" name="Slide Number Placeholder 3">
            <a:extLst>
              <a:ext uri="{FF2B5EF4-FFF2-40B4-BE49-F238E27FC236}">
                <a16:creationId xmlns:a16="http://schemas.microsoft.com/office/drawing/2014/main" id="{5B229D5B-444C-511D-B97E-1D187E4F9290}"/>
              </a:ext>
            </a:extLst>
          </p:cNvPr>
          <p:cNvSpPr>
            <a:spLocks noGrp="1"/>
          </p:cNvSpPr>
          <p:nvPr>
            <p:ph type="sldNum" sz="quarter" idx="12"/>
          </p:nvPr>
        </p:nvSpPr>
        <p:spPr/>
        <p:txBody>
          <a:bodyPr/>
          <a:lstStyle/>
          <a:p>
            <a:fld id="{6A45828D-F580-42DE-B77E-860980F07F32}" type="slidenum">
              <a:rPr lang="vi-VN" smtClean="0"/>
              <a:pPr/>
              <a:t>3</a:t>
            </a:fld>
            <a:r>
              <a:rPr lang="en-US"/>
              <a:t>/80</a:t>
            </a:r>
            <a:endParaRPr lang="vi-VN"/>
          </a:p>
        </p:txBody>
      </p:sp>
      <p:sp>
        <p:nvSpPr>
          <p:cNvPr id="6" name="Rectangle 5">
            <a:extLst>
              <a:ext uri="{FF2B5EF4-FFF2-40B4-BE49-F238E27FC236}">
                <a16:creationId xmlns:a16="http://schemas.microsoft.com/office/drawing/2014/main" id="{2825270E-734F-D989-56B3-831666128297}"/>
              </a:ext>
            </a:extLst>
          </p:cNvPr>
          <p:cNvSpPr/>
          <p:nvPr/>
        </p:nvSpPr>
        <p:spPr>
          <a:xfrm>
            <a:off x="628650" y="1375720"/>
            <a:ext cx="1318054"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Hardware development</a:t>
            </a:r>
          </a:p>
        </p:txBody>
      </p:sp>
      <p:sp>
        <p:nvSpPr>
          <p:cNvPr id="7" name="Rectangle 6">
            <a:extLst>
              <a:ext uri="{FF2B5EF4-FFF2-40B4-BE49-F238E27FC236}">
                <a16:creationId xmlns:a16="http://schemas.microsoft.com/office/drawing/2014/main" id="{AD809A99-AE9B-CC87-62F1-E615E6303948}"/>
              </a:ext>
            </a:extLst>
          </p:cNvPr>
          <p:cNvSpPr/>
          <p:nvPr/>
        </p:nvSpPr>
        <p:spPr>
          <a:xfrm>
            <a:off x="2131906" y="1375720"/>
            <a:ext cx="1136835"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Pre-processing</a:t>
            </a:r>
          </a:p>
        </p:txBody>
      </p:sp>
      <p:sp>
        <p:nvSpPr>
          <p:cNvPr id="8" name="Rectangle 7">
            <a:extLst>
              <a:ext uri="{FF2B5EF4-FFF2-40B4-BE49-F238E27FC236}">
                <a16:creationId xmlns:a16="http://schemas.microsoft.com/office/drawing/2014/main" id="{24E1F152-38AE-99A2-D0BB-15C812C4E887}"/>
              </a:ext>
            </a:extLst>
          </p:cNvPr>
          <p:cNvSpPr/>
          <p:nvPr/>
        </p:nvSpPr>
        <p:spPr>
          <a:xfrm>
            <a:off x="4463217" y="1375720"/>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Device control &amp; optimization</a:t>
            </a:r>
          </a:p>
        </p:txBody>
      </p:sp>
      <p:sp>
        <p:nvSpPr>
          <p:cNvPr id="9" name="Rectangle 8">
            <a:extLst>
              <a:ext uri="{FF2B5EF4-FFF2-40B4-BE49-F238E27FC236}">
                <a16:creationId xmlns:a16="http://schemas.microsoft.com/office/drawing/2014/main" id="{76627B40-66F2-9C56-7121-A293ADFBE933}"/>
              </a:ext>
            </a:extLst>
          </p:cNvPr>
          <p:cNvSpPr/>
          <p:nvPr/>
        </p:nvSpPr>
        <p:spPr>
          <a:xfrm>
            <a:off x="6102542" y="1375720"/>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Quantum error correction</a:t>
            </a:r>
          </a:p>
        </p:txBody>
      </p:sp>
      <p:sp>
        <p:nvSpPr>
          <p:cNvPr id="10" name="Rectangle 9">
            <a:extLst>
              <a:ext uri="{FF2B5EF4-FFF2-40B4-BE49-F238E27FC236}">
                <a16:creationId xmlns:a16="http://schemas.microsoft.com/office/drawing/2014/main" id="{455C7220-0750-2DCB-C1BF-4597FB263F22}"/>
              </a:ext>
            </a:extLst>
          </p:cNvPr>
          <p:cNvSpPr/>
          <p:nvPr/>
        </p:nvSpPr>
        <p:spPr>
          <a:xfrm>
            <a:off x="7776519" y="1375720"/>
            <a:ext cx="1062668"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Post-processing</a:t>
            </a:r>
          </a:p>
        </p:txBody>
      </p:sp>
      <p:cxnSp>
        <p:nvCxnSpPr>
          <p:cNvPr id="12" name="Straight Arrow Connector 11">
            <a:extLst>
              <a:ext uri="{FF2B5EF4-FFF2-40B4-BE49-F238E27FC236}">
                <a16:creationId xmlns:a16="http://schemas.microsoft.com/office/drawing/2014/main" id="{6598FBC0-8AB9-6A22-AC26-004B677EA697}"/>
              </a:ext>
            </a:extLst>
          </p:cNvPr>
          <p:cNvCxnSpPr>
            <a:cxnSpLocks/>
            <a:stCxn id="6" idx="3"/>
            <a:endCxn id="7" idx="1"/>
          </p:cNvCxnSpPr>
          <p:nvPr/>
        </p:nvCxnSpPr>
        <p:spPr>
          <a:xfrm>
            <a:off x="1946704" y="1725828"/>
            <a:ext cx="1852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1A525-7A58-F7E7-30D8-A4F50E71DCEA}"/>
              </a:ext>
            </a:extLst>
          </p:cNvPr>
          <p:cNvCxnSpPr>
            <a:cxnSpLocks/>
            <a:stCxn id="7" idx="3"/>
            <a:endCxn id="51" idx="1"/>
          </p:cNvCxnSpPr>
          <p:nvPr/>
        </p:nvCxnSpPr>
        <p:spPr>
          <a:xfrm>
            <a:off x="3268741" y="1725828"/>
            <a:ext cx="174714" cy="1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D80E234-42C2-28EF-FF38-B0AF634BBC64}"/>
              </a:ext>
            </a:extLst>
          </p:cNvPr>
          <p:cNvCxnSpPr>
            <a:cxnSpLocks/>
            <a:stCxn id="8" idx="3"/>
            <a:endCxn id="9" idx="1"/>
          </p:cNvCxnSpPr>
          <p:nvPr/>
        </p:nvCxnSpPr>
        <p:spPr>
          <a:xfrm>
            <a:off x="5906527" y="1725828"/>
            <a:ext cx="19601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2B9BA55-4944-1C4D-543F-22E217645C68}"/>
              </a:ext>
            </a:extLst>
          </p:cNvPr>
          <p:cNvCxnSpPr>
            <a:cxnSpLocks/>
            <a:stCxn id="9" idx="3"/>
            <a:endCxn id="10" idx="1"/>
          </p:cNvCxnSpPr>
          <p:nvPr/>
        </p:nvCxnSpPr>
        <p:spPr>
          <a:xfrm>
            <a:off x="7545852" y="1725828"/>
            <a:ext cx="2306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9ABFF40-8853-77D1-A46B-090B15F980AC}"/>
              </a:ext>
            </a:extLst>
          </p:cNvPr>
          <p:cNvSpPr/>
          <p:nvPr/>
        </p:nvSpPr>
        <p:spPr>
          <a:xfrm>
            <a:off x="628649" y="2604967"/>
            <a:ext cx="1318054"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Data pre-processing</a:t>
            </a:r>
          </a:p>
        </p:txBody>
      </p:sp>
      <p:sp>
        <p:nvSpPr>
          <p:cNvPr id="25" name="Rectangle 24">
            <a:extLst>
              <a:ext uri="{FF2B5EF4-FFF2-40B4-BE49-F238E27FC236}">
                <a16:creationId xmlns:a16="http://schemas.microsoft.com/office/drawing/2014/main" id="{9A7D7AAA-BCDC-DD4B-3F49-9AC7EDD45A21}"/>
              </a:ext>
            </a:extLst>
          </p:cNvPr>
          <p:cNvSpPr/>
          <p:nvPr/>
        </p:nvSpPr>
        <p:spPr>
          <a:xfrm>
            <a:off x="2235022" y="2604967"/>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Model building</a:t>
            </a:r>
          </a:p>
        </p:txBody>
      </p:sp>
      <p:sp>
        <p:nvSpPr>
          <p:cNvPr id="26" name="Rectangle 25">
            <a:extLst>
              <a:ext uri="{FF2B5EF4-FFF2-40B4-BE49-F238E27FC236}">
                <a16:creationId xmlns:a16="http://schemas.microsoft.com/office/drawing/2014/main" id="{BD32F75A-A0F6-4353-A72E-DF3E8672FEFC}"/>
              </a:ext>
            </a:extLst>
          </p:cNvPr>
          <p:cNvSpPr/>
          <p:nvPr/>
        </p:nvSpPr>
        <p:spPr>
          <a:xfrm>
            <a:off x="3964965" y="2604967"/>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Model training</a:t>
            </a:r>
          </a:p>
        </p:txBody>
      </p:sp>
      <p:sp>
        <p:nvSpPr>
          <p:cNvPr id="27" name="Rectangle 26">
            <a:extLst>
              <a:ext uri="{FF2B5EF4-FFF2-40B4-BE49-F238E27FC236}">
                <a16:creationId xmlns:a16="http://schemas.microsoft.com/office/drawing/2014/main" id="{84140E59-112C-A690-60A5-A5190C900AE9}"/>
              </a:ext>
            </a:extLst>
          </p:cNvPr>
          <p:cNvSpPr/>
          <p:nvPr/>
        </p:nvSpPr>
        <p:spPr>
          <a:xfrm>
            <a:off x="5694908" y="2604967"/>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Model testing</a:t>
            </a:r>
          </a:p>
        </p:txBody>
      </p:sp>
      <p:cxnSp>
        <p:nvCxnSpPr>
          <p:cNvPr id="29" name="Straight Arrow Connector 28">
            <a:extLst>
              <a:ext uri="{FF2B5EF4-FFF2-40B4-BE49-F238E27FC236}">
                <a16:creationId xmlns:a16="http://schemas.microsoft.com/office/drawing/2014/main" id="{C7D327AD-1969-5E5F-5708-CD1F23A08492}"/>
              </a:ext>
            </a:extLst>
          </p:cNvPr>
          <p:cNvCxnSpPr>
            <a:cxnSpLocks/>
            <a:stCxn id="24" idx="3"/>
            <a:endCxn id="25" idx="1"/>
          </p:cNvCxnSpPr>
          <p:nvPr/>
        </p:nvCxnSpPr>
        <p:spPr>
          <a:xfrm>
            <a:off x="1946703" y="2955075"/>
            <a:ext cx="2883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FD65D5D-6F35-4262-05AF-83EA9A2C1203}"/>
              </a:ext>
            </a:extLst>
          </p:cNvPr>
          <p:cNvCxnSpPr>
            <a:cxnSpLocks/>
            <a:stCxn id="25" idx="3"/>
            <a:endCxn id="26" idx="1"/>
          </p:cNvCxnSpPr>
          <p:nvPr/>
        </p:nvCxnSpPr>
        <p:spPr>
          <a:xfrm>
            <a:off x="3678332" y="2955075"/>
            <a:ext cx="2866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6D00C6C-8F0E-F3B6-C9C9-09CB4B47A22E}"/>
              </a:ext>
            </a:extLst>
          </p:cNvPr>
          <p:cNvCxnSpPr>
            <a:cxnSpLocks/>
            <a:stCxn id="26" idx="3"/>
            <a:endCxn id="27" idx="1"/>
          </p:cNvCxnSpPr>
          <p:nvPr/>
        </p:nvCxnSpPr>
        <p:spPr>
          <a:xfrm>
            <a:off x="5408275" y="2955075"/>
            <a:ext cx="2866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C4C316CD-0175-3A42-1556-9535CBA31C3F}"/>
              </a:ext>
            </a:extLst>
          </p:cNvPr>
          <p:cNvCxnSpPr>
            <a:stCxn id="27" idx="2"/>
            <a:endCxn id="25" idx="2"/>
          </p:cNvCxnSpPr>
          <p:nvPr/>
        </p:nvCxnSpPr>
        <p:spPr>
          <a:xfrm rot="5400000">
            <a:off x="4686620" y="1575240"/>
            <a:ext cx="12700" cy="3459886"/>
          </a:xfrm>
          <a:prstGeom prst="bent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B82464D3-55BF-102E-E1CC-E5CE379A3F29}"/>
              </a:ext>
            </a:extLst>
          </p:cNvPr>
          <p:cNvSpPr txBox="1"/>
          <p:nvPr/>
        </p:nvSpPr>
        <p:spPr>
          <a:xfrm rot="16200000">
            <a:off x="-256774" y="1495504"/>
            <a:ext cx="1219207" cy="369332"/>
          </a:xfrm>
          <a:prstGeom prst="rect">
            <a:avLst/>
          </a:prstGeom>
          <a:noFill/>
        </p:spPr>
        <p:txBody>
          <a:bodyPr wrap="square" rtlCol="0">
            <a:spAutoFit/>
          </a:bodyPr>
          <a:lstStyle/>
          <a:p>
            <a:r>
              <a:rPr lang="en-VN" b="1"/>
              <a:t>Quantum</a:t>
            </a:r>
          </a:p>
        </p:txBody>
      </p:sp>
      <p:sp>
        <p:nvSpPr>
          <p:cNvPr id="36" name="TextBox 35">
            <a:extLst>
              <a:ext uri="{FF2B5EF4-FFF2-40B4-BE49-F238E27FC236}">
                <a16:creationId xmlns:a16="http://schemas.microsoft.com/office/drawing/2014/main" id="{A00614F4-E96D-A31A-F4F5-CDC897E76C3C}"/>
              </a:ext>
            </a:extLst>
          </p:cNvPr>
          <p:cNvSpPr txBox="1"/>
          <p:nvPr/>
        </p:nvSpPr>
        <p:spPr>
          <a:xfrm rot="16200000">
            <a:off x="-453" y="2773584"/>
            <a:ext cx="706566" cy="369332"/>
          </a:xfrm>
          <a:prstGeom prst="rect">
            <a:avLst/>
          </a:prstGeom>
          <a:noFill/>
        </p:spPr>
        <p:txBody>
          <a:bodyPr wrap="square" rtlCol="0">
            <a:spAutoFit/>
          </a:bodyPr>
          <a:lstStyle/>
          <a:p>
            <a:pPr algn="ctr"/>
            <a:r>
              <a:rPr lang="en-VN" b="1"/>
              <a:t>AI</a:t>
            </a:r>
          </a:p>
        </p:txBody>
      </p:sp>
      <p:sp>
        <p:nvSpPr>
          <p:cNvPr id="38" name="Rectangle 37">
            <a:extLst>
              <a:ext uri="{FF2B5EF4-FFF2-40B4-BE49-F238E27FC236}">
                <a16:creationId xmlns:a16="http://schemas.microsoft.com/office/drawing/2014/main" id="{04194377-7735-0692-BB47-B6AFA76092A4}"/>
              </a:ext>
            </a:extLst>
          </p:cNvPr>
          <p:cNvSpPr/>
          <p:nvPr/>
        </p:nvSpPr>
        <p:spPr>
          <a:xfrm>
            <a:off x="628648" y="4017336"/>
            <a:ext cx="1318054"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Data pre-processing</a:t>
            </a:r>
          </a:p>
        </p:txBody>
      </p:sp>
      <p:sp>
        <p:nvSpPr>
          <p:cNvPr id="39" name="Rectangle 38">
            <a:extLst>
              <a:ext uri="{FF2B5EF4-FFF2-40B4-BE49-F238E27FC236}">
                <a16:creationId xmlns:a16="http://schemas.microsoft.com/office/drawing/2014/main" id="{E30E2038-66AF-18EE-3F96-3BA29BE77235}"/>
              </a:ext>
            </a:extLst>
          </p:cNvPr>
          <p:cNvSpPr/>
          <p:nvPr/>
        </p:nvSpPr>
        <p:spPr>
          <a:xfrm>
            <a:off x="2342115" y="4017336"/>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Classical computer</a:t>
            </a:r>
          </a:p>
        </p:txBody>
      </p:sp>
      <p:sp>
        <p:nvSpPr>
          <p:cNvPr id="40" name="Rectangle 39">
            <a:extLst>
              <a:ext uri="{FF2B5EF4-FFF2-40B4-BE49-F238E27FC236}">
                <a16:creationId xmlns:a16="http://schemas.microsoft.com/office/drawing/2014/main" id="{51CF8099-AB9E-BEB8-7C8F-7543DCC22B8F}"/>
              </a:ext>
            </a:extLst>
          </p:cNvPr>
          <p:cNvSpPr/>
          <p:nvPr/>
        </p:nvSpPr>
        <p:spPr>
          <a:xfrm>
            <a:off x="4072058" y="4017336"/>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Quantum computer </a:t>
            </a:r>
          </a:p>
        </p:txBody>
      </p:sp>
      <p:cxnSp>
        <p:nvCxnSpPr>
          <p:cNvPr id="42" name="Straight Arrow Connector 41">
            <a:extLst>
              <a:ext uri="{FF2B5EF4-FFF2-40B4-BE49-F238E27FC236}">
                <a16:creationId xmlns:a16="http://schemas.microsoft.com/office/drawing/2014/main" id="{06CE917F-AA3F-F492-B28F-075D479E18D3}"/>
              </a:ext>
            </a:extLst>
          </p:cNvPr>
          <p:cNvCxnSpPr>
            <a:cxnSpLocks/>
            <a:stCxn id="38" idx="3"/>
            <a:endCxn id="39" idx="1"/>
          </p:cNvCxnSpPr>
          <p:nvPr/>
        </p:nvCxnSpPr>
        <p:spPr>
          <a:xfrm>
            <a:off x="1946702" y="4367444"/>
            <a:ext cx="39541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F703D56-B4ED-711A-639A-451DE9127A05}"/>
              </a:ext>
            </a:extLst>
          </p:cNvPr>
          <p:cNvCxnSpPr>
            <a:cxnSpLocks/>
            <a:stCxn id="39" idx="3"/>
            <a:endCxn id="40" idx="1"/>
          </p:cNvCxnSpPr>
          <p:nvPr/>
        </p:nvCxnSpPr>
        <p:spPr>
          <a:xfrm>
            <a:off x="3785425" y="4367444"/>
            <a:ext cx="28663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60378176-9A8D-E0EB-A839-3E671529002F}"/>
              </a:ext>
            </a:extLst>
          </p:cNvPr>
          <p:cNvSpPr txBox="1"/>
          <p:nvPr/>
        </p:nvSpPr>
        <p:spPr>
          <a:xfrm rot="16200000">
            <a:off x="-328114" y="4175496"/>
            <a:ext cx="1361885" cy="369332"/>
          </a:xfrm>
          <a:prstGeom prst="rect">
            <a:avLst/>
          </a:prstGeom>
          <a:noFill/>
        </p:spPr>
        <p:txBody>
          <a:bodyPr wrap="square" rtlCol="0">
            <a:spAutoFit/>
          </a:bodyPr>
          <a:lstStyle/>
          <a:p>
            <a:pPr algn="ctr"/>
            <a:r>
              <a:rPr lang="en-VN" b="1"/>
              <a:t>Quantum AI</a:t>
            </a:r>
          </a:p>
        </p:txBody>
      </p:sp>
      <p:sp>
        <p:nvSpPr>
          <p:cNvPr id="47" name="Rectangle 46">
            <a:extLst>
              <a:ext uri="{FF2B5EF4-FFF2-40B4-BE49-F238E27FC236}">
                <a16:creationId xmlns:a16="http://schemas.microsoft.com/office/drawing/2014/main" id="{2265ED56-8002-5C7A-F1E4-EDF0E68EBD24}"/>
              </a:ext>
            </a:extLst>
          </p:cNvPr>
          <p:cNvSpPr/>
          <p:nvPr/>
        </p:nvSpPr>
        <p:spPr>
          <a:xfrm>
            <a:off x="2198798" y="3868691"/>
            <a:ext cx="3467135" cy="9483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600">
              <a:solidFill>
                <a:schemeClr val="tx1"/>
              </a:solidFill>
            </a:endParaRPr>
          </a:p>
        </p:txBody>
      </p:sp>
      <p:sp>
        <p:nvSpPr>
          <p:cNvPr id="51" name="Rectangle 50">
            <a:extLst>
              <a:ext uri="{FF2B5EF4-FFF2-40B4-BE49-F238E27FC236}">
                <a16:creationId xmlns:a16="http://schemas.microsoft.com/office/drawing/2014/main" id="{1269E98F-B6B8-94FA-5EB7-B1D69A4E68DA}"/>
              </a:ext>
            </a:extLst>
          </p:cNvPr>
          <p:cNvSpPr/>
          <p:nvPr/>
        </p:nvSpPr>
        <p:spPr>
          <a:xfrm>
            <a:off x="3443455" y="1376760"/>
            <a:ext cx="817225"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Model</a:t>
            </a:r>
          </a:p>
        </p:txBody>
      </p:sp>
      <p:cxnSp>
        <p:nvCxnSpPr>
          <p:cNvPr id="53" name="Straight Arrow Connector 52">
            <a:extLst>
              <a:ext uri="{FF2B5EF4-FFF2-40B4-BE49-F238E27FC236}">
                <a16:creationId xmlns:a16="http://schemas.microsoft.com/office/drawing/2014/main" id="{29679988-60A1-E945-CA4B-C7A402326D1C}"/>
              </a:ext>
            </a:extLst>
          </p:cNvPr>
          <p:cNvCxnSpPr>
            <a:cxnSpLocks/>
            <a:stCxn id="51" idx="3"/>
            <a:endCxn id="8" idx="1"/>
          </p:cNvCxnSpPr>
          <p:nvPr/>
        </p:nvCxnSpPr>
        <p:spPr>
          <a:xfrm flipV="1">
            <a:off x="4260680" y="1725828"/>
            <a:ext cx="202537" cy="1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60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9E45-7E32-5DFD-6DBB-DD3B5D32AD22}"/>
              </a:ext>
            </a:extLst>
          </p:cNvPr>
          <p:cNvSpPr>
            <a:spLocks noGrp="1"/>
          </p:cNvSpPr>
          <p:nvPr>
            <p:ph type="title"/>
          </p:nvPr>
        </p:nvSpPr>
        <p:spPr>
          <a:xfrm>
            <a:off x="628650" y="273844"/>
            <a:ext cx="8317642" cy="994172"/>
          </a:xfrm>
        </p:spPr>
        <p:txBody>
          <a:bodyPr>
            <a:normAutofit/>
          </a:bodyPr>
          <a:lstStyle/>
          <a:p>
            <a:r>
              <a:rPr lang="en-VN"/>
              <a:t>1. </a:t>
            </a:r>
            <a:r>
              <a:rPr lang="en-US"/>
              <a:t>AI for quantum </a:t>
            </a:r>
            <a:endParaRPr lang="vi-VN"/>
          </a:p>
        </p:txBody>
      </p:sp>
      <p:sp>
        <p:nvSpPr>
          <p:cNvPr id="3" name="Content Placeholder 2">
            <a:extLst>
              <a:ext uri="{FF2B5EF4-FFF2-40B4-BE49-F238E27FC236}">
                <a16:creationId xmlns:a16="http://schemas.microsoft.com/office/drawing/2014/main" id="{8FF28F78-7952-EEF8-C049-331CD2288E42}"/>
              </a:ext>
            </a:extLst>
          </p:cNvPr>
          <p:cNvSpPr>
            <a:spLocks noGrp="1"/>
          </p:cNvSpPr>
          <p:nvPr>
            <p:ph idx="1"/>
          </p:nvPr>
        </p:nvSpPr>
        <p:spPr>
          <a:xfrm>
            <a:off x="2024812" y="2117295"/>
            <a:ext cx="1430105" cy="762828"/>
          </a:xfrm>
        </p:spPr>
        <p:txBody>
          <a:bodyPr>
            <a:normAutofit/>
          </a:bodyPr>
          <a:lstStyle/>
          <a:p>
            <a:pPr marL="0" indent="0">
              <a:buNone/>
            </a:pPr>
            <a:r>
              <a:rPr lang="en-US" sz="1600"/>
              <a:t>1.1. State preparation</a:t>
            </a:r>
          </a:p>
        </p:txBody>
      </p:sp>
      <p:sp>
        <p:nvSpPr>
          <p:cNvPr id="4" name="Slide Number Placeholder 3">
            <a:extLst>
              <a:ext uri="{FF2B5EF4-FFF2-40B4-BE49-F238E27FC236}">
                <a16:creationId xmlns:a16="http://schemas.microsoft.com/office/drawing/2014/main" id="{EC781013-65EE-A173-0D15-E033100A0918}"/>
              </a:ext>
            </a:extLst>
          </p:cNvPr>
          <p:cNvSpPr>
            <a:spLocks noGrp="1"/>
          </p:cNvSpPr>
          <p:nvPr>
            <p:ph type="sldNum" sz="quarter" idx="12"/>
          </p:nvPr>
        </p:nvSpPr>
        <p:spPr/>
        <p:txBody>
          <a:bodyPr/>
          <a:lstStyle/>
          <a:p>
            <a:fld id="{6A45828D-F580-42DE-B77E-860980F07F32}" type="slidenum">
              <a:rPr lang="vi-VN" smtClean="0"/>
              <a:t>4</a:t>
            </a:fld>
            <a:endParaRPr lang="vi-VN"/>
          </a:p>
        </p:txBody>
      </p:sp>
      <p:sp>
        <p:nvSpPr>
          <p:cNvPr id="14" name="TextBox 13">
            <a:extLst>
              <a:ext uri="{FF2B5EF4-FFF2-40B4-BE49-F238E27FC236}">
                <a16:creationId xmlns:a16="http://schemas.microsoft.com/office/drawing/2014/main" id="{B6B64096-B400-4D5B-A8A3-9141495B49A7}"/>
              </a:ext>
            </a:extLst>
          </p:cNvPr>
          <p:cNvSpPr txBox="1"/>
          <p:nvPr/>
        </p:nvSpPr>
        <p:spPr>
          <a:xfrm rot="16200000">
            <a:off x="-256774" y="1495504"/>
            <a:ext cx="1219207" cy="369332"/>
          </a:xfrm>
          <a:prstGeom prst="rect">
            <a:avLst/>
          </a:prstGeom>
          <a:noFill/>
        </p:spPr>
        <p:txBody>
          <a:bodyPr wrap="square" rtlCol="0">
            <a:spAutoFit/>
          </a:bodyPr>
          <a:lstStyle/>
          <a:p>
            <a:r>
              <a:rPr lang="en-VN" b="1"/>
              <a:t>Quantum</a:t>
            </a:r>
          </a:p>
        </p:txBody>
      </p:sp>
      <p:sp>
        <p:nvSpPr>
          <p:cNvPr id="16" name="TextBox 15">
            <a:extLst>
              <a:ext uri="{FF2B5EF4-FFF2-40B4-BE49-F238E27FC236}">
                <a16:creationId xmlns:a16="http://schemas.microsoft.com/office/drawing/2014/main" id="{2B491D9F-6CC0-F782-CD33-F01F13C9F6D2}"/>
              </a:ext>
            </a:extLst>
          </p:cNvPr>
          <p:cNvSpPr txBox="1"/>
          <p:nvPr/>
        </p:nvSpPr>
        <p:spPr>
          <a:xfrm>
            <a:off x="6001967" y="2093721"/>
            <a:ext cx="1731662" cy="584775"/>
          </a:xfrm>
          <a:prstGeom prst="rect">
            <a:avLst/>
          </a:prstGeom>
          <a:noFill/>
        </p:spPr>
        <p:txBody>
          <a:bodyPr wrap="square">
            <a:spAutoFit/>
          </a:bodyPr>
          <a:lstStyle/>
          <a:p>
            <a:pPr marL="0" indent="0">
              <a:buNone/>
            </a:pPr>
            <a:r>
              <a:rPr lang="en-US" sz="1600"/>
              <a:t>1.4. Error </a:t>
            </a:r>
          </a:p>
          <a:p>
            <a:pPr marL="0" indent="0">
              <a:buNone/>
            </a:pPr>
            <a:r>
              <a:rPr lang="en-US" sz="1600"/>
              <a:t>Mitigation</a:t>
            </a:r>
          </a:p>
        </p:txBody>
      </p:sp>
      <p:sp>
        <p:nvSpPr>
          <p:cNvPr id="18" name="TextBox 17">
            <a:extLst>
              <a:ext uri="{FF2B5EF4-FFF2-40B4-BE49-F238E27FC236}">
                <a16:creationId xmlns:a16="http://schemas.microsoft.com/office/drawing/2014/main" id="{386A5117-377D-D9BC-F382-EEA8755AD74C}"/>
              </a:ext>
            </a:extLst>
          </p:cNvPr>
          <p:cNvSpPr txBox="1"/>
          <p:nvPr/>
        </p:nvSpPr>
        <p:spPr>
          <a:xfrm>
            <a:off x="4372599" y="2093721"/>
            <a:ext cx="1578240" cy="338554"/>
          </a:xfrm>
          <a:prstGeom prst="rect">
            <a:avLst/>
          </a:prstGeom>
          <a:noFill/>
        </p:spPr>
        <p:txBody>
          <a:bodyPr wrap="square">
            <a:spAutoFit/>
          </a:bodyPr>
          <a:lstStyle/>
          <a:p>
            <a:r>
              <a:rPr lang="en-US" sz="1600"/>
              <a:t>1.3. Compilation</a:t>
            </a:r>
            <a:endParaRPr lang="en-VN" sz="1600"/>
          </a:p>
        </p:txBody>
      </p:sp>
      <p:sp>
        <p:nvSpPr>
          <p:cNvPr id="19" name="Content Placeholder 2">
            <a:extLst>
              <a:ext uri="{FF2B5EF4-FFF2-40B4-BE49-F238E27FC236}">
                <a16:creationId xmlns:a16="http://schemas.microsoft.com/office/drawing/2014/main" id="{D585C7D1-D2A0-ADE2-F472-FF26624CF58F}"/>
              </a:ext>
            </a:extLst>
          </p:cNvPr>
          <p:cNvSpPr txBox="1">
            <a:spLocks/>
          </p:cNvSpPr>
          <p:nvPr/>
        </p:nvSpPr>
        <p:spPr>
          <a:xfrm>
            <a:off x="7677663" y="2117294"/>
            <a:ext cx="1199318" cy="700213"/>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600"/>
              <a:t>1.5. State tomography</a:t>
            </a:r>
          </a:p>
          <a:p>
            <a:pPr marL="0" indent="0">
              <a:buFont typeface="Arial" panose="020B0604020202020204" pitchFamily="34" charset="0"/>
              <a:buNone/>
            </a:pPr>
            <a:endParaRPr lang="vi-VN" sz="1600"/>
          </a:p>
        </p:txBody>
      </p:sp>
      <p:sp>
        <p:nvSpPr>
          <p:cNvPr id="20" name="Rectangle 19">
            <a:extLst>
              <a:ext uri="{FF2B5EF4-FFF2-40B4-BE49-F238E27FC236}">
                <a16:creationId xmlns:a16="http://schemas.microsoft.com/office/drawing/2014/main" id="{29661250-3155-C252-6AF5-05D9B5B5C05E}"/>
              </a:ext>
            </a:extLst>
          </p:cNvPr>
          <p:cNvSpPr/>
          <p:nvPr/>
        </p:nvSpPr>
        <p:spPr>
          <a:xfrm>
            <a:off x="628650" y="1375720"/>
            <a:ext cx="1318054"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Hardware development</a:t>
            </a:r>
          </a:p>
        </p:txBody>
      </p:sp>
      <p:sp>
        <p:nvSpPr>
          <p:cNvPr id="21" name="Rectangle 20">
            <a:extLst>
              <a:ext uri="{FF2B5EF4-FFF2-40B4-BE49-F238E27FC236}">
                <a16:creationId xmlns:a16="http://schemas.microsoft.com/office/drawing/2014/main" id="{E0527D2F-91FD-4215-E2F9-B34EECC4E33D}"/>
              </a:ext>
            </a:extLst>
          </p:cNvPr>
          <p:cNvSpPr/>
          <p:nvPr/>
        </p:nvSpPr>
        <p:spPr>
          <a:xfrm>
            <a:off x="2131906" y="1375720"/>
            <a:ext cx="1136835"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Pre-processing</a:t>
            </a:r>
          </a:p>
        </p:txBody>
      </p:sp>
      <p:sp>
        <p:nvSpPr>
          <p:cNvPr id="22" name="Rectangle 21">
            <a:extLst>
              <a:ext uri="{FF2B5EF4-FFF2-40B4-BE49-F238E27FC236}">
                <a16:creationId xmlns:a16="http://schemas.microsoft.com/office/drawing/2014/main" id="{487ED27C-CD84-D7AD-F328-6639EAACD801}"/>
              </a:ext>
            </a:extLst>
          </p:cNvPr>
          <p:cNvSpPr/>
          <p:nvPr/>
        </p:nvSpPr>
        <p:spPr>
          <a:xfrm>
            <a:off x="4463217" y="1375720"/>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Device control &amp; optimization</a:t>
            </a:r>
          </a:p>
        </p:txBody>
      </p:sp>
      <p:sp>
        <p:nvSpPr>
          <p:cNvPr id="23" name="Rectangle 22">
            <a:extLst>
              <a:ext uri="{FF2B5EF4-FFF2-40B4-BE49-F238E27FC236}">
                <a16:creationId xmlns:a16="http://schemas.microsoft.com/office/drawing/2014/main" id="{B44D9F1C-DA65-95DA-70BA-C55D40957E05}"/>
              </a:ext>
            </a:extLst>
          </p:cNvPr>
          <p:cNvSpPr/>
          <p:nvPr/>
        </p:nvSpPr>
        <p:spPr>
          <a:xfrm>
            <a:off x="6102542" y="1375720"/>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Quantum error correction</a:t>
            </a:r>
          </a:p>
        </p:txBody>
      </p:sp>
      <p:sp>
        <p:nvSpPr>
          <p:cNvPr id="24" name="Rectangle 23">
            <a:extLst>
              <a:ext uri="{FF2B5EF4-FFF2-40B4-BE49-F238E27FC236}">
                <a16:creationId xmlns:a16="http://schemas.microsoft.com/office/drawing/2014/main" id="{1C2FF340-B455-779A-6477-A5EA4AE175A2}"/>
              </a:ext>
            </a:extLst>
          </p:cNvPr>
          <p:cNvSpPr/>
          <p:nvPr/>
        </p:nvSpPr>
        <p:spPr>
          <a:xfrm>
            <a:off x="7776519" y="1375720"/>
            <a:ext cx="1062668"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Post-processing</a:t>
            </a:r>
          </a:p>
        </p:txBody>
      </p:sp>
      <p:cxnSp>
        <p:nvCxnSpPr>
          <p:cNvPr id="25" name="Straight Arrow Connector 24">
            <a:extLst>
              <a:ext uri="{FF2B5EF4-FFF2-40B4-BE49-F238E27FC236}">
                <a16:creationId xmlns:a16="http://schemas.microsoft.com/office/drawing/2014/main" id="{6B2BC617-6328-567A-01F2-CE0C0BE7B39A}"/>
              </a:ext>
            </a:extLst>
          </p:cNvPr>
          <p:cNvCxnSpPr>
            <a:cxnSpLocks/>
            <a:stCxn id="20" idx="3"/>
            <a:endCxn id="21" idx="1"/>
          </p:cNvCxnSpPr>
          <p:nvPr/>
        </p:nvCxnSpPr>
        <p:spPr>
          <a:xfrm>
            <a:off x="1946704" y="1725828"/>
            <a:ext cx="1852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8B7DFCE-8BA4-6257-ED53-6C0DB544A8D3}"/>
              </a:ext>
            </a:extLst>
          </p:cNvPr>
          <p:cNvCxnSpPr>
            <a:cxnSpLocks/>
            <a:stCxn id="21" idx="3"/>
            <a:endCxn id="29" idx="1"/>
          </p:cNvCxnSpPr>
          <p:nvPr/>
        </p:nvCxnSpPr>
        <p:spPr>
          <a:xfrm>
            <a:off x="3268741" y="1725828"/>
            <a:ext cx="174714" cy="1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7C9202C-70CB-C388-D8A9-D0B376D23516}"/>
              </a:ext>
            </a:extLst>
          </p:cNvPr>
          <p:cNvCxnSpPr>
            <a:cxnSpLocks/>
            <a:stCxn id="22" idx="3"/>
            <a:endCxn id="23" idx="1"/>
          </p:cNvCxnSpPr>
          <p:nvPr/>
        </p:nvCxnSpPr>
        <p:spPr>
          <a:xfrm>
            <a:off x="5906527" y="1725828"/>
            <a:ext cx="19601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54627C9-FE56-57FC-CDD1-27972D01F7F0}"/>
              </a:ext>
            </a:extLst>
          </p:cNvPr>
          <p:cNvCxnSpPr>
            <a:cxnSpLocks/>
            <a:stCxn id="23" idx="3"/>
            <a:endCxn id="24" idx="1"/>
          </p:cNvCxnSpPr>
          <p:nvPr/>
        </p:nvCxnSpPr>
        <p:spPr>
          <a:xfrm>
            <a:off x="7545852" y="1725828"/>
            <a:ext cx="2306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027B53A0-511B-A0A5-09E4-A26632E56B36}"/>
              </a:ext>
            </a:extLst>
          </p:cNvPr>
          <p:cNvSpPr/>
          <p:nvPr/>
        </p:nvSpPr>
        <p:spPr>
          <a:xfrm>
            <a:off x="3443455" y="1376760"/>
            <a:ext cx="817225"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Model</a:t>
            </a:r>
          </a:p>
        </p:txBody>
      </p:sp>
      <p:cxnSp>
        <p:nvCxnSpPr>
          <p:cNvPr id="30" name="Straight Arrow Connector 29">
            <a:extLst>
              <a:ext uri="{FF2B5EF4-FFF2-40B4-BE49-F238E27FC236}">
                <a16:creationId xmlns:a16="http://schemas.microsoft.com/office/drawing/2014/main" id="{F3EA6918-B8FF-FEDD-F3FD-E01622EE6C86}"/>
              </a:ext>
            </a:extLst>
          </p:cNvPr>
          <p:cNvCxnSpPr>
            <a:cxnSpLocks/>
            <a:stCxn id="29" idx="3"/>
            <a:endCxn id="22" idx="1"/>
          </p:cNvCxnSpPr>
          <p:nvPr/>
        </p:nvCxnSpPr>
        <p:spPr>
          <a:xfrm flipV="1">
            <a:off x="4260680" y="1725828"/>
            <a:ext cx="202537" cy="1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0BA8B3D-6D9A-BB3B-CC54-D210DC20146F}"/>
              </a:ext>
            </a:extLst>
          </p:cNvPr>
          <p:cNvSpPr txBox="1"/>
          <p:nvPr/>
        </p:nvSpPr>
        <p:spPr>
          <a:xfrm>
            <a:off x="3336323" y="2088337"/>
            <a:ext cx="1243910" cy="584775"/>
          </a:xfrm>
          <a:prstGeom prst="rect">
            <a:avLst/>
          </a:prstGeom>
          <a:noFill/>
        </p:spPr>
        <p:txBody>
          <a:bodyPr wrap="square">
            <a:spAutoFit/>
          </a:bodyPr>
          <a:lstStyle/>
          <a:p>
            <a:r>
              <a:rPr lang="en-US" sz="1600"/>
              <a:t>1.2. Model optimization</a:t>
            </a:r>
            <a:endParaRPr lang="en-VN" sz="1600"/>
          </a:p>
        </p:txBody>
      </p:sp>
    </p:spTree>
    <p:extLst>
      <p:ext uri="{BB962C8B-B14F-4D97-AF65-F5344CB8AC3E}">
        <p14:creationId xmlns:p14="http://schemas.microsoft.com/office/powerpoint/2010/main" val="2159038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1558-5FAA-64EB-E37F-62FD12AF77BA}"/>
              </a:ext>
            </a:extLst>
          </p:cNvPr>
          <p:cNvSpPr>
            <a:spLocks noGrp="1"/>
          </p:cNvSpPr>
          <p:nvPr>
            <p:ph type="title"/>
          </p:nvPr>
        </p:nvSpPr>
        <p:spPr>
          <a:xfrm>
            <a:off x="628650" y="19845"/>
            <a:ext cx="6466417" cy="994172"/>
          </a:xfrm>
        </p:spPr>
        <p:txBody>
          <a:bodyPr>
            <a:normAutofit/>
          </a:bodyPr>
          <a:lstStyle/>
          <a:p>
            <a:r>
              <a:rPr lang="en-US"/>
              <a:t>1.1. State preparation</a:t>
            </a:r>
            <a:endParaRPr lang="vi-VN" sz="20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D2ABCF-4B6F-A4E1-66D1-56D3B85A048B}"/>
                  </a:ext>
                </a:extLst>
              </p:cNvPr>
              <p:cNvSpPr>
                <a:spLocks noGrp="1"/>
              </p:cNvSpPr>
              <p:nvPr>
                <p:ph idx="1"/>
              </p:nvPr>
            </p:nvSpPr>
            <p:spPr>
              <a:xfrm>
                <a:off x="4030273" y="1618913"/>
                <a:ext cx="4796366" cy="458626"/>
              </a:xfrm>
            </p:spPr>
            <p:txBody>
              <a:bodyPr>
                <a:normAutofit/>
              </a:bodyPr>
              <a:lstStyle/>
              <a:p>
                <a:pPr marL="0" indent="0">
                  <a:buNone/>
                </a:pPr>
                <a:r>
                  <a:rPr lang="en-US"/>
                  <a:t>with </a:t>
                </a:r>
                <a14:m>
                  <m:oMath xmlns:m="http://schemas.openxmlformats.org/officeDocument/2006/math">
                    <m:d>
                      <m:dPr>
                        <m:begChr m:val="|"/>
                        <m:endChr m:val="⟩"/>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𝜓</m:t>
                        </m:r>
                        <m:r>
                          <a:rPr lang="en-US" i="1" smtClean="0">
                            <a:solidFill>
                              <a:schemeClr val="tx1"/>
                            </a:solidFill>
                            <a:latin typeface="Cambria Math" panose="02040503050406030204" pitchFamily="18" charset="0"/>
                          </a:rPr>
                          <m:t>′</m:t>
                        </m:r>
                      </m:e>
                    </m:d>
                  </m:oMath>
                </a14:m>
                <a:r>
                  <a:rPr lang="en-US"/>
                  <a:t> is the prepared/embedded state </a:t>
                </a:r>
                <a:endParaRPr lang="vi-VN"/>
              </a:p>
            </p:txBody>
          </p:sp>
        </mc:Choice>
        <mc:Fallback xmlns="">
          <p:sp>
            <p:nvSpPr>
              <p:cNvPr id="3" name="Content Placeholder 2">
                <a:extLst>
                  <a:ext uri="{FF2B5EF4-FFF2-40B4-BE49-F238E27FC236}">
                    <a16:creationId xmlns:a16="http://schemas.microsoft.com/office/drawing/2014/main" id="{33D2ABCF-4B6F-A4E1-66D1-56D3B85A048B}"/>
                  </a:ext>
                </a:extLst>
              </p:cNvPr>
              <p:cNvSpPr>
                <a:spLocks noGrp="1" noRot="1" noChangeAspect="1" noMove="1" noResize="1" noEditPoints="1" noAdjustHandles="1" noChangeArrowheads="1" noChangeShapeType="1" noTextEdit="1"/>
              </p:cNvSpPr>
              <p:nvPr>
                <p:ph idx="1"/>
              </p:nvPr>
            </p:nvSpPr>
            <p:spPr>
              <a:xfrm>
                <a:off x="4030273" y="1618913"/>
                <a:ext cx="4796366" cy="458626"/>
              </a:xfrm>
              <a:blipFill>
                <a:blip r:embed="rId2"/>
                <a:stretch>
                  <a:fillRect l="-1525" t="-16000" r="-1652" b="-933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0E8938C9-1842-7666-9E6A-A84A2E46C04E}"/>
              </a:ext>
            </a:extLst>
          </p:cNvPr>
          <p:cNvSpPr>
            <a:spLocks noGrp="1"/>
          </p:cNvSpPr>
          <p:nvPr>
            <p:ph type="sldNum" sz="quarter" idx="12"/>
          </p:nvPr>
        </p:nvSpPr>
        <p:spPr/>
        <p:txBody>
          <a:bodyPr/>
          <a:lstStyle/>
          <a:p>
            <a:fld id="{6A45828D-F580-42DE-B77E-860980F07F32}" type="slidenum">
              <a:rPr lang="vi-VN" smtClean="0"/>
              <a:t>5</a:t>
            </a:fld>
            <a:endParaRPr lang="vi-VN"/>
          </a:p>
        </p:txBody>
      </p:sp>
      <p:cxnSp>
        <p:nvCxnSpPr>
          <p:cNvPr id="5" name="Straight Connector 4">
            <a:extLst>
              <a:ext uri="{FF2B5EF4-FFF2-40B4-BE49-F238E27FC236}">
                <a16:creationId xmlns:a16="http://schemas.microsoft.com/office/drawing/2014/main" id="{C0E1282E-ECE0-AA9C-65EF-BE0452C1C46E}"/>
              </a:ext>
            </a:extLst>
          </p:cNvPr>
          <p:cNvCxnSpPr>
            <a:cxnSpLocks/>
          </p:cNvCxnSpPr>
          <p:nvPr/>
        </p:nvCxnSpPr>
        <p:spPr>
          <a:xfrm>
            <a:off x="742317" y="1270738"/>
            <a:ext cx="30464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5D586C1-637B-BB92-039A-7F1DF8F9D0C3}"/>
                  </a:ext>
                </a:extLst>
              </p:cNvPr>
              <p:cNvSpPr/>
              <p:nvPr/>
            </p:nvSpPr>
            <p:spPr>
              <a:xfrm>
                <a:off x="1507807" y="941654"/>
                <a:ext cx="1142155"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𝜙</m:t>
                          </m:r>
                        </m:e>
                      </m:d>
                    </m:oMath>
                  </m:oMathPara>
                </a14:m>
                <a:endParaRPr lang="ar-AE">
                  <a:solidFill>
                    <a:schemeClr val="tx1"/>
                  </a:solidFill>
                </a:endParaRPr>
              </a:p>
            </p:txBody>
          </p:sp>
        </mc:Choice>
        <mc:Fallback xmlns="">
          <p:sp>
            <p:nvSpPr>
              <p:cNvPr id="6" name="Rectangle 5">
                <a:extLst>
                  <a:ext uri="{FF2B5EF4-FFF2-40B4-BE49-F238E27FC236}">
                    <a16:creationId xmlns:a16="http://schemas.microsoft.com/office/drawing/2014/main" id="{15D586C1-637B-BB92-039A-7F1DF8F9D0C3}"/>
                  </a:ext>
                </a:extLst>
              </p:cNvPr>
              <p:cNvSpPr>
                <a:spLocks noRot="1" noChangeAspect="1" noMove="1" noResize="1" noEditPoints="1" noAdjustHandles="1" noChangeArrowheads="1" noChangeShapeType="1" noTextEdit="1"/>
              </p:cNvSpPr>
              <p:nvPr/>
            </p:nvSpPr>
            <p:spPr>
              <a:xfrm>
                <a:off x="1507807" y="941654"/>
                <a:ext cx="1142155" cy="650789"/>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7" name="Straight Connector 6">
            <a:extLst>
              <a:ext uri="{FF2B5EF4-FFF2-40B4-BE49-F238E27FC236}">
                <a16:creationId xmlns:a16="http://schemas.microsoft.com/office/drawing/2014/main" id="{A0E1D5A3-A6E2-DADB-99FB-450B4CFA0C7F}"/>
              </a:ext>
            </a:extLst>
          </p:cNvPr>
          <p:cNvCxnSpPr>
            <a:cxnSpLocks/>
          </p:cNvCxnSpPr>
          <p:nvPr/>
        </p:nvCxnSpPr>
        <p:spPr>
          <a:xfrm flipV="1">
            <a:off x="930584" y="1165460"/>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FF1A9B-DE49-A125-C011-EA6FC1345682}"/>
                  </a:ext>
                </a:extLst>
              </p:cNvPr>
              <p:cNvSpPr txBox="1"/>
              <p:nvPr/>
            </p:nvSpPr>
            <p:spPr>
              <a:xfrm>
                <a:off x="619087" y="1598133"/>
                <a:ext cx="1620345" cy="3808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𝜓</m:t>
                              </m:r>
                            </m:e>
                            <m:sub>
                              <m:r>
                                <a:rPr lang="en-US" b="0" i="1" smtClean="0">
                                  <a:solidFill>
                                    <a:schemeClr val="tx1"/>
                                  </a:solidFill>
                                  <a:latin typeface="Cambria Math" panose="02040503050406030204" pitchFamily="18" charset="0"/>
                                </a:rPr>
                                <m:t>0</m:t>
                              </m:r>
                            </m:sub>
                          </m:sSub>
                        </m:e>
                      </m:d>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0</m:t>
                              </m:r>
                            </m:e>
                          </m:d>
                        </m:e>
                        <m: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sup>
                      </m:sSup>
                    </m:oMath>
                  </m:oMathPara>
                </a14:m>
                <a:endParaRPr lang="vi-VN" b="1">
                  <a:solidFill>
                    <a:schemeClr val="tx1"/>
                  </a:solidFill>
                </a:endParaRPr>
              </a:p>
            </p:txBody>
          </p:sp>
        </mc:Choice>
        <mc:Fallback xmlns="">
          <p:sp>
            <p:nvSpPr>
              <p:cNvPr id="8" name="TextBox 7">
                <a:extLst>
                  <a:ext uri="{FF2B5EF4-FFF2-40B4-BE49-F238E27FC236}">
                    <a16:creationId xmlns:a16="http://schemas.microsoft.com/office/drawing/2014/main" id="{56FF1A9B-DE49-A125-C011-EA6FC1345682}"/>
                  </a:ext>
                </a:extLst>
              </p:cNvPr>
              <p:cNvSpPr txBox="1">
                <a:spLocks noRot="1" noChangeAspect="1" noMove="1" noResize="1" noEditPoints="1" noAdjustHandles="1" noChangeArrowheads="1" noChangeShapeType="1" noTextEdit="1"/>
              </p:cNvSpPr>
              <p:nvPr/>
            </p:nvSpPr>
            <p:spPr>
              <a:xfrm>
                <a:off x="619087" y="1598133"/>
                <a:ext cx="1620345" cy="380810"/>
              </a:xfrm>
              <a:prstGeom prst="rect">
                <a:avLst/>
              </a:prstGeom>
              <a:blipFill>
                <a:blip r:embed="rId4"/>
                <a:stretch>
                  <a:fillRect b="-14286"/>
                </a:stretch>
              </a:blipFill>
            </p:spPr>
            <p:txBody>
              <a:bodyPr/>
              <a:lstStyle/>
              <a:p>
                <a:r>
                  <a:rPr lang="vi-VN">
                    <a:noFill/>
                  </a:rPr>
                  <a:t> </a:t>
                </a:r>
              </a:p>
            </p:txBody>
          </p:sp>
        </mc:Fallback>
      </mc:AlternateContent>
      <p:cxnSp>
        <p:nvCxnSpPr>
          <p:cNvPr id="9" name="Straight Arrow Connector 8">
            <a:extLst>
              <a:ext uri="{FF2B5EF4-FFF2-40B4-BE49-F238E27FC236}">
                <a16:creationId xmlns:a16="http://schemas.microsoft.com/office/drawing/2014/main" id="{DB90448E-F81D-F69A-4383-A99C6438B7EC}"/>
              </a:ext>
            </a:extLst>
          </p:cNvPr>
          <p:cNvCxnSpPr>
            <a:cxnSpLocks/>
          </p:cNvCxnSpPr>
          <p:nvPr/>
        </p:nvCxnSpPr>
        <p:spPr>
          <a:xfrm flipV="1">
            <a:off x="1230478" y="1284908"/>
            <a:ext cx="0" cy="36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BF3E86-148D-8511-8749-42FB7C570260}"/>
                  </a:ext>
                </a:extLst>
              </p:cNvPr>
              <p:cNvSpPr txBox="1"/>
              <p:nvPr/>
            </p:nvSpPr>
            <p:spPr>
              <a:xfrm>
                <a:off x="2323475" y="1598133"/>
                <a:ext cx="2557560"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endChr m:val="⟩"/>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𝜓</m:t>
                          </m:r>
                          <m:r>
                            <a:rPr lang="en-US" i="1" smtClean="0">
                              <a:solidFill>
                                <a:schemeClr val="tx1"/>
                              </a:solidFill>
                              <a:latin typeface="Cambria Math" panose="02040503050406030204" pitchFamily="18" charset="0"/>
                            </a:rPr>
                            <m:t>′</m:t>
                          </m:r>
                        </m:e>
                      </m:d>
                      <m:r>
                        <a:rPr lang="en-US" b="0" i="1" smtClean="0">
                          <a:solidFill>
                            <a:schemeClr val="tx1"/>
                          </a:solidFill>
                          <a:latin typeface="Cambria Math" panose="02040503050406030204" pitchFamily="18" charset="0"/>
                        </a:rPr>
                        <m:t>=</m:t>
                      </m:r>
                      <m:r>
                        <a:rPr lang="en-US" b="0" i="1">
                          <a:latin typeface="Cambria Math" panose="02040503050406030204" pitchFamily="18" charset="0"/>
                        </a:rPr>
                        <m:t>𝑈</m:t>
                      </m:r>
                      <m:d>
                        <m:dPr>
                          <m:ctrlPr>
                            <a:rPr lang="en-US" i="1">
                              <a:latin typeface="Cambria Math" panose="02040503050406030204" pitchFamily="18" charset="0"/>
                            </a:rPr>
                          </m:ctrlPr>
                        </m:dPr>
                        <m:e>
                          <m:r>
                            <a:rPr lang="en-US" b="0" i="1">
                              <a:latin typeface="Cambria Math" panose="02040503050406030204" pitchFamily="18" charset="0"/>
                            </a:rPr>
                            <m:t>𝜙</m:t>
                          </m:r>
                        </m:e>
                      </m:d>
                      <m:r>
                        <a:rPr lang="en-US" b="0" i="0"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ar-AE"/>
              </a:p>
            </p:txBody>
          </p:sp>
        </mc:Choice>
        <mc:Fallback xmlns="">
          <p:sp>
            <p:nvSpPr>
              <p:cNvPr id="12" name="TextBox 11">
                <a:extLst>
                  <a:ext uri="{FF2B5EF4-FFF2-40B4-BE49-F238E27FC236}">
                    <a16:creationId xmlns:a16="http://schemas.microsoft.com/office/drawing/2014/main" id="{96BF3E86-148D-8511-8749-42FB7C570260}"/>
                  </a:ext>
                </a:extLst>
              </p:cNvPr>
              <p:cNvSpPr txBox="1">
                <a:spLocks noRot="1" noChangeAspect="1" noMove="1" noResize="1" noEditPoints="1" noAdjustHandles="1" noChangeArrowheads="1" noChangeShapeType="1" noTextEdit="1"/>
              </p:cNvSpPr>
              <p:nvPr/>
            </p:nvSpPr>
            <p:spPr>
              <a:xfrm>
                <a:off x="2323475" y="1598133"/>
                <a:ext cx="2557560" cy="369332"/>
              </a:xfrm>
              <a:prstGeom prst="rect">
                <a:avLst/>
              </a:prstGeom>
              <a:blipFill>
                <a:blip r:embed="rId5"/>
                <a:stretch>
                  <a:fillRect b="-14754"/>
                </a:stretch>
              </a:blipFill>
            </p:spPr>
            <p:txBody>
              <a:bodyPr/>
              <a:lstStyle/>
              <a:p>
                <a:r>
                  <a:rPr lang="vi-VN">
                    <a:noFill/>
                  </a:rPr>
                  <a:t> </a:t>
                </a:r>
              </a:p>
            </p:txBody>
          </p:sp>
        </mc:Fallback>
      </mc:AlternateContent>
      <p:cxnSp>
        <p:nvCxnSpPr>
          <p:cNvPr id="13" name="Straight Arrow Connector 12">
            <a:extLst>
              <a:ext uri="{FF2B5EF4-FFF2-40B4-BE49-F238E27FC236}">
                <a16:creationId xmlns:a16="http://schemas.microsoft.com/office/drawing/2014/main" id="{ED86E370-72AE-6164-E10E-AF210A2553FF}"/>
              </a:ext>
            </a:extLst>
          </p:cNvPr>
          <p:cNvCxnSpPr>
            <a:cxnSpLocks/>
          </p:cNvCxnSpPr>
          <p:nvPr/>
        </p:nvCxnSpPr>
        <p:spPr>
          <a:xfrm flipV="1">
            <a:off x="2934866" y="1284908"/>
            <a:ext cx="0" cy="36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0DF3C35F-48CD-BA56-BBC0-E7F3DBC51900}"/>
              </a:ext>
            </a:extLst>
          </p:cNvPr>
          <p:cNvCxnSpPr>
            <a:cxnSpLocks/>
          </p:cNvCxnSpPr>
          <p:nvPr/>
        </p:nvCxnSpPr>
        <p:spPr>
          <a:xfrm flipV="1">
            <a:off x="2239432" y="1592443"/>
            <a:ext cx="0" cy="485096"/>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C59332C1-10F0-2696-6AC2-EC2FB81955EB}"/>
                  </a:ext>
                </a:extLst>
              </p:cNvPr>
              <p:cNvSpPr txBox="1">
                <a:spLocks/>
              </p:cNvSpPr>
              <p:nvPr/>
            </p:nvSpPr>
            <p:spPr>
              <a:xfrm>
                <a:off x="1425024" y="2032004"/>
                <a:ext cx="4040717" cy="38081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800">
                    <a:solidFill>
                      <a:srgbClr val="FF0000"/>
                    </a:solidFill>
                  </a:rPr>
                  <a:t>How to prepare </a:t>
                </a:r>
                <a14:m>
                  <m:oMath xmlns:m="http://schemas.openxmlformats.org/officeDocument/2006/math">
                    <m:r>
                      <a:rPr lang="en-US" sz="1800" b="0" i="1" smtClean="0">
                        <a:solidFill>
                          <a:srgbClr val="FF0000"/>
                        </a:solidFill>
                        <a:latin typeface="Cambria Math" panose="02040503050406030204" pitchFamily="18" charset="0"/>
                      </a:rPr>
                      <m:t>𝑈</m:t>
                    </m:r>
                    <m:d>
                      <m:dPr>
                        <m:ctrlPr>
                          <a:rPr lang="en-US" sz="1800" b="0" i="1" smtClean="0">
                            <a:solidFill>
                              <a:srgbClr val="FF0000"/>
                            </a:solidFill>
                            <a:latin typeface="Cambria Math" panose="02040503050406030204" pitchFamily="18" charset="0"/>
                          </a:rPr>
                        </m:ctrlPr>
                      </m:dPr>
                      <m:e>
                        <m:r>
                          <a:rPr lang="en-US" sz="1800" b="0" i="1" smtClean="0">
                            <a:solidFill>
                              <a:srgbClr val="FF0000"/>
                            </a:solidFill>
                            <a:latin typeface="Cambria Math" panose="02040503050406030204" pitchFamily="18" charset="0"/>
                          </a:rPr>
                          <m:t>𝜙</m:t>
                        </m:r>
                      </m:e>
                    </m:d>
                    <m:r>
                      <a:rPr lang="en-US" sz="1800" b="0" i="1" smtClean="0">
                        <a:solidFill>
                          <a:srgbClr val="FF0000"/>
                        </a:solidFill>
                        <a:latin typeface="Cambria Math" panose="02040503050406030204" pitchFamily="18" charset="0"/>
                      </a:rPr>
                      <m:t>?</m:t>
                    </m:r>
                  </m:oMath>
                </a14:m>
                <a:endParaRPr lang="vi-VN" sz="1800">
                  <a:solidFill>
                    <a:srgbClr val="FF0000"/>
                  </a:solidFill>
                </a:endParaRPr>
              </a:p>
            </p:txBody>
          </p:sp>
        </mc:Choice>
        <mc:Fallback xmlns="">
          <p:sp>
            <p:nvSpPr>
              <p:cNvPr id="16" name="Content Placeholder 2">
                <a:extLst>
                  <a:ext uri="{FF2B5EF4-FFF2-40B4-BE49-F238E27FC236}">
                    <a16:creationId xmlns:a16="http://schemas.microsoft.com/office/drawing/2014/main" id="{C59332C1-10F0-2696-6AC2-EC2FB81955EB}"/>
                  </a:ext>
                </a:extLst>
              </p:cNvPr>
              <p:cNvSpPr txBox="1">
                <a:spLocks noRot="1" noChangeAspect="1" noMove="1" noResize="1" noEditPoints="1" noAdjustHandles="1" noChangeArrowheads="1" noChangeShapeType="1" noTextEdit="1"/>
              </p:cNvSpPr>
              <p:nvPr/>
            </p:nvSpPr>
            <p:spPr>
              <a:xfrm>
                <a:off x="1425024" y="2032004"/>
                <a:ext cx="4040717" cy="380810"/>
              </a:xfrm>
              <a:prstGeom prst="rect">
                <a:avLst/>
              </a:prstGeom>
              <a:blipFill>
                <a:blip r:embed="rId6"/>
                <a:stretch>
                  <a:fillRect l="-1357" t="-14286" b="-14286"/>
                </a:stretch>
              </a:blipFill>
            </p:spPr>
            <p:txBody>
              <a:bodyPr/>
              <a:lstStyle/>
              <a:p>
                <a:r>
                  <a:rPr lang="vi-VN">
                    <a:noFill/>
                  </a:rPr>
                  <a:t> </a:t>
                </a:r>
              </a:p>
            </p:txBody>
          </p:sp>
        </mc:Fallback>
      </mc:AlternateContent>
      <p:cxnSp>
        <p:nvCxnSpPr>
          <p:cNvPr id="17" name="Straight Connector 16">
            <a:extLst>
              <a:ext uri="{FF2B5EF4-FFF2-40B4-BE49-F238E27FC236}">
                <a16:creationId xmlns:a16="http://schemas.microsoft.com/office/drawing/2014/main" id="{EA3AFE83-4A5F-6DEE-3427-2887B9B5EE5B}"/>
              </a:ext>
            </a:extLst>
          </p:cNvPr>
          <p:cNvCxnSpPr>
            <a:cxnSpLocks/>
          </p:cNvCxnSpPr>
          <p:nvPr/>
        </p:nvCxnSpPr>
        <p:spPr>
          <a:xfrm>
            <a:off x="931501" y="3421869"/>
            <a:ext cx="5486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B33E20-582C-9B8C-AA90-D23CA25A2DE6}"/>
              </a:ext>
            </a:extLst>
          </p:cNvPr>
          <p:cNvCxnSpPr>
            <a:cxnSpLocks/>
          </p:cNvCxnSpPr>
          <p:nvPr/>
        </p:nvCxnSpPr>
        <p:spPr>
          <a:xfrm>
            <a:off x="931501" y="3646235"/>
            <a:ext cx="5486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7D86038-3CAC-C9DF-BC12-9C1B85E871E7}"/>
              </a:ext>
            </a:extLst>
          </p:cNvPr>
          <p:cNvCxnSpPr>
            <a:cxnSpLocks/>
          </p:cNvCxnSpPr>
          <p:nvPr/>
        </p:nvCxnSpPr>
        <p:spPr>
          <a:xfrm>
            <a:off x="931501" y="3869018"/>
            <a:ext cx="548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3C90A47-6695-1E24-50B9-14C36C2C1D6D}"/>
              </a:ext>
            </a:extLst>
          </p:cNvPr>
          <p:cNvCxnSpPr>
            <a:cxnSpLocks/>
          </p:cNvCxnSpPr>
          <p:nvPr/>
        </p:nvCxnSpPr>
        <p:spPr>
          <a:xfrm>
            <a:off x="931501" y="4107914"/>
            <a:ext cx="548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216B4590-271B-BED3-4FFD-ECE30711DD02}"/>
                  </a:ext>
                </a:extLst>
              </p:cNvPr>
              <p:cNvSpPr txBox="1">
                <a:spLocks/>
              </p:cNvSpPr>
              <p:nvPr/>
            </p:nvSpPr>
            <p:spPr>
              <a:xfrm>
                <a:off x="800269" y="2349861"/>
                <a:ext cx="4040717" cy="38081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800"/>
                  <a:t>For example: </a:t>
                </a:r>
                <a14:m>
                  <m:oMath xmlns:m="http://schemas.openxmlformats.org/officeDocument/2006/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𝜓</m:t>
                        </m:r>
                        <m:r>
                          <a:rPr lang="en-US" sz="1800" b="0" i="1" smtClean="0">
                            <a:latin typeface="Cambria Math" panose="02040503050406030204" pitchFamily="18" charset="0"/>
                          </a:rPr>
                          <m:t>′</m:t>
                        </m:r>
                      </m:e>
                    </m:d>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m>
                          <m:mPr>
                            <m:mcs>
                              <m:mc>
                                <m:mcPr>
                                  <m:count m:val="2"/>
                                  <m:mcJc m:val="center"/>
                                </m:mcPr>
                              </m:mc>
                            </m:mcs>
                            <m:ctrlPr>
                              <a:rPr lang="en-US" sz="1800" b="0" i="1" smtClean="0">
                                <a:latin typeface="Cambria Math" panose="02040503050406030204" pitchFamily="18" charset="0"/>
                              </a:rPr>
                            </m:ctrlPr>
                          </m:mPr>
                          <m:mr>
                            <m:e>
                              <m:r>
                                <m:rPr>
                                  <m:brk m:alnAt="7"/>
                                </m:rPr>
                                <a:rPr lang="en-US" sz="1800" b="0" i="1" smtClean="0">
                                  <a:latin typeface="Cambria Math" panose="02040503050406030204" pitchFamily="18" charset="0"/>
                                </a:rPr>
                                <m:t>1</m:t>
                              </m:r>
                              <m:r>
                                <a:rPr lang="en-US" sz="1800" b="0" i="1" smtClean="0">
                                  <a:latin typeface="Cambria Math" panose="02040503050406030204" pitchFamily="18" charset="0"/>
                                </a:rPr>
                                <m:t>/</m:t>
                              </m:r>
                              <m:rad>
                                <m:radPr>
                                  <m:degHide m:val="on"/>
                                  <m:ctrlPr>
                                    <a:rPr lang="en-US" sz="1800" b="0" i="1" smtClean="0">
                                      <a:latin typeface="Cambria Math" panose="02040503050406030204" pitchFamily="18" charset="0"/>
                                    </a:rPr>
                                  </m:ctrlPr>
                                </m:radPr>
                                <m:deg/>
                                <m:e>
                                  <m:r>
                                    <a:rPr lang="en-US" sz="1800" b="0" i="1" smtClean="0">
                                      <a:latin typeface="Cambria Math" panose="02040503050406030204" pitchFamily="18" charset="0"/>
                                    </a:rPr>
                                    <m:t>5</m:t>
                                  </m:r>
                                </m:e>
                              </m:rad>
                            </m:e>
                            <m:e>
                              <m:r>
                                <a:rPr lang="en-US" sz="1800" b="0" i="1" smtClean="0">
                                  <a:latin typeface="Cambria Math" panose="02040503050406030204" pitchFamily="18" charset="0"/>
                                </a:rPr>
                                <m:t>2</m:t>
                              </m:r>
                              <m:r>
                                <m:rPr>
                                  <m:brk m:alnAt="7"/>
                                </m:rPr>
                                <a:rPr lang="en-US" sz="1800" i="1">
                                  <a:latin typeface="Cambria Math" panose="02040503050406030204" pitchFamily="18" charset="0"/>
                                </a:rPr>
                                <m:t>/</m:t>
                              </m:r>
                              <m:rad>
                                <m:radPr>
                                  <m:degHide m:val="on"/>
                                  <m:ctrlPr>
                                    <a:rPr lang="en-US" sz="1800" i="1">
                                      <a:latin typeface="Cambria Math" panose="02040503050406030204" pitchFamily="18" charset="0"/>
                                    </a:rPr>
                                  </m:ctrlPr>
                                </m:radPr>
                                <m:deg/>
                                <m:e>
                                  <m:r>
                                    <a:rPr lang="en-US" sz="1800" b="0" i="1" smtClean="0">
                                      <a:latin typeface="Cambria Math" panose="02040503050406030204" pitchFamily="18" charset="0"/>
                                    </a:rPr>
                                    <m:t>5</m:t>
                                  </m:r>
                                </m:e>
                              </m:rad>
                            </m:e>
                          </m:mr>
                        </m:m>
                      </m:e>
                    </m:d>
                  </m:oMath>
                </a14:m>
                <a:endParaRPr lang="vi-VN" sz="1800"/>
              </a:p>
            </p:txBody>
          </p:sp>
        </mc:Choice>
        <mc:Fallback xmlns="">
          <p:sp>
            <p:nvSpPr>
              <p:cNvPr id="22" name="Content Placeholder 2">
                <a:extLst>
                  <a:ext uri="{FF2B5EF4-FFF2-40B4-BE49-F238E27FC236}">
                    <a16:creationId xmlns:a16="http://schemas.microsoft.com/office/drawing/2014/main" id="{216B4590-271B-BED3-4FFD-ECE30711DD02}"/>
                  </a:ext>
                </a:extLst>
              </p:cNvPr>
              <p:cNvSpPr txBox="1">
                <a:spLocks noRot="1" noChangeAspect="1" noMove="1" noResize="1" noEditPoints="1" noAdjustHandles="1" noChangeArrowheads="1" noChangeShapeType="1" noTextEdit="1"/>
              </p:cNvSpPr>
              <p:nvPr/>
            </p:nvSpPr>
            <p:spPr>
              <a:xfrm>
                <a:off x="800269" y="2349861"/>
                <a:ext cx="4040717" cy="380810"/>
              </a:xfrm>
              <a:prstGeom prst="rect">
                <a:avLst/>
              </a:prstGeom>
              <a:blipFill>
                <a:blip r:embed="rId7"/>
                <a:stretch>
                  <a:fillRect l="-1207" t="-9524" b="-1904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A6B85C2-77B6-DF62-FE7B-FEB4ECC83178}"/>
                  </a:ext>
                </a:extLst>
              </p:cNvPr>
              <p:cNvSpPr txBox="1"/>
              <p:nvPr/>
            </p:nvSpPr>
            <p:spPr>
              <a:xfrm>
                <a:off x="800269" y="2747800"/>
                <a:ext cx="2286000" cy="64633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0.447</m:t>
                          </m:r>
                        </m:e>
                        <m:sub>
                          <m:r>
                            <a:rPr lang="en-US" b="0" i="1" smtClean="0">
                              <a:latin typeface="Cambria Math" panose="02040503050406030204" pitchFamily="18" charset="0"/>
                            </a:rPr>
                            <m:t>10</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0.0111</m:t>
                          </m:r>
                        </m:e>
                        <m:sub>
                          <m:r>
                            <a:rPr lang="en-US" b="0" i="1" smtClean="0">
                              <a:latin typeface="Cambria Math" panose="02040503050406030204" pitchFamily="18" charset="0"/>
                            </a:rPr>
                            <m:t>2</m:t>
                          </m:r>
                        </m:sub>
                      </m:sSub>
                    </m:oMath>
                  </m:oMathPara>
                </a14:m>
                <a:endParaRPr lang="en-US"/>
              </a:p>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vi-VN" i="1" smtClean="0">
                              <a:latin typeface="Cambria Math" panose="02040503050406030204" pitchFamily="18" charset="0"/>
                            </a:rPr>
                            <m:t>0.8944</m:t>
                          </m:r>
                        </m:e>
                        <m:sub>
                          <m:r>
                            <a:rPr lang="en-US" b="0" i="1" smtClean="0">
                              <a:latin typeface="Cambria Math" panose="02040503050406030204" pitchFamily="18" charset="0"/>
                            </a:rPr>
                            <m:t>10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0.1110</m:t>
                          </m:r>
                        </m:e>
                        <m:sub>
                          <m:r>
                            <a:rPr lang="en-US" b="0" i="1" smtClean="0">
                              <a:latin typeface="Cambria Math" panose="02040503050406030204" pitchFamily="18" charset="0"/>
                            </a:rPr>
                            <m:t>2</m:t>
                          </m:r>
                        </m:sub>
                      </m:sSub>
                    </m:oMath>
                  </m:oMathPara>
                </a14:m>
                <a:endParaRPr lang="vi-VN"/>
              </a:p>
            </p:txBody>
          </p:sp>
        </mc:Choice>
        <mc:Fallback xmlns="">
          <p:sp>
            <p:nvSpPr>
              <p:cNvPr id="23" name="TextBox 22">
                <a:extLst>
                  <a:ext uri="{FF2B5EF4-FFF2-40B4-BE49-F238E27FC236}">
                    <a16:creationId xmlns:a16="http://schemas.microsoft.com/office/drawing/2014/main" id="{0A6B85C2-77B6-DF62-FE7B-FEB4ECC83178}"/>
                  </a:ext>
                </a:extLst>
              </p:cNvPr>
              <p:cNvSpPr txBox="1">
                <a:spLocks noRot="1" noChangeAspect="1" noMove="1" noResize="1" noEditPoints="1" noAdjustHandles="1" noChangeArrowheads="1" noChangeShapeType="1" noTextEdit="1"/>
              </p:cNvSpPr>
              <p:nvPr/>
            </p:nvSpPr>
            <p:spPr>
              <a:xfrm>
                <a:off x="800269" y="2747800"/>
                <a:ext cx="2286000" cy="646331"/>
              </a:xfrm>
              <a:prstGeom prst="rect">
                <a:avLst/>
              </a:prstGeom>
              <a:blipFill>
                <a:blip r:embed="rId8"/>
                <a:stretch>
                  <a:fillRect/>
                </a:stretch>
              </a:blipFill>
            </p:spPr>
            <p:txBody>
              <a:bodyPr/>
              <a:lstStyle/>
              <a:p>
                <a:r>
                  <a:rPr lang="vi-VN">
                    <a:noFill/>
                  </a:rPr>
                  <a:t> </a:t>
                </a:r>
              </a:p>
            </p:txBody>
          </p:sp>
        </mc:Fallback>
      </mc:AlternateContent>
      <p:cxnSp>
        <p:nvCxnSpPr>
          <p:cNvPr id="26" name="Straight Connector 25">
            <a:extLst>
              <a:ext uri="{FF2B5EF4-FFF2-40B4-BE49-F238E27FC236}">
                <a16:creationId xmlns:a16="http://schemas.microsoft.com/office/drawing/2014/main" id="{22BA2717-8314-7A49-B4B5-D559D206141C}"/>
              </a:ext>
            </a:extLst>
          </p:cNvPr>
          <p:cNvCxnSpPr>
            <a:cxnSpLocks/>
          </p:cNvCxnSpPr>
          <p:nvPr/>
        </p:nvCxnSpPr>
        <p:spPr>
          <a:xfrm>
            <a:off x="931501" y="3536167"/>
            <a:ext cx="5486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C702D83-C040-641A-5961-59455ADC111C}"/>
              </a:ext>
            </a:extLst>
          </p:cNvPr>
          <p:cNvCxnSpPr>
            <a:cxnSpLocks/>
          </p:cNvCxnSpPr>
          <p:nvPr/>
        </p:nvCxnSpPr>
        <p:spPr>
          <a:xfrm>
            <a:off x="931501" y="3760533"/>
            <a:ext cx="5486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E284D74-39B1-82CA-A56B-B8B46BAFD783}"/>
              </a:ext>
            </a:extLst>
          </p:cNvPr>
          <p:cNvCxnSpPr>
            <a:cxnSpLocks/>
          </p:cNvCxnSpPr>
          <p:nvPr/>
        </p:nvCxnSpPr>
        <p:spPr>
          <a:xfrm>
            <a:off x="931501" y="3983316"/>
            <a:ext cx="548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208892C-4FFA-465F-488C-FB2B894F0580}"/>
              </a:ext>
            </a:extLst>
          </p:cNvPr>
          <p:cNvCxnSpPr>
            <a:cxnSpLocks/>
          </p:cNvCxnSpPr>
          <p:nvPr/>
        </p:nvCxnSpPr>
        <p:spPr>
          <a:xfrm>
            <a:off x="931501" y="4222212"/>
            <a:ext cx="548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63772B3E-A71D-3B16-284D-9FD0ADB71D7E}"/>
                  </a:ext>
                </a:extLst>
              </p:cNvPr>
              <p:cNvSpPr/>
              <p:nvPr/>
            </p:nvSpPr>
            <p:spPr>
              <a:xfrm>
                <a:off x="1161529" y="3481440"/>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0" name="Rectangle 29">
                <a:extLst>
                  <a:ext uri="{FF2B5EF4-FFF2-40B4-BE49-F238E27FC236}">
                    <a16:creationId xmlns:a16="http://schemas.microsoft.com/office/drawing/2014/main" id="{63772B3E-A71D-3B16-284D-9FD0ADB71D7E}"/>
                  </a:ext>
                </a:extLst>
              </p:cNvPr>
              <p:cNvSpPr>
                <a:spLocks noRot="1" noChangeAspect="1" noMove="1" noResize="1" noEditPoints="1" noAdjustHandles="1" noChangeArrowheads="1" noChangeShapeType="1" noTextEdit="1"/>
              </p:cNvSpPr>
              <p:nvPr/>
            </p:nvSpPr>
            <p:spPr>
              <a:xfrm>
                <a:off x="1161529" y="3481440"/>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604726F6-D2CF-9B34-80EB-D9E2D9F39266}"/>
                  </a:ext>
                </a:extLst>
              </p:cNvPr>
              <p:cNvSpPr/>
              <p:nvPr/>
            </p:nvSpPr>
            <p:spPr>
              <a:xfrm>
                <a:off x="1161529" y="3598903"/>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3" name="Rectangle 32">
                <a:extLst>
                  <a:ext uri="{FF2B5EF4-FFF2-40B4-BE49-F238E27FC236}">
                    <a16:creationId xmlns:a16="http://schemas.microsoft.com/office/drawing/2014/main" id="{604726F6-D2CF-9B34-80EB-D9E2D9F39266}"/>
                  </a:ext>
                </a:extLst>
              </p:cNvPr>
              <p:cNvSpPr>
                <a:spLocks noRot="1" noChangeAspect="1" noMove="1" noResize="1" noEditPoints="1" noAdjustHandles="1" noChangeArrowheads="1" noChangeShapeType="1" noTextEdit="1"/>
              </p:cNvSpPr>
              <p:nvPr/>
            </p:nvSpPr>
            <p:spPr>
              <a:xfrm>
                <a:off x="1161529" y="3598903"/>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253E16C9-A7E7-827F-6F3D-2FA24CA995EB}"/>
                  </a:ext>
                </a:extLst>
              </p:cNvPr>
              <p:cNvSpPr/>
              <p:nvPr/>
            </p:nvSpPr>
            <p:spPr>
              <a:xfrm>
                <a:off x="1161529" y="3710764"/>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4" name="Rectangle 33">
                <a:extLst>
                  <a:ext uri="{FF2B5EF4-FFF2-40B4-BE49-F238E27FC236}">
                    <a16:creationId xmlns:a16="http://schemas.microsoft.com/office/drawing/2014/main" id="{253E16C9-A7E7-827F-6F3D-2FA24CA995EB}"/>
                  </a:ext>
                </a:extLst>
              </p:cNvPr>
              <p:cNvSpPr>
                <a:spLocks noRot="1" noChangeAspect="1" noMove="1" noResize="1" noEditPoints="1" noAdjustHandles="1" noChangeArrowheads="1" noChangeShapeType="1" noTextEdit="1"/>
              </p:cNvSpPr>
              <p:nvPr/>
            </p:nvSpPr>
            <p:spPr>
              <a:xfrm>
                <a:off x="1161529" y="3710764"/>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F5E7A378-3642-CB73-885C-EC2DC31194B0}"/>
                  </a:ext>
                </a:extLst>
              </p:cNvPr>
              <p:cNvSpPr/>
              <p:nvPr/>
            </p:nvSpPr>
            <p:spPr>
              <a:xfrm>
                <a:off x="1161529" y="3820706"/>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5" name="Rectangle 34">
                <a:extLst>
                  <a:ext uri="{FF2B5EF4-FFF2-40B4-BE49-F238E27FC236}">
                    <a16:creationId xmlns:a16="http://schemas.microsoft.com/office/drawing/2014/main" id="{F5E7A378-3642-CB73-885C-EC2DC31194B0}"/>
                  </a:ext>
                </a:extLst>
              </p:cNvPr>
              <p:cNvSpPr>
                <a:spLocks noRot="1" noChangeAspect="1" noMove="1" noResize="1" noEditPoints="1" noAdjustHandles="1" noChangeArrowheads="1" noChangeShapeType="1" noTextEdit="1"/>
              </p:cNvSpPr>
              <p:nvPr/>
            </p:nvSpPr>
            <p:spPr>
              <a:xfrm>
                <a:off x="1161529" y="3820706"/>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75F315F3-6172-F103-989D-8B1D3DBB9E2F}"/>
                  </a:ext>
                </a:extLst>
              </p:cNvPr>
              <p:cNvSpPr/>
              <p:nvPr/>
            </p:nvSpPr>
            <p:spPr>
              <a:xfrm>
                <a:off x="1161529" y="3938169"/>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6" name="Rectangle 35">
                <a:extLst>
                  <a:ext uri="{FF2B5EF4-FFF2-40B4-BE49-F238E27FC236}">
                    <a16:creationId xmlns:a16="http://schemas.microsoft.com/office/drawing/2014/main" id="{75F315F3-6172-F103-989D-8B1D3DBB9E2F}"/>
                  </a:ext>
                </a:extLst>
              </p:cNvPr>
              <p:cNvSpPr>
                <a:spLocks noRot="1" noChangeAspect="1" noMove="1" noResize="1" noEditPoints="1" noAdjustHandles="1" noChangeArrowheads="1" noChangeShapeType="1" noTextEdit="1"/>
              </p:cNvSpPr>
              <p:nvPr/>
            </p:nvSpPr>
            <p:spPr>
              <a:xfrm>
                <a:off x="1161529" y="3938169"/>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498E84FB-8C46-6717-2A51-C10986B6E4D6}"/>
                  </a:ext>
                </a:extLst>
              </p:cNvPr>
              <p:cNvSpPr/>
              <p:nvPr/>
            </p:nvSpPr>
            <p:spPr>
              <a:xfrm>
                <a:off x="1161529" y="4050030"/>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7" name="Rectangle 36">
                <a:extLst>
                  <a:ext uri="{FF2B5EF4-FFF2-40B4-BE49-F238E27FC236}">
                    <a16:creationId xmlns:a16="http://schemas.microsoft.com/office/drawing/2014/main" id="{498E84FB-8C46-6717-2A51-C10986B6E4D6}"/>
                  </a:ext>
                </a:extLst>
              </p:cNvPr>
              <p:cNvSpPr>
                <a:spLocks noRot="1" noChangeAspect="1" noMove="1" noResize="1" noEditPoints="1" noAdjustHandles="1" noChangeArrowheads="1" noChangeShapeType="1" noTextEdit="1"/>
              </p:cNvSpPr>
              <p:nvPr/>
            </p:nvSpPr>
            <p:spPr>
              <a:xfrm>
                <a:off x="1161529" y="4050030"/>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p:sp>
        <p:nvSpPr>
          <p:cNvPr id="38" name="Left Brace 37">
            <a:extLst>
              <a:ext uri="{FF2B5EF4-FFF2-40B4-BE49-F238E27FC236}">
                <a16:creationId xmlns:a16="http://schemas.microsoft.com/office/drawing/2014/main" id="{67B8BF12-8E65-61AD-B3C9-79F6F85B6EDC}"/>
              </a:ext>
            </a:extLst>
          </p:cNvPr>
          <p:cNvSpPr/>
          <p:nvPr/>
        </p:nvSpPr>
        <p:spPr>
          <a:xfrm rot="10800000">
            <a:off x="1518585" y="3408524"/>
            <a:ext cx="191583" cy="369329"/>
          </a:xfrm>
          <a:prstGeom prst="leftBrace">
            <a:avLst>
              <a:gd name="adj1" fmla="val 18364"/>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0AFC929-D8FE-3790-139C-3864496962B7}"/>
                  </a:ext>
                </a:extLst>
              </p:cNvPr>
              <p:cNvSpPr txBox="1"/>
              <p:nvPr/>
            </p:nvSpPr>
            <p:spPr>
              <a:xfrm>
                <a:off x="1621809" y="3374230"/>
                <a:ext cx="768350" cy="407547"/>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m:t>
                      </m:r>
                      <m:rad>
                        <m:radPr>
                          <m:degHide m:val="on"/>
                          <m:ctrlPr>
                            <a:rPr lang="en-US" b="0" i="1" smtClean="0">
                              <a:solidFill>
                                <a:srgbClr val="FF0000"/>
                              </a:solidFill>
                              <a:latin typeface="Cambria Math" panose="02040503050406030204" pitchFamily="18" charset="0"/>
                            </a:rPr>
                          </m:ctrlPr>
                        </m:radPr>
                        <m:deg/>
                        <m:e>
                          <m:r>
                            <a:rPr lang="en-US" b="0" i="1" smtClean="0">
                              <a:solidFill>
                                <a:srgbClr val="FF0000"/>
                              </a:solidFill>
                              <a:latin typeface="Cambria Math" panose="02040503050406030204" pitchFamily="18" charset="0"/>
                            </a:rPr>
                            <m:t>5</m:t>
                          </m:r>
                        </m:e>
                      </m:rad>
                    </m:oMath>
                  </m:oMathPara>
                </a14:m>
                <a:endParaRPr lang="vi-VN">
                  <a:solidFill>
                    <a:srgbClr val="FF0000"/>
                  </a:solidFill>
                </a:endParaRPr>
              </a:p>
            </p:txBody>
          </p:sp>
        </mc:Choice>
        <mc:Fallback xmlns="">
          <p:sp>
            <p:nvSpPr>
              <p:cNvPr id="40" name="TextBox 39">
                <a:extLst>
                  <a:ext uri="{FF2B5EF4-FFF2-40B4-BE49-F238E27FC236}">
                    <a16:creationId xmlns:a16="http://schemas.microsoft.com/office/drawing/2014/main" id="{60AFC929-D8FE-3790-139C-3864496962B7}"/>
                  </a:ext>
                </a:extLst>
              </p:cNvPr>
              <p:cNvSpPr txBox="1">
                <a:spLocks noRot="1" noChangeAspect="1" noMove="1" noResize="1" noEditPoints="1" noAdjustHandles="1" noChangeArrowheads="1" noChangeShapeType="1" noTextEdit="1"/>
              </p:cNvSpPr>
              <p:nvPr/>
            </p:nvSpPr>
            <p:spPr>
              <a:xfrm>
                <a:off x="1621809" y="3374230"/>
                <a:ext cx="768350" cy="407547"/>
              </a:xfrm>
              <a:prstGeom prst="rect">
                <a:avLst/>
              </a:prstGeom>
              <a:blipFill>
                <a:blip r:embed="rId10"/>
                <a:stretch>
                  <a:fillRect b="-15152"/>
                </a:stretch>
              </a:blipFill>
              <a:ln>
                <a:noFill/>
              </a:ln>
            </p:spPr>
            <p:txBody>
              <a:bodyPr/>
              <a:lstStyle/>
              <a:p>
                <a:r>
                  <a:rPr lang="vi-VN">
                    <a:noFill/>
                  </a:rPr>
                  <a:t> </a:t>
                </a:r>
              </a:p>
            </p:txBody>
          </p:sp>
        </mc:Fallback>
      </mc:AlternateContent>
      <p:sp>
        <p:nvSpPr>
          <p:cNvPr id="41" name="Left Brace 40">
            <a:extLst>
              <a:ext uri="{FF2B5EF4-FFF2-40B4-BE49-F238E27FC236}">
                <a16:creationId xmlns:a16="http://schemas.microsoft.com/office/drawing/2014/main" id="{C4A13A9D-87F5-505E-66DA-FF1A347B9E28}"/>
              </a:ext>
            </a:extLst>
          </p:cNvPr>
          <p:cNvSpPr/>
          <p:nvPr/>
        </p:nvSpPr>
        <p:spPr>
          <a:xfrm rot="10800000">
            <a:off x="1533402" y="3866748"/>
            <a:ext cx="191583" cy="369329"/>
          </a:xfrm>
          <a:prstGeom prst="leftBrace">
            <a:avLst>
              <a:gd name="adj1" fmla="val 18364"/>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6A8350A-9AD9-7233-2C6D-CADA74120F9C}"/>
                  </a:ext>
                </a:extLst>
              </p:cNvPr>
              <p:cNvSpPr txBox="1"/>
              <p:nvPr/>
            </p:nvSpPr>
            <p:spPr>
              <a:xfrm>
                <a:off x="1636626" y="3832454"/>
                <a:ext cx="768350" cy="4075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2</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5</m:t>
                          </m:r>
                        </m:e>
                      </m:rad>
                    </m:oMath>
                  </m:oMathPara>
                </a14:m>
                <a:endParaRPr lang="vi-VN"/>
              </a:p>
            </p:txBody>
          </p:sp>
        </mc:Choice>
        <mc:Fallback xmlns="">
          <p:sp>
            <p:nvSpPr>
              <p:cNvPr id="42" name="TextBox 41">
                <a:extLst>
                  <a:ext uri="{FF2B5EF4-FFF2-40B4-BE49-F238E27FC236}">
                    <a16:creationId xmlns:a16="http://schemas.microsoft.com/office/drawing/2014/main" id="{76A8350A-9AD9-7233-2C6D-CADA74120F9C}"/>
                  </a:ext>
                </a:extLst>
              </p:cNvPr>
              <p:cNvSpPr txBox="1">
                <a:spLocks noRot="1" noChangeAspect="1" noMove="1" noResize="1" noEditPoints="1" noAdjustHandles="1" noChangeArrowheads="1" noChangeShapeType="1" noTextEdit="1"/>
              </p:cNvSpPr>
              <p:nvPr/>
            </p:nvSpPr>
            <p:spPr>
              <a:xfrm>
                <a:off x="1636626" y="3832454"/>
                <a:ext cx="768350" cy="407547"/>
              </a:xfrm>
              <a:prstGeom prst="rect">
                <a:avLst/>
              </a:prstGeom>
              <a:blipFill>
                <a:blip r:embed="rId11"/>
                <a:stretch>
                  <a:fillRect b="-13433"/>
                </a:stretch>
              </a:blipFill>
            </p:spPr>
            <p:txBody>
              <a:bodyPr/>
              <a:lstStyle/>
              <a:p>
                <a:r>
                  <a:rPr lang="vi-VN">
                    <a:noFill/>
                  </a:rPr>
                  <a:t> </a:t>
                </a:r>
              </a:p>
            </p:txBody>
          </p:sp>
        </mc:Fallback>
      </mc:AlternateContent>
      <p:cxnSp>
        <p:nvCxnSpPr>
          <p:cNvPr id="43" name="Straight Arrow Connector 42">
            <a:extLst>
              <a:ext uri="{FF2B5EF4-FFF2-40B4-BE49-F238E27FC236}">
                <a16:creationId xmlns:a16="http://schemas.microsoft.com/office/drawing/2014/main" id="{9DED8119-3EE8-5E3D-B88D-2A8D0E00B76B}"/>
              </a:ext>
            </a:extLst>
          </p:cNvPr>
          <p:cNvCxnSpPr>
            <a:cxnSpLocks/>
          </p:cNvCxnSpPr>
          <p:nvPr/>
        </p:nvCxnSpPr>
        <p:spPr>
          <a:xfrm>
            <a:off x="2247898" y="3812240"/>
            <a:ext cx="4915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Content Placeholder 2">
                <a:extLst>
                  <a:ext uri="{FF2B5EF4-FFF2-40B4-BE49-F238E27FC236}">
                    <a16:creationId xmlns:a16="http://schemas.microsoft.com/office/drawing/2014/main" id="{444E6799-F292-28D7-CAA8-E7F1914CB490}"/>
                  </a:ext>
                </a:extLst>
              </p:cNvPr>
              <p:cNvSpPr txBox="1">
                <a:spLocks/>
              </p:cNvSpPr>
              <p:nvPr/>
            </p:nvSpPr>
            <p:spPr>
              <a:xfrm>
                <a:off x="2716796" y="3676049"/>
                <a:ext cx="1217084" cy="380810"/>
              </a:xfrm>
              <a:prstGeom prst="rect">
                <a:avLst/>
              </a:prstGeom>
            </p:spPr>
            <p:txBody>
              <a:bodyPr vert="horz" lIns="91440" tIns="45720" rIns="91440" bIns="45720" rtlCol="0">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sSup>
                      <m:sSupPr>
                        <m:ctrlPr>
                          <a:rPr lang="en-US" sz="1800" b="0" i="1" smtClean="0">
                            <a:latin typeface="Cambria Math" panose="02040503050406030204" pitchFamily="18" charset="0"/>
                          </a:rPr>
                        </m:ctrlPr>
                      </m:sSupPr>
                      <m:e>
                        <m:r>
                          <a:rPr lang="en-US" sz="1800" i="1">
                            <a:latin typeface="Cambria Math" panose="02040503050406030204" pitchFamily="18" charset="0"/>
                          </a:rPr>
                          <m:t>𝑀</m:t>
                        </m:r>
                        <m:r>
                          <a:rPr lang="en-US" sz="1800" b="0" i="1" smtClean="0">
                            <a:latin typeface="Cambria Math" panose="02040503050406030204" pitchFamily="18" charset="0"/>
                          </a:rPr>
                          <m:t>2</m:t>
                        </m:r>
                      </m:e>
                      <m:sup>
                        <m:r>
                          <a:rPr lang="en-US" sz="1800" b="0" i="1" smtClean="0">
                            <a:latin typeface="Cambria Math" panose="02040503050406030204" pitchFamily="18" charset="0"/>
                          </a:rPr>
                          <m:t>𝑛</m:t>
                        </m:r>
                      </m:sup>
                    </m:sSup>
                    <m:r>
                      <a:rPr lang="en-US" sz="1800" b="0" i="1" smtClean="0">
                        <a:latin typeface="Cambria Math" panose="02040503050406030204" pitchFamily="18" charset="0"/>
                      </a:rPr>
                      <m:t> </m:t>
                    </m:r>
                  </m:oMath>
                </a14:m>
                <a:r>
                  <a:rPr lang="en-US" sz="1800"/>
                  <a:t>qubits</a:t>
                </a:r>
                <a:endParaRPr lang="vi-VN" sz="1800"/>
              </a:p>
            </p:txBody>
          </p:sp>
        </mc:Choice>
        <mc:Fallback xmlns="">
          <p:sp>
            <p:nvSpPr>
              <p:cNvPr id="45" name="Content Placeholder 2">
                <a:extLst>
                  <a:ext uri="{FF2B5EF4-FFF2-40B4-BE49-F238E27FC236}">
                    <a16:creationId xmlns:a16="http://schemas.microsoft.com/office/drawing/2014/main" id="{444E6799-F292-28D7-CAA8-E7F1914CB490}"/>
                  </a:ext>
                </a:extLst>
              </p:cNvPr>
              <p:cNvSpPr txBox="1">
                <a:spLocks noRot="1" noChangeAspect="1" noMove="1" noResize="1" noEditPoints="1" noAdjustHandles="1" noChangeArrowheads="1" noChangeShapeType="1" noTextEdit="1"/>
              </p:cNvSpPr>
              <p:nvPr/>
            </p:nvSpPr>
            <p:spPr>
              <a:xfrm>
                <a:off x="2716796" y="3676049"/>
                <a:ext cx="1217084" cy="380810"/>
              </a:xfrm>
              <a:prstGeom prst="rect">
                <a:avLst/>
              </a:prstGeom>
              <a:blipFill>
                <a:blip r:embed="rId12"/>
                <a:stretch>
                  <a:fillRect t="-11290" r="-503" b="-806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D90B47C-20EC-4730-5D8E-F484568E6EA0}"/>
                  </a:ext>
                </a:extLst>
              </p:cNvPr>
              <p:cNvSpPr txBox="1"/>
              <p:nvPr/>
            </p:nvSpPr>
            <p:spPr>
              <a:xfrm>
                <a:off x="773795" y="3345876"/>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49" name="TextBox 48">
                <a:extLst>
                  <a:ext uri="{FF2B5EF4-FFF2-40B4-BE49-F238E27FC236}">
                    <a16:creationId xmlns:a16="http://schemas.microsoft.com/office/drawing/2014/main" id="{0D90B47C-20EC-4730-5D8E-F484568E6EA0}"/>
                  </a:ext>
                </a:extLst>
              </p:cNvPr>
              <p:cNvSpPr txBox="1">
                <a:spLocks noRot="1" noChangeAspect="1" noMove="1" noResize="1" noEditPoints="1" noAdjustHandles="1" noChangeArrowheads="1" noChangeShapeType="1" noTextEdit="1"/>
              </p:cNvSpPr>
              <p:nvPr/>
            </p:nvSpPr>
            <p:spPr>
              <a:xfrm>
                <a:off x="773795" y="3345876"/>
                <a:ext cx="153888" cy="123111"/>
              </a:xfrm>
              <a:prstGeom prst="rect">
                <a:avLst/>
              </a:prstGeom>
              <a:blipFill>
                <a:blip r:embed="rId13"/>
                <a:stretch>
                  <a:fillRect l="-28000" t="-5000" r="-24000" b="-4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E1DA43A-8991-A1F6-62E4-A9F82CFC603D}"/>
                  </a:ext>
                </a:extLst>
              </p:cNvPr>
              <p:cNvSpPr txBox="1"/>
              <p:nvPr/>
            </p:nvSpPr>
            <p:spPr>
              <a:xfrm>
                <a:off x="773117" y="3463914"/>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0" name="TextBox 49">
                <a:extLst>
                  <a:ext uri="{FF2B5EF4-FFF2-40B4-BE49-F238E27FC236}">
                    <a16:creationId xmlns:a16="http://schemas.microsoft.com/office/drawing/2014/main" id="{3E1DA43A-8991-A1F6-62E4-A9F82CFC603D}"/>
                  </a:ext>
                </a:extLst>
              </p:cNvPr>
              <p:cNvSpPr txBox="1">
                <a:spLocks noRot="1" noChangeAspect="1" noMove="1" noResize="1" noEditPoints="1" noAdjustHandles="1" noChangeArrowheads="1" noChangeShapeType="1" noTextEdit="1"/>
              </p:cNvSpPr>
              <p:nvPr/>
            </p:nvSpPr>
            <p:spPr>
              <a:xfrm>
                <a:off x="773117" y="3463914"/>
                <a:ext cx="153888" cy="123111"/>
              </a:xfrm>
              <a:prstGeom prst="rect">
                <a:avLst/>
              </a:prstGeom>
              <a:blipFill>
                <a:blip r:embed="rId14"/>
                <a:stretch>
                  <a:fillRect l="-28000" r="-24000" b="-4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76AA4A1-9638-4567-C463-90290F4F9EC2}"/>
                  </a:ext>
                </a:extLst>
              </p:cNvPr>
              <p:cNvSpPr txBox="1"/>
              <p:nvPr/>
            </p:nvSpPr>
            <p:spPr>
              <a:xfrm>
                <a:off x="773117" y="3573963"/>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1" name="TextBox 50">
                <a:extLst>
                  <a:ext uri="{FF2B5EF4-FFF2-40B4-BE49-F238E27FC236}">
                    <a16:creationId xmlns:a16="http://schemas.microsoft.com/office/drawing/2014/main" id="{076AA4A1-9638-4567-C463-90290F4F9EC2}"/>
                  </a:ext>
                </a:extLst>
              </p:cNvPr>
              <p:cNvSpPr txBox="1">
                <a:spLocks noRot="1" noChangeAspect="1" noMove="1" noResize="1" noEditPoints="1" noAdjustHandles="1" noChangeArrowheads="1" noChangeShapeType="1" noTextEdit="1"/>
              </p:cNvSpPr>
              <p:nvPr/>
            </p:nvSpPr>
            <p:spPr>
              <a:xfrm>
                <a:off x="773117" y="3573963"/>
                <a:ext cx="153888" cy="123111"/>
              </a:xfrm>
              <a:prstGeom prst="rect">
                <a:avLst/>
              </a:prstGeom>
              <a:blipFill>
                <a:blip r:embed="rId14"/>
                <a:stretch>
                  <a:fillRect l="-28000" r="-24000" b="-4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E7E3BFF1-DEF6-C927-D659-E8688878B865}"/>
                  </a:ext>
                </a:extLst>
              </p:cNvPr>
              <p:cNvSpPr txBox="1"/>
              <p:nvPr/>
            </p:nvSpPr>
            <p:spPr>
              <a:xfrm>
                <a:off x="772439" y="3692001"/>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2" name="TextBox 51">
                <a:extLst>
                  <a:ext uri="{FF2B5EF4-FFF2-40B4-BE49-F238E27FC236}">
                    <a16:creationId xmlns:a16="http://schemas.microsoft.com/office/drawing/2014/main" id="{E7E3BFF1-DEF6-C927-D659-E8688878B865}"/>
                  </a:ext>
                </a:extLst>
              </p:cNvPr>
              <p:cNvSpPr txBox="1">
                <a:spLocks noRot="1" noChangeAspect="1" noMove="1" noResize="1" noEditPoints="1" noAdjustHandles="1" noChangeArrowheads="1" noChangeShapeType="1" noTextEdit="1"/>
              </p:cNvSpPr>
              <p:nvPr/>
            </p:nvSpPr>
            <p:spPr>
              <a:xfrm>
                <a:off x="772439" y="3692001"/>
                <a:ext cx="153888" cy="123111"/>
              </a:xfrm>
              <a:prstGeom prst="rect">
                <a:avLst/>
              </a:prstGeom>
              <a:blipFill>
                <a:blip r:embed="rId13"/>
                <a:stretch>
                  <a:fillRect l="-28000" t="-5000" r="-24000" b="-4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1C5509A-A9D1-37A1-E210-0BE5B9DBE972}"/>
                  </a:ext>
                </a:extLst>
              </p:cNvPr>
              <p:cNvSpPr txBox="1"/>
              <p:nvPr/>
            </p:nvSpPr>
            <p:spPr>
              <a:xfrm>
                <a:off x="770345" y="3795402"/>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3" name="TextBox 52">
                <a:extLst>
                  <a:ext uri="{FF2B5EF4-FFF2-40B4-BE49-F238E27FC236}">
                    <a16:creationId xmlns:a16="http://schemas.microsoft.com/office/drawing/2014/main" id="{91C5509A-A9D1-37A1-E210-0BE5B9DBE972}"/>
                  </a:ext>
                </a:extLst>
              </p:cNvPr>
              <p:cNvSpPr txBox="1">
                <a:spLocks noRot="1" noChangeAspect="1" noMove="1" noResize="1" noEditPoints="1" noAdjustHandles="1" noChangeArrowheads="1" noChangeShapeType="1" noTextEdit="1"/>
              </p:cNvSpPr>
              <p:nvPr/>
            </p:nvSpPr>
            <p:spPr>
              <a:xfrm>
                <a:off x="770345" y="3795402"/>
                <a:ext cx="153888" cy="123111"/>
              </a:xfrm>
              <a:prstGeom prst="rect">
                <a:avLst/>
              </a:prstGeom>
              <a:blipFill>
                <a:blip r:embed="rId15"/>
                <a:stretch>
                  <a:fillRect l="-23077" t="-5000" r="-23077" b="-4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1C0C340-4381-EE46-91EB-8C18FEAF500D}"/>
                  </a:ext>
                </a:extLst>
              </p:cNvPr>
              <p:cNvSpPr txBox="1"/>
              <p:nvPr/>
            </p:nvSpPr>
            <p:spPr>
              <a:xfrm>
                <a:off x="769667" y="3913440"/>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4" name="TextBox 53">
                <a:extLst>
                  <a:ext uri="{FF2B5EF4-FFF2-40B4-BE49-F238E27FC236}">
                    <a16:creationId xmlns:a16="http://schemas.microsoft.com/office/drawing/2014/main" id="{B1C0C340-4381-EE46-91EB-8C18FEAF500D}"/>
                  </a:ext>
                </a:extLst>
              </p:cNvPr>
              <p:cNvSpPr txBox="1">
                <a:spLocks noRot="1" noChangeAspect="1" noMove="1" noResize="1" noEditPoints="1" noAdjustHandles="1" noChangeArrowheads="1" noChangeShapeType="1" noTextEdit="1"/>
              </p:cNvSpPr>
              <p:nvPr/>
            </p:nvSpPr>
            <p:spPr>
              <a:xfrm>
                <a:off x="769667" y="3913440"/>
                <a:ext cx="153888" cy="123111"/>
              </a:xfrm>
              <a:prstGeom prst="rect">
                <a:avLst/>
              </a:prstGeom>
              <a:blipFill>
                <a:blip r:embed="rId15"/>
                <a:stretch>
                  <a:fillRect l="-23077" t="-5000" r="-23077" b="-4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A67FE19-1B70-5B9E-2EC4-576DDA0E3391}"/>
                  </a:ext>
                </a:extLst>
              </p:cNvPr>
              <p:cNvSpPr txBox="1"/>
              <p:nvPr/>
            </p:nvSpPr>
            <p:spPr>
              <a:xfrm>
                <a:off x="769667" y="4023489"/>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5" name="TextBox 54">
                <a:extLst>
                  <a:ext uri="{FF2B5EF4-FFF2-40B4-BE49-F238E27FC236}">
                    <a16:creationId xmlns:a16="http://schemas.microsoft.com/office/drawing/2014/main" id="{DA67FE19-1B70-5B9E-2EC4-576DDA0E3391}"/>
                  </a:ext>
                </a:extLst>
              </p:cNvPr>
              <p:cNvSpPr txBox="1">
                <a:spLocks noRot="1" noChangeAspect="1" noMove="1" noResize="1" noEditPoints="1" noAdjustHandles="1" noChangeArrowheads="1" noChangeShapeType="1" noTextEdit="1"/>
              </p:cNvSpPr>
              <p:nvPr/>
            </p:nvSpPr>
            <p:spPr>
              <a:xfrm>
                <a:off x="769667" y="4023489"/>
                <a:ext cx="153888" cy="123111"/>
              </a:xfrm>
              <a:prstGeom prst="rect">
                <a:avLst/>
              </a:prstGeom>
              <a:blipFill>
                <a:blip r:embed="rId16"/>
                <a:stretch>
                  <a:fillRect l="-23077" r="-23077" b="-4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2AD879E-2D27-757F-99C5-F5F8414A3E58}"/>
                  </a:ext>
                </a:extLst>
              </p:cNvPr>
              <p:cNvSpPr txBox="1"/>
              <p:nvPr/>
            </p:nvSpPr>
            <p:spPr>
              <a:xfrm>
                <a:off x="768989" y="4141527"/>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6" name="TextBox 55">
                <a:extLst>
                  <a:ext uri="{FF2B5EF4-FFF2-40B4-BE49-F238E27FC236}">
                    <a16:creationId xmlns:a16="http://schemas.microsoft.com/office/drawing/2014/main" id="{52AD879E-2D27-757F-99C5-F5F8414A3E58}"/>
                  </a:ext>
                </a:extLst>
              </p:cNvPr>
              <p:cNvSpPr txBox="1">
                <a:spLocks noRot="1" noChangeAspect="1" noMove="1" noResize="1" noEditPoints="1" noAdjustHandles="1" noChangeArrowheads="1" noChangeShapeType="1" noTextEdit="1"/>
              </p:cNvSpPr>
              <p:nvPr/>
            </p:nvSpPr>
            <p:spPr>
              <a:xfrm>
                <a:off x="768989" y="4141527"/>
                <a:ext cx="153888" cy="123111"/>
              </a:xfrm>
              <a:prstGeom prst="rect">
                <a:avLst/>
              </a:prstGeom>
              <a:blipFill>
                <a:blip r:embed="rId16"/>
                <a:stretch>
                  <a:fillRect l="-24000" r="-28000" b="-38095"/>
                </a:stretch>
              </a:blipFill>
            </p:spPr>
            <p:txBody>
              <a:bodyPr/>
              <a:lstStyle/>
              <a:p>
                <a:r>
                  <a:rPr lang="vi-VN">
                    <a:noFill/>
                  </a:rPr>
                  <a:t> </a:t>
                </a:r>
              </a:p>
            </p:txBody>
          </p:sp>
        </mc:Fallback>
      </mc:AlternateContent>
      <p:cxnSp>
        <p:nvCxnSpPr>
          <p:cNvPr id="57" name="Straight Connector 56">
            <a:extLst>
              <a:ext uri="{FF2B5EF4-FFF2-40B4-BE49-F238E27FC236}">
                <a16:creationId xmlns:a16="http://schemas.microsoft.com/office/drawing/2014/main" id="{DB1A5CF8-A949-8FF0-B749-38D6AB5B71E0}"/>
              </a:ext>
            </a:extLst>
          </p:cNvPr>
          <p:cNvCxnSpPr>
            <a:cxnSpLocks/>
          </p:cNvCxnSpPr>
          <p:nvPr/>
        </p:nvCxnSpPr>
        <p:spPr>
          <a:xfrm>
            <a:off x="4408727" y="2960963"/>
            <a:ext cx="22646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F0E03C4-9044-332F-8BB4-5F3E29A50F8F}"/>
                  </a:ext>
                </a:extLst>
              </p:cNvPr>
              <p:cNvSpPr txBox="1"/>
              <p:nvPr/>
            </p:nvSpPr>
            <p:spPr>
              <a:xfrm>
                <a:off x="4036400" y="2795729"/>
                <a:ext cx="3494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vi-VN"/>
              </a:p>
            </p:txBody>
          </p:sp>
        </mc:Choice>
        <mc:Fallback xmlns="">
          <p:sp>
            <p:nvSpPr>
              <p:cNvPr id="58" name="TextBox 57">
                <a:extLst>
                  <a:ext uri="{FF2B5EF4-FFF2-40B4-BE49-F238E27FC236}">
                    <a16:creationId xmlns:a16="http://schemas.microsoft.com/office/drawing/2014/main" id="{2F0E03C4-9044-332F-8BB4-5F3E29A50F8F}"/>
                  </a:ext>
                </a:extLst>
              </p:cNvPr>
              <p:cNvSpPr txBox="1">
                <a:spLocks noRot="1" noChangeAspect="1" noMove="1" noResize="1" noEditPoints="1" noAdjustHandles="1" noChangeArrowheads="1" noChangeShapeType="1" noTextEdit="1"/>
              </p:cNvSpPr>
              <p:nvPr/>
            </p:nvSpPr>
            <p:spPr>
              <a:xfrm>
                <a:off x="4036400" y="2795729"/>
                <a:ext cx="349455" cy="276999"/>
              </a:xfrm>
              <a:prstGeom prst="rect">
                <a:avLst/>
              </a:prstGeom>
              <a:blipFill>
                <a:blip r:embed="rId17"/>
                <a:stretch>
                  <a:fillRect l="-22807" t="-2222" r="-22807" b="-3777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D9823389-AD4F-0880-4B8C-9137C899F2F5}"/>
                  </a:ext>
                </a:extLst>
              </p:cNvPr>
              <p:cNvSpPr/>
              <p:nvPr/>
            </p:nvSpPr>
            <p:spPr>
              <a:xfrm>
                <a:off x="4532988" y="2773000"/>
                <a:ext cx="1303127" cy="379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𝑅</m:t>
                          </m:r>
                        </m:e>
                        <m:sub>
                          <m:r>
                            <a:rPr lang="en-US" b="0" i="1" smtClean="0">
                              <a:solidFill>
                                <a:schemeClr val="tx1"/>
                              </a:solidFill>
                              <a:latin typeface="Cambria Math" panose="02040503050406030204" pitchFamily="18" charset="0"/>
                            </a:rPr>
                            <m:t>𝑌</m:t>
                          </m:r>
                        </m:sub>
                      </m:sSub>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2.2143</m:t>
                          </m:r>
                        </m:e>
                      </m:d>
                    </m:oMath>
                  </m:oMathPara>
                </a14:m>
                <a:endParaRPr lang="ar-AE">
                  <a:solidFill>
                    <a:schemeClr val="tx1"/>
                  </a:solidFill>
                </a:endParaRPr>
              </a:p>
            </p:txBody>
          </p:sp>
        </mc:Choice>
        <mc:Fallback xmlns="">
          <p:sp>
            <p:nvSpPr>
              <p:cNvPr id="60" name="Rectangle 59">
                <a:extLst>
                  <a:ext uri="{FF2B5EF4-FFF2-40B4-BE49-F238E27FC236}">
                    <a16:creationId xmlns:a16="http://schemas.microsoft.com/office/drawing/2014/main" id="{D9823389-AD4F-0880-4B8C-9137C899F2F5}"/>
                  </a:ext>
                </a:extLst>
              </p:cNvPr>
              <p:cNvSpPr>
                <a:spLocks noRot="1" noChangeAspect="1" noMove="1" noResize="1" noEditPoints="1" noAdjustHandles="1" noChangeArrowheads="1" noChangeShapeType="1" noTextEdit="1"/>
              </p:cNvSpPr>
              <p:nvPr/>
            </p:nvSpPr>
            <p:spPr>
              <a:xfrm>
                <a:off x="4532988" y="2773000"/>
                <a:ext cx="1303127" cy="379996"/>
              </a:xfrm>
              <a:prstGeom prst="rect">
                <a:avLst/>
              </a:prstGeom>
              <a:blipFill>
                <a:blip r:embed="rId18"/>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45E946F-CC73-31B9-9EC4-29889D790CB1}"/>
                  </a:ext>
                </a:extLst>
              </p:cNvPr>
              <p:cNvSpPr txBox="1"/>
              <p:nvPr/>
            </p:nvSpPr>
            <p:spPr>
              <a:xfrm>
                <a:off x="5923397" y="3134529"/>
                <a:ext cx="1500026" cy="7184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r>
                            <a:rPr lang="en-US" b="0" i="1" smtClean="0">
                              <a:latin typeface="Cambria Math" panose="02040503050406030204" pitchFamily="18" charset="0"/>
                            </a:rPr>
                            <m:t>′</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5</m:t>
                                    </m:r>
                                  </m:e>
                                </m:rad>
                              </m:e>
                            </m:mr>
                            <m:mr>
                              <m:e>
                                <m:r>
                                  <a:rPr lang="en-US" b="0" i="1" smtClean="0">
                                    <a:latin typeface="Cambria Math" panose="02040503050406030204" pitchFamily="18" charset="0"/>
                                  </a:rPr>
                                  <m:t>2</m:t>
                                </m:r>
                                <m:r>
                                  <m:rPr>
                                    <m:brk m:alnAt="7"/>
                                  </m:rP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5</m:t>
                                    </m:r>
                                  </m:e>
                                </m:rad>
                              </m:e>
                            </m:mr>
                          </m:m>
                        </m:e>
                      </m:d>
                      <m:r>
                        <a:rPr lang="en-US" b="0" i="1" smtClean="0">
                          <a:latin typeface="Cambria Math" panose="02040503050406030204" pitchFamily="18" charset="0"/>
                        </a:rPr>
                        <m:t> </m:t>
                      </m:r>
                    </m:oMath>
                  </m:oMathPara>
                </a14:m>
                <a:endParaRPr lang="vi-VN"/>
              </a:p>
            </p:txBody>
          </p:sp>
        </mc:Choice>
        <mc:Fallback xmlns="">
          <p:sp>
            <p:nvSpPr>
              <p:cNvPr id="62" name="TextBox 61">
                <a:extLst>
                  <a:ext uri="{FF2B5EF4-FFF2-40B4-BE49-F238E27FC236}">
                    <a16:creationId xmlns:a16="http://schemas.microsoft.com/office/drawing/2014/main" id="{E45E946F-CC73-31B9-9EC4-29889D790CB1}"/>
                  </a:ext>
                </a:extLst>
              </p:cNvPr>
              <p:cNvSpPr txBox="1">
                <a:spLocks noRot="1" noChangeAspect="1" noMove="1" noResize="1" noEditPoints="1" noAdjustHandles="1" noChangeArrowheads="1" noChangeShapeType="1" noTextEdit="1"/>
              </p:cNvSpPr>
              <p:nvPr/>
            </p:nvSpPr>
            <p:spPr>
              <a:xfrm>
                <a:off x="5923397" y="3134529"/>
                <a:ext cx="1500026" cy="718402"/>
              </a:xfrm>
              <a:prstGeom prst="rect">
                <a:avLst/>
              </a:prstGeom>
              <a:blipFill>
                <a:blip r:embed="rId19"/>
                <a:stretch>
                  <a:fillRect/>
                </a:stretch>
              </a:blipFill>
            </p:spPr>
            <p:txBody>
              <a:bodyPr/>
              <a:lstStyle/>
              <a:p>
                <a:r>
                  <a:rPr lang="vi-VN">
                    <a:noFill/>
                  </a:rPr>
                  <a:t> </a:t>
                </a:r>
              </a:p>
            </p:txBody>
          </p:sp>
        </mc:Fallback>
      </mc:AlternateContent>
      <p:cxnSp>
        <p:nvCxnSpPr>
          <p:cNvPr id="64" name="Straight Arrow Connector 63">
            <a:extLst>
              <a:ext uri="{FF2B5EF4-FFF2-40B4-BE49-F238E27FC236}">
                <a16:creationId xmlns:a16="http://schemas.microsoft.com/office/drawing/2014/main" id="{12803414-AAE4-B4DE-ECD1-392044CAB67D}"/>
              </a:ext>
            </a:extLst>
          </p:cNvPr>
          <p:cNvCxnSpPr>
            <a:cxnSpLocks/>
          </p:cNvCxnSpPr>
          <p:nvPr/>
        </p:nvCxnSpPr>
        <p:spPr>
          <a:xfrm flipV="1">
            <a:off x="6083622" y="3011693"/>
            <a:ext cx="0" cy="3509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920F3974-C5E5-02EB-2148-0837096B6262}"/>
              </a:ext>
            </a:extLst>
          </p:cNvPr>
          <p:cNvCxnSpPr>
            <a:cxnSpLocks/>
          </p:cNvCxnSpPr>
          <p:nvPr/>
        </p:nvCxnSpPr>
        <p:spPr>
          <a:xfrm flipV="1">
            <a:off x="5287435" y="3162399"/>
            <a:ext cx="0" cy="845959"/>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7" name="Content Placeholder 2">
                <a:extLst>
                  <a:ext uri="{FF2B5EF4-FFF2-40B4-BE49-F238E27FC236}">
                    <a16:creationId xmlns:a16="http://schemas.microsoft.com/office/drawing/2014/main" id="{851B5FC4-6623-6A8E-77E5-52F105D3A30F}"/>
                  </a:ext>
                </a:extLst>
              </p:cNvPr>
              <p:cNvSpPr txBox="1">
                <a:spLocks/>
              </p:cNvSpPr>
              <p:nvPr/>
            </p:nvSpPr>
            <p:spPr>
              <a:xfrm>
                <a:off x="4532989" y="4033980"/>
                <a:ext cx="1648262" cy="38081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800">
                    <a:solidFill>
                      <a:srgbClr val="FF0000"/>
                    </a:solidFill>
                  </a:rPr>
                  <a:t>How to find </a:t>
                </a:r>
                <a14:m>
                  <m:oMath xmlns:m="http://schemas.openxmlformats.org/officeDocument/2006/math">
                    <m:r>
                      <a:rPr lang="en-US" sz="1800" b="0" i="1" smtClean="0">
                        <a:solidFill>
                          <a:srgbClr val="FF0000"/>
                        </a:solidFill>
                        <a:latin typeface="Cambria Math" panose="02040503050406030204" pitchFamily="18" charset="0"/>
                      </a:rPr>
                      <m:t>𝜙</m:t>
                    </m:r>
                    <m:r>
                      <a:rPr lang="en-US" sz="1800" b="0" i="1" smtClean="0">
                        <a:solidFill>
                          <a:srgbClr val="FF0000"/>
                        </a:solidFill>
                        <a:latin typeface="Cambria Math" panose="02040503050406030204" pitchFamily="18" charset="0"/>
                      </a:rPr>
                      <m:t>?</m:t>
                    </m:r>
                  </m:oMath>
                </a14:m>
                <a:endParaRPr lang="vi-VN" sz="1800">
                  <a:solidFill>
                    <a:srgbClr val="FF0000"/>
                  </a:solidFill>
                </a:endParaRPr>
              </a:p>
            </p:txBody>
          </p:sp>
        </mc:Choice>
        <mc:Fallback xmlns="">
          <p:sp>
            <p:nvSpPr>
              <p:cNvPr id="67" name="Content Placeholder 2">
                <a:extLst>
                  <a:ext uri="{FF2B5EF4-FFF2-40B4-BE49-F238E27FC236}">
                    <a16:creationId xmlns:a16="http://schemas.microsoft.com/office/drawing/2014/main" id="{851B5FC4-6623-6A8E-77E5-52F105D3A30F}"/>
                  </a:ext>
                </a:extLst>
              </p:cNvPr>
              <p:cNvSpPr txBox="1">
                <a:spLocks noRot="1" noChangeAspect="1" noMove="1" noResize="1" noEditPoints="1" noAdjustHandles="1" noChangeArrowheads="1" noChangeShapeType="1" noTextEdit="1"/>
              </p:cNvSpPr>
              <p:nvPr/>
            </p:nvSpPr>
            <p:spPr>
              <a:xfrm>
                <a:off x="4532989" y="4033980"/>
                <a:ext cx="1648262" cy="380810"/>
              </a:xfrm>
              <a:prstGeom prst="rect">
                <a:avLst/>
              </a:prstGeom>
              <a:blipFill>
                <a:blip r:embed="rId20"/>
                <a:stretch>
                  <a:fillRect l="-3333" t="-16129" b="-16129"/>
                </a:stretch>
              </a:blipFill>
            </p:spPr>
            <p:txBody>
              <a:bodyPr/>
              <a:lstStyle/>
              <a:p>
                <a:r>
                  <a:rPr lang="vi-VN">
                    <a:noFill/>
                  </a:rPr>
                  <a:t> </a:t>
                </a:r>
              </a:p>
            </p:txBody>
          </p:sp>
        </mc:Fallback>
      </mc:AlternateContent>
      <p:sp>
        <p:nvSpPr>
          <p:cNvPr id="69" name="Content Placeholder 2">
            <a:extLst>
              <a:ext uri="{FF2B5EF4-FFF2-40B4-BE49-F238E27FC236}">
                <a16:creationId xmlns:a16="http://schemas.microsoft.com/office/drawing/2014/main" id="{A63CD7F2-59A0-CCD9-5FEB-55E5594506A7}"/>
              </a:ext>
            </a:extLst>
          </p:cNvPr>
          <p:cNvSpPr txBox="1">
            <a:spLocks/>
          </p:cNvSpPr>
          <p:nvPr/>
        </p:nvSpPr>
        <p:spPr>
          <a:xfrm>
            <a:off x="705739" y="4357575"/>
            <a:ext cx="3256661" cy="29062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en-US" sz="1200"/>
              <a:t>Basic encoding</a:t>
            </a:r>
            <a:endParaRPr lang="vi-VN" sz="1200"/>
          </a:p>
        </p:txBody>
      </p:sp>
      <p:sp>
        <p:nvSpPr>
          <p:cNvPr id="70" name="Content Placeholder 2">
            <a:extLst>
              <a:ext uri="{FF2B5EF4-FFF2-40B4-BE49-F238E27FC236}">
                <a16:creationId xmlns:a16="http://schemas.microsoft.com/office/drawing/2014/main" id="{FB92F090-0728-4F4A-8FCF-78EF86BA12B1}"/>
              </a:ext>
            </a:extLst>
          </p:cNvPr>
          <p:cNvSpPr txBox="1">
            <a:spLocks/>
          </p:cNvSpPr>
          <p:nvPr/>
        </p:nvSpPr>
        <p:spPr>
          <a:xfrm>
            <a:off x="4030273" y="4357575"/>
            <a:ext cx="4796366" cy="29062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en-US" sz="1200"/>
              <a:t>Amplitude encoding</a:t>
            </a:r>
            <a:endParaRPr lang="vi-VN" sz="1200"/>
          </a:p>
        </p:txBody>
      </p:sp>
      <p:sp>
        <p:nvSpPr>
          <p:cNvPr id="71" name="Rectangle 70">
            <a:extLst>
              <a:ext uri="{FF2B5EF4-FFF2-40B4-BE49-F238E27FC236}">
                <a16:creationId xmlns:a16="http://schemas.microsoft.com/office/drawing/2014/main" id="{FC4AE028-FAFE-9FE6-CD5B-ADD4DFF54560}"/>
              </a:ext>
            </a:extLst>
          </p:cNvPr>
          <p:cNvSpPr/>
          <p:nvPr/>
        </p:nvSpPr>
        <p:spPr>
          <a:xfrm>
            <a:off x="705739" y="2733407"/>
            <a:ext cx="3228141" cy="16097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2" name="Rectangle 71">
            <a:extLst>
              <a:ext uri="{FF2B5EF4-FFF2-40B4-BE49-F238E27FC236}">
                <a16:creationId xmlns:a16="http://schemas.microsoft.com/office/drawing/2014/main" id="{68905BD4-5B12-B86C-9678-F336C4E1FC4C}"/>
              </a:ext>
            </a:extLst>
          </p:cNvPr>
          <p:cNvSpPr/>
          <p:nvPr/>
        </p:nvSpPr>
        <p:spPr>
          <a:xfrm>
            <a:off x="4030273" y="2731308"/>
            <a:ext cx="4796366" cy="16097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73" name="Straight Arrow Connector 72">
            <a:extLst>
              <a:ext uri="{FF2B5EF4-FFF2-40B4-BE49-F238E27FC236}">
                <a16:creationId xmlns:a16="http://schemas.microsoft.com/office/drawing/2014/main" id="{802876DD-11CA-F3F5-9D5B-AE3B4CC9BE12}"/>
              </a:ext>
            </a:extLst>
          </p:cNvPr>
          <p:cNvCxnSpPr>
            <a:cxnSpLocks/>
          </p:cNvCxnSpPr>
          <p:nvPr/>
        </p:nvCxnSpPr>
        <p:spPr>
          <a:xfrm>
            <a:off x="7404098" y="3511999"/>
            <a:ext cx="4915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4" name="Content Placeholder 2">
                <a:extLst>
                  <a:ext uri="{FF2B5EF4-FFF2-40B4-BE49-F238E27FC236}">
                    <a16:creationId xmlns:a16="http://schemas.microsoft.com/office/drawing/2014/main" id="{AABF885A-6543-2385-06C0-EE1DB282C2B0}"/>
                  </a:ext>
                </a:extLst>
              </p:cNvPr>
              <p:cNvSpPr txBox="1">
                <a:spLocks/>
              </p:cNvSpPr>
              <p:nvPr/>
            </p:nvSpPr>
            <p:spPr>
              <a:xfrm>
                <a:off x="7872996" y="3333477"/>
                <a:ext cx="1217084" cy="38081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r>
                      <a:rPr lang="en-US" sz="1800" b="0" i="1" smtClean="0">
                        <a:latin typeface="Cambria Math" panose="02040503050406030204" pitchFamily="18" charset="0"/>
                      </a:rPr>
                      <m:t>𝑛</m:t>
                    </m:r>
                    <m:r>
                      <a:rPr lang="en-US" sz="1800" b="0" i="1" smtClean="0">
                        <a:latin typeface="Cambria Math" panose="02040503050406030204" pitchFamily="18" charset="0"/>
                      </a:rPr>
                      <m:t> </m:t>
                    </m:r>
                  </m:oMath>
                </a14:m>
                <a:r>
                  <a:rPr lang="en-US" sz="1800"/>
                  <a:t>qubits</a:t>
                </a:r>
                <a:endParaRPr lang="vi-VN" sz="1800"/>
              </a:p>
            </p:txBody>
          </p:sp>
        </mc:Choice>
        <mc:Fallback xmlns="">
          <p:sp>
            <p:nvSpPr>
              <p:cNvPr id="74" name="Content Placeholder 2">
                <a:extLst>
                  <a:ext uri="{FF2B5EF4-FFF2-40B4-BE49-F238E27FC236}">
                    <a16:creationId xmlns:a16="http://schemas.microsoft.com/office/drawing/2014/main" id="{AABF885A-6543-2385-06C0-EE1DB282C2B0}"/>
                  </a:ext>
                </a:extLst>
              </p:cNvPr>
              <p:cNvSpPr txBox="1">
                <a:spLocks noRot="1" noChangeAspect="1" noMove="1" noResize="1" noEditPoints="1" noAdjustHandles="1" noChangeArrowheads="1" noChangeShapeType="1" noTextEdit="1"/>
              </p:cNvSpPr>
              <p:nvPr/>
            </p:nvSpPr>
            <p:spPr>
              <a:xfrm>
                <a:off x="7872996" y="3333477"/>
                <a:ext cx="1217084" cy="380810"/>
              </a:xfrm>
              <a:prstGeom prst="rect">
                <a:avLst/>
              </a:prstGeom>
              <a:blipFill>
                <a:blip r:embed="rId21"/>
                <a:stretch>
                  <a:fillRect t="-16129" b="-16129"/>
                </a:stretch>
              </a:blipFill>
            </p:spPr>
            <p:txBody>
              <a:bodyPr/>
              <a:lstStyle/>
              <a:p>
                <a:r>
                  <a:rPr lang="vi-VN">
                    <a:noFill/>
                  </a:rPr>
                  <a:t> </a:t>
                </a:r>
              </a:p>
            </p:txBody>
          </p:sp>
        </mc:Fallback>
      </mc:AlternateContent>
      <p:sp>
        <p:nvSpPr>
          <p:cNvPr id="79" name="TextBox 78">
            <a:extLst>
              <a:ext uri="{FF2B5EF4-FFF2-40B4-BE49-F238E27FC236}">
                <a16:creationId xmlns:a16="http://schemas.microsoft.com/office/drawing/2014/main" id="{6D0BF38F-3695-3F8A-F79C-8638ACE1220C}"/>
              </a:ext>
            </a:extLst>
          </p:cNvPr>
          <p:cNvSpPr txBox="1"/>
          <p:nvPr/>
        </p:nvSpPr>
        <p:spPr>
          <a:xfrm>
            <a:off x="628651" y="4787303"/>
            <a:ext cx="7244346" cy="246221"/>
          </a:xfrm>
          <a:prstGeom prst="rect">
            <a:avLst/>
          </a:prstGeom>
          <a:noFill/>
        </p:spPr>
        <p:txBody>
          <a:bodyPr wrap="square">
            <a:spAutoFit/>
          </a:bodyPr>
          <a:lstStyle/>
          <a:p>
            <a:r>
              <a:rPr lang="en-US" sz="1000" b="1" i="0">
                <a:solidFill>
                  <a:srgbClr val="222222"/>
                </a:solidFill>
                <a:effectLst/>
              </a:rPr>
              <a:t>[1.1.1] </a:t>
            </a:r>
            <a:r>
              <a:rPr lang="en-US" sz="1000" b="0" i="0">
                <a:solidFill>
                  <a:srgbClr val="222222"/>
                </a:solidFill>
                <a:effectLst/>
              </a:rPr>
              <a:t>Schuld, M., &amp; Petruccione, F. (2018). Supervised learning with quantum computers. </a:t>
            </a:r>
            <a:r>
              <a:rPr lang="en-US" sz="1000" b="0" i="1">
                <a:solidFill>
                  <a:srgbClr val="222222"/>
                </a:solidFill>
                <a:effectLst/>
              </a:rPr>
              <a:t>Quantum science and technology</a:t>
            </a:r>
            <a:r>
              <a:rPr lang="en-US" sz="1000" b="0" i="0">
                <a:solidFill>
                  <a:srgbClr val="222222"/>
                </a:solidFill>
                <a:effectLst/>
              </a:rPr>
              <a:t>, </a:t>
            </a:r>
            <a:r>
              <a:rPr lang="en-US" sz="1000" b="0" i="1">
                <a:solidFill>
                  <a:srgbClr val="222222"/>
                </a:solidFill>
                <a:effectLst/>
              </a:rPr>
              <a:t>17</a:t>
            </a:r>
            <a:r>
              <a:rPr lang="en-US" sz="1000" b="0" i="0">
                <a:solidFill>
                  <a:srgbClr val="222222"/>
                </a:solidFill>
                <a:effectLst/>
              </a:rPr>
              <a:t>.</a:t>
            </a:r>
            <a:endParaRPr lang="vi-VN" sz="1000"/>
          </a:p>
        </p:txBody>
      </p:sp>
    </p:spTree>
    <p:extLst>
      <p:ext uri="{BB962C8B-B14F-4D97-AF65-F5344CB8AC3E}">
        <p14:creationId xmlns:p14="http://schemas.microsoft.com/office/powerpoint/2010/main" val="3544244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Arrow Connector 45">
            <a:extLst>
              <a:ext uri="{FF2B5EF4-FFF2-40B4-BE49-F238E27FC236}">
                <a16:creationId xmlns:a16="http://schemas.microsoft.com/office/drawing/2014/main" id="{24B20703-6658-AA83-81C9-08A7DFA95642}"/>
              </a:ext>
            </a:extLst>
          </p:cNvPr>
          <p:cNvCxnSpPr>
            <a:cxnSpLocks/>
            <a:stCxn id="42" idx="3"/>
            <a:endCxn id="44" idx="1"/>
          </p:cNvCxnSpPr>
          <p:nvPr/>
        </p:nvCxnSpPr>
        <p:spPr>
          <a:xfrm>
            <a:off x="6302945" y="1406414"/>
            <a:ext cx="1540363" cy="16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F6B25323-C2BC-2235-5AE4-B7D2F6EAE2DB}"/>
              </a:ext>
            </a:extLst>
          </p:cNvPr>
          <p:cNvCxnSpPr>
            <a:cxnSpLocks/>
            <a:stCxn id="65" idx="1"/>
          </p:cNvCxnSpPr>
          <p:nvPr/>
        </p:nvCxnSpPr>
        <p:spPr>
          <a:xfrm flipH="1" flipV="1">
            <a:off x="1264840" y="3024432"/>
            <a:ext cx="1514540" cy="62722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13652847-0546-FEEC-2AFE-6B1837EEAC74}"/>
                  </a:ext>
                </a:extLst>
              </p:cNvPr>
              <p:cNvSpPr/>
              <p:nvPr/>
            </p:nvSpPr>
            <p:spPr>
              <a:xfrm>
                <a:off x="1259168" y="3262587"/>
                <a:ext cx="1183465" cy="856805"/>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xmlns="">
          <p:sp>
            <p:nvSpPr>
              <p:cNvPr id="32" name="Rectangle 31">
                <a:extLst>
                  <a:ext uri="{FF2B5EF4-FFF2-40B4-BE49-F238E27FC236}">
                    <a16:creationId xmlns:a16="http://schemas.microsoft.com/office/drawing/2014/main" id="{13652847-0546-FEEC-2AFE-6B1837EEAC74}"/>
                  </a:ext>
                </a:extLst>
              </p:cNvPr>
              <p:cNvSpPr>
                <a:spLocks noRot="1" noChangeAspect="1" noMove="1" noResize="1" noEditPoints="1" noAdjustHandles="1" noChangeArrowheads="1" noChangeShapeType="1" noTextEdit="1"/>
              </p:cNvSpPr>
              <p:nvPr/>
            </p:nvSpPr>
            <p:spPr>
              <a:xfrm>
                <a:off x="1259168" y="3262587"/>
                <a:ext cx="1183465" cy="856805"/>
              </a:xfrm>
              <a:prstGeom prst="rect">
                <a:avLst/>
              </a:prstGeom>
              <a:blipFill>
                <a:blip r:embed="rId2"/>
                <a:stretch>
                  <a:fillRect/>
                </a:stretch>
              </a:blipFill>
              <a:ln>
                <a:solidFill>
                  <a:schemeClr val="tx1"/>
                </a:solidFill>
              </a:ln>
            </p:spPr>
            <p:txBody>
              <a:bodyPr/>
              <a:lstStyle/>
              <a:p>
                <a:r>
                  <a:rPr lang="en-VN">
                    <a:noFill/>
                  </a:rPr>
                  <a:t> </a:t>
                </a:r>
              </a:p>
            </p:txBody>
          </p:sp>
        </mc:Fallback>
      </mc:AlternateContent>
      <p:cxnSp>
        <p:nvCxnSpPr>
          <p:cNvPr id="89" name="Straight Connector 88">
            <a:extLst>
              <a:ext uri="{FF2B5EF4-FFF2-40B4-BE49-F238E27FC236}">
                <a16:creationId xmlns:a16="http://schemas.microsoft.com/office/drawing/2014/main" id="{BED7ED17-DF68-6CF8-F900-BEE4B3B2808E}"/>
              </a:ext>
            </a:extLst>
          </p:cNvPr>
          <p:cNvCxnSpPr>
            <a:cxnSpLocks/>
            <a:stCxn id="65" idx="3"/>
            <a:endCxn id="19" idx="2"/>
          </p:cNvCxnSpPr>
          <p:nvPr/>
        </p:nvCxnSpPr>
        <p:spPr>
          <a:xfrm flipV="1">
            <a:off x="3130438" y="3057296"/>
            <a:ext cx="1210273" cy="59436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98271B2C-5448-2330-53AA-F51E5AD3E2BD}"/>
                  </a:ext>
                </a:extLst>
              </p:cNvPr>
              <p:cNvSpPr/>
              <p:nvPr/>
            </p:nvSpPr>
            <p:spPr>
              <a:xfrm>
                <a:off x="3665445" y="3262145"/>
                <a:ext cx="1351055" cy="856805"/>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xmlns="">
          <p:sp>
            <p:nvSpPr>
              <p:cNvPr id="52" name="Rectangle 51">
                <a:extLst>
                  <a:ext uri="{FF2B5EF4-FFF2-40B4-BE49-F238E27FC236}">
                    <a16:creationId xmlns:a16="http://schemas.microsoft.com/office/drawing/2014/main" id="{98271B2C-5448-2330-53AA-F51E5AD3E2BD}"/>
                  </a:ext>
                </a:extLst>
              </p:cNvPr>
              <p:cNvSpPr>
                <a:spLocks noRot="1" noChangeAspect="1" noMove="1" noResize="1" noEditPoints="1" noAdjustHandles="1" noChangeArrowheads="1" noChangeShapeType="1" noTextEdit="1"/>
              </p:cNvSpPr>
              <p:nvPr/>
            </p:nvSpPr>
            <p:spPr>
              <a:xfrm>
                <a:off x="3665445" y="3262145"/>
                <a:ext cx="1351055" cy="856805"/>
              </a:xfrm>
              <a:prstGeom prst="rect">
                <a:avLst/>
              </a:prstGeom>
              <a:blipFill>
                <a:blip r:embed="rId3"/>
                <a:stretch>
                  <a:fillRect/>
                </a:stretch>
              </a:blipFill>
              <a:ln>
                <a:solidFill>
                  <a:schemeClr val="tx1"/>
                </a:solidFill>
              </a:ln>
            </p:spPr>
            <p:txBody>
              <a:bodyPr/>
              <a:lstStyle/>
              <a:p>
                <a:r>
                  <a:rPr lang="en-VN">
                    <a:noFill/>
                  </a:rPr>
                  <a:t> </a:t>
                </a:r>
              </a:p>
            </p:txBody>
          </p:sp>
        </mc:Fallback>
      </mc:AlternateContent>
      <p:cxnSp>
        <p:nvCxnSpPr>
          <p:cNvPr id="33" name="Straight Connector 32">
            <a:extLst>
              <a:ext uri="{FF2B5EF4-FFF2-40B4-BE49-F238E27FC236}">
                <a16:creationId xmlns:a16="http://schemas.microsoft.com/office/drawing/2014/main" id="{7B4A3C63-AA26-3C1B-5157-08F0D9AAA017}"/>
              </a:ext>
            </a:extLst>
          </p:cNvPr>
          <p:cNvCxnSpPr>
            <a:cxnSpLocks/>
          </p:cNvCxnSpPr>
          <p:nvPr/>
        </p:nvCxnSpPr>
        <p:spPr>
          <a:xfrm>
            <a:off x="785773" y="3671637"/>
            <a:ext cx="1908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49E4837-2C39-731E-E73C-84DF52AC73D7}"/>
              </a:ext>
            </a:extLst>
          </p:cNvPr>
          <p:cNvCxnSpPr>
            <a:cxnSpLocks/>
          </p:cNvCxnSpPr>
          <p:nvPr/>
        </p:nvCxnSpPr>
        <p:spPr>
          <a:xfrm flipV="1">
            <a:off x="932685" y="3572897"/>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74085ED-6442-0098-8E1E-A22E17519136}"/>
              </a:ext>
            </a:extLst>
          </p:cNvPr>
          <p:cNvSpPr>
            <a:spLocks noGrp="1"/>
          </p:cNvSpPr>
          <p:nvPr>
            <p:ph type="title"/>
          </p:nvPr>
        </p:nvSpPr>
        <p:spPr>
          <a:xfrm>
            <a:off x="628650" y="-5552"/>
            <a:ext cx="7452669" cy="632058"/>
          </a:xfrm>
        </p:spPr>
        <p:txBody>
          <a:bodyPr>
            <a:normAutofit/>
          </a:bodyPr>
          <a:lstStyle/>
          <a:p>
            <a:r>
              <a:rPr lang="en-US"/>
              <a:t>1.1. State preparation</a:t>
            </a:r>
            <a:endParaRPr lang="vi-VN" sz="2000"/>
          </a:p>
        </p:txBody>
      </p:sp>
      <p:sp>
        <p:nvSpPr>
          <p:cNvPr id="4" name="Slide Number Placeholder 3">
            <a:extLst>
              <a:ext uri="{FF2B5EF4-FFF2-40B4-BE49-F238E27FC236}">
                <a16:creationId xmlns:a16="http://schemas.microsoft.com/office/drawing/2014/main" id="{AC847E43-9ECB-D3C7-47DC-B5E745E4CA4A}"/>
              </a:ext>
            </a:extLst>
          </p:cNvPr>
          <p:cNvSpPr>
            <a:spLocks noGrp="1"/>
          </p:cNvSpPr>
          <p:nvPr>
            <p:ph type="sldNum" sz="quarter" idx="12"/>
          </p:nvPr>
        </p:nvSpPr>
        <p:spPr/>
        <p:txBody>
          <a:bodyPr/>
          <a:lstStyle/>
          <a:p>
            <a:fld id="{6A45828D-F580-42DE-B77E-860980F07F32}" type="slidenum">
              <a:rPr lang="vi-VN" smtClean="0"/>
              <a:t>6</a:t>
            </a:fld>
            <a:endParaRPr lang="vi-VN"/>
          </a:p>
        </p:txBody>
      </p:sp>
      <p:cxnSp>
        <p:nvCxnSpPr>
          <p:cNvPr id="5" name="Straight Connector 4">
            <a:extLst>
              <a:ext uri="{FF2B5EF4-FFF2-40B4-BE49-F238E27FC236}">
                <a16:creationId xmlns:a16="http://schemas.microsoft.com/office/drawing/2014/main" id="{F467B375-E6FB-C3A6-4D74-51323FE57918}"/>
              </a:ext>
            </a:extLst>
          </p:cNvPr>
          <p:cNvCxnSpPr>
            <a:cxnSpLocks/>
          </p:cNvCxnSpPr>
          <p:nvPr/>
        </p:nvCxnSpPr>
        <p:spPr>
          <a:xfrm>
            <a:off x="785773" y="2372469"/>
            <a:ext cx="17076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DBFF382-CFA6-76CE-55F7-4C9460110371}"/>
                  </a:ext>
                </a:extLst>
              </p:cNvPr>
              <p:cNvSpPr/>
              <p:nvPr/>
            </p:nvSpPr>
            <p:spPr>
              <a:xfrm>
                <a:off x="1346242" y="2053929"/>
                <a:ext cx="322437"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oMath>
                  </m:oMathPara>
                </a14:m>
                <a:endParaRPr/>
              </a:p>
            </p:txBody>
          </p:sp>
        </mc:Choice>
        <mc:Fallback xmlns="">
          <p:sp>
            <p:nvSpPr>
              <p:cNvPr id="6" name="Rectangle 5">
                <a:extLst>
                  <a:ext uri="{FF2B5EF4-FFF2-40B4-BE49-F238E27FC236}">
                    <a16:creationId xmlns:a16="http://schemas.microsoft.com/office/drawing/2014/main" id="{3DBFF382-CFA6-76CE-55F7-4C9460110371}"/>
                  </a:ext>
                </a:extLst>
              </p:cNvPr>
              <p:cNvSpPr>
                <a:spLocks noRot="1" noChangeAspect="1" noMove="1" noResize="1" noEditPoints="1" noAdjustHandles="1" noChangeArrowheads="1" noChangeShapeType="1" noTextEdit="1"/>
              </p:cNvSpPr>
              <p:nvPr/>
            </p:nvSpPr>
            <p:spPr>
              <a:xfrm>
                <a:off x="1346242" y="2053929"/>
                <a:ext cx="322437" cy="650789"/>
              </a:xfrm>
              <a:prstGeom prst="rect">
                <a:avLst/>
              </a:prstGeom>
              <a:blipFill>
                <a:blip r:embed="rId4"/>
                <a:stretch>
                  <a:fillRect l="-25926"/>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A8135C1-BC53-0406-EC59-C3BB00EE2FFF}"/>
                  </a:ext>
                </a:extLst>
              </p:cNvPr>
              <p:cNvSpPr/>
              <p:nvPr/>
            </p:nvSpPr>
            <p:spPr>
              <a:xfrm>
                <a:off x="1769729" y="2053929"/>
                <a:ext cx="317308"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oMath>
                  </m:oMathPara>
                </a14:m>
                <a:endParaRPr/>
              </a:p>
            </p:txBody>
          </p:sp>
        </mc:Choice>
        <mc:Fallback xmlns="">
          <p:sp>
            <p:nvSpPr>
              <p:cNvPr id="7" name="Rectangle 6">
                <a:extLst>
                  <a:ext uri="{FF2B5EF4-FFF2-40B4-BE49-F238E27FC236}">
                    <a16:creationId xmlns:a16="http://schemas.microsoft.com/office/drawing/2014/main" id="{6A8135C1-BC53-0406-EC59-C3BB00EE2FFF}"/>
                  </a:ext>
                </a:extLst>
              </p:cNvPr>
              <p:cNvSpPr>
                <a:spLocks noRot="1" noChangeAspect="1" noMove="1" noResize="1" noEditPoints="1" noAdjustHandles="1" noChangeArrowheads="1" noChangeShapeType="1" noTextEdit="1"/>
              </p:cNvSpPr>
              <p:nvPr/>
            </p:nvSpPr>
            <p:spPr>
              <a:xfrm>
                <a:off x="1769729" y="2053929"/>
                <a:ext cx="317308" cy="650789"/>
              </a:xfrm>
              <a:prstGeom prst="rect">
                <a:avLst/>
              </a:prstGeom>
              <a:blipFill>
                <a:blip r:embed="rId5"/>
                <a:stretch>
                  <a:fillRect l="-22222"/>
                </a:stretch>
              </a:blipFill>
              <a:ln>
                <a:solidFill>
                  <a:schemeClr val="tx1"/>
                </a:solidFill>
              </a:ln>
            </p:spPr>
            <p:txBody>
              <a:bodyPr/>
              <a:lstStyle/>
              <a:p>
                <a:r>
                  <a:rPr lang="en-VN">
                    <a:noFill/>
                  </a:rPr>
                  <a:t> </a:t>
                </a:r>
              </a:p>
            </p:txBody>
          </p:sp>
        </mc:Fallback>
      </mc:AlternateContent>
      <p:cxnSp>
        <p:nvCxnSpPr>
          <p:cNvPr id="8" name="Straight Connector 7">
            <a:extLst>
              <a:ext uri="{FF2B5EF4-FFF2-40B4-BE49-F238E27FC236}">
                <a16:creationId xmlns:a16="http://schemas.microsoft.com/office/drawing/2014/main" id="{C4BF1FC8-04C4-F14F-A3BE-0E298C4F23C2}"/>
              </a:ext>
            </a:extLst>
          </p:cNvPr>
          <p:cNvCxnSpPr>
            <a:cxnSpLocks/>
          </p:cNvCxnSpPr>
          <p:nvPr/>
        </p:nvCxnSpPr>
        <p:spPr>
          <a:xfrm flipV="1">
            <a:off x="932685" y="2273729"/>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6C510D3-4134-1E86-3849-D154A7AFCA26}"/>
              </a:ext>
            </a:extLst>
          </p:cNvPr>
          <p:cNvSpPr/>
          <p:nvPr/>
        </p:nvSpPr>
        <p:spPr>
          <a:xfrm>
            <a:off x="533895" y="2234838"/>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D970A9B-8256-EEC4-E04F-0D64B063B71F}"/>
                  </a:ext>
                </a:extLst>
              </p:cNvPr>
              <p:cNvSpPr txBox="1"/>
              <p:nvPr/>
            </p:nvSpPr>
            <p:spPr>
              <a:xfrm>
                <a:off x="3183356" y="2223903"/>
                <a:ext cx="617028" cy="276999"/>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oMath>
                </a14:m>
                <a:r>
                  <a:rPr lang="en-US" i="1"/>
                  <a:t> </a:t>
                </a:r>
                <a:endParaRPr lang="vi-VN" i="1"/>
              </a:p>
            </p:txBody>
          </p:sp>
        </mc:Choice>
        <mc:Fallback xmlns="">
          <p:sp>
            <p:nvSpPr>
              <p:cNvPr id="12" name="TextBox 11">
                <a:extLst>
                  <a:ext uri="{FF2B5EF4-FFF2-40B4-BE49-F238E27FC236}">
                    <a16:creationId xmlns:a16="http://schemas.microsoft.com/office/drawing/2014/main" id="{3D970A9B-8256-EEC4-E04F-0D64B063B71F}"/>
                  </a:ext>
                </a:extLst>
              </p:cNvPr>
              <p:cNvSpPr txBox="1">
                <a:spLocks noRot="1" noChangeAspect="1" noMove="1" noResize="1" noEditPoints="1" noAdjustHandles="1" noChangeArrowheads="1" noChangeShapeType="1" noTextEdit="1"/>
              </p:cNvSpPr>
              <p:nvPr/>
            </p:nvSpPr>
            <p:spPr>
              <a:xfrm>
                <a:off x="3183356" y="2223903"/>
                <a:ext cx="617028" cy="276999"/>
              </a:xfrm>
              <a:prstGeom prst="rect">
                <a:avLst/>
              </a:prstGeom>
              <a:blipFill>
                <a:blip r:embed="rId6"/>
                <a:stretch>
                  <a:fillRect l="-14000" b="-31818"/>
                </a:stretch>
              </a:blipFill>
            </p:spPr>
            <p:txBody>
              <a:bodyPr/>
              <a:lstStyle/>
              <a:p>
                <a:r>
                  <a:rPr lang="en-VN">
                    <a:noFill/>
                  </a:rPr>
                  <a:t> </a:t>
                </a:r>
              </a:p>
            </p:txBody>
          </p:sp>
        </mc:Fallback>
      </mc:AlternateContent>
      <p:cxnSp>
        <p:nvCxnSpPr>
          <p:cNvPr id="13" name="Straight Arrow Connector 12">
            <a:extLst>
              <a:ext uri="{FF2B5EF4-FFF2-40B4-BE49-F238E27FC236}">
                <a16:creationId xmlns:a16="http://schemas.microsoft.com/office/drawing/2014/main" id="{D3ADD803-DCF8-0DE8-3229-AD463FC01C4B}"/>
              </a:ext>
            </a:extLst>
          </p:cNvPr>
          <p:cNvCxnSpPr>
            <a:endCxn id="12" idx="1"/>
          </p:cNvCxnSpPr>
          <p:nvPr/>
        </p:nvCxnSpPr>
        <p:spPr>
          <a:xfrm>
            <a:off x="2566758" y="2362403"/>
            <a:ext cx="616598"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38A010-1089-DB5A-0404-726A8697A008}"/>
                  </a:ext>
                </a:extLst>
              </p:cNvPr>
              <p:cNvSpPr txBox="1"/>
              <p:nvPr/>
            </p:nvSpPr>
            <p:spPr>
              <a:xfrm>
                <a:off x="4066726" y="2223903"/>
                <a:ext cx="14815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oMath>
                  </m:oMathPara>
                </a14:m>
                <a:endParaRPr lang="vi-VN" i="1"/>
              </a:p>
            </p:txBody>
          </p:sp>
        </mc:Choice>
        <mc:Fallback xmlns="">
          <p:sp>
            <p:nvSpPr>
              <p:cNvPr id="14" name="TextBox 13">
                <a:extLst>
                  <a:ext uri="{FF2B5EF4-FFF2-40B4-BE49-F238E27FC236}">
                    <a16:creationId xmlns:a16="http://schemas.microsoft.com/office/drawing/2014/main" id="{E638A010-1089-DB5A-0404-726A8697A008}"/>
                  </a:ext>
                </a:extLst>
              </p:cNvPr>
              <p:cNvSpPr txBox="1">
                <a:spLocks noRot="1" noChangeAspect="1" noMove="1" noResize="1" noEditPoints="1" noAdjustHandles="1" noChangeArrowheads="1" noChangeShapeType="1" noTextEdit="1"/>
              </p:cNvSpPr>
              <p:nvPr/>
            </p:nvSpPr>
            <p:spPr>
              <a:xfrm>
                <a:off x="4066726" y="2223903"/>
                <a:ext cx="1481559" cy="276999"/>
              </a:xfrm>
              <a:prstGeom prst="rect">
                <a:avLst/>
              </a:prstGeom>
              <a:blipFill>
                <a:blip r:embed="rId7"/>
                <a:stretch>
                  <a:fillRect l="-3419" r="-855" b="-36364"/>
                </a:stretch>
              </a:blipFill>
            </p:spPr>
            <p:txBody>
              <a:bodyPr/>
              <a:lstStyle/>
              <a:p>
                <a:r>
                  <a:rPr lang="en-VN">
                    <a:noFill/>
                  </a:rPr>
                  <a:t> </a:t>
                </a:r>
              </a:p>
            </p:txBody>
          </p:sp>
        </mc:Fallback>
      </mc:AlternateContent>
      <p:cxnSp>
        <p:nvCxnSpPr>
          <p:cNvPr id="15" name="Straight Arrow Connector 14">
            <a:extLst>
              <a:ext uri="{FF2B5EF4-FFF2-40B4-BE49-F238E27FC236}">
                <a16:creationId xmlns:a16="http://schemas.microsoft.com/office/drawing/2014/main" id="{91C5D91D-96D3-42AE-84EC-535DEE1D0AB3}"/>
              </a:ext>
            </a:extLst>
          </p:cNvPr>
          <p:cNvCxnSpPr>
            <a:cxnSpLocks/>
            <a:stCxn id="12" idx="3"/>
            <a:endCxn id="14" idx="1"/>
          </p:cNvCxnSpPr>
          <p:nvPr/>
        </p:nvCxnSpPr>
        <p:spPr>
          <a:xfrm>
            <a:off x="3800384" y="2362403"/>
            <a:ext cx="266342"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6" name="Hình chữ nhật 93">
            <a:extLst>
              <a:ext uri="{FF2B5EF4-FFF2-40B4-BE49-F238E27FC236}">
                <a16:creationId xmlns:a16="http://schemas.microsoft.com/office/drawing/2014/main" id="{8DC62D6A-745F-400A-9145-E65A4F7C3DF4}"/>
              </a:ext>
            </a:extLst>
          </p:cNvPr>
          <p:cNvSpPr/>
          <p:nvPr/>
        </p:nvSpPr>
        <p:spPr>
          <a:xfrm>
            <a:off x="2584648" y="220569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7" name="Arc 16">
            <a:extLst>
              <a:ext uri="{FF2B5EF4-FFF2-40B4-BE49-F238E27FC236}">
                <a16:creationId xmlns:a16="http://schemas.microsoft.com/office/drawing/2014/main" id="{C291DA55-55A6-F23D-9CA8-C086744260BC}"/>
              </a:ext>
            </a:extLst>
          </p:cNvPr>
          <p:cNvSpPr/>
          <p:nvPr/>
        </p:nvSpPr>
        <p:spPr>
          <a:xfrm>
            <a:off x="2640345" y="235029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8" name="Straight Arrow Connector 17">
            <a:extLst>
              <a:ext uri="{FF2B5EF4-FFF2-40B4-BE49-F238E27FC236}">
                <a16:creationId xmlns:a16="http://schemas.microsoft.com/office/drawing/2014/main" id="{50E02F61-F408-4F4E-6558-D43848883A31}"/>
              </a:ext>
            </a:extLst>
          </p:cNvPr>
          <p:cNvCxnSpPr>
            <a:cxnSpLocks/>
          </p:cNvCxnSpPr>
          <p:nvPr/>
        </p:nvCxnSpPr>
        <p:spPr>
          <a:xfrm flipV="1">
            <a:off x="2694561" y="227266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5BD52EC-1528-C3B1-CB8E-D7D7C7B23EA5}"/>
                  </a:ext>
                </a:extLst>
              </p:cNvPr>
              <p:cNvSpPr txBox="1"/>
              <p:nvPr/>
            </p:nvSpPr>
            <p:spPr>
              <a:xfrm>
                <a:off x="3811784" y="2780297"/>
                <a:ext cx="10578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&lt;</m:t>
                      </m:r>
                      <m:r>
                        <a:rPr lang="en-US" b="0" i="1" smtClean="0">
                          <a:latin typeface="Cambria Math" panose="02040503050406030204" pitchFamily="18" charset="0"/>
                        </a:rPr>
                        <m:t>𝜏</m:t>
                      </m:r>
                      <m:r>
                        <a:rPr lang="en-US" b="0" i="1" smtClean="0">
                          <a:latin typeface="Cambria Math" panose="02040503050406030204" pitchFamily="18" charset="0"/>
                        </a:rPr>
                        <m:t>?</m:t>
                      </m:r>
                    </m:oMath>
                  </m:oMathPara>
                </a14:m>
                <a:endParaRPr lang="vi-VN" i="1"/>
              </a:p>
            </p:txBody>
          </p:sp>
        </mc:Choice>
        <mc:Fallback xmlns="">
          <p:sp>
            <p:nvSpPr>
              <p:cNvPr id="19" name="TextBox 18">
                <a:extLst>
                  <a:ext uri="{FF2B5EF4-FFF2-40B4-BE49-F238E27FC236}">
                    <a16:creationId xmlns:a16="http://schemas.microsoft.com/office/drawing/2014/main" id="{25BD52EC-1528-C3B1-CB8E-D7D7C7B23EA5}"/>
                  </a:ext>
                </a:extLst>
              </p:cNvPr>
              <p:cNvSpPr txBox="1">
                <a:spLocks noRot="1" noChangeAspect="1" noMove="1" noResize="1" noEditPoints="1" noAdjustHandles="1" noChangeArrowheads="1" noChangeShapeType="1" noTextEdit="1"/>
              </p:cNvSpPr>
              <p:nvPr/>
            </p:nvSpPr>
            <p:spPr>
              <a:xfrm>
                <a:off x="3811784" y="2780297"/>
                <a:ext cx="1057854" cy="276999"/>
              </a:xfrm>
              <a:prstGeom prst="rect">
                <a:avLst/>
              </a:prstGeom>
              <a:blipFill>
                <a:blip r:embed="rId8"/>
                <a:stretch>
                  <a:fillRect l="-4762" r="-3571" b="-13043"/>
                </a:stretch>
              </a:blipFill>
            </p:spPr>
            <p:txBody>
              <a:bodyPr/>
              <a:lstStyle/>
              <a:p>
                <a:r>
                  <a:rPr lang="en-VN">
                    <a:noFill/>
                  </a:rPr>
                  <a:t> </a:t>
                </a:r>
              </a:p>
            </p:txBody>
          </p:sp>
        </mc:Fallback>
      </mc:AlternateContent>
      <p:cxnSp>
        <p:nvCxnSpPr>
          <p:cNvPr id="20" name="Straight Arrow Connector 19">
            <a:extLst>
              <a:ext uri="{FF2B5EF4-FFF2-40B4-BE49-F238E27FC236}">
                <a16:creationId xmlns:a16="http://schemas.microsoft.com/office/drawing/2014/main" id="{DED20DC9-4D9D-78E3-2050-86F6C2ECB4D0}"/>
              </a:ext>
            </a:extLst>
          </p:cNvPr>
          <p:cNvCxnSpPr>
            <a:cxnSpLocks/>
            <a:endCxn id="19" idx="0"/>
          </p:cNvCxnSpPr>
          <p:nvPr/>
        </p:nvCxnSpPr>
        <p:spPr>
          <a:xfrm>
            <a:off x="4340711" y="2510930"/>
            <a:ext cx="0" cy="26936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25" name="Connector: Elbow 24">
            <a:extLst>
              <a:ext uri="{FF2B5EF4-FFF2-40B4-BE49-F238E27FC236}">
                <a16:creationId xmlns:a16="http://schemas.microsoft.com/office/drawing/2014/main" id="{1E655DD9-A879-2706-A3C6-A7487B96CE55}"/>
              </a:ext>
            </a:extLst>
          </p:cNvPr>
          <p:cNvCxnSpPr>
            <a:cxnSpLocks/>
            <a:stCxn id="19" idx="1"/>
            <a:endCxn id="27" idx="2"/>
          </p:cNvCxnSpPr>
          <p:nvPr/>
        </p:nvCxnSpPr>
        <p:spPr>
          <a:xfrm rot="10800000">
            <a:off x="1712402" y="2780293"/>
            <a:ext cx="2099382" cy="138505"/>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1240CB2-83E4-3033-EF10-5982088FAB89}"/>
                  </a:ext>
                </a:extLst>
              </p:cNvPr>
              <p:cNvSpPr txBox="1"/>
              <p:nvPr/>
            </p:nvSpPr>
            <p:spPr>
              <a:xfrm>
                <a:off x="2493433" y="2642243"/>
                <a:ext cx="2264448" cy="276999"/>
              </a:xfrm>
              <a:prstGeom prst="rect">
                <a:avLst/>
              </a:prstGeom>
              <a:noFill/>
            </p:spPr>
            <p:txBody>
              <a:bodyPr wrap="square">
                <a:spAutoFit/>
              </a:bodyPr>
              <a:lstStyle/>
              <a:p>
                <a:r>
                  <a:rPr lang="en-US" sz="1200">
                    <a:solidFill>
                      <a:srgbClr val="FF0000"/>
                    </a:solidFill>
                  </a:rPr>
                  <a:t>False </a:t>
                </a:r>
                <a14:m>
                  <m:oMath xmlns:m="http://schemas.openxmlformats.org/officeDocument/2006/math">
                    <m:r>
                      <a:rPr lang="en-US" sz="1200" b="0" i="1" smtClean="0">
                        <a:solidFill>
                          <a:srgbClr val="FF0000"/>
                        </a:solidFill>
                        <a:latin typeface="Cambria Math" panose="02040503050406030204" pitchFamily="18" charset="0"/>
                      </a:rPr>
                      <m:t>→</m:t>
                    </m:r>
                  </m:oMath>
                </a14:m>
                <a:r>
                  <a:rPr lang="en-US" sz="1200">
                    <a:solidFill>
                      <a:srgbClr val="FF0000"/>
                    </a:solidFill>
                  </a:rPr>
                  <a:t> Update </a:t>
                </a:r>
                <a14:m>
                  <m:oMath xmlns:m="http://schemas.openxmlformats.org/officeDocument/2006/math">
                    <m:r>
                      <a:rPr lang="en-US" sz="1200" b="1" i="1" smtClean="0">
                        <a:solidFill>
                          <a:srgbClr val="FF0000"/>
                        </a:solidFill>
                        <a:latin typeface="Cambria Math" panose="02040503050406030204" pitchFamily="18" charset="0"/>
                      </a:rPr>
                      <m:t>𝜽</m:t>
                    </m:r>
                  </m:oMath>
                </a14:m>
                <a:endParaRPr lang="vi-VN" sz="1200" b="1">
                  <a:solidFill>
                    <a:srgbClr val="FF0000"/>
                  </a:solidFill>
                </a:endParaRPr>
              </a:p>
            </p:txBody>
          </p:sp>
        </mc:Choice>
        <mc:Fallback xmlns="">
          <p:sp>
            <p:nvSpPr>
              <p:cNvPr id="26" name="TextBox 25">
                <a:extLst>
                  <a:ext uri="{FF2B5EF4-FFF2-40B4-BE49-F238E27FC236}">
                    <a16:creationId xmlns:a16="http://schemas.microsoft.com/office/drawing/2014/main" id="{D1240CB2-83E4-3033-EF10-5982088FAB89}"/>
                  </a:ext>
                </a:extLst>
              </p:cNvPr>
              <p:cNvSpPr txBox="1">
                <a:spLocks noRot="1" noChangeAspect="1" noMove="1" noResize="1" noEditPoints="1" noAdjustHandles="1" noChangeArrowheads="1" noChangeShapeType="1" noTextEdit="1"/>
              </p:cNvSpPr>
              <p:nvPr/>
            </p:nvSpPr>
            <p:spPr>
              <a:xfrm>
                <a:off x="2493433" y="2642243"/>
                <a:ext cx="2264448" cy="276999"/>
              </a:xfrm>
              <a:prstGeom prst="rect">
                <a:avLst/>
              </a:prstGeom>
              <a:blipFill>
                <a:blip r:embed="rId9"/>
                <a:stretch>
                  <a:fillRect b="-1304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39ACA6FA-2BD4-C8CC-B1A9-EC6818045DD6}"/>
                  </a:ext>
                </a:extLst>
              </p:cNvPr>
              <p:cNvSpPr/>
              <p:nvPr/>
            </p:nvSpPr>
            <p:spPr>
              <a:xfrm>
                <a:off x="1259169" y="1989810"/>
                <a:ext cx="906466" cy="790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xmlns="">
          <p:sp>
            <p:nvSpPr>
              <p:cNvPr id="27" name="Rectangle 26">
                <a:extLst>
                  <a:ext uri="{FF2B5EF4-FFF2-40B4-BE49-F238E27FC236}">
                    <a16:creationId xmlns:a16="http://schemas.microsoft.com/office/drawing/2014/main" id="{39ACA6FA-2BD4-C8CC-B1A9-EC6818045DD6}"/>
                  </a:ext>
                </a:extLst>
              </p:cNvPr>
              <p:cNvSpPr>
                <a:spLocks noRot="1" noChangeAspect="1" noMove="1" noResize="1" noEditPoints="1" noAdjustHandles="1" noChangeArrowheads="1" noChangeShapeType="1" noTextEdit="1"/>
              </p:cNvSpPr>
              <p:nvPr/>
            </p:nvSpPr>
            <p:spPr>
              <a:xfrm>
                <a:off x="1259169" y="1989810"/>
                <a:ext cx="906466" cy="790482"/>
              </a:xfrm>
              <a:prstGeom prst="rect">
                <a:avLst/>
              </a:prstGeom>
              <a:blipFill>
                <a:blip r:embed="rId10"/>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DCB2E593-C14F-B7AC-1916-7DF7F83D6934}"/>
                  </a:ext>
                </a:extLst>
              </p:cNvPr>
              <p:cNvSpPr/>
              <p:nvPr/>
            </p:nvSpPr>
            <p:spPr>
              <a:xfrm>
                <a:off x="1346241" y="3326707"/>
                <a:ext cx="579926"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𝜽</m:t>
                          </m:r>
                        </m:e>
                      </m:d>
                    </m:oMath>
                  </m:oMathPara>
                </a14:m>
                <a:endParaRPr/>
              </a:p>
            </p:txBody>
          </p:sp>
        </mc:Choice>
        <mc:Fallback xmlns="">
          <p:sp>
            <p:nvSpPr>
              <p:cNvPr id="30" name="Rectangle 29">
                <a:extLst>
                  <a:ext uri="{FF2B5EF4-FFF2-40B4-BE49-F238E27FC236}">
                    <a16:creationId xmlns:a16="http://schemas.microsoft.com/office/drawing/2014/main" id="{DCB2E593-C14F-B7AC-1916-7DF7F83D6934}"/>
                  </a:ext>
                </a:extLst>
              </p:cNvPr>
              <p:cNvSpPr>
                <a:spLocks noRot="1" noChangeAspect="1" noMove="1" noResize="1" noEditPoints="1" noAdjustHandles="1" noChangeArrowheads="1" noChangeShapeType="1" noTextEdit="1"/>
              </p:cNvSpPr>
              <p:nvPr/>
            </p:nvSpPr>
            <p:spPr>
              <a:xfrm>
                <a:off x="1346241" y="3326707"/>
                <a:ext cx="579926" cy="650789"/>
              </a:xfrm>
              <a:prstGeom prst="rect">
                <a:avLst/>
              </a:prstGeom>
              <a:blipFill>
                <a:blip r:embed="rId11"/>
                <a:stretch>
                  <a:fillRect l="-18750"/>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F45E0A4D-0676-306E-6928-7BA4B396331C}"/>
                  </a:ext>
                </a:extLst>
              </p:cNvPr>
              <p:cNvSpPr/>
              <p:nvPr/>
            </p:nvSpPr>
            <p:spPr>
              <a:xfrm>
                <a:off x="1972952" y="3326707"/>
                <a:ext cx="372316" cy="65078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𝑉</m:t>
                          </m:r>
                        </m:e>
                        <m:sup>
                          <m:r>
                            <a:rPr lang="en-US" b="0" i="1" smtClean="0">
                              <a:solidFill>
                                <a:srgbClr val="FF0000"/>
                              </a:solidFill>
                              <a:latin typeface="Cambria Math" panose="02040503050406030204" pitchFamily="18" charset="0"/>
                              <a:ea typeface="Cambria Math" panose="02040503050406030204" pitchFamily="18" charset="0"/>
                            </a:rPr>
                            <m:t>†</m:t>
                          </m:r>
                        </m:sup>
                      </m:sSup>
                    </m:oMath>
                  </m:oMathPara>
                </a14:m>
                <a:endParaRPr lang="en-US">
                  <a:solidFill>
                    <a:srgbClr val="FF0000"/>
                  </a:solidFill>
                </a:endParaRPr>
              </a:p>
            </p:txBody>
          </p:sp>
        </mc:Choice>
        <mc:Fallback xmlns="">
          <p:sp>
            <p:nvSpPr>
              <p:cNvPr id="31" name="Rectangle 30">
                <a:extLst>
                  <a:ext uri="{FF2B5EF4-FFF2-40B4-BE49-F238E27FC236}">
                    <a16:creationId xmlns:a16="http://schemas.microsoft.com/office/drawing/2014/main" id="{F45E0A4D-0676-306E-6928-7BA4B396331C}"/>
                  </a:ext>
                </a:extLst>
              </p:cNvPr>
              <p:cNvSpPr>
                <a:spLocks noRot="1" noChangeAspect="1" noMove="1" noResize="1" noEditPoints="1" noAdjustHandles="1" noChangeArrowheads="1" noChangeShapeType="1" noTextEdit="1"/>
              </p:cNvSpPr>
              <p:nvPr/>
            </p:nvSpPr>
            <p:spPr>
              <a:xfrm>
                <a:off x="1972952" y="3326707"/>
                <a:ext cx="372316" cy="650789"/>
              </a:xfrm>
              <a:prstGeom prst="rect">
                <a:avLst/>
              </a:prstGeom>
              <a:blipFill>
                <a:blip r:embed="rId12"/>
                <a:stretch>
                  <a:fillRect l="-29032"/>
                </a:stretch>
              </a:blipFill>
              <a:ln>
                <a:solidFill>
                  <a:srgbClr val="FF0000"/>
                </a:solidFill>
              </a:ln>
            </p:spPr>
            <p:txBody>
              <a:bodyPr/>
              <a:lstStyle/>
              <a:p>
                <a:r>
                  <a:rPr lang="en-VN">
                    <a:noFill/>
                  </a:rPr>
                  <a:t> </a:t>
                </a:r>
              </a:p>
            </p:txBody>
          </p:sp>
        </mc:Fallback>
      </mc:AlternateContent>
      <p:sp>
        <p:nvSpPr>
          <p:cNvPr id="36" name="TextBox 35">
            <a:extLst>
              <a:ext uri="{FF2B5EF4-FFF2-40B4-BE49-F238E27FC236}">
                <a16:creationId xmlns:a16="http://schemas.microsoft.com/office/drawing/2014/main" id="{7EE13168-F00B-AFFB-394B-BD0B48D03CB4}"/>
              </a:ext>
            </a:extLst>
          </p:cNvPr>
          <p:cNvSpPr txBox="1"/>
          <p:nvPr/>
        </p:nvSpPr>
        <p:spPr>
          <a:xfrm>
            <a:off x="1222269" y="4205945"/>
            <a:ext cx="827869" cy="461665"/>
          </a:xfrm>
          <a:prstGeom prst="rect">
            <a:avLst/>
          </a:prstGeom>
          <a:noFill/>
        </p:spPr>
        <p:txBody>
          <a:bodyPr wrap="square">
            <a:spAutoFit/>
          </a:bodyPr>
          <a:lstStyle/>
          <a:p>
            <a:r>
              <a:rPr lang="en-US" sz="1200"/>
              <a:t>Trainable unitary</a:t>
            </a:r>
            <a:endParaRPr lang="vi-VN" sz="1200" b="1"/>
          </a:p>
        </p:txBody>
      </p:sp>
      <p:sp>
        <p:nvSpPr>
          <p:cNvPr id="37" name="TextBox 36">
            <a:extLst>
              <a:ext uri="{FF2B5EF4-FFF2-40B4-BE49-F238E27FC236}">
                <a16:creationId xmlns:a16="http://schemas.microsoft.com/office/drawing/2014/main" id="{9681B7FE-C233-4A1D-C5F7-34B7C75E192E}"/>
              </a:ext>
            </a:extLst>
          </p:cNvPr>
          <p:cNvSpPr txBox="1"/>
          <p:nvPr/>
        </p:nvSpPr>
        <p:spPr>
          <a:xfrm>
            <a:off x="1825949" y="4205503"/>
            <a:ext cx="656820" cy="461665"/>
          </a:xfrm>
          <a:prstGeom prst="rect">
            <a:avLst/>
          </a:prstGeom>
          <a:noFill/>
        </p:spPr>
        <p:txBody>
          <a:bodyPr wrap="square">
            <a:spAutoFit/>
          </a:bodyPr>
          <a:lstStyle/>
          <a:p>
            <a:r>
              <a:rPr lang="en-US" sz="1200"/>
              <a:t>Target unitary</a:t>
            </a:r>
            <a:endParaRPr lang="vi-VN" sz="1200" b="1"/>
          </a:p>
        </p:txBody>
      </p:sp>
      <p:cxnSp>
        <p:nvCxnSpPr>
          <p:cNvPr id="38" name="Straight Arrow Connector 37">
            <a:extLst>
              <a:ext uri="{FF2B5EF4-FFF2-40B4-BE49-F238E27FC236}">
                <a16:creationId xmlns:a16="http://schemas.microsoft.com/office/drawing/2014/main" id="{9893284C-7EB0-10C2-258A-22198751969F}"/>
              </a:ext>
            </a:extLst>
          </p:cNvPr>
          <p:cNvCxnSpPr>
            <a:cxnSpLocks/>
            <a:stCxn id="36" idx="0"/>
            <a:endCxn id="30" idx="2"/>
          </p:cNvCxnSpPr>
          <p:nvPr/>
        </p:nvCxnSpPr>
        <p:spPr>
          <a:xfrm flipV="1">
            <a:off x="1636204" y="3977496"/>
            <a:ext cx="0" cy="228449"/>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555620E2-2228-665D-583E-CCAF4C442BB7}"/>
              </a:ext>
            </a:extLst>
          </p:cNvPr>
          <p:cNvCxnSpPr>
            <a:cxnSpLocks/>
            <a:stCxn id="37" idx="0"/>
            <a:endCxn id="31" idx="2"/>
          </p:cNvCxnSpPr>
          <p:nvPr/>
        </p:nvCxnSpPr>
        <p:spPr>
          <a:xfrm flipV="1">
            <a:off x="2154359" y="3977496"/>
            <a:ext cx="4751" cy="22800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0E5F9420-EB3D-F28B-E9CB-2C4E6FDF8BB8}"/>
              </a:ext>
            </a:extLst>
          </p:cNvPr>
          <p:cNvCxnSpPr>
            <a:cxnSpLocks/>
          </p:cNvCxnSpPr>
          <p:nvPr/>
        </p:nvCxnSpPr>
        <p:spPr>
          <a:xfrm>
            <a:off x="3192050" y="3671195"/>
            <a:ext cx="1908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2A9CC46-9F66-EE96-E4E1-473475304F03}"/>
              </a:ext>
            </a:extLst>
          </p:cNvPr>
          <p:cNvCxnSpPr>
            <a:cxnSpLocks/>
          </p:cNvCxnSpPr>
          <p:nvPr/>
        </p:nvCxnSpPr>
        <p:spPr>
          <a:xfrm flipV="1">
            <a:off x="3338962" y="357245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78906143-7CBC-E854-82CE-BED41F50DEE3}"/>
                  </a:ext>
                </a:extLst>
              </p:cNvPr>
              <p:cNvSpPr/>
              <p:nvPr/>
            </p:nvSpPr>
            <p:spPr>
              <a:xfrm>
                <a:off x="3752517" y="3326265"/>
                <a:ext cx="766713"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sSup>
                            <m:sSupPr>
                              <m:ctrlPr>
                                <a:rPr lang="en-US" b="0"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𝜽</m:t>
                              </m:r>
                            </m:e>
                            <m:sup>
                              <m:r>
                                <a:rPr lang="en-US" b="0" i="1" smtClean="0">
                                  <a:solidFill>
                                    <a:schemeClr val="tx1"/>
                                  </a:solidFill>
                                  <a:latin typeface="Cambria Math" panose="02040503050406030204" pitchFamily="18" charset="0"/>
                                </a:rPr>
                                <m:t>∗</m:t>
                              </m:r>
                            </m:sup>
                          </m:sSup>
                        </m:e>
                      </m:d>
                    </m:oMath>
                  </m:oMathPara>
                </a14:m>
                <a:endParaRPr/>
              </a:p>
            </p:txBody>
          </p:sp>
        </mc:Choice>
        <mc:Fallback xmlns="">
          <p:sp>
            <p:nvSpPr>
              <p:cNvPr id="50" name="Rectangle 49">
                <a:extLst>
                  <a:ext uri="{FF2B5EF4-FFF2-40B4-BE49-F238E27FC236}">
                    <a16:creationId xmlns:a16="http://schemas.microsoft.com/office/drawing/2014/main" id="{78906143-7CBC-E854-82CE-BED41F50DEE3}"/>
                  </a:ext>
                </a:extLst>
              </p:cNvPr>
              <p:cNvSpPr>
                <a:spLocks noRot="1" noChangeAspect="1" noMove="1" noResize="1" noEditPoints="1" noAdjustHandles="1" noChangeArrowheads="1" noChangeShapeType="1" noTextEdit="1"/>
              </p:cNvSpPr>
              <p:nvPr/>
            </p:nvSpPr>
            <p:spPr>
              <a:xfrm>
                <a:off x="3752517" y="3326265"/>
                <a:ext cx="766713" cy="650789"/>
              </a:xfrm>
              <a:prstGeom prst="rect">
                <a:avLst/>
              </a:prstGeom>
              <a:blipFill>
                <a:blip r:embed="rId13"/>
                <a:stretch>
                  <a:fillRect l="-9677"/>
                </a:stretch>
              </a:blipFill>
              <a:ln>
                <a:solidFill>
                  <a:schemeClr val="tx1"/>
                </a:solidFill>
              </a:ln>
            </p:spPr>
            <p:txBody>
              <a:bodyPr/>
              <a:lstStyle/>
              <a:p>
                <a:r>
                  <a:rPr lang="en-VN">
                    <a:noFill/>
                  </a:rPr>
                  <a:t> </a:t>
                </a:r>
              </a:p>
            </p:txBody>
          </p:sp>
        </mc:Fallback>
      </mc:AlternateContent>
      <p:sp>
        <p:nvSpPr>
          <p:cNvPr id="53" name="TextBox 52">
            <a:extLst>
              <a:ext uri="{FF2B5EF4-FFF2-40B4-BE49-F238E27FC236}">
                <a16:creationId xmlns:a16="http://schemas.microsoft.com/office/drawing/2014/main" id="{D197D7C8-52D5-97BC-82FC-668476467319}"/>
              </a:ext>
            </a:extLst>
          </p:cNvPr>
          <p:cNvSpPr txBox="1"/>
          <p:nvPr/>
        </p:nvSpPr>
        <p:spPr>
          <a:xfrm>
            <a:off x="3725912" y="4232509"/>
            <a:ext cx="827869" cy="461665"/>
          </a:xfrm>
          <a:prstGeom prst="rect">
            <a:avLst/>
          </a:prstGeom>
          <a:noFill/>
        </p:spPr>
        <p:txBody>
          <a:bodyPr wrap="square">
            <a:spAutoFit/>
          </a:bodyPr>
          <a:lstStyle/>
          <a:p>
            <a:r>
              <a:rPr lang="en-US" sz="1200"/>
              <a:t>Optimized unitary</a:t>
            </a:r>
            <a:endParaRPr lang="vi-VN" sz="1200" b="1"/>
          </a:p>
        </p:txBody>
      </p:sp>
      <p:sp>
        <p:nvSpPr>
          <p:cNvPr id="54" name="TextBox 53">
            <a:extLst>
              <a:ext uri="{FF2B5EF4-FFF2-40B4-BE49-F238E27FC236}">
                <a16:creationId xmlns:a16="http://schemas.microsoft.com/office/drawing/2014/main" id="{0435B402-CC66-8134-3364-A886EBF4D5EB}"/>
              </a:ext>
            </a:extLst>
          </p:cNvPr>
          <p:cNvSpPr txBox="1"/>
          <p:nvPr/>
        </p:nvSpPr>
        <p:spPr>
          <a:xfrm>
            <a:off x="4433813" y="4232509"/>
            <a:ext cx="656820" cy="461665"/>
          </a:xfrm>
          <a:prstGeom prst="rect">
            <a:avLst/>
          </a:prstGeom>
          <a:noFill/>
        </p:spPr>
        <p:txBody>
          <a:bodyPr wrap="square">
            <a:spAutoFit/>
          </a:bodyPr>
          <a:lstStyle/>
          <a:p>
            <a:r>
              <a:rPr lang="en-US" sz="1200"/>
              <a:t>Target unitary</a:t>
            </a:r>
            <a:endParaRPr lang="vi-VN" sz="1200" b="1"/>
          </a:p>
        </p:txBody>
      </p:sp>
      <p:cxnSp>
        <p:nvCxnSpPr>
          <p:cNvPr id="55" name="Straight Arrow Connector 54">
            <a:extLst>
              <a:ext uri="{FF2B5EF4-FFF2-40B4-BE49-F238E27FC236}">
                <a16:creationId xmlns:a16="http://schemas.microsoft.com/office/drawing/2014/main" id="{AC933C90-53B1-1323-EAB5-F321FCE4A559}"/>
              </a:ext>
            </a:extLst>
          </p:cNvPr>
          <p:cNvCxnSpPr>
            <a:cxnSpLocks/>
            <a:stCxn id="53" idx="0"/>
            <a:endCxn id="50" idx="2"/>
          </p:cNvCxnSpPr>
          <p:nvPr/>
        </p:nvCxnSpPr>
        <p:spPr>
          <a:xfrm flipH="1" flipV="1">
            <a:off x="4135874" y="3977054"/>
            <a:ext cx="3973" cy="2554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5AC0E167-5D6E-299F-F5BD-287902EBC07D}"/>
              </a:ext>
            </a:extLst>
          </p:cNvPr>
          <p:cNvCxnSpPr>
            <a:cxnSpLocks/>
            <a:stCxn id="54" idx="0"/>
          </p:cNvCxnSpPr>
          <p:nvPr/>
        </p:nvCxnSpPr>
        <p:spPr>
          <a:xfrm flipV="1">
            <a:off x="4762223" y="3977054"/>
            <a:ext cx="0" cy="2554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9" name="Connector: Curved 58">
            <a:extLst>
              <a:ext uri="{FF2B5EF4-FFF2-40B4-BE49-F238E27FC236}">
                <a16:creationId xmlns:a16="http://schemas.microsoft.com/office/drawing/2014/main" id="{0624902E-67D5-F682-1261-87BE4FAB43A4}"/>
              </a:ext>
            </a:extLst>
          </p:cNvPr>
          <p:cNvCxnSpPr>
            <a:cxnSpLocks/>
            <a:stCxn id="31" idx="0"/>
            <a:endCxn id="30" idx="0"/>
          </p:cNvCxnSpPr>
          <p:nvPr/>
        </p:nvCxnSpPr>
        <p:spPr>
          <a:xfrm rot="16200000" flipV="1">
            <a:off x="1897657" y="3065254"/>
            <a:ext cx="12700" cy="522906"/>
          </a:xfrm>
          <a:prstGeom prst="curvedConnector3">
            <a:avLst>
              <a:gd name="adj1" fmla="val 1000000"/>
            </a:avLst>
          </a:prstGeom>
          <a:ln>
            <a:solidFill>
              <a:srgbClr val="FF0000"/>
            </a:solidFill>
            <a:prstDash val="lgDash"/>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DD9B5112-DF14-F182-8669-BB59811E2BAE}"/>
              </a:ext>
            </a:extLst>
          </p:cNvPr>
          <p:cNvSpPr txBox="1"/>
          <p:nvPr/>
        </p:nvSpPr>
        <p:spPr>
          <a:xfrm>
            <a:off x="2004523" y="3070738"/>
            <a:ext cx="774857" cy="215444"/>
          </a:xfrm>
          <a:prstGeom prst="rect">
            <a:avLst/>
          </a:prstGeom>
          <a:noFill/>
        </p:spPr>
        <p:txBody>
          <a:bodyPr wrap="square">
            <a:spAutoFit/>
          </a:bodyPr>
          <a:lstStyle/>
          <a:p>
            <a:r>
              <a:rPr lang="en-US" sz="800">
                <a:solidFill>
                  <a:srgbClr val="FF0000"/>
                </a:solidFill>
              </a:rPr>
              <a:t>Transfer</a:t>
            </a:r>
            <a:endParaRPr lang="vi-VN" sz="800" b="1">
              <a:solidFill>
                <a:srgbClr val="FF0000"/>
              </a:solidFill>
            </a:endParaRP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A298A16-5C9B-DC46-E0BB-393F2B27A4B6}"/>
                  </a:ext>
                </a:extLst>
              </p:cNvPr>
              <p:cNvSpPr txBox="1"/>
              <p:nvPr/>
            </p:nvSpPr>
            <p:spPr>
              <a:xfrm>
                <a:off x="2779380" y="3466993"/>
                <a:ext cx="351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65" name="TextBox 64">
                <a:extLst>
                  <a:ext uri="{FF2B5EF4-FFF2-40B4-BE49-F238E27FC236}">
                    <a16:creationId xmlns:a16="http://schemas.microsoft.com/office/drawing/2014/main" id="{DA298A16-5C9B-DC46-E0BB-393F2B27A4B6}"/>
                  </a:ext>
                </a:extLst>
              </p:cNvPr>
              <p:cNvSpPr txBox="1">
                <a:spLocks noRot="1" noChangeAspect="1" noMove="1" noResize="1" noEditPoints="1" noAdjustHandles="1" noChangeArrowheads="1" noChangeShapeType="1" noTextEdit="1"/>
              </p:cNvSpPr>
              <p:nvPr/>
            </p:nvSpPr>
            <p:spPr>
              <a:xfrm>
                <a:off x="2779380" y="3466993"/>
                <a:ext cx="351058" cy="369332"/>
              </a:xfrm>
              <a:prstGeom prst="rect">
                <a:avLst/>
              </a:prstGeom>
              <a:blipFill>
                <a:blip r:embed="rId14"/>
                <a:stretch>
                  <a:fillRect l="-10345" r="-10345" b="-3448"/>
                </a:stretch>
              </a:blipFill>
            </p:spPr>
            <p:txBody>
              <a:bodyPr/>
              <a:lstStyle/>
              <a:p>
                <a:r>
                  <a:rPr lang="en-VN">
                    <a:noFill/>
                  </a:rPr>
                  <a:t> </a:t>
                </a:r>
              </a:p>
            </p:txBody>
          </p:sp>
        </mc:Fallback>
      </mc:AlternateContent>
      <p:cxnSp>
        <p:nvCxnSpPr>
          <p:cNvPr id="71" name="Straight Connector 70">
            <a:extLst>
              <a:ext uri="{FF2B5EF4-FFF2-40B4-BE49-F238E27FC236}">
                <a16:creationId xmlns:a16="http://schemas.microsoft.com/office/drawing/2014/main" id="{388C17AD-A0AE-7C25-E696-BDE9453F8A8B}"/>
              </a:ext>
            </a:extLst>
          </p:cNvPr>
          <p:cNvCxnSpPr>
            <a:cxnSpLocks/>
          </p:cNvCxnSpPr>
          <p:nvPr/>
        </p:nvCxnSpPr>
        <p:spPr>
          <a:xfrm>
            <a:off x="5615711" y="3671195"/>
            <a:ext cx="1908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7630289-B7BC-4AB1-F3FE-27EE9F6B8F52}"/>
              </a:ext>
            </a:extLst>
          </p:cNvPr>
          <p:cNvCxnSpPr>
            <a:cxnSpLocks/>
          </p:cNvCxnSpPr>
          <p:nvPr/>
        </p:nvCxnSpPr>
        <p:spPr>
          <a:xfrm flipV="1">
            <a:off x="5762623" y="357245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47EEA35A-BAD2-D382-C576-DD5C4D39F753}"/>
                  </a:ext>
                </a:extLst>
              </p:cNvPr>
              <p:cNvSpPr/>
              <p:nvPr/>
            </p:nvSpPr>
            <p:spPr>
              <a:xfrm>
                <a:off x="6089107" y="3262146"/>
                <a:ext cx="988496" cy="8568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xmlns="">
          <p:sp>
            <p:nvSpPr>
              <p:cNvPr id="74" name="Rectangle 73">
                <a:extLst>
                  <a:ext uri="{FF2B5EF4-FFF2-40B4-BE49-F238E27FC236}">
                    <a16:creationId xmlns:a16="http://schemas.microsoft.com/office/drawing/2014/main" id="{47EEA35A-BAD2-D382-C576-DD5C4D39F753}"/>
                  </a:ext>
                </a:extLst>
              </p:cNvPr>
              <p:cNvSpPr>
                <a:spLocks noRot="1" noChangeAspect="1" noMove="1" noResize="1" noEditPoints="1" noAdjustHandles="1" noChangeArrowheads="1" noChangeShapeType="1" noTextEdit="1"/>
              </p:cNvSpPr>
              <p:nvPr/>
            </p:nvSpPr>
            <p:spPr>
              <a:xfrm>
                <a:off x="6089107" y="3262146"/>
                <a:ext cx="988496" cy="856804"/>
              </a:xfrm>
              <a:prstGeom prst="rect">
                <a:avLst/>
              </a:prstGeom>
              <a:blipFill>
                <a:blip r:embed="rId15"/>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2519F65F-932D-E503-3656-52C4C0B792E6}"/>
                  </a:ext>
                </a:extLst>
              </p:cNvPr>
              <p:cNvSpPr/>
              <p:nvPr/>
            </p:nvSpPr>
            <p:spPr>
              <a:xfrm>
                <a:off x="6158846" y="3324589"/>
                <a:ext cx="389699" cy="650789"/>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 </m:t>
                      </m:r>
                      <m:r>
                        <a:rPr lang="en-US" b="0" i="1" smtClean="0">
                          <a:solidFill>
                            <a:srgbClr val="00B050"/>
                          </a:solidFill>
                          <a:latin typeface="Cambria Math" panose="02040503050406030204" pitchFamily="18" charset="0"/>
                        </a:rPr>
                        <m:t>𝑉</m:t>
                      </m:r>
                    </m:oMath>
                  </m:oMathPara>
                </a14:m>
                <a:endParaRPr lang="en-US">
                  <a:solidFill>
                    <a:srgbClr val="00B050"/>
                  </a:solidFill>
                </a:endParaRPr>
              </a:p>
            </p:txBody>
          </p:sp>
        </mc:Choice>
        <mc:Fallback xmlns="">
          <p:sp>
            <p:nvSpPr>
              <p:cNvPr id="75" name="Rectangle 74">
                <a:extLst>
                  <a:ext uri="{FF2B5EF4-FFF2-40B4-BE49-F238E27FC236}">
                    <a16:creationId xmlns:a16="http://schemas.microsoft.com/office/drawing/2014/main" id="{2519F65F-932D-E503-3656-52C4C0B792E6}"/>
                  </a:ext>
                </a:extLst>
              </p:cNvPr>
              <p:cNvSpPr>
                <a:spLocks noRot="1" noChangeAspect="1" noMove="1" noResize="1" noEditPoints="1" noAdjustHandles="1" noChangeArrowheads="1" noChangeShapeType="1" noTextEdit="1"/>
              </p:cNvSpPr>
              <p:nvPr/>
            </p:nvSpPr>
            <p:spPr>
              <a:xfrm>
                <a:off x="6158846" y="3324589"/>
                <a:ext cx="389699" cy="650789"/>
              </a:xfrm>
              <a:prstGeom prst="rect">
                <a:avLst/>
              </a:prstGeom>
              <a:blipFill>
                <a:blip r:embed="rId16"/>
                <a:stretch>
                  <a:fillRect l="-12500"/>
                </a:stretch>
              </a:blipFill>
              <a:ln>
                <a:solidFill>
                  <a:srgbClr val="00B050"/>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F97BA111-1792-A2B3-DFF0-B2B338888329}"/>
                  </a:ext>
                </a:extLst>
              </p:cNvPr>
              <p:cNvSpPr/>
              <p:nvPr/>
            </p:nvSpPr>
            <p:spPr>
              <a:xfrm>
                <a:off x="4572000" y="3318161"/>
                <a:ext cx="372316" cy="65078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𝑉</m:t>
                          </m:r>
                        </m:e>
                        <m:sup>
                          <m:r>
                            <a:rPr lang="en-US" b="0" i="1" smtClean="0">
                              <a:solidFill>
                                <a:srgbClr val="FF0000"/>
                              </a:solidFill>
                              <a:latin typeface="Cambria Math" panose="02040503050406030204" pitchFamily="18" charset="0"/>
                              <a:ea typeface="Cambria Math" panose="02040503050406030204" pitchFamily="18" charset="0"/>
                            </a:rPr>
                            <m:t>†</m:t>
                          </m:r>
                        </m:sup>
                      </m:sSup>
                    </m:oMath>
                  </m:oMathPara>
                </a14:m>
                <a:endParaRPr lang="en-US">
                  <a:solidFill>
                    <a:srgbClr val="FF0000"/>
                  </a:solidFill>
                </a:endParaRPr>
              </a:p>
            </p:txBody>
          </p:sp>
        </mc:Choice>
        <mc:Fallback xmlns="">
          <p:sp>
            <p:nvSpPr>
              <p:cNvPr id="79" name="Rectangle 78">
                <a:extLst>
                  <a:ext uri="{FF2B5EF4-FFF2-40B4-BE49-F238E27FC236}">
                    <a16:creationId xmlns:a16="http://schemas.microsoft.com/office/drawing/2014/main" id="{F97BA111-1792-A2B3-DFF0-B2B338888329}"/>
                  </a:ext>
                </a:extLst>
              </p:cNvPr>
              <p:cNvSpPr>
                <a:spLocks noRot="1" noChangeAspect="1" noMove="1" noResize="1" noEditPoints="1" noAdjustHandles="1" noChangeArrowheads="1" noChangeShapeType="1" noTextEdit="1"/>
              </p:cNvSpPr>
              <p:nvPr/>
            </p:nvSpPr>
            <p:spPr>
              <a:xfrm>
                <a:off x="4572000" y="3318161"/>
                <a:ext cx="372316" cy="650789"/>
              </a:xfrm>
              <a:prstGeom prst="rect">
                <a:avLst/>
              </a:prstGeom>
              <a:blipFill>
                <a:blip r:embed="rId17"/>
                <a:stretch>
                  <a:fillRect l="-29032"/>
                </a:stretch>
              </a:blipFill>
              <a:ln>
                <a:solidFill>
                  <a:srgbClr val="FF0000"/>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0" name="Rectangle 79">
                <a:extLst>
                  <a:ext uri="{FF2B5EF4-FFF2-40B4-BE49-F238E27FC236}">
                    <a16:creationId xmlns:a16="http://schemas.microsoft.com/office/drawing/2014/main" id="{6A891316-D130-6E8E-C97E-4254A94F6F18}"/>
                  </a:ext>
                </a:extLst>
              </p:cNvPr>
              <p:cNvSpPr/>
              <p:nvPr/>
            </p:nvSpPr>
            <p:spPr>
              <a:xfrm>
                <a:off x="6614894" y="3326265"/>
                <a:ext cx="372316" cy="65078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𝑉</m:t>
                          </m:r>
                        </m:e>
                        <m:sup>
                          <m:r>
                            <a:rPr lang="en-US" b="0" i="1" smtClean="0">
                              <a:solidFill>
                                <a:srgbClr val="FF0000"/>
                              </a:solidFill>
                              <a:latin typeface="Cambria Math" panose="02040503050406030204" pitchFamily="18" charset="0"/>
                              <a:ea typeface="Cambria Math" panose="02040503050406030204" pitchFamily="18" charset="0"/>
                            </a:rPr>
                            <m:t>†</m:t>
                          </m:r>
                        </m:sup>
                      </m:sSup>
                    </m:oMath>
                  </m:oMathPara>
                </a14:m>
                <a:endParaRPr lang="en-US">
                  <a:solidFill>
                    <a:srgbClr val="FF0000"/>
                  </a:solidFill>
                </a:endParaRPr>
              </a:p>
            </p:txBody>
          </p:sp>
        </mc:Choice>
        <mc:Fallback xmlns="">
          <p:sp>
            <p:nvSpPr>
              <p:cNvPr id="80" name="Rectangle 79">
                <a:extLst>
                  <a:ext uri="{FF2B5EF4-FFF2-40B4-BE49-F238E27FC236}">
                    <a16:creationId xmlns:a16="http://schemas.microsoft.com/office/drawing/2014/main" id="{6A891316-D130-6E8E-C97E-4254A94F6F18}"/>
                  </a:ext>
                </a:extLst>
              </p:cNvPr>
              <p:cNvSpPr>
                <a:spLocks noRot="1" noChangeAspect="1" noMove="1" noResize="1" noEditPoints="1" noAdjustHandles="1" noChangeArrowheads="1" noChangeShapeType="1" noTextEdit="1"/>
              </p:cNvSpPr>
              <p:nvPr/>
            </p:nvSpPr>
            <p:spPr>
              <a:xfrm>
                <a:off x="6614894" y="3326265"/>
                <a:ext cx="372316" cy="650789"/>
              </a:xfrm>
              <a:prstGeom prst="rect">
                <a:avLst/>
              </a:prstGeom>
              <a:blipFill>
                <a:blip r:embed="rId18"/>
                <a:stretch>
                  <a:fillRect l="-29032"/>
                </a:stretch>
              </a:blipFill>
              <a:ln>
                <a:solidFill>
                  <a:srgbClr val="FF0000"/>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8846374-B228-940E-AEDB-69C4A3F0ABD0}"/>
                  </a:ext>
                </a:extLst>
              </p:cNvPr>
              <p:cNvSpPr txBox="1"/>
              <p:nvPr/>
            </p:nvSpPr>
            <p:spPr>
              <a:xfrm>
                <a:off x="5228066" y="3458889"/>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81" name="TextBox 80">
                <a:extLst>
                  <a:ext uri="{FF2B5EF4-FFF2-40B4-BE49-F238E27FC236}">
                    <a16:creationId xmlns:a16="http://schemas.microsoft.com/office/drawing/2014/main" id="{98846374-B228-940E-AEDB-69C4A3F0ABD0}"/>
                  </a:ext>
                </a:extLst>
              </p:cNvPr>
              <p:cNvSpPr txBox="1">
                <a:spLocks noRot="1" noChangeAspect="1" noMove="1" noResize="1" noEditPoints="1" noAdjustHandles="1" noChangeArrowheads="1" noChangeShapeType="1" noTextEdit="1"/>
              </p:cNvSpPr>
              <p:nvPr/>
            </p:nvSpPr>
            <p:spPr>
              <a:xfrm>
                <a:off x="5228066" y="3458889"/>
                <a:ext cx="314189" cy="369332"/>
              </a:xfrm>
              <a:prstGeom prst="rect">
                <a:avLst/>
              </a:prstGeom>
              <a:blipFill>
                <a:blip r:embed="rId19"/>
                <a:stretch>
                  <a:fillRect l="-11538" r="-11538"/>
                </a:stretch>
              </a:blipFill>
            </p:spPr>
            <p:txBody>
              <a:bodyPr/>
              <a:lstStyle/>
              <a:p>
                <a:r>
                  <a:rPr lang="en-VN">
                    <a:noFill/>
                  </a:rPr>
                  <a:t> </a:t>
                </a:r>
              </a:p>
            </p:txBody>
          </p:sp>
        </mc:Fallback>
      </mc:AlternateContent>
      <p:sp>
        <p:nvSpPr>
          <p:cNvPr id="82" name="TextBox 81">
            <a:extLst>
              <a:ext uri="{FF2B5EF4-FFF2-40B4-BE49-F238E27FC236}">
                <a16:creationId xmlns:a16="http://schemas.microsoft.com/office/drawing/2014/main" id="{377BE6D9-D522-C2C0-14E6-2A61A7B4F69F}"/>
              </a:ext>
            </a:extLst>
          </p:cNvPr>
          <p:cNvSpPr txBox="1"/>
          <p:nvPr/>
        </p:nvSpPr>
        <p:spPr>
          <a:xfrm>
            <a:off x="5910198" y="4233047"/>
            <a:ext cx="827869" cy="276999"/>
          </a:xfrm>
          <a:prstGeom prst="rect">
            <a:avLst/>
          </a:prstGeom>
          <a:noFill/>
        </p:spPr>
        <p:txBody>
          <a:bodyPr wrap="square">
            <a:spAutoFit/>
          </a:bodyPr>
          <a:lstStyle/>
          <a:p>
            <a:r>
              <a:rPr lang="en-US" sz="1200"/>
              <a:t>Explicity</a:t>
            </a:r>
            <a:endParaRPr lang="vi-VN" sz="1200" b="1"/>
          </a:p>
        </p:txBody>
      </p:sp>
      <p:sp>
        <p:nvSpPr>
          <p:cNvPr id="83" name="TextBox 82">
            <a:extLst>
              <a:ext uri="{FF2B5EF4-FFF2-40B4-BE49-F238E27FC236}">
                <a16:creationId xmlns:a16="http://schemas.microsoft.com/office/drawing/2014/main" id="{EC8633BE-3FAA-96F8-BC6D-00B40F8DF2A5}"/>
              </a:ext>
            </a:extLst>
          </p:cNvPr>
          <p:cNvSpPr txBox="1"/>
          <p:nvPr/>
        </p:nvSpPr>
        <p:spPr>
          <a:xfrm>
            <a:off x="6495994" y="4233047"/>
            <a:ext cx="873271" cy="276999"/>
          </a:xfrm>
          <a:prstGeom prst="rect">
            <a:avLst/>
          </a:prstGeom>
          <a:noFill/>
        </p:spPr>
        <p:txBody>
          <a:bodyPr wrap="square">
            <a:spAutoFit/>
          </a:bodyPr>
          <a:lstStyle/>
          <a:p>
            <a:r>
              <a:rPr lang="en-US" sz="1200"/>
              <a:t>Unknown</a:t>
            </a:r>
            <a:endParaRPr lang="vi-VN" sz="1200" b="1"/>
          </a:p>
        </p:txBody>
      </p:sp>
      <p:cxnSp>
        <p:nvCxnSpPr>
          <p:cNvPr id="84" name="Straight Arrow Connector 83">
            <a:extLst>
              <a:ext uri="{FF2B5EF4-FFF2-40B4-BE49-F238E27FC236}">
                <a16:creationId xmlns:a16="http://schemas.microsoft.com/office/drawing/2014/main" id="{7619FD54-8A73-D769-E06D-4E8C9C1A82F9}"/>
              </a:ext>
            </a:extLst>
          </p:cNvPr>
          <p:cNvCxnSpPr>
            <a:cxnSpLocks/>
            <a:stCxn id="82" idx="0"/>
          </p:cNvCxnSpPr>
          <p:nvPr/>
        </p:nvCxnSpPr>
        <p:spPr>
          <a:xfrm flipH="1" flipV="1">
            <a:off x="6320160" y="3977592"/>
            <a:ext cx="3973" cy="2554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7B2DA218-9483-1552-6E88-C28B316F93E7}"/>
              </a:ext>
            </a:extLst>
          </p:cNvPr>
          <p:cNvCxnSpPr>
            <a:cxnSpLocks/>
            <a:stCxn id="83" idx="0"/>
          </p:cNvCxnSpPr>
          <p:nvPr/>
        </p:nvCxnSpPr>
        <p:spPr>
          <a:xfrm flipH="1" flipV="1">
            <a:off x="6926759" y="3977592"/>
            <a:ext cx="5871" cy="2554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97" name="TextBox 96">
            <a:extLst>
              <a:ext uri="{FF2B5EF4-FFF2-40B4-BE49-F238E27FC236}">
                <a16:creationId xmlns:a16="http://schemas.microsoft.com/office/drawing/2014/main" id="{B736732F-61C3-7FC8-00AA-AA7B796B74E5}"/>
              </a:ext>
            </a:extLst>
          </p:cNvPr>
          <p:cNvSpPr txBox="1"/>
          <p:nvPr/>
        </p:nvSpPr>
        <p:spPr>
          <a:xfrm>
            <a:off x="742317" y="4754528"/>
            <a:ext cx="7131415" cy="400110"/>
          </a:xfrm>
          <a:prstGeom prst="rect">
            <a:avLst/>
          </a:prstGeom>
          <a:noFill/>
        </p:spPr>
        <p:txBody>
          <a:bodyPr wrap="square">
            <a:spAutoFit/>
          </a:bodyPr>
          <a:lstStyle/>
          <a:p>
            <a:r>
              <a:rPr lang="it-IT" sz="1000" b="1">
                <a:effectLst/>
              </a:rPr>
              <a:t>[1.1.2] </a:t>
            </a:r>
            <a:r>
              <a:rPr lang="en-US" sz="1000">
                <a:solidFill>
                  <a:srgbClr val="161616"/>
                </a:solidFill>
                <a:latin typeface="plexSans"/>
              </a:rPr>
              <a:t>Iten et al., Quantum circuits for isometries (2016). </a:t>
            </a:r>
            <a:r>
              <a:rPr lang="en-US" sz="1000" u="sng">
                <a:solidFill>
                  <a:srgbClr val="0F62FE"/>
                </a:solidFill>
                <a:latin typeface="plexSans"/>
                <a:hlinkClick r:id="rId20"/>
              </a:rPr>
              <a:t>Phys. Rev. A 93, 032318</a:t>
            </a:r>
            <a:endParaRPr lang="it-IT" sz="1000" b="1">
              <a:effectLst/>
            </a:endParaRPr>
          </a:p>
          <a:p>
            <a:r>
              <a:rPr lang="it-IT" sz="1000" b="1">
                <a:effectLst/>
              </a:rPr>
              <a:t>[1.1.3]</a:t>
            </a:r>
            <a:r>
              <a:rPr lang="it-IT" sz="1000">
                <a:effectLst/>
              </a:rPr>
              <a:t> Hai, V. T., Viet, N. T., &amp; Ho, L. B. (2024). </a:t>
            </a:r>
            <a:r>
              <a:rPr lang="it-IT" sz="1000" i="1">
                <a:effectLst/>
              </a:rPr>
              <a:t>SoftwareX</a:t>
            </a:r>
            <a:r>
              <a:rPr lang="it-IT" sz="1000">
                <a:effectLst/>
              </a:rPr>
              <a:t>, </a:t>
            </a:r>
            <a:r>
              <a:rPr lang="it-IT" sz="1000" i="1">
                <a:effectLst/>
              </a:rPr>
              <a:t>26</a:t>
            </a:r>
            <a:r>
              <a:rPr lang="it-IT" sz="1000">
                <a:effectLst/>
              </a:rPr>
              <a:t>, 101726. https://doi.org/10.1016/j.softx.2024.101726 </a:t>
            </a:r>
          </a:p>
        </p:txBody>
      </p:sp>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3928843C-4846-80A5-7681-47FC00682A8C}"/>
                  </a:ext>
                </a:extLst>
              </p:cNvPr>
              <p:cNvSpPr txBox="1"/>
              <p:nvPr/>
            </p:nvSpPr>
            <p:spPr>
              <a:xfrm>
                <a:off x="7171048" y="3396547"/>
                <a:ext cx="481414"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𝑝</m:t>
                          </m:r>
                        </m:e>
                        <m:sub>
                          <m:r>
                            <a:rPr lang="en-US" sz="1200" b="0" i="1" smtClean="0">
                              <a:solidFill>
                                <a:srgbClr val="FF0000"/>
                              </a:solidFill>
                              <a:latin typeface="Cambria Math" panose="02040503050406030204" pitchFamily="18" charset="0"/>
                            </a:rPr>
                            <m:t>0</m:t>
                          </m:r>
                        </m:sub>
                      </m:sSub>
                      <m:r>
                        <a:rPr lang="en-US" sz="1200" b="0" i="1" smtClean="0">
                          <a:solidFill>
                            <a:srgbClr val="FF0000"/>
                          </a:solidFill>
                          <a:latin typeface="Cambria Math" panose="02040503050406030204" pitchFamily="18" charset="0"/>
                        </a:rPr>
                        <m:t>≈1</m:t>
                      </m:r>
                    </m:oMath>
                  </m:oMathPara>
                </a14:m>
                <a:endParaRPr lang="vi-VN" sz="1200" i="1">
                  <a:solidFill>
                    <a:srgbClr val="FF0000"/>
                  </a:solidFill>
                </a:endParaRPr>
              </a:p>
            </p:txBody>
          </p:sp>
        </mc:Choice>
        <mc:Fallback xmlns="">
          <p:sp>
            <p:nvSpPr>
              <p:cNvPr id="171" name="TextBox 170">
                <a:extLst>
                  <a:ext uri="{FF2B5EF4-FFF2-40B4-BE49-F238E27FC236}">
                    <a16:creationId xmlns:a16="http://schemas.microsoft.com/office/drawing/2014/main" id="{3928843C-4846-80A5-7681-47FC00682A8C}"/>
                  </a:ext>
                </a:extLst>
              </p:cNvPr>
              <p:cNvSpPr txBox="1">
                <a:spLocks noRot="1" noChangeAspect="1" noMove="1" noResize="1" noEditPoints="1" noAdjustHandles="1" noChangeArrowheads="1" noChangeShapeType="1" noTextEdit="1"/>
              </p:cNvSpPr>
              <p:nvPr/>
            </p:nvSpPr>
            <p:spPr>
              <a:xfrm>
                <a:off x="7171048" y="3396547"/>
                <a:ext cx="481414" cy="184666"/>
              </a:xfrm>
              <a:prstGeom prst="rect">
                <a:avLst/>
              </a:prstGeom>
              <a:blipFill>
                <a:blip r:embed="rId21"/>
                <a:stretch>
                  <a:fillRect l="-7692" r="-5128" b="-40000"/>
                </a:stretch>
              </a:blipFill>
            </p:spPr>
            <p:txBody>
              <a:bodyPr/>
              <a:lstStyle/>
              <a:p>
                <a:r>
                  <a:rPr lang="en-VN">
                    <a:noFill/>
                  </a:rPr>
                  <a:t> </a:t>
                </a:r>
              </a:p>
            </p:txBody>
          </p:sp>
        </mc:Fallback>
      </mc:AlternateContent>
      <p:cxnSp>
        <p:nvCxnSpPr>
          <p:cNvPr id="3" name="Straight Connector 2">
            <a:extLst>
              <a:ext uri="{FF2B5EF4-FFF2-40B4-BE49-F238E27FC236}">
                <a16:creationId xmlns:a16="http://schemas.microsoft.com/office/drawing/2014/main" id="{C800D731-5500-E5BA-BDDB-9D6557716DCD}"/>
              </a:ext>
            </a:extLst>
          </p:cNvPr>
          <p:cNvCxnSpPr>
            <a:cxnSpLocks/>
          </p:cNvCxnSpPr>
          <p:nvPr/>
        </p:nvCxnSpPr>
        <p:spPr>
          <a:xfrm>
            <a:off x="742317" y="1031836"/>
            <a:ext cx="30464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C8F8BE8-1076-06EE-F4D8-41BBBE1FE61D}"/>
                  </a:ext>
                </a:extLst>
              </p:cNvPr>
              <p:cNvSpPr/>
              <p:nvPr/>
            </p:nvSpPr>
            <p:spPr>
              <a:xfrm>
                <a:off x="1507807" y="702752"/>
                <a:ext cx="1142155"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𝜙</m:t>
                          </m:r>
                        </m:e>
                      </m:d>
                    </m:oMath>
                  </m:oMathPara>
                </a14:m>
                <a:endParaRPr lang="ar-AE">
                  <a:solidFill>
                    <a:schemeClr val="tx1"/>
                  </a:solidFill>
                </a:endParaRPr>
              </a:p>
            </p:txBody>
          </p:sp>
        </mc:Choice>
        <mc:Fallback xmlns="">
          <p:sp>
            <p:nvSpPr>
              <p:cNvPr id="10" name="Rectangle 9">
                <a:extLst>
                  <a:ext uri="{FF2B5EF4-FFF2-40B4-BE49-F238E27FC236}">
                    <a16:creationId xmlns:a16="http://schemas.microsoft.com/office/drawing/2014/main" id="{BC8F8BE8-1076-06EE-F4D8-41BBBE1FE61D}"/>
                  </a:ext>
                </a:extLst>
              </p:cNvPr>
              <p:cNvSpPr>
                <a:spLocks noRot="1" noChangeAspect="1" noMove="1" noResize="1" noEditPoints="1" noAdjustHandles="1" noChangeArrowheads="1" noChangeShapeType="1" noTextEdit="1"/>
              </p:cNvSpPr>
              <p:nvPr/>
            </p:nvSpPr>
            <p:spPr>
              <a:xfrm>
                <a:off x="1507807" y="702752"/>
                <a:ext cx="1142155" cy="650789"/>
              </a:xfrm>
              <a:prstGeom prst="rect">
                <a:avLst/>
              </a:prstGeom>
              <a:blipFill>
                <a:blip r:embed="rId22"/>
                <a:stretch>
                  <a:fillRect/>
                </a:stretch>
              </a:blipFill>
              <a:ln>
                <a:solidFill>
                  <a:schemeClr val="tx1"/>
                </a:solidFill>
              </a:ln>
            </p:spPr>
            <p:txBody>
              <a:bodyPr/>
              <a:lstStyle/>
              <a:p>
                <a:r>
                  <a:rPr lang="en-VN">
                    <a:noFill/>
                  </a:rPr>
                  <a:t> </a:t>
                </a:r>
              </a:p>
            </p:txBody>
          </p:sp>
        </mc:Fallback>
      </mc:AlternateContent>
      <p:cxnSp>
        <p:nvCxnSpPr>
          <p:cNvPr id="11" name="Straight Connector 10">
            <a:extLst>
              <a:ext uri="{FF2B5EF4-FFF2-40B4-BE49-F238E27FC236}">
                <a16:creationId xmlns:a16="http://schemas.microsoft.com/office/drawing/2014/main" id="{A374CA84-3AFB-EFC0-35F2-FBF1373B4F04}"/>
              </a:ext>
            </a:extLst>
          </p:cNvPr>
          <p:cNvCxnSpPr>
            <a:cxnSpLocks/>
          </p:cNvCxnSpPr>
          <p:nvPr/>
        </p:nvCxnSpPr>
        <p:spPr>
          <a:xfrm flipV="1">
            <a:off x="930584" y="926558"/>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A58ED5B-F9D1-A6BA-3916-8F2EB179C62A}"/>
              </a:ext>
            </a:extLst>
          </p:cNvPr>
          <p:cNvCxnSpPr>
            <a:cxnSpLocks/>
          </p:cNvCxnSpPr>
          <p:nvPr/>
        </p:nvCxnSpPr>
        <p:spPr>
          <a:xfrm flipV="1">
            <a:off x="1230478" y="1046006"/>
            <a:ext cx="0" cy="36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8D0ED0A4-1651-E69C-0CA5-F026F47E5432}"/>
              </a:ext>
            </a:extLst>
          </p:cNvPr>
          <p:cNvCxnSpPr>
            <a:cxnSpLocks/>
          </p:cNvCxnSpPr>
          <p:nvPr/>
        </p:nvCxnSpPr>
        <p:spPr>
          <a:xfrm flipV="1">
            <a:off x="2934866" y="1046006"/>
            <a:ext cx="0" cy="36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AB713C1-50BD-76B1-3E3A-008F287494D6}"/>
                  </a:ext>
                </a:extLst>
              </p:cNvPr>
              <p:cNvSpPr txBox="1"/>
              <p:nvPr/>
            </p:nvSpPr>
            <p:spPr>
              <a:xfrm>
                <a:off x="619088" y="1441611"/>
                <a:ext cx="1353864" cy="3808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𝜓</m:t>
                              </m:r>
                            </m:e>
                            <m:sub>
                              <m:r>
                                <a:rPr lang="en-US" b="0" i="1" smtClean="0">
                                  <a:solidFill>
                                    <a:schemeClr val="tx1"/>
                                  </a:solidFill>
                                  <a:latin typeface="Cambria Math" panose="02040503050406030204" pitchFamily="18" charset="0"/>
                                </a:rPr>
                                <m:t>0</m:t>
                              </m:r>
                            </m:sub>
                          </m:sSub>
                        </m:e>
                      </m:d>
                    </m:oMath>
                  </m:oMathPara>
                </a14:m>
                <a:endParaRPr lang="vi-VN" b="1">
                  <a:solidFill>
                    <a:schemeClr val="tx1"/>
                  </a:solidFill>
                </a:endParaRPr>
              </a:p>
            </p:txBody>
          </p:sp>
        </mc:Choice>
        <mc:Fallback xmlns="">
          <p:sp>
            <p:nvSpPr>
              <p:cNvPr id="23" name="TextBox 22">
                <a:extLst>
                  <a:ext uri="{FF2B5EF4-FFF2-40B4-BE49-F238E27FC236}">
                    <a16:creationId xmlns:a16="http://schemas.microsoft.com/office/drawing/2014/main" id="{2AB713C1-50BD-76B1-3E3A-008F287494D6}"/>
                  </a:ext>
                </a:extLst>
              </p:cNvPr>
              <p:cNvSpPr txBox="1">
                <a:spLocks noRot="1" noChangeAspect="1" noMove="1" noResize="1" noEditPoints="1" noAdjustHandles="1" noChangeArrowheads="1" noChangeShapeType="1" noTextEdit="1"/>
              </p:cNvSpPr>
              <p:nvPr/>
            </p:nvSpPr>
            <p:spPr>
              <a:xfrm>
                <a:off x="619088" y="1441611"/>
                <a:ext cx="1353864" cy="380810"/>
              </a:xfrm>
              <a:prstGeom prst="rect">
                <a:avLst/>
              </a:prstGeom>
              <a:blipFill>
                <a:blip r:embed="rId23"/>
                <a:stretch>
                  <a:fillRect b="-1290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B5EBAD4-3CA1-DD2B-4712-033046BDF442}"/>
                  </a:ext>
                </a:extLst>
              </p:cNvPr>
              <p:cNvSpPr txBox="1"/>
              <p:nvPr/>
            </p:nvSpPr>
            <p:spPr>
              <a:xfrm>
                <a:off x="2649961" y="1441611"/>
                <a:ext cx="2231073"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endChr m:val="⟩"/>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𝜓</m:t>
                          </m:r>
                          <m:r>
                            <a:rPr lang="en-US" i="1" smtClean="0">
                              <a:solidFill>
                                <a:schemeClr val="tx1"/>
                              </a:solidFill>
                              <a:latin typeface="Cambria Math" panose="02040503050406030204" pitchFamily="18" charset="0"/>
                            </a:rPr>
                            <m:t>′</m:t>
                          </m:r>
                        </m:e>
                      </m:d>
                      <m:r>
                        <a:rPr lang="en-US" b="0" i="1" smtClean="0">
                          <a:solidFill>
                            <a:schemeClr val="tx1"/>
                          </a:solidFill>
                          <a:latin typeface="Cambria Math" panose="02040503050406030204" pitchFamily="18" charset="0"/>
                        </a:rPr>
                        <m:t>=</m:t>
                      </m:r>
                      <m:r>
                        <a:rPr lang="en-US" b="0" i="1">
                          <a:latin typeface="Cambria Math" panose="02040503050406030204" pitchFamily="18" charset="0"/>
                        </a:rPr>
                        <m:t>𝑈</m:t>
                      </m:r>
                      <m:d>
                        <m:dPr>
                          <m:ctrlPr>
                            <a:rPr lang="en-US" i="1">
                              <a:latin typeface="Cambria Math" panose="02040503050406030204" pitchFamily="18" charset="0"/>
                            </a:rPr>
                          </m:ctrlPr>
                        </m:dPr>
                        <m:e>
                          <m:r>
                            <a:rPr lang="en-US" b="0" i="1">
                              <a:latin typeface="Cambria Math" panose="02040503050406030204" pitchFamily="18" charset="0"/>
                            </a:rPr>
                            <m:t>𝜙</m:t>
                          </m:r>
                        </m:e>
                      </m:d>
                      <m:r>
                        <a:rPr lang="en-US" b="0" i="0"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ar-AE"/>
              </a:p>
            </p:txBody>
          </p:sp>
        </mc:Choice>
        <mc:Fallback xmlns="">
          <p:sp>
            <p:nvSpPr>
              <p:cNvPr id="24" name="TextBox 23">
                <a:extLst>
                  <a:ext uri="{FF2B5EF4-FFF2-40B4-BE49-F238E27FC236}">
                    <a16:creationId xmlns:a16="http://schemas.microsoft.com/office/drawing/2014/main" id="{9B5EBAD4-3CA1-DD2B-4712-033046BDF442}"/>
                  </a:ext>
                </a:extLst>
              </p:cNvPr>
              <p:cNvSpPr txBox="1">
                <a:spLocks noRot="1" noChangeAspect="1" noMove="1" noResize="1" noEditPoints="1" noAdjustHandles="1" noChangeArrowheads="1" noChangeShapeType="1" noTextEdit="1"/>
              </p:cNvSpPr>
              <p:nvPr/>
            </p:nvSpPr>
            <p:spPr>
              <a:xfrm>
                <a:off x="2649961" y="1441611"/>
                <a:ext cx="2231073" cy="369332"/>
              </a:xfrm>
              <a:prstGeom prst="rect">
                <a:avLst/>
              </a:prstGeom>
              <a:blipFill>
                <a:blip r:embed="rId24"/>
                <a:stretch>
                  <a:fillRect t="-6667" b="-266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6B1840A-9758-E694-968C-BC3B9C58CA1A}"/>
                  </a:ext>
                </a:extLst>
              </p:cNvPr>
              <p:cNvSpPr txBox="1"/>
              <p:nvPr/>
            </p:nvSpPr>
            <p:spPr>
              <a:xfrm>
                <a:off x="2680876" y="668341"/>
                <a:ext cx="5319133" cy="276999"/>
              </a:xfrm>
              <a:prstGeom prst="rect">
                <a:avLst/>
              </a:prstGeom>
              <a:noFill/>
            </p:spPr>
            <p:txBody>
              <a:bodyPr wrap="square">
                <a:spAutoFit/>
              </a:bodyPr>
              <a:lstStyle/>
              <a:p>
                <a:r>
                  <a:rPr lang="en-US" sz="1200">
                    <a:solidFill>
                      <a:srgbClr val="FF0000"/>
                    </a:solidFill>
                  </a:rPr>
                  <a:t>Normally, </a:t>
                </a:r>
                <a:r>
                  <a:rPr lang="en-VN" sz="1200">
                    <a:solidFill>
                      <a:srgbClr val="FF0000"/>
                    </a:solidFill>
                  </a:rPr>
                  <a:t>Qiskit.initialize()</a:t>
                </a:r>
                <a:r>
                  <a:rPr lang="vi-VN" sz="1200" b="1" i="1">
                    <a:solidFill>
                      <a:srgbClr val="FF0000"/>
                    </a:solidFill>
                  </a:rPr>
                  <a:t> </a:t>
                </a:r>
                <a:r>
                  <a:rPr lang="vi-VN" sz="1200">
                    <a:solidFill>
                      <a:srgbClr val="FF0000"/>
                    </a:solidFill>
                    <a:latin typeface="Aptos" panose="020B0004020202020204" pitchFamily="34" charset="0"/>
                  </a:rPr>
                  <a:t>take exponentially gate &amp; depth for </a:t>
                </a:r>
                <a14:m>
                  <m:oMath xmlns:m="http://schemas.openxmlformats.org/officeDocument/2006/math">
                    <m:r>
                      <a:rPr lang="vi-VN" sz="1200" i="1">
                        <a:solidFill>
                          <a:srgbClr val="FF0000"/>
                        </a:solidFill>
                        <a:latin typeface="Cambria Math" panose="02040503050406030204" pitchFamily="18" charset="0"/>
                      </a:rPr>
                      <m:t>𝑈</m:t>
                    </m:r>
                    <m:r>
                      <a:rPr lang="vi-VN" sz="1200" b="0" i="1">
                        <a:solidFill>
                          <a:srgbClr val="FF0000"/>
                        </a:solidFill>
                        <a:latin typeface="Cambria Math" panose="02040503050406030204" pitchFamily="18" charset="0"/>
                      </a:rPr>
                      <m:t>(</m:t>
                    </m:r>
                    <m:r>
                      <a:rPr lang="vi-VN" sz="1200" b="0" i="1">
                        <a:solidFill>
                          <a:srgbClr val="FF0000"/>
                        </a:solidFill>
                        <a:latin typeface="Cambria Math" panose="02040503050406030204" pitchFamily="18" charset="0"/>
                      </a:rPr>
                      <m:t>𝜙</m:t>
                    </m:r>
                    <m:r>
                      <a:rPr lang="vi-VN" sz="1200" b="0" i="1">
                        <a:solidFill>
                          <a:srgbClr val="FF0000"/>
                        </a:solidFill>
                        <a:latin typeface="Cambria Math" panose="02040503050406030204" pitchFamily="18" charset="0"/>
                      </a:rPr>
                      <m:t>)</m:t>
                    </m:r>
                  </m:oMath>
                </a14:m>
                <a:r>
                  <a:rPr lang="vi-VN" sz="1200">
                    <a:solidFill>
                      <a:srgbClr val="FF0000"/>
                    </a:solidFill>
                    <a:latin typeface="Aptos" panose="020B0004020202020204" pitchFamily="34" charset="0"/>
                  </a:rPr>
                  <a:t>! [1.1.</a:t>
                </a:r>
                <a:r>
                  <a:rPr lang="en-US" sz="1200">
                    <a:solidFill>
                      <a:srgbClr val="FF0000"/>
                    </a:solidFill>
                    <a:latin typeface="Aptos" panose="020B0004020202020204" pitchFamily="34" charset="0"/>
                  </a:rPr>
                  <a:t>2</a:t>
                </a:r>
                <a:r>
                  <a:rPr lang="vi-VN" sz="1200">
                    <a:solidFill>
                      <a:srgbClr val="FF0000"/>
                    </a:solidFill>
                    <a:latin typeface="Aptos" panose="020B0004020202020204" pitchFamily="34" charset="0"/>
                  </a:rPr>
                  <a:t>]</a:t>
                </a:r>
                <a:endParaRPr lang="vi-VN" sz="1200" b="1" i="1">
                  <a:solidFill>
                    <a:srgbClr val="FF0000"/>
                  </a:solidFill>
                </a:endParaRPr>
              </a:p>
            </p:txBody>
          </p:sp>
        </mc:Choice>
        <mc:Fallback xmlns="">
          <p:sp>
            <p:nvSpPr>
              <p:cNvPr id="28" name="TextBox 27">
                <a:extLst>
                  <a:ext uri="{FF2B5EF4-FFF2-40B4-BE49-F238E27FC236}">
                    <a16:creationId xmlns:a16="http://schemas.microsoft.com/office/drawing/2014/main" id="{46B1840A-9758-E694-968C-BC3B9C58CA1A}"/>
                  </a:ext>
                </a:extLst>
              </p:cNvPr>
              <p:cNvSpPr txBox="1">
                <a:spLocks noRot="1" noChangeAspect="1" noMove="1" noResize="1" noEditPoints="1" noAdjustHandles="1" noChangeArrowheads="1" noChangeShapeType="1" noTextEdit="1"/>
              </p:cNvSpPr>
              <p:nvPr/>
            </p:nvSpPr>
            <p:spPr>
              <a:xfrm>
                <a:off x="2680876" y="668341"/>
                <a:ext cx="5319133" cy="276999"/>
              </a:xfrm>
              <a:prstGeom prst="rect">
                <a:avLst/>
              </a:prstGeom>
              <a:blipFill>
                <a:blip r:embed="rId25"/>
                <a:stretch>
                  <a:fillRect l="-115" t="-2222" b="-17778"/>
                </a:stretch>
              </a:blipFill>
            </p:spPr>
            <p:txBody>
              <a:bodyPr/>
              <a:lstStyle/>
              <a:p>
                <a:r>
                  <a:rPr lang="vi-VN">
                    <a:noFill/>
                  </a:rPr>
                  <a:t> </a:t>
                </a:r>
              </a:p>
            </p:txBody>
          </p:sp>
        </mc:Fallback>
      </mc:AlternateContent>
      <p:sp>
        <p:nvSpPr>
          <p:cNvPr id="39" name="Rectangle 38">
            <a:extLst>
              <a:ext uri="{FF2B5EF4-FFF2-40B4-BE49-F238E27FC236}">
                <a16:creationId xmlns:a16="http://schemas.microsoft.com/office/drawing/2014/main" id="{F3185252-1207-B7A8-4073-1794773CEC74}"/>
              </a:ext>
            </a:extLst>
          </p:cNvPr>
          <p:cNvSpPr/>
          <p:nvPr/>
        </p:nvSpPr>
        <p:spPr>
          <a:xfrm>
            <a:off x="5762623" y="1028146"/>
            <a:ext cx="3080947" cy="1890650"/>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0" name="Rectangle 39">
            <a:extLst>
              <a:ext uri="{FF2B5EF4-FFF2-40B4-BE49-F238E27FC236}">
                <a16:creationId xmlns:a16="http://schemas.microsoft.com/office/drawing/2014/main" id="{D363CB4C-D2A2-BC35-9E8F-EF1B57C2B955}"/>
              </a:ext>
            </a:extLst>
          </p:cNvPr>
          <p:cNvSpPr/>
          <p:nvPr/>
        </p:nvSpPr>
        <p:spPr>
          <a:xfrm>
            <a:off x="6487301" y="1188357"/>
            <a:ext cx="1131626" cy="45097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solidFill>
                  <a:schemeClr val="tx1"/>
                </a:solidFill>
              </a:rPr>
              <a:t>Compiler</a:t>
            </a:r>
            <a:endParaRPr>
              <a:solidFill>
                <a:schemeClr val="tx1"/>
              </a:solidFill>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66AB7A4-6C30-C83C-54C6-00C9F2E8B3B3}"/>
                  </a:ext>
                </a:extLst>
              </p:cNvPr>
              <p:cNvSpPr txBox="1"/>
              <p:nvPr/>
            </p:nvSpPr>
            <p:spPr>
              <a:xfrm>
                <a:off x="5806522" y="1221748"/>
                <a:ext cx="496423"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𝜓</m:t>
                          </m:r>
                          <m:r>
                            <a:rPr lang="en-US" i="1" smtClean="0">
                              <a:solidFill>
                                <a:schemeClr val="tx1"/>
                              </a:solidFill>
                              <a:latin typeface="Cambria Math" panose="02040503050406030204" pitchFamily="18" charset="0"/>
                            </a:rPr>
                            <m:t>′</m:t>
                          </m:r>
                        </m:e>
                      </m:d>
                    </m:oMath>
                  </m:oMathPara>
                </a14:m>
                <a:endParaRPr lang="en-VN"/>
              </a:p>
            </p:txBody>
          </p:sp>
        </mc:Choice>
        <mc:Fallback xmlns="">
          <p:sp>
            <p:nvSpPr>
              <p:cNvPr id="42" name="TextBox 41">
                <a:extLst>
                  <a:ext uri="{FF2B5EF4-FFF2-40B4-BE49-F238E27FC236}">
                    <a16:creationId xmlns:a16="http://schemas.microsoft.com/office/drawing/2014/main" id="{E66AB7A4-6C30-C83C-54C6-00C9F2E8B3B3}"/>
                  </a:ext>
                </a:extLst>
              </p:cNvPr>
              <p:cNvSpPr txBox="1">
                <a:spLocks noRot="1" noChangeAspect="1" noMove="1" noResize="1" noEditPoints="1" noAdjustHandles="1" noChangeArrowheads="1" noChangeShapeType="1" noTextEdit="1"/>
              </p:cNvSpPr>
              <p:nvPr/>
            </p:nvSpPr>
            <p:spPr>
              <a:xfrm>
                <a:off x="5806522" y="1221748"/>
                <a:ext cx="496423" cy="369332"/>
              </a:xfrm>
              <a:prstGeom prst="rect">
                <a:avLst/>
              </a:prstGeom>
              <a:blipFill>
                <a:blip r:embed="rId26"/>
                <a:stretch>
                  <a:fillRect b="-1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4D4E269-F821-DFBD-ACDA-6783B932D300}"/>
                  </a:ext>
                </a:extLst>
              </p:cNvPr>
              <p:cNvSpPr txBox="1"/>
              <p:nvPr/>
            </p:nvSpPr>
            <p:spPr>
              <a:xfrm>
                <a:off x="7843308" y="1223423"/>
                <a:ext cx="614875"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vi-VN" b="0" i="1" smtClean="0">
                              <a:solidFill>
                                <a:schemeClr val="tx1"/>
                              </a:solidFill>
                              <a:latin typeface="Cambria Math" panose="02040503050406030204" pitchFamily="18" charset="0"/>
                            </a:rPr>
                          </m:ctrlPr>
                        </m:sSupPr>
                        <m:e>
                          <m:r>
                            <a:rPr lang="vi-VN" i="1" smtClean="0">
                              <a:solidFill>
                                <a:schemeClr val="tx1"/>
                              </a:solidFill>
                              <a:latin typeface="Cambria Math" panose="02040503050406030204" pitchFamily="18" charset="0"/>
                            </a:rPr>
                            <m:t>𝜃</m:t>
                          </m:r>
                        </m:e>
                        <m:sup>
                          <m:r>
                            <a:rPr lang="vi-VN" b="0" i="1" smtClean="0">
                              <a:solidFill>
                                <a:schemeClr val="tx1"/>
                              </a:solidFill>
                              <a:latin typeface="Cambria Math" panose="02040503050406030204" pitchFamily="18" charset="0"/>
                            </a:rPr>
                            <m:t>∗</m:t>
                          </m:r>
                        </m:sup>
                      </m:sSup>
                    </m:oMath>
                  </m:oMathPara>
                </a14:m>
                <a:endParaRPr lang="en-VN"/>
              </a:p>
            </p:txBody>
          </p:sp>
        </mc:Choice>
        <mc:Fallback xmlns="">
          <p:sp>
            <p:nvSpPr>
              <p:cNvPr id="44" name="TextBox 43">
                <a:extLst>
                  <a:ext uri="{FF2B5EF4-FFF2-40B4-BE49-F238E27FC236}">
                    <a16:creationId xmlns:a16="http://schemas.microsoft.com/office/drawing/2014/main" id="{B4D4E269-F821-DFBD-ACDA-6783B932D300}"/>
                  </a:ext>
                </a:extLst>
              </p:cNvPr>
              <p:cNvSpPr txBox="1">
                <a:spLocks noRot="1" noChangeAspect="1" noMove="1" noResize="1" noEditPoints="1" noAdjustHandles="1" noChangeArrowheads="1" noChangeShapeType="1" noTextEdit="1"/>
              </p:cNvSpPr>
              <p:nvPr/>
            </p:nvSpPr>
            <p:spPr>
              <a:xfrm>
                <a:off x="7843308" y="1223423"/>
                <a:ext cx="614875" cy="369332"/>
              </a:xfrm>
              <a:prstGeom prst="rect">
                <a:avLst/>
              </a:prstGeom>
              <a:blipFill>
                <a:blip r:embed="rId27"/>
                <a:stretch>
                  <a:fillRect/>
                </a:stretch>
              </a:blipFill>
            </p:spPr>
            <p:txBody>
              <a:bodyPr/>
              <a:lstStyle/>
              <a:p>
                <a:r>
                  <a:rPr lang="en-VN">
                    <a:noFill/>
                  </a:rPr>
                  <a:t> </a:t>
                </a:r>
              </a:p>
            </p:txBody>
          </p:sp>
        </mc:Fallback>
      </mc:AlternateContent>
      <p:sp>
        <p:nvSpPr>
          <p:cNvPr id="51" name="TextBox 50">
            <a:extLst>
              <a:ext uri="{FF2B5EF4-FFF2-40B4-BE49-F238E27FC236}">
                <a16:creationId xmlns:a16="http://schemas.microsoft.com/office/drawing/2014/main" id="{CC735356-BF74-7EE0-2993-6D7CFC5E6645}"/>
              </a:ext>
            </a:extLst>
          </p:cNvPr>
          <p:cNvSpPr txBox="1"/>
          <p:nvPr/>
        </p:nvSpPr>
        <p:spPr>
          <a:xfrm>
            <a:off x="6605350" y="1678638"/>
            <a:ext cx="935552" cy="276999"/>
          </a:xfrm>
          <a:prstGeom prst="rect">
            <a:avLst/>
          </a:prstGeom>
          <a:noFill/>
        </p:spPr>
        <p:txBody>
          <a:bodyPr wrap="square">
            <a:spAutoFit/>
          </a:bodyPr>
          <a:lstStyle/>
          <a:p>
            <a:r>
              <a:rPr lang="en-VN" sz="1200">
                <a:solidFill>
                  <a:srgbClr val="FF0000"/>
                </a:solidFill>
              </a:rPr>
              <a:t>Currently</a:t>
            </a:r>
            <a:endParaRPr lang="vi-VN" sz="1200" b="1" i="1">
              <a:solidFill>
                <a:srgbClr val="FF0000"/>
              </a:solidFill>
            </a:endParaRPr>
          </a:p>
        </p:txBody>
      </p:sp>
      <p:cxnSp>
        <p:nvCxnSpPr>
          <p:cNvPr id="58" name="Curved Connector 57">
            <a:extLst>
              <a:ext uri="{FF2B5EF4-FFF2-40B4-BE49-F238E27FC236}">
                <a16:creationId xmlns:a16="http://schemas.microsoft.com/office/drawing/2014/main" id="{C1583DDC-3EAD-FED3-DCB8-C5DE27D9174A}"/>
              </a:ext>
            </a:extLst>
          </p:cNvPr>
          <p:cNvCxnSpPr>
            <a:stCxn id="51" idx="2"/>
            <a:endCxn id="74" idx="0"/>
          </p:cNvCxnSpPr>
          <p:nvPr/>
        </p:nvCxnSpPr>
        <p:spPr>
          <a:xfrm rot="5400000">
            <a:off x="6174987" y="2364006"/>
            <a:ext cx="1306509" cy="489771"/>
          </a:xfrm>
          <a:prstGeom prst="curvedConnector3">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1" name="TextBox 60">
            <a:extLst>
              <a:ext uri="{FF2B5EF4-FFF2-40B4-BE49-F238E27FC236}">
                <a16:creationId xmlns:a16="http://schemas.microsoft.com/office/drawing/2014/main" id="{567252CB-080E-477F-0ABA-90C3D0256527}"/>
              </a:ext>
            </a:extLst>
          </p:cNvPr>
          <p:cNvSpPr txBox="1"/>
          <p:nvPr/>
        </p:nvSpPr>
        <p:spPr>
          <a:xfrm>
            <a:off x="7276083" y="2015991"/>
            <a:ext cx="1383226" cy="646331"/>
          </a:xfrm>
          <a:prstGeom prst="rect">
            <a:avLst/>
          </a:prstGeom>
          <a:noFill/>
        </p:spPr>
        <p:txBody>
          <a:bodyPr wrap="square">
            <a:spAutoFit/>
          </a:bodyPr>
          <a:lstStyle/>
          <a:p>
            <a:r>
              <a:rPr lang="en-VN" sz="1200">
                <a:solidFill>
                  <a:srgbClr val="FF0000"/>
                </a:solidFill>
              </a:rPr>
              <a:t>Can we replace compiler by a Seq2Seq model?</a:t>
            </a:r>
            <a:endParaRPr lang="vi-VN" sz="1200" b="1" i="1">
              <a:solidFill>
                <a:srgbClr val="FF0000"/>
              </a:solidFill>
            </a:endParaRPr>
          </a:p>
        </p:txBody>
      </p:sp>
    </p:spTree>
    <p:extLst>
      <p:ext uri="{BB962C8B-B14F-4D97-AF65-F5344CB8AC3E}">
        <p14:creationId xmlns:p14="http://schemas.microsoft.com/office/powerpoint/2010/main" val="3257990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1495C2AD-6176-B3FC-45FB-50A20B28E237}"/>
              </a:ext>
            </a:extLst>
          </p:cNvPr>
          <p:cNvCxnSpPr/>
          <p:nvPr/>
        </p:nvCxnSpPr>
        <p:spPr>
          <a:xfrm>
            <a:off x="705670" y="2948925"/>
            <a:ext cx="217479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ADD38E-63EF-154C-B348-F04AF9E1AA4A}"/>
              </a:ext>
            </a:extLst>
          </p:cNvPr>
          <p:cNvSpPr>
            <a:spLocks noGrp="1"/>
          </p:cNvSpPr>
          <p:nvPr>
            <p:ph type="title"/>
          </p:nvPr>
        </p:nvSpPr>
        <p:spPr/>
        <p:txBody>
          <a:bodyPr>
            <a:normAutofit/>
          </a:bodyPr>
          <a:lstStyle/>
          <a:p>
            <a:r>
              <a:rPr lang="en-US"/>
              <a:t>1.2</a:t>
            </a:r>
            <a:r>
              <a:rPr lang="en-VN"/>
              <a:t>. Model optimization</a:t>
            </a:r>
          </a:p>
        </p:txBody>
      </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D21E891-5D4C-C534-335C-0F82247E7E6C}"/>
                  </a:ext>
                </a:extLst>
              </p:cNvPr>
              <p:cNvSpPr/>
              <p:nvPr/>
            </p:nvSpPr>
            <p:spPr>
              <a:xfrm>
                <a:off x="628650" y="1081216"/>
                <a:ext cx="6579458" cy="245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Considering a PQC </a:t>
                </a:r>
                <a14:m>
                  <m:oMath xmlns:m="http://schemas.openxmlformats.org/officeDocument/2006/math">
                    <m:r>
                      <a:rPr lang="vi-VN" sz="2100" i="1">
                        <a:solidFill>
                          <a:schemeClr val="tx1"/>
                        </a:solidFill>
                        <a:latin typeface="Cambria Math" panose="02040503050406030204" pitchFamily="18" charset="0"/>
                        <a:ea typeface="Cambria Math" panose="02040503050406030204" pitchFamily="18" charset="0"/>
                      </a:rPr>
                      <m:t>𝑈</m:t>
                    </m:r>
                    <m:d>
                      <m:dPr>
                        <m:ctrlPr>
                          <a:rPr lang="vi-VN" sz="2100" i="1">
                            <a:solidFill>
                              <a:schemeClr val="tx1"/>
                            </a:solidFill>
                            <a:latin typeface="Cambria Math" panose="02040503050406030204" pitchFamily="18" charset="0"/>
                            <a:ea typeface="Cambria Math" panose="02040503050406030204" pitchFamily="18" charset="0"/>
                          </a:rPr>
                        </m:ctrlPr>
                      </m:dPr>
                      <m:e>
                        <m:r>
                          <a:rPr lang="vi-VN" sz="2100" b="1" i="1">
                            <a:solidFill>
                              <a:schemeClr val="tx1"/>
                            </a:solidFill>
                            <a:latin typeface="Cambria Math" panose="02040503050406030204" pitchFamily="18" charset="0"/>
                            <a:ea typeface="Cambria Math" panose="02040503050406030204" pitchFamily="18" charset="0"/>
                          </a:rPr>
                          <m:t>𝜽</m:t>
                        </m:r>
                      </m:e>
                    </m:d>
                  </m:oMath>
                </a14:m>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 and cost function:</a:t>
                </a:r>
              </a:p>
              <a:p>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vi-VN" sz="2100" i="1">
                        <a:solidFill>
                          <a:schemeClr val="tx1"/>
                        </a:solidFill>
                        <a:latin typeface="Cambria Math" panose="02040503050406030204" pitchFamily="18" charset="0"/>
                        <a:ea typeface="Cambria Math" panose="02040503050406030204" pitchFamily="18" charset="0"/>
                      </a:rPr>
                      <m:t>𝐶</m:t>
                    </m:r>
                    <m:d>
                      <m:dPr>
                        <m:ctrlPr>
                          <a:rPr lang="vi-VN" sz="2100" i="1">
                            <a:solidFill>
                              <a:schemeClr val="tx1"/>
                            </a:solidFill>
                            <a:latin typeface="Cambria Math" panose="02040503050406030204" pitchFamily="18" charset="0"/>
                            <a:ea typeface="Cambria Math" panose="02040503050406030204" pitchFamily="18" charset="0"/>
                          </a:rPr>
                        </m:ctrlPr>
                      </m:dPr>
                      <m:e>
                        <m:r>
                          <a:rPr lang="vi-VN" sz="2100" b="1" i="1">
                            <a:solidFill>
                              <a:schemeClr val="tx1"/>
                            </a:solidFill>
                            <a:latin typeface="Cambria Math" panose="02040503050406030204" pitchFamily="18" charset="0"/>
                            <a:ea typeface="Cambria Math" panose="02040503050406030204" pitchFamily="18" charset="0"/>
                          </a:rPr>
                          <m:t>𝜽</m:t>
                        </m:r>
                      </m:e>
                    </m:d>
                    <m:r>
                      <a:rPr lang="vi-VN" sz="2100" i="1">
                        <a:solidFill>
                          <a:schemeClr val="tx1"/>
                        </a:solidFill>
                        <a:latin typeface="Cambria Math" panose="02040503050406030204" pitchFamily="18" charset="0"/>
                        <a:ea typeface="Cambria Math" panose="02040503050406030204" pitchFamily="18" charset="0"/>
                      </a:rPr>
                      <m:t>=⟨</m:t>
                    </m:r>
                    <m:r>
                      <a:rPr lang="vi-VN" sz="2100" b="1" i="1">
                        <a:solidFill>
                          <a:schemeClr val="tx1"/>
                        </a:solidFill>
                        <a:latin typeface="Cambria Math" panose="02040503050406030204" pitchFamily="18" charset="0"/>
                        <a:ea typeface="Cambria Math" panose="02040503050406030204" pitchFamily="18" charset="0"/>
                      </a:rPr>
                      <m:t>𝟎</m:t>
                    </m:r>
                    <m:d>
                      <m:dPr>
                        <m:begChr m:val="|"/>
                        <m:endChr m:val="|"/>
                        <m:ctrlPr>
                          <a:rPr lang="vi-VN" sz="2100" i="1">
                            <a:solidFill>
                              <a:schemeClr val="tx1"/>
                            </a:solidFill>
                            <a:latin typeface="Cambria Math" panose="02040503050406030204" pitchFamily="18" charset="0"/>
                            <a:ea typeface="Cambria Math" panose="02040503050406030204" pitchFamily="18" charset="0"/>
                          </a:rPr>
                        </m:ctrlPr>
                      </m:dPr>
                      <m:e>
                        <m:sSup>
                          <m:sSupPr>
                            <m:ctrlPr>
                              <a:rPr lang="vi-VN" sz="2100" i="1">
                                <a:solidFill>
                                  <a:schemeClr val="tx1"/>
                                </a:solidFill>
                                <a:latin typeface="Cambria Math" panose="02040503050406030204" pitchFamily="18" charset="0"/>
                                <a:ea typeface="Cambria Math" panose="02040503050406030204" pitchFamily="18" charset="0"/>
                              </a:rPr>
                            </m:ctrlPr>
                          </m:sSupPr>
                          <m:e>
                            <m:r>
                              <a:rPr lang="vi-VN" sz="2100" i="1">
                                <a:solidFill>
                                  <a:schemeClr val="tx1"/>
                                </a:solidFill>
                                <a:latin typeface="Cambria Math" panose="02040503050406030204" pitchFamily="18" charset="0"/>
                                <a:ea typeface="Cambria Math" panose="02040503050406030204" pitchFamily="18" charset="0"/>
                              </a:rPr>
                              <m:t>𝑈</m:t>
                            </m:r>
                          </m:e>
                          <m:sup>
                            <m:r>
                              <a:rPr lang="vi-VN" sz="2100" i="1">
                                <a:solidFill>
                                  <a:schemeClr val="tx1"/>
                                </a:solidFill>
                                <a:latin typeface="Cambria Math" panose="02040503050406030204" pitchFamily="18" charset="0"/>
                                <a:ea typeface="Cambria Math" panose="02040503050406030204" pitchFamily="18" charset="0"/>
                              </a:rPr>
                              <m:t>†</m:t>
                            </m:r>
                          </m:sup>
                        </m:sSup>
                        <m:d>
                          <m:dPr>
                            <m:ctrlPr>
                              <a:rPr lang="vi-VN" sz="2100" i="1">
                                <a:solidFill>
                                  <a:schemeClr val="tx1"/>
                                </a:solidFill>
                                <a:latin typeface="Cambria Math" panose="02040503050406030204" pitchFamily="18" charset="0"/>
                                <a:ea typeface="Cambria Math" panose="02040503050406030204" pitchFamily="18" charset="0"/>
                              </a:rPr>
                            </m:ctrlPr>
                          </m:dPr>
                          <m:e>
                            <m:r>
                              <a:rPr lang="vi-VN" sz="2100" b="1" i="1">
                                <a:solidFill>
                                  <a:schemeClr val="tx1"/>
                                </a:solidFill>
                                <a:latin typeface="Cambria Math" panose="02040503050406030204" pitchFamily="18" charset="0"/>
                                <a:ea typeface="Cambria Math" panose="02040503050406030204" pitchFamily="18" charset="0"/>
                              </a:rPr>
                              <m:t>𝜽</m:t>
                            </m:r>
                          </m:e>
                        </m:d>
                        <m:acc>
                          <m:accPr>
                            <m:chr m:val="̂"/>
                            <m:ctrlPr>
                              <a:rPr lang="vi-VN" sz="2100" i="1">
                                <a:solidFill>
                                  <a:schemeClr val="tx1"/>
                                </a:solidFill>
                                <a:latin typeface="Cambria Math" panose="02040503050406030204" pitchFamily="18" charset="0"/>
                                <a:ea typeface="Cambria Math" panose="02040503050406030204" pitchFamily="18" charset="0"/>
                              </a:rPr>
                            </m:ctrlPr>
                          </m:accPr>
                          <m:e>
                            <m:r>
                              <a:rPr lang="vi-VN" sz="2100" i="1">
                                <a:solidFill>
                                  <a:schemeClr val="tx1"/>
                                </a:solidFill>
                                <a:latin typeface="Cambria Math" panose="02040503050406030204" pitchFamily="18" charset="0"/>
                                <a:ea typeface="Cambria Math" panose="02040503050406030204" pitchFamily="18" charset="0"/>
                              </a:rPr>
                              <m:t>𝐵</m:t>
                            </m:r>
                          </m:e>
                        </m:acc>
                        <m:r>
                          <a:rPr lang="vi-VN" sz="2100" i="1">
                            <a:solidFill>
                              <a:schemeClr val="tx1"/>
                            </a:solidFill>
                            <a:latin typeface="Cambria Math" panose="02040503050406030204" pitchFamily="18" charset="0"/>
                            <a:ea typeface="Cambria Math" panose="02040503050406030204" pitchFamily="18" charset="0"/>
                          </a:rPr>
                          <m:t>𝑈</m:t>
                        </m:r>
                        <m:d>
                          <m:dPr>
                            <m:ctrlPr>
                              <a:rPr lang="vi-VN" sz="2100" i="1">
                                <a:solidFill>
                                  <a:schemeClr val="tx1"/>
                                </a:solidFill>
                                <a:latin typeface="Cambria Math" panose="02040503050406030204" pitchFamily="18" charset="0"/>
                                <a:ea typeface="Cambria Math" panose="02040503050406030204" pitchFamily="18" charset="0"/>
                              </a:rPr>
                            </m:ctrlPr>
                          </m:dPr>
                          <m:e>
                            <m:r>
                              <a:rPr lang="vi-VN" sz="2100" b="1" i="1">
                                <a:solidFill>
                                  <a:schemeClr val="tx1"/>
                                </a:solidFill>
                                <a:latin typeface="Cambria Math" panose="02040503050406030204" pitchFamily="18" charset="0"/>
                                <a:ea typeface="Cambria Math" panose="02040503050406030204" pitchFamily="18" charset="0"/>
                              </a:rPr>
                              <m:t>𝜽</m:t>
                            </m:r>
                          </m:e>
                        </m:d>
                      </m:e>
                    </m:d>
                    <m:r>
                      <a:rPr lang="vi-VN" sz="2100" b="1" i="1">
                        <a:solidFill>
                          <a:schemeClr val="tx1"/>
                        </a:solidFill>
                        <a:latin typeface="Cambria Math" panose="02040503050406030204" pitchFamily="18" charset="0"/>
                        <a:ea typeface="Cambria Math" panose="02040503050406030204" pitchFamily="18" charset="0"/>
                      </a:rPr>
                      <m:t>𝟎</m:t>
                    </m:r>
                    <m:r>
                      <a:rPr lang="vi-VN" sz="2100" i="1">
                        <a:solidFill>
                          <a:schemeClr val="tx1"/>
                        </a:solidFill>
                        <a:latin typeface="Cambria Math" panose="02040503050406030204" pitchFamily="18" charset="0"/>
                        <a:ea typeface="Cambria Math" panose="02040503050406030204" pitchFamily="18" charset="0"/>
                      </a:rPr>
                      <m:t>⟩</m:t>
                    </m:r>
                  </m:oMath>
                </a14:m>
                <a:endParaRPr lang="en-VN" sz="2100" b="1" i="1">
                  <a:solidFill>
                    <a:schemeClr val="tx1"/>
                  </a:solidFill>
                  <a:latin typeface="Calibri" panose="020F0502020204030204" pitchFamily="34" charset="0"/>
                  <a:cs typeface="Calibri" panose="020F0502020204030204" pitchFamily="34" charset="0"/>
                </a:endParaRPr>
              </a:p>
              <a:p>
                <a:r>
                  <a:rPr lang="en-VN" sz="2100">
                    <a:solidFill>
                      <a:schemeClr val="tx1"/>
                    </a:solidFill>
                    <a:latin typeface="Calibri" panose="020F0502020204030204" pitchFamily="34" charset="0"/>
                    <a:cs typeface="Calibri" panose="020F0502020204030204" pitchFamily="34" charset="0"/>
                  </a:rPr>
                  <a:t>We want to find:</a:t>
                </a:r>
              </a:p>
              <a:p>
                <a:pPr lvl="1"/>
                <a14:m>
                  <m:oMath xmlns:m="http://schemas.openxmlformats.org/officeDocument/2006/math">
                    <m:sSup>
                      <m:sSupPr>
                        <m:ctrlPr>
                          <a:rPr lang="vi-VN" sz="2100" b="1" i="1">
                            <a:solidFill>
                              <a:schemeClr val="tx1"/>
                            </a:solidFill>
                            <a:latin typeface="Cambria Math" panose="02040503050406030204" pitchFamily="18" charset="0"/>
                          </a:rPr>
                        </m:ctrlPr>
                      </m:sSupPr>
                      <m:e>
                        <m:r>
                          <a:rPr lang="vi-VN" sz="2100" b="1" i="1">
                            <a:solidFill>
                              <a:schemeClr val="tx1"/>
                            </a:solidFill>
                            <a:latin typeface="Cambria Math" panose="02040503050406030204" pitchFamily="18" charset="0"/>
                          </a:rPr>
                          <m:t>𝜽</m:t>
                        </m:r>
                      </m:e>
                      <m:sup>
                        <m:r>
                          <a:rPr lang="vi-VN" sz="2100" b="1" i="1">
                            <a:solidFill>
                              <a:schemeClr val="tx1"/>
                            </a:solidFill>
                            <a:latin typeface="Cambria Math" panose="02040503050406030204" pitchFamily="18" charset="0"/>
                          </a:rPr>
                          <m:t>∗</m:t>
                        </m:r>
                      </m:sup>
                    </m:sSup>
                    <m:r>
                      <a:rPr lang="vi-VN" sz="2100" b="1" i="1">
                        <a:solidFill>
                          <a:schemeClr val="tx1"/>
                        </a:solidFill>
                        <a:latin typeface="Cambria Math" panose="02040503050406030204" pitchFamily="18" charset="0"/>
                      </a:rPr>
                      <m:t>=</m:t>
                    </m:r>
                    <m:sSub>
                      <m:sSubPr>
                        <m:ctrlPr>
                          <a:rPr lang="vi-VN" sz="2100" i="1">
                            <a:solidFill>
                              <a:schemeClr val="tx1"/>
                            </a:solidFill>
                            <a:latin typeface="Cambria Math" panose="02040503050406030204" pitchFamily="18" charset="0"/>
                          </a:rPr>
                        </m:ctrlPr>
                      </m:sSubPr>
                      <m:e>
                        <m:r>
                          <m:rPr>
                            <m:sty m:val="p"/>
                          </m:rPr>
                          <a:rPr lang="vi-VN" sz="2100" b="0" i="0">
                            <a:solidFill>
                              <a:schemeClr val="tx1"/>
                            </a:solidFill>
                            <a:latin typeface="Cambria Math" panose="02040503050406030204" pitchFamily="18" charset="0"/>
                          </a:rPr>
                          <m:t>argmin</m:t>
                        </m:r>
                      </m:e>
                      <m:sub>
                        <m:r>
                          <a:rPr lang="vi-VN" sz="2100" b="1" i="1">
                            <a:solidFill>
                              <a:schemeClr val="tx1"/>
                            </a:solidFill>
                            <a:latin typeface="Cambria Math" panose="02040503050406030204" pitchFamily="18" charset="0"/>
                          </a:rPr>
                          <m:t>𝜽</m:t>
                        </m:r>
                      </m:sub>
                    </m:sSub>
                    <m:r>
                      <a:rPr lang="vi-VN" sz="2100" b="0" i="1">
                        <a:solidFill>
                          <a:schemeClr val="tx1"/>
                        </a:solidFill>
                        <a:latin typeface="Cambria Math" panose="02040503050406030204" pitchFamily="18" charset="0"/>
                      </a:rPr>
                      <m:t>𝐶</m:t>
                    </m:r>
                    <m:d>
                      <m:dPr>
                        <m:ctrlPr>
                          <a:rPr lang="vi-VN" sz="2100" b="1" i="1">
                            <a:solidFill>
                              <a:schemeClr val="tx1"/>
                            </a:solidFill>
                            <a:latin typeface="Cambria Math" panose="02040503050406030204" pitchFamily="18" charset="0"/>
                          </a:rPr>
                        </m:ctrlPr>
                      </m:dPr>
                      <m:e>
                        <m:r>
                          <a:rPr lang="vi-VN" sz="2100" b="1" i="1">
                            <a:solidFill>
                              <a:schemeClr val="tx1"/>
                            </a:solidFill>
                            <a:latin typeface="Cambria Math" panose="02040503050406030204" pitchFamily="18" charset="0"/>
                          </a:rPr>
                          <m:t>𝜽</m:t>
                        </m:r>
                      </m:e>
                    </m:d>
                  </m:oMath>
                </a14:m>
                <a:r>
                  <a:rPr lang="en-VN" sz="2100" b="1" i="1">
                    <a:solidFill>
                      <a:schemeClr val="tx1"/>
                    </a:solidFill>
                    <a:latin typeface="Calibri" panose="020F0502020204030204" pitchFamily="34" charset="0"/>
                    <a:cs typeface="Calibri" panose="020F0502020204030204" pitchFamily="34" charset="0"/>
                  </a:rPr>
                  <a:t> </a:t>
                </a:r>
              </a:p>
              <a:p>
                <a:r>
                  <a:rPr lang="en-VN" sz="2100" i="1">
                    <a:solidFill>
                      <a:schemeClr val="tx1"/>
                    </a:solidFill>
                    <a:latin typeface="Calibri" panose="020F0502020204030204" pitchFamily="34" charset="0"/>
                    <a:cs typeface="Calibri" panose="020F0502020204030204" pitchFamily="34" charset="0"/>
                  </a:rPr>
                  <a:t> </a:t>
                </a:r>
              </a:p>
            </p:txBody>
          </p:sp>
        </mc:Choice>
        <mc:Fallback xmlns="">
          <p:sp>
            <p:nvSpPr>
              <p:cNvPr id="50" name="Rectangle 49">
                <a:extLst>
                  <a:ext uri="{FF2B5EF4-FFF2-40B4-BE49-F238E27FC236}">
                    <a16:creationId xmlns:a16="http://schemas.microsoft.com/office/drawing/2014/main" id="{5D21E891-5D4C-C534-335C-0F82247E7E6C}"/>
                  </a:ext>
                </a:extLst>
              </p:cNvPr>
              <p:cNvSpPr>
                <a:spLocks noRot="1" noChangeAspect="1" noMove="1" noResize="1" noEditPoints="1" noAdjustHandles="1" noChangeArrowheads="1" noChangeShapeType="1" noTextEdit="1"/>
              </p:cNvSpPr>
              <p:nvPr/>
            </p:nvSpPr>
            <p:spPr>
              <a:xfrm>
                <a:off x="628650" y="1081216"/>
                <a:ext cx="6579458" cy="2455488"/>
              </a:xfrm>
              <a:prstGeom prst="rect">
                <a:avLst/>
              </a:prstGeom>
              <a:blipFill>
                <a:blip r:embed="rId2"/>
                <a:stretch>
                  <a:fillRect l="-963" t="-1026"/>
                </a:stretch>
              </a:blipFill>
              <a:ln>
                <a:noFill/>
              </a:ln>
            </p:spPr>
            <p:txBody>
              <a:bodyPr/>
              <a:lstStyle/>
              <a:p>
                <a:r>
                  <a:rPr lang="en-VN">
                    <a:noFill/>
                  </a:rPr>
                  <a:t> </a:t>
                </a:r>
              </a:p>
            </p:txBody>
          </p:sp>
        </mc:Fallback>
      </mc:AlternateContent>
      <p:sp>
        <p:nvSpPr>
          <p:cNvPr id="52" name="Slide Number Placeholder 51">
            <a:extLst>
              <a:ext uri="{FF2B5EF4-FFF2-40B4-BE49-F238E27FC236}">
                <a16:creationId xmlns:a16="http://schemas.microsoft.com/office/drawing/2014/main" id="{C82A7B59-BBF9-E075-9F5C-BC2E6CDB6379}"/>
              </a:ext>
            </a:extLst>
          </p:cNvPr>
          <p:cNvSpPr>
            <a:spLocks noGrp="1"/>
          </p:cNvSpPr>
          <p:nvPr>
            <p:ph type="sldNum" sz="quarter" idx="12"/>
          </p:nvPr>
        </p:nvSpPr>
        <p:spPr/>
        <p:txBody>
          <a:bodyPr/>
          <a:lstStyle/>
          <a:p>
            <a:fld id="{D98A4569-6716-F649-8F1C-6F4A1EFC2E5C}" type="slidenum">
              <a:t>7</a:t>
            </a:fld>
            <a:endParaRPr lang="en-VN"/>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8A39BA6-8714-E404-42DE-F41BAB3062DD}"/>
                  </a:ext>
                </a:extLst>
              </p:cNvPr>
              <p:cNvSpPr/>
              <p:nvPr/>
            </p:nvSpPr>
            <p:spPr>
              <a:xfrm>
                <a:off x="1084613" y="2630385"/>
                <a:ext cx="1268626"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i="1">
                          <a:solidFill>
                            <a:schemeClr val="tx1"/>
                          </a:solidFill>
                          <a:latin typeface="Cambria Math" panose="02040503050406030204" pitchFamily="18" charset="0"/>
                        </a:rPr>
                        <m:t>𝑈</m:t>
                      </m:r>
                      <m:r>
                        <a:rPr lang="en-VN" i="1">
                          <a:solidFill>
                            <a:schemeClr val="tx1"/>
                          </a:solidFill>
                          <a:latin typeface="Cambria Math" panose="02040503050406030204" pitchFamily="18" charset="0"/>
                        </a:rPr>
                        <m:t>(</m:t>
                      </m:r>
                      <m:r>
                        <a:rPr lang="en-VN" b="1" i="1">
                          <a:solidFill>
                            <a:schemeClr val="tx1"/>
                          </a:solidFill>
                          <a:latin typeface="Cambria Math" panose="02040503050406030204" pitchFamily="18" charset="0"/>
                        </a:rPr>
                        <m:t>𝜽</m:t>
                      </m:r>
                      <m:r>
                        <a:rPr lang="en-VN" i="1">
                          <a:solidFill>
                            <a:schemeClr val="tx1"/>
                          </a:solidFill>
                          <a:latin typeface="Cambria Math" panose="02040503050406030204" pitchFamily="18" charset="0"/>
                        </a:rPr>
                        <m:t>)</m:t>
                      </m:r>
                    </m:oMath>
                  </m:oMathPara>
                </a14:m>
                <a:endParaRPr/>
              </a:p>
            </p:txBody>
          </p:sp>
        </mc:Choice>
        <mc:Fallback xmlns="">
          <p:sp>
            <p:nvSpPr>
              <p:cNvPr id="46" name="Rectangle 45">
                <a:extLst>
                  <a:ext uri="{FF2B5EF4-FFF2-40B4-BE49-F238E27FC236}">
                    <a16:creationId xmlns:a16="http://schemas.microsoft.com/office/drawing/2014/main" id="{A8A39BA6-8714-E404-42DE-F41BAB3062DD}"/>
                  </a:ext>
                </a:extLst>
              </p:cNvPr>
              <p:cNvSpPr>
                <a:spLocks noRot="1" noChangeAspect="1" noMove="1" noResize="1" noEditPoints="1" noAdjustHandles="1" noChangeArrowheads="1" noChangeShapeType="1" noTextEdit="1"/>
              </p:cNvSpPr>
              <p:nvPr/>
            </p:nvSpPr>
            <p:spPr>
              <a:xfrm>
                <a:off x="1084613" y="2630385"/>
                <a:ext cx="1268626" cy="650789"/>
              </a:xfrm>
              <a:prstGeom prst="rect">
                <a:avLst/>
              </a:prstGeom>
              <a:blipFill>
                <a:blip r:embed="rId3"/>
                <a:stretch>
                  <a:fillRect/>
                </a:stretch>
              </a:blipFill>
              <a:ln>
                <a:solidFill>
                  <a:schemeClr val="tx1"/>
                </a:solidFill>
              </a:ln>
            </p:spPr>
            <p:txBody>
              <a:bodyPr/>
              <a:lstStyle/>
              <a:p>
                <a:r>
                  <a:rPr lang="en-VN">
                    <a:noFill/>
                  </a:rPr>
                  <a:t> </a:t>
                </a:r>
              </a:p>
            </p:txBody>
          </p:sp>
        </mc:Fallback>
      </mc:AlternateContent>
      <p:sp>
        <p:nvSpPr>
          <p:cNvPr id="57" name="Hình chữ nhật 93">
            <a:extLst>
              <a:ext uri="{FF2B5EF4-FFF2-40B4-BE49-F238E27FC236}">
                <a16:creationId xmlns:a16="http://schemas.microsoft.com/office/drawing/2014/main" id="{2A3779FB-3879-7CD9-2EE1-E1E2E279A9D6}"/>
              </a:ext>
            </a:extLst>
          </p:cNvPr>
          <p:cNvSpPr/>
          <p:nvPr/>
        </p:nvSpPr>
        <p:spPr>
          <a:xfrm>
            <a:off x="2880460" y="2795458"/>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58" name="Arc 57">
            <a:extLst>
              <a:ext uri="{FF2B5EF4-FFF2-40B4-BE49-F238E27FC236}">
                <a16:creationId xmlns:a16="http://schemas.microsoft.com/office/drawing/2014/main" id="{9F9FE0D3-5F91-F63F-2F6D-63D493FB67F6}"/>
              </a:ext>
            </a:extLst>
          </p:cNvPr>
          <p:cNvSpPr/>
          <p:nvPr/>
        </p:nvSpPr>
        <p:spPr>
          <a:xfrm>
            <a:off x="2936157" y="2940058"/>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59" name="Straight Arrow Connector 58">
            <a:extLst>
              <a:ext uri="{FF2B5EF4-FFF2-40B4-BE49-F238E27FC236}">
                <a16:creationId xmlns:a16="http://schemas.microsoft.com/office/drawing/2014/main" id="{39AF0994-ACA4-4DEF-5097-6E879D161E49}"/>
              </a:ext>
            </a:extLst>
          </p:cNvPr>
          <p:cNvCxnSpPr>
            <a:cxnSpLocks/>
          </p:cNvCxnSpPr>
          <p:nvPr/>
        </p:nvCxnSpPr>
        <p:spPr>
          <a:xfrm flipV="1">
            <a:off x="2990373" y="2862429"/>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D35146D7-1EB0-06B3-27DE-48561DB42421}"/>
              </a:ext>
            </a:extLst>
          </p:cNvPr>
          <p:cNvCxnSpPr>
            <a:cxnSpLocks/>
          </p:cNvCxnSpPr>
          <p:nvPr/>
        </p:nvCxnSpPr>
        <p:spPr>
          <a:xfrm flipV="1">
            <a:off x="833356" y="2854191"/>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986C42-0EFF-70AA-817C-3CBF7B091F7F}"/>
              </a:ext>
            </a:extLst>
          </p:cNvPr>
          <p:cNvCxnSpPr>
            <a:cxnSpLocks/>
          </p:cNvCxnSpPr>
          <p:nvPr/>
        </p:nvCxnSpPr>
        <p:spPr>
          <a:xfrm flipV="1">
            <a:off x="2572616" y="285018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7708B677-147A-6A63-0034-BADA4C3CE1A8}"/>
                  </a:ext>
                </a:extLst>
              </p:cNvPr>
              <p:cNvSpPr txBox="1"/>
              <p:nvPr/>
            </p:nvSpPr>
            <p:spPr>
              <a:xfrm>
                <a:off x="3588911" y="2771113"/>
                <a:ext cx="6837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1800" i="1">
                          <a:solidFill>
                            <a:schemeClr val="tx1"/>
                          </a:solidFill>
                          <a:latin typeface="Cambria Math" panose="02040503050406030204" pitchFamily="18" charset="0"/>
                          <a:ea typeface="Cambria Math" panose="02040503050406030204" pitchFamily="18" charset="0"/>
                        </a:rPr>
                        <m:t>𝐶</m:t>
                      </m:r>
                      <m:d>
                        <m:dPr>
                          <m:ctrlPr>
                            <a:rPr lang="vi-VN" sz="1800" i="1">
                              <a:solidFill>
                                <a:schemeClr val="tx1"/>
                              </a:solidFill>
                              <a:latin typeface="Cambria Math" panose="02040503050406030204" pitchFamily="18" charset="0"/>
                              <a:ea typeface="Cambria Math" panose="02040503050406030204" pitchFamily="18" charset="0"/>
                            </a:rPr>
                          </m:ctrlPr>
                        </m:dPr>
                        <m:e>
                          <m:r>
                            <a:rPr lang="vi-VN" sz="1800" b="1" i="1">
                              <a:solidFill>
                                <a:schemeClr val="tx1"/>
                              </a:solidFill>
                              <a:latin typeface="Cambria Math" panose="02040503050406030204" pitchFamily="18" charset="0"/>
                              <a:ea typeface="Cambria Math" panose="02040503050406030204" pitchFamily="18" charset="0"/>
                            </a:rPr>
                            <m:t>𝜽</m:t>
                          </m:r>
                        </m:e>
                      </m:d>
                    </m:oMath>
                  </m:oMathPara>
                </a14:m>
                <a:endParaRPr lang="en-VN"/>
              </a:p>
            </p:txBody>
          </p:sp>
        </mc:Choice>
        <mc:Fallback xmlns="">
          <p:sp>
            <p:nvSpPr>
              <p:cNvPr id="64" name="TextBox 63">
                <a:extLst>
                  <a:ext uri="{FF2B5EF4-FFF2-40B4-BE49-F238E27FC236}">
                    <a16:creationId xmlns:a16="http://schemas.microsoft.com/office/drawing/2014/main" id="{7708B677-147A-6A63-0034-BADA4C3CE1A8}"/>
                  </a:ext>
                </a:extLst>
              </p:cNvPr>
              <p:cNvSpPr txBox="1">
                <a:spLocks noRot="1" noChangeAspect="1" noMove="1" noResize="1" noEditPoints="1" noAdjustHandles="1" noChangeArrowheads="1" noChangeShapeType="1" noTextEdit="1"/>
              </p:cNvSpPr>
              <p:nvPr/>
            </p:nvSpPr>
            <p:spPr>
              <a:xfrm>
                <a:off x="3588911" y="2771113"/>
                <a:ext cx="683742" cy="369332"/>
              </a:xfrm>
              <a:prstGeom prst="rect">
                <a:avLst/>
              </a:prstGeom>
              <a:blipFill>
                <a:blip r:embed="rId4"/>
                <a:stretch>
                  <a:fillRect/>
                </a:stretch>
              </a:blipFill>
            </p:spPr>
            <p:txBody>
              <a:bodyPr/>
              <a:lstStyle/>
              <a:p>
                <a:r>
                  <a:rPr lang="en-VN">
                    <a:noFill/>
                  </a:rPr>
                  <a:t> </a:t>
                </a:r>
              </a:p>
            </p:txBody>
          </p:sp>
        </mc:Fallback>
      </mc:AlternateContent>
      <p:cxnSp>
        <p:nvCxnSpPr>
          <p:cNvPr id="66" name="Straight Arrow Connector 65">
            <a:extLst>
              <a:ext uri="{FF2B5EF4-FFF2-40B4-BE49-F238E27FC236}">
                <a16:creationId xmlns:a16="http://schemas.microsoft.com/office/drawing/2014/main" id="{595471C7-86EB-7471-4A9D-B32FE7AE12EF}"/>
              </a:ext>
            </a:extLst>
          </p:cNvPr>
          <p:cNvCxnSpPr>
            <a:stCxn id="57" idx="3"/>
            <a:endCxn id="64" idx="1"/>
          </p:cNvCxnSpPr>
          <p:nvPr/>
        </p:nvCxnSpPr>
        <p:spPr>
          <a:xfrm>
            <a:off x="3186779" y="2948925"/>
            <a:ext cx="402132" cy="6854"/>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780FC65-407E-2595-D7CC-35B757880195}"/>
                  </a:ext>
                </a:extLst>
              </p:cNvPr>
              <p:cNvSpPr txBox="1"/>
              <p:nvPr/>
            </p:nvSpPr>
            <p:spPr>
              <a:xfrm>
                <a:off x="4697529" y="2771226"/>
                <a:ext cx="7908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vi-VN" sz="1800" b="0" i="0">
                          <a:solidFill>
                            <a:srgbClr val="FF0000"/>
                          </a:solidFill>
                          <a:latin typeface="Cambria Math" panose="02040503050406030204" pitchFamily="18" charset="0"/>
                          <a:ea typeface="Cambria Math" panose="02040503050406030204" pitchFamily="18" charset="0"/>
                        </a:rPr>
                        <m:t>∇</m:t>
                      </m:r>
                      <m:r>
                        <a:rPr lang="vi-VN" sz="1800" i="1">
                          <a:solidFill>
                            <a:srgbClr val="FF0000"/>
                          </a:solidFill>
                          <a:latin typeface="Cambria Math" panose="02040503050406030204" pitchFamily="18" charset="0"/>
                          <a:ea typeface="Cambria Math" panose="02040503050406030204" pitchFamily="18" charset="0"/>
                        </a:rPr>
                        <m:t>𝐶</m:t>
                      </m:r>
                    </m:oMath>
                  </m:oMathPara>
                </a14:m>
                <a:endParaRPr lang="en-VN">
                  <a:solidFill>
                    <a:srgbClr val="FF0000"/>
                  </a:solidFill>
                </a:endParaRPr>
              </a:p>
            </p:txBody>
          </p:sp>
        </mc:Choice>
        <mc:Fallback xmlns="">
          <p:sp>
            <p:nvSpPr>
              <p:cNvPr id="67" name="TextBox 66">
                <a:extLst>
                  <a:ext uri="{FF2B5EF4-FFF2-40B4-BE49-F238E27FC236}">
                    <a16:creationId xmlns:a16="http://schemas.microsoft.com/office/drawing/2014/main" id="{B780FC65-407E-2595-D7CC-35B757880195}"/>
                  </a:ext>
                </a:extLst>
              </p:cNvPr>
              <p:cNvSpPr txBox="1">
                <a:spLocks noRot="1" noChangeAspect="1" noMove="1" noResize="1" noEditPoints="1" noAdjustHandles="1" noChangeArrowheads="1" noChangeShapeType="1" noTextEdit="1"/>
              </p:cNvSpPr>
              <p:nvPr/>
            </p:nvSpPr>
            <p:spPr>
              <a:xfrm>
                <a:off x="4697529" y="2771226"/>
                <a:ext cx="790835" cy="369332"/>
              </a:xfrm>
              <a:prstGeom prst="rect">
                <a:avLst/>
              </a:prstGeom>
              <a:blipFill>
                <a:blip r:embed="rId5"/>
                <a:stretch>
                  <a:fillRect/>
                </a:stretch>
              </a:blipFill>
            </p:spPr>
            <p:txBody>
              <a:bodyPr/>
              <a:lstStyle/>
              <a:p>
                <a:r>
                  <a:rPr lang="en-VN">
                    <a:noFill/>
                  </a:rPr>
                  <a:t> </a:t>
                </a:r>
              </a:p>
            </p:txBody>
          </p:sp>
        </mc:Fallback>
      </mc:AlternateContent>
      <p:cxnSp>
        <p:nvCxnSpPr>
          <p:cNvPr id="68" name="Straight Arrow Connector 67">
            <a:extLst>
              <a:ext uri="{FF2B5EF4-FFF2-40B4-BE49-F238E27FC236}">
                <a16:creationId xmlns:a16="http://schemas.microsoft.com/office/drawing/2014/main" id="{AD23F435-A588-E5AA-F720-DAADCAEE6234}"/>
              </a:ext>
            </a:extLst>
          </p:cNvPr>
          <p:cNvCxnSpPr>
            <a:cxnSpLocks/>
            <a:stCxn id="64" idx="3"/>
            <a:endCxn id="67" idx="1"/>
          </p:cNvCxnSpPr>
          <p:nvPr/>
        </p:nvCxnSpPr>
        <p:spPr>
          <a:xfrm>
            <a:off x="4272653" y="2955779"/>
            <a:ext cx="424876" cy="11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1143910-BC54-FA73-56ED-84D98CB4DBBD}"/>
                  </a:ext>
                </a:extLst>
              </p:cNvPr>
              <p:cNvSpPr txBox="1"/>
              <p:nvPr/>
            </p:nvSpPr>
            <p:spPr>
              <a:xfrm>
                <a:off x="5887270" y="2776729"/>
                <a:ext cx="2628080" cy="369332"/>
              </a:xfrm>
              <a:prstGeom prst="rect">
                <a:avLst/>
              </a:prstGeom>
              <a:noFill/>
              <a:ln>
                <a:solidFill>
                  <a:schemeClr val="tx1"/>
                </a:solidFill>
                <a:prstDash val="dash"/>
              </a:ln>
            </p:spPr>
            <p:txBody>
              <a:bodyPr wrap="square">
                <a:spAutoFit/>
              </a:bodyPr>
              <a:lstStyle/>
              <a:p>
                <a14:m>
                  <m:oMath xmlns:m="http://schemas.openxmlformats.org/officeDocument/2006/math">
                    <m:sSup>
                      <m:sSupPr>
                        <m:ctrlPr>
                          <a:rPr lang="vi-VN" b="0" i="1">
                            <a:latin typeface="Cambria Math" panose="02040503050406030204" pitchFamily="18" charset="0"/>
                          </a:rPr>
                        </m:ctrlPr>
                      </m:sSupPr>
                      <m:e>
                        <m:r>
                          <a:rPr lang="vi-VN" b="1" i="1">
                            <a:latin typeface="Cambria Math" panose="02040503050406030204" pitchFamily="18" charset="0"/>
                          </a:rPr>
                          <m:t>𝜽</m:t>
                        </m:r>
                      </m:e>
                      <m:sup>
                        <m:r>
                          <m:rPr>
                            <m:sty m:val="p"/>
                          </m:rPr>
                          <a:rPr lang="vi-VN" i="1">
                            <a:latin typeface="Cambria Math" panose="02040503050406030204" pitchFamily="18" charset="0"/>
                          </a:rPr>
                          <m:t>t</m:t>
                        </m:r>
                        <m:r>
                          <a:rPr lang="vi-VN" b="0" i="1">
                            <a:latin typeface="Cambria Math" panose="02040503050406030204" pitchFamily="18" charset="0"/>
                          </a:rPr>
                          <m:t>+1</m:t>
                        </m:r>
                      </m:sup>
                    </m:sSup>
                    <m:r>
                      <a:rPr lang="vi-VN" b="0" i="1">
                        <a:latin typeface="Cambria Math" panose="02040503050406030204" pitchFamily="18" charset="0"/>
                      </a:rPr>
                      <m:t>←</m:t>
                    </m:r>
                  </m:oMath>
                </a14:m>
                <a:r>
                  <a:rPr lang="en-VN"/>
                  <a:t> Optimizer</a:t>
                </a:r>
                <a14:m>
                  <m:oMath xmlns:m="http://schemas.openxmlformats.org/officeDocument/2006/math">
                    <m:r>
                      <a:rPr lang="en-VN" i="1">
                        <a:latin typeface="Cambria Math" panose="02040503050406030204" pitchFamily="18" charset="0"/>
                      </a:rPr>
                      <m:t>(</m:t>
                    </m:r>
                    <m:r>
                      <a:rPr lang="vi-VN" b="1" i="1">
                        <a:latin typeface="Cambria Math" panose="02040503050406030204" pitchFamily="18" charset="0"/>
                      </a:rPr>
                      <m:t>𝜽</m:t>
                    </m:r>
                    <m:r>
                      <a:rPr lang="vi-VN" b="0" i="1">
                        <a:latin typeface="Cambria Math" panose="02040503050406030204" pitchFamily="18" charset="0"/>
                      </a:rPr>
                      <m:t>,</m:t>
                    </m:r>
                    <m:r>
                      <m:rPr>
                        <m:sty m:val="p"/>
                      </m:rPr>
                      <a:rPr lang="vi-VN" b="0" i="0">
                        <a:latin typeface="Cambria Math" panose="02040503050406030204" pitchFamily="18" charset="0"/>
                      </a:rPr>
                      <m:t>∇</m:t>
                    </m:r>
                    <m:r>
                      <a:rPr lang="vi-VN" i="1">
                        <a:latin typeface="Cambria Math" panose="02040503050406030204" pitchFamily="18" charset="0"/>
                      </a:rPr>
                      <m:t>𝐶</m:t>
                    </m:r>
                    <m:r>
                      <a:rPr lang="en-VN" i="1">
                        <a:latin typeface="Cambria Math" panose="02040503050406030204" pitchFamily="18" charset="0"/>
                      </a:rPr>
                      <m:t>)</m:t>
                    </m:r>
                  </m:oMath>
                </a14:m>
                <a:endParaRPr lang="en-VN"/>
              </a:p>
            </p:txBody>
          </p:sp>
        </mc:Choice>
        <mc:Fallback xmlns="">
          <p:sp>
            <p:nvSpPr>
              <p:cNvPr id="72" name="TextBox 71">
                <a:extLst>
                  <a:ext uri="{FF2B5EF4-FFF2-40B4-BE49-F238E27FC236}">
                    <a16:creationId xmlns:a16="http://schemas.microsoft.com/office/drawing/2014/main" id="{01143910-BC54-FA73-56ED-84D98CB4DBBD}"/>
                  </a:ext>
                </a:extLst>
              </p:cNvPr>
              <p:cNvSpPr txBox="1">
                <a:spLocks noRot="1" noChangeAspect="1" noMove="1" noResize="1" noEditPoints="1" noAdjustHandles="1" noChangeArrowheads="1" noChangeShapeType="1" noTextEdit="1"/>
              </p:cNvSpPr>
              <p:nvPr/>
            </p:nvSpPr>
            <p:spPr>
              <a:xfrm>
                <a:off x="5887270" y="2776729"/>
                <a:ext cx="2628080" cy="369332"/>
              </a:xfrm>
              <a:prstGeom prst="rect">
                <a:avLst/>
              </a:prstGeom>
              <a:blipFill>
                <a:blip r:embed="rId6"/>
                <a:stretch>
                  <a:fillRect t="-6452" b="-22581"/>
                </a:stretch>
              </a:blipFill>
              <a:ln>
                <a:solidFill>
                  <a:schemeClr val="tx1"/>
                </a:solidFill>
                <a:prstDash val="dash"/>
              </a:ln>
            </p:spPr>
            <p:txBody>
              <a:bodyPr/>
              <a:lstStyle/>
              <a:p>
                <a:r>
                  <a:rPr lang="en-VN">
                    <a:noFill/>
                  </a:rPr>
                  <a:t> </a:t>
                </a:r>
              </a:p>
            </p:txBody>
          </p:sp>
        </mc:Fallback>
      </mc:AlternateContent>
      <p:cxnSp>
        <p:nvCxnSpPr>
          <p:cNvPr id="73" name="Straight Arrow Connector 72">
            <a:extLst>
              <a:ext uri="{FF2B5EF4-FFF2-40B4-BE49-F238E27FC236}">
                <a16:creationId xmlns:a16="http://schemas.microsoft.com/office/drawing/2014/main" id="{50E22070-189C-4084-0DA3-9D4910284806}"/>
              </a:ext>
            </a:extLst>
          </p:cNvPr>
          <p:cNvCxnSpPr>
            <a:cxnSpLocks/>
            <a:stCxn id="67" idx="3"/>
            <a:endCxn id="72" idx="1"/>
          </p:cNvCxnSpPr>
          <p:nvPr/>
        </p:nvCxnSpPr>
        <p:spPr>
          <a:xfrm>
            <a:off x="5488364" y="2955892"/>
            <a:ext cx="398906" cy="550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DB988B16-DAAE-E8B2-143C-A8F15EC09A5C}"/>
              </a:ext>
            </a:extLst>
          </p:cNvPr>
          <p:cNvCxnSpPr>
            <a:cxnSpLocks/>
            <a:stCxn id="72" idx="2"/>
            <a:endCxn id="46" idx="2"/>
          </p:cNvCxnSpPr>
          <p:nvPr/>
        </p:nvCxnSpPr>
        <p:spPr>
          <a:xfrm rot="5400000">
            <a:off x="4392562" y="472425"/>
            <a:ext cx="135113" cy="5482384"/>
          </a:xfrm>
          <a:prstGeom prst="bentConnector3">
            <a:avLst>
              <a:gd name="adj1" fmla="val 269192"/>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50D1D80-D9B7-5ED7-3B35-6399690675AF}"/>
                  </a:ext>
                </a:extLst>
              </p:cNvPr>
              <p:cNvSpPr txBox="1"/>
              <p:nvPr/>
            </p:nvSpPr>
            <p:spPr>
              <a:xfrm>
                <a:off x="3292353" y="3167372"/>
                <a:ext cx="3459892" cy="369332"/>
              </a:xfrm>
              <a:prstGeom prst="rect">
                <a:avLst/>
              </a:prstGeom>
              <a:noFill/>
            </p:spPr>
            <p:txBody>
              <a:bodyPr wrap="square" rtlCol="0">
                <a:spAutoFit/>
              </a:bodyPr>
              <a:lstStyle/>
              <a:p>
                <a:r>
                  <a:rPr lang="en-VN"/>
                  <a:t>Update </a:t>
                </a:r>
                <a14:m>
                  <m:oMath xmlns:m="http://schemas.openxmlformats.org/officeDocument/2006/math">
                    <m:r>
                      <a:rPr lang="en-VN" b="1" i="1">
                        <a:latin typeface="Cambria Math" panose="02040503050406030204" pitchFamily="18" charset="0"/>
                      </a:rPr>
                      <m:t>𝜽</m:t>
                    </m:r>
                  </m:oMath>
                </a14:m>
                <a:r>
                  <a:rPr lang="en-VN" b="1"/>
                  <a:t> </a:t>
                </a:r>
                <a:r>
                  <a:rPr lang="en-VN"/>
                  <a:t>until </a:t>
                </a:r>
                <a14:m>
                  <m:oMath xmlns:m="http://schemas.openxmlformats.org/officeDocument/2006/math">
                    <m:r>
                      <a:rPr lang="vi-VN" i="1">
                        <a:latin typeface="Cambria Math" panose="02040503050406030204" pitchFamily="18" charset="0"/>
                        <a:ea typeface="Cambria Math" panose="02040503050406030204" pitchFamily="18" charset="0"/>
                      </a:rPr>
                      <m:t>𝐶</m:t>
                    </m:r>
                    <m:d>
                      <m:dPr>
                        <m:ctrlPr>
                          <a:rPr lang="vi-VN" i="1">
                            <a:latin typeface="Cambria Math" panose="02040503050406030204" pitchFamily="18" charset="0"/>
                            <a:ea typeface="Cambria Math" panose="02040503050406030204" pitchFamily="18" charset="0"/>
                          </a:rPr>
                        </m:ctrlPr>
                      </m:dPr>
                      <m:e>
                        <m:r>
                          <a:rPr lang="vi-VN" b="1" i="1">
                            <a:latin typeface="Cambria Math" panose="02040503050406030204" pitchFamily="18" charset="0"/>
                            <a:ea typeface="Cambria Math" panose="02040503050406030204" pitchFamily="18" charset="0"/>
                          </a:rPr>
                          <m:t>𝜽</m:t>
                        </m:r>
                      </m:e>
                    </m:d>
                    <m:r>
                      <a:rPr lang="vi-VN" b="1" i="1">
                        <a:latin typeface="Cambria Math" panose="02040503050406030204" pitchFamily="18" charset="0"/>
                        <a:ea typeface="Cambria Math" panose="02040503050406030204" pitchFamily="18" charset="0"/>
                      </a:rPr>
                      <m:t>&lt;</m:t>
                    </m:r>
                    <m:r>
                      <a:rPr lang="vi-VN" b="0" i="1">
                        <a:latin typeface="Cambria Math" panose="02040503050406030204" pitchFamily="18" charset="0"/>
                        <a:ea typeface="Cambria Math" panose="02040503050406030204" pitchFamily="18" charset="0"/>
                      </a:rPr>
                      <m:t>𝜏</m:t>
                    </m:r>
                  </m:oMath>
                </a14:m>
                <a:endParaRPr lang="en-VN"/>
              </a:p>
            </p:txBody>
          </p:sp>
        </mc:Choice>
        <mc:Fallback xmlns="">
          <p:sp>
            <p:nvSpPr>
              <p:cNvPr id="79" name="TextBox 78">
                <a:extLst>
                  <a:ext uri="{FF2B5EF4-FFF2-40B4-BE49-F238E27FC236}">
                    <a16:creationId xmlns:a16="http://schemas.microsoft.com/office/drawing/2014/main" id="{A50D1D80-D9B7-5ED7-3B35-6399690675AF}"/>
                  </a:ext>
                </a:extLst>
              </p:cNvPr>
              <p:cNvSpPr txBox="1">
                <a:spLocks noRot="1" noChangeAspect="1" noMove="1" noResize="1" noEditPoints="1" noAdjustHandles="1" noChangeArrowheads="1" noChangeShapeType="1" noTextEdit="1"/>
              </p:cNvSpPr>
              <p:nvPr/>
            </p:nvSpPr>
            <p:spPr>
              <a:xfrm>
                <a:off x="3292353" y="3167372"/>
                <a:ext cx="3459892" cy="369332"/>
              </a:xfrm>
              <a:prstGeom prst="rect">
                <a:avLst/>
              </a:prstGeom>
              <a:blipFill>
                <a:blip r:embed="rId7"/>
                <a:stretch>
                  <a:fillRect l="-1465" t="-6667" b="-26667"/>
                </a:stretch>
              </a:blipFill>
            </p:spPr>
            <p:txBody>
              <a:bodyPr/>
              <a:lstStyle/>
              <a:p>
                <a:r>
                  <a:rPr lang="en-VN">
                    <a:noFill/>
                  </a:rPr>
                  <a:t> </a:t>
                </a:r>
              </a:p>
            </p:txBody>
          </p:sp>
        </mc:Fallback>
      </mc:AlternateContent>
      <p:sp>
        <p:nvSpPr>
          <p:cNvPr id="80" name="TextBox 79">
            <a:extLst>
              <a:ext uri="{FF2B5EF4-FFF2-40B4-BE49-F238E27FC236}">
                <a16:creationId xmlns:a16="http://schemas.microsoft.com/office/drawing/2014/main" id="{7C84B3EA-56D1-AEB4-2040-3AB4D9C32451}"/>
              </a:ext>
            </a:extLst>
          </p:cNvPr>
          <p:cNvSpPr txBox="1"/>
          <p:nvPr/>
        </p:nvSpPr>
        <p:spPr>
          <a:xfrm>
            <a:off x="4558920" y="2118661"/>
            <a:ext cx="1048264" cy="369332"/>
          </a:xfrm>
          <a:prstGeom prst="rect">
            <a:avLst/>
          </a:prstGeom>
          <a:noFill/>
        </p:spPr>
        <p:txBody>
          <a:bodyPr wrap="square" rtlCol="0">
            <a:spAutoFit/>
          </a:bodyPr>
          <a:lstStyle/>
          <a:p>
            <a:r>
              <a:rPr lang="en-VN">
                <a:solidFill>
                  <a:srgbClr val="FF0000"/>
                </a:solidFill>
              </a:rPr>
              <a:t>Gradient</a:t>
            </a:r>
          </a:p>
        </p:txBody>
      </p:sp>
      <p:cxnSp>
        <p:nvCxnSpPr>
          <p:cNvPr id="81" name="Straight Arrow Connector 80">
            <a:extLst>
              <a:ext uri="{FF2B5EF4-FFF2-40B4-BE49-F238E27FC236}">
                <a16:creationId xmlns:a16="http://schemas.microsoft.com/office/drawing/2014/main" id="{91851B99-096F-9AE9-3916-FC38B8A1A642}"/>
              </a:ext>
            </a:extLst>
          </p:cNvPr>
          <p:cNvCxnSpPr>
            <a:cxnSpLocks/>
            <a:stCxn id="80" idx="2"/>
            <a:endCxn id="67" idx="0"/>
          </p:cNvCxnSpPr>
          <p:nvPr/>
        </p:nvCxnSpPr>
        <p:spPr>
          <a:xfrm>
            <a:off x="5083052" y="2487993"/>
            <a:ext cx="9895" cy="283233"/>
          </a:xfrm>
          <a:prstGeom prst="straightConnector1">
            <a:avLst/>
          </a:prstGeom>
          <a:ln>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1753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921D-108F-FF86-3522-399BA6BB5155}"/>
              </a:ext>
            </a:extLst>
          </p:cNvPr>
          <p:cNvSpPr>
            <a:spLocks noGrp="1"/>
          </p:cNvSpPr>
          <p:nvPr>
            <p:ph type="title"/>
          </p:nvPr>
        </p:nvSpPr>
        <p:spPr/>
        <p:txBody>
          <a:bodyPr/>
          <a:lstStyle/>
          <a:p>
            <a:r>
              <a:rPr lang="en-US"/>
              <a:t>1.2.1. </a:t>
            </a:r>
            <a:r>
              <a:rPr lang="en-VN"/>
              <a:t>Gradient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156DC11-7823-551F-9FDB-8AB8DA234703}"/>
                  </a:ext>
                </a:extLst>
              </p:cNvPr>
              <p:cNvSpPr>
                <a:spLocks noGrp="1"/>
              </p:cNvSpPr>
              <p:nvPr>
                <p:ph idx="1"/>
              </p:nvPr>
            </p:nvSpPr>
            <p:spPr>
              <a:xfrm>
                <a:off x="1236518" y="1683513"/>
                <a:ext cx="4768866" cy="7155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indent="0">
                  <a:buNone/>
                </a:pPr>
                <a14:m>
                  <m:oMath xmlns:m="http://schemas.openxmlformats.org/officeDocument/2006/math">
                    <m:r>
                      <m:rPr>
                        <m:sty m:val="p"/>
                      </m:rPr>
                      <a:rPr lang="vi-VN" b="0" i="0">
                        <a:solidFill>
                          <a:schemeClr val="tx1"/>
                        </a:solidFill>
                        <a:latin typeface="Cambria Math" panose="02040503050406030204" pitchFamily="18" charset="0"/>
                        <a:ea typeface="Cambria Math" panose="02040503050406030204" pitchFamily="18" charset="0"/>
                      </a:rPr>
                      <m:t>∇</m:t>
                    </m:r>
                    <m:r>
                      <a:rPr lang="vi-VN" i="1">
                        <a:solidFill>
                          <a:schemeClr val="tx1"/>
                        </a:solidFill>
                        <a:latin typeface="Cambria Math" panose="02040503050406030204" pitchFamily="18" charset="0"/>
                        <a:ea typeface="Cambria Math" panose="02040503050406030204" pitchFamily="18" charset="0"/>
                      </a:rPr>
                      <m:t>𝐶</m:t>
                    </m:r>
                    <m:r>
                      <a:rPr lang="vi-VN" b="0" i="1">
                        <a:solidFill>
                          <a:schemeClr val="tx1"/>
                        </a:solidFill>
                        <a:latin typeface="Cambria Math" panose="02040503050406030204" pitchFamily="18" charset="0"/>
                        <a:ea typeface="Cambria Math" panose="02040503050406030204" pitchFamily="18" charset="0"/>
                      </a:rPr>
                      <m:t>=</m:t>
                    </m:r>
                    <m:sSup>
                      <m:sSupPr>
                        <m:ctrlPr>
                          <a:rPr lang="vi-VN" b="0" i="1">
                            <a:solidFill>
                              <a:schemeClr val="tx1"/>
                            </a:solidFill>
                            <a:latin typeface="Cambria Math" panose="02040503050406030204" pitchFamily="18" charset="0"/>
                            <a:ea typeface="Cambria Math" panose="02040503050406030204" pitchFamily="18" charset="0"/>
                          </a:rPr>
                        </m:ctrlPr>
                      </m:sSupPr>
                      <m:e>
                        <m:d>
                          <m:dPr>
                            <m:begChr m:val="["/>
                            <m:endChr m:val="]"/>
                            <m:ctrlPr>
                              <a:rPr lang="vi-VN" b="0" i="1">
                                <a:solidFill>
                                  <a:schemeClr val="tx1"/>
                                </a:solidFill>
                                <a:latin typeface="Cambria Math" panose="02040503050406030204" pitchFamily="18" charset="0"/>
                                <a:ea typeface="Cambria Math" panose="02040503050406030204" pitchFamily="18" charset="0"/>
                              </a:rPr>
                            </m:ctrlPr>
                          </m:dPr>
                          <m:e>
                            <m:m>
                              <m:mPr>
                                <m:mcs>
                                  <m:mc>
                                    <m:mcPr>
                                      <m:count m:val="3"/>
                                      <m:mcJc m:val="center"/>
                                    </m:mcPr>
                                  </m:mc>
                                </m:mcs>
                                <m:ctrlPr>
                                  <a:rPr lang="vi-VN" b="0" i="1">
                                    <a:solidFill>
                                      <a:schemeClr val="tx1"/>
                                    </a:solidFill>
                                    <a:latin typeface="Cambria Math" panose="02040503050406030204" pitchFamily="18" charset="0"/>
                                    <a:ea typeface="Cambria Math" panose="02040503050406030204" pitchFamily="18" charset="0"/>
                                  </a:rPr>
                                </m:ctrlPr>
                              </m:mPr>
                              <m:mr>
                                <m:e>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m:t>
                                      </m:r>
                                    </m:e>
                                    <m:sub>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𝜃</m:t>
                                          </m:r>
                                        </m:e>
                                        <m:sub>
                                          <m:r>
                                            <a:rPr lang="vi-VN" i="1">
                                              <a:solidFill>
                                                <a:schemeClr val="tx1"/>
                                              </a:solidFill>
                                              <a:latin typeface="Cambria Math" panose="02040503050406030204" pitchFamily="18" charset="0"/>
                                              <a:ea typeface="Cambria Math" panose="02040503050406030204" pitchFamily="18" charset="0"/>
                                            </a:rPr>
                                            <m:t>0</m:t>
                                          </m:r>
                                        </m:sub>
                                      </m:sSub>
                                    </m:sub>
                                  </m:sSub>
                                  <m:r>
                                    <a:rPr lang="vi-VN" i="1">
                                      <a:solidFill>
                                        <a:schemeClr val="tx1"/>
                                      </a:solidFill>
                                      <a:latin typeface="Cambria Math" panose="02040503050406030204" pitchFamily="18" charset="0"/>
                                      <a:ea typeface="Cambria Math" panose="02040503050406030204" pitchFamily="18" charset="0"/>
                                    </a:rPr>
                                    <m:t>𝐶</m:t>
                                  </m:r>
                                </m:e>
                                <m:e>
                                  <m:r>
                                    <a:rPr lang="vi-VN" b="0" i="1">
                                      <a:solidFill>
                                        <a:schemeClr val="tx1"/>
                                      </a:solidFill>
                                      <a:latin typeface="Cambria Math" panose="02040503050406030204" pitchFamily="18" charset="0"/>
                                      <a:ea typeface="Cambria Math" panose="02040503050406030204" pitchFamily="18" charset="0"/>
                                    </a:rPr>
                                    <m:t>…</m:t>
                                  </m:r>
                                </m:e>
                                <m:e>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m:t>
                                      </m:r>
                                    </m:e>
                                    <m:sub>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𝜃</m:t>
                                          </m:r>
                                        </m:e>
                                        <m:sub>
                                          <m:r>
                                            <a:rPr lang="vi-VN" i="1">
                                              <a:solidFill>
                                                <a:schemeClr val="tx1"/>
                                              </a:solidFill>
                                              <a:latin typeface="Cambria Math" panose="02040503050406030204" pitchFamily="18" charset="0"/>
                                              <a:ea typeface="Cambria Math" panose="02040503050406030204" pitchFamily="18" charset="0"/>
                                            </a:rPr>
                                            <m:t>𝑚</m:t>
                                          </m:r>
                                          <m:r>
                                            <a:rPr lang="vi-VN" b="0" i="1">
                                              <a:solidFill>
                                                <a:schemeClr val="tx1"/>
                                              </a:solidFill>
                                              <a:latin typeface="Cambria Math" panose="02040503050406030204" pitchFamily="18" charset="0"/>
                                              <a:ea typeface="Cambria Math" panose="02040503050406030204" pitchFamily="18" charset="0"/>
                                            </a:rPr>
                                            <m:t>−1</m:t>
                                          </m:r>
                                        </m:sub>
                                      </m:sSub>
                                    </m:sub>
                                  </m:sSub>
                                  <m:r>
                                    <a:rPr lang="vi-VN" i="1">
                                      <a:solidFill>
                                        <a:schemeClr val="tx1"/>
                                      </a:solidFill>
                                      <a:latin typeface="Cambria Math" panose="02040503050406030204" pitchFamily="18" charset="0"/>
                                      <a:ea typeface="Cambria Math" panose="02040503050406030204" pitchFamily="18" charset="0"/>
                                    </a:rPr>
                                    <m:t>𝐶</m:t>
                                  </m:r>
                                </m:e>
                              </m:mr>
                            </m:m>
                          </m:e>
                        </m:d>
                      </m:e>
                      <m:sup>
                        <m:r>
                          <a:rPr lang="vi-VN" b="0" i="1">
                            <a:solidFill>
                              <a:schemeClr val="tx1"/>
                            </a:solidFill>
                            <a:latin typeface="Cambria Math" panose="02040503050406030204" pitchFamily="18" charset="0"/>
                            <a:ea typeface="Cambria Math" panose="02040503050406030204" pitchFamily="18" charset="0"/>
                          </a:rPr>
                          <m:t>⊺</m:t>
                        </m:r>
                      </m:sup>
                    </m:sSup>
                  </m:oMath>
                </a14:m>
                <a:r>
                  <a:rPr lang="en-VN" b="1" i="1">
                    <a:solidFill>
                      <a:schemeClr val="tx1"/>
                    </a:solidFill>
                  </a:rPr>
                  <a:t> </a:t>
                </a:r>
              </a:p>
            </p:txBody>
          </p:sp>
        </mc:Choice>
        <mc:Fallback xmlns="">
          <p:sp>
            <p:nvSpPr>
              <p:cNvPr id="4" name="Content Placeholder 3">
                <a:extLst>
                  <a:ext uri="{FF2B5EF4-FFF2-40B4-BE49-F238E27FC236}">
                    <a16:creationId xmlns:a16="http://schemas.microsoft.com/office/drawing/2014/main" id="{F156DC11-7823-551F-9FDB-8AB8DA234703}"/>
                  </a:ext>
                </a:extLst>
              </p:cNvPr>
              <p:cNvSpPr>
                <a:spLocks noGrp="1" noRot="1" noChangeAspect="1" noMove="1" noResize="1" noEditPoints="1" noAdjustHandles="1" noChangeArrowheads="1" noChangeShapeType="1" noTextEdit="1"/>
              </p:cNvSpPr>
              <p:nvPr>
                <p:ph idx="1"/>
              </p:nvPr>
            </p:nvSpPr>
            <p:spPr>
              <a:xfrm>
                <a:off x="1236518" y="1683513"/>
                <a:ext cx="4768866" cy="715580"/>
              </a:xfrm>
              <a:prstGeom prst="rect">
                <a:avLst/>
              </a:prstGeom>
              <a:blipFill>
                <a:blip r:embed="rId2"/>
                <a:stretch>
                  <a:fillRect l="-128"/>
                </a:stretch>
              </a:blipFill>
              <a:ln>
                <a:noFill/>
              </a:ln>
            </p:spPr>
            <p:txBody>
              <a:bodyPr/>
              <a:lstStyle/>
              <a:p>
                <a:r>
                  <a:rPr lang="vi-VN">
                    <a:noFill/>
                  </a:rPr>
                  <a:t> </a:t>
                </a:r>
              </a:p>
            </p:txBody>
          </p:sp>
        </mc:Fallback>
      </mc:AlternateContent>
      <p:sp>
        <p:nvSpPr>
          <p:cNvPr id="5" name="TextBox 4">
            <a:extLst>
              <a:ext uri="{FF2B5EF4-FFF2-40B4-BE49-F238E27FC236}">
                <a16:creationId xmlns:a16="http://schemas.microsoft.com/office/drawing/2014/main" id="{8A37164C-7F40-2C49-B88B-7F4A329943D4}"/>
              </a:ext>
            </a:extLst>
          </p:cNvPr>
          <p:cNvSpPr txBox="1"/>
          <p:nvPr/>
        </p:nvSpPr>
        <p:spPr>
          <a:xfrm>
            <a:off x="628650" y="1268015"/>
            <a:ext cx="7675091" cy="415498"/>
          </a:xfrm>
          <a:prstGeom prst="rect">
            <a:avLst/>
          </a:prstGeom>
          <a:noFill/>
        </p:spPr>
        <p:txBody>
          <a:bodyPr wrap="square" rtlCol="0">
            <a:spAutoFit/>
          </a:bodyPr>
          <a:lstStyle/>
          <a:p>
            <a:r>
              <a:rPr lang="en-VN" sz="2100"/>
              <a:t>Computing </a:t>
            </a:r>
            <a:r>
              <a:rPr lang="en-US" sz="2100"/>
              <a:t>PQC’s</a:t>
            </a:r>
            <a:r>
              <a:rPr lang="en-VN" sz="2100"/>
              <a:t> gradient is the key in </a:t>
            </a:r>
            <a:r>
              <a:rPr lang="en-US" sz="2100"/>
              <a:t>quantum </a:t>
            </a:r>
            <a:r>
              <a:rPr lang="en-VN" sz="2100"/>
              <a:t>optimization</a:t>
            </a:r>
            <a:r>
              <a:rPr lang="en-US" sz="2100"/>
              <a:t>:</a:t>
            </a:r>
            <a:endParaRPr lang="en-VN" sz="2100"/>
          </a:p>
        </p:txBody>
      </p:sp>
      <p:sp>
        <p:nvSpPr>
          <p:cNvPr id="6" name="TextBox 5">
            <a:extLst>
              <a:ext uri="{FF2B5EF4-FFF2-40B4-BE49-F238E27FC236}">
                <a16:creationId xmlns:a16="http://schemas.microsoft.com/office/drawing/2014/main" id="{5EB8BDE1-E923-084F-F9AD-EB9E3BABDDB0}"/>
              </a:ext>
            </a:extLst>
          </p:cNvPr>
          <p:cNvSpPr txBox="1"/>
          <p:nvPr/>
        </p:nvSpPr>
        <p:spPr>
          <a:xfrm>
            <a:off x="628650" y="2241152"/>
            <a:ext cx="8460317" cy="738664"/>
          </a:xfrm>
          <a:prstGeom prst="rect">
            <a:avLst/>
          </a:prstGeom>
          <a:noFill/>
        </p:spPr>
        <p:txBody>
          <a:bodyPr wrap="square" rtlCol="0">
            <a:spAutoFit/>
          </a:bodyPr>
          <a:lstStyle/>
          <a:p>
            <a:r>
              <a:rPr lang="en-US" sz="2100"/>
              <a:t>The partial derivative can be computed through </a:t>
            </a:r>
            <a:r>
              <a:rPr lang="en-VN" sz="2100"/>
              <a:t>parameter-shift rule </a:t>
            </a:r>
            <a:r>
              <a:rPr lang="en-VN" sz="2100" b="1"/>
              <a:t>[</a:t>
            </a:r>
            <a:r>
              <a:rPr lang="en-US" sz="2100" b="1"/>
              <a:t>1.17</a:t>
            </a:r>
            <a:r>
              <a:rPr lang="en-VN" sz="2100" b="1"/>
              <a:t>]</a:t>
            </a:r>
            <a:r>
              <a:rPr lang="en-VN" sz="2100"/>
              <a:t>:</a:t>
            </a:r>
          </a:p>
          <a:p>
            <a:endParaRPr lang="en-VN" sz="2100" i="1"/>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119155-0CC6-FF6C-3B08-CF75C9C1790D}"/>
                  </a:ext>
                </a:extLst>
              </p:cNvPr>
              <p:cNvSpPr txBox="1"/>
              <p:nvPr/>
            </p:nvSpPr>
            <p:spPr>
              <a:xfrm>
                <a:off x="575732" y="3668168"/>
                <a:ext cx="8798927" cy="575992"/>
              </a:xfrm>
              <a:prstGeom prst="rect">
                <a:avLst/>
              </a:prstGeom>
              <a:noFill/>
            </p:spPr>
            <p:txBody>
              <a:bodyPr wrap="square" rtlCol="0">
                <a:spAutoFit/>
              </a:bodyPr>
              <a:lstStyle/>
              <a:p>
                <a:r>
                  <a:rPr lang="vi-VN" sz="2100">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r>
                      <a:rPr lang="vi-VN" sz="2100" i="1">
                        <a:latin typeface="Cambria Math" panose="02040503050406030204" pitchFamily="18" charset="0"/>
                        <a:ea typeface="Cambria Math" panose="02040503050406030204" pitchFamily="18" charset="0"/>
                      </a:rPr>
                      <m:t>𝐶</m:t>
                    </m:r>
                    <m:d>
                      <m:dPr>
                        <m:ctrlPr>
                          <a:rPr lang="vi-VN" sz="2100" i="1">
                            <a:latin typeface="Cambria Math" panose="02040503050406030204" pitchFamily="18" charset="0"/>
                            <a:ea typeface="Cambria Math" panose="02040503050406030204" pitchFamily="18" charset="0"/>
                          </a:rPr>
                        </m:ctrlPr>
                      </m:dPr>
                      <m:e>
                        <m:sSubSup>
                          <m:sSubSupPr>
                            <m:ctrlPr>
                              <a:rPr lang="vi-VN" sz="2100" i="1">
                                <a:latin typeface="Cambria Math" panose="02040503050406030204" pitchFamily="18" charset="0"/>
                                <a:ea typeface="Cambria Math" panose="02040503050406030204" pitchFamily="18" charset="0"/>
                              </a:rPr>
                            </m:ctrlPr>
                          </m:sSubSupPr>
                          <m:e>
                            <m:r>
                              <a:rPr lang="vi-VN" sz="2100" i="1">
                                <a:latin typeface="Cambria Math" panose="02040503050406030204" pitchFamily="18" charset="0"/>
                                <a:ea typeface="Cambria Math" panose="02040503050406030204" pitchFamily="18" charset="0"/>
                              </a:rPr>
                              <m:t>𝜃</m:t>
                            </m:r>
                          </m:e>
                          <m:sub>
                            <m:r>
                              <a:rPr lang="vi-VN" sz="2100" i="1">
                                <a:latin typeface="Cambria Math" panose="02040503050406030204" pitchFamily="18" charset="0"/>
                                <a:ea typeface="Cambria Math" panose="02040503050406030204" pitchFamily="18" charset="0"/>
                              </a:rPr>
                              <m:t>𝑗</m:t>
                            </m:r>
                          </m:sub>
                          <m:sup>
                            <m:r>
                              <a:rPr lang="vi-VN" sz="2100" i="1">
                                <a:latin typeface="Cambria Math" panose="02040503050406030204" pitchFamily="18" charset="0"/>
                                <a:ea typeface="Cambria Math" panose="02040503050406030204" pitchFamily="18" charset="0"/>
                              </a:rPr>
                              <m:t>+</m:t>
                            </m:r>
                            <m:sSub>
                              <m:sSubPr>
                                <m:ctrlPr>
                                  <a:rPr lang="vi-VN" sz="2100" i="1">
                                    <a:latin typeface="Cambria Math" panose="02040503050406030204" pitchFamily="18" charset="0"/>
                                    <a:ea typeface="Cambria Math" panose="02040503050406030204" pitchFamily="18" charset="0"/>
                                  </a:rPr>
                                </m:ctrlPr>
                              </m:sSubPr>
                              <m:e>
                                <m:r>
                                  <a:rPr lang="vi-VN" sz="2100" i="1">
                                    <a:latin typeface="Cambria Math" panose="02040503050406030204" pitchFamily="18" charset="0"/>
                                    <a:ea typeface="Cambria Math" panose="02040503050406030204" pitchFamily="18" charset="0"/>
                                  </a:rPr>
                                  <m:t>𝜖</m:t>
                                </m:r>
                              </m:e>
                              <m:sub>
                                <m:r>
                                  <a:rPr lang="vi-VN" sz="2100" i="1">
                                    <a:latin typeface="Cambria Math" panose="02040503050406030204" pitchFamily="18" charset="0"/>
                                    <a:ea typeface="Cambria Math" panose="02040503050406030204" pitchFamily="18" charset="0"/>
                                  </a:rPr>
                                  <m:t>𝑘</m:t>
                                </m:r>
                              </m:sub>
                            </m:sSub>
                          </m:sup>
                        </m:sSubSup>
                      </m:e>
                    </m:d>
                    <m:r>
                      <a:rPr lang="vi-VN" sz="2100" b="0" i="1">
                        <a:latin typeface="Cambria Math" panose="02040503050406030204" pitchFamily="18" charset="0"/>
                        <a:ea typeface="Cambria Math" panose="02040503050406030204" pitchFamily="18" charset="0"/>
                      </a:rPr>
                      <m:t>≡</m:t>
                    </m:r>
                    <m:r>
                      <a:rPr lang="vi-VN" sz="2100" i="1">
                        <a:latin typeface="Cambria Math" panose="02040503050406030204" pitchFamily="18" charset="0"/>
                        <a:ea typeface="Cambria Math" panose="02040503050406030204" pitchFamily="18" charset="0"/>
                      </a:rPr>
                      <m:t>𝐶</m:t>
                    </m:r>
                    <m:d>
                      <m:dPr>
                        <m:ctrlPr>
                          <a:rPr lang="vi-VN" sz="2100" i="1">
                            <a:latin typeface="Cambria Math" panose="02040503050406030204" pitchFamily="18" charset="0"/>
                            <a:ea typeface="Cambria Math" panose="02040503050406030204" pitchFamily="18" charset="0"/>
                          </a:rPr>
                        </m:ctrlPr>
                      </m:dPr>
                      <m:e>
                        <m:r>
                          <a:rPr lang="vi-VN" sz="2100" b="1" i="1">
                            <a:latin typeface="Cambria Math" panose="02040503050406030204" pitchFamily="18" charset="0"/>
                            <a:ea typeface="Cambria Math" panose="02040503050406030204" pitchFamily="18" charset="0"/>
                          </a:rPr>
                          <m:t>𝜽</m:t>
                        </m:r>
                        <m:r>
                          <a:rPr lang="vi-VN" sz="2100" b="1" i="1">
                            <a:latin typeface="Cambria Math" panose="02040503050406030204" pitchFamily="18" charset="0"/>
                            <a:ea typeface="Cambria Math" panose="02040503050406030204" pitchFamily="18" charset="0"/>
                          </a:rPr>
                          <m:t>+</m:t>
                        </m:r>
                        <m:sSub>
                          <m:sSubPr>
                            <m:ctrlPr>
                              <a:rPr lang="vi-VN" sz="2100" b="1" i="1">
                                <a:latin typeface="Cambria Math" panose="02040503050406030204" pitchFamily="18" charset="0"/>
                                <a:ea typeface="Cambria Math" panose="02040503050406030204" pitchFamily="18" charset="0"/>
                              </a:rPr>
                            </m:ctrlPr>
                          </m:sSubPr>
                          <m:e>
                            <m:r>
                              <a:rPr lang="vi-VN" sz="2100" b="1" i="0">
                                <a:latin typeface="Cambria Math" panose="02040503050406030204" pitchFamily="18" charset="0"/>
                                <a:ea typeface="Cambria Math" panose="02040503050406030204" pitchFamily="18" charset="0"/>
                              </a:rPr>
                              <m:t>𝐞</m:t>
                            </m:r>
                          </m:e>
                          <m:sub>
                            <m:r>
                              <a:rPr lang="vi-VN" sz="2100" b="1" i="0">
                                <a:latin typeface="Cambria Math" panose="02040503050406030204" pitchFamily="18" charset="0"/>
                                <a:ea typeface="Cambria Math" panose="02040503050406030204" pitchFamily="18" charset="0"/>
                              </a:rPr>
                              <m:t>𝐣</m:t>
                            </m:r>
                          </m:sub>
                        </m:sSub>
                        <m:sSub>
                          <m:sSubPr>
                            <m:ctrlPr>
                              <a:rPr lang="vi-VN" sz="2100" i="1">
                                <a:latin typeface="Cambria Math" panose="02040503050406030204" pitchFamily="18" charset="0"/>
                                <a:ea typeface="Cambria Math" panose="02040503050406030204" pitchFamily="18" charset="0"/>
                              </a:rPr>
                            </m:ctrlPr>
                          </m:sSubPr>
                          <m:e>
                            <m:r>
                              <a:rPr lang="vi-VN" sz="2100" b="0" i="1">
                                <a:latin typeface="Cambria Math" panose="02040503050406030204" pitchFamily="18" charset="0"/>
                                <a:ea typeface="Cambria Math" panose="02040503050406030204" pitchFamily="18" charset="0"/>
                              </a:rPr>
                              <m:t>𝜖</m:t>
                            </m:r>
                          </m:e>
                          <m:sub>
                            <m:r>
                              <a:rPr lang="vi-VN" sz="2100" b="0" i="1">
                                <a:latin typeface="Cambria Math" panose="02040503050406030204" pitchFamily="18" charset="0"/>
                                <a:ea typeface="Cambria Math" panose="02040503050406030204" pitchFamily="18" charset="0"/>
                              </a:rPr>
                              <m:t>𝑘</m:t>
                            </m:r>
                          </m:sub>
                        </m:sSub>
                      </m:e>
                    </m:d>
                  </m:oMath>
                </a14:m>
                <a:r>
                  <a:rPr lang="en-VN" sz="210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vi-VN" sz="2100" b="1" i="1">
                            <a:latin typeface="Cambria Math" panose="02040503050406030204" pitchFamily="18" charset="0"/>
                            <a:ea typeface="Cambria Math" panose="02040503050406030204" pitchFamily="18" charset="0"/>
                          </a:rPr>
                        </m:ctrlPr>
                      </m:sSubPr>
                      <m:e>
                        <m:r>
                          <a:rPr lang="vi-VN" sz="2100" b="1">
                            <a:latin typeface="Cambria Math" panose="02040503050406030204" pitchFamily="18" charset="0"/>
                            <a:ea typeface="Cambria Math" panose="02040503050406030204" pitchFamily="18" charset="0"/>
                          </a:rPr>
                          <m:t>𝐞</m:t>
                        </m:r>
                      </m:e>
                      <m:sub>
                        <m:r>
                          <a:rPr lang="vi-VN" sz="2100" b="1">
                            <a:latin typeface="Cambria Math" panose="02040503050406030204" pitchFamily="18" charset="0"/>
                            <a:ea typeface="Cambria Math" panose="02040503050406030204" pitchFamily="18" charset="0"/>
                          </a:rPr>
                          <m:t>𝐣</m:t>
                        </m:r>
                      </m:sub>
                    </m:sSub>
                  </m:oMath>
                </a14:m>
                <a:r>
                  <a:rPr lang="en-VN" sz="2100">
                    <a:latin typeface="Calibri" panose="020F0502020204030204" pitchFamily="34" charset="0"/>
                    <a:ea typeface="Calibri" panose="020F0502020204030204" pitchFamily="34" charset="0"/>
                    <a:cs typeface="Calibri" panose="020F0502020204030204" pitchFamily="34" charset="0"/>
                  </a:rPr>
                  <a:t> is the </a:t>
                </a:r>
                <a14:m>
                  <m:oMath xmlns:m="http://schemas.openxmlformats.org/officeDocument/2006/math">
                    <m:sSup>
                      <m:sSupPr>
                        <m:ctrlPr>
                          <a:rPr lang="vi-VN" sz="2100" b="0" i="1">
                            <a:latin typeface="Cambria Math" panose="02040503050406030204" pitchFamily="18" charset="0"/>
                          </a:rPr>
                        </m:ctrlPr>
                      </m:sSupPr>
                      <m:e>
                        <m:r>
                          <a:rPr lang="en-VN" sz="2100" i="1">
                            <a:latin typeface="Cambria Math" panose="02040503050406030204" pitchFamily="18" charset="0"/>
                          </a:rPr>
                          <m:t>𝑗</m:t>
                        </m:r>
                      </m:e>
                      <m:sup>
                        <m:r>
                          <a:rPr lang="en-VN" sz="2100" i="1">
                            <a:latin typeface="Cambria Math" panose="02040503050406030204" pitchFamily="18" charset="0"/>
                          </a:rPr>
                          <m:t>𝑡h</m:t>
                        </m:r>
                      </m:sup>
                    </m:sSup>
                  </m:oMath>
                </a14:m>
                <a:r>
                  <a:rPr lang="en-VN" sz="2100">
                    <a:latin typeface="Calibri" panose="020F0502020204030204" pitchFamily="34" charset="0"/>
                    <a:ea typeface="Calibri" panose="020F0502020204030204" pitchFamily="34" charset="0"/>
                    <a:cs typeface="Calibri" panose="020F0502020204030204" pitchFamily="34" charset="0"/>
                  </a:rPr>
                  <a:t> unit vector, </a:t>
                </a:r>
                <a14:m>
                  <m:oMath xmlns:m="http://schemas.openxmlformats.org/officeDocument/2006/math">
                    <m:sSub>
                      <m:sSubPr>
                        <m:ctrlPr>
                          <a:rPr lang="vi-VN" sz="2100" i="1">
                            <a:latin typeface="Cambria Math" panose="02040503050406030204" pitchFamily="18" charset="0"/>
                            <a:ea typeface="Cambria Math" panose="02040503050406030204" pitchFamily="18" charset="0"/>
                          </a:rPr>
                        </m:ctrlPr>
                      </m:sSubPr>
                      <m:e>
                        <m:r>
                          <a:rPr lang="vi-VN" sz="2100" i="1">
                            <a:latin typeface="Cambria Math" panose="02040503050406030204" pitchFamily="18" charset="0"/>
                            <a:ea typeface="Cambria Math" panose="02040503050406030204" pitchFamily="18" charset="0"/>
                          </a:rPr>
                          <m:t>𝜖</m:t>
                        </m:r>
                      </m:e>
                      <m:sub>
                        <m:r>
                          <a:rPr lang="vi-VN" sz="2100" i="1">
                            <a:latin typeface="Cambria Math" panose="02040503050406030204" pitchFamily="18" charset="0"/>
                            <a:ea typeface="Cambria Math" panose="02040503050406030204" pitchFamily="18" charset="0"/>
                          </a:rPr>
                          <m:t>𝑘</m:t>
                        </m:r>
                      </m:sub>
                    </m:sSub>
                  </m:oMath>
                </a14:m>
                <a:r>
                  <a:rPr lang="en-VN" sz="2100">
                    <a:latin typeface="Calibri" panose="020F0502020204030204" pitchFamily="34" charset="0"/>
                    <a:ea typeface="Calibri" panose="020F0502020204030204" pitchFamily="34" charset="0"/>
                    <a:cs typeface="Calibri" panose="020F0502020204030204" pitchFamily="34" charset="0"/>
                  </a:rPr>
                  <a:t> is the shift-value </a:t>
                </a:r>
              </a:p>
            </p:txBody>
          </p:sp>
        </mc:Choice>
        <mc:Fallback xmlns="">
          <p:sp>
            <p:nvSpPr>
              <p:cNvPr id="7" name="TextBox 6">
                <a:extLst>
                  <a:ext uri="{FF2B5EF4-FFF2-40B4-BE49-F238E27FC236}">
                    <a16:creationId xmlns:a16="http://schemas.microsoft.com/office/drawing/2014/main" id="{F9119155-0CC6-FF6C-3B08-CF75C9C1790D}"/>
                  </a:ext>
                </a:extLst>
              </p:cNvPr>
              <p:cNvSpPr txBox="1">
                <a:spLocks noRot="1" noChangeAspect="1" noMove="1" noResize="1" noEditPoints="1" noAdjustHandles="1" noChangeArrowheads="1" noChangeShapeType="1" noTextEdit="1"/>
              </p:cNvSpPr>
              <p:nvPr/>
            </p:nvSpPr>
            <p:spPr>
              <a:xfrm>
                <a:off x="575732" y="3668168"/>
                <a:ext cx="8798927" cy="575992"/>
              </a:xfrm>
              <a:prstGeom prst="rect">
                <a:avLst/>
              </a:prstGeom>
              <a:blipFill>
                <a:blip r:embed="rId3"/>
                <a:stretch>
                  <a:fillRect l="-831" b="-7447"/>
                </a:stretch>
              </a:blipFill>
            </p:spPr>
            <p:txBody>
              <a:bodyPr/>
              <a:lstStyle/>
              <a:p>
                <a:r>
                  <a:rPr lang="vi-VN">
                    <a:noFill/>
                  </a:rPr>
                  <a:t> </a:t>
                </a:r>
              </a:p>
            </p:txBody>
          </p:sp>
        </mc:Fallback>
      </mc:AlternateContent>
      <p:sp>
        <p:nvSpPr>
          <p:cNvPr id="9" name="TextBox 8">
            <a:extLst>
              <a:ext uri="{FF2B5EF4-FFF2-40B4-BE49-F238E27FC236}">
                <a16:creationId xmlns:a16="http://schemas.microsoft.com/office/drawing/2014/main" id="{F2A3DF7A-C538-B93A-A7C9-06D99D69B1A3}"/>
              </a:ext>
            </a:extLst>
          </p:cNvPr>
          <p:cNvSpPr txBox="1"/>
          <p:nvPr/>
        </p:nvSpPr>
        <p:spPr>
          <a:xfrm>
            <a:off x="628650" y="4747484"/>
            <a:ext cx="6466417" cy="400110"/>
          </a:xfrm>
          <a:prstGeom prst="rect">
            <a:avLst/>
          </a:prstGeom>
          <a:noFill/>
        </p:spPr>
        <p:txBody>
          <a:bodyPr wrap="square">
            <a:spAutoFit/>
          </a:bodyPr>
          <a:lstStyle/>
          <a:p>
            <a:r>
              <a:rPr lang="en-US" sz="1000" b="1">
                <a:highlight>
                  <a:srgbClr val="FFFFFF"/>
                </a:highlight>
                <a:latin typeface="Calibri" panose="020F0502020204030204" pitchFamily="34" charset="0"/>
                <a:ea typeface="Calibri" panose="020F0502020204030204" pitchFamily="34" charset="0"/>
                <a:cs typeface="Calibri" panose="020F0502020204030204" pitchFamily="34" charset="0"/>
              </a:rPr>
              <a:t>[1.2.1] </a:t>
            </a:r>
            <a:r>
              <a:rPr lang="en-US" sz="1000">
                <a:highlight>
                  <a:srgbClr val="FFFFFF"/>
                </a:highlight>
                <a:latin typeface="Calibri" panose="020F0502020204030204" pitchFamily="34" charset="0"/>
                <a:ea typeface="Calibri" panose="020F0502020204030204" pitchFamily="34" charset="0"/>
                <a:cs typeface="Calibri" panose="020F0502020204030204" pitchFamily="34" charset="0"/>
              </a:rPr>
              <a:t>D. Wierichs, J. Izaac, C. Wang, and C. Y.-Y. Lin, “General parameter-shift rules for quantum gradients,” Quantum, vol. 6, p. 677, Mar. 2022</a:t>
            </a:r>
            <a:endParaRPr lang="en-VN" sz="1000">
              <a:latin typeface="Calibri" panose="020F0502020204030204" pitchFamily="34" charset="0"/>
              <a:ea typeface="Calibri" panose="020F0502020204030204" pitchFamily="34" charset="0"/>
              <a:cs typeface="Calibri" panose="020F0502020204030204" pitchFamily="34" charset="0"/>
            </a:endParaRPr>
          </a:p>
        </p:txBody>
      </p:sp>
      <p:sp>
        <p:nvSpPr>
          <p:cNvPr id="12" name="Slide Number Placeholder 11">
            <a:extLst>
              <a:ext uri="{FF2B5EF4-FFF2-40B4-BE49-F238E27FC236}">
                <a16:creationId xmlns:a16="http://schemas.microsoft.com/office/drawing/2014/main" id="{A0A80CC2-EDAD-A8C6-55F4-AA54EF5772ED}"/>
              </a:ext>
            </a:extLst>
          </p:cNvPr>
          <p:cNvSpPr>
            <a:spLocks noGrp="1"/>
          </p:cNvSpPr>
          <p:nvPr>
            <p:ph type="sldNum" sz="quarter" idx="12"/>
          </p:nvPr>
        </p:nvSpPr>
        <p:spPr/>
        <p:txBody>
          <a:bodyPr/>
          <a:lstStyle/>
          <a:p>
            <a:fld id="{D98A4569-6716-F649-8F1C-6F4A1EFC2E5C}" type="slidenum">
              <a:t>8</a:t>
            </a:fld>
            <a:endParaRPr lang="en-V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31D01C-CD6D-79DE-1500-45400CA64561}"/>
                  </a:ext>
                </a:extLst>
              </p:cNvPr>
              <p:cNvSpPr txBox="1"/>
              <p:nvPr/>
            </p:nvSpPr>
            <p:spPr>
              <a:xfrm>
                <a:off x="892261" y="2635497"/>
                <a:ext cx="4687328" cy="957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vi-VN" sz="2000" i="1">
                              <a:latin typeface="Cambria Math" panose="02040503050406030204" pitchFamily="18" charset="0"/>
                              <a:ea typeface="Cambria Math" panose="02040503050406030204" pitchFamily="18" charset="0"/>
                            </a:rPr>
                          </m:ctrlPr>
                        </m:fPr>
                        <m:num>
                          <m:r>
                            <a:rPr lang="vi-VN" sz="2000" i="1">
                              <a:latin typeface="Cambria Math" panose="02040503050406030204" pitchFamily="18" charset="0"/>
                              <a:ea typeface="Cambria Math" panose="02040503050406030204" pitchFamily="18" charset="0"/>
                            </a:rPr>
                            <m:t>𝜕</m:t>
                          </m:r>
                          <m:r>
                            <a:rPr lang="vi-VN" sz="2000" i="1">
                              <a:latin typeface="Cambria Math" panose="02040503050406030204" pitchFamily="18" charset="0"/>
                              <a:ea typeface="Cambria Math" panose="02040503050406030204" pitchFamily="18" charset="0"/>
                            </a:rPr>
                            <m:t>𝐶</m:t>
                          </m:r>
                        </m:num>
                        <m:den>
                          <m:r>
                            <a:rPr lang="vi-VN" sz="2000" i="1">
                              <a:latin typeface="Cambria Math" panose="02040503050406030204" pitchFamily="18" charset="0"/>
                              <a:ea typeface="Cambria Math" panose="02040503050406030204" pitchFamily="18" charset="0"/>
                            </a:rPr>
                            <m:t>𝜕</m:t>
                          </m:r>
                          <m:sSub>
                            <m:sSubPr>
                              <m:ctrlPr>
                                <a:rPr lang="vi-VN" sz="2000" i="1">
                                  <a:latin typeface="Cambria Math" panose="02040503050406030204" pitchFamily="18" charset="0"/>
                                  <a:ea typeface="Cambria Math" panose="02040503050406030204" pitchFamily="18" charset="0"/>
                                </a:rPr>
                              </m:ctrlPr>
                            </m:sSubPr>
                            <m:e>
                              <m:r>
                                <a:rPr lang="vi-VN" sz="2000" i="1">
                                  <a:latin typeface="Cambria Math" panose="02040503050406030204" pitchFamily="18" charset="0"/>
                                  <a:ea typeface="Cambria Math" panose="02040503050406030204" pitchFamily="18" charset="0"/>
                                </a:rPr>
                                <m:t>𝜃</m:t>
                              </m:r>
                            </m:e>
                            <m:sub>
                              <m:r>
                                <a:rPr lang="vi-VN" sz="2000" i="1">
                                  <a:latin typeface="Cambria Math" panose="02040503050406030204" pitchFamily="18" charset="0"/>
                                  <a:ea typeface="Cambria Math" panose="02040503050406030204" pitchFamily="18" charset="0"/>
                                </a:rPr>
                                <m:t>𝑗</m:t>
                              </m:r>
                            </m:sub>
                          </m:sSub>
                        </m:den>
                      </m:f>
                      <m:r>
                        <a:rPr lang="vi-VN" sz="2000" i="1">
                          <a:latin typeface="Cambria Math" panose="02040503050406030204" pitchFamily="18" charset="0"/>
                          <a:ea typeface="Cambria Math" panose="02040503050406030204" pitchFamily="18" charset="0"/>
                        </a:rPr>
                        <m:t>=</m:t>
                      </m:r>
                      <m:nary>
                        <m:naryPr>
                          <m:chr m:val="∑"/>
                          <m:ctrlPr>
                            <a:rPr lang="vi-VN" sz="2000" i="1">
                              <a:latin typeface="Cambria Math" panose="02040503050406030204" pitchFamily="18" charset="0"/>
                              <a:ea typeface="Cambria Math" panose="02040503050406030204" pitchFamily="18" charset="0"/>
                            </a:rPr>
                          </m:ctrlPr>
                        </m:naryPr>
                        <m:sub>
                          <m:r>
                            <m:rPr>
                              <m:brk m:alnAt="23"/>
                            </m:rPr>
                            <a:rPr lang="vi-VN" sz="2000" i="1">
                              <a:latin typeface="Cambria Math" panose="02040503050406030204" pitchFamily="18" charset="0"/>
                              <a:ea typeface="Cambria Math" panose="02040503050406030204" pitchFamily="18" charset="0"/>
                            </a:rPr>
                            <m:t>𝑘</m:t>
                          </m:r>
                          <m:r>
                            <a:rPr lang="vi-VN" sz="2000" i="1">
                              <a:latin typeface="Cambria Math" panose="02040503050406030204" pitchFamily="18" charset="0"/>
                              <a:ea typeface="Cambria Math" panose="02040503050406030204" pitchFamily="18" charset="0"/>
                            </a:rPr>
                            <m:t>=1</m:t>
                          </m:r>
                        </m:sub>
                        <m:sup>
                          <m:r>
                            <a:rPr lang="vi-VN" sz="2000" i="1">
                              <a:latin typeface="Cambria Math" panose="02040503050406030204" pitchFamily="18" charset="0"/>
                              <a:ea typeface="Cambria Math" panose="02040503050406030204" pitchFamily="18" charset="0"/>
                            </a:rPr>
                            <m:t>𝑅</m:t>
                          </m:r>
                        </m:sup>
                        <m:e>
                          <m:sSub>
                            <m:sSubPr>
                              <m:ctrlPr>
                                <a:rPr lang="vi-VN" sz="2000" i="1">
                                  <a:latin typeface="Cambria Math" panose="02040503050406030204" pitchFamily="18" charset="0"/>
                                  <a:ea typeface="Cambria Math" panose="02040503050406030204" pitchFamily="18" charset="0"/>
                                </a:rPr>
                              </m:ctrlPr>
                            </m:sSubPr>
                            <m:e>
                              <m:r>
                                <a:rPr lang="vi-VN" sz="2000" i="1">
                                  <a:latin typeface="Cambria Math" panose="02040503050406030204" pitchFamily="18" charset="0"/>
                                  <a:ea typeface="Cambria Math" panose="02040503050406030204" pitchFamily="18" charset="0"/>
                                </a:rPr>
                                <m:t>𝑑</m:t>
                              </m:r>
                            </m:e>
                            <m:sub>
                              <m:r>
                                <a:rPr lang="vi-VN" sz="2000" i="1">
                                  <a:latin typeface="Cambria Math" panose="02040503050406030204" pitchFamily="18" charset="0"/>
                                  <a:ea typeface="Cambria Math" panose="02040503050406030204" pitchFamily="18" charset="0"/>
                                </a:rPr>
                                <m:t>𝑘</m:t>
                              </m:r>
                            </m:sub>
                          </m:sSub>
                          <m:d>
                            <m:dPr>
                              <m:ctrlPr>
                                <a:rPr lang="vi-VN" sz="2000" i="1">
                                  <a:latin typeface="Cambria Math" panose="02040503050406030204" pitchFamily="18" charset="0"/>
                                  <a:ea typeface="Cambria Math" panose="02040503050406030204" pitchFamily="18" charset="0"/>
                                </a:rPr>
                              </m:ctrlPr>
                            </m:dPr>
                            <m:e>
                              <m:r>
                                <a:rPr lang="vi-VN" sz="2000" i="1">
                                  <a:latin typeface="Cambria Math" panose="02040503050406030204" pitchFamily="18" charset="0"/>
                                  <a:ea typeface="Cambria Math" panose="02040503050406030204" pitchFamily="18" charset="0"/>
                                </a:rPr>
                                <m:t>𝐶</m:t>
                              </m:r>
                              <m:d>
                                <m:dPr>
                                  <m:ctrlPr>
                                    <a:rPr lang="vi-VN" sz="2000" i="1">
                                      <a:latin typeface="Cambria Math" panose="02040503050406030204" pitchFamily="18" charset="0"/>
                                      <a:ea typeface="Cambria Math" panose="02040503050406030204" pitchFamily="18" charset="0"/>
                                    </a:rPr>
                                  </m:ctrlPr>
                                </m:dPr>
                                <m:e>
                                  <m:sSubSup>
                                    <m:sSubSupPr>
                                      <m:ctrlPr>
                                        <a:rPr lang="vi-VN" sz="2000" i="1">
                                          <a:latin typeface="Cambria Math" panose="02040503050406030204" pitchFamily="18" charset="0"/>
                                          <a:ea typeface="Cambria Math" panose="02040503050406030204" pitchFamily="18" charset="0"/>
                                        </a:rPr>
                                      </m:ctrlPr>
                                    </m:sSubSupPr>
                                    <m:e>
                                      <m:r>
                                        <a:rPr lang="vi-VN" sz="2000" i="1">
                                          <a:latin typeface="Cambria Math" panose="02040503050406030204" pitchFamily="18" charset="0"/>
                                          <a:ea typeface="Cambria Math" panose="02040503050406030204" pitchFamily="18" charset="0"/>
                                        </a:rPr>
                                        <m:t>𝜃</m:t>
                                      </m:r>
                                    </m:e>
                                    <m:sub>
                                      <m:r>
                                        <a:rPr lang="vi-VN" sz="2000" i="1">
                                          <a:latin typeface="Cambria Math" panose="02040503050406030204" pitchFamily="18" charset="0"/>
                                          <a:ea typeface="Cambria Math" panose="02040503050406030204" pitchFamily="18" charset="0"/>
                                        </a:rPr>
                                        <m:t>𝑗</m:t>
                                      </m:r>
                                    </m:sub>
                                    <m:sup>
                                      <m:r>
                                        <a:rPr lang="vi-VN" sz="2000" i="1">
                                          <a:latin typeface="Cambria Math" panose="02040503050406030204" pitchFamily="18" charset="0"/>
                                          <a:ea typeface="Cambria Math" panose="02040503050406030204" pitchFamily="18" charset="0"/>
                                        </a:rPr>
                                        <m:t>+</m:t>
                                      </m:r>
                                      <m:sSub>
                                        <m:sSubPr>
                                          <m:ctrlPr>
                                            <a:rPr lang="vi-VN" sz="2000" i="1">
                                              <a:latin typeface="Cambria Math" panose="02040503050406030204" pitchFamily="18" charset="0"/>
                                              <a:ea typeface="Cambria Math" panose="02040503050406030204" pitchFamily="18" charset="0"/>
                                            </a:rPr>
                                          </m:ctrlPr>
                                        </m:sSubPr>
                                        <m:e>
                                          <m:r>
                                            <a:rPr lang="vi-VN" sz="2000" i="1">
                                              <a:latin typeface="Cambria Math" panose="02040503050406030204" pitchFamily="18" charset="0"/>
                                              <a:ea typeface="Cambria Math" panose="02040503050406030204" pitchFamily="18" charset="0"/>
                                            </a:rPr>
                                            <m:t>𝜖</m:t>
                                          </m:r>
                                        </m:e>
                                        <m:sub>
                                          <m:r>
                                            <a:rPr lang="vi-VN" sz="2000" i="1">
                                              <a:latin typeface="Cambria Math" panose="02040503050406030204" pitchFamily="18" charset="0"/>
                                              <a:ea typeface="Cambria Math" panose="02040503050406030204" pitchFamily="18" charset="0"/>
                                            </a:rPr>
                                            <m:t>𝑘</m:t>
                                          </m:r>
                                        </m:sub>
                                      </m:sSub>
                                    </m:sup>
                                  </m:sSubSup>
                                </m:e>
                              </m:d>
                              <m:r>
                                <a:rPr lang="vi-VN" sz="2000" i="1">
                                  <a:latin typeface="Cambria Math" panose="02040503050406030204" pitchFamily="18" charset="0"/>
                                  <a:ea typeface="Cambria Math" panose="02040503050406030204" pitchFamily="18" charset="0"/>
                                </a:rPr>
                                <m:t>−</m:t>
                              </m:r>
                              <m:r>
                                <a:rPr lang="vi-VN" sz="2000" i="1">
                                  <a:latin typeface="Cambria Math" panose="02040503050406030204" pitchFamily="18" charset="0"/>
                                  <a:ea typeface="Cambria Math" panose="02040503050406030204" pitchFamily="18" charset="0"/>
                                </a:rPr>
                                <m:t>𝐶</m:t>
                              </m:r>
                              <m:d>
                                <m:dPr>
                                  <m:ctrlPr>
                                    <a:rPr lang="vi-VN" sz="2000" i="1">
                                      <a:latin typeface="Cambria Math" panose="02040503050406030204" pitchFamily="18" charset="0"/>
                                      <a:ea typeface="Cambria Math" panose="02040503050406030204" pitchFamily="18" charset="0"/>
                                    </a:rPr>
                                  </m:ctrlPr>
                                </m:dPr>
                                <m:e>
                                  <m:sSubSup>
                                    <m:sSubSupPr>
                                      <m:ctrlPr>
                                        <a:rPr lang="vi-VN" sz="2000" i="1">
                                          <a:latin typeface="Cambria Math" panose="02040503050406030204" pitchFamily="18" charset="0"/>
                                          <a:ea typeface="Cambria Math" panose="02040503050406030204" pitchFamily="18" charset="0"/>
                                        </a:rPr>
                                      </m:ctrlPr>
                                    </m:sSubSupPr>
                                    <m:e>
                                      <m:r>
                                        <a:rPr lang="vi-VN" sz="2000" i="1">
                                          <a:latin typeface="Cambria Math" panose="02040503050406030204" pitchFamily="18" charset="0"/>
                                          <a:ea typeface="Cambria Math" panose="02040503050406030204" pitchFamily="18" charset="0"/>
                                        </a:rPr>
                                        <m:t>𝜃</m:t>
                                      </m:r>
                                    </m:e>
                                    <m:sub>
                                      <m:r>
                                        <a:rPr lang="vi-VN" sz="2000" i="1">
                                          <a:latin typeface="Cambria Math" panose="02040503050406030204" pitchFamily="18" charset="0"/>
                                          <a:ea typeface="Cambria Math" panose="02040503050406030204" pitchFamily="18" charset="0"/>
                                        </a:rPr>
                                        <m:t>𝑗</m:t>
                                      </m:r>
                                    </m:sub>
                                    <m:sup>
                                      <m:r>
                                        <a:rPr lang="vi-VN" sz="2000" i="1">
                                          <a:latin typeface="Cambria Math" panose="02040503050406030204" pitchFamily="18" charset="0"/>
                                          <a:ea typeface="Cambria Math" panose="02040503050406030204" pitchFamily="18" charset="0"/>
                                        </a:rPr>
                                        <m:t>−</m:t>
                                      </m:r>
                                      <m:sSub>
                                        <m:sSubPr>
                                          <m:ctrlPr>
                                            <a:rPr lang="vi-VN" sz="2000" i="1">
                                              <a:latin typeface="Cambria Math" panose="02040503050406030204" pitchFamily="18" charset="0"/>
                                              <a:ea typeface="Cambria Math" panose="02040503050406030204" pitchFamily="18" charset="0"/>
                                            </a:rPr>
                                          </m:ctrlPr>
                                        </m:sSubPr>
                                        <m:e>
                                          <m:r>
                                            <a:rPr lang="vi-VN" sz="2000" i="1">
                                              <a:latin typeface="Cambria Math" panose="02040503050406030204" pitchFamily="18" charset="0"/>
                                              <a:ea typeface="Cambria Math" panose="02040503050406030204" pitchFamily="18" charset="0"/>
                                            </a:rPr>
                                            <m:t>𝜖</m:t>
                                          </m:r>
                                        </m:e>
                                        <m:sub>
                                          <m:r>
                                            <a:rPr lang="vi-VN" sz="2000" i="1">
                                              <a:latin typeface="Cambria Math" panose="02040503050406030204" pitchFamily="18" charset="0"/>
                                              <a:ea typeface="Cambria Math" panose="02040503050406030204" pitchFamily="18" charset="0"/>
                                            </a:rPr>
                                            <m:t>𝑘</m:t>
                                          </m:r>
                                        </m:sub>
                                      </m:sSub>
                                    </m:sup>
                                  </m:sSubSup>
                                </m:e>
                              </m:d>
                            </m:e>
                          </m:d>
                        </m:e>
                      </m:nary>
                    </m:oMath>
                  </m:oMathPara>
                </a14:m>
                <a:endParaRPr lang="en-VN" sz="2000"/>
              </a:p>
            </p:txBody>
          </p:sp>
        </mc:Choice>
        <mc:Fallback xmlns="">
          <p:sp>
            <p:nvSpPr>
              <p:cNvPr id="8" name="TextBox 7">
                <a:extLst>
                  <a:ext uri="{FF2B5EF4-FFF2-40B4-BE49-F238E27FC236}">
                    <a16:creationId xmlns:a16="http://schemas.microsoft.com/office/drawing/2014/main" id="{7931D01C-CD6D-79DE-1500-45400CA64561}"/>
                  </a:ext>
                </a:extLst>
              </p:cNvPr>
              <p:cNvSpPr txBox="1">
                <a:spLocks noRot="1" noChangeAspect="1" noMove="1" noResize="1" noEditPoints="1" noAdjustHandles="1" noChangeArrowheads="1" noChangeShapeType="1" noTextEdit="1"/>
              </p:cNvSpPr>
              <p:nvPr/>
            </p:nvSpPr>
            <p:spPr>
              <a:xfrm>
                <a:off x="892261" y="2635497"/>
                <a:ext cx="4687328" cy="957826"/>
              </a:xfrm>
              <a:prstGeom prst="rect">
                <a:avLst/>
              </a:prstGeom>
              <a:blipFill>
                <a:blip r:embed="rId4"/>
                <a:stretch>
                  <a:fillRect t="-98684" b="-153947"/>
                </a:stretch>
              </a:blipFill>
            </p:spPr>
            <p:txBody>
              <a:bodyPr/>
              <a:lstStyle/>
              <a:p>
                <a:r>
                  <a:rPr lang="en-VN">
                    <a:noFill/>
                  </a:rPr>
                  <a:t> </a:t>
                </a:r>
              </a:p>
            </p:txBody>
          </p:sp>
        </mc:Fallback>
      </mc:AlternateContent>
    </p:spTree>
    <p:extLst>
      <p:ext uri="{BB962C8B-B14F-4D97-AF65-F5344CB8AC3E}">
        <p14:creationId xmlns:p14="http://schemas.microsoft.com/office/powerpoint/2010/main" val="2848742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6" descr="A graph of a function&#10;&#10;Description automatically generated with medium confidence">
            <a:extLst>
              <a:ext uri="{FF2B5EF4-FFF2-40B4-BE49-F238E27FC236}">
                <a16:creationId xmlns:a16="http://schemas.microsoft.com/office/drawing/2014/main" id="{C417050E-24E0-279D-A14C-AD916A168FB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8383" y="1385545"/>
            <a:ext cx="8874519" cy="3025588"/>
          </a:xfrm>
        </p:spPr>
      </p:pic>
      <p:sp>
        <p:nvSpPr>
          <p:cNvPr id="2" name="Title 1">
            <a:extLst>
              <a:ext uri="{FF2B5EF4-FFF2-40B4-BE49-F238E27FC236}">
                <a16:creationId xmlns:a16="http://schemas.microsoft.com/office/drawing/2014/main" id="{CF2E6BB8-3EFA-1458-0C81-66844F907ED8}"/>
              </a:ext>
            </a:extLst>
          </p:cNvPr>
          <p:cNvSpPr>
            <a:spLocks noGrp="1"/>
          </p:cNvSpPr>
          <p:nvPr>
            <p:ph type="title"/>
          </p:nvPr>
        </p:nvSpPr>
        <p:spPr/>
        <p:txBody>
          <a:bodyPr/>
          <a:lstStyle/>
          <a:p>
            <a:r>
              <a:rPr lang="en-US"/>
              <a:t>1.2.2. Optimizer</a:t>
            </a:r>
            <a:endParaRPr lang="vi-VN"/>
          </a:p>
        </p:txBody>
      </p:sp>
      <p:sp>
        <p:nvSpPr>
          <p:cNvPr id="4" name="Slide Number Placeholder 3">
            <a:extLst>
              <a:ext uri="{FF2B5EF4-FFF2-40B4-BE49-F238E27FC236}">
                <a16:creationId xmlns:a16="http://schemas.microsoft.com/office/drawing/2014/main" id="{51E1701B-3BED-EB49-8023-DFB26C8C6AE7}"/>
              </a:ext>
            </a:extLst>
          </p:cNvPr>
          <p:cNvSpPr>
            <a:spLocks noGrp="1"/>
          </p:cNvSpPr>
          <p:nvPr>
            <p:ph type="sldNum" sz="quarter" idx="12"/>
          </p:nvPr>
        </p:nvSpPr>
        <p:spPr/>
        <p:txBody>
          <a:bodyPr/>
          <a:lstStyle/>
          <a:p>
            <a:fld id="{6A45828D-F580-42DE-B77E-860980F07F32}" type="slidenum">
              <a:rPr lang="vi-VN" smtClean="0"/>
              <a:t>9</a:t>
            </a:fld>
            <a:endParaRPr lang="vi-VN"/>
          </a:p>
        </p:txBody>
      </p:sp>
      <p:sp>
        <p:nvSpPr>
          <p:cNvPr id="9" name="TextBox 8">
            <a:extLst>
              <a:ext uri="{FF2B5EF4-FFF2-40B4-BE49-F238E27FC236}">
                <a16:creationId xmlns:a16="http://schemas.microsoft.com/office/drawing/2014/main" id="{1E482B9A-D78C-B6D1-EB67-99D6C3AA427C}"/>
              </a:ext>
            </a:extLst>
          </p:cNvPr>
          <p:cNvSpPr txBox="1"/>
          <p:nvPr/>
        </p:nvSpPr>
        <p:spPr>
          <a:xfrm>
            <a:off x="628649" y="1016213"/>
            <a:ext cx="8367183" cy="369332"/>
          </a:xfrm>
          <a:prstGeom prst="rect">
            <a:avLst/>
          </a:prstGeom>
          <a:noFill/>
        </p:spPr>
        <p:txBody>
          <a:bodyPr wrap="square" rtlCol="0">
            <a:spAutoFit/>
          </a:bodyPr>
          <a:lstStyle/>
          <a:p>
            <a:r>
              <a:rPr lang="en-US"/>
              <a:t>Quantum optimization is still heavily depend on classical optimizers such as Adam</a:t>
            </a:r>
            <a:endParaRPr lang="vi-VN"/>
          </a:p>
        </p:txBody>
      </p:sp>
      <p:sp>
        <p:nvSpPr>
          <p:cNvPr id="10" name="TextBox 9">
            <a:extLst>
              <a:ext uri="{FF2B5EF4-FFF2-40B4-BE49-F238E27FC236}">
                <a16:creationId xmlns:a16="http://schemas.microsoft.com/office/drawing/2014/main" id="{5A1F6C5B-E802-F3E5-1332-95552D4924F4}"/>
              </a:ext>
            </a:extLst>
          </p:cNvPr>
          <p:cNvSpPr txBox="1"/>
          <p:nvPr/>
        </p:nvSpPr>
        <p:spPr>
          <a:xfrm>
            <a:off x="628649" y="4742393"/>
            <a:ext cx="7600951" cy="400110"/>
          </a:xfrm>
          <a:prstGeom prst="rect">
            <a:avLst/>
          </a:prstGeom>
          <a:noFill/>
        </p:spPr>
        <p:txBody>
          <a:bodyPr wrap="square">
            <a:spAutoFit/>
          </a:bodyPr>
          <a:lstStyle/>
          <a:p>
            <a:r>
              <a:rPr lang="en-US" sz="100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[1.2.2]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Hai, V. T., Luan, P. H., &amp; Nakashima, Y. (2024, November). Benchmarking Classical and Quantum Optimizers for Quantum Simulator. In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2024 Twelfth International Symposium on Computing and Networking (CANDAR)</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(pp. 238-244). IEEE.</a:t>
            </a:r>
            <a:endParaRPr lang="vi-VN" sz="10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94185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FB88E-095E-5EB4-8B3E-97E9C77CCE32}"/>
              </a:ext>
            </a:extLst>
          </p:cNvPr>
          <p:cNvSpPr>
            <a:spLocks noGrp="1"/>
          </p:cNvSpPr>
          <p:nvPr>
            <p:ph type="title"/>
          </p:nvPr>
        </p:nvSpPr>
        <p:spPr/>
        <p:txBody>
          <a:bodyPr/>
          <a:lstStyle/>
          <a:p>
            <a:r>
              <a:rPr lang="en-US"/>
              <a:t>1.2.2. Optimizer</a:t>
            </a:r>
            <a:endParaRPr lang="vi-VN"/>
          </a:p>
        </p:txBody>
      </p:sp>
      <p:sp>
        <p:nvSpPr>
          <p:cNvPr id="3" name="Content Placeholder 2">
            <a:extLst>
              <a:ext uri="{FF2B5EF4-FFF2-40B4-BE49-F238E27FC236}">
                <a16:creationId xmlns:a16="http://schemas.microsoft.com/office/drawing/2014/main" id="{62207082-6BCE-316C-1706-41411A9C89EB}"/>
              </a:ext>
            </a:extLst>
          </p:cNvPr>
          <p:cNvSpPr>
            <a:spLocks noGrp="1"/>
          </p:cNvSpPr>
          <p:nvPr>
            <p:ph idx="1"/>
          </p:nvPr>
        </p:nvSpPr>
        <p:spPr>
          <a:xfrm>
            <a:off x="628649" y="1054100"/>
            <a:ext cx="8368737" cy="347133"/>
          </a:xfrm>
        </p:spPr>
        <p:txBody>
          <a:bodyPr>
            <a:normAutofit fontScale="92500" lnSpcReduction="10000"/>
          </a:bodyPr>
          <a:lstStyle/>
          <a:p>
            <a:pPr marL="0" indent="0">
              <a:buNone/>
            </a:pPr>
            <a:r>
              <a:rPr lang="en-US"/>
              <a:t>Note that we can also use gradient-free optimizers: Nelder-Mead, COBYLA [</a:t>
            </a:r>
            <a:r>
              <a:rPr lang="en-US" b="1"/>
              <a:t>1.2.3</a:t>
            </a:r>
            <a:r>
              <a:rPr lang="en-US"/>
              <a:t>]</a:t>
            </a:r>
            <a:endParaRPr lang="vi-VN"/>
          </a:p>
        </p:txBody>
      </p:sp>
      <p:sp>
        <p:nvSpPr>
          <p:cNvPr id="4" name="Slide Number Placeholder 3">
            <a:extLst>
              <a:ext uri="{FF2B5EF4-FFF2-40B4-BE49-F238E27FC236}">
                <a16:creationId xmlns:a16="http://schemas.microsoft.com/office/drawing/2014/main" id="{31B41D85-71AB-D57E-8E4E-EC00968479E8}"/>
              </a:ext>
            </a:extLst>
          </p:cNvPr>
          <p:cNvSpPr>
            <a:spLocks noGrp="1"/>
          </p:cNvSpPr>
          <p:nvPr>
            <p:ph type="sldNum" sz="quarter" idx="12"/>
          </p:nvPr>
        </p:nvSpPr>
        <p:spPr/>
        <p:txBody>
          <a:bodyPr/>
          <a:lstStyle/>
          <a:p>
            <a:fld id="{6A45828D-F580-42DE-B77E-860980F07F32}" type="slidenum">
              <a:rPr lang="vi-VN" smtClean="0"/>
              <a:t>10</a:t>
            </a:fld>
            <a:endParaRPr lang="vi-VN"/>
          </a:p>
        </p:txBody>
      </p:sp>
      <p:pic>
        <p:nvPicPr>
          <p:cNvPr id="6" name="Picture 5">
            <a:extLst>
              <a:ext uri="{FF2B5EF4-FFF2-40B4-BE49-F238E27FC236}">
                <a16:creationId xmlns:a16="http://schemas.microsoft.com/office/drawing/2014/main" id="{B7E0AF55-19B0-2760-4763-E5B930EA7C74}"/>
              </a:ext>
            </a:extLst>
          </p:cNvPr>
          <p:cNvPicPr>
            <a:picLocks noChangeAspect="1"/>
          </p:cNvPicPr>
          <p:nvPr/>
        </p:nvPicPr>
        <p:blipFill>
          <a:blip r:embed="rId2"/>
          <a:stretch>
            <a:fillRect/>
          </a:stretch>
        </p:blipFill>
        <p:spPr>
          <a:xfrm>
            <a:off x="514351" y="1485541"/>
            <a:ext cx="8619611" cy="3217692"/>
          </a:xfrm>
          <a:prstGeom prst="rect">
            <a:avLst/>
          </a:prstGeom>
        </p:spPr>
      </p:pic>
      <p:sp>
        <p:nvSpPr>
          <p:cNvPr id="7" name="Rectangle 6">
            <a:extLst>
              <a:ext uri="{FF2B5EF4-FFF2-40B4-BE49-F238E27FC236}">
                <a16:creationId xmlns:a16="http://schemas.microsoft.com/office/drawing/2014/main" id="{659C2D24-4A61-0F9D-5109-C23C87576F7A}"/>
              </a:ext>
            </a:extLst>
          </p:cNvPr>
          <p:cNvSpPr/>
          <p:nvPr/>
        </p:nvSpPr>
        <p:spPr>
          <a:xfrm>
            <a:off x="2154767" y="1778570"/>
            <a:ext cx="1240366" cy="2110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Rectangle 7">
            <a:extLst>
              <a:ext uri="{FF2B5EF4-FFF2-40B4-BE49-F238E27FC236}">
                <a16:creationId xmlns:a16="http://schemas.microsoft.com/office/drawing/2014/main" id="{90A0D98F-7A4A-B0D4-D04E-E43E37BF3099}"/>
              </a:ext>
            </a:extLst>
          </p:cNvPr>
          <p:cNvSpPr/>
          <p:nvPr/>
        </p:nvSpPr>
        <p:spPr>
          <a:xfrm>
            <a:off x="4123267" y="1584406"/>
            <a:ext cx="1049866" cy="2068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TextBox 9">
            <a:extLst>
              <a:ext uri="{FF2B5EF4-FFF2-40B4-BE49-F238E27FC236}">
                <a16:creationId xmlns:a16="http://schemas.microsoft.com/office/drawing/2014/main" id="{3AA05291-5304-BCAF-051C-360DD1CF08DD}"/>
              </a:ext>
            </a:extLst>
          </p:cNvPr>
          <p:cNvSpPr txBox="1"/>
          <p:nvPr/>
        </p:nvSpPr>
        <p:spPr>
          <a:xfrm>
            <a:off x="563033" y="4767263"/>
            <a:ext cx="8017933" cy="246221"/>
          </a:xfrm>
          <a:prstGeom prst="rect">
            <a:avLst/>
          </a:prstGeom>
          <a:noFill/>
        </p:spPr>
        <p:txBody>
          <a:bodyPr wrap="square">
            <a:spAutoFit/>
          </a:bodyPr>
          <a:lstStyle/>
          <a:p>
            <a:r>
              <a:rPr lang="en-US" sz="100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[1.2.3]</a:t>
            </a:r>
            <a:r>
              <a:rPr lang="en-US"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Stokes, </a:t>
            </a:r>
            <a:r>
              <a:rPr lang="en-US"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J., Izaac, J., Killoran, N., &amp; Carleo, G. (2020). Quantum natural gradient.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Quantum</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4</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269.</a:t>
            </a:r>
            <a:endParaRPr lang="vi-VN" sz="10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3258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C6797-D8F6-FDC8-F672-DF6B121880C6}"/>
              </a:ext>
            </a:extLst>
          </p:cNvPr>
          <p:cNvSpPr>
            <a:spLocks noGrp="1"/>
          </p:cNvSpPr>
          <p:nvPr>
            <p:ph type="title"/>
          </p:nvPr>
        </p:nvSpPr>
        <p:spPr>
          <a:xfrm>
            <a:off x="628650" y="1994"/>
            <a:ext cx="6466417" cy="994172"/>
          </a:xfrm>
        </p:spPr>
        <p:txBody>
          <a:bodyPr/>
          <a:lstStyle/>
          <a:p>
            <a:r>
              <a:rPr lang="en-US"/>
              <a:t>1.3. Compilation</a:t>
            </a:r>
            <a:endParaRPr lang="vi-VN"/>
          </a:p>
        </p:txBody>
      </p:sp>
      <p:sp>
        <p:nvSpPr>
          <p:cNvPr id="4" name="Slide Number Placeholder 3">
            <a:extLst>
              <a:ext uri="{FF2B5EF4-FFF2-40B4-BE49-F238E27FC236}">
                <a16:creationId xmlns:a16="http://schemas.microsoft.com/office/drawing/2014/main" id="{DA6BD363-94A8-8648-B9B5-603741B1D256}"/>
              </a:ext>
            </a:extLst>
          </p:cNvPr>
          <p:cNvSpPr>
            <a:spLocks noGrp="1"/>
          </p:cNvSpPr>
          <p:nvPr>
            <p:ph type="sldNum" sz="quarter" idx="12"/>
          </p:nvPr>
        </p:nvSpPr>
        <p:spPr>
          <a:xfrm>
            <a:off x="6457950" y="4775503"/>
            <a:ext cx="2057400" cy="273844"/>
          </a:xfrm>
        </p:spPr>
        <p:txBody>
          <a:bodyPr/>
          <a:lstStyle/>
          <a:p>
            <a:fld id="{6A45828D-F580-42DE-B77E-860980F07F32}" type="slidenum">
              <a:rPr lang="vi-VN" smtClean="0"/>
              <a:t>11</a:t>
            </a:fld>
            <a:endParaRPr lang="vi-VN"/>
          </a:p>
        </p:txBody>
      </p:sp>
      <p:cxnSp>
        <p:nvCxnSpPr>
          <p:cNvPr id="5" name="Đường nối Thẳng 58">
            <a:extLst>
              <a:ext uri="{FF2B5EF4-FFF2-40B4-BE49-F238E27FC236}">
                <a16:creationId xmlns:a16="http://schemas.microsoft.com/office/drawing/2014/main" id="{C34A0BFE-6CC2-F760-EDC3-7804F73F1BC1}"/>
              </a:ext>
            </a:extLst>
          </p:cNvPr>
          <p:cNvCxnSpPr>
            <a:cxnSpLocks/>
          </p:cNvCxnSpPr>
          <p:nvPr/>
        </p:nvCxnSpPr>
        <p:spPr>
          <a:xfrm>
            <a:off x="738717" y="3027441"/>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 name="Đường nối Thẳng 59">
            <a:extLst>
              <a:ext uri="{FF2B5EF4-FFF2-40B4-BE49-F238E27FC236}">
                <a16:creationId xmlns:a16="http://schemas.microsoft.com/office/drawing/2014/main" id="{323088DF-16D8-39BD-EB4C-A0B0CC6EAF7F}"/>
              </a:ext>
            </a:extLst>
          </p:cNvPr>
          <p:cNvCxnSpPr>
            <a:cxnSpLocks/>
          </p:cNvCxnSpPr>
          <p:nvPr/>
        </p:nvCxnSpPr>
        <p:spPr>
          <a:xfrm>
            <a:off x="738717" y="3303666"/>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 name="Hình chữ nhật 63">
                <a:extLst>
                  <a:ext uri="{FF2B5EF4-FFF2-40B4-BE49-F238E27FC236}">
                    <a16:creationId xmlns:a16="http://schemas.microsoft.com/office/drawing/2014/main" id="{18BC964D-392B-0404-6AE3-44BF54D46DA3}"/>
                  </a:ext>
                </a:extLst>
              </p:cNvPr>
              <p:cNvSpPr/>
              <p:nvPr/>
            </p:nvSpPr>
            <p:spPr>
              <a:xfrm>
                <a:off x="857238" y="3185374"/>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7" name="Hình chữ nhật 63">
                <a:extLst>
                  <a:ext uri="{FF2B5EF4-FFF2-40B4-BE49-F238E27FC236}">
                    <a16:creationId xmlns:a16="http://schemas.microsoft.com/office/drawing/2014/main" id="{18BC964D-392B-0404-6AE3-44BF54D46DA3}"/>
                  </a:ext>
                </a:extLst>
              </p:cNvPr>
              <p:cNvSpPr>
                <a:spLocks noRot="1" noChangeAspect="1" noMove="1" noResize="1" noEditPoints="1" noAdjustHandles="1" noChangeArrowheads="1" noChangeShapeType="1" noTextEdit="1"/>
              </p:cNvSpPr>
              <p:nvPr/>
            </p:nvSpPr>
            <p:spPr>
              <a:xfrm>
                <a:off x="857238" y="3185374"/>
                <a:ext cx="299694" cy="255836"/>
              </a:xfrm>
              <a:prstGeom prst="rect">
                <a:avLst/>
              </a:prstGeom>
              <a:blipFill>
                <a:blip r:embed="rId2"/>
                <a:stretch>
                  <a:fillRect/>
                </a:stretch>
              </a:blipFill>
              <a:ln>
                <a:solidFill>
                  <a:schemeClr val="tx1"/>
                </a:solidFill>
              </a:ln>
            </p:spPr>
            <p:txBody>
              <a:bodyPr/>
              <a:lstStyle/>
              <a:p>
                <a:r>
                  <a:rPr lang="en-VN">
                    <a:noFill/>
                  </a:rPr>
                  <a:t> </a:t>
                </a:r>
              </a:p>
            </p:txBody>
          </p:sp>
        </mc:Fallback>
      </mc:AlternateContent>
      <p:cxnSp>
        <p:nvCxnSpPr>
          <p:cNvPr id="8" name="Đường nối Thẳng 64">
            <a:extLst>
              <a:ext uri="{FF2B5EF4-FFF2-40B4-BE49-F238E27FC236}">
                <a16:creationId xmlns:a16="http://schemas.microsoft.com/office/drawing/2014/main" id="{EC228728-DFC5-E9BF-0851-D0015CA5D5B9}"/>
              </a:ext>
            </a:extLst>
          </p:cNvPr>
          <p:cNvCxnSpPr>
            <a:cxnSpLocks/>
            <a:stCxn id="7" idx="0"/>
          </p:cNvCxnSpPr>
          <p:nvPr/>
        </p:nvCxnSpPr>
        <p:spPr>
          <a:xfrm flipV="1">
            <a:off x="1007085" y="3020755"/>
            <a:ext cx="0" cy="1646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9" name="Hình Bầu dục 65">
            <a:extLst>
              <a:ext uri="{FF2B5EF4-FFF2-40B4-BE49-F238E27FC236}">
                <a16:creationId xmlns:a16="http://schemas.microsoft.com/office/drawing/2014/main" id="{F6EC97EE-9518-BB04-6B1F-C2B2415EB31F}"/>
              </a:ext>
            </a:extLst>
          </p:cNvPr>
          <p:cNvSpPr/>
          <p:nvPr/>
        </p:nvSpPr>
        <p:spPr>
          <a:xfrm>
            <a:off x="960028" y="2980652"/>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10" name="Đường nối Thẳng 67">
            <a:extLst>
              <a:ext uri="{FF2B5EF4-FFF2-40B4-BE49-F238E27FC236}">
                <a16:creationId xmlns:a16="http://schemas.microsoft.com/office/drawing/2014/main" id="{F48E3992-7120-43F8-90D0-880517A5739F}"/>
              </a:ext>
            </a:extLst>
          </p:cNvPr>
          <p:cNvCxnSpPr>
            <a:cxnSpLocks/>
            <a:endCxn id="11" idx="4"/>
          </p:cNvCxnSpPr>
          <p:nvPr/>
        </p:nvCxnSpPr>
        <p:spPr>
          <a:xfrm flipV="1">
            <a:off x="1468592" y="3063531"/>
            <a:ext cx="0" cy="62113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1" name="Hình Bầu dục 68">
            <a:extLst>
              <a:ext uri="{FF2B5EF4-FFF2-40B4-BE49-F238E27FC236}">
                <a16:creationId xmlns:a16="http://schemas.microsoft.com/office/drawing/2014/main" id="{9F9D9B01-A89A-9397-28EF-E92342112A40}"/>
              </a:ext>
            </a:extLst>
          </p:cNvPr>
          <p:cNvSpPr/>
          <p:nvPr/>
        </p:nvSpPr>
        <p:spPr>
          <a:xfrm>
            <a:off x="1421534" y="2980652"/>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16" name="TextBox 15">
            <a:extLst>
              <a:ext uri="{FF2B5EF4-FFF2-40B4-BE49-F238E27FC236}">
                <a16:creationId xmlns:a16="http://schemas.microsoft.com/office/drawing/2014/main" id="{357CF10E-536F-1E49-A5C8-6CFFAFC97E96}"/>
              </a:ext>
            </a:extLst>
          </p:cNvPr>
          <p:cNvSpPr txBox="1"/>
          <p:nvPr/>
        </p:nvSpPr>
        <p:spPr>
          <a:xfrm>
            <a:off x="648910" y="745126"/>
            <a:ext cx="8660189" cy="369332"/>
          </a:xfrm>
          <a:prstGeom prst="rect">
            <a:avLst/>
          </a:prstGeom>
          <a:noFill/>
        </p:spPr>
        <p:txBody>
          <a:bodyPr wrap="square" rtlCol="0">
            <a:spAutoFit/>
          </a:bodyPr>
          <a:lstStyle/>
          <a:p>
            <a:r>
              <a:rPr lang="en-US"/>
              <a:t>There is a large gap between algorithms and set of instructions we can perform on real qc </a:t>
            </a:r>
          </a:p>
        </p:txBody>
      </p:sp>
      <p:cxnSp>
        <p:nvCxnSpPr>
          <p:cNvPr id="18" name="Straight Connector 17">
            <a:extLst>
              <a:ext uri="{FF2B5EF4-FFF2-40B4-BE49-F238E27FC236}">
                <a16:creationId xmlns:a16="http://schemas.microsoft.com/office/drawing/2014/main" id="{FB5AD53D-A571-DB37-F0E7-A429DDECEE43}"/>
              </a:ext>
            </a:extLst>
          </p:cNvPr>
          <p:cNvCxnSpPr>
            <a:cxnSpLocks/>
          </p:cNvCxnSpPr>
          <p:nvPr/>
        </p:nvCxnSpPr>
        <p:spPr>
          <a:xfrm flipH="1">
            <a:off x="4580920" y="1115781"/>
            <a:ext cx="1" cy="3482025"/>
          </a:xfrm>
          <a:prstGeom prst="line">
            <a:avLst/>
          </a:prstGeom>
          <a:ln w="12700"/>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2D6652B0-20E3-D250-8E69-750658795FFA}"/>
              </a:ext>
            </a:extLst>
          </p:cNvPr>
          <p:cNvSpPr txBox="1"/>
          <p:nvPr/>
        </p:nvSpPr>
        <p:spPr>
          <a:xfrm>
            <a:off x="648912" y="1118009"/>
            <a:ext cx="4016224" cy="646331"/>
          </a:xfrm>
          <a:prstGeom prst="rect">
            <a:avLst/>
          </a:prstGeom>
          <a:noFill/>
        </p:spPr>
        <p:txBody>
          <a:bodyPr wrap="square" rtlCol="0">
            <a:spAutoFit/>
          </a:bodyPr>
          <a:lstStyle/>
          <a:p>
            <a:r>
              <a:rPr lang="en-US" b="1"/>
              <a:t>Problem 1 (a)</a:t>
            </a:r>
            <a:r>
              <a:rPr lang="en-US"/>
              <a:t>: The native gate set is diff</a:t>
            </a:r>
          </a:p>
          <a:p>
            <a:endParaRPr lang="en-US"/>
          </a:p>
        </p:txBody>
      </p:sp>
      <p:sp>
        <p:nvSpPr>
          <p:cNvPr id="21" name="Rectangle 20">
            <a:extLst>
              <a:ext uri="{FF2B5EF4-FFF2-40B4-BE49-F238E27FC236}">
                <a16:creationId xmlns:a16="http://schemas.microsoft.com/office/drawing/2014/main" id="{B609D997-7159-A0CE-3AD7-AB8CC51A7395}"/>
              </a:ext>
            </a:extLst>
          </p:cNvPr>
          <p:cNvSpPr/>
          <p:nvPr/>
        </p:nvSpPr>
        <p:spPr>
          <a:xfrm>
            <a:off x="1490133" y="1522369"/>
            <a:ext cx="1883834" cy="3944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E0CDED-38F9-A84B-B08B-F655A5622E6A}"/>
                  </a:ext>
                </a:extLst>
              </p:cNvPr>
              <p:cNvSpPr txBox="1"/>
              <p:nvPr/>
            </p:nvSpPr>
            <p:spPr>
              <a:xfrm>
                <a:off x="628650" y="1511679"/>
                <a:ext cx="921958" cy="476284"/>
              </a:xfrm>
              <a:prstGeom prst="rect">
                <a:avLst/>
              </a:prstGeom>
              <a:noFill/>
            </p:spPr>
            <p:txBody>
              <a:bodyPr wrap="square">
                <a:spAutoFit/>
              </a:bodyPr>
              <a:lstStyle/>
              <a:p>
                <a:pPr marL="0" indent="0">
                  <a:buNone/>
                </a:pPr>
                <a:r>
                  <a:rPr lang="en-US" sz="1200">
                    <a:solidFill>
                      <a:srgbClr val="FF0000"/>
                    </a:solidFill>
                  </a:rPr>
                  <a:t>No </a:t>
                </a:r>
                <a14:m>
                  <m:oMath xmlns:m="http://schemas.openxmlformats.org/officeDocument/2006/math">
                    <m:r>
                      <a:rPr lang="en-US" sz="1200" i="1" smtClean="0">
                        <a:solidFill>
                          <a:srgbClr val="FF0000"/>
                        </a:solidFill>
                        <a:latin typeface="Cambria Math" panose="02040503050406030204" pitchFamily="18" charset="0"/>
                      </a:rPr>
                      <m:t>𝐶𝑋</m:t>
                    </m:r>
                    <m:r>
                      <a:rPr lang="en-US" sz="1200" i="1" smtClean="0">
                        <a:solidFill>
                          <a:srgbClr val="FF0000"/>
                        </a:solidFill>
                        <a:latin typeface="Cambria Math" panose="02040503050406030204" pitchFamily="18" charset="0"/>
                      </a:rPr>
                      <m:t>, </m:t>
                    </m:r>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𝑅</m:t>
                        </m:r>
                      </m:e>
                      <m:sub>
                        <m:r>
                          <a:rPr lang="en-US" sz="1200" b="0" i="1" smtClean="0">
                            <a:solidFill>
                              <a:srgbClr val="FF0000"/>
                            </a:solidFill>
                            <a:latin typeface="Cambria Math" panose="02040503050406030204" pitchFamily="18" charset="0"/>
                          </a:rPr>
                          <m:t>𝑋</m:t>
                        </m:r>
                      </m:sub>
                    </m:sSub>
                  </m:oMath>
                </a14:m>
                <a:r>
                  <a:rPr lang="en-US" sz="1200">
                    <a:solidFill>
                      <a:srgbClr val="FF0000"/>
                    </a:solidFill>
                  </a:rPr>
                  <a:t> or </a:t>
                </a:r>
                <a14:m>
                  <m:oMath xmlns:m="http://schemas.openxmlformats.org/officeDocument/2006/math">
                    <m:r>
                      <a:rPr lang="en-US" sz="1200" i="1" smtClean="0">
                        <a:solidFill>
                          <a:srgbClr val="FF0000"/>
                        </a:solidFill>
                        <a:latin typeface="Cambria Math" panose="02040503050406030204" pitchFamily="18" charset="0"/>
                      </a:rPr>
                      <m:t>𝐶</m:t>
                    </m:r>
                    <m:sSub>
                      <m:sSubPr>
                        <m:ctrlPr>
                          <a:rPr lang="en-US" sz="1200" i="1" smtClean="0">
                            <a:solidFill>
                              <a:srgbClr val="FF0000"/>
                            </a:solidFill>
                            <a:latin typeface="Cambria Math" panose="02040503050406030204" pitchFamily="18" charset="0"/>
                          </a:rPr>
                        </m:ctrlPr>
                      </m:sSubPr>
                      <m:e>
                        <m:r>
                          <a:rPr lang="en-US" sz="1200" i="1" smtClean="0">
                            <a:solidFill>
                              <a:srgbClr val="FF0000"/>
                            </a:solidFill>
                            <a:latin typeface="Cambria Math" panose="02040503050406030204" pitchFamily="18" charset="0"/>
                          </a:rPr>
                          <m:t>𝑅</m:t>
                        </m:r>
                      </m:e>
                      <m:sub>
                        <m:r>
                          <a:rPr lang="en-US" sz="1200" b="0" i="1" smtClean="0">
                            <a:solidFill>
                              <a:srgbClr val="FF0000"/>
                            </a:solidFill>
                            <a:latin typeface="Cambria Math" panose="02040503050406030204" pitchFamily="18" charset="0"/>
                          </a:rPr>
                          <m:t>𝑌</m:t>
                        </m:r>
                      </m:sub>
                    </m:sSub>
                  </m:oMath>
                </a14:m>
                <a:endParaRPr lang="en-US" sz="1200">
                  <a:solidFill>
                    <a:srgbClr val="FF0000"/>
                  </a:solidFill>
                </a:endParaRPr>
              </a:p>
            </p:txBody>
          </p:sp>
        </mc:Choice>
        <mc:Fallback xmlns="">
          <p:sp>
            <p:nvSpPr>
              <p:cNvPr id="22" name="TextBox 21">
                <a:extLst>
                  <a:ext uri="{FF2B5EF4-FFF2-40B4-BE49-F238E27FC236}">
                    <a16:creationId xmlns:a16="http://schemas.microsoft.com/office/drawing/2014/main" id="{1FE0CDED-38F9-A84B-B08B-F655A5622E6A}"/>
                  </a:ext>
                </a:extLst>
              </p:cNvPr>
              <p:cNvSpPr txBox="1">
                <a:spLocks noRot="1" noChangeAspect="1" noMove="1" noResize="1" noEditPoints="1" noAdjustHandles="1" noChangeArrowheads="1" noChangeShapeType="1" noTextEdit="1"/>
              </p:cNvSpPr>
              <p:nvPr/>
            </p:nvSpPr>
            <p:spPr>
              <a:xfrm>
                <a:off x="628650" y="1511679"/>
                <a:ext cx="921958" cy="476284"/>
              </a:xfrm>
              <a:prstGeom prst="rect">
                <a:avLst/>
              </a:prstGeom>
              <a:blipFill>
                <a:blip r:embed="rId3"/>
                <a:stretch>
                  <a:fillRect b="-5263"/>
                </a:stretch>
              </a:blipFill>
            </p:spPr>
            <p:txBody>
              <a:bodyPr/>
              <a:lstStyle/>
              <a:p>
                <a:r>
                  <a:rPr lang="en-VN">
                    <a:noFill/>
                  </a:rPr>
                  <a:t> </a:t>
                </a:r>
              </a:p>
            </p:txBody>
          </p:sp>
        </mc:Fallback>
      </mc:AlternateContent>
      <p:sp>
        <p:nvSpPr>
          <p:cNvPr id="23" name="TextBox 22">
            <a:extLst>
              <a:ext uri="{FF2B5EF4-FFF2-40B4-BE49-F238E27FC236}">
                <a16:creationId xmlns:a16="http://schemas.microsoft.com/office/drawing/2014/main" id="{DC14558C-A4FE-8978-F715-AAA8B1D0CB26}"/>
              </a:ext>
            </a:extLst>
          </p:cNvPr>
          <p:cNvSpPr txBox="1"/>
          <p:nvPr/>
        </p:nvSpPr>
        <p:spPr>
          <a:xfrm>
            <a:off x="628651" y="2536282"/>
            <a:ext cx="3363382" cy="369332"/>
          </a:xfrm>
          <a:prstGeom prst="rect">
            <a:avLst/>
          </a:prstGeom>
          <a:noFill/>
        </p:spPr>
        <p:txBody>
          <a:bodyPr wrap="square" rtlCol="0">
            <a:spAutoFit/>
          </a:bodyPr>
          <a:lstStyle/>
          <a:p>
            <a:r>
              <a:rPr lang="en-US"/>
              <a:t>If we have this example circuit:</a:t>
            </a:r>
          </a:p>
        </p:txBody>
      </p:sp>
      <p:sp>
        <p:nvSpPr>
          <p:cNvPr id="24" name="TextBox 23">
            <a:extLst>
              <a:ext uri="{FF2B5EF4-FFF2-40B4-BE49-F238E27FC236}">
                <a16:creationId xmlns:a16="http://schemas.microsoft.com/office/drawing/2014/main" id="{3B03600A-E7CA-33DF-D792-9E337ECE7756}"/>
              </a:ext>
            </a:extLst>
          </p:cNvPr>
          <p:cNvSpPr txBox="1"/>
          <p:nvPr/>
        </p:nvSpPr>
        <p:spPr>
          <a:xfrm>
            <a:off x="3426884" y="1402199"/>
            <a:ext cx="936702" cy="646331"/>
          </a:xfrm>
          <a:prstGeom prst="rect">
            <a:avLst/>
          </a:prstGeom>
          <a:noFill/>
        </p:spPr>
        <p:txBody>
          <a:bodyPr wrap="square" rtlCol="0">
            <a:spAutoFit/>
          </a:bodyPr>
          <a:lstStyle/>
          <a:p>
            <a:r>
              <a:rPr lang="en-US">
                <a:solidFill>
                  <a:srgbClr val="FF0000"/>
                </a:solidFill>
              </a:rPr>
              <a:t>IBM series</a:t>
            </a:r>
          </a:p>
        </p:txBody>
      </p:sp>
      <p:sp>
        <p:nvSpPr>
          <p:cNvPr id="25" name="Rectangle 24">
            <a:extLst>
              <a:ext uri="{FF2B5EF4-FFF2-40B4-BE49-F238E27FC236}">
                <a16:creationId xmlns:a16="http://schemas.microsoft.com/office/drawing/2014/main" id="{8CE95A80-6DD9-A30C-D8DB-637666E90DB0}"/>
              </a:ext>
            </a:extLst>
          </p:cNvPr>
          <p:cNvSpPr/>
          <p:nvPr/>
        </p:nvSpPr>
        <p:spPr>
          <a:xfrm>
            <a:off x="1490133" y="2066826"/>
            <a:ext cx="1883834" cy="3944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60E6A8A-286C-8482-5AD4-C665F9B7065B}"/>
                  </a:ext>
                </a:extLst>
              </p:cNvPr>
              <p:cNvSpPr txBox="1"/>
              <p:nvPr/>
            </p:nvSpPr>
            <p:spPr>
              <a:xfrm>
                <a:off x="628650" y="2056136"/>
                <a:ext cx="921958" cy="476284"/>
              </a:xfrm>
              <a:prstGeom prst="rect">
                <a:avLst/>
              </a:prstGeom>
              <a:noFill/>
            </p:spPr>
            <p:txBody>
              <a:bodyPr wrap="square">
                <a:spAutoFit/>
              </a:bodyPr>
              <a:lstStyle/>
              <a:p>
                <a:pPr marL="0" indent="0">
                  <a:buNone/>
                </a:pPr>
                <a:r>
                  <a:rPr lang="en-US" sz="1200">
                    <a:solidFill>
                      <a:srgbClr val="FF0000"/>
                    </a:solidFill>
                  </a:rPr>
                  <a:t>No </a:t>
                </a:r>
                <a14:m>
                  <m:oMath xmlns:m="http://schemas.openxmlformats.org/officeDocument/2006/math">
                    <m:r>
                      <a:rPr lang="en-US" sz="1200" i="1" smtClean="0">
                        <a:solidFill>
                          <a:srgbClr val="FF0000"/>
                        </a:solidFill>
                        <a:latin typeface="Cambria Math" panose="02040503050406030204" pitchFamily="18" charset="0"/>
                      </a:rPr>
                      <m:t>𝐶𝑋</m:t>
                    </m:r>
                    <m:r>
                      <a:rPr lang="en-US" sz="1200" i="1" smtClean="0">
                        <a:solidFill>
                          <a:srgbClr val="FF0000"/>
                        </a:solidFill>
                        <a:latin typeface="Cambria Math" panose="02040503050406030204" pitchFamily="18" charset="0"/>
                      </a:rPr>
                      <m:t>, </m:t>
                    </m:r>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𝑅</m:t>
                        </m:r>
                      </m:e>
                      <m:sub>
                        <m:r>
                          <a:rPr lang="en-US" sz="1200" b="0" i="1" smtClean="0">
                            <a:solidFill>
                              <a:srgbClr val="FF0000"/>
                            </a:solidFill>
                            <a:latin typeface="Cambria Math" panose="02040503050406030204" pitchFamily="18" charset="0"/>
                          </a:rPr>
                          <m:t>𝑌</m:t>
                        </m:r>
                      </m:sub>
                    </m:sSub>
                  </m:oMath>
                </a14:m>
                <a:r>
                  <a:rPr lang="en-US" sz="1200">
                    <a:solidFill>
                      <a:srgbClr val="FF0000"/>
                    </a:solidFill>
                  </a:rPr>
                  <a:t> or </a:t>
                </a:r>
                <a14:m>
                  <m:oMath xmlns:m="http://schemas.openxmlformats.org/officeDocument/2006/math">
                    <m:r>
                      <a:rPr lang="en-US" sz="1200" i="1" smtClean="0">
                        <a:solidFill>
                          <a:srgbClr val="FF0000"/>
                        </a:solidFill>
                        <a:latin typeface="Cambria Math" panose="02040503050406030204" pitchFamily="18" charset="0"/>
                      </a:rPr>
                      <m:t>𝐶</m:t>
                    </m:r>
                    <m:sSub>
                      <m:sSubPr>
                        <m:ctrlPr>
                          <a:rPr lang="en-US" sz="1200" i="1" smtClean="0">
                            <a:solidFill>
                              <a:srgbClr val="FF0000"/>
                            </a:solidFill>
                            <a:latin typeface="Cambria Math" panose="02040503050406030204" pitchFamily="18" charset="0"/>
                          </a:rPr>
                        </m:ctrlPr>
                      </m:sSubPr>
                      <m:e>
                        <m:r>
                          <a:rPr lang="en-US" sz="1200" i="1" smtClean="0">
                            <a:solidFill>
                              <a:srgbClr val="FF0000"/>
                            </a:solidFill>
                            <a:latin typeface="Cambria Math" panose="02040503050406030204" pitchFamily="18" charset="0"/>
                          </a:rPr>
                          <m:t>𝑅</m:t>
                        </m:r>
                      </m:e>
                      <m:sub>
                        <m:r>
                          <a:rPr lang="en-US" sz="1200" b="0" i="1" smtClean="0">
                            <a:solidFill>
                              <a:srgbClr val="FF0000"/>
                            </a:solidFill>
                            <a:latin typeface="Cambria Math" panose="02040503050406030204" pitchFamily="18" charset="0"/>
                          </a:rPr>
                          <m:t>𝑌</m:t>
                        </m:r>
                      </m:sub>
                    </m:sSub>
                  </m:oMath>
                </a14:m>
                <a:endParaRPr lang="en-US" sz="1200">
                  <a:solidFill>
                    <a:srgbClr val="FF0000"/>
                  </a:solidFill>
                </a:endParaRPr>
              </a:p>
            </p:txBody>
          </p:sp>
        </mc:Choice>
        <mc:Fallback xmlns="">
          <p:sp>
            <p:nvSpPr>
              <p:cNvPr id="26" name="TextBox 25">
                <a:extLst>
                  <a:ext uri="{FF2B5EF4-FFF2-40B4-BE49-F238E27FC236}">
                    <a16:creationId xmlns:a16="http://schemas.microsoft.com/office/drawing/2014/main" id="{460E6A8A-286C-8482-5AD4-C665F9B7065B}"/>
                  </a:ext>
                </a:extLst>
              </p:cNvPr>
              <p:cNvSpPr txBox="1">
                <a:spLocks noRot="1" noChangeAspect="1" noMove="1" noResize="1" noEditPoints="1" noAdjustHandles="1" noChangeArrowheads="1" noChangeShapeType="1" noTextEdit="1"/>
              </p:cNvSpPr>
              <p:nvPr/>
            </p:nvSpPr>
            <p:spPr>
              <a:xfrm>
                <a:off x="628650" y="2056136"/>
                <a:ext cx="921958" cy="476284"/>
              </a:xfrm>
              <a:prstGeom prst="rect">
                <a:avLst/>
              </a:prstGeom>
              <a:blipFill>
                <a:blip r:embed="rId4"/>
                <a:stretch>
                  <a:fillRect b="-5128"/>
                </a:stretch>
              </a:blipFill>
            </p:spPr>
            <p:txBody>
              <a:bodyPr/>
              <a:lstStyle/>
              <a:p>
                <a:r>
                  <a:rPr lang="en-VN">
                    <a:noFill/>
                  </a:rPr>
                  <a:t> </a:t>
                </a:r>
              </a:p>
            </p:txBody>
          </p:sp>
        </mc:Fallback>
      </mc:AlternateContent>
      <p:sp>
        <p:nvSpPr>
          <p:cNvPr id="27" name="TextBox 26">
            <a:extLst>
              <a:ext uri="{FF2B5EF4-FFF2-40B4-BE49-F238E27FC236}">
                <a16:creationId xmlns:a16="http://schemas.microsoft.com/office/drawing/2014/main" id="{F74D0415-87A0-D7C2-9EE3-5645D95BC5B9}"/>
              </a:ext>
            </a:extLst>
          </p:cNvPr>
          <p:cNvSpPr txBox="1"/>
          <p:nvPr/>
        </p:nvSpPr>
        <p:spPr>
          <a:xfrm>
            <a:off x="3426883" y="1946656"/>
            <a:ext cx="1051983" cy="646331"/>
          </a:xfrm>
          <a:prstGeom prst="rect">
            <a:avLst/>
          </a:prstGeom>
          <a:noFill/>
        </p:spPr>
        <p:txBody>
          <a:bodyPr wrap="square" rtlCol="0">
            <a:spAutoFit/>
          </a:bodyPr>
          <a:lstStyle/>
          <a:p>
            <a:r>
              <a:rPr lang="en-US">
                <a:solidFill>
                  <a:srgbClr val="FF0000"/>
                </a:solidFill>
              </a:rPr>
              <a:t>Rigetti Ankaa-3</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66C556E-6EF4-D5AB-DF36-5FEF142234F7}"/>
                  </a:ext>
                </a:extLst>
              </p:cNvPr>
              <p:cNvSpPr txBox="1"/>
              <p:nvPr/>
            </p:nvSpPr>
            <p:spPr>
              <a:xfrm>
                <a:off x="1289050" y="2062964"/>
                <a:ext cx="21660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0A0A0A"/>
                          </a:solidFill>
                          <a:effectLst/>
                          <a:latin typeface="Cambria Math" panose="02040503050406030204" pitchFamily="18" charset="0"/>
                        </a:rPr>
                        <m:t>{</m:t>
                      </m:r>
                      <m:sSub>
                        <m:sSubPr>
                          <m:ctrlPr>
                            <a:rPr lang="en-US" b="0" i="1" smtClean="0">
                              <a:solidFill>
                                <a:srgbClr val="0A0A0A"/>
                              </a:solidFill>
                              <a:effectLst/>
                              <a:latin typeface="Cambria Math" panose="02040503050406030204" pitchFamily="18" charset="0"/>
                            </a:rPr>
                          </m:ctrlPr>
                        </m:sSubPr>
                        <m:e>
                          <m:r>
                            <a:rPr lang="en-US" b="0" i="1" smtClean="0">
                              <a:solidFill>
                                <a:srgbClr val="0A0A0A"/>
                              </a:solidFill>
                              <a:effectLst/>
                              <a:latin typeface="Cambria Math" panose="02040503050406030204" pitchFamily="18" charset="0"/>
                            </a:rPr>
                            <m:t>𝑅</m:t>
                          </m:r>
                        </m:e>
                        <m:sub>
                          <m:r>
                            <a:rPr lang="en-US" b="0" i="1" smtClean="0">
                              <a:solidFill>
                                <a:srgbClr val="0A0A0A"/>
                              </a:solidFill>
                              <a:effectLst/>
                              <a:latin typeface="Cambria Math" panose="02040503050406030204" pitchFamily="18" charset="0"/>
                            </a:rPr>
                            <m:t>𝑋</m:t>
                          </m:r>
                        </m:sub>
                      </m:sSub>
                      <m:r>
                        <a:rPr lang="en-US" b="0" i="1" smtClean="0">
                          <a:solidFill>
                            <a:srgbClr val="0A0A0A"/>
                          </a:solidFill>
                          <a:effectLst/>
                          <a:latin typeface="Cambria Math" panose="02040503050406030204" pitchFamily="18" charset="0"/>
                        </a:rPr>
                        <m:t>,</m:t>
                      </m:r>
                      <m:sSub>
                        <m:sSubPr>
                          <m:ctrlPr>
                            <a:rPr lang="en-US" b="0" i="1" smtClean="0">
                              <a:solidFill>
                                <a:srgbClr val="0A0A0A"/>
                              </a:solidFill>
                              <a:effectLst/>
                              <a:latin typeface="Cambria Math" panose="02040503050406030204" pitchFamily="18" charset="0"/>
                            </a:rPr>
                          </m:ctrlPr>
                        </m:sSubPr>
                        <m:e>
                          <m:r>
                            <a:rPr lang="pl-PL" b="0" i="1" smtClean="0">
                              <a:solidFill>
                                <a:srgbClr val="0A0A0A"/>
                              </a:solidFill>
                              <a:effectLst/>
                              <a:latin typeface="Cambria Math" panose="02040503050406030204" pitchFamily="18" charset="0"/>
                            </a:rPr>
                            <m:t>𝑅</m:t>
                          </m:r>
                        </m:e>
                        <m:sub>
                          <m:r>
                            <a:rPr lang="pl-PL" b="0" i="1" smtClean="0">
                              <a:solidFill>
                                <a:srgbClr val="0A0A0A"/>
                              </a:solidFill>
                              <a:effectLst/>
                              <a:latin typeface="Cambria Math" panose="02040503050406030204" pitchFamily="18" charset="0"/>
                            </a:rPr>
                            <m:t>𝑍</m:t>
                          </m:r>
                        </m:sub>
                      </m:sSub>
                      <m:r>
                        <a:rPr lang="pl-PL" b="0" i="1" smtClean="0">
                          <a:solidFill>
                            <a:srgbClr val="0A0A0A"/>
                          </a:solidFill>
                          <a:effectLst/>
                          <a:latin typeface="Cambria Math" panose="02040503050406030204" pitchFamily="18" charset="0"/>
                        </a:rPr>
                        <m:t>, </m:t>
                      </m:r>
                      <m:r>
                        <a:rPr lang="en-US" b="0" i="1" smtClean="0">
                          <a:solidFill>
                            <a:srgbClr val="0A0A0A"/>
                          </a:solidFill>
                          <a:effectLst/>
                          <a:latin typeface="Cambria Math" panose="02040503050406030204" pitchFamily="18" charset="0"/>
                        </a:rPr>
                        <m:t>𝐼𝑆𝑊𝐴𝑃</m:t>
                      </m:r>
                      <m:r>
                        <a:rPr lang="en-US" b="0" i="1" smtClean="0">
                          <a:solidFill>
                            <a:srgbClr val="0A0A0A"/>
                          </a:solidFill>
                          <a:effectLst/>
                          <a:latin typeface="Cambria Math" panose="02040503050406030204" pitchFamily="18" charset="0"/>
                        </a:rPr>
                        <m:t>}</m:t>
                      </m:r>
                    </m:oMath>
                  </m:oMathPara>
                </a14:m>
                <a:endParaRPr lang="en-US"/>
              </a:p>
            </p:txBody>
          </p:sp>
        </mc:Choice>
        <mc:Fallback xmlns="">
          <p:sp>
            <p:nvSpPr>
              <p:cNvPr id="29" name="TextBox 28">
                <a:extLst>
                  <a:ext uri="{FF2B5EF4-FFF2-40B4-BE49-F238E27FC236}">
                    <a16:creationId xmlns:a16="http://schemas.microsoft.com/office/drawing/2014/main" id="{766C556E-6EF4-D5AB-DF36-5FEF142234F7}"/>
                  </a:ext>
                </a:extLst>
              </p:cNvPr>
              <p:cNvSpPr txBox="1">
                <a:spLocks noRot="1" noChangeAspect="1" noMove="1" noResize="1" noEditPoints="1" noAdjustHandles="1" noChangeArrowheads="1" noChangeShapeType="1" noTextEdit="1"/>
              </p:cNvSpPr>
              <p:nvPr/>
            </p:nvSpPr>
            <p:spPr>
              <a:xfrm>
                <a:off x="1289050" y="2062964"/>
                <a:ext cx="2166025" cy="369332"/>
              </a:xfrm>
              <a:prstGeom prst="rect">
                <a:avLst/>
              </a:prstGeom>
              <a:blipFill>
                <a:blip r:embed="rId5"/>
                <a:stretch>
                  <a:fillRect b="-13333"/>
                </a:stretch>
              </a:blipFill>
            </p:spPr>
            <p:txBody>
              <a:bodyPr/>
              <a:lstStyle/>
              <a:p>
                <a:r>
                  <a:rPr lang="en-VN">
                    <a:noFill/>
                  </a:rPr>
                  <a:t> </a:t>
                </a:r>
              </a:p>
            </p:txBody>
          </p:sp>
        </mc:Fallback>
      </mc:AlternateContent>
      <p:cxnSp>
        <p:nvCxnSpPr>
          <p:cNvPr id="30" name="Đường nối Thẳng 59">
            <a:extLst>
              <a:ext uri="{FF2B5EF4-FFF2-40B4-BE49-F238E27FC236}">
                <a16:creationId xmlns:a16="http://schemas.microsoft.com/office/drawing/2014/main" id="{C30245FA-BF22-FADD-AD24-416E6CD683BC}"/>
              </a:ext>
            </a:extLst>
          </p:cNvPr>
          <p:cNvCxnSpPr>
            <a:cxnSpLocks/>
          </p:cNvCxnSpPr>
          <p:nvPr/>
        </p:nvCxnSpPr>
        <p:spPr>
          <a:xfrm>
            <a:off x="738717" y="3684666"/>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 name="Hình chữ nhật 63">
                <a:extLst>
                  <a:ext uri="{FF2B5EF4-FFF2-40B4-BE49-F238E27FC236}">
                    <a16:creationId xmlns:a16="http://schemas.microsoft.com/office/drawing/2014/main" id="{EAD635B6-2D06-C939-C76B-46DD377A6E64}"/>
                  </a:ext>
                </a:extLst>
              </p:cNvPr>
              <p:cNvSpPr/>
              <p:nvPr/>
            </p:nvSpPr>
            <p:spPr>
              <a:xfrm>
                <a:off x="1750643" y="2920048"/>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r>
                        <a:rPr lang="en-US" sz="1200" b="0" i="1" smtClean="0">
                          <a:solidFill>
                            <a:schemeClr val="tx1"/>
                          </a:solidFill>
                          <a:latin typeface="Cambria Math" panose="02040503050406030204" pitchFamily="18" charset="0"/>
                          <a:cs typeface="Times New Roman" panose="02020603050405020304" pitchFamily="18" charset="0"/>
                        </a:rPr>
                        <m:t>𝐻</m:t>
                      </m:r>
                    </m:oMath>
                  </m:oMathPara>
                </a14:m>
                <a:endParaRPr lang="vi-VN" sz="1200" i="1">
                  <a:solidFill>
                    <a:schemeClr val="tx1"/>
                  </a:solidFill>
                  <a:latin typeface="+mj-lt"/>
                  <a:cs typeface="Times New Roman" panose="02020603050405020304" pitchFamily="18" charset="0"/>
                </a:endParaRPr>
              </a:p>
            </p:txBody>
          </p:sp>
        </mc:Choice>
        <mc:Fallback xmlns="">
          <p:sp>
            <p:nvSpPr>
              <p:cNvPr id="31" name="Hình chữ nhật 63">
                <a:extLst>
                  <a:ext uri="{FF2B5EF4-FFF2-40B4-BE49-F238E27FC236}">
                    <a16:creationId xmlns:a16="http://schemas.microsoft.com/office/drawing/2014/main" id="{EAD635B6-2D06-C939-C76B-46DD377A6E64}"/>
                  </a:ext>
                </a:extLst>
              </p:cNvPr>
              <p:cNvSpPr>
                <a:spLocks noRot="1" noChangeAspect="1" noMove="1" noResize="1" noEditPoints="1" noAdjustHandles="1" noChangeArrowheads="1" noChangeShapeType="1" noTextEdit="1"/>
              </p:cNvSpPr>
              <p:nvPr/>
            </p:nvSpPr>
            <p:spPr>
              <a:xfrm>
                <a:off x="1750643" y="2920048"/>
                <a:ext cx="299694" cy="255836"/>
              </a:xfrm>
              <a:prstGeom prst="rect">
                <a:avLst/>
              </a:prstGeom>
              <a:blipFill>
                <a:blip r:embed="rId6"/>
                <a:stretch>
                  <a:fillRect/>
                </a:stretch>
              </a:blipFill>
              <a:ln>
                <a:solidFill>
                  <a:schemeClr val="tx1"/>
                </a:solidFill>
              </a:ln>
            </p:spPr>
            <p:txBody>
              <a:bodyPr/>
              <a:lstStyle/>
              <a:p>
                <a:r>
                  <a:rPr lang="en-VN">
                    <a:noFill/>
                  </a:rPr>
                  <a:t> </a:t>
                </a:r>
              </a:p>
            </p:txBody>
          </p:sp>
        </mc:Fallback>
      </mc:AlternateContent>
      <p:sp>
        <p:nvSpPr>
          <p:cNvPr id="33" name="Hình Bầu dục 68">
            <a:extLst>
              <a:ext uri="{FF2B5EF4-FFF2-40B4-BE49-F238E27FC236}">
                <a16:creationId xmlns:a16="http://schemas.microsoft.com/office/drawing/2014/main" id="{F46EC138-059C-6B73-D440-BA71AF012DE1}"/>
              </a:ext>
            </a:extLst>
          </p:cNvPr>
          <p:cNvSpPr/>
          <p:nvPr/>
        </p:nvSpPr>
        <p:spPr>
          <a:xfrm>
            <a:off x="1421534" y="3639058"/>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4" name="TextBox 33">
            <a:extLst>
              <a:ext uri="{FF2B5EF4-FFF2-40B4-BE49-F238E27FC236}">
                <a16:creationId xmlns:a16="http://schemas.microsoft.com/office/drawing/2014/main" id="{2343F6F9-7B8A-56AF-D4B5-384DBA8E72A6}"/>
              </a:ext>
            </a:extLst>
          </p:cNvPr>
          <p:cNvSpPr txBox="1"/>
          <p:nvPr/>
        </p:nvSpPr>
        <p:spPr>
          <a:xfrm>
            <a:off x="1655322" y="3269726"/>
            <a:ext cx="455440" cy="369332"/>
          </a:xfrm>
          <a:prstGeom prst="rect">
            <a:avLst/>
          </a:prstGeom>
          <a:noFill/>
        </p:spPr>
        <p:txBody>
          <a:bodyPr wrap="square" rtlCol="0">
            <a:spAutoFit/>
          </a:bodyPr>
          <a:lstStyle/>
          <a:p>
            <a:r>
              <a:rPr lang="en-US"/>
              <a:t>...</a:t>
            </a:r>
          </a:p>
        </p:txBody>
      </p:sp>
      <mc:AlternateContent xmlns:mc="http://schemas.openxmlformats.org/markup-compatibility/2006" xmlns:a14="http://schemas.microsoft.com/office/drawing/2010/main">
        <mc:Choice Requires="a14">
          <p:sp>
            <p:nvSpPr>
              <p:cNvPr id="35" name="Hình chữ nhật 93">
                <a:extLst>
                  <a:ext uri="{FF2B5EF4-FFF2-40B4-BE49-F238E27FC236}">
                    <a16:creationId xmlns:a16="http://schemas.microsoft.com/office/drawing/2014/main" id="{D9EAAADE-1783-335B-0045-864C88378BBE}"/>
                  </a:ext>
                </a:extLst>
              </p:cNvPr>
              <p:cNvSpPr/>
              <p:nvPr/>
            </p:nvSpPr>
            <p:spPr>
              <a:xfrm>
                <a:off x="2776377" y="3090027"/>
                <a:ext cx="968168" cy="5569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2800" b="0" i="1" smtClean="0">
                              <a:solidFill>
                                <a:schemeClr val="tx1"/>
                              </a:solidFill>
                              <a:latin typeface="Cambria Math" panose="02040503050406030204" pitchFamily="18" charset="0"/>
                              <a:cs typeface="Times New Roman" panose="02020603050405020304" pitchFamily="18" charset="0"/>
                            </a:rPr>
                          </m:ctrlPr>
                        </m:sSubPr>
                        <m:e>
                          <m:r>
                            <a:rPr lang="en-US" sz="2800" b="0" i="1" smtClean="0">
                              <a:solidFill>
                                <a:schemeClr val="tx1"/>
                              </a:solidFill>
                              <a:latin typeface="Cambria Math" panose="02040503050406030204" pitchFamily="18" charset="0"/>
                              <a:cs typeface="Times New Roman" panose="02020603050405020304" pitchFamily="18" charset="0"/>
                            </a:rPr>
                            <m:t>   </m:t>
                          </m:r>
                          <m:r>
                            <a:rPr lang="en-US" sz="2800" b="0" i="1" smtClean="0">
                              <a:solidFill>
                                <a:schemeClr val="tx1"/>
                              </a:solidFill>
                              <a:latin typeface="Cambria Math" panose="02040503050406030204" pitchFamily="18" charset="0"/>
                              <a:cs typeface="Times New Roman" panose="02020603050405020304" pitchFamily="18" charset="0"/>
                            </a:rPr>
                            <m:t>𝑈</m:t>
                          </m:r>
                        </m:e>
                        <m:sub>
                          <m:r>
                            <a:rPr lang="en-US" sz="2800" b="0" i="1" smtClean="0">
                              <a:solidFill>
                                <a:schemeClr val="tx1"/>
                              </a:solidFill>
                              <a:latin typeface="Cambria Math" panose="02040503050406030204" pitchFamily="18" charset="0"/>
                              <a:cs typeface="Times New Roman" panose="02020603050405020304" pitchFamily="18" charset="0"/>
                            </a:rPr>
                            <m:t>{</m:t>
                          </m:r>
                          <m:r>
                            <a:rPr lang="en-US" sz="2800" b="1" i="1" smtClean="0">
                              <a:solidFill>
                                <a:schemeClr val="tx1"/>
                              </a:solidFill>
                              <a:latin typeface="Cambria Math" panose="02040503050406030204" pitchFamily="18" charset="0"/>
                              <a:cs typeface="Times New Roman" panose="02020603050405020304" pitchFamily="18" charset="0"/>
                            </a:rPr>
                            <m:t>𝒖</m:t>
                          </m:r>
                          <m:r>
                            <a:rPr lang="en-US" sz="2800" b="0" i="1" smtClean="0">
                              <a:solidFill>
                                <a:schemeClr val="tx1"/>
                              </a:solidFill>
                              <a:latin typeface="Cambria Math" panose="02040503050406030204" pitchFamily="18" charset="0"/>
                              <a:cs typeface="Times New Roman" panose="02020603050405020304" pitchFamily="18" charset="0"/>
                            </a:rPr>
                            <m:t>}</m:t>
                          </m:r>
                        </m:sub>
                      </m:sSub>
                    </m:oMath>
                  </m:oMathPara>
                </a14:m>
                <a:endParaRPr lang="vi-VN" sz="2800">
                  <a:solidFill>
                    <a:schemeClr val="tx1"/>
                  </a:solidFill>
                  <a:latin typeface="+mj-lt"/>
                  <a:cs typeface="Times New Roman" panose="02020603050405020304" pitchFamily="18" charset="0"/>
                </a:endParaRPr>
              </a:p>
            </p:txBody>
          </p:sp>
        </mc:Choice>
        <mc:Fallback xmlns="">
          <p:sp>
            <p:nvSpPr>
              <p:cNvPr id="35" name="Hình chữ nhật 93">
                <a:extLst>
                  <a:ext uri="{FF2B5EF4-FFF2-40B4-BE49-F238E27FC236}">
                    <a16:creationId xmlns:a16="http://schemas.microsoft.com/office/drawing/2014/main" id="{D9EAAADE-1783-335B-0045-864C88378BBE}"/>
                  </a:ext>
                </a:extLst>
              </p:cNvPr>
              <p:cNvSpPr>
                <a:spLocks noRot="1" noChangeAspect="1" noMove="1" noResize="1" noEditPoints="1" noAdjustHandles="1" noChangeArrowheads="1" noChangeShapeType="1" noTextEdit="1"/>
              </p:cNvSpPr>
              <p:nvPr/>
            </p:nvSpPr>
            <p:spPr>
              <a:xfrm>
                <a:off x="2776377" y="3090027"/>
                <a:ext cx="968168" cy="556938"/>
              </a:xfrm>
              <a:prstGeom prst="rect">
                <a:avLst/>
              </a:prstGeom>
              <a:blipFill>
                <a:blip r:embed="rId7"/>
                <a:stretch>
                  <a:fillRect l="-15190" b="-1521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970C91D7-5D0D-C08E-0CB3-3E6C9C6923F9}"/>
                  </a:ext>
                </a:extLst>
              </p:cNvPr>
              <p:cNvSpPr txBox="1"/>
              <p:nvPr/>
            </p:nvSpPr>
            <p:spPr>
              <a:xfrm>
                <a:off x="2219263" y="3171614"/>
                <a:ext cx="4554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a:p>
            </p:txBody>
          </p:sp>
        </mc:Choice>
        <mc:Fallback xmlns="">
          <p:sp>
            <p:nvSpPr>
              <p:cNvPr id="36" name="TextBox 35">
                <a:extLst>
                  <a:ext uri="{FF2B5EF4-FFF2-40B4-BE49-F238E27FC236}">
                    <a16:creationId xmlns:a16="http://schemas.microsoft.com/office/drawing/2014/main" id="{970C91D7-5D0D-C08E-0CB3-3E6C9C6923F9}"/>
                  </a:ext>
                </a:extLst>
              </p:cNvPr>
              <p:cNvSpPr txBox="1">
                <a:spLocks noRot="1" noChangeAspect="1" noMove="1" noResize="1" noEditPoints="1" noAdjustHandles="1" noChangeArrowheads="1" noChangeShapeType="1" noTextEdit="1"/>
              </p:cNvSpPr>
              <p:nvPr/>
            </p:nvSpPr>
            <p:spPr>
              <a:xfrm>
                <a:off x="2219263" y="3171614"/>
                <a:ext cx="455440" cy="369332"/>
              </a:xfrm>
              <a:prstGeom prst="rect">
                <a:avLst/>
              </a:prstGeom>
              <a:blipFill>
                <a:blip r:embed="rId8"/>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0148E22-8659-C283-C06C-47FE41242145}"/>
                  </a:ext>
                </a:extLst>
              </p:cNvPr>
              <p:cNvSpPr txBox="1"/>
              <p:nvPr/>
            </p:nvSpPr>
            <p:spPr>
              <a:xfrm>
                <a:off x="1445910" y="1522221"/>
                <a:ext cx="200214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0A0A0A"/>
                          </a:solidFill>
                          <a:effectLst/>
                          <a:latin typeface="Cambria Math" panose="02040503050406030204" pitchFamily="18" charset="0"/>
                        </a:rPr>
                        <m:t>{</m:t>
                      </m:r>
                      <m:r>
                        <a:rPr lang="pl-PL" b="0" i="1" smtClean="0">
                          <a:solidFill>
                            <a:srgbClr val="0A0A0A"/>
                          </a:solidFill>
                          <a:effectLst/>
                          <a:latin typeface="Cambria Math" panose="02040503050406030204" pitchFamily="18" charset="0"/>
                        </a:rPr>
                        <m:t>𝐶𝑍</m:t>
                      </m:r>
                      <m:r>
                        <a:rPr lang="pl-PL" b="0" i="1" smtClean="0">
                          <a:solidFill>
                            <a:srgbClr val="0A0A0A"/>
                          </a:solidFill>
                          <a:effectLst/>
                          <a:latin typeface="Cambria Math" panose="02040503050406030204" pitchFamily="18" charset="0"/>
                        </a:rPr>
                        <m:t>, </m:t>
                      </m:r>
                      <m:r>
                        <a:rPr lang="pl-PL" b="0" i="1" smtClean="0">
                          <a:solidFill>
                            <a:srgbClr val="0A0A0A"/>
                          </a:solidFill>
                          <a:effectLst/>
                          <a:latin typeface="Cambria Math" panose="02040503050406030204" pitchFamily="18" charset="0"/>
                        </a:rPr>
                        <m:t>𝑋</m:t>
                      </m:r>
                      <m:r>
                        <a:rPr lang="pl-PL" b="0" i="1" smtClean="0">
                          <a:solidFill>
                            <a:srgbClr val="0A0A0A"/>
                          </a:solidFill>
                          <a:effectLst/>
                          <a:latin typeface="Cambria Math" panose="02040503050406030204" pitchFamily="18" charset="0"/>
                        </a:rPr>
                        <m:t>, </m:t>
                      </m:r>
                      <m:sSub>
                        <m:sSubPr>
                          <m:ctrlPr>
                            <a:rPr lang="en-US" b="0" i="1" smtClean="0">
                              <a:solidFill>
                                <a:srgbClr val="0A0A0A"/>
                              </a:solidFill>
                              <a:effectLst/>
                              <a:latin typeface="Cambria Math" panose="02040503050406030204" pitchFamily="18" charset="0"/>
                            </a:rPr>
                          </m:ctrlPr>
                        </m:sSubPr>
                        <m:e>
                          <m:r>
                            <a:rPr lang="pl-PL" b="0" i="1" smtClean="0">
                              <a:solidFill>
                                <a:srgbClr val="0A0A0A"/>
                              </a:solidFill>
                              <a:effectLst/>
                              <a:latin typeface="Cambria Math" panose="02040503050406030204" pitchFamily="18" charset="0"/>
                            </a:rPr>
                            <m:t>𝑅</m:t>
                          </m:r>
                        </m:e>
                        <m:sub>
                          <m:r>
                            <a:rPr lang="pl-PL" b="0" i="1" smtClean="0">
                              <a:solidFill>
                                <a:srgbClr val="0A0A0A"/>
                              </a:solidFill>
                              <a:effectLst/>
                              <a:latin typeface="Cambria Math" panose="02040503050406030204" pitchFamily="18" charset="0"/>
                            </a:rPr>
                            <m:t>𝑍</m:t>
                          </m:r>
                        </m:sub>
                      </m:sSub>
                      <m:r>
                        <a:rPr lang="pl-PL" b="0" i="1" smtClean="0">
                          <a:solidFill>
                            <a:srgbClr val="0A0A0A"/>
                          </a:solidFill>
                          <a:effectLst/>
                          <a:latin typeface="Cambria Math" panose="02040503050406030204" pitchFamily="18" charset="0"/>
                        </a:rPr>
                        <m:t>, </m:t>
                      </m:r>
                      <m:r>
                        <a:rPr lang="pl-PL" b="0" i="1" smtClean="0">
                          <a:solidFill>
                            <a:srgbClr val="0A0A0A"/>
                          </a:solidFill>
                          <a:effectLst/>
                          <a:latin typeface="Cambria Math" panose="02040503050406030204" pitchFamily="18" charset="0"/>
                        </a:rPr>
                        <m:t>𝑆𝑋</m:t>
                      </m:r>
                      <m:r>
                        <a:rPr lang="pl-PL" b="0" i="1" smtClean="0">
                          <a:solidFill>
                            <a:srgbClr val="0A0A0A"/>
                          </a:solidFill>
                          <a:effectLst/>
                          <a:latin typeface="Cambria Math" panose="02040503050406030204" pitchFamily="18" charset="0"/>
                        </a:rPr>
                        <m:t>, </m:t>
                      </m:r>
                      <m:r>
                        <a:rPr lang="pl-PL" b="0" i="1" smtClean="0">
                          <a:solidFill>
                            <a:srgbClr val="0A0A0A"/>
                          </a:solidFill>
                          <a:effectLst/>
                          <a:latin typeface="Cambria Math" panose="02040503050406030204" pitchFamily="18" charset="0"/>
                        </a:rPr>
                        <m:t>𝐼𝐷</m:t>
                      </m:r>
                      <m:r>
                        <a:rPr lang="en-US" b="0" i="1" smtClean="0">
                          <a:solidFill>
                            <a:srgbClr val="0A0A0A"/>
                          </a:solidFill>
                          <a:effectLst/>
                          <a:latin typeface="Cambria Math" panose="02040503050406030204" pitchFamily="18" charset="0"/>
                        </a:rPr>
                        <m:t>}</m:t>
                      </m:r>
                    </m:oMath>
                  </m:oMathPara>
                </a14:m>
                <a:endParaRPr lang="en-US"/>
              </a:p>
            </p:txBody>
          </p:sp>
        </mc:Choice>
        <mc:Fallback xmlns="">
          <p:sp>
            <p:nvSpPr>
              <p:cNvPr id="38" name="TextBox 37">
                <a:extLst>
                  <a:ext uri="{FF2B5EF4-FFF2-40B4-BE49-F238E27FC236}">
                    <a16:creationId xmlns:a16="http://schemas.microsoft.com/office/drawing/2014/main" id="{80148E22-8659-C283-C06C-47FE41242145}"/>
                  </a:ext>
                </a:extLst>
              </p:cNvPr>
              <p:cNvSpPr txBox="1">
                <a:spLocks noRot="1" noChangeAspect="1" noMove="1" noResize="1" noEditPoints="1" noAdjustHandles="1" noChangeArrowheads="1" noChangeShapeType="1" noTextEdit="1"/>
              </p:cNvSpPr>
              <p:nvPr/>
            </p:nvSpPr>
            <p:spPr>
              <a:xfrm>
                <a:off x="1445910" y="1522221"/>
                <a:ext cx="2002145" cy="369332"/>
              </a:xfrm>
              <a:prstGeom prst="rect">
                <a:avLst/>
              </a:prstGeom>
              <a:blipFill>
                <a:blip r:embed="rId9"/>
                <a:stretch>
                  <a:fillRect b="-1724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9F4DE43-775C-670A-2070-32EBBDD3E223}"/>
                  </a:ext>
                </a:extLst>
              </p:cNvPr>
              <p:cNvSpPr txBox="1"/>
              <p:nvPr/>
            </p:nvSpPr>
            <p:spPr>
              <a:xfrm rot="5400000">
                <a:off x="2911549" y="3631810"/>
                <a:ext cx="72794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vi-VN" sz="2800"/>
              </a:p>
            </p:txBody>
          </p:sp>
        </mc:Choice>
        <mc:Fallback xmlns="">
          <p:sp>
            <p:nvSpPr>
              <p:cNvPr id="39" name="TextBox 38">
                <a:extLst>
                  <a:ext uri="{FF2B5EF4-FFF2-40B4-BE49-F238E27FC236}">
                    <a16:creationId xmlns:a16="http://schemas.microsoft.com/office/drawing/2014/main" id="{49F4DE43-775C-670A-2070-32EBBDD3E223}"/>
                  </a:ext>
                </a:extLst>
              </p:cNvPr>
              <p:cNvSpPr txBox="1">
                <a:spLocks noRot="1" noChangeAspect="1" noMove="1" noResize="1" noEditPoints="1" noAdjustHandles="1" noChangeArrowheads="1" noChangeShapeType="1" noTextEdit="1"/>
              </p:cNvSpPr>
              <p:nvPr/>
            </p:nvSpPr>
            <p:spPr>
              <a:xfrm rot="5400000">
                <a:off x="2911549" y="3631810"/>
                <a:ext cx="727948" cy="430887"/>
              </a:xfrm>
              <a:prstGeom prst="rect">
                <a:avLst/>
              </a:prstGeom>
              <a:blipFill>
                <a:blip r:embed="rId10"/>
                <a:stretch>
                  <a:fillRect/>
                </a:stretch>
              </a:blipFill>
            </p:spPr>
            <p:txBody>
              <a:bodyPr/>
              <a:lstStyle/>
              <a:p>
                <a:r>
                  <a:rPr lang="en-VN">
                    <a:noFill/>
                  </a:rPr>
                  <a:t> </a:t>
                </a:r>
              </a:p>
            </p:txBody>
          </p:sp>
        </mc:Fallback>
      </mc:AlternateContent>
      <p:sp>
        <p:nvSpPr>
          <p:cNvPr id="40" name="TextBox 39">
            <a:extLst>
              <a:ext uri="{FF2B5EF4-FFF2-40B4-BE49-F238E27FC236}">
                <a16:creationId xmlns:a16="http://schemas.microsoft.com/office/drawing/2014/main" id="{9EA4BF65-AA6A-B5EB-628B-5B741CC6090F}"/>
              </a:ext>
            </a:extLst>
          </p:cNvPr>
          <p:cNvSpPr txBox="1"/>
          <p:nvPr/>
        </p:nvSpPr>
        <p:spPr>
          <a:xfrm>
            <a:off x="3340049" y="3714908"/>
            <a:ext cx="772119" cy="246221"/>
          </a:xfrm>
          <a:prstGeom prst="rect">
            <a:avLst/>
          </a:prstGeom>
          <a:noFill/>
        </p:spPr>
        <p:txBody>
          <a:bodyPr wrap="square" rtlCol="0">
            <a:spAutoFit/>
          </a:bodyPr>
          <a:lstStyle/>
          <a:p>
            <a:r>
              <a:rPr lang="en-US" sz="1000"/>
              <a:t>Compile</a:t>
            </a:r>
          </a:p>
        </p:txBody>
      </p:sp>
      <mc:AlternateContent xmlns:mc="http://schemas.openxmlformats.org/markup-compatibility/2006" xmlns:a14="http://schemas.microsoft.com/office/drawing/2010/main">
        <mc:Choice Requires="a14">
          <p:sp>
            <p:nvSpPr>
              <p:cNvPr id="41" name="Hình chữ nhật 93">
                <a:extLst>
                  <a:ext uri="{FF2B5EF4-FFF2-40B4-BE49-F238E27FC236}">
                    <a16:creationId xmlns:a16="http://schemas.microsoft.com/office/drawing/2014/main" id="{401F7F6C-E074-7B75-B4AA-47282060987C}"/>
                  </a:ext>
                </a:extLst>
              </p:cNvPr>
              <p:cNvSpPr/>
              <p:nvPr/>
            </p:nvSpPr>
            <p:spPr>
              <a:xfrm>
                <a:off x="2772766" y="4022828"/>
                <a:ext cx="968168" cy="5569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2800" b="0" i="1" smtClean="0">
                              <a:solidFill>
                                <a:schemeClr val="tx1"/>
                              </a:solidFill>
                              <a:latin typeface="Cambria Math" panose="02040503050406030204" pitchFamily="18" charset="0"/>
                              <a:cs typeface="Times New Roman" panose="02020603050405020304" pitchFamily="18" charset="0"/>
                            </a:rPr>
                          </m:ctrlPr>
                        </m:sSubPr>
                        <m:e>
                          <m:r>
                            <a:rPr lang="en-US" sz="2800" b="0" i="1" smtClean="0">
                              <a:solidFill>
                                <a:schemeClr val="tx1"/>
                              </a:solidFill>
                              <a:latin typeface="Cambria Math" panose="02040503050406030204" pitchFamily="18" charset="0"/>
                              <a:cs typeface="Times New Roman" panose="02020603050405020304" pitchFamily="18" charset="0"/>
                            </a:rPr>
                            <m:t>   </m:t>
                          </m:r>
                          <m:r>
                            <a:rPr lang="en-US" sz="2800" b="0" i="1" smtClean="0">
                              <a:solidFill>
                                <a:schemeClr val="tx1"/>
                              </a:solidFill>
                              <a:latin typeface="Cambria Math" panose="02040503050406030204" pitchFamily="18" charset="0"/>
                              <a:cs typeface="Times New Roman" panose="02020603050405020304" pitchFamily="18" charset="0"/>
                            </a:rPr>
                            <m:t>𝑈</m:t>
                          </m:r>
                          <m:r>
                            <a:rPr lang="en-US" sz="2800" b="0" i="1" smtClean="0">
                              <a:solidFill>
                                <a:schemeClr val="tx1"/>
                              </a:solidFill>
                              <a:latin typeface="Cambria Math" panose="02040503050406030204" pitchFamily="18" charset="0"/>
                              <a:cs typeface="Times New Roman" panose="02020603050405020304" pitchFamily="18" charset="0"/>
                            </a:rPr>
                            <m:t>′</m:t>
                          </m:r>
                        </m:e>
                        <m:sub>
                          <m:r>
                            <a:rPr lang="en-US" sz="2800" b="0" i="1" smtClean="0">
                              <a:solidFill>
                                <a:schemeClr val="tx1"/>
                              </a:solidFill>
                              <a:latin typeface="Cambria Math" panose="02040503050406030204" pitchFamily="18" charset="0"/>
                              <a:cs typeface="Times New Roman" panose="02020603050405020304" pitchFamily="18" charset="0"/>
                            </a:rPr>
                            <m:t>{</m:t>
                          </m:r>
                          <m:r>
                            <a:rPr lang="en-US" sz="2800" b="1" i="1" smtClean="0">
                              <a:solidFill>
                                <a:schemeClr val="tx1"/>
                              </a:solidFill>
                              <a:latin typeface="Cambria Math" panose="02040503050406030204" pitchFamily="18" charset="0"/>
                              <a:cs typeface="Times New Roman" panose="02020603050405020304" pitchFamily="18" charset="0"/>
                            </a:rPr>
                            <m:t>𝒖</m:t>
                          </m:r>
                          <m:r>
                            <a:rPr lang="en-US" sz="2800" b="1" i="1" smtClean="0">
                              <a:solidFill>
                                <a:schemeClr val="tx1"/>
                              </a:solidFill>
                              <a:latin typeface="Cambria Math" panose="02040503050406030204" pitchFamily="18" charset="0"/>
                              <a:cs typeface="Times New Roman" panose="02020603050405020304" pitchFamily="18" charset="0"/>
                            </a:rPr>
                            <m:t>′</m:t>
                          </m:r>
                          <m:r>
                            <a:rPr lang="en-US" sz="2800" b="0" i="1" smtClean="0">
                              <a:solidFill>
                                <a:schemeClr val="tx1"/>
                              </a:solidFill>
                              <a:latin typeface="Cambria Math" panose="02040503050406030204" pitchFamily="18" charset="0"/>
                              <a:cs typeface="Times New Roman" panose="02020603050405020304" pitchFamily="18" charset="0"/>
                            </a:rPr>
                            <m:t>}</m:t>
                          </m:r>
                        </m:sub>
                      </m:sSub>
                    </m:oMath>
                  </m:oMathPara>
                </a14:m>
                <a:endParaRPr lang="vi-VN" sz="2800">
                  <a:solidFill>
                    <a:schemeClr val="tx1"/>
                  </a:solidFill>
                  <a:latin typeface="+mj-lt"/>
                  <a:cs typeface="Times New Roman" panose="02020603050405020304" pitchFamily="18" charset="0"/>
                </a:endParaRPr>
              </a:p>
            </p:txBody>
          </p:sp>
        </mc:Choice>
        <mc:Fallback xmlns="">
          <p:sp>
            <p:nvSpPr>
              <p:cNvPr id="41" name="Hình chữ nhật 93">
                <a:extLst>
                  <a:ext uri="{FF2B5EF4-FFF2-40B4-BE49-F238E27FC236}">
                    <a16:creationId xmlns:a16="http://schemas.microsoft.com/office/drawing/2014/main" id="{401F7F6C-E074-7B75-B4AA-47282060987C}"/>
                  </a:ext>
                </a:extLst>
              </p:cNvPr>
              <p:cNvSpPr>
                <a:spLocks noRot="1" noChangeAspect="1" noMove="1" noResize="1" noEditPoints="1" noAdjustHandles="1" noChangeArrowheads="1" noChangeShapeType="1" noTextEdit="1"/>
              </p:cNvSpPr>
              <p:nvPr/>
            </p:nvSpPr>
            <p:spPr>
              <a:xfrm>
                <a:off x="2772766" y="4022828"/>
                <a:ext cx="968168" cy="556938"/>
              </a:xfrm>
              <a:prstGeom prst="rect">
                <a:avLst/>
              </a:prstGeom>
              <a:blipFill>
                <a:blip r:embed="rId11"/>
                <a:stretch>
                  <a:fillRect l="-25316" r="-8861" b="-15556"/>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6F7CD3B-0F94-ED1D-55D9-883FEB24180A}"/>
                  </a:ext>
                </a:extLst>
              </p:cNvPr>
              <p:cNvSpPr txBox="1"/>
              <p:nvPr/>
            </p:nvSpPr>
            <p:spPr>
              <a:xfrm>
                <a:off x="315698" y="3925619"/>
                <a:ext cx="2317521" cy="4036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panose="02040503050406030204" pitchFamily="18" charset="0"/>
                          <a:cs typeface="Times New Roman" panose="02020603050405020304" pitchFamily="18" charset="0"/>
                        </a:rPr>
                        <m:t>𝒖</m:t>
                      </m:r>
                      <m:r>
                        <a:rPr lang="vi-VN" sz="1800" b="0" i="1" smtClean="0">
                          <a:solidFill>
                            <a:schemeClr val="tx1"/>
                          </a:solidFill>
                          <a:latin typeface="Cambria Math" panose="02040503050406030204" pitchFamily="18" charset="0"/>
                          <a:cs typeface="Times New Roman" panose="02020603050405020304" pitchFamily="18" charset="0"/>
                        </a:rPr>
                        <m:t>=</m:t>
                      </m:r>
                      <m:d>
                        <m:dPr>
                          <m:begChr m:val="{"/>
                          <m:endChr m:val="}"/>
                          <m:ctrlPr>
                            <a:rPr lang="vi-VN" sz="1800" i="1" smtClean="0">
                              <a:solidFill>
                                <a:schemeClr val="tx1"/>
                              </a:solidFill>
                              <a:latin typeface="Cambria Math" panose="02040503050406030204" pitchFamily="18" charset="0"/>
                              <a:cs typeface="Times New Roman" panose="02020603050405020304" pitchFamily="18" charset="0"/>
                            </a:rPr>
                          </m:ctrlPr>
                        </m:dPr>
                        <m:e>
                          <m:sSub>
                            <m:sSubPr>
                              <m:ctrlPr>
                                <a:rPr lang="vi-VN" i="1">
                                  <a:latin typeface="Cambria Math" panose="02040503050406030204" pitchFamily="18" charset="0"/>
                                  <a:cs typeface="Times New Roman" panose="02020603050405020304" pitchFamily="18" charset="0"/>
                                </a:rPr>
                              </m:ctrlPr>
                            </m:sSubPr>
                            <m:e>
                              <m:r>
                                <a:rPr lang="vi-VN" b="0" i="1">
                                  <a:latin typeface="Cambria Math" panose="02040503050406030204" pitchFamily="18" charset="0"/>
                                  <a:cs typeface="Times New Roman" panose="02020603050405020304" pitchFamily="18" charset="0"/>
                                </a:rPr>
                                <m:t>𝑅</m:t>
                              </m:r>
                            </m:e>
                            <m:sub>
                              <m:r>
                                <a:rPr lang="vi-VN" i="1">
                                  <a:latin typeface="Cambria Math" panose="02040503050406030204" pitchFamily="18" charset="0"/>
                                  <a:cs typeface="Times New Roman" panose="02020603050405020304" pitchFamily="18" charset="0"/>
                                </a:rPr>
                                <m:t>𝑋</m:t>
                              </m:r>
                              <m:r>
                                <a:rPr lang="vi-VN" b="0" i="1">
                                  <a:latin typeface="Cambria Math" panose="02040503050406030204" pitchFamily="18" charset="0"/>
                                  <a:cs typeface="Times New Roman" panose="02020603050405020304" pitchFamily="18" charset="0"/>
                                </a:rPr>
                                <m:t>,</m:t>
                              </m:r>
                              <m:r>
                                <a:rPr lang="vi-VN" i="1">
                                  <a:latin typeface="Cambria Math" panose="02040503050406030204" pitchFamily="18" charset="0"/>
                                  <a:cs typeface="Times New Roman" panose="02020603050405020304" pitchFamily="18" charset="0"/>
                                </a:rPr>
                                <m:t>𝑌</m:t>
                              </m:r>
                              <m:r>
                                <a:rPr lang="vi-VN" b="0" i="1">
                                  <a:latin typeface="Cambria Math" panose="02040503050406030204" pitchFamily="18" charset="0"/>
                                  <a:cs typeface="Times New Roman" panose="02020603050405020304" pitchFamily="18" charset="0"/>
                                </a:rPr>
                                <m:t>,</m:t>
                              </m:r>
                              <m:r>
                                <a:rPr lang="vi-VN" i="1">
                                  <a:latin typeface="Cambria Math" panose="02040503050406030204" pitchFamily="18" charset="0"/>
                                  <a:cs typeface="Times New Roman" panose="02020603050405020304" pitchFamily="18" charset="0"/>
                                </a:rPr>
                                <m:t>𝑍</m:t>
                              </m:r>
                            </m:sub>
                          </m:sSub>
                          <m:r>
                            <a:rPr lang="vi-VN" b="0" i="1">
                              <a:latin typeface="Cambria Math" panose="02040503050406030204" pitchFamily="18" charset="0"/>
                              <a:cs typeface="Times New Roman" panose="02020603050405020304" pitchFamily="18" charset="0"/>
                            </a:rPr>
                            <m:t>, </m:t>
                          </m:r>
                          <m:r>
                            <a:rPr lang="vi-VN" b="0" i="1">
                              <a:latin typeface="Cambria Math" panose="02040503050406030204" pitchFamily="18" charset="0"/>
                              <a:cs typeface="Times New Roman" panose="02020603050405020304" pitchFamily="18" charset="0"/>
                            </a:rPr>
                            <m:t>𝐶𝑋</m:t>
                          </m:r>
                        </m:e>
                      </m:d>
                    </m:oMath>
                  </m:oMathPara>
                </a14:m>
                <a:endParaRPr lang="en-VN" i="1"/>
              </a:p>
            </p:txBody>
          </p:sp>
        </mc:Choice>
        <mc:Fallback xmlns="">
          <p:sp>
            <p:nvSpPr>
              <p:cNvPr id="12" name="TextBox 11">
                <a:extLst>
                  <a:ext uri="{FF2B5EF4-FFF2-40B4-BE49-F238E27FC236}">
                    <a16:creationId xmlns:a16="http://schemas.microsoft.com/office/drawing/2014/main" id="{E6F7CD3B-0F94-ED1D-55D9-883FEB24180A}"/>
                  </a:ext>
                </a:extLst>
              </p:cNvPr>
              <p:cNvSpPr txBox="1">
                <a:spLocks noRot="1" noChangeAspect="1" noMove="1" noResize="1" noEditPoints="1" noAdjustHandles="1" noChangeArrowheads="1" noChangeShapeType="1" noTextEdit="1"/>
              </p:cNvSpPr>
              <p:nvPr/>
            </p:nvSpPr>
            <p:spPr>
              <a:xfrm>
                <a:off x="315698" y="3925619"/>
                <a:ext cx="2317521" cy="403637"/>
              </a:xfrm>
              <a:prstGeom prst="rect">
                <a:avLst/>
              </a:prstGeom>
              <a:blipFill>
                <a:blip r:embed="rId1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4B8CE89-E46F-67B2-B2F6-05520EBFB4B6}"/>
                  </a:ext>
                </a:extLst>
              </p:cNvPr>
              <p:cNvSpPr txBox="1"/>
              <p:nvPr/>
            </p:nvSpPr>
            <p:spPr>
              <a:xfrm>
                <a:off x="395416" y="4291669"/>
                <a:ext cx="2508141" cy="4036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panose="02040503050406030204" pitchFamily="18" charset="0"/>
                          <a:cs typeface="Times New Roman" panose="02020603050405020304" pitchFamily="18" charset="0"/>
                        </a:rPr>
                        <m:t>𝒖</m:t>
                      </m:r>
                      <m:r>
                        <a:rPr lang="vi-VN" sz="1800" b="1" i="1" smtClean="0">
                          <a:solidFill>
                            <a:schemeClr val="tx1"/>
                          </a:solidFill>
                          <a:latin typeface="Cambria Math" panose="02040503050406030204" pitchFamily="18" charset="0"/>
                          <a:cs typeface="Times New Roman" panose="02020603050405020304" pitchFamily="18" charset="0"/>
                        </a:rPr>
                        <m:t>′</m:t>
                      </m:r>
                      <m:r>
                        <a:rPr lang="vi-VN" sz="1800" b="0" i="1" smtClean="0">
                          <a:solidFill>
                            <a:schemeClr val="tx1"/>
                          </a:solidFill>
                          <a:latin typeface="Cambria Math" panose="02040503050406030204" pitchFamily="18" charset="0"/>
                          <a:cs typeface="Times New Roman" panose="02020603050405020304" pitchFamily="18" charset="0"/>
                        </a:rPr>
                        <m:t>=</m:t>
                      </m:r>
                      <m:d>
                        <m:dPr>
                          <m:begChr m:val="{"/>
                          <m:endChr m:val="}"/>
                          <m:ctrlPr>
                            <a:rPr lang="vi-VN" sz="1800" i="1" smtClean="0">
                              <a:solidFill>
                                <a:schemeClr val="tx1"/>
                              </a:solidFill>
                              <a:latin typeface="Cambria Math" panose="02040503050406030204" pitchFamily="18" charset="0"/>
                              <a:cs typeface="Times New Roman" panose="02020603050405020304" pitchFamily="18" charset="0"/>
                            </a:rPr>
                          </m:ctrlPr>
                        </m:dPr>
                        <m:e>
                          <m:sSub>
                            <m:sSubPr>
                              <m:ctrlPr>
                                <a:rPr lang="vi-VN" i="1">
                                  <a:latin typeface="Cambria Math" panose="02040503050406030204" pitchFamily="18" charset="0"/>
                                  <a:cs typeface="Times New Roman" panose="02020603050405020304" pitchFamily="18" charset="0"/>
                                </a:rPr>
                              </m:ctrlPr>
                            </m:sSubPr>
                            <m:e>
                              <m:r>
                                <a:rPr lang="vi-VN" b="0" i="1">
                                  <a:latin typeface="Cambria Math" panose="02040503050406030204" pitchFamily="18" charset="0"/>
                                  <a:cs typeface="Times New Roman" panose="02020603050405020304" pitchFamily="18" charset="0"/>
                                </a:rPr>
                                <m:t>𝑅</m:t>
                              </m:r>
                            </m:e>
                            <m:sub>
                              <m:r>
                                <a:rPr lang="vi-VN" i="1">
                                  <a:latin typeface="Cambria Math" panose="02040503050406030204" pitchFamily="18" charset="0"/>
                                  <a:cs typeface="Times New Roman" panose="02020603050405020304" pitchFamily="18" charset="0"/>
                                </a:rPr>
                                <m:t>𝑋</m:t>
                              </m:r>
                              <m:r>
                                <a:rPr lang="vi-VN" b="0" i="1">
                                  <a:latin typeface="Cambria Math" panose="02040503050406030204" pitchFamily="18" charset="0"/>
                                  <a:cs typeface="Times New Roman" panose="02020603050405020304" pitchFamily="18" charset="0"/>
                                </a:rPr>
                                <m:t>,</m:t>
                              </m:r>
                              <m:r>
                                <a:rPr lang="vi-VN" i="1">
                                  <a:latin typeface="Cambria Math" panose="02040503050406030204" pitchFamily="18" charset="0"/>
                                  <a:cs typeface="Times New Roman" panose="02020603050405020304" pitchFamily="18" charset="0"/>
                                </a:rPr>
                                <m:t>𝑍</m:t>
                              </m:r>
                            </m:sub>
                          </m:sSub>
                          <m:r>
                            <a:rPr lang="vi-VN" b="0" i="1">
                              <a:latin typeface="Cambria Math" panose="02040503050406030204" pitchFamily="18" charset="0"/>
                              <a:cs typeface="Times New Roman" panose="02020603050405020304" pitchFamily="18" charset="0"/>
                            </a:rPr>
                            <m:t>, </m:t>
                          </m:r>
                          <m:r>
                            <a:rPr lang="vi-VN" i="1">
                              <a:latin typeface="Cambria Math" panose="02040503050406030204" pitchFamily="18" charset="0"/>
                              <a:cs typeface="Times New Roman" panose="02020603050405020304" pitchFamily="18" charset="0"/>
                            </a:rPr>
                            <m:t>𝐼𝑆𝑊𝐴𝑃</m:t>
                          </m:r>
                        </m:e>
                      </m:d>
                    </m:oMath>
                  </m:oMathPara>
                </a14:m>
                <a:endParaRPr lang="en-VN" i="1"/>
              </a:p>
            </p:txBody>
          </p:sp>
        </mc:Choice>
        <mc:Fallback xmlns="">
          <p:sp>
            <p:nvSpPr>
              <p:cNvPr id="13" name="TextBox 12">
                <a:extLst>
                  <a:ext uri="{FF2B5EF4-FFF2-40B4-BE49-F238E27FC236}">
                    <a16:creationId xmlns:a16="http://schemas.microsoft.com/office/drawing/2014/main" id="{F4B8CE89-E46F-67B2-B2F6-05520EBFB4B6}"/>
                  </a:ext>
                </a:extLst>
              </p:cNvPr>
              <p:cNvSpPr txBox="1">
                <a:spLocks noRot="1" noChangeAspect="1" noMove="1" noResize="1" noEditPoints="1" noAdjustHandles="1" noChangeArrowheads="1" noChangeShapeType="1" noTextEdit="1"/>
              </p:cNvSpPr>
              <p:nvPr/>
            </p:nvSpPr>
            <p:spPr>
              <a:xfrm>
                <a:off x="395416" y="4291669"/>
                <a:ext cx="2508141" cy="403637"/>
              </a:xfrm>
              <a:prstGeom prst="rect">
                <a:avLst/>
              </a:prstGeom>
              <a:blipFill>
                <a:blip r:embed="rId14"/>
                <a:stretch>
                  <a:fillRect/>
                </a:stretch>
              </a:blipFill>
            </p:spPr>
            <p:txBody>
              <a:bodyPr/>
              <a:lstStyle/>
              <a:p>
                <a:r>
                  <a:rPr lang="en-VN">
                    <a:noFill/>
                  </a:rPr>
                  <a:t> </a:t>
                </a:r>
              </a:p>
            </p:txBody>
          </p:sp>
        </mc:Fallback>
      </mc:AlternateContent>
      <p:sp>
        <p:nvSpPr>
          <p:cNvPr id="3096" name="TextBox 3095">
            <a:extLst>
              <a:ext uri="{FF2B5EF4-FFF2-40B4-BE49-F238E27FC236}">
                <a16:creationId xmlns:a16="http://schemas.microsoft.com/office/drawing/2014/main" id="{84B83A32-88E7-C07E-B8C5-2BCE98BA08A4}"/>
              </a:ext>
            </a:extLst>
          </p:cNvPr>
          <p:cNvSpPr txBox="1"/>
          <p:nvPr/>
        </p:nvSpPr>
        <p:spPr>
          <a:xfrm>
            <a:off x="628650" y="4751261"/>
            <a:ext cx="6907413" cy="400110"/>
          </a:xfrm>
          <a:prstGeom prst="rect">
            <a:avLst/>
          </a:prstGeom>
          <a:noFill/>
        </p:spPr>
        <p:txBody>
          <a:bodyPr wrap="square">
            <a:spAutoFit/>
          </a:bodyPr>
          <a:lstStyle/>
          <a:p>
            <a:r>
              <a:rPr lang="en-US" sz="1000" b="1" i="0">
                <a:solidFill>
                  <a:srgbClr val="222222"/>
                </a:solidFill>
                <a:effectLst/>
              </a:rPr>
              <a:t>[1.</a:t>
            </a:r>
            <a:r>
              <a:rPr lang="en-US" sz="1000" b="1">
                <a:solidFill>
                  <a:srgbClr val="222222"/>
                </a:solidFill>
              </a:rPr>
              <a:t>3.1</a:t>
            </a:r>
            <a:r>
              <a:rPr lang="en-US" sz="1000" b="1" i="0">
                <a:solidFill>
                  <a:srgbClr val="222222"/>
                </a:solidFill>
                <a:effectLst/>
              </a:rPr>
              <a:t>] </a:t>
            </a:r>
            <a:r>
              <a:rPr lang="en-US" sz="1000" b="0" i="0">
                <a:solidFill>
                  <a:srgbClr val="222222"/>
                </a:solidFill>
                <a:effectLst/>
              </a:rPr>
              <a:t>Bäumer, E., Tripathi, V., Wang, D. S., Rall, P., Chen, E. H., Majumder, S., ... &amp; Minev, Z. K. (2024). Efficient long-range entanglement using dynamic circuits. </a:t>
            </a:r>
            <a:r>
              <a:rPr lang="en-US" sz="1000" b="0" i="1">
                <a:solidFill>
                  <a:srgbClr val="222222"/>
                </a:solidFill>
                <a:effectLst/>
              </a:rPr>
              <a:t>PRX Quantum</a:t>
            </a:r>
            <a:r>
              <a:rPr lang="en-US" sz="1000" b="0" i="0">
                <a:solidFill>
                  <a:srgbClr val="222222"/>
                </a:solidFill>
                <a:effectLst/>
              </a:rPr>
              <a:t>, </a:t>
            </a:r>
            <a:r>
              <a:rPr lang="en-US" sz="1000" b="0" i="1">
                <a:solidFill>
                  <a:srgbClr val="222222"/>
                </a:solidFill>
                <a:effectLst/>
              </a:rPr>
              <a:t>5</a:t>
            </a:r>
            <a:r>
              <a:rPr lang="en-US" sz="1000" b="0" i="0">
                <a:solidFill>
                  <a:srgbClr val="222222"/>
                </a:solidFill>
                <a:effectLst/>
              </a:rPr>
              <a:t>(3), 030339.</a:t>
            </a:r>
            <a:endParaRPr lang="en-VN" sz="1000"/>
          </a:p>
        </p:txBody>
      </p:sp>
      <p:sp>
        <p:nvSpPr>
          <p:cNvPr id="17" name="TextBox 16">
            <a:extLst>
              <a:ext uri="{FF2B5EF4-FFF2-40B4-BE49-F238E27FC236}">
                <a16:creationId xmlns:a16="http://schemas.microsoft.com/office/drawing/2014/main" id="{56F1F396-D298-4DF3-B63A-D6B2F1268007}"/>
              </a:ext>
            </a:extLst>
          </p:cNvPr>
          <p:cNvSpPr txBox="1"/>
          <p:nvPr/>
        </p:nvSpPr>
        <p:spPr>
          <a:xfrm>
            <a:off x="5718480" y="1714443"/>
            <a:ext cx="1769152" cy="369332"/>
          </a:xfrm>
          <a:prstGeom prst="rect">
            <a:avLst/>
          </a:prstGeom>
          <a:noFill/>
        </p:spPr>
        <p:txBody>
          <a:bodyPr wrap="square" rtlCol="0">
            <a:spAutoFit/>
          </a:bodyPr>
          <a:lstStyle/>
          <a:p>
            <a:pPr algn="ctr"/>
            <a:r>
              <a:rPr lang="en-US"/>
              <a:t>Gate synthesis</a:t>
            </a:r>
            <a:endParaRPr lang="vi-VN"/>
          </a:p>
        </p:txBody>
      </p:sp>
      <p:sp>
        <p:nvSpPr>
          <p:cNvPr id="20" name="TextBox 19">
            <a:extLst>
              <a:ext uri="{FF2B5EF4-FFF2-40B4-BE49-F238E27FC236}">
                <a16:creationId xmlns:a16="http://schemas.microsoft.com/office/drawing/2014/main" id="{FB711DFD-4A5A-8614-A003-17236DB23281}"/>
              </a:ext>
            </a:extLst>
          </p:cNvPr>
          <p:cNvSpPr txBox="1"/>
          <p:nvPr/>
        </p:nvSpPr>
        <p:spPr>
          <a:xfrm>
            <a:off x="7240277" y="3108901"/>
            <a:ext cx="1527062" cy="646331"/>
          </a:xfrm>
          <a:prstGeom prst="rect">
            <a:avLst/>
          </a:prstGeom>
          <a:noFill/>
        </p:spPr>
        <p:txBody>
          <a:bodyPr wrap="square" rtlCol="0">
            <a:spAutoFit/>
          </a:bodyPr>
          <a:lstStyle/>
          <a:p>
            <a:pPr algn="ctr"/>
            <a:r>
              <a:rPr lang="en-US"/>
              <a:t>Circuit optimization</a:t>
            </a:r>
            <a:endParaRPr lang="vi-VN"/>
          </a:p>
        </p:txBody>
      </p:sp>
      <p:sp>
        <p:nvSpPr>
          <p:cNvPr id="28" name="TextBox 27">
            <a:extLst>
              <a:ext uri="{FF2B5EF4-FFF2-40B4-BE49-F238E27FC236}">
                <a16:creationId xmlns:a16="http://schemas.microsoft.com/office/drawing/2014/main" id="{7735321A-89E3-8973-466A-C814FAEC4232}"/>
              </a:ext>
            </a:extLst>
          </p:cNvPr>
          <p:cNvSpPr txBox="1"/>
          <p:nvPr/>
        </p:nvSpPr>
        <p:spPr>
          <a:xfrm>
            <a:off x="4733077" y="3118880"/>
            <a:ext cx="1076806" cy="646331"/>
          </a:xfrm>
          <a:prstGeom prst="rect">
            <a:avLst/>
          </a:prstGeom>
          <a:noFill/>
        </p:spPr>
        <p:txBody>
          <a:bodyPr wrap="square" rtlCol="0">
            <a:spAutoFit/>
          </a:bodyPr>
          <a:lstStyle/>
          <a:p>
            <a:pPr algn="ctr"/>
            <a:r>
              <a:rPr lang="en-US"/>
              <a:t>Qubit mapping</a:t>
            </a:r>
            <a:endParaRPr lang="vi-VN"/>
          </a:p>
        </p:txBody>
      </p:sp>
      <p:cxnSp>
        <p:nvCxnSpPr>
          <p:cNvPr id="46" name="Straight Arrow Connector 45">
            <a:extLst>
              <a:ext uri="{FF2B5EF4-FFF2-40B4-BE49-F238E27FC236}">
                <a16:creationId xmlns:a16="http://schemas.microsoft.com/office/drawing/2014/main" id="{3A3FBA11-9FFF-53FD-BE2A-5CB7D7041B37}"/>
              </a:ext>
            </a:extLst>
          </p:cNvPr>
          <p:cNvCxnSpPr>
            <a:cxnSpLocks/>
            <a:stCxn id="17" idx="2"/>
            <a:endCxn id="20" idx="0"/>
          </p:cNvCxnSpPr>
          <p:nvPr/>
        </p:nvCxnSpPr>
        <p:spPr>
          <a:xfrm>
            <a:off x="6603056" y="2083775"/>
            <a:ext cx="1400752" cy="1025126"/>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51" name="Straight Arrow Connector 6150">
            <a:extLst>
              <a:ext uri="{FF2B5EF4-FFF2-40B4-BE49-F238E27FC236}">
                <a16:creationId xmlns:a16="http://schemas.microsoft.com/office/drawing/2014/main" id="{1F0E955A-5729-0437-C7D7-E1150EA7CA4A}"/>
              </a:ext>
            </a:extLst>
          </p:cNvPr>
          <p:cNvCxnSpPr>
            <a:cxnSpLocks/>
            <a:stCxn id="28" idx="3"/>
            <a:endCxn id="20" idx="1"/>
          </p:cNvCxnSpPr>
          <p:nvPr/>
        </p:nvCxnSpPr>
        <p:spPr>
          <a:xfrm flipV="1">
            <a:off x="5809883" y="3432067"/>
            <a:ext cx="1430394" cy="9979"/>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56" name="Straight Arrow Connector 6155">
            <a:extLst>
              <a:ext uri="{FF2B5EF4-FFF2-40B4-BE49-F238E27FC236}">
                <a16:creationId xmlns:a16="http://schemas.microsoft.com/office/drawing/2014/main" id="{2D48F7DD-9CFC-D4CC-C523-868FF0FA97B2}"/>
              </a:ext>
            </a:extLst>
          </p:cNvPr>
          <p:cNvCxnSpPr>
            <a:cxnSpLocks/>
            <a:stCxn id="28" idx="0"/>
            <a:endCxn id="17" idx="2"/>
          </p:cNvCxnSpPr>
          <p:nvPr/>
        </p:nvCxnSpPr>
        <p:spPr>
          <a:xfrm flipV="1">
            <a:off x="5271480" y="2083775"/>
            <a:ext cx="1331576" cy="1035105"/>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163" name="Rectangle 6162">
            <a:extLst>
              <a:ext uri="{FF2B5EF4-FFF2-40B4-BE49-F238E27FC236}">
                <a16:creationId xmlns:a16="http://schemas.microsoft.com/office/drawing/2014/main" id="{18F1BEB9-0784-9A87-2C47-46C77249F2BA}"/>
              </a:ext>
            </a:extLst>
          </p:cNvPr>
          <p:cNvSpPr/>
          <p:nvPr/>
        </p:nvSpPr>
        <p:spPr>
          <a:xfrm>
            <a:off x="4706620" y="1542089"/>
            <a:ext cx="4060717" cy="2383530"/>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164" name="TextBox 6163">
            <a:extLst>
              <a:ext uri="{FF2B5EF4-FFF2-40B4-BE49-F238E27FC236}">
                <a16:creationId xmlns:a16="http://schemas.microsoft.com/office/drawing/2014/main" id="{21790F96-96B2-35B4-6C77-1A65050A6AFA}"/>
              </a:ext>
            </a:extLst>
          </p:cNvPr>
          <p:cNvSpPr txBox="1"/>
          <p:nvPr/>
        </p:nvSpPr>
        <p:spPr>
          <a:xfrm>
            <a:off x="5670874" y="3898519"/>
            <a:ext cx="3109783" cy="276999"/>
          </a:xfrm>
          <a:prstGeom prst="rect">
            <a:avLst/>
          </a:prstGeom>
          <a:noFill/>
        </p:spPr>
        <p:txBody>
          <a:bodyPr wrap="square" rtlCol="0">
            <a:spAutoFit/>
          </a:bodyPr>
          <a:lstStyle/>
          <a:p>
            <a:r>
              <a:rPr lang="en-US" sz="1200"/>
              <a:t>Quantum compilation stage</a:t>
            </a:r>
          </a:p>
        </p:txBody>
      </p:sp>
    </p:spTree>
    <p:extLst>
      <p:ext uri="{BB962C8B-B14F-4D97-AF65-F5344CB8AC3E}">
        <p14:creationId xmlns:p14="http://schemas.microsoft.com/office/powerpoint/2010/main" val="1321325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5" name="Oval 3134">
            <a:extLst>
              <a:ext uri="{FF2B5EF4-FFF2-40B4-BE49-F238E27FC236}">
                <a16:creationId xmlns:a16="http://schemas.microsoft.com/office/drawing/2014/main" id="{B917D6DD-B79F-DE65-2B40-8C64C5D5BBD1}"/>
              </a:ext>
            </a:extLst>
          </p:cNvPr>
          <p:cNvSpPr/>
          <p:nvPr/>
        </p:nvSpPr>
        <p:spPr>
          <a:xfrm>
            <a:off x="6668848" y="1858271"/>
            <a:ext cx="223924" cy="223924"/>
          </a:xfrm>
          <a:prstGeom prst="ellipse">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32" name="Oval 3131">
            <a:extLst>
              <a:ext uri="{FF2B5EF4-FFF2-40B4-BE49-F238E27FC236}">
                <a16:creationId xmlns:a16="http://schemas.microsoft.com/office/drawing/2014/main" id="{F54191EE-E50C-F73E-620C-D725C20FB3BE}"/>
              </a:ext>
            </a:extLst>
          </p:cNvPr>
          <p:cNvSpPr/>
          <p:nvPr/>
        </p:nvSpPr>
        <p:spPr>
          <a:xfrm>
            <a:off x="1207196" y="2317725"/>
            <a:ext cx="313188" cy="313188"/>
          </a:xfrm>
          <a:prstGeom prst="ellipse">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a:extLst>
              <a:ext uri="{FF2B5EF4-FFF2-40B4-BE49-F238E27FC236}">
                <a16:creationId xmlns:a16="http://schemas.microsoft.com/office/drawing/2014/main" id="{CACC6797-D8F6-FDC8-F672-DF6B121880C6}"/>
              </a:ext>
            </a:extLst>
          </p:cNvPr>
          <p:cNvSpPr>
            <a:spLocks noGrp="1"/>
          </p:cNvSpPr>
          <p:nvPr>
            <p:ph type="title"/>
          </p:nvPr>
        </p:nvSpPr>
        <p:spPr>
          <a:xfrm>
            <a:off x="628650" y="-154638"/>
            <a:ext cx="6466417" cy="994172"/>
          </a:xfrm>
        </p:spPr>
        <p:txBody>
          <a:bodyPr/>
          <a:lstStyle/>
          <a:p>
            <a:r>
              <a:rPr lang="en-US"/>
              <a:t>1.3. Compilation</a:t>
            </a:r>
            <a:endParaRPr lang="vi-VN"/>
          </a:p>
        </p:txBody>
      </p:sp>
      <p:sp>
        <p:nvSpPr>
          <p:cNvPr id="4" name="Slide Number Placeholder 3">
            <a:extLst>
              <a:ext uri="{FF2B5EF4-FFF2-40B4-BE49-F238E27FC236}">
                <a16:creationId xmlns:a16="http://schemas.microsoft.com/office/drawing/2014/main" id="{DA6BD363-94A8-8648-B9B5-603741B1D256}"/>
              </a:ext>
            </a:extLst>
          </p:cNvPr>
          <p:cNvSpPr>
            <a:spLocks noGrp="1"/>
          </p:cNvSpPr>
          <p:nvPr>
            <p:ph type="sldNum" sz="quarter" idx="12"/>
          </p:nvPr>
        </p:nvSpPr>
        <p:spPr>
          <a:xfrm>
            <a:off x="8102278" y="4864402"/>
            <a:ext cx="413072" cy="273844"/>
          </a:xfrm>
        </p:spPr>
        <p:txBody>
          <a:bodyPr/>
          <a:lstStyle/>
          <a:p>
            <a:fld id="{6A45828D-F580-42DE-B77E-860980F07F32}" type="slidenum">
              <a:rPr lang="vi-VN" smtClean="0"/>
              <a:t>12</a:t>
            </a:fld>
            <a:endParaRPr lang="vi-VN"/>
          </a:p>
        </p:txBody>
      </p:sp>
      <p:sp>
        <p:nvSpPr>
          <p:cNvPr id="16" name="TextBox 15">
            <a:extLst>
              <a:ext uri="{FF2B5EF4-FFF2-40B4-BE49-F238E27FC236}">
                <a16:creationId xmlns:a16="http://schemas.microsoft.com/office/drawing/2014/main" id="{357CF10E-536F-1E49-A5C8-6CFFAFC97E96}"/>
              </a:ext>
            </a:extLst>
          </p:cNvPr>
          <p:cNvSpPr txBox="1"/>
          <p:nvPr/>
        </p:nvSpPr>
        <p:spPr>
          <a:xfrm>
            <a:off x="648910" y="588494"/>
            <a:ext cx="8660189" cy="369332"/>
          </a:xfrm>
          <a:prstGeom prst="rect">
            <a:avLst/>
          </a:prstGeom>
          <a:noFill/>
        </p:spPr>
        <p:txBody>
          <a:bodyPr wrap="square" rtlCol="0">
            <a:spAutoFit/>
          </a:bodyPr>
          <a:lstStyle/>
          <a:p>
            <a:r>
              <a:rPr lang="en-US"/>
              <a:t>Gap between algorithms and set of instructions we can perform on real qc </a:t>
            </a:r>
          </a:p>
        </p:txBody>
      </p:sp>
      <p:sp>
        <p:nvSpPr>
          <p:cNvPr id="42" name="TextBox 41">
            <a:extLst>
              <a:ext uri="{FF2B5EF4-FFF2-40B4-BE49-F238E27FC236}">
                <a16:creationId xmlns:a16="http://schemas.microsoft.com/office/drawing/2014/main" id="{742C3BC7-2ACB-2F31-5B6C-E6B36907CF10}"/>
              </a:ext>
            </a:extLst>
          </p:cNvPr>
          <p:cNvSpPr txBox="1"/>
          <p:nvPr/>
        </p:nvSpPr>
        <p:spPr>
          <a:xfrm>
            <a:off x="676005" y="955397"/>
            <a:ext cx="6069105" cy="369332"/>
          </a:xfrm>
          <a:prstGeom prst="rect">
            <a:avLst/>
          </a:prstGeom>
          <a:noFill/>
        </p:spPr>
        <p:txBody>
          <a:bodyPr wrap="square" rtlCol="0">
            <a:spAutoFit/>
          </a:bodyPr>
          <a:lstStyle/>
          <a:p>
            <a:r>
              <a:rPr lang="en-US" b="1"/>
              <a:t>Problem 1 (b): </a:t>
            </a:r>
            <a:r>
              <a:rPr lang="en-US"/>
              <a:t>Some gates are not exist</a:t>
            </a:r>
          </a:p>
        </p:txBody>
      </p:sp>
      <p:sp>
        <p:nvSpPr>
          <p:cNvPr id="3096" name="TextBox 3095">
            <a:extLst>
              <a:ext uri="{FF2B5EF4-FFF2-40B4-BE49-F238E27FC236}">
                <a16:creationId xmlns:a16="http://schemas.microsoft.com/office/drawing/2014/main" id="{84B83A32-88E7-C07E-B8C5-2BCE98BA08A4}"/>
              </a:ext>
            </a:extLst>
          </p:cNvPr>
          <p:cNvSpPr txBox="1"/>
          <p:nvPr/>
        </p:nvSpPr>
        <p:spPr>
          <a:xfrm>
            <a:off x="628651" y="4859263"/>
            <a:ext cx="6650152" cy="246221"/>
          </a:xfrm>
          <a:prstGeom prst="rect">
            <a:avLst/>
          </a:prstGeom>
          <a:noFill/>
        </p:spPr>
        <p:txBody>
          <a:bodyPr wrap="square">
            <a:spAutoFit/>
          </a:bodyPr>
          <a:lstStyle/>
          <a:p>
            <a:r>
              <a:rPr lang="en-US" sz="1000" b="0" i="0">
                <a:solidFill>
                  <a:srgbClr val="222222"/>
                </a:solidFill>
                <a:effectLst/>
              </a:rPr>
              <a:t>[</a:t>
            </a:r>
            <a:r>
              <a:rPr lang="en-US" sz="1000" b="1" i="0">
                <a:solidFill>
                  <a:srgbClr val="222222"/>
                </a:solidFill>
                <a:effectLst/>
              </a:rPr>
              <a:t>1.</a:t>
            </a:r>
            <a:r>
              <a:rPr lang="en-US" sz="1000" b="1">
                <a:solidFill>
                  <a:srgbClr val="222222"/>
                </a:solidFill>
              </a:rPr>
              <a:t>3.2</a:t>
            </a:r>
            <a:r>
              <a:rPr lang="en-US" sz="1000" b="0" i="0">
                <a:solidFill>
                  <a:srgbClr val="222222"/>
                </a:solidFill>
                <a:effectLst/>
              </a:rPr>
              <a:t>] Rakyta, P., &amp; Zimborás, Z. (2022). Approaching the theoretical limit in quantum gate decomposition. </a:t>
            </a:r>
            <a:r>
              <a:rPr lang="en-US" sz="1000" b="0" i="1">
                <a:solidFill>
                  <a:srgbClr val="222222"/>
                </a:solidFill>
                <a:effectLst/>
              </a:rPr>
              <a:t>Quantum</a:t>
            </a:r>
            <a:r>
              <a:rPr lang="en-US" sz="1000" b="0" i="0">
                <a:solidFill>
                  <a:srgbClr val="222222"/>
                </a:solidFill>
                <a:effectLst/>
              </a:rPr>
              <a:t>, </a:t>
            </a:r>
            <a:r>
              <a:rPr lang="en-US" sz="1000" b="0" i="1">
                <a:solidFill>
                  <a:srgbClr val="222222"/>
                </a:solidFill>
                <a:effectLst/>
              </a:rPr>
              <a:t>6</a:t>
            </a:r>
            <a:r>
              <a:rPr lang="en-US" sz="1000" b="0" i="0">
                <a:solidFill>
                  <a:srgbClr val="222222"/>
                </a:solidFill>
                <a:effectLst/>
              </a:rPr>
              <a:t>, 710.</a:t>
            </a:r>
            <a:endParaRPr lang="en-VN" sz="1000"/>
          </a:p>
        </p:txBody>
      </p:sp>
      <p:cxnSp>
        <p:nvCxnSpPr>
          <p:cNvPr id="17" name="Đường nối Thẳng 58">
            <a:extLst>
              <a:ext uri="{FF2B5EF4-FFF2-40B4-BE49-F238E27FC236}">
                <a16:creationId xmlns:a16="http://schemas.microsoft.com/office/drawing/2014/main" id="{592F18BB-7D4F-B72D-8CAA-7761C4B88A81}"/>
              </a:ext>
            </a:extLst>
          </p:cNvPr>
          <p:cNvCxnSpPr>
            <a:cxnSpLocks/>
          </p:cNvCxnSpPr>
          <p:nvPr/>
        </p:nvCxnSpPr>
        <p:spPr>
          <a:xfrm>
            <a:off x="1054768" y="1432478"/>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0" name="Đường nối Thẳng 59">
            <a:extLst>
              <a:ext uri="{FF2B5EF4-FFF2-40B4-BE49-F238E27FC236}">
                <a16:creationId xmlns:a16="http://schemas.microsoft.com/office/drawing/2014/main" id="{C7F602D5-C4C4-2A60-15E0-2F78421998BE}"/>
              </a:ext>
            </a:extLst>
          </p:cNvPr>
          <p:cNvCxnSpPr>
            <a:cxnSpLocks/>
          </p:cNvCxnSpPr>
          <p:nvPr/>
        </p:nvCxnSpPr>
        <p:spPr>
          <a:xfrm>
            <a:off x="1054768" y="1690957"/>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6" name="Đường nối Thẳng 59">
            <a:extLst>
              <a:ext uri="{FF2B5EF4-FFF2-40B4-BE49-F238E27FC236}">
                <a16:creationId xmlns:a16="http://schemas.microsoft.com/office/drawing/2014/main" id="{195E5D54-2586-BA93-A98E-D7F8A059628B}"/>
              </a:ext>
            </a:extLst>
          </p:cNvPr>
          <p:cNvCxnSpPr>
            <a:cxnSpLocks/>
          </p:cNvCxnSpPr>
          <p:nvPr/>
        </p:nvCxnSpPr>
        <p:spPr>
          <a:xfrm>
            <a:off x="1053123" y="1949436"/>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7" name="Đường nối Thẳng 59">
            <a:extLst>
              <a:ext uri="{FF2B5EF4-FFF2-40B4-BE49-F238E27FC236}">
                <a16:creationId xmlns:a16="http://schemas.microsoft.com/office/drawing/2014/main" id="{D7C86444-02CF-0B0B-D567-E836B4EF3233}"/>
              </a:ext>
            </a:extLst>
          </p:cNvPr>
          <p:cNvCxnSpPr>
            <a:cxnSpLocks/>
          </p:cNvCxnSpPr>
          <p:nvPr/>
        </p:nvCxnSpPr>
        <p:spPr>
          <a:xfrm>
            <a:off x="1053123" y="2207915"/>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0" name="Đường nối Thẳng 59">
            <a:extLst>
              <a:ext uri="{FF2B5EF4-FFF2-40B4-BE49-F238E27FC236}">
                <a16:creationId xmlns:a16="http://schemas.microsoft.com/office/drawing/2014/main" id="{F4A865B2-811D-AF2D-035B-3099E0665EBD}"/>
              </a:ext>
            </a:extLst>
          </p:cNvPr>
          <p:cNvCxnSpPr>
            <a:cxnSpLocks/>
          </p:cNvCxnSpPr>
          <p:nvPr/>
        </p:nvCxnSpPr>
        <p:spPr>
          <a:xfrm>
            <a:off x="1053123" y="2466395"/>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073" name="Đường nối Thẳng 67">
            <a:extLst>
              <a:ext uri="{FF2B5EF4-FFF2-40B4-BE49-F238E27FC236}">
                <a16:creationId xmlns:a16="http://schemas.microsoft.com/office/drawing/2014/main" id="{0973D722-AACC-0035-AF9E-29A450F46F6C}"/>
              </a:ext>
            </a:extLst>
          </p:cNvPr>
          <p:cNvCxnSpPr>
            <a:cxnSpLocks/>
            <a:stCxn id="3132" idx="4"/>
            <a:endCxn id="3078" idx="4"/>
          </p:cNvCxnSpPr>
          <p:nvPr/>
        </p:nvCxnSpPr>
        <p:spPr>
          <a:xfrm flipH="1" flipV="1">
            <a:off x="1361348" y="1461320"/>
            <a:ext cx="2442" cy="116959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078" name="Hình Bầu dục 68">
            <a:extLst>
              <a:ext uri="{FF2B5EF4-FFF2-40B4-BE49-F238E27FC236}">
                <a16:creationId xmlns:a16="http://schemas.microsoft.com/office/drawing/2014/main" id="{4503E858-1E6E-CF1F-C877-6209CFEEE493}"/>
              </a:ext>
            </a:extLst>
          </p:cNvPr>
          <p:cNvSpPr/>
          <p:nvPr/>
        </p:nvSpPr>
        <p:spPr>
          <a:xfrm>
            <a:off x="1314290" y="1378441"/>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085" name="Hình Bầu dục 68">
            <a:extLst>
              <a:ext uri="{FF2B5EF4-FFF2-40B4-BE49-F238E27FC236}">
                <a16:creationId xmlns:a16="http://schemas.microsoft.com/office/drawing/2014/main" id="{24706D72-B793-C732-494E-46A90B529DB1}"/>
              </a:ext>
            </a:extLst>
          </p:cNvPr>
          <p:cNvSpPr/>
          <p:nvPr/>
        </p:nvSpPr>
        <p:spPr>
          <a:xfrm>
            <a:off x="1314290" y="1641228"/>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102" name="TextBox 3101">
            <a:extLst>
              <a:ext uri="{FF2B5EF4-FFF2-40B4-BE49-F238E27FC236}">
                <a16:creationId xmlns:a16="http://schemas.microsoft.com/office/drawing/2014/main" id="{3AC7E91C-EC6D-95C8-2DBA-C12C1A1BA47E}"/>
              </a:ext>
            </a:extLst>
          </p:cNvPr>
          <p:cNvSpPr txBox="1"/>
          <p:nvPr/>
        </p:nvSpPr>
        <p:spPr>
          <a:xfrm>
            <a:off x="764248" y="1239993"/>
            <a:ext cx="356174" cy="369332"/>
          </a:xfrm>
          <a:prstGeom prst="rect">
            <a:avLst/>
          </a:prstGeom>
          <a:noFill/>
        </p:spPr>
        <p:txBody>
          <a:bodyPr wrap="square" rtlCol="0">
            <a:spAutoFit/>
          </a:bodyPr>
          <a:lstStyle/>
          <a:p>
            <a:r>
              <a:rPr lang="en-US"/>
              <a:t>0</a:t>
            </a:r>
          </a:p>
        </p:txBody>
      </p:sp>
      <p:sp>
        <p:nvSpPr>
          <p:cNvPr id="3103" name="TextBox 3102">
            <a:extLst>
              <a:ext uri="{FF2B5EF4-FFF2-40B4-BE49-F238E27FC236}">
                <a16:creationId xmlns:a16="http://schemas.microsoft.com/office/drawing/2014/main" id="{BB5485FC-B50F-87FA-2668-B467E54A8040}"/>
              </a:ext>
            </a:extLst>
          </p:cNvPr>
          <p:cNvSpPr txBox="1"/>
          <p:nvPr/>
        </p:nvSpPr>
        <p:spPr>
          <a:xfrm>
            <a:off x="764248" y="1512097"/>
            <a:ext cx="288875" cy="369332"/>
          </a:xfrm>
          <a:prstGeom prst="rect">
            <a:avLst/>
          </a:prstGeom>
          <a:noFill/>
        </p:spPr>
        <p:txBody>
          <a:bodyPr wrap="square" rtlCol="0">
            <a:spAutoFit/>
          </a:bodyPr>
          <a:lstStyle/>
          <a:p>
            <a:r>
              <a:rPr lang="en-US"/>
              <a:t>1</a:t>
            </a:r>
          </a:p>
        </p:txBody>
      </p:sp>
      <p:sp>
        <p:nvSpPr>
          <p:cNvPr id="3104" name="TextBox 3103">
            <a:extLst>
              <a:ext uri="{FF2B5EF4-FFF2-40B4-BE49-F238E27FC236}">
                <a16:creationId xmlns:a16="http://schemas.microsoft.com/office/drawing/2014/main" id="{C1DC6881-51FA-8D9B-8A16-9DA42486E727}"/>
              </a:ext>
            </a:extLst>
          </p:cNvPr>
          <p:cNvSpPr txBox="1"/>
          <p:nvPr/>
        </p:nvSpPr>
        <p:spPr>
          <a:xfrm>
            <a:off x="764248" y="1755138"/>
            <a:ext cx="185867" cy="369332"/>
          </a:xfrm>
          <a:prstGeom prst="rect">
            <a:avLst/>
          </a:prstGeom>
          <a:noFill/>
        </p:spPr>
        <p:txBody>
          <a:bodyPr wrap="square" rtlCol="0">
            <a:spAutoFit/>
          </a:bodyPr>
          <a:lstStyle/>
          <a:p>
            <a:r>
              <a:rPr lang="en-US"/>
              <a:t>2</a:t>
            </a:r>
          </a:p>
        </p:txBody>
      </p:sp>
      <p:sp>
        <p:nvSpPr>
          <p:cNvPr id="3105" name="TextBox 3104">
            <a:extLst>
              <a:ext uri="{FF2B5EF4-FFF2-40B4-BE49-F238E27FC236}">
                <a16:creationId xmlns:a16="http://schemas.microsoft.com/office/drawing/2014/main" id="{922B848E-0E8C-795D-6F71-C7E2E060211D}"/>
              </a:ext>
            </a:extLst>
          </p:cNvPr>
          <p:cNvSpPr txBox="1"/>
          <p:nvPr/>
        </p:nvSpPr>
        <p:spPr>
          <a:xfrm>
            <a:off x="764248" y="2027242"/>
            <a:ext cx="472582" cy="369332"/>
          </a:xfrm>
          <a:prstGeom prst="rect">
            <a:avLst/>
          </a:prstGeom>
          <a:noFill/>
        </p:spPr>
        <p:txBody>
          <a:bodyPr wrap="square" rtlCol="0">
            <a:spAutoFit/>
          </a:bodyPr>
          <a:lstStyle/>
          <a:p>
            <a:r>
              <a:rPr lang="en-US"/>
              <a:t>3</a:t>
            </a:r>
          </a:p>
        </p:txBody>
      </p:sp>
      <p:sp>
        <p:nvSpPr>
          <p:cNvPr id="3106" name="TextBox 3105">
            <a:extLst>
              <a:ext uri="{FF2B5EF4-FFF2-40B4-BE49-F238E27FC236}">
                <a16:creationId xmlns:a16="http://schemas.microsoft.com/office/drawing/2014/main" id="{AFA6E106-58D4-85C7-A737-AC51862AEE71}"/>
              </a:ext>
            </a:extLst>
          </p:cNvPr>
          <p:cNvSpPr txBox="1"/>
          <p:nvPr/>
        </p:nvSpPr>
        <p:spPr>
          <a:xfrm>
            <a:off x="764248" y="2277544"/>
            <a:ext cx="232087" cy="369332"/>
          </a:xfrm>
          <a:prstGeom prst="rect">
            <a:avLst/>
          </a:prstGeom>
          <a:noFill/>
        </p:spPr>
        <p:txBody>
          <a:bodyPr wrap="square" rtlCol="0">
            <a:spAutoFit/>
          </a:bodyPr>
          <a:lstStyle/>
          <a:p>
            <a:r>
              <a:rPr lang="en-US"/>
              <a:t>4</a:t>
            </a:r>
          </a:p>
        </p:txBody>
      </p:sp>
      <p:cxnSp>
        <p:nvCxnSpPr>
          <p:cNvPr id="3109" name="Đường nối Thẳng 67">
            <a:extLst>
              <a:ext uri="{FF2B5EF4-FFF2-40B4-BE49-F238E27FC236}">
                <a16:creationId xmlns:a16="http://schemas.microsoft.com/office/drawing/2014/main" id="{729249E9-C834-7A9A-95DE-C6579FADB091}"/>
              </a:ext>
            </a:extLst>
          </p:cNvPr>
          <p:cNvCxnSpPr>
            <a:cxnSpLocks/>
          </p:cNvCxnSpPr>
          <p:nvPr/>
        </p:nvCxnSpPr>
        <p:spPr>
          <a:xfrm flipV="1">
            <a:off x="2285545" y="1437571"/>
            <a:ext cx="0" cy="88015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110" name="Hình Bầu dục 68">
            <a:extLst>
              <a:ext uri="{FF2B5EF4-FFF2-40B4-BE49-F238E27FC236}">
                <a16:creationId xmlns:a16="http://schemas.microsoft.com/office/drawing/2014/main" id="{063C1DD0-8806-5A4C-E6FD-CA758178EAB8}"/>
              </a:ext>
            </a:extLst>
          </p:cNvPr>
          <p:cNvSpPr/>
          <p:nvPr/>
        </p:nvSpPr>
        <p:spPr>
          <a:xfrm>
            <a:off x="2236005" y="1383534"/>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111" name="Hình Bầu dục 68">
            <a:extLst>
              <a:ext uri="{FF2B5EF4-FFF2-40B4-BE49-F238E27FC236}">
                <a16:creationId xmlns:a16="http://schemas.microsoft.com/office/drawing/2014/main" id="{E10EC5E8-D6A1-E7E5-B2FE-081E01384AB4}"/>
              </a:ext>
            </a:extLst>
          </p:cNvPr>
          <p:cNvSpPr/>
          <p:nvPr/>
        </p:nvSpPr>
        <p:spPr>
          <a:xfrm>
            <a:off x="2236005" y="1646321"/>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3112" name="Rectangle 3111">
                <a:extLst>
                  <a:ext uri="{FF2B5EF4-FFF2-40B4-BE49-F238E27FC236}">
                    <a16:creationId xmlns:a16="http://schemas.microsoft.com/office/drawing/2014/main" id="{EF88DDAB-50A3-787D-760D-B83B4435E9DE}"/>
                  </a:ext>
                </a:extLst>
              </p:cNvPr>
              <p:cNvSpPr/>
              <p:nvPr/>
            </p:nvSpPr>
            <p:spPr>
              <a:xfrm>
                <a:off x="2129215" y="2317725"/>
                <a:ext cx="299156" cy="2991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oMath>
                  </m:oMathPara>
                </a14:m>
                <a:endParaRPr lang="vi-VN">
                  <a:solidFill>
                    <a:schemeClr val="tx1"/>
                  </a:solidFill>
                </a:endParaRPr>
              </a:p>
            </p:txBody>
          </p:sp>
        </mc:Choice>
        <mc:Fallback xmlns="">
          <p:sp>
            <p:nvSpPr>
              <p:cNvPr id="3112" name="Rectangle 3111">
                <a:extLst>
                  <a:ext uri="{FF2B5EF4-FFF2-40B4-BE49-F238E27FC236}">
                    <a16:creationId xmlns:a16="http://schemas.microsoft.com/office/drawing/2014/main" id="{EF88DDAB-50A3-787D-760D-B83B4435E9DE}"/>
                  </a:ext>
                </a:extLst>
              </p:cNvPr>
              <p:cNvSpPr>
                <a:spLocks noRot="1" noChangeAspect="1" noMove="1" noResize="1" noEditPoints="1" noAdjustHandles="1" noChangeArrowheads="1" noChangeShapeType="1" noTextEdit="1"/>
              </p:cNvSpPr>
              <p:nvPr/>
            </p:nvSpPr>
            <p:spPr>
              <a:xfrm>
                <a:off x="2129215" y="2317725"/>
                <a:ext cx="299156" cy="299156"/>
              </a:xfrm>
              <a:prstGeom prst="rect">
                <a:avLst/>
              </a:prstGeom>
              <a:blipFill>
                <a:blip r:embed="rId2"/>
                <a:stretch>
                  <a:fillRect l="-3922" b="-3922"/>
                </a:stretch>
              </a:blipFill>
            </p:spPr>
            <p:txBody>
              <a:bodyPr/>
              <a:lstStyle/>
              <a:p>
                <a:r>
                  <a:rPr lang="vi-VN">
                    <a:noFill/>
                  </a:rPr>
                  <a:t> </a:t>
                </a:r>
              </a:p>
            </p:txBody>
          </p:sp>
        </mc:Fallback>
      </mc:AlternateContent>
      <p:sp>
        <p:nvSpPr>
          <p:cNvPr id="3113" name="Hình Bầu dục 68">
            <a:extLst>
              <a:ext uri="{FF2B5EF4-FFF2-40B4-BE49-F238E27FC236}">
                <a16:creationId xmlns:a16="http://schemas.microsoft.com/office/drawing/2014/main" id="{3AC080A0-9C55-4D9A-7205-E2B9F967EBD6}"/>
              </a:ext>
            </a:extLst>
          </p:cNvPr>
          <p:cNvSpPr/>
          <p:nvPr/>
        </p:nvSpPr>
        <p:spPr>
          <a:xfrm>
            <a:off x="2238487" y="1902769"/>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114" name="TextBox 3113">
            <a:extLst>
              <a:ext uri="{FF2B5EF4-FFF2-40B4-BE49-F238E27FC236}">
                <a16:creationId xmlns:a16="http://schemas.microsoft.com/office/drawing/2014/main" id="{C0E91CAF-1E19-F035-537F-46EC4E0EE9F2}"/>
              </a:ext>
            </a:extLst>
          </p:cNvPr>
          <p:cNvSpPr txBox="1"/>
          <p:nvPr/>
        </p:nvSpPr>
        <p:spPr>
          <a:xfrm>
            <a:off x="725827" y="2669873"/>
            <a:ext cx="1298847" cy="276999"/>
          </a:xfrm>
          <a:prstGeom prst="rect">
            <a:avLst/>
          </a:prstGeom>
          <a:noFill/>
        </p:spPr>
        <p:txBody>
          <a:bodyPr wrap="square" rtlCol="0">
            <a:spAutoFit/>
          </a:bodyPr>
          <a:lstStyle/>
          <a:p>
            <a:pPr algn="ctr"/>
            <a:r>
              <a:rPr lang="en-US" sz="1200"/>
              <a:t>Toffoli gate</a:t>
            </a:r>
            <a:endParaRPr lang="vi-VN" sz="1200"/>
          </a:p>
        </p:txBody>
      </p:sp>
      <p:sp>
        <p:nvSpPr>
          <p:cNvPr id="3115" name="TextBox 3114">
            <a:extLst>
              <a:ext uri="{FF2B5EF4-FFF2-40B4-BE49-F238E27FC236}">
                <a16:creationId xmlns:a16="http://schemas.microsoft.com/office/drawing/2014/main" id="{B7BA4E5F-2B48-68F5-55FC-DADF577577F5}"/>
              </a:ext>
            </a:extLst>
          </p:cNvPr>
          <p:cNvSpPr txBox="1"/>
          <p:nvPr/>
        </p:nvSpPr>
        <p:spPr>
          <a:xfrm>
            <a:off x="1758096" y="2657540"/>
            <a:ext cx="1354432" cy="276999"/>
          </a:xfrm>
          <a:prstGeom prst="rect">
            <a:avLst/>
          </a:prstGeom>
          <a:noFill/>
        </p:spPr>
        <p:txBody>
          <a:bodyPr wrap="square" rtlCol="0">
            <a:spAutoFit/>
          </a:bodyPr>
          <a:lstStyle/>
          <a:p>
            <a:pPr algn="ctr"/>
            <a:r>
              <a:rPr lang="en-US" sz="1200"/>
              <a:t>Multi-control gate</a:t>
            </a:r>
            <a:endParaRPr lang="vi-VN" sz="1200"/>
          </a:p>
        </p:txBody>
      </p:sp>
      <p:cxnSp>
        <p:nvCxnSpPr>
          <p:cNvPr id="3119" name="Straight Arrow Connector 3118">
            <a:extLst>
              <a:ext uri="{FF2B5EF4-FFF2-40B4-BE49-F238E27FC236}">
                <a16:creationId xmlns:a16="http://schemas.microsoft.com/office/drawing/2014/main" id="{3D2BFE5E-60D7-22CD-BB53-6B84C91F446D}"/>
              </a:ext>
            </a:extLst>
          </p:cNvPr>
          <p:cNvCxnSpPr>
            <a:cxnSpLocks/>
          </p:cNvCxnSpPr>
          <p:nvPr/>
        </p:nvCxnSpPr>
        <p:spPr>
          <a:xfrm>
            <a:off x="2679700" y="1949436"/>
            <a:ext cx="21082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21" name="TextBox 3120">
            <a:extLst>
              <a:ext uri="{FF2B5EF4-FFF2-40B4-BE49-F238E27FC236}">
                <a16:creationId xmlns:a16="http://schemas.microsoft.com/office/drawing/2014/main" id="{1AE82582-7AFA-F246-3A0A-292F4EBAEC33}"/>
              </a:ext>
            </a:extLst>
          </p:cNvPr>
          <p:cNvSpPr txBox="1"/>
          <p:nvPr/>
        </p:nvSpPr>
        <p:spPr>
          <a:xfrm>
            <a:off x="676005" y="4374068"/>
            <a:ext cx="3332250" cy="276999"/>
          </a:xfrm>
          <a:prstGeom prst="rect">
            <a:avLst/>
          </a:prstGeom>
          <a:noFill/>
        </p:spPr>
        <p:txBody>
          <a:bodyPr wrap="square" rtlCol="0">
            <a:spAutoFit/>
          </a:bodyPr>
          <a:lstStyle/>
          <a:p>
            <a:r>
              <a:rPr lang="en-US" sz="1200">
                <a:solidFill>
                  <a:srgbClr val="FF0000"/>
                </a:solidFill>
              </a:rPr>
              <a:t>Note that there is a theoretical limit (lower bound)</a:t>
            </a:r>
          </a:p>
        </p:txBody>
      </p:sp>
      <p:sp>
        <p:nvSpPr>
          <p:cNvPr id="3122" name="TextBox 3121">
            <a:extLst>
              <a:ext uri="{FF2B5EF4-FFF2-40B4-BE49-F238E27FC236}">
                <a16:creationId xmlns:a16="http://schemas.microsoft.com/office/drawing/2014/main" id="{31164409-F722-00BF-B909-EE41960C1CCF}"/>
              </a:ext>
            </a:extLst>
          </p:cNvPr>
          <p:cNvSpPr txBox="1"/>
          <p:nvPr/>
        </p:nvSpPr>
        <p:spPr>
          <a:xfrm>
            <a:off x="4787900" y="3758403"/>
            <a:ext cx="4237567" cy="369332"/>
          </a:xfrm>
          <a:prstGeom prst="rect">
            <a:avLst/>
          </a:prstGeom>
          <a:noFill/>
        </p:spPr>
        <p:txBody>
          <a:bodyPr wrap="square" rtlCol="0">
            <a:spAutoFit/>
          </a:bodyPr>
          <a:lstStyle/>
          <a:p>
            <a:pPr algn="ctr"/>
            <a:r>
              <a:rPr lang="en-US"/>
              <a:t>SQUANDER package </a:t>
            </a:r>
            <a:r>
              <a:rPr lang="en-US" b="1"/>
              <a:t>[1.13]</a:t>
            </a:r>
            <a:endParaRPr lang="vi-VN" b="1"/>
          </a:p>
        </p:txBody>
      </p:sp>
      <mc:AlternateContent xmlns:mc="http://schemas.openxmlformats.org/markup-compatibility/2006" xmlns:a14="http://schemas.microsoft.com/office/drawing/2010/main">
        <mc:Choice Requires="a14">
          <p:sp>
            <p:nvSpPr>
              <p:cNvPr id="3125" name="TextBox 3124">
                <a:extLst>
                  <a:ext uri="{FF2B5EF4-FFF2-40B4-BE49-F238E27FC236}">
                    <a16:creationId xmlns:a16="http://schemas.microsoft.com/office/drawing/2014/main" id="{D3455E8F-149D-E3E7-CD34-DF36784279EF}"/>
                  </a:ext>
                </a:extLst>
              </p:cNvPr>
              <p:cNvSpPr txBox="1"/>
              <p:nvPr/>
            </p:nvSpPr>
            <p:spPr>
              <a:xfrm>
                <a:off x="2612422" y="1984583"/>
                <a:ext cx="2301882" cy="646331"/>
              </a:xfrm>
              <a:prstGeom prst="rect">
                <a:avLst/>
              </a:prstGeom>
              <a:noFill/>
            </p:spPr>
            <p:txBody>
              <a:bodyPr wrap="square">
                <a:spAutoFit/>
              </a:bodyPr>
              <a:lstStyle/>
              <a:p>
                <a:r>
                  <a:rPr lang="en-US">
                    <a:cs typeface="Times New Roman" panose="02020603050405020304" pitchFamily="18" charset="0"/>
                  </a:rPr>
                  <a:t>- </a:t>
                </a:r>
                <a:r>
                  <a:rPr lang="en-US" sz="1800" b="0">
                    <a:solidFill>
                      <a:schemeClr val="tx1"/>
                    </a:solidFill>
                    <a:cs typeface="Times New Roman" panose="02020603050405020304" pitchFamily="18" charset="0"/>
                  </a:rPr>
                  <a:t>Native gate set </a:t>
                </a:r>
                <a14:m>
                  <m:oMath xmlns:m="http://schemas.openxmlformats.org/officeDocument/2006/math">
                    <m:d>
                      <m:dPr>
                        <m:begChr m:val="{"/>
                        <m:endChr m:val="}"/>
                        <m:ctrlPr>
                          <a:rPr lang="en-US" sz="1800" b="0" i="1" smtClean="0">
                            <a:solidFill>
                              <a:schemeClr val="tx1"/>
                            </a:solidFill>
                            <a:latin typeface="Cambria Math" panose="02040503050406030204" pitchFamily="18" charset="0"/>
                            <a:cs typeface="Times New Roman" panose="02020603050405020304" pitchFamily="18" charset="0"/>
                          </a:rPr>
                        </m:ctrlPr>
                      </m:dPr>
                      <m:e>
                        <m:sSup>
                          <m:sSupPr>
                            <m:ctrlPr>
                              <a:rPr lang="en-US" sz="1800" b="1" i="1" smtClean="0">
                                <a:solidFill>
                                  <a:schemeClr val="tx1"/>
                                </a:solidFill>
                                <a:latin typeface="Cambria Math" panose="02040503050406030204" pitchFamily="18" charset="0"/>
                                <a:cs typeface="Times New Roman" panose="02020603050405020304" pitchFamily="18" charset="0"/>
                              </a:rPr>
                            </m:ctrlPr>
                          </m:sSupPr>
                          <m:e>
                            <m:r>
                              <a:rPr lang="en-US" sz="1800" b="1" i="1" smtClean="0">
                                <a:solidFill>
                                  <a:schemeClr val="tx1"/>
                                </a:solidFill>
                                <a:latin typeface="Cambria Math" panose="02040503050406030204" pitchFamily="18" charset="0"/>
                                <a:cs typeface="Times New Roman" panose="02020603050405020304" pitchFamily="18" charset="0"/>
                              </a:rPr>
                              <m:t>𝒖</m:t>
                            </m:r>
                          </m:e>
                          <m:sup>
                            <m:r>
                              <a:rPr lang="en-US" sz="1800" b="1" i="1" smtClean="0">
                                <a:solidFill>
                                  <a:schemeClr val="tx1"/>
                                </a:solidFill>
                                <a:latin typeface="Cambria Math" panose="02040503050406030204" pitchFamily="18" charset="0"/>
                                <a:cs typeface="Times New Roman" panose="02020603050405020304" pitchFamily="18" charset="0"/>
                              </a:rPr>
                              <m:t>′</m:t>
                            </m:r>
                          </m:sup>
                        </m:sSup>
                      </m:e>
                    </m:d>
                  </m:oMath>
                </a14:m>
                <a:endParaRPr lang="en-US" sz="1800" b="0">
                  <a:solidFill>
                    <a:schemeClr val="tx1"/>
                  </a:solidFill>
                  <a:cs typeface="Times New Roman" panose="02020603050405020304" pitchFamily="18" charset="0"/>
                </a:endParaRPr>
              </a:p>
              <a:p>
                <a:r>
                  <a:rPr lang="en-US"/>
                  <a:t>- Qubit layout</a:t>
                </a:r>
                <a:endParaRPr lang="vi-VN"/>
              </a:p>
            </p:txBody>
          </p:sp>
        </mc:Choice>
        <mc:Fallback xmlns="">
          <p:sp>
            <p:nvSpPr>
              <p:cNvPr id="3125" name="TextBox 3124">
                <a:extLst>
                  <a:ext uri="{FF2B5EF4-FFF2-40B4-BE49-F238E27FC236}">
                    <a16:creationId xmlns:a16="http://schemas.microsoft.com/office/drawing/2014/main" id="{D3455E8F-149D-E3E7-CD34-DF36784279EF}"/>
                  </a:ext>
                </a:extLst>
              </p:cNvPr>
              <p:cNvSpPr txBox="1">
                <a:spLocks noRot="1" noChangeAspect="1" noMove="1" noResize="1" noEditPoints="1" noAdjustHandles="1" noChangeArrowheads="1" noChangeShapeType="1" noTextEdit="1"/>
              </p:cNvSpPr>
              <p:nvPr/>
            </p:nvSpPr>
            <p:spPr>
              <a:xfrm>
                <a:off x="2612422" y="1984583"/>
                <a:ext cx="2301882" cy="646331"/>
              </a:xfrm>
              <a:prstGeom prst="rect">
                <a:avLst/>
              </a:prstGeom>
              <a:blipFill>
                <a:blip r:embed="rId3"/>
                <a:stretch>
                  <a:fillRect l="-2387" t="-5660" b="-14151"/>
                </a:stretch>
              </a:blipFill>
            </p:spPr>
            <p:txBody>
              <a:bodyPr/>
              <a:lstStyle/>
              <a:p>
                <a:r>
                  <a:rPr lang="vi-VN">
                    <a:noFill/>
                  </a:rPr>
                  <a:t> </a:t>
                </a:r>
              </a:p>
            </p:txBody>
          </p:sp>
        </mc:Fallback>
      </mc:AlternateContent>
      <p:sp>
        <p:nvSpPr>
          <p:cNvPr id="3126" name="Rectangle 3125">
            <a:extLst>
              <a:ext uri="{FF2B5EF4-FFF2-40B4-BE49-F238E27FC236}">
                <a16:creationId xmlns:a16="http://schemas.microsoft.com/office/drawing/2014/main" id="{A5B8B619-20EF-FB21-9724-01955BF2B32D}"/>
              </a:ext>
            </a:extLst>
          </p:cNvPr>
          <p:cNvSpPr/>
          <p:nvPr/>
        </p:nvSpPr>
        <p:spPr>
          <a:xfrm>
            <a:off x="4804413" y="1087832"/>
            <a:ext cx="4187187" cy="2620427"/>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3127" name="Đường nối Thẳng 58">
            <a:extLst>
              <a:ext uri="{FF2B5EF4-FFF2-40B4-BE49-F238E27FC236}">
                <a16:creationId xmlns:a16="http://schemas.microsoft.com/office/drawing/2014/main" id="{AAF1043F-0F45-4A5E-B369-6444FE8C202F}"/>
              </a:ext>
            </a:extLst>
          </p:cNvPr>
          <p:cNvCxnSpPr>
            <a:cxnSpLocks/>
          </p:cNvCxnSpPr>
          <p:nvPr/>
        </p:nvCxnSpPr>
        <p:spPr>
          <a:xfrm>
            <a:off x="5272623" y="1514263"/>
            <a:ext cx="173736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128" name="Đường nối Thẳng 59">
            <a:extLst>
              <a:ext uri="{FF2B5EF4-FFF2-40B4-BE49-F238E27FC236}">
                <a16:creationId xmlns:a16="http://schemas.microsoft.com/office/drawing/2014/main" id="{CA743814-9886-0112-A394-22F24232E8BC}"/>
              </a:ext>
            </a:extLst>
          </p:cNvPr>
          <p:cNvCxnSpPr>
            <a:cxnSpLocks/>
          </p:cNvCxnSpPr>
          <p:nvPr/>
        </p:nvCxnSpPr>
        <p:spPr>
          <a:xfrm>
            <a:off x="5272623" y="1971044"/>
            <a:ext cx="173736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29" name="Rectangle 3128">
                <a:extLst>
                  <a:ext uri="{FF2B5EF4-FFF2-40B4-BE49-F238E27FC236}">
                    <a16:creationId xmlns:a16="http://schemas.microsoft.com/office/drawing/2014/main" id="{7376E7E1-830F-50CC-D37C-467C96C60EF5}"/>
                  </a:ext>
                </a:extLst>
              </p:cNvPr>
              <p:cNvSpPr/>
              <p:nvPr/>
            </p:nvSpPr>
            <p:spPr>
              <a:xfrm>
                <a:off x="5447300" y="1380398"/>
                <a:ext cx="1113099" cy="2991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𝜆</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𝜙</m:t>
                          </m:r>
                        </m:e>
                      </m:d>
                    </m:oMath>
                  </m:oMathPara>
                </a14:m>
                <a:endParaRPr lang="vi-VN">
                  <a:solidFill>
                    <a:schemeClr val="tx1"/>
                  </a:solidFill>
                </a:endParaRPr>
              </a:p>
            </p:txBody>
          </p:sp>
        </mc:Choice>
        <mc:Fallback xmlns="">
          <p:sp>
            <p:nvSpPr>
              <p:cNvPr id="3129" name="Rectangle 3128">
                <a:extLst>
                  <a:ext uri="{FF2B5EF4-FFF2-40B4-BE49-F238E27FC236}">
                    <a16:creationId xmlns:a16="http://schemas.microsoft.com/office/drawing/2014/main" id="{7376E7E1-830F-50CC-D37C-467C96C60EF5}"/>
                  </a:ext>
                </a:extLst>
              </p:cNvPr>
              <p:cNvSpPr>
                <a:spLocks noRot="1" noChangeAspect="1" noMove="1" noResize="1" noEditPoints="1" noAdjustHandles="1" noChangeArrowheads="1" noChangeShapeType="1" noTextEdit="1"/>
              </p:cNvSpPr>
              <p:nvPr/>
            </p:nvSpPr>
            <p:spPr>
              <a:xfrm>
                <a:off x="5447300" y="1380398"/>
                <a:ext cx="1113099" cy="299156"/>
              </a:xfrm>
              <a:prstGeom prst="rect">
                <a:avLst/>
              </a:prstGeom>
              <a:blipFill>
                <a:blip r:embed="rId4"/>
                <a:stretch>
                  <a:fillRect b="-2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30" name="Rectangle 3129">
                <a:extLst>
                  <a:ext uri="{FF2B5EF4-FFF2-40B4-BE49-F238E27FC236}">
                    <a16:creationId xmlns:a16="http://schemas.microsoft.com/office/drawing/2014/main" id="{81FFACF0-5394-FB65-ED9D-AAF2C1E34B5D}"/>
                  </a:ext>
                </a:extLst>
              </p:cNvPr>
              <p:cNvSpPr/>
              <p:nvPr/>
            </p:nvSpPr>
            <p:spPr>
              <a:xfrm>
                <a:off x="5447291" y="1820655"/>
                <a:ext cx="1113099" cy="2991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𝜆</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𝜙</m:t>
                          </m:r>
                        </m:e>
                      </m:d>
                    </m:oMath>
                  </m:oMathPara>
                </a14:m>
                <a:endParaRPr lang="vi-VN">
                  <a:solidFill>
                    <a:schemeClr val="tx1"/>
                  </a:solidFill>
                </a:endParaRPr>
              </a:p>
            </p:txBody>
          </p:sp>
        </mc:Choice>
        <mc:Fallback xmlns="">
          <p:sp>
            <p:nvSpPr>
              <p:cNvPr id="3130" name="Rectangle 3129">
                <a:extLst>
                  <a:ext uri="{FF2B5EF4-FFF2-40B4-BE49-F238E27FC236}">
                    <a16:creationId xmlns:a16="http://schemas.microsoft.com/office/drawing/2014/main" id="{81FFACF0-5394-FB65-ED9D-AAF2C1E34B5D}"/>
                  </a:ext>
                </a:extLst>
              </p:cNvPr>
              <p:cNvSpPr>
                <a:spLocks noRot="1" noChangeAspect="1" noMove="1" noResize="1" noEditPoints="1" noAdjustHandles="1" noChangeArrowheads="1" noChangeShapeType="1" noTextEdit="1"/>
              </p:cNvSpPr>
              <p:nvPr/>
            </p:nvSpPr>
            <p:spPr>
              <a:xfrm>
                <a:off x="5447291" y="1820655"/>
                <a:ext cx="1113099" cy="299156"/>
              </a:xfrm>
              <a:prstGeom prst="rect">
                <a:avLst/>
              </a:prstGeom>
              <a:blipFill>
                <a:blip r:embed="rId5"/>
                <a:stretch>
                  <a:fillRect b="-25490"/>
                </a:stretch>
              </a:blipFill>
            </p:spPr>
            <p:txBody>
              <a:bodyPr/>
              <a:lstStyle/>
              <a:p>
                <a:r>
                  <a:rPr lang="vi-VN">
                    <a:noFill/>
                  </a:rPr>
                  <a:t> </a:t>
                </a:r>
              </a:p>
            </p:txBody>
          </p:sp>
        </mc:Fallback>
      </mc:AlternateContent>
      <p:cxnSp>
        <p:nvCxnSpPr>
          <p:cNvPr id="3131" name="Đường nối Thẳng 67">
            <a:extLst>
              <a:ext uri="{FF2B5EF4-FFF2-40B4-BE49-F238E27FC236}">
                <a16:creationId xmlns:a16="http://schemas.microsoft.com/office/drawing/2014/main" id="{2EF115C0-C916-8493-6535-6C24EC41E38D}"/>
              </a:ext>
            </a:extLst>
          </p:cNvPr>
          <p:cNvCxnSpPr>
            <a:cxnSpLocks/>
            <a:stCxn id="3135" idx="4"/>
          </p:cNvCxnSpPr>
          <p:nvPr/>
        </p:nvCxnSpPr>
        <p:spPr>
          <a:xfrm flipV="1">
            <a:off x="6780810" y="1517331"/>
            <a:ext cx="0" cy="56486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37" name="TextBox 3136">
                <a:extLst>
                  <a:ext uri="{FF2B5EF4-FFF2-40B4-BE49-F238E27FC236}">
                    <a16:creationId xmlns:a16="http://schemas.microsoft.com/office/drawing/2014/main" id="{898CD2AB-214B-0A31-B515-6761B317B658}"/>
                  </a:ext>
                </a:extLst>
              </p:cNvPr>
              <p:cNvSpPr txBox="1"/>
              <p:nvPr/>
            </p:nvSpPr>
            <p:spPr>
              <a:xfrm>
                <a:off x="5014808" y="1328216"/>
                <a:ext cx="2888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oMath>
                  </m:oMathPara>
                </a14:m>
                <a:endParaRPr lang="en-US"/>
              </a:p>
            </p:txBody>
          </p:sp>
        </mc:Choice>
        <mc:Fallback xmlns="">
          <p:sp>
            <p:nvSpPr>
              <p:cNvPr id="3137" name="TextBox 3136">
                <a:extLst>
                  <a:ext uri="{FF2B5EF4-FFF2-40B4-BE49-F238E27FC236}">
                    <a16:creationId xmlns:a16="http://schemas.microsoft.com/office/drawing/2014/main" id="{898CD2AB-214B-0A31-B515-6761B317B658}"/>
                  </a:ext>
                </a:extLst>
              </p:cNvPr>
              <p:cNvSpPr txBox="1">
                <a:spLocks noRot="1" noChangeAspect="1" noMove="1" noResize="1" noEditPoints="1" noAdjustHandles="1" noChangeArrowheads="1" noChangeShapeType="1" noTextEdit="1"/>
              </p:cNvSpPr>
              <p:nvPr/>
            </p:nvSpPr>
            <p:spPr>
              <a:xfrm>
                <a:off x="5014808" y="1328216"/>
                <a:ext cx="288875" cy="369332"/>
              </a:xfrm>
              <a:prstGeom prst="rect">
                <a:avLst/>
              </a:prstGeom>
              <a:blipFill>
                <a:blip r:embed="rId6"/>
                <a:stretch>
                  <a:fillRect l="-2128" r="-4255" b="-13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38" name="TextBox 3137">
                <a:extLst>
                  <a:ext uri="{FF2B5EF4-FFF2-40B4-BE49-F238E27FC236}">
                    <a16:creationId xmlns:a16="http://schemas.microsoft.com/office/drawing/2014/main" id="{1000710C-DAD7-1D29-B321-99A841DD3D17}"/>
                  </a:ext>
                </a:extLst>
              </p:cNvPr>
              <p:cNvSpPr txBox="1"/>
              <p:nvPr/>
            </p:nvSpPr>
            <p:spPr>
              <a:xfrm>
                <a:off x="5010645" y="1772742"/>
                <a:ext cx="261977"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𝑘</m:t>
                      </m:r>
                    </m:oMath>
                  </m:oMathPara>
                </a14:m>
                <a:endParaRPr lang="en-US"/>
              </a:p>
            </p:txBody>
          </p:sp>
        </mc:Choice>
        <mc:Fallback xmlns="">
          <p:sp>
            <p:nvSpPr>
              <p:cNvPr id="3138" name="TextBox 3137">
                <a:extLst>
                  <a:ext uri="{FF2B5EF4-FFF2-40B4-BE49-F238E27FC236}">
                    <a16:creationId xmlns:a16="http://schemas.microsoft.com/office/drawing/2014/main" id="{1000710C-DAD7-1D29-B321-99A841DD3D17}"/>
                  </a:ext>
                </a:extLst>
              </p:cNvPr>
              <p:cNvSpPr txBox="1">
                <a:spLocks noRot="1" noChangeAspect="1" noMove="1" noResize="1" noEditPoints="1" noAdjustHandles="1" noChangeArrowheads="1" noChangeShapeType="1" noTextEdit="1"/>
              </p:cNvSpPr>
              <p:nvPr/>
            </p:nvSpPr>
            <p:spPr>
              <a:xfrm>
                <a:off x="5010645" y="1772742"/>
                <a:ext cx="261977" cy="369332"/>
              </a:xfrm>
              <a:prstGeom prst="rect">
                <a:avLst/>
              </a:prstGeom>
              <a:blipFill>
                <a:blip r:embed="rId7"/>
                <a:stretch>
                  <a:fillRect r="-1627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39" name="Rectangle 3138">
                <a:extLst>
                  <a:ext uri="{FF2B5EF4-FFF2-40B4-BE49-F238E27FC236}">
                    <a16:creationId xmlns:a16="http://schemas.microsoft.com/office/drawing/2014/main" id="{34307BED-3CDA-5CA1-7F77-3F68D3249371}"/>
                  </a:ext>
                </a:extLst>
              </p:cNvPr>
              <p:cNvSpPr/>
              <p:nvPr/>
            </p:nvSpPr>
            <p:spPr>
              <a:xfrm>
                <a:off x="7440908" y="1374641"/>
                <a:ext cx="1136389" cy="7382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  </m:t>
                          </m:r>
                          <m:r>
                            <a:rPr lang="vi-VN" i="1" smtClean="0">
                              <a:solidFill>
                                <a:schemeClr val="tx1"/>
                              </a:solidFill>
                              <a:latin typeface="Cambria Math" panose="02040503050406030204" pitchFamily="18" charset="0"/>
                              <a:ea typeface="Cambria Math" panose="02040503050406030204" pitchFamily="18" charset="0"/>
                            </a:rPr>
                            <m:t>𝒰</m:t>
                          </m:r>
                        </m:e>
                        <m:sub>
                          <m:r>
                            <a:rPr lang="en-US" b="0" i="1" smtClean="0">
                              <a:solidFill>
                                <a:schemeClr val="tx1"/>
                              </a:solidFill>
                              <a:latin typeface="Cambria Math" panose="02040503050406030204" pitchFamily="18" charset="0"/>
                              <a:ea typeface="Cambria Math" panose="02040503050406030204" pitchFamily="18" charset="0"/>
                            </a:rPr>
                            <m:t>𝑗</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𝑘</m:t>
                          </m:r>
                        </m:sub>
                      </m:sSub>
                      <m:d>
                        <m:dPr>
                          <m:ctrlPr>
                            <a:rPr lang="en-US" b="0" i="1" smtClean="0">
                              <a:solidFill>
                                <a:schemeClr val="tx1"/>
                              </a:solidFill>
                              <a:latin typeface="Cambria Math" panose="02040503050406030204" pitchFamily="18" charset="0"/>
                              <a:ea typeface="Cambria Math" panose="02040503050406030204" pitchFamily="18" charset="0"/>
                            </a:rPr>
                          </m:ctrlPr>
                        </m:dPr>
                        <m:e>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1" i="1" smtClean="0">
                                  <a:solidFill>
                                    <a:schemeClr val="tx1"/>
                                  </a:solidFill>
                                  <a:latin typeface="Cambria Math" panose="02040503050406030204" pitchFamily="18" charset="0"/>
                                  <a:ea typeface="Cambria Math" panose="02040503050406030204" pitchFamily="18" charset="0"/>
                                </a:rPr>
                                <m:t>𝜽</m:t>
                              </m:r>
                            </m:e>
                            <m:sub>
                              <m:r>
                                <a:rPr lang="en-US" b="0" i="1" smtClean="0">
                                  <a:solidFill>
                                    <a:schemeClr val="tx1"/>
                                  </a:solidFill>
                                  <a:latin typeface="Cambria Math" panose="02040503050406030204" pitchFamily="18" charset="0"/>
                                  <a:ea typeface="Cambria Math" panose="02040503050406030204" pitchFamily="18" charset="0"/>
                                </a:rPr>
                                <m:t>𝑗</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𝑘</m:t>
                              </m:r>
                            </m:sub>
                          </m:sSub>
                        </m:e>
                      </m:d>
                    </m:oMath>
                  </m:oMathPara>
                </a14:m>
                <a:endParaRPr lang="vi-VN">
                  <a:solidFill>
                    <a:schemeClr val="tx1"/>
                  </a:solidFill>
                </a:endParaRPr>
              </a:p>
            </p:txBody>
          </p:sp>
        </mc:Choice>
        <mc:Fallback xmlns="">
          <p:sp>
            <p:nvSpPr>
              <p:cNvPr id="3139" name="Rectangle 3138">
                <a:extLst>
                  <a:ext uri="{FF2B5EF4-FFF2-40B4-BE49-F238E27FC236}">
                    <a16:creationId xmlns:a16="http://schemas.microsoft.com/office/drawing/2014/main" id="{34307BED-3CDA-5CA1-7F77-3F68D3249371}"/>
                  </a:ext>
                </a:extLst>
              </p:cNvPr>
              <p:cNvSpPr>
                <a:spLocks noRot="1" noChangeAspect="1" noMove="1" noResize="1" noEditPoints="1" noAdjustHandles="1" noChangeArrowheads="1" noChangeShapeType="1" noTextEdit="1"/>
              </p:cNvSpPr>
              <p:nvPr/>
            </p:nvSpPr>
            <p:spPr>
              <a:xfrm>
                <a:off x="7440908" y="1374641"/>
                <a:ext cx="1136389" cy="738276"/>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40" name="TextBox 3139">
                <a:extLst>
                  <a:ext uri="{FF2B5EF4-FFF2-40B4-BE49-F238E27FC236}">
                    <a16:creationId xmlns:a16="http://schemas.microsoft.com/office/drawing/2014/main" id="{D0D1879C-ECB0-2A8D-1F6C-EDC1C4352F07}"/>
                  </a:ext>
                </a:extLst>
              </p:cNvPr>
              <p:cNvSpPr txBox="1"/>
              <p:nvPr/>
            </p:nvSpPr>
            <p:spPr>
              <a:xfrm>
                <a:off x="7050132" y="1553766"/>
                <a:ext cx="329988"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m:t>
                      </m:r>
                    </m:oMath>
                  </m:oMathPara>
                </a14:m>
                <a:endParaRPr lang="en-US"/>
              </a:p>
            </p:txBody>
          </p:sp>
        </mc:Choice>
        <mc:Fallback xmlns="">
          <p:sp>
            <p:nvSpPr>
              <p:cNvPr id="3140" name="TextBox 3139">
                <a:extLst>
                  <a:ext uri="{FF2B5EF4-FFF2-40B4-BE49-F238E27FC236}">
                    <a16:creationId xmlns:a16="http://schemas.microsoft.com/office/drawing/2014/main" id="{D0D1879C-ECB0-2A8D-1F6C-EDC1C4352F07}"/>
                  </a:ext>
                </a:extLst>
              </p:cNvPr>
              <p:cNvSpPr txBox="1">
                <a:spLocks noRot="1" noChangeAspect="1" noMove="1" noResize="1" noEditPoints="1" noAdjustHandles="1" noChangeArrowheads="1" noChangeShapeType="1" noTextEdit="1"/>
              </p:cNvSpPr>
              <p:nvPr/>
            </p:nvSpPr>
            <p:spPr>
              <a:xfrm>
                <a:off x="7050132" y="1553766"/>
                <a:ext cx="329988" cy="369332"/>
              </a:xfrm>
              <a:prstGeom prst="rect">
                <a:avLst/>
              </a:prstGeom>
              <a:blipFill>
                <a:blip r:embed="rId9"/>
                <a:stretch>
                  <a:fillRect/>
                </a:stretch>
              </a:blipFill>
            </p:spPr>
            <p:txBody>
              <a:bodyPr/>
              <a:lstStyle/>
              <a:p>
                <a:r>
                  <a:rPr lang="vi-VN">
                    <a:noFill/>
                  </a:rPr>
                  <a:t> </a:t>
                </a:r>
              </a:p>
            </p:txBody>
          </p:sp>
        </mc:Fallback>
      </mc:AlternateContent>
      <p:sp>
        <p:nvSpPr>
          <p:cNvPr id="3142" name="Hình Bầu dục 68">
            <a:extLst>
              <a:ext uri="{FF2B5EF4-FFF2-40B4-BE49-F238E27FC236}">
                <a16:creationId xmlns:a16="http://schemas.microsoft.com/office/drawing/2014/main" id="{4936804A-4332-A26A-AF17-934FA3A8A7F7}"/>
              </a:ext>
            </a:extLst>
          </p:cNvPr>
          <p:cNvSpPr/>
          <p:nvPr/>
        </p:nvSpPr>
        <p:spPr>
          <a:xfrm>
            <a:off x="6733752" y="1468660"/>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3143" name="Đường nối Thẳng 58">
            <a:extLst>
              <a:ext uri="{FF2B5EF4-FFF2-40B4-BE49-F238E27FC236}">
                <a16:creationId xmlns:a16="http://schemas.microsoft.com/office/drawing/2014/main" id="{32DD3982-8B99-3C35-D485-1AD9105E52C9}"/>
              </a:ext>
            </a:extLst>
          </p:cNvPr>
          <p:cNvCxnSpPr>
            <a:cxnSpLocks/>
          </p:cNvCxnSpPr>
          <p:nvPr/>
        </p:nvCxnSpPr>
        <p:spPr>
          <a:xfrm>
            <a:off x="5178496" y="2889780"/>
            <a:ext cx="173736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41" name="Rectangle 3140">
                <a:extLst>
                  <a:ext uri="{FF2B5EF4-FFF2-40B4-BE49-F238E27FC236}">
                    <a16:creationId xmlns:a16="http://schemas.microsoft.com/office/drawing/2014/main" id="{FBD168E3-55E2-1FCD-A834-6F2637744C8A}"/>
                  </a:ext>
                </a:extLst>
              </p:cNvPr>
              <p:cNvSpPr/>
              <p:nvPr/>
            </p:nvSpPr>
            <p:spPr>
              <a:xfrm>
                <a:off x="5586787" y="2523654"/>
                <a:ext cx="1136389" cy="7382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  </m:t>
                          </m:r>
                          <m:r>
                            <a:rPr lang="vi-VN" i="1" smtClean="0">
                              <a:solidFill>
                                <a:schemeClr val="tx1"/>
                              </a:solidFill>
                              <a:latin typeface="Cambria Math" panose="02040503050406030204" pitchFamily="18" charset="0"/>
                              <a:ea typeface="Cambria Math" panose="02040503050406030204" pitchFamily="18" charset="0"/>
                            </a:rPr>
                            <m:t>𝒰</m:t>
                          </m:r>
                        </m:e>
                        <m:sub>
                          <m:r>
                            <a:rPr lang="en-US" b="0" i="1" smtClean="0">
                              <a:solidFill>
                                <a:schemeClr val="tx1"/>
                              </a:solidFill>
                              <a:latin typeface="Cambria Math" panose="02040503050406030204" pitchFamily="18" charset="0"/>
                              <a:ea typeface="Cambria Math" panose="02040503050406030204" pitchFamily="18" charset="0"/>
                            </a:rPr>
                            <m:t>𝑗</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𝑘</m:t>
                          </m:r>
                        </m:sub>
                      </m:sSub>
                      <m:d>
                        <m:dPr>
                          <m:ctrlPr>
                            <a:rPr lang="en-US" b="0" i="1" smtClean="0">
                              <a:solidFill>
                                <a:schemeClr val="tx1"/>
                              </a:solidFill>
                              <a:latin typeface="Cambria Math" panose="02040503050406030204" pitchFamily="18" charset="0"/>
                              <a:ea typeface="Cambria Math" panose="02040503050406030204" pitchFamily="18" charset="0"/>
                            </a:rPr>
                          </m:ctrlPr>
                        </m:dPr>
                        <m:e>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1" i="1" smtClean="0">
                                  <a:solidFill>
                                    <a:schemeClr val="tx1"/>
                                  </a:solidFill>
                                  <a:latin typeface="Cambria Math" panose="02040503050406030204" pitchFamily="18" charset="0"/>
                                  <a:ea typeface="Cambria Math" panose="02040503050406030204" pitchFamily="18" charset="0"/>
                                </a:rPr>
                                <m:t>𝜽</m:t>
                              </m:r>
                            </m:e>
                            <m:sub>
                              <m:r>
                                <a:rPr lang="en-US" b="0" i="1" smtClean="0">
                                  <a:solidFill>
                                    <a:schemeClr val="tx1"/>
                                  </a:solidFill>
                                  <a:latin typeface="Cambria Math" panose="02040503050406030204" pitchFamily="18" charset="0"/>
                                  <a:ea typeface="Cambria Math" panose="02040503050406030204" pitchFamily="18" charset="0"/>
                                </a:rPr>
                                <m:t>𝑗</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𝑘</m:t>
                              </m:r>
                            </m:sub>
                          </m:sSub>
                        </m:e>
                      </m:d>
                    </m:oMath>
                  </m:oMathPara>
                </a14:m>
                <a:endParaRPr lang="vi-VN">
                  <a:solidFill>
                    <a:schemeClr val="tx1"/>
                  </a:solidFill>
                </a:endParaRPr>
              </a:p>
            </p:txBody>
          </p:sp>
        </mc:Choice>
        <mc:Fallback xmlns="">
          <p:sp>
            <p:nvSpPr>
              <p:cNvPr id="3141" name="Rectangle 3140">
                <a:extLst>
                  <a:ext uri="{FF2B5EF4-FFF2-40B4-BE49-F238E27FC236}">
                    <a16:creationId xmlns:a16="http://schemas.microsoft.com/office/drawing/2014/main" id="{FBD168E3-55E2-1FCD-A834-6F2637744C8A}"/>
                  </a:ext>
                </a:extLst>
              </p:cNvPr>
              <p:cNvSpPr>
                <a:spLocks noRot="1" noChangeAspect="1" noMove="1" noResize="1" noEditPoints="1" noAdjustHandles="1" noChangeArrowheads="1" noChangeShapeType="1" noTextEdit="1"/>
              </p:cNvSpPr>
              <p:nvPr/>
            </p:nvSpPr>
            <p:spPr>
              <a:xfrm>
                <a:off x="5586787" y="2523654"/>
                <a:ext cx="1136389" cy="738276"/>
              </a:xfrm>
              <a:prstGeom prst="rect">
                <a:avLst/>
              </a:prstGeom>
              <a:blipFill>
                <a:blip r:embed="rId10"/>
                <a:stretch>
                  <a:fillRect/>
                </a:stretch>
              </a:blipFill>
            </p:spPr>
            <p:txBody>
              <a:bodyPr/>
              <a:lstStyle/>
              <a:p>
                <a:r>
                  <a:rPr lang="vi-VN">
                    <a:noFill/>
                  </a:rPr>
                  <a:t> </a:t>
                </a:r>
              </a:p>
            </p:txBody>
          </p:sp>
        </mc:Fallback>
      </mc:AlternateContent>
      <p:cxnSp>
        <p:nvCxnSpPr>
          <p:cNvPr id="3144" name="Đường nối Thẳng 58">
            <a:extLst>
              <a:ext uri="{FF2B5EF4-FFF2-40B4-BE49-F238E27FC236}">
                <a16:creationId xmlns:a16="http://schemas.microsoft.com/office/drawing/2014/main" id="{90E97F61-DFF8-2CA3-CD47-E16CB5DEEADD}"/>
              </a:ext>
            </a:extLst>
          </p:cNvPr>
          <p:cNvCxnSpPr>
            <a:cxnSpLocks/>
          </p:cNvCxnSpPr>
          <p:nvPr/>
        </p:nvCxnSpPr>
        <p:spPr>
          <a:xfrm flipV="1">
            <a:off x="5251637" y="2771422"/>
            <a:ext cx="87337" cy="21383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148" name="Left Bracket 3147">
            <a:extLst>
              <a:ext uri="{FF2B5EF4-FFF2-40B4-BE49-F238E27FC236}">
                <a16:creationId xmlns:a16="http://schemas.microsoft.com/office/drawing/2014/main" id="{4A33540F-4888-99FB-B106-6D02F5EE6163}"/>
              </a:ext>
            </a:extLst>
          </p:cNvPr>
          <p:cNvSpPr/>
          <p:nvPr/>
        </p:nvSpPr>
        <p:spPr>
          <a:xfrm>
            <a:off x="5490528" y="2393307"/>
            <a:ext cx="150301" cy="977132"/>
          </a:xfrm>
          <a:prstGeom prst="leftBracket">
            <a:avLst>
              <a:gd name="adj" fmla="val 5339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3149" name="Left Bracket 3148">
            <a:extLst>
              <a:ext uri="{FF2B5EF4-FFF2-40B4-BE49-F238E27FC236}">
                <a16:creationId xmlns:a16="http://schemas.microsoft.com/office/drawing/2014/main" id="{ABA03235-93D0-D32C-53BF-8495820E6076}"/>
              </a:ext>
            </a:extLst>
          </p:cNvPr>
          <p:cNvSpPr/>
          <p:nvPr/>
        </p:nvSpPr>
        <p:spPr>
          <a:xfrm flipH="1">
            <a:off x="6669214" y="2393091"/>
            <a:ext cx="150301" cy="977132"/>
          </a:xfrm>
          <a:prstGeom prst="leftBracket">
            <a:avLst>
              <a:gd name="adj" fmla="val 5339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150" name="TextBox 3149">
                <a:extLst>
                  <a:ext uri="{FF2B5EF4-FFF2-40B4-BE49-F238E27FC236}">
                    <a16:creationId xmlns:a16="http://schemas.microsoft.com/office/drawing/2014/main" id="{4D05FCCB-7E45-CD93-6956-53A8DBC96072}"/>
                  </a:ext>
                </a:extLst>
              </p:cNvPr>
              <p:cNvSpPr txBox="1"/>
              <p:nvPr/>
            </p:nvSpPr>
            <p:spPr>
              <a:xfrm>
                <a:off x="5132478" y="3430259"/>
                <a:ext cx="2247642" cy="276999"/>
              </a:xfrm>
              <a:prstGeom prst="rect">
                <a:avLst/>
              </a:prstGeom>
              <a:noFill/>
            </p:spPr>
            <p:txBody>
              <a:bodyPr wrap="square" rtlCol="0">
                <a:spAutoFit/>
              </a:bodyPr>
              <a:lstStyle/>
              <a:p>
                <a:pPr algn="ctr"/>
                <a14:m>
                  <m:oMath xmlns:m="http://schemas.openxmlformats.org/officeDocument/2006/math">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𝑛</m:t>
                        </m:r>
                      </m:e>
                      <m:sup>
                        <m:r>
                          <a:rPr lang="en-US" sz="1200" b="0" i="1" smtClean="0">
                            <a:solidFill>
                              <a:srgbClr val="FF0000"/>
                            </a:solidFill>
                            <a:latin typeface="Cambria Math" panose="02040503050406030204" pitchFamily="18" charset="0"/>
                          </a:rPr>
                          <m:t>2</m:t>
                        </m:r>
                      </m:sup>
                    </m:sSup>
                  </m:oMath>
                </a14:m>
                <a:r>
                  <a:rPr lang="en-US" sz="1200">
                    <a:solidFill>
                      <a:srgbClr val="FF0000"/>
                    </a:solidFill>
                  </a:rPr>
                  <a:t>   blocks for all possible </a:t>
                </a:r>
                <a14:m>
                  <m:oMath xmlns:m="http://schemas.openxmlformats.org/officeDocument/2006/math">
                    <m:d>
                      <m:dPr>
                        <m:begChr m:val="{"/>
                        <m:endChr m:val="}"/>
                        <m:ctrlPr>
                          <a:rPr lang="en-US" sz="1200" b="0" i="1" smtClean="0">
                            <a:solidFill>
                              <a:srgbClr val="FF0000"/>
                            </a:solidFill>
                            <a:latin typeface="Cambria Math" panose="02040503050406030204" pitchFamily="18" charset="0"/>
                          </a:rPr>
                        </m:ctrlPr>
                      </m:dPr>
                      <m:e>
                        <m:r>
                          <a:rPr lang="en-US" sz="1200" b="0" i="1" smtClean="0">
                            <a:solidFill>
                              <a:srgbClr val="FF0000"/>
                            </a:solidFill>
                            <a:latin typeface="Cambria Math" panose="02040503050406030204" pitchFamily="18" charset="0"/>
                          </a:rPr>
                          <m:t>𝑗</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𝑘</m:t>
                        </m:r>
                      </m:e>
                    </m:d>
                  </m:oMath>
                </a14:m>
                <a:endParaRPr lang="vi-VN" sz="1200">
                  <a:solidFill>
                    <a:srgbClr val="FF0000"/>
                  </a:solidFill>
                </a:endParaRPr>
              </a:p>
            </p:txBody>
          </p:sp>
        </mc:Choice>
        <mc:Fallback xmlns="">
          <p:sp>
            <p:nvSpPr>
              <p:cNvPr id="3150" name="TextBox 3149">
                <a:extLst>
                  <a:ext uri="{FF2B5EF4-FFF2-40B4-BE49-F238E27FC236}">
                    <a16:creationId xmlns:a16="http://schemas.microsoft.com/office/drawing/2014/main" id="{4D05FCCB-7E45-CD93-6956-53A8DBC96072}"/>
                  </a:ext>
                </a:extLst>
              </p:cNvPr>
              <p:cNvSpPr txBox="1">
                <a:spLocks noRot="1" noChangeAspect="1" noMove="1" noResize="1" noEditPoints="1" noAdjustHandles="1" noChangeArrowheads="1" noChangeShapeType="1" noTextEdit="1"/>
              </p:cNvSpPr>
              <p:nvPr/>
            </p:nvSpPr>
            <p:spPr>
              <a:xfrm>
                <a:off x="5132478" y="3430259"/>
                <a:ext cx="2247642" cy="276999"/>
              </a:xfrm>
              <a:prstGeom prst="rect">
                <a:avLst/>
              </a:prstGeom>
              <a:blipFill>
                <a:blip r:embed="rId11"/>
                <a:stretch>
                  <a:fillRect t="-4545" b="-13636"/>
                </a:stretch>
              </a:blipFill>
            </p:spPr>
            <p:txBody>
              <a:bodyPr/>
              <a:lstStyle/>
              <a:p>
                <a:r>
                  <a:rPr lang="en-VN">
                    <a:noFill/>
                  </a:rPr>
                  <a:t> </a:t>
                </a:r>
              </a:p>
            </p:txBody>
          </p:sp>
        </mc:Fallback>
      </mc:AlternateContent>
      <p:cxnSp>
        <p:nvCxnSpPr>
          <p:cNvPr id="3151" name="Straight Arrow Connector 3150">
            <a:extLst>
              <a:ext uri="{FF2B5EF4-FFF2-40B4-BE49-F238E27FC236}">
                <a16:creationId xmlns:a16="http://schemas.microsoft.com/office/drawing/2014/main" id="{1A5449D7-E0B5-F378-B285-FF0F39D6318E}"/>
              </a:ext>
            </a:extLst>
          </p:cNvPr>
          <p:cNvCxnSpPr>
            <a:cxnSpLocks/>
          </p:cNvCxnSpPr>
          <p:nvPr/>
        </p:nvCxnSpPr>
        <p:spPr>
          <a:xfrm>
            <a:off x="6949440" y="2881657"/>
            <a:ext cx="90387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53" name="TextBox 3152">
                <a:extLst>
                  <a:ext uri="{FF2B5EF4-FFF2-40B4-BE49-F238E27FC236}">
                    <a16:creationId xmlns:a16="http://schemas.microsoft.com/office/drawing/2014/main" id="{0A948276-B08D-D1E9-A3B5-2A5AD147B3B8}"/>
                  </a:ext>
                </a:extLst>
              </p:cNvPr>
              <p:cNvSpPr txBox="1"/>
              <p:nvPr/>
            </p:nvSpPr>
            <p:spPr>
              <a:xfrm>
                <a:off x="6861706" y="2374049"/>
                <a:ext cx="1350113" cy="461665"/>
              </a:xfrm>
              <a:prstGeom prst="rect">
                <a:avLst/>
              </a:prstGeom>
              <a:noFill/>
            </p:spPr>
            <p:txBody>
              <a:bodyPr wrap="square" rtlCol="0">
                <a:spAutoFit/>
              </a:bodyPr>
              <a:lstStyle/>
              <a:p>
                <a:r>
                  <a:rPr lang="en-US" sz="1200"/>
                  <a:t>Find ‘active’ blocks and optimal </a:t>
                </a:r>
                <a14:m>
                  <m:oMath xmlns:m="http://schemas.openxmlformats.org/officeDocument/2006/math">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𝜽</m:t>
                        </m:r>
                      </m:e>
                      <m:sup>
                        <m:r>
                          <a:rPr lang="en-US" sz="1200" b="1" i="1" smtClean="0">
                            <a:latin typeface="Cambria Math" panose="02040503050406030204" pitchFamily="18" charset="0"/>
                          </a:rPr>
                          <m:t>∗</m:t>
                        </m:r>
                      </m:sup>
                    </m:sSup>
                  </m:oMath>
                </a14:m>
                <a:endParaRPr lang="vi-VN" sz="1200" b="1"/>
              </a:p>
            </p:txBody>
          </p:sp>
        </mc:Choice>
        <mc:Fallback xmlns="">
          <p:sp>
            <p:nvSpPr>
              <p:cNvPr id="3153" name="TextBox 3152">
                <a:extLst>
                  <a:ext uri="{FF2B5EF4-FFF2-40B4-BE49-F238E27FC236}">
                    <a16:creationId xmlns:a16="http://schemas.microsoft.com/office/drawing/2014/main" id="{0A948276-B08D-D1E9-A3B5-2A5AD147B3B8}"/>
                  </a:ext>
                </a:extLst>
              </p:cNvPr>
              <p:cNvSpPr txBox="1">
                <a:spLocks noRot="1" noChangeAspect="1" noMove="1" noResize="1" noEditPoints="1" noAdjustHandles="1" noChangeArrowheads="1" noChangeShapeType="1" noTextEdit="1"/>
              </p:cNvSpPr>
              <p:nvPr/>
            </p:nvSpPr>
            <p:spPr>
              <a:xfrm>
                <a:off x="6861706" y="2374049"/>
                <a:ext cx="1350113" cy="461665"/>
              </a:xfrm>
              <a:prstGeom prst="rect">
                <a:avLst/>
              </a:prstGeom>
              <a:blipFill>
                <a:blip r:embed="rId12"/>
                <a:stretch>
                  <a:fillRect l="-452" b="-5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54" name="Hình chữ nhật 93">
                <a:extLst>
                  <a:ext uri="{FF2B5EF4-FFF2-40B4-BE49-F238E27FC236}">
                    <a16:creationId xmlns:a16="http://schemas.microsoft.com/office/drawing/2014/main" id="{FFDB10C2-30E3-3CE7-37E3-E2F1E5A05C72}"/>
                  </a:ext>
                </a:extLst>
              </p:cNvPr>
              <p:cNvSpPr/>
              <p:nvPr/>
            </p:nvSpPr>
            <p:spPr>
              <a:xfrm>
                <a:off x="7905806" y="2632462"/>
                <a:ext cx="968168" cy="5569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2800" b="0" i="1" smtClean="0">
                              <a:solidFill>
                                <a:schemeClr val="tx1"/>
                              </a:solidFill>
                              <a:latin typeface="Cambria Math" panose="02040503050406030204" pitchFamily="18" charset="0"/>
                              <a:cs typeface="Times New Roman" panose="02020603050405020304" pitchFamily="18" charset="0"/>
                            </a:rPr>
                          </m:ctrlPr>
                        </m:sSubPr>
                        <m:e>
                          <m:r>
                            <a:rPr lang="en-US" sz="2800" b="0" i="1" smtClean="0">
                              <a:solidFill>
                                <a:schemeClr val="tx1"/>
                              </a:solidFill>
                              <a:latin typeface="Cambria Math" panose="02040503050406030204" pitchFamily="18" charset="0"/>
                              <a:cs typeface="Times New Roman" panose="02020603050405020304" pitchFamily="18" charset="0"/>
                            </a:rPr>
                            <m:t>   </m:t>
                          </m:r>
                          <m:r>
                            <a:rPr lang="en-US" sz="2800" b="0" i="1" smtClean="0">
                              <a:solidFill>
                                <a:schemeClr val="tx1"/>
                              </a:solidFill>
                              <a:latin typeface="Cambria Math" panose="02040503050406030204" pitchFamily="18" charset="0"/>
                              <a:cs typeface="Times New Roman" panose="02020603050405020304" pitchFamily="18" charset="0"/>
                            </a:rPr>
                            <m:t>𝑈</m:t>
                          </m:r>
                          <m:r>
                            <a:rPr lang="en-US" sz="2800" b="0" i="1" smtClean="0">
                              <a:solidFill>
                                <a:schemeClr val="tx1"/>
                              </a:solidFill>
                              <a:latin typeface="Cambria Math" panose="02040503050406030204" pitchFamily="18" charset="0"/>
                              <a:cs typeface="Times New Roman" panose="02020603050405020304" pitchFamily="18" charset="0"/>
                            </a:rPr>
                            <m:t>′</m:t>
                          </m:r>
                        </m:e>
                        <m:sub>
                          <m:r>
                            <a:rPr lang="en-US" sz="2800" b="0" i="1" smtClean="0">
                              <a:solidFill>
                                <a:schemeClr val="tx1"/>
                              </a:solidFill>
                              <a:latin typeface="Cambria Math" panose="02040503050406030204" pitchFamily="18" charset="0"/>
                              <a:cs typeface="Times New Roman" panose="02020603050405020304" pitchFamily="18" charset="0"/>
                            </a:rPr>
                            <m:t>{</m:t>
                          </m:r>
                          <m:r>
                            <a:rPr lang="en-US" sz="2800" b="1" i="1" smtClean="0">
                              <a:solidFill>
                                <a:schemeClr val="tx1"/>
                              </a:solidFill>
                              <a:latin typeface="Cambria Math" panose="02040503050406030204" pitchFamily="18" charset="0"/>
                              <a:cs typeface="Times New Roman" panose="02020603050405020304" pitchFamily="18" charset="0"/>
                            </a:rPr>
                            <m:t>𝒖</m:t>
                          </m:r>
                          <m:r>
                            <a:rPr lang="en-US" sz="2800" b="1" i="1" smtClean="0">
                              <a:solidFill>
                                <a:schemeClr val="tx1"/>
                              </a:solidFill>
                              <a:latin typeface="Cambria Math" panose="02040503050406030204" pitchFamily="18" charset="0"/>
                              <a:cs typeface="Times New Roman" panose="02020603050405020304" pitchFamily="18" charset="0"/>
                            </a:rPr>
                            <m:t>′</m:t>
                          </m:r>
                          <m:r>
                            <a:rPr lang="en-US" sz="2800" b="0" i="1" smtClean="0">
                              <a:solidFill>
                                <a:schemeClr val="tx1"/>
                              </a:solidFill>
                              <a:latin typeface="Cambria Math" panose="02040503050406030204" pitchFamily="18" charset="0"/>
                              <a:cs typeface="Times New Roman" panose="02020603050405020304" pitchFamily="18" charset="0"/>
                            </a:rPr>
                            <m:t>}</m:t>
                          </m:r>
                        </m:sub>
                      </m:sSub>
                    </m:oMath>
                  </m:oMathPara>
                </a14:m>
                <a:endParaRPr lang="vi-VN" sz="2800">
                  <a:solidFill>
                    <a:schemeClr val="tx1"/>
                  </a:solidFill>
                  <a:latin typeface="+mj-lt"/>
                  <a:cs typeface="Times New Roman" panose="02020603050405020304" pitchFamily="18" charset="0"/>
                </a:endParaRPr>
              </a:p>
            </p:txBody>
          </p:sp>
        </mc:Choice>
        <mc:Fallback xmlns="">
          <p:sp>
            <p:nvSpPr>
              <p:cNvPr id="3154" name="Hình chữ nhật 93">
                <a:extLst>
                  <a:ext uri="{FF2B5EF4-FFF2-40B4-BE49-F238E27FC236}">
                    <a16:creationId xmlns:a16="http://schemas.microsoft.com/office/drawing/2014/main" id="{FFDB10C2-30E3-3CE7-37E3-E2F1E5A05C72}"/>
                  </a:ext>
                </a:extLst>
              </p:cNvPr>
              <p:cNvSpPr>
                <a:spLocks noRot="1" noChangeAspect="1" noMove="1" noResize="1" noEditPoints="1" noAdjustHandles="1" noChangeArrowheads="1" noChangeShapeType="1" noTextEdit="1"/>
              </p:cNvSpPr>
              <p:nvPr/>
            </p:nvSpPr>
            <p:spPr>
              <a:xfrm>
                <a:off x="7905806" y="2632462"/>
                <a:ext cx="968168" cy="556938"/>
              </a:xfrm>
              <a:prstGeom prst="rect">
                <a:avLst/>
              </a:prstGeom>
              <a:blipFill>
                <a:blip r:embed="rId13"/>
                <a:stretch>
                  <a:fillRect/>
                </a:stretch>
              </a:blipFill>
              <a:ln>
                <a:solidFill>
                  <a:schemeClr val="tx1"/>
                </a:solidFill>
              </a:ln>
            </p:spPr>
            <p:txBody>
              <a:bodyPr/>
              <a:lstStyle/>
              <a:p>
                <a:r>
                  <a:rPr lang="vi-VN">
                    <a:noFill/>
                  </a:rPr>
                  <a:t> </a:t>
                </a:r>
              </a:p>
            </p:txBody>
          </p:sp>
        </mc:Fallback>
      </mc:AlternateContent>
      <p:pic>
        <p:nvPicPr>
          <p:cNvPr id="3156" name="Picture 3155">
            <a:extLst>
              <a:ext uri="{FF2B5EF4-FFF2-40B4-BE49-F238E27FC236}">
                <a16:creationId xmlns:a16="http://schemas.microsoft.com/office/drawing/2014/main" id="{E44AE496-D6EB-370E-7AE6-7044210D02CF}"/>
              </a:ext>
            </a:extLst>
          </p:cNvPr>
          <p:cNvPicPr>
            <a:picLocks noChangeAspect="1"/>
          </p:cNvPicPr>
          <p:nvPr/>
        </p:nvPicPr>
        <p:blipFill>
          <a:blip r:embed="rId14"/>
          <a:stretch>
            <a:fillRect/>
          </a:stretch>
        </p:blipFill>
        <p:spPr>
          <a:xfrm>
            <a:off x="721014" y="2918469"/>
            <a:ext cx="4003905" cy="1411895"/>
          </a:xfrm>
          <a:prstGeom prst="rect">
            <a:avLst/>
          </a:prstGeom>
        </p:spPr>
      </p:pic>
      <mc:AlternateContent xmlns:mc="http://schemas.openxmlformats.org/markup-compatibility/2006" xmlns:a14="http://schemas.microsoft.com/office/drawing/2010/main">
        <mc:Choice Requires="a14">
          <p:sp>
            <p:nvSpPr>
              <p:cNvPr id="3158" name="TextBox 3157">
                <a:extLst>
                  <a:ext uri="{FF2B5EF4-FFF2-40B4-BE49-F238E27FC236}">
                    <a16:creationId xmlns:a16="http://schemas.microsoft.com/office/drawing/2014/main" id="{2EEC413F-1D78-8B77-54CA-768B85A17785}"/>
                  </a:ext>
                </a:extLst>
              </p:cNvPr>
              <p:cNvSpPr txBox="1"/>
              <p:nvPr/>
            </p:nvSpPr>
            <p:spPr>
              <a:xfrm>
                <a:off x="3981160" y="2892602"/>
                <a:ext cx="271641" cy="24622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𝑛</m:t>
                          </m:r>
                        </m:e>
                        <m:sub>
                          <m:r>
                            <a:rPr lang="en-US" sz="1000" b="0" i="1" smtClean="0">
                              <a:latin typeface="Cambria Math" panose="02040503050406030204" pitchFamily="18" charset="0"/>
                            </a:rPr>
                            <m:t>𝐶𝑋</m:t>
                          </m:r>
                        </m:sub>
                      </m:sSub>
                    </m:oMath>
                  </m:oMathPara>
                </a14:m>
                <a:endParaRPr lang="vi-VN" sz="1000"/>
              </a:p>
            </p:txBody>
          </p:sp>
        </mc:Choice>
        <mc:Fallback xmlns="">
          <p:sp>
            <p:nvSpPr>
              <p:cNvPr id="3158" name="TextBox 3157">
                <a:extLst>
                  <a:ext uri="{FF2B5EF4-FFF2-40B4-BE49-F238E27FC236}">
                    <a16:creationId xmlns:a16="http://schemas.microsoft.com/office/drawing/2014/main" id="{2EEC413F-1D78-8B77-54CA-768B85A17785}"/>
                  </a:ext>
                </a:extLst>
              </p:cNvPr>
              <p:cNvSpPr txBox="1">
                <a:spLocks noRot="1" noChangeAspect="1" noMove="1" noResize="1" noEditPoints="1" noAdjustHandles="1" noChangeArrowheads="1" noChangeShapeType="1" noTextEdit="1"/>
              </p:cNvSpPr>
              <p:nvPr/>
            </p:nvSpPr>
            <p:spPr>
              <a:xfrm>
                <a:off x="3981160" y="2892602"/>
                <a:ext cx="271641" cy="246221"/>
              </a:xfrm>
              <a:prstGeom prst="rect">
                <a:avLst/>
              </a:prstGeom>
              <a:blipFill>
                <a:blip r:embed="rId15"/>
                <a:stretch>
                  <a:fillRect l="-4444"/>
                </a:stretch>
              </a:blipFill>
            </p:spPr>
            <p:txBody>
              <a:bodyPr/>
              <a:lstStyle/>
              <a:p>
                <a:r>
                  <a:rPr lang="vi-VN">
                    <a:noFill/>
                  </a:rPr>
                  <a:t> </a:t>
                </a:r>
              </a:p>
            </p:txBody>
          </p:sp>
        </mc:Fallback>
      </mc:AlternateContent>
      <p:sp>
        <p:nvSpPr>
          <p:cNvPr id="3" name="Connector 2">
            <a:extLst>
              <a:ext uri="{FF2B5EF4-FFF2-40B4-BE49-F238E27FC236}">
                <a16:creationId xmlns:a16="http://schemas.microsoft.com/office/drawing/2014/main" id="{BBC29558-D065-27A9-6AB8-D684FD01ECEC}"/>
              </a:ext>
            </a:extLst>
          </p:cNvPr>
          <p:cNvSpPr/>
          <p:nvPr/>
        </p:nvSpPr>
        <p:spPr>
          <a:xfrm>
            <a:off x="5178496" y="3370223"/>
            <a:ext cx="312032" cy="388180"/>
          </a:xfrm>
          <a:prstGeom prst="flowChartConnector">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 name="TextBox 4">
            <a:extLst>
              <a:ext uri="{FF2B5EF4-FFF2-40B4-BE49-F238E27FC236}">
                <a16:creationId xmlns:a16="http://schemas.microsoft.com/office/drawing/2014/main" id="{F378E340-C648-802E-CC11-87C33D0B1837}"/>
              </a:ext>
            </a:extLst>
          </p:cNvPr>
          <p:cNvSpPr txBox="1"/>
          <p:nvPr/>
        </p:nvSpPr>
        <p:spPr>
          <a:xfrm>
            <a:off x="5637545" y="4146863"/>
            <a:ext cx="2363939" cy="646331"/>
          </a:xfrm>
          <a:prstGeom prst="rect">
            <a:avLst/>
          </a:prstGeom>
          <a:noFill/>
        </p:spPr>
        <p:txBody>
          <a:bodyPr wrap="square" rtlCol="0">
            <a:spAutoFit/>
          </a:bodyPr>
          <a:lstStyle/>
          <a:p>
            <a:r>
              <a:rPr lang="en-US">
                <a:solidFill>
                  <a:srgbClr val="FF0000"/>
                </a:solidFill>
              </a:rPr>
              <a:t>Reduce this complexity by AI models?</a:t>
            </a:r>
          </a:p>
        </p:txBody>
      </p:sp>
      <p:cxnSp>
        <p:nvCxnSpPr>
          <p:cNvPr id="7" name="Curved Connector 6">
            <a:extLst>
              <a:ext uri="{FF2B5EF4-FFF2-40B4-BE49-F238E27FC236}">
                <a16:creationId xmlns:a16="http://schemas.microsoft.com/office/drawing/2014/main" id="{CFD96BEF-C790-BE65-65F2-736A168FC80C}"/>
              </a:ext>
            </a:extLst>
          </p:cNvPr>
          <p:cNvCxnSpPr>
            <a:cxnSpLocks/>
            <a:stCxn id="3" idx="4"/>
            <a:endCxn id="5" idx="1"/>
          </p:cNvCxnSpPr>
          <p:nvPr/>
        </p:nvCxnSpPr>
        <p:spPr>
          <a:xfrm rot="16200000" flipH="1">
            <a:off x="5130215" y="3962699"/>
            <a:ext cx="711626" cy="303033"/>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1036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diagram&#10;&#10;AI-generated content may be incorrect.">
            <a:extLst>
              <a:ext uri="{FF2B5EF4-FFF2-40B4-BE49-F238E27FC236}">
                <a16:creationId xmlns:a16="http://schemas.microsoft.com/office/drawing/2014/main" id="{E382CB1E-28C6-C495-34BF-BB2FCF1127D7}"/>
              </a:ext>
            </a:extLst>
          </p:cNvPr>
          <p:cNvPicPr>
            <a:picLocks noChangeAspect="1"/>
          </p:cNvPicPr>
          <p:nvPr/>
        </p:nvPicPr>
        <p:blipFill>
          <a:blip r:embed="rId2" cstate="print">
            <a:extLst>
              <a:ext uri="{28A0092B-C50C-407E-A947-70E740481C1C}">
                <a14:useLocalDpi xmlns:a14="http://schemas.microsoft.com/office/drawing/2010/main" val="0"/>
              </a:ext>
            </a:extLst>
          </a:blip>
          <a:srcRect l="48697"/>
          <a:stretch>
            <a:fillRect/>
          </a:stretch>
        </p:blipFill>
        <p:spPr>
          <a:xfrm>
            <a:off x="4444886" y="1316181"/>
            <a:ext cx="4679204" cy="3315193"/>
          </a:xfrm>
          <a:prstGeom prst="rect">
            <a:avLst/>
          </a:prstGeom>
        </p:spPr>
      </p:pic>
      <p:sp>
        <p:nvSpPr>
          <p:cNvPr id="2" name="Title 1">
            <a:extLst>
              <a:ext uri="{FF2B5EF4-FFF2-40B4-BE49-F238E27FC236}">
                <a16:creationId xmlns:a16="http://schemas.microsoft.com/office/drawing/2014/main" id="{15724EB9-1B5C-DA88-3294-238A970B4424}"/>
              </a:ext>
            </a:extLst>
          </p:cNvPr>
          <p:cNvSpPr>
            <a:spLocks noGrp="1"/>
          </p:cNvSpPr>
          <p:nvPr>
            <p:ph type="title"/>
          </p:nvPr>
        </p:nvSpPr>
        <p:spPr>
          <a:xfrm>
            <a:off x="628650" y="712"/>
            <a:ext cx="6466417" cy="733144"/>
          </a:xfrm>
        </p:spPr>
        <p:txBody>
          <a:bodyPr/>
          <a:lstStyle/>
          <a:p>
            <a:r>
              <a:rPr lang="en-VN"/>
              <a:t>1.3. Compilation</a:t>
            </a:r>
          </a:p>
        </p:txBody>
      </p:sp>
      <p:sp>
        <p:nvSpPr>
          <p:cNvPr id="3" name="Content Placeholder 2">
            <a:extLst>
              <a:ext uri="{FF2B5EF4-FFF2-40B4-BE49-F238E27FC236}">
                <a16:creationId xmlns:a16="http://schemas.microsoft.com/office/drawing/2014/main" id="{8B741D1C-42B5-AFFC-A2F9-2B68BAC9364F}"/>
              </a:ext>
            </a:extLst>
          </p:cNvPr>
          <p:cNvSpPr>
            <a:spLocks noGrp="1"/>
          </p:cNvSpPr>
          <p:nvPr>
            <p:ph idx="1"/>
          </p:nvPr>
        </p:nvSpPr>
        <p:spPr>
          <a:xfrm>
            <a:off x="628650" y="632950"/>
            <a:ext cx="7886700" cy="863342"/>
          </a:xfrm>
        </p:spPr>
        <p:txBody>
          <a:bodyPr/>
          <a:lstStyle/>
          <a:p>
            <a:pPr marL="0" indent="0">
              <a:buNone/>
            </a:pPr>
            <a:r>
              <a:rPr lang="en-VN"/>
              <a:t>Can we speed-up compilation process by AI models?</a:t>
            </a:r>
          </a:p>
          <a:p>
            <a:pPr marL="0" indent="0">
              <a:buNone/>
            </a:pPr>
            <a:r>
              <a:rPr lang="en-VN"/>
              <a:t>- Quantum architecture search (finding the best ansatz) </a:t>
            </a:r>
            <a:r>
              <a:rPr lang="en-VN" b="1"/>
              <a:t>[</a:t>
            </a:r>
            <a:r>
              <a:rPr lang="en-US" b="1"/>
              <a:t>1.3.3</a:t>
            </a:r>
            <a:r>
              <a:rPr lang="en-VN" b="1"/>
              <a:t>]</a:t>
            </a:r>
          </a:p>
        </p:txBody>
      </p:sp>
      <p:sp>
        <p:nvSpPr>
          <p:cNvPr id="4" name="Slide Number Placeholder 3">
            <a:extLst>
              <a:ext uri="{FF2B5EF4-FFF2-40B4-BE49-F238E27FC236}">
                <a16:creationId xmlns:a16="http://schemas.microsoft.com/office/drawing/2014/main" id="{3DBBAC68-7C36-B72A-A66B-81E7822928C2}"/>
              </a:ext>
            </a:extLst>
          </p:cNvPr>
          <p:cNvSpPr>
            <a:spLocks noGrp="1"/>
          </p:cNvSpPr>
          <p:nvPr>
            <p:ph type="sldNum" sz="quarter" idx="12"/>
          </p:nvPr>
        </p:nvSpPr>
        <p:spPr/>
        <p:txBody>
          <a:bodyPr/>
          <a:lstStyle/>
          <a:p>
            <a:fld id="{6A45828D-F580-42DE-B77E-860980F07F32}" type="slidenum">
              <a:rPr lang="vi-VN" smtClean="0"/>
              <a:pPr/>
              <a:t>13</a:t>
            </a:fld>
            <a:r>
              <a:rPr lang="en-US"/>
              <a:t>/80</a:t>
            </a:r>
            <a:endParaRPr lang="vi-VN"/>
          </a:p>
        </p:txBody>
      </p:sp>
      <p:pic>
        <p:nvPicPr>
          <p:cNvPr id="6" name="Picture 5" descr="A diagram of a diagram&#10;&#10;AI-generated content may be incorrect.">
            <a:extLst>
              <a:ext uri="{FF2B5EF4-FFF2-40B4-BE49-F238E27FC236}">
                <a16:creationId xmlns:a16="http://schemas.microsoft.com/office/drawing/2014/main" id="{2D98519B-0982-B43E-8563-997ADE2EDF19}"/>
              </a:ext>
            </a:extLst>
          </p:cNvPr>
          <p:cNvPicPr>
            <a:picLocks noChangeAspect="1"/>
          </p:cNvPicPr>
          <p:nvPr/>
        </p:nvPicPr>
        <p:blipFill>
          <a:blip r:embed="rId2">
            <a:extLst>
              <a:ext uri="{28A0092B-C50C-407E-A947-70E740481C1C}">
                <a14:useLocalDpi xmlns:a14="http://schemas.microsoft.com/office/drawing/2010/main" val="0"/>
              </a:ext>
            </a:extLst>
          </a:blip>
          <a:srcRect t="10888" r="56064"/>
          <a:stretch>
            <a:fillRect/>
          </a:stretch>
        </p:blipFill>
        <p:spPr>
          <a:xfrm>
            <a:off x="93122" y="1484414"/>
            <a:ext cx="4268729" cy="3146961"/>
          </a:xfrm>
          <a:prstGeom prst="rect">
            <a:avLst/>
          </a:prstGeom>
        </p:spPr>
      </p:pic>
      <p:sp>
        <p:nvSpPr>
          <p:cNvPr id="10" name="TextBox 9">
            <a:extLst>
              <a:ext uri="{FF2B5EF4-FFF2-40B4-BE49-F238E27FC236}">
                <a16:creationId xmlns:a16="http://schemas.microsoft.com/office/drawing/2014/main" id="{8D9A48D5-6B91-AF9C-A79A-26BEED60D075}"/>
              </a:ext>
            </a:extLst>
          </p:cNvPr>
          <p:cNvSpPr txBox="1"/>
          <p:nvPr/>
        </p:nvSpPr>
        <p:spPr>
          <a:xfrm>
            <a:off x="628650" y="4734908"/>
            <a:ext cx="7194550" cy="400110"/>
          </a:xfrm>
          <a:prstGeom prst="rect">
            <a:avLst/>
          </a:prstGeom>
          <a:noFill/>
        </p:spPr>
        <p:txBody>
          <a:bodyPr wrap="square">
            <a:spAutoFit/>
          </a:bodyPr>
          <a:lstStyle/>
          <a:p>
            <a:r>
              <a:rPr lang="en-VN" sz="1000" b="1"/>
              <a:t>[</a:t>
            </a:r>
            <a:r>
              <a:rPr lang="en-US" sz="1000" b="1"/>
              <a:t>1.3.3</a:t>
            </a:r>
            <a:r>
              <a:rPr lang="en-VN" sz="1000" b="1"/>
              <a:t>] </a:t>
            </a:r>
            <a:r>
              <a:rPr lang="en-VN" sz="1000"/>
              <a:t>Quantum Architecture Search with Unsupervised Representation Learning, Yize Sun, Zixin Wu, Volker Tresp, and Yunpu Ma, Quantum 10, 1994 (2026).</a:t>
            </a:r>
          </a:p>
        </p:txBody>
      </p:sp>
    </p:spTree>
    <p:extLst>
      <p:ext uri="{BB962C8B-B14F-4D97-AF65-F5344CB8AC3E}">
        <p14:creationId xmlns:p14="http://schemas.microsoft.com/office/powerpoint/2010/main" val="40519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3BE60-305C-0A55-C689-980B6AFFD739}"/>
              </a:ext>
            </a:extLst>
          </p:cNvPr>
          <p:cNvSpPr>
            <a:spLocks noGrp="1"/>
          </p:cNvSpPr>
          <p:nvPr>
            <p:ph type="title"/>
          </p:nvPr>
        </p:nvSpPr>
        <p:spPr/>
        <p:txBody>
          <a:bodyPr/>
          <a:lstStyle/>
          <a:p>
            <a:r>
              <a:rPr lang="en-VN"/>
              <a:t>1.4. Quantum error correction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40ABDE-F062-720A-B25C-44DBEEB46753}"/>
                  </a:ext>
                </a:extLst>
              </p:cNvPr>
              <p:cNvSpPr>
                <a:spLocks noGrp="1"/>
              </p:cNvSpPr>
              <p:nvPr>
                <p:ph idx="1"/>
              </p:nvPr>
            </p:nvSpPr>
            <p:spPr>
              <a:xfrm>
                <a:off x="628649" y="1181278"/>
                <a:ext cx="8467175" cy="829653"/>
              </a:xfrm>
            </p:spPr>
            <p:txBody>
              <a:bodyPr>
                <a:normAutofit/>
              </a:bodyPr>
              <a:lstStyle/>
              <a:p>
                <a:pPr marL="0" indent="0">
                  <a:buNone/>
                </a:pPr>
                <a:r>
                  <a:rPr lang="en-US"/>
                  <a:t>MWPM decoder (Minimum Weight Perfect Matching) used in Surface code</a:t>
                </a:r>
              </a:p>
              <a:p>
                <a:pPr marL="0" indent="0">
                  <a:buNone/>
                </a:pPr>
                <a:r>
                  <a:rPr lang="en-US"/>
                  <a:t>syndrome </a:t>
                </a:r>
                <a14:m>
                  <m:oMath xmlns:m="http://schemas.openxmlformats.org/officeDocument/2006/math">
                    <m:r>
                      <a:rPr lang="en-US" b="0" i="1" smtClean="0">
                        <a:latin typeface="Cambria Math" panose="02040503050406030204" pitchFamily="18" charset="0"/>
                      </a:rPr>
                      <m:t>→</m:t>
                    </m:r>
                  </m:oMath>
                </a14:m>
                <a:r>
                  <a:rPr lang="en-US"/>
                  <a:t> error qubits</a:t>
                </a:r>
                <a:endParaRPr lang="en-VN"/>
              </a:p>
            </p:txBody>
          </p:sp>
        </mc:Choice>
        <mc:Fallback xmlns="">
          <p:sp>
            <p:nvSpPr>
              <p:cNvPr id="3" name="Content Placeholder 2">
                <a:extLst>
                  <a:ext uri="{FF2B5EF4-FFF2-40B4-BE49-F238E27FC236}">
                    <a16:creationId xmlns:a16="http://schemas.microsoft.com/office/drawing/2014/main" id="{8B40ABDE-F062-720A-B25C-44DBEEB46753}"/>
                  </a:ext>
                </a:extLst>
              </p:cNvPr>
              <p:cNvSpPr>
                <a:spLocks noGrp="1" noRot="1" noChangeAspect="1" noMove="1" noResize="1" noEditPoints="1" noAdjustHandles="1" noChangeArrowheads="1" noChangeShapeType="1" noTextEdit="1"/>
              </p:cNvSpPr>
              <p:nvPr>
                <p:ph idx="1"/>
              </p:nvPr>
            </p:nvSpPr>
            <p:spPr>
              <a:xfrm>
                <a:off x="628649" y="1181278"/>
                <a:ext cx="8467175" cy="829653"/>
              </a:xfrm>
              <a:blipFill>
                <a:blip r:embed="rId3"/>
                <a:stretch>
                  <a:fillRect l="-749" t="-9091" b="-7576"/>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9C7466A8-C21C-4E6A-0D9A-AD27B5C1A897}"/>
              </a:ext>
            </a:extLst>
          </p:cNvPr>
          <p:cNvSpPr>
            <a:spLocks noGrp="1"/>
          </p:cNvSpPr>
          <p:nvPr>
            <p:ph type="sldNum" sz="quarter" idx="12"/>
          </p:nvPr>
        </p:nvSpPr>
        <p:spPr/>
        <p:txBody>
          <a:bodyPr/>
          <a:lstStyle/>
          <a:p>
            <a:fld id="{6A45828D-F580-42DE-B77E-860980F07F32}" type="slidenum">
              <a:rPr lang="vi-VN" smtClean="0"/>
              <a:pPr/>
              <a:t>14</a:t>
            </a:fld>
            <a:r>
              <a:rPr lang="en-US"/>
              <a:t>/80</a:t>
            </a:r>
            <a:endParaRPr lang="vi-VN"/>
          </a:p>
        </p:txBody>
      </p:sp>
      <p:graphicFrame>
        <p:nvGraphicFramePr>
          <p:cNvPr id="5" name="Table 4">
            <a:extLst>
              <a:ext uri="{FF2B5EF4-FFF2-40B4-BE49-F238E27FC236}">
                <a16:creationId xmlns:a16="http://schemas.microsoft.com/office/drawing/2014/main" id="{C91A3190-E339-6F90-8FE0-87D612F49804}"/>
              </a:ext>
            </a:extLst>
          </p:cNvPr>
          <p:cNvGraphicFramePr>
            <a:graphicFrameLocks noGrp="1"/>
          </p:cNvGraphicFramePr>
          <p:nvPr>
            <p:extLst>
              <p:ext uri="{D42A27DB-BD31-4B8C-83A1-F6EECF244321}">
                <p14:modId xmlns:p14="http://schemas.microsoft.com/office/powerpoint/2010/main" val="3895530419"/>
              </p:ext>
            </p:extLst>
          </p:nvPr>
        </p:nvGraphicFramePr>
        <p:xfrm>
          <a:off x="753534" y="2169645"/>
          <a:ext cx="2874432" cy="2275302"/>
        </p:xfrm>
        <a:graphic>
          <a:graphicData uri="http://schemas.openxmlformats.org/drawingml/2006/table">
            <a:tbl>
              <a:tblPr firstRow="1" bandRow="1">
                <a:tableStyleId>{5940675A-B579-460E-94D1-54222C63F5DA}</a:tableStyleId>
              </a:tblPr>
              <a:tblGrid>
                <a:gridCol w="958144">
                  <a:extLst>
                    <a:ext uri="{9D8B030D-6E8A-4147-A177-3AD203B41FA5}">
                      <a16:colId xmlns:a16="http://schemas.microsoft.com/office/drawing/2014/main" val="3121889379"/>
                    </a:ext>
                  </a:extLst>
                </a:gridCol>
                <a:gridCol w="958144">
                  <a:extLst>
                    <a:ext uri="{9D8B030D-6E8A-4147-A177-3AD203B41FA5}">
                      <a16:colId xmlns:a16="http://schemas.microsoft.com/office/drawing/2014/main" val="1213063953"/>
                    </a:ext>
                  </a:extLst>
                </a:gridCol>
                <a:gridCol w="958144">
                  <a:extLst>
                    <a:ext uri="{9D8B030D-6E8A-4147-A177-3AD203B41FA5}">
                      <a16:colId xmlns:a16="http://schemas.microsoft.com/office/drawing/2014/main" val="318578827"/>
                    </a:ext>
                  </a:extLst>
                </a:gridCol>
              </a:tblGrid>
              <a:tr h="758434">
                <a:tc>
                  <a:txBody>
                    <a:bodyPr/>
                    <a:lstStyle/>
                    <a:p>
                      <a:endParaRPr lang="vi-VN" sz="2800"/>
                    </a:p>
                  </a:txBody>
                  <a:tcPr marL="187011" marR="187011" marT="93506" marB="93506"/>
                </a:tc>
                <a:tc>
                  <a:txBody>
                    <a:bodyPr/>
                    <a:lstStyle/>
                    <a:p>
                      <a:endParaRPr lang="vi-VN" sz="2800"/>
                    </a:p>
                  </a:txBody>
                  <a:tcPr marL="187011" marR="187011" marT="93506" marB="93506"/>
                </a:tc>
                <a:tc>
                  <a:txBody>
                    <a:bodyPr/>
                    <a:lstStyle/>
                    <a:p>
                      <a:endParaRPr lang="vi-VN" sz="2800"/>
                    </a:p>
                  </a:txBody>
                  <a:tcPr marL="187011" marR="187011" marT="93506" marB="93506"/>
                </a:tc>
                <a:extLst>
                  <a:ext uri="{0D108BD9-81ED-4DB2-BD59-A6C34878D82A}">
                    <a16:rowId xmlns:a16="http://schemas.microsoft.com/office/drawing/2014/main" val="3333768290"/>
                  </a:ext>
                </a:extLst>
              </a:tr>
              <a:tr h="758434">
                <a:tc>
                  <a:txBody>
                    <a:bodyPr/>
                    <a:lstStyle/>
                    <a:p>
                      <a:endParaRPr lang="vi-VN" sz="2800"/>
                    </a:p>
                  </a:txBody>
                  <a:tcPr marL="187011" marR="187011" marT="93506" marB="93506"/>
                </a:tc>
                <a:tc>
                  <a:txBody>
                    <a:bodyPr/>
                    <a:lstStyle/>
                    <a:p>
                      <a:endParaRPr lang="vi-VN" sz="2800"/>
                    </a:p>
                  </a:txBody>
                  <a:tcPr marL="187011" marR="187011" marT="93506" marB="93506"/>
                </a:tc>
                <a:tc>
                  <a:txBody>
                    <a:bodyPr/>
                    <a:lstStyle/>
                    <a:p>
                      <a:endParaRPr lang="vi-VN" sz="2800"/>
                    </a:p>
                  </a:txBody>
                  <a:tcPr marL="187011" marR="187011" marT="93506" marB="93506"/>
                </a:tc>
                <a:extLst>
                  <a:ext uri="{0D108BD9-81ED-4DB2-BD59-A6C34878D82A}">
                    <a16:rowId xmlns:a16="http://schemas.microsoft.com/office/drawing/2014/main" val="3317393379"/>
                  </a:ext>
                </a:extLst>
              </a:tr>
              <a:tr h="758434">
                <a:tc>
                  <a:txBody>
                    <a:bodyPr/>
                    <a:lstStyle/>
                    <a:p>
                      <a:endParaRPr lang="vi-VN" sz="2800"/>
                    </a:p>
                  </a:txBody>
                  <a:tcPr marL="187011" marR="187011" marT="93506" marB="93506"/>
                </a:tc>
                <a:tc>
                  <a:txBody>
                    <a:bodyPr/>
                    <a:lstStyle/>
                    <a:p>
                      <a:endParaRPr lang="vi-VN" sz="2800"/>
                    </a:p>
                  </a:txBody>
                  <a:tcPr marL="187011" marR="187011" marT="93506" marB="93506"/>
                </a:tc>
                <a:tc>
                  <a:txBody>
                    <a:bodyPr/>
                    <a:lstStyle/>
                    <a:p>
                      <a:endParaRPr lang="vi-VN" sz="2800"/>
                    </a:p>
                  </a:txBody>
                  <a:tcPr marL="187011" marR="187011" marT="93506" marB="93506"/>
                </a:tc>
                <a:extLst>
                  <a:ext uri="{0D108BD9-81ED-4DB2-BD59-A6C34878D82A}">
                    <a16:rowId xmlns:a16="http://schemas.microsoft.com/office/drawing/2014/main" val="3389493600"/>
                  </a:ext>
                </a:extLst>
              </a:tr>
            </a:tbl>
          </a:graphicData>
        </a:graphic>
      </p:graphicFrame>
      <p:sp>
        <p:nvSpPr>
          <p:cNvPr id="6" name="Oval 5">
            <a:extLst>
              <a:ext uri="{FF2B5EF4-FFF2-40B4-BE49-F238E27FC236}">
                <a16:creationId xmlns:a16="http://schemas.microsoft.com/office/drawing/2014/main" id="{382DF4F6-95A7-2DA9-93B7-AD3EBB64E510}"/>
              </a:ext>
            </a:extLst>
          </p:cNvPr>
          <p:cNvSpPr/>
          <p:nvPr/>
        </p:nvSpPr>
        <p:spPr>
          <a:xfrm>
            <a:off x="1082485" y="3537012"/>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7" name="Oval 6">
            <a:extLst>
              <a:ext uri="{FF2B5EF4-FFF2-40B4-BE49-F238E27FC236}">
                <a16:creationId xmlns:a16="http://schemas.microsoft.com/office/drawing/2014/main" id="{10EA0590-74DC-E5C9-D649-7C716217F961}"/>
              </a:ext>
            </a:extLst>
          </p:cNvPr>
          <p:cNvSpPr/>
          <p:nvPr/>
        </p:nvSpPr>
        <p:spPr>
          <a:xfrm>
            <a:off x="2058891" y="3537012"/>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8" name="Oval 7">
            <a:extLst>
              <a:ext uri="{FF2B5EF4-FFF2-40B4-BE49-F238E27FC236}">
                <a16:creationId xmlns:a16="http://schemas.microsoft.com/office/drawing/2014/main" id="{6353BA67-53A3-B2BA-62F7-161FA62BCF3E}"/>
              </a:ext>
            </a:extLst>
          </p:cNvPr>
          <p:cNvSpPr/>
          <p:nvPr/>
        </p:nvSpPr>
        <p:spPr>
          <a:xfrm>
            <a:off x="3032556" y="3537012"/>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9" name="Oval 8">
            <a:extLst>
              <a:ext uri="{FF2B5EF4-FFF2-40B4-BE49-F238E27FC236}">
                <a16:creationId xmlns:a16="http://schemas.microsoft.com/office/drawing/2014/main" id="{64609285-11D8-C7A2-34EB-E7F90575F22D}"/>
              </a:ext>
            </a:extLst>
          </p:cNvPr>
          <p:cNvSpPr/>
          <p:nvPr/>
        </p:nvSpPr>
        <p:spPr>
          <a:xfrm>
            <a:off x="1088210" y="4309480"/>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 name="Oval 9">
            <a:extLst>
              <a:ext uri="{FF2B5EF4-FFF2-40B4-BE49-F238E27FC236}">
                <a16:creationId xmlns:a16="http://schemas.microsoft.com/office/drawing/2014/main" id="{A6ADB2EF-9211-3F57-CBA0-60EAF569F50A}"/>
              </a:ext>
            </a:extLst>
          </p:cNvPr>
          <p:cNvSpPr/>
          <p:nvPr/>
        </p:nvSpPr>
        <p:spPr>
          <a:xfrm>
            <a:off x="2064616" y="4309480"/>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1" name="Oval 10">
            <a:extLst>
              <a:ext uri="{FF2B5EF4-FFF2-40B4-BE49-F238E27FC236}">
                <a16:creationId xmlns:a16="http://schemas.microsoft.com/office/drawing/2014/main" id="{395FFE9F-7361-2CE3-9053-ABB6AA9A400C}"/>
              </a:ext>
            </a:extLst>
          </p:cNvPr>
          <p:cNvSpPr/>
          <p:nvPr/>
        </p:nvSpPr>
        <p:spPr>
          <a:xfrm>
            <a:off x="3038281" y="4309480"/>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2" name="Oval 11">
            <a:extLst>
              <a:ext uri="{FF2B5EF4-FFF2-40B4-BE49-F238E27FC236}">
                <a16:creationId xmlns:a16="http://schemas.microsoft.com/office/drawing/2014/main" id="{279B2A85-CCD5-2D5C-827C-A4497D1D63C9}"/>
              </a:ext>
            </a:extLst>
          </p:cNvPr>
          <p:cNvSpPr/>
          <p:nvPr/>
        </p:nvSpPr>
        <p:spPr>
          <a:xfrm>
            <a:off x="1082485" y="2764544"/>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3" name="Oval 12">
            <a:extLst>
              <a:ext uri="{FF2B5EF4-FFF2-40B4-BE49-F238E27FC236}">
                <a16:creationId xmlns:a16="http://schemas.microsoft.com/office/drawing/2014/main" id="{222F1283-24BE-54B3-C153-39AA10B24A62}"/>
              </a:ext>
            </a:extLst>
          </p:cNvPr>
          <p:cNvSpPr/>
          <p:nvPr/>
        </p:nvSpPr>
        <p:spPr>
          <a:xfrm>
            <a:off x="2058891" y="2764544"/>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4" name="Oval 13">
            <a:extLst>
              <a:ext uri="{FF2B5EF4-FFF2-40B4-BE49-F238E27FC236}">
                <a16:creationId xmlns:a16="http://schemas.microsoft.com/office/drawing/2014/main" id="{EFB90678-1192-9185-AE54-D1DEF655BF96}"/>
              </a:ext>
            </a:extLst>
          </p:cNvPr>
          <p:cNvSpPr/>
          <p:nvPr/>
        </p:nvSpPr>
        <p:spPr>
          <a:xfrm>
            <a:off x="3032556" y="2764544"/>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5" name="Oval 14">
            <a:extLst>
              <a:ext uri="{FF2B5EF4-FFF2-40B4-BE49-F238E27FC236}">
                <a16:creationId xmlns:a16="http://schemas.microsoft.com/office/drawing/2014/main" id="{34B6CBF0-BB33-2DE2-2179-024FB0D43283}"/>
              </a:ext>
            </a:extLst>
          </p:cNvPr>
          <p:cNvSpPr/>
          <p:nvPr/>
        </p:nvSpPr>
        <p:spPr>
          <a:xfrm>
            <a:off x="1082485" y="203994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6" name="Oval 15">
            <a:extLst>
              <a:ext uri="{FF2B5EF4-FFF2-40B4-BE49-F238E27FC236}">
                <a16:creationId xmlns:a16="http://schemas.microsoft.com/office/drawing/2014/main" id="{6FFADCC9-8653-F034-CA6D-D43F465ED73D}"/>
              </a:ext>
            </a:extLst>
          </p:cNvPr>
          <p:cNvSpPr/>
          <p:nvPr/>
        </p:nvSpPr>
        <p:spPr>
          <a:xfrm>
            <a:off x="2058891" y="203994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7" name="Oval 16">
            <a:extLst>
              <a:ext uri="{FF2B5EF4-FFF2-40B4-BE49-F238E27FC236}">
                <a16:creationId xmlns:a16="http://schemas.microsoft.com/office/drawing/2014/main" id="{B7DE9F31-5049-1CE1-5717-AE5337F65089}"/>
              </a:ext>
            </a:extLst>
          </p:cNvPr>
          <p:cNvSpPr/>
          <p:nvPr/>
        </p:nvSpPr>
        <p:spPr>
          <a:xfrm>
            <a:off x="3032556" y="203994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8" name="Oval 17">
            <a:extLst>
              <a:ext uri="{FF2B5EF4-FFF2-40B4-BE49-F238E27FC236}">
                <a16:creationId xmlns:a16="http://schemas.microsoft.com/office/drawing/2014/main" id="{BDDAE658-95FB-C8BF-2FCF-0C7574566CA2}"/>
              </a:ext>
            </a:extLst>
          </p:cNvPr>
          <p:cNvSpPr/>
          <p:nvPr/>
        </p:nvSpPr>
        <p:spPr>
          <a:xfrm>
            <a:off x="619248" y="3185646"/>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9" name="Oval 18">
            <a:extLst>
              <a:ext uri="{FF2B5EF4-FFF2-40B4-BE49-F238E27FC236}">
                <a16:creationId xmlns:a16="http://schemas.microsoft.com/office/drawing/2014/main" id="{473E99AE-7C0E-1A01-80EE-697B23E914C9}"/>
              </a:ext>
            </a:extLst>
          </p:cNvPr>
          <p:cNvSpPr/>
          <p:nvPr/>
        </p:nvSpPr>
        <p:spPr>
          <a:xfrm>
            <a:off x="624973" y="3958114"/>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20" name="Oval 19">
            <a:extLst>
              <a:ext uri="{FF2B5EF4-FFF2-40B4-BE49-F238E27FC236}">
                <a16:creationId xmlns:a16="http://schemas.microsoft.com/office/drawing/2014/main" id="{B608BED1-0BA6-8BA6-BFB1-B9DA97509561}"/>
              </a:ext>
            </a:extLst>
          </p:cNvPr>
          <p:cNvSpPr/>
          <p:nvPr/>
        </p:nvSpPr>
        <p:spPr>
          <a:xfrm>
            <a:off x="619248" y="2413178"/>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21" name="Oval 20">
            <a:extLst>
              <a:ext uri="{FF2B5EF4-FFF2-40B4-BE49-F238E27FC236}">
                <a16:creationId xmlns:a16="http://schemas.microsoft.com/office/drawing/2014/main" id="{B70FF76F-E260-A0C9-3614-01F1969BDEA4}"/>
              </a:ext>
            </a:extLst>
          </p:cNvPr>
          <p:cNvSpPr/>
          <p:nvPr/>
        </p:nvSpPr>
        <p:spPr>
          <a:xfrm>
            <a:off x="1587188" y="3185646"/>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22" name="Oval 21">
            <a:extLst>
              <a:ext uri="{FF2B5EF4-FFF2-40B4-BE49-F238E27FC236}">
                <a16:creationId xmlns:a16="http://schemas.microsoft.com/office/drawing/2014/main" id="{A2BB4E7E-25AE-E9D8-7563-09FEFC0453E2}"/>
              </a:ext>
            </a:extLst>
          </p:cNvPr>
          <p:cNvSpPr/>
          <p:nvPr/>
        </p:nvSpPr>
        <p:spPr>
          <a:xfrm>
            <a:off x="1592913" y="3958114"/>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23" name="Oval 22">
            <a:extLst>
              <a:ext uri="{FF2B5EF4-FFF2-40B4-BE49-F238E27FC236}">
                <a16:creationId xmlns:a16="http://schemas.microsoft.com/office/drawing/2014/main" id="{441FC783-A0B4-B03C-651D-D49B8DF9E334}"/>
              </a:ext>
            </a:extLst>
          </p:cNvPr>
          <p:cNvSpPr/>
          <p:nvPr/>
        </p:nvSpPr>
        <p:spPr>
          <a:xfrm>
            <a:off x="1587188" y="2413178"/>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24" name="Oval 23">
            <a:extLst>
              <a:ext uri="{FF2B5EF4-FFF2-40B4-BE49-F238E27FC236}">
                <a16:creationId xmlns:a16="http://schemas.microsoft.com/office/drawing/2014/main" id="{E43953D7-9A29-503E-E35D-960F234D4303}"/>
              </a:ext>
            </a:extLst>
          </p:cNvPr>
          <p:cNvSpPr/>
          <p:nvPr/>
        </p:nvSpPr>
        <p:spPr>
          <a:xfrm>
            <a:off x="2538317" y="3185646"/>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25" name="Oval 24">
            <a:extLst>
              <a:ext uri="{FF2B5EF4-FFF2-40B4-BE49-F238E27FC236}">
                <a16:creationId xmlns:a16="http://schemas.microsoft.com/office/drawing/2014/main" id="{21556230-64FB-157A-3065-01426FC82A5E}"/>
              </a:ext>
            </a:extLst>
          </p:cNvPr>
          <p:cNvSpPr/>
          <p:nvPr/>
        </p:nvSpPr>
        <p:spPr>
          <a:xfrm>
            <a:off x="2544042" y="3958114"/>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26" name="Oval 25">
            <a:extLst>
              <a:ext uri="{FF2B5EF4-FFF2-40B4-BE49-F238E27FC236}">
                <a16:creationId xmlns:a16="http://schemas.microsoft.com/office/drawing/2014/main" id="{A2419FA2-6A74-6E48-4FF9-56BF0C57F99F}"/>
              </a:ext>
            </a:extLst>
          </p:cNvPr>
          <p:cNvSpPr/>
          <p:nvPr/>
        </p:nvSpPr>
        <p:spPr>
          <a:xfrm>
            <a:off x="2538317" y="2413178"/>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27" name="Oval 26">
            <a:extLst>
              <a:ext uri="{FF2B5EF4-FFF2-40B4-BE49-F238E27FC236}">
                <a16:creationId xmlns:a16="http://schemas.microsoft.com/office/drawing/2014/main" id="{53503E55-573D-1A8C-A131-FEC7D4EBA5B4}"/>
              </a:ext>
            </a:extLst>
          </p:cNvPr>
          <p:cNvSpPr/>
          <p:nvPr/>
        </p:nvSpPr>
        <p:spPr>
          <a:xfrm>
            <a:off x="3506257" y="3185646"/>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28" name="Oval 27">
            <a:extLst>
              <a:ext uri="{FF2B5EF4-FFF2-40B4-BE49-F238E27FC236}">
                <a16:creationId xmlns:a16="http://schemas.microsoft.com/office/drawing/2014/main" id="{B5E0AF80-78FC-3C8A-58B8-A0F94BF0F502}"/>
              </a:ext>
            </a:extLst>
          </p:cNvPr>
          <p:cNvSpPr/>
          <p:nvPr/>
        </p:nvSpPr>
        <p:spPr>
          <a:xfrm>
            <a:off x="3511982" y="3958114"/>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29" name="Oval 28">
            <a:extLst>
              <a:ext uri="{FF2B5EF4-FFF2-40B4-BE49-F238E27FC236}">
                <a16:creationId xmlns:a16="http://schemas.microsoft.com/office/drawing/2014/main" id="{CCB72DC6-425C-5FDA-6A4A-A91C13A8F3CB}"/>
              </a:ext>
            </a:extLst>
          </p:cNvPr>
          <p:cNvSpPr/>
          <p:nvPr/>
        </p:nvSpPr>
        <p:spPr>
          <a:xfrm>
            <a:off x="3506257" y="2413178"/>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D3A73B8-E306-6332-A876-F7083CF0CF58}"/>
                  </a:ext>
                </a:extLst>
              </p:cNvPr>
              <p:cNvSpPr txBox="1"/>
              <p:nvPr/>
            </p:nvSpPr>
            <p:spPr>
              <a:xfrm>
                <a:off x="1133455" y="3897014"/>
                <a:ext cx="19518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vi-VN"/>
              </a:p>
            </p:txBody>
          </p:sp>
        </mc:Choice>
        <mc:Fallback xmlns="">
          <p:sp>
            <p:nvSpPr>
              <p:cNvPr id="30" name="TextBox 29">
                <a:extLst>
                  <a:ext uri="{FF2B5EF4-FFF2-40B4-BE49-F238E27FC236}">
                    <a16:creationId xmlns:a16="http://schemas.microsoft.com/office/drawing/2014/main" id="{0D3A73B8-E306-6332-A876-F7083CF0CF58}"/>
                  </a:ext>
                </a:extLst>
              </p:cNvPr>
              <p:cNvSpPr txBox="1">
                <a:spLocks noRot="1" noChangeAspect="1" noMove="1" noResize="1" noEditPoints="1" noAdjustHandles="1" noChangeArrowheads="1" noChangeShapeType="1" noTextEdit="1"/>
              </p:cNvSpPr>
              <p:nvPr/>
            </p:nvSpPr>
            <p:spPr>
              <a:xfrm>
                <a:off x="1133455" y="3897014"/>
                <a:ext cx="195182" cy="276999"/>
              </a:xfrm>
              <a:prstGeom prst="rect">
                <a:avLst/>
              </a:prstGeom>
              <a:blipFill>
                <a:blip r:embed="rId4"/>
                <a:stretch>
                  <a:fillRect l="-28125" r="-25000" b="-2608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6E93F73-24D0-C73E-19D5-8E571282BF79}"/>
                  </a:ext>
                </a:extLst>
              </p:cNvPr>
              <p:cNvSpPr txBox="1"/>
              <p:nvPr/>
            </p:nvSpPr>
            <p:spPr>
              <a:xfrm>
                <a:off x="-5349" y="4574643"/>
                <a:ext cx="2140989" cy="523220"/>
              </a:xfrm>
              <a:prstGeom prst="rect">
                <a:avLst/>
              </a:prstGeom>
              <a:noFill/>
            </p:spPr>
            <p:txBody>
              <a:bodyPr wrap="square" rtlCol="0">
                <a:spAutoFit/>
              </a:bodyPr>
              <a:lstStyle/>
              <a:p>
                <a:r>
                  <a:rPr lang="en-US" sz="1400"/>
                  <a:t>Stabilizer operator </a:t>
                </a:r>
                <a14:m>
                  <m:oMath xmlns:m="http://schemas.openxmlformats.org/officeDocument/2006/math">
                    <m:r>
                      <a:rPr lang="en-US" sz="1400" i="1" smtClean="0">
                        <a:latin typeface="Cambria Math" panose="02040503050406030204" pitchFamily="18" charset="0"/>
                      </a:rPr>
                      <m:t>𝑍</m:t>
                    </m:r>
                  </m:oMath>
                </a14:m>
                <a:r>
                  <a:rPr lang="en-US" sz="1400"/>
                  <a:t> is surrounded by qubitS</a:t>
                </a:r>
                <a:endParaRPr lang="vi-VN" sz="1400"/>
              </a:p>
            </p:txBody>
          </p:sp>
        </mc:Choice>
        <mc:Fallback xmlns="">
          <p:sp>
            <p:nvSpPr>
              <p:cNvPr id="31" name="TextBox 30">
                <a:extLst>
                  <a:ext uri="{FF2B5EF4-FFF2-40B4-BE49-F238E27FC236}">
                    <a16:creationId xmlns:a16="http://schemas.microsoft.com/office/drawing/2014/main" id="{56E93F73-24D0-C73E-19D5-8E571282BF79}"/>
                  </a:ext>
                </a:extLst>
              </p:cNvPr>
              <p:cNvSpPr txBox="1">
                <a:spLocks noRot="1" noChangeAspect="1" noMove="1" noResize="1" noEditPoints="1" noAdjustHandles="1" noChangeArrowheads="1" noChangeShapeType="1" noTextEdit="1"/>
              </p:cNvSpPr>
              <p:nvPr/>
            </p:nvSpPr>
            <p:spPr>
              <a:xfrm>
                <a:off x="-5349" y="4574643"/>
                <a:ext cx="2140989" cy="523220"/>
              </a:xfrm>
              <a:prstGeom prst="rect">
                <a:avLst/>
              </a:prstGeom>
              <a:blipFill>
                <a:blip r:embed="rId5"/>
                <a:stretch>
                  <a:fillRect l="-855" t="-1163" b="-12791"/>
                </a:stretch>
              </a:blipFill>
            </p:spPr>
            <p:txBody>
              <a:bodyPr/>
              <a:lstStyle/>
              <a:p>
                <a:r>
                  <a:rPr lang="vi-VN">
                    <a:noFill/>
                  </a:rPr>
                  <a:t> </a:t>
                </a:r>
              </a:p>
            </p:txBody>
          </p:sp>
        </mc:Fallback>
      </mc:AlternateContent>
      <p:cxnSp>
        <p:nvCxnSpPr>
          <p:cNvPr id="33" name="Straight Arrow Connector 32">
            <a:extLst>
              <a:ext uri="{FF2B5EF4-FFF2-40B4-BE49-F238E27FC236}">
                <a16:creationId xmlns:a16="http://schemas.microsoft.com/office/drawing/2014/main" id="{BDE13899-B508-09AC-6690-5ED37A2397F2}"/>
              </a:ext>
            </a:extLst>
          </p:cNvPr>
          <p:cNvCxnSpPr>
            <a:cxnSpLocks/>
            <a:stCxn id="31" idx="0"/>
          </p:cNvCxnSpPr>
          <p:nvPr/>
        </p:nvCxnSpPr>
        <p:spPr>
          <a:xfrm flipV="1">
            <a:off x="1065146" y="4188219"/>
            <a:ext cx="74101" cy="3864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67BD7DE-49A3-4BF4-32CF-356ABB45EB69}"/>
                  </a:ext>
                </a:extLst>
              </p:cNvPr>
              <p:cNvSpPr txBox="1"/>
              <p:nvPr/>
            </p:nvSpPr>
            <p:spPr>
              <a:xfrm>
                <a:off x="2654532" y="3431182"/>
                <a:ext cx="1958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oMath>
                  </m:oMathPara>
                </a14:m>
                <a:endParaRPr lang="vi-VN"/>
              </a:p>
            </p:txBody>
          </p:sp>
        </mc:Choice>
        <mc:Fallback xmlns="">
          <p:sp>
            <p:nvSpPr>
              <p:cNvPr id="34" name="TextBox 33">
                <a:extLst>
                  <a:ext uri="{FF2B5EF4-FFF2-40B4-BE49-F238E27FC236}">
                    <a16:creationId xmlns:a16="http://schemas.microsoft.com/office/drawing/2014/main" id="{767BD7DE-49A3-4BF4-32CF-356ABB45EB69}"/>
                  </a:ext>
                </a:extLst>
              </p:cNvPr>
              <p:cNvSpPr txBox="1">
                <a:spLocks noRot="1" noChangeAspect="1" noMove="1" noResize="1" noEditPoints="1" noAdjustHandles="1" noChangeArrowheads="1" noChangeShapeType="1" noTextEdit="1"/>
              </p:cNvSpPr>
              <p:nvPr/>
            </p:nvSpPr>
            <p:spPr>
              <a:xfrm>
                <a:off x="2654532" y="3431182"/>
                <a:ext cx="195887" cy="276999"/>
              </a:xfrm>
              <a:prstGeom prst="rect">
                <a:avLst/>
              </a:prstGeom>
              <a:blipFill>
                <a:blip r:embed="rId6"/>
                <a:stretch>
                  <a:fillRect l="-15152" r="-9091" b="-2222"/>
                </a:stretch>
              </a:blipFill>
            </p:spPr>
            <p:txBody>
              <a:bodyPr/>
              <a:lstStyle/>
              <a:p>
                <a:r>
                  <a:rPr lang="vi-VN">
                    <a:noFill/>
                  </a:rPr>
                  <a:t> </a:t>
                </a:r>
              </a:p>
            </p:txBody>
          </p:sp>
        </mc:Fallback>
      </mc:AlternateContent>
      <p:cxnSp>
        <p:nvCxnSpPr>
          <p:cNvPr id="35" name="Straight Arrow Connector 34">
            <a:extLst>
              <a:ext uri="{FF2B5EF4-FFF2-40B4-BE49-F238E27FC236}">
                <a16:creationId xmlns:a16="http://schemas.microsoft.com/office/drawing/2014/main" id="{CAC1484A-8B51-4B7D-049E-7B8CDF6F7447}"/>
              </a:ext>
            </a:extLst>
          </p:cNvPr>
          <p:cNvCxnSpPr>
            <a:cxnSpLocks/>
            <a:endCxn id="34" idx="2"/>
          </p:cNvCxnSpPr>
          <p:nvPr/>
        </p:nvCxnSpPr>
        <p:spPr>
          <a:xfrm flipH="1" flipV="1">
            <a:off x="2752476" y="3708181"/>
            <a:ext cx="305840" cy="954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C25BCE-ABDA-3387-5F70-A4B837E67028}"/>
                  </a:ext>
                </a:extLst>
              </p:cNvPr>
              <p:cNvSpPr txBox="1"/>
              <p:nvPr/>
            </p:nvSpPr>
            <p:spPr>
              <a:xfrm>
                <a:off x="2144202" y="4603661"/>
                <a:ext cx="2140989" cy="307777"/>
              </a:xfrm>
              <a:prstGeom prst="rect">
                <a:avLst/>
              </a:prstGeom>
              <a:noFill/>
            </p:spPr>
            <p:txBody>
              <a:bodyPr wrap="square" rtlCol="0">
                <a:spAutoFit/>
              </a:bodyPr>
              <a:lstStyle/>
              <a:p>
                <a:r>
                  <a:rPr lang="en-US" sz="1400"/>
                  <a:t>Stabilizer operator </a:t>
                </a:r>
                <a14:m>
                  <m:oMath xmlns:m="http://schemas.openxmlformats.org/officeDocument/2006/math">
                    <m:r>
                      <a:rPr lang="en-US" sz="1400" b="0" i="1" smtClean="0">
                        <a:latin typeface="Cambria Math" panose="02040503050406030204" pitchFamily="18" charset="0"/>
                      </a:rPr>
                      <m:t>𝑋</m:t>
                    </m:r>
                  </m:oMath>
                </a14:m>
                <a:endParaRPr lang="vi-VN" sz="1400"/>
              </a:p>
            </p:txBody>
          </p:sp>
        </mc:Choice>
        <mc:Fallback xmlns="">
          <p:sp>
            <p:nvSpPr>
              <p:cNvPr id="40" name="TextBox 39">
                <a:extLst>
                  <a:ext uri="{FF2B5EF4-FFF2-40B4-BE49-F238E27FC236}">
                    <a16:creationId xmlns:a16="http://schemas.microsoft.com/office/drawing/2014/main" id="{C9C25BCE-ABDA-3387-5F70-A4B837E67028}"/>
                  </a:ext>
                </a:extLst>
              </p:cNvPr>
              <p:cNvSpPr txBox="1">
                <a:spLocks noRot="1" noChangeAspect="1" noMove="1" noResize="1" noEditPoints="1" noAdjustHandles="1" noChangeArrowheads="1" noChangeShapeType="1" noTextEdit="1"/>
              </p:cNvSpPr>
              <p:nvPr/>
            </p:nvSpPr>
            <p:spPr>
              <a:xfrm>
                <a:off x="2144202" y="4603661"/>
                <a:ext cx="2140989" cy="307777"/>
              </a:xfrm>
              <a:prstGeom prst="rect">
                <a:avLst/>
              </a:prstGeom>
              <a:blipFill>
                <a:blip r:embed="rId7"/>
                <a:stretch>
                  <a:fillRect l="-855" t="-1961" b="-21569"/>
                </a:stretch>
              </a:blipFill>
            </p:spPr>
            <p:txBody>
              <a:bodyPr/>
              <a:lstStyle/>
              <a:p>
                <a:r>
                  <a:rPr lang="vi-VN">
                    <a:noFill/>
                  </a:rPr>
                  <a:t> </a:t>
                </a:r>
              </a:p>
            </p:txBody>
          </p:sp>
        </mc:Fallback>
      </mc:AlternateContent>
      <p:graphicFrame>
        <p:nvGraphicFramePr>
          <p:cNvPr id="42" name="Table 41">
            <a:extLst>
              <a:ext uri="{FF2B5EF4-FFF2-40B4-BE49-F238E27FC236}">
                <a16:creationId xmlns:a16="http://schemas.microsoft.com/office/drawing/2014/main" id="{FA745BFE-BB75-2750-16CF-CE7C72EC08F5}"/>
              </a:ext>
            </a:extLst>
          </p:cNvPr>
          <p:cNvGraphicFramePr>
            <a:graphicFrameLocks noGrp="1"/>
          </p:cNvGraphicFramePr>
          <p:nvPr>
            <p:extLst>
              <p:ext uri="{D42A27DB-BD31-4B8C-83A1-F6EECF244321}">
                <p14:modId xmlns:p14="http://schemas.microsoft.com/office/powerpoint/2010/main" val="851488157"/>
              </p:ext>
            </p:extLst>
          </p:nvPr>
        </p:nvGraphicFramePr>
        <p:xfrm>
          <a:off x="4510444" y="2192892"/>
          <a:ext cx="2874432" cy="2275302"/>
        </p:xfrm>
        <a:graphic>
          <a:graphicData uri="http://schemas.openxmlformats.org/drawingml/2006/table">
            <a:tbl>
              <a:tblPr firstRow="1" bandRow="1">
                <a:tableStyleId>{5940675A-B579-460E-94D1-54222C63F5DA}</a:tableStyleId>
              </a:tblPr>
              <a:tblGrid>
                <a:gridCol w="958144">
                  <a:extLst>
                    <a:ext uri="{9D8B030D-6E8A-4147-A177-3AD203B41FA5}">
                      <a16:colId xmlns:a16="http://schemas.microsoft.com/office/drawing/2014/main" val="3121889379"/>
                    </a:ext>
                  </a:extLst>
                </a:gridCol>
                <a:gridCol w="958144">
                  <a:extLst>
                    <a:ext uri="{9D8B030D-6E8A-4147-A177-3AD203B41FA5}">
                      <a16:colId xmlns:a16="http://schemas.microsoft.com/office/drawing/2014/main" val="1213063953"/>
                    </a:ext>
                  </a:extLst>
                </a:gridCol>
                <a:gridCol w="958144">
                  <a:extLst>
                    <a:ext uri="{9D8B030D-6E8A-4147-A177-3AD203B41FA5}">
                      <a16:colId xmlns:a16="http://schemas.microsoft.com/office/drawing/2014/main" val="318578827"/>
                    </a:ext>
                  </a:extLst>
                </a:gridCol>
              </a:tblGrid>
              <a:tr h="758434">
                <a:tc>
                  <a:txBody>
                    <a:bodyPr/>
                    <a:lstStyle/>
                    <a:p>
                      <a:endParaRPr lang="vi-VN" sz="2800"/>
                    </a:p>
                  </a:txBody>
                  <a:tcPr marL="187011" marR="187011" marT="93506" marB="93506"/>
                </a:tc>
                <a:tc>
                  <a:txBody>
                    <a:bodyPr/>
                    <a:lstStyle/>
                    <a:p>
                      <a:endParaRPr lang="vi-VN" sz="2800"/>
                    </a:p>
                  </a:txBody>
                  <a:tcPr marL="187011" marR="187011" marT="93506" marB="93506"/>
                </a:tc>
                <a:tc>
                  <a:txBody>
                    <a:bodyPr/>
                    <a:lstStyle/>
                    <a:p>
                      <a:endParaRPr lang="vi-VN" sz="2800"/>
                    </a:p>
                  </a:txBody>
                  <a:tcPr marL="187011" marR="187011" marT="93506" marB="93506"/>
                </a:tc>
                <a:extLst>
                  <a:ext uri="{0D108BD9-81ED-4DB2-BD59-A6C34878D82A}">
                    <a16:rowId xmlns:a16="http://schemas.microsoft.com/office/drawing/2014/main" val="3333768290"/>
                  </a:ext>
                </a:extLst>
              </a:tr>
              <a:tr h="758434">
                <a:tc>
                  <a:txBody>
                    <a:bodyPr/>
                    <a:lstStyle/>
                    <a:p>
                      <a:endParaRPr lang="vi-VN" sz="2800"/>
                    </a:p>
                  </a:txBody>
                  <a:tcPr marL="187011" marR="187011" marT="93506" marB="93506"/>
                </a:tc>
                <a:tc>
                  <a:txBody>
                    <a:bodyPr/>
                    <a:lstStyle/>
                    <a:p>
                      <a:endParaRPr lang="vi-VN" sz="2800"/>
                    </a:p>
                  </a:txBody>
                  <a:tcPr marL="187011" marR="187011" marT="93506" marB="93506"/>
                </a:tc>
                <a:tc>
                  <a:txBody>
                    <a:bodyPr/>
                    <a:lstStyle/>
                    <a:p>
                      <a:endParaRPr lang="vi-VN" sz="2800"/>
                    </a:p>
                  </a:txBody>
                  <a:tcPr marL="187011" marR="187011" marT="93506" marB="93506"/>
                </a:tc>
                <a:extLst>
                  <a:ext uri="{0D108BD9-81ED-4DB2-BD59-A6C34878D82A}">
                    <a16:rowId xmlns:a16="http://schemas.microsoft.com/office/drawing/2014/main" val="3317393379"/>
                  </a:ext>
                </a:extLst>
              </a:tr>
              <a:tr h="758434">
                <a:tc>
                  <a:txBody>
                    <a:bodyPr/>
                    <a:lstStyle/>
                    <a:p>
                      <a:endParaRPr lang="vi-VN" sz="2800"/>
                    </a:p>
                  </a:txBody>
                  <a:tcPr marL="187011" marR="187011" marT="93506" marB="93506"/>
                </a:tc>
                <a:tc>
                  <a:txBody>
                    <a:bodyPr/>
                    <a:lstStyle/>
                    <a:p>
                      <a:endParaRPr lang="vi-VN" sz="2800"/>
                    </a:p>
                  </a:txBody>
                  <a:tcPr marL="187011" marR="187011" marT="93506" marB="93506"/>
                </a:tc>
                <a:tc>
                  <a:txBody>
                    <a:bodyPr/>
                    <a:lstStyle/>
                    <a:p>
                      <a:endParaRPr lang="vi-VN" sz="2800"/>
                    </a:p>
                  </a:txBody>
                  <a:tcPr marL="187011" marR="187011" marT="93506" marB="93506"/>
                </a:tc>
                <a:extLst>
                  <a:ext uri="{0D108BD9-81ED-4DB2-BD59-A6C34878D82A}">
                    <a16:rowId xmlns:a16="http://schemas.microsoft.com/office/drawing/2014/main" val="3389493600"/>
                  </a:ext>
                </a:extLst>
              </a:tr>
            </a:tbl>
          </a:graphicData>
        </a:graphic>
      </p:graphicFrame>
      <p:sp>
        <p:nvSpPr>
          <p:cNvPr id="43" name="Oval 42">
            <a:extLst>
              <a:ext uri="{FF2B5EF4-FFF2-40B4-BE49-F238E27FC236}">
                <a16:creationId xmlns:a16="http://schemas.microsoft.com/office/drawing/2014/main" id="{BAAF9F8B-8400-BC5D-6AE0-3468302568B0}"/>
              </a:ext>
            </a:extLst>
          </p:cNvPr>
          <p:cNvSpPr/>
          <p:nvPr/>
        </p:nvSpPr>
        <p:spPr>
          <a:xfrm>
            <a:off x="4839395" y="356025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44" name="Oval 43">
            <a:extLst>
              <a:ext uri="{FF2B5EF4-FFF2-40B4-BE49-F238E27FC236}">
                <a16:creationId xmlns:a16="http://schemas.microsoft.com/office/drawing/2014/main" id="{31FF3FD4-D781-DD4F-FB73-E4727E467656}"/>
              </a:ext>
            </a:extLst>
          </p:cNvPr>
          <p:cNvSpPr/>
          <p:nvPr/>
        </p:nvSpPr>
        <p:spPr>
          <a:xfrm>
            <a:off x="5815801" y="356025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45" name="Oval 44">
            <a:extLst>
              <a:ext uri="{FF2B5EF4-FFF2-40B4-BE49-F238E27FC236}">
                <a16:creationId xmlns:a16="http://schemas.microsoft.com/office/drawing/2014/main" id="{9AB31C9F-AC6E-6571-780A-077083A51C5F}"/>
              </a:ext>
            </a:extLst>
          </p:cNvPr>
          <p:cNvSpPr/>
          <p:nvPr/>
        </p:nvSpPr>
        <p:spPr>
          <a:xfrm>
            <a:off x="6789466" y="356025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47" name="Oval 46">
            <a:extLst>
              <a:ext uri="{FF2B5EF4-FFF2-40B4-BE49-F238E27FC236}">
                <a16:creationId xmlns:a16="http://schemas.microsoft.com/office/drawing/2014/main" id="{64F3B604-25A9-0328-EC72-D3962AD06B38}"/>
              </a:ext>
            </a:extLst>
          </p:cNvPr>
          <p:cNvSpPr/>
          <p:nvPr/>
        </p:nvSpPr>
        <p:spPr>
          <a:xfrm>
            <a:off x="5821526" y="4332727"/>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48" name="Oval 47">
            <a:extLst>
              <a:ext uri="{FF2B5EF4-FFF2-40B4-BE49-F238E27FC236}">
                <a16:creationId xmlns:a16="http://schemas.microsoft.com/office/drawing/2014/main" id="{16FEB916-9A26-9CE5-3E74-43618C832233}"/>
              </a:ext>
            </a:extLst>
          </p:cNvPr>
          <p:cNvSpPr/>
          <p:nvPr/>
        </p:nvSpPr>
        <p:spPr>
          <a:xfrm>
            <a:off x="6795191" y="4332727"/>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49" name="Oval 48">
            <a:extLst>
              <a:ext uri="{FF2B5EF4-FFF2-40B4-BE49-F238E27FC236}">
                <a16:creationId xmlns:a16="http://schemas.microsoft.com/office/drawing/2014/main" id="{5E9F517B-8388-5012-767C-1AEFA6747DC6}"/>
              </a:ext>
            </a:extLst>
          </p:cNvPr>
          <p:cNvSpPr/>
          <p:nvPr/>
        </p:nvSpPr>
        <p:spPr>
          <a:xfrm>
            <a:off x="4839395" y="278779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0" name="Oval 49">
            <a:extLst>
              <a:ext uri="{FF2B5EF4-FFF2-40B4-BE49-F238E27FC236}">
                <a16:creationId xmlns:a16="http://schemas.microsoft.com/office/drawing/2014/main" id="{D9C566C1-839E-08A4-144E-926E5D016DA0}"/>
              </a:ext>
            </a:extLst>
          </p:cNvPr>
          <p:cNvSpPr/>
          <p:nvPr/>
        </p:nvSpPr>
        <p:spPr>
          <a:xfrm>
            <a:off x="5815801" y="278779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1" name="Oval 50">
            <a:extLst>
              <a:ext uri="{FF2B5EF4-FFF2-40B4-BE49-F238E27FC236}">
                <a16:creationId xmlns:a16="http://schemas.microsoft.com/office/drawing/2014/main" id="{7A4F01FC-EAEE-A9F0-4D6C-61550E7789A6}"/>
              </a:ext>
            </a:extLst>
          </p:cNvPr>
          <p:cNvSpPr/>
          <p:nvPr/>
        </p:nvSpPr>
        <p:spPr>
          <a:xfrm>
            <a:off x="6789466" y="278779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2" name="Oval 51">
            <a:extLst>
              <a:ext uri="{FF2B5EF4-FFF2-40B4-BE49-F238E27FC236}">
                <a16:creationId xmlns:a16="http://schemas.microsoft.com/office/drawing/2014/main" id="{38F3639D-4EB2-653C-FA05-1B3A737F34E6}"/>
              </a:ext>
            </a:extLst>
          </p:cNvPr>
          <p:cNvSpPr/>
          <p:nvPr/>
        </p:nvSpPr>
        <p:spPr>
          <a:xfrm>
            <a:off x="4839395" y="204626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3" name="Oval 52">
            <a:extLst>
              <a:ext uri="{FF2B5EF4-FFF2-40B4-BE49-F238E27FC236}">
                <a16:creationId xmlns:a16="http://schemas.microsoft.com/office/drawing/2014/main" id="{EF702E06-18DD-E78E-658A-227F666BAD48}"/>
              </a:ext>
            </a:extLst>
          </p:cNvPr>
          <p:cNvSpPr/>
          <p:nvPr/>
        </p:nvSpPr>
        <p:spPr>
          <a:xfrm>
            <a:off x="5815801" y="2063196"/>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4" name="Oval 53">
            <a:extLst>
              <a:ext uri="{FF2B5EF4-FFF2-40B4-BE49-F238E27FC236}">
                <a16:creationId xmlns:a16="http://schemas.microsoft.com/office/drawing/2014/main" id="{F2537F83-6BD5-0FDB-38A9-3CA9A36548FC}"/>
              </a:ext>
            </a:extLst>
          </p:cNvPr>
          <p:cNvSpPr/>
          <p:nvPr/>
        </p:nvSpPr>
        <p:spPr>
          <a:xfrm>
            <a:off x="6789466" y="2063196"/>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5" name="Oval 54">
            <a:extLst>
              <a:ext uri="{FF2B5EF4-FFF2-40B4-BE49-F238E27FC236}">
                <a16:creationId xmlns:a16="http://schemas.microsoft.com/office/drawing/2014/main" id="{A2A67C94-E36B-225F-3059-90B976468A5E}"/>
              </a:ext>
            </a:extLst>
          </p:cNvPr>
          <p:cNvSpPr/>
          <p:nvPr/>
        </p:nvSpPr>
        <p:spPr>
          <a:xfrm>
            <a:off x="4376158" y="3208893"/>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6" name="Oval 55">
            <a:extLst>
              <a:ext uri="{FF2B5EF4-FFF2-40B4-BE49-F238E27FC236}">
                <a16:creationId xmlns:a16="http://schemas.microsoft.com/office/drawing/2014/main" id="{43C51C26-0AAC-3435-5F72-2926AEF57DCA}"/>
              </a:ext>
            </a:extLst>
          </p:cNvPr>
          <p:cNvSpPr/>
          <p:nvPr/>
        </p:nvSpPr>
        <p:spPr>
          <a:xfrm>
            <a:off x="4381883" y="398136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7" name="Oval 56">
            <a:extLst>
              <a:ext uri="{FF2B5EF4-FFF2-40B4-BE49-F238E27FC236}">
                <a16:creationId xmlns:a16="http://schemas.microsoft.com/office/drawing/2014/main" id="{A569976B-EC24-86A6-14C4-C1F1F7D14351}"/>
              </a:ext>
            </a:extLst>
          </p:cNvPr>
          <p:cNvSpPr/>
          <p:nvPr/>
        </p:nvSpPr>
        <p:spPr>
          <a:xfrm>
            <a:off x="4376158" y="2436425"/>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8" name="Oval 57">
            <a:extLst>
              <a:ext uri="{FF2B5EF4-FFF2-40B4-BE49-F238E27FC236}">
                <a16:creationId xmlns:a16="http://schemas.microsoft.com/office/drawing/2014/main" id="{C57C7FBE-7A58-CB4B-2520-F5E77641EC95}"/>
              </a:ext>
            </a:extLst>
          </p:cNvPr>
          <p:cNvSpPr/>
          <p:nvPr/>
        </p:nvSpPr>
        <p:spPr>
          <a:xfrm>
            <a:off x="5344098" y="3208893"/>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9" name="Oval 58">
            <a:extLst>
              <a:ext uri="{FF2B5EF4-FFF2-40B4-BE49-F238E27FC236}">
                <a16:creationId xmlns:a16="http://schemas.microsoft.com/office/drawing/2014/main" id="{77B7152D-71C8-89F6-07C4-9BEA916505FE}"/>
              </a:ext>
            </a:extLst>
          </p:cNvPr>
          <p:cNvSpPr/>
          <p:nvPr/>
        </p:nvSpPr>
        <p:spPr>
          <a:xfrm>
            <a:off x="5349823" y="398136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60" name="Oval 59">
            <a:extLst>
              <a:ext uri="{FF2B5EF4-FFF2-40B4-BE49-F238E27FC236}">
                <a16:creationId xmlns:a16="http://schemas.microsoft.com/office/drawing/2014/main" id="{FCB3CCEA-858E-C1BA-3D0B-2DA15ECFE6C6}"/>
              </a:ext>
            </a:extLst>
          </p:cNvPr>
          <p:cNvSpPr/>
          <p:nvPr/>
        </p:nvSpPr>
        <p:spPr>
          <a:xfrm>
            <a:off x="5344098" y="2436425"/>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61" name="Oval 60">
            <a:extLst>
              <a:ext uri="{FF2B5EF4-FFF2-40B4-BE49-F238E27FC236}">
                <a16:creationId xmlns:a16="http://schemas.microsoft.com/office/drawing/2014/main" id="{C742D9E8-0669-C003-92E6-FAAC934772A0}"/>
              </a:ext>
            </a:extLst>
          </p:cNvPr>
          <p:cNvSpPr/>
          <p:nvPr/>
        </p:nvSpPr>
        <p:spPr>
          <a:xfrm>
            <a:off x="6295227" y="3208893"/>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62" name="Oval 61">
            <a:extLst>
              <a:ext uri="{FF2B5EF4-FFF2-40B4-BE49-F238E27FC236}">
                <a16:creationId xmlns:a16="http://schemas.microsoft.com/office/drawing/2014/main" id="{425B011B-EFED-F9A0-FA94-DE5EAA99CE08}"/>
              </a:ext>
            </a:extLst>
          </p:cNvPr>
          <p:cNvSpPr/>
          <p:nvPr/>
        </p:nvSpPr>
        <p:spPr>
          <a:xfrm>
            <a:off x="6300952" y="398136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63" name="Oval 62">
            <a:extLst>
              <a:ext uri="{FF2B5EF4-FFF2-40B4-BE49-F238E27FC236}">
                <a16:creationId xmlns:a16="http://schemas.microsoft.com/office/drawing/2014/main" id="{D3C06908-D994-6F56-8291-B9469CF4607A}"/>
              </a:ext>
            </a:extLst>
          </p:cNvPr>
          <p:cNvSpPr/>
          <p:nvPr/>
        </p:nvSpPr>
        <p:spPr>
          <a:xfrm>
            <a:off x="6295227" y="2436425"/>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24" name="Oval 1023">
            <a:extLst>
              <a:ext uri="{FF2B5EF4-FFF2-40B4-BE49-F238E27FC236}">
                <a16:creationId xmlns:a16="http://schemas.microsoft.com/office/drawing/2014/main" id="{18CF5953-FF80-FC37-0B02-1D88B8311716}"/>
              </a:ext>
            </a:extLst>
          </p:cNvPr>
          <p:cNvSpPr/>
          <p:nvPr/>
        </p:nvSpPr>
        <p:spPr>
          <a:xfrm>
            <a:off x="7263167" y="3208893"/>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25" name="Oval 1024">
            <a:extLst>
              <a:ext uri="{FF2B5EF4-FFF2-40B4-BE49-F238E27FC236}">
                <a16:creationId xmlns:a16="http://schemas.microsoft.com/office/drawing/2014/main" id="{042F5A00-E77E-7C0A-96B5-D65F0B96CA5A}"/>
              </a:ext>
            </a:extLst>
          </p:cNvPr>
          <p:cNvSpPr/>
          <p:nvPr/>
        </p:nvSpPr>
        <p:spPr>
          <a:xfrm>
            <a:off x="7268892" y="398136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27" name="Oval 1026">
            <a:extLst>
              <a:ext uri="{FF2B5EF4-FFF2-40B4-BE49-F238E27FC236}">
                <a16:creationId xmlns:a16="http://schemas.microsoft.com/office/drawing/2014/main" id="{514EB03B-29B4-D685-EDB2-203544042EE9}"/>
              </a:ext>
            </a:extLst>
          </p:cNvPr>
          <p:cNvSpPr/>
          <p:nvPr/>
        </p:nvSpPr>
        <p:spPr>
          <a:xfrm>
            <a:off x="7263167" y="2436425"/>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32" name="Oval 1031">
            <a:extLst>
              <a:ext uri="{FF2B5EF4-FFF2-40B4-BE49-F238E27FC236}">
                <a16:creationId xmlns:a16="http://schemas.microsoft.com/office/drawing/2014/main" id="{9CBDD509-B8F5-85C7-8D41-58ECAB9A0183}"/>
              </a:ext>
            </a:extLst>
          </p:cNvPr>
          <p:cNvSpPr/>
          <p:nvPr/>
        </p:nvSpPr>
        <p:spPr>
          <a:xfrm>
            <a:off x="4839394" y="434814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33" name="Oval 1032">
            <a:extLst>
              <a:ext uri="{FF2B5EF4-FFF2-40B4-BE49-F238E27FC236}">
                <a16:creationId xmlns:a16="http://schemas.microsoft.com/office/drawing/2014/main" id="{DB3CF064-AB0C-BFBE-2FC6-ED61E3581ABC}"/>
              </a:ext>
            </a:extLst>
          </p:cNvPr>
          <p:cNvSpPr/>
          <p:nvPr/>
        </p:nvSpPr>
        <p:spPr>
          <a:xfrm>
            <a:off x="5249110" y="1950468"/>
            <a:ext cx="396485" cy="409275"/>
          </a:xfrm>
          <a:prstGeom prst="ellipse">
            <a:avLst/>
          </a:prstGeom>
          <a:solidFill>
            <a:srgbClr val="FF00F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34" name="Oval 1033">
            <a:extLst>
              <a:ext uri="{FF2B5EF4-FFF2-40B4-BE49-F238E27FC236}">
                <a16:creationId xmlns:a16="http://schemas.microsoft.com/office/drawing/2014/main" id="{4C5EA35F-CE42-FF67-D180-2DBFECB5A905}"/>
              </a:ext>
            </a:extLst>
          </p:cNvPr>
          <p:cNvSpPr/>
          <p:nvPr/>
        </p:nvSpPr>
        <p:spPr>
          <a:xfrm>
            <a:off x="4314873" y="1957980"/>
            <a:ext cx="396485" cy="409275"/>
          </a:xfrm>
          <a:prstGeom prst="ellipse">
            <a:avLst/>
          </a:prstGeom>
          <a:solidFill>
            <a:srgbClr val="FF00F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35" name="Oval 1034">
            <a:extLst>
              <a:ext uri="{FF2B5EF4-FFF2-40B4-BE49-F238E27FC236}">
                <a16:creationId xmlns:a16="http://schemas.microsoft.com/office/drawing/2014/main" id="{1DC8424A-2E7C-3C90-68FD-5DA60C57D56E}"/>
              </a:ext>
            </a:extLst>
          </p:cNvPr>
          <p:cNvSpPr/>
          <p:nvPr/>
        </p:nvSpPr>
        <p:spPr>
          <a:xfrm>
            <a:off x="7183962" y="3516972"/>
            <a:ext cx="396485" cy="409275"/>
          </a:xfrm>
          <a:prstGeom prst="ellipse">
            <a:avLst/>
          </a:prstGeom>
          <a:solidFill>
            <a:srgbClr val="FF00F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36" name="Oval 1035">
            <a:extLst>
              <a:ext uri="{FF2B5EF4-FFF2-40B4-BE49-F238E27FC236}">
                <a16:creationId xmlns:a16="http://schemas.microsoft.com/office/drawing/2014/main" id="{0902CA83-6A1A-2DB0-00F5-3E10AB1C0D79}"/>
              </a:ext>
            </a:extLst>
          </p:cNvPr>
          <p:cNvSpPr/>
          <p:nvPr/>
        </p:nvSpPr>
        <p:spPr>
          <a:xfrm>
            <a:off x="7196157" y="2749432"/>
            <a:ext cx="396485" cy="409275"/>
          </a:xfrm>
          <a:prstGeom prst="ellipse">
            <a:avLst/>
          </a:prstGeom>
          <a:solidFill>
            <a:srgbClr val="FF00F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cxnSp>
        <p:nvCxnSpPr>
          <p:cNvPr id="1038" name="Straight Connector 1037">
            <a:extLst>
              <a:ext uri="{FF2B5EF4-FFF2-40B4-BE49-F238E27FC236}">
                <a16:creationId xmlns:a16="http://schemas.microsoft.com/office/drawing/2014/main" id="{58B856A8-54EB-B8AB-3FA3-5A9333CB9B4C}"/>
              </a:ext>
            </a:extLst>
          </p:cNvPr>
          <p:cNvCxnSpPr/>
          <p:nvPr/>
        </p:nvCxnSpPr>
        <p:spPr>
          <a:xfrm>
            <a:off x="4732868" y="2100073"/>
            <a:ext cx="499310" cy="0"/>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1039" name="Straight Connector 1038">
            <a:extLst>
              <a:ext uri="{FF2B5EF4-FFF2-40B4-BE49-F238E27FC236}">
                <a16:creationId xmlns:a16="http://schemas.microsoft.com/office/drawing/2014/main" id="{7C8BAB4D-3161-E367-60BC-EFC8AAEE2B1E}"/>
              </a:ext>
            </a:extLst>
          </p:cNvPr>
          <p:cNvCxnSpPr>
            <a:cxnSpLocks/>
          </p:cNvCxnSpPr>
          <p:nvPr/>
        </p:nvCxnSpPr>
        <p:spPr>
          <a:xfrm>
            <a:off x="7442201" y="3183452"/>
            <a:ext cx="0" cy="29418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1042" name="Connector: Elbow 1041">
            <a:extLst>
              <a:ext uri="{FF2B5EF4-FFF2-40B4-BE49-F238E27FC236}">
                <a16:creationId xmlns:a16="http://schemas.microsoft.com/office/drawing/2014/main" id="{15301BAD-011B-A239-721B-C827CEAF8D91}"/>
              </a:ext>
            </a:extLst>
          </p:cNvPr>
          <p:cNvCxnSpPr>
            <a:cxnSpLocks/>
            <a:stCxn id="1034" idx="6"/>
            <a:endCxn id="1036" idx="0"/>
          </p:cNvCxnSpPr>
          <p:nvPr/>
        </p:nvCxnSpPr>
        <p:spPr>
          <a:xfrm>
            <a:off x="4711358" y="2162618"/>
            <a:ext cx="2683042" cy="586814"/>
          </a:xfrm>
          <a:prstGeom prst="bentConnector2">
            <a:avLst/>
          </a:prstGeom>
          <a:ln w="38100"/>
        </p:spPr>
        <p:style>
          <a:lnRef idx="1">
            <a:schemeClr val="accent6"/>
          </a:lnRef>
          <a:fillRef idx="0">
            <a:schemeClr val="accent6"/>
          </a:fillRef>
          <a:effectRef idx="0">
            <a:schemeClr val="accent6"/>
          </a:effectRef>
          <a:fontRef idx="minor">
            <a:schemeClr val="tx1"/>
          </a:fontRef>
        </p:style>
      </p:cxnSp>
      <p:cxnSp>
        <p:nvCxnSpPr>
          <p:cNvPr id="1045" name="Connector: Elbow 1044">
            <a:extLst>
              <a:ext uri="{FF2B5EF4-FFF2-40B4-BE49-F238E27FC236}">
                <a16:creationId xmlns:a16="http://schemas.microsoft.com/office/drawing/2014/main" id="{7EDAA909-B321-34B6-1F3A-58C9A6D4034E}"/>
              </a:ext>
            </a:extLst>
          </p:cNvPr>
          <p:cNvCxnSpPr>
            <a:cxnSpLocks/>
            <a:stCxn id="1034" idx="4"/>
            <a:endCxn id="1036" idx="2"/>
          </p:cNvCxnSpPr>
          <p:nvPr/>
        </p:nvCxnSpPr>
        <p:spPr>
          <a:xfrm rot="16200000" flipH="1">
            <a:off x="5561229" y="1319141"/>
            <a:ext cx="586815" cy="2683041"/>
          </a:xfrm>
          <a:prstGeom prst="bentConnector2">
            <a:avLst/>
          </a:prstGeom>
          <a:ln w="38100"/>
        </p:spPr>
        <p:style>
          <a:lnRef idx="1">
            <a:schemeClr val="accent6"/>
          </a:lnRef>
          <a:fillRef idx="0">
            <a:schemeClr val="accent6"/>
          </a:fillRef>
          <a:effectRef idx="0">
            <a:schemeClr val="accent6"/>
          </a:effectRef>
          <a:fontRef idx="minor">
            <a:schemeClr val="tx1"/>
          </a:fontRef>
        </p:style>
      </p:cxnSp>
      <p:cxnSp>
        <p:nvCxnSpPr>
          <p:cNvPr id="1050" name="Connector: Elbow 1049">
            <a:extLst>
              <a:ext uri="{FF2B5EF4-FFF2-40B4-BE49-F238E27FC236}">
                <a16:creationId xmlns:a16="http://schemas.microsoft.com/office/drawing/2014/main" id="{BE8AF553-5D66-2B21-E7F6-F86BCE9B72DC}"/>
              </a:ext>
            </a:extLst>
          </p:cNvPr>
          <p:cNvCxnSpPr>
            <a:cxnSpLocks/>
            <a:stCxn id="1034" idx="3"/>
            <a:endCxn id="1035" idx="2"/>
          </p:cNvCxnSpPr>
          <p:nvPr/>
        </p:nvCxnSpPr>
        <p:spPr>
          <a:xfrm rot="16200000" flipH="1">
            <a:off x="5071303" y="1608951"/>
            <a:ext cx="1414292" cy="2811025"/>
          </a:xfrm>
          <a:prstGeom prst="bentConnector2">
            <a:avLst/>
          </a:prstGeom>
          <a:ln w="38100"/>
        </p:spPr>
        <p:style>
          <a:lnRef idx="1">
            <a:schemeClr val="accent6"/>
          </a:lnRef>
          <a:fillRef idx="0">
            <a:schemeClr val="accent6"/>
          </a:fillRef>
          <a:effectRef idx="0">
            <a:schemeClr val="accent6"/>
          </a:effectRef>
          <a:fontRef idx="minor">
            <a:schemeClr val="tx1"/>
          </a:fontRef>
        </p:style>
      </p:cxnSp>
      <p:cxnSp>
        <p:nvCxnSpPr>
          <p:cNvPr id="1053" name="Connector: Elbow 1052">
            <a:extLst>
              <a:ext uri="{FF2B5EF4-FFF2-40B4-BE49-F238E27FC236}">
                <a16:creationId xmlns:a16="http://schemas.microsoft.com/office/drawing/2014/main" id="{2FA185CC-CE9C-A062-5E73-40C83CBFB2F3}"/>
              </a:ext>
            </a:extLst>
          </p:cNvPr>
          <p:cNvCxnSpPr>
            <a:cxnSpLocks/>
            <a:stCxn id="1033" idx="4"/>
            <a:endCxn id="1035" idx="1"/>
          </p:cNvCxnSpPr>
          <p:nvPr/>
        </p:nvCxnSpPr>
        <p:spPr>
          <a:xfrm rot="16200000" flipH="1">
            <a:off x="5736106" y="2070989"/>
            <a:ext cx="1217166" cy="1794673"/>
          </a:xfrm>
          <a:prstGeom prst="bentConnector3">
            <a:avLst>
              <a:gd name="adj1" fmla="val 100431"/>
            </a:avLst>
          </a:prstGeom>
          <a:ln w="38100"/>
        </p:spPr>
        <p:style>
          <a:lnRef idx="1">
            <a:schemeClr val="accent6"/>
          </a:lnRef>
          <a:fillRef idx="0">
            <a:schemeClr val="accent6"/>
          </a:fillRef>
          <a:effectRef idx="0">
            <a:schemeClr val="accent6"/>
          </a:effectRef>
          <a:fontRef idx="minor">
            <a:schemeClr val="tx1"/>
          </a:fontRef>
        </p:style>
      </p:cxnSp>
      <p:sp>
        <p:nvSpPr>
          <p:cNvPr id="1057" name="TextBox 1056">
            <a:extLst>
              <a:ext uri="{FF2B5EF4-FFF2-40B4-BE49-F238E27FC236}">
                <a16:creationId xmlns:a16="http://schemas.microsoft.com/office/drawing/2014/main" id="{110011C1-59F1-EB2F-39FD-F6E8BA8E2237}"/>
              </a:ext>
            </a:extLst>
          </p:cNvPr>
          <p:cNvSpPr txBox="1"/>
          <p:nvPr/>
        </p:nvSpPr>
        <p:spPr>
          <a:xfrm>
            <a:off x="7730366" y="2645159"/>
            <a:ext cx="1365459" cy="646331"/>
          </a:xfrm>
          <a:prstGeom prst="rect">
            <a:avLst/>
          </a:prstGeom>
          <a:noFill/>
        </p:spPr>
        <p:txBody>
          <a:bodyPr wrap="square" rtlCol="0">
            <a:spAutoFit/>
          </a:bodyPr>
          <a:lstStyle/>
          <a:p>
            <a:r>
              <a:rPr lang="en-US"/>
              <a:t>Detected syndrome!</a:t>
            </a:r>
            <a:endParaRPr lang="vi-VN"/>
          </a:p>
        </p:txBody>
      </p:sp>
    </p:spTree>
    <p:extLst>
      <p:ext uri="{BB962C8B-B14F-4D97-AF65-F5344CB8AC3E}">
        <p14:creationId xmlns:p14="http://schemas.microsoft.com/office/powerpoint/2010/main" val="231723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3BE60-305C-0A55-C689-980B6AFFD739}"/>
              </a:ext>
            </a:extLst>
          </p:cNvPr>
          <p:cNvSpPr>
            <a:spLocks noGrp="1"/>
          </p:cNvSpPr>
          <p:nvPr>
            <p:ph type="title"/>
          </p:nvPr>
        </p:nvSpPr>
        <p:spPr/>
        <p:txBody>
          <a:bodyPr/>
          <a:lstStyle/>
          <a:p>
            <a:r>
              <a:rPr lang="en-VN"/>
              <a:t>1.4. Quantum error correction</a:t>
            </a:r>
          </a:p>
        </p:txBody>
      </p:sp>
      <p:sp>
        <p:nvSpPr>
          <p:cNvPr id="3" name="Content Placeholder 2">
            <a:extLst>
              <a:ext uri="{FF2B5EF4-FFF2-40B4-BE49-F238E27FC236}">
                <a16:creationId xmlns:a16="http://schemas.microsoft.com/office/drawing/2014/main" id="{8B40ABDE-F062-720A-B25C-44DBEEB46753}"/>
              </a:ext>
            </a:extLst>
          </p:cNvPr>
          <p:cNvSpPr>
            <a:spLocks noGrp="1"/>
          </p:cNvSpPr>
          <p:nvPr>
            <p:ph idx="1"/>
          </p:nvPr>
        </p:nvSpPr>
        <p:spPr>
          <a:xfrm>
            <a:off x="628650" y="1181278"/>
            <a:ext cx="7886700" cy="829653"/>
          </a:xfrm>
        </p:spPr>
        <p:txBody>
          <a:bodyPr>
            <a:normAutofit/>
          </a:bodyPr>
          <a:lstStyle/>
          <a:p>
            <a:pPr marL="0" indent="0">
              <a:buNone/>
            </a:pPr>
            <a:r>
              <a:rPr lang="en-US"/>
              <a:t>MWPM decoder (Minimum Weight Perfect Matching)</a:t>
            </a:r>
          </a:p>
          <a:p>
            <a:pPr marL="0" indent="0">
              <a:buNone/>
            </a:pPr>
            <a:r>
              <a:rPr lang="en-US"/>
              <a:t>Find shortest pairs through Blossom algorithm</a:t>
            </a:r>
            <a:endParaRPr lang="en-VN"/>
          </a:p>
        </p:txBody>
      </p:sp>
      <p:sp>
        <p:nvSpPr>
          <p:cNvPr id="4" name="Slide Number Placeholder 3">
            <a:extLst>
              <a:ext uri="{FF2B5EF4-FFF2-40B4-BE49-F238E27FC236}">
                <a16:creationId xmlns:a16="http://schemas.microsoft.com/office/drawing/2014/main" id="{9C7466A8-C21C-4E6A-0D9A-AD27B5C1A897}"/>
              </a:ext>
            </a:extLst>
          </p:cNvPr>
          <p:cNvSpPr>
            <a:spLocks noGrp="1"/>
          </p:cNvSpPr>
          <p:nvPr>
            <p:ph type="sldNum" sz="quarter" idx="12"/>
          </p:nvPr>
        </p:nvSpPr>
        <p:spPr/>
        <p:txBody>
          <a:bodyPr/>
          <a:lstStyle/>
          <a:p>
            <a:fld id="{6A45828D-F580-42DE-B77E-860980F07F32}" type="slidenum">
              <a:rPr lang="vi-VN" smtClean="0"/>
              <a:pPr/>
              <a:t>15</a:t>
            </a:fld>
            <a:r>
              <a:rPr lang="en-US"/>
              <a:t>/80</a:t>
            </a:r>
            <a:endParaRPr lang="vi-VN"/>
          </a:p>
        </p:txBody>
      </p:sp>
      <p:graphicFrame>
        <p:nvGraphicFramePr>
          <p:cNvPr id="42" name="Table 41">
            <a:extLst>
              <a:ext uri="{FF2B5EF4-FFF2-40B4-BE49-F238E27FC236}">
                <a16:creationId xmlns:a16="http://schemas.microsoft.com/office/drawing/2014/main" id="{FA745BFE-BB75-2750-16CF-CE7C72EC08F5}"/>
              </a:ext>
            </a:extLst>
          </p:cNvPr>
          <p:cNvGraphicFramePr>
            <a:graphicFrameLocks noGrp="1"/>
          </p:cNvGraphicFramePr>
          <p:nvPr>
            <p:extLst>
              <p:ext uri="{D42A27DB-BD31-4B8C-83A1-F6EECF244321}">
                <p14:modId xmlns:p14="http://schemas.microsoft.com/office/powerpoint/2010/main" val="821135230"/>
              </p:ext>
            </p:extLst>
          </p:nvPr>
        </p:nvGraphicFramePr>
        <p:xfrm>
          <a:off x="924835" y="2192892"/>
          <a:ext cx="2874432" cy="2275302"/>
        </p:xfrm>
        <a:graphic>
          <a:graphicData uri="http://schemas.openxmlformats.org/drawingml/2006/table">
            <a:tbl>
              <a:tblPr firstRow="1" bandRow="1">
                <a:tableStyleId>{5940675A-B579-460E-94D1-54222C63F5DA}</a:tableStyleId>
              </a:tblPr>
              <a:tblGrid>
                <a:gridCol w="958144">
                  <a:extLst>
                    <a:ext uri="{9D8B030D-6E8A-4147-A177-3AD203B41FA5}">
                      <a16:colId xmlns:a16="http://schemas.microsoft.com/office/drawing/2014/main" val="3121889379"/>
                    </a:ext>
                  </a:extLst>
                </a:gridCol>
                <a:gridCol w="958144">
                  <a:extLst>
                    <a:ext uri="{9D8B030D-6E8A-4147-A177-3AD203B41FA5}">
                      <a16:colId xmlns:a16="http://schemas.microsoft.com/office/drawing/2014/main" val="1213063953"/>
                    </a:ext>
                  </a:extLst>
                </a:gridCol>
                <a:gridCol w="958144">
                  <a:extLst>
                    <a:ext uri="{9D8B030D-6E8A-4147-A177-3AD203B41FA5}">
                      <a16:colId xmlns:a16="http://schemas.microsoft.com/office/drawing/2014/main" val="318578827"/>
                    </a:ext>
                  </a:extLst>
                </a:gridCol>
              </a:tblGrid>
              <a:tr h="758434">
                <a:tc>
                  <a:txBody>
                    <a:bodyPr/>
                    <a:lstStyle/>
                    <a:p>
                      <a:endParaRPr lang="vi-VN" sz="2800"/>
                    </a:p>
                  </a:txBody>
                  <a:tcPr marL="187011" marR="187011" marT="93506" marB="93506"/>
                </a:tc>
                <a:tc>
                  <a:txBody>
                    <a:bodyPr/>
                    <a:lstStyle/>
                    <a:p>
                      <a:endParaRPr lang="vi-VN" sz="2800"/>
                    </a:p>
                  </a:txBody>
                  <a:tcPr marL="187011" marR="187011" marT="93506" marB="93506"/>
                </a:tc>
                <a:tc>
                  <a:txBody>
                    <a:bodyPr/>
                    <a:lstStyle/>
                    <a:p>
                      <a:endParaRPr lang="vi-VN" sz="2800"/>
                    </a:p>
                  </a:txBody>
                  <a:tcPr marL="187011" marR="187011" marT="93506" marB="93506"/>
                </a:tc>
                <a:extLst>
                  <a:ext uri="{0D108BD9-81ED-4DB2-BD59-A6C34878D82A}">
                    <a16:rowId xmlns:a16="http://schemas.microsoft.com/office/drawing/2014/main" val="3333768290"/>
                  </a:ext>
                </a:extLst>
              </a:tr>
              <a:tr h="758434">
                <a:tc>
                  <a:txBody>
                    <a:bodyPr/>
                    <a:lstStyle/>
                    <a:p>
                      <a:endParaRPr lang="vi-VN" sz="2800"/>
                    </a:p>
                  </a:txBody>
                  <a:tcPr marL="187011" marR="187011" marT="93506" marB="93506"/>
                </a:tc>
                <a:tc>
                  <a:txBody>
                    <a:bodyPr/>
                    <a:lstStyle/>
                    <a:p>
                      <a:endParaRPr lang="vi-VN" sz="2800"/>
                    </a:p>
                  </a:txBody>
                  <a:tcPr marL="187011" marR="187011" marT="93506" marB="93506"/>
                </a:tc>
                <a:tc>
                  <a:txBody>
                    <a:bodyPr/>
                    <a:lstStyle/>
                    <a:p>
                      <a:endParaRPr lang="vi-VN" sz="2800"/>
                    </a:p>
                  </a:txBody>
                  <a:tcPr marL="187011" marR="187011" marT="93506" marB="93506"/>
                </a:tc>
                <a:extLst>
                  <a:ext uri="{0D108BD9-81ED-4DB2-BD59-A6C34878D82A}">
                    <a16:rowId xmlns:a16="http://schemas.microsoft.com/office/drawing/2014/main" val="3317393379"/>
                  </a:ext>
                </a:extLst>
              </a:tr>
              <a:tr h="758434">
                <a:tc>
                  <a:txBody>
                    <a:bodyPr/>
                    <a:lstStyle/>
                    <a:p>
                      <a:endParaRPr lang="vi-VN" sz="2800"/>
                    </a:p>
                  </a:txBody>
                  <a:tcPr marL="187011" marR="187011" marT="93506" marB="93506"/>
                </a:tc>
                <a:tc>
                  <a:txBody>
                    <a:bodyPr/>
                    <a:lstStyle/>
                    <a:p>
                      <a:endParaRPr lang="vi-VN" sz="2800"/>
                    </a:p>
                  </a:txBody>
                  <a:tcPr marL="187011" marR="187011" marT="93506" marB="93506"/>
                </a:tc>
                <a:tc>
                  <a:txBody>
                    <a:bodyPr/>
                    <a:lstStyle/>
                    <a:p>
                      <a:endParaRPr lang="vi-VN" sz="2800"/>
                    </a:p>
                  </a:txBody>
                  <a:tcPr marL="187011" marR="187011" marT="93506" marB="93506"/>
                </a:tc>
                <a:extLst>
                  <a:ext uri="{0D108BD9-81ED-4DB2-BD59-A6C34878D82A}">
                    <a16:rowId xmlns:a16="http://schemas.microsoft.com/office/drawing/2014/main" val="3389493600"/>
                  </a:ext>
                </a:extLst>
              </a:tr>
            </a:tbl>
          </a:graphicData>
        </a:graphic>
      </p:graphicFrame>
      <p:sp>
        <p:nvSpPr>
          <p:cNvPr id="43" name="Oval 42">
            <a:extLst>
              <a:ext uri="{FF2B5EF4-FFF2-40B4-BE49-F238E27FC236}">
                <a16:creationId xmlns:a16="http://schemas.microsoft.com/office/drawing/2014/main" id="{BAAF9F8B-8400-BC5D-6AE0-3468302568B0}"/>
              </a:ext>
            </a:extLst>
          </p:cNvPr>
          <p:cNvSpPr/>
          <p:nvPr/>
        </p:nvSpPr>
        <p:spPr>
          <a:xfrm>
            <a:off x="1253786" y="356025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44" name="Oval 43">
            <a:extLst>
              <a:ext uri="{FF2B5EF4-FFF2-40B4-BE49-F238E27FC236}">
                <a16:creationId xmlns:a16="http://schemas.microsoft.com/office/drawing/2014/main" id="{31FF3FD4-D781-DD4F-FB73-E4727E467656}"/>
              </a:ext>
            </a:extLst>
          </p:cNvPr>
          <p:cNvSpPr/>
          <p:nvPr/>
        </p:nvSpPr>
        <p:spPr>
          <a:xfrm>
            <a:off x="2230192" y="356025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45" name="Oval 44">
            <a:extLst>
              <a:ext uri="{FF2B5EF4-FFF2-40B4-BE49-F238E27FC236}">
                <a16:creationId xmlns:a16="http://schemas.microsoft.com/office/drawing/2014/main" id="{9AB31C9F-AC6E-6571-780A-077083A51C5F}"/>
              </a:ext>
            </a:extLst>
          </p:cNvPr>
          <p:cNvSpPr/>
          <p:nvPr/>
        </p:nvSpPr>
        <p:spPr>
          <a:xfrm>
            <a:off x="3203857" y="356025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47" name="Oval 46">
            <a:extLst>
              <a:ext uri="{FF2B5EF4-FFF2-40B4-BE49-F238E27FC236}">
                <a16:creationId xmlns:a16="http://schemas.microsoft.com/office/drawing/2014/main" id="{64F3B604-25A9-0328-EC72-D3962AD06B38}"/>
              </a:ext>
            </a:extLst>
          </p:cNvPr>
          <p:cNvSpPr/>
          <p:nvPr/>
        </p:nvSpPr>
        <p:spPr>
          <a:xfrm>
            <a:off x="2235917" y="4332727"/>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48" name="Oval 47">
            <a:extLst>
              <a:ext uri="{FF2B5EF4-FFF2-40B4-BE49-F238E27FC236}">
                <a16:creationId xmlns:a16="http://schemas.microsoft.com/office/drawing/2014/main" id="{16FEB916-9A26-9CE5-3E74-43618C832233}"/>
              </a:ext>
            </a:extLst>
          </p:cNvPr>
          <p:cNvSpPr/>
          <p:nvPr/>
        </p:nvSpPr>
        <p:spPr>
          <a:xfrm>
            <a:off x="3209582" y="4332727"/>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49" name="Oval 48">
            <a:extLst>
              <a:ext uri="{FF2B5EF4-FFF2-40B4-BE49-F238E27FC236}">
                <a16:creationId xmlns:a16="http://schemas.microsoft.com/office/drawing/2014/main" id="{5E9F517B-8388-5012-767C-1AEFA6747DC6}"/>
              </a:ext>
            </a:extLst>
          </p:cNvPr>
          <p:cNvSpPr/>
          <p:nvPr/>
        </p:nvSpPr>
        <p:spPr>
          <a:xfrm>
            <a:off x="1253786" y="278779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0" name="Oval 49">
            <a:extLst>
              <a:ext uri="{FF2B5EF4-FFF2-40B4-BE49-F238E27FC236}">
                <a16:creationId xmlns:a16="http://schemas.microsoft.com/office/drawing/2014/main" id="{D9C566C1-839E-08A4-144E-926E5D016DA0}"/>
              </a:ext>
            </a:extLst>
          </p:cNvPr>
          <p:cNvSpPr/>
          <p:nvPr/>
        </p:nvSpPr>
        <p:spPr>
          <a:xfrm>
            <a:off x="2230192" y="278779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1" name="Oval 50">
            <a:extLst>
              <a:ext uri="{FF2B5EF4-FFF2-40B4-BE49-F238E27FC236}">
                <a16:creationId xmlns:a16="http://schemas.microsoft.com/office/drawing/2014/main" id="{7A4F01FC-EAEE-A9F0-4D6C-61550E7789A6}"/>
              </a:ext>
            </a:extLst>
          </p:cNvPr>
          <p:cNvSpPr/>
          <p:nvPr/>
        </p:nvSpPr>
        <p:spPr>
          <a:xfrm>
            <a:off x="3203857" y="278779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2" name="Oval 51">
            <a:extLst>
              <a:ext uri="{FF2B5EF4-FFF2-40B4-BE49-F238E27FC236}">
                <a16:creationId xmlns:a16="http://schemas.microsoft.com/office/drawing/2014/main" id="{38F3639D-4EB2-653C-FA05-1B3A737F34E6}"/>
              </a:ext>
            </a:extLst>
          </p:cNvPr>
          <p:cNvSpPr/>
          <p:nvPr/>
        </p:nvSpPr>
        <p:spPr>
          <a:xfrm>
            <a:off x="1253786" y="2046261"/>
            <a:ext cx="262467" cy="270934"/>
          </a:xfrm>
          <a:prstGeom prst="ellipse">
            <a:avLst/>
          </a:prstGeom>
          <a:solidFill>
            <a:srgbClr val="FF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3" name="Oval 52">
            <a:extLst>
              <a:ext uri="{FF2B5EF4-FFF2-40B4-BE49-F238E27FC236}">
                <a16:creationId xmlns:a16="http://schemas.microsoft.com/office/drawing/2014/main" id="{EF702E06-18DD-E78E-658A-227F666BAD48}"/>
              </a:ext>
            </a:extLst>
          </p:cNvPr>
          <p:cNvSpPr/>
          <p:nvPr/>
        </p:nvSpPr>
        <p:spPr>
          <a:xfrm>
            <a:off x="2230192" y="2063196"/>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4" name="Oval 53">
            <a:extLst>
              <a:ext uri="{FF2B5EF4-FFF2-40B4-BE49-F238E27FC236}">
                <a16:creationId xmlns:a16="http://schemas.microsoft.com/office/drawing/2014/main" id="{F2537F83-6BD5-0FDB-38A9-3CA9A36548FC}"/>
              </a:ext>
            </a:extLst>
          </p:cNvPr>
          <p:cNvSpPr/>
          <p:nvPr/>
        </p:nvSpPr>
        <p:spPr>
          <a:xfrm>
            <a:off x="3203857" y="2063196"/>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5" name="Oval 54">
            <a:extLst>
              <a:ext uri="{FF2B5EF4-FFF2-40B4-BE49-F238E27FC236}">
                <a16:creationId xmlns:a16="http://schemas.microsoft.com/office/drawing/2014/main" id="{A2A67C94-E36B-225F-3059-90B976468A5E}"/>
              </a:ext>
            </a:extLst>
          </p:cNvPr>
          <p:cNvSpPr/>
          <p:nvPr/>
        </p:nvSpPr>
        <p:spPr>
          <a:xfrm>
            <a:off x="790549" y="3208893"/>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6" name="Oval 55">
            <a:extLst>
              <a:ext uri="{FF2B5EF4-FFF2-40B4-BE49-F238E27FC236}">
                <a16:creationId xmlns:a16="http://schemas.microsoft.com/office/drawing/2014/main" id="{43C51C26-0AAC-3435-5F72-2926AEF57DCA}"/>
              </a:ext>
            </a:extLst>
          </p:cNvPr>
          <p:cNvSpPr/>
          <p:nvPr/>
        </p:nvSpPr>
        <p:spPr>
          <a:xfrm>
            <a:off x="796274" y="398136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7" name="Oval 56">
            <a:extLst>
              <a:ext uri="{FF2B5EF4-FFF2-40B4-BE49-F238E27FC236}">
                <a16:creationId xmlns:a16="http://schemas.microsoft.com/office/drawing/2014/main" id="{A569976B-EC24-86A6-14C4-C1F1F7D14351}"/>
              </a:ext>
            </a:extLst>
          </p:cNvPr>
          <p:cNvSpPr/>
          <p:nvPr/>
        </p:nvSpPr>
        <p:spPr>
          <a:xfrm>
            <a:off x="790549" y="2436425"/>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8" name="Oval 57">
            <a:extLst>
              <a:ext uri="{FF2B5EF4-FFF2-40B4-BE49-F238E27FC236}">
                <a16:creationId xmlns:a16="http://schemas.microsoft.com/office/drawing/2014/main" id="{C57C7FBE-7A58-CB4B-2520-F5E77641EC95}"/>
              </a:ext>
            </a:extLst>
          </p:cNvPr>
          <p:cNvSpPr/>
          <p:nvPr/>
        </p:nvSpPr>
        <p:spPr>
          <a:xfrm>
            <a:off x="1758489" y="3208893"/>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59" name="Oval 58">
            <a:extLst>
              <a:ext uri="{FF2B5EF4-FFF2-40B4-BE49-F238E27FC236}">
                <a16:creationId xmlns:a16="http://schemas.microsoft.com/office/drawing/2014/main" id="{77B7152D-71C8-89F6-07C4-9BEA916505FE}"/>
              </a:ext>
            </a:extLst>
          </p:cNvPr>
          <p:cNvSpPr/>
          <p:nvPr/>
        </p:nvSpPr>
        <p:spPr>
          <a:xfrm>
            <a:off x="1764214" y="398136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60" name="Oval 59">
            <a:extLst>
              <a:ext uri="{FF2B5EF4-FFF2-40B4-BE49-F238E27FC236}">
                <a16:creationId xmlns:a16="http://schemas.microsoft.com/office/drawing/2014/main" id="{FCB3CCEA-858E-C1BA-3D0B-2DA15ECFE6C6}"/>
              </a:ext>
            </a:extLst>
          </p:cNvPr>
          <p:cNvSpPr/>
          <p:nvPr/>
        </p:nvSpPr>
        <p:spPr>
          <a:xfrm>
            <a:off x="1758489" y="2436425"/>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61" name="Oval 60">
            <a:extLst>
              <a:ext uri="{FF2B5EF4-FFF2-40B4-BE49-F238E27FC236}">
                <a16:creationId xmlns:a16="http://schemas.microsoft.com/office/drawing/2014/main" id="{C742D9E8-0669-C003-92E6-FAAC934772A0}"/>
              </a:ext>
            </a:extLst>
          </p:cNvPr>
          <p:cNvSpPr/>
          <p:nvPr/>
        </p:nvSpPr>
        <p:spPr>
          <a:xfrm>
            <a:off x="2709618" y="3208893"/>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62" name="Oval 61">
            <a:extLst>
              <a:ext uri="{FF2B5EF4-FFF2-40B4-BE49-F238E27FC236}">
                <a16:creationId xmlns:a16="http://schemas.microsoft.com/office/drawing/2014/main" id="{425B011B-EFED-F9A0-FA94-DE5EAA99CE08}"/>
              </a:ext>
            </a:extLst>
          </p:cNvPr>
          <p:cNvSpPr/>
          <p:nvPr/>
        </p:nvSpPr>
        <p:spPr>
          <a:xfrm>
            <a:off x="2715343" y="398136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63" name="Oval 62">
            <a:extLst>
              <a:ext uri="{FF2B5EF4-FFF2-40B4-BE49-F238E27FC236}">
                <a16:creationId xmlns:a16="http://schemas.microsoft.com/office/drawing/2014/main" id="{D3C06908-D994-6F56-8291-B9469CF4607A}"/>
              </a:ext>
            </a:extLst>
          </p:cNvPr>
          <p:cNvSpPr/>
          <p:nvPr/>
        </p:nvSpPr>
        <p:spPr>
          <a:xfrm>
            <a:off x="2709618" y="2436425"/>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24" name="Oval 1023">
            <a:extLst>
              <a:ext uri="{FF2B5EF4-FFF2-40B4-BE49-F238E27FC236}">
                <a16:creationId xmlns:a16="http://schemas.microsoft.com/office/drawing/2014/main" id="{18CF5953-FF80-FC37-0B02-1D88B8311716}"/>
              </a:ext>
            </a:extLst>
          </p:cNvPr>
          <p:cNvSpPr/>
          <p:nvPr/>
        </p:nvSpPr>
        <p:spPr>
          <a:xfrm>
            <a:off x="3677558" y="3208893"/>
            <a:ext cx="262467" cy="270934"/>
          </a:xfrm>
          <a:prstGeom prst="ellipse">
            <a:avLst/>
          </a:prstGeom>
          <a:solidFill>
            <a:srgbClr val="FF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25" name="Oval 1024">
            <a:extLst>
              <a:ext uri="{FF2B5EF4-FFF2-40B4-BE49-F238E27FC236}">
                <a16:creationId xmlns:a16="http://schemas.microsoft.com/office/drawing/2014/main" id="{042F5A00-E77E-7C0A-96B5-D65F0B96CA5A}"/>
              </a:ext>
            </a:extLst>
          </p:cNvPr>
          <p:cNvSpPr/>
          <p:nvPr/>
        </p:nvSpPr>
        <p:spPr>
          <a:xfrm>
            <a:off x="3683283" y="3981361"/>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27" name="Oval 1026">
            <a:extLst>
              <a:ext uri="{FF2B5EF4-FFF2-40B4-BE49-F238E27FC236}">
                <a16:creationId xmlns:a16="http://schemas.microsoft.com/office/drawing/2014/main" id="{514EB03B-29B4-D685-EDB2-203544042EE9}"/>
              </a:ext>
            </a:extLst>
          </p:cNvPr>
          <p:cNvSpPr/>
          <p:nvPr/>
        </p:nvSpPr>
        <p:spPr>
          <a:xfrm>
            <a:off x="3677558" y="2436425"/>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32" name="Oval 1031">
            <a:extLst>
              <a:ext uri="{FF2B5EF4-FFF2-40B4-BE49-F238E27FC236}">
                <a16:creationId xmlns:a16="http://schemas.microsoft.com/office/drawing/2014/main" id="{9CBDD509-B8F5-85C7-8D41-58ECAB9A0183}"/>
              </a:ext>
            </a:extLst>
          </p:cNvPr>
          <p:cNvSpPr/>
          <p:nvPr/>
        </p:nvSpPr>
        <p:spPr>
          <a:xfrm>
            <a:off x="1253785" y="4348149"/>
            <a:ext cx="262467" cy="27093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33" name="Oval 1032">
            <a:extLst>
              <a:ext uri="{FF2B5EF4-FFF2-40B4-BE49-F238E27FC236}">
                <a16:creationId xmlns:a16="http://schemas.microsoft.com/office/drawing/2014/main" id="{DB3CF064-AB0C-BFBE-2FC6-ED61E3581ABC}"/>
              </a:ext>
            </a:extLst>
          </p:cNvPr>
          <p:cNvSpPr/>
          <p:nvPr/>
        </p:nvSpPr>
        <p:spPr>
          <a:xfrm>
            <a:off x="1663501" y="1950468"/>
            <a:ext cx="396485" cy="409275"/>
          </a:xfrm>
          <a:prstGeom prst="ellipse">
            <a:avLst/>
          </a:prstGeom>
          <a:solidFill>
            <a:srgbClr val="FF00F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34" name="Oval 1033">
            <a:extLst>
              <a:ext uri="{FF2B5EF4-FFF2-40B4-BE49-F238E27FC236}">
                <a16:creationId xmlns:a16="http://schemas.microsoft.com/office/drawing/2014/main" id="{4C5EA35F-CE42-FF67-D180-2DBFECB5A905}"/>
              </a:ext>
            </a:extLst>
          </p:cNvPr>
          <p:cNvSpPr/>
          <p:nvPr/>
        </p:nvSpPr>
        <p:spPr>
          <a:xfrm>
            <a:off x="729264" y="1957980"/>
            <a:ext cx="396485" cy="409275"/>
          </a:xfrm>
          <a:prstGeom prst="ellipse">
            <a:avLst/>
          </a:prstGeom>
          <a:solidFill>
            <a:srgbClr val="FF00F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35" name="Oval 1034">
            <a:extLst>
              <a:ext uri="{FF2B5EF4-FFF2-40B4-BE49-F238E27FC236}">
                <a16:creationId xmlns:a16="http://schemas.microsoft.com/office/drawing/2014/main" id="{1DC8424A-2E7C-3C90-68FD-5DA60C57D56E}"/>
              </a:ext>
            </a:extLst>
          </p:cNvPr>
          <p:cNvSpPr/>
          <p:nvPr/>
        </p:nvSpPr>
        <p:spPr>
          <a:xfrm>
            <a:off x="3598353" y="3516972"/>
            <a:ext cx="396485" cy="409275"/>
          </a:xfrm>
          <a:prstGeom prst="ellipse">
            <a:avLst/>
          </a:prstGeom>
          <a:solidFill>
            <a:srgbClr val="FF00F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1036" name="Oval 1035">
            <a:extLst>
              <a:ext uri="{FF2B5EF4-FFF2-40B4-BE49-F238E27FC236}">
                <a16:creationId xmlns:a16="http://schemas.microsoft.com/office/drawing/2014/main" id="{0902CA83-6A1A-2DB0-00F5-3E10AB1C0D79}"/>
              </a:ext>
            </a:extLst>
          </p:cNvPr>
          <p:cNvSpPr/>
          <p:nvPr/>
        </p:nvSpPr>
        <p:spPr>
          <a:xfrm>
            <a:off x="3610548" y="2749432"/>
            <a:ext cx="396485" cy="409275"/>
          </a:xfrm>
          <a:prstGeom prst="ellipse">
            <a:avLst/>
          </a:prstGeom>
          <a:solidFill>
            <a:srgbClr val="FF00F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cxnSp>
        <p:nvCxnSpPr>
          <p:cNvPr id="1038" name="Straight Connector 1037">
            <a:extLst>
              <a:ext uri="{FF2B5EF4-FFF2-40B4-BE49-F238E27FC236}">
                <a16:creationId xmlns:a16="http://schemas.microsoft.com/office/drawing/2014/main" id="{58B856A8-54EB-B8AB-3FA3-5A9333CB9B4C}"/>
              </a:ext>
            </a:extLst>
          </p:cNvPr>
          <p:cNvCxnSpPr/>
          <p:nvPr/>
        </p:nvCxnSpPr>
        <p:spPr>
          <a:xfrm>
            <a:off x="1147259" y="2100073"/>
            <a:ext cx="499310" cy="0"/>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1039" name="Straight Connector 1038">
            <a:extLst>
              <a:ext uri="{FF2B5EF4-FFF2-40B4-BE49-F238E27FC236}">
                <a16:creationId xmlns:a16="http://schemas.microsoft.com/office/drawing/2014/main" id="{7C8BAB4D-3161-E367-60BC-EFC8AAEE2B1E}"/>
              </a:ext>
            </a:extLst>
          </p:cNvPr>
          <p:cNvCxnSpPr>
            <a:cxnSpLocks/>
          </p:cNvCxnSpPr>
          <p:nvPr/>
        </p:nvCxnSpPr>
        <p:spPr>
          <a:xfrm>
            <a:off x="3856592" y="3183452"/>
            <a:ext cx="0" cy="294181"/>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1057" name="TextBox 1056">
            <a:extLst>
              <a:ext uri="{FF2B5EF4-FFF2-40B4-BE49-F238E27FC236}">
                <a16:creationId xmlns:a16="http://schemas.microsoft.com/office/drawing/2014/main" id="{110011C1-59F1-EB2F-39FD-F6E8BA8E2237}"/>
              </a:ext>
            </a:extLst>
          </p:cNvPr>
          <p:cNvSpPr txBox="1"/>
          <p:nvPr/>
        </p:nvSpPr>
        <p:spPr>
          <a:xfrm>
            <a:off x="4098190" y="2789375"/>
            <a:ext cx="1365459" cy="369332"/>
          </a:xfrm>
          <a:prstGeom prst="rect">
            <a:avLst/>
          </a:prstGeom>
          <a:noFill/>
        </p:spPr>
        <p:txBody>
          <a:bodyPr wrap="square" rtlCol="0">
            <a:spAutoFit/>
          </a:bodyPr>
          <a:lstStyle/>
          <a:p>
            <a:r>
              <a:rPr lang="en-US"/>
              <a:t>Matched</a:t>
            </a:r>
            <a:endParaRPr lang="vi-VN"/>
          </a:p>
        </p:txBody>
      </p:sp>
      <p:pic>
        <p:nvPicPr>
          <p:cNvPr id="32" name="Picture 2" descr="AI generated image">
            <a:extLst>
              <a:ext uri="{FF2B5EF4-FFF2-40B4-BE49-F238E27FC236}">
                <a16:creationId xmlns:a16="http://schemas.microsoft.com/office/drawing/2014/main" id="{45EAF1E6-CBDC-3942-3CA1-6BA25CB7FBA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1934" r="36342" b="8681"/>
          <a:stretch/>
        </p:blipFill>
        <p:spPr bwMode="auto">
          <a:xfrm>
            <a:off x="5215373" y="2155105"/>
            <a:ext cx="3385420" cy="2302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753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3BE60-305C-0A55-C689-980B6AFFD739}"/>
              </a:ext>
            </a:extLst>
          </p:cNvPr>
          <p:cNvSpPr>
            <a:spLocks noGrp="1"/>
          </p:cNvSpPr>
          <p:nvPr>
            <p:ph type="title"/>
          </p:nvPr>
        </p:nvSpPr>
        <p:spPr/>
        <p:txBody>
          <a:bodyPr/>
          <a:lstStyle/>
          <a:p>
            <a:r>
              <a:rPr lang="en-VN"/>
              <a:t>1.4. Quantum error correction</a:t>
            </a:r>
          </a:p>
        </p:txBody>
      </p:sp>
      <p:sp>
        <p:nvSpPr>
          <p:cNvPr id="4" name="Slide Number Placeholder 3">
            <a:extLst>
              <a:ext uri="{FF2B5EF4-FFF2-40B4-BE49-F238E27FC236}">
                <a16:creationId xmlns:a16="http://schemas.microsoft.com/office/drawing/2014/main" id="{9C7466A8-C21C-4E6A-0D9A-AD27B5C1A897}"/>
              </a:ext>
            </a:extLst>
          </p:cNvPr>
          <p:cNvSpPr>
            <a:spLocks noGrp="1"/>
          </p:cNvSpPr>
          <p:nvPr>
            <p:ph type="sldNum" sz="quarter" idx="12"/>
          </p:nvPr>
        </p:nvSpPr>
        <p:spPr/>
        <p:txBody>
          <a:bodyPr/>
          <a:lstStyle/>
          <a:p>
            <a:fld id="{6A45828D-F580-42DE-B77E-860980F07F32}" type="slidenum">
              <a:rPr lang="vi-VN" smtClean="0"/>
              <a:pPr/>
              <a:t>16</a:t>
            </a:fld>
            <a:r>
              <a:rPr lang="en-US"/>
              <a:t>/80</a:t>
            </a:r>
            <a:endParaRPr lang="vi-VN"/>
          </a:p>
        </p:txBody>
      </p:sp>
      <mc:AlternateContent xmlns:mc="http://schemas.openxmlformats.org/markup-compatibility/2006" xmlns:a14="http://schemas.microsoft.com/office/drawing/2010/main">
        <mc:Choice Requires="a14">
          <p:sp>
            <p:nvSpPr>
              <p:cNvPr id="36" name="Content Placeholder 35">
                <a:extLst>
                  <a:ext uri="{FF2B5EF4-FFF2-40B4-BE49-F238E27FC236}">
                    <a16:creationId xmlns:a16="http://schemas.microsoft.com/office/drawing/2014/main" id="{7B070A37-2FA8-814B-DB8C-E0A02458DDDE}"/>
                  </a:ext>
                </a:extLst>
              </p:cNvPr>
              <p:cNvSpPr>
                <a:spLocks noGrp="1"/>
              </p:cNvSpPr>
              <p:nvPr>
                <p:ph idx="1"/>
              </p:nvPr>
            </p:nvSpPr>
            <p:spPr>
              <a:xfrm>
                <a:off x="628650" y="1094467"/>
                <a:ext cx="7886700" cy="3263504"/>
              </a:xfrm>
            </p:spPr>
            <p:txBody>
              <a:bodyPr/>
              <a:lstStyle/>
              <a:p>
                <a:pPr marL="0" indent="0">
                  <a:buNone/>
                </a:pPr>
                <a:r>
                  <a:rPr lang="en-US"/>
                  <a:t>Complexity: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3</m:t>
                            </m:r>
                          </m:sup>
                        </m:sSup>
                        <m:r>
                          <a:rPr lang="en-US" b="0" i="1" smtClean="0">
                            <a:latin typeface="Cambria Math" panose="02040503050406030204" pitchFamily="18" charset="0"/>
                          </a:rPr>
                          <m:t>𝑙𝑜𝑔𝑁</m:t>
                        </m:r>
                        <m:r>
                          <a:rPr lang="en-US" b="0" i="1" smtClean="0">
                            <a:latin typeface="Cambria Math" panose="02040503050406030204" pitchFamily="18" charset="0"/>
                          </a:rPr>
                          <m:t> </m:t>
                        </m:r>
                      </m:e>
                    </m:d>
                  </m:oMath>
                </a14:m>
                <a:r>
                  <a:rPr lang="en-US"/>
                  <a:t> with </a:t>
                </a:r>
                <a14:m>
                  <m:oMath xmlns:m="http://schemas.openxmlformats.org/officeDocument/2006/math">
                    <m:r>
                      <a:rPr lang="en-US" b="0" i="1" smtClean="0">
                        <a:latin typeface="Cambria Math" panose="02040503050406030204" pitchFamily="18" charset="0"/>
                      </a:rPr>
                      <m:t>𝑁</m:t>
                    </m:r>
                  </m:oMath>
                </a14:m>
                <a:r>
                  <a:rPr lang="en-US"/>
                  <a:t> is the number of syndrome.</a:t>
                </a:r>
              </a:p>
              <a:p>
                <a:pPr marL="0" indent="0">
                  <a:buNone/>
                </a:pPr>
                <a:r>
                  <a:rPr lang="en-US"/>
                  <a:t>How to reduct it?</a:t>
                </a:r>
                <a:endParaRPr lang="vi-VN"/>
              </a:p>
            </p:txBody>
          </p:sp>
        </mc:Choice>
        <mc:Fallback xmlns="">
          <p:sp>
            <p:nvSpPr>
              <p:cNvPr id="36" name="Content Placeholder 35">
                <a:extLst>
                  <a:ext uri="{FF2B5EF4-FFF2-40B4-BE49-F238E27FC236}">
                    <a16:creationId xmlns:a16="http://schemas.microsoft.com/office/drawing/2014/main" id="{7B070A37-2FA8-814B-DB8C-E0A02458DDDE}"/>
                  </a:ext>
                </a:extLst>
              </p:cNvPr>
              <p:cNvSpPr>
                <a:spLocks noGrp="1" noRot="1" noChangeAspect="1" noMove="1" noResize="1" noEditPoints="1" noAdjustHandles="1" noChangeArrowheads="1" noChangeShapeType="1" noTextEdit="1"/>
              </p:cNvSpPr>
              <p:nvPr>
                <p:ph idx="1"/>
              </p:nvPr>
            </p:nvSpPr>
            <p:spPr>
              <a:xfrm>
                <a:off x="628650" y="1094467"/>
                <a:ext cx="7886700" cy="3263504"/>
              </a:xfrm>
              <a:blipFill>
                <a:blip r:embed="rId2"/>
                <a:stretch>
                  <a:fillRect l="-927" t="-1495"/>
                </a:stretch>
              </a:blipFill>
            </p:spPr>
            <p:txBody>
              <a:bodyPr/>
              <a:lstStyle/>
              <a:p>
                <a:r>
                  <a:rPr lang="vi-VN">
                    <a:noFill/>
                  </a:rPr>
                  <a:t> </a:t>
                </a:r>
              </a:p>
            </p:txBody>
          </p:sp>
        </mc:Fallback>
      </mc:AlternateContent>
      <p:sp>
        <p:nvSpPr>
          <p:cNvPr id="41" name="TextBox 40">
            <a:extLst>
              <a:ext uri="{FF2B5EF4-FFF2-40B4-BE49-F238E27FC236}">
                <a16:creationId xmlns:a16="http://schemas.microsoft.com/office/drawing/2014/main" id="{D9E25A42-AE27-0344-6342-49B0B78AE0AE}"/>
              </a:ext>
            </a:extLst>
          </p:cNvPr>
          <p:cNvSpPr txBox="1"/>
          <p:nvPr/>
        </p:nvSpPr>
        <p:spPr>
          <a:xfrm>
            <a:off x="3861858" y="2150204"/>
            <a:ext cx="4762500" cy="923330"/>
          </a:xfrm>
          <a:prstGeom prst="rect">
            <a:avLst/>
          </a:prstGeom>
          <a:noFill/>
        </p:spPr>
        <p:txBody>
          <a:bodyPr wrap="square" rtlCol="0">
            <a:spAutoFit/>
          </a:bodyPr>
          <a:lstStyle/>
          <a:p>
            <a:r>
              <a:rPr lang="en-US"/>
              <a:t>CNN: look graph, then guess the ver/horiz line</a:t>
            </a:r>
          </a:p>
          <a:p>
            <a:r>
              <a:rPr lang="en-US"/>
              <a:t>Graph NN: perfect candidate?</a:t>
            </a:r>
          </a:p>
          <a:p>
            <a:r>
              <a:rPr lang="en-US"/>
              <a:t>Transformer: ???</a:t>
            </a:r>
            <a:endParaRPr lang="vi-VN"/>
          </a:p>
        </p:txBody>
      </p:sp>
      <p:pic>
        <p:nvPicPr>
          <p:cNvPr id="43" name="Picture 42">
            <a:extLst>
              <a:ext uri="{FF2B5EF4-FFF2-40B4-BE49-F238E27FC236}">
                <a16:creationId xmlns:a16="http://schemas.microsoft.com/office/drawing/2014/main" id="{6222B13C-1A16-20FD-634A-609C7589385F}"/>
              </a:ext>
            </a:extLst>
          </p:cNvPr>
          <p:cNvPicPr>
            <a:picLocks noChangeAspect="1"/>
          </p:cNvPicPr>
          <p:nvPr/>
        </p:nvPicPr>
        <p:blipFill>
          <a:blip r:embed="rId3"/>
          <a:srcRect l="3149" t="4344" r="59769" b="6340"/>
          <a:stretch/>
        </p:blipFill>
        <p:spPr>
          <a:xfrm>
            <a:off x="3994149" y="3106817"/>
            <a:ext cx="1472474" cy="1562551"/>
          </a:xfrm>
          <a:prstGeom prst="rect">
            <a:avLst/>
          </a:prstGeom>
        </p:spPr>
      </p:pic>
      <p:pic>
        <p:nvPicPr>
          <p:cNvPr id="44" name="Picture 43">
            <a:extLst>
              <a:ext uri="{FF2B5EF4-FFF2-40B4-BE49-F238E27FC236}">
                <a16:creationId xmlns:a16="http://schemas.microsoft.com/office/drawing/2014/main" id="{6EFA4203-D213-C0E9-96D7-D785F942D1A2}"/>
              </a:ext>
            </a:extLst>
          </p:cNvPr>
          <p:cNvPicPr>
            <a:picLocks noChangeAspect="1"/>
          </p:cNvPicPr>
          <p:nvPr/>
        </p:nvPicPr>
        <p:blipFill>
          <a:blip r:embed="rId3"/>
          <a:srcRect l="58248" t="14289" r="2508" b="4792"/>
          <a:stretch/>
        </p:blipFill>
        <p:spPr>
          <a:xfrm>
            <a:off x="767289" y="2221834"/>
            <a:ext cx="2694149" cy="2447534"/>
          </a:xfrm>
          <a:prstGeom prst="rect">
            <a:avLst/>
          </a:prstGeom>
        </p:spPr>
      </p:pic>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CF04A0E-643E-999F-5815-BFB47C9C5BF6}"/>
                  </a:ext>
                </a:extLst>
              </p:cNvPr>
              <p:cNvSpPr txBox="1"/>
              <p:nvPr/>
            </p:nvSpPr>
            <p:spPr>
              <a:xfrm>
                <a:off x="3288208" y="3341905"/>
                <a:ext cx="96096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vi-VN" sz="3600"/>
              </a:p>
            </p:txBody>
          </p:sp>
        </mc:Choice>
        <mc:Fallback xmlns="">
          <p:sp>
            <p:nvSpPr>
              <p:cNvPr id="45" name="TextBox 44">
                <a:extLst>
                  <a:ext uri="{FF2B5EF4-FFF2-40B4-BE49-F238E27FC236}">
                    <a16:creationId xmlns:a16="http://schemas.microsoft.com/office/drawing/2014/main" id="{ECF04A0E-643E-999F-5815-BFB47C9C5BF6}"/>
                  </a:ext>
                </a:extLst>
              </p:cNvPr>
              <p:cNvSpPr txBox="1">
                <a:spLocks noRot="1" noChangeAspect="1" noMove="1" noResize="1" noEditPoints="1" noAdjustHandles="1" noChangeArrowheads="1" noChangeShapeType="1" noTextEdit="1"/>
              </p:cNvSpPr>
              <p:nvPr/>
            </p:nvSpPr>
            <p:spPr>
              <a:xfrm>
                <a:off x="3288208" y="3341905"/>
                <a:ext cx="960967" cy="646331"/>
              </a:xfrm>
              <a:prstGeom prst="rect">
                <a:avLst/>
              </a:prstGeom>
              <a:blipFill>
                <a:blip r:embed="rId4"/>
                <a:stretch>
                  <a:fillRect/>
                </a:stretch>
              </a:blipFill>
            </p:spPr>
            <p:txBody>
              <a:bodyPr/>
              <a:lstStyle/>
              <a:p>
                <a:r>
                  <a:rPr lang="vi-VN">
                    <a:noFill/>
                  </a:rPr>
                  <a:t> </a:t>
                </a:r>
              </a:p>
            </p:txBody>
          </p:sp>
        </mc:Fallback>
      </mc:AlternateContent>
      <p:sp>
        <p:nvSpPr>
          <p:cNvPr id="47" name="TextBox 46">
            <a:extLst>
              <a:ext uri="{FF2B5EF4-FFF2-40B4-BE49-F238E27FC236}">
                <a16:creationId xmlns:a16="http://schemas.microsoft.com/office/drawing/2014/main" id="{FB2B08F8-3F4E-1385-3821-C50D3D272004}"/>
              </a:ext>
            </a:extLst>
          </p:cNvPr>
          <p:cNvSpPr txBox="1"/>
          <p:nvPr/>
        </p:nvSpPr>
        <p:spPr>
          <a:xfrm>
            <a:off x="628649" y="4727706"/>
            <a:ext cx="7266517" cy="400110"/>
          </a:xfrm>
          <a:prstGeom prst="rect">
            <a:avLst/>
          </a:prstGeom>
          <a:noFill/>
        </p:spPr>
        <p:txBody>
          <a:bodyPr wrap="square">
            <a:spAutoFit/>
          </a:bodyPr>
          <a:lstStyle/>
          <a:p>
            <a:r>
              <a:rPr lang="en-US" sz="100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[1.4.1]</a:t>
            </a:r>
            <a:r>
              <a:rPr lang="en-US"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Higgott, O. (2022). Pymatching: A python package for decoding quantum codes with minimum-weight perfect matching.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ACM Transactions on Quantum Computing</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3</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(3), 1-16.</a:t>
            </a:r>
            <a:endParaRPr lang="vi-VN" sz="10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6360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377BF-9B3F-55D0-EB91-0ABA290C6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E3C32-C163-3F62-6B47-F51E7B985715}"/>
              </a:ext>
            </a:extLst>
          </p:cNvPr>
          <p:cNvSpPr>
            <a:spLocks noGrp="1"/>
          </p:cNvSpPr>
          <p:nvPr>
            <p:ph type="title"/>
          </p:nvPr>
        </p:nvSpPr>
        <p:spPr>
          <a:xfrm>
            <a:off x="628650" y="-5552"/>
            <a:ext cx="7452669" cy="699819"/>
          </a:xfrm>
        </p:spPr>
        <p:txBody>
          <a:bodyPr>
            <a:normAutofit/>
          </a:bodyPr>
          <a:lstStyle/>
          <a:p>
            <a:r>
              <a:rPr lang="en-US"/>
              <a:t>1.5. Tomography</a:t>
            </a:r>
            <a:endParaRPr lang="vi-VN" sz="2000"/>
          </a:p>
        </p:txBody>
      </p:sp>
      <p:sp>
        <p:nvSpPr>
          <p:cNvPr id="4" name="Slide Number Placeholder 3">
            <a:extLst>
              <a:ext uri="{FF2B5EF4-FFF2-40B4-BE49-F238E27FC236}">
                <a16:creationId xmlns:a16="http://schemas.microsoft.com/office/drawing/2014/main" id="{6B2699C5-042C-61DF-80E7-5BEAEB809355}"/>
              </a:ext>
            </a:extLst>
          </p:cNvPr>
          <p:cNvSpPr>
            <a:spLocks noGrp="1"/>
          </p:cNvSpPr>
          <p:nvPr>
            <p:ph type="sldNum" sz="quarter" idx="12"/>
          </p:nvPr>
        </p:nvSpPr>
        <p:spPr/>
        <p:txBody>
          <a:bodyPr/>
          <a:lstStyle/>
          <a:p>
            <a:fld id="{6A45828D-F580-42DE-B77E-860980F07F32}" type="slidenum">
              <a:rPr lang="vi-VN" smtClean="0"/>
              <a:t>17</a:t>
            </a:fld>
            <a:endParaRPr lang="vi-V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671BD5A-B387-285E-CF43-5A0181F56B7B}"/>
                  </a:ext>
                </a:extLst>
              </p:cNvPr>
              <p:cNvSpPr txBox="1"/>
              <p:nvPr/>
            </p:nvSpPr>
            <p:spPr>
              <a:xfrm>
                <a:off x="628650" y="518721"/>
                <a:ext cx="8134350" cy="1007392"/>
              </a:xfrm>
              <a:prstGeom prst="rect">
                <a:avLst/>
              </a:prstGeom>
              <a:noFill/>
            </p:spPr>
            <p:txBody>
              <a:bodyPr wrap="square" rtlCol="0">
                <a:spAutoFit/>
              </a:bodyPr>
              <a:lstStyle/>
              <a:p>
                <a:r>
                  <a:rPr lang="en-US"/>
                  <a:t>We have an unknown quantum channel </a:t>
                </a:r>
                <a14:m>
                  <m:oMath xmlns:m="http://schemas.openxmlformats.org/officeDocument/2006/math">
                    <m:r>
                      <a:rPr lang="en-US" i="1" smtClean="0">
                        <a:latin typeface="Cambria Math" panose="02040503050406030204" pitchFamily="18" charset="0"/>
                        <a:ea typeface="Cambria Math" panose="02040503050406030204" pitchFamily="18" charset="0"/>
                      </a:rPr>
                      <m:t>ℰ</m:t>
                    </m:r>
                  </m:oMath>
                </a14:m>
                <a:r>
                  <a:rPr lang="en-US"/>
                  <a:t> affect 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𝑖𝑛</m:t>
                        </m:r>
                      </m:sub>
                    </m:sSub>
                  </m:oMath>
                </a14:m>
                <a:r>
                  <a:rPr lang="en-US"/>
                  <a:t> st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ℰ</m:t>
                    </m:r>
                    <m:d>
                      <m:dPr>
                        <m:ctrlPr>
                          <a:rPr lang="en-US" b="0"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𝜌</m:t>
                            </m:r>
                          </m:e>
                          <m:sub>
                            <m:r>
                              <a:rPr lang="en-US" b="0" i="1" smtClean="0">
                                <a:latin typeface="Cambria Math" panose="02040503050406030204" pitchFamily="18" charset="0"/>
                              </a:rPr>
                              <m:t>𝑖𝑛</m:t>
                            </m:r>
                          </m:sub>
                        </m:sSub>
                      </m:e>
                    </m:d>
                  </m:oMath>
                </a14:m>
                <a:endParaRPr lang="en-US"/>
              </a:p>
              <a:p>
                <a14:m>
                  <m:oMath xmlns:m="http://schemas.openxmlformats.org/officeDocument/2006/math">
                    <m:r>
                      <a:rPr lang="en-US" i="1">
                        <a:latin typeface="Cambria Math" panose="02040503050406030204" pitchFamily="18" charset="0"/>
                        <a:ea typeface="Cambria Math" panose="02040503050406030204" pitchFamily="18" charset="0"/>
                      </a:rPr>
                      <m:t>ℰ</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𝜌</m:t>
                        </m:r>
                      </m:e>
                    </m:d>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sub>
                      <m:sup/>
                      <m:e>
                        <m:sSub>
                          <m:sSubPr>
                            <m:ctrlPr>
                              <a:rPr lang="en-US" b="0" i="1" smtClean="0">
                                <a:latin typeface="Cambria Math" panose="02040503050406030204" pitchFamily="18" charset="0"/>
                                <a:ea typeface="Cambria Math" panose="02040503050406030204" pitchFamily="18" charset="0"/>
                              </a:rPr>
                            </m:ctrlPr>
                          </m:sSubPr>
                          <m:e>
                            <m:r>
                              <a:rPr lang="en-US">
                                <a:latin typeface="Cambria Math" panose="02040503050406030204" pitchFamily="18" charset="0"/>
                                <a:ea typeface="Cambria Math" panose="02040503050406030204" pitchFamily="18" charset="0"/>
                              </a:rPr>
                              <m:t>𝒳</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𝐾</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𝜌</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𝐾</m:t>
                            </m:r>
                          </m:e>
                          <m:sub>
                            <m:r>
                              <a:rPr lang="en-US" b="0" i="1" smtClean="0">
                                <a:latin typeface="Cambria Math" panose="02040503050406030204" pitchFamily="18" charset="0"/>
                                <a:ea typeface="Cambria Math" panose="02040503050406030204" pitchFamily="18" charset="0"/>
                              </a:rPr>
                              <m:t>𝑗</m:t>
                            </m:r>
                          </m:sub>
                          <m:sup>
                            <m:r>
                              <a:rPr lang="en-US" i="1">
                                <a:latin typeface="Cambria Math" panose="02040503050406030204" pitchFamily="18" charset="0"/>
                                <a:ea typeface="Cambria Math" panose="02040503050406030204" pitchFamily="18" charset="0"/>
                              </a:rPr>
                              <m:t>†</m:t>
                            </m:r>
                          </m:sup>
                        </m:sSubSup>
                      </m:e>
                    </m:nary>
                  </m:oMath>
                </a14:m>
                <a:r>
                  <a:rPr lang="en-US"/>
                  <a:t> where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𝐾</m:t>
                        </m:r>
                      </m:e>
                    </m:d>
                  </m:oMath>
                </a14:m>
                <a:r>
                  <a:rPr lang="en-US"/>
                  <a:t> is the basis operators, </a:t>
                </a:r>
                <a14:m>
                  <m:oMath xmlns:m="http://schemas.openxmlformats.org/officeDocument/2006/math">
                    <m:r>
                      <a:rPr lang="en-US" i="1" smtClean="0">
                        <a:latin typeface="Cambria Math" panose="02040503050406030204" pitchFamily="18" charset="0"/>
                        <a:ea typeface="Cambria Math" panose="02040503050406030204" pitchFamily="18" charset="0"/>
                      </a:rPr>
                      <m:t>𝒳</m:t>
                    </m:r>
                  </m:oMath>
                </a14:m>
                <a:r>
                  <a:rPr lang="en-US"/>
                  <a:t> is the learnable operator </a:t>
                </a:r>
                <a14:m>
                  <m:oMath xmlns:m="http://schemas.openxmlformats.org/officeDocument/2006/math">
                    <m:r>
                      <a:rPr lang="en-US" b="0" i="1" smtClean="0">
                        <a:latin typeface="Cambria Math" panose="02040503050406030204" pitchFamily="18" charset="0"/>
                      </a:rPr>
                      <m:t>⇒</m:t>
                    </m:r>
                  </m:oMath>
                </a14:m>
                <a:r>
                  <a:rPr lang="en-US"/>
                  <a:t> We want to find </a:t>
                </a:r>
                <a14:m>
                  <m:oMath xmlns:m="http://schemas.openxmlformats.org/officeDocument/2006/math">
                    <m:r>
                      <a:rPr lang="en-US" i="1">
                        <a:latin typeface="Cambria Math" panose="02040503050406030204" pitchFamily="18" charset="0"/>
                        <a:ea typeface="Cambria Math" panose="02040503050406030204" pitchFamily="18" charset="0"/>
                      </a:rPr>
                      <m:t>𝒳</m:t>
                    </m:r>
                  </m:oMath>
                </a14:m>
                <a:r>
                  <a:rPr lang="en-US"/>
                  <a:t> through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a:t> measurements. Instead of that,</a:t>
                </a:r>
              </a:p>
            </p:txBody>
          </p:sp>
        </mc:Choice>
        <mc:Fallback xmlns="">
          <p:sp>
            <p:nvSpPr>
              <p:cNvPr id="10" name="TextBox 9">
                <a:extLst>
                  <a:ext uri="{FF2B5EF4-FFF2-40B4-BE49-F238E27FC236}">
                    <a16:creationId xmlns:a16="http://schemas.microsoft.com/office/drawing/2014/main" id="{E671BD5A-B387-285E-CF43-5A0181F56B7B}"/>
                  </a:ext>
                </a:extLst>
              </p:cNvPr>
              <p:cNvSpPr txBox="1">
                <a:spLocks noRot="1" noChangeAspect="1" noMove="1" noResize="1" noEditPoints="1" noAdjustHandles="1" noChangeArrowheads="1" noChangeShapeType="1" noTextEdit="1"/>
              </p:cNvSpPr>
              <p:nvPr/>
            </p:nvSpPr>
            <p:spPr>
              <a:xfrm>
                <a:off x="628650" y="518721"/>
                <a:ext cx="8134350" cy="1007392"/>
              </a:xfrm>
              <a:prstGeom prst="rect">
                <a:avLst/>
              </a:prstGeom>
              <a:blipFill>
                <a:blip r:embed="rId3"/>
                <a:stretch>
                  <a:fillRect l="-599" t="-12727" b="-36364"/>
                </a:stretch>
              </a:blipFill>
            </p:spPr>
            <p:txBody>
              <a:bodyPr/>
              <a:lstStyle/>
              <a:p>
                <a:r>
                  <a:rPr lang="vi-VN">
                    <a:noFill/>
                  </a:rPr>
                  <a:t> </a:t>
                </a:r>
              </a:p>
            </p:txBody>
          </p:sp>
        </mc:Fallback>
      </mc:AlternateContent>
      <p:pic>
        <p:nvPicPr>
          <p:cNvPr id="21" name="Picture 20">
            <a:extLst>
              <a:ext uri="{FF2B5EF4-FFF2-40B4-BE49-F238E27FC236}">
                <a16:creationId xmlns:a16="http://schemas.microsoft.com/office/drawing/2014/main" id="{4E2F95DD-5A90-F032-90C5-B709D0D8239B}"/>
              </a:ext>
            </a:extLst>
          </p:cNvPr>
          <p:cNvPicPr>
            <a:picLocks noChangeAspect="1"/>
          </p:cNvPicPr>
          <p:nvPr/>
        </p:nvPicPr>
        <p:blipFill>
          <a:blip r:embed="rId4"/>
          <a:srcRect t="2659" r="2275"/>
          <a:stretch/>
        </p:blipFill>
        <p:spPr>
          <a:xfrm>
            <a:off x="251883" y="1522668"/>
            <a:ext cx="2546351" cy="2634350"/>
          </a:xfrm>
          <a:prstGeom prst="rect">
            <a:avLst/>
          </a:prstGeom>
        </p:spPr>
      </p:pic>
      <p:sp>
        <p:nvSpPr>
          <p:cNvPr id="22" name="TextBox 21">
            <a:extLst>
              <a:ext uri="{FF2B5EF4-FFF2-40B4-BE49-F238E27FC236}">
                <a16:creationId xmlns:a16="http://schemas.microsoft.com/office/drawing/2014/main" id="{D8D57922-DC4E-5E53-4F86-DACB5ED1BE0D}"/>
              </a:ext>
            </a:extLst>
          </p:cNvPr>
          <p:cNvSpPr txBox="1"/>
          <p:nvPr/>
        </p:nvSpPr>
        <p:spPr>
          <a:xfrm>
            <a:off x="628650" y="4111631"/>
            <a:ext cx="2169584" cy="523220"/>
          </a:xfrm>
          <a:prstGeom prst="rect">
            <a:avLst/>
          </a:prstGeom>
          <a:noFill/>
        </p:spPr>
        <p:txBody>
          <a:bodyPr wrap="square" rtlCol="0">
            <a:spAutoFit/>
          </a:bodyPr>
          <a:lstStyle/>
          <a:p>
            <a:r>
              <a:rPr lang="en-US" sz="1400" b="1"/>
              <a:t>(1) </a:t>
            </a:r>
            <a:r>
              <a:rPr lang="en-US" sz="1400"/>
              <a:t>We achieve it by an optimization process.</a:t>
            </a:r>
          </a:p>
        </p:txBody>
      </p:sp>
      <p:sp>
        <p:nvSpPr>
          <p:cNvPr id="24" name="TextBox 23">
            <a:extLst>
              <a:ext uri="{FF2B5EF4-FFF2-40B4-BE49-F238E27FC236}">
                <a16:creationId xmlns:a16="http://schemas.microsoft.com/office/drawing/2014/main" id="{CC0DBAA6-1CF0-0D9A-C734-A2F5022C19DF}"/>
              </a:ext>
            </a:extLst>
          </p:cNvPr>
          <p:cNvSpPr txBox="1"/>
          <p:nvPr/>
        </p:nvSpPr>
        <p:spPr>
          <a:xfrm>
            <a:off x="156633" y="4580449"/>
            <a:ext cx="9105900" cy="553998"/>
          </a:xfrm>
          <a:prstGeom prst="rect">
            <a:avLst/>
          </a:prstGeom>
          <a:noFill/>
        </p:spPr>
        <p:txBody>
          <a:bodyPr wrap="square">
            <a:spAutoFit/>
          </a:bodyPr>
          <a:lstStyle/>
          <a:p>
            <a:r>
              <a:rPr lang="en-US" sz="100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[1.5.1]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Linh, H. L. D., Hai, V. T., &amp; Ho, L. B. (2026). Advancing Quantum Process Tomography Through Quantum Compilation.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Advanced Quantum Technologies</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9</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(2), e00494.</a:t>
            </a:r>
            <a:endParaRPr lang="en-US"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endParaRPr>
          </a:p>
          <a:p>
            <a:r>
              <a:rPr lang="en-US" sz="1000" b="1">
                <a:solidFill>
                  <a:srgbClr val="222222"/>
                </a:solidFill>
                <a:latin typeface="Calibri" panose="020F0502020204030204" pitchFamily="34" charset="0"/>
                <a:ea typeface="Calibri" panose="020F0502020204030204" pitchFamily="34" charset="0"/>
                <a:cs typeface="Calibri" panose="020F0502020204030204" pitchFamily="34" charset="0"/>
              </a:rPr>
              <a:t>[1.5.2] </a:t>
            </a:r>
            <a:r>
              <a:rPr lang="en-US" sz="1000">
                <a:solidFill>
                  <a:srgbClr val="222222"/>
                </a:solidFill>
                <a:latin typeface="Calibri" panose="020F0502020204030204" pitchFamily="34" charset="0"/>
                <a:ea typeface="Calibri" panose="020F0502020204030204" pitchFamily="34" charset="0"/>
                <a:cs typeface="Calibri" panose="020F0502020204030204" pitchFamily="34" charset="0"/>
              </a:rPr>
              <a:t>Gaikwad, A., Bihani, O., Arvind, &amp; Dorai, K. (2024). Neural-network-assisted quantum state and process tomography using limited data sets. </a:t>
            </a:r>
          </a:p>
          <a:p>
            <a:r>
              <a:rPr lang="en-US" sz="1000">
                <a:solidFill>
                  <a:srgbClr val="222222"/>
                </a:solidFill>
                <a:latin typeface="Calibri" panose="020F0502020204030204" pitchFamily="34" charset="0"/>
                <a:ea typeface="Calibri" panose="020F0502020204030204" pitchFamily="34" charset="0"/>
                <a:cs typeface="Calibri" panose="020F0502020204030204" pitchFamily="34" charset="0"/>
              </a:rPr>
              <a:t>Physical Review A, 109(1), 012402.</a:t>
            </a:r>
            <a:endParaRPr lang="vi-VN" sz="1000">
              <a:latin typeface="Calibri" panose="020F0502020204030204" pitchFamily="34" charset="0"/>
              <a:ea typeface="Calibri" panose="020F0502020204030204" pitchFamily="34" charset="0"/>
              <a:cs typeface="Calibri" panose="020F0502020204030204" pitchFamily="34" charset="0"/>
            </a:endParaRPr>
          </a:p>
        </p:txBody>
      </p:sp>
      <p:pic>
        <p:nvPicPr>
          <p:cNvPr id="29" name="Picture 28">
            <a:extLst>
              <a:ext uri="{FF2B5EF4-FFF2-40B4-BE49-F238E27FC236}">
                <a16:creationId xmlns:a16="http://schemas.microsoft.com/office/drawing/2014/main" id="{904B7FB3-3274-2146-04A7-B7B581936F14}"/>
              </a:ext>
            </a:extLst>
          </p:cNvPr>
          <p:cNvPicPr>
            <a:picLocks noChangeAspect="1"/>
          </p:cNvPicPr>
          <p:nvPr/>
        </p:nvPicPr>
        <p:blipFill>
          <a:blip r:embed="rId5"/>
          <a:stretch>
            <a:fillRect/>
          </a:stretch>
        </p:blipFill>
        <p:spPr>
          <a:xfrm>
            <a:off x="2863697" y="1590382"/>
            <a:ext cx="5287586" cy="1391997"/>
          </a:xfrm>
          <a:prstGeom prst="rect">
            <a:avLst/>
          </a:prstGeom>
        </p:spPr>
      </p:pic>
      <p:pic>
        <p:nvPicPr>
          <p:cNvPr id="41" name="Picture 40">
            <a:extLst>
              <a:ext uri="{FF2B5EF4-FFF2-40B4-BE49-F238E27FC236}">
                <a16:creationId xmlns:a16="http://schemas.microsoft.com/office/drawing/2014/main" id="{5BA0B503-DA33-5709-04ED-3C8899D6F0CD}"/>
              </a:ext>
            </a:extLst>
          </p:cNvPr>
          <p:cNvPicPr>
            <a:picLocks noChangeAspect="1"/>
          </p:cNvPicPr>
          <p:nvPr/>
        </p:nvPicPr>
        <p:blipFill>
          <a:blip r:embed="rId6"/>
          <a:srcRect b="48984"/>
          <a:stretch/>
        </p:blipFill>
        <p:spPr>
          <a:xfrm>
            <a:off x="2863697" y="2951262"/>
            <a:ext cx="4880668" cy="1544538"/>
          </a:xfrm>
          <a:prstGeom prst="rect">
            <a:avLst/>
          </a:prstGeom>
        </p:spPr>
      </p:pic>
      <p:sp>
        <p:nvSpPr>
          <p:cNvPr id="42" name="Rectangle 41">
            <a:extLst>
              <a:ext uri="{FF2B5EF4-FFF2-40B4-BE49-F238E27FC236}">
                <a16:creationId xmlns:a16="http://schemas.microsoft.com/office/drawing/2014/main" id="{A487BA7F-1AA8-0AA1-EDB9-C8D038060B3E}"/>
              </a:ext>
            </a:extLst>
          </p:cNvPr>
          <p:cNvSpPr/>
          <p:nvPr/>
        </p:nvSpPr>
        <p:spPr>
          <a:xfrm>
            <a:off x="2863697" y="1539600"/>
            <a:ext cx="5287586" cy="29900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TextBox 43">
            <a:extLst>
              <a:ext uri="{FF2B5EF4-FFF2-40B4-BE49-F238E27FC236}">
                <a16:creationId xmlns:a16="http://schemas.microsoft.com/office/drawing/2014/main" id="{FB11C9CA-A413-85E5-327B-3B67827A3322}"/>
              </a:ext>
            </a:extLst>
          </p:cNvPr>
          <p:cNvSpPr txBox="1"/>
          <p:nvPr/>
        </p:nvSpPr>
        <p:spPr>
          <a:xfrm>
            <a:off x="8151283" y="3660209"/>
            <a:ext cx="681567" cy="954107"/>
          </a:xfrm>
          <a:prstGeom prst="rect">
            <a:avLst/>
          </a:prstGeom>
          <a:noFill/>
        </p:spPr>
        <p:txBody>
          <a:bodyPr wrap="square" rtlCol="0">
            <a:spAutoFit/>
          </a:bodyPr>
          <a:lstStyle/>
          <a:p>
            <a:r>
              <a:rPr lang="en-US" sz="1400" b="1"/>
              <a:t>(2) </a:t>
            </a:r>
            <a:r>
              <a:rPr lang="en-US" sz="1400"/>
              <a:t>By an neural net</a:t>
            </a:r>
          </a:p>
        </p:txBody>
      </p:sp>
    </p:spTree>
    <p:extLst>
      <p:ext uri="{BB962C8B-B14F-4D97-AF65-F5344CB8AC3E}">
        <p14:creationId xmlns:p14="http://schemas.microsoft.com/office/powerpoint/2010/main" val="3122524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3752441-DAFF-0520-76CF-AE4DC860F03D}"/>
              </a:ext>
            </a:extLst>
          </p:cNvPr>
          <p:cNvPicPr>
            <a:picLocks noChangeAspect="1"/>
          </p:cNvPicPr>
          <p:nvPr/>
        </p:nvPicPr>
        <p:blipFill>
          <a:blip r:embed="rId2"/>
          <a:stretch>
            <a:fillRect/>
          </a:stretch>
        </p:blipFill>
        <p:spPr>
          <a:xfrm>
            <a:off x="5319253" y="616599"/>
            <a:ext cx="3658821" cy="4307660"/>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F0854B9-B090-CFF6-9AF2-C9D5FA39B744}"/>
                  </a:ext>
                </a:extLst>
              </p:cNvPr>
              <p:cNvSpPr>
                <a:spLocks noGrp="1"/>
              </p:cNvSpPr>
              <p:nvPr>
                <p:ph type="title"/>
              </p:nvPr>
            </p:nvSpPr>
            <p:spPr>
              <a:xfrm>
                <a:off x="628650" y="24078"/>
                <a:ext cx="6466417" cy="994172"/>
              </a:xfrm>
            </p:spPr>
            <p:txBody>
              <a:bodyPr/>
              <a:lstStyle/>
              <a:p>
                <a:r>
                  <a:rPr lang="en-US"/>
                  <a:t>1.6. Additional informations</a:t>
                </a:r>
                <a:br>
                  <a:rPr lang="en-US"/>
                </a:br>
                <a:r>
                  <a:rPr lang="en-US" sz="1800"/>
                  <a:t>Barren platueas (BP) </a:t>
                </a:r>
                <a14:m>
                  <m:oMath xmlns:m="http://schemas.openxmlformats.org/officeDocument/2006/math">
                    <m:r>
                      <a:rPr lang="en-US" sz="1800" b="0" i="1" smtClean="0">
                        <a:latin typeface="Cambria Math" panose="02040503050406030204" pitchFamily="18" charset="0"/>
                      </a:rPr>
                      <m:t>→</m:t>
                    </m:r>
                  </m:oMath>
                </a14:m>
                <a:r>
                  <a:rPr lang="en-US" sz="1800"/>
                  <a:t> A method for mitigate BP</a:t>
                </a:r>
                <a:endParaRPr lang="vi-VN"/>
              </a:p>
            </p:txBody>
          </p:sp>
        </mc:Choice>
        <mc:Fallback xmlns="">
          <p:sp>
            <p:nvSpPr>
              <p:cNvPr id="2" name="Title 1">
                <a:extLst>
                  <a:ext uri="{FF2B5EF4-FFF2-40B4-BE49-F238E27FC236}">
                    <a16:creationId xmlns:a16="http://schemas.microsoft.com/office/drawing/2014/main" id="{6F0854B9-B090-CFF6-9AF2-C9D5FA39B744}"/>
                  </a:ext>
                </a:extLst>
              </p:cNvPr>
              <p:cNvSpPr>
                <a:spLocks noGrp="1" noRot="1" noChangeAspect="1" noMove="1" noResize="1" noEditPoints="1" noAdjustHandles="1" noChangeArrowheads="1" noChangeShapeType="1" noTextEdit="1"/>
              </p:cNvSpPr>
              <p:nvPr>
                <p:ph type="title"/>
              </p:nvPr>
            </p:nvSpPr>
            <p:spPr>
              <a:xfrm>
                <a:off x="628650" y="24078"/>
                <a:ext cx="6466417" cy="994172"/>
              </a:xfrm>
              <a:blipFill>
                <a:blip r:embed="rId3"/>
                <a:stretch>
                  <a:fillRect l="-2545" t="-3067"/>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B660B949-7298-DDF0-540B-36C2237DAA8F}"/>
              </a:ext>
            </a:extLst>
          </p:cNvPr>
          <p:cNvSpPr>
            <a:spLocks noGrp="1"/>
          </p:cNvSpPr>
          <p:nvPr>
            <p:ph type="sldNum" sz="quarter" idx="12"/>
          </p:nvPr>
        </p:nvSpPr>
        <p:spPr>
          <a:xfrm>
            <a:off x="8110728" y="4739787"/>
            <a:ext cx="400050" cy="273844"/>
          </a:xfrm>
        </p:spPr>
        <p:txBody>
          <a:bodyPr/>
          <a:lstStyle/>
          <a:p>
            <a:fld id="{6A45828D-F580-42DE-B77E-860980F07F32}" type="slidenum">
              <a:rPr lang="vi-VN" smtClean="0"/>
              <a:t>18</a:t>
            </a:fld>
            <a:endParaRPr lang="vi-VN"/>
          </a:p>
        </p:txBody>
      </p:sp>
      <p:cxnSp>
        <p:nvCxnSpPr>
          <p:cNvPr id="9" name="Straight Connector 8">
            <a:extLst>
              <a:ext uri="{FF2B5EF4-FFF2-40B4-BE49-F238E27FC236}">
                <a16:creationId xmlns:a16="http://schemas.microsoft.com/office/drawing/2014/main" id="{A4670AB6-AB20-4DDE-9798-64ACC0096DDC}"/>
              </a:ext>
            </a:extLst>
          </p:cNvPr>
          <p:cNvCxnSpPr>
            <a:cxnSpLocks/>
          </p:cNvCxnSpPr>
          <p:nvPr/>
        </p:nvCxnSpPr>
        <p:spPr>
          <a:xfrm>
            <a:off x="1398715" y="1135089"/>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20FFDAEF-D38B-8DDE-24CF-53996723D0AD}"/>
              </a:ext>
            </a:extLst>
          </p:cNvPr>
          <p:cNvCxnSpPr>
            <a:cxnSpLocks/>
          </p:cNvCxnSpPr>
          <p:nvPr/>
        </p:nvCxnSpPr>
        <p:spPr>
          <a:xfrm>
            <a:off x="1398715" y="1422817"/>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688D64F7-F547-05B5-2DF0-9DEFF4FE44F1}"/>
              </a:ext>
            </a:extLst>
          </p:cNvPr>
          <p:cNvCxnSpPr>
            <a:cxnSpLocks/>
          </p:cNvCxnSpPr>
          <p:nvPr/>
        </p:nvCxnSpPr>
        <p:spPr>
          <a:xfrm>
            <a:off x="1398715" y="1710545"/>
            <a:ext cx="3108960" cy="0"/>
          </a:xfrm>
          <a:prstGeom prst="line">
            <a:avLst/>
          </a:prstGeom>
          <a:ln w="28575"/>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E6B5765E-0D64-BB04-4C81-E54A1646CDAC}"/>
              </a:ext>
            </a:extLst>
          </p:cNvPr>
          <p:cNvSpPr/>
          <p:nvPr/>
        </p:nvSpPr>
        <p:spPr>
          <a:xfrm>
            <a:off x="1653210" y="1610902"/>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97AAF13-E848-E132-0ABD-EDEFFC103BD4}"/>
                  </a:ext>
                </a:extLst>
              </p:cNvPr>
              <p:cNvSpPr txBox="1"/>
              <p:nvPr/>
            </p:nvSpPr>
            <p:spPr>
              <a:xfrm>
                <a:off x="1697938" y="1610902"/>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2</m:t>
                              </m:r>
                            </m:sub>
                          </m:sSub>
                        </m:e>
                      </m:d>
                    </m:oMath>
                  </m:oMathPara>
                </a14:m>
                <a:endParaRPr lang="vi-VN" sz="1000"/>
              </a:p>
            </p:txBody>
          </p:sp>
        </mc:Choice>
        <mc:Fallback xmlns="">
          <p:sp>
            <p:nvSpPr>
              <p:cNvPr id="15" name="TextBox 14">
                <a:extLst>
                  <a:ext uri="{FF2B5EF4-FFF2-40B4-BE49-F238E27FC236}">
                    <a16:creationId xmlns:a16="http://schemas.microsoft.com/office/drawing/2014/main" id="{297AAF13-E848-E132-0ABD-EDEFFC103BD4}"/>
                  </a:ext>
                </a:extLst>
              </p:cNvPr>
              <p:cNvSpPr txBox="1">
                <a:spLocks noRot="1" noChangeAspect="1" noMove="1" noResize="1" noEditPoints="1" noAdjustHandles="1" noChangeArrowheads="1" noChangeShapeType="1" noTextEdit="1"/>
              </p:cNvSpPr>
              <p:nvPr/>
            </p:nvSpPr>
            <p:spPr>
              <a:xfrm>
                <a:off x="1697938" y="1610902"/>
                <a:ext cx="413831" cy="153888"/>
              </a:xfrm>
              <a:prstGeom prst="rect">
                <a:avLst/>
              </a:prstGeom>
              <a:blipFill>
                <a:blip r:embed="rId4"/>
                <a:stretch>
                  <a:fillRect l="-7463" b="-20000"/>
                </a:stretch>
              </a:blipFill>
            </p:spPr>
            <p:txBody>
              <a:bodyPr/>
              <a:lstStyle/>
              <a:p>
                <a:r>
                  <a:rPr lang="vi-VN">
                    <a:noFill/>
                  </a:rPr>
                  <a:t> </a:t>
                </a:r>
              </a:p>
            </p:txBody>
          </p:sp>
        </mc:Fallback>
      </mc:AlternateContent>
      <p:sp>
        <p:nvSpPr>
          <p:cNvPr id="22" name="Rectangle 21">
            <a:extLst>
              <a:ext uri="{FF2B5EF4-FFF2-40B4-BE49-F238E27FC236}">
                <a16:creationId xmlns:a16="http://schemas.microsoft.com/office/drawing/2014/main" id="{BBE4A7FA-81BE-24DC-0153-C9292F60CEE5}"/>
              </a:ext>
            </a:extLst>
          </p:cNvPr>
          <p:cNvSpPr/>
          <p:nvPr/>
        </p:nvSpPr>
        <p:spPr>
          <a:xfrm>
            <a:off x="1653210" y="1331590"/>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FFA066F-C5E4-77E1-5C5B-7308AE0F5CA7}"/>
                  </a:ext>
                </a:extLst>
              </p:cNvPr>
              <p:cNvSpPr txBox="1"/>
              <p:nvPr/>
            </p:nvSpPr>
            <p:spPr>
              <a:xfrm>
                <a:off x="1697938" y="1331590"/>
                <a:ext cx="410882"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1</m:t>
                              </m:r>
                            </m:sub>
                          </m:sSub>
                        </m:e>
                      </m:d>
                    </m:oMath>
                  </m:oMathPara>
                </a14:m>
                <a:endParaRPr lang="vi-VN" sz="1000"/>
              </a:p>
            </p:txBody>
          </p:sp>
        </mc:Choice>
        <mc:Fallback xmlns="">
          <p:sp>
            <p:nvSpPr>
              <p:cNvPr id="23" name="TextBox 22">
                <a:extLst>
                  <a:ext uri="{FF2B5EF4-FFF2-40B4-BE49-F238E27FC236}">
                    <a16:creationId xmlns:a16="http://schemas.microsoft.com/office/drawing/2014/main" id="{6FFA066F-C5E4-77E1-5C5B-7308AE0F5CA7}"/>
                  </a:ext>
                </a:extLst>
              </p:cNvPr>
              <p:cNvSpPr txBox="1">
                <a:spLocks noRot="1" noChangeAspect="1" noMove="1" noResize="1" noEditPoints="1" noAdjustHandles="1" noChangeArrowheads="1" noChangeShapeType="1" noTextEdit="1"/>
              </p:cNvSpPr>
              <p:nvPr/>
            </p:nvSpPr>
            <p:spPr>
              <a:xfrm>
                <a:off x="1697938" y="1331590"/>
                <a:ext cx="410882" cy="153888"/>
              </a:xfrm>
              <a:prstGeom prst="rect">
                <a:avLst/>
              </a:prstGeom>
              <a:blipFill>
                <a:blip r:embed="rId5"/>
                <a:stretch>
                  <a:fillRect l="-7463" b="-15385"/>
                </a:stretch>
              </a:blipFill>
            </p:spPr>
            <p:txBody>
              <a:bodyPr/>
              <a:lstStyle/>
              <a:p>
                <a:r>
                  <a:rPr lang="vi-VN">
                    <a:noFill/>
                  </a:rPr>
                  <a:t> </a:t>
                </a:r>
              </a:p>
            </p:txBody>
          </p:sp>
        </mc:Fallback>
      </mc:AlternateContent>
      <p:sp>
        <p:nvSpPr>
          <p:cNvPr id="24" name="Rectangle 23">
            <a:extLst>
              <a:ext uri="{FF2B5EF4-FFF2-40B4-BE49-F238E27FC236}">
                <a16:creationId xmlns:a16="http://schemas.microsoft.com/office/drawing/2014/main" id="{AC43FF9A-C9E9-75EA-A9B5-F853E0B12939}"/>
              </a:ext>
            </a:extLst>
          </p:cNvPr>
          <p:cNvSpPr/>
          <p:nvPr/>
        </p:nvSpPr>
        <p:spPr>
          <a:xfrm>
            <a:off x="1653210" y="1043863"/>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838758D-08DB-4B31-81BA-1240D7EDAF6D}"/>
                  </a:ext>
                </a:extLst>
              </p:cNvPr>
              <p:cNvSpPr txBox="1"/>
              <p:nvPr/>
            </p:nvSpPr>
            <p:spPr>
              <a:xfrm>
                <a:off x="1697938" y="1043863"/>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0</m:t>
                              </m:r>
                            </m:sub>
                          </m:sSub>
                        </m:e>
                      </m:d>
                    </m:oMath>
                  </m:oMathPara>
                </a14:m>
                <a:endParaRPr lang="vi-VN" sz="1000"/>
              </a:p>
            </p:txBody>
          </p:sp>
        </mc:Choice>
        <mc:Fallback xmlns="">
          <p:sp>
            <p:nvSpPr>
              <p:cNvPr id="25" name="TextBox 24">
                <a:extLst>
                  <a:ext uri="{FF2B5EF4-FFF2-40B4-BE49-F238E27FC236}">
                    <a16:creationId xmlns:a16="http://schemas.microsoft.com/office/drawing/2014/main" id="{E838758D-08DB-4B31-81BA-1240D7EDAF6D}"/>
                  </a:ext>
                </a:extLst>
              </p:cNvPr>
              <p:cNvSpPr txBox="1">
                <a:spLocks noRot="1" noChangeAspect="1" noMove="1" noResize="1" noEditPoints="1" noAdjustHandles="1" noChangeArrowheads="1" noChangeShapeType="1" noTextEdit="1"/>
              </p:cNvSpPr>
              <p:nvPr/>
            </p:nvSpPr>
            <p:spPr>
              <a:xfrm>
                <a:off x="1697938" y="1043863"/>
                <a:ext cx="413831" cy="153888"/>
              </a:xfrm>
              <a:prstGeom prst="rect">
                <a:avLst/>
              </a:prstGeom>
              <a:blipFill>
                <a:blip r:embed="rId6"/>
                <a:stretch>
                  <a:fillRect l="-7463" b="-20000"/>
                </a:stretch>
              </a:blipFill>
            </p:spPr>
            <p:txBody>
              <a:bodyPr/>
              <a:lstStyle/>
              <a:p>
                <a:r>
                  <a:rPr lang="vi-VN">
                    <a:noFill/>
                  </a:rPr>
                  <a:t> </a:t>
                </a:r>
              </a:p>
            </p:txBody>
          </p:sp>
        </mc:Fallback>
      </mc:AlternateContent>
      <p:sp>
        <p:nvSpPr>
          <p:cNvPr id="26" name="Rectangle 25">
            <a:extLst>
              <a:ext uri="{FF2B5EF4-FFF2-40B4-BE49-F238E27FC236}">
                <a16:creationId xmlns:a16="http://schemas.microsoft.com/office/drawing/2014/main" id="{1C0ED344-D1FE-C8FA-43F3-17DCE3633727}"/>
              </a:ext>
            </a:extLst>
          </p:cNvPr>
          <p:cNvSpPr/>
          <p:nvPr/>
        </p:nvSpPr>
        <p:spPr>
          <a:xfrm>
            <a:off x="2230697" y="1616502"/>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B4811ED-F60B-0D59-C9E0-1B9DCC5DF874}"/>
                  </a:ext>
                </a:extLst>
              </p:cNvPr>
              <p:cNvSpPr txBox="1"/>
              <p:nvPr/>
            </p:nvSpPr>
            <p:spPr>
              <a:xfrm>
                <a:off x="2275425" y="1616502"/>
                <a:ext cx="41793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𝑋</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5</m:t>
                              </m:r>
                            </m:sub>
                          </m:sSub>
                        </m:e>
                      </m:d>
                    </m:oMath>
                  </m:oMathPara>
                </a14:m>
                <a:endParaRPr lang="vi-VN" sz="1000"/>
              </a:p>
            </p:txBody>
          </p:sp>
        </mc:Choice>
        <mc:Fallback xmlns="">
          <p:sp>
            <p:nvSpPr>
              <p:cNvPr id="27" name="TextBox 26">
                <a:extLst>
                  <a:ext uri="{FF2B5EF4-FFF2-40B4-BE49-F238E27FC236}">
                    <a16:creationId xmlns:a16="http://schemas.microsoft.com/office/drawing/2014/main" id="{AB4811ED-F60B-0D59-C9E0-1B9DCC5DF874}"/>
                  </a:ext>
                </a:extLst>
              </p:cNvPr>
              <p:cNvSpPr txBox="1">
                <a:spLocks noRot="1" noChangeAspect="1" noMove="1" noResize="1" noEditPoints="1" noAdjustHandles="1" noChangeArrowheads="1" noChangeShapeType="1" noTextEdit="1"/>
              </p:cNvSpPr>
              <p:nvPr/>
            </p:nvSpPr>
            <p:spPr>
              <a:xfrm>
                <a:off x="2275425" y="1616502"/>
                <a:ext cx="417935" cy="153888"/>
              </a:xfrm>
              <a:prstGeom prst="rect">
                <a:avLst/>
              </a:prstGeom>
              <a:blipFill>
                <a:blip r:embed="rId7"/>
                <a:stretch>
                  <a:fillRect l="-5797" b="-20000"/>
                </a:stretch>
              </a:blipFill>
            </p:spPr>
            <p:txBody>
              <a:bodyPr/>
              <a:lstStyle/>
              <a:p>
                <a:r>
                  <a:rPr lang="vi-VN">
                    <a:noFill/>
                  </a:rPr>
                  <a:t> </a:t>
                </a:r>
              </a:p>
            </p:txBody>
          </p:sp>
        </mc:Fallback>
      </mc:AlternateContent>
      <p:sp>
        <p:nvSpPr>
          <p:cNvPr id="28" name="Rectangle 27">
            <a:extLst>
              <a:ext uri="{FF2B5EF4-FFF2-40B4-BE49-F238E27FC236}">
                <a16:creationId xmlns:a16="http://schemas.microsoft.com/office/drawing/2014/main" id="{4421CB96-ACEF-40A6-3777-A03C855E5DD7}"/>
              </a:ext>
            </a:extLst>
          </p:cNvPr>
          <p:cNvSpPr/>
          <p:nvPr/>
        </p:nvSpPr>
        <p:spPr>
          <a:xfrm>
            <a:off x="2230697" y="1337190"/>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E60A5B8-C93B-B994-C9E3-9433A6F33AAF}"/>
                  </a:ext>
                </a:extLst>
              </p:cNvPr>
              <p:cNvSpPr txBox="1"/>
              <p:nvPr/>
            </p:nvSpPr>
            <p:spPr>
              <a:xfrm>
                <a:off x="2275425" y="1337190"/>
                <a:ext cx="414922"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𝑋</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4</m:t>
                              </m:r>
                            </m:sub>
                          </m:sSub>
                        </m:e>
                      </m:d>
                    </m:oMath>
                  </m:oMathPara>
                </a14:m>
                <a:endParaRPr lang="vi-VN" sz="1000"/>
              </a:p>
            </p:txBody>
          </p:sp>
        </mc:Choice>
        <mc:Fallback xmlns="">
          <p:sp>
            <p:nvSpPr>
              <p:cNvPr id="29" name="TextBox 28">
                <a:extLst>
                  <a:ext uri="{FF2B5EF4-FFF2-40B4-BE49-F238E27FC236}">
                    <a16:creationId xmlns:a16="http://schemas.microsoft.com/office/drawing/2014/main" id="{BE60A5B8-C93B-B994-C9E3-9433A6F33AAF}"/>
                  </a:ext>
                </a:extLst>
              </p:cNvPr>
              <p:cNvSpPr txBox="1">
                <a:spLocks noRot="1" noChangeAspect="1" noMove="1" noResize="1" noEditPoints="1" noAdjustHandles="1" noChangeArrowheads="1" noChangeShapeType="1" noTextEdit="1"/>
              </p:cNvSpPr>
              <p:nvPr/>
            </p:nvSpPr>
            <p:spPr>
              <a:xfrm>
                <a:off x="2275425" y="1337190"/>
                <a:ext cx="414922" cy="153888"/>
              </a:xfrm>
              <a:prstGeom prst="rect">
                <a:avLst/>
              </a:prstGeom>
              <a:blipFill>
                <a:blip r:embed="rId8"/>
                <a:stretch>
                  <a:fillRect l="-5882" b="-15385"/>
                </a:stretch>
              </a:blipFill>
            </p:spPr>
            <p:txBody>
              <a:bodyPr/>
              <a:lstStyle/>
              <a:p>
                <a:r>
                  <a:rPr lang="vi-VN">
                    <a:noFill/>
                  </a:rPr>
                  <a:t> </a:t>
                </a:r>
              </a:p>
            </p:txBody>
          </p:sp>
        </mc:Fallback>
      </mc:AlternateContent>
      <p:sp>
        <p:nvSpPr>
          <p:cNvPr id="30" name="Rectangle 29">
            <a:extLst>
              <a:ext uri="{FF2B5EF4-FFF2-40B4-BE49-F238E27FC236}">
                <a16:creationId xmlns:a16="http://schemas.microsoft.com/office/drawing/2014/main" id="{12EDB64B-1144-3E3E-9A92-4464BD5A5FD5}"/>
              </a:ext>
            </a:extLst>
          </p:cNvPr>
          <p:cNvSpPr/>
          <p:nvPr/>
        </p:nvSpPr>
        <p:spPr>
          <a:xfrm>
            <a:off x="2230697" y="1049463"/>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D3BE685-A67F-ACC8-8B73-2026F9EF75D2}"/>
                  </a:ext>
                </a:extLst>
              </p:cNvPr>
              <p:cNvSpPr txBox="1"/>
              <p:nvPr/>
            </p:nvSpPr>
            <p:spPr>
              <a:xfrm>
                <a:off x="2275425" y="1049463"/>
                <a:ext cx="41793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𝑋</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3</m:t>
                              </m:r>
                            </m:sub>
                          </m:sSub>
                        </m:e>
                      </m:d>
                    </m:oMath>
                  </m:oMathPara>
                </a14:m>
                <a:endParaRPr lang="vi-VN" sz="1000"/>
              </a:p>
            </p:txBody>
          </p:sp>
        </mc:Choice>
        <mc:Fallback xmlns="">
          <p:sp>
            <p:nvSpPr>
              <p:cNvPr id="31" name="TextBox 30">
                <a:extLst>
                  <a:ext uri="{FF2B5EF4-FFF2-40B4-BE49-F238E27FC236}">
                    <a16:creationId xmlns:a16="http://schemas.microsoft.com/office/drawing/2014/main" id="{3D3BE685-A67F-ACC8-8B73-2026F9EF75D2}"/>
                  </a:ext>
                </a:extLst>
              </p:cNvPr>
              <p:cNvSpPr txBox="1">
                <a:spLocks noRot="1" noChangeAspect="1" noMove="1" noResize="1" noEditPoints="1" noAdjustHandles="1" noChangeArrowheads="1" noChangeShapeType="1" noTextEdit="1"/>
              </p:cNvSpPr>
              <p:nvPr/>
            </p:nvSpPr>
            <p:spPr>
              <a:xfrm>
                <a:off x="2275425" y="1049463"/>
                <a:ext cx="417935" cy="153888"/>
              </a:xfrm>
              <a:prstGeom prst="rect">
                <a:avLst/>
              </a:prstGeom>
              <a:blipFill>
                <a:blip r:embed="rId9"/>
                <a:stretch>
                  <a:fillRect l="-5797" b="-20000"/>
                </a:stretch>
              </a:blipFill>
            </p:spPr>
            <p:txBody>
              <a:bodyPr/>
              <a:lstStyle/>
              <a:p>
                <a:r>
                  <a:rPr lang="vi-VN">
                    <a:noFill/>
                  </a:rPr>
                  <a:t> </a:t>
                </a:r>
              </a:p>
            </p:txBody>
          </p:sp>
        </mc:Fallback>
      </mc:AlternateContent>
      <p:sp>
        <p:nvSpPr>
          <p:cNvPr id="32" name="Rectangle 31">
            <a:extLst>
              <a:ext uri="{FF2B5EF4-FFF2-40B4-BE49-F238E27FC236}">
                <a16:creationId xmlns:a16="http://schemas.microsoft.com/office/drawing/2014/main" id="{028777A0-2F08-E2AA-8EBE-6C569952036C}"/>
              </a:ext>
            </a:extLst>
          </p:cNvPr>
          <p:cNvSpPr/>
          <p:nvPr/>
        </p:nvSpPr>
        <p:spPr>
          <a:xfrm>
            <a:off x="2809119" y="1616502"/>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95028D7-F43B-5588-87E2-680AFBDD28B6}"/>
                  </a:ext>
                </a:extLst>
              </p:cNvPr>
              <p:cNvSpPr txBox="1"/>
              <p:nvPr/>
            </p:nvSpPr>
            <p:spPr>
              <a:xfrm>
                <a:off x="2853847" y="1616502"/>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8</m:t>
                              </m:r>
                            </m:sub>
                          </m:sSub>
                        </m:e>
                      </m:d>
                    </m:oMath>
                  </m:oMathPara>
                </a14:m>
                <a:endParaRPr lang="vi-VN" sz="1000"/>
              </a:p>
            </p:txBody>
          </p:sp>
        </mc:Choice>
        <mc:Fallback xmlns="">
          <p:sp>
            <p:nvSpPr>
              <p:cNvPr id="33" name="TextBox 32">
                <a:extLst>
                  <a:ext uri="{FF2B5EF4-FFF2-40B4-BE49-F238E27FC236}">
                    <a16:creationId xmlns:a16="http://schemas.microsoft.com/office/drawing/2014/main" id="{195028D7-F43B-5588-87E2-680AFBDD28B6}"/>
                  </a:ext>
                </a:extLst>
              </p:cNvPr>
              <p:cNvSpPr txBox="1">
                <a:spLocks noRot="1" noChangeAspect="1" noMove="1" noResize="1" noEditPoints="1" noAdjustHandles="1" noChangeArrowheads="1" noChangeShapeType="1" noTextEdit="1"/>
              </p:cNvSpPr>
              <p:nvPr/>
            </p:nvSpPr>
            <p:spPr>
              <a:xfrm>
                <a:off x="2853847" y="1616502"/>
                <a:ext cx="413831" cy="153888"/>
              </a:xfrm>
              <a:prstGeom prst="rect">
                <a:avLst/>
              </a:prstGeom>
              <a:blipFill>
                <a:blip r:embed="rId10"/>
                <a:stretch>
                  <a:fillRect l="-5882" b="-20000"/>
                </a:stretch>
              </a:blipFill>
            </p:spPr>
            <p:txBody>
              <a:bodyPr/>
              <a:lstStyle/>
              <a:p>
                <a:r>
                  <a:rPr lang="vi-VN">
                    <a:noFill/>
                  </a:rPr>
                  <a:t> </a:t>
                </a:r>
              </a:p>
            </p:txBody>
          </p:sp>
        </mc:Fallback>
      </mc:AlternateContent>
      <p:sp>
        <p:nvSpPr>
          <p:cNvPr id="34" name="Rectangle 33">
            <a:extLst>
              <a:ext uri="{FF2B5EF4-FFF2-40B4-BE49-F238E27FC236}">
                <a16:creationId xmlns:a16="http://schemas.microsoft.com/office/drawing/2014/main" id="{C0FF5CDD-FBB8-7902-98B3-32ACDBC6FDB4}"/>
              </a:ext>
            </a:extLst>
          </p:cNvPr>
          <p:cNvSpPr/>
          <p:nvPr/>
        </p:nvSpPr>
        <p:spPr>
          <a:xfrm>
            <a:off x="2809119" y="1337190"/>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DE6F010-538B-8D63-F890-F49834514FCA}"/>
                  </a:ext>
                </a:extLst>
              </p:cNvPr>
              <p:cNvSpPr txBox="1"/>
              <p:nvPr/>
            </p:nvSpPr>
            <p:spPr>
              <a:xfrm>
                <a:off x="2853847" y="1337190"/>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7</m:t>
                              </m:r>
                            </m:sub>
                          </m:sSub>
                        </m:e>
                      </m:d>
                    </m:oMath>
                  </m:oMathPara>
                </a14:m>
                <a:endParaRPr lang="vi-VN" sz="1000"/>
              </a:p>
            </p:txBody>
          </p:sp>
        </mc:Choice>
        <mc:Fallback xmlns="">
          <p:sp>
            <p:nvSpPr>
              <p:cNvPr id="35" name="TextBox 34">
                <a:extLst>
                  <a:ext uri="{FF2B5EF4-FFF2-40B4-BE49-F238E27FC236}">
                    <a16:creationId xmlns:a16="http://schemas.microsoft.com/office/drawing/2014/main" id="{4DE6F010-538B-8D63-F890-F49834514FCA}"/>
                  </a:ext>
                </a:extLst>
              </p:cNvPr>
              <p:cNvSpPr txBox="1">
                <a:spLocks noRot="1" noChangeAspect="1" noMove="1" noResize="1" noEditPoints="1" noAdjustHandles="1" noChangeArrowheads="1" noChangeShapeType="1" noTextEdit="1"/>
              </p:cNvSpPr>
              <p:nvPr/>
            </p:nvSpPr>
            <p:spPr>
              <a:xfrm>
                <a:off x="2853847" y="1337190"/>
                <a:ext cx="413831" cy="153888"/>
              </a:xfrm>
              <a:prstGeom prst="rect">
                <a:avLst/>
              </a:prstGeom>
              <a:blipFill>
                <a:blip r:embed="rId11"/>
                <a:stretch>
                  <a:fillRect l="-5882" b="-15385"/>
                </a:stretch>
              </a:blipFill>
            </p:spPr>
            <p:txBody>
              <a:bodyPr/>
              <a:lstStyle/>
              <a:p>
                <a:r>
                  <a:rPr lang="vi-VN">
                    <a:noFill/>
                  </a:rPr>
                  <a:t> </a:t>
                </a:r>
              </a:p>
            </p:txBody>
          </p:sp>
        </mc:Fallback>
      </mc:AlternateContent>
      <p:sp>
        <p:nvSpPr>
          <p:cNvPr id="36" name="Rectangle 35">
            <a:extLst>
              <a:ext uri="{FF2B5EF4-FFF2-40B4-BE49-F238E27FC236}">
                <a16:creationId xmlns:a16="http://schemas.microsoft.com/office/drawing/2014/main" id="{32D5AC16-05AE-145E-DBEF-A3BCA510AD7B}"/>
              </a:ext>
            </a:extLst>
          </p:cNvPr>
          <p:cNvSpPr/>
          <p:nvPr/>
        </p:nvSpPr>
        <p:spPr>
          <a:xfrm>
            <a:off x="2809119" y="1049463"/>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BAC5270-A7EF-0536-7A31-16DAFF1A065F}"/>
                  </a:ext>
                </a:extLst>
              </p:cNvPr>
              <p:cNvSpPr txBox="1"/>
              <p:nvPr/>
            </p:nvSpPr>
            <p:spPr>
              <a:xfrm>
                <a:off x="2853847" y="1049463"/>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6</m:t>
                              </m:r>
                            </m:sub>
                          </m:sSub>
                        </m:e>
                      </m:d>
                    </m:oMath>
                  </m:oMathPara>
                </a14:m>
                <a:endParaRPr lang="vi-VN" sz="1000"/>
              </a:p>
            </p:txBody>
          </p:sp>
        </mc:Choice>
        <mc:Fallback xmlns="">
          <p:sp>
            <p:nvSpPr>
              <p:cNvPr id="37" name="TextBox 36">
                <a:extLst>
                  <a:ext uri="{FF2B5EF4-FFF2-40B4-BE49-F238E27FC236}">
                    <a16:creationId xmlns:a16="http://schemas.microsoft.com/office/drawing/2014/main" id="{4BAC5270-A7EF-0536-7A31-16DAFF1A065F}"/>
                  </a:ext>
                </a:extLst>
              </p:cNvPr>
              <p:cNvSpPr txBox="1">
                <a:spLocks noRot="1" noChangeAspect="1" noMove="1" noResize="1" noEditPoints="1" noAdjustHandles="1" noChangeArrowheads="1" noChangeShapeType="1" noTextEdit="1"/>
              </p:cNvSpPr>
              <p:nvPr/>
            </p:nvSpPr>
            <p:spPr>
              <a:xfrm>
                <a:off x="2853847" y="1049463"/>
                <a:ext cx="413831" cy="153888"/>
              </a:xfrm>
              <a:prstGeom prst="rect">
                <a:avLst/>
              </a:prstGeom>
              <a:blipFill>
                <a:blip r:embed="rId12"/>
                <a:stretch>
                  <a:fillRect l="-5882" b="-20000"/>
                </a:stretch>
              </a:blipFill>
            </p:spPr>
            <p:txBody>
              <a:bodyPr/>
              <a:lstStyle/>
              <a:p>
                <a:r>
                  <a:rPr lang="vi-VN">
                    <a:noFill/>
                  </a:rPr>
                  <a:t> </a:t>
                </a:r>
              </a:p>
            </p:txBody>
          </p:sp>
        </mc:Fallback>
      </mc:AlternateContent>
      <p:cxnSp>
        <p:nvCxnSpPr>
          <p:cNvPr id="38" name="Đường nối Thẳng 67">
            <a:extLst>
              <a:ext uri="{FF2B5EF4-FFF2-40B4-BE49-F238E27FC236}">
                <a16:creationId xmlns:a16="http://schemas.microsoft.com/office/drawing/2014/main" id="{6E25E41C-D71D-BFD1-60C3-C4506A2E687C}"/>
              </a:ext>
            </a:extLst>
          </p:cNvPr>
          <p:cNvCxnSpPr>
            <a:cxnSpLocks/>
            <a:stCxn id="40" idx="0"/>
            <a:endCxn id="39" idx="4"/>
          </p:cNvCxnSpPr>
          <p:nvPr/>
        </p:nvCxnSpPr>
        <p:spPr>
          <a:xfrm flipV="1">
            <a:off x="3512534" y="1181198"/>
            <a:ext cx="0" cy="2031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9" name="Hình Bầu dục 68">
            <a:extLst>
              <a:ext uri="{FF2B5EF4-FFF2-40B4-BE49-F238E27FC236}">
                <a16:creationId xmlns:a16="http://schemas.microsoft.com/office/drawing/2014/main" id="{79FC9F04-4AC2-F12A-0597-1BB2AE291F39}"/>
              </a:ext>
            </a:extLst>
          </p:cNvPr>
          <p:cNvSpPr/>
          <p:nvPr/>
        </p:nvSpPr>
        <p:spPr>
          <a:xfrm>
            <a:off x="3465476" y="1098319"/>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40" name="Hình Bầu dục 68">
            <a:extLst>
              <a:ext uri="{FF2B5EF4-FFF2-40B4-BE49-F238E27FC236}">
                <a16:creationId xmlns:a16="http://schemas.microsoft.com/office/drawing/2014/main" id="{FE27335A-3562-6A17-25B3-7BE314F1E217}"/>
              </a:ext>
            </a:extLst>
          </p:cNvPr>
          <p:cNvSpPr/>
          <p:nvPr/>
        </p:nvSpPr>
        <p:spPr>
          <a:xfrm>
            <a:off x="3465476" y="1384382"/>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42" name="Đường nối Thẳng 67">
            <a:extLst>
              <a:ext uri="{FF2B5EF4-FFF2-40B4-BE49-F238E27FC236}">
                <a16:creationId xmlns:a16="http://schemas.microsoft.com/office/drawing/2014/main" id="{52050CFB-84DA-1687-7829-E35447B29208}"/>
              </a:ext>
            </a:extLst>
          </p:cNvPr>
          <p:cNvCxnSpPr>
            <a:cxnSpLocks/>
            <a:stCxn id="44" idx="0"/>
            <a:endCxn id="43" idx="4"/>
          </p:cNvCxnSpPr>
          <p:nvPr/>
        </p:nvCxnSpPr>
        <p:spPr>
          <a:xfrm flipV="1">
            <a:off x="3781249" y="1468822"/>
            <a:ext cx="0" cy="2031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3" name="Hình Bầu dục 68">
            <a:extLst>
              <a:ext uri="{FF2B5EF4-FFF2-40B4-BE49-F238E27FC236}">
                <a16:creationId xmlns:a16="http://schemas.microsoft.com/office/drawing/2014/main" id="{4FC4E8A3-F735-308D-1450-E0A330420B11}"/>
              </a:ext>
            </a:extLst>
          </p:cNvPr>
          <p:cNvSpPr/>
          <p:nvPr/>
        </p:nvSpPr>
        <p:spPr>
          <a:xfrm>
            <a:off x="3734191" y="1385943"/>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44" name="Hình Bầu dục 68">
            <a:extLst>
              <a:ext uri="{FF2B5EF4-FFF2-40B4-BE49-F238E27FC236}">
                <a16:creationId xmlns:a16="http://schemas.microsoft.com/office/drawing/2014/main" id="{B5D16BB8-6B83-AE2D-3185-DA8AE670F31A}"/>
              </a:ext>
            </a:extLst>
          </p:cNvPr>
          <p:cNvSpPr/>
          <p:nvPr/>
        </p:nvSpPr>
        <p:spPr>
          <a:xfrm>
            <a:off x="3734191" y="1672006"/>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47" name="Double Bracket 46">
            <a:extLst>
              <a:ext uri="{FF2B5EF4-FFF2-40B4-BE49-F238E27FC236}">
                <a16:creationId xmlns:a16="http://schemas.microsoft.com/office/drawing/2014/main" id="{14E7CF24-A4C7-1765-1721-A02471DDE6B2}"/>
              </a:ext>
            </a:extLst>
          </p:cNvPr>
          <p:cNvSpPr/>
          <p:nvPr/>
        </p:nvSpPr>
        <p:spPr>
          <a:xfrm>
            <a:off x="1526509" y="948428"/>
            <a:ext cx="2367600" cy="958947"/>
          </a:xfrm>
          <a:prstGeom prst="bracketPair">
            <a:avLst>
              <a:gd name="adj" fmla="val 8375"/>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F8582D3-43C0-D689-7301-DA3F9CE16A05}"/>
                  </a:ext>
                </a:extLst>
              </p:cNvPr>
              <p:cNvSpPr txBox="1"/>
              <p:nvPr/>
            </p:nvSpPr>
            <p:spPr>
              <a:xfrm>
                <a:off x="3973025" y="1810189"/>
                <a:ext cx="22666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m:t>
                      </m:r>
                      <m:r>
                        <a:rPr lang="en-US" sz="1000" b="0" i="1" smtClean="0">
                          <a:latin typeface="Cambria Math" panose="02040503050406030204" pitchFamily="18" charset="0"/>
                        </a:rPr>
                        <m:t>𝐿</m:t>
                      </m:r>
                    </m:oMath>
                  </m:oMathPara>
                </a14:m>
                <a:endParaRPr lang="vi-VN" sz="1000"/>
              </a:p>
            </p:txBody>
          </p:sp>
        </mc:Choice>
        <mc:Fallback xmlns="">
          <p:sp>
            <p:nvSpPr>
              <p:cNvPr id="48" name="TextBox 47">
                <a:extLst>
                  <a:ext uri="{FF2B5EF4-FFF2-40B4-BE49-F238E27FC236}">
                    <a16:creationId xmlns:a16="http://schemas.microsoft.com/office/drawing/2014/main" id="{0F8582D3-43C0-D689-7301-DA3F9CE16A05}"/>
                  </a:ext>
                </a:extLst>
              </p:cNvPr>
              <p:cNvSpPr txBox="1">
                <a:spLocks noRot="1" noChangeAspect="1" noMove="1" noResize="1" noEditPoints="1" noAdjustHandles="1" noChangeArrowheads="1" noChangeShapeType="1" noTextEdit="1"/>
              </p:cNvSpPr>
              <p:nvPr/>
            </p:nvSpPr>
            <p:spPr>
              <a:xfrm>
                <a:off x="3973025" y="1810189"/>
                <a:ext cx="226665" cy="153888"/>
              </a:xfrm>
              <a:prstGeom prst="rect">
                <a:avLst/>
              </a:prstGeom>
              <a:blipFill>
                <a:blip r:embed="rId13"/>
                <a:stretch>
                  <a:fillRect l="-10811" r="-8108" b="-8000"/>
                </a:stretch>
              </a:blipFill>
            </p:spPr>
            <p:txBody>
              <a:bodyPr/>
              <a:lstStyle/>
              <a:p>
                <a:r>
                  <a:rPr lang="vi-VN">
                    <a:noFill/>
                  </a:rPr>
                  <a:t> </a:t>
                </a:r>
              </a:p>
            </p:txBody>
          </p:sp>
        </mc:Fallback>
      </mc:AlternateContent>
      <p:cxnSp>
        <p:nvCxnSpPr>
          <p:cNvPr id="49" name="Straight Connector 48">
            <a:extLst>
              <a:ext uri="{FF2B5EF4-FFF2-40B4-BE49-F238E27FC236}">
                <a16:creationId xmlns:a16="http://schemas.microsoft.com/office/drawing/2014/main" id="{942CCDD5-6B8B-CC85-E486-1142CDBF0EC1}"/>
              </a:ext>
            </a:extLst>
          </p:cNvPr>
          <p:cNvCxnSpPr>
            <a:cxnSpLocks/>
          </p:cNvCxnSpPr>
          <p:nvPr/>
        </p:nvCxnSpPr>
        <p:spPr>
          <a:xfrm>
            <a:off x="1398715" y="2589783"/>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6B2F3BBB-AB80-D009-5806-4E2317DBB2F6}"/>
              </a:ext>
            </a:extLst>
          </p:cNvPr>
          <p:cNvCxnSpPr>
            <a:cxnSpLocks/>
          </p:cNvCxnSpPr>
          <p:nvPr/>
        </p:nvCxnSpPr>
        <p:spPr>
          <a:xfrm>
            <a:off x="1398715" y="2877511"/>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FC51F213-E904-A1D6-3702-224B05A4CBA8}"/>
              </a:ext>
            </a:extLst>
          </p:cNvPr>
          <p:cNvCxnSpPr>
            <a:cxnSpLocks/>
          </p:cNvCxnSpPr>
          <p:nvPr/>
        </p:nvCxnSpPr>
        <p:spPr>
          <a:xfrm>
            <a:off x="1398715" y="3165239"/>
            <a:ext cx="3108960" cy="0"/>
          </a:xfrm>
          <a:prstGeom prst="line">
            <a:avLst/>
          </a:prstGeom>
          <a:ln w="28575"/>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A3FEE3E5-1039-8DAC-A372-ACC201D075B9}"/>
              </a:ext>
            </a:extLst>
          </p:cNvPr>
          <p:cNvSpPr/>
          <p:nvPr/>
        </p:nvSpPr>
        <p:spPr>
          <a:xfrm>
            <a:off x="1500812" y="3065596"/>
            <a:ext cx="568252"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FFC2835-9D39-80CB-627C-4C8436A054A2}"/>
                  </a:ext>
                </a:extLst>
              </p:cNvPr>
              <p:cNvSpPr txBox="1"/>
              <p:nvPr/>
            </p:nvSpPr>
            <p:spPr>
              <a:xfrm>
                <a:off x="1545540" y="3065596"/>
                <a:ext cx="49750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i="1">
                              <a:latin typeface="Cambria Math" panose="02040503050406030204" pitchFamily="18" charset="0"/>
                            </a:rPr>
                          </m:ctrlPr>
                        </m:dPr>
                        <m:e>
                          <m:r>
                            <a:rPr lang="en-US" sz="1000" i="1">
                              <a:latin typeface="Cambria Math" panose="02040503050406030204" pitchFamily="18" charset="0"/>
                            </a:rPr>
                            <m:t>𝜋</m:t>
                          </m:r>
                          <m:r>
                            <a:rPr lang="en-US" sz="1000" i="1">
                              <a:latin typeface="Cambria Math" panose="02040503050406030204" pitchFamily="18" charset="0"/>
                            </a:rPr>
                            <m:t>/4</m:t>
                          </m:r>
                        </m:e>
                      </m:d>
                    </m:oMath>
                  </m:oMathPara>
                </a14:m>
                <a:endParaRPr lang="vi-VN" sz="1000"/>
              </a:p>
            </p:txBody>
          </p:sp>
        </mc:Choice>
        <mc:Fallback xmlns="">
          <p:sp>
            <p:nvSpPr>
              <p:cNvPr id="53" name="TextBox 52">
                <a:extLst>
                  <a:ext uri="{FF2B5EF4-FFF2-40B4-BE49-F238E27FC236}">
                    <a16:creationId xmlns:a16="http://schemas.microsoft.com/office/drawing/2014/main" id="{2FFC2835-9D39-80CB-627C-4C8436A054A2}"/>
                  </a:ext>
                </a:extLst>
              </p:cNvPr>
              <p:cNvSpPr txBox="1">
                <a:spLocks noRot="1" noChangeAspect="1" noMove="1" noResize="1" noEditPoints="1" noAdjustHandles="1" noChangeArrowheads="1" noChangeShapeType="1" noTextEdit="1"/>
              </p:cNvSpPr>
              <p:nvPr/>
            </p:nvSpPr>
            <p:spPr>
              <a:xfrm>
                <a:off x="1545540" y="3065596"/>
                <a:ext cx="497508" cy="153888"/>
              </a:xfrm>
              <a:prstGeom prst="rect">
                <a:avLst/>
              </a:prstGeom>
              <a:blipFill>
                <a:blip r:embed="rId14"/>
                <a:stretch>
                  <a:fillRect l="-6173" b="-36000"/>
                </a:stretch>
              </a:blipFill>
            </p:spPr>
            <p:txBody>
              <a:bodyPr/>
              <a:lstStyle/>
              <a:p>
                <a:r>
                  <a:rPr lang="vi-VN">
                    <a:noFill/>
                  </a:rPr>
                  <a:t> </a:t>
                </a:r>
              </a:p>
            </p:txBody>
          </p:sp>
        </mc:Fallback>
      </mc:AlternateContent>
      <p:sp>
        <p:nvSpPr>
          <p:cNvPr id="54" name="Rectangle 53">
            <a:extLst>
              <a:ext uri="{FF2B5EF4-FFF2-40B4-BE49-F238E27FC236}">
                <a16:creationId xmlns:a16="http://schemas.microsoft.com/office/drawing/2014/main" id="{75756981-7B61-0DF1-46C2-7643EB2F238C}"/>
              </a:ext>
            </a:extLst>
          </p:cNvPr>
          <p:cNvSpPr/>
          <p:nvPr/>
        </p:nvSpPr>
        <p:spPr>
          <a:xfrm>
            <a:off x="1500812" y="2786284"/>
            <a:ext cx="568252"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111DCC6-521B-4010-5770-15D3722B0F08}"/>
                  </a:ext>
                </a:extLst>
              </p:cNvPr>
              <p:cNvSpPr txBox="1"/>
              <p:nvPr/>
            </p:nvSpPr>
            <p:spPr>
              <a:xfrm>
                <a:off x="1545540" y="2786284"/>
                <a:ext cx="49750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i="1">
                              <a:latin typeface="Cambria Math" panose="02040503050406030204" pitchFamily="18" charset="0"/>
                            </a:rPr>
                          </m:ctrlPr>
                        </m:dPr>
                        <m:e>
                          <m:r>
                            <a:rPr lang="en-US" sz="1000" i="1">
                              <a:latin typeface="Cambria Math" panose="02040503050406030204" pitchFamily="18" charset="0"/>
                            </a:rPr>
                            <m:t>𝜋</m:t>
                          </m:r>
                          <m:r>
                            <a:rPr lang="en-US" sz="1000" i="1">
                              <a:latin typeface="Cambria Math" panose="02040503050406030204" pitchFamily="18" charset="0"/>
                            </a:rPr>
                            <m:t>/4</m:t>
                          </m:r>
                        </m:e>
                      </m:d>
                    </m:oMath>
                  </m:oMathPara>
                </a14:m>
                <a:endParaRPr lang="vi-VN" sz="1000"/>
              </a:p>
            </p:txBody>
          </p:sp>
        </mc:Choice>
        <mc:Fallback xmlns="">
          <p:sp>
            <p:nvSpPr>
              <p:cNvPr id="55" name="TextBox 54">
                <a:extLst>
                  <a:ext uri="{FF2B5EF4-FFF2-40B4-BE49-F238E27FC236}">
                    <a16:creationId xmlns:a16="http://schemas.microsoft.com/office/drawing/2014/main" id="{D111DCC6-521B-4010-5770-15D3722B0F08}"/>
                  </a:ext>
                </a:extLst>
              </p:cNvPr>
              <p:cNvSpPr txBox="1">
                <a:spLocks noRot="1" noChangeAspect="1" noMove="1" noResize="1" noEditPoints="1" noAdjustHandles="1" noChangeArrowheads="1" noChangeShapeType="1" noTextEdit="1"/>
              </p:cNvSpPr>
              <p:nvPr/>
            </p:nvSpPr>
            <p:spPr>
              <a:xfrm>
                <a:off x="1545540" y="2786284"/>
                <a:ext cx="497508" cy="153888"/>
              </a:xfrm>
              <a:prstGeom prst="rect">
                <a:avLst/>
              </a:prstGeom>
              <a:blipFill>
                <a:blip r:embed="rId15"/>
                <a:stretch>
                  <a:fillRect l="-6173" b="-36000"/>
                </a:stretch>
              </a:blipFill>
            </p:spPr>
            <p:txBody>
              <a:bodyPr/>
              <a:lstStyle/>
              <a:p>
                <a:r>
                  <a:rPr lang="vi-VN">
                    <a:noFill/>
                  </a:rPr>
                  <a:t> </a:t>
                </a:r>
              </a:p>
            </p:txBody>
          </p:sp>
        </mc:Fallback>
      </mc:AlternateContent>
      <p:sp>
        <p:nvSpPr>
          <p:cNvPr id="56" name="Rectangle 55">
            <a:extLst>
              <a:ext uri="{FF2B5EF4-FFF2-40B4-BE49-F238E27FC236}">
                <a16:creationId xmlns:a16="http://schemas.microsoft.com/office/drawing/2014/main" id="{8BDC8FB8-8EC4-5243-41CD-DE2CC4AABF39}"/>
              </a:ext>
            </a:extLst>
          </p:cNvPr>
          <p:cNvSpPr/>
          <p:nvPr/>
        </p:nvSpPr>
        <p:spPr>
          <a:xfrm>
            <a:off x="1500812" y="2498557"/>
            <a:ext cx="568252"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CBB25F5-F765-B707-75A6-0F1D9C42598C}"/>
                  </a:ext>
                </a:extLst>
              </p:cNvPr>
              <p:cNvSpPr txBox="1"/>
              <p:nvPr/>
            </p:nvSpPr>
            <p:spPr>
              <a:xfrm>
                <a:off x="1545540" y="2498557"/>
                <a:ext cx="49750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r>
                            <a:rPr lang="en-US" sz="1000" b="0" i="1" smtClean="0">
                              <a:latin typeface="Cambria Math" panose="02040503050406030204" pitchFamily="18" charset="0"/>
                            </a:rPr>
                            <m:t>𝜋</m:t>
                          </m:r>
                          <m:r>
                            <a:rPr lang="en-US" sz="1000" b="0" i="1" smtClean="0">
                              <a:latin typeface="Cambria Math" panose="02040503050406030204" pitchFamily="18" charset="0"/>
                            </a:rPr>
                            <m:t>/4</m:t>
                          </m:r>
                        </m:e>
                      </m:d>
                    </m:oMath>
                  </m:oMathPara>
                </a14:m>
                <a:endParaRPr lang="vi-VN" sz="1000"/>
              </a:p>
            </p:txBody>
          </p:sp>
        </mc:Choice>
        <mc:Fallback xmlns="">
          <p:sp>
            <p:nvSpPr>
              <p:cNvPr id="57" name="TextBox 56">
                <a:extLst>
                  <a:ext uri="{FF2B5EF4-FFF2-40B4-BE49-F238E27FC236}">
                    <a16:creationId xmlns:a16="http://schemas.microsoft.com/office/drawing/2014/main" id="{ECBB25F5-F765-B707-75A6-0F1D9C42598C}"/>
                  </a:ext>
                </a:extLst>
              </p:cNvPr>
              <p:cNvSpPr txBox="1">
                <a:spLocks noRot="1" noChangeAspect="1" noMove="1" noResize="1" noEditPoints="1" noAdjustHandles="1" noChangeArrowheads="1" noChangeShapeType="1" noTextEdit="1"/>
              </p:cNvSpPr>
              <p:nvPr/>
            </p:nvSpPr>
            <p:spPr>
              <a:xfrm>
                <a:off x="1545540" y="2498557"/>
                <a:ext cx="497508" cy="153888"/>
              </a:xfrm>
              <a:prstGeom prst="rect">
                <a:avLst/>
              </a:prstGeom>
              <a:blipFill>
                <a:blip r:embed="rId16"/>
                <a:stretch>
                  <a:fillRect l="-6173" b="-36000"/>
                </a:stretch>
              </a:blipFill>
            </p:spPr>
            <p:txBody>
              <a:bodyPr/>
              <a:lstStyle/>
              <a:p>
                <a:r>
                  <a:rPr lang="vi-VN">
                    <a:noFill/>
                  </a:rPr>
                  <a:t> </a:t>
                </a:r>
              </a:p>
            </p:txBody>
          </p:sp>
        </mc:Fallback>
      </mc:AlternateContent>
      <p:sp>
        <p:nvSpPr>
          <p:cNvPr id="58" name="Rectangle 57">
            <a:extLst>
              <a:ext uri="{FF2B5EF4-FFF2-40B4-BE49-F238E27FC236}">
                <a16:creationId xmlns:a16="http://schemas.microsoft.com/office/drawing/2014/main" id="{10D62026-AAD0-764F-4650-D9740BFB0EDF}"/>
              </a:ext>
            </a:extLst>
          </p:cNvPr>
          <p:cNvSpPr/>
          <p:nvPr/>
        </p:nvSpPr>
        <p:spPr>
          <a:xfrm>
            <a:off x="2230697" y="3071196"/>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353AA2E-C742-95B1-2A0C-10F7067C0CC9}"/>
                  </a:ext>
                </a:extLst>
              </p:cNvPr>
              <p:cNvSpPr txBox="1"/>
              <p:nvPr/>
            </p:nvSpPr>
            <p:spPr>
              <a:xfrm>
                <a:off x="2275425" y="3071196"/>
                <a:ext cx="412934"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solidFill>
                                <a:srgbClr val="FF0000"/>
                              </a:solidFill>
                              <a:latin typeface="Cambria Math" panose="02040503050406030204" pitchFamily="18" charset="0"/>
                            </a:rPr>
                            <m:t>𝑘</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2</m:t>
                              </m:r>
                            </m:sub>
                          </m:sSub>
                        </m:e>
                      </m:d>
                    </m:oMath>
                  </m:oMathPara>
                </a14:m>
                <a:endParaRPr lang="vi-VN" sz="1000"/>
              </a:p>
            </p:txBody>
          </p:sp>
        </mc:Choice>
        <mc:Fallback xmlns="">
          <p:sp>
            <p:nvSpPr>
              <p:cNvPr id="59" name="TextBox 58">
                <a:extLst>
                  <a:ext uri="{FF2B5EF4-FFF2-40B4-BE49-F238E27FC236}">
                    <a16:creationId xmlns:a16="http://schemas.microsoft.com/office/drawing/2014/main" id="{5353AA2E-C742-95B1-2A0C-10F7067C0CC9}"/>
                  </a:ext>
                </a:extLst>
              </p:cNvPr>
              <p:cNvSpPr txBox="1">
                <a:spLocks noRot="1" noChangeAspect="1" noMove="1" noResize="1" noEditPoints="1" noAdjustHandles="1" noChangeArrowheads="1" noChangeShapeType="1" noTextEdit="1"/>
              </p:cNvSpPr>
              <p:nvPr/>
            </p:nvSpPr>
            <p:spPr>
              <a:xfrm>
                <a:off x="2275425" y="3071196"/>
                <a:ext cx="412934" cy="153888"/>
              </a:xfrm>
              <a:prstGeom prst="rect">
                <a:avLst/>
              </a:prstGeom>
              <a:blipFill>
                <a:blip r:embed="rId17"/>
                <a:stretch>
                  <a:fillRect l="-5882" b="-16000"/>
                </a:stretch>
              </a:blipFill>
            </p:spPr>
            <p:txBody>
              <a:bodyPr/>
              <a:lstStyle/>
              <a:p>
                <a:r>
                  <a:rPr lang="vi-VN">
                    <a:noFill/>
                  </a:rPr>
                  <a:t> </a:t>
                </a:r>
              </a:p>
            </p:txBody>
          </p:sp>
        </mc:Fallback>
      </mc:AlternateContent>
      <p:sp>
        <p:nvSpPr>
          <p:cNvPr id="60" name="Rectangle 59">
            <a:extLst>
              <a:ext uri="{FF2B5EF4-FFF2-40B4-BE49-F238E27FC236}">
                <a16:creationId xmlns:a16="http://schemas.microsoft.com/office/drawing/2014/main" id="{3AE56A1A-70E0-0392-D942-5447B02A39DA}"/>
              </a:ext>
            </a:extLst>
          </p:cNvPr>
          <p:cNvSpPr/>
          <p:nvPr/>
        </p:nvSpPr>
        <p:spPr>
          <a:xfrm>
            <a:off x="2230697" y="2791884"/>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73D3641-E841-B505-EA29-E6CE92C81761}"/>
                  </a:ext>
                </a:extLst>
              </p:cNvPr>
              <p:cNvSpPr txBox="1"/>
              <p:nvPr/>
            </p:nvSpPr>
            <p:spPr>
              <a:xfrm>
                <a:off x="2275425" y="2791884"/>
                <a:ext cx="409984"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solidFill>
                                <a:srgbClr val="FF0000"/>
                              </a:solidFill>
                              <a:latin typeface="Cambria Math" panose="02040503050406030204" pitchFamily="18" charset="0"/>
                            </a:rPr>
                            <m:t>𝑘</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1</m:t>
                              </m:r>
                            </m:sub>
                          </m:sSub>
                        </m:e>
                      </m:d>
                    </m:oMath>
                  </m:oMathPara>
                </a14:m>
                <a:endParaRPr lang="vi-VN" sz="1000"/>
              </a:p>
            </p:txBody>
          </p:sp>
        </mc:Choice>
        <mc:Fallback xmlns="">
          <p:sp>
            <p:nvSpPr>
              <p:cNvPr id="61" name="TextBox 60">
                <a:extLst>
                  <a:ext uri="{FF2B5EF4-FFF2-40B4-BE49-F238E27FC236}">
                    <a16:creationId xmlns:a16="http://schemas.microsoft.com/office/drawing/2014/main" id="{673D3641-E841-B505-EA29-E6CE92C81761}"/>
                  </a:ext>
                </a:extLst>
              </p:cNvPr>
              <p:cNvSpPr txBox="1">
                <a:spLocks noRot="1" noChangeAspect="1" noMove="1" noResize="1" noEditPoints="1" noAdjustHandles="1" noChangeArrowheads="1" noChangeShapeType="1" noTextEdit="1"/>
              </p:cNvSpPr>
              <p:nvPr/>
            </p:nvSpPr>
            <p:spPr>
              <a:xfrm>
                <a:off x="2275425" y="2791884"/>
                <a:ext cx="409984" cy="153888"/>
              </a:xfrm>
              <a:prstGeom prst="rect">
                <a:avLst/>
              </a:prstGeom>
              <a:blipFill>
                <a:blip r:embed="rId18"/>
                <a:stretch>
                  <a:fillRect l="-5882" b="-16000"/>
                </a:stretch>
              </a:blipFill>
            </p:spPr>
            <p:txBody>
              <a:bodyPr/>
              <a:lstStyle/>
              <a:p>
                <a:r>
                  <a:rPr lang="vi-VN">
                    <a:noFill/>
                  </a:rPr>
                  <a:t> </a:t>
                </a:r>
              </a:p>
            </p:txBody>
          </p:sp>
        </mc:Fallback>
      </mc:AlternateContent>
      <p:sp>
        <p:nvSpPr>
          <p:cNvPr id="62" name="Rectangle 61">
            <a:extLst>
              <a:ext uri="{FF2B5EF4-FFF2-40B4-BE49-F238E27FC236}">
                <a16:creationId xmlns:a16="http://schemas.microsoft.com/office/drawing/2014/main" id="{F99CD84A-B270-FC32-A6FD-A4BF6D5D794D}"/>
              </a:ext>
            </a:extLst>
          </p:cNvPr>
          <p:cNvSpPr/>
          <p:nvPr/>
        </p:nvSpPr>
        <p:spPr>
          <a:xfrm>
            <a:off x="2230697" y="2504157"/>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2D79AAA4-281B-058E-5800-D425689A872B}"/>
                  </a:ext>
                </a:extLst>
              </p:cNvPr>
              <p:cNvSpPr txBox="1"/>
              <p:nvPr/>
            </p:nvSpPr>
            <p:spPr>
              <a:xfrm>
                <a:off x="2275425" y="2504157"/>
                <a:ext cx="412934"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solidFill>
                                <a:srgbClr val="FF0000"/>
                              </a:solidFill>
                              <a:latin typeface="Cambria Math" panose="02040503050406030204" pitchFamily="18" charset="0"/>
                            </a:rPr>
                            <m:t>𝑘</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0</m:t>
                              </m:r>
                            </m:sub>
                          </m:sSub>
                        </m:e>
                      </m:d>
                    </m:oMath>
                  </m:oMathPara>
                </a14:m>
                <a:endParaRPr lang="vi-VN" sz="1000"/>
              </a:p>
            </p:txBody>
          </p:sp>
        </mc:Choice>
        <mc:Fallback xmlns="">
          <p:sp>
            <p:nvSpPr>
              <p:cNvPr id="63" name="TextBox 62">
                <a:extLst>
                  <a:ext uri="{FF2B5EF4-FFF2-40B4-BE49-F238E27FC236}">
                    <a16:creationId xmlns:a16="http://schemas.microsoft.com/office/drawing/2014/main" id="{2D79AAA4-281B-058E-5800-D425689A872B}"/>
                  </a:ext>
                </a:extLst>
              </p:cNvPr>
              <p:cNvSpPr txBox="1">
                <a:spLocks noRot="1" noChangeAspect="1" noMove="1" noResize="1" noEditPoints="1" noAdjustHandles="1" noChangeArrowheads="1" noChangeShapeType="1" noTextEdit="1"/>
              </p:cNvSpPr>
              <p:nvPr/>
            </p:nvSpPr>
            <p:spPr>
              <a:xfrm>
                <a:off x="2275425" y="2504157"/>
                <a:ext cx="412934" cy="153888"/>
              </a:xfrm>
              <a:prstGeom prst="rect">
                <a:avLst/>
              </a:prstGeom>
              <a:blipFill>
                <a:blip r:embed="rId19"/>
                <a:stretch>
                  <a:fillRect l="-5882" b="-16000"/>
                </a:stretch>
              </a:blipFill>
            </p:spPr>
            <p:txBody>
              <a:bodyPr/>
              <a:lstStyle/>
              <a:p>
                <a:r>
                  <a:rPr lang="vi-VN">
                    <a:noFill/>
                  </a:rPr>
                  <a:t> </a:t>
                </a:r>
              </a:p>
            </p:txBody>
          </p:sp>
        </mc:Fallback>
      </mc:AlternateContent>
      <p:cxnSp>
        <p:nvCxnSpPr>
          <p:cNvPr id="70" name="Đường nối Thẳng 67">
            <a:extLst>
              <a:ext uri="{FF2B5EF4-FFF2-40B4-BE49-F238E27FC236}">
                <a16:creationId xmlns:a16="http://schemas.microsoft.com/office/drawing/2014/main" id="{6B03F79A-C5C5-FD6E-3DF4-B151B282D2BE}"/>
              </a:ext>
            </a:extLst>
          </p:cNvPr>
          <p:cNvCxnSpPr>
            <a:cxnSpLocks/>
            <a:stCxn id="72" idx="0"/>
            <a:endCxn id="71" idx="4"/>
          </p:cNvCxnSpPr>
          <p:nvPr/>
        </p:nvCxnSpPr>
        <p:spPr>
          <a:xfrm flipV="1">
            <a:off x="2859873" y="2635892"/>
            <a:ext cx="0" cy="2031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71" name="Hình Bầu dục 68">
            <a:extLst>
              <a:ext uri="{FF2B5EF4-FFF2-40B4-BE49-F238E27FC236}">
                <a16:creationId xmlns:a16="http://schemas.microsoft.com/office/drawing/2014/main" id="{1B9462C0-F27F-59D3-D79C-E3EDB94D896D}"/>
              </a:ext>
            </a:extLst>
          </p:cNvPr>
          <p:cNvSpPr/>
          <p:nvPr/>
        </p:nvSpPr>
        <p:spPr>
          <a:xfrm>
            <a:off x="2812815" y="2553013"/>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72" name="Hình Bầu dục 68">
            <a:extLst>
              <a:ext uri="{FF2B5EF4-FFF2-40B4-BE49-F238E27FC236}">
                <a16:creationId xmlns:a16="http://schemas.microsoft.com/office/drawing/2014/main" id="{4E5EC21A-97FD-E638-F7D8-A5192ABF687D}"/>
              </a:ext>
            </a:extLst>
          </p:cNvPr>
          <p:cNvSpPr/>
          <p:nvPr/>
        </p:nvSpPr>
        <p:spPr>
          <a:xfrm>
            <a:off x="2812815" y="2839076"/>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73" name="Đường nối Thẳng 67">
            <a:extLst>
              <a:ext uri="{FF2B5EF4-FFF2-40B4-BE49-F238E27FC236}">
                <a16:creationId xmlns:a16="http://schemas.microsoft.com/office/drawing/2014/main" id="{EC8CD978-67C8-574D-AA5F-A98D0A712F19}"/>
              </a:ext>
            </a:extLst>
          </p:cNvPr>
          <p:cNvCxnSpPr>
            <a:cxnSpLocks/>
            <a:stCxn id="75" idx="0"/>
            <a:endCxn id="74" idx="4"/>
          </p:cNvCxnSpPr>
          <p:nvPr/>
        </p:nvCxnSpPr>
        <p:spPr>
          <a:xfrm flipV="1">
            <a:off x="3128588" y="2923516"/>
            <a:ext cx="0" cy="2031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74" name="Hình Bầu dục 68">
            <a:extLst>
              <a:ext uri="{FF2B5EF4-FFF2-40B4-BE49-F238E27FC236}">
                <a16:creationId xmlns:a16="http://schemas.microsoft.com/office/drawing/2014/main" id="{1268D159-7FDE-2DB3-61E1-DB4FF5E75C65}"/>
              </a:ext>
            </a:extLst>
          </p:cNvPr>
          <p:cNvSpPr/>
          <p:nvPr/>
        </p:nvSpPr>
        <p:spPr>
          <a:xfrm>
            <a:off x="3081530" y="2840637"/>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75" name="Hình Bầu dục 68">
            <a:extLst>
              <a:ext uri="{FF2B5EF4-FFF2-40B4-BE49-F238E27FC236}">
                <a16:creationId xmlns:a16="http://schemas.microsoft.com/office/drawing/2014/main" id="{DAF128AE-460E-3A5B-97DF-B1B56BA4057A}"/>
              </a:ext>
            </a:extLst>
          </p:cNvPr>
          <p:cNvSpPr/>
          <p:nvPr/>
        </p:nvSpPr>
        <p:spPr>
          <a:xfrm>
            <a:off x="3081530" y="3126700"/>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76" name="Double Bracket 75">
            <a:extLst>
              <a:ext uri="{FF2B5EF4-FFF2-40B4-BE49-F238E27FC236}">
                <a16:creationId xmlns:a16="http://schemas.microsoft.com/office/drawing/2014/main" id="{7A932C49-985A-75BC-9E5D-65EB8EB3D249}"/>
              </a:ext>
            </a:extLst>
          </p:cNvPr>
          <p:cNvSpPr/>
          <p:nvPr/>
        </p:nvSpPr>
        <p:spPr>
          <a:xfrm>
            <a:off x="2151781" y="2403122"/>
            <a:ext cx="1109249" cy="958947"/>
          </a:xfrm>
          <a:prstGeom prst="bracketPair">
            <a:avLst>
              <a:gd name="adj" fmla="val 8375"/>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A8566A89-B27D-989A-F887-984D3B9BD3F0}"/>
                  </a:ext>
                </a:extLst>
              </p:cNvPr>
              <p:cNvSpPr txBox="1"/>
              <p:nvPr/>
            </p:nvSpPr>
            <p:spPr>
              <a:xfrm>
                <a:off x="3320364" y="3264883"/>
                <a:ext cx="22666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m:t>
                      </m:r>
                      <m:r>
                        <a:rPr lang="en-US" sz="1000" b="0" i="1" smtClean="0">
                          <a:latin typeface="Cambria Math" panose="02040503050406030204" pitchFamily="18" charset="0"/>
                        </a:rPr>
                        <m:t>𝐿</m:t>
                      </m:r>
                    </m:oMath>
                  </m:oMathPara>
                </a14:m>
                <a:endParaRPr lang="vi-VN" sz="1000"/>
              </a:p>
            </p:txBody>
          </p:sp>
        </mc:Choice>
        <mc:Fallback xmlns="">
          <p:sp>
            <p:nvSpPr>
              <p:cNvPr id="77" name="TextBox 76">
                <a:extLst>
                  <a:ext uri="{FF2B5EF4-FFF2-40B4-BE49-F238E27FC236}">
                    <a16:creationId xmlns:a16="http://schemas.microsoft.com/office/drawing/2014/main" id="{A8566A89-B27D-989A-F887-984D3B9BD3F0}"/>
                  </a:ext>
                </a:extLst>
              </p:cNvPr>
              <p:cNvSpPr txBox="1">
                <a:spLocks noRot="1" noChangeAspect="1" noMove="1" noResize="1" noEditPoints="1" noAdjustHandles="1" noChangeArrowheads="1" noChangeShapeType="1" noTextEdit="1"/>
              </p:cNvSpPr>
              <p:nvPr/>
            </p:nvSpPr>
            <p:spPr>
              <a:xfrm>
                <a:off x="3320364" y="3264883"/>
                <a:ext cx="226665" cy="153888"/>
              </a:xfrm>
              <a:prstGeom prst="rect">
                <a:avLst/>
              </a:prstGeom>
              <a:blipFill>
                <a:blip r:embed="rId13"/>
                <a:stretch>
                  <a:fillRect l="-10811" r="-8108" b="-8000"/>
                </a:stretch>
              </a:blipFill>
            </p:spPr>
            <p:txBody>
              <a:bodyPr/>
              <a:lstStyle/>
              <a:p>
                <a:r>
                  <a:rPr lang="vi-VN">
                    <a:noFill/>
                  </a:rPr>
                  <a:t> </a:t>
                </a:r>
              </a:p>
            </p:txBody>
          </p:sp>
        </mc:Fallback>
      </mc:AlternateContent>
      <p:cxnSp>
        <p:nvCxnSpPr>
          <p:cNvPr id="79" name="Straight Arrow Connector 78">
            <a:extLst>
              <a:ext uri="{FF2B5EF4-FFF2-40B4-BE49-F238E27FC236}">
                <a16:creationId xmlns:a16="http://schemas.microsoft.com/office/drawing/2014/main" id="{709C0F28-56BD-DDA0-F4B6-ED2789E5F80F}"/>
              </a:ext>
            </a:extLst>
          </p:cNvPr>
          <p:cNvCxnSpPr>
            <a:cxnSpLocks/>
          </p:cNvCxnSpPr>
          <p:nvPr/>
        </p:nvCxnSpPr>
        <p:spPr>
          <a:xfrm>
            <a:off x="2591159" y="2192992"/>
            <a:ext cx="0" cy="263655"/>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81" name="TextBox 80">
            <a:extLst>
              <a:ext uri="{FF2B5EF4-FFF2-40B4-BE49-F238E27FC236}">
                <a16:creationId xmlns:a16="http://schemas.microsoft.com/office/drawing/2014/main" id="{C079111F-5201-0BA0-6548-35B4E1CE050D}"/>
              </a:ext>
            </a:extLst>
          </p:cNvPr>
          <p:cNvSpPr txBox="1"/>
          <p:nvPr/>
        </p:nvSpPr>
        <p:spPr>
          <a:xfrm>
            <a:off x="1547169" y="1915993"/>
            <a:ext cx="2396636" cy="276999"/>
          </a:xfrm>
          <a:prstGeom prst="rect">
            <a:avLst/>
          </a:prstGeom>
          <a:noFill/>
        </p:spPr>
        <p:txBody>
          <a:bodyPr wrap="square" rtlCol="0">
            <a:spAutoFit/>
          </a:bodyPr>
          <a:lstStyle/>
          <a:p>
            <a:r>
              <a:rPr lang="en-US" sz="1200"/>
              <a:t>Hardware-effecitent ansatz (HEA)</a:t>
            </a:r>
            <a:endParaRPr lang="vi-VN" sz="1200"/>
          </a:p>
        </p:txBody>
      </p:sp>
      <p:sp>
        <p:nvSpPr>
          <p:cNvPr id="86" name="TextBox 85">
            <a:extLst>
              <a:ext uri="{FF2B5EF4-FFF2-40B4-BE49-F238E27FC236}">
                <a16:creationId xmlns:a16="http://schemas.microsoft.com/office/drawing/2014/main" id="{AAD2259D-7B51-4A5A-63E8-B7CE91094CFF}"/>
              </a:ext>
            </a:extLst>
          </p:cNvPr>
          <p:cNvSpPr txBox="1"/>
          <p:nvPr/>
        </p:nvSpPr>
        <p:spPr>
          <a:xfrm>
            <a:off x="1508087" y="3402908"/>
            <a:ext cx="2396636" cy="276999"/>
          </a:xfrm>
          <a:prstGeom prst="rect">
            <a:avLst/>
          </a:prstGeom>
          <a:noFill/>
        </p:spPr>
        <p:txBody>
          <a:bodyPr wrap="square" rtlCol="0">
            <a:spAutoFit/>
          </a:bodyPr>
          <a:lstStyle/>
          <a:p>
            <a:r>
              <a:rPr lang="en-US" sz="1200">
                <a:solidFill>
                  <a:srgbClr val="FF0000"/>
                </a:solidFill>
              </a:rPr>
              <a:t>Random</a:t>
            </a:r>
            <a:r>
              <a:rPr lang="en-US" sz="1200"/>
              <a:t> Pauli ansatz (RPA)</a:t>
            </a:r>
            <a:endParaRPr lang="vi-VN" sz="12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09160835-2E56-5AFD-124B-ADFB2C4BEAB9}"/>
                  </a:ext>
                </a:extLst>
              </p:cNvPr>
              <p:cNvSpPr txBox="1"/>
              <p:nvPr/>
            </p:nvSpPr>
            <p:spPr>
              <a:xfrm>
                <a:off x="1850696" y="3900811"/>
                <a:ext cx="810924" cy="276999"/>
              </a:xfrm>
              <a:prstGeom prst="rect">
                <a:avLst/>
              </a:prstGeom>
              <a:noFill/>
            </p:spPr>
            <p:txBody>
              <a:bodyPr wrap="square" rtlCol="0">
                <a:spAutoFit/>
              </a:bodyPr>
              <a:lstStyle/>
              <a:p>
                <a:r>
                  <a:rPr lang="en-US" sz="1200">
                    <a:solidFill>
                      <a:schemeClr val="tx1"/>
                    </a:solidFill>
                  </a:rPr>
                  <a:t>Init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𝑈</m:t>
                        </m:r>
                      </m:e>
                      <m:sub>
                        <m:r>
                          <a:rPr lang="en-US" sz="1200" b="0" i="1" smtClean="0">
                            <a:solidFill>
                              <a:schemeClr val="tx1"/>
                            </a:solidFill>
                            <a:latin typeface="Cambria Math" panose="02040503050406030204" pitchFamily="18" charset="0"/>
                          </a:rPr>
                          <m:t>𝑡</m:t>
                        </m:r>
                      </m:sub>
                    </m:sSub>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𝜃</m:t>
                        </m:r>
                      </m:e>
                    </m:d>
                  </m:oMath>
                </a14:m>
                <a:endParaRPr lang="vi-VN" sz="1200">
                  <a:solidFill>
                    <a:schemeClr val="tx1"/>
                  </a:solidFill>
                </a:endParaRPr>
              </a:p>
            </p:txBody>
          </p:sp>
        </mc:Choice>
        <mc:Fallback xmlns="">
          <p:sp>
            <p:nvSpPr>
              <p:cNvPr id="87" name="TextBox 86">
                <a:extLst>
                  <a:ext uri="{FF2B5EF4-FFF2-40B4-BE49-F238E27FC236}">
                    <a16:creationId xmlns:a16="http://schemas.microsoft.com/office/drawing/2014/main" id="{09160835-2E56-5AFD-124B-ADFB2C4BEAB9}"/>
                  </a:ext>
                </a:extLst>
              </p:cNvPr>
              <p:cNvSpPr txBox="1">
                <a:spLocks noRot="1" noChangeAspect="1" noMove="1" noResize="1" noEditPoints="1" noAdjustHandles="1" noChangeArrowheads="1" noChangeShapeType="1" noTextEdit="1"/>
              </p:cNvSpPr>
              <p:nvPr/>
            </p:nvSpPr>
            <p:spPr>
              <a:xfrm>
                <a:off x="1850696" y="3900811"/>
                <a:ext cx="810924" cy="276999"/>
              </a:xfrm>
              <a:prstGeom prst="rect">
                <a:avLst/>
              </a:prstGeom>
              <a:blipFill>
                <a:blip r:embed="rId20"/>
                <a:stretch>
                  <a:fillRect l="-752" b="-20000"/>
                </a:stretch>
              </a:blipFill>
            </p:spPr>
            <p:txBody>
              <a:bodyPr/>
              <a:lstStyle/>
              <a:p>
                <a:r>
                  <a:rPr lang="vi-VN">
                    <a:noFill/>
                  </a:rPr>
                  <a:t> </a:t>
                </a:r>
              </a:p>
            </p:txBody>
          </p:sp>
        </mc:Fallback>
      </mc:AlternateContent>
      <p:cxnSp>
        <p:nvCxnSpPr>
          <p:cNvPr id="88" name="Straight Arrow Connector 87">
            <a:extLst>
              <a:ext uri="{FF2B5EF4-FFF2-40B4-BE49-F238E27FC236}">
                <a16:creationId xmlns:a16="http://schemas.microsoft.com/office/drawing/2014/main" id="{9B08BC42-1661-5584-CA44-9DD7DB1DA055}"/>
              </a:ext>
            </a:extLst>
          </p:cNvPr>
          <p:cNvCxnSpPr>
            <a:cxnSpLocks/>
          </p:cNvCxnSpPr>
          <p:nvPr/>
        </p:nvCxnSpPr>
        <p:spPr>
          <a:xfrm>
            <a:off x="2241371" y="3666655"/>
            <a:ext cx="0" cy="263655"/>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7C4C86F2-CD22-C75A-3768-CCF789FDA395}"/>
                  </a:ext>
                </a:extLst>
              </p:cNvPr>
              <p:cNvSpPr txBox="1"/>
              <p:nvPr/>
            </p:nvSpPr>
            <p:spPr>
              <a:xfrm>
                <a:off x="3244748" y="3854628"/>
                <a:ext cx="1086568" cy="367088"/>
              </a:xfrm>
              <a:prstGeom prst="rect">
                <a:avLst/>
              </a:prstGeom>
              <a:noFill/>
            </p:spPr>
            <p:txBody>
              <a:bodyPr wrap="square" rtlCol="0">
                <a:spAutoFit/>
              </a:bodyPr>
              <a:lstStyle/>
              <a:p>
                <a:r>
                  <a:rPr lang="en-US" sz="1200">
                    <a:solidFill>
                      <a:schemeClr val="tx1"/>
                    </a:solidFill>
                  </a:rPr>
                  <a:t>Check </a:t>
                </a:r>
                <a14:m>
                  <m:oMath xmlns:m="http://schemas.openxmlformats.org/officeDocument/2006/math">
                    <m:d>
                      <m:dPr>
                        <m:begChr m:val="{"/>
                        <m:endChr m:val="}"/>
                        <m:ctrlPr>
                          <a:rPr lang="en-US" sz="1200" b="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m:t>
                            </m:r>
                          </m:e>
                          <m:sub>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𝜃</m:t>
                                </m:r>
                              </m:e>
                              <m:sub>
                                <m:r>
                                  <a:rPr lang="en-US" sz="1200" b="0" i="1" smtClean="0">
                                    <a:solidFill>
                                      <a:schemeClr val="tx1"/>
                                    </a:solidFill>
                                    <a:latin typeface="Cambria Math" panose="02040503050406030204" pitchFamily="18" charset="0"/>
                                  </a:rPr>
                                  <m:t>𝑗</m:t>
                                </m:r>
                              </m:sub>
                            </m:sSub>
                          </m:sub>
                        </m:sSub>
                        <m:r>
                          <a:rPr lang="en-US" sz="1200" i="1">
                            <a:latin typeface="Cambria Math" panose="02040503050406030204" pitchFamily="18" charset="0"/>
                          </a:rPr>
                          <m:t>𝐶</m:t>
                        </m:r>
                      </m:e>
                    </m:d>
                  </m:oMath>
                </a14:m>
                <a:endParaRPr lang="vi-VN" sz="1200">
                  <a:solidFill>
                    <a:schemeClr val="tx1"/>
                  </a:solidFill>
                </a:endParaRPr>
              </a:p>
            </p:txBody>
          </p:sp>
        </mc:Choice>
        <mc:Fallback xmlns="">
          <p:sp>
            <p:nvSpPr>
              <p:cNvPr id="89" name="TextBox 88">
                <a:extLst>
                  <a:ext uri="{FF2B5EF4-FFF2-40B4-BE49-F238E27FC236}">
                    <a16:creationId xmlns:a16="http://schemas.microsoft.com/office/drawing/2014/main" id="{7C4C86F2-CD22-C75A-3768-CCF789FDA395}"/>
                  </a:ext>
                </a:extLst>
              </p:cNvPr>
              <p:cNvSpPr txBox="1">
                <a:spLocks noRot="1" noChangeAspect="1" noMove="1" noResize="1" noEditPoints="1" noAdjustHandles="1" noChangeArrowheads="1" noChangeShapeType="1" noTextEdit="1"/>
              </p:cNvSpPr>
              <p:nvPr/>
            </p:nvSpPr>
            <p:spPr>
              <a:xfrm>
                <a:off x="3244748" y="3854628"/>
                <a:ext cx="1086568" cy="367088"/>
              </a:xfrm>
              <a:prstGeom prst="rect">
                <a:avLst/>
              </a:prstGeom>
              <a:blipFill>
                <a:blip r:embed="rId21"/>
                <a:stretch>
                  <a:fillRect/>
                </a:stretch>
              </a:blipFill>
            </p:spPr>
            <p:txBody>
              <a:bodyPr/>
              <a:lstStyle/>
              <a:p>
                <a:r>
                  <a:rPr lang="vi-VN">
                    <a:noFill/>
                  </a:rPr>
                  <a:t> </a:t>
                </a:r>
              </a:p>
            </p:txBody>
          </p:sp>
        </mc:Fallback>
      </mc:AlternateContent>
      <p:cxnSp>
        <p:nvCxnSpPr>
          <p:cNvPr id="90" name="Straight Arrow Connector 89">
            <a:extLst>
              <a:ext uri="{FF2B5EF4-FFF2-40B4-BE49-F238E27FC236}">
                <a16:creationId xmlns:a16="http://schemas.microsoft.com/office/drawing/2014/main" id="{AFCD32E5-A84B-07BF-4207-0E37C4C6207A}"/>
              </a:ext>
            </a:extLst>
          </p:cNvPr>
          <p:cNvCxnSpPr>
            <a:cxnSpLocks/>
            <a:stCxn id="87" idx="3"/>
            <a:endCxn id="89" idx="1"/>
          </p:cNvCxnSpPr>
          <p:nvPr/>
        </p:nvCxnSpPr>
        <p:spPr>
          <a:xfrm flipV="1">
            <a:off x="2661620" y="4038172"/>
            <a:ext cx="583128" cy="1139"/>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4CF60A8-43D0-D577-62AC-55EE80255826}"/>
                  </a:ext>
                </a:extLst>
              </p:cNvPr>
              <p:cNvSpPr txBox="1"/>
              <p:nvPr/>
            </p:nvSpPr>
            <p:spPr>
              <a:xfrm>
                <a:off x="3547029" y="4404910"/>
                <a:ext cx="910297" cy="313676"/>
              </a:xfrm>
              <a:prstGeom prst="rect">
                <a:avLst/>
              </a:prstGeom>
              <a:noFill/>
            </p:spPr>
            <p:txBody>
              <a:bodyPr wrap="square" rtlCol="0">
                <a:spAutoFit/>
              </a:bodyPr>
              <a:lstStyle/>
              <a:p>
                <a:r>
                  <a:rPr lang="en-US" sz="1200">
                    <a:solidFill>
                      <a:schemeClr val="tx1"/>
                    </a:solidFill>
                  </a:rPr>
                  <a:t>Any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m:t>
                        </m:r>
                      </m:e>
                      <m:sub>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𝜃</m:t>
                            </m:r>
                          </m:e>
                          <m:sub>
                            <m:r>
                              <a:rPr lang="en-US" sz="1200" b="0" i="1" smtClean="0">
                                <a:solidFill>
                                  <a:schemeClr val="tx1"/>
                                </a:solidFill>
                                <a:latin typeface="Cambria Math" panose="02040503050406030204" pitchFamily="18" charset="0"/>
                              </a:rPr>
                              <m:t>𝑗</m:t>
                            </m:r>
                          </m:sub>
                        </m:sSub>
                      </m:sub>
                    </m:sSub>
                    <m:r>
                      <a:rPr lang="en-US" sz="1200" i="1">
                        <a:latin typeface="Cambria Math" panose="02040503050406030204" pitchFamily="18" charset="0"/>
                      </a:rPr>
                      <m:t>𝐶</m:t>
                    </m:r>
                  </m:oMath>
                </a14:m>
                <a:r>
                  <a:rPr lang="en-US" sz="1200">
                    <a:solidFill>
                      <a:schemeClr val="tx1"/>
                    </a:solidFill>
                  </a:rPr>
                  <a:t>? </a:t>
                </a:r>
                <a:endParaRPr lang="vi-VN" sz="1200">
                  <a:solidFill>
                    <a:schemeClr val="tx1"/>
                  </a:solidFill>
                </a:endParaRPr>
              </a:p>
            </p:txBody>
          </p:sp>
        </mc:Choice>
        <mc:Fallback xmlns="">
          <p:sp>
            <p:nvSpPr>
              <p:cNvPr id="93" name="TextBox 92">
                <a:extLst>
                  <a:ext uri="{FF2B5EF4-FFF2-40B4-BE49-F238E27FC236}">
                    <a16:creationId xmlns:a16="http://schemas.microsoft.com/office/drawing/2014/main" id="{54CF60A8-43D0-D577-62AC-55EE80255826}"/>
                  </a:ext>
                </a:extLst>
              </p:cNvPr>
              <p:cNvSpPr txBox="1">
                <a:spLocks noRot="1" noChangeAspect="1" noMove="1" noResize="1" noEditPoints="1" noAdjustHandles="1" noChangeArrowheads="1" noChangeShapeType="1" noTextEdit="1"/>
              </p:cNvSpPr>
              <p:nvPr/>
            </p:nvSpPr>
            <p:spPr>
              <a:xfrm>
                <a:off x="3547029" y="4404910"/>
                <a:ext cx="910297" cy="313676"/>
              </a:xfrm>
              <a:prstGeom prst="rect">
                <a:avLst/>
              </a:prstGeom>
              <a:blipFill>
                <a:blip r:embed="rId22"/>
                <a:stretch>
                  <a:fillRect l="-671" b="-588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439C8EE2-9027-61C2-A715-81D3F1885101}"/>
                  </a:ext>
                </a:extLst>
              </p:cNvPr>
              <p:cNvSpPr txBox="1"/>
              <p:nvPr/>
            </p:nvSpPr>
            <p:spPr>
              <a:xfrm>
                <a:off x="3433696" y="2299712"/>
                <a:ext cx="137442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FF0000"/>
                          </a:solidFill>
                          <a:latin typeface="Cambria Math" panose="02040503050406030204" pitchFamily="18" charset="0"/>
                        </a:rPr>
                        <m:t>𝑘</m:t>
                      </m:r>
                      <m:r>
                        <a:rPr lang="en-US" sz="1200" b="0" i="1" smtClean="0">
                          <a:solidFill>
                            <a:srgbClr val="FF0000"/>
                          </a:solidFill>
                          <a:latin typeface="Cambria Math" panose="02040503050406030204" pitchFamily="18" charset="0"/>
                        </a:rPr>
                        <m:t>∈</m:t>
                      </m:r>
                      <m:d>
                        <m:dPr>
                          <m:begChr m:val="{"/>
                          <m:endChr m:val="}"/>
                          <m:ctrlPr>
                            <a:rPr lang="en-US" sz="1200" b="0" i="1" smtClean="0">
                              <a:solidFill>
                                <a:srgbClr val="FF0000"/>
                              </a:solidFill>
                              <a:latin typeface="Cambria Math" panose="02040503050406030204" pitchFamily="18" charset="0"/>
                            </a:rPr>
                          </m:ctrlPr>
                        </m:dPr>
                        <m:e>
                          <m:r>
                            <a:rPr lang="en-US" sz="1200" b="0" i="1" smtClean="0">
                              <a:solidFill>
                                <a:srgbClr val="FF0000"/>
                              </a:solidFill>
                              <a:latin typeface="Cambria Math" panose="02040503050406030204" pitchFamily="18" charset="0"/>
                            </a:rPr>
                            <m:t>𝑋</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𝑌</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𝑍</m:t>
                          </m:r>
                        </m:e>
                      </m:d>
                    </m:oMath>
                  </m:oMathPara>
                </a14:m>
                <a:endParaRPr lang="vi-VN" sz="1200"/>
              </a:p>
            </p:txBody>
          </p:sp>
        </mc:Choice>
        <mc:Fallback xmlns="">
          <p:sp>
            <p:nvSpPr>
              <p:cNvPr id="95" name="TextBox 94">
                <a:extLst>
                  <a:ext uri="{FF2B5EF4-FFF2-40B4-BE49-F238E27FC236}">
                    <a16:creationId xmlns:a16="http://schemas.microsoft.com/office/drawing/2014/main" id="{439C8EE2-9027-61C2-A715-81D3F1885101}"/>
                  </a:ext>
                </a:extLst>
              </p:cNvPr>
              <p:cNvSpPr txBox="1">
                <a:spLocks noRot="1" noChangeAspect="1" noMove="1" noResize="1" noEditPoints="1" noAdjustHandles="1" noChangeArrowheads="1" noChangeShapeType="1" noTextEdit="1"/>
              </p:cNvSpPr>
              <p:nvPr/>
            </p:nvSpPr>
            <p:spPr>
              <a:xfrm>
                <a:off x="3433696" y="2299712"/>
                <a:ext cx="1374422" cy="276999"/>
              </a:xfrm>
              <a:prstGeom prst="rect">
                <a:avLst/>
              </a:prstGeom>
              <a:blipFill>
                <a:blip r:embed="rId23"/>
                <a:stretch>
                  <a:fillRect/>
                </a:stretch>
              </a:blipFill>
            </p:spPr>
            <p:txBody>
              <a:bodyPr/>
              <a:lstStyle/>
              <a:p>
                <a:r>
                  <a:rPr lang="vi-VN">
                    <a:noFill/>
                  </a:rPr>
                  <a:t> </a:t>
                </a:r>
              </a:p>
            </p:txBody>
          </p:sp>
        </mc:Fallback>
      </mc:AlternateContent>
      <p:cxnSp>
        <p:nvCxnSpPr>
          <p:cNvPr id="96" name="Straight Arrow Connector 95">
            <a:extLst>
              <a:ext uri="{FF2B5EF4-FFF2-40B4-BE49-F238E27FC236}">
                <a16:creationId xmlns:a16="http://schemas.microsoft.com/office/drawing/2014/main" id="{B975FA6A-B760-EBF7-CA95-B2D7CA86AEA6}"/>
              </a:ext>
            </a:extLst>
          </p:cNvPr>
          <p:cNvCxnSpPr>
            <a:cxnSpLocks/>
            <a:stCxn id="89" idx="2"/>
          </p:cNvCxnSpPr>
          <p:nvPr/>
        </p:nvCxnSpPr>
        <p:spPr>
          <a:xfrm>
            <a:off x="3788032" y="4221716"/>
            <a:ext cx="0" cy="206817"/>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EB6431DF-CD21-8B04-3480-B45511828203}"/>
                  </a:ext>
                </a:extLst>
              </p:cNvPr>
              <p:cNvSpPr txBox="1"/>
              <p:nvPr/>
            </p:nvSpPr>
            <p:spPr>
              <a:xfrm>
                <a:off x="1334854" y="4407712"/>
                <a:ext cx="1843152" cy="305084"/>
              </a:xfrm>
              <a:prstGeom prst="rect">
                <a:avLst/>
              </a:prstGeom>
              <a:noFill/>
            </p:spPr>
            <p:txBody>
              <a:bodyPr wrap="square">
                <a:spAutoFit/>
              </a:bodyPr>
              <a:lstStyle/>
              <a:p>
                <a:r>
                  <a:rPr lang="en-US" sz="1200"/>
                  <a:t>R</a:t>
                </a:r>
                <a:r>
                  <a:rPr lang="en-US" sz="1200">
                    <a:solidFill>
                      <a:schemeClr val="tx1"/>
                    </a:solidFill>
                  </a:rPr>
                  <a:t>eplace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𝑅</m:t>
                        </m:r>
                      </m:e>
                      <m:sub>
                        <m:r>
                          <a:rPr lang="en-US" sz="1200" b="0" i="1" smtClean="0">
                            <a:solidFill>
                              <a:schemeClr val="tx1"/>
                            </a:solidFill>
                            <a:latin typeface="Cambria Math" panose="02040503050406030204" pitchFamily="18" charset="0"/>
                          </a:rPr>
                          <m:t>𝑘</m:t>
                        </m:r>
                      </m:sub>
                    </m:sSub>
                    <m:d>
                      <m:dPr>
                        <m:ctrlPr>
                          <a:rPr lang="en-US" sz="1200" b="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𝜃</m:t>
                            </m:r>
                          </m:e>
                          <m:sub>
                            <m:r>
                              <a:rPr lang="en-US" sz="1200" b="0" i="1" smtClean="0">
                                <a:solidFill>
                                  <a:schemeClr val="tx1"/>
                                </a:solidFill>
                                <a:latin typeface="Cambria Math" panose="02040503050406030204" pitchFamily="18" charset="0"/>
                              </a:rPr>
                              <m:t>𝑗</m:t>
                            </m:r>
                          </m:sub>
                        </m:sSub>
                      </m:e>
                    </m:d>
                  </m:oMath>
                </a14:m>
                <a:r>
                  <a:rPr lang="en-US" sz="1200">
                    <a:solidFill>
                      <a:schemeClr val="tx1"/>
                    </a:solidFill>
                  </a:rPr>
                  <a:t> by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𝑘</m:t>
                        </m:r>
                        <m:r>
                          <a:rPr lang="en-US" sz="1200" b="0" i="1" smtClean="0">
                            <a:latin typeface="Cambria Math" panose="02040503050406030204" pitchFamily="18" charset="0"/>
                          </a:rPr>
                          <m:t>′</m:t>
                        </m:r>
                      </m:sub>
                    </m:sSub>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𝜃</m:t>
                            </m:r>
                          </m:e>
                          <m:sub>
                            <m:r>
                              <a:rPr lang="en-US" sz="1200" i="1">
                                <a:latin typeface="Cambria Math" panose="02040503050406030204" pitchFamily="18" charset="0"/>
                              </a:rPr>
                              <m:t>𝑗</m:t>
                            </m:r>
                          </m:sub>
                        </m:sSub>
                      </m:e>
                    </m:d>
                  </m:oMath>
                </a14:m>
                <a:endParaRPr lang="vi-VN" sz="1200"/>
              </a:p>
            </p:txBody>
          </p:sp>
        </mc:Choice>
        <mc:Fallback xmlns="">
          <p:sp>
            <p:nvSpPr>
              <p:cNvPr id="101" name="TextBox 100">
                <a:extLst>
                  <a:ext uri="{FF2B5EF4-FFF2-40B4-BE49-F238E27FC236}">
                    <a16:creationId xmlns:a16="http://schemas.microsoft.com/office/drawing/2014/main" id="{EB6431DF-CD21-8B04-3480-B45511828203}"/>
                  </a:ext>
                </a:extLst>
              </p:cNvPr>
              <p:cNvSpPr txBox="1">
                <a:spLocks noRot="1" noChangeAspect="1" noMove="1" noResize="1" noEditPoints="1" noAdjustHandles="1" noChangeArrowheads="1" noChangeShapeType="1" noTextEdit="1"/>
              </p:cNvSpPr>
              <p:nvPr/>
            </p:nvSpPr>
            <p:spPr>
              <a:xfrm>
                <a:off x="1334854" y="4407712"/>
                <a:ext cx="1843152" cy="305084"/>
              </a:xfrm>
              <a:prstGeom prst="rect">
                <a:avLst/>
              </a:prstGeom>
              <a:blipFill>
                <a:blip r:embed="rId24"/>
                <a:stretch>
                  <a:fillRect l="-331" b="-12000"/>
                </a:stretch>
              </a:blipFill>
            </p:spPr>
            <p:txBody>
              <a:bodyPr/>
              <a:lstStyle/>
              <a:p>
                <a:r>
                  <a:rPr lang="vi-VN">
                    <a:noFill/>
                  </a:rPr>
                  <a:t> </a:t>
                </a:r>
              </a:p>
            </p:txBody>
          </p:sp>
        </mc:Fallback>
      </mc:AlternateContent>
      <p:cxnSp>
        <p:nvCxnSpPr>
          <p:cNvPr id="102" name="Straight Arrow Connector 101">
            <a:extLst>
              <a:ext uri="{FF2B5EF4-FFF2-40B4-BE49-F238E27FC236}">
                <a16:creationId xmlns:a16="http://schemas.microsoft.com/office/drawing/2014/main" id="{4B370B1B-B459-0AD8-E1DC-04EE68958F23}"/>
              </a:ext>
            </a:extLst>
          </p:cNvPr>
          <p:cNvCxnSpPr>
            <a:cxnSpLocks/>
            <a:stCxn id="93" idx="1"/>
            <a:endCxn id="101" idx="3"/>
          </p:cNvCxnSpPr>
          <p:nvPr/>
        </p:nvCxnSpPr>
        <p:spPr>
          <a:xfrm flipH="1" flipV="1">
            <a:off x="3178006" y="4560254"/>
            <a:ext cx="369023" cy="1494"/>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a:extLst>
              <a:ext uri="{FF2B5EF4-FFF2-40B4-BE49-F238E27FC236}">
                <a16:creationId xmlns:a16="http://schemas.microsoft.com/office/drawing/2014/main" id="{30E8D7D2-1204-01C0-8960-415AD3EFC8AF}"/>
              </a:ext>
            </a:extLst>
          </p:cNvPr>
          <p:cNvCxnSpPr>
            <a:cxnSpLocks/>
            <a:stCxn id="101" idx="0"/>
            <a:endCxn id="87" idx="2"/>
          </p:cNvCxnSpPr>
          <p:nvPr/>
        </p:nvCxnSpPr>
        <p:spPr>
          <a:xfrm flipH="1" flipV="1">
            <a:off x="2256158" y="4177810"/>
            <a:ext cx="272" cy="229902"/>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11" name="TextBox 110">
            <a:extLst>
              <a:ext uri="{FF2B5EF4-FFF2-40B4-BE49-F238E27FC236}">
                <a16:creationId xmlns:a16="http://schemas.microsoft.com/office/drawing/2014/main" id="{0E9C810F-0DAF-EE38-DF9C-B2FBE3A84C09}"/>
              </a:ext>
            </a:extLst>
          </p:cNvPr>
          <p:cNvSpPr txBox="1"/>
          <p:nvPr/>
        </p:nvSpPr>
        <p:spPr>
          <a:xfrm>
            <a:off x="2293226" y="4207449"/>
            <a:ext cx="515893" cy="215444"/>
          </a:xfrm>
          <a:prstGeom prst="rect">
            <a:avLst/>
          </a:prstGeom>
          <a:noFill/>
        </p:spPr>
        <p:txBody>
          <a:bodyPr wrap="square" rtlCol="0">
            <a:spAutoFit/>
          </a:bodyPr>
          <a:lstStyle/>
          <a:p>
            <a:r>
              <a:rPr lang="en-US" sz="800">
                <a:solidFill>
                  <a:schemeClr val="tx1"/>
                </a:solidFill>
              </a:rPr>
              <a:t>Update</a:t>
            </a:r>
            <a:endParaRPr lang="vi-VN" sz="800">
              <a:solidFill>
                <a:schemeClr val="tx1"/>
              </a:solidFill>
            </a:endParaRPr>
          </a:p>
        </p:txBody>
      </p:sp>
      <p:sp>
        <p:nvSpPr>
          <p:cNvPr id="112" name="TextBox 111">
            <a:extLst>
              <a:ext uri="{FF2B5EF4-FFF2-40B4-BE49-F238E27FC236}">
                <a16:creationId xmlns:a16="http://schemas.microsoft.com/office/drawing/2014/main" id="{53F5B68D-63F7-5C51-E9CF-BE247F0D2518}"/>
              </a:ext>
            </a:extLst>
          </p:cNvPr>
          <p:cNvSpPr txBox="1"/>
          <p:nvPr/>
        </p:nvSpPr>
        <p:spPr>
          <a:xfrm>
            <a:off x="3218537" y="4361350"/>
            <a:ext cx="431466" cy="215444"/>
          </a:xfrm>
          <a:prstGeom prst="rect">
            <a:avLst/>
          </a:prstGeom>
          <a:noFill/>
        </p:spPr>
        <p:txBody>
          <a:bodyPr wrap="square" rtlCol="0">
            <a:spAutoFit/>
          </a:bodyPr>
          <a:lstStyle/>
          <a:p>
            <a:r>
              <a:rPr lang="en-US" sz="800">
                <a:solidFill>
                  <a:srgbClr val="00B050"/>
                </a:solidFill>
              </a:rPr>
              <a:t>True</a:t>
            </a:r>
            <a:endParaRPr lang="vi-VN" sz="800">
              <a:solidFill>
                <a:srgbClr val="00B050"/>
              </a:solidFill>
            </a:endParaRPr>
          </a:p>
        </p:txBody>
      </p:sp>
      <p:cxnSp>
        <p:nvCxnSpPr>
          <p:cNvPr id="113" name="Straight Arrow Connector 112">
            <a:extLst>
              <a:ext uri="{FF2B5EF4-FFF2-40B4-BE49-F238E27FC236}">
                <a16:creationId xmlns:a16="http://schemas.microsoft.com/office/drawing/2014/main" id="{3CC049D1-5A44-8FF7-666C-9A384579CE06}"/>
              </a:ext>
            </a:extLst>
          </p:cNvPr>
          <p:cNvCxnSpPr>
            <a:cxnSpLocks/>
          </p:cNvCxnSpPr>
          <p:nvPr/>
        </p:nvCxnSpPr>
        <p:spPr>
          <a:xfrm>
            <a:off x="4331316" y="4539187"/>
            <a:ext cx="377556" cy="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16" name="TextBox 115">
            <a:extLst>
              <a:ext uri="{FF2B5EF4-FFF2-40B4-BE49-F238E27FC236}">
                <a16:creationId xmlns:a16="http://schemas.microsoft.com/office/drawing/2014/main" id="{1E8D476A-FB19-09C9-2825-C70BE58D3BAD}"/>
              </a:ext>
            </a:extLst>
          </p:cNvPr>
          <p:cNvSpPr txBox="1"/>
          <p:nvPr/>
        </p:nvSpPr>
        <p:spPr>
          <a:xfrm>
            <a:off x="4301461" y="4327303"/>
            <a:ext cx="524887" cy="215444"/>
          </a:xfrm>
          <a:prstGeom prst="rect">
            <a:avLst/>
          </a:prstGeom>
          <a:noFill/>
        </p:spPr>
        <p:txBody>
          <a:bodyPr wrap="square" rtlCol="0">
            <a:spAutoFit/>
          </a:bodyPr>
          <a:lstStyle/>
          <a:p>
            <a:r>
              <a:rPr lang="en-US" sz="800">
                <a:solidFill>
                  <a:srgbClr val="FF0000"/>
                </a:solidFill>
              </a:rPr>
              <a:t>False</a:t>
            </a:r>
            <a:endParaRPr lang="vi-VN" sz="800">
              <a:solidFill>
                <a:srgbClr val="FF0000"/>
              </a:solidFill>
            </a:endParaRPr>
          </a:p>
        </p:txBody>
      </p:sp>
      <p:sp>
        <p:nvSpPr>
          <p:cNvPr id="117" name="TextBox 116">
            <a:extLst>
              <a:ext uri="{FF2B5EF4-FFF2-40B4-BE49-F238E27FC236}">
                <a16:creationId xmlns:a16="http://schemas.microsoft.com/office/drawing/2014/main" id="{486059F3-24D1-552F-DA9E-5E95A6B52E1C}"/>
              </a:ext>
            </a:extLst>
          </p:cNvPr>
          <p:cNvSpPr txBox="1"/>
          <p:nvPr/>
        </p:nvSpPr>
        <p:spPr>
          <a:xfrm>
            <a:off x="4690115" y="4403416"/>
            <a:ext cx="473795" cy="276999"/>
          </a:xfrm>
          <a:prstGeom prst="rect">
            <a:avLst/>
          </a:prstGeom>
          <a:noFill/>
        </p:spPr>
        <p:txBody>
          <a:bodyPr wrap="square" rtlCol="0">
            <a:spAutoFit/>
          </a:bodyPr>
          <a:lstStyle/>
          <a:p>
            <a:r>
              <a:rPr lang="en-US" sz="1200">
                <a:solidFill>
                  <a:schemeClr val="tx1"/>
                </a:solidFill>
              </a:rPr>
              <a:t>End</a:t>
            </a:r>
            <a:endParaRPr lang="vi-VN" sz="1200">
              <a:solidFill>
                <a:schemeClr val="tx1"/>
              </a:solidFill>
            </a:endParaRPr>
          </a:p>
        </p:txBody>
      </p:sp>
      <p:sp>
        <p:nvSpPr>
          <p:cNvPr id="118" name="TextBox 117">
            <a:extLst>
              <a:ext uri="{FF2B5EF4-FFF2-40B4-BE49-F238E27FC236}">
                <a16:creationId xmlns:a16="http://schemas.microsoft.com/office/drawing/2014/main" id="{B97F80DA-754F-EBFF-84C3-0031F2DF982F}"/>
              </a:ext>
            </a:extLst>
          </p:cNvPr>
          <p:cNvSpPr txBox="1"/>
          <p:nvPr/>
        </p:nvSpPr>
        <p:spPr>
          <a:xfrm rot="16200000">
            <a:off x="-902762" y="2465250"/>
            <a:ext cx="3679974" cy="646331"/>
          </a:xfrm>
          <a:prstGeom prst="rect">
            <a:avLst/>
          </a:prstGeom>
          <a:noFill/>
        </p:spPr>
        <p:txBody>
          <a:bodyPr wrap="square" rtlCol="0">
            <a:spAutoFit/>
          </a:bodyPr>
          <a:lstStyle/>
          <a:p>
            <a:pPr algn="ctr"/>
            <a:r>
              <a:rPr lang="en-US"/>
              <a:t>Different ansatz affect strongly </a:t>
            </a:r>
          </a:p>
          <a:p>
            <a:pPr algn="ctr"/>
            <a:r>
              <a:rPr lang="en-US"/>
              <a:t>to the performance</a:t>
            </a:r>
            <a:endParaRPr lang="vi-VN"/>
          </a:p>
        </p:txBody>
      </p:sp>
      <p:sp>
        <p:nvSpPr>
          <p:cNvPr id="120" name="TextBox 119">
            <a:extLst>
              <a:ext uri="{FF2B5EF4-FFF2-40B4-BE49-F238E27FC236}">
                <a16:creationId xmlns:a16="http://schemas.microsoft.com/office/drawing/2014/main" id="{81F5CEF1-F871-C65C-B0C7-4BEC64E2B536}"/>
              </a:ext>
            </a:extLst>
          </p:cNvPr>
          <p:cNvSpPr txBox="1"/>
          <p:nvPr/>
        </p:nvSpPr>
        <p:spPr>
          <a:xfrm>
            <a:off x="628650" y="4730747"/>
            <a:ext cx="5039783" cy="400110"/>
          </a:xfrm>
          <a:prstGeom prst="rect">
            <a:avLst/>
          </a:prstGeom>
          <a:noFill/>
        </p:spPr>
        <p:txBody>
          <a:bodyPr wrap="square">
            <a:spAutoFit/>
          </a:bodyPr>
          <a:lstStyle/>
          <a:p>
            <a:r>
              <a:rPr lang="en-US" sz="100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[1.6.1]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Ho, L. B., Urbaneja, J., &amp; Ashhab, S. (2025). Statistical analysis of barren plateaus in variational quantum algorithms.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arXiv preprint arXiv:2508.08915</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a:t>
            </a:r>
            <a:endParaRPr lang="vi-VN" sz="10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98591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82649-CDD4-0022-1C17-9C8C06A987E3}"/>
              </a:ext>
            </a:extLst>
          </p:cNvPr>
          <p:cNvSpPr>
            <a:spLocks noGrp="1"/>
          </p:cNvSpPr>
          <p:nvPr>
            <p:ph type="title"/>
          </p:nvPr>
        </p:nvSpPr>
        <p:spPr>
          <a:xfrm>
            <a:off x="628650" y="0"/>
            <a:ext cx="6690408" cy="1104648"/>
          </a:xfrm>
        </p:spPr>
        <p:txBody>
          <a:bodyPr>
            <a:normAutofit/>
          </a:bodyPr>
          <a:lstStyle/>
          <a:p>
            <a:r>
              <a:rPr lang="en-US"/>
              <a:t>1.6. Additional informations</a:t>
            </a:r>
            <a:br>
              <a:rPr lang="en-US"/>
            </a:br>
            <a:r>
              <a:rPr lang="en-US" sz="2000"/>
              <a:t>Can we apply classical techniques into quantum optimization?</a:t>
            </a:r>
            <a:endParaRPr lang="vi-VN" sz="2000"/>
          </a:p>
        </p:txBody>
      </p:sp>
      <p:sp>
        <p:nvSpPr>
          <p:cNvPr id="4" name="Slide Number Placeholder 3">
            <a:extLst>
              <a:ext uri="{FF2B5EF4-FFF2-40B4-BE49-F238E27FC236}">
                <a16:creationId xmlns:a16="http://schemas.microsoft.com/office/drawing/2014/main" id="{671DD6A6-9418-A940-7EC4-AFCCF1C7E3C0}"/>
              </a:ext>
            </a:extLst>
          </p:cNvPr>
          <p:cNvSpPr>
            <a:spLocks noGrp="1"/>
          </p:cNvSpPr>
          <p:nvPr>
            <p:ph type="sldNum" sz="quarter" idx="12"/>
          </p:nvPr>
        </p:nvSpPr>
        <p:spPr>
          <a:xfrm>
            <a:off x="8115300" y="4369331"/>
            <a:ext cx="400050" cy="273844"/>
          </a:xfrm>
        </p:spPr>
        <p:txBody>
          <a:bodyPr/>
          <a:lstStyle/>
          <a:p>
            <a:fld id="{6A45828D-F580-42DE-B77E-860980F07F32}" type="slidenum">
              <a:rPr lang="vi-VN" smtClean="0"/>
              <a:t>19</a:t>
            </a:fld>
            <a:endParaRPr lang="vi-VN"/>
          </a:p>
        </p:txBody>
      </p:sp>
      <p:pic>
        <p:nvPicPr>
          <p:cNvPr id="6" name="Picture 5">
            <a:extLst>
              <a:ext uri="{FF2B5EF4-FFF2-40B4-BE49-F238E27FC236}">
                <a16:creationId xmlns:a16="http://schemas.microsoft.com/office/drawing/2014/main" id="{B0BD31EB-8CE8-DEC3-A913-40F648A04D85}"/>
              </a:ext>
            </a:extLst>
          </p:cNvPr>
          <p:cNvPicPr>
            <a:picLocks noChangeAspect="1"/>
          </p:cNvPicPr>
          <p:nvPr/>
        </p:nvPicPr>
        <p:blipFill>
          <a:blip r:embed="rId2"/>
          <a:stretch>
            <a:fillRect/>
          </a:stretch>
        </p:blipFill>
        <p:spPr>
          <a:xfrm>
            <a:off x="727251" y="2650068"/>
            <a:ext cx="5090686" cy="20955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85D2A25-05BE-A1A6-4E6A-16A6DED85D88}"/>
                  </a:ext>
                </a:extLst>
              </p:cNvPr>
              <p:cNvSpPr txBox="1"/>
              <p:nvPr/>
            </p:nvSpPr>
            <p:spPr>
              <a:xfrm>
                <a:off x="628649" y="1104648"/>
                <a:ext cx="8053917" cy="1550296"/>
              </a:xfrm>
              <a:prstGeom prst="rect">
                <a:avLst/>
              </a:prstGeom>
              <a:noFill/>
            </p:spPr>
            <p:txBody>
              <a:bodyPr wrap="square">
                <a:spAutoFit/>
              </a:bodyPr>
              <a:lstStyle/>
              <a:p>
                <a:r>
                  <a:rPr lang="en-US" sz="1800"/>
                  <a:t>Consider a set of </a:t>
                </a:r>
                <a14:m>
                  <m:oMath xmlns:m="http://schemas.openxmlformats.org/officeDocument/2006/math">
                    <m:r>
                      <a:rPr lang="en-US" sz="1800" i="1">
                        <a:latin typeface="Cambria Math" panose="02040503050406030204" pitchFamily="18" charset="0"/>
                      </a:rPr>
                      <m:t>𝐾</m:t>
                    </m:r>
                  </m:oMath>
                </a14:m>
                <a:r>
                  <a:rPr lang="en-US" sz="1800"/>
                  <a:t> optimization targets denoted as </a:t>
                </a:r>
                <a14:m>
                  <m:oMath xmlns:m="http://schemas.openxmlformats.org/officeDocument/2006/math">
                    <m:sSub>
                      <m:sSubPr>
                        <m:ctrlPr>
                          <a:rPr lang="vi-VN" sz="1800" b="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1</m:t>
                        </m:r>
                      </m:sub>
                    </m:sSub>
                    <m:r>
                      <a:rPr lang="en-US" sz="1800" i="1">
                        <a:latin typeface="Cambria Math" panose="02040503050406030204" pitchFamily="18" charset="0"/>
                      </a:rPr>
                      <m:t>, </m:t>
                    </m:r>
                    <m:sSub>
                      <m:sSubPr>
                        <m:ctrlPr>
                          <a:rPr lang="vi-VN" sz="1800" b="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2</m:t>
                        </m:r>
                      </m:sub>
                    </m:sSub>
                    <m:r>
                      <a:rPr lang="en-US" sz="1800" i="1">
                        <a:latin typeface="Cambria Math" panose="02040503050406030204" pitchFamily="18" charset="0"/>
                      </a:rPr>
                      <m:t>, </m:t>
                    </m:r>
                    <m:r>
                      <a:rPr lang="vi-VN" sz="1800" b="0" i="1">
                        <a:latin typeface="Cambria Math" panose="02040503050406030204" pitchFamily="18" charset="0"/>
                      </a:rPr>
                      <m:t>…,</m:t>
                    </m:r>
                    <m:sSub>
                      <m:sSubPr>
                        <m:ctrlPr>
                          <a:rPr lang="vi-VN" sz="1800" b="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𝐾</m:t>
                        </m:r>
                      </m:sub>
                    </m:sSub>
                    <m:r>
                      <a:rPr lang="en-US" sz="1800" i="1">
                        <a:latin typeface="Cambria Math" panose="02040503050406030204" pitchFamily="18" charset="0"/>
                      </a:rPr>
                      <m:t> </m:t>
                    </m:r>
                  </m:oMath>
                </a14:m>
                <a:r>
                  <a:rPr lang="en-US" sz="1800"/>
                  <a:t>, all defined over the same search space </a:t>
                </a:r>
                <a14:m>
                  <m:oMath xmlns:m="http://schemas.openxmlformats.org/officeDocument/2006/math">
                    <m:r>
                      <a:rPr lang="en-US" sz="1800" i="1">
                        <a:latin typeface="Cambria Math" panose="02040503050406030204" pitchFamily="18" charset="0"/>
                      </a:rPr>
                      <m:t>𝑆</m:t>
                    </m:r>
                  </m:oMath>
                </a14:m>
                <a:r>
                  <a:rPr lang="en-US" sz="1800"/>
                  <a:t>. Each target </a:t>
                </a:r>
                <a14:m>
                  <m:oMath xmlns:m="http://schemas.openxmlformats.org/officeDocument/2006/math">
                    <m:sSub>
                      <m:sSubPr>
                        <m:ctrlPr>
                          <a:rPr lang="vi-VN" sz="1800" b="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𝑘</m:t>
                        </m:r>
                      </m:sub>
                    </m:sSub>
                  </m:oMath>
                </a14:m>
                <a:r>
                  <a:rPr lang="en-US" sz="1800"/>
                  <a:t> is associated with its own cost function:</a:t>
                </a:r>
              </a:p>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𝐶</m:t>
                      </m:r>
                      <m:d>
                        <m:dPr>
                          <m:ctrlPr>
                            <a:rPr lang="en-US" sz="1800" i="1">
                              <a:latin typeface="Cambria Math" panose="02040503050406030204" pitchFamily="18" charset="0"/>
                            </a:rPr>
                          </m:ctrlPr>
                        </m:dPr>
                        <m:e>
                          <m:sSub>
                            <m:sSubPr>
                              <m:ctrlPr>
                                <a:rPr lang="vi-VN" sz="1800" b="0" i="1">
                                  <a:latin typeface="Cambria Math" panose="02040503050406030204" pitchFamily="18" charset="0"/>
                                </a:rPr>
                              </m:ctrlPr>
                            </m:sSubPr>
                            <m:e>
                              <m:r>
                                <a:rPr lang="vi-VN" sz="1800" b="0" i="1">
                                  <a:latin typeface="Cambria Math" panose="02040503050406030204" pitchFamily="18" charset="0"/>
                                </a:rPr>
                                <m:t>𝜃</m:t>
                              </m:r>
                            </m:e>
                            <m:sub>
                              <m:d>
                                <m:dPr>
                                  <m:ctrlPr>
                                    <a:rPr lang="vi-VN" sz="1800" b="0" i="1">
                                      <a:latin typeface="Cambria Math" panose="02040503050406030204" pitchFamily="18" charset="0"/>
                                    </a:rPr>
                                  </m:ctrlPr>
                                </m:dPr>
                                <m:e>
                                  <m:r>
                                    <a:rPr lang="vi-VN" sz="1800" b="0" i="1">
                                      <a:latin typeface="Cambria Math" panose="02040503050406030204" pitchFamily="18" charset="0"/>
                                    </a:rPr>
                                    <m:t>𝑘</m:t>
                                  </m:r>
                                </m:e>
                              </m:d>
                            </m:sub>
                          </m:sSub>
                        </m:e>
                      </m:d>
                      <m:r>
                        <a:rPr lang="en-US" sz="1800" i="1">
                          <a:latin typeface="Cambria Math" panose="02040503050406030204" pitchFamily="18" charset="0"/>
                        </a:rPr>
                        <m:t>: </m:t>
                      </m:r>
                      <m:sSup>
                        <m:sSupPr>
                          <m:ctrlPr>
                            <a:rPr lang="vi-VN" sz="1800" b="0" i="1">
                              <a:latin typeface="Cambria Math" panose="02040503050406030204" pitchFamily="18" charset="0"/>
                            </a:rPr>
                          </m:ctrlPr>
                        </m:sSupPr>
                        <m:e>
                          <m:r>
                            <a:rPr lang="en-US" sz="1800" i="1">
                              <a:latin typeface="Cambria Math" panose="02040503050406030204" pitchFamily="18" charset="0"/>
                            </a:rPr>
                            <m:t>𝑅</m:t>
                          </m:r>
                        </m:e>
                        <m:sup>
                          <m:r>
                            <a:rPr lang="en-US" sz="1800" i="1">
                              <a:latin typeface="Cambria Math" panose="02040503050406030204" pitchFamily="18" charset="0"/>
                            </a:rPr>
                            <m:t>𝑚</m:t>
                          </m:r>
                        </m:sup>
                      </m:sSup>
                      <m:r>
                        <a:rPr lang="en-US" sz="1800" i="1">
                          <a:latin typeface="Cambria Math" panose="02040503050406030204" pitchFamily="18" charset="0"/>
                        </a:rPr>
                        <m:t> → </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0, 1</m:t>
                          </m:r>
                        </m:e>
                      </m:d>
                    </m:oMath>
                  </m:oMathPara>
                </a14:m>
                <a:endParaRPr lang="vi-VN" sz="1800" i="1">
                  <a:latin typeface="Cambria Math" panose="02040503050406030204" pitchFamily="18" charset="0"/>
                </a:endParaRPr>
              </a:p>
              <a:p>
                <a:r>
                  <a:rPr lang="en-US" sz="1800"/>
                  <a:t>The goal of multi-target optimization is to find a set of solutions:</a:t>
                </a:r>
                <a:endParaRPr lang="vi-VN" sz="180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vi-VN" sz="1800" b="0" i="1">
                          <a:latin typeface="Cambria Math" panose="02040503050406030204" pitchFamily="18" charset="0"/>
                        </a:rPr>
                        <m:t>{</m:t>
                      </m:r>
                      <m:sSubSup>
                        <m:sSubSupPr>
                          <m:ctrlPr>
                            <a:rPr lang="vi-VN" sz="1800" b="0" i="1">
                              <a:latin typeface="Cambria Math" panose="02040503050406030204" pitchFamily="18" charset="0"/>
                            </a:rPr>
                          </m:ctrlPr>
                        </m:sSubSupPr>
                        <m:e>
                          <m:r>
                            <a:rPr lang="vi-VN" sz="1800" b="0" i="1">
                              <a:latin typeface="Cambria Math" panose="02040503050406030204" pitchFamily="18" charset="0"/>
                            </a:rPr>
                            <m:t>𝜃</m:t>
                          </m:r>
                        </m:e>
                        <m:sub>
                          <m:d>
                            <m:dPr>
                              <m:ctrlPr>
                                <a:rPr lang="vi-VN" sz="1800" b="0" i="1">
                                  <a:latin typeface="Cambria Math" panose="02040503050406030204" pitchFamily="18" charset="0"/>
                                </a:rPr>
                              </m:ctrlPr>
                            </m:dPr>
                            <m:e>
                              <m:r>
                                <a:rPr lang="vi-VN" sz="1800" b="0" i="1">
                                  <a:latin typeface="Cambria Math" panose="02040503050406030204" pitchFamily="18" charset="0"/>
                                </a:rPr>
                                <m:t>1</m:t>
                              </m:r>
                            </m:e>
                          </m:d>
                        </m:sub>
                        <m:sup>
                          <m:r>
                            <a:rPr lang="vi-VN" sz="1800" b="0" i="1">
                              <a:latin typeface="Cambria Math" panose="02040503050406030204" pitchFamily="18" charset="0"/>
                            </a:rPr>
                            <m:t>∗</m:t>
                          </m:r>
                        </m:sup>
                      </m:sSubSup>
                      <m:r>
                        <a:rPr lang="vi-VN" sz="1800" b="0" i="1">
                          <a:latin typeface="Cambria Math" panose="02040503050406030204" pitchFamily="18" charset="0"/>
                        </a:rPr>
                        <m:t>,</m:t>
                      </m:r>
                      <m:sSubSup>
                        <m:sSubSupPr>
                          <m:ctrlPr>
                            <a:rPr lang="vi-VN" sz="1800" i="1">
                              <a:latin typeface="Cambria Math" panose="02040503050406030204" pitchFamily="18" charset="0"/>
                            </a:rPr>
                          </m:ctrlPr>
                        </m:sSubSupPr>
                        <m:e>
                          <m:r>
                            <a:rPr lang="vi-VN" sz="1800" i="1">
                              <a:latin typeface="Cambria Math" panose="02040503050406030204" pitchFamily="18" charset="0"/>
                            </a:rPr>
                            <m:t>𝜃</m:t>
                          </m:r>
                        </m:e>
                        <m:sub>
                          <m:d>
                            <m:dPr>
                              <m:ctrlPr>
                                <a:rPr lang="vi-VN" sz="1800" i="1">
                                  <a:latin typeface="Cambria Math" panose="02040503050406030204" pitchFamily="18" charset="0"/>
                                </a:rPr>
                              </m:ctrlPr>
                            </m:dPr>
                            <m:e>
                              <m:r>
                                <a:rPr lang="vi-VN" sz="1800" b="0" i="1">
                                  <a:latin typeface="Cambria Math" panose="02040503050406030204" pitchFamily="18" charset="0"/>
                                </a:rPr>
                                <m:t>2</m:t>
                              </m:r>
                            </m:e>
                          </m:d>
                        </m:sub>
                        <m:sup>
                          <m:r>
                            <a:rPr lang="vi-VN" sz="1800" i="1">
                              <a:latin typeface="Cambria Math" panose="02040503050406030204" pitchFamily="18" charset="0"/>
                            </a:rPr>
                            <m:t>∗</m:t>
                          </m:r>
                        </m:sup>
                      </m:sSubSup>
                      <m:r>
                        <a:rPr lang="vi-VN" sz="1800" b="0" i="1">
                          <a:latin typeface="Cambria Math" panose="02040503050406030204" pitchFamily="18" charset="0"/>
                        </a:rPr>
                        <m:t>,…</m:t>
                      </m:r>
                      <m:sSubSup>
                        <m:sSubSupPr>
                          <m:ctrlPr>
                            <a:rPr lang="vi-VN" sz="1800" i="1">
                              <a:latin typeface="Cambria Math" panose="02040503050406030204" pitchFamily="18" charset="0"/>
                            </a:rPr>
                          </m:ctrlPr>
                        </m:sSubSupPr>
                        <m:e>
                          <m:r>
                            <a:rPr lang="vi-VN" sz="1800" i="1">
                              <a:latin typeface="Cambria Math" panose="02040503050406030204" pitchFamily="18" charset="0"/>
                            </a:rPr>
                            <m:t>𝜃</m:t>
                          </m:r>
                        </m:e>
                        <m:sub>
                          <m:d>
                            <m:dPr>
                              <m:ctrlPr>
                                <a:rPr lang="vi-VN" sz="1800" i="1">
                                  <a:latin typeface="Cambria Math" panose="02040503050406030204" pitchFamily="18" charset="0"/>
                                </a:rPr>
                              </m:ctrlPr>
                            </m:dPr>
                            <m:e>
                              <m:r>
                                <a:rPr lang="vi-VN" sz="1800" i="1">
                                  <a:latin typeface="Cambria Math" panose="02040503050406030204" pitchFamily="18" charset="0"/>
                                </a:rPr>
                                <m:t>𝐾</m:t>
                              </m:r>
                            </m:e>
                          </m:d>
                        </m:sub>
                        <m:sup>
                          <m:r>
                            <a:rPr lang="vi-VN" sz="1800" i="1">
                              <a:latin typeface="Cambria Math" panose="02040503050406030204" pitchFamily="18" charset="0"/>
                            </a:rPr>
                            <m:t>∗</m:t>
                          </m:r>
                        </m:sup>
                      </m:sSubSup>
                      <m:r>
                        <a:rPr lang="vi-VN" sz="1800" b="0" i="1">
                          <a:latin typeface="Cambria Math" panose="02040503050406030204" pitchFamily="18" charset="0"/>
                        </a:rPr>
                        <m:t>}</m:t>
                      </m:r>
                    </m:oMath>
                  </m:oMathPara>
                </a14:m>
                <a:endParaRPr lang="vi-VN" sz="1800" i="1">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585D2A25-05BE-A1A6-4E6A-16A6DED85D88}"/>
                  </a:ext>
                </a:extLst>
              </p:cNvPr>
              <p:cNvSpPr txBox="1">
                <a:spLocks noRot="1" noChangeAspect="1" noMove="1" noResize="1" noEditPoints="1" noAdjustHandles="1" noChangeArrowheads="1" noChangeShapeType="1" noTextEdit="1"/>
              </p:cNvSpPr>
              <p:nvPr/>
            </p:nvSpPr>
            <p:spPr>
              <a:xfrm>
                <a:off x="628649" y="1104648"/>
                <a:ext cx="8053917" cy="1550296"/>
              </a:xfrm>
              <a:prstGeom prst="rect">
                <a:avLst/>
              </a:prstGeom>
              <a:blipFill>
                <a:blip r:embed="rId3"/>
                <a:stretch>
                  <a:fillRect l="-606" t="-1961" b="-784"/>
                </a:stretch>
              </a:blipFill>
            </p:spPr>
            <p:txBody>
              <a:bodyPr/>
              <a:lstStyle/>
              <a:p>
                <a:r>
                  <a:rPr lang="vi-VN">
                    <a:noFill/>
                  </a:rPr>
                  <a:t> </a:t>
                </a:r>
              </a:p>
            </p:txBody>
          </p:sp>
        </mc:Fallback>
      </mc:AlternateContent>
      <p:pic>
        <p:nvPicPr>
          <p:cNvPr id="11" name="Picture 10" descr="A graph of different colored lines&#10;&#10;AI-generated content may be incorrect.">
            <a:extLst>
              <a:ext uri="{FF2B5EF4-FFF2-40B4-BE49-F238E27FC236}">
                <a16:creationId xmlns:a16="http://schemas.microsoft.com/office/drawing/2014/main" id="{A9143AE2-AC11-D8DA-B4F9-664DA4A586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17937" y="2301196"/>
            <a:ext cx="2992643" cy="2444372"/>
          </a:xfrm>
          <a:prstGeom prst="rect">
            <a:avLst/>
          </a:prstGeom>
        </p:spPr>
      </p:pic>
      <p:sp>
        <p:nvSpPr>
          <p:cNvPr id="13" name="TextBox 12">
            <a:extLst>
              <a:ext uri="{FF2B5EF4-FFF2-40B4-BE49-F238E27FC236}">
                <a16:creationId xmlns:a16="http://schemas.microsoft.com/office/drawing/2014/main" id="{162151A2-537A-8057-4BE3-62D7B393A5FF}"/>
              </a:ext>
            </a:extLst>
          </p:cNvPr>
          <p:cNvSpPr txBox="1"/>
          <p:nvPr/>
        </p:nvSpPr>
        <p:spPr>
          <a:xfrm>
            <a:off x="628649" y="4742029"/>
            <a:ext cx="7427331" cy="400110"/>
          </a:xfrm>
          <a:prstGeom prst="rect">
            <a:avLst/>
          </a:prstGeom>
          <a:noFill/>
        </p:spPr>
        <p:txBody>
          <a:bodyPr wrap="square">
            <a:spAutoFit/>
          </a:bodyPr>
          <a:lstStyle/>
          <a:p>
            <a:r>
              <a:rPr lang="en-US" sz="100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[1.6.2]</a:t>
            </a:r>
            <a:r>
              <a:rPr lang="en-US"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Hai, V. T., Doanh, B. C., Duong, L. V. T., Luan, P. H., &amp; Nakashima, Y. (2025). Transfer-Based Strategies for Multi-Target Quantum Optimization. </a:t>
            </a:r>
            <a:r>
              <a:rPr lang="en-US"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CANDAR 2025.</a:t>
            </a:r>
            <a:endParaRPr lang="vi-VN" sz="1000">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3">
            <a:extLst>
              <a:ext uri="{FF2B5EF4-FFF2-40B4-BE49-F238E27FC236}">
                <a16:creationId xmlns:a16="http://schemas.microsoft.com/office/drawing/2014/main" id="{BC848E15-7224-9F16-184B-544D3393D9F4}"/>
              </a:ext>
            </a:extLst>
          </p:cNvPr>
          <p:cNvSpPr txBox="1">
            <a:spLocks/>
          </p:cNvSpPr>
          <p:nvPr/>
        </p:nvSpPr>
        <p:spPr>
          <a:xfrm>
            <a:off x="8013700" y="4767263"/>
            <a:ext cx="501650" cy="273844"/>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45828D-F580-42DE-B77E-860980F07F32}" type="slidenum">
              <a:rPr lang="vi-VN" smtClean="0"/>
              <a:pPr/>
              <a:t>19</a:t>
            </a:fld>
            <a:endParaRPr lang="vi-VN"/>
          </a:p>
        </p:txBody>
      </p:sp>
    </p:spTree>
    <p:extLst>
      <p:ext uri="{BB962C8B-B14F-4D97-AF65-F5344CB8AC3E}">
        <p14:creationId xmlns:p14="http://schemas.microsoft.com/office/powerpoint/2010/main" val="1907047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BE1AAD-15E0-2066-CAEC-26874C353387}"/>
              </a:ext>
            </a:extLst>
          </p:cNvPr>
          <p:cNvSpPr>
            <a:spLocks noGrp="1"/>
          </p:cNvSpPr>
          <p:nvPr>
            <p:ph type="sldNum" sz="quarter" idx="12"/>
          </p:nvPr>
        </p:nvSpPr>
        <p:spPr/>
        <p:txBody>
          <a:bodyPr/>
          <a:lstStyle/>
          <a:p>
            <a:fld id="{6A45828D-F580-42DE-B77E-860980F07F32}" type="slidenum">
              <a:rPr lang="vi-VN" smtClean="0"/>
              <a:t>20</a:t>
            </a:fld>
            <a:endParaRPr lang="vi-VN"/>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40A1B984-DDCD-9C8C-42D0-D06F50572D93}"/>
                  </a:ext>
                </a:extLst>
              </p:cNvPr>
              <p:cNvSpPr>
                <a:spLocks noGrp="1"/>
              </p:cNvSpPr>
              <p:nvPr>
                <p:ph idx="1"/>
              </p:nvPr>
            </p:nvSpPr>
            <p:spPr>
              <a:xfrm>
                <a:off x="660400" y="959182"/>
                <a:ext cx="8174567" cy="1104649"/>
              </a:xfrm>
            </p:spPr>
            <p:txBody>
              <a:bodyPr>
                <a:normAutofit fontScale="92500" lnSpcReduction="10000"/>
              </a:bodyPr>
              <a:lstStyle/>
              <a:p>
                <a:pPr marL="0" indent="0">
                  <a:lnSpc>
                    <a:spcPct val="100000"/>
                  </a:lnSpc>
                  <a:buNone/>
                </a:pPr>
                <a:r>
                  <a:rPr lang="en-US"/>
                  <a:t>Warm-starting method: simply set </a:t>
                </a:r>
                <a14:m>
                  <m:oMath xmlns:m="http://schemas.openxmlformats.org/officeDocument/2006/math">
                    <m:sSubSup>
                      <m:sSubSupPr>
                        <m:ctrlPr>
                          <a:rPr lang="vi-VN" b="0" i="1">
                            <a:latin typeface="Cambria Math" panose="02040503050406030204" pitchFamily="18" charset="0"/>
                          </a:rPr>
                        </m:ctrlPr>
                      </m:sSubSupPr>
                      <m:e>
                        <m:r>
                          <a:rPr lang="vi-VN" b="0" i="1">
                            <a:latin typeface="Cambria Math" panose="02040503050406030204" pitchFamily="18" charset="0"/>
                          </a:rPr>
                          <m:t>𝜃</m:t>
                        </m:r>
                      </m:e>
                      <m:sub>
                        <m:sSub>
                          <m:sSubPr>
                            <m:ctrlPr>
                              <a:rPr lang="vi-VN" b="0" i="1">
                                <a:latin typeface="Cambria Math" panose="02040503050406030204" pitchFamily="18" charset="0"/>
                              </a:rPr>
                            </m:ctrlPr>
                          </m:sSubPr>
                          <m:e>
                            <m:r>
                              <a:rPr lang="vi-VN" i="1">
                                <a:latin typeface="Cambria Math" panose="02040503050406030204" pitchFamily="18" charset="0"/>
                              </a:rPr>
                              <m:t>𝑥</m:t>
                            </m:r>
                          </m:e>
                          <m:sub>
                            <m:r>
                              <a:rPr lang="vi-VN" b="0" i="1">
                                <a:latin typeface="Cambria Math" panose="02040503050406030204" pitchFamily="18" charset="0"/>
                              </a:rPr>
                              <m:t>(</m:t>
                            </m:r>
                            <m:r>
                              <a:rPr lang="vi-VN" i="1">
                                <a:latin typeface="Cambria Math" panose="02040503050406030204" pitchFamily="18" charset="0"/>
                              </a:rPr>
                              <m:t>𝑘</m:t>
                            </m:r>
                            <m:r>
                              <a:rPr lang="vi-VN" b="0" i="1">
                                <a:latin typeface="Cambria Math" panose="02040503050406030204" pitchFamily="18" charset="0"/>
                              </a:rPr>
                              <m:t>)</m:t>
                            </m:r>
                          </m:sub>
                        </m:sSub>
                      </m:sub>
                      <m:sup>
                        <m:r>
                          <a:rPr lang="vi-VN" b="0" i="1">
                            <a:latin typeface="Cambria Math" panose="02040503050406030204" pitchFamily="18" charset="0"/>
                          </a:rPr>
                          <m:t>∗</m:t>
                        </m:r>
                      </m:sup>
                    </m:sSubSup>
                  </m:oMath>
                </a14:m>
                <a:r>
                  <a:rPr lang="en-US"/>
                  <a:t>as initial parameter </a:t>
                </a:r>
                <a14:m>
                  <m:oMath xmlns:m="http://schemas.openxmlformats.org/officeDocument/2006/math">
                    <m:sSubSup>
                      <m:sSubSupPr>
                        <m:ctrlPr>
                          <a:rPr lang="vi-VN" b="0" i="1">
                            <a:latin typeface="Cambria Math" panose="02040503050406030204" pitchFamily="18" charset="0"/>
                          </a:rPr>
                        </m:ctrlPr>
                      </m:sSubSupPr>
                      <m:e>
                        <m:r>
                          <a:rPr lang="vi-VN" b="0" i="1">
                            <a:latin typeface="Cambria Math" panose="02040503050406030204" pitchFamily="18" charset="0"/>
                          </a:rPr>
                          <m:t>𝜃</m:t>
                        </m:r>
                      </m:e>
                      <m:sub>
                        <m:sSub>
                          <m:sSubPr>
                            <m:ctrlPr>
                              <a:rPr lang="vi-VN" b="0" i="1">
                                <a:latin typeface="Cambria Math" panose="02040503050406030204" pitchFamily="18" charset="0"/>
                              </a:rPr>
                            </m:ctrlPr>
                          </m:sSubPr>
                          <m:e>
                            <m:r>
                              <a:rPr lang="vi-VN" i="1">
                                <a:latin typeface="Cambria Math" panose="02040503050406030204" pitchFamily="18" charset="0"/>
                              </a:rPr>
                              <m:t>𝑦</m:t>
                            </m:r>
                          </m:e>
                          <m:sub>
                            <m:d>
                              <m:dPr>
                                <m:ctrlPr>
                                  <a:rPr lang="vi-VN" b="0" i="1">
                                    <a:latin typeface="Cambria Math" panose="02040503050406030204" pitchFamily="18" charset="0"/>
                                  </a:rPr>
                                </m:ctrlPr>
                              </m:dPr>
                              <m:e>
                                <m:r>
                                  <a:rPr lang="vi-VN" i="1">
                                    <a:latin typeface="Cambria Math" panose="02040503050406030204" pitchFamily="18" charset="0"/>
                                  </a:rPr>
                                  <m:t>𝑘</m:t>
                                </m:r>
                                <m:r>
                                  <a:rPr lang="vi-VN" b="0" i="1">
                                    <a:latin typeface="Cambria Math" panose="02040503050406030204" pitchFamily="18" charset="0"/>
                                  </a:rPr>
                                  <m:t>′</m:t>
                                </m:r>
                              </m:e>
                            </m:d>
                          </m:sub>
                        </m:sSub>
                      </m:sub>
                      <m:sup>
                        <m:d>
                          <m:dPr>
                            <m:ctrlPr>
                              <a:rPr lang="vi-VN" b="0" i="1">
                                <a:latin typeface="Cambria Math" panose="02040503050406030204" pitchFamily="18" charset="0"/>
                              </a:rPr>
                            </m:ctrlPr>
                          </m:dPr>
                          <m:e>
                            <m:r>
                              <a:rPr lang="vi-VN" b="0" i="1">
                                <a:latin typeface="Cambria Math" panose="02040503050406030204" pitchFamily="18" charset="0"/>
                              </a:rPr>
                              <m:t>0</m:t>
                            </m:r>
                          </m:e>
                        </m:d>
                      </m:sup>
                    </m:sSubSup>
                    <m:r>
                      <a:rPr lang="vi-VN" b="0" i="1">
                        <a:latin typeface="Cambria Math" panose="02040503050406030204" pitchFamily="18" charset="0"/>
                      </a:rPr>
                      <m:t>=</m:t>
                    </m:r>
                    <m:sSubSup>
                      <m:sSubSupPr>
                        <m:ctrlPr>
                          <a:rPr lang="vi-VN" i="1">
                            <a:latin typeface="Cambria Math" panose="02040503050406030204" pitchFamily="18" charset="0"/>
                          </a:rPr>
                        </m:ctrlPr>
                      </m:sSubSupPr>
                      <m:e>
                        <m:r>
                          <a:rPr lang="vi-VN" i="1">
                            <a:latin typeface="Cambria Math" panose="02040503050406030204" pitchFamily="18" charset="0"/>
                          </a:rPr>
                          <m:t>𝜃</m:t>
                        </m:r>
                      </m:e>
                      <m:sub>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a:latin typeface="Cambria Math" panose="02040503050406030204" pitchFamily="18" charset="0"/>
                              </a:rPr>
                              <m:t>(</m:t>
                            </m:r>
                            <m:r>
                              <a:rPr lang="vi-VN" i="1">
                                <a:latin typeface="Cambria Math" panose="02040503050406030204" pitchFamily="18" charset="0"/>
                              </a:rPr>
                              <m:t>𝑘</m:t>
                            </m:r>
                            <m:r>
                              <a:rPr lang="vi-VN" i="1">
                                <a:latin typeface="Cambria Math" panose="02040503050406030204" pitchFamily="18" charset="0"/>
                              </a:rPr>
                              <m:t>)</m:t>
                            </m:r>
                          </m:sub>
                        </m:sSub>
                      </m:sub>
                      <m:sup>
                        <m:r>
                          <a:rPr lang="vi-VN" i="1">
                            <a:latin typeface="Cambria Math" panose="02040503050406030204" pitchFamily="18" charset="0"/>
                          </a:rPr>
                          <m:t>∗</m:t>
                        </m:r>
                      </m:sup>
                    </m:sSubSup>
                  </m:oMath>
                </a14:m>
                <a:r>
                  <a:rPr lang="en-US" i="1"/>
                  <a:t>.</a:t>
                </a:r>
              </a:p>
              <a:p>
                <a:pPr marL="0" indent="0">
                  <a:lnSpc>
                    <a:spcPct val="100000"/>
                  </a:lnSpc>
                  <a:buNone/>
                </a:pPr>
                <a:r>
                  <a:rPr lang="en-US" dirty="0"/>
                  <a:t>If </a:t>
                </a:r>
                <a14:m>
                  <m:oMath xmlns:m="http://schemas.openxmlformats.org/officeDocument/2006/math">
                    <m:r>
                      <a:rPr lang="en-US" i="1" smtClean="0">
                        <a:latin typeface="Cambria Math" panose="02040503050406030204" pitchFamily="18" charset="0"/>
                      </a:rPr>
                      <m:t>𝑦</m:t>
                    </m:r>
                    <m:r>
                      <a:rPr lang="en-US" i="1" smtClean="0">
                        <a:latin typeface="Cambria Math" panose="02040503050406030204" pitchFamily="18" charset="0"/>
                      </a:rPr>
                      <m:t>≈</m:t>
                    </m:r>
                    <m:r>
                      <a:rPr lang="en-US" i="1" smtClean="0">
                        <a:latin typeface="Cambria Math" panose="02040503050406030204" pitchFamily="18" charset="0"/>
                      </a:rPr>
                      <m:t>𝑥</m:t>
                    </m:r>
                    <m:r>
                      <a:rPr lang="en-US" i="1" smtClean="0">
                        <a:latin typeface="Cambria Math" panose="02040503050406030204" pitchFamily="18" charset="0"/>
                      </a:rPr>
                      <m:t>+</m:t>
                    </m:r>
                    <m:r>
                      <a:rPr lang="en-US" i="1" smtClean="0">
                        <a:latin typeface="Cambria Math" panose="02040503050406030204" pitchFamily="18" charset="0"/>
                      </a:rPr>
                      <m:t>𝜖</m:t>
                    </m:r>
                  </m:oMath>
                </a14:m>
                <a:r>
                  <a:rPr lang="en-US" i="1" dirty="0"/>
                  <a:t>, </a:t>
                </a:r>
                <a14:m>
                  <m:oMath xmlns:m="http://schemas.openxmlformats.org/officeDocument/2006/math">
                    <m:r>
                      <a:rPr lang="en-US" i="1" dirty="0">
                        <a:latin typeface="Cambria Math" panose="02040503050406030204" pitchFamily="18" charset="0"/>
                      </a:rPr>
                      <m:t>𝑥</m:t>
                    </m:r>
                  </m:oMath>
                </a14:m>
                <a:r>
                  <a:rPr lang="en-US" dirty="0"/>
                  <a:t> and </a:t>
                </a:r>
                <a14:m>
                  <m:oMath xmlns:m="http://schemas.openxmlformats.org/officeDocument/2006/math">
                    <m:r>
                      <a:rPr lang="en-US" i="1" dirty="0">
                        <a:latin typeface="Cambria Math" panose="02040503050406030204" pitchFamily="18" charset="0"/>
                      </a:rPr>
                      <m:t>𝑦</m:t>
                    </m:r>
                  </m:oMath>
                </a14:m>
                <a:r>
                  <a:rPr lang="en-US" dirty="0"/>
                  <a:t> are targets, considering the first-order Taylor expansion of cost function </a:t>
                </a:r>
                <a14:m>
                  <m:oMath xmlns:m="http://schemas.openxmlformats.org/officeDocument/2006/math">
                    <m:r>
                      <a:rPr lang="en-US" i="1" dirty="0" smtClean="0">
                        <a:latin typeface="Cambria Math" panose="02040503050406030204" pitchFamily="18" charset="0"/>
                      </a:rPr>
                      <m:t>𝐶</m:t>
                    </m:r>
                  </m:oMath>
                </a14:m>
                <a:r>
                  <a:rPr lang="en-US" dirty="0"/>
                  <a:t> with respect to </a:t>
                </a:r>
                <a14:m>
                  <m:oMath xmlns:m="http://schemas.openxmlformats.org/officeDocument/2006/math">
                    <m:r>
                      <a:rPr lang="en-US" b="1" i="1" dirty="0" smtClean="0">
                        <a:latin typeface="Cambria Math" panose="02040503050406030204" pitchFamily="18" charset="0"/>
                      </a:rPr>
                      <m:t>𝜽</m:t>
                    </m:r>
                  </m:oMath>
                </a14:m>
                <a:r>
                  <a:rPr lang="en-US" dirty="0"/>
                  <a:t> at </a:t>
                </a:r>
                <a14:m>
                  <m:oMath xmlns:m="http://schemas.openxmlformats.org/officeDocument/2006/math">
                    <m:sSubSup>
                      <m:sSubSupPr>
                        <m:ctrlPr>
                          <a:rPr lang="en-US" b="1" i="1" dirty="0" smtClean="0">
                            <a:latin typeface="Cambria Math" panose="02040503050406030204" pitchFamily="18" charset="0"/>
                          </a:rPr>
                        </m:ctrlPr>
                      </m:sSubSupPr>
                      <m:e>
                        <m:r>
                          <a:rPr lang="en-US" b="1" i="1" dirty="0" smtClean="0">
                            <a:latin typeface="Cambria Math" panose="02040503050406030204" pitchFamily="18" charset="0"/>
                          </a:rPr>
                          <m:t>𝜽</m:t>
                        </m:r>
                      </m:e>
                      <m:sub>
                        <m:r>
                          <a:rPr lang="en-US" b="1" i="1" dirty="0" smtClean="0">
                            <a:latin typeface="Cambria Math" panose="02040503050406030204" pitchFamily="18" charset="0"/>
                          </a:rPr>
                          <m:t>𝒙</m:t>
                        </m:r>
                      </m:sub>
                      <m:sup>
                        <m:r>
                          <a:rPr lang="en-US" b="1" i="1" dirty="0" smtClean="0">
                            <a:latin typeface="Cambria Math" panose="02040503050406030204" pitchFamily="18" charset="0"/>
                          </a:rPr>
                          <m:t>∗</m:t>
                        </m:r>
                      </m:sup>
                    </m:sSubSup>
                  </m:oMath>
                </a14:m>
                <a:r>
                  <a:rPr lang="en-US" dirty="0"/>
                  <a:t> and fixed </a:t>
                </a:r>
                <a14:m>
                  <m:oMath xmlns:m="http://schemas.openxmlformats.org/officeDocument/2006/math">
                    <m:r>
                      <a:rPr lang="en-US" i="1" dirty="0" smtClean="0">
                        <a:latin typeface="Cambria Math" panose="02040503050406030204" pitchFamily="18" charset="0"/>
                      </a:rPr>
                      <m:t>𝑦</m:t>
                    </m:r>
                  </m:oMath>
                </a14:m>
                <a:r>
                  <a:rPr lang="en-US" i="1" dirty="0"/>
                  <a:t>, </a:t>
                </a:r>
                <a:r>
                  <a:rPr lang="en-US" dirty="0"/>
                  <a:t>we </a:t>
                </a:r>
                <a:r>
                  <a:rPr lang="en-US"/>
                  <a:t>have:</a:t>
                </a:r>
                <a:endParaRPr lang="en-US" dirty="0"/>
              </a:p>
            </p:txBody>
          </p:sp>
        </mc:Choice>
        <mc:Fallback xmlns="">
          <p:sp>
            <p:nvSpPr>
              <p:cNvPr id="6" name="Content Placeholder 2">
                <a:extLst>
                  <a:ext uri="{FF2B5EF4-FFF2-40B4-BE49-F238E27FC236}">
                    <a16:creationId xmlns:a16="http://schemas.microsoft.com/office/drawing/2014/main" id="{40A1B984-DDCD-9C8C-42D0-D06F50572D93}"/>
                  </a:ext>
                </a:extLst>
              </p:cNvPr>
              <p:cNvSpPr>
                <a:spLocks noGrp="1" noRot="1" noChangeAspect="1" noMove="1" noResize="1" noEditPoints="1" noAdjustHandles="1" noChangeArrowheads="1" noChangeShapeType="1" noTextEdit="1"/>
              </p:cNvSpPr>
              <p:nvPr>
                <p:ph idx="1"/>
              </p:nvPr>
            </p:nvSpPr>
            <p:spPr>
              <a:xfrm>
                <a:off x="660400" y="959182"/>
                <a:ext cx="8174567" cy="1104649"/>
              </a:xfrm>
              <a:blipFill>
                <a:blip r:embed="rId2"/>
                <a:stretch>
                  <a:fillRect l="-671" b="-7692"/>
                </a:stretch>
              </a:blipFill>
            </p:spPr>
            <p:txBody>
              <a:bodyPr/>
              <a:lstStyle/>
              <a:p>
                <a:r>
                  <a:rPr lang="vi-VN">
                    <a:noFill/>
                  </a:rPr>
                  <a:t> </a:t>
                </a:r>
              </a:p>
            </p:txBody>
          </p:sp>
        </mc:Fallback>
      </mc:AlternateContent>
      <p:sp>
        <p:nvSpPr>
          <p:cNvPr id="7" name="Content Placeholder 2">
            <a:extLst>
              <a:ext uri="{FF2B5EF4-FFF2-40B4-BE49-F238E27FC236}">
                <a16:creationId xmlns:a16="http://schemas.microsoft.com/office/drawing/2014/main" id="{74AFDA38-4FF3-58EC-A120-EFB2ADB018BD}"/>
              </a:ext>
            </a:extLst>
          </p:cNvPr>
          <p:cNvSpPr txBox="1">
            <a:spLocks/>
          </p:cNvSpPr>
          <p:nvPr/>
        </p:nvSpPr>
        <p:spPr>
          <a:xfrm>
            <a:off x="691692" y="1496299"/>
            <a:ext cx="8321075" cy="65635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9" name="TextBox 8">
            <a:extLst>
              <a:ext uri="{FF2B5EF4-FFF2-40B4-BE49-F238E27FC236}">
                <a16:creationId xmlns:a16="http://schemas.microsoft.com/office/drawing/2014/main" id="{7F63C891-2C7F-688A-2F0D-81ABFE8931A2}"/>
              </a:ext>
            </a:extLst>
          </p:cNvPr>
          <p:cNvSpPr txBox="1"/>
          <p:nvPr/>
        </p:nvSpPr>
        <p:spPr>
          <a:xfrm>
            <a:off x="6194277" y="3456384"/>
            <a:ext cx="2922820" cy="369332"/>
          </a:xfrm>
          <a:prstGeom prst="rect">
            <a:avLst/>
          </a:prstGeom>
          <a:noFill/>
        </p:spPr>
        <p:txBody>
          <a:bodyPr wrap="square" rtlCol="0">
            <a:spAutoFit/>
          </a:bodyPr>
          <a:lstStyle/>
          <a:p>
            <a:pPr algn="ctr"/>
            <a:r>
              <a:rPr lang="en-US" dirty="0">
                <a:solidFill>
                  <a:srgbClr val="FF0000"/>
                </a:solidFill>
              </a:rPr>
              <a:t>Parameter estimator</a:t>
            </a:r>
          </a:p>
        </p:txBody>
      </p:sp>
      <p:cxnSp>
        <p:nvCxnSpPr>
          <p:cNvPr id="10" name="Straight Arrow Connector 9">
            <a:extLst>
              <a:ext uri="{FF2B5EF4-FFF2-40B4-BE49-F238E27FC236}">
                <a16:creationId xmlns:a16="http://schemas.microsoft.com/office/drawing/2014/main" id="{FD8EADB1-7962-96EC-D3C4-5A7EEBAD0C6B}"/>
              </a:ext>
            </a:extLst>
          </p:cNvPr>
          <p:cNvCxnSpPr>
            <a:cxnSpLocks/>
            <a:stCxn id="8" idx="2"/>
            <a:endCxn id="9" idx="0"/>
          </p:cNvCxnSpPr>
          <p:nvPr/>
        </p:nvCxnSpPr>
        <p:spPr>
          <a:xfrm>
            <a:off x="7644194" y="3160722"/>
            <a:ext cx="11493" cy="2956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60F9B65-041D-179A-3249-815C8F28A8D7}"/>
                  </a:ext>
                </a:extLst>
              </p:cNvPr>
              <p:cNvSpPr txBox="1"/>
              <p:nvPr/>
            </p:nvSpPr>
            <p:spPr>
              <a:xfrm>
                <a:off x="6237521" y="2371698"/>
                <a:ext cx="2836333" cy="6361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acc>
                            <m:accPr>
                              <m:chr m:val="̃"/>
                              <m:ctrlPr>
                                <a:rPr lang="en-US" sz="1400" b="1" i="1" dirty="0" smtClean="0">
                                  <a:latin typeface="Cambria Math" panose="02040503050406030204" pitchFamily="18" charset="0"/>
                                </a:rPr>
                              </m:ctrlPr>
                            </m:accPr>
                            <m:e>
                              <m:r>
                                <a:rPr lang="en-US" sz="1400" b="1" i="1" dirty="0" smtClean="0">
                                  <a:latin typeface="Cambria Math" panose="02040503050406030204" pitchFamily="18" charset="0"/>
                                </a:rPr>
                                <m:t>𝜽</m:t>
                              </m:r>
                            </m:e>
                          </m:acc>
                        </m:e>
                        <m:sub>
                          <m:r>
                            <a:rPr lang="en-US" sz="1400" i="1" smtClean="0">
                              <a:latin typeface="Cambria Math" panose="02040503050406030204" pitchFamily="18" charset="0"/>
                            </a:rPr>
                            <m:t> </m:t>
                          </m:r>
                          <m:r>
                            <a:rPr lang="en-US" sz="1400" i="1" smtClean="0">
                              <a:latin typeface="Cambria Math" panose="02040503050406030204" pitchFamily="18" charset="0"/>
                            </a:rPr>
                            <m:t>𝑦</m:t>
                          </m:r>
                        </m:sub>
                        <m:sup>
                          <m:r>
                            <a:rPr lang="en-US" sz="1400" i="1">
                              <a:latin typeface="Cambria Math" panose="02040503050406030204" pitchFamily="18" charset="0"/>
                            </a:rPr>
                            <m:t>∗</m:t>
                          </m:r>
                        </m:sup>
                      </m:sSubSup>
                      <m:r>
                        <a:rPr lang="en-US" sz="1400" i="1" smtClean="0">
                          <a:latin typeface="Cambria Math" panose="02040503050406030204" pitchFamily="18" charset="0"/>
                        </a:rPr>
                        <m:t>≈</m:t>
                      </m:r>
                      <m:sSubSup>
                        <m:sSubSupPr>
                          <m:ctrlPr>
                            <a:rPr lang="en-US" sz="1400" i="1">
                              <a:latin typeface="Cambria Math" panose="02040503050406030204" pitchFamily="18" charset="0"/>
                            </a:rPr>
                          </m:ctrlPr>
                        </m:sSubSupPr>
                        <m:e>
                          <m:r>
                            <a:rPr lang="en-US" sz="1400" b="1" i="1">
                              <a:latin typeface="Cambria Math" panose="02040503050406030204" pitchFamily="18" charset="0"/>
                            </a:rPr>
                            <m:t>𝜽</m:t>
                          </m:r>
                        </m:e>
                        <m:sub>
                          <m:r>
                            <a:rPr lang="en-US" sz="1400" i="1">
                              <a:latin typeface="Cambria Math" panose="02040503050406030204" pitchFamily="18" charset="0"/>
                            </a:rPr>
                            <m:t>𝑥</m:t>
                          </m:r>
                        </m:sub>
                        <m:sup>
                          <m:r>
                            <a:rPr lang="en-US" sz="1400" i="1">
                              <a:latin typeface="Cambria Math" panose="02040503050406030204" pitchFamily="18" charset="0"/>
                            </a:rPr>
                            <m:t>∗</m:t>
                          </m:r>
                        </m:sup>
                      </m:sSubSup>
                      <m:r>
                        <a:rPr lang="en-US" sz="1400" i="1" smtClean="0">
                          <a:latin typeface="Cambria Math" panose="02040503050406030204" pitchFamily="18" charset="0"/>
                        </a:rPr>
                        <m:t>−</m:t>
                      </m:r>
                      <m:f>
                        <m:fPr>
                          <m:ctrlPr>
                            <a:rPr lang="en-US" sz="1400" i="1" smtClean="0">
                              <a:latin typeface="Cambria Math" panose="02040503050406030204" pitchFamily="18" charset="0"/>
                            </a:rPr>
                          </m:ctrlPr>
                        </m:fPr>
                        <m:num>
                          <m:sSub>
                            <m:sSubPr>
                              <m:ctrlPr>
                                <a:rPr lang="en-US" sz="1400" i="1" smtClean="0">
                                  <a:latin typeface="Cambria Math" panose="02040503050406030204" pitchFamily="18" charset="0"/>
                                </a:rPr>
                              </m:ctrlPr>
                            </m:sSubPr>
                            <m:e>
                              <m:r>
                                <m:rPr>
                                  <m:sty m:val="p"/>
                                </m:rPr>
                                <a:rPr lang="en-US" sz="1400" smtClean="0">
                                  <a:latin typeface="Cambria Math" panose="02040503050406030204" pitchFamily="18" charset="0"/>
                                </a:rPr>
                                <m:t>∇</m:t>
                              </m:r>
                            </m:e>
                            <m:sub>
                              <m:r>
                                <a:rPr lang="en-US" sz="1400" i="1" smtClean="0">
                                  <a:latin typeface="Cambria Math" panose="02040503050406030204" pitchFamily="18" charset="0"/>
                                </a:rPr>
                                <m:t>𝜃</m:t>
                              </m:r>
                            </m:sub>
                          </m:sSub>
                          <m:sSub>
                            <m:sSubPr>
                              <m:ctrlPr>
                                <a:rPr lang="en-US" sz="1400" i="1" smtClean="0">
                                  <a:latin typeface="Cambria Math" panose="02040503050406030204" pitchFamily="18" charset="0"/>
                                </a:rPr>
                              </m:ctrlPr>
                            </m:sSubPr>
                            <m:e>
                              <m:r>
                                <a:rPr lang="en-US" sz="1400" i="1" smtClean="0">
                                  <a:latin typeface="Cambria Math" panose="02040503050406030204" pitchFamily="18" charset="0"/>
                                </a:rPr>
                                <m:t>𝐶</m:t>
                              </m:r>
                            </m:e>
                            <m:sub>
                              <m:r>
                                <a:rPr lang="en-US" sz="1400" i="1" smtClean="0">
                                  <a:latin typeface="Cambria Math" panose="02040503050406030204" pitchFamily="18" charset="0"/>
                                </a:rPr>
                                <m:t>𝑦</m:t>
                              </m:r>
                            </m:sub>
                          </m:sSub>
                          <m:d>
                            <m:dPr>
                              <m:ctrlPr>
                                <a:rPr lang="en-US" sz="1400" i="1" smtClean="0">
                                  <a:latin typeface="Cambria Math" panose="02040503050406030204" pitchFamily="18" charset="0"/>
                                </a:rPr>
                              </m:ctrlPr>
                            </m:dPr>
                            <m:e>
                              <m:sSubSup>
                                <m:sSubSupPr>
                                  <m:ctrlPr>
                                    <a:rPr lang="en-US" sz="1400" i="1" smtClean="0">
                                      <a:latin typeface="Cambria Math" panose="02040503050406030204" pitchFamily="18" charset="0"/>
                                    </a:rPr>
                                  </m:ctrlPr>
                                </m:sSubSupPr>
                                <m:e>
                                  <m:r>
                                    <a:rPr lang="en-US" sz="1400" i="1" smtClean="0">
                                      <a:latin typeface="Cambria Math" panose="02040503050406030204" pitchFamily="18" charset="0"/>
                                    </a:rPr>
                                    <m:t>𝜃</m:t>
                                  </m:r>
                                </m:e>
                                <m:sub>
                                  <m:r>
                                    <a:rPr lang="en-US" sz="1400" i="1" smtClean="0">
                                      <a:latin typeface="Cambria Math" panose="02040503050406030204" pitchFamily="18" charset="0"/>
                                    </a:rPr>
                                    <m:t>𝑥</m:t>
                                  </m:r>
                                </m:sub>
                                <m:sup>
                                  <m:r>
                                    <a:rPr lang="en-US" sz="1400" i="1" smtClean="0">
                                      <a:latin typeface="Cambria Math" panose="02040503050406030204" pitchFamily="18" charset="0"/>
                                    </a:rPr>
                                    <m:t>∗</m:t>
                                  </m:r>
                                </m:sup>
                              </m:sSubSup>
                            </m:e>
                          </m:d>
                        </m:num>
                        <m:den>
                          <m:sSup>
                            <m:sSupPr>
                              <m:ctrlPr>
                                <a:rPr lang="en-US" sz="1400" i="1" smtClean="0">
                                  <a:latin typeface="Cambria Math" panose="02040503050406030204" pitchFamily="18" charset="0"/>
                                </a:rPr>
                              </m:ctrlPr>
                            </m:sSupPr>
                            <m:e>
                              <m:d>
                                <m:dPr>
                                  <m:begChr m:val="‖"/>
                                  <m:endChr m:val="‖"/>
                                  <m:ctrlPr>
                                    <a:rPr lang="en-US" sz="1400" i="1" smtClean="0">
                                      <a:latin typeface="Cambria Math" panose="02040503050406030204" pitchFamily="18" charset="0"/>
                                    </a:rPr>
                                  </m:ctrlPr>
                                </m:dPr>
                                <m:e>
                                  <m:sSub>
                                    <m:sSubPr>
                                      <m:ctrlPr>
                                        <a:rPr lang="en-US" sz="1400" i="1">
                                          <a:latin typeface="Cambria Math" panose="02040503050406030204" pitchFamily="18" charset="0"/>
                                        </a:rPr>
                                      </m:ctrlPr>
                                    </m:sSubPr>
                                    <m:e>
                                      <m:r>
                                        <m:rPr>
                                          <m:sty m:val="p"/>
                                        </m:rPr>
                                        <a:rPr lang="en-US" sz="1400">
                                          <a:latin typeface="Cambria Math" panose="02040503050406030204" pitchFamily="18" charset="0"/>
                                        </a:rPr>
                                        <m:t>∇</m:t>
                                      </m:r>
                                    </m:e>
                                    <m:sub>
                                      <m:r>
                                        <a:rPr lang="en-US" sz="1400" i="1">
                                          <a:latin typeface="Cambria Math" panose="02040503050406030204" pitchFamily="18" charset="0"/>
                                        </a:rPr>
                                        <m:t>𝜃</m:t>
                                      </m:r>
                                    </m:sub>
                                  </m:sSub>
                                  <m:sSub>
                                    <m:sSubPr>
                                      <m:ctrlPr>
                                        <a:rPr lang="en-US" sz="1400" i="1">
                                          <a:latin typeface="Cambria Math" panose="02040503050406030204" pitchFamily="18" charset="0"/>
                                        </a:rPr>
                                      </m:ctrlPr>
                                    </m:sSubPr>
                                    <m:e>
                                      <m:r>
                                        <a:rPr lang="en-US" sz="1400" i="1">
                                          <a:latin typeface="Cambria Math" panose="02040503050406030204" pitchFamily="18" charset="0"/>
                                        </a:rPr>
                                        <m:t>𝐶</m:t>
                                      </m:r>
                                    </m:e>
                                    <m:sub>
                                      <m:r>
                                        <a:rPr lang="en-US" sz="1400" i="1">
                                          <a:latin typeface="Cambria Math" panose="02040503050406030204" pitchFamily="18" charset="0"/>
                                        </a:rPr>
                                        <m:t>𝑦</m:t>
                                      </m:r>
                                    </m:sub>
                                  </m:sSub>
                                  <m:d>
                                    <m:dPr>
                                      <m:ctrlPr>
                                        <a:rPr lang="en-US" sz="1400" i="1">
                                          <a:latin typeface="Cambria Math" panose="02040503050406030204" pitchFamily="18" charset="0"/>
                                        </a:rPr>
                                      </m:ctrlPr>
                                    </m:dPr>
                                    <m:e>
                                      <m:sSubSup>
                                        <m:sSubSupPr>
                                          <m:ctrlPr>
                                            <a:rPr lang="en-US" sz="1400" i="1">
                                              <a:latin typeface="Cambria Math" panose="02040503050406030204" pitchFamily="18" charset="0"/>
                                            </a:rPr>
                                          </m:ctrlPr>
                                        </m:sSubSupPr>
                                        <m:e>
                                          <m:r>
                                            <a:rPr lang="en-US" sz="1400" i="1">
                                              <a:latin typeface="Cambria Math" panose="02040503050406030204" pitchFamily="18" charset="0"/>
                                            </a:rPr>
                                            <m:t>𝜃</m:t>
                                          </m:r>
                                        </m:e>
                                        <m:sub>
                                          <m:r>
                                            <a:rPr lang="en-US" sz="1400" i="1">
                                              <a:latin typeface="Cambria Math" panose="02040503050406030204" pitchFamily="18" charset="0"/>
                                            </a:rPr>
                                            <m:t>𝑥</m:t>
                                          </m:r>
                                        </m:sub>
                                        <m:sup>
                                          <m:r>
                                            <a:rPr lang="en-US" sz="1400" i="1">
                                              <a:latin typeface="Cambria Math" panose="02040503050406030204" pitchFamily="18" charset="0"/>
                                            </a:rPr>
                                            <m:t>∗</m:t>
                                          </m:r>
                                        </m:sup>
                                      </m:sSubSup>
                                    </m:e>
                                  </m:d>
                                </m:e>
                              </m:d>
                            </m:e>
                            <m:sup>
                              <m:r>
                                <a:rPr lang="en-US" sz="1400" i="1" smtClean="0">
                                  <a:latin typeface="Cambria Math" panose="02040503050406030204" pitchFamily="18" charset="0"/>
                                </a:rPr>
                                <m:t>2</m:t>
                              </m:r>
                            </m:sup>
                          </m:sSup>
                        </m:den>
                      </m:f>
                      <m:sSub>
                        <m:sSubPr>
                          <m:ctrlPr>
                            <a:rPr lang="en-US" sz="1400" i="1" smtClean="0">
                              <a:latin typeface="Cambria Math" panose="02040503050406030204" pitchFamily="18" charset="0"/>
                            </a:rPr>
                          </m:ctrlPr>
                        </m:sSubPr>
                        <m:e>
                          <m:r>
                            <a:rPr lang="en-US" sz="1400" i="1" smtClean="0">
                              <a:latin typeface="Cambria Math" panose="02040503050406030204" pitchFamily="18" charset="0"/>
                            </a:rPr>
                            <m:t>𝐶</m:t>
                          </m:r>
                        </m:e>
                        <m:sub>
                          <m:r>
                            <a:rPr lang="en-US" sz="1400" i="1" smtClean="0">
                              <a:latin typeface="Cambria Math" panose="02040503050406030204" pitchFamily="18" charset="0"/>
                            </a:rPr>
                            <m:t>𝑦</m:t>
                          </m:r>
                        </m:sub>
                      </m:sSub>
                      <m:d>
                        <m:dPr>
                          <m:ctrlPr>
                            <a:rPr lang="en-US" sz="1400" i="1" smtClean="0">
                              <a:latin typeface="Cambria Math" panose="02040503050406030204" pitchFamily="18" charset="0"/>
                            </a:rPr>
                          </m:ctrlPr>
                        </m:dPr>
                        <m:e>
                          <m:sSubSup>
                            <m:sSubSupPr>
                              <m:ctrlPr>
                                <a:rPr lang="en-US" sz="1400" i="1" smtClean="0">
                                  <a:latin typeface="Cambria Math" panose="02040503050406030204" pitchFamily="18" charset="0"/>
                                </a:rPr>
                              </m:ctrlPr>
                            </m:sSubSupPr>
                            <m:e>
                              <m:r>
                                <a:rPr lang="en-US" sz="1400" i="1" smtClean="0">
                                  <a:latin typeface="Cambria Math" panose="02040503050406030204" pitchFamily="18" charset="0"/>
                                </a:rPr>
                                <m:t>𝜃</m:t>
                              </m:r>
                            </m:e>
                            <m:sub>
                              <m:r>
                                <a:rPr lang="en-US" sz="1400" i="1" smtClean="0">
                                  <a:latin typeface="Cambria Math" panose="02040503050406030204" pitchFamily="18" charset="0"/>
                                </a:rPr>
                                <m:t>𝑥</m:t>
                              </m:r>
                            </m:sub>
                            <m:sup>
                              <m:r>
                                <a:rPr lang="en-US" sz="1400" i="1" smtClean="0">
                                  <a:latin typeface="Cambria Math" panose="02040503050406030204" pitchFamily="18" charset="0"/>
                                </a:rPr>
                                <m:t>∗</m:t>
                              </m:r>
                            </m:sup>
                          </m:sSubSup>
                        </m:e>
                      </m:d>
                      <m:r>
                        <a:rPr lang="en-US" sz="1400" i="1" smtClean="0">
                          <a:latin typeface="Cambria Math" panose="02040503050406030204" pitchFamily="18" charset="0"/>
                        </a:rPr>
                        <m:t> </m:t>
                      </m:r>
                    </m:oMath>
                  </m:oMathPara>
                </a14:m>
                <a:endParaRPr lang="vi-VN" sz="1400"/>
              </a:p>
            </p:txBody>
          </p:sp>
        </mc:Choice>
        <mc:Fallback xmlns="">
          <p:sp>
            <p:nvSpPr>
              <p:cNvPr id="13" name="TextBox 12">
                <a:extLst>
                  <a:ext uri="{FF2B5EF4-FFF2-40B4-BE49-F238E27FC236}">
                    <a16:creationId xmlns:a16="http://schemas.microsoft.com/office/drawing/2014/main" id="{560F9B65-041D-179A-3249-815C8F28A8D7}"/>
                  </a:ext>
                </a:extLst>
              </p:cNvPr>
              <p:cNvSpPr txBox="1">
                <a:spLocks noRot="1" noChangeAspect="1" noMove="1" noResize="1" noEditPoints="1" noAdjustHandles="1" noChangeArrowheads="1" noChangeShapeType="1" noTextEdit="1"/>
              </p:cNvSpPr>
              <p:nvPr/>
            </p:nvSpPr>
            <p:spPr>
              <a:xfrm>
                <a:off x="6237521" y="2371698"/>
                <a:ext cx="2836333" cy="636136"/>
              </a:xfrm>
              <a:prstGeom prst="rect">
                <a:avLst/>
              </a:prstGeom>
              <a:blipFill>
                <a:blip r:embed="rId4"/>
                <a:stretch>
                  <a:fillRect/>
                </a:stretch>
              </a:blipFill>
            </p:spPr>
            <p:txBody>
              <a:bodyPr/>
              <a:lstStyle/>
              <a:p>
                <a:r>
                  <a:rPr lang="vi-VN">
                    <a:noFill/>
                  </a:rPr>
                  <a:t> </a:t>
                </a:r>
              </a:p>
            </p:txBody>
          </p:sp>
        </mc:Fallback>
      </mc:AlternateContent>
      <p:pic>
        <p:nvPicPr>
          <p:cNvPr id="20" name="Content Placeholder 7" descr="A graph of different types of graphs&#10;&#10;AI-generated content may be incorrect.">
            <a:extLst>
              <a:ext uri="{FF2B5EF4-FFF2-40B4-BE49-F238E27FC236}">
                <a16:creationId xmlns:a16="http://schemas.microsoft.com/office/drawing/2014/main" id="{3A3D0ADA-16FB-0190-7B76-342925E3F4A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4696" y="2152650"/>
            <a:ext cx="6070600" cy="2831408"/>
          </a:xfrm>
          <a:prstGeom prst="rect">
            <a:avLst/>
          </a:prstGeom>
        </p:spPr>
      </p:pic>
      <p:sp>
        <p:nvSpPr>
          <p:cNvPr id="8" name="Rectangle 7">
            <a:extLst>
              <a:ext uri="{FF2B5EF4-FFF2-40B4-BE49-F238E27FC236}">
                <a16:creationId xmlns:a16="http://schemas.microsoft.com/office/drawing/2014/main" id="{28C9E0D0-70F0-9E83-4B00-B9E9084792FB}"/>
              </a:ext>
            </a:extLst>
          </p:cNvPr>
          <p:cNvSpPr/>
          <p:nvPr/>
        </p:nvSpPr>
        <p:spPr>
          <a:xfrm>
            <a:off x="6343354" y="2218809"/>
            <a:ext cx="2601679" cy="9419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DB6CEE55-5042-98C8-4530-D54C465EE65A}"/>
              </a:ext>
            </a:extLst>
          </p:cNvPr>
          <p:cNvSpPr>
            <a:spLocks noGrp="1"/>
          </p:cNvSpPr>
          <p:nvPr>
            <p:ph type="title"/>
          </p:nvPr>
        </p:nvSpPr>
        <p:spPr>
          <a:xfrm>
            <a:off x="628650" y="0"/>
            <a:ext cx="6690408" cy="1104648"/>
          </a:xfrm>
        </p:spPr>
        <p:txBody>
          <a:bodyPr>
            <a:normAutofit/>
          </a:bodyPr>
          <a:lstStyle/>
          <a:p>
            <a:r>
              <a:rPr lang="en-US"/>
              <a:t>1.6. Additional informations</a:t>
            </a:r>
            <a:br>
              <a:rPr lang="en-US"/>
            </a:br>
            <a:r>
              <a:rPr lang="en-US" sz="2000"/>
              <a:t>Can we apply classical techniques into quantum optimization?</a:t>
            </a:r>
            <a:endParaRPr lang="vi-VN" sz="2000"/>
          </a:p>
        </p:txBody>
      </p:sp>
    </p:spTree>
    <p:extLst>
      <p:ext uri="{BB962C8B-B14F-4D97-AF65-F5344CB8AC3E}">
        <p14:creationId xmlns:p14="http://schemas.microsoft.com/office/powerpoint/2010/main" val="722753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52539-B806-4569-F0FF-87761C90354D}"/>
              </a:ext>
            </a:extLst>
          </p:cNvPr>
          <p:cNvSpPr>
            <a:spLocks noGrp="1"/>
          </p:cNvSpPr>
          <p:nvPr>
            <p:ph type="title"/>
          </p:nvPr>
        </p:nvSpPr>
        <p:spPr>
          <a:xfrm>
            <a:off x="628650" y="273844"/>
            <a:ext cx="7253817" cy="994172"/>
          </a:xfrm>
        </p:spPr>
        <p:txBody>
          <a:bodyPr>
            <a:normAutofit fontScale="90000"/>
          </a:bodyPr>
          <a:lstStyle/>
          <a:p>
            <a:r>
              <a:rPr lang="en-VN"/>
              <a:t>2. Quantum</a:t>
            </a:r>
            <a:r>
              <a:rPr lang="en-US"/>
              <a:t> for AI (Quantum-inspired model)</a:t>
            </a:r>
            <a:endParaRPr lang="en-VN"/>
          </a:p>
        </p:txBody>
      </p:sp>
      <p:sp>
        <p:nvSpPr>
          <p:cNvPr id="4" name="Slide Number Placeholder 3">
            <a:extLst>
              <a:ext uri="{FF2B5EF4-FFF2-40B4-BE49-F238E27FC236}">
                <a16:creationId xmlns:a16="http://schemas.microsoft.com/office/drawing/2014/main" id="{F95DBCA6-FF6F-18FC-DD20-07FEE84B762B}"/>
              </a:ext>
            </a:extLst>
          </p:cNvPr>
          <p:cNvSpPr>
            <a:spLocks noGrp="1"/>
          </p:cNvSpPr>
          <p:nvPr>
            <p:ph type="sldNum" sz="quarter" idx="12"/>
          </p:nvPr>
        </p:nvSpPr>
        <p:spPr/>
        <p:txBody>
          <a:bodyPr/>
          <a:lstStyle/>
          <a:p>
            <a:fld id="{6A45828D-F580-42DE-B77E-860980F07F32}" type="slidenum">
              <a:rPr lang="vi-VN" smtClean="0"/>
              <a:pPr/>
              <a:t>21</a:t>
            </a:fld>
            <a:r>
              <a:rPr lang="en-US"/>
              <a:t>/80</a:t>
            </a:r>
            <a:endParaRPr lang="vi-VN"/>
          </a:p>
        </p:txBody>
      </p:sp>
      <p:sp>
        <p:nvSpPr>
          <p:cNvPr id="5" name="Rectangle 4">
            <a:extLst>
              <a:ext uri="{FF2B5EF4-FFF2-40B4-BE49-F238E27FC236}">
                <a16:creationId xmlns:a16="http://schemas.microsoft.com/office/drawing/2014/main" id="{968C6370-A673-1840-9768-47D3C4620E16}"/>
              </a:ext>
            </a:extLst>
          </p:cNvPr>
          <p:cNvSpPr/>
          <p:nvPr/>
        </p:nvSpPr>
        <p:spPr>
          <a:xfrm>
            <a:off x="742949" y="1268016"/>
            <a:ext cx="1318054"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Data pre-processing</a:t>
            </a:r>
          </a:p>
        </p:txBody>
      </p:sp>
      <p:sp>
        <p:nvSpPr>
          <p:cNvPr id="6" name="Rectangle 5">
            <a:extLst>
              <a:ext uri="{FF2B5EF4-FFF2-40B4-BE49-F238E27FC236}">
                <a16:creationId xmlns:a16="http://schemas.microsoft.com/office/drawing/2014/main" id="{45913CDF-BBF1-4006-E634-611524D88AA4}"/>
              </a:ext>
            </a:extLst>
          </p:cNvPr>
          <p:cNvSpPr/>
          <p:nvPr/>
        </p:nvSpPr>
        <p:spPr>
          <a:xfrm>
            <a:off x="2349322" y="1268016"/>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Model building</a:t>
            </a:r>
          </a:p>
        </p:txBody>
      </p:sp>
      <p:sp>
        <p:nvSpPr>
          <p:cNvPr id="7" name="Rectangle 6">
            <a:extLst>
              <a:ext uri="{FF2B5EF4-FFF2-40B4-BE49-F238E27FC236}">
                <a16:creationId xmlns:a16="http://schemas.microsoft.com/office/drawing/2014/main" id="{FBA852FD-552B-F3D0-B695-BB92FA92C2DF}"/>
              </a:ext>
            </a:extLst>
          </p:cNvPr>
          <p:cNvSpPr/>
          <p:nvPr/>
        </p:nvSpPr>
        <p:spPr>
          <a:xfrm>
            <a:off x="4079265" y="1268016"/>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Model training</a:t>
            </a:r>
          </a:p>
        </p:txBody>
      </p:sp>
      <p:sp>
        <p:nvSpPr>
          <p:cNvPr id="8" name="Rectangle 7">
            <a:extLst>
              <a:ext uri="{FF2B5EF4-FFF2-40B4-BE49-F238E27FC236}">
                <a16:creationId xmlns:a16="http://schemas.microsoft.com/office/drawing/2014/main" id="{42F232DF-84D0-FEFB-A612-00D52EE4C226}"/>
              </a:ext>
            </a:extLst>
          </p:cNvPr>
          <p:cNvSpPr/>
          <p:nvPr/>
        </p:nvSpPr>
        <p:spPr>
          <a:xfrm>
            <a:off x="5809208" y="1268016"/>
            <a:ext cx="1443310" cy="700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600">
                <a:solidFill>
                  <a:schemeClr val="tx1"/>
                </a:solidFill>
              </a:rPr>
              <a:t>Model </a:t>
            </a:r>
            <a:r>
              <a:rPr lang="en-US" sz="1600">
                <a:solidFill>
                  <a:schemeClr val="tx1"/>
                </a:solidFill>
              </a:rPr>
              <a:t>post-processing</a:t>
            </a:r>
            <a:endParaRPr lang="en-VN" sz="1600">
              <a:solidFill>
                <a:schemeClr val="tx1"/>
              </a:solidFill>
            </a:endParaRPr>
          </a:p>
        </p:txBody>
      </p:sp>
      <p:cxnSp>
        <p:nvCxnSpPr>
          <p:cNvPr id="9" name="Straight Arrow Connector 8">
            <a:extLst>
              <a:ext uri="{FF2B5EF4-FFF2-40B4-BE49-F238E27FC236}">
                <a16:creationId xmlns:a16="http://schemas.microsoft.com/office/drawing/2014/main" id="{EF389F0D-26C0-F824-EA46-E237C1486B1A}"/>
              </a:ext>
            </a:extLst>
          </p:cNvPr>
          <p:cNvCxnSpPr>
            <a:cxnSpLocks/>
            <a:stCxn id="5" idx="3"/>
            <a:endCxn id="6" idx="1"/>
          </p:cNvCxnSpPr>
          <p:nvPr/>
        </p:nvCxnSpPr>
        <p:spPr>
          <a:xfrm>
            <a:off x="2061003" y="1618124"/>
            <a:ext cx="2883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A624A2A-27CD-D43B-779A-A754F28CAAAC}"/>
              </a:ext>
            </a:extLst>
          </p:cNvPr>
          <p:cNvCxnSpPr>
            <a:cxnSpLocks/>
            <a:stCxn id="6" idx="3"/>
            <a:endCxn id="7" idx="1"/>
          </p:cNvCxnSpPr>
          <p:nvPr/>
        </p:nvCxnSpPr>
        <p:spPr>
          <a:xfrm>
            <a:off x="3792632" y="1618124"/>
            <a:ext cx="2866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BE23E17-A067-6257-D239-6882EB51AD1E}"/>
              </a:ext>
            </a:extLst>
          </p:cNvPr>
          <p:cNvCxnSpPr>
            <a:cxnSpLocks/>
            <a:stCxn id="7" idx="3"/>
            <a:endCxn id="8" idx="1"/>
          </p:cNvCxnSpPr>
          <p:nvPr/>
        </p:nvCxnSpPr>
        <p:spPr>
          <a:xfrm>
            <a:off x="5522575" y="1618124"/>
            <a:ext cx="2866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32">
            <a:extLst>
              <a:ext uri="{FF2B5EF4-FFF2-40B4-BE49-F238E27FC236}">
                <a16:creationId xmlns:a16="http://schemas.microsoft.com/office/drawing/2014/main" id="{9F4C7EA7-82C6-A284-AEAE-75DCD21A6E6B}"/>
              </a:ext>
            </a:extLst>
          </p:cNvPr>
          <p:cNvCxnSpPr>
            <a:stCxn id="8" idx="2"/>
            <a:endCxn id="6" idx="2"/>
          </p:cNvCxnSpPr>
          <p:nvPr/>
        </p:nvCxnSpPr>
        <p:spPr>
          <a:xfrm rot="5400000">
            <a:off x="4800920" y="238289"/>
            <a:ext cx="12700" cy="3459886"/>
          </a:xfrm>
          <a:prstGeom prst="bent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7BACB846-D8BB-AEA8-2736-0C692E18A095}"/>
              </a:ext>
            </a:extLst>
          </p:cNvPr>
          <p:cNvSpPr txBox="1"/>
          <p:nvPr/>
        </p:nvSpPr>
        <p:spPr>
          <a:xfrm rot="16200000">
            <a:off x="113847" y="1436633"/>
            <a:ext cx="706566" cy="369332"/>
          </a:xfrm>
          <a:prstGeom prst="rect">
            <a:avLst/>
          </a:prstGeom>
          <a:noFill/>
        </p:spPr>
        <p:txBody>
          <a:bodyPr wrap="square" rtlCol="0">
            <a:spAutoFit/>
          </a:bodyPr>
          <a:lstStyle/>
          <a:p>
            <a:pPr algn="ctr"/>
            <a:r>
              <a:rPr lang="en-VN" b="1"/>
              <a:t>AI</a:t>
            </a:r>
          </a:p>
        </p:txBody>
      </p:sp>
    </p:spTree>
    <p:extLst>
      <p:ext uri="{BB962C8B-B14F-4D97-AF65-F5344CB8AC3E}">
        <p14:creationId xmlns:p14="http://schemas.microsoft.com/office/powerpoint/2010/main" val="3243409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7A74E-CE64-CFAF-9DBF-FFFB154637AF}"/>
              </a:ext>
            </a:extLst>
          </p:cNvPr>
          <p:cNvSpPr>
            <a:spLocks noGrp="1"/>
          </p:cNvSpPr>
          <p:nvPr>
            <p:ph type="title"/>
          </p:nvPr>
        </p:nvSpPr>
        <p:spPr>
          <a:xfrm>
            <a:off x="628650" y="273844"/>
            <a:ext cx="7435850" cy="994172"/>
          </a:xfrm>
        </p:spPr>
        <p:txBody>
          <a:bodyPr>
            <a:normAutofit/>
          </a:bodyPr>
          <a:lstStyle/>
          <a:p>
            <a:r>
              <a:rPr lang="en-US"/>
              <a:t>2.1. Data pre-processing: compression task</a:t>
            </a:r>
            <a:endParaRPr lang="vi-VN"/>
          </a:p>
        </p:txBody>
      </p:sp>
      <p:sp>
        <p:nvSpPr>
          <p:cNvPr id="3" name="Content Placeholder 2">
            <a:extLst>
              <a:ext uri="{FF2B5EF4-FFF2-40B4-BE49-F238E27FC236}">
                <a16:creationId xmlns:a16="http://schemas.microsoft.com/office/drawing/2014/main" id="{D9B2381B-71CE-C0D4-03D8-1A95C5F4394A}"/>
              </a:ext>
            </a:extLst>
          </p:cNvPr>
          <p:cNvSpPr>
            <a:spLocks noGrp="1"/>
          </p:cNvSpPr>
          <p:nvPr>
            <p:ph idx="1"/>
          </p:nvPr>
        </p:nvSpPr>
        <p:spPr>
          <a:xfrm>
            <a:off x="4899859" y="1074286"/>
            <a:ext cx="2709334" cy="623281"/>
          </a:xfrm>
        </p:spPr>
        <p:txBody>
          <a:bodyPr>
            <a:normAutofit/>
          </a:bodyPr>
          <a:lstStyle/>
          <a:p>
            <a:pPr marL="0" indent="0">
              <a:buNone/>
            </a:pPr>
            <a:r>
              <a:rPr lang="en-US" sz="1200"/>
              <a:t>[x] Classical embedding compression for the base BERT model. Only the red components are tunable.</a:t>
            </a:r>
            <a:endParaRPr lang="vi-VN" sz="1200"/>
          </a:p>
        </p:txBody>
      </p:sp>
      <p:sp>
        <p:nvSpPr>
          <p:cNvPr id="4" name="Slide Number Placeholder 3">
            <a:extLst>
              <a:ext uri="{FF2B5EF4-FFF2-40B4-BE49-F238E27FC236}">
                <a16:creationId xmlns:a16="http://schemas.microsoft.com/office/drawing/2014/main" id="{C2FCD044-9129-1D03-7F28-E0CAD4386495}"/>
              </a:ext>
            </a:extLst>
          </p:cNvPr>
          <p:cNvSpPr>
            <a:spLocks noGrp="1"/>
          </p:cNvSpPr>
          <p:nvPr>
            <p:ph type="sldNum" sz="quarter" idx="12"/>
          </p:nvPr>
        </p:nvSpPr>
        <p:spPr/>
        <p:txBody>
          <a:bodyPr/>
          <a:lstStyle/>
          <a:p>
            <a:fld id="{6A45828D-F580-42DE-B77E-860980F07F32}" type="slidenum">
              <a:rPr lang="vi-VN" smtClean="0"/>
              <a:pPr/>
              <a:t>22</a:t>
            </a:fld>
            <a:r>
              <a:rPr lang="en-US"/>
              <a:t>/80</a:t>
            </a:r>
            <a:endParaRPr lang="vi-VN"/>
          </a:p>
        </p:txBody>
      </p:sp>
      <p:sp>
        <p:nvSpPr>
          <p:cNvPr id="8" name="TextBox 7">
            <a:extLst>
              <a:ext uri="{FF2B5EF4-FFF2-40B4-BE49-F238E27FC236}">
                <a16:creationId xmlns:a16="http://schemas.microsoft.com/office/drawing/2014/main" id="{98C92840-D1AC-AEAE-689A-B81C955EED79}"/>
              </a:ext>
            </a:extLst>
          </p:cNvPr>
          <p:cNvSpPr txBox="1"/>
          <p:nvPr/>
        </p:nvSpPr>
        <p:spPr>
          <a:xfrm>
            <a:off x="565149" y="4725091"/>
            <a:ext cx="7249583" cy="415498"/>
          </a:xfrm>
          <a:prstGeom prst="rect">
            <a:avLst/>
          </a:prstGeom>
          <a:noFill/>
        </p:spPr>
        <p:txBody>
          <a:bodyPr wrap="square">
            <a:spAutoFit/>
          </a:bodyPr>
          <a:lstStyle/>
          <a:p>
            <a:r>
              <a:rPr lang="en-US" sz="105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[2.1.1]</a:t>
            </a:r>
            <a:r>
              <a:rPr lang="en-US" sz="105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5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Kankeu, I., Fritsch, S. G., Schönhoff, G., Mounzer, E., Lukowicz, P., &amp; Kiefer-Emmanouilidis, M. (2025). Quantum-inspired embeddings projection and similarity metrics for representation learning. </a:t>
            </a:r>
            <a:r>
              <a:rPr lang="vi-VN" sz="105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arXiv preprint arXiv:2501.04591</a:t>
            </a:r>
            <a:r>
              <a:rPr lang="vi-VN" sz="105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a:t>
            </a:r>
            <a:endParaRPr lang="vi-VN" sz="105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A86A320C-6047-647D-9A1E-A0E753BD505E}"/>
              </a:ext>
            </a:extLst>
          </p:cNvPr>
          <p:cNvPicPr>
            <a:picLocks noChangeAspect="1"/>
          </p:cNvPicPr>
          <p:nvPr/>
        </p:nvPicPr>
        <p:blipFill>
          <a:blip r:embed="rId2"/>
          <a:stretch>
            <a:fillRect/>
          </a:stretch>
        </p:blipFill>
        <p:spPr>
          <a:xfrm>
            <a:off x="740834" y="2036481"/>
            <a:ext cx="6819900" cy="2658286"/>
          </a:xfrm>
          <a:prstGeom prst="rect">
            <a:avLst/>
          </a:prstGeom>
        </p:spPr>
      </p:pic>
      <p:pic>
        <p:nvPicPr>
          <p:cNvPr id="6" name="Picture 5">
            <a:extLst>
              <a:ext uri="{FF2B5EF4-FFF2-40B4-BE49-F238E27FC236}">
                <a16:creationId xmlns:a16="http://schemas.microsoft.com/office/drawing/2014/main" id="{0745D1C2-8F01-3BCF-8337-C9C0408C8BC5}"/>
              </a:ext>
            </a:extLst>
          </p:cNvPr>
          <p:cNvPicPr>
            <a:picLocks noChangeAspect="1"/>
          </p:cNvPicPr>
          <p:nvPr/>
        </p:nvPicPr>
        <p:blipFill>
          <a:blip r:embed="rId3"/>
          <a:stretch>
            <a:fillRect/>
          </a:stretch>
        </p:blipFill>
        <p:spPr>
          <a:xfrm>
            <a:off x="628650" y="1074286"/>
            <a:ext cx="4159025" cy="1342947"/>
          </a:xfrm>
          <a:prstGeom prst="rect">
            <a:avLst/>
          </a:prstGeom>
        </p:spPr>
      </p:pic>
      <p:sp>
        <p:nvSpPr>
          <p:cNvPr id="12" name="TextBox 11">
            <a:extLst>
              <a:ext uri="{FF2B5EF4-FFF2-40B4-BE49-F238E27FC236}">
                <a16:creationId xmlns:a16="http://schemas.microsoft.com/office/drawing/2014/main" id="{282CFD18-0610-E38B-37F4-692AD1E9DB3A}"/>
              </a:ext>
            </a:extLst>
          </p:cNvPr>
          <p:cNvSpPr txBox="1"/>
          <p:nvPr/>
        </p:nvSpPr>
        <p:spPr>
          <a:xfrm>
            <a:off x="565149" y="4033930"/>
            <a:ext cx="2846918" cy="738664"/>
          </a:xfrm>
          <a:prstGeom prst="rect">
            <a:avLst/>
          </a:prstGeom>
          <a:noFill/>
        </p:spPr>
        <p:txBody>
          <a:bodyPr wrap="square">
            <a:spAutoFit/>
          </a:bodyPr>
          <a:lstStyle/>
          <a:p>
            <a:r>
              <a:rPr lang="en-US" sz="1400"/>
              <a:t>Quantum-inspired embedding compression of base BERT. </a:t>
            </a:r>
            <a:r>
              <a:rPr lang="en-US" sz="1400">
                <a:latin typeface="Calibri" panose="020F0502020204030204" pitchFamily="34" charset="0"/>
                <a:ea typeface="Calibri" panose="020F0502020204030204" pitchFamily="34" charset="0"/>
                <a:cs typeface="Calibri" panose="020F0502020204030204" pitchFamily="34" charset="0"/>
              </a:rPr>
              <a:t>x32 </a:t>
            </a:r>
            <a:r>
              <a:rPr lang="vi-VN" sz="1400">
                <a:latin typeface="Calibri" panose="020F0502020204030204" pitchFamily="34" charset="0"/>
                <a:ea typeface="Calibri" panose="020F0502020204030204" pitchFamily="34" charset="0"/>
                <a:cs typeface="Calibri" panose="020F0502020204030204" pitchFamily="34" charset="0"/>
              </a:rPr>
              <a:t>fewer parameters</a:t>
            </a:r>
            <a:r>
              <a:rPr lang="en-US" sz="1400">
                <a:latin typeface="Calibri" panose="020F0502020204030204" pitchFamily="34" charset="0"/>
                <a:ea typeface="Calibri" panose="020F0502020204030204" pitchFamily="34" charset="0"/>
                <a:cs typeface="Calibri" panose="020F0502020204030204" pitchFamily="34" charset="0"/>
              </a:rPr>
              <a:t>???</a:t>
            </a:r>
            <a:endParaRPr lang="vi-VN" sz="14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7127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BD68-94AC-57A3-2E45-8037A74D3101}"/>
              </a:ext>
            </a:extLst>
          </p:cNvPr>
          <p:cNvSpPr>
            <a:spLocks noGrp="1"/>
          </p:cNvSpPr>
          <p:nvPr>
            <p:ph type="title"/>
          </p:nvPr>
        </p:nvSpPr>
        <p:spPr>
          <a:xfrm>
            <a:off x="628650" y="273844"/>
            <a:ext cx="6627283" cy="994172"/>
          </a:xfrm>
        </p:spPr>
        <p:txBody>
          <a:bodyPr>
            <a:normAutofit fontScale="90000"/>
          </a:bodyPr>
          <a:lstStyle/>
          <a:p>
            <a:r>
              <a:rPr lang="en-US"/>
              <a:t>2.2. Model building: quantum-inspired model</a:t>
            </a:r>
            <a:endParaRPr lang="vi-VN"/>
          </a:p>
        </p:txBody>
      </p:sp>
      <p:sp>
        <p:nvSpPr>
          <p:cNvPr id="4" name="Slide Number Placeholder 3">
            <a:extLst>
              <a:ext uri="{FF2B5EF4-FFF2-40B4-BE49-F238E27FC236}">
                <a16:creationId xmlns:a16="http://schemas.microsoft.com/office/drawing/2014/main" id="{F2797270-8475-A39F-8635-C82CB0B2B842}"/>
              </a:ext>
            </a:extLst>
          </p:cNvPr>
          <p:cNvSpPr>
            <a:spLocks noGrp="1"/>
          </p:cNvSpPr>
          <p:nvPr>
            <p:ph type="sldNum" sz="quarter" idx="12"/>
          </p:nvPr>
        </p:nvSpPr>
        <p:spPr/>
        <p:txBody>
          <a:bodyPr/>
          <a:lstStyle/>
          <a:p>
            <a:fld id="{6A45828D-F580-42DE-B77E-860980F07F32}" type="slidenum">
              <a:rPr lang="vi-VN" smtClean="0"/>
              <a:pPr/>
              <a:t>23</a:t>
            </a:fld>
            <a:r>
              <a:rPr lang="en-US"/>
              <a:t>/80</a:t>
            </a:r>
            <a:endParaRPr lang="vi-VN"/>
          </a:p>
        </p:txBody>
      </p:sp>
      <p:sp>
        <p:nvSpPr>
          <p:cNvPr id="10" name="TextBox 9">
            <a:extLst>
              <a:ext uri="{FF2B5EF4-FFF2-40B4-BE49-F238E27FC236}">
                <a16:creationId xmlns:a16="http://schemas.microsoft.com/office/drawing/2014/main" id="{911CA425-ABC8-AE2C-74F5-B3BE89DEC697}"/>
              </a:ext>
            </a:extLst>
          </p:cNvPr>
          <p:cNvSpPr txBox="1"/>
          <p:nvPr/>
        </p:nvSpPr>
        <p:spPr>
          <a:xfrm>
            <a:off x="575734" y="4669601"/>
            <a:ext cx="7128934" cy="400110"/>
          </a:xfrm>
          <a:prstGeom prst="rect">
            <a:avLst/>
          </a:prstGeom>
          <a:noFill/>
        </p:spPr>
        <p:txBody>
          <a:bodyPr wrap="square">
            <a:spAutoFit/>
          </a:bodyPr>
          <a:lstStyle/>
          <a:p>
            <a:r>
              <a:rPr lang="en-US" sz="1000" b="1" i="0">
                <a:effectLst/>
                <a:latin typeface="Calibri" panose="020F0502020204030204" pitchFamily="34" charset="0"/>
                <a:ea typeface="Calibri" panose="020F0502020204030204" pitchFamily="34" charset="0"/>
                <a:cs typeface="Calibri" panose="020F0502020204030204" pitchFamily="34" charset="0"/>
              </a:rPr>
              <a:t>[2.2.1]</a:t>
            </a:r>
            <a:r>
              <a:rPr lang="en-US" sz="1000" b="0" i="0">
                <a:effectLst/>
                <a:latin typeface="Calibri" panose="020F0502020204030204" pitchFamily="34" charset="0"/>
                <a:ea typeface="Calibri" panose="020F0502020204030204" pitchFamily="34" charset="0"/>
                <a:cs typeface="Calibri" panose="020F0502020204030204" pitchFamily="34" charset="0"/>
              </a:rPr>
              <a:t> </a:t>
            </a:r>
            <a:r>
              <a:rPr lang="vi-VN" sz="1000" b="0" i="0">
                <a:effectLst/>
                <a:latin typeface="Calibri" panose="020F0502020204030204" pitchFamily="34" charset="0"/>
                <a:ea typeface="Calibri" panose="020F0502020204030204" pitchFamily="34" charset="0"/>
                <a:cs typeface="Calibri" panose="020F0502020204030204" pitchFamily="34" charset="0"/>
              </a:rPr>
              <a:t>Nguyen, H. Q., Nguyen, X. B., Churchill, H., Choudhary, A. K., Sinha, P., Khan, S. U., &amp; Luu, K. (2024). Quantum-brain: Quantum-inspired neural network approach to vision-brain understanding. arXiv preprint arXiv:2411.13378.</a:t>
            </a:r>
            <a:endParaRPr lang="vi-VN" sz="1000">
              <a:latin typeface="Calibri" panose="020F050202020403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03EC8487-C58B-9F9F-6774-67AC70A19DAA}"/>
              </a:ext>
            </a:extLst>
          </p:cNvPr>
          <p:cNvPicPr>
            <a:picLocks noChangeAspect="1"/>
          </p:cNvPicPr>
          <p:nvPr/>
        </p:nvPicPr>
        <p:blipFill>
          <a:blip r:embed="rId2"/>
          <a:srcRect l="-1861" r="1"/>
          <a:stretch/>
        </p:blipFill>
        <p:spPr>
          <a:xfrm>
            <a:off x="385233" y="1090346"/>
            <a:ext cx="8184217" cy="2495287"/>
          </a:xfrm>
          <a:prstGeom prst="rect">
            <a:avLst/>
          </a:prstGeom>
        </p:spPr>
      </p:pic>
      <p:sp>
        <p:nvSpPr>
          <p:cNvPr id="8" name="TextBox 7">
            <a:extLst>
              <a:ext uri="{FF2B5EF4-FFF2-40B4-BE49-F238E27FC236}">
                <a16:creationId xmlns:a16="http://schemas.microsoft.com/office/drawing/2014/main" id="{20FC4D93-D40E-9CAB-835D-326C09AC0FA3}"/>
              </a:ext>
            </a:extLst>
          </p:cNvPr>
          <p:cNvSpPr txBox="1"/>
          <p:nvPr/>
        </p:nvSpPr>
        <p:spPr>
          <a:xfrm>
            <a:off x="575733" y="3585633"/>
            <a:ext cx="8056033" cy="830997"/>
          </a:xfrm>
          <a:prstGeom prst="rect">
            <a:avLst/>
          </a:prstGeom>
          <a:noFill/>
        </p:spPr>
        <p:txBody>
          <a:bodyPr wrap="square">
            <a:spAutoFit/>
          </a:bodyPr>
          <a:lstStyle/>
          <a:p>
            <a:r>
              <a:rPr lang="en-US" sz="1200"/>
              <a:t>Quantum-Brain for Vision-Brain Understanding. Motivated by the connectivities in brain signals and entanglement in quantum theory, we propose Quantum-Brain, a quantum-inspired neural network to explore the connectivities in brain signals for vision-brain understanding. Apart from self-attention, we evaluate the entanglement between brain voxels to enhance the exploration of connectivity. </a:t>
            </a:r>
            <a:r>
              <a:rPr lang="en-US" sz="1200" b="1"/>
              <a:t>[2.2.1]</a:t>
            </a:r>
            <a:r>
              <a:rPr lang="en-US" sz="1200"/>
              <a:t> </a:t>
            </a:r>
            <a:endParaRPr lang="vi-VN" sz="1200"/>
          </a:p>
        </p:txBody>
      </p:sp>
    </p:spTree>
    <p:extLst>
      <p:ext uri="{BB962C8B-B14F-4D97-AF65-F5344CB8AC3E}">
        <p14:creationId xmlns:p14="http://schemas.microsoft.com/office/powerpoint/2010/main" val="3828468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91CF4-4878-E028-1C59-F66B024BD639}"/>
              </a:ext>
            </a:extLst>
          </p:cNvPr>
          <p:cNvSpPr>
            <a:spLocks noGrp="1"/>
          </p:cNvSpPr>
          <p:nvPr>
            <p:ph type="title"/>
          </p:nvPr>
        </p:nvSpPr>
        <p:spPr>
          <a:xfrm>
            <a:off x="628650" y="273844"/>
            <a:ext cx="7516283" cy="522023"/>
          </a:xfrm>
        </p:spPr>
        <p:txBody>
          <a:bodyPr>
            <a:normAutofit fontScale="90000"/>
          </a:bodyPr>
          <a:lstStyle/>
          <a:p>
            <a:r>
              <a:rPr lang="en-US"/>
              <a:t>2.2. Model building: quantum-inspired model</a:t>
            </a:r>
            <a:endParaRPr lang="vi-VN"/>
          </a:p>
        </p:txBody>
      </p:sp>
      <p:sp>
        <p:nvSpPr>
          <p:cNvPr id="4" name="Slide Number Placeholder 3">
            <a:extLst>
              <a:ext uri="{FF2B5EF4-FFF2-40B4-BE49-F238E27FC236}">
                <a16:creationId xmlns:a16="http://schemas.microsoft.com/office/drawing/2014/main" id="{E93FEF06-778D-D7BF-6916-6CE7A5778EB4}"/>
              </a:ext>
            </a:extLst>
          </p:cNvPr>
          <p:cNvSpPr>
            <a:spLocks noGrp="1"/>
          </p:cNvSpPr>
          <p:nvPr>
            <p:ph type="sldNum" sz="quarter" idx="12"/>
          </p:nvPr>
        </p:nvSpPr>
        <p:spPr/>
        <p:txBody>
          <a:bodyPr/>
          <a:lstStyle/>
          <a:p>
            <a:fld id="{6A45828D-F580-42DE-B77E-860980F07F32}" type="slidenum">
              <a:rPr lang="vi-VN" smtClean="0"/>
              <a:pPr/>
              <a:t>24</a:t>
            </a:fld>
            <a:r>
              <a:rPr lang="en-US"/>
              <a:t>/80</a:t>
            </a:r>
            <a:endParaRPr lang="vi-VN"/>
          </a:p>
        </p:txBody>
      </p:sp>
      <p:sp>
        <p:nvSpPr>
          <p:cNvPr id="5" name="TextBox 4">
            <a:extLst>
              <a:ext uri="{FF2B5EF4-FFF2-40B4-BE49-F238E27FC236}">
                <a16:creationId xmlns:a16="http://schemas.microsoft.com/office/drawing/2014/main" id="{75232D1D-E364-F741-5F6B-D32E336C5722}"/>
              </a:ext>
            </a:extLst>
          </p:cNvPr>
          <p:cNvSpPr txBox="1"/>
          <p:nvPr/>
        </p:nvSpPr>
        <p:spPr>
          <a:xfrm>
            <a:off x="575734" y="4669601"/>
            <a:ext cx="7128934" cy="400110"/>
          </a:xfrm>
          <a:prstGeom prst="rect">
            <a:avLst/>
          </a:prstGeom>
          <a:noFill/>
        </p:spPr>
        <p:txBody>
          <a:bodyPr wrap="square">
            <a:spAutoFit/>
          </a:bodyPr>
          <a:lstStyle/>
          <a:p>
            <a:r>
              <a:rPr lang="en-US" sz="1000" b="1" i="0">
                <a:effectLst/>
                <a:latin typeface="Calibri" panose="020F0502020204030204" pitchFamily="34" charset="0"/>
                <a:ea typeface="Calibri" panose="020F0502020204030204" pitchFamily="34" charset="0"/>
                <a:cs typeface="Calibri" panose="020F0502020204030204" pitchFamily="34" charset="0"/>
              </a:rPr>
              <a:t>[2.2.2]</a:t>
            </a:r>
            <a:r>
              <a:rPr lang="en-US" sz="1000" b="0" i="0">
                <a:effectLst/>
                <a:latin typeface="Calibri" panose="020F0502020204030204" pitchFamily="34" charset="0"/>
                <a:ea typeface="Calibri" panose="020F0502020204030204" pitchFamily="34" charset="0"/>
                <a:cs typeface="Calibri" panose="020F0502020204030204" pitchFamily="34" charset="0"/>
              </a:rPr>
              <a:t> Gili, K., Alonso, G., &amp; Schuld, M. (2024). An inductive bias from quantum mechanics: learning order effects with non-commuting measurements. Quantum Machine Intelligence, 6(2), 67</a:t>
            </a:r>
            <a:endParaRPr lang="vi-VN" sz="100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May be an illustration of text">
            <a:extLst>
              <a:ext uri="{FF2B5EF4-FFF2-40B4-BE49-F238E27FC236}">
                <a16:creationId xmlns:a16="http://schemas.microsoft.com/office/drawing/2014/main" id="{1A05D2CF-9577-7D67-7918-00E9B11B5B54}"/>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628649" y="795867"/>
            <a:ext cx="6453717" cy="3876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163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BD68-94AC-57A3-2E45-8037A74D3101}"/>
              </a:ext>
            </a:extLst>
          </p:cNvPr>
          <p:cNvSpPr>
            <a:spLocks noGrp="1"/>
          </p:cNvSpPr>
          <p:nvPr>
            <p:ph type="title"/>
          </p:nvPr>
        </p:nvSpPr>
        <p:spPr>
          <a:xfrm>
            <a:off x="628650" y="273844"/>
            <a:ext cx="6627283" cy="994172"/>
          </a:xfrm>
        </p:spPr>
        <p:txBody>
          <a:bodyPr>
            <a:normAutofit fontScale="90000"/>
          </a:bodyPr>
          <a:lstStyle/>
          <a:p>
            <a:r>
              <a:rPr lang="en-US"/>
              <a:t>2.3. Post-processing: compressing by Tensor-network</a:t>
            </a:r>
            <a:endParaRPr lang="vi-VN"/>
          </a:p>
        </p:txBody>
      </p:sp>
      <p:pic>
        <p:nvPicPr>
          <p:cNvPr id="6" name="Content Placeholder 5">
            <a:extLst>
              <a:ext uri="{FF2B5EF4-FFF2-40B4-BE49-F238E27FC236}">
                <a16:creationId xmlns:a16="http://schemas.microsoft.com/office/drawing/2014/main" id="{BD55E132-2658-05D0-6FC8-8ABAC86F3962}"/>
              </a:ext>
            </a:extLst>
          </p:cNvPr>
          <p:cNvPicPr>
            <a:picLocks noGrp="1" noChangeAspect="1"/>
          </p:cNvPicPr>
          <p:nvPr>
            <p:ph idx="1"/>
          </p:nvPr>
        </p:nvPicPr>
        <p:blipFill>
          <a:blip r:embed="rId3"/>
          <a:stretch>
            <a:fillRect/>
          </a:stretch>
        </p:blipFill>
        <p:spPr>
          <a:xfrm>
            <a:off x="726018" y="1382316"/>
            <a:ext cx="3423552" cy="1899519"/>
          </a:xfrm>
        </p:spPr>
      </p:pic>
      <p:sp>
        <p:nvSpPr>
          <p:cNvPr id="4" name="Slide Number Placeholder 3">
            <a:extLst>
              <a:ext uri="{FF2B5EF4-FFF2-40B4-BE49-F238E27FC236}">
                <a16:creationId xmlns:a16="http://schemas.microsoft.com/office/drawing/2014/main" id="{F2797270-8475-A39F-8635-C82CB0B2B842}"/>
              </a:ext>
            </a:extLst>
          </p:cNvPr>
          <p:cNvSpPr>
            <a:spLocks noGrp="1"/>
          </p:cNvSpPr>
          <p:nvPr>
            <p:ph type="sldNum" sz="quarter" idx="12"/>
          </p:nvPr>
        </p:nvSpPr>
        <p:spPr/>
        <p:txBody>
          <a:bodyPr/>
          <a:lstStyle/>
          <a:p>
            <a:fld id="{6A45828D-F580-42DE-B77E-860980F07F32}" type="slidenum">
              <a:rPr lang="vi-VN" smtClean="0"/>
              <a:pPr/>
              <a:t>25</a:t>
            </a:fld>
            <a:r>
              <a:rPr lang="en-US"/>
              <a:t>/80</a:t>
            </a:r>
            <a:endParaRPr lang="vi-VN"/>
          </a:p>
        </p:txBody>
      </p:sp>
      <p:sp>
        <p:nvSpPr>
          <p:cNvPr id="10" name="TextBox 9">
            <a:extLst>
              <a:ext uri="{FF2B5EF4-FFF2-40B4-BE49-F238E27FC236}">
                <a16:creationId xmlns:a16="http://schemas.microsoft.com/office/drawing/2014/main" id="{911CA425-ABC8-AE2C-74F5-B3BE89DEC697}"/>
              </a:ext>
            </a:extLst>
          </p:cNvPr>
          <p:cNvSpPr txBox="1"/>
          <p:nvPr/>
        </p:nvSpPr>
        <p:spPr>
          <a:xfrm>
            <a:off x="628650" y="4220554"/>
            <a:ext cx="7190317" cy="861774"/>
          </a:xfrm>
          <a:prstGeom prst="rect">
            <a:avLst/>
          </a:prstGeom>
          <a:noFill/>
        </p:spPr>
        <p:txBody>
          <a:bodyPr wrap="square">
            <a:spAutoFit/>
          </a:bodyPr>
          <a:lstStyle/>
          <a:p>
            <a:r>
              <a:rPr lang="en-US" sz="1000" b="1" i="0">
                <a:effectLst/>
                <a:latin typeface="Calibri" panose="020F0502020204030204" pitchFamily="34" charset="0"/>
                <a:ea typeface="Calibri" panose="020F0502020204030204" pitchFamily="34" charset="0"/>
                <a:cs typeface="Calibri" panose="020F0502020204030204" pitchFamily="34" charset="0"/>
              </a:rPr>
              <a:t>[2.3.1]</a:t>
            </a:r>
            <a:r>
              <a:rPr lang="en-US" sz="1000" b="0" i="0">
                <a:effectLst/>
                <a:latin typeface="Calibri" panose="020F0502020204030204" pitchFamily="34" charset="0"/>
                <a:ea typeface="Calibri" panose="020F0502020204030204" pitchFamily="34" charset="0"/>
                <a:cs typeface="Calibri" panose="020F0502020204030204" pitchFamily="34" charset="0"/>
              </a:rPr>
              <a:t> </a:t>
            </a:r>
            <a:r>
              <a:rPr lang="vi-VN" sz="1000" b="0" i="0">
                <a:effectLst/>
                <a:latin typeface="Calibri" panose="020F0502020204030204" pitchFamily="34" charset="0"/>
                <a:ea typeface="Calibri" panose="020F0502020204030204" pitchFamily="34" charset="0"/>
                <a:cs typeface="Calibri" panose="020F0502020204030204" pitchFamily="34" charset="0"/>
              </a:rPr>
              <a:t>Solgi, R., Zhen, K., Swaminathan, R. V., Susanj, N., Mouchtaris, T., Kunzmann, J., &amp; Zhang, Z. (2025). </a:t>
            </a:r>
            <a:r>
              <a:rPr lang="vi-VN" sz="1000" b="0" i="1">
                <a:effectLst/>
                <a:latin typeface="Calibri" panose="020F0502020204030204" pitchFamily="34" charset="0"/>
                <a:ea typeface="Calibri" panose="020F0502020204030204" pitchFamily="34" charset="0"/>
                <a:cs typeface="Calibri" panose="020F0502020204030204" pitchFamily="34" charset="0"/>
              </a:rPr>
              <a:t>Sparse augmented tensor networks for post-training compression of large language models</a:t>
            </a:r>
            <a:r>
              <a:rPr lang="vi-VN" sz="1000" b="0" i="0">
                <a:effectLst/>
                <a:latin typeface="Calibri" panose="020F0502020204030204" pitchFamily="34" charset="0"/>
                <a:ea typeface="Calibri" panose="020F0502020204030204" pitchFamily="34" charset="0"/>
                <a:cs typeface="Calibri" panose="020F0502020204030204" pitchFamily="34" charset="0"/>
              </a:rPr>
              <a:t>.</a:t>
            </a:r>
            <a:r>
              <a:rPr lang="en-US" sz="1000" b="0" i="0">
                <a:effectLst/>
                <a:latin typeface="Calibri" panose="020F0502020204030204" pitchFamily="34" charset="0"/>
                <a:ea typeface="Calibri" panose="020F0502020204030204" pitchFamily="34" charset="0"/>
                <a:cs typeface="Calibri" panose="020F0502020204030204" pitchFamily="34" charset="0"/>
              </a:rPr>
              <a:t> EMNLP2025</a:t>
            </a:r>
          </a:p>
          <a:p>
            <a:r>
              <a:rPr lang="en-US" sz="1000" b="1">
                <a:latin typeface="Calibri" panose="020F0502020204030204" pitchFamily="34" charset="0"/>
                <a:ea typeface="Calibri" panose="020F0502020204030204" pitchFamily="34" charset="0"/>
                <a:cs typeface="Calibri" panose="020F0502020204030204" pitchFamily="34" charset="0"/>
              </a:rPr>
              <a:t>[2.3.2]</a:t>
            </a:r>
            <a:r>
              <a:rPr lang="en-US" sz="1000">
                <a:latin typeface="Calibri" panose="020F0502020204030204" pitchFamily="34" charset="0"/>
                <a:ea typeface="Calibri" panose="020F0502020204030204" pitchFamily="34" charset="0"/>
                <a:cs typeface="Calibri" panose="020F0502020204030204" pitchFamily="34" charset="0"/>
              </a:rPr>
              <a:t> </a:t>
            </a:r>
            <a:r>
              <a:rPr lang="vi-VN" sz="1000">
                <a:latin typeface="Calibri" panose="020F0502020204030204" pitchFamily="34" charset="0"/>
                <a:ea typeface="Calibri" panose="020F0502020204030204" pitchFamily="34" charset="0"/>
                <a:cs typeface="Calibri" panose="020F0502020204030204" pitchFamily="34" charset="0"/>
              </a:rPr>
              <a:t>Chen, Z., Dangovski, R., Loh, C., Dugan, O., Luo, D., &amp; Soljačić, M. (2024). QuanTA: Efficient High-Rank Fine-Tuning of LLMs with Quantum-Informed Tensor Adaptation. In A. Globerson, L. Mackey, D. Belgrave, A. Fan, U. Paquet, J. Tomczak, &amp; C. Zhang (Eds), Advances in Neural Information Processing Systems (Vol. 37, pp. 92210–92245). doi:10.52202/079017-2928</a:t>
            </a:r>
          </a:p>
        </p:txBody>
      </p:sp>
      <p:pic>
        <p:nvPicPr>
          <p:cNvPr id="15" name="Picture 14">
            <a:extLst>
              <a:ext uri="{FF2B5EF4-FFF2-40B4-BE49-F238E27FC236}">
                <a16:creationId xmlns:a16="http://schemas.microsoft.com/office/drawing/2014/main" id="{CC603917-8A04-398D-14EB-177E3DC7D0B0}"/>
              </a:ext>
            </a:extLst>
          </p:cNvPr>
          <p:cNvPicPr>
            <a:picLocks noChangeAspect="1"/>
          </p:cNvPicPr>
          <p:nvPr/>
        </p:nvPicPr>
        <p:blipFill>
          <a:blip r:embed="rId4"/>
          <a:stretch>
            <a:fillRect/>
          </a:stretch>
        </p:blipFill>
        <p:spPr>
          <a:xfrm>
            <a:off x="4275381" y="1382316"/>
            <a:ext cx="4779719" cy="1899519"/>
          </a:xfrm>
          <a:prstGeom prst="rect">
            <a:avLst/>
          </a:prstGeom>
        </p:spPr>
      </p:pic>
      <p:sp>
        <p:nvSpPr>
          <p:cNvPr id="17" name="TextBox 16">
            <a:extLst>
              <a:ext uri="{FF2B5EF4-FFF2-40B4-BE49-F238E27FC236}">
                <a16:creationId xmlns:a16="http://schemas.microsoft.com/office/drawing/2014/main" id="{5B08D050-1F26-4599-E508-7B8FDFB48811}"/>
              </a:ext>
            </a:extLst>
          </p:cNvPr>
          <p:cNvSpPr txBox="1"/>
          <p:nvPr/>
        </p:nvSpPr>
        <p:spPr>
          <a:xfrm>
            <a:off x="4275381" y="3281835"/>
            <a:ext cx="4572000" cy="938719"/>
          </a:xfrm>
          <a:prstGeom prst="rect">
            <a:avLst/>
          </a:prstGeom>
          <a:noFill/>
        </p:spPr>
        <p:txBody>
          <a:bodyPr wrap="square">
            <a:spAutoFit/>
          </a:bodyPr>
          <a:lstStyle/>
          <a:p>
            <a:r>
              <a:rPr lang="en-US" sz="1100"/>
              <a:t>(B) Conceptual comparison of QuanTA and LoRA methods. LoRA parameterizes the weight matrix update as a outer product of two low-rank matrices, limiting its capacity. QuanTA, inspired by quantum circuits, uses tensors that operate on specific axes of the (reshaped) input, enabling high-rank parameterization</a:t>
            </a:r>
            <a:r>
              <a:rPr lang="en-US" sz="1100" b="1"/>
              <a:t>.[2.3.2]</a:t>
            </a:r>
            <a:endParaRPr lang="vi-VN" sz="1100" b="1"/>
          </a:p>
        </p:txBody>
      </p:sp>
      <p:sp>
        <p:nvSpPr>
          <p:cNvPr id="19" name="TextBox 18">
            <a:extLst>
              <a:ext uri="{FF2B5EF4-FFF2-40B4-BE49-F238E27FC236}">
                <a16:creationId xmlns:a16="http://schemas.microsoft.com/office/drawing/2014/main" id="{592C14C7-32DE-0BF1-235B-32526C57BB27}"/>
              </a:ext>
            </a:extLst>
          </p:cNvPr>
          <p:cNvSpPr txBox="1"/>
          <p:nvPr/>
        </p:nvSpPr>
        <p:spPr>
          <a:xfrm>
            <a:off x="628650" y="3281835"/>
            <a:ext cx="3570817" cy="430887"/>
          </a:xfrm>
          <a:prstGeom prst="rect">
            <a:avLst/>
          </a:prstGeom>
          <a:noFill/>
        </p:spPr>
        <p:txBody>
          <a:bodyPr wrap="square">
            <a:spAutoFit/>
          </a:bodyPr>
          <a:lstStyle/>
          <a:p>
            <a:r>
              <a:rPr lang="en-US" sz="1100"/>
              <a:t>(A) The sparse + low-rank tensor train representation for a weight matrix (or embedding table). </a:t>
            </a:r>
            <a:r>
              <a:rPr lang="en-US" sz="1100" b="1"/>
              <a:t>[2.3.1]</a:t>
            </a:r>
            <a:endParaRPr lang="vi-VN" sz="1100" b="1"/>
          </a:p>
        </p:txBody>
      </p:sp>
    </p:spTree>
    <p:extLst>
      <p:ext uri="{BB962C8B-B14F-4D97-AF65-F5344CB8AC3E}">
        <p14:creationId xmlns:p14="http://schemas.microsoft.com/office/powerpoint/2010/main" val="1177768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488B-4686-C89E-E7FD-A67B08ED5A11}"/>
              </a:ext>
            </a:extLst>
          </p:cNvPr>
          <p:cNvSpPr>
            <a:spLocks noGrp="1"/>
          </p:cNvSpPr>
          <p:nvPr>
            <p:ph type="title"/>
          </p:nvPr>
        </p:nvSpPr>
        <p:spPr/>
        <p:txBody>
          <a:bodyPr>
            <a:normAutofit/>
          </a:bodyPr>
          <a:lstStyle/>
          <a:p>
            <a:r>
              <a:rPr lang="en-US"/>
              <a:t>2.3. Post-processing: tensor network</a:t>
            </a:r>
            <a:br>
              <a:rPr lang="en-US"/>
            </a:br>
            <a:r>
              <a:rPr lang="en-US" sz="2000"/>
              <a:t>Tensor network</a:t>
            </a:r>
            <a:endParaRPr lang="vi-VN" sz="2000"/>
          </a:p>
        </p:txBody>
      </p:sp>
      <p:sp>
        <p:nvSpPr>
          <p:cNvPr id="4" name="Slide Number Placeholder 3">
            <a:extLst>
              <a:ext uri="{FF2B5EF4-FFF2-40B4-BE49-F238E27FC236}">
                <a16:creationId xmlns:a16="http://schemas.microsoft.com/office/drawing/2014/main" id="{217FC216-D3E4-5159-99B0-972050880FF8}"/>
              </a:ext>
            </a:extLst>
          </p:cNvPr>
          <p:cNvSpPr>
            <a:spLocks noGrp="1"/>
          </p:cNvSpPr>
          <p:nvPr>
            <p:ph type="sldNum" sz="quarter" idx="12"/>
          </p:nvPr>
        </p:nvSpPr>
        <p:spPr/>
        <p:txBody>
          <a:bodyPr/>
          <a:lstStyle/>
          <a:p>
            <a:fld id="{6A45828D-F580-42DE-B77E-860980F07F32}" type="slidenum">
              <a:rPr lang="vi-VN" smtClean="0"/>
              <a:t>26</a:t>
            </a:fld>
            <a:endParaRPr lang="vi-VN"/>
          </a:p>
        </p:txBody>
      </p:sp>
      <p:pic>
        <p:nvPicPr>
          <p:cNvPr id="3074" name="Picture 2">
            <a:extLst>
              <a:ext uri="{FF2B5EF4-FFF2-40B4-BE49-F238E27FC236}">
                <a16:creationId xmlns:a16="http://schemas.microsoft.com/office/drawing/2014/main" id="{81954910-26AF-78EE-DCB3-2531B104BCD4}"/>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24605" y="1268016"/>
            <a:ext cx="5066595" cy="129372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EC6C2AF-C776-F18D-0502-B031175E4AB8}"/>
                  </a:ext>
                </a:extLst>
              </p:cNvPr>
              <p:cNvSpPr txBox="1"/>
              <p:nvPr/>
            </p:nvSpPr>
            <p:spPr>
              <a:xfrm>
                <a:off x="734367" y="3190167"/>
                <a:ext cx="4848578" cy="586956"/>
              </a:xfrm>
              <a:prstGeom prst="rect">
                <a:avLst/>
              </a:prstGeom>
              <a:noFill/>
            </p:spPr>
            <p:txBody>
              <a:bodyPr wrap="square" rtlCol="0">
                <a:spAutoFit/>
              </a:bodyPr>
              <a:lstStyle/>
              <a:p>
                <a:r>
                  <a:rPr lang="en-US"/>
                  <a:t>We present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a:t> statevector as </a:t>
                </a:r>
                <a14:m>
                  <m:oMath xmlns:m="http://schemas.openxmlformats.org/officeDocument/2006/math">
                    <m:limLow>
                      <m:limLowPr>
                        <m:ctrlPr>
                          <a:rPr lang="en-US" i="1" smtClean="0">
                            <a:latin typeface="Cambria Math" panose="02040503050406030204" pitchFamily="18" charset="0"/>
                          </a:rPr>
                        </m:ctrlPr>
                      </m:limLowPr>
                      <m:e>
                        <m:groupChr>
                          <m:groupChrPr>
                            <m:chr m:val="⏟"/>
                            <m:ctrlPr>
                              <a:rPr lang="en-US" i="1" smtClean="0">
                                <a:latin typeface="Cambria Math" panose="02040503050406030204" pitchFamily="18" charset="0"/>
                              </a:rPr>
                            </m:ctrlPr>
                          </m:groupChrPr>
                          <m:e>
                            <m:d>
                              <m:dPr>
                                <m:ctrlPr>
                                  <a:rPr lang="en-US" i="1">
                                    <a:latin typeface="Cambria Math" panose="02040503050406030204" pitchFamily="18" charset="0"/>
                                  </a:rPr>
                                </m:ctrlPr>
                              </m:dPr>
                              <m:e>
                                <m:r>
                                  <a:rPr lang="en-US" i="1">
                                    <a:latin typeface="Cambria Math" panose="02040503050406030204" pitchFamily="18" charset="0"/>
                                  </a:rPr>
                                  <m:t>2,2,…,2</m:t>
                                </m:r>
                              </m:e>
                            </m:d>
                          </m:e>
                        </m:groupChr>
                      </m:e>
                      <m:lim>
                        <m:r>
                          <a:rPr lang="en-US" b="0" i="1" smtClean="0">
                            <a:latin typeface="Cambria Math" panose="02040503050406030204" pitchFamily="18" charset="0"/>
                          </a:rPr>
                          <m:t>𝑛</m:t>
                        </m:r>
                      </m:lim>
                    </m:limLow>
                  </m:oMath>
                </a14:m>
                <a:r>
                  <a:rPr lang="en-US"/>
                  <a:t> tensor</a:t>
                </a:r>
                <a:endParaRPr lang="vi-VN"/>
              </a:p>
            </p:txBody>
          </p:sp>
        </mc:Choice>
        <mc:Fallback xmlns="">
          <p:sp>
            <p:nvSpPr>
              <p:cNvPr id="7" name="TextBox 6">
                <a:extLst>
                  <a:ext uri="{FF2B5EF4-FFF2-40B4-BE49-F238E27FC236}">
                    <a16:creationId xmlns:a16="http://schemas.microsoft.com/office/drawing/2014/main" id="{8EC6C2AF-C776-F18D-0502-B031175E4AB8}"/>
                  </a:ext>
                </a:extLst>
              </p:cNvPr>
              <p:cNvSpPr txBox="1">
                <a:spLocks noRot="1" noChangeAspect="1" noMove="1" noResize="1" noEditPoints="1" noAdjustHandles="1" noChangeArrowheads="1" noChangeShapeType="1" noTextEdit="1"/>
              </p:cNvSpPr>
              <p:nvPr/>
            </p:nvSpPr>
            <p:spPr>
              <a:xfrm>
                <a:off x="734367" y="3190167"/>
                <a:ext cx="4848578" cy="586956"/>
              </a:xfrm>
              <a:prstGeom prst="rect">
                <a:avLst/>
              </a:prstGeom>
              <a:blipFill>
                <a:blip r:embed="rId3"/>
                <a:stretch>
                  <a:fillRect l="-1005" t="-412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3AD5AAE-8DF5-66C5-3222-DC92FF93A2DE}"/>
                  </a:ext>
                </a:extLst>
              </p:cNvPr>
              <p:cNvSpPr txBox="1"/>
              <p:nvPr/>
            </p:nvSpPr>
            <p:spPr>
              <a:xfrm>
                <a:off x="724604" y="3572704"/>
                <a:ext cx="8135763" cy="497637"/>
              </a:xfrm>
              <a:prstGeom prst="rect">
                <a:avLst/>
              </a:prstGeom>
              <a:noFill/>
            </p:spPr>
            <p:txBody>
              <a:bodyPr wrap="square" rtlCol="0">
                <a:spAutoFit/>
              </a:bodyPr>
              <a:lstStyle/>
              <a:p>
                <a:r>
                  <a:rPr lang="en-US"/>
                  <a:t>For qubit 0, we reshape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oMath>
                </a14:m>
                <a:r>
                  <a:rPr lang="en-US"/>
                  <a:t> as row =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oMath>
                </a14:m>
                <a:r>
                  <a:rPr lang="en-US"/>
                  <a:t> col </a:t>
                </a:r>
                <a14:m>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𝑛</m:t>
                            </m:r>
                          </m:sub>
                        </m:sSub>
                      </m:e>
                    </m:d>
                  </m:oMath>
                </a14:m>
                <a:r>
                  <a:rPr lang="en-US"/>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𝑛</m:t>
                                </m:r>
                              </m:sub>
                            </m:sSub>
                          </m:e>
                        </m:d>
                      </m:sub>
                    </m:sSub>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𝑆</m:t>
                        </m:r>
                        <m:r>
                          <a:rPr lang="en-US" b="0" i="1" smtClean="0">
                            <a:latin typeface="Cambria Math" panose="02040503050406030204" pitchFamily="18" charset="0"/>
                          </a:rPr>
                          <m:t>𝑉𝐷</m:t>
                        </m:r>
                      </m:e>
                    </m:groupChr>
                    <m:r>
                      <a:rPr lang="en-US" b="0" i="1" smtClean="0">
                        <a:latin typeface="Cambria Math" panose="02040503050406030204" pitchFamily="18" charset="0"/>
                      </a:rPr>
                      <m:t> </m:t>
                    </m:r>
                    <m:r>
                      <a:rPr lang="en-US" b="0" i="1" smtClean="0">
                        <a:latin typeface="Cambria Math" panose="02040503050406030204" pitchFamily="18" charset="0"/>
                      </a:rPr>
                      <m:t>𝑈</m:t>
                    </m:r>
                    <m:r>
                      <a:rPr lang="en-US" b="0" i="1" smtClean="0">
                        <a:latin typeface="Cambria Math" panose="02040503050406030204" pitchFamily="18" charset="0"/>
                      </a:rPr>
                      <m:t>   </m:t>
                    </m:r>
                    <m:r>
                      <a:rPr lang="en-US" b="0" i="1" smtClean="0">
                        <a:latin typeface="Cambria Math" panose="02040503050406030204" pitchFamily="18" charset="0"/>
                      </a:rPr>
                      <m:t>𝑆</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m:t>
                        </m:r>
                      </m:sup>
                    </m:sSup>
                  </m:oMath>
                </a14:m>
                <a:endParaRPr lang="vi-VN"/>
              </a:p>
            </p:txBody>
          </p:sp>
        </mc:Choice>
        <mc:Fallback xmlns="">
          <p:sp>
            <p:nvSpPr>
              <p:cNvPr id="8" name="TextBox 7">
                <a:extLst>
                  <a:ext uri="{FF2B5EF4-FFF2-40B4-BE49-F238E27FC236}">
                    <a16:creationId xmlns:a16="http://schemas.microsoft.com/office/drawing/2014/main" id="{53AD5AAE-8DF5-66C5-3222-DC92FF93A2DE}"/>
                  </a:ext>
                </a:extLst>
              </p:cNvPr>
              <p:cNvSpPr txBox="1">
                <a:spLocks noRot="1" noChangeAspect="1" noMove="1" noResize="1" noEditPoints="1" noAdjustHandles="1" noChangeArrowheads="1" noChangeShapeType="1" noTextEdit="1"/>
              </p:cNvSpPr>
              <p:nvPr/>
            </p:nvSpPr>
            <p:spPr>
              <a:xfrm>
                <a:off x="724604" y="3572704"/>
                <a:ext cx="8135763" cy="497637"/>
              </a:xfrm>
              <a:prstGeom prst="rect">
                <a:avLst/>
              </a:prstGeom>
              <a:blipFill>
                <a:blip r:embed="rId4"/>
                <a:stretch>
                  <a:fillRect l="-675" b="-13415"/>
                </a:stretch>
              </a:blipFill>
            </p:spPr>
            <p:txBody>
              <a:bodyPr/>
              <a:lstStyle/>
              <a:p>
                <a:r>
                  <a:rPr lang="vi-VN">
                    <a:noFill/>
                  </a:rPr>
                  <a:t> </a:t>
                </a:r>
              </a:p>
            </p:txBody>
          </p:sp>
        </mc:Fallback>
      </mc:AlternateContent>
      <p:sp>
        <p:nvSpPr>
          <p:cNvPr id="11" name="Rectangle 10">
            <a:extLst>
              <a:ext uri="{FF2B5EF4-FFF2-40B4-BE49-F238E27FC236}">
                <a16:creationId xmlns:a16="http://schemas.microsoft.com/office/drawing/2014/main" id="{58D97694-98F5-F568-F10B-9EB19652F176}"/>
              </a:ext>
            </a:extLst>
          </p:cNvPr>
          <p:cNvSpPr/>
          <p:nvPr/>
        </p:nvSpPr>
        <p:spPr>
          <a:xfrm>
            <a:off x="7735706" y="3636726"/>
            <a:ext cx="234810"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Rectangle 11">
            <a:extLst>
              <a:ext uri="{FF2B5EF4-FFF2-40B4-BE49-F238E27FC236}">
                <a16:creationId xmlns:a16="http://schemas.microsoft.com/office/drawing/2014/main" id="{D7433777-55D8-FE5B-B7E3-F73C2093B818}"/>
              </a:ext>
            </a:extLst>
          </p:cNvPr>
          <p:cNvSpPr/>
          <p:nvPr/>
        </p:nvSpPr>
        <p:spPr>
          <a:xfrm>
            <a:off x="8024418" y="3636204"/>
            <a:ext cx="538905"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B18B496-44CA-8BC6-C0A3-58DB3AC80D34}"/>
                  </a:ext>
                </a:extLst>
              </p:cNvPr>
              <p:cNvSpPr txBox="1"/>
              <p:nvPr/>
            </p:nvSpPr>
            <p:spPr>
              <a:xfrm>
                <a:off x="7581228" y="3175347"/>
                <a:ext cx="576156" cy="4313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sup>
                      </m:sSubSup>
                    </m:oMath>
                  </m:oMathPara>
                </a14:m>
                <a:endParaRPr lang="vi-VN"/>
              </a:p>
            </p:txBody>
          </p:sp>
        </mc:Choice>
        <mc:Fallback xmlns="">
          <p:sp>
            <p:nvSpPr>
              <p:cNvPr id="13" name="TextBox 12">
                <a:extLst>
                  <a:ext uri="{FF2B5EF4-FFF2-40B4-BE49-F238E27FC236}">
                    <a16:creationId xmlns:a16="http://schemas.microsoft.com/office/drawing/2014/main" id="{1B18B496-44CA-8BC6-C0A3-58DB3AC80D34}"/>
                  </a:ext>
                </a:extLst>
              </p:cNvPr>
              <p:cNvSpPr txBox="1">
                <a:spLocks noRot="1" noChangeAspect="1" noMove="1" noResize="1" noEditPoints="1" noAdjustHandles="1" noChangeArrowheads="1" noChangeShapeType="1" noTextEdit="1"/>
              </p:cNvSpPr>
              <p:nvPr/>
            </p:nvSpPr>
            <p:spPr>
              <a:xfrm>
                <a:off x="7581228" y="3175347"/>
                <a:ext cx="576156" cy="431337"/>
              </a:xfrm>
              <a:prstGeom prst="rect">
                <a:avLst/>
              </a:prstGeom>
              <a:blipFill>
                <a:blip r:embed="rId5"/>
                <a:stretch>
                  <a:fillRect b="-281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6286C9D-470D-3689-E246-B9252963842B}"/>
                  </a:ext>
                </a:extLst>
              </p:cNvPr>
              <p:cNvSpPr txBox="1"/>
              <p:nvPr/>
            </p:nvSpPr>
            <p:spPr>
              <a:xfrm>
                <a:off x="724604" y="3947562"/>
                <a:ext cx="8076495" cy="1172500"/>
              </a:xfrm>
              <a:prstGeom prst="rect">
                <a:avLst/>
              </a:prstGeom>
              <a:noFill/>
            </p:spPr>
            <p:txBody>
              <a:bodyPr wrap="square" rtlCol="0">
                <a:spAutoFit/>
              </a:bodyPr>
              <a:lstStyle/>
              <a:p>
                <a:r>
                  <a:rPr lang="en-US"/>
                  <a:t>For qubit 1, we reshape </a:t>
                </a:r>
                <a14:m>
                  <m:oMath xmlns:m="http://schemas.openxmlformats.org/officeDocument/2006/math">
                    <m:r>
                      <a:rPr lang="en-US" i="1">
                        <a:latin typeface="Cambria Math" panose="02040503050406030204" pitchFamily="18" charset="0"/>
                      </a:rPr>
                      <m:t>𝑆</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ea typeface="Cambria Math" panose="02040503050406030204" pitchFamily="18" charset="0"/>
                          </a:rPr>
                          <m:t>†</m:t>
                        </m:r>
                      </m:sup>
                    </m:sSup>
                  </m:oMath>
                </a14:m>
                <a:r>
                  <a:rPr lang="en-US"/>
                  <a:t> as row </a:t>
                </a:r>
                <a14:m>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𝑏𝑜𝑛𝑑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e>
                    </m:d>
                  </m:oMath>
                </a14:m>
                <a:r>
                  <a:rPr lang="en-US"/>
                  <a:t>, col </a:t>
                </a:r>
                <a14:m>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𝑛</m:t>
                            </m:r>
                          </m:sub>
                        </m:sSub>
                      </m:e>
                    </m:d>
                  </m:oMath>
                </a14:m>
                <a:r>
                  <a:rPr lang="en-US"/>
                  <a:t>   </a:t>
                </a:r>
                <a14:m>
                  <m:oMath xmlns:m="http://schemas.openxmlformats.org/officeDocument/2006/math">
                    <m:groupChr>
                      <m:groupChrPr>
                        <m:chr m:val="→"/>
                        <m:vertJc m:val="bot"/>
                        <m:ctrlPr>
                          <a:rPr lang="en-US" i="1">
                            <a:latin typeface="Cambria Math" panose="02040503050406030204" pitchFamily="18" charset="0"/>
                          </a:rPr>
                        </m:ctrlPr>
                      </m:groupChrPr>
                      <m:e>
                        <m:r>
                          <m:rPr>
                            <m:brk m:alnAt="2"/>
                          </m:rPr>
                          <a:rPr lang="en-US" i="1">
                            <a:latin typeface="Cambria Math" panose="02040503050406030204" pitchFamily="18" charset="0"/>
                          </a:rPr>
                          <m:t>𝑆</m:t>
                        </m:r>
                        <m:r>
                          <a:rPr lang="en-US" i="1">
                            <a:latin typeface="Cambria Math" panose="02040503050406030204" pitchFamily="18" charset="0"/>
                          </a:rPr>
                          <m:t>𝑉𝐷</m:t>
                        </m:r>
                      </m:e>
                    </m:groupChr>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2</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sup>
                    </m:sSubSup>
                    <m:r>
                      <a:rPr lang="en-US" i="1">
                        <a:latin typeface="Cambria Math" panose="02040503050406030204" pitchFamily="18" charset="0"/>
                      </a:rPr>
                      <m:t>𝑆</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ea typeface="Cambria Math" panose="02040503050406030204" pitchFamily="18" charset="0"/>
                          </a:rPr>
                          <m:t>†</m:t>
                        </m:r>
                      </m:sup>
                    </m:sSup>
                  </m:oMath>
                </a14:m>
                <a:endParaRPr lang="en-US">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b="0"/>
              </a:p>
              <a:p>
                <a:r>
                  <a:rPr lang="en-US"/>
                  <a:t>Finally, we collect </a:t>
                </a:r>
                <a14:m>
                  <m:oMath xmlns:m="http://schemas.openxmlformats.org/officeDocument/2006/math">
                    <m:d>
                      <m:dPr>
                        <m:begChr m:val="{"/>
                        <m:endChr m:val="}"/>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1</m:t>
                                </m:r>
                              </m:sub>
                            </m:sSub>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b="0" i="1" smtClean="0">
                                <a:latin typeface="Cambria Math" panose="02040503050406030204" pitchFamily="18" charset="0"/>
                              </a:rPr>
                              <m:t>2</m:t>
                            </m:r>
                          </m:sub>
                          <m:sup>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2</m:t>
                                </m:r>
                              </m:sub>
                            </m:sSub>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b="0" i="1" smtClean="0">
                                <a:latin typeface="Cambria Math" panose="02040503050406030204" pitchFamily="18" charset="0"/>
                              </a:rPr>
                              <m:t>𝑛</m:t>
                            </m:r>
                          </m:sub>
                          <m:sup>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𝑛</m:t>
                                </m:r>
                              </m:sub>
                            </m:sSub>
                          </m:sup>
                        </m:sSubSup>
                      </m:e>
                    </m:d>
                  </m:oMath>
                </a14:m>
                <a:endParaRPr lang="vi-VN"/>
              </a:p>
            </p:txBody>
          </p:sp>
        </mc:Choice>
        <mc:Fallback xmlns="">
          <p:sp>
            <p:nvSpPr>
              <p:cNvPr id="15" name="TextBox 14">
                <a:extLst>
                  <a:ext uri="{FF2B5EF4-FFF2-40B4-BE49-F238E27FC236}">
                    <a16:creationId xmlns:a16="http://schemas.microsoft.com/office/drawing/2014/main" id="{A6286C9D-470D-3689-E246-B9252963842B}"/>
                  </a:ext>
                </a:extLst>
              </p:cNvPr>
              <p:cNvSpPr txBox="1">
                <a:spLocks noRot="1" noChangeAspect="1" noMove="1" noResize="1" noEditPoints="1" noAdjustHandles="1" noChangeArrowheads="1" noChangeShapeType="1" noTextEdit="1"/>
              </p:cNvSpPr>
              <p:nvPr/>
            </p:nvSpPr>
            <p:spPr>
              <a:xfrm>
                <a:off x="724604" y="3947562"/>
                <a:ext cx="8076495" cy="1172500"/>
              </a:xfrm>
              <a:prstGeom prst="rect">
                <a:avLst/>
              </a:prstGeom>
              <a:blipFill>
                <a:blip r:embed="rId6"/>
                <a:stretch>
                  <a:fillRect l="-679" b="-2083"/>
                </a:stretch>
              </a:blipFill>
            </p:spPr>
            <p:txBody>
              <a:bodyPr/>
              <a:lstStyle/>
              <a:p>
                <a:r>
                  <a:rPr lang="vi-VN">
                    <a:noFill/>
                  </a:rPr>
                  <a:t> </a:t>
                </a:r>
              </a:p>
            </p:txBody>
          </p:sp>
        </mc:Fallback>
      </mc:AlternateContent>
      <p:sp>
        <p:nvSpPr>
          <p:cNvPr id="16" name="TextBox 15">
            <a:extLst>
              <a:ext uri="{FF2B5EF4-FFF2-40B4-BE49-F238E27FC236}">
                <a16:creationId xmlns:a16="http://schemas.microsoft.com/office/drawing/2014/main" id="{299F27D4-DA6E-7BA0-12CA-C7951A7E9D5F}"/>
              </a:ext>
            </a:extLst>
          </p:cNvPr>
          <p:cNvSpPr txBox="1"/>
          <p:nvPr/>
        </p:nvSpPr>
        <p:spPr>
          <a:xfrm>
            <a:off x="3580793" y="844088"/>
            <a:ext cx="2166267" cy="369332"/>
          </a:xfrm>
          <a:prstGeom prst="rect">
            <a:avLst/>
          </a:prstGeom>
          <a:noFill/>
        </p:spPr>
        <p:txBody>
          <a:bodyPr wrap="square" rtlCol="0">
            <a:spAutoFit/>
          </a:bodyPr>
          <a:lstStyle/>
          <a:p>
            <a:pPr algn="ctr"/>
            <a:r>
              <a:rPr lang="en-US">
                <a:solidFill>
                  <a:srgbClr val="FF0000"/>
                </a:solidFill>
              </a:rPr>
              <a:t>Virtual (Bond) index</a:t>
            </a:r>
            <a:endParaRPr lang="vi-VN">
              <a:solidFill>
                <a:srgbClr val="FF0000"/>
              </a:solidFill>
            </a:endParaRPr>
          </a:p>
        </p:txBody>
      </p:sp>
      <p:sp>
        <p:nvSpPr>
          <p:cNvPr id="17" name="Rectangle 16">
            <a:extLst>
              <a:ext uri="{FF2B5EF4-FFF2-40B4-BE49-F238E27FC236}">
                <a16:creationId xmlns:a16="http://schemas.microsoft.com/office/drawing/2014/main" id="{A874E99B-C33C-CEBE-B28A-5A754FBFED4C}"/>
              </a:ext>
            </a:extLst>
          </p:cNvPr>
          <p:cNvSpPr/>
          <p:nvPr/>
        </p:nvSpPr>
        <p:spPr>
          <a:xfrm>
            <a:off x="4055320" y="1322612"/>
            <a:ext cx="317713"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Rectangle 17">
            <a:extLst>
              <a:ext uri="{FF2B5EF4-FFF2-40B4-BE49-F238E27FC236}">
                <a16:creationId xmlns:a16="http://schemas.microsoft.com/office/drawing/2014/main" id="{E01747C4-0F89-EE72-3F38-A6851838F780}"/>
              </a:ext>
            </a:extLst>
          </p:cNvPr>
          <p:cNvSpPr/>
          <p:nvPr/>
        </p:nvSpPr>
        <p:spPr>
          <a:xfrm>
            <a:off x="4923260" y="1330283"/>
            <a:ext cx="317713"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0" name="Straight Arrow Connector 19">
            <a:extLst>
              <a:ext uri="{FF2B5EF4-FFF2-40B4-BE49-F238E27FC236}">
                <a16:creationId xmlns:a16="http://schemas.microsoft.com/office/drawing/2014/main" id="{E95439F0-2C39-25B2-4219-3E49931773EE}"/>
              </a:ext>
            </a:extLst>
          </p:cNvPr>
          <p:cNvCxnSpPr>
            <a:cxnSpLocks/>
            <a:stCxn id="17" idx="0"/>
            <a:endCxn id="16" idx="2"/>
          </p:cNvCxnSpPr>
          <p:nvPr/>
        </p:nvCxnSpPr>
        <p:spPr>
          <a:xfrm flipV="1">
            <a:off x="4214177" y="1213420"/>
            <a:ext cx="449750" cy="1091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5159FE-7F6F-A65D-0E4C-C3A67B31CDD3}"/>
              </a:ext>
            </a:extLst>
          </p:cNvPr>
          <p:cNvCxnSpPr>
            <a:cxnSpLocks/>
            <a:stCxn id="18" idx="0"/>
            <a:endCxn id="16" idx="2"/>
          </p:cNvCxnSpPr>
          <p:nvPr/>
        </p:nvCxnSpPr>
        <p:spPr>
          <a:xfrm flipH="1" flipV="1">
            <a:off x="4663927" y="1213420"/>
            <a:ext cx="418190" cy="1168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DEB309D-5A26-62F5-6805-E29B2386B6A6}"/>
              </a:ext>
            </a:extLst>
          </p:cNvPr>
          <p:cNvSpPr/>
          <p:nvPr/>
        </p:nvSpPr>
        <p:spPr>
          <a:xfrm>
            <a:off x="4474772" y="2171701"/>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5" name="Rectangle 24">
            <a:extLst>
              <a:ext uri="{FF2B5EF4-FFF2-40B4-BE49-F238E27FC236}">
                <a16:creationId xmlns:a16="http://schemas.microsoft.com/office/drawing/2014/main" id="{D2E7183F-CD3F-ACB3-1DA3-00B3A30DCDA2}"/>
              </a:ext>
            </a:extLst>
          </p:cNvPr>
          <p:cNvSpPr/>
          <p:nvPr/>
        </p:nvSpPr>
        <p:spPr>
          <a:xfrm>
            <a:off x="5367013" y="2171701"/>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6" name="Rectangle 25">
            <a:extLst>
              <a:ext uri="{FF2B5EF4-FFF2-40B4-BE49-F238E27FC236}">
                <a16:creationId xmlns:a16="http://schemas.microsoft.com/office/drawing/2014/main" id="{78EF9AB5-41DC-D1C8-9CEF-AD0504ACD796}"/>
              </a:ext>
            </a:extLst>
          </p:cNvPr>
          <p:cNvSpPr/>
          <p:nvPr/>
        </p:nvSpPr>
        <p:spPr>
          <a:xfrm>
            <a:off x="3580793" y="2175997"/>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TextBox 30">
            <a:extLst>
              <a:ext uri="{FF2B5EF4-FFF2-40B4-BE49-F238E27FC236}">
                <a16:creationId xmlns:a16="http://schemas.microsoft.com/office/drawing/2014/main" id="{ED373544-1161-BA8C-B2E4-739CFA49C14F}"/>
              </a:ext>
            </a:extLst>
          </p:cNvPr>
          <p:cNvSpPr txBox="1"/>
          <p:nvPr/>
        </p:nvSpPr>
        <p:spPr>
          <a:xfrm>
            <a:off x="3878696" y="2809936"/>
            <a:ext cx="1570460" cy="369332"/>
          </a:xfrm>
          <a:prstGeom prst="rect">
            <a:avLst/>
          </a:prstGeom>
          <a:noFill/>
        </p:spPr>
        <p:txBody>
          <a:bodyPr wrap="square" rtlCol="0">
            <a:spAutoFit/>
          </a:bodyPr>
          <a:lstStyle/>
          <a:p>
            <a:pPr algn="ctr"/>
            <a:r>
              <a:rPr lang="en-US">
                <a:solidFill>
                  <a:srgbClr val="FF0000"/>
                </a:solidFill>
              </a:rPr>
              <a:t>Physical index</a:t>
            </a:r>
            <a:endParaRPr lang="vi-VN">
              <a:solidFill>
                <a:srgbClr val="FF0000"/>
              </a:solidFill>
            </a:endParaRPr>
          </a:p>
        </p:txBody>
      </p:sp>
      <p:cxnSp>
        <p:nvCxnSpPr>
          <p:cNvPr id="32" name="Straight Arrow Connector 31">
            <a:extLst>
              <a:ext uri="{FF2B5EF4-FFF2-40B4-BE49-F238E27FC236}">
                <a16:creationId xmlns:a16="http://schemas.microsoft.com/office/drawing/2014/main" id="{0AD77B6A-2594-D16E-FA14-9D44539BD65E}"/>
              </a:ext>
            </a:extLst>
          </p:cNvPr>
          <p:cNvCxnSpPr>
            <a:cxnSpLocks/>
            <a:stCxn id="25" idx="2"/>
            <a:endCxn id="31" idx="0"/>
          </p:cNvCxnSpPr>
          <p:nvPr/>
        </p:nvCxnSpPr>
        <p:spPr>
          <a:xfrm flipH="1">
            <a:off x="4663926" y="2597245"/>
            <a:ext cx="893111" cy="2126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72C0DD9-61D3-BB99-5EEE-8725E594A01F}"/>
              </a:ext>
            </a:extLst>
          </p:cNvPr>
          <p:cNvCxnSpPr>
            <a:cxnSpLocks/>
            <a:stCxn id="24" idx="2"/>
            <a:endCxn id="31" idx="0"/>
          </p:cNvCxnSpPr>
          <p:nvPr/>
        </p:nvCxnSpPr>
        <p:spPr>
          <a:xfrm flipH="1">
            <a:off x="4663926" y="2597245"/>
            <a:ext cx="870" cy="2126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6B732D9-8D87-5BED-98FD-007EA64F0366}"/>
              </a:ext>
            </a:extLst>
          </p:cNvPr>
          <p:cNvCxnSpPr>
            <a:cxnSpLocks/>
            <a:stCxn id="26" idx="2"/>
            <a:endCxn id="31" idx="0"/>
          </p:cNvCxnSpPr>
          <p:nvPr/>
        </p:nvCxnSpPr>
        <p:spPr>
          <a:xfrm>
            <a:off x="3770817" y="2601541"/>
            <a:ext cx="893109" cy="2083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3759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488B-4686-C89E-E7FD-A67B08ED5A11}"/>
              </a:ext>
            </a:extLst>
          </p:cNvPr>
          <p:cNvSpPr>
            <a:spLocks noGrp="1"/>
          </p:cNvSpPr>
          <p:nvPr>
            <p:ph type="title"/>
          </p:nvPr>
        </p:nvSpPr>
        <p:spPr/>
        <p:txBody>
          <a:bodyPr>
            <a:normAutofit/>
          </a:bodyPr>
          <a:lstStyle/>
          <a:p>
            <a:r>
              <a:rPr lang="en-US"/>
              <a:t>2.3. Post-processing: tensor network</a:t>
            </a:r>
            <a:br>
              <a:rPr lang="en-US"/>
            </a:br>
            <a:r>
              <a:rPr lang="en-US" sz="2000"/>
              <a:t>Tensor network</a:t>
            </a:r>
            <a:endParaRPr lang="vi-VN" sz="2000"/>
          </a:p>
        </p:txBody>
      </p:sp>
      <p:sp>
        <p:nvSpPr>
          <p:cNvPr id="4" name="Slide Number Placeholder 3">
            <a:extLst>
              <a:ext uri="{FF2B5EF4-FFF2-40B4-BE49-F238E27FC236}">
                <a16:creationId xmlns:a16="http://schemas.microsoft.com/office/drawing/2014/main" id="{217FC216-D3E4-5159-99B0-972050880FF8}"/>
              </a:ext>
            </a:extLst>
          </p:cNvPr>
          <p:cNvSpPr>
            <a:spLocks noGrp="1"/>
          </p:cNvSpPr>
          <p:nvPr>
            <p:ph type="sldNum" sz="quarter" idx="12"/>
          </p:nvPr>
        </p:nvSpPr>
        <p:spPr/>
        <p:txBody>
          <a:bodyPr/>
          <a:lstStyle/>
          <a:p>
            <a:fld id="{6A45828D-F580-42DE-B77E-860980F07F32}" type="slidenum">
              <a:rPr lang="vi-VN" smtClean="0"/>
              <a:t>27</a:t>
            </a:fld>
            <a:endParaRPr lang="vi-VN"/>
          </a:p>
        </p:txBody>
      </p:sp>
      <p:pic>
        <p:nvPicPr>
          <p:cNvPr id="3074" name="Picture 2">
            <a:extLst>
              <a:ext uri="{FF2B5EF4-FFF2-40B4-BE49-F238E27FC236}">
                <a16:creationId xmlns:a16="http://schemas.microsoft.com/office/drawing/2014/main" id="{81954910-26AF-78EE-DCB3-2531B104BCD4}"/>
              </a:ext>
            </a:extLst>
          </p:cNvPr>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54797"/>
          <a:stretch/>
        </p:blipFill>
        <p:spPr bwMode="auto">
          <a:xfrm>
            <a:off x="690034" y="1691944"/>
            <a:ext cx="2290233" cy="129372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EC6C2AF-C776-F18D-0502-B031175E4AB8}"/>
                  </a:ext>
                </a:extLst>
              </p:cNvPr>
              <p:cNvSpPr txBox="1"/>
              <p:nvPr/>
            </p:nvSpPr>
            <p:spPr>
              <a:xfrm>
                <a:off x="628650" y="3615632"/>
                <a:ext cx="2900609" cy="391646"/>
              </a:xfrm>
              <a:prstGeom prst="rect">
                <a:avLst/>
              </a:prstGeom>
              <a:noFill/>
            </p:spPr>
            <p:txBody>
              <a:bodyPr wrap="square" rtlCol="0">
                <a:spAutoFit/>
              </a:bodyPr>
              <a:lstStyle/>
              <a:p>
                <a:r>
                  <a:rPr lang="en-US"/>
                  <a:t>In qubits system:</a:t>
                </a:r>
                <a14:m>
                  <m:oMath xmlns:m="http://schemas.openxmlformats.org/officeDocument/2006/math">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𝑗</m:t>
                        </m:r>
                      </m:sub>
                    </m:sSub>
                    <m:r>
                      <a:rPr lang="en-US" b="0" i="1" smtClean="0">
                        <a:latin typeface="Cambria Math" panose="02040503050406030204" pitchFamily="18" charset="0"/>
                      </a:rPr>
                      <m:t>={0,1}</m:t>
                    </m:r>
                  </m:oMath>
                </a14:m>
                <a:endParaRPr lang="vi-VN"/>
              </a:p>
            </p:txBody>
          </p:sp>
        </mc:Choice>
        <mc:Fallback xmlns="">
          <p:sp>
            <p:nvSpPr>
              <p:cNvPr id="7" name="TextBox 6">
                <a:extLst>
                  <a:ext uri="{FF2B5EF4-FFF2-40B4-BE49-F238E27FC236}">
                    <a16:creationId xmlns:a16="http://schemas.microsoft.com/office/drawing/2014/main" id="{8EC6C2AF-C776-F18D-0502-B031175E4AB8}"/>
                  </a:ext>
                </a:extLst>
              </p:cNvPr>
              <p:cNvSpPr txBox="1">
                <a:spLocks noRot="1" noChangeAspect="1" noMove="1" noResize="1" noEditPoints="1" noAdjustHandles="1" noChangeArrowheads="1" noChangeShapeType="1" noTextEdit="1"/>
              </p:cNvSpPr>
              <p:nvPr/>
            </p:nvSpPr>
            <p:spPr>
              <a:xfrm>
                <a:off x="628650" y="3615632"/>
                <a:ext cx="2900609" cy="391646"/>
              </a:xfrm>
              <a:prstGeom prst="rect">
                <a:avLst/>
              </a:prstGeom>
              <a:blipFill>
                <a:blip r:embed="rId3"/>
                <a:stretch>
                  <a:fillRect l="-1681" t="-6250" b="-20313"/>
                </a:stretch>
              </a:blipFill>
            </p:spPr>
            <p:txBody>
              <a:bodyPr/>
              <a:lstStyle/>
              <a:p>
                <a:r>
                  <a:rPr lang="vi-VN">
                    <a:noFill/>
                  </a:rPr>
                  <a:t> </a:t>
                </a:r>
              </a:p>
            </p:txBody>
          </p:sp>
        </mc:Fallback>
      </mc:AlternateContent>
      <p:sp>
        <p:nvSpPr>
          <p:cNvPr id="16" name="TextBox 15">
            <a:extLst>
              <a:ext uri="{FF2B5EF4-FFF2-40B4-BE49-F238E27FC236}">
                <a16:creationId xmlns:a16="http://schemas.microsoft.com/office/drawing/2014/main" id="{299F27D4-DA6E-7BA0-12CA-C7951A7E9D5F}"/>
              </a:ext>
            </a:extLst>
          </p:cNvPr>
          <p:cNvSpPr txBox="1"/>
          <p:nvPr/>
        </p:nvSpPr>
        <p:spPr>
          <a:xfrm>
            <a:off x="769860" y="1268016"/>
            <a:ext cx="2166267" cy="369332"/>
          </a:xfrm>
          <a:prstGeom prst="rect">
            <a:avLst/>
          </a:prstGeom>
          <a:noFill/>
        </p:spPr>
        <p:txBody>
          <a:bodyPr wrap="square" rtlCol="0">
            <a:spAutoFit/>
          </a:bodyPr>
          <a:lstStyle/>
          <a:p>
            <a:pPr algn="ctr"/>
            <a:r>
              <a:rPr lang="en-US">
                <a:solidFill>
                  <a:srgbClr val="FF0000"/>
                </a:solidFill>
              </a:rPr>
              <a:t>Virtual (Bond) index</a:t>
            </a:r>
            <a:endParaRPr lang="vi-VN">
              <a:solidFill>
                <a:srgbClr val="FF0000"/>
              </a:solidFill>
            </a:endParaRPr>
          </a:p>
        </p:txBody>
      </p:sp>
      <p:sp>
        <p:nvSpPr>
          <p:cNvPr id="17" name="Rectangle 16">
            <a:extLst>
              <a:ext uri="{FF2B5EF4-FFF2-40B4-BE49-F238E27FC236}">
                <a16:creationId xmlns:a16="http://schemas.microsoft.com/office/drawing/2014/main" id="{A874E99B-C33C-CEBE-B28A-5A754FBFED4C}"/>
              </a:ext>
            </a:extLst>
          </p:cNvPr>
          <p:cNvSpPr/>
          <p:nvPr/>
        </p:nvSpPr>
        <p:spPr>
          <a:xfrm>
            <a:off x="1244387" y="1746540"/>
            <a:ext cx="317713"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Rectangle 17">
            <a:extLst>
              <a:ext uri="{FF2B5EF4-FFF2-40B4-BE49-F238E27FC236}">
                <a16:creationId xmlns:a16="http://schemas.microsoft.com/office/drawing/2014/main" id="{E01747C4-0F89-EE72-3F38-A6851838F780}"/>
              </a:ext>
            </a:extLst>
          </p:cNvPr>
          <p:cNvSpPr/>
          <p:nvPr/>
        </p:nvSpPr>
        <p:spPr>
          <a:xfrm>
            <a:off x="2112327" y="1754211"/>
            <a:ext cx="317713"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0" name="Straight Arrow Connector 19">
            <a:extLst>
              <a:ext uri="{FF2B5EF4-FFF2-40B4-BE49-F238E27FC236}">
                <a16:creationId xmlns:a16="http://schemas.microsoft.com/office/drawing/2014/main" id="{E95439F0-2C39-25B2-4219-3E49931773EE}"/>
              </a:ext>
            </a:extLst>
          </p:cNvPr>
          <p:cNvCxnSpPr>
            <a:cxnSpLocks/>
            <a:stCxn id="17" idx="0"/>
            <a:endCxn id="16" idx="2"/>
          </p:cNvCxnSpPr>
          <p:nvPr/>
        </p:nvCxnSpPr>
        <p:spPr>
          <a:xfrm flipV="1">
            <a:off x="1403244" y="1637348"/>
            <a:ext cx="449750" cy="1091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5159FE-7F6F-A65D-0E4C-C3A67B31CDD3}"/>
              </a:ext>
            </a:extLst>
          </p:cNvPr>
          <p:cNvCxnSpPr>
            <a:cxnSpLocks/>
            <a:stCxn id="18" idx="0"/>
            <a:endCxn id="16" idx="2"/>
          </p:cNvCxnSpPr>
          <p:nvPr/>
        </p:nvCxnSpPr>
        <p:spPr>
          <a:xfrm flipH="1" flipV="1">
            <a:off x="1852994" y="1637348"/>
            <a:ext cx="418190" cy="1168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DEB309D-5A26-62F5-6805-E29B2386B6A6}"/>
              </a:ext>
            </a:extLst>
          </p:cNvPr>
          <p:cNvSpPr/>
          <p:nvPr/>
        </p:nvSpPr>
        <p:spPr>
          <a:xfrm>
            <a:off x="1663839" y="2595629"/>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5" name="Rectangle 24">
            <a:extLst>
              <a:ext uri="{FF2B5EF4-FFF2-40B4-BE49-F238E27FC236}">
                <a16:creationId xmlns:a16="http://schemas.microsoft.com/office/drawing/2014/main" id="{D2E7183F-CD3F-ACB3-1DA3-00B3A30DCDA2}"/>
              </a:ext>
            </a:extLst>
          </p:cNvPr>
          <p:cNvSpPr/>
          <p:nvPr/>
        </p:nvSpPr>
        <p:spPr>
          <a:xfrm>
            <a:off x="2556080" y="2595629"/>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6" name="Rectangle 25">
            <a:extLst>
              <a:ext uri="{FF2B5EF4-FFF2-40B4-BE49-F238E27FC236}">
                <a16:creationId xmlns:a16="http://schemas.microsoft.com/office/drawing/2014/main" id="{78EF9AB5-41DC-D1C8-9CEF-AD0504ACD796}"/>
              </a:ext>
            </a:extLst>
          </p:cNvPr>
          <p:cNvSpPr/>
          <p:nvPr/>
        </p:nvSpPr>
        <p:spPr>
          <a:xfrm>
            <a:off x="769860" y="2599925"/>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TextBox 30">
            <a:extLst>
              <a:ext uri="{FF2B5EF4-FFF2-40B4-BE49-F238E27FC236}">
                <a16:creationId xmlns:a16="http://schemas.microsoft.com/office/drawing/2014/main" id="{ED373544-1161-BA8C-B2E4-739CFA49C14F}"/>
              </a:ext>
            </a:extLst>
          </p:cNvPr>
          <p:cNvSpPr txBox="1"/>
          <p:nvPr/>
        </p:nvSpPr>
        <p:spPr>
          <a:xfrm>
            <a:off x="1067763" y="3251485"/>
            <a:ext cx="1570460" cy="369332"/>
          </a:xfrm>
          <a:prstGeom prst="rect">
            <a:avLst/>
          </a:prstGeom>
          <a:noFill/>
        </p:spPr>
        <p:txBody>
          <a:bodyPr wrap="square" rtlCol="0">
            <a:spAutoFit/>
          </a:bodyPr>
          <a:lstStyle/>
          <a:p>
            <a:pPr algn="ctr"/>
            <a:r>
              <a:rPr lang="en-US">
                <a:solidFill>
                  <a:srgbClr val="FF0000"/>
                </a:solidFill>
              </a:rPr>
              <a:t>Physical index</a:t>
            </a:r>
            <a:endParaRPr lang="vi-VN">
              <a:solidFill>
                <a:srgbClr val="FF0000"/>
              </a:solidFill>
            </a:endParaRPr>
          </a:p>
        </p:txBody>
      </p:sp>
      <p:cxnSp>
        <p:nvCxnSpPr>
          <p:cNvPr id="32" name="Straight Arrow Connector 31">
            <a:extLst>
              <a:ext uri="{FF2B5EF4-FFF2-40B4-BE49-F238E27FC236}">
                <a16:creationId xmlns:a16="http://schemas.microsoft.com/office/drawing/2014/main" id="{0AD77B6A-2594-D16E-FA14-9D44539BD65E}"/>
              </a:ext>
            </a:extLst>
          </p:cNvPr>
          <p:cNvCxnSpPr>
            <a:cxnSpLocks/>
            <a:stCxn id="25" idx="2"/>
            <a:endCxn id="31" idx="0"/>
          </p:cNvCxnSpPr>
          <p:nvPr/>
        </p:nvCxnSpPr>
        <p:spPr>
          <a:xfrm flipH="1">
            <a:off x="1852993" y="3021173"/>
            <a:ext cx="893111" cy="2303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72C0DD9-61D3-BB99-5EEE-8725E594A01F}"/>
              </a:ext>
            </a:extLst>
          </p:cNvPr>
          <p:cNvCxnSpPr>
            <a:cxnSpLocks/>
            <a:stCxn id="24" idx="2"/>
            <a:endCxn id="31" idx="0"/>
          </p:cNvCxnSpPr>
          <p:nvPr/>
        </p:nvCxnSpPr>
        <p:spPr>
          <a:xfrm flipH="1">
            <a:off x="1852993" y="3021173"/>
            <a:ext cx="870" cy="2303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6B732D9-8D87-5BED-98FD-007EA64F0366}"/>
              </a:ext>
            </a:extLst>
          </p:cNvPr>
          <p:cNvCxnSpPr>
            <a:cxnSpLocks/>
            <a:stCxn id="26" idx="2"/>
            <a:endCxn id="31" idx="0"/>
          </p:cNvCxnSpPr>
          <p:nvPr/>
        </p:nvCxnSpPr>
        <p:spPr>
          <a:xfrm>
            <a:off x="959884" y="3025469"/>
            <a:ext cx="893109" cy="226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76CF769-9E94-2838-0505-8A88555E0005}"/>
                  </a:ext>
                </a:extLst>
              </p:cNvPr>
              <p:cNvSpPr txBox="1"/>
              <p:nvPr/>
            </p:nvSpPr>
            <p:spPr>
              <a:xfrm>
                <a:off x="3437467" y="770930"/>
                <a:ext cx="5376333" cy="4009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4</m:t>
                              </m:r>
                            </m:sub>
                          </m:sSub>
                        </m:e>
                      </m:d>
                      <m:r>
                        <a:rPr lang="en-US" b="0" i="1" smtClean="0">
                          <a:latin typeface="Cambria Math" panose="02040503050406030204" pitchFamily="18" charset="0"/>
                        </a:rPr>
                        <m:t>=1/</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4</m:t>
                          </m:r>
                        </m:e>
                      </m:rad>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0001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0010</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0100</m:t>
                              </m:r>
                            </m:e>
                          </m:d>
                          <m:r>
                            <a:rPr lang="en-US" b="0" i="1" smtClean="0">
                              <a:latin typeface="Cambria Math" panose="02040503050406030204" pitchFamily="18" charset="0"/>
                            </a:rPr>
                            <m:t>+|1000⟩</m:t>
                          </m:r>
                        </m:e>
                      </m:d>
                    </m:oMath>
                  </m:oMathPara>
                </a14:m>
                <a:endParaRPr lang="vi-VN"/>
              </a:p>
            </p:txBody>
          </p:sp>
        </mc:Choice>
        <mc:Fallback xmlns="">
          <p:sp>
            <p:nvSpPr>
              <p:cNvPr id="9" name="TextBox 8">
                <a:extLst>
                  <a:ext uri="{FF2B5EF4-FFF2-40B4-BE49-F238E27FC236}">
                    <a16:creationId xmlns:a16="http://schemas.microsoft.com/office/drawing/2014/main" id="{276CF769-9E94-2838-0505-8A88555E0005}"/>
                  </a:ext>
                </a:extLst>
              </p:cNvPr>
              <p:cNvSpPr txBox="1">
                <a:spLocks noRot="1" noChangeAspect="1" noMove="1" noResize="1" noEditPoints="1" noAdjustHandles="1" noChangeArrowheads="1" noChangeShapeType="1" noTextEdit="1"/>
              </p:cNvSpPr>
              <p:nvPr/>
            </p:nvSpPr>
            <p:spPr>
              <a:xfrm>
                <a:off x="3437467" y="770930"/>
                <a:ext cx="5376333" cy="400944"/>
              </a:xfrm>
              <a:prstGeom prst="rect">
                <a:avLst/>
              </a:prstGeom>
              <a:blipFill>
                <a:blip r:embed="rId4"/>
                <a:stretch>
                  <a:fillRect b="-1515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5A791C9-E754-E678-FFB5-DED393288A7C}"/>
                  </a:ext>
                </a:extLst>
              </p:cNvPr>
              <p:cNvSpPr txBox="1"/>
              <p:nvPr/>
            </p:nvSpPr>
            <p:spPr>
              <a:xfrm>
                <a:off x="3385877" y="1144077"/>
                <a:ext cx="4330102" cy="7428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4</m:t>
                              </m:r>
                            </m:sub>
                          </m:sSub>
                        </m:e>
                      </m:d>
                      <m:sSub>
                        <m:sSubPr>
                          <m:ctrlPr>
                            <a:rPr lang="en-US" b="0" i="1" smtClean="0">
                              <a:latin typeface="Cambria Math" panose="02040503050406030204" pitchFamily="18" charset="0"/>
                            </a:rPr>
                          </m:ctrlPr>
                        </m:sSubPr>
                        <m:e>
                          <m:groupChr>
                            <m:groupChrPr>
                              <m:chr m:val="→"/>
                              <m:vertJc m:val="bot"/>
                              <m:ctrlPr>
                                <a:rPr lang="en-US" i="1" smtClean="0">
                                  <a:latin typeface="Cambria Math" panose="02040503050406030204" pitchFamily="18" charset="0"/>
                                </a:rPr>
                              </m:ctrlPr>
                            </m:groupChrPr>
                            <m:e>
                              <m:r>
                                <a:rPr lang="en-US" b="0" i="1" smtClean="0">
                                  <a:latin typeface="Cambria Math" panose="02040503050406030204" pitchFamily="18" charset="0"/>
                                </a:rPr>
                                <m:t> (</m:t>
                              </m:r>
                              <m:r>
                                <a:rPr lang="en-US" b="0" i="1" smtClean="0">
                                  <a:latin typeface="Cambria Math" panose="02040503050406030204" pitchFamily="18" charset="0"/>
                                </a:rPr>
                                <m:t>𝑙𝑣𝑏𝑜𝑛𝑑</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brk m:alnAt="2"/>
                                        </m:rPr>
                                        <a:rPr lang="en-US" b="0" i="1" smtClean="0">
                                          <a:latin typeface="Cambria Math" panose="02040503050406030204" pitchFamily="18" charset="0"/>
                                        </a:rPr>
                                        <m:t>𝜎</m:t>
                                      </m:r>
                                    </m:e>
                                    <m:sub>
                                      <m:r>
                                        <m:rPr>
                                          <m:brk m:alnAt="2"/>
                                        </m:rPr>
                                        <a:rPr lang="en-US" b="0" i="1" smtClean="0">
                                          <a:latin typeface="Cambria Math" panose="02040503050406030204" pitchFamily="18" charset="0"/>
                                        </a:rPr>
                                        <m:t>1</m:t>
                                      </m:r>
                                    </m:sub>
                                  </m:sSub>
                                </m:e>
                              </m:d>
                              <m:r>
                                <m:rPr>
                                  <m:brk m:alnAt="2"/>
                                </m:rPr>
                                <a:rPr lang="en-US" b="0" i="1" smtClean="0">
                                  <a:latin typeface="Cambria Math" panose="02040503050406030204" pitchFamily="18" charset="0"/>
                                </a:rPr>
                                <m:t>)</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num>
                                <m:den>
                                  <m:r>
                                    <a:rPr lang="en-US" i="1">
                                      <a:latin typeface="Cambria Math" panose="02040503050406030204" pitchFamily="18" charset="0"/>
                                    </a:rPr>
                                    <m:t>𝑙𝑣𝑏𝑜𝑛𝑑</m:t>
                                  </m:r>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brk m:alnAt="2"/>
                                            </m:rPr>
                                            <a:rPr lang="en-US" i="1">
                                              <a:latin typeface="Cambria Math" panose="02040503050406030204" pitchFamily="18" charset="0"/>
                                            </a:rPr>
                                            <m:t>𝜎</m:t>
                                          </m:r>
                                        </m:e>
                                        <m:sub>
                                          <m:r>
                                            <m:rPr>
                                              <m:brk m:alnAt="2"/>
                                            </m:rPr>
                                            <a:rPr lang="en-US" i="1">
                                              <a:latin typeface="Cambria Math" panose="02040503050406030204" pitchFamily="18" charset="0"/>
                                            </a:rPr>
                                            <m:t>1</m:t>
                                          </m:r>
                                        </m:sub>
                                      </m:sSub>
                                    </m:e>
                                  </m:d>
                                </m:den>
                              </m:f>
                            </m:e>
                          </m:groupChr>
                          <m:r>
                            <a:rPr lang="en-US" b="0" i="1" smtClean="0">
                              <a:latin typeface="Cambria Math" panose="02040503050406030204" pitchFamily="18" charset="0"/>
                            </a:rPr>
                            <m:t>𝜓</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4</m:t>
                                  </m:r>
                                </m:sub>
                              </m:sSub>
                            </m:e>
                          </m:d>
                        </m:sub>
                      </m:sSub>
                      <m:groupChr>
                        <m:groupChrPr>
                          <m:chr m:val="→"/>
                          <m:vertJc m:val="bot"/>
                          <m:ctrlPr>
                            <a:rPr lang="en-US" i="1">
                              <a:latin typeface="Cambria Math" panose="02040503050406030204" pitchFamily="18" charset="0"/>
                            </a:rPr>
                          </m:ctrlPr>
                        </m:groupChrPr>
                        <m:e>
                          <m:r>
                            <m:rPr>
                              <m:brk m:alnAt="2"/>
                            </m:rPr>
                            <a:rPr lang="en-US" i="1">
                              <a:latin typeface="Cambria Math" panose="02040503050406030204" pitchFamily="18" charset="0"/>
                            </a:rPr>
                            <m:t>𝑆</m:t>
                          </m:r>
                          <m:r>
                            <a:rPr lang="en-US" i="1">
                              <a:latin typeface="Cambria Math" panose="02040503050406030204" pitchFamily="18" charset="0"/>
                            </a:rPr>
                            <m:t>𝑉𝐷</m:t>
                          </m:r>
                        </m:e>
                      </m:groupChr>
                      <m:r>
                        <a:rPr lang="en-US" b="0" i="1" smtClean="0">
                          <a:latin typeface="Cambria Math" panose="02040503050406030204" pitchFamily="18" charset="0"/>
                        </a:rPr>
                        <m:t>𝑈</m:t>
                      </m:r>
                      <m:r>
                        <a:rPr lang="en-US" b="0" i="1" smtClean="0">
                          <a:latin typeface="Cambria Math" panose="02040503050406030204" pitchFamily="18" charset="0"/>
                        </a:rPr>
                        <m:t>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m:t>
                          </m:r>
                        </m:sup>
                      </m:sSup>
                    </m:oMath>
                  </m:oMathPara>
                </a14:m>
                <a:endParaRPr lang="vi-VN" i="1"/>
              </a:p>
            </p:txBody>
          </p:sp>
        </mc:Choice>
        <mc:Fallback xmlns="">
          <p:sp>
            <p:nvSpPr>
              <p:cNvPr id="19" name="TextBox 18">
                <a:extLst>
                  <a:ext uri="{FF2B5EF4-FFF2-40B4-BE49-F238E27FC236}">
                    <a16:creationId xmlns:a16="http://schemas.microsoft.com/office/drawing/2014/main" id="{A5A791C9-E754-E678-FFB5-DED393288A7C}"/>
                  </a:ext>
                </a:extLst>
              </p:cNvPr>
              <p:cNvSpPr txBox="1">
                <a:spLocks noRot="1" noChangeAspect="1" noMove="1" noResize="1" noEditPoints="1" noAdjustHandles="1" noChangeArrowheads="1" noChangeShapeType="1" noTextEdit="1"/>
              </p:cNvSpPr>
              <p:nvPr/>
            </p:nvSpPr>
            <p:spPr>
              <a:xfrm>
                <a:off x="3385877" y="1144077"/>
                <a:ext cx="4330102" cy="742832"/>
              </a:xfrm>
              <a:prstGeom prst="rect">
                <a:avLst/>
              </a:prstGeom>
              <a:blipFill>
                <a:blip r:embed="rId5"/>
                <a:stretch>
                  <a:fillRect r="-773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D7ECDD5-AAC9-61B5-C144-603DF0B4D4B9}"/>
                  </a:ext>
                </a:extLst>
              </p:cNvPr>
              <p:cNvSpPr txBox="1"/>
              <p:nvPr/>
            </p:nvSpPr>
            <p:spPr>
              <a:xfrm>
                <a:off x="7300900" y="1886909"/>
                <a:ext cx="1999504" cy="708720"/>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Σ</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3</m:t>
                                  </m:r>
                                </m:e>
                              </m:rad>
                              <m:r>
                                <a:rPr lang="en-US" b="0" i="1" smtClean="0">
                                  <a:latin typeface="Cambria Math" panose="02040503050406030204" pitchFamily="18" charset="0"/>
                                </a:rPr>
                                <m:t>/2</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1/2</m:t>
                              </m:r>
                            </m:e>
                          </m:mr>
                        </m:m>
                      </m:e>
                    </m:d>
                  </m:oMath>
                </a14:m>
                <a:r>
                  <a:rPr lang="en-US"/>
                  <a:t> </a:t>
                </a:r>
                <a:endParaRPr lang="vi-VN"/>
              </a:p>
            </p:txBody>
          </p:sp>
        </mc:Choice>
        <mc:Fallback xmlns="">
          <p:sp>
            <p:nvSpPr>
              <p:cNvPr id="22" name="TextBox 21">
                <a:extLst>
                  <a:ext uri="{FF2B5EF4-FFF2-40B4-BE49-F238E27FC236}">
                    <a16:creationId xmlns:a16="http://schemas.microsoft.com/office/drawing/2014/main" id="{8D7ECDD5-AAC9-61B5-C144-603DF0B4D4B9}"/>
                  </a:ext>
                </a:extLst>
              </p:cNvPr>
              <p:cNvSpPr txBox="1">
                <a:spLocks noRot="1" noChangeAspect="1" noMove="1" noResize="1" noEditPoints="1" noAdjustHandles="1" noChangeArrowheads="1" noChangeShapeType="1" noTextEdit="1"/>
              </p:cNvSpPr>
              <p:nvPr/>
            </p:nvSpPr>
            <p:spPr>
              <a:xfrm>
                <a:off x="7300900" y="1886909"/>
                <a:ext cx="1999504" cy="708720"/>
              </a:xfrm>
              <a:prstGeom prst="rect">
                <a:avLst/>
              </a:prstGeom>
              <a:blipFill>
                <a:blip r:embed="rId6"/>
                <a:stretch>
                  <a:fillRect/>
                </a:stretch>
              </a:blipFill>
            </p:spPr>
            <p:txBody>
              <a:bodyPr/>
              <a:lstStyle/>
              <a:p>
                <a:r>
                  <a:rPr lang="vi-VN">
                    <a:noFill/>
                  </a:rPr>
                  <a:t> </a:t>
                </a:r>
              </a:p>
            </p:txBody>
          </p:sp>
        </mc:Fallback>
      </mc:AlternateContent>
      <p:cxnSp>
        <p:nvCxnSpPr>
          <p:cNvPr id="27" name="Connector: Elbow 26">
            <a:extLst>
              <a:ext uri="{FF2B5EF4-FFF2-40B4-BE49-F238E27FC236}">
                <a16:creationId xmlns:a16="http://schemas.microsoft.com/office/drawing/2014/main" id="{EC75DA3E-4746-EB8D-9D61-73D7E3E32A3F}"/>
              </a:ext>
            </a:extLst>
          </p:cNvPr>
          <p:cNvCxnSpPr>
            <a:cxnSpLocks/>
            <a:stCxn id="3085" idx="2"/>
            <a:endCxn id="22" idx="1"/>
          </p:cNvCxnSpPr>
          <p:nvPr/>
        </p:nvCxnSpPr>
        <p:spPr>
          <a:xfrm rot="5400000">
            <a:off x="7320489" y="1845779"/>
            <a:ext cx="375902" cy="415079"/>
          </a:xfrm>
          <a:prstGeom prst="bentConnector4">
            <a:avLst>
              <a:gd name="adj1" fmla="val 37777"/>
              <a:gd name="adj2" fmla="val 150994"/>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ED1B0F5-AA3D-10D8-6884-B53CE23B4F06}"/>
                  </a:ext>
                </a:extLst>
              </p:cNvPr>
              <p:cNvSpPr txBox="1"/>
              <p:nvPr/>
            </p:nvSpPr>
            <p:spPr>
              <a:xfrm>
                <a:off x="7300900" y="2978430"/>
                <a:ext cx="1999504" cy="646331"/>
              </a:xfrm>
              <a:prstGeom prst="rect">
                <a:avLst/>
              </a:prstGeom>
              <a:noFill/>
            </p:spPr>
            <p:txBody>
              <a:bodyPr wrap="square" rtlCol="0">
                <a:spAutoFit/>
              </a:bodyPr>
              <a:lstStyle/>
              <a:p>
                <a:r>
                  <a:rPr lang="en-US"/>
                  <a:t>(l)vbond = 1</a:t>
                </a:r>
              </a:p>
              <a:p>
                <a:r>
                  <a:rPr lang="en-US"/>
                  <a:t>(r)vbond = </a:t>
                </a:r>
                <a14:m>
                  <m:oMath xmlns:m="http://schemas.openxmlformats.org/officeDocument/2006/math">
                    <m:r>
                      <a:rPr lang="en-US" i="1" smtClean="0">
                        <a:latin typeface="Cambria Math" panose="02040503050406030204" pitchFamily="18" charset="0"/>
                      </a:rPr>
                      <m:t>{</m:t>
                    </m:r>
                    <m:r>
                      <a:rPr lang="en-US" b="0" i="1" smtClean="0">
                        <a:latin typeface="Cambria Math" panose="02040503050406030204" pitchFamily="18" charset="0"/>
                      </a:rPr>
                      <m:t>1,2</m:t>
                    </m:r>
                    <m:r>
                      <a:rPr lang="en-US" i="1" smtClean="0">
                        <a:latin typeface="Cambria Math" panose="02040503050406030204" pitchFamily="18" charset="0"/>
                      </a:rPr>
                      <m:t>}</m:t>
                    </m:r>
                  </m:oMath>
                </a14:m>
                <a:endParaRPr lang="vi-VN"/>
              </a:p>
            </p:txBody>
          </p:sp>
        </mc:Choice>
        <mc:Fallback xmlns="">
          <p:sp>
            <p:nvSpPr>
              <p:cNvPr id="37" name="TextBox 36">
                <a:extLst>
                  <a:ext uri="{FF2B5EF4-FFF2-40B4-BE49-F238E27FC236}">
                    <a16:creationId xmlns:a16="http://schemas.microsoft.com/office/drawing/2014/main" id="{6ED1B0F5-AA3D-10D8-6884-B53CE23B4F06}"/>
                  </a:ext>
                </a:extLst>
              </p:cNvPr>
              <p:cNvSpPr txBox="1">
                <a:spLocks noRot="1" noChangeAspect="1" noMove="1" noResize="1" noEditPoints="1" noAdjustHandles="1" noChangeArrowheads="1" noChangeShapeType="1" noTextEdit="1"/>
              </p:cNvSpPr>
              <p:nvPr/>
            </p:nvSpPr>
            <p:spPr>
              <a:xfrm>
                <a:off x="7300900" y="2978430"/>
                <a:ext cx="1999504" cy="646331"/>
              </a:xfrm>
              <a:prstGeom prst="rect">
                <a:avLst/>
              </a:prstGeom>
              <a:blipFill>
                <a:blip r:embed="rId7"/>
                <a:stretch>
                  <a:fillRect l="-2744" t="-5660" b="-14151"/>
                </a:stretch>
              </a:blipFill>
            </p:spPr>
            <p:txBody>
              <a:bodyPr/>
              <a:lstStyle/>
              <a:p>
                <a:r>
                  <a:rPr lang="vi-VN">
                    <a:noFill/>
                  </a:rPr>
                  <a:t> </a:t>
                </a:r>
              </a:p>
            </p:txBody>
          </p:sp>
        </mc:Fallback>
      </mc:AlternateContent>
      <p:cxnSp>
        <p:nvCxnSpPr>
          <p:cNvPr id="38" name="Straight Arrow Connector 37">
            <a:extLst>
              <a:ext uri="{FF2B5EF4-FFF2-40B4-BE49-F238E27FC236}">
                <a16:creationId xmlns:a16="http://schemas.microsoft.com/office/drawing/2014/main" id="{74A0DB7A-EFE3-1DB3-125D-AF462C65511F}"/>
              </a:ext>
            </a:extLst>
          </p:cNvPr>
          <p:cNvCxnSpPr>
            <a:cxnSpLocks/>
            <a:stCxn id="22" idx="2"/>
            <a:endCxn id="37" idx="0"/>
          </p:cNvCxnSpPr>
          <p:nvPr/>
        </p:nvCxnSpPr>
        <p:spPr>
          <a:xfrm>
            <a:off x="8300652" y="2595629"/>
            <a:ext cx="0" cy="3828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2914BF5-1BB9-C45D-7598-2AF158CE4DA6}"/>
              </a:ext>
            </a:extLst>
          </p:cNvPr>
          <p:cNvCxnSpPr>
            <a:cxnSpLocks/>
          </p:cNvCxnSpPr>
          <p:nvPr/>
        </p:nvCxnSpPr>
        <p:spPr>
          <a:xfrm>
            <a:off x="4167852" y="2324306"/>
            <a:ext cx="0" cy="3828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D20FCC2-7F00-EC7D-D712-7AF9451C3FBC}"/>
                  </a:ext>
                </a:extLst>
              </p:cNvPr>
              <p:cNvSpPr txBox="1"/>
              <p:nvPr/>
            </p:nvSpPr>
            <p:spPr>
              <a:xfrm>
                <a:off x="2955725" y="1941505"/>
                <a:ext cx="3230034" cy="3764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    </m:t>
                      </m:r>
                      <m:r>
                        <a:rPr lang="en-US" b="0" i="1" smtClean="0">
                          <a:latin typeface="Cambria Math" panose="02040503050406030204" pitchFamily="18" charset="0"/>
                        </a:rPr>
                        <m:t>𝛴</m:t>
                      </m:r>
                      <m:sSup>
                        <m:sSupPr>
                          <m:ctrlPr>
                            <a:rPr lang="en-US" b="0" i="1" smtClean="0">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45" name="TextBox 44">
                <a:extLst>
                  <a:ext uri="{FF2B5EF4-FFF2-40B4-BE49-F238E27FC236}">
                    <a16:creationId xmlns:a16="http://schemas.microsoft.com/office/drawing/2014/main" id="{AD20FCC2-7F00-EC7D-D712-7AF9451C3FBC}"/>
                  </a:ext>
                </a:extLst>
              </p:cNvPr>
              <p:cNvSpPr txBox="1">
                <a:spLocks noRot="1" noChangeAspect="1" noMove="1" noResize="1" noEditPoints="1" noAdjustHandles="1" noChangeArrowheads="1" noChangeShapeType="1" noTextEdit="1"/>
              </p:cNvSpPr>
              <p:nvPr/>
            </p:nvSpPr>
            <p:spPr>
              <a:xfrm>
                <a:off x="2955725" y="1941505"/>
                <a:ext cx="3230034" cy="376450"/>
              </a:xfrm>
              <a:prstGeom prst="rect">
                <a:avLst/>
              </a:prstGeom>
              <a:blipFill>
                <a:blip r:embed="rId8"/>
                <a:stretch>
                  <a:fillRect/>
                </a:stretch>
              </a:blipFill>
            </p:spPr>
            <p:txBody>
              <a:bodyPr/>
              <a:lstStyle/>
              <a:p>
                <a:r>
                  <a:rPr lang="vi-VN">
                    <a:noFill/>
                  </a:rPr>
                  <a:t> </a:t>
                </a:r>
              </a:p>
            </p:txBody>
          </p:sp>
        </mc:Fallback>
      </mc:AlternateContent>
      <p:sp>
        <p:nvSpPr>
          <p:cNvPr id="46" name="Rectangle 45">
            <a:extLst>
              <a:ext uri="{FF2B5EF4-FFF2-40B4-BE49-F238E27FC236}">
                <a16:creationId xmlns:a16="http://schemas.microsoft.com/office/drawing/2014/main" id="{BAD2D6A9-F675-E317-8285-0696715BC9C6}"/>
              </a:ext>
            </a:extLst>
          </p:cNvPr>
          <p:cNvSpPr/>
          <p:nvPr/>
        </p:nvSpPr>
        <p:spPr>
          <a:xfrm>
            <a:off x="4014794" y="1941505"/>
            <a:ext cx="280716" cy="3828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47" name="Straight Arrow Connector 46">
            <a:extLst>
              <a:ext uri="{FF2B5EF4-FFF2-40B4-BE49-F238E27FC236}">
                <a16:creationId xmlns:a16="http://schemas.microsoft.com/office/drawing/2014/main" id="{6CEBF9C7-8324-DD08-613B-4375A65FC664}"/>
              </a:ext>
            </a:extLst>
          </p:cNvPr>
          <p:cNvCxnSpPr>
            <a:cxnSpLocks/>
          </p:cNvCxnSpPr>
          <p:nvPr/>
        </p:nvCxnSpPr>
        <p:spPr>
          <a:xfrm>
            <a:off x="4526745" y="2324306"/>
            <a:ext cx="0" cy="3828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FEB8483C-AFE4-A2FC-668D-66B4F7DEBD46}"/>
              </a:ext>
            </a:extLst>
          </p:cNvPr>
          <p:cNvSpPr/>
          <p:nvPr/>
        </p:nvSpPr>
        <p:spPr>
          <a:xfrm>
            <a:off x="4373687" y="1941505"/>
            <a:ext cx="280716" cy="3828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49" name="Straight Arrow Connector 48">
            <a:extLst>
              <a:ext uri="{FF2B5EF4-FFF2-40B4-BE49-F238E27FC236}">
                <a16:creationId xmlns:a16="http://schemas.microsoft.com/office/drawing/2014/main" id="{494608D4-9E59-F003-D72D-618BC2D9E9DB}"/>
              </a:ext>
            </a:extLst>
          </p:cNvPr>
          <p:cNvCxnSpPr>
            <a:cxnSpLocks/>
          </p:cNvCxnSpPr>
          <p:nvPr/>
        </p:nvCxnSpPr>
        <p:spPr>
          <a:xfrm>
            <a:off x="4885638" y="2324924"/>
            <a:ext cx="0" cy="3828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D7F32E91-3DB0-FB54-298D-0731DA132D1A}"/>
              </a:ext>
            </a:extLst>
          </p:cNvPr>
          <p:cNvSpPr/>
          <p:nvPr/>
        </p:nvSpPr>
        <p:spPr>
          <a:xfrm>
            <a:off x="4732579" y="1942123"/>
            <a:ext cx="382143" cy="3828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9173919-8785-F6DC-6261-90BAA4F8181C}"/>
                  </a:ext>
                </a:extLst>
              </p:cNvPr>
              <p:cNvSpPr txBox="1"/>
              <p:nvPr/>
            </p:nvSpPr>
            <p:spPr>
              <a:xfrm>
                <a:off x="3529259" y="2699236"/>
                <a:ext cx="85745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2×2</m:t>
                      </m:r>
                    </m:oMath>
                  </m:oMathPara>
                </a14:m>
                <a:endParaRPr lang="vi-VN"/>
              </a:p>
            </p:txBody>
          </p:sp>
        </mc:Choice>
        <mc:Fallback xmlns="">
          <p:sp>
            <p:nvSpPr>
              <p:cNvPr id="51" name="TextBox 50">
                <a:extLst>
                  <a:ext uri="{FF2B5EF4-FFF2-40B4-BE49-F238E27FC236}">
                    <a16:creationId xmlns:a16="http://schemas.microsoft.com/office/drawing/2014/main" id="{49173919-8785-F6DC-6261-90BAA4F8181C}"/>
                  </a:ext>
                </a:extLst>
              </p:cNvPr>
              <p:cNvSpPr txBox="1">
                <a:spLocks noRot="1" noChangeAspect="1" noMove="1" noResize="1" noEditPoints="1" noAdjustHandles="1" noChangeArrowheads="1" noChangeShapeType="1" noTextEdit="1"/>
              </p:cNvSpPr>
              <p:nvPr/>
            </p:nvSpPr>
            <p:spPr>
              <a:xfrm>
                <a:off x="3529259" y="2699236"/>
                <a:ext cx="857457" cy="369332"/>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C1F7F3E-7942-3639-FC27-B284E78C804D}"/>
                  </a:ext>
                </a:extLst>
              </p:cNvPr>
              <p:cNvSpPr txBox="1"/>
              <p:nvPr/>
            </p:nvSpPr>
            <p:spPr>
              <a:xfrm>
                <a:off x="4099169" y="2696057"/>
                <a:ext cx="85745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2×2</m:t>
                      </m:r>
                    </m:oMath>
                  </m:oMathPara>
                </a14:m>
                <a:endParaRPr lang="vi-VN"/>
              </a:p>
            </p:txBody>
          </p:sp>
        </mc:Choice>
        <mc:Fallback xmlns="">
          <p:sp>
            <p:nvSpPr>
              <p:cNvPr id="52" name="TextBox 51">
                <a:extLst>
                  <a:ext uri="{FF2B5EF4-FFF2-40B4-BE49-F238E27FC236}">
                    <a16:creationId xmlns:a16="http://schemas.microsoft.com/office/drawing/2014/main" id="{DC1F7F3E-7942-3639-FC27-B284E78C804D}"/>
                  </a:ext>
                </a:extLst>
              </p:cNvPr>
              <p:cNvSpPr txBox="1">
                <a:spLocks noRot="1" noChangeAspect="1" noMove="1" noResize="1" noEditPoints="1" noAdjustHandles="1" noChangeArrowheads="1" noChangeShapeType="1" noTextEdit="1"/>
              </p:cNvSpPr>
              <p:nvPr/>
            </p:nvSpPr>
            <p:spPr>
              <a:xfrm>
                <a:off x="4099169" y="2696057"/>
                <a:ext cx="857457" cy="369332"/>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2803538-522D-6BE3-59C0-0867D32D5B56}"/>
                  </a:ext>
                </a:extLst>
              </p:cNvPr>
              <p:cNvSpPr txBox="1"/>
              <p:nvPr/>
            </p:nvSpPr>
            <p:spPr>
              <a:xfrm>
                <a:off x="4679804" y="2696057"/>
                <a:ext cx="85745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2×8</m:t>
                      </m:r>
                    </m:oMath>
                  </m:oMathPara>
                </a14:m>
                <a:endParaRPr lang="vi-VN"/>
              </a:p>
            </p:txBody>
          </p:sp>
        </mc:Choice>
        <mc:Fallback xmlns="">
          <p:sp>
            <p:nvSpPr>
              <p:cNvPr id="53" name="TextBox 52">
                <a:extLst>
                  <a:ext uri="{FF2B5EF4-FFF2-40B4-BE49-F238E27FC236}">
                    <a16:creationId xmlns:a16="http://schemas.microsoft.com/office/drawing/2014/main" id="{22803538-522D-6BE3-59C0-0867D32D5B56}"/>
                  </a:ext>
                </a:extLst>
              </p:cNvPr>
              <p:cNvSpPr txBox="1">
                <a:spLocks noRot="1" noChangeAspect="1" noMove="1" noResize="1" noEditPoints="1" noAdjustHandles="1" noChangeArrowheads="1" noChangeShapeType="1" noTextEdit="1"/>
              </p:cNvSpPr>
              <p:nvPr/>
            </p:nvSpPr>
            <p:spPr>
              <a:xfrm>
                <a:off x="4679804" y="2696057"/>
                <a:ext cx="857457" cy="369332"/>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012816D-C675-0A15-92E2-E85CC4D7D1C3}"/>
                  </a:ext>
                </a:extLst>
              </p:cNvPr>
              <p:cNvSpPr txBox="1"/>
              <p:nvPr/>
            </p:nvSpPr>
            <p:spPr>
              <a:xfrm>
                <a:off x="3611549" y="2985670"/>
                <a:ext cx="3864175" cy="139628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0,</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f>
                                          <m:fPr>
                                            <m:ctrlPr>
                                              <a:rPr lang="en-US" b="0" i="1" smtClean="0">
                                                <a:latin typeface="Cambria Math" panose="02040503050406030204" pitchFamily="18" charset="0"/>
                                              </a:rPr>
                                            </m:ctrlPr>
                                          </m:fPr>
                                          <m:num>
                                            <m:r>
                                              <m:rPr>
                                                <m:brk m:alnAt="7"/>
                                              </m:rP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3</m:t>
                                                </m:r>
                                              </m:e>
                                            </m:rad>
                                          </m:den>
                                        </m:f>
                                      </m:e>
                                      <m:e>
                                        <m:f>
                                          <m:fPr>
                                            <m:ctrlPr>
                                              <a:rPr lang="en-US" i="1">
                                                <a:latin typeface="Cambria Math" panose="02040503050406030204" pitchFamily="18" charset="0"/>
                                              </a:rPr>
                                            </m:ctrlPr>
                                          </m:fPr>
                                          <m:num>
                                            <m:r>
                                              <m:rPr>
                                                <m:brk m:alnAt="7"/>
                                              </m:rPr>
                                              <a:rPr lang="en-US" i="1">
                                                <a:latin typeface="Cambria Math" panose="02040503050406030204" pitchFamily="18" charset="0"/>
                                              </a:rPr>
                                              <m:t>1</m:t>
                                            </m:r>
                                          </m:num>
                                          <m:den>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6</m:t>
                                                </m:r>
                                              </m:e>
                                            </m:rad>
                                          </m:den>
                                        </m:f>
                                      </m:e>
                                    </m:mr>
                                  </m:m>
                                </m:e>
                              </m:d>
                              <m:r>
                                <a:rPr lang="en-US" i="1" smtClean="0">
                                  <a:latin typeface="Cambria Math" panose="02040503050406030204" pitchFamily="18" charset="0"/>
                                </a:rPr>
                                <m:t> </m:t>
                              </m:r>
                            </m:e>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f>
                                          <m:fPr>
                                            <m:ctrlPr>
                                              <a:rPr lang="en-US" i="1">
                                                <a:latin typeface="Cambria Math" panose="02040503050406030204" pitchFamily="18" charset="0"/>
                                              </a:rPr>
                                            </m:ctrlPr>
                                          </m:fPr>
                                          <m:num>
                                            <m:r>
                                              <m:rPr>
                                                <m:brk m:alnAt="7"/>
                                              </m:rP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3</m:t>
                                                </m:r>
                                              </m:e>
                                            </m:rad>
                                          </m:den>
                                        </m:f>
                                      </m:e>
                                      <m:e>
                                        <m:f>
                                          <m:fPr>
                                            <m:ctrlPr>
                                              <a:rPr lang="en-US" i="1">
                                                <a:latin typeface="Cambria Math" panose="02040503050406030204" pitchFamily="18" charset="0"/>
                                              </a:rPr>
                                            </m:ctrlPr>
                                          </m:fPr>
                                          <m:num>
                                            <m:r>
                                              <a:rPr lang="en-US" b="0" i="1" smtClean="0">
                                                <a:latin typeface="Cambria Math" panose="02040503050406030204" pitchFamily="18" charset="0"/>
                                              </a:rPr>
                                              <m:t>−2</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6</m:t>
                                                </m:r>
                                              </m:e>
                                            </m:rad>
                                          </m:den>
                                        </m:f>
                                      </m:e>
                                    </m:mr>
                                  </m:m>
                                </m:e>
                              </m:d>
                            </m:e>
                          </m:eqArr>
                        </m:e>
                      </m:d>
                    </m:oMath>
                  </m:oMathPara>
                </a14:m>
                <a:endParaRPr lang="vi-VN"/>
              </a:p>
            </p:txBody>
          </p:sp>
        </mc:Choice>
        <mc:Fallback xmlns="">
          <p:sp>
            <p:nvSpPr>
              <p:cNvPr id="54" name="TextBox 53">
                <a:extLst>
                  <a:ext uri="{FF2B5EF4-FFF2-40B4-BE49-F238E27FC236}">
                    <a16:creationId xmlns:a16="http://schemas.microsoft.com/office/drawing/2014/main" id="{4012816D-C675-0A15-92E2-E85CC4D7D1C3}"/>
                  </a:ext>
                </a:extLst>
              </p:cNvPr>
              <p:cNvSpPr txBox="1">
                <a:spLocks noRot="1" noChangeAspect="1" noMove="1" noResize="1" noEditPoints="1" noAdjustHandles="1" noChangeArrowheads="1" noChangeShapeType="1" noTextEdit="1"/>
              </p:cNvSpPr>
              <p:nvPr/>
            </p:nvSpPr>
            <p:spPr>
              <a:xfrm>
                <a:off x="3611549" y="2985670"/>
                <a:ext cx="3864175" cy="1396280"/>
              </a:xfrm>
              <a:prstGeom prst="rect">
                <a:avLst/>
              </a:prstGeom>
              <a:blipFill>
                <a:blip r:embed="rId12"/>
                <a:stretch>
                  <a:fillRect/>
                </a:stretch>
              </a:blipFill>
            </p:spPr>
            <p:txBody>
              <a:bodyPr/>
              <a:lstStyle/>
              <a:p>
                <a:r>
                  <a:rPr lang="vi-VN">
                    <a:noFill/>
                  </a:rPr>
                  <a:t> </a:t>
                </a:r>
              </a:p>
            </p:txBody>
          </p:sp>
        </mc:Fallback>
      </mc:AlternateContent>
      <p:cxnSp>
        <p:nvCxnSpPr>
          <p:cNvPr id="55" name="Straight Arrow Connector 54">
            <a:extLst>
              <a:ext uri="{FF2B5EF4-FFF2-40B4-BE49-F238E27FC236}">
                <a16:creationId xmlns:a16="http://schemas.microsoft.com/office/drawing/2014/main" id="{76C46D29-D6F3-D8A3-B4A8-34AD84FCCDAA}"/>
              </a:ext>
            </a:extLst>
          </p:cNvPr>
          <p:cNvCxnSpPr>
            <a:cxnSpLocks/>
          </p:cNvCxnSpPr>
          <p:nvPr/>
        </p:nvCxnSpPr>
        <p:spPr>
          <a:xfrm>
            <a:off x="3957987" y="3021173"/>
            <a:ext cx="0" cy="5305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563A820D-C520-6632-FF63-6629D950D91A}"/>
              </a:ext>
            </a:extLst>
          </p:cNvPr>
          <p:cNvCxnSpPr>
            <a:cxnSpLocks/>
            <a:endCxn id="60" idx="0"/>
          </p:cNvCxnSpPr>
          <p:nvPr/>
        </p:nvCxnSpPr>
        <p:spPr>
          <a:xfrm>
            <a:off x="6260920" y="4338269"/>
            <a:ext cx="1039980" cy="3685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4359EF37-944A-38CB-C5BF-0A56FAA7C5D4}"/>
                  </a:ext>
                </a:extLst>
              </p:cNvPr>
              <p:cNvSpPr txBox="1"/>
              <p:nvPr/>
            </p:nvSpPr>
            <p:spPr>
              <a:xfrm>
                <a:off x="6464727" y="4706855"/>
                <a:ext cx="1672345" cy="394660"/>
              </a:xfrm>
              <a:prstGeom prst="rect">
                <a:avLst/>
              </a:prstGeom>
              <a:noFill/>
            </p:spPr>
            <p:txBody>
              <a:bodyPr wrap="square" rtlCol="0">
                <a:spAutoFit/>
              </a:bodyPr>
              <a:lstStyle/>
              <a:p>
                <a:r>
                  <a:rPr lang="en-US"/>
                  <a:t>Collect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sub>
                    </m:sSub>
                  </m:oMath>
                </a14:m>
                <a:endParaRPr lang="vi-VN"/>
              </a:p>
            </p:txBody>
          </p:sp>
        </mc:Choice>
        <mc:Fallback xmlns="">
          <p:sp>
            <p:nvSpPr>
              <p:cNvPr id="60" name="TextBox 59">
                <a:extLst>
                  <a:ext uri="{FF2B5EF4-FFF2-40B4-BE49-F238E27FC236}">
                    <a16:creationId xmlns:a16="http://schemas.microsoft.com/office/drawing/2014/main" id="{4359EF37-944A-38CB-C5BF-0A56FAA7C5D4}"/>
                  </a:ext>
                </a:extLst>
              </p:cNvPr>
              <p:cNvSpPr txBox="1">
                <a:spLocks noRot="1" noChangeAspect="1" noMove="1" noResize="1" noEditPoints="1" noAdjustHandles="1" noChangeArrowheads="1" noChangeShapeType="1" noTextEdit="1"/>
              </p:cNvSpPr>
              <p:nvPr/>
            </p:nvSpPr>
            <p:spPr>
              <a:xfrm>
                <a:off x="6464727" y="4706855"/>
                <a:ext cx="1672345" cy="394660"/>
              </a:xfrm>
              <a:prstGeom prst="rect">
                <a:avLst/>
              </a:prstGeom>
              <a:blipFill>
                <a:blip r:embed="rId13"/>
                <a:stretch>
                  <a:fillRect l="-2909" t="-6154" b="-1846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1C4314EE-AB55-E45D-50DF-1F8AF9C10F53}"/>
                  </a:ext>
                </a:extLst>
              </p:cNvPr>
              <p:cNvSpPr txBox="1"/>
              <p:nvPr/>
            </p:nvSpPr>
            <p:spPr>
              <a:xfrm>
                <a:off x="4977680" y="4673215"/>
                <a:ext cx="1124214" cy="3764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62" name="TextBox 61">
                <a:extLst>
                  <a:ext uri="{FF2B5EF4-FFF2-40B4-BE49-F238E27FC236}">
                    <a16:creationId xmlns:a16="http://schemas.microsoft.com/office/drawing/2014/main" id="{1C4314EE-AB55-E45D-50DF-1F8AF9C10F53}"/>
                  </a:ext>
                </a:extLst>
              </p:cNvPr>
              <p:cNvSpPr txBox="1">
                <a:spLocks noRot="1" noChangeAspect="1" noMove="1" noResize="1" noEditPoints="1" noAdjustHandles="1" noChangeArrowheads="1" noChangeShapeType="1" noTextEdit="1"/>
              </p:cNvSpPr>
              <p:nvPr/>
            </p:nvSpPr>
            <p:spPr>
              <a:xfrm>
                <a:off x="4977680" y="4673215"/>
                <a:ext cx="1124214" cy="376450"/>
              </a:xfrm>
              <a:prstGeom prst="rect">
                <a:avLst/>
              </a:prstGeom>
              <a:blipFill>
                <a:blip r:embed="rId14"/>
                <a:stretch>
                  <a:fillRect/>
                </a:stretch>
              </a:blipFill>
            </p:spPr>
            <p:txBody>
              <a:bodyPr/>
              <a:lstStyle/>
              <a:p>
                <a:r>
                  <a:rPr lang="vi-VN">
                    <a:noFill/>
                  </a:rPr>
                  <a:t> </a:t>
                </a:r>
              </a:p>
            </p:txBody>
          </p:sp>
        </mc:Fallback>
      </mc:AlternateContent>
      <p:cxnSp>
        <p:nvCxnSpPr>
          <p:cNvPr id="63" name="Straight Arrow Connector 62">
            <a:extLst>
              <a:ext uri="{FF2B5EF4-FFF2-40B4-BE49-F238E27FC236}">
                <a16:creationId xmlns:a16="http://schemas.microsoft.com/office/drawing/2014/main" id="{95068092-ACDC-0635-B16B-049DBAA4F6C4}"/>
              </a:ext>
            </a:extLst>
          </p:cNvPr>
          <p:cNvCxnSpPr>
            <a:cxnSpLocks/>
            <a:endCxn id="3076" idx="0"/>
          </p:cNvCxnSpPr>
          <p:nvPr/>
        </p:nvCxnSpPr>
        <p:spPr>
          <a:xfrm flipH="1">
            <a:off x="5528096" y="4347054"/>
            <a:ext cx="732824" cy="3523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75" name="TextBox 3074">
            <a:extLst>
              <a:ext uri="{FF2B5EF4-FFF2-40B4-BE49-F238E27FC236}">
                <a16:creationId xmlns:a16="http://schemas.microsoft.com/office/drawing/2014/main" id="{26D55934-7F60-E060-6835-5CF3502C2FA2}"/>
              </a:ext>
            </a:extLst>
          </p:cNvPr>
          <p:cNvSpPr txBox="1"/>
          <p:nvPr/>
        </p:nvSpPr>
        <p:spPr>
          <a:xfrm>
            <a:off x="4351888" y="4630607"/>
            <a:ext cx="797930" cy="461665"/>
          </a:xfrm>
          <a:prstGeom prst="rect">
            <a:avLst/>
          </a:prstGeom>
          <a:noFill/>
        </p:spPr>
        <p:txBody>
          <a:bodyPr wrap="square" rtlCol="0">
            <a:spAutoFit/>
          </a:bodyPr>
          <a:lstStyle/>
          <a:p>
            <a:r>
              <a:rPr lang="en-US" sz="1200">
                <a:solidFill>
                  <a:srgbClr val="FF0000"/>
                </a:solidFill>
              </a:rPr>
              <a:t>For next iteration</a:t>
            </a:r>
            <a:endParaRPr lang="vi-VN" sz="1200">
              <a:solidFill>
                <a:srgbClr val="FF0000"/>
              </a:solidFill>
            </a:endParaRPr>
          </a:p>
        </p:txBody>
      </p:sp>
      <p:sp>
        <p:nvSpPr>
          <p:cNvPr id="3076" name="Rectangle 3075">
            <a:extLst>
              <a:ext uri="{FF2B5EF4-FFF2-40B4-BE49-F238E27FC236}">
                <a16:creationId xmlns:a16="http://schemas.microsoft.com/office/drawing/2014/main" id="{106B0630-B7E1-2BD9-19B1-8FEAA4E29862}"/>
              </a:ext>
            </a:extLst>
          </p:cNvPr>
          <p:cNvSpPr/>
          <p:nvPr/>
        </p:nvSpPr>
        <p:spPr>
          <a:xfrm>
            <a:off x="5059872" y="4699385"/>
            <a:ext cx="936447" cy="332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85" name="Rectangle 3084">
            <a:extLst>
              <a:ext uri="{FF2B5EF4-FFF2-40B4-BE49-F238E27FC236}">
                <a16:creationId xmlns:a16="http://schemas.microsoft.com/office/drawing/2014/main" id="{6A81384A-4FFF-ED68-52E7-7D61013FC854}"/>
              </a:ext>
            </a:extLst>
          </p:cNvPr>
          <p:cNvSpPr/>
          <p:nvPr/>
        </p:nvSpPr>
        <p:spPr>
          <a:xfrm>
            <a:off x="7557122" y="1819648"/>
            <a:ext cx="317713" cy="45719"/>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94" name="TextBox 3093">
            <a:extLst>
              <a:ext uri="{FF2B5EF4-FFF2-40B4-BE49-F238E27FC236}">
                <a16:creationId xmlns:a16="http://schemas.microsoft.com/office/drawing/2014/main" id="{1CB6F29E-23F3-CCF4-F904-132462AF6E55}"/>
              </a:ext>
            </a:extLst>
          </p:cNvPr>
          <p:cNvSpPr txBox="1"/>
          <p:nvPr/>
        </p:nvSpPr>
        <p:spPr>
          <a:xfrm>
            <a:off x="628650" y="4019751"/>
            <a:ext cx="3664943" cy="1015663"/>
          </a:xfrm>
          <a:prstGeom prst="rect">
            <a:avLst/>
          </a:prstGeom>
          <a:noFill/>
        </p:spPr>
        <p:txBody>
          <a:bodyPr wrap="square">
            <a:spAutoFit/>
          </a:bodyPr>
          <a:lstStyle/>
          <a:p>
            <a:r>
              <a:rPr lang="vi-VN" sz="1000" b="1">
                <a:effectLst/>
                <a:latin typeface="Calibri" panose="020F0502020204030204" pitchFamily="34" charset="0"/>
                <a:ea typeface="Calibri" panose="020F0502020204030204" pitchFamily="34" charset="0"/>
                <a:cs typeface="Calibri" panose="020F0502020204030204" pitchFamily="34" charset="0"/>
              </a:rPr>
              <a:t>[</a:t>
            </a:r>
            <a:r>
              <a:rPr lang="en-US" sz="1000" b="1">
                <a:latin typeface="Calibri" panose="020F0502020204030204" pitchFamily="34" charset="0"/>
                <a:ea typeface="Calibri" panose="020F0502020204030204" pitchFamily="34" charset="0"/>
                <a:cs typeface="Calibri" panose="020F0502020204030204" pitchFamily="34" charset="0"/>
              </a:rPr>
              <a:t>2.3.3</a:t>
            </a:r>
            <a:r>
              <a:rPr lang="vi-VN" sz="1000" b="1">
                <a:effectLst/>
                <a:latin typeface="Calibri" panose="020F0502020204030204" pitchFamily="34" charset="0"/>
                <a:ea typeface="Calibri" panose="020F0502020204030204" pitchFamily="34" charset="0"/>
                <a:cs typeface="Calibri" panose="020F0502020204030204" pitchFamily="34" charset="0"/>
              </a:rPr>
              <a:t>]</a:t>
            </a:r>
            <a:r>
              <a:rPr lang="en-US" sz="1000" b="1">
                <a:effectLst/>
                <a:latin typeface="Calibri" panose="020F0502020204030204" pitchFamily="34" charset="0"/>
                <a:ea typeface="Calibri" panose="020F0502020204030204" pitchFamily="34" charset="0"/>
                <a:cs typeface="Calibri" panose="020F0502020204030204" pitchFamily="34" charset="0"/>
              </a:rPr>
              <a:t> </a:t>
            </a:r>
            <a:r>
              <a:rPr lang="vi-VN" sz="1000" b="0">
                <a:effectLst/>
                <a:latin typeface="Calibri" panose="020F0502020204030204" pitchFamily="34" charset="0"/>
                <a:ea typeface="Calibri" panose="020F0502020204030204" pitchFamily="34" charset="0"/>
                <a:cs typeface="Calibri" panose="020F0502020204030204" pitchFamily="34" charset="0"/>
              </a:rPr>
              <a:t>Siddhartha Patra, Saeed S. Jahromi, Sukhbinder Singh, Roman Orus “Efficient tensor network simulation of IBM’s largest quantum processors” </a:t>
            </a:r>
            <a:r>
              <a:rPr lang="vi-VN" sz="1000" b="0">
                <a:solidFill>
                  <a:srgbClr val="0074E0"/>
                </a:solidFill>
                <a:effectLst/>
                <a:latin typeface="Calibri" panose="020F0502020204030204" pitchFamily="34" charset="0"/>
                <a:ea typeface="Calibri" panose="020F0502020204030204" pitchFamily="34" charset="0"/>
                <a:cs typeface="Calibri" panose="020F0502020204030204" pitchFamily="34" charset="0"/>
                <a:hlinkClick r:id="rId15"/>
              </a:rPr>
              <a:t>arXiv:2309.15642</a:t>
            </a:r>
            <a:r>
              <a:rPr lang="vi-VN" sz="1000" b="0">
                <a:effectLst/>
                <a:latin typeface="Calibri" panose="020F0502020204030204" pitchFamily="34" charset="0"/>
                <a:ea typeface="Calibri" panose="020F0502020204030204" pitchFamily="34" charset="0"/>
                <a:cs typeface="Calibri" panose="020F0502020204030204" pitchFamily="34" charset="0"/>
              </a:rPr>
              <a:t>, 2023.</a:t>
            </a:r>
          </a:p>
          <a:p>
            <a:r>
              <a:rPr lang="en-US" sz="1000" b="1">
                <a:latin typeface="Calibri" panose="020F0502020204030204" pitchFamily="34" charset="0"/>
                <a:ea typeface="Calibri" panose="020F0502020204030204" pitchFamily="34" charset="0"/>
                <a:cs typeface="Calibri" panose="020F0502020204030204" pitchFamily="34" charset="0"/>
              </a:rPr>
              <a:t>[2.3.4]</a:t>
            </a:r>
            <a:r>
              <a:rPr lang="en-US" sz="1000" b="1">
                <a:effectLst/>
                <a:latin typeface="Calibri" panose="020F0502020204030204" pitchFamily="34" charset="0"/>
                <a:ea typeface="Calibri" panose="020F0502020204030204" pitchFamily="34" charset="0"/>
                <a:cs typeface="Calibri" panose="020F0502020204030204" pitchFamily="34" charset="0"/>
              </a:rPr>
              <a:t> </a:t>
            </a:r>
            <a:r>
              <a:rPr lang="vi-VN" sz="1000" b="0">
                <a:effectLst/>
                <a:latin typeface="Calibri" panose="020F0502020204030204" pitchFamily="34" charset="0"/>
                <a:ea typeface="Calibri" panose="020F0502020204030204" pitchFamily="34" charset="0"/>
                <a:cs typeface="Calibri" panose="020F0502020204030204" pitchFamily="34" charset="0"/>
              </a:rPr>
              <a:t>H. C. Jiang, Z. Y. Weng, T. Xiang “Accurate determination of tensor network state of quantum lattice models in two dimensions” </a:t>
            </a:r>
            <a:r>
              <a:rPr lang="vi-VN" sz="1000" b="0">
                <a:solidFill>
                  <a:srgbClr val="0074E0"/>
                </a:solidFill>
                <a:effectLst/>
                <a:latin typeface="Calibri" panose="020F0502020204030204" pitchFamily="34" charset="0"/>
                <a:ea typeface="Calibri" panose="020F0502020204030204" pitchFamily="34" charset="0"/>
                <a:cs typeface="Calibri" panose="020F0502020204030204" pitchFamily="34" charset="0"/>
                <a:hlinkClick r:id="rId16"/>
              </a:rPr>
              <a:t>arXiv:0806.3719</a:t>
            </a:r>
            <a:r>
              <a:rPr lang="vi-VN" sz="1000" b="0">
                <a:effectLst/>
                <a:latin typeface="Calibri" panose="020F0502020204030204" pitchFamily="34" charset="0"/>
                <a:ea typeface="Calibri" panose="020F0502020204030204" pitchFamily="34" charset="0"/>
                <a:cs typeface="Calibri" panose="020F0502020204030204" pitchFamily="34" charset="0"/>
              </a:rPr>
              <a:t>, 2008.</a:t>
            </a:r>
          </a:p>
        </p:txBody>
      </p:sp>
    </p:spTree>
    <p:extLst>
      <p:ext uri="{BB962C8B-B14F-4D97-AF65-F5344CB8AC3E}">
        <p14:creationId xmlns:p14="http://schemas.microsoft.com/office/powerpoint/2010/main" val="3404543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B7B20-41F7-181A-55EB-C7E222C49118}"/>
              </a:ext>
            </a:extLst>
          </p:cNvPr>
          <p:cNvSpPr>
            <a:spLocks noGrp="1"/>
          </p:cNvSpPr>
          <p:nvPr>
            <p:ph type="title"/>
          </p:nvPr>
        </p:nvSpPr>
        <p:spPr/>
        <p:txBody>
          <a:bodyPr>
            <a:normAutofit/>
          </a:bodyPr>
          <a:lstStyle/>
          <a:p>
            <a:r>
              <a:rPr lang="en-US"/>
              <a:t>3. Quantum AI</a:t>
            </a:r>
            <a:br>
              <a:rPr lang="en-US"/>
            </a:br>
            <a:r>
              <a:rPr lang="en-VN" sz="1800"/>
              <a:t>Hybrid quantum - classical model</a:t>
            </a:r>
            <a:endParaRPr lang="en-VN" sz="1800" b="1"/>
          </a:p>
        </p:txBody>
      </p:sp>
      <p:sp>
        <p:nvSpPr>
          <p:cNvPr id="6" name="Slide Number Placeholder 5">
            <a:extLst>
              <a:ext uri="{FF2B5EF4-FFF2-40B4-BE49-F238E27FC236}">
                <a16:creationId xmlns:a16="http://schemas.microsoft.com/office/drawing/2014/main" id="{F4E69742-2377-5B2F-0225-2F4FE76E7C66}"/>
              </a:ext>
            </a:extLst>
          </p:cNvPr>
          <p:cNvSpPr>
            <a:spLocks noGrp="1"/>
          </p:cNvSpPr>
          <p:nvPr>
            <p:ph type="sldNum" sz="quarter" idx="12"/>
          </p:nvPr>
        </p:nvSpPr>
        <p:spPr/>
        <p:txBody>
          <a:bodyPr/>
          <a:lstStyle/>
          <a:p>
            <a:fld id="{9E11622E-1351-4F49-A6C4-DF2CF4D2C924}" type="slidenum">
              <a:rPr lang="en-VN" smtClean="0"/>
              <a:t>28</a:t>
            </a:fld>
            <a:endParaRPr lang="en-VN"/>
          </a:p>
        </p:txBody>
      </p:sp>
      <p:sp>
        <p:nvSpPr>
          <p:cNvPr id="25" name="TextBox 24">
            <a:extLst>
              <a:ext uri="{FF2B5EF4-FFF2-40B4-BE49-F238E27FC236}">
                <a16:creationId xmlns:a16="http://schemas.microsoft.com/office/drawing/2014/main" id="{FFB306F3-4D2D-C247-CC57-0EFA182FB2CC}"/>
              </a:ext>
            </a:extLst>
          </p:cNvPr>
          <p:cNvSpPr txBox="1"/>
          <p:nvPr/>
        </p:nvSpPr>
        <p:spPr>
          <a:xfrm>
            <a:off x="538746" y="4349340"/>
            <a:ext cx="6731453" cy="300082"/>
          </a:xfrm>
          <a:prstGeom prst="rect">
            <a:avLst/>
          </a:prstGeom>
          <a:noFill/>
        </p:spPr>
        <p:txBody>
          <a:bodyPr wrap="square">
            <a:spAutoFit/>
          </a:bodyPr>
          <a:lstStyle/>
          <a:p>
            <a:r>
              <a:rPr lang="en-VN" sz="1350" b="1"/>
              <a:t>Hybrid model [</a:t>
            </a:r>
            <a:r>
              <a:rPr lang="en-US" sz="1350" b="1"/>
              <a:t>3.0.1</a:t>
            </a:r>
            <a:r>
              <a:rPr lang="en-VN" sz="1350" b="1"/>
              <a:t>]</a:t>
            </a:r>
            <a:endParaRPr lang="en-VN" sz="1350"/>
          </a:p>
        </p:txBody>
      </p:sp>
      <p:sp>
        <p:nvSpPr>
          <p:cNvPr id="26" name="TextBox 25">
            <a:extLst>
              <a:ext uri="{FF2B5EF4-FFF2-40B4-BE49-F238E27FC236}">
                <a16:creationId xmlns:a16="http://schemas.microsoft.com/office/drawing/2014/main" id="{9D94E9B8-7B6A-3C13-6D5D-795BE45B6A55}"/>
              </a:ext>
            </a:extLst>
          </p:cNvPr>
          <p:cNvSpPr txBox="1"/>
          <p:nvPr/>
        </p:nvSpPr>
        <p:spPr>
          <a:xfrm>
            <a:off x="538746" y="4767263"/>
            <a:ext cx="7608207" cy="253916"/>
          </a:xfrm>
          <a:prstGeom prst="rect">
            <a:avLst/>
          </a:prstGeom>
          <a:noFill/>
        </p:spPr>
        <p:txBody>
          <a:bodyPr wrap="square">
            <a:spAutoFit/>
          </a:bodyPr>
          <a:lstStyle/>
          <a:p>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3.0.1</a:t>
            </a:r>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vi-VN" sz="1050">
                <a:solidFill>
                  <a:srgbClr val="000000"/>
                </a:solidFill>
                <a:latin typeface="Calibri" panose="020F0502020204030204" pitchFamily="34" charset="0"/>
                <a:ea typeface="Calibri" panose="020F0502020204030204" pitchFamily="34" charset="0"/>
                <a:cs typeface="Calibri" panose="020F0502020204030204" pitchFamily="34" charset="0"/>
              </a:rPr>
              <a:t>M. Schuld and F. Petruccione, Machine learning with quantum computers (Springer, 2021)</a:t>
            </a:r>
          </a:p>
        </p:txBody>
      </p:sp>
      <p:pic>
        <p:nvPicPr>
          <p:cNvPr id="7" name="Content Placeholder 6">
            <a:extLst>
              <a:ext uri="{FF2B5EF4-FFF2-40B4-BE49-F238E27FC236}">
                <a16:creationId xmlns:a16="http://schemas.microsoft.com/office/drawing/2014/main" id="{DA927134-595D-3FFB-FA66-F3810E50801B}"/>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538746" y="1032004"/>
            <a:ext cx="4645194" cy="3263504"/>
          </a:xfrm>
        </p:spPr>
      </p:pic>
    </p:spTree>
    <p:extLst>
      <p:ext uri="{BB962C8B-B14F-4D97-AF65-F5344CB8AC3E}">
        <p14:creationId xmlns:p14="http://schemas.microsoft.com/office/powerpoint/2010/main" val="26553585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F78B7-8DBD-7697-873A-DB9AA1E1651C}"/>
              </a:ext>
            </a:extLst>
          </p:cNvPr>
          <p:cNvSpPr>
            <a:spLocks noGrp="1"/>
          </p:cNvSpPr>
          <p:nvPr>
            <p:ph type="title"/>
          </p:nvPr>
        </p:nvSpPr>
        <p:spPr/>
        <p:txBody>
          <a:bodyPr/>
          <a:lstStyle/>
          <a:p>
            <a:r>
              <a:rPr lang="en-US"/>
              <a:t>3. </a:t>
            </a:r>
            <a:r>
              <a:rPr lang="en-VN"/>
              <a:t>Overview</a:t>
            </a:r>
          </a:p>
        </p:txBody>
      </p:sp>
      <p:graphicFrame>
        <p:nvGraphicFramePr>
          <p:cNvPr id="4" name="Table 3">
            <a:extLst>
              <a:ext uri="{FF2B5EF4-FFF2-40B4-BE49-F238E27FC236}">
                <a16:creationId xmlns:a16="http://schemas.microsoft.com/office/drawing/2014/main" id="{D89C8333-27CE-A384-D804-90687B5E82A5}"/>
              </a:ext>
            </a:extLst>
          </p:cNvPr>
          <p:cNvGraphicFramePr>
            <a:graphicFrameLocks noGrp="1"/>
          </p:cNvGraphicFramePr>
          <p:nvPr>
            <p:extLst>
              <p:ext uri="{D42A27DB-BD31-4B8C-83A1-F6EECF244321}">
                <p14:modId xmlns:p14="http://schemas.microsoft.com/office/powerpoint/2010/main" val="2202381908"/>
              </p:ext>
            </p:extLst>
          </p:nvPr>
        </p:nvGraphicFramePr>
        <p:xfrm>
          <a:off x="1482958" y="1915920"/>
          <a:ext cx="3152078" cy="2448778"/>
        </p:xfrm>
        <a:graphic>
          <a:graphicData uri="http://schemas.openxmlformats.org/drawingml/2006/table">
            <a:tbl>
              <a:tblPr firstRow="1" bandRow="1">
                <a:tableStyleId>{5940675A-B579-460E-94D1-54222C63F5DA}</a:tableStyleId>
              </a:tblPr>
              <a:tblGrid>
                <a:gridCol w="1576039">
                  <a:extLst>
                    <a:ext uri="{9D8B030D-6E8A-4147-A177-3AD203B41FA5}">
                      <a16:colId xmlns:a16="http://schemas.microsoft.com/office/drawing/2014/main" val="2497371197"/>
                    </a:ext>
                  </a:extLst>
                </a:gridCol>
                <a:gridCol w="1576039">
                  <a:extLst>
                    <a:ext uri="{9D8B030D-6E8A-4147-A177-3AD203B41FA5}">
                      <a16:colId xmlns:a16="http://schemas.microsoft.com/office/drawing/2014/main" val="1335477195"/>
                    </a:ext>
                  </a:extLst>
                </a:gridCol>
              </a:tblGrid>
              <a:tr h="1224389">
                <a:tc>
                  <a:txBody>
                    <a:bodyPr/>
                    <a:lstStyle/>
                    <a:p>
                      <a:pPr algn="ctr"/>
                      <a:endParaRPr lang="en-VN" sz="3600"/>
                    </a:p>
                  </a:txBody>
                  <a:tcPr anchor="ctr"/>
                </a:tc>
                <a:tc>
                  <a:txBody>
                    <a:bodyPr/>
                    <a:lstStyle/>
                    <a:p>
                      <a:pPr algn="ctr"/>
                      <a:endParaRPr lang="en-VN" sz="3600"/>
                    </a:p>
                  </a:txBody>
                  <a:tcPr anchor="ctr"/>
                </a:tc>
                <a:extLst>
                  <a:ext uri="{0D108BD9-81ED-4DB2-BD59-A6C34878D82A}">
                    <a16:rowId xmlns:a16="http://schemas.microsoft.com/office/drawing/2014/main" val="3676909258"/>
                  </a:ext>
                </a:extLst>
              </a:tr>
              <a:tr h="1224389">
                <a:tc>
                  <a:txBody>
                    <a:bodyPr/>
                    <a:lstStyle/>
                    <a:p>
                      <a:pPr algn="ctr"/>
                      <a:r>
                        <a:rPr lang="en-VN" sz="3600"/>
                        <a:t>QC</a:t>
                      </a:r>
                    </a:p>
                  </a:txBody>
                  <a:tcPr anchor="ctr"/>
                </a:tc>
                <a:tc>
                  <a:txBody>
                    <a:bodyPr/>
                    <a:lstStyle/>
                    <a:p>
                      <a:pPr algn="ctr"/>
                      <a:r>
                        <a:rPr lang="en-VN" sz="3600"/>
                        <a:t>QQ</a:t>
                      </a:r>
                    </a:p>
                  </a:txBody>
                  <a:tcPr anchor="ctr"/>
                </a:tc>
                <a:extLst>
                  <a:ext uri="{0D108BD9-81ED-4DB2-BD59-A6C34878D82A}">
                    <a16:rowId xmlns:a16="http://schemas.microsoft.com/office/drawing/2014/main" val="843401395"/>
                  </a:ext>
                </a:extLst>
              </a:tr>
            </a:tbl>
          </a:graphicData>
        </a:graphic>
      </p:graphicFrame>
      <p:cxnSp>
        <p:nvCxnSpPr>
          <p:cNvPr id="6" name="Straight Connector 5">
            <a:extLst>
              <a:ext uri="{FF2B5EF4-FFF2-40B4-BE49-F238E27FC236}">
                <a16:creationId xmlns:a16="http://schemas.microsoft.com/office/drawing/2014/main" id="{BD0B232E-6236-D68F-DA82-80405DD6D950}"/>
              </a:ext>
            </a:extLst>
          </p:cNvPr>
          <p:cNvCxnSpPr/>
          <p:nvPr/>
        </p:nvCxnSpPr>
        <p:spPr>
          <a:xfrm>
            <a:off x="1022040" y="1915920"/>
            <a:ext cx="0" cy="2448778"/>
          </a:xfrm>
          <a:prstGeom prst="line">
            <a:avLst/>
          </a:prstGeom>
          <a:ln w="3810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445378C-D9C1-EA8F-76E2-341F0156F867}"/>
              </a:ext>
            </a:extLst>
          </p:cNvPr>
          <p:cNvCxnSpPr>
            <a:cxnSpLocks/>
          </p:cNvCxnSpPr>
          <p:nvPr/>
        </p:nvCxnSpPr>
        <p:spPr>
          <a:xfrm>
            <a:off x="1482958" y="1473590"/>
            <a:ext cx="3152078" cy="0"/>
          </a:xfrm>
          <a:prstGeom prst="line">
            <a:avLst/>
          </a:prstGeom>
          <a:ln w="38100"/>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73DD5250-EEC8-ABE2-269E-226EA714FFF6}"/>
              </a:ext>
            </a:extLst>
          </p:cNvPr>
          <p:cNvSpPr txBox="1"/>
          <p:nvPr/>
        </p:nvSpPr>
        <p:spPr>
          <a:xfrm>
            <a:off x="2051670" y="1058266"/>
            <a:ext cx="2014653" cy="369332"/>
          </a:xfrm>
          <a:prstGeom prst="rect">
            <a:avLst/>
          </a:prstGeom>
          <a:noFill/>
        </p:spPr>
        <p:txBody>
          <a:bodyPr wrap="square" rtlCol="0">
            <a:spAutoFit/>
          </a:bodyPr>
          <a:lstStyle/>
          <a:p>
            <a:r>
              <a:rPr lang="en-VN"/>
              <a:t>Type of algorithm</a:t>
            </a:r>
          </a:p>
        </p:txBody>
      </p:sp>
      <p:sp>
        <p:nvSpPr>
          <p:cNvPr id="10" name="TextBox 9">
            <a:extLst>
              <a:ext uri="{FF2B5EF4-FFF2-40B4-BE49-F238E27FC236}">
                <a16:creationId xmlns:a16="http://schemas.microsoft.com/office/drawing/2014/main" id="{FFE217DE-4F56-30A6-F6A4-D52C985182B3}"/>
              </a:ext>
            </a:extLst>
          </p:cNvPr>
          <p:cNvSpPr txBox="1"/>
          <p:nvPr/>
        </p:nvSpPr>
        <p:spPr>
          <a:xfrm rot="16200000">
            <a:off x="-194010" y="2955642"/>
            <a:ext cx="2014653" cy="369332"/>
          </a:xfrm>
          <a:prstGeom prst="rect">
            <a:avLst/>
          </a:prstGeom>
          <a:noFill/>
        </p:spPr>
        <p:txBody>
          <a:bodyPr wrap="square" rtlCol="0">
            <a:spAutoFit/>
          </a:bodyPr>
          <a:lstStyle/>
          <a:p>
            <a:pPr algn="ctr"/>
            <a:r>
              <a:rPr lang="en-VN"/>
              <a:t>Type of data</a:t>
            </a:r>
          </a:p>
        </p:txBody>
      </p:sp>
      <p:sp>
        <p:nvSpPr>
          <p:cNvPr id="11" name="TextBox 10">
            <a:extLst>
              <a:ext uri="{FF2B5EF4-FFF2-40B4-BE49-F238E27FC236}">
                <a16:creationId xmlns:a16="http://schemas.microsoft.com/office/drawing/2014/main" id="{AB24010D-A533-ECC6-8824-CC3B0DD224F2}"/>
              </a:ext>
            </a:extLst>
          </p:cNvPr>
          <p:cNvSpPr txBox="1"/>
          <p:nvPr/>
        </p:nvSpPr>
        <p:spPr>
          <a:xfrm>
            <a:off x="1482959" y="1519583"/>
            <a:ext cx="1583472" cy="369332"/>
          </a:xfrm>
          <a:prstGeom prst="rect">
            <a:avLst/>
          </a:prstGeom>
          <a:noFill/>
        </p:spPr>
        <p:txBody>
          <a:bodyPr wrap="square" rtlCol="0">
            <a:spAutoFit/>
          </a:bodyPr>
          <a:lstStyle/>
          <a:p>
            <a:pPr algn="ctr"/>
            <a:r>
              <a:rPr lang="en-VN"/>
              <a:t>classical</a:t>
            </a:r>
          </a:p>
        </p:txBody>
      </p:sp>
      <p:sp>
        <p:nvSpPr>
          <p:cNvPr id="12" name="TextBox 11">
            <a:extLst>
              <a:ext uri="{FF2B5EF4-FFF2-40B4-BE49-F238E27FC236}">
                <a16:creationId xmlns:a16="http://schemas.microsoft.com/office/drawing/2014/main" id="{36B61F7F-1223-B253-87EA-130161BBC752}"/>
              </a:ext>
            </a:extLst>
          </p:cNvPr>
          <p:cNvSpPr txBox="1"/>
          <p:nvPr/>
        </p:nvSpPr>
        <p:spPr>
          <a:xfrm>
            <a:off x="3051564" y="1519583"/>
            <a:ext cx="1583472" cy="369332"/>
          </a:xfrm>
          <a:prstGeom prst="rect">
            <a:avLst/>
          </a:prstGeom>
          <a:noFill/>
        </p:spPr>
        <p:txBody>
          <a:bodyPr wrap="square" rtlCol="0">
            <a:spAutoFit/>
          </a:bodyPr>
          <a:lstStyle/>
          <a:p>
            <a:pPr algn="ctr"/>
            <a:r>
              <a:rPr lang="en-VN"/>
              <a:t>quantum</a:t>
            </a:r>
          </a:p>
        </p:txBody>
      </p:sp>
      <p:sp>
        <p:nvSpPr>
          <p:cNvPr id="13" name="TextBox 12">
            <a:extLst>
              <a:ext uri="{FF2B5EF4-FFF2-40B4-BE49-F238E27FC236}">
                <a16:creationId xmlns:a16="http://schemas.microsoft.com/office/drawing/2014/main" id="{B1C955D2-16CB-F038-7384-C524BDD150FD}"/>
              </a:ext>
            </a:extLst>
          </p:cNvPr>
          <p:cNvSpPr txBox="1"/>
          <p:nvPr/>
        </p:nvSpPr>
        <p:spPr>
          <a:xfrm rot="16200000">
            <a:off x="650656" y="2344561"/>
            <a:ext cx="1226616" cy="369332"/>
          </a:xfrm>
          <a:prstGeom prst="rect">
            <a:avLst/>
          </a:prstGeom>
          <a:noFill/>
        </p:spPr>
        <p:txBody>
          <a:bodyPr wrap="square" rtlCol="0">
            <a:spAutoFit/>
          </a:bodyPr>
          <a:lstStyle/>
          <a:p>
            <a:pPr algn="ctr"/>
            <a:r>
              <a:rPr lang="en-VN"/>
              <a:t>classical</a:t>
            </a:r>
          </a:p>
        </p:txBody>
      </p:sp>
      <p:sp>
        <p:nvSpPr>
          <p:cNvPr id="14" name="TextBox 13">
            <a:extLst>
              <a:ext uri="{FF2B5EF4-FFF2-40B4-BE49-F238E27FC236}">
                <a16:creationId xmlns:a16="http://schemas.microsoft.com/office/drawing/2014/main" id="{BE3FC08B-0AE0-8E51-0B19-D3B2196E820D}"/>
              </a:ext>
            </a:extLst>
          </p:cNvPr>
          <p:cNvSpPr txBox="1"/>
          <p:nvPr/>
        </p:nvSpPr>
        <p:spPr>
          <a:xfrm rot="16200000">
            <a:off x="623272" y="3572277"/>
            <a:ext cx="1233271" cy="369332"/>
          </a:xfrm>
          <a:prstGeom prst="rect">
            <a:avLst/>
          </a:prstGeom>
          <a:noFill/>
        </p:spPr>
        <p:txBody>
          <a:bodyPr wrap="square" rtlCol="0">
            <a:spAutoFit/>
          </a:bodyPr>
          <a:lstStyle/>
          <a:p>
            <a:pPr algn="ctr"/>
            <a:r>
              <a:rPr lang="en-VN"/>
              <a:t>quantum</a:t>
            </a:r>
          </a:p>
        </p:txBody>
      </p:sp>
      <p:sp>
        <p:nvSpPr>
          <p:cNvPr id="16" name="TextBox 15">
            <a:extLst>
              <a:ext uri="{FF2B5EF4-FFF2-40B4-BE49-F238E27FC236}">
                <a16:creationId xmlns:a16="http://schemas.microsoft.com/office/drawing/2014/main" id="{72F88BA7-0013-473C-6793-3845DF69D2D5}"/>
              </a:ext>
            </a:extLst>
          </p:cNvPr>
          <p:cNvSpPr txBox="1"/>
          <p:nvPr/>
        </p:nvSpPr>
        <p:spPr>
          <a:xfrm>
            <a:off x="338612" y="4468658"/>
            <a:ext cx="2698595" cy="646331"/>
          </a:xfrm>
          <a:prstGeom prst="rect">
            <a:avLst/>
          </a:prstGeom>
          <a:noFill/>
        </p:spPr>
        <p:txBody>
          <a:bodyPr wrap="square" rtlCol="0">
            <a:spAutoFit/>
          </a:bodyPr>
          <a:lstStyle/>
          <a:p>
            <a:r>
              <a:rPr lang="en-US"/>
              <a:t>C</a:t>
            </a:r>
            <a:r>
              <a:rPr lang="en-VN"/>
              <a:t>lassical model: KNN, SVM, Deep learning, …</a:t>
            </a:r>
          </a:p>
        </p:txBody>
      </p:sp>
      <p:cxnSp>
        <p:nvCxnSpPr>
          <p:cNvPr id="18" name="Elbow Connector 17">
            <a:extLst>
              <a:ext uri="{FF2B5EF4-FFF2-40B4-BE49-F238E27FC236}">
                <a16:creationId xmlns:a16="http://schemas.microsoft.com/office/drawing/2014/main" id="{6E12E613-FAC9-C383-937F-F722D5957B12}"/>
              </a:ext>
            </a:extLst>
          </p:cNvPr>
          <p:cNvCxnSpPr>
            <a:cxnSpLocks/>
            <a:stCxn id="16" idx="0"/>
            <a:endCxn id="20" idx="1"/>
          </p:cNvCxnSpPr>
          <p:nvPr/>
        </p:nvCxnSpPr>
        <p:spPr>
          <a:xfrm rot="5400000" flipH="1" flipV="1">
            <a:off x="836645" y="3361433"/>
            <a:ext cx="1958490" cy="255961"/>
          </a:xfrm>
          <a:prstGeom prst="bentConnector2">
            <a:avLst/>
          </a:prstGeom>
          <a:ln w="3810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4F5A90FE-A9B5-CCD2-1745-0E78B1CE545B}"/>
              </a:ext>
            </a:extLst>
          </p:cNvPr>
          <p:cNvSpPr txBox="1"/>
          <p:nvPr/>
        </p:nvSpPr>
        <p:spPr>
          <a:xfrm>
            <a:off x="1943871" y="2156225"/>
            <a:ext cx="735983" cy="707886"/>
          </a:xfrm>
          <a:prstGeom prst="rect">
            <a:avLst/>
          </a:prstGeom>
          <a:noFill/>
          <a:ln>
            <a:noFill/>
          </a:ln>
        </p:spPr>
        <p:txBody>
          <a:bodyPr wrap="square" rtlCol="0">
            <a:spAutoFit/>
          </a:bodyPr>
          <a:lstStyle/>
          <a:p>
            <a:r>
              <a:rPr lang="en-VN" sz="4000" b="1">
                <a:solidFill>
                  <a:schemeClr val="accent1"/>
                </a:solidFill>
              </a:rPr>
              <a:t>CC</a:t>
            </a:r>
          </a:p>
        </p:txBody>
      </p:sp>
      <p:sp>
        <p:nvSpPr>
          <p:cNvPr id="23" name="TextBox 22">
            <a:extLst>
              <a:ext uri="{FF2B5EF4-FFF2-40B4-BE49-F238E27FC236}">
                <a16:creationId xmlns:a16="http://schemas.microsoft.com/office/drawing/2014/main" id="{F06D8FBD-7DF6-B0CF-0286-632382535567}"/>
              </a:ext>
            </a:extLst>
          </p:cNvPr>
          <p:cNvSpPr txBox="1"/>
          <p:nvPr/>
        </p:nvSpPr>
        <p:spPr>
          <a:xfrm>
            <a:off x="3170663" y="4468659"/>
            <a:ext cx="3152078" cy="646331"/>
          </a:xfrm>
          <a:prstGeom prst="rect">
            <a:avLst/>
          </a:prstGeom>
          <a:noFill/>
        </p:spPr>
        <p:txBody>
          <a:bodyPr wrap="square" rtlCol="0">
            <a:spAutoFit/>
          </a:bodyPr>
          <a:lstStyle/>
          <a:p>
            <a:r>
              <a:rPr lang="en-VN" sz="1200"/>
              <a:t>Quantum Machine learning (QML): algorithm running on only quantum computer or both quantum / classical computers</a:t>
            </a:r>
          </a:p>
        </p:txBody>
      </p:sp>
      <p:sp>
        <p:nvSpPr>
          <p:cNvPr id="24" name="TextBox 23">
            <a:extLst>
              <a:ext uri="{FF2B5EF4-FFF2-40B4-BE49-F238E27FC236}">
                <a16:creationId xmlns:a16="http://schemas.microsoft.com/office/drawing/2014/main" id="{D00B59C3-0D35-BEBB-E80D-CAD94C5A1A81}"/>
              </a:ext>
            </a:extLst>
          </p:cNvPr>
          <p:cNvSpPr txBox="1"/>
          <p:nvPr/>
        </p:nvSpPr>
        <p:spPr>
          <a:xfrm>
            <a:off x="3475308" y="2156225"/>
            <a:ext cx="817756" cy="707886"/>
          </a:xfrm>
          <a:prstGeom prst="rect">
            <a:avLst/>
          </a:prstGeom>
          <a:noFill/>
          <a:ln>
            <a:noFill/>
          </a:ln>
        </p:spPr>
        <p:txBody>
          <a:bodyPr wrap="square" rtlCol="0">
            <a:spAutoFit/>
          </a:bodyPr>
          <a:lstStyle/>
          <a:p>
            <a:r>
              <a:rPr lang="en-VN" sz="4000" b="1">
                <a:solidFill>
                  <a:schemeClr val="accent1"/>
                </a:solidFill>
              </a:rPr>
              <a:t>CQ</a:t>
            </a:r>
          </a:p>
        </p:txBody>
      </p:sp>
      <p:cxnSp>
        <p:nvCxnSpPr>
          <p:cNvPr id="25" name="Elbow Connector 24">
            <a:extLst>
              <a:ext uri="{FF2B5EF4-FFF2-40B4-BE49-F238E27FC236}">
                <a16:creationId xmlns:a16="http://schemas.microsoft.com/office/drawing/2014/main" id="{F13DA99D-C2D7-1C5F-3354-4B2F81131430}"/>
              </a:ext>
            </a:extLst>
          </p:cNvPr>
          <p:cNvCxnSpPr>
            <a:cxnSpLocks/>
            <a:stCxn id="23" idx="0"/>
            <a:endCxn id="24" idx="3"/>
          </p:cNvCxnSpPr>
          <p:nvPr/>
        </p:nvCxnSpPr>
        <p:spPr>
          <a:xfrm rot="16200000" flipV="1">
            <a:off x="3540638" y="3262595"/>
            <a:ext cx="1958491" cy="453638"/>
          </a:xfrm>
          <a:prstGeom prst="bentConnector2">
            <a:avLst/>
          </a:prstGeom>
          <a:ln w="3810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CEB0859C-416B-B4FD-79BC-5287D1F4390B}"/>
              </a:ext>
            </a:extLst>
          </p:cNvPr>
          <p:cNvSpPr txBox="1"/>
          <p:nvPr/>
        </p:nvSpPr>
        <p:spPr>
          <a:xfrm>
            <a:off x="5033466" y="1535769"/>
            <a:ext cx="3678973" cy="923330"/>
          </a:xfrm>
          <a:prstGeom prst="rect">
            <a:avLst/>
          </a:prstGeom>
          <a:noFill/>
        </p:spPr>
        <p:txBody>
          <a:bodyPr wrap="square" rtlCol="0">
            <a:spAutoFit/>
          </a:bodyPr>
          <a:lstStyle/>
          <a:p>
            <a:r>
              <a:rPr lang="en-VN"/>
              <a:t>Hybrid quantum – classical learning: algorithm run</a:t>
            </a:r>
            <a:r>
              <a:rPr lang="en-US"/>
              <a:t>n</a:t>
            </a:r>
            <a:r>
              <a:rPr lang="en-VN"/>
              <a:t>ing on both quantum </a:t>
            </a:r>
            <a:r>
              <a:rPr lang="en-US"/>
              <a:t>and</a:t>
            </a:r>
            <a:r>
              <a:rPr lang="en-VN"/>
              <a:t> classical computers</a:t>
            </a:r>
          </a:p>
        </p:txBody>
      </p:sp>
      <p:cxnSp>
        <p:nvCxnSpPr>
          <p:cNvPr id="31" name="Elbow Connector 30">
            <a:extLst>
              <a:ext uri="{FF2B5EF4-FFF2-40B4-BE49-F238E27FC236}">
                <a16:creationId xmlns:a16="http://schemas.microsoft.com/office/drawing/2014/main" id="{BF779CA7-93A9-8229-A20F-CFE8C29961C0}"/>
              </a:ext>
            </a:extLst>
          </p:cNvPr>
          <p:cNvCxnSpPr>
            <a:cxnSpLocks/>
            <a:stCxn id="30" idx="1"/>
            <a:endCxn id="22" idx="0"/>
          </p:cNvCxnSpPr>
          <p:nvPr/>
        </p:nvCxnSpPr>
        <p:spPr>
          <a:xfrm rot="10800000" flipV="1">
            <a:off x="3044344" y="1997433"/>
            <a:ext cx="1989122" cy="185679"/>
          </a:xfrm>
          <a:prstGeom prst="bentConnector2">
            <a:avLst/>
          </a:prstGeom>
          <a:ln w="3810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AB0E60C-E33F-AE0D-9A9D-488F38C72627}"/>
              </a:ext>
            </a:extLst>
          </p:cNvPr>
          <p:cNvCxnSpPr>
            <a:cxnSpLocks/>
          </p:cNvCxnSpPr>
          <p:nvPr/>
        </p:nvCxnSpPr>
        <p:spPr>
          <a:xfrm flipH="1">
            <a:off x="2870342" y="2220341"/>
            <a:ext cx="201991" cy="477517"/>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1" name="Slide Number Placeholder 40">
            <a:extLst>
              <a:ext uri="{FF2B5EF4-FFF2-40B4-BE49-F238E27FC236}">
                <a16:creationId xmlns:a16="http://schemas.microsoft.com/office/drawing/2014/main" id="{FCFB2282-F2A8-7AEA-F971-11F1EC20438C}"/>
              </a:ext>
            </a:extLst>
          </p:cNvPr>
          <p:cNvSpPr>
            <a:spLocks noGrp="1"/>
          </p:cNvSpPr>
          <p:nvPr>
            <p:ph type="sldNum" sz="quarter" idx="12"/>
          </p:nvPr>
        </p:nvSpPr>
        <p:spPr/>
        <p:txBody>
          <a:bodyPr/>
          <a:lstStyle/>
          <a:p>
            <a:fld id="{6A45828D-F580-42DE-B77E-860980F07F32}" type="slidenum">
              <a:rPr lang="vi-VN" smtClean="0"/>
              <a:t>29</a:t>
            </a:fld>
            <a:endParaRPr lang="vi-VN"/>
          </a:p>
        </p:txBody>
      </p:sp>
      <p:sp>
        <p:nvSpPr>
          <p:cNvPr id="3" name="Rectangle 2">
            <a:extLst>
              <a:ext uri="{FF2B5EF4-FFF2-40B4-BE49-F238E27FC236}">
                <a16:creationId xmlns:a16="http://schemas.microsoft.com/office/drawing/2014/main" id="{E6879CC7-DA0B-9E5A-04F3-C0E43636335C}"/>
              </a:ext>
            </a:extLst>
          </p:cNvPr>
          <p:cNvSpPr/>
          <p:nvPr/>
        </p:nvSpPr>
        <p:spPr>
          <a:xfrm>
            <a:off x="3420256" y="2132981"/>
            <a:ext cx="872808" cy="201465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Rectangle 21">
            <a:extLst>
              <a:ext uri="{FF2B5EF4-FFF2-40B4-BE49-F238E27FC236}">
                <a16:creationId xmlns:a16="http://schemas.microsoft.com/office/drawing/2014/main" id="{96B78621-9C3C-0540-CA90-D8E64CCC2EF8}"/>
              </a:ext>
            </a:extLst>
          </p:cNvPr>
          <p:cNvSpPr/>
          <p:nvPr/>
        </p:nvSpPr>
        <p:spPr>
          <a:xfrm>
            <a:off x="2846231" y="2183113"/>
            <a:ext cx="396226" cy="707886"/>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7" name="Straight Connector 26">
            <a:extLst>
              <a:ext uri="{FF2B5EF4-FFF2-40B4-BE49-F238E27FC236}">
                <a16:creationId xmlns:a16="http://schemas.microsoft.com/office/drawing/2014/main" id="{BB587ABE-AD69-FC73-FF0C-D856577F5F9B}"/>
              </a:ext>
            </a:extLst>
          </p:cNvPr>
          <p:cNvCxnSpPr>
            <a:cxnSpLocks/>
          </p:cNvCxnSpPr>
          <p:nvPr/>
        </p:nvCxnSpPr>
        <p:spPr>
          <a:xfrm flipH="1">
            <a:off x="2912473" y="2189534"/>
            <a:ext cx="296721" cy="701465"/>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391BE1-E72C-EB41-D8FF-D247B0529061}"/>
              </a:ext>
            </a:extLst>
          </p:cNvPr>
          <p:cNvCxnSpPr>
            <a:cxnSpLocks/>
          </p:cNvCxnSpPr>
          <p:nvPr/>
        </p:nvCxnSpPr>
        <p:spPr>
          <a:xfrm flipH="1">
            <a:off x="3037207" y="2475587"/>
            <a:ext cx="175720" cy="41541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CA25FCB-4CAC-1D32-E99D-D9A3DEF7CEA1}"/>
              </a:ext>
            </a:extLst>
          </p:cNvPr>
          <p:cNvCxnSpPr>
            <a:cxnSpLocks/>
          </p:cNvCxnSpPr>
          <p:nvPr/>
        </p:nvCxnSpPr>
        <p:spPr>
          <a:xfrm flipH="1">
            <a:off x="2862075" y="2183113"/>
            <a:ext cx="86247" cy="203893"/>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06D8FBD-7DF6-B0CF-0286-632382535567}"/>
              </a:ext>
            </a:extLst>
          </p:cNvPr>
          <p:cNvSpPr txBox="1"/>
          <p:nvPr/>
        </p:nvSpPr>
        <p:spPr>
          <a:xfrm>
            <a:off x="5037459" y="2537056"/>
            <a:ext cx="4021874" cy="1477328"/>
          </a:xfrm>
          <a:prstGeom prst="rect">
            <a:avLst/>
          </a:prstGeom>
          <a:noFill/>
        </p:spPr>
        <p:txBody>
          <a:bodyPr wrap="square" rtlCol="0">
            <a:spAutoFit/>
          </a:bodyPr>
          <a:lstStyle/>
          <a:p>
            <a:r>
              <a:rPr lang="en-VN"/>
              <a:t>QML model should resolve below classical machine learning problems:</a:t>
            </a:r>
            <a:endParaRPr lang="en-US"/>
          </a:p>
          <a:p>
            <a:r>
              <a:rPr lang="vi-VN" b="1">
                <a:solidFill>
                  <a:srgbClr val="FF0000"/>
                </a:solidFill>
                <a:latin typeface="Calibri" panose="020F0502020204030204" pitchFamily="34" charset="0"/>
                <a:cs typeface="Calibri" panose="020F0502020204030204" pitchFamily="34" charset="0"/>
              </a:rPr>
              <a:t>(1) </a:t>
            </a:r>
            <a:r>
              <a:rPr lang="vi-VN">
                <a:solidFill>
                  <a:srgbClr val="FF0000"/>
                </a:solidFill>
                <a:latin typeface="Calibri" panose="020F0502020204030204" pitchFamily="34" charset="0"/>
                <a:cs typeface="Calibri" panose="020F0502020204030204" pitchFamily="34" charset="0"/>
              </a:rPr>
              <a:t>Require huge dataset</a:t>
            </a:r>
          </a:p>
          <a:p>
            <a:r>
              <a:rPr lang="vi-VN" b="1">
                <a:solidFill>
                  <a:srgbClr val="FF0000"/>
                </a:solidFill>
                <a:latin typeface="Calibri" panose="020F0502020204030204" pitchFamily="34" charset="0"/>
                <a:cs typeface="Calibri" panose="020F0502020204030204" pitchFamily="34" charset="0"/>
              </a:rPr>
              <a:t>(2) </a:t>
            </a:r>
            <a:r>
              <a:rPr lang="vi-VN">
                <a:solidFill>
                  <a:srgbClr val="FF0000"/>
                </a:solidFill>
                <a:latin typeface="Calibri" panose="020F0502020204030204" pitchFamily="34" charset="0"/>
                <a:cs typeface="Calibri" panose="020F0502020204030204" pitchFamily="34" charset="0"/>
              </a:rPr>
              <a:t>High computation resources</a:t>
            </a:r>
          </a:p>
          <a:p>
            <a:r>
              <a:rPr lang="vi-VN" b="1">
                <a:solidFill>
                  <a:srgbClr val="FF0000"/>
                </a:solidFill>
                <a:latin typeface="Calibri" panose="020F0502020204030204" pitchFamily="34" charset="0"/>
                <a:cs typeface="Calibri" panose="020F0502020204030204" pitchFamily="34" charset="0"/>
              </a:rPr>
              <a:t>(3) </a:t>
            </a:r>
            <a:r>
              <a:rPr lang="vi-VN">
                <a:solidFill>
                  <a:srgbClr val="FF0000"/>
                </a:solidFill>
                <a:latin typeface="Calibri" panose="020F0502020204030204" pitchFamily="34" charset="0"/>
                <a:cs typeface="Calibri" panose="020F0502020204030204" pitchFamily="34" charset="0"/>
              </a:rPr>
              <a:t>Lack of generality</a:t>
            </a:r>
            <a:endParaRPr lang="en-VN">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01263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E4E11-254B-5855-0D83-9D2E34FA09BA}"/>
              </a:ext>
            </a:extLst>
          </p:cNvPr>
          <p:cNvSpPr>
            <a:spLocks noGrp="1"/>
          </p:cNvSpPr>
          <p:nvPr>
            <p:ph type="title"/>
          </p:nvPr>
        </p:nvSpPr>
        <p:spPr>
          <a:xfrm>
            <a:off x="628650" y="273844"/>
            <a:ext cx="6758517" cy="994172"/>
          </a:xfrm>
        </p:spPr>
        <p:txBody>
          <a:bodyPr>
            <a:normAutofit fontScale="90000"/>
          </a:bodyPr>
          <a:lstStyle/>
          <a:p>
            <a:r>
              <a:rPr lang="en-US"/>
              <a:t>3. </a:t>
            </a:r>
            <a:r>
              <a:rPr lang="en-VN"/>
              <a:t>Overview</a:t>
            </a:r>
            <a:br>
              <a:rPr lang="en-US"/>
            </a:br>
            <a:r>
              <a:rPr lang="en-VN" sz="2200"/>
              <a:t>What QML models can do?</a:t>
            </a:r>
            <a:br>
              <a:rPr lang="en-US" sz="2200"/>
            </a:br>
            <a:r>
              <a:rPr lang="en-VN" sz="2200"/>
              <a:t>Based on quantum advantage</a:t>
            </a:r>
            <a:r>
              <a:rPr lang="en-US" sz="2200"/>
              <a:t> </a:t>
            </a:r>
            <a:r>
              <a:rPr lang="en-US" sz="2200" b="1"/>
              <a:t>[3.0.3]</a:t>
            </a:r>
            <a:endParaRPr lang="en-VN" sz="2200" b="1"/>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EF6506-262B-A3AB-4AE7-043A0084DB40}"/>
                  </a:ext>
                </a:extLst>
              </p:cNvPr>
              <p:cNvSpPr>
                <a:spLocks noGrp="1"/>
              </p:cNvSpPr>
              <p:nvPr>
                <p:ph idx="1"/>
              </p:nvPr>
            </p:nvSpPr>
            <p:spPr/>
            <p:txBody>
              <a:bodyPr/>
              <a:lstStyle/>
              <a:p>
                <a:pPr marL="0" indent="0">
                  <a:buNone/>
                </a:pPr>
                <a:r>
                  <a:rPr lang="vi-VN" b="1">
                    <a:solidFill>
                      <a:srgbClr val="FF0000"/>
                    </a:solidFill>
                    <a:latin typeface="Calibri" panose="020F0502020204030204" pitchFamily="34" charset="0"/>
                    <a:cs typeface="Calibri" panose="020F0502020204030204" pitchFamily="34" charset="0"/>
                  </a:rPr>
                  <a:t>(1) </a:t>
                </a:r>
                <a:r>
                  <a:rPr lang="vi-VN">
                    <a:solidFill>
                      <a:srgbClr val="FF0000"/>
                    </a:solidFill>
                    <a:latin typeface="Calibri" panose="020F0502020204030204" pitchFamily="34" charset="0"/>
                    <a:cs typeface="Calibri" panose="020F0502020204030204" pitchFamily="34" charset="0"/>
                  </a:rPr>
                  <a:t>Require huge dataset </a:t>
                </a:r>
              </a:p>
              <a:p>
                <a:pPr marL="0" indent="0">
                  <a:buNone/>
                </a:pPr>
                <a14:m>
                  <m:oMath xmlns:m="http://schemas.openxmlformats.org/officeDocument/2006/math">
                    <m:r>
                      <a:rPr lang="en-US" b="0" i="1" smtClean="0">
                        <a:latin typeface="Cambria Math" panose="02040503050406030204" pitchFamily="18" charset="0"/>
                        <a:cs typeface="Calibri" panose="020F0502020204030204" pitchFamily="34" charset="0"/>
                      </a:rPr>
                      <m:t>⇒</m:t>
                    </m:r>
                  </m:oMath>
                </a14:m>
                <a:r>
                  <a:rPr lang="en-US">
                    <a:latin typeface="Calibri" panose="020F0502020204030204" pitchFamily="34" charset="0"/>
                    <a:cs typeface="Calibri" panose="020F0502020204030204" pitchFamily="34" charset="0"/>
                  </a:rPr>
                  <a:t> </a:t>
                </a:r>
                <a:r>
                  <a:rPr lang="vi-VN">
                    <a:latin typeface="Calibri" panose="020F0502020204030204" pitchFamily="34" charset="0"/>
                    <a:cs typeface="Calibri" panose="020F0502020204030204" pitchFamily="34" charset="0"/>
                  </a:rPr>
                  <a:t>Require less items</a:t>
                </a:r>
              </a:p>
              <a:p>
                <a:pPr marL="0" indent="0">
                  <a:buNone/>
                </a:pPr>
                <a:r>
                  <a:rPr lang="vi-VN" b="1">
                    <a:solidFill>
                      <a:srgbClr val="FF0000"/>
                    </a:solidFill>
                    <a:latin typeface="Calibri" panose="020F0502020204030204" pitchFamily="34" charset="0"/>
                    <a:cs typeface="Calibri" panose="020F0502020204030204" pitchFamily="34" charset="0"/>
                  </a:rPr>
                  <a:t>(2) </a:t>
                </a:r>
                <a:r>
                  <a:rPr lang="vi-VN">
                    <a:solidFill>
                      <a:srgbClr val="FF0000"/>
                    </a:solidFill>
                    <a:latin typeface="Calibri" panose="020F0502020204030204" pitchFamily="34" charset="0"/>
                    <a:cs typeface="Calibri" panose="020F0502020204030204" pitchFamily="34" charset="0"/>
                  </a:rPr>
                  <a:t>High computation resources </a:t>
                </a:r>
              </a:p>
              <a:p>
                <a:pPr marL="0" indent="0">
                  <a:buNone/>
                </a:pPr>
                <a14:m>
                  <m:oMath xmlns:m="http://schemas.openxmlformats.org/officeDocument/2006/math">
                    <m:r>
                      <a:rPr lang="en-US" b="0" i="1" smtClean="0">
                        <a:latin typeface="Cambria Math" panose="02040503050406030204" pitchFamily="18" charset="0"/>
                        <a:cs typeface="Calibri" panose="020F0502020204030204" pitchFamily="34" charset="0"/>
                      </a:rPr>
                      <m:t>⇒</m:t>
                    </m:r>
                  </m:oMath>
                </a14:m>
                <a:r>
                  <a:rPr lang="vi-VN">
                    <a:latin typeface="Calibri" panose="020F0502020204030204" pitchFamily="34" charset="0"/>
                    <a:cs typeface="Calibri" panose="020F0502020204030204" pitchFamily="34" charset="0"/>
                  </a:rPr>
                  <a:t> Lower time complexity</a:t>
                </a:r>
              </a:p>
              <a:p>
                <a:pPr marL="0" indent="0">
                  <a:buNone/>
                </a:pPr>
                <a:r>
                  <a:rPr lang="vi-VN" b="1">
                    <a:solidFill>
                      <a:srgbClr val="FF0000"/>
                    </a:solidFill>
                    <a:latin typeface="Calibri" panose="020F0502020204030204" pitchFamily="34" charset="0"/>
                    <a:cs typeface="Calibri" panose="020F0502020204030204" pitchFamily="34" charset="0"/>
                  </a:rPr>
                  <a:t>(3) </a:t>
                </a:r>
                <a:r>
                  <a:rPr lang="vi-VN">
                    <a:solidFill>
                      <a:srgbClr val="FF0000"/>
                    </a:solidFill>
                    <a:latin typeface="Calibri" panose="020F0502020204030204" pitchFamily="34" charset="0"/>
                    <a:cs typeface="Calibri" panose="020F0502020204030204" pitchFamily="34" charset="0"/>
                  </a:rPr>
                  <a:t>Lack of generality </a:t>
                </a:r>
              </a:p>
              <a:p>
                <a:pPr marL="0" indent="0">
                  <a:buNone/>
                </a:pPr>
                <a14:m>
                  <m:oMath xmlns:m="http://schemas.openxmlformats.org/officeDocument/2006/math">
                    <m:r>
                      <a:rPr lang="en-US" b="0" i="1" smtClean="0">
                        <a:latin typeface="Cambria Math" panose="02040503050406030204" pitchFamily="18" charset="0"/>
                        <a:cs typeface="Calibri" panose="020F0502020204030204" pitchFamily="34" charset="0"/>
                      </a:rPr>
                      <m:t>⇒</m:t>
                    </m:r>
                  </m:oMath>
                </a14:m>
                <a:r>
                  <a:rPr lang="vi-VN">
                    <a:latin typeface="Calibri" panose="020F0502020204030204" pitchFamily="34" charset="0"/>
                    <a:cs typeface="Calibri" panose="020F0502020204030204" pitchFamily="34" charset="0"/>
                  </a:rPr>
                  <a:t> Example: Require less </a:t>
                </a:r>
                <a:r>
                  <a:rPr lang="en-US">
                    <a:latin typeface="Calibri" panose="020F0502020204030204" pitchFamily="34" charset="0"/>
                    <a:cs typeface="Calibri" panose="020F0502020204030204" pitchFamily="34" charset="0"/>
                  </a:rPr>
                  <a:t>#</a:t>
                </a:r>
                <a:r>
                  <a:rPr lang="vi-VN">
                    <a:latin typeface="Calibri" panose="020F0502020204030204" pitchFamily="34" charset="0"/>
                    <a:cs typeface="Calibri" panose="020F0502020204030204" pitchFamily="34" charset="0"/>
                  </a:rPr>
                  <a:t>parameter than classical ML model or achieve higher accuracy on the same dataset.</a:t>
                </a:r>
                <a:endParaRPr lang="en-VN" b="1">
                  <a:solidFill>
                    <a:srgbClr val="FF0000"/>
                  </a:solidFill>
                  <a:latin typeface="Calibri" panose="020F0502020204030204" pitchFamily="34" charset="0"/>
                  <a:cs typeface="Calibri" panose="020F0502020204030204" pitchFamily="34" charset="0"/>
                </a:endParaRPr>
              </a:p>
              <a:p>
                <a:pPr marL="0" indent="0">
                  <a:buNone/>
                </a:pPr>
                <a:endParaRPr lang="en-VN"/>
              </a:p>
            </p:txBody>
          </p:sp>
        </mc:Choice>
        <mc:Fallback xmlns="">
          <p:sp>
            <p:nvSpPr>
              <p:cNvPr id="3" name="Content Placeholder 2">
                <a:extLst>
                  <a:ext uri="{FF2B5EF4-FFF2-40B4-BE49-F238E27FC236}">
                    <a16:creationId xmlns:a16="http://schemas.microsoft.com/office/drawing/2014/main" id="{D5EF6506-262B-A3AB-4AE7-043A0084DB40}"/>
                  </a:ext>
                </a:extLst>
              </p:cNvPr>
              <p:cNvSpPr>
                <a:spLocks noGrp="1" noRot="1" noChangeAspect="1" noMove="1" noResize="1" noEditPoints="1" noAdjustHandles="1" noChangeArrowheads="1" noChangeShapeType="1" noTextEdit="1"/>
              </p:cNvSpPr>
              <p:nvPr>
                <p:ph idx="1"/>
              </p:nvPr>
            </p:nvSpPr>
            <p:spPr>
              <a:blipFill>
                <a:blip r:embed="rId3"/>
                <a:stretch>
                  <a:fillRect l="-927" t="-224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27AD8F30-4C59-2B90-7892-EE431AC8ED28}"/>
              </a:ext>
            </a:extLst>
          </p:cNvPr>
          <p:cNvSpPr>
            <a:spLocks noGrp="1"/>
          </p:cNvSpPr>
          <p:nvPr>
            <p:ph type="sldNum" sz="quarter" idx="12"/>
          </p:nvPr>
        </p:nvSpPr>
        <p:spPr/>
        <p:txBody>
          <a:bodyPr/>
          <a:lstStyle/>
          <a:p>
            <a:fld id="{6A45828D-F580-42DE-B77E-860980F07F32}" type="slidenum">
              <a:rPr lang="vi-VN" smtClean="0"/>
              <a:t>30</a:t>
            </a:fld>
            <a:endParaRPr lang="vi-VN"/>
          </a:p>
        </p:txBody>
      </p:sp>
      <p:sp>
        <p:nvSpPr>
          <p:cNvPr id="6" name="TextBox 5">
            <a:extLst>
              <a:ext uri="{FF2B5EF4-FFF2-40B4-BE49-F238E27FC236}">
                <a16:creationId xmlns:a16="http://schemas.microsoft.com/office/drawing/2014/main" id="{6458CB36-67C5-2B41-1545-DEE56C7CDAA0}"/>
              </a:ext>
            </a:extLst>
          </p:cNvPr>
          <p:cNvSpPr txBox="1"/>
          <p:nvPr/>
        </p:nvSpPr>
        <p:spPr>
          <a:xfrm>
            <a:off x="628650" y="4582358"/>
            <a:ext cx="7562850" cy="553998"/>
          </a:xfrm>
          <a:prstGeom prst="rect">
            <a:avLst/>
          </a:prstGeom>
          <a:noFill/>
        </p:spPr>
        <p:txBody>
          <a:bodyPr wrap="square">
            <a:spAutoFit/>
          </a:bodyPr>
          <a:lstStyle/>
          <a:p>
            <a:r>
              <a:rPr lang="en-US" sz="1000" b="1" i="0">
                <a:solidFill>
                  <a:srgbClr val="222222"/>
                </a:solidFill>
                <a:effectLst/>
              </a:rPr>
              <a:t>[</a:t>
            </a:r>
            <a:r>
              <a:rPr lang="en-US" sz="1000" b="1">
                <a:solidFill>
                  <a:srgbClr val="222222"/>
                </a:solidFill>
              </a:rPr>
              <a:t>3.0.2</a:t>
            </a:r>
            <a:r>
              <a:rPr lang="en-US" sz="1000" b="1" i="0">
                <a:solidFill>
                  <a:srgbClr val="222222"/>
                </a:solidFill>
                <a:effectLst/>
              </a:rPr>
              <a:t>] </a:t>
            </a:r>
            <a:r>
              <a:rPr lang="en-US" sz="1000" b="0" i="0">
                <a:solidFill>
                  <a:srgbClr val="222222"/>
                </a:solidFill>
                <a:effectLst/>
              </a:rPr>
              <a:t>Simões, R. D. M., Huber, P., Meier, N., Smailov, N., Füchslin, R. M., &amp; Stockinger, K. (2023). Experimental evaluation of quantum machine learning algorithms. </a:t>
            </a:r>
            <a:r>
              <a:rPr lang="en-US" sz="1000" b="0" i="1">
                <a:solidFill>
                  <a:srgbClr val="222222"/>
                </a:solidFill>
                <a:effectLst/>
              </a:rPr>
              <a:t>IEEE Access</a:t>
            </a:r>
            <a:r>
              <a:rPr lang="en-US" sz="1000" b="0" i="0">
                <a:solidFill>
                  <a:srgbClr val="222222"/>
                </a:solidFill>
                <a:effectLst/>
              </a:rPr>
              <a:t>, </a:t>
            </a:r>
            <a:r>
              <a:rPr lang="en-US" sz="1000" b="0" i="1">
                <a:solidFill>
                  <a:srgbClr val="222222"/>
                </a:solidFill>
                <a:effectLst/>
              </a:rPr>
              <a:t>11</a:t>
            </a:r>
            <a:r>
              <a:rPr lang="en-US" sz="1000" b="0" i="0">
                <a:solidFill>
                  <a:srgbClr val="222222"/>
                </a:solidFill>
                <a:effectLst/>
              </a:rPr>
              <a:t>, 6197-6208.</a:t>
            </a:r>
          </a:p>
          <a:p>
            <a:r>
              <a:rPr lang="en-US" sz="1000" b="1">
                <a:solidFill>
                  <a:srgbClr val="222222"/>
                </a:solidFill>
              </a:rPr>
              <a:t>[3.0.3] </a:t>
            </a:r>
            <a:r>
              <a:rPr lang="en-US" sz="1000" b="0" i="0">
                <a:solidFill>
                  <a:srgbClr val="222222"/>
                </a:solidFill>
                <a:effectLst/>
              </a:rPr>
              <a:t>Schuld, M., &amp; Killoran, N. (2022). Is quantum advantage the right goal for quantum machine learning?. </a:t>
            </a:r>
            <a:r>
              <a:rPr lang="en-US" sz="1000" b="0" i="1">
                <a:solidFill>
                  <a:srgbClr val="222222"/>
                </a:solidFill>
                <a:effectLst/>
              </a:rPr>
              <a:t>Prx Quantum</a:t>
            </a:r>
            <a:r>
              <a:rPr lang="en-US" sz="1000" b="0" i="0">
                <a:solidFill>
                  <a:srgbClr val="222222"/>
                </a:solidFill>
                <a:effectLst/>
              </a:rPr>
              <a:t>, </a:t>
            </a:r>
            <a:r>
              <a:rPr lang="en-US" sz="1000" b="0" i="1">
                <a:solidFill>
                  <a:srgbClr val="222222"/>
                </a:solidFill>
                <a:effectLst/>
              </a:rPr>
              <a:t>3</a:t>
            </a:r>
            <a:r>
              <a:rPr lang="en-US" sz="1000" b="0" i="0">
                <a:solidFill>
                  <a:srgbClr val="222222"/>
                </a:solidFill>
                <a:effectLst/>
              </a:rPr>
              <a:t>(3), 030101.</a:t>
            </a:r>
            <a:endParaRPr lang="en-VN" sz="1000"/>
          </a:p>
        </p:txBody>
      </p:sp>
      <p:sp>
        <p:nvSpPr>
          <p:cNvPr id="5" name="TextBox 4">
            <a:extLst>
              <a:ext uri="{FF2B5EF4-FFF2-40B4-BE49-F238E27FC236}">
                <a16:creationId xmlns:a16="http://schemas.microsoft.com/office/drawing/2014/main" id="{4640F1F0-87CB-2CF4-6C48-D05526DB87D6}"/>
              </a:ext>
            </a:extLst>
          </p:cNvPr>
          <p:cNvSpPr txBox="1"/>
          <p:nvPr/>
        </p:nvSpPr>
        <p:spPr>
          <a:xfrm>
            <a:off x="4930815" y="1925419"/>
            <a:ext cx="2368952" cy="646331"/>
          </a:xfrm>
          <a:prstGeom prst="rect">
            <a:avLst/>
          </a:prstGeom>
          <a:noFill/>
          <a:ln>
            <a:solidFill>
              <a:srgbClr val="FF0000"/>
            </a:solidFill>
          </a:ln>
        </p:spPr>
        <p:txBody>
          <a:bodyPr wrap="square" rtlCol="0">
            <a:spAutoFit/>
          </a:bodyPr>
          <a:lstStyle/>
          <a:p>
            <a:r>
              <a:rPr lang="en-US" b="1">
                <a:solidFill>
                  <a:srgbClr val="FF0000"/>
                </a:solidFill>
              </a:rPr>
              <a:t>Be careful with hype QML papers!</a:t>
            </a:r>
            <a:endParaRPr lang="vi-VN" b="1">
              <a:solidFill>
                <a:srgbClr val="FF0000"/>
              </a:solidFill>
            </a:endParaRPr>
          </a:p>
        </p:txBody>
      </p:sp>
    </p:spTree>
    <p:extLst>
      <p:ext uri="{BB962C8B-B14F-4D97-AF65-F5344CB8AC3E}">
        <p14:creationId xmlns:p14="http://schemas.microsoft.com/office/powerpoint/2010/main" val="2049716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BF76A-8269-482F-089A-DEA178728571}"/>
              </a:ext>
            </a:extLst>
          </p:cNvPr>
          <p:cNvSpPr>
            <a:spLocks noGrp="1"/>
          </p:cNvSpPr>
          <p:nvPr>
            <p:ph type="title"/>
          </p:nvPr>
        </p:nvSpPr>
        <p:spPr>
          <a:xfrm>
            <a:off x="628649" y="107940"/>
            <a:ext cx="6466417" cy="994172"/>
          </a:xfrm>
        </p:spPr>
        <p:txBody>
          <a:bodyPr>
            <a:normAutofit/>
          </a:bodyPr>
          <a:lstStyle/>
          <a:p>
            <a:r>
              <a:rPr lang="en-US"/>
              <a:t>3. </a:t>
            </a:r>
            <a:r>
              <a:rPr lang="en-VN"/>
              <a:t>Overview</a:t>
            </a:r>
            <a:br>
              <a:rPr lang="en-US"/>
            </a:br>
            <a:r>
              <a:rPr lang="en-VN" sz="2200"/>
              <a:t>Type of QML</a:t>
            </a:r>
            <a:r>
              <a:rPr lang="en-US" sz="2200"/>
              <a:t> model</a:t>
            </a:r>
            <a:endParaRPr lang="en-VN" sz="2200"/>
          </a:p>
        </p:txBody>
      </p:sp>
      <p:sp>
        <p:nvSpPr>
          <p:cNvPr id="7" name="Slide Number Placeholder 6">
            <a:extLst>
              <a:ext uri="{FF2B5EF4-FFF2-40B4-BE49-F238E27FC236}">
                <a16:creationId xmlns:a16="http://schemas.microsoft.com/office/drawing/2014/main" id="{ACA9FB2B-7C6C-BA7E-928A-B786C68439EA}"/>
              </a:ext>
            </a:extLst>
          </p:cNvPr>
          <p:cNvSpPr>
            <a:spLocks noGrp="1"/>
          </p:cNvSpPr>
          <p:nvPr>
            <p:ph type="sldNum" sz="quarter" idx="12"/>
          </p:nvPr>
        </p:nvSpPr>
        <p:spPr/>
        <p:txBody>
          <a:bodyPr/>
          <a:lstStyle/>
          <a:p>
            <a:fld id="{6A45828D-F580-42DE-B77E-860980F07F32}" type="slidenum">
              <a:rPr lang="vi-VN" smtClean="0"/>
              <a:t>31</a:t>
            </a:fld>
            <a:endParaRPr lang="vi-VN"/>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C7E702C-D8DE-ECEF-6B0F-BCF7AD7B54C8}"/>
                  </a:ext>
                </a:extLst>
              </p:cNvPr>
              <p:cNvSpPr txBox="1"/>
              <p:nvPr/>
            </p:nvSpPr>
            <p:spPr>
              <a:xfrm>
                <a:off x="628649" y="1036477"/>
                <a:ext cx="8079317" cy="4154984"/>
              </a:xfrm>
              <a:prstGeom prst="rect">
                <a:avLst/>
              </a:prstGeom>
              <a:noFill/>
            </p:spPr>
            <p:txBody>
              <a:bodyPr wrap="square">
                <a:spAutoFit/>
              </a:bodyPr>
              <a:lstStyle/>
              <a:p>
                <a:r>
                  <a:rPr lang="en-US" sz="2400">
                    <a:solidFill>
                      <a:schemeClr val="tx1"/>
                    </a:solidFill>
                  </a:rPr>
                  <a:t>a) Speed up version of classical ML algorithms:</a:t>
                </a:r>
              </a:p>
              <a:p>
                <a:pPr marL="285750" indent="-285750">
                  <a:buFontTx/>
                  <a:buChar char="-"/>
                </a:pPr>
                <a:r>
                  <a:rPr lang="en-VN" sz="2400"/>
                  <a:t>QKNN</a:t>
                </a:r>
                <a:endParaRPr lang="en-US" sz="2400"/>
              </a:p>
              <a:p>
                <a:pPr marL="285750" indent="-285750">
                  <a:buFontTx/>
                  <a:buChar char="-"/>
                </a:pPr>
                <a:r>
                  <a:rPr lang="en-VN" sz="2400"/>
                  <a:t>QKmean</a:t>
                </a:r>
                <a:endParaRPr lang="en-US" sz="2400"/>
              </a:p>
              <a:p>
                <a:pPr marL="285750" indent="-285750">
                  <a:buFontTx/>
                  <a:buChar char="-"/>
                </a:pPr>
                <a:r>
                  <a:rPr lang="en-VN" sz="2400"/>
                  <a:t>QSVM</a:t>
                </a:r>
                <a:endParaRPr lang="en-US" sz="2400"/>
              </a:p>
              <a:p>
                <a:r>
                  <a:rPr lang="en-US" sz="2400"/>
                  <a:t>b</a:t>
                </a:r>
                <a:r>
                  <a:rPr lang="en-US" sz="2400">
                    <a:latin typeface="Calibri (Body)"/>
                  </a:rPr>
                  <a:t>) </a:t>
                </a:r>
                <a:r>
                  <a:rPr lang="vi-VN" sz="2400">
                    <a:latin typeface="Calibri (Body)"/>
                  </a:rPr>
                  <a:t>Quantum analogue version of a deep learning model</a:t>
                </a:r>
                <a:endParaRPr lang="en-US" sz="2400">
                  <a:latin typeface="Calibri (Body)"/>
                </a:endParaRPr>
              </a:p>
              <a:p>
                <a:r>
                  <a:rPr lang="en-US" sz="2400"/>
                  <a:t>- </a:t>
                </a:r>
                <a:r>
                  <a:rPr lang="en-VN" sz="2400"/>
                  <a:t>QuNN</a:t>
                </a:r>
                <a:r>
                  <a:rPr lang="en-US" sz="2400"/>
                  <a:t>, </a:t>
                </a:r>
                <a:r>
                  <a:rPr lang="en-VN" sz="2400"/>
                  <a:t>QCNN</a:t>
                </a:r>
                <a:endParaRPr lang="en-US" sz="2400"/>
              </a:p>
              <a:p>
                <a:r>
                  <a:rPr lang="en-US" sz="2400"/>
                  <a:t>- </a:t>
                </a:r>
                <a:r>
                  <a:rPr lang="en-VN" sz="2400"/>
                  <a:t>QGNN</a:t>
                </a:r>
                <a:endParaRPr lang="en-US" sz="2400"/>
              </a:p>
              <a:p>
                <a:r>
                  <a:rPr lang="en-US" sz="2400"/>
                  <a:t>- </a:t>
                </a:r>
                <a:r>
                  <a:rPr lang="en-VN" sz="2400"/>
                  <a:t>QGAN</a:t>
                </a:r>
                <a:endParaRPr lang="en-US" sz="2400"/>
              </a:p>
              <a:p>
                <a:r>
                  <a:rPr lang="en-US" sz="2400">
                    <a:solidFill>
                      <a:schemeClr val="tx1"/>
                    </a:solidFill>
                  </a:rPr>
                  <a:t>c) Quantum learning </a:t>
                </a:r>
                <a:endParaRPr lang="en-US" sz="2400" b="0" i="1">
                  <a:solidFill>
                    <a:schemeClr val="tx1"/>
                  </a:solidFill>
                </a:endParaRPr>
              </a:p>
              <a:p>
                <a14:m>
                  <m:oMath xmlns:m="http://schemas.openxmlformats.org/officeDocument/2006/math">
                    <m:r>
                      <a:rPr lang="en-US" sz="2400" b="0" i="1" smtClean="0">
                        <a:solidFill>
                          <a:schemeClr val="tx1"/>
                        </a:solidFill>
                        <a:latin typeface="Cambria Math" panose="02040503050406030204" pitchFamily="18" charset="0"/>
                      </a:rPr>
                      <m:t>→</m:t>
                    </m:r>
                  </m:oMath>
                </a14:m>
                <a:r>
                  <a:rPr lang="en-US" sz="2400">
                    <a:solidFill>
                      <a:schemeClr val="tx1"/>
                    </a:solidFill>
                  </a:rPr>
                  <a:t> I don’t know this </a:t>
                </a:r>
                <a:r>
                  <a:rPr lang="en-US" sz="2400"/>
                  <a:t>type</a:t>
                </a:r>
                <a:endParaRPr lang="en-US" sz="2400">
                  <a:solidFill>
                    <a:schemeClr val="tx1"/>
                  </a:solidFill>
                </a:endParaRPr>
              </a:p>
              <a:p>
                <a:endParaRPr lang="en-US" sz="2400">
                  <a:solidFill>
                    <a:schemeClr val="tx1"/>
                  </a:solidFill>
                </a:endParaRPr>
              </a:p>
            </p:txBody>
          </p:sp>
        </mc:Choice>
        <mc:Fallback xmlns="">
          <p:sp>
            <p:nvSpPr>
              <p:cNvPr id="3" name="TextBox 2">
                <a:extLst>
                  <a:ext uri="{FF2B5EF4-FFF2-40B4-BE49-F238E27FC236}">
                    <a16:creationId xmlns:a16="http://schemas.microsoft.com/office/drawing/2014/main" id="{6C7E702C-D8DE-ECEF-6B0F-BCF7AD7B54C8}"/>
                  </a:ext>
                </a:extLst>
              </p:cNvPr>
              <p:cNvSpPr txBox="1">
                <a:spLocks noRot="1" noChangeAspect="1" noMove="1" noResize="1" noEditPoints="1" noAdjustHandles="1" noChangeArrowheads="1" noChangeShapeType="1" noTextEdit="1"/>
              </p:cNvSpPr>
              <p:nvPr/>
            </p:nvSpPr>
            <p:spPr>
              <a:xfrm>
                <a:off x="628649" y="1036477"/>
                <a:ext cx="8079317" cy="4154984"/>
              </a:xfrm>
              <a:prstGeom prst="rect">
                <a:avLst/>
              </a:prstGeom>
              <a:blipFill>
                <a:blip r:embed="rId3"/>
                <a:stretch>
                  <a:fillRect l="-1208" t="-1173"/>
                </a:stretch>
              </a:blipFill>
            </p:spPr>
            <p:txBody>
              <a:bodyPr/>
              <a:lstStyle/>
              <a:p>
                <a:r>
                  <a:rPr lang="vi-VN">
                    <a:noFill/>
                  </a:rPr>
                  <a:t> </a:t>
                </a:r>
              </a:p>
            </p:txBody>
          </p:sp>
        </mc:Fallback>
      </mc:AlternateContent>
    </p:spTree>
    <p:extLst>
      <p:ext uri="{BB962C8B-B14F-4D97-AF65-F5344CB8AC3E}">
        <p14:creationId xmlns:p14="http://schemas.microsoft.com/office/powerpoint/2010/main" val="2070390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a:extLst>
              <a:ext uri="{FF2B5EF4-FFF2-40B4-BE49-F238E27FC236}">
                <a16:creationId xmlns:a16="http://schemas.microsoft.com/office/drawing/2014/main" id="{08DD097D-62C5-2375-A5B2-D608D90E09BB}"/>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3458195" y="3074308"/>
            <a:ext cx="1392872" cy="1392872"/>
          </a:xfrm>
          <a:prstGeom prst="rect">
            <a:avLst/>
          </a:prstGeom>
          <a:noFill/>
          <a:extLst>
            <a:ext uri="{909E8E84-426E-40DD-AFC4-6F175D3DCCD1}">
              <a14:hiddenFill xmlns:a14="http://schemas.microsoft.com/office/drawing/2010/main">
                <a:solidFill>
                  <a:srgbClr val="FFFFFF"/>
                </a:solidFill>
              </a14:hiddenFill>
            </a:ext>
          </a:extLst>
        </p:spPr>
      </p:pic>
      <p:cxnSp>
        <p:nvCxnSpPr>
          <p:cNvPr id="59" name="Straight Connector 58">
            <a:extLst>
              <a:ext uri="{FF2B5EF4-FFF2-40B4-BE49-F238E27FC236}">
                <a16:creationId xmlns:a16="http://schemas.microsoft.com/office/drawing/2014/main" id="{C0ABA5F6-FBF5-B248-DAD3-A93812BFB71E}"/>
              </a:ext>
            </a:extLst>
          </p:cNvPr>
          <p:cNvCxnSpPr/>
          <p:nvPr/>
        </p:nvCxnSpPr>
        <p:spPr>
          <a:xfrm flipV="1">
            <a:off x="4241800" y="1121833"/>
            <a:ext cx="1483495" cy="11699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D60B7D-F99A-69CE-9B57-174811A21C3A}"/>
              </a:ext>
            </a:extLst>
          </p:cNvPr>
          <p:cNvCxnSpPr>
            <a:cxnSpLocks/>
          </p:cNvCxnSpPr>
          <p:nvPr/>
        </p:nvCxnSpPr>
        <p:spPr>
          <a:xfrm>
            <a:off x="4241800" y="2538942"/>
            <a:ext cx="1225005" cy="153278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D9B7B20-41F7-181A-55EB-C7E222C49118}"/>
              </a:ext>
            </a:extLst>
          </p:cNvPr>
          <p:cNvSpPr>
            <a:spLocks noGrp="1"/>
          </p:cNvSpPr>
          <p:nvPr>
            <p:ph type="title"/>
          </p:nvPr>
        </p:nvSpPr>
        <p:spPr>
          <a:xfrm>
            <a:off x="628650" y="273844"/>
            <a:ext cx="6567655" cy="994172"/>
          </a:xfrm>
        </p:spPr>
        <p:txBody>
          <a:bodyPr>
            <a:normAutofit fontScale="90000"/>
          </a:bodyPr>
          <a:lstStyle/>
          <a:p>
            <a:r>
              <a:rPr lang="en-US"/>
              <a:t>3.1</a:t>
            </a:r>
            <a:r>
              <a:rPr lang="en-VN"/>
              <a:t>. Parameterized quantum circuit (</a:t>
            </a:r>
            <a:r>
              <a:rPr lang="en-VN" b="1"/>
              <a:t>PQC</a:t>
            </a:r>
            <a:r>
              <a:rPr lang="en-VN"/>
              <a:t>)</a:t>
            </a:r>
          </a:p>
        </p:txBody>
      </p:sp>
      <p:sp>
        <p:nvSpPr>
          <p:cNvPr id="3" name="TextBox 2">
            <a:extLst>
              <a:ext uri="{FF2B5EF4-FFF2-40B4-BE49-F238E27FC236}">
                <a16:creationId xmlns:a16="http://schemas.microsoft.com/office/drawing/2014/main" id="{26AFD4A1-EBD6-2E40-084C-BE85233C1D54}"/>
              </a:ext>
            </a:extLst>
          </p:cNvPr>
          <p:cNvSpPr txBox="1"/>
          <p:nvPr/>
        </p:nvSpPr>
        <p:spPr>
          <a:xfrm>
            <a:off x="-1701478" y="3871732"/>
            <a:ext cx="184731" cy="300082"/>
          </a:xfrm>
          <a:prstGeom prst="rect">
            <a:avLst/>
          </a:prstGeom>
          <a:noFill/>
        </p:spPr>
        <p:txBody>
          <a:bodyPr wrap="none" rtlCol="0">
            <a:spAutoFit/>
          </a:bodyPr>
          <a:lstStyle/>
          <a:p>
            <a:endParaRPr lang="en-VN" sz="1350"/>
          </a:p>
        </p:txBody>
      </p:sp>
      <p:sp>
        <p:nvSpPr>
          <p:cNvPr id="8" name="Slide Number Placeholder 7">
            <a:extLst>
              <a:ext uri="{FF2B5EF4-FFF2-40B4-BE49-F238E27FC236}">
                <a16:creationId xmlns:a16="http://schemas.microsoft.com/office/drawing/2014/main" id="{9C9A8759-ECB6-9319-87D3-507AD9125A01}"/>
              </a:ext>
            </a:extLst>
          </p:cNvPr>
          <p:cNvSpPr>
            <a:spLocks noGrp="1"/>
          </p:cNvSpPr>
          <p:nvPr>
            <p:ph type="sldNum" sz="quarter" idx="12"/>
          </p:nvPr>
        </p:nvSpPr>
        <p:spPr/>
        <p:txBody>
          <a:bodyPr/>
          <a:lstStyle/>
          <a:p>
            <a:fld id="{9E11622E-1351-4F49-A6C4-DF2CF4D2C924}" type="slidenum">
              <a:rPr lang="en-VN" smtClean="0"/>
              <a:t>32</a:t>
            </a:fld>
            <a:endParaRPr lang="en-VN"/>
          </a:p>
        </p:txBody>
      </p:sp>
      <p:sp>
        <p:nvSpPr>
          <p:cNvPr id="5" name="TextBox 4">
            <a:extLst>
              <a:ext uri="{FF2B5EF4-FFF2-40B4-BE49-F238E27FC236}">
                <a16:creationId xmlns:a16="http://schemas.microsoft.com/office/drawing/2014/main" id="{7CF15648-7EA3-8FB4-1BD5-A72FAA990D5B}"/>
              </a:ext>
            </a:extLst>
          </p:cNvPr>
          <p:cNvSpPr txBox="1"/>
          <p:nvPr/>
        </p:nvSpPr>
        <p:spPr>
          <a:xfrm>
            <a:off x="5361478" y="4117784"/>
            <a:ext cx="3745173" cy="577081"/>
          </a:xfrm>
          <a:prstGeom prst="rect">
            <a:avLst/>
          </a:prstGeom>
          <a:noFill/>
        </p:spPr>
        <p:txBody>
          <a:bodyPr wrap="square">
            <a:spAutoFit/>
          </a:bodyPr>
          <a:lstStyle/>
          <a:p>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3.1.1</a:t>
            </a:r>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vi-VN" sz="1050">
                <a:solidFill>
                  <a:srgbClr val="000000"/>
                </a:solidFill>
                <a:latin typeface="Calibri" panose="020F0502020204030204" pitchFamily="34" charset="0"/>
                <a:ea typeface="Calibri" panose="020F0502020204030204" pitchFamily="34" charset="0"/>
                <a:cs typeface="Calibri" panose="020F0502020204030204" pitchFamily="34" charset="0"/>
              </a:rPr>
              <a:t>Benedetti, M et al, Parameterized quantum circuits as machine learning models. Quantum Science and Technology, 4(4), 043001 (2019)</a:t>
            </a:r>
          </a:p>
        </p:txBody>
      </p:sp>
      <p:cxnSp>
        <p:nvCxnSpPr>
          <p:cNvPr id="9" name="Straight Connector 8">
            <a:extLst>
              <a:ext uri="{FF2B5EF4-FFF2-40B4-BE49-F238E27FC236}">
                <a16:creationId xmlns:a16="http://schemas.microsoft.com/office/drawing/2014/main" id="{BF1B6ACC-7314-016A-EA3B-E4536E3F4F9B}"/>
              </a:ext>
            </a:extLst>
          </p:cNvPr>
          <p:cNvCxnSpPr>
            <a:cxnSpLocks/>
            <a:endCxn id="29" idx="3"/>
          </p:cNvCxnSpPr>
          <p:nvPr/>
        </p:nvCxnSpPr>
        <p:spPr>
          <a:xfrm>
            <a:off x="1391101" y="1568304"/>
            <a:ext cx="3867057" cy="5656"/>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D6774FC-3542-5716-450A-82151A97A7D5}"/>
              </a:ext>
            </a:extLst>
          </p:cNvPr>
          <p:cNvCxnSpPr>
            <a:cxnSpLocks/>
          </p:cNvCxnSpPr>
          <p:nvPr/>
        </p:nvCxnSpPr>
        <p:spPr>
          <a:xfrm>
            <a:off x="1424968" y="2199072"/>
            <a:ext cx="314703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4A2AFD5-5B02-6830-6B1B-FEF450424B94}"/>
              </a:ext>
            </a:extLst>
          </p:cNvPr>
          <p:cNvCxnSpPr>
            <a:cxnSpLocks/>
          </p:cNvCxnSpPr>
          <p:nvPr/>
        </p:nvCxnSpPr>
        <p:spPr>
          <a:xfrm flipV="1">
            <a:off x="1882168" y="2044555"/>
            <a:ext cx="287866" cy="309033"/>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ECC0428-61AD-32C7-D585-5384474F0725}"/>
              </a:ext>
            </a:extLst>
          </p:cNvPr>
          <p:cNvCxnSpPr>
            <a:cxnSpLocks/>
          </p:cNvCxnSpPr>
          <p:nvPr/>
        </p:nvCxnSpPr>
        <p:spPr>
          <a:xfrm flipV="1">
            <a:off x="1882168" y="1413787"/>
            <a:ext cx="287866" cy="309033"/>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4BBAA7E-F665-5500-7EBD-190A703E6CDF}"/>
                  </a:ext>
                </a:extLst>
              </p:cNvPr>
              <p:cNvSpPr txBox="1"/>
              <p:nvPr/>
            </p:nvSpPr>
            <p:spPr>
              <a:xfrm>
                <a:off x="704888" y="1405930"/>
                <a:ext cx="686213"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𝑚</m:t>
                          </m:r>
                        </m:sup>
                      </m:sSup>
                    </m:oMath>
                  </m:oMathPara>
                </a14:m>
                <a:endParaRPr lang="vi-VN"/>
              </a:p>
            </p:txBody>
          </p:sp>
        </mc:Choice>
        <mc:Fallback xmlns="">
          <p:sp>
            <p:nvSpPr>
              <p:cNvPr id="18" name="TextBox 17">
                <a:extLst>
                  <a:ext uri="{FF2B5EF4-FFF2-40B4-BE49-F238E27FC236}">
                    <a16:creationId xmlns:a16="http://schemas.microsoft.com/office/drawing/2014/main" id="{A4BBAA7E-F665-5500-7EBD-190A703E6CDF}"/>
                  </a:ext>
                </a:extLst>
              </p:cNvPr>
              <p:cNvSpPr txBox="1">
                <a:spLocks noRot="1" noChangeAspect="1" noMove="1" noResize="1" noEditPoints="1" noAdjustHandles="1" noChangeArrowheads="1" noChangeShapeType="1" noTextEdit="1"/>
              </p:cNvSpPr>
              <p:nvPr/>
            </p:nvSpPr>
            <p:spPr>
              <a:xfrm>
                <a:off x="704888" y="1405930"/>
                <a:ext cx="686213" cy="288477"/>
              </a:xfrm>
              <a:prstGeom prst="rect">
                <a:avLst/>
              </a:prstGeom>
              <a:blipFill>
                <a:blip r:embed="rId4"/>
                <a:stretch>
                  <a:fillRect t="-6383" r="-893" b="-85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ABDD7A9-E55B-C4E8-944B-6C06FE65DCA8}"/>
                  </a:ext>
                </a:extLst>
              </p:cNvPr>
              <p:cNvSpPr txBox="1"/>
              <p:nvPr/>
            </p:nvSpPr>
            <p:spPr>
              <a:xfrm>
                <a:off x="704888" y="2079182"/>
                <a:ext cx="638123"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𝑛</m:t>
                          </m:r>
                        </m:sup>
                      </m:sSup>
                    </m:oMath>
                  </m:oMathPara>
                </a14:m>
                <a:endParaRPr lang="vi-VN"/>
              </a:p>
            </p:txBody>
          </p:sp>
        </mc:Choice>
        <mc:Fallback xmlns="">
          <p:sp>
            <p:nvSpPr>
              <p:cNvPr id="23" name="TextBox 22">
                <a:extLst>
                  <a:ext uri="{FF2B5EF4-FFF2-40B4-BE49-F238E27FC236}">
                    <a16:creationId xmlns:a16="http://schemas.microsoft.com/office/drawing/2014/main" id="{7ABDD7A9-E55B-C4E8-944B-6C06FE65DCA8}"/>
                  </a:ext>
                </a:extLst>
              </p:cNvPr>
              <p:cNvSpPr txBox="1">
                <a:spLocks noRot="1" noChangeAspect="1" noMove="1" noResize="1" noEditPoints="1" noAdjustHandles="1" noChangeArrowheads="1" noChangeShapeType="1" noTextEdit="1"/>
              </p:cNvSpPr>
              <p:nvPr/>
            </p:nvSpPr>
            <p:spPr>
              <a:xfrm>
                <a:off x="704888" y="2079182"/>
                <a:ext cx="638123" cy="288477"/>
              </a:xfrm>
              <a:prstGeom prst="rect">
                <a:avLst/>
              </a:prstGeom>
              <a:blipFill>
                <a:blip r:embed="rId5"/>
                <a:stretch>
                  <a:fillRect t="-4255" r="-962" b="-10638"/>
                </a:stretch>
              </a:blipFill>
            </p:spPr>
            <p:txBody>
              <a:bodyPr/>
              <a:lstStyle/>
              <a:p>
                <a:r>
                  <a:rPr lang="vi-VN">
                    <a:noFill/>
                  </a:rPr>
                  <a:t> </a:t>
                </a:r>
              </a:p>
            </p:txBody>
          </p:sp>
        </mc:Fallback>
      </mc:AlternateContent>
      <p:sp>
        <p:nvSpPr>
          <p:cNvPr id="24" name="TextBox 23">
            <a:extLst>
              <a:ext uri="{FF2B5EF4-FFF2-40B4-BE49-F238E27FC236}">
                <a16:creationId xmlns:a16="http://schemas.microsoft.com/office/drawing/2014/main" id="{A1C7222A-D970-269E-B8BB-9D07B7381290}"/>
              </a:ext>
            </a:extLst>
          </p:cNvPr>
          <p:cNvSpPr txBox="1"/>
          <p:nvPr/>
        </p:nvSpPr>
        <p:spPr>
          <a:xfrm>
            <a:off x="628650" y="1752482"/>
            <a:ext cx="1879600" cy="369332"/>
          </a:xfrm>
          <a:prstGeom prst="rect">
            <a:avLst/>
          </a:prstGeom>
          <a:noFill/>
        </p:spPr>
        <p:txBody>
          <a:bodyPr wrap="square" rtlCol="0">
            <a:spAutoFit/>
          </a:bodyPr>
          <a:lstStyle/>
          <a:p>
            <a:r>
              <a:rPr lang="en-US"/>
              <a:t>Ancilla qubits</a:t>
            </a:r>
            <a:endParaRPr lang="vi-VN"/>
          </a:p>
        </p:txBody>
      </p:sp>
      <p:sp>
        <p:nvSpPr>
          <p:cNvPr id="25" name="TextBox 24">
            <a:extLst>
              <a:ext uri="{FF2B5EF4-FFF2-40B4-BE49-F238E27FC236}">
                <a16:creationId xmlns:a16="http://schemas.microsoft.com/office/drawing/2014/main" id="{2650980E-C313-FD80-A9F0-B2A378E61153}"/>
              </a:ext>
            </a:extLst>
          </p:cNvPr>
          <p:cNvSpPr txBox="1"/>
          <p:nvPr/>
        </p:nvSpPr>
        <p:spPr>
          <a:xfrm>
            <a:off x="595993" y="1005826"/>
            <a:ext cx="1879600" cy="369332"/>
          </a:xfrm>
          <a:prstGeom prst="rect">
            <a:avLst/>
          </a:prstGeom>
          <a:noFill/>
        </p:spPr>
        <p:txBody>
          <a:bodyPr wrap="square" rtlCol="0">
            <a:spAutoFit/>
          </a:bodyPr>
          <a:lstStyle/>
          <a:p>
            <a:r>
              <a:rPr lang="en-US"/>
              <a:t>(Main) qubits</a:t>
            </a:r>
            <a:endParaRPr lang="vi-VN"/>
          </a:p>
        </p:txBody>
      </p:sp>
      <p:sp>
        <p:nvSpPr>
          <p:cNvPr id="27" name="Rectangle 26">
            <a:extLst>
              <a:ext uri="{FF2B5EF4-FFF2-40B4-BE49-F238E27FC236}">
                <a16:creationId xmlns:a16="http://schemas.microsoft.com/office/drawing/2014/main" id="{E8E6C3A4-60E8-8175-6176-A54DC9086BCA}"/>
              </a:ext>
            </a:extLst>
          </p:cNvPr>
          <p:cNvSpPr/>
          <p:nvPr/>
        </p:nvSpPr>
        <p:spPr>
          <a:xfrm>
            <a:off x="2684455" y="1238826"/>
            <a:ext cx="1557345" cy="130964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5A6521F-6069-790F-56F0-DC5D6EB72862}"/>
                  </a:ext>
                </a:extLst>
              </p:cNvPr>
              <p:cNvSpPr txBox="1"/>
              <p:nvPr/>
            </p:nvSpPr>
            <p:spPr>
              <a:xfrm>
                <a:off x="3181544" y="1755147"/>
                <a:ext cx="5631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oMath>
                  </m:oMathPara>
                </a14:m>
                <a:endParaRPr lang="vi-VN"/>
              </a:p>
            </p:txBody>
          </p:sp>
        </mc:Choice>
        <mc:Fallback xmlns="">
          <p:sp>
            <p:nvSpPr>
              <p:cNvPr id="28" name="TextBox 27">
                <a:extLst>
                  <a:ext uri="{FF2B5EF4-FFF2-40B4-BE49-F238E27FC236}">
                    <a16:creationId xmlns:a16="http://schemas.microsoft.com/office/drawing/2014/main" id="{85A6521F-6069-790F-56F0-DC5D6EB72862}"/>
                  </a:ext>
                </a:extLst>
              </p:cNvPr>
              <p:cNvSpPr txBox="1">
                <a:spLocks noRot="1" noChangeAspect="1" noMove="1" noResize="1" noEditPoints="1" noAdjustHandles="1" noChangeArrowheads="1" noChangeShapeType="1" noTextEdit="1"/>
              </p:cNvSpPr>
              <p:nvPr/>
            </p:nvSpPr>
            <p:spPr>
              <a:xfrm>
                <a:off x="3181544" y="1755147"/>
                <a:ext cx="563166" cy="276999"/>
              </a:xfrm>
              <a:prstGeom prst="rect">
                <a:avLst/>
              </a:prstGeom>
              <a:blipFill>
                <a:blip r:embed="rId6"/>
                <a:stretch>
                  <a:fillRect l="-8696" b="-8889"/>
                </a:stretch>
              </a:blipFill>
            </p:spPr>
            <p:txBody>
              <a:bodyPr/>
              <a:lstStyle/>
              <a:p>
                <a:r>
                  <a:rPr lang="vi-VN">
                    <a:noFill/>
                  </a:rPr>
                  <a:t> </a:t>
                </a:r>
              </a:p>
            </p:txBody>
          </p:sp>
        </mc:Fallback>
      </mc:AlternateContent>
      <p:sp>
        <p:nvSpPr>
          <p:cNvPr id="29" name="Hình chữ nhật 93">
            <a:extLst>
              <a:ext uri="{FF2B5EF4-FFF2-40B4-BE49-F238E27FC236}">
                <a16:creationId xmlns:a16="http://schemas.microsoft.com/office/drawing/2014/main" id="{DAEC4E73-A67C-6F67-ADAE-80C4A3ABC5E7}"/>
              </a:ext>
            </a:extLst>
          </p:cNvPr>
          <p:cNvSpPr/>
          <p:nvPr/>
        </p:nvSpPr>
        <p:spPr>
          <a:xfrm>
            <a:off x="4951839" y="1420493"/>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30" name="Arc 29">
            <a:extLst>
              <a:ext uri="{FF2B5EF4-FFF2-40B4-BE49-F238E27FC236}">
                <a16:creationId xmlns:a16="http://schemas.microsoft.com/office/drawing/2014/main" id="{FD3C0B1C-82E5-71A4-A660-9F207045397D}"/>
              </a:ext>
            </a:extLst>
          </p:cNvPr>
          <p:cNvSpPr/>
          <p:nvPr/>
        </p:nvSpPr>
        <p:spPr>
          <a:xfrm>
            <a:off x="5007536" y="1565093"/>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31" name="Straight Arrow Connector 30">
            <a:extLst>
              <a:ext uri="{FF2B5EF4-FFF2-40B4-BE49-F238E27FC236}">
                <a16:creationId xmlns:a16="http://schemas.microsoft.com/office/drawing/2014/main" id="{C6DED405-8E1B-64AA-4B51-41AB5BFAEB2E}"/>
              </a:ext>
            </a:extLst>
          </p:cNvPr>
          <p:cNvCxnSpPr>
            <a:cxnSpLocks/>
          </p:cNvCxnSpPr>
          <p:nvPr/>
        </p:nvCxnSpPr>
        <p:spPr>
          <a:xfrm flipV="1">
            <a:off x="5061752" y="1487464"/>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8540F21-3723-8A60-C6EF-0208066FEEB8}"/>
              </a:ext>
            </a:extLst>
          </p:cNvPr>
          <p:cNvCxnSpPr>
            <a:cxnSpLocks/>
          </p:cNvCxnSpPr>
          <p:nvPr/>
        </p:nvCxnSpPr>
        <p:spPr>
          <a:xfrm flipV="1">
            <a:off x="4497993" y="1399759"/>
            <a:ext cx="287866" cy="309033"/>
          </a:xfrm>
          <a:prstGeom prst="line">
            <a:avLst/>
          </a:prstGeom>
          <a:ln w="28575"/>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8B8A3150-4A6A-9D1C-D90C-B1083DAFD993}"/>
              </a:ext>
            </a:extLst>
          </p:cNvPr>
          <p:cNvCxnSpPr>
            <a:cxnSpLocks/>
          </p:cNvCxnSpPr>
          <p:nvPr/>
        </p:nvCxnSpPr>
        <p:spPr>
          <a:xfrm>
            <a:off x="1424968" y="2800205"/>
            <a:ext cx="387939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44D54A33-CAAE-E3DF-C404-06EDD29CF8EF}"/>
              </a:ext>
            </a:extLst>
          </p:cNvPr>
          <p:cNvCxnSpPr>
            <a:cxnSpLocks/>
          </p:cNvCxnSpPr>
          <p:nvPr/>
        </p:nvCxnSpPr>
        <p:spPr>
          <a:xfrm>
            <a:off x="1424967" y="2855241"/>
            <a:ext cx="387940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9C58CFFC-4620-433F-19EF-9C2670E21971}"/>
              </a:ext>
            </a:extLst>
          </p:cNvPr>
          <p:cNvCxnSpPr>
            <a:cxnSpLocks/>
            <a:endCxn id="29" idx="2"/>
          </p:cNvCxnSpPr>
          <p:nvPr/>
        </p:nvCxnSpPr>
        <p:spPr>
          <a:xfrm flipV="1">
            <a:off x="5104999" y="1727426"/>
            <a:ext cx="0" cy="1072779"/>
          </a:xfrm>
          <a:prstGeom prst="line">
            <a:avLst/>
          </a:prstGeom>
          <a:ln w="12700">
            <a:headEnd type="arrow"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613DECE-2C41-AD73-A592-80AC0F9838E9}"/>
                  </a:ext>
                </a:extLst>
              </p:cNvPr>
              <p:cNvSpPr txBox="1"/>
              <p:nvPr/>
            </p:nvSpPr>
            <p:spPr>
              <a:xfrm>
                <a:off x="146854" y="2667738"/>
                <a:ext cx="127811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xmlns="">
          <p:sp>
            <p:nvSpPr>
              <p:cNvPr id="43" name="TextBox 42">
                <a:extLst>
                  <a:ext uri="{FF2B5EF4-FFF2-40B4-BE49-F238E27FC236}">
                    <a16:creationId xmlns:a16="http://schemas.microsoft.com/office/drawing/2014/main" id="{5613DECE-2C41-AD73-A592-80AC0F9838E9}"/>
                  </a:ext>
                </a:extLst>
              </p:cNvPr>
              <p:cNvSpPr txBox="1">
                <a:spLocks noRot="1" noChangeAspect="1" noMove="1" noResize="1" noEditPoints="1" noAdjustHandles="1" noChangeArrowheads="1" noChangeShapeType="1" noTextEdit="1"/>
              </p:cNvSpPr>
              <p:nvPr/>
            </p:nvSpPr>
            <p:spPr>
              <a:xfrm>
                <a:off x="146854" y="2667738"/>
                <a:ext cx="1278113" cy="276999"/>
              </a:xfrm>
              <a:prstGeom prst="rect">
                <a:avLst/>
              </a:prstGeom>
              <a:blipFill>
                <a:blip r:embed="rId7"/>
                <a:stretch>
                  <a:fillRect b="-2222"/>
                </a:stretch>
              </a:blipFill>
            </p:spPr>
            <p:txBody>
              <a:bodyPr/>
              <a:lstStyle/>
              <a:p>
                <a:r>
                  <a:rPr lang="vi-VN">
                    <a:noFill/>
                  </a:rPr>
                  <a:t> </a:t>
                </a:r>
              </a:p>
            </p:txBody>
          </p:sp>
        </mc:Fallback>
      </mc:AlternateContent>
      <p:sp>
        <p:nvSpPr>
          <p:cNvPr id="44" name="TextBox 43">
            <a:extLst>
              <a:ext uri="{FF2B5EF4-FFF2-40B4-BE49-F238E27FC236}">
                <a16:creationId xmlns:a16="http://schemas.microsoft.com/office/drawing/2014/main" id="{98623146-1A19-CE6A-3E4D-96D0930046BD}"/>
              </a:ext>
            </a:extLst>
          </p:cNvPr>
          <p:cNvSpPr txBox="1"/>
          <p:nvPr/>
        </p:nvSpPr>
        <p:spPr>
          <a:xfrm>
            <a:off x="628650" y="2385419"/>
            <a:ext cx="1879600" cy="369332"/>
          </a:xfrm>
          <a:prstGeom prst="rect">
            <a:avLst/>
          </a:prstGeom>
          <a:noFill/>
        </p:spPr>
        <p:txBody>
          <a:bodyPr wrap="square" rtlCol="0">
            <a:spAutoFit/>
          </a:bodyPr>
          <a:lstStyle/>
          <a:p>
            <a:r>
              <a:rPr lang="en-US"/>
              <a:t>Classical channel</a:t>
            </a:r>
            <a:endParaRPr lang="vi-VN"/>
          </a:p>
        </p:txBody>
      </p:sp>
      <p:pic>
        <p:nvPicPr>
          <p:cNvPr id="3074" name="Picture 2">
            <a:extLst>
              <a:ext uri="{FF2B5EF4-FFF2-40B4-BE49-F238E27FC236}">
                <a16:creationId xmlns:a16="http://schemas.microsoft.com/office/drawing/2014/main" id="{DDB2C47A-558C-046C-21B0-8F547E0D73E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2965" y="3024385"/>
            <a:ext cx="1392872" cy="139287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4D1ADF63-0892-67A2-6203-F27F855CBB3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055799" y="3055520"/>
            <a:ext cx="1411660" cy="141166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1E4DB4BF-BB50-4288-5DAC-6D249E211EB6}"/>
                  </a:ext>
                </a:extLst>
              </p:cNvPr>
              <p:cNvSpPr txBox="1"/>
              <p:nvPr/>
            </p:nvSpPr>
            <p:spPr>
              <a:xfrm>
                <a:off x="602859" y="4444097"/>
                <a:ext cx="4655299" cy="646331"/>
              </a:xfrm>
              <a:prstGeom prst="rect">
                <a:avLst/>
              </a:prstGeom>
              <a:noFill/>
            </p:spPr>
            <p:txBody>
              <a:bodyPr wrap="square" rtlCol="0">
                <a:spAutoFit/>
              </a:bodyPr>
              <a:lstStyle/>
              <a:p>
                <a:r>
                  <a:rPr lang="en-US"/>
                  <a:t>G</a:t>
                </a:r>
                <a:r>
                  <a:rPr lang="en-VN"/>
                  <a:t>ate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𝑅</m:t>
                        </m:r>
                      </m:e>
                      <m:sub>
                        <m:r>
                          <a:rPr lang="vi-VN" i="1">
                            <a:latin typeface="Cambria Math" panose="02040503050406030204" pitchFamily="18" charset="0"/>
                          </a:rPr>
                          <m:t>𝑖</m:t>
                        </m:r>
                      </m:sub>
                    </m:sSub>
                    <m:r>
                      <a:rPr lang="vi-VN" b="0" i="1">
                        <a:latin typeface="Cambria Math" panose="02040503050406030204" pitchFamily="18" charset="0"/>
                      </a:rPr>
                      <m:t>(</m:t>
                    </m:r>
                    <m:r>
                      <a:rPr lang="vi-VN" b="0" i="1">
                        <a:latin typeface="Cambria Math" panose="02040503050406030204" pitchFamily="18" charset="0"/>
                      </a:rPr>
                      <m:t>𝜃</m:t>
                    </m:r>
                    <m:r>
                      <a:rPr lang="vi-VN" b="0" i="1">
                        <a:latin typeface="Cambria Math" panose="02040503050406030204" pitchFamily="18" charset="0"/>
                      </a:rPr>
                      <m:t>)</m:t>
                    </m:r>
                  </m:oMath>
                </a14:m>
                <a:r>
                  <a:rPr lang="en-VN"/>
                  <a:t> rotate state </a:t>
                </a:r>
                <a14:m>
                  <m:oMath xmlns:m="http://schemas.openxmlformats.org/officeDocument/2006/math">
                    <m:sSup>
                      <m:sSupPr>
                        <m:ctrlPr>
                          <a:rPr lang="vi-VN" b="0" i="1">
                            <a:latin typeface="Cambria Math" panose="02040503050406030204" pitchFamily="18" charset="0"/>
                          </a:rPr>
                        </m:ctrlPr>
                      </m:sSupPr>
                      <m:e>
                        <m:r>
                          <a:rPr lang="vi-VN" i="1">
                            <a:latin typeface="Cambria Math" panose="02040503050406030204" pitchFamily="18" charset="0"/>
                          </a:rPr>
                          <m:t>𝜃</m:t>
                        </m:r>
                      </m:e>
                      <m:sup>
                        <m:r>
                          <m:rPr>
                            <m:sty m:val="p"/>
                          </m:rPr>
                          <a:rPr lang="vi-VN" i="1">
                            <a:latin typeface="Cambria Math" panose="02040503050406030204" pitchFamily="18" charset="0"/>
                          </a:rPr>
                          <m:t>o</m:t>
                        </m:r>
                      </m:sup>
                    </m:sSup>
                  </m:oMath>
                </a14:m>
                <a:r>
                  <a:rPr lang="en-VN"/>
                  <a:t> about the </a:t>
                </a:r>
                <a14:m>
                  <m:oMath xmlns:m="http://schemas.openxmlformats.org/officeDocument/2006/math">
                    <m:r>
                      <a:rPr lang="en-VN" i="1" smtClean="0">
                        <a:latin typeface="Cambria Math" panose="02040503050406030204" pitchFamily="18" charset="0"/>
                      </a:rPr>
                      <m:t>𝑖</m:t>
                    </m:r>
                  </m:oMath>
                </a14:m>
                <a:r>
                  <a:rPr lang="en-VN"/>
                  <a:t>-axis</a:t>
                </a:r>
                <a:r>
                  <a:rPr lang="en-US"/>
                  <a:t> w</a:t>
                </a:r>
                <a:r>
                  <a:rPr lang="en-VN"/>
                  <a:t>here </a:t>
                </a:r>
                <a14:m>
                  <m:oMath xmlns:m="http://schemas.openxmlformats.org/officeDocument/2006/math">
                    <m:r>
                      <a:rPr lang="en-VN" i="1">
                        <a:latin typeface="Cambria Math" panose="02040503050406030204" pitchFamily="18" charset="0"/>
                      </a:rPr>
                      <m:t>𝑖</m:t>
                    </m:r>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en-US"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𝑍</m:t>
                        </m:r>
                      </m:e>
                    </m:d>
                  </m:oMath>
                </a14:m>
                <a:r>
                  <a:rPr lang="en-VN" i="1"/>
                  <a:t> </a:t>
                </a:r>
                <a:r>
                  <a:rPr lang="en-VN"/>
                  <a:t>and </a:t>
                </a:r>
                <a14:m>
                  <m:oMath xmlns:m="http://schemas.openxmlformats.org/officeDocument/2006/math">
                    <m:r>
                      <a:rPr lang="vi-VN" i="1">
                        <a:latin typeface="Cambria Math" panose="02040503050406030204" pitchFamily="18" charset="0"/>
                      </a:rPr>
                      <m:t>𝜃</m:t>
                    </m:r>
                    <m:r>
                      <a:rPr lang="vi-VN" b="0" i="1">
                        <a:latin typeface="Cambria Math" panose="02040503050406030204" pitchFamily="18" charset="0"/>
                      </a:rPr>
                      <m:t>∈[0,2</m:t>
                    </m:r>
                    <m:r>
                      <a:rPr lang="vi-VN" b="0" i="1">
                        <a:latin typeface="Cambria Math" panose="02040503050406030204" pitchFamily="18" charset="0"/>
                      </a:rPr>
                      <m:t>𝜋</m:t>
                    </m:r>
                    <m:r>
                      <a:rPr lang="vi-VN" b="0" i="1">
                        <a:latin typeface="Cambria Math" panose="02040503050406030204" pitchFamily="18" charset="0"/>
                      </a:rPr>
                      <m:t>]</m:t>
                    </m:r>
                  </m:oMath>
                </a14:m>
                <a:endParaRPr lang="en-VN"/>
              </a:p>
            </p:txBody>
          </p:sp>
        </mc:Choice>
        <mc:Fallback xmlns="">
          <p:sp>
            <p:nvSpPr>
              <p:cNvPr id="51" name="TextBox 50">
                <a:extLst>
                  <a:ext uri="{FF2B5EF4-FFF2-40B4-BE49-F238E27FC236}">
                    <a16:creationId xmlns:a16="http://schemas.microsoft.com/office/drawing/2014/main" id="{1E4DB4BF-BB50-4288-5DAC-6D249E211EB6}"/>
                  </a:ext>
                </a:extLst>
              </p:cNvPr>
              <p:cNvSpPr txBox="1">
                <a:spLocks noRot="1" noChangeAspect="1" noMove="1" noResize="1" noEditPoints="1" noAdjustHandles="1" noChangeArrowheads="1" noChangeShapeType="1" noTextEdit="1"/>
              </p:cNvSpPr>
              <p:nvPr/>
            </p:nvSpPr>
            <p:spPr>
              <a:xfrm>
                <a:off x="602859" y="4444097"/>
                <a:ext cx="4655299" cy="646331"/>
              </a:xfrm>
              <a:prstGeom prst="rect">
                <a:avLst/>
              </a:prstGeom>
              <a:blipFill>
                <a:blip r:embed="rId10"/>
                <a:stretch>
                  <a:fillRect l="-1178" t="-4717" b="-14151"/>
                </a:stretch>
              </a:blipFill>
            </p:spPr>
            <p:txBody>
              <a:bodyPr/>
              <a:lstStyle/>
              <a:p>
                <a:r>
                  <a:rPr lang="vi-VN">
                    <a:noFill/>
                  </a:rPr>
                  <a:t> </a:t>
                </a:r>
              </a:p>
            </p:txBody>
          </p:sp>
        </mc:Fallback>
      </mc:AlternateContent>
      <p:sp>
        <p:nvSpPr>
          <p:cNvPr id="57" name="Rectangle 56">
            <a:extLst>
              <a:ext uri="{FF2B5EF4-FFF2-40B4-BE49-F238E27FC236}">
                <a16:creationId xmlns:a16="http://schemas.microsoft.com/office/drawing/2014/main" id="{CBA39A83-DA49-E25E-235A-31062CC3A0E8}"/>
              </a:ext>
            </a:extLst>
          </p:cNvPr>
          <p:cNvSpPr/>
          <p:nvPr/>
        </p:nvSpPr>
        <p:spPr>
          <a:xfrm>
            <a:off x="5461134" y="1121833"/>
            <a:ext cx="3344199" cy="2949896"/>
          </a:xfrm>
          <a:prstGeom prst="rect">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63" name="Straight Connector 62">
            <a:extLst>
              <a:ext uri="{FF2B5EF4-FFF2-40B4-BE49-F238E27FC236}">
                <a16:creationId xmlns:a16="http://schemas.microsoft.com/office/drawing/2014/main" id="{C0E15684-451F-8CEC-4A60-4A98231BFB21}"/>
              </a:ext>
            </a:extLst>
          </p:cNvPr>
          <p:cNvCxnSpPr>
            <a:cxnSpLocks/>
          </p:cNvCxnSpPr>
          <p:nvPr/>
        </p:nvCxnSpPr>
        <p:spPr>
          <a:xfrm>
            <a:off x="5580407" y="1573960"/>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3" name="Straight Connector 3072">
            <a:extLst>
              <a:ext uri="{FF2B5EF4-FFF2-40B4-BE49-F238E27FC236}">
                <a16:creationId xmlns:a16="http://schemas.microsoft.com/office/drawing/2014/main" id="{F03FE966-13AB-EE11-C687-C0D71BCC5C15}"/>
              </a:ext>
            </a:extLst>
          </p:cNvPr>
          <p:cNvCxnSpPr>
            <a:cxnSpLocks/>
          </p:cNvCxnSpPr>
          <p:nvPr/>
        </p:nvCxnSpPr>
        <p:spPr>
          <a:xfrm>
            <a:off x="5580407" y="1861688"/>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5" name="Straight Connector 3074">
            <a:extLst>
              <a:ext uri="{FF2B5EF4-FFF2-40B4-BE49-F238E27FC236}">
                <a16:creationId xmlns:a16="http://schemas.microsoft.com/office/drawing/2014/main" id="{319FAA29-9794-45ED-7888-F4328807C9CF}"/>
              </a:ext>
            </a:extLst>
          </p:cNvPr>
          <p:cNvCxnSpPr>
            <a:cxnSpLocks/>
          </p:cNvCxnSpPr>
          <p:nvPr/>
        </p:nvCxnSpPr>
        <p:spPr>
          <a:xfrm>
            <a:off x="5580407" y="2149416"/>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7" name="Straight Connector 3076">
            <a:extLst>
              <a:ext uri="{FF2B5EF4-FFF2-40B4-BE49-F238E27FC236}">
                <a16:creationId xmlns:a16="http://schemas.microsoft.com/office/drawing/2014/main" id="{1D4C9A78-F240-5005-2FC9-58445F7C03D4}"/>
              </a:ext>
            </a:extLst>
          </p:cNvPr>
          <p:cNvCxnSpPr>
            <a:cxnSpLocks/>
          </p:cNvCxnSpPr>
          <p:nvPr/>
        </p:nvCxnSpPr>
        <p:spPr>
          <a:xfrm>
            <a:off x="5584640" y="2437144"/>
            <a:ext cx="3108960" cy="0"/>
          </a:xfrm>
          <a:prstGeom prst="line">
            <a:avLst/>
          </a:prstGeom>
          <a:ln w="28575"/>
        </p:spPr>
        <p:style>
          <a:lnRef idx="1">
            <a:schemeClr val="dk1"/>
          </a:lnRef>
          <a:fillRef idx="0">
            <a:schemeClr val="dk1"/>
          </a:fillRef>
          <a:effectRef idx="0">
            <a:schemeClr val="dk1"/>
          </a:effectRef>
          <a:fontRef idx="minor">
            <a:schemeClr val="tx1"/>
          </a:fontRef>
        </p:style>
      </p:cxnSp>
      <p:sp>
        <p:nvSpPr>
          <p:cNvPr id="3079" name="Rectangle 3078">
            <a:extLst>
              <a:ext uri="{FF2B5EF4-FFF2-40B4-BE49-F238E27FC236}">
                <a16:creationId xmlns:a16="http://schemas.microsoft.com/office/drawing/2014/main" id="{E2C6F9A4-6B3D-8477-E342-C31B8B2BF6D8}"/>
              </a:ext>
            </a:extLst>
          </p:cNvPr>
          <p:cNvSpPr/>
          <p:nvPr/>
        </p:nvSpPr>
        <p:spPr>
          <a:xfrm>
            <a:off x="5836870" y="1424361"/>
            <a:ext cx="498571" cy="324668"/>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80" name="TextBox 3079">
                <a:extLst>
                  <a:ext uri="{FF2B5EF4-FFF2-40B4-BE49-F238E27FC236}">
                    <a16:creationId xmlns:a16="http://schemas.microsoft.com/office/drawing/2014/main" id="{BAC769A3-926B-4E2F-FF99-89D599453A02}"/>
                  </a:ext>
                </a:extLst>
              </p:cNvPr>
              <p:cNvSpPr txBox="1"/>
              <p:nvPr/>
            </p:nvSpPr>
            <p:spPr>
              <a:xfrm>
                <a:off x="5881598" y="1492329"/>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0</m:t>
                              </m:r>
                            </m:sub>
                          </m:sSub>
                        </m:e>
                      </m:d>
                    </m:oMath>
                  </m:oMathPara>
                </a14:m>
                <a:endParaRPr lang="vi-VN" sz="1000"/>
              </a:p>
            </p:txBody>
          </p:sp>
        </mc:Choice>
        <mc:Fallback xmlns="">
          <p:sp>
            <p:nvSpPr>
              <p:cNvPr id="3080" name="TextBox 3079">
                <a:extLst>
                  <a:ext uri="{FF2B5EF4-FFF2-40B4-BE49-F238E27FC236}">
                    <a16:creationId xmlns:a16="http://schemas.microsoft.com/office/drawing/2014/main" id="{BAC769A3-926B-4E2F-FF99-89D599453A02}"/>
                  </a:ext>
                </a:extLst>
              </p:cNvPr>
              <p:cNvSpPr txBox="1">
                <a:spLocks noRot="1" noChangeAspect="1" noMove="1" noResize="1" noEditPoints="1" noAdjustHandles="1" noChangeArrowheads="1" noChangeShapeType="1" noTextEdit="1"/>
              </p:cNvSpPr>
              <p:nvPr/>
            </p:nvSpPr>
            <p:spPr>
              <a:xfrm>
                <a:off x="5881598" y="1492329"/>
                <a:ext cx="413831" cy="153888"/>
              </a:xfrm>
              <a:prstGeom prst="rect">
                <a:avLst/>
              </a:prstGeom>
              <a:blipFill>
                <a:blip r:embed="rId12"/>
                <a:stretch>
                  <a:fillRect l="-7353" b="-16000"/>
                </a:stretch>
              </a:blipFill>
            </p:spPr>
            <p:txBody>
              <a:bodyPr/>
              <a:lstStyle/>
              <a:p>
                <a:r>
                  <a:rPr lang="vi-VN">
                    <a:noFill/>
                  </a:rPr>
                  <a:t> </a:t>
                </a:r>
              </a:p>
            </p:txBody>
          </p:sp>
        </mc:Fallback>
      </mc:AlternateContent>
      <p:sp>
        <p:nvSpPr>
          <p:cNvPr id="3081" name="Rectangle 3080">
            <a:extLst>
              <a:ext uri="{FF2B5EF4-FFF2-40B4-BE49-F238E27FC236}">
                <a16:creationId xmlns:a16="http://schemas.microsoft.com/office/drawing/2014/main" id="{12594910-D0C8-DDA0-7A73-B88D2DE4925A}"/>
              </a:ext>
            </a:extLst>
          </p:cNvPr>
          <p:cNvSpPr/>
          <p:nvPr/>
        </p:nvSpPr>
        <p:spPr>
          <a:xfrm>
            <a:off x="5840939" y="1952916"/>
            <a:ext cx="498571" cy="324668"/>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82" name="TextBox 3081">
                <a:extLst>
                  <a:ext uri="{FF2B5EF4-FFF2-40B4-BE49-F238E27FC236}">
                    <a16:creationId xmlns:a16="http://schemas.microsoft.com/office/drawing/2014/main" id="{DCFA5A36-0C65-A5D5-DBB8-0E3408525134}"/>
                  </a:ext>
                </a:extLst>
              </p:cNvPr>
              <p:cNvSpPr txBox="1"/>
              <p:nvPr/>
            </p:nvSpPr>
            <p:spPr>
              <a:xfrm>
                <a:off x="5885667" y="2020884"/>
                <a:ext cx="41498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𝑋</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1</m:t>
                              </m:r>
                            </m:sub>
                          </m:sSub>
                        </m:e>
                      </m:d>
                    </m:oMath>
                  </m:oMathPara>
                </a14:m>
                <a:endParaRPr lang="vi-VN" sz="1000"/>
              </a:p>
            </p:txBody>
          </p:sp>
        </mc:Choice>
        <mc:Fallback xmlns="">
          <p:sp>
            <p:nvSpPr>
              <p:cNvPr id="3082" name="TextBox 3081">
                <a:extLst>
                  <a:ext uri="{FF2B5EF4-FFF2-40B4-BE49-F238E27FC236}">
                    <a16:creationId xmlns:a16="http://schemas.microsoft.com/office/drawing/2014/main" id="{DCFA5A36-0C65-A5D5-DBB8-0E3408525134}"/>
                  </a:ext>
                </a:extLst>
              </p:cNvPr>
              <p:cNvSpPr txBox="1">
                <a:spLocks noRot="1" noChangeAspect="1" noMove="1" noResize="1" noEditPoints="1" noAdjustHandles="1" noChangeArrowheads="1" noChangeShapeType="1" noTextEdit="1"/>
              </p:cNvSpPr>
              <p:nvPr/>
            </p:nvSpPr>
            <p:spPr>
              <a:xfrm>
                <a:off x="5885667" y="2020884"/>
                <a:ext cx="414985" cy="153888"/>
              </a:xfrm>
              <a:prstGeom prst="rect">
                <a:avLst/>
              </a:prstGeom>
              <a:blipFill>
                <a:blip r:embed="rId13"/>
                <a:stretch>
                  <a:fillRect l="-5797" b="-16000"/>
                </a:stretch>
              </a:blipFill>
            </p:spPr>
            <p:txBody>
              <a:bodyPr/>
              <a:lstStyle/>
              <a:p>
                <a:r>
                  <a:rPr lang="vi-VN">
                    <a:noFill/>
                  </a:rPr>
                  <a:t> </a:t>
                </a:r>
              </a:p>
            </p:txBody>
          </p:sp>
        </mc:Fallback>
      </mc:AlternateContent>
      <p:sp>
        <p:nvSpPr>
          <p:cNvPr id="3083" name="Rectangle 3082">
            <a:extLst>
              <a:ext uri="{FF2B5EF4-FFF2-40B4-BE49-F238E27FC236}">
                <a16:creationId xmlns:a16="http://schemas.microsoft.com/office/drawing/2014/main" id="{82D2CAB3-EBA0-2FE0-478D-F9E59AB138DF}"/>
              </a:ext>
            </a:extLst>
          </p:cNvPr>
          <p:cNvSpPr/>
          <p:nvPr/>
        </p:nvSpPr>
        <p:spPr>
          <a:xfrm>
            <a:off x="6553292" y="1681879"/>
            <a:ext cx="498571" cy="324668"/>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84" name="TextBox 3083">
                <a:extLst>
                  <a:ext uri="{FF2B5EF4-FFF2-40B4-BE49-F238E27FC236}">
                    <a16:creationId xmlns:a16="http://schemas.microsoft.com/office/drawing/2014/main" id="{F2D25819-B5E3-6C15-4303-D60CFAB6B210}"/>
                  </a:ext>
                </a:extLst>
              </p:cNvPr>
              <p:cNvSpPr txBox="1"/>
              <p:nvPr/>
            </p:nvSpPr>
            <p:spPr>
              <a:xfrm>
                <a:off x="6598020" y="1749847"/>
                <a:ext cx="41793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𝑋</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2</m:t>
                              </m:r>
                            </m:sub>
                          </m:sSub>
                        </m:e>
                      </m:d>
                    </m:oMath>
                  </m:oMathPara>
                </a14:m>
                <a:endParaRPr lang="vi-VN" sz="1000"/>
              </a:p>
            </p:txBody>
          </p:sp>
        </mc:Choice>
        <mc:Fallback xmlns="">
          <p:sp>
            <p:nvSpPr>
              <p:cNvPr id="3084" name="TextBox 3083">
                <a:extLst>
                  <a:ext uri="{FF2B5EF4-FFF2-40B4-BE49-F238E27FC236}">
                    <a16:creationId xmlns:a16="http://schemas.microsoft.com/office/drawing/2014/main" id="{F2D25819-B5E3-6C15-4303-D60CFAB6B210}"/>
                  </a:ext>
                </a:extLst>
              </p:cNvPr>
              <p:cNvSpPr txBox="1">
                <a:spLocks noRot="1" noChangeAspect="1" noMove="1" noResize="1" noEditPoints="1" noAdjustHandles="1" noChangeArrowheads="1" noChangeShapeType="1" noTextEdit="1"/>
              </p:cNvSpPr>
              <p:nvPr/>
            </p:nvSpPr>
            <p:spPr>
              <a:xfrm>
                <a:off x="6598020" y="1749847"/>
                <a:ext cx="417935" cy="153888"/>
              </a:xfrm>
              <a:prstGeom prst="rect">
                <a:avLst/>
              </a:prstGeom>
              <a:blipFill>
                <a:blip r:embed="rId14"/>
                <a:stretch>
                  <a:fillRect l="-5797" b="-20000"/>
                </a:stretch>
              </a:blipFill>
            </p:spPr>
            <p:txBody>
              <a:bodyPr/>
              <a:lstStyle/>
              <a:p>
                <a:r>
                  <a:rPr lang="vi-VN">
                    <a:noFill/>
                  </a:rPr>
                  <a:t> </a:t>
                </a:r>
              </a:p>
            </p:txBody>
          </p:sp>
        </mc:Fallback>
      </mc:AlternateContent>
      <p:cxnSp>
        <p:nvCxnSpPr>
          <p:cNvPr id="3085" name="Straight Connector 3084">
            <a:extLst>
              <a:ext uri="{FF2B5EF4-FFF2-40B4-BE49-F238E27FC236}">
                <a16:creationId xmlns:a16="http://schemas.microsoft.com/office/drawing/2014/main" id="{058C4BB8-3B2E-D4B1-C248-355A9C1F49DF}"/>
              </a:ext>
            </a:extLst>
          </p:cNvPr>
          <p:cNvCxnSpPr>
            <a:cxnSpLocks/>
          </p:cNvCxnSpPr>
          <p:nvPr/>
        </p:nvCxnSpPr>
        <p:spPr>
          <a:xfrm>
            <a:off x="5576174" y="2724872"/>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86" name="Straight Connector 3085">
            <a:extLst>
              <a:ext uri="{FF2B5EF4-FFF2-40B4-BE49-F238E27FC236}">
                <a16:creationId xmlns:a16="http://schemas.microsoft.com/office/drawing/2014/main" id="{9C1ECFD0-BD17-2B32-AF03-525B8606254B}"/>
              </a:ext>
            </a:extLst>
          </p:cNvPr>
          <p:cNvCxnSpPr>
            <a:cxnSpLocks/>
          </p:cNvCxnSpPr>
          <p:nvPr/>
        </p:nvCxnSpPr>
        <p:spPr>
          <a:xfrm>
            <a:off x="5580407" y="3012601"/>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87" name="Straight Connector 3086">
            <a:extLst>
              <a:ext uri="{FF2B5EF4-FFF2-40B4-BE49-F238E27FC236}">
                <a16:creationId xmlns:a16="http://schemas.microsoft.com/office/drawing/2014/main" id="{EF05A6BA-0844-B52D-C869-4EA5994FFDCB}"/>
              </a:ext>
            </a:extLst>
          </p:cNvPr>
          <p:cNvCxnSpPr>
            <a:cxnSpLocks/>
            <a:endCxn id="3083" idx="2"/>
          </p:cNvCxnSpPr>
          <p:nvPr/>
        </p:nvCxnSpPr>
        <p:spPr>
          <a:xfrm flipV="1">
            <a:off x="6802578" y="2006547"/>
            <a:ext cx="0" cy="718325"/>
          </a:xfrm>
          <a:prstGeom prst="line">
            <a:avLst/>
          </a:prstGeom>
          <a:ln w="28575"/>
        </p:spPr>
        <p:style>
          <a:lnRef idx="1">
            <a:schemeClr val="dk1"/>
          </a:lnRef>
          <a:fillRef idx="0">
            <a:schemeClr val="dk1"/>
          </a:fillRef>
          <a:effectRef idx="0">
            <a:schemeClr val="dk1"/>
          </a:effectRef>
          <a:fontRef idx="minor">
            <a:schemeClr val="tx1"/>
          </a:fontRef>
        </p:style>
      </p:cxnSp>
      <p:sp>
        <p:nvSpPr>
          <p:cNvPr id="3091" name="Oval 3090">
            <a:extLst>
              <a:ext uri="{FF2B5EF4-FFF2-40B4-BE49-F238E27FC236}">
                <a16:creationId xmlns:a16="http://schemas.microsoft.com/office/drawing/2014/main" id="{4478DBF9-9D88-CFE9-5E42-B8575056DA67}"/>
              </a:ext>
            </a:extLst>
          </p:cNvPr>
          <p:cNvSpPr/>
          <p:nvPr/>
        </p:nvSpPr>
        <p:spPr>
          <a:xfrm>
            <a:off x="6716703" y="2639503"/>
            <a:ext cx="168450" cy="16845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3092" name="Rectangle 3091">
            <a:extLst>
              <a:ext uri="{FF2B5EF4-FFF2-40B4-BE49-F238E27FC236}">
                <a16:creationId xmlns:a16="http://schemas.microsoft.com/office/drawing/2014/main" id="{F6FB6435-3809-30E5-A3E4-F1771CB2CD00}"/>
              </a:ext>
            </a:extLst>
          </p:cNvPr>
          <p:cNvSpPr/>
          <p:nvPr/>
        </p:nvSpPr>
        <p:spPr>
          <a:xfrm>
            <a:off x="7259463" y="1987113"/>
            <a:ext cx="498571" cy="324668"/>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93" name="TextBox 3092">
                <a:extLst>
                  <a:ext uri="{FF2B5EF4-FFF2-40B4-BE49-F238E27FC236}">
                    <a16:creationId xmlns:a16="http://schemas.microsoft.com/office/drawing/2014/main" id="{42930002-E27B-9398-E171-3BDB853B2D98}"/>
                  </a:ext>
                </a:extLst>
              </p:cNvPr>
              <p:cNvSpPr txBox="1"/>
              <p:nvPr/>
            </p:nvSpPr>
            <p:spPr>
              <a:xfrm>
                <a:off x="7304191" y="2055081"/>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𝑍</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3</m:t>
                              </m:r>
                            </m:sub>
                          </m:sSub>
                        </m:e>
                      </m:d>
                    </m:oMath>
                  </m:oMathPara>
                </a14:m>
                <a:endParaRPr lang="vi-VN" sz="1000"/>
              </a:p>
            </p:txBody>
          </p:sp>
        </mc:Choice>
        <mc:Fallback xmlns="">
          <p:sp>
            <p:nvSpPr>
              <p:cNvPr id="3093" name="TextBox 3092">
                <a:extLst>
                  <a:ext uri="{FF2B5EF4-FFF2-40B4-BE49-F238E27FC236}">
                    <a16:creationId xmlns:a16="http://schemas.microsoft.com/office/drawing/2014/main" id="{42930002-E27B-9398-E171-3BDB853B2D98}"/>
                  </a:ext>
                </a:extLst>
              </p:cNvPr>
              <p:cNvSpPr txBox="1">
                <a:spLocks noRot="1" noChangeAspect="1" noMove="1" noResize="1" noEditPoints="1" noAdjustHandles="1" noChangeArrowheads="1" noChangeShapeType="1" noTextEdit="1"/>
              </p:cNvSpPr>
              <p:nvPr/>
            </p:nvSpPr>
            <p:spPr>
              <a:xfrm>
                <a:off x="7304191" y="2055081"/>
                <a:ext cx="413831" cy="153888"/>
              </a:xfrm>
              <a:prstGeom prst="rect">
                <a:avLst/>
              </a:prstGeom>
              <a:blipFill>
                <a:blip r:embed="rId15"/>
                <a:stretch>
                  <a:fillRect l="-5882" b="-20000"/>
                </a:stretch>
              </a:blipFill>
            </p:spPr>
            <p:txBody>
              <a:bodyPr/>
              <a:lstStyle/>
              <a:p>
                <a:r>
                  <a:rPr lang="vi-VN">
                    <a:noFill/>
                  </a:rPr>
                  <a:t> </a:t>
                </a:r>
              </a:p>
            </p:txBody>
          </p:sp>
        </mc:Fallback>
      </mc:AlternateContent>
      <p:cxnSp>
        <p:nvCxnSpPr>
          <p:cNvPr id="3094" name="Straight Connector 3093">
            <a:extLst>
              <a:ext uri="{FF2B5EF4-FFF2-40B4-BE49-F238E27FC236}">
                <a16:creationId xmlns:a16="http://schemas.microsoft.com/office/drawing/2014/main" id="{2ACB9085-EED7-3179-9949-C06C1B26BD92}"/>
              </a:ext>
            </a:extLst>
          </p:cNvPr>
          <p:cNvCxnSpPr>
            <a:cxnSpLocks/>
            <a:endCxn id="3092" idx="2"/>
          </p:cNvCxnSpPr>
          <p:nvPr/>
        </p:nvCxnSpPr>
        <p:spPr>
          <a:xfrm flipV="1">
            <a:off x="7508749" y="2311781"/>
            <a:ext cx="0" cy="718325"/>
          </a:xfrm>
          <a:prstGeom prst="line">
            <a:avLst/>
          </a:prstGeom>
          <a:ln w="28575"/>
        </p:spPr>
        <p:style>
          <a:lnRef idx="1">
            <a:schemeClr val="dk1"/>
          </a:lnRef>
          <a:fillRef idx="0">
            <a:schemeClr val="dk1"/>
          </a:fillRef>
          <a:effectRef idx="0">
            <a:schemeClr val="dk1"/>
          </a:effectRef>
          <a:fontRef idx="minor">
            <a:schemeClr val="tx1"/>
          </a:fontRef>
        </p:style>
      </p:cxnSp>
      <p:sp>
        <p:nvSpPr>
          <p:cNvPr id="3095" name="Oval 3094">
            <a:extLst>
              <a:ext uri="{FF2B5EF4-FFF2-40B4-BE49-F238E27FC236}">
                <a16:creationId xmlns:a16="http://schemas.microsoft.com/office/drawing/2014/main" id="{23D912C8-7695-2FF0-5F2E-098360645CAB}"/>
              </a:ext>
            </a:extLst>
          </p:cNvPr>
          <p:cNvSpPr/>
          <p:nvPr/>
        </p:nvSpPr>
        <p:spPr>
          <a:xfrm>
            <a:off x="7422874" y="2944737"/>
            <a:ext cx="168450" cy="16845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3096" name="Oval 3095">
            <a:extLst>
              <a:ext uri="{FF2B5EF4-FFF2-40B4-BE49-F238E27FC236}">
                <a16:creationId xmlns:a16="http://schemas.microsoft.com/office/drawing/2014/main" id="{DD33CDD9-01B1-58A6-9FFC-4B4EA8E4EB56}"/>
              </a:ext>
            </a:extLst>
          </p:cNvPr>
          <p:cNvSpPr/>
          <p:nvPr/>
        </p:nvSpPr>
        <p:spPr>
          <a:xfrm>
            <a:off x="7422874" y="2639503"/>
            <a:ext cx="168450" cy="168450"/>
          </a:xfrm>
          <a:prstGeom prst="ellipse">
            <a:avLst/>
          </a:prstGeom>
          <a:solidFill>
            <a:schemeClr val="bg2"/>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98" name="TextBox 3097">
                <a:extLst>
                  <a:ext uri="{FF2B5EF4-FFF2-40B4-BE49-F238E27FC236}">
                    <a16:creationId xmlns:a16="http://schemas.microsoft.com/office/drawing/2014/main" id="{8EFAD544-7A0C-072D-443F-9DDF6B791384}"/>
                  </a:ext>
                </a:extLst>
              </p:cNvPr>
              <p:cNvSpPr txBox="1"/>
              <p:nvPr/>
            </p:nvSpPr>
            <p:spPr>
              <a:xfrm>
                <a:off x="5587004" y="3613936"/>
                <a:ext cx="2004320" cy="369332"/>
              </a:xfrm>
              <a:prstGeom prst="rect">
                <a:avLst/>
              </a:prstGeom>
              <a:solidFill>
                <a:schemeClr val="bg2"/>
              </a:solidFill>
              <a:ln>
                <a:solidFill>
                  <a:srgbClr val="FF0000"/>
                </a:solidFill>
              </a:ln>
            </p:spPr>
            <p:txBody>
              <a:bodyPr wrap="square" rtlCol="0">
                <a:spAutoFit/>
              </a:bodyPr>
              <a:lstStyle/>
              <a:p>
                <a14:m>
                  <m:oMath xmlns:m="http://schemas.openxmlformats.org/officeDocument/2006/math">
                    <m:r>
                      <a:rPr lang="en-US" b="1" i="1" smtClean="0">
                        <a:latin typeface="Cambria Math" panose="02040503050406030204" pitchFamily="18" charset="0"/>
                      </a:rPr>
                      <m:t>𝜽</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0</m:t>
                                      </m:r>
                                    </m:sub>
                                  </m:sSub>
                                </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1</m:t>
                                      </m:r>
                                    </m:sub>
                                  </m:sSub>
                                </m:e>
                                <m:e>
                                  <m:r>
                                    <a:rPr lang="en-US" b="0" i="1" smtClean="0">
                                      <a:latin typeface="Cambria Math" panose="02040503050406030204" pitchFamily="18" charset="0"/>
                                    </a:rPr>
                                    <m:t>…</m:t>
                                  </m:r>
                                </m:e>
                              </m:mr>
                            </m:m>
                          </m:e>
                        </m:d>
                      </m:e>
                      <m:sup>
                        <m:r>
                          <a:rPr lang="en-US" b="0" i="1" smtClean="0">
                            <a:latin typeface="Cambria Math" panose="02040503050406030204" pitchFamily="18" charset="0"/>
                            <a:ea typeface="Cambria Math" panose="02040503050406030204" pitchFamily="18" charset="0"/>
                          </a:rPr>
                          <m:t>⊺</m:t>
                        </m:r>
                      </m:sup>
                    </m:sSup>
                  </m:oMath>
                </a14:m>
                <a:r>
                  <a:rPr lang="en-US"/>
                  <a:t>  </a:t>
                </a:r>
                <a:endParaRPr lang="en-VN"/>
              </a:p>
            </p:txBody>
          </p:sp>
        </mc:Choice>
        <mc:Fallback xmlns="">
          <p:sp>
            <p:nvSpPr>
              <p:cNvPr id="3098" name="TextBox 3097">
                <a:extLst>
                  <a:ext uri="{FF2B5EF4-FFF2-40B4-BE49-F238E27FC236}">
                    <a16:creationId xmlns:a16="http://schemas.microsoft.com/office/drawing/2014/main" id="{8EFAD544-7A0C-072D-443F-9DDF6B791384}"/>
                  </a:ext>
                </a:extLst>
              </p:cNvPr>
              <p:cNvSpPr txBox="1">
                <a:spLocks noRot="1" noChangeAspect="1" noMove="1" noResize="1" noEditPoints="1" noAdjustHandles="1" noChangeArrowheads="1" noChangeShapeType="1" noTextEdit="1"/>
              </p:cNvSpPr>
              <p:nvPr/>
            </p:nvSpPr>
            <p:spPr>
              <a:xfrm>
                <a:off x="5587004" y="3613936"/>
                <a:ext cx="2004320" cy="369332"/>
              </a:xfrm>
              <a:prstGeom prst="rect">
                <a:avLst/>
              </a:prstGeom>
              <a:blipFill>
                <a:blip r:embed="rId16"/>
                <a:stretch>
                  <a:fillRect/>
                </a:stretch>
              </a:blipFill>
              <a:ln>
                <a:solidFill>
                  <a:srgbClr val="FF0000"/>
                </a:solidFill>
              </a:ln>
            </p:spPr>
            <p:txBody>
              <a:bodyPr/>
              <a:lstStyle/>
              <a:p>
                <a:r>
                  <a:rPr lang="vi-VN">
                    <a:noFill/>
                  </a:rPr>
                  <a:t> </a:t>
                </a:r>
              </a:p>
            </p:txBody>
          </p:sp>
        </mc:Fallback>
      </mc:AlternateContent>
      <p:sp>
        <p:nvSpPr>
          <p:cNvPr id="3099" name="Rectangle 3098">
            <a:extLst>
              <a:ext uri="{FF2B5EF4-FFF2-40B4-BE49-F238E27FC236}">
                <a16:creationId xmlns:a16="http://schemas.microsoft.com/office/drawing/2014/main" id="{1D083D2E-FBE0-B342-2B56-6A19EC2F36B7}"/>
              </a:ext>
            </a:extLst>
          </p:cNvPr>
          <p:cNvSpPr/>
          <p:nvPr/>
        </p:nvSpPr>
        <p:spPr>
          <a:xfrm>
            <a:off x="5749796" y="1352796"/>
            <a:ext cx="660935" cy="1817123"/>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00" name="TextBox 3099">
            <a:extLst>
              <a:ext uri="{FF2B5EF4-FFF2-40B4-BE49-F238E27FC236}">
                <a16:creationId xmlns:a16="http://schemas.microsoft.com/office/drawing/2014/main" id="{2E80F3D9-E764-4F4C-7DDC-762F603AE142}"/>
              </a:ext>
            </a:extLst>
          </p:cNvPr>
          <p:cNvSpPr txBox="1"/>
          <p:nvPr/>
        </p:nvSpPr>
        <p:spPr>
          <a:xfrm>
            <a:off x="5740598" y="3146881"/>
            <a:ext cx="710584" cy="415498"/>
          </a:xfrm>
          <a:prstGeom prst="rect">
            <a:avLst/>
          </a:prstGeom>
          <a:noFill/>
        </p:spPr>
        <p:txBody>
          <a:bodyPr wrap="square">
            <a:spAutoFit/>
          </a:bodyPr>
          <a:lstStyle/>
          <a:p>
            <a:pPr algn="ct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1-qubit gates</a:t>
            </a:r>
            <a:endParaRPr lang="vi-VN" sz="105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1" name="Rectangle 3100">
            <a:extLst>
              <a:ext uri="{FF2B5EF4-FFF2-40B4-BE49-F238E27FC236}">
                <a16:creationId xmlns:a16="http://schemas.microsoft.com/office/drawing/2014/main" id="{2538C970-E573-2E0E-55E9-7B23A41C563D}"/>
              </a:ext>
            </a:extLst>
          </p:cNvPr>
          <p:cNvSpPr/>
          <p:nvPr/>
        </p:nvSpPr>
        <p:spPr>
          <a:xfrm>
            <a:off x="6474409" y="1347364"/>
            <a:ext cx="660935" cy="1817123"/>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02" name="Rectangle 3101">
            <a:extLst>
              <a:ext uri="{FF2B5EF4-FFF2-40B4-BE49-F238E27FC236}">
                <a16:creationId xmlns:a16="http://schemas.microsoft.com/office/drawing/2014/main" id="{21A804EB-3B2C-4440-34EB-75476096C49A}"/>
              </a:ext>
            </a:extLst>
          </p:cNvPr>
          <p:cNvSpPr/>
          <p:nvPr/>
        </p:nvSpPr>
        <p:spPr>
          <a:xfrm>
            <a:off x="7199022" y="1340909"/>
            <a:ext cx="1435920" cy="1817123"/>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03" name="TextBox 3102">
            <a:extLst>
              <a:ext uri="{FF2B5EF4-FFF2-40B4-BE49-F238E27FC236}">
                <a16:creationId xmlns:a16="http://schemas.microsoft.com/office/drawing/2014/main" id="{FF949F28-59E4-26F7-B2A0-C955BA5BCE89}"/>
              </a:ext>
            </a:extLst>
          </p:cNvPr>
          <p:cNvSpPr txBox="1"/>
          <p:nvPr/>
        </p:nvSpPr>
        <p:spPr>
          <a:xfrm>
            <a:off x="6421328" y="3147828"/>
            <a:ext cx="768203" cy="415498"/>
          </a:xfrm>
          <a:prstGeom prst="rect">
            <a:avLst/>
          </a:prstGeom>
          <a:noFill/>
        </p:spPr>
        <p:txBody>
          <a:bodyPr wrap="square">
            <a:spAutoFit/>
          </a:bodyPr>
          <a:lstStyle/>
          <a:p>
            <a:pPr algn="ct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2-qubit gates</a:t>
            </a:r>
            <a:endParaRPr lang="vi-VN" sz="105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4" name="TextBox 3103">
            <a:extLst>
              <a:ext uri="{FF2B5EF4-FFF2-40B4-BE49-F238E27FC236}">
                <a16:creationId xmlns:a16="http://schemas.microsoft.com/office/drawing/2014/main" id="{9164D572-3C7F-8EA6-5B55-46154D2A7E15}"/>
              </a:ext>
            </a:extLst>
          </p:cNvPr>
          <p:cNvSpPr txBox="1"/>
          <p:nvPr/>
        </p:nvSpPr>
        <p:spPr>
          <a:xfrm>
            <a:off x="7725258" y="3146999"/>
            <a:ext cx="1331454" cy="253916"/>
          </a:xfrm>
          <a:prstGeom prst="rect">
            <a:avLst/>
          </a:prstGeom>
          <a:noFill/>
        </p:spPr>
        <p:txBody>
          <a:bodyPr wrap="square">
            <a:spAutoFit/>
          </a:bodyPr>
          <a:lstStyle/>
          <a:p>
            <a:pPr algn="ct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complex gate</a:t>
            </a:r>
            <a:endParaRPr lang="vi-VN" sz="105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5" name="Rectangle 3104">
            <a:extLst>
              <a:ext uri="{FF2B5EF4-FFF2-40B4-BE49-F238E27FC236}">
                <a16:creationId xmlns:a16="http://schemas.microsoft.com/office/drawing/2014/main" id="{52E35932-BFA4-1A23-034C-6BFF6D6B421C}"/>
              </a:ext>
            </a:extLst>
          </p:cNvPr>
          <p:cNvSpPr/>
          <p:nvPr/>
        </p:nvSpPr>
        <p:spPr>
          <a:xfrm>
            <a:off x="7956469" y="1453945"/>
            <a:ext cx="624941" cy="85783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3106" name="Straight Connector 3105">
            <a:extLst>
              <a:ext uri="{FF2B5EF4-FFF2-40B4-BE49-F238E27FC236}">
                <a16:creationId xmlns:a16="http://schemas.microsoft.com/office/drawing/2014/main" id="{9574F327-9C50-9014-D83E-53A095FC41C4}"/>
              </a:ext>
            </a:extLst>
          </p:cNvPr>
          <p:cNvCxnSpPr>
            <a:cxnSpLocks/>
          </p:cNvCxnSpPr>
          <p:nvPr/>
        </p:nvCxnSpPr>
        <p:spPr>
          <a:xfrm flipV="1">
            <a:off x="8295848" y="2295419"/>
            <a:ext cx="0" cy="718325"/>
          </a:xfrm>
          <a:prstGeom prst="line">
            <a:avLst/>
          </a:prstGeom>
          <a:ln w="28575"/>
        </p:spPr>
        <p:style>
          <a:lnRef idx="1">
            <a:schemeClr val="dk1"/>
          </a:lnRef>
          <a:fillRef idx="0">
            <a:schemeClr val="dk1"/>
          </a:fillRef>
          <a:effectRef idx="0">
            <a:schemeClr val="dk1"/>
          </a:effectRef>
          <a:fontRef idx="minor">
            <a:schemeClr val="tx1"/>
          </a:fontRef>
        </p:style>
      </p:cxnSp>
      <p:sp>
        <p:nvSpPr>
          <p:cNvPr id="3107" name="Oval 3106">
            <a:extLst>
              <a:ext uri="{FF2B5EF4-FFF2-40B4-BE49-F238E27FC236}">
                <a16:creationId xmlns:a16="http://schemas.microsoft.com/office/drawing/2014/main" id="{FDD7F85C-CBB7-83A5-1B3D-74C50FB111EB}"/>
              </a:ext>
            </a:extLst>
          </p:cNvPr>
          <p:cNvSpPr/>
          <p:nvPr/>
        </p:nvSpPr>
        <p:spPr>
          <a:xfrm>
            <a:off x="8209973" y="2928375"/>
            <a:ext cx="168450" cy="16845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109" name="TextBox 3108">
                <a:extLst>
                  <a:ext uri="{FF2B5EF4-FFF2-40B4-BE49-F238E27FC236}">
                    <a16:creationId xmlns:a16="http://schemas.microsoft.com/office/drawing/2014/main" id="{D3FE9651-8F7C-0C15-B045-4DD8697E09DD}"/>
                  </a:ext>
                </a:extLst>
              </p:cNvPr>
              <p:cNvSpPr txBox="1"/>
              <p:nvPr/>
            </p:nvSpPr>
            <p:spPr>
              <a:xfrm>
                <a:off x="8010118" y="1770461"/>
                <a:ext cx="517641" cy="161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d>
                        <m:dPr>
                          <m:ctrlPr>
                            <a:rPr lang="en-US" sz="1050" b="0" i="1" smtClean="0">
                              <a:latin typeface="Cambria Math" panose="02040503050406030204" pitchFamily="18" charset="0"/>
                            </a:rPr>
                          </m:ctrlPr>
                        </m:dPr>
                        <m:e>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𝜽</m:t>
                              </m:r>
                            </m:e>
                            <m:sub>
                              <m:r>
                                <a:rPr lang="en-US" sz="1050" b="1" i="1" smtClean="0">
                                  <a:latin typeface="Cambria Math" panose="02040503050406030204" pitchFamily="18" charset="0"/>
                                </a:rPr>
                                <m:t>𝟒</m:t>
                              </m:r>
                              <m:r>
                                <a:rPr lang="en-US" sz="1050" b="1" i="1" smtClean="0">
                                  <a:latin typeface="Cambria Math" panose="02040503050406030204" pitchFamily="18" charset="0"/>
                                </a:rPr>
                                <m:t>−</m:t>
                              </m:r>
                              <m:r>
                                <a:rPr lang="en-US" sz="1050" b="1" i="1" smtClean="0">
                                  <a:latin typeface="Cambria Math" panose="02040503050406030204" pitchFamily="18" charset="0"/>
                                </a:rPr>
                                <m:t>𝟕</m:t>
                              </m:r>
                            </m:sub>
                          </m:sSub>
                        </m:e>
                      </m:d>
                    </m:oMath>
                  </m:oMathPara>
                </a14:m>
                <a:endParaRPr lang="vi-VN" sz="1050"/>
              </a:p>
            </p:txBody>
          </p:sp>
        </mc:Choice>
        <mc:Fallback xmlns="">
          <p:sp>
            <p:nvSpPr>
              <p:cNvPr id="3109" name="TextBox 3108">
                <a:extLst>
                  <a:ext uri="{FF2B5EF4-FFF2-40B4-BE49-F238E27FC236}">
                    <a16:creationId xmlns:a16="http://schemas.microsoft.com/office/drawing/2014/main" id="{D3FE9651-8F7C-0C15-B045-4DD8697E09DD}"/>
                  </a:ext>
                </a:extLst>
              </p:cNvPr>
              <p:cNvSpPr txBox="1">
                <a:spLocks noRot="1" noChangeAspect="1" noMove="1" noResize="1" noEditPoints="1" noAdjustHandles="1" noChangeArrowheads="1" noChangeShapeType="1" noTextEdit="1"/>
              </p:cNvSpPr>
              <p:nvPr/>
            </p:nvSpPr>
            <p:spPr>
              <a:xfrm>
                <a:off x="8010118" y="1770461"/>
                <a:ext cx="517641" cy="161583"/>
              </a:xfrm>
              <a:prstGeom prst="rect">
                <a:avLst/>
              </a:prstGeom>
              <a:blipFill>
                <a:blip r:embed="rId18"/>
                <a:stretch>
                  <a:fillRect l="-5882" b="-14815"/>
                </a:stretch>
              </a:blipFill>
            </p:spPr>
            <p:txBody>
              <a:bodyPr/>
              <a:lstStyle/>
              <a:p>
                <a:r>
                  <a:rPr lang="vi-VN">
                    <a:noFill/>
                  </a:rPr>
                  <a:t> </a:t>
                </a:r>
              </a:p>
            </p:txBody>
          </p:sp>
        </mc:Fallback>
      </mc:AlternateContent>
      <p:sp>
        <p:nvSpPr>
          <p:cNvPr id="4" name="TextBox 3">
            <a:extLst>
              <a:ext uri="{FF2B5EF4-FFF2-40B4-BE49-F238E27FC236}">
                <a16:creationId xmlns:a16="http://schemas.microsoft.com/office/drawing/2014/main" id="{D6748CD7-ADB0-68D8-1B12-32313F041CA2}"/>
              </a:ext>
            </a:extLst>
          </p:cNvPr>
          <p:cNvSpPr txBox="1"/>
          <p:nvPr/>
        </p:nvSpPr>
        <p:spPr>
          <a:xfrm>
            <a:off x="2820270" y="2258014"/>
            <a:ext cx="1520747" cy="276999"/>
          </a:xfrm>
          <a:prstGeom prst="rect">
            <a:avLst/>
          </a:prstGeom>
          <a:noFill/>
        </p:spPr>
        <p:txBody>
          <a:bodyPr wrap="square" rtlCol="0">
            <a:spAutoFit/>
          </a:bodyPr>
          <a:lstStyle/>
          <a:p>
            <a:r>
              <a:rPr lang="en-US" sz="1200"/>
              <a:t>Trainable parameter</a:t>
            </a:r>
            <a:endParaRPr lang="en-VN" sz="1200"/>
          </a:p>
        </p:txBody>
      </p:sp>
      <p:cxnSp>
        <p:nvCxnSpPr>
          <p:cNvPr id="7" name="Straight Arrow Connector 6">
            <a:extLst>
              <a:ext uri="{FF2B5EF4-FFF2-40B4-BE49-F238E27FC236}">
                <a16:creationId xmlns:a16="http://schemas.microsoft.com/office/drawing/2014/main" id="{7C1D86EA-2AFC-3380-477E-9E866D1311F1}"/>
              </a:ext>
            </a:extLst>
          </p:cNvPr>
          <p:cNvCxnSpPr>
            <a:cxnSpLocks/>
          </p:cNvCxnSpPr>
          <p:nvPr/>
        </p:nvCxnSpPr>
        <p:spPr>
          <a:xfrm flipV="1">
            <a:off x="3544712" y="1995669"/>
            <a:ext cx="0" cy="3161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8194BEAE-7471-5EDA-6CED-C62448C7EA01}"/>
              </a:ext>
            </a:extLst>
          </p:cNvPr>
          <p:cNvSpPr txBox="1"/>
          <p:nvPr/>
        </p:nvSpPr>
        <p:spPr>
          <a:xfrm>
            <a:off x="7062521" y="3146881"/>
            <a:ext cx="932244" cy="415498"/>
          </a:xfrm>
          <a:prstGeom prst="rect">
            <a:avLst/>
          </a:prstGeom>
          <a:noFill/>
        </p:spPr>
        <p:txBody>
          <a:bodyPr wrap="square">
            <a:spAutoFit/>
          </a:bodyPr>
          <a:lstStyle/>
          <a:p>
            <a:pPr algn="ct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multi-control gate</a:t>
            </a:r>
            <a:endParaRPr lang="vi-VN" sz="105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6611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4C3DD22D-A768-5652-F362-7E7F23F587C4}"/>
                  </a:ext>
                </a:extLst>
              </p:cNvPr>
              <p:cNvGraphicFramePr>
                <a:graphicFrameLocks noGrp="1"/>
              </p:cNvGraphicFramePr>
              <p:nvPr>
                <p:ph idx="1"/>
                <p:extLst>
                  <p:ext uri="{D42A27DB-BD31-4B8C-83A1-F6EECF244321}">
                    <p14:modId xmlns:p14="http://schemas.microsoft.com/office/powerpoint/2010/main" val="1527338671"/>
                  </p:ext>
                </p:extLst>
              </p:nvPr>
            </p:nvGraphicFramePr>
            <p:xfrm>
              <a:off x="628651" y="1061471"/>
              <a:ext cx="8337552" cy="2294046"/>
            </p:xfrm>
            <a:graphic>
              <a:graphicData uri="http://schemas.openxmlformats.org/drawingml/2006/table">
                <a:tbl>
                  <a:tblPr firstRow="1" bandRow="1">
                    <a:tableStyleId>{5C22544A-7EE6-4342-B048-85BDC9FD1C3A}</a:tableStyleId>
                  </a:tblPr>
                  <a:tblGrid>
                    <a:gridCol w="1106627">
                      <a:extLst>
                        <a:ext uri="{9D8B030D-6E8A-4147-A177-3AD203B41FA5}">
                          <a16:colId xmlns:a16="http://schemas.microsoft.com/office/drawing/2014/main" val="3837862959"/>
                        </a:ext>
                      </a:extLst>
                    </a:gridCol>
                    <a:gridCol w="877794">
                      <a:extLst>
                        <a:ext uri="{9D8B030D-6E8A-4147-A177-3AD203B41FA5}">
                          <a16:colId xmlns:a16="http://schemas.microsoft.com/office/drawing/2014/main" val="4225924437"/>
                        </a:ext>
                      </a:extLst>
                    </a:gridCol>
                    <a:gridCol w="1063081">
                      <a:extLst>
                        <a:ext uri="{9D8B030D-6E8A-4147-A177-3AD203B41FA5}">
                          <a16:colId xmlns:a16="http://schemas.microsoft.com/office/drawing/2014/main" val="3136394921"/>
                        </a:ext>
                      </a:extLst>
                    </a:gridCol>
                    <a:gridCol w="927781">
                      <a:extLst>
                        <a:ext uri="{9D8B030D-6E8A-4147-A177-3AD203B41FA5}">
                          <a16:colId xmlns:a16="http://schemas.microsoft.com/office/drawing/2014/main" val="75451648"/>
                        </a:ext>
                      </a:extLst>
                    </a:gridCol>
                    <a:gridCol w="1357310">
                      <a:extLst>
                        <a:ext uri="{9D8B030D-6E8A-4147-A177-3AD203B41FA5}">
                          <a16:colId xmlns:a16="http://schemas.microsoft.com/office/drawing/2014/main" val="2396834512"/>
                        </a:ext>
                      </a:extLst>
                    </a:gridCol>
                    <a:gridCol w="1030867">
                      <a:extLst>
                        <a:ext uri="{9D8B030D-6E8A-4147-A177-3AD203B41FA5}">
                          <a16:colId xmlns:a16="http://schemas.microsoft.com/office/drawing/2014/main" val="2629910099"/>
                        </a:ext>
                      </a:extLst>
                    </a:gridCol>
                    <a:gridCol w="1974092">
                      <a:extLst>
                        <a:ext uri="{9D8B030D-6E8A-4147-A177-3AD203B41FA5}">
                          <a16:colId xmlns:a16="http://schemas.microsoft.com/office/drawing/2014/main" val="2261585604"/>
                        </a:ext>
                      </a:extLst>
                    </a:gridCol>
                  </a:tblGrid>
                  <a:tr h="970531">
                    <a:tc>
                      <a:txBody>
                        <a:bodyPr/>
                        <a:lstStyle/>
                        <a:p>
                          <a:endParaRPr lang="en-VN" sz="1000" b="1" i="0">
                            <a:solidFill>
                              <a:schemeClr val="accent1"/>
                            </a:solidFill>
                          </a:endParaRPr>
                        </a:p>
                        <a:p>
                          <a:endParaRPr lang="en-VN" sz="1000" b="1" i="0">
                            <a:solidFill>
                              <a:schemeClr val="accent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VN" sz="1400" b="0" i="0">
                              <a:solidFill>
                                <a:schemeClr val="tx1"/>
                              </a:solidFill>
                            </a:rPr>
                            <a:t>Threshold Encoding </a:t>
                          </a:r>
                          <a:r>
                            <a:rPr lang="en-VN" sz="1400" b="1" i="0">
                              <a:solidFill>
                                <a:schemeClr val="tx1"/>
                              </a:solidFill>
                            </a:rPr>
                            <a:t>- TE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Flexible Representation</a:t>
                          </a:r>
                          <a:r>
                            <a:rPr lang="en-US" sz="1400" b="1" i="0">
                              <a:solidFill>
                                <a:schemeClr val="tx1"/>
                              </a:solidFill>
                            </a:rPr>
                            <a:t> - FRQI</a:t>
                          </a:r>
                          <a:endParaRPr lang="en-VN" sz="1400" b="1" i="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Novel enhanced quantum </a:t>
                          </a:r>
                          <a:r>
                            <a:rPr lang="en-US" sz="1400" b="1" i="0">
                              <a:solidFill>
                                <a:schemeClr val="tx1"/>
                              </a:solidFill>
                            </a:rPr>
                            <a:t>- NEQR </a:t>
                          </a:r>
                          <a:r>
                            <a:rPr lang="en-US" sz="1400" b="1" i="0">
                              <a:solidFill>
                                <a:srgbClr val="FF0000"/>
                              </a:solidFill>
                            </a:rPr>
                            <a:t>[3.2.2]</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Amplitude Encoding </a:t>
                          </a:r>
                          <a:r>
                            <a:rPr lang="en-US" sz="1400" b="1" i="0">
                              <a:solidFill>
                                <a:schemeClr val="tx1"/>
                              </a:solidFill>
                            </a:rPr>
                            <a:t>- AE </a:t>
                          </a:r>
                          <a:r>
                            <a:rPr lang="en-US" sz="1400" b="1" i="0">
                              <a:solidFill>
                                <a:srgbClr val="FF0000"/>
                              </a:solidFill>
                            </a:rPr>
                            <a:t>[3.2.3] </a:t>
                          </a:r>
                          <a:r>
                            <a:rPr lang="en-US" sz="1400" b="1" i="0">
                              <a:solidFill>
                                <a:schemeClr val="tx1"/>
                              </a:solidFill>
                            </a:rPr>
                            <a:t>&amp; Quantum RAM </a:t>
                          </a:r>
                          <a:r>
                            <a:rPr lang="en-US" sz="1400" b="1" i="0">
                              <a:solidFill>
                                <a:srgbClr val="FF0000"/>
                              </a:solidFill>
                            </a:rPr>
                            <a:t>[3.2.4]</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Divide – and - Conquer Encoder - </a:t>
                          </a:r>
                          <a:r>
                            <a:rPr lang="en-US" sz="1400" b="1" i="0">
                              <a:solidFill>
                                <a:schemeClr val="tx1"/>
                              </a:solidFill>
                            </a:rPr>
                            <a:t>DCE </a:t>
                          </a:r>
                          <a:r>
                            <a:rPr lang="en-US" sz="1400" b="1" i="0">
                              <a:solidFill>
                                <a:srgbClr val="FF0000"/>
                              </a:solidFill>
                            </a:rPr>
                            <a:t>[3.2.5]</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rgbClr val="FF0000"/>
                              </a:solidFill>
                            </a:rPr>
                            <a:t>Universal Compilation – based variational quantum- </a:t>
                          </a:r>
                          <a:r>
                            <a:rPr lang="en-US" sz="1400" b="1" i="0">
                              <a:solidFill>
                                <a:srgbClr val="FF0000"/>
                              </a:solidFill>
                            </a:rPr>
                            <a:t>U</a:t>
                          </a:r>
                          <a:r>
                            <a:rPr lang="en-VN" sz="1400" b="1" i="0">
                              <a:solidFill>
                                <a:srgbClr val="FF0000"/>
                              </a:solidFill>
                            </a:rPr>
                            <a:t>C – VQA [</a:t>
                          </a:r>
                          <a:r>
                            <a:rPr lang="en-US" sz="1400" b="1" i="0">
                              <a:solidFill>
                                <a:srgbClr val="FF0000"/>
                              </a:solidFill>
                            </a:rPr>
                            <a:t>3.2.6</a:t>
                          </a:r>
                          <a:r>
                            <a:rPr lang="en-VN" sz="1400" b="1" i="0">
                              <a:solidFill>
                                <a:srgbClr val="FF0000"/>
                              </a:solidFill>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215602"/>
                      </a:ext>
                    </a:extLst>
                  </a:tr>
                  <a:tr h="526315">
                    <a:tc>
                      <a:txBody>
                        <a:bodyPr/>
                        <a:lstStyle/>
                        <a:p>
                          <a:r>
                            <a:rPr lang="en-US" sz="1000" b="1" i="0">
                              <a:solidFill>
                                <a:schemeClr val="accent1"/>
                              </a:solidFill>
                            </a:rPr>
                            <a:t>#</a:t>
                          </a:r>
                          <a:r>
                            <a:rPr lang="en-VN" sz="1000" b="1" i="0">
                              <a:solidFill>
                                <a:schemeClr val="accent1"/>
                              </a:solidFill>
                            </a:rPr>
                            <a:t>qubit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m:t>
                              </m:r>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en-US" sz="1400" i="1" kern="1200">
                                      <a:solidFill>
                                        <a:schemeClr val="dk1"/>
                                      </a:solidFill>
                                      <a:effectLst/>
                                      <a:latin typeface="Cambria Math" panose="02040503050406030204" pitchFamily="18" charset="0"/>
                                      <a:ea typeface="+mn-ea"/>
                                      <a:cs typeface="+mn-cs"/>
                                    </a:rPr>
                                    <m:t>2</m:t>
                                  </m:r>
                                  <m:r>
                                    <a:rPr lang="en-US" sz="1400" i="1" kern="1200">
                                      <a:solidFill>
                                        <a:schemeClr val="dk1"/>
                                      </a:solidFill>
                                      <a:effectLst/>
                                      <a:latin typeface="Cambria Math" panose="02040503050406030204" pitchFamily="18" charset="0"/>
                                      <a:ea typeface="+mn-ea"/>
                                      <a:cs typeface="+mn-cs"/>
                                    </a:rPr>
                                    <m:t>𝑛</m:t>
                                  </m:r>
                                </m:sup>
                              </m:sSup>
                              <m:r>
                                <a:rPr lang="en-US" sz="1400" i="1" kern="1200">
                                  <a:solidFill>
                                    <a:schemeClr val="dk1"/>
                                  </a:solidFill>
                                  <a:effectLst/>
                                  <a:latin typeface="Cambria Math" panose="02040503050406030204" pitchFamily="18" charset="0"/>
                                  <a:ea typeface="+mn-ea"/>
                                  <a:cs typeface="+mn-cs"/>
                                </a:rPr>
                                <m:t>)</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(2</m:t>
                              </m:r>
                              <m:r>
                                <a:rPr lang="vi-VN" sz="1400" b="0" i="1" kern="1200">
                                  <a:solidFill>
                                    <a:schemeClr val="dk1"/>
                                  </a:solidFill>
                                  <a:effectLst/>
                                  <a:latin typeface="Cambria Math" panose="02040503050406030204" pitchFamily="18" charset="0"/>
                                  <a:ea typeface="+mn-ea"/>
                                  <a:cs typeface="+mn-cs"/>
                                </a:rPr>
                                <m:t>𝑛</m:t>
                              </m:r>
                              <m:r>
                                <a:rPr lang="vi-VN" sz="1400" b="0" i="1" kern="1200">
                                  <a:solidFill>
                                    <a:schemeClr val="dk1"/>
                                  </a:solidFill>
                                  <a:effectLst/>
                                  <a:latin typeface="Cambria Math" panose="02040503050406030204" pitchFamily="18" charset="0"/>
                                  <a:ea typeface="+mn-ea"/>
                                  <a:cs typeface="+mn-cs"/>
                                </a:rPr>
                                <m:t>+1)</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(2</m:t>
                              </m:r>
                              <m:r>
                                <a:rPr lang="vi-VN" sz="1400" b="0" i="1" kern="1200">
                                  <a:solidFill>
                                    <a:schemeClr val="dk1"/>
                                  </a:solidFill>
                                  <a:effectLst/>
                                  <a:latin typeface="Cambria Math" panose="02040503050406030204" pitchFamily="18" charset="0"/>
                                  <a:ea typeface="+mn-ea"/>
                                  <a:cs typeface="+mn-cs"/>
                                </a:rPr>
                                <m:t>𝑛</m:t>
                              </m:r>
                              <m:r>
                                <a:rPr lang="vi-VN" sz="1400" b="0" i="1" kern="1200">
                                  <a:solidFill>
                                    <a:schemeClr val="dk1"/>
                                  </a:solidFill>
                                  <a:effectLst/>
                                  <a:latin typeface="Cambria Math" panose="02040503050406030204" pitchFamily="18" charset="0"/>
                                  <a:ea typeface="+mn-ea"/>
                                  <a:cs typeface="+mn-cs"/>
                                </a:rPr>
                                <m:t>+1)</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d>
                                <m:dPr>
                                  <m:ctrlPr>
                                    <a:rPr lang="en-VN" sz="1400" i="1" kern="1200">
                                      <a:solidFill>
                                        <a:schemeClr val="dk1"/>
                                      </a:solidFill>
                                      <a:effectLst/>
                                      <a:latin typeface="Cambria Math" panose="02040503050406030204" pitchFamily="18" charset="0"/>
                                      <a:ea typeface="+mn-ea"/>
                                      <a:cs typeface="+mn-cs"/>
                                    </a:rPr>
                                  </m:ctrlPr>
                                </m:dPr>
                                <m:e>
                                  <m:r>
                                    <a:rPr lang="en-US" sz="1400" i="1" kern="1200">
                                      <a:solidFill>
                                        <a:schemeClr val="dk1"/>
                                      </a:solidFill>
                                      <a:effectLst/>
                                      <a:latin typeface="Cambria Math" panose="02040503050406030204" pitchFamily="18" charset="0"/>
                                      <a:ea typeface="+mn-ea"/>
                                      <a:cs typeface="+mn-cs"/>
                                    </a:rPr>
                                    <m:t>𝑛</m:t>
                                  </m:r>
                                </m:e>
                              </m:d>
                            </m:oMath>
                          </a14:m>
                          <a:r>
                            <a:rPr lang="en-VN" sz="1000" b="0">
                              <a:solidFill>
                                <a:schemeClr val="tx1"/>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d>
                                <m:dPr>
                                  <m:ctrlPr>
                                    <a:rPr lang="en-VN" sz="1400" i="1" kern="1200">
                                      <a:solidFill>
                                        <a:schemeClr val="dk1"/>
                                      </a:solidFill>
                                      <a:effectLst/>
                                      <a:latin typeface="Cambria Math" panose="02040503050406030204" pitchFamily="18" charset="0"/>
                                      <a:ea typeface="+mn-ea"/>
                                      <a:cs typeface="+mn-cs"/>
                                    </a:rPr>
                                  </m:ctrlPr>
                                </m:dPr>
                                <m:e>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en-US" sz="1400" i="1" kern="1200">
                                          <a:solidFill>
                                            <a:schemeClr val="dk1"/>
                                          </a:solidFill>
                                          <a:effectLst/>
                                          <a:latin typeface="Cambria Math" panose="02040503050406030204" pitchFamily="18" charset="0"/>
                                          <a:ea typeface="+mn-ea"/>
                                          <a:cs typeface="+mn-cs"/>
                                        </a:rPr>
                                        <m:t>2</m:t>
                                      </m:r>
                                      <m:r>
                                        <a:rPr lang="en-US" sz="1400" i="1" kern="1200">
                                          <a:solidFill>
                                            <a:schemeClr val="dk1"/>
                                          </a:solidFill>
                                          <a:effectLst/>
                                          <a:latin typeface="Cambria Math" panose="02040503050406030204" pitchFamily="18" charset="0"/>
                                          <a:ea typeface="+mn-ea"/>
                                          <a:cs typeface="+mn-cs"/>
                                        </a:rPr>
                                        <m:t>𝑛</m:t>
                                      </m:r>
                                    </m:sup>
                                  </m:sSup>
                                </m:e>
                              </m:d>
                            </m:oMath>
                          </a14:m>
                          <a:r>
                            <a:rPr lang="en-VN" sz="1000" b="0">
                              <a:solidFill>
                                <a:schemeClr val="tx1"/>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b="1" i="1" kern="1200">
                                  <a:solidFill>
                                    <a:srgbClr val="FF0000"/>
                                  </a:solidFill>
                                  <a:effectLst/>
                                  <a:latin typeface="Cambria Math" panose="02040503050406030204" pitchFamily="18" charset="0"/>
                                  <a:ea typeface="+mn-ea"/>
                                  <a:cs typeface="+mn-cs"/>
                                </a:rPr>
                                <m:t>𝓞</m:t>
                              </m:r>
                              <m:d>
                                <m:dPr>
                                  <m:ctrlPr>
                                    <a:rPr lang="en-VN" sz="1400" b="1" i="1" kern="1200">
                                      <a:solidFill>
                                        <a:srgbClr val="FF0000"/>
                                      </a:solidFill>
                                      <a:effectLst/>
                                      <a:latin typeface="Cambria Math" panose="02040503050406030204" pitchFamily="18" charset="0"/>
                                      <a:ea typeface="+mn-ea"/>
                                      <a:cs typeface="+mn-cs"/>
                                    </a:rPr>
                                  </m:ctrlPr>
                                </m:dPr>
                                <m:e>
                                  <m:r>
                                    <a:rPr lang="en-US" sz="1400" b="1" i="1" kern="1200">
                                      <a:solidFill>
                                        <a:srgbClr val="FF0000"/>
                                      </a:solidFill>
                                      <a:effectLst/>
                                      <a:latin typeface="Cambria Math" panose="02040503050406030204" pitchFamily="18" charset="0"/>
                                      <a:ea typeface="+mn-ea"/>
                                      <a:cs typeface="+mn-cs"/>
                                    </a:rPr>
                                    <m:t>𝒏</m:t>
                                  </m:r>
                                </m:e>
                              </m:d>
                            </m:oMath>
                          </a14:m>
                          <a:r>
                            <a:rPr lang="en-VN" sz="1000" b="1">
                              <a:solidFill>
                                <a:srgbClr val="FF0000"/>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499625"/>
                      </a:ext>
                    </a:extLst>
                  </a:tr>
                  <a:tr h="632351">
                    <a:tc>
                      <a:txBody>
                        <a:bodyPr/>
                        <a:lstStyle/>
                        <a:p>
                          <a:r>
                            <a:rPr lang="en-VN" sz="1000" b="1" i="0">
                              <a:solidFill>
                                <a:schemeClr val="accent1"/>
                              </a:solidFill>
                            </a:rPr>
                            <a:t>Circuit depth</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m:t>
                              </m:r>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en-US" sz="1400" i="1" kern="1200">
                                      <a:solidFill>
                                        <a:schemeClr val="dk1"/>
                                      </a:solidFill>
                                      <a:effectLst/>
                                      <a:latin typeface="Cambria Math" panose="02040503050406030204" pitchFamily="18" charset="0"/>
                                      <a:ea typeface="+mn-ea"/>
                                      <a:cs typeface="+mn-cs"/>
                                    </a:rPr>
                                    <m:t>2</m:t>
                                  </m:r>
                                  <m:r>
                                    <a:rPr lang="en-US" sz="1400" i="1" kern="1200">
                                      <a:solidFill>
                                        <a:schemeClr val="dk1"/>
                                      </a:solidFill>
                                      <a:effectLst/>
                                      <a:latin typeface="Cambria Math" panose="02040503050406030204" pitchFamily="18" charset="0"/>
                                      <a:ea typeface="+mn-ea"/>
                                      <a:cs typeface="+mn-cs"/>
                                    </a:rPr>
                                    <m:t>𝑛</m:t>
                                  </m:r>
                                </m:sup>
                              </m:sSup>
                              <m:r>
                                <a:rPr lang="en-US" sz="1400" i="1" kern="1200">
                                  <a:solidFill>
                                    <a:schemeClr val="dk1"/>
                                  </a:solidFill>
                                  <a:effectLst/>
                                  <a:latin typeface="Cambria Math" panose="02040503050406030204" pitchFamily="18" charset="0"/>
                                  <a:ea typeface="+mn-ea"/>
                                  <a:cs typeface="+mn-cs"/>
                                </a:rPr>
                                <m:t>)</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m:t>
                              </m:r>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vi-VN" sz="1400" b="0" i="1" kern="1200">
                                      <a:solidFill>
                                        <a:schemeClr val="dk1"/>
                                      </a:solidFill>
                                      <a:effectLst/>
                                      <a:latin typeface="Cambria Math" panose="02040503050406030204" pitchFamily="18" charset="0"/>
                                      <a:ea typeface="+mn-ea"/>
                                      <a:cs typeface="+mn-cs"/>
                                    </a:rPr>
                                    <m:t>4</m:t>
                                  </m:r>
                                  <m:r>
                                    <a:rPr lang="en-US" sz="1400" i="1" kern="1200">
                                      <a:solidFill>
                                        <a:schemeClr val="dk1"/>
                                      </a:solidFill>
                                      <a:effectLst/>
                                      <a:latin typeface="Cambria Math" panose="02040503050406030204" pitchFamily="18" charset="0"/>
                                      <a:ea typeface="+mn-ea"/>
                                      <a:cs typeface="+mn-cs"/>
                                    </a:rPr>
                                    <m:t>𝑛</m:t>
                                  </m:r>
                                </m:sup>
                              </m:sSup>
                              <m:r>
                                <a:rPr lang="en-US" sz="1400" i="1" kern="1200">
                                  <a:solidFill>
                                    <a:schemeClr val="dk1"/>
                                  </a:solidFill>
                                  <a:effectLst/>
                                  <a:latin typeface="Cambria Math" panose="02040503050406030204" pitchFamily="18" charset="0"/>
                                  <a:ea typeface="+mn-ea"/>
                                  <a:cs typeface="+mn-cs"/>
                                </a:rPr>
                                <m:t>)</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m:t>
                              </m:r>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vi-VN" sz="1400" b="0" i="1" kern="1200">
                                      <a:solidFill>
                                        <a:schemeClr val="dk1"/>
                                      </a:solidFill>
                                      <a:effectLst/>
                                      <a:latin typeface="Cambria Math" panose="02040503050406030204" pitchFamily="18" charset="0"/>
                                      <a:ea typeface="+mn-ea"/>
                                      <a:cs typeface="+mn-cs"/>
                                    </a:rPr>
                                    <m:t>2</m:t>
                                  </m:r>
                                  <m:r>
                                    <a:rPr lang="en-US" sz="1400" i="1" kern="1200">
                                      <a:solidFill>
                                        <a:schemeClr val="dk1"/>
                                      </a:solidFill>
                                      <a:effectLst/>
                                      <a:latin typeface="Cambria Math" panose="02040503050406030204" pitchFamily="18" charset="0"/>
                                      <a:ea typeface="+mn-ea"/>
                                      <a:cs typeface="+mn-cs"/>
                                    </a:rPr>
                                    <m:t>𝑛</m:t>
                                  </m:r>
                                </m:sup>
                              </m:sSup>
                              <m:r>
                                <a:rPr lang="en-US" sz="1400" i="1" kern="1200">
                                  <a:solidFill>
                                    <a:schemeClr val="dk1"/>
                                  </a:solidFill>
                                  <a:effectLst/>
                                  <a:latin typeface="Cambria Math" panose="02040503050406030204" pitchFamily="18" charset="0"/>
                                  <a:ea typeface="+mn-ea"/>
                                  <a:cs typeface="+mn-cs"/>
                                </a:rPr>
                                <m:t>)</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d>
                                <m:dPr>
                                  <m:ctrlPr>
                                    <a:rPr lang="en-VN" sz="1400" i="1" kern="1200">
                                      <a:solidFill>
                                        <a:schemeClr val="dk1"/>
                                      </a:solidFill>
                                      <a:effectLst/>
                                      <a:latin typeface="Cambria Math" panose="02040503050406030204" pitchFamily="18" charset="0"/>
                                      <a:ea typeface="+mn-ea"/>
                                      <a:cs typeface="+mn-cs"/>
                                    </a:rPr>
                                  </m:ctrlPr>
                                </m:dPr>
                                <m:e>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vi-VN" sz="1400" b="0" i="1" kern="1200">
                                          <a:solidFill>
                                            <a:schemeClr val="dk1"/>
                                          </a:solidFill>
                                          <a:effectLst/>
                                          <a:latin typeface="Cambria Math" panose="02040503050406030204" pitchFamily="18" charset="0"/>
                                          <a:ea typeface="+mn-ea"/>
                                          <a:cs typeface="+mn-cs"/>
                                        </a:rPr>
                                        <m:t>2</m:t>
                                      </m:r>
                                      <m:r>
                                        <a:rPr lang="en-US" sz="1400" i="1" kern="1200">
                                          <a:solidFill>
                                            <a:schemeClr val="dk1"/>
                                          </a:solidFill>
                                          <a:effectLst/>
                                          <a:latin typeface="Cambria Math" panose="02040503050406030204" pitchFamily="18" charset="0"/>
                                          <a:ea typeface="+mn-ea"/>
                                          <a:cs typeface="+mn-cs"/>
                                        </a:rPr>
                                        <m:t>𝑛</m:t>
                                      </m:r>
                                    </m:sup>
                                  </m:sSup>
                                </m:e>
                              </m:d>
                            </m:oMath>
                          </a14:m>
                          <a:r>
                            <a:rPr lang="en-VN" sz="1000" b="0" i="1">
                              <a:solidFill>
                                <a:schemeClr val="tx1"/>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d>
                                <m:dPr>
                                  <m:ctrlPr>
                                    <a:rPr lang="en-VN" sz="1400" i="1" kern="1200">
                                      <a:solidFill>
                                        <a:schemeClr val="dk1"/>
                                      </a:solidFill>
                                      <a:effectLst/>
                                      <a:latin typeface="Cambria Math" panose="02040503050406030204" pitchFamily="18" charset="0"/>
                                      <a:ea typeface="+mn-ea"/>
                                      <a:cs typeface="+mn-cs"/>
                                    </a:rPr>
                                  </m:ctrlPr>
                                </m:dPr>
                                <m:e>
                                  <m:r>
                                    <a:rPr lang="en-VN" sz="1400" i="1" kern="1200">
                                      <a:solidFill>
                                        <a:schemeClr val="dk1"/>
                                      </a:solidFill>
                                      <a:effectLst/>
                                      <a:latin typeface="Cambria Math" panose="02040503050406030204" pitchFamily="18" charset="0"/>
                                      <a:ea typeface="+mn-ea"/>
                                      <a:cs typeface="+mn-cs"/>
                                    </a:rPr>
                                    <m:t>𝑘</m:t>
                                  </m:r>
                                </m:e>
                              </m:d>
                            </m:oMath>
                          </a14:m>
                          <a:r>
                            <a:rPr lang="en-VN" sz="1000" b="0" i="1">
                              <a:solidFill>
                                <a:schemeClr val="tx1"/>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200" b="1" i="1" kern="1200">
                                  <a:solidFill>
                                    <a:srgbClr val="FF0000"/>
                                  </a:solidFill>
                                  <a:effectLst/>
                                  <a:latin typeface="Cambria Math" panose="02040503050406030204" pitchFamily="18" charset="0"/>
                                  <a:ea typeface="+mn-ea"/>
                                  <a:cs typeface="+mn-cs"/>
                                </a:rPr>
                                <m:t>𝓞</m:t>
                              </m:r>
                              <m:d>
                                <m:dPr>
                                  <m:ctrlPr>
                                    <a:rPr lang="en-VN" sz="1200" b="1" i="1" kern="1200">
                                      <a:solidFill>
                                        <a:srgbClr val="FF0000"/>
                                      </a:solidFill>
                                      <a:effectLst/>
                                      <a:latin typeface="Cambria Math" panose="02040503050406030204" pitchFamily="18" charset="0"/>
                                      <a:ea typeface="+mn-ea"/>
                                      <a:cs typeface="+mn-cs"/>
                                    </a:rPr>
                                  </m:ctrlPr>
                                </m:dPr>
                                <m:e>
                                  <m:r>
                                    <a:rPr lang="en-VN" sz="1200" b="1" i="0" kern="1200">
                                      <a:solidFill>
                                        <a:srgbClr val="FF0000"/>
                                      </a:solidFill>
                                      <a:effectLst/>
                                      <a:latin typeface="Cambria Math" panose="02040503050406030204" pitchFamily="18" charset="0"/>
                                      <a:ea typeface="+mn-ea"/>
                                      <a:cs typeface="+mn-cs"/>
                                    </a:rPr>
                                    <m:t>𝐩𝐨𝐥𝐲</m:t>
                                  </m:r>
                                  <m:d>
                                    <m:dPr>
                                      <m:ctrlPr>
                                        <a:rPr lang="vi-VN" sz="1200" b="1" i="1" kern="1200">
                                          <a:solidFill>
                                            <a:srgbClr val="FF0000"/>
                                          </a:solidFill>
                                          <a:effectLst/>
                                          <a:latin typeface="Cambria Math" panose="02040503050406030204" pitchFamily="18" charset="0"/>
                                          <a:ea typeface="+mn-ea"/>
                                          <a:cs typeface="+mn-cs"/>
                                        </a:rPr>
                                      </m:ctrlPr>
                                    </m:dPr>
                                    <m:e>
                                      <m:r>
                                        <a:rPr lang="vi-VN" sz="1200" b="1" i="1" kern="1200">
                                          <a:solidFill>
                                            <a:srgbClr val="FF0000"/>
                                          </a:solidFill>
                                          <a:effectLst/>
                                          <a:latin typeface="Cambria Math" panose="02040503050406030204" pitchFamily="18" charset="0"/>
                                          <a:ea typeface="+mn-ea"/>
                                          <a:cs typeface="+mn-cs"/>
                                        </a:rPr>
                                        <m:t>𝒏</m:t>
                                      </m:r>
                                    </m:e>
                                  </m:d>
                                </m:e>
                              </m:d>
                              <m:r>
                                <a:rPr lang="vi-VN" sz="1200" b="1" i="1" kern="1200">
                                  <a:solidFill>
                                    <a:srgbClr val="FF0000"/>
                                  </a:solidFill>
                                  <a:effectLst/>
                                  <a:latin typeface="Cambria Math" panose="02040503050406030204" pitchFamily="18" charset="0"/>
                                  <a:ea typeface="+mn-ea"/>
                                  <a:cs typeface="+mn-cs"/>
                                </a:rPr>
                                <m:t>+</m:t>
                              </m:r>
                              <m:r>
                                <a:rPr lang="en-US" sz="1200" b="1" i="1" kern="1200">
                                  <a:solidFill>
                                    <a:srgbClr val="FF0000"/>
                                  </a:solidFill>
                                  <a:effectLst/>
                                  <a:latin typeface="Cambria Math" panose="02040503050406030204" pitchFamily="18" charset="0"/>
                                  <a:ea typeface="+mn-ea"/>
                                  <a:cs typeface="+mn-cs"/>
                                </a:rPr>
                                <m:t>𝓞</m:t>
                              </m:r>
                              <m:d>
                                <m:dPr>
                                  <m:ctrlPr>
                                    <a:rPr lang="en-VN" sz="1200" b="1" i="1" kern="1200">
                                      <a:solidFill>
                                        <a:srgbClr val="FF0000"/>
                                      </a:solidFill>
                                      <a:effectLst/>
                                      <a:latin typeface="Cambria Math" panose="02040503050406030204" pitchFamily="18" charset="0"/>
                                      <a:ea typeface="+mn-ea"/>
                                      <a:cs typeface="+mn-cs"/>
                                    </a:rPr>
                                  </m:ctrlPr>
                                </m:dPr>
                                <m:e>
                                  <m:r>
                                    <a:rPr lang="en-VN" sz="1200" b="1" i="0" kern="1200">
                                      <a:solidFill>
                                        <a:srgbClr val="FF0000"/>
                                      </a:solidFill>
                                      <a:effectLst/>
                                      <a:latin typeface="Cambria Math" panose="02040503050406030204" pitchFamily="18" charset="0"/>
                                      <a:ea typeface="+mn-ea"/>
                                      <a:cs typeface="+mn-cs"/>
                                    </a:rPr>
                                    <m:t>𝐩𝐨𝐥𝐲</m:t>
                                  </m:r>
                                  <m:d>
                                    <m:dPr>
                                      <m:ctrlPr>
                                        <a:rPr lang="vi-VN" sz="1200" b="1" i="1" kern="1200">
                                          <a:solidFill>
                                            <a:srgbClr val="FF0000"/>
                                          </a:solidFill>
                                          <a:effectLst/>
                                          <a:latin typeface="Cambria Math" panose="02040503050406030204" pitchFamily="18" charset="0"/>
                                          <a:ea typeface="+mn-ea"/>
                                          <a:cs typeface="+mn-cs"/>
                                        </a:rPr>
                                      </m:ctrlPr>
                                    </m:dPr>
                                    <m:e>
                                      <m:r>
                                        <a:rPr lang="vi-VN" sz="1200" b="1" i="1" kern="1200">
                                          <a:solidFill>
                                            <a:srgbClr val="FF0000"/>
                                          </a:solidFill>
                                          <a:effectLst/>
                                          <a:latin typeface="Cambria Math" panose="02040503050406030204" pitchFamily="18" charset="0"/>
                                          <a:ea typeface="+mn-ea"/>
                                          <a:cs typeface="+mn-cs"/>
                                        </a:rPr>
                                        <m:t>𝒏</m:t>
                                      </m:r>
                                    </m:e>
                                  </m:d>
                                </m:e>
                              </m:d>
                            </m:oMath>
                          </a14:m>
                          <a:r>
                            <a:rPr lang="en-VN" sz="1200" b="1">
                              <a:solidFill>
                                <a:srgbClr val="FF0000"/>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2459893"/>
                      </a:ext>
                    </a:extLst>
                  </a:tr>
                </a:tbl>
              </a:graphicData>
            </a:graphic>
          </p:graphicFrame>
        </mc:Choice>
        <mc:Fallback xmlns="">
          <p:graphicFrame>
            <p:nvGraphicFramePr>
              <p:cNvPr id="5" name="Table 5">
                <a:extLst>
                  <a:ext uri="{FF2B5EF4-FFF2-40B4-BE49-F238E27FC236}">
                    <a16:creationId xmlns:a16="http://schemas.microsoft.com/office/drawing/2014/main" id="{4C3DD22D-A768-5652-F362-7E7F23F587C4}"/>
                  </a:ext>
                </a:extLst>
              </p:cNvPr>
              <p:cNvGraphicFramePr>
                <a:graphicFrameLocks noGrp="1"/>
              </p:cNvGraphicFramePr>
              <p:nvPr>
                <p:ph idx="1"/>
                <p:extLst>
                  <p:ext uri="{D42A27DB-BD31-4B8C-83A1-F6EECF244321}">
                    <p14:modId xmlns:p14="http://schemas.microsoft.com/office/powerpoint/2010/main" val="1527338671"/>
                  </p:ext>
                </p:extLst>
              </p:nvPr>
            </p:nvGraphicFramePr>
            <p:xfrm>
              <a:off x="628651" y="1061471"/>
              <a:ext cx="8337552" cy="2294046"/>
            </p:xfrm>
            <a:graphic>
              <a:graphicData uri="http://schemas.openxmlformats.org/drawingml/2006/table">
                <a:tbl>
                  <a:tblPr firstRow="1" bandRow="1">
                    <a:tableStyleId>{5C22544A-7EE6-4342-B048-85BDC9FD1C3A}</a:tableStyleId>
                  </a:tblPr>
                  <a:tblGrid>
                    <a:gridCol w="1106627">
                      <a:extLst>
                        <a:ext uri="{9D8B030D-6E8A-4147-A177-3AD203B41FA5}">
                          <a16:colId xmlns:a16="http://schemas.microsoft.com/office/drawing/2014/main" val="3837862959"/>
                        </a:ext>
                      </a:extLst>
                    </a:gridCol>
                    <a:gridCol w="877794">
                      <a:extLst>
                        <a:ext uri="{9D8B030D-6E8A-4147-A177-3AD203B41FA5}">
                          <a16:colId xmlns:a16="http://schemas.microsoft.com/office/drawing/2014/main" val="4225924437"/>
                        </a:ext>
                      </a:extLst>
                    </a:gridCol>
                    <a:gridCol w="1063081">
                      <a:extLst>
                        <a:ext uri="{9D8B030D-6E8A-4147-A177-3AD203B41FA5}">
                          <a16:colId xmlns:a16="http://schemas.microsoft.com/office/drawing/2014/main" val="3136394921"/>
                        </a:ext>
                      </a:extLst>
                    </a:gridCol>
                    <a:gridCol w="927781">
                      <a:extLst>
                        <a:ext uri="{9D8B030D-6E8A-4147-A177-3AD203B41FA5}">
                          <a16:colId xmlns:a16="http://schemas.microsoft.com/office/drawing/2014/main" val="75451648"/>
                        </a:ext>
                      </a:extLst>
                    </a:gridCol>
                    <a:gridCol w="1357310">
                      <a:extLst>
                        <a:ext uri="{9D8B030D-6E8A-4147-A177-3AD203B41FA5}">
                          <a16:colId xmlns:a16="http://schemas.microsoft.com/office/drawing/2014/main" val="2396834512"/>
                        </a:ext>
                      </a:extLst>
                    </a:gridCol>
                    <a:gridCol w="1030867">
                      <a:extLst>
                        <a:ext uri="{9D8B030D-6E8A-4147-A177-3AD203B41FA5}">
                          <a16:colId xmlns:a16="http://schemas.microsoft.com/office/drawing/2014/main" val="2629910099"/>
                        </a:ext>
                      </a:extLst>
                    </a:gridCol>
                    <a:gridCol w="1974092">
                      <a:extLst>
                        <a:ext uri="{9D8B030D-6E8A-4147-A177-3AD203B41FA5}">
                          <a16:colId xmlns:a16="http://schemas.microsoft.com/office/drawing/2014/main" val="2261585604"/>
                        </a:ext>
                      </a:extLst>
                    </a:gridCol>
                  </a:tblGrid>
                  <a:tr h="1135380">
                    <a:tc>
                      <a:txBody>
                        <a:bodyPr/>
                        <a:lstStyle/>
                        <a:p>
                          <a:endParaRPr lang="en-VN" sz="1000" b="1" i="0">
                            <a:solidFill>
                              <a:schemeClr val="accent1"/>
                            </a:solidFill>
                          </a:endParaRPr>
                        </a:p>
                        <a:p>
                          <a:endParaRPr lang="en-VN" sz="1000" b="1" i="0">
                            <a:solidFill>
                              <a:schemeClr val="accent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VN" sz="1400" b="0" i="0">
                              <a:solidFill>
                                <a:schemeClr val="tx1"/>
                              </a:solidFill>
                            </a:rPr>
                            <a:t>Threshold Encoding </a:t>
                          </a:r>
                          <a:r>
                            <a:rPr lang="en-VN" sz="1400" b="1" i="0">
                              <a:solidFill>
                                <a:schemeClr val="tx1"/>
                              </a:solidFill>
                            </a:rPr>
                            <a:t>- TE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Flexible Representation</a:t>
                          </a:r>
                          <a:r>
                            <a:rPr lang="en-US" sz="1400" b="1" i="0">
                              <a:solidFill>
                                <a:schemeClr val="tx1"/>
                              </a:solidFill>
                            </a:rPr>
                            <a:t> - FRQI</a:t>
                          </a:r>
                          <a:endParaRPr lang="en-VN" sz="1400" b="1" i="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Novel enhanced quantum </a:t>
                          </a:r>
                          <a:r>
                            <a:rPr lang="en-US" sz="1400" b="1" i="0">
                              <a:solidFill>
                                <a:schemeClr val="tx1"/>
                              </a:solidFill>
                            </a:rPr>
                            <a:t>- NEQR </a:t>
                          </a:r>
                          <a:r>
                            <a:rPr lang="en-US" sz="1400" b="1" i="0">
                              <a:solidFill>
                                <a:srgbClr val="FF0000"/>
                              </a:solidFill>
                            </a:rPr>
                            <a:t>[3.2.2]</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Amplitude Encoding </a:t>
                          </a:r>
                          <a:r>
                            <a:rPr lang="en-US" sz="1400" b="1" i="0">
                              <a:solidFill>
                                <a:schemeClr val="tx1"/>
                              </a:solidFill>
                            </a:rPr>
                            <a:t>- AE </a:t>
                          </a:r>
                          <a:r>
                            <a:rPr lang="en-US" sz="1400" b="1" i="0">
                              <a:solidFill>
                                <a:srgbClr val="FF0000"/>
                              </a:solidFill>
                            </a:rPr>
                            <a:t>[3.2.3] </a:t>
                          </a:r>
                          <a:r>
                            <a:rPr lang="en-US" sz="1400" b="1" i="0">
                              <a:solidFill>
                                <a:schemeClr val="tx1"/>
                              </a:solidFill>
                            </a:rPr>
                            <a:t>&amp; Quantum RAM </a:t>
                          </a:r>
                          <a:r>
                            <a:rPr lang="en-US" sz="1400" b="1" i="0">
                              <a:solidFill>
                                <a:srgbClr val="FF0000"/>
                              </a:solidFill>
                            </a:rPr>
                            <a:t>[3.2.4]</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Divide – and - Conquer Encoder - </a:t>
                          </a:r>
                          <a:r>
                            <a:rPr lang="en-US" sz="1400" b="1" i="0">
                              <a:solidFill>
                                <a:schemeClr val="tx1"/>
                              </a:solidFill>
                            </a:rPr>
                            <a:t>DCE </a:t>
                          </a:r>
                          <a:r>
                            <a:rPr lang="en-US" sz="1400" b="1" i="0">
                              <a:solidFill>
                                <a:srgbClr val="FF0000"/>
                              </a:solidFill>
                            </a:rPr>
                            <a:t>[3.2.5]</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rgbClr val="FF0000"/>
                              </a:solidFill>
                            </a:rPr>
                            <a:t>Universal Compilation – based variational quantum- </a:t>
                          </a:r>
                          <a:r>
                            <a:rPr lang="en-US" sz="1400" b="1" i="0">
                              <a:solidFill>
                                <a:srgbClr val="FF0000"/>
                              </a:solidFill>
                            </a:rPr>
                            <a:t>U</a:t>
                          </a:r>
                          <a:r>
                            <a:rPr lang="en-VN" sz="1400" b="1" i="0">
                              <a:solidFill>
                                <a:srgbClr val="FF0000"/>
                              </a:solidFill>
                            </a:rPr>
                            <a:t>C – VQA [</a:t>
                          </a:r>
                          <a:r>
                            <a:rPr lang="en-US" sz="1400" b="1" i="0">
                              <a:solidFill>
                                <a:srgbClr val="FF0000"/>
                              </a:solidFill>
                            </a:rPr>
                            <a:t>3.2.6</a:t>
                          </a:r>
                          <a:r>
                            <a:rPr lang="en-VN" sz="1400" b="1" i="0">
                              <a:solidFill>
                                <a:srgbClr val="FF0000"/>
                              </a:solidFill>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215602"/>
                      </a:ext>
                    </a:extLst>
                  </a:tr>
                  <a:tr h="526315">
                    <a:tc>
                      <a:txBody>
                        <a:bodyPr/>
                        <a:lstStyle/>
                        <a:p>
                          <a:r>
                            <a:rPr lang="en-US" sz="1000" b="1" i="0">
                              <a:solidFill>
                                <a:schemeClr val="accent1"/>
                              </a:solidFill>
                            </a:rPr>
                            <a:t>#</a:t>
                          </a:r>
                          <a:r>
                            <a:rPr lang="en-VN" sz="1000" b="1" i="0">
                              <a:solidFill>
                                <a:schemeClr val="accent1"/>
                              </a:solidFill>
                            </a:rPr>
                            <a:t>qubit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7083" t="-220930" r="-725000" b="-123256"/>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7931" t="-220930" r="-500000" b="-123256"/>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9605" t="-220930" r="-472368" b="-123256"/>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2825" t="-220930" r="-221973" b="-123256"/>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8343" t="-220930" r="-192899" b="-123256"/>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2531" t="-220930" r="-617" b="-123256"/>
                          </a:stretch>
                        </a:blipFill>
                      </a:tcPr>
                    </a:tc>
                    <a:extLst>
                      <a:ext uri="{0D108BD9-81ED-4DB2-BD59-A6C34878D82A}">
                        <a16:rowId xmlns:a16="http://schemas.microsoft.com/office/drawing/2014/main" val="1657499625"/>
                      </a:ext>
                    </a:extLst>
                  </a:tr>
                  <a:tr h="632351">
                    <a:tc>
                      <a:txBody>
                        <a:bodyPr/>
                        <a:lstStyle/>
                        <a:p>
                          <a:r>
                            <a:rPr lang="en-VN" sz="1000" b="1" i="0">
                              <a:solidFill>
                                <a:schemeClr val="accent1"/>
                              </a:solidFill>
                            </a:rPr>
                            <a:t>Circuit depth</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7083" t="-265385" r="-725000" b="-1923"/>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7931" t="-265385" r="-500000" b="-1923"/>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9605" t="-265385" r="-472368" b="-1923"/>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2825" t="-265385" r="-221973" b="-1923"/>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8343" t="-265385" r="-192899" b="-1923"/>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2531" t="-265385" r="-617" b="-1923"/>
                          </a:stretch>
                        </a:blipFill>
                      </a:tcPr>
                    </a:tc>
                    <a:extLst>
                      <a:ext uri="{0D108BD9-81ED-4DB2-BD59-A6C34878D82A}">
                        <a16:rowId xmlns:a16="http://schemas.microsoft.com/office/drawing/2014/main" val="592459893"/>
                      </a:ext>
                    </a:extLst>
                  </a:tr>
                </a:tbl>
              </a:graphicData>
            </a:graphic>
          </p:graphicFrame>
        </mc:Fallback>
      </mc:AlternateContent>
      <p:sp>
        <p:nvSpPr>
          <p:cNvPr id="4" name="TextBox 3">
            <a:extLst>
              <a:ext uri="{FF2B5EF4-FFF2-40B4-BE49-F238E27FC236}">
                <a16:creationId xmlns:a16="http://schemas.microsoft.com/office/drawing/2014/main" id="{F759354A-10B6-3D4C-886F-919DB082D420}"/>
              </a:ext>
            </a:extLst>
          </p:cNvPr>
          <p:cNvSpPr txBox="1"/>
          <p:nvPr/>
        </p:nvSpPr>
        <p:spPr>
          <a:xfrm>
            <a:off x="538326" y="3879448"/>
            <a:ext cx="7158083" cy="1169551"/>
          </a:xfrm>
          <a:prstGeom prst="rect">
            <a:avLst/>
          </a:prstGeom>
          <a:noFill/>
        </p:spPr>
        <p:txBody>
          <a:bodyPr wrap="square" rtlCol="0">
            <a:spAutoFit/>
          </a:bodyPr>
          <a:lstStyle/>
          <a:p>
            <a:pPr algn="just"/>
            <a:r>
              <a:rPr lang="en-VN" sz="1000" b="1">
                <a:latin typeface="Calibri" panose="020F0502020204030204" pitchFamily="34" charset="0"/>
                <a:cs typeface="Calibri" panose="020F0502020204030204" pitchFamily="34" charset="0"/>
              </a:rPr>
              <a:t>[</a:t>
            </a:r>
            <a:r>
              <a:rPr lang="en-US" sz="1000" b="1">
                <a:latin typeface="Calibri" panose="020F0502020204030204" pitchFamily="34" charset="0"/>
                <a:cs typeface="Calibri" panose="020F0502020204030204" pitchFamily="34" charset="0"/>
              </a:rPr>
              <a:t>3.2.2</a:t>
            </a:r>
            <a:r>
              <a:rPr lang="en-VN" sz="1000" b="1">
                <a:latin typeface="Calibri" panose="020F0502020204030204" pitchFamily="34" charset="0"/>
                <a:cs typeface="Calibri" panose="020F0502020204030204" pitchFamily="34" charset="0"/>
              </a:rPr>
              <a:t>]</a:t>
            </a:r>
            <a:r>
              <a:rPr lang="en-VN" sz="1000">
                <a:latin typeface="Calibri" panose="020F0502020204030204" pitchFamily="34" charset="0"/>
                <a:cs typeface="Calibri" panose="020F0502020204030204" pitchFamily="34" charset="0"/>
              </a:rPr>
              <a:t> </a:t>
            </a:r>
            <a:r>
              <a:rPr lang="en-US" sz="1000">
                <a:latin typeface="Calibri" panose="020F0502020204030204" pitchFamily="34" charset="0"/>
                <a:cs typeface="Calibri" panose="020F0502020204030204" pitchFamily="34" charset="0"/>
              </a:rPr>
              <a:t>Zhang, Y., Lu, K., Gao, Y., &amp; Wang, M, NEQR: a novel enhanced quantum representation of digital images. Quantum information processing, 12, 2833-2860 (2013).</a:t>
            </a:r>
          </a:p>
          <a:p>
            <a:pPr algn="just"/>
            <a:r>
              <a:rPr lang="en-US" sz="1000" b="1">
                <a:latin typeface="Calibri" panose="020F0502020204030204" pitchFamily="34" charset="0"/>
                <a:cs typeface="Calibri" panose="020F0502020204030204" pitchFamily="34" charset="0"/>
              </a:rPr>
              <a:t>[3.2.3]</a:t>
            </a:r>
            <a:r>
              <a:rPr lang="en-US" sz="1000">
                <a:latin typeface="Calibri" panose="020F0502020204030204" pitchFamily="34" charset="0"/>
                <a:cs typeface="Calibri" panose="020F0502020204030204" pitchFamily="34" charset="0"/>
              </a:rPr>
              <a:t> M. Weigold et al, Data encoding patterns for quantum computing, in Proceedings of the 27th Conference on Pattern Languages of Programs PLoP ’20, (The Hillside Group, USA, 2022).</a:t>
            </a:r>
          </a:p>
          <a:p>
            <a:pPr algn="just"/>
            <a:r>
              <a:rPr lang="en-US" sz="1000" b="1">
                <a:latin typeface="Calibri" panose="020F0502020204030204" pitchFamily="34" charset="0"/>
                <a:cs typeface="Calibri" panose="020F0502020204030204" pitchFamily="34" charset="0"/>
              </a:rPr>
              <a:t>[3.2.4]</a:t>
            </a:r>
            <a:r>
              <a:rPr lang="en-US" sz="1000">
                <a:latin typeface="Calibri" panose="020F0502020204030204" pitchFamily="34" charset="0"/>
                <a:cs typeface="Calibri" panose="020F0502020204030204" pitchFamily="34" charset="0"/>
              </a:rPr>
              <a:t> V. Giovannetti et al, Quantum random access memory, Phys. Rev. Lett. 100 (Apr 2008) p. 160501.</a:t>
            </a:r>
          </a:p>
          <a:p>
            <a:pPr algn="just"/>
            <a:r>
              <a:rPr lang="en-US" sz="1000" b="1">
                <a:latin typeface="Calibri" panose="020F0502020204030204" pitchFamily="34" charset="0"/>
                <a:cs typeface="Calibri" panose="020F0502020204030204" pitchFamily="34" charset="0"/>
              </a:rPr>
              <a:t>[3.2.5]</a:t>
            </a:r>
            <a:r>
              <a:rPr lang="en-US" sz="1000">
                <a:latin typeface="Calibri" panose="020F0502020204030204" pitchFamily="34" charset="0"/>
                <a:cs typeface="Calibri" panose="020F0502020204030204" pitchFamily="34" charset="0"/>
              </a:rPr>
              <a:t> I. F. Araujo et al, A divide-and-conquer algorithm for quantum state preparation, Scientific Reports 11 (Mar 2021) p. 6329.</a:t>
            </a:r>
          </a:p>
          <a:p>
            <a:pPr algn="just"/>
            <a:r>
              <a:rPr lang="en-US" sz="1000" b="1">
                <a:latin typeface="Calibri" panose="020F0502020204030204" pitchFamily="34" charset="0"/>
                <a:cs typeface="Calibri" panose="020F0502020204030204" pitchFamily="34" charset="0"/>
              </a:rPr>
              <a:t>[3.2.6]</a:t>
            </a:r>
            <a:r>
              <a:rPr lang="en-US" sz="1000">
                <a:latin typeface="Calibri" panose="020F0502020204030204" pitchFamily="34" charset="0"/>
                <a:cs typeface="Calibri" panose="020F0502020204030204" pitchFamily="34" charset="0"/>
              </a:rPr>
              <a:t> Hai, V. T., &amp; Ho, L. B. (2023). Universal compilation for quantum state tomography. Scientific Reports, 13(1), 3750</a:t>
            </a:r>
          </a:p>
        </p:txBody>
      </p:sp>
      <p:cxnSp>
        <p:nvCxnSpPr>
          <p:cNvPr id="7" name="Straight Connector 6">
            <a:extLst>
              <a:ext uri="{FF2B5EF4-FFF2-40B4-BE49-F238E27FC236}">
                <a16:creationId xmlns:a16="http://schemas.microsoft.com/office/drawing/2014/main" id="{BCC1EF66-80A1-E11E-34E1-E785C10275EC}"/>
              </a:ext>
            </a:extLst>
          </p:cNvPr>
          <p:cNvCxnSpPr>
            <a:cxnSpLocks/>
          </p:cNvCxnSpPr>
          <p:nvPr/>
        </p:nvCxnSpPr>
        <p:spPr>
          <a:xfrm>
            <a:off x="628651" y="1061471"/>
            <a:ext cx="1092202" cy="970531"/>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08517813-D178-7347-47AD-DF20A84E494A}"/>
              </a:ext>
            </a:extLst>
          </p:cNvPr>
          <p:cNvSpPr txBox="1"/>
          <p:nvPr/>
        </p:nvSpPr>
        <p:spPr>
          <a:xfrm>
            <a:off x="929541" y="1035539"/>
            <a:ext cx="852374" cy="300082"/>
          </a:xfrm>
          <a:prstGeom prst="rect">
            <a:avLst/>
          </a:prstGeom>
          <a:noFill/>
        </p:spPr>
        <p:txBody>
          <a:bodyPr wrap="square">
            <a:spAutoFit/>
          </a:bodyPr>
          <a:lstStyle/>
          <a:p>
            <a:r>
              <a:rPr lang="en-VN" sz="1350" b="1">
                <a:solidFill>
                  <a:schemeClr val="accent1"/>
                </a:solidFill>
              </a:rPr>
              <a:t>Encoder</a:t>
            </a:r>
            <a:endParaRPr lang="en-VN" sz="1350"/>
          </a:p>
        </p:txBody>
      </p:sp>
      <p:sp>
        <p:nvSpPr>
          <p:cNvPr id="12" name="TextBox 11">
            <a:extLst>
              <a:ext uri="{FF2B5EF4-FFF2-40B4-BE49-F238E27FC236}">
                <a16:creationId xmlns:a16="http://schemas.microsoft.com/office/drawing/2014/main" id="{DD3410FE-A1AF-00E6-FA61-1EF2703AF6EC}"/>
              </a:ext>
            </a:extLst>
          </p:cNvPr>
          <p:cNvSpPr txBox="1"/>
          <p:nvPr/>
        </p:nvSpPr>
        <p:spPr>
          <a:xfrm>
            <a:off x="625478" y="1708419"/>
            <a:ext cx="730250" cy="300082"/>
          </a:xfrm>
          <a:prstGeom prst="rect">
            <a:avLst/>
          </a:prstGeom>
          <a:noFill/>
        </p:spPr>
        <p:txBody>
          <a:bodyPr wrap="square">
            <a:spAutoFit/>
          </a:bodyPr>
          <a:lstStyle/>
          <a:p>
            <a:r>
              <a:rPr lang="en-VN" sz="1350" b="1">
                <a:solidFill>
                  <a:schemeClr val="accent1"/>
                </a:solidFill>
              </a:rPr>
              <a:t>Feature</a:t>
            </a:r>
            <a:endParaRPr lang="en-VN" sz="1350"/>
          </a:p>
        </p:txBody>
      </p:sp>
      <p:sp>
        <p:nvSpPr>
          <p:cNvPr id="13" name="TextBox 12">
            <a:extLst>
              <a:ext uri="{FF2B5EF4-FFF2-40B4-BE49-F238E27FC236}">
                <a16:creationId xmlns:a16="http://schemas.microsoft.com/office/drawing/2014/main" id="{0E5B2108-5C79-F46A-564B-29C8CBA60676}"/>
              </a:ext>
            </a:extLst>
          </p:cNvPr>
          <p:cNvSpPr txBox="1"/>
          <p:nvPr/>
        </p:nvSpPr>
        <p:spPr>
          <a:xfrm>
            <a:off x="538325" y="3359783"/>
            <a:ext cx="3562760" cy="300082"/>
          </a:xfrm>
          <a:prstGeom prst="rect">
            <a:avLst/>
          </a:prstGeom>
          <a:noFill/>
        </p:spPr>
        <p:txBody>
          <a:bodyPr wrap="square">
            <a:spAutoFit/>
          </a:bodyPr>
          <a:lstStyle/>
          <a:p>
            <a:r>
              <a:rPr lang="en-US" sz="1350"/>
              <a:t>List of e</a:t>
            </a:r>
            <a:r>
              <a:rPr lang="en-VN" sz="1350"/>
              <a:t>ncoders</a:t>
            </a:r>
          </a:p>
        </p:txBody>
      </p:sp>
      <p:cxnSp>
        <p:nvCxnSpPr>
          <p:cNvPr id="9" name="Straight Arrow Connector 8">
            <a:extLst>
              <a:ext uri="{FF2B5EF4-FFF2-40B4-BE49-F238E27FC236}">
                <a16:creationId xmlns:a16="http://schemas.microsoft.com/office/drawing/2014/main" id="{1824E574-80B9-73A6-B222-76CE86D3F5C4}"/>
              </a:ext>
            </a:extLst>
          </p:cNvPr>
          <p:cNvCxnSpPr>
            <a:cxnSpLocks/>
            <a:stCxn id="10" idx="0"/>
          </p:cNvCxnSpPr>
          <p:nvPr/>
        </p:nvCxnSpPr>
        <p:spPr>
          <a:xfrm flipV="1">
            <a:off x="7604567" y="3168125"/>
            <a:ext cx="0" cy="25382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313A6B3-2473-7DF3-4A1E-9FC941481069}"/>
              </a:ext>
            </a:extLst>
          </p:cNvPr>
          <p:cNvSpPr txBox="1"/>
          <p:nvPr/>
        </p:nvSpPr>
        <p:spPr>
          <a:xfrm>
            <a:off x="7011727" y="3421947"/>
            <a:ext cx="1185680" cy="300082"/>
          </a:xfrm>
          <a:prstGeom prst="rect">
            <a:avLst/>
          </a:prstGeom>
          <a:noFill/>
        </p:spPr>
        <p:txBody>
          <a:bodyPr wrap="square" rtlCol="0">
            <a:spAutoFit/>
          </a:bodyPr>
          <a:lstStyle/>
          <a:p>
            <a:r>
              <a:rPr lang="en-VN" sz="1350">
                <a:solidFill>
                  <a:schemeClr val="accent1"/>
                </a:solidFill>
              </a:rPr>
              <a:t>Circuit depth</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6C59DC2-CA30-322B-BBA4-6F282CA2C74D}"/>
                  </a:ext>
                </a:extLst>
              </p:cNvPr>
              <p:cNvSpPr txBox="1"/>
              <p:nvPr/>
            </p:nvSpPr>
            <p:spPr>
              <a:xfrm>
                <a:off x="7696409" y="3692598"/>
                <a:ext cx="1363479" cy="318677"/>
              </a:xfrm>
              <a:prstGeom prst="rect">
                <a:avLst/>
              </a:prstGeom>
              <a:noFill/>
            </p:spPr>
            <p:txBody>
              <a:bodyPr wrap="square" rtlCol="0">
                <a:spAutoFit/>
              </a:bodyPr>
              <a:lstStyle/>
              <a:p>
                <a:r>
                  <a:rPr lang="en-VN" sz="1350">
                    <a:solidFill>
                      <a:schemeClr val="accent1"/>
                    </a:solidFill>
                  </a:rPr>
                  <a:t>Resource for </a:t>
                </a:r>
                <a14:m>
                  <m:oMath xmlns:m="http://schemas.openxmlformats.org/officeDocument/2006/math">
                    <m:sSub>
                      <m:sSubPr>
                        <m:ctrlPr>
                          <a:rPr lang="vi-VN" sz="1350" b="1" i="1">
                            <a:solidFill>
                              <a:schemeClr val="accent1"/>
                            </a:solidFill>
                            <a:latin typeface="Cambria Math" panose="02040503050406030204" pitchFamily="18" charset="0"/>
                          </a:rPr>
                        </m:ctrlPr>
                      </m:sSubPr>
                      <m:e>
                        <m:r>
                          <a:rPr lang="vi-VN" sz="1350" b="1" i="1">
                            <a:solidFill>
                              <a:schemeClr val="accent1"/>
                            </a:solidFill>
                            <a:latin typeface="Cambria Math" panose="02040503050406030204" pitchFamily="18" charset="0"/>
                          </a:rPr>
                          <m:t>𝜽</m:t>
                        </m:r>
                      </m:e>
                      <m:sub>
                        <m:r>
                          <a:rPr lang="vi-VN" sz="1350" b="1" i="1">
                            <a:solidFill>
                              <a:schemeClr val="accent1"/>
                            </a:solidFill>
                            <a:latin typeface="Cambria Math" panose="02040503050406030204" pitchFamily="18" charset="0"/>
                          </a:rPr>
                          <m:t>𝝓</m:t>
                        </m:r>
                      </m:sub>
                    </m:sSub>
                  </m:oMath>
                </a14:m>
                <a:endParaRPr lang="en-VN" sz="1350" b="1">
                  <a:solidFill>
                    <a:schemeClr val="accent1"/>
                  </a:solidFill>
                </a:endParaRPr>
              </a:p>
            </p:txBody>
          </p:sp>
        </mc:Choice>
        <mc:Fallback xmlns="">
          <p:sp>
            <p:nvSpPr>
              <p:cNvPr id="17" name="TextBox 16">
                <a:extLst>
                  <a:ext uri="{FF2B5EF4-FFF2-40B4-BE49-F238E27FC236}">
                    <a16:creationId xmlns:a16="http://schemas.microsoft.com/office/drawing/2014/main" id="{06C59DC2-CA30-322B-BBA4-6F282CA2C74D}"/>
                  </a:ext>
                </a:extLst>
              </p:cNvPr>
              <p:cNvSpPr txBox="1">
                <a:spLocks noRot="1" noChangeAspect="1" noMove="1" noResize="1" noEditPoints="1" noAdjustHandles="1" noChangeArrowheads="1" noChangeShapeType="1" noTextEdit="1"/>
              </p:cNvSpPr>
              <p:nvPr/>
            </p:nvSpPr>
            <p:spPr>
              <a:xfrm>
                <a:off x="7696409" y="3692598"/>
                <a:ext cx="1363479" cy="318677"/>
              </a:xfrm>
              <a:prstGeom prst="rect">
                <a:avLst/>
              </a:prstGeom>
              <a:blipFill>
                <a:blip r:embed="rId4"/>
                <a:stretch>
                  <a:fillRect l="-1345" t="-1923" b="-15385"/>
                </a:stretch>
              </a:blipFill>
            </p:spPr>
            <p:txBody>
              <a:bodyPr/>
              <a:lstStyle/>
              <a:p>
                <a:r>
                  <a:rPr lang="vi-VN">
                    <a:noFill/>
                  </a:rPr>
                  <a:t> </a:t>
                </a:r>
              </a:p>
            </p:txBody>
          </p:sp>
        </mc:Fallback>
      </mc:AlternateContent>
      <p:cxnSp>
        <p:nvCxnSpPr>
          <p:cNvPr id="20" name="Straight Arrow Connector 19">
            <a:extLst>
              <a:ext uri="{FF2B5EF4-FFF2-40B4-BE49-F238E27FC236}">
                <a16:creationId xmlns:a16="http://schemas.microsoft.com/office/drawing/2014/main" id="{A3E4CD82-687B-09CE-76E1-494EFAD45058}"/>
              </a:ext>
            </a:extLst>
          </p:cNvPr>
          <p:cNvCxnSpPr>
            <a:cxnSpLocks/>
            <a:stCxn id="17" idx="0"/>
          </p:cNvCxnSpPr>
          <p:nvPr/>
        </p:nvCxnSpPr>
        <p:spPr>
          <a:xfrm flipV="1">
            <a:off x="8378149" y="3129545"/>
            <a:ext cx="0" cy="56305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CD9E4119-165D-0E11-BD79-AC2A8D117DE0}"/>
              </a:ext>
            </a:extLst>
          </p:cNvPr>
          <p:cNvSpPr txBox="1">
            <a:spLocks/>
          </p:cNvSpPr>
          <p:nvPr/>
        </p:nvSpPr>
        <p:spPr>
          <a:xfrm>
            <a:off x="628650" y="19845"/>
            <a:ext cx="6466417"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3.2. Encoding</a:t>
            </a:r>
            <a:br>
              <a:rPr lang="en-US"/>
            </a:br>
            <a:r>
              <a:rPr lang="en-US" sz="2000"/>
              <a:t>Diff encoders</a:t>
            </a:r>
            <a:endParaRPr lang="vi-VN" sz="2000"/>
          </a:p>
        </p:txBody>
      </p:sp>
      <p:sp>
        <p:nvSpPr>
          <p:cNvPr id="3" name="Slide Number Placeholder 3">
            <a:extLst>
              <a:ext uri="{FF2B5EF4-FFF2-40B4-BE49-F238E27FC236}">
                <a16:creationId xmlns:a16="http://schemas.microsoft.com/office/drawing/2014/main" id="{30017447-2F17-764B-05AD-2B5B9CE752E1}"/>
              </a:ext>
            </a:extLst>
          </p:cNvPr>
          <p:cNvSpPr>
            <a:spLocks noGrp="1"/>
          </p:cNvSpPr>
          <p:nvPr>
            <p:ph type="sldNum" sz="quarter" idx="12"/>
          </p:nvPr>
        </p:nvSpPr>
        <p:spPr>
          <a:xfrm>
            <a:off x="8013700" y="4767263"/>
            <a:ext cx="501650" cy="273844"/>
          </a:xfrm>
        </p:spPr>
        <p:txBody>
          <a:bodyPr/>
          <a:lstStyle/>
          <a:p>
            <a:fld id="{6A45828D-F580-42DE-B77E-860980F07F32}" type="slidenum">
              <a:rPr lang="vi-VN" smtClean="0"/>
              <a:t>33</a:t>
            </a:fld>
            <a:endParaRPr lang="vi-VN"/>
          </a:p>
        </p:txBody>
      </p:sp>
    </p:spTree>
    <p:extLst>
      <p:ext uri="{BB962C8B-B14F-4D97-AF65-F5344CB8AC3E}">
        <p14:creationId xmlns:p14="http://schemas.microsoft.com/office/powerpoint/2010/main" val="1301859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BBC07-12FD-088A-6FCE-FCBA5878A29F}"/>
              </a:ext>
            </a:extLst>
          </p:cNvPr>
          <p:cNvSpPr>
            <a:spLocks noGrp="1"/>
          </p:cNvSpPr>
          <p:nvPr>
            <p:ph type="title"/>
          </p:nvPr>
        </p:nvSpPr>
        <p:spPr/>
        <p:txBody>
          <a:bodyPr>
            <a:normAutofit/>
          </a:bodyPr>
          <a:lstStyle/>
          <a:p>
            <a:r>
              <a:rPr lang="en-US"/>
              <a:t>3.3.</a:t>
            </a:r>
            <a:r>
              <a:rPr lang="en-VN"/>
              <a:t> </a:t>
            </a:r>
            <a:r>
              <a:rPr lang="en-US" sz="3600">
                <a:solidFill>
                  <a:schemeClr val="tx1"/>
                </a:solidFill>
              </a:rPr>
              <a:t>QML algorithms</a:t>
            </a:r>
            <a:br>
              <a:rPr lang="en-US" sz="3600"/>
            </a:br>
            <a:r>
              <a:rPr lang="en-US" sz="2200">
                <a:solidFill>
                  <a:schemeClr val="tx1"/>
                </a:solidFill>
              </a:rPr>
              <a:t>QkNN</a:t>
            </a:r>
            <a:endParaRPr lang="en-VN" sz="2200"/>
          </a:p>
        </p:txBody>
      </p:sp>
      <p:cxnSp>
        <p:nvCxnSpPr>
          <p:cNvPr id="4" name="Đường kết nối Mũi tên Thẳng 3">
            <a:extLst>
              <a:ext uri="{FF2B5EF4-FFF2-40B4-BE49-F238E27FC236}">
                <a16:creationId xmlns:a16="http://schemas.microsoft.com/office/drawing/2014/main" id="{4435A524-090B-8EF4-4CC5-03E007BBD4C6}"/>
              </a:ext>
            </a:extLst>
          </p:cNvPr>
          <p:cNvCxnSpPr>
            <a:cxnSpLocks/>
          </p:cNvCxnSpPr>
          <p:nvPr/>
        </p:nvCxnSpPr>
        <p:spPr>
          <a:xfrm>
            <a:off x="615192" y="4577902"/>
            <a:ext cx="405224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Đường kết nối Mũi tên Thẳng 5">
            <a:extLst>
              <a:ext uri="{FF2B5EF4-FFF2-40B4-BE49-F238E27FC236}">
                <a16:creationId xmlns:a16="http://schemas.microsoft.com/office/drawing/2014/main" id="{EB22111C-EE76-7873-70B0-8AB9893E870B}"/>
              </a:ext>
            </a:extLst>
          </p:cNvPr>
          <p:cNvCxnSpPr>
            <a:cxnSpLocks/>
          </p:cNvCxnSpPr>
          <p:nvPr/>
        </p:nvCxnSpPr>
        <p:spPr>
          <a:xfrm flipV="1">
            <a:off x="628650" y="1369219"/>
            <a:ext cx="0" cy="321945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Hình Bầu dục 11">
            <a:extLst>
              <a:ext uri="{FF2B5EF4-FFF2-40B4-BE49-F238E27FC236}">
                <a16:creationId xmlns:a16="http://schemas.microsoft.com/office/drawing/2014/main" id="{D7872932-59E1-578B-36D2-821677880E84}"/>
              </a:ext>
            </a:extLst>
          </p:cNvPr>
          <p:cNvSpPr/>
          <p:nvPr/>
        </p:nvSpPr>
        <p:spPr>
          <a:xfrm>
            <a:off x="1002632" y="2628975"/>
            <a:ext cx="279940" cy="29071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7" name="Hình Bầu dục 12">
            <a:extLst>
              <a:ext uri="{FF2B5EF4-FFF2-40B4-BE49-F238E27FC236}">
                <a16:creationId xmlns:a16="http://schemas.microsoft.com/office/drawing/2014/main" id="{7D94EE8C-2D63-BA9D-824E-B062C8196F43}"/>
              </a:ext>
            </a:extLst>
          </p:cNvPr>
          <p:cNvSpPr/>
          <p:nvPr/>
        </p:nvSpPr>
        <p:spPr>
          <a:xfrm>
            <a:off x="1827538" y="1506850"/>
            <a:ext cx="279940" cy="29071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8" name="Hình Bầu dục 13">
            <a:extLst>
              <a:ext uri="{FF2B5EF4-FFF2-40B4-BE49-F238E27FC236}">
                <a16:creationId xmlns:a16="http://schemas.microsoft.com/office/drawing/2014/main" id="{4813ED58-A982-212F-50AC-D0FD20F1D739}"/>
              </a:ext>
            </a:extLst>
          </p:cNvPr>
          <p:cNvSpPr/>
          <p:nvPr/>
        </p:nvSpPr>
        <p:spPr>
          <a:xfrm>
            <a:off x="1934504" y="2367912"/>
            <a:ext cx="279940" cy="29071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9" name="Hình Bầu dục 14">
            <a:extLst>
              <a:ext uri="{FF2B5EF4-FFF2-40B4-BE49-F238E27FC236}">
                <a16:creationId xmlns:a16="http://schemas.microsoft.com/office/drawing/2014/main" id="{ABC27D54-3B63-4CBB-677C-B47B3641F34A}"/>
              </a:ext>
            </a:extLst>
          </p:cNvPr>
          <p:cNvSpPr/>
          <p:nvPr/>
        </p:nvSpPr>
        <p:spPr>
          <a:xfrm>
            <a:off x="3678822" y="2459318"/>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0" name="Hình Bầu dục 15">
            <a:extLst>
              <a:ext uri="{FF2B5EF4-FFF2-40B4-BE49-F238E27FC236}">
                <a16:creationId xmlns:a16="http://schemas.microsoft.com/office/drawing/2014/main" id="{F0878EEA-401A-0465-F8BD-67AD3C672469}"/>
              </a:ext>
            </a:extLst>
          </p:cNvPr>
          <p:cNvSpPr/>
          <p:nvPr/>
        </p:nvSpPr>
        <p:spPr>
          <a:xfrm>
            <a:off x="1926513" y="4063936"/>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1" name="Hình Bầu dục 16">
            <a:extLst>
              <a:ext uri="{FF2B5EF4-FFF2-40B4-BE49-F238E27FC236}">
                <a16:creationId xmlns:a16="http://schemas.microsoft.com/office/drawing/2014/main" id="{F6DE53BE-3053-F794-6A60-C4B366D81AE9}"/>
              </a:ext>
            </a:extLst>
          </p:cNvPr>
          <p:cNvSpPr/>
          <p:nvPr/>
        </p:nvSpPr>
        <p:spPr>
          <a:xfrm>
            <a:off x="2074474" y="2984338"/>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2" name="Hình Bầu dục 17">
            <a:extLst>
              <a:ext uri="{FF2B5EF4-FFF2-40B4-BE49-F238E27FC236}">
                <a16:creationId xmlns:a16="http://schemas.microsoft.com/office/drawing/2014/main" id="{E647BC0D-C842-2FB3-EB31-EDB7F2933A72}"/>
              </a:ext>
            </a:extLst>
          </p:cNvPr>
          <p:cNvSpPr/>
          <p:nvPr/>
        </p:nvSpPr>
        <p:spPr>
          <a:xfrm>
            <a:off x="2610001" y="3292935"/>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3" name="Hình Bầu dục 18">
            <a:extLst>
              <a:ext uri="{FF2B5EF4-FFF2-40B4-BE49-F238E27FC236}">
                <a16:creationId xmlns:a16="http://schemas.microsoft.com/office/drawing/2014/main" id="{FA374DDC-B5DB-0390-30D4-66C600FB3372}"/>
              </a:ext>
            </a:extLst>
          </p:cNvPr>
          <p:cNvSpPr/>
          <p:nvPr/>
        </p:nvSpPr>
        <p:spPr>
          <a:xfrm>
            <a:off x="2470030" y="2702108"/>
            <a:ext cx="279940" cy="2907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4" name="Hình Bầu dục 19">
            <a:extLst>
              <a:ext uri="{FF2B5EF4-FFF2-40B4-BE49-F238E27FC236}">
                <a16:creationId xmlns:a16="http://schemas.microsoft.com/office/drawing/2014/main" id="{C29C81DF-8013-3E8D-794C-9AD296570070}"/>
              </a:ext>
            </a:extLst>
          </p:cNvPr>
          <p:cNvSpPr/>
          <p:nvPr/>
        </p:nvSpPr>
        <p:spPr>
          <a:xfrm>
            <a:off x="3586306" y="3926475"/>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5" name="Hình Bầu dục 20">
            <a:extLst>
              <a:ext uri="{FF2B5EF4-FFF2-40B4-BE49-F238E27FC236}">
                <a16:creationId xmlns:a16="http://schemas.microsoft.com/office/drawing/2014/main" id="{C50CDD25-E57A-412A-CA0F-AA80D821A863}"/>
              </a:ext>
            </a:extLst>
          </p:cNvPr>
          <p:cNvSpPr/>
          <p:nvPr/>
        </p:nvSpPr>
        <p:spPr>
          <a:xfrm>
            <a:off x="3913866" y="3319834"/>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6" name="Hình Bầu dục 21">
            <a:extLst>
              <a:ext uri="{FF2B5EF4-FFF2-40B4-BE49-F238E27FC236}">
                <a16:creationId xmlns:a16="http://schemas.microsoft.com/office/drawing/2014/main" id="{CACECFFA-8C35-4DD1-EFFD-0E041F718EDC}"/>
              </a:ext>
            </a:extLst>
          </p:cNvPr>
          <p:cNvSpPr/>
          <p:nvPr/>
        </p:nvSpPr>
        <p:spPr>
          <a:xfrm>
            <a:off x="1768719" y="2032978"/>
            <a:ext cx="1633184" cy="169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cxnSp>
        <p:nvCxnSpPr>
          <p:cNvPr id="17" name="Đường kết nối Mũi tên Thẳng 22">
            <a:extLst>
              <a:ext uri="{FF2B5EF4-FFF2-40B4-BE49-F238E27FC236}">
                <a16:creationId xmlns:a16="http://schemas.microsoft.com/office/drawing/2014/main" id="{8602D06E-D3AB-B355-A705-47ACA34CF4C7}"/>
              </a:ext>
            </a:extLst>
          </p:cNvPr>
          <p:cNvCxnSpPr>
            <a:cxnSpLocks/>
            <a:stCxn id="13" idx="1"/>
            <a:endCxn id="8" idx="6"/>
          </p:cNvCxnSpPr>
          <p:nvPr/>
        </p:nvCxnSpPr>
        <p:spPr>
          <a:xfrm flipH="1" flipV="1">
            <a:off x="2214446" y="2513267"/>
            <a:ext cx="296583" cy="23141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8" name="Đường kết nối Mũi tên Thẳng 26">
            <a:extLst>
              <a:ext uri="{FF2B5EF4-FFF2-40B4-BE49-F238E27FC236}">
                <a16:creationId xmlns:a16="http://schemas.microsoft.com/office/drawing/2014/main" id="{DD0A4431-B744-2308-EE37-DFC21CFEFF2E}"/>
              </a:ext>
            </a:extLst>
          </p:cNvPr>
          <p:cNvCxnSpPr>
            <a:cxnSpLocks/>
            <a:stCxn id="13" idx="2"/>
            <a:endCxn id="11" idx="7"/>
          </p:cNvCxnSpPr>
          <p:nvPr/>
        </p:nvCxnSpPr>
        <p:spPr>
          <a:xfrm flipH="1">
            <a:off x="2313418" y="2847465"/>
            <a:ext cx="156613" cy="17944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Đường kết nối Mũi tên Thẳng 29">
            <a:extLst>
              <a:ext uri="{FF2B5EF4-FFF2-40B4-BE49-F238E27FC236}">
                <a16:creationId xmlns:a16="http://schemas.microsoft.com/office/drawing/2014/main" id="{1EBAC0AB-CE9F-6A9D-2673-8EAD465C7371}"/>
              </a:ext>
            </a:extLst>
          </p:cNvPr>
          <p:cNvCxnSpPr>
            <a:cxnSpLocks/>
            <a:stCxn id="13" idx="4"/>
            <a:endCxn id="12" idx="0"/>
          </p:cNvCxnSpPr>
          <p:nvPr/>
        </p:nvCxnSpPr>
        <p:spPr>
          <a:xfrm>
            <a:off x="2610002" y="2992820"/>
            <a:ext cx="139971" cy="30011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Đường kết nối Mũi tên Thẳng 32">
            <a:extLst>
              <a:ext uri="{FF2B5EF4-FFF2-40B4-BE49-F238E27FC236}">
                <a16:creationId xmlns:a16="http://schemas.microsoft.com/office/drawing/2014/main" id="{8E0B40E1-5EA8-DC2D-34C6-C0628F57DA12}"/>
              </a:ext>
            </a:extLst>
          </p:cNvPr>
          <p:cNvCxnSpPr>
            <a:cxnSpLocks/>
            <a:stCxn id="13" idx="0"/>
            <a:endCxn id="7" idx="5"/>
          </p:cNvCxnSpPr>
          <p:nvPr/>
        </p:nvCxnSpPr>
        <p:spPr>
          <a:xfrm flipH="1" flipV="1">
            <a:off x="2066482" y="1754987"/>
            <a:ext cx="543519" cy="94712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Đường kết nối Mũi tên Thẳng 35">
            <a:extLst>
              <a:ext uri="{FF2B5EF4-FFF2-40B4-BE49-F238E27FC236}">
                <a16:creationId xmlns:a16="http://schemas.microsoft.com/office/drawing/2014/main" id="{968B7F80-21B3-FD31-B445-C6E754DD58A9}"/>
              </a:ext>
            </a:extLst>
          </p:cNvPr>
          <p:cNvCxnSpPr>
            <a:cxnSpLocks/>
            <a:stCxn id="13" idx="7"/>
            <a:endCxn id="9" idx="2"/>
          </p:cNvCxnSpPr>
          <p:nvPr/>
        </p:nvCxnSpPr>
        <p:spPr>
          <a:xfrm flipV="1">
            <a:off x="2708976" y="2604674"/>
            <a:ext cx="969847" cy="14000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Đường kết nối Mũi tên Thẳng 38">
            <a:extLst>
              <a:ext uri="{FF2B5EF4-FFF2-40B4-BE49-F238E27FC236}">
                <a16:creationId xmlns:a16="http://schemas.microsoft.com/office/drawing/2014/main" id="{591CBD20-90B5-DE2E-C6E2-644AD6EF8E8D}"/>
              </a:ext>
            </a:extLst>
          </p:cNvPr>
          <p:cNvCxnSpPr>
            <a:cxnSpLocks/>
            <a:stCxn id="13" idx="5"/>
            <a:endCxn id="14" idx="1"/>
          </p:cNvCxnSpPr>
          <p:nvPr/>
        </p:nvCxnSpPr>
        <p:spPr>
          <a:xfrm>
            <a:off x="2708974" y="2950247"/>
            <a:ext cx="918328" cy="101880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3" name="Đường kết nối Mũi tên Thẳng 41">
            <a:extLst>
              <a:ext uri="{FF2B5EF4-FFF2-40B4-BE49-F238E27FC236}">
                <a16:creationId xmlns:a16="http://schemas.microsoft.com/office/drawing/2014/main" id="{03073DED-21CB-A494-917A-BCF0025360EF}"/>
              </a:ext>
            </a:extLst>
          </p:cNvPr>
          <p:cNvCxnSpPr>
            <a:cxnSpLocks/>
            <a:stCxn id="13" idx="6"/>
            <a:endCxn id="15" idx="2"/>
          </p:cNvCxnSpPr>
          <p:nvPr/>
        </p:nvCxnSpPr>
        <p:spPr>
          <a:xfrm>
            <a:off x="2749973" y="2847465"/>
            <a:ext cx="1163895" cy="61772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44">
            <a:extLst>
              <a:ext uri="{FF2B5EF4-FFF2-40B4-BE49-F238E27FC236}">
                <a16:creationId xmlns:a16="http://schemas.microsoft.com/office/drawing/2014/main" id="{CE7189EA-8D47-B8D3-8159-1023E80FA26F}"/>
              </a:ext>
            </a:extLst>
          </p:cNvPr>
          <p:cNvCxnSpPr>
            <a:cxnSpLocks/>
            <a:stCxn id="13" idx="3"/>
            <a:endCxn id="10" idx="7"/>
          </p:cNvCxnSpPr>
          <p:nvPr/>
        </p:nvCxnSpPr>
        <p:spPr>
          <a:xfrm flipH="1">
            <a:off x="2165456" y="2950248"/>
            <a:ext cx="345571" cy="115626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47">
            <a:extLst>
              <a:ext uri="{FF2B5EF4-FFF2-40B4-BE49-F238E27FC236}">
                <a16:creationId xmlns:a16="http://schemas.microsoft.com/office/drawing/2014/main" id="{16ADF3E3-B7D4-4118-D3BE-FBA9F5876DE7}"/>
              </a:ext>
            </a:extLst>
          </p:cNvPr>
          <p:cNvCxnSpPr>
            <a:cxnSpLocks/>
            <a:stCxn id="13" idx="2"/>
            <a:endCxn id="6" idx="6"/>
          </p:cNvCxnSpPr>
          <p:nvPr/>
        </p:nvCxnSpPr>
        <p:spPr>
          <a:xfrm flipH="1" flipV="1">
            <a:off x="1282572" y="2774331"/>
            <a:ext cx="1187459" cy="731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6" name="Hộp Văn bản 50">
                <a:extLst>
                  <a:ext uri="{FF2B5EF4-FFF2-40B4-BE49-F238E27FC236}">
                    <a16:creationId xmlns:a16="http://schemas.microsoft.com/office/drawing/2014/main" id="{CB891367-FFE7-A093-BAE2-C9798B9106DE}"/>
                  </a:ext>
                </a:extLst>
              </p:cNvPr>
              <p:cNvSpPr txBox="1"/>
              <p:nvPr/>
            </p:nvSpPr>
            <p:spPr>
              <a:xfrm>
                <a:off x="4448369" y="1305534"/>
                <a:ext cx="4695631" cy="1077218"/>
              </a:xfrm>
              <a:prstGeom prst="rect">
                <a:avLst/>
              </a:prstGeom>
              <a:noFill/>
            </p:spPr>
            <p:txBody>
              <a:bodyPr wrap="square" rtlCol="0">
                <a:spAutoFit/>
              </a:bodyPr>
              <a:lstStyle/>
              <a:p>
                <a:r>
                  <a:rPr lang="en-US" sz="1600"/>
                  <a:t>For each test data point </a:t>
                </a:r>
                <a14:m>
                  <m:oMath xmlns:m="http://schemas.openxmlformats.org/officeDocument/2006/math">
                    <m:r>
                      <a:rPr lang="en-US" sz="1600" i="1">
                        <a:latin typeface="Cambria Math" panose="02040503050406030204" pitchFamily="18" charset="0"/>
                      </a:rPr>
                      <m:t>𝑎</m:t>
                    </m:r>
                  </m:oMath>
                </a14:m>
                <a:r>
                  <a:rPr lang="en-US" sz="1600"/>
                  <a:t>:</a:t>
                </a:r>
              </a:p>
              <a:p>
                <a:r>
                  <a:rPr lang="en-US" sz="1600"/>
                  <a:t>   Step 1: Calculate </a:t>
                </a:r>
                <a14:m>
                  <m:oMath xmlns:m="http://schemas.openxmlformats.org/officeDocument/2006/math">
                    <m:sSub>
                      <m:sSubPr>
                        <m:ctrlPr>
                          <a:rPr lang="vi-VN" sz="1600" b="0" i="1">
                            <a:latin typeface="Cambria Math" panose="02040503050406030204" pitchFamily="18" charset="0"/>
                          </a:rPr>
                        </m:ctrlPr>
                      </m:sSubPr>
                      <m:e>
                        <m:r>
                          <m:rPr>
                            <m:sty m:val="p"/>
                          </m:rPr>
                          <a:rPr lang="en-US" sz="1600">
                            <a:latin typeface="Cambria Math" panose="02040503050406030204" pitchFamily="18" charset="0"/>
                          </a:rPr>
                          <m:t>Ds</m:t>
                        </m:r>
                      </m:e>
                      <m:sub>
                        <m:r>
                          <m:rPr>
                            <m:sty m:val="p"/>
                          </m:rPr>
                          <a:rPr lang="vi-VN" sz="1600" i="1">
                            <a:latin typeface="Cambria Math" panose="02040503050406030204" pitchFamily="18" charset="0"/>
                          </a:rPr>
                          <m:t>a</m:t>
                        </m:r>
                      </m:sub>
                    </m:sSub>
                    <m:r>
                      <a:rPr lang="en-US" sz="1600" i="1">
                        <a:latin typeface="Cambria Math" panose="02040503050406030204" pitchFamily="18" charset="0"/>
                      </a:rPr>
                      <m:t>=</m:t>
                    </m:r>
                    <m:r>
                      <a:rPr lang="en-US" sz="1600" i="1">
                        <a:latin typeface="Cambria Math" panose="02040503050406030204" pitchFamily="18" charset="0"/>
                      </a:rPr>
                      <m:t>𝑑𝑖𝑠𝑡</m:t>
                    </m:r>
                    <m:d>
                      <m:dPr>
                        <m:ctrlPr>
                          <a:rPr lang="en-US" sz="1600" i="1">
                            <a:latin typeface="Cambria Math" panose="02040503050406030204" pitchFamily="18" charset="0"/>
                          </a:rPr>
                        </m:ctrlPr>
                      </m:dPr>
                      <m:e>
                        <m:r>
                          <a:rPr lang="en-US" sz="1600" i="1">
                            <a:latin typeface="Cambria Math" panose="02040503050406030204" pitchFamily="18" charset="0"/>
                          </a:rPr>
                          <m:t>𝑎</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e>
                    </m:d>
                    <m:r>
                      <a:rPr lang="en-US" sz="1600" i="1">
                        <a:latin typeface="Cambria Math" panose="02040503050406030204" pitchFamily="18" charset="0"/>
                      </a:rPr>
                      <m:t> </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=1..</m:t>
                    </m:r>
                    <m:r>
                      <a:rPr lang="en-US" sz="1600" i="1">
                        <a:latin typeface="Cambria Math" panose="02040503050406030204" pitchFamily="18" charset="0"/>
                        <a:ea typeface="Cambria Math" panose="02040503050406030204" pitchFamily="18" charset="0"/>
                      </a:rPr>
                      <m:t>𝑛</m:t>
                    </m:r>
                  </m:oMath>
                </a14:m>
                <a:endParaRPr lang="en-US" sz="1600"/>
              </a:p>
              <a:p>
                <a:r>
                  <a:rPr lang="en-US" sz="1600"/>
                  <a:t>   Step 2: Sort and get </a:t>
                </a:r>
                <a14:m>
                  <m:oMath xmlns:m="http://schemas.openxmlformats.org/officeDocument/2006/math">
                    <m:r>
                      <a:rPr lang="en-US" sz="1600" i="1">
                        <a:latin typeface="Cambria Math" panose="02040503050406030204" pitchFamily="18" charset="0"/>
                      </a:rPr>
                      <m:t>𝑘</m:t>
                    </m:r>
                  </m:oMath>
                </a14:m>
                <a:r>
                  <a:rPr lang="en-US" sz="1600"/>
                  <a:t> smallest dist in </a:t>
                </a:r>
                <a14:m>
                  <m:oMath xmlns:m="http://schemas.openxmlformats.org/officeDocument/2006/math">
                    <m:r>
                      <m:rPr>
                        <m:sty m:val="p"/>
                      </m:rPr>
                      <a:rPr lang="en-US" sz="1600" i="0">
                        <a:latin typeface="Cambria Math" panose="02040503050406030204" pitchFamily="18" charset="0"/>
                      </a:rPr>
                      <m:t>D</m:t>
                    </m:r>
                    <m:sSub>
                      <m:sSubPr>
                        <m:ctrlPr>
                          <a:rPr lang="vi-VN" sz="1600" b="0" i="1">
                            <a:latin typeface="Cambria Math" panose="02040503050406030204" pitchFamily="18" charset="0"/>
                          </a:rPr>
                        </m:ctrlPr>
                      </m:sSubPr>
                      <m:e>
                        <m:r>
                          <m:rPr>
                            <m:sty m:val="p"/>
                          </m:rPr>
                          <a:rPr lang="en-US" sz="1600" i="0">
                            <a:latin typeface="Cambria Math" panose="02040503050406030204" pitchFamily="18" charset="0"/>
                          </a:rPr>
                          <m:t>s</m:t>
                        </m:r>
                      </m:e>
                      <m:sub>
                        <m:r>
                          <m:rPr>
                            <m:sty m:val="p"/>
                          </m:rPr>
                          <a:rPr lang="vi-VN" sz="1600" i="0">
                            <a:latin typeface="Cambria Math" panose="02040503050406030204" pitchFamily="18" charset="0"/>
                          </a:rPr>
                          <m:t>a</m:t>
                        </m:r>
                      </m:sub>
                    </m:sSub>
                  </m:oMath>
                </a14:m>
                <a:r>
                  <a:rPr lang="en-US" sz="1600"/>
                  <a:t>.</a:t>
                </a:r>
              </a:p>
              <a:p>
                <a:r>
                  <a:rPr lang="en-US" sz="1600"/>
                  <a:t>   Step 3: Get </a:t>
                </a:r>
                <a14:m>
                  <m:oMath xmlns:m="http://schemas.openxmlformats.org/officeDocument/2006/math">
                    <m:r>
                      <a:rPr lang="en-US" sz="1600" i="1">
                        <a:latin typeface="Cambria Math" panose="02040503050406030204" pitchFamily="18" charset="0"/>
                      </a:rPr>
                      <m:t>𝑘</m:t>
                    </m:r>
                  </m:oMath>
                </a14:m>
                <a:r>
                  <a:rPr lang="en-US" sz="1600"/>
                  <a:t> corresponding label and do major vote</a:t>
                </a:r>
                <a:endParaRPr lang="vi-VN" sz="1600"/>
              </a:p>
            </p:txBody>
          </p:sp>
        </mc:Choice>
        <mc:Fallback xmlns="">
          <p:sp>
            <p:nvSpPr>
              <p:cNvPr id="26" name="Hộp Văn bản 50">
                <a:extLst>
                  <a:ext uri="{FF2B5EF4-FFF2-40B4-BE49-F238E27FC236}">
                    <a16:creationId xmlns:a16="http://schemas.microsoft.com/office/drawing/2014/main" id="{CB891367-FFE7-A093-BAE2-C9798B9106DE}"/>
                  </a:ext>
                </a:extLst>
              </p:cNvPr>
              <p:cNvSpPr txBox="1">
                <a:spLocks noRot="1" noChangeAspect="1" noMove="1" noResize="1" noEditPoints="1" noAdjustHandles="1" noChangeArrowheads="1" noChangeShapeType="1" noTextEdit="1"/>
              </p:cNvSpPr>
              <p:nvPr/>
            </p:nvSpPr>
            <p:spPr>
              <a:xfrm>
                <a:off x="4448369" y="1305534"/>
                <a:ext cx="4695631" cy="1077218"/>
              </a:xfrm>
              <a:prstGeom prst="rect">
                <a:avLst/>
              </a:prstGeom>
              <a:blipFill>
                <a:blip r:embed="rId3"/>
                <a:stretch>
                  <a:fillRect l="-779" t="-1695" b="-621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Hộp Văn bản 50">
                <a:extLst>
                  <a:ext uri="{FF2B5EF4-FFF2-40B4-BE49-F238E27FC236}">
                    <a16:creationId xmlns:a16="http://schemas.microsoft.com/office/drawing/2014/main" id="{EBCD8AB1-0083-427F-3B8D-850EA95BE732}"/>
                  </a:ext>
                </a:extLst>
              </p:cNvPr>
              <p:cNvSpPr txBox="1"/>
              <p:nvPr/>
            </p:nvSpPr>
            <p:spPr>
              <a:xfrm>
                <a:off x="4448369" y="2344864"/>
                <a:ext cx="4443113" cy="1323439"/>
              </a:xfrm>
              <a:prstGeom prst="rect">
                <a:avLst/>
              </a:prstGeom>
              <a:noFill/>
            </p:spPr>
            <p:txBody>
              <a:bodyPr wrap="square" rtlCol="0">
                <a:spAutoFit/>
              </a:bodyPr>
              <a:lstStyle/>
              <a:p>
                <a:r>
                  <a:rPr lang="vi-VN" sz="1600">
                    <a:latin typeface="Calibri" panose="020F0502020204030204" pitchFamily="34" charset="0"/>
                    <a:cs typeface="Calibri" panose="020F0502020204030204" pitchFamily="34" charset="0"/>
                  </a:rPr>
                  <a:t>Time complexity:</a:t>
                </a:r>
                <a:r>
                  <a:rPr lang="en-US" sz="1600">
                    <a:latin typeface="Calibri" panose="020F0502020204030204" pitchFamily="34" charset="0"/>
                    <a:cs typeface="Calibri" panose="020F0502020204030204" pitchFamily="34" charset="0"/>
                  </a:rPr>
                  <a:t> </a:t>
                </a:r>
                <a14:m>
                  <m:oMath xmlns:m="http://schemas.openxmlformats.org/officeDocument/2006/math">
                    <m:r>
                      <a:rPr lang="vi-VN" sz="1600" i="1">
                        <a:latin typeface="Cambria Math" panose="02040503050406030204" pitchFamily="18" charset="0"/>
                        <a:ea typeface="Cambria Math" panose="02040503050406030204" pitchFamily="18" charset="0"/>
                      </a:rPr>
                      <m:t>𝒪</m:t>
                    </m:r>
                    <m:r>
                      <a:rPr lang="vi-VN" sz="1600" b="0" i="1">
                        <a:latin typeface="Cambria Math" panose="02040503050406030204" pitchFamily="18" charset="0"/>
                        <a:ea typeface="Cambria Math" panose="02040503050406030204" pitchFamily="18" charset="0"/>
                      </a:rPr>
                      <m:t>(</m:t>
                    </m:r>
                    <m:sSub>
                      <m:sSubPr>
                        <m:ctrlPr>
                          <a:rPr lang="vi-VN" sz="1600" b="0" i="1">
                            <a:latin typeface="Cambria Math" panose="02040503050406030204" pitchFamily="18" charset="0"/>
                            <a:ea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𝑚𝑛𝑛</m:t>
                        </m:r>
                      </m:e>
                      <m:sub>
                        <m:r>
                          <m:rPr>
                            <m:sty m:val="p"/>
                          </m:rPr>
                          <a:rPr lang="vi-VN" sz="1600" i="1">
                            <a:latin typeface="Cambria Math" panose="02040503050406030204" pitchFamily="18" charset="0"/>
                            <a:ea typeface="Cambria Math" panose="02040503050406030204" pitchFamily="18" charset="0"/>
                          </a:rPr>
                          <m:t>test</m:t>
                        </m:r>
                      </m:sub>
                    </m:sSub>
                    <m:r>
                      <a:rPr lang="vi-VN" sz="1600" b="0" i="1">
                        <a:latin typeface="Cambria Math" panose="02040503050406030204" pitchFamily="18" charset="0"/>
                        <a:ea typeface="Cambria Math" panose="02040503050406030204" pitchFamily="18" charset="0"/>
                      </a:rPr>
                      <m:t>)</m:t>
                    </m:r>
                  </m:oMath>
                </a14:m>
                <a:endParaRPr lang="vi-VN" sz="1600">
                  <a:latin typeface="Calibri" panose="020F0502020204030204" pitchFamily="34" charset="0"/>
                  <a:cs typeface="Calibri" panose="020F0502020204030204" pitchFamily="34" charset="0"/>
                </a:endParaRPr>
              </a:p>
              <a:p>
                <a:r>
                  <a:rPr lang="en-US" sz="1600">
                    <a:latin typeface="Calibri" panose="020F0502020204030204" pitchFamily="34" charset="0"/>
                    <a:cs typeface="Calibri" panose="020F0502020204030204" pitchFamily="34" charset="0"/>
                  </a:rPr>
                  <a:t>w</a:t>
                </a:r>
                <a:r>
                  <a:rPr lang="vi-VN" sz="1600">
                    <a:latin typeface="Calibri" panose="020F0502020204030204" pitchFamily="34" charset="0"/>
                    <a:cs typeface="Calibri" panose="020F0502020204030204" pitchFamily="34" charset="0"/>
                  </a:rPr>
                  <a:t>here:</a:t>
                </a:r>
                <a:endParaRPr lang="en-US" sz="1600">
                  <a:latin typeface="Calibri" panose="020F0502020204030204" pitchFamily="34" charset="0"/>
                  <a:cs typeface="Calibri" panose="020F0502020204030204" pitchFamily="34" charset="0"/>
                </a:endParaRPr>
              </a:p>
              <a:p>
                <a:r>
                  <a:rPr lang="en-US" sz="1600">
                    <a:latin typeface="Calibri" panose="020F0502020204030204" pitchFamily="34" charset="0"/>
                    <a:cs typeface="Calibri" panose="020F0502020204030204" pitchFamily="34" charset="0"/>
                  </a:rPr>
                  <a:t>   </a:t>
                </a:r>
                <a14:m>
                  <m:oMath xmlns:m="http://schemas.openxmlformats.org/officeDocument/2006/math">
                    <m:r>
                      <a:rPr lang="vi-VN" sz="1600" i="1">
                        <a:latin typeface="Cambria Math" panose="02040503050406030204" pitchFamily="18" charset="0"/>
                        <a:cs typeface="Calibri" panose="020F0502020204030204" pitchFamily="34" charset="0"/>
                      </a:rPr>
                      <m:t>𝑚</m:t>
                    </m:r>
                  </m:oMath>
                </a14:m>
                <a:r>
                  <a:rPr lang="vi-VN" sz="1600">
                    <a:latin typeface="Calibri" panose="020F0502020204030204" pitchFamily="34" charset="0"/>
                    <a:cs typeface="Calibri" panose="020F0502020204030204" pitchFamily="34" charset="0"/>
                  </a:rPr>
                  <a:t>: dimensional of </a:t>
                </a:r>
                <a14:m>
                  <m:oMath xmlns:m="http://schemas.openxmlformats.org/officeDocument/2006/math">
                    <m:sSub>
                      <m:sSubPr>
                        <m:ctrlPr>
                          <a:rPr lang="vi-VN" sz="1600" b="0" i="1">
                            <a:latin typeface="Cambria Math" panose="02040503050406030204" pitchFamily="18" charset="0"/>
                          </a:rPr>
                        </m:ctrlPr>
                      </m:sSubPr>
                      <m:e>
                        <m:r>
                          <a:rPr lang="vi-VN" sz="1600" i="1">
                            <a:latin typeface="Cambria Math" panose="02040503050406030204" pitchFamily="18" charset="0"/>
                          </a:rPr>
                          <m:t>𝑥</m:t>
                        </m:r>
                      </m:e>
                      <m:sub>
                        <m:r>
                          <a:rPr lang="vi-VN" sz="1600" i="1">
                            <a:latin typeface="Cambria Math" panose="02040503050406030204" pitchFamily="18" charset="0"/>
                          </a:rPr>
                          <m:t>𝑖</m:t>
                        </m:r>
                      </m:sub>
                    </m:sSub>
                  </m:oMath>
                </a14:m>
                <a:endParaRPr lang="vi-VN" sz="1600" i="1">
                  <a:latin typeface="Calibri" panose="020F0502020204030204" pitchFamily="34" charset="0"/>
                  <a:cs typeface="Calibri" panose="020F0502020204030204" pitchFamily="34" charset="0"/>
                </a:endParaRPr>
              </a:p>
              <a:p>
                <a:r>
                  <a:rPr lang="en-US" sz="1600" i="1">
                    <a:latin typeface="Calibri" panose="020F0502020204030204" pitchFamily="34" charset="0"/>
                    <a:cs typeface="Calibri" panose="020F0502020204030204" pitchFamily="34" charset="0"/>
                  </a:rPr>
                  <a:t>   </a:t>
                </a:r>
                <a14:m>
                  <m:oMath xmlns:m="http://schemas.openxmlformats.org/officeDocument/2006/math">
                    <m:r>
                      <a:rPr lang="vi-VN" sz="1600" i="1">
                        <a:latin typeface="Cambria Math" panose="02040503050406030204" pitchFamily="18" charset="0"/>
                        <a:cs typeface="Calibri" panose="020F0502020204030204" pitchFamily="34" charset="0"/>
                      </a:rPr>
                      <m:t>𝑛</m:t>
                    </m:r>
                  </m:oMath>
                </a14:m>
                <a:r>
                  <a:rPr lang="vi-VN" sz="1600" i="1">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train data points</a:t>
                </a:r>
              </a:p>
              <a:p>
                <a:r>
                  <a:rPr lang="en-US" sz="1600" i="1">
                    <a:latin typeface="Calibri" panose="020F0502020204030204" pitchFamily="34" charset="0"/>
                    <a:cs typeface="Calibri" panose="020F0502020204030204" pitchFamily="34" charset="0"/>
                  </a:rPr>
                  <a:t>   </a:t>
                </a:r>
                <a14:m>
                  <m:oMath xmlns:m="http://schemas.openxmlformats.org/officeDocument/2006/math">
                    <m:sSub>
                      <m:sSubPr>
                        <m:ctrlPr>
                          <a:rPr lang="vi-VN" sz="1600" b="0" i="1" smtClean="0">
                            <a:latin typeface="Cambria Math" panose="02040503050406030204" pitchFamily="18" charset="0"/>
                          </a:rPr>
                        </m:ctrlPr>
                      </m:sSubPr>
                      <m:e>
                        <m:r>
                          <a:rPr lang="vi-VN" sz="1600" i="1">
                            <a:latin typeface="Cambria Math" panose="02040503050406030204" pitchFamily="18" charset="0"/>
                          </a:rPr>
                          <m:t>𝑛</m:t>
                        </m:r>
                      </m:e>
                      <m:sub>
                        <m:r>
                          <m:rPr>
                            <m:sty m:val="p"/>
                          </m:rPr>
                          <a:rPr lang="vi-VN" sz="1600" i="1">
                            <a:latin typeface="Cambria Math" panose="02040503050406030204" pitchFamily="18" charset="0"/>
                          </a:rPr>
                          <m:t>test</m:t>
                        </m:r>
                      </m:sub>
                    </m:sSub>
                    <m:r>
                      <a:rPr lang="vi-VN" sz="1600" b="0" i="1">
                        <a:latin typeface="Cambria Math" panose="02040503050406030204" pitchFamily="18" charset="0"/>
                      </a:rPr>
                      <m:t>:</m:t>
                    </m:r>
                  </m:oMath>
                </a14:m>
                <a:r>
                  <a:rPr lang="vi-VN" sz="1600" i="1">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test data points</a:t>
                </a:r>
              </a:p>
            </p:txBody>
          </p:sp>
        </mc:Choice>
        <mc:Fallback xmlns="">
          <p:sp>
            <p:nvSpPr>
              <p:cNvPr id="28" name="Hộp Văn bản 50">
                <a:extLst>
                  <a:ext uri="{FF2B5EF4-FFF2-40B4-BE49-F238E27FC236}">
                    <a16:creationId xmlns:a16="http://schemas.microsoft.com/office/drawing/2014/main" id="{EBCD8AB1-0083-427F-3B8D-850EA95BE732}"/>
                  </a:ext>
                </a:extLst>
              </p:cNvPr>
              <p:cNvSpPr txBox="1">
                <a:spLocks noRot="1" noChangeAspect="1" noMove="1" noResize="1" noEditPoints="1" noAdjustHandles="1" noChangeArrowheads="1" noChangeShapeType="1" noTextEdit="1"/>
              </p:cNvSpPr>
              <p:nvPr/>
            </p:nvSpPr>
            <p:spPr>
              <a:xfrm>
                <a:off x="4448369" y="2344864"/>
                <a:ext cx="4443113" cy="1323439"/>
              </a:xfrm>
              <a:prstGeom prst="rect">
                <a:avLst/>
              </a:prstGeom>
              <a:blipFill>
                <a:blip r:embed="rId4"/>
                <a:stretch>
                  <a:fillRect l="-823" t="-1382" b="-5069"/>
                </a:stretch>
              </a:blipFill>
            </p:spPr>
            <p:txBody>
              <a:bodyPr/>
              <a:lstStyle/>
              <a:p>
                <a:r>
                  <a:rPr lang="vi-VN">
                    <a:noFill/>
                  </a:rPr>
                  <a:t> </a:t>
                </a:r>
              </a:p>
            </p:txBody>
          </p:sp>
        </mc:Fallback>
      </mc:AlternateContent>
      <p:sp>
        <p:nvSpPr>
          <p:cNvPr id="29" name="Hình Bầu dục 14">
            <a:extLst>
              <a:ext uri="{FF2B5EF4-FFF2-40B4-BE49-F238E27FC236}">
                <a16:creationId xmlns:a16="http://schemas.microsoft.com/office/drawing/2014/main" id="{F98E453C-5291-07CA-03A7-2605CA6B94B1}"/>
              </a:ext>
            </a:extLst>
          </p:cNvPr>
          <p:cNvSpPr/>
          <p:nvPr/>
        </p:nvSpPr>
        <p:spPr>
          <a:xfrm>
            <a:off x="3053930" y="1373102"/>
            <a:ext cx="166498" cy="172905"/>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30" name="Hình Bầu dục 14">
            <a:extLst>
              <a:ext uri="{FF2B5EF4-FFF2-40B4-BE49-F238E27FC236}">
                <a16:creationId xmlns:a16="http://schemas.microsoft.com/office/drawing/2014/main" id="{1BFDA837-8480-89BD-4625-0B601A30FDC0}"/>
              </a:ext>
            </a:extLst>
          </p:cNvPr>
          <p:cNvSpPr/>
          <p:nvPr/>
        </p:nvSpPr>
        <p:spPr>
          <a:xfrm>
            <a:off x="3053930" y="1591459"/>
            <a:ext cx="166498" cy="17290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solidFill>
                <a:sysClr val="windowText" lastClr="000000"/>
              </a:solidFill>
            </a:endParaRPr>
          </a:p>
        </p:txBody>
      </p:sp>
      <p:sp>
        <p:nvSpPr>
          <p:cNvPr id="31" name="Hình Bầu dục 14">
            <a:extLst>
              <a:ext uri="{FF2B5EF4-FFF2-40B4-BE49-F238E27FC236}">
                <a16:creationId xmlns:a16="http://schemas.microsoft.com/office/drawing/2014/main" id="{A6CB3805-F9E5-05C8-084B-1CEB2D560C42}"/>
              </a:ext>
            </a:extLst>
          </p:cNvPr>
          <p:cNvSpPr/>
          <p:nvPr/>
        </p:nvSpPr>
        <p:spPr>
          <a:xfrm>
            <a:off x="3053930" y="1809816"/>
            <a:ext cx="166498" cy="17290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32" name="TextBox 31">
            <a:extLst>
              <a:ext uri="{FF2B5EF4-FFF2-40B4-BE49-F238E27FC236}">
                <a16:creationId xmlns:a16="http://schemas.microsoft.com/office/drawing/2014/main" id="{C8A6EE59-996C-5B9B-8520-DC7B45FF49FF}"/>
              </a:ext>
            </a:extLst>
          </p:cNvPr>
          <p:cNvSpPr txBox="1"/>
          <p:nvPr/>
        </p:nvSpPr>
        <p:spPr>
          <a:xfrm>
            <a:off x="3193899" y="1320109"/>
            <a:ext cx="864991" cy="246221"/>
          </a:xfrm>
          <a:prstGeom prst="rect">
            <a:avLst/>
          </a:prstGeom>
          <a:noFill/>
        </p:spPr>
        <p:txBody>
          <a:bodyPr wrap="square" rtlCol="0">
            <a:spAutoFit/>
          </a:bodyPr>
          <a:lstStyle/>
          <a:p>
            <a:r>
              <a:rPr lang="en-VN" sz="1000"/>
              <a:t>positive</a:t>
            </a:r>
          </a:p>
        </p:txBody>
      </p:sp>
      <p:sp>
        <p:nvSpPr>
          <p:cNvPr id="33" name="TextBox 32">
            <a:extLst>
              <a:ext uri="{FF2B5EF4-FFF2-40B4-BE49-F238E27FC236}">
                <a16:creationId xmlns:a16="http://schemas.microsoft.com/office/drawing/2014/main" id="{0D21736F-C54D-38F7-3FBF-F139DDD65983}"/>
              </a:ext>
            </a:extLst>
          </p:cNvPr>
          <p:cNvSpPr txBox="1"/>
          <p:nvPr/>
        </p:nvSpPr>
        <p:spPr>
          <a:xfrm>
            <a:off x="3198037" y="1536090"/>
            <a:ext cx="864991" cy="246221"/>
          </a:xfrm>
          <a:prstGeom prst="rect">
            <a:avLst/>
          </a:prstGeom>
          <a:noFill/>
        </p:spPr>
        <p:txBody>
          <a:bodyPr wrap="square" rtlCol="0">
            <a:spAutoFit/>
          </a:bodyPr>
          <a:lstStyle/>
          <a:p>
            <a:r>
              <a:rPr lang="en-VN" sz="1000"/>
              <a:t>negative</a:t>
            </a:r>
          </a:p>
        </p:txBody>
      </p:sp>
      <p:sp>
        <p:nvSpPr>
          <p:cNvPr id="34" name="TextBox 33">
            <a:extLst>
              <a:ext uri="{FF2B5EF4-FFF2-40B4-BE49-F238E27FC236}">
                <a16:creationId xmlns:a16="http://schemas.microsoft.com/office/drawing/2014/main" id="{A806C796-5AA9-C286-82CD-33EDE41AC6F6}"/>
              </a:ext>
            </a:extLst>
          </p:cNvPr>
          <p:cNvSpPr txBox="1"/>
          <p:nvPr/>
        </p:nvSpPr>
        <p:spPr>
          <a:xfrm>
            <a:off x="3193899" y="1776966"/>
            <a:ext cx="969847" cy="246221"/>
          </a:xfrm>
          <a:prstGeom prst="rect">
            <a:avLst/>
          </a:prstGeom>
          <a:noFill/>
        </p:spPr>
        <p:txBody>
          <a:bodyPr wrap="square" rtlCol="0">
            <a:spAutoFit/>
          </a:bodyPr>
          <a:lstStyle/>
          <a:p>
            <a:r>
              <a:rPr lang="en-VN" sz="1000"/>
              <a:t>undetermined</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BF9E9EE-AE82-36CB-6099-044445D64D1F}"/>
                  </a:ext>
                </a:extLst>
              </p:cNvPr>
              <p:cNvSpPr txBox="1"/>
              <p:nvPr/>
            </p:nvSpPr>
            <p:spPr>
              <a:xfrm>
                <a:off x="2384665" y="2407171"/>
                <a:ext cx="969847"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VN" sz="1000" i="1">
                          <a:latin typeface="Cambria Math" panose="02040503050406030204" pitchFamily="18" charset="0"/>
                        </a:rPr>
                        <m:t>𝑘</m:t>
                      </m:r>
                      <m:r>
                        <a:rPr lang="vi-VN" sz="1000" b="0" i="1">
                          <a:latin typeface="Cambria Math" panose="02040503050406030204" pitchFamily="18" charset="0"/>
                        </a:rPr>
                        <m:t>=3</m:t>
                      </m:r>
                    </m:oMath>
                  </m:oMathPara>
                </a14:m>
                <a:endParaRPr lang="en-VN" sz="1000" i="1"/>
              </a:p>
            </p:txBody>
          </p:sp>
        </mc:Choice>
        <mc:Fallback xmlns="">
          <p:sp>
            <p:nvSpPr>
              <p:cNvPr id="36" name="TextBox 35">
                <a:extLst>
                  <a:ext uri="{FF2B5EF4-FFF2-40B4-BE49-F238E27FC236}">
                    <a16:creationId xmlns:a16="http://schemas.microsoft.com/office/drawing/2014/main" id="{0BF9E9EE-AE82-36CB-6099-044445D64D1F}"/>
                  </a:ext>
                </a:extLst>
              </p:cNvPr>
              <p:cNvSpPr txBox="1">
                <a:spLocks noRot="1" noChangeAspect="1" noMove="1" noResize="1" noEditPoints="1" noAdjustHandles="1" noChangeArrowheads="1" noChangeShapeType="1" noTextEdit="1"/>
              </p:cNvSpPr>
              <p:nvPr/>
            </p:nvSpPr>
            <p:spPr>
              <a:xfrm>
                <a:off x="2384665" y="2407171"/>
                <a:ext cx="969847" cy="246221"/>
              </a:xfrm>
              <a:prstGeom prst="rect">
                <a:avLst/>
              </a:prstGeom>
              <a:blipFill>
                <a:blip r:embed="rId5"/>
                <a:stretch>
                  <a:fillRect/>
                </a:stretch>
              </a:blipFill>
            </p:spPr>
            <p:txBody>
              <a:bodyPr/>
              <a:lstStyle/>
              <a:p>
                <a:r>
                  <a:rPr lang="en-VN">
                    <a:noFill/>
                  </a:rPr>
                  <a:t> </a:t>
                </a:r>
              </a:p>
            </p:txBody>
          </p:sp>
        </mc:Fallback>
      </mc:AlternateContent>
      <p:sp>
        <p:nvSpPr>
          <p:cNvPr id="37" name="Slide Number Placeholder 36">
            <a:extLst>
              <a:ext uri="{FF2B5EF4-FFF2-40B4-BE49-F238E27FC236}">
                <a16:creationId xmlns:a16="http://schemas.microsoft.com/office/drawing/2014/main" id="{C19B0DF1-61F2-F73D-A6E8-4473065C2877}"/>
              </a:ext>
            </a:extLst>
          </p:cNvPr>
          <p:cNvSpPr>
            <a:spLocks noGrp="1"/>
          </p:cNvSpPr>
          <p:nvPr>
            <p:ph type="sldNum" sz="quarter" idx="12"/>
          </p:nvPr>
        </p:nvSpPr>
        <p:spPr/>
        <p:txBody>
          <a:bodyPr/>
          <a:lstStyle/>
          <a:p>
            <a:fld id="{6A45828D-F580-42DE-B77E-860980F07F32}" type="slidenum">
              <a:rPr lang="vi-VN" smtClean="0"/>
              <a:t>34</a:t>
            </a:fld>
            <a:endParaRPr lang="vi-VN"/>
          </a:p>
        </p:txBody>
      </p:sp>
    </p:spTree>
    <p:extLst>
      <p:ext uri="{BB962C8B-B14F-4D97-AF65-F5344CB8AC3E}">
        <p14:creationId xmlns:p14="http://schemas.microsoft.com/office/powerpoint/2010/main" val="2644733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2" name="Straight Connector 61">
            <a:extLst>
              <a:ext uri="{FF2B5EF4-FFF2-40B4-BE49-F238E27FC236}">
                <a16:creationId xmlns:a16="http://schemas.microsoft.com/office/drawing/2014/main" id="{8708D24F-F381-A263-1D72-5AF8F235F50D}"/>
              </a:ext>
            </a:extLst>
          </p:cNvPr>
          <p:cNvCxnSpPr/>
          <p:nvPr/>
        </p:nvCxnSpPr>
        <p:spPr>
          <a:xfrm>
            <a:off x="3596465" y="1125667"/>
            <a:ext cx="155448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32F4DAE8-86D5-A9D7-4F2D-71AF86447EA9}"/>
              </a:ext>
            </a:extLst>
          </p:cNvPr>
          <p:cNvCxnSpPr/>
          <p:nvPr/>
        </p:nvCxnSpPr>
        <p:spPr>
          <a:xfrm>
            <a:off x="3596465" y="1416785"/>
            <a:ext cx="1554480" cy="0"/>
          </a:xfrm>
          <a:prstGeom prst="line">
            <a:avLst/>
          </a:prstGeom>
          <a:ln w="38100"/>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5B2BBC07-12FD-088A-6FCE-FCBA5878A29F}"/>
              </a:ext>
            </a:extLst>
          </p:cNvPr>
          <p:cNvSpPr>
            <a:spLocks noGrp="1"/>
          </p:cNvSpPr>
          <p:nvPr>
            <p:ph type="title"/>
          </p:nvPr>
        </p:nvSpPr>
        <p:spPr>
          <a:xfrm>
            <a:off x="135558" y="18300"/>
            <a:ext cx="7886700" cy="994172"/>
          </a:xfrm>
        </p:spPr>
        <p:txBody>
          <a:bodyPr>
            <a:normAutofit/>
          </a:bodyPr>
          <a:lstStyle/>
          <a:p>
            <a:r>
              <a:rPr lang="en-US"/>
              <a:t>3.3.</a:t>
            </a:r>
            <a:r>
              <a:rPr lang="en-VN"/>
              <a:t> </a:t>
            </a:r>
            <a:r>
              <a:rPr lang="en-US" sz="3200">
                <a:solidFill>
                  <a:schemeClr val="tx1"/>
                </a:solidFill>
              </a:rPr>
              <a:t>QML algorithms</a:t>
            </a:r>
            <a:br>
              <a:rPr lang="en-US" sz="3200">
                <a:solidFill>
                  <a:schemeClr val="tx1"/>
                </a:solidFill>
              </a:rPr>
            </a:br>
            <a:r>
              <a:rPr lang="en-US" sz="2000">
                <a:solidFill>
                  <a:schemeClr val="tx1"/>
                </a:solidFill>
              </a:rPr>
              <a:t>QkNN</a:t>
            </a:r>
            <a:endParaRPr lang="en-VN" sz="2000"/>
          </a:p>
        </p:txBody>
      </p:sp>
      <mc:AlternateContent xmlns:mc="http://schemas.openxmlformats.org/markup-compatibility/2006" xmlns:a14="http://schemas.microsoft.com/office/drawing/2010/main">
        <mc:Choice Requires="a14">
          <p:sp>
            <p:nvSpPr>
              <p:cNvPr id="26" name="Hộp Văn bản 50">
                <a:extLst>
                  <a:ext uri="{FF2B5EF4-FFF2-40B4-BE49-F238E27FC236}">
                    <a16:creationId xmlns:a16="http://schemas.microsoft.com/office/drawing/2014/main" id="{CB891367-FFE7-A093-BAE2-C9798B9106DE}"/>
                  </a:ext>
                </a:extLst>
              </p:cNvPr>
              <p:cNvSpPr txBox="1"/>
              <p:nvPr/>
            </p:nvSpPr>
            <p:spPr>
              <a:xfrm>
                <a:off x="5520373" y="583746"/>
                <a:ext cx="3367543" cy="1815882"/>
              </a:xfrm>
              <a:prstGeom prst="rect">
                <a:avLst/>
              </a:prstGeom>
              <a:noFill/>
            </p:spPr>
            <p:txBody>
              <a:bodyPr wrap="square" rtlCol="0">
                <a:spAutoFit/>
              </a:bodyPr>
              <a:lstStyle/>
              <a:p>
                <a:r>
                  <a:rPr lang="en-US" sz="1600"/>
                  <a:t>For each test data point </a:t>
                </a:r>
                <a14:m>
                  <m:oMath xmlns:m="http://schemas.openxmlformats.org/officeDocument/2006/math">
                    <m:r>
                      <a:rPr lang="en-US" sz="1600" i="1">
                        <a:latin typeface="Cambria Math" panose="02040503050406030204" pitchFamily="18" charset="0"/>
                      </a:rPr>
                      <m:t>𝑎</m:t>
                    </m:r>
                  </m:oMath>
                </a14:m>
                <a:r>
                  <a:rPr lang="en-US" sz="1600"/>
                  <a:t>:</a:t>
                </a:r>
              </a:p>
              <a:p>
                <a:pPr lvl="1"/>
                <a:r>
                  <a:rPr lang="en-US" sz="1600" b="1"/>
                  <a:t>Step 1</a:t>
                </a:r>
                <a:r>
                  <a:rPr lang="en-US" sz="1600"/>
                  <a:t>: Calculate</a:t>
                </a:r>
              </a:p>
              <a:p>
                <a:pPr lvl="1"/>
                <a14:m>
                  <m:oMathPara xmlns:m="http://schemas.openxmlformats.org/officeDocument/2006/math">
                    <m:oMathParaPr>
                      <m:jc m:val="centerGroup"/>
                    </m:oMathParaPr>
                    <m:oMath xmlns:m="http://schemas.openxmlformats.org/officeDocument/2006/math">
                      <m:sSub>
                        <m:sSubPr>
                          <m:ctrlPr>
                            <a:rPr lang="vi-VN" sz="1600" b="0" i="1" smtClean="0">
                              <a:latin typeface="Cambria Math" panose="02040503050406030204" pitchFamily="18" charset="0"/>
                            </a:rPr>
                          </m:ctrlPr>
                        </m:sSubPr>
                        <m:e>
                          <m:r>
                            <a:rPr lang="en-US" sz="1600" b="0" i="1" smtClean="0">
                              <a:latin typeface="Cambria Math" panose="02040503050406030204" pitchFamily="18" charset="0"/>
                            </a:rPr>
                            <m:t>      </m:t>
                          </m:r>
                          <m:r>
                            <a:rPr lang="en-US" sz="1600" i="1">
                              <a:latin typeface="Cambria Math" panose="02040503050406030204" pitchFamily="18" charset="0"/>
                            </a:rPr>
                            <m:t>𝐷𝑠</m:t>
                          </m:r>
                        </m:e>
                        <m:sub>
                          <m:r>
                            <a:rPr lang="vi-VN" sz="1600" i="1">
                              <a:latin typeface="Cambria Math" panose="02040503050406030204" pitchFamily="18" charset="0"/>
                            </a:rPr>
                            <m:t>𝑎</m:t>
                          </m:r>
                        </m:sub>
                      </m:sSub>
                      <m:r>
                        <a:rPr lang="en-US" sz="1600" i="1">
                          <a:latin typeface="Cambria Math" panose="02040503050406030204" pitchFamily="18" charset="0"/>
                        </a:rPr>
                        <m:t>=</m:t>
                      </m:r>
                      <m:r>
                        <a:rPr lang="en-US" sz="1600" i="1">
                          <a:latin typeface="Cambria Math" panose="02040503050406030204" pitchFamily="18" charset="0"/>
                        </a:rPr>
                        <m:t>𝑑𝑖𝑠𝑡</m:t>
                      </m:r>
                      <m:d>
                        <m:dPr>
                          <m:ctrlPr>
                            <a:rPr lang="en-US" sz="1600" i="1">
                              <a:latin typeface="Cambria Math" panose="02040503050406030204" pitchFamily="18" charset="0"/>
                            </a:rPr>
                          </m:ctrlPr>
                        </m:dPr>
                        <m:e>
                          <m:r>
                            <a:rPr lang="en-US" sz="1600" i="1">
                              <a:latin typeface="Cambria Math" panose="02040503050406030204" pitchFamily="18" charset="0"/>
                            </a:rPr>
                            <m:t>𝑎</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e>
                      </m:d>
                      <m:r>
                        <a:rPr lang="en-US" sz="1600" i="1">
                          <a:latin typeface="Cambria Math" panose="02040503050406030204" pitchFamily="18" charset="0"/>
                        </a:rPr>
                        <m:t> </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=1..</m:t>
                      </m:r>
                      <m:r>
                        <a:rPr lang="en-US" sz="1600" i="1">
                          <a:latin typeface="Cambria Math" panose="02040503050406030204" pitchFamily="18" charset="0"/>
                          <a:ea typeface="Cambria Math" panose="02040503050406030204" pitchFamily="18" charset="0"/>
                        </a:rPr>
                        <m:t>𝑛</m:t>
                      </m:r>
                    </m:oMath>
                  </m:oMathPara>
                </a14:m>
                <a:endParaRPr lang="en-US" sz="1600" b="0" i="1">
                  <a:ea typeface="Cambria Math" panose="02040503050406030204" pitchFamily="18" charset="0"/>
                </a:endParaRPr>
              </a:p>
              <a:p>
                <a:pPr lvl="1"/>
                <a:r>
                  <a:rPr lang="en-US" sz="1600" b="1"/>
                  <a:t>Step 2</a:t>
                </a:r>
                <a:r>
                  <a:rPr lang="en-US" sz="1600"/>
                  <a:t>: Sort and get </a:t>
                </a:r>
                <a14:m>
                  <m:oMath xmlns:m="http://schemas.openxmlformats.org/officeDocument/2006/math">
                    <m:r>
                      <a:rPr lang="en-US" sz="1600" i="1">
                        <a:latin typeface="Cambria Math" panose="02040503050406030204" pitchFamily="18" charset="0"/>
                      </a:rPr>
                      <m:t>𝑘</m:t>
                    </m:r>
                  </m:oMath>
                </a14:m>
                <a:r>
                  <a:rPr lang="en-US" sz="1600"/>
                  <a:t> smallest dist in </a:t>
                </a:r>
                <a14:m>
                  <m:oMath xmlns:m="http://schemas.openxmlformats.org/officeDocument/2006/math">
                    <m:r>
                      <m:rPr>
                        <m:sty m:val="p"/>
                      </m:rPr>
                      <a:rPr lang="en-US" sz="1600" i="0">
                        <a:latin typeface="Cambria Math" panose="02040503050406030204" pitchFamily="18" charset="0"/>
                      </a:rPr>
                      <m:t>D</m:t>
                    </m:r>
                    <m:sSub>
                      <m:sSubPr>
                        <m:ctrlPr>
                          <a:rPr lang="vi-VN" sz="1600" b="0" i="1">
                            <a:latin typeface="Cambria Math" panose="02040503050406030204" pitchFamily="18" charset="0"/>
                          </a:rPr>
                        </m:ctrlPr>
                      </m:sSubPr>
                      <m:e>
                        <m:r>
                          <m:rPr>
                            <m:sty m:val="p"/>
                          </m:rPr>
                          <a:rPr lang="en-US" sz="1600" i="0">
                            <a:latin typeface="Cambria Math" panose="02040503050406030204" pitchFamily="18" charset="0"/>
                          </a:rPr>
                          <m:t>s</m:t>
                        </m:r>
                      </m:e>
                      <m:sub>
                        <m:r>
                          <m:rPr>
                            <m:sty m:val="p"/>
                          </m:rPr>
                          <a:rPr lang="vi-VN" sz="1600" i="0">
                            <a:latin typeface="Cambria Math" panose="02040503050406030204" pitchFamily="18" charset="0"/>
                          </a:rPr>
                          <m:t>a</m:t>
                        </m:r>
                      </m:sub>
                    </m:sSub>
                  </m:oMath>
                </a14:m>
                <a:r>
                  <a:rPr lang="en-US" sz="1600"/>
                  <a:t>.</a:t>
                </a:r>
              </a:p>
              <a:p>
                <a:pPr lvl="1"/>
                <a:r>
                  <a:rPr lang="en-US" sz="1600" b="1"/>
                  <a:t>Step 3</a:t>
                </a:r>
                <a:r>
                  <a:rPr lang="en-US" sz="1600"/>
                  <a:t>: Get </a:t>
                </a:r>
                <a14:m>
                  <m:oMath xmlns:m="http://schemas.openxmlformats.org/officeDocument/2006/math">
                    <m:r>
                      <a:rPr lang="en-US" sz="1600" i="1">
                        <a:latin typeface="Cambria Math" panose="02040503050406030204" pitchFamily="18" charset="0"/>
                      </a:rPr>
                      <m:t>𝑘</m:t>
                    </m:r>
                  </m:oMath>
                </a14:m>
                <a:r>
                  <a:rPr lang="en-US" sz="1600"/>
                  <a:t> corresponding label and major vote</a:t>
                </a:r>
                <a:endParaRPr lang="vi-VN" sz="1600"/>
              </a:p>
            </p:txBody>
          </p:sp>
        </mc:Choice>
        <mc:Fallback xmlns="">
          <p:sp>
            <p:nvSpPr>
              <p:cNvPr id="26" name="Hộp Văn bản 50">
                <a:extLst>
                  <a:ext uri="{FF2B5EF4-FFF2-40B4-BE49-F238E27FC236}">
                    <a16:creationId xmlns:a16="http://schemas.microsoft.com/office/drawing/2014/main" id="{CB891367-FFE7-A093-BAE2-C9798B9106DE}"/>
                  </a:ext>
                </a:extLst>
              </p:cNvPr>
              <p:cNvSpPr txBox="1">
                <a:spLocks noRot="1" noChangeAspect="1" noMove="1" noResize="1" noEditPoints="1" noAdjustHandles="1" noChangeArrowheads="1" noChangeShapeType="1" noTextEdit="1"/>
              </p:cNvSpPr>
              <p:nvPr/>
            </p:nvSpPr>
            <p:spPr>
              <a:xfrm>
                <a:off x="5520373" y="583746"/>
                <a:ext cx="3367543" cy="1815882"/>
              </a:xfrm>
              <a:prstGeom prst="rect">
                <a:avLst/>
              </a:prstGeom>
              <a:blipFill>
                <a:blip r:embed="rId3"/>
                <a:stretch>
                  <a:fillRect l="-1087" t="-1007" b="-3356"/>
                </a:stretch>
              </a:blipFill>
            </p:spPr>
            <p:txBody>
              <a:bodyPr/>
              <a:lstStyle/>
              <a:p>
                <a:r>
                  <a:rPr lang="vi-VN">
                    <a:noFill/>
                  </a:rPr>
                  <a:t> </a:t>
                </a:r>
              </a:p>
            </p:txBody>
          </p:sp>
        </mc:Fallback>
      </mc:AlternateContent>
      <p:sp>
        <p:nvSpPr>
          <p:cNvPr id="41" name="Rectangle 40">
            <a:extLst>
              <a:ext uri="{FF2B5EF4-FFF2-40B4-BE49-F238E27FC236}">
                <a16:creationId xmlns:a16="http://schemas.microsoft.com/office/drawing/2014/main" id="{A497AE86-7F69-7264-087D-9D12D92FBB52}"/>
              </a:ext>
            </a:extLst>
          </p:cNvPr>
          <p:cNvSpPr/>
          <p:nvPr/>
        </p:nvSpPr>
        <p:spPr>
          <a:xfrm>
            <a:off x="5969313" y="870412"/>
            <a:ext cx="2852954" cy="51633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4" name="Slide Number Placeholder 53">
            <a:extLst>
              <a:ext uri="{FF2B5EF4-FFF2-40B4-BE49-F238E27FC236}">
                <a16:creationId xmlns:a16="http://schemas.microsoft.com/office/drawing/2014/main" id="{4AF8ED89-ED5A-C122-48F2-078D99F42A7D}"/>
              </a:ext>
            </a:extLst>
          </p:cNvPr>
          <p:cNvSpPr>
            <a:spLocks noGrp="1"/>
          </p:cNvSpPr>
          <p:nvPr>
            <p:ph type="sldNum" sz="quarter" idx="12"/>
          </p:nvPr>
        </p:nvSpPr>
        <p:spPr/>
        <p:txBody>
          <a:bodyPr/>
          <a:lstStyle/>
          <a:p>
            <a:fld id="{6A45828D-F580-42DE-B77E-860980F07F32}" type="slidenum">
              <a:rPr lang="vi-VN" smtClean="0"/>
              <a:t>35</a:t>
            </a:fld>
            <a:endParaRPr lang="vi-VN"/>
          </a:p>
        </p:txBody>
      </p:sp>
      <p:sp>
        <p:nvSpPr>
          <p:cNvPr id="61" name="TextBox 60">
            <a:extLst>
              <a:ext uri="{FF2B5EF4-FFF2-40B4-BE49-F238E27FC236}">
                <a16:creationId xmlns:a16="http://schemas.microsoft.com/office/drawing/2014/main" id="{FD98423B-5FB3-5C1C-4E8B-96DC688FBAF1}"/>
              </a:ext>
            </a:extLst>
          </p:cNvPr>
          <p:cNvSpPr txBox="1"/>
          <p:nvPr/>
        </p:nvSpPr>
        <p:spPr>
          <a:xfrm>
            <a:off x="194738" y="4728676"/>
            <a:ext cx="7920562" cy="400110"/>
          </a:xfrm>
          <a:prstGeom prst="rect">
            <a:avLst/>
          </a:prstGeom>
          <a:noFill/>
        </p:spPr>
        <p:txBody>
          <a:bodyPr wrap="square">
            <a:spAutoFit/>
          </a:bodyPr>
          <a:lstStyle/>
          <a:p>
            <a:r>
              <a:rPr lang="en-US" sz="1000" b="1" i="0">
                <a:solidFill>
                  <a:srgbClr val="222222"/>
                </a:solidFill>
                <a:effectLst/>
                <a:latin typeface="Calibri" panose="020F0502020204030204" pitchFamily="34" charset="0"/>
                <a:cs typeface="Calibri" panose="020F0502020204030204" pitchFamily="34" charset="0"/>
              </a:rPr>
              <a:t>[</a:t>
            </a:r>
            <a:r>
              <a:rPr lang="en-US" sz="1000" b="1">
                <a:solidFill>
                  <a:srgbClr val="222222"/>
                </a:solidFill>
                <a:latin typeface="Calibri" panose="020F0502020204030204" pitchFamily="34" charset="0"/>
                <a:cs typeface="Calibri" panose="020F0502020204030204" pitchFamily="34" charset="0"/>
              </a:rPr>
              <a:t>3.</a:t>
            </a:r>
            <a:r>
              <a:rPr lang="en-US" sz="1000" b="1" i="0">
                <a:solidFill>
                  <a:srgbClr val="222222"/>
                </a:solidFill>
                <a:effectLst/>
                <a:latin typeface="Calibri" panose="020F0502020204030204" pitchFamily="34" charset="0"/>
                <a:cs typeface="Calibri" panose="020F0502020204030204" pitchFamily="34" charset="0"/>
              </a:rPr>
              <a:t>3.1]</a:t>
            </a:r>
            <a:r>
              <a:rPr lang="en-US" sz="1000" b="0" i="0">
                <a:solidFill>
                  <a:srgbClr val="222222"/>
                </a:solidFill>
                <a:effectLst/>
                <a:latin typeface="Calibri" panose="020F0502020204030204" pitchFamily="34" charset="0"/>
                <a:cs typeface="Calibri" panose="020F0502020204030204" pitchFamily="34" charset="0"/>
              </a:rPr>
              <a:t> Vu Tuan Hai, Phan Hoang Chuong and Pham The Bao (2022). New approach of KNN Algorithm in quantum computing based on new design of quantum circuits. </a:t>
            </a:r>
            <a:r>
              <a:rPr lang="en-US" sz="1000" b="0" i="1">
                <a:solidFill>
                  <a:srgbClr val="222222"/>
                </a:solidFill>
                <a:effectLst/>
                <a:latin typeface="Calibri" panose="020F0502020204030204" pitchFamily="34" charset="0"/>
                <a:cs typeface="Calibri" panose="020F0502020204030204" pitchFamily="34" charset="0"/>
              </a:rPr>
              <a:t>Informatica</a:t>
            </a:r>
            <a:r>
              <a:rPr lang="en-US" sz="1000" b="0" i="0">
                <a:solidFill>
                  <a:srgbClr val="222222"/>
                </a:solidFill>
                <a:effectLst/>
                <a:latin typeface="Calibri" panose="020F0502020204030204" pitchFamily="34" charset="0"/>
                <a:cs typeface="Calibri" panose="020F0502020204030204" pitchFamily="34" charset="0"/>
              </a:rPr>
              <a:t>, </a:t>
            </a:r>
            <a:r>
              <a:rPr lang="en-US" sz="1000" b="0" i="1">
                <a:solidFill>
                  <a:srgbClr val="222222"/>
                </a:solidFill>
                <a:effectLst/>
                <a:latin typeface="Calibri" panose="020F0502020204030204" pitchFamily="34" charset="0"/>
                <a:cs typeface="Calibri" panose="020F0502020204030204" pitchFamily="34" charset="0"/>
              </a:rPr>
              <a:t>46</a:t>
            </a:r>
            <a:r>
              <a:rPr lang="en-US" sz="1000" b="0" i="0">
                <a:solidFill>
                  <a:srgbClr val="222222"/>
                </a:solidFill>
                <a:effectLst/>
                <a:latin typeface="Calibri" panose="020F0502020204030204" pitchFamily="34" charset="0"/>
                <a:cs typeface="Calibri" panose="020F0502020204030204" pitchFamily="34" charset="0"/>
              </a:rPr>
              <a:t>(5).</a:t>
            </a:r>
            <a:endParaRPr lang="en-VN" sz="100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Hộp Văn bản 7">
                <a:extLst>
                  <a:ext uri="{FF2B5EF4-FFF2-40B4-BE49-F238E27FC236}">
                    <a16:creationId xmlns:a16="http://schemas.microsoft.com/office/drawing/2014/main" id="{EDB836EF-E4CA-2598-B865-CCB8606703C8}"/>
                  </a:ext>
                </a:extLst>
              </p:cNvPr>
              <p:cNvSpPr txBox="1"/>
              <p:nvPr/>
            </p:nvSpPr>
            <p:spPr>
              <a:xfrm>
                <a:off x="194738" y="850714"/>
                <a:ext cx="994833" cy="11128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𝑥</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mr>
                                  <m:mr>
                                    <m:e>
                                      <m:r>
                                        <a:rPr lang="en-US" b="0" i="1" smtClean="0">
                                          <a:latin typeface="Cambria Math" panose="02040503050406030204" pitchFamily="18" charset="0"/>
                                        </a:rPr>
                                        <m:t>3</m:t>
                                      </m:r>
                                    </m:e>
                                  </m:mr>
                                </m:m>
                              </m:e>
                            </m:mr>
                          </m:m>
                        </m:e>
                      </m:d>
                    </m:oMath>
                  </m:oMathPara>
                </a14:m>
                <a:endParaRPr lang="vi-VN"/>
              </a:p>
            </p:txBody>
          </p:sp>
        </mc:Choice>
        <mc:Fallback xmlns="">
          <p:sp>
            <p:nvSpPr>
              <p:cNvPr id="3" name="Hộp Văn bản 7">
                <a:extLst>
                  <a:ext uri="{FF2B5EF4-FFF2-40B4-BE49-F238E27FC236}">
                    <a16:creationId xmlns:a16="http://schemas.microsoft.com/office/drawing/2014/main" id="{EDB836EF-E4CA-2598-B865-CCB8606703C8}"/>
                  </a:ext>
                </a:extLst>
              </p:cNvPr>
              <p:cNvSpPr txBox="1">
                <a:spLocks noRot="1" noChangeAspect="1" noMove="1" noResize="1" noEditPoints="1" noAdjustHandles="1" noChangeArrowheads="1" noChangeShapeType="1" noTextEdit="1"/>
              </p:cNvSpPr>
              <p:nvPr/>
            </p:nvSpPr>
            <p:spPr>
              <a:xfrm>
                <a:off x="194738" y="850714"/>
                <a:ext cx="994833" cy="1112805"/>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42AB84A-391E-EC3A-BE25-31F4DF36A264}"/>
                  </a:ext>
                </a:extLst>
              </p:cNvPr>
              <p:cNvSpPr txBox="1"/>
              <p:nvPr/>
            </p:nvSpPr>
            <p:spPr>
              <a:xfrm>
                <a:off x="1473206" y="746030"/>
                <a:ext cx="1458066" cy="13235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m>
                            <m:mPr>
                              <m:mcs>
                                <m:mc>
                                  <m:mcPr>
                                    <m:count m:val="1"/>
                                    <m:mcJc m:val="center"/>
                                  </m:mcPr>
                                </m:mc>
                              </m:mcs>
                              <m:ctrlPr>
                                <a:rPr lang="en-US" sz="1800" b="0" i="1" smtClean="0">
                                  <a:latin typeface="Cambria Math" panose="02040503050406030204" pitchFamily="18" charset="0"/>
                                </a:rPr>
                              </m:ctrlPr>
                            </m:mPr>
                            <m:mr>
                              <m:e>
                                <m:m>
                                  <m:mPr>
                                    <m:mcs>
                                      <m:mc>
                                        <m:mcPr>
                                          <m:count m:val="1"/>
                                          <m:mcJc m:val="center"/>
                                        </m:mcPr>
                                      </m:mc>
                                    </m:mcs>
                                    <m:ctrlPr>
                                      <a:rPr lang="en-US" sz="1800" b="0" i="1" smtClean="0">
                                        <a:latin typeface="Cambria Math" panose="02040503050406030204" pitchFamily="18" charset="0"/>
                                      </a:rPr>
                                    </m:ctrlPr>
                                  </m:mPr>
                                  <m:mr>
                                    <m:e>
                                      <m:r>
                                        <m:rPr>
                                          <m:brk m:alnAt="7"/>
                                        </m:rPr>
                                        <a:rPr lang="en-US" sz="1800" b="0" i="1" smtClean="0">
                                          <a:latin typeface="Cambria Math" panose="02040503050406030204" pitchFamily="18" charset="0"/>
                                        </a:rPr>
                                        <m:t>1</m:t>
                                      </m:r>
                                      <m:r>
                                        <a:rPr lang="en-US" sz="1800" b="0" i="1" smtClean="0">
                                          <a:latin typeface="Cambria Math" panose="02040503050406030204" pitchFamily="18" charset="0"/>
                                        </a:rPr>
                                        <m:t>/</m:t>
                                      </m:r>
                                      <m:rad>
                                        <m:radPr>
                                          <m:degHide m:val="on"/>
                                          <m:ctrlPr>
                                            <a:rPr lang="en-US" sz="1800" b="0" i="1" smtClean="0">
                                              <a:latin typeface="Cambria Math" panose="02040503050406030204" pitchFamily="18" charset="0"/>
                                            </a:rPr>
                                          </m:ctrlPr>
                                        </m:radPr>
                                        <m:deg/>
                                        <m:e>
                                          <m:r>
                                            <a:rPr lang="en-US" sz="1800" b="0" i="1" smtClean="0">
                                              <a:latin typeface="Cambria Math" panose="02040503050406030204" pitchFamily="18" charset="0"/>
                                            </a:rPr>
                                            <m:t>14</m:t>
                                          </m:r>
                                        </m:e>
                                      </m:rad>
                                    </m:e>
                                  </m:mr>
                                  <m:mr>
                                    <m:e>
                                      <m:r>
                                        <a:rPr lang="en-US" sz="1800" b="0" i="1" smtClean="0">
                                          <a:latin typeface="Cambria Math" panose="02040503050406030204" pitchFamily="18" charset="0"/>
                                        </a:rPr>
                                        <m:t>0</m:t>
                                      </m:r>
                                    </m:e>
                                  </m:mr>
                                </m:m>
                              </m:e>
                            </m:mr>
                            <m:mr>
                              <m:e>
                                <m:m>
                                  <m:mPr>
                                    <m:mcs>
                                      <m:mc>
                                        <m:mcPr>
                                          <m:count m:val="1"/>
                                          <m:mcJc m:val="center"/>
                                        </m:mcPr>
                                      </m:mc>
                                    </m:mcs>
                                    <m:ctrlPr>
                                      <a:rPr lang="en-US" sz="1800" b="0" i="1" smtClean="0">
                                        <a:latin typeface="Cambria Math" panose="02040503050406030204" pitchFamily="18" charset="0"/>
                                      </a:rPr>
                                    </m:ctrlPr>
                                  </m:mPr>
                                  <m:mr>
                                    <m:e>
                                      <m:r>
                                        <m:rPr>
                                          <m:brk m:alnAt="7"/>
                                        </m:rPr>
                                        <a:rPr lang="en-US" sz="1800" b="0" i="1" smtClean="0">
                                          <a:latin typeface="Cambria Math" panose="02040503050406030204" pitchFamily="18" charset="0"/>
                                        </a:rPr>
                                        <m:t>2</m:t>
                                      </m:r>
                                      <m: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14</m:t>
                                          </m:r>
                                        </m:e>
                                      </m:rad>
                                    </m:e>
                                  </m:mr>
                                  <m:mr>
                                    <m:e>
                                      <m:r>
                                        <a:rPr lang="en-US" sz="1800" b="0" i="1" smtClean="0">
                                          <a:latin typeface="Cambria Math" panose="02040503050406030204" pitchFamily="18" charset="0"/>
                                        </a:rPr>
                                        <m:t>3</m:t>
                                      </m:r>
                                      <m:r>
                                        <m:rPr>
                                          <m:brk m:alnAt="7"/>
                                        </m:rP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14</m:t>
                                          </m:r>
                                        </m:e>
                                      </m:rad>
                                    </m:e>
                                  </m:mr>
                                </m:m>
                              </m:e>
                            </m:mr>
                          </m:m>
                        </m:e>
                      </m:d>
                    </m:oMath>
                  </m:oMathPara>
                </a14:m>
                <a:endParaRPr lang="vi-VN" sz="1800"/>
              </a:p>
            </p:txBody>
          </p:sp>
        </mc:Choice>
        <mc:Fallback xmlns="">
          <p:sp>
            <p:nvSpPr>
              <p:cNvPr id="6" name="TextBox 5">
                <a:extLst>
                  <a:ext uri="{FF2B5EF4-FFF2-40B4-BE49-F238E27FC236}">
                    <a16:creationId xmlns:a16="http://schemas.microsoft.com/office/drawing/2014/main" id="{642AB84A-391E-EC3A-BE25-31F4DF36A264}"/>
                  </a:ext>
                </a:extLst>
              </p:cNvPr>
              <p:cNvSpPr txBox="1">
                <a:spLocks noRot="1" noChangeAspect="1" noMove="1" noResize="1" noEditPoints="1" noAdjustHandles="1" noChangeArrowheads="1" noChangeShapeType="1" noTextEdit="1"/>
              </p:cNvSpPr>
              <p:nvPr/>
            </p:nvSpPr>
            <p:spPr>
              <a:xfrm>
                <a:off x="1473206" y="746030"/>
                <a:ext cx="1458066" cy="1323504"/>
              </a:xfrm>
              <a:prstGeom prst="rect">
                <a:avLst/>
              </a:prstGeom>
              <a:blipFill>
                <a:blip r:embed="rId5"/>
                <a:stretch>
                  <a:fillRect/>
                </a:stretch>
              </a:blipFill>
            </p:spPr>
            <p:txBody>
              <a:bodyPr/>
              <a:lstStyle/>
              <a:p>
                <a:r>
                  <a:rPr lang="vi-VN">
                    <a:noFill/>
                  </a:rPr>
                  <a:t> </a:t>
                </a:r>
              </a:p>
            </p:txBody>
          </p:sp>
        </mc:Fallback>
      </mc:AlternateContent>
      <p:cxnSp>
        <p:nvCxnSpPr>
          <p:cNvPr id="8" name="Straight Arrow Connector 7">
            <a:extLst>
              <a:ext uri="{FF2B5EF4-FFF2-40B4-BE49-F238E27FC236}">
                <a16:creationId xmlns:a16="http://schemas.microsoft.com/office/drawing/2014/main" id="{92E9A168-129C-BAD7-EA0E-848B8F0AED5F}"/>
              </a:ext>
            </a:extLst>
          </p:cNvPr>
          <p:cNvCxnSpPr>
            <a:cxnSpLocks/>
            <a:stCxn id="3" idx="3"/>
            <a:endCxn id="6" idx="1"/>
          </p:cNvCxnSpPr>
          <p:nvPr/>
        </p:nvCxnSpPr>
        <p:spPr>
          <a:xfrm>
            <a:off x="1189571" y="1407117"/>
            <a:ext cx="283635" cy="6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1D49F4C6-2CFD-A56C-58C0-D8584E95E998}"/>
              </a:ext>
            </a:extLst>
          </p:cNvPr>
          <p:cNvCxnSpPr>
            <a:cxnSpLocks/>
            <a:stCxn id="6" idx="3"/>
          </p:cNvCxnSpPr>
          <p:nvPr/>
        </p:nvCxnSpPr>
        <p:spPr>
          <a:xfrm>
            <a:off x="2931272" y="1407782"/>
            <a:ext cx="5608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Hình chữ nhật 36">
            <a:extLst>
              <a:ext uri="{FF2B5EF4-FFF2-40B4-BE49-F238E27FC236}">
                <a16:creationId xmlns:a16="http://schemas.microsoft.com/office/drawing/2014/main" id="{3C47F9ED-650B-0CC4-2889-5C40EE9CEA46}"/>
              </a:ext>
            </a:extLst>
          </p:cNvPr>
          <p:cNvSpPr/>
          <p:nvPr/>
        </p:nvSpPr>
        <p:spPr>
          <a:xfrm>
            <a:off x="432074" y="2411088"/>
            <a:ext cx="1267564" cy="876015"/>
          </a:xfrm>
          <a:prstGeom prst="rect">
            <a:avLst/>
          </a:prstGeom>
          <a:noFill/>
          <a:ln w="12700">
            <a:solidFill>
              <a:srgbClr val="FF0000"/>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sz="1350"/>
          </a:p>
        </p:txBody>
      </p:sp>
      <mc:AlternateContent xmlns:mc="http://schemas.openxmlformats.org/markup-compatibility/2006" xmlns:a14="http://schemas.microsoft.com/office/drawing/2010/main">
        <mc:Choice Requires="a14">
          <p:sp>
            <p:nvSpPr>
              <p:cNvPr id="21" name="Hộp Văn bản 38">
                <a:extLst>
                  <a:ext uri="{FF2B5EF4-FFF2-40B4-BE49-F238E27FC236}">
                    <a16:creationId xmlns:a16="http://schemas.microsoft.com/office/drawing/2014/main" id="{171354C9-A14A-A419-2422-798FD68AA152}"/>
                  </a:ext>
                </a:extLst>
              </p:cNvPr>
              <p:cNvSpPr txBox="1"/>
              <p:nvPr/>
            </p:nvSpPr>
            <p:spPr>
              <a:xfrm rot="16200000">
                <a:off x="-426475" y="2689626"/>
                <a:ext cx="1215444" cy="300082"/>
              </a:xfrm>
              <a:prstGeom prst="rect">
                <a:avLst/>
              </a:prstGeom>
              <a:noFill/>
            </p:spPr>
            <p:txBody>
              <a:bodyPr wrap="square" rtlCol="0">
                <a:spAutoFit/>
              </a:bodyPr>
              <a:lstStyle/>
              <a:p>
                <a:pPr algn="r"/>
                <a:r>
                  <a:rPr lang="en-US" sz="1350"/>
                  <a:t>Encode </a:t>
                </a:r>
                <a14:m>
                  <m:oMath xmlns:m="http://schemas.openxmlformats.org/officeDocument/2006/math">
                    <m:sSub>
                      <m:sSubPr>
                        <m:ctrlPr>
                          <a:rPr lang="en-US" sz="1350" b="0" i="1" smtClean="0">
                            <a:latin typeface="Cambria Math" panose="02040503050406030204" pitchFamily="18" charset="0"/>
                          </a:rPr>
                        </m:ctrlPr>
                      </m:sSubPr>
                      <m:e>
                        <m:r>
                          <a:rPr lang="en-US" sz="1350" b="0" i="1" smtClean="0">
                            <a:latin typeface="Cambria Math" panose="02040503050406030204" pitchFamily="18" charset="0"/>
                          </a:rPr>
                          <m:t>𝑥</m:t>
                        </m:r>
                      </m:e>
                      <m:sub>
                        <m:r>
                          <a:rPr lang="en-US" sz="1350" b="0" i="1" smtClean="0">
                            <a:latin typeface="Cambria Math" panose="02040503050406030204" pitchFamily="18" charset="0"/>
                          </a:rPr>
                          <m:t>𝑖</m:t>
                        </m:r>
                      </m:sub>
                    </m:sSub>
                    <m:d>
                      <m:dPr>
                        <m:ctrlPr>
                          <a:rPr lang="en-US" sz="1350" i="1">
                            <a:latin typeface="Cambria Math" panose="02040503050406030204" pitchFamily="18" charset="0"/>
                          </a:rPr>
                        </m:ctrlPr>
                      </m:dPr>
                      <m:e>
                        <m:r>
                          <a:rPr lang="en-US" sz="1350" i="1">
                            <a:latin typeface="Cambria Math" panose="02040503050406030204" pitchFamily="18" charset="0"/>
                          </a:rPr>
                          <m:t>𝜓</m:t>
                        </m:r>
                      </m:e>
                    </m:d>
                  </m:oMath>
                </a14:m>
                <a:endParaRPr lang="vi-VN" sz="1350"/>
              </a:p>
            </p:txBody>
          </p:sp>
        </mc:Choice>
        <mc:Fallback xmlns="">
          <p:sp>
            <p:nvSpPr>
              <p:cNvPr id="21" name="Hộp Văn bản 38">
                <a:extLst>
                  <a:ext uri="{FF2B5EF4-FFF2-40B4-BE49-F238E27FC236}">
                    <a16:creationId xmlns:a16="http://schemas.microsoft.com/office/drawing/2014/main" id="{171354C9-A14A-A419-2422-798FD68AA152}"/>
                  </a:ext>
                </a:extLst>
              </p:cNvPr>
              <p:cNvSpPr txBox="1">
                <a:spLocks noRot="1" noChangeAspect="1" noMove="1" noResize="1" noEditPoints="1" noAdjustHandles="1" noChangeArrowheads="1" noChangeShapeType="1" noTextEdit="1"/>
              </p:cNvSpPr>
              <p:nvPr/>
            </p:nvSpPr>
            <p:spPr>
              <a:xfrm rot="16200000">
                <a:off x="-426475" y="2689626"/>
                <a:ext cx="1215444" cy="300082"/>
              </a:xfrm>
              <a:prstGeom prst="rect">
                <a:avLst/>
              </a:prstGeom>
              <a:blipFill>
                <a:blip r:embed="rId6"/>
                <a:stretch>
                  <a:fillRect r="-2244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Hộp Văn bản 39">
                <a:extLst>
                  <a:ext uri="{FF2B5EF4-FFF2-40B4-BE49-F238E27FC236}">
                    <a16:creationId xmlns:a16="http://schemas.microsoft.com/office/drawing/2014/main" id="{ED957D86-8D60-2249-E851-A5F5F17EBEF8}"/>
                  </a:ext>
                </a:extLst>
              </p:cNvPr>
              <p:cNvSpPr txBox="1"/>
              <p:nvPr/>
            </p:nvSpPr>
            <p:spPr>
              <a:xfrm rot="16200000">
                <a:off x="-423433" y="3717950"/>
                <a:ext cx="1203626" cy="316753"/>
              </a:xfrm>
              <a:prstGeom prst="rect">
                <a:avLst/>
              </a:prstGeom>
              <a:noFill/>
            </p:spPr>
            <p:txBody>
              <a:bodyPr wrap="square" rtlCol="0">
                <a:spAutoFit/>
              </a:bodyPr>
              <a:lstStyle/>
              <a:p>
                <a:pPr algn="r"/>
                <a:r>
                  <a:rPr lang="en-US" sz="1350"/>
                  <a:t>Encode </a:t>
                </a:r>
                <a14:m>
                  <m:oMath xmlns:m="http://schemas.openxmlformats.org/officeDocument/2006/math">
                    <m:sSub>
                      <m:sSubPr>
                        <m:ctrlPr>
                          <a:rPr lang="en-US" sz="1350" b="0" i="1" smtClean="0">
                            <a:latin typeface="Cambria Math" panose="02040503050406030204" pitchFamily="18" charset="0"/>
                          </a:rPr>
                        </m:ctrlPr>
                      </m:sSubPr>
                      <m:e>
                        <m:r>
                          <a:rPr lang="en-US" sz="1350" b="0" i="1" smtClean="0">
                            <a:latin typeface="Cambria Math" panose="02040503050406030204" pitchFamily="18" charset="0"/>
                          </a:rPr>
                          <m:t>𝑥</m:t>
                        </m:r>
                      </m:e>
                      <m:sub>
                        <m:r>
                          <a:rPr lang="en-US" sz="1350" b="0" i="1" smtClean="0">
                            <a:latin typeface="Cambria Math" panose="02040503050406030204" pitchFamily="18" charset="0"/>
                          </a:rPr>
                          <m:t>𝑗</m:t>
                        </m:r>
                      </m:sub>
                    </m:sSub>
                    <m:d>
                      <m:dPr>
                        <m:ctrlPr>
                          <a:rPr lang="en-US" sz="1350" b="0" i="1" smtClean="0">
                            <a:latin typeface="Cambria Math" panose="02040503050406030204" pitchFamily="18" charset="0"/>
                          </a:rPr>
                        </m:ctrlPr>
                      </m:dPr>
                      <m:e>
                        <m:r>
                          <a:rPr lang="en-US" sz="1350" b="0" i="1" smtClean="0">
                            <a:latin typeface="Cambria Math" panose="02040503050406030204" pitchFamily="18" charset="0"/>
                          </a:rPr>
                          <m:t>𝜙</m:t>
                        </m:r>
                      </m:e>
                    </m:d>
                  </m:oMath>
                </a14:m>
                <a:endParaRPr lang="vi-VN" sz="1350"/>
              </a:p>
            </p:txBody>
          </p:sp>
        </mc:Choice>
        <mc:Fallback xmlns="">
          <p:sp>
            <p:nvSpPr>
              <p:cNvPr id="22" name="Hộp Văn bản 39">
                <a:extLst>
                  <a:ext uri="{FF2B5EF4-FFF2-40B4-BE49-F238E27FC236}">
                    <a16:creationId xmlns:a16="http://schemas.microsoft.com/office/drawing/2014/main" id="{ED957D86-8D60-2249-E851-A5F5F17EBEF8}"/>
                  </a:ext>
                </a:extLst>
              </p:cNvPr>
              <p:cNvSpPr txBox="1">
                <a:spLocks noRot="1" noChangeAspect="1" noMove="1" noResize="1" noEditPoints="1" noAdjustHandles="1" noChangeArrowheads="1" noChangeShapeType="1" noTextEdit="1"/>
              </p:cNvSpPr>
              <p:nvPr/>
            </p:nvSpPr>
            <p:spPr>
              <a:xfrm rot="16200000">
                <a:off x="-423433" y="3717950"/>
                <a:ext cx="1203626" cy="316753"/>
              </a:xfrm>
              <a:prstGeom prst="rect">
                <a:avLst/>
              </a:prstGeom>
              <a:blipFill>
                <a:blip r:embed="rId7"/>
                <a:stretch>
                  <a:fillRect r="-15385"/>
                </a:stretch>
              </a:blipFill>
            </p:spPr>
            <p:txBody>
              <a:bodyPr/>
              <a:lstStyle/>
              <a:p>
                <a:r>
                  <a:rPr lang="vi-VN">
                    <a:noFill/>
                  </a:rPr>
                  <a:t> </a:t>
                </a:r>
              </a:p>
            </p:txBody>
          </p:sp>
        </mc:Fallback>
      </mc:AlternateContent>
      <p:sp>
        <p:nvSpPr>
          <p:cNvPr id="23" name="TextBox 22">
            <a:extLst>
              <a:ext uri="{FF2B5EF4-FFF2-40B4-BE49-F238E27FC236}">
                <a16:creationId xmlns:a16="http://schemas.microsoft.com/office/drawing/2014/main" id="{9D07451F-3B43-6B9E-0BC7-CD8F4C0A73D1}"/>
              </a:ext>
            </a:extLst>
          </p:cNvPr>
          <p:cNvSpPr txBox="1"/>
          <p:nvPr/>
        </p:nvSpPr>
        <p:spPr>
          <a:xfrm>
            <a:off x="1082042" y="1019785"/>
            <a:ext cx="1161919" cy="276999"/>
          </a:xfrm>
          <a:prstGeom prst="rect">
            <a:avLst/>
          </a:prstGeom>
          <a:noFill/>
        </p:spPr>
        <p:txBody>
          <a:bodyPr wrap="square" rtlCol="0">
            <a:spAutoFit/>
          </a:bodyPr>
          <a:lstStyle/>
          <a:p>
            <a:r>
              <a:rPr lang="en-US" sz="1200">
                <a:solidFill>
                  <a:srgbClr val="FF0000"/>
                </a:solidFill>
              </a:rPr>
              <a:t>Normalized</a:t>
            </a:r>
            <a:endParaRPr lang="vi-VN" sz="1200">
              <a:solidFill>
                <a:srgbClr val="FF0000"/>
              </a:solidFill>
            </a:endParaRPr>
          </a:p>
        </p:txBody>
      </p:sp>
      <p:sp>
        <p:nvSpPr>
          <p:cNvPr id="24" name="TextBox 23">
            <a:extLst>
              <a:ext uri="{FF2B5EF4-FFF2-40B4-BE49-F238E27FC236}">
                <a16:creationId xmlns:a16="http://schemas.microsoft.com/office/drawing/2014/main" id="{C4961A39-CEC1-9C44-DB82-7B334574B5E9}"/>
              </a:ext>
            </a:extLst>
          </p:cNvPr>
          <p:cNvSpPr txBox="1"/>
          <p:nvPr/>
        </p:nvSpPr>
        <p:spPr>
          <a:xfrm>
            <a:off x="2797397" y="1019785"/>
            <a:ext cx="1161919" cy="276999"/>
          </a:xfrm>
          <a:prstGeom prst="rect">
            <a:avLst/>
          </a:prstGeom>
          <a:noFill/>
        </p:spPr>
        <p:txBody>
          <a:bodyPr wrap="square" rtlCol="0">
            <a:spAutoFit/>
          </a:bodyPr>
          <a:lstStyle/>
          <a:p>
            <a:r>
              <a:rPr lang="en-US" sz="1200">
                <a:solidFill>
                  <a:srgbClr val="FF0000"/>
                </a:solidFill>
              </a:rPr>
              <a:t>Encoded</a:t>
            </a:r>
            <a:endParaRPr lang="vi-VN" sz="1200">
              <a:solidFill>
                <a:srgbClr val="FF0000"/>
              </a:solidFill>
            </a:endParaRPr>
          </a:p>
        </p:txBody>
      </p:sp>
      <mc:AlternateContent xmlns:mc="http://schemas.openxmlformats.org/markup-compatibility/2006" xmlns:a14="http://schemas.microsoft.com/office/drawing/2010/main">
        <mc:Choice Requires="a14">
          <p:sp>
            <p:nvSpPr>
              <p:cNvPr id="29" name="Hình chữ nhật 63">
                <a:extLst>
                  <a:ext uri="{FF2B5EF4-FFF2-40B4-BE49-F238E27FC236}">
                    <a16:creationId xmlns:a16="http://schemas.microsoft.com/office/drawing/2014/main" id="{BC39F666-7F6F-FD9E-3757-E5811E29B629}"/>
                  </a:ext>
                </a:extLst>
              </p:cNvPr>
              <p:cNvSpPr/>
              <p:nvPr/>
            </p:nvSpPr>
            <p:spPr>
              <a:xfrm>
                <a:off x="3728393" y="999851"/>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2.11</m:t>
                          </m:r>
                        </m:e>
                      </m:d>
                    </m:oMath>
                  </m:oMathPara>
                </a14:m>
                <a:endParaRPr lang="vi-VN" sz="1200" i="1">
                  <a:solidFill>
                    <a:schemeClr val="tx1"/>
                  </a:solidFill>
                  <a:latin typeface="+mj-lt"/>
                  <a:cs typeface="Times New Roman" panose="02020603050405020304" pitchFamily="18" charset="0"/>
                </a:endParaRPr>
              </a:p>
            </p:txBody>
          </p:sp>
        </mc:Choice>
        <mc:Fallback xmlns="">
          <p:sp>
            <p:nvSpPr>
              <p:cNvPr id="29" name="Hình chữ nhật 63">
                <a:extLst>
                  <a:ext uri="{FF2B5EF4-FFF2-40B4-BE49-F238E27FC236}">
                    <a16:creationId xmlns:a16="http://schemas.microsoft.com/office/drawing/2014/main" id="{BC39F666-7F6F-FD9E-3757-E5811E29B629}"/>
                  </a:ext>
                </a:extLst>
              </p:cNvPr>
              <p:cNvSpPr>
                <a:spLocks noRot="1" noChangeAspect="1" noMove="1" noResize="1" noEditPoints="1" noAdjustHandles="1" noChangeArrowheads="1" noChangeShapeType="1" noTextEdit="1"/>
              </p:cNvSpPr>
              <p:nvPr/>
            </p:nvSpPr>
            <p:spPr>
              <a:xfrm>
                <a:off x="3728393" y="999851"/>
                <a:ext cx="831578" cy="255836"/>
              </a:xfrm>
              <a:prstGeom prst="rect">
                <a:avLst/>
              </a:prstGeom>
              <a:blipFill>
                <a:blip r:embed="rId8"/>
                <a:stretch>
                  <a:fillRect/>
                </a:stretch>
              </a:blipFill>
              <a:ln>
                <a:solidFill>
                  <a:schemeClr val="tx1"/>
                </a:solidFill>
              </a:ln>
            </p:spPr>
            <p:txBody>
              <a:bodyPr/>
              <a:lstStyle/>
              <a:p>
                <a:r>
                  <a:rPr lang="vi-VN">
                    <a:noFill/>
                  </a:rPr>
                  <a:t> </a:t>
                </a:r>
              </a:p>
            </p:txBody>
          </p:sp>
        </mc:Fallback>
      </mc:AlternateContent>
      <p:sp>
        <p:nvSpPr>
          <p:cNvPr id="31" name="Hình Bầu dục 65">
            <a:extLst>
              <a:ext uri="{FF2B5EF4-FFF2-40B4-BE49-F238E27FC236}">
                <a16:creationId xmlns:a16="http://schemas.microsoft.com/office/drawing/2014/main" id="{3E1F9DA3-1438-0C68-7270-618E7609721B}"/>
              </a:ext>
            </a:extLst>
          </p:cNvPr>
          <p:cNvSpPr/>
          <p:nvPr/>
        </p:nvSpPr>
        <p:spPr>
          <a:xfrm>
            <a:off x="4822489" y="1073647"/>
            <a:ext cx="94115" cy="8287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32" name="Hình chữ nhật 66">
                <a:extLst>
                  <a:ext uri="{FF2B5EF4-FFF2-40B4-BE49-F238E27FC236}">
                    <a16:creationId xmlns:a16="http://schemas.microsoft.com/office/drawing/2014/main" id="{0BAC6FFB-E5DB-99E9-E8C9-703CC7C1DD86}"/>
                  </a:ext>
                </a:extLst>
              </p:cNvPr>
              <p:cNvSpPr/>
              <p:nvPr/>
            </p:nvSpPr>
            <p:spPr>
              <a:xfrm>
                <a:off x="3728393" y="1281425"/>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−2.86</m:t>
                          </m:r>
                        </m:e>
                      </m:d>
                    </m:oMath>
                  </m:oMathPara>
                </a14:m>
                <a:endParaRPr lang="vi-VN" sz="1200" i="1">
                  <a:solidFill>
                    <a:schemeClr val="tx1"/>
                  </a:solidFill>
                  <a:latin typeface="+mj-lt"/>
                  <a:cs typeface="Times New Roman" panose="02020603050405020304" pitchFamily="18" charset="0"/>
                </a:endParaRPr>
              </a:p>
            </p:txBody>
          </p:sp>
        </mc:Choice>
        <mc:Fallback xmlns="">
          <p:sp>
            <p:nvSpPr>
              <p:cNvPr id="32" name="Hình chữ nhật 66">
                <a:extLst>
                  <a:ext uri="{FF2B5EF4-FFF2-40B4-BE49-F238E27FC236}">
                    <a16:creationId xmlns:a16="http://schemas.microsoft.com/office/drawing/2014/main" id="{0BAC6FFB-E5DB-99E9-E8C9-703CC7C1DD86}"/>
                  </a:ext>
                </a:extLst>
              </p:cNvPr>
              <p:cNvSpPr>
                <a:spLocks noRot="1" noChangeAspect="1" noMove="1" noResize="1" noEditPoints="1" noAdjustHandles="1" noChangeArrowheads="1" noChangeShapeType="1" noTextEdit="1"/>
              </p:cNvSpPr>
              <p:nvPr/>
            </p:nvSpPr>
            <p:spPr>
              <a:xfrm>
                <a:off x="3728393" y="1281425"/>
                <a:ext cx="831578" cy="255836"/>
              </a:xfrm>
              <a:prstGeom prst="rect">
                <a:avLst/>
              </a:prstGeom>
              <a:blipFill>
                <a:blip r:embed="rId9"/>
                <a:stretch>
                  <a:fillRect/>
                </a:stretch>
              </a:blipFill>
              <a:ln>
                <a:solidFill>
                  <a:schemeClr val="tx1"/>
                </a:solidFill>
              </a:ln>
            </p:spPr>
            <p:txBody>
              <a:bodyPr/>
              <a:lstStyle/>
              <a:p>
                <a:r>
                  <a:rPr lang="vi-VN">
                    <a:noFill/>
                  </a:rPr>
                  <a:t> </a:t>
                </a:r>
              </a:p>
            </p:txBody>
          </p:sp>
        </mc:Fallback>
      </mc:AlternateContent>
      <p:cxnSp>
        <p:nvCxnSpPr>
          <p:cNvPr id="33" name="Đường nối Thẳng 67">
            <a:extLst>
              <a:ext uri="{FF2B5EF4-FFF2-40B4-BE49-F238E27FC236}">
                <a16:creationId xmlns:a16="http://schemas.microsoft.com/office/drawing/2014/main" id="{7F50A165-5619-867B-9169-24B0ADD55492}"/>
              </a:ext>
            </a:extLst>
          </p:cNvPr>
          <p:cNvCxnSpPr>
            <a:cxnSpLocks/>
            <a:stCxn id="72" idx="4"/>
            <a:endCxn id="31" idx="4"/>
          </p:cNvCxnSpPr>
          <p:nvPr/>
        </p:nvCxnSpPr>
        <p:spPr>
          <a:xfrm flipV="1">
            <a:off x="4869546" y="1156526"/>
            <a:ext cx="1" cy="666795"/>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B82BB3B2-2F64-02B5-C9B8-159ACE12E4F5}"/>
              </a:ext>
            </a:extLst>
          </p:cNvPr>
          <p:cNvCxnSpPr/>
          <p:nvPr/>
        </p:nvCxnSpPr>
        <p:spPr>
          <a:xfrm>
            <a:off x="3596465" y="1710905"/>
            <a:ext cx="1554480" cy="0"/>
          </a:xfrm>
          <a:prstGeom prst="line">
            <a:avLst/>
          </a:prstGeom>
          <a:ln w="38100"/>
        </p:spPr>
        <p:style>
          <a:lnRef idx="1">
            <a:schemeClr val="dk1"/>
          </a:lnRef>
          <a:fillRef idx="0">
            <a:schemeClr val="dk1"/>
          </a:fillRef>
          <a:effectRef idx="0">
            <a:schemeClr val="dk1"/>
          </a:effectRef>
          <a:fontRef idx="minor">
            <a:schemeClr val="tx1"/>
          </a:fontRef>
        </p:style>
      </p:cxnSp>
      <p:sp>
        <p:nvSpPr>
          <p:cNvPr id="72" name="Oval 71">
            <a:extLst>
              <a:ext uri="{FF2B5EF4-FFF2-40B4-BE49-F238E27FC236}">
                <a16:creationId xmlns:a16="http://schemas.microsoft.com/office/drawing/2014/main" id="{88C9B65A-8B42-ECB5-57AC-28B4C1B81DD8}"/>
              </a:ext>
            </a:extLst>
          </p:cNvPr>
          <p:cNvSpPr/>
          <p:nvPr/>
        </p:nvSpPr>
        <p:spPr>
          <a:xfrm>
            <a:off x="4755775" y="1595779"/>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4" name="Oval 73">
            <a:extLst>
              <a:ext uri="{FF2B5EF4-FFF2-40B4-BE49-F238E27FC236}">
                <a16:creationId xmlns:a16="http://schemas.microsoft.com/office/drawing/2014/main" id="{596A6A31-5254-884F-C2AE-E3178BC358F2}"/>
              </a:ext>
            </a:extLst>
          </p:cNvPr>
          <p:cNvSpPr/>
          <p:nvPr/>
        </p:nvSpPr>
        <p:spPr>
          <a:xfrm>
            <a:off x="4755775" y="1305547"/>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75" name="Straight Connector 74">
            <a:extLst>
              <a:ext uri="{FF2B5EF4-FFF2-40B4-BE49-F238E27FC236}">
                <a16:creationId xmlns:a16="http://schemas.microsoft.com/office/drawing/2014/main" id="{D4DE7C2C-49C5-5A1E-2E24-070B71F5BAEA}"/>
              </a:ext>
            </a:extLst>
          </p:cNvPr>
          <p:cNvCxnSpPr/>
          <p:nvPr/>
        </p:nvCxnSpPr>
        <p:spPr>
          <a:xfrm>
            <a:off x="341366" y="2552782"/>
            <a:ext cx="25603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AA3057FE-AE27-2FE4-84F5-936AFB4A7EB9}"/>
              </a:ext>
            </a:extLst>
          </p:cNvPr>
          <p:cNvCxnSpPr/>
          <p:nvPr/>
        </p:nvCxnSpPr>
        <p:spPr>
          <a:xfrm>
            <a:off x="341366" y="2843900"/>
            <a:ext cx="25603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7" name="Hình chữ nhật 63">
                <a:extLst>
                  <a:ext uri="{FF2B5EF4-FFF2-40B4-BE49-F238E27FC236}">
                    <a16:creationId xmlns:a16="http://schemas.microsoft.com/office/drawing/2014/main" id="{6CFAD337-8425-E27A-B0B0-4F81277FA269}"/>
                  </a:ext>
                </a:extLst>
              </p:cNvPr>
              <p:cNvSpPr/>
              <p:nvPr/>
            </p:nvSpPr>
            <p:spPr>
              <a:xfrm>
                <a:off x="473294" y="2426966"/>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2.11</m:t>
                          </m:r>
                        </m:e>
                      </m:d>
                    </m:oMath>
                  </m:oMathPara>
                </a14:m>
                <a:endParaRPr lang="vi-VN" sz="1200" i="1">
                  <a:solidFill>
                    <a:schemeClr val="tx1"/>
                  </a:solidFill>
                  <a:latin typeface="+mj-lt"/>
                  <a:cs typeface="Times New Roman" panose="02020603050405020304" pitchFamily="18" charset="0"/>
                </a:endParaRPr>
              </a:p>
            </p:txBody>
          </p:sp>
        </mc:Choice>
        <mc:Fallback xmlns="">
          <p:sp>
            <p:nvSpPr>
              <p:cNvPr id="77" name="Hình chữ nhật 63">
                <a:extLst>
                  <a:ext uri="{FF2B5EF4-FFF2-40B4-BE49-F238E27FC236}">
                    <a16:creationId xmlns:a16="http://schemas.microsoft.com/office/drawing/2014/main" id="{6CFAD337-8425-E27A-B0B0-4F81277FA269}"/>
                  </a:ext>
                </a:extLst>
              </p:cNvPr>
              <p:cNvSpPr>
                <a:spLocks noRot="1" noChangeAspect="1" noMove="1" noResize="1" noEditPoints="1" noAdjustHandles="1" noChangeArrowheads="1" noChangeShapeType="1" noTextEdit="1"/>
              </p:cNvSpPr>
              <p:nvPr/>
            </p:nvSpPr>
            <p:spPr>
              <a:xfrm>
                <a:off x="473294" y="2426966"/>
                <a:ext cx="831578" cy="255836"/>
              </a:xfrm>
              <a:prstGeom prst="rect">
                <a:avLst/>
              </a:prstGeom>
              <a:blipFill>
                <a:blip r:embed="rId10"/>
                <a:stretch>
                  <a:fillRect/>
                </a:stretch>
              </a:blipFill>
              <a:ln>
                <a:solidFill>
                  <a:schemeClr val="tx1"/>
                </a:solidFill>
              </a:ln>
            </p:spPr>
            <p:txBody>
              <a:bodyPr/>
              <a:lstStyle/>
              <a:p>
                <a:r>
                  <a:rPr lang="vi-VN">
                    <a:noFill/>
                  </a:rPr>
                  <a:t> </a:t>
                </a:r>
              </a:p>
            </p:txBody>
          </p:sp>
        </mc:Fallback>
      </mc:AlternateContent>
      <p:sp>
        <p:nvSpPr>
          <p:cNvPr id="78" name="Hình Bầu dục 65">
            <a:extLst>
              <a:ext uri="{FF2B5EF4-FFF2-40B4-BE49-F238E27FC236}">
                <a16:creationId xmlns:a16="http://schemas.microsoft.com/office/drawing/2014/main" id="{FE54E094-F104-647C-3C7C-19C232A71BB3}"/>
              </a:ext>
            </a:extLst>
          </p:cNvPr>
          <p:cNvSpPr/>
          <p:nvPr/>
        </p:nvSpPr>
        <p:spPr>
          <a:xfrm>
            <a:off x="1448122" y="2500762"/>
            <a:ext cx="94115" cy="8287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79" name="Hình chữ nhật 66">
                <a:extLst>
                  <a:ext uri="{FF2B5EF4-FFF2-40B4-BE49-F238E27FC236}">
                    <a16:creationId xmlns:a16="http://schemas.microsoft.com/office/drawing/2014/main" id="{D7277955-300F-4A55-FAD8-CE08DB57A93B}"/>
                  </a:ext>
                </a:extLst>
              </p:cNvPr>
              <p:cNvSpPr/>
              <p:nvPr/>
            </p:nvSpPr>
            <p:spPr>
              <a:xfrm>
                <a:off x="473294" y="2708540"/>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−2.86</m:t>
                          </m:r>
                        </m:e>
                      </m:d>
                    </m:oMath>
                  </m:oMathPara>
                </a14:m>
                <a:endParaRPr lang="vi-VN" sz="1200" i="1">
                  <a:solidFill>
                    <a:schemeClr val="tx1"/>
                  </a:solidFill>
                  <a:latin typeface="+mj-lt"/>
                  <a:cs typeface="Times New Roman" panose="02020603050405020304" pitchFamily="18" charset="0"/>
                </a:endParaRPr>
              </a:p>
            </p:txBody>
          </p:sp>
        </mc:Choice>
        <mc:Fallback xmlns="">
          <p:sp>
            <p:nvSpPr>
              <p:cNvPr id="79" name="Hình chữ nhật 66">
                <a:extLst>
                  <a:ext uri="{FF2B5EF4-FFF2-40B4-BE49-F238E27FC236}">
                    <a16:creationId xmlns:a16="http://schemas.microsoft.com/office/drawing/2014/main" id="{D7277955-300F-4A55-FAD8-CE08DB57A93B}"/>
                  </a:ext>
                </a:extLst>
              </p:cNvPr>
              <p:cNvSpPr>
                <a:spLocks noRot="1" noChangeAspect="1" noMove="1" noResize="1" noEditPoints="1" noAdjustHandles="1" noChangeArrowheads="1" noChangeShapeType="1" noTextEdit="1"/>
              </p:cNvSpPr>
              <p:nvPr/>
            </p:nvSpPr>
            <p:spPr>
              <a:xfrm>
                <a:off x="473294" y="2708540"/>
                <a:ext cx="831578" cy="255836"/>
              </a:xfrm>
              <a:prstGeom prst="rect">
                <a:avLst/>
              </a:prstGeom>
              <a:blipFill>
                <a:blip r:embed="rId11"/>
                <a:stretch>
                  <a:fillRect/>
                </a:stretch>
              </a:blipFill>
              <a:ln>
                <a:solidFill>
                  <a:schemeClr val="tx1"/>
                </a:solidFill>
              </a:ln>
            </p:spPr>
            <p:txBody>
              <a:bodyPr/>
              <a:lstStyle/>
              <a:p>
                <a:r>
                  <a:rPr lang="vi-VN">
                    <a:noFill/>
                  </a:rPr>
                  <a:t> </a:t>
                </a:r>
              </a:p>
            </p:txBody>
          </p:sp>
        </mc:Fallback>
      </mc:AlternateContent>
      <p:cxnSp>
        <p:nvCxnSpPr>
          <p:cNvPr id="80" name="Đường nối Thẳng 67">
            <a:extLst>
              <a:ext uri="{FF2B5EF4-FFF2-40B4-BE49-F238E27FC236}">
                <a16:creationId xmlns:a16="http://schemas.microsoft.com/office/drawing/2014/main" id="{07E76FA0-03F5-89BF-20E4-5CF9959D7C42}"/>
              </a:ext>
            </a:extLst>
          </p:cNvPr>
          <p:cNvCxnSpPr>
            <a:cxnSpLocks/>
            <a:stCxn id="83" idx="4"/>
            <a:endCxn id="78" idx="4"/>
          </p:cNvCxnSpPr>
          <p:nvPr/>
        </p:nvCxnSpPr>
        <p:spPr>
          <a:xfrm flipV="1">
            <a:off x="1495179" y="2583641"/>
            <a:ext cx="1" cy="666795"/>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6C86205E-75CC-03FF-150C-9F0D5193A4F8}"/>
              </a:ext>
            </a:extLst>
          </p:cNvPr>
          <p:cNvCxnSpPr/>
          <p:nvPr/>
        </p:nvCxnSpPr>
        <p:spPr>
          <a:xfrm>
            <a:off x="341366" y="3138020"/>
            <a:ext cx="25603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2" name="Hình chữ nhật 66">
                <a:extLst>
                  <a:ext uri="{FF2B5EF4-FFF2-40B4-BE49-F238E27FC236}">
                    <a16:creationId xmlns:a16="http://schemas.microsoft.com/office/drawing/2014/main" id="{FEBCF3A0-AECB-8970-95EF-509E3AF405A7}"/>
                  </a:ext>
                </a:extLst>
              </p:cNvPr>
              <p:cNvSpPr/>
              <p:nvPr/>
            </p:nvSpPr>
            <p:spPr>
              <a:xfrm>
                <a:off x="473294" y="3010102"/>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1.48</m:t>
                          </m:r>
                        </m:e>
                      </m:d>
                    </m:oMath>
                  </m:oMathPara>
                </a14:m>
                <a:endParaRPr lang="vi-VN" sz="1200" i="1">
                  <a:solidFill>
                    <a:schemeClr val="tx1"/>
                  </a:solidFill>
                  <a:latin typeface="+mj-lt"/>
                  <a:cs typeface="Times New Roman" panose="02020603050405020304" pitchFamily="18" charset="0"/>
                </a:endParaRPr>
              </a:p>
            </p:txBody>
          </p:sp>
        </mc:Choice>
        <mc:Fallback xmlns="">
          <p:sp>
            <p:nvSpPr>
              <p:cNvPr id="82" name="Hình chữ nhật 66">
                <a:extLst>
                  <a:ext uri="{FF2B5EF4-FFF2-40B4-BE49-F238E27FC236}">
                    <a16:creationId xmlns:a16="http://schemas.microsoft.com/office/drawing/2014/main" id="{FEBCF3A0-AECB-8970-95EF-509E3AF405A7}"/>
                  </a:ext>
                </a:extLst>
              </p:cNvPr>
              <p:cNvSpPr>
                <a:spLocks noRot="1" noChangeAspect="1" noMove="1" noResize="1" noEditPoints="1" noAdjustHandles="1" noChangeArrowheads="1" noChangeShapeType="1" noTextEdit="1"/>
              </p:cNvSpPr>
              <p:nvPr/>
            </p:nvSpPr>
            <p:spPr>
              <a:xfrm>
                <a:off x="473294" y="3010102"/>
                <a:ext cx="831578" cy="255836"/>
              </a:xfrm>
              <a:prstGeom prst="rect">
                <a:avLst/>
              </a:prstGeom>
              <a:blipFill>
                <a:blip r:embed="rId12"/>
                <a:stretch>
                  <a:fillRect/>
                </a:stretch>
              </a:blipFill>
              <a:ln>
                <a:solidFill>
                  <a:schemeClr val="tx1"/>
                </a:solidFill>
              </a:ln>
            </p:spPr>
            <p:txBody>
              <a:bodyPr/>
              <a:lstStyle/>
              <a:p>
                <a:r>
                  <a:rPr lang="vi-VN">
                    <a:noFill/>
                  </a:rPr>
                  <a:t> </a:t>
                </a:r>
              </a:p>
            </p:txBody>
          </p:sp>
        </mc:Fallback>
      </mc:AlternateContent>
      <p:sp>
        <p:nvSpPr>
          <p:cNvPr id="83" name="Oval 82">
            <a:extLst>
              <a:ext uri="{FF2B5EF4-FFF2-40B4-BE49-F238E27FC236}">
                <a16:creationId xmlns:a16="http://schemas.microsoft.com/office/drawing/2014/main" id="{DE6E1FDF-D2F8-13B0-96B9-030DE750A763}"/>
              </a:ext>
            </a:extLst>
          </p:cNvPr>
          <p:cNvSpPr/>
          <p:nvPr/>
        </p:nvSpPr>
        <p:spPr>
          <a:xfrm>
            <a:off x="1381408" y="3022894"/>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4" name="Oval 83">
            <a:extLst>
              <a:ext uri="{FF2B5EF4-FFF2-40B4-BE49-F238E27FC236}">
                <a16:creationId xmlns:a16="http://schemas.microsoft.com/office/drawing/2014/main" id="{B2231811-266B-79E0-B858-6A7CBB6082FB}"/>
              </a:ext>
            </a:extLst>
          </p:cNvPr>
          <p:cNvSpPr/>
          <p:nvPr/>
        </p:nvSpPr>
        <p:spPr>
          <a:xfrm>
            <a:off x="1381408" y="2732662"/>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85" name="Straight Connector 84">
            <a:extLst>
              <a:ext uri="{FF2B5EF4-FFF2-40B4-BE49-F238E27FC236}">
                <a16:creationId xmlns:a16="http://schemas.microsoft.com/office/drawing/2014/main" id="{4FDAF4F0-EDC6-FFA8-98FD-4EBE4D4A0982}"/>
              </a:ext>
            </a:extLst>
          </p:cNvPr>
          <p:cNvCxnSpPr/>
          <p:nvPr/>
        </p:nvCxnSpPr>
        <p:spPr>
          <a:xfrm>
            <a:off x="338573" y="3441589"/>
            <a:ext cx="25603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86" name="Straight Connector 85">
            <a:extLst>
              <a:ext uri="{FF2B5EF4-FFF2-40B4-BE49-F238E27FC236}">
                <a16:creationId xmlns:a16="http://schemas.microsoft.com/office/drawing/2014/main" id="{AF8AFA79-16E2-DCCB-EE1E-B6D20DDC75DA}"/>
              </a:ext>
            </a:extLst>
          </p:cNvPr>
          <p:cNvCxnSpPr/>
          <p:nvPr/>
        </p:nvCxnSpPr>
        <p:spPr>
          <a:xfrm>
            <a:off x="338573" y="3732707"/>
            <a:ext cx="25603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7" name="Hình chữ nhật 63">
                <a:extLst>
                  <a:ext uri="{FF2B5EF4-FFF2-40B4-BE49-F238E27FC236}">
                    <a16:creationId xmlns:a16="http://schemas.microsoft.com/office/drawing/2014/main" id="{B2B58785-28E0-2B9B-8C69-7B80B7733A9E}"/>
                  </a:ext>
                </a:extLst>
              </p:cNvPr>
              <p:cNvSpPr/>
              <p:nvPr/>
            </p:nvSpPr>
            <p:spPr>
              <a:xfrm>
                <a:off x="470501" y="3315773"/>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1.44</m:t>
                          </m:r>
                        </m:e>
                      </m:d>
                    </m:oMath>
                  </m:oMathPara>
                </a14:m>
                <a:endParaRPr lang="vi-VN" sz="1200" i="1">
                  <a:solidFill>
                    <a:schemeClr val="tx1"/>
                  </a:solidFill>
                  <a:latin typeface="+mj-lt"/>
                  <a:cs typeface="Times New Roman" panose="02020603050405020304" pitchFamily="18" charset="0"/>
                </a:endParaRPr>
              </a:p>
            </p:txBody>
          </p:sp>
        </mc:Choice>
        <mc:Fallback xmlns="">
          <p:sp>
            <p:nvSpPr>
              <p:cNvPr id="87" name="Hình chữ nhật 63">
                <a:extLst>
                  <a:ext uri="{FF2B5EF4-FFF2-40B4-BE49-F238E27FC236}">
                    <a16:creationId xmlns:a16="http://schemas.microsoft.com/office/drawing/2014/main" id="{B2B58785-28E0-2B9B-8C69-7B80B7733A9E}"/>
                  </a:ext>
                </a:extLst>
              </p:cNvPr>
              <p:cNvSpPr>
                <a:spLocks noRot="1" noChangeAspect="1" noMove="1" noResize="1" noEditPoints="1" noAdjustHandles="1" noChangeArrowheads="1" noChangeShapeType="1" noTextEdit="1"/>
              </p:cNvSpPr>
              <p:nvPr/>
            </p:nvSpPr>
            <p:spPr>
              <a:xfrm>
                <a:off x="470501" y="3315773"/>
                <a:ext cx="831578" cy="255836"/>
              </a:xfrm>
              <a:prstGeom prst="rect">
                <a:avLst/>
              </a:prstGeom>
              <a:blipFill>
                <a:blip r:embed="rId13"/>
                <a:stretch>
                  <a:fillRect/>
                </a:stretch>
              </a:blipFill>
              <a:ln>
                <a:solidFill>
                  <a:schemeClr val="tx1"/>
                </a:solidFill>
              </a:ln>
            </p:spPr>
            <p:txBody>
              <a:bodyPr/>
              <a:lstStyle/>
              <a:p>
                <a:r>
                  <a:rPr lang="vi-VN">
                    <a:noFill/>
                  </a:rPr>
                  <a:t> </a:t>
                </a:r>
              </a:p>
            </p:txBody>
          </p:sp>
        </mc:Fallback>
      </mc:AlternateContent>
      <p:sp>
        <p:nvSpPr>
          <p:cNvPr id="88" name="Hình Bầu dục 65">
            <a:extLst>
              <a:ext uri="{FF2B5EF4-FFF2-40B4-BE49-F238E27FC236}">
                <a16:creationId xmlns:a16="http://schemas.microsoft.com/office/drawing/2014/main" id="{4E5E31CC-D9F3-EB1E-FB83-0359FBB6ECF4}"/>
              </a:ext>
            </a:extLst>
          </p:cNvPr>
          <p:cNvSpPr/>
          <p:nvPr/>
        </p:nvSpPr>
        <p:spPr>
          <a:xfrm>
            <a:off x="1445329" y="3389569"/>
            <a:ext cx="94115" cy="8287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89" name="Hình chữ nhật 66">
                <a:extLst>
                  <a:ext uri="{FF2B5EF4-FFF2-40B4-BE49-F238E27FC236}">
                    <a16:creationId xmlns:a16="http://schemas.microsoft.com/office/drawing/2014/main" id="{B2617B0C-799F-2FB2-0799-DB548A690A91}"/>
                  </a:ext>
                </a:extLst>
              </p:cNvPr>
              <p:cNvSpPr/>
              <p:nvPr/>
            </p:nvSpPr>
            <p:spPr>
              <a:xfrm>
                <a:off x="470501" y="3597347"/>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1.18</m:t>
                          </m:r>
                        </m:e>
                      </m:d>
                    </m:oMath>
                  </m:oMathPara>
                </a14:m>
                <a:endParaRPr lang="vi-VN" sz="1200" i="1">
                  <a:solidFill>
                    <a:schemeClr val="tx1"/>
                  </a:solidFill>
                  <a:latin typeface="+mj-lt"/>
                  <a:cs typeface="Times New Roman" panose="02020603050405020304" pitchFamily="18" charset="0"/>
                </a:endParaRPr>
              </a:p>
            </p:txBody>
          </p:sp>
        </mc:Choice>
        <mc:Fallback xmlns="">
          <p:sp>
            <p:nvSpPr>
              <p:cNvPr id="89" name="Hình chữ nhật 66">
                <a:extLst>
                  <a:ext uri="{FF2B5EF4-FFF2-40B4-BE49-F238E27FC236}">
                    <a16:creationId xmlns:a16="http://schemas.microsoft.com/office/drawing/2014/main" id="{B2617B0C-799F-2FB2-0799-DB548A690A91}"/>
                  </a:ext>
                </a:extLst>
              </p:cNvPr>
              <p:cNvSpPr>
                <a:spLocks noRot="1" noChangeAspect="1" noMove="1" noResize="1" noEditPoints="1" noAdjustHandles="1" noChangeArrowheads="1" noChangeShapeType="1" noTextEdit="1"/>
              </p:cNvSpPr>
              <p:nvPr/>
            </p:nvSpPr>
            <p:spPr>
              <a:xfrm>
                <a:off x="470501" y="3597347"/>
                <a:ext cx="831578" cy="255836"/>
              </a:xfrm>
              <a:prstGeom prst="rect">
                <a:avLst/>
              </a:prstGeom>
              <a:blipFill>
                <a:blip r:embed="rId14"/>
                <a:stretch>
                  <a:fillRect/>
                </a:stretch>
              </a:blipFill>
              <a:ln>
                <a:solidFill>
                  <a:schemeClr val="tx1"/>
                </a:solidFill>
              </a:ln>
            </p:spPr>
            <p:txBody>
              <a:bodyPr/>
              <a:lstStyle/>
              <a:p>
                <a:r>
                  <a:rPr lang="vi-VN">
                    <a:noFill/>
                  </a:rPr>
                  <a:t> </a:t>
                </a:r>
              </a:p>
            </p:txBody>
          </p:sp>
        </mc:Fallback>
      </mc:AlternateContent>
      <p:cxnSp>
        <p:nvCxnSpPr>
          <p:cNvPr id="90" name="Đường nối Thẳng 67">
            <a:extLst>
              <a:ext uri="{FF2B5EF4-FFF2-40B4-BE49-F238E27FC236}">
                <a16:creationId xmlns:a16="http://schemas.microsoft.com/office/drawing/2014/main" id="{AD5C37A1-DD8F-E8A3-D621-B973B579EF8A}"/>
              </a:ext>
            </a:extLst>
          </p:cNvPr>
          <p:cNvCxnSpPr>
            <a:cxnSpLocks/>
            <a:stCxn id="93" idx="4"/>
            <a:endCxn id="88" idx="4"/>
          </p:cNvCxnSpPr>
          <p:nvPr/>
        </p:nvCxnSpPr>
        <p:spPr>
          <a:xfrm flipV="1">
            <a:off x="1492386" y="3472448"/>
            <a:ext cx="1" cy="666795"/>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75524CDA-3EE6-DE8E-BD44-AF1277F348B8}"/>
              </a:ext>
            </a:extLst>
          </p:cNvPr>
          <p:cNvCxnSpPr/>
          <p:nvPr/>
        </p:nvCxnSpPr>
        <p:spPr>
          <a:xfrm>
            <a:off x="338573" y="4026827"/>
            <a:ext cx="25603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2" name="Hình chữ nhật 66">
                <a:extLst>
                  <a:ext uri="{FF2B5EF4-FFF2-40B4-BE49-F238E27FC236}">
                    <a16:creationId xmlns:a16="http://schemas.microsoft.com/office/drawing/2014/main" id="{2D3FE4DD-45F4-4A90-B2B0-AE06AA95D68D}"/>
                  </a:ext>
                </a:extLst>
              </p:cNvPr>
              <p:cNvSpPr/>
              <p:nvPr/>
            </p:nvSpPr>
            <p:spPr>
              <a:xfrm>
                <a:off x="470501" y="3898909"/>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2.5</m:t>
                          </m:r>
                        </m:e>
                      </m:d>
                    </m:oMath>
                  </m:oMathPara>
                </a14:m>
                <a:endParaRPr lang="vi-VN" sz="1200" i="1">
                  <a:solidFill>
                    <a:schemeClr val="tx1"/>
                  </a:solidFill>
                  <a:latin typeface="+mj-lt"/>
                  <a:cs typeface="Times New Roman" panose="02020603050405020304" pitchFamily="18" charset="0"/>
                </a:endParaRPr>
              </a:p>
            </p:txBody>
          </p:sp>
        </mc:Choice>
        <mc:Fallback xmlns="">
          <p:sp>
            <p:nvSpPr>
              <p:cNvPr id="92" name="Hình chữ nhật 66">
                <a:extLst>
                  <a:ext uri="{FF2B5EF4-FFF2-40B4-BE49-F238E27FC236}">
                    <a16:creationId xmlns:a16="http://schemas.microsoft.com/office/drawing/2014/main" id="{2D3FE4DD-45F4-4A90-B2B0-AE06AA95D68D}"/>
                  </a:ext>
                </a:extLst>
              </p:cNvPr>
              <p:cNvSpPr>
                <a:spLocks noRot="1" noChangeAspect="1" noMove="1" noResize="1" noEditPoints="1" noAdjustHandles="1" noChangeArrowheads="1" noChangeShapeType="1" noTextEdit="1"/>
              </p:cNvSpPr>
              <p:nvPr/>
            </p:nvSpPr>
            <p:spPr>
              <a:xfrm>
                <a:off x="470501" y="3898909"/>
                <a:ext cx="831578" cy="255836"/>
              </a:xfrm>
              <a:prstGeom prst="rect">
                <a:avLst/>
              </a:prstGeom>
              <a:blipFill>
                <a:blip r:embed="rId15"/>
                <a:stretch>
                  <a:fillRect/>
                </a:stretch>
              </a:blipFill>
              <a:ln>
                <a:solidFill>
                  <a:schemeClr val="tx1"/>
                </a:solidFill>
              </a:ln>
            </p:spPr>
            <p:txBody>
              <a:bodyPr/>
              <a:lstStyle/>
              <a:p>
                <a:r>
                  <a:rPr lang="vi-VN">
                    <a:noFill/>
                  </a:rPr>
                  <a:t> </a:t>
                </a:r>
              </a:p>
            </p:txBody>
          </p:sp>
        </mc:Fallback>
      </mc:AlternateContent>
      <p:sp>
        <p:nvSpPr>
          <p:cNvPr id="93" name="Oval 92">
            <a:extLst>
              <a:ext uri="{FF2B5EF4-FFF2-40B4-BE49-F238E27FC236}">
                <a16:creationId xmlns:a16="http://schemas.microsoft.com/office/drawing/2014/main" id="{A7BB4A40-50A3-69E6-C2A7-06C87F5D5018}"/>
              </a:ext>
            </a:extLst>
          </p:cNvPr>
          <p:cNvSpPr/>
          <p:nvPr/>
        </p:nvSpPr>
        <p:spPr>
          <a:xfrm>
            <a:off x="1378615" y="3911701"/>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4" name="Oval 93">
            <a:extLst>
              <a:ext uri="{FF2B5EF4-FFF2-40B4-BE49-F238E27FC236}">
                <a16:creationId xmlns:a16="http://schemas.microsoft.com/office/drawing/2014/main" id="{69A8D951-61D9-696E-26D4-61A1C97238F4}"/>
              </a:ext>
            </a:extLst>
          </p:cNvPr>
          <p:cNvSpPr/>
          <p:nvPr/>
        </p:nvSpPr>
        <p:spPr>
          <a:xfrm>
            <a:off x="1378615" y="3621469"/>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96" name="Đường nối Thẳng 67">
            <a:extLst>
              <a:ext uri="{FF2B5EF4-FFF2-40B4-BE49-F238E27FC236}">
                <a16:creationId xmlns:a16="http://schemas.microsoft.com/office/drawing/2014/main" id="{D38BBE35-E32F-BF36-0715-0279B4DDB2A4}"/>
              </a:ext>
            </a:extLst>
          </p:cNvPr>
          <p:cNvCxnSpPr>
            <a:cxnSpLocks/>
            <a:stCxn id="97" idx="4"/>
            <a:endCxn id="95" idx="4"/>
          </p:cNvCxnSpPr>
          <p:nvPr/>
        </p:nvCxnSpPr>
        <p:spPr>
          <a:xfrm flipV="1">
            <a:off x="2212656" y="2303366"/>
            <a:ext cx="1" cy="1544235"/>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97" name="Oval 96">
            <a:extLst>
              <a:ext uri="{FF2B5EF4-FFF2-40B4-BE49-F238E27FC236}">
                <a16:creationId xmlns:a16="http://schemas.microsoft.com/office/drawing/2014/main" id="{9675AA2D-9ED0-7A3B-00C2-7FEB32B0EFBF}"/>
              </a:ext>
            </a:extLst>
          </p:cNvPr>
          <p:cNvSpPr/>
          <p:nvPr/>
        </p:nvSpPr>
        <p:spPr>
          <a:xfrm>
            <a:off x="2098885" y="3620059"/>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8" name="Oval 97">
            <a:extLst>
              <a:ext uri="{FF2B5EF4-FFF2-40B4-BE49-F238E27FC236}">
                <a16:creationId xmlns:a16="http://schemas.microsoft.com/office/drawing/2014/main" id="{EA4D2130-8160-25E9-D6E4-808C866D67B9}"/>
              </a:ext>
            </a:extLst>
          </p:cNvPr>
          <p:cNvSpPr/>
          <p:nvPr/>
        </p:nvSpPr>
        <p:spPr>
          <a:xfrm>
            <a:off x="2098885" y="2726709"/>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99" name="Straight Connector 98">
            <a:extLst>
              <a:ext uri="{FF2B5EF4-FFF2-40B4-BE49-F238E27FC236}">
                <a16:creationId xmlns:a16="http://schemas.microsoft.com/office/drawing/2014/main" id="{5CB2C2E8-A3F8-1537-4F74-181401F507ED}"/>
              </a:ext>
            </a:extLst>
          </p:cNvPr>
          <p:cNvCxnSpPr/>
          <p:nvPr/>
        </p:nvCxnSpPr>
        <p:spPr>
          <a:xfrm>
            <a:off x="338573" y="2261529"/>
            <a:ext cx="2560320" cy="0"/>
          </a:xfrm>
          <a:prstGeom prst="line">
            <a:avLst/>
          </a:prstGeom>
          <a:ln w="38100"/>
        </p:spPr>
        <p:style>
          <a:lnRef idx="1">
            <a:schemeClr val="dk1"/>
          </a:lnRef>
          <a:fillRef idx="0">
            <a:schemeClr val="dk1"/>
          </a:fillRef>
          <a:effectRef idx="0">
            <a:schemeClr val="dk1"/>
          </a:effectRef>
          <a:fontRef idx="minor">
            <a:schemeClr val="tx1"/>
          </a:fontRef>
        </p:style>
      </p:cxnSp>
      <p:sp>
        <p:nvSpPr>
          <p:cNvPr id="100" name="Hình Bầu dục 65">
            <a:extLst>
              <a:ext uri="{FF2B5EF4-FFF2-40B4-BE49-F238E27FC236}">
                <a16:creationId xmlns:a16="http://schemas.microsoft.com/office/drawing/2014/main" id="{60D1C97C-FD42-76D4-FCB5-1C2C73446F6F}"/>
              </a:ext>
            </a:extLst>
          </p:cNvPr>
          <p:cNvSpPr/>
          <p:nvPr/>
        </p:nvSpPr>
        <p:spPr>
          <a:xfrm>
            <a:off x="2508706" y="2216789"/>
            <a:ext cx="94115" cy="82879"/>
          </a:xfrm>
          <a:prstGeom prst="ellipse">
            <a:avLst/>
          </a:prstGeom>
          <a:solidFill>
            <a:schemeClr val="accent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101" name="Đường nối Thẳng 67">
            <a:extLst>
              <a:ext uri="{FF2B5EF4-FFF2-40B4-BE49-F238E27FC236}">
                <a16:creationId xmlns:a16="http://schemas.microsoft.com/office/drawing/2014/main" id="{DFA831C7-B1B8-C6CC-63F7-FFAA2D32E7C8}"/>
              </a:ext>
            </a:extLst>
          </p:cNvPr>
          <p:cNvCxnSpPr>
            <a:cxnSpLocks/>
            <a:stCxn id="102" idx="4"/>
            <a:endCxn id="100" idx="4"/>
          </p:cNvCxnSpPr>
          <p:nvPr/>
        </p:nvCxnSpPr>
        <p:spPr>
          <a:xfrm flipV="1">
            <a:off x="2555763" y="2299668"/>
            <a:ext cx="1" cy="1838877"/>
          </a:xfrm>
          <a:prstGeom prst="line">
            <a:avLst/>
          </a:prstGeom>
          <a:ln w="28575">
            <a:solidFill>
              <a:srgbClr val="0070C0"/>
            </a:solidFill>
          </a:ln>
        </p:spPr>
        <p:style>
          <a:lnRef idx="1">
            <a:schemeClr val="dk1"/>
          </a:lnRef>
          <a:fillRef idx="0">
            <a:schemeClr val="dk1"/>
          </a:fillRef>
          <a:effectRef idx="0">
            <a:schemeClr val="dk1"/>
          </a:effectRef>
          <a:fontRef idx="minor">
            <a:schemeClr val="tx1"/>
          </a:fontRef>
        </p:style>
      </p:cxnSp>
      <p:sp>
        <p:nvSpPr>
          <p:cNvPr id="102" name="Oval 101">
            <a:extLst>
              <a:ext uri="{FF2B5EF4-FFF2-40B4-BE49-F238E27FC236}">
                <a16:creationId xmlns:a16="http://schemas.microsoft.com/office/drawing/2014/main" id="{808CC47A-5798-F499-4BA4-4BFE3F650A4E}"/>
              </a:ext>
            </a:extLst>
          </p:cNvPr>
          <p:cNvSpPr/>
          <p:nvPr/>
        </p:nvSpPr>
        <p:spPr>
          <a:xfrm>
            <a:off x="2441992" y="3911003"/>
            <a:ext cx="227542" cy="227542"/>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3" name="Oval 102">
            <a:extLst>
              <a:ext uri="{FF2B5EF4-FFF2-40B4-BE49-F238E27FC236}">
                <a16:creationId xmlns:a16="http://schemas.microsoft.com/office/drawing/2014/main" id="{3460F397-FF53-66A6-EFEC-D595000E2169}"/>
              </a:ext>
            </a:extLst>
          </p:cNvPr>
          <p:cNvSpPr/>
          <p:nvPr/>
        </p:nvSpPr>
        <p:spPr>
          <a:xfrm>
            <a:off x="2441992" y="3014555"/>
            <a:ext cx="227542" cy="227542"/>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04" name="Hình chữ nhật 63">
                <a:extLst>
                  <a:ext uri="{FF2B5EF4-FFF2-40B4-BE49-F238E27FC236}">
                    <a16:creationId xmlns:a16="http://schemas.microsoft.com/office/drawing/2014/main" id="{6039F8CB-AFE4-D9D5-EB8A-B83A9E6D14B7}"/>
                  </a:ext>
                </a:extLst>
              </p:cNvPr>
              <p:cNvSpPr/>
              <p:nvPr/>
            </p:nvSpPr>
            <p:spPr>
              <a:xfrm>
                <a:off x="479753" y="2140588"/>
                <a:ext cx="24274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solidFill>
                            <a:schemeClr val="tx1"/>
                          </a:solidFill>
                          <a:latin typeface="Cambria Math" panose="02040503050406030204" pitchFamily="18" charset="0"/>
                          <a:cs typeface="Times New Roman" panose="02020603050405020304" pitchFamily="18" charset="0"/>
                        </a:rPr>
                        <m:t> </m:t>
                      </m:r>
                      <m:r>
                        <a:rPr lang="en-US" sz="1200" b="0" i="1" smtClean="0">
                          <a:solidFill>
                            <a:schemeClr val="tx1"/>
                          </a:solidFill>
                          <a:latin typeface="Cambria Math" panose="02040503050406030204" pitchFamily="18" charset="0"/>
                          <a:cs typeface="Times New Roman" panose="02020603050405020304" pitchFamily="18" charset="0"/>
                        </a:rPr>
                        <m:t>𝐻</m:t>
                      </m:r>
                    </m:oMath>
                  </m:oMathPara>
                </a14:m>
                <a:endParaRPr lang="vi-VN" sz="1200" i="1">
                  <a:solidFill>
                    <a:schemeClr val="tx1"/>
                  </a:solidFill>
                  <a:latin typeface="+mj-lt"/>
                  <a:cs typeface="Times New Roman" panose="02020603050405020304" pitchFamily="18" charset="0"/>
                </a:endParaRPr>
              </a:p>
            </p:txBody>
          </p:sp>
        </mc:Choice>
        <mc:Fallback xmlns="">
          <p:sp>
            <p:nvSpPr>
              <p:cNvPr id="104" name="Hình chữ nhật 63">
                <a:extLst>
                  <a:ext uri="{FF2B5EF4-FFF2-40B4-BE49-F238E27FC236}">
                    <a16:creationId xmlns:a16="http://schemas.microsoft.com/office/drawing/2014/main" id="{6039F8CB-AFE4-D9D5-EB8A-B83A9E6D14B7}"/>
                  </a:ext>
                </a:extLst>
              </p:cNvPr>
              <p:cNvSpPr>
                <a:spLocks noRot="1" noChangeAspect="1" noMove="1" noResize="1" noEditPoints="1" noAdjustHandles="1" noChangeArrowheads="1" noChangeShapeType="1" noTextEdit="1"/>
              </p:cNvSpPr>
              <p:nvPr/>
            </p:nvSpPr>
            <p:spPr>
              <a:xfrm>
                <a:off x="479753" y="2140588"/>
                <a:ext cx="242744" cy="255836"/>
              </a:xfrm>
              <a:prstGeom prst="rect">
                <a:avLst/>
              </a:prstGeom>
              <a:blipFill>
                <a:blip r:embed="rId16"/>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5" name="Hình chữ nhật 63">
                <a:extLst>
                  <a:ext uri="{FF2B5EF4-FFF2-40B4-BE49-F238E27FC236}">
                    <a16:creationId xmlns:a16="http://schemas.microsoft.com/office/drawing/2014/main" id="{592F7B29-693B-A7B5-EE2F-41920B8E0962}"/>
                  </a:ext>
                </a:extLst>
              </p:cNvPr>
              <p:cNvSpPr/>
              <p:nvPr/>
            </p:nvSpPr>
            <p:spPr>
              <a:xfrm>
                <a:off x="2754920" y="2143661"/>
                <a:ext cx="24274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solidFill>
                            <a:schemeClr val="tx1"/>
                          </a:solidFill>
                          <a:latin typeface="Cambria Math" panose="02040503050406030204" pitchFamily="18" charset="0"/>
                          <a:cs typeface="Times New Roman" panose="02020603050405020304" pitchFamily="18" charset="0"/>
                        </a:rPr>
                        <m:t> </m:t>
                      </m:r>
                      <m:r>
                        <a:rPr lang="en-US" sz="1200" b="0" i="1" smtClean="0">
                          <a:solidFill>
                            <a:schemeClr val="tx1"/>
                          </a:solidFill>
                          <a:latin typeface="Cambria Math" panose="02040503050406030204" pitchFamily="18" charset="0"/>
                          <a:cs typeface="Times New Roman" panose="02020603050405020304" pitchFamily="18" charset="0"/>
                        </a:rPr>
                        <m:t>𝐻</m:t>
                      </m:r>
                    </m:oMath>
                  </m:oMathPara>
                </a14:m>
                <a:endParaRPr lang="vi-VN" sz="1200" i="1">
                  <a:solidFill>
                    <a:schemeClr val="tx1"/>
                  </a:solidFill>
                  <a:latin typeface="+mj-lt"/>
                  <a:cs typeface="Times New Roman" panose="02020603050405020304" pitchFamily="18" charset="0"/>
                </a:endParaRPr>
              </a:p>
            </p:txBody>
          </p:sp>
        </mc:Choice>
        <mc:Fallback xmlns="">
          <p:sp>
            <p:nvSpPr>
              <p:cNvPr id="105" name="Hình chữ nhật 63">
                <a:extLst>
                  <a:ext uri="{FF2B5EF4-FFF2-40B4-BE49-F238E27FC236}">
                    <a16:creationId xmlns:a16="http://schemas.microsoft.com/office/drawing/2014/main" id="{592F7B29-693B-A7B5-EE2F-41920B8E0962}"/>
                  </a:ext>
                </a:extLst>
              </p:cNvPr>
              <p:cNvSpPr>
                <a:spLocks noRot="1" noChangeAspect="1" noMove="1" noResize="1" noEditPoints="1" noAdjustHandles="1" noChangeArrowheads="1" noChangeShapeType="1" noTextEdit="1"/>
              </p:cNvSpPr>
              <p:nvPr/>
            </p:nvSpPr>
            <p:spPr>
              <a:xfrm>
                <a:off x="2754920" y="2143661"/>
                <a:ext cx="242744" cy="255836"/>
              </a:xfrm>
              <a:prstGeom prst="rect">
                <a:avLst/>
              </a:prstGeom>
              <a:blipFill>
                <a:blip r:embed="rId17"/>
                <a:stretch>
                  <a:fillRect/>
                </a:stretch>
              </a:blipFill>
              <a:ln>
                <a:solidFill>
                  <a:schemeClr val="tx1"/>
                </a:solidFill>
              </a:ln>
            </p:spPr>
            <p:txBody>
              <a:bodyPr/>
              <a:lstStyle/>
              <a:p>
                <a:r>
                  <a:rPr lang="vi-VN">
                    <a:noFill/>
                  </a:rPr>
                  <a:t> </a:t>
                </a:r>
              </a:p>
            </p:txBody>
          </p:sp>
        </mc:Fallback>
      </mc:AlternateContent>
      <p:sp>
        <p:nvSpPr>
          <p:cNvPr id="106" name="Hình chữ nhật 36">
            <a:extLst>
              <a:ext uri="{FF2B5EF4-FFF2-40B4-BE49-F238E27FC236}">
                <a16:creationId xmlns:a16="http://schemas.microsoft.com/office/drawing/2014/main" id="{190EED40-388F-BB40-B8E1-372B69F43D38}"/>
              </a:ext>
            </a:extLst>
          </p:cNvPr>
          <p:cNvSpPr/>
          <p:nvPr/>
        </p:nvSpPr>
        <p:spPr>
          <a:xfrm>
            <a:off x="430056" y="3302615"/>
            <a:ext cx="1267564" cy="876015"/>
          </a:xfrm>
          <a:prstGeom prst="rect">
            <a:avLst/>
          </a:prstGeom>
          <a:noFill/>
          <a:ln w="12700">
            <a:solidFill>
              <a:srgbClr val="FF0000"/>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sz="1350"/>
          </a:p>
        </p:txBody>
      </p:sp>
      <mc:AlternateContent xmlns:mc="http://schemas.openxmlformats.org/markup-compatibility/2006" xmlns:a14="http://schemas.microsoft.com/office/drawing/2010/main">
        <mc:Choice Requires="a14">
          <p:sp>
            <p:nvSpPr>
              <p:cNvPr id="107" name="Hộp Văn bản 38">
                <a:extLst>
                  <a:ext uri="{FF2B5EF4-FFF2-40B4-BE49-F238E27FC236}">
                    <a16:creationId xmlns:a16="http://schemas.microsoft.com/office/drawing/2014/main" id="{6F789930-D83B-130A-5618-474800955046}"/>
                  </a:ext>
                </a:extLst>
              </p:cNvPr>
              <p:cNvSpPr txBox="1"/>
              <p:nvPr/>
            </p:nvSpPr>
            <p:spPr>
              <a:xfrm>
                <a:off x="3317398" y="3123325"/>
                <a:ext cx="345925" cy="30008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sSub>
                        <m:sSubPr>
                          <m:ctrlPr>
                            <a:rPr lang="en-US" sz="1350" b="0" i="1" smtClean="0">
                              <a:latin typeface="Cambria Math" panose="02040503050406030204" pitchFamily="18" charset="0"/>
                            </a:rPr>
                          </m:ctrlPr>
                        </m:sSubPr>
                        <m:e>
                          <m:r>
                            <a:rPr lang="en-US" sz="1350" i="1" smtClean="0">
                              <a:latin typeface="Cambria Math" panose="02040503050406030204" pitchFamily="18" charset="0"/>
                            </a:rPr>
                            <m:t>𝑝</m:t>
                          </m:r>
                        </m:e>
                        <m:sub>
                          <m:r>
                            <a:rPr lang="en-US" sz="1350" b="0" i="1" smtClean="0">
                              <a:latin typeface="Cambria Math" panose="02040503050406030204" pitchFamily="18" charset="0"/>
                            </a:rPr>
                            <m:t>0</m:t>
                          </m:r>
                        </m:sub>
                      </m:sSub>
                    </m:oMath>
                  </m:oMathPara>
                </a14:m>
                <a:endParaRPr lang="vi-VN" sz="1350"/>
              </a:p>
            </p:txBody>
          </p:sp>
        </mc:Choice>
        <mc:Fallback xmlns="">
          <p:sp>
            <p:nvSpPr>
              <p:cNvPr id="107" name="Hộp Văn bản 38">
                <a:extLst>
                  <a:ext uri="{FF2B5EF4-FFF2-40B4-BE49-F238E27FC236}">
                    <a16:creationId xmlns:a16="http://schemas.microsoft.com/office/drawing/2014/main" id="{6F789930-D83B-130A-5618-474800955046}"/>
                  </a:ext>
                </a:extLst>
              </p:cNvPr>
              <p:cNvSpPr txBox="1">
                <a:spLocks noRot="1" noChangeAspect="1" noMove="1" noResize="1" noEditPoints="1" noAdjustHandles="1" noChangeArrowheads="1" noChangeShapeType="1" noTextEdit="1"/>
              </p:cNvSpPr>
              <p:nvPr/>
            </p:nvSpPr>
            <p:spPr>
              <a:xfrm>
                <a:off x="3317398" y="3123325"/>
                <a:ext cx="345925" cy="300082"/>
              </a:xfrm>
              <a:prstGeom prst="rect">
                <a:avLst/>
              </a:prstGeom>
              <a:blipFill>
                <a:blip r:embed="rId18"/>
                <a:stretch>
                  <a:fillRect b="-2000"/>
                </a:stretch>
              </a:blipFill>
            </p:spPr>
            <p:txBody>
              <a:bodyPr/>
              <a:lstStyle/>
              <a:p>
                <a:r>
                  <a:rPr lang="vi-VN">
                    <a:noFill/>
                  </a:rPr>
                  <a:t> </a:t>
                </a:r>
              </a:p>
            </p:txBody>
          </p:sp>
        </mc:Fallback>
      </mc:AlternateContent>
      <p:sp>
        <p:nvSpPr>
          <p:cNvPr id="108" name="Hình chữ nhật 93">
            <a:extLst>
              <a:ext uri="{FF2B5EF4-FFF2-40B4-BE49-F238E27FC236}">
                <a16:creationId xmlns:a16="http://schemas.microsoft.com/office/drawing/2014/main" id="{BBF73EF8-DD94-92BA-28D3-15B4DB6B49A7}"/>
              </a:ext>
            </a:extLst>
          </p:cNvPr>
          <p:cNvSpPr/>
          <p:nvPr/>
        </p:nvSpPr>
        <p:spPr>
          <a:xfrm>
            <a:off x="3061402" y="2105285"/>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09" name="Arc 108">
            <a:extLst>
              <a:ext uri="{FF2B5EF4-FFF2-40B4-BE49-F238E27FC236}">
                <a16:creationId xmlns:a16="http://schemas.microsoft.com/office/drawing/2014/main" id="{4C7B6E24-653A-349F-F31C-A4AEF9848CC6}"/>
              </a:ext>
            </a:extLst>
          </p:cNvPr>
          <p:cNvSpPr/>
          <p:nvPr/>
        </p:nvSpPr>
        <p:spPr>
          <a:xfrm>
            <a:off x="3117099" y="2249885"/>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10" name="Straight Arrow Connector 109">
            <a:extLst>
              <a:ext uri="{FF2B5EF4-FFF2-40B4-BE49-F238E27FC236}">
                <a16:creationId xmlns:a16="http://schemas.microsoft.com/office/drawing/2014/main" id="{21FCD9BE-7084-0ABC-4ED8-3A604E6159B9}"/>
              </a:ext>
            </a:extLst>
          </p:cNvPr>
          <p:cNvCxnSpPr>
            <a:cxnSpLocks/>
          </p:cNvCxnSpPr>
          <p:nvPr/>
        </p:nvCxnSpPr>
        <p:spPr>
          <a:xfrm flipV="1">
            <a:off x="3171315" y="2172256"/>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Left Brace 119">
            <a:extLst>
              <a:ext uri="{FF2B5EF4-FFF2-40B4-BE49-F238E27FC236}">
                <a16:creationId xmlns:a16="http://schemas.microsoft.com/office/drawing/2014/main" id="{17A807FD-F1DF-7A90-D95E-DEA08AF37470}"/>
              </a:ext>
            </a:extLst>
          </p:cNvPr>
          <p:cNvSpPr/>
          <p:nvPr/>
        </p:nvSpPr>
        <p:spPr>
          <a:xfrm rot="16200000">
            <a:off x="1693170" y="2879972"/>
            <a:ext cx="191583" cy="2869286"/>
          </a:xfrm>
          <a:prstGeom prst="leftBrace">
            <a:avLst>
              <a:gd name="adj1" fmla="val 6698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121" name="TextBox 120">
            <a:extLst>
              <a:ext uri="{FF2B5EF4-FFF2-40B4-BE49-F238E27FC236}">
                <a16:creationId xmlns:a16="http://schemas.microsoft.com/office/drawing/2014/main" id="{75708C4B-267B-08A4-ACFE-1EDDF958698D}"/>
              </a:ext>
            </a:extLst>
          </p:cNvPr>
          <p:cNvSpPr txBox="1"/>
          <p:nvPr/>
        </p:nvSpPr>
        <p:spPr>
          <a:xfrm>
            <a:off x="901711" y="4376543"/>
            <a:ext cx="1799442" cy="276999"/>
          </a:xfrm>
          <a:prstGeom prst="rect">
            <a:avLst/>
          </a:prstGeom>
          <a:noFill/>
        </p:spPr>
        <p:txBody>
          <a:bodyPr wrap="square" rtlCol="0">
            <a:spAutoFit/>
          </a:bodyPr>
          <a:lstStyle/>
          <a:p>
            <a:pPr algn="ctr"/>
            <a:r>
              <a:rPr lang="en-US" sz="1200"/>
              <a:t>Swap-test procedure</a:t>
            </a:r>
            <a:endParaRPr lang="vi-VN" sz="1200"/>
          </a:p>
        </p:txBody>
      </p:sp>
      <p:sp>
        <p:nvSpPr>
          <p:cNvPr id="122" name="Rectangle 121">
            <a:extLst>
              <a:ext uri="{FF2B5EF4-FFF2-40B4-BE49-F238E27FC236}">
                <a16:creationId xmlns:a16="http://schemas.microsoft.com/office/drawing/2014/main" id="{D4BBC3E4-2245-44B5-8332-C1465CB548F3}"/>
              </a:ext>
            </a:extLst>
          </p:cNvPr>
          <p:cNvSpPr/>
          <p:nvPr/>
        </p:nvSpPr>
        <p:spPr>
          <a:xfrm>
            <a:off x="46537" y="2081691"/>
            <a:ext cx="3615297" cy="2567618"/>
          </a:xfrm>
          <a:prstGeom prst="rect">
            <a:avLst/>
          </a:prstGeom>
          <a:noFill/>
          <a:ln w="127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24" name="Straight Connector 123">
            <a:extLst>
              <a:ext uri="{FF2B5EF4-FFF2-40B4-BE49-F238E27FC236}">
                <a16:creationId xmlns:a16="http://schemas.microsoft.com/office/drawing/2014/main" id="{D8BBA021-3A61-1FDE-B634-322B3E618C8A}"/>
              </a:ext>
            </a:extLst>
          </p:cNvPr>
          <p:cNvCxnSpPr>
            <a:cxnSpLocks/>
          </p:cNvCxnSpPr>
          <p:nvPr/>
        </p:nvCxnSpPr>
        <p:spPr>
          <a:xfrm flipH="1">
            <a:off x="3661834" y="861988"/>
            <a:ext cx="2307479" cy="1243297"/>
          </a:xfrm>
          <a:prstGeom prst="line">
            <a:avLst/>
          </a:prstGeom>
          <a:ln>
            <a:prstDash val="sysDash"/>
          </a:ln>
        </p:spPr>
        <p:style>
          <a:lnRef idx="1">
            <a:schemeClr val="dk1"/>
          </a:lnRef>
          <a:fillRef idx="0">
            <a:schemeClr val="dk1"/>
          </a:fillRef>
          <a:effectRef idx="0">
            <a:schemeClr val="dk1"/>
          </a:effectRef>
          <a:fontRef idx="minor">
            <a:schemeClr val="tx1"/>
          </a:fontRef>
        </p:style>
      </p:cxnSp>
      <p:cxnSp>
        <p:nvCxnSpPr>
          <p:cNvPr id="125" name="Straight Connector 124">
            <a:extLst>
              <a:ext uri="{FF2B5EF4-FFF2-40B4-BE49-F238E27FC236}">
                <a16:creationId xmlns:a16="http://schemas.microsoft.com/office/drawing/2014/main" id="{93CA62D3-A566-7B40-E76F-6CBE2E76B7DF}"/>
              </a:ext>
            </a:extLst>
          </p:cNvPr>
          <p:cNvCxnSpPr>
            <a:cxnSpLocks/>
          </p:cNvCxnSpPr>
          <p:nvPr/>
        </p:nvCxnSpPr>
        <p:spPr>
          <a:xfrm flipH="1">
            <a:off x="3681537" y="1386749"/>
            <a:ext cx="2287776" cy="3262558"/>
          </a:xfrm>
          <a:prstGeom prst="line">
            <a:avLst/>
          </a:prstGeom>
          <a:ln>
            <a:prstDash val="sys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330782CA-BEF1-F5DE-3D46-D96558E84452}"/>
                  </a:ext>
                </a:extLst>
              </p:cNvPr>
              <p:cNvSpPr txBox="1"/>
              <p:nvPr/>
            </p:nvSpPr>
            <p:spPr>
              <a:xfrm>
                <a:off x="4039129" y="1853016"/>
                <a:ext cx="1600616" cy="276999"/>
              </a:xfrm>
              <a:prstGeom prst="rect">
                <a:avLst/>
              </a:prstGeom>
              <a:noFill/>
            </p:spPr>
            <p:txBody>
              <a:bodyPr wrap="square">
                <a:spAutoFit/>
              </a:bodyPr>
              <a:lstStyle/>
              <a:p>
                <a:r>
                  <a:rPr lang="en-US" sz="1200">
                    <a:solidFill>
                      <a:srgbClr val="0070C0"/>
                    </a:solidFill>
                  </a:rPr>
                  <a:t>Fredkin-gate </a:t>
                </a:r>
                <a14:m>
                  <m:oMath xmlns:m="http://schemas.openxmlformats.org/officeDocument/2006/math">
                    <m:r>
                      <a:rPr lang="en-US" sz="1200" b="0" i="1" smtClean="0">
                        <a:solidFill>
                          <a:srgbClr val="0070C0"/>
                        </a:solidFill>
                        <a:latin typeface="Cambria Math" panose="02040503050406030204" pitchFamily="18" charset="0"/>
                      </a:rPr>
                      <m:t>≡</m:t>
                    </m:r>
                  </m:oMath>
                </a14:m>
                <a:r>
                  <a:rPr lang="en-US" sz="1200">
                    <a:solidFill>
                      <a:srgbClr val="0070C0"/>
                    </a:solidFill>
                  </a:rPr>
                  <a:t> SWAP</a:t>
                </a:r>
                <a:endParaRPr lang="vi-VN" sz="1200">
                  <a:solidFill>
                    <a:srgbClr val="0070C0"/>
                  </a:solidFill>
                </a:endParaRPr>
              </a:p>
            </p:txBody>
          </p:sp>
        </mc:Choice>
        <mc:Fallback xmlns="">
          <p:sp>
            <p:nvSpPr>
              <p:cNvPr id="143" name="TextBox 142">
                <a:extLst>
                  <a:ext uri="{FF2B5EF4-FFF2-40B4-BE49-F238E27FC236}">
                    <a16:creationId xmlns:a16="http://schemas.microsoft.com/office/drawing/2014/main" id="{330782CA-BEF1-F5DE-3D46-D96558E84452}"/>
                  </a:ext>
                </a:extLst>
              </p:cNvPr>
              <p:cNvSpPr txBox="1">
                <a:spLocks noRot="1" noChangeAspect="1" noMove="1" noResize="1" noEditPoints="1" noAdjustHandles="1" noChangeArrowheads="1" noChangeShapeType="1" noTextEdit="1"/>
              </p:cNvSpPr>
              <p:nvPr/>
            </p:nvSpPr>
            <p:spPr>
              <a:xfrm>
                <a:off x="4039129" y="1853016"/>
                <a:ext cx="1600616" cy="276999"/>
              </a:xfrm>
              <a:prstGeom prst="rect">
                <a:avLst/>
              </a:prstGeom>
              <a:blipFill>
                <a:blip r:embed="rId19"/>
                <a:stretch>
                  <a:fillRect l="-382" b="-2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04F0F24A-3AEE-FE42-D50D-429F1F84E5C9}"/>
                  </a:ext>
                </a:extLst>
              </p:cNvPr>
              <p:cNvSpPr txBox="1"/>
              <p:nvPr/>
            </p:nvSpPr>
            <p:spPr>
              <a:xfrm>
                <a:off x="3667762" y="2454849"/>
                <a:ext cx="6212837" cy="2259401"/>
              </a:xfrm>
              <a:prstGeom prst="rect">
                <a:avLst/>
              </a:prstGeom>
              <a:solidFill>
                <a:schemeClr val="bg1"/>
              </a:solid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vi-VN" sz="1800" i="1" smtClean="0">
                              <a:latin typeface="Cambria Math" panose="02040503050406030204" pitchFamily="18" charset="0"/>
                              <a:ea typeface="Cambria" panose="02040503050406030204" pitchFamily="18" charset="0"/>
                            </a:rPr>
                          </m:ctrlPr>
                        </m:dPr>
                        <m:e>
                          <m:d>
                            <m:dPr>
                              <m:begChr m:val="|"/>
                              <m:endChr m:val="⟩"/>
                              <m:ctrlPr>
                                <a:rPr lang="vi-VN" sz="1800" i="1">
                                  <a:latin typeface="Cambria Math" panose="02040503050406030204" pitchFamily="18" charset="0"/>
                                  <a:ea typeface="Cambria" panose="02040503050406030204" pitchFamily="18" charset="0"/>
                                </a:rPr>
                              </m:ctrlPr>
                            </m:dPr>
                            <m:e>
                              <m:r>
                                <a:rPr lang="vi-VN" sz="1800" i="1">
                                  <a:latin typeface="Cambria Math" panose="02040503050406030204" pitchFamily="18" charset="0"/>
                                  <a:ea typeface="Cambria" panose="02040503050406030204" pitchFamily="18" charset="0"/>
                                </a:rPr>
                                <m:t>0</m:t>
                              </m:r>
                            </m:e>
                          </m:d>
                          <m:d>
                            <m:dPr>
                              <m:begChr m:val="|"/>
                              <m:endChr m:val="⟩"/>
                              <m:ctrlPr>
                                <a:rPr lang="en-US" sz="1800" b="0" i="1" smtClean="0">
                                  <a:latin typeface="Cambria Math" panose="02040503050406030204" pitchFamily="18" charset="0"/>
                                  <a:ea typeface="Cambria" panose="02040503050406030204" pitchFamily="18" charset="0"/>
                                </a:rPr>
                              </m:ctrlPr>
                            </m:dPr>
                            <m:e>
                              <m:r>
                                <a:rPr lang="vi-VN" sz="1800" i="1">
                                  <a:latin typeface="Cambria Math" panose="02040503050406030204" pitchFamily="18" charset="0"/>
                                  <a:ea typeface="Cambria Math" panose="02040503050406030204" pitchFamily="18" charset="0"/>
                                </a:rPr>
                                <m:t>𝜓</m:t>
                              </m:r>
                            </m:e>
                          </m:d>
                          <m:r>
                            <a:rPr lang="en-US" sz="1800" b="0" i="1" smtClean="0">
                              <a:latin typeface="Cambria Math" panose="02040503050406030204" pitchFamily="18" charset="0"/>
                              <a:ea typeface="Cambria Math" panose="02040503050406030204" pitchFamily="18" charset="0"/>
                            </a:rPr>
                            <m:t>|</m:t>
                          </m:r>
                          <m:r>
                            <a:rPr lang="vi-VN" sz="1800" i="1">
                              <a:latin typeface="Cambria Math" panose="02040503050406030204" pitchFamily="18" charset="0"/>
                              <a:ea typeface="Cambria Math" panose="02040503050406030204" pitchFamily="18" charset="0"/>
                            </a:rPr>
                            <m:t>𝜙</m:t>
                          </m:r>
                        </m:e>
                      </m:d>
                      <m:groupChr>
                        <m:groupChrPr>
                          <m:chr m:val="→"/>
                          <m:vertJc m:val="bot"/>
                          <m:ctrlPr>
                            <a:rPr lang="vi-VN" sz="1800" i="1" smtClean="0">
                              <a:latin typeface="Cambria Math" panose="02040503050406030204" pitchFamily="18" charset="0"/>
                              <a:ea typeface="Cambria Math" panose="02040503050406030204" pitchFamily="18" charset="0"/>
                            </a:rPr>
                          </m:ctrlPr>
                        </m:groupChrPr>
                        <m:e>
                          <m:sSub>
                            <m:sSubPr>
                              <m:ctrlPr>
                                <a:rPr lang="en-US" sz="1800" b="0" i="1" smtClean="0">
                                  <a:latin typeface="Cambria Math" panose="02040503050406030204" pitchFamily="18" charset="0"/>
                                  <a:ea typeface="Cambria Math" panose="02040503050406030204" pitchFamily="18" charset="0"/>
                                </a:rPr>
                              </m:ctrlPr>
                            </m:sSubPr>
                            <m:e>
                              <m:r>
                                <m:rPr>
                                  <m:brk m:alnAt="2"/>
                                </m:rPr>
                                <a:rPr lang="en-US" sz="1800" b="0" i="1" smtClean="0">
                                  <a:latin typeface="Cambria Math" panose="02040503050406030204" pitchFamily="18" charset="0"/>
                                  <a:ea typeface="Cambria Math" panose="02040503050406030204" pitchFamily="18" charset="0"/>
                                </a:rPr>
                                <m:t>𝐻</m:t>
                              </m:r>
                            </m:e>
                            <m:sub>
                              <m:r>
                                <m:rPr>
                                  <m:brk m:alnAt="2"/>
                                </m:rPr>
                                <a:rPr lang="en-US" sz="1800" b="0" i="1" smtClean="0">
                                  <a:latin typeface="Cambria Math" panose="02040503050406030204" pitchFamily="18" charset="0"/>
                                  <a:ea typeface="Cambria Math" panose="02040503050406030204" pitchFamily="18" charset="0"/>
                                </a:rPr>
                                <m:t>0</m:t>
                              </m:r>
                            </m:sub>
                          </m:sSub>
                        </m:e>
                      </m:groupChr>
                      <m:f>
                        <m:fPr>
                          <m:ctrlPr>
                            <a:rPr lang="vi-VN" sz="1800" i="1">
                              <a:latin typeface="Cambria Math" panose="02040503050406030204" pitchFamily="18" charset="0"/>
                              <a:ea typeface="Cambria Math" panose="02040503050406030204" pitchFamily="18" charset="0"/>
                            </a:rPr>
                          </m:ctrlPr>
                        </m:fPr>
                        <m:num>
                          <m:r>
                            <a:rPr lang="vi-VN" sz="1800" i="1">
                              <a:latin typeface="Cambria Math" panose="02040503050406030204" pitchFamily="18" charset="0"/>
                              <a:ea typeface="Cambria Math" panose="02040503050406030204" pitchFamily="18" charset="0"/>
                            </a:rPr>
                            <m:t>1</m:t>
                          </m:r>
                        </m:num>
                        <m:den>
                          <m:rad>
                            <m:radPr>
                              <m:degHide m:val="on"/>
                              <m:ctrlPr>
                                <a:rPr lang="vi-VN" sz="1800" i="1">
                                  <a:latin typeface="Cambria Math" panose="02040503050406030204" pitchFamily="18" charset="0"/>
                                  <a:ea typeface="Cambria Math" panose="02040503050406030204" pitchFamily="18" charset="0"/>
                                </a:rPr>
                              </m:ctrlPr>
                            </m:radPr>
                            <m:deg/>
                            <m:e>
                              <m:r>
                                <a:rPr lang="vi-VN" sz="1800" i="1">
                                  <a:latin typeface="Cambria Math" panose="02040503050406030204" pitchFamily="18" charset="0"/>
                                  <a:ea typeface="Cambria Math" panose="02040503050406030204" pitchFamily="18" charset="0"/>
                                </a:rPr>
                                <m:t>2</m:t>
                              </m:r>
                            </m:e>
                          </m:rad>
                        </m:den>
                      </m:f>
                      <m:d>
                        <m:dPr>
                          <m:ctrlPr>
                            <a:rPr lang="vi-VN" sz="1800" i="1">
                              <a:latin typeface="Cambria Math" panose="02040503050406030204" pitchFamily="18" charset="0"/>
                              <a:ea typeface="Cambria Math"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panose="02040503050406030204" pitchFamily="18" charset="0"/>
                                    </a:rPr>
                                    <m:t>0</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𝜓</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𝜙</m:t>
                              </m:r>
                            </m:e>
                          </m:d>
                          <m:r>
                            <a:rPr lang="vi-VN" sz="1800"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en-US" b="0" i="1" smtClean="0">
                                      <a:latin typeface="Cambria Math" panose="02040503050406030204" pitchFamily="18" charset="0"/>
                                      <a:ea typeface="Cambria" panose="02040503050406030204" pitchFamily="18" charset="0"/>
                                    </a:rPr>
                                    <m:t>1</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𝜓</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𝜙</m:t>
                              </m:r>
                            </m:e>
                          </m:d>
                        </m:e>
                      </m:d>
                    </m:oMath>
                  </m:oMathPara>
                </a14:m>
                <a:endParaRPr lang="en-US" sz="1800" i="1">
                  <a:latin typeface="Cambria Math" panose="02040503050406030204" pitchFamily="18" charset="0"/>
                  <a:ea typeface="Cambria Math" panose="02040503050406030204" pitchFamily="18" charset="0"/>
                </a:endParaRPr>
              </a:p>
              <a:p>
                <a14:m>
                  <m:oMath xmlns:m="http://schemas.openxmlformats.org/officeDocument/2006/math">
                    <m:groupChr>
                      <m:groupChrPr>
                        <m:chr m:val="→"/>
                        <m:vertJc m:val="bot"/>
                        <m:ctrlPr>
                          <a:rPr lang="vi-VN" i="1">
                            <a:latin typeface="Cambria Math" panose="02040503050406030204" pitchFamily="18" charset="0"/>
                            <a:ea typeface="Cambria Math" panose="02040503050406030204" pitchFamily="18" charset="0"/>
                          </a:rPr>
                        </m:ctrlPr>
                      </m:groupChrPr>
                      <m:e>
                        <m:d>
                          <m:dPr>
                            <m:begChr m:val="{"/>
                            <m:endChr m:val="}"/>
                            <m:ctrlPr>
                              <a:rPr lang="en-US" b="0" i="1" smtClean="0">
                                <a:latin typeface="Cambria Math" panose="02040503050406030204" pitchFamily="18" charset="0"/>
                                <a:ea typeface="Cambria Math" panose="02040503050406030204" pitchFamily="18" charset="0"/>
                              </a:rPr>
                            </m:ctrlPr>
                          </m:dPr>
                          <m:e>
                            <m:r>
                              <m:rPr>
                                <m:brk m:alnAt="2"/>
                              </m:rPr>
                              <a:rPr lang="en-US" i="1">
                                <a:latin typeface="Cambria Math" panose="02040503050406030204" pitchFamily="18" charset="0"/>
                                <a:ea typeface="Cambria Math" panose="02040503050406030204" pitchFamily="18" charset="0"/>
                              </a:rPr>
                              <m:t>𝑆</m:t>
                            </m:r>
                            <m:r>
                              <a:rPr lang="en-US" i="1">
                                <a:latin typeface="Cambria Math" panose="02040503050406030204" pitchFamily="18" charset="0"/>
                                <a:ea typeface="Cambria Math" panose="02040503050406030204" pitchFamily="18" charset="0"/>
                              </a:rPr>
                              <m:t>𝑊𝐴</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sub>
                            </m:sSub>
                          </m:e>
                        </m:d>
                      </m:e>
                    </m:groupChr>
                  </m:oMath>
                </a14:m>
                <a:r>
                  <a:rPr lang="en-US" sz="1800">
                    <a:latin typeface="Calibri (Thân)"/>
                    <a:ea typeface="Cambria Math" panose="02040503050406030204" pitchFamily="18" charset="0"/>
                  </a:rPr>
                  <a:t> </a:t>
                </a:r>
                <a14:m>
                  <m:oMath xmlns:m="http://schemas.openxmlformats.org/officeDocument/2006/math">
                    <m:f>
                      <m:fPr>
                        <m:ctrlPr>
                          <a:rPr lang="vi-VN" sz="1800" i="1">
                            <a:latin typeface="Cambria Math" panose="02040503050406030204" pitchFamily="18" charset="0"/>
                            <a:ea typeface="Cambria Math" panose="02040503050406030204" pitchFamily="18" charset="0"/>
                          </a:rPr>
                        </m:ctrlPr>
                      </m:fPr>
                      <m:num>
                        <m:r>
                          <a:rPr lang="vi-VN" sz="1800" i="1">
                            <a:latin typeface="Cambria Math" panose="02040503050406030204" pitchFamily="18" charset="0"/>
                            <a:ea typeface="Cambria Math" panose="02040503050406030204" pitchFamily="18" charset="0"/>
                          </a:rPr>
                          <m:t>1</m:t>
                        </m:r>
                      </m:num>
                      <m:den>
                        <m:rad>
                          <m:radPr>
                            <m:degHide m:val="on"/>
                            <m:ctrlPr>
                              <a:rPr lang="vi-VN" sz="1800" i="1">
                                <a:latin typeface="Cambria Math" panose="02040503050406030204" pitchFamily="18" charset="0"/>
                                <a:ea typeface="Cambria Math" panose="02040503050406030204" pitchFamily="18" charset="0"/>
                              </a:rPr>
                            </m:ctrlPr>
                          </m:radPr>
                          <m:deg/>
                          <m:e>
                            <m:r>
                              <a:rPr lang="vi-VN" sz="1800" i="1">
                                <a:latin typeface="Cambria Math" panose="02040503050406030204" pitchFamily="18" charset="0"/>
                                <a:ea typeface="Cambria Math" panose="02040503050406030204" pitchFamily="18" charset="0"/>
                              </a:rPr>
                              <m:t>2</m:t>
                            </m:r>
                          </m:e>
                        </m:rad>
                      </m:den>
                    </m:f>
                    <m:d>
                      <m:dPr>
                        <m:ctrlPr>
                          <a:rPr lang="vi-VN" sz="1800" i="1">
                            <a:latin typeface="Cambria Math" panose="02040503050406030204" pitchFamily="18" charset="0"/>
                            <a:ea typeface="Cambria Math"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panose="02040503050406030204" pitchFamily="18" charset="0"/>
                                  </a:rPr>
                                  <m:t>0</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𝜓</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𝜙</m:t>
                            </m:r>
                          </m:e>
                        </m:d>
                        <m:r>
                          <a:rPr lang="vi-VN" sz="1800"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panose="02040503050406030204" pitchFamily="18" charset="0"/>
                                  </a:rPr>
                                  <m:t>1</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𝜙</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𝜓</m:t>
                            </m:r>
                          </m:e>
                        </m:d>
                      </m:e>
                    </m:d>
                  </m:oMath>
                </a14:m>
                <a:endParaRPr lang="en-US" sz="1800" i="1">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groupChr>
                        <m:groupChrPr>
                          <m:chr m:val="→"/>
                          <m:vertJc m:val="bot"/>
                          <m:ctrlPr>
                            <a:rPr lang="vi-VN" i="1">
                              <a:latin typeface="Cambria Math" panose="02040503050406030204" pitchFamily="18" charset="0"/>
                              <a:ea typeface="Cambria Math" panose="02040503050406030204" pitchFamily="18" charset="0"/>
                            </a:rPr>
                          </m:ctrlPr>
                        </m:groupChrPr>
                        <m:e>
                          <m:sSub>
                            <m:sSubPr>
                              <m:ctrlPr>
                                <a:rPr lang="en-US" b="0" i="1" smtClean="0">
                                  <a:latin typeface="Cambria Math" panose="02040503050406030204" pitchFamily="18" charset="0"/>
                                  <a:ea typeface="Cambria Math" panose="02040503050406030204" pitchFamily="18" charset="0"/>
                                </a:rPr>
                              </m:ctrlPr>
                            </m:sSubPr>
                            <m:e>
                              <m:r>
                                <m:rPr>
                                  <m:brk m:alnAt="2"/>
                                </m:rPr>
                                <a:rPr lang="en-US" i="1">
                                  <a:latin typeface="Cambria Math" panose="02040503050406030204" pitchFamily="18" charset="0"/>
                                  <a:ea typeface="Cambria Math" panose="02040503050406030204" pitchFamily="18" charset="0"/>
                                </a:rPr>
                                <m:t>𝐻</m:t>
                              </m:r>
                            </m:e>
                            <m:sub>
                              <m:r>
                                <m:rPr>
                                  <m:brk m:alnAt="2"/>
                                </m:rPr>
                                <a:rPr lang="en-US" b="0" i="1" smtClean="0">
                                  <a:latin typeface="Cambria Math" panose="02040503050406030204" pitchFamily="18" charset="0"/>
                                  <a:ea typeface="Cambria Math" panose="02040503050406030204" pitchFamily="18" charset="0"/>
                                </a:rPr>
                                <m:t>0</m:t>
                              </m:r>
                            </m:sub>
                          </m:sSub>
                        </m:e>
                      </m:groupChr>
                      <m:f>
                        <m:fPr>
                          <m:ctrlPr>
                            <a:rPr lang="vi-VN" i="1">
                              <a:latin typeface="Cambria Math" panose="02040503050406030204" pitchFamily="18" charset="0"/>
                              <a:ea typeface="Cambria Math" panose="02040503050406030204" pitchFamily="18" charset="0"/>
                            </a:rPr>
                          </m:ctrlPr>
                        </m:fPr>
                        <m:num>
                          <m:r>
                            <a:rPr lang="vi-VN" i="1">
                              <a:latin typeface="Cambria Math" panose="02040503050406030204" pitchFamily="18" charset="0"/>
                              <a:ea typeface="Cambria Math" panose="02040503050406030204" pitchFamily="18" charset="0"/>
                            </a:rPr>
                            <m:t>1</m:t>
                          </m:r>
                        </m:num>
                        <m:den>
                          <m:r>
                            <a:rPr lang="vi-VN" i="1">
                              <a:latin typeface="Cambria Math" panose="02040503050406030204" pitchFamily="18" charset="0"/>
                              <a:ea typeface="Cambria Math" panose="02040503050406030204" pitchFamily="18" charset="0"/>
                            </a:rPr>
                            <m:t>2</m:t>
                          </m:r>
                        </m:den>
                      </m:f>
                      <m:r>
                        <a:rPr lang="vi-VN"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panose="02040503050406030204" pitchFamily="18" charset="0"/>
                                </a:rPr>
                                <m:t>0</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𝜓</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𝜙</m:t>
                          </m:r>
                        </m:e>
                      </m:d>
                      <m:r>
                        <a:rPr lang="vi-VN"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en-US" b="0" i="1" smtClean="0">
                                  <a:latin typeface="Cambria Math" panose="02040503050406030204" pitchFamily="18" charset="0"/>
                                  <a:ea typeface="Cambria" panose="02040503050406030204" pitchFamily="18" charset="0"/>
                                </a:rPr>
                                <m:t>1</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𝜙</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𝜓</m:t>
                          </m:r>
                        </m:e>
                      </m:d>
                      <m:r>
                        <a:rPr lang="vi-VN" i="1">
                          <a:latin typeface="Cambria Math" panose="02040503050406030204" pitchFamily="18" charset="0"/>
                          <a:ea typeface="Cambria Math" panose="02040503050406030204" pitchFamily="18" charset="0"/>
                        </a:rPr>
                        <m:t>)</m:t>
                      </m:r>
                      <m:r>
                        <m:rPr>
                          <m:nor/>
                        </m:rPr>
                        <a:rPr lang="vi-VN">
                          <a:latin typeface="Calibri (Thân)."/>
                          <a:ea typeface="Cambria Math" panose="02040503050406030204" pitchFamily="18" charset="0"/>
                        </a:rPr>
                        <m:t> + </m:t>
                      </m:r>
                      <m:f>
                        <m:fPr>
                          <m:ctrlPr>
                            <a:rPr lang="vi-VN" i="1">
                              <a:latin typeface="Cambria Math" panose="02040503050406030204" pitchFamily="18" charset="0"/>
                              <a:ea typeface="Cambria Math" panose="02040503050406030204" pitchFamily="18" charset="0"/>
                            </a:rPr>
                          </m:ctrlPr>
                        </m:fPr>
                        <m:num>
                          <m:r>
                            <a:rPr lang="vi-VN" i="1">
                              <a:latin typeface="Cambria Math" panose="02040503050406030204" pitchFamily="18" charset="0"/>
                              <a:ea typeface="Cambria Math" panose="02040503050406030204" pitchFamily="18" charset="0"/>
                            </a:rPr>
                            <m:t>1</m:t>
                          </m:r>
                        </m:num>
                        <m:den>
                          <m:r>
                            <a:rPr lang="vi-VN" i="1">
                              <a:latin typeface="Cambria Math" panose="02040503050406030204" pitchFamily="18" charset="0"/>
                              <a:ea typeface="Cambria Math" panose="02040503050406030204" pitchFamily="18" charset="0"/>
                            </a:rPr>
                            <m:t>2</m:t>
                          </m:r>
                        </m:den>
                      </m:f>
                      <m:r>
                        <a:rPr lang="vi-VN"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en-US" b="0" i="1" smtClean="0">
                                  <a:latin typeface="Cambria Math" panose="02040503050406030204" pitchFamily="18" charset="0"/>
                                  <a:ea typeface="Cambria" panose="02040503050406030204" pitchFamily="18" charset="0"/>
                                </a:rPr>
                                <m:t>0</m:t>
                              </m:r>
                            </m:e>
                          </m:d>
                          <m:d>
                            <m:dPr>
                              <m:begChr m:val="|"/>
                              <m:endChr m:val="⟩"/>
                              <m:ctrlPr>
                                <a:rPr lang="en-US" b="0" i="1" smtClean="0">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𝜙</m:t>
                              </m:r>
                            </m:e>
                          </m:d>
                          <m:r>
                            <a:rPr lang="en-US"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𝜓</m:t>
                          </m:r>
                        </m:e>
                      </m:d>
                      <m:r>
                        <a:rPr lang="vi-VN"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en-US" b="0" i="1" smtClean="0">
                                  <a:latin typeface="Cambria Math" panose="02040503050406030204" pitchFamily="18" charset="0"/>
                                  <a:ea typeface="Cambria" panose="02040503050406030204" pitchFamily="18" charset="0"/>
                                </a:rPr>
                                <m:t>1</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𝜓</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𝜙</m:t>
                          </m:r>
                        </m:e>
                      </m:d>
                      <m:r>
                        <a:rPr lang="vi-VN" i="1">
                          <a:latin typeface="Cambria Math" panose="02040503050406030204" pitchFamily="18" charset="0"/>
                          <a:ea typeface="Cambria Math" panose="02040503050406030204" pitchFamily="18" charset="0"/>
                        </a:rPr>
                        <m:t>)</m:t>
                      </m:r>
                    </m:oMath>
                  </m:oMathPara>
                </a14:m>
                <a:endParaRPr lang="en-US">
                  <a:latin typeface="Cambria Math" panose="02040503050406030204" pitchFamily="18" charset="0"/>
                  <a:ea typeface="Cambria Math" panose="02040503050406030204" pitchFamily="18" charset="0"/>
                </a:endParaRPr>
              </a:p>
              <a:p>
                <a:r>
                  <a:rPr lang="en-US" b="0"/>
                  <a:t>So </a:t>
                </a:r>
                <a14:m>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r>
                          <a:rPr lang="en-US" b="0" i="1" smtClean="0">
                            <a:latin typeface="Cambria Math" panose="02040503050406030204" pitchFamily="18" charset="0"/>
                          </a:rPr>
                          <m:t>𝜓</m:t>
                        </m:r>
                        <m:r>
                          <a:rPr lang="en-US" i="1">
                            <a:latin typeface="Cambria Math" panose="02040503050406030204" pitchFamily="18" charset="0"/>
                          </a:rPr>
                          <m:t>|⟨</m:t>
                        </m:r>
                        <m:r>
                          <a:rPr lang="en-US" b="0" i="1" smtClean="0">
                            <a:latin typeface="Cambria Math" panose="02040503050406030204" pitchFamily="18" charset="0"/>
                          </a:rPr>
                          <m:t>𝜙</m:t>
                        </m:r>
                        <m:r>
                          <a:rPr lang="en-US" i="1">
                            <a:latin typeface="Cambria Math" panose="02040503050406030204" pitchFamily="18" charset="0"/>
                          </a:rPr>
                          <m:t>|</m:t>
                        </m:r>
                      </m:e>
                    </m:d>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𝜙</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d>
                  </m:oMath>
                </a14:m>
                <a:r>
                  <a:rPr lang="en-US" b="0" i="1">
                    <a:latin typeface="Cambria Math" panose="02040503050406030204" pitchFamily="18" charset="0"/>
                  </a:rPr>
                  <a:t> </a:t>
                </a:r>
              </a:p>
              <a:p>
                <a14:m>
                  <m:oMath xmlns:m="http://schemas.openxmlformats.org/officeDocument/2006/math">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d>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−1</m:t>
                    </m:r>
                  </m:oMath>
                </a14:m>
                <a:r>
                  <a:rPr lang="en-US"/>
                  <a:t> </a:t>
                </a:r>
                <a:endParaRPr lang="vi-VN">
                  <a:latin typeface="Cambria Math" panose="02040503050406030204" pitchFamily="18" charset="0"/>
                  <a:ea typeface="Cambria Math" panose="02040503050406030204" pitchFamily="18" charset="0"/>
                </a:endParaRPr>
              </a:p>
            </p:txBody>
          </p:sp>
        </mc:Choice>
        <mc:Fallback xmlns="">
          <p:sp>
            <p:nvSpPr>
              <p:cNvPr id="152" name="TextBox 151">
                <a:extLst>
                  <a:ext uri="{FF2B5EF4-FFF2-40B4-BE49-F238E27FC236}">
                    <a16:creationId xmlns:a16="http://schemas.microsoft.com/office/drawing/2014/main" id="{04F0F24A-3AEE-FE42-D50D-429F1F84E5C9}"/>
                  </a:ext>
                </a:extLst>
              </p:cNvPr>
              <p:cNvSpPr txBox="1">
                <a:spLocks noRot="1" noChangeAspect="1" noMove="1" noResize="1" noEditPoints="1" noAdjustHandles="1" noChangeArrowheads="1" noChangeShapeType="1" noTextEdit="1"/>
              </p:cNvSpPr>
              <p:nvPr/>
            </p:nvSpPr>
            <p:spPr>
              <a:xfrm>
                <a:off x="3667762" y="2454849"/>
                <a:ext cx="6212837" cy="2259401"/>
              </a:xfrm>
              <a:prstGeom prst="rect">
                <a:avLst/>
              </a:prstGeom>
              <a:blipFill>
                <a:blip r:embed="rId20"/>
                <a:stretch>
                  <a:fillRect l="-883" b="-2432"/>
                </a:stretch>
              </a:blipFill>
            </p:spPr>
            <p:txBody>
              <a:bodyPr/>
              <a:lstStyle/>
              <a:p>
                <a:r>
                  <a:rPr lang="vi-VN">
                    <a:noFill/>
                  </a:rPr>
                  <a:t> </a:t>
                </a:r>
              </a:p>
            </p:txBody>
          </p:sp>
        </mc:Fallback>
      </mc:AlternateContent>
      <p:cxnSp>
        <p:nvCxnSpPr>
          <p:cNvPr id="165" name="Connector: Elbow 164">
            <a:extLst>
              <a:ext uri="{FF2B5EF4-FFF2-40B4-BE49-F238E27FC236}">
                <a16:creationId xmlns:a16="http://schemas.microsoft.com/office/drawing/2014/main" id="{4AECC3BD-C034-53EB-7BAF-554E70CBA532}"/>
              </a:ext>
            </a:extLst>
          </p:cNvPr>
          <p:cNvCxnSpPr>
            <a:cxnSpLocks/>
            <a:stCxn id="108" idx="3"/>
            <a:endCxn id="107" idx="0"/>
          </p:cNvCxnSpPr>
          <p:nvPr/>
        </p:nvCxnSpPr>
        <p:spPr>
          <a:xfrm>
            <a:off x="3367721" y="2258752"/>
            <a:ext cx="122640" cy="864573"/>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6" name="Hình chữ nhật 66">
                <a:extLst>
                  <a:ext uri="{FF2B5EF4-FFF2-40B4-BE49-F238E27FC236}">
                    <a16:creationId xmlns:a16="http://schemas.microsoft.com/office/drawing/2014/main" id="{6931981A-B340-EB3D-AE84-E65026AE5A81}"/>
                  </a:ext>
                </a:extLst>
              </p:cNvPr>
              <p:cNvSpPr/>
              <p:nvPr/>
            </p:nvSpPr>
            <p:spPr>
              <a:xfrm>
                <a:off x="3728393" y="1582987"/>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1.48</m:t>
                          </m:r>
                        </m:e>
                      </m:d>
                    </m:oMath>
                  </m:oMathPara>
                </a14:m>
                <a:endParaRPr lang="vi-VN" sz="1200" i="1">
                  <a:solidFill>
                    <a:schemeClr val="tx1"/>
                  </a:solidFill>
                  <a:latin typeface="+mj-lt"/>
                  <a:cs typeface="Times New Roman" panose="02020603050405020304" pitchFamily="18" charset="0"/>
                </a:endParaRPr>
              </a:p>
            </p:txBody>
          </p:sp>
        </mc:Choice>
        <mc:Fallback xmlns="">
          <p:sp>
            <p:nvSpPr>
              <p:cNvPr id="66" name="Hình chữ nhật 66">
                <a:extLst>
                  <a:ext uri="{FF2B5EF4-FFF2-40B4-BE49-F238E27FC236}">
                    <a16:creationId xmlns:a16="http://schemas.microsoft.com/office/drawing/2014/main" id="{6931981A-B340-EB3D-AE84-E65026AE5A81}"/>
                  </a:ext>
                </a:extLst>
              </p:cNvPr>
              <p:cNvSpPr>
                <a:spLocks noRot="1" noChangeAspect="1" noMove="1" noResize="1" noEditPoints="1" noAdjustHandles="1" noChangeArrowheads="1" noChangeShapeType="1" noTextEdit="1"/>
              </p:cNvSpPr>
              <p:nvPr/>
            </p:nvSpPr>
            <p:spPr>
              <a:xfrm>
                <a:off x="3728393" y="1582987"/>
                <a:ext cx="831578" cy="255836"/>
              </a:xfrm>
              <a:prstGeom prst="rect">
                <a:avLst/>
              </a:prstGeom>
              <a:blipFill>
                <a:blip r:embed="rId21"/>
                <a:stretch>
                  <a:fillRect/>
                </a:stretch>
              </a:blipFill>
              <a:ln>
                <a:solidFill>
                  <a:schemeClr val="tx1"/>
                </a:solidFill>
              </a:ln>
            </p:spPr>
            <p:txBody>
              <a:bodyPr/>
              <a:lstStyle/>
              <a:p>
                <a:r>
                  <a:rPr lang="vi-VN">
                    <a:noFill/>
                  </a:rPr>
                  <a:t> </a:t>
                </a:r>
              </a:p>
            </p:txBody>
          </p:sp>
        </mc:Fallback>
      </mc:AlternateContent>
      <p:sp>
        <p:nvSpPr>
          <p:cNvPr id="95" name="Hình Bầu dục 65">
            <a:extLst>
              <a:ext uri="{FF2B5EF4-FFF2-40B4-BE49-F238E27FC236}">
                <a16:creationId xmlns:a16="http://schemas.microsoft.com/office/drawing/2014/main" id="{9EA54EE5-BD4E-5394-8F72-04DAD77FDCE7}"/>
              </a:ext>
            </a:extLst>
          </p:cNvPr>
          <p:cNvSpPr/>
          <p:nvPr/>
        </p:nvSpPr>
        <p:spPr>
          <a:xfrm>
            <a:off x="2165599" y="2220487"/>
            <a:ext cx="94115" cy="8287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4" name="Rectangle 3">
            <a:extLst>
              <a:ext uri="{FF2B5EF4-FFF2-40B4-BE49-F238E27FC236}">
                <a16:creationId xmlns:a16="http://schemas.microsoft.com/office/drawing/2014/main" id="{0AD31E73-EDAB-C220-4680-3A762C2654A5}"/>
              </a:ext>
            </a:extLst>
          </p:cNvPr>
          <p:cNvSpPr/>
          <p:nvPr/>
        </p:nvSpPr>
        <p:spPr>
          <a:xfrm>
            <a:off x="3999595" y="4410407"/>
            <a:ext cx="1795838" cy="29510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0" name="Đường nối Thẳng 67">
            <a:extLst>
              <a:ext uri="{FF2B5EF4-FFF2-40B4-BE49-F238E27FC236}">
                <a16:creationId xmlns:a16="http://schemas.microsoft.com/office/drawing/2014/main" id="{BE2E9916-BDD7-77B0-C41D-3B402011AAFB}"/>
              </a:ext>
            </a:extLst>
          </p:cNvPr>
          <p:cNvCxnSpPr>
            <a:cxnSpLocks/>
            <a:stCxn id="11" idx="4"/>
            <a:endCxn id="13" idx="4"/>
          </p:cNvCxnSpPr>
          <p:nvPr/>
        </p:nvCxnSpPr>
        <p:spPr>
          <a:xfrm flipV="1">
            <a:off x="1909372" y="2300563"/>
            <a:ext cx="1" cy="1265943"/>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80B7164B-6933-A248-4028-FEA520DE39FE}"/>
              </a:ext>
            </a:extLst>
          </p:cNvPr>
          <p:cNvSpPr/>
          <p:nvPr/>
        </p:nvSpPr>
        <p:spPr>
          <a:xfrm>
            <a:off x="1795601" y="3338964"/>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Oval 11">
            <a:extLst>
              <a:ext uri="{FF2B5EF4-FFF2-40B4-BE49-F238E27FC236}">
                <a16:creationId xmlns:a16="http://schemas.microsoft.com/office/drawing/2014/main" id="{066FCD29-A929-52FC-A95C-B4EA78889571}"/>
              </a:ext>
            </a:extLst>
          </p:cNvPr>
          <p:cNvSpPr/>
          <p:nvPr/>
        </p:nvSpPr>
        <p:spPr>
          <a:xfrm>
            <a:off x="1795601" y="2445614"/>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 name="Hình Bầu dục 65">
            <a:extLst>
              <a:ext uri="{FF2B5EF4-FFF2-40B4-BE49-F238E27FC236}">
                <a16:creationId xmlns:a16="http://schemas.microsoft.com/office/drawing/2014/main" id="{45DF4ADD-1350-3323-6E64-FFE0EAD38D5E}"/>
              </a:ext>
            </a:extLst>
          </p:cNvPr>
          <p:cNvSpPr/>
          <p:nvPr/>
        </p:nvSpPr>
        <p:spPr>
          <a:xfrm>
            <a:off x="1862315" y="2217684"/>
            <a:ext cx="94115" cy="8287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Tree>
    <p:extLst>
      <p:ext uri="{BB962C8B-B14F-4D97-AF65-F5344CB8AC3E}">
        <p14:creationId xmlns:p14="http://schemas.microsoft.com/office/powerpoint/2010/main" val="27006738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B2BBC07-12FD-088A-6FCE-FCBA5878A29F}"/>
                  </a:ext>
                </a:extLst>
              </p:cNvPr>
              <p:cNvSpPr>
                <a:spLocks noGrp="1"/>
              </p:cNvSpPr>
              <p:nvPr>
                <p:ph type="title"/>
              </p:nvPr>
            </p:nvSpPr>
            <p:spPr/>
            <p:txBody>
              <a:bodyPr>
                <a:normAutofit/>
              </a:bodyPr>
              <a:lstStyle/>
              <a:p>
                <a:r>
                  <a:rPr lang="en-US"/>
                  <a:t>3.3.</a:t>
                </a:r>
                <a:r>
                  <a:rPr lang="en-VN"/>
                  <a:t> </a:t>
                </a:r>
                <a:r>
                  <a:rPr lang="en-US" sz="3600">
                    <a:solidFill>
                      <a:schemeClr val="tx1"/>
                    </a:solidFill>
                  </a:rPr>
                  <a:t>QML algorithms</a:t>
                </a:r>
                <a:br>
                  <a:rPr lang="en-US" sz="3600">
                    <a:solidFill>
                      <a:schemeClr val="tx1"/>
                    </a:solidFill>
                  </a:rPr>
                </a:br>
                <a14:m>
                  <m:oMath xmlns:m="http://schemas.openxmlformats.org/officeDocument/2006/math">
                    <m:r>
                      <a:rPr lang="en-US" sz="2000" i="1" smtClean="0">
                        <a:solidFill>
                          <a:schemeClr val="tx1"/>
                        </a:solidFill>
                        <a:latin typeface="Cambria Math" panose="02040503050406030204" pitchFamily="18" charset="0"/>
                      </a:rPr>
                      <m:t>𝑘</m:t>
                    </m:r>
                  </m:oMath>
                </a14:m>
                <a:r>
                  <a:rPr lang="en-US" sz="2000">
                    <a:solidFill>
                      <a:schemeClr val="tx1"/>
                    </a:solidFill>
                  </a:rPr>
                  <a:t>-means</a:t>
                </a:r>
                <a:endParaRPr lang="en-VN" sz="2000"/>
              </a:p>
            </p:txBody>
          </p:sp>
        </mc:Choice>
        <mc:Fallback xmlns="">
          <p:sp>
            <p:nvSpPr>
              <p:cNvPr id="2" name="Title 1">
                <a:extLst>
                  <a:ext uri="{FF2B5EF4-FFF2-40B4-BE49-F238E27FC236}">
                    <a16:creationId xmlns:a16="http://schemas.microsoft.com/office/drawing/2014/main" id="{5B2BBC07-12FD-088A-6FCE-FCBA5878A29F}"/>
                  </a:ext>
                </a:extLst>
              </p:cNvPr>
              <p:cNvSpPr>
                <a:spLocks noGrp="1" noRot="1" noChangeAspect="1" noMove="1" noResize="1" noEditPoints="1" noAdjustHandles="1" noChangeArrowheads="1" noChangeShapeType="1" noTextEdit="1"/>
              </p:cNvSpPr>
              <p:nvPr>
                <p:ph type="title"/>
              </p:nvPr>
            </p:nvSpPr>
            <p:spPr>
              <a:blipFill>
                <a:blip r:embed="rId3"/>
                <a:stretch>
                  <a:fillRect l="-2545" t="-8589" b="-429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Hộp Văn bản 50">
                <a:extLst>
                  <a:ext uri="{FF2B5EF4-FFF2-40B4-BE49-F238E27FC236}">
                    <a16:creationId xmlns:a16="http://schemas.microsoft.com/office/drawing/2014/main" id="{CB891367-FFE7-A093-BAE2-C9798B9106DE}"/>
                  </a:ext>
                </a:extLst>
              </p:cNvPr>
              <p:cNvSpPr txBox="1"/>
              <p:nvPr/>
            </p:nvSpPr>
            <p:spPr>
              <a:xfrm>
                <a:off x="5357284" y="1142624"/>
                <a:ext cx="3439584" cy="2062103"/>
              </a:xfrm>
              <a:prstGeom prst="rect">
                <a:avLst/>
              </a:prstGeom>
              <a:noFill/>
            </p:spPr>
            <p:txBody>
              <a:bodyPr wrap="square" rtlCol="0">
                <a:spAutoFit/>
              </a:bodyPr>
              <a:lstStyle/>
              <a:p>
                <a:r>
                  <a:rPr lang="en-US" sz="1600" b="1"/>
                  <a:t>Step 1</a:t>
                </a:r>
                <a:r>
                  <a:rPr lang="en-US" sz="1600"/>
                  <a:t>. Select </a:t>
                </a:r>
                <a14:m>
                  <m:oMath xmlns:m="http://schemas.openxmlformats.org/officeDocument/2006/math">
                    <m:r>
                      <a:rPr lang="en-US" sz="1600" i="1" smtClean="0">
                        <a:latin typeface="Cambria Math" panose="02040503050406030204" pitchFamily="18" charset="0"/>
                      </a:rPr>
                      <m:t>𝑘</m:t>
                    </m:r>
                  </m:oMath>
                </a14:m>
                <a:r>
                  <a:rPr lang="en-US" sz="1600"/>
                  <a:t> random centers.</a:t>
                </a:r>
              </a:p>
              <a:p>
                <a:r>
                  <a:rPr lang="en-US" sz="1600" b="1"/>
                  <a:t>Step 2</a:t>
                </a:r>
                <a:r>
                  <a:rPr lang="en-US" sz="1600"/>
                  <a:t>. Assign each data point to the closest center.</a:t>
                </a:r>
              </a:p>
              <a:p>
                <a:r>
                  <a:rPr lang="en-US" sz="1600"/>
                  <a:t>If the assigned labels do not change, then stop.</a:t>
                </a:r>
              </a:p>
              <a:p>
                <a:r>
                  <a:rPr lang="en-US" sz="1600" b="1"/>
                  <a:t>Step 3</a:t>
                </a:r>
                <a:r>
                  <a:rPr lang="en-US" sz="1600"/>
                  <a:t>. New center = average of all assigned points</a:t>
                </a:r>
              </a:p>
              <a:p>
                <a:r>
                  <a:rPr lang="en-US" sz="1600" b="1"/>
                  <a:t>Step 4</a:t>
                </a:r>
                <a:r>
                  <a:rPr lang="en-US" sz="1600"/>
                  <a:t>. Return to step 2.</a:t>
                </a:r>
                <a:endParaRPr lang="vi-VN" sz="1600"/>
              </a:p>
            </p:txBody>
          </p:sp>
        </mc:Choice>
        <mc:Fallback xmlns="">
          <p:sp>
            <p:nvSpPr>
              <p:cNvPr id="26" name="Hộp Văn bản 50">
                <a:extLst>
                  <a:ext uri="{FF2B5EF4-FFF2-40B4-BE49-F238E27FC236}">
                    <a16:creationId xmlns:a16="http://schemas.microsoft.com/office/drawing/2014/main" id="{CB891367-FFE7-A093-BAE2-C9798B9106DE}"/>
                  </a:ext>
                </a:extLst>
              </p:cNvPr>
              <p:cNvSpPr txBox="1">
                <a:spLocks noRot="1" noChangeAspect="1" noMove="1" noResize="1" noEditPoints="1" noAdjustHandles="1" noChangeArrowheads="1" noChangeShapeType="1" noTextEdit="1"/>
              </p:cNvSpPr>
              <p:nvPr/>
            </p:nvSpPr>
            <p:spPr>
              <a:xfrm>
                <a:off x="5357284" y="1142624"/>
                <a:ext cx="3439584" cy="2062103"/>
              </a:xfrm>
              <a:prstGeom prst="rect">
                <a:avLst/>
              </a:prstGeom>
              <a:blipFill>
                <a:blip r:embed="rId4"/>
                <a:stretch>
                  <a:fillRect l="-1064" t="-885" b="-2655"/>
                </a:stretch>
              </a:blipFill>
            </p:spPr>
            <p:txBody>
              <a:bodyPr/>
              <a:lstStyle/>
              <a:p>
                <a:r>
                  <a:rPr lang="vi-VN">
                    <a:noFill/>
                  </a:rPr>
                  <a:t> </a:t>
                </a:r>
              </a:p>
            </p:txBody>
          </p:sp>
        </mc:Fallback>
      </mc:AlternateContent>
      <p:sp>
        <p:nvSpPr>
          <p:cNvPr id="37" name="Slide Number Placeholder 36">
            <a:extLst>
              <a:ext uri="{FF2B5EF4-FFF2-40B4-BE49-F238E27FC236}">
                <a16:creationId xmlns:a16="http://schemas.microsoft.com/office/drawing/2014/main" id="{C19B0DF1-61F2-F73D-A6E8-4473065C2877}"/>
              </a:ext>
            </a:extLst>
          </p:cNvPr>
          <p:cNvSpPr>
            <a:spLocks noGrp="1"/>
          </p:cNvSpPr>
          <p:nvPr>
            <p:ph type="sldNum" sz="quarter" idx="12"/>
          </p:nvPr>
        </p:nvSpPr>
        <p:spPr/>
        <p:txBody>
          <a:bodyPr/>
          <a:lstStyle/>
          <a:p>
            <a:fld id="{6A45828D-F580-42DE-B77E-860980F07F32}" type="slidenum">
              <a:rPr lang="vi-VN" smtClean="0"/>
              <a:t>36</a:t>
            </a:fld>
            <a:endParaRPr lang="vi-VN"/>
          </a:p>
        </p:txBody>
      </p:sp>
      <p:pic>
        <p:nvPicPr>
          <p:cNvPr id="17410" name="Picture 2">
            <a:extLst>
              <a:ext uri="{FF2B5EF4-FFF2-40B4-BE49-F238E27FC236}">
                <a16:creationId xmlns:a16="http://schemas.microsoft.com/office/drawing/2014/main" id="{D07A8B97-6669-1EAB-A3ED-78D10546613C}"/>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9075" t="8148" r="9506"/>
          <a:stretch/>
        </p:blipFill>
        <p:spPr bwMode="auto">
          <a:xfrm>
            <a:off x="533400" y="1142624"/>
            <a:ext cx="4728633" cy="40008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E106286-13E8-71D4-E0B5-060EB92FED77}"/>
              </a:ext>
            </a:extLst>
          </p:cNvPr>
          <p:cNvSpPr/>
          <p:nvPr/>
        </p:nvSpPr>
        <p:spPr>
          <a:xfrm>
            <a:off x="5393267" y="1680634"/>
            <a:ext cx="1325033" cy="2606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9" name="Hộp Văn bản 50">
            <a:extLst>
              <a:ext uri="{FF2B5EF4-FFF2-40B4-BE49-F238E27FC236}">
                <a16:creationId xmlns:a16="http://schemas.microsoft.com/office/drawing/2014/main" id="{912C23BE-65D7-D4F3-89EA-2C34CE5F0017}"/>
              </a:ext>
            </a:extLst>
          </p:cNvPr>
          <p:cNvSpPr txBox="1"/>
          <p:nvPr/>
        </p:nvSpPr>
        <p:spPr>
          <a:xfrm>
            <a:off x="5550958" y="3324957"/>
            <a:ext cx="2334684" cy="584775"/>
          </a:xfrm>
          <a:prstGeom prst="rect">
            <a:avLst/>
          </a:prstGeom>
          <a:noFill/>
        </p:spPr>
        <p:txBody>
          <a:bodyPr wrap="square" rtlCol="0">
            <a:spAutoFit/>
          </a:bodyPr>
          <a:lstStyle/>
          <a:p>
            <a:r>
              <a:rPr lang="en-US" sz="1600">
                <a:solidFill>
                  <a:srgbClr val="FF0000"/>
                </a:solidFill>
              </a:rPr>
              <a:t>Swap-test procedure can be applied again!</a:t>
            </a:r>
            <a:endParaRPr lang="vi-VN" sz="1600">
              <a:solidFill>
                <a:srgbClr val="FF0000"/>
              </a:solidFill>
            </a:endParaRPr>
          </a:p>
        </p:txBody>
      </p:sp>
      <p:cxnSp>
        <p:nvCxnSpPr>
          <p:cNvPr id="40" name="Curved Connector 57">
            <a:extLst>
              <a:ext uri="{FF2B5EF4-FFF2-40B4-BE49-F238E27FC236}">
                <a16:creationId xmlns:a16="http://schemas.microsoft.com/office/drawing/2014/main" id="{68B1361E-6A82-EF33-E15C-F4348ED80BF3}"/>
              </a:ext>
            </a:extLst>
          </p:cNvPr>
          <p:cNvCxnSpPr>
            <a:cxnSpLocks/>
            <a:stCxn id="3" idx="1"/>
            <a:endCxn id="39" idx="1"/>
          </p:cNvCxnSpPr>
          <p:nvPr/>
        </p:nvCxnSpPr>
        <p:spPr>
          <a:xfrm rot="10800000" flipH="1" flipV="1">
            <a:off x="5393266" y="1810975"/>
            <a:ext cx="157691" cy="1806370"/>
          </a:xfrm>
          <a:prstGeom prst="curvedConnector3">
            <a:avLst>
              <a:gd name="adj1" fmla="val -36510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1958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16371-29CD-D9A6-39D5-56BD0A07ED13}"/>
              </a:ext>
            </a:extLst>
          </p:cNvPr>
          <p:cNvSpPr>
            <a:spLocks noGrp="1"/>
          </p:cNvSpPr>
          <p:nvPr>
            <p:ph type="title"/>
          </p:nvPr>
        </p:nvSpPr>
        <p:spPr/>
        <p:txBody>
          <a:bodyPr>
            <a:normAutofit/>
          </a:bodyPr>
          <a:lstStyle/>
          <a:p>
            <a:r>
              <a:rPr lang="en-US"/>
              <a:t>3.3.</a:t>
            </a:r>
            <a:r>
              <a:rPr lang="en-VN"/>
              <a:t> </a:t>
            </a:r>
            <a:r>
              <a:rPr lang="en-US" sz="3200">
                <a:solidFill>
                  <a:schemeClr val="tx1"/>
                </a:solidFill>
              </a:rPr>
              <a:t>QML algorithms</a:t>
            </a:r>
            <a:br>
              <a:rPr lang="en-US" sz="3200">
                <a:solidFill>
                  <a:schemeClr val="tx1"/>
                </a:solidFill>
              </a:rPr>
            </a:br>
            <a:r>
              <a:rPr lang="en-US" sz="2000">
                <a:solidFill>
                  <a:schemeClr val="tx1"/>
                </a:solidFill>
              </a:rPr>
              <a:t>Quantum SVM</a:t>
            </a:r>
            <a:endParaRPr lang="vi-VN" sz="2000"/>
          </a:p>
        </p:txBody>
      </p:sp>
      <p:sp>
        <p:nvSpPr>
          <p:cNvPr id="4" name="Slide Number Placeholder 3">
            <a:extLst>
              <a:ext uri="{FF2B5EF4-FFF2-40B4-BE49-F238E27FC236}">
                <a16:creationId xmlns:a16="http://schemas.microsoft.com/office/drawing/2014/main" id="{29C0AC4E-D03D-3525-D7C1-9D49B27D10BE}"/>
              </a:ext>
            </a:extLst>
          </p:cNvPr>
          <p:cNvSpPr>
            <a:spLocks noGrp="1"/>
          </p:cNvSpPr>
          <p:nvPr>
            <p:ph type="sldNum" sz="quarter" idx="12"/>
          </p:nvPr>
        </p:nvSpPr>
        <p:spPr/>
        <p:txBody>
          <a:bodyPr/>
          <a:lstStyle/>
          <a:p>
            <a:fld id="{6A45828D-F580-42DE-B77E-860980F07F32}" type="slidenum">
              <a:rPr lang="vi-VN" smtClean="0"/>
              <a:t>37</a:t>
            </a:fld>
            <a:endParaRPr lang="vi-VN"/>
          </a:p>
        </p:txBody>
      </p:sp>
      <p:pic>
        <p:nvPicPr>
          <p:cNvPr id="5" name="Google Shape;65;p14">
            <a:extLst>
              <a:ext uri="{FF2B5EF4-FFF2-40B4-BE49-F238E27FC236}">
                <a16:creationId xmlns:a16="http://schemas.microsoft.com/office/drawing/2014/main" id="{6B274483-0E33-EC6A-7D36-2014F58B71FF}"/>
              </a:ext>
            </a:extLst>
          </p:cNvPr>
          <p:cNvPicPr preferRelativeResize="0">
            <a:picLocks noGrp="1"/>
          </p:cNvPicPr>
          <p:nvPr>
            <p:ph idx="1"/>
          </p:nvPr>
        </p:nvPicPr>
        <p:blipFill>
          <a:blip r:embed="rId2">
            <a:alphaModFix/>
          </a:blip>
          <a:stretch>
            <a:fillRect/>
          </a:stretch>
        </p:blipFill>
        <p:spPr>
          <a:xfrm>
            <a:off x="322354" y="1232830"/>
            <a:ext cx="2369924" cy="2177917"/>
          </a:xfrm>
          <a:prstGeom prst="rect">
            <a:avLst/>
          </a:prstGeom>
          <a:noFill/>
          <a:ln>
            <a:noFill/>
          </a:ln>
        </p:spPr>
      </p:pic>
      <p:pic>
        <p:nvPicPr>
          <p:cNvPr id="8" name="Google Shape;75;p15" title="download.png">
            <a:extLst>
              <a:ext uri="{FF2B5EF4-FFF2-40B4-BE49-F238E27FC236}">
                <a16:creationId xmlns:a16="http://schemas.microsoft.com/office/drawing/2014/main" id="{08EF51B7-6ED4-A2F1-7459-3F8C005B86C4}"/>
              </a:ext>
            </a:extLst>
          </p:cNvPr>
          <p:cNvPicPr preferRelativeResize="0"/>
          <p:nvPr/>
        </p:nvPicPr>
        <p:blipFill rotWithShape="1">
          <a:blip r:embed="rId3">
            <a:alphaModFix/>
          </a:blip>
          <a:srcRect l="7899" t="8587" r="55867" b="12756"/>
          <a:stretch/>
        </p:blipFill>
        <p:spPr>
          <a:xfrm>
            <a:off x="3431532" y="893514"/>
            <a:ext cx="1804824" cy="1801664"/>
          </a:xfrm>
          <a:prstGeom prst="rect">
            <a:avLst/>
          </a:prstGeom>
          <a:noFill/>
          <a:ln>
            <a:noFill/>
          </a:ln>
        </p:spPr>
      </p:pic>
      <p:pic>
        <p:nvPicPr>
          <p:cNvPr id="9" name="Google Shape;76;p15" title="download.png">
            <a:extLst>
              <a:ext uri="{FF2B5EF4-FFF2-40B4-BE49-F238E27FC236}">
                <a16:creationId xmlns:a16="http://schemas.microsoft.com/office/drawing/2014/main" id="{0E1F1BB5-3E31-8466-14A6-63965D7E5D34}"/>
              </a:ext>
            </a:extLst>
          </p:cNvPr>
          <p:cNvPicPr preferRelativeResize="0"/>
          <p:nvPr/>
        </p:nvPicPr>
        <p:blipFill rotWithShape="1">
          <a:blip r:embed="rId3">
            <a:alphaModFix/>
          </a:blip>
          <a:srcRect l="60004" t="13663" b="7518"/>
          <a:stretch/>
        </p:blipFill>
        <p:spPr>
          <a:xfrm>
            <a:off x="6336413" y="560115"/>
            <a:ext cx="2356062" cy="2135064"/>
          </a:xfrm>
          <a:prstGeom prst="rect">
            <a:avLst/>
          </a:prstGeom>
          <a:noFill/>
          <a:ln>
            <a:noFill/>
          </a:ln>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1D05932-20A3-79C6-35E0-BDF20ADEAA26}"/>
                  </a:ext>
                </a:extLst>
              </p:cNvPr>
              <p:cNvSpPr txBox="1"/>
              <p:nvPr/>
            </p:nvSpPr>
            <p:spPr>
              <a:xfrm>
                <a:off x="589809" y="3431435"/>
                <a:ext cx="3241117" cy="1314462"/>
              </a:xfrm>
              <a:prstGeom prst="rect">
                <a:avLst/>
              </a:prstGeom>
              <a:noFill/>
            </p:spPr>
            <p:txBody>
              <a:bodyPr wrap="square">
                <a:spAutoFit/>
              </a:bodyPr>
              <a:lstStyle/>
              <a:p>
                <a:r>
                  <a:rPr lang="en-US"/>
                  <a:t>We have:</a:t>
                </a:r>
              </a:p>
              <a:p>
                <a:r>
                  <a:rPr lang="en-US"/>
                  <a:t>      </a:t>
                </a:r>
                <a14:m>
                  <m:oMath xmlns:m="http://schemas.openxmlformats.org/officeDocument/2006/math">
                    <m:sSup>
                      <m:sSupPr>
                        <m:ctrlPr>
                          <a:rPr lang="en-US" b="0" i="1" smtClean="0">
                            <a:latin typeface="Cambria Math" panose="02040503050406030204" pitchFamily="18" charset="0"/>
                          </a:rPr>
                        </m:ctrlPr>
                      </m:sSupPr>
                      <m:e>
                        <m:r>
                          <a:rPr lang="vi-VN" i="1">
                            <a:latin typeface="Cambria Math" panose="02040503050406030204" pitchFamily="18" charset="0"/>
                          </a:rPr>
                          <m:t>𝑓</m:t>
                        </m:r>
                      </m:e>
                      <m:sup>
                        <m:r>
                          <a:rPr lang="en-US" b="0" i="1" smtClean="0">
                            <a:latin typeface="Cambria Math" panose="02040503050406030204" pitchFamily="18" charset="0"/>
                          </a:rPr>
                          <m:t>∗</m:t>
                        </m:r>
                      </m:sup>
                    </m:sSup>
                    <m:d>
                      <m:dPr>
                        <m:ctrlPr>
                          <a:rPr lang="vi-VN" b="0" i="1">
                            <a:latin typeface="Cambria Math" panose="02040503050406030204" pitchFamily="18" charset="0"/>
                          </a:rPr>
                        </m:ctrlPr>
                      </m:dPr>
                      <m:e>
                        <m:r>
                          <a:rPr lang="vi-VN" i="1">
                            <a:latin typeface="Cambria Math" panose="02040503050406030204" pitchFamily="18" charset="0"/>
                          </a:rPr>
                          <m:t>𝑥</m:t>
                        </m:r>
                      </m:e>
                    </m:d>
                    <m:r>
                      <a:rPr lang="en-US" b="0" i="1" smtClean="0">
                        <a:latin typeface="Cambria Math" panose="02040503050406030204" pitchFamily="18" charset="0"/>
                      </a:rPr>
                      <m:t>=</m:t>
                    </m:r>
                    <m:r>
                      <a:rPr lang="en-US" b="1" i="0" smtClean="0">
                        <a:latin typeface="Cambria Math" panose="02040503050406030204" pitchFamily="18" charset="0"/>
                      </a:rPr>
                      <m:t>𝐬𝐠𝐧</m:t>
                    </m:r>
                    <m:r>
                      <a:rPr lang="vi-VN" i="1">
                        <a:latin typeface="Cambria Math" panose="02040503050406030204" pitchFamily="18" charset="0"/>
                      </a:rPr>
                      <m:t>(</m:t>
                    </m:r>
                    <m:r>
                      <a:rPr lang="vi-VN" i="1">
                        <a:latin typeface="Cambria Math" panose="02040503050406030204" pitchFamily="18" charset="0"/>
                      </a:rPr>
                      <m:t>𝑤</m:t>
                    </m:r>
                    <m:r>
                      <a:rPr lang="vi-VN" i="1">
                        <a:latin typeface="Cambria Math" panose="02040503050406030204" pitchFamily="18" charset="0"/>
                      </a:rPr>
                      <m:t>·</m:t>
                    </m:r>
                    <m:r>
                      <a:rPr lang="vi-VN" i="1">
                        <a:latin typeface="Cambria Math" panose="02040503050406030204" pitchFamily="18" charset="0"/>
                      </a:rPr>
                      <m:t>𝑥</m:t>
                    </m:r>
                    <m:r>
                      <a:rPr lang="en-US" b="0" i="1" smtClean="0">
                        <a:latin typeface="Cambria Math" panose="02040503050406030204" pitchFamily="18" charset="0"/>
                      </a:rPr>
                      <m:t>±</m:t>
                    </m:r>
                    <m:r>
                      <a:rPr lang="vi-VN" i="1">
                        <a:latin typeface="Cambria Math" panose="02040503050406030204" pitchFamily="18" charset="0"/>
                      </a:rPr>
                      <m:t>𝑏</m:t>
                    </m:r>
                    <m:r>
                      <a:rPr lang="vi-VN" i="1">
                        <a:latin typeface="Cambria Math" panose="02040503050406030204" pitchFamily="18" charset="0"/>
                      </a:rPr>
                      <m:t>)</m:t>
                    </m:r>
                  </m:oMath>
                </a14:m>
                <a:r>
                  <a:rPr lang="vi-VN"/>
                  <a:t>, </a:t>
                </a:r>
                <a:endParaRPr lang="en-US"/>
              </a:p>
              <a:p>
                <a:r>
                  <a:rPr lang="en-US"/>
                  <a:t>with target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m:t>
                        </m:r>
                      </m:sup>
                    </m:sSup>
                  </m:oMath>
                </a14:m>
                <a:r>
                  <a:rPr lang="en-US"/>
                  <a:t>,</a:t>
                </a:r>
                <a14:m>
                  <m:oMath xmlns:m="http://schemas.openxmlformats.org/officeDocument/2006/math">
                    <m:r>
                      <a:rPr lang="en-US" b="0" i="0"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oMath>
                </a14:m>
                <a:r>
                  <a:rPr lang="en-US"/>
                  <a:t>):</a:t>
                </a:r>
              </a:p>
              <a:p>
                <a:r>
                  <a:rPr lang="en-US"/>
                  <a:t>      </a:t>
                </a:r>
                <a14:m>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lim>
                        </m:limLow>
                      </m:fName>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𝑤</m:t>
                                </m:r>
                              </m:e>
                            </m:d>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𝐶</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m:t>
                                </m:r>
                              </m:sub>
                            </m:sSub>
                          </m:e>
                        </m:nary>
                      </m:e>
                    </m:func>
                  </m:oMath>
                </a14:m>
                <a:endParaRPr lang="en-US"/>
              </a:p>
            </p:txBody>
          </p:sp>
        </mc:Choice>
        <mc:Fallback xmlns="">
          <p:sp>
            <p:nvSpPr>
              <p:cNvPr id="6" name="TextBox 5">
                <a:extLst>
                  <a:ext uri="{FF2B5EF4-FFF2-40B4-BE49-F238E27FC236}">
                    <a16:creationId xmlns:a16="http://schemas.microsoft.com/office/drawing/2014/main" id="{D1D05932-20A3-79C6-35E0-BDF20ADEAA26}"/>
                  </a:ext>
                </a:extLst>
              </p:cNvPr>
              <p:cNvSpPr txBox="1">
                <a:spLocks noRot="1" noChangeAspect="1" noMove="1" noResize="1" noEditPoints="1" noAdjustHandles="1" noChangeArrowheads="1" noChangeShapeType="1" noTextEdit="1"/>
              </p:cNvSpPr>
              <p:nvPr/>
            </p:nvSpPr>
            <p:spPr>
              <a:xfrm>
                <a:off x="589809" y="3431435"/>
                <a:ext cx="3241117" cy="1314462"/>
              </a:xfrm>
              <a:prstGeom prst="rect">
                <a:avLst/>
              </a:prstGeom>
              <a:blipFill>
                <a:blip r:embed="rId4"/>
                <a:stretch>
                  <a:fillRect l="-1695" t="-2778" r="-4708" b="-47222"/>
                </a:stretch>
              </a:blipFill>
            </p:spPr>
            <p:txBody>
              <a:bodyPr/>
              <a:lstStyle/>
              <a:p>
                <a:r>
                  <a:rPr lang="vi-VN">
                    <a:noFill/>
                  </a:rPr>
                  <a:t> </a:t>
                </a:r>
              </a:p>
            </p:txBody>
          </p:sp>
        </mc:Fallback>
      </mc:AlternateContent>
      <p:sp>
        <p:nvSpPr>
          <p:cNvPr id="7" name="Rectangle 6">
            <a:extLst>
              <a:ext uri="{FF2B5EF4-FFF2-40B4-BE49-F238E27FC236}">
                <a16:creationId xmlns:a16="http://schemas.microsoft.com/office/drawing/2014/main" id="{DCE09A84-23AD-CF39-9655-7DE89E4C4BFC}"/>
              </a:ext>
            </a:extLst>
          </p:cNvPr>
          <p:cNvSpPr/>
          <p:nvPr/>
        </p:nvSpPr>
        <p:spPr>
          <a:xfrm>
            <a:off x="2302198" y="3695724"/>
            <a:ext cx="174627" cy="3659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Rectangle 11">
            <a:extLst>
              <a:ext uri="{FF2B5EF4-FFF2-40B4-BE49-F238E27FC236}">
                <a16:creationId xmlns:a16="http://schemas.microsoft.com/office/drawing/2014/main" id="{FAC048A2-249F-44CB-A85E-B6588EAF3B25}"/>
              </a:ext>
            </a:extLst>
          </p:cNvPr>
          <p:cNvSpPr/>
          <p:nvPr/>
        </p:nvSpPr>
        <p:spPr>
          <a:xfrm>
            <a:off x="3020801" y="3695722"/>
            <a:ext cx="174626" cy="3659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 name="TextBox 12">
            <a:extLst>
              <a:ext uri="{FF2B5EF4-FFF2-40B4-BE49-F238E27FC236}">
                <a16:creationId xmlns:a16="http://schemas.microsoft.com/office/drawing/2014/main" id="{35787B0A-9AFC-4650-42FA-8F618674F48B}"/>
              </a:ext>
            </a:extLst>
          </p:cNvPr>
          <p:cNvSpPr txBox="1"/>
          <p:nvPr/>
        </p:nvSpPr>
        <p:spPr>
          <a:xfrm>
            <a:off x="1938277" y="3431435"/>
            <a:ext cx="987204" cy="276999"/>
          </a:xfrm>
          <a:prstGeom prst="rect">
            <a:avLst/>
          </a:prstGeom>
          <a:noFill/>
        </p:spPr>
        <p:txBody>
          <a:bodyPr wrap="square" rtlCol="0">
            <a:spAutoFit/>
          </a:bodyPr>
          <a:lstStyle/>
          <a:p>
            <a:r>
              <a:rPr lang="en-US" sz="1200">
                <a:solidFill>
                  <a:srgbClr val="FF0000"/>
                </a:solidFill>
              </a:rPr>
              <a:t>parameters</a:t>
            </a:r>
            <a:endParaRPr lang="vi-VN" sz="1200">
              <a:solidFill>
                <a:srgbClr val="FF0000"/>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68E7FF9-E183-B9CB-7217-ED9CCE6CF676}"/>
                  </a:ext>
                </a:extLst>
              </p:cNvPr>
              <p:cNvSpPr txBox="1"/>
              <p:nvPr/>
            </p:nvSpPr>
            <p:spPr>
              <a:xfrm>
                <a:off x="2820649" y="1813123"/>
                <a:ext cx="59478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vi-VN" sz="3600"/>
              </a:p>
            </p:txBody>
          </p:sp>
        </mc:Choice>
        <mc:Fallback xmlns="">
          <p:sp>
            <p:nvSpPr>
              <p:cNvPr id="14" name="TextBox 13">
                <a:extLst>
                  <a:ext uri="{FF2B5EF4-FFF2-40B4-BE49-F238E27FC236}">
                    <a16:creationId xmlns:a16="http://schemas.microsoft.com/office/drawing/2014/main" id="{968E7FF9-E183-B9CB-7217-ED9CCE6CF676}"/>
                  </a:ext>
                </a:extLst>
              </p:cNvPr>
              <p:cNvSpPr txBox="1">
                <a:spLocks noRot="1" noChangeAspect="1" noMove="1" noResize="1" noEditPoints="1" noAdjustHandles="1" noChangeArrowheads="1" noChangeShapeType="1" noTextEdit="1"/>
              </p:cNvSpPr>
              <p:nvPr/>
            </p:nvSpPr>
            <p:spPr>
              <a:xfrm>
                <a:off x="2820649" y="1813123"/>
                <a:ext cx="594783" cy="55399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9794C63-76C5-D6B1-A1EE-764ADF4F280F}"/>
                  </a:ext>
                </a:extLst>
              </p:cNvPr>
              <p:cNvSpPr txBox="1"/>
              <p:nvPr/>
            </p:nvSpPr>
            <p:spPr>
              <a:xfrm>
                <a:off x="5488363" y="1759517"/>
                <a:ext cx="59478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vi-VN" sz="3600"/>
              </a:p>
            </p:txBody>
          </p:sp>
        </mc:Choice>
        <mc:Fallback xmlns="">
          <p:sp>
            <p:nvSpPr>
              <p:cNvPr id="15" name="TextBox 14">
                <a:extLst>
                  <a:ext uri="{FF2B5EF4-FFF2-40B4-BE49-F238E27FC236}">
                    <a16:creationId xmlns:a16="http://schemas.microsoft.com/office/drawing/2014/main" id="{19794C63-76C5-D6B1-A1EE-764ADF4F280F}"/>
                  </a:ext>
                </a:extLst>
              </p:cNvPr>
              <p:cNvSpPr txBox="1">
                <a:spLocks noRot="1" noChangeAspect="1" noMove="1" noResize="1" noEditPoints="1" noAdjustHandles="1" noChangeArrowheads="1" noChangeShapeType="1" noTextEdit="1"/>
              </p:cNvSpPr>
              <p:nvPr/>
            </p:nvSpPr>
            <p:spPr>
              <a:xfrm>
                <a:off x="5488363" y="1759517"/>
                <a:ext cx="594783" cy="553998"/>
              </a:xfrm>
              <a:prstGeom prst="rect">
                <a:avLst/>
              </a:prstGeom>
              <a:blipFill>
                <a:blip r:embed="rId6"/>
                <a:stretch>
                  <a:fillRect/>
                </a:stretch>
              </a:blipFill>
            </p:spPr>
            <p:txBody>
              <a:bodyPr/>
              <a:lstStyle/>
              <a:p>
                <a:r>
                  <a:rPr lang="vi-VN">
                    <a:noFill/>
                  </a:rPr>
                  <a:t> </a:t>
                </a:r>
              </a:p>
            </p:txBody>
          </p:sp>
        </mc:Fallback>
      </mc:AlternateContent>
      <p:sp>
        <p:nvSpPr>
          <p:cNvPr id="16" name="TextBox 15">
            <a:extLst>
              <a:ext uri="{FF2B5EF4-FFF2-40B4-BE49-F238E27FC236}">
                <a16:creationId xmlns:a16="http://schemas.microsoft.com/office/drawing/2014/main" id="{E207D0E5-03C1-B659-84F3-79658B23177D}"/>
              </a:ext>
            </a:extLst>
          </p:cNvPr>
          <p:cNvSpPr txBox="1"/>
          <p:nvPr/>
        </p:nvSpPr>
        <p:spPr>
          <a:xfrm>
            <a:off x="5504463" y="1497098"/>
            <a:ext cx="1025361" cy="461665"/>
          </a:xfrm>
          <a:prstGeom prst="rect">
            <a:avLst/>
          </a:prstGeom>
          <a:noFill/>
        </p:spPr>
        <p:txBody>
          <a:bodyPr wrap="square">
            <a:spAutoFit/>
          </a:bodyPr>
          <a:lstStyle/>
          <a:p>
            <a:r>
              <a:rPr lang="en-US" sz="1200"/>
              <a:t>Kernel method</a:t>
            </a:r>
            <a:endParaRPr lang="vi-VN" sz="120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9D9B754-1140-37E0-22F8-052153F910AE}"/>
                  </a:ext>
                </a:extLst>
              </p:cNvPr>
              <p:cNvSpPr txBox="1"/>
              <p:nvPr/>
            </p:nvSpPr>
            <p:spPr>
              <a:xfrm>
                <a:off x="3467516" y="2632977"/>
                <a:ext cx="1804824" cy="923330"/>
              </a:xfrm>
              <a:prstGeom prst="rect">
                <a:avLst/>
              </a:prstGeom>
              <a:noFill/>
            </p:spPr>
            <p:txBody>
              <a:bodyPr wrap="square">
                <a:spAutoFit/>
              </a:bodyPr>
              <a:lstStyle/>
              <a:p>
                <a:pPr algn="ctr"/>
                <a:r>
                  <a:rPr lang="en-US"/>
                  <a:t>I</a:t>
                </a:r>
                <a:r>
                  <a:rPr lang="en-US" sz="1800"/>
                  <a:t>nseparable data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𝑥</m:t>
                                      </m:r>
                                    </m:e>
                                    <m:sub>
                                      <m:r>
                                        <m:rPr>
                                          <m:brk m:alnAt="7"/>
                                        </m:rP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mr>
                            </m:m>
                          </m:e>
                        </m:d>
                      </m:e>
                      <m:sup>
                        <m:r>
                          <a:rPr lang="en-US" b="0" i="1" smtClean="0">
                            <a:latin typeface="Cambria Math" panose="02040503050406030204" pitchFamily="18" charset="0"/>
                            <a:ea typeface="Cambria Math" panose="02040503050406030204" pitchFamily="18" charset="0"/>
                          </a:rPr>
                          <m:t>⊺</m:t>
                        </m:r>
                      </m:sup>
                    </m:sSup>
                  </m:oMath>
                </a14:m>
                <a:endParaRPr lang="vi-VN"/>
              </a:p>
              <a:p>
                <a:pPr algn="ctr"/>
                <a:endParaRPr lang="vi-VN"/>
              </a:p>
            </p:txBody>
          </p:sp>
        </mc:Choice>
        <mc:Fallback xmlns="">
          <p:sp>
            <p:nvSpPr>
              <p:cNvPr id="18" name="TextBox 17">
                <a:extLst>
                  <a:ext uri="{FF2B5EF4-FFF2-40B4-BE49-F238E27FC236}">
                    <a16:creationId xmlns:a16="http://schemas.microsoft.com/office/drawing/2014/main" id="{09D9B754-1140-37E0-22F8-052153F910AE}"/>
                  </a:ext>
                </a:extLst>
              </p:cNvPr>
              <p:cNvSpPr txBox="1">
                <a:spLocks noRot="1" noChangeAspect="1" noMove="1" noResize="1" noEditPoints="1" noAdjustHandles="1" noChangeArrowheads="1" noChangeShapeType="1" noTextEdit="1"/>
              </p:cNvSpPr>
              <p:nvPr/>
            </p:nvSpPr>
            <p:spPr>
              <a:xfrm>
                <a:off x="3467516" y="2632977"/>
                <a:ext cx="1804824" cy="923330"/>
              </a:xfrm>
              <a:prstGeom prst="rect">
                <a:avLst/>
              </a:prstGeom>
              <a:blipFill>
                <a:blip r:embed="rId7"/>
                <a:stretch>
                  <a:fillRect l="-1351" t="-3974" r="-67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27F509F-9FE9-49B4-1F3F-A49C3935D166}"/>
                  </a:ext>
                </a:extLst>
              </p:cNvPr>
              <p:cNvSpPr txBox="1"/>
              <p:nvPr/>
            </p:nvSpPr>
            <p:spPr>
              <a:xfrm>
                <a:off x="6215939" y="2636274"/>
                <a:ext cx="2720628" cy="923330"/>
              </a:xfrm>
              <a:prstGeom prst="rect">
                <a:avLst/>
              </a:prstGeom>
              <a:noFill/>
            </p:spPr>
            <p:txBody>
              <a:bodyPr wrap="square">
                <a:spAutoFit/>
              </a:bodyPr>
              <a:lstStyle/>
              <a:p>
                <a:pPr algn="ctr"/>
                <a:r>
                  <a:rPr lang="en-US" sz="1800"/>
                  <a:t>Separable data</a:t>
                </a:r>
              </a:p>
              <a:p>
                <a:pPr algn="ctr"/>
                <a14:m>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𝑥</m:t>
                                      </m:r>
                                    </m:e>
                                    <m:sub>
                                      <m:r>
                                        <m:rPr>
                                          <m:brk m:alnAt="7"/>
                                        </m:rP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mr>
                            </m:m>
                          </m:e>
                        </m:d>
                      </m:e>
                      <m:sup>
                        <m:r>
                          <a:rPr lang="en-US" i="1">
                            <a:latin typeface="Cambria Math" panose="02040503050406030204" pitchFamily="18" charset="0"/>
                            <a:ea typeface="Cambria Math" panose="02040503050406030204" pitchFamily="18" charset="0"/>
                          </a:rPr>
                          <m:t>⊺</m:t>
                        </m:r>
                      </m:sup>
                    </m:sSup>
                  </m:oMath>
                </a14:m>
                <a:r>
                  <a:rPr lang="en-US"/>
                  <a:t> </a:t>
                </a:r>
                <a:endParaRPr lang="vi-VN"/>
              </a:p>
              <a:p>
                <a:pPr algn="ctr"/>
                <a:endParaRPr lang="vi-VN"/>
              </a:p>
            </p:txBody>
          </p:sp>
        </mc:Choice>
        <mc:Fallback xmlns="">
          <p:sp>
            <p:nvSpPr>
              <p:cNvPr id="19" name="TextBox 18">
                <a:extLst>
                  <a:ext uri="{FF2B5EF4-FFF2-40B4-BE49-F238E27FC236}">
                    <a16:creationId xmlns:a16="http://schemas.microsoft.com/office/drawing/2014/main" id="{F27F509F-9FE9-49B4-1F3F-A49C3935D166}"/>
                  </a:ext>
                </a:extLst>
              </p:cNvPr>
              <p:cNvSpPr txBox="1">
                <a:spLocks noRot="1" noChangeAspect="1" noMove="1" noResize="1" noEditPoints="1" noAdjustHandles="1" noChangeArrowheads="1" noChangeShapeType="1" noTextEdit="1"/>
              </p:cNvSpPr>
              <p:nvPr/>
            </p:nvSpPr>
            <p:spPr>
              <a:xfrm>
                <a:off x="6215939" y="2636274"/>
                <a:ext cx="2720628" cy="923330"/>
              </a:xfrm>
              <a:prstGeom prst="rect">
                <a:avLst/>
              </a:prstGeom>
              <a:blipFill>
                <a:blip r:embed="rId8"/>
                <a:stretch>
                  <a:fillRect t="-32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255BA9F-E902-2B2F-3C7C-183F9BF04AF3}"/>
                  </a:ext>
                </a:extLst>
              </p:cNvPr>
              <p:cNvSpPr txBox="1"/>
              <p:nvPr/>
            </p:nvSpPr>
            <p:spPr>
              <a:xfrm>
                <a:off x="3654669" y="3350219"/>
                <a:ext cx="5353864" cy="8798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𝛽</m:t>
                              </m:r>
                            </m:lim>
                          </m:limLow>
                          <m:r>
                            <a:rPr lang="en-US" b="0" i="1" smtClean="0">
                              <a:latin typeface="Cambria Math" panose="02040503050406030204" pitchFamily="18" charset="0"/>
                            </a:rPr>
                            <m:t> </m:t>
                          </m:r>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nary>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r>
                                    <a:rPr lang="en-US" b="0" i="1" smtClean="0">
                                      <a:latin typeface="Cambria Math" panose="02040503050406030204" pitchFamily="18" charset="0"/>
                                    </a:rPr>
                                    <m:t>  </m:t>
                                  </m:r>
                                  <m:r>
                                    <a:rPr lang="en-US" b="0" i="1" smtClean="0">
                                      <a:latin typeface="Cambria Math" panose="02040503050406030204" pitchFamily="18" charset="0"/>
                                    </a:rPr>
                                    <m:t>𝜙</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rPr>
                                    <m:t>𝜙</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𝑗</m:t>
                                          </m:r>
                                        </m:sub>
                                      </m:sSub>
                                    </m:e>
                                  </m:d>
                                </m:e>
                              </m:nary>
                            </m:e>
                          </m:nary>
                        </m:fName>
                        <m:e>
                          <m:r>
                            <a:rPr lang="en-US" b="0" i="1" smtClean="0">
                              <a:latin typeface="Cambria Math" panose="02040503050406030204" pitchFamily="18" charset="0"/>
                            </a:rPr>
                            <m:t> </m:t>
                          </m:r>
                        </m:e>
                      </m:func>
                    </m:oMath>
                  </m:oMathPara>
                </a14:m>
                <a:endParaRPr lang="vi-VN"/>
              </a:p>
            </p:txBody>
          </p:sp>
        </mc:Choice>
        <mc:Fallback xmlns="">
          <p:sp>
            <p:nvSpPr>
              <p:cNvPr id="24" name="TextBox 23">
                <a:extLst>
                  <a:ext uri="{FF2B5EF4-FFF2-40B4-BE49-F238E27FC236}">
                    <a16:creationId xmlns:a16="http://schemas.microsoft.com/office/drawing/2014/main" id="{9255BA9F-E902-2B2F-3C7C-183F9BF04AF3}"/>
                  </a:ext>
                </a:extLst>
              </p:cNvPr>
              <p:cNvSpPr txBox="1">
                <a:spLocks noRot="1" noChangeAspect="1" noMove="1" noResize="1" noEditPoints="1" noAdjustHandles="1" noChangeArrowheads="1" noChangeShapeType="1" noTextEdit="1"/>
              </p:cNvSpPr>
              <p:nvPr/>
            </p:nvSpPr>
            <p:spPr>
              <a:xfrm>
                <a:off x="3654669" y="3350219"/>
                <a:ext cx="5353864" cy="879856"/>
              </a:xfrm>
              <a:prstGeom prst="rect">
                <a:avLst/>
              </a:prstGeom>
              <a:blipFill>
                <a:blip r:embed="rId9"/>
                <a:stretch>
                  <a:fillRect/>
                </a:stretch>
              </a:blipFill>
            </p:spPr>
            <p:txBody>
              <a:bodyPr/>
              <a:lstStyle/>
              <a:p>
                <a:r>
                  <a:rPr lang="vi-VN">
                    <a:noFill/>
                  </a:rPr>
                  <a:t> </a:t>
                </a:r>
              </a:p>
            </p:txBody>
          </p:sp>
        </mc:Fallback>
      </mc:AlternateContent>
      <p:sp>
        <p:nvSpPr>
          <p:cNvPr id="28" name="TextBox 27">
            <a:extLst>
              <a:ext uri="{FF2B5EF4-FFF2-40B4-BE49-F238E27FC236}">
                <a16:creationId xmlns:a16="http://schemas.microsoft.com/office/drawing/2014/main" id="{770705D5-72A2-EFD5-6986-69C9A0EA6AE1}"/>
              </a:ext>
            </a:extLst>
          </p:cNvPr>
          <p:cNvSpPr txBox="1"/>
          <p:nvPr/>
        </p:nvSpPr>
        <p:spPr>
          <a:xfrm rot="18919474">
            <a:off x="979369" y="1842107"/>
            <a:ext cx="2369924" cy="276999"/>
          </a:xfrm>
          <a:prstGeom prst="rect">
            <a:avLst/>
          </a:prstGeom>
          <a:noFill/>
        </p:spPr>
        <p:txBody>
          <a:bodyPr wrap="square">
            <a:spAutoFit/>
          </a:bodyPr>
          <a:lstStyle/>
          <a:p>
            <a:r>
              <a:rPr lang="vi-VN" sz="1200">
                <a:latin typeface="Calibri" panose="020F0502020204030204" pitchFamily="34" charset="0"/>
                <a:ea typeface="Calibri" panose="020F0502020204030204" pitchFamily="34" charset="0"/>
                <a:cs typeface="Calibri" panose="020F0502020204030204" pitchFamily="34" charset="0"/>
              </a:rPr>
              <a:t>separate hyperplan</a:t>
            </a:r>
            <a:r>
              <a:rPr lang="en-US" sz="1200">
                <a:latin typeface="Calibri" panose="020F0502020204030204" pitchFamily="34" charset="0"/>
                <a:ea typeface="Calibri" panose="020F0502020204030204" pitchFamily="34" charset="0"/>
                <a:cs typeface="Calibri" panose="020F0502020204030204" pitchFamily="34" charset="0"/>
              </a:rPr>
              <a:t>e</a:t>
            </a:r>
            <a:r>
              <a:rPr lang="en-US" sz="1200"/>
              <a:t>.</a:t>
            </a:r>
          </a:p>
        </p:txBody>
      </p:sp>
      <p:sp>
        <p:nvSpPr>
          <p:cNvPr id="29" name="Rectangle 28">
            <a:extLst>
              <a:ext uri="{FF2B5EF4-FFF2-40B4-BE49-F238E27FC236}">
                <a16:creationId xmlns:a16="http://schemas.microsoft.com/office/drawing/2014/main" id="{367BFE37-0C95-4B50-A19B-89B62A9811A2}"/>
              </a:ext>
            </a:extLst>
          </p:cNvPr>
          <p:cNvSpPr/>
          <p:nvPr/>
        </p:nvSpPr>
        <p:spPr>
          <a:xfrm>
            <a:off x="3749099" y="3322206"/>
            <a:ext cx="5187467" cy="9178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FCF26F37-9BD4-658D-832E-F7B066AF9791}"/>
              </a:ext>
            </a:extLst>
          </p:cNvPr>
          <p:cNvSpPr/>
          <p:nvPr/>
        </p:nvSpPr>
        <p:spPr>
          <a:xfrm>
            <a:off x="961246" y="4311937"/>
            <a:ext cx="2700587" cy="4484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32" name="Connector: Curved 31">
            <a:extLst>
              <a:ext uri="{FF2B5EF4-FFF2-40B4-BE49-F238E27FC236}">
                <a16:creationId xmlns:a16="http://schemas.microsoft.com/office/drawing/2014/main" id="{0F44A19B-9CBB-43F6-FBD3-65747B1338B7}"/>
              </a:ext>
            </a:extLst>
          </p:cNvPr>
          <p:cNvCxnSpPr>
            <a:cxnSpLocks/>
            <a:stCxn id="30" idx="3"/>
            <a:endCxn id="34" idx="2"/>
          </p:cNvCxnSpPr>
          <p:nvPr/>
        </p:nvCxnSpPr>
        <p:spPr>
          <a:xfrm flipV="1">
            <a:off x="3661833" y="4240007"/>
            <a:ext cx="810684" cy="296139"/>
          </a:xfrm>
          <a:prstGeom prst="curvedConnector2">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DAD63001-731A-7A12-9EEE-4FEF8F6688E8}"/>
              </a:ext>
            </a:extLst>
          </p:cNvPr>
          <p:cNvSpPr/>
          <p:nvPr/>
        </p:nvSpPr>
        <p:spPr>
          <a:xfrm>
            <a:off x="4284133" y="4174067"/>
            <a:ext cx="376767" cy="659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6" name="Rectangle 35">
            <a:extLst>
              <a:ext uri="{FF2B5EF4-FFF2-40B4-BE49-F238E27FC236}">
                <a16:creationId xmlns:a16="http://schemas.microsoft.com/office/drawing/2014/main" id="{34144FCF-DFEE-6328-F36C-11C199F81738}"/>
              </a:ext>
            </a:extLst>
          </p:cNvPr>
          <p:cNvSpPr/>
          <p:nvPr/>
        </p:nvSpPr>
        <p:spPr>
          <a:xfrm>
            <a:off x="7521948" y="3554041"/>
            <a:ext cx="1329952" cy="4755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3279791-C404-DA47-E907-77A65C248030}"/>
                  </a:ext>
                </a:extLst>
              </p:cNvPr>
              <p:cNvSpPr txBox="1"/>
              <p:nvPr/>
            </p:nvSpPr>
            <p:spPr>
              <a:xfrm>
                <a:off x="7449053" y="4231390"/>
                <a:ext cx="2113950" cy="646331"/>
              </a:xfrm>
              <a:prstGeom prst="rect">
                <a:avLst/>
              </a:prstGeom>
              <a:noFill/>
            </p:spPr>
            <p:txBody>
              <a:bodyPr wrap="square">
                <a:spAutoFit/>
              </a:bodyPr>
              <a:lstStyle/>
              <a:p>
                <a:r>
                  <a:rPr lang="en-US" sz="1800"/>
                  <a:t>Inner product</a:t>
                </a:r>
              </a:p>
              <a:p>
                <a14:m>
                  <m:oMath xmlns:m="http://schemas.openxmlformats.org/officeDocument/2006/math">
                    <m:r>
                      <a:rPr lang="vi-VN"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e>
                    </m:d>
                  </m:oMath>
                </a14:m>
                <a:r>
                  <a:rPr lang="en-US"/>
                  <a:t> complexity</a:t>
                </a:r>
                <a:endParaRPr lang="vi-VN"/>
              </a:p>
            </p:txBody>
          </p:sp>
        </mc:Choice>
        <mc:Fallback xmlns="">
          <p:sp>
            <p:nvSpPr>
              <p:cNvPr id="37" name="TextBox 36">
                <a:extLst>
                  <a:ext uri="{FF2B5EF4-FFF2-40B4-BE49-F238E27FC236}">
                    <a16:creationId xmlns:a16="http://schemas.microsoft.com/office/drawing/2014/main" id="{73279791-C404-DA47-E907-77A65C248030}"/>
                  </a:ext>
                </a:extLst>
              </p:cNvPr>
              <p:cNvSpPr txBox="1">
                <a:spLocks noRot="1" noChangeAspect="1" noMove="1" noResize="1" noEditPoints="1" noAdjustHandles="1" noChangeArrowheads="1" noChangeShapeType="1" noTextEdit="1"/>
              </p:cNvSpPr>
              <p:nvPr/>
            </p:nvSpPr>
            <p:spPr>
              <a:xfrm>
                <a:off x="7449053" y="4231390"/>
                <a:ext cx="2113950" cy="646331"/>
              </a:xfrm>
              <a:prstGeom prst="rect">
                <a:avLst/>
              </a:prstGeom>
              <a:blipFill>
                <a:blip r:embed="rId10"/>
                <a:stretch>
                  <a:fillRect l="-2594" t="-4717" r="-2017" b="-14151"/>
                </a:stretch>
              </a:blipFill>
            </p:spPr>
            <p:txBody>
              <a:bodyPr/>
              <a:lstStyle/>
              <a:p>
                <a:r>
                  <a:rPr lang="vi-VN">
                    <a:noFill/>
                  </a:rPr>
                  <a:t> </a:t>
                </a:r>
              </a:p>
            </p:txBody>
          </p:sp>
        </mc:Fallback>
      </mc:AlternateContent>
      <p:cxnSp>
        <p:nvCxnSpPr>
          <p:cNvPr id="39" name="Straight Arrow Connector 38">
            <a:extLst>
              <a:ext uri="{FF2B5EF4-FFF2-40B4-BE49-F238E27FC236}">
                <a16:creationId xmlns:a16="http://schemas.microsoft.com/office/drawing/2014/main" id="{79C30425-DF0B-18FA-FA1F-465C30DCCF46}"/>
              </a:ext>
            </a:extLst>
          </p:cNvPr>
          <p:cNvCxnSpPr>
            <a:stCxn id="36" idx="2"/>
          </p:cNvCxnSpPr>
          <p:nvPr/>
        </p:nvCxnSpPr>
        <p:spPr>
          <a:xfrm>
            <a:off x="8186924" y="4029603"/>
            <a:ext cx="0" cy="3222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D0A6849-FEC4-789D-3925-595B4D9B291B}"/>
                  </a:ext>
                </a:extLst>
              </p:cNvPr>
              <p:cNvSpPr txBox="1"/>
              <p:nvPr/>
            </p:nvSpPr>
            <p:spPr>
              <a:xfrm>
                <a:off x="4457363" y="4412122"/>
                <a:ext cx="2656782" cy="4113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r>
                        <a:rPr lang="en-US" i="1">
                          <a:latin typeface="Cambria Math" panose="02040503050406030204" pitchFamily="18" charset="0"/>
                        </a:rPr>
                        <m:t>𝜙</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rPr>
                        <m:t>𝜙</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e>
                      </m:d>
                    </m:oMath>
                  </m:oMathPara>
                </a14:m>
                <a:endParaRPr lang="vi-VN"/>
              </a:p>
            </p:txBody>
          </p:sp>
        </mc:Choice>
        <mc:Fallback xmlns="">
          <p:sp>
            <p:nvSpPr>
              <p:cNvPr id="40" name="TextBox 39">
                <a:extLst>
                  <a:ext uri="{FF2B5EF4-FFF2-40B4-BE49-F238E27FC236}">
                    <a16:creationId xmlns:a16="http://schemas.microsoft.com/office/drawing/2014/main" id="{3D0A6849-FEC4-789D-3925-595B4D9B291B}"/>
                  </a:ext>
                </a:extLst>
              </p:cNvPr>
              <p:cNvSpPr txBox="1">
                <a:spLocks noRot="1" noChangeAspect="1" noMove="1" noResize="1" noEditPoints="1" noAdjustHandles="1" noChangeArrowheads="1" noChangeShapeType="1" noTextEdit="1"/>
              </p:cNvSpPr>
              <p:nvPr/>
            </p:nvSpPr>
            <p:spPr>
              <a:xfrm>
                <a:off x="4457363" y="4412122"/>
                <a:ext cx="2656782" cy="411395"/>
              </a:xfrm>
              <a:prstGeom prst="rect">
                <a:avLst/>
              </a:prstGeom>
              <a:blipFill>
                <a:blip r:embed="rId11"/>
                <a:stretch>
                  <a:fillRect b="-7463"/>
                </a:stretch>
              </a:blipFill>
            </p:spPr>
            <p:txBody>
              <a:bodyPr/>
              <a:lstStyle/>
              <a:p>
                <a:r>
                  <a:rPr lang="vi-VN">
                    <a:noFill/>
                  </a:rPr>
                  <a:t> </a:t>
                </a:r>
              </a:p>
            </p:txBody>
          </p:sp>
        </mc:Fallback>
      </mc:AlternateContent>
      <p:cxnSp>
        <p:nvCxnSpPr>
          <p:cNvPr id="41" name="Straight Arrow Connector 40">
            <a:extLst>
              <a:ext uri="{FF2B5EF4-FFF2-40B4-BE49-F238E27FC236}">
                <a16:creationId xmlns:a16="http://schemas.microsoft.com/office/drawing/2014/main" id="{BA780AF0-79C1-3BEC-6D55-98141397BEAE}"/>
              </a:ext>
            </a:extLst>
          </p:cNvPr>
          <p:cNvCxnSpPr>
            <a:cxnSpLocks/>
          </p:cNvCxnSpPr>
          <p:nvPr/>
        </p:nvCxnSpPr>
        <p:spPr>
          <a:xfrm flipH="1">
            <a:off x="7002470" y="4617820"/>
            <a:ext cx="452624" cy="87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15DD048-64BE-EE15-60E3-3E2F5D49F6D4}"/>
              </a:ext>
            </a:extLst>
          </p:cNvPr>
          <p:cNvSpPr txBox="1"/>
          <p:nvPr/>
        </p:nvSpPr>
        <p:spPr>
          <a:xfrm>
            <a:off x="4504267" y="4767263"/>
            <a:ext cx="3255724" cy="369332"/>
          </a:xfrm>
          <a:prstGeom prst="rect">
            <a:avLst/>
          </a:prstGeom>
          <a:noFill/>
        </p:spPr>
        <p:txBody>
          <a:bodyPr wrap="square">
            <a:spAutoFit/>
          </a:bodyPr>
          <a:lstStyle/>
          <a:p>
            <a:r>
              <a:rPr lang="en-US"/>
              <a:t>Kernel function is faster!</a:t>
            </a:r>
            <a:endParaRPr lang="vi-VN"/>
          </a:p>
        </p:txBody>
      </p:sp>
    </p:spTree>
    <p:extLst>
      <p:ext uri="{BB962C8B-B14F-4D97-AF65-F5344CB8AC3E}">
        <p14:creationId xmlns:p14="http://schemas.microsoft.com/office/powerpoint/2010/main" val="42096574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3223C3-FB6D-FD2C-E8BD-F0AE340D10CE}"/>
                  </a:ext>
                </a:extLst>
              </p:cNvPr>
              <p:cNvSpPr>
                <a:spLocks noGrp="1"/>
              </p:cNvSpPr>
              <p:nvPr>
                <p:ph idx="1"/>
              </p:nvPr>
            </p:nvSpPr>
            <p:spPr>
              <a:xfrm>
                <a:off x="628650" y="1161788"/>
                <a:ext cx="5323417" cy="1433248"/>
              </a:xfrm>
            </p:spPr>
            <p:txBody>
              <a:bodyPr/>
              <a:lstStyle/>
              <a:p>
                <a:pPr marL="0" indent="0">
                  <a:buNone/>
                </a:pPr>
                <a:r>
                  <a:rPr lang="en-US"/>
                  <a:t>Classical kernel:</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𝐾</m:t>
                        </m:r>
                      </m:e>
                      <m:sub>
                        <m:r>
                          <m:rPr>
                            <m:sty m:val="p"/>
                          </m:rPr>
                          <a:rPr lang="en-US" b="0" i="0" smtClean="0">
                            <a:latin typeface="Cambria Math" panose="02040503050406030204" pitchFamily="18" charset="0"/>
                          </a:rPr>
                          <m:t>RBF</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𝛾</m:t>
                            </m:r>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d>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&gt;0</m:t>
                            </m:r>
                          </m:e>
                        </m:d>
                      </m:e>
                    </m:func>
                  </m:oMath>
                </a14:m>
                <a:r>
                  <a:rPr lang="en-US"/>
                  <a:t> </a:t>
                </a:r>
                <a:endParaRPr lang="vi-VN"/>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𝐾</m:t>
                        </m:r>
                      </m:e>
                      <m:sub>
                        <m:r>
                          <m:rPr>
                            <m:sty m:val="p"/>
                          </m:rPr>
                          <a:rPr lang="en-US" b="0" i="0" smtClean="0">
                            <a:latin typeface="Cambria Math" panose="02040503050406030204" pitchFamily="18" charset="0"/>
                          </a:rPr>
                          <m:t>Linear</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smtClean="0">
                            <a:latin typeface="Cambria Math" panose="02040503050406030204" pitchFamily="18" charset="0"/>
                            <a:ea typeface="Cambria Math" panose="02040503050406030204" pitchFamily="18" charset="0"/>
                          </a:rPr>
                          <m:t>⊺</m:t>
                        </m:r>
                      </m:sup>
                    </m:sSubSup>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𝑥</m:t>
                        </m:r>
                      </m:e>
                      <m:sub>
                        <m:r>
                          <a:rPr lang="en-US" b="0" i="1" smtClean="0">
                            <a:latin typeface="Cambria Math" panose="02040503050406030204" pitchFamily="18" charset="0"/>
                          </a:rPr>
                          <m:t>𝑗</m:t>
                        </m:r>
                      </m:sub>
                    </m:sSub>
                  </m:oMath>
                </a14:m>
                <a:r>
                  <a:rPr lang="en-US"/>
                  <a:t> </a:t>
                </a:r>
              </a:p>
              <a:p>
                <a:pPr marL="0" indent="0">
                  <a:buNone/>
                </a:pPr>
                <a:endParaRPr lang="vi-VN"/>
              </a:p>
              <a:p>
                <a:pPr marL="0" indent="0">
                  <a:buNone/>
                </a:pPr>
                <a:endParaRPr lang="vi-VN"/>
              </a:p>
            </p:txBody>
          </p:sp>
        </mc:Choice>
        <mc:Fallback xmlns="">
          <p:sp>
            <p:nvSpPr>
              <p:cNvPr id="3" name="Content Placeholder 2">
                <a:extLst>
                  <a:ext uri="{FF2B5EF4-FFF2-40B4-BE49-F238E27FC236}">
                    <a16:creationId xmlns:a16="http://schemas.microsoft.com/office/drawing/2014/main" id="{163223C3-FB6D-FD2C-E8BD-F0AE340D10CE}"/>
                  </a:ext>
                </a:extLst>
              </p:cNvPr>
              <p:cNvSpPr>
                <a:spLocks noGrp="1" noRot="1" noChangeAspect="1" noMove="1" noResize="1" noEditPoints="1" noAdjustHandles="1" noChangeArrowheads="1" noChangeShapeType="1" noTextEdit="1"/>
              </p:cNvSpPr>
              <p:nvPr>
                <p:ph idx="1"/>
              </p:nvPr>
            </p:nvSpPr>
            <p:spPr>
              <a:xfrm>
                <a:off x="628650" y="1161788"/>
                <a:ext cx="5323417" cy="1433248"/>
              </a:xfrm>
              <a:blipFill>
                <a:blip r:embed="rId2"/>
                <a:stretch>
                  <a:fillRect l="-1375" t="-5106"/>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9D59437B-AA10-60F9-CF7E-B97D6B0495B8}"/>
              </a:ext>
            </a:extLst>
          </p:cNvPr>
          <p:cNvSpPr>
            <a:spLocks noGrp="1"/>
          </p:cNvSpPr>
          <p:nvPr>
            <p:ph type="sldNum" sz="quarter" idx="12"/>
          </p:nvPr>
        </p:nvSpPr>
        <p:spPr/>
        <p:txBody>
          <a:bodyPr/>
          <a:lstStyle/>
          <a:p>
            <a:fld id="{6A45828D-F580-42DE-B77E-860980F07F32}" type="slidenum">
              <a:rPr lang="vi-VN" smtClean="0"/>
              <a:t>38</a:t>
            </a:fld>
            <a:endParaRPr lang="vi-VN"/>
          </a:p>
        </p:txBody>
      </p:sp>
      <p:sp>
        <p:nvSpPr>
          <p:cNvPr id="5" name="Title 1">
            <a:extLst>
              <a:ext uri="{FF2B5EF4-FFF2-40B4-BE49-F238E27FC236}">
                <a16:creationId xmlns:a16="http://schemas.microsoft.com/office/drawing/2014/main" id="{E3E99AB1-3251-1B7C-3B9B-65AFEA6AFEBE}"/>
              </a:ext>
            </a:extLst>
          </p:cNvPr>
          <p:cNvSpPr>
            <a:spLocks noGrp="1"/>
          </p:cNvSpPr>
          <p:nvPr>
            <p:ph type="title"/>
          </p:nvPr>
        </p:nvSpPr>
        <p:spPr>
          <a:xfrm>
            <a:off x="628650" y="273844"/>
            <a:ext cx="6466417" cy="994172"/>
          </a:xfrm>
        </p:spPr>
        <p:txBody>
          <a:bodyPr>
            <a:normAutofit/>
          </a:bodyPr>
          <a:lstStyle/>
          <a:p>
            <a:r>
              <a:rPr lang="en-US"/>
              <a:t>3.3.</a:t>
            </a:r>
            <a:r>
              <a:rPr lang="en-VN"/>
              <a:t> </a:t>
            </a:r>
            <a:r>
              <a:rPr lang="en-US" sz="3200">
                <a:solidFill>
                  <a:schemeClr val="tx1"/>
                </a:solidFill>
              </a:rPr>
              <a:t>QML algorithms</a:t>
            </a:r>
            <a:br>
              <a:rPr lang="en-US" sz="3200">
                <a:solidFill>
                  <a:schemeClr val="tx1"/>
                </a:solidFill>
              </a:rPr>
            </a:br>
            <a:r>
              <a:rPr lang="en-US" sz="2000">
                <a:solidFill>
                  <a:schemeClr val="tx1"/>
                </a:solidFill>
              </a:rPr>
              <a:t>Quantum SVM</a:t>
            </a:r>
            <a:endParaRPr lang="vi-VN" sz="2000"/>
          </a:p>
        </p:txBody>
      </p:sp>
      <p:cxnSp>
        <p:nvCxnSpPr>
          <p:cNvPr id="9" name="Straight Connector 8">
            <a:extLst>
              <a:ext uri="{FF2B5EF4-FFF2-40B4-BE49-F238E27FC236}">
                <a16:creationId xmlns:a16="http://schemas.microsoft.com/office/drawing/2014/main" id="{B9022B46-6327-3597-CF45-507994AD0EB2}"/>
              </a:ext>
            </a:extLst>
          </p:cNvPr>
          <p:cNvCxnSpPr>
            <a:cxnSpLocks/>
            <a:endCxn id="16" idx="1"/>
          </p:cNvCxnSpPr>
          <p:nvPr/>
        </p:nvCxnSpPr>
        <p:spPr>
          <a:xfrm>
            <a:off x="793443" y="3332469"/>
            <a:ext cx="21214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93CD7A07-0041-5B90-FB79-9A55414E1988}"/>
                  </a:ext>
                </a:extLst>
              </p:cNvPr>
              <p:cNvSpPr/>
              <p:nvPr/>
            </p:nvSpPr>
            <p:spPr>
              <a:xfrm>
                <a:off x="1088294" y="3027239"/>
                <a:ext cx="820470"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𝜙</m:t>
                          </m:r>
                        </m:sub>
                      </m:sSub>
                      <m:d>
                        <m:dPr>
                          <m:ctrlPr>
                            <a:rPr lang="en-US" b="0" i="1" smtClean="0">
                              <a:solidFill>
                                <a:schemeClr val="tx1"/>
                              </a:solidFill>
                              <a:latin typeface="Cambria Math" panose="02040503050406030204" pitchFamily="18" charset="0"/>
                            </a:rPr>
                          </m:ctrlPr>
                        </m:dPr>
                        <m:e>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𝑗</m:t>
                              </m:r>
                            </m:sub>
                          </m:sSub>
                        </m:e>
                      </m:d>
                    </m:oMath>
                  </m:oMathPara>
                </a14:m>
                <a:endParaRPr/>
              </a:p>
            </p:txBody>
          </p:sp>
        </mc:Choice>
        <mc:Fallback xmlns="">
          <p:sp>
            <p:nvSpPr>
              <p:cNvPr id="10" name="Rectangle 9">
                <a:extLst>
                  <a:ext uri="{FF2B5EF4-FFF2-40B4-BE49-F238E27FC236}">
                    <a16:creationId xmlns:a16="http://schemas.microsoft.com/office/drawing/2014/main" id="{93CD7A07-0041-5B90-FB79-9A55414E1988}"/>
                  </a:ext>
                </a:extLst>
              </p:cNvPr>
              <p:cNvSpPr>
                <a:spLocks noRot="1" noChangeAspect="1" noMove="1" noResize="1" noEditPoints="1" noAdjustHandles="1" noChangeArrowheads="1" noChangeShapeType="1" noTextEdit="1"/>
              </p:cNvSpPr>
              <p:nvPr/>
            </p:nvSpPr>
            <p:spPr>
              <a:xfrm>
                <a:off x="1088294" y="3027239"/>
                <a:ext cx="820470" cy="650789"/>
              </a:xfrm>
              <a:prstGeom prst="rect">
                <a:avLst/>
              </a:prstGeom>
              <a:blipFill>
                <a:blip r:embed="rId3"/>
                <a:stretch>
                  <a:fillRect l="-1471"/>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52C84BB-8FD4-5876-EDCC-AC86AA6CF662}"/>
                  </a:ext>
                </a:extLst>
              </p:cNvPr>
              <p:cNvSpPr/>
              <p:nvPr/>
            </p:nvSpPr>
            <p:spPr>
              <a:xfrm>
                <a:off x="1989532" y="3027239"/>
                <a:ext cx="820470"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𝜙</m:t>
                          </m:r>
                        </m:sub>
                        <m:sup>
                          <m:r>
                            <a:rPr lang="en-US" i="1">
                              <a:solidFill>
                                <a:schemeClr val="tx1"/>
                              </a:solidFill>
                              <a:latin typeface="Cambria Math" panose="02040503050406030204" pitchFamily="18" charset="0"/>
                              <a:ea typeface="Cambria Math" panose="02040503050406030204" pitchFamily="18" charset="0"/>
                            </a:rPr>
                            <m:t>†</m:t>
                          </m:r>
                        </m:sup>
                      </m:sSubSup>
                      <m:d>
                        <m:dPr>
                          <m:ctrlPr>
                            <a:rPr lang="en-US" b="0" i="1" smtClean="0">
                              <a:solidFill>
                                <a:schemeClr val="tx1"/>
                              </a:solidFill>
                              <a:latin typeface="Cambria Math" panose="02040503050406030204" pitchFamily="18" charset="0"/>
                              <a:ea typeface="Cambria Math" panose="02040503050406030204" pitchFamily="18" charset="0"/>
                            </a:rPr>
                          </m:ctrlPr>
                        </m:dPr>
                        <m:e>
                          <m:sSub>
                            <m:sSubPr>
                              <m:ctrlPr>
                                <a:rPr lang="en-US" b="0" i="1" smtClean="0">
                                  <a:solidFill>
                                    <a:schemeClr val="accent1"/>
                                  </a:solidFill>
                                  <a:latin typeface="Cambria Math" panose="02040503050406030204" pitchFamily="18" charset="0"/>
                                  <a:ea typeface="Cambria Math" panose="02040503050406030204" pitchFamily="18" charset="0"/>
                                </a:rPr>
                              </m:ctrlPr>
                            </m:sSubPr>
                            <m:e>
                              <m:r>
                                <a:rPr lang="en-US" b="0" i="1" smtClean="0">
                                  <a:solidFill>
                                    <a:schemeClr val="accent1"/>
                                  </a:solidFill>
                                  <a:latin typeface="Cambria Math" panose="02040503050406030204" pitchFamily="18" charset="0"/>
                                  <a:ea typeface="Cambria Math" panose="02040503050406030204" pitchFamily="18" charset="0"/>
                                </a:rPr>
                                <m:t>𝑥</m:t>
                              </m:r>
                            </m:e>
                            <m:sub>
                              <m:r>
                                <a:rPr lang="en-US" b="0" i="1" smtClean="0">
                                  <a:solidFill>
                                    <a:schemeClr val="accent1"/>
                                  </a:solidFill>
                                  <a:latin typeface="Cambria Math" panose="02040503050406030204" pitchFamily="18" charset="0"/>
                                  <a:ea typeface="Cambria Math" panose="02040503050406030204" pitchFamily="18" charset="0"/>
                                </a:rPr>
                                <m:t>𝑖</m:t>
                              </m:r>
                            </m:sub>
                          </m:sSub>
                        </m:e>
                      </m:d>
                    </m:oMath>
                  </m:oMathPara>
                </a14:m>
                <a:endParaRPr/>
              </a:p>
            </p:txBody>
          </p:sp>
        </mc:Choice>
        <mc:Fallback xmlns="">
          <p:sp>
            <p:nvSpPr>
              <p:cNvPr id="11" name="Rectangle 10">
                <a:extLst>
                  <a:ext uri="{FF2B5EF4-FFF2-40B4-BE49-F238E27FC236}">
                    <a16:creationId xmlns:a16="http://schemas.microsoft.com/office/drawing/2014/main" id="{B52C84BB-8FD4-5876-EDCC-AC86AA6CF662}"/>
                  </a:ext>
                </a:extLst>
              </p:cNvPr>
              <p:cNvSpPr>
                <a:spLocks noRot="1" noChangeAspect="1" noMove="1" noResize="1" noEditPoints="1" noAdjustHandles="1" noChangeArrowheads="1" noChangeShapeType="1" noTextEdit="1"/>
              </p:cNvSpPr>
              <p:nvPr/>
            </p:nvSpPr>
            <p:spPr>
              <a:xfrm>
                <a:off x="1989532" y="3027239"/>
                <a:ext cx="820470" cy="650789"/>
              </a:xfrm>
              <a:prstGeom prst="rect">
                <a:avLst/>
              </a:prstGeom>
              <a:blipFill>
                <a:blip r:embed="rId4"/>
                <a:stretch>
                  <a:fillRect/>
                </a:stretch>
              </a:blipFill>
              <a:ln>
                <a:solidFill>
                  <a:schemeClr val="tx1"/>
                </a:solidFill>
              </a:ln>
            </p:spPr>
            <p:txBody>
              <a:bodyPr/>
              <a:lstStyle/>
              <a:p>
                <a:r>
                  <a:rPr lang="vi-VN">
                    <a:noFill/>
                  </a:rPr>
                  <a:t> </a:t>
                </a:r>
              </a:p>
            </p:txBody>
          </p:sp>
        </mc:Fallback>
      </mc:AlternateContent>
      <p:cxnSp>
        <p:nvCxnSpPr>
          <p:cNvPr id="12" name="Straight Connector 11">
            <a:extLst>
              <a:ext uri="{FF2B5EF4-FFF2-40B4-BE49-F238E27FC236}">
                <a16:creationId xmlns:a16="http://schemas.microsoft.com/office/drawing/2014/main" id="{243A1B2E-A5E6-737E-923E-B2311303B0E9}"/>
              </a:ext>
            </a:extLst>
          </p:cNvPr>
          <p:cNvCxnSpPr>
            <a:cxnSpLocks/>
          </p:cNvCxnSpPr>
          <p:nvPr/>
        </p:nvCxnSpPr>
        <p:spPr>
          <a:xfrm flipV="1">
            <a:off x="863860" y="321414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11CA5FB-BF7A-2FDF-C0DD-73F48D7FDF50}"/>
              </a:ext>
            </a:extLst>
          </p:cNvPr>
          <p:cNvSpPr/>
          <p:nvPr/>
        </p:nvSpPr>
        <p:spPr>
          <a:xfrm>
            <a:off x="533895" y="3208148"/>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9316E7C-D29E-C920-D3FF-44452050F139}"/>
                  </a:ext>
                </a:extLst>
              </p:cNvPr>
              <p:cNvSpPr txBox="1"/>
              <p:nvPr/>
            </p:nvSpPr>
            <p:spPr>
              <a:xfrm>
                <a:off x="1172521" y="4060134"/>
                <a:ext cx="2464980" cy="37619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𝜙</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d>
                                </m:e>
                                <m:e>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𝜙</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𝑖</m:t>
                                          </m:r>
                                        </m:sub>
                                      </m:sSub>
                                    </m:e>
                                  </m:d>
                                </m:e>
                              </m:d>
                            </m:e>
                          </m:d>
                        </m:e>
                        <m:sup>
                          <m:r>
                            <a:rPr lang="en-US" b="0" i="1" smtClean="0">
                              <a:latin typeface="Cambria Math" panose="02040503050406030204" pitchFamily="18" charset="0"/>
                            </a:rPr>
                            <m:t>2</m:t>
                          </m:r>
                        </m:sup>
                      </m:sSup>
                    </m:oMath>
                  </m:oMathPara>
                </a14:m>
                <a:endParaRPr lang="vi-VN" i="1"/>
              </a:p>
            </p:txBody>
          </p:sp>
        </mc:Choice>
        <mc:Fallback xmlns="">
          <p:sp>
            <p:nvSpPr>
              <p:cNvPr id="14" name="TextBox 13">
                <a:extLst>
                  <a:ext uri="{FF2B5EF4-FFF2-40B4-BE49-F238E27FC236}">
                    <a16:creationId xmlns:a16="http://schemas.microsoft.com/office/drawing/2014/main" id="{D9316E7C-D29E-C920-D3FF-44452050F139}"/>
                  </a:ext>
                </a:extLst>
              </p:cNvPr>
              <p:cNvSpPr txBox="1">
                <a:spLocks noRot="1" noChangeAspect="1" noMove="1" noResize="1" noEditPoints="1" noAdjustHandles="1" noChangeArrowheads="1" noChangeShapeType="1" noTextEdit="1"/>
              </p:cNvSpPr>
              <p:nvPr/>
            </p:nvSpPr>
            <p:spPr>
              <a:xfrm>
                <a:off x="1172521" y="4060134"/>
                <a:ext cx="2464980" cy="376193"/>
              </a:xfrm>
              <a:prstGeom prst="rect">
                <a:avLst/>
              </a:prstGeom>
              <a:blipFill>
                <a:blip r:embed="rId5"/>
                <a:stretch>
                  <a:fillRect l="-1481" b="-22581"/>
                </a:stretch>
              </a:blipFill>
            </p:spPr>
            <p:txBody>
              <a:bodyPr/>
              <a:lstStyle/>
              <a:p>
                <a:r>
                  <a:rPr lang="vi-VN">
                    <a:noFill/>
                  </a:rPr>
                  <a:t> </a:t>
                </a:r>
              </a:p>
            </p:txBody>
          </p:sp>
        </mc:Fallback>
      </mc:AlternateContent>
      <p:cxnSp>
        <p:nvCxnSpPr>
          <p:cNvPr id="15" name="Straight Arrow Connector 14">
            <a:extLst>
              <a:ext uri="{FF2B5EF4-FFF2-40B4-BE49-F238E27FC236}">
                <a16:creationId xmlns:a16="http://schemas.microsoft.com/office/drawing/2014/main" id="{564ADCC6-8FEB-3183-62AB-043C558DD791}"/>
              </a:ext>
            </a:extLst>
          </p:cNvPr>
          <p:cNvCxnSpPr>
            <a:cxnSpLocks/>
            <a:stCxn id="16" idx="2"/>
          </p:cNvCxnSpPr>
          <p:nvPr/>
        </p:nvCxnSpPr>
        <p:spPr>
          <a:xfrm>
            <a:off x="3068007" y="3485935"/>
            <a:ext cx="0" cy="650789"/>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6" name="Hình chữ nhật 93">
            <a:extLst>
              <a:ext uri="{FF2B5EF4-FFF2-40B4-BE49-F238E27FC236}">
                <a16:creationId xmlns:a16="http://schemas.microsoft.com/office/drawing/2014/main" id="{AF951A01-B240-32FB-E4E9-735CC2D6F9B1}"/>
              </a:ext>
            </a:extLst>
          </p:cNvPr>
          <p:cNvSpPr/>
          <p:nvPr/>
        </p:nvSpPr>
        <p:spPr>
          <a:xfrm>
            <a:off x="2914847" y="317900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7" name="Arc 16">
            <a:extLst>
              <a:ext uri="{FF2B5EF4-FFF2-40B4-BE49-F238E27FC236}">
                <a16:creationId xmlns:a16="http://schemas.microsoft.com/office/drawing/2014/main" id="{DED48C77-0376-7BD3-269E-7E9F1A644BB0}"/>
              </a:ext>
            </a:extLst>
          </p:cNvPr>
          <p:cNvSpPr/>
          <p:nvPr/>
        </p:nvSpPr>
        <p:spPr>
          <a:xfrm>
            <a:off x="2970544" y="332360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8" name="Straight Arrow Connector 17">
            <a:extLst>
              <a:ext uri="{FF2B5EF4-FFF2-40B4-BE49-F238E27FC236}">
                <a16:creationId xmlns:a16="http://schemas.microsoft.com/office/drawing/2014/main" id="{3DA42C67-54F3-C6BD-847B-4A7483C5C43D}"/>
              </a:ext>
            </a:extLst>
          </p:cNvPr>
          <p:cNvCxnSpPr>
            <a:cxnSpLocks/>
          </p:cNvCxnSpPr>
          <p:nvPr/>
        </p:nvCxnSpPr>
        <p:spPr>
          <a:xfrm flipV="1">
            <a:off x="3024760" y="324597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Content Placeholder 2">
            <a:extLst>
              <a:ext uri="{FF2B5EF4-FFF2-40B4-BE49-F238E27FC236}">
                <a16:creationId xmlns:a16="http://schemas.microsoft.com/office/drawing/2014/main" id="{3D46E574-922B-D371-AA89-D4D31CCE4459}"/>
              </a:ext>
            </a:extLst>
          </p:cNvPr>
          <p:cNvSpPr txBox="1">
            <a:spLocks/>
          </p:cNvSpPr>
          <p:nvPr/>
        </p:nvSpPr>
        <p:spPr>
          <a:xfrm>
            <a:off x="628650" y="2564164"/>
            <a:ext cx="2230507" cy="40144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a:t>Quantum kernel:</a:t>
            </a:r>
            <a:endParaRPr lang="vi-VN"/>
          </a:p>
        </p:txBody>
      </p:sp>
      <p:cxnSp>
        <p:nvCxnSpPr>
          <p:cNvPr id="30" name="Straight Connector 29">
            <a:extLst>
              <a:ext uri="{FF2B5EF4-FFF2-40B4-BE49-F238E27FC236}">
                <a16:creationId xmlns:a16="http://schemas.microsoft.com/office/drawing/2014/main" id="{AF0FB4D3-26A9-B6EC-7900-FBF51C55AF3C}"/>
              </a:ext>
            </a:extLst>
          </p:cNvPr>
          <p:cNvCxnSpPr>
            <a:cxnSpLocks/>
          </p:cNvCxnSpPr>
          <p:nvPr/>
        </p:nvCxnSpPr>
        <p:spPr>
          <a:xfrm>
            <a:off x="3858133" y="3169540"/>
            <a:ext cx="1828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E8A3C63-DA06-00CC-C7C5-BC7DCFCFA2F8}"/>
              </a:ext>
            </a:extLst>
          </p:cNvPr>
          <p:cNvCxnSpPr>
            <a:cxnSpLocks/>
          </p:cNvCxnSpPr>
          <p:nvPr/>
        </p:nvCxnSpPr>
        <p:spPr>
          <a:xfrm>
            <a:off x="3858133" y="3317707"/>
            <a:ext cx="1828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57CA42E-2509-A506-C13F-010F33268ED4}"/>
              </a:ext>
            </a:extLst>
          </p:cNvPr>
          <p:cNvCxnSpPr>
            <a:cxnSpLocks/>
          </p:cNvCxnSpPr>
          <p:nvPr/>
        </p:nvCxnSpPr>
        <p:spPr>
          <a:xfrm>
            <a:off x="3858133" y="3580173"/>
            <a:ext cx="1828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89FC7AE-AF06-09E4-8CAC-4DFC339937F5}"/>
                  </a:ext>
                </a:extLst>
              </p:cNvPr>
              <p:cNvSpPr txBox="1"/>
              <p:nvPr/>
            </p:nvSpPr>
            <p:spPr>
              <a:xfrm>
                <a:off x="4099520" y="3298940"/>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rPr>
                        <m:t>⋮</m:t>
                      </m:r>
                    </m:oMath>
                  </m:oMathPara>
                </a14:m>
                <a:endParaRPr lang="vi-VN"/>
              </a:p>
            </p:txBody>
          </p:sp>
        </mc:Choice>
        <mc:Fallback xmlns="">
          <p:sp>
            <p:nvSpPr>
              <p:cNvPr id="34" name="TextBox 33">
                <a:extLst>
                  <a:ext uri="{FF2B5EF4-FFF2-40B4-BE49-F238E27FC236}">
                    <a16:creationId xmlns:a16="http://schemas.microsoft.com/office/drawing/2014/main" id="{D89FC7AE-AF06-09E4-8CAC-4DFC339937F5}"/>
                  </a:ext>
                </a:extLst>
              </p:cNvPr>
              <p:cNvSpPr txBox="1">
                <a:spLocks noRot="1" noChangeAspect="1" noMove="1" noResize="1" noEditPoints="1" noAdjustHandles="1" noChangeArrowheads="1" noChangeShapeType="1" noTextEdit="1"/>
              </p:cNvSpPr>
              <p:nvPr/>
            </p:nvSpPr>
            <p:spPr>
              <a:xfrm>
                <a:off x="4099520" y="3298940"/>
                <a:ext cx="136255" cy="276999"/>
              </a:xfrm>
              <a:prstGeom prst="rect">
                <a:avLst/>
              </a:prstGeom>
              <a:blipFill>
                <a:blip r:embed="rId6"/>
                <a:stretch>
                  <a:fillRect l="-34783" r="-30435" b="-6522"/>
                </a:stretch>
              </a:blipFill>
            </p:spPr>
            <p:txBody>
              <a:bodyPr/>
              <a:lstStyle/>
              <a:p>
                <a:r>
                  <a:rPr lang="vi-VN">
                    <a:noFill/>
                  </a:rPr>
                  <a:t> </a:t>
                </a:r>
              </a:p>
            </p:txBody>
          </p:sp>
        </mc:Fallback>
      </mc:AlternateContent>
      <p:cxnSp>
        <p:nvCxnSpPr>
          <p:cNvPr id="36" name="Straight Connector 35">
            <a:extLst>
              <a:ext uri="{FF2B5EF4-FFF2-40B4-BE49-F238E27FC236}">
                <a16:creationId xmlns:a16="http://schemas.microsoft.com/office/drawing/2014/main" id="{AE5217E2-3C40-4261-6ED1-24E8B755E00F}"/>
              </a:ext>
            </a:extLst>
          </p:cNvPr>
          <p:cNvCxnSpPr>
            <a:cxnSpLocks/>
          </p:cNvCxnSpPr>
          <p:nvPr/>
        </p:nvCxnSpPr>
        <p:spPr>
          <a:xfrm>
            <a:off x="2824952" y="3678028"/>
            <a:ext cx="820470" cy="270035"/>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5961C99D-3952-5C3A-08F7-1062D1F5F326}"/>
              </a:ext>
            </a:extLst>
          </p:cNvPr>
          <p:cNvCxnSpPr>
            <a:cxnSpLocks/>
          </p:cNvCxnSpPr>
          <p:nvPr/>
        </p:nvCxnSpPr>
        <p:spPr>
          <a:xfrm flipV="1">
            <a:off x="2817974" y="2900995"/>
            <a:ext cx="788729" cy="126244"/>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6E4869D1-862A-3872-E464-E2A1C0EF42A6}"/>
                  </a:ext>
                </a:extLst>
              </p:cNvPr>
              <p:cNvSpPr/>
              <p:nvPr/>
            </p:nvSpPr>
            <p:spPr>
              <a:xfrm>
                <a:off x="3952280" y="3068514"/>
                <a:ext cx="485422" cy="19473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 </m:t>
                          </m:r>
                          <m:r>
                            <a:rPr lang="en-US" sz="800" b="0" i="1" smtClean="0">
                              <a:solidFill>
                                <a:schemeClr val="accent1"/>
                              </a:solidFill>
                              <a:latin typeface="Cambria Math" panose="02040503050406030204" pitchFamily="18" charset="0"/>
                            </a:rPr>
                            <m:t>𝑅</m:t>
                          </m:r>
                        </m:e>
                        <m:sub>
                          <m:r>
                            <a:rPr lang="en-US" sz="800" b="0" i="1" smtClean="0">
                              <a:solidFill>
                                <a:schemeClr val="accent1"/>
                              </a:solidFill>
                              <a:latin typeface="Cambria Math" panose="02040503050406030204" pitchFamily="18" charset="0"/>
                            </a:rPr>
                            <m:t>𝑋</m:t>
                          </m:r>
                        </m:sub>
                      </m:sSub>
                      <m:d>
                        <m:dPr>
                          <m:ctrlPr>
                            <a:rPr lang="en-US" sz="800" b="0" i="1" smtClean="0">
                              <a:solidFill>
                                <a:schemeClr val="accent1"/>
                              </a:solidFill>
                              <a:latin typeface="Cambria Math" panose="02040503050406030204" pitchFamily="18" charset="0"/>
                            </a:rPr>
                          </m:ctrlPr>
                        </m:dPr>
                        <m:e>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𝑥</m:t>
                              </m:r>
                            </m:e>
                            <m:sub>
                              <m:r>
                                <a:rPr lang="en-US" sz="800" b="0" i="1" smtClean="0">
                                  <a:solidFill>
                                    <a:schemeClr val="accent1"/>
                                  </a:solidFill>
                                  <a:latin typeface="Cambria Math" panose="02040503050406030204" pitchFamily="18" charset="0"/>
                                </a:rPr>
                                <m:t>𝑖</m:t>
                              </m:r>
                              <m:r>
                                <a:rPr lang="en-US" sz="800" b="0" i="1" smtClean="0">
                                  <a:solidFill>
                                    <a:schemeClr val="accent1"/>
                                  </a:solidFill>
                                  <a:latin typeface="Cambria Math" panose="02040503050406030204" pitchFamily="18" charset="0"/>
                                </a:rPr>
                                <m:t>,0</m:t>
                              </m:r>
                            </m:sub>
                          </m:sSub>
                        </m:e>
                      </m:d>
                    </m:oMath>
                  </m:oMathPara>
                </a14:m>
                <a:endParaRPr lang="vi-VN" sz="800">
                  <a:solidFill>
                    <a:schemeClr val="accent1"/>
                  </a:solidFill>
                </a:endParaRPr>
              </a:p>
            </p:txBody>
          </p:sp>
        </mc:Choice>
        <mc:Fallback xmlns="">
          <p:sp>
            <p:nvSpPr>
              <p:cNvPr id="40" name="Rectangle 39">
                <a:extLst>
                  <a:ext uri="{FF2B5EF4-FFF2-40B4-BE49-F238E27FC236}">
                    <a16:creationId xmlns:a16="http://schemas.microsoft.com/office/drawing/2014/main" id="{6E4869D1-862A-3872-E464-E2A1C0EF42A6}"/>
                  </a:ext>
                </a:extLst>
              </p:cNvPr>
              <p:cNvSpPr>
                <a:spLocks noRot="1" noChangeAspect="1" noMove="1" noResize="1" noEditPoints="1" noAdjustHandles="1" noChangeArrowheads="1" noChangeShapeType="1" noTextEdit="1"/>
              </p:cNvSpPr>
              <p:nvPr/>
            </p:nvSpPr>
            <p:spPr>
              <a:xfrm>
                <a:off x="3952280" y="3068514"/>
                <a:ext cx="485422" cy="194733"/>
              </a:xfrm>
              <a:prstGeom prst="rect">
                <a:avLst/>
              </a:prstGeom>
              <a:blipFill>
                <a:blip r:embed="rId7"/>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B2B43748-3D2F-7F54-F3EF-54359F19ADD1}"/>
                  </a:ext>
                </a:extLst>
              </p:cNvPr>
              <p:cNvSpPr/>
              <p:nvPr/>
            </p:nvSpPr>
            <p:spPr>
              <a:xfrm>
                <a:off x="4560669" y="3212445"/>
                <a:ext cx="485422" cy="19473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 </m:t>
                          </m:r>
                          <m:r>
                            <a:rPr lang="en-US" sz="800" b="0" i="1" smtClean="0">
                              <a:solidFill>
                                <a:schemeClr val="accent1"/>
                              </a:solidFill>
                              <a:latin typeface="Cambria Math" panose="02040503050406030204" pitchFamily="18" charset="0"/>
                            </a:rPr>
                            <m:t>𝑅</m:t>
                          </m:r>
                        </m:e>
                        <m:sub>
                          <m:r>
                            <a:rPr lang="en-US" sz="800" b="0" i="1" smtClean="0">
                              <a:solidFill>
                                <a:schemeClr val="accent1"/>
                              </a:solidFill>
                              <a:latin typeface="Cambria Math" panose="02040503050406030204" pitchFamily="18" charset="0"/>
                            </a:rPr>
                            <m:t>𝑋</m:t>
                          </m:r>
                        </m:sub>
                      </m:sSub>
                      <m:d>
                        <m:dPr>
                          <m:ctrlPr>
                            <a:rPr lang="en-US" sz="800" b="0" i="1" smtClean="0">
                              <a:solidFill>
                                <a:schemeClr val="accent1"/>
                              </a:solidFill>
                              <a:latin typeface="Cambria Math" panose="02040503050406030204" pitchFamily="18" charset="0"/>
                            </a:rPr>
                          </m:ctrlPr>
                        </m:dPr>
                        <m:e>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𝑥</m:t>
                              </m:r>
                            </m:e>
                            <m:sub>
                              <m:r>
                                <a:rPr lang="en-US" sz="800" b="0" i="1" smtClean="0">
                                  <a:solidFill>
                                    <a:schemeClr val="accent1"/>
                                  </a:solidFill>
                                  <a:latin typeface="Cambria Math" panose="02040503050406030204" pitchFamily="18" charset="0"/>
                                </a:rPr>
                                <m:t>𝑖</m:t>
                              </m:r>
                              <m:r>
                                <a:rPr lang="en-US" sz="800" b="0" i="1" smtClean="0">
                                  <a:solidFill>
                                    <a:schemeClr val="accent1"/>
                                  </a:solidFill>
                                  <a:latin typeface="Cambria Math" panose="02040503050406030204" pitchFamily="18" charset="0"/>
                                </a:rPr>
                                <m:t>,1</m:t>
                              </m:r>
                            </m:sub>
                          </m:sSub>
                        </m:e>
                      </m:d>
                    </m:oMath>
                  </m:oMathPara>
                </a14:m>
                <a:endParaRPr lang="vi-VN" sz="800">
                  <a:solidFill>
                    <a:schemeClr val="accent1"/>
                  </a:solidFill>
                </a:endParaRPr>
              </a:p>
            </p:txBody>
          </p:sp>
        </mc:Choice>
        <mc:Fallback xmlns="">
          <p:sp>
            <p:nvSpPr>
              <p:cNvPr id="41" name="Rectangle 40">
                <a:extLst>
                  <a:ext uri="{FF2B5EF4-FFF2-40B4-BE49-F238E27FC236}">
                    <a16:creationId xmlns:a16="http://schemas.microsoft.com/office/drawing/2014/main" id="{B2B43748-3D2F-7F54-F3EF-54359F19ADD1}"/>
                  </a:ext>
                </a:extLst>
              </p:cNvPr>
              <p:cNvSpPr>
                <a:spLocks noRot="1" noChangeAspect="1" noMove="1" noResize="1" noEditPoints="1" noAdjustHandles="1" noChangeArrowheads="1" noChangeShapeType="1" noTextEdit="1"/>
              </p:cNvSpPr>
              <p:nvPr/>
            </p:nvSpPr>
            <p:spPr>
              <a:xfrm>
                <a:off x="4560669" y="3212445"/>
                <a:ext cx="485422" cy="194733"/>
              </a:xfrm>
              <a:prstGeom prst="rect">
                <a:avLst/>
              </a:prstGeom>
              <a:blipFill>
                <a:blip r:embed="rId8"/>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1AAD6FFD-FE19-5ACA-B9E0-AD61581F05AB}"/>
                  </a:ext>
                </a:extLst>
              </p:cNvPr>
              <p:cNvSpPr/>
              <p:nvPr/>
            </p:nvSpPr>
            <p:spPr>
              <a:xfrm>
                <a:off x="5119636" y="3486948"/>
                <a:ext cx="485422" cy="19473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 </m:t>
                          </m:r>
                          <m:r>
                            <a:rPr lang="en-US" sz="800" b="0" i="1" smtClean="0">
                              <a:solidFill>
                                <a:schemeClr val="accent1"/>
                              </a:solidFill>
                              <a:latin typeface="Cambria Math" panose="02040503050406030204" pitchFamily="18" charset="0"/>
                            </a:rPr>
                            <m:t>𝑅</m:t>
                          </m:r>
                        </m:e>
                        <m:sub>
                          <m:r>
                            <a:rPr lang="en-US" sz="800" b="0" i="1" smtClean="0">
                              <a:solidFill>
                                <a:schemeClr val="accent1"/>
                              </a:solidFill>
                              <a:latin typeface="Cambria Math" panose="02040503050406030204" pitchFamily="18" charset="0"/>
                            </a:rPr>
                            <m:t>𝑋</m:t>
                          </m:r>
                        </m:sub>
                      </m:sSub>
                      <m:d>
                        <m:dPr>
                          <m:ctrlPr>
                            <a:rPr lang="en-US" sz="800" b="0" i="1" smtClean="0">
                              <a:solidFill>
                                <a:schemeClr val="accent1"/>
                              </a:solidFill>
                              <a:latin typeface="Cambria Math" panose="02040503050406030204" pitchFamily="18" charset="0"/>
                            </a:rPr>
                          </m:ctrlPr>
                        </m:dPr>
                        <m:e>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𝑥</m:t>
                              </m:r>
                            </m:e>
                            <m:sub>
                              <m:r>
                                <a:rPr lang="en-US" sz="800" b="0" i="1" smtClean="0">
                                  <a:solidFill>
                                    <a:schemeClr val="accent1"/>
                                  </a:solidFill>
                                  <a:latin typeface="Cambria Math" panose="02040503050406030204" pitchFamily="18" charset="0"/>
                                </a:rPr>
                                <m:t>𝑖</m:t>
                              </m:r>
                              <m:r>
                                <a:rPr lang="en-US" sz="800" b="0" i="1" smtClean="0">
                                  <a:solidFill>
                                    <a:schemeClr val="accent1"/>
                                  </a:solidFill>
                                  <a:latin typeface="Cambria Math" panose="02040503050406030204" pitchFamily="18" charset="0"/>
                                </a:rPr>
                                <m:t>,</m:t>
                              </m:r>
                              <m:r>
                                <a:rPr lang="en-US" sz="800" b="0" i="1" smtClean="0">
                                  <a:solidFill>
                                    <a:schemeClr val="accent1"/>
                                  </a:solidFill>
                                  <a:latin typeface="Cambria Math" panose="02040503050406030204" pitchFamily="18" charset="0"/>
                                </a:rPr>
                                <m:t>𝑀</m:t>
                              </m:r>
                            </m:sub>
                          </m:sSub>
                        </m:e>
                      </m:d>
                    </m:oMath>
                  </m:oMathPara>
                </a14:m>
                <a:endParaRPr lang="vi-VN" sz="800">
                  <a:solidFill>
                    <a:schemeClr val="accent1"/>
                  </a:solidFill>
                </a:endParaRPr>
              </a:p>
            </p:txBody>
          </p:sp>
        </mc:Choice>
        <mc:Fallback xmlns="">
          <p:sp>
            <p:nvSpPr>
              <p:cNvPr id="42" name="Rectangle 41">
                <a:extLst>
                  <a:ext uri="{FF2B5EF4-FFF2-40B4-BE49-F238E27FC236}">
                    <a16:creationId xmlns:a16="http://schemas.microsoft.com/office/drawing/2014/main" id="{1AAD6FFD-FE19-5ACA-B9E0-AD61581F05AB}"/>
                  </a:ext>
                </a:extLst>
              </p:cNvPr>
              <p:cNvSpPr>
                <a:spLocks noRot="1" noChangeAspect="1" noMove="1" noResize="1" noEditPoints="1" noAdjustHandles="1" noChangeArrowheads="1" noChangeShapeType="1" noTextEdit="1"/>
              </p:cNvSpPr>
              <p:nvPr/>
            </p:nvSpPr>
            <p:spPr>
              <a:xfrm>
                <a:off x="5119636" y="3486948"/>
                <a:ext cx="485422" cy="194733"/>
              </a:xfrm>
              <a:prstGeom prst="rect">
                <a:avLst/>
              </a:prstGeom>
              <a:blipFill>
                <a:blip r:embed="rId9"/>
                <a:stretch>
                  <a:fillRect/>
                </a:stretch>
              </a:blipFill>
              <a:ln>
                <a:solidFill>
                  <a:schemeClr val="tx1"/>
                </a:solidFill>
              </a:ln>
            </p:spPr>
            <p:txBody>
              <a:bodyPr/>
              <a:lstStyle/>
              <a:p>
                <a:r>
                  <a:rPr lang="vi-VN">
                    <a:noFill/>
                  </a:rPr>
                  <a:t> </a:t>
                </a:r>
              </a:p>
            </p:txBody>
          </p:sp>
        </mc:Fallback>
      </mc:AlternateContent>
      <p:sp>
        <p:nvSpPr>
          <p:cNvPr id="45" name="Double Bracket 44">
            <a:extLst>
              <a:ext uri="{FF2B5EF4-FFF2-40B4-BE49-F238E27FC236}">
                <a16:creationId xmlns:a16="http://schemas.microsoft.com/office/drawing/2014/main" id="{EDF52BDC-9AB9-1533-1C76-0A7185F24ABC}"/>
              </a:ext>
            </a:extLst>
          </p:cNvPr>
          <p:cNvSpPr/>
          <p:nvPr/>
        </p:nvSpPr>
        <p:spPr>
          <a:xfrm>
            <a:off x="3729670" y="3032720"/>
            <a:ext cx="2088099" cy="703250"/>
          </a:xfrm>
          <a:prstGeom prst="bracketPair">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BD1F57E-4F93-8140-E335-79C7B0BAD16C}"/>
                  </a:ext>
                </a:extLst>
              </p:cNvPr>
              <p:cNvSpPr txBox="1"/>
              <p:nvPr/>
            </p:nvSpPr>
            <p:spPr>
              <a:xfrm>
                <a:off x="5626166" y="2831241"/>
                <a:ext cx="5715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oMath>
                  </m:oMathPara>
                </a14:m>
                <a:endParaRPr lang="vi-VN"/>
              </a:p>
            </p:txBody>
          </p:sp>
        </mc:Choice>
        <mc:Fallback xmlns="">
          <p:sp>
            <p:nvSpPr>
              <p:cNvPr id="47" name="TextBox 46">
                <a:extLst>
                  <a:ext uri="{FF2B5EF4-FFF2-40B4-BE49-F238E27FC236}">
                    <a16:creationId xmlns:a16="http://schemas.microsoft.com/office/drawing/2014/main" id="{ABD1F57E-4F93-8140-E335-79C7B0BAD16C}"/>
                  </a:ext>
                </a:extLst>
              </p:cNvPr>
              <p:cNvSpPr txBox="1">
                <a:spLocks noRot="1" noChangeAspect="1" noMove="1" noResize="1" noEditPoints="1" noAdjustHandles="1" noChangeArrowheads="1" noChangeShapeType="1" noTextEdit="1"/>
              </p:cNvSpPr>
              <p:nvPr/>
            </p:nvSpPr>
            <p:spPr>
              <a:xfrm>
                <a:off x="5626166" y="2831241"/>
                <a:ext cx="571500" cy="369332"/>
              </a:xfrm>
              <a:prstGeom prst="rect">
                <a:avLst/>
              </a:prstGeom>
              <a:blipFill>
                <a:blip r:embed="rId10"/>
                <a:stretch>
                  <a:fillRect b="-8197"/>
                </a:stretch>
              </a:blipFill>
            </p:spPr>
            <p:txBody>
              <a:bodyPr/>
              <a:lstStyle/>
              <a:p>
                <a:r>
                  <a:rPr lang="vi-VN">
                    <a:noFill/>
                  </a:rPr>
                  <a:t> </a:t>
                </a:r>
              </a:p>
            </p:txBody>
          </p:sp>
        </mc:Fallback>
      </mc:AlternateContent>
      <p:sp>
        <p:nvSpPr>
          <p:cNvPr id="50" name="Left Brace 49">
            <a:extLst>
              <a:ext uri="{FF2B5EF4-FFF2-40B4-BE49-F238E27FC236}">
                <a16:creationId xmlns:a16="http://schemas.microsoft.com/office/drawing/2014/main" id="{DFDDCF88-B724-55D1-10ED-32BFC712C5CF}"/>
              </a:ext>
            </a:extLst>
          </p:cNvPr>
          <p:cNvSpPr/>
          <p:nvPr/>
        </p:nvSpPr>
        <p:spPr>
          <a:xfrm rot="16200000">
            <a:off x="2490229" y="3748885"/>
            <a:ext cx="151542" cy="1647527"/>
          </a:xfrm>
          <a:prstGeom prst="leftBrace">
            <a:avLst>
              <a:gd name="adj1" fmla="val 6698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51" name="TextBox 50">
            <a:extLst>
              <a:ext uri="{FF2B5EF4-FFF2-40B4-BE49-F238E27FC236}">
                <a16:creationId xmlns:a16="http://schemas.microsoft.com/office/drawing/2014/main" id="{8CFBE45A-F324-B8BF-D8E0-FC5644555EC0}"/>
              </a:ext>
            </a:extLst>
          </p:cNvPr>
          <p:cNvSpPr txBox="1"/>
          <p:nvPr/>
        </p:nvSpPr>
        <p:spPr>
          <a:xfrm>
            <a:off x="1742235" y="4648420"/>
            <a:ext cx="1682532" cy="276999"/>
          </a:xfrm>
          <a:prstGeom prst="rect">
            <a:avLst/>
          </a:prstGeom>
          <a:noFill/>
        </p:spPr>
        <p:txBody>
          <a:bodyPr wrap="square" rtlCol="0">
            <a:spAutoFit/>
          </a:bodyPr>
          <a:lstStyle/>
          <a:p>
            <a:pPr algn="ctr"/>
            <a:r>
              <a:rPr lang="en-US" sz="1200"/>
              <a:t>“Nature” inner product</a:t>
            </a:r>
            <a:endParaRPr lang="vi-VN" sz="1200"/>
          </a:p>
        </p:txBody>
      </p:sp>
      <p:sp>
        <p:nvSpPr>
          <p:cNvPr id="52" name="TextBox 51">
            <a:extLst>
              <a:ext uri="{FF2B5EF4-FFF2-40B4-BE49-F238E27FC236}">
                <a16:creationId xmlns:a16="http://schemas.microsoft.com/office/drawing/2014/main" id="{858F1B73-419F-FFF4-FB03-595A5E2DB705}"/>
              </a:ext>
            </a:extLst>
          </p:cNvPr>
          <p:cNvSpPr txBox="1"/>
          <p:nvPr/>
        </p:nvSpPr>
        <p:spPr>
          <a:xfrm>
            <a:off x="921765" y="3655410"/>
            <a:ext cx="2039107" cy="276999"/>
          </a:xfrm>
          <a:prstGeom prst="rect">
            <a:avLst/>
          </a:prstGeom>
          <a:noFill/>
        </p:spPr>
        <p:txBody>
          <a:bodyPr wrap="square" rtlCol="0">
            <a:spAutoFit/>
          </a:bodyPr>
          <a:lstStyle/>
          <a:p>
            <a:pPr algn="ctr"/>
            <a:r>
              <a:rPr lang="en-US" sz="1200"/>
              <a:t>Unitary operator as kernel</a:t>
            </a:r>
            <a:endParaRPr lang="vi-VN" sz="1200"/>
          </a:p>
        </p:txBody>
      </p:sp>
      <p:cxnSp>
        <p:nvCxnSpPr>
          <p:cNvPr id="54" name="Straight Arrow Connector 53">
            <a:extLst>
              <a:ext uri="{FF2B5EF4-FFF2-40B4-BE49-F238E27FC236}">
                <a16:creationId xmlns:a16="http://schemas.microsoft.com/office/drawing/2014/main" id="{58C8B8DD-242A-0177-408E-8FD82307EFFA}"/>
              </a:ext>
            </a:extLst>
          </p:cNvPr>
          <p:cNvCxnSpPr>
            <a:cxnSpLocks/>
            <a:stCxn id="52" idx="2"/>
          </p:cNvCxnSpPr>
          <p:nvPr/>
        </p:nvCxnSpPr>
        <p:spPr>
          <a:xfrm>
            <a:off x="1941319" y="3932409"/>
            <a:ext cx="0" cy="2463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TextBox 63">
            <a:extLst>
              <a:ext uri="{FF2B5EF4-FFF2-40B4-BE49-F238E27FC236}">
                <a16:creationId xmlns:a16="http://schemas.microsoft.com/office/drawing/2014/main" id="{20EF59DA-4D2B-8C9B-6CF2-58A00B696980}"/>
              </a:ext>
            </a:extLst>
          </p:cNvPr>
          <p:cNvSpPr txBox="1"/>
          <p:nvPr/>
        </p:nvSpPr>
        <p:spPr>
          <a:xfrm>
            <a:off x="3637501" y="3994912"/>
            <a:ext cx="2460401" cy="461665"/>
          </a:xfrm>
          <a:prstGeom prst="rect">
            <a:avLst/>
          </a:prstGeom>
          <a:noFill/>
        </p:spPr>
        <p:txBody>
          <a:bodyPr wrap="square" rtlCol="0">
            <a:spAutoFit/>
          </a:bodyPr>
          <a:lstStyle/>
          <a:p>
            <a:pPr algn="ctr"/>
            <a:r>
              <a:rPr lang="en-US" sz="1200"/>
              <a:t>Feature encoding (embedding)</a:t>
            </a:r>
          </a:p>
          <a:p>
            <a:pPr algn="ctr"/>
            <a:r>
              <a:rPr lang="en-US" sz="1200"/>
              <a:t>(Fixed kernel)</a:t>
            </a:r>
            <a:endParaRPr lang="vi-VN" sz="1200"/>
          </a:p>
        </p:txBody>
      </p:sp>
      <p:cxnSp>
        <p:nvCxnSpPr>
          <p:cNvPr id="73" name="Straight Connector 72">
            <a:extLst>
              <a:ext uri="{FF2B5EF4-FFF2-40B4-BE49-F238E27FC236}">
                <a16:creationId xmlns:a16="http://schemas.microsoft.com/office/drawing/2014/main" id="{B98B821D-482C-B5F1-BD46-A62209E65973}"/>
              </a:ext>
            </a:extLst>
          </p:cNvPr>
          <p:cNvCxnSpPr>
            <a:cxnSpLocks/>
          </p:cNvCxnSpPr>
          <p:nvPr/>
        </p:nvCxnSpPr>
        <p:spPr>
          <a:xfrm>
            <a:off x="6318838" y="1996671"/>
            <a:ext cx="1795574" cy="114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0874FB9-7B9C-190F-1DB3-C15621208F21}"/>
              </a:ext>
            </a:extLst>
          </p:cNvPr>
          <p:cNvCxnSpPr>
            <a:cxnSpLocks/>
          </p:cNvCxnSpPr>
          <p:nvPr/>
        </p:nvCxnSpPr>
        <p:spPr>
          <a:xfrm flipV="1">
            <a:off x="6389255" y="1878347"/>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4C4B0B83-E272-BE2B-6480-A7665A13B4C7}"/>
                  </a:ext>
                </a:extLst>
              </p:cNvPr>
              <p:cNvSpPr/>
              <p:nvPr/>
            </p:nvSpPr>
            <p:spPr>
              <a:xfrm>
                <a:off x="6603836" y="1682709"/>
                <a:ext cx="648498"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chemeClr val="accent1"/>
                          </a:solidFill>
                          <a:latin typeface="Cambria Math" panose="02040503050406030204" pitchFamily="18" charset="0"/>
                        </a:rPr>
                        <m:t> </m:t>
                      </m:r>
                      <m:r>
                        <a:rPr lang="ar-AE" b="0" i="1" smtClean="0">
                          <a:solidFill>
                            <a:schemeClr val="accent1"/>
                          </a:solidFill>
                          <a:latin typeface="Cambria Math" panose="02040503050406030204" pitchFamily="18" charset="0"/>
                        </a:rPr>
                        <m:t>𝑈</m:t>
                      </m:r>
                      <m:d>
                        <m:dPr>
                          <m:ctrlPr>
                            <a:rPr lang="ar-AE" b="0" i="1" smtClean="0">
                              <a:solidFill>
                                <a:schemeClr val="accent1"/>
                              </a:solidFill>
                              <a:latin typeface="Cambria Math" panose="02040503050406030204" pitchFamily="18" charset="0"/>
                            </a:rPr>
                          </m:ctrlPr>
                        </m:dPr>
                        <m:e>
                          <m:sSub>
                            <m:sSubPr>
                              <m:ctrlPr>
                                <a:rPr lang="ar-AE" b="0" i="1" smtClean="0">
                                  <a:solidFill>
                                    <a:schemeClr val="accent1"/>
                                  </a:solidFill>
                                  <a:latin typeface="Cambria Math" panose="02040503050406030204" pitchFamily="18" charset="0"/>
                                </a:rPr>
                              </m:ctrlPr>
                            </m:sSubPr>
                            <m:e>
                              <m:r>
                                <a:rPr lang="ar-AE" b="0" i="1" smtClean="0">
                                  <a:solidFill>
                                    <a:schemeClr val="accent1"/>
                                  </a:solidFill>
                                  <a:latin typeface="Cambria Math" panose="02040503050406030204" pitchFamily="18" charset="0"/>
                                </a:rPr>
                                <m:t>𝑥</m:t>
                              </m:r>
                            </m:e>
                            <m:sub>
                              <m:r>
                                <a:rPr lang="ar-AE" b="0" i="1" smtClean="0">
                                  <a:solidFill>
                                    <a:schemeClr val="accent1"/>
                                  </a:solidFill>
                                  <a:latin typeface="Cambria Math" panose="02040503050406030204" pitchFamily="18" charset="0"/>
                                </a:rPr>
                                <m:t>1</m:t>
                              </m:r>
                            </m:sub>
                          </m:sSub>
                        </m:e>
                      </m:d>
                    </m:oMath>
                  </m:oMathPara>
                </a14:m>
                <a:endParaRPr lang="ar-AE">
                  <a:solidFill>
                    <a:schemeClr val="accent1"/>
                  </a:solidFill>
                </a:endParaRPr>
              </a:p>
            </p:txBody>
          </p:sp>
        </mc:Choice>
        <mc:Fallback xmlns="">
          <p:sp>
            <p:nvSpPr>
              <p:cNvPr id="75" name="Rectangle 74">
                <a:extLst>
                  <a:ext uri="{FF2B5EF4-FFF2-40B4-BE49-F238E27FC236}">
                    <a16:creationId xmlns:a16="http://schemas.microsoft.com/office/drawing/2014/main" id="{4C4B0B83-E272-BE2B-6480-A7665A13B4C7}"/>
                  </a:ext>
                </a:extLst>
              </p:cNvPr>
              <p:cNvSpPr>
                <a:spLocks noRot="1" noChangeAspect="1" noMove="1" noResize="1" noEditPoints="1" noAdjustHandles="1" noChangeArrowheads="1" noChangeShapeType="1" noTextEdit="1"/>
              </p:cNvSpPr>
              <p:nvPr/>
            </p:nvSpPr>
            <p:spPr>
              <a:xfrm>
                <a:off x="6603836" y="1682709"/>
                <a:ext cx="648498" cy="650789"/>
              </a:xfrm>
              <a:prstGeom prst="rect">
                <a:avLst/>
              </a:prstGeom>
              <a:blipFill>
                <a:blip r:embed="rId11"/>
                <a:stretch>
                  <a:fillRect l="-642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A01F81AC-CA13-1956-42CB-8E8B177A2FD8}"/>
                  </a:ext>
                </a:extLst>
              </p:cNvPr>
              <p:cNvSpPr/>
              <p:nvPr/>
            </p:nvSpPr>
            <p:spPr>
              <a:xfrm>
                <a:off x="7407416" y="1682709"/>
                <a:ext cx="681639"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rgbClr val="FF0000"/>
                          </a:solidFill>
                          <a:latin typeface="Cambria Math" panose="02040503050406030204" pitchFamily="18" charset="0"/>
                        </a:rPr>
                        <m:t> </m:t>
                      </m:r>
                      <m:r>
                        <a:rPr lang="ar-AE" b="0" i="1" smtClean="0">
                          <a:solidFill>
                            <a:srgbClr val="FF0000"/>
                          </a:solidFill>
                          <a:latin typeface="Cambria Math" panose="02040503050406030204" pitchFamily="18" charset="0"/>
                        </a:rPr>
                        <m:t>𝑉</m:t>
                      </m:r>
                      <m:r>
                        <a:rPr lang="ar-AE" b="0" i="1" smtClean="0">
                          <a:solidFill>
                            <a:srgbClr val="FF0000"/>
                          </a:solidFill>
                          <a:latin typeface="Cambria Math" panose="02040503050406030204" pitchFamily="18" charset="0"/>
                        </a:rPr>
                        <m:t>(</m:t>
                      </m:r>
                      <m:sSub>
                        <m:sSubPr>
                          <m:ctrlPr>
                            <a:rPr lang="ar-AE" b="0" i="1" smtClean="0">
                              <a:solidFill>
                                <a:srgbClr val="FF0000"/>
                              </a:solidFill>
                              <a:latin typeface="Cambria Math" panose="02040503050406030204" pitchFamily="18" charset="0"/>
                            </a:rPr>
                          </m:ctrlPr>
                        </m:sSubPr>
                        <m:e>
                          <m:r>
                            <a:rPr lang="ar-AE" b="0" i="1" smtClean="0">
                              <a:solidFill>
                                <a:srgbClr val="FF0000"/>
                              </a:solidFill>
                              <a:latin typeface="Cambria Math" panose="02040503050406030204" pitchFamily="18" charset="0"/>
                            </a:rPr>
                            <m:t>𝜃</m:t>
                          </m:r>
                        </m:e>
                        <m:sub>
                          <m:r>
                            <a:rPr lang="ar-AE" b="0" i="1" smtClean="0">
                              <a:solidFill>
                                <a:srgbClr val="FF0000"/>
                              </a:solidFill>
                              <a:latin typeface="Cambria Math" panose="02040503050406030204" pitchFamily="18" charset="0"/>
                            </a:rPr>
                            <m:t>1</m:t>
                          </m:r>
                        </m:sub>
                      </m:sSub>
                      <m:r>
                        <a:rPr lang="ar-AE" b="0" i="1" smtClean="0">
                          <a:solidFill>
                            <a:srgbClr val="FF0000"/>
                          </a:solidFill>
                          <a:latin typeface="Cambria Math" panose="02040503050406030204" pitchFamily="18" charset="0"/>
                        </a:rPr>
                        <m:t>)</m:t>
                      </m:r>
                    </m:oMath>
                  </m:oMathPara>
                </a14:m>
                <a:endParaRPr lang="ar-AE">
                  <a:solidFill>
                    <a:srgbClr val="FF0000"/>
                  </a:solidFill>
                </a:endParaRPr>
              </a:p>
            </p:txBody>
          </p:sp>
        </mc:Choice>
        <mc:Fallback xmlns="">
          <p:sp>
            <p:nvSpPr>
              <p:cNvPr id="76" name="Rectangle 75">
                <a:extLst>
                  <a:ext uri="{FF2B5EF4-FFF2-40B4-BE49-F238E27FC236}">
                    <a16:creationId xmlns:a16="http://schemas.microsoft.com/office/drawing/2014/main" id="{A01F81AC-CA13-1956-42CB-8E8B177A2FD8}"/>
                  </a:ext>
                </a:extLst>
              </p:cNvPr>
              <p:cNvSpPr>
                <a:spLocks noRot="1" noChangeAspect="1" noMove="1" noResize="1" noEditPoints="1" noAdjustHandles="1" noChangeArrowheads="1" noChangeShapeType="1" noTextEdit="1"/>
              </p:cNvSpPr>
              <p:nvPr/>
            </p:nvSpPr>
            <p:spPr>
              <a:xfrm>
                <a:off x="7407416" y="1682709"/>
                <a:ext cx="681639" cy="650789"/>
              </a:xfrm>
              <a:prstGeom prst="rect">
                <a:avLst/>
              </a:prstGeom>
              <a:blipFill>
                <a:blip r:embed="rId12"/>
                <a:stretch>
                  <a:fillRect l="-3509" r="-7018"/>
                </a:stretch>
              </a:blipFill>
              <a:ln>
                <a:solidFill>
                  <a:schemeClr val="tx1"/>
                </a:solidFill>
              </a:ln>
            </p:spPr>
            <p:txBody>
              <a:bodyPr/>
              <a:lstStyle/>
              <a:p>
                <a:r>
                  <a:rPr lang="vi-VN">
                    <a:noFill/>
                  </a:rPr>
                  <a:t> </a:t>
                </a:r>
              </a:p>
            </p:txBody>
          </p:sp>
        </mc:Fallback>
      </mc:AlternateContent>
      <p:cxnSp>
        <p:nvCxnSpPr>
          <p:cNvPr id="77" name="Straight Connector 76">
            <a:extLst>
              <a:ext uri="{FF2B5EF4-FFF2-40B4-BE49-F238E27FC236}">
                <a16:creationId xmlns:a16="http://schemas.microsoft.com/office/drawing/2014/main" id="{C795D32B-758E-5C33-BFA2-6779B8D8F271}"/>
              </a:ext>
            </a:extLst>
          </p:cNvPr>
          <p:cNvCxnSpPr>
            <a:cxnSpLocks/>
          </p:cNvCxnSpPr>
          <p:nvPr/>
        </p:nvCxnSpPr>
        <p:spPr>
          <a:xfrm>
            <a:off x="6317706" y="2724108"/>
            <a:ext cx="178617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E8F92D55-5518-2A9E-6157-045C35A94351}"/>
                  </a:ext>
                </a:extLst>
              </p:cNvPr>
              <p:cNvSpPr/>
              <p:nvPr/>
            </p:nvSpPr>
            <p:spPr>
              <a:xfrm>
                <a:off x="6603836" y="2398714"/>
                <a:ext cx="648498"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chemeClr val="accent1"/>
                          </a:solidFill>
                          <a:latin typeface="Cambria Math" panose="02040503050406030204" pitchFamily="18" charset="0"/>
                        </a:rPr>
                        <m:t> </m:t>
                      </m:r>
                      <m:r>
                        <a:rPr lang="ar-AE" b="0" i="1" smtClean="0">
                          <a:solidFill>
                            <a:schemeClr val="accent1"/>
                          </a:solidFill>
                          <a:latin typeface="Cambria Math" panose="02040503050406030204" pitchFamily="18" charset="0"/>
                        </a:rPr>
                        <m:t>𝑈</m:t>
                      </m:r>
                      <m:d>
                        <m:dPr>
                          <m:ctrlPr>
                            <a:rPr lang="ar-AE" b="0" i="1" smtClean="0">
                              <a:solidFill>
                                <a:schemeClr val="accent1"/>
                              </a:solidFill>
                              <a:latin typeface="Cambria Math" panose="02040503050406030204" pitchFamily="18" charset="0"/>
                            </a:rPr>
                          </m:ctrlPr>
                        </m:dPr>
                        <m:e>
                          <m:sSub>
                            <m:sSubPr>
                              <m:ctrlPr>
                                <a:rPr lang="ar-AE" b="0" i="1" smtClean="0">
                                  <a:solidFill>
                                    <a:schemeClr val="accent1"/>
                                  </a:solidFill>
                                  <a:latin typeface="Cambria Math" panose="02040503050406030204" pitchFamily="18" charset="0"/>
                                </a:rPr>
                              </m:ctrlPr>
                            </m:sSubPr>
                            <m:e>
                              <m:r>
                                <a:rPr lang="ar-AE" b="0" i="1" smtClean="0">
                                  <a:solidFill>
                                    <a:schemeClr val="accent1"/>
                                  </a:solidFill>
                                  <a:latin typeface="Cambria Math" panose="02040503050406030204" pitchFamily="18" charset="0"/>
                                </a:rPr>
                                <m:t>𝑥</m:t>
                              </m:r>
                            </m:e>
                            <m:sub>
                              <m:r>
                                <a:rPr lang="ar-AE" b="0" i="1" smtClean="0">
                                  <a:solidFill>
                                    <a:schemeClr val="accent1"/>
                                  </a:solidFill>
                                  <a:latin typeface="Cambria Math" panose="02040503050406030204" pitchFamily="18" charset="0"/>
                                </a:rPr>
                                <m:t>2</m:t>
                              </m:r>
                            </m:sub>
                          </m:sSub>
                        </m:e>
                      </m:d>
                    </m:oMath>
                  </m:oMathPara>
                </a14:m>
                <a:endParaRPr lang="ar-AE">
                  <a:solidFill>
                    <a:schemeClr val="accent1"/>
                  </a:solidFill>
                </a:endParaRPr>
              </a:p>
            </p:txBody>
          </p:sp>
        </mc:Choice>
        <mc:Fallback xmlns="">
          <p:sp>
            <p:nvSpPr>
              <p:cNvPr id="78" name="Rectangle 77">
                <a:extLst>
                  <a:ext uri="{FF2B5EF4-FFF2-40B4-BE49-F238E27FC236}">
                    <a16:creationId xmlns:a16="http://schemas.microsoft.com/office/drawing/2014/main" id="{E8F92D55-5518-2A9E-6157-045C35A94351}"/>
                  </a:ext>
                </a:extLst>
              </p:cNvPr>
              <p:cNvSpPr>
                <a:spLocks noRot="1" noChangeAspect="1" noMove="1" noResize="1" noEditPoints="1" noAdjustHandles="1" noChangeArrowheads="1" noChangeShapeType="1" noTextEdit="1"/>
              </p:cNvSpPr>
              <p:nvPr/>
            </p:nvSpPr>
            <p:spPr>
              <a:xfrm>
                <a:off x="6603836" y="2398714"/>
                <a:ext cx="648498" cy="650789"/>
              </a:xfrm>
              <a:prstGeom prst="rect">
                <a:avLst/>
              </a:prstGeom>
              <a:blipFill>
                <a:blip r:embed="rId13"/>
                <a:stretch>
                  <a:fillRect l="-7339"/>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09F659BD-2622-4B15-D153-89B7DAFA0137}"/>
                  </a:ext>
                </a:extLst>
              </p:cNvPr>
              <p:cNvSpPr/>
              <p:nvPr/>
            </p:nvSpPr>
            <p:spPr>
              <a:xfrm>
                <a:off x="7407416" y="2398714"/>
                <a:ext cx="681639"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rgbClr val="FF0000"/>
                          </a:solidFill>
                          <a:latin typeface="Cambria Math" panose="02040503050406030204" pitchFamily="18" charset="0"/>
                        </a:rPr>
                        <m:t> </m:t>
                      </m:r>
                      <m:r>
                        <a:rPr lang="ar-AE" b="0" i="1" smtClean="0">
                          <a:solidFill>
                            <a:srgbClr val="FF0000"/>
                          </a:solidFill>
                          <a:latin typeface="Cambria Math" panose="02040503050406030204" pitchFamily="18" charset="0"/>
                        </a:rPr>
                        <m:t>𝑉</m:t>
                      </m:r>
                      <m:r>
                        <a:rPr lang="ar-AE" b="0" i="1" smtClean="0">
                          <a:solidFill>
                            <a:srgbClr val="FF0000"/>
                          </a:solidFill>
                          <a:latin typeface="Cambria Math" panose="02040503050406030204" pitchFamily="18" charset="0"/>
                        </a:rPr>
                        <m:t>(</m:t>
                      </m:r>
                      <m:sSub>
                        <m:sSubPr>
                          <m:ctrlPr>
                            <a:rPr lang="ar-AE" b="0" i="1" smtClean="0">
                              <a:solidFill>
                                <a:srgbClr val="FF0000"/>
                              </a:solidFill>
                              <a:latin typeface="Cambria Math" panose="02040503050406030204" pitchFamily="18" charset="0"/>
                            </a:rPr>
                          </m:ctrlPr>
                        </m:sSubPr>
                        <m:e>
                          <m:r>
                            <a:rPr lang="ar-AE" b="0" i="1" smtClean="0">
                              <a:solidFill>
                                <a:srgbClr val="FF0000"/>
                              </a:solidFill>
                              <a:latin typeface="Cambria Math" panose="02040503050406030204" pitchFamily="18" charset="0"/>
                            </a:rPr>
                            <m:t>𝜃</m:t>
                          </m:r>
                        </m:e>
                        <m:sub>
                          <m:r>
                            <a:rPr lang="ar-AE" b="0" i="1" smtClean="0">
                              <a:solidFill>
                                <a:srgbClr val="FF0000"/>
                              </a:solidFill>
                              <a:latin typeface="Cambria Math" panose="02040503050406030204" pitchFamily="18" charset="0"/>
                            </a:rPr>
                            <m:t>2</m:t>
                          </m:r>
                        </m:sub>
                      </m:sSub>
                      <m:r>
                        <a:rPr lang="ar-AE" b="0" i="1" smtClean="0">
                          <a:solidFill>
                            <a:srgbClr val="FF0000"/>
                          </a:solidFill>
                          <a:latin typeface="Cambria Math" panose="02040503050406030204" pitchFamily="18" charset="0"/>
                        </a:rPr>
                        <m:t>)</m:t>
                      </m:r>
                    </m:oMath>
                  </m:oMathPara>
                </a14:m>
                <a:endParaRPr lang="ar-AE">
                  <a:solidFill>
                    <a:srgbClr val="FF0000"/>
                  </a:solidFill>
                </a:endParaRPr>
              </a:p>
            </p:txBody>
          </p:sp>
        </mc:Choice>
        <mc:Fallback xmlns="">
          <p:sp>
            <p:nvSpPr>
              <p:cNvPr id="79" name="Rectangle 78">
                <a:extLst>
                  <a:ext uri="{FF2B5EF4-FFF2-40B4-BE49-F238E27FC236}">
                    <a16:creationId xmlns:a16="http://schemas.microsoft.com/office/drawing/2014/main" id="{09F659BD-2622-4B15-D153-89B7DAFA0137}"/>
                  </a:ext>
                </a:extLst>
              </p:cNvPr>
              <p:cNvSpPr>
                <a:spLocks noRot="1" noChangeAspect="1" noMove="1" noResize="1" noEditPoints="1" noAdjustHandles="1" noChangeArrowheads="1" noChangeShapeType="1" noTextEdit="1"/>
              </p:cNvSpPr>
              <p:nvPr/>
            </p:nvSpPr>
            <p:spPr>
              <a:xfrm>
                <a:off x="7407416" y="2398714"/>
                <a:ext cx="681639" cy="650789"/>
              </a:xfrm>
              <a:prstGeom prst="rect">
                <a:avLst/>
              </a:prstGeom>
              <a:blipFill>
                <a:blip r:embed="rId14"/>
                <a:stretch>
                  <a:fillRect l="-3509" r="-6140"/>
                </a:stretch>
              </a:blipFill>
              <a:ln>
                <a:solidFill>
                  <a:schemeClr val="tx1"/>
                </a:solidFill>
              </a:ln>
            </p:spPr>
            <p:txBody>
              <a:bodyPr/>
              <a:lstStyle/>
              <a:p>
                <a:r>
                  <a:rPr lang="vi-VN">
                    <a:noFill/>
                  </a:rPr>
                  <a:t> </a:t>
                </a:r>
              </a:p>
            </p:txBody>
          </p:sp>
        </mc:Fallback>
      </mc:AlternateContent>
      <p:sp>
        <p:nvSpPr>
          <p:cNvPr id="80" name="Arc 79">
            <a:extLst>
              <a:ext uri="{FF2B5EF4-FFF2-40B4-BE49-F238E27FC236}">
                <a16:creationId xmlns:a16="http://schemas.microsoft.com/office/drawing/2014/main" id="{AD695A6E-89A0-1568-0196-89CAB677354B}"/>
              </a:ext>
            </a:extLst>
          </p:cNvPr>
          <p:cNvSpPr/>
          <p:nvPr/>
        </p:nvSpPr>
        <p:spPr>
          <a:xfrm>
            <a:off x="7779636" y="2008104"/>
            <a:ext cx="645202" cy="716004"/>
          </a:xfrm>
          <a:prstGeom prst="arc">
            <a:avLst>
              <a:gd name="adj1" fmla="val 16200000"/>
              <a:gd name="adj2" fmla="val 5544996"/>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p:cxnSp>
        <p:nvCxnSpPr>
          <p:cNvPr id="83" name="Straight Connector 82">
            <a:extLst>
              <a:ext uri="{FF2B5EF4-FFF2-40B4-BE49-F238E27FC236}">
                <a16:creationId xmlns:a16="http://schemas.microsoft.com/office/drawing/2014/main" id="{F9EA51D2-A827-0EE0-6392-521819D2F721}"/>
              </a:ext>
            </a:extLst>
          </p:cNvPr>
          <p:cNvCxnSpPr>
            <a:cxnSpLocks/>
          </p:cNvCxnSpPr>
          <p:nvPr/>
        </p:nvCxnSpPr>
        <p:spPr>
          <a:xfrm>
            <a:off x="6323041" y="3598203"/>
            <a:ext cx="210179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Rectangle 83">
                <a:extLst>
                  <a:ext uri="{FF2B5EF4-FFF2-40B4-BE49-F238E27FC236}">
                    <a16:creationId xmlns:a16="http://schemas.microsoft.com/office/drawing/2014/main" id="{17C160DC-A66A-1532-F7CA-E821F524E7B2}"/>
                  </a:ext>
                </a:extLst>
              </p:cNvPr>
              <p:cNvSpPr/>
              <p:nvPr/>
            </p:nvSpPr>
            <p:spPr>
              <a:xfrm>
                <a:off x="6609171" y="3272809"/>
                <a:ext cx="648498"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chemeClr val="accent1"/>
                          </a:solidFill>
                          <a:latin typeface="Cambria Math" panose="02040503050406030204" pitchFamily="18" charset="0"/>
                        </a:rPr>
                        <m:t> </m:t>
                      </m:r>
                      <m:r>
                        <a:rPr lang="ar-AE" b="0" i="1" smtClean="0">
                          <a:solidFill>
                            <a:schemeClr val="accent1"/>
                          </a:solidFill>
                          <a:latin typeface="Cambria Math" panose="02040503050406030204" pitchFamily="18" charset="0"/>
                        </a:rPr>
                        <m:t>𝑈</m:t>
                      </m:r>
                      <m:d>
                        <m:dPr>
                          <m:ctrlPr>
                            <a:rPr lang="ar-AE" b="0" i="1" smtClean="0">
                              <a:solidFill>
                                <a:schemeClr val="accent1"/>
                              </a:solidFill>
                              <a:latin typeface="Cambria Math" panose="02040503050406030204" pitchFamily="18" charset="0"/>
                            </a:rPr>
                          </m:ctrlPr>
                        </m:dPr>
                        <m:e>
                          <m:sSub>
                            <m:sSubPr>
                              <m:ctrlPr>
                                <a:rPr lang="ar-AE" b="0" i="1" smtClean="0">
                                  <a:solidFill>
                                    <a:schemeClr val="accent1"/>
                                  </a:solidFill>
                                  <a:latin typeface="Cambria Math" panose="02040503050406030204" pitchFamily="18" charset="0"/>
                                </a:rPr>
                              </m:ctrlPr>
                            </m:sSubPr>
                            <m:e>
                              <m:r>
                                <a:rPr lang="ar-AE" b="0" i="1" smtClean="0">
                                  <a:solidFill>
                                    <a:schemeClr val="accent1"/>
                                  </a:solidFill>
                                  <a:latin typeface="Cambria Math" panose="02040503050406030204" pitchFamily="18" charset="0"/>
                                </a:rPr>
                                <m:t>𝑥</m:t>
                              </m:r>
                            </m:e>
                            <m:sub>
                              <m:r>
                                <a:rPr lang="ar-AE" b="0" i="1" smtClean="0">
                                  <a:solidFill>
                                    <a:schemeClr val="accent1"/>
                                  </a:solidFill>
                                  <a:latin typeface="Cambria Math" panose="02040503050406030204" pitchFamily="18" charset="0"/>
                                </a:rPr>
                                <m:t>𝑀</m:t>
                              </m:r>
                            </m:sub>
                          </m:sSub>
                        </m:e>
                      </m:d>
                    </m:oMath>
                  </m:oMathPara>
                </a14:m>
                <a:endParaRPr lang="ar-AE">
                  <a:solidFill>
                    <a:schemeClr val="accent1"/>
                  </a:solidFill>
                </a:endParaRPr>
              </a:p>
            </p:txBody>
          </p:sp>
        </mc:Choice>
        <mc:Fallback xmlns="">
          <p:sp>
            <p:nvSpPr>
              <p:cNvPr id="84" name="Rectangle 83">
                <a:extLst>
                  <a:ext uri="{FF2B5EF4-FFF2-40B4-BE49-F238E27FC236}">
                    <a16:creationId xmlns:a16="http://schemas.microsoft.com/office/drawing/2014/main" id="{17C160DC-A66A-1532-F7CA-E821F524E7B2}"/>
                  </a:ext>
                </a:extLst>
              </p:cNvPr>
              <p:cNvSpPr>
                <a:spLocks noRot="1" noChangeAspect="1" noMove="1" noResize="1" noEditPoints="1" noAdjustHandles="1" noChangeArrowheads="1" noChangeShapeType="1" noTextEdit="1"/>
              </p:cNvSpPr>
              <p:nvPr/>
            </p:nvSpPr>
            <p:spPr>
              <a:xfrm>
                <a:off x="6609171" y="3272809"/>
                <a:ext cx="648498" cy="650789"/>
              </a:xfrm>
              <a:prstGeom prst="rect">
                <a:avLst/>
              </a:prstGeom>
              <a:blipFill>
                <a:blip r:embed="rId15"/>
                <a:stretch>
                  <a:fillRect l="-11009"/>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A9EBED59-011B-C85A-91FB-B83796DF2D66}"/>
                  </a:ext>
                </a:extLst>
              </p:cNvPr>
              <p:cNvSpPr/>
              <p:nvPr/>
            </p:nvSpPr>
            <p:spPr>
              <a:xfrm>
                <a:off x="7412751" y="3272809"/>
                <a:ext cx="681639"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rgbClr val="FF0000"/>
                          </a:solidFill>
                          <a:latin typeface="Cambria Math" panose="02040503050406030204" pitchFamily="18" charset="0"/>
                        </a:rPr>
                        <m:t> </m:t>
                      </m:r>
                      <m:r>
                        <a:rPr lang="ar-AE" b="0" i="1" smtClean="0">
                          <a:solidFill>
                            <a:srgbClr val="FF0000"/>
                          </a:solidFill>
                          <a:latin typeface="Cambria Math" panose="02040503050406030204" pitchFamily="18" charset="0"/>
                        </a:rPr>
                        <m:t>𝑉</m:t>
                      </m:r>
                      <m:r>
                        <a:rPr lang="ar-AE" b="0" i="1" smtClean="0">
                          <a:solidFill>
                            <a:srgbClr val="FF0000"/>
                          </a:solidFill>
                          <a:latin typeface="Cambria Math" panose="02040503050406030204" pitchFamily="18" charset="0"/>
                        </a:rPr>
                        <m:t>(</m:t>
                      </m:r>
                      <m:sSub>
                        <m:sSubPr>
                          <m:ctrlPr>
                            <a:rPr lang="ar-AE" b="0" i="1" smtClean="0">
                              <a:solidFill>
                                <a:srgbClr val="FF0000"/>
                              </a:solidFill>
                              <a:latin typeface="Cambria Math" panose="02040503050406030204" pitchFamily="18" charset="0"/>
                            </a:rPr>
                          </m:ctrlPr>
                        </m:sSubPr>
                        <m:e>
                          <m:r>
                            <a:rPr lang="ar-AE" b="0" i="1" smtClean="0">
                              <a:solidFill>
                                <a:srgbClr val="FF0000"/>
                              </a:solidFill>
                              <a:latin typeface="Cambria Math" panose="02040503050406030204" pitchFamily="18" charset="0"/>
                            </a:rPr>
                            <m:t>𝜃</m:t>
                          </m:r>
                        </m:e>
                        <m:sub>
                          <m:r>
                            <a:rPr lang="ar-AE" b="0" i="1" smtClean="0">
                              <a:solidFill>
                                <a:srgbClr val="FF0000"/>
                              </a:solidFill>
                              <a:latin typeface="Cambria Math" panose="02040503050406030204" pitchFamily="18" charset="0"/>
                            </a:rPr>
                            <m:t>𝑀</m:t>
                          </m:r>
                        </m:sub>
                      </m:sSub>
                      <m:r>
                        <a:rPr lang="ar-AE" b="0" i="1" smtClean="0">
                          <a:solidFill>
                            <a:srgbClr val="FF0000"/>
                          </a:solidFill>
                          <a:latin typeface="Cambria Math" panose="02040503050406030204" pitchFamily="18" charset="0"/>
                        </a:rPr>
                        <m:t>)</m:t>
                      </m:r>
                    </m:oMath>
                  </m:oMathPara>
                </a14:m>
                <a:endParaRPr lang="ar-AE">
                  <a:solidFill>
                    <a:srgbClr val="FF0000"/>
                  </a:solidFill>
                </a:endParaRPr>
              </a:p>
            </p:txBody>
          </p:sp>
        </mc:Choice>
        <mc:Fallback xmlns="">
          <p:sp>
            <p:nvSpPr>
              <p:cNvPr id="85" name="Rectangle 84">
                <a:extLst>
                  <a:ext uri="{FF2B5EF4-FFF2-40B4-BE49-F238E27FC236}">
                    <a16:creationId xmlns:a16="http://schemas.microsoft.com/office/drawing/2014/main" id="{A9EBED59-011B-C85A-91FB-B83796DF2D66}"/>
                  </a:ext>
                </a:extLst>
              </p:cNvPr>
              <p:cNvSpPr>
                <a:spLocks noRot="1" noChangeAspect="1" noMove="1" noResize="1" noEditPoints="1" noAdjustHandles="1" noChangeArrowheads="1" noChangeShapeType="1" noTextEdit="1"/>
              </p:cNvSpPr>
              <p:nvPr/>
            </p:nvSpPr>
            <p:spPr>
              <a:xfrm>
                <a:off x="7412751" y="3272809"/>
                <a:ext cx="681639" cy="650789"/>
              </a:xfrm>
              <a:prstGeom prst="rect">
                <a:avLst/>
              </a:prstGeom>
              <a:blipFill>
                <a:blip r:embed="rId16"/>
                <a:stretch>
                  <a:fillRect l="-7895" r="-1052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DDA45936-B5FB-452B-0217-3704BB21B0AE}"/>
                  </a:ext>
                </a:extLst>
              </p:cNvPr>
              <p:cNvSpPr txBox="1"/>
              <p:nvPr/>
            </p:nvSpPr>
            <p:spPr>
              <a:xfrm>
                <a:off x="6270633" y="2965548"/>
                <a:ext cx="2372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p>
            </p:txBody>
          </p:sp>
        </mc:Choice>
        <mc:Fallback xmlns="">
          <p:sp>
            <p:nvSpPr>
              <p:cNvPr id="86" name="TextBox 85">
                <a:extLst>
                  <a:ext uri="{FF2B5EF4-FFF2-40B4-BE49-F238E27FC236}">
                    <a16:creationId xmlns:a16="http://schemas.microsoft.com/office/drawing/2014/main" id="{DDA45936-B5FB-452B-0217-3704BB21B0AE}"/>
                  </a:ext>
                </a:extLst>
              </p:cNvPr>
              <p:cNvSpPr txBox="1">
                <a:spLocks noRot="1" noChangeAspect="1" noMove="1" noResize="1" noEditPoints="1" noAdjustHandles="1" noChangeArrowheads="1" noChangeShapeType="1" noTextEdit="1"/>
              </p:cNvSpPr>
              <p:nvPr/>
            </p:nvSpPr>
            <p:spPr>
              <a:xfrm>
                <a:off x="6270633" y="2965548"/>
                <a:ext cx="237244" cy="276999"/>
              </a:xfrm>
              <a:prstGeom prst="rect">
                <a:avLst/>
              </a:prstGeom>
              <a:blipFill>
                <a:blip r:embed="rId17"/>
                <a:stretch>
                  <a:fillRect/>
                </a:stretch>
              </a:blipFill>
            </p:spPr>
            <p:txBody>
              <a:bodyPr/>
              <a:lstStyle/>
              <a:p>
                <a:r>
                  <a:rPr lang="vi-VN">
                    <a:noFill/>
                  </a:rPr>
                  <a:t> </a:t>
                </a:r>
              </a:p>
            </p:txBody>
          </p:sp>
        </mc:Fallback>
      </mc:AlternateContent>
      <p:sp>
        <p:nvSpPr>
          <p:cNvPr id="88" name="TextBox 87">
            <a:extLst>
              <a:ext uri="{FF2B5EF4-FFF2-40B4-BE49-F238E27FC236}">
                <a16:creationId xmlns:a16="http://schemas.microsoft.com/office/drawing/2014/main" id="{0C280121-92B4-39B0-221E-F80C62D40CEC}"/>
              </a:ext>
            </a:extLst>
          </p:cNvPr>
          <p:cNvSpPr txBox="1"/>
          <p:nvPr/>
        </p:nvSpPr>
        <p:spPr>
          <a:xfrm>
            <a:off x="6177130" y="4005479"/>
            <a:ext cx="2385753" cy="461665"/>
          </a:xfrm>
          <a:prstGeom prst="rect">
            <a:avLst/>
          </a:prstGeom>
          <a:noFill/>
        </p:spPr>
        <p:txBody>
          <a:bodyPr wrap="square" rtlCol="0">
            <a:spAutoFit/>
          </a:bodyPr>
          <a:lstStyle/>
          <a:p>
            <a:pPr algn="ctr"/>
            <a:r>
              <a:rPr lang="en-US" sz="1200"/>
              <a:t>Data re-uploading</a:t>
            </a:r>
          </a:p>
          <a:p>
            <a:pPr algn="ctr"/>
            <a:r>
              <a:rPr lang="en-US" sz="1200"/>
              <a:t>(Trainable kernel)</a:t>
            </a:r>
            <a:endParaRPr lang="vi-VN" sz="1200"/>
          </a:p>
        </p:txBody>
      </p:sp>
      <p:sp>
        <p:nvSpPr>
          <p:cNvPr id="91" name="Rectangle 90">
            <a:extLst>
              <a:ext uri="{FF2B5EF4-FFF2-40B4-BE49-F238E27FC236}">
                <a16:creationId xmlns:a16="http://schemas.microsoft.com/office/drawing/2014/main" id="{CECFD3EC-BAC2-1043-5E5D-314A0F68CA3B}"/>
              </a:ext>
            </a:extLst>
          </p:cNvPr>
          <p:cNvSpPr/>
          <p:nvPr/>
        </p:nvSpPr>
        <p:spPr>
          <a:xfrm>
            <a:off x="3613610" y="2866898"/>
            <a:ext cx="2449748" cy="1098582"/>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2" name="Rectangle 91">
            <a:extLst>
              <a:ext uri="{FF2B5EF4-FFF2-40B4-BE49-F238E27FC236}">
                <a16:creationId xmlns:a16="http://schemas.microsoft.com/office/drawing/2014/main" id="{763B0215-37F8-FE86-A602-C1FEE36F01BC}"/>
              </a:ext>
            </a:extLst>
          </p:cNvPr>
          <p:cNvSpPr/>
          <p:nvPr/>
        </p:nvSpPr>
        <p:spPr>
          <a:xfrm>
            <a:off x="6177130" y="1588594"/>
            <a:ext cx="2385752" cy="2385352"/>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95" name="Straight Connector 94">
            <a:extLst>
              <a:ext uri="{FF2B5EF4-FFF2-40B4-BE49-F238E27FC236}">
                <a16:creationId xmlns:a16="http://schemas.microsoft.com/office/drawing/2014/main" id="{A9F72462-AE94-EBFF-C00A-3D6E5969D5BB}"/>
              </a:ext>
            </a:extLst>
          </p:cNvPr>
          <p:cNvCxnSpPr>
            <a:cxnSpLocks/>
          </p:cNvCxnSpPr>
          <p:nvPr/>
        </p:nvCxnSpPr>
        <p:spPr>
          <a:xfrm flipH="1" flipV="1">
            <a:off x="7317050" y="1288027"/>
            <a:ext cx="18585" cy="2635571"/>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97" name="TextBox 96">
            <a:extLst>
              <a:ext uri="{FF2B5EF4-FFF2-40B4-BE49-F238E27FC236}">
                <a16:creationId xmlns:a16="http://schemas.microsoft.com/office/drawing/2014/main" id="{D7E9E32E-070B-378A-19E5-162B7354B1F6}"/>
              </a:ext>
            </a:extLst>
          </p:cNvPr>
          <p:cNvSpPr txBox="1"/>
          <p:nvPr/>
        </p:nvSpPr>
        <p:spPr>
          <a:xfrm>
            <a:off x="6407840" y="1309334"/>
            <a:ext cx="927795" cy="276999"/>
          </a:xfrm>
          <a:prstGeom prst="rect">
            <a:avLst/>
          </a:prstGeom>
          <a:noFill/>
        </p:spPr>
        <p:txBody>
          <a:bodyPr wrap="square" rtlCol="0">
            <a:spAutoFit/>
          </a:bodyPr>
          <a:lstStyle/>
          <a:p>
            <a:pPr algn="ctr"/>
            <a:r>
              <a:rPr lang="en-US" sz="1200">
                <a:solidFill>
                  <a:schemeClr val="accent1"/>
                </a:solidFill>
              </a:rPr>
              <a:t>Embedding</a:t>
            </a:r>
            <a:endParaRPr lang="vi-VN" sz="1200">
              <a:solidFill>
                <a:schemeClr val="accent1"/>
              </a:solidFill>
            </a:endParaRPr>
          </a:p>
        </p:txBody>
      </p:sp>
      <p:sp>
        <p:nvSpPr>
          <p:cNvPr id="98" name="TextBox 97">
            <a:extLst>
              <a:ext uri="{FF2B5EF4-FFF2-40B4-BE49-F238E27FC236}">
                <a16:creationId xmlns:a16="http://schemas.microsoft.com/office/drawing/2014/main" id="{C6C510FF-869F-770A-11FC-43991954C2C3}"/>
              </a:ext>
            </a:extLst>
          </p:cNvPr>
          <p:cNvSpPr txBox="1"/>
          <p:nvPr/>
        </p:nvSpPr>
        <p:spPr>
          <a:xfrm>
            <a:off x="7317050" y="1307436"/>
            <a:ext cx="691265" cy="276999"/>
          </a:xfrm>
          <a:prstGeom prst="rect">
            <a:avLst/>
          </a:prstGeom>
          <a:noFill/>
        </p:spPr>
        <p:txBody>
          <a:bodyPr wrap="square" rtlCol="0">
            <a:spAutoFit/>
          </a:bodyPr>
          <a:lstStyle/>
          <a:p>
            <a:pPr algn="ctr"/>
            <a:r>
              <a:rPr lang="en-US" sz="1200">
                <a:solidFill>
                  <a:srgbClr val="FF0000"/>
                </a:solidFill>
              </a:rPr>
              <a:t>Training</a:t>
            </a:r>
            <a:endParaRPr lang="vi-VN" sz="1200">
              <a:solidFill>
                <a:srgbClr val="FF0000"/>
              </a:solidFill>
            </a:endParaRPr>
          </a:p>
        </p:txBody>
      </p:sp>
    </p:spTree>
    <p:extLst>
      <p:ext uri="{BB962C8B-B14F-4D97-AF65-F5344CB8AC3E}">
        <p14:creationId xmlns:p14="http://schemas.microsoft.com/office/powerpoint/2010/main" val="33405174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B7B20-41F7-181A-55EB-C7E222C49118}"/>
              </a:ext>
            </a:extLst>
          </p:cNvPr>
          <p:cNvSpPr>
            <a:spLocks noGrp="1"/>
          </p:cNvSpPr>
          <p:nvPr>
            <p:ph type="title"/>
          </p:nvPr>
        </p:nvSpPr>
        <p:spPr/>
        <p:txBody>
          <a:bodyPr>
            <a:normAutofit/>
          </a:bodyPr>
          <a:lstStyle/>
          <a:p>
            <a:r>
              <a:rPr lang="en-US"/>
              <a:t>3.4. Quantum deep learning</a:t>
            </a:r>
            <a:endParaRPr lang="en-VN"/>
          </a:p>
        </p:txBody>
      </p:sp>
      <p:sp>
        <p:nvSpPr>
          <p:cNvPr id="3" name="TextBox 2">
            <a:extLst>
              <a:ext uri="{FF2B5EF4-FFF2-40B4-BE49-F238E27FC236}">
                <a16:creationId xmlns:a16="http://schemas.microsoft.com/office/drawing/2014/main" id="{26AFD4A1-EBD6-2E40-084C-BE85233C1D54}"/>
              </a:ext>
            </a:extLst>
          </p:cNvPr>
          <p:cNvSpPr txBox="1"/>
          <p:nvPr/>
        </p:nvSpPr>
        <p:spPr>
          <a:xfrm>
            <a:off x="-1701478" y="3871732"/>
            <a:ext cx="184731" cy="300082"/>
          </a:xfrm>
          <a:prstGeom prst="rect">
            <a:avLst/>
          </a:prstGeom>
          <a:noFill/>
        </p:spPr>
        <p:txBody>
          <a:bodyPr wrap="none" rtlCol="0">
            <a:spAutoFit/>
          </a:bodyPr>
          <a:lstStyle/>
          <a:p>
            <a:endParaRPr lang="en-VN" sz="1350"/>
          </a:p>
        </p:txBody>
      </p:sp>
      <p:sp>
        <p:nvSpPr>
          <p:cNvPr id="8" name="Slide Number Placeholder 7">
            <a:extLst>
              <a:ext uri="{FF2B5EF4-FFF2-40B4-BE49-F238E27FC236}">
                <a16:creationId xmlns:a16="http://schemas.microsoft.com/office/drawing/2014/main" id="{9C9A8759-ECB6-9319-87D3-507AD9125A01}"/>
              </a:ext>
            </a:extLst>
          </p:cNvPr>
          <p:cNvSpPr>
            <a:spLocks noGrp="1"/>
          </p:cNvSpPr>
          <p:nvPr>
            <p:ph type="sldNum" sz="quarter" idx="12"/>
          </p:nvPr>
        </p:nvSpPr>
        <p:spPr/>
        <p:txBody>
          <a:bodyPr/>
          <a:lstStyle/>
          <a:p>
            <a:fld id="{9E11622E-1351-4F49-A6C4-DF2CF4D2C924}" type="slidenum">
              <a:rPr lang="en-VN" smtClean="0"/>
              <a:t>39</a:t>
            </a:fld>
            <a:endParaRPr lang="en-VN"/>
          </a:p>
        </p:txBody>
      </p:sp>
      <p:pic>
        <p:nvPicPr>
          <p:cNvPr id="13" name="Content Placeholder 12">
            <a:extLst>
              <a:ext uri="{FF2B5EF4-FFF2-40B4-BE49-F238E27FC236}">
                <a16:creationId xmlns:a16="http://schemas.microsoft.com/office/drawing/2014/main" id="{496FC931-64CF-3C35-F631-36208D90102C}"/>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rcRect l="2194" r="2194"/>
          <a:stretch/>
        </p:blipFill>
        <p:spPr>
          <a:xfrm>
            <a:off x="510116" y="1737114"/>
            <a:ext cx="5829300" cy="2685699"/>
          </a:xfrm>
        </p:spPr>
      </p:pic>
      <p:sp>
        <p:nvSpPr>
          <p:cNvPr id="5" name="TextBox 4">
            <a:extLst>
              <a:ext uri="{FF2B5EF4-FFF2-40B4-BE49-F238E27FC236}">
                <a16:creationId xmlns:a16="http://schemas.microsoft.com/office/drawing/2014/main" id="{7CF15648-7EA3-8FB4-1BD5-A72FAA990D5B}"/>
              </a:ext>
            </a:extLst>
          </p:cNvPr>
          <p:cNvSpPr txBox="1"/>
          <p:nvPr/>
        </p:nvSpPr>
        <p:spPr>
          <a:xfrm>
            <a:off x="595993" y="4711007"/>
            <a:ext cx="6731453" cy="415498"/>
          </a:xfrm>
          <a:prstGeom prst="rect">
            <a:avLst/>
          </a:prstGeom>
          <a:noFill/>
        </p:spPr>
        <p:txBody>
          <a:bodyPr wrap="square">
            <a:spAutoFit/>
          </a:bodyPr>
          <a:lstStyle/>
          <a:p>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3.4.1</a:t>
            </a:r>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vi-VN" sz="1050">
                <a:solidFill>
                  <a:srgbClr val="000000"/>
                </a:solidFill>
                <a:latin typeface="Calibri" panose="020F0502020204030204" pitchFamily="34" charset="0"/>
                <a:ea typeface="Calibri" panose="020F0502020204030204" pitchFamily="34" charset="0"/>
                <a:cs typeface="Calibri" panose="020F0502020204030204" pitchFamily="34" charset="0"/>
              </a:rPr>
              <a:t>Benedetti, M et al, Parameterized quantum circuits as machine learning models. Quantum Science and Technology, 4(4), 043001 (2019)</a:t>
            </a:r>
          </a:p>
        </p:txBody>
      </p:sp>
      <p:cxnSp>
        <p:nvCxnSpPr>
          <p:cNvPr id="7" name="Straight Arrow Connector 6">
            <a:extLst>
              <a:ext uri="{FF2B5EF4-FFF2-40B4-BE49-F238E27FC236}">
                <a16:creationId xmlns:a16="http://schemas.microsoft.com/office/drawing/2014/main" id="{51033A9E-7CFB-967E-5777-FC6A9111FC31}"/>
              </a:ext>
            </a:extLst>
          </p:cNvPr>
          <p:cNvCxnSpPr>
            <a:cxnSpLocks/>
            <a:stCxn id="10" idx="2"/>
          </p:cNvCxnSpPr>
          <p:nvPr/>
        </p:nvCxnSpPr>
        <p:spPr>
          <a:xfrm>
            <a:off x="2786605" y="1615006"/>
            <a:ext cx="0" cy="10175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27A9E96-2521-E87C-86DD-46A5BC807A4D}"/>
              </a:ext>
            </a:extLst>
          </p:cNvPr>
          <p:cNvSpPr txBox="1"/>
          <p:nvPr/>
        </p:nvSpPr>
        <p:spPr>
          <a:xfrm>
            <a:off x="2243318" y="1199508"/>
            <a:ext cx="1086574" cy="415498"/>
          </a:xfrm>
          <a:prstGeom prst="rect">
            <a:avLst/>
          </a:prstGeom>
          <a:noFill/>
        </p:spPr>
        <p:txBody>
          <a:bodyPr wrap="square" rtlCol="0">
            <a:spAutoFit/>
          </a:bodyPr>
          <a:lstStyle/>
          <a:p>
            <a:r>
              <a:rPr lang="en-VN" sz="2100">
                <a:solidFill>
                  <a:schemeClr val="accent1"/>
                </a:solidFill>
              </a:rPr>
              <a:t>Encoder</a:t>
            </a:r>
          </a:p>
        </p:txBody>
      </p:sp>
      <p:cxnSp>
        <p:nvCxnSpPr>
          <p:cNvPr id="14" name="Straight Arrow Connector 13">
            <a:extLst>
              <a:ext uri="{FF2B5EF4-FFF2-40B4-BE49-F238E27FC236}">
                <a16:creationId xmlns:a16="http://schemas.microsoft.com/office/drawing/2014/main" id="{DF83143B-31A2-A937-DA26-AC8F91E2074D}"/>
              </a:ext>
            </a:extLst>
          </p:cNvPr>
          <p:cNvCxnSpPr>
            <a:cxnSpLocks/>
            <a:stCxn id="15" idx="2"/>
          </p:cNvCxnSpPr>
          <p:nvPr/>
        </p:nvCxnSpPr>
        <p:spPr>
          <a:xfrm flipH="1">
            <a:off x="4416812" y="1607665"/>
            <a:ext cx="1" cy="3723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0599988-4B8A-084A-A28B-78E764776AF0}"/>
              </a:ext>
            </a:extLst>
          </p:cNvPr>
          <p:cNvSpPr txBox="1"/>
          <p:nvPr/>
        </p:nvSpPr>
        <p:spPr>
          <a:xfrm>
            <a:off x="3388112" y="1192167"/>
            <a:ext cx="2057401" cy="415498"/>
          </a:xfrm>
          <a:prstGeom prst="rect">
            <a:avLst/>
          </a:prstGeom>
          <a:noFill/>
        </p:spPr>
        <p:txBody>
          <a:bodyPr wrap="square" rtlCol="0">
            <a:spAutoFit/>
          </a:bodyPr>
          <a:lstStyle/>
          <a:p>
            <a:pPr algn="ctr"/>
            <a:r>
              <a:rPr lang="en-US" sz="2100">
                <a:solidFill>
                  <a:schemeClr val="accent1"/>
                </a:solidFill>
              </a:rPr>
              <a:t>Neural net</a:t>
            </a:r>
            <a:endParaRPr lang="en-VN" sz="2100">
              <a:solidFill>
                <a:schemeClr val="accent1"/>
              </a:solidFill>
            </a:endParaRPr>
          </a:p>
        </p:txBody>
      </p:sp>
      <p:cxnSp>
        <p:nvCxnSpPr>
          <p:cNvPr id="19" name="Straight Arrow Connector 18">
            <a:extLst>
              <a:ext uri="{FF2B5EF4-FFF2-40B4-BE49-F238E27FC236}">
                <a16:creationId xmlns:a16="http://schemas.microsoft.com/office/drawing/2014/main" id="{0E79078A-1245-858A-4307-557D80619F7F}"/>
              </a:ext>
            </a:extLst>
          </p:cNvPr>
          <p:cNvCxnSpPr>
            <a:cxnSpLocks/>
            <a:stCxn id="20" idx="2"/>
          </p:cNvCxnSpPr>
          <p:nvPr/>
        </p:nvCxnSpPr>
        <p:spPr>
          <a:xfrm>
            <a:off x="5922621" y="1607665"/>
            <a:ext cx="0" cy="3723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72F4F7E-B965-DE13-5F91-FFDCB7F44952}"/>
              </a:ext>
            </a:extLst>
          </p:cNvPr>
          <p:cNvSpPr txBox="1"/>
          <p:nvPr/>
        </p:nvSpPr>
        <p:spPr>
          <a:xfrm>
            <a:off x="5329781" y="1192167"/>
            <a:ext cx="1185680" cy="415498"/>
          </a:xfrm>
          <a:prstGeom prst="rect">
            <a:avLst/>
          </a:prstGeom>
          <a:noFill/>
        </p:spPr>
        <p:txBody>
          <a:bodyPr wrap="square" rtlCol="0">
            <a:spAutoFit/>
          </a:bodyPr>
          <a:lstStyle/>
          <a:p>
            <a:r>
              <a:rPr lang="en-VN" sz="2100">
                <a:solidFill>
                  <a:schemeClr val="accent1"/>
                </a:solidFill>
              </a:rPr>
              <a:t>Decoder</a:t>
            </a:r>
          </a:p>
        </p:txBody>
      </p:sp>
      <p:sp>
        <p:nvSpPr>
          <p:cNvPr id="6" name="Right Brace 5">
            <a:extLst>
              <a:ext uri="{FF2B5EF4-FFF2-40B4-BE49-F238E27FC236}">
                <a16:creationId xmlns:a16="http://schemas.microsoft.com/office/drawing/2014/main" id="{9CB7696F-9455-88CB-58A6-6544586E3AC4}"/>
              </a:ext>
            </a:extLst>
          </p:cNvPr>
          <p:cNvSpPr/>
          <p:nvPr/>
        </p:nvSpPr>
        <p:spPr>
          <a:xfrm>
            <a:off x="6350363" y="1703206"/>
            <a:ext cx="330196" cy="2555528"/>
          </a:xfrm>
          <a:prstGeom prst="rightBrace">
            <a:avLst>
              <a:gd name="adj1" fmla="val 73718"/>
              <a:gd name="adj2" fmla="val 50161"/>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p:sp>
        <p:nvSpPr>
          <p:cNvPr id="9" name="TextBox 8">
            <a:extLst>
              <a:ext uri="{FF2B5EF4-FFF2-40B4-BE49-F238E27FC236}">
                <a16:creationId xmlns:a16="http://schemas.microsoft.com/office/drawing/2014/main" id="{15EC4E57-EB40-6293-6067-6610018F81F7}"/>
              </a:ext>
            </a:extLst>
          </p:cNvPr>
          <p:cNvSpPr txBox="1"/>
          <p:nvPr/>
        </p:nvSpPr>
        <p:spPr>
          <a:xfrm>
            <a:off x="6830124" y="2657804"/>
            <a:ext cx="1943100" cy="646331"/>
          </a:xfrm>
          <a:prstGeom prst="rect">
            <a:avLst/>
          </a:prstGeom>
          <a:noFill/>
        </p:spPr>
        <p:txBody>
          <a:bodyPr wrap="square" rtlCol="0">
            <a:spAutoFit/>
          </a:bodyPr>
          <a:lstStyle/>
          <a:p>
            <a:r>
              <a:rPr lang="en-US"/>
              <a:t>Quantum neural network (QNN)</a:t>
            </a:r>
            <a:endParaRPr lang="vi-VN"/>
          </a:p>
        </p:txBody>
      </p:sp>
    </p:spTree>
    <p:extLst>
      <p:ext uri="{BB962C8B-B14F-4D97-AF65-F5344CB8AC3E}">
        <p14:creationId xmlns:p14="http://schemas.microsoft.com/office/powerpoint/2010/main" val="3667023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0" name="Đường nối Thẳng 121">
            <a:extLst>
              <a:ext uri="{FF2B5EF4-FFF2-40B4-BE49-F238E27FC236}">
                <a16:creationId xmlns:a16="http://schemas.microsoft.com/office/drawing/2014/main" id="{192AE57D-2C8B-981A-500A-5E1897ACEC4B}"/>
              </a:ext>
            </a:extLst>
          </p:cNvPr>
          <p:cNvCxnSpPr>
            <a:cxnSpLocks/>
          </p:cNvCxnSpPr>
          <p:nvPr/>
        </p:nvCxnSpPr>
        <p:spPr>
          <a:xfrm>
            <a:off x="1416563" y="4457039"/>
            <a:ext cx="431165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21" name="Đường nối Thẳng 121">
            <a:extLst>
              <a:ext uri="{FF2B5EF4-FFF2-40B4-BE49-F238E27FC236}">
                <a16:creationId xmlns:a16="http://schemas.microsoft.com/office/drawing/2014/main" id="{893CC85C-B854-E5DA-CE10-B9F587FE60AE}"/>
              </a:ext>
            </a:extLst>
          </p:cNvPr>
          <p:cNvCxnSpPr>
            <a:cxnSpLocks/>
          </p:cNvCxnSpPr>
          <p:nvPr/>
        </p:nvCxnSpPr>
        <p:spPr>
          <a:xfrm flipV="1">
            <a:off x="1617941" y="4380839"/>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1" name="Đường nối Thẳng 121">
            <a:extLst>
              <a:ext uri="{FF2B5EF4-FFF2-40B4-BE49-F238E27FC236}">
                <a16:creationId xmlns:a16="http://schemas.microsoft.com/office/drawing/2014/main" id="{A1E68254-DB5A-29D5-21F2-F02D6389830E}"/>
              </a:ext>
            </a:extLst>
          </p:cNvPr>
          <p:cNvCxnSpPr>
            <a:cxnSpLocks/>
          </p:cNvCxnSpPr>
          <p:nvPr/>
        </p:nvCxnSpPr>
        <p:spPr>
          <a:xfrm flipV="1">
            <a:off x="749468" y="2263507"/>
            <a:ext cx="2489693" cy="1459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7" name="Đường nối Thẳng 121">
            <a:extLst>
              <a:ext uri="{FF2B5EF4-FFF2-40B4-BE49-F238E27FC236}">
                <a16:creationId xmlns:a16="http://schemas.microsoft.com/office/drawing/2014/main" id="{59B7C781-D0D3-3A02-BE34-6040432990F8}"/>
              </a:ext>
            </a:extLst>
          </p:cNvPr>
          <p:cNvCxnSpPr>
            <a:cxnSpLocks/>
          </p:cNvCxnSpPr>
          <p:nvPr/>
        </p:nvCxnSpPr>
        <p:spPr>
          <a:xfrm>
            <a:off x="3760744" y="2263507"/>
            <a:ext cx="2555148" cy="373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Đường nối Thẳng 121">
            <a:extLst>
              <a:ext uri="{FF2B5EF4-FFF2-40B4-BE49-F238E27FC236}">
                <a16:creationId xmlns:a16="http://schemas.microsoft.com/office/drawing/2014/main" id="{27378713-6F1E-34C0-7245-718026CFD441}"/>
              </a:ext>
            </a:extLst>
          </p:cNvPr>
          <p:cNvCxnSpPr>
            <a:cxnSpLocks/>
          </p:cNvCxnSpPr>
          <p:nvPr/>
        </p:nvCxnSpPr>
        <p:spPr>
          <a:xfrm>
            <a:off x="783332" y="2956380"/>
            <a:ext cx="356006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E9429203-B682-4F80-6761-5E7D324A2072}"/>
              </a:ext>
            </a:extLst>
          </p:cNvPr>
          <p:cNvSpPr>
            <a:spLocks noGrp="1"/>
          </p:cNvSpPr>
          <p:nvPr>
            <p:ph type="title"/>
          </p:nvPr>
        </p:nvSpPr>
        <p:spPr>
          <a:xfrm>
            <a:off x="628650" y="-8378"/>
            <a:ext cx="6466417" cy="918748"/>
          </a:xfrm>
        </p:spPr>
        <p:txBody>
          <a:bodyPr/>
          <a:lstStyle/>
          <a:p>
            <a:r>
              <a:rPr lang="en-US"/>
              <a:t>3.4. Quantum deep learning</a:t>
            </a:r>
            <a:br>
              <a:rPr lang="en-US"/>
            </a:br>
            <a:r>
              <a:rPr lang="en-US" sz="2000"/>
              <a:t>QNN</a:t>
            </a:r>
            <a:endParaRPr lang="vi-VN" sz="2000"/>
          </a:p>
        </p:txBody>
      </p:sp>
      <p:sp>
        <p:nvSpPr>
          <p:cNvPr id="4" name="Slide Number Placeholder 3">
            <a:extLst>
              <a:ext uri="{FF2B5EF4-FFF2-40B4-BE49-F238E27FC236}">
                <a16:creationId xmlns:a16="http://schemas.microsoft.com/office/drawing/2014/main" id="{7BB5B071-F751-8483-8FA0-D32D95354502}"/>
              </a:ext>
            </a:extLst>
          </p:cNvPr>
          <p:cNvSpPr>
            <a:spLocks noGrp="1"/>
          </p:cNvSpPr>
          <p:nvPr>
            <p:ph type="sldNum" sz="quarter" idx="12"/>
          </p:nvPr>
        </p:nvSpPr>
        <p:spPr/>
        <p:txBody>
          <a:bodyPr/>
          <a:lstStyle/>
          <a:p>
            <a:fld id="{6A45828D-F580-42DE-B77E-860980F07F32}" type="slidenum">
              <a:rPr lang="vi-VN" smtClean="0"/>
              <a:t>40</a:t>
            </a:fld>
            <a:endParaRPr lang="vi-VN"/>
          </a:p>
        </p:txBody>
      </p:sp>
      <mc:AlternateContent xmlns:mc="http://schemas.openxmlformats.org/markup-compatibility/2006" xmlns:a14="http://schemas.microsoft.com/office/drawing/2010/main">
        <mc:Choice Requires="a14">
          <p:sp>
            <p:nvSpPr>
              <p:cNvPr id="5" name="Hình chữ nhật 93">
                <a:extLst>
                  <a:ext uri="{FF2B5EF4-FFF2-40B4-BE49-F238E27FC236}">
                    <a16:creationId xmlns:a16="http://schemas.microsoft.com/office/drawing/2014/main" id="{FCFA2D4E-8FCC-6806-9DE3-D0AFD433D5DE}"/>
                  </a:ext>
                </a:extLst>
              </p:cNvPr>
              <p:cNvSpPr/>
              <p:nvPr/>
            </p:nvSpPr>
            <p:spPr>
              <a:xfrm>
                <a:off x="2340990" y="2741515"/>
                <a:ext cx="884602" cy="43941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vi-VN" sz="1600" b="0" i="1">
                              <a:solidFill>
                                <a:schemeClr val="tx1"/>
                              </a:solidFill>
                              <a:latin typeface="Cambria Math" panose="02040503050406030204" pitchFamily="18" charset="0"/>
                              <a:cs typeface="Times New Roman" panose="02020603050405020304" pitchFamily="18" charset="0"/>
                            </a:rPr>
                          </m:ctrlPr>
                        </m:sSupPr>
                        <m:e>
                          <m:r>
                            <a:rPr lang="vi-VN" sz="1600" i="1">
                              <a:solidFill>
                                <a:schemeClr val="tx1"/>
                              </a:solidFill>
                              <a:latin typeface="Cambria Math" panose="02040503050406030204" pitchFamily="18" charset="0"/>
                              <a:cs typeface="Times New Roman" panose="02020603050405020304" pitchFamily="18" charset="0"/>
                            </a:rPr>
                            <m:t>𝑈</m:t>
                          </m:r>
                        </m:e>
                        <m:sup>
                          <m:r>
                            <a:rPr lang="vi-VN" sz="1600" b="0" i="1">
                              <a:solidFill>
                                <a:schemeClr val="tx1"/>
                              </a:solidFill>
                              <a:latin typeface="Cambria Math" panose="02040503050406030204" pitchFamily="18" charset="0"/>
                              <a:cs typeface="Times New Roman" panose="02020603050405020304" pitchFamily="18" charset="0"/>
                            </a:rPr>
                            <m:t>(0)</m:t>
                          </m:r>
                        </m:sup>
                      </m:sSup>
                      <m:d>
                        <m:dPr>
                          <m:ctrlPr>
                            <a:rPr lang="vi-VN" sz="1600" b="0" i="1">
                              <a:solidFill>
                                <a:schemeClr val="tx1"/>
                              </a:solidFill>
                              <a:latin typeface="Cambria Math" panose="02040503050406030204" pitchFamily="18" charset="0"/>
                              <a:cs typeface="Times New Roman" panose="02020603050405020304" pitchFamily="18" charset="0"/>
                            </a:rPr>
                          </m:ctrlPr>
                        </m:dPr>
                        <m:e>
                          <m:r>
                            <a:rPr lang="vi-VN" sz="1600" b="1" i="1">
                              <a:solidFill>
                                <a:schemeClr val="tx1"/>
                              </a:solidFill>
                              <a:latin typeface="Cambria Math" panose="02040503050406030204" pitchFamily="18" charset="0"/>
                              <a:cs typeface="Times New Roman" panose="02020603050405020304" pitchFamily="18" charset="0"/>
                            </a:rPr>
                            <m:t>𝜽</m:t>
                          </m:r>
                        </m:e>
                      </m:d>
                    </m:oMath>
                  </m:oMathPara>
                </a14:m>
                <a:endParaRPr lang="vi-VN" sz="1600" i="1">
                  <a:solidFill>
                    <a:schemeClr val="tx1"/>
                  </a:solidFill>
                  <a:latin typeface="+mj-lt"/>
                  <a:cs typeface="Times New Roman" panose="02020603050405020304" pitchFamily="18" charset="0"/>
                </a:endParaRPr>
              </a:p>
            </p:txBody>
          </p:sp>
        </mc:Choice>
        <mc:Fallback xmlns="">
          <p:sp>
            <p:nvSpPr>
              <p:cNvPr id="5" name="Hình chữ nhật 93">
                <a:extLst>
                  <a:ext uri="{FF2B5EF4-FFF2-40B4-BE49-F238E27FC236}">
                    <a16:creationId xmlns:a16="http://schemas.microsoft.com/office/drawing/2014/main" id="{FCFA2D4E-8FCC-6806-9DE3-D0AFD433D5DE}"/>
                  </a:ext>
                </a:extLst>
              </p:cNvPr>
              <p:cNvSpPr>
                <a:spLocks noRot="1" noChangeAspect="1" noMove="1" noResize="1" noEditPoints="1" noAdjustHandles="1" noChangeArrowheads="1" noChangeShapeType="1" noTextEdit="1"/>
              </p:cNvSpPr>
              <p:nvPr/>
            </p:nvSpPr>
            <p:spPr>
              <a:xfrm>
                <a:off x="2340990" y="2741515"/>
                <a:ext cx="884602" cy="439412"/>
              </a:xfrm>
              <a:prstGeom prst="rect">
                <a:avLst/>
              </a:prstGeom>
              <a:blipFill>
                <a:blip r:embed="rId2"/>
                <a:stretch>
                  <a:fillRect/>
                </a:stretch>
              </a:blipFill>
              <a:ln w="38100">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 name="Hình chữ nhật 40">
                <a:extLst>
                  <a:ext uri="{FF2B5EF4-FFF2-40B4-BE49-F238E27FC236}">
                    <a16:creationId xmlns:a16="http://schemas.microsoft.com/office/drawing/2014/main" id="{961063C8-5C68-9B1D-FD5F-D2EFC8579E05}"/>
                  </a:ext>
                </a:extLst>
              </p:cNvPr>
              <p:cNvSpPr/>
              <p:nvPr/>
            </p:nvSpPr>
            <p:spPr>
              <a:xfrm>
                <a:off x="1150961" y="2053771"/>
                <a:ext cx="1016830" cy="4219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400" b="0" i="1">
                              <a:solidFill>
                                <a:schemeClr val="tx1"/>
                              </a:solidFill>
                              <a:latin typeface="Cambria Math" panose="02040503050406030204" pitchFamily="18" charset="0"/>
                              <a:cs typeface="Times New Roman" panose="02020603050405020304" pitchFamily="18" charset="0"/>
                            </a:rPr>
                          </m:ctrlPr>
                        </m:sSubSupPr>
                        <m:e>
                          <m:r>
                            <a:rPr lang="vi-VN" sz="1400" i="1">
                              <a:solidFill>
                                <a:schemeClr val="tx1"/>
                              </a:solidFill>
                              <a:latin typeface="Cambria Math" panose="02040503050406030204" pitchFamily="18" charset="0"/>
                              <a:cs typeface="Times New Roman" panose="02020603050405020304" pitchFamily="18" charset="0"/>
                            </a:rPr>
                            <m:t>𝑈</m:t>
                          </m:r>
                        </m:e>
                        <m:sub>
                          <m:r>
                            <a:rPr lang="vi-VN" sz="1400" b="0" i="1">
                              <a:solidFill>
                                <a:schemeClr val="tx1"/>
                              </a:solidFill>
                              <a:latin typeface="Cambria Math" panose="02040503050406030204" pitchFamily="18" charset="0"/>
                              <a:cs typeface="Times New Roman" panose="02020603050405020304" pitchFamily="18" charset="0"/>
                            </a:rPr>
                            <m:t>0</m:t>
                          </m:r>
                        </m:sub>
                        <m:sup>
                          <m:r>
                            <a:rPr lang="vi-VN" sz="1400" b="0" i="1">
                              <a:solidFill>
                                <a:schemeClr val="tx1"/>
                              </a:solidFill>
                              <a:latin typeface="Cambria Math" panose="02040503050406030204" pitchFamily="18" charset="0"/>
                              <a:cs typeface="Times New Roman" panose="02020603050405020304" pitchFamily="18" charset="0"/>
                            </a:rPr>
                            <m:t>(0)</m:t>
                          </m:r>
                        </m:sup>
                      </m:sSubSup>
                      <m:d>
                        <m:dPr>
                          <m:ctrlPr>
                            <a:rPr lang="vi-VN" sz="1400" b="0" i="1">
                              <a:solidFill>
                                <a:schemeClr val="tx1"/>
                              </a:solidFill>
                              <a:latin typeface="Cambria Math" panose="02040503050406030204" pitchFamily="18" charset="0"/>
                              <a:cs typeface="Times New Roman" panose="02020603050405020304" pitchFamily="18" charset="0"/>
                            </a:rPr>
                          </m:ctrlPr>
                        </m:dPr>
                        <m:e>
                          <m:sSubSup>
                            <m:sSubSupPr>
                              <m:ctrlPr>
                                <a:rPr lang="vi-VN" sz="1400" b="1" i="1">
                                  <a:solidFill>
                                    <a:schemeClr val="tx1"/>
                                  </a:solidFill>
                                  <a:latin typeface="Cambria Math" panose="02040503050406030204" pitchFamily="18" charset="0"/>
                                  <a:cs typeface="Times New Roman" panose="02020603050405020304" pitchFamily="18" charset="0"/>
                                </a:rPr>
                              </m:ctrlPr>
                            </m:sSubSupPr>
                            <m:e>
                              <m:r>
                                <a:rPr lang="vi-VN" sz="1400" b="1" i="1">
                                  <a:solidFill>
                                    <a:schemeClr val="tx1"/>
                                  </a:solidFill>
                                  <a:latin typeface="Cambria Math" panose="02040503050406030204" pitchFamily="18" charset="0"/>
                                  <a:cs typeface="Times New Roman" panose="02020603050405020304" pitchFamily="18" charset="0"/>
                                </a:rPr>
                                <m:t>𝜽</m:t>
                              </m:r>
                            </m:e>
                            <m:sub>
                              <m:r>
                                <a:rPr lang="vi-VN" sz="1400" b="1" i="1">
                                  <a:solidFill>
                                    <a:schemeClr val="tx1"/>
                                  </a:solidFill>
                                  <a:latin typeface="Cambria Math" panose="02040503050406030204" pitchFamily="18" charset="0"/>
                                  <a:cs typeface="Times New Roman" panose="02020603050405020304" pitchFamily="18" charset="0"/>
                                </a:rPr>
                                <m:t>𝟎</m:t>
                              </m:r>
                            </m:sub>
                            <m:sup>
                              <m:r>
                                <a:rPr lang="vi-VN" sz="1400" b="1" i="1">
                                  <a:solidFill>
                                    <a:schemeClr val="tx1"/>
                                  </a:solidFill>
                                  <a:latin typeface="Cambria Math" panose="02040503050406030204" pitchFamily="18" charset="0"/>
                                  <a:cs typeface="Times New Roman" panose="02020603050405020304" pitchFamily="18" charset="0"/>
                                </a:rPr>
                                <m:t>(</m:t>
                              </m:r>
                              <m:r>
                                <a:rPr lang="vi-VN" sz="1400" b="1" i="1">
                                  <a:solidFill>
                                    <a:schemeClr val="tx1"/>
                                  </a:solidFill>
                                  <a:latin typeface="Cambria Math" panose="02040503050406030204" pitchFamily="18" charset="0"/>
                                  <a:cs typeface="Times New Roman" panose="02020603050405020304" pitchFamily="18" charset="0"/>
                                </a:rPr>
                                <m:t>𝟎</m:t>
                              </m:r>
                              <m:r>
                                <a:rPr lang="vi-VN" sz="1400" b="1" i="1">
                                  <a:solidFill>
                                    <a:schemeClr val="tx1"/>
                                  </a:solidFill>
                                  <a:latin typeface="Cambria Math" panose="02040503050406030204" pitchFamily="18" charset="0"/>
                                  <a:cs typeface="Times New Roman" panose="02020603050405020304" pitchFamily="18" charset="0"/>
                                </a:rPr>
                                <m:t>)</m:t>
                              </m:r>
                            </m:sup>
                          </m:sSubSup>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6" name="Hình chữ nhật 40">
                <a:extLst>
                  <a:ext uri="{FF2B5EF4-FFF2-40B4-BE49-F238E27FC236}">
                    <a16:creationId xmlns:a16="http://schemas.microsoft.com/office/drawing/2014/main" id="{961063C8-5C68-9B1D-FD5F-D2EFC8579E05}"/>
                  </a:ext>
                </a:extLst>
              </p:cNvPr>
              <p:cNvSpPr>
                <a:spLocks noRot="1" noChangeAspect="1" noMove="1" noResize="1" noEditPoints="1" noAdjustHandles="1" noChangeArrowheads="1" noChangeShapeType="1" noTextEdit="1"/>
              </p:cNvSpPr>
              <p:nvPr/>
            </p:nvSpPr>
            <p:spPr>
              <a:xfrm>
                <a:off x="1150961" y="2053771"/>
                <a:ext cx="1016830" cy="421907"/>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7" name="Straight Connector 6">
            <a:extLst>
              <a:ext uri="{FF2B5EF4-FFF2-40B4-BE49-F238E27FC236}">
                <a16:creationId xmlns:a16="http://schemas.microsoft.com/office/drawing/2014/main" id="{D0AD9756-2055-B762-8A69-7D09520EB521}"/>
              </a:ext>
            </a:extLst>
          </p:cNvPr>
          <p:cNvCxnSpPr>
            <a:cxnSpLocks/>
          </p:cNvCxnSpPr>
          <p:nvPr/>
        </p:nvCxnSpPr>
        <p:spPr>
          <a:xfrm flipV="1">
            <a:off x="3239161" y="2478068"/>
            <a:ext cx="2704021" cy="274024"/>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2D984636-7E2C-BCA7-A9F9-180B3793DC47}"/>
              </a:ext>
            </a:extLst>
          </p:cNvPr>
          <p:cNvCxnSpPr>
            <a:cxnSpLocks/>
          </p:cNvCxnSpPr>
          <p:nvPr/>
        </p:nvCxnSpPr>
        <p:spPr>
          <a:xfrm>
            <a:off x="1161797" y="2480539"/>
            <a:ext cx="1170843" cy="26816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2" name="Đường nối Thẳng 121">
            <a:extLst>
              <a:ext uri="{FF2B5EF4-FFF2-40B4-BE49-F238E27FC236}">
                <a16:creationId xmlns:a16="http://schemas.microsoft.com/office/drawing/2014/main" id="{F10ED79B-7F83-DC1F-BA3C-1BB4A82883F9}"/>
              </a:ext>
            </a:extLst>
          </p:cNvPr>
          <p:cNvCxnSpPr>
            <a:cxnSpLocks/>
          </p:cNvCxnSpPr>
          <p:nvPr/>
        </p:nvCxnSpPr>
        <p:spPr>
          <a:xfrm flipV="1">
            <a:off x="984710" y="2880180"/>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Hình chữ nhật 40">
                <a:extLst>
                  <a:ext uri="{FF2B5EF4-FFF2-40B4-BE49-F238E27FC236}">
                    <a16:creationId xmlns:a16="http://schemas.microsoft.com/office/drawing/2014/main" id="{9DB05561-3046-CF23-4C03-6676FAC8225E}"/>
                  </a:ext>
                </a:extLst>
              </p:cNvPr>
              <p:cNvSpPr/>
              <p:nvPr/>
            </p:nvSpPr>
            <p:spPr>
              <a:xfrm>
                <a:off x="2464258" y="2053771"/>
                <a:ext cx="550253" cy="4219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400" b="0" i="1">
                              <a:solidFill>
                                <a:schemeClr val="tx1"/>
                              </a:solidFill>
                              <a:latin typeface="Cambria Math" panose="02040503050406030204" pitchFamily="18" charset="0"/>
                              <a:cs typeface="Times New Roman" panose="02020603050405020304" pitchFamily="18" charset="0"/>
                            </a:rPr>
                          </m:ctrlPr>
                        </m:sSubSupPr>
                        <m:e>
                          <m:r>
                            <a:rPr lang="vi-VN" sz="1400" i="1">
                              <a:solidFill>
                                <a:schemeClr val="tx1"/>
                              </a:solidFill>
                              <a:latin typeface="Cambria Math" panose="02040503050406030204" pitchFamily="18" charset="0"/>
                              <a:cs typeface="Times New Roman" panose="02020603050405020304" pitchFamily="18" charset="0"/>
                            </a:rPr>
                            <m:t>𝑉</m:t>
                          </m:r>
                        </m:e>
                        <m:sub>
                          <m:r>
                            <a:rPr lang="vi-VN" sz="1400" b="0" i="1">
                              <a:solidFill>
                                <a:schemeClr val="tx1"/>
                              </a:solidFill>
                              <a:latin typeface="Cambria Math" panose="02040503050406030204" pitchFamily="18" charset="0"/>
                              <a:cs typeface="Times New Roman" panose="02020603050405020304" pitchFamily="18" charset="0"/>
                            </a:rPr>
                            <m:t>0</m:t>
                          </m:r>
                        </m:sub>
                        <m:sup>
                          <m:r>
                            <a:rPr lang="vi-VN" sz="1400" b="0" i="1">
                              <a:solidFill>
                                <a:schemeClr val="tx1"/>
                              </a:solidFill>
                              <a:latin typeface="Cambria Math" panose="02040503050406030204" pitchFamily="18" charset="0"/>
                              <a:cs typeface="Times New Roman" panose="02020603050405020304" pitchFamily="18" charset="0"/>
                            </a:rPr>
                            <m:t>(0)</m:t>
                          </m:r>
                        </m:sup>
                      </m:sSubSup>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3" name="Hình chữ nhật 40">
                <a:extLst>
                  <a:ext uri="{FF2B5EF4-FFF2-40B4-BE49-F238E27FC236}">
                    <a16:creationId xmlns:a16="http://schemas.microsoft.com/office/drawing/2014/main" id="{9DB05561-3046-CF23-4C03-6676FAC8225E}"/>
                  </a:ext>
                </a:extLst>
              </p:cNvPr>
              <p:cNvSpPr>
                <a:spLocks noRot="1" noChangeAspect="1" noMove="1" noResize="1" noEditPoints="1" noAdjustHandles="1" noChangeArrowheads="1" noChangeShapeType="1" noTextEdit="1"/>
              </p:cNvSpPr>
              <p:nvPr/>
            </p:nvSpPr>
            <p:spPr>
              <a:xfrm>
                <a:off x="2464258" y="2053771"/>
                <a:ext cx="550253" cy="421907"/>
              </a:xfrm>
              <a:prstGeom prst="rect">
                <a:avLst/>
              </a:prstGeom>
              <a:blipFill>
                <a:blip r:embed="rId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Hình chữ nhật 40">
                <a:extLst>
                  <a:ext uri="{FF2B5EF4-FFF2-40B4-BE49-F238E27FC236}">
                    <a16:creationId xmlns:a16="http://schemas.microsoft.com/office/drawing/2014/main" id="{3007AC88-B576-8DD1-642D-01B3FB78B260}"/>
                  </a:ext>
                </a:extLst>
              </p:cNvPr>
              <p:cNvSpPr/>
              <p:nvPr/>
            </p:nvSpPr>
            <p:spPr>
              <a:xfrm>
                <a:off x="4067968" y="2051300"/>
                <a:ext cx="1059297" cy="4219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400" b="0" i="1" smtClean="0">
                              <a:solidFill>
                                <a:schemeClr val="tx1"/>
                              </a:solidFill>
                              <a:latin typeface="Cambria Math" panose="02040503050406030204" pitchFamily="18" charset="0"/>
                              <a:cs typeface="Times New Roman" panose="02020603050405020304" pitchFamily="18" charset="0"/>
                            </a:rPr>
                          </m:ctrlPr>
                        </m:sSubSupPr>
                        <m:e>
                          <m:r>
                            <a:rPr lang="vi-VN" sz="1400" i="1">
                              <a:solidFill>
                                <a:schemeClr val="tx1"/>
                              </a:solidFill>
                              <a:latin typeface="Cambria Math" panose="02040503050406030204" pitchFamily="18" charset="0"/>
                              <a:cs typeface="Times New Roman" panose="02020603050405020304" pitchFamily="18" charset="0"/>
                            </a:rPr>
                            <m:t>𝑈</m:t>
                          </m:r>
                        </m:e>
                        <m:sub>
                          <m:sSup>
                            <m:sSupPr>
                              <m:ctrlPr>
                                <a:rPr lang="en-US" sz="1400" b="0" i="1" smtClean="0">
                                  <a:solidFill>
                                    <a:schemeClr val="tx1"/>
                                  </a:solidFill>
                                  <a:latin typeface="Cambria Math" panose="02040503050406030204" pitchFamily="18" charset="0"/>
                                  <a:cs typeface="Times New Roman" panose="02020603050405020304" pitchFamily="18" charset="0"/>
                                </a:rPr>
                              </m:ctrlPr>
                            </m:sSupPr>
                            <m:e>
                              <m:r>
                                <a:rPr lang="vi-VN" sz="1400" i="1">
                                  <a:solidFill>
                                    <a:schemeClr val="tx1"/>
                                  </a:solidFill>
                                  <a:latin typeface="Cambria Math" panose="02040503050406030204" pitchFamily="18" charset="0"/>
                                  <a:cs typeface="Times New Roman" panose="02020603050405020304" pitchFamily="18" charset="0"/>
                                </a:rPr>
                                <m:t>𝐿</m:t>
                              </m:r>
                            </m:e>
                            <m:sup>
                              <m:d>
                                <m:dPr>
                                  <m:ctrlPr>
                                    <a:rPr lang="en-US" sz="1400" b="0" i="1" smtClean="0">
                                      <a:solidFill>
                                        <a:schemeClr val="tx1"/>
                                      </a:solidFill>
                                      <a:latin typeface="Cambria Math" panose="02040503050406030204" pitchFamily="18" charset="0"/>
                                      <a:cs typeface="Times New Roman" panose="02020603050405020304" pitchFamily="18" charset="0"/>
                                    </a:rPr>
                                  </m:ctrlPr>
                                </m:dPr>
                                <m:e>
                                  <m:r>
                                    <a:rPr lang="en-US" sz="1400" b="0" i="1" smtClean="0">
                                      <a:solidFill>
                                        <a:schemeClr val="tx1"/>
                                      </a:solidFill>
                                      <a:latin typeface="Cambria Math" panose="02040503050406030204" pitchFamily="18" charset="0"/>
                                      <a:cs typeface="Times New Roman" panose="02020603050405020304" pitchFamily="18" charset="0"/>
                                    </a:rPr>
                                    <m:t>0</m:t>
                                  </m:r>
                                </m:e>
                              </m:d>
                            </m:sup>
                          </m:sSup>
                        </m:sub>
                        <m:sup>
                          <m:r>
                            <a:rPr lang="vi-VN" sz="1400" b="0" i="1">
                              <a:solidFill>
                                <a:schemeClr val="tx1"/>
                              </a:solidFill>
                              <a:latin typeface="Cambria Math" panose="02040503050406030204" pitchFamily="18" charset="0"/>
                              <a:cs typeface="Times New Roman" panose="02020603050405020304" pitchFamily="18" charset="0"/>
                            </a:rPr>
                            <m:t>(0)</m:t>
                          </m:r>
                        </m:sup>
                      </m:sSubSup>
                      <m:d>
                        <m:dPr>
                          <m:ctrlPr>
                            <a:rPr lang="vi-VN" sz="1400" b="0" i="1">
                              <a:solidFill>
                                <a:schemeClr val="tx1"/>
                              </a:solidFill>
                              <a:latin typeface="Cambria Math" panose="02040503050406030204" pitchFamily="18" charset="0"/>
                              <a:cs typeface="Times New Roman" panose="02020603050405020304" pitchFamily="18" charset="0"/>
                            </a:rPr>
                          </m:ctrlPr>
                        </m:dPr>
                        <m:e>
                          <m:sSubSup>
                            <m:sSubSupPr>
                              <m:ctrlPr>
                                <a:rPr lang="vi-VN" sz="1400" b="1" i="1">
                                  <a:solidFill>
                                    <a:schemeClr val="tx1"/>
                                  </a:solidFill>
                                  <a:latin typeface="Cambria Math" panose="02040503050406030204" pitchFamily="18" charset="0"/>
                                  <a:cs typeface="Times New Roman" panose="02020603050405020304" pitchFamily="18" charset="0"/>
                                </a:rPr>
                              </m:ctrlPr>
                            </m:sSubSupPr>
                            <m:e>
                              <m:r>
                                <a:rPr lang="vi-VN" sz="1400" b="1" i="1">
                                  <a:solidFill>
                                    <a:schemeClr val="tx1"/>
                                  </a:solidFill>
                                  <a:latin typeface="Cambria Math" panose="02040503050406030204" pitchFamily="18" charset="0"/>
                                  <a:cs typeface="Times New Roman" panose="02020603050405020304" pitchFamily="18" charset="0"/>
                                </a:rPr>
                                <m:t>𝜽</m:t>
                              </m:r>
                            </m:e>
                            <m:sub>
                              <m:sSup>
                                <m:sSupPr>
                                  <m:ctrlPr>
                                    <a:rPr lang="en-US" sz="1400" b="1" i="1" smtClean="0">
                                      <a:solidFill>
                                        <a:schemeClr val="tx1"/>
                                      </a:solidFill>
                                      <a:latin typeface="Cambria Math" panose="02040503050406030204" pitchFamily="18" charset="0"/>
                                      <a:cs typeface="Times New Roman" panose="02020603050405020304" pitchFamily="18" charset="0"/>
                                    </a:rPr>
                                  </m:ctrlPr>
                                </m:sSupPr>
                                <m:e>
                                  <m:r>
                                    <a:rPr lang="vi-VN" sz="1400" b="1" i="1">
                                      <a:solidFill>
                                        <a:schemeClr val="tx1"/>
                                      </a:solidFill>
                                      <a:latin typeface="Cambria Math" panose="02040503050406030204" pitchFamily="18" charset="0"/>
                                      <a:cs typeface="Times New Roman" panose="02020603050405020304" pitchFamily="18" charset="0"/>
                                    </a:rPr>
                                    <m:t>𝑳</m:t>
                                  </m:r>
                                </m:e>
                                <m:sup>
                                  <m:d>
                                    <m:dPr>
                                      <m:ctrlPr>
                                        <a:rPr lang="en-US" sz="1400" i="1">
                                          <a:solidFill>
                                            <a:schemeClr val="tx1"/>
                                          </a:solidFill>
                                          <a:latin typeface="Cambria Math" panose="02040503050406030204" pitchFamily="18" charset="0"/>
                                          <a:cs typeface="Times New Roman" panose="02020603050405020304" pitchFamily="18" charset="0"/>
                                        </a:rPr>
                                      </m:ctrlPr>
                                    </m:dPr>
                                    <m:e>
                                      <m:r>
                                        <a:rPr lang="en-US" sz="1400" i="1">
                                          <a:solidFill>
                                            <a:schemeClr val="tx1"/>
                                          </a:solidFill>
                                          <a:latin typeface="Cambria Math" panose="02040503050406030204" pitchFamily="18" charset="0"/>
                                          <a:cs typeface="Times New Roman" panose="02020603050405020304" pitchFamily="18" charset="0"/>
                                        </a:rPr>
                                        <m:t>0</m:t>
                                      </m:r>
                                    </m:e>
                                  </m:d>
                                </m:sup>
                              </m:sSup>
                            </m:sub>
                            <m:sup>
                              <m:r>
                                <a:rPr lang="vi-VN" sz="1400" b="1" i="1">
                                  <a:solidFill>
                                    <a:schemeClr val="tx1"/>
                                  </a:solidFill>
                                  <a:latin typeface="Cambria Math" panose="02040503050406030204" pitchFamily="18" charset="0"/>
                                  <a:cs typeface="Times New Roman" panose="02020603050405020304" pitchFamily="18" charset="0"/>
                                </a:rPr>
                                <m:t>(</m:t>
                              </m:r>
                              <m:r>
                                <a:rPr lang="vi-VN" sz="1400" b="1" i="1">
                                  <a:solidFill>
                                    <a:schemeClr val="tx1"/>
                                  </a:solidFill>
                                  <a:latin typeface="Cambria Math" panose="02040503050406030204" pitchFamily="18" charset="0"/>
                                  <a:cs typeface="Times New Roman" panose="02020603050405020304" pitchFamily="18" charset="0"/>
                                </a:rPr>
                                <m:t>𝟎</m:t>
                              </m:r>
                              <m:r>
                                <a:rPr lang="vi-VN" sz="1400" b="1" i="1">
                                  <a:solidFill>
                                    <a:schemeClr val="tx1"/>
                                  </a:solidFill>
                                  <a:latin typeface="Cambria Math" panose="02040503050406030204" pitchFamily="18" charset="0"/>
                                  <a:cs typeface="Times New Roman" panose="02020603050405020304" pitchFamily="18" charset="0"/>
                                </a:rPr>
                                <m:t>)</m:t>
                              </m:r>
                            </m:sup>
                          </m:sSubSup>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6" name="Hình chữ nhật 40">
                <a:extLst>
                  <a:ext uri="{FF2B5EF4-FFF2-40B4-BE49-F238E27FC236}">
                    <a16:creationId xmlns:a16="http://schemas.microsoft.com/office/drawing/2014/main" id="{3007AC88-B576-8DD1-642D-01B3FB78B260}"/>
                  </a:ext>
                </a:extLst>
              </p:cNvPr>
              <p:cNvSpPr>
                <a:spLocks noRot="1" noChangeAspect="1" noMove="1" noResize="1" noEditPoints="1" noAdjustHandles="1" noChangeArrowheads="1" noChangeShapeType="1" noTextEdit="1"/>
              </p:cNvSpPr>
              <p:nvPr/>
            </p:nvSpPr>
            <p:spPr>
              <a:xfrm>
                <a:off x="4067968" y="2051300"/>
                <a:ext cx="1059297" cy="421907"/>
              </a:xfrm>
              <a:prstGeom prst="rect">
                <a:avLst/>
              </a:prstGeom>
              <a:blipFill>
                <a:blip r:embed="rId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Hình chữ nhật 40">
                <a:extLst>
                  <a:ext uri="{FF2B5EF4-FFF2-40B4-BE49-F238E27FC236}">
                    <a16:creationId xmlns:a16="http://schemas.microsoft.com/office/drawing/2014/main" id="{8F37DD8B-6232-766D-1A91-6451D4020002}"/>
                  </a:ext>
                </a:extLst>
              </p:cNvPr>
              <p:cNvSpPr/>
              <p:nvPr/>
            </p:nvSpPr>
            <p:spPr>
              <a:xfrm>
                <a:off x="5385805" y="2051300"/>
                <a:ext cx="545714" cy="4219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400" b="0" i="1" smtClean="0">
                              <a:solidFill>
                                <a:schemeClr val="tx1"/>
                              </a:solidFill>
                              <a:latin typeface="Cambria Math" panose="02040503050406030204" pitchFamily="18" charset="0"/>
                              <a:cs typeface="Times New Roman" panose="02020603050405020304" pitchFamily="18" charset="0"/>
                            </a:rPr>
                          </m:ctrlPr>
                        </m:sSubSupPr>
                        <m:e>
                          <m:r>
                            <a:rPr lang="vi-VN" sz="1400" i="1">
                              <a:solidFill>
                                <a:schemeClr val="tx1"/>
                              </a:solidFill>
                              <a:latin typeface="Cambria Math" panose="02040503050406030204" pitchFamily="18" charset="0"/>
                              <a:cs typeface="Times New Roman" panose="02020603050405020304" pitchFamily="18" charset="0"/>
                            </a:rPr>
                            <m:t>𝑉</m:t>
                          </m:r>
                        </m:e>
                        <m:sub>
                          <m:sSup>
                            <m:sSupPr>
                              <m:ctrlPr>
                                <a:rPr lang="en-US" sz="1400" b="0" i="1" smtClean="0">
                                  <a:solidFill>
                                    <a:schemeClr val="tx1"/>
                                  </a:solidFill>
                                  <a:latin typeface="Cambria Math" panose="02040503050406030204" pitchFamily="18" charset="0"/>
                                  <a:cs typeface="Times New Roman" panose="02020603050405020304" pitchFamily="18" charset="0"/>
                                </a:rPr>
                              </m:ctrlPr>
                            </m:sSupPr>
                            <m:e>
                              <m:r>
                                <a:rPr lang="vi-VN" sz="1400" i="1">
                                  <a:solidFill>
                                    <a:schemeClr val="tx1"/>
                                  </a:solidFill>
                                  <a:latin typeface="Cambria Math" panose="02040503050406030204" pitchFamily="18" charset="0"/>
                                  <a:cs typeface="Times New Roman" panose="02020603050405020304" pitchFamily="18" charset="0"/>
                                </a:rPr>
                                <m:t>𝐿</m:t>
                              </m:r>
                            </m:e>
                            <m:sup>
                              <m:d>
                                <m:dPr>
                                  <m:ctrlPr>
                                    <a:rPr lang="en-US" sz="1400" i="1">
                                      <a:solidFill>
                                        <a:schemeClr val="tx1"/>
                                      </a:solidFill>
                                      <a:latin typeface="Cambria Math" panose="02040503050406030204" pitchFamily="18" charset="0"/>
                                      <a:cs typeface="Times New Roman" panose="02020603050405020304" pitchFamily="18" charset="0"/>
                                    </a:rPr>
                                  </m:ctrlPr>
                                </m:dPr>
                                <m:e>
                                  <m:r>
                                    <a:rPr lang="en-US" sz="1400" i="1">
                                      <a:solidFill>
                                        <a:schemeClr val="tx1"/>
                                      </a:solidFill>
                                      <a:latin typeface="Cambria Math" panose="02040503050406030204" pitchFamily="18" charset="0"/>
                                      <a:cs typeface="Times New Roman" panose="02020603050405020304" pitchFamily="18" charset="0"/>
                                    </a:rPr>
                                    <m:t>0</m:t>
                                  </m:r>
                                </m:e>
                              </m:d>
                            </m:sup>
                          </m:sSup>
                        </m:sub>
                        <m:sup>
                          <m:r>
                            <a:rPr lang="vi-VN" sz="1400" b="0" i="1">
                              <a:solidFill>
                                <a:schemeClr val="tx1"/>
                              </a:solidFill>
                              <a:latin typeface="Cambria Math" panose="02040503050406030204" pitchFamily="18" charset="0"/>
                              <a:cs typeface="Times New Roman" panose="02020603050405020304" pitchFamily="18" charset="0"/>
                            </a:rPr>
                            <m:t>(0)</m:t>
                          </m:r>
                        </m:sup>
                      </m:sSubSup>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7" name="Hình chữ nhật 40">
                <a:extLst>
                  <a:ext uri="{FF2B5EF4-FFF2-40B4-BE49-F238E27FC236}">
                    <a16:creationId xmlns:a16="http://schemas.microsoft.com/office/drawing/2014/main" id="{8F37DD8B-6232-766D-1A91-6451D4020002}"/>
                  </a:ext>
                </a:extLst>
              </p:cNvPr>
              <p:cNvSpPr>
                <a:spLocks noRot="1" noChangeAspect="1" noMove="1" noResize="1" noEditPoints="1" noAdjustHandles="1" noChangeArrowheads="1" noChangeShapeType="1" noTextEdit="1"/>
              </p:cNvSpPr>
              <p:nvPr/>
            </p:nvSpPr>
            <p:spPr>
              <a:xfrm>
                <a:off x="5385805" y="2051300"/>
                <a:ext cx="545714" cy="421907"/>
              </a:xfrm>
              <a:prstGeom prst="rect">
                <a:avLst/>
              </a:prstGeom>
              <a:blipFill>
                <a:blip r:embed="rId6"/>
                <a:stretch>
                  <a:fillRect/>
                </a:stretch>
              </a:blipFill>
              <a:ln>
                <a:solidFill>
                  <a:schemeClr val="tx1"/>
                </a:solidFill>
              </a:ln>
            </p:spPr>
            <p:txBody>
              <a:bodyPr/>
              <a:lstStyle/>
              <a:p>
                <a:r>
                  <a:rPr lang="vi-VN">
                    <a:noFill/>
                  </a:rPr>
                  <a:t> </a:t>
                </a:r>
              </a:p>
            </p:txBody>
          </p:sp>
        </mc:Fallback>
      </mc:AlternateContent>
      <p:cxnSp>
        <p:nvCxnSpPr>
          <p:cNvPr id="21" name="Đường nối Thẳng 5">
            <a:extLst>
              <a:ext uri="{FF2B5EF4-FFF2-40B4-BE49-F238E27FC236}">
                <a16:creationId xmlns:a16="http://schemas.microsoft.com/office/drawing/2014/main" id="{2FE9CEA3-F4F5-FEB7-A74F-EEF886F1F231}"/>
              </a:ext>
            </a:extLst>
          </p:cNvPr>
          <p:cNvCxnSpPr>
            <a:cxnSpLocks/>
          </p:cNvCxnSpPr>
          <p:nvPr/>
        </p:nvCxnSpPr>
        <p:spPr>
          <a:xfrm>
            <a:off x="677085" y="1029029"/>
            <a:ext cx="20662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Đường nối Thẳng 6">
            <a:extLst>
              <a:ext uri="{FF2B5EF4-FFF2-40B4-BE49-F238E27FC236}">
                <a16:creationId xmlns:a16="http://schemas.microsoft.com/office/drawing/2014/main" id="{7D7E6C1C-A1F7-3C37-9589-8AF69376E8DB}"/>
              </a:ext>
            </a:extLst>
          </p:cNvPr>
          <p:cNvCxnSpPr>
            <a:cxnSpLocks/>
          </p:cNvCxnSpPr>
          <p:nvPr/>
        </p:nvCxnSpPr>
        <p:spPr>
          <a:xfrm>
            <a:off x="677085" y="1215809"/>
            <a:ext cx="20662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Đường nối Thẳng 7">
            <a:extLst>
              <a:ext uri="{FF2B5EF4-FFF2-40B4-BE49-F238E27FC236}">
                <a16:creationId xmlns:a16="http://schemas.microsoft.com/office/drawing/2014/main" id="{0DCA78D1-51FB-E924-F43B-20721A618422}"/>
              </a:ext>
            </a:extLst>
          </p:cNvPr>
          <p:cNvCxnSpPr>
            <a:cxnSpLocks/>
          </p:cNvCxnSpPr>
          <p:nvPr/>
        </p:nvCxnSpPr>
        <p:spPr>
          <a:xfrm>
            <a:off x="677085" y="1402589"/>
            <a:ext cx="20662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Đường nối Thẳng 8">
            <a:extLst>
              <a:ext uri="{FF2B5EF4-FFF2-40B4-BE49-F238E27FC236}">
                <a16:creationId xmlns:a16="http://schemas.microsoft.com/office/drawing/2014/main" id="{FAF2894F-297F-A6CC-0B97-9CF8908430B7}"/>
              </a:ext>
            </a:extLst>
          </p:cNvPr>
          <p:cNvCxnSpPr>
            <a:cxnSpLocks/>
          </p:cNvCxnSpPr>
          <p:nvPr/>
        </p:nvCxnSpPr>
        <p:spPr>
          <a:xfrm>
            <a:off x="677085" y="1589369"/>
            <a:ext cx="20662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Đường nối Thẳng 9">
            <a:extLst>
              <a:ext uri="{FF2B5EF4-FFF2-40B4-BE49-F238E27FC236}">
                <a16:creationId xmlns:a16="http://schemas.microsoft.com/office/drawing/2014/main" id="{A8B09FD5-FBBF-FC3A-416D-BF7F73DF8131}"/>
              </a:ext>
            </a:extLst>
          </p:cNvPr>
          <p:cNvCxnSpPr>
            <a:cxnSpLocks/>
            <a:stCxn id="31" idx="0"/>
            <a:endCxn id="28" idx="4"/>
          </p:cNvCxnSpPr>
          <p:nvPr/>
        </p:nvCxnSpPr>
        <p:spPr>
          <a:xfrm flipH="1" flipV="1">
            <a:off x="1111986" y="1258176"/>
            <a:ext cx="2044" cy="189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Đường nối Thẳng 15">
            <a:extLst>
              <a:ext uri="{FF2B5EF4-FFF2-40B4-BE49-F238E27FC236}">
                <a16:creationId xmlns:a16="http://schemas.microsoft.com/office/drawing/2014/main" id="{446FC135-E023-2FDC-AE29-3C710DA15E92}"/>
              </a:ext>
            </a:extLst>
          </p:cNvPr>
          <p:cNvCxnSpPr>
            <a:cxnSpLocks/>
            <a:stCxn id="32" idx="0"/>
            <a:endCxn id="29" idx="4"/>
          </p:cNvCxnSpPr>
          <p:nvPr/>
        </p:nvCxnSpPr>
        <p:spPr>
          <a:xfrm flipV="1">
            <a:off x="1726356" y="1062526"/>
            <a:ext cx="2479" cy="2096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Đường nối Thẳng 19">
            <a:extLst>
              <a:ext uri="{FF2B5EF4-FFF2-40B4-BE49-F238E27FC236}">
                <a16:creationId xmlns:a16="http://schemas.microsoft.com/office/drawing/2014/main" id="{AA43C8F3-0E73-53D2-A112-3C50D1992100}"/>
              </a:ext>
            </a:extLst>
          </p:cNvPr>
          <p:cNvCxnSpPr>
            <a:cxnSpLocks/>
            <a:stCxn id="33" idx="0"/>
            <a:endCxn id="30" idx="4"/>
          </p:cNvCxnSpPr>
          <p:nvPr/>
        </p:nvCxnSpPr>
        <p:spPr>
          <a:xfrm flipH="1" flipV="1">
            <a:off x="2332640" y="1062424"/>
            <a:ext cx="299" cy="3920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Hình Bầu dục 36">
            <a:extLst>
              <a:ext uri="{FF2B5EF4-FFF2-40B4-BE49-F238E27FC236}">
                <a16:creationId xmlns:a16="http://schemas.microsoft.com/office/drawing/2014/main" id="{1FDB2226-CB2B-1E80-3527-D190EE781F90}"/>
              </a:ext>
            </a:extLst>
          </p:cNvPr>
          <p:cNvSpPr/>
          <p:nvPr/>
        </p:nvSpPr>
        <p:spPr>
          <a:xfrm>
            <a:off x="1069124" y="1172452"/>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29" name="Hình Bầu dục 37">
            <a:extLst>
              <a:ext uri="{FF2B5EF4-FFF2-40B4-BE49-F238E27FC236}">
                <a16:creationId xmlns:a16="http://schemas.microsoft.com/office/drawing/2014/main" id="{815E728A-3180-4E54-EEEF-3BBAEF86C506}"/>
              </a:ext>
            </a:extLst>
          </p:cNvPr>
          <p:cNvSpPr/>
          <p:nvPr/>
        </p:nvSpPr>
        <p:spPr>
          <a:xfrm>
            <a:off x="1685973" y="976802"/>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30" name="Hình Bầu dục 38">
            <a:extLst>
              <a:ext uri="{FF2B5EF4-FFF2-40B4-BE49-F238E27FC236}">
                <a16:creationId xmlns:a16="http://schemas.microsoft.com/office/drawing/2014/main" id="{69B08FC2-4786-4352-4CF2-742EE6ED97B0}"/>
              </a:ext>
            </a:extLst>
          </p:cNvPr>
          <p:cNvSpPr/>
          <p:nvPr/>
        </p:nvSpPr>
        <p:spPr>
          <a:xfrm>
            <a:off x="2289778" y="976700"/>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1" name="Hình chữ nhật 84">
                <a:extLst>
                  <a:ext uri="{FF2B5EF4-FFF2-40B4-BE49-F238E27FC236}">
                    <a16:creationId xmlns:a16="http://schemas.microsoft.com/office/drawing/2014/main" id="{7DAFFB86-E9B0-39AC-592B-B466C4176878}"/>
                  </a:ext>
                </a:extLst>
              </p:cNvPr>
              <p:cNvSpPr/>
              <p:nvPr/>
            </p:nvSpPr>
            <p:spPr>
              <a:xfrm>
                <a:off x="820999" y="1447354"/>
                <a:ext cx="586061" cy="2659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US" sz="800" b="0" i="1" smtClean="0">
                              <a:solidFill>
                                <a:schemeClr val="tx1"/>
                              </a:solidFill>
                              <a:latin typeface="Cambria Math" panose="02040503050406030204" pitchFamily="18" charset="0"/>
                              <a:cs typeface="Times New Roman" panose="02020603050405020304" pitchFamily="18" charset="0"/>
                            </a:rPr>
                          </m:ctrlPr>
                        </m:sSubPr>
                        <m:e>
                          <m:r>
                            <a:rPr lang="en-US" sz="800" b="0" i="1" smtClean="0">
                              <a:solidFill>
                                <a:schemeClr val="tx1"/>
                              </a:solidFill>
                              <a:latin typeface="Cambria Math" panose="02040503050406030204" pitchFamily="18" charset="0"/>
                              <a:cs typeface="Times New Roman" panose="02020603050405020304" pitchFamily="18" charset="0"/>
                            </a:rPr>
                            <m:t>𝑅</m:t>
                          </m:r>
                        </m:e>
                        <m:sub>
                          <m:r>
                            <a:rPr lang="en-US" sz="800" b="0" i="1" smtClean="0">
                              <a:solidFill>
                                <a:schemeClr val="tx1"/>
                              </a:solidFill>
                              <a:latin typeface="Cambria Math" panose="02040503050406030204" pitchFamily="18" charset="0"/>
                              <a:cs typeface="Times New Roman" panose="02020603050405020304" pitchFamily="18" charset="0"/>
                            </a:rPr>
                            <m:t>𝑌</m:t>
                          </m:r>
                        </m:sub>
                      </m:sSub>
                      <m:d>
                        <m:dPr>
                          <m:ctrlPr>
                            <a:rPr lang="vi-VN" sz="800" b="0" i="1" smtClean="0">
                              <a:solidFill>
                                <a:schemeClr val="tx1"/>
                              </a:solidFill>
                              <a:latin typeface="Cambria Math" panose="02040503050406030204" pitchFamily="18" charset="0"/>
                              <a:cs typeface="Times New Roman" panose="02020603050405020304" pitchFamily="18" charset="0"/>
                            </a:rPr>
                          </m:ctrlPr>
                        </m:dPr>
                        <m:e>
                          <m:sSubSup>
                            <m:sSubSupPr>
                              <m:ctrlPr>
                                <a:rPr lang="vi-VN" sz="800" b="0" i="1" smtClean="0">
                                  <a:solidFill>
                                    <a:schemeClr val="tx1"/>
                                  </a:solidFill>
                                  <a:latin typeface="Cambria Math" panose="02040503050406030204" pitchFamily="18" charset="0"/>
                                  <a:cs typeface="Times New Roman" panose="02020603050405020304" pitchFamily="18" charset="0"/>
                                </a:rPr>
                              </m:ctrlPr>
                            </m:sSubSupPr>
                            <m:e>
                              <m:r>
                                <a:rPr lang="vi-VN" sz="800" b="0" i="1" smtClean="0">
                                  <a:solidFill>
                                    <a:schemeClr val="tx1"/>
                                  </a:solidFill>
                                  <a:latin typeface="Cambria Math" panose="02040503050406030204" pitchFamily="18" charset="0"/>
                                  <a:cs typeface="Times New Roman" panose="02020603050405020304" pitchFamily="18" charset="0"/>
                                </a:rPr>
                                <m:t>𝜃</m:t>
                              </m:r>
                            </m:e>
                            <m:sub>
                              <m:r>
                                <a:rPr lang="vi-VN" sz="800" b="0" i="1" smtClean="0">
                                  <a:solidFill>
                                    <a:schemeClr val="tx1"/>
                                  </a:solidFill>
                                  <a:latin typeface="Cambria Math" panose="02040503050406030204" pitchFamily="18" charset="0"/>
                                  <a:cs typeface="Times New Roman" panose="02020603050405020304" pitchFamily="18" charset="0"/>
                                </a:rPr>
                                <m:t>0,0</m:t>
                              </m:r>
                            </m:sub>
                            <m:sup>
                              <m:d>
                                <m:dPr>
                                  <m:ctrlPr>
                                    <a:rPr lang="vi-VN" sz="800" b="0" i="1" smtClean="0">
                                      <a:solidFill>
                                        <a:schemeClr val="tx1"/>
                                      </a:solidFill>
                                      <a:latin typeface="Cambria Math" panose="02040503050406030204" pitchFamily="18" charset="0"/>
                                      <a:cs typeface="Times New Roman" panose="02020603050405020304" pitchFamily="18" charset="0"/>
                                    </a:rPr>
                                  </m:ctrlPr>
                                </m:dPr>
                                <m:e>
                                  <m:r>
                                    <a:rPr lang="vi-VN" sz="800" b="0" i="1" smtClean="0">
                                      <a:solidFill>
                                        <a:schemeClr val="tx1"/>
                                      </a:solidFill>
                                      <a:latin typeface="Cambria Math" panose="02040503050406030204" pitchFamily="18" charset="0"/>
                                      <a:cs typeface="Times New Roman" panose="02020603050405020304" pitchFamily="18" charset="0"/>
                                    </a:rPr>
                                    <m:t>0</m:t>
                                  </m:r>
                                </m:e>
                              </m:d>
                            </m:sup>
                          </m:sSubSup>
                        </m:e>
                      </m:d>
                    </m:oMath>
                  </m:oMathPara>
                </a14:m>
                <a:endParaRPr lang="vi-VN" sz="800" i="1">
                  <a:solidFill>
                    <a:schemeClr val="tx1"/>
                  </a:solidFill>
                  <a:latin typeface="+mj-lt"/>
                  <a:cs typeface="Times New Roman" panose="02020603050405020304" pitchFamily="18" charset="0"/>
                </a:endParaRPr>
              </a:p>
            </p:txBody>
          </p:sp>
        </mc:Choice>
        <mc:Fallback xmlns="">
          <p:sp>
            <p:nvSpPr>
              <p:cNvPr id="31" name="Hình chữ nhật 84">
                <a:extLst>
                  <a:ext uri="{FF2B5EF4-FFF2-40B4-BE49-F238E27FC236}">
                    <a16:creationId xmlns:a16="http://schemas.microsoft.com/office/drawing/2014/main" id="{7DAFFB86-E9B0-39AC-592B-B466C4176878}"/>
                  </a:ext>
                </a:extLst>
              </p:cNvPr>
              <p:cNvSpPr>
                <a:spLocks noRot="1" noChangeAspect="1" noMove="1" noResize="1" noEditPoints="1" noAdjustHandles="1" noChangeArrowheads="1" noChangeShapeType="1" noTextEdit="1"/>
              </p:cNvSpPr>
              <p:nvPr/>
            </p:nvSpPr>
            <p:spPr>
              <a:xfrm>
                <a:off x="820999" y="1447354"/>
                <a:ext cx="586061" cy="265979"/>
              </a:xfrm>
              <a:prstGeom prst="rect">
                <a:avLst/>
              </a:prstGeom>
              <a:blipFill>
                <a:blip r:embed="rId7"/>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Hình chữ nhật 84">
                <a:extLst>
                  <a:ext uri="{FF2B5EF4-FFF2-40B4-BE49-F238E27FC236}">
                    <a16:creationId xmlns:a16="http://schemas.microsoft.com/office/drawing/2014/main" id="{DAD4015F-877A-9059-EA21-BD8629B6B43F}"/>
                  </a:ext>
                </a:extLst>
              </p:cNvPr>
              <p:cNvSpPr/>
              <p:nvPr/>
            </p:nvSpPr>
            <p:spPr>
              <a:xfrm>
                <a:off x="1439068" y="1272147"/>
                <a:ext cx="574575" cy="2659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800" b="0" i="1" smtClean="0">
                              <a:solidFill>
                                <a:schemeClr val="tx1"/>
                              </a:solidFill>
                              <a:latin typeface="Cambria Math" panose="02040503050406030204" pitchFamily="18" charset="0"/>
                              <a:cs typeface="Times New Roman" panose="02020603050405020304" pitchFamily="18" charset="0"/>
                            </a:rPr>
                          </m:ctrlPr>
                        </m:sSubPr>
                        <m:e>
                          <m:r>
                            <a:rPr lang="en-US" sz="800" b="0" i="1" smtClean="0">
                              <a:solidFill>
                                <a:schemeClr val="tx1"/>
                              </a:solidFill>
                              <a:latin typeface="Cambria Math" panose="02040503050406030204" pitchFamily="18" charset="0"/>
                              <a:cs typeface="Times New Roman" panose="02020603050405020304" pitchFamily="18" charset="0"/>
                            </a:rPr>
                            <m:t>𝑅</m:t>
                          </m:r>
                        </m:e>
                        <m:sub>
                          <m:r>
                            <a:rPr lang="en-US" sz="800" b="0" i="1" smtClean="0">
                              <a:solidFill>
                                <a:schemeClr val="tx1"/>
                              </a:solidFill>
                              <a:latin typeface="Cambria Math" panose="02040503050406030204" pitchFamily="18" charset="0"/>
                              <a:cs typeface="Times New Roman" panose="02020603050405020304" pitchFamily="18" charset="0"/>
                            </a:rPr>
                            <m:t>𝑌</m:t>
                          </m:r>
                        </m:sub>
                      </m:sSub>
                      <m:d>
                        <m:dPr>
                          <m:ctrlPr>
                            <a:rPr lang="vi-VN" sz="800" i="1">
                              <a:solidFill>
                                <a:schemeClr val="tx1"/>
                              </a:solidFill>
                              <a:latin typeface="Cambria Math" panose="02040503050406030204" pitchFamily="18" charset="0"/>
                              <a:cs typeface="Times New Roman" panose="02020603050405020304" pitchFamily="18" charset="0"/>
                            </a:rPr>
                          </m:ctrlPr>
                        </m:dPr>
                        <m:e>
                          <m:sSubSup>
                            <m:sSubSupPr>
                              <m:ctrlPr>
                                <a:rPr lang="vi-VN" sz="800" b="0" i="1">
                                  <a:solidFill>
                                    <a:schemeClr val="tx1"/>
                                  </a:solidFill>
                                  <a:latin typeface="Cambria Math" panose="02040503050406030204" pitchFamily="18" charset="0"/>
                                  <a:cs typeface="Times New Roman" panose="02020603050405020304" pitchFamily="18" charset="0"/>
                                </a:rPr>
                              </m:ctrlPr>
                            </m:sSubSupPr>
                            <m:e>
                              <m:r>
                                <a:rPr lang="vi-VN" sz="800" i="1">
                                  <a:solidFill>
                                    <a:schemeClr val="tx1"/>
                                  </a:solidFill>
                                  <a:latin typeface="Cambria Math" panose="02040503050406030204" pitchFamily="18" charset="0"/>
                                  <a:cs typeface="Times New Roman" panose="02020603050405020304" pitchFamily="18" charset="0"/>
                                </a:rPr>
                                <m:t>𝜃</m:t>
                              </m:r>
                            </m:e>
                            <m:sub>
                              <m:r>
                                <a:rPr lang="vi-VN" sz="800" b="0" i="1">
                                  <a:solidFill>
                                    <a:schemeClr val="tx1"/>
                                  </a:solidFill>
                                  <a:latin typeface="Cambria Math" panose="02040503050406030204" pitchFamily="18" charset="0"/>
                                  <a:cs typeface="Times New Roman" panose="02020603050405020304" pitchFamily="18" charset="0"/>
                                </a:rPr>
                                <m:t>0,1</m:t>
                              </m:r>
                            </m:sub>
                            <m:sup>
                              <m:d>
                                <m:dPr>
                                  <m:ctrlPr>
                                    <a:rPr lang="vi-VN" sz="800" b="0" i="1">
                                      <a:solidFill>
                                        <a:schemeClr val="tx1"/>
                                      </a:solidFill>
                                      <a:latin typeface="Cambria Math" panose="02040503050406030204" pitchFamily="18" charset="0"/>
                                      <a:cs typeface="Times New Roman" panose="02020603050405020304" pitchFamily="18" charset="0"/>
                                    </a:rPr>
                                  </m:ctrlPr>
                                </m:dPr>
                                <m:e>
                                  <m:r>
                                    <a:rPr lang="vi-VN" sz="800" b="0" i="1">
                                      <a:solidFill>
                                        <a:schemeClr val="tx1"/>
                                      </a:solidFill>
                                      <a:latin typeface="Cambria Math" panose="02040503050406030204" pitchFamily="18" charset="0"/>
                                      <a:cs typeface="Times New Roman" panose="02020603050405020304" pitchFamily="18" charset="0"/>
                                    </a:rPr>
                                    <m:t>0</m:t>
                                  </m:r>
                                </m:e>
                              </m:d>
                            </m:sup>
                          </m:sSubSup>
                        </m:e>
                      </m:d>
                    </m:oMath>
                  </m:oMathPara>
                </a14:m>
                <a:endParaRPr lang="vi-VN" sz="800" i="1">
                  <a:solidFill>
                    <a:schemeClr val="tx1"/>
                  </a:solidFill>
                  <a:latin typeface="+mj-lt"/>
                  <a:cs typeface="Times New Roman" panose="02020603050405020304" pitchFamily="18" charset="0"/>
                </a:endParaRPr>
              </a:p>
            </p:txBody>
          </p:sp>
        </mc:Choice>
        <mc:Fallback xmlns="">
          <p:sp>
            <p:nvSpPr>
              <p:cNvPr id="32" name="Hình chữ nhật 84">
                <a:extLst>
                  <a:ext uri="{FF2B5EF4-FFF2-40B4-BE49-F238E27FC236}">
                    <a16:creationId xmlns:a16="http://schemas.microsoft.com/office/drawing/2014/main" id="{DAD4015F-877A-9059-EA21-BD8629B6B43F}"/>
                  </a:ext>
                </a:extLst>
              </p:cNvPr>
              <p:cNvSpPr>
                <a:spLocks noRot="1" noChangeAspect="1" noMove="1" noResize="1" noEditPoints="1" noAdjustHandles="1" noChangeArrowheads="1" noChangeShapeType="1" noTextEdit="1"/>
              </p:cNvSpPr>
              <p:nvPr/>
            </p:nvSpPr>
            <p:spPr>
              <a:xfrm>
                <a:off x="1439068" y="1272147"/>
                <a:ext cx="574575" cy="265979"/>
              </a:xfrm>
              <a:prstGeom prst="rect">
                <a:avLst/>
              </a:prstGeom>
              <a:blipFill>
                <a:blip r:embed="rId8"/>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Hình chữ nhật 84">
                <a:extLst>
                  <a:ext uri="{FF2B5EF4-FFF2-40B4-BE49-F238E27FC236}">
                    <a16:creationId xmlns:a16="http://schemas.microsoft.com/office/drawing/2014/main" id="{4A2786AD-AE36-34F8-C724-88E31AE66190}"/>
                  </a:ext>
                </a:extLst>
              </p:cNvPr>
              <p:cNvSpPr/>
              <p:nvPr/>
            </p:nvSpPr>
            <p:spPr>
              <a:xfrm>
                <a:off x="2045651" y="1454506"/>
                <a:ext cx="574575" cy="2659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800" b="0" i="1" smtClean="0">
                              <a:solidFill>
                                <a:schemeClr val="tx1"/>
                              </a:solidFill>
                              <a:latin typeface="Cambria Math" panose="02040503050406030204" pitchFamily="18" charset="0"/>
                              <a:cs typeface="Times New Roman" panose="02020603050405020304" pitchFamily="18" charset="0"/>
                            </a:rPr>
                          </m:ctrlPr>
                        </m:sSubPr>
                        <m:e>
                          <m:r>
                            <a:rPr lang="en-US" sz="800" b="0" i="1" smtClean="0">
                              <a:solidFill>
                                <a:schemeClr val="tx1"/>
                              </a:solidFill>
                              <a:latin typeface="Cambria Math" panose="02040503050406030204" pitchFamily="18" charset="0"/>
                              <a:cs typeface="Times New Roman" panose="02020603050405020304" pitchFamily="18" charset="0"/>
                            </a:rPr>
                            <m:t>𝑅</m:t>
                          </m:r>
                        </m:e>
                        <m:sub>
                          <m:r>
                            <a:rPr lang="en-US" sz="800" b="0" i="1" smtClean="0">
                              <a:solidFill>
                                <a:schemeClr val="tx1"/>
                              </a:solidFill>
                              <a:latin typeface="Cambria Math" panose="02040503050406030204" pitchFamily="18" charset="0"/>
                              <a:cs typeface="Times New Roman" panose="02020603050405020304" pitchFamily="18" charset="0"/>
                            </a:rPr>
                            <m:t>𝑌</m:t>
                          </m:r>
                        </m:sub>
                      </m:sSub>
                      <m:d>
                        <m:dPr>
                          <m:ctrlPr>
                            <a:rPr lang="vi-VN" sz="800" i="1">
                              <a:solidFill>
                                <a:schemeClr val="tx1"/>
                              </a:solidFill>
                              <a:latin typeface="Cambria Math" panose="02040503050406030204" pitchFamily="18" charset="0"/>
                              <a:cs typeface="Times New Roman" panose="02020603050405020304" pitchFamily="18" charset="0"/>
                            </a:rPr>
                          </m:ctrlPr>
                        </m:dPr>
                        <m:e>
                          <m:sSubSup>
                            <m:sSubSupPr>
                              <m:ctrlPr>
                                <a:rPr lang="vi-VN" sz="800" b="0" i="1">
                                  <a:solidFill>
                                    <a:schemeClr val="tx1"/>
                                  </a:solidFill>
                                  <a:latin typeface="Cambria Math" panose="02040503050406030204" pitchFamily="18" charset="0"/>
                                  <a:cs typeface="Times New Roman" panose="02020603050405020304" pitchFamily="18" charset="0"/>
                                </a:rPr>
                              </m:ctrlPr>
                            </m:sSubSupPr>
                            <m:e>
                              <m:r>
                                <a:rPr lang="vi-VN" sz="800" i="1">
                                  <a:solidFill>
                                    <a:schemeClr val="tx1"/>
                                  </a:solidFill>
                                  <a:latin typeface="Cambria Math" panose="02040503050406030204" pitchFamily="18" charset="0"/>
                                  <a:cs typeface="Times New Roman" panose="02020603050405020304" pitchFamily="18" charset="0"/>
                                </a:rPr>
                                <m:t>𝜃</m:t>
                              </m:r>
                            </m:e>
                            <m:sub>
                              <m:r>
                                <a:rPr lang="vi-VN" sz="800" b="0" i="1">
                                  <a:solidFill>
                                    <a:schemeClr val="tx1"/>
                                  </a:solidFill>
                                  <a:latin typeface="Cambria Math" panose="02040503050406030204" pitchFamily="18" charset="0"/>
                                  <a:cs typeface="Times New Roman" panose="02020603050405020304" pitchFamily="18" charset="0"/>
                                </a:rPr>
                                <m:t>0,2</m:t>
                              </m:r>
                            </m:sub>
                            <m:sup>
                              <m:d>
                                <m:dPr>
                                  <m:ctrlPr>
                                    <a:rPr lang="vi-VN" sz="800" b="0" i="1">
                                      <a:solidFill>
                                        <a:schemeClr val="tx1"/>
                                      </a:solidFill>
                                      <a:latin typeface="Cambria Math" panose="02040503050406030204" pitchFamily="18" charset="0"/>
                                      <a:cs typeface="Times New Roman" panose="02020603050405020304" pitchFamily="18" charset="0"/>
                                    </a:rPr>
                                  </m:ctrlPr>
                                </m:dPr>
                                <m:e>
                                  <m:r>
                                    <a:rPr lang="vi-VN" sz="800" b="0" i="1">
                                      <a:solidFill>
                                        <a:schemeClr val="tx1"/>
                                      </a:solidFill>
                                      <a:latin typeface="Cambria Math" panose="02040503050406030204" pitchFamily="18" charset="0"/>
                                      <a:cs typeface="Times New Roman" panose="02020603050405020304" pitchFamily="18" charset="0"/>
                                    </a:rPr>
                                    <m:t>0</m:t>
                                  </m:r>
                                </m:e>
                              </m:d>
                            </m:sup>
                          </m:sSubSup>
                        </m:e>
                      </m:d>
                    </m:oMath>
                  </m:oMathPara>
                </a14:m>
                <a:endParaRPr lang="vi-VN" sz="800" i="1">
                  <a:solidFill>
                    <a:schemeClr val="tx1"/>
                  </a:solidFill>
                  <a:latin typeface="+mj-lt"/>
                  <a:cs typeface="Times New Roman" panose="02020603050405020304" pitchFamily="18" charset="0"/>
                </a:endParaRPr>
              </a:p>
            </p:txBody>
          </p:sp>
        </mc:Choice>
        <mc:Fallback xmlns="">
          <p:sp>
            <p:nvSpPr>
              <p:cNvPr id="33" name="Hình chữ nhật 84">
                <a:extLst>
                  <a:ext uri="{FF2B5EF4-FFF2-40B4-BE49-F238E27FC236}">
                    <a16:creationId xmlns:a16="http://schemas.microsoft.com/office/drawing/2014/main" id="{4A2786AD-AE36-34F8-C724-88E31AE66190}"/>
                  </a:ext>
                </a:extLst>
              </p:cNvPr>
              <p:cNvSpPr>
                <a:spLocks noRot="1" noChangeAspect="1" noMove="1" noResize="1" noEditPoints="1" noAdjustHandles="1" noChangeArrowheads="1" noChangeShapeType="1" noTextEdit="1"/>
              </p:cNvSpPr>
              <p:nvPr/>
            </p:nvSpPr>
            <p:spPr>
              <a:xfrm>
                <a:off x="2045651" y="1454506"/>
                <a:ext cx="574575" cy="265979"/>
              </a:xfrm>
              <a:prstGeom prst="rect">
                <a:avLst/>
              </a:prstGeom>
              <a:blipFill>
                <a:blip r:embed="rId9"/>
                <a:stretch>
                  <a:fillRect/>
                </a:stretch>
              </a:blipFill>
              <a:ln>
                <a:solidFill>
                  <a:schemeClr val="tx1"/>
                </a:solidFill>
              </a:ln>
            </p:spPr>
            <p:txBody>
              <a:bodyPr/>
              <a:lstStyle/>
              <a:p>
                <a:r>
                  <a:rPr lang="vi-VN">
                    <a:noFill/>
                  </a:rPr>
                  <a:t> </a:t>
                </a:r>
              </a:p>
            </p:txBody>
          </p:sp>
        </mc:Fallback>
      </mc:AlternateContent>
      <p:sp>
        <p:nvSpPr>
          <p:cNvPr id="34" name="Rectangle 33">
            <a:extLst>
              <a:ext uri="{FF2B5EF4-FFF2-40B4-BE49-F238E27FC236}">
                <a16:creationId xmlns:a16="http://schemas.microsoft.com/office/drawing/2014/main" id="{419129C8-DA15-B28D-5FAA-99F4AE88E03F}"/>
              </a:ext>
            </a:extLst>
          </p:cNvPr>
          <p:cNvSpPr/>
          <p:nvPr/>
        </p:nvSpPr>
        <p:spPr>
          <a:xfrm>
            <a:off x="749468" y="927946"/>
            <a:ext cx="1928587" cy="84435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42" name="Đường nối Thẳng 121">
            <a:extLst>
              <a:ext uri="{FF2B5EF4-FFF2-40B4-BE49-F238E27FC236}">
                <a16:creationId xmlns:a16="http://schemas.microsoft.com/office/drawing/2014/main" id="{D754B36E-68FB-BD07-3227-E6CF1BF66770}"/>
              </a:ext>
            </a:extLst>
          </p:cNvPr>
          <p:cNvCxnSpPr>
            <a:cxnSpLocks/>
          </p:cNvCxnSpPr>
          <p:nvPr/>
        </p:nvCxnSpPr>
        <p:spPr>
          <a:xfrm flipV="1">
            <a:off x="960525" y="2191075"/>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3" name="Đường nối Thẳng 5">
            <a:extLst>
              <a:ext uri="{FF2B5EF4-FFF2-40B4-BE49-F238E27FC236}">
                <a16:creationId xmlns:a16="http://schemas.microsoft.com/office/drawing/2014/main" id="{AE64A9E9-8F3D-190F-1512-DCEE983E0D63}"/>
              </a:ext>
            </a:extLst>
          </p:cNvPr>
          <p:cNvCxnSpPr>
            <a:cxnSpLocks/>
          </p:cNvCxnSpPr>
          <p:nvPr/>
        </p:nvCxnSpPr>
        <p:spPr>
          <a:xfrm>
            <a:off x="5336835" y="1256519"/>
            <a:ext cx="6400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Đường nối Thẳng 6">
            <a:extLst>
              <a:ext uri="{FF2B5EF4-FFF2-40B4-BE49-F238E27FC236}">
                <a16:creationId xmlns:a16="http://schemas.microsoft.com/office/drawing/2014/main" id="{E32276FE-CB64-E4CD-3301-EF46163D1BBC}"/>
              </a:ext>
            </a:extLst>
          </p:cNvPr>
          <p:cNvCxnSpPr>
            <a:cxnSpLocks/>
          </p:cNvCxnSpPr>
          <p:nvPr/>
        </p:nvCxnSpPr>
        <p:spPr>
          <a:xfrm>
            <a:off x="5336835" y="1407304"/>
            <a:ext cx="6400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Đường nối Thẳng 7">
            <a:extLst>
              <a:ext uri="{FF2B5EF4-FFF2-40B4-BE49-F238E27FC236}">
                <a16:creationId xmlns:a16="http://schemas.microsoft.com/office/drawing/2014/main" id="{9196F20B-3DBF-F096-870F-5FE4BCD8CB74}"/>
              </a:ext>
            </a:extLst>
          </p:cNvPr>
          <p:cNvCxnSpPr>
            <a:cxnSpLocks/>
          </p:cNvCxnSpPr>
          <p:nvPr/>
        </p:nvCxnSpPr>
        <p:spPr>
          <a:xfrm>
            <a:off x="5336835" y="1558089"/>
            <a:ext cx="6400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Đường nối Thẳng 8">
            <a:extLst>
              <a:ext uri="{FF2B5EF4-FFF2-40B4-BE49-F238E27FC236}">
                <a16:creationId xmlns:a16="http://schemas.microsoft.com/office/drawing/2014/main" id="{A77445AD-9508-4ABC-CD07-6EF6EE904F8B}"/>
              </a:ext>
            </a:extLst>
          </p:cNvPr>
          <p:cNvCxnSpPr>
            <a:cxnSpLocks/>
          </p:cNvCxnSpPr>
          <p:nvPr/>
        </p:nvCxnSpPr>
        <p:spPr>
          <a:xfrm>
            <a:off x="5336835" y="1708875"/>
            <a:ext cx="6400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Đường nối Thẳng 9">
            <a:extLst>
              <a:ext uri="{FF2B5EF4-FFF2-40B4-BE49-F238E27FC236}">
                <a16:creationId xmlns:a16="http://schemas.microsoft.com/office/drawing/2014/main" id="{2C46C759-227C-0DF9-A291-5288EF41B667}"/>
              </a:ext>
            </a:extLst>
          </p:cNvPr>
          <p:cNvCxnSpPr>
            <a:cxnSpLocks/>
            <a:stCxn id="54" idx="0"/>
            <a:endCxn id="50" idx="4"/>
          </p:cNvCxnSpPr>
          <p:nvPr/>
        </p:nvCxnSpPr>
        <p:spPr>
          <a:xfrm flipH="1" flipV="1">
            <a:off x="5517344" y="1303436"/>
            <a:ext cx="1265" cy="686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Đường nối Thẳng 15">
            <a:extLst>
              <a:ext uri="{FF2B5EF4-FFF2-40B4-BE49-F238E27FC236}">
                <a16:creationId xmlns:a16="http://schemas.microsoft.com/office/drawing/2014/main" id="{6F97AF4F-3A3D-7FCC-AE4C-42E5B2013C96}"/>
              </a:ext>
            </a:extLst>
          </p:cNvPr>
          <p:cNvCxnSpPr>
            <a:cxnSpLocks/>
            <a:stCxn id="55" idx="0"/>
            <a:endCxn id="51" idx="4"/>
          </p:cNvCxnSpPr>
          <p:nvPr/>
        </p:nvCxnSpPr>
        <p:spPr>
          <a:xfrm flipV="1">
            <a:off x="5667432" y="1296274"/>
            <a:ext cx="0" cy="22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Đường nối Thẳng 19">
            <a:extLst>
              <a:ext uri="{FF2B5EF4-FFF2-40B4-BE49-F238E27FC236}">
                <a16:creationId xmlns:a16="http://schemas.microsoft.com/office/drawing/2014/main" id="{49AA8082-0F31-7117-153B-DD10F7FB3BBB}"/>
              </a:ext>
            </a:extLst>
          </p:cNvPr>
          <p:cNvCxnSpPr>
            <a:cxnSpLocks/>
            <a:stCxn id="56" idx="0"/>
            <a:endCxn id="52" idx="4"/>
          </p:cNvCxnSpPr>
          <p:nvPr/>
        </p:nvCxnSpPr>
        <p:spPr>
          <a:xfrm flipV="1">
            <a:off x="5807330" y="1300537"/>
            <a:ext cx="0" cy="371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Hình Bầu dục 36">
            <a:extLst>
              <a:ext uri="{FF2B5EF4-FFF2-40B4-BE49-F238E27FC236}">
                <a16:creationId xmlns:a16="http://schemas.microsoft.com/office/drawing/2014/main" id="{793EF509-F6B3-E18C-CF32-07DCBD89FAF7}"/>
              </a:ext>
            </a:extLst>
          </p:cNvPr>
          <p:cNvSpPr/>
          <p:nvPr/>
        </p:nvSpPr>
        <p:spPr>
          <a:xfrm>
            <a:off x="5474482" y="1217712"/>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51" name="Hình Bầu dục 37">
            <a:extLst>
              <a:ext uri="{FF2B5EF4-FFF2-40B4-BE49-F238E27FC236}">
                <a16:creationId xmlns:a16="http://schemas.microsoft.com/office/drawing/2014/main" id="{880D7F0C-5B6F-C582-DFC8-4670B091482F}"/>
              </a:ext>
            </a:extLst>
          </p:cNvPr>
          <p:cNvSpPr/>
          <p:nvPr/>
        </p:nvSpPr>
        <p:spPr>
          <a:xfrm>
            <a:off x="5624570" y="1210550"/>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52" name="Hình Bầu dục 38">
            <a:extLst>
              <a:ext uri="{FF2B5EF4-FFF2-40B4-BE49-F238E27FC236}">
                <a16:creationId xmlns:a16="http://schemas.microsoft.com/office/drawing/2014/main" id="{EBCB3F7B-8C67-2641-BFB8-790A968DC15E}"/>
              </a:ext>
            </a:extLst>
          </p:cNvPr>
          <p:cNvSpPr/>
          <p:nvPr/>
        </p:nvSpPr>
        <p:spPr>
          <a:xfrm>
            <a:off x="5764468" y="1214813"/>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53" name="Rectangle 52">
            <a:extLst>
              <a:ext uri="{FF2B5EF4-FFF2-40B4-BE49-F238E27FC236}">
                <a16:creationId xmlns:a16="http://schemas.microsoft.com/office/drawing/2014/main" id="{6958A53E-21E4-49E7-09AA-EE95D5C13786}"/>
              </a:ext>
            </a:extLst>
          </p:cNvPr>
          <p:cNvSpPr/>
          <p:nvPr/>
        </p:nvSpPr>
        <p:spPr>
          <a:xfrm>
            <a:off x="5219705" y="1134035"/>
            <a:ext cx="862482" cy="64898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4" name="Hình Bầu dục 36">
            <a:extLst>
              <a:ext uri="{FF2B5EF4-FFF2-40B4-BE49-F238E27FC236}">
                <a16:creationId xmlns:a16="http://schemas.microsoft.com/office/drawing/2014/main" id="{C614C3CD-374D-4A4D-FE87-CD762F1EB9D6}"/>
              </a:ext>
            </a:extLst>
          </p:cNvPr>
          <p:cNvSpPr/>
          <p:nvPr/>
        </p:nvSpPr>
        <p:spPr>
          <a:xfrm>
            <a:off x="5475747" y="1372060"/>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55" name="Hình Bầu dục 36">
            <a:extLst>
              <a:ext uri="{FF2B5EF4-FFF2-40B4-BE49-F238E27FC236}">
                <a16:creationId xmlns:a16="http://schemas.microsoft.com/office/drawing/2014/main" id="{D9593AB5-61FC-44F0-2318-EB74E62B13F3}"/>
              </a:ext>
            </a:extLst>
          </p:cNvPr>
          <p:cNvSpPr/>
          <p:nvPr/>
        </p:nvSpPr>
        <p:spPr>
          <a:xfrm>
            <a:off x="5624570" y="1520137"/>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56" name="Hình Bầu dục 36">
            <a:extLst>
              <a:ext uri="{FF2B5EF4-FFF2-40B4-BE49-F238E27FC236}">
                <a16:creationId xmlns:a16="http://schemas.microsoft.com/office/drawing/2014/main" id="{EFD46464-B2B5-066C-3AE6-34735F766239}"/>
              </a:ext>
            </a:extLst>
          </p:cNvPr>
          <p:cNvSpPr/>
          <p:nvPr/>
        </p:nvSpPr>
        <p:spPr>
          <a:xfrm>
            <a:off x="5764468" y="1672100"/>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cxnSp>
        <p:nvCxnSpPr>
          <p:cNvPr id="57" name="Straight Connector 56">
            <a:extLst>
              <a:ext uri="{FF2B5EF4-FFF2-40B4-BE49-F238E27FC236}">
                <a16:creationId xmlns:a16="http://schemas.microsoft.com/office/drawing/2014/main" id="{ED1B5144-A6B3-5EDC-31AD-60783BF62B45}"/>
              </a:ext>
            </a:extLst>
          </p:cNvPr>
          <p:cNvCxnSpPr>
            <a:cxnSpLocks/>
          </p:cNvCxnSpPr>
          <p:nvPr/>
        </p:nvCxnSpPr>
        <p:spPr>
          <a:xfrm>
            <a:off x="765123" y="1769357"/>
            <a:ext cx="385011" cy="188809"/>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08FEEEC7-E564-AA55-C250-1D0B415848E5}"/>
              </a:ext>
            </a:extLst>
          </p:cNvPr>
          <p:cNvCxnSpPr>
            <a:cxnSpLocks/>
          </p:cNvCxnSpPr>
          <p:nvPr/>
        </p:nvCxnSpPr>
        <p:spPr>
          <a:xfrm flipH="1">
            <a:off x="2195622" y="1767833"/>
            <a:ext cx="494096" cy="19033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9A266000-783A-E624-2868-A394A3ADF231}"/>
              </a:ext>
            </a:extLst>
          </p:cNvPr>
          <p:cNvCxnSpPr>
            <a:cxnSpLocks/>
          </p:cNvCxnSpPr>
          <p:nvPr/>
        </p:nvCxnSpPr>
        <p:spPr>
          <a:xfrm>
            <a:off x="5219705" y="1790724"/>
            <a:ext cx="180920" cy="16744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2B634234-7ED3-F39E-1DC9-00B42962A112}"/>
              </a:ext>
            </a:extLst>
          </p:cNvPr>
          <p:cNvCxnSpPr>
            <a:cxnSpLocks/>
          </p:cNvCxnSpPr>
          <p:nvPr/>
        </p:nvCxnSpPr>
        <p:spPr>
          <a:xfrm flipH="1">
            <a:off x="5943182" y="1779354"/>
            <a:ext cx="150431" cy="178812"/>
          </a:xfrm>
          <a:prstGeom prst="line">
            <a:avLst/>
          </a:prstGeom>
          <a:ln>
            <a:prstDash val="lg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1" name="Hình chữ nhật 93">
                <a:extLst>
                  <a:ext uri="{FF2B5EF4-FFF2-40B4-BE49-F238E27FC236}">
                    <a16:creationId xmlns:a16="http://schemas.microsoft.com/office/drawing/2014/main" id="{D4FF69D9-4B57-B0D1-D7EC-DAD5CBC6B186}"/>
                  </a:ext>
                </a:extLst>
              </p:cNvPr>
              <p:cNvSpPr/>
              <p:nvPr/>
            </p:nvSpPr>
            <p:spPr>
              <a:xfrm>
                <a:off x="3315130" y="2743469"/>
                <a:ext cx="884602" cy="43941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vi-VN" sz="1600" b="0" i="1">
                              <a:solidFill>
                                <a:schemeClr val="tx1"/>
                              </a:solidFill>
                              <a:latin typeface="Cambria Math" panose="02040503050406030204" pitchFamily="18" charset="0"/>
                              <a:cs typeface="Times New Roman" panose="02020603050405020304" pitchFamily="18" charset="0"/>
                            </a:rPr>
                          </m:ctrlPr>
                        </m:sSupPr>
                        <m:e>
                          <m:r>
                            <a:rPr lang="vi-VN" sz="1600" i="1">
                              <a:solidFill>
                                <a:schemeClr val="tx1"/>
                              </a:solidFill>
                              <a:latin typeface="Cambria Math" panose="02040503050406030204" pitchFamily="18" charset="0"/>
                              <a:cs typeface="Times New Roman" panose="02020603050405020304" pitchFamily="18" charset="0"/>
                            </a:rPr>
                            <m:t>𝑈</m:t>
                          </m:r>
                        </m:e>
                        <m:sup>
                          <m:r>
                            <a:rPr lang="vi-VN" sz="1600" b="0" i="1">
                              <a:solidFill>
                                <a:schemeClr val="tx1"/>
                              </a:solidFill>
                              <a:latin typeface="Cambria Math" panose="02040503050406030204" pitchFamily="18" charset="0"/>
                              <a:cs typeface="Times New Roman" panose="02020603050405020304" pitchFamily="18" charset="0"/>
                            </a:rPr>
                            <m:t>(1)</m:t>
                          </m:r>
                        </m:sup>
                      </m:sSup>
                      <m:d>
                        <m:dPr>
                          <m:ctrlPr>
                            <a:rPr lang="vi-VN" sz="1600" b="0" i="1">
                              <a:solidFill>
                                <a:schemeClr val="tx1"/>
                              </a:solidFill>
                              <a:latin typeface="Cambria Math" panose="02040503050406030204" pitchFamily="18" charset="0"/>
                              <a:cs typeface="Times New Roman" panose="02020603050405020304" pitchFamily="18" charset="0"/>
                            </a:rPr>
                          </m:ctrlPr>
                        </m:dPr>
                        <m:e>
                          <m:r>
                            <a:rPr lang="vi-VN" sz="1600" b="1" i="1">
                              <a:solidFill>
                                <a:schemeClr val="tx1"/>
                              </a:solidFill>
                              <a:latin typeface="Cambria Math" panose="02040503050406030204" pitchFamily="18" charset="0"/>
                              <a:cs typeface="Times New Roman" panose="02020603050405020304" pitchFamily="18" charset="0"/>
                            </a:rPr>
                            <m:t>𝜽</m:t>
                          </m:r>
                        </m:e>
                      </m:d>
                    </m:oMath>
                  </m:oMathPara>
                </a14:m>
                <a:endParaRPr lang="vi-VN" sz="1600" i="1">
                  <a:solidFill>
                    <a:schemeClr val="tx1"/>
                  </a:solidFill>
                  <a:latin typeface="+mj-lt"/>
                  <a:cs typeface="Times New Roman" panose="02020603050405020304" pitchFamily="18" charset="0"/>
                </a:endParaRPr>
              </a:p>
            </p:txBody>
          </p:sp>
        </mc:Choice>
        <mc:Fallback xmlns="">
          <p:sp>
            <p:nvSpPr>
              <p:cNvPr id="61" name="Hình chữ nhật 93">
                <a:extLst>
                  <a:ext uri="{FF2B5EF4-FFF2-40B4-BE49-F238E27FC236}">
                    <a16:creationId xmlns:a16="http://schemas.microsoft.com/office/drawing/2014/main" id="{D4FF69D9-4B57-B0D1-D7EC-DAD5CBC6B186}"/>
                  </a:ext>
                </a:extLst>
              </p:cNvPr>
              <p:cNvSpPr>
                <a:spLocks noRot="1" noChangeAspect="1" noMove="1" noResize="1" noEditPoints="1" noAdjustHandles="1" noChangeArrowheads="1" noChangeShapeType="1" noTextEdit="1"/>
              </p:cNvSpPr>
              <p:nvPr/>
            </p:nvSpPr>
            <p:spPr>
              <a:xfrm>
                <a:off x="3315130" y="2743469"/>
                <a:ext cx="884602" cy="439412"/>
              </a:xfrm>
              <a:prstGeom prst="rect">
                <a:avLst/>
              </a:prstGeom>
              <a:blipFill>
                <a:blip r:embed="rId10"/>
                <a:stretch>
                  <a:fillRect/>
                </a:stretch>
              </a:blipFill>
              <a:ln w="38100">
                <a:solidFill>
                  <a:schemeClr val="tx1"/>
                </a:solidFill>
              </a:ln>
            </p:spPr>
            <p:txBody>
              <a:bodyPr/>
              <a:lstStyle/>
              <a:p>
                <a:r>
                  <a:rPr lang="vi-VN">
                    <a:noFill/>
                  </a:rPr>
                  <a:t> </a:t>
                </a:r>
              </a:p>
            </p:txBody>
          </p:sp>
        </mc:Fallback>
      </mc:AlternateContent>
      <p:sp>
        <p:nvSpPr>
          <p:cNvPr id="85" name="Rectangle 84">
            <a:extLst>
              <a:ext uri="{FF2B5EF4-FFF2-40B4-BE49-F238E27FC236}">
                <a16:creationId xmlns:a16="http://schemas.microsoft.com/office/drawing/2014/main" id="{E8EBCDB1-2FAA-9A7D-CBBB-F5BC7C8FBF53}"/>
              </a:ext>
            </a:extLst>
          </p:cNvPr>
          <p:cNvSpPr/>
          <p:nvPr/>
        </p:nvSpPr>
        <p:spPr>
          <a:xfrm>
            <a:off x="734579" y="2659002"/>
            <a:ext cx="4062706" cy="60834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2D573E3C-9252-A409-A0A8-FAB348BD72A6}"/>
                  </a:ext>
                </a:extLst>
              </p:cNvPr>
              <p:cNvSpPr txBox="1"/>
              <p:nvPr/>
            </p:nvSpPr>
            <p:spPr>
              <a:xfrm>
                <a:off x="3221378" y="2014473"/>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90" name="TextBox 89">
                <a:extLst>
                  <a:ext uri="{FF2B5EF4-FFF2-40B4-BE49-F238E27FC236}">
                    <a16:creationId xmlns:a16="http://schemas.microsoft.com/office/drawing/2014/main" id="{2D573E3C-9252-A409-A0A8-FAB348BD72A6}"/>
                  </a:ext>
                </a:extLst>
              </p:cNvPr>
              <p:cNvSpPr txBox="1">
                <a:spLocks noRot="1" noChangeAspect="1" noMove="1" noResize="1" noEditPoints="1" noAdjustHandles="1" noChangeArrowheads="1" noChangeShapeType="1" noTextEdit="1"/>
              </p:cNvSpPr>
              <p:nvPr/>
            </p:nvSpPr>
            <p:spPr>
              <a:xfrm>
                <a:off x="3221378" y="2014473"/>
                <a:ext cx="521583" cy="369332"/>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83A8FE81-E132-3C5E-545D-A1A05BB72E94}"/>
                  </a:ext>
                </a:extLst>
              </p:cNvPr>
              <p:cNvSpPr txBox="1"/>
              <p:nvPr/>
            </p:nvSpPr>
            <p:spPr>
              <a:xfrm>
                <a:off x="4275701" y="2720590"/>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91" name="TextBox 90">
                <a:extLst>
                  <a:ext uri="{FF2B5EF4-FFF2-40B4-BE49-F238E27FC236}">
                    <a16:creationId xmlns:a16="http://schemas.microsoft.com/office/drawing/2014/main" id="{83A8FE81-E132-3C5E-545D-A1A05BB72E94}"/>
                  </a:ext>
                </a:extLst>
              </p:cNvPr>
              <p:cNvSpPr txBox="1">
                <a:spLocks noRot="1" noChangeAspect="1" noMove="1" noResize="1" noEditPoints="1" noAdjustHandles="1" noChangeArrowheads="1" noChangeShapeType="1" noTextEdit="1"/>
              </p:cNvSpPr>
              <p:nvPr/>
            </p:nvSpPr>
            <p:spPr>
              <a:xfrm>
                <a:off x="4275701" y="2720590"/>
                <a:ext cx="521583" cy="369332"/>
              </a:xfrm>
              <a:prstGeom prst="rect">
                <a:avLst/>
              </a:prstGeom>
              <a:blipFill>
                <a:blip r:embed="rId12"/>
                <a:stretch>
                  <a:fillRect/>
                </a:stretch>
              </a:blipFill>
            </p:spPr>
            <p:txBody>
              <a:bodyPr/>
              <a:lstStyle/>
              <a:p>
                <a:r>
                  <a:rPr lang="vi-VN">
                    <a:noFill/>
                  </a:rPr>
                  <a:t> </a:t>
                </a:r>
              </a:p>
            </p:txBody>
          </p:sp>
        </mc:Fallback>
      </mc:AlternateContent>
      <p:sp>
        <p:nvSpPr>
          <p:cNvPr id="96" name="TextBox 95">
            <a:extLst>
              <a:ext uri="{FF2B5EF4-FFF2-40B4-BE49-F238E27FC236}">
                <a16:creationId xmlns:a16="http://schemas.microsoft.com/office/drawing/2014/main" id="{5BA9231B-5781-104C-35CC-A049640D60BB}"/>
              </a:ext>
            </a:extLst>
          </p:cNvPr>
          <p:cNvSpPr txBox="1"/>
          <p:nvPr/>
        </p:nvSpPr>
        <p:spPr>
          <a:xfrm>
            <a:off x="4832003" y="2782732"/>
            <a:ext cx="3205477" cy="369332"/>
          </a:xfrm>
          <a:prstGeom prst="rect">
            <a:avLst/>
          </a:prstGeom>
          <a:noFill/>
        </p:spPr>
        <p:txBody>
          <a:bodyPr wrap="square" rtlCol="0">
            <a:spAutoFit/>
          </a:bodyPr>
          <a:lstStyle/>
          <a:p>
            <a:r>
              <a:rPr lang="en-US">
                <a:solidFill>
                  <a:srgbClr val="FF0000"/>
                </a:solidFill>
              </a:rPr>
              <a:t>Deep PQC as deep QNN</a:t>
            </a:r>
            <a:endParaRPr lang="vi-VN">
              <a:solidFill>
                <a:srgbClr val="FF0000"/>
              </a:solidFill>
            </a:endParaRPr>
          </a:p>
        </p:txBody>
      </p:sp>
      <p:sp>
        <p:nvSpPr>
          <p:cNvPr id="97" name="TextBox 96">
            <a:extLst>
              <a:ext uri="{FF2B5EF4-FFF2-40B4-BE49-F238E27FC236}">
                <a16:creationId xmlns:a16="http://schemas.microsoft.com/office/drawing/2014/main" id="{A2263F71-95A5-8674-E3BA-3B28CAADE6DB}"/>
              </a:ext>
            </a:extLst>
          </p:cNvPr>
          <p:cNvSpPr txBox="1"/>
          <p:nvPr/>
        </p:nvSpPr>
        <p:spPr>
          <a:xfrm>
            <a:off x="641307" y="3519757"/>
            <a:ext cx="2211821" cy="369332"/>
          </a:xfrm>
          <a:prstGeom prst="rect">
            <a:avLst/>
          </a:prstGeom>
          <a:noFill/>
        </p:spPr>
        <p:txBody>
          <a:bodyPr wrap="square" rtlCol="0">
            <a:spAutoFit/>
          </a:bodyPr>
          <a:lstStyle/>
          <a:p>
            <a:r>
              <a:rPr lang="en-US"/>
              <a:t>Note that</a:t>
            </a:r>
            <a:endParaRPr lang="vi-VN"/>
          </a:p>
        </p:txBody>
      </p:sp>
      <mc:AlternateContent xmlns:mc="http://schemas.openxmlformats.org/markup-compatibility/2006" xmlns:a14="http://schemas.microsoft.com/office/drawing/2010/main">
        <mc:Choice Requires="a14">
          <p:sp>
            <p:nvSpPr>
              <p:cNvPr id="98" name="Hình chữ nhật 40">
                <a:extLst>
                  <a:ext uri="{FF2B5EF4-FFF2-40B4-BE49-F238E27FC236}">
                    <a16:creationId xmlns:a16="http://schemas.microsoft.com/office/drawing/2014/main" id="{D4033831-B680-B621-9030-DFC4E12CEC02}"/>
                  </a:ext>
                </a:extLst>
              </p:cNvPr>
              <p:cNvSpPr/>
              <p:nvPr/>
            </p:nvSpPr>
            <p:spPr>
              <a:xfrm>
                <a:off x="1790216" y="3501982"/>
                <a:ext cx="1016830" cy="3955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𝑈</m:t>
                      </m:r>
                      <m:d>
                        <m:dPr>
                          <m:ctrlPr>
                            <a:rPr lang="en-US" sz="1400" b="0" i="1" smtClean="0">
                              <a:solidFill>
                                <a:schemeClr val="tx1"/>
                              </a:solidFill>
                              <a:latin typeface="Cambria Math" panose="02040503050406030204" pitchFamily="18" charset="0"/>
                              <a:cs typeface="Times New Roman" panose="02020603050405020304" pitchFamily="18" charset="0"/>
                            </a:rPr>
                          </m:ctrlPr>
                        </m:dPr>
                        <m:e>
                          <m:r>
                            <a:rPr lang="en-US" sz="1400" b="0" i="1" smtClean="0">
                              <a:solidFill>
                                <a:schemeClr val="tx1"/>
                              </a:solidFill>
                              <a:latin typeface="Cambria Math" panose="02040503050406030204" pitchFamily="18" charset="0"/>
                              <a:cs typeface="Times New Roman" panose="02020603050405020304" pitchFamily="18" charset="0"/>
                            </a:rPr>
                            <m:t>𝜃</m:t>
                          </m:r>
                          <m:r>
                            <a:rPr lang="en-US" sz="1400" b="0" i="1" smtClean="0">
                              <a:solidFill>
                                <a:schemeClr val="tx1"/>
                              </a:solidFill>
                              <a:latin typeface="Cambria Math" panose="02040503050406030204" pitchFamily="18" charset="0"/>
                              <a:cs typeface="Times New Roman" panose="02020603050405020304" pitchFamily="18" charset="0"/>
                            </a:rPr>
                            <m:t>,</m:t>
                          </m:r>
                          <m:r>
                            <a:rPr lang="en-US" sz="1400" b="0" i="1" smtClean="0">
                              <a:solidFill>
                                <a:schemeClr val="tx1"/>
                              </a:solidFill>
                              <a:latin typeface="Cambria Math" panose="02040503050406030204" pitchFamily="18" charset="0"/>
                              <a:cs typeface="Times New Roman" panose="02020603050405020304" pitchFamily="18" charset="0"/>
                            </a:rPr>
                            <m:t>𝜆</m:t>
                          </m:r>
                          <m:r>
                            <a:rPr lang="en-US" sz="1400" b="0" i="1" smtClean="0">
                              <a:solidFill>
                                <a:schemeClr val="tx1"/>
                              </a:solidFill>
                              <a:latin typeface="Cambria Math" panose="02040503050406030204" pitchFamily="18" charset="0"/>
                              <a:cs typeface="Times New Roman" panose="02020603050405020304" pitchFamily="18" charset="0"/>
                            </a:rPr>
                            <m:t>,</m:t>
                          </m:r>
                          <m:r>
                            <a:rPr lang="en-US" sz="1400" b="0" i="1" smtClean="0">
                              <a:solidFill>
                                <a:schemeClr val="tx1"/>
                              </a:solidFill>
                              <a:latin typeface="Cambria Math" panose="02040503050406030204" pitchFamily="18" charset="0"/>
                              <a:cs typeface="Times New Roman" panose="02020603050405020304" pitchFamily="18" charset="0"/>
                            </a:rPr>
                            <m:t>𝜙</m:t>
                          </m:r>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98" name="Hình chữ nhật 40">
                <a:extLst>
                  <a:ext uri="{FF2B5EF4-FFF2-40B4-BE49-F238E27FC236}">
                    <a16:creationId xmlns:a16="http://schemas.microsoft.com/office/drawing/2014/main" id="{D4033831-B680-B621-9030-DFC4E12CEC02}"/>
                  </a:ext>
                </a:extLst>
              </p:cNvPr>
              <p:cNvSpPr>
                <a:spLocks noRot="1" noChangeAspect="1" noMove="1" noResize="1" noEditPoints="1" noAdjustHandles="1" noChangeArrowheads="1" noChangeShapeType="1" noTextEdit="1"/>
              </p:cNvSpPr>
              <p:nvPr/>
            </p:nvSpPr>
            <p:spPr>
              <a:xfrm>
                <a:off x="1790216" y="3501982"/>
                <a:ext cx="1016830" cy="395559"/>
              </a:xfrm>
              <a:prstGeom prst="rect">
                <a:avLst/>
              </a:prstGeom>
              <a:blipFill>
                <a:blip r:embed="rId13"/>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9" name="Hình chữ nhật 40">
                <a:extLst>
                  <a:ext uri="{FF2B5EF4-FFF2-40B4-BE49-F238E27FC236}">
                    <a16:creationId xmlns:a16="http://schemas.microsoft.com/office/drawing/2014/main" id="{E681CA9C-52AF-1D6D-02A9-A773FFFCE383}"/>
                  </a:ext>
                </a:extLst>
              </p:cNvPr>
              <p:cNvSpPr/>
              <p:nvPr/>
            </p:nvSpPr>
            <p:spPr>
              <a:xfrm>
                <a:off x="3326822" y="3501608"/>
                <a:ext cx="586895" cy="3955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1400" b="0" i="1" smtClean="0">
                              <a:solidFill>
                                <a:schemeClr val="tx1"/>
                              </a:solidFill>
                              <a:latin typeface="Cambria Math" panose="02040503050406030204" pitchFamily="18" charset="0"/>
                              <a:cs typeface="Times New Roman" panose="02020603050405020304" pitchFamily="18" charset="0"/>
                            </a:rPr>
                          </m:ctrlPr>
                        </m:sSubPr>
                        <m:e>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𝑅</m:t>
                          </m:r>
                        </m:e>
                        <m:sub>
                          <m:r>
                            <a:rPr lang="en-US" sz="1400" b="0" i="1" smtClean="0">
                              <a:solidFill>
                                <a:schemeClr val="tx1"/>
                              </a:solidFill>
                              <a:latin typeface="Cambria Math" panose="02040503050406030204" pitchFamily="18" charset="0"/>
                              <a:cs typeface="Times New Roman" panose="02020603050405020304" pitchFamily="18" charset="0"/>
                            </a:rPr>
                            <m:t>𝑋</m:t>
                          </m:r>
                        </m:sub>
                      </m:sSub>
                      <m:d>
                        <m:dPr>
                          <m:ctrlPr>
                            <a:rPr lang="en-US" sz="1400" b="0" i="1" smtClean="0">
                              <a:solidFill>
                                <a:schemeClr val="tx1"/>
                              </a:solidFill>
                              <a:latin typeface="Cambria Math" panose="02040503050406030204" pitchFamily="18" charset="0"/>
                              <a:cs typeface="Times New Roman" panose="02020603050405020304" pitchFamily="18" charset="0"/>
                            </a:rPr>
                          </m:ctrlPr>
                        </m:dPr>
                        <m:e>
                          <m:r>
                            <a:rPr lang="en-US" sz="1400" b="0" i="1" smtClean="0">
                              <a:solidFill>
                                <a:schemeClr val="tx1"/>
                              </a:solidFill>
                              <a:latin typeface="Cambria Math" panose="02040503050406030204" pitchFamily="18" charset="0"/>
                              <a:cs typeface="Times New Roman" panose="02020603050405020304" pitchFamily="18" charset="0"/>
                            </a:rPr>
                            <m:t>𝜃</m:t>
                          </m:r>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99" name="Hình chữ nhật 40">
                <a:extLst>
                  <a:ext uri="{FF2B5EF4-FFF2-40B4-BE49-F238E27FC236}">
                    <a16:creationId xmlns:a16="http://schemas.microsoft.com/office/drawing/2014/main" id="{E681CA9C-52AF-1D6D-02A9-A773FFFCE383}"/>
                  </a:ext>
                </a:extLst>
              </p:cNvPr>
              <p:cNvSpPr>
                <a:spLocks noRot="1" noChangeAspect="1" noMove="1" noResize="1" noEditPoints="1" noAdjustHandles="1" noChangeArrowheads="1" noChangeShapeType="1" noTextEdit="1"/>
              </p:cNvSpPr>
              <p:nvPr/>
            </p:nvSpPr>
            <p:spPr>
              <a:xfrm>
                <a:off x="3326822" y="3501608"/>
                <a:ext cx="586895" cy="395559"/>
              </a:xfrm>
              <a:prstGeom prst="rect">
                <a:avLst/>
              </a:prstGeom>
              <a:blipFill>
                <a:blip r:embed="rId1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0" name="Hình chữ nhật 40">
                <a:extLst>
                  <a:ext uri="{FF2B5EF4-FFF2-40B4-BE49-F238E27FC236}">
                    <a16:creationId xmlns:a16="http://schemas.microsoft.com/office/drawing/2014/main" id="{BA1A5CB3-05EC-111F-45C7-3A6B23998DAE}"/>
                  </a:ext>
                </a:extLst>
              </p:cNvPr>
              <p:cNvSpPr/>
              <p:nvPr/>
            </p:nvSpPr>
            <p:spPr>
              <a:xfrm>
                <a:off x="3983987" y="3501607"/>
                <a:ext cx="586895" cy="3955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1400" b="0" i="1" smtClean="0">
                              <a:solidFill>
                                <a:schemeClr val="tx1"/>
                              </a:solidFill>
                              <a:latin typeface="Cambria Math" panose="02040503050406030204" pitchFamily="18" charset="0"/>
                              <a:cs typeface="Times New Roman" panose="02020603050405020304" pitchFamily="18" charset="0"/>
                            </a:rPr>
                          </m:ctrlPr>
                        </m:sSubPr>
                        <m:e>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𝑅</m:t>
                          </m:r>
                        </m:e>
                        <m:sub>
                          <m:r>
                            <a:rPr lang="en-US" sz="1400" b="0" i="1" smtClean="0">
                              <a:solidFill>
                                <a:schemeClr val="tx1"/>
                              </a:solidFill>
                              <a:latin typeface="Cambria Math" panose="02040503050406030204" pitchFamily="18" charset="0"/>
                              <a:cs typeface="Times New Roman" panose="02020603050405020304" pitchFamily="18" charset="0"/>
                            </a:rPr>
                            <m:t>𝑌</m:t>
                          </m:r>
                        </m:sub>
                      </m:sSub>
                      <m:d>
                        <m:dPr>
                          <m:ctrlPr>
                            <a:rPr lang="en-US" sz="1400" b="0" i="1" smtClean="0">
                              <a:solidFill>
                                <a:schemeClr val="tx1"/>
                              </a:solidFill>
                              <a:latin typeface="Cambria Math" panose="02040503050406030204" pitchFamily="18" charset="0"/>
                              <a:cs typeface="Times New Roman" panose="02020603050405020304" pitchFamily="18" charset="0"/>
                            </a:rPr>
                          </m:ctrlPr>
                        </m:dPr>
                        <m:e>
                          <m:r>
                            <a:rPr lang="en-US" sz="1400" b="0" i="1" smtClean="0">
                              <a:solidFill>
                                <a:schemeClr val="tx1"/>
                              </a:solidFill>
                              <a:latin typeface="Cambria Math" panose="02040503050406030204" pitchFamily="18" charset="0"/>
                              <a:cs typeface="Times New Roman" panose="02020603050405020304" pitchFamily="18" charset="0"/>
                            </a:rPr>
                            <m:t>𝜃</m:t>
                          </m:r>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00" name="Hình chữ nhật 40">
                <a:extLst>
                  <a:ext uri="{FF2B5EF4-FFF2-40B4-BE49-F238E27FC236}">
                    <a16:creationId xmlns:a16="http://schemas.microsoft.com/office/drawing/2014/main" id="{BA1A5CB3-05EC-111F-45C7-3A6B23998DAE}"/>
                  </a:ext>
                </a:extLst>
              </p:cNvPr>
              <p:cNvSpPr>
                <a:spLocks noRot="1" noChangeAspect="1" noMove="1" noResize="1" noEditPoints="1" noAdjustHandles="1" noChangeArrowheads="1" noChangeShapeType="1" noTextEdit="1"/>
              </p:cNvSpPr>
              <p:nvPr/>
            </p:nvSpPr>
            <p:spPr>
              <a:xfrm>
                <a:off x="3983987" y="3501607"/>
                <a:ext cx="586895" cy="395559"/>
              </a:xfrm>
              <a:prstGeom prst="rect">
                <a:avLst/>
              </a:prstGeom>
              <a:blipFill>
                <a:blip r:embed="rId1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2" name="Hình chữ nhật 40">
                <a:extLst>
                  <a:ext uri="{FF2B5EF4-FFF2-40B4-BE49-F238E27FC236}">
                    <a16:creationId xmlns:a16="http://schemas.microsoft.com/office/drawing/2014/main" id="{34933F0C-6EF1-7A61-6059-0BBB990328DB}"/>
                  </a:ext>
                </a:extLst>
              </p:cNvPr>
              <p:cNvSpPr/>
              <p:nvPr/>
            </p:nvSpPr>
            <p:spPr>
              <a:xfrm>
                <a:off x="4641152" y="3501607"/>
                <a:ext cx="586895" cy="3955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1400" b="0" i="1" smtClean="0">
                              <a:solidFill>
                                <a:schemeClr val="tx1"/>
                              </a:solidFill>
                              <a:latin typeface="Cambria Math" panose="02040503050406030204" pitchFamily="18" charset="0"/>
                              <a:cs typeface="Times New Roman" panose="02020603050405020304" pitchFamily="18" charset="0"/>
                            </a:rPr>
                          </m:ctrlPr>
                        </m:sSubPr>
                        <m:e>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𝑅</m:t>
                          </m:r>
                        </m:e>
                        <m:sub>
                          <m:r>
                            <a:rPr lang="en-US" sz="1400" b="0" i="1" smtClean="0">
                              <a:solidFill>
                                <a:schemeClr val="tx1"/>
                              </a:solidFill>
                              <a:latin typeface="Cambria Math" panose="02040503050406030204" pitchFamily="18" charset="0"/>
                              <a:cs typeface="Times New Roman" panose="02020603050405020304" pitchFamily="18" charset="0"/>
                            </a:rPr>
                            <m:t>𝑍</m:t>
                          </m:r>
                        </m:sub>
                      </m:sSub>
                      <m:d>
                        <m:dPr>
                          <m:ctrlPr>
                            <a:rPr lang="en-US" sz="1400" b="0" i="1" smtClean="0">
                              <a:solidFill>
                                <a:schemeClr val="tx1"/>
                              </a:solidFill>
                              <a:latin typeface="Cambria Math" panose="02040503050406030204" pitchFamily="18" charset="0"/>
                              <a:cs typeface="Times New Roman" panose="02020603050405020304" pitchFamily="18" charset="0"/>
                            </a:rPr>
                          </m:ctrlPr>
                        </m:dPr>
                        <m:e>
                          <m:r>
                            <a:rPr lang="en-US" sz="1400" b="0" i="1" smtClean="0">
                              <a:solidFill>
                                <a:schemeClr val="tx1"/>
                              </a:solidFill>
                              <a:latin typeface="Cambria Math" panose="02040503050406030204" pitchFamily="18" charset="0"/>
                              <a:cs typeface="Times New Roman" panose="02020603050405020304" pitchFamily="18" charset="0"/>
                            </a:rPr>
                            <m:t>𝜃</m:t>
                          </m:r>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02" name="Hình chữ nhật 40">
                <a:extLst>
                  <a:ext uri="{FF2B5EF4-FFF2-40B4-BE49-F238E27FC236}">
                    <a16:creationId xmlns:a16="http://schemas.microsoft.com/office/drawing/2014/main" id="{34933F0C-6EF1-7A61-6059-0BBB990328DB}"/>
                  </a:ext>
                </a:extLst>
              </p:cNvPr>
              <p:cNvSpPr>
                <a:spLocks noRot="1" noChangeAspect="1" noMove="1" noResize="1" noEditPoints="1" noAdjustHandles="1" noChangeArrowheads="1" noChangeShapeType="1" noTextEdit="1"/>
              </p:cNvSpPr>
              <p:nvPr/>
            </p:nvSpPr>
            <p:spPr>
              <a:xfrm>
                <a:off x="4641152" y="3501607"/>
                <a:ext cx="586895" cy="395559"/>
              </a:xfrm>
              <a:prstGeom prst="rect">
                <a:avLst/>
              </a:prstGeom>
              <a:blipFill>
                <a:blip r:embed="rId16"/>
                <a:stretch>
                  <a:fillRect/>
                </a:stretch>
              </a:blipFill>
              <a:ln>
                <a:solidFill>
                  <a:schemeClr val="tx1"/>
                </a:solidFill>
              </a:ln>
            </p:spPr>
            <p:txBody>
              <a:bodyPr/>
              <a:lstStyle/>
              <a:p>
                <a:r>
                  <a:rPr lang="vi-VN">
                    <a:noFill/>
                  </a:rPr>
                  <a:t> </a:t>
                </a:r>
              </a:p>
            </p:txBody>
          </p:sp>
        </mc:Fallback>
      </mc:AlternateContent>
      <p:sp>
        <p:nvSpPr>
          <p:cNvPr id="103" name="Double Bracket 102">
            <a:extLst>
              <a:ext uri="{FF2B5EF4-FFF2-40B4-BE49-F238E27FC236}">
                <a16:creationId xmlns:a16="http://schemas.microsoft.com/office/drawing/2014/main" id="{5DD5EA93-CE09-4B67-1EFD-59599B1253AC}"/>
              </a:ext>
            </a:extLst>
          </p:cNvPr>
          <p:cNvSpPr/>
          <p:nvPr/>
        </p:nvSpPr>
        <p:spPr>
          <a:xfrm>
            <a:off x="3239161" y="3425725"/>
            <a:ext cx="2046156" cy="557842"/>
          </a:xfrm>
          <a:prstGeom prst="bracketPair">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575FD839-018A-11DF-8758-CE0E90D8905A}"/>
                  </a:ext>
                </a:extLst>
              </p:cNvPr>
              <p:cNvSpPr txBox="1"/>
              <p:nvPr/>
            </p:nvSpPr>
            <p:spPr>
              <a:xfrm>
                <a:off x="5270263" y="3782847"/>
                <a:ext cx="579885" cy="36933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sz="1800" b="0" i="1" smtClean="0">
                          <a:solidFill>
                            <a:schemeClr val="tx1"/>
                          </a:solidFill>
                          <a:latin typeface="Cambria Math" panose="02040503050406030204" pitchFamily="18" charset="0"/>
                          <a:cs typeface="Times New Roman" panose="02020603050405020304" pitchFamily="18" charset="0"/>
                        </a:rPr>
                        <m:t>×</m:t>
                      </m:r>
                      <m:r>
                        <a:rPr lang="en-US" sz="1800" b="0" i="1" smtClean="0">
                          <a:solidFill>
                            <a:schemeClr val="tx1"/>
                          </a:solidFill>
                          <a:latin typeface="Cambria Math" panose="02040503050406030204" pitchFamily="18" charset="0"/>
                          <a:cs typeface="Times New Roman" panose="02020603050405020304" pitchFamily="18" charset="0"/>
                        </a:rPr>
                        <m:t>𝐾</m:t>
                      </m:r>
                    </m:oMath>
                  </m:oMathPara>
                </a14:m>
                <a:endParaRPr lang="vi-VN" sz="18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05" name="TextBox 104">
                <a:extLst>
                  <a:ext uri="{FF2B5EF4-FFF2-40B4-BE49-F238E27FC236}">
                    <a16:creationId xmlns:a16="http://schemas.microsoft.com/office/drawing/2014/main" id="{575FD839-018A-11DF-8758-CE0E90D8905A}"/>
                  </a:ext>
                </a:extLst>
              </p:cNvPr>
              <p:cNvSpPr txBox="1">
                <a:spLocks noRot="1" noChangeAspect="1" noMove="1" noResize="1" noEditPoints="1" noAdjustHandles="1" noChangeArrowheads="1" noChangeShapeType="1" noTextEdit="1"/>
              </p:cNvSpPr>
              <p:nvPr/>
            </p:nvSpPr>
            <p:spPr>
              <a:xfrm>
                <a:off x="5270263" y="3782847"/>
                <a:ext cx="579885" cy="369332"/>
              </a:xfrm>
              <a:prstGeom prst="rect">
                <a:avLst/>
              </a:prstGeom>
              <a:blipFill>
                <a:blip r:embed="rId1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B4906760-3496-050D-54A0-28FE5166B0B7}"/>
                  </a:ext>
                </a:extLst>
              </p:cNvPr>
              <p:cNvSpPr txBox="1"/>
              <p:nvPr/>
            </p:nvSpPr>
            <p:spPr>
              <a:xfrm>
                <a:off x="2756202" y="3509091"/>
                <a:ext cx="579885" cy="36933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sz="1800" b="0" i="1" smtClean="0">
                          <a:solidFill>
                            <a:schemeClr val="tx1"/>
                          </a:solidFill>
                          <a:latin typeface="Cambria Math" panose="02040503050406030204" pitchFamily="18" charset="0"/>
                          <a:cs typeface="Times New Roman" panose="02020603050405020304" pitchFamily="18" charset="0"/>
                        </a:rPr>
                        <m:t>≡</m:t>
                      </m:r>
                    </m:oMath>
                  </m:oMathPara>
                </a14:m>
                <a:endParaRPr lang="vi-VN" sz="18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06" name="TextBox 105">
                <a:extLst>
                  <a:ext uri="{FF2B5EF4-FFF2-40B4-BE49-F238E27FC236}">
                    <a16:creationId xmlns:a16="http://schemas.microsoft.com/office/drawing/2014/main" id="{B4906760-3496-050D-54A0-28FE5166B0B7}"/>
                  </a:ext>
                </a:extLst>
              </p:cNvPr>
              <p:cNvSpPr txBox="1">
                <a:spLocks noRot="1" noChangeAspect="1" noMove="1" noResize="1" noEditPoints="1" noAdjustHandles="1" noChangeArrowheads="1" noChangeShapeType="1" noTextEdit="1"/>
              </p:cNvSpPr>
              <p:nvPr/>
            </p:nvSpPr>
            <p:spPr>
              <a:xfrm>
                <a:off x="2756202" y="3509091"/>
                <a:ext cx="579885" cy="369332"/>
              </a:xfrm>
              <a:prstGeom prst="rect">
                <a:avLst/>
              </a:prstGeom>
              <a:blipFill>
                <a:blip r:embed="rId18"/>
                <a:stretch>
                  <a:fillRect/>
                </a:stretch>
              </a:blipFill>
            </p:spPr>
            <p:txBody>
              <a:bodyPr/>
              <a:lstStyle/>
              <a:p>
                <a:r>
                  <a:rPr lang="vi-VN">
                    <a:noFill/>
                  </a:rPr>
                  <a:t> </a:t>
                </a:r>
              </a:p>
            </p:txBody>
          </p:sp>
        </mc:Fallback>
      </mc:AlternateContent>
      <p:sp>
        <p:nvSpPr>
          <p:cNvPr id="117" name="TextBox 116">
            <a:extLst>
              <a:ext uri="{FF2B5EF4-FFF2-40B4-BE49-F238E27FC236}">
                <a16:creationId xmlns:a16="http://schemas.microsoft.com/office/drawing/2014/main" id="{2E2701C7-8729-A246-6581-3692A18E7059}"/>
              </a:ext>
            </a:extLst>
          </p:cNvPr>
          <p:cNvSpPr txBox="1"/>
          <p:nvPr/>
        </p:nvSpPr>
        <p:spPr>
          <a:xfrm>
            <a:off x="677086" y="4215487"/>
            <a:ext cx="829982" cy="369332"/>
          </a:xfrm>
          <a:prstGeom prst="rect">
            <a:avLst/>
          </a:prstGeom>
          <a:noFill/>
        </p:spPr>
        <p:txBody>
          <a:bodyPr wrap="square" rtlCol="0">
            <a:spAutoFit/>
          </a:bodyPr>
          <a:lstStyle/>
          <a:p>
            <a:r>
              <a:rPr lang="en-US"/>
              <a:t>Then</a:t>
            </a:r>
            <a:endParaRPr lang="vi-VN"/>
          </a:p>
        </p:txBody>
      </p:sp>
      <p:sp>
        <p:nvSpPr>
          <p:cNvPr id="118" name="Hình chữ nhật 40">
            <a:extLst>
              <a:ext uri="{FF2B5EF4-FFF2-40B4-BE49-F238E27FC236}">
                <a16:creationId xmlns:a16="http://schemas.microsoft.com/office/drawing/2014/main" id="{2FAAF332-4AE7-0165-2DB7-7B782B0FFCE6}"/>
              </a:ext>
            </a:extLst>
          </p:cNvPr>
          <p:cNvSpPr/>
          <p:nvPr/>
        </p:nvSpPr>
        <p:spPr>
          <a:xfrm>
            <a:off x="1790216" y="4139490"/>
            <a:ext cx="1277662" cy="6489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Body)"/>
                <a:cs typeface="Times New Roman" panose="02020603050405020304" pitchFamily="18" charset="0"/>
              </a:rPr>
              <a:t>Parameterized layer</a:t>
            </a:r>
            <a:endParaRPr lang="vi-VN" sz="1400">
              <a:solidFill>
                <a:schemeClr val="tx1"/>
              </a:solidFill>
              <a:latin typeface="Calibri (Body)"/>
              <a:cs typeface="Times New Roman" panose="02020603050405020304" pitchFamily="18" charset="0"/>
            </a:endParaRPr>
          </a:p>
        </p:txBody>
      </p:sp>
      <p:sp>
        <p:nvSpPr>
          <p:cNvPr id="119" name="Hình chữ nhật 40">
            <a:extLst>
              <a:ext uri="{FF2B5EF4-FFF2-40B4-BE49-F238E27FC236}">
                <a16:creationId xmlns:a16="http://schemas.microsoft.com/office/drawing/2014/main" id="{A0C39437-20CB-C3E4-7945-0CA890A94BE4}"/>
              </a:ext>
            </a:extLst>
          </p:cNvPr>
          <p:cNvSpPr/>
          <p:nvPr/>
        </p:nvSpPr>
        <p:spPr>
          <a:xfrm>
            <a:off x="3185007" y="4139490"/>
            <a:ext cx="942493" cy="6489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Body)"/>
                <a:cs typeface="Times New Roman" panose="02020603050405020304" pitchFamily="18" charset="0"/>
              </a:rPr>
              <a:t>Entangled layer</a:t>
            </a:r>
            <a:endParaRPr lang="vi-VN" sz="1400">
              <a:solidFill>
                <a:schemeClr val="tx1"/>
              </a:solidFill>
              <a:latin typeface="Calibri (Body)"/>
              <a:cs typeface="Times New Roman" panose="02020603050405020304" pitchFamily="18" charset="0"/>
            </a:endParaRPr>
          </a:p>
        </p:txBody>
      </p:sp>
      <p:sp>
        <p:nvSpPr>
          <p:cNvPr id="122" name="Hình chữ nhật 40">
            <a:extLst>
              <a:ext uri="{FF2B5EF4-FFF2-40B4-BE49-F238E27FC236}">
                <a16:creationId xmlns:a16="http://schemas.microsoft.com/office/drawing/2014/main" id="{2E4B7AA9-B009-370F-A1A7-182DC03378DB}"/>
              </a:ext>
            </a:extLst>
          </p:cNvPr>
          <p:cNvSpPr/>
          <p:nvPr/>
        </p:nvSpPr>
        <p:spPr>
          <a:xfrm>
            <a:off x="4239682" y="4135622"/>
            <a:ext cx="1277662" cy="6489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Body)"/>
                <a:cs typeface="Times New Roman" panose="02020603050405020304" pitchFamily="18" charset="0"/>
              </a:rPr>
              <a:t>Parameterized layer</a:t>
            </a:r>
            <a:endParaRPr lang="vi-VN" sz="1400">
              <a:solidFill>
                <a:schemeClr val="tx1"/>
              </a:solidFill>
              <a:latin typeface="Calibri (Body)"/>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81417716-5422-F715-7AB3-7E435983A9A4}"/>
                  </a:ext>
                </a:extLst>
              </p:cNvPr>
              <p:cNvSpPr txBox="1"/>
              <p:nvPr/>
            </p:nvSpPr>
            <p:spPr>
              <a:xfrm>
                <a:off x="5599816" y="4213669"/>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124" name="TextBox 123">
                <a:extLst>
                  <a:ext uri="{FF2B5EF4-FFF2-40B4-BE49-F238E27FC236}">
                    <a16:creationId xmlns:a16="http://schemas.microsoft.com/office/drawing/2014/main" id="{81417716-5422-F715-7AB3-7E435983A9A4}"/>
                  </a:ext>
                </a:extLst>
              </p:cNvPr>
              <p:cNvSpPr txBox="1">
                <a:spLocks noRot="1" noChangeAspect="1" noMove="1" noResize="1" noEditPoints="1" noAdjustHandles="1" noChangeArrowheads="1" noChangeShapeType="1" noTextEdit="1"/>
              </p:cNvSpPr>
              <p:nvPr/>
            </p:nvSpPr>
            <p:spPr>
              <a:xfrm>
                <a:off x="5599816" y="4213669"/>
                <a:ext cx="521583" cy="369332"/>
              </a:xfrm>
              <a:prstGeom prst="rect">
                <a:avLst/>
              </a:prstGeom>
              <a:blipFill>
                <a:blip r:embed="rId19"/>
                <a:stretch>
                  <a:fillRect/>
                </a:stretch>
              </a:blipFill>
            </p:spPr>
            <p:txBody>
              <a:bodyPr/>
              <a:lstStyle/>
              <a:p>
                <a:r>
                  <a:rPr lang="vi-VN">
                    <a:noFill/>
                  </a:rPr>
                  <a:t> </a:t>
                </a:r>
              </a:p>
            </p:txBody>
          </p:sp>
        </mc:Fallback>
      </mc:AlternateContent>
      <p:sp>
        <p:nvSpPr>
          <p:cNvPr id="125" name="TextBox 124">
            <a:extLst>
              <a:ext uri="{FF2B5EF4-FFF2-40B4-BE49-F238E27FC236}">
                <a16:creationId xmlns:a16="http://schemas.microsoft.com/office/drawing/2014/main" id="{F3CE250A-67AD-D703-5337-FEA9091378FA}"/>
              </a:ext>
            </a:extLst>
          </p:cNvPr>
          <p:cNvSpPr txBox="1"/>
          <p:nvPr/>
        </p:nvSpPr>
        <p:spPr>
          <a:xfrm>
            <a:off x="6116102" y="3347393"/>
            <a:ext cx="2841899" cy="646331"/>
          </a:xfrm>
          <a:prstGeom prst="rect">
            <a:avLst/>
          </a:prstGeom>
          <a:noFill/>
        </p:spPr>
        <p:txBody>
          <a:bodyPr wrap="square" rtlCol="0">
            <a:spAutoFit/>
          </a:bodyPr>
          <a:lstStyle/>
          <a:p>
            <a:r>
              <a:rPr lang="en-US">
                <a:solidFill>
                  <a:srgbClr val="FF0000"/>
                </a:solidFill>
              </a:rPr>
              <a:t>Successive parameterized gates are meaningless</a:t>
            </a:r>
            <a:endParaRPr lang="vi-VN">
              <a:solidFill>
                <a:srgbClr val="FF0000"/>
              </a:solidFill>
            </a:endParaRPr>
          </a:p>
        </p:txBody>
      </p:sp>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F12859E4-6F04-E2D9-ACF1-BB1FBF6322A4}"/>
                  </a:ext>
                </a:extLst>
              </p:cNvPr>
              <p:cNvSpPr txBox="1"/>
              <p:nvPr/>
            </p:nvSpPr>
            <p:spPr>
              <a:xfrm>
                <a:off x="6116101" y="3968451"/>
                <a:ext cx="2841899" cy="923330"/>
              </a:xfrm>
              <a:prstGeom prst="rect">
                <a:avLst/>
              </a:prstGeom>
              <a:noFill/>
            </p:spPr>
            <p:txBody>
              <a:bodyPr wrap="square" rtlCol="0">
                <a:spAutoFit/>
              </a:bodyPr>
              <a:lstStyle/>
              <a:p>
                <a:r>
                  <a:rPr lang="en-US">
                    <a:solidFill>
                      <a:srgbClr val="FF0000"/>
                    </a:solidFill>
                  </a:rPr>
                  <a:t>Entangled gates (</a:t>
                </a:r>
                <a14:m>
                  <m:oMath xmlns:m="http://schemas.openxmlformats.org/officeDocument/2006/math">
                    <m:r>
                      <a:rPr lang="en-US" i="1" smtClean="0">
                        <a:solidFill>
                          <a:srgbClr val="FF0000"/>
                        </a:solidFill>
                        <a:latin typeface="Cambria Math" panose="02040503050406030204" pitchFamily="18" charset="0"/>
                      </a:rPr>
                      <m:t>𝐶𝑋</m:t>
                    </m:r>
                  </m:oMath>
                </a14:m>
                <a:r>
                  <a:rPr lang="en-US">
                    <a:solidFill>
                      <a:srgbClr val="FF0000"/>
                    </a:solidFill>
                  </a:rPr>
                  <a:t>. </a:t>
                </a:r>
                <a14:m>
                  <m:oMath xmlns:m="http://schemas.openxmlformats.org/officeDocument/2006/math">
                    <m:r>
                      <a:rPr lang="en-US" i="1" smtClean="0">
                        <a:solidFill>
                          <a:srgbClr val="FF0000"/>
                        </a:solidFill>
                        <a:latin typeface="Cambria Math" panose="02040503050406030204" pitchFamily="18" charset="0"/>
                      </a:rPr>
                      <m:t>𝑀𝐶𝑋</m:t>
                    </m:r>
                  </m:oMath>
                </a14:m>
                <a:r>
                  <a:rPr lang="en-US">
                    <a:solidFill>
                      <a:srgbClr val="FF0000"/>
                    </a:solidFill>
                  </a:rPr>
                  <a:t>, Control-</a:t>
                </a:r>
                <a14:m>
                  <m:oMath xmlns:m="http://schemas.openxmlformats.org/officeDocument/2006/math">
                    <m:r>
                      <a:rPr lang="en-US" i="1" smtClean="0">
                        <a:solidFill>
                          <a:srgbClr val="FF0000"/>
                        </a:solidFill>
                        <a:latin typeface="Cambria Math" panose="02040503050406030204" pitchFamily="18" charset="0"/>
                      </a:rPr>
                      <m:t>𝑈</m:t>
                    </m:r>
                  </m:oMath>
                </a14:m>
                <a:r>
                  <a:rPr lang="en-US">
                    <a:solidFill>
                      <a:srgbClr val="FF0000"/>
                    </a:solidFill>
                  </a:rPr>
                  <a:t>, ...) should be appended in the middle</a:t>
                </a:r>
              </a:p>
            </p:txBody>
          </p:sp>
        </mc:Choice>
        <mc:Fallback xmlns="">
          <p:sp>
            <p:nvSpPr>
              <p:cNvPr id="126" name="TextBox 125">
                <a:extLst>
                  <a:ext uri="{FF2B5EF4-FFF2-40B4-BE49-F238E27FC236}">
                    <a16:creationId xmlns:a16="http://schemas.microsoft.com/office/drawing/2014/main" id="{F12859E4-6F04-E2D9-ACF1-BB1FBF6322A4}"/>
                  </a:ext>
                </a:extLst>
              </p:cNvPr>
              <p:cNvSpPr txBox="1">
                <a:spLocks noRot="1" noChangeAspect="1" noMove="1" noResize="1" noEditPoints="1" noAdjustHandles="1" noChangeArrowheads="1" noChangeShapeType="1" noTextEdit="1"/>
              </p:cNvSpPr>
              <p:nvPr/>
            </p:nvSpPr>
            <p:spPr>
              <a:xfrm>
                <a:off x="6116101" y="3968451"/>
                <a:ext cx="2841899" cy="923330"/>
              </a:xfrm>
              <a:prstGeom prst="rect">
                <a:avLst/>
              </a:prstGeom>
              <a:blipFill>
                <a:blip r:embed="rId20"/>
                <a:stretch>
                  <a:fillRect l="-1717" t="-3974" b="-9934"/>
                </a:stretch>
              </a:blipFill>
            </p:spPr>
            <p:txBody>
              <a:bodyPr/>
              <a:lstStyle/>
              <a:p>
                <a:r>
                  <a:rPr lang="vi-VN">
                    <a:noFill/>
                  </a:rPr>
                  <a:t> </a:t>
                </a:r>
              </a:p>
            </p:txBody>
          </p:sp>
        </mc:Fallback>
      </mc:AlternateContent>
    </p:spTree>
    <p:extLst>
      <p:ext uri="{BB962C8B-B14F-4D97-AF65-F5344CB8AC3E}">
        <p14:creationId xmlns:p14="http://schemas.microsoft.com/office/powerpoint/2010/main" val="20991450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220F8FBE-952F-9B9B-23D2-58E76D708160}"/>
                  </a:ext>
                </a:extLst>
              </p:cNvPr>
              <p:cNvGraphicFramePr>
                <a:graphicFrameLocks noGrp="1"/>
              </p:cNvGraphicFramePr>
              <p:nvPr>
                <p:ph idx="1"/>
                <p:extLst>
                  <p:ext uri="{D42A27DB-BD31-4B8C-83A1-F6EECF244321}">
                    <p14:modId xmlns:p14="http://schemas.microsoft.com/office/powerpoint/2010/main" val="1123147960"/>
                  </p:ext>
                </p:extLst>
              </p:nvPr>
            </p:nvGraphicFramePr>
            <p:xfrm>
              <a:off x="628650" y="1268017"/>
              <a:ext cx="7473950" cy="3189684"/>
            </p:xfrm>
            <a:graphic>
              <a:graphicData uri="http://schemas.openxmlformats.org/drawingml/2006/table">
                <a:tbl>
                  <a:tblPr firstRow="1" bandRow="1">
                    <a:tableStyleId>{5940675A-B579-460E-94D1-54222C63F5DA}</a:tableStyleId>
                  </a:tblPr>
                  <a:tblGrid>
                    <a:gridCol w="1035050">
                      <a:extLst>
                        <a:ext uri="{9D8B030D-6E8A-4147-A177-3AD203B41FA5}">
                          <a16:colId xmlns:a16="http://schemas.microsoft.com/office/drawing/2014/main" val="4088917639"/>
                        </a:ext>
                      </a:extLst>
                    </a:gridCol>
                    <a:gridCol w="2629713">
                      <a:extLst>
                        <a:ext uri="{9D8B030D-6E8A-4147-A177-3AD203B41FA5}">
                          <a16:colId xmlns:a16="http://schemas.microsoft.com/office/drawing/2014/main" val="2364876114"/>
                        </a:ext>
                      </a:extLst>
                    </a:gridCol>
                    <a:gridCol w="3809187">
                      <a:extLst>
                        <a:ext uri="{9D8B030D-6E8A-4147-A177-3AD203B41FA5}">
                          <a16:colId xmlns:a16="http://schemas.microsoft.com/office/drawing/2014/main" val="3439772334"/>
                        </a:ext>
                      </a:extLst>
                    </a:gridCol>
                  </a:tblGrid>
                  <a:tr h="531614">
                    <a:tc>
                      <a:txBody>
                        <a:bodyPr/>
                        <a:lstStyle/>
                        <a:p>
                          <a:r>
                            <a:rPr lang="en-VN" b="1"/>
                            <a:t>Attribute</a:t>
                          </a:r>
                        </a:p>
                      </a:txBody>
                      <a:tcPr anchor="ctr"/>
                    </a:tc>
                    <a:tc>
                      <a:txBody>
                        <a:bodyPr/>
                        <a:lstStyle/>
                        <a:p>
                          <a:r>
                            <a:rPr lang="en-US" b="1"/>
                            <a:t>Classical d</a:t>
                          </a:r>
                          <a:r>
                            <a:rPr lang="en-VN" b="1"/>
                            <a:t>eep learning</a:t>
                          </a:r>
                        </a:p>
                      </a:txBody>
                      <a:tcPr anchor="ctr"/>
                    </a:tc>
                    <a:tc>
                      <a:txBody>
                        <a:bodyPr/>
                        <a:lstStyle/>
                        <a:p>
                          <a:r>
                            <a:rPr lang="en-US" b="1"/>
                            <a:t>Quantum deep learning</a:t>
                          </a:r>
                          <a:endParaRPr lang="en-VN" b="1"/>
                        </a:p>
                      </a:txBody>
                      <a:tcPr anchor="ctr"/>
                    </a:tc>
                    <a:extLst>
                      <a:ext uri="{0D108BD9-81ED-4DB2-BD59-A6C34878D82A}">
                        <a16:rowId xmlns:a16="http://schemas.microsoft.com/office/drawing/2014/main" val="2927070420"/>
                      </a:ext>
                    </a:extLst>
                  </a:tr>
                  <a:tr h="531614">
                    <a:tc>
                      <a:txBody>
                        <a:bodyPr/>
                        <a:lstStyle/>
                        <a:p>
                          <a:r>
                            <a:rPr lang="en-VN"/>
                            <a:t>Main concept</a:t>
                          </a:r>
                        </a:p>
                      </a:txBody>
                      <a:tcPr anchor="ctr"/>
                    </a:tc>
                    <a:tc>
                      <a:txBody>
                        <a:bodyPr/>
                        <a:lstStyle/>
                        <a:p>
                          <a:r>
                            <a:rPr lang="en-VN"/>
                            <a:t>Neural network</a:t>
                          </a:r>
                        </a:p>
                      </a:txBody>
                      <a:tcPr anchor="ctr"/>
                    </a:tc>
                    <a:tc>
                      <a:txBody>
                        <a:bodyPr/>
                        <a:lstStyle/>
                        <a:p>
                          <a:r>
                            <a:rPr lang="en-VN"/>
                            <a:t>Parameterized quantum circuit (PQC</a:t>
                          </a:r>
                          <a:r>
                            <a:rPr lang="en-US"/>
                            <a:t>)</a:t>
                          </a:r>
                          <a:endParaRPr lang="en-VN" b="1">
                            <a:solidFill>
                              <a:srgbClr val="FF0000"/>
                            </a:solidFill>
                          </a:endParaRPr>
                        </a:p>
                      </a:txBody>
                      <a:tcPr anchor="ctr"/>
                    </a:tc>
                    <a:extLst>
                      <a:ext uri="{0D108BD9-81ED-4DB2-BD59-A6C34878D82A}">
                        <a16:rowId xmlns:a16="http://schemas.microsoft.com/office/drawing/2014/main" val="1531077414"/>
                      </a:ext>
                    </a:extLst>
                  </a:tr>
                  <a:tr h="531614">
                    <a:tc>
                      <a:txBody>
                        <a:bodyPr/>
                        <a:lstStyle/>
                        <a:p>
                          <a:r>
                            <a:rPr lang="en-VN"/>
                            <a:t>Parameter</a:t>
                          </a:r>
                        </a:p>
                      </a:txBody>
                      <a:tcPr anchor="ctr"/>
                    </a:tc>
                    <a:tc>
                      <a:txBody>
                        <a:bodyPr/>
                        <a:lstStyle/>
                        <a:p>
                          <a:r>
                            <a:rPr lang="en-VN"/>
                            <a:t>Weight </a:t>
                          </a:r>
                          <a14:m>
                            <m:oMath xmlns:m="http://schemas.openxmlformats.org/officeDocument/2006/math">
                              <m:sSub>
                                <m:sSubPr>
                                  <m:ctrlPr>
                                    <a:rPr lang="vi-VN" b="0" i="1">
                                      <a:latin typeface="Cambria Math" panose="02040503050406030204" pitchFamily="18" charset="0"/>
                                    </a:rPr>
                                  </m:ctrlPr>
                                </m:sSubPr>
                                <m:e>
                                  <m:r>
                                    <a:rPr lang="vi-VN" b="0" i="1">
                                      <a:latin typeface="Cambria Math" panose="02040503050406030204" pitchFamily="18" charset="0"/>
                                    </a:rPr>
                                    <m:t>{</m:t>
                                  </m:r>
                                  <m:r>
                                    <a:rPr lang="en-VN" i="1">
                                      <a:latin typeface="Cambria Math" panose="02040503050406030204" pitchFamily="18" charset="0"/>
                                    </a:rPr>
                                    <m:t>𝑤</m:t>
                                  </m:r>
                                </m:e>
                                <m:sub>
                                  <m:r>
                                    <a:rPr lang="vi-VN" b="0" i="1">
                                      <a:latin typeface="Cambria Math" panose="02040503050406030204" pitchFamily="18" charset="0"/>
                                    </a:rPr>
                                    <m:t>𝑖</m:t>
                                  </m:r>
                                </m:sub>
                              </m:sSub>
                              <m:r>
                                <a:rPr lang="vi-VN" b="0" i="1">
                                  <a:latin typeface="Cambria Math" panose="02040503050406030204" pitchFamily="18" charset="0"/>
                                </a:rPr>
                                <m:t>}</m:t>
                              </m:r>
                            </m:oMath>
                          </a14:m>
                          <a:r>
                            <a:rPr lang="en-VN" i="1"/>
                            <a:t> </a:t>
                          </a:r>
                          <a:r>
                            <a:rPr lang="en-VN" i="0"/>
                            <a:t>in nodes</a:t>
                          </a:r>
                          <a:endParaRPr lang="en-VN" i="1"/>
                        </a:p>
                      </a:txBody>
                      <a:tcPr anchor="ctr"/>
                    </a:tc>
                    <a:tc>
                      <a:txBody>
                        <a:bodyPr/>
                        <a:lstStyle/>
                        <a:p>
                          <a:r>
                            <a:rPr lang="en-VN"/>
                            <a:t>Angle value </a:t>
                          </a:r>
                          <a14:m>
                            <m:oMath xmlns:m="http://schemas.openxmlformats.org/officeDocument/2006/math">
                              <m:d>
                                <m:dPr>
                                  <m:begChr m:val="{"/>
                                  <m:endChr m:val="}"/>
                                  <m:ctrlPr>
                                    <a:rPr lang="vi-VN" b="0" i="1">
                                      <a:latin typeface="Cambria Math" panose="02040503050406030204" pitchFamily="18" charset="0"/>
                                    </a:rPr>
                                  </m:ctrlPr>
                                </m:dPr>
                                <m:e>
                                  <m:sSub>
                                    <m:sSubPr>
                                      <m:ctrlPr>
                                        <a:rPr lang="vi-VN" b="0" i="1">
                                          <a:latin typeface="Cambria Math" panose="02040503050406030204" pitchFamily="18" charset="0"/>
                                        </a:rPr>
                                      </m:ctrlPr>
                                    </m:sSubPr>
                                    <m:e>
                                      <m:r>
                                        <a:rPr lang="vi-VN" b="0" i="1">
                                          <a:latin typeface="Cambria Math" panose="02040503050406030204" pitchFamily="18" charset="0"/>
                                        </a:rPr>
                                        <m:t>𝜃</m:t>
                                      </m:r>
                                    </m:e>
                                    <m:sub>
                                      <m:r>
                                        <m:rPr>
                                          <m:sty m:val="p"/>
                                        </m:rPr>
                                        <a:rPr lang="vi-VN" b="0" i="1">
                                          <a:latin typeface="Cambria Math" panose="02040503050406030204" pitchFamily="18" charset="0"/>
                                        </a:rPr>
                                        <m:t>i</m:t>
                                      </m:r>
                                    </m:sub>
                                  </m:sSub>
                                </m:e>
                              </m:d>
                            </m:oMath>
                          </a14:m>
                          <a:r>
                            <a:rPr lang="en-VN"/>
                            <a:t> in rotation gates </a:t>
                          </a:r>
                          <a14:m>
                            <m:oMath xmlns:m="http://schemas.openxmlformats.org/officeDocument/2006/math">
                              <m:d>
                                <m:dPr>
                                  <m:begChr m:val="{"/>
                                  <m:endChr m:val="}"/>
                                  <m:ctrlPr>
                                    <a:rPr lang="vi-VN" b="0" i="1">
                                      <a:latin typeface="Cambria Math" panose="02040503050406030204" pitchFamily="18" charset="0"/>
                                    </a:rPr>
                                  </m:ctrlPr>
                                </m:dPr>
                                <m:e>
                                  <m:sSub>
                                    <m:sSubPr>
                                      <m:ctrlPr>
                                        <a:rPr lang="vi-VN" b="0" i="1">
                                          <a:latin typeface="Cambria Math" panose="02040503050406030204" pitchFamily="18" charset="0"/>
                                        </a:rPr>
                                      </m:ctrlPr>
                                    </m:sSubPr>
                                    <m:e>
                                      <m:r>
                                        <a:rPr lang="vi-VN" b="0" i="1">
                                          <a:latin typeface="Cambria Math" panose="02040503050406030204" pitchFamily="18" charset="0"/>
                                        </a:rPr>
                                        <m:t>𝑅</m:t>
                                      </m:r>
                                    </m:e>
                                    <m:sub>
                                      <m:r>
                                        <a:rPr lang="vi-VN" b="0" i="1">
                                          <a:latin typeface="Cambria Math" panose="02040503050406030204" pitchFamily="18" charset="0"/>
                                        </a:rPr>
                                        <m:t>𝑋</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𝑅</m:t>
                                      </m:r>
                                    </m:e>
                                    <m:sub>
                                      <m:r>
                                        <a:rPr lang="vi-VN" b="0" i="1">
                                          <a:latin typeface="Cambria Math" panose="02040503050406030204" pitchFamily="18" charset="0"/>
                                        </a:rPr>
                                        <m:t>𝑌</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𝑅</m:t>
                                      </m:r>
                                    </m:e>
                                    <m:sub>
                                      <m:r>
                                        <a:rPr lang="vi-VN" b="0" i="1">
                                          <a:latin typeface="Cambria Math" panose="02040503050406030204" pitchFamily="18" charset="0"/>
                                        </a:rPr>
                                        <m:t>𝑍</m:t>
                                      </m:r>
                                    </m:sub>
                                  </m:sSub>
                                </m:e>
                              </m:d>
                            </m:oMath>
                          </a14:m>
                          <a:endParaRPr lang="en-VN"/>
                        </a:p>
                      </a:txBody>
                      <a:tcPr anchor="ctr"/>
                    </a:tc>
                    <a:extLst>
                      <a:ext uri="{0D108BD9-81ED-4DB2-BD59-A6C34878D82A}">
                        <a16:rowId xmlns:a16="http://schemas.microsoft.com/office/drawing/2014/main" val="1800732459"/>
                      </a:ext>
                    </a:extLst>
                  </a:tr>
                  <a:tr h="531614">
                    <a:tc>
                      <a:txBody>
                        <a:bodyPr/>
                        <a:lstStyle/>
                        <a:p>
                          <a:r>
                            <a:rPr lang="en-VN"/>
                            <a:t>Gradient</a:t>
                          </a:r>
                        </a:p>
                      </a:txBody>
                      <a:tcPr anchor="ctr"/>
                    </a:tc>
                    <a:tc>
                      <a:txBody>
                        <a:bodyPr/>
                        <a:lstStyle/>
                        <a:p>
                          <a:r>
                            <a:rPr lang="en-VN"/>
                            <a:t>Backpropagation</a:t>
                          </a:r>
                        </a:p>
                      </a:txBody>
                      <a:tcPr anchor="ctr"/>
                    </a:tc>
                    <a:tc>
                      <a:txBody>
                        <a:bodyPr/>
                        <a:lstStyle/>
                        <a:p>
                          <a:r>
                            <a:rPr lang="en-VN"/>
                            <a:t>General parameter-shif</a:t>
                          </a:r>
                          <a:r>
                            <a:rPr lang="en-VN" b="0">
                              <a:solidFill>
                                <a:schemeClr val="tx1"/>
                              </a:solidFill>
                            </a:rPr>
                            <a:t>t rule </a:t>
                          </a:r>
                          <a:r>
                            <a:rPr lang="en-US" b="0">
                              <a:solidFill>
                                <a:schemeClr val="tx1"/>
                              </a:solidFill>
                            </a:rPr>
                            <a:t>and gradient tensor metric</a:t>
                          </a:r>
                          <a:endParaRPr lang="en-VN" b="0">
                            <a:solidFill>
                              <a:schemeClr val="tx1"/>
                            </a:solidFill>
                          </a:endParaRPr>
                        </a:p>
                      </a:txBody>
                      <a:tcPr anchor="ctr"/>
                    </a:tc>
                    <a:extLst>
                      <a:ext uri="{0D108BD9-81ED-4DB2-BD59-A6C34878D82A}">
                        <a16:rowId xmlns:a16="http://schemas.microsoft.com/office/drawing/2014/main" val="3394045804"/>
                      </a:ext>
                    </a:extLst>
                  </a:tr>
                  <a:tr h="531614">
                    <a:tc>
                      <a:txBody>
                        <a:bodyPr/>
                        <a:lstStyle/>
                        <a:p>
                          <a:r>
                            <a:rPr lang="en-VN"/>
                            <a:t>Optimizer</a:t>
                          </a:r>
                        </a:p>
                      </a:txBody>
                      <a:tcPr anchor="ctr"/>
                    </a:tc>
                    <a:tc>
                      <a:txBody>
                        <a:bodyPr/>
                        <a:lstStyle/>
                        <a:p>
                          <a:r>
                            <a:rPr lang="en-US"/>
                            <a:t>Classical optimizer</a:t>
                          </a:r>
                          <a:endParaRPr lang="en-VN"/>
                        </a:p>
                      </a:txBody>
                      <a:tcPr anchor="ctr"/>
                    </a:tc>
                    <a:tc>
                      <a:txBody>
                        <a:bodyPr/>
                        <a:lstStyle/>
                        <a:p>
                          <a:r>
                            <a:rPr lang="en-US"/>
                            <a:t>Classical optimizer + gradient-free optimizer</a:t>
                          </a:r>
                          <a:endParaRPr lang="en-VN" b="1">
                            <a:solidFill>
                              <a:srgbClr val="FF0000"/>
                            </a:solidFill>
                          </a:endParaRPr>
                        </a:p>
                      </a:txBody>
                      <a:tcPr anchor="ctr"/>
                    </a:tc>
                    <a:extLst>
                      <a:ext uri="{0D108BD9-81ED-4DB2-BD59-A6C34878D82A}">
                        <a16:rowId xmlns:a16="http://schemas.microsoft.com/office/drawing/2014/main" val="491440071"/>
                      </a:ext>
                    </a:extLst>
                  </a:tr>
                  <a:tr h="531614">
                    <a:tc>
                      <a:txBody>
                        <a:bodyPr/>
                        <a:lstStyle/>
                        <a:p>
                          <a:r>
                            <a:rPr lang="en-VN"/>
                            <a:t>Loss</a:t>
                          </a:r>
                        </a:p>
                      </a:txBody>
                      <a:tcPr anchor="ctr"/>
                    </a:tc>
                    <a:tc>
                      <a:txBody>
                        <a:bodyPr/>
                        <a:lstStyle/>
                        <a:p>
                          <a:r>
                            <a:rPr lang="en-VN"/>
                            <a:t>Various type</a:t>
                          </a:r>
                        </a:p>
                      </a:txBody>
                      <a:tcPr anchor="ctr"/>
                    </a:tc>
                    <a:tc>
                      <a:txBody>
                        <a:bodyPr/>
                        <a:lstStyle/>
                        <a:p>
                          <a:r>
                            <a:rPr lang="en-US"/>
                            <a:t>Associated with e</a:t>
                          </a:r>
                          <a:r>
                            <a:rPr lang="en-VN"/>
                            <a:t>xpectation value</a:t>
                          </a:r>
                          <a:r>
                            <a:rPr lang="en-US"/>
                            <a:t>s</a:t>
                          </a:r>
                          <a:endParaRPr lang="en-VN"/>
                        </a:p>
                      </a:txBody>
                      <a:tcPr anchor="ctr"/>
                    </a:tc>
                    <a:extLst>
                      <a:ext uri="{0D108BD9-81ED-4DB2-BD59-A6C34878D82A}">
                        <a16:rowId xmlns:a16="http://schemas.microsoft.com/office/drawing/2014/main" val="3662645663"/>
                      </a:ext>
                    </a:extLst>
                  </a:tr>
                </a:tbl>
              </a:graphicData>
            </a:graphic>
          </p:graphicFrame>
        </mc:Choice>
        <mc:Fallback xmlns="">
          <p:graphicFrame>
            <p:nvGraphicFramePr>
              <p:cNvPr id="5" name="Content Placeholder 4">
                <a:extLst>
                  <a:ext uri="{FF2B5EF4-FFF2-40B4-BE49-F238E27FC236}">
                    <a16:creationId xmlns:a16="http://schemas.microsoft.com/office/drawing/2014/main" id="{220F8FBE-952F-9B9B-23D2-58E76D708160}"/>
                  </a:ext>
                </a:extLst>
              </p:cNvPr>
              <p:cNvGraphicFramePr>
                <a:graphicFrameLocks noGrp="1"/>
              </p:cNvGraphicFramePr>
              <p:nvPr>
                <p:ph idx="1"/>
                <p:extLst>
                  <p:ext uri="{D42A27DB-BD31-4B8C-83A1-F6EECF244321}">
                    <p14:modId xmlns:p14="http://schemas.microsoft.com/office/powerpoint/2010/main" val="1123147960"/>
                  </p:ext>
                </p:extLst>
              </p:nvPr>
            </p:nvGraphicFramePr>
            <p:xfrm>
              <a:off x="628650" y="1268017"/>
              <a:ext cx="7473950" cy="3189684"/>
            </p:xfrm>
            <a:graphic>
              <a:graphicData uri="http://schemas.openxmlformats.org/drawingml/2006/table">
                <a:tbl>
                  <a:tblPr firstRow="1" bandRow="1">
                    <a:tableStyleId>{5940675A-B579-460E-94D1-54222C63F5DA}</a:tableStyleId>
                  </a:tblPr>
                  <a:tblGrid>
                    <a:gridCol w="1035050">
                      <a:extLst>
                        <a:ext uri="{9D8B030D-6E8A-4147-A177-3AD203B41FA5}">
                          <a16:colId xmlns:a16="http://schemas.microsoft.com/office/drawing/2014/main" val="4088917639"/>
                        </a:ext>
                      </a:extLst>
                    </a:gridCol>
                    <a:gridCol w="2629713">
                      <a:extLst>
                        <a:ext uri="{9D8B030D-6E8A-4147-A177-3AD203B41FA5}">
                          <a16:colId xmlns:a16="http://schemas.microsoft.com/office/drawing/2014/main" val="2364876114"/>
                        </a:ext>
                      </a:extLst>
                    </a:gridCol>
                    <a:gridCol w="3809187">
                      <a:extLst>
                        <a:ext uri="{9D8B030D-6E8A-4147-A177-3AD203B41FA5}">
                          <a16:colId xmlns:a16="http://schemas.microsoft.com/office/drawing/2014/main" val="3439772334"/>
                        </a:ext>
                      </a:extLst>
                    </a:gridCol>
                  </a:tblGrid>
                  <a:tr h="531614">
                    <a:tc>
                      <a:txBody>
                        <a:bodyPr/>
                        <a:lstStyle/>
                        <a:p>
                          <a:r>
                            <a:rPr lang="en-VN" b="1"/>
                            <a:t>Attribute</a:t>
                          </a:r>
                        </a:p>
                      </a:txBody>
                      <a:tcPr anchor="ctr"/>
                    </a:tc>
                    <a:tc>
                      <a:txBody>
                        <a:bodyPr/>
                        <a:lstStyle/>
                        <a:p>
                          <a:r>
                            <a:rPr lang="en-US" b="1"/>
                            <a:t>Classical d</a:t>
                          </a:r>
                          <a:r>
                            <a:rPr lang="en-VN" b="1"/>
                            <a:t>eep learning</a:t>
                          </a:r>
                        </a:p>
                      </a:txBody>
                      <a:tcPr anchor="ctr"/>
                    </a:tc>
                    <a:tc>
                      <a:txBody>
                        <a:bodyPr/>
                        <a:lstStyle/>
                        <a:p>
                          <a:r>
                            <a:rPr lang="en-US" b="1"/>
                            <a:t>Quantum deep learning</a:t>
                          </a:r>
                          <a:endParaRPr lang="en-VN" b="1"/>
                        </a:p>
                      </a:txBody>
                      <a:tcPr anchor="ctr"/>
                    </a:tc>
                    <a:extLst>
                      <a:ext uri="{0D108BD9-81ED-4DB2-BD59-A6C34878D82A}">
                        <a16:rowId xmlns:a16="http://schemas.microsoft.com/office/drawing/2014/main" val="2927070420"/>
                      </a:ext>
                    </a:extLst>
                  </a:tr>
                  <a:tr h="531614">
                    <a:tc>
                      <a:txBody>
                        <a:bodyPr/>
                        <a:lstStyle/>
                        <a:p>
                          <a:r>
                            <a:rPr lang="en-VN"/>
                            <a:t>Main concept</a:t>
                          </a:r>
                        </a:p>
                      </a:txBody>
                      <a:tcPr anchor="ctr"/>
                    </a:tc>
                    <a:tc>
                      <a:txBody>
                        <a:bodyPr/>
                        <a:lstStyle/>
                        <a:p>
                          <a:r>
                            <a:rPr lang="en-VN"/>
                            <a:t>Neural network</a:t>
                          </a:r>
                        </a:p>
                      </a:txBody>
                      <a:tcPr anchor="ctr"/>
                    </a:tc>
                    <a:tc>
                      <a:txBody>
                        <a:bodyPr/>
                        <a:lstStyle/>
                        <a:p>
                          <a:r>
                            <a:rPr lang="en-VN"/>
                            <a:t>Parameterized quantum circuit (PQC</a:t>
                          </a:r>
                          <a:r>
                            <a:rPr lang="en-US"/>
                            <a:t>)</a:t>
                          </a:r>
                          <a:endParaRPr lang="en-VN" b="1">
                            <a:solidFill>
                              <a:srgbClr val="FF0000"/>
                            </a:solidFill>
                          </a:endParaRPr>
                        </a:p>
                      </a:txBody>
                      <a:tcPr anchor="ctr"/>
                    </a:tc>
                    <a:extLst>
                      <a:ext uri="{0D108BD9-81ED-4DB2-BD59-A6C34878D82A}">
                        <a16:rowId xmlns:a16="http://schemas.microsoft.com/office/drawing/2014/main" val="1531077414"/>
                      </a:ext>
                    </a:extLst>
                  </a:tr>
                  <a:tr h="531614">
                    <a:tc>
                      <a:txBody>
                        <a:bodyPr/>
                        <a:lstStyle/>
                        <a:p>
                          <a:r>
                            <a:rPr lang="en-VN"/>
                            <a:t>Parameter</a:t>
                          </a:r>
                        </a:p>
                      </a:txBody>
                      <a:tcPr anchor="ctr"/>
                    </a:tc>
                    <a:tc>
                      <a:txBody>
                        <a:bodyPr/>
                        <a:lstStyle/>
                        <a:p>
                          <a:endParaRPr lang="vi-VN"/>
                        </a:p>
                      </a:txBody>
                      <a:tcPr anchor="ctr">
                        <a:blipFill>
                          <a:blip r:embed="rId3"/>
                          <a:stretch>
                            <a:fillRect l="-39583" t="-203448" r="-145139" b="-303448"/>
                          </a:stretch>
                        </a:blipFill>
                      </a:tcPr>
                    </a:tc>
                    <a:tc>
                      <a:txBody>
                        <a:bodyPr/>
                        <a:lstStyle/>
                        <a:p>
                          <a:endParaRPr lang="vi-VN"/>
                        </a:p>
                      </a:txBody>
                      <a:tcPr anchor="ctr">
                        <a:blipFill>
                          <a:blip r:embed="rId3"/>
                          <a:stretch>
                            <a:fillRect l="-96480" t="-203448" r="-320" b="-303448"/>
                          </a:stretch>
                        </a:blipFill>
                      </a:tcPr>
                    </a:tc>
                    <a:extLst>
                      <a:ext uri="{0D108BD9-81ED-4DB2-BD59-A6C34878D82A}">
                        <a16:rowId xmlns:a16="http://schemas.microsoft.com/office/drawing/2014/main" val="1800732459"/>
                      </a:ext>
                    </a:extLst>
                  </a:tr>
                  <a:tr h="531614">
                    <a:tc>
                      <a:txBody>
                        <a:bodyPr/>
                        <a:lstStyle/>
                        <a:p>
                          <a:r>
                            <a:rPr lang="en-VN"/>
                            <a:t>Gradient</a:t>
                          </a:r>
                        </a:p>
                      </a:txBody>
                      <a:tcPr anchor="ctr"/>
                    </a:tc>
                    <a:tc>
                      <a:txBody>
                        <a:bodyPr/>
                        <a:lstStyle/>
                        <a:p>
                          <a:r>
                            <a:rPr lang="en-VN"/>
                            <a:t>Backpropagation</a:t>
                          </a:r>
                        </a:p>
                      </a:txBody>
                      <a:tcPr anchor="ctr"/>
                    </a:tc>
                    <a:tc>
                      <a:txBody>
                        <a:bodyPr/>
                        <a:lstStyle/>
                        <a:p>
                          <a:r>
                            <a:rPr lang="en-VN"/>
                            <a:t>General parameter-shif</a:t>
                          </a:r>
                          <a:r>
                            <a:rPr lang="en-VN" b="0">
                              <a:solidFill>
                                <a:schemeClr val="tx1"/>
                              </a:solidFill>
                            </a:rPr>
                            <a:t>t rule </a:t>
                          </a:r>
                          <a:r>
                            <a:rPr lang="en-US" b="0">
                              <a:solidFill>
                                <a:schemeClr val="tx1"/>
                              </a:solidFill>
                            </a:rPr>
                            <a:t>and gradient tensor metric</a:t>
                          </a:r>
                          <a:endParaRPr lang="en-VN" b="0">
                            <a:solidFill>
                              <a:schemeClr val="tx1"/>
                            </a:solidFill>
                          </a:endParaRPr>
                        </a:p>
                      </a:txBody>
                      <a:tcPr anchor="ctr"/>
                    </a:tc>
                    <a:extLst>
                      <a:ext uri="{0D108BD9-81ED-4DB2-BD59-A6C34878D82A}">
                        <a16:rowId xmlns:a16="http://schemas.microsoft.com/office/drawing/2014/main" val="3394045804"/>
                      </a:ext>
                    </a:extLst>
                  </a:tr>
                  <a:tr h="531614">
                    <a:tc>
                      <a:txBody>
                        <a:bodyPr/>
                        <a:lstStyle/>
                        <a:p>
                          <a:r>
                            <a:rPr lang="en-VN"/>
                            <a:t>Optimizer</a:t>
                          </a:r>
                        </a:p>
                      </a:txBody>
                      <a:tcPr anchor="ctr"/>
                    </a:tc>
                    <a:tc>
                      <a:txBody>
                        <a:bodyPr/>
                        <a:lstStyle/>
                        <a:p>
                          <a:r>
                            <a:rPr lang="en-US"/>
                            <a:t>Classical optimizer</a:t>
                          </a:r>
                          <a:endParaRPr lang="en-VN"/>
                        </a:p>
                      </a:txBody>
                      <a:tcPr anchor="ctr"/>
                    </a:tc>
                    <a:tc>
                      <a:txBody>
                        <a:bodyPr/>
                        <a:lstStyle/>
                        <a:p>
                          <a:r>
                            <a:rPr lang="en-US"/>
                            <a:t>Classical optimizer + gradient-free optimizer</a:t>
                          </a:r>
                          <a:endParaRPr lang="en-VN" b="1">
                            <a:solidFill>
                              <a:srgbClr val="FF0000"/>
                            </a:solidFill>
                          </a:endParaRPr>
                        </a:p>
                      </a:txBody>
                      <a:tcPr anchor="ctr"/>
                    </a:tc>
                    <a:extLst>
                      <a:ext uri="{0D108BD9-81ED-4DB2-BD59-A6C34878D82A}">
                        <a16:rowId xmlns:a16="http://schemas.microsoft.com/office/drawing/2014/main" val="491440071"/>
                      </a:ext>
                    </a:extLst>
                  </a:tr>
                  <a:tr h="531614">
                    <a:tc>
                      <a:txBody>
                        <a:bodyPr/>
                        <a:lstStyle/>
                        <a:p>
                          <a:r>
                            <a:rPr lang="en-VN"/>
                            <a:t>Loss</a:t>
                          </a:r>
                        </a:p>
                      </a:txBody>
                      <a:tcPr anchor="ctr"/>
                    </a:tc>
                    <a:tc>
                      <a:txBody>
                        <a:bodyPr/>
                        <a:lstStyle/>
                        <a:p>
                          <a:r>
                            <a:rPr lang="en-VN"/>
                            <a:t>Various type</a:t>
                          </a:r>
                        </a:p>
                      </a:txBody>
                      <a:tcPr anchor="ctr"/>
                    </a:tc>
                    <a:tc>
                      <a:txBody>
                        <a:bodyPr/>
                        <a:lstStyle/>
                        <a:p>
                          <a:r>
                            <a:rPr lang="en-US"/>
                            <a:t>Associated with e</a:t>
                          </a:r>
                          <a:r>
                            <a:rPr lang="en-VN"/>
                            <a:t>xpectation value</a:t>
                          </a:r>
                          <a:r>
                            <a:rPr lang="en-US"/>
                            <a:t>s</a:t>
                          </a:r>
                          <a:endParaRPr lang="en-VN"/>
                        </a:p>
                      </a:txBody>
                      <a:tcPr anchor="ctr"/>
                    </a:tc>
                    <a:extLst>
                      <a:ext uri="{0D108BD9-81ED-4DB2-BD59-A6C34878D82A}">
                        <a16:rowId xmlns:a16="http://schemas.microsoft.com/office/drawing/2014/main" val="3662645663"/>
                      </a:ext>
                    </a:extLst>
                  </a:tr>
                </a:tbl>
              </a:graphicData>
            </a:graphic>
          </p:graphicFrame>
        </mc:Fallback>
      </mc:AlternateContent>
      <p:sp>
        <p:nvSpPr>
          <p:cNvPr id="4" name="Slide Number Placeholder 3">
            <a:extLst>
              <a:ext uri="{FF2B5EF4-FFF2-40B4-BE49-F238E27FC236}">
                <a16:creationId xmlns:a16="http://schemas.microsoft.com/office/drawing/2014/main" id="{4686656F-9B6C-AA48-E02C-5AFE69EDDC6B}"/>
              </a:ext>
            </a:extLst>
          </p:cNvPr>
          <p:cNvSpPr>
            <a:spLocks noGrp="1"/>
          </p:cNvSpPr>
          <p:nvPr>
            <p:ph type="sldNum" sz="quarter" idx="12"/>
          </p:nvPr>
        </p:nvSpPr>
        <p:spPr/>
        <p:txBody>
          <a:bodyPr/>
          <a:lstStyle/>
          <a:p>
            <a:fld id="{6A45828D-F580-42DE-B77E-860980F07F32}" type="slidenum">
              <a:rPr lang="vi-VN" smtClean="0"/>
              <a:t>41</a:t>
            </a:fld>
            <a:endParaRPr lang="vi-VN"/>
          </a:p>
        </p:txBody>
      </p:sp>
      <p:sp>
        <p:nvSpPr>
          <p:cNvPr id="7" name="Title 1">
            <a:extLst>
              <a:ext uri="{FF2B5EF4-FFF2-40B4-BE49-F238E27FC236}">
                <a16:creationId xmlns:a16="http://schemas.microsoft.com/office/drawing/2014/main" id="{096BB24B-50C0-2C31-565E-01AC4FB90057}"/>
              </a:ext>
            </a:extLst>
          </p:cNvPr>
          <p:cNvSpPr txBox="1">
            <a:spLocks/>
          </p:cNvSpPr>
          <p:nvPr/>
        </p:nvSpPr>
        <p:spPr>
          <a:xfrm>
            <a:off x="628650" y="-8379"/>
            <a:ext cx="6466417" cy="1276395"/>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3.4. Quantum deep learning</a:t>
            </a:r>
            <a:br>
              <a:rPr lang="en-US"/>
            </a:br>
            <a:r>
              <a:rPr lang="en-US" sz="2000"/>
              <a:t>QNN</a:t>
            </a:r>
            <a:endParaRPr lang="vi-VN" sz="2000"/>
          </a:p>
        </p:txBody>
      </p:sp>
    </p:spTree>
    <p:extLst>
      <p:ext uri="{BB962C8B-B14F-4D97-AF65-F5344CB8AC3E}">
        <p14:creationId xmlns:p14="http://schemas.microsoft.com/office/powerpoint/2010/main" val="5068579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66">
            <a:extLst>
              <a:ext uri="{FF2B5EF4-FFF2-40B4-BE49-F238E27FC236}">
                <a16:creationId xmlns:a16="http://schemas.microsoft.com/office/drawing/2014/main" id="{836CBC3D-EF71-6A65-9816-529C8966F914}"/>
              </a:ext>
            </a:extLst>
          </p:cNvPr>
          <p:cNvPicPr>
            <a:picLocks noChangeAspect="1"/>
          </p:cNvPicPr>
          <p:nvPr/>
        </p:nvPicPr>
        <p:blipFill>
          <a:blip r:embed="rId2"/>
          <a:stretch>
            <a:fillRect/>
          </a:stretch>
        </p:blipFill>
        <p:spPr>
          <a:xfrm>
            <a:off x="4492559" y="1132091"/>
            <a:ext cx="4583922" cy="3158300"/>
          </a:xfrm>
          <a:prstGeom prst="rect">
            <a:avLst/>
          </a:prstGeom>
        </p:spPr>
      </p:pic>
      <p:sp>
        <p:nvSpPr>
          <p:cNvPr id="2" name="Title 1">
            <a:extLst>
              <a:ext uri="{FF2B5EF4-FFF2-40B4-BE49-F238E27FC236}">
                <a16:creationId xmlns:a16="http://schemas.microsoft.com/office/drawing/2014/main" id="{7C9EA768-7825-D899-7EB9-8E656DB18DFC}"/>
              </a:ext>
            </a:extLst>
          </p:cNvPr>
          <p:cNvSpPr>
            <a:spLocks noGrp="1"/>
          </p:cNvSpPr>
          <p:nvPr>
            <p:ph type="title"/>
          </p:nvPr>
        </p:nvSpPr>
        <p:spPr/>
        <p:txBody>
          <a:bodyPr>
            <a:normAutofit/>
          </a:bodyPr>
          <a:lstStyle/>
          <a:p>
            <a:r>
              <a:rPr lang="en-US"/>
              <a:t>3.4. Quantum deep learning</a:t>
            </a:r>
            <a:br>
              <a:rPr lang="en-US"/>
            </a:br>
            <a:r>
              <a:rPr lang="vi-VN" sz="2000" b="0" i="0">
                <a:solidFill>
                  <a:srgbClr val="000000"/>
                </a:solidFill>
                <a:effectLst/>
                <a:latin typeface="Calibri" panose="020F0502020204030204" pitchFamily="34" charset="0"/>
                <a:ea typeface="Calibri" panose="020F0502020204030204" pitchFamily="34" charset="0"/>
                <a:cs typeface="Calibri" panose="020F0502020204030204" pitchFamily="34" charset="0"/>
              </a:rPr>
              <a:t>Variational classifier</a:t>
            </a:r>
            <a:r>
              <a:rPr lang="en-US" sz="2000" b="0" i="0">
                <a:solidFill>
                  <a:srgbClr val="000000"/>
                </a:solidFill>
                <a:effectLst/>
                <a:latin typeface="Calibri" panose="020F0502020204030204" pitchFamily="34" charset="0"/>
                <a:ea typeface="Calibri" panose="020F0502020204030204" pitchFamily="34" charset="0"/>
                <a:cs typeface="Calibri" panose="020F0502020204030204" pitchFamily="34" charset="0"/>
              </a:rPr>
              <a:t> for simple classification problem</a:t>
            </a:r>
            <a:endParaRPr lang="vi-VN">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4185E0-0E07-E5A5-AFF6-6DD803C8AD8C}"/>
                  </a:ext>
                </a:extLst>
              </p:cNvPr>
              <p:cNvSpPr>
                <a:spLocks noGrp="1"/>
              </p:cNvSpPr>
              <p:nvPr>
                <p:ph idx="1"/>
              </p:nvPr>
            </p:nvSpPr>
            <p:spPr>
              <a:xfrm>
                <a:off x="2978048" y="1132010"/>
                <a:ext cx="721783" cy="415956"/>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vi-VN"/>
              </a:p>
            </p:txBody>
          </p:sp>
        </mc:Choice>
        <mc:Fallback xmlns="">
          <p:sp>
            <p:nvSpPr>
              <p:cNvPr id="3" name="Content Placeholder 2">
                <a:extLst>
                  <a:ext uri="{FF2B5EF4-FFF2-40B4-BE49-F238E27FC236}">
                    <a16:creationId xmlns:a16="http://schemas.microsoft.com/office/drawing/2014/main" id="{044185E0-0E07-E5A5-AFF6-6DD803C8AD8C}"/>
                  </a:ext>
                </a:extLst>
              </p:cNvPr>
              <p:cNvSpPr>
                <a:spLocks noGrp="1" noRot="1" noChangeAspect="1" noMove="1" noResize="1" noEditPoints="1" noAdjustHandles="1" noChangeArrowheads="1" noChangeShapeType="1" noTextEdit="1"/>
              </p:cNvSpPr>
              <p:nvPr>
                <p:ph idx="1"/>
              </p:nvPr>
            </p:nvSpPr>
            <p:spPr>
              <a:xfrm>
                <a:off x="2978048" y="1132010"/>
                <a:ext cx="721783" cy="415956"/>
              </a:xfrm>
              <a:blipFill>
                <a:blip r:embed="rId3"/>
                <a:stretch>
                  <a:fillRect b="-8824"/>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E0C902D3-69C9-171B-7CCC-10670D9959C4}"/>
              </a:ext>
            </a:extLst>
          </p:cNvPr>
          <p:cNvSpPr>
            <a:spLocks noGrp="1"/>
          </p:cNvSpPr>
          <p:nvPr>
            <p:ph type="sldNum" sz="quarter" idx="12"/>
          </p:nvPr>
        </p:nvSpPr>
        <p:spPr/>
        <p:txBody>
          <a:bodyPr/>
          <a:lstStyle/>
          <a:p>
            <a:fld id="{6A45828D-F580-42DE-B77E-860980F07F32}" type="slidenum">
              <a:rPr lang="vi-VN" smtClean="0"/>
              <a:t>42</a:t>
            </a:fld>
            <a:endParaRPr lang="vi-VN"/>
          </a:p>
        </p:txBody>
      </p:sp>
      <p:cxnSp>
        <p:nvCxnSpPr>
          <p:cNvPr id="5" name="Straight Connector 4">
            <a:extLst>
              <a:ext uri="{FF2B5EF4-FFF2-40B4-BE49-F238E27FC236}">
                <a16:creationId xmlns:a16="http://schemas.microsoft.com/office/drawing/2014/main" id="{AC37A47B-3497-0189-3696-8F3EDC336E86}"/>
              </a:ext>
            </a:extLst>
          </p:cNvPr>
          <p:cNvCxnSpPr>
            <a:cxnSpLocks/>
          </p:cNvCxnSpPr>
          <p:nvPr/>
        </p:nvCxnSpPr>
        <p:spPr>
          <a:xfrm>
            <a:off x="736600" y="1674449"/>
            <a:ext cx="30014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46C41D8-4B17-AFA1-0C90-38CB592448F3}"/>
                  </a:ext>
                </a:extLst>
              </p:cNvPr>
              <p:cNvSpPr/>
              <p:nvPr/>
            </p:nvSpPr>
            <p:spPr>
              <a:xfrm>
                <a:off x="1197721" y="1369219"/>
                <a:ext cx="820470"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𝜙</m:t>
                          </m:r>
                        </m:sub>
                      </m:sSub>
                      <m:d>
                        <m:dPr>
                          <m:ctrlPr>
                            <a:rPr lang="en-US" b="0"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𝒙</m:t>
                          </m:r>
                        </m:e>
                      </m:d>
                    </m:oMath>
                  </m:oMathPara>
                </a14:m>
                <a:endParaRPr/>
              </a:p>
            </p:txBody>
          </p:sp>
        </mc:Choice>
        <mc:Fallback xmlns="">
          <p:sp>
            <p:nvSpPr>
              <p:cNvPr id="6" name="Rectangle 5">
                <a:extLst>
                  <a:ext uri="{FF2B5EF4-FFF2-40B4-BE49-F238E27FC236}">
                    <a16:creationId xmlns:a16="http://schemas.microsoft.com/office/drawing/2014/main" id="{A46C41D8-4B17-AFA1-0C90-38CB592448F3}"/>
                  </a:ext>
                </a:extLst>
              </p:cNvPr>
              <p:cNvSpPr>
                <a:spLocks noRot="1" noChangeAspect="1" noMove="1" noResize="1" noEditPoints="1" noAdjustHandles="1" noChangeArrowheads="1" noChangeShapeType="1" noTextEdit="1"/>
              </p:cNvSpPr>
              <p:nvPr/>
            </p:nvSpPr>
            <p:spPr>
              <a:xfrm>
                <a:off x="1197721" y="1369219"/>
                <a:ext cx="820470" cy="650789"/>
              </a:xfrm>
              <a:prstGeom prst="rect">
                <a:avLst/>
              </a:prstGeom>
              <a:blipFill>
                <a:blip r:embed="rId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181CD01-5C8A-D480-3184-E10ADB4AF7CC}"/>
                  </a:ext>
                </a:extLst>
              </p:cNvPr>
              <p:cNvSpPr/>
              <p:nvPr/>
            </p:nvSpPr>
            <p:spPr>
              <a:xfrm>
                <a:off x="2123036" y="1376396"/>
                <a:ext cx="820470"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ea typeface="Cambria Math" panose="02040503050406030204" pitchFamily="18" charset="0"/>
                            </a:rPr>
                          </m:ctrlPr>
                        </m:dPr>
                        <m:e>
                          <m:r>
                            <a:rPr lang="en-US" b="1" i="1" smtClean="0">
                              <a:solidFill>
                                <a:schemeClr val="tx1"/>
                              </a:solidFill>
                              <a:latin typeface="Cambria Math" panose="02040503050406030204" pitchFamily="18" charset="0"/>
                              <a:ea typeface="Cambria Math" panose="02040503050406030204" pitchFamily="18" charset="0"/>
                            </a:rPr>
                            <m:t>𝜽</m:t>
                          </m:r>
                        </m:e>
                      </m:d>
                    </m:oMath>
                  </m:oMathPara>
                </a14:m>
                <a:endParaRPr/>
              </a:p>
            </p:txBody>
          </p:sp>
        </mc:Choice>
        <mc:Fallback xmlns="">
          <p:sp>
            <p:nvSpPr>
              <p:cNvPr id="7" name="Rectangle 6">
                <a:extLst>
                  <a:ext uri="{FF2B5EF4-FFF2-40B4-BE49-F238E27FC236}">
                    <a16:creationId xmlns:a16="http://schemas.microsoft.com/office/drawing/2014/main" id="{C181CD01-5C8A-D480-3184-E10ADB4AF7CC}"/>
                  </a:ext>
                </a:extLst>
              </p:cNvPr>
              <p:cNvSpPr>
                <a:spLocks noRot="1" noChangeAspect="1" noMove="1" noResize="1" noEditPoints="1" noAdjustHandles="1" noChangeArrowheads="1" noChangeShapeType="1" noTextEdit="1"/>
              </p:cNvSpPr>
              <p:nvPr/>
            </p:nvSpPr>
            <p:spPr>
              <a:xfrm>
                <a:off x="2123036" y="1376396"/>
                <a:ext cx="820470" cy="650789"/>
              </a:xfrm>
              <a:prstGeom prst="rect">
                <a:avLst/>
              </a:prstGeom>
              <a:blipFill>
                <a:blip r:embed="rId5"/>
                <a:stretch>
                  <a:fillRect/>
                </a:stretch>
              </a:blipFill>
              <a:ln>
                <a:solidFill>
                  <a:schemeClr val="tx1"/>
                </a:solidFill>
              </a:ln>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33AFF204-6C7E-9AFD-0582-43C9F7DEA832}"/>
              </a:ext>
            </a:extLst>
          </p:cNvPr>
          <p:cNvCxnSpPr>
            <a:cxnSpLocks/>
          </p:cNvCxnSpPr>
          <p:nvPr/>
        </p:nvCxnSpPr>
        <p:spPr>
          <a:xfrm flipV="1">
            <a:off x="829996" y="155612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9CA47BB-9405-6EDB-3512-80BFE2BE42C8}"/>
              </a:ext>
            </a:extLst>
          </p:cNvPr>
          <p:cNvSpPr/>
          <p:nvPr/>
        </p:nvSpPr>
        <p:spPr>
          <a:xfrm>
            <a:off x="6837339" y="1878935"/>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Hình chữ nhật 93">
            <a:extLst>
              <a:ext uri="{FF2B5EF4-FFF2-40B4-BE49-F238E27FC236}">
                <a16:creationId xmlns:a16="http://schemas.microsoft.com/office/drawing/2014/main" id="{EFE13B25-ECB3-E9F5-F513-F9CD4FA3B8C0}"/>
              </a:ext>
            </a:extLst>
          </p:cNvPr>
          <p:cNvSpPr/>
          <p:nvPr/>
        </p:nvSpPr>
        <p:spPr>
          <a:xfrm>
            <a:off x="3185781" y="152098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1" name="Arc 10">
            <a:extLst>
              <a:ext uri="{FF2B5EF4-FFF2-40B4-BE49-F238E27FC236}">
                <a16:creationId xmlns:a16="http://schemas.microsoft.com/office/drawing/2014/main" id="{C9ED6E86-5FE4-6EF1-4502-E6A44C34CCA8}"/>
              </a:ext>
            </a:extLst>
          </p:cNvPr>
          <p:cNvSpPr/>
          <p:nvPr/>
        </p:nvSpPr>
        <p:spPr>
          <a:xfrm>
            <a:off x="3241478" y="166558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2" name="Straight Arrow Connector 11">
            <a:extLst>
              <a:ext uri="{FF2B5EF4-FFF2-40B4-BE49-F238E27FC236}">
                <a16:creationId xmlns:a16="http://schemas.microsoft.com/office/drawing/2014/main" id="{5BA249B3-B21D-8783-D169-5DAA571E6C10}"/>
              </a:ext>
            </a:extLst>
          </p:cNvPr>
          <p:cNvCxnSpPr>
            <a:cxnSpLocks/>
          </p:cNvCxnSpPr>
          <p:nvPr/>
        </p:nvCxnSpPr>
        <p:spPr>
          <a:xfrm flipV="1">
            <a:off x="3295694" y="158795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Hộp Văn bản 38">
                <a:extLst>
                  <a:ext uri="{FF2B5EF4-FFF2-40B4-BE49-F238E27FC236}">
                    <a16:creationId xmlns:a16="http://schemas.microsoft.com/office/drawing/2014/main" id="{4ED1B7A7-61EB-F144-0567-D1850867AAFB}"/>
                  </a:ext>
                </a:extLst>
              </p:cNvPr>
              <p:cNvSpPr txBox="1"/>
              <p:nvPr/>
            </p:nvSpPr>
            <p:spPr>
              <a:xfrm>
                <a:off x="3702809" y="1515541"/>
                <a:ext cx="345925" cy="30008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sSub>
                        <m:sSubPr>
                          <m:ctrlPr>
                            <a:rPr lang="en-US" sz="1350" b="0" i="1" smtClean="0">
                              <a:latin typeface="Cambria Math" panose="02040503050406030204" pitchFamily="18" charset="0"/>
                            </a:rPr>
                          </m:ctrlPr>
                        </m:sSubPr>
                        <m:e>
                          <m:r>
                            <a:rPr lang="en-US" sz="1350" i="1" smtClean="0">
                              <a:latin typeface="Cambria Math" panose="02040503050406030204" pitchFamily="18" charset="0"/>
                            </a:rPr>
                            <m:t>𝑝</m:t>
                          </m:r>
                        </m:e>
                        <m:sub>
                          <m:r>
                            <a:rPr lang="en-US" sz="1350" b="0" i="1" smtClean="0">
                              <a:latin typeface="Cambria Math" panose="02040503050406030204" pitchFamily="18" charset="0"/>
                            </a:rPr>
                            <m:t>0</m:t>
                          </m:r>
                        </m:sub>
                      </m:sSub>
                    </m:oMath>
                  </m:oMathPara>
                </a14:m>
                <a:endParaRPr lang="vi-VN" sz="1350"/>
              </a:p>
            </p:txBody>
          </p:sp>
        </mc:Choice>
        <mc:Fallback xmlns="">
          <p:sp>
            <p:nvSpPr>
              <p:cNvPr id="18" name="Hộp Văn bản 38">
                <a:extLst>
                  <a:ext uri="{FF2B5EF4-FFF2-40B4-BE49-F238E27FC236}">
                    <a16:creationId xmlns:a16="http://schemas.microsoft.com/office/drawing/2014/main" id="{4ED1B7A7-61EB-F144-0567-D1850867AAFB}"/>
                  </a:ext>
                </a:extLst>
              </p:cNvPr>
              <p:cNvSpPr txBox="1">
                <a:spLocks noRot="1" noChangeAspect="1" noMove="1" noResize="1" noEditPoints="1" noAdjustHandles="1" noChangeArrowheads="1" noChangeShapeType="1" noTextEdit="1"/>
              </p:cNvSpPr>
              <p:nvPr/>
            </p:nvSpPr>
            <p:spPr>
              <a:xfrm>
                <a:off x="3702809" y="1515541"/>
                <a:ext cx="345925" cy="300082"/>
              </a:xfrm>
              <a:prstGeom prst="rect">
                <a:avLst/>
              </a:prstGeom>
              <a:blipFill>
                <a:blip r:embed="rId6"/>
                <a:stretch>
                  <a:fillRect b="-2041"/>
                </a:stretch>
              </a:blipFill>
            </p:spPr>
            <p:txBody>
              <a:bodyPr/>
              <a:lstStyle/>
              <a:p>
                <a:r>
                  <a:rPr lang="vi-VN">
                    <a:noFill/>
                  </a:rPr>
                  <a:t> </a:t>
                </a:r>
              </a:p>
            </p:txBody>
          </p:sp>
        </mc:Fallback>
      </mc:AlternateContent>
      <p:cxnSp>
        <p:nvCxnSpPr>
          <p:cNvPr id="19" name="Connector: Elbow 18">
            <a:extLst>
              <a:ext uri="{FF2B5EF4-FFF2-40B4-BE49-F238E27FC236}">
                <a16:creationId xmlns:a16="http://schemas.microsoft.com/office/drawing/2014/main" id="{50E00607-E48D-31D7-782E-6AB392C51FAC}"/>
              </a:ext>
            </a:extLst>
          </p:cNvPr>
          <p:cNvCxnSpPr>
            <a:cxnSpLocks/>
            <a:stCxn id="18" idx="3"/>
            <a:endCxn id="21" idx="3"/>
          </p:cNvCxnSpPr>
          <p:nvPr/>
        </p:nvCxnSpPr>
        <p:spPr>
          <a:xfrm flipH="1">
            <a:off x="3872427" y="1665582"/>
            <a:ext cx="176307" cy="435328"/>
          </a:xfrm>
          <a:prstGeom prst="bentConnector3">
            <a:avLst>
              <a:gd name="adj1" fmla="val -129660"/>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1" name="Hộp Văn bản 38">
                <a:extLst>
                  <a:ext uri="{FF2B5EF4-FFF2-40B4-BE49-F238E27FC236}">
                    <a16:creationId xmlns:a16="http://schemas.microsoft.com/office/drawing/2014/main" id="{61A1D8E1-32E7-C507-B2CA-5866BB85D1A1}"/>
                  </a:ext>
                </a:extLst>
              </p:cNvPr>
              <p:cNvSpPr txBox="1"/>
              <p:nvPr/>
            </p:nvSpPr>
            <p:spPr>
              <a:xfrm>
                <a:off x="3021846" y="1916244"/>
                <a:ext cx="850581" cy="36933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r>
                            <a:rPr lang="en-US" b="1" i="1" smtClean="0">
                              <a:latin typeface="Cambria Math" panose="02040503050406030204" pitchFamily="18" charset="0"/>
                            </a:rPr>
                            <m:t>,</m:t>
                          </m:r>
                          <m:r>
                            <a:rPr lang="en-US" b="0" i="1" smtClean="0">
                              <a:latin typeface="Cambria Math" panose="02040503050406030204" pitchFamily="18" charset="0"/>
                            </a:rPr>
                            <m:t>𝑏</m:t>
                          </m:r>
                        </m:e>
                      </m:d>
                    </m:oMath>
                  </m:oMathPara>
                </a14:m>
                <a:endParaRPr lang="vi-VN"/>
              </a:p>
            </p:txBody>
          </p:sp>
        </mc:Choice>
        <mc:Fallback xmlns="">
          <p:sp>
            <p:nvSpPr>
              <p:cNvPr id="21" name="Hộp Văn bản 38">
                <a:extLst>
                  <a:ext uri="{FF2B5EF4-FFF2-40B4-BE49-F238E27FC236}">
                    <a16:creationId xmlns:a16="http://schemas.microsoft.com/office/drawing/2014/main" id="{61A1D8E1-32E7-C507-B2CA-5866BB85D1A1}"/>
                  </a:ext>
                </a:extLst>
              </p:cNvPr>
              <p:cNvSpPr txBox="1">
                <a:spLocks noRot="1" noChangeAspect="1" noMove="1" noResize="1" noEditPoints="1" noAdjustHandles="1" noChangeArrowheads="1" noChangeShapeType="1" noTextEdit="1"/>
              </p:cNvSpPr>
              <p:nvPr/>
            </p:nvSpPr>
            <p:spPr>
              <a:xfrm>
                <a:off x="3021846" y="1916244"/>
                <a:ext cx="850581" cy="369332"/>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7BD2E7A-FCBA-0454-03ED-B468A673F8E3}"/>
                  </a:ext>
                </a:extLst>
              </p:cNvPr>
              <p:cNvSpPr txBox="1"/>
              <p:nvPr/>
            </p:nvSpPr>
            <p:spPr>
              <a:xfrm>
                <a:off x="628650" y="3095303"/>
                <a:ext cx="4496629" cy="1717073"/>
              </a:xfrm>
              <a:prstGeom prst="rect">
                <a:avLst/>
              </a:prstGeom>
              <a:noFill/>
            </p:spPr>
            <p:txBody>
              <a:bodyPr wrap="square" rtlCol="0">
                <a:spAutoFit/>
              </a:bodyPr>
              <a:lstStyle/>
              <a:p>
                <a:r>
                  <a:rPr lang="en-US" b="1"/>
                  <a:t>Problem</a:t>
                </a:r>
                <a:r>
                  <a:rPr lang="en-US"/>
                  <a:t>: </a:t>
                </a:r>
              </a:p>
              <a:p>
                <a:r>
                  <a:rPr lang="en-US"/>
                  <a:t>Simulate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m:t>
                        </m:r>
                        <m:r>
                          <a:rPr lang="en-US" b="0" i="1" smtClean="0">
                            <a:latin typeface="Cambria Math" panose="02040503050406030204" pitchFamily="18" charset="0"/>
                          </a:rPr>
                          <m:t>𝑛</m:t>
                        </m:r>
                      </m:sup>
                    </m:sSup>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a:t> </a:t>
                </a:r>
              </a:p>
              <a:p>
                <a:r>
                  <a:rPr lang="en-US" b="1"/>
                  <a:t>Example</a:t>
                </a:r>
                <a:r>
                  <a:rPr lang="en-US"/>
                  <a:t>: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(|0100⟩)=1</m:t>
                    </m:r>
                  </m:oMath>
                </a14:m>
                <a:endParaRPr lang="en-US" b="0"/>
              </a:p>
              <a:p>
                <a:r>
                  <a:rPr lang="en-US"/>
                  <a:t>Cost function </a:t>
                </a:r>
                <a14:m>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sSup>
                      <m:sSupPr>
                        <m:ctrlPr>
                          <a:rPr lang="en-US" b="0" i="1" smtClean="0">
                            <a:latin typeface="Cambria Math" panose="02040503050406030204" pitchFamily="18" charset="0"/>
                          </a:rPr>
                        </m:ctrlPr>
                      </m:sSupPr>
                      <m:e>
                        <m:nary>
                          <m:naryPr>
                            <m:chr m:val="∑"/>
                            <m:subHide m:val="on"/>
                            <m:supHide m:val="on"/>
                            <m:ctrlPr>
                              <a:rPr lang="en-US" b="0" i="1" smtClean="0">
                                <a:latin typeface="Cambria Math" panose="02040503050406030204" pitchFamily="18" charset="0"/>
                              </a:rPr>
                            </m:ctrlPr>
                          </m:naryPr>
                          <m:sub/>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𝑖</m:t>
                                    </m:r>
                                  </m:sub>
                                </m:sSub>
                                <m:r>
                                  <a:rPr lang="en-US" b="0"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𝑦</m:t>
                                    </m:r>
                                  </m:e>
                                  <m:sub>
                                    <m:r>
                                      <a:rPr lang="en-US" b="0" i="1">
                                        <a:latin typeface="Cambria Math" panose="02040503050406030204" pitchFamily="18" charset="0"/>
                                      </a:rPr>
                                      <m:t>𝑖</m:t>
                                    </m:r>
                                  </m:sub>
                                </m:sSub>
                              </m:e>
                            </m:d>
                          </m:e>
                        </m:nary>
                      </m:e>
                      <m:sup>
                        <m:r>
                          <a:rPr lang="en-US" b="0" i="1" smtClean="0">
                            <a:latin typeface="Cambria Math" panose="02040503050406030204" pitchFamily="18" charset="0"/>
                          </a:rPr>
                          <m:t>2</m:t>
                        </m:r>
                      </m:sup>
                    </m:sSup>
                    <m:r>
                      <a:rPr lang="en-US" b="0" i="1" smtClean="0">
                        <a:solidFill>
                          <a:srgbClr val="FF0000"/>
                        </a:solidFill>
                        <a:latin typeface="Cambria Math" panose="02040503050406030204" pitchFamily="18" charset="0"/>
                      </a:rPr>
                      <m:t>→0</m:t>
                    </m:r>
                  </m:oMath>
                </a14:m>
                <a:endParaRPr lang="en-US" b="0"/>
              </a:p>
              <a:p>
                <a:r>
                  <a:rPr lang="en-US"/>
                  <a:t>Accuracy metric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𝕀</m:t>
                    </m:r>
                    <m:d>
                      <m:dPr>
                        <m:ctrlPr>
                          <a:rPr lang="en-US" b="0" i="1" smtClean="0">
                            <a:latin typeface="Cambria Math" panose="02040503050406030204" pitchFamily="18" charset="0"/>
                            <a:ea typeface="Cambria Math" panose="02040503050406030204" pitchFamily="18" charset="0"/>
                          </a:rPr>
                        </m:ctrlPr>
                      </m:d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r>
                          <a:rPr lang="en-US" b="0" i="1" smtClean="0">
                            <a:latin typeface="Cambria Math" panose="02040503050406030204" pitchFamily="18" charset="0"/>
                          </a:rPr>
                          <m:t>&lt;</m:t>
                        </m:r>
                        <m:r>
                          <a:rPr lang="en-US" b="0" i="1" smtClean="0">
                            <a:latin typeface="Cambria Math" panose="02040503050406030204" pitchFamily="18" charset="0"/>
                          </a:rPr>
                          <m:t>𝜏</m:t>
                        </m:r>
                      </m:e>
                    </m:d>
                    <m:r>
                      <a:rPr lang="en-US" b="0" i="0" smtClean="0">
                        <a:solidFill>
                          <a:srgbClr val="FF0000"/>
                        </a:solidFill>
                        <a:latin typeface="Cambria Math" panose="02040503050406030204" pitchFamily="18" charset="0"/>
                        <a:ea typeface="Cambria Math" panose="02040503050406030204" pitchFamily="18" charset="0"/>
                      </a:rPr>
                      <m:t>→1</m:t>
                    </m:r>
                  </m:oMath>
                </a14:m>
                <a:endParaRPr lang="vi-VN"/>
              </a:p>
            </p:txBody>
          </p:sp>
        </mc:Choice>
        <mc:Fallback xmlns="">
          <p:sp>
            <p:nvSpPr>
              <p:cNvPr id="25" name="TextBox 24">
                <a:extLst>
                  <a:ext uri="{FF2B5EF4-FFF2-40B4-BE49-F238E27FC236}">
                    <a16:creationId xmlns:a16="http://schemas.microsoft.com/office/drawing/2014/main" id="{17BD2E7A-FCBA-0454-03ED-B468A673F8E3}"/>
                  </a:ext>
                </a:extLst>
              </p:cNvPr>
              <p:cNvSpPr txBox="1">
                <a:spLocks noRot="1" noChangeAspect="1" noMove="1" noResize="1" noEditPoints="1" noAdjustHandles="1" noChangeArrowheads="1" noChangeShapeType="1" noTextEdit="1"/>
              </p:cNvSpPr>
              <p:nvPr/>
            </p:nvSpPr>
            <p:spPr>
              <a:xfrm>
                <a:off x="628650" y="3095303"/>
                <a:ext cx="4496629" cy="1717073"/>
              </a:xfrm>
              <a:prstGeom prst="rect">
                <a:avLst/>
              </a:prstGeom>
              <a:blipFill>
                <a:blip r:embed="rId8"/>
                <a:stretch>
                  <a:fillRect l="-1084" t="-2135" b="-13879"/>
                </a:stretch>
              </a:blipFill>
            </p:spPr>
            <p:txBody>
              <a:bodyPr/>
              <a:lstStyle/>
              <a:p>
                <a:r>
                  <a:rPr lang="vi-VN">
                    <a:noFill/>
                  </a:rPr>
                  <a:t> </a:t>
                </a:r>
              </a:p>
            </p:txBody>
          </p:sp>
        </mc:Fallback>
      </mc:AlternateContent>
      <p:cxnSp>
        <p:nvCxnSpPr>
          <p:cNvPr id="28" name="Straight Connector 27">
            <a:extLst>
              <a:ext uri="{FF2B5EF4-FFF2-40B4-BE49-F238E27FC236}">
                <a16:creationId xmlns:a16="http://schemas.microsoft.com/office/drawing/2014/main" id="{3F808467-E4F3-770C-F3B6-56290E5CB4F7}"/>
              </a:ext>
            </a:extLst>
          </p:cNvPr>
          <p:cNvCxnSpPr>
            <a:cxnSpLocks/>
          </p:cNvCxnSpPr>
          <p:nvPr/>
        </p:nvCxnSpPr>
        <p:spPr>
          <a:xfrm>
            <a:off x="1197722" y="2305216"/>
            <a:ext cx="822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DBFFBBA-C7F4-82BE-0FF0-1E3F6D956FA5}"/>
              </a:ext>
            </a:extLst>
          </p:cNvPr>
          <p:cNvCxnSpPr>
            <a:cxnSpLocks/>
          </p:cNvCxnSpPr>
          <p:nvPr/>
        </p:nvCxnSpPr>
        <p:spPr>
          <a:xfrm>
            <a:off x="1197722" y="2704560"/>
            <a:ext cx="822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357AB84-EB14-67D7-69F1-38B0BE9462DD}"/>
              </a:ext>
            </a:extLst>
          </p:cNvPr>
          <p:cNvCxnSpPr>
            <a:cxnSpLocks/>
          </p:cNvCxnSpPr>
          <p:nvPr/>
        </p:nvCxnSpPr>
        <p:spPr>
          <a:xfrm>
            <a:off x="1197721" y="2904233"/>
            <a:ext cx="822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1379386-FAED-ACD0-B1E2-FDFD7A5C6CFE}"/>
              </a:ext>
            </a:extLst>
          </p:cNvPr>
          <p:cNvCxnSpPr>
            <a:cxnSpLocks/>
          </p:cNvCxnSpPr>
          <p:nvPr/>
        </p:nvCxnSpPr>
        <p:spPr>
          <a:xfrm>
            <a:off x="1197721" y="2504888"/>
            <a:ext cx="822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2C4C930-3E5E-EAC0-9505-FD6838B6F83E}"/>
                  </a:ext>
                </a:extLst>
              </p:cNvPr>
              <p:cNvSpPr txBox="1"/>
              <p:nvPr/>
            </p:nvSpPr>
            <p:spPr>
              <a:xfrm>
                <a:off x="965286" y="2196435"/>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3" name="TextBox 32">
                <a:extLst>
                  <a:ext uri="{FF2B5EF4-FFF2-40B4-BE49-F238E27FC236}">
                    <a16:creationId xmlns:a16="http://schemas.microsoft.com/office/drawing/2014/main" id="{62C4C930-3E5E-EAC0-9505-FD6838B6F83E}"/>
                  </a:ext>
                </a:extLst>
              </p:cNvPr>
              <p:cNvSpPr txBox="1">
                <a:spLocks noRot="1" noChangeAspect="1" noMove="1" noResize="1" noEditPoints="1" noAdjustHandles="1" noChangeArrowheads="1" noChangeShapeType="1" noTextEdit="1"/>
              </p:cNvSpPr>
              <p:nvPr/>
            </p:nvSpPr>
            <p:spPr>
              <a:xfrm>
                <a:off x="965286" y="2196435"/>
                <a:ext cx="232435" cy="184666"/>
              </a:xfrm>
              <a:prstGeom prst="rect">
                <a:avLst/>
              </a:prstGeom>
              <a:blipFill>
                <a:blip r:embed="rId9"/>
                <a:stretch>
                  <a:fillRect l="-21053" r="-23684" b="-322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A686794-006E-97A2-72EE-DBEDBEC4DF8C}"/>
                  </a:ext>
                </a:extLst>
              </p:cNvPr>
              <p:cNvSpPr txBox="1"/>
              <p:nvPr/>
            </p:nvSpPr>
            <p:spPr>
              <a:xfrm>
                <a:off x="965285" y="2399691"/>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4" name="TextBox 33">
                <a:extLst>
                  <a:ext uri="{FF2B5EF4-FFF2-40B4-BE49-F238E27FC236}">
                    <a16:creationId xmlns:a16="http://schemas.microsoft.com/office/drawing/2014/main" id="{9A686794-006E-97A2-72EE-DBEDBEC4DF8C}"/>
                  </a:ext>
                </a:extLst>
              </p:cNvPr>
              <p:cNvSpPr txBox="1">
                <a:spLocks noRot="1" noChangeAspect="1" noMove="1" noResize="1" noEditPoints="1" noAdjustHandles="1" noChangeArrowheads="1" noChangeShapeType="1" noTextEdit="1"/>
              </p:cNvSpPr>
              <p:nvPr/>
            </p:nvSpPr>
            <p:spPr>
              <a:xfrm>
                <a:off x="965285" y="2399691"/>
                <a:ext cx="232435" cy="184666"/>
              </a:xfrm>
              <a:prstGeom prst="rect">
                <a:avLst/>
              </a:prstGeom>
              <a:blipFill>
                <a:blip r:embed="rId10"/>
                <a:stretch>
                  <a:fillRect l="-21053" t="-333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50F8933-1CCB-75F9-F0DE-7B693F6AE8F2}"/>
                  </a:ext>
                </a:extLst>
              </p:cNvPr>
              <p:cNvSpPr txBox="1"/>
              <p:nvPr/>
            </p:nvSpPr>
            <p:spPr>
              <a:xfrm>
                <a:off x="965285" y="2595779"/>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5" name="TextBox 34">
                <a:extLst>
                  <a:ext uri="{FF2B5EF4-FFF2-40B4-BE49-F238E27FC236}">
                    <a16:creationId xmlns:a16="http://schemas.microsoft.com/office/drawing/2014/main" id="{650F8933-1CCB-75F9-F0DE-7B693F6AE8F2}"/>
                  </a:ext>
                </a:extLst>
              </p:cNvPr>
              <p:cNvSpPr txBox="1">
                <a:spLocks noRot="1" noChangeAspect="1" noMove="1" noResize="1" noEditPoints="1" noAdjustHandles="1" noChangeArrowheads="1" noChangeShapeType="1" noTextEdit="1"/>
              </p:cNvSpPr>
              <p:nvPr/>
            </p:nvSpPr>
            <p:spPr>
              <a:xfrm>
                <a:off x="965285" y="2595779"/>
                <a:ext cx="232435" cy="184666"/>
              </a:xfrm>
              <a:prstGeom prst="rect">
                <a:avLst/>
              </a:prstGeom>
              <a:blipFill>
                <a:blip r:embed="rId9"/>
                <a:stretch>
                  <a:fillRect l="-2105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7D8F6EF-242F-D107-3921-4C8DA23B790E}"/>
                  </a:ext>
                </a:extLst>
              </p:cNvPr>
              <p:cNvSpPr txBox="1"/>
              <p:nvPr/>
            </p:nvSpPr>
            <p:spPr>
              <a:xfrm>
                <a:off x="965284" y="2808315"/>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6" name="TextBox 35">
                <a:extLst>
                  <a:ext uri="{FF2B5EF4-FFF2-40B4-BE49-F238E27FC236}">
                    <a16:creationId xmlns:a16="http://schemas.microsoft.com/office/drawing/2014/main" id="{07D8F6EF-242F-D107-3921-4C8DA23B790E}"/>
                  </a:ext>
                </a:extLst>
              </p:cNvPr>
              <p:cNvSpPr txBox="1">
                <a:spLocks noRot="1" noChangeAspect="1" noMove="1" noResize="1" noEditPoints="1" noAdjustHandles="1" noChangeArrowheads="1" noChangeShapeType="1" noTextEdit="1"/>
              </p:cNvSpPr>
              <p:nvPr/>
            </p:nvSpPr>
            <p:spPr>
              <a:xfrm>
                <a:off x="965284" y="2808315"/>
                <a:ext cx="232435" cy="184666"/>
              </a:xfrm>
              <a:prstGeom prst="rect">
                <a:avLst/>
              </a:prstGeom>
              <a:blipFill>
                <a:blip r:embed="rId10"/>
                <a:stretch>
                  <a:fillRect l="-21053" t="-333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31E5F31-65DF-4BD6-D72B-DC4B2875B1C7}"/>
                  </a:ext>
                </a:extLst>
              </p:cNvPr>
              <p:cNvSpPr txBox="1"/>
              <p:nvPr/>
            </p:nvSpPr>
            <p:spPr>
              <a:xfrm>
                <a:off x="2051675" y="2191417"/>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7" name="TextBox 36">
                <a:extLst>
                  <a:ext uri="{FF2B5EF4-FFF2-40B4-BE49-F238E27FC236}">
                    <a16:creationId xmlns:a16="http://schemas.microsoft.com/office/drawing/2014/main" id="{531E5F31-65DF-4BD6-D72B-DC4B2875B1C7}"/>
                  </a:ext>
                </a:extLst>
              </p:cNvPr>
              <p:cNvSpPr txBox="1">
                <a:spLocks noRot="1" noChangeAspect="1" noMove="1" noResize="1" noEditPoints="1" noAdjustHandles="1" noChangeArrowheads="1" noChangeShapeType="1" noTextEdit="1"/>
              </p:cNvSpPr>
              <p:nvPr/>
            </p:nvSpPr>
            <p:spPr>
              <a:xfrm>
                <a:off x="2051675" y="2191417"/>
                <a:ext cx="232435" cy="184666"/>
              </a:xfrm>
              <a:prstGeom prst="rect">
                <a:avLst/>
              </a:prstGeom>
              <a:blipFill>
                <a:blip r:embed="rId11"/>
                <a:stretch>
                  <a:fillRect l="-21053" r="-23684" b="-322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FD953BB-2A8E-1B6B-3673-0426FE203245}"/>
                  </a:ext>
                </a:extLst>
              </p:cNvPr>
              <p:cNvSpPr txBox="1"/>
              <p:nvPr/>
            </p:nvSpPr>
            <p:spPr>
              <a:xfrm>
                <a:off x="2051674" y="2394673"/>
                <a:ext cx="232436"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m:t>
                      </m:r>
                    </m:oMath>
                  </m:oMathPara>
                </a14:m>
                <a:endParaRPr lang="vi-VN" sz="1200"/>
              </a:p>
            </p:txBody>
          </p:sp>
        </mc:Choice>
        <mc:Fallback xmlns="">
          <p:sp>
            <p:nvSpPr>
              <p:cNvPr id="38" name="TextBox 37">
                <a:extLst>
                  <a:ext uri="{FF2B5EF4-FFF2-40B4-BE49-F238E27FC236}">
                    <a16:creationId xmlns:a16="http://schemas.microsoft.com/office/drawing/2014/main" id="{CFD953BB-2A8E-1B6B-3673-0426FE203245}"/>
                  </a:ext>
                </a:extLst>
              </p:cNvPr>
              <p:cNvSpPr txBox="1">
                <a:spLocks noRot="1" noChangeAspect="1" noMove="1" noResize="1" noEditPoints="1" noAdjustHandles="1" noChangeArrowheads="1" noChangeShapeType="1" noTextEdit="1"/>
              </p:cNvSpPr>
              <p:nvPr/>
            </p:nvSpPr>
            <p:spPr>
              <a:xfrm>
                <a:off x="2051674" y="2394673"/>
                <a:ext cx="232436" cy="184666"/>
              </a:xfrm>
              <a:prstGeom prst="rect">
                <a:avLst/>
              </a:prstGeom>
              <a:blipFill>
                <a:blip r:embed="rId12"/>
                <a:stretch>
                  <a:fillRect l="-2105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9D52FDE-713A-5C63-041D-635F8CFDD37C}"/>
                  </a:ext>
                </a:extLst>
              </p:cNvPr>
              <p:cNvSpPr txBox="1"/>
              <p:nvPr/>
            </p:nvSpPr>
            <p:spPr>
              <a:xfrm>
                <a:off x="2051674" y="2590761"/>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9" name="TextBox 38">
                <a:extLst>
                  <a:ext uri="{FF2B5EF4-FFF2-40B4-BE49-F238E27FC236}">
                    <a16:creationId xmlns:a16="http://schemas.microsoft.com/office/drawing/2014/main" id="{D9D52FDE-713A-5C63-041D-635F8CFDD37C}"/>
                  </a:ext>
                </a:extLst>
              </p:cNvPr>
              <p:cNvSpPr txBox="1">
                <a:spLocks noRot="1" noChangeAspect="1" noMove="1" noResize="1" noEditPoints="1" noAdjustHandles="1" noChangeArrowheads="1" noChangeShapeType="1" noTextEdit="1"/>
              </p:cNvSpPr>
              <p:nvPr/>
            </p:nvSpPr>
            <p:spPr>
              <a:xfrm>
                <a:off x="2051674" y="2590761"/>
                <a:ext cx="232435" cy="184666"/>
              </a:xfrm>
              <a:prstGeom prst="rect">
                <a:avLst/>
              </a:prstGeom>
              <a:blipFill>
                <a:blip r:embed="rId9"/>
                <a:stretch>
                  <a:fillRect l="-2105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17E38D2-8998-D300-DAC9-7F0E35CDCF4E}"/>
                  </a:ext>
                </a:extLst>
              </p:cNvPr>
              <p:cNvSpPr txBox="1"/>
              <p:nvPr/>
            </p:nvSpPr>
            <p:spPr>
              <a:xfrm>
                <a:off x="2051673" y="2803297"/>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40" name="TextBox 39">
                <a:extLst>
                  <a:ext uri="{FF2B5EF4-FFF2-40B4-BE49-F238E27FC236}">
                    <a16:creationId xmlns:a16="http://schemas.microsoft.com/office/drawing/2014/main" id="{817E38D2-8998-D300-DAC9-7F0E35CDCF4E}"/>
                  </a:ext>
                </a:extLst>
              </p:cNvPr>
              <p:cNvSpPr txBox="1">
                <a:spLocks noRot="1" noChangeAspect="1" noMove="1" noResize="1" noEditPoints="1" noAdjustHandles="1" noChangeArrowheads="1" noChangeShapeType="1" noTextEdit="1"/>
              </p:cNvSpPr>
              <p:nvPr/>
            </p:nvSpPr>
            <p:spPr>
              <a:xfrm>
                <a:off x="2051673" y="2803297"/>
                <a:ext cx="232435" cy="184666"/>
              </a:xfrm>
              <a:prstGeom prst="rect">
                <a:avLst/>
              </a:prstGeom>
              <a:blipFill>
                <a:blip r:embed="rId9"/>
                <a:stretch>
                  <a:fillRect l="-2105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7F123D99-0816-36F4-FF8B-D5C5CAB289DA}"/>
                  </a:ext>
                </a:extLst>
              </p:cNvPr>
              <p:cNvSpPr/>
              <p:nvPr/>
            </p:nvSpPr>
            <p:spPr>
              <a:xfrm>
                <a:off x="1405451" y="2376083"/>
                <a:ext cx="232436" cy="2757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𝑋</m:t>
                      </m:r>
                    </m:oMath>
                  </m:oMathPara>
                </a14:m>
                <a:endParaRPr/>
              </a:p>
            </p:txBody>
          </p:sp>
        </mc:Choice>
        <mc:Fallback xmlns="">
          <p:sp>
            <p:nvSpPr>
              <p:cNvPr id="41" name="Rectangle 40">
                <a:extLst>
                  <a:ext uri="{FF2B5EF4-FFF2-40B4-BE49-F238E27FC236}">
                    <a16:creationId xmlns:a16="http://schemas.microsoft.com/office/drawing/2014/main" id="{7F123D99-0816-36F4-FF8B-D5C5CAB289DA}"/>
                  </a:ext>
                </a:extLst>
              </p:cNvPr>
              <p:cNvSpPr>
                <a:spLocks noRot="1" noChangeAspect="1" noMove="1" noResize="1" noEditPoints="1" noAdjustHandles="1" noChangeArrowheads="1" noChangeShapeType="1" noTextEdit="1"/>
              </p:cNvSpPr>
              <p:nvPr/>
            </p:nvSpPr>
            <p:spPr>
              <a:xfrm>
                <a:off x="1405451" y="2376083"/>
                <a:ext cx="232436" cy="275796"/>
              </a:xfrm>
              <a:prstGeom prst="rect">
                <a:avLst/>
              </a:prstGeom>
              <a:blipFill>
                <a:blip r:embed="rId13"/>
                <a:stretch>
                  <a:fillRect l="-17500" r="-12500" b="-4255"/>
                </a:stretch>
              </a:blipFill>
              <a:ln>
                <a:solidFill>
                  <a:schemeClr val="tx1"/>
                </a:solidFill>
              </a:ln>
            </p:spPr>
            <p:txBody>
              <a:bodyPr/>
              <a:lstStyle/>
              <a:p>
                <a:r>
                  <a:rPr lang="vi-VN">
                    <a:noFill/>
                  </a:rPr>
                  <a:t> </a:t>
                </a:r>
              </a:p>
            </p:txBody>
          </p:sp>
        </mc:Fallback>
      </mc:AlternateContent>
      <p:cxnSp>
        <p:nvCxnSpPr>
          <p:cNvPr id="43" name="Straight Connector 42">
            <a:extLst>
              <a:ext uri="{FF2B5EF4-FFF2-40B4-BE49-F238E27FC236}">
                <a16:creationId xmlns:a16="http://schemas.microsoft.com/office/drawing/2014/main" id="{F38000E6-65D8-A315-1CB5-E14FD80C86F5}"/>
              </a:ext>
            </a:extLst>
          </p:cNvPr>
          <p:cNvCxnSpPr>
            <a:stCxn id="37" idx="0"/>
          </p:cNvCxnSpPr>
          <p:nvPr/>
        </p:nvCxnSpPr>
        <p:spPr>
          <a:xfrm flipH="1" flipV="1">
            <a:off x="2018191" y="2027185"/>
            <a:ext cx="149702" cy="16423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371DD7BC-309C-8F59-0870-F9D1B803E2B9}"/>
              </a:ext>
            </a:extLst>
          </p:cNvPr>
          <p:cNvCxnSpPr>
            <a:cxnSpLocks/>
            <a:stCxn id="33" idx="0"/>
          </p:cNvCxnSpPr>
          <p:nvPr/>
        </p:nvCxnSpPr>
        <p:spPr>
          <a:xfrm flipV="1">
            <a:off x="1081504" y="2027185"/>
            <a:ext cx="112611" cy="169250"/>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Hộp Văn bản 38">
                <a:extLst>
                  <a:ext uri="{FF2B5EF4-FFF2-40B4-BE49-F238E27FC236}">
                    <a16:creationId xmlns:a16="http://schemas.microsoft.com/office/drawing/2014/main" id="{BA3606F7-0786-9E45-1CF4-E2ED5CEE2994}"/>
                  </a:ext>
                </a:extLst>
              </p:cNvPr>
              <p:cNvSpPr txBox="1"/>
              <p:nvPr/>
            </p:nvSpPr>
            <p:spPr>
              <a:xfrm>
                <a:off x="3671002" y="2573026"/>
                <a:ext cx="888344" cy="215444"/>
              </a:xfrm>
              <a:prstGeom prst="rect">
                <a:avLst/>
              </a:prstGeom>
              <a:noFill/>
            </p:spPr>
            <p:txBody>
              <a:bodyPr wrap="square" rtlCol="0">
                <a:spAutoFit/>
              </a:bodyPr>
              <a:lstStyle/>
              <a:p>
                <a:r>
                  <a:rPr lang="en-US" sz="800"/>
                  <a:t>classical bias </a:t>
                </a:r>
                <a14:m>
                  <m:oMath xmlns:m="http://schemas.openxmlformats.org/officeDocument/2006/math">
                    <m:r>
                      <a:rPr lang="en-US" sz="800" b="0" i="1" smtClean="0">
                        <a:latin typeface="Cambria Math" panose="02040503050406030204" pitchFamily="18" charset="0"/>
                      </a:rPr>
                      <m:t>𝑏</m:t>
                    </m:r>
                  </m:oMath>
                </a14:m>
                <a:endParaRPr lang="vi-VN" sz="800"/>
              </a:p>
            </p:txBody>
          </p:sp>
        </mc:Choice>
        <mc:Fallback xmlns="">
          <p:sp>
            <p:nvSpPr>
              <p:cNvPr id="49" name="Hộp Văn bản 38">
                <a:extLst>
                  <a:ext uri="{FF2B5EF4-FFF2-40B4-BE49-F238E27FC236}">
                    <a16:creationId xmlns:a16="http://schemas.microsoft.com/office/drawing/2014/main" id="{BA3606F7-0786-9E45-1CF4-E2ED5CEE2994}"/>
                  </a:ext>
                </a:extLst>
              </p:cNvPr>
              <p:cNvSpPr txBox="1">
                <a:spLocks noRot="1" noChangeAspect="1" noMove="1" noResize="1" noEditPoints="1" noAdjustHandles="1" noChangeArrowheads="1" noChangeShapeType="1" noTextEdit="1"/>
              </p:cNvSpPr>
              <p:nvPr/>
            </p:nvSpPr>
            <p:spPr>
              <a:xfrm>
                <a:off x="3671002" y="2573026"/>
                <a:ext cx="888344" cy="215444"/>
              </a:xfrm>
              <a:prstGeom prst="rect">
                <a:avLst/>
              </a:prstGeom>
              <a:blipFill>
                <a:blip r:embed="rId14"/>
                <a:stretch>
                  <a:fillRect b="-1142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0AB7EAD-B6A2-8D13-4D48-91C996A60CF3}"/>
                  </a:ext>
                </a:extLst>
              </p:cNvPr>
              <p:cNvSpPr txBox="1"/>
              <p:nvPr/>
            </p:nvSpPr>
            <p:spPr>
              <a:xfrm>
                <a:off x="3917900" y="1896215"/>
                <a:ext cx="39285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53" name="TextBox 52">
                <a:extLst>
                  <a:ext uri="{FF2B5EF4-FFF2-40B4-BE49-F238E27FC236}">
                    <a16:creationId xmlns:a16="http://schemas.microsoft.com/office/drawing/2014/main" id="{40AB7EAD-B6A2-8D13-4D48-91C996A60CF3}"/>
                  </a:ext>
                </a:extLst>
              </p:cNvPr>
              <p:cNvSpPr txBox="1">
                <a:spLocks noRot="1" noChangeAspect="1" noMove="1" noResize="1" noEditPoints="1" noAdjustHandles="1" noChangeArrowheads="1" noChangeShapeType="1" noTextEdit="1"/>
              </p:cNvSpPr>
              <p:nvPr/>
            </p:nvSpPr>
            <p:spPr>
              <a:xfrm>
                <a:off x="3917900" y="1896215"/>
                <a:ext cx="392854" cy="369332"/>
              </a:xfrm>
              <a:prstGeom prst="rect">
                <a:avLst/>
              </a:prstGeom>
              <a:blipFill>
                <a:blip r:embed="rId15"/>
                <a:stretch>
                  <a:fillRect b="-3279"/>
                </a:stretch>
              </a:blipFill>
            </p:spPr>
            <p:txBody>
              <a:bodyPr/>
              <a:lstStyle/>
              <a:p>
                <a:r>
                  <a:rPr lang="vi-VN">
                    <a:noFill/>
                  </a:rPr>
                  <a:t> </a:t>
                </a:r>
              </a:p>
            </p:txBody>
          </p:sp>
        </mc:Fallback>
      </mc:AlternateContent>
      <p:cxnSp>
        <p:nvCxnSpPr>
          <p:cNvPr id="55" name="Straight Arrow Connector 54">
            <a:extLst>
              <a:ext uri="{FF2B5EF4-FFF2-40B4-BE49-F238E27FC236}">
                <a16:creationId xmlns:a16="http://schemas.microsoft.com/office/drawing/2014/main" id="{444FF664-F2FE-F9C8-9D4B-3E0F53CA6847}"/>
              </a:ext>
            </a:extLst>
          </p:cNvPr>
          <p:cNvCxnSpPr>
            <a:cxnSpLocks/>
          </p:cNvCxnSpPr>
          <p:nvPr/>
        </p:nvCxnSpPr>
        <p:spPr>
          <a:xfrm flipV="1">
            <a:off x="4118260" y="2185231"/>
            <a:ext cx="0" cy="3941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Connector: Elbow 56">
            <a:extLst>
              <a:ext uri="{FF2B5EF4-FFF2-40B4-BE49-F238E27FC236}">
                <a16:creationId xmlns:a16="http://schemas.microsoft.com/office/drawing/2014/main" id="{E21621C4-12E4-6F3F-E9C1-23962570B2A3}"/>
              </a:ext>
            </a:extLst>
          </p:cNvPr>
          <p:cNvCxnSpPr>
            <a:cxnSpLocks/>
            <a:stCxn id="21" idx="2"/>
            <a:endCxn id="7" idx="2"/>
          </p:cNvCxnSpPr>
          <p:nvPr/>
        </p:nvCxnSpPr>
        <p:spPr>
          <a:xfrm rot="5400000" flipH="1">
            <a:off x="2861008" y="1699448"/>
            <a:ext cx="258391" cy="913866"/>
          </a:xfrm>
          <a:prstGeom prst="bentConnector3">
            <a:avLst>
              <a:gd name="adj1" fmla="val -88471"/>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0" name="Hộp Văn bản 38">
                <a:extLst>
                  <a:ext uri="{FF2B5EF4-FFF2-40B4-BE49-F238E27FC236}">
                    <a16:creationId xmlns:a16="http://schemas.microsoft.com/office/drawing/2014/main" id="{F306436C-1C53-76A7-4302-CEC728A08B9D}"/>
                  </a:ext>
                </a:extLst>
              </p:cNvPr>
              <p:cNvSpPr txBox="1"/>
              <p:nvPr/>
            </p:nvSpPr>
            <p:spPr>
              <a:xfrm>
                <a:off x="2536663" y="2573026"/>
                <a:ext cx="888344" cy="215444"/>
              </a:xfrm>
              <a:prstGeom prst="rect">
                <a:avLst/>
              </a:prstGeom>
              <a:noFill/>
            </p:spPr>
            <p:txBody>
              <a:bodyPr wrap="square" rtlCol="0">
                <a:spAutoFit/>
              </a:bodyPr>
              <a:lstStyle/>
              <a:p>
                <a:pPr algn="ctr"/>
                <a:r>
                  <a:rPr lang="en-US" sz="800"/>
                  <a:t>Update </a:t>
                </a:r>
                <a14:m>
                  <m:oMath xmlns:m="http://schemas.openxmlformats.org/officeDocument/2006/math">
                    <m:r>
                      <a:rPr lang="en-US" sz="800" b="1" i="1" smtClean="0">
                        <a:latin typeface="Cambria Math" panose="02040503050406030204" pitchFamily="18" charset="0"/>
                      </a:rPr>
                      <m:t>𝜽</m:t>
                    </m:r>
                    <m:r>
                      <a:rPr lang="en-US" sz="800" b="1" i="1" smtClean="0">
                        <a:latin typeface="Cambria Math" panose="02040503050406030204" pitchFamily="18" charset="0"/>
                      </a:rPr>
                      <m:t>,</m:t>
                    </m:r>
                    <m:r>
                      <a:rPr lang="en-US" sz="800" b="0" i="1" smtClean="0">
                        <a:latin typeface="Cambria Math" panose="02040503050406030204" pitchFamily="18" charset="0"/>
                      </a:rPr>
                      <m:t>𝑏</m:t>
                    </m:r>
                  </m:oMath>
                </a14:m>
                <a:endParaRPr lang="vi-VN" sz="800"/>
              </a:p>
            </p:txBody>
          </p:sp>
        </mc:Choice>
        <mc:Fallback xmlns="">
          <p:sp>
            <p:nvSpPr>
              <p:cNvPr id="60" name="Hộp Văn bản 38">
                <a:extLst>
                  <a:ext uri="{FF2B5EF4-FFF2-40B4-BE49-F238E27FC236}">
                    <a16:creationId xmlns:a16="http://schemas.microsoft.com/office/drawing/2014/main" id="{F306436C-1C53-76A7-4302-CEC728A08B9D}"/>
                  </a:ext>
                </a:extLst>
              </p:cNvPr>
              <p:cNvSpPr txBox="1">
                <a:spLocks noRot="1" noChangeAspect="1" noMove="1" noResize="1" noEditPoints="1" noAdjustHandles="1" noChangeArrowheads="1" noChangeShapeType="1" noTextEdit="1"/>
              </p:cNvSpPr>
              <p:nvPr/>
            </p:nvSpPr>
            <p:spPr>
              <a:xfrm>
                <a:off x="2536663" y="2573026"/>
                <a:ext cx="888344" cy="215444"/>
              </a:xfrm>
              <a:prstGeom prst="rect">
                <a:avLst/>
              </a:prstGeom>
              <a:blipFill>
                <a:blip r:embed="rId16"/>
                <a:stretch>
                  <a:fillRect b="-11429"/>
                </a:stretch>
              </a:blipFill>
            </p:spPr>
            <p:txBody>
              <a:bodyPr/>
              <a:lstStyle/>
              <a:p>
                <a:r>
                  <a:rPr lang="vi-VN">
                    <a:noFill/>
                  </a:rPr>
                  <a:t> </a:t>
                </a:r>
              </a:p>
            </p:txBody>
          </p:sp>
        </mc:Fallback>
      </mc:AlternateContent>
      <p:sp>
        <p:nvSpPr>
          <p:cNvPr id="70" name="TextBox 69">
            <a:extLst>
              <a:ext uri="{FF2B5EF4-FFF2-40B4-BE49-F238E27FC236}">
                <a16:creationId xmlns:a16="http://schemas.microsoft.com/office/drawing/2014/main" id="{DAB74536-4230-0A64-1C5E-60DDB14161ED}"/>
              </a:ext>
            </a:extLst>
          </p:cNvPr>
          <p:cNvSpPr txBox="1"/>
          <p:nvPr/>
        </p:nvSpPr>
        <p:spPr>
          <a:xfrm>
            <a:off x="6468143" y="1309436"/>
            <a:ext cx="2191193" cy="1200329"/>
          </a:xfrm>
          <a:prstGeom prst="rect">
            <a:avLst/>
          </a:prstGeom>
          <a:noFill/>
        </p:spPr>
        <p:txBody>
          <a:bodyPr wrap="square" rtlCol="0">
            <a:spAutoFit/>
          </a:bodyPr>
          <a:lstStyle/>
          <a:p>
            <a:r>
              <a:rPr lang="en-US"/>
              <a:t>#qubits = 4</a:t>
            </a:r>
          </a:p>
          <a:p>
            <a:r>
              <a:rPr lang="en-US"/>
              <a:t>#qparam = 24</a:t>
            </a:r>
          </a:p>
          <a:p>
            <a:r>
              <a:rPr lang="en-US"/>
              <a:t>#cparam = 1</a:t>
            </a:r>
          </a:p>
          <a:p>
            <a:r>
              <a:rPr lang="en-US"/>
              <a:t>Optimizer: Adam</a:t>
            </a:r>
            <a:endParaRPr lang="vi-VN"/>
          </a:p>
        </p:txBody>
      </p:sp>
      <p:sp>
        <p:nvSpPr>
          <p:cNvPr id="72" name="TextBox 71">
            <a:extLst>
              <a:ext uri="{FF2B5EF4-FFF2-40B4-BE49-F238E27FC236}">
                <a16:creationId xmlns:a16="http://schemas.microsoft.com/office/drawing/2014/main" id="{214D7C79-1F81-EA1B-AE22-320699699983}"/>
              </a:ext>
            </a:extLst>
          </p:cNvPr>
          <p:cNvSpPr txBox="1"/>
          <p:nvPr/>
        </p:nvSpPr>
        <p:spPr>
          <a:xfrm>
            <a:off x="628650" y="4812376"/>
            <a:ext cx="4572000" cy="246221"/>
          </a:xfrm>
          <a:prstGeom prst="rect">
            <a:avLst/>
          </a:prstGeom>
          <a:noFill/>
        </p:spPr>
        <p:txBody>
          <a:bodyPr wrap="square">
            <a:spAutoFit/>
          </a:bodyPr>
          <a:lstStyle/>
          <a:p>
            <a:r>
              <a:rPr lang="en-US" sz="1000" b="1">
                <a:latin typeface="Calibri" panose="020F0502020204030204" pitchFamily="34" charset="0"/>
                <a:ea typeface="Calibri" panose="020F0502020204030204" pitchFamily="34" charset="0"/>
                <a:cs typeface="Calibri" panose="020F0502020204030204" pitchFamily="34" charset="0"/>
              </a:rPr>
              <a:t>[3.4.2]</a:t>
            </a:r>
            <a:r>
              <a:rPr lang="en-US" sz="1000">
                <a:latin typeface="Calibri" panose="020F0502020204030204" pitchFamily="34" charset="0"/>
                <a:ea typeface="Calibri" panose="020F0502020204030204" pitchFamily="34" charset="0"/>
                <a:cs typeface="Calibri" panose="020F0502020204030204" pitchFamily="34" charset="0"/>
              </a:rPr>
              <a:t> </a:t>
            </a:r>
            <a:r>
              <a:rPr lang="vi-VN" sz="1000">
                <a:latin typeface="Calibri" panose="020F0502020204030204" pitchFamily="34" charset="0"/>
                <a:ea typeface="Calibri" panose="020F0502020204030204" pitchFamily="34" charset="0"/>
                <a:cs typeface="Calibri" panose="020F0502020204030204" pitchFamily="34" charset="0"/>
              </a:rPr>
              <a:t>https://pennylane.ai/qml/demos/tutorial_variational_classifier</a:t>
            </a:r>
          </a:p>
        </p:txBody>
      </p:sp>
    </p:spTree>
    <p:extLst>
      <p:ext uri="{BB962C8B-B14F-4D97-AF65-F5344CB8AC3E}">
        <p14:creationId xmlns:p14="http://schemas.microsoft.com/office/powerpoint/2010/main" val="40029095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EA768-7825-D899-7EB9-8E656DB18DFC}"/>
              </a:ext>
            </a:extLst>
          </p:cNvPr>
          <p:cNvSpPr>
            <a:spLocks noGrp="1"/>
          </p:cNvSpPr>
          <p:nvPr>
            <p:ph type="title"/>
          </p:nvPr>
        </p:nvSpPr>
        <p:spPr/>
        <p:txBody>
          <a:bodyPr>
            <a:normAutofit/>
          </a:bodyPr>
          <a:lstStyle/>
          <a:p>
            <a:r>
              <a:rPr lang="en-US"/>
              <a:t>3.4. Quantum deep learning</a:t>
            </a:r>
            <a:br>
              <a:rPr lang="en-US"/>
            </a:br>
            <a:r>
              <a:rPr lang="vi-VN" sz="2000" b="0" i="0">
                <a:solidFill>
                  <a:srgbClr val="000000"/>
                </a:solidFill>
                <a:effectLst/>
                <a:latin typeface="__Quicksand_e7ab6f"/>
              </a:rPr>
              <a:t>Variational classifier</a:t>
            </a:r>
            <a:r>
              <a:rPr lang="en-US" sz="2000" b="0" i="0">
                <a:solidFill>
                  <a:srgbClr val="000000"/>
                </a:solidFill>
                <a:effectLst/>
                <a:latin typeface="__Quicksand_e7ab6f"/>
              </a:rPr>
              <a:t> for ordinary differential equation (ODE)</a:t>
            </a:r>
            <a:endParaRPr lang="vi-V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4185E0-0E07-E5A5-AFF6-6DD803C8AD8C}"/>
                  </a:ext>
                </a:extLst>
              </p:cNvPr>
              <p:cNvSpPr>
                <a:spLocks noGrp="1"/>
              </p:cNvSpPr>
              <p:nvPr>
                <p:ph idx="1"/>
              </p:nvPr>
            </p:nvSpPr>
            <p:spPr>
              <a:xfrm>
                <a:off x="2978048" y="1132010"/>
                <a:ext cx="721783" cy="415956"/>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vi-VN"/>
              </a:p>
            </p:txBody>
          </p:sp>
        </mc:Choice>
        <mc:Fallback xmlns="">
          <p:sp>
            <p:nvSpPr>
              <p:cNvPr id="3" name="Content Placeholder 2">
                <a:extLst>
                  <a:ext uri="{FF2B5EF4-FFF2-40B4-BE49-F238E27FC236}">
                    <a16:creationId xmlns:a16="http://schemas.microsoft.com/office/drawing/2014/main" id="{044185E0-0E07-E5A5-AFF6-6DD803C8AD8C}"/>
                  </a:ext>
                </a:extLst>
              </p:cNvPr>
              <p:cNvSpPr>
                <a:spLocks noGrp="1" noRot="1" noChangeAspect="1" noMove="1" noResize="1" noEditPoints="1" noAdjustHandles="1" noChangeArrowheads="1" noChangeShapeType="1" noTextEdit="1"/>
              </p:cNvSpPr>
              <p:nvPr>
                <p:ph idx="1"/>
              </p:nvPr>
            </p:nvSpPr>
            <p:spPr>
              <a:xfrm>
                <a:off x="2978048" y="1132010"/>
                <a:ext cx="721783" cy="415956"/>
              </a:xfrm>
              <a:blipFill>
                <a:blip r:embed="rId2"/>
                <a:stretch>
                  <a:fillRect b="-8824"/>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E0C902D3-69C9-171B-7CCC-10670D9959C4}"/>
              </a:ext>
            </a:extLst>
          </p:cNvPr>
          <p:cNvSpPr>
            <a:spLocks noGrp="1"/>
          </p:cNvSpPr>
          <p:nvPr>
            <p:ph type="sldNum" sz="quarter" idx="12"/>
          </p:nvPr>
        </p:nvSpPr>
        <p:spPr/>
        <p:txBody>
          <a:bodyPr/>
          <a:lstStyle/>
          <a:p>
            <a:fld id="{6A45828D-F580-42DE-B77E-860980F07F32}" type="slidenum">
              <a:rPr lang="vi-VN" smtClean="0"/>
              <a:t>43</a:t>
            </a:fld>
            <a:endParaRPr lang="vi-VN"/>
          </a:p>
        </p:txBody>
      </p:sp>
      <p:cxnSp>
        <p:nvCxnSpPr>
          <p:cNvPr id="5" name="Straight Connector 4">
            <a:extLst>
              <a:ext uri="{FF2B5EF4-FFF2-40B4-BE49-F238E27FC236}">
                <a16:creationId xmlns:a16="http://schemas.microsoft.com/office/drawing/2014/main" id="{AC37A47B-3497-0189-3696-8F3EDC336E86}"/>
              </a:ext>
            </a:extLst>
          </p:cNvPr>
          <p:cNvCxnSpPr>
            <a:cxnSpLocks/>
          </p:cNvCxnSpPr>
          <p:nvPr/>
        </p:nvCxnSpPr>
        <p:spPr>
          <a:xfrm>
            <a:off x="736600" y="1674449"/>
            <a:ext cx="30014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181CD01-5C8A-D480-3184-E10ADB4AF7CC}"/>
                  </a:ext>
                </a:extLst>
              </p:cNvPr>
              <p:cNvSpPr/>
              <p:nvPr/>
            </p:nvSpPr>
            <p:spPr>
              <a:xfrm>
                <a:off x="1222587" y="1376396"/>
                <a:ext cx="1720919"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ea typeface="Cambria Math" panose="02040503050406030204" pitchFamily="18" charset="0"/>
                            </a:rPr>
                          </m:ctrlPr>
                        </m:dPr>
                        <m:e>
                          <m:r>
                            <a:rPr lang="en-US" b="1" i="1" smtClean="0">
                              <a:solidFill>
                                <a:schemeClr val="tx1"/>
                              </a:solidFill>
                              <a:latin typeface="Cambria Math" panose="02040503050406030204" pitchFamily="18" charset="0"/>
                              <a:ea typeface="Cambria Math" panose="02040503050406030204" pitchFamily="18" charset="0"/>
                            </a:rPr>
                            <m:t>𝜽</m:t>
                          </m:r>
                        </m:e>
                      </m:d>
                    </m:oMath>
                  </m:oMathPara>
                </a14:m>
                <a:endParaRPr/>
              </a:p>
            </p:txBody>
          </p:sp>
        </mc:Choice>
        <mc:Fallback xmlns="">
          <p:sp>
            <p:nvSpPr>
              <p:cNvPr id="7" name="Rectangle 6">
                <a:extLst>
                  <a:ext uri="{FF2B5EF4-FFF2-40B4-BE49-F238E27FC236}">
                    <a16:creationId xmlns:a16="http://schemas.microsoft.com/office/drawing/2014/main" id="{C181CD01-5C8A-D480-3184-E10ADB4AF7CC}"/>
                  </a:ext>
                </a:extLst>
              </p:cNvPr>
              <p:cNvSpPr>
                <a:spLocks noRot="1" noChangeAspect="1" noMove="1" noResize="1" noEditPoints="1" noAdjustHandles="1" noChangeArrowheads="1" noChangeShapeType="1" noTextEdit="1"/>
              </p:cNvSpPr>
              <p:nvPr/>
            </p:nvSpPr>
            <p:spPr>
              <a:xfrm>
                <a:off x="1222587" y="1376396"/>
                <a:ext cx="1720919" cy="650789"/>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33AFF204-6C7E-9AFD-0582-43C9F7DEA832}"/>
              </a:ext>
            </a:extLst>
          </p:cNvPr>
          <p:cNvCxnSpPr>
            <a:cxnSpLocks/>
          </p:cNvCxnSpPr>
          <p:nvPr/>
        </p:nvCxnSpPr>
        <p:spPr>
          <a:xfrm flipV="1">
            <a:off x="829996" y="155612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9CA47BB-9405-6EDB-3512-80BFE2BE42C8}"/>
              </a:ext>
            </a:extLst>
          </p:cNvPr>
          <p:cNvSpPr/>
          <p:nvPr/>
        </p:nvSpPr>
        <p:spPr>
          <a:xfrm>
            <a:off x="6837339" y="2217603"/>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Hình chữ nhật 93">
            <a:extLst>
              <a:ext uri="{FF2B5EF4-FFF2-40B4-BE49-F238E27FC236}">
                <a16:creationId xmlns:a16="http://schemas.microsoft.com/office/drawing/2014/main" id="{EFE13B25-ECB3-E9F5-F513-F9CD4FA3B8C0}"/>
              </a:ext>
            </a:extLst>
          </p:cNvPr>
          <p:cNvSpPr/>
          <p:nvPr/>
        </p:nvSpPr>
        <p:spPr>
          <a:xfrm>
            <a:off x="3185781" y="152098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1" name="Arc 10">
            <a:extLst>
              <a:ext uri="{FF2B5EF4-FFF2-40B4-BE49-F238E27FC236}">
                <a16:creationId xmlns:a16="http://schemas.microsoft.com/office/drawing/2014/main" id="{C9ED6E86-5FE4-6EF1-4502-E6A44C34CCA8}"/>
              </a:ext>
            </a:extLst>
          </p:cNvPr>
          <p:cNvSpPr/>
          <p:nvPr/>
        </p:nvSpPr>
        <p:spPr>
          <a:xfrm>
            <a:off x="3241478" y="166558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2" name="Straight Arrow Connector 11">
            <a:extLst>
              <a:ext uri="{FF2B5EF4-FFF2-40B4-BE49-F238E27FC236}">
                <a16:creationId xmlns:a16="http://schemas.microsoft.com/office/drawing/2014/main" id="{5BA249B3-B21D-8783-D169-5DAA571E6C10}"/>
              </a:ext>
            </a:extLst>
          </p:cNvPr>
          <p:cNvCxnSpPr>
            <a:cxnSpLocks/>
          </p:cNvCxnSpPr>
          <p:nvPr/>
        </p:nvCxnSpPr>
        <p:spPr>
          <a:xfrm flipV="1">
            <a:off x="3295694" y="158795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Hộp Văn bản 38">
                <a:extLst>
                  <a:ext uri="{FF2B5EF4-FFF2-40B4-BE49-F238E27FC236}">
                    <a16:creationId xmlns:a16="http://schemas.microsoft.com/office/drawing/2014/main" id="{4ED1B7A7-61EB-F144-0567-D1850867AAFB}"/>
                  </a:ext>
                </a:extLst>
              </p:cNvPr>
              <p:cNvSpPr txBox="1"/>
              <p:nvPr/>
            </p:nvSpPr>
            <p:spPr>
              <a:xfrm>
                <a:off x="3702809" y="1515541"/>
                <a:ext cx="345925" cy="30008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sSub>
                        <m:sSubPr>
                          <m:ctrlPr>
                            <a:rPr lang="en-US" sz="1350" b="0" i="1" smtClean="0">
                              <a:latin typeface="Cambria Math" panose="02040503050406030204" pitchFamily="18" charset="0"/>
                            </a:rPr>
                          </m:ctrlPr>
                        </m:sSubPr>
                        <m:e>
                          <m:r>
                            <a:rPr lang="en-US" sz="1350" i="1" smtClean="0">
                              <a:latin typeface="Cambria Math" panose="02040503050406030204" pitchFamily="18" charset="0"/>
                            </a:rPr>
                            <m:t>𝑝</m:t>
                          </m:r>
                        </m:e>
                        <m:sub>
                          <m:r>
                            <a:rPr lang="en-US" sz="1350" b="0" i="1" smtClean="0">
                              <a:latin typeface="Cambria Math" panose="02040503050406030204" pitchFamily="18" charset="0"/>
                            </a:rPr>
                            <m:t>0</m:t>
                          </m:r>
                        </m:sub>
                      </m:sSub>
                    </m:oMath>
                  </m:oMathPara>
                </a14:m>
                <a:endParaRPr lang="vi-VN" sz="1350"/>
              </a:p>
            </p:txBody>
          </p:sp>
        </mc:Choice>
        <mc:Fallback xmlns="">
          <p:sp>
            <p:nvSpPr>
              <p:cNvPr id="18" name="Hộp Văn bản 38">
                <a:extLst>
                  <a:ext uri="{FF2B5EF4-FFF2-40B4-BE49-F238E27FC236}">
                    <a16:creationId xmlns:a16="http://schemas.microsoft.com/office/drawing/2014/main" id="{4ED1B7A7-61EB-F144-0567-D1850867AAFB}"/>
                  </a:ext>
                </a:extLst>
              </p:cNvPr>
              <p:cNvSpPr txBox="1">
                <a:spLocks noRot="1" noChangeAspect="1" noMove="1" noResize="1" noEditPoints="1" noAdjustHandles="1" noChangeArrowheads="1" noChangeShapeType="1" noTextEdit="1"/>
              </p:cNvSpPr>
              <p:nvPr/>
            </p:nvSpPr>
            <p:spPr>
              <a:xfrm>
                <a:off x="3702809" y="1515541"/>
                <a:ext cx="345925" cy="300082"/>
              </a:xfrm>
              <a:prstGeom prst="rect">
                <a:avLst/>
              </a:prstGeom>
              <a:blipFill>
                <a:blip r:embed="rId4"/>
                <a:stretch>
                  <a:fillRect b="-2041"/>
                </a:stretch>
              </a:blipFill>
            </p:spPr>
            <p:txBody>
              <a:bodyPr/>
              <a:lstStyle/>
              <a:p>
                <a:r>
                  <a:rPr lang="vi-VN">
                    <a:noFill/>
                  </a:rPr>
                  <a:t> </a:t>
                </a:r>
              </a:p>
            </p:txBody>
          </p:sp>
        </mc:Fallback>
      </mc:AlternateContent>
      <p:cxnSp>
        <p:nvCxnSpPr>
          <p:cNvPr id="19" name="Connector: Elbow 18">
            <a:extLst>
              <a:ext uri="{FF2B5EF4-FFF2-40B4-BE49-F238E27FC236}">
                <a16:creationId xmlns:a16="http://schemas.microsoft.com/office/drawing/2014/main" id="{50E00607-E48D-31D7-782E-6AB392C51FAC}"/>
              </a:ext>
            </a:extLst>
          </p:cNvPr>
          <p:cNvCxnSpPr>
            <a:cxnSpLocks/>
            <a:stCxn id="18" idx="3"/>
            <a:endCxn id="21" idx="3"/>
          </p:cNvCxnSpPr>
          <p:nvPr/>
        </p:nvCxnSpPr>
        <p:spPr>
          <a:xfrm flipH="1">
            <a:off x="3626483" y="1665582"/>
            <a:ext cx="422251" cy="435328"/>
          </a:xfrm>
          <a:prstGeom prst="bentConnector3">
            <a:avLst>
              <a:gd name="adj1" fmla="val -54138"/>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1" name="Hộp Văn bản 38">
                <a:extLst>
                  <a:ext uri="{FF2B5EF4-FFF2-40B4-BE49-F238E27FC236}">
                    <a16:creationId xmlns:a16="http://schemas.microsoft.com/office/drawing/2014/main" id="{61A1D8E1-32E7-C507-B2CA-5866BB85D1A1}"/>
                  </a:ext>
                </a:extLst>
              </p:cNvPr>
              <p:cNvSpPr txBox="1"/>
              <p:nvPr/>
            </p:nvSpPr>
            <p:spPr>
              <a:xfrm>
                <a:off x="3021846" y="1916244"/>
                <a:ext cx="604637" cy="36933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oMath>
                  </m:oMathPara>
                </a14:m>
                <a:endParaRPr lang="vi-VN"/>
              </a:p>
            </p:txBody>
          </p:sp>
        </mc:Choice>
        <mc:Fallback xmlns="">
          <p:sp>
            <p:nvSpPr>
              <p:cNvPr id="21" name="Hộp Văn bản 38">
                <a:extLst>
                  <a:ext uri="{FF2B5EF4-FFF2-40B4-BE49-F238E27FC236}">
                    <a16:creationId xmlns:a16="http://schemas.microsoft.com/office/drawing/2014/main" id="{61A1D8E1-32E7-C507-B2CA-5866BB85D1A1}"/>
                  </a:ext>
                </a:extLst>
              </p:cNvPr>
              <p:cNvSpPr txBox="1">
                <a:spLocks noRot="1" noChangeAspect="1" noMove="1" noResize="1" noEditPoints="1" noAdjustHandles="1" noChangeArrowheads="1" noChangeShapeType="1" noTextEdit="1"/>
              </p:cNvSpPr>
              <p:nvPr/>
            </p:nvSpPr>
            <p:spPr>
              <a:xfrm>
                <a:off x="3021846" y="1916244"/>
                <a:ext cx="604637" cy="369332"/>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0AB7EAD-B6A2-8D13-4D48-91C996A60CF3}"/>
                  </a:ext>
                </a:extLst>
              </p:cNvPr>
              <p:cNvSpPr txBox="1"/>
              <p:nvPr/>
            </p:nvSpPr>
            <p:spPr>
              <a:xfrm>
                <a:off x="3917900" y="1896215"/>
                <a:ext cx="39285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53" name="TextBox 52">
                <a:extLst>
                  <a:ext uri="{FF2B5EF4-FFF2-40B4-BE49-F238E27FC236}">
                    <a16:creationId xmlns:a16="http://schemas.microsoft.com/office/drawing/2014/main" id="{40AB7EAD-B6A2-8D13-4D48-91C996A60CF3}"/>
                  </a:ext>
                </a:extLst>
              </p:cNvPr>
              <p:cNvSpPr txBox="1">
                <a:spLocks noRot="1" noChangeAspect="1" noMove="1" noResize="1" noEditPoints="1" noAdjustHandles="1" noChangeArrowheads="1" noChangeShapeType="1" noTextEdit="1"/>
              </p:cNvSpPr>
              <p:nvPr/>
            </p:nvSpPr>
            <p:spPr>
              <a:xfrm>
                <a:off x="3917900" y="1896215"/>
                <a:ext cx="392854" cy="369332"/>
              </a:xfrm>
              <a:prstGeom prst="rect">
                <a:avLst/>
              </a:prstGeom>
              <a:blipFill>
                <a:blip r:embed="rId6"/>
                <a:stretch>
                  <a:fillRect b="-3279"/>
                </a:stretch>
              </a:blipFill>
            </p:spPr>
            <p:txBody>
              <a:bodyPr/>
              <a:lstStyle/>
              <a:p>
                <a:r>
                  <a:rPr lang="vi-VN">
                    <a:noFill/>
                  </a:rPr>
                  <a:t> </a:t>
                </a:r>
              </a:p>
            </p:txBody>
          </p:sp>
        </mc:Fallback>
      </mc:AlternateContent>
      <p:cxnSp>
        <p:nvCxnSpPr>
          <p:cNvPr id="57" name="Connector: Elbow 56">
            <a:extLst>
              <a:ext uri="{FF2B5EF4-FFF2-40B4-BE49-F238E27FC236}">
                <a16:creationId xmlns:a16="http://schemas.microsoft.com/office/drawing/2014/main" id="{E21621C4-12E4-6F3F-E9C1-23962570B2A3}"/>
              </a:ext>
            </a:extLst>
          </p:cNvPr>
          <p:cNvCxnSpPr>
            <a:cxnSpLocks/>
            <a:stCxn id="21" idx="2"/>
            <a:endCxn id="7" idx="2"/>
          </p:cNvCxnSpPr>
          <p:nvPr/>
        </p:nvCxnSpPr>
        <p:spPr>
          <a:xfrm rot="5400000" flipH="1">
            <a:off x="2574410" y="1535822"/>
            <a:ext cx="258391" cy="1241118"/>
          </a:xfrm>
          <a:prstGeom prst="bentConnector3">
            <a:avLst>
              <a:gd name="adj1" fmla="val -88471"/>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0" name="Hộp Văn bản 38">
                <a:extLst>
                  <a:ext uri="{FF2B5EF4-FFF2-40B4-BE49-F238E27FC236}">
                    <a16:creationId xmlns:a16="http://schemas.microsoft.com/office/drawing/2014/main" id="{F306436C-1C53-76A7-4302-CEC728A08B9D}"/>
                  </a:ext>
                </a:extLst>
              </p:cNvPr>
              <p:cNvSpPr txBox="1"/>
              <p:nvPr/>
            </p:nvSpPr>
            <p:spPr>
              <a:xfrm>
                <a:off x="2297437" y="2541122"/>
                <a:ext cx="888344" cy="215444"/>
              </a:xfrm>
              <a:prstGeom prst="rect">
                <a:avLst/>
              </a:prstGeom>
              <a:noFill/>
            </p:spPr>
            <p:txBody>
              <a:bodyPr wrap="square" rtlCol="0">
                <a:spAutoFit/>
              </a:bodyPr>
              <a:lstStyle/>
              <a:p>
                <a:pPr algn="ctr"/>
                <a:r>
                  <a:rPr lang="en-US" sz="800"/>
                  <a:t>Update </a:t>
                </a:r>
                <a14:m>
                  <m:oMath xmlns:m="http://schemas.openxmlformats.org/officeDocument/2006/math">
                    <m:r>
                      <a:rPr lang="en-US" sz="800" b="1" i="1" smtClean="0">
                        <a:latin typeface="Cambria Math" panose="02040503050406030204" pitchFamily="18" charset="0"/>
                      </a:rPr>
                      <m:t>𝜽</m:t>
                    </m:r>
                  </m:oMath>
                </a14:m>
                <a:endParaRPr lang="vi-VN" sz="800"/>
              </a:p>
            </p:txBody>
          </p:sp>
        </mc:Choice>
        <mc:Fallback xmlns="">
          <p:sp>
            <p:nvSpPr>
              <p:cNvPr id="60" name="Hộp Văn bản 38">
                <a:extLst>
                  <a:ext uri="{FF2B5EF4-FFF2-40B4-BE49-F238E27FC236}">
                    <a16:creationId xmlns:a16="http://schemas.microsoft.com/office/drawing/2014/main" id="{F306436C-1C53-76A7-4302-CEC728A08B9D}"/>
                  </a:ext>
                </a:extLst>
              </p:cNvPr>
              <p:cNvSpPr txBox="1">
                <a:spLocks noRot="1" noChangeAspect="1" noMove="1" noResize="1" noEditPoints="1" noAdjustHandles="1" noChangeArrowheads="1" noChangeShapeType="1" noTextEdit="1"/>
              </p:cNvSpPr>
              <p:nvPr/>
            </p:nvSpPr>
            <p:spPr>
              <a:xfrm>
                <a:off x="2297437" y="2541122"/>
                <a:ext cx="888344" cy="215444"/>
              </a:xfrm>
              <a:prstGeom prst="rect">
                <a:avLst/>
              </a:prstGeom>
              <a:blipFill>
                <a:blip r:embed="rId7"/>
                <a:stretch>
                  <a:fillRect b="-1142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B44C53D-D94F-9929-4980-049D9D4F7C1C}"/>
                  </a:ext>
                </a:extLst>
              </p:cNvPr>
              <p:cNvSpPr txBox="1"/>
              <p:nvPr/>
            </p:nvSpPr>
            <p:spPr>
              <a:xfrm>
                <a:off x="628649" y="2751046"/>
                <a:ext cx="4103061" cy="859146"/>
              </a:xfrm>
              <a:prstGeom prst="rect">
                <a:avLst/>
              </a:prstGeom>
              <a:noFill/>
            </p:spPr>
            <p:txBody>
              <a:bodyPr wrap="square" rtlCol="0">
                <a:spAutoFit/>
              </a:bodyPr>
              <a:lstStyle/>
              <a:p>
                <a:r>
                  <a:rPr lang="en-US" b="0"/>
                  <a:t>Solve ODE: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=−0.5</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func>
                    <m:r>
                      <a:rPr lang="en-US" b="0" i="1" smtClean="0">
                        <a:latin typeface="Cambria Math" panose="02040503050406030204" pitchFamily="18" charset="0"/>
                      </a:rPr>
                      <m:t>+0.5.</m:t>
                    </m:r>
                  </m:oMath>
                </a14:m>
                <a:r>
                  <a:rPr lang="en-US"/>
                  <a:t> Then find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𝑥</m:t>
                                </m:r>
                              </m:e>
                            </m:func>
                          </m:e>
                        </m:d>
                      </m:e>
                    </m:d>
                  </m:oMath>
                </a14:m>
                <a:r>
                  <a:rPr lang="en-US"/>
                  <a:t>.</a:t>
                </a:r>
                <a:endParaRPr lang="vi-VN"/>
              </a:p>
            </p:txBody>
          </p:sp>
        </mc:Choice>
        <mc:Fallback xmlns="">
          <p:sp>
            <p:nvSpPr>
              <p:cNvPr id="15" name="TextBox 14">
                <a:extLst>
                  <a:ext uri="{FF2B5EF4-FFF2-40B4-BE49-F238E27FC236}">
                    <a16:creationId xmlns:a16="http://schemas.microsoft.com/office/drawing/2014/main" id="{9B44C53D-D94F-9929-4980-049D9D4F7C1C}"/>
                  </a:ext>
                </a:extLst>
              </p:cNvPr>
              <p:cNvSpPr txBox="1">
                <a:spLocks noRot="1" noChangeAspect="1" noMove="1" noResize="1" noEditPoints="1" noAdjustHandles="1" noChangeArrowheads="1" noChangeShapeType="1" noTextEdit="1"/>
              </p:cNvSpPr>
              <p:nvPr/>
            </p:nvSpPr>
            <p:spPr>
              <a:xfrm>
                <a:off x="628649" y="2751046"/>
                <a:ext cx="4103061" cy="859146"/>
              </a:xfrm>
              <a:prstGeom prst="rect">
                <a:avLst/>
              </a:prstGeom>
              <a:blipFill>
                <a:blip r:embed="rId8"/>
                <a:stretch>
                  <a:fillRect l="-1189" t="-354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55C6438-F1C7-0EDA-CEE4-995A69365E83}"/>
                  </a:ext>
                </a:extLst>
              </p:cNvPr>
              <p:cNvSpPr txBox="1"/>
              <p:nvPr/>
            </p:nvSpPr>
            <p:spPr>
              <a:xfrm>
                <a:off x="633365" y="3579702"/>
                <a:ext cx="3938635" cy="812595"/>
              </a:xfrm>
              <a:prstGeom prst="rect">
                <a:avLst/>
              </a:prstGeom>
              <a:noFill/>
            </p:spPr>
            <p:txBody>
              <a:bodyPr wrap="square" rtlCol="0">
                <a:spAutoFit/>
              </a:bodyPr>
              <a:lstStyle/>
              <a:p>
                <a:r>
                  <a:rPr lang="en-US"/>
                  <a:t>Assume that </a:t>
                </a:r>
                <a14:m>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oMath>
                </a14:m>
                <a:r>
                  <a:rPr lang="en-US" b="0"/>
                  <a:t> then:</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𝑦</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𝑑𝑈</m:t>
                        </m:r>
                      </m:num>
                      <m:den>
                        <m:r>
                          <a:rPr lang="en-US" b="0" i="1" smtClean="0">
                            <a:latin typeface="Cambria Math" panose="02040503050406030204" pitchFamily="18" charset="0"/>
                          </a:rPr>
                          <m:t>𝑑𝑥</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i="1">
                                <a:latin typeface="Cambria Math" panose="02040503050406030204" pitchFamily="18" charset="0"/>
                              </a:rPr>
                              <m:t>𝑈</m:t>
                            </m:r>
                            <m:d>
                              <m:dPr>
                                <m:ctrlPr>
                                  <a:rPr lang="en-US" i="1">
                                    <a:latin typeface="Cambria Math" panose="02040503050406030204" pitchFamily="18" charset="0"/>
                                  </a:rPr>
                                </m:ctrlPr>
                              </m:dPr>
                              <m:e>
                                <m:r>
                                  <a:rPr lang="en-US" b="1" i="1">
                                    <a:latin typeface="Cambria Math" panose="02040503050406030204" pitchFamily="18" charset="0"/>
                                  </a:rPr>
                                  <m:t>𝜽</m:t>
                                </m:r>
                                <m:r>
                                  <a:rPr lang="en-US" i="1">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𝜖</m:t>
                                </m:r>
                              </m:e>
                            </m:d>
                            <m:r>
                              <a:rPr lang="en-US" b="0" i="1" smtClean="0">
                                <a:latin typeface="Cambria Math" panose="02040503050406030204" pitchFamily="18" charset="0"/>
                              </a:rPr>
                              <m:t>−</m:t>
                            </m:r>
                            <m:r>
                              <a:rPr lang="en-US" i="1">
                                <a:latin typeface="Cambria Math" panose="02040503050406030204" pitchFamily="18" charset="0"/>
                              </a:rPr>
                              <m:t>𝑈</m:t>
                            </m:r>
                            <m:d>
                              <m:dPr>
                                <m:ctrlPr>
                                  <a:rPr lang="en-US" i="1">
                                    <a:latin typeface="Cambria Math" panose="02040503050406030204" pitchFamily="18" charset="0"/>
                                  </a:rPr>
                                </m:ctrlPr>
                              </m:dPr>
                              <m:e>
                                <m:r>
                                  <a:rPr lang="en-US" b="1" i="1">
                                    <a:latin typeface="Cambria Math" panose="02040503050406030204" pitchFamily="18" charset="0"/>
                                  </a:rPr>
                                  <m:t>𝜽</m:t>
                                </m:r>
                                <m:r>
                                  <a:rPr lang="en-US" i="1">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r>
                                  <a:rPr lang="en-US" i="1">
                                    <a:latin typeface="Cambria Math" panose="02040503050406030204" pitchFamily="18" charset="0"/>
                                  </a:rPr>
                                  <m:t>𝜖</m:t>
                                </m:r>
                              </m:e>
                            </m:d>
                          </m:e>
                        </m:d>
                      </m:num>
                      <m:den>
                        <m:r>
                          <a:rPr lang="en-US" b="0" i="1" smtClean="0">
                            <a:latin typeface="Cambria Math" panose="02040503050406030204" pitchFamily="18" charset="0"/>
                          </a:rPr>
                          <m:t>2</m:t>
                        </m:r>
                        <m:r>
                          <a:rPr lang="en-US" b="0" i="1" smtClean="0">
                            <a:latin typeface="Cambria Math" panose="02040503050406030204" pitchFamily="18" charset="0"/>
                          </a:rPr>
                          <m:t>𝜖</m:t>
                        </m:r>
                      </m:den>
                    </m:f>
                  </m:oMath>
                </a14:m>
                <a:r>
                  <a:rPr lang="en-US" b="0"/>
                  <a:t> </a:t>
                </a:r>
              </a:p>
            </p:txBody>
          </p:sp>
        </mc:Choice>
        <mc:Fallback xmlns="">
          <p:sp>
            <p:nvSpPr>
              <p:cNvPr id="16" name="TextBox 15">
                <a:extLst>
                  <a:ext uri="{FF2B5EF4-FFF2-40B4-BE49-F238E27FC236}">
                    <a16:creationId xmlns:a16="http://schemas.microsoft.com/office/drawing/2014/main" id="{F55C6438-F1C7-0EDA-CEE4-995A69365E83}"/>
                  </a:ext>
                </a:extLst>
              </p:cNvPr>
              <p:cNvSpPr txBox="1">
                <a:spLocks noRot="1" noChangeAspect="1" noMove="1" noResize="1" noEditPoints="1" noAdjustHandles="1" noChangeArrowheads="1" noChangeShapeType="1" noTextEdit="1"/>
              </p:cNvSpPr>
              <p:nvPr/>
            </p:nvSpPr>
            <p:spPr>
              <a:xfrm>
                <a:off x="633365" y="3579702"/>
                <a:ext cx="3938635" cy="812595"/>
              </a:xfrm>
              <a:prstGeom prst="rect">
                <a:avLst/>
              </a:prstGeom>
              <a:blipFill>
                <a:blip r:embed="rId9"/>
                <a:stretch>
                  <a:fillRect l="-1393" t="-373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5D331C5-E893-5FC5-2AF2-C2F5AE76A7CE}"/>
                  </a:ext>
                </a:extLst>
              </p:cNvPr>
              <p:cNvSpPr txBox="1"/>
              <p:nvPr/>
            </p:nvSpPr>
            <p:spPr>
              <a:xfrm>
                <a:off x="633364" y="4338871"/>
                <a:ext cx="3938635" cy="369332"/>
              </a:xfrm>
              <a:prstGeom prst="rect">
                <a:avLst/>
              </a:prstGeom>
              <a:noFill/>
            </p:spPr>
            <p:txBody>
              <a:bodyPr wrap="square" rtlCol="0">
                <a:spAutoFit/>
              </a:bodyPr>
              <a:lstStyle/>
              <a:p>
                <a:r>
                  <a:rPr lang="en-US" b="0"/>
                  <a:t>We </a:t>
                </a:r>
                <a:r>
                  <a:rPr lang="en-US" b="1"/>
                  <a:t>simulate</a:t>
                </a:r>
                <a:r>
                  <a:rPr lang="en-US" b="0"/>
                  <a:t> </a:t>
                </a:r>
                <a14:m>
                  <m:oMath xmlns:m="http://schemas.openxmlformats.org/officeDocument/2006/math">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b="0"/>
                  <a:t> via </a:t>
                </a:r>
                <a14:m>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r>
                          <a:rPr lang="en-US" b="0" i="1" smtClean="0">
                            <a:latin typeface="Cambria Math" panose="02040503050406030204" pitchFamily="18" charset="0"/>
                          </a:rPr>
                          <m:t>,</m:t>
                        </m:r>
                        <m:r>
                          <a:rPr lang="en-US" b="0" i="1" smtClean="0">
                            <a:latin typeface="Cambria Math" panose="02040503050406030204" pitchFamily="18" charset="0"/>
                          </a:rPr>
                          <m:t>𝑥</m:t>
                        </m:r>
                      </m:e>
                    </m:d>
                  </m:oMath>
                </a14:m>
                <a:endParaRPr lang="en-US" b="0"/>
              </a:p>
            </p:txBody>
          </p:sp>
        </mc:Choice>
        <mc:Fallback xmlns="">
          <p:sp>
            <p:nvSpPr>
              <p:cNvPr id="17" name="TextBox 16">
                <a:extLst>
                  <a:ext uri="{FF2B5EF4-FFF2-40B4-BE49-F238E27FC236}">
                    <a16:creationId xmlns:a16="http://schemas.microsoft.com/office/drawing/2014/main" id="{55D331C5-E893-5FC5-2AF2-C2F5AE76A7CE}"/>
                  </a:ext>
                </a:extLst>
              </p:cNvPr>
              <p:cNvSpPr txBox="1">
                <a:spLocks noRot="1" noChangeAspect="1" noMove="1" noResize="1" noEditPoints="1" noAdjustHandles="1" noChangeArrowheads="1" noChangeShapeType="1" noTextEdit="1"/>
              </p:cNvSpPr>
              <p:nvPr/>
            </p:nvSpPr>
            <p:spPr>
              <a:xfrm>
                <a:off x="633364" y="4338871"/>
                <a:ext cx="3938635" cy="369332"/>
              </a:xfrm>
              <a:prstGeom prst="rect">
                <a:avLst/>
              </a:prstGeom>
              <a:blipFill>
                <a:blip r:embed="rId10"/>
                <a:stretch>
                  <a:fillRect l="-1393" t="-10000" b="-2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C7F73A-9152-3F9A-1588-DF899A0F245F}"/>
                  </a:ext>
                </a:extLst>
              </p:cNvPr>
              <p:cNvSpPr txBox="1"/>
              <p:nvPr/>
            </p:nvSpPr>
            <p:spPr>
              <a:xfrm>
                <a:off x="4731711" y="1192521"/>
                <a:ext cx="3412662" cy="1200585"/>
              </a:xfrm>
              <a:prstGeom prst="rect">
                <a:avLst/>
              </a:prstGeom>
              <a:noFill/>
            </p:spPr>
            <p:txBody>
              <a:bodyPr wrap="square" rtlCol="0">
                <a:spAutoFit/>
              </a:bodyPr>
              <a:lstStyle/>
              <a:p>
                <a:r>
                  <a:rPr lang="en-US"/>
                  <a:t>Cost function:</a:t>
                </a:r>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  </m:t>
                      </m:r>
                    </m:oMath>
                  </m:oMathPara>
                </a14:m>
                <a:endParaRPr lang="en-US" b="0" i="1">
                  <a:latin typeface="Cambria Math" panose="02040503050406030204" pitchFamily="18" charset="0"/>
                </a:endParaRPr>
              </a:p>
              <a:p>
                <a:r>
                  <a:rPr lang="en-US" b="0"/>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𝑑𝑈</m:t>
                                    </m:r>
                                    <m:d>
                                      <m:dPr>
                                        <m:ctrlPr>
                                          <a:rPr lang="en-US" i="1">
                                            <a:latin typeface="Cambria Math" panose="02040503050406030204" pitchFamily="18" charset="0"/>
                                          </a:rPr>
                                        </m:ctrlPr>
                                      </m:dPr>
                                      <m:e>
                                        <m:r>
                                          <a:rPr lang="en-US" b="1" i="1">
                                            <a:latin typeface="Cambria Math" panose="02040503050406030204" pitchFamily="18" charset="0"/>
                                          </a:rPr>
                                          <m:t>𝜽</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e>
                                    </m:d>
                                  </m:num>
                                  <m:den>
                                    <m:r>
                                      <a:rPr lang="en-US" i="1">
                                        <a:latin typeface="Cambria Math" panose="02040503050406030204" pitchFamily="18" charset="0"/>
                                      </a:rPr>
                                      <m:t>𝑑𝑥</m:t>
                                    </m:r>
                                  </m:den>
                                </m:f>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sup>
                                </m:sSup>
                                <m:r>
                                  <a:rPr lang="en-US" b="0" i="1" smtClean="0">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e>
                                </m:d>
                                <m:r>
                                  <a:rPr lang="en-US" b="0" i="1" smtClean="0">
                                    <a:latin typeface="Cambria Math" panose="02040503050406030204" pitchFamily="18" charset="0"/>
                                  </a:rPr>
                                  <m:t> </m:t>
                                </m:r>
                              </m:e>
                            </m:d>
                          </m:e>
                          <m:sup>
                            <m:r>
                              <a:rPr lang="en-US" b="0" i="1" smtClean="0">
                                <a:latin typeface="Cambria Math" panose="02040503050406030204" pitchFamily="18" charset="0"/>
                              </a:rPr>
                              <m:t>2</m:t>
                            </m:r>
                          </m:sup>
                        </m:sSup>
                      </m:e>
                    </m:nary>
                  </m:oMath>
                </a14:m>
                <a:endParaRPr lang="vi-VN"/>
              </a:p>
            </p:txBody>
          </p:sp>
        </mc:Choice>
        <mc:Fallback xmlns="">
          <p:sp>
            <p:nvSpPr>
              <p:cNvPr id="20" name="TextBox 19">
                <a:extLst>
                  <a:ext uri="{FF2B5EF4-FFF2-40B4-BE49-F238E27FC236}">
                    <a16:creationId xmlns:a16="http://schemas.microsoft.com/office/drawing/2014/main" id="{78C7F73A-9152-3F9A-1588-DF899A0F245F}"/>
                  </a:ext>
                </a:extLst>
              </p:cNvPr>
              <p:cNvSpPr txBox="1">
                <a:spLocks noRot="1" noChangeAspect="1" noMove="1" noResize="1" noEditPoints="1" noAdjustHandles="1" noChangeArrowheads="1" noChangeShapeType="1" noTextEdit="1"/>
              </p:cNvSpPr>
              <p:nvPr/>
            </p:nvSpPr>
            <p:spPr>
              <a:xfrm>
                <a:off x="4731711" y="1192521"/>
                <a:ext cx="3412662" cy="1200585"/>
              </a:xfrm>
              <a:prstGeom prst="rect">
                <a:avLst/>
              </a:prstGeom>
              <a:blipFill>
                <a:blip r:embed="rId11"/>
                <a:stretch>
                  <a:fillRect l="-1429" t="-304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ADB2839-4825-264A-A7C7-4F6E39A63CC1}"/>
                  </a:ext>
                </a:extLst>
              </p:cNvPr>
              <p:cNvSpPr txBox="1"/>
              <p:nvPr/>
            </p:nvSpPr>
            <p:spPr>
              <a:xfrm>
                <a:off x="4926172" y="2751046"/>
                <a:ext cx="1467324" cy="410753"/>
              </a:xfrm>
              <a:prstGeom prst="rect">
                <a:avLst/>
              </a:prstGeom>
              <a:no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𝐶</m:t>
                          </m:r>
                          <m:d>
                            <m:dPr>
                              <m:ctrlPr>
                                <a:rPr lang="en-US" i="1">
                                  <a:latin typeface="Cambria Math" panose="02040503050406030204" pitchFamily="18" charset="0"/>
                                </a:rPr>
                              </m:ctrlPr>
                            </m:dPr>
                            <m:e>
                              <m:r>
                                <a:rPr lang="en-US" b="1" i="1">
                                  <a:latin typeface="Cambria Math" panose="02040503050406030204" pitchFamily="18" charset="0"/>
                                </a:rPr>
                                <m:t>𝜽</m:t>
                              </m:r>
                            </m:e>
                          </m:d>
                          <m:r>
                            <a:rPr lang="en-US" i="1">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𝑗</m:t>
                              </m:r>
                            </m:sub>
                          </m:sSub>
                        </m:e>
                      </m:d>
                    </m:oMath>
                  </m:oMathPara>
                </a14:m>
                <a:endParaRPr lang="vi-VN"/>
              </a:p>
            </p:txBody>
          </p:sp>
        </mc:Choice>
        <mc:Fallback xmlns="">
          <p:sp>
            <p:nvSpPr>
              <p:cNvPr id="23" name="TextBox 22">
                <a:extLst>
                  <a:ext uri="{FF2B5EF4-FFF2-40B4-BE49-F238E27FC236}">
                    <a16:creationId xmlns:a16="http://schemas.microsoft.com/office/drawing/2014/main" id="{3ADB2839-4825-264A-A7C7-4F6E39A63CC1}"/>
                  </a:ext>
                </a:extLst>
              </p:cNvPr>
              <p:cNvSpPr txBox="1">
                <a:spLocks noRot="1" noChangeAspect="1" noMove="1" noResize="1" noEditPoints="1" noAdjustHandles="1" noChangeArrowheads="1" noChangeShapeType="1" noTextEdit="1"/>
              </p:cNvSpPr>
              <p:nvPr/>
            </p:nvSpPr>
            <p:spPr>
              <a:xfrm>
                <a:off x="4926172" y="2751046"/>
                <a:ext cx="1467324" cy="410753"/>
              </a:xfrm>
              <a:prstGeom prst="rect">
                <a:avLst/>
              </a:prstGeom>
              <a:blipFill>
                <a:blip r:embed="rId12"/>
                <a:stretch>
                  <a:fillRect b="-5714"/>
                </a:stretch>
              </a:blipFill>
              <a:ln>
                <a:solidFill>
                  <a:srgbClr val="FF0000"/>
                </a:solidFill>
              </a:ln>
            </p:spPr>
            <p:txBody>
              <a:bodyPr/>
              <a:lstStyle/>
              <a:p>
                <a:r>
                  <a:rPr lang="vi-VN">
                    <a:noFill/>
                  </a:rPr>
                  <a:t> </a:t>
                </a:r>
              </a:p>
            </p:txBody>
          </p:sp>
        </mc:Fallback>
      </mc:AlternateContent>
      <p:sp>
        <p:nvSpPr>
          <p:cNvPr id="24" name="Rectangle 23">
            <a:extLst>
              <a:ext uri="{FF2B5EF4-FFF2-40B4-BE49-F238E27FC236}">
                <a16:creationId xmlns:a16="http://schemas.microsoft.com/office/drawing/2014/main" id="{C49E1CB2-7208-5AAB-3762-999116F65D00}"/>
              </a:ext>
            </a:extLst>
          </p:cNvPr>
          <p:cNvSpPr/>
          <p:nvPr/>
        </p:nvSpPr>
        <p:spPr>
          <a:xfrm>
            <a:off x="4933813" y="1512915"/>
            <a:ext cx="3128683" cy="8795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7" name="Straight Arrow Connector 26">
            <a:extLst>
              <a:ext uri="{FF2B5EF4-FFF2-40B4-BE49-F238E27FC236}">
                <a16:creationId xmlns:a16="http://schemas.microsoft.com/office/drawing/2014/main" id="{EE1E1D50-5450-F81B-EB56-530F0F4EC158}"/>
              </a:ext>
            </a:extLst>
          </p:cNvPr>
          <p:cNvCxnSpPr>
            <a:cxnSpLocks/>
            <a:endCxn id="23" idx="0"/>
          </p:cNvCxnSpPr>
          <p:nvPr/>
        </p:nvCxnSpPr>
        <p:spPr>
          <a:xfrm>
            <a:off x="5659834" y="2392454"/>
            <a:ext cx="0" cy="358592"/>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45" name="Rectangle 44">
            <a:extLst>
              <a:ext uri="{FF2B5EF4-FFF2-40B4-BE49-F238E27FC236}">
                <a16:creationId xmlns:a16="http://schemas.microsoft.com/office/drawing/2014/main" id="{B220D5AC-E098-72DD-C794-81F708137262}"/>
              </a:ext>
            </a:extLst>
          </p:cNvPr>
          <p:cNvSpPr/>
          <p:nvPr/>
        </p:nvSpPr>
        <p:spPr>
          <a:xfrm>
            <a:off x="837406" y="3917156"/>
            <a:ext cx="3182312" cy="4751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47" name="Connector: Elbow 46">
            <a:extLst>
              <a:ext uri="{FF2B5EF4-FFF2-40B4-BE49-F238E27FC236}">
                <a16:creationId xmlns:a16="http://schemas.microsoft.com/office/drawing/2014/main" id="{66DF55A2-CB33-C5E5-5CD4-CF023B5CF2FF}"/>
              </a:ext>
            </a:extLst>
          </p:cNvPr>
          <p:cNvCxnSpPr>
            <a:cxnSpLocks/>
            <a:stCxn id="45" idx="3"/>
            <a:endCxn id="24" idx="1"/>
          </p:cNvCxnSpPr>
          <p:nvPr/>
        </p:nvCxnSpPr>
        <p:spPr>
          <a:xfrm flipV="1">
            <a:off x="4019718" y="1952685"/>
            <a:ext cx="914095" cy="2202042"/>
          </a:xfrm>
          <a:prstGeom prst="bentConnector3">
            <a:avLst>
              <a:gd name="adj1" fmla="val 726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0A77C562-AAC3-5C64-8AA3-1F4A7034E1E8}"/>
                  </a:ext>
                </a:extLst>
              </p:cNvPr>
              <p:cNvSpPr txBox="1"/>
              <p:nvPr/>
            </p:nvSpPr>
            <p:spPr>
              <a:xfrm>
                <a:off x="4926172" y="3357523"/>
                <a:ext cx="1467324" cy="453009"/>
              </a:xfrm>
              <a:prstGeom prst="rect">
                <a:avLst/>
              </a:prstGeom>
              <a:no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1" i="1" smtClean="0">
                                  <a:latin typeface="Cambria Math" panose="02040503050406030204" pitchFamily="18" charset="0"/>
                                </a:rPr>
                                <m:t>𝜽</m:t>
                              </m:r>
                            </m:lim>
                          </m:limLow>
                        </m:fName>
                        <m:e>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e>
                      </m:func>
                    </m:oMath>
                  </m:oMathPara>
                </a14:m>
                <a:endParaRPr lang="vi-VN"/>
              </a:p>
            </p:txBody>
          </p:sp>
        </mc:Choice>
        <mc:Fallback xmlns="">
          <p:sp>
            <p:nvSpPr>
              <p:cNvPr id="50" name="TextBox 49">
                <a:extLst>
                  <a:ext uri="{FF2B5EF4-FFF2-40B4-BE49-F238E27FC236}">
                    <a16:creationId xmlns:a16="http://schemas.microsoft.com/office/drawing/2014/main" id="{0A77C562-AAC3-5C64-8AA3-1F4A7034E1E8}"/>
                  </a:ext>
                </a:extLst>
              </p:cNvPr>
              <p:cNvSpPr txBox="1">
                <a:spLocks noRot="1" noChangeAspect="1" noMove="1" noResize="1" noEditPoints="1" noAdjustHandles="1" noChangeArrowheads="1" noChangeShapeType="1" noTextEdit="1"/>
              </p:cNvSpPr>
              <p:nvPr/>
            </p:nvSpPr>
            <p:spPr>
              <a:xfrm>
                <a:off x="4926172" y="3357523"/>
                <a:ext cx="1467324" cy="453009"/>
              </a:xfrm>
              <a:prstGeom prst="rect">
                <a:avLst/>
              </a:prstGeom>
              <a:blipFill>
                <a:blip r:embed="rId13"/>
                <a:stretch>
                  <a:fillRect b="-1316"/>
                </a:stretch>
              </a:blipFill>
              <a:ln>
                <a:solidFill>
                  <a:srgbClr val="FF0000"/>
                </a:solidFill>
              </a:ln>
            </p:spPr>
            <p:txBody>
              <a:bodyPr/>
              <a:lstStyle/>
              <a:p>
                <a:r>
                  <a:rPr lang="vi-VN">
                    <a:noFill/>
                  </a:rPr>
                  <a:t> </a:t>
                </a:r>
              </a:p>
            </p:txBody>
          </p:sp>
        </mc:Fallback>
      </mc:AlternateContent>
      <p:cxnSp>
        <p:nvCxnSpPr>
          <p:cNvPr id="51" name="Straight Arrow Connector 50">
            <a:extLst>
              <a:ext uri="{FF2B5EF4-FFF2-40B4-BE49-F238E27FC236}">
                <a16:creationId xmlns:a16="http://schemas.microsoft.com/office/drawing/2014/main" id="{70E2401D-22E3-12C7-6046-1638757F502C}"/>
              </a:ext>
            </a:extLst>
          </p:cNvPr>
          <p:cNvCxnSpPr>
            <a:cxnSpLocks/>
            <a:stCxn id="23" idx="2"/>
            <a:endCxn id="50" idx="0"/>
          </p:cNvCxnSpPr>
          <p:nvPr/>
        </p:nvCxnSpPr>
        <p:spPr>
          <a:xfrm>
            <a:off x="5659834" y="3161799"/>
            <a:ext cx="0" cy="195724"/>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pic>
        <p:nvPicPr>
          <p:cNvPr id="2050" name="Picture 2">
            <a:extLst>
              <a:ext uri="{FF2B5EF4-FFF2-40B4-BE49-F238E27FC236}">
                <a16:creationId xmlns:a16="http://schemas.microsoft.com/office/drawing/2014/main" id="{F319CEDE-36D4-C7B4-281D-C1C042B6DAC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70618" y="2679731"/>
            <a:ext cx="2614563" cy="1965624"/>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a:extLst>
              <a:ext uri="{FF2B5EF4-FFF2-40B4-BE49-F238E27FC236}">
                <a16:creationId xmlns:a16="http://schemas.microsoft.com/office/drawing/2014/main" id="{125FF146-B60D-E082-5B9E-603BBC0FE4C0}"/>
              </a:ext>
            </a:extLst>
          </p:cNvPr>
          <p:cNvSpPr txBox="1"/>
          <p:nvPr/>
        </p:nvSpPr>
        <p:spPr>
          <a:xfrm>
            <a:off x="628650" y="4796633"/>
            <a:ext cx="3938635" cy="246221"/>
          </a:xfrm>
          <a:prstGeom prst="rect">
            <a:avLst/>
          </a:prstGeom>
          <a:noFill/>
        </p:spPr>
        <p:txBody>
          <a:bodyPr wrap="square" rtlCol="0">
            <a:spAutoFit/>
          </a:bodyPr>
          <a:lstStyle/>
          <a:p>
            <a:r>
              <a:rPr lang="en-US" sz="1000" b="1"/>
              <a:t>[*]</a:t>
            </a:r>
            <a:r>
              <a:rPr lang="en-US" sz="1000"/>
              <a:t> Results from Nguyen Quoc Chuong with Python package Qsun</a:t>
            </a:r>
            <a:endParaRPr lang="en-US" sz="1000" b="0"/>
          </a:p>
        </p:txBody>
      </p:sp>
      <p:sp>
        <p:nvSpPr>
          <p:cNvPr id="69" name="Rectangle 68">
            <a:extLst>
              <a:ext uri="{FF2B5EF4-FFF2-40B4-BE49-F238E27FC236}">
                <a16:creationId xmlns:a16="http://schemas.microsoft.com/office/drawing/2014/main" id="{3129D233-B1BC-1D72-4B05-D336BF228746}"/>
              </a:ext>
            </a:extLst>
          </p:cNvPr>
          <p:cNvSpPr/>
          <p:nvPr/>
        </p:nvSpPr>
        <p:spPr>
          <a:xfrm>
            <a:off x="7288145" y="1919449"/>
            <a:ext cx="450387" cy="37508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22A272A-A0D3-1699-26A5-C9CBC5066BFE}"/>
                  </a:ext>
                </a:extLst>
              </p:cNvPr>
              <p:cNvSpPr txBox="1"/>
              <p:nvPr/>
            </p:nvSpPr>
            <p:spPr>
              <a:xfrm>
                <a:off x="8144373" y="1879013"/>
                <a:ext cx="883316" cy="461665"/>
              </a:xfrm>
              <a:prstGeom prst="rect">
                <a:avLst/>
              </a:prstGeom>
              <a:noFill/>
            </p:spPr>
            <p:txBody>
              <a:bodyPr wrap="square" rtlCol="0">
                <a:spAutoFit/>
              </a:bodyPr>
              <a:lstStyle/>
              <a:p>
                <a:r>
                  <a:rPr lang="en-US" sz="1200">
                    <a:solidFill>
                      <a:srgbClr val="FF0000"/>
                    </a:solidFill>
                  </a:rPr>
                  <a:t>Sampling</a:t>
                </a:r>
              </a:p>
              <a:p>
                <a:r>
                  <a:rPr lang="en-US" sz="1200">
                    <a:solidFill>
                      <a:srgbClr val="FF0000"/>
                    </a:solidFill>
                  </a:rPr>
                  <a:t>from </a:t>
                </a:r>
                <a14:m>
                  <m:oMath xmlns:m="http://schemas.openxmlformats.org/officeDocument/2006/math">
                    <m:r>
                      <a:rPr lang="en-US" sz="1200" b="0" i="1" smtClean="0">
                        <a:solidFill>
                          <a:srgbClr val="FF0000"/>
                        </a:solidFill>
                        <a:latin typeface="Cambria Math" panose="02040503050406030204" pitchFamily="18" charset="0"/>
                      </a:rPr>
                      <m:t>𝑦</m:t>
                    </m:r>
                    <m:r>
                      <a:rPr lang="en-US" sz="1200" b="0" i="1" smtClean="0">
                        <a:solidFill>
                          <a:srgbClr val="FF0000"/>
                        </a:solidFill>
                        <a:latin typeface="Cambria Math" panose="02040503050406030204" pitchFamily="18" charset="0"/>
                      </a:rPr>
                      <m:t>′</m:t>
                    </m:r>
                  </m:oMath>
                </a14:m>
                <a:endParaRPr lang="vi-VN" sz="1200">
                  <a:solidFill>
                    <a:srgbClr val="FF0000"/>
                  </a:solidFill>
                </a:endParaRPr>
              </a:p>
            </p:txBody>
          </p:sp>
        </mc:Choice>
        <mc:Fallback xmlns="">
          <p:sp>
            <p:nvSpPr>
              <p:cNvPr id="71" name="TextBox 70">
                <a:extLst>
                  <a:ext uri="{FF2B5EF4-FFF2-40B4-BE49-F238E27FC236}">
                    <a16:creationId xmlns:a16="http://schemas.microsoft.com/office/drawing/2014/main" id="{522A272A-A0D3-1699-26A5-C9CBC5066BFE}"/>
                  </a:ext>
                </a:extLst>
              </p:cNvPr>
              <p:cNvSpPr txBox="1">
                <a:spLocks noRot="1" noChangeAspect="1" noMove="1" noResize="1" noEditPoints="1" noAdjustHandles="1" noChangeArrowheads="1" noChangeShapeType="1" noTextEdit="1"/>
              </p:cNvSpPr>
              <p:nvPr/>
            </p:nvSpPr>
            <p:spPr>
              <a:xfrm>
                <a:off x="8144373" y="1879013"/>
                <a:ext cx="883316" cy="461665"/>
              </a:xfrm>
              <a:prstGeom prst="rect">
                <a:avLst/>
              </a:prstGeom>
              <a:blipFill>
                <a:blip r:embed="rId15"/>
                <a:stretch>
                  <a:fillRect b="-10526"/>
                </a:stretch>
              </a:blipFill>
            </p:spPr>
            <p:txBody>
              <a:bodyPr/>
              <a:lstStyle/>
              <a:p>
                <a:r>
                  <a:rPr lang="vi-VN">
                    <a:noFill/>
                  </a:rPr>
                  <a:t> </a:t>
                </a:r>
              </a:p>
            </p:txBody>
          </p:sp>
        </mc:Fallback>
      </mc:AlternateContent>
      <p:cxnSp>
        <p:nvCxnSpPr>
          <p:cNvPr id="75" name="Straight Arrow Connector 74">
            <a:extLst>
              <a:ext uri="{FF2B5EF4-FFF2-40B4-BE49-F238E27FC236}">
                <a16:creationId xmlns:a16="http://schemas.microsoft.com/office/drawing/2014/main" id="{9997C21D-E2AC-39B5-40EA-3DDBFC2FA96C}"/>
              </a:ext>
            </a:extLst>
          </p:cNvPr>
          <p:cNvCxnSpPr>
            <a:cxnSpLocks/>
            <a:stCxn id="71" idx="1"/>
            <a:endCxn id="69" idx="3"/>
          </p:cNvCxnSpPr>
          <p:nvPr/>
        </p:nvCxnSpPr>
        <p:spPr>
          <a:xfrm flipH="1" flipV="1">
            <a:off x="7738532" y="2106994"/>
            <a:ext cx="405841" cy="2852"/>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616104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6792C-BD86-AE72-D985-BAAB4C200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FC6A3-76C0-015A-0414-83572B491515}"/>
              </a:ext>
            </a:extLst>
          </p:cNvPr>
          <p:cNvSpPr>
            <a:spLocks noGrp="1"/>
          </p:cNvSpPr>
          <p:nvPr>
            <p:ph type="title"/>
          </p:nvPr>
        </p:nvSpPr>
        <p:spPr>
          <a:xfrm>
            <a:off x="134827" y="1"/>
            <a:ext cx="8874347" cy="846159"/>
          </a:xfrm>
        </p:spPr>
        <p:txBody>
          <a:bodyPr>
            <a:normAutofit/>
          </a:bodyPr>
          <a:lstStyle/>
          <a:p>
            <a:r>
              <a:rPr lang="en-US" sz="2800"/>
              <a:t>3.4</a:t>
            </a:r>
            <a:r>
              <a:rPr lang="en-US" sz="2700"/>
              <a:t>. Quantum deep learning</a:t>
            </a:r>
            <a:br>
              <a:rPr lang="en-US"/>
            </a:br>
            <a:r>
              <a:rPr lang="vi-VN" sz="1800" b="0" i="0">
                <a:solidFill>
                  <a:srgbClr val="000000"/>
                </a:solidFill>
                <a:effectLst/>
                <a:latin typeface="__Quicksand_e7ab6f"/>
              </a:rPr>
              <a:t>Variational classifier</a:t>
            </a:r>
            <a:r>
              <a:rPr lang="en-US" sz="1800" b="0" i="0">
                <a:solidFill>
                  <a:srgbClr val="000000"/>
                </a:solidFill>
                <a:effectLst/>
                <a:latin typeface="__Quicksand_e7ab6f"/>
              </a:rPr>
              <a:t> for quantum battery optimization</a:t>
            </a:r>
            <a:endParaRPr lang="en-US" sz="1800" dirty="0"/>
          </a:p>
        </p:txBody>
      </p:sp>
      <p:pic>
        <p:nvPicPr>
          <p:cNvPr id="6" name="Content Placeholder 5">
            <a:extLst>
              <a:ext uri="{FF2B5EF4-FFF2-40B4-BE49-F238E27FC236}">
                <a16:creationId xmlns:a16="http://schemas.microsoft.com/office/drawing/2014/main" id="{EB4A84AB-D277-0DC7-B0D1-4F053B4ADFD5}"/>
              </a:ext>
            </a:extLst>
          </p:cNvPr>
          <p:cNvPicPr>
            <a:picLocks noGrp="1" noChangeAspect="1"/>
          </p:cNvPicPr>
          <p:nvPr>
            <p:ph idx="1"/>
          </p:nvPr>
        </p:nvPicPr>
        <p:blipFill>
          <a:blip r:embed="rId2"/>
          <a:stretch>
            <a:fillRect/>
          </a:stretch>
        </p:blipFill>
        <p:spPr>
          <a:xfrm>
            <a:off x="3992450" y="1198829"/>
            <a:ext cx="5016725" cy="3263504"/>
          </a:xfrm>
        </p:spPr>
      </p:pic>
      <p:sp>
        <p:nvSpPr>
          <p:cNvPr id="4" name="Slide Number Placeholder 3">
            <a:extLst>
              <a:ext uri="{FF2B5EF4-FFF2-40B4-BE49-F238E27FC236}">
                <a16:creationId xmlns:a16="http://schemas.microsoft.com/office/drawing/2014/main" id="{6694008C-D8EF-CDAB-AC4F-530E42DCEE1A}"/>
              </a:ext>
            </a:extLst>
          </p:cNvPr>
          <p:cNvSpPr>
            <a:spLocks noGrp="1"/>
          </p:cNvSpPr>
          <p:nvPr>
            <p:ph type="sldNum" sz="quarter" idx="12"/>
          </p:nvPr>
        </p:nvSpPr>
        <p:spPr/>
        <p:txBody>
          <a:bodyPr/>
          <a:lstStyle/>
          <a:p>
            <a:fld id="{3C0C221A-CB66-4297-9A52-937C35126D0C}" type="slidenum">
              <a:rPr lang="en-US" smtClean="0"/>
              <a:t>44</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B1AF577-8BBE-7DCD-40E4-BA9BA65D9B81}"/>
                  </a:ext>
                </a:extLst>
              </p:cNvPr>
              <p:cNvSpPr txBox="1"/>
              <p:nvPr/>
            </p:nvSpPr>
            <p:spPr>
              <a:xfrm>
                <a:off x="3943350" y="4376083"/>
                <a:ext cx="5065825" cy="715581"/>
              </a:xfrm>
              <a:prstGeom prst="rect">
                <a:avLst/>
              </a:prstGeom>
              <a:noFill/>
            </p:spPr>
            <p:txBody>
              <a:bodyPr wrap="square">
                <a:spAutoFit/>
              </a:bodyPr>
              <a:lstStyle/>
              <a:p>
                <a:pPr marL="257175" indent="-257175">
                  <a:buAutoNum type="alphaLcParenBoth"/>
                </a:pPr>
                <a:r>
                  <a:rPr lang="en-US" sz="1350"/>
                  <a:t>A </a:t>
                </a:r>
                <a:r>
                  <a:rPr lang="en-US" sz="1350" dirty="0"/>
                  <a:t>model of </a:t>
                </a:r>
                <a14:m>
                  <m:oMath xmlns:m="http://schemas.openxmlformats.org/officeDocument/2006/math">
                    <m:r>
                      <a:rPr lang="en-US" sz="1350" i="1" dirty="0" smtClean="0">
                        <a:latin typeface="Cambria Math" panose="02040503050406030204" pitchFamily="18" charset="0"/>
                      </a:rPr>
                      <m:t>𝑁</m:t>
                    </m:r>
                  </m:oMath>
                </a14:m>
                <a:r>
                  <a:rPr lang="en-US" sz="1350" dirty="0"/>
                  <a:t>-cell quantum battery. </a:t>
                </a:r>
              </a:p>
              <a:p>
                <a:pPr marL="257175" indent="-257175">
                  <a:buAutoNum type="alphaLcParenBoth"/>
                </a:pPr>
                <a:r>
                  <a:rPr lang="en-US" sz="1350" dirty="0"/>
                  <a:t>A quantum machine learning algorithm for optimizing battery’s power.</a:t>
                </a:r>
              </a:p>
            </p:txBody>
          </p:sp>
        </mc:Choice>
        <mc:Fallback xmlns="">
          <p:sp>
            <p:nvSpPr>
              <p:cNvPr id="8" name="TextBox 7">
                <a:extLst>
                  <a:ext uri="{FF2B5EF4-FFF2-40B4-BE49-F238E27FC236}">
                    <a16:creationId xmlns:a16="http://schemas.microsoft.com/office/drawing/2014/main" id="{5B1AF577-8BBE-7DCD-40E4-BA9BA65D9B81}"/>
                  </a:ext>
                </a:extLst>
              </p:cNvPr>
              <p:cNvSpPr txBox="1">
                <a:spLocks noRot="1" noChangeAspect="1" noMove="1" noResize="1" noEditPoints="1" noAdjustHandles="1" noChangeArrowheads="1" noChangeShapeType="1" noTextEdit="1"/>
              </p:cNvSpPr>
              <p:nvPr/>
            </p:nvSpPr>
            <p:spPr>
              <a:xfrm>
                <a:off x="3943350" y="4376083"/>
                <a:ext cx="5065825" cy="715581"/>
              </a:xfrm>
              <a:prstGeom prst="rect">
                <a:avLst/>
              </a:prstGeom>
              <a:blipFill>
                <a:blip r:embed="rId3"/>
                <a:stretch>
                  <a:fillRect l="-361" t="-2564" b="-85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2DF9A5-6555-43CE-E1A1-F4A1CB507C46}"/>
                  </a:ext>
                </a:extLst>
              </p:cNvPr>
              <p:cNvSpPr txBox="1"/>
              <p:nvPr/>
            </p:nvSpPr>
            <p:spPr>
              <a:xfrm>
                <a:off x="134827" y="792389"/>
                <a:ext cx="6048932" cy="592726"/>
              </a:xfrm>
              <a:prstGeom prst="rect">
                <a:avLst/>
              </a:prstGeom>
              <a:noFill/>
            </p:spPr>
            <p:txBody>
              <a:bodyPr wrap="square">
                <a:spAutoFit/>
              </a:bodyPr>
              <a:lstStyle/>
              <a:p>
                <a:r>
                  <a:rPr lang="en-US" sz="1500" dirty="0"/>
                  <a:t>A quantum battery is given in the ground state of a Hamiltonian</a:t>
                </a:r>
              </a:p>
              <a:p>
                <a14:m>
                  <m:oMath xmlns:m="http://schemas.openxmlformats.org/officeDocument/2006/math">
                    <m:sSub>
                      <m:sSubPr>
                        <m:ctrlPr>
                          <a:rPr lang="en-VN" sz="1500" i="1" spc="-4">
                            <a:latin typeface="Cambria Math" panose="02040503050406030204" pitchFamily="18" charset="0"/>
                          </a:rPr>
                        </m:ctrlPr>
                      </m:sSubPr>
                      <m:e>
                        <m:r>
                          <a:rPr lang="vi-VN" sz="1500" i="1" spc="-4">
                            <a:latin typeface="Cambria Math" panose="02040503050406030204" pitchFamily="18" charset="0"/>
                          </a:rPr>
                          <m:t>𝐻</m:t>
                        </m:r>
                      </m:e>
                      <m:sub>
                        <m:r>
                          <a:rPr lang="vi-VN" sz="1500" i="1" spc="-4">
                            <a:latin typeface="Cambria Math" panose="02040503050406030204" pitchFamily="18" charset="0"/>
                          </a:rPr>
                          <m:t>0</m:t>
                        </m:r>
                      </m:sub>
                    </m:sSub>
                    <m:d>
                      <m:dPr>
                        <m:ctrlPr>
                          <a:rPr lang="en-VN" sz="1500" i="1" spc="-4">
                            <a:latin typeface="Cambria Math" panose="02040503050406030204" pitchFamily="18" charset="0"/>
                          </a:rPr>
                        </m:ctrlPr>
                      </m:dPr>
                      <m:e>
                        <m:r>
                          <a:rPr lang="vi-VN" sz="1500" i="1" spc="-4">
                            <a:latin typeface="Cambria Math" panose="02040503050406030204" pitchFamily="18" charset="0"/>
                          </a:rPr>
                          <m:t>h</m:t>
                        </m:r>
                      </m:e>
                    </m:d>
                    <m:r>
                      <a:rPr lang="vi-VN" sz="1500" spc="-4">
                        <a:latin typeface="Cambria Math" panose="02040503050406030204" pitchFamily="18" charset="0"/>
                      </a:rPr>
                      <m:t>=−</m:t>
                    </m:r>
                    <m:r>
                      <a:rPr lang="vi-VN" sz="1500" i="1" spc="-4">
                        <a:latin typeface="Cambria Math" panose="02040503050406030204" pitchFamily="18" charset="0"/>
                      </a:rPr>
                      <m:t>h</m:t>
                    </m:r>
                    <m:nary>
                      <m:naryPr>
                        <m:chr m:val="∑"/>
                        <m:limLoc m:val="undOvr"/>
                        <m:ctrlPr>
                          <a:rPr lang="en-VN" sz="1500" i="1" spc="-4">
                            <a:latin typeface="Cambria Math" panose="02040503050406030204" pitchFamily="18" charset="0"/>
                          </a:rPr>
                        </m:ctrlPr>
                      </m:naryPr>
                      <m:sub>
                        <m:r>
                          <a:rPr lang="vi-VN" sz="1500" i="1" spc="-4">
                            <a:latin typeface="Cambria Math" panose="02040503050406030204" pitchFamily="18" charset="0"/>
                          </a:rPr>
                          <m:t>𝑗</m:t>
                        </m:r>
                        <m:r>
                          <a:rPr lang="vi-VN" sz="1500" spc="-4">
                            <a:latin typeface="Cambria Math" panose="02040503050406030204" pitchFamily="18" charset="0"/>
                          </a:rPr>
                          <m:t>=</m:t>
                        </m:r>
                        <m:r>
                          <a:rPr lang="vi-VN" sz="1500" i="1" spc="-4">
                            <a:latin typeface="Cambria Math" panose="02040503050406030204" pitchFamily="18" charset="0"/>
                          </a:rPr>
                          <m:t>1</m:t>
                        </m:r>
                      </m:sub>
                      <m:sup>
                        <m:r>
                          <a:rPr lang="vi-VN" sz="1500" i="1" spc="-4">
                            <a:latin typeface="Cambria Math" panose="02040503050406030204" pitchFamily="18" charset="0"/>
                          </a:rPr>
                          <m:t>𝑁</m:t>
                        </m:r>
                      </m:sup>
                      <m:e>
                        <m:sSub>
                          <m:sSubPr>
                            <m:ctrlPr>
                              <a:rPr lang="en-VN" sz="1500" i="1" spc="-4">
                                <a:latin typeface="Cambria Math" panose="02040503050406030204" pitchFamily="18" charset="0"/>
                              </a:rPr>
                            </m:ctrlPr>
                          </m:sSubPr>
                          <m:e>
                            <m:r>
                              <a:rPr lang="vi-VN" sz="1500" i="1" spc="-4">
                                <a:latin typeface="Cambria Math" panose="02040503050406030204" pitchFamily="18" charset="0"/>
                              </a:rPr>
                              <m:t>𝑍</m:t>
                            </m:r>
                          </m:e>
                          <m:sub>
                            <m:r>
                              <a:rPr lang="vi-VN" sz="1500" i="1" spc="-4">
                                <a:latin typeface="Cambria Math" panose="02040503050406030204" pitchFamily="18" charset="0"/>
                              </a:rPr>
                              <m:t>𝑗</m:t>
                            </m:r>
                          </m:sub>
                        </m:sSub>
                      </m:e>
                    </m:nary>
                    <m:r>
                      <a:rPr lang="vi-VN" sz="1500" spc="-4">
                        <a:latin typeface="Cambria Math" panose="02040503050406030204" pitchFamily="18" charset="0"/>
                      </a:rPr>
                      <m:t>.</m:t>
                    </m:r>
                    <m:r>
                      <a:rPr lang="vi-VN" sz="1500" i="1" spc="-4">
                        <a:latin typeface="Cambria Math" panose="02040503050406030204" pitchFamily="18" charset="0"/>
                      </a:rPr>
                      <m:t> </m:t>
                    </m:r>
                  </m:oMath>
                </a14:m>
                <a:r>
                  <a:rPr lang="en-US" sz="1500" dirty="0"/>
                  <a:t>The </a:t>
                </a:r>
                <a:r>
                  <a:rPr lang="en-US" sz="1500" b="1" dirty="0">
                    <a:solidFill>
                      <a:srgbClr val="FF0000"/>
                    </a:solidFill>
                  </a:rPr>
                  <a:t>charging</a:t>
                </a:r>
                <a:r>
                  <a:rPr lang="en-US" sz="1500" dirty="0"/>
                  <a:t> </a:t>
                </a:r>
                <a:r>
                  <a:rPr lang="en-US" sz="1500" b="1" dirty="0">
                    <a:solidFill>
                      <a:srgbClr val="FF0000"/>
                    </a:solidFill>
                  </a:rPr>
                  <a:t>Hamiltonian</a:t>
                </a:r>
                <a:r>
                  <a:rPr lang="en-US" sz="1500" dirty="0"/>
                  <a:t> is given by:</a:t>
                </a:r>
              </a:p>
            </p:txBody>
          </p:sp>
        </mc:Choice>
        <mc:Fallback xmlns="">
          <p:sp>
            <p:nvSpPr>
              <p:cNvPr id="10" name="TextBox 9">
                <a:extLst>
                  <a:ext uri="{FF2B5EF4-FFF2-40B4-BE49-F238E27FC236}">
                    <a16:creationId xmlns:a16="http://schemas.microsoft.com/office/drawing/2014/main" id="{062DF9A5-6555-43CE-E1A1-F4A1CB507C46}"/>
                  </a:ext>
                </a:extLst>
              </p:cNvPr>
              <p:cNvSpPr txBox="1">
                <a:spLocks noRot="1" noChangeAspect="1" noMove="1" noResize="1" noEditPoints="1" noAdjustHandles="1" noChangeArrowheads="1" noChangeShapeType="1" noTextEdit="1"/>
              </p:cNvSpPr>
              <p:nvPr/>
            </p:nvSpPr>
            <p:spPr>
              <a:xfrm>
                <a:off x="134827" y="792389"/>
                <a:ext cx="6048932" cy="592726"/>
              </a:xfrm>
              <a:prstGeom prst="rect">
                <a:avLst/>
              </a:prstGeom>
              <a:blipFill>
                <a:blip r:embed="rId4"/>
                <a:stretch>
                  <a:fillRect l="-403" t="-19588" b="-9072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F700F61-01C8-AC0E-D1E9-6ABD59A6FBE3}"/>
                  </a:ext>
                </a:extLst>
              </p:cNvPr>
              <p:cNvSpPr txBox="1"/>
              <p:nvPr/>
            </p:nvSpPr>
            <p:spPr>
              <a:xfrm>
                <a:off x="265843" y="1294869"/>
                <a:ext cx="5016725" cy="7675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𝐻</m:t>
                          </m:r>
                        </m:e>
                        <m:sub>
                          <m:r>
                            <m:rPr>
                              <m:sty m:val="p"/>
                            </m:rPr>
                            <a:rPr lang="en-VN" sz="1500">
                              <a:latin typeface="Cambria Math" panose="02040503050406030204" pitchFamily="18" charset="0"/>
                            </a:rPr>
                            <m:t>charge</m:t>
                          </m:r>
                        </m:sub>
                      </m:sSub>
                      <m:d>
                        <m:dPr>
                          <m:ctrlPr>
                            <a:rPr lang="en-VN" sz="1500" i="1">
                              <a:solidFill>
                                <a:srgbClr val="836967"/>
                              </a:solidFill>
                              <a:latin typeface="Cambria Math" panose="02040503050406030204" pitchFamily="18" charset="0"/>
                            </a:rPr>
                          </m:ctrlPr>
                        </m:dPr>
                        <m:e>
                          <m:r>
                            <a:rPr lang="en-VN" sz="1500" i="1">
                              <a:latin typeface="Cambria Math" panose="02040503050406030204" pitchFamily="18" charset="0"/>
                            </a:rPr>
                            <m:t>𝐽</m:t>
                          </m:r>
                          <m:r>
                            <a:rPr lang="en-VN" sz="1500">
                              <a:latin typeface="Cambria Math" panose="02040503050406030204" pitchFamily="18" charset="0"/>
                            </a:rPr>
                            <m:t>,</m:t>
                          </m:r>
                          <m:r>
                            <m:rPr>
                              <m:sty m:val="p"/>
                            </m:rPr>
                            <a:rPr lang="en-VN" sz="1500">
                              <a:latin typeface="Cambria Math" panose="02040503050406030204" pitchFamily="18" charset="0"/>
                            </a:rPr>
                            <m:t>Δ</m:t>
                          </m:r>
                          <m:r>
                            <a:rPr lang="en-VN" sz="1500">
                              <a:latin typeface="Cambria Math" panose="02040503050406030204" pitchFamily="18" charset="0"/>
                            </a:rPr>
                            <m:t>,</m:t>
                          </m:r>
                          <m:r>
                            <a:rPr lang="en-VN" sz="1500" i="1">
                              <a:latin typeface="Cambria Math" panose="02040503050406030204" pitchFamily="18" charset="0"/>
                            </a:rPr>
                            <m:t>𝛾</m:t>
                          </m:r>
                        </m:e>
                      </m:d>
                      <m:r>
                        <a:rPr lang="en-VN" sz="1500">
                          <a:latin typeface="Cambria Math" panose="02040503050406030204" pitchFamily="18" charset="0"/>
                        </a:rPr>
                        <m:t>=</m:t>
                      </m:r>
                      <m:nary>
                        <m:naryPr>
                          <m:chr m:val="∑"/>
                          <m:limLoc m:val="undOvr"/>
                          <m:ctrlPr>
                            <a:rPr lang="en-VN" sz="1500" i="1">
                              <a:latin typeface="Cambria Math" panose="02040503050406030204" pitchFamily="18" charset="0"/>
                            </a:rPr>
                          </m:ctrlPr>
                        </m:naryPr>
                        <m:sub>
                          <m:r>
                            <a:rPr lang="en-VN" sz="1500" i="1">
                              <a:latin typeface="Cambria Math" panose="02040503050406030204" pitchFamily="18" charset="0"/>
                            </a:rPr>
                            <m:t>𝑗</m:t>
                          </m:r>
                          <m:r>
                            <a:rPr lang="en-VN" sz="1500">
                              <a:latin typeface="Cambria Math" panose="02040503050406030204" pitchFamily="18" charset="0"/>
                            </a:rPr>
                            <m:t>=1</m:t>
                          </m:r>
                        </m:sub>
                        <m:sup>
                          <m:r>
                            <a:rPr lang="en-VN" sz="1500" i="1">
                              <a:latin typeface="Cambria Math" panose="02040503050406030204" pitchFamily="18" charset="0"/>
                            </a:rPr>
                            <m:t>𝑁</m:t>
                          </m:r>
                          <m:r>
                            <a:rPr lang="en-VN" sz="1500">
                              <a:latin typeface="Cambria Math" panose="02040503050406030204" pitchFamily="18" charset="0"/>
                            </a:rPr>
                            <m:t>−1</m:t>
                          </m:r>
                        </m:sup>
                        <m:e>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𝐽</m:t>
                              </m:r>
                            </m:e>
                            <m:sub>
                              <m:r>
                                <a:rPr lang="en-VN" sz="1500" i="1">
                                  <a:latin typeface="Cambria Math" panose="02040503050406030204" pitchFamily="18" charset="0"/>
                                </a:rPr>
                                <m:t>𝑗</m:t>
                              </m:r>
                            </m:sub>
                          </m:sSub>
                          <m:r>
                            <a:rPr lang="en-VN" sz="1500" i="1">
                              <a:latin typeface="Cambria Math" panose="02040503050406030204" pitchFamily="18" charset="0"/>
                            </a:rPr>
                            <m:t>h</m:t>
                          </m:r>
                          <m:d>
                            <m:dPr>
                              <m:ctrlPr>
                                <a:rPr lang="en-VN" sz="1500" i="1">
                                  <a:solidFill>
                                    <a:srgbClr val="836967"/>
                                  </a:solidFill>
                                  <a:latin typeface="Cambria Math" panose="02040503050406030204" pitchFamily="18" charset="0"/>
                                </a:rPr>
                              </m:ctrlPr>
                            </m:dPr>
                            <m:e>
                              <m:r>
                                <a:rPr lang="en-VN" sz="1500">
                                  <a:latin typeface="Cambria Math" panose="02040503050406030204" pitchFamily="18" charset="0"/>
                                </a:rPr>
                                <m:t>1+</m:t>
                              </m:r>
                              <m:r>
                                <a:rPr lang="en-VN" sz="1500" i="1">
                                  <a:latin typeface="Cambria Math" panose="02040503050406030204" pitchFamily="18" charset="0"/>
                                </a:rPr>
                                <m:t>𝛾</m:t>
                              </m:r>
                            </m:e>
                          </m:d>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𝑋</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𝑋</m:t>
                              </m:r>
                            </m:e>
                            <m:sub>
                              <m:r>
                                <a:rPr lang="en-VN" sz="1500" i="1">
                                  <a:latin typeface="Cambria Math" panose="02040503050406030204" pitchFamily="18" charset="0"/>
                                </a:rPr>
                                <m:t>𝑗</m:t>
                              </m:r>
                              <m:r>
                                <a:rPr lang="en-VN" sz="1500">
                                  <a:latin typeface="Cambria Math" panose="02040503050406030204" pitchFamily="18" charset="0"/>
                                </a:rPr>
                                <m:t>+1</m:t>
                              </m:r>
                            </m:sub>
                          </m:sSub>
                          <m:r>
                            <a:rPr lang="en-VN" sz="1500">
                              <a:latin typeface="Cambria Math" panose="02040503050406030204" pitchFamily="18" charset="0"/>
                            </a:rPr>
                            <m:t>+</m:t>
                          </m:r>
                          <m:d>
                            <m:dPr>
                              <m:ctrlPr>
                                <a:rPr lang="en-VN" sz="1500" i="1">
                                  <a:solidFill>
                                    <a:srgbClr val="836967"/>
                                  </a:solidFill>
                                  <a:latin typeface="Cambria Math" panose="02040503050406030204" pitchFamily="18" charset="0"/>
                                </a:rPr>
                              </m:ctrlPr>
                            </m:dPr>
                            <m:e>
                              <m:r>
                                <a:rPr lang="vi-VN" sz="1500">
                                  <a:solidFill>
                                    <a:srgbClr val="836967"/>
                                  </a:solidFill>
                                  <a:latin typeface="Cambria Math" panose="02040503050406030204" pitchFamily="18" charset="0"/>
                                </a:rPr>
                                <m:t>1</m:t>
                              </m:r>
                              <m:r>
                                <a:rPr lang="en-VN" sz="1500">
                                  <a:latin typeface="Cambria Math" panose="02040503050406030204" pitchFamily="18" charset="0"/>
                                </a:rPr>
                                <m:t>−</m:t>
                              </m:r>
                              <m:r>
                                <a:rPr lang="en-VN" sz="1500" i="1">
                                  <a:latin typeface="Cambria Math" panose="02040503050406030204" pitchFamily="18" charset="0"/>
                                </a:rPr>
                                <m:t>𝛾</m:t>
                              </m:r>
                            </m:e>
                          </m:d>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𝑌</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𝑌</m:t>
                              </m:r>
                            </m:e>
                            <m:sub>
                              <m:r>
                                <a:rPr lang="en-VN" sz="1500" i="1">
                                  <a:latin typeface="Cambria Math" panose="02040503050406030204" pitchFamily="18" charset="0"/>
                                </a:rPr>
                                <m:t>𝑗</m:t>
                              </m:r>
                              <m:r>
                                <a:rPr lang="en-VN" sz="1500">
                                  <a:latin typeface="Cambria Math" panose="02040503050406030204" pitchFamily="18" charset="0"/>
                                </a:rPr>
                                <m:t>+1</m:t>
                              </m:r>
                            </m:sub>
                          </m:sSub>
                        </m:e>
                      </m:nary>
                    </m:oMath>
                  </m:oMathPara>
                </a14:m>
                <a:endParaRPr lang="en-VN" sz="1500" i="1" dirty="0"/>
              </a:p>
            </p:txBody>
          </p:sp>
        </mc:Choice>
        <mc:Fallback xmlns="">
          <p:sp>
            <p:nvSpPr>
              <p:cNvPr id="11" name="TextBox 10">
                <a:extLst>
                  <a:ext uri="{FF2B5EF4-FFF2-40B4-BE49-F238E27FC236}">
                    <a16:creationId xmlns:a16="http://schemas.microsoft.com/office/drawing/2014/main" id="{EF700F61-01C8-AC0E-D1E9-6ABD59A6FBE3}"/>
                  </a:ext>
                </a:extLst>
              </p:cNvPr>
              <p:cNvSpPr txBox="1">
                <a:spLocks noRot="1" noChangeAspect="1" noMove="1" noResize="1" noEditPoints="1" noAdjustHandles="1" noChangeArrowheads="1" noChangeShapeType="1" noTextEdit="1"/>
              </p:cNvSpPr>
              <p:nvPr/>
            </p:nvSpPr>
            <p:spPr>
              <a:xfrm>
                <a:off x="265843" y="1294869"/>
                <a:ext cx="5016725" cy="76751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2353A4-39E6-E14E-F690-17BF5254603C}"/>
                  </a:ext>
                </a:extLst>
              </p:cNvPr>
              <p:cNvSpPr txBox="1"/>
              <p:nvPr/>
            </p:nvSpPr>
            <p:spPr>
              <a:xfrm>
                <a:off x="707962" y="4520097"/>
                <a:ext cx="3170234" cy="415498"/>
              </a:xfrm>
              <a:prstGeom prst="rect">
                <a:avLst/>
              </a:prstGeom>
              <a:noFill/>
            </p:spPr>
            <p:txBody>
              <a:bodyPr wrap="square" rtlCol="0">
                <a:spAutoFit/>
              </a:bodyPr>
              <a:lstStyle/>
              <a:p>
                <a:r>
                  <a:rPr lang="en-VN" sz="2100">
                    <a:solidFill>
                      <a:srgbClr val="FF0000"/>
                    </a:solidFill>
                  </a:rPr>
                  <a:t>How to optimize </a:t>
                </a:r>
                <a14:m>
                  <m:oMath xmlns:m="http://schemas.openxmlformats.org/officeDocument/2006/math">
                    <m:d>
                      <m:dPr>
                        <m:begChr m:val="{"/>
                        <m:endChr m:val="}"/>
                        <m:ctrlPr>
                          <a:rPr lang="vi-VN" sz="2100" i="1">
                            <a:solidFill>
                              <a:srgbClr val="FF0000"/>
                            </a:solidFill>
                            <a:latin typeface="Cambria Math" panose="02040503050406030204" pitchFamily="18" charset="0"/>
                          </a:rPr>
                        </m:ctrlPr>
                      </m:dPr>
                      <m:e>
                        <m:r>
                          <a:rPr lang="vi-VN" sz="2100" b="1" i="1">
                            <a:solidFill>
                              <a:srgbClr val="FF0000"/>
                            </a:solidFill>
                            <a:latin typeface="Cambria Math" panose="02040503050406030204" pitchFamily="18" charset="0"/>
                          </a:rPr>
                          <m:t> </m:t>
                        </m:r>
                        <m:r>
                          <a:rPr lang="vi-VN" sz="2100" b="1" i="1">
                            <a:solidFill>
                              <a:srgbClr val="FF0000"/>
                            </a:solidFill>
                            <a:latin typeface="Cambria Math" panose="02040503050406030204" pitchFamily="18" charset="0"/>
                          </a:rPr>
                          <m:t>𝑱</m:t>
                        </m:r>
                        <m:r>
                          <a:rPr lang="vi-VN" sz="2100" b="1" i="1">
                            <a:solidFill>
                              <a:srgbClr val="FF0000"/>
                            </a:solidFill>
                            <a:latin typeface="Cambria Math" panose="02040503050406030204" pitchFamily="18" charset="0"/>
                          </a:rPr>
                          <m:t>,</m:t>
                        </m:r>
                        <m:r>
                          <a:rPr lang="vi-VN" sz="2100" b="1" i="1">
                            <a:solidFill>
                              <a:srgbClr val="FF0000"/>
                            </a:solidFill>
                            <a:latin typeface="Cambria Math" panose="02040503050406030204" pitchFamily="18" charset="0"/>
                          </a:rPr>
                          <m:t>𝜟</m:t>
                        </m:r>
                      </m:e>
                    </m:d>
                  </m:oMath>
                </a14:m>
                <a:r>
                  <a:rPr lang="en-VN" sz="2100">
                    <a:solidFill>
                      <a:srgbClr val="FF0000"/>
                    </a:solidFill>
                  </a:rPr>
                  <a:t>?</a:t>
                </a:r>
                <a:endParaRPr lang="en-VN" sz="2100" i="1">
                  <a:solidFill>
                    <a:srgbClr val="FF0000"/>
                  </a:solidFill>
                </a:endParaRPr>
              </a:p>
            </p:txBody>
          </p:sp>
        </mc:Choice>
        <mc:Fallback xmlns="">
          <p:sp>
            <p:nvSpPr>
              <p:cNvPr id="12" name="TextBox 11">
                <a:extLst>
                  <a:ext uri="{FF2B5EF4-FFF2-40B4-BE49-F238E27FC236}">
                    <a16:creationId xmlns:a16="http://schemas.microsoft.com/office/drawing/2014/main" id="{752353A4-39E6-E14E-F690-17BF5254603C}"/>
                  </a:ext>
                </a:extLst>
              </p:cNvPr>
              <p:cNvSpPr txBox="1">
                <a:spLocks noRot="1" noChangeAspect="1" noMove="1" noResize="1" noEditPoints="1" noAdjustHandles="1" noChangeArrowheads="1" noChangeShapeType="1" noTextEdit="1"/>
              </p:cNvSpPr>
              <p:nvPr/>
            </p:nvSpPr>
            <p:spPr>
              <a:xfrm>
                <a:off x="707962" y="4520097"/>
                <a:ext cx="3170234" cy="415498"/>
              </a:xfrm>
              <a:prstGeom prst="rect">
                <a:avLst/>
              </a:prstGeom>
              <a:blipFill>
                <a:blip r:embed="rId6"/>
                <a:stretch>
                  <a:fillRect l="-2308" t="-8696" b="-27536"/>
                </a:stretch>
              </a:blipFill>
            </p:spPr>
            <p:txBody>
              <a:bodyPr/>
              <a:lstStyle/>
              <a:p>
                <a:r>
                  <a:rPr lang="vi-VN">
                    <a:noFill/>
                  </a:rPr>
                  <a:t> </a:t>
                </a:r>
              </a:p>
            </p:txBody>
          </p:sp>
        </mc:Fallback>
      </mc:AlternateContent>
      <p:cxnSp>
        <p:nvCxnSpPr>
          <p:cNvPr id="13" name="Straight Arrow Connector 12">
            <a:extLst>
              <a:ext uri="{FF2B5EF4-FFF2-40B4-BE49-F238E27FC236}">
                <a16:creationId xmlns:a16="http://schemas.microsoft.com/office/drawing/2014/main" id="{809506A2-EF03-A2E6-7B17-6CC623799811}"/>
              </a:ext>
            </a:extLst>
          </p:cNvPr>
          <p:cNvCxnSpPr>
            <a:cxnSpLocks/>
            <a:endCxn id="14" idx="0"/>
          </p:cNvCxnSpPr>
          <p:nvPr/>
        </p:nvCxnSpPr>
        <p:spPr>
          <a:xfrm>
            <a:off x="1753826" y="2820450"/>
            <a:ext cx="0" cy="471744"/>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0F28C08-FCA9-E877-D7A6-D989C96D88A3}"/>
                  </a:ext>
                </a:extLst>
              </p:cNvPr>
              <p:cNvSpPr txBox="1"/>
              <p:nvPr/>
            </p:nvSpPr>
            <p:spPr>
              <a:xfrm>
                <a:off x="691899" y="3292194"/>
                <a:ext cx="2123854" cy="553998"/>
              </a:xfrm>
              <a:prstGeom prst="rect">
                <a:avLst/>
              </a:prstGeom>
              <a:noFill/>
            </p:spPr>
            <p:txBody>
              <a:bodyPr wrap="square" rtlCol="0">
                <a:spAutoFit/>
              </a:bodyPr>
              <a:lstStyle/>
              <a:p>
                <a:r>
                  <a:rPr lang="en-VN" sz="1500" dirty="0"/>
                  <a:t>Optimizing </a:t>
                </a:r>
                <a14:m>
                  <m:oMath xmlns:m="http://schemas.openxmlformats.org/officeDocument/2006/math">
                    <m:d>
                      <m:dPr>
                        <m:begChr m:val="{"/>
                        <m:endChr m:val="}"/>
                        <m:ctrlPr>
                          <a:rPr lang="vi-VN" sz="1500" i="1">
                            <a:latin typeface="Cambria Math" panose="02040503050406030204" pitchFamily="18" charset="0"/>
                          </a:rPr>
                        </m:ctrlPr>
                      </m:dPr>
                      <m:e>
                        <m:r>
                          <a:rPr lang="vi-VN" sz="1500" b="1" i="1">
                            <a:latin typeface="Cambria Math" panose="02040503050406030204" pitchFamily="18" charset="0"/>
                          </a:rPr>
                          <m:t> </m:t>
                        </m:r>
                        <m:r>
                          <a:rPr lang="vi-VN" sz="1500" b="1" i="1">
                            <a:latin typeface="Cambria Math" panose="02040503050406030204" pitchFamily="18" charset="0"/>
                          </a:rPr>
                          <m:t>𝑱</m:t>
                        </m:r>
                        <m:r>
                          <a:rPr lang="vi-VN" sz="1500" b="1" i="1">
                            <a:latin typeface="Cambria Math" panose="02040503050406030204" pitchFamily="18" charset="0"/>
                          </a:rPr>
                          <m:t>,</m:t>
                        </m:r>
                        <m:r>
                          <a:rPr lang="vi-VN" sz="1500" b="1" i="1">
                            <a:latin typeface="Cambria Math" panose="02040503050406030204" pitchFamily="18" charset="0"/>
                          </a:rPr>
                          <m:t>𝜟</m:t>
                        </m:r>
                      </m:e>
                    </m:d>
                  </m:oMath>
                </a14:m>
                <a:r>
                  <a:rPr lang="en-VN" sz="1500" i="1" dirty="0"/>
                  <a:t> </a:t>
                </a:r>
                <a:r>
                  <a:rPr lang="en-VN" sz="1500" dirty="0"/>
                  <a:t>mean we have a better battery</a:t>
                </a:r>
                <a:r>
                  <a:rPr lang="en-VN" sz="1500" i="1" dirty="0"/>
                  <a:t> </a:t>
                </a:r>
              </a:p>
            </p:txBody>
          </p:sp>
        </mc:Choice>
        <mc:Fallback xmlns="">
          <p:sp>
            <p:nvSpPr>
              <p:cNvPr id="14" name="TextBox 13">
                <a:extLst>
                  <a:ext uri="{FF2B5EF4-FFF2-40B4-BE49-F238E27FC236}">
                    <a16:creationId xmlns:a16="http://schemas.microsoft.com/office/drawing/2014/main" id="{B0F28C08-FCA9-E877-D7A6-D989C96D88A3}"/>
                  </a:ext>
                </a:extLst>
              </p:cNvPr>
              <p:cNvSpPr txBox="1">
                <a:spLocks noRot="1" noChangeAspect="1" noMove="1" noResize="1" noEditPoints="1" noAdjustHandles="1" noChangeArrowheads="1" noChangeShapeType="1" noTextEdit="1"/>
              </p:cNvSpPr>
              <p:nvPr/>
            </p:nvSpPr>
            <p:spPr>
              <a:xfrm>
                <a:off x="691899" y="3292194"/>
                <a:ext cx="2123854" cy="553998"/>
              </a:xfrm>
              <a:prstGeom prst="rect">
                <a:avLst/>
              </a:prstGeom>
              <a:blipFill>
                <a:blip r:embed="rId7"/>
                <a:stretch>
                  <a:fillRect l="-1149" t="-2198" r="-1724" b="-12088"/>
                </a:stretch>
              </a:blipFill>
            </p:spPr>
            <p:txBody>
              <a:bodyPr/>
              <a:lstStyle/>
              <a:p>
                <a:r>
                  <a:rPr lang="vi-VN">
                    <a:noFill/>
                  </a:rPr>
                  <a:t> </a:t>
                </a:r>
              </a:p>
            </p:txBody>
          </p:sp>
        </mc:Fallback>
      </mc:AlternateContent>
      <p:cxnSp>
        <p:nvCxnSpPr>
          <p:cNvPr id="15" name="Straight Arrow Connector 14">
            <a:extLst>
              <a:ext uri="{FF2B5EF4-FFF2-40B4-BE49-F238E27FC236}">
                <a16:creationId xmlns:a16="http://schemas.microsoft.com/office/drawing/2014/main" id="{C8DDC427-F215-6C06-1975-AB35ECB8288E}"/>
              </a:ext>
            </a:extLst>
          </p:cNvPr>
          <p:cNvCxnSpPr>
            <a:cxnSpLocks/>
            <a:stCxn id="14" idx="2"/>
          </p:cNvCxnSpPr>
          <p:nvPr/>
        </p:nvCxnSpPr>
        <p:spPr>
          <a:xfrm>
            <a:off x="1753826" y="3846192"/>
            <a:ext cx="0" cy="723441"/>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44A93BF7-5BE7-37C7-39AB-32C137DC8FBE}"/>
              </a:ext>
            </a:extLst>
          </p:cNvPr>
          <p:cNvCxnSpPr>
            <a:cxnSpLocks/>
          </p:cNvCxnSpPr>
          <p:nvPr/>
        </p:nvCxnSpPr>
        <p:spPr>
          <a:xfrm flipH="1">
            <a:off x="3521467" y="3942786"/>
            <a:ext cx="549761" cy="618259"/>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9E44E0C-BE17-CC9D-11F9-2683740CF17D}"/>
                  </a:ext>
                </a:extLst>
              </p:cNvPr>
              <p:cNvSpPr txBox="1"/>
              <p:nvPr/>
            </p:nvSpPr>
            <p:spPr>
              <a:xfrm>
                <a:off x="1646855" y="2075967"/>
                <a:ext cx="2198248" cy="7675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500" i="1">
                          <a:latin typeface="Cambria Math" panose="02040503050406030204" pitchFamily="18" charset="0"/>
                        </a:rPr>
                        <m:t>−</m:t>
                      </m:r>
                      <m:nary>
                        <m:naryPr>
                          <m:chr m:val="∑"/>
                          <m:limLoc m:val="undOvr"/>
                          <m:ctrlPr>
                            <a:rPr lang="en-VN" sz="1500" i="1">
                              <a:latin typeface="Cambria Math" panose="02040503050406030204" pitchFamily="18" charset="0"/>
                            </a:rPr>
                          </m:ctrlPr>
                        </m:naryPr>
                        <m:sub>
                          <m:r>
                            <a:rPr lang="en-VN" sz="1500" i="1">
                              <a:latin typeface="Cambria Math" panose="02040503050406030204" pitchFamily="18" charset="0"/>
                            </a:rPr>
                            <m:t>𝑗</m:t>
                          </m:r>
                          <m:r>
                            <a:rPr lang="en-VN" sz="1500">
                              <a:latin typeface="Cambria Math" panose="02040503050406030204" pitchFamily="18" charset="0"/>
                            </a:rPr>
                            <m:t>=1</m:t>
                          </m:r>
                        </m:sub>
                        <m:sup>
                          <m:r>
                            <a:rPr lang="en-VN" sz="1500" i="1">
                              <a:latin typeface="Cambria Math" panose="02040503050406030204" pitchFamily="18" charset="0"/>
                            </a:rPr>
                            <m:t>𝑁</m:t>
                          </m:r>
                          <m:r>
                            <a:rPr lang="en-VN" sz="1500">
                              <a:latin typeface="Cambria Math" panose="02040503050406030204" pitchFamily="18" charset="0"/>
                            </a:rPr>
                            <m:t>−1</m:t>
                          </m:r>
                        </m:sup>
                        <m:e>
                          <m:sSub>
                            <m:sSubPr>
                              <m:ctrlPr>
                                <a:rPr lang="en-VN" sz="1500" i="1">
                                  <a:solidFill>
                                    <a:srgbClr val="836967"/>
                                  </a:solidFill>
                                  <a:latin typeface="Cambria Math" panose="02040503050406030204" pitchFamily="18" charset="0"/>
                                </a:rPr>
                              </m:ctrlPr>
                            </m:sSubPr>
                            <m:e>
                              <m:r>
                                <m:rPr>
                                  <m:sty m:val="p"/>
                                </m:rPr>
                                <a:rPr lang="en-VN" sz="1500">
                                  <a:latin typeface="Cambria Math" panose="02040503050406030204" pitchFamily="18" charset="0"/>
                                </a:rPr>
                                <m:t>Δ</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𝑍</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𝑍</m:t>
                              </m:r>
                            </m:e>
                            <m:sub>
                              <m:r>
                                <a:rPr lang="en-VN" sz="1500" i="1">
                                  <a:latin typeface="Cambria Math" panose="02040503050406030204" pitchFamily="18" charset="0"/>
                                </a:rPr>
                                <m:t>𝑗</m:t>
                              </m:r>
                              <m:r>
                                <a:rPr lang="en-VN" sz="1500">
                                  <a:latin typeface="Cambria Math" panose="02040503050406030204" pitchFamily="18" charset="0"/>
                                </a:rPr>
                                <m:t>+1</m:t>
                              </m:r>
                            </m:sub>
                          </m:sSub>
                        </m:e>
                      </m:nary>
                      <m:r>
                        <a:rPr lang="vi-VN" sz="1500" i="1">
                          <a:latin typeface="Cambria Math" panose="02040503050406030204" pitchFamily="18" charset="0"/>
                        </a:rPr>
                        <m:t>+</m:t>
                      </m:r>
                      <m:sSub>
                        <m:sSubPr>
                          <m:ctrlPr>
                            <a:rPr lang="vi-VN" sz="1500" i="1">
                              <a:latin typeface="Cambria Math" panose="02040503050406030204" pitchFamily="18" charset="0"/>
                            </a:rPr>
                          </m:ctrlPr>
                        </m:sSubPr>
                        <m:e>
                          <m:r>
                            <a:rPr lang="vi-VN" sz="1500" i="1">
                              <a:latin typeface="Cambria Math" panose="02040503050406030204" pitchFamily="18" charset="0"/>
                            </a:rPr>
                            <m:t>𝐻</m:t>
                          </m:r>
                        </m:e>
                        <m:sub>
                          <m:r>
                            <a:rPr lang="vi-VN" sz="1500" i="1">
                              <a:latin typeface="Cambria Math" panose="02040503050406030204" pitchFamily="18" charset="0"/>
                            </a:rPr>
                            <m:t>0</m:t>
                          </m:r>
                        </m:sub>
                      </m:sSub>
                      <m:d>
                        <m:dPr>
                          <m:ctrlPr>
                            <a:rPr lang="vi-VN" sz="1500" i="1">
                              <a:latin typeface="Cambria Math" panose="02040503050406030204" pitchFamily="18" charset="0"/>
                            </a:rPr>
                          </m:ctrlPr>
                        </m:dPr>
                        <m:e>
                          <m:r>
                            <a:rPr lang="vi-VN" sz="1500" i="1">
                              <a:latin typeface="Cambria Math" panose="02040503050406030204" pitchFamily="18" charset="0"/>
                            </a:rPr>
                            <m:t>h</m:t>
                          </m:r>
                        </m:e>
                      </m:d>
                    </m:oMath>
                  </m:oMathPara>
                </a14:m>
                <a:endParaRPr lang="en-VN" sz="1500" i="1" dirty="0"/>
              </a:p>
            </p:txBody>
          </p:sp>
        </mc:Choice>
        <mc:Fallback xmlns="">
          <p:sp>
            <p:nvSpPr>
              <p:cNvPr id="3" name="TextBox 2">
                <a:extLst>
                  <a:ext uri="{FF2B5EF4-FFF2-40B4-BE49-F238E27FC236}">
                    <a16:creationId xmlns:a16="http://schemas.microsoft.com/office/drawing/2014/main" id="{C9E44E0C-BE17-CC9D-11F9-2683740CF17D}"/>
                  </a:ext>
                </a:extLst>
              </p:cNvPr>
              <p:cNvSpPr txBox="1">
                <a:spLocks noRot="1" noChangeAspect="1" noMove="1" noResize="1" noEditPoints="1" noAdjustHandles="1" noChangeArrowheads="1" noChangeShapeType="1" noTextEdit="1"/>
              </p:cNvSpPr>
              <p:nvPr/>
            </p:nvSpPr>
            <p:spPr>
              <a:xfrm>
                <a:off x="1646855" y="2075967"/>
                <a:ext cx="2198248" cy="767518"/>
              </a:xfrm>
              <a:prstGeom prst="rect">
                <a:avLst/>
              </a:prstGeom>
              <a:blipFill>
                <a:blip r:embed="rId8"/>
                <a:stretch>
                  <a:fillRect/>
                </a:stretch>
              </a:blipFill>
            </p:spPr>
            <p:txBody>
              <a:bodyPr/>
              <a:lstStyle/>
              <a:p>
                <a:r>
                  <a:rPr lang="vi-VN">
                    <a:noFill/>
                  </a:rPr>
                  <a:t> </a:t>
                </a:r>
              </a:p>
            </p:txBody>
          </p:sp>
        </mc:Fallback>
      </mc:AlternateContent>
      <p:sp>
        <p:nvSpPr>
          <p:cNvPr id="25" name="TextBox 24">
            <a:extLst>
              <a:ext uri="{FF2B5EF4-FFF2-40B4-BE49-F238E27FC236}">
                <a16:creationId xmlns:a16="http://schemas.microsoft.com/office/drawing/2014/main" id="{1165B6F2-C065-418D-13CA-B4A049065629}"/>
              </a:ext>
            </a:extLst>
          </p:cNvPr>
          <p:cNvSpPr txBox="1"/>
          <p:nvPr/>
        </p:nvSpPr>
        <p:spPr>
          <a:xfrm>
            <a:off x="5008854" y="1546482"/>
            <a:ext cx="547428" cy="300082"/>
          </a:xfrm>
          <a:prstGeom prst="rect">
            <a:avLst/>
          </a:prstGeom>
          <a:noFill/>
        </p:spPr>
        <p:txBody>
          <a:bodyPr wrap="square" rtlCol="0">
            <a:spAutoFit/>
          </a:bodyPr>
          <a:lstStyle/>
          <a:p>
            <a:r>
              <a:rPr lang="en-US" sz="1350" dirty="0"/>
              <a:t>(5.1)</a:t>
            </a:r>
          </a:p>
        </p:txBody>
      </p:sp>
    </p:spTree>
    <p:extLst>
      <p:ext uri="{BB962C8B-B14F-4D97-AF65-F5344CB8AC3E}">
        <p14:creationId xmlns:p14="http://schemas.microsoft.com/office/powerpoint/2010/main" val="29855064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4FBD2-EC10-6F42-4D71-0675549EA53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97B86A-B584-251D-7CAA-A9DD795CCC81}"/>
              </a:ext>
            </a:extLst>
          </p:cNvPr>
          <p:cNvSpPr>
            <a:spLocks noGrp="1"/>
          </p:cNvSpPr>
          <p:nvPr>
            <p:ph type="sldNum" sz="quarter" idx="12"/>
          </p:nvPr>
        </p:nvSpPr>
        <p:spPr/>
        <p:txBody>
          <a:bodyPr/>
          <a:lstStyle/>
          <a:p>
            <a:fld id="{3C0C221A-CB66-4297-9A52-937C35126D0C}" type="slidenum">
              <a:rPr lang="en-US" smtClean="0"/>
              <a:t>45</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1624BE-FCB7-532C-9CD5-3BEB95F0C378}"/>
                  </a:ext>
                </a:extLst>
              </p:cNvPr>
              <p:cNvSpPr txBox="1"/>
              <p:nvPr/>
            </p:nvSpPr>
            <p:spPr>
              <a:xfrm>
                <a:off x="205319" y="979974"/>
                <a:ext cx="4990505" cy="790729"/>
              </a:xfrm>
              <a:prstGeom prst="rect">
                <a:avLst/>
              </a:prstGeom>
              <a:noFill/>
            </p:spPr>
            <p:txBody>
              <a:bodyPr wrap="square">
                <a:spAutoFit/>
              </a:bodyPr>
              <a:lstStyle/>
              <a:p>
                <a:r>
                  <a:rPr lang="en-US" altLang="en-VN" sz="1500" dirty="0">
                    <a:ea typeface="SimSun" panose="02010600030101010101" pitchFamily="2" charset="-122"/>
                  </a:rPr>
                  <a:t>After </a:t>
                </a:r>
                <a:r>
                  <a:rPr lang="en-US" altLang="en-VN" sz="1500" dirty="0">
                    <a:solidFill>
                      <a:srgbClr val="FF0000"/>
                    </a:solidFill>
                    <a:ea typeface="SimSun" panose="02010600030101010101" pitchFamily="2" charset="-122"/>
                  </a:rPr>
                  <a:t>charging</a:t>
                </a:r>
                <a:r>
                  <a:rPr lang="en-US" altLang="en-VN" sz="1500" dirty="0">
                    <a:ea typeface="SimSun" panose="02010600030101010101" pitchFamily="2" charset="-122"/>
                  </a:rPr>
                  <a:t>, we have power </a:t>
                </a:r>
                <a14:m>
                  <m:oMath xmlns:m="http://schemas.openxmlformats.org/officeDocument/2006/math">
                    <m:r>
                      <a:rPr lang="vi-VN" altLang="en-VN" sz="1500" b="1">
                        <a:latin typeface="Cambria Math" panose="02040503050406030204" pitchFamily="18" charset="0"/>
                        <a:ea typeface="SimSun" panose="02010600030101010101" pitchFamily="2" charset="-122"/>
                      </a:rPr>
                      <m:t>(</m:t>
                    </m:r>
                    <m:r>
                      <a:rPr lang="en-US" altLang="en-VN" sz="1500" b="1" i="1">
                        <a:latin typeface="Cambria Math" panose="02040503050406030204" pitchFamily="18" charset="0"/>
                        <a:ea typeface="SimSun" panose="02010600030101010101" pitchFamily="2" charset="-122"/>
                      </a:rPr>
                      <m:t>𝑷</m:t>
                    </m:r>
                    <m:r>
                      <a:rPr lang="vi-VN" altLang="en-VN" sz="1500" b="1">
                        <a:latin typeface="Cambria Math" panose="02040503050406030204" pitchFamily="18" charset="0"/>
                        <a:ea typeface="SimSun" panose="02010600030101010101" pitchFamily="2" charset="-122"/>
                      </a:rPr>
                      <m:t>)</m:t>
                    </m:r>
                  </m:oMath>
                </a14:m>
                <a:r>
                  <a:rPr lang="en-US" altLang="en-VN" sz="1500" dirty="0">
                    <a:ea typeface="SimSun" panose="02010600030101010101" pitchFamily="2" charset="-122"/>
                  </a:rPr>
                  <a:t> (performance of battery)</a:t>
                </a:r>
                <a:r>
                  <a:rPr lang="en-US" altLang="en-VN" sz="1500" dirty="0"/>
                  <a:t> </a:t>
                </a:r>
                <a:r>
                  <a:rPr lang="en-US" altLang="en-VN" sz="1500" dirty="0">
                    <a:ea typeface="SimSun" panose="02010600030101010101" pitchFamily="2" charset="-122"/>
                  </a:rPr>
                  <a:t>:</a:t>
                </a:r>
              </a:p>
              <a:p>
                <a:pPr lvl="1"/>
                <a14:m>
                  <m:oMath xmlns:m="http://schemas.openxmlformats.org/officeDocument/2006/math">
                    <m:d>
                      <m:dPr>
                        <m:begChr m:val="⟨"/>
                        <m:endChr m:val="⟩"/>
                        <m:ctrlPr>
                          <a:rPr lang="en-VN" sz="1500" i="1" spc="-4">
                            <a:solidFill>
                              <a:srgbClr val="FF0000"/>
                            </a:solidFill>
                            <a:latin typeface="Cambria Math" panose="02040503050406030204" pitchFamily="18" charset="0"/>
                          </a:rPr>
                        </m:ctrlPr>
                      </m:dPr>
                      <m:e>
                        <m:r>
                          <a:rPr lang="en-US" sz="1500" b="1" i="1" spc="-4">
                            <a:solidFill>
                              <a:srgbClr val="FF0000"/>
                            </a:solidFill>
                            <a:latin typeface="Cambria Math" panose="02040503050406030204" pitchFamily="18" charset="0"/>
                          </a:rPr>
                          <m:t>𝑾</m:t>
                        </m:r>
                      </m:e>
                    </m:d>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𝝍</m:t>
                    </m:r>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𝒕</m:t>
                    </m:r>
                    <m:r>
                      <a:rPr lang="en-US" sz="1500" b="1" i="1" spc="-4">
                        <a:solidFill>
                          <a:srgbClr val="FF0000"/>
                        </a:solidFill>
                        <a:latin typeface="Cambria Math" panose="02040503050406030204" pitchFamily="18" charset="0"/>
                      </a:rPr>
                      <m:t>)|</m:t>
                    </m:r>
                    <m:sSub>
                      <m:sSubPr>
                        <m:ctrlPr>
                          <a:rPr lang="en-VN" sz="1500" i="1" spc="-4">
                            <a:solidFill>
                              <a:srgbClr val="FF0000"/>
                            </a:solidFill>
                            <a:latin typeface="Cambria Math" panose="02040503050406030204" pitchFamily="18" charset="0"/>
                          </a:rPr>
                        </m:ctrlPr>
                      </m:sSubPr>
                      <m:e>
                        <m:r>
                          <a:rPr lang="en-US" sz="1500" b="1" i="1" spc="-4">
                            <a:solidFill>
                              <a:srgbClr val="FF0000"/>
                            </a:solidFill>
                            <a:latin typeface="Cambria Math" panose="02040503050406030204" pitchFamily="18" charset="0"/>
                          </a:rPr>
                          <m:t>𝑯</m:t>
                        </m:r>
                      </m:e>
                      <m:sub>
                        <m:r>
                          <a:rPr lang="en-US" sz="1500" b="1" i="1" spc="-4" baseline="-25000">
                            <a:solidFill>
                              <a:srgbClr val="FF0000"/>
                            </a:solidFill>
                            <a:latin typeface="Cambria Math" panose="02040503050406030204" pitchFamily="18" charset="0"/>
                          </a:rPr>
                          <m:t>𝟎</m:t>
                        </m:r>
                      </m:sub>
                    </m:sSub>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𝝍</m:t>
                    </m:r>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𝒕</m:t>
                    </m:r>
                    <m:r>
                      <a:rPr lang="en-US" sz="1500" b="1" i="1" spc="-4">
                        <a:solidFill>
                          <a:srgbClr val="FF0000"/>
                        </a:solidFill>
                        <a:latin typeface="Cambria Math" panose="02040503050406030204" pitchFamily="18" charset="0"/>
                      </a:rPr>
                      <m:t>)⟩ − ⟨</m:t>
                    </m:r>
                    <m:r>
                      <a:rPr lang="en-US" sz="1500" b="1" i="1" spc="-4">
                        <a:solidFill>
                          <a:srgbClr val="FF0000"/>
                        </a:solidFill>
                        <a:latin typeface="Cambria Math" panose="02040503050406030204" pitchFamily="18" charset="0"/>
                      </a:rPr>
                      <m:t>𝝍</m:t>
                    </m:r>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𝟎</m:t>
                    </m:r>
                    <m:r>
                      <a:rPr lang="en-US" sz="1500" b="1" i="1" spc="-4">
                        <a:solidFill>
                          <a:srgbClr val="FF0000"/>
                        </a:solidFill>
                        <a:latin typeface="Cambria Math" panose="02040503050406030204" pitchFamily="18" charset="0"/>
                      </a:rPr>
                      <m:t>)|</m:t>
                    </m:r>
                    <m:sSub>
                      <m:sSubPr>
                        <m:ctrlPr>
                          <a:rPr lang="en-VN" sz="1500" i="1" spc="-4">
                            <a:solidFill>
                              <a:srgbClr val="FF0000"/>
                            </a:solidFill>
                            <a:latin typeface="Cambria Math" panose="02040503050406030204" pitchFamily="18" charset="0"/>
                          </a:rPr>
                        </m:ctrlPr>
                      </m:sSubPr>
                      <m:e>
                        <m:r>
                          <a:rPr lang="en-US" sz="1500" b="1" i="1" spc="-4">
                            <a:solidFill>
                              <a:srgbClr val="FF0000"/>
                            </a:solidFill>
                            <a:latin typeface="Cambria Math" panose="02040503050406030204" pitchFamily="18" charset="0"/>
                          </a:rPr>
                          <m:t>𝑯</m:t>
                        </m:r>
                      </m:e>
                      <m:sub>
                        <m:r>
                          <a:rPr lang="en-US" sz="1500" b="1" i="1" spc="-4">
                            <a:solidFill>
                              <a:srgbClr val="FF0000"/>
                            </a:solidFill>
                            <a:latin typeface="Cambria Math" panose="02040503050406030204" pitchFamily="18" charset="0"/>
                          </a:rPr>
                          <m:t>𝟎</m:t>
                        </m:r>
                      </m:sub>
                    </m:sSub>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𝝍</m:t>
                    </m:r>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𝟎</m:t>
                    </m:r>
                    <m:r>
                      <a:rPr lang="en-US" sz="1500" b="1" i="1" spc="-4">
                        <a:solidFill>
                          <a:srgbClr val="FF0000"/>
                        </a:solidFill>
                        <a:latin typeface="Cambria Math" panose="02040503050406030204" pitchFamily="18" charset="0"/>
                      </a:rPr>
                      <m:t>)⟩</m:t>
                    </m:r>
                  </m:oMath>
                </a14:m>
                <a:r>
                  <a:rPr lang="en-VN" sz="1500" i="1" dirty="0">
                    <a:solidFill>
                      <a:srgbClr val="FF0000"/>
                    </a:solidFill>
                  </a:rPr>
                  <a:t> </a:t>
                </a:r>
              </a:p>
              <a:p>
                <a:pPr lvl="1"/>
                <a14:m>
                  <m:oMath xmlns:m="http://schemas.openxmlformats.org/officeDocument/2006/math">
                    <m:r>
                      <a:rPr lang="en-US" altLang="en-VN" sz="1500" b="1" i="1">
                        <a:solidFill>
                          <a:srgbClr val="FF0000"/>
                        </a:solidFill>
                        <a:latin typeface="Cambria Math" panose="02040503050406030204" pitchFamily="18" charset="0"/>
                        <a:ea typeface="Calibri" panose="020F0502020204030204" pitchFamily="34" charset="0"/>
                        <a:cs typeface="Calibri" panose="020F0502020204030204" pitchFamily="34" charset="0"/>
                      </a:rPr>
                      <m:t>𝝍</m:t>
                    </m:r>
                    <m:r>
                      <a:rPr lang="vi-VN" altLang="en-VN" sz="1500" b="1" i="1">
                        <a:solidFill>
                          <a:srgbClr val="FF0000"/>
                        </a:solidFill>
                        <a:latin typeface="Cambria Math" panose="02040503050406030204" pitchFamily="18" charset="0"/>
                        <a:ea typeface="Calibri" panose="020F0502020204030204" pitchFamily="34" charset="0"/>
                        <a:cs typeface="Calibri" panose="020F0502020204030204" pitchFamily="34" charset="0"/>
                      </a:rPr>
                      <m:t>(</m:t>
                    </m:r>
                    <m:r>
                      <a:rPr lang="en-US" altLang="en-VN" sz="1500" b="1" i="1">
                        <a:solidFill>
                          <a:srgbClr val="FF0000"/>
                        </a:solidFill>
                        <a:latin typeface="Cambria Math" panose="02040503050406030204" pitchFamily="18" charset="0"/>
                        <a:ea typeface="Calibri" panose="020F0502020204030204" pitchFamily="34" charset="0"/>
                        <a:cs typeface="Calibri" panose="020F0502020204030204" pitchFamily="34" charset="0"/>
                      </a:rPr>
                      <m:t>𝒕</m:t>
                    </m:r>
                    <m:r>
                      <a:rPr lang="vi-VN" altLang="en-VN" sz="1500" b="1" i="1">
                        <a:solidFill>
                          <a:srgbClr val="FF0000"/>
                        </a:solidFill>
                        <a:latin typeface="Cambria Math" panose="02040503050406030204" pitchFamily="18" charset="0"/>
                        <a:ea typeface="Calibri" panose="020F0502020204030204" pitchFamily="34" charset="0"/>
                        <a:cs typeface="Calibri" panose="020F0502020204030204" pitchFamily="34" charset="0"/>
                      </a:rPr>
                      <m:t>)</m:t>
                    </m:r>
                    <m:r>
                      <a:rPr lang="en-US" altLang="en-VN" sz="1500" b="1" i="1">
                        <a:solidFill>
                          <a:srgbClr val="FF0000"/>
                        </a:solidFill>
                        <a:latin typeface="Cambria Math" panose="02040503050406030204" pitchFamily="18" charset="0"/>
                        <a:ea typeface="Cambria" panose="02040503050406030204" pitchFamily="18" charset="0"/>
                        <a:cs typeface="Cambria" panose="02040503050406030204" pitchFamily="18" charset="0"/>
                      </a:rPr>
                      <m:t>=</m:t>
                    </m:r>
                    <m:sSup>
                      <m:sSupPr>
                        <m:ctrlPr>
                          <a:rPr lang="vi-VN" altLang="en-VN" sz="1500" i="1">
                            <a:solidFill>
                              <a:srgbClr val="FF0000"/>
                            </a:solidFill>
                            <a:latin typeface="Cambria Math" panose="02040503050406030204" pitchFamily="18" charset="0"/>
                            <a:ea typeface="Cambria" panose="02040503050406030204" pitchFamily="18" charset="0"/>
                            <a:cs typeface="Cambria" panose="02040503050406030204" pitchFamily="18" charset="0"/>
                          </a:rPr>
                        </m:ctrlPr>
                      </m:sSupPr>
                      <m:e>
                        <m:r>
                          <a:rPr lang="en-US" altLang="en-VN" sz="1500" b="1" i="1">
                            <a:solidFill>
                              <a:srgbClr val="FF0000"/>
                            </a:solidFill>
                            <a:latin typeface="Cambria Math" panose="02040503050406030204" pitchFamily="18" charset="0"/>
                            <a:ea typeface="Cambria" panose="02040503050406030204" pitchFamily="18" charset="0"/>
                            <a:cs typeface="Cambria" panose="02040503050406030204" pitchFamily="18" charset="0"/>
                          </a:rPr>
                          <m:t>𝒆</m:t>
                        </m:r>
                      </m:e>
                      <m:sup>
                        <m:r>
                          <a:rPr lang="vi-VN" altLang="en-VN" sz="1500" b="1" i="1">
                            <a:solidFill>
                              <a:srgbClr val="FF0000"/>
                            </a:solidFill>
                            <a:latin typeface="Cambria Math" panose="02040503050406030204" pitchFamily="18" charset="0"/>
                            <a:ea typeface="Cambria" panose="02040503050406030204" pitchFamily="18" charset="0"/>
                            <a:cs typeface="Cambria" panose="02040503050406030204" pitchFamily="18" charset="0"/>
                          </a:rPr>
                          <m:t>−</m:t>
                        </m:r>
                        <m:r>
                          <a:rPr lang="vi-VN" altLang="en-VN" sz="1500" b="1" i="1">
                            <a:solidFill>
                              <a:srgbClr val="FF0000"/>
                            </a:solidFill>
                            <a:latin typeface="Cambria Math" panose="02040503050406030204" pitchFamily="18" charset="0"/>
                            <a:ea typeface="Cambria" panose="02040503050406030204" pitchFamily="18" charset="0"/>
                            <a:cs typeface="Cambria" panose="02040503050406030204" pitchFamily="18" charset="0"/>
                          </a:rPr>
                          <m:t>𝒊𝑯𝒕</m:t>
                        </m:r>
                      </m:sup>
                    </m:sSup>
                    <m:r>
                      <a:rPr lang="en-US" altLang="en-VN" sz="1500" b="1" i="1">
                        <a:solidFill>
                          <a:srgbClr val="FF0000"/>
                        </a:solidFill>
                        <a:latin typeface="Cambria Math" panose="02040503050406030204" pitchFamily="18" charset="0"/>
                        <a:ea typeface="Cambria" panose="02040503050406030204" pitchFamily="18" charset="0"/>
                        <a:cs typeface="Cambria" panose="02040503050406030204" pitchFamily="18" charset="0"/>
                      </a:rPr>
                      <m:t>|</m:t>
                    </m:r>
                    <m:r>
                      <a:rPr lang="en-US" altLang="en-VN" sz="1500" b="1" i="1">
                        <a:solidFill>
                          <a:srgbClr val="FF0000"/>
                        </a:solidFill>
                        <a:latin typeface="Cambria Math" panose="02040503050406030204" pitchFamily="18" charset="0"/>
                        <a:ea typeface="Calibri" panose="020F0502020204030204" pitchFamily="34" charset="0"/>
                        <a:cs typeface="Calibri" panose="020F0502020204030204" pitchFamily="34" charset="0"/>
                      </a:rPr>
                      <m:t>𝝍</m:t>
                    </m:r>
                    <m:r>
                      <a:rPr lang="en-US" altLang="en-VN" sz="1500" b="1" i="1">
                        <a:solidFill>
                          <a:srgbClr val="FF0000"/>
                        </a:solidFill>
                        <a:latin typeface="Cambria Math" panose="02040503050406030204" pitchFamily="18" charset="0"/>
                        <a:ea typeface="Tahoma" panose="020B0604030504040204" pitchFamily="34" charset="0"/>
                        <a:cs typeface="Tahoma" panose="020B0604030504040204" pitchFamily="34" charset="0"/>
                      </a:rPr>
                      <m:t>(</m:t>
                    </m:r>
                    <m:r>
                      <a:rPr lang="en-US" altLang="en-VN" sz="1500" b="1" i="1">
                        <a:solidFill>
                          <a:srgbClr val="FF0000"/>
                        </a:solidFill>
                        <a:latin typeface="Cambria Math" panose="02040503050406030204" pitchFamily="18" charset="0"/>
                        <a:ea typeface="Tahoma" panose="020B0604030504040204" pitchFamily="34" charset="0"/>
                        <a:cs typeface="Tahoma" panose="020B0604030504040204" pitchFamily="34" charset="0"/>
                      </a:rPr>
                      <m:t>𝟎</m:t>
                    </m:r>
                    <m:r>
                      <a:rPr lang="en-US" altLang="en-VN" sz="1500" b="1" i="1">
                        <a:solidFill>
                          <a:srgbClr val="FF0000"/>
                        </a:solidFill>
                        <a:latin typeface="Cambria Math" panose="02040503050406030204" pitchFamily="18" charset="0"/>
                        <a:ea typeface="Tahoma" panose="020B0604030504040204" pitchFamily="34" charset="0"/>
                        <a:cs typeface="Tahoma" panose="020B0604030504040204" pitchFamily="34" charset="0"/>
                      </a:rPr>
                      <m:t>)⟩</m:t>
                    </m:r>
                  </m:oMath>
                </a14:m>
                <a:r>
                  <a:rPr lang="en-US" altLang="en-VN" sz="1500" i="1" dirty="0">
                    <a:solidFill>
                      <a:srgbClr val="FF0000"/>
                    </a:solidFill>
                    <a:ea typeface="SimSun" panose="02010600030101010101" pitchFamily="2" charset="-122"/>
                  </a:rPr>
                  <a:t> </a:t>
                </a:r>
              </a:p>
            </p:txBody>
          </p:sp>
        </mc:Choice>
        <mc:Fallback xmlns="">
          <p:sp>
            <p:nvSpPr>
              <p:cNvPr id="6" name="TextBox 5">
                <a:extLst>
                  <a:ext uri="{FF2B5EF4-FFF2-40B4-BE49-F238E27FC236}">
                    <a16:creationId xmlns:a16="http://schemas.microsoft.com/office/drawing/2014/main" id="{071624BE-FCB7-532C-9CD5-3BEB95F0C378}"/>
                  </a:ext>
                </a:extLst>
              </p:cNvPr>
              <p:cNvSpPr txBox="1">
                <a:spLocks noRot="1" noChangeAspect="1" noMove="1" noResize="1" noEditPoints="1" noAdjustHandles="1" noChangeArrowheads="1" noChangeShapeType="1" noTextEdit="1"/>
              </p:cNvSpPr>
              <p:nvPr/>
            </p:nvSpPr>
            <p:spPr>
              <a:xfrm>
                <a:off x="205319" y="979974"/>
                <a:ext cx="4990505" cy="790729"/>
              </a:xfrm>
              <a:prstGeom prst="rect">
                <a:avLst/>
              </a:prstGeom>
              <a:blipFill>
                <a:blip r:embed="rId3"/>
                <a:stretch>
                  <a:fillRect l="-489" t="-1550" b="-387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C97FA44-EE60-47B1-8AF9-86C58C1184A0}"/>
                  </a:ext>
                </a:extLst>
              </p:cNvPr>
              <p:cNvSpPr txBox="1"/>
              <p:nvPr/>
            </p:nvSpPr>
            <p:spPr>
              <a:xfrm>
                <a:off x="836353" y="2579626"/>
                <a:ext cx="1064991" cy="323165"/>
              </a:xfrm>
              <a:prstGeom prst="rect">
                <a:avLst/>
              </a:prstGeom>
              <a:noFill/>
            </p:spPr>
            <p:txBody>
              <a:bodyPr wrap="square">
                <a:spAutoFit/>
              </a:bodyPr>
              <a:lstStyle/>
              <a:p>
                <a14:m>
                  <m:oMath xmlns:m="http://schemas.openxmlformats.org/officeDocument/2006/math">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m:t>
                    </m:r>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𝑾</m:t>
                    </m:r>
                    <m:r>
                      <a:rPr lang="en-US" altLang="en-VN" sz="1500" b="1" i="1">
                        <a:solidFill>
                          <a:srgbClr val="7030A0"/>
                        </a:solidFill>
                        <a:latin typeface="Cambria Math" panose="02040503050406030204" pitchFamily="18" charset="0"/>
                        <a:ea typeface="Cambria" panose="02040503050406030204" pitchFamily="18" charset="0"/>
                        <a:cs typeface="Cambria Math" panose="02040503050406030204" pitchFamily="18" charset="0"/>
                      </a:rPr>
                      <m:t>⟩</m:t>
                    </m:r>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m:t>
                    </m:r>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𝒕</m:t>
                    </m:r>
                  </m:oMath>
                </a14:m>
                <a:r>
                  <a:rPr lang="en-US" sz="1500" b="1" dirty="0">
                    <a:solidFill>
                      <a:srgbClr val="7030A0"/>
                    </a:solidFill>
                  </a:rPr>
                  <a:t>  </a:t>
                </a:r>
                <a:r>
                  <a:rPr lang="en-VN" sz="1500" b="1" dirty="0">
                    <a:solidFill>
                      <a:srgbClr val="7030A0"/>
                    </a:solidFill>
                  </a:rPr>
                  <a:t> </a:t>
                </a:r>
                <a:endParaRPr lang="en-US" altLang="en-VN" sz="1500" b="1" dirty="0">
                  <a:solidFill>
                    <a:srgbClr val="7030A0"/>
                  </a:solidFill>
                  <a:ea typeface="SimSun" panose="02010600030101010101" pitchFamily="2" charset="-122"/>
                </a:endParaRPr>
              </a:p>
            </p:txBody>
          </p:sp>
        </mc:Choice>
        <mc:Fallback xmlns="">
          <p:sp>
            <p:nvSpPr>
              <p:cNvPr id="7" name="TextBox 6">
                <a:extLst>
                  <a:ext uri="{FF2B5EF4-FFF2-40B4-BE49-F238E27FC236}">
                    <a16:creationId xmlns:a16="http://schemas.microsoft.com/office/drawing/2014/main" id="{5C97FA44-EE60-47B1-8AF9-86C58C1184A0}"/>
                  </a:ext>
                </a:extLst>
              </p:cNvPr>
              <p:cNvSpPr txBox="1">
                <a:spLocks noRot="1" noChangeAspect="1" noMove="1" noResize="1" noEditPoints="1" noAdjustHandles="1" noChangeArrowheads="1" noChangeShapeType="1" noTextEdit="1"/>
              </p:cNvSpPr>
              <p:nvPr/>
            </p:nvSpPr>
            <p:spPr>
              <a:xfrm>
                <a:off x="836353" y="2579626"/>
                <a:ext cx="1064991" cy="323165"/>
              </a:xfrm>
              <a:prstGeom prst="rect">
                <a:avLst/>
              </a:prstGeom>
              <a:blipFill>
                <a:blip r:embed="rId4"/>
                <a:stretch>
                  <a:fillRect b="-11321"/>
                </a:stretch>
              </a:blipFill>
            </p:spPr>
            <p:txBody>
              <a:bodyPr/>
              <a:lstStyle/>
              <a:p>
                <a:r>
                  <a:rPr lang="vi-VN">
                    <a:noFill/>
                  </a:rPr>
                  <a:t> </a:t>
                </a:r>
              </a:p>
            </p:txBody>
          </p:sp>
        </mc:Fallback>
      </mc:AlternateContent>
      <p:cxnSp>
        <p:nvCxnSpPr>
          <p:cNvPr id="8" name="Straight Arrow Connector 7">
            <a:extLst>
              <a:ext uri="{FF2B5EF4-FFF2-40B4-BE49-F238E27FC236}">
                <a16:creationId xmlns:a16="http://schemas.microsoft.com/office/drawing/2014/main" id="{3800E9D4-5AB2-C103-2953-A48A9C54D8E1}"/>
              </a:ext>
            </a:extLst>
          </p:cNvPr>
          <p:cNvCxnSpPr>
            <a:cxnSpLocks/>
            <a:endCxn id="7" idx="0"/>
          </p:cNvCxnSpPr>
          <p:nvPr/>
        </p:nvCxnSpPr>
        <p:spPr>
          <a:xfrm>
            <a:off x="1368849" y="1770703"/>
            <a:ext cx="0" cy="8089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D83C321-5F75-9CD9-ED72-DC26996E30A1}"/>
                  </a:ext>
                </a:extLst>
              </p:cNvPr>
              <p:cNvSpPr txBox="1"/>
              <p:nvPr/>
            </p:nvSpPr>
            <p:spPr>
              <a:xfrm>
                <a:off x="695555" y="3544109"/>
                <a:ext cx="1357613" cy="323165"/>
              </a:xfrm>
              <a:prstGeom prst="rect">
                <a:avLst/>
              </a:prstGeom>
              <a:noFill/>
            </p:spPr>
            <p:txBody>
              <a:bodyPr wrap="square">
                <a:spAutoFit/>
              </a:bodyPr>
              <a:lstStyle/>
              <a:p>
                <a14:m>
                  <m:oMath xmlns:m="http://schemas.openxmlformats.org/officeDocument/2006/math">
                    <m:sSub>
                      <m:sSubPr>
                        <m:ctrlP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ctrlPr>
                      </m:sSubPr>
                      <m:e>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e>
                      <m:sub>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𝒎𝒂𝒙</m:t>
                        </m:r>
                      </m:sub>
                    </m:sSub>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&gt;</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 ∀</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𝒕</m:t>
                    </m:r>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m:t>
                    </m:r>
                  </m:oMath>
                </a14:m>
                <a:r>
                  <a:rPr lang="en-US" sz="1500" b="1" dirty="0">
                    <a:solidFill>
                      <a:srgbClr val="7030A0"/>
                    </a:solidFill>
                  </a:rPr>
                  <a:t> </a:t>
                </a:r>
                <a:r>
                  <a:rPr lang="en-VN" sz="1500" b="1" dirty="0">
                    <a:solidFill>
                      <a:srgbClr val="7030A0"/>
                    </a:solidFill>
                  </a:rPr>
                  <a:t> </a:t>
                </a:r>
                <a:endParaRPr lang="en-US" altLang="en-VN" sz="1500" b="1" dirty="0">
                  <a:solidFill>
                    <a:srgbClr val="7030A0"/>
                  </a:solidFill>
                  <a:ea typeface="SimSun" panose="02010600030101010101" pitchFamily="2" charset="-122"/>
                </a:endParaRPr>
              </a:p>
            </p:txBody>
          </p:sp>
        </mc:Choice>
        <mc:Fallback xmlns="">
          <p:sp>
            <p:nvSpPr>
              <p:cNvPr id="9" name="TextBox 8">
                <a:extLst>
                  <a:ext uri="{FF2B5EF4-FFF2-40B4-BE49-F238E27FC236}">
                    <a16:creationId xmlns:a16="http://schemas.microsoft.com/office/drawing/2014/main" id="{6D83C321-5F75-9CD9-ED72-DC26996E30A1}"/>
                  </a:ext>
                </a:extLst>
              </p:cNvPr>
              <p:cNvSpPr txBox="1">
                <a:spLocks noRot="1" noChangeAspect="1" noMove="1" noResize="1" noEditPoints="1" noAdjustHandles="1" noChangeArrowheads="1" noChangeShapeType="1" noTextEdit="1"/>
              </p:cNvSpPr>
              <p:nvPr/>
            </p:nvSpPr>
            <p:spPr>
              <a:xfrm>
                <a:off x="695555" y="3544109"/>
                <a:ext cx="1357613" cy="323165"/>
              </a:xfrm>
              <a:prstGeom prst="rect">
                <a:avLst/>
              </a:prstGeom>
              <a:blipFill>
                <a:blip r:embed="rId5"/>
                <a:stretch>
                  <a:fillRect/>
                </a:stretch>
              </a:blipFill>
            </p:spPr>
            <p:txBody>
              <a:bodyPr/>
              <a:lstStyle/>
              <a:p>
                <a:r>
                  <a:rPr lang="vi-VN">
                    <a:noFill/>
                  </a:rPr>
                  <a:t> </a:t>
                </a:r>
              </a:p>
            </p:txBody>
          </p:sp>
        </mc:Fallback>
      </mc:AlternateContent>
      <p:cxnSp>
        <p:nvCxnSpPr>
          <p:cNvPr id="10" name="Straight Arrow Connector 9">
            <a:extLst>
              <a:ext uri="{FF2B5EF4-FFF2-40B4-BE49-F238E27FC236}">
                <a16:creationId xmlns:a16="http://schemas.microsoft.com/office/drawing/2014/main" id="{0C526866-E5D1-0F23-D015-0394391C3EBA}"/>
              </a:ext>
            </a:extLst>
          </p:cNvPr>
          <p:cNvCxnSpPr>
            <a:cxnSpLocks/>
            <a:stCxn id="7" idx="2"/>
            <a:endCxn id="9" idx="0"/>
          </p:cNvCxnSpPr>
          <p:nvPr/>
        </p:nvCxnSpPr>
        <p:spPr>
          <a:xfrm>
            <a:off x="1368849" y="2902791"/>
            <a:ext cx="5513" cy="6413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3812ADA-4D58-E9CF-AFCE-E443D5EBB2E1}"/>
              </a:ext>
            </a:extLst>
          </p:cNvPr>
          <p:cNvSpPr txBox="1"/>
          <p:nvPr/>
        </p:nvSpPr>
        <p:spPr>
          <a:xfrm>
            <a:off x="1474500" y="1976003"/>
            <a:ext cx="1750325" cy="323165"/>
          </a:xfrm>
          <a:prstGeom prst="rect">
            <a:avLst/>
          </a:prstGeom>
          <a:noFill/>
        </p:spPr>
        <p:txBody>
          <a:bodyPr wrap="square" rtlCol="0">
            <a:spAutoFit/>
          </a:bodyPr>
          <a:lstStyle/>
          <a:p>
            <a:r>
              <a:rPr lang="en-VN" sz="1500"/>
              <a:t>Calculate directly</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DFB8CC4-88CD-6A34-3500-AFBE34943CD9}"/>
                  </a:ext>
                </a:extLst>
              </p:cNvPr>
              <p:cNvSpPr txBox="1"/>
              <p:nvPr/>
            </p:nvSpPr>
            <p:spPr>
              <a:xfrm>
                <a:off x="1478598" y="2939731"/>
                <a:ext cx="3641267" cy="558166"/>
              </a:xfrm>
              <a:prstGeom prst="rect">
                <a:avLst/>
              </a:prstGeom>
              <a:noFill/>
            </p:spPr>
            <p:txBody>
              <a:bodyPr wrap="square" rtlCol="0">
                <a:spAutoFit/>
              </a:bodyPr>
              <a:lstStyle/>
              <a:p>
                <a:r>
                  <a:rPr lang="en-VN" sz="1500" dirty="0"/>
                  <a:t>Can be found after survey</a:t>
                </a:r>
              </a:p>
              <a:p>
                <a14:m>
                  <m:oMath xmlns:m="http://schemas.openxmlformats.org/officeDocument/2006/math">
                    <m:r>
                      <a:rPr lang="en-VN" sz="1500" i="1">
                        <a:latin typeface="Cambria Math" panose="02040503050406030204" pitchFamily="18" charset="0"/>
                      </a:rPr>
                      <m:t>𝑡</m:t>
                    </m:r>
                    <m:r>
                      <a:rPr lang="vi-VN" sz="1500" i="1">
                        <a:latin typeface="Cambria Math" panose="02040503050406030204" pitchFamily="18" charset="0"/>
                      </a:rPr>
                      <m:t>∈</m:t>
                    </m:r>
                    <m:d>
                      <m:dPr>
                        <m:begChr m:val="["/>
                        <m:endChr m:val="]"/>
                        <m:ctrlPr>
                          <a:rPr lang="vi-VN" sz="1500" i="1">
                            <a:latin typeface="Cambria Math" panose="02040503050406030204" pitchFamily="18" charset="0"/>
                          </a:rPr>
                        </m:ctrlPr>
                      </m:dPr>
                      <m:e>
                        <m:r>
                          <a:rPr lang="vi-VN" sz="1500" i="1">
                            <a:latin typeface="Cambria Math" panose="02040503050406030204" pitchFamily="18" charset="0"/>
                          </a:rPr>
                          <m:t>0, </m:t>
                        </m:r>
                        <m:r>
                          <a:rPr lang="vi-VN" sz="1500" i="1">
                            <a:latin typeface="Cambria Math" panose="02040503050406030204" pitchFamily="18" charset="0"/>
                          </a:rPr>
                          <m:t>𝑇</m:t>
                        </m:r>
                      </m:e>
                    </m:d>
                  </m:oMath>
                </a14:m>
                <a:r>
                  <a:rPr lang="en-VN" sz="1500" dirty="0"/>
                  <a:t> with </a:t>
                </a:r>
                <a14:m>
                  <m:oMath xmlns:m="http://schemas.openxmlformats.org/officeDocument/2006/math">
                    <m:sSup>
                      <m:sSupPr>
                        <m:ctrlPr>
                          <a:rPr lang="vi-VN" sz="1500" i="1">
                            <a:latin typeface="Cambria Math" panose="02040503050406030204" pitchFamily="18" charset="0"/>
                          </a:rPr>
                        </m:ctrlPr>
                      </m:sSupPr>
                      <m:e>
                        <m:r>
                          <a:rPr lang="en-VN" sz="1500" i="1">
                            <a:latin typeface="Cambria Math" panose="02040503050406030204" pitchFamily="18" charset="0"/>
                          </a:rPr>
                          <m:t>𝑡</m:t>
                        </m:r>
                      </m:e>
                      <m:sup>
                        <m:r>
                          <a:rPr lang="vi-VN" sz="1500" i="1">
                            <a:latin typeface="Cambria Math" panose="02040503050406030204" pitchFamily="18" charset="0"/>
                          </a:rPr>
                          <m:t>𝑘</m:t>
                        </m:r>
                        <m:r>
                          <a:rPr lang="vi-VN" sz="1500" i="1">
                            <a:latin typeface="Cambria Math" panose="02040503050406030204" pitchFamily="18" charset="0"/>
                          </a:rPr>
                          <m:t>+1</m:t>
                        </m:r>
                      </m:sup>
                    </m:sSup>
                    <m:r>
                      <a:rPr lang="en-US" sz="1500" i="1">
                        <a:latin typeface="Cambria Math" panose="02040503050406030204" pitchFamily="18" charset="0"/>
                      </a:rPr>
                      <m:t>←</m:t>
                    </m:r>
                    <m:sSup>
                      <m:sSupPr>
                        <m:ctrlPr>
                          <a:rPr lang="vi-VN" sz="1500" i="1">
                            <a:latin typeface="Cambria Math" panose="02040503050406030204" pitchFamily="18" charset="0"/>
                          </a:rPr>
                        </m:ctrlPr>
                      </m:sSupPr>
                      <m:e>
                        <m:r>
                          <a:rPr lang="vi-VN" sz="1500" i="1">
                            <a:latin typeface="Cambria Math" panose="02040503050406030204" pitchFamily="18" charset="0"/>
                          </a:rPr>
                          <m:t>𝑡</m:t>
                        </m:r>
                      </m:e>
                      <m:sup>
                        <m:r>
                          <a:rPr lang="vi-VN" sz="1500" i="1">
                            <a:latin typeface="Cambria Math" panose="02040503050406030204" pitchFamily="18" charset="0"/>
                          </a:rPr>
                          <m:t>𝑘</m:t>
                        </m:r>
                      </m:sup>
                    </m:sSup>
                    <m:r>
                      <a:rPr lang="vi-VN" sz="1500" i="1">
                        <a:latin typeface="Cambria Math" panose="02040503050406030204" pitchFamily="18" charset="0"/>
                      </a:rPr>
                      <m:t>+</m:t>
                    </m:r>
                    <m:sSub>
                      <m:sSubPr>
                        <m:ctrlPr>
                          <a:rPr lang="vi-VN" sz="1500" i="1">
                            <a:latin typeface="Cambria Math" panose="02040503050406030204" pitchFamily="18" charset="0"/>
                          </a:rPr>
                        </m:ctrlPr>
                      </m:sSubPr>
                      <m:e>
                        <m:r>
                          <a:rPr lang="vi-VN" sz="1500" i="1">
                            <a:latin typeface="Cambria Math" panose="02040503050406030204" pitchFamily="18" charset="0"/>
                          </a:rPr>
                          <m:t>𝛥</m:t>
                        </m:r>
                      </m:e>
                      <m:sub>
                        <m:r>
                          <a:rPr lang="vi-VN" sz="1500" i="1">
                            <a:latin typeface="Cambria Math" panose="02040503050406030204" pitchFamily="18" charset="0"/>
                          </a:rPr>
                          <m:t>𝑡</m:t>
                        </m:r>
                      </m:sub>
                    </m:sSub>
                  </m:oMath>
                </a14:m>
                <a:endParaRPr lang="en-VN" sz="1500" i="1" dirty="0"/>
              </a:p>
            </p:txBody>
          </p:sp>
        </mc:Choice>
        <mc:Fallback xmlns="">
          <p:sp>
            <p:nvSpPr>
              <p:cNvPr id="12" name="TextBox 11">
                <a:extLst>
                  <a:ext uri="{FF2B5EF4-FFF2-40B4-BE49-F238E27FC236}">
                    <a16:creationId xmlns:a16="http://schemas.microsoft.com/office/drawing/2014/main" id="{EDFB8CC4-88CD-6A34-3500-AFBE34943CD9}"/>
                  </a:ext>
                </a:extLst>
              </p:cNvPr>
              <p:cNvSpPr txBox="1">
                <a:spLocks noRot="1" noChangeAspect="1" noMove="1" noResize="1" noEditPoints="1" noAdjustHandles="1" noChangeArrowheads="1" noChangeShapeType="1" noTextEdit="1"/>
              </p:cNvSpPr>
              <p:nvPr/>
            </p:nvSpPr>
            <p:spPr>
              <a:xfrm>
                <a:off x="1478598" y="2939731"/>
                <a:ext cx="3641267" cy="558166"/>
              </a:xfrm>
              <a:prstGeom prst="rect">
                <a:avLst/>
              </a:prstGeom>
              <a:blipFill>
                <a:blip r:embed="rId6"/>
                <a:stretch>
                  <a:fillRect l="-670" t="-2174" b="-11957"/>
                </a:stretch>
              </a:blipFill>
            </p:spPr>
            <p:txBody>
              <a:bodyPr/>
              <a:lstStyle/>
              <a:p>
                <a:r>
                  <a:rPr lang="vi-VN">
                    <a:noFill/>
                  </a:rPr>
                  <a:t> </a:t>
                </a:r>
              </a:p>
            </p:txBody>
          </p:sp>
        </mc:Fallback>
      </mc:AlternateContent>
      <p:cxnSp>
        <p:nvCxnSpPr>
          <p:cNvPr id="13" name="Straight Arrow Connector 12">
            <a:extLst>
              <a:ext uri="{FF2B5EF4-FFF2-40B4-BE49-F238E27FC236}">
                <a16:creationId xmlns:a16="http://schemas.microsoft.com/office/drawing/2014/main" id="{2ADC4848-9B73-5ADE-2F08-B80730D5838D}"/>
              </a:ext>
            </a:extLst>
          </p:cNvPr>
          <p:cNvCxnSpPr>
            <a:cxnSpLocks/>
            <a:stCxn id="9" idx="2"/>
            <a:endCxn id="14" idx="0"/>
          </p:cNvCxnSpPr>
          <p:nvPr/>
        </p:nvCxnSpPr>
        <p:spPr>
          <a:xfrm flipH="1">
            <a:off x="1361823" y="3867274"/>
            <a:ext cx="12539" cy="58203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42AB143-DF6B-2195-3C32-A5D73F95ACF0}"/>
                  </a:ext>
                </a:extLst>
              </p:cNvPr>
              <p:cNvSpPr txBox="1"/>
              <p:nvPr/>
            </p:nvSpPr>
            <p:spPr>
              <a:xfrm>
                <a:off x="484210" y="4449311"/>
                <a:ext cx="1755226" cy="323165"/>
              </a:xfrm>
              <a:prstGeom prst="rect">
                <a:avLst/>
              </a:prstGeom>
              <a:noFill/>
            </p:spPr>
            <p:txBody>
              <a:bodyPr wrap="square">
                <a:spAutoFit/>
              </a:bodyPr>
              <a:lstStyle/>
              <a:p>
                <a14:m>
                  <m:oMath xmlns:m="http://schemas.openxmlformats.org/officeDocument/2006/math">
                    <m:sSubSup>
                      <m:sSubSupPr>
                        <m:ctrlP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ctrlPr>
                      </m:sSubSupPr>
                      <m:e>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e>
                      <m:sub>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𝒎𝒂𝒙</m:t>
                        </m:r>
                      </m:sub>
                      <m:sup>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m:t>
                        </m:r>
                      </m:sup>
                    </m:sSubSup>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&gt;</m:t>
                    </m:r>
                    <m:sSub>
                      <m:sSubPr>
                        <m:ctrlP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ctrlPr>
                      </m:sSubPr>
                      <m:e>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e>
                      <m:sub>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𝒎𝒂𝒙</m:t>
                        </m:r>
                      </m:sub>
                    </m:sSub>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 ∀</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𝑱</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𝜟</m:t>
                    </m:r>
                  </m:oMath>
                </a14:m>
                <a:r>
                  <a:rPr lang="en-US" sz="1500" b="1" dirty="0">
                    <a:solidFill>
                      <a:srgbClr val="7030A0"/>
                    </a:solidFill>
                  </a:rPr>
                  <a:t> </a:t>
                </a:r>
                <a:r>
                  <a:rPr lang="en-VN" sz="1500" b="1" dirty="0">
                    <a:solidFill>
                      <a:srgbClr val="7030A0"/>
                    </a:solidFill>
                  </a:rPr>
                  <a:t> </a:t>
                </a:r>
                <a:endParaRPr lang="en-US" altLang="en-VN" sz="1500" b="1" dirty="0">
                  <a:solidFill>
                    <a:srgbClr val="7030A0"/>
                  </a:solidFill>
                  <a:ea typeface="SimSun" panose="02010600030101010101" pitchFamily="2" charset="-122"/>
                </a:endParaRPr>
              </a:p>
            </p:txBody>
          </p:sp>
        </mc:Choice>
        <mc:Fallback xmlns="">
          <p:sp>
            <p:nvSpPr>
              <p:cNvPr id="14" name="TextBox 13">
                <a:extLst>
                  <a:ext uri="{FF2B5EF4-FFF2-40B4-BE49-F238E27FC236}">
                    <a16:creationId xmlns:a16="http://schemas.microsoft.com/office/drawing/2014/main" id="{C42AB143-DF6B-2195-3C32-A5D73F95ACF0}"/>
                  </a:ext>
                </a:extLst>
              </p:cNvPr>
              <p:cNvSpPr txBox="1">
                <a:spLocks noRot="1" noChangeAspect="1" noMove="1" noResize="1" noEditPoints="1" noAdjustHandles="1" noChangeArrowheads="1" noChangeShapeType="1" noTextEdit="1"/>
              </p:cNvSpPr>
              <p:nvPr/>
            </p:nvSpPr>
            <p:spPr>
              <a:xfrm>
                <a:off x="484210" y="4449311"/>
                <a:ext cx="1755226" cy="323165"/>
              </a:xfrm>
              <a:prstGeom prst="rect">
                <a:avLst/>
              </a:prstGeom>
              <a:blipFill>
                <a:blip r:embed="rId7"/>
                <a:stretch>
                  <a:fillRect b="-566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E390B9D-C6D4-D177-FC54-57A8589C3906}"/>
                  </a:ext>
                </a:extLst>
              </p:cNvPr>
              <p:cNvSpPr txBox="1"/>
              <p:nvPr/>
            </p:nvSpPr>
            <p:spPr>
              <a:xfrm>
                <a:off x="1478597" y="3993375"/>
                <a:ext cx="2777178" cy="323165"/>
              </a:xfrm>
              <a:prstGeom prst="rect">
                <a:avLst/>
              </a:prstGeom>
              <a:noFill/>
            </p:spPr>
            <p:txBody>
              <a:bodyPr wrap="square" rtlCol="0">
                <a:spAutoFit/>
              </a:bodyPr>
              <a:lstStyle/>
              <a:p>
                <a:r>
                  <a:rPr lang="en-VN" sz="1500" dirty="0"/>
                  <a:t>We want to find “max” of </a:t>
                </a:r>
                <a14:m>
                  <m:oMath xmlns:m="http://schemas.openxmlformats.org/officeDocument/2006/math">
                    <m:sSub>
                      <m:sSubPr>
                        <m:ctrlPr>
                          <a:rPr lang="vi-VN" sz="1500" i="1">
                            <a:latin typeface="Cambria Math" panose="02040503050406030204" pitchFamily="18" charset="0"/>
                          </a:rPr>
                        </m:ctrlPr>
                      </m:sSubPr>
                      <m:e>
                        <m:r>
                          <a:rPr lang="en-VN" sz="1500" i="1">
                            <a:latin typeface="Cambria Math" panose="02040503050406030204" pitchFamily="18" charset="0"/>
                          </a:rPr>
                          <m:t>𝑃</m:t>
                        </m:r>
                      </m:e>
                      <m:sub>
                        <m:r>
                          <m:rPr>
                            <m:sty m:val="p"/>
                          </m:rPr>
                          <a:rPr lang="vi-VN" sz="1500">
                            <a:latin typeface="Cambria Math" panose="02040503050406030204" pitchFamily="18" charset="0"/>
                          </a:rPr>
                          <m:t>max</m:t>
                        </m:r>
                      </m:sub>
                    </m:sSub>
                  </m:oMath>
                </a14:m>
                <a:endParaRPr lang="en-VN" sz="1500" i="1" dirty="0"/>
              </a:p>
            </p:txBody>
          </p:sp>
        </mc:Choice>
        <mc:Fallback xmlns="">
          <p:sp>
            <p:nvSpPr>
              <p:cNvPr id="15" name="TextBox 14">
                <a:extLst>
                  <a:ext uri="{FF2B5EF4-FFF2-40B4-BE49-F238E27FC236}">
                    <a16:creationId xmlns:a16="http://schemas.microsoft.com/office/drawing/2014/main" id="{DE390B9D-C6D4-D177-FC54-57A8589C3906}"/>
                  </a:ext>
                </a:extLst>
              </p:cNvPr>
              <p:cNvSpPr txBox="1">
                <a:spLocks noRot="1" noChangeAspect="1" noMove="1" noResize="1" noEditPoints="1" noAdjustHandles="1" noChangeArrowheads="1" noChangeShapeType="1" noTextEdit="1"/>
              </p:cNvSpPr>
              <p:nvPr/>
            </p:nvSpPr>
            <p:spPr>
              <a:xfrm>
                <a:off x="1478597" y="3993375"/>
                <a:ext cx="2777178" cy="323165"/>
              </a:xfrm>
              <a:prstGeom prst="rect">
                <a:avLst/>
              </a:prstGeom>
              <a:blipFill>
                <a:blip r:embed="rId8"/>
                <a:stretch>
                  <a:fillRect l="-879" t="-3774" b="-2075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DFA7530-995C-F6BD-CA8A-845BACB10FFB}"/>
                  </a:ext>
                </a:extLst>
              </p:cNvPr>
              <p:cNvSpPr txBox="1"/>
              <p:nvPr/>
            </p:nvSpPr>
            <p:spPr>
              <a:xfrm>
                <a:off x="2943446" y="4449311"/>
                <a:ext cx="2252378" cy="323165"/>
              </a:xfrm>
              <a:prstGeom prst="rect">
                <a:avLst/>
              </a:prstGeom>
              <a:noFill/>
            </p:spPr>
            <p:txBody>
              <a:bodyPr wrap="square">
                <a:spAutoFit/>
              </a:bodyPr>
              <a:lstStyle/>
              <a:p>
                <a14:m>
                  <m:oMath xmlns:m="http://schemas.openxmlformats.org/officeDocument/2006/math">
                    <m:r>
                      <a:rPr lang="vi-VN" sz="1500" b="1" i="1">
                        <a:solidFill>
                          <a:srgbClr val="7030A0"/>
                        </a:solidFill>
                        <a:latin typeface="Cambria Math" panose="02040503050406030204" pitchFamily="18" charset="0"/>
                        <a:ea typeface="SimSun" panose="02010600030101010101" pitchFamily="2" charset="-122"/>
                        <a:cs typeface="Times New Roman" panose="02020603050405020304" pitchFamily="18" charset="0"/>
                      </a:rPr>
                      <m:t>𝓛</m:t>
                    </m:r>
                    <m:d>
                      <m:dPr>
                        <m:ctrlPr>
                          <a:rPr lang="en-VN" sz="1500" b="1" i="1">
                            <a:solidFill>
                              <a:srgbClr val="7030A0"/>
                            </a:solidFill>
                            <a:latin typeface="Cambria Math" panose="02040503050406030204" pitchFamily="18" charset="0"/>
                            <a:ea typeface="Tahoma" panose="020B0604030504040204" pitchFamily="34" charset="0"/>
                            <a:cs typeface="Tahoma" panose="020B0604030504040204" pitchFamily="34" charset="0"/>
                          </a:rPr>
                        </m:ctrlPr>
                      </m:dPr>
                      <m:e>
                        <m:r>
                          <a:rPr lang="en-US"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𝑱</m:t>
                        </m:r>
                        <m:r>
                          <a:rPr lang="en-US"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 ∆, </m:t>
                        </m:r>
                        <m:r>
                          <a:rPr lang="en-US"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𝜸</m:t>
                        </m:r>
                      </m:e>
                    </m:d>
                    <m:r>
                      <a:rPr lang="en-US" sz="1500" b="1" i="1">
                        <a:solidFill>
                          <a:srgbClr val="7030A0"/>
                        </a:solidFill>
                        <a:latin typeface="Cambria Math" panose="02040503050406030204" pitchFamily="18" charset="0"/>
                        <a:ea typeface="Tahoma" panose="020B0604030504040204" pitchFamily="34" charset="0"/>
                        <a:cs typeface="Tahoma" panose="020B0604030504040204" pitchFamily="34" charset="0"/>
                      </a:rPr>
                      <m:t>=</m:t>
                    </m:r>
                    <m:r>
                      <a:rPr lang="en-US" sz="1500" b="1" i="1">
                        <a:solidFill>
                          <a:srgbClr val="7030A0"/>
                        </a:solidFill>
                        <a:latin typeface="Cambria Math" panose="02040503050406030204" pitchFamily="18" charset="0"/>
                        <a:ea typeface="Cambria" panose="02040503050406030204" pitchFamily="18" charset="0"/>
                        <a:cs typeface="Cambria" panose="02040503050406030204" pitchFamily="18" charset="0"/>
                      </a:rPr>
                      <m:t>−|</m:t>
                    </m:r>
                    <m:sSub>
                      <m:sSubPr>
                        <m:ctrlPr>
                          <a:rPr 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ctrlPr>
                      </m:sSubPr>
                      <m:e>
                        <m:r>
                          <a:rPr lang="en-US"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e>
                      <m:sub>
                        <m:r>
                          <a:rPr lang="en-US" sz="1500" b="1" baseline="-25000">
                            <a:solidFill>
                              <a:srgbClr val="7030A0"/>
                            </a:solidFill>
                            <a:latin typeface="Cambria Math" panose="02040503050406030204" pitchFamily="18" charset="0"/>
                            <a:ea typeface="Calibri" panose="020F0502020204030204" pitchFamily="34" charset="0"/>
                            <a:cs typeface="Calibri" panose="020F0502020204030204" pitchFamily="34" charset="0"/>
                          </a:rPr>
                          <m:t>𝐦𝐚𝐱</m:t>
                        </m:r>
                      </m:sub>
                    </m:sSub>
                    <m:r>
                      <a:rPr lang="en-US" sz="1500" b="1" i="1">
                        <a:solidFill>
                          <a:srgbClr val="7030A0"/>
                        </a:solidFill>
                        <a:latin typeface="Cambria Math" panose="02040503050406030204" pitchFamily="18" charset="0"/>
                        <a:ea typeface="Cambria" panose="02040503050406030204" pitchFamily="18" charset="0"/>
                        <a:cs typeface="Cambria" panose="02040503050406030204" pitchFamily="18" charset="0"/>
                      </a:rPr>
                      <m:t>|</m:t>
                    </m:r>
                  </m:oMath>
                </a14:m>
                <a:r>
                  <a:rPr lang="en-US" sz="1500" b="1" dirty="0">
                    <a:solidFill>
                      <a:srgbClr val="7030A0"/>
                    </a:solidFill>
                    <a:latin typeface="Cambria" panose="02040503050406030204" pitchFamily="18" charset="0"/>
                    <a:ea typeface="Cambria" panose="02040503050406030204" pitchFamily="18" charset="0"/>
                    <a:cs typeface="Cambria" panose="02040503050406030204" pitchFamily="18" charset="0"/>
                  </a:rPr>
                  <a:t> </a:t>
                </a:r>
                <a:endParaRPr lang="en-VN" sz="1500" b="1" dirty="0">
                  <a:solidFill>
                    <a:srgbClr val="7030A0"/>
                  </a:solidFill>
                </a:endParaRPr>
              </a:p>
            </p:txBody>
          </p:sp>
        </mc:Choice>
        <mc:Fallback xmlns="">
          <p:sp>
            <p:nvSpPr>
              <p:cNvPr id="16" name="TextBox 15">
                <a:extLst>
                  <a:ext uri="{FF2B5EF4-FFF2-40B4-BE49-F238E27FC236}">
                    <a16:creationId xmlns:a16="http://schemas.microsoft.com/office/drawing/2014/main" id="{BDFA7530-995C-F6BD-CA8A-845BACB10FFB}"/>
                  </a:ext>
                </a:extLst>
              </p:cNvPr>
              <p:cNvSpPr txBox="1">
                <a:spLocks noRot="1" noChangeAspect="1" noMove="1" noResize="1" noEditPoints="1" noAdjustHandles="1" noChangeArrowheads="1" noChangeShapeType="1" noTextEdit="1"/>
              </p:cNvSpPr>
              <p:nvPr/>
            </p:nvSpPr>
            <p:spPr>
              <a:xfrm>
                <a:off x="2943446" y="4449311"/>
                <a:ext cx="2252378" cy="323165"/>
              </a:xfrm>
              <a:prstGeom prst="rect">
                <a:avLst/>
              </a:prstGeom>
              <a:blipFill>
                <a:blip r:embed="rId9"/>
                <a:stretch>
                  <a:fillRect t="-5660" b="-1698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DDF5723-624B-153C-1A5E-0F57F5C72BC3}"/>
                  </a:ext>
                </a:extLst>
              </p:cNvPr>
              <p:cNvSpPr txBox="1"/>
              <p:nvPr/>
            </p:nvSpPr>
            <p:spPr>
              <a:xfrm>
                <a:off x="3678076" y="3601728"/>
                <a:ext cx="783116" cy="323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VN" sz="1500" b="1">
                          <a:solidFill>
                            <a:srgbClr val="7030A0"/>
                          </a:solidFill>
                          <a:latin typeface="Cambria Math" panose="02040503050406030204" pitchFamily="18" charset="0"/>
                        </a:rPr>
                        <m:t>𝛁</m:t>
                      </m:r>
                      <m:r>
                        <a:rPr lang="en-VN" sz="1500" b="1">
                          <a:solidFill>
                            <a:srgbClr val="7030A0"/>
                          </a:solidFill>
                          <a:latin typeface="Cambria Math" panose="02040503050406030204" pitchFamily="18" charset="0"/>
                        </a:rPr>
                        <m:t>𝓛</m:t>
                      </m:r>
                    </m:oMath>
                  </m:oMathPara>
                </a14:m>
                <a:endParaRPr lang="en-VN" sz="1500" b="1">
                  <a:solidFill>
                    <a:srgbClr val="7030A0"/>
                  </a:solidFill>
                </a:endParaRPr>
              </a:p>
            </p:txBody>
          </p:sp>
        </mc:Choice>
        <mc:Fallback xmlns="">
          <p:sp>
            <p:nvSpPr>
              <p:cNvPr id="17" name="TextBox 16">
                <a:extLst>
                  <a:ext uri="{FF2B5EF4-FFF2-40B4-BE49-F238E27FC236}">
                    <a16:creationId xmlns:a16="http://schemas.microsoft.com/office/drawing/2014/main" id="{4DDF5723-624B-153C-1A5E-0F57F5C72BC3}"/>
                  </a:ext>
                </a:extLst>
              </p:cNvPr>
              <p:cNvSpPr txBox="1">
                <a:spLocks noRot="1" noChangeAspect="1" noMove="1" noResize="1" noEditPoints="1" noAdjustHandles="1" noChangeArrowheads="1" noChangeShapeType="1" noTextEdit="1"/>
              </p:cNvSpPr>
              <p:nvPr/>
            </p:nvSpPr>
            <p:spPr>
              <a:xfrm>
                <a:off x="3678076" y="3601728"/>
                <a:ext cx="783116" cy="323165"/>
              </a:xfrm>
              <a:prstGeom prst="rect">
                <a:avLst/>
              </a:prstGeom>
              <a:blipFill>
                <a:blip r:embed="rId10"/>
                <a:stretch>
                  <a:fillRect/>
                </a:stretch>
              </a:blipFill>
            </p:spPr>
            <p:txBody>
              <a:bodyPr/>
              <a:lstStyle/>
              <a:p>
                <a:r>
                  <a:rPr lang="vi-VN">
                    <a:noFill/>
                  </a:rPr>
                  <a:t> </a:t>
                </a:r>
              </a:p>
            </p:txBody>
          </p:sp>
        </mc:Fallback>
      </mc:AlternateContent>
      <p:cxnSp>
        <p:nvCxnSpPr>
          <p:cNvPr id="18" name="Straight Arrow Connector 17">
            <a:extLst>
              <a:ext uri="{FF2B5EF4-FFF2-40B4-BE49-F238E27FC236}">
                <a16:creationId xmlns:a16="http://schemas.microsoft.com/office/drawing/2014/main" id="{2787AD3B-196E-2851-1D0B-5BEAA314DE3F}"/>
              </a:ext>
            </a:extLst>
          </p:cNvPr>
          <p:cNvCxnSpPr>
            <a:cxnSpLocks/>
            <a:stCxn id="16" idx="0"/>
            <a:endCxn id="17" idx="2"/>
          </p:cNvCxnSpPr>
          <p:nvPr/>
        </p:nvCxnSpPr>
        <p:spPr>
          <a:xfrm flipH="1" flipV="1">
            <a:off x="4069634" y="3924893"/>
            <a:ext cx="1" cy="524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3E2640B-2691-A659-28B7-8FC5C7758B90}"/>
              </a:ext>
            </a:extLst>
          </p:cNvPr>
          <p:cNvSpPr txBox="1"/>
          <p:nvPr/>
        </p:nvSpPr>
        <p:spPr>
          <a:xfrm>
            <a:off x="4195467" y="4033527"/>
            <a:ext cx="1782195" cy="323165"/>
          </a:xfrm>
          <a:prstGeom prst="rect">
            <a:avLst/>
          </a:prstGeom>
          <a:noFill/>
        </p:spPr>
        <p:txBody>
          <a:bodyPr wrap="square" rtlCol="0">
            <a:spAutoFit/>
          </a:bodyPr>
          <a:lstStyle/>
          <a:p>
            <a:r>
              <a:rPr lang="en-VN" sz="1500" dirty="0"/>
              <a:t>Calculate gradient</a:t>
            </a:r>
            <a:endParaRPr lang="en-VN" sz="1500" i="1"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72E8FE9-3F23-655B-D69A-3B67453F740A}"/>
                  </a:ext>
                </a:extLst>
              </p:cNvPr>
              <p:cNvSpPr txBox="1"/>
              <p:nvPr/>
            </p:nvSpPr>
            <p:spPr>
              <a:xfrm>
                <a:off x="2478079" y="2543309"/>
                <a:ext cx="3183110" cy="328423"/>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sSup>
                        <m:sSupPr>
                          <m:ctrlPr>
                            <a:rPr lang="vi-VN" altLang="en-VN" sz="1500" b="1" i="1">
                              <a:solidFill>
                                <a:srgbClr val="7030A0"/>
                              </a:solidFill>
                              <a:latin typeface="Cambria Math" panose="02040503050406030204" pitchFamily="18" charset="0"/>
                              <a:ea typeface="SimSun" panose="02010600030101010101" pitchFamily="2" charset="-122"/>
                            </a:rPr>
                          </m:ctrlPr>
                        </m:sSupPr>
                        <m:e>
                          <m:d>
                            <m:dPr>
                              <m:ctrlPr>
                                <a:rPr lang="vi-VN" altLang="en-VN" sz="1500" b="1" i="1">
                                  <a:solidFill>
                                    <a:srgbClr val="7030A0"/>
                                  </a:solidFill>
                                  <a:latin typeface="Cambria Math" panose="02040503050406030204" pitchFamily="18" charset="0"/>
                                  <a:ea typeface="SimSun" panose="02010600030101010101" pitchFamily="2" charset="-122"/>
                                </a:rPr>
                              </m:ctrlPr>
                            </m:dPr>
                            <m:e>
                              <m:r>
                                <a:rPr lang="en-US" altLang="en-VN" sz="1500" b="1" i="1">
                                  <a:solidFill>
                                    <a:srgbClr val="7030A0"/>
                                  </a:solidFill>
                                  <a:latin typeface="Cambria Math" panose="02040503050406030204" pitchFamily="18" charset="0"/>
                                  <a:ea typeface="SimSun" panose="02010600030101010101" pitchFamily="2" charset="-122"/>
                                </a:rPr>
                                <m:t>𝑱</m:t>
                              </m:r>
                            </m:e>
                            <m:e>
                              <m:r>
                                <a:rPr lang="vi-VN" altLang="en-VN" sz="1500" b="1" i="1">
                                  <a:solidFill>
                                    <a:srgbClr val="7030A0"/>
                                  </a:solidFill>
                                  <a:latin typeface="Cambria Math" panose="02040503050406030204" pitchFamily="18" charset="0"/>
                                  <a:ea typeface="SimSun" panose="02010600030101010101" pitchFamily="2" charset="-122"/>
                                </a:rPr>
                                <m:t>𝜟</m:t>
                              </m:r>
                            </m:e>
                          </m:d>
                        </m:e>
                        <m:sup>
                          <m:r>
                            <a:rPr lang="vi-VN" altLang="en-VN" sz="1500" b="1" i="1">
                              <a:solidFill>
                                <a:srgbClr val="7030A0"/>
                              </a:solidFill>
                              <a:latin typeface="Cambria Math" panose="02040503050406030204" pitchFamily="18" charset="0"/>
                              <a:ea typeface="SimSun" panose="02010600030101010101" pitchFamily="2" charset="-122"/>
                            </a:rPr>
                            <m:t>𝒕</m:t>
                          </m:r>
                          <m:r>
                            <a:rPr lang="vi-VN" altLang="en-VN" sz="1500" b="1" i="1">
                              <a:solidFill>
                                <a:srgbClr val="7030A0"/>
                              </a:solidFill>
                              <a:latin typeface="Cambria Math" panose="02040503050406030204" pitchFamily="18" charset="0"/>
                              <a:ea typeface="SimSun" panose="02010600030101010101" pitchFamily="2" charset="-122"/>
                            </a:rPr>
                            <m:t>+</m:t>
                          </m:r>
                          <m:r>
                            <a:rPr lang="vi-VN" altLang="en-VN" sz="1500" b="1" i="1">
                              <a:solidFill>
                                <a:srgbClr val="7030A0"/>
                              </a:solidFill>
                              <a:latin typeface="Cambria Math" panose="02040503050406030204" pitchFamily="18" charset="0"/>
                              <a:ea typeface="SimSun" panose="02010600030101010101" pitchFamily="2" charset="-122"/>
                            </a:rPr>
                            <m:t>𝟏</m:t>
                          </m:r>
                        </m:sup>
                      </m:sSup>
                      <m:r>
                        <a:rPr lang="vi-VN" altLang="en-VN" sz="1500" b="1" i="1">
                          <a:solidFill>
                            <a:srgbClr val="7030A0"/>
                          </a:solidFill>
                          <a:latin typeface="Cambria Math" panose="02040503050406030204" pitchFamily="18" charset="0"/>
                          <a:ea typeface="SimSun" panose="02010600030101010101" pitchFamily="2" charset="-122"/>
                        </a:rPr>
                        <m:t>=</m:t>
                      </m:r>
                      <m:sSup>
                        <m:sSupPr>
                          <m:ctrlPr>
                            <a:rPr lang="vi-VN" altLang="en-VN" sz="1500" b="1" i="1">
                              <a:solidFill>
                                <a:srgbClr val="7030A0"/>
                              </a:solidFill>
                              <a:latin typeface="Cambria Math" panose="02040503050406030204" pitchFamily="18" charset="0"/>
                              <a:ea typeface="SimSun" panose="02010600030101010101" pitchFamily="2" charset="-122"/>
                            </a:rPr>
                          </m:ctrlPr>
                        </m:sSupPr>
                        <m:e>
                          <m:d>
                            <m:dPr>
                              <m:ctrlPr>
                                <a:rPr lang="vi-VN" altLang="en-VN" sz="1500" b="1" i="1">
                                  <a:solidFill>
                                    <a:srgbClr val="7030A0"/>
                                  </a:solidFill>
                                  <a:latin typeface="Cambria Math" panose="02040503050406030204" pitchFamily="18" charset="0"/>
                                  <a:ea typeface="SimSun" panose="02010600030101010101" pitchFamily="2" charset="-122"/>
                                </a:rPr>
                              </m:ctrlPr>
                            </m:dPr>
                            <m:e>
                              <m:r>
                                <a:rPr lang="en-US" altLang="en-VN" sz="1500" b="1" i="1">
                                  <a:solidFill>
                                    <a:srgbClr val="7030A0"/>
                                  </a:solidFill>
                                  <a:latin typeface="Cambria Math" panose="02040503050406030204" pitchFamily="18" charset="0"/>
                                  <a:ea typeface="SimSun" panose="02010600030101010101" pitchFamily="2" charset="-122"/>
                                </a:rPr>
                                <m:t>𝑱</m:t>
                              </m:r>
                            </m:e>
                            <m:e>
                              <m:r>
                                <a:rPr lang="vi-VN" altLang="en-VN" sz="1500" b="1" i="1">
                                  <a:solidFill>
                                    <a:srgbClr val="7030A0"/>
                                  </a:solidFill>
                                  <a:latin typeface="Cambria Math" panose="02040503050406030204" pitchFamily="18" charset="0"/>
                                  <a:ea typeface="SimSun" panose="02010600030101010101" pitchFamily="2" charset="-122"/>
                                </a:rPr>
                                <m:t>𝜟</m:t>
                              </m:r>
                            </m:e>
                          </m:d>
                        </m:e>
                        <m:sup>
                          <m:r>
                            <a:rPr lang="vi-VN" altLang="en-VN" sz="1500" b="1" i="1">
                              <a:solidFill>
                                <a:srgbClr val="7030A0"/>
                              </a:solidFill>
                              <a:latin typeface="Cambria Math" panose="02040503050406030204" pitchFamily="18" charset="0"/>
                              <a:ea typeface="SimSun" panose="02010600030101010101" pitchFamily="2" charset="-122"/>
                            </a:rPr>
                            <m:t>𝒕</m:t>
                          </m:r>
                        </m:sup>
                      </m:sSup>
                      <m:r>
                        <a:rPr lang="vi-VN" altLang="en-VN" sz="1500" b="1" i="1">
                          <a:solidFill>
                            <a:srgbClr val="7030A0"/>
                          </a:solidFill>
                          <a:latin typeface="Cambria Math" panose="02040503050406030204" pitchFamily="18" charset="0"/>
                          <a:ea typeface="SimSun" panose="02010600030101010101" pitchFamily="2" charset="-122"/>
                        </a:rPr>
                        <m:t>−</m:t>
                      </m:r>
                      <m:r>
                        <a:rPr lang="vi-VN" altLang="en-VN" sz="1500" b="1" i="1">
                          <a:solidFill>
                            <a:srgbClr val="7030A0"/>
                          </a:solidFill>
                          <a:latin typeface="Cambria Math" panose="02040503050406030204" pitchFamily="18" charset="0"/>
                          <a:ea typeface="SimSun" panose="02010600030101010101" pitchFamily="2" charset="-122"/>
                        </a:rPr>
                        <m:t>𝜶𝜵</m:t>
                      </m:r>
                      <m:r>
                        <a:rPr lang="vi-VN" altLang="en-VN" sz="1500" b="1" i="1">
                          <a:solidFill>
                            <a:srgbClr val="7030A0"/>
                          </a:solidFill>
                          <a:latin typeface="Cambria Math" panose="02040503050406030204" pitchFamily="18" charset="0"/>
                          <a:ea typeface="Cambria Math" panose="02040503050406030204" pitchFamily="18" charset="0"/>
                        </a:rPr>
                        <m:t>𝓛</m:t>
                      </m:r>
                    </m:oMath>
                  </m:oMathPara>
                </a14:m>
                <a:endParaRPr lang="en-US" altLang="en-VN" sz="1500" b="1" i="1" dirty="0">
                  <a:solidFill>
                    <a:srgbClr val="7030A0"/>
                  </a:solidFill>
                  <a:ea typeface="SimSun" panose="02010600030101010101" pitchFamily="2" charset="-122"/>
                </a:endParaRPr>
              </a:p>
            </p:txBody>
          </p:sp>
        </mc:Choice>
        <mc:Fallback xmlns="">
          <p:sp>
            <p:nvSpPr>
              <p:cNvPr id="20" name="TextBox 19">
                <a:extLst>
                  <a:ext uri="{FF2B5EF4-FFF2-40B4-BE49-F238E27FC236}">
                    <a16:creationId xmlns:a16="http://schemas.microsoft.com/office/drawing/2014/main" id="{D72E8FE9-3F23-655B-D69A-3B67453F740A}"/>
                  </a:ext>
                </a:extLst>
              </p:cNvPr>
              <p:cNvSpPr txBox="1">
                <a:spLocks noRot="1" noChangeAspect="1" noMove="1" noResize="1" noEditPoints="1" noAdjustHandles="1" noChangeArrowheads="1" noChangeShapeType="1" noTextEdit="1"/>
              </p:cNvSpPr>
              <p:nvPr/>
            </p:nvSpPr>
            <p:spPr>
              <a:xfrm>
                <a:off x="2478079" y="2543309"/>
                <a:ext cx="3183110" cy="328423"/>
              </a:xfrm>
              <a:prstGeom prst="rect">
                <a:avLst/>
              </a:prstGeom>
              <a:blipFill>
                <a:blip r:embed="rId11"/>
                <a:stretch>
                  <a:fillRect b="-7407"/>
                </a:stretch>
              </a:blipFill>
            </p:spPr>
            <p:txBody>
              <a:bodyPr/>
              <a:lstStyle/>
              <a:p>
                <a:r>
                  <a:rPr lang="vi-VN">
                    <a:noFill/>
                  </a:rPr>
                  <a:t> </a:t>
                </a:r>
              </a:p>
            </p:txBody>
          </p:sp>
        </mc:Fallback>
      </mc:AlternateContent>
      <p:cxnSp>
        <p:nvCxnSpPr>
          <p:cNvPr id="21" name="Straight Arrow Connector 20">
            <a:extLst>
              <a:ext uri="{FF2B5EF4-FFF2-40B4-BE49-F238E27FC236}">
                <a16:creationId xmlns:a16="http://schemas.microsoft.com/office/drawing/2014/main" id="{969F09CC-CDC3-70FF-D752-9668641E1A46}"/>
              </a:ext>
            </a:extLst>
          </p:cNvPr>
          <p:cNvCxnSpPr>
            <a:cxnSpLocks/>
            <a:stCxn id="17" idx="0"/>
            <a:endCxn id="20" idx="2"/>
          </p:cNvCxnSpPr>
          <p:nvPr/>
        </p:nvCxnSpPr>
        <p:spPr>
          <a:xfrm flipV="1">
            <a:off x="4069634" y="2871732"/>
            <a:ext cx="0" cy="7299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03F7FB4-C158-BCEF-AB02-39BBA687B69F}"/>
                  </a:ext>
                </a:extLst>
              </p:cNvPr>
              <p:cNvSpPr txBox="1"/>
              <p:nvPr/>
            </p:nvSpPr>
            <p:spPr>
              <a:xfrm>
                <a:off x="4178533" y="2918918"/>
                <a:ext cx="2100376" cy="553998"/>
              </a:xfrm>
              <a:prstGeom prst="rect">
                <a:avLst/>
              </a:prstGeom>
              <a:noFill/>
            </p:spPr>
            <p:txBody>
              <a:bodyPr wrap="square" rtlCol="0">
                <a:spAutoFit/>
              </a:bodyPr>
              <a:lstStyle/>
              <a:p>
                <a:r>
                  <a:rPr lang="en-VN" sz="1500" dirty="0"/>
                  <a:t>Update new </a:t>
                </a:r>
                <a14:m>
                  <m:oMath xmlns:m="http://schemas.openxmlformats.org/officeDocument/2006/math">
                    <m:r>
                      <a:rPr lang="en-VN" sz="1500" i="1">
                        <a:latin typeface="Cambria Math" panose="02040503050406030204" pitchFamily="18" charset="0"/>
                      </a:rPr>
                      <m:t>{</m:t>
                    </m:r>
                    <m:r>
                      <a:rPr lang="en-VN" sz="1500" i="1">
                        <a:latin typeface="Cambria Math" panose="02040503050406030204" pitchFamily="18" charset="0"/>
                      </a:rPr>
                      <m:t>𝐽</m:t>
                    </m:r>
                    <m:r>
                      <a:rPr lang="vi-VN" sz="1500" i="1">
                        <a:latin typeface="Cambria Math" panose="02040503050406030204" pitchFamily="18" charset="0"/>
                      </a:rPr>
                      <m:t>,</m:t>
                    </m:r>
                    <m:r>
                      <a:rPr lang="vi-VN" sz="1500" i="1">
                        <a:latin typeface="Cambria Math" panose="02040503050406030204" pitchFamily="18" charset="0"/>
                      </a:rPr>
                      <m:t>𝛥</m:t>
                    </m:r>
                    <m:r>
                      <a:rPr lang="en-VN" sz="1500" i="1">
                        <a:latin typeface="Cambria Math" panose="02040503050406030204" pitchFamily="18" charset="0"/>
                      </a:rPr>
                      <m:t>}</m:t>
                    </m:r>
                  </m:oMath>
                </a14:m>
                <a:r>
                  <a:rPr lang="en-VN" sz="1500" dirty="0"/>
                  <a:t> by classical optimizer </a:t>
                </a:r>
              </a:p>
            </p:txBody>
          </p:sp>
        </mc:Choice>
        <mc:Fallback xmlns="">
          <p:sp>
            <p:nvSpPr>
              <p:cNvPr id="22" name="TextBox 21">
                <a:extLst>
                  <a:ext uri="{FF2B5EF4-FFF2-40B4-BE49-F238E27FC236}">
                    <a16:creationId xmlns:a16="http://schemas.microsoft.com/office/drawing/2014/main" id="{803F7FB4-C158-BCEF-AB02-39BBA687B69F}"/>
                  </a:ext>
                </a:extLst>
              </p:cNvPr>
              <p:cNvSpPr txBox="1">
                <a:spLocks noRot="1" noChangeAspect="1" noMove="1" noResize="1" noEditPoints="1" noAdjustHandles="1" noChangeArrowheads="1" noChangeShapeType="1" noTextEdit="1"/>
              </p:cNvSpPr>
              <p:nvPr/>
            </p:nvSpPr>
            <p:spPr>
              <a:xfrm>
                <a:off x="4178533" y="2918918"/>
                <a:ext cx="2100376" cy="553998"/>
              </a:xfrm>
              <a:prstGeom prst="rect">
                <a:avLst/>
              </a:prstGeom>
              <a:blipFill>
                <a:blip r:embed="rId12"/>
                <a:stretch>
                  <a:fillRect l="-1159" t="-2198" b="-10989"/>
                </a:stretch>
              </a:blipFill>
            </p:spPr>
            <p:txBody>
              <a:bodyPr/>
              <a:lstStyle/>
              <a:p>
                <a:r>
                  <a:rPr lang="vi-VN">
                    <a:noFill/>
                  </a:rPr>
                  <a:t> </a:t>
                </a:r>
              </a:p>
            </p:txBody>
          </p:sp>
        </mc:Fallback>
      </mc:AlternateContent>
      <p:cxnSp>
        <p:nvCxnSpPr>
          <p:cNvPr id="23" name="Straight Arrow Connector 22">
            <a:extLst>
              <a:ext uri="{FF2B5EF4-FFF2-40B4-BE49-F238E27FC236}">
                <a16:creationId xmlns:a16="http://schemas.microsoft.com/office/drawing/2014/main" id="{E7283B79-7AD5-FBB6-C2A2-769F3B56CC37}"/>
              </a:ext>
            </a:extLst>
          </p:cNvPr>
          <p:cNvCxnSpPr>
            <a:cxnSpLocks/>
            <a:stCxn id="14" idx="3"/>
            <a:endCxn id="16" idx="1"/>
          </p:cNvCxnSpPr>
          <p:nvPr/>
        </p:nvCxnSpPr>
        <p:spPr>
          <a:xfrm>
            <a:off x="2239436" y="4610894"/>
            <a:ext cx="70401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8">
            <a:extLst>
              <a:ext uri="{FF2B5EF4-FFF2-40B4-BE49-F238E27FC236}">
                <a16:creationId xmlns:a16="http://schemas.microsoft.com/office/drawing/2014/main" id="{8A8813FA-06AC-7054-DD59-221282D09B21}"/>
              </a:ext>
            </a:extLst>
          </p:cNvPr>
          <p:cNvCxnSpPr>
            <a:cxnSpLocks/>
            <a:stCxn id="20" idx="0"/>
            <a:endCxn id="47" idx="3"/>
          </p:cNvCxnSpPr>
          <p:nvPr/>
        </p:nvCxnSpPr>
        <p:spPr>
          <a:xfrm rot="5400000" flipH="1" flipV="1">
            <a:off x="3688382" y="1770499"/>
            <a:ext cx="1154062" cy="391558"/>
          </a:xfrm>
          <a:prstGeom prst="bentConnector4">
            <a:avLst>
              <a:gd name="adj1" fmla="val 45017"/>
              <a:gd name="adj2" fmla="val 15838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B1CD6CC6-1570-65F2-0DD5-681B7B7E20F1}"/>
              </a:ext>
            </a:extLst>
          </p:cNvPr>
          <p:cNvSpPr/>
          <p:nvPr/>
        </p:nvSpPr>
        <p:spPr>
          <a:xfrm>
            <a:off x="6088435" y="647883"/>
            <a:ext cx="2850246" cy="85637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500">
              <a:solidFill>
                <a:srgbClr val="FF0000"/>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EA263BA-5B52-7136-0DDA-7A45D2FD7E47}"/>
                  </a:ext>
                </a:extLst>
              </p:cNvPr>
              <p:cNvSpPr txBox="1"/>
              <p:nvPr/>
            </p:nvSpPr>
            <p:spPr>
              <a:xfrm>
                <a:off x="6088435" y="917485"/>
                <a:ext cx="2539001" cy="553998"/>
              </a:xfrm>
              <a:prstGeom prst="rect">
                <a:avLst/>
              </a:prstGeom>
              <a:noFill/>
            </p:spPr>
            <p:txBody>
              <a:bodyPr wrap="square" rtlCol="0">
                <a:spAutoFit/>
              </a:bodyPr>
              <a:lstStyle/>
              <a:p>
                <a14:m>
                  <m:oMath xmlns:m="http://schemas.openxmlformats.org/officeDocument/2006/math">
                    <m:r>
                      <a:rPr lang="en-US" altLang="en-VN" sz="1500" i="1">
                        <a:latin typeface="Cambria Math" panose="02040503050406030204" pitchFamily="18" charset="0"/>
                        <a:ea typeface="Calibri" panose="020F0502020204030204" pitchFamily="34" charset="0"/>
                        <a:cs typeface="Calibri" panose="020F0502020204030204" pitchFamily="34" charset="0"/>
                      </a:rPr>
                      <m:t>𝑡</m:t>
                    </m:r>
                  </m:oMath>
                </a14:m>
                <a:r>
                  <a:rPr lang="en-US" altLang="en-VN" sz="1500" dirty="0">
                    <a:ea typeface="SimSun" panose="02010600030101010101" pitchFamily="2" charset="-122"/>
                  </a:rPr>
                  <a:t>: charging time</a:t>
                </a:r>
              </a:p>
              <a:p>
                <a14:m>
                  <m:oMath xmlns:m="http://schemas.openxmlformats.org/officeDocument/2006/math">
                    <m:d>
                      <m:dPr>
                        <m:begChr m:val="|"/>
                        <m:endChr m:val="⟩"/>
                        <m:ctrlPr>
                          <a:rPr lang="en-US" altLang="en-VN" sz="1500" i="1">
                            <a:latin typeface="Cambria Math" panose="02040503050406030204" pitchFamily="18" charset="0"/>
                            <a:ea typeface="Calibri" panose="020F0502020204030204" pitchFamily="34" charset="0"/>
                            <a:cs typeface="Calibri" panose="020F0502020204030204" pitchFamily="34" charset="0"/>
                          </a:rPr>
                        </m:ctrlPr>
                      </m:dPr>
                      <m:e>
                        <m:r>
                          <a:rPr lang="en-US" altLang="en-VN" sz="1500" i="1">
                            <a:latin typeface="Cambria Math" panose="02040503050406030204" pitchFamily="18" charset="0"/>
                            <a:ea typeface="Calibri" panose="020F0502020204030204" pitchFamily="34" charset="0"/>
                            <a:cs typeface="Calibri" panose="020F0502020204030204" pitchFamily="34" charset="0"/>
                          </a:rPr>
                          <m:t>𝜓</m:t>
                        </m:r>
                        <m:d>
                          <m:dPr>
                            <m:ctrlPr>
                              <a:rPr lang="en-US" altLang="en-VN" sz="1500" i="1">
                                <a:latin typeface="Cambria Math" panose="02040503050406030204" pitchFamily="18" charset="0"/>
                                <a:ea typeface="Calibri" panose="020F0502020204030204" pitchFamily="34" charset="0"/>
                                <a:cs typeface="Calibri" panose="020F0502020204030204" pitchFamily="34" charset="0"/>
                              </a:rPr>
                            </m:ctrlPr>
                          </m:dPr>
                          <m:e>
                            <m:r>
                              <a:rPr lang="en-US" altLang="en-VN" sz="1500" i="1">
                                <a:latin typeface="Cambria Math" panose="02040503050406030204" pitchFamily="18" charset="0"/>
                                <a:ea typeface="Tahoma" panose="020B0604030504040204" pitchFamily="34" charset="0"/>
                                <a:cs typeface="Tahoma" panose="020B0604030504040204" pitchFamily="34" charset="0"/>
                              </a:rPr>
                              <m:t>0</m:t>
                            </m:r>
                          </m:e>
                        </m:d>
                      </m:e>
                    </m:d>
                    <m:r>
                      <a:rPr lang="vi-VN" altLang="en-VN" sz="1500" i="1">
                        <a:latin typeface="Cambria Math" panose="02040503050406030204" pitchFamily="18" charset="0"/>
                        <a:ea typeface="Cambria" panose="02040503050406030204" pitchFamily="18" charset="0"/>
                        <a:cs typeface="Cambria Math" panose="02040503050406030204" pitchFamily="18" charset="0"/>
                      </a:rPr>
                      <m:t>:</m:t>
                    </m:r>
                  </m:oMath>
                </a14:m>
                <a:r>
                  <a:rPr lang="en-US" altLang="en-VN" sz="1500" dirty="0">
                    <a:ea typeface="SimSun" panose="02010600030101010101" pitchFamily="2" charset="-122"/>
                  </a:rPr>
                  <a:t> initial ground state</a:t>
                </a:r>
                <a:endParaRPr lang="en-VN" sz="1500" dirty="0"/>
              </a:p>
            </p:txBody>
          </p:sp>
        </mc:Choice>
        <mc:Fallback xmlns="">
          <p:sp>
            <p:nvSpPr>
              <p:cNvPr id="26" name="TextBox 25">
                <a:extLst>
                  <a:ext uri="{FF2B5EF4-FFF2-40B4-BE49-F238E27FC236}">
                    <a16:creationId xmlns:a16="http://schemas.microsoft.com/office/drawing/2014/main" id="{FEA263BA-5B52-7136-0DDA-7A45D2FD7E47}"/>
                  </a:ext>
                </a:extLst>
              </p:cNvPr>
              <p:cNvSpPr txBox="1">
                <a:spLocks noRot="1" noChangeAspect="1" noMove="1" noResize="1" noEditPoints="1" noAdjustHandles="1" noChangeArrowheads="1" noChangeShapeType="1" noTextEdit="1"/>
              </p:cNvSpPr>
              <p:nvPr/>
            </p:nvSpPr>
            <p:spPr>
              <a:xfrm>
                <a:off x="6088435" y="917485"/>
                <a:ext cx="2539001" cy="553998"/>
              </a:xfrm>
              <a:prstGeom prst="rect">
                <a:avLst/>
              </a:prstGeom>
              <a:blipFill>
                <a:blip r:embed="rId13"/>
                <a:stretch>
                  <a:fillRect t="-3333" b="-12222"/>
                </a:stretch>
              </a:blipFill>
            </p:spPr>
            <p:txBody>
              <a:bodyPr/>
              <a:lstStyle/>
              <a:p>
                <a:r>
                  <a:rPr lang="vi-VN">
                    <a:noFill/>
                  </a:rPr>
                  <a:t> </a:t>
                </a:r>
              </a:p>
            </p:txBody>
          </p:sp>
        </mc:Fallback>
      </mc:AlternateContent>
      <p:sp>
        <p:nvSpPr>
          <p:cNvPr id="27" name="TextBox 26">
            <a:extLst>
              <a:ext uri="{FF2B5EF4-FFF2-40B4-BE49-F238E27FC236}">
                <a16:creationId xmlns:a16="http://schemas.microsoft.com/office/drawing/2014/main" id="{1F2E0DB1-9A1A-ADE8-4C5B-66E785B84108}"/>
              </a:ext>
            </a:extLst>
          </p:cNvPr>
          <p:cNvSpPr txBox="1"/>
          <p:nvPr/>
        </p:nvSpPr>
        <p:spPr>
          <a:xfrm>
            <a:off x="8011786" y="661130"/>
            <a:ext cx="926896" cy="323165"/>
          </a:xfrm>
          <a:prstGeom prst="rect">
            <a:avLst/>
          </a:prstGeom>
          <a:noFill/>
        </p:spPr>
        <p:txBody>
          <a:bodyPr wrap="square" rtlCol="0">
            <a:spAutoFit/>
          </a:bodyPr>
          <a:lstStyle/>
          <a:p>
            <a:r>
              <a:rPr lang="en-VN" sz="1500"/>
              <a:t>Quantum</a:t>
            </a:r>
          </a:p>
        </p:txBody>
      </p:sp>
      <p:sp>
        <p:nvSpPr>
          <p:cNvPr id="28" name="Rectangle 27">
            <a:extLst>
              <a:ext uri="{FF2B5EF4-FFF2-40B4-BE49-F238E27FC236}">
                <a16:creationId xmlns:a16="http://schemas.microsoft.com/office/drawing/2014/main" id="{0C65F60F-A5C0-E52B-D0D0-17BBD835AB5E}"/>
              </a:ext>
            </a:extLst>
          </p:cNvPr>
          <p:cNvSpPr/>
          <p:nvPr/>
        </p:nvSpPr>
        <p:spPr>
          <a:xfrm>
            <a:off x="7531944" y="724941"/>
            <a:ext cx="475635" cy="189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500">
              <a:solidFill>
                <a:srgbClr val="FF0000"/>
              </a:solidFill>
            </a:endParaRPr>
          </a:p>
        </p:txBody>
      </p:sp>
      <p:sp>
        <p:nvSpPr>
          <p:cNvPr id="29" name="TextBox 28">
            <a:extLst>
              <a:ext uri="{FF2B5EF4-FFF2-40B4-BE49-F238E27FC236}">
                <a16:creationId xmlns:a16="http://schemas.microsoft.com/office/drawing/2014/main" id="{BDD3D433-C169-E9BD-CEEF-19B77EC0ABF7}"/>
              </a:ext>
            </a:extLst>
          </p:cNvPr>
          <p:cNvSpPr txBox="1"/>
          <p:nvPr/>
        </p:nvSpPr>
        <p:spPr>
          <a:xfrm>
            <a:off x="6704088" y="674697"/>
            <a:ext cx="926897" cy="323165"/>
          </a:xfrm>
          <a:prstGeom prst="rect">
            <a:avLst/>
          </a:prstGeom>
          <a:noFill/>
        </p:spPr>
        <p:txBody>
          <a:bodyPr wrap="square" rtlCol="0">
            <a:spAutoFit/>
          </a:bodyPr>
          <a:lstStyle/>
          <a:p>
            <a:r>
              <a:rPr lang="en-US" sz="1500" dirty="0">
                <a:solidFill>
                  <a:srgbClr val="7030A0"/>
                </a:solidFill>
              </a:rPr>
              <a:t>C</a:t>
            </a:r>
            <a:r>
              <a:rPr lang="en-VN" sz="1500" dirty="0">
                <a:solidFill>
                  <a:srgbClr val="7030A0"/>
                </a:solidFill>
              </a:rPr>
              <a:t>lassical</a:t>
            </a:r>
          </a:p>
        </p:txBody>
      </p:sp>
      <p:sp>
        <p:nvSpPr>
          <p:cNvPr id="30" name="Rectangle 29">
            <a:extLst>
              <a:ext uri="{FF2B5EF4-FFF2-40B4-BE49-F238E27FC236}">
                <a16:creationId xmlns:a16="http://schemas.microsoft.com/office/drawing/2014/main" id="{FF9D6458-EBED-D1AC-3AE2-D8B0CBA46090}"/>
              </a:ext>
            </a:extLst>
          </p:cNvPr>
          <p:cNvSpPr/>
          <p:nvPr/>
        </p:nvSpPr>
        <p:spPr>
          <a:xfrm>
            <a:off x="6198849" y="730110"/>
            <a:ext cx="475635" cy="1890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VN" sz="1500">
              <a:solidFill>
                <a:srgbClr val="7030A0"/>
              </a:solidFill>
            </a:endParaRPr>
          </a:p>
        </p:txBody>
      </p:sp>
      <p:sp>
        <p:nvSpPr>
          <p:cNvPr id="78" name="TextBox 77">
            <a:extLst>
              <a:ext uri="{FF2B5EF4-FFF2-40B4-BE49-F238E27FC236}">
                <a16:creationId xmlns:a16="http://schemas.microsoft.com/office/drawing/2014/main" id="{70B3A076-8934-1D41-AEE9-43A83F02284A}"/>
              </a:ext>
            </a:extLst>
          </p:cNvPr>
          <p:cNvSpPr txBox="1"/>
          <p:nvPr/>
        </p:nvSpPr>
        <p:spPr>
          <a:xfrm>
            <a:off x="3582517" y="1461683"/>
            <a:ext cx="547428" cy="300082"/>
          </a:xfrm>
          <a:prstGeom prst="rect">
            <a:avLst/>
          </a:prstGeom>
          <a:noFill/>
        </p:spPr>
        <p:txBody>
          <a:bodyPr wrap="square" rtlCol="0">
            <a:spAutoFit/>
          </a:bodyPr>
          <a:lstStyle/>
          <a:p>
            <a:r>
              <a:rPr lang="en-US" sz="1350" dirty="0"/>
              <a:t>(5.2)</a:t>
            </a:r>
          </a:p>
        </p:txBody>
      </p:sp>
      <p:sp>
        <p:nvSpPr>
          <p:cNvPr id="44" name="Title 1">
            <a:extLst>
              <a:ext uri="{FF2B5EF4-FFF2-40B4-BE49-F238E27FC236}">
                <a16:creationId xmlns:a16="http://schemas.microsoft.com/office/drawing/2014/main" id="{53C9F735-9A8D-CE10-B988-2508B84C3129}"/>
              </a:ext>
            </a:extLst>
          </p:cNvPr>
          <p:cNvSpPr>
            <a:spLocks noGrp="1"/>
          </p:cNvSpPr>
          <p:nvPr>
            <p:ph type="title"/>
          </p:nvPr>
        </p:nvSpPr>
        <p:spPr>
          <a:xfrm>
            <a:off x="205319" y="9884"/>
            <a:ext cx="5772343" cy="997906"/>
          </a:xfrm>
        </p:spPr>
        <p:txBody>
          <a:bodyPr>
            <a:normAutofit/>
          </a:bodyPr>
          <a:lstStyle/>
          <a:p>
            <a:r>
              <a:rPr lang="en-US" sz="2800"/>
              <a:t>3.4</a:t>
            </a:r>
            <a:r>
              <a:rPr lang="en-US" sz="2700"/>
              <a:t>. Quantum deep learning</a:t>
            </a:r>
            <a:br>
              <a:rPr lang="en-US"/>
            </a:br>
            <a:r>
              <a:rPr lang="vi-VN" sz="2000" b="0" i="0">
                <a:solidFill>
                  <a:srgbClr val="000000"/>
                </a:solidFill>
                <a:effectLst/>
                <a:latin typeface="__Quicksand_e7ab6f"/>
              </a:rPr>
              <a:t>Variational classifier</a:t>
            </a:r>
            <a:r>
              <a:rPr lang="en-US" sz="2000" b="0" i="0">
                <a:solidFill>
                  <a:srgbClr val="000000"/>
                </a:solidFill>
                <a:effectLst/>
                <a:latin typeface="__Quicksand_e7ab6f"/>
              </a:rPr>
              <a:t> for quantum battery optimization</a:t>
            </a:r>
            <a:endParaRPr lang="en-US" sz="2000" dirty="0"/>
          </a:p>
        </p:txBody>
      </p:sp>
      <p:sp>
        <p:nvSpPr>
          <p:cNvPr id="47" name="Rectangle 46">
            <a:extLst>
              <a:ext uri="{FF2B5EF4-FFF2-40B4-BE49-F238E27FC236}">
                <a16:creationId xmlns:a16="http://schemas.microsoft.com/office/drawing/2014/main" id="{E9463250-91FB-380B-A3A1-601C66A62255}"/>
              </a:ext>
            </a:extLst>
          </p:cNvPr>
          <p:cNvSpPr/>
          <p:nvPr/>
        </p:nvSpPr>
        <p:spPr>
          <a:xfrm>
            <a:off x="4334054" y="1274232"/>
            <a:ext cx="127138" cy="2300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49" name="Content Placeholder 4" descr="A group of graphs with different colors&#10;&#10;Description automatically generated">
            <a:extLst>
              <a:ext uri="{FF2B5EF4-FFF2-40B4-BE49-F238E27FC236}">
                <a16:creationId xmlns:a16="http://schemas.microsoft.com/office/drawing/2014/main" id="{55054F6E-612F-81D0-F22C-6904325AFE0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bwMode="auto">
          <a:xfrm>
            <a:off x="5918809" y="1905588"/>
            <a:ext cx="3054069" cy="2278432"/>
          </a:xfrm>
          <a:prstGeom prst="rect">
            <a:avLst/>
          </a:prstGeom>
          <a:noFill/>
          <a:ln w="9525">
            <a:noFill/>
            <a:miter lim="800000"/>
            <a:headEnd/>
            <a:tailEnd/>
          </a:ln>
          <a:effectLst/>
        </p:spPr>
      </p:pic>
      <p:sp>
        <p:nvSpPr>
          <p:cNvPr id="50" name="TextBox 49">
            <a:extLst>
              <a:ext uri="{FF2B5EF4-FFF2-40B4-BE49-F238E27FC236}">
                <a16:creationId xmlns:a16="http://schemas.microsoft.com/office/drawing/2014/main" id="{1611FFD0-736E-CD44-CF0F-C244934056DF}"/>
              </a:ext>
            </a:extLst>
          </p:cNvPr>
          <p:cNvSpPr txBox="1"/>
          <p:nvPr/>
        </p:nvSpPr>
        <p:spPr>
          <a:xfrm>
            <a:off x="5918809" y="4210286"/>
            <a:ext cx="3054069" cy="923330"/>
          </a:xfrm>
          <a:prstGeom prst="rect">
            <a:avLst/>
          </a:prstGeom>
          <a:noFill/>
        </p:spPr>
        <p:txBody>
          <a:bodyPr wrap="square">
            <a:spAutoFit/>
          </a:bodyPr>
          <a:lstStyle/>
          <a:p>
            <a:r>
              <a:rPr lang="en-VN" sz="1350"/>
              <a:t>(</a:t>
            </a:r>
            <a:r>
              <a:rPr lang="en-VN" sz="1350" dirty="0"/>
              <a:t>a) Plot </a:t>
            </a:r>
            <a:r>
              <a:rPr lang="en-VN" sz="1350"/>
              <a:t>of </a:t>
            </a:r>
            <a:r>
              <a:rPr lang="en-US" sz="1350"/>
              <a:t>cost</a:t>
            </a:r>
            <a:r>
              <a:rPr lang="en-VN" sz="1350"/>
              <a:t> </a:t>
            </a:r>
            <a:r>
              <a:rPr lang="en-US" sz="1350"/>
              <a:t>value</a:t>
            </a:r>
            <a:endParaRPr lang="en-US" sz="1350" dirty="0"/>
          </a:p>
          <a:p>
            <a:r>
              <a:rPr lang="en-VN" sz="1350" dirty="0"/>
              <a:t>(b) Plot of power versus the iteration. </a:t>
            </a:r>
            <a:endParaRPr lang="en-US" sz="1350" dirty="0"/>
          </a:p>
          <a:p>
            <a:r>
              <a:rPr lang="en-VN" sz="1350" dirty="0"/>
              <a:t>(c) Energy as a function of time. </a:t>
            </a:r>
            <a:endParaRPr lang="en-US" sz="1350" dirty="0"/>
          </a:p>
          <a:p>
            <a:r>
              <a:rPr lang="en-VN" sz="1350" dirty="0"/>
              <a:t>(d) Power as a function of time.</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4AF90AC-99E0-A960-AD84-629EA7829876}"/>
                  </a:ext>
                </a:extLst>
              </p:cNvPr>
              <p:cNvSpPr txBox="1"/>
              <p:nvPr/>
            </p:nvSpPr>
            <p:spPr>
              <a:xfrm>
                <a:off x="5721501" y="1513388"/>
                <a:ext cx="3251378" cy="365934"/>
              </a:xfrm>
              <a:prstGeom prst="rect">
                <a:avLst/>
              </a:prstGeom>
              <a:noFill/>
            </p:spPr>
            <p:txBody>
              <a:bodyPr wrap="square">
                <a:spAutoFit/>
              </a:bodyPr>
              <a:lstStyle/>
              <a:p>
                <a14:m>
                  <m:oMath xmlns:m="http://schemas.openxmlformats.org/officeDocument/2006/math">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𝐻</m:t>
                        </m:r>
                      </m:e>
                      <m:sub>
                        <m:r>
                          <m:rPr>
                            <m:sty m:val="p"/>
                          </m:rPr>
                          <a:rPr lang="en-VN" sz="1500">
                            <a:latin typeface="Cambria Math" panose="02040503050406030204" pitchFamily="18" charset="0"/>
                          </a:rPr>
                          <m:t>charge</m:t>
                        </m:r>
                      </m:sub>
                    </m:sSub>
                    <m:r>
                      <a:rPr lang="en-VN" sz="1500">
                        <a:latin typeface="Cambria Math" panose="02040503050406030204" pitchFamily="18" charset="0"/>
                      </a:rPr>
                      <m:t>=</m:t>
                    </m:r>
                    <m:nary>
                      <m:naryPr>
                        <m:chr m:val="∑"/>
                        <m:limLoc m:val="undOvr"/>
                        <m:ctrlPr>
                          <a:rPr lang="en-VN" sz="1500" i="1">
                            <a:latin typeface="Cambria Math" panose="02040503050406030204" pitchFamily="18" charset="0"/>
                          </a:rPr>
                        </m:ctrlPr>
                      </m:naryPr>
                      <m:sub>
                        <m:r>
                          <a:rPr lang="en-VN" sz="1500" i="1">
                            <a:latin typeface="Cambria Math" panose="02040503050406030204" pitchFamily="18" charset="0"/>
                          </a:rPr>
                          <m:t>𝑗</m:t>
                        </m:r>
                        <m:r>
                          <a:rPr lang="en-VN" sz="1500">
                            <a:latin typeface="Cambria Math" panose="02040503050406030204" pitchFamily="18" charset="0"/>
                          </a:rPr>
                          <m:t>=1</m:t>
                        </m:r>
                      </m:sub>
                      <m:sup>
                        <m:r>
                          <m:rPr>
                            <m:sty m:val="p"/>
                          </m:rPr>
                          <a:rPr lang="en-US" sz="1500">
                            <a:latin typeface="Cambria Math" panose="02040503050406030204" pitchFamily="18" charset="0"/>
                          </a:rPr>
                          <m:t>n</m:t>
                        </m:r>
                        <m:r>
                          <a:rPr lang="en-VN" sz="1500">
                            <a:latin typeface="Cambria Math" panose="02040503050406030204" pitchFamily="18" charset="0"/>
                          </a:rPr>
                          <m:t>−1</m:t>
                        </m:r>
                      </m:sup>
                      <m:e>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𝐽</m:t>
                            </m:r>
                          </m:e>
                          <m:sub>
                            <m:r>
                              <a:rPr lang="en-VN" sz="1500" i="1">
                                <a:latin typeface="Cambria Math" panose="02040503050406030204" pitchFamily="18" charset="0"/>
                              </a:rPr>
                              <m:t>𝑗</m:t>
                            </m:r>
                          </m:sub>
                        </m:sSub>
                        <m:d>
                          <m:dPr>
                            <m:ctrlPr>
                              <a:rPr lang="en-VN" sz="1500" i="1">
                                <a:solidFill>
                                  <a:srgbClr val="836967"/>
                                </a:solidFill>
                                <a:latin typeface="Cambria Math" panose="02040503050406030204" pitchFamily="18" charset="0"/>
                              </a:rPr>
                            </m:ctrlPr>
                          </m:dPr>
                          <m:e>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𝑋</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𝑋</m:t>
                                </m:r>
                              </m:e>
                              <m:sub>
                                <m:r>
                                  <a:rPr lang="en-VN" sz="1500" i="1">
                                    <a:latin typeface="Cambria Math" panose="02040503050406030204" pitchFamily="18" charset="0"/>
                                  </a:rPr>
                                  <m:t>𝑗</m:t>
                                </m:r>
                                <m:r>
                                  <a:rPr lang="en-VN" sz="1500">
                                    <a:latin typeface="Cambria Math" panose="02040503050406030204" pitchFamily="18" charset="0"/>
                                  </a:rPr>
                                  <m:t>+1</m:t>
                                </m:r>
                              </m:sub>
                            </m:sSub>
                            <m:r>
                              <a:rPr lang="en-VN" sz="1500">
                                <a:latin typeface="Cambria Math" panose="02040503050406030204" pitchFamily="18" charset="0"/>
                              </a:rPr>
                              <m:t>+</m:t>
                            </m:r>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𝑌</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𝑌</m:t>
                                </m:r>
                              </m:e>
                              <m:sub>
                                <m:r>
                                  <a:rPr lang="en-VN" sz="1500" i="1">
                                    <a:latin typeface="Cambria Math" panose="02040503050406030204" pitchFamily="18" charset="0"/>
                                  </a:rPr>
                                  <m:t>𝑗</m:t>
                                </m:r>
                                <m:r>
                                  <a:rPr lang="en-VN" sz="1500">
                                    <a:latin typeface="Cambria Math" panose="02040503050406030204" pitchFamily="18" charset="0"/>
                                  </a:rPr>
                                  <m:t>+1</m:t>
                                </m:r>
                              </m:sub>
                            </m:sSub>
                          </m:e>
                        </m:d>
                      </m:e>
                    </m:nary>
                  </m:oMath>
                </a14:m>
                <a:r>
                  <a:rPr lang="en-US" sz="1500" dirty="0"/>
                  <a:t> </a:t>
                </a:r>
                <a:endParaRPr lang="en-VN" sz="1500" dirty="0"/>
              </a:p>
            </p:txBody>
          </p:sp>
        </mc:Choice>
        <mc:Fallback xmlns="">
          <p:sp>
            <p:nvSpPr>
              <p:cNvPr id="51" name="TextBox 50">
                <a:extLst>
                  <a:ext uri="{FF2B5EF4-FFF2-40B4-BE49-F238E27FC236}">
                    <a16:creationId xmlns:a16="http://schemas.microsoft.com/office/drawing/2014/main" id="{34AF90AC-99E0-A960-AD84-629EA7829876}"/>
                  </a:ext>
                </a:extLst>
              </p:cNvPr>
              <p:cNvSpPr txBox="1">
                <a:spLocks noRot="1" noChangeAspect="1" noMove="1" noResize="1" noEditPoints="1" noAdjustHandles="1" noChangeArrowheads="1" noChangeShapeType="1" noTextEdit="1"/>
              </p:cNvSpPr>
              <p:nvPr/>
            </p:nvSpPr>
            <p:spPr>
              <a:xfrm>
                <a:off x="5721501" y="1513388"/>
                <a:ext cx="3251378" cy="365934"/>
              </a:xfrm>
              <a:prstGeom prst="rect">
                <a:avLst/>
              </a:prstGeom>
              <a:blipFill>
                <a:blip r:embed="rId15"/>
                <a:stretch>
                  <a:fillRect t="-93333" b="-146667"/>
                </a:stretch>
              </a:blipFill>
            </p:spPr>
            <p:txBody>
              <a:bodyPr/>
              <a:lstStyle/>
              <a:p>
                <a:r>
                  <a:rPr lang="vi-VN">
                    <a:noFill/>
                  </a:rPr>
                  <a:t> </a:t>
                </a:r>
              </a:p>
            </p:txBody>
          </p:sp>
        </mc:Fallback>
      </mc:AlternateContent>
    </p:spTree>
    <p:extLst>
      <p:ext uri="{BB962C8B-B14F-4D97-AF65-F5344CB8AC3E}">
        <p14:creationId xmlns:p14="http://schemas.microsoft.com/office/powerpoint/2010/main" val="35385631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5623C-CBD7-DC11-7A71-61E0389A57A0}"/>
              </a:ext>
            </a:extLst>
          </p:cNvPr>
          <p:cNvSpPr>
            <a:spLocks noGrp="1"/>
          </p:cNvSpPr>
          <p:nvPr>
            <p:ph type="title"/>
          </p:nvPr>
        </p:nvSpPr>
        <p:spPr/>
        <p:txBody>
          <a:bodyPr>
            <a:normAutofit/>
          </a:bodyPr>
          <a:lstStyle/>
          <a:p>
            <a:r>
              <a:rPr lang="en-US"/>
              <a:t>3.4.1. Quantum deep learning</a:t>
            </a:r>
            <a:br>
              <a:rPr lang="en-US"/>
            </a:br>
            <a:r>
              <a:rPr lang="en-US" sz="2000"/>
              <a:t>Quanvolutional NN (QuNN)</a:t>
            </a:r>
            <a:endParaRPr lang="en-VN" sz="2000"/>
          </a:p>
        </p:txBody>
      </p:sp>
      <p:sp>
        <p:nvSpPr>
          <p:cNvPr id="4" name="Slide Number Placeholder 3">
            <a:extLst>
              <a:ext uri="{FF2B5EF4-FFF2-40B4-BE49-F238E27FC236}">
                <a16:creationId xmlns:a16="http://schemas.microsoft.com/office/drawing/2014/main" id="{4F0514A6-95CA-4E9D-3747-CDFE72B1C4D1}"/>
              </a:ext>
            </a:extLst>
          </p:cNvPr>
          <p:cNvSpPr>
            <a:spLocks noGrp="1"/>
          </p:cNvSpPr>
          <p:nvPr>
            <p:ph type="sldNum" sz="quarter" idx="12"/>
          </p:nvPr>
        </p:nvSpPr>
        <p:spPr/>
        <p:txBody>
          <a:bodyPr/>
          <a:lstStyle/>
          <a:p>
            <a:fld id="{6A45828D-F580-42DE-B77E-860980F07F32}" type="slidenum">
              <a:rPr lang="vi-VN" smtClean="0"/>
              <a:t>46</a:t>
            </a:fld>
            <a:endParaRPr lang="vi-VN"/>
          </a:p>
        </p:txBody>
      </p:sp>
      <p:pic>
        <p:nvPicPr>
          <p:cNvPr id="133" name="Picture 132" descr="A diagram of a diagram of a filter&#10;&#10;Description automatically generated with medium confidence">
            <a:extLst>
              <a:ext uri="{FF2B5EF4-FFF2-40B4-BE49-F238E27FC236}">
                <a16:creationId xmlns:a16="http://schemas.microsoft.com/office/drawing/2014/main" id="{5BC86B94-0938-48F8-819C-61048E20CD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650" y="958922"/>
            <a:ext cx="7486650" cy="3726651"/>
          </a:xfrm>
          <a:prstGeom prst="rect">
            <a:avLst/>
          </a:prstGeom>
        </p:spPr>
      </p:pic>
      <p:sp>
        <p:nvSpPr>
          <p:cNvPr id="134" name="TextBox 133">
            <a:extLst>
              <a:ext uri="{FF2B5EF4-FFF2-40B4-BE49-F238E27FC236}">
                <a16:creationId xmlns:a16="http://schemas.microsoft.com/office/drawing/2014/main" id="{2CB6E27A-E942-3720-CB2E-B43C254ADC56}"/>
              </a:ext>
            </a:extLst>
          </p:cNvPr>
          <p:cNvSpPr txBox="1"/>
          <p:nvPr/>
        </p:nvSpPr>
        <p:spPr>
          <a:xfrm>
            <a:off x="628650" y="4679138"/>
            <a:ext cx="7486650" cy="400110"/>
          </a:xfrm>
          <a:prstGeom prst="rect">
            <a:avLst/>
          </a:prstGeom>
          <a:noFill/>
        </p:spPr>
        <p:txBody>
          <a:bodyPr wrap="square">
            <a:spAutoFit/>
          </a:bodyPr>
          <a:lstStyle/>
          <a:p>
            <a:r>
              <a:rPr lang="vi-VN" sz="1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1">
                <a:solidFill>
                  <a:srgbClr val="000000"/>
                </a:solidFill>
                <a:effectLst/>
                <a:latin typeface="Calibri" panose="020F0502020204030204" pitchFamily="34" charset="0"/>
                <a:ea typeface="Calibri" panose="020F0502020204030204" pitchFamily="34" charset="0"/>
                <a:cs typeface="Calibri" panose="020F0502020204030204" pitchFamily="34" charset="0"/>
              </a:rPr>
              <a:t>3.4.2</a:t>
            </a:r>
            <a:r>
              <a:rPr lang="vi-VN" sz="1000" b="1">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000">
                <a:solidFill>
                  <a:srgbClr val="000000"/>
                </a:solidFill>
                <a:effectLst/>
                <a:latin typeface="Calibri" panose="020F0502020204030204" pitchFamily="34" charset="0"/>
                <a:ea typeface="Calibri" panose="020F0502020204030204" pitchFamily="34" charset="0"/>
                <a:cs typeface="Calibri" panose="020F0502020204030204" pitchFamily="34" charset="0"/>
              </a:rPr>
              <a:t>Y. Lecun et al, Gradient-based learning applied to document recognition, Proceedings of the IEEE 86(11) (1998) 2278–2324</a:t>
            </a:r>
          </a:p>
          <a:p>
            <a:r>
              <a:rPr lang="en-US" sz="1000" b="1"/>
              <a:t>[3.4.3] </a:t>
            </a:r>
            <a:r>
              <a:rPr lang="en-US" sz="1000"/>
              <a:t>T. Hur et al, Quantum convolutional neural network for classical data classification, Quantum Machine Intelligence 4 (Feb 2022) p. 3.</a:t>
            </a:r>
          </a:p>
        </p:txBody>
      </p:sp>
    </p:spTree>
    <p:extLst>
      <p:ext uri="{BB962C8B-B14F-4D97-AF65-F5344CB8AC3E}">
        <p14:creationId xmlns:p14="http://schemas.microsoft.com/office/powerpoint/2010/main" val="1544511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Đường nối Thẳng 121">
            <a:extLst>
              <a:ext uri="{FF2B5EF4-FFF2-40B4-BE49-F238E27FC236}">
                <a16:creationId xmlns:a16="http://schemas.microsoft.com/office/drawing/2014/main" id="{375A0477-0DB0-A150-E301-8D8D4B1AD1D9}"/>
              </a:ext>
            </a:extLst>
          </p:cNvPr>
          <p:cNvCxnSpPr>
            <a:cxnSpLocks/>
          </p:cNvCxnSpPr>
          <p:nvPr/>
        </p:nvCxnSpPr>
        <p:spPr>
          <a:xfrm>
            <a:off x="1142153" y="2860081"/>
            <a:ext cx="182353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E245623C-CBD7-DC11-7A71-61E0389A57A0}"/>
              </a:ext>
            </a:extLst>
          </p:cNvPr>
          <p:cNvSpPr>
            <a:spLocks noGrp="1"/>
          </p:cNvSpPr>
          <p:nvPr>
            <p:ph type="title"/>
          </p:nvPr>
        </p:nvSpPr>
        <p:spPr/>
        <p:txBody>
          <a:bodyPr>
            <a:normAutofit/>
          </a:bodyPr>
          <a:lstStyle/>
          <a:p>
            <a:r>
              <a:rPr lang="en-US"/>
              <a:t>3.4.2. Quantum deep learning</a:t>
            </a:r>
            <a:br>
              <a:rPr lang="en-US"/>
            </a:br>
            <a:r>
              <a:rPr lang="en-US" sz="2000"/>
              <a:t>Quantum Convolution NN (QCNN)</a:t>
            </a:r>
            <a:endParaRPr lang="en-VN" sz="2000"/>
          </a:p>
        </p:txBody>
      </p:sp>
      <p:sp>
        <p:nvSpPr>
          <p:cNvPr id="4" name="Slide Number Placeholder 3">
            <a:extLst>
              <a:ext uri="{FF2B5EF4-FFF2-40B4-BE49-F238E27FC236}">
                <a16:creationId xmlns:a16="http://schemas.microsoft.com/office/drawing/2014/main" id="{4F0514A6-95CA-4E9D-3747-CDFE72B1C4D1}"/>
              </a:ext>
            </a:extLst>
          </p:cNvPr>
          <p:cNvSpPr>
            <a:spLocks noGrp="1"/>
          </p:cNvSpPr>
          <p:nvPr>
            <p:ph type="sldNum" sz="quarter" idx="12"/>
          </p:nvPr>
        </p:nvSpPr>
        <p:spPr/>
        <p:txBody>
          <a:bodyPr/>
          <a:lstStyle/>
          <a:p>
            <a:fld id="{6A45828D-F580-42DE-B77E-860980F07F32}" type="slidenum">
              <a:rPr lang="vi-VN" smtClean="0"/>
              <a:t>47</a:t>
            </a:fld>
            <a:endParaRPr lang="vi-VN"/>
          </a:p>
        </p:txBody>
      </p:sp>
      <p:sp>
        <p:nvSpPr>
          <p:cNvPr id="134" name="TextBox 133">
            <a:extLst>
              <a:ext uri="{FF2B5EF4-FFF2-40B4-BE49-F238E27FC236}">
                <a16:creationId xmlns:a16="http://schemas.microsoft.com/office/drawing/2014/main" id="{2CB6E27A-E942-3720-CB2E-B43C254ADC56}"/>
              </a:ext>
            </a:extLst>
          </p:cNvPr>
          <p:cNvSpPr txBox="1"/>
          <p:nvPr/>
        </p:nvSpPr>
        <p:spPr>
          <a:xfrm>
            <a:off x="628650" y="4679138"/>
            <a:ext cx="7486650" cy="400110"/>
          </a:xfrm>
          <a:prstGeom prst="rect">
            <a:avLst/>
          </a:prstGeom>
          <a:noFill/>
        </p:spPr>
        <p:txBody>
          <a:bodyPr wrap="square">
            <a:spAutoFit/>
          </a:bodyPr>
          <a:lstStyle/>
          <a:p>
            <a:r>
              <a:rPr lang="en-US" sz="1000" b="1" i="0">
                <a:solidFill>
                  <a:srgbClr val="222222"/>
                </a:solidFill>
                <a:effectLst/>
              </a:rPr>
              <a:t>[</a:t>
            </a:r>
            <a:r>
              <a:rPr lang="en-US" sz="1000" b="1">
                <a:solidFill>
                  <a:srgbClr val="222222"/>
                </a:solidFill>
              </a:rPr>
              <a:t>3.4.5</a:t>
            </a:r>
            <a:r>
              <a:rPr lang="en-US" sz="1000" b="1" i="0">
                <a:solidFill>
                  <a:srgbClr val="222222"/>
                </a:solidFill>
                <a:effectLst/>
              </a:rPr>
              <a:t>]</a:t>
            </a:r>
            <a:r>
              <a:rPr lang="en-US" sz="1000" b="0" i="0">
                <a:solidFill>
                  <a:srgbClr val="222222"/>
                </a:solidFill>
                <a:effectLst/>
              </a:rPr>
              <a:t> Cong, I., Choi, S. &amp; Lukin, M.D. Quantum convolutional neural networks. Nat. Phys. 15, 1273–1278 (2019). https://doi.org/10.1038/s41567-019-0648-8</a:t>
            </a:r>
            <a:endParaRPr lang="en-US" sz="1000"/>
          </a:p>
        </p:txBody>
      </p:sp>
      <p:cxnSp>
        <p:nvCxnSpPr>
          <p:cNvPr id="8" name="Đường nối Thẳng 121">
            <a:extLst>
              <a:ext uri="{FF2B5EF4-FFF2-40B4-BE49-F238E27FC236}">
                <a16:creationId xmlns:a16="http://schemas.microsoft.com/office/drawing/2014/main" id="{C3D1C4C7-758E-C8A4-11C0-07F96CDF6FB4}"/>
              </a:ext>
            </a:extLst>
          </p:cNvPr>
          <p:cNvCxnSpPr>
            <a:cxnSpLocks/>
          </p:cNvCxnSpPr>
          <p:nvPr/>
        </p:nvCxnSpPr>
        <p:spPr>
          <a:xfrm>
            <a:off x="1098127" y="1615487"/>
            <a:ext cx="428070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Đường nối Thẳng 121">
            <a:extLst>
              <a:ext uri="{FF2B5EF4-FFF2-40B4-BE49-F238E27FC236}">
                <a16:creationId xmlns:a16="http://schemas.microsoft.com/office/drawing/2014/main" id="{5B203A3C-D247-F74E-AC9F-5A538DFEF3F2}"/>
              </a:ext>
            </a:extLst>
          </p:cNvPr>
          <p:cNvCxnSpPr>
            <a:cxnSpLocks/>
          </p:cNvCxnSpPr>
          <p:nvPr/>
        </p:nvCxnSpPr>
        <p:spPr>
          <a:xfrm flipV="1">
            <a:off x="1225533" y="1532104"/>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3" name="Đường nối Thẳng 121">
            <a:extLst>
              <a:ext uri="{FF2B5EF4-FFF2-40B4-BE49-F238E27FC236}">
                <a16:creationId xmlns:a16="http://schemas.microsoft.com/office/drawing/2014/main" id="{1BEE5764-0854-0337-115D-3F5F19C8F656}"/>
              </a:ext>
            </a:extLst>
          </p:cNvPr>
          <p:cNvCxnSpPr>
            <a:cxnSpLocks/>
          </p:cNvCxnSpPr>
          <p:nvPr/>
        </p:nvCxnSpPr>
        <p:spPr>
          <a:xfrm>
            <a:off x="1116173" y="2010785"/>
            <a:ext cx="1536434" cy="543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Đường nối Thẳng 121">
            <a:extLst>
              <a:ext uri="{FF2B5EF4-FFF2-40B4-BE49-F238E27FC236}">
                <a16:creationId xmlns:a16="http://schemas.microsoft.com/office/drawing/2014/main" id="{6A285830-656A-91D3-069B-DD553FD1B7A1}"/>
              </a:ext>
            </a:extLst>
          </p:cNvPr>
          <p:cNvCxnSpPr>
            <a:cxnSpLocks/>
          </p:cNvCxnSpPr>
          <p:nvPr/>
        </p:nvCxnSpPr>
        <p:spPr>
          <a:xfrm flipV="1">
            <a:off x="1225533" y="1941950"/>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Hình chữ nhật 40">
                <a:extLst>
                  <a:ext uri="{FF2B5EF4-FFF2-40B4-BE49-F238E27FC236}">
                    <a16:creationId xmlns:a16="http://schemas.microsoft.com/office/drawing/2014/main" id="{F54C8C57-6773-17A6-FD9F-C1D8C1FDA9EE}"/>
                  </a:ext>
                </a:extLst>
              </p:cNvPr>
              <p:cNvSpPr/>
              <p:nvPr/>
            </p:nvSpPr>
            <p:spPr>
              <a:xfrm>
                <a:off x="1961223" y="1532104"/>
                <a:ext cx="459007" cy="5622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𝑈</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7" name="Hình chữ nhật 40">
                <a:extLst>
                  <a:ext uri="{FF2B5EF4-FFF2-40B4-BE49-F238E27FC236}">
                    <a16:creationId xmlns:a16="http://schemas.microsoft.com/office/drawing/2014/main" id="{F54C8C57-6773-17A6-FD9F-C1D8C1FDA9EE}"/>
                  </a:ext>
                </a:extLst>
              </p:cNvPr>
              <p:cNvSpPr>
                <a:spLocks noRot="1" noChangeAspect="1" noMove="1" noResize="1" noEditPoints="1" noAdjustHandles="1" noChangeArrowheads="1" noChangeShapeType="1" noTextEdit="1"/>
              </p:cNvSpPr>
              <p:nvPr/>
            </p:nvSpPr>
            <p:spPr>
              <a:xfrm>
                <a:off x="1961223" y="1532104"/>
                <a:ext cx="459007" cy="562246"/>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18" name="Đường nối Thẳng 121">
            <a:extLst>
              <a:ext uri="{FF2B5EF4-FFF2-40B4-BE49-F238E27FC236}">
                <a16:creationId xmlns:a16="http://schemas.microsoft.com/office/drawing/2014/main" id="{B3955602-EA0C-B32C-D218-FB5256BBB442}"/>
              </a:ext>
            </a:extLst>
          </p:cNvPr>
          <p:cNvCxnSpPr>
            <a:cxnSpLocks/>
          </p:cNvCxnSpPr>
          <p:nvPr/>
        </p:nvCxnSpPr>
        <p:spPr>
          <a:xfrm flipV="1">
            <a:off x="1142153" y="2418846"/>
            <a:ext cx="1823534" cy="835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9" name="Đường nối Thẳng 121">
            <a:extLst>
              <a:ext uri="{FF2B5EF4-FFF2-40B4-BE49-F238E27FC236}">
                <a16:creationId xmlns:a16="http://schemas.microsoft.com/office/drawing/2014/main" id="{645FF703-7FA4-0A3D-EED9-2BB99AD1BBCA}"/>
              </a:ext>
            </a:extLst>
          </p:cNvPr>
          <p:cNvCxnSpPr>
            <a:cxnSpLocks/>
          </p:cNvCxnSpPr>
          <p:nvPr/>
        </p:nvCxnSpPr>
        <p:spPr>
          <a:xfrm flipV="1">
            <a:off x="1225533" y="2346414"/>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Hình chữ nhật 40">
                <a:extLst>
                  <a:ext uri="{FF2B5EF4-FFF2-40B4-BE49-F238E27FC236}">
                    <a16:creationId xmlns:a16="http://schemas.microsoft.com/office/drawing/2014/main" id="{296342C1-B207-1843-04DE-F8E0BA241B5E}"/>
                  </a:ext>
                </a:extLst>
              </p:cNvPr>
              <p:cNvSpPr/>
              <p:nvPr/>
            </p:nvSpPr>
            <p:spPr>
              <a:xfrm>
                <a:off x="1412583" y="1953452"/>
                <a:ext cx="459007" cy="5560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𝑈</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6" name="Hình chữ nhật 40">
                <a:extLst>
                  <a:ext uri="{FF2B5EF4-FFF2-40B4-BE49-F238E27FC236}">
                    <a16:creationId xmlns:a16="http://schemas.microsoft.com/office/drawing/2014/main" id="{296342C1-B207-1843-04DE-F8E0BA241B5E}"/>
                  </a:ext>
                </a:extLst>
              </p:cNvPr>
              <p:cNvSpPr>
                <a:spLocks noRot="1" noChangeAspect="1" noMove="1" noResize="1" noEditPoints="1" noAdjustHandles="1" noChangeArrowheads="1" noChangeShapeType="1" noTextEdit="1"/>
              </p:cNvSpPr>
              <p:nvPr/>
            </p:nvSpPr>
            <p:spPr>
              <a:xfrm>
                <a:off x="1412583" y="1953452"/>
                <a:ext cx="459007" cy="556075"/>
              </a:xfrm>
              <a:prstGeom prst="rect">
                <a:avLst/>
              </a:prstGeom>
              <a:blipFill>
                <a:blip r:embed="rId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Hình chữ nhật 40">
                <a:extLst>
                  <a:ext uri="{FF2B5EF4-FFF2-40B4-BE49-F238E27FC236}">
                    <a16:creationId xmlns:a16="http://schemas.microsoft.com/office/drawing/2014/main" id="{5BCE81B1-C3EB-2BFF-0DC0-E84DE717A21B}"/>
                  </a:ext>
                </a:extLst>
              </p:cNvPr>
              <p:cNvSpPr/>
              <p:nvPr/>
            </p:nvSpPr>
            <p:spPr>
              <a:xfrm>
                <a:off x="1961223" y="2360623"/>
                <a:ext cx="459007" cy="5965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𝑈</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23" name="Hình chữ nhật 40">
                <a:extLst>
                  <a:ext uri="{FF2B5EF4-FFF2-40B4-BE49-F238E27FC236}">
                    <a16:creationId xmlns:a16="http://schemas.microsoft.com/office/drawing/2014/main" id="{5BCE81B1-C3EB-2BFF-0DC0-E84DE717A21B}"/>
                  </a:ext>
                </a:extLst>
              </p:cNvPr>
              <p:cNvSpPr>
                <a:spLocks noRot="1" noChangeAspect="1" noMove="1" noResize="1" noEditPoints="1" noAdjustHandles="1" noChangeArrowheads="1" noChangeShapeType="1" noTextEdit="1"/>
              </p:cNvSpPr>
              <p:nvPr/>
            </p:nvSpPr>
            <p:spPr>
              <a:xfrm>
                <a:off x="1961223" y="2360623"/>
                <a:ext cx="459007" cy="596519"/>
              </a:xfrm>
              <a:prstGeom prst="rect">
                <a:avLst/>
              </a:prstGeom>
              <a:blipFill>
                <a:blip r:embed="rId5"/>
                <a:stretch>
                  <a:fillRect/>
                </a:stretch>
              </a:blipFill>
              <a:ln>
                <a:solidFill>
                  <a:schemeClr val="tx1"/>
                </a:solidFill>
              </a:ln>
            </p:spPr>
            <p:txBody>
              <a:bodyPr/>
              <a:lstStyle/>
              <a:p>
                <a:r>
                  <a:rPr lang="vi-VN">
                    <a:noFill/>
                  </a:rPr>
                  <a:t> </a:t>
                </a:r>
              </a:p>
            </p:txBody>
          </p:sp>
        </mc:Fallback>
      </mc:AlternateContent>
      <p:sp>
        <p:nvSpPr>
          <p:cNvPr id="26" name="Hình chữ nhật 93">
            <a:extLst>
              <a:ext uri="{FF2B5EF4-FFF2-40B4-BE49-F238E27FC236}">
                <a16:creationId xmlns:a16="http://schemas.microsoft.com/office/drawing/2014/main" id="{38F4FEE7-C3A1-D2E2-949E-2DCBEE110F50}"/>
              </a:ext>
            </a:extLst>
          </p:cNvPr>
          <p:cNvSpPr/>
          <p:nvPr/>
        </p:nvSpPr>
        <p:spPr>
          <a:xfrm>
            <a:off x="2659368" y="1868205"/>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27" name="Arc 26">
            <a:extLst>
              <a:ext uri="{FF2B5EF4-FFF2-40B4-BE49-F238E27FC236}">
                <a16:creationId xmlns:a16="http://schemas.microsoft.com/office/drawing/2014/main" id="{D92335B8-AF36-EE3E-C11C-E056AB1AE881}"/>
              </a:ext>
            </a:extLst>
          </p:cNvPr>
          <p:cNvSpPr/>
          <p:nvPr/>
        </p:nvSpPr>
        <p:spPr>
          <a:xfrm>
            <a:off x="2715065" y="2012805"/>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28" name="Straight Arrow Connector 27">
            <a:extLst>
              <a:ext uri="{FF2B5EF4-FFF2-40B4-BE49-F238E27FC236}">
                <a16:creationId xmlns:a16="http://schemas.microsoft.com/office/drawing/2014/main" id="{C82470F0-3217-5D4A-98D9-FA2CFBE4E257}"/>
              </a:ext>
            </a:extLst>
          </p:cNvPr>
          <p:cNvCxnSpPr>
            <a:cxnSpLocks/>
          </p:cNvCxnSpPr>
          <p:nvPr/>
        </p:nvCxnSpPr>
        <p:spPr>
          <a:xfrm flipV="1">
            <a:off x="2769281" y="1935176"/>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Hình chữ nhật 40">
                <a:extLst>
                  <a:ext uri="{FF2B5EF4-FFF2-40B4-BE49-F238E27FC236}">
                    <a16:creationId xmlns:a16="http://schemas.microsoft.com/office/drawing/2014/main" id="{356E8DCC-A28C-8C8F-9B6E-29E1676ED5BE}"/>
                  </a:ext>
                </a:extLst>
              </p:cNvPr>
              <p:cNvSpPr/>
              <p:nvPr/>
            </p:nvSpPr>
            <p:spPr>
              <a:xfrm>
                <a:off x="2568030" y="1467763"/>
                <a:ext cx="459007" cy="2715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𝑉</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29" name="Hình chữ nhật 40">
                <a:extLst>
                  <a:ext uri="{FF2B5EF4-FFF2-40B4-BE49-F238E27FC236}">
                    <a16:creationId xmlns:a16="http://schemas.microsoft.com/office/drawing/2014/main" id="{356E8DCC-A28C-8C8F-9B6E-29E1676ED5BE}"/>
                  </a:ext>
                </a:extLst>
              </p:cNvPr>
              <p:cNvSpPr>
                <a:spLocks noRot="1" noChangeAspect="1" noMove="1" noResize="1" noEditPoints="1" noAdjustHandles="1" noChangeArrowheads="1" noChangeShapeType="1" noTextEdit="1"/>
              </p:cNvSpPr>
              <p:nvPr/>
            </p:nvSpPr>
            <p:spPr>
              <a:xfrm>
                <a:off x="2568030" y="1467763"/>
                <a:ext cx="459007" cy="271540"/>
              </a:xfrm>
              <a:prstGeom prst="rect">
                <a:avLst/>
              </a:prstGeom>
              <a:blipFill>
                <a:blip r:embed="rId6"/>
                <a:stretch>
                  <a:fillRect/>
                </a:stretch>
              </a:blipFill>
              <a:ln>
                <a:solidFill>
                  <a:schemeClr val="tx1"/>
                </a:solidFill>
              </a:ln>
            </p:spPr>
            <p:txBody>
              <a:bodyPr/>
              <a:lstStyle/>
              <a:p>
                <a:r>
                  <a:rPr lang="vi-VN">
                    <a:noFill/>
                  </a:rPr>
                  <a:t> </a:t>
                </a:r>
              </a:p>
            </p:txBody>
          </p:sp>
        </mc:Fallback>
      </mc:AlternateContent>
      <p:cxnSp>
        <p:nvCxnSpPr>
          <p:cNvPr id="30" name="Đường nối Thẳng 121">
            <a:extLst>
              <a:ext uri="{FF2B5EF4-FFF2-40B4-BE49-F238E27FC236}">
                <a16:creationId xmlns:a16="http://schemas.microsoft.com/office/drawing/2014/main" id="{796AA247-4D50-4C15-96BA-CC67DDC686E7}"/>
              </a:ext>
            </a:extLst>
          </p:cNvPr>
          <p:cNvCxnSpPr>
            <a:cxnSpLocks/>
          </p:cNvCxnSpPr>
          <p:nvPr/>
        </p:nvCxnSpPr>
        <p:spPr>
          <a:xfrm flipV="1">
            <a:off x="2797533" y="1739303"/>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6" name="Đường nối Thẳng 121">
            <a:extLst>
              <a:ext uri="{FF2B5EF4-FFF2-40B4-BE49-F238E27FC236}">
                <a16:creationId xmlns:a16="http://schemas.microsoft.com/office/drawing/2014/main" id="{E821C874-6052-D24B-E104-B840EC52ECDA}"/>
              </a:ext>
            </a:extLst>
          </p:cNvPr>
          <p:cNvCxnSpPr>
            <a:cxnSpLocks/>
          </p:cNvCxnSpPr>
          <p:nvPr/>
        </p:nvCxnSpPr>
        <p:spPr>
          <a:xfrm flipV="1">
            <a:off x="2845158" y="1739303"/>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EB67210-0368-AB29-9938-958E79629C63}"/>
                  </a:ext>
                </a:extLst>
              </p:cNvPr>
              <p:cNvSpPr txBox="1"/>
              <p:nvPr/>
            </p:nvSpPr>
            <p:spPr>
              <a:xfrm rot="5400000">
                <a:off x="1443056" y="2899436"/>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37" name="TextBox 36">
                <a:extLst>
                  <a:ext uri="{FF2B5EF4-FFF2-40B4-BE49-F238E27FC236}">
                    <a16:creationId xmlns:a16="http://schemas.microsoft.com/office/drawing/2014/main" id="{0EB67210-0368-AB29-9938-958E79629C63}"/>
                  </a:ext>
                </a:extLst>
              </p:cNvPr>
              <p:cNvSpPr txBox="1">
                <a:spLocks noRot="1" noChangeAspect="1" noMove="1" noResize="1" noEditPoints="1" noAdjustHandles="1" noChangeArrowheads="1" noChangeShapeType="1" noTextEdit="1"/>
              </p:cNvSpPr>
              <p:nvPr/>
            </p:nvSpPr>
            <p:spPr>
              <a:xfrm rot="5400000">
                <a:off x="1443056" y="2899436"/>
                <a:ext cx="521583" cy="369332"/>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Hình chữ nhật 40">
                <a:extLst>
                  <a:ext uri="{FF2B5EF4-FFF2-40B4-BE49-F238E27FC236}">
                    <a16:creationId xmlns:a16="http://schemas.microsoft.com/office/drawing/2014/main" id="{0A3B16D5-4B69-0FB9-1A92-7CAB7AE75D73}"/>
                  </a:ext>
                </a:extLst>
              </p:cNvPr>
              <p:cNvSpPr/>
              <p:nvPr/>
            </p:nvSpPr>
            <p:spPr>
              <a:xfrm>
                <a:off x="3431858" y="1462404"/>
                <a:ext cx="459007" cy="62623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𝑈</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Hình chữ nhật 40">
                <a:extLst>
                  <a:ext uri="{FF2B5EF4-FFF2-40B4-BE49-F238E27FC236}">
                    <a16:creationId xmlns:a16="http://schemas.microsoft.com/office/drawing/2014/main" id="{0A3B16D5-4B69-0FB9-1A92-7CAB7AE75D73}"/>
                  </a:ext>
                </a:extLst>
              </p:cNvPr>
              <p:cNvSpPr>
                <a:spLocks noRot="1" noChangeAspect="1" noMove="1" noResize="1" noEditPoints="1" noAdjustHandles="1" noChangeArrowheads="1" noChangeShapeType="1" noTextEdit="1"/>
              </p:cNvSpPr>
              <p:nvPr/>
            </p:nvSpPr>
            <p:spPr>
              <a:xfrm>
                <a:off x="3431858" y="1462404"/>
                <a:ext cx="459007" cy="626237"/>
              </a:xfrm>
              <a:prstGeom prst="rect">
                <a:avLst/>
              </a:prstGeom>
              <a:blipFill>
                <a:blip r:embed="rId8"/>
                <a:stretch>
                  <a:fillRect/>
                </a:stretch>
              </a:blipFill>
              <a:ln>
                <a:solidFill>
                  <a:schemeClr val="tx1"/>
                </a:solidFill>
              </a:ln>
            </p:spPr>
            <p:txBody>
              <a:bodyPr/>
              <a:lstStyle/>
              <a:p>
                <a:r>
                  <a:rPr lang="vi-VN">
                    <a:noFill/>
                  </a:rPr>
                  <a:t> </a:t>
                </a:r>
              </a:p>
            </p:txBody>
          </p:sp>
        </mc:Fallback>
      </mc:AlternateContent>
      <p:cxnSp>
        <p:nvCxnSpPr>
          <p:cNvPr id="41" name="Đường nối Thẳng 121">
            <a:extLst>
              <a:ext uri="{FF2B5EF4-FFF2-40B4-BE49-F238E27FC236}">
                <a16:creationId xmlns:a16="http://schemas.microsoft.com/office/drawing/2014/main" id="{15C49660-CC9D-34A7-D618-3AD5252A5B00}"/>
              </a:ext>
            </a:extLst>
          </p:cNvPr>
          <p:cNvCxnSpPr>
            <a:cxnSpLocks/>
          </p:cNvCxnSpPr>
          <p:nvPr/>
        </p:nvCxnSpPr>
        <p:spPr>
          <a:xfrm flipV="1">
            <a:off x="1225533" y="2787649"/>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2" name="Hình chữ nhật 93">
            <a:extLst>
              <a:ext uri="{FF2B5EF4-FFF2-40B4-BE49-F238E27FC236}">
                <a16:creationId xmlns:a16="http://schemas.microsoft.com/office/drawing/2014/main" id="{BD9AFABE-6E55-7C07-6869-D80A8C01E35A}"/>
              </a:ext>
            </a:extLst>
          </p:cNvPr>
          <p:cNvSpPr/>
          <p:nvPr/>
        </p:nvSpPr>
        <p:spPr>
          <a:xfrm>
            <a:off x="2659368" y="268632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43" name="Arc 42">
            <a:extLst>
              <a:ext uri="{FF2B5EF4-FFF2-40B4-BE49-F238E27FC236}">
                <a16:creationId xmlns:a16="http://schemas.microsoft.com/office/drawing/2014/main" id="{5732B4A8-D78B-25A4-B226-94B5B707E328}"/>
              </a:ext>
            </a:extLst>
          </p:cNvPr>
          <p:cNvSpPr/>
          <p:nvPr/>
        </p:nvSpPr>
        <p:spPr>
          <a:xfrm>
            <a:off x="2715065" y="283092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44" name="Straight Arrow Connector 43">
            <a:extLst>
              <a:ext uri="{FF2B5EF4-FFF2-40B4-BE49-F238E27FC236}">
                <a16:creationId xmlns:a16="http://schemas.microsoft.com/office/drawing/2014/main" id="{603AB747-7B5F-D673-42CE-0A2724E56FB2}"/>
              </a:ext>
            </a:extLst>
          </p:cNvPr>
          <p:cNvCxnSpPr>
            <a:cxnSpLocks/>
          </p:cNvCxnSpPr>
          <p:nvPr/>
        </p:nvCxnSpPr>
        <p:spPr>
          <a:xfrm flipV="1">
            <a:off x="2769281" y="275329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Hình chữ nhật 40">
                <a:extLst>
                  <a:ext uri="{FF2B5EF4-FFF2-40B4-BE49-F238E27FC236}">
                    <a16:creationId xmlns:a16="http://schemas.microsoft.com/office/drawing/2014/main" id="{F06AAF0F-B4DB-039D-2929-166EC3F309DE}"/>
                  </a:ext>
                </a:extLst>
              </p:cNvPr>
              <p:cNvSpPr/>
              <p:nvPr/>
            </p:nvSpPr>
            <p:spPr>
              <a:xfrm>
                <a:off x="2568030" y="2285880"/>
                <a:ext cx="459007" cy="2715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𝑉</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45" name="Hình chữ nhật 40">
                <a:extLst>
                  <a:ext uri="{FF2B5EF4-FFF2-40B4-BE49-F238E27FC236}">
                    <a16:creationId xmlns:a16="http://schemas.microsoft.com/office/drawing/2014/main" id="{F06AAF0F-B4DB-039D-2929-166EC3F309DE}"/>
                  </a:ext>
                </a:extLst>
              </p:cNvPr>
              <p:cNvSpPr>
                <a:spLocks noRot="1" noChangeAspect="1" noMove="1" noResize="1" noEditPoints="1" noAdjustHandles="1" noChangeArrowheads="1" noChangeShapeType="1" noTextEdit="1"/>
              </p:cNvSpPr>
              <p:nvPr/>
            </p:nvSpPr>
            <p:spPr>
              <a:xfrm>
                <a:off x="2568030" y="2285880"/>
                <a:ext cx="459007" cy="271540"/>
              </a:xfrm>
              <a:prstGeom prst="rect">
                <a:avLst/>
              </a:prstGeom>
              <a:blipFill>
                <a:blip r:embed="rId9"/>
                <a:stretch>
                  <a:fillRect/>
                </a:stretch>
              </a:blipFill>
              <a:ln>
                <a:solidFill>
                  <a:schemeClr val="tx1"/>
                </a:solidFill>
              </a:ln>
            </p:spPr>
            <p:txBody>
              <a:bodyPr/>
              <a:lstStyle/>
              <a:p>
                <a:r>
                  <a:rPr lang="vi-VN">
                    <a:noFill/>
                  </a:rPr>
                  <a:t> </a:t>
                </a:r>
              </a:p>
            </p:txBody>
          </p:sp>
        </mc:Fallback>
      </mc:AlternateContent>
      <p:cxnSp>
        <p:nvCxnSpPr>
          <p:cNvPr id="46" name="Đường nối Thẳng 121">
            <a:extLst>
              <a:ext uri="{FF2B5EF4-FFF2-40B4-BE49-F238E27FC236}">
                <a16:creationId xmlns:a16="http://schemas.microsoft.com/office/drawing/2014/main" id="{A6E28092-4386-985B-6CF7-C86D0C0CC7D2}"/>
              </a:ext>
            </a:extLst>
          </p:cNvPr>
          <p:cNvCxnSpPr>
            <a:cxnSpLocks/>
          </p:cNvCxnSpPr>
          <p:nvPr/>
        </p:nvCxnSpPr>
        <p:spPr>
          <a:xfrm flipV="1">
            <a:off x="2797533" y="2557420"/>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7" name="Đường nối Thẳng 121">
            <a:extLst>
              <a:ext uri="{FF2B5EF4-FFF2-40B4-BE49-F238E27FC236}">
                <a16:creationId xmlns:a16="http://schemas.microsoft.com/office/drawing/2014/main" id="{8A36F32E-022B-3D8E-B059-893216064810}"/>
              </a:ext>
            </a:extLst>
          </p:cNvPr>
          <p:cNvCxnSpPr>
            <a:cxnSpLocks/>
          </p:cNvCxnSpPr>
          <p:nvPr/>
        </p:nvCxnSpPr>
        <p:spPr>
          <a:xfrm flipV="1">
            <a:off x="2845158" y="2557420"/>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9" name="Connector: Elbow 48">
            <a:extLst>
              <a:ext uri="{FF2B5EF4-FFF2-40B4-BE49-F238E27FC236}">
                <a16:creationId xmlns:a16="http://schemas.microsoft.com/office/drawing/2014/main" id="{940E5214-BB4B-FDEB-18D6-7AB156A9F0D7}"/>
              </a:ext>
            </a:extLst>
          </p:cNvPr>
          <p:cNvCxnSpPr>
            <a:cxnSpLocks/>
            <a:stCxn id="45" idx="3"/>
            <a:endCxn id="50" idx="1"/>
          </p:cNvCxnSpPr>
          <p:nvPr/>
        </p:nvCxnSpPr>
        <p:spPr>
          <a:xfrm flipV="1">
            <a:off x="3027037" y="2011909"/>
            <a:ext cx="402722" cy="409741"/>
          </a:xfrm>
          <a:prstGeom prst="bentConnector3">
            <a:avLst/>
          </a:prstGeom>
          <a:ln w="28575"/>
        </p:spPr>
        <p:style>
          <a:lnRef idx="1">
            <a:schemeClr val="dk1"/>
          </a:lnRef>
          <a:fillRef idx="0">
            <a:schemeClr val="dk1"/>
          </a:fillRef>
          <a:effectRef idx="0">
            <a:schemeClr val="dk1"/>
          </a:effectRef>
          <a:fontRef idx="minor">
            <a:schemeClr val="tx1"/>
          </a:fontRef>
        </p:style>
      </p:cxnSp>
      <p:sp>
        <p:nvSpPr>
          <p:cNvPr id="50" name="Hình chữ nhật 40">
            <a:extLst>
              <a:ext uri="{FF2B5EF4-FFF2-40B4-BE49-F238E27FC236}">
                <a16:creationId xmlns:a16="http://schemas.microsoft.com/office/drawing/2014/main" id="{768D510E-8E4D-1F48-B22E-9AE472CB8C30}"/>
              </a:ext>
            </a:extLst>
          </p:cNvPr>
          <p:cNvSpPr/>
          <p:nvPr/>
        </p:nvSpPr>
        <p:spPr>
          <a:xfrm>
            <a:off x="3429759" y="1907819"/>
            <a:ext cx="170252" cy="2081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400" i="1">
              <a:solidFill>
                <a:schemeClr val="tx1"/>
              </a:solidFill>
              <a:latin typeface="Times New Roman" panose="02020603050405020304" pitchFamily="18" charset="0"/>
              <a:cs typeface="Times New Roman" panose="02020603050405020304" pitchFamily="18" charset="0"/>
            </a:endParaRPr>
          </a:p>
        </p:txBody>
      </p:sp>
      <p:cxnSp>
        <p:nvCxnSpPr>
          <p:cNvPr id="52" name="Đường nối Thẳng 121">
            <a:extLst>
              <a:ext uri="{FF2B5EF4-FFF2-40B4-BE49-F238E27FC236}">
                <a16:creationId xmlns:a16="http://schemas.microsoft.com/office/drawing/2014/main" id="{34244688-7E8F-27B7-834A-F704300F9CBA}"/>
              </a:ext>
            </a:extLst>
          </p:cNvPr>
          <p:cNvCxnSpPr>
            <a:cxnSpLocks/>
            <a:endCxn id="55" idx="1"/>
          </p:cNvCxnSpPr>
          <p:nvPr/>
        </p:nvCxnSpPr>
        <p:spPr>
          <a:xfrm>
            <a:off x="3888766" y="2013501"/>
            <a:ext cx="832249" cy="279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4" name="Hình chữ nhật 40">
                <a:extLst>
                  <a:ext uri="{FF2B5EF4-FFF2-40B4-BE49-F238E27FC236}">
                    <a16:creationId xmlns:a16="http://schemas.microsoft.com/office/drawing/2014/main" id="{2FEE742E-3BCC-406E-0DAE-375D3C7D8490}"/>
                  </a:ext>
                </a:extLst>
              </p:cNvPr>
              <p:cNvSpPr/>
              <p:nvPr/>
            </p:nvSpPr>
            <p:spPr>
              <a:xfrm>
                <a:off x="4056258" y="1935176"/>
                <a:ext cx="459007" cy="3540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𝑈</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54" name="Hình chữ nhật 40">
                <a:extLst>
                  <a:ext uri="{FF2B5EF4-FFF2-40B4-BE49-F238E27FC236}">
                    <a16:creationId xmlns:a16="http://schemas.microsoft.com/office/drawing/2014/main" id="{2FEE742E-3BCC-406E-0DAE-375D3C7D8490}"/>
                  </a:ext>
                </a:extLst>
              </p:cNvPr>
              <p:cNvSpPr>
                <a:spLocks noRot="1" noChangeAspect="1" noMove="1" noResize="1" noEditPoints="1" noAdjustHandles="1" noChangeArrowheads="1" noChangeShapeType="1" noTextEdit="1"/>
              </p:cNvSpPr>
              <p:nvPr/>
            </p:nvSpPr>
            <p:spPr>
              <a:xfrm>
                <a:off x="4056258" y="1935176"/>
                <a:ext cx="459007" cy="354011"/>
              </a:xfrm>
              <a:prstGeom prst="rect">
                <a:avLst/>
              </a:prstGeom>
              <a:blipFill>
                <a:blip r:embed="rId10"/>
                <a:stretch>
                  <a:fillRect/>
                </a:stretch>
              </a:blipFill>
              <a:ln>
                <a:solidFill>
                  <a:schemeClr val="tx1"/>
                </a:solidFill>
              </a:ln>
            </p:spPr>
            <p:txBody>
              <a:bodyPr/>
              <a:lstStyle/>
              <a:p>
                <a:r>
                  <a:rPr lang="vi-VN">
                    <a:noFill/>
                  </a:rPr>
                  <a:t> </a:t>
                </a:r>
              </a:p>
            </p:txBody>
          </p:sp>
        </mc:Fallback>
      </mc:AlternateContent>
      <p:sp>
        <p:nvSpPr>
          <p:cNvPr id="55" name="Hình chữ nhật 93">
            <a:extLst>
              <a:ext uri="{FF2B5EF4-FFF2-40B4-BE49-F238E27FC236}">
                <a16:creationId xmlns:a16="http://schemas.microsoft.com/office/drawing/2014/main" id="{289DF0A7-1A7F-6267-74D3-EA7130D575B1}"/>
              </a:ext>
            </a:extLst>
          </p:cNvPr>
          <p:cNvSpPr/>
          <p:nvPr/>
        </p:nvSpPr>
        <p:spPr>
          <a:xfrm>
            <a:off x="4721015" y="1862824"/>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56" name="Arc 55">
            <a:extLst>
              <a:ext uri="{FF2B5EF4-FFF2-40B4-BE49-F238E27FC236}">
                <a16:creationId xmlns:a16="http://schemas.microsoft.com/office/drawing/2014/main" id="{2D00F4E9-ED46-FD80-5C63-3301B52787D2}"/>
              </a:ext>
            </a:extLst>
          </p:cNvPr>
          <p:cNvSpPr/>
          <p:nvPr/>
        </p:nvSpPr>
        <p:spPr>
          <a:xfrm>
            <a:off x="4776712" y="2007424"/>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57" name="Straight Arrow Connector 56">
            <a:extLst>
              <a:ext uri="{FF2B5EF4-FFF2-40B4-BE49-F238E27FC236}">
                <a16:creationId xmlns:a16="http://schemas.microsoft.com/office/drawing/2014/main" id="{6EB2E91E-8F37-FAAE-0075-38480DE24E4F}"/>
              </a:ext>
            </a:extLst>
          </p:cNvPr>
          <p:cNvCxnSpPr>
            <a:cxnSpLocks/>
          </p:cNvCxnSpPr>
          <p:nvPr/>
        </p:nvCxnSpPr>
        <p:spPr>
          <a:xfrm flipV="1">
            <a:off x="4830928" y="1929795"/>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8" name="Hình chữ nhật 40">
                <a:extLst>
                  <a:ext uri="{FF2B5EF4-FFF2-40B4-BE49-F238E27FC236}">
                    <a16:creationId xmlns:a16="http://schemas.microsoft.com/office/drawing/2014/main" id="{3EE528B7-C42D-43B0-8F29-39FFED91946B}"/>
                  </a:ext>
                </a:extLst>
              </p:cNvPr>
              <p:cNvSpPr/>
              <p:nvPr/>
            </p:nvSpPr>
            <p:spPr>
              <a:xfrm>
                <a:off x="4629677" y="1452443"/>
                <a:ext cx="459007" cy="2715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𝑉</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58" name="Hình chữ nhật 40">
                <a:extLst>
                  <a:ext uri="{FF2B5EF4-FFF2-40B4-BE49-F238E27FC236}">
                    <a16:creationId xmlns:a16="http://schemas.microsoft.com/office/drawing/2014/main" id="{3EE528B7-C42D-43B0-8F29-39FFED91946B}"/>
                  </a:ext>
                </a:extLst>
              </p:cNvPr>
              <p:cNvSpPr>
                <a:spLocks noRot="1" noChangeAspect="1" noMove="1" noResize="1" noEditPoints="1" noAdjustHandles="1" noChangeArrowheads="1" noChangeShapeType="1" noTextEdit="1"/>
              </p:cNvSpPr>
              <p:nvPr/>
            </p:nvSpPr>
            <p:spPr>
              <a:xfrm>
                <a:off x="4629677" y="1452443"/>
                <a:ext cx="459007" cy="271540"/>
              </a:xfrm>
              <a:prstGeom prst="rect">
                <a:avLst/>
              </a:prstGeom>
              <a:blipFill>
                <a:blip r:embed="rId9"/>
                <a:stretch>
                  <a:fillRect/>
                </a:stretch>
              </a:blipFill>
              <a:ln>
                <a:solidFill>
                  <a:schemeClr val="tx1"/>
                </a:solidFill>
              </a:ln>
            </p:spPr>
            <p:txBody>
              <a:bodyPr/>
              <a:lstStyle/>
              <a:p>
                <a:r>
                  <a:rPr lang="vi-VN">
                    <a:noFill/>
                  </a:rPr>
                  <a:t> </a:t>
                </a:r>
              </a:p>
            </p:txBody>
          </p:sp>
        </mc:Fallback>
      </mc:AlternateContent>
      <p:cxnSp>
        <p:nvCxnSpPr>
          <p:cNvPr id="59" name="Đường nối Thẳng 121">
            <a:extLst>
              <a:ext uri="{FF2B5EF4-FFF2-40B4-BE49-F238E27FC236}">
                <a16:creationId xmlns:a16="http://schemas.microsoft.com/office/drawing/2014/main" id="{32111A35-6236-6A17-8D15-4E2AAC672BCE}"/>
              </a:ext>
            </a:extLst>
          </p:cNvPr>
          <p:cNvCxnSpPr>
            <a:cxnSpLocks/>
          </p:cNvCxnSpPr>
          <p:nvPr/>
        </p:nvCxnSpPr>
        <p:spPr>
          <a:xfrm flipV="1">
            <a:off x="4859180" y="1723983"/>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0" name="Đường nối Thẳng 121">
            <a:extLst>
              <a:ext uri="{FF2B5EF4-FFF2-40B4-BE49-F238E27FC236}">
                <a16:creationId xmlns:a16="http://schemas.microsoft.com/office/drawing/2014/main" id="{59BCDB74-D2DD-CF16-439D-F596AADC653D}"/>
              </a:ext>
            </a:extLst>
          </p:cNvPr>
          <p:cNvCxnSpPr>
            <a:cxnSpLocks/>
          </p:cNvCxnSpPr>
          <p:nvPr/>
        </p:nvCxnSpPr>
        <p:spPr>
          <a:xfrm flipV="1">
            <a:off x="4906805" y="1723983"/>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87AB4E6-68F6-285C-76F1-AC9BC19E92AC}"/>
                  </a:ext>
                </a:extLst>
              </p:cNvPr>
              <p:cNvSpPr txBox="1"/>
              <p:nvPr/>
            </p:nvSpPr>
            <p:spPr>
              <a:xfrm rot="5400000">
                <a:off x="4097371" y="2258912"/>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61" name="TextBox 60">
                <a:extLst>
                  <a:ext uri="{FF2B5EF4-FFF2-40B4-BE49-F238E27FC236}">
                    <a16:creationId xmlns:a16="http://schemas.microsoft.com/office/drawing/2014/main" id="{487AB4E6-68F6-285C-76F1-AC9BC19E92AC}"/>
                  </a:ext>
                </a:extLst>
              </p:cNvPr>
              <p:cNvSpPr txBox="1">
                <a:spLocks noRot="1" noChangeAspect="1" noMove="1" noResize="1" noEditPoints="1" noAdjustHandles="1" noChangeArrowheads="1" noChangeShapeType="1" noTextEdit="1"/>
              </p:cNvSpPr>
              <p:nvPr/>
            </p:nvSpPr>
            <p:spPr>
              <a:xfrm rot="5400000">
                <a:off x="4097371" y="2258912"/>
                <a:ext cx="521583" cy="369332"/>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6" name="Hình chữ nhật 40">
                <a:extLst>
                  <a:ext uri="{FF2B5EF4-FFF2-40B4-BE49-F238E27FC236}">
                    <a16:creationId xmlns:a16="http://schemas.microsoft.com/office/drawing/2014/main" id="{6ED06677-255C-3C8B-AE1E-223CB075D21C}"/>
                  </a:ext>
                </a:extLst>
              </p:cNvPr>
              <p:cNvSpPr/>
              <p:nvPr/>
            </p:nvSpPr>
            <p:spPr>
              <a:xfrm>
                <a:off x="5378833" y="1447085"/>
                <a:ext cx="459007" cy="8376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𝐹</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36" name="Hình chữ nhật 40">
                <a:extLst>
                  <a:ext uri="{FF2B5EF4-FFF2-40B4-BE49-F238E27FC236}">
                    <a16:creationId xmlns:a16="http://schemas.microsoft.com/office/drawing/2014/main" id="{6ED06677-255C-3C8B-AE1E-223CB075D21C}"/>
                  </a:ext>
                </a:extLst>
              </p:cNvPr>
              <p:cNvSpPr>
                <a:spLocks noRot="1" noChangeAspect="1" noMove="1" noResize="1" noEditPoints="1" noAdjustHandles="1" noChangeArrowheads="1" noChangeShapeType="1" noTextEdit="1"/>
              </p:cNvSpPr>
              <p:nvPr/>
            </p:nvSpPr>
            <p:spPr>
              <a:xfrm>
                <a:off x="5378833" y="1447085"/>
                <a:ext cx="459007" cy="837698"/>
              </a:xfrm>
              <a:prstGeom prst="rect">
                <a:avLst/>
              </a:prstGeom>
              <a:blipFill>
                <a:blip r:embed="rId12"/>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46592854-2A99-8D57-52FE-DC9FCE5AE860}"/>
                  </a:ext>
                </a:extLst>
              </p:cNvPr>
              <p:cNvSpPr txBox="1"/>
              <p:nvPr/>
            </p:nvSpPr>
            <p:spPr>
              <a:xfrm rot="5400000">
                <a:off x="5398700" y="2239482"/>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137" name="TextBox 136">
                <a:extLst>
                  <a:ext uri="{FF2B5EF4-FFF2-40B4-BE49-F238E27FC236}">
                    <a16:creationId xmlns:a16="http://schemas.microsoft.com/office/drawing/2014/main" id="{46592854-2A99-8D57-52FE-DC9FCE5AE860}"/>
                  </a:ext>
                </a:extLst>
              </p:cNvPr>
              <p:cNvSpPr txBox="1">
                <a:spLocks noRot="1" noChangeAspect="1" noMove="1" noResize="1" noEditPoints="1" noAdjustHandles="1" noChangeArrowheads="1" noChangeShapeType="1" noTextEdit="1"/>
              </p:cNvSpPr>
              <p:nvPr/>
            </p:nvSpPr>
            <p:spPr>
              <a:xfrm rot="5400000">
                <a:off x="5398700" y="2239482"/>
                <a:ext cx="521583" cy="369332"/>
              </a:xfrm>
              <a:prstGeom prst="rect">
                <a:avLst/>
              </a:prstGeom>
              <a:blipFill>
                <a:blip r:embed="rId13"/>
                <a:stretch>
                  <a:fillRect/>
                </a:stretch>
              </a:blipFill>
            </p:spPr>
            <p:txBody>
              <a:bodyPr/>
              <a:lstStyle/>
              <a:p>
                <a:r>
                  <a:rPr lang="vi-VN">
                    <a:noFill/>
                  </a:rPr>
                  <a:t> </a:t>
                </a:r>
              </a:p>
            </p:txBody>
          </p:sp>
        </mc:Fallback>
      </mc:AlternateContent>
      <p:cxnSp>
        <p:nvCxnSpPr>
          <p:cNvPr id="143" name="Connector: Elbow 142">
            <a:extLst>
              <a:ext uri="{FF2B5EF4-FFF2-40B4-BE49-F238E27FC236}">
                <a16:creationId xmlns:a16="http://schemas.microsoft.com/office/drawing/2014/main" id="{CDC52959-7369-20AF-E191-FEFC2885EEA2}"/>
              </a:ext>
            </a:extLst>
          </p:cNvPr>
          <p:cNvCxnSpPr>
            <a:cxnSpLocks/>
          </p:cNvCxnSpPr>
          <p:nvPr/>
        </p:nvCxnSpPr>
        <p:spPr>
          <a:xfrm flipV="1">
            <a:off x="4889963" y="2004819"/>
            <a:ext cx="490023" cy="438759"/>
          </a:xfrm>
          <a:prstGeom prst="bentConnector3">
            <a:avLst>
              <a:gd name="adj1" fmla="val 50000"/>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44A0DE75-00D6-A63B-BB64-6B5292B971F1}"/>
                  </a:ext>
                </a:extLst>
              </p:cNvPr>
              <p:cNvSpPr txBox="1"/>
              <p:nvPr/>
            </p:nvSpPr>
            <p:spPr>
              <a:xfrm>
                <a:off x="602697" y="2019056"/>
                <a:ext cx="57889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𝑖𝑛</m:t>
                          </m:r>
                        </m:sub>
                      </m:sSub>
                    </m:oMath>
                  </m:oMathPara>
                </a14:m>
                <a:endParaRPr lang="vi-VN"/>
              </a:p>
            </p:txBody>
          </p:sp>
        </mc:Choice>
        <mc:Fallback xmlns="">
          <p:sp>
            <p:nvSpPr>
              <p:cNvPr id="144" name="TextBox 143">
                <a:extLst>
                  <a:ext uri="{FF2B5EF4-FFF2-40B4-BE49-F238E27FC236}">
                    <a16:creationId xmlns:a16="http://schemas.microsoft.com/office/drawing/2014/main" id="{44A0DE75-00D6-A63B-BB64-6B5292B971F1}"/>
                  </a:ext>
                </a:extLst>
              </p:cNvPr>
              <p:cNvSpPr txBox="1">
                <a:spLocks noRot="1" noChangeAspect="1" noMove="1" noResize="1" noEditPoints="1" noAdjustHandles="1" noChangeArrowheads="1" noChangeShapeType="1" noTextEdit="1"/>
              </p:cNvSpPr>
              <p:nvPr/>
            </p:nvSpPr>
            <p:spPr>
              <a:xfrm>
                <a:off x="602697" y="2019056"/>
                <a:ext cx="578893" cy="276999"/>
              </a:xfrm>
              <a:prstGeom prst="rect">
                <a:avLst/>
              </a:prstGeom>
              <a:blipFill>
                <a:blip r:embed="rId14"/>
                <a:stretch>
                  <a:fillRect b="-26087"/>
                </a:stretch>
              </a:blipFill>
            </p:spPr>
            <p:txBody>
              <a:bodyPr/>
              <a:lstStyle/>
              <a:p>
                <a:r>
                  <a:rPr lang="vi-VN">
                    <a:noFill/>
                  </a:rPr>
                  <a:t> </a:t>
                </a:r>
              </a:p>
            </p:txBody>
          </p:sp>
        </mc:Fallback>
      </mc:AlternateContent>
      <p:cxnSp>
        <p:nvCxnSpPr>
          <p:cNvPr id="146" name="Straight Connector 145">
            <a:extLst>
              <a:ext uri="{FF2B5EF4-FFF2-40B4-BE49-F238E27FC236}">
                <a16:creationId xmlns:a16="http://schemas.microsoft.com/office/drawing/2014/main" id="{3EF55449-C729-5F84-29B6-04C25546016E}"/>
              </a:ext>
            </a:extLst>
          </p:cNvPr>
          <p:cNvCxnSpPr>
            <a:cxnSpLocks/>
          </p:cNvCxnSpPr>
          <p:nvPr/>
        </p:nvCxnSpPr>
        <p:spPr>
          <a:xfrm>
            <a:off x="2497667" y="1346200"/>
            <a:ext cx="0" cy="2431573"/>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47" name="TextBox 146">
            <a:extLst>
              <a:ext uri="{FF2B5EF4-FFF2-40B4-BE49-F238E27FC236}">
                <a16:creationId xmlns:a16="http://schemas.microsoft.com/office/drawing/2014/main" id="{03F685AE-F355-7406-7337-0D2B0DF6951F}"/>
              </a:ext>
            </a:extLst>
          </p:cNvPr>
          <p:cNvSpPr txBox="1"/>
          <p:nvPr/>
        </p:nvSpPr>
        <p:spPr>
          <a:xfrm>
            <a:off x="1117573" y="3325284"/>
            <a:ext cx="1253247" cy="492443"/>
          </a:xfrm>
          <a:prstGeom prst="rect">
            <a:avLst/>
          </a:prstGeom>
          <a:noFill/>
        </p:spPr>
        <p:txBody>
          <a:bodyPr wrap="square" lIns="0" tIns="0" rIns="0" bIns="0" rtlCol="0">
            <a:spAutoFit/>
          </a:bodyPr>
          <a:lstStyle/>
          <a:p>
            <a:r>
              <a:rPr lang="en-US" sz="1600"/>
              <a:t>Quantum convolutional</a:t>
            </a:r>
            <a:endParaRPr lang="vi-VN" sz="1600"/>
          </a:p>
        </p:txBody>
      </p:sp>
      <p:cxnSp>
        <p:nvCxnSpPr>
          <p:cNvPr id="149" name="Straight Connector 148">
            <a:extLst>
              <a:ext uri="{FF2B5EF4-FFF2-40B4-BE49-F238E27FC236}">
                <a16:creationId xmlns:a16="http://schemas.microsoft.com/office/drawing/2014/main" id="{ABE9EEA0-CEE9-68BB-6B86-BDC43D7746FF}"/>
              </a:ext>
            </a:extLst>
          </p:cNvPr>
          <p:cNvCxnSpPr>
            <a:cxnSpLocks/>
          </p:cNvCxnSpPr>
          <p:nvPr/>
        </p:nvCxnSpPr>
        <p:spPr>
          <a:xfrm>
            <a:off x="3296654" y="1341633"/>
            <a:ext cx="0" cy="2431573"/>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50" name="TextBox 149">
            <a:extLst>
              <a:ext uri="{FF2B5EF4-FFF2-40B4-BE49-F238E27FC236}">
                <a16:creationId xmlns:a16="http://schemas.microsoft.com/office/drawing/2014/main" id="{BC82C20E-21DE-7359-8219-1A7B03307E10}"/>
              </a:ext>
            </a:extLst>
          </p:cNvPr>
          <p:cNvSpPr txBox="1"/>
          <p:nvPr/>
        </p:nvSpPr>
        <p:spPr>
          <a:xfrm>
            <a:off x="2497667" y="3328567"/>
            <a:ext cx="798988" cy="246221"/>
          </a:xfrm>
          <a:prstGeom prst="rect">
            <a:avLst/>
          </a:prstGeom>
          <a:noFill/>
        </p:spPr>
        <p:txBody>
          <a:bodyPr wrap="square" lIns="0" tIns="0" rIns="0" bIns="0" rtlCol="0">
            <a:spAutoFit/>
          </a:bodyPr>
          <a:lstStyle/>
          <a:p>
            <a:pPr algn="ctr"/>
            <a:r>
              <a:rPr lang="en-US" sz="1600"/>
              <a:t>Pooling</a:t>
            </a:r>
            <a:endParaRPr lang="vi-VN" sz="1600"/>
          </a:p>
        </p:txBody>
      </p:sp>
      <p:cxnSp>
        <p:nvCxnSpPr>
          <p:cNvPr id="152" name="Straight Connector 151">
            <a:extLst>
              <a:ext uri="{FF2B5EF4-FFF2-40B4-BE49-F238E27FC236}">
                <a16:creationId xmlns:a16="http://schemas.microsoft.com/office/drawing/2014/main" id="{03A3E575-DB3D-220E-8FE5-EC1801073DB9}"/>
              </a:ext>
            </a:extLst>
          </p:cNvPr>
          <p:cNvCxnSpPr>
            <a:cxnSpLocks/>
          </p:cNvCxnSpPr>
          <p:nvPr/>
        </p:nvCxnSpPr>
        <p:spPr>
          <a:xfrm>
            <a:off x="4577765" y="1343908"/>
            <a:ext cx="0" cy="2431573"/>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53" name="Straight Connector 152">
            <a:extLst>
              <a:ext uri="{FF2B5EF4-FFF2-40B4-BE49-F238E27FC236}">
                <a16:creationId xmlns:a16="http://schemas.microsoft.com/office/drawing/2014/main" id="{3673AD6D-BA93-681B-1CF8-0B4A491F11E4}"/>
              </a:ext>
            </a:extLst>
          </p:cNvPr>
          <p:cNvCxnSpPr>
            <a:cxnSpLocks/>
          </p:cNvCxnSpPr>
          <p:nvPr/>
        </p:nvCxnSpPr>
        <p:spPr>
          <a:xfrm>
            <a:off x="5306311" y="1335749"/>
            <a:ext cx="0" cy="2431573"/>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56" name="TextBox 155">
            <a:extLst>
              <a:ext uri="{FF2B5EF4-FFF2-40B4-BE49-F238E27FC236}">
                <a16:creationId xmlns:a16="http://schemas.microsoft.com/office/drawing/2014/main" id="{710C2D2E-FCF6-1619-0BA6-5354F681E738}"/>
              </a:ext>
            </a:extLst>
          </p:cNvPr>
          <p:cNvSpPr txBox="1"/>
          <p:nvPr/>
        </p:nvSpPr>
        <p:spPr>
          <a:xfrm>
            <a:off x="3376430" y="3319819"/>
            <a:ext cx="1253247" cy="492443"/>
          </a:xfrm>
          <a:prstGeom prst="rect">
            <a:avLst/>
          </a:prstGeom>
          <a:noFill/>
        </p:spPr>
        <p:txBody>
          <a:bodyPr wrap="square" lIns="0" tIns="0" rIns="0" bIns="0" rtlCol="0">
            <a:spAutoFit/>
          </a:bodyPr>
          <a:lstStyle/>
          <a:p>
            <a:r>
              <a:rPr lang="en-US" sz="1600"/>
              <a:t>Quantum convolutional</a:t>
            </a:r>
            <a:endParaRPr lang="vi-VN" sz="1600"/>
          </a:p>
        </p:txBody>
      </p:sp>
      <p:sp>
        <p:nvSpPr>
          <p:cNvPr id="157" name="TextBox 156">
            <a:extLst>
              <a:ext uri="{FF2B5EF4-FFF2-40B4-BE49-F238E27FC236}">
                <a16:creationId xmlns:a16="http://schemas.microsoft.com/office/drawing/2014/main" id="{5A78E7CC-68C9-7189-ABC9-83A3714DAD19}"/>
              </a:ext>
            </a:extLst>
          </p:cNvPr>
          <p:cNvSpPr txBox="1"/>
          <p:nvPr/>
        </p:nvSpPr>
        <p:spPr>
          <a:xfrm>
            <a:off x="4538970" y="3327134"/>
            <a:ext cx="798988" cy="246221"/>
          </a:xfrm>
          <a:prstGeom prst="rect">
            <a:avLst/>
          </a:prstGeom>
          <a:noFill/>
        </p:spPr>
        <p:txBody>
          <a:bodyPr wrap="square" lIns="0" tIns="0" rIns="0" bIns="0" rtlCol="0">
            <a:spAutoFit/>
          </a:bodyPr>
          <a:lstStyle/>
          <a:p>
            <a:pPr algn="ctr"/>
            <a:r>
              <a:rPr lang="en-US" sz="1600"/>
              <a:t>Pooling</a:t>
            </a:r>
            <a:endParaRPr lang="vi-VN" sz="1600"/>
          </a:p>
        </p:txBody>
      </p:sp>
      <p:sp>
        <p:nvSpPr>
          <p:cNvPr id="162" name="TextBox 161">
            <a:extLst>
              <a:ext uri="{FF2B5EF4-FFF2-40B4-BE49-F238E27FC236}">
                <a16:creationId xmlns:a16="http://schemas.microsoft.com/office/drawing/2014/main" id="{B6B3867B-5052-0D7D-7769-E65DD8011989}"/>
              </a:ext>
            </a:extLst>
          </p:cNvPr>
          <p:cNvSpPr txBox="1"/>
          <p:nvPr/>
        </p:nvSpPr>
        <p:spPr>
          <a:xfrm>
            <a:off x="5379986" y="3327134"/>
            <a:ext cx="1050446" cy="492443"/>
          </a:xfrm>
          <a:prstGeom prst="rect">
            <a:avLst/>
          </a:prstGeom>
          <a:noFill/>
        </p:spPr>
        <p:txBody>
          <a:bodyPr wrap="square" lIns="0" tIns="0" rIns="0" bIns="0" rtlCol="0">
            <a:spAutoFit/>
          </a:bodyPr>
          <a:lstStyle/>
          <a:p>
            <a:r>
              <a:rPr lang="en-US" sz="1600"/>
              <a:t>Fully connection</a:t>
            </a:r>
            <a:endParaRPr lang="vi-VN" sz="1600"/>
          </a:p>
        </p:txBody>
      </p:sp>
      <p:sp>
        <p:nvSpPr>
          <p:cNvPr id="163" name="Right Brace 162">
            <a:extLst>
              <a:ext uri="{FF2B5EF4-FFF2-40B4-BE49-F238E27FC236}">
                <a16:creationId xmlns:a16="http://schemas.microsoft.com/office/drawing/2014/main" id="{24A65EFD-DEFE-3DA8-8E14-B2718215C4F3}"/>
              </a:ext>
            </a:extLst>
          </p:cNvPr>
          <p:cNvSpPr/>
          <p:nvPr/>
        </p:nvSpPr>
        <p:spPr>
          <a:xfrm rot="5400000">
            <a:off x="3354650" y="1713312"/>
            <a:ext cx="330196" cy="4754565"/>
          </a:xfrm>
          <a:prstGeom prst="rightBrace">
            <a:avLst>
              <a:gd name="adj1" fmla="val 73718"/>
              <a:gd name="adj2" fmla="val 50161"/>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p:sp>
        <p:nvSpPr>
          <p:cNvPr id="164" name="TextBox 163">
            <a:extLst>
              <a:ext uri="{FF2B5EF4-FFF2-40B4-BE49-F238E27FC236}">
                <a16:creationId xmlns:a16="http://schemas.microsoft.com/office/drawing/2014/main" id="{BC3F6724-A1A6-3236-C079-EE0B1B1DAEA6}"/>
              </a:ext>
            </a:extLst>
          </p:cNvPr>
          <p:cNvSpPr txBox="1"/>
          <p:nvPr/>
        </p:nvSpPr>
        <p:spPr>
          <a:xfrm>
            <a:off x="2669644" y="4287430"/>
            <a:ext cx="1943100" cy="369332"/>
          </a:xfrm>
          <a:prstGeom prst="rect">
            <a:avLst/>
          </a:prstGeom>
          <a:noFill/>
        </p:spPr>
        <p:txBody>
          <a:bodyPr wrap="square" rtlCol="0">
            <a:spAutoFit/>
          </a:bodyPr>
          <a:lstStyle/>
          <a:p>
            <a:r>
              <a:rPr lang="en-US"/>
              <a:t>No classical steps</a:t>
            </a:r>
            <a:endParaRPr lang="vi-VN"/>
          </a:p>
        </p:txBody>
      </p:sp>
    </p:spTree>
    <p:extLst>
      <p:ext uri="{BB962C8B-B14F-4D97-AF65-F5344CB8AC3E}">
        <p14:creationId xmlns:p14="http://schemas.microsoft.com/office/powerpoint/2010/main" val="27953482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Hộp Văn bản 3">
                <a:extLst>
                  <a:ext uri="{FF2B5EF4-FFF2-40B4-BE49-F238E27FC236}">
                    <a16:creationId xmlns:a16="http://schemas.microsoft.com/office/drawing/2014/main" id="{C89D9359-F151-4973-9E1C-61E400BE4F62}"/>
                  </a:ext>
                </a:extLst>
              </p:cNvPr>
              <p:cNvSpPr txBox="1"/>
              <p:nvPr/>
            </p:nvSpPr>
            <p:spPr>
              <a:xfrm>
                <a:off x="628650" y="1005549"/>
                <a:ext cx="8343175" cy="1705980"/>
              </a:xfrm>
              <a:prstGeom prst="rect">
                <a:avLst/>
              </a:prstGeom>
              <a:noFill/>
            </p:spPr>
            <p:txBody>
              <a:bodyPr wrap="square" rtlCol="0">
                <a:spAutoFit/>
              </a:bodyPr>
              <a:lstStyle/>
              <a:p>
                <a:r>
                  <a:rPr lang="en-US" sz="2100"/>
                  <a:t>Assume real data comes from the fixed distribution</a:t>
                </a:r>
                <a14:m>
                  <m:oMath xmlns:m="http://schemas.openxmlformats.org/officeDocument/2006/math">
                    <m:r>
                      <a:rPr lang="en-US" sz="2100">
                        <a:latin typeface="Cambria Math" panose="02040503050406030204" pitchFamily="18" charset="0"/>
                      </a:rPr>
                      <m:t> </m:t>
                    </m:r>
                    <m:sSub>
                      <m:sSubPr>
                        <m:ctrlPr>
                          <a:rPr lang="en-US" sz="2100" i="1">
                            <a:latin typeface="Cambria Math" panose="02040503050406030204" pitchFamily="18" charset="0"/>
                          </a:rPr>
                        </m:ctrlPr>
                      </m:sSubPr>
                      <m:e>
                        <m:r>
                          <a:rPr lang="en-US" sz="2100" i="1">
                            <a:latin typeface="Cambria Math" panose="02040503050406030204" pitchFamily="18" charset="0"/>
                          </a:rPr>
                          <m:t>𝑝</m:t>
                        </m:r>
                      </m:e>
                      <m:sub>
                        <m:r>
                          <a:rPr lang="en-US" sz="2100" i="1">
                            <a:latin typeface="Cambria Math" panose="02040503050406030204" pitchFamily="18" charset="0"/>
                          </a:rPr>
                          <m:t>𝑅</m:t>
                        </m:r>
                      </m:sub>
                    </m:sSub>
                    <m:d>
                      <m:dPr>
                        <m:ctrlPr>
                          <a:rPr lang="en-US" sz="2100" i="1">
                            <a:latin typeface="Cambria Math" panose="02040503050406030204" pitchFamily="18" charset="0"/>
                          </a:rPr>
                        </m:ctrlPr>
                      </m:dPr>
                      <m:e>
                        <m:r>
                          <a:rPr lang="en-US" sz="2100" i="1">
                            <a:latin typeface="Cambria Math" panose="02040503050406030204" pitchFamily="18" charset="0"/>
                          </a:rPr>
                          <m:t>𝑥</m:t>
                        </m:r>
                      </m:e>
                    </m:d>
                  </m:oMath>
                </a14:m>
                <a:r>
                  <a:rPr lang="en-US" sz="2100"/>
                  <a:t> generated by process </a:t>
                </a:r>
                <a14:m>
                  <m:oMath xmlns:m="http://schemas.openxmlformats.org/officeDocument/2006/math">
                    <m:r>
                      <a:rPr lang="en-US" sz="2100" i="1">
                        <a:latin typeface="Cambria Math" panose="02040503050406030204" pitchFamily="18" charset="0"/>
                      </a:rPr>
                      <m:t>𝑅</m:t>
                    </m:r>
                  </m:oMath>
                </a14:m>
                <a:r>
                  <a:rPr lang="en-US" sz="2100"/>
                  <a:t>. Adversarial task:</a:t>
                </a:r>
              </a:p>
              <a:p>
                <a:pPr lvl="1"/>
                <a14:m>
                  <m:oMath xmlns:m="http://schemas.openxmlformats.org/officeDocument/2006/math">
                    <m:func>
                      <m:funcPr>
                        <m:ctrlPr>
                          <a:rPr lang="en-US" sz="2100" b="0" i="1" smtClean="0">
                            <a:latin typeface="Cambria Math" panose="02040503050406030204" pitchFamily="18" charset="0"/>
                          </a:rPr>
                        </m:ctrlPr>
                      </m:funcPr>
                      <m:fName>
                        <m:limLow>
                          <m:limLowPr>
                            <m:ctrlPr>
                              <a:rPr lang="en-US" sz="2100" b="0" i="1" smtClean="0">
                                <a:latin typeface="Cambria Math" panose="02040503050406030204" pitchFamily="18" charset="0"/>
                              </a:rPr>
                            </m:ctrlPr>
                          </m:limLowPr>
                          <m:e>
                            <m:r>
                              <m:rPr>
                                <m:sty m:val="p"/>
                              </m:rPr>
                              <a:rPr lang="en-US" sz="2100" b="0" i="0" smtClean="0">
                                <a:latin typeface="Cambria Math" panose="02040503050406030204" pitchFamily="18" charset="0"/>
                              </a:rPr>
                              <m:t>min</m:t>
                            </m:r>
                          </m:e>
                          <m:lim>
                            <m:sSub>
                              <m:sSubPr>
                                <m:ctrlPr>
                                  <a:rPr lang="en-US" sz="2100" b="0" i="1" smtClean="0">
                                    <a:latin typeface="Cambria Math" panose="02040503050406030204" pitchFamily="18" charset="0"/>
                                  </a:rPr>
                                </m:ctrlPr>
                              </m:sSubPr>
                              <m:e>
                                <m:r>
                                  <a:rPr lang="en-US" sz="2100" b="1" i="1" smtClean="0">
                                    <a:latin typeface="Cambria Math" panose="02040503050406030204" pitchFamily="18" charset="0"/>
                                  </a:rPr>
                                  <m:t>𝜽</m:t>
                                </m:r>
                              </m:e>
                              <m:sub>
                                <m:r>
                                  <a:rPr lang="en-US" sz="2100" b="0" i="1" smtClean="0">
                                    <a:latin typeface="Cambria Math" panose="02040503050406030204" pitchFamily="18" charset="0"/>
                                  </a:rPr>
                                  <m:t>𝐺</m:t>
                                </m:r>
                              </m:sub>
                            </m:sSub>
                          </m:lim>
                        </m:limLow>
                      </m:fName>
                      <m:e>
                        <m:func>
                          <m:funcPr>
                            <m:ctrlPr>
                              <a:rPr lang="en-US" sz="2100" b="0" i="1" smtClean="0">
                                <a:latin typeface="Cambria Math" panose="02040503050406030204" pitchFamily="18" charset="0"/>
                              </a:rPr>
                            </m:ctrlPr>
                          </m:funcPr>
                          <m:fName>
                            <m:limLow>
                              <m:limLowPr>
                                <m:ctrlPr>
                                  <a:rPr lang="en-US" sz="2100" b="0" i="1" smtClean="0">
                                    <a:latin typeface="Cambria Math" panose="02040503050406030204" pitchFamily="18" charset="0"/>
                                  </a:rPr>
                                </m:ctrlPr>
                              </m:limLowPr>
                              <m:e>
                                <m:r>
                                  <m:rPr>
                                    <m:sty m:val="p"/>
                                  </m:rPr>
                                  <a:rPr lang="en-US" sz="2100" b="0" i="0" smtClean="0">
                                    <a:latin typeface="Cambria Math" panose="02040503050406030204" pitchFamily="18" charset="0"/>
                                  </a:rPr>
                                  <m:t>max</m:t>
                                </m:r>
                              </m:e>
                              <m:lim>
                                <m:sSub>
                                  <m:sSubPr>
                                    <m:ctrlPr>
                                      <a:rPr lang="en-US" sz="2100" b="0" i="1" smtClean="0">
                                        <a:latin typeface="Cambria Math" panose="02040503050406030204" pitchFamily="18" charset="0"/>
                                      </a:rPr>
                                    </m:ctrlPr>
                                  </m:sSubPr>
                                  <m:e>
                                    <m:r>
                                      <a:rPr lang="en-US" sz="2100" b="1" i="1" smtClean="0">
                                        <a:latin typeface="Cambria Math" panose="02040503050406030204" pitchFamily="18" charset="0"/>
                                      </a:rPr>
                                      <m:t>𝜽</m:t>
                                    </m:r>
                                  </m:e>
                                  <m:sub>
                                    <m:r>
                                      <a:rPr lang="en-US" sz="2100" b="0" i="1" smtClean="0">
                                        <a:latin typeface="Cambria Math" panose="02040503050406030204" pitchFamily="18" charset="0"/>
                                      </a:rPr>
                                      <m:t>𝐷</m:t>
                                    </m:r>
                                  </m:sub>
                                </m:sSub>
                              </m:lim>
                            </m:limLow>
                          </m:fName>
                          <m:e>
                            <m:nary>
                              <m:naryPr>
                                <m:chr m:val="∑"/>
                                <m:ctrlPr>
                                  <a:rPr lang="en-US" sz="2100" b="0" i="1" smtClean="0">
                                    <a:latin typeface="Cambria Math" panose="02040503050406030204" pitchFamily="18" charset="0"/>
                                  </a:rPr>
                                </m:ctrlPr>
                              </m:naryPr>
                              <m:sub>
                                <m:r>
                                  <a:rPr lang="en-US" sz="2100" b="0" i="1" smtClean="0">
                                    <a:latin typeface="Cambria Math" panose="02040503050406030204" pitchFamily="18" charset="0"/>
                                  </a:rPr>
                                  <m:t>𝜆</m:t>
                                </m:r>
                                <m:r>
                                  <a:rPr lang="en-US" sz="2100" b="0" i="1" smtClean="0">
                                    <a:latin typeface="Cambria Math" panose="02040503050406030204" pitchFamily="18" charset="0"/>
                                  </a:rPr>
                                  <m:t>=1</m:t>
                                </m:r>
                              </m:sub>
                              <m:sup>
                                <m:r>
                                  <a:rPr lang="en-US" sz="2100" b="0" i="1" smtClean="0">
                                    <a:latin typeface="Cambria Math" panose="02040503050406030204" pitchFamily="18" charset="0"/>
                                  </a:rPr>
                                  <m:t> </m:t>
                                </m:r>
                              </m:sup>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Pr</m:t>
                                    </m:r>
                                  </m:fName>
                                  <m:e>
                                    <m:d>
                                      <m:dPr>
                                        <m:ctrlPr>
                                          <a:rPr lang="en-US" sz="2100" b="0" i="1" smtClean="0">
                                            <a:latin typeface="Cambria Math" panose="02040503050406030204" pitchFamily="18" charset="0"/>
                                          </a:rPr>
                                        </m:ctrlPr>
                                      </m:dPr>
                                      <m:e>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𝐷</m:t>
                                            </m:r>
                                            <m:d>
                                              <m:dPr>
                                                <m:ctrlPr>
                                                  <a:rPr lang="en-US" sz="2100" b="0" i="1" smtClean="0">
                                                    <a:latin typeface="Cambria Math" panose="02040503050406030204" pitchFamily="18" charset="0"/>
                                                  </a:rPr>
                                                </m:ctrlPr>
                                              </m:dPr>
                                              <m:e>
                                                <m:sSub>
                                                  <m:sSubPr>
                                                    <m:ctrlPr>
                                                      <a:rPr lang="en-US" sz="2100" b="0" i="1" smtClean="0">
                                                        <a:latin typeface="Cambria Math" panose="02040503050406030204" pitchFamily="18" charset="0"/>
                                                      </a:rPr>
                                                    </m:ctrlPr>
                                                  </m:sSubPr>
                                                  <m:e>
                                                    <m:r>
                                                      <a:rPr lang="en-US" sz="2100" b="1" i="1" smtClean="0">
                                                        <a:latin typeface="Cambria Math" panose="02040503050406030204" pitchFamily="18" charset="0"/>
                                                      </a:rPr>
                                                      <m:t>𝜽</m:t>
                                                    </m:r>
                                                  </m:e>
                                                  <m:sub>
                                                    <m:r>
                                                      <a:rPr lang="en-US" sz="2100" b="0" i="1" smtClean="0">
                                                        <a:latin typeface="Cambria Math" panose="02040503050406030204" pitchFamily="18" charset="0"/>
                                                      </a:rPr>
                                                      <m:t>𝐷</m:t>
                                                    </m:r>
                                                  </m:sub>
                                                </m:sSub>
                                                <m:r>
                                                  <a:rPr lang="en-US" sz="2100" b="0" i="1" smtClean="0">
                                                    <a:latin typeface="Cambria Math" panose="02040503050406030204" pitchFamily="18" charset="0"/>
                                                  </a:rPr>
                                                  <m:t>,</m:t>
                                                </m:r>
                                                <m:d>
                                                  <m:dPr>
                                                    <m:begChr m:val="|"/>
                                                    <m:endChr m:val="⟩"/>
                                                    <m:ctrlPr>
                                                      <a:rPr lang="en-US" sz="2100" b="0" i="1" smtClean="0">
                                                        <a:latin typeface="Cambria Math" panose="02040503050406030204" pitchFamily="18" charset="0"/>
                                                      </a:rPr>
                                                    </m:ctrlPr>
                                                  </m:dPr>
                                                  <m:e>
                                                    <m:r>
                                                      <a:rPr lang="en-US" sz="2100" b="0" i="1" smtClean="0">
                                                        <a:latin typeface="Cambria Math" panose="02040503050406030204" pitchFamily="18" charset="0"/>
                                                      </a:rPr>
                                                      <m:t>𝜆</m:t>
                                                    </m:r>
                                                  </m:e>
                                                </m:d>
                                                <m:r>
                                                  <a:rPr lang="en-US" sz="2100" b="0" i="1" smtClean="0">
                                                    <a:latin typeface="Cambria Math" panose="02040503050406030204" pitchFamily="18" charset="0"/>
                                                  </a:rPr>
                                                  <m:t>,</m:t>
                                                </m:r>
                                                <m:r>
                                                  <a:rPr lang="en-US" sz="2100" b="0" i="1" smtClean="0">
                                                    <a:latin typeface="Cambria Math" panose="02040503050406030204" pitchFamily="18" charset="0"/>
                                                  </a:rPr>
                                                  <m:t>𝑅</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m:t>
                                                    </m:r>
                                                    <m:r>
                                                      <a:rPr lang="en-US" sz="2100" b="0" i="1" smtClean="0">
                                                        <a:latin typeface="Cambria Math" panose="02040503050406030204" pitchFamily="18" charset="0"/>
                                                      </a:rPr>
                                                      <m:t>𝜆</m:t>
                                                    </m:r>
                                                    <m:r>
                                                      <a:rPr lang="en-US" sz="2100" b="0" i="1" smtClean="0">
                                                        <a:latin typeface="Cambria Math" panose="02040503050406030204" pitchFamily="18" charset="0"/>
                                                      </a:rPr>
                                                      <m:t>⟩</m:t>
                                                    </m:r>
                                                  </m:e>
                                                </m:d>
                                              </m:e>
                                            </m:d>
                                            <m:r>
                                              <a:rPr lang="en-US" sz="2100" b="0" i="1" smtClean="0">
                                                <a:latin typeface="Cambria Math" panose="02040503050406030204" pitchFamily="18" charset="0"/>
                                              </a:rPr>
                                              <m:t>=|</m:t>
                                            </m:r>
                                            <m:r>
                                              <m:rPr>
                                                <m:sty m:val="p"/>
                                              </m:rPr>
                                              <a:rPr lang="en-US" sz="2100" b="0" i="0" smtClean="0">
                                                <a:latin typeface="Cambria Math" panose="02040503050406030204" pitchFamily="18" charset="0"/>
                                              </a:rPr>
                                              <m:t>real</m:t>
                                            </m:r>
                                            <m:r>
                                              <a:rPr lang="en-US" sz="2100" b="0" i="1" smtClean="0">
                                                <a:latin typeface="Cambria Math" panose="02040503050406030204" pitchFamily="18" charset="0"/>
                                              </a:rPr>
                                              <m:t>⟩</m:t>
                                            </m:r>
                                          </m:e>
                                        </m:d>
                                        <m:r>
                                          <a:rPr lang="en-US" sz="2100" b="0" i="1" smtClean="0">
                                            <a:latin typeface="Cambria Math" panose="02040503050406030204" pitchFamily="18" charset="0"/>
                                            <a:ea typeface="Cambria Math" panose="02040503050406030204" pitchFamily="18" charset="0"/>
                                          </a:rPr>
                                          <m:t>∩</m:t>
                                        </m:r>
                                        <m:d>
                                          <m:dPr>
                                            <m:ctrlPr>
                                              <a:rPr lang="en-US" sz="2100" i="1">
                                                <a:latin typeface="Cambria Math" panose="02040503050406030204" pitchFamily="18" charset="0"/>
                                              </a:rPr>
                                            </m:ctrlPr>
                                          </m:dPr>
                                          <m:e>
                                            <m:r>
                                              <a:rPr lang="en-US" sz="2100" i="1">
                                                <a:latin typeface="Cambria Math" panose="02040503050406030204" pitchFamily="18" charset="0"/>
                                              </a:rPr>
                                              <m:t>𝐷</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b="1" i="1">
                                                        <a:latin typeface="Cambria Math" panose="02040503050406030204" pitchFamily="18" charset="0"/>
                                                      </a:rPr>
                                                      <m:t>𝜽</m:t>
                                                    </m:r>
                                                  </m:e>
                                                  <m:sub>
                                                    <m:r>
                                                      <a:rPr lang="en-US" sz="2100" i="1">
                                                        <a:latin typeface="Cambria Math" panose="02040503050406030204" pitchFamily="18" charset="0"/>
                                                      </a:rPr>
                                                      <m:t>𝐷</m:t>
                                                    </m:r>
                                                  </m:sub>
                                                </m:sSub>
                                                <m:r>
                                                  <a:rPr lang="en-US" sz="2100" i="1">
                                                    <a:latin typeface="Cambria Math" panose="02040503050406030204" pitchFamily="18" charset="0"/>
                                                  </a:rPr>
                                                  <m:t>,</m:t>
                                                </m:r>
                                                <m:d>
                                                  <m:dPr>
                                                    <m:begChr m:val="|"/>
                                                    <m:endChr m:val="⟩"/>
                                                    <m:ctrlPr>
                                                      <a:rPr lang="en-US" sz="2100" i="1">
                                                        <a:latin typeface="Cambria Math" panose="02040503050406030204" pitchFamily="18" charset="0"/>
                                                      </a:rPr>
                                                    </m:ctrlPr>
                                                  </m:dPr>
                                                  <m:e>
                                                    <m:r>
                                                      <a:rPr lang="en-US" sz="2100" i="1">
                                                        <a:latin typeface="Cambria Math" panose="02040503050406030204" pitchFamily="18" charset="0"/>
                                                      </a:rPr>
                                                      <m:t>𝜆</m:t>
                                                    </m:r>
                                                  </m:e>
                                                </m:d>
                                                <m:r>
                                                  <a:rPr lang="en-US" sz="2100" i="1">
                                                    <a:latin typeface="Cambria Math" panose="02040503050406030204" pitchFamily="18" charset="0"/>
                                                  </a:rPr>
                                                  <m:t>,</m:t>
                                                </m:r>
                                                <m:r>
                                                  <a:rPr lang="en-US" sz="2100" b="0" i="1" smtClean="0">
                                                    <a:latin typeface="Cambria Math" panose="02040503050406030204" pitchFamily="18" charset="0"/>
                                                  </a:rPr>
                                                  <m:t>𝐺</m:t>
                                                </m:r>
                                                <m:d>
                                                  <m:dPr>
                                                    <m:ctrlPr>
                                                      <a:rPr lang="en-US" sz="2100" b="0" i="1" smtClean="0">
                                                        <a:latin typeface="Cambria Math" panose="02040503050406030204" pitchFamily="18" charset="0"/>
                                                      </a:rPr>
                                                    </m:ctrlPr>
                                                  </m:dPr>
                                                  <m:e>
                                                    <m:sSub>
                                                      <m:sSubPr>
                                                        <m:ctrlPr>
                                                          <a:rPr lang="en-US" sz="2100" b="0" i="1" smtClean="0">
                                                            <a:latin typeface="Cambria Math" panose="02040503050406030204" pitchFamily="18" charset="0"/>
                                                          </a:rPr>
                                                        </m:ctrlPr>
                                                      </m:sSubPr>
                                                      <m:e>
                                                        <m:r>
                                                          <a:rPr lang="en-US" sz="2100" b="1" i="1" smtClean="0">
                                                            <a:latin typeface="Cambria Math" panose="02040503050406030204" pitchFamily="18" charset="0"/>
                                                          </a:rPr>
                                                          <m:t>𝜽</m:t>
                                                        </m:r>
                                                      </m:e>
                                                      <m:sub>
                                                        <m:r>
                                                          <a:rPr lang="en-US" sz="2100" b="0" i="1" smtClean="0">
                                                            <a:latin typeface="Cambria Math" panose="02040503050406030204" pitchFamily="18" charset="0"/>
                                                          </a:rPr>
                                                          <m:t>𝐺</m:t>
                                                        </m:r>
                                                      </m:sub>
                                                    </m:sSub>
                                                    <m:r>
                                                      <a:rPr lang="en-US" sz="2100" b="0" i="1" smtClean="0">
                                                        <a:latin typeface="Cambria Math" panose="02040503050406030204" pitchFamily="18" charset="0"/>
                                                      </a:rPr>
                                                      <m:t>,|</m:t>
                                                    </m:r>
                                                    <m:r>
                                                      <a:rPr lang="en-US" sz="2100" b="0" i="1" smtClean="0">
                                                        <a:latin typeface="Cambria Math" panose="02040503050406030204" pitchFamily="18" charset="0"/>
                                                      </a:rPr>
                                                      <m:t>𝜆</m:t>
                                                    </m:r>
                                                    <m:r>
                                                      <a:rPr lang="en-US" sz="2100" b="0" i="1" smtClean="0">
                                                        <a:latin typeface="Cambria Math" panose="02040503050406030204" pitchFamily="18" charset="0"/>
                                                      </a:rPr>
                                                      <m:t>,</m:t>
                                                    </m:r>
                                                    <m:r>
                                                      <a:rPr lang="en-US" sz="2100" b="0" i="1" smtClean="0">
                                                        <a:latin typeface="Cambria Math" panose="02040503050406030204" pitchFamily="18" charset="0"/>
                                                      </a:rPr>
                                                      <m:t>𝑧</m:t>
                                                    </m:r>
                                                    <m:r>
                                                      <a:rPr lang="en-US" sz="2100" b="0" i="1" smtClean="0">
                                                        <a:latin typeface="Cambria Math" panose="02040503050406030204" pitchFamily="18" charset="0"/>
                                                      </a:rPr>
                                                      <m:t>⟩</m:t>
                                                    </m:r>
                                                  </m:e>
                                                </m:d>
                                              </m:e>
                                            </m:d>
                                            <m:r>
                                              <a:rPr lang="en-US" sz="2100" i="1">
                                                <a:latin typeface="Cambria Math" panose="02040503050406030204" pitchFamily="18" charset="0"/>
                                              </a:rPr>
                                              <m:t>=|</m:t>
                                            </m:r>
                                            <m:r>
                                              <m:rPr>
                                                <m:sty m:val="p"/>
                                              </m:rPr>
                                              <a:rPr lang="en-US" sz="2100" b="0" i="0" smtClean="0">
                                                <a:latin typeface="Cambria Math" panose="02040503050406030204" pitchFamily="18" charset="0"/>
                                              </a:rPr>
                                              <m:t>fake</m:t>
                                            </m:r>
                                            <m:r>
                                              <a:rPr lang="en-US" sz="2100" i="1">
                                                <a:latin typeface="Cambria Math" panose="02040503050406030204" pitchFamily="18" charset="0"/>
                                              </a:rPr>
                                              <m:t>⟩</m:t>
                                            </m:r>
                                          </m:e>
                                        </m:d>
                                      </m:e>
                                    </m:d>
                                  </m:e>
                                </m:func>
                              </m:e>
                            </m:nary>
                          </m:e>
                        </m:func>
                      </m:e>
                    </m:func>
                  </m:oMath>
                </a14:m>
                <a:r>
                  <a:rPr lang="en-US" sz="2100"/>
                  <a:t> </a:t>
                </a:r>
              </a:p>
            </p:txBody>
          </p:sp>
        </mc:Choice>
        <mc:Fallback xmlns="">
          <p:sp>
            <p:nvSpPr>
              <p:cNvPr id="4" name="Hộp Văn bản 3">
                <a:extLst>
                  <a:ext uri="{FF2B5EF4-FFF2-40B4-BE49-F238E27FC236}">
                    <a16:creationId xmlns:a16="http://schemas.microsoft.com/office/drawing/2014/main" id="{C89D9359-F151-4973-9E1C-61E400BE4F62}"/>
                  </a:ext>
                </a:extLst>
              </p:cNvPr>
              <p:cNvSpPr txBox="1">
                <a:spLocks noRot="1" noChangeAspect="1" noMove="1" noResize="1" noEditPoints="1" noAdjustHandles="1" noChangeArrowheads="1" noChangeShapeType="1" noTextEdit="1"/>
              </p:cNvSpPr>
              <p:nvPr/>
            </p:nvSpPr>
            <p:spPr>
              <a:xfrm>
                <a:off x="628650" y="1005549"/>
                <a:ext cx="8343175" cy="1705980"/>
              </a:xfrm>
              <a:prstGeom prst="rect">
                <a:avLst/>
              </a:prstGeom>
              <a:blipFill>
                <a:blip r:embed="rId2"/>
                <a:stretch>
                  <a:fillRect l="-877" t="-2143"/>
                </a:stretch>
              </a:blipFill>
            </p:spPr>
            <p:txBody>
              <a:bodyPr/>
              <a:lstStyle/>
              <a:p>
                <a:r>
                  <a:rPr lang="vi-VN">
                    <a:noFill/>
                  </a:rPr>
                  <a:t> </a:t>
                </a:r>
              </a:p>
            </p:txBody>
          </p:sp>
        </mc:Fallback>
      </mc:AlternateContent>
      <p:sp>
        <p:nvSpPr>
          <p:cNvPr id="3" name="Chỗ dành sẵn cho Số hiệu Bản chiếu 2">
            <a:extLst>
              <a:ext uri="{FF2B5EF4-FFF2-40B4-BE49-F238E27FC236}">
                <a16:creationId xmlns:a16="http://schemas.microsoft.com/office/drawing/2014/main" id="{46035380-728A-4700-B942-953DC753DC45}"/>
              </a:ext>
            </a:extLst>
          </p:cNvPr>
          <p:cNvSpPr>
            <a:spLocks noGrp="1"/>
          </p:cNvSpPr>
          <p:nvPr>
            <p:ph type="sldNum" sz="quarter" idx="12"/>
          </p:nvPr>
        </p:nvSpPr>
        <p:spPr/>
        <p:txBody>
          <a:bodyPr/>
          <a:lstStyle/>
          <a:p>
            <a:fld id="{47B90B59-900E-4193-AFEA-B180A6FF40EC}" type="slidenum">
              <a:rPr lang="vi-VN" smtClean="0"/>
              <a:t>48</a:t>
            </a:fld>
            <a:endParaRPr lang="vi-VN"/>
          </a:p>
        </p:txBody>
      </p:sp>
      <p:sp>
        <p:nvSpPr>
          <p:cNvPr id="6" name="Title 5">
            <a:extLst>
              <a:ext uri="{FF2B5EF4-FFF2-40B4-BE49-F238E27FC236}">
                <a16:creationId xmlns:a16="http://schemas.microsoft.com/office/drawing/2014/main" id="{6F79C21E-2C4E-DAFD-1625-A09EED8728CF}"/>
              </a:ext>
            </a:extLst>
          </p:cNvPr>
          <p:cNvSpPr>
            <a:spLocks noGrp="1"/>
          </p:cNvSpPr>
          <p:nvPr>
            <p:ph type="title"/>
          </p:nvPr>
        </p:nvSpPr>
        <p:spPr>
          <a:xfrm>
            <a:off x="628650" y="11377"/>
            <a:ext cx="6466417" cy="994172"/>
          </a:xfrm>
        </p:spPr>
        <p:txBody>
          <a:bodyPr>
            <a:normAutofit/>
          </a:bodyPr>
          <a:lstStyle/>
          <a:p>
            <a:r>
              <a:rPr lang="en-US"/>
              <a:t>3.4.3. Quantum deep learning</a:t>
            </a:r>
            <a:br>
              <a:rPr lang="en-US"/>
            </a:br>
            <a:r>
              <a:rPr lang="en-US" sz="2200"/>
              <a:t>Quantum Generative adversarial net (QGAN)</a:t>
            </a:r>
            <a:endParaRPr lang="vi-VN" sz="2200"/>
          </a:p>
        </p:txBody>
      </p:sp>
      <p:cxnSp>
        <p:nvCxnSpPr>
          <p:cNvPr id="9" name="Đường nối Thẳng 121">
            <a:extLst>
              <a:ext uri="{FF2B5EF4-FFF2-40B4-BE49-F238E27FC236}">
                <a16:creationId xmlns:a16="http://schemas.microsoft.com/office/drawing/2014/main" id="{A7E1C233-8620-DBDC-649B-B1DD80C0CE89}"/>
              </a:ext>
            </a:extLst>
          </p:cNvPr>
          <p:cNvCxnSpPr>
            <a:cxnSpLocks/>
          </p:cNvCxnSpPr>
          <p:nvPr/>
        </p:nvCxnSpPr>
        <p:spPr>
          <a:xfrm>
            <a:off x="706119" y="3566501"/>
            <a:ext cx="182353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Hình chữ nhật 40">
                <a:extLst>
                  <a:ext uri="{FF2B5EF4-FFF2-40B4-BE49-F238E27FC236}">
                    <a16:creationId xmlns:a16="http://schemas.microsoft.com/office/drawing/2014/main" id="{1425E9B8-DC5F-F113-2726-39F928248C3A}"/>
                  </a:ext>
                </a:extLst>
              </p:cNvPr>
              <p:cNvSpPr/>
              <p:nvPr/>
            </p:nvSpPr>
            <p:spPr>
              <a:xfrm>
                <a:off x="1312333" y="3362060"/>
                <a:ext cx="999067" cy="3937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 </m:t>
                      </m:r>
                      <m:r>
                        <a:rPr lang="en-US" b="0" i="1" smtClean="0">
                          <a:solidFill>
                            <a:schemeClr val="tx1"/>
                          </a:solidFill>
                          <a:latin typeface="Cambria Math" panose="02040503050406030204" pitchFamily="18" charset="0"/>
                          <a:cs typeface="Times New Roman" panose="02020603050405020304" pitchFamily="18" charset="0"/>
                        </a:rPr>
                        <m:t>𝐺</m:t>
                      </m:r>
                      <m:d>
                        <m:dPr>
                          <m:ctrlPr>
                            <a:rPr lang="en-US" b="0" i="1" smtClean="0">
                              <a:solidFill>
                                <a:schemeClr val="tx1"/>
                              </a:solidFill>
                              <a:latin typeface="Cambria Math" panose="02040503050406030204" pitchFamily="18" charset="0"/>
                              <a:cs typeface="Times New Roman" panose="02020603050405020304" pitchFamily="18" charset="0"/>
                            </a:rPr>
                          </m:ctrlPr>
                        </m:dPr>
                        <m:e>
                          <m:sSub>
                            <m:sSubPr>
                              <m:ctrlPr>
                                <a:rPr lang="en-US" b="0" i="1" smtClean="0">
                                  <a:solidFill>
                                    <a:schemeClr val="tx1"/>
                                  </a:solidFill>
                                  <a:latin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cs typeface="Times New Roman" panose="02020603050405020304" pitchFamily="18" charset="0"/>
                                </a:rPr>
                                <m:t>𝜽</m:t>
                              </m:r>
                            </m:e>
                            <m:sub>
                              <m:r>
                                <a:rPr lang="en-US" b="0" i="1" smtClean="0">
                                  <a:solidFill>
                                    <a:schemeClr val="tx1"/>
                                  </a:solidFill>
                                  <a:latin typeface="Cambria Math" panose="02040503050406030204" pitchFamily="18" charset="0"/>
                                  <a:cs typeface="Times New Roman" panose="02020603050405020304" pitchFamily="18" charset="0"/>
                                </a:rPr>
                                <m:t>𝐺</m:t>
                              </m:r>
                            </m:sub>
                          </m:sSub>
                        </m:e>
                      </m:d>
                    </m:oMath>
                  </m:oMathPara>
                </a14:m>
                <a:endParaRPr lang="vi-VN" i="1">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Hình chữ nhật 40">
                <a:extLst>
                  <a:ext uri="{FF2B5EF4-FFF2-40B4-BE49-F238E27FC236}">
                    <a16:creationId xmlns:a16="http://schemas.microsoft.com/office/drawing/2014/main" id="{1425E9B8-DC5F-F113-2726-39F928248C3A}"/>
                  </a:ext>
                </a:extLst>
              </p:cNvPr>
              <p:cNvSpPr>
                <a:spLocks noRot="1" noChangeAspect="1" noMove="1" noResize="1" noEditPoints="1" noAdjustHandles="1" noChangeArrowheads="1" noChangeShapeType="1" noTextEdit="1"/>
              </p:cNvSpPr>
              <p:nvPr/>
            </p:nvSpPr>
            <p:spPr>
              <a:xfrm>
                <a:off x="1312333" y="3362060"/>
                <a:ext cx="999067" cy="393700"/>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11" name="Đường nối Thẳng 121">
            <a:extLst>
              <a:ext uri="{FF2B5EF4-FFF2-40B4-BE49-F238E27FC236}">
                <a16:creationId xmlns:a16="http://schemas.microsoft.com/office/drawing/2014/main" id="{91C82B78-540D-2C99-9356-05B836854C9B}"/>
              </a:ext>
            </a:extLst>
          </p:cNvPr>
          <p:cNvCxnSpPr>
            <a:cxnSpLocks/>
          </p:cNvCxnSpPr>
          <p:nvPr/>
        </p:nvCxnSpPr>
        <p:spPr>
          <a:xfrm flipV="1">
            <a:off x="950691" y="3490301"/>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B671252-C211-F423-2F88-CDB817D46582}"/>
                  </a:ext>
                </a:extLst>
              </p:cNvPr>
              <p:cNvSpPr txBox="1"/>
              <p:nvPr/>
            </p:nvSpPr>
            <p:spPr>
              <a:xfrm>
                <a:off x="1312333" y="4232260"/>
                <a:ext cx="999067" cy="369332"/>
              </a:xfrm>
              <a:prstGeom prst="rect">
                <a:avLst/>
              </a:prstGeom>
              <a:noFill/>
            </p:spPr>
            <p:txBody>
              <a:bodyPr wrap="square" rtlCol="0">
                <a:spAutoFit/>
              </a:bodyPr>
              <a:lstStyle/>
              <a:p>
                <a:r>
                  <a:rPr lang="en-US"/>
                  <a:t>Noise </a:t>
                </a:r>
                <a14:m>
                  <m:oMath xmlns:m="http://schemas.openxmlformats.org/officeDocument/2006/math">
                    <m:r>
                      <a:rPr lang="en-US" b="0" i="1" smtClean="0">
                        <a:latin typeface="Cambria Math" panose="02040503050406030204" pitchFamily="18" charset="0"/>
                      </a:rPr>
                      <m:t>𝑧</m:t>
                    </m:r>
                  </m:oMath>
                </a14:m>
                <a:endParaRPr lang="vi-VN"/>
              </a:p>
            </p:txBody>
          </p:sp>
        </mc:Choice>
        <mc:Fallback xmlns="">
          <p:sp>
            <p:nvSpPr>
              <p:cNvPr id="13" name="TextBox 12">
                <a:extLst>
                  <a:ext uri="{FF2B5EF4-FFF2-40B4-BE49-F238E27FC236}">
                    <a16:creationId xmlns:a16="http://schemas.microsoft.com/office/drawing/2014/main" id="{7B671252-C211-F423-2F88-CDB817D46582}"/>
                  </a:ext>
                </a:extLst>
              </p:cNvPr>
              <p:cNvSpPr txBox="1">
                <a:spLocks noRot="1" noChangeAspect="1" noMove="1" noResize="1" noEditPoints="1" noAdjustHandles="1" noChangeArrowheads="1" noChangeShapeType="1" noTextEdit="1"/>
              </p:cNvSpPr>
              <p:nvPr/>
            </p:nvSpPr>
            <p:spPr>
              <a:xfrm>
                <a:off x="1312333" y="4232260"/>
                <a:ext cx="999067" cy="369332"/>
              </a:xfrm>
              <a:prstGeom prst="rect">
                <a:avLst/>
              </a:prstGeom>
              <a:blipFill>
                <a:blip r:embed="rId4"/>
                <a:stretch>
                  <a:fillRect l="-4878" t="-8197" b="-24590"/>
                </a:stretch>
              </a:blipFill>
            </p:spPr>
            <p:txBody>
              <a:bodyPr/>
              <a:lstStyle/>
              <a:p>
                <a:r>
                  <a:rPr lang="vi-VN">
                    <a:noFill/>
                  </a:rPr>
                  <a:t> </a:t>
                </a:r>
              </a:p>
            </p:txBody>
          </p:sp>
        </mc:Fallback>
      </mc:AlternateContent>
      <p:sp>
        <p:nvSpPr>
          <p:cNvPr id="17" name="TextBox 16">
            <a:extLst>
              <a:ext uri="{FF2B5EF4-FFF2-40B4-BE49-F238E27FC236}">
                <a16:creationId xmlns:a16="http://schemas.microsoft.com/office/drawing/2014/main" id="{3DD73E5C-F04B-D89A-6033-BD008B72314C}"/>
              </a:ext>
            </a:extLst>
          </p:cNvPr>
          <p:cNvSpPr txBox="1"/>
          <p:nvPr/>
        </p:nvSpPr>
        <p:spPr>
          <a:xfrm>
            <a:off x="3041886" y="3387462"/>
            <a:ext cx="1170280" cy="369332"/>
          </a:xfrm>
          <a:prstGeom prst="rect">
            <a:avLst/>
          </a:prstGeom>
          <a:noFill/>
        </p:spPr>
        <p:txBody>
          <a:bodyPr wrap="square" rtlCol="0">
            <a:spAutoFit/>
          </a:bodyPr>
          <a:lstStyle/>
          <a:p>
            <a:r>
              <a:rPr lang="en-US"/>
              <a:t>Fake data</a:t>
            </a:r>
            <a:endParaRPr lang="vi-VN"/>
          </a:p>
        </p:txBody>
      </p:sp>
      <p:cxnSp>
        <p:nvCxnSpPr>
          <p:cNvPr id="18" name="Straight Arrow Connector 17">
            <a:extLst>
              <a:ext uri="{FF2B5EF4-FFF2-40B4-BE49-F238E27FC236}">
                <a16:creationId xmlns:a16="http://schemas.microsoft.com/office/drawing/2014/main" id="{0D98F28D-81F7-A48E-24D9-212D395077E1}"/>
              </a:ext>
            </a:extLst>
          </p:cNvPr>
          <p:cNvCxnSpPr>
            <a:cxnSpLocks/>
            <a:endCxn id="17" idx="1"/>
          </p:cNvCxnSpPr>
          <p:nvPr/>
        </p:nvCxnSpPr>
        <p:spPr>
          <a:xfrm>
            <a:off x="2613033" y="3566501"/>
            <a:ext cx="428853" cy="562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9F786D5-2B6D-C855-3DC7-C2B2703FB4FE}"/>
              </a:ext>
            </a:extLst>
          </p:cNvPr>
          <p:cNvSpPr txBox="1"/>
          <p:nvPr/>
        </p:nvSpPr>
        <p:spPr>
          <a:xfrm>
            <a:off x="3041886" y="2692432"/>
            <a:ext cx="1085701" cy="369332"/>
          </a:xfrm>
          <a:prstGeom prst="rect">
            <a:avLst/>
          </a:prstGeom>
          <a:noFill/>
        </p:spPr>
        <p:txBody>
          <a:bodyPr wrap="square" rtlCol="0">
            <a:spAutoFit/>
          </a:bodyPr>
          <a:lstStyle/>
          <a:p>
            <a:r>
              <a:rPr lang="en-US"/>
              <a:t>Real data</a:t>
            </a:r>
            <a:endParaRPr lang="vi-VN"/>
          </a:p>
        </p:txBody>
      </p:sp>
      <p:cxnSp>
        <p:nvCxnSpPr>
          <p:cNvPr id="23" name="Đường nối Thẳng 121">
            <a:extLst>
              <a:ext uri="{FF2B5EF4-FFF2-40B4-BE49-F238E27FC236}">
                <a16:creationId xmlns:a16="http://schemas.microsoft.com/office/drawing/2014/main" id="{4A6F736E-0CDF-E9E8-3311-9250E9E25CB3}"/>
              </a:ext>
            </a:extLst>
          </p:cNvPr>
          <p:cNvCxnSpPr>
            <a:cxnSpLocks/>
          </p:cNvCxnSpPr>
          <p:nvPr/>
        </p:nvCxnSpPr>
        <p:spPr>
          <a:xfrm>
            <a:off x="4648952" y="3566501"/>
            <a:ext cx="182353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4" name="Đường nối Thẳng 121">
            <a:extLst>
              <a:ext uri="{FF2B5EF4-FFF2-40B4-BE49-F238E27FC236}">
                <a16:creationId xmlns:a16="http://schemas.microsoft.com/office/drawing/2014/main" id="{EA559CCF-F010-A56F-AA6E-71DC273B4D87}"/>
              </a:ext>
            </a:extLst>
          </p:cNvPr>
          <p:cNvCxnSpPr>
            <a:cxnSpLocks/>
          </p:cNvCxnSpPr>
          <p:nvPr/>
        </p:nvCxnSpPr>
        <p:spPr>
          <a:xfrm flipV="1">
            <a:off x="4893524" y="3490301"/>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Hình chữ nhật 40">
                <a:extLst>
                  <a:ext uri="{FF2B5EF4-FFF2-40B4-BE49-F238E27FC236}">
                    <a16:creationId xmlns:a16="http://schemas.microsoft.com/office/drawing/2014/main" id="{15868774-CBD5-D267-7B41-E64074E49CDB}"/>
                  </a:ext>
                </a:extLst>
              </p:cNvPr>
              <p:cNvSpPr/>
              <p:nvPr/>
            </p:nvSpPr>
            <p:spPr>
              <a:xfrm>
                <a:off x="5145850" y="3387462"/>
                <a:ext cx="999067" cy="3937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 </m:t>
                      </m:r>
                      <m:r>
                        <a:rPr lang="en-US" b="0" i="1" smtClean="0">
                          <a:solidFill>
                            <a:schemeClr val="tx1"/>
                          </a:solidFill>
                          <a:latin typeface="Cambria Math" panose="02040503050406030204" pitchFamily="18" charset="0"/>
                          <a:cs typeface="Times New Roman" panose="02020603050405020304" pitchFamily="18" charset="0"/>
                        </a:rPr>
                        <m:t>𝐷</m:t>
                      </m:r>
                      <m:d>
                        <m:dPr>
                          <m:ctrlPr>
                            <a:rPr lang="en-US" b="0" i="1" smtClean="0">
                              <a:solidFill>
                                <a:schemeClr val="tx1"/>
                              </a:solidFill>
                              <a:latin typeface="Cambria Math" panose="02040503050406030204" pitchFamily="18" charset="0"/>
                              <a:cs typeface="Times New Roman" panose="02020603050405020304" pitchFamily="18" charset="0"/>
                            </a:rPr>
                          </m:ctrlPr>
                        </m:dPr>
                        <m:e>
                          <m:sSub>
                            <m:sSubPr>
                              <m:ctrlPr>
                                <a:rPr lang="en-US" b="0" i="1" smtClean="0">
                                  <a:solidFill>
                                    <a:schemeClr val="tx1"/>
                                  </a:solidFill>
                                  <a:latin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cs typeface="Times New Roman" panose="02020603050405020304" pitchFamily="18" charset="0"/>
                                </a:rPr>
                                <m:t>𝜽</m:t>
                              </m:r>
                            </m:e>
                            <m:sub>
                              <m:r>
                                <a:rPr lang="en-US" b="0" i="1" smtClean="0">
                                  <a:solidFill>
                                    <a:schemeClr val="tx1"/>
                                  </a:solidFill>
                                  <a:latin typeface="Cambria Math" panose="02040503050406030204" pitchFamily="18" charset="0"/>
                                  <a:cs typeface="Times New Roman" panose="02020603050405020304" pitchFamily="18" charset="0"/>
                                </a:rPr>
                                <m:t>𝐷</m:t>
                              </m:r>
                            </m:sub>
                          </m:sSub>
                        </m:e>
                      </m:d>
                    </m:oMath>
                  </m:oMathPara>
                </a14:m>
                <a:endParaRPr lang="vi-VN" i="1">
                  <a:solidFill>
                    <a:schemeClr val="tx1"/>
                  </a:solidFill>
                  <a:latin typeface="Times New Roman" panose="02020603050405020304" pitchFamily="18" charset="0"/>
                  <a:cs typeface="Times New Roman" panose="02020603050405020304" pitchFamily="18" charset="0"/>
                </a:endParaRPr>
              </a:p>
            </p:txBody>
          </p:sp>
        </mc:Choice>
        <mc:Fallback xmlns="">
          <p:sp>
            <p:nvSpPr>
              <p:cNvPr id="22" name="Hình chữ nhật 40">
                <a:extLst>
                  <a:ext uri="{FF2B5EF4-FFF2-40B4-BE49-F238E27FC236}">
                    <a16:creationId xmlns:a16="http://schemas.microsoft.com/office/drawing/2014/main" id="{15868774-CBD5-D267-7B41-E64074E49CDB}"/>
                  </a:ext>
                </a:extLst>
              </p:cNvPr>
              <p:cNvSpPr>
                <a:spLocks noRot="1" noChangeAspect="1" noMove="1" noResize="1" noEditPoints="1" noAdjustHandles="1" noChangeArrowheads="1" noChangeShapeType="1" noTextEdit="1"/>
              </p:cNvSpPr>
              <p:nvPr/>
            </p:nvSpPr>
            <p:spPr>
              <a:xfrm>
                <a:off x="5145850" y="3387462"/>
                <a:ext cx="999067" cy="393700"/>
              </a:xfrm>
              <a:prstGeom prst="rect">
                <a:avLst/>
              </a:prstGeom>
              <a:blipFill>
                <a:blip r:embed="rId5"/>
                <a:stretch>
                  <a:fillRect/>
                </a:stretch>
              </a:blipFill>
              <a:ln>
                <a:solidFill>
                  <a:schemeClr val="tx1"/>
                </a:solidFill>
              </a:ln>
            </p:spPr>
            <p:txBody>
              <a:bodyPr/>
              <a:lstStyle/>
              <a:p>
                <a:r>
                  <a:rPr lang="vi-VN">
                    <a:noFill/>
                  </a:rPr>
                  <a:t> </a:t>
                </a:r>
              </a:p>
            </p:txBody>
          </p:sp>
        </mc:Fallback>
      </mc:AlternateContent>
      <p:cxnSp>
        <p:nvCxnSpPr>
          <p:cNvPr id="25" name="Straight Arrow Connector 24">
            <a:extLst>
              <a:ext uri="{FF2B5EF4-FFF2-40B4-BE49-F238E27FC236}">
                <a16:creationId xmlns:a16="http://schemas.microsoft.com/office/drawing/2014/main" id="{DBF87E99-A88B-DA9B-0423-7EF998538761}"/>
              </a:ext>
            </a:extLst>
          </p:cNvPr>
          <p:cNvCxnSpPr>
            <a:cxnSpLocks/>
          </p:cNvCxnSpPr>
          <p:nvPr/>
        </p:nvCxnSpPr>
        <p:spPr>
          <a:xfrm>
            <a:off x="4127587" y="3553283"/>
            <a:ext cx="428853" cy="562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890F4E4A-004E-487E-E2C2-A4D16A50302E}"/>
              </a:ext>
            </a:extLst>
          </p:cNvPr>
          <p:cNvCxnSpPr>
            <a:cxnSpLocks/>
            <a:stCxn id="21" idx="3"/>
          </p:cNvCxnSpPr>
          <p:nvPr/>
        </p:nvCxnSpPr>
        <p:spPr>
          <a:xfrm>
            <a:off x="4127587" y="2877098"/>
            <a:ext cx="469813" cy="582328"/>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84BB2E4-5B79-3617-F030-7E1EFE2E9A0A}"/>
                  </a:ext>
                </a:extLst>
              </p:cNvPr>
              <p:cNvSpPr txBox="1"/>
              <p:nvPr/>
            </p:nvSpPr>
            <p:spPr>
              <a:xfrm>
                <a:off x="7020936" y="3388412"/>
                <a:ext cx="45328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m:oMathPara>
                </a14:m>
                <a:endParaRPr lang="vi-VN"/>
              </a:p>
            </p:txBody>
          </p:sp>
        </mc:Choice>
        <mc:Fallback xmlns="">
          <p:sp>
            <p:nvSpPr>
              <p:cNvPr id="29" name="TextBox 28">
                <a:extLst>
                  <a:ext uri="{FF2B5EF4-FFF2-40B4-BE49-F238E27FC236}">
                    <a16:creationId xmlns:a16="http://schemas.microsoft.com/office/drawing/2014/main" id="{384BB2E4-5B79-3617-F030-7E1EFE2E9A0A}"/>
                  </a:ext>
                </a:extLst>
              </p:cNvPr>
              <p:cNvSpPr txBox="1">
                <a:spLocks noRot="1" noChangeAspect="1" noMove="1" noResize="1" noEditPoints="1" noAdjustHandles="1" noChangeArrowheads="1" noChangeShapeType="1" noTextEdit="1"/>
              </p:cNvSpPr>
              <p:nvPr/>
            </p:nvSpPr>
            <p:spPr>
              <a:xfrm>
                <a:off x="7020936" y="3388412"/>
                <a:ext cx="453286" cy="369332"/>
              </a:xfrm>
              <a:prstGeom prst="rect">
                <a:avLst/>
              </a:prstGeom>
              <a:blipFill>
                <a:blip r:embed="rId6"/>
                <a:stretch>
                  <a:fillRect l="-4054" r="-6757" b="-15000"/>
                </a:stretch>
              </a:blipFill>
            </p:spPr>
            <p:txBody>
              <a:bodyPr/>
              <a:lstStyle/>
              <a:p>
                <a:r>
                  <a:rPr lang="vi-VN">
                    <a:noFill/>
                  </a:rPr>
                  <a:t> </a:t>
                </a:r>
              </a:p>
            </p:txBody>
          </p:sp>
        </mc:Fallback>
      </mc:AlternateContent>
      <p:cxnSp>
        <p:nvCxnSpPr>
          <p:cNvPr id="30" name="Straight Arrow Connector 29">
            <a:extLst>
              <a:ext uri="{FF2B5EF4-FFF2-40B4-BE49-F238E27FC236}">
                <a16:creationId xmlns:a16="http://schemas.microsoft.com/office/drawing/2014/main" id="{16797FF4-E65D-4512-EA4E-B81CF3E9825A}"/>
              </a:ext>
            </a:extLst>
          </p:cNvPr>
          <p:cNvCxnSpPr>
            <a:cxnSpLocks/>
          </p:cNvCxnSpPr>
          <p:nvPr/>
        </p:nvCxnSpPr>
        <p:spPr>
          <a:xfrm>
            <a:off x="6595143" y="3560700"/>
            <a:ext cx="428853" cy="562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14DFCE6-D2ED-7C60-E1F8-CDBEC7384F3E}"/>
                  </a:ext>
                </a:extLst>
              </p:cNvPr>
              <p:cNvSpPr txBox="1"/>
              <p:nvPr/>
            </p:nvSpPr>
            <p:spPr>
              <a:xfrm>
                <a:off x="3041886" y="2985031"/>
                <a:ext cx="1436980" cy="388440"/>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𝜆</m:t>
                        </m:r>
                      </m:sub>
                      <m:sup>
                        <m:r>
                          <a:rPr lang="en-US" b="0" i="1" smtClean="0">
                            <a:latin typeface="Cambria Math" panose="02040503050406030204" pitchFamily="18" charset="0"/>
                          </a:rPr>
                          <m:t>𝑅</m:t>
                        </m:r>
                      </m:sup>
                    </m:sSubSup>
                  </m:oMath>
                </a14:m>
                <a:r>
                  <a:rPr lang="en-US"/>
                  <a:t> </a:t>
                </a:r>
                <a:endParaRPr lang="vi-VN"/>
              </a:p>
            </p:txBody>
          </p:sp>
        </mc:Choice>
        <mc:Fallback xmlns="">
          <p:sp>
            <p:nvSpPr>
              <p:cNvPr id="34" name="TextBox 33">
                <a:extLst>
                  <a:ext uri="{FF2B5EF4-FFF2-40B4-BE49-F238E27FC236}">
                    <a16:creationId xmlns:a16="http://schemas.microsoft.com/office/drawing/2014/main" id="{614DFCE6-D2ED-7C60-E1F8-CDBEC7384F3E}"/>
                  </a:ext>
                </a:extLst>
              </p:cNvPr>
              <p:cNvSpPr txBox="1">
                <a:spLocks noRot="1" noChangeAspect="1" noMove="1" noResize="1" noEditPoints="1" noAdjustHandles="1" noChangeArrowheads="1" noChangeShapeType="1" noTextEdit="1"/>
              </p:cNvSpPr>
              <p:nvPr/>
            </p:nvSpPr>
            <p:spPr>
              <a:xfrm>
                <a:off x="3041886" y="2985031"/>
                <a:ext cx="1436980" cy="388440"/>
              </a:xfrm>
              <a:prstGeom prst="rect">
                <a:avLst/>
              </a:prstGeom>
              <a:blipFill>
                <a:blip r:embed="rId7"/>
                <a:stretch>
                  <a:fillRect t="-4762" r="-1695" b="-2539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E99E2CE-DED9-3869-7C7F-246EB459A8E9}"/>
                  </a:ext>
                </a:extLst>
              </p:cNvPr>
              <p:cNvSpPr txBox="1"/>
              <p:nvPr/>
            </p:nvSpPr>
            <p:spPr>
              <a:xfrm>
                <a:off x="3041886" y="3773352"/>
                <a:ext cx="2103964" cy="945836"/>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sSub>
                      <m:sSubPr>
                        <m:ctrlPr>
                          <a:rPr lang="en-US"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𝜽</m:t>
                        </m:r>
                      </m:e>
                      <m:sub>
                        <m:r>
                          <a:rPr lang="en-US" i="1">
                            <a:latin typeface="Cambria Math" panose="02040503050406030204" pitchFamily="18" charset="0"/>
                            <a:cs typeface="Times New Roman" panose="02020603050405020304" pitchFamily="18" charset="0"/>
                          </a:rPr>
                          <m:t>𝐺</m:t>
                        </m:r>
                      </m:sub>
                    </m:sSub>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b="0" i="1">
                    <a:latin typeface="Cambria Math" panose="02040503050406030204" pitchFamily="18" charset="0"/>
                  </a:rPr>
                  <a:t> </a:t>
                </a:r>
              </a:p>
              <a:p>
                <a14:m>
                  <m:oMath xmlns:m="http://schemas.openxmlformats.org/officeDocument/2006/math">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𝜆</m:t>
                        </m:r>
                      </m:sub>
                      <m:sup>
                        <m:r>
                          <a:rPr lang="en-US" b="0" i="1" smtClean="0">
                            <a:latin typeface="Cambria Math" panose="02040503050406030204" pitchFamily="18" charset="0"/>
                          </a:rPr>
                          <m:t>𝐺</m:t>
                        </m:r>
                      </m:sup>
                    </m:sSubSup>
                    <m:r>
                      <a:rPr lang="en-US" b="0" i="1" smtClean="0">
                        <a:latin typeface="Cambria Math" panose="02040503050406030204" pitchFamily="18" charset="0"/>
                      </a:rPr>
                      <m:t>(</m:t>
                    </m:r>
                    <m:sSub>
                      <m:sSubPr>
                        <m:ctrlPr>
                          <a:rPr lang="en-US"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𝜽</m:t>
                        </m:r>
                      </m:e>
                      <m:sub>
                        <m:r>
                          <a:rPr lang="en-US" i="1">
                            <a:latin typeface="Cambria Math" panose="02040503050406030204" pitchFamily="18" charset="0"/>
                            <a:cs typeface="Times New Roman" panose="02020603050405020304" pitchFamily="18" charset="0"/>
                          </a:rPr>
                          <m:t>𝐺</m:t>
                        </m:r>
                      </m:sub>
                    </m:sSub>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b="0" i="1">
                    <a:latin typeface="Cambria Math" panose="02040503050406030204" pitchFamily="18" charset="0"/>
                  </a:rPr>
                  <a:t> </a:t>
                </a:r>
              </a:p>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𝜓</m:t>
                        </m:r>
                      </m:e>
                      <m:sub>
                        <m:r>
                          <a:rPr lang="en-US" b="0" i="1" smtClean="0">
                            <a:latin typeface="Cambria Math" panose="02040503050406030204" pitchFamily="18" charset="0"/>
                          </a:rPr>
                          <m:t>𝜆</m:t>
                        </m:r>
                      </m:sub>
                    </m:sSub>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𝜆</m:t>
                        </m:r>
                      </m:sub>
                    </m:sSub>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a:t> </a:t>
                </a:r>
                <a:endParaRPr lang="vi-VN"/>
              </a:p>
            </p:txBody>
          </p:sp>
        </mc:Choice>
        <mc:Fallback xmlns="">
          <p:sp>
            <p:nvSpPr>
              <p:cNvPr id="38" name="TextBox 37">
                <a:extLst>
                  <a:ext uri="{FF2B5EF4-FFF2-40B4-BE49-F238E27FC236}">
                    <a16:creationId xmlns:a16="http://schemas.microsoft.com/office/drawing/2014/main" id="{7E99E2CE-DED9-3869-7C7F-246EB459A8E9}"/>
                  </a:ext>
                </a:extLst>
              </p:cNvPr>
              <p:cNvSpPr txBox="1">
                <a:spLocks noRot="1" noChangeAspect="1" noMove="1" noResize="1" noEditPoints="1" noAdjustHandles="1" noChangeArrowheads="1" noChangeShapeType="1" noTextEdit="1"/>
              </p:cNvSpPr>
              <p:nvPr/>
            </p:nvSpPr>
            <p:spPr>
              <a:xfrm>
                <a:off x="3041886" y="3773352"/>
                <a:ext cx="2103964" cy="945836"/>
              </a:xfrm>
              <a:prstGeom prst="rect">
                <a:avLst/>
              </a:prstGeom>
              <a:blipFill>
                <a:blip r:embed="rId8"/>
                <a:stretch>
                  <a:fillRect b="-4516"/>
                </a:stretch>
              </a:blipFill>
            </p:spPr>
            <p:txBody>
              <a:bodyPr/>
              <a:lstStyle/>
              <a:p>
                <a:r>
                  <a:rPr lang="vi-VN">
                    <a:noFill/>
                  </a:rPr>
                  <a:t> </a:t>
                </a:r>
              </a:p>
            </p:txBody>
          </p:sp>
        </mc:Fallback>
      </mc:AlternateContent>
      <p:cxnSp>
        <p:nvCxnSpPr>
          <p:cNvPr id="39" name="Connector: Elbow 38">
            <a:extLst>
              <a:ext uri="{FF2B5EF4-FFF2-40B4-BE49-F238E27FC236}">
                <a16:creationId xmlns:a16="http://schemas.microsoft.com/office/drawing/2014/main" id="{75D1255E-03B7-69DE-1805-69B87EDEA962}"/>
              </a:ext>
            </a:extLst>
          </p:cNvPr>
          <p:cNvCxnSpPr>
            <a:cxnSpLocks/>
            <a:stCxn id="13" idx="3"/>
            <a:endCxn id="17" idx="1"/>
          </p:cNvCxnSpPr>
          <p:nvPr/>
        </p:nvCxnSpPr>
        <p:spPr>
          <a:xfrm flipV="1">
            <a:off x="2311400" y="3572128"/>
            <a:ext cx="730486" cy="844798"/>
          </a:xfrm>
          <a:prstGeom prst="bentConnector3">
            <a:avLst>
              <a:gd name="adj1" fmla="val 67965"/>
            </a:avLst>
          </a:prstGeom>
          <a:ln>
            <a:prstDash val="lgDash"/>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4E31FD83-8D61-8724-EF60-9A68F5BFA63D}"/>
              </a:ext>
            </a:extLst>
          </p:cNvPr>
          <p:cNvSpPr txBox="1"/>
          <p:nvPr/>
        </p:nvSpPr>
        <p:spPr>
          <a:xfrm>
            <a:off x="5188222" y="3781162"/>
            <a:ext cx="1505145" cy="369332"/>
          </a:xfrm>
          <a:prstGeom prst="rect">
            <a:avLst/>
          </a:prstGeom>
          <a:noFill/>
        </p:spPr>
        <p:txBody>
          <a:bodyPr wrap="square">
            <a:spAutoFit/>
          </a:bodyPr>
          <a:lstStyle/>
          <a:p>
            <a:r>
              <a:rPr lang="en-US" sz="1800"/>
              <a:t>Discriminator</a:t>
            </a:r>
            <a:endParaRPr lang="vi-VN"/>
          </a:p>
        </p:txBody>
      </p:sp>
      <p:sp>
        <p:nvSpPr>
          <p:cNvPr id="49" name="TextBox 48">
            <a:extLst>
              <a:ext uri="{FF2B5EF4-FFF2-40B4-BE49-F238E27FC236}">
                <a16:creationId xmlns:a16="http://schemas.microsoft.com/office/drawing/2014/main" id="{A457FCBA-5E8D-0FE3-9226-F4B45D3720BB}"/>
              </a:ext>
            </a:extLst>
          </p:cNvPr>
          <p:cNvSpPr txBox="1"/>
          <p:nvPr/>
        </p:nvSpPr>
        <p:spPr>
          <a:xfrm>
            <a:off x="1263885" y="3753389"/>
            <a:ext cx="1216848" cy="369332"/>
          </a:xfrm>
          <a:prstGeom prst="rect">
            <a:avLst/>
          </a:prstGeom>
          <a:noFill/>
        </p:spPr>
        <p:txBody>
          <a:bodyPr wrap="square">
            <a:spAutoFit/>
          </a:bodyPr>
          <a:lstStyle/>
          <a:p>
            <a:r>
              <a:rPr lang="en-US" sz="1800"/>
              <a:t>Generator</a:t>
            </a:r>
            <a:endParaRPr lang="vi-VN"/>
          </a:p>
        </p:txBody>
      </p:sp>
      <p:sp>
        <p:nvSpPr>
          <p:cNvPr id="54" name="TextBox 53">
            <a:extLst>
              <a:ext uri="{FF2B5EF4-FFF2-40B4-BE49-F238E27FC236}">
                <a16:creationId xmlns:a16="http://schemas.microsoft.com/office/drawing/2014/main" id="{CC752D3A-4F50-C76A-D08B-84A18608AE41}"/>
              </a:ext>
            </a:extLst>
          </p:cNvPr>
          <p:cNvSpPr txBox="1"/>
          <p:nvPr/>
        </p:nvSpPr>
        <p:spPr>
          <a:xfrm>
            <a:off x="628650" y="4767263"/>
            <a:ext cx="4572000" cy="246221"/>
          </a:xfrm>
          <a:prstGeom prst="rect">
            <a:avLst/>
          </a:prstGeom>
          <a:noFill/>
        </p:spPr>
        <p:txBody>
          <a:bodyPr wrap="square">
            <a:spAutoFit/>
          </a:bodyPr>
          <a:lstStyle/>
          <a:p>
            <a:r>
              <a:rPr lang="en-US" sz="1000" b="1"/>
              <a:t>[3.4.6] </a:t>
            </a:r>
            <a:r>
              <a:rPr lang="vi-VN" sz="1000"/>
              <a:t>https://pennylane.ai/qml/demos/tutorial_QGAN.html</a:t>
            </a:r>
          </a:p>
        </p:txBody>
      </p:sp>
    </p:spTree>
    <p:extLst>
      <p:ext uri="{BB962C8B-B14F-4D97-AF65-F5344CB8AC3E}">
        <p14:creationId xmlns:p14="http://schemas.microsoft.com/office/powerpoint/2010/main" val="22640710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Đường nối Thẳng 121">
            <a:extLst>
              <a:ext uri="{FF2B5EF4-FFF2-40B4-BE49-F238E27FC236}">
                <a16:creationId xmlns:a16="http://schemas.microsoft.com/office/drawing/2014/main" id="{D4F254F6-A6C4-CA14-0597-FB6EE2C395D3}"/>
              </a:ext>
            </a:extLst>
          </p:cNvPr>
          <p:cNvCxnSpPr>
            <a:cxnSpLocks/>
          </p:cNvCxnSpPr>
          <p:nvPr/>
        </p:nvCxnSpPr>
        <p:spPr>
          <a:xfrm>
            <a:off x="1772252" y="1302134"/>
            <a:ext cx="279974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 name="Tiêu đề 1">
            <a:extLst>
              <a:ext uri="{FF2B5EF4-FFF2-40B4-BE49-F238E27FC236}">
                <a16:creationId xmlns:a16="http://schemas.microsoft.com/office/drawing/2014/main" id="{F2AF2D1D-6E32-44C4-B5AC-457DFA5C36FD}"/>
              </a:ext>
            </a:extLst>
          </p:cNvPr>
          <p:cNvSpPr>
            <a:spLocks noGrp="1"/>
          </p:cNvSpPr>
          <p:nvPr>
            <p:ph type="title"/>
          </p:nvPr>
        </p:nvSpPr>
        <p:spPr>
          <a:xfrm>
            <a:off x="628650" y="5490"/>
            <a:ext cx="6466417" cy="1134925"/>
          </a:xfrm>
        </p:spPr>
        <p:txBody>
          <a:bodyPr>
            <a:normAutofit/>
          </a:bodyPr>
          <a:lstStyle/>
          <a:p>
            <a:r>
              <a:rPr lang="en-US"/>
              <a:t>3.4.3. Quantum deep learning</a:t>
            </a:r>
            <a:br>
              <a:rPr lang="en-US"/>
            </a:br>
            <a:r>
              <a:rPr lang="en-US" sz="2200"/>
              <a:t>Quantum Generative adversarial net (QGAN)</a:t>
            </a:r>
            <a:endParaRPr lang="vi-VN" sz="2200"/>
          </a:p>
        </p:txBody>
      </p:sp>
      <p:sp>
        <p:nvSpPr>
          <p:cNvPr id="3" name="Chỗ dành sẵn cho Số hiệu Bản chiếu 2">
            <a:extLst>
              <a:ext uri="{FF2B5EF4-FFF2-40B4-BE49-F238E27FC236}">
                <a16:creationId xmlns:a16="http://schemas.microsoft.com/office/drawing/2014/main" id="{AF84B2F7-5327-40FB-A5B3-53E370DDC8DF}"/>
              </a:ext>
            </a:extLst>
          </p:cNvPr>
          <p:cNvSpPr>
            <a:spLocks noGrp="1"/>
          </p:cNvSpPr>
          <p:nvPr>
            <p:ph type="sldNum" sz="quarter" idx="12"/>
          </p:nvPr>
        </p:nvSpPr>
        <p:spPr/>
        <p:txBody>
          <a:bodyPr/>
          <a:lstStyle/>
          <a:p>
            <a:fld id="{47B90B59-900E-4193-AFEA-B180A6FF40EC}" type="slidenum">
              <a:rPr lang="vi-VN" smtClean="0"/>
              <a:t>49</a:t>
            </a:fld>
            <a:endParaRPr lang="vi-VN"/>
          </a:p>
        </p:txBody>
      </p:sp>
      <p:cxnSp>
        <p:nvCxnSpPr>
          <p:cNvPr id="7" name="Đường nối Thẳng 121">
            <a:extLst>
              <a:ext uri="{FF2B5EF4-FFF2-40B4-BE49-F238E27FC236}">
                <a16:creationId xmlns:a16="http://schemas.microsoft.com/office/drawing/2014/main" id="{50509BDD-B761-1B55-424B-9C0AE01D384E}"/>
              </a:ext>
            </a:extLst>
          </p:cNvPr>
          <p:cNvCxnSpPr>
            <a:cxnSpLocks/>
          </p:cNvCxnSpPr>
          <p:nvPr/>
        </p:nvCxnSpPr>
        <p:spPr>
          <a:xfrm>
            <a:off x="1801970" y="1705986"/>
            <a:ext cx="1847817"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Đường nối Thẳng 121">
            <a:extLst>
              <a:ext uri="{FF2B5EF4-FFF2-40B4-BE49-F238E27FC236}">
                <a16:creationId xmlns:a16="http://schemas.microsoft.com/office/drawing/2014/main" id="{821CE14E-FD7B-F80A-B0B5-E2275F94B054}"/>
              </a:ext>
            </a:extLst>
          </p:cNvPr>
          <p:cNvCxnSpPr>
            <a:cxnSpLocks/>
          </p:cNvCxnSpPr>
          <p:nvPr/>
        </p:nvCxnSpPr>
        <p:spPr>
          <a:xfrm flipV="1">
            <a:off x="1911330" y="1637151"/>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0" name="Đường nối Thẳng 121">
            <a:extLst>
              <a:ext uri="{FF2B5EF4-FFF2-40B4-BE49-F238E27FC236}">
                <a16:creationId xmlns:a16="http://schemas.microsoft.com/office/drawing/2014/main" id="{5AE7C784-9629-AAFD-1176-4B0CC3E36D62}"/>
              </a:ext>
            </a:extLst>
          </p:cNvPr>
          <p:cNvCxnSpPr>
            <a:cxnSpLocks/>
          </p:cNvCxnSpPr>
          <p:nvPr/>
        </p:nvCxnSpPr>
        <p:spPr>
          <a:xfrm flipV="1">
            <a:off x="1827950" y="2114047"/>
            <a:ext cx="1823534" cy="835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Đường nối Thẳng 121">
            <a:extLst>
              <a:ext uri="{FF2B5EF4-FFF2-40B4-BE49-F238E27FC236}">
                <a16:creationId xmlns:a16="http://schemas.microsoft.com/office/drawing/2014/main" id="{C1308A30-16CB-A0F8-02CE-77A2E61E4E13}"/>
              </a:ext>
            </a:extLst>
          </p:cNvPr>
          <p:cNvCxnSpPr>
            <a:cxnSpLocks/>
          </p:cNvCxnSpPr>
          <p:nvPr/>
        </p:nvCxnSpPr>
        <p:spPr>
          <a:xfrm flipV="1">
            <a:off x="1911330" y="2041615"/>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3" name="Hình chữ nhật 93">
            <a:extLst>
              <a:ext uri="{FF2B5EF4-FFF2-40B4-BE49-F238E27FC236}">
                <a16:creationId xmlns:a16="http://schemas.microsoft.com/office/drawing/2014/main" id="{BED8BBAC-2D6D-971F-0DB8-265057554005}"/>
              </a:ext>
            </a:extLst>
          </p:cNvPr>
          <p:cNvSpPr/>
          <p:nvPr/>
        </p:nvSpPr>
        <p:spPr>
          <a:xfrm>
            <a:off x="3884417" y="117560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4" name="Arc 13">
            <a:extLst>
              <a:ext uri="{FF2B5EF4-FFF2-40B4-BE49-F238E27FC236}">
                <a16:creationId xmlns:a16="http://schemas.microsoft.com/office/drawing/2014/main" id="{322D136B-068F-625F-3F0A-1497275972D0}"/>
              </a:ext>
            </a:extLst>
          </p:cNvPr>
          <p:cNvSpPr/>
          <p:nvPr/>
        </p:nvSpPr>
        <p:spPr>
          <a:xfrm>
            <a:off x="3940114" y="132020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5" name="Straight Arrow Connector 14">
            <a:extLst>
              <a:ext uri="{FF2B5EF4-FFF2-40B4-BE49-F238E27FC236}">
                <a16:creationId xmlns:a16="http://schemas.microsoft.com/office/drawing/2014/main" id="{3AB539F1-8FCF-AAFC-FC24-CC3681E5332B}"/>
              </a:ext>
            </a:extLst>
          </p:cNvPr>
          <p:cNvCxnSpPr>
            <a:cxnSpLocks/>
          </p:cNvCxnSpPr>
          <p:nvPr/>
        </p:nvCxnSpPr>
        <p:spPr>
          <a:xfrm flipV="1">
            <a:off x="3994330" y="124257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81EAE39-1FA3-DDC8-FE4F-7A36778435D5}"/>
                  </a:ext>
                </a:extLst>
              </p:cNvPr>
              <p:cNvSpPr txBox="1"/>
              <p:nvPr/>
            </p:nvSpPr>
            <p:spPr>
              <a:xfrm>
                <a:off x="433662" y="1163634"/>
                <a:ext cx="578893" cy="276999"/>
              </a:xfrm>
              <a:prstGeom prst="rect">
                <a:avLst/>
              </a:prstGeom>
              <a:noFill/>
            </p:spPr>
            <p:txBody>
              <a:bodyPr wrap="square" lIns="0" tIns="0" rIns="0" bIns="0" rtlCol="0">
                <a:spAutoFit/>
              </a:bodyPr>
              <a:lstStyle/>
              <a:p>
                <a:r>
                  <a:rPr lang="en-US"/>
                  <a:t>Out </a:t>
                </a:r>
                <a14:m>
                  <m:oMath xmlns:m="http://schemas.openxmlformats.org/officeDocument/2006/math">
                    <m:r>
                      <a:rPr lang="en-US" i="1" smtClean="0">
                        <a:latin typeface="Cambria Math" panose="02040503050406030204" pitchFamily="18" charset="0"/>
                      </a:rPr>
                      <m:t>𝐷</m:t>
                    </m:r>
                  </m:oMath>
                </a14:m>
                <a:endParaRPr lang="vi-VN"/>
              </a:p>
            </p:txBody>
          </p:sp>
        </mc:Choice>
        <mc:Fallback xmlns="">
          <p:sp>
            <p:nvSpPr>
              <p:cNvPr id="20" name="TextBox 19">
                <a:extLst>
                  <a:ext uri="{FF2B5EF4-FFF2-40B4-BE49-F238E27FC236}">
                    <a16:creationId xmlns:a16="http://schemas.microsoft.com/office/drawing/2014/main" id="{981EAE39-1FA3-DDC8-FE4F-7A36778435D5}"/>
                  </a:ext>
                </a:extLst>
              </p:cNvPr>
              <p:cNvSpPr txBox="1">
                <a:spLocks noRot="1" noChangeAspect="1" noMove="1" noResize="1" noEditPoints="1" noAdjustHandles="1" noChangeArrowheads="1" noChangeShapeType="1" noTextEdit="1"/>
              </p:cNvSpPr>
              <p:nvPr/>
            </p:nvSpPr>
            <p:spPr>
              <a:xfrm>
                <a:off x="433662" y="1163634"/>
                <a:ext cx="578893" cy="276999"/>
              </a:xfrm>
              <a:prstGeom prst="rect">
                <a:avLst/>
              </a:prstGeom>
              <a:blipFill>
                <a:blip r:embed="rId2"/>
                <a:stretch>
                  <a:fillRect l="-24211" t="-28889" r="-11579" b="-511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E356727-A722-4ECA-760B-209C90896E1F}"/>
                  </a:ext>
                </a:extLst>
              </p:cNvPr>
              <p:cNvSpPr txBox="1"/>
              <p:nvPr/>
            </p:nvSpPr>
            <p:spPr>
              <a:xfrm>
                <a:off x="377616" y="1571447"/>
                <a:ext cx="747166" cy="276999"/>
              </a:xfrm>
              <a:prstGeom prst="rect">
                <a:avLst/>
              </a:prstGeom>
              <a:noFill/>
            </p:spPr>
            <p:txBody>
              <a:bodyPr wrap="square" lIns="0" tIns="0" rIns="0" bIns="0" rtlCol="0">
                <a:spAutoFit/>
              </a:bodyPr>
              <a:lstStyle/>
              <a:p>
                <a:r>
                  <a:rPr lang="en-US"/>
                  <a:t>Bath </a:t>
                </a:r>
                <a14:m>
                  <m:oMath xmlns:m="http://schemas.openxmlformats.org/officeDocument/2006/math">
                    <m:r>
                      <a:rPr lang="en-US" i="1" smtClean="0">
                        <a:latin typeface="Cambria Math" panose="02040503050406030204" pitchFamily="18" charset="0"/>
                      </a:rPr>
                      <m:t>𝐷</m:t>
                    </m:r>
                  </m:oMath>
                </a14:m>
                <a:endParaRPr lang="vi-VN"/>
              </a:p>
            </p:txBody>
          </p:sp>
        </mc:Choice>
        <mc:Fallback xmlns="">
          <p:sp>
            <p:nvSpPr>
              <p:cNvPr id="22" name="TextBox 21">
                <a:extLst>
                  <a:ext uri="{FF2B5EF4-FFF2-40B4-BE49-F238E27FC236}">
                    <a16:creationId xmlns:a16="http://schemas.microsoft.com/office/drawing/2014/main" id="{7E356727-A722-4ECA-760B-209C90896E1F}"/>
                  </a:ext>
                </a:extLst>
              </p:cNvPr>
              <p:cNvSpPr txBox="1">
                <a:spLocks noRot="1" noChangeAspect="1" noMove="1" noResize="1" noEditPoints="1" noAdjustHandles="1" noChangeArrowheads="1" noChangeShapeType="1" noTextEdit="1"/>
              </p:cNvSpPr>
              <p:nvPr/>
            </p:nvSpPr>
            <p:spPr>
              <a:xfrm>
                <a:off x="377616" y="1571447"/>
                <a:ext cx="747166" cy="276999"/>
              </a:xfrm>
              <a:prstGeom prst="rect">
                <a:avLst/>
              </a:prstGeom>
              <a:blipFill>
                <a:blip r:embed="rId3"/>
                <a:stretch>
                  <a:fillRect l="-19512" t="-28889" b="-511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BC2454C-7CCD-667F-BD14-79D410CD6666}"/>
                  </a:ext>
                </a:extLst>
              </p:cNvPr>
              <p:cNvSpPr txBox="1"/>
              <p:nvPr/>
            </p:nvSpPr>
            <p:spPr>
              <a:xfrm>
                <a:off x="326166" y="1983903"/>
                <a:ext cx="747166" cy="276999"/>
              </a:xfrm>
              <a:prstGeom prst="rect">
                <a:avLst/>
              </a:prstGeom>
              <a:noFill/>
            </p:spPr>
            <p:txBody>
              <a:bodyPr wrap="square" lIns="0" tIns="0" rIns="0" bIns="0" rtlCol="0">
                <a:spAutoFit/>
              </a:bodyPr>
              <a:lstStyle/>
              <a:p>
                <a:r>
                  <a:rPr lang="en-US"/>
                  <a:t>Label </a:t>
                </a:r>
                <a14:m>
                  <m:oMath xmlns:m="http://schemas.openxmlformats.org/officeDocument/2006/math">
                    <m:r>
                      <a:rPr lang="en-US" i="1" smtClean="0">
                        <a:latin typeface="Cambria Math" panose="02040503050406030204" pitchFamily="18" charset="0"/>
                      </a:rPr>
                      <m:t>𝐷</m:t>
                    </m:r>
                  </m:oMath>
                </a14:m>
                <a:endParaRPr lang="vi-VN"/>
              </a:p>
            </p:txBody>
          </p:sp>
        </mc:Choice>
        <mc:Fallback xmlns="">
          <p:sp>
            <p:nvSpPr>
              <p:cNvPr id="23" name="TextBox 22">
                <a:extLst>
                  <a:ext uri="{FF2B5EF4-FFF2-40B4-BE49-F238E27FC236}">
                    <a16:creationId xmlns:a16="http://schemas.microsoft.com/office/drawing/2014/main" id="{6BC2454C-7CCD-667F-BD14-79D410CD6666}"/>
                  </a:ext>
                </a:extLst>
              </p:cNvPr>
              <p:cNvSpPr txBox="1">
                <a:spLocks noRot="1" noChangeAspect="1" noMove="1" noResize="1" noEditPoints="1" noAdjustHandles="1" noChangeArrowheads="1" noChangeShapeType="1" noTextEdit="1"/>
              </p:cNvSpPr>
              <p:nvPr/>
            </p:nvSpPr>
            <p:spPr>
              <a:xfrm>
                <a:off x="326166" y="1983903"/>
                <a:ext cx="747166" cy="276999"/>
              </a:xfrm>
              <a:prstGeom prst="rect">
                <a:avLst/>
              </a:prstGeom>
              <a:blipFill>
                <a:blip r:embed="rId4"/>
                <a:stretch>
                  <a:fillRect l="-19672" t="-28261" r="-5738" b="-50000"/>
                </a:stretch>
              </a:blipFill>
            </p:spPr>
            <p:txBody>
              <a:bodyPr/>
              <a:lstStyle/>
              <a:p>
                <a:r>
                  <a:rPr lang="vi-VN">
                    <a:noFill/>
                  </a:rPr>
                  <a:t> </a:t>
                </a:r>
              </a:p>
            </p:txBody>
          </p:sp>
        </mc:Fallback>
      </mc:AlternateContent>
      <p:cxnSp>
        <p:nvCxnSpPr>
          <p:cNvPr id="24" name="Đường nối Thẳng 121">
            <a:extLst>
              <a:ext uri="{FF2B5EF4-FFF2-40B4-BE49-F238E27FC236}">
                <a16:creationId xmlns:a16="http://schemas.microsoft.com/office/drawing/2014/main" id="{71DC02CD-0B2D-0115-8CFD-5316CDE94BB9}"/>
              </a:ext>
            </a:extLst>
          </p:cNvPr>
          <p:cNvCxnSpPr>
            <a:cxnSpLocks/>
          </p:cNvCxnSpPr>
          <p:nvPr/>
        </p:nvCxnSpPr>
        <p:spPr>
          <a:xfrm flipV="1">
            <a:off x="1832257" y="2541644"/>
            <a:ext cx="1823534" cy="835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5" name="Đường nối Thẳng 121">
            <a:extLst>
              <a:ext uri="{FF2B5EF4-FFF2-40B4-BE49-F238E27FC236}">
                <a16:creationId xmlns:a16="http://schemas.microsoft.com/office/drawing/2014/main" id="{8DBD2927-D703-351B-4102-FEE9D12EAE9C}"/>
              </a:ext>
            </a:extLst>
          </p:cNvPr>
          <p:cNvCxnSpPr>
            <a:cxnSpLocks/>
          </p:cNvCxnSpPr>
          <p:nvPr/>
        </p:nvCxnSpPr>
        <p:spPr>
          <a:xfrm flipV="1">
            <a:off x="1971335" y="2475171"/>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6" name="Đường nối Thẳng 121">
            <a:extLst>
              <a:ext uri="{FF2B5EF4-FFF2-40B4-BE49-F238E27FC236}">
                <a16:creationId xmlns:a16="http://schemas.microsoft.com/office/drawing/2014/main" id="{D3C1F0AB-758E-1510-F665-59ED22FCC984}"/>
              </a:ext>
            </a:extLst>
          </p:cNvPr>
          <p:cNvCxnSpPr>
            <a:cxnSpLocks/>
          </p:cNvCxnSpPr>
          <p:nvPr/>
        </p:nvCxnSpPr>
        <p:spPr>
          <a:xfrm>
            <a:off x="1861975" y="2953852"/>
            <a:ext cx="184951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7" name="Đường nối Thẳng 121">
            <a:extLst>
              <a:ext uri="{FF2B5EF4-FFF2-40B4-BE49-F238E27FC236}">
                <a16:creationId xmlns:a16="http://schemas.microsoft.com/office/drawing/2014/main" id="{44F9D095-01F3-4586-D2CC-270E11C2984A}"/>
              </a:ext>
            </a:extLst>
          </p:cNvPr>
          <p:cNvCxnSpPr>
            <a:cxnSpLocks/>
          </p:cNvCxnSpPr>
          <p:nvPr/>
        </p:nvCxnSpPr>
        <p:spPr>
          <a:xfrm flipV="1">
            <a:off x="1971335" y="2885017"/>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8" name="Đường nối Thẳng 121">
            <a:extLst>
              <a:ext uri="{FF2B5EF4-FFF2-40B4-BE49-F238E27FC236}">
                <a16:creationId xmlns:a16="http://schemas.microsoft.com/office/drawing/2014/main" id="{889AFAC3-4A3C-3560-3126-6D79FE683C6A}"/>
              </a:ext>
            </a:extLst>
          </p:cNvPr>
          <p:cNvCxnSpPr>
            <a:cxnSpLocks/>
          </p:cNvCxnSpPr>
          <p:nvPr/>
        </p:nvCxnSpPr>
        <p:spPr>
          <a:xfrm flipV="1">
            <a:off x="1887955" y="3361913"/>
            <a:ext cx="1823534" cy="835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9" name="Đường nối Thẳng 121">
            <a:extLst>
              <a:ext uri="{FF2B5EF4-FFF2-40B4-BE49-F238E27FC236}">
                <a16:creationId xmlns:a16="http://schemas.microsoft.com/office/drawing/2014/main" id="{24E35A1A-FECD-0860-2115-EEB741F3865C}"/>
              </a:ext>
            </a:extLst>
          </p:cNvPr>
          <p:cNvCxnSpPr>
            <a:cxnSpLocks/>
          </p:cNvCxnSpPr>
          <p:nvPr/>
        </p:nvCxnSpPr>
        <p:spPr>
          <a:xfrm flipV="1">
            <a:off x="1971335" y="3289481"/>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B57BB0A-8CA4-FDD6-5C06-3159301DAC8F}"/>
                  </a:ext>
                </a:extLst>
              </p:cNvPr>
              <p:cNvSpPr txBox="1"/>
              <p:nvPr/>
            </p:nvSpPr>
            <p:spPr>
              <a:xfrm>
                <a:off x="258232" y="2411500"/>
                <a:ext cx="852427" cy="276999"/>
              </a:xfrm>
              <a:prstGeom prst="rect">
                <a:avLst/>
              </a:prstGeom>
              <a:noFill/>
            </p:spPr>
            <p:txBody>
              <a:bodyPr wrap="square" lIns="0" tIns="0" rIns="0" bIns="0" rtlCol="0">
                <a:spAutoFit/>
              </a:bodyPr>
              <a:lstStyle/>
              <a:p>
                <a:r>
                  <a:rPr lang="en-US"/>
                  <a:t>Out </a:t>
                </a: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𝐺</m:t>
                    </m:r>
                  </m:oMath>
                </a14:m>
                <a:endParaRPr lang="vi-VN"/>
              </a:p>
            </p:txBody>
          </p:sp>
        </mc:Choice>
        <mc:Fallback xmlns="">
          <p:sp>
            <p:nvSpPr>
              <p:cNvPr id="30" name="TextBox 29">
                <a:extLst>
                  <a:ext uri="{FF2B5EF4-FFF2-40B4-BE49-F238E27FC236}">
                    <a16:creationId xmlns:a16="http://schemas.microsoft.com/office/drawing/2014/main" id="{7B57BB0A-8CA4-FDD6-5C06-3159301DAC8F}"/>
                  </a:ext>
                </a:extLst>
              </p:cNvPr>
              <p:cNvSpPr txBox="1">
                <a:spLocks noRot="1" noChangeAspect="1" noMove="1" noResize="1" noEditPoints="1" noAdjustHandles="1" noChangeArrowheads="1" noChangeShapeType="1" noTextEdit="1"/>
              </p:cNvSpPr>
              <p:nvPr/>
            </p:nvSpPr>
            <p:spPr>
              <a:xfrm>
                <a:off x="258232" y="2411500"/>
                <a:ext cx="852427" cy="276999"/>
              </a:xfrm>
              <a:prstGeom prst="rect">
                <a:avLst/>
              </a:prstGeom>
              <a:blipFill>
                <a:blip r:embed="rId5"/>
                <a:stretch>
                  <a:fillRect l="-16429" t="-28889" r="-714" b="-511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54C7E62-D2B9-15D1-1B95-EB9EB62F8108}"/>
                  </a:ext>
                </a:extLst>
              </p:cNvPr>
              <p:cNvSpPr txBox="1"/>
              <p:nvPr/>
            </p:nvSpPr>
            <p:spPr>
              <a:xfrm>
                <a:off x="140754" y="2819313"/>
                <a:ext cx="1044033" cy="276999"/>
              </a:xfrm>
              <a:prstGeom prst="rect">
                <a:avLst/>
              </a:prstGeom>
              <a:noFill/>
            </p:spPr>
            <p:txBody>
              <a:bodyPr wrap="square" lIns="0" tIns="0" rIns="0" bIns="0" rtlCol="0">
                <a:spAutoFit/>
              </a:bodyPr>
              <a:lstStyle/>
              <a:p>
                <a:r>
                  <a:rPr lang="en-US"/>
                  <a:t>Label </a:t>
                </a:r>
                <a14:m>
                  <m:oMath xmlns:m="http://schemas.openxmlformats.org/officeDocument/2006/math">
                    <m:r>
                      <a:rPr lang="en-US" i="1">
                        <a:latin typeface="Cambria Math" panose="02040503050406030204" pitchFamily="18" charset="0"/>
                      </a:rPr>
                      <m:t>𝑅</m:t>
                    </m:r>
                    <m:r>
                      <a:rPr lang="en-US" i="1">
                        <a:latin typeface="Cambria Math" panose="02040503050406030204" pitchFamily="18" charset="0"/>
                      </a:rPr>
                      <m:t>|</m:t>
                    </m:r>
                    <m:r>
                      <a:rPr lang="en-US" i="1">
                        <a:latin typeface="Cambria Math" panose="02040503050406030204" pitchFamily="18" charset="0"/>
                      </a:rPr>
                      <m:t>𝐺</m:t>
                    </m:r>
                  </m:oMath>
                </a14:m>
                <a:endParaRPr lang="vi-VN"/>
              </a:p>
            </p:txBody>
          </p:sp>
        </mc:Choice>
        <mc:Fallback xmlns="">
          <p:sp>
            <p:nvSpPr>
              <p:cNvPr id="31" name="TextBox 30">
                <a:extLst>
                  <a:ext uri="{FF2B5EF4-FFF2-40B4-BE49-F238E27FC236}">
                    <a16:creationId xmlns:a16="http://schemas.microsoft.com/office/drawing/2014/main" id="{C54C7E62-D2B9-15D1-1B95-EB9EB62F8108}"/>
                  </a:ext>
                </a:extLst>
              </p:cNvPr>
              <p:cNvSpPr txBox="1">
                <a:spLocks noRot="1" noChangeAspect="1" noMove="1" noResize="1" noEditPoints="1" noAdjustHandles="1" noChangeArrowheads="1" noChangeShapeType="1" noTextEdit="1"/>
              </p:cNvSpPr>
              <p:nvPr/>
            </p:nvSpPr>
            <p:spPr>
              <a:xfrm>
                <a:off x="140754" y="2819313"/>
                <a:ext cx="1044033" cy="276999"/>
              </a:xfrm>
              <a:prstGeom prst="rect">
                <a:avLst/>
              </a:prstGeom>
              <a:blipFill>
                <a:blip r:embed="rId6"/>
                <a:stretch>
                  <a:fillRect l="-13450" t="-28261" b="-5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E540EA7-4ED8-E5CD-3762-C61AB0D0E7FA}"/>
                  </a:ext>
                </a:extLst>
              </p:cNvPr>
              <p:cNvSpPr txBox="1"/>
              <p:nvPr/>
            </p:nvSpPr>
            <p:spPr>
              <a:xfrm>
                <a:off x="207433" y="3231769"/>
                <a:ext cx="925904" cy="276999"/>
              </a:xfrm>
              <a:prstGeom prst="rect">
                <a:avLst/>
              </a:prstGeom>
              <a:noFill/>
            </p:spPr>
            <p:txBody>
              <a:bodyPr wrap="square" lIns="0" tIns="0" rIns="0" bIns="0" rtlCol="0">
                <a:spAutoFit/>
              </a:bodyPr>
              <a:lstStyle/>
              <a:p>
                <a:r>
                  <a:rPr lang="en-US"/>
                  <a:t>Bath </a:t>
                </a: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𝐺</m:t>
                    </m:r>
                  </m:oMath>
                </a14:m>
                <a:endParaRPr lang="vi-VN" i="1"/>
              </a:p>
            </p:txBody>
          </p:sp>
        </mc:Choice>
        <mc:Fallback xmlns="">
          <p:sp>
            <p:nvSpPr>
              <p:cNvPr id="32" name="TextBox 31">
                <a:extLst>
                  <a:ext uri="{FF2B5EF4-FFF2-40B4-BE49-F238E27FC236}">
                    <a16:creationId xmlns:a16="http://schemas.microsoft.com/office/drawing/2014/main" id="{0E540EA7-4ED8-E5CD-3762-C61AB0D0E7FA}"/>
                  </a:ext>
                </a:extLst>
              </p:cNvPr>
              <p:cNvSpPr txBox="1">
                <a:spLocks noRot="1" noChangeAspect="1" noMove="1" noResize="1" noEditPoints="1" noAdjustHandles="1" noChangeArrowheads="1" noChangeShapeType="1" noTextEdit="1"/>
              </p:cNvSpPr>
              <p:nvPr/>
            </p:nvSpPr>
            <p:spPr>
              <a:xfrm>
                <a:off x="207433" y="3231769"/>
                <a:ext cx="925904" cy="276999"/>
              </a:xfrm>
              <a:prstGeom prst="rect">
                <a:avLst/>
              </a:prstGeom>
              <a:blipFill>
                <a:blip r:embed="rId7"/>
                <a:stretch>
                  <a:fillRect l="-15132" t="-28261" r="-1316" b="-5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15BBCAB-766C-66B1-308E-31BA34B565D5}"/>
                  </a:ext>
                </a:extLst>
              </p:cNvPr>
              <p:cNvSpPr txBox="1"/>
              <p:nvPr/>
            </p:nvSpPr>
            <p:spPr>
              <a:xfrm>
                <a:off x="1060180" y="1113290"/>
                <a:ext cx="41291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vi-VN"/>
              </a:p>
            </p:txBody>
          </p:sp>
        </mc:Choice>
        <mc:Fallback xmlns="">
          <p:sp>
            <p:nvSpPr>
              <p:cNvPr id="33" name="TextBox 32">
                <a:extLst>
                  <a:ext uri="{FF2B5EF4-FFF2-40B4-BE49-F238E27FC236}">
                    <a16:creationId xmlns:a16="http://schemas.microsoft.com/office/drawing/2014/main" id="{C15BBCAB-766C-66B1-308E-31BA34B565D5}"/>
                  </a:ext>
                </a:extLst>
              </p:cNvPr>
              <p:cNvSpPr txBox="1">
                <a:spLocks noRot="1" noChangeAspect="1" noMove="1" noResize="1" noEditPoints="1" noAdjustHandles="1" noChangeArrowheads="1" noChangeShapeType="1" noTextEdit="1"/>
              </p:cNvSpPr>
              <p:nvPr/>
            </p:nvSpPr>
            <p:spPr>
              <a:xfrm>
                <a:off x="1060180" y="1113290"/>
                <a:ext cx="412912" cy="369332"/>
              </a:xfrm>
              <a:prstGeom prst="rect">
                <a:avLst/>
              </a:prstGeom>
              <a:blipFill>
                <a:blip r:embed="rId8"/>
                <a:stretch>
                  <a:fillRect l="-4412" r="-17647" b="-1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B7E40F3-FD48-B9F4-4465-0568BC385BB3}"/>
                  </a:ext>
                </a:extLst>
              </p:cNvPr>
              <p:cNvSpPr txBox="1"/>
              <p:nvPr/>
            </p:nvSpPr>
            <p:spPr>
              <a:xfrm>
                <a:off x="1060180" y="1517808"/>
                <a:ext cx="729659"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𝑑</m:t>
                          </m:r>
                        </m:sup>
                      </m:sSup>
                    </m:oMath>
                  </m:oMathPara>
                </a14:m>
                <a:endParaRPr lang="vi-VN"/>
              </a:p>
            </p:txBody>
          </p:sp>
        </mc:Choice>
        <mc:Fallback xmlns="">
          <p:sp>
            <p:nvSpPr>
              <p:cNvPr id="34" name="TextBox 33">
                <a:extLst>
                  <a:ext uri="{FF2B5EF4-FFF2-40B4-BE49-F238E27FC236}">
                    <a16:creationId xmlns:a16="http://schemas.microsoft.com/office/drawing/2014/main" id="{7B7E40F3-FD48-B9F4-4465-0568BC385BB3}"/>
                  </a:ext>
                </a:extLst>
              </p:cNvPr>
              <p:cNvSpPr txBox="1">
                <a:spLocks noRot="1" noChangeAspect="1" noMove="1" noResize="1" noEditPoints="1" noAdjustHandles="1" noChangeArrowheads="1" noChangeShapeType="1" noTextEdit="1"/>
              </p:cNvSpPr>
              <p:nvPr/>
            </p:nvSpPr>
            <p:spPr>
              <a:xfrm>
                <a:off x="1060180" y="1517808"/>
                <a:ext cx="729659" cy="392993"/>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2644A5D-B27C-9CBC-1F1B-8463F1FD6790}"/>
                  </a:ext>
                </a:extLst>
              </p:cNvPr>
              <p:cNvSpPr txBox="1"/>
              <p:nvPr/>
            </p:nvSpPr>
            <p:spPr>
              <a:xfrm>
                <a:off x="945914" y="1921226"/>
                <a:ext cx="7296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m:oMathPara>
                </a14:m>
                <a:endParaRPr lang="vi-VN"/>
              </a:p>
            </p:txBody>
          </p:sp>
        </mc:Choice>
        <mc:Fallback xmlns="">
          <p:sp>
            <p:nvSpPr>
              <p:cNvPr id="35" name="TextBox 34">
                <a:extLst>
                  <a:ext uri="{FF2B5EF4-FFF2-40B4-BE49-F238E27FC236}">
                    <a16:creationId xmlns:a16="http://schemas.microsoft.com/office/drawing/2014/main" id="{62644A5D-B27C-9CBC-1F1B-8463F1FD6790}"/>
                  </a:ext>
                </a:extLst>
              </p:cNvPr>
              <p:cNvSpPr txBox="1">
                <a:spLocks noRot="1" noChangeAspect="1" noMove="1" noResize="1" noEditPoints="1" noAdjustHandles="1" noChangeArrowheads="1" noChangeShapeType="1" noTextEdit="1"/>
              </p:cNvSpPr>
              <p:nvPr/>
            </p:nvSpPr>
            <p:spPr>
              <a:xfrm>
                <a:off x="945914" y="1921226"/>
                <a:ext cx="729659" cy="369332"/>
              </a:xfrm>
              <a:prstGeom prst="rect">
                <a:avLst/>
              </a:prstGeom>
              <a:blipFill>
                <a:blip r:embed="rId10"/>
                <a:stretch>
                  <a:fillRect b="-1475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658426C-B296-AA42-FF6E-F9E093C1981A}"/>
                  </a:ext>
                </a:extLst>
              </p:cNvPr>
              <p:cNvSpPr txBox="1"/>
              <p:nvPr/>
            </p:nvSpPr>
            <p:spPr>
              <a:xfrm>
                <a:off x="1060179" y="2345147"/>
                <a:ext cx="729659"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𝑛</m:t>
                          </m:r>
                        </m:sup>
                      </m:sSup>
                    </m:oMath>
                  </m:oMathPara>
                </a14:m>
                <a:endParaRPr lang="vi-VN"/>
              </a:p>
            </p:txBody>
          </p:sp>
        </mc:Choice>
        <mc:Fallback xmlns="">
          <p:sp>
            <p:nvSpPr>
              <p:cNvPr id="36" name="TextBox 35">
                <a:extLst>
                  <a:ext uri="{FF2B5EF4-FFF2-40B4-BE49-F238E27FC236}">
                    <a16:creationId xmlns:a16="http://schemas.microsoft.com/office/drawing/2014/main" id="{B658426C-B296-AA42-FF6E-F9E093C1981A}"/>
                  </a:ext>
                </a:extLst>
              </p:cNvPr>
              <p:cNvSpPr txBox="1">
                <a:spLocks noRot="1" noChangeAspect="1" noMove="1" noResize="1" noEditPoints="1" noAdjustHandles="1" noChangeArrowheads="1" noChangeShapeType="1" noTextEdit="1"/>
              </p:cNvSpPr>
              <p:nvPr/>
            </p:nvSpPr>
            <p:spPr>
              <a:xfrm>
                <a:off x="1060179" y="2345147"/>
                <a:ext cx="729659" cy="392993"/>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C6E9A2F-65F7-23AF-602A-05DB67213F03}"/>
                  </a:ext>
                </a:extLst>
              </p:cNvPr>
              <p:cNvSpPr txBox="1"/>
              <p:nvPr/>
            </p:nvSpPr>
            <p:spPr>
              <a:xfrm>
                <a:off x="945913" y="2754852"/>
                <a:ext cx="7296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m:oMathPara>
                </a14:m>
                <a:endParaRPr lang="vi-VN"/>
              </a:p>
            </p:txBody>
          </p:sp>
        </mc:Choice>
        <mc:Fallback xmlns="">
          <p:sp>
            <p:nvSpPr>
              <p:cNvPr id="37" name="TextBox 36">
                <a:extLst>
                  <a:ext uri="{FF2B5EF4-FFF2-40B4-BE49-F238E27FC236}">
                    <a16:creationId xmlns:a16="http://schemas.microsoft.com/office/drawing/2014/main" id="{BC6E9A2F-65F7-23AF-602A-05DB67213F03}"/>
                  </a:ext>
                </a:extLst>
              </p:cNvPr>
              <p:cNvSpPr txBox="1">
                <a:spLocks noRot="1" noChangeAspect="1" noMove="1" noResize="1" noEditPoints="1" noAdjustHandles="1" noChangeArrowheads="1" noChangeShapeType="1" noTextEdit="1"/>
              </p:cNvSpPr>
              <p:nvPr/>
            </p:nvSpPr>
            <p:spPr>
              <a:xfrm>
                <a:off x="945913" y="2754852"/>
                <a:ext cx="729659" cy="369332"/>
              </a:xfrm>
              <a:prstGeom prst="rect">
                <a:avLst/>
              </a:prstGeom>
              <a:blipFill>
                <a:blip r:embed="rId12"/>
                <a:stretch>
                  <a:fillRect b="-1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B97FBF6-1C54-081A-E811-BB7C8582F1C3}"/>
                  </a:ext>
                </a:extLst>
              </p:cNvPr>
              <p:cNvSpPr txBox="1"/>
              <p:nvPr/>
            </p:nvSpPr>
            <p:spPr>
              <a:xfrm>
                <a:off x="980075" y="3165147"/>
                <a:ext cx="7296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m:oMathPara>
                </a14:m>
                <a:endParaRPr lang="vi-VN"/>
              </a:p>
            </p:txBody>
          </p:sp>
        </mc:Choice>
        <mc:Fallback xmlns="">
          <p:sp>
            <p:nvSpPr>
              <p:cNvPr id="38" name="TextBox 37">
                <a:extLst>
                  <a:ext uri="{FF2B5EF4-FFF2-40B4-BE49-F238E27FC236}">
                    <a16:creationId xmlns:a16="http://schemas.microsoft.com/office/drawing/2014/main" id="{CB97FBF6-1C54-081A-E811-BB7C8582F1C3}"/>
                  </a:ext>
                </a:extLst>
              </p:cNvPr>
              <p:cNvSpPr txBox="1">
                <a:spLocks noRot="1" noChangeAspect="1" noMove="1" noResize="1" noEditPoints="1" noAdjustHandles="1" noChangeArrowheads="1" noChangeShapeType="1" noTextEdit="1"/>
              </p:cNvSpPr>
              <p:nvPr/>
            </p:nvSpPr>
            <p:spPr>
              <a:xfrm>
                <a:off x="980075" y="3165147"/>
                <a:ext cx="729659" cy="369332"/>
              </a:xfrm>
              <a:prstGeom prst="rect">
                <a:avLst/>
              </a:prstGeom>
              <a:blipFill>
                <a:blip r:embed="rId13"/>
                <a:stretch>
                  <a:fillRect b="-1475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Hình chữ nhật 40">
                <a:extLst>
                  <a:ext uri="{FF2B5EF4-FFF2-40B4-BE49-F238E27FC236}">
                    <a16:creationId xmlns:a16="http://schemas.microsoft.com/office/drawing/2014/main" id="{00C0D3B0-8137-E98B-F9B4-A072015074C0}"/>
                  </a:ext>
                </a:extLst>
              </p:cNvPr>
              <p:cNvSpPr/>
              <p:nvPr/>
            </p:nvSpPr>
            <p:spPr>
              <a:xfrm>
                <a:off x="2207146" y="2411501"/>
                <a:ext cx="603787" cy="11138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𝑅</m:t>
                    </m:r>
                  </m:oMath>
                </a14:m>
                <a:r>
                  <a:rPr lang="en-US" sz="1400" i="1">
                    <a:solidFill>
                      <a:schemeClr val="tx1"/>
                    </a:solidFill>
                    <a:latin typeface="Times New Roman" panose="02020603050405020304" pitchFamily="18" charset="0"/>
                    <a:cs typeface="Times New Roman" panose="02020603050405020304" pitchFamily="18" charset="0"/>
                  </a:rPr>
                  <a:t> </a:t>
                </a:r>
                <a:r>
                  <a:rPr lang="en-US" sz="1400">
                    <a:solidFill>
                      <a:schemeClr val="tx1"/>
                    </a:solidFill>
                    <a:cs typeface="Times New Roman" panose="02020603050405020304" pitchFamily="18" charset="0"/>
                  </a:rPr>
                  <a:t>or</a:t>
                </a:r>
                <a:r>
                  <a:rPr lang="en-US" sz="1400" i="1">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𝐺</m:t>
                    </m:r>
                    <m:d>
                      <m:dPr>
                        <m:ctrlPr>
                          <a:rPr lang="en-US" sz="1400" b="0" i="1" smtClean="0">
                            <a:solidFill>
                              <a:schemeClr val="tx1"/>
                            </a:solidFill>
                            <a:latin typeface="Cambria Math" panose="02040503050406030204" pitchFamily="18" charset="0"/>
                            <a:cs typeface="Times New Roman" panose="02020603050405020304" pitchFamily="18" charset="0"/>
                          </a:rPr>
                        </m:ctrlPr>
                      </m:dPr>
                      <m:e>
                        <m:sSub>
                          <m:sSubPr>
                            <m:ctrlPr>
                              <a:rPr lang="en-US" sz="1400" b="0" i="1" smtClean="0">
                                <a:solidFill>
                                  <a:schemeClr val="tx1"/>
                                </a:solidFill>
                                <a:latin typeface="Cambria Math" panose="02040503050406030204" pitchFamily="18" charset="0"/>
                                <a:cs typeface="Times New Roman" panose="02020603050405020304" pitchFamily="18" charset="0"/>
                              </a:rPr>
                            </m:ctrlPr>
                          </m:sSubPr>
                          <m:e>
                            <m:r>
                              <a:rPr lang="en-US" sz="1400" b="1" i="1" smtClean="0">
                                <a:solidFill>
                                  <a:schemeClr val="tx1"/>
                                </a:solidFill>
                                <a:latin typeface="Cambria Math" panose="02040503050406030204" pitchFamily="18" charset="0"/>
                                <a:cs typeface="Times New Roman" panose="02020603050405020304" pitchFamily="18" charset="0"/>
                              </a:rPr>
                              <m:t>𝜽</m:t>
                            </m:r>
                          </m:e>
                          <m:sub>
                            <m:r>
                              <a:rPr lang="en-US" sz="1400" b="0" i="1" smtClean="0">
                                <a:solidFill>
                                  <a:schemeClr val="tx1"/>
                                </a:solidFill>
                                <a:latin typeface="Cambria Math" panose="02040503050406030204" pitchFamily="18" charset="0"/>
                                <a:cs typeface="Times New Roman" panose="02020603050405020304" pitchFamily="18" charset="0"/>
                              </a:rPr>
                              <m:t>𝐺</m:t>
                            </m:r>
                          </m:sub>
                        </m:sSub>
                      </m:e>
                    </m:d>
                  </m:oMath>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2" name="Hình chữ nhật 40">
                <a:extLst>
                  <a:ext uri="{FF2B5EF4-FFF2-40B4-BE49-F238E27FC236}">
                    <a16:creationId xmlns:a16="http://schemas.microsoft.com/office/drawing/2014/main" id="{00C0D3B0-8137-E98B-F9B4-A072015074C0}"/>
                  </a:ext>
                </a:extLst>
              </p:cNvPr>
              <p:cNvSpPr>
                <a:spLocks noRot="1" noChangeAspect="1" noMove="1" noResize="1" noEditPoints="1" noAdjustHandles="1" noChangeArrowheads="1" noChangeShapeType="1" noTextEdit="1"/>
              </p:cNvSpPr>
              <p:nvPr/>
            </p:nvSpPr>
            <p:spPr>
              <a:xfrm>
                <a:off x="2207146" y="2411501"/>
                <a:ext cx="603787" cy="1113816"/>
              </a:xfrm>
              <a:prstGeom prst="rect">
                <a:avLst/>
              </a:prstGeom>
              <a:blipFill>
                <a:blip r:embed="rId1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Hình chữ nhật 40">
                <a:extLst>
                  <a:ext uri="{FF2B5EF4-FFF2-40B4-BE49-F238E27FC236}">
                    <a16:creationId xmlns:a16="http://schemas.microsoft.com/office/drawing/2014/main" id="{6CC44867-B6C7-72AD-6051-49E8D3058493}"/>
                  </a:ext>
                </a:extLst>
              </p:cNvPr>
              <p:cNvSpPr/>
              <p:nvPr/>
            </p:nvSpPr>
            <p:spPr>
              <a:xfrm>
                <a:off x="3180650" y="1175849"/>
                <a:ext cx="603787" cy="145172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𝐷</m:t>
                      </m:r>
                      <m:d>
                        <m:dPr>
                          <m:ctrlPr>
                            <a:rPr lang="en-US" sz="1400" b="0" i="1" smtClean="0">
                              <a:solidFill>
                                <a:schemeClr val="tx1"/>
                              </a:solidFill>
                              <a:latin typeface="Cambria Math" panose="02040503050406030204" pitchFamily="18" charset="0"/>
                              <a:cs typeface="Times New Roman" panose="02020603050405020304" pitchFamily="18" charset="0"/>
                            </a:rPr>
                          </m:ctrlPr>
                        </m:dPr>
                        <m:e>
                          <m:sSub>
                            <m:sSubPr>
                              <m:ctrlPr>
                                <a:rPr lang="en-US" sz="1400" b="0" i="1" smtClean="0">
                                  <a:solidFill>
                                    <a:schemeClr val="tx1"/>
                                  </a:solidFill>
                                  <a:latin typeface="Cambria Math" panose="02040503050406030204" pitchFamily="18" charset="0"/>
                                  <a:cs typeface="Times New Roman" panose="02020603050405020304" pitchFamily="18" charset="0"/>
                                </a:rPr>
                              </m:ctrlPr>
                            </m:sSubPr>
                            <m:e>
                              <m:r>
                                <a:rPr lang="en-US" sz="1400" b="1" i="1" smtClean="0">
                                  <a:solidFill>
                                    <a:schemeClr val="tx1"/>
                                  </a:solidFill>
                                  <a:latin typeface="Cambria Math" panose="02040503050406030204" pitchFamily="18" charset="0"/>
                                  <a:cs typeface="Times New Roman" panose="02020603050405020304" pitchFamily="18" charset="0"/>
                                </a:rPr>
                                <m:t>𝜽</m:t>
                              </m:r>
                            </m:e>
                            <m:sub>
                              <m:r>
                                <a:rPr lang="en-US" sz="1400" b="0" i="1" smtClean="0">
                                  <a:solidFill>
                                    <a:schemeClr val="tx1"/>
                                  </a:solidFill>
                                  <a:latin typeface="Cambria Math" panose="02040503050406030204" pitchFamily="18" charset="0"/>
                                  <a:cs typeface="Times New Roman" panose="02020603050405020304" pitchFamily="18" charset="0"/>
                                </a:rPr>
                                <m:t>𝐷</m:t>
                              </m:r>
                            </m:sub>
                          </m:sSub>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41" name="Hình chữ nhật 40">
                <a:extLst>
                  <a:ext uri="{FF2B5EF4-FFF2-40B4-BE49-F238E27FC236}">
                    <a16:creationId xmlns:a16="http://schemas.microsoft.com/office/drawing/2014/main" id="{6CC44867-B6C7-72AD-6051-49E8D3058493}"/>
                  </a:ext>
                </a:extLst>
              </p:cNvPr>
              <p:cNvSpPr>
                <a:spLocks noRot="1" noChangeAspect="1" noMove="1" noResize="1" noEditPoints="1" noAdjustHandles="1" noChangeArrowheads="1" noChangeShapeType="1" noTextEdit="1"/>
              </p:cNvSpPr>
              <p:nvPr/>
            </p:nvSpPr>
            <p:spPr>
              <a:xfrm>
                <a:off x="3180650" y="1175849"/>
                <a:ext cx="603787" cy="1451721"/>
              </a:xfrm>
              <a:prstGeom prst="rect">
                <a:avLst/>
              </a:prstGeom>
              <a:blipFill>
                <a:blip r:embed="rId1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Hộp Văn bản 5">
                <a:extLst>
                  <a:ext uri="{FF2B5EF4-FFF2-40B4-BE49-F238E27FC236}">
                    <a16:creationId xmlns:a16="http://schemas.microsoft.com/office/drawing/2014/main" id="{A758DE43-2FE8-0C2B-1927-40FE9E881150}"/>
                  </a:ext>
                </a:extLst>
              </p:cNvPr>
              <p:cNvSpPr txBox="1"/>
              <p:nvPr/>
            </p:nvSpPr>
            <p:spPr>
              <a:xfrm>
                <a:off x="4529155" y="1140772"/>
                <a:ext cx="2454170" cy="27699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𝑍</m:t>
                          </m:r>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rPr>
                        <m:t>|</m:t>
                      </m:r>
                      <m:r>
                        <a:rPr lang="en-US" sz="1200" i="1">
                          <a:latin typeface="Cambria Math" panose="02040503050406030204" pitchFamily="18" charset="0"/>
                        </a:rPr>
                        <m:t>𝑟𝑒𝑎𝑙</m:t>
                      </m:r>
                      <m:r>
                        <a:rPr lang="en-US" sz="1200" i="1">
                          <a:latin typeface="Cambria Math" panose="02040503050406030204" pitchFamily="18" charset="0"/>
                        </a:rPr>
                        <m:t>⟩⟨</m:t>
                      </m:r>
                      <m:r>
                        <a:rPr lang="en-US" sz="1200" i="1">
                          <a:latin typeface="Cambria Math" panose="02040503050406030204" pitchFamily="18" charset="0"/>
                        </a:rPr>
                        <m:t>𝑟𝑒𝑎𝑙</m:t>
                      </m:r>
                      <m:r>
                        <a:rPr lang="en-US" sz="1200" i="1">
                          <a:latin typeface="Cambria Math" panose="02040503050406030204" pitchFamily="18" charset="0"/>
                        </a:rPr>
                        <m:t>|−|</m:t>
                      </m:r>
                      <m:r>
                        <a:rPr lang="en-US" sz="1200" i="1">
                          <a:latin typeface="Cambria Math" panose="02040503050406030204" pitchFamily="18" charset="0"/>
                        </a:rPr>
                        <m:t>𝑓𝑎𝑘𝑒</m:t>
                      </m:r>
                      <m:r>
                        <a:rPr lang="en-US" sz="1200" i="1">
                          <a:latin typeface="Cambria Math" panose="02040503050406030204" pitchFamily="18" charset="0"/>
                        </a:rPr>
                        <m:t>⟩⟨</m:t>
                      </m:r>
                      <m:r>
                        <a:rPr lang="en-US" sz="1200" i="1">
                          <a:latin typeface="Cambria Math" panose="02040503050406030204" pitchFamily="18" charset="0"/>
                        </a:rPr>
                        <m:t>𝑓𝑎𝑘𝑒</m:t>
                      </m:r>
                      <m:r>
                        <a:rPr lang="en-US" sz="1200" i="1">
                          <a:latin typeface="Cambria Math" panose="02040503050406030204" pitchFamily="18" charset="0"/>
                        </a:rPr>
                        <m:t>|</m:t>
                      </m:r>
                    </m:oMath>
                  </m:oMathPara>
                </a14:m>
                <a:endParaRPr lang="vi-VN" sz="1200"/>
              </a:p>
            </p:txBody>
          </p:sp>
        </mc:Choice>
        <mc:Fallback xmlns="">
          <p:sp>
            <p:nvSpPr>
              <p:cNvPr id="44" name="Hộp Văn bản 5">
                <a:extLst>
                  <a:ext uri="{FF2B5EF4-FFF2-40B4-BE49-F238E27FC236}">
                    <a16:creationId xmlns:a16="http://schemas.microsoft.com/office/drawing/2014/main" id="{A758DE43-2FE8-0C2B-1927-40FE9E881150}"/>
                  </a:ext>
                </a:extLst>
              </p:cNvPr>
              <p:cNvSpPr txBox="1">
                <a:spLocks noRot="1" noChangeAspect="1" noMove="1" noResize="1" noEditPoints="1" noAdjustHandles="1" noChangeArrowheads="1" noChangeShapeType="1" noTextEdit="1"/>
              </p:cNvSpPr>
              <p:nvPr/>
            </p:nvSpPr>
            <p:spPr>
              <a:xfrm>
                <a:off x="4529155" y="1140772"/>
                <a:ext cx="2454170" cy="276999"/>
              </a:xfrm>
              <a:prstGeom prst="rect">
                <a:avLst/>
              </a:prstGeom>
              <a:blipFill>
                <a:blip r:embed="rId16"/>
                <a:stretch>
                  <a:fillRect b="-652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7" name="Hộp Văn bản 5">
                <a:extLst>
                  <a:ext uri="{FF2B5EF4-FFF2-40B4-BE49-F238E27FC236}">
                    <a16:creationId xmlns:a16="http://schemas.microsoft.com/office/drawing/2014/main" id="{8C5B114B-820D-76B2-E5E6-ED1AC4622324}"/>
                  </a:ext>
                </a:extLst>
              </p:cNvPr>
              <p:cNvSpPr txBox="1"/>
              <p:nvPr/>
            </p:nvSpPr>
            <p:spPr>
              <a:xfrm>
                <a:off x="3820849" y="1498144"/>
                <a:ext cx="5424751" cy="2198230"/>
              </a:xfrm>
              <a:prstGeom prst="rect">
                <a:avLst/>
              </a:prstGeom>
              <a:noFill/>
            </p:spPr>
            <p:txBody>
              <a:bodyPr wrap="square" rtlCol="0">
                <a:spAutoFit/>
              </a:bodyPr>
              <a:lstStyle/>
              <a:p>
                <a:pPr>
                  <a:lnSpc>
                    <a:spcPct val="150000"/>
                  </a:lnSpc>
                </a:pPr>
                <a:r>
                  <a:rPr lang="en-US" sz="1500">
                    <a:latin typeface="Calibri (Thân)"/>
                  </a:rPr>
                  <a:t>Initial state:</a:t>
                </a:r>
                <a:endParaRPr lang="en-US" sz="1500" i="1">
                  <a:latin typeface="Calibri (Thân)"/>
                </a:endParaRPr>
              </a:p>
              <a:p>
                <a:pPr>
                  <a:lnSpc>
                    <a:spcPct val="150000"/>
                  </a:lnSpc>
                </a:pPr>
                <a14:m>
                  <m:oMath xmlns:m="http://schemas.openxmlformats.org/officeDocument/2006/math">
                    <m:sSubSup>
                      <m:sSubSupPr>
                        <m:ctrlPr>
                          <a:rPr lang="en-US" sz="1500" i="1">
                            <a:latin typeface="Cambria Math" panose="02040503050406030204" pitchFamily="18" charset="0"/>
                          </a:rPr>
                        </m:ctrlPr>
                      </m:sSubSupPr>
                      <m:e>
                        <m:r>
                          <a:rPr lang="en-US" sz="1500" b="0" i="1" smtClean="0">
                            <a:latin typeface="Cambria Math" panose="02040503050406030204" pitchFamily="18" charset="0"/>
                          </a:rPr>
                          <m:t>   </m:t>
                        </m:r>
                        <m:r>
                          <a:rPr lang="en-US" sz="1500" i="1">
                            <a:latin typeface="Cambria Math" panose="02040503050406030204" pitchFamily="18" charset="0"/>
                          </a:rPr>
                          <m:t>𝜌</m:t>
                        </m:r>
                      </m:e>
                      <m:sub>
                        <m:r>
                          <a:rPr lang="en-US" sz="1500" i="1">
                            <a:latin typeface="Cambria Math" panose="02040503050406030204" pitchFamily="18" charset="0"/>
                          </a:rPr>
                          <m:t>𝜆</m:t>
                        </m:r>
                      </m:sub>
                      <m:sup>
                        <m:r>
                          <a:rPr lang="en-US" sz="1500" i="1">
                            <a:latin typeface="Cambria Math" panose="02040503050406030204" pitchFamily="18" charset="0"/>
                          </a:rPr>
                          <m:t>0</m:t>
                        </m:r>
                      </m:sup>
                    </m:sSubSup>
                    <m:d>
                      <m:dPr>
                        <m:ctrlPr>
                          <a:rPr lang="en-US" sz="1500" i="1">
                            <a:latin typeface="Cambria Math" panose="02040503050406030204" pitchFamily="18" charset="0"/>
                          </a:rPr>
                        </m:ctrlPr>
                      </m:dPr>
                      <m:e>
                        <m:r>
                          <a:rPr lang="en-US" sz="1500" i="1">
                            <a:latin typeface="Cambria Math" panose="02040503050406030204" pitchFamily="18" charset="0"/>
                          </a:rPr>
                          <m:t>𝑧</m:t>
                        </m:r>
                      </m:e>
                    </m:d>
                    <m:r>
                      <a:rPr lang="en-US" sz="1500" i="1">
                        <a:latin typeface="Cambria Math" panose="02040503050406030204" pitchFamily="18" charset="0"/>
                      </a:rPr>
                      <m:t>=</m:t>
                    </m:r>
                    <m:sSup>
                      <m:sSupPr>
                        <m:ctrlPr>
                          <a:rPr lang="en-US" sz="1500" i="1">
                            <a:latin typeface="Cambria Math" panose="02040503050406030204" pitchFamily="18" charset="0"/>
                          </a:rPr>
                        </m:ctrlPr>
                      </m:sSupPr>
                      <m:e>
                        <m:d>
                          <m:dPr>
                            <m:ctrlPr>
                              <a:rPr lang="en-US" sz="1500" i="1">
                                <a:latin typeface="Cambria Math" panose="02040503050406030204" pitchFamily="18" charset="0"/>
                              </a:rPr>
                            </m:ctrlPr>
                          </m:dPr>
                          <m:e>
                            <m:r>
                              <a:rPr lang="en-US" sz="1500" i="1">
                                <a:latin typeface="Cambria Math" panose="02040503050406030204" pitchFamily="18" charset="0"/>
                              </a:rPr>
                              <m:t>|0⟩⟨0|</m:t>
                            </m:r>
                          </m:e>
                        </m:d>
                      </m:e>
                      <m: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𝑑</m:t>
                        </m:r>
                        <m:r>
                          <a:rPr lang="en-US" sz="1500" i="1">
                            <a:latin typeface="Cambria Math" panose="02040503050406030204" pitchFamily="18" charset="0"/>
                            <a:ea typeface="Cambria Math" panose="02040503050406030204" pitchFamily="18" charset="0"/>
                          </a:rPr>
                          <m:t>+1</m:t>
                        </m:r>
                      </m:sup>
                    </m:s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𝜆</m:t>
                    </m:r>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𝜆</m:t>
                    </m:r>
                    <m:r>
                      <a:rPr lang="en-US" sz="1500" i="1">
                        <a:latin typeface="Cambria Math" panose="02040503050406030204" pitchFamily="18" charset="0"/>
                        <a:ea typeface="Cambria Math" panose="02040503050406030204" pitchFamily="18" charset="0"/>
                      </a:rPr>
                      <m:t>|⊗</m:t>
                    </m:r>
                    <m:sSup>
                      <m:sSupPr>
                        <m:ctrlPr>
                          <a:rPr lang="en-US" sz="1500" i="1">
                            <a:latin typeface="Cambria Math" panose="02040503050406030204" pitchFamily="18" charset="0"/>
                            <a:ea typeface="Cambria Math" panose="02040503050406030204" pitchFamily="18" charset="0"/>
                          </a:rPr>
                        </m:ctrlPr>
                      </m:sSupPr>
                      <m:e>
                        <m:d>
                          <m:dPr>
                            <m:ctrlPr>
                              <a:rPr lang="en-US" sz="1500" i="1">
                                <a:latin typeface="Cambria Math" panose="02040503050406030204" pitchFamily="18" charset="0"/>
                                <a:ea typeface="Cambria Math" panose="02040503050406030204" pitchFamily="18" charset="0"/>
                              </a:rPr>
                            </m:ctrlPr>
                          </m:dPr>
                          <m:e>
                            <m:d>
                              <m:dPr>
                                <m:begChr m:val="|"/>
                                <m:endChr m:val="⟩"/>
                                <m:ctrlPr>
                                  <a:rPr lang="en-US" sz="1500" i="1">
                                    <a:latin typeface="Cambria Math" panose="02040503050406030204" pitchFamily="18" charset="0"/>
                                    <a:ea typeface="Cambria Math" panose="02040503050406030204" pitchFamily="18" charset="0"/>
                                  </a:rPr>
                                </m:ctrlPr>
                              </m:dPr>
                              <m:e>
                                <m:r>
                                  <a:rPr lang="en-US" sz="1500" i="1">
                                    <a:latin typeface="Cambria Math" panose="02040503050406030204" pitchFamily="18" charset="0"/>
                                    <a:ea typeface="Cambria Math" panose="02040503050406030204" pitchFamily="18" charset="0"/>
                                  </a:rPr>
                                  <m:t>0</m:t>
                                </m:r>
                              </m:e>
                            </m:d>
                            <m:d>
                              <m:dPr>
                                <m:begChr m:val="⟨"/>
                                <m:endChr m:val="|"/>
                                <m:ctrlPr>
                                  <a:rPr lang="en-US" sz="1500" i="1">
                                    <a:latin typeface="Cambria Math" panose="02040503050406030204" pitchFamily="18" charset="0"/>
                                    <a:ea typeface="Cambria Math" panose="02040503050406030204" pitchFamily="18" charset="0"/>
                                  </a:rPr>
                                </m:ctrlPr>
                              </m:dPr>
                              <m:e>
                                <m:r>
                                  <a:rPr lang="en-US" sz="1500" i="1">
                                    <a:latin typeface="Cambria Math" panose="02040503050406030204" pitchFamily="18" charset="0"/>
                                    <a:ea typeface="Cambria Math" panose="02040503050406030204" pitchFamily="18" charset="0"/>
                                  </a:rPr>
                                  <m:t>0</m:t>
                                </m:r>
                              </m:e>
                            </m:d>
                          </m:e>
                        </m:d>
                      </m:e>
                      <m: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𝑛</m:t>
                        </m:r>
                      </m:sup>
                    </m:s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𝜆</m:t>
                    </m:r>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𝜆</m:t>
                    </m:r>
                    <m:r>
                      <a:rPr lang="en-US" sz="1500" i="1">
                        <a:latin typeface="Cambria Math" panose="02040503050406030204" pitchFamily="18" charset="0"/>
                        <a:ea typeface="Cambria Math" panose="02040503050406030204" pitchFamily="18" charset="0"/>
                      </a:rPr>
                      <m:t>|⊗</m:t>
                    </m:r>
                    <m:d>
                      <m:dPr>
                        <m:begChr m:val="|"/>
                        <m:endChr m:val="⟩"/>
                        <m:ctrlPr>
                          <a:rPr lang="en-US" sz="1500" i="1">
                            <a:latin typeface="Cambria Math" panose="02040503050406030204" pitchFamily="18" charset="0"/>
                            <a:ea typeface="Cambria Math" panose="02040503050406030204" pitchFamily="18" charset="0"/>
                          </a:rPr>
                        </m:ctrlPr>
                      </m:dPr>
                      <m:e>
                        <m:r>
                          <a:rPr lang="en-US" sz="1500" i="1">
                            <a:latin typeface="Cambria Math" panose="02040503050406030204" pitchFamily="18" charset="0"/>
                            <a:ea typeface="Cambria Math" panose="02040503050406030204" pitchFamily="18" charset="0"/>
                          </a:rPr>
                          <m:t>𝑧</m:t>
                        </m:r>
                      </m:e>
                    </m:d>
                    <m:d>
                      <m:dPr>
                        <m:begChr m:val="⟨"/>
                        <m:endChr m:val="|"/>
                        <m:ctrlPr>
                          <a:rPr lang="en-US" sz="1500" i="1">
                            <a:latin typeface="Cambria Math" panose="02040503050406030204" pitchFamily="18" charset="0"/>
                            <a:ea typeface="Cambria Math" panose="02040503050406030204" pitchFamily="18" charset="0"/>
                          </a:rPr>
                        </m:ctrlPr>
                      </m:dPr>
                      <m:e>
                        <m:r>
                          <a:rPr lang="en-US" sz="1500" i="1">
                            <a:latin typeface="Cambria Math" panose="02040503050406030204" pitchFamily="18" charset="0"/>
                            <a:ea typeface="Cambria Math" panose="02040503050406030204" pitchFamily="18" charset="0"/>
                          </a:rPr>
                          <m:t>𝑧</m:t>
                        </m:r>
                      </m:e>
                    </m:d>
                  </m:oMath>
                </a14:m>
                <a:r>
                  <a:rPr lang="en-US" sz="1500">
                    <a:latin typeface="Calibri (Thân)"/>
                  </a:rPr>
                  <a:t> </a:t>
                </a:r>
              </a:p>
              <a:p>
                <a:pPr>
                  <a:lnSpc>
                    <a:spcPct val="150000"/>
                  </a:lnSpc>
                </a:pPr>
                <a:r>
                  <a:rPr lang="en-US" sz="1500">
                    <a:latin typeface="Calibri (Thân)"/>
                  </a:rPr>
                  <a:t>Choose </a:t>
                </a:r>
                <a14:m>
                  <m:oMath xmlns:m="http://schemas.openxmlformats.org/officeDocument/2006/math">
                    <m:r>
                      <a:rPr lang="en-US" sz="1500" i="1" smtClean="0">
                        <a:latin typeface="Cambria Math" panose="02040503050406030204" pitchFamily="18" charset="0"/>
                      </a:rPr>
                      <m:t>𝑅</m:t>
                    </m:r>
                  </m:oMath>
                </a14:m>
                <a:r>
                  <a:rPr lang="en-US" sz="1500">
                    <a:latin typeface="Calibri (Thân)"/>
                  </a:rPr>
                  <a:t> or </a:t>
                </a:r>
                <a14:m>
                  <m:oMath xmlns:m="http://schemas.openxmlformats.org/officeDocument/2006/math">
                    <m:r>
                      <a:rPr lang="en-US" sz="1500" i="1" smtClean="0">
                        <a:latin typeface="Cambria Math" panose="02040503050406030204" pitchFamily="18" charset="0"/>
                      </a:rPr>
                      <m:t>𝐺</m:t>
                    </m:r>
                  </m:oMath>
                </a14:m>
                <a:r>
                  <a:rPr lang="en-US" sz="1500">
                    <a:latin typeface="Calibri (Thân)"/>
                  </a:rPr>
                  <a:t> randomly to fed into </a:t>
                </a:r>
                <a14:m>
                  <m:oMath xmlns:m="http://schemas.openxmlformats.org/officeDocument/2006/math">
                    <m:r>
                      <a:rPr lang="en-US" sz="1500" i="1" smtClean="0">
                        <a:latin typeface="Cambria Math" panose="02040503050406030204" pitchFamily="18" charset="0"/>
                      </a:rPr>
                      <m:t>𝐷</m:t>
                    </m:r>
                  </m:oMath>
                </a14:m>
                <a:r>
                  <a:rPr lang="en-US" sz="1500">
                    <a:latin typeface="Calibri (Thân)"/>
                  </a:rPr>
                  <a:t>, before fed:</a:t>
                </a:r>
              </a:p>
              <a:p>
                <a:pPr>
                  <a:lnSpc>
                    <a:spcPct val="150000"/>
                  </a:lnSpc>
                </a:pPr>
                <a14:m>
                  <m:oMath xmlns:m="http://schemas.openxmlformats.org/officeDocument/2006/math">
                    <m:sSub>
                      <m:sSubPr>
                        <m:ctrlPr>
                          <a:rPr lang="en-US" sz="1500" i="1">
                            <a:latin typeface="Cambria Math" panose="02040503050406030204" pitchFamily="18" charset="0"/>
                          </a:rPr>
                        </m:ctrlPr>
                      </m:sSubPr>
                      <m:e>
                        <m:r>
                          <a:rPr lang="en-US" sz="1500" b="0" i="1" smtClean="0">
                            <a:latin typeface="Cambria Math" panose="02040503050406030204" pitchFamily="18" charset="0"/>
                          </a:rPr>
                          <m:t>   </m:t>
                        </m:r>
                        <m:r>
                          <a:rPr lang="en-US" sz="1500" i="1">
                            <a:latin typeface="Cambria Math" panose="02040503050406030204" pitchFamily="18" charset="0"/>
                          </a:rPr>
                          <m:t>𝑈</m:t>
                        </m:r>
                      </m:e>
                      <m:sub>
                        <m:r>
                          <a:rPr lang="en-US" sz="1500" i="1">
                            <a:latin typeface="Cambria Math" panose="02040503050406030204" pitchFamily="18" charset="0"/>
                          </a:rPr>
                          <m:t>𝑅</m:t>
                        </m:r>
                      </m:sub>
                    </m:sSub>
                    <m:r>
                      <a:rPr lang="en-US" sz="1500" i="1">
                        <a:latin typeface="Cambria Math" panose="02040503050406030204" pitchFamily="18" charset="0"/>
                      </a:rPr>
                      <m:t>=</m:t>
                    </m:r>
                    <m:sSup>
                      <m:sSupPr>
                        <m:ctrlPr>
                          <a:rPr lang="en-US" sz="1500" i="1">
                            <a:latin typeface="Cambria Math" panose="02040503050406030204" pitchFamily="18" charset="0"/>
                          </a:rPr>
                        </m:ctrlPr>
                      </m:sSupPr>
                      <m:e>
                        <m:r>
                          <a:rPr lang="en-US" sz="1500" i="1">
                            <a:latin typeface="Cambria Math" panose="02040503050406030204" pitchFamily="18" charset="0"/>
                          </a:rPr>
                          <m:t>𝐼</m:t>
                        </m:r>
                      </m:e>
                      <m:sup>
                        <m:r>
                          <a:rPr lang="en-US" sz="1500" i="1">
                            <a:latin typeface="Cambria Math" panose="02040503050406030204" pitchFamily="18" charset="0"/>
                            <a:ea typeface="Cambria Math" panose="02040503050406030204" pitchFamily="18" charset="0"/>
                          </a:rPr>
                          <m:t>⊗(1+</m:t>
                        </m:r>
                        <m:r>
                          <a:rPr lang="en-US" sz="1500" i="1">
                            <a:latin typeface="Cambria Math" panose="02040503050406030204" pitchFamily="18" charset="0"/>
                            <a:ea typeface="Cambria Math" panose="02040503050406030204" pitchFamily="18" charset="0"/>
                          </a:rPr>
                          <m:t>𝑑</m:t>
                        </m:r>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𝑠</m:t>
                        </m:r>
                        <m:r>
                          <a:rPr lang="en-US" sz="1500" i="1">
                            <a:latin typeface="Cambria Math" panose="02040503050406030204" pitchFamily="18" charset="0"/>
                            <a:ea typeface="Cambria Math" panose="02040503050406030204" pitchFamily="18" charset="0"/>
                          </a:rPr>
                          <m:t>)</m:t>
                        </m:r>
                      </m:sup>
                    </m:s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𝑅</m:t>
                    </m:r>
                  </m:oMath>
                </a14:m>
                <a:r>
                  <a:rPr lang="en-US" sz="1500">
                    <a:latin typeface="Calibri (Thân)"/>
                  </a:rPr>
                  <a:t>, </a:t>
                </a:r>
                <a14:m>
                  <m:oMath xmlns:m="http://schemas.openxmlformats.org/officeDocument/2006/math">
                    <m:sSub>
                      <m:sSubPr>
                        <m:ctrlPr>
                          <a:rPr lang="en-US" sz="1500" i="1">
                            <a:latin typeface="Cambria Math" panose="02040503050406030204" pitchFamily="18" charset="0"/>
                          </a:rPr>
                        </m:ctrlPr>
                      </m:sSubPr>
                      <m:e>
                        <m:r>
                          <a:rPr lang="en-US" sz="1500" i="1">
                            <a:latin typeface="Cambria Math" panose="02040503050406030204" pitchFamily="18" charset="0"/>
                          </a:rPr>
                          <m:t>𝑈</m:t>
                        </m:r>
                      </m:e>
                      <m:sub>
                        <m:r>
                          <a:rPr lang="en-US" sz="1500" i="1">
                            <a:latin typeface="Cambria Math" panose="02040503050406030204" pitchFamily="18" charset="0"/>
                          </a:rPr>
                          <m:t>𝐷</m:t>
                        </m:r>
                      </m:sub>
                    </m:sSub>
                    <m:d>
                      <m:dPr>
                        <m:ctrlPr>
                          <a:rPr lang="en-US" sz="1500" i="1">
                            <a:latin typeface="Cambria Math" panose="02040503050406030204" pitchFamily="18" charset="0"/>
                          </a:rPr>
                        </m:ctrlPr>
                      </m:dPr>
                      <m:e>
                        <m:sSub>
                          <m:sSubPr>
                            <m:ctrlPr>
                              <a:rPr lang="en-US" sz="1400" i="1">
                                <a:latin typeface="Cambria Math" panose="02040503050406030204" pitchFamily="18" charset="0"/>
                                <a:cs typeface="Times New Roman" panose="02020603050405020304" pitchFamily="18" charset="0"/>
                              </a:rPr>
                            </m:ctrlPr>
                          </m:sSubPr>
                          <m:e>
                            <m:r>
                              <a:rPr lang="en-US" sz="1400" b="1" i="1">
                                <a:latin typeface="Cambria Math" panose="02040503050406030204" pitchFamily="18" charset="0"/>
                                <a:cs typeface="Times New Roman" panose="02020603050405020304" pitchFamily="18" charset="0"/>
                              </a:rPr>
                              <m:t>𝜽</m:t>
                            </m:r>
                          </m:e>
                          <m:sub>
                            <m:r>
                              <a:rPr lang="en-US" sz="1400" b="0" i="1" smtClean="0">
                                <a:latin typeface="Cambria Math" panose="02040503050406030204" pitchFamily="18" charset="0"/>
                                <a:cs typeface="Times New Roman" panose="02020603050405020304" pitchFamily="18" charset="0"/>
                              </a:rPr>
                              <m:t>𝐷</m:t>
                            </m:r>
                          </m:sub>
                        </m:sSub>
                      </m:e>
                    </m:d>
                    <m:r>
                      <a:rPr lang="en-US" sz="1500" i="1">
                        <a:latin typeface="Cambria Math" panose="02040503050406030204" pitchFamily="18" charset="0"/>
                      </a:rPr>
                      <m:t>=</m:t>
                    </m:r>
                    <m:r>
                      <a:rPr lang="en-US" sz="1500" i="1">
                        <a:latin typeface="Cambria Math" panose="02040503050406030204" pitchFamily="18" charset="0"/>
                      </a:rPr>
                      <m:t>𝐷</m:t>
                    </m:r>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e>
                    </m:d>
                    <m:r>
                      <a:rPr lang="en-US" sz="1500" i="1">
                        <a:latin typeface="Cambria Math" panose="02040503050406030204" pitchFamily="18" charset="0"/>
                      </a:rPr>
                      <m:t>⨂</m:t>
                    </m:r>
                    <m:sSup>
                      <m:sSupPr>
                        <m:ctrlPr>
                          <a:rPr lang="en-US" sz="1500" i="1">
                            <a:latin typeface="Cambria Math" panose="02040503050406030204" pitchFamily="18" charset="0"/>
                          </a:rPr>
                        </m:ctrlPr>
                      </m:sSupPr>
                      <m:e>
                        <m:r>
                          <a:rPr lang="en-US" sz="1500" i="1">
                            <a:latin typeface="Cambria Math" panose="02040503050406030204" pitchFamily="18" charset="0"/>
                          </a:rPr>
                          <m:t>𝐼</m:t>
                        </m:r>
                      </m:e>
                      <m:sup>
                        <m:r>
                          <a:rPr lang="en-US" sz="1500" i="1">
                            <a:latin typeface="Cambria Math" panose="02040503050406030204" pitchFamily="18" charset="0"/>
                          </a:rPr>
                          <m:t>𝑚</m:t>
                        </m:r>
                      </m:sup>
                    </m:sSup>
                  </m:oMath>
                </a14:m>
                <a:r>
                  <a:rPr lang="en-US" sz="1500"/>
                  <a:t> </a:t>
                </a:r>
                <a:r>
                  <a:rPr lang="en-US" sz="1500">
                    <a:latin typeface="Calibri (Thân)"/>
                  </a:rPr>
                  <a:t> </a:t>
                </a:r>
              </a:p>
              <a:p>
                <a:pPr>
                  <a:lnSpc>
                    <a:spcPct val="150000"/>
                  </a:lnSpc>
                </a:pPr>
                <a14:m>
                  <m:oMath xmlns:m="http://schemas.openxmlformats.org/officeDocument/2006/math">
                    <m:sSub>
                      <m:sSubPr>
                        <m:ctrlPr>
                          <a:rPr lang="en-US" sz="1500" i="1">
                            <a:latin typeface="Cambria Math" panose="02040503050406030204" pitchFamily="18" charset="0"/>
                          </a:rPr>
                        </m:ctrlPr>
                      </m:sSubPr>
                      <m:e>
                        <m:r>
                          <a:rPr lang="en-US" sz="1500" b="0" i="1" smtClean="0">
                            <a:latin typeface="Cambria Math" panose="02040503050406030204" pitchFamily="18" charset="0"/>
                          </a:rPr>
                          <m:t>   </m:t>
                        </m:r>
                        <m:r>
                          <a:rPr lang="en-US" sz="1500" i="1">
                            <a:latin typeface="Cambria Math" panose="02040503050406030204" pitchFamily="18" charset="0"/>
                          </a:rPr>
                          <m:t>𝑈</m:t>
                        </m:r>
                      </m:e>
                      <m:sub>
                        <m:r>
                          <a:rPr lang="en-US" sz="1500" i="1">
                            <a:latin typeface="Cambria Math" panose="02040503050406030204" pitchFamily="18" charset="0"/>
                          </a:rPr>
                          <m:t>𝐺</m:t>
                        </m:r>
                      </m:sub>
                    </m:sSub>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𝐺</m:t>
                            </m:r>
                          </m:sub>
                        </m:sSub>
                      </m:e>
                    </m:d>
                    <m:r>
                      <a:rPr lang="en-US" sz="1500" i="1">
                        <a:latin typeface="Cambria Math" panose="02040503050406030204" pitchFamily="18" charset="0"/>
                      </a:rPr>
                      <m:t>=</m:t>
                    </m:r>
                    <m:sSup>
                      <m:sSupPr>
                        <m:ctrlPr>
                          <a:rPr lang="en-US" sz="1500" i="1">
                            <a:latin typeface="Cambria Math" panose="02040503050406030204" pitchFamily="18" charset="0"/>
                          </a:rPr>
                        </m:ctrlPr>
                      </m:sSupPr>
                      <m:e>
                        <m:r>
                          <a:rPr lang="en-US" sz="1500" i="1">
                            <a:latin typeface="Cambria Math" panose="02040503050406030204" pitchFamily="18" charset="0"/>
                          </a:rPr>
                          <m:t>𝐼</m:t>
                        </m:r>
                      </m:e>
                      <m:sup>
                        <m:r>
                          <a:rPr lang="en-US" sz="1500" i="1">
                            <a:latin typeface="Cambria Math" panose="02040503050406030204" pitchFamily="18" charset="0"/>
                            <a:ea typeface="Cambria Math" panose="02040503050406030204" pitchFamily="18" charset="0"/>
                          </a:rPr>
                          <m:t>⊗</m:t>
                        </m:r>
                        <m:d>
                          <m:dPr>
                            <m:ctrlPr>
                              <a:rPr lang="en-US" sz="1500" i="1">
                                <a:latin typeface="Cambria Math" panose="02040503050406030204" pitchFamily="18" charset="0"/>
                                <a:ea typeface="Cambria Math" panose="02040503050406030204" pitchFamily="18" charset="0"/>
                              </a:rPr>
                            </m:ctrlPr>
                          </m:dPr>
                          <m:e>
                            <m:r>
                              <a:rPr lang="en-US" sz="1500" i="1">
                                <a:latin typeface="Cambria Math" panose="02040503050406030204" pitchFamily="18" charset="0"/>
                                <a:ea typeface="Cambria Math" panose="02040503050406030204" pitchFamily="18" charset="0"/>
                              </a:rPr>
                              <m:t>1+</m:t>
                            </m:r>
                            <m:r>
                              <a:rPr lang="en-US" sz="1500" i="1">
                                <a:latin typeface="Cambria Math" panose="02040503050406030204" pitchFamily="18" charset="0"/>
                                <a:ea typeface="Cambria Math" panose="02040503050406030204" pitchFamily="18" charset="0"/>
                              </a:rPr>
                              <m:t>𝑑</m:t>
                            </m:r>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𝑠</m:t>
                            </m:r>
                          </m:e>
                        </m:d>
                      </m:sup>
                    </m:s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𝐺</m:t>
                    </m:r>
                    <m:d>
                      <m:dPr>
                        <m:ctrlPr>
                          <a:rPr lang="en-US" sz="15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𝐺</m:t>
                            </m:r>
                          </m:sub>
                        </m:sSub>
                      </m:e>
                    </m:d>
                  </m:oMath>
                </a14:m>
                <a:r>
                  <a:rPr lang="en-US" sz="1500">
                    <a:latin typeface="Calibri (Thân)"/>
                    <a:ea typeface="Cambria Math" panose="02040503050406030204" pitchFamily="18" charset="0"/>
                  </a:rPr>
                  <a:t> </a:t>
                </a:r>
              </a:p>
              <a:p>
                <a:pPr>
                  <a:lnSpc>
                    <a:spcPct val="150000"/>
                  </a:lnSpc>
                </a:pPr>
                <a:endParaRPr lang="en-US" sz="1500">
                  <a:latin typeface="Calibri (Thân)"/>
                </a:endParaRPr>
              </a:p>
            </p:txBody>
          </p:sp>
        </mc:Choice>
        <mc:Fallback xmlns="">
          <p:sp>
            <p:nvSpPr>
              <p:cNvPr id="47" name="Hộp Văn bản 5">
                <a:extLst>
                  <a:ext uri="{FF2B5EF4-FFF2-40B4-BE49-F238E27FC236}">
                    <a16:creationId xmlns:a16="http://schemas.microsoft.com/office/drawing/2014/main" id="{8C5B114B-820D-76B2-E5E6-ED1AC4622324}"/>
                  </a:ext>
                </a:extLst>
              </p:cNvPr>
              <p:cNvSpPr txBox="1">
                <a:spLocks noRot="1" noChangeAspect="1" noMove="1" noResize="1" noEditPoints="1" noAdjustHandles="1" noChangeArrowheads="1" noChangeShapeType="1" noTextEdit="1"/>
              </p:cNvSpPr>
              <p:nvPr/>
            </p:nvSpPr>
            <p:spPr>
              <a:xfrm>
                <a:off x="3820849" y="1498144"/>
                <a:ext cx="5424751" cy="2198230"/>
              </a:xfrm>
              <a:prstGeom prst="rect">
                <a:avLst/>
              </a:prstGeom>
              <a:blipFill>
                <a:blip r:embed="rId17"/>
                <a:stretch>
                  <a:fillRect l="-44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7EF2998-EC6E-1F4D-C88A-D6844F20497C}"/>
                  </a:ext>
                </a:extLst>
              </p:cNvPr>
              <p:cNvSpPr txBox="1"/>
              <p:nvPr/>
            </p:nvSpPr>
            <p:spPr>
              <a:xfrm>
                <a:off x="2718199" y="2220834"/>
                <a:ext cx="597692" cy="3261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200" i="1" smtClean="0">
                              <a:latin typeface="Cambria Math" panose="02040503050406030204" pitchFamily="18" charset="0"/>
                            </a:rPr>
                          </m:ctrlPr>
                        </m:sSubSupPr>
                        <m:e>
                          <m:r>
                            <a:rPr lang="en-US" sz="1200" i="1">
                              <a:latin typeface="Cambria Math" panose="02040503050406030204" pitchFamily="18" charset="0"/>
                            </a:rPr>
                            <m:t>𝜌</m:t>
                          </m:r>
                        </m:e>
                        <m:sub>
                          <m:r>
                            <a:rPr lang="en-US" sz="1200" i="1">
                              <a:latin typeface="Cambria Math" panose="02040503050406030204" pitchFamily="18" charset="0"/>
                            </a:rPr>
                            <m:t>𝜆</m:t>
                          </m:r>
                        </m:sub>
                        <m:sup>
                          <m:r>
                            <a:rPr lang="en-US" sz="1200" i="1">
                              <a:latin typeface="Cambria Math" panose="02040503050406030204" pitchFamily="18" charset="0"/>
                            </a:rPr>
                            <m:t>𝑅</m:t>
                          </m:r>
                          <m:r>
                            <a:rPr lang="en-US" sz="1200" b="0" i="1" smtClean="0">
                              <a:latin typeface="Cambria Math" panose="02040503050406030204" pitchFamily="18" charset="0"/>
                            </a:rPr>
                            <m:t>/</m:t>
                          </m:r>
                          <m:r>
                            <a:rPr lang="en-US" sz="1200" b="0" i="1" smtClean="0">
                              <a:latin typeface="Cambria Math" panose="02040503050406030204" pitchFamily="18" charset="0"/>
                            </a:rPr>
                            <m:t>𝐺</m:t>
                          </m:r>
                        </m:sup>
                      </m:sSubSup>
                    </m:oMath>
                  </m:oMathPara>
                </a14:m>
                <a:endParaRPr lang="vi-VN" sz="1200"/>
              </a:p>
            </p:txBody>
          </p:sp>
        </mc:Choice>
        <mc:Fallback xmlns="">
          <p:sp>
            <p:nvSpPr>
              <p:cNvPr id="49" name="TextBox 48">
                <a:extLst>
                  <a:ext uri="{FF2B5EF4-FFF2-40B4-BE49-F238E27FC236}">
                    <a16:creationId xmlns:a16="http://schemas.microsoft.com/office/drawing/2014/main" id="{57EF2998-EC6E-1F4D-C88A-D6844F20497C}"/>
                  </a:ext>
                </a:extLst>
              </p:cNvPr>
              <p:cNvSpPr txBox="1">
                <a:spLocks noRot="1" noChangeAspect="1" noMove="1" noResize="1" noEditPoints="1" noAdjustHandles="1" noChangeArrowheads="1" noChangeShapeType="1" noTextEdit="1"/>
              </p:cNvSpPr>
              <p:nvPr/>
            </p:nvSpPr>
            <p:spPr>
              <a:xfrm>
                <a:off x="2718199" y="2220834"/>
                <a:ext cx="597692" cy="326180"/>
              </a:xfrm>
              <a:prstGeom prst="rect">
                <a:avLst/>
              </a:prstGeom>
              <a:blipFill>
                <a:blip r:embed="rId1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1851ABD-A4BA-E41D-B124-011FA2BDAC1B}"/>
                  </a:ext>
                </a:extLst>
              </p:cNvPr>
              <p:cNvSpPr txBox="1"/>
              <p:nvPr/>
            </p:nvSpPr>
            <p:spPr>
              <a:xfrm>
                <a:off x="650803" y="3596195"/>
                <a:ext cx="3037621" cy="1203791"/>
              </a:xfrm>
              <a:prstGeom prst="rect">
                <a:avLst/>
              </a:prstGeom>
              <a:noFill/>
              <a:ln>
                <a:solidFill>
                  <a:srgbClr val="FF0000"/>
                </a:solidFill>
              </a:ln>
            </p:spPr>
            <p:txBody>
              <a:bodyPr wrap="square">
                <a:spAutoFit/>
              </a:bodyPr>
              <a:lstStyle/>
              <a:p>
                <a:pPr>
                  <a:lnSpc>
                    <a:spcPct val="150000"/>
                  </a:lnSpc>
                </a:pPr>
                <a:r>
                  <a:rPr lang="en-US" sz="1500"/>
                  <a:t>After fed:</a:t>
                </a:r>
              </a:p>
              <a:p>
                <a:pPr>
                  <a:lnSpc>
                    <a:spcPct val="150000"/>
                  </a:lnSpc>
                </a:pPr>
                <a14:m>
                  <m:oMath xmlns:m="http://schemas.openxmlformats.org/officeDocument/2006/math">
                    <m:sSubSup>
                      <m:sSubSupPr>
                        <m:ctrlPr>
                          <a:rPr lang="en-US" sz="1500" i="1">
                            <a:latin typeface="Cambria Math" panose="02040503050406030204" pitchFamily="18" charset="0"/>
                          </a:rPr>
                        </m:ctrlPr>
                      </m:sSubSupPr>
                      <m:e>
                        <m:r>
                          <a:rPr lang="en-US" sz="1500">
                            <a:latin typeface="Cambria Math" panose="02040503050406030204" pitchFamily="18" charset="0"/>
                          </a:rPr>
                          <m:t>   </m:t>
                        </m:r>
                        <m:r>
                          <a:rPr lang="en-US" sz="1500">
                            <a:latin typeface="Cambria Math" panose="02040503050406030204" pitchFamily="18" charset="0"/>
                          </a:rPr>
                          <m:t>𝜌</m:t>
                        </m:r>
                      </m:e>
                      <m:sub>
                        <m:r>
                          <a:rPr lang="en-US" sz="1500">
                            <a:latin typeface="Cambria Math" panose="02040503050406030204" pitchFamily="18" charset="0"/>
                          </a:rPr>
                          <m:t>𝜆</m:t>
                        </m:r>
                      </m:sub>
                      <m:sup>
                        <m:r>
                          <a:rPr lang="en-US" sz="1500">
                            <a:latin typeface="Cambria Math" panose="02040503050406030204" pitchFamily="18" charset="0"/>
                          </a:rPr>
                          <m:t>𝑅</m:t>
                        </m:r>
                      </m:sup>
                    </m:sSubSup>
                    <m:r>
                      <a:rPr lang="en-US" sz="1500">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panose="02040503050406030204" pitchFamily="18" charset="0"/>
                          </a:rPr>
                          <m:t>𝑈</m:t>
                        </m:r>
                      </m:e>
                      <m:sub>
                        <m:r>
                          <a:rPr lang="en-US" sz="1500">
                            <a:latin typeface="Cambria Math" panose="02040503050406030204" pitchFamily="18" charset="0"/>
                          </a:rPr>
                          <m:t>𝑅</m:t>
                        </m:r>
                      </m:sub>
                    </m:sSub>
                    <m:sSubSup>
                      <m:sSubSupPr>
                        <m:ctrlPr>
                          <a:rPr lang="en-US" sz="1500" i="1">
                            <a:latin typeface="Cambria Math" panose="02040503050406030204" pitchFamily="18" charset="0"/>
                          </a:rPr>
                        </m:ctrlPr>
                      </m:sSubSupPr>
                      <m:e>
                        <m:sSubSup>
                          <m:sSubSupPr>
                            <m:ctrlPr>
                              <a:rPr lang="en-US" sz="1500" i="1">
                                <a:latin typeface="Cambria Math" panose="02040503050406030204" pitchFamily="18" charset="0"/>
                              </a:rPr>
                            </m:ctrlPr>
                          </m:sSubSupPr>
                          <m:e>
                            <m:r>
                              <a:rPr lang="en-US" sz="1500">
                                <a:latin typeface="Cambria Math" panose="02040503050406030204" pitchFamily="18" charset="0"/>
                              </a:rPr>
                              <m:t>𝜌</m:t>
                            </m:r>
                          </m:e>
                          <m:sub>
                            <m:r>
                              <a:rPr lang="en-US" sz="1500">
                                <a:latin typeface="Cambria Math" panose="02040503050406030204" pitchFamily="18" charset="0"/>
                              </a:rPr>
                              <m:t>𝜆</m:t>
                            </m:r>
                          </m:sub>
                          <m:sup>
                            <m:r>
                              <a:rPr lang="en-US" sz="1500">
                                <a:latin typeface="Cambria Math" panose="02040503050406030204" pitchFamily="18" charset="0"/>
                              </a:rPr>
                              <m:t>0</m:t>
                            </m:r>
                          </m:sup>
                        </m:sSubSup>
                        <m:d>
                          <m:dPr>
                            <m:ctrlPr>
                              <a:rPr lang="en-US" sz="1500" i="1">
                                <a:latin typeface="Cambria Math" panose="02040503050406030204" pitchFamily="18" charset="0"/>
                              </a:rPr>
                            </m:ctrlPr>
                          </m:dPr>
                          <m:e>
                            <m:r>
                              <a:rPr lang="en-US" sz="1500">
                                <a:latin typeface="Cambria Math" panose="02040503050406030204" pitchFamily="18" charset="0"/>
                              </a:rPr>
                              <m:t>𝑧</m:t>
                            </m:r>
                          </m:e>
                        </m:d>
                        <m:r>
                          <a:rPr lang="en-US" sz="1500">
                            <a:latin typeface="Cambria Math" panose="02040503050406030204" pitchFamily="18" charset="0"/>
                          </a:rPr>
                          <m:t>𝑈</m:t>
                        </m:r>
                      </m:e>
                      <m:sub>
                        <m:r>
                          <a:rPr lang="en-US" sz="1500">
                            <a:latin typeface="Cambria Math" panose="02040503050406030204" pitchFamily="18" charset="0"/>
                          </a:rPr>
                          <m:t>𝑅</m:t>
                        </m:r>
                      </m:sub>
                      <m:sup>
                        <m:r>
                          <a:rPr lang="en-US" sz="1500">
                            <a:latin typeface="Cambria Math" panose="02040503050406030204" pitchFamily="18" charset="0"/>
                          </a:rPr>
                          <m:t>†</m:t>
                        </m:r>
                      </m:sup>
                    </m:sSubSup>
                  </m:oMath>
                </a14:m>
                <a:r>
                  <a:rPr lang="en-US" sz="1500"/>
                  <a:t> </a:t>
                </a:r>
              </a:p>
              <a:p>
                <a:pPr>
                  <a:lnSpc>
                    <a:spcPct val="150000"/>
                  </a:lnSpc>
                </a:pPr>
                <a14:m>
                  <m:oMath xmlns:m="http://schemas.openxmlformats.org/officeDocument/2006/math">
                    <m:sSubSup>
                      <m:sSubSupPr>
                        <m:ctrlPr>
                          <a:rPr lang="en-US" sz="1500" i="1">
                            <a:latin typeface="Cambria Math" panose="02040503050406030204" pitchFamily="18" charset="0"/>
                          </a:rPr>
                        </m:ctrlPr>
                      </m:sSubSupPr>
                      <m:e>
                        <m:r>
                          <a:rPr lang="en-US" sz="1500">
                            <a:latin typeface="Cambria Math" panose="02040503050406030204" pitchFamily="18" charset="0"/>
                          </a:rPr>
                          <m:t>   </m:t>
                        </m:r>
                        <m:r>
                          <a:rPr lang="en-US" sz="1500">
                            <a:latin typeface="Cambria Math" panose="02040503050406030204" pitchFamily="18" charset="0"/>
                          </a:rPr>
                          <m:t>𝜌</m:t>
                        </m:r>
                      </m:e>
                      <m:sub>
                        <m:r>
                          <a:rPr lang="en-US" sz="1500">
                            <a:latin typeface="Cambria Math" panose="02040503050406030204" pitchFamily="18" charset="0"/>
                          </a:rPr>
                          <m:t>𝜆</m:t>
                        </m:r>
                      </m:sub>
                      <m:sup>
                        <m:r>
                          <a:rPr lang="en-US" sz="1500">
                            <a:latin typeface="Cambria Math" panose="02040503050406030204" pitchFamily="18" charset="0"/>
                          </a:rPr>
                          <m:t>𝐺</m:t>
                        </m:r>
                      </m:sup>
                    </m:sSubSup>
                    <m:r>
                      <a:rPr lang="en-US" sz="1500">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panose="02040503050406030204" pitchFamily="18" charset="0"/>
                          </a:rPr>
                          <m:t>𝜽</m:t>
                        </m:r>
                      </m:e>
                      <m:sub>
                        <m:r>
                          <a:rPr lang="en-US" sz="1500">
                            <a:latin typeface="Cambria Math" panose="02040503050406030204" pitchFamily="18" charset="0"/>
                          </a:rPr>
                          <m:t>𝐺</m:t>
                        </m:r>
                      </m:sub>
                    </m:sSub>
                    <m:r>
                      <a:rPr lang="en-US" sz="1500">
                        <a:latin typeface="Cambria Math" panose="02040503050406030204" pitchFamily="18" charset="0"/>
                      </a:rPr>
                      <m:t>,</m:t>
                    </m:r>
                    <m:r>
                      <a:rPr lang="en-US" sz="1500">
                        <a:latin typeface="Cambria Math" panose="02040503050406030204" pitchFamily="18" charset="0"/>
                      </a:rPr>
                      <m:t>𝑧</m:t>
                    </m:r>
                    <m:r>
                      <a:rPr lang="en-US" sz="1500">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panose="02040503050406030204" pitchFamily="18" charset="0"/>
                          </a:rPr>
                          <m:t>𝑈</m:t>
                        </m:r>
                      </m:e>
                      <m:sub>
                        <m:r>
                          <a:rPr lang="en-US" sz="1500">
                            <a:latin typeface="Cambria Math" panose="02040503050406030204" pitchFamily="18" charset="0"/>
                          </a:rPr>
                          <m:t>𝐺</m:t>
                        </m:r>
                      </m:sub>
                    </m:sSub>
                    <m:d>
                      <m:dPr>
                        <m:ctrlPr>
                          <a:rPr lang="en-US" sz="1500" i="1">
                            <a:latin typeface="Cambria Math" panose="02040503050406030204" pitchFamily="18" charset="0"/>
                          </a:rPr>
                        </m:ctrlPr>
                      </m:dPr>
                      <m:e>
                        <m:sSub>
                          <m:sSubPr>
                            <m:ctrlPr>
                              <a:rPr lang="en-US" sz="1500" i="1">
                                <a:latin typeface="Cambria Math" panose="02040503050406030204" pitchFamily="18" charset="0"/>
                              </a:rPr>
                            </m:ctrlPr>
                          </m:sSubPr>
                          <m:e>
                            <m:r>
                              <a:rPr lang="en-US" sz="1500">
                                <a:latin typeface="Cambria Math" panose="02040503050406030204" pitchFamily="18" charset="0"/>
                              </a:rPr>
                              <m:t>𝜽</m:t>
                            </m:r>
                          </m:e>
                          <m:sub>
                            <m:r>
                              <a:rPr lang="en-US" sz="1500">
                                <a:latin typeface="Cambria Math" panose="02040503050406030204" pitchFamily="18" charset="0"/>
                              </a:rPr>
                              <m:t>𝐺</m:t>
                            </m:r>
                          </m:sub>
                        </m:sSub>
                      </m:e>
                    </m:d>
                    <m:sSubSup>
                      <m:sSubSupPr>
                        <m:ctrlPr>
                          <a:rPr lang="en-US" sz="1500" i="1">
                            <a:latin typeface="Cambria Math" panose="02040503050406030204" pitchFamily="18" charset="0"/>
                          </a:rPr>
                        </m:ctrlPr>
                      </m:sSubSupPr>
                      <m:e>
                        <m:r>
                          <a:rPr lang="en-US" sz="1500">
                            <a:latin typeface="Cambria Math" panose="02040503050406030204" pitchFamily="18" charset="0"/>
                          </a:rPr>
                          <m:t>𝜌</m:t>
                        </m:r>
                      </m:e>
                      <m:sub>
                        <m:r>
                          <a:rPr lang="en-US" sz="1500">
                            <a:latin typeface="Cambria Math" panose="02040503050406030204" pitchFamily="18" charset="0"/>
                          </a:rPr>
                          <m:t>𝜆</m:t>
                        </m:r>
                      </m:sub>
                      <m:sup>
                        <m:r>
                          <a:rPr lang="en-US" sz="1500">
                            <a:latin typeface="Cambria Math" panose="02040503050406030204" pitchFamily="18" charset="0"/>
                          </a:rPr>
                          <m:t>0</m:t>
                        </m:r>
                      </m:sup>
                    </m:sSubSup>
                    <m:d>
                      <m:dPr>
                        <m:ctrlPr>
                          <a:rPr lang="en-US" sz="1500" i="1">
                            <a:latin typeface="Cambria Math" panose="02040503050406030204" pitchFamily="18" charset="0"/>
                          </a:rPr>
                        </m:ctrlPr>
                      </m:dPr>
                      <m:e>
                        <m:r>
                          <a:rPr lang="en-US" sz="1500">
                            <a:latin typeface="Cambria Math" panose="02040503050406030204" pitchFamily="18" charset="0"/>
                          </a:rPr>
                          <m:t>𝑧</m:t>
                        </m:r>
                      </m:e>
                    </m:d>
                    <m:sSubSup>
                      <m:sSubSupPr>
                        <m:ctrlPr>
                          <a:rPr lang="en-US" sz="1500" i="1">
                            <a:latin typeface="Cambria Math" panose="02040503050406030204" pitchFamily="18" charset="0"/>
                          </a:rPr>
                        </m:ctrlPr>
                      </m:sSubSupPr>
                      <m:e>
                        <m:r>
                          <a:rPr lang="en-US" sz="1500">
                            <a:latin typeface="Cambria Math" panose="02040503050406030204" pitchFamily="18" charset="0"/>
                          </a:rPr>
                          <m:t>𝑈</m:t>
                        </m:r>
                      </m:e>
                      <m:sub>
                        <m:r>
                          <a:rPr lang="en-US" sz="1500">
                            <a:latin typeface="Cambria Math" panose="02040503050406030204" pitchFamily="18" charset="0"/>
                          </a:rPr>
                          <m:t>𝐺</m:t>
                        </m:r>
                      </m:sub>
                      <m:sup>
                        <m:r>
                          <a:rPr lang="en-US" sz="1500">
                            <a:latin typeface="Cambria Math" panose="02040503050406030204" pitchFamily="18" charset="0"/>
                          </a:rPr>
                          <m:t>†</m:t>
                        </m:r>
                      </m:sup>
                    </m:sSubSup>
                    <m:r>
                      <a:rPr lang="en-US" sz="1500">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panose="02040503050406030204" pitchFamily="18" charset="0"/>
                          </a:rPr>
                          <m:t>𝜽</m:t>
                        </m:r>
                      </m:e>
                      <m:sub>
                        <m:r>
                          <a:rPr lang="en-US" sz="1500">
                            <a:latin typeface="Cambria Math" panose="02040503050406030204" pitchFamily="18" charset="0"/>
                          </a:rPr>
                          <m:t>𝐺</m:t>
                        </m:r>
                      </m:sub>
                    </m:sSub>
                    <m:r>
                      <a:rPr lang="en-US" sz="1500">
                        <a:latin typeface="Cambria Math" panose="02040503050406030204" pitchFamily="18" charset="0"/>
                      </a:rPr>
                      <m:t>)</m:t>
                    </m:r>
                  </m:oMath>
                </a14:m>
                <a:r>
                  <a:rPr lang="en-US" sz="1500"/>
                  <a:t> </a:t>
                </a:r>
                <a:endParaRPr lang="vi-VN" sz="1500"/>
              </a:p>
            </p:txBody>
          </p:sp>
        </mc:Choice>
        <mc:Fallback xmlns="">
          <p:sp>
            <p:nvSpPr>
              <p:cNvPr id="51" name="TextBox 50">
                <a:extLst>
                  <a:ext uri="{FF2B5EF4-FFF2-40B4-BE49-F238E27FC236}">
                    <a16:creationId xmlns:a16="http://schemas.microsoft.com/office/drawing/2014/main" id="{91851ABD-A4BA-E41D-B124-011FA2BDAC1B}"/>
                  </a:ext>
                </a:extLst>
              </p:cNvPr>
              <p:cNvSpPr txBox="1">
                <a:spLocks noRot="1" noChangeAspect="1" noMove="1" noResize="1" noEditPoints="1" noAdjustHandles="1" noChangeArrowheads="1" noChangeShapeType="1" noTextEdit="1"/>
              </p:cNvSpPr>
              <p:nvPr/>
            </p:nvSpPr>
            <p:spPr>
              <a:xfrm>
                <a:off x="650803" y="3596195"/>
                <a:ext cx="3037621" cy="1203791"/>
              </a:xfrm>
              <a:prstGeom prst="rect">
                <a:avLst/>
              </a:prstGeom>
              <a:blipFill>
                <a:blip r:embed="rId19"/>
                <a:stretch>
                  <a:fillRect l="-600" b="-1508"/>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Hộp Văn bản 12">
                <a:extLst>
                  <a:ext uri="{FF2B5EF4-FFF2-40B4-BE49-F238E27FC236}">
                    <a16:creationId xmlns:a16="http://schemas.microsoft.com/office/drawing/2014/main" id="{D22B281D-D578-9B01-F6CC-71F1E8439F0C}"/>
                  </a:ext>
                </a:extLst>
              </p:cNvPr>
              <p:cNvSpPr txBox="1"/>
              <p:nvPr/>
            </p:nvSpPr>
            <p:spPr>
              <a:xfrm>
                <a:off x="4981609" y="3767074"/>
                <a:ext cx="3641691" cy="862031"/>
              </a:xfrm>
              <a:prstGeom prst="rect">
                <a:avLst/>
              </a:prstGeom>
              <a:noFill/>
              <a:ln>
                <a:solidFill>
                  <a:srgbClr val="FF0000"/>
                </a:solidFill>
              </a:ln>
            </p:spPr>
            <p:txBody>
              <a:bodyPr wrap="square" rtlCol="0">
                <a:spAutoFit/>
              </a:bodyPr>
              <a:lstStyle/>
              <a:p>
                <a:r>
                  <a:rPr lang="en-US" sz="1500"/>
                  <a:t>After classify:</a:t>
                </a:r>
              </a:p>
              <a:p>
                <a14:m>
                  <m:oMath xmlns:m="http://schemas.openxmlformats.org/officeDocument/2006/math">
                    <m:sSubSup>
                      <m:sSubSupPr>
                        <m:ctrlPr>
                          <a:rPr lang="en-US" sz="1500" i="1">
                            <a:latin typeface="Cambria Math" panose="02040503050406030204" pitchFamily="18" charset="0"/>
                          </a:rPr>
                        </m:ctrlPr>
                      </m:sSubSupPr>
                      <m:e>
                        <m:r>
                          <a:rPr lang="en-US" sz="1500" b="0" i="1" smtClean="0">
                            <a:latin typeface="Cambria Math" panose="02040503050406030204" pitchFamily="18" charset="0"/>
                          </a:rPr>
                          <m:t>   </m:t>
                        </m:r>
                        <m:r>
                          <a:rPr lang="en-US" sz="1500" i="1">
                            <a:latin typeface="Cambria Math" panose="02040503050406030204" pitchFamily="18" charset="0"/>
                          </a:rPr>
                          <m:t>𝜌</m:t>
                        </m:r>
                      </m:e>
                      <m:sub>
                        <m:r>
                          <a:rPr lang="en-US" sz="1500" i="1">
                            <a:latin typeface="Cambria Math" panose="02040503050406030204" pitchFamily="18" charset="0"/>
                          </a:rPr>
                          <m:t>𝜆</m:t>
                        </m:r>
                      </m:sub>
                      <m:sup>
                        <m:r>
                          <a:rPr lang="en-US" sz="1500" i="1">
                            <a:latin typeface="Cambria Math" panose="02040503050406030204" pitchFamily="18" charset="0"/>
                          </a:rPr>
                          <m:t>𝐷𝑅</m:t>
                        </m:r>
                      </m:sup>
                    </m:sSubSup>
                    <m:r>
                      <a:rPr lang="en-US" sz="1500" i="1">
                        <a:latin typeface="Cambria Math" panose="02040503050406030204" pitchFamily="18" charset="0"/>
                      </a:rPr>
                      <m:t>(</m:t>
                    </m:r>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r>
                      <a:rPr lang="en-US" sz="1500" i="1">
                        <a:latin typeface="Cambria Math" panose="02040503050406030204" pitchFamily="18" charset="0"/>
                      </a:rPr>
                      <m:t>)=</m:t>
                    </m:r>
                    <m:sSub>
                      <m:sSubPr>
                        <m:ctrlPr>
                          <a:rPr lang="en-US" sz="1500" i="1">
                            <a:latin typeface="Cambria Math" panose="02040503050406030204" pitchFamily="18" charset="0"/>
                          </a:rPr>
                        </m:ctrlPr>
                      </m:sSubPr>
                      <m:e>
                        <m:r>
                          <a:rPr lang="en-US" sz="1500" i="1">
                            <a:latin typeface="Cambria Math" panose="02040503050406030204" pitchFamily="18" charset="0"/>
                          </a:rPr>
                          <m:t>𝑈</m:t>
                        </m:r>
                      </m:e>
                      <m:sub>
                        <m:r>
                          <a:rPr lang="en-US" sz="1500" i="1">
                            <a:latin typeface="Cambria Math" panose="02040503050406030204" pitchFamily="18" charset="0"/>
                          </a:rPr>
                          <m:t>𝐷</m:t>
                        </m:r>
                      </m:sub>
                    </m:sSub>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e>
                    </m:d>
                    <m:sSubSup>
                      <m:sSubSupPr>
                        <m:ctrlPr>
                          <a:rPr lang="en-US" sz="1500" i="1">
                            <a:latin typeface="Cambria Math" panose="02040503050406030204" pitchFamily="18" charset="0"/>
                          </a:rPr>
                        </m:ctrlPr>
                      </m:sSubSupPr>
                      <m:e>
                        <m:r>
                          <a:rPr lang="en-US" sz="1500" i="1">
                            <a:latin typeface="Cambria Math" panose="02040503050406030204" pitchFamily="18" charset="0"/>
                          </a:rPr>
                          <m:t>𝜌</m:t>
                        </m:r>
                      </m:e>
                      <m:sub>
                        <m:r>
                          <a:rPr lang="en-US" sz="1500" i="1">
                            <a:latin typeface="Cambria Math" panose="02040503050406030204" pitchFamily="18" charset="0"/>
                          </a:rPr>
                          <m:t>𝜆</m:t>
                        </m:r>
                      </m:sub>
                      <m:sup>
                        <m:r>
                          <a:rPr lang="en-US" sz="1500" i="1">
                            <a:latin typeface="Cambria Math" panose="02040503050406030204" pitchFamily="18" charset="0"/>
                          </a:rPr>
                          <m:t>𝑅</m:t>
                        </m:r>
                      </m:sup>
                    </m:sSubSup>
                    <m:sSubSup>
                      <m:sSubSupPr>
                        <m:ctrlPr>
                          <a:rPr lang="en-US" sz="1500" i="1">
                            <a:latin typeface="Cambria Math" panose="02040503050406030204" pitchFamily="18" charset="0"/>
                          </a:rPr>
                        </m:ctrlPr>
                      </m:sSubSupPr>
                      <m:e>
                        <m:r>
                          <a:rPr lang="en-US" sz="1500" i="1">
                            <a:latin typeface="Cambria Math" panose="02040503050406030204" pitchFamily="18" charset="0"/>
                          </a:rPr>
                          <m:t>𝑈</m:t>
                        </m:r>
                      </m:e>
                      <m:sub>
                        <m:r>
                          <a:rPr lang="en-US" sz="1500" i="1">
                            <a:latin typeface="Cambria Math" panose="02040503050406030204" pitchFamily="18" charset="0"/>
                          </a:rPr>
                          <m:t>𝐷</m:t>
                        </m:r>
                      </m:sub>
                      <m:sup>
                        <m:r>
                          <a:rPr lang="en-US" sz="1500" i="1">
                            <a:latin typeface="Cambria Math" panose="02040503050406030204" pitchFamily="18" charset="0"/>
                            <a:ea typeface="Cambria Math" panose="02040503050406030204" pitchFamily="18" charset="0"/>
                          </a:rPr>
                          <m:t>†</m:t>
                        </m:r>
                      </m:sup>
                    </m:sSubSup>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e>
                    </m:d>
                  </m:oMath>
                </a14:m>
                <a:r>
                  <a:rPr lang="en-US" sz="1500">
                    <a:latin typeface="Calibri (Thân)"/>
                  </a:rPr>
                  <a:t>  </a:t>
                </a:r>
                <a:endParaRPr lang="en-US" sz="1500" i="1">
                  <a:latin typeface="Cambria Math" panose="02040503050406030204" pitchFamily="18" charset="0"/>
                </a:endParaRPr>
              </a:p>
              <a:p>
                <a14:m>
                  <m:oMath xmlns:m="http://schemas.openxmlformats.org/officeDocument/2006/math">
                    <m:sSubSup>
                      <m:sSubSupPr>
                        <m:ctrlPr>
                          <a:rPr lang="en-US" sz="1500" i="1">
                            <a:latin typeface="Cambria Math" panose="02040503050406030204" pitchFamily="18" charset="0"/>
                          </a:rPr>
                        </m:ctrlPr>
                      </m:sSubSupPr>
                      <m:e>
                        <m:r>
                          <a:rPr lang="en-US" sz="1500" b="0" i="1" smtClean="0">
                            <a:latin typeface="Cambria Math" panose="02040503050406030204" pitchFamily="18" charset="0"/>
                          </a:rPr>
                          <m:t>   </m:t>
                        </m:r>
                        <m:r>
                          <a:rPr lang="en-US" sz="1500" i="1">
                            <a:latin typeface="Cambria Math" panose="02040503050406030204" pitchFamily="18" charset="0"/>
                          </a:rPr>
                          <m:t>𝜌</m:t>
                        </m:r>
                      </m:e>
                      <m:sub>
                        <m:r>
                          <a:rPr lang="en-US" sz="1500" i="1">
                            <a:latin typeface="Cambria Math" panose="02040503050406030204" pitchFamily="18" charset="0"/>
                          </a:rPr>
                          <m:t>𝜆</m:t>
                        </m:r>
                      </m:sub>
                      <m:sup>
                        <m:r>
                          <a:rPr lang="en-US" sz="1500" i="1">
                            <a:latin typeface="Cambria Math" panose="02040503050406030204" pitchFamily="18" charset="0"/>
                          </a:rPr>
                          <m:t>𝐷𝐺</m:t>
                        </m:r>
                      </m:sup>
                    </m:sSubSup>
                    <m:r>
                      <a:rPr lang="en-US" sz="1500" i="1">
                        <a:latin typeface="Cambria Math" panose="02040503050406030204" pitchFamily="18" charset="0"/>
                      </a:rPr>
                      <m:t>(</m:t>
                    </m:r>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r>
                      <a:rPr lang="en-US" sz="1600" b="0" i="1" smtClean="0">
                        <a:latin typeface="Cambria Math" panose="02040503050406030204" pitchFamily="18" charset="0"/>
                        <a:cs typeface="Times New Roman" panose="02020603050405020304" pitchFamily="18" charset="0"/>
                      </a:rPr>
                      <m:t>,</m:t>
                    </m:r>
                    <m:sSub>
                      <m:sSubPr>
                        <m:ctrlPr>
                          <a:rPr lang="en-US" sz="1400" i="1">
                            <a:latin typeface="Cambria Math" panose="02040503050406030204" pitchFamily="18" charset="0"/>
                            <a:cs typeface="Times New Roman" panose="02020603050405020304" pitchFamily="18" charset="0"/>
                          </a:rPr>
                        </m:ctrlPr>
                      </m:sSubPr>
                      <m:e>
                        <m:r>
                          <a:rPr lang="en-US" sz="1400" b="1" i="1">
                            <a:latin typeface="Cambria Math" panose="02040503050406030204" pitchFamily="18" charset="0"/>
                            <a:cs typeface="Times New Roman" panose="02020603050405020304" pitchFamily="18" charset="0"/>
                          </a:rPr>
                          <m:t>𝜽</m:t>
                        </m:r>
                      </m:e>
                      <m:sub>
                        <m:r>
                          <a:rPr lang="en-US" sz="1400" b="0" i="1" smtClean="0">
                            <a:latin typeface="Cambria Math" panose="02040503050406030204" pitchFamily="18" charset="0"/>
                            <a:cs typeface="Times New Roman" panose="02020603050405020304" pitchFamily="18" charset="0"/>
                          </a:rPr>
                          <m:t>𝐺</m:t>
                        </m:r>
                      </m:sub>
                    </m:sSub>
                    <m:r>
                      <a:rPr lang="en-US" sz="1500" i="1">
                        <a:latin typeface="Cambria Math" panose="02040503050406030204" pitchFamily="18" charset="0"/>
                      </a:rPr>
                      <m:t>)=</m:t>
                    </m:r>
                    <m:sSub>
                      <m:sSubPr>
                        <m:ctrlPr>
                          <a:rPr lang="en-US" sz="1500" i="1">
                            <a:latin typeface="Cambria Math" panose="02040503050406030204" pitchFamily="18" charset="0"/>
                          </a:rPr>
                        </m:ctrlPr>
                      </m:sSubPr>
                      <m:e>
                        <m:r>
                          <a:rPr lang="en-US" sz="1500" i="1">
                            <a:latin typeface="Cambria Math" panose="02040503050406030204" pitchFamily="18" charset="0"/>
                          </a:rPr>
                          <m:t>𝑈</m:t>
                        </m:r>
                      </m:e>
                      <m:sub>
                        <m:r>
                          <a:rPr lang="en-US" sz="1500" i="1">
                            <a:latin typeface="Cambria Math" panose="02040503050406030204" pitchFamily="18" charset="0"/>
                          </a:rPr>
                          <m:t>𝐷</m:t>
                        </m:r>
                      </m:sub>
                    </m:sSub>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e>
                    </m:d>
                    <m:sSubSup>
                      <m:sSubSupPr>
                        <m:ctrlPr>
                          <a:rPr lang="en-US" sz="1500" i="1">
                            <a:latin typeface="Cambria Math" panose="02040503050406030204" pitchFamily="18" charset="0"/>
                          </a:rPr>
                        </m:ctrlPr>
                      </m:sSubSupPr>
                      <m:e>
                        <m:r>
                          <a:rPr lang="en-US" sz="1500">
                            <a:latin typeface="Cambria Math" panose="02040503050406030204" pitchFamily="18" charset="0"/>
                          </a:rPr>
                          <m:t>𝜌</m:t>
                        </m:r>
                      </m:e>
                      <m:sub>
                        <m:r>
                          <a:rPr lang="en-US" sz="1500">
                            <a:latin typeface="Cambria Math" panose="02040503050406030204" pitchFamily="18" charset="0"/>
                          </a:rPr>
                          <m:t>𝜆</m:t>
                        </m:r>
                      </m:sub>
                      <m:sup>
                        <m:r>
                          <a:rPr lang="en-US" sz="1500">
                            <a:latin typeface="Cambria Math" panose="02040503050406030204" pitchFamily="18" charset="0"/>
                          </a:rPr>
                          <m:t>𝐺</m:t>
                        </m:r>
                      </m:sup>
                    </m:sSubSup>
                    <m:r>
                      <a:rPr lang="en-US" sz="1500">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panose="02040503050406030204" pitchFamily="18" charset="0"/>
                          </a:rPr>
                          <m:t>𝜽</m:t>
                        </m:r>
                      </m:e>
                      <m:sub>
                        <m:r>
                          <a:rPr lang="en-US" sz="1500">
                            <a:latin typeface="Cambria Math" panose="02040503050406030204" pitchFamily="18" charset="0"/>
                          </a:rPr>
                          <m:t>𝐺</m:t>
                        </m:r>
                      </m:sub>
                    </m:sSub>
                    <m:r>
                      <a:rPr lang="en-US" sz="1500">
                        <a:latin typeface="Cambria Math" panose="02040503050406030204" pitchFamily="18" charset="0"/>
                      </a:rPr>
                      <m:t>,</m:t>
                    </m:r>
                    <m:r>
                      <a:rPr lang="en-US" sz="1500">
                        <a:latin typeface="Cambria Math" panose="02040503050406030204" pitchFamily="18" charset="0"/>
                      </a:rPr>
                      <m:t>𝑧</m:t>
                    </m:r>
                    <m:r>
                      <a:rPr lang="en-US" sz="1500">
                        <a:latin typeface="Cambria Math" panose="02040503050406030204" pitchFamily="18" charset="0"/>
                      </a:rPr>
                      <m:t>)</m:t>
                    </m:r>
                    <m:sSubSup>
                      <m:sSubSupPr>
                        <m:ctrlPr>
                          <a:rPr lang="en-US" sz="1500" i="1">
                            <a:latin typeface="Cambria Math" panose="02040503050406030204" pitchFamily="18" charset="0"/>
                          </a:rPr>
                        </m:ctrlPr>
                      </m:sSubSupPr>
                      <m:e>
                        <m:r>
                          <a:rPr lang="en-US" sz="1500" i="1">
                            <a:latin typeface="Cambria Math" panose="02040503050406030204" pitchFamily="18" charset="0"/>
                          </a:rPr>
                          <m:t>𝑈</m:t>
                        </m:r>
                      </m:e>
                      <m:sub>
                        <m:r>
                          <a:rPr lang="en-US" sz="1500" i="1">
                            <a:latin typeface="Cambria Math" panose="02040503050406030204" pitchFamily="18" charset="0"/>
                          </a:rPr>
                          <m:t>𝐷</m:t>
                        </m:r>
                      </m:sub>
                      <m:sup>
                        <m:r>
                          <a:rPr lang="en-US" sz="1500" i="1">
                            <a:latin typeface="Cambria Math" panose="02040503050406030204" pitchFamily="18" charset="0"/>
                            <a:ea typeface="Cambria Math" panose="02040503050406030204" pitchFamily="18" charset="0"/>
                          </a:rPr>
                          <m:t>†</m:t>
                        </m:r>
                      </m:sup>
                    </m:sSubSup>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e>
                    </m:d>
                  </m:oMath>
                </a14:m>
                <a:r>
                  <a:rPr lang="en-US" sz="1500">
                    <a:latin typeface="Calibri (Thân)"/>
                  </a:rPr>
                  <a:t> </a:t>
                </a:r>
              </a:p>
            </p:txBody>
          </p:sp>
        </mc:Choice>
        <mc:Fallback xmlns="">
          <p:sp>
            <p:nvSpPr>
              <p:cNvPr id="53" name="Hộp Văn bản 12">
                <a:extLst>
                  <a:ext uri="{FF2B5EF4-FFF2-40B4-BE49-F238E27FC236}">
                    <a16:creationId xmlns:a16="http://schemas.microsoft.com/office/drawing/2014/main" id="{D22B281D-D578-9B01-F6CC-71F1E8439F0C}"/>
                  </a:ext>
                </a:extLst>
              </p:cNvPr>
              <p:cNvSpPr txBox="1">
                <a:spLocks noRot="1" noChangeAspect="1" noMove="1" noResize="1" noEditPoints="1" noAdjustHandles="1" noChangeArrowheads="1" noChangeShapeType="1" noTextEdit="1"/>
              </p:cNvSpPr>
              <p:nvPr/>
            </p:nvSpPr>
            <p:spPr>
              <a:xfrm>
                <a:off x="4981609" y="3767074"/>
                <a:ext cx="3641691" cy="862031"/>
              </a:xfrm>
              <a:prstGeom prst="rect">
                <a:avLst/>
              </a:prstGeom>
              <a:blipFill>
                <a:blip r:embed="rId20"/>
                <a:stretch>
                  <a:fillRect l="-500" t="-699" b="-2098"/>
                </a:stretch>
              </a:blipFill>
              <a:ln>
                <a:solidFill>
                  <a:srgbClr val="FF0000"/>
                </a:solidFill>
              </a:ln>
            </p:spPr>
            <p:txBody>
              <a:bodyPr/>
              <a:lstStyle/>
              <a:p>
                <a:r>
                  <a:rPr lang="vi-VN">
                    <a:noFill/>
                  </a:rPr>
                  <a:t> </a:t>
                </a:r>
              </a:p>
            </p:txBody>
          </p:sp>
        </mc:Fallback>
      </mc:AlternateContent>
      <p:cxnSp>
        <p:nvCxnSpPr>
          <p:cNvPr id="57" name="Straight Arrow Connector 56">
            <a:extLst>
              <a:ext uri="{FF2B5EF4-FFF2-40B4-BE49-F238E27FC236}">
                <a16:creationId xmlns:a16="http://schemas.microsoft.com/office/drawing/2014/main" id="{82053B65-889D-D642-0B80-EC33CA889BFB}"/>
              </a:ext>
            </a:extLst>
          </p:cNvPr>
          <p:cNvCxnSpPr>
            <a:cxnSpLocks/>
            <a:stCxn id="51" idx="3"/>
            <a:endCxn id="53" idx="1"/>
          </p:cNvCxnSpPr>
          <p:nvPr/>
        </p:nvCxnSpPr>
        <p:spPr>
          <a:xfrm flipV="1">
            <a:off x="3688424" y="4198090"/>
            <a:ext cx="1293185"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FA7E9DE2-B28C-19C6-A570-E016815187CC}"/>
              </a:ext>
            </a:extLst>
          </p:cNvPr>
          <p:cNvSpPr txBox="1"/>
          <p:nvPr/>
        </p:nvSpPr>
        <p:spPr>
          <a:xfrm>
            <a:off x="563034" y="4848455"/>
            <a:ext cx="7952316" cy="246221"/>
          </a:xfrm>
          <a:prstGeom prst="rect">
            <a:avLst/>
          </a:prstGeom>
          <a:noFill/>
        </p:spPr>
        <p:txBody>
          <a:bodyPr wrap="square">
            <a:spAutoFit/>
          </a:bodyPr>
          <a:lstStyle/>
          <a:p>
            <a:r>
              <a:rPr lang="en-US" sz="1000" b="1" i="0">
                <a:solidFill>
                  <a:srgbClr val="222222"/>
                </a:solidFill>
                <a:effectLst/>
              </a:rPr>
              <a:t>[3.4.7] </a:t>
            </a:r>
            <a:r>
              <a:rPr lang="en-US" sz="1000" b="0" i="0">
                <a:solidFill>
                  <a:srgbClr val="222222"/>
                </a:solidFill>
                <a:effectLst/>
              </a:rPr>
              <a:t>Dallaire-Demers, P. L., &amp; Killoran, N. (2018). Quantum generative adversarial networks. </a:t>
            </a:r>
            <a:r>
              <a:rPr lang="en-US" sz="1000" b="0" i="1">
                <a:solidFill>
                  <a:srgbClr val="222222"/>
                </a:solidFill>
                <a:effectLst/>
              </a:rPr>
              <a:t>Physical Review A</a:t>
            </a:r>
            <a:r>
              <a:rPr lang="en-US" sz="1000" b="0" i="0">
                <a:solidFill>
                  <a:srgbClr val="222222"/>
                </a:solidFill>
                <a:effectLst/>
              </a:rPr>
              <a:t>, </a:t>
            </a:r>
            <a:r>
              <a:rPr lang="en-US" sz="1000" b="0" i="1">
                <a:solidFill>
                  <a:srgbClr val="222222"/>
                </a:solidFill>
                <a:effectLst/>
              </a:rPr>
              <a:t>98</a:t>
            </a:r>
            <a:r>
              <a:rPr lang="en-US" sz="1000" b="0" i="0">
                <a:solidFill>
                  <a:srgbClr val="222222"/>
                </a:solidFill>
                <a:effectLst/>
              </a:rPr>
              <a:t>(1), 012324.</a:t>
            </a:r>
            <a:endParaRPr lang="vi-VN" sz="1000"/>
          </a:p>
        </p:txBody>
      </p:sp>
    </p:spTree>
    <p:extLst>
      <p:ext uri="{BB962C8B-B14F-4D97-AF65-F5344CB8AC3E}">
        <p14:creationId xmlns:p14="http://schemas.microsoft.com/office/powerpoint/2010/main" val="11797309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B3477A-21D0-7BA3-8E2F-819FAAC801BE}"/>
              </a:ext>
            </a:extLst>
          </p:cNvPr>
          <p:cNvSpPr>
            <a:spLocks noGrp="1"/>
          </p:cNvSpPr>
          <p:nvPr>
            <p:ph idx="1"/>
          </p:nvPr>
        </p:nvSpPr>
        <p:spPr>
          <a:xfrm>
            <a:off x="628650" y="1369219"/>
            <a:ext cx="7886700" cy="1119981"/>
          </a:xfrm>
        </p:spPr>
        <p:txBody>
          <a:bodyPr/>
          <a:lstStyle/>
          <a:p>
            <a:pPr marL="0" indent="0">
              <a:buNone/>
            </a:pPr>
            <a:r>
              <a:rPr lang="en-US">
                <a:latin typeface="Calibri (Thân)"/>
              </a:rPr>
              <a:t>Quantum cost function</a:t>
            </a:r>
            <a:endParaRPr lang="en-US" i="1">
              <a:latin typeface="Calibri (Thân)"/>
            </a:endParaRPr>
          </a:p>
        </p:txBody>
      </p:sp>
      <p:sp>
        <p:nvSpPr>
          <p:cNvPr id="4" name="Slide Number Placeholder 3">
            <a:extLst>
              <a:ext uri="{FF2B5EF4-FFF2-40B4-BE49-F238E27FC236}">
                <a16:creationId xmlns:a16="http://schemas.microsoft.com/office/drawing/2014/main" id="{CFEEE12B-E836-9849-07D5-642474695503}"/>
              </a:ext>
            </a:extLst>
          </p:cNvPr>
          <p:cNvSpPr>
            <a:spLocks noGrp="1"/>
          </p:cNvSpPr>
          <p:nvPr>
            <p:ph type="sldNum" sz="quarter" idx="12"/>
          </p:nvPr>
        </p:nvSpPr>
        <p:spPr/>
        <p:txBody>
          <a:bodyPr/>
          <a:lstStyle/>
          <a:p>
            <a:fld id="{6A45828D-F580-42DE-B77E-860980F07F32}" type="slidenum">
              <a:rPr lang="vi-VN" smtClean="0"/>
              <a:t>50</a:t>
            </a:fld>
            <a:endParaRPr lang="vi-VN"/>
          </a:p>
        </p:txBody>
      </p:sp>
      <mc:AlternateContent xmlns:mc="http://schemas.openxmlformats.org/markup-compatibility/2006" xmlns:a14="http://schemas.microsoft.com/office/drawing/2010/main">
        <mc:Choice Requires="a14">
          <p:sp>
            <p:nvSpPr>
              <p:cNvPr id="7" name="Hộp Văn bản 11">
                <a:extLst>
                  <a:ext uri="{FF2B5EF4-FFF2-40B4-BE49-F238E27FC236}">
                    <a16:creationId xmlns:a16="http://schemas.microsoft.com/office/drawing/2014/main" id="{E0614B4B-948D-98F5-658E-BE34B472F49B}"/>
                  </a:ext>
                </a:extLst>
              </p:cNvPr>
              <p:cNvSpPr txBox="1"/>
              <p:nvPr/>
            </p:nvSpPr>
            <p:spPr>
              <a:xfrm>
                <a:off x="628650" y="2455606"/>
                <a:ext cx="7611501" cy="1037463"/>
              </a:xfrm>
              <a:prstGeom prst="rect">
                <a:avLst/>
              </a:prstGeom>
              <a:noFill/>
            </p:spPr>
            <p:txBody>
              <a:bodyPr wrap="square" rtlCol="0">
                <a:spAutoFit/>
              </a:bodyPr>
              <a:lstStyle/>
              <a:p>
                <a:r>
                  <a:rPr lang="en-US">
                    <a:latin typeface="Calibri (Thân)"/>
                  </a:rPr>
                  <a:t>Here the angle </a:t>
                </a:r>
                <a14:m>
                  <m:oMath xmlns:m="http://schemas.openxmlformats.org/officeDocument/2006/math">
                    <m:r>
                      <a:rPr lang="en-US" i="1">
                        <a:latin typeface="Cambria Math" panose="02040503050406030204" pitchFamily="18" charset="0"/>
                      </a:rPr>
                      <m:t>𝜙</m:t>
                    </m:r>
                  </m:oMath>
                </a14:m>
                <a:r>
                  <a:rPr lang="en-US">
                    <a:latin typeface="Calibri (Thân)"/>
                  </a:rPr>
                  <a:t> parametrizes the probability that </a:t>
                </a:r>
                <a14:m>
                  <m:oMath xmlns:m="http://schemas.openxmlformats.org/officeDocument/2006/math">
                    <m:r>
                      <a:rPr lang="en-US" i="1">
                        <a:latin typeface="Cambria Math" panose="02040503050406030204" pitchFamily="18" charset="0"/>
                      </a:rPr>
                      <m:t>𝑅</m:t>
                    </m:r>
                  </m:oMath>
                </a14:m>
                <a:r>
                  <a:rPr lang="en-US">
                    <a:latin typeface="Calibri (Thân)"/>
                  </a:rPr>
                  <a:t> or </a:t>
                </a:r>
                <a14:m>
                  <m:oMath xmlns:m="http://schemas.openxmlformats.org/officeDocument/2006/math">
                    <m:r>
                      <a:rPr lang="en-US" i="1">
                        <a:latin typeface="Cambria Math" panose="02040503050406030204" pitchFamily="18" charset="0"/>
                      </a:rPr>
                      <m:t>𝐺</m:t>
                    </m:r>
                  </m:oMath>
                </a14:m>
                <a:r>
                  <a:rPr lang="en-US">
                    <a:latin typeface="Calibri (Thân)"/>
                  </a:rPr>
                  <a:t> is used as a source</a:t>
                </a:r>
              </a:p>
              <a:p>
                <a:r>
                  <a:rPr lang="en-US">
                    <a:latin typeface="Calibri (Thân)"/>
                  </a:rPr>
                  <a:t>Assume that </a:t>
                </a:r>
                <a14:m>
                  <m:oMath xmlns:m="http://schemas.openxmlformats.org/officeDocument/2006/math">
                    <m:r>
                      <a:rPr lang="en-US" i="1">
                        <a:latin typeface="Cambria Math" panose="02040503050406030204" pitchFamily="18" charset="0"/>
                      </a:rPr>
                      <m:t>𝜙</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𝜋</m:t>
                        </m:r>
                      </m:num>
                      <m:den>
                        <m:r>
                          <a:rPr lang="en-US" i="1">
                            <a:latin typeface="Cambria Math" panose="02040503050406030204" pitchFamily="18" charset="0"/>
                          </a:rPr>
                          <m:t>4</m:t>
                        </m:r>
                      </m:den>
                    </m:f>
                    <m:r>
                      <a:rPr lang="en-US" b="0" i="0" smtClean="0">
                        <a:latin typeface="Cambria Math" panose="02040503050406030204" pitchFamily="18" charset="0"/>
                      </a:rPr>
                      <m:t>,</m:t>
                    </m:r>
                    <m:r>
                      <m:rPr>
                        <m:sty m:val="p"/>
                      </m:rPr>
                      <a:rPr lang="en-US" b="0" i="0" smtClean="0">
                        <a:latin typeface="Cambria Math" panose="02040503050406030204" pitchFamily="18" charset="0"/>
                      </a:rPr>
                      <m:t>mean</m:t>
                    </m:r>
                    <m:r>
                      <a:rPr lang="en-US" b="0" i="1" smtClean="0">
                        <a:latin typeface="Cambria Math" panose="02040503050406030204" pitchFamily="18" charset="0"/>
                      </a:rPr>
                      <m:t> </m:t>
                    </m:r>
                    <m:r>
                      <a:rPr lang="en-US" i="1">
                        <a:latin typeface="Cambria Math" panose="02040503050406030204" pitchFamily="18" charset="0"/>
                      </a:rPr>
                      <m:t>𝑝</m:t>
                    </m:r>
                  </m:oMath>
                </a14:m>
                <a:r>
                  <a:rPr lang="en-US">
                    <a:latin typeface="Calibri (Thân)"/>
                  </a:rPr>
                  <a:t>(R as source)</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m:t>
                    </m:r>
                    <m:r>
                      <a:rPr lang="en-US" i="1">
                        <a:latin typeface="Cambria Math" panose="02040503050406030204" pitchFamily="18" charset="0"/>
                      </a:rPr>
                      <m:t>𝑝</m:t>
                    </m:r>
                  </m:oMath>
                </a14:m>
                <a:r>
                  <a:rPr lang="en-US">
                    <a:latin typeface="Calibri (Thân)"/>
                  </a:rPr>
                  <a:t>(G as source) </a:t>
                </a:r>
              </a:p>
              <a:p>
                <a:endParaRPr lang="en-US" i="1">
                  <a:latin typeface="Calibri (Thân)"/>
                </a:endParaRPr>
              </a:p>
            </p:txBody>
          </p:sp>
        </mc:Choice>
        <mc:Fallback xmlns="">
          <p:sp>
            <p:nvSpPr>
              <p:cNvPr id="7" name="Hộp Văn bản 11">
                <a:extLst>
                  <a:ext uri="{FF2B5EF4-FFF2-40B4-BE49-F238E27FC236}">
                    <a16:creationId xmlns:a16="http://schemas.microsoft.com/office/drawing/2014/main" id="{E0614B4B-948D-98F5-658E-BE34B472F49B}"/>
                  </a:ext>
                </a:extLst>
              </p:cNvPr>
              <p:cNvSpPr txBox="1">
                <a:spLocks noRot="1" noChangeAspect="1" noMove="1" noResize="1" noEditPoints="1" noAdjustHandles="1" noChangeArrowheads="1" noChangeShapeType="1" noTextEdit="1"/>
              </p:cNvSpPr>
              <p:nvPr/>
            </p:nvSpPr>
            <p:spPr>
              <a:xfrm>
                <a:off x="628650" y="2455606"/>
                <a:ext cx="7611501" cy="1037463"/>
              </a:xfrm>
              <a:prstGeom prst="rect">
                <a:avLst/>
              </a:prstGeom>
              <a:blipFill>
                <a:blip r:embed="rId2"/>
                <a:stretch>
                  <a:fillRect l="-641" t="-352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 name="Hộp Văn bản 9">
                <a:extLst>
                  <a:ext uri="{FF2B5EF4-FFF2-40B4-BE49-F238E27FC236}">
                    <a16:creationId xmlns:a16="http://schemas.microsoft.com/office/drawing/2014/main" id="{528C09B4-9E54-A5D6-AD44-44CB86A38A71}"/>
                  </a:ext>
                </a:extLst>
              </p:cNvPr>
              <p:cNvSpPr txBox="1"/>
              <p:nvPr/>
            </p:nvSpPr>
            <p:spPr>
              <a:xfrm>
                <a:off x="628650" y="3159568"/>
                <a:ext cx="6288985" cy="7645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𝐺</m:t>
                              </m:r>
                            </m:sub>
                          </m:sSub>
                        </m:e>
                      </m:d>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r>
                            <m:rPr>
                              <m:sty m:val="p"/>
                            </m:rPr>
                            <a:rPr lang="en-US" b="0" i="0" smtClean="0">
                              <a:latin typeface="Cambria Math" panose="02040503050406030204" pitchFamily="18" charset="0"/>
                            </a:rPr>
                            <m:t>Λ</m:t>
                          </m:r>
                        </m:den>
                      </m:f>
                      <m:nary>
                        <m:naryPr>
                          <m:chr m:val="∑"/>
                          <m:ctrlPr>
                            <a:rPr lang="en-US" i="1">
                              <a:latin typeface="Cambria Math" panose="02040503050406030204" pitchFamily="18" charset="0"/>
                            </a:rPr>
                          </m:ctrlPr>
                        </m:naryPr>
                        <m:sub>
                          <m:r>
                            <a:rPr lang="en-US" i="1">
                              <a:latin typeface="Cambria Math" panose="02040503050406030204" pitchFamily="18" charset="0"/>
                            </a:rPr>
                            <m:t>𝜆</m:t>
                          </m:r>
                        </m:sub>
                        <m:sup>
                          <m:r>
                            <a:rPr lang="en-US" i="1">
                              <a:latin typeface="Cambria Math" panose="02040503050406030204" pitchFamily="18" charset="0"/>
                            </a:rPr>
                            <m:t> </m:t>
                          </m:r>
                        </m:sup>
                        <m:e>
                          <m:r>
                            <m:rPr>
                              <m:sty m:val="p"/>
                            </m:rPr>
                            <a:rPr lang="en-US">
                              <a:latin typeface="Cambria Math" panose="02040503050406030204" pitchFamily="18" charset="0"/>
                            </a:rPr>
                            <m:t>Tr</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𝜌</m:t>
                                  </m:r>
                                </m:e>
                                <m:sub>
                                  <m:r>
                                    <a:rPr lang="en-US" i="1">
                                      <a:latin typeface="Cambria Math" panose="02040503050406030204" pitchFamily="18" charset="0"/>
                                    </a:rPr>
                                    <m:t>𝜆</m:t>
                                  </m:r>
                                </m:sub>
                                <m:sup>
                                  <m:r>
                                    <a:rPr lang="en-US" i="1">
                                      <a:latin typeface="Cambria Math" panose="02040503050406030204" pitchFamily="18" charset="0"/>
                                    </a:rPr>
                                    <m:t>𝐷𝑅</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e>
                              </m:d>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𝜌</m:t>
                                  </m:r>
                                </m:e>
                                <m:sub>
                                  <m:r>
                                    <a:rPr lang="en-US" i="1">
                                      <a:latin typeface="Cambria Math" panose="02040503050406030204" pitchFamily="18" charset="0"/>
                                    </a:rPr>
                                    <m:t>𝜆</m:t>
                                  </m:r>
                                </m:sub>
                                <m:sup>
                                  <m:r>
                                    <a:rPr lang="en-US" i="1">
                                      <a:latin typeface="Cambria Math" panose="02040503050406030204" pitchFamily="18" charset="0"/>
                                    </a:rPr>
                                    <m:t>𝐷𝐺</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𝐺</m:t>
                                      </m:r>
                                    </m:sub>
                                  </m:sSub>
                                </m:e>
                              </m:d>
                            </m:e>
                          </m:d>
                          <m:r>
                            <a:rPr lang="en-US" i="1">
                              <a:latin typeface="Cambria Math" panose="02040503050406030204" pitchFamily="18" charset="0"/>
                            </a:rPr>
                            <m:t>𝑍</m:t>
                          </m:r>
                        </m:e>
                      </m:nary>
                    </m:oMath>
                  </m:oMathPara>
                </a14:m>
                <a:endParaRPr lang="vi-VN"/>
              </a:p>
            </p:txBody>
          </p:sp>
        </mc:Choice>
        <mc:Fallback xmlns="">
          <p:sp>
            <p:nvSpPr>
              <p:cNvPr id="9" name="Hộp Văn bản 9">
                <a:extLst>
                  <a:ext uri="{FF2B5EF4-FFF2-40B4-BE49-F238E27FC236}">
                    <a16:creationId xmlns:a16="http://schemas.microsoft.com/office/drawing/2014/main" id="{528C09B4-9E54-A5D6-AD44-44CB86A38A71}"/>
                  </a:ext>
                </a:extLst>
              </p:cNvPr>
              <p:cNvSpPr txBox="1">
                <a:spLocks noRot="1" noChangeAspect="1" noMove="1" noResize="1" noEditPoints="1" noAdjustHandles="1" noChangeArrowheads="1" noChangeShapeType="1" noTextEdit="1"/>
              </p:cNvSpPr>
              <p:nvPr/>
            </p:nvSpPr>
            <p:spPr>
              <a:xfrm>
                <a:off x="628650" y="3159568"/>
                <a:ext cx="6288985" cy="764505"/>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 name="Hộp Văn bản 15">
                <a:extLst>
                  <a:ext uri="{FF2B5EF4-FFF2-40B4-BE49-F238E27FC236}">
                    <a16:creationId xmlns:a16="http://schemas.microsoft.com/office/drawing/2014/main" id="{7403DF9F-53C3-24A8-D2CE-BF3831C1614B}"/>
                  </a:ext>
                </a:extLst>
              </p:cNvPr>
              <p:cNvSpPr txBox="1"/>
              <p:nvPr/>
            </p:nvSpPr>
            <p:spPr>
              <a:xfrm>
                <a:off x="728134" y="1673482"/>
                <a:ext cx="8415866" cy="7645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𝑉</m:t>
                      </m:r>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𝐷</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𝐺</m:t>
                              </m:r>
                            </m:sub>
                          </m:sSub>
                        </m:e>
                      </m:d>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r>
                            <m:rPr>
                              <m:sty m:val="p"/>
                            </m:rPr>
                            <a:rPr lang="en-US" b="0" i="0" smtClean="0">
                              <a:latin typeface="Cambria Math" panose="02040503050406030204" pitchFamily="18" charset="0"/>
                            </a:rPr>
                            <m:t>Λ</m:t>
                          </m:r>
                        </m:den>
                      </m:f>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𝜆</m:t>
                          </m:r>
                        </m:sub>
                        <m:sup>
                          <m:r>
                            <a:rPr lang="en-US" b="0" i="1" smtClean="0">
                              <a:latin typeface="Cambria Math" panose="02040503050406030204" pitchFamily="18" charset="0"/>
                            </a:rPr>
                            <m:t> </m:t>
                          </m:r>
                        </m:sup>
                        <m:e>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cos</m:t>
                                      </m:r>
                                    </m:e>
                                    <m:sup>
                                      <m:r>
                                        <a:rPr lang="en-US" b="0" i="1" smtClean="0">
                                          <a:latin typeface="Cambria Math" panose="02040503050406030204" pitchFamily="18" charset="0"/>
                                        </a:rPr>
                                        <m:t>2</m:t>
                                      </m:r>
                                    </m:sup>
                                  </m:sSup>
                                </m:fName>
                                <m:e>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r>
                                    <m:rPr>
                                      <m:sty m:val="p"/>
                                    </m:rPr>
                                    <a:rPr lang="en-US" b="0" i="0" smtClean="0">
                                      <a:latin typeface="Cambria Math" panose="02040503050406030204" pitchFamily="18" charset="0"/>
                                    </a:rPr>
                                    <m:t>Tr</m:t>
                                  </m:r>
                                </m:e>
                              </m:func>
                              <m:d>
                                <m:dPr>
                                  <m:ctrlPr>
                                    <a:rPr lang="en-US" b="0" i="1" smtClean="0">
                                      <a:latin typeface="Cambria Math" panose="02040503050406030204" pitchFamily="18" charset="0"/>
                                    </a:rPr>
                                  </m:ctrlPr>
                                </m:dPr>
                                <m:e>
                                  <m:r>
                                    <a:rPr lang="en-US" b="0" i="1" smtClean="0">
                                      <a:latin typeface="Cambria Math" panose="02040503050406030204" pitchFamily="18" charset="0"/>
                                    </a:rPr>
                                    <m:t>𝑍</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𝜌</m:t>
                                      </m:r>
                                    </m:e>
                                    <m:sub>
                                      <m:r>
                                        <a:rPr lang="en-US" b="0" i="1" smtClean="0">
                                          <a:latin typeface="Cambria Math" panose="02040503050406030204" pitchFamily="18" charset="0"/>
                                        </a:rPr>
                                        <m:t>𝜆</m:t>
                                      </m:r>
                                    </m:sub>
                                    <m:sup>
                                      <m:r>
                                        <a:rPr lang="en-US" b="0" i="1" smtClean="0">
                                          <a:latin typeface="Cambria Math" panose="02040503050406030204" pitchFamily="18" charset="0"/>
                                        </a:rPr>
                                        <m:t>𝐷𝑅</m:t>
                                      </m:r>
                                    </m:sup>
                                  </m:sSub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𝑅</m:t>
                                          </m:r>
                                        </m:sub>
                                      </m:sSub>
                                    </m:e>
                                  </m:d>
                                </m:e>
                              </m:d>
                              <m:r>
                                <a:rPr lang="en-US" b="0" i="1" smtClean="0">
                                  <a:latin typeface="Cambria Math" panose="02040503050406030204" pitchFamily="18" charset="0"/>
                                </a:rPr>
                                <m:t>−</m:t>
                              </m:r>
                              <m:func>
                                <m:funcPr>
                                  <m:ctrlPr>
                                    <a:rPr lang="en-US" i="1">
                                      <a:latin typeface="Cambria Math" panose="02040503050406030204" pitchFamily="18" charset="0"/>
                                    </a:rPr>
                                  </m:ctrlPr>
                                </m:funcPr>
                                <m:fName>
                                  <m:sSup>
                                    <m:sSupPr>
                                      <m:ctrlPr>
                                        <a:rPr lang="en-US" i="1">
                                          <a:latin typeface="Cambria Math" panose="02040503050406030204" pitchFamily="18" charset="0"/>
                                        </a:rPr>
                                      </m:ctrlPr>
                                    </m:sSupPr>
                                    <m:e>
                                      <m:r>
                                        <m:rPr>
                                          <m:sty m:val="p"/>
                                        </m:rPr>
                                        <a:rPr lang="en-US" b="0" i="0" smtClean="0">
                                          <a:latin typeface="Cambria Math" panose="02040503050406030204" pitchFamily="18" charset="0"/>
                                        </a:rPr>
                                        <m:t>sin</m:t>
                                      </m:r>
                                    </m:e>
                                    <m:sup>
                                      <m:r>
                                        <a:rPr lang="en-US" i="1">
                                          <a:latin typeface="Cambria Math" panose="02040503050406030204" pitchFamily="18" charset="0"/>
                                        </a:rPr>
                                        <m:t>2</m:t>
                                      </m:r>
                                    </m:sup>
                                  </m:sSup>
                                </m:fName>
                                <m:e>
                                  <m:d>
                                    <m:dPr>
                                      <m:ctrlPr>
                                        <a:rPr lang="en-US" i="1">
                                          <a:latin typeface="Cambria Math" panose="02040503050406030204" pitchFamily="18" charset="0"/>
                                        </a:rPr>
                                      </m:ctrlPr>
                                    </m:dPr>
                                    <m:e>
                                      <m:r>
                                        <a:rPr lang="en-US" i="1">
                                          <a:latin typeface="Cambria Math" panose="02040503050406030204" pitchFamily="18" charset="0"/>
                                        </a:rPr>
                                        <m:t>𝜙</m:t>
                                      </m:r>
                                    </m:e>
                                  </m:d>
                                  <m:r>
                                    <m:rPr>
                                      <m:sty m:val="p"/>
                                    </m:rPr>
                                    <a:rPr lang="en-US">
                                      <a:latin typeface="Cambria Math" panose="02040503050406030204" pitchFamily="18" charset="0"/>
                                    </a:rPr>
                                    <m:t>Tr</m:t>
                                  </m:r>
                                </m:e>
                              </m:func>
                              <m:d>
                                <m:dPr>
                                  <m:ctrlPr>
                                    <a:rPr lang="en-US" i="1">
                                      <a:latin typeface="Cambria Math" panose="02040503050406030204" pitchFamily="18" charset="0"/>
                                    </a:rPr>
                                  </m:ctrlPr>
                                </m:dPr>
                                <m:e>
                                  <m:r>
                                    <a:rPr lang="en-US" i="1">
                                      <a:latin typeface="Cambria Math" panose="02040503050406030204" pitchFamily="18" charset="0"/>
                                    </a:rPr>
                                    <m:t>𝑍</m:t>
                                  </m:r>
                                  <m:sSubSup>
                                    <m:sSubSupPr>
                                      <m:ctrlPr>
                                        <a:rPr lang="en-US" i="1">
                                          <a:latin typeface="Cambria Math" panose="02040503050406030204" pitchFamily="18" charset="0"/>
                                        </a:rPr>
                                      </m:ctrlPr>
                                    </m:sSubSupPr>
                                    <m:e>
                                      <m:r>
                                        <a:rPr lang="en-US" i="1">
                                          <a:latin typeface="Cambria Math" panose="02040503050406030204" pitchFamily="18" charset="0"/>
                                        </a:rPr>
                                        <m:t>𝜌</m:t>
                                      </m:r>
                                    </m:e>
                                    <m:sub>
                                      <m:r>
                                        <a:rPr lang="en-US" i="1">
                                          <a:latin typeface="Cambria Math" panose="02040503050406030204" pitchFamily="18" charset="0"/>
                                        </a:rPr>
                                        <m:t>𝜆</m:t>
                                      </m:r>
                                    </m:sub>
                                    <m:sup>
                                      <m:r>
                                        <a:rPr lang="en-US" i="1">
                                          <a:latin typeface="Cambria Math" panose="02040503050406030204" pitchFamily="18" charset="0"/>
                                        </a:rPr>
                                        <m:t>𝐷𝑅</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𝑅</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𝐷</m:t>
                                          </m:r>
                                        </m:sub>
                                      </m:sSub>
                                    </m:e>
                                  </m:d>
                                </m:e>
                              </m:d>
                            </m:e>
                          </m:d>
                        </m:e>
                      </m:nary>
                    </m:oMath>
                  </m:oMathPara>
                </a14:m>
                <a:endParaRPr lang="vi-VN"/>
              </a:p>
            </p:txBody>
          </p:sp>
        </mc:Choice>
        <mc:Fallback xmlns="">
          <p:sp>
            <p:nvSpPr>
              <p:cNvPr id="10" name="Hộp Văn bản 15">
                <a:extLst>
                  <a:ext uri="{FF2B5EF4-FFF2-40B4-BE49-F238E27FC236}">
                    <a16:creationId xmlns:a16="http://schemas.microsoft.com/office/drawing/2014/main" id="{7403DF9F-53C3-24A8-D2CE-BF3831C1614B}"/>
                  </a:ext>
                </a:extLst>
              </p:cNvPr>
              <p:cNvSpPr txBox="1">
                <a:spLocks noRot="1" noChangeAspect="1" noMove="1" noResize="1" noEditPoints="1" noAdjustHandles="1" noChangeArrowheads="1" noChangeShapeType="1" noTextEdit="1"/>
              </p:cNvSpPr>
              <p:nvPr/>
            </p:nvSpPr>
            <p:spPr>
              <a:xfrm>
                <a:off x="728134" y="1673482"/>
                <a:ext cx="8415866" cy="764505"/>
              </a:xfrm>
              <a:prstGeom prst="rect">
                <a:avLst/>
              </a:prstGeom>
              <a:blipFill>
                <a:blip r:embed="rId4"/>
                <a:stretch>
                  <a:fillRect/>
                </a:stretch>
              </a:blipFill>
            </p:spPr>
            <p:txBody>
              <a:bodyPr/>
              <a:lstStyle/>
              <a:p>
                <a:r>
                  <a:rPr lang="vi-VN">
                    <a:noFill/>
                  </a:rPr>
                  <a:t> </a:t>
                </a:r>
              </a:p>
            </p:txBody>
          </p:sp>
        </mc:Fallback>
      </mc:AlternateContent>
      <p:pic>
        <p:nvPicPr>
          <p:cNvPr id="1026" name="Picture 2" descr="tutorial quantum gans">
            <a:extLst>
              <a:ext uri="{FF2B5EF4-FFF2-40B4-BE49-F238E27FC236}">
                <a16:creationId xmlns:a16="http://schemas.microsoft.com/office/drawing/2014/main" id="{F9D5A52E-0868-4447-6A53-7C5B601C41D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550" t="29972" r="9229" b="28695"/>
          <a:stretch/>
        </p:blipFill>
        <p:spPr bwMode="auto">
          <a:xfrm>
            <a:off x="628650" y="3952220"/>
            <a:ext cx="6036734" cy="787400"/>
          </a:xfrm>
          <a:prstGeom prst="rect">
            <a:avLst/>
          </a:prstGeom>
          <a:noFill/>
          <a:extLst>
            <a:ext uri="{909E8E84-426E-40DD-AFC4-6F175D3DCCD1}">
              <a14:hiddenFill xmlns:a14="http://schemas.microsoft.com/office/drawing/2010/main">
                <a:solidFill>
                  <a:srgbClr val="FFFFFF"/>
                </a:solidFill>
              </a14:hiddenFill>
            </a:ext>
          </a:extLst>
        </p:spPr>
      </p:pic>
      <p:sp>
        <p:nvSpPr>
          <p:cNvPr id="14" name="Tiêu đề 1">
            <a:extLst>
              <a:ext uri="{FF2B5EF4-FFF2-40B4-BE49-F238E27FC236}">
                <a16:creationId xmlns:a16="http://schemas.microsoft.com/office/drawing/2014/main" id="{7E836044-4421-9431-3A07-E7FC1B1E670C}"/>
              </a:ext>
            </a:extLst>
          </p:cNvPr>
          <p:cNvSpPr>
            <a:spLocks noGrp="1"/>
          </p:cNvSpPr>
          <p:nvPr>
            <p:ph type="title"/>
          </p:nvPr>
        </p:nvSpPr>
        <p:spPr>
          <a:xfrm>
            <a:off x="628650" y="230774"/>
            <a:ext cx="6466417" cy="1134925"/>
          </a:xfrm>
        </p:spPr>
        <p:txBody>
          <a:bodyPr>
            <a:normAutofit/>
          </a:bodyPr>
          <a:lstStyle/>
          <a:p>
            <a:r>
              <a:rPr lang="en-US"/>
              <a:t>3.4.3. Quantum deep learning</a:t>
            </a:r>
            <a:br>
              <a:rPr lang="en-US"/>
            </a:br>
            <a:r>
              <a:rPr lang="en-US" sz="2200"/>
              <a:t>Quantum Generative adversarial net (QGAN)</a:t>
            </a:r>
            <a:endParaRPr lang="vi-VN" sz="2200"/>
          </a:p>
        </p:txBody>
      </p:sp>
    </p:spTree>
    <p:extLst>
      <p:ext uri="{BB962C8B-B14F-4D97-AF65-F5344CB8AC3E}">
        <p14:creationId xmlns:p14="http://schemas.microsoft.com/office/powerpoint/2010/main" val="12606703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E2F22CA-6A88-40EC-84F1-70695158BFD4}"/>
              </a:ext>
            </a:extLst>
          </p:cNvPr>
          <p:cNvSpPr>
            <a:spLocks noGrp="1"/>
          </p:cNvSpPr>
          <p:nvPr>
            <p:ph type="title"/>
          </p:nvPr>
        </p:nvSpPr>
        <p:spPr/>
        <p:txBody>
          <a:bodyPr>
            <a:normAutofit/>
          </a:bodyPr>
          <a:lstStyle/>
          <a:p>
            <a:r>
              <a:rPr lang="en-US"/>
              <a:t>3.4.3. Quantum deep learning</a:t>
            </a:r>
            <a:br>
              <a:rPr lang="en-US"/>
            </a:br>
            <a:r>
              <a:rPr lang="en-US" sz="2200"/>
              <a:t>Quantum Generative adversarial net (QGAN)</a:t>
            </a:r>
            <a:endParaRPr lang="vi-VN" sz="2200"/>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CD2D3411-8EAF-4440-A81B-690A1F2B38E5}"/>
                  </a:ext>
                </a:extLst>
              </p:cNvPr>
              <p:cNvSpPr>
                <a:spLocks noGrp="1"/>
              </p:cNvSpPr>
              <p:nvPr>
                <p:ph idx="1"/>
              </p:nvPr>
            </p:nvSpPr>
            <p:spPr>
              <a:xfrm>
                <a:off x="628649" y="1369219"/>
                <a:ext cx="6991351" cy="2682081"/>
              </a:xfrm>
            </p:spPr>
            <p:txBody>
              <a:bodyPr/>
              <a:lstStyle/>
              <a:p>
                <a:pPr marL="0" indent="0">
                  <a:buNone/>
                </a:pPr>
                <a:r>
                  <a:rPr lang="en-US"/>
                  <a:t>In case </a:t>
                </a:r>
                <a14:m>
                  <m:oMath xmlns:m="http://schemas.openxmlformats.org/officeDocument/2006/math">
                    <m:r>
                      <a:rPr lang="en-US" i="1" smtClean="0">
                        <a:latin typeface="Cambria Math" panose="02040503050406030204" pitchFamily="18" charset="0"/>
                      </a:rPr>
                      <m:t>𝐺</m:t>
                    </m:r>
                  </m:oMath>
                </a14:m>
                <a:r>
                  <a:rPr lang="en-US"/>
                  <a:t> perfectly generates data source,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𝜽</m:t>
                            </m:r>
                          </m:e>
                          <m:sub>
                            <m:r>
                              <a:rPr lang="en-US" b="0" i="1" smtClean="0">
                                <a:latin typeface="Cambria Math" panose="02040503050406030204" pitchFamily="18" charset="0"/>
                              </a:rPr>
                              <m:t>𝐺</m:t>
                            </m:r>
                          </m:sub>
                          <m:sup>
                            <m:r>
                              <a:rPr lang="en-US" b="0" i="1" smtClean="0">
                                <a:latin typeface="Cambria Math" panose="02040503050406030204" pitchFamily="18" charset="0"/>
                              </a:rPr>
                              <m:t>∗</m:t>
                            </m:r>
                          </m:sup>
                        </m:sSubSup>
                      </m:e>
                    </m:d>
                    <m:r>
                      <a:rPr lang="en-US" b="0" i="1" smtClean="0">
                        <a:latin typeface="Cambria Math" panose="02040503050406030204" pitchFamily="18" charset="0"/>
                      </a:rPr>
                      <m:t>=</m:t>
                    </m:r>
                    <m:r>
                      <a:rPr lang="en-US" b="0" i="1" smtClean="0">
                        <a:latin typeface="Cambria Math" panose="02040503050406030204" pitchFamily="18" charset="0"/>
                      </a:rPr>
                      <m:t>𝑅</m:t>
                    </m:r>
                  </m:oMath>
                </a14:m>
                <a:endParaRPr lang="en-US"/>
              </a:p>
              <a:p>
                <a:pPr marL="0" indent="0">
                  <a:buNone/>
                </a:pPr>
                <a14:m>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𝑆𝑢𝑐𝑐𝑒𝑠𝑠</m:t>
                            </m:r>
                            <m:r>
                              <a:rPr lang="en-US" b="0" i="1" smtClean="0">
                                <a:latin typeface="Cambria Math" panose="02040503050406030204" pitchFamily="18" charset="0"/>
                              </a:rPr>
                              <m:t> </m:t>
                            </m:r>
                            <m:r>
                              <a:rPr lang="en-US" b="0" i="1" smtClean="0">
                                <a:latin typeface="Cambria Math" panose="02040503050406030204" pitchFamily="18" charset="0"/>
                              </a:rPr>
                              <m:t>𝐷</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𝐷</m:t>
                                </m:r>
                              </m:sub>
                            </m:sSub>
                            <m:r>
                              <a:rPr lang="en-US" b="0" i="1" smtClean="0">
                                <a:latin typeface="Cambria Math" panose="02040503050406030204" pitchFamily="18" charset="0"/>
                              </a:rPr>
                              <m:t>)</m:t>
                            </m:r>
                          </m:e>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0"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m:t>
                        </m:r>
                      </m:e>
                      <m:sub>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sub>
                    </m:sSub>
                    <m:r>
                      <a:rPr lang="en-US" i="1">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=0,</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m:t>
                        </m:r>
                      </m:e>
                      <m:sub>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𝐺</m:t>
                            </m:r>
                          </m:sub>
                        </m:sSub>
                      </m:sub>
                    </m:sSub>
                    <m:r>
                      <a:rPr lang="en-US" i="1">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=0</m:t>
                    </m:r>
                  </m:oMath>
                </a14:m>
                <a:r>
                  <a:rPr lang="en-US"/>
                  <a:t> </a:t>
                </a:r>
              </a:p>
              <a:p>
                <a:pPr marL="0" indent="0">
                  <a:buNone/>
                </a:pPr>
                <a:endParaRPr lang="en-US"/>
              </a:p>
              <a:p>
                <a:pPr marL="0" indent="0">
                  <a:buNone/>
                </a:pPr>
                <a14:m>
                  <m:oMath xmlns:m="http://schemas.openxmlformats.org/officeDocument/2006/math">
                    <m:r>
                      <a:rPr lang="en-US" i="1" smtClean="0">
                        <a:latin typeface="Cambria Math" panose="02040503050406030204" pitchFamily="18" charset="0"/>
                      </a:rPr>
                      <m:t>𝐷</m:t>
                    </m:r>
                  </m:oMath>
                </a14:m>
                <a:r>
                  <a:rPr lang="en-US"/>
                  <a:t> is bounded by </a:t>
                </a:r>
                <a:r>
                  <a:rPr lang="vi-VN"/>
                  <a:t>the purity function </a:t>
                </a:r>
                <a14:m>
                  <m:oMath xmlns:m="http://schemas.openxmlformats.org/officeDocument/2006/math">
                    <m:r>
                      <a:rPr lang="en-US" i="1">
                        <a:latin typeface="Cambria Math" panose="02040503050406030204" pitchFamily="18" charset="0"/>
                      </a:rPr>
                      <m:t>𝐶</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𝐺</m:t>
                            </m:r>
                          </m:sub>
                        </m:sSub>
                      </m:e>
                    </m:d>
                    <m:r>
                      <a:rPr lang="en-US" b="0" i="1" smtClean="0">
                        <a:latin typeface="Cambria Math" panose="02040503050406030204" pitchFamily="18" charset="0"/>
                      </a:rPr>
                      <m:t>=</m:t>
                    </m:r>
                    <m:r>
                      <m:rPr>
                        <m:sty m:val="p"/>
                      </m:rPr>
                      <a:rPr lang="en-US" b="0" i="0" smtClean="0">
                        <a:latin typeface="Cambria Math" panose="02040503050406030204" pitchFamily="18" charset="0"/>
                      </a:rPr>
                      <m:t>tr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𝑅</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𝐺</m:t>
                            </m:r>
                          </m:sub>
                        </m:sSub>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𝐺</m:t>
                                </m:r>
                              </m:sub>
                            </m:sSub>
                          </m:e>
                        </m:d>
                      </m:e>
                    </m:d>
                    <m:r>
                      <a:rPr lang="en-US" i="1">
                        <a:latin typeface="Cambria Math" panose="02040503050406030204" pitchFamily="18" charset="0"/>
                      </a:rPr>
                      <m:t> </m:t>
                    </m:r>
                  </m:oMath>
                </a14:m>
                <a:r>
                  <a:rPr lang="en-US"/>
                  <a:t>:</a:t>
                </a:r>
              </a:p>
              <a:p>
                <a:pPr marL="0" indent="0">
                  <a:buNone/>
                </a:pPr>
                <a:r>
                  <a:rPr lang="en-US" b="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𝐶</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𝐺</m:t>
                            </m:r>
                          </m:sub>
                        </m:sSub>
                      </m:e>
                    </m:d>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r>
                              <a:rPr lang="en-US" i="1">
                                <a:latin typeface="Cambria Math" panose="02040503050406030204" pitchFamily="18" charset="0"/>
                              </a:rPr>
                              <m:t>𝑆𝑢𝑐𝑐𝑒𝑠𝑠</m:t>
                            </m:r>
                            <m:r>
                              <a:rPr lang="en-US" i="1">
                                <a:latin typeface="Cambria Math" panose="02040503050406030204" pitchFamily="18" charset="0"/>
                              </a:rPr>
                              <m:t> </m:t>
                            </m:r>
                            <m:r>
                              <a:rPr lang="en-US" i="1">
                                <a:latin typeface="Cambria Math" panose="02040503050406030204" pitchFamily="18" charset="0"/>
                              </a:rPr>
                              <m:t>𝐷</m:t>
                            </m:r>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r>
                              <a:rPr lang="en-US" i="1">
                                <a:latin typeface="Cambria Math" panose="02040503050406030204" pitchFamily="18" charset="0"/>
                              </a:rPr>
                              <m:t>)</m:t>
                            </m:r>
                          </m:e>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𝐺</m:t>
                                </m:r>
                              </m:sub>
                            </m:sSub>
                          </m:e>
                        </m:d>
                        <m:r>
                          <a:rPr lang="en-US" b="0" i="1" smtClean="0">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rPr>
                          <m:t>𝐶</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𝐺</m:t>
                                </m:r>
                              </m:sub>
                            </m:sSub>
                          </m:e>
                        </m:d>
                      </m:e>
                    </m:func>
                  </m:oMath>
                </a14:m>
                <a:r>
                  <a:rPr lang="en-US"/>
                  <a:t>    </a:t>
                </a:r>
              </a:p>
              <a:p>
                <a:pPr marL="0" indent="0">
                  <a:buNone/>
                </a:pPr>
                <a14:m>
                  <m:oMath xmlns:m="http://schemas.openxmlformats.org/officeDocument/2006/math">
                    <m:r>
                      <a:rPr lang="en-US" b="0" i="1" smtClean="0">
                        <a:latin typeface="Cambria Math" panose="02040503050406030204" pitchFamily="18" charset="0"/>
                      </a:rPr>
                      <m:t>⇒</m:t>
                    </m:r>
                  </m:oMath>
                </a14:m>
                <a:r>
                  <a:rPr lang="en-US"/>
                  <a:t> Increase gradient value when </a:t>
                </a:r>
                <a14:m>
                  <m:oMath xmlns:m="http://schemas.openxmlformats.org/officeDocument/2006/math">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Pr</m:t>
                        </m:r>
                      </m:fName>
                      <m:e>
                        <m:r>
                          <a:rPr lang="en-US" b="0" i="1" smtClean="0">
                            <a:latin typeface="Cambria Math" panose="02040503050406030204" pitchFamily="18" charset="0"/>
                          </a:rPr>
                          <m:t>≈</m:t>
                        </m:r>
                        <m:r>
                          <a:rPr lang="en-US" i="1">
                            <a:latin typeface="Cambria Math" panose="02040503050406030204" pitchFamily="18" charset="0"/>
                          </a:rPr>
                          <m:t>1/2</m:t>
                        </m:r>
                      </m:e>
                    </m:func>
                  </m:oMath>
                </a14:m>
                <a:endParaRPr lang="vi-VN"/>
              </a:p>
            </p:txBody>
          </p:sp>
        </mc:Choice>
        <mc:Fallback xmlns="">
          <p:sp>
            <p:nvSpPr>
              <p:cNvPr id="3" name="Chỗ dành sẵn cho Nội dung 2">
                <a:extLst>
                  <a:ext uri="{FF2B5EF4-FFF2-40B4-BE49-F238E27FC236}">
                    <a16:creationId xmlns:a16="http://schemas.microsoft.com/office/drawing/2014/main" id="{CD2D3411-8EAF-4440-A81B-690A1F2B38E5}"/>
                  </a:ext>
                </a:extLst>
              </p:cNvPr>
              <p:cNvSpPr>
                <a:spLocks noGrp="1" noRot="1" noChangeAspect="1" noMove="1" noResize="1" noEditPoints="1" noAdjustHandles="1" noChangeArrowheads="1" noChangeShapeType="1" noTextEdit="1"/>
              </p:cNvSpPr>
              <p:nvPr>
                <p:ph idx="1"/>
              </p:nvPr>
            </p:nvSpPr>
            <p:spPr>
              <a:xfrm>
                <a:off x="628649" y="1369219"/>
                <a:ext cx="6991351" cy="2682081"/>
              </a:xfrm>
              <a:blipFill>
                <a:blip r:embed="rId2"/>
                <a:stretch>
                  <a:fillRect l="-1046" t="-2727" r="-87" b="-1591"/>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F0064CC9-EEC3-405F-BAAB-C2CAFF8AC13A}"/>
              </a:ext>
            </a:extLst>
          </p:cNvPr>
          <p:cNvSpPr>
            <a:spLocks noGrp="1"/>
          </p:cNvSpPr>
          <p:nvPr>
            <p:ph type="sldNum" sz="quarter" idx="12"/>
          </p:nvPr>
        </p:nvSpPr>
        <p:spPr/>
        <p:txBody>
          <a:bodyPr/>
          <a:lstStyle/>
          <a:p>
            <a:fld id="{47B90B59-900E-4193-AFEA-B180A6FF40EC}" type="slidenum">
              <a:rPr lang="vi-VN" smtClean="0"/>
              <a:t>51</a:t>
            </a:fld>
            <a:endParaRPr lang="vi-VN"/>
          </a:p>
        </p:txBody>
      </p:sp>
      <p:sp>
        <p:nvSpPr>
          <p:cNvPr id="5" name="Rectangle 4">
            <a:extLst>
              <a:ext uri="{FF2B5EF4-FFF2-40B4-BE49-F238E27FC236}">
                <a16:creationId xmlns:a16="http://schemas.microsoft.com/office/drawing/2014/main" id="{38460D74-7545-2D15-085E-DEB6A4356343}"/>
              </a:ext>
            </a:extLst>
          </p:cNvPr>
          <p:cNvSpPr/>
          <p:nvPr/>
        </p:nvSpPr>
        <p:spPr>
          <a:xfrm>
            <a:off x="4429538" y="1845365"/>
            <a:ext cx="2375453" cy="3942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TextBox 5">
            <a:extLst>
              <a:ext uri="{FF2B5EF4-FFF2-40B4-BE49-F238E27FC236}">
                <a16:creationId xmlns:a16="http://schemas.microsoft.com/office/drawing/2014/main" id="{314A4C63-7226-F95C-956F-FF727F418052}"/>
              </a:ext>
            </a:extLst>
          </p:cNvPr>
          <p:cNvSpPr txBox="1"/>
          <p:nvPr/>
        </p:nvSpPr>
        <p:spPr>
          <a:xfrm>
            <a:off x="4923367" y="2239617"/>
            <a:ext cx="1490134" cy="369332"/>
          </a:xfrm>
          <a:prstGeom prst="rect">
            <a:avLst/>
          </a:prstGeom>
          <a:noFill/>
        </p:spPr>
        <p:txBody>
          <a:bodyPr wrap="square" rtlCol="0">
            <a:spAutoFit/>
          </a:bodyPr>
          <a:lstStyle/>
          <a:p>
            <a:r>
              <a:rPr lang="en-US">
                <a:solidFill>
                  <a:srgbClr val="FF0000"/>
                </a:solidFill>
              </a:rPr>
              <a:t>Stop training</a:t>
            </a:r>
            <a:endParaRPr lang="vi-VN">
              <a:solidFill>
                <a:srgbClr val="FF0000"/>
              </a:solidFill>
            </a:endParaRPr>
          </a:p>
        </p:txBody>
      </p:sp>
    </p:spTree>
    <p:extLst>
      <p:ext uri="{BB962C8B-B14F-4D97-AF65-F5344CB8AC3E}">
        <p14:creationId xmlns:p14="http://schemas.microsoft.com/office/powerpoint/2010/main" val="26141996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F568-EDD9-5BE6-57E1-DA4D4F18662B}"/>
              </a:ext>
            </a:extLst>
          </p:cNvPr>
          <p:cNvSpPr>
            <a:spLocks noGrp="1"/>
          </p:cNvSpPr>
          <p:nvPr>
            <p:ph type="title"/>
          </p:nvPr>
        </p:nvSpPr>
        <p:spPr/>
        <p:txBody>
          <a:bodyPr>
            <a:normAutofit/>
          </a:bodyPr>
          <a:lstStyle/>
          <a:p>
            <a:r>
              <a:rPr lang="en-US"/>
              <a:t>3.5</a:t>
            </a:r>
            <a:r>
              <a:rPr lang="en-VN"/>
              <a:t>. </a:t>
            </a:r>
            <a:r>
              <a:rPr lang="en-US"/>
              <a:t>Additional information</a:t>
            </a:r>
            <a:br>
              <a:rPr lang="en-US"/>
            </a:br>
            <a:r>
              <a:rPr lang="en-US" sz="2000"/>
              <a:t>Power of QML</a:t>
            </a:r>
            <a:endParaRPr lang="en-VN" sz="20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97048C-C071-7150-E357-14634982BD15}"/>
                  </a:ext>
                </a:extLst>
              </p:cNvPr>
              <p:cNvSpPr>
                <a:spLocks noGrp="1"/>
              </p:cNvSpPr>
              <p:nvPr>
                <p:ph idx="1"/>
              </p:nvPr>
            </p:nvSpPr>
            <p:spPr>
              <a:xfrm>
                <a:off x="628650" y="1369219"/>
                <a:ext cx="7334250" cy="3263504"/>
              </a:xfrm>
            </p:spPr>
            <p:txBody>
              <a:bodyPr/>
              <a:lstStyle/>
              <a:p>
                <a:pPr marL="0" indent="0">
                  <a:buNone/>
                </a:pPr>
                <a:r>
                  <a:rPr lang="en-VN"/>
                  <a:t>We will focus on PQC which is the main computation in QML</a:t>
                </a:r>
              </a:p>
              <a:p>
                <a:pPr marL="0" indent="0">
                  <a:buNone/>
                </a:pPr>
                <a:r>
                  <a:rPr lang="en-VN" b="1"/>
                  <a:t>Encoder</a:t>
                </a:r>
                <a:r>
                  <a:rPr lang="en-VN"/>
                  <a:t>: use a very small </a:t>
                </a:r>
                <a:r>
                  <a:rPr lang="en-US"/>
                  <a:t>qubit </a:t>
                </a:r>
                <a:r>
                  <a:rPr lang="en-VN"/>
                  <a:t>(</a:t>
                </a:r>
                <a14:m>
                  <m:oMath xmlns:m="http://schemas.openxmlformats.org/officeDocument/2006/math">
                    <m:func>
                      <m:funcPr>
                        <m:ctrlPr>
                          <a:rPr lang="vi-VN" b="0" i="1" smtClean="0">
                            <a:latin typeface="Cambria Math" panose="02040503050406030204" pitchFamily="18" charset="0"/>
                          </a:rPr>
                        </m:ctrlPr>
                      </m:funcPr>
                      <m:fName>
                        <m:sSub>
                          <m:sSubPr>
                            <m:ctrlPr>
                              <a:rPr lang="vi-VN" b="0" i="1" smtClean="0">
                                <a:latin typeface="Cambria Math" panose="02040503050406030204" pitchFamily="18" charset="0"/>
                              </a:rPr>
                            </m:ctrlPr>
                          </m:sSubPr>
                          <m:e>
                            <m:r>
                              <m:rPr>
                                <m:sty m:val="p"/>
                              </m:rPr>
                              <a:rPr lang="en-VN" i="0" smtClean="0">
                                <a:latin typeface="Cambria Math" panose="02040503050406030204" pitchFamily="18" charset="0"/>
                              </a:rPr>
                              <m:t>log</m:t>
                            </m:r>
                          </m:e>
                          <m:sub>
                            <m:r>
                              <a:rPr lang="vi-VN" b="0" i="1" smtClean="0">
                                <a:latin typeface="Cambria Math" panose="02040503050406030204" pitchFamily="18" charset="0"/>
                              </a:rPr>
                              <m:t>2</m:t>
                            </m:r>
                          </m:sub>
                        </m:sSub>
                      </m:fName>
                      <m:e>
                        <m:r>
                          <a:rPr lang="en-US" b="0" i="1" smtClean="0">
                            <a:latin typeface="Cambria Math" panose="02040503050406030204" pitchFamily="18" charset="0"/>
                          </a:rPr>
                          <m:t>𝑁</m:t>
                        </m:r>
                      </m:e>
                    </m:func>
                  </m:oMath>
                </a14:m>
                <a:r>
                  <a:rPr lang="en-VN"/>
                  <a:t>) to loading / encoding </a:t>
                </a:r>
                <a14:m>
                  <m:oMath xmlns:m="http://schemas.openxmlformats.org/officeDocument/2006/math">
                    <m:r>
                      <m:rPr>
                        <m:sty m:val="p"/>
                      </m:rPr>
                      <a:rPr lang="en-VN" i="1">
                        <a:latin typeface="Cambria Math" panose="02040503050406030204" pitchFamily="18" charset="0"/>
                      </a:rPr>
                      <m:t>N</m:t>
                    </m:r>
                  </m:oMath>
                </a14:m>
                <a:r>
                  <a:rPr lang="en-VN"/>
                  <a:t> – dimensional normalized </a:t>
                </a:r>
                <a14:m>
                  <m:oMath xmlns:m="http://schemas.openxmlformats.org/officeDocument/2006/math">
                    <m:r>
                      <a:rPr lang="en-VN" i="1">
                        <a:latin typeface="Cambria Math" panose="02040503050406030204" pitchFamily="18" charset="0"/>
                      </a:rPr>
                      <m:t>𝑥</m:t>
                    </m:r>
                  </m:oMath>
                </a14:m>
                <a:r>
                  <a:rPr lang="en-VN" i="1"/>
                  <a:t>. </a:t>
                </a:r>
                <a:endParaRPr lang="en-US" i="1"/>
              </a:p>
              <a:p>
                <a:pPr marL="0" indent="0">
                  <a:buNone/>
                </a:pPr>
                <a:r>
                  <a:rPr lang="en-VN" b="1"/>
                  <a:t>Operator</a:t>
                </a:r>
                <a:r>
                  <a:rPr lang="en-VN"/>
                  <a:t>: like classical </a:t>
                </a:r>
                <a:r>
                  <a:rPr lang="en-US"/>
                  <a:t>NN</a:t>
                </a:r>
                <a:r>
                  <a:rPr lang="en-VN"/>
                  <a:t>, the structure of </a:t>
                </a:r>
                <a14:m>
                  <m:oMath xmlns:m="http://schemas.openxmlformats.org/officeDocument/2006/math">
                    <m:r>
                      <a:rPr lang="en-VN" i="1">
                        <a:latin typeface="Cambria Math" panose="02040503050406030204" pitchFamily="18" charset="0"/>
                      </a:rPr>
                      <m:t>𝑈</m:t>
                    </m:r>
                    <m:r>
                      <a:rPr lang="vi-VN" b="0" i="1">
                        <a:latin typeface="Cambria Math" panose="02040503050406030204" pitchFamily="18" charset="0"/>
                      </a:rPr>
                      <m:t>(</m:t>
                    </m:r>
                    <m:r>
                      <a:rPr lang="vi-VN" b="1" i="1">
                        <a:latin typeface="Cambria Math" panose="02040503050406030204" pitchFamily="18" charset="0"/>
                      </a:rPr>
                      <m:t>𝜽</m:t>
                    </m:r>
                    <m:r>
                      <a:rPr lang="en-VN" i="1">
                        <a:latin typeface="Cambria Math" panose="02040503050406030204" pitchFamily="18" charset="0"/>
                      </a:rPr>
                      <m:t>)</m:t>
                    </m:r>
                  </m:oMath>
                </a14:m>
                <a:r>
                  <a:rPr lang="en-VN"/>
                  <a:t> decides the model extract feature / process information good or bad.</a:t>
                </a:r>
              </a:p>
              <a:p>
                <a:pPr marL="0" indent="0">
                  <a:buNone/>
                </a:pPr>
                <a:r>
                  <a:rPr lang="en-US" b="1"/>
                  <a:t>Decoder</a:t>
                </a:r>
                <a:r>
                  <a:rPr lang="en-VN"/>
                  <a:t>: quantum information </a:t>
                </a:r>
                <a14:m>
                  <m:oMath xmlns:m="http://schemas.openxmlformats.org/officeDocument/2006/math">
                    <m:r>
                      <a:rPr lang="en-US" b="0" i="1" smtClean="0">
                        <a:latin typeface="Cambria Math" panose="02040503050406030204" pitchFamily="18" charset="0"/>
                      </a:rPr>
                      <m:t>→</m:t>
                    </m:r>
                  </m:oMath>
                </a14:m>
                <a:r>
                  <a:rPr lang="en-US"/>
                  <a:t> </a:t>
                </a:r>
                <a:r>
                  <a:rPr lang="en-VN"/>
                  <a:t>classical information. </a:t>
                </a:r>
              </a:p>
            </p:txBody>
          </p:sp>
        </mc:Choice>
        <mc:Fallback xmlns="">
          <p:sp>
            <p:nvSpPr>
              <p:cNvPr id="3" name="Content Placeholder 2">
                <a:extLst>
                  <a:ext uri="{FF2B5EF4-FFF2-40B4-BE49-F238E27FC236}">
                    <a16:creationId xmlns:a16="http://schemas.microsoft.com/office/drawing/2014/main" id="{7097048C-C071-7150-E357-14634982BD15}"/>
                  </a:ext>
                </a:extLst>
              </p:cNvPr>
              <p:cNvSpPr>
                <a:spLocks noGrp="1" noRot="1" noChangeAspect="1" noMove="1" noResize="1" noEditPoints="1" noAdjustHandles="1" noChangeArrowheads="1" noChangeShapeType="1" noTextEdit="1"/>
              </p:cNvSpPr>
              <p:nvPr>
                <p:ph idx="1"/>
              </p:nvPr>
            </p:nvSpPr>
            <p:spPr>
              <a:xfrm>
                <a:off x="628650" y="1369219"/>
                <a:ext cx="7334250" cy="3263504"/>
              </a:xfrm>
              <a:blipFill>
                <a:blip r:embed="rId3"/>
                <a:stretch>
                  <a:fillRect l="-998" t="-2243" r="-665"/>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7043E9AF-36CB-0288-6816-A41245770716}"/>
              </a:ext>
            </a:extLst>
          </p:cNvPr>
          <p:cNvSpPr>
            <a:spLocks noGrp="1"/>
          </p:cNvSpPr>
          <p:nvPr>
            <p:ph type="sldNum" sz="quarter" idx="12"/>
          </p:nvPr>
        </p:nvSpPr>
        <p:spPr/>
        <p:txBody>
          <a:bodyPr/>
          <a:lstStyle/>
          <a:p>
            <a:fld id="{6A45828D-F580-42DE-B77E-860980F07F32}" type="slidenum">
              <a:rPr lang="vi-VN" smtClean="0"/>
              <a:t>52</a:t>
            </a:fld>
            <a:endParaRPr lang="vi-VN"/>
          </a:p>
        </p:txBody>
      </p:sp>
    </p:spTree>
    <p:extLst>
      <p:ext uri="{BB962C8B-B14F-4D97-AF65-F5344CB8AC3E}">
        <p14:creationId xmlns:p14="http://schemas.microsoft.com/office/powerpoint/2010/main" val="30328358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F568-EDD9-5BE6-57E1-DA4D4F18662B}"/>
              </a:ext>
            </a:extLst>
          </p:cNvPr>
          <p:cNvSpPr>
            <a:spLocks noGrp="1"/>
          </p:cNvSpPr>
          <p:nvPr>
            <p:ph type="title"/>
          </p:nvPr>
        </p:nvSpPr>
        <p:spPr/>
        <p:txBody>
          <a:bodyPr>
            <a:normAutofit/>
          </a:bodyPr>
          <a:lstStyle/>
          <a:p>
            <a:r>
              <a:rPr lang="en-US"/>
              <a:t>3.5</a:t>
            </a:r>
            <a:r>
              <a:rPr lang="en-VN"/>
              <a:t>. </a:t>
            </a:r>
            <a:r>
              <a:rPr lang="en-US"/>
              <a:t>Additional information</a:t>
            </a:r>
            <a:br>
              <a:rPr lang="en-US"/>
            </a:br>
            <a:r>
              <a:rPr lang="en-VN" sz="2000"/>
              <a:t>Challenge in QML field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97048C-C071-7150-E357-14634982BD15}"/>
                  </a:ext>
                </a:extLst>
              </p:cNvPr>
              <p:cNvSpPr>
                <a:spLocks noGrp="1"/>
              </p:cNvSpPr>
              <p:nvPr>
                <p:ph idx="1"/>
              </p:nvPr>
            </p:nvSpPr>
            <p:spPr>
              <a:xfrm>
                <a:off x="628650" y="1369219"/>
                <a:ext cx="7334250" cy="2597414"/>
              </a:xfrm>
            </p:spPr>
            <p:txBody>
              <a:bodyPr/>
              <a:lstStyle/>
              <a:p>
                <a:r>
                  <a:rPr lang="en-VN"/>
                  <a:t>Standard architechture?</a:t>
                </a:r>
              </a:p>
              <a:p>
                <a:r>
                  <a:rPr lang="en-VN"/>
                  <a:t>Trainability, Expressibility</a:t>
                </a:r>
              </a:p>
              <a:p>
                <a:r>
                  <a:rPr lang="en-VN"/>
                  <a:t>Lack of experiment resources (not enough </a:t>
                </a:r>
                <a:r>
                  <a:rPr lang="en-US"/>
                  <a:t>simulated #</a:t>
                </a:r>
                <a:r>
                  <a:rPr lang="en-VN"/>
                  <a:t>qubit to</a:t>
                </a:r>
                <a:r>
                  <a:rPr lang="en-US"/>
                  <a:t> transform toy dataset </a:t>
                </a:r>
                <a14:m>
                  <m:oMath xmlns:m="http://schemas.openxmlformats.org/officeDocument/2006/math">
                    <m:r>
                      <a:rPr lang="en-US" b="0" i="1" smtClean="0">
                        <a:latin typeface="Cambria Math" panose="02040503050406030204" pitchFamily="18" charset="0"/>
                      </a:rPr>
                      <m:t>→</m:t>
                    </m:r>
                  </m:oMath>
                </a14:m>
                <a:r>
                  <a:rPr lang="en-VN"/>
                  <a:t> real dataset)</a:t>
                </a:r>
                <a:endParaRPr lang="en-US"/>
              </a:p>
              <a:p>
                <a:r>
                  <a:rPr lang="en-US">
                    <a:solidFill>
                      <a:srgbClr val="FF0000"/>
                    </a:solidFill>
                  </a:rPr>
                  <a:t>Hype in QML</a:t>
                </a:r>
                <a:r>
                  <a:rPr lang="en-US"/>
                  <a:t>: some applied QML models are actually worse than classical models.</a:t>
                </a:r>
              </a:p>
              <a:p>
                <a:r>
                  <a:rPr lang="en-US"/>
                  <a:t>Other problems</a:t>
                </a:r>
              </a:p>
              <a:p>
                <a:endParaRPr lang="en-VN"/>
              </a:p>
            </p:txBody>
          </p:sp>
        </mc:Choice>
        <mc:Fallback xmlns="">
          <p:sp>
            <p:nvSpPr>
              <p:cNvPr id="3" name="Content Placeholder 2">
                <a:extLst>
                  <a:ext uri="{FF2B5EF4-FFF2-40B4-BE49-F238E27FC236}">
                    <a16:creationId xmlns:a16="http://schemas.microsoft.com/office/drawing/2014/main" id="{7097048C-C071-7150-E357-14634982BD15}"/>
                  </a:ext>
                </a:extLst>
              </p:cNvPr>
              <p:cNvSpPr>
                <a:spLocks noGrp="1" noRot="1" noChangeAspect="1" noMove="1" noResize="1" noEditPoints="1" noAdjustHandles="1" noChangeArrowheads="1" noChangeShapeType="1" noTextEdit="1"/>
              </p:cNvSpPr>
              <p:nvPr>
                <p:ph idx="1"/>
              </p:nvPr>
            </p:nvSpPr>
            <p:spPr>
              <a:xfrm>
                <a:off x="628650" y="1369219"/>
                <a:ext cx="7334250" cy="2597414"/>
              </a:xfrm>
              <a:blipFill>
                <a:blip r:embed="rId3"/>
                <a:stretch>
                  <a:fillRect l="-831" t="-2817" b="-1408"/>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7043E9AF-36CB-0288-6816-A41245770716}"/>
              </a:ext>
            </a:extLst>
          </p:cNvPr>
          <p:cNvSpPr>
            <a:spLocks noGrp="1"/>
          </p:cNvSpPr>
          <p:nvPr>
            <p:ph type="sldNum" sz="quarter" idx="12"/>
          </p:nvPr>
        </p:nvSpPr>
        <p:spPr/>
        <p:txBody>
          <a:bodyPr/>
          <a:lstStyle/>
          <a:p>
            <a:fld id="{6A45828D-F580-42DE-B77E-860980F07F32}" type="slidenum">
              <a:rPr lang="vi-VN" smtClean="0"/>
              <a:t>53</a:t>
            </a:fld>
            <a:endParaRPr lang="vi-VN"/>
          </a:p>
        </p:txBody>
      </p:sp>
      <p:sp>
        <p:nvSpPr>
          <p:cNvPr id="8" name="TextBox 7">
            <a:extLst>
              <a:ext uri="{FF2B5EF4-FFF2-40B4-BE49-F238E27FC236}">
                <a16:creationId xmlns:a16="http://schemas.microsoft.com/office/drawing/2014/main" id="{18207FF7-7528-30EF-E0BE-C3FEC552CD95}"/>
              </a:ext>
            </a:extLst>
          </p:cNvPr>
          <p:cNvSpPr txBox="1"/>
          <p:nvPr/>
        </p:nvSpPr>
        <p:spPr>
          <a:xfrm>
            <a:off x="628649" y="4025444"/>
            <a:ext cx="7973483" cy="1015663"/>
          </a:xfrm>
          <a:prstGeom prst="rect">
            <a:avLst/>
          </a:prstGeom>
          <a:noFill/>
        </p:spPr>
        <p:txBody>
          <a:bodyPr wrap="square">
            <a:spAutoFit/>
          </a:bodyPr>
          <a:lstStyle/>
          <a:p>
            <a:r>
              <a:rPr lang="en-US" sz="1200" b="1"/>
              <a:t>[3.5.1] </a:t>
            </a:r>
            <a:r>
              <a:rPr lang="en-US" sz="1200"/>
              <a:t>Joseph Bowles, Shahnawaz Ahmed, &amp; Maria Schuld. (2024). Better than classical? The subtle art of benchmarking quantum machine learning models.</a:t>
            </a:r>
          </a:p>
          <a:p>
            <a:r>
              <a:rPr lang="en-US" sz="1200" b="1"/>
              <a:t>[3.5.2] </a:t>
            </a:r>
            <a:r>
              <a:rPr lang="en-US" sz="1200"/>
              <a:t>Schuld, M., &amp; Killoran, N. (2022). Is Quantum Advantage the Right Goal for Quantum Machine Learning?. PRX Quantum, 3, 030101.</a:t>
            </a:r>
          </a:p>
          <a:p>
            <a:r>
              <a:rPr lang="en-US" sz="1200" b="1"/>
              <a:t>[3.5.3] </a:t>
            </a:r>
            <a:r>
              <a:rPr lang="en-US" sz="1200"/>
              <a:t>Jens Eisert, &amp; John Preskill. (2025). Mind the gaps: The fraught road to quantum advantage.</a:t>
            </a:r>
          </a:p>
        </p:txBody>
      </p:sp>
    </p:spTree>
    <p:extLst>
      <p:ext uri="{BB962C8B-B14F-4D97-AF65-F5344CB8AC3E}">
        <p14:creationId xmlns:p14="http://schemas.microsoft.com/office/powerpoint/2010/main" val="16241473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CCB37-810C-13E1-93F9-00CDD94889E4}"/>
              </a:ext>
            </a:extLst>
          </p:cNvPr>
          <p:cNvSpPr>
            <a:spLocks noGrp="1"/>
          </p:cNvSpPr>
          <p:nvPr>
            <p:ph type="title"/>
          </p:nvPr>
        </p:nvSpPr>
        <p:spPr>
          <a:xfrm>
            <a:off x="708163" y="2074664"/>
            <a:ext cx="6466417" cy="994172"/>
          </a:xfrm>
        </p:spPr>
        <p:txBody>
          <a:bodyPr/>
          <a:lstStyle/>
          <a:p>
            <a:r>
              <a:rPr lang="en-US"/>
              <a:t>Thank you for everything!</a:t>
            </a:r>
            <a:endParaRPr lang="vi-VN"/>
          </a:p>
        </p:txBody>
      </p:sp>
      <p:sp>
        <p:nvSpPr>
          <p:cNvPr id="4" name="Slide Number Placeholder 3">
            <a:extLst>
              <a:ext uri="{FF2B5EF4-FFF2-40B4-BE49-F238E27FC236}">
                <a16:creationId xmlns:a16="http://schemas.microsoft.com/office/drawing/2014/main" id="{0CA9AFD8-CC00-E7F7-11C7-DC3B3BDBF8E4}"/>
              </a:ext>
            </a:extLst>
          </p:cNvPr>
          <p:cNvSpPr>
            <a:spLocks noGrp="1"/>
          </p:cNvSpPr>
          <p:nvPr>
            <p:ph type="sldNum" sz="quarter" idx="12"/>
          </p:nvPr>
        </p:nvSpPr>
        <p:spPr/>
        <p:txBody>
          <a:bodyPr/>
          <a:lstStyle/>
          <a:p>
            <a:fld id="{6A45828D-F580-42DE-B77E-860980F07F32}" type="slidenum">
              <a:rPr lang="vi-VN" smtClean="0"/>
              <a:pPr/>
              <a:t>54</a:t>
            </a:fld>
            <a:r>
              <a:rPr lang="en-US"/>
              <a:t>/80</a:t>
            </a:r>
            <a:endParaRPr lang="vi-VN"/>
          </a:p>
        </p:txBody>
      </p:sp>
    </p:spTree>
    <p:extLst>
      <p:ext uri="{BB962C8B-B14F-4D97-AF65-F5344CB8AC3E}">
        <p14:creationId xmlns:p14="http://schemas.microsoft.com/office/powerpoint/2010/main" val="477139957"/>
      </p:ext>
    </p:extLst>
  </p:cSld>
  <p:clrMapOvr>
    <a:masterClrMapping/>
  </p:clrMapOvr>
</p:sld>
</file>

<file path=ppt/theme/theme1.xml><?xml version="1.0" encoding="utf-8"?>
<a:theme xmlns:a="http://schemas.openxmlformats.org/drawingml/2006/main" name="Chủ đề của Office">
  <a:themeElements>
    <a:clrScheme name="Chủ đề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hủ đề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ủ đề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80568</TotalTime>
  <Words>6454</Words>
  <Application>Microsoft Macintosh PowerPoint</Application>
  <PresentationFormat>On-screen Show (16:9)</PresentationFormat>
  <Paragraphs>876</Paragraphs>
  <Slides>54</Slides>
  <Notes>21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54</vt:i4>
      </vt:variant>
    </vt:vector>
  </HeadingPairs>
  <TitlesOfParts>
    <vt:vector size="69" baseType="lpstr">
      <vt:lpstr>SimSun</vt:lpstr>
      <vt:lpstr>__Quicksand_e7ab6f</vt:lpstr>
      <vt:lpstr>Aptos</vt:lpstr>
      <vt:lpstr>Arial</vt:lpstr>
      <vt:lpstr>Calibri</vt:lpstr>
      <vt:lpstr>Calibri (Body)</vt:lpstr>
      <vt:lpstr>Calibri (Thân)</vt:lpstr>
      <vt:lpstr>Calibri (Thân).</vt:lpstr>
      <vt:lpstr>Calibri Light</vt:lpstr>
      <vt:lpstr>Cambria</vt:lpstr>
      <vt:lpstr>Cambria Math</vt:lpstr>
      <vt:lpstr>inherit</vt:lpstr>
      <vt:lpstr>plexSans</vt:lpstr>
      <vt:lpstr>Times New Roman</vt:lpstr>
      <vt:lpstr>Chủ đề của Office</vt:lpstr>
      <vt:lpstr>AI for quantum &amp; Quantum for AI &amp; Quantum AI</vt:lpstr>
      <vt:lpstr>Outline</vt:lpstr>
      <vt:lpstr>Overview</vt:lpstr>
      <vt:lpstr>1. AI for quantum </vt:lpstr>
      <vt:lpstr>1.1. State preparation</vt:lpstr>
      <vt:lpstr>1.1. State preparation</vt:lpstr>
      <vt:lpstr>1.2. Model optimization</vt:lpstr>
      <vt:lpstr>1.2.1. Gradient</vt:lpstr>
      <vt:lpstr>1.2.2. Optimizer</vt:lpstr>
      <vt:lpstr>1.2.2. Optimizer</vt:lpstr>
      <vt:lpstr>1.3. Compilation</vt:lpstr>
      <vt:lpstr>1.3. Compilation</vt:lpstr>
      <vt:lpstr>1.3. Compilation</vt:lpstr>
      <vt:lpstr>1.4. Quantum error correction</vt:lpstr>
      <vt:lpstr>1.4. Quantum error correction</vt:lpstr>
      <vt:lpstr>1.4. Quantum error correction</vt:lpstr>
      <vt:lpstr>1.5. Tomography</vt:lpstr>
      <vt:lpstr>1.6. Additional informations Barren platueas (BP) → A method for mitigate BP</vt:lpstr>
      <vt:lpstr>1.6. Additional informations Can we apply classical techniques into quantum optimization?</vt:lpstr>
      <vt:lpstr>1.6. Additional informations Can we apply classical techniques into quantum optimization?</vt:lpstr>
      <vt:lpstr>2. Quantum for AI (Quantum-inspired model)</vt:lpstr>
      <vt:lpstr>2.1. Data pre-processing: compression task</vt:lpstr>
      <vt:lpstr>2.2. Model building: quantum-inspired model</vt:lpstr>
      <vt:lpstr>2.2. Model building: quantum-inspired model</vt:lpstr>
      <vt:lpstr>2.3. Post-processing: compressing by Tensor-network</vt:lpstr>
      <vt:lpstr>2.3. Post-processing: tensor network Tensor network</vt:lpstr>
      <vt:lpstr>2.3. Post-processing: tensor network Tensor network</vt:lpstr>
      <vt:lpstr>3. Quantum AI Hybrid quantum - classical model</vt:lpstr>
      <vt:lpstr>3. Overview</vt:lpstr>
      <vt:lpstr>3. Overview What QML models can do? Based on quantum advantage [3.0.3]</vt:lpstr>
      <vt:lpstr>3. Overview Type of QML model</vt:lpstr>
      <vt:lpstr>3.1. Parameterized quantum circuit (PQC)</vt:lpstr>
      <vt:lpstr>PowerPoint Presentation</vt:lpstr>
      <vt:lpstr>3.3. QML algorithms QkNN</vt:lpstr>
      <vt:lpstr>3.3. QML algorithms QkNN</vt:lpstr>
      <vt:lpstr>3.3. QML algorithms k-means</vt:lpstr>
      <vt:lpstr>3.3. QML algorithms Quantum SVM</vt:lpstr>
      <vt:lpstr>3.3. QML algorithms Quantum SVM</vt:lpstr>
      <vt:lpstr>3.4. Quantum deep learning</vt:lpstr>
      <vt:lpstr>3.4. Quantum deep learning QNN</vt:lpstr>
      <vt:lpstr>PowerPoint Presentation</vt:lpstr>
      <vt:lpstr>3.4. Quantum deep learning Variational classifier for simple classification problem</vt:lpstr>
      <vt:lpstr>3.4. Quantum deep learning Variational classifier for ordinary differential equation (ODE)</vt:lpstr>
      <vt:lpstr>3.4. Quantum deep learning Variational classifier for quantum battery optimization</vt:lpstr>
      <vt:lpstr>3.4. Quantum deep learning Variational classifier for quantum battery optimization</vt:lpstr>
      <vt:lpstr>3.4.1. Quantum deep learning Quanvolutional NN (QuNN)</vt:lpstr>
      <vt:lpstr>3.4.2. Quantum deep learning Quantum Convolution NN (QCNN)</vt:lpstr>
      <vt:lpstr>3.4.3. Quantum deep learning Quantum Generative adversarial net (QGAN)</vt:lpstr>
      <vt:lpstr>3.4.3. Quantum deep learning Quantum Generative adversarial net (QGAN)</vt:lpstr>
      <vt:lpstr>3.4.3. Quantum deep learning Quantum Generative adversarial net (QGAN)</vt:lpstr>
      <vt:lpstr>3.4.3. Quantum deep learning Quantum Generative adversarial net (QGAN)</vt:lpstr>
      <vt:lpstr>3.5. Additional information Power of QML</vt:lpstr>
      <vt:lpstr>3.5. Additional information Challenge in QML field</vt:lpstr>
      <vt:lpstr>Thank you for everything!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 trình bày PowerPoint</dc:title>
  <dc:creator>Tuan Hai Vu</dc:creator>
  <cp:lastModifiedBy>Tuan Hai Vu</cp:lastModifiedBy>
  <cp:revision>148</cp:revision>
  <dcterms:created xsi:type="dcterms:W3CDTF">2020-12-05T02:51:52Z</dcterms:created>
  <dcterms:modified xsi:type="dcterms:W3CDTF">2026-03-29T08:57:38Z</dcterms:modified>
</cp:coreProperties>
</file>