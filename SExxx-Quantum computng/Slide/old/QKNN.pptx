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uan Hai" initials="TH" lastIdx="2" clrIdx="0">
    <p:extLst>
      <p:ext uri="{19B8F6BF-5375-455C-9EA6-DF929625EA0E}">
        <p15:presenceInfo xmlns:p15="http://schemas.microsoft.com/office/powerpoint/2012/main" userId="df1d4ed0a4f26344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iểu Trung bình 2 - Màu chủ đề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7"/>
    <p:restoredTop sz="94694"/>
  </p:normalViewPr>
  <p:slideViewPr>
    <p:cSldViewPr snapToGrid="0">
      <p:cViewPr varScale="1">
        <p:scale>
          <a:sx n="116" d="100"/>
          <a:sy n="116" d="100"/>
        </p:scale>
        <p:origin x="192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444D63B-83B2-4EF0-BA40-D114612ED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5338730E-B175-4165-AE7D-0A017C691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A7719C56-2CCA-4104-9667-171F20F1D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EE7-50B9-4690-92C4-D398B08CD54A}" type="datetimeFigureOut">
              <a:rPr lang="vi-VN" smtClean="0"/>
              <a:t>24/03/2023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0A70A96-49E5-41F6-9E53-89065AFB3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DA6A6B0-8074-441C-B9DA-32EFD9B01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5FA6-0ACD-420C-A623-03249A56F6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32087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288F8E58-51A3-4E86-889A-BD5ECA84D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C789E97A-9925-4DD5-A079-77313F908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03F6B20-CA7C-4E52-B8B4-06712CC55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EE7-50B9-4690-92C4-D398B08CD54A}" type="datetimeFigureOut">
              <a:rPr lang="vi-VN" smtClean="0"/>
              <a:t>24/03/2023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975407C-41BB-4BFC-8C54-1FFD1EE8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B5F049EA-EBA1-44C3-92AC-86895AE5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5FA6-0ACD-420C-A623-03249A56F6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36380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D417A1F-2F86-4293-9D0A-EAA6F91D2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C59A3036-96CB-4952-9F28-DBECDD0098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8737525C-6771-4F12-9E4B-8B60290F9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EE7-50B9-4690-92C4-D398B08CD54A}" type="datetimeFigureOut">
              <a:rPr lang="vi-VN" smtClean="0"/>
              <a:t>24/03/2023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687FF455-282A-4540-962B-9D457C042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38AB3A70-0B9E-40FB-A5AB-B7131FB32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5FA6-0ACD-420C-A623-03249A56F6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7789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A6F53B4-9870-469F-8083-DCE683321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60599F47-4C51-4D0A-98BA-89B39EE42B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9FDF10E3-2306-4A3C-B746-D69082DDD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384EE4A3-7C81-4613-8111-5D3B44947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EE7-50B9-4690-92C4-D398B08CD54A}" type="datetimeFigureOut">
              <a:rPr lang="vi-VN" smtClean="0"/>
              <a:t>24/03/2023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954ACE89-8C71-457B-87C8-C449D5FD0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B52ACD80-E5B4-403C-B208-A29B91180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5FA6-0ACD-420C-A623-03249A56F6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68081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CD757753-49BE-45F5-91E3-E5C088C52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83B9644D-D14A-4C0B-806F-2EC75725D7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1593870E-369F-44C6-802D-F8410533A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1D7D7EED-BDB6-48F9-9601-0C8F72E895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978C61FF-25FC-4199-8F30-9118A82533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529DE180-5E96-4A6C-9E80-A1F23E7EA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EE7-50B9-4690-92C4-D398B08CD54A}" type="datetimeFigureOut">
              <a:rPr lang="vi-VN" smtClean="0"/>
              <a:t>24/03/2023</a:t>
            </a:fld>
            <a:endParaRPr lang="vi-VN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920F5AD9-0A87-4F16-944A-CDAB0008A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56E2DCA2-3FBD-46A2-B02E-E276FFFE2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5FA6-0ACD-420C-A623-03249A56F6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66603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5E5AD9B8-CBDA-40C5-9A5E-53CC9CD3C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F481E68E-2386-4948-A8DA-BE850452B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EE7-50B9-4690-92C4-D398B08CD54A}" type="datetimeFigureOut">
              <a:rPr lang="vi-VN" smtClean="0"/>
              <a:t>24/03/2023</a:t>
            </a:fld>
            <a:endParaRPr lang="vi-VN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D27C144F-EED5-4558-A9DE-E26626174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8205C229-CC4C-4490-BED0-734D15726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5FA6-0ACD-420C-A623-03249A56F6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98760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AC8EA0F2-C61B-4F3E-BA5D-9AB72AF84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EE7-50B9-4690-92C4-D398B08CD54A}" type="datetimeFigureOut">
              <a:rPr lang="vi-VN" smtClean="0"/>
              <a:t>24/03/2023</a:t>
            </a:fld>
            <a:endParaRPr lang="vi-VN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217B7CE9-AA3B-4D67-ADF2-9EDA495F2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41DE3880-17F2-47D4-BDE8-D613FF9F7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5FA6-0ACD-420C-A623-03249A56F6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60619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DD729F7-2FAB-4B57-BF17-BB1E62EC2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D81DFD58-5621-45A5-A46E-2AEC1E25E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74BBC4BC-EDA1-48FC-BB5B-AA64D1DAC4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0BFACBA6-97C4-4FD0-9B89-B22C1A8912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EE7-50B9-4690-92C4-D398B08CD54A}" type="datetimeFigureOut">
              <a:rPr lang="vi-VN" smtClean="0"/>
              <a:t>24/03/2023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6E7A9CD7-A89E-4B6A-80A0-622374B62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83F39F97-55DD-4310-A5E1-BB1453A04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5FA6-0ACD-420C-A623-03249A56F6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03562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B6E192B-BB38-4060-8A34-C5BDE686F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BF5111AD-7B23-4041-9048-11B15388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45CBAE31-7A14-4615-BC2E-94425F94B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A4965918-B736-49B8-A4D2-45B02B769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EE7-50B9-4690-92C4-D398B08CD54A}" type="datetimeFigureOut">
              <a:rPr lang="vi-VN" smtClean="0"/>
              <a:t>24/03/2023</a:t>
            </a:fld>
            <a:endParaRPr lang="vi-VN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3C37FEA4-4B39-4781-A4AB-9FB94DE16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13D87A63-89FE-4ACF-B9C4-C476CF8C9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5FA6-0ACD-420C-A623-03249A56F6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98540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7E3609B-8072-4BC9-BF96-3C70F0787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9EA7D3CC-2332-4010-BF33-AB3F27F1DA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E90155F9-B8BF-4CDB-80BA-826A21FA9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EE7-50B9-4690-92C4-D398B08CD54A}" type="datetimeFigureOut">
              <a:rPr lang="vi-VN" smtClean="0"/>
              <a:t>24/03/2023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97857827-4C5A-44D0-9BD7-60F184361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4FA24A7-EC7A-4A33-9149-C92F050FE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5FA6-0ACD-420C-A623-03249A56F6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7098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04391414-5859-4CAE-A871-D69DFC7ED5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98C7ECBB-BAB4-48B7-AD15-89DEFF4B33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594417F5-6D17-4830-814C-6CB904459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30EE7-50B9-4690-92C4-D398B08CD54A}" type="datetimeFigureOut">
              <a:rPr lang="vi-VN" smtClean="0"/>
              <a:t>24/03/2023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E0A4CF77-DC7C-44AE-B9E2-121ED6E03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CBA82976-DC99-438E-9D94-D4B13DCEF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2C5FA6-0ACD-420C-A623-03249A56F6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05971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5085E2F5-01A5-44BC-AFEA-7FE122B73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FDC4CF43-1FF6-406A-949A-2EF42A59FA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64424F78-69AF-4049-8C6C-A9DDF88A81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30EE7-50B9-4690-92C4-D398B08CD54A}" type="datetimeFigureOut">
              <a:rPr lang="vi-VN" smtClean="0"/>
              <a:t>24/03/2023</a:t>
            </a:fld>
            <a:endParaRPr lang="vi-VN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822BE626-3C5C-4298-A102-81FEEE5204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BB624CE-3217-416B-B777-A09E73F6D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2C5FA6-0ACD-420C-A623-03249A56F67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56857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9" Type="http://schemas.openxmlformats.org/officeDocument/2006/relationships/image" Target="../media/image8.png"/><Relationship Id="rId1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160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5E22B2A-F1A3-4EEF-8EA7-7A2D0EE9D8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Quantum KNN experiment</a:t>
            </a:r>
            <a:endParaRPr lang="vi-VN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A37A9A90-2EC3-4570-993A-225DC85ED86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10/04/2021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96317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9ED8A6A-C189-4A92-A6A4-8901F6930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/>
              <a:t>1. Swaptest [8/2006] between 2 complex vectors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400996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562F8097-689E-4BB3-B58B-5940FCA64031}"/>
              </a:ext>
            </a:extLst>
          </p:cNvPr>
          <p:cNvSpPr/>
          <p:nvPr/>
        </p:nvSpPr>
        <p:spPr>
          <a:xfrm>
            <a:off x="458371" y="953084"/>
            <a:ext cx="2096086" cy="797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Vector</a:t>
            </a:r>
            <a:endParaRPr lang="vi-VN">
              <a:solidFill>
                <a:schemeClr val="tx1"/>
              </a:solidFill>
            </a:endParaRPr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F593091C-57EB-4D3A-8EDC-CB7AA113C41A}"/>
              </a:ext>
            </a:extLst>
          </p:cNvPr>
          <p:cNvSpPr/>
          <p:nvPr/>
        </p:nvSpPr>
        <p:spPr>
          <a:xfrm>
            <a:off x="4141758" y="959669"/>
            <a:ext cx="2096086" cy="7970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Quantum state</a:t>
            </a:r>
            <a:endParaRPr lang="vi-VN">
              <a:solidFill>
                <a:schemeClr val="tx1"/>
              </a:solidFill>
            </a:endParaRPr>
          </a:p>
        </p:txBody>
      </p:sp>
      <p:sp>
        <p:nvSpPr>
          <p:cNvPr id="8" name="Hộp Văn bản 7">
            <a:extLst>
              <a:ext uri="{FF2B5EF4-FFF2-40B4-BE49-F238E27FC236}">
                <a16:creationId xmlns:a16="http://schemas.microsoft.com/office/drawing/2014/main" id="{1A816CA9-59C8-4506-ADA2-1909231C12DF}"/>
              </a:ext>
            </a:extLst>
          </p:cNvPr>
          <p:cNvSpPr txBox="1"/>
          <p:nvPr/>
        </p:nvSpPr>
        <p:spPr>
          <a:xfrm>
            <a:off x="458371" y="424594"/>
            <a:ext cx="2096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xs = [1 0 2 3]</a:t>
            </a:r>
            <a:endParaRPr lang="vi-VN"/>
          </a:p>
        </p:txBody>
      </p:sp>
      <p:cxnSp>
        <p:nvCxnSpPr>
          <p:cNvPr id="10" name="Đường kết nối Mũi tên Thẳng 9">
            <a:extLst>
              <a:ext uri="{FF2B5EF4-FFF2-40B4-BE49-F238E27FC236}">
                <a16:creationId xmlns:a16="http://schemas.microsoft.com/office/drawing/2014/main" id="{421A626D-3CF3-4055-9974-84B9E3ACA52E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2554457" y="1351621"/>
            <a:ext cx="1587301" cy="658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Hộp Văn bản 13">
            <a:extLst>
              <a:ext uri="{FF2B5EF4-FFF2-40B4-BE49-F238E27FC236}">
                <a16:creationId xmlns:a16="http://schemas.microsoft.com/office/drawing/2014/main" id="{F4265AA5-7964-4276-A176-48111BBE57FF}"/>
              </a:ext>
            </a:extLst>
          </p:cNvPr>
          <p:cNvSpPr txBox="1"/>
          <p:nvPr/>
        </p:nvSpPr>
        <p:spPr>
          <a:xfrm>
            <a:off x="2554456" y="925821"/>
            <a:ext cx="15873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Normalize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Hộp Văn bản 14">
                <a:extLst>
                  <a:ext uri="{FF2B5EF4-FFF2-40B4-BE49-F238E27FC236}">
                    <a16:creationId xmlns:a16="http://schemas.microsoft.com/office/drawing/2014/main" id="{DCA72861-852E-49F9-994A-81488132819C}"/>
                  </a:ext>
                </a:extLst>
              </p:cNvPr>
              <p:cNvSpPr txBox="1"/>
              <p:nvPr/>
            </p:nvSpPr>
            <p:spPr>
              <a:xfrm>
                <a:off x="4141758" y="290449"/>
                <a:ext cx="2096086" cy="5012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xs =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e>
                        </m:rad>
                      </m:den>
                    </m:f>
                    <m:r>
                      <a:rPr lang="en-US" i="1" smtClean="0">
                        <a:latin typeface="Cambria Math" panose="02040503050406030204" pitchFamily="18" charset="0"/>
                      </a:rPr>
                      <m:t> 0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e>
                        </m:rad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e>
                        </m:rad>
                      </m:den>
                    </m:f>
                  </m:oMath>
                </a14:m>
                <a:r>
                  <a:rPr lang="en-US"/>
                  <a:t>]</a:t>
                </a:r>
                <a:endParaRPr lang="vi-VN"/>
              </a:p>
            </p:txBody>
          </p:sp>
        </mc:Choice>
        <mc:Fallback xmlns="">
          <p:sp>
            <p:nvSpPr>
              <p:cNvPr id="15" name="Hộp Văn bản 14">
                <a:extLst>
                  <a:ext uri="{FF2B5EF4-FFF2-40B4-BE49-F238E27FC236}">
                    <a16:creationId xmlns:a16="http://schemas.microsoft.com/office/drawing/2014/main" id="{DCA72861-852E-49F9-994A-814881328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1758" y="290449"/>
                <a:ext cx="2096086" cy="501227"/>
              </a:xfrm>
              <a:prstGeom prst="rect">
                <a:avLst/>
              </a:prstGeom>
              <a:blipFill>
                <a:blip r:embed="rId2"/>
                <a:stretch>
                  <a:fillRect l="-2326" b="-4878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Hình ảnh 17" descr="Ảnh có chứa văn bản, đồng hồ&#10;&#10;Mô tả được tạo tự động">
            <a:extLst>
              <a:ext uri="{FF2B5EF4-FFF2-40B4-BE49-F238E27FC236}">
                <a16:creationId xmlns:a16="http://schemas.microsoft.com/office/drawing/2014/main" id="{8A02EDE5-917E-4CEB-92B8-0C714D2550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91"/>
          <a:stretch/>
        </p:blipFill>
        <p:spPr>
          <a:xfrm>
            <a:off x="7891974" y="502517"/>
            <a:ext cx="3691012" cy="2767355"/>
          </a:xfrm>
          <a:prstGeom prst="rect">
            <a:avLst/>
          </a:prstGeom>
        </p:spPr>
      </p:pic>
      <p:cxnSp>
        <p:nvCxnSpPr>
          <p:cNvPr id="19" name="Đường kết nối Mũi tên Thẳng 18">
            <a:extLst>
              <a:ext uri="{FF2B5EF4-FFF2-40B4-BE49-F238E27FC236}">
                <a16:creationId xmlns:a16="http://schemas.microsoft.com/office/drawing/2014/main" id="{BC0A4401-F604-490C-B251-1851E709118E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6237844" y="1351620"/>
            <a:ext cx="1654130" cy="658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Hộp Văn bản 23">
            <a:extLst>
              <a:ext uri="{FF2B5EF4-FFF2-40B4-BE49-F238E27FC236}">
                <a16:creationId xmlns:a16="http://schemas.microsoft.com/office/drawing/2014/main" id="{99D3F1F8-9F61-468C-8AA9-122958F4364E}"/>
              </a:ext>
            </a:extLst>
          </p:cNvPr>
          <p:cNvSpPr txBox="1"/>
          <p:nvPr/>
        </p:nvSpPr>
        <p:spPr>
          <a:xfrm>
            <a:off x="6325759" y="75043"/>
            <a:ext cx="14993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Encode one vector</a:t>
            </a:r>
          </a:p>
          <a:p>
            <a:r>
              <a:rPr lang="en-US"/>
              <a:t>(load data into circuit)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Hộp Văn bản 27">
                <a:extLst>
                  <a:ext uri="{FF2B5EF4-FFF2-40B4-BE49-F238E27FC236}">
                    <a16:creationId xmlns:a16="http://schemas.microsoft.com/office/drawing/2014/main" id="{96CF70F0-EB44-487C-9E67-9D1BA53A6D2C}"/>
                  </a:ext>
                </a:extLst>
              </p:cNvPr>
              <p:cNvSpPr txBox="1"/>
              <p:nvPr/>
            </p:nvSpPr>
            <p:spPr>
              <a:xfrm>
                <a:off x="9873184" y="3092218"/>
                <a:ext cx="209608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en-US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b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𝑥𝑠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d>
                    </m:oMath>
                  </m:oMathPara>
                </a14:m>
                <a:endParaRPr lang="en-US" b="0"/>
              </a:p>
              <a:p>
                <a:endParaRPr lang="vi-VN"/>
              </a:p>
            </p:txBody>
          </p:sp>
        </mc:Choice>
        <mc:Fallback xmlns="">
          <p:sp>
            <p:nvSpPr>
              <p:cNvPr id="28" name="Hộp Văn bản 27">
                <a:extLst>
                  <a:ext uri="{FF2B5EF4-FFF2-40B4-BE49-F238E27FC236}">
                    <a16:creationId xmlns:a16="http://schemas.microsoft.com/office/drawing/2014/main" id="{96CF70F0-EB44-487C-9E67-9D1BA53A6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73184" y="3092218"/>
                <a:ext cx="2096086" cy="14773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Hình chữ nhật 28">
            <a:extLst>
              <a:ext uri="{FF2B5EF4-FFF2-40B4-BE49-F238E27FC236}">
                <a16:creationId xmlns:a16="http://schemas.microsoft.com/office/drawing/2014/main" id="{E24C663F-CFDD-4FBC-883F-15A57B2D7CCF}"/>
              </a:ext>
            </a:extLst>
          </p:cNvPr>
          <p:cNvSpPr/>
          <p:nvPr/>
        </p:nvSpPr>
        <p:spPr>
          <a:xfrm>
            <a:off x="10142805" y="618979"/>
            <a:ext cx="1440181" cy="244689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cxnSp>
        <p:nvCxnSpPr>
          <p:cNvPr id="31" name="Đường kết nối: Mũi tên Gấp khúc 30">
            <a:extLst>
              <a:ext uri="{FF2B5EF4-FFF2-40B4-BE49-F238E27FC236}">
                <a16:creationId xmlns:a16="http://schemas.microsoft.com/office/drawing/2014/main" id="{4DE6AD90-D425-4EEE-848B-39344FED88C3}"/>
              </a:ext>
            </a:extLst>
          </p:cNvPr>
          <p:cNvCxnSpPr>
            <a:stCxn id="18" idx="2"/>
          </p:cNvCxnSpPr>
          <p:nvPr/>
        </p:nvCxnSpPr>
        <p:spPr>
          <a:xfrm rot="5400000">
            <a:off x="8235229" y="3067295"/>
            <a:ext cx="1299674" cy="1704829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Hộp Văn bản 31">
            <a:extLst>
              <a:ext uri="{FF2B5EF4-FFF2-40B4-BE49-F238E27FC236}">
                <a16:creationId xmlns:a16="http://schemas.microsoft.com/office/drawing/2014/main" id="{AC5329EE-F517-400B-BE36-D26EE06FFC52}"/>
              </a:ext>
            </a:extLst>
          </p:cNvPr>
          <p:cNvSpPr txBox="1"/>
          <p:nvPr/>
        </p:nvSpPr>
        <p:spPr>
          <a:xfrm>
            <a:off x="8132887" y="3830882"/>
            <a:ext cx="1499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Combine with swap test</a:t>
            </a:r>
            <a:endParaRPr lang="vi-VN"/>
          </a:p>
        </p:txBody>
      </p:sp>
      <p:pic>
        <p:nvPicPr>
          <p:cNvPr id="34" name="Hình ảnh 33">
            <a:extLst>
              <a:ext uri="{FF2B5EF4-FFF2-40B4-BE49-F238E27FC236}">
                <a16:creationId xmlns:a16="http://schemas.microsoft.com/office/drawing/2014/main" id="{45400465-9652-48B7-9C8B-56931EADAD9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1" t="6155" b="6626"/>
          <a:stretch/>
        </p:blipFill>
        <p:spPr>
          <a:xfrm>
            <a:off x="3498368" y="2144256"/>
            <a:ext cx="4204643" cy="4471151"/>
          </a:xfrm>
          <a:prstGeom prst="rect">
            <a:avLst/>
          </a:prstGeom>
        </p:spPr>
      </p:pic>
      <p:sp>
        <p:nvSpPr>
          <p:cNvPr id="37" name="Hình chữ nhật 36">
            <a:extLst>
              <a:ext uri="{FF2B5EF4-FFF2-40B4-BE49-F238E27FC236}">
                <a16:creationId xmlns:a16="http://schemas.microsoft.com/office/drawing/2014/main" id="{F4784E17-FB01-4582-B5DB-1969748C9764}"/>
              </a:ext>
            </a:extLst>
          </p:cNvPr>
          <p:cNvSpPr/>
          <p:nvPr/>
        </p:nvSpPr>
        <p:spPr>
          <a:xfrm>
            <a:off x="3498367" y="2668126"/>
            <a:ext cx="1664475" cy="1761200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8" name="Hình chữ nhật 37">
            <a:extLst>
              <a:ext uri="{FF2B5EF4-FFF2-40B4-BE49-F238E27FC236}">
                <a16:creationId xmlns:a16="http://schemas.microsoft.com/office/drawing/2014/main" id="{D8D5C76A-E812-45BD-838B-526B9F64110C}"/>
              </a:ext>
            </a:extLst>
          </p:cNvPr>
          <p:cNvSpPr/>
          <p:nvPr/>
        </p:nvSpPr>
        <p:spPr>
          <a:xfrm>
            <a:off x="3498366" y="4479423"/>
            <a:ext cx="1664475" cy="1718025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F3715973-1E6A-4D63-9E6C-FA9D410C1851}"/>
                  </a:ext>
                </a:extLst>
              </p:cNvPr>
              <p:cNvSpPr txBox="1"/>
              <p:nvPr/>
            </p:nvSpPr>
            <p:spPr>
              <a:xfrm>
                <a:off x="2166425" y="3244334"/>
                <a:ext cx="12374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/>
                  <a:t>Encode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39" name="Hộp Văn bản 38">
                <a:extLst>
                  <a:ext uri="{FF2B5EF4-FFF2-40B4-BE49-F238E27FC236}">
                    <a16:creationId xmlns:a16="http://schemas.microsoft.com/office/drawing/2014/main" id="{F3715973-1E6A-4D63-9E6C-FA9D410C18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6425" y="3244334"/>
                <a:ext cx="1237460" cy="369332"/>
              </a:xfrm>
              <a:prstGeom prst="rect">
                <a:avLst/>
              </a:prstGeom>
              <a:blipFill>
                <a:blip r:embed="rId7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A4454A13-7FA6-4B4C-907B-E8AE000E5DFE}"/>
                  </a:ext>
                </a:extLst>
              </p:cNvPr>
              <p:cNvSpPr txBox="1"/>
              <p:nvPr/>
            </p:nvSpPr>
            <p:spPr>
              <a:xfrm>
                <a:off x="2166425" y="5075632"/>
                <a:ext cx="12374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/>
                  <a:t>Encode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A4454A13-7FA6-4B4C-907B-E8AE000E5D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6425" y="5075632"/>
                <a:ext cx="1237460" cy="369332"/>
              </a:xfrm>
              <a:prstGeom prst="rect">
                <a:avLst/>
              </a:prstGeom>
              <a:blipFill>
                <a:blip r:embed="rId8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Hộp Văn bản 40">
                <a:extLst>
                  <a:ext uri="{FF2B5EF4-FFF2-40B4-BE49-F238E27FC236}">
                    <a16:creationId xmlns:a16="http://schemas.microsoft.com/office/drawing/2014/main" id="{889B5B8F-8443-4916-8B3D-2239CB6E5C93}"/>
                  </a:ext>
                </a:extLst>
              </p:cNvPr>
              <p:cNvSpPr txBox="1"/>
              <p:nvPr/>
            </p:nvSpPr>
            <p:spPr>
              <a:xfrm>
                <a:off x="5414088" y="2542792"/>
                <a:ext cx="961044" cy="393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41" name="Hộp Văn bản 40">
                <a:extLst>
                  <a:ext uri="{FF2B5EF4-FFF2-40B4-BE49-F238E27FC236}">
                    <a16:creationId xmlns:a16="http://schemas.microsoft.com/office/drawing/2014/main" id="{889B5B8F-8443-4916-8B3D-2239CB6E5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088" y="2542792"/>
                <a:ext cx="961044" cy="393121"/>
              </a:xfrm>
              <a:prstGeom prst="rect">
                <a:avLst/>
              </a:prstGeom>
              <a:blipFill>
                <a:blip r:embed="rId9"/>
                <a:stretch>
                  <a:fillRect t="-6154" r="-2532" b="-184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Hộp Văn bản 41">
                <a:extLst>
                  <a:ext uri="{FF2B5EF4-FFF2-40B4-BE49-F238E27FC236}">
                    <a16:creationId xmlns:a16="http://schemas.microsoft.com/office/drawing/2014/main" id="{9E7E7A62-D7C1-4917-B91F-58B3610DBE6F}"/>
                  </a:ext>
                </a:extLst>
              </p:cNvPr>
              <p:cNvSpPr txBox="1"/>
              <p:nvPr/>
            </p:nvSpPr>
            <p:spPr>
              <a:xfrm>
                <a:off x="5940325" y="3092218"/>
                <a:ext cx="961044" cy="3931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42" name="Hộp Văn bản 41">
                <a:extLst>
                  <a:ext uri="{FF2B5EF4-FFF2-40B4-BE49-F238E27FC236}">
                    <a16:creationId xmlns:a16="http://schemas.microsoft.com/office/drawing/2014/main" id="{9E7E7A62-D7C1-4917-B91F-58B3610DBE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0325" y="3092218"/>
                <a:ext cx="961044" cy="393121"/>
              </a:xfrm>
              <a:prstGeom prst="rect">
                <a:avLst/>
              </a:prstGeom>
              <a:blipFill>
                <a:blip r:embed="rId10"/>
                <a:stretch>
                  <a:fillRect t="-6154" r="-2532" b="-184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Hộp Văn bản 42">
                <a:extLst>
                  <a:ext uri="{FF2B5EF4-FFF2-40B4-BE49-F238E27FC236}">
                    <a16:creationId xmlns:a16="http://schemas.microsoft.com/office/drawing/2014/main" id="{D060E75D-EF2B-45B5-BAC5-723B29EAA441}"/>
                  </a:ext>
                </a:extLst>
              </p:cNvPr>
              <p:cNvSpPr txBox="1"/>
              <p:nvPr/>
            </p:nvSpPr>
            <p:spPr>
              <a:xfrm>
                <a:off x="5414088" y="4304386"/>
                <a:ext cx="961044" cy="404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43" name="Hộp Văn bản 42">
                <a:extLst>
                  <a:ext uri="{FF2B5EF4-FFF2-40B4-BE49-F238E27FC236}">
                    <a16:creationId xmlns:a16="http://schemas.microsoft.com/office/drawing/2014/main" id="{D060E75D-EF2B-45B5-BAC5-723B29EAA4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4088" y="4304386"/>
                <a:ext cx="961044" cy="404213"/>
              </a:xfrm>
              <a:prstGeom prst="rect">
                <a:avLst/>
              </a:prstGeom>
              <a:blipFill>
                <a:blip r:embed="rId11"/>
                <a:stretch>
                  <a:fillRect r="-2532" b="-606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Hộp Văn bản 43">
                <a:extLst>
                  <a:ext uri="{FF2B5EF4-FFF2-40B4-BE49-F238E27FC236}">
                    <a16:creationId xmlns:a16="http://schemas.microsoft.com/office/drawing/2014/main" id="{BEBD8492-EA87-47DA-8A10-905FA9A0BC36}"/>
                  </a:ext>
                </a:extLst>
              </p:cNvPr>
              <p:cNvSpPr txBox="1"/>
              <p:nvPr/>
            </p:nvSpPr>
            <p:spPr>
              <a:xfrm>
                <a:off x="5951128" y="4867177"/>
                <a:ext cx="961044" cy="404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44" name="Hộp Văn bản 43">
                <a:extLst>
                  <a:ext uri="{FF2B5EF4-FFF2-40B4-BE49-F238E27FC236}">
                    <a16:creationId xmlns:a16="http://schemas.microsoft.com/office/drawing/2014/main" id="{BEBD8492-EA87-47DA-8A10-905FA9A0B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128" y="4867177"/>
                <a:ext cx="961044" cy="404213"/>
              </a:xfrm>
              <a:prstGeom prst="rect">
                <a:avLst/>
              </a:prstGeom>
              <a:blipFill>
                <a:blip r:embed="rId12"/>
                <a:stretch>
                  <a:fillRect t="-5970" r="-2532" b="-14925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Hộp Văn bản 44">
                <a:extLst>
                  <a:ext uri="{FF2B5EF4-FFF2-40B4-BE49-F238E27FC236}">
                    <a16:creationId xmlns:a16="http://schemas.microsoft.com/office/drawing/2014/main" id="{A4A95C27-A061-4340-ACE7-66C588474AE9}"/>
                  </a:ext>
                </a:extLst>
              </p:cNvPr>
              <p:cNvSpPr txBox="1"/>
              <p:nvPr/>
            </p:nvSpPr>
            <p:spPr>
              <a:xfrm>
                <a:off x="7517892" y="6158153"/>
                <a:ext cx="699878" cy="394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</m:sSub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45" name="Hộp Văn bản 44">
                <a:extLst>
                  <a:ext uri="{FF2B5EF4-FFF2-40B4-BE49-F238E27FC236}">
                    <a16:creationId xmlns:a16="http://schemas.microsoft.com/office/drawing/2014/main" id="{A4A95C27-A061-4340-ACE7-66C588474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7892" y="6158153"/>
                <a:ext cx="699878" cy="394660"/>
              </a:xfrm>
              <a:prstGeom prst="rect">
                <a:avLst/>
              </a:prstGeom>
              <a:blipFill>
                <a:blip r:embed="rId13"/>
                <a:stretch>
                  <a:fillRect l="-6957" t="-6154" b="-18462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Hình ảnh 6">
            <a:extLst>
              <a:ext uri="{FF2B5EF4-FFF2-40B4-BE49-F238E27FC236}">
                <a16:creationId xmlns:a16="http://schemas.microsoft.com/office/drawing/2014/main" id="{9FC8287C-BBA6-3E05-A4E4-0816A705DBD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415726" y="2025523"/>
            <a:ext cx="3776663" cy="133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961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Hình ảnh 6">
            <a:extLst>
              <a:ext uri="{FF2B5EF4-FFF2-40B4-BE49-F238E27FC236}">
                <a16:creationId xmlns:a16="http://schemas.microsoft.com/office/drawing/2014/main" id="{2791A780-90C7-4EAF-B5CA-7035AD5DB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5155" y="-31654"/>
            <a:ext cx="5485714" cy="36571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2F35AB3-5FA7-4E7D-95F6-876D536719E2}"/>
                  </a:ext>
                </a:extLst>
              </p:cNvPr>
              <p:cNvSpPr txBox="1"/>
              <p:nvPr/>
            </p:nvSpPr>
            <p:spPr>
              <a:xfrm>
                <a:off x="441131" y="4023360"/>
                <a:ext cx="4426291" cy="18508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/>
                  <a:t>Dimension (2,4,8, …): length of vector</a:t>
                </a:r>
              </a:p>
              <a:p>
                <a:r>
                  <a:rPr lang="en-US"/>
                  <a:t>Shot: 16384 (number of load and measure times on certain circuit)</a:t>
                </a:r>
              </a:p>
              <a:p>
                <a:r>
                  <a:rPr lang="en-US"/>
                  <a:t>Standard error (SE):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𝑖𝑡𝑒𝑟𝑎𝑡𝑖𝑜𝑛𝑠</m:t>
                            </m:r>
                          </m:sup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e>
                        </m:nary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𝑖𝑡𝑒𝑟𝑎𝑡𝑖𝑜𝑛𝑠</m:t>
                        </m:r>
                      </m:den>
                    </m:f>
                  </m:oMath>
                </a14:m>
                <a:endParaRPr lang="en-US"/>
              </a:p>
              <a:p>
                <a:r>
                  <a:rPr lang="en-US"/>
                  <a:t>Relative error (RE):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m:rPr>
                                <m:brk m:alnAt="23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𝑖𝑡𝑒𝑟𝑎𝑡𝑖𝑜𝑛𝑠</m:t>
                            </m:r>
                          </m:sup>
                          <m:e>
                            <m:acc>
                              <m:accPr>
                                <m:chr m:val="̂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</m:e>
                        </m:nary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𝑖𝑡𝑒𝑟𝑎𝑡𝑖𝑜𝑛𝑠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𝑆𝐸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vi-VN"/>
              </a:p>
            </p:txBody>
          </p:sp>
        </mc:Choice>
        <mc:Fallback xmlns="">
          <p:sp>
            <p:nvSpPr>
              <p:cNvPr id="8" name="Hộp Văn bản 7">
                <a:extLst>
                  <a:ext uri="{FF2B5EF4-FFF2-40B4-BE49-F238E27FC236}">
                    <a16:creationId xmlns:a16="http://schemas.microsoft.com/office/drawing/2014/main" id="{52F35AB3-5FA7-4E7D-95F6-876D536719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131" y="4023360"/>
                <a:ext cx="4426291" cy="1850891"/>
              </a:xfrm>
              <a:prstGeom prst="rect">
                <a:avLst/>
              </a:prstGeom>
              <a:blipFill>
                <a:blip r:embed="rId3"/>
                <a:stretch>
                  <a:fillRect l="-1102" t="-1645" b="-1316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Hình ảnh 9">
            <a:extLst>
              <a:ext uri="{FF2B5EF4-FFF2-40B4-BE49-F238E27FC236}">
                <a16:creationId xmlns:a16="http://schemas.microsoft.com/office/drawing/2014/main" id="{98F7431C-72E1-45A4-8C2F-073E3EBAB3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132" y="-31655"/>
            <a:ext cx="5485714" cy="36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831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A2A3AC6B-8E65-408E-83EF-1343DD187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r>
              <a:rPr lang="en-US"/>
              <a:t>2. New QKNN</a:t>
            </a:r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07671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A2EC5B8-8340-4549-8BA4-D8FA1BEEE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Algorithm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58D9400E-0A87-4A0C-B618-61EE2FCBBA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72123"/>
              </a:xfrm>
            </p:spPr>
            <p:txBody>
              <a:bodyPr>
                <a:normAutofit/>
              </a:bodyPr>
              <a:lstStyle/>
              <a:p>
                <a:pPr marL="514350" indent="-514350">
                  <a:buAutoNum type="arabicPeriod"/>
                </a:pPr>
                <a:r>
                  <a:rPr lang="en-US"/>
                  <a:t>Load all datas (cc)</a:t>
                </a:r>
              </a:p>
              <a:p>
                <a:pPr marL="514350" indent="-514350">
                  <a:buAutoNum type="arabicPeriod"/>
                </a:pPr>
                <a:r>
                  <a:rPr lang="en-US"/>
                  <a:t>For each test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/>
                  <a:t>, calculate all distance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/>
                  <a:t>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/>
                  <a:t> to train states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/>
                  <a:t> (qc)</a:t>
                </a:r>
              </a:p>
              <a:p>
                <a:pPr marL="514350" indent="-514350">
                  <a:buAutoNum type="arabicPeriod"/>
                </a:pPr>
                <a:r>
                  <a:rPr lang="en-US"/>
                  <a:t>Sort descending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/>
                  <a:t>, choose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/>
                  <a:t> elements and do major vote (cc)</a:t>
                </a:r>
              </a:p>
              <a:p>
                <a:pPr marL="514350" indent="-514350">
                  <a:buAutoNum type="arabicPeriod"/>
                </a:pPr>
                <a:r>
                  <a:rPr lang="en-US"/>
                  <a:t>Go back to step 2</a:t>
                </a:r>
              </a:p>
              <a:p>
                <a:pPr marL="514350" indent="-514350">
                  <a:buAutoNum type="arabicPeriod"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classical computer: cc</a:t>
                </a:r>
              </a:p>
              <a:p>
                <a:pPr marL="0" indent="0">
                  <a:buNone/>
                </a:pPr>
                <a:r>
                  <a:rPr lang="en-US"/>
                  <a:t>quantum computer by simulate: qc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58D9400E-0A87-4A0C-B618-61EE2FCBBA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72123"/>
              </a:xfrm>
              <a:blipFill>
                <a:blip r:embed="rId2"/>
                <a:stretch>
                  <a:fillRect l="-1217" t="-217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789638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75265D1D-5E29-4480-8FF2-0125F0AFD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Experiments</a:t>
            </a:r>
            <a:endParaRPr lang="vi-V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5AC430D-0981-4107-A6F9-568C09F1D7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Shots: 16384</a:t>
                </a:r>
              </a:p>
              <a:p>
                <a:pPr marL="0" indent="0">
                  <a:buNone/>
                </a:pPr>
                <a:r>
                  <a:rPr lang="en-US"/>
                  <a:t>Number of qubits: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/>
                  <a:t> with n is the length of train / test state.</a:t>
                </a:r>
              </a:p>
              <a:p>
                <a:pPr marL="0" indent="0">
                  <a:buNone/>
                </a:pPr>
                <a:r>
                  <a:rPr lang="en-US"/>
                  <a:t>Iteration: 10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Dataset: Iris (3 classes, 50 instances per class)</a:t>
                </a:r>
              </a:p>
              <a:p>
                <a:pPr marL="0" indent="0">
                  <a:buNone/>
                </a:pPr>
                <a:r>
                  <a:rPr lang="en-US"/>
                  <a:t>Train / Test: 7 / 3 (all test states are not in train set)</a:t>
                </a:r>
              </a:p>
            </p:txBody>
          </p:sp>
        </mc:Choice>
        <mc:Fallback xmlns="">
          <p:sp>
            <p:nvSpPr>
              <p:cNvPr id="3" name="Chỗ dành sẵn cho Nội dung 2">
                <a:extLst>
                  <a:ext uri="{FF2B5EF4-FFF2-40B4-BE49-F238E27FC236}">
                    <a16:creationId xmlns:a16="http://schemas.microsoft.com/office/drawing/2014/main" id="{E5AC430D-0981-4107-A6F9-568C09F1D7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1495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174EE858-26E6-4491-93BC-55BDB9DBA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3.1. Accuracy</a:t>
            </a:r>
            <a:endParaRPr lang="vi-VN"/>
          </a:p>
        </p:txBody>
      </p:sp>
      <p:pic>
        <p:nvPicPr>
          <p:cNvPr id="4" name="Hình ảnh 3">
            <a:extLst>
              <a:ext uri="{FF2B5EF4-FFF2-40B4-BE49-F238E27FC236}">
                <a16:creationId xmlns:a16="http://schemas.microsoft.com/office/drawing/2014/main" id="{259917D3-F468-4DF2-923B-67C6E388E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7203281" cy="480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845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ình chữ nhật 3">
            <a:extLst>
              <a:ext uri="{FF2B5EF4-FFF2-40B4-BE49-F238E27FC236}">
                <a16:creationId xmlns:a16="http://schemas.microsoft.com/office/drawing/2014/main" id="{A55DCCE5-0191-443D-80EE-C2247A78C518}"/>
              </a:ext>
            </a:extLst>
          </p:cNvPr>
          <p:cNvSpPr/>
          <p:nvPr/>
        </p:nvSpPr>
        <p:spPr>
          <a:xfrm>
            <a:off x="165100" y="99674"/>
            <a:ext cx="8140700" cy="5729140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Hình chữ nhật 4">
            <a:extLst>
              <a:ext uri="{FF2B5EF4-FFF2-40B4-BE49-F238E27FC236}">
                <a16:creationId xmlns:a16="http://schemas.microsoft.com/office/drawing/2014/main" id="{81978DB4-43F5-4E2B-92B3-3A2124276DC5}"/>
              </a:ext>
            </a:extLst>
          </p:cNvPr>
          <p:cNvSpPr/>
          <p:nvPr/>
        </p:nvSpPr>
        <p:spPr>
          <a:xfrm>
            <a:off x="8616932" y="99673"/>
            <a:ext cx="3257568" cy="5970928"/>
          </a:xfrm>
          <a:prstGeom prst="rect">
            <a:avLst/>
          </a:prstGeom>
          <a:noFill/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" name="Hộp Văn bản 5">
            <a:extLst>
              <a:ext uri="{FF2B5EF4-FFF2-40B4-BE49-F238E27FC236}">
                <a16:creationId xmlns:a16="http://schemas.microsoft.com/office/drawing/2014/main" id="{80B9CFC3-725B-4A19-BDB3-4C45D3638D6A}"/>
              </a:ext>
            </a:extLst>
          </p:cNvPr>
          <p:cNvSpPr txBox="1"/>
          <p:nvPr/>
        </p:nvSpPr>
        <p:spPr>
          <a:xfrm>
            <a:off x="3026177" y="179336"/>
            <a:ext cx="5266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Classical computer</a:t>
            </a:r>
            <a:endParaRPr lang="vi-VN" i="1"/>
          </a:p>
        </p:txBody>
      </p:sp>
      <p:sp>
        <p:nvSpPr>
          <p:cNvPr id="7" name="Hộp Văn bản 6">
            <a:extLst>
              <a:ext uri="{FF2B5EF4-FFF2-40B4-BE49-F238E27FC236}">
                <a16:creationId xmlns:a16="http://schemas.microsoft.com/office/drawing/2014/main" id="{B4398C11-8344-445C-B6B4-5D174A794948}"/>
              </a:ext>
            </a:extLst>
          </p:cNvPr>
          <p:cNvSpPr txBox="1"/>
          <p:nvPr/>
        </p:nvSpPr>
        <p:spPr>
          <a:xfrm>
            <a:off x="8637401" y="160804"/>
            <a:ext cx="3237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1"/>
              <a:t>Quantum computer</a:t>
            </a:r>
            <a:endParaRPr lang="vi-VN" i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Hình chữ nhật 7">
                <a:extLst>
                  <a:ext uri="{FF2B5EF4-FFF2-40B4-BE49-F238E27FC236}">
                    <a16:creationId xmlns:a16="http://schemas.microsoft.com/office/drawing/2014/main" id="{C34579C3-DCCB-4F8E-B0B7-DCB2ACE41CD7}"/>
                  </a:ext>
                </a:extLst>
              </p:cNvPr>
              <p:cNvSpPr/>
              <p:nvPr/>
            </p:nvSpPr>
            <p:spPr>
              <a:xfrm>
                <a:off x="8846117" y="683266"/>
                <a:ext cx="2520461" cy="113948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chemeClr val="tx1"/>
                    </a:solidFill>
                  </a:rPr>
                  <a:t>2. Create integrated swap test circuit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in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in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𝜁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vi-VN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Hình chữ nhật 7">
                <a:extLst>
                  <a:ext uri="{FF2B5EF4-FFF2-40B4-BE49-F238E27FC236}">
                    <a16:creationId xmlns:a16="http://schemas.microsoft.com/office/drawing/2014/main" id="{C34579C3-DCCB-4F8E-B0B7-DCB2ACE41CD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6117" y="683266"/>
                <a:ext cx="2520461" cy="1139483"/>
              </a:xfrm>
              <a:prstGeom prst="rect">
                <a:avLst/>
              </a:prstGeom>
              <a:blipFill>
                <a:blip r:embed="rId2"/>
                <a:stretch>
                  <a:fillRect l="-1432" r="-2625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Hình chữ nhật 8">
                <a:extLst>
                  <a:ext uri="{FF2B5EF4-FFF2-40B4-BE49-F238E27FC236}">
                    <a16:creationId xmlns:a16="http://schemas.microsoft.com/office/drawing/2014/main" id="{021D7743-5754-41B7-B38D-B730BBA92E01}"/>
                  </a:ext>
                </a:extLst>
              </p:cNvPr>
              <p:cNvSpPr/>
              <p:nvPr/>
            </p:nvSpPr>
            <p:spPr>
              <a:xfrm>
                <a:off x="8846117" y="2107503"/>
                <a:ext cx="2520461" cy="113948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chemeClr val="tx1"/>
                    </a:solidFill>
                  </a:rPr>
                  <a:t>3. Calculate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𝑑𝑖𝑠𝑡𝑎𝑛𝑐𝑒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𝜁</m:t>
                        </m:r>
                      </m:sub>
                    </m:sSub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, increase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𝜁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by one unit</a:t>
                </a:r>
                <a:endParaRPr lang="vi-VN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Hình chữ nhật 8">
                <a:extLst>
                  <a:ext uri="{FF2B5EF4-FFF2-40B4-BE49-F238E27FC236}">
                    <a16:creationId xmlns:a16="http://schemas.microsoft.com/office/drawing/2014/main" id="{021D7743-5754-41B7-B38D-B730BBA92E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6117" y="2107503"/>
                <a:ext cx="2520461" cy="1139483"/>
              </a:xfrm>
              <a:prstGeom prst="rect">
                <a:avLst/>
              </a:prstGeom>
              <a:blipFill>
                <a:blip r:embed="rId3"/>
                <a:stretch>
                  <a:fillRect l="-1432" b="-208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Đường kết nối Mũi tên Thẳng 10">
            <a:extLst>
              <a:ext uri="{FF2B5EF4-FFF2-40B4-BE49-F238E27FC236}">
                <a16:creationId xmlns:a16="http://schemas.microsoft.com/office/drawing/2014/main" id="{072EDC10-205C-4F68-9B03-D9C63735EBCF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10106348" y="1822749"/>
            <a:ext cx="0" cy="2847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Hình chữ nhật 11">
                <a:extLst>
                  <a:ext uri="{FF2B5EF4-FFF2-40B4-BE49-F238E27FC236}">
                    <a16:creationId xmlns:a16="http://schemas.microsoft.com/office/drawing/2014/main" id="{A64504E9-B0AC-4125-87A7-9B21C2B9F51B}"/>
                  </a:ext>
                </a:extLst>
              </p:cNvPr>
              <p:cNvSpPr/>
              <p:nvPr/>
            </p:nvSpPr>
            <p:spPr>
              <a:xfrm>
                <a:off x="5475440" y="1758795"/>
                <a:ext cx="2588455" cy="113948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chemeClr val="tx1"/>
                    </a:solidFill>
                  </a:rPr>
                  <a:t>5. Append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𝑖𝑠𝑡</m:t>
                    </m:r>
                    <m:d>
                      <m:d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̂"/>
                                <m:ctrlP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  <m:sub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into list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𝑑𝑖𝑠𝑡𝑎𝑛𝑐𝑒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, increase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by one unit</a:t>
                </a:r>
                <a:endParaRPr lang="vi-VN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Hình chữ nhật 11">
                <a:extLst>
                  <a:ext uri="{FF2B5EF4-FFF2-40B4-BE49-F238E27FC236}">
                    <a16:creationId xmlns:a16="http://schemas.microsoft.com/office/drawing/2014/main" id="{A64504E9-B0AC-4125-87A7-9B21C2B9F51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440" y="1758795"/>
                <a:ext cx="2588455" cy="1139483"/>
              </a:xfrm>
              <a:prstGeom prst="rect">
                <a:avLst/>
              </a:prstGeom>
              <a:blipFill>
                <a:blip r:embed="rId4"/>
                <a:stretch>
                  <a:fillRect l="-1395" b="-524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Đường kết nối: Mũi tên Gấp khúc 13">
            <a:extLst>
              <a:ext uri="{FF2B5EF4-FFF2-40B4-BE49-F238E27FC236}">
                <a16:creationId xmlns:a16="http://schemas.microsoft.com/office/drawing/2014/main" id="{E24B6B39-27EA-41A5-9F80-C74F049B0E56}"/>
              </a:ext>
            </a:extLst>
          </p:cNvPr>
          <p:cNvCxnSpPr>
            <a:cxnSpLocks/>
            <a:stCxn id="62" idx="2"/>
            <a:endCxn id="12" idx="3"/>
          </p:cNvCxnSpPr>
          <p:nvPr/>
        </p:nvCxnSpPr>
        <p:spPr>
          <a:xfrm rot="5400000" flipH="1">
            <a:off x="7426054" y="2966378"/>
            <a:ext cx="3311100" cy="2035418"/>
          </a:xfrm>
          <a:prstGeom prst="bentConnector4">
            <a:avLst>
              <a:gd name="adj1" fmla="val -6904"/>
              <a:gd name="adj2" fmla="val 80958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Hình chữ nhật 14">
                <a:extLst>
                  <a:ext uri="{FF2B5EF4-FFF2-40B4-BE49-F238E27FC236}">
                    <a16:creationId xmlns:a16="http://schemas.microsoft.com/office/drawing/2014/main" id="{6EAFF1A2-3613-49B0-A160-0377DAE65CE3}"/>
                  </a:ext>
                </a:extLst>
              </p:cNvPr>
              <p:cNvSpPr/>
              <p:nvPr/>
            </p:nvSpPr>
            <p:spPr>
              <a:xfrm>
                <a:off x="5475440" y="4496637"/>
                <a:ext cx="2588455" cy="113948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chemeClr val="tx1"/>
                    </a:solidFill>
                  </a:rPr>
                  <a:t>7. Label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by majority voting with training labels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, increase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by one unit</a:t>
                </a:r>
                <a:endParaRPr lang="vi-VN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Hình chữ nhật 14">
                <a:extLst>
                  <a:ext uri="{FF2B5EF4-FFF2-40B4-BE49-F238E27FC236}">
                    <a16:creationId xmlns:a16="http://schemas.microsoft.com/office/drawing/2014/main" id="{6EAFF1A2-3613-49B0-A160-0377DAE65CE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5440" y="4496637"/>
                <a:ext cx="2588455" cy="1139483"/>
              </a:xfrm>
              <a:prstGeom prst="rect">
                <a:avLst/>
              </a:prstGeom>
              <a:blipFill>
                <a:blip r:embed="rId5"/>
                <a:stretch>
                  <a:fillRect l="-1395" r="-302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Đường kết nối: Mũi tên Gấp khúc 53">
            <a:extLst>
              <a:ext uri="{FF2B5EF4-FFF2-40B4-BE49-F238E27FC236}">
                <a16:creationId xmlns:a16="http://schemas.microsoft.com/office/drawing/2014/main" id="{6BCDB744-2022-4FF7-99FF-EB094312BF45}"/>
              </a:ext>
            </a:extLst>
          </p:cNvPr>
          <p:cNvCxnSpPr>
            <a:cxnSpLocks/>
            <a:stCxn id="28" idx="3"/>
            <a:endCxn id="9" idx="3"/>
          </p:cNvCxnSpPr>
          <p:nvPr/>
        </p:nvCxnSpPr>
        <p:spPr>
          <a:xfrm flipV="1">
            <a:off x="10910289" y="2677245"/>
            <a:ext cx="456289" cy="1190449"/>
          </a:xfrm>
          <a:prstGeom prst="bentConnector3">
            <a:avLst>
              <a:gd name="adj1" fmla="val 150100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9" name="Đường kết nối Mũi tên Thẳng 58">
            <a:extLst>
              <a:ext uri="{FF2B5EF4-FFF2-40B4-BE49-F238E27FC236}">
                <a16:creationId xmlns:a16="http://schemas.microsoft.com/office/drawing/2014/main" id="{165256C6-9F32-4152-88CE-64C706946723}"/>
              </a:ext>
            </a:extLst>
          </p:cNvPr>
          <p:cNvCxnSpPr>
            <a:cxnSpLocks/>
            <a:stCxn id="9" idx="2"/>
            <a:endCxn id="28" idx="0"/>
          </p:cNvCxnSpPr>
          <p:nvPr/>
        </p:nvCxnSpPr>
        <p:spPr>
          <a:xfrm>
            <a:off x="10106348" y="3246986"/>
            <a:ext cx="0" cy="28361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Hình chữ nhật 61">
                <a:extLst>
                  <a:ext uri="{FF2B5EF4-FFF2-40B4-BE49-F238E27FC236}">
                    <a16:creationId xmlns:a16="http://schemas.microsoft.com/office/drawing/2014/main" id="{92F9ABD6-115D-4A9E-83F2-82EF142D17A0}"/>
                  </a:ext>
                </a:extLst>
              </p:cNvPr>
              <p:cNvSpPr/>
              <p:nvPr/>
            </p:nvSpPr>
            <p:spPr>
              <a:xfrm>
                <a:off x="8839082" y="4500153"/>
                <a:ext cx="2520461" cy="113948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1400">
                    <a:solidFill>
                      <a:schemeClr val="tx1"/>
                    </a:solidFill>
                  </a:rPr>
                  <a:t>4. 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𝑖𝑠𝑡𝑎𝑛𝑐𝑒</m:t>
                    </m:r>
                    <m:d>
                      <m:d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̂"/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</m:acc>
                          </m:e>
                          <m:sub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𝜁</m:t>
                        </m:r>
                        <m: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sSub>
                          <m:sSub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𝑖𝑡𝑒𝑟</m:t>
                            </m:r>
                          </m:sub>
                        </m:sSub>
                      </m:sup>
                      <m:e>
                        <m:f>
                          <m:fPr>
                            <m:ctrlP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𝑑𝑖𝑠</m:t>
                            </m:r>
                            <m:r>
                              <a:rPr 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sSub>
                              <m:sSubPr>
                                <m:ctrlPr>
                                  <a:rPr lang="en-US" sz="1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d>
                                  <m:dPr>
                                    <m:ctrlPr>
                                      <a:rPr lang="en-US" sz="14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sSub>
                                          <m:sSubPr>
                                            <m:ctrlPr>
                                              <a:rPr lang="en-US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sz="1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sz="1400" i="1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𝑢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sz="1400" i="1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𝑣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sz="1400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  <m:sub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𝜁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𝑖𝑡𝑒𝑟</m:t>
                                </m:r>
                              </m:sub>
                            </m:sSub>
                          </m:den>
                        </m:f>
                      </m:e>
                    </m:nary>
                  </m:oMath>
                </a14:m>
                <a:endParaRPr lang="vi-VN" sz="1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2" name="Hình chữ nhật 61">
                <a:extLst>
                  <a:ext uri="{FF2B5EF4-FFF2-40B4-BE49-F238E27FC236}">
                    <a16:creationId xmlns:a16="http://schemas.microsoft.com/office/drawing/2014/main" id="{92F9ABD6-115D-4A9E-83F2-82EF142D17A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082" y="4500153"/>
                <a:ext cx="2520461" cy="1139484"/>
              </a:xfrm>
              <a:prstGeom prst="rect">
                <a:avLst/>
              </a:prstGeom>
              <a:blipFill>
                <a:blip r:embed="rId6"/>
                <a:stretch>
                  <a:fillRect l="-8612" b="-15625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Hình chữ nhật 20">
                <a:extLst>
                  <a:ext uri="{FF2B5EF4-FFF2-40B4-BE49-F238E27FC236}">
                    <a16:creationId xmlns:a16="http://schemas.microsoft.com/office/drawing/2014/main" id="{811C25F4-8F1C-46E2-A022-036D6AAA1CB4}"/>
                  </a:ext>
                </a:extLst>
              </p:cNvPr>
              <p:cNvSpPr/>
              <p:nvPr/>
            </p:nvSpPr>
            <p:spPr>
              <a:xfrm>
                <a:off x="417253" y="479336"/>
                <a:ext cx="2588455" cy="113948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chemeClr val="tx1"/>
                    </a:solidFill>
                  </a:rPr>
                  <a:t>1. Load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training states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</m:acc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training labels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test states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=0,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vi-VN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Hình chữ nhật 20">
                <a:extLst>
                  <a:ext uri="{FF2B5EF4-FFF2-40B4-BE49-F238E27FC236}">
                    <a16:creationId xmlns:a16="http://schemas.microsoft.com/office/drawing/2014/main" id="{811C25F4-8F1C-46E2-A022-036D6AAA1C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53" y="479336"/>
                <a:ext cx="2588455" cy="1139483"/>
              </a:xfrm>
              <a:prstGeom prst="rect">
                <a:avLst/>
              </a:prstGeom>
              <a:blipFill>
                <a:blip r:embed="rId7"/>
                <a:stretch>
                  <a:fillRect l="-1395" t="-4688" b="-6250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Hình chữ nhật 25">
                <a:extLst>
                  <a:ext uri="{FF2B5EF4-FFF2-40B4-BE49-F238E27FC236}">
                    <a16:creationId xmlns:a16="http://schemas.microsoft.com/office/drawing/2014/main" id="{702EF4DD-DD00-4A51-A862-9EFDEB06BEE6}"/>
                  </a:ext>
                </a:extLst>
              </p:cNvPr>
              <p:cNvSpPr/>
              <p:nvPr/>
            </p:nvSpPr>
            <p:spPr>
              <a:xfrm>
                <a:off x="5468405" y="3127716"/>
                <a:ext cx="2588455" cy="1139483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>
                    <a:solidFill>
                      <a:schemeClr val="tx1"/>
                    </a:solidFill>
                  </a:rPr>
                  <a:t>6. Sort descending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𝑑𝑖𝑠𝑡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𝑎𝑛𝑐𝑒</m:t>
                    </m:r>
                    <m:sSub>
                      <m:sSub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and choose first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>
                    <a:solidFill>
                      <a:schemeClr val="tx1"/>
                    </a:solidFill>
                  </a:rPr>
                  <a:t> elements </a:t>
                </a:r>
                <a:endParaRPr lang="vi-VN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Hình chữ nhật 25">
                <a:extLst>
                  <a:ext uri="{FF2B5EF4-FFF2-40B4-BE49-F238E27FC236}">
                    <a16:creationId xmlns:a16="http://schemas.microsoft.com/office/drawing/2014/main" id="{702EF4DD-DD00-4A51-A862-9EFDEB06BE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8405" y="3127716"/>
                <a:ext cx="2588455" cy="1139483"/>
              </a:xfrm>
              <a:prstGeom prst="rect">
                <a:avLst/>
              </a:prstGeom>
              <a:blipFill>
                <a:blip r:embed="rId8"/>
                <a:stretch>
                  <a:fillRect l="-1395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Hình thoi 27">
                <a:extLst>
                  <a:ext uri="{FF2B5EF4-FFF2-40B4-BE49-F238E27FC236}">
                    <a16:creationId xmlns:a16="http://schemas.microsoft.com/office/drawing/2014/main" id="{441E88CD-5C88-4947-8638-6394129DFB79}"/>
                  </a:ext>
                </a:extLst>
              </p:cNvPr>
              <p:cNvSpPr/>
              <p:nvPr/>
            </p:nvSpPr>
            <p:spPr>
              <a:xfrm>
                <a:off x="9302407" y="3530600"/>
                <a:ext cx="1607882" cy="674188"/>
              </a:xfrm>
              <a:prstGeom prst="diamond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en-US" sz="1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𝑖𝑡𝑒𝑟</m:t>
                          </m:r>
                        </m:sub>
                      </m:sSub>
                    </m:oMath>
                  </m:oMathPara>
                </a14:m>
                <a:endParaRPr lang="vi-VN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Hình thoi 27">
                <a:extLst>
                  <a:ext uri="{FF2B5EF4-FFF2-40B4-BE49-F238E27FC236}">
                    <a16:creationId xmlns:a16="http://schemas.microsoft.com/office/drawing/2014/main" id="{441E88CD-5C88-4947-8638-6394129DFB7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2407" y="3530600"/>
                <a:ext cx="1607882" cy="674188"/>
              </a:xfrm>
              <a:prstGeom prst="diamond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Đường kết nối Mũi tên Thẳng 35">
            <a:extLst>
              <a:ext uri="{FF2B5EF4-FFF2-40B4-BE49-F238E27FC236}">
                <a16:creationId xmlns:a16="http://schemas.microsoft.com/office/drawing/2014/main" id="{21205AB9-1A72-48EA-90E8-738D27DBD32D}"/>
              </a:ext>
            </a:extLst>
          </p:cNvPr>
          <p:cNvCxnSpPr>
            <a:cxnSpLocks/>
            <a:stCxn id="28" idx="2"/>
            <a:endCxn id="62" idx="0"/>
          </p:cNvCxnSpPr>
          <p:nvPr/>
        </p:nvCxnSpPr>
        <p:spPr>
          <a:xfrm flipH="1">
            <a:off x="10099313" y="4204788"/>
            <a:ext cx="7035" cy="29536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Hộp Văn bản 32">
                <a:extLst>
                  <a:ext uri="{FF2B5EF4-FFF2-40B4-BE49-F238E27FC236}">
                    <a16:creationId xmlns:a16="http://schemas.microsoft.com/office/drawing/2014/main" id="{01117DAA-6A43-4669-8DF2-0A6E06E7B212}"/>
                  </a:ext>
                </a:extLst>
              </p:cNvPr>
              <p:cNvSpPr txBox="1"/>
              <p:nvPr/>
            </p:nvSpPr>
            <p:spPr>
              <a:xfrm>
                <a:off x="11221421" y="3447396"/>
                <a:ext cx="221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33" name="Hộp Văn bản 32">
                <a:extLst>
                  <a:ext uri="{FF2B5EF4-FFF2-40B4-BE49-F238E27FC236}">
                    <a16:creationId xmlns:a16="http://schemas.microsoft.com/office/drawing/2014/main" id="{01117DAA-6A43-4669-8DF2-0A6E06E7B2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1421" y="3447396"/>
                <a:ext cx="221110" cy="369332"/>
              </a:xfrm>
              <a:prstGeom prst="rect">
                <a:avLst/>
              </a:prstGeom>
              <a:blipFill>
                <a:blip r:embed="rId10"/>
                <a:stretch>
                  <a:fillRect r="-41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51FF54C-1CB7-4B1F-A10C-D0A45E384495}"/>
                  </a:ext>
                </a:extLst>
              </p:cNvPr>
              <p:cNvSpPr txBox="1"/>
              <p:nvPr/>
            </p:nvSpPr>
            <p:spPr>
              <a:xfrm>
                <a:off x="10225904" y="4124665"/>
                <a:ext cx="221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40" name="Hộp Văn bản 39">
                <a:extLst>
                  <a:ext uri="{FF2B5EF4-FFF2-40B4-BE49-F238E27FC236}">
                    <a16:creationId xmlns:a16="http://schemas.microsoft.com/office/drawing/2014/main" id="{251FF54C-1CB7-4B1F-A10C-D0A45E3844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25904" y="4124665"/>
                <a:ext cx="221110" cy="369332"/>
              </a:xfrm>
              <a:prstGeom prst="rect">
                <a:avLst/>
              </a:prstGeom>
              <a:blipFill>
                <a:blip r:embed="rId11"/>
                <a:stretch>
                  <a:fillRect r="-405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Hình thoi 47">
                <a:extLst>
                  <a:ext uri="{FF2B5EF4-FFF2-40B4-BE49-F238E27FC236}">
                    <a16:creationId xmlns:a16="http://schemas.microsoft.com/office/drawing/2014/main" id="{41489B68-A21C-4D08-AFE1-9C46FC0150E7}"/>
                  </a:ext>
                </a:extLst>
              </p:cNvPr>
              <p:cNvSpPr/>
              <p:nvPr/>
            </p:nvSpPr>
            <p:spPr>
              <a:xfrm>
                <a:off x="3453633" y="1992748"/>
                <a:ext cx="1607882" cy="674188"/>
              </a:xfrm>
              <a:prstGeom prst="diamond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</m:oMath>
                  </m:oMathPara>
                </a14:m>
                <a:endParaRPr lang="vi-VN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Hình thoi 47">
                <a:extLst>
                  <a:ext uri="{FF2B5EF4-FFF2-40B4-BE49-F238E27FC236}">
                    <a16:creationId xmlns:a16="http://schemas.microsoft.com/office/drawing/2014/main" id="{41489B68-A21C-4D08-AFE1-9C46FC0150E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3633" y="1992748"/>
                <a:ext cx="1607882" cy="674188"/>
              </a:xfrm>
              <a:prstGeom prst="diamond">
                <a:avLst/>
              </a:prstGeom>
              <a:blipFill>
                <a:blip r:embed="rId12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Đường kết nối: Mũi tên Gấp khúc 51">
            <a:extLst>
              <a:ext uri="{FF2B5EF4-FFF2-40B4-BE49-F238E27FC236}">
                <a16:creationId xmlns:a16="http://schemas.microsoft.com/office/drawing/2014/main" id="{6D574C88-5199-4DBE-8230-4D3B3A8F474E}"/>
              </a:ext>
            </a:extLst>
          </p:cNvPr>
          <p:cNvCxnSpPr>
            <a:cxnSpLocks/>
            <a:stCxn id="48" idx="0"/>
          </p:cNvCxnSpPr>
          <p:nvPr/>
        </p:nvCxnSpPr>
        <p:spPr>
          <a:xfrm rot="5400000" flipH="1" flipV="1">
            <a:off x="6311992" y="-541376"/>
            <a:ext cx="479707" cy="4588543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Hộp Văn bản 54">
                <a:extLst>
                  <a:ext uri="{FF2B5EF4-FFF2-40B4-BE49-F238E27FC236}">
                    <a16:creationId xmlns:a16="http://schemas.microsoft.com/office/drawing/2014/main" id="{68A1963E-F428-4D55-9C94-6BAC6623917E}"/>
                  </a:ext>
                </a:extLst>
              </p:cNvPr>
              <p:cNvSpPr txBox="1"/>
              <p:nvPr/>
            </p:nvSpPr>
            <p:spPr>
              <a:xfrm>
                <a:off x="4342296" y="1576524"/>
                <a:ext cx="221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55" name="Hộp Văn bản 54">
                <a:extLst>
                  <a:ext uri="{FF2B5EF4-FFF2-40B4-BE49-F238E27FC236}">
                    <a16:creationId xmlns:a16="http://schemas.microsoft.com/office/drawing/2014/main" id="{68A1963E-F428-4D55-9C94-6BAC662391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2296" y="1576524"/>
                <a:ext cx="221110" cy="369332"/>
              </a:xfrm>
              <a:prstGeom prst="rect">
                <a:avLst/>
              </a:prstGeom>
              <a:blipFill>
                <a:blip r:embed="rId13"/>
                <a:stretch>
                  <a:fillRect r="-405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Đường kết nối Mũi tên Thẳng 67">
            <a:extLst>
              <a:ext uri="{FF2B5EF4-FFF2-40B4-BE49-F238E27FC236}">
                <a16:creationId xmlns:a16="http://schemas.microsoft.com/office/drawing/2014/main" id="{9775347D-7C3C-4400-ADE0-9B02743F05B2}"/>
              </a:ext>
            </a:extLst>
          </p:cNvPr>
          <p:cNvCxnSpPr>
            <a:cxnSpLocks/>
            <a:stCxn id="12" idx="1"/>
            <a:endCxn id="48" idx="3"/>
          </p:cNvCxnSpPr>
          <p:nvPr/>
        </p:nvCxnSpPr>
        <p:spPr>
          <a:xfrm flipH="1">
            <a:off x="5061515" y="2328537"/>
            <a:ext cx="413925" cy="130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Đường kết nối: Mũi tên Gấp khúc 72">
            <a:extLst>
              <a:ext uri="{FF2B5EF4-FFF2-40B4-BE49-F238E27FC236}">
                <a16:creationId xmlns:a16="http://schemas.microsoft.com/office/drawing/2014/main" id="{0B1932B3-0CFE-4170-9ADF-D425CE26B7CE}"/>
              </a:ext>
            </a:extLst>
          </p:cNvPr>
          <p:cNvCxnSpPr>
            <a:cxnSpLocks/>
            <a:stCxn id="48" idx="2"/>
            <a:endCxn id="26" idx="1"/>
          </p:cNvCxnSpPr>
          <p:nvPr/>
        </p:nvCxnSpPr>
        <p:spPr>
          <a:xfrm rot="16200000" flipH="1">
            <a:off x="4347728" y="2576781"/>
            <a:ext cx="1030522" cy="1210831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Đường kết nối Mũi tên Thẳng 75">
            <a:extLst>
              <a:ext uri="{FF2B5EF4-FFF2-40B4-BE49-F238E27FC236}">
                <a16:creationId xmlns:a16="http://schemas.microsoft.com/office/drawing/2014/main" id="{38414E9B-2264-47BC-A129-67B2C8ACC6E7}"/>
              </a:ext>
            </a:extLst>
          </p:cNvPr>
          <p:cNvCxnSpPr>
            <a:cxnSpLocks/>
            <a:stCxn id="26" idx="2"/>
            <a:endCxn id="15" idx="0"/>
          </p:cNvCxnSpPr>
          <p:nvPr/>
        </p:nvCxnSpPr>
        <p:spPr>
          <a:xfrm>
            <a:off x="6762633" y="4267199"/>
            <a:ext cx="7035" cy="2294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Đường kết nối: Mũi tên Gấp khúc 78">
            <a:extLst>
              <a:ext uri="{FF2B5EF4-FFF2-40B4-BE49-F238E27FC236}">
                <a16:creationId xmlns:a16="http://schemas.microsoft.com/office/drawing/2014/main" id="{B158A235-FDD6-4377-BD93-437DB23898A1}"/>
              </a:ext>
            </a:extLst>
          </p:cNvPr>
          <p:cNvCxnSpPr>
            <a:cxnSpLocks/>
            <a:stCxn id="15" idx="1"/>
            <a:endCxn id="95" idx="2"/>
          </p:cNvCxnSpPr>
          <p:nvPr/>
        </p:nvCxnSpPr>
        <p:spPr>
          <a:xfrm rot="10800000">
            <a:off x="3211728" y="3174859"/>
            <a:ext cx="2263712" cy="189152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Hình thoi 94">
                <a:extLst>
                  <a:ext uri="{FF2B5EF4-FFF2-40B4-BE49-F238E27FC236}">
                    <a16:creationId xmlns:a16="http://schemas.microsoft.com/office/drawing/2014/main" id="{09798E3F-26AF-4CC4-B540-3F5E5B54B3A7}"/>
                  </a:ext>
                </a:extLst>
              </p:cNvPr>
              <p:cNvSpPr/>
              <p:nvPr/>
            </p:nvSpPr>
            <p:spPr>
              <a:xfrm>
                <a:off x="2407787" y="2500671"/>
                <a:ext cx="1607882" cy="674188"/>
              </a:xfrm>
              <a:prstGeom prst="diamond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</m:oMath>
                  </m:oMathPara>
                </a14:m>
                <a:endParaRPr lang="vi-VN" sz="12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5" name="Hình thoi 94">
                <a:extLst>
                  <a:ext uri="{FF2B5EF4-FFF2-40B4-BE49-F238E27FC236}">
                    <a16:creationId xmlns:a16="http://schemas.microsoft.com/office/drawing/2014/main" id="{09798E3F-26AF-4CC4-B540-3F5E5B54B3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787" y="2500671"/>
                <a:ext cx="1607882" cy="674188"/>
              </a:xfrm>
              <a:prstGeom prst="diamond">
                <a:avLst/>
              </a:prstGeom>
              <a:blipFill>
                <a:blip r:embed="rId14"/>
                <a:stretch>
                  <a:fillRect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Hộp Văn bản 96">
                <a:extLst>
                  <a:ext uri="{FF2B5EF4-FFF2-40B4-BE49-F238E27FC236}">
                    <a16:creationId xmlns:a16="http://schemas.microsoft.com/office/drawing/2014/main" id="{270A8C08-7E64-4C1F-AB5C-8226D1047BD3}"/>
                  </a:ext>
                </a:extLst>
              </p:cNvPr>
              <p:cNvSpPr txBox="1"/>
              <p:nvPr/>
            </p:nvSpPr>
            <p:spPr>
              <a:xfrm>
                <a:off x="4335272" y="2847256"/>
                <a:ext cx="221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97" name="Hộp Văn bản 96">
                <a:extLst>
                  <a:ext uri="{FF2B5EF4-FFF2-40B4-BE49-F238E27FC236}">
                    <a16:creationId xmlns:a16="http://schemas.microsoft.com/office/drawing/2014/main" id="{270A8C08-7E64-4C1F-AB5C-8226D1047B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5272" y="2847256"/>
                <a:ext cx="221110" cy="369332"/>
              </a:xfrm>
              <a:prstGeom prst="rect">
                <a:avLst/>
              </a:prstGeom>
              <a:blipFill>
                <a:blip r:embed="rId15"/>
                <a:stretch>
                  <a:fillRect r="-44444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Đường kết nối: Mũi tên Gấp khúc 98">
            <a:extLst>
              <a:ext uri="{FF2B5EF4-FFF2-40B4-BE49-F238E27FC236}">
                <a16:creationId xmlns:a16="http://schemas.microsoft.com/office/drawing/2014/main" id="{7A5ED373-3EA1-459A-8D8F-CD15A1DF3BCF}"/>
              </a:ext>
            </a:extLst>
          </p:cNvPr>
          <p:cNvCxnSpPr>
            <a:cxnSpLocks/>
            <a:stCxn id="95" idx="0"/>
            <a:endCxn id="8" idx="1"/>
          </p:cNvCxnSpPr>
          <p:nvPr/>
        </p:nvCxnSpPr>
        <p:spPr>
          <a:xfrm rot="5400000" flipH="1" flipV="1">
            <a:off x="5405091" y="-940354"/>
            <a:ext cx="1247663" cy="5634389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Hộp Văn bản 101">
                <a:extLst>
                  <a:ext uri="{FF2B5EF4-FFF2-40B4-BE49-F238E27FC236}">
                    <a16:creationId xmlns:a16="http://schemas.microsoft.com/office/drawing/2014/main" id="{FC304501-AF86-4EDC-9965-68947F744A38}"/>
                  </a:ext>
                </a:extLst>
              </p:cNvPr>
              <p:cNvSpPr txBox="1"/>
              <p:nvPr/>
            </p:nvSpPr>
            <p:spPr>
              <a:xfrm>
                <a:off x="1958804" y="2837764"/>
                <a:ext cx="221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02" name="Hộp Văn bản 101">
                <a:extLst>
                  <a:ext uri="{FF2B5EF4-FFF2-40B4-BE49-F238E27FC236}">
                    <a16:creationId xmlns:a16="http://schemas.microsoft.com/office/drawing/2014/main" id="{FC304501-AF86-4EDC-9965-68947F744A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8804" y="2837764"/>
                <a:ext cx="221110" cy="369332"/>
              </a:xfrm>
              <a:prstGeom prst="rect">
                <a:avLst/>
              </a:prstGeom>
              <a:blipFill>
                <a:blip r:embed="rId16"/>
                <a:stretch>
                  <a:fillRect r="-40541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Hình Bầu dục 104">
            <a:extLst>
              <a:ext uri="{FF2B5EF4-FFF2-40B4-BE49-F238E27FC236}">
                <a16:creationId xmlns:a16="http://schemas.microsoft.com/office/drawing/2014/main" id="{02F9E38D-C252-4715-A7E8-9773B0B5750B}"/>
              </a:ext>
            </a:extLst>
          </p:cNvPr>
          <p:cNvSpPr/>
          <p:nvPr/>
        </p:nvSpPr>
        <p:spPr>
          <a:xfrm>
            <a:off x="1101507" y="1955912"/>
            <a:ext cx="1214214" cy="626249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Begin</a:t>
            </a:r>
            <a:endParaRPr lang="vi-VN"/>
          </a:p>
        </p:txBody>
      </p:sp>
      <p:sp>
        <p:nvSpPr>
          <p:cNvPr id="106" name="Hình Bầu dục 105">
            <a:extLst>
              <a:ext uri="{FF2B5EF4-FFF2-40B4-BE49-F238E27FC236}">
                <a16:creationId xmlns:a16="http://schemas.microsoft.com/office/drawing/2014/main" id="{07376F38-1F12-4FCB-A5D1-FAAC5054A3FC}"/>
              </a:ext>
            </a:extLst>
          </p:cNvPr>
          <p:cNvSpPr/>
          <p:nvPr/>
        </p:nvSpPr>
        <p:spPr>
          <a:xfrm>
            <a:off x="1111037" y="3365786"/>
            <a:ext cx="1214214" cy="626249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/>
              <a:t>End</a:t>
            </a:r>
            <a:endParaRPr lang="vi-VN"/>
          </a:p>
        </p:txBody>
      </p:sp>
      <p:cxnSp>
        <p:nvCxnSpPr>
          <p:cNvPr id="127" name="Đường kết nối Mũi tên Thẳng 126">
            <a:extLst>
              <a:ext uri="{FF2B5EF4-FFF2-40B4-BE49-F238E27FC236}">
                <a16:creationId xmlns:a16="http://schemas.microsoft.com/office/drawing/2014/main" id="{2E344903-F534-4A66-A2D3-B0FB8F52E6D3}"/>
              </a:ext>
            </a:extLst>
          </p:cNvPr>
          <p:cNvCxnSpPr>
            <a:cxnSpLocks/>
            <a:stCxn id="21" idx="3"/>
          </p:cNvCxnSpPr>
          <p:nvPr/>
        </p:nvCxnSpPr>
        <p:spPr>
          <a:xfrm flipV="1">
            <a:off x="3005708" y="1029186"/>
            <a:ext cx="5840409" cy="198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1" name="Đường kết nối: Mũi tên Gấp khúc 130">
            <a:extLst>
              <a:ext uri="{FF2B5EF4-FFF2-40B4-BE49-F238E27FC236}">
                <a16:creationId xmlns:a16="http://schemas.microsoft.com/office/drawing/2014/main" id="{68042107-2CE3-4E80-AAFF-513EBCD8C565}"/>
              </a:ext>
            </a:extLst>
          </p:cNvPr>
          <p:cNvCxnSpPr>
            <a:cxnSpLocks/>
            <a:stCxn id="95" idx="1"/>
            <a:endCxn id="106" idx="0"/>
          </p:cNvCxnSpPr>
          <p:nvPr/>
        </p:nvCxnSpPr>
        <p:spPr>
          <a:xfrm rot="10800000" flipV="1">
            <a:off x="1718145" y="2837764"/>
            <a:ext cx="689643" cy="528021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5" name="Đường kết nối Mũi tên Thẳng 134">
            <a:extLst>
              <a:ext uri="{FF2B5EF4-FFF2-40B4-BE49-F238E27FC236}">
                <a16:creationId xmlns:a16="http://schemas.microsoft.com/office/drawing/2014/main" id="{5FA39174-6F53-448D-9AA5-E79B01845730}"/>
              </a:ext>
            </a:extLst>
          </p:cNvPr>
          <p:cNvCxnSpPr>
            <a:cxnSpLocks/>
            <a:stCxn id="105" idx="0"/>
            <a:endCxn id="21" idx="2"/>
          </p:cNvCxnSpPr>
          <p:nvPr/>
        </p:nvCxnSpPr>
        <p:spPr>
          <a:xfrm flipV="1">
            <a:off x="1708614" y="1618819"/>
            <a:ext cx="2867" cy="3370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Hộp Văn bản 138">
                <a:extLst>
                  <a:ext uri="{FF2B5EF4-FFF2-40B4-BE49-F238E27FC236}">
                    <a16:creationId xmlns:a16="http://schemas.microsoft.com/office/drawing/2014/main" id="{014C208C-78AA-4BDD-B8A6-A423A05E1C6B}"/>
                  </a:ext>
                </a:extLst>
              </p:cNvPr>
              <p:cNvSpPr txBox="1"/>
              <p:nvPr/>
            </p:nvSpPr>
            <p:spPr>
              <a:xfrm>
                <a:off x="3295794" y="1593610"/>
                <a:ext cx="2211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vi-VN"/>
              </a:p>
            </p:txBody>
          </p:sp>
        </mc:Choice>
        <mc:Fallback xmlns="">
          <p:sp>
            <p:nvSpPr>
              <p:cNvPr id="139" name="Hộp Văn bản 138">
                <a:extLst>
                  <a:ext uri="{FF2B5EF4-FFF2-40B4-BE49-F238E27FC236}">
                    <a16:creationId xmlns:a16="http://schemas.microsoft.com/office/drawing/2014/main" id="{014C208C-78AA-4BDD-B8A6-A423A05E1C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794" y="1593610"/>
                <a:ext cx="221110" cy="369332"/>
              </a:xfrm>
              <a:prstGeom prst="rect">
                <a:avLst/>
              </a:prstGeom>
              <a:blipFill>
                <a:blip r:embed="rId17"/>
                <a:stretch>
                  <a:fillRect r="-41667"/>
                </a:stretch>
              </a:blipFill>
            </p:spPr>
            <p:txBody>
              <a:bodyPr/>
              <a:lstStyle/>
              <a:p>
                <a:r>
                  <a:rPr lang="vi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0137891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4729</TotalTime>
  <Words>378</Words>
  <Application>Microsoft Macintosh PowerPoint</Application>
  <PresentationFormat>Widescreen</PresentationFormat>
  <Paragraphs>63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Times New Roman</vt:lpstr>
      <vt:lpstr>Chủ đề Office</vt:lpstr>
      <vt:lpstr>Quantum KNN experiment</vt:lpstr>
      <vt:lpstr>1. Swaptest [8/2006] between 2 complex vectors</vt:lpstr>
      <vt:lpstr>PowerPoint Presentation</vt:lpstr>
      <vt:lpstr>PowerPoint Presentation</vt:lpstr>
      <vt:lpstr>2. New QKNN</vt:lpstr>
      <vt:lpstr>2. Algorithm</vt:lpstr>
      <vt:lpstr>3. Experiments</vt:lpstr>
      <vt:lpstr>3.1. Accuracy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KNN experiment</dc:title>
  <dc:creator>Tuan Hai</dc:creator>
  <cp:lastModifiedBy>Vũ Tuấn Hải</cp:lastModifiedBy>
  <cp:revision>45</cp:revision>
  <dcterms:created xsi:type="dcterms:W3CDTF">2021-04-09T07:22:00Z</dcterms:created>
  <dcterms:modified xsi:type="dcterms:W3CDTF">2023-03-25T06:04:02Z</dcterms:modified>
</cp:coreProperties>
</file>