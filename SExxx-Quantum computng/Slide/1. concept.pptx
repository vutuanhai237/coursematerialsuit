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2" r:id="rId2"/>
    <p:sldId id="258" r:id="rId3"/>
    <p:sldId id="259" r:id="rId4"/>
    <p:sldId id="261" r:id="rId5"/>
    <p:sldId id="262" r:id="rId6"/>
    <p:sldId id="263" r:id="rId7"/>
    <p:sldId id="260" r:id="rId8"/>
    <p:sldId id="264" r:id="rId9"/>
    <p:sldId id="266" r:id="rId10"/>
    <p:sldId id="267" r:id="rId11"/>
    <p:sldId id="269" r:id="rId12"/>
    <p:sldId id="270" r:id="rId13"/>
    <p:sldId id="275" r:id="rId14"/>
    <p:sldId id="283" r:id="rId15"/>
    <p:sldId id="276" r:id="rId16"/>
    <p:sldId id="277" r:id="rId17"/>
    <p:sldId id="278" r:id="rId18"/>
    <p:sldId id="265" r:id="rId19"/>
    <p:sldId id="279" r:id="rId20"/>
    <p:sldId id="271" r:id="rId21"/>
    <p:sldId id="272" r:id="rId22"/>
    <p:sldId id="273" r:id="rId23"/>
    <p:sldId id="274" r:id="rId24"/>
    <p:sldId id="280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7"/>
  </p:normalViewPr>
  <p:slideViewPr>
    <p:cSldViewPr snapToGrid="0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0-23T02:53:33.79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22362 10360 0,'0'25'16,"0"-1"0,0 26-1,0 0 1,0-25 0,50 25-1,-25-25 1,0 0-16,24-1 15,-49 1-15,25 0 16,50 0-16,-50-25 31,25 0-15,-1 0-16,-24 0 0,0 0 16,0 0-1,0 0 1,0 0-1,25 0 1,0-25 0,-25 25-1</inkml:trace>
  <inkml:trace contextRef="#ctx0" brushRef="#br0" timeOffset="594.16">23283 10584 0,'0'0'0,"50"0"0,0 0 15,-25 0 1,-25 25 109,0 0-125,-25 49 16,0-24-16,25-25 15,-25 25-15,25 0 16,-25-26 0,0-24-16,25 25 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1D66D-790A-42FE-9F35-47D6C83EFAA2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6DF54-78B0-4903-8B9A-8E88D0176F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398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6DF54-78B0-4903-8B9A-8E88D0176FCD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583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6DF54-78B0-4903-8B9A-8E88D0176FCD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6785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56F43B-C421-4FC1-BF73-D6F1C86FA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798ADB8-956B-47FE-B3AD-73B647B5B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643D3CF-139A-4E11-A7F5-D7ADD1A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DBB0-DFBB-4DCA-A0C8-E8E421A3A1BE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1140645-1512-4335-8476-F3108E95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5FEBEA6-BB46-4F2D-AE8C-1F0EABDA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368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DC0A4C-1EE4-4ED5-867C-BD41B7EB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C15102C-474F-43F1-9B51-487124E8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41D3381-5C7A-445D-8756-295C2038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4ABA2-F96A-4642-AB00-30B67DAE18DC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DB3BAF-2010-405D-890A-A664927C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00C6BE0-E62F-4779-AF3C-85CA11D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37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818C3C-B515-4D3A-85A9-A3BAEB32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9B21172-A207-48AA-9F86-22FFA529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0A4E73-55C6-46C3-AF62-11D8BC17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0CBF-AA1C-442C-8908-2E147AAB595F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30C147-8040-43D9-A71E-FD5481DC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947C5C8-BE0B-4C86-A454-27BF2116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938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3C0710-FE88-4A9B-B9A3-E28490D4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1D57A46-12B4-4545-9D99-4174EB099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7924178-C40B-4F5C-BFAA-55FB178DA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1B8E41F-4A3E-4F22-9856-C461A5E3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865D-2E54-4B89-8689-1A851FA9B0C2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A43F3EF-66D9-4339-95A3-48314D14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7038853-8DDD-4501-A476-2EFE83DD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379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1A0E904-EFCE-46FC-803C-6DB78BB9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7CCA23D-A113-4D05-8A66-6DD71FB58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01E6C1A-A0ED-4444-8CE3-E41398A0E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4EB86F6-8460-4399-85EB-856A1C5E3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EF8C5568-1A81-420E-ACBA-2DBF5C508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BDF83D4-603F-4CE6-AC9B-88FCDD87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CA60-D758-4057-AC39-283123382124}" type="datetime1">
              <a:rPr lang="vi-VN" smtClean="0"/>
              <a:t>22/12/25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B31F924-96E6-4EB1-8F2A-1208789D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0C21F78-3645-4410-845B-0FD2AB3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050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E3E84A-DF91-462F-9EE9-7D0D2DD3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994DF4E4-7B5C-455C-8042-0619075B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3298-1CF5-4179-AF41-9A5CDD968281}" type="datetime1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41FB397-378F-476F-97A2-24AF8258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1DB2F8A-B207-4D73-B590-1C9BCA6C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086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D019CFA5-4300-4497-855D-D2F78B44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16FA-DA8A-46A1-935B-81637D3DCF4F}" type="datetime1">
              <a:rPr lang="vi-VN" smtClean="0"/>
              <a:t>22/12/25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A3CE94B-F3BD-4EA3-A014-339D5F8B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BDB017B-2A0B-4625-8D88-E7B81FF5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962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FAB6530-5BFA-4B78-BAFA-8DDE7EA7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CF86F9F-15C6-4351-A589-FCB4FC26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58C7C77-0C4C-408A-B92A-322BA7F5F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C9DC99-427F-4FA4-9ADB-DD6F40A9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EEF0-E224-4B78-9425-C6F80B2F1143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8396942-938D-4A49-A62C-DB5E58C2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06AF21A-36C2-40E0-94FD-EA0E9FB2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965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301AA81-85A7-4AE6-855A-B7FAFC2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22C34202-787D-471B-A284-ACCC756812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1EC97-D276-47CC-8BCE-536F1F2DE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BB0E528-3994-4676-887A-B2A86503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E8C9-A9C3-4798-8CE0-26142FD84B4C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6F8D4F5-69B2-48CF-8BDC-B697627D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82F01CB-0761-41F7-8BEE-B0F85FED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46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464E48-B581-40BF-93D5-83DB4EF0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8DE2AE1-7C63-4442-A208-DCBD9176B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D5D391E-E8C8-4EFD-A5DB-00E6119B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BE2F6-B0D3-466A-82B2-ABEFC48B3338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B0928B0-4D02-44C8-920F-49E2F7BC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C429E5E-68EC-41B2-AE5E-558FC8C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952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65135BA-1892-4F5F-8BA9-43936E428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50FD219-85BA-47CA-A367-05D50FA0A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09665D-BCE3-4A48-924C-7D65F09B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DA87-581A-4368-87FF-97BD13CE399D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D371709-9056-443A-A027-801FA2BC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C65B05A-913F-4031-B997-C3A362DE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554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A6C3BC26-C104-4EB0-B9AE-2A85E9E4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C32949E-5E5C-466F-9E49-642FDBDE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A77896-A215-4959-99FB-F4F26F14B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E2CA6-4B42-4742-895B-98FFB0FAE4AD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3128FEA-EA3A-4D0B-874A-417C16006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E48E849-C77C-466C-BFCD-EA23E387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335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8CA5-BB6A-5EBC-38F7-2567029A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485263" cy="2387600"/>
          </a:xfrm>
        </p:spPr>
        <p:txBody>
          <a:bodyPr>
            <a:normAutofit fontScale="90000"/>
          </a:bodyPr>
          <a:lstStyle/>
          <a:p>
            <a:pPr algn="l"/>
            <a:br>
              <a:rPr lang="en-VN"/>
            </a:br>
            <a:r>
              <a:rPr lang="en-VN"/>
              <a:t>Programming for quantum computers: Basic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A6EE0-2E06-0718-5C73-69B070818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VN"/>
              <a:t>Vu Tuan Hai</a:t>
            </a:r>
          </a:p>
          <a:p>
            <a:pPr algn="l"/>
            <a:r>
              <a:rPr lang="en-VN"/>
              <a:t>haivt@uit.edu.vn</a:t>
            </a:r>
          </a:p>
          <a:p>
            <a:pPr algn="l"/>
            <a:r>
              <a:rPr lang="en-VN"/>
              <a:t>SE-UIT-VNUHCM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1614-B956-B316-5EB9-69023E12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B9E5-D81C-FE46-A488-49ADE3951462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1957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D509A4C-CC42-46BE-AA7C-CAF54A92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Concepts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8D2A3A1-5F0E-44D1-B5DE-C0E256E2E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From deterministic to non-deterministic</a:t>
            </a:r>
          </a:p>
          <a:p>
            <a:pPr marL="0" indent="0">
              <a:buNone/>
            </a:pPr>
            <a:r>
              <a:rPr lang="en-US"/>
              <a:t>From certainly to uncertainty</a:t>
            </a:r>
          </a:p>
          <a:p>
            <a:pPr marL="0" indent="0">
              <a:buNone/>
            </a:pPr>
            <a:r>
              <a:rPr lang="en-US"/>
              <a:t>From local to non-local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E764D62-C97C-4E94-A521-C1F7D3D7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1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Bit with value 0, is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/>
                  <a:t> (Dirac vector notation)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Bit with value 1, is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(Dirac vector notation)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FA02D45-3F64-4C9F-B6F4-AADCB1ED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216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To change the values of bit, we use operators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Operator can be written as matrix: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Identity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Negation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C5ED45-27A3-4851-88AE-FDAB9B38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997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algebra: bra-ket notation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means a column vector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means the conjugate transpose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, </a:t>
                </a:r>
              </a:p>
              <a:p>
                <a:pPr marL="0" indent="0">
                  <a:buNone/>
                </a:pPr>
                <a:r>
                  <a:rPr lang="en-US"/>
                  <a:t>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751EEE7-FA24-4E06-8AE1-D9983889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848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algebra: bra-ket notation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the inner product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is the outer product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𝑛𝑥𝑚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the tensor product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E274350-A197-45BB-9BEF-71E410B1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846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algebra: multi-bit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case of multi bit, we use tensor product.</a:t>
                </a:r>
              </a:p>
              <a:p>
                <a:pPr marL="0" indent="0">
                  <a:buNone/>
                </a:pPr>
                <a:r>
                  <a:rPr lang="en-US"/>
                  <a:t>Example: Bit 00 is written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⊗|0⟩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Size of vector: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the number of bit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00A7820-939B-4305-A6A0-39D88A56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247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E76360-1A08-46BA-BAA5-EA50246A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Basis linear algebra: operation on multi-bit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Example: CNOT operation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𝐶𝑁𝑂𝑇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𝐶𝑁𝑂𝑇</m:t>
                    </m:r>
                    <m:d>
                      <m:dPr>
                        <m:begChr m:val="|"/>
                        <m:endChr m:val="⟩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=|01⟩</m:t>
                    </m:r>
                  </m:oMath>
                </a14:m>
                <a:r>
                  <a:rPr lang="en-US" sz="2100"/>
                  <a:t>,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𝐶𝑁𝑂𝑇</m:t>
                    </m:r>
                    <m:d>
                      <m:dPr>
                        <m:begChr m:val="|"/>
                        <m:endChr m:val="⟩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=|10⟩</m:t>
                    </m:r>
                  </m:oMath>
                </a14:m>
                <a:endParaRPr lang="en-US" sz="2100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DB2C368-93B2-414F-AA33-DF73FE221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Bảng 4">
                <a:extLst>
                  <a:ext uri="{FF2B5EF4-FFF2-40B4-BE49-F238E27FC236}">
                    <a16:creationId xmlns:a16="http://schemas.microsoft.com/office/drawing/2014/main" id="{FF9FE1E8-E70C-4FCB-A020-B88EA4BF57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711140"/>
                  </p:ext>
                </p:extLst>
              </p:nvPr>
            </p:nvGraphicFramePr>
            <p:xfrm>
              <a:off x="9029503" y="1825625"/>
              <a:ext cx="2456376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8188">
                      <a:extLst>
                        <a:ext uri="{9D8B030D-6E8A-4147-A177-3AD203B41FA5}">
                          <a16:colId xmlns:a16="http://schemas.microsoft.com/office/drawing/2014/main" val="1275409585"/>
                        </a:ext>
                      </a:extLst>
                    </a:gridCol>
                    <a:gridCol w="1228188">
                      <a:extLst>
                        <a:ext uri="{9D8B030D-6E8A-4147-A177-3AD203B41FA5}">
                          <a16:colId xmlns:a16="http://schemas.microsoft.com/office/drawing/2014/main" val="40972487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101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00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00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42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6225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415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1753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Bảng 4">
                <a:extLst>
                  <a:ext uri="{FF2B5EF4-FFF2-40B4-BE49-F238E27FC236}">
                    <a16:creationId xmlns:a16="http://schemas.microsoft.com/office/drawing/2014/main" id="{FF9FE1E8-E70C-4FCB-A020-B88EA4BF57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711140"/>
                  </p:ext>
                </p:extLst>
              </p:nvPr>
            </p:nvGraphicFramePr>
            <p:xfrm>
              <a:off x="9029503" y="1825625"/>
              <a:ext cx="2456376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8188">
                      <a:extLst>
                        <a:ext uri="{9D8B030D-6E8A-4147-A177-3AD203B41FA5}">
                          <a16:colId xmlns:a16="http://schemas.microsoft.com/office/drawing/2014/main" val="1275409585"/>
                        </a:ext>
                      </a:extLst>
                    </a:gridCol>
                    <a:gridCol w="1228188">
                      <a:extLst>
                        <a:ext uri="{9D8B030D-6E8A-4147-A177-3AD203B41FA5}">
                          <a16:colId xmlns:a16="http://schemas.microsoft.com/office/drawing/2014/main" val="40972487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3"/>
                          <a:stretch>
                            <a:fillRect l="-495" t="-1639" r="-10099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3"/>
                          <a:stretch>
                            <a:fillRect l="-100495" t="-1639" r="-990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101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00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00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42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6225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415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1753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D3B0536-19D8-439C-89DE-9EFEFA5D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059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Qubit, superposition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The bit vector that we have been using are the special of qubit (quantum bit).</a:t>
                </a:r>
              </a:p>
              <a:p>
                <a:pPr marL="0" indent="0">
                  <a:buNone/>
                </a:pPr>
                <a:r>
                  <a:rPr lang="en-US"/>
                  <a:t>A qubit is the vector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3F9C1F8-12D5-4737-AC31-888FFA1A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709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Qubit, superposition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What’s it means?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It’s means this qubit is 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at the same time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4361294-7D11-4127-9D56-EF0E8FBD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352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Qubit, superposition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6948" y="1825625"/>
                <a:ext cx="595685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For 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Has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change of collapsing to 0 or 1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6948" y="1825625"/>
                <a:ext cx="5956852" cy="4351338"/>
              </a:xfrm>
              <a:blipFill>
                <a:blip r:embed="rId2"/>
                <a:stretch>
                  <a:fillRect l="-2045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A676CEB0-ED7F-4E59-9426-EB39442E3933}"/>
                  </a:ext>
                </a:extLst>
              </p:cNvPr>
              <p:cNvSpPr txBox="1"/>
              <p:nvPr/>
            </p:nvSpPr>
            <p:spPr>
              <a:xfrm>
                <a:off x="838200" y="1742574"/>
                <a:ext cx="455874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vi-V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4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vi-V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"/>
                          <m:endChr m:val="⟩"/>
                          <m:ctrlPr>
                            <a:rPr lang="vi-VN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4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vi-VN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vi-V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vi-V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begChr m:val=""/>
                          <m:endChr m:val="⟩"/>
                          <m:ctrlPr>
                            <a:rPr lang="vi-VN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4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vi-VN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vi-VN" sz="4000" dirty="0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A676CEB0-ED7F-4E59-9426-EB39442E3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42574"/>
                <a:ext cx="4558748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A350EFA9-BD70-4868-97FA-44EEEF776B20}"/>
              </a:ext>
            </a:extLst>
          </p:cNvPr>
          <p:cNvCxnSpPr>
            <a:cxnSpLocks/>
          </p:cNvCxnSpPr>
          <p:nvPr/>
        </p:nvCxnSpPr>
        <p:spPr>
          <a:xfrm>
            <a:off x="2027585" y="2933129"/>
            <a:ext cx="0" cy="1486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4501B77-4972-4D54-B60C-6317B56BFEF6}"/>
              </a:ext>
            </a:extLst>
          </p:cNvPr>
          <p:cNvSpPr txBox="1"/>
          <p:nvPr/>
        </p:nvSpPr>
        <p:spPr>
          <a:xfrm>
            <a:off x="2348950" y="3192032"/>
            <a:ext cx="2180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measure</a:t>
            </a:r>
            <a:endParaRPr lang="vi-VN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8C8E18E-2D38-4520-99E7-42BBF8F3EE81}"/>
                  </a:ext>
                </a:extLst>
              </p:cNvPr>
              <p:cNvSpPr txBox="1"/>
              <p:nvPr/>
            </p:nvSpPr>
            <p:spPr>
              <a:xfrm>
                <a:off x="1129748" y="4853524"/>
                <a:ext cx="45587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vi-V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libri (Thân)"/>
                    <a:ea typeface="Cambria Math" panose="02040503050406030204" pitchFamily="18" charset="0"/>
                  </a:rPr>
                  <a:t>prob receive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libri (Thân)"/>
                    <a:ea typeface="Cambria Math" panose="02040503050406030204" pitchFamily="18" charset="0"/>
                  </a:rPr>
                  <a:t>prob receive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vi-VN" sz="2800" dirty="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8C8E18E-2D38-4520-99E7-42BBF8F3E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48" y="4853524"/>
                <a:ext cx="4558748" cy="954107"/>
              </a:xfrm>
              <a:prstGeom prst="rect">
                <a:avLst/>
              </a:prstGeom>
              <a:blipFill>
                <a:blip r:embed="rId4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817385A6-1308-42FF-8B91-524D5621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617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Qubit, superposition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In case of multiqubit: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There is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/>
                  <a:t> change each of collapsing 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,|10⟩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399F8C3-0427-4E62-8A17-E42276A0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1510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CF2E88-C435-4E49-9DD1-ADBFBB92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2.1. Rule of measurements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B335CE8-D9B8-418C-B58B-63C51B05C6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We can get information from quantum system through an observable: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vi-VN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vi-VN" b="0" i="1">
                        <a:latin typeface="Cambria Math" panose="02040503050406030204" pitchFamily="18" charset="0"/>
                      </a:rPr>
                      <m:t>=|0⟩⟨0|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B335CE8-D9B8-418C-B58B-63C51B05C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17AACA9-5762-4DBE-8994-EFB7897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618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8747-B43E-A44B-8D3E-7FA06F53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08F3032-453F-6538-4A57-9EFC5747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2.1. Rule of measurements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682813-B757-2AE8-308D-612D10B64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There is a simple rule for measurement. To find the probability of measuring a state 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 the state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(Here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endChr m:val="⟩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1⟩)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0⟩+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1⟩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(|0⟩)=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 (note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,|1⟩</m:t>
                        </m:r>
                      </m:e>
                    </m:d>
                  </m:oMath>
                </a14:m>
                <a:r>
                  <a:rPr lang="en-US"/>
                  <a:t> is the canonical basis in case 1 qubit)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r>
                  <a:rPr lang="en-US"/>
                  <a:t> denotes for the probability of getting 0 value when measurement, remember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not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B335CE8-D9B8-418C-B58B-63C51B05C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7EC1B1B-3BFD-FAA4-15AE-E8702702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4620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D6E00A-3973-4628-BF4C-39F3DDF3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The Implications of this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EAF35DE-6991-40FA-8EB8-E888F4E030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 sum of all probabilities must be 1 (of course!), that means: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explains why you have seen the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EAF35DE-6991-40FA-8EB8-E888F4E030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C4159B9-84B9-4909-A602-AE2869B3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1618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BF2C80-C972-4EEB-BC1B-D266DE9E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The global phase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6661845-B70A-4B5D-B31D-177BA05AF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We know that measuring the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will give us the output 1 with certainty. But we are also able to write down states such as: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vi-VN"/>
              </a:p>
              <a:p>
                <a:pPr marL="0" indent="0">
                  <a:buNone/>
                </a:pPr>
                <a:endParaRPr lang="vi-V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is disappears, this implies that these two states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are equivalent in all ways that are physically relevant.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6661845-B70A-4B5D-B31D-177BA05AF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FC02F79-ACB3-4844-890E-7DA3252E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4673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BF2C80-C972-4EEB-BC1B-D266DE9E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The global phase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6661845-B70A-4B5D-B31D-177BA05AF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In overall, taking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vi-VN">
                    <a:latin typeface="Calibri (Thân)"/>
                  </a:rPr>
                  <a:t> such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vi-VN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vi-VN">
                    <a:latin typeface="Calibri (Thân)"/>
                  </a:rPr>
                  <a:t> is call “the global phase”)</a:t>
                </a:r>
              </a:p>
              <a:p>
                <a:pPr marL="0" indent="0">
                  <a:buNone/>
                </a:pPr>
                <a:endParaRPr lang="vi-V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Global phases are artefacts of the mathematical framework you are using, and have no physical meaning.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On the other hand, we have the concept “relative phase”. </a:t>
                </a:r>
                <a:r>
                  <a:rPr lang="en-US" b="0" i="0">
                    <a:solidFill>
                      <a:srgbClr val="232629"/>
                    </a:solidFill>
                    <a:effectLst/>
                    <a:latin typeface="-apple-system"/>
                  </a:rPr>
                  <a:t>States differing by a relative phase are different systems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6661845-B70A-4B5D-B31D-177BA05AF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1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FC02F79-ACB3-4844-890E-7DA3252E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048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4EE919-3D60-4E79-85E7-BBA431A5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Bloch sphere</a:t>
            </a:r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FEB65C1-04CA-48D5-B90A-45A522C9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18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D48CC6E-7AA4-4E09-8F0E-1B98AECE2956}"/>
                  </a:ext>
                </a:extLst>
              </p:cNvPr>
              <p:cNvSpPr txBox="1"/>
              <p:nvPr/>
            </p:nvSpPr>
            <p:spPr>
              <a:xfrm>
                <a:off x="838200" y="1911361"/>
                <a:ext cx="10134600" cy="4564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i="0">
                    <a:solidFill>
                      <a:srgbClr val="000000"/>
                    </a:solidFill>
                    <a:effectLst/>
                    <a:latin typeface="Calibri (Thân)"/>
                  </a:rPr>
                  <a:t>Firstly, since we cannot measure global phase, we can only measure the difference in phase between the states 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2800" b="0" i="0">
                    <a:solidFill>
                      <a:srgbClr val="000000"/>
                    </a:solidFill>
                    <a:effectLst/>
                    <a:latin typeface="Calibri (Thân)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800">
                    <a:latin typeface="Calibri (Thân)"/>
                  </a:rPr>
                  <a:t>.</a:t>
                </a:r>
              </a:p>
              <a:p>
                <a:endParaRPr lang="en-US" sz="2800">
                  <a:latin typeface="Calibri (Thân)"/>
                </a:endParaRPr>
              </a:p>
              <a:p>
                <a:r>
                  <a:rPr lang="en-US" sz="2800">
                    <a:latin typeface="Calibri (Thân)"/>
                  </a:rPr>
                  <a:t>Rewrite: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>
                  <a:latin typeface="Calibri (Thân)"/>
                </a:endParaRPr>
              </a:p>
              <a:p>
                <a:endParaRPr lang="en-US" sz="2800">
                  <a:latin typeface="Calibri (Thân)"/>
                </a:endParaRPr>
              </a:p>
              <a:p>
                <a:r>
                  <a:rPr lang="en-US" sz="2800">
                    <a:latin typeface="Calibri (Thân)"/>
                  </a:rPr>
                  <a:t>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800">
                    <a:latin typeface="Calibri (Thân)"/>
                  </a:rPr>
                  <a:t>:</a:t>
                </a:r>
              </a:p>
              <a:p>
                <a:endParaRPr lang="en-US" sz="2800">
                  <a:latin typeface="Calibri (Thân)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>
                  <a:latin typeface="Calibri (Thân)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D48CC6E-7AA4-4E09-8F0E-1B98AECE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11361"/>
                <a:ext cx="10134600" cy="4564968"/>
              </a:xfrm>
              <a:prstGeom prst="rect">
                <a:avLst/>
              </a:prstGeom>
              <a:blipFill>
                <a:blip r:embed="rId2"/>
                <a:stretch>
                  <a:fillRect l="-1264" t="-1337" r="-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44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4EE919-3D60-4E79-85E7-BBA431A5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Bloch sphere</a:t>
            </a:r>
            <a:endParaRPr lang="en-US" dirty="0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4F96CFB8-34E0-4DD2-803D-D2ACF3D5D84C}"/>
              </a:ext>
            </a:extLst>
          </p:cNvPr>
          <p:cNvSpPr/>
          <p:nvPr/>
        </p:nvSpPr>
        <p:spPr>
          <a:xfrm>
            <a:off x="7258054" y="2024212"/>
            <a:ext cx="3670300" cy="35710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4B8F39B6-F1F6-4E2E-9900-E13433998FAD}"/>
              </a:ext>
            </a:extLst>
          </p:cNvPr>
          <p:cNvSpPr/>
          <p:nvPr/>
        </p:nvSpPr>
        <p:spPr>
          <a:xfrm>
            <a:off x="7258054" y="3251000"/>
            <a:ext cx="3670300" cy="1117515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A28DD594-33AC-4FF0-9D95-E4B34FCC9225}"/>
              </a:ext>
            </a:extLst>
          </p:cNvPr>
          <p:cNvCxnSpPr>
            <a:cxnSpLocks/>
            <a:stCxn id="11" idx="6"/>
          </p:cNvCxnSpPr>
          <p:nvPr/>
        </p:nvCxnSpPr>
        <p:spPr>
          <a:xfrm flipH="1">
            <a:off x="9093204" y="3809758"/>
            <a:ext cx="1835150" cy="5154"/>
          </a:xfrm>
          <a:prstGeom prst="line">
            <a:avLst/>
          </a:prstGeom>
          <a:ln>
            <a:prstDash val="lg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ng 12">
            <a:extLst>
              <a:ext uri="{FF2B5EF4-FFF2-40B4-BE49-F238E27FC236}">
                <a16:creationId xmlns:a16="http://schemas.microsoft.com/office/drawing/2014/main" id="{3C68A4D0-3ACF-435B-B9B0-E406BE3DF3D4}"/>
              </a:ext>
            </a:extLst>
          </p:cNvPr>
          <p:cNvSpPr/>
          <p:nvPr/>
        </p:nvSpPr>
        <p:spPr>
          <a:xfrm rot="10800000">
            <a:off x="7258052" y="3294127"/>
            <a:ext cx="3670298" cy="1074386"/>
          </a:xfrm>
          <a:prstGeom prst="arc">
            <a:avLst>
              <a:gd name="adj1" fmla="val 10833218"/>
              <a:gd name="adj2" fmla="val 21579484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Đường nối Thẳng 13">
            <a:extLst>
              <a:ext uri="{FF2B5EF4-FFF2-40B4-BE49-F238E27FC236}">
                <a16:creationId xmlns:a16="http://schemas.microsoft.com/office/drawing/2014/main" id="{3D31073B-494E-460F-A3CC-B4D5FFDA1387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9093204" y="2024212"/>
            <a:ext cx="0" cy="1785546"/>
          </a:xfrm>
          <a:prstGeom prst="line">
            <a:avLst/>
          </a:prstGeom>
          <a:ln>
            <a:prstDash val="lg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77E42683-4928-4A96-95A0-C0DCCCF95EC6}"/>
              </a:ext>
            </a:extLst>
          </p:cNvPr>
          <p:cNvCxnSpPr>
            <a:cxnSpLocks/>
          </p:cNvCxnSpPr>
          <p:nvPr/>
        </p:nvCxnSpPr>
        <p:spPr>
          <a:xfrm flipV="1">
            <a:off x="8159754" y="3809758"/>
            <a:ext cx="933450" cy="434581"/>
          </a:xfrm>
          <a:prstGeom prst="line">
            <a:avLst/>
          </a:prstGeom>
          <a:ln>
            <a:prstDash val="lg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E46E2B58-7216-4CB4-8078-C5EA56B98AD4}"/>
                  </a:ext>
                </a:extLst>
              </p:cNvPr>
              <p:cNvSpPr txBox="1"/>
              <p:nvPr/>
            </p:nvSpPr>
            <p:spPr>
              <a:xfrm>
                <a:off x="8924926" y="1542029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E46E2B58-7216-4CB4-8078-C5EA56B98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926" y="1542029"/>
                <a:ext cx="3365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5EC15733-51AA-4905-B842-CE766DCC17DA}"/>
                  </a:ext>
                </a:extLst>
              </p:cNvPr>
              <p:cNvSpPr txBox="1"/>
              <p:nvPr/>
            </p:nvSpPr>
            <p:spPr>
              <a:xfrm>
                <a:off x="7823203" y="4206941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5EC15733-51AA-4905-B842-CE766DCC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203" y="4206941"/>
                <a:ext cx="3365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F678FDA-9CF0-4E69-89A4-9ABF424FBFF8}"/>
                  </a:ext>
                </a:extLst>
              </p:cNvPr>
              <p:cNvSpPr txBox="1"/>
              <p:nvPr/>
            </p:nvSpPr>
            <p:spPr>
              <a:xfrm>
                <a:off x="11017250" y="3625091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F678FDA-9CF0-4E69-89A4-9ABF424FB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7250" y="3625091"/>
                <a:ext cx="33655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901890CD-7331-43C4-84B5-42C7F86A1248}"/>
              </a:ext>
            </a:extLst>
          </p:cNvPr>
          <p:cNvCxnSpPr>
            <a:cxnSpLocks/>
          </p:cNvCxnSpPr>
          <p:nvPr/>
        </p:nvCxnSpPr>
        <p:spPr>
          <a:xfrm>
            <a:off x="8813245" y="2425101"/>
            <a:ext cx="279951" cy="1384655"/>
          </a:xfrm>
          <a:prstGeom prst="line">
            <a:avLst/>
          </a:prstGeom>
          <a:ln w="38100">
            <a:prstDash val="lg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E9B724F3-45D7-474A-BC78-8B60502B684D}"/>
                  </a:ext>
                </a:extLst>
              </p:cNvPr>
              <p:cNvSpPr txBox="1"/>
              <p:nvPr/>
            </p:nvSpPr>
            <p:spPr>
              <a:xfrm>
                <a:off x="8007354" y="1687999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E9B724F3-45D7-474A-BC78-8B60502B6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354" y="1687999"/>
                <a:ext cx="336550" cy="369332"/>
              </a:xfrm>
              <a:prstGeom prst="rect">
                <a:avLst/>
              </a:prstGeom>
              <a:blipFill>
                <a:blip r:embed="rId5"/>
                <a:stretch>
                  <a:fillRect l="-5455" r="-56364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087E39DB-4C33-49EA-945B-E26319475F21}"/>
              </a:ext>
            </a:extLst>
          </p:cNvPr>
          <p:cNvCxnSpPr>
            <a:cxnSpLocks/>
            <a:stCxn id="10" idx="4"/>
          </p:cNvCxnSpPr>
          <p:nvPr/>
        </p:nvCxnSpPr>
        <p:spPr>
          <a:xfrm flipH="1" flipV="1">
            <a:off x="9093196" y="3809756"/>
            <a:ext cx="8" cy="1785548"/>
          </a:xfrm>
          <a:prstGeom prst="line">
            <a:avLst/>
          </a:prstGeom>
          <a:ln>
            <a:prstDash val="lg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Hộp Văn bản 23">
                <a:extLst>
                  <a:ext uri="{FF2B5EF4-FFF2-40B4-BE49-F238E27FC236}">
                    <a16:creationId xmlns:a16="http://schemas.microsoft.com/office/drawing/2014/main" id="{C15F3C19-0C8B-4452-AC0A-7D1B905B3E94}"/>
                  </a:ext>
                </a:extLst>
              </p:cNvPr>
              <p:cNvSpPr txBox="1"/>
              <p:nvPr/>
            </p:nvSpPr>
            <p:spPr>
              <a:xfrm>
                <a:off x="8868086" y="1076714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Hộp Văn bản 23">
                <a:extLst>
                  <a:ext uri="{FF2B5EF4-FFF2-40B4-BE49-F238E27FC236}">
                    <a16:creationId xmlns:a16="http://schemas.microsoft.com/office/drawing/2014/main" id="{C15F3C19-0C8B-4452-AC0A-7D1B905B3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086" y="1076714"/>
                <a:ext cx="336550" cy="369332"/>
              </a:xfrm>
              <a:prstGeom prst="rect">
                <a:avLst/>
              </a:prstGeom>
              <a:blipFill>
                <a:blip r:embed="rId6"/>
                <a:stretch>
                  <a:fillRect l="-41818" t="-121667" r="-160000" b="-18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Hộp Văn bản 24">
                <a:extLst>
                  <a:ext uri="{FF2B5EF4-FFF2-40B4-BE49-F238E27FC236}">
                    <a16:creationId xmlns:a16="http://schemas.microsoft.com/office/drawing/2014/main" id="{8A50602C-9FE1-4B4F-8B92-C78FAB5C726C}"/>
                  </a:ext>
                </a:extLst>
              </p:cNvPr>
              <p:cNvSpPr txBox="1"/>
              <p:nvPr/>
            </p:nvSpPr>
            <p:spPr>
              <a:xfrm>
                <a:off x="8924926" y="5804138"/>
                <a:ext cx="33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|1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Hộp Văn bản 24">
                <a:extLst>
                  <a:ext uri="{FF2B5EF4-FFF2-40B4-BE49-F238E27FC236}">
                    <a16:creationId xmlns:a16="http://schemas.microsoft.com/office/drawing/2014/main" id="{8A50602C-9FE1-4B4F-8B92-C78FAB5C7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926" y="5804138"/>
                <a:ext cx="336550" cy="369332"/>
              </a:xfrm>
              <a:prstGeom prst="rect">
                <a:avLst/>
              </a:prstGeom>
              <a:blipFill>
                <a:blip r:embed="rId7"/>
                <a:stretch>
                  <a:fillRect l="-40000" t="-119672" r="-161818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FEB65C1-04CA-48D5-B90A-45A522C9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19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D48CC6E-7AA4-4E09-8F0E-1B98AECE2956}"/>
                  </a:ext>
                </a:extLst>
              </p:cNvPr>
              <p:cNvSpPr txBox="1"/>
              <p:nvPr/>
            </p:nvSpPr>
            <p:spPr>
              <a:xfrm>
                <a:off x="838200" y="1911361"/>
                <a:ext cx="604873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We interpret 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/>
                  <a:t> and 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/>
                  <a:t> as spherical co-ordinates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/>
                  <a:t>, since the magnitude of the qubit state is 1)</a:t>
                </a:r>
                <a:endParaRPr lang="en-US" sz="2800">
                  <a:latin typeface="Calibri (Thân)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D48CC6E-7AA4-4E09-8F0E-1B98AECE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11361"/>
                <a:ext cx="6048739" cy="1384995"/>
              </a:xfrm>
              <a:prstGeom prst="rect">
                <a:avLst/>
              </a:prstGeom>
              <a:blipFill>
                <a:blip r:embed="rId8"/>
                <a:stretch>
                  <a:fillRect l="-2117" t="-4405" b="-1189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Đường nối Thẳng 6">
            <a:extLst>
              <a:ext uri="{FF2B5EF4-FFF2-40B4-BE49-F238E27FC236}">
                <a16:creationId xmlns:a16="http://schemas.microsoft.com/office/drawing/2014/main" id="{019171D0-E882-4064-BCF3-FFE146BB84D6}"/>
              </a:ext>
            </a:extLst>
          </p:cNvPr>
          <p:cNvCxnSpPr>
            <a:cxnSpLocks/>
          </p:cNvCxnSpPr>
          <p:nvPr/>
        </p:nvCxnSpPr>
        <p:spPr>
          <a:xfrm>
            <a:off x="8813245" y="2425101"/>
            <a:ext cx="0" cy="17818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nối Thẳng 29">
            <a:extLst>
              <a:ext uri="{FF2B5EF4-FFF2-40B4-BE49-F238E27FC236}">
                <a16:creationId xmlns:a16="http://schemas.microsoft.com/office/drawing/2014/main" id="{0143AA01-ED6F-47FF-A11B-A2B60ED408B2}"/>
              </a:ext>
            </a:extLst>
          </p:cNvPr>
          <p:cNvCxnSpPr>
            <a:cxnSpLocks/>
          </p:cNvCxnSpPr>
          <p:nvPr/>
        </p:nvCxnSpPr>
        <p:spPr>
          <a:xfrm flipH="1">
            <a:off x="8813241" y="3809756"/>
            <a:ext cx="279956" cy="389754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D1AA96C3-DE62-4A2E-90F5-16617D8E6CB5}"/>
              </a:ext>
            </a:extLst>
          </p:cNvPr>
          <p:cNvSpPr/>
          <p:nvPr/>
        </p:nvSpPr>
        <p:spPr>
          <a:xfrm>
            <a:off x="8790381" y="417665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Cung 34">
            <a:extLst>
              <a:ext uri="{FF2B5EF4-FFF2-40B4-BE49-F238E27FC236}">
                <a16:creationId xmlns:a16="http://schemas.microsoft.com/office/drawing/2014/main" id="{066B6581-EFBF-42F1-968E-6EA3009F714C}"/>
              </a:ext>
            </a:extLst>
          </p:cNvPr>
          <p:cNvSpPr/>
          <p:nvPr/>
        </p:nvSpPr>
        <p:spPr>
          <a:xfrm rot="16200000">
            <a:off x="8794584" y="3637556"/>
            <a:ext cx="447986" cy="242707"/>
          </a:xfrm>
          <a:prstGeom prst="arc">
            <a:avLst>
              <a:gd name="adj1" fmla="val 11515020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Cung 35">
            <a:extLst>
              <a:ext uri="{FF2B5EF4-FFF2-40B4-BE49-F238E27FC236}">
                <a16:creationId xmlns:a16="http://schemas.microsoft.com/office/drawing/2014/main" id="{D63077FF-6AC3-48B7-8F08-078BD7F00581}"/>
              </a:ext>
            </a:extLst>
          </p:cNvPr>
          <p:cNvSpPr/>
          <p:nvPr/>
        </p:nvSpPr>
        <p:spPr>
          <a:xfrm rot="10596293">
            <a:off x="8729225" y="3846464"/>
            <a:ext cx="447986" cy="242707"/>
          </a:xfrm>
          <a:prstGeom prst="arc">
            <a:avLst>
              <a:gd name="adj1" fmla="val 18217005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9E3DD118-A799-43DE-9E05-DC455079BC40}"/>
                  </a:ext>
                </a:extLst>
              </p:cNvPr>
              <p:cNvSpPr txBox="1"/>
              <p:nvPr/>
            </p:nvSpPr>
            <p:spPr>
              <a:xfrm>
                <a:off x="8670923" y="3367982"/>
                <a:ext cx="3778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9E3DD118-A799-43DE-9E05-DC455079B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923" y="3367982"/>
                <a:ext cx="3778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56544845-EEB0-4CE5-8AC1-628C480A2BB7}"/>
                  </a:ext>
                </a:extLst>
              </p:cNvPr>
              <p:cNvSpPr txBox="1"/>
              <p:nvPr/>
            </p:nvSpPr>
            <p:spPr>
              <a:xfrm>
                <a:off x="8465182" y="3950446"/>
                <a:ext cx="3778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56544845-EEB0-4CE5-8AC1-628C480A2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182" y="3950446"/>
                <a:ext cx="377829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405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Operation on qubit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Notation: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EF1590D2-988D-430D-8C61-16B02A539FD8}"/>
              </a:ext>
            </a:extLst>
          </p:cNvPr>
          <p:cNvCxnSpPr/>
          <p:nvPr/>
        </p:nvCxnSpPr>
        <p:spPr>
          <a:xfrm flipV="1">
            <a:off x="4867422" y="5809957"/>
            <a:ext cx="225083" cy="267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90EA331B-2DCA-4D3C-AADF-B58273969513}"/>
              </a:ext>
            </a:extLst>
          </p:cNvPr>
          <p:cNvCxnSpPr>
            <a:cxnSpLocks/>
          </p:cNvCxnSpPr>
          <p:nvPr/>
        </p:nvCxnSpPr>
        <p:spPr>
          <a:xfrm flipV="1">
            <a:off x="5596598" y="5809957"/>
            <a:ext cx="0" cy="267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A4E50D56-AD00-46EF-BB31-4087D58717CD}"/>
              </a:ext>
            </a:extLst>
          </p:cNvPr>
          <p:cNvCxnSpPr>
            <a:cxnSpLocks/>
          </p:cNvCxnSpPr>
          <p:nvPr/>
        </p:nvCxnSpPr>
        <p:spPr>
          <a:xfrm flipH="1" flipV="1">
            <a:off x="6719669" y="5809957"/>
            <a:ext cx="257906" cy="267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332D707-C450-4B26-8FAE-8849A3D61065}"/>
              </a:ext>
            </a:extLst>
          </p:cNvPr>
          <p:cNvSpPr txBox="1"/>
          <p:nvPr/>
        </p:nvSpPr>
        <p:spPr>
          <a:xfrm>
            <a:off x="4206242" y="6127234"/>
            <a:ext cx="111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Operator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0451847A-8A29-4834-A145-CFE7DD3148CA}"/>
                  </a:ext>
                </a:extLst>
              </p:cNvPr>
              <p:cNvSpPr txBox="1"/>
              <p:nvPr/>
            </p:nvSpPr>
            <p:spPr>
              <a:xfrm>
                <a:off x="5317590" y="6127234"/>
                <a:ext cx="1111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State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0451847A-8A29-4834-A145-CFE7DD314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590" y="6127234"/>
                <a:ext cx="1111348" cy="369332"/>
              </a:xfrm>
              <a:prstGeom prst="rect">
                <a:avLst/>
              </a:prstGeom>
              <a:blipFill>
                <a:blip r:embed="rId3"/>
                <a:stretch>
                  <a:fillRect l="-4372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27200DF-5A58-4051-AC20-2373760CFE8B}"/>
                  </a:ext>
                </a:extLst>
              </p:cNvPr>
              <p:cNvSpPr txBox="1"/>
              <p:nvPr/>
            </p:nvSpPr>
            <p:spPr>
              <a:xfrm>
                <a:off x="6553203" y="6123543"/>
                <a:ext cx="1549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State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27200DF-5A58-4051-AC20-2373760CF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3" y="6123543"/>
                <a:ext cx="1549788" cy="369332"/>
              </a:xfrm>
              <a:prstGeom prst="rect">
                <a:avLst/>
              </a:prstGeom>
              <a:blipFill>
                <a:blip r:embed="rId4"/>
                <a:stretch>
                  <a:fillRect l="-3150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hỗ dành sẵn cho Số hiệu Bản chiếu 12">
            <a:extLst>
              <a:ext uri="{FF2B5EF4-FFF2-40B4-BE49-F238E27FC236}">
                <a16:creationId xmlns:a16="http://schemas.microsoft.com/office/drawing/2014/main" id="{8AFF9707-B404-4FA5-B2F7-99DCB217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6857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Important gates: Hadamard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Hadamard gate turns 0 or 1-bit into a superposition: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=|+⟩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−|1⟩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=|−⟩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hỗ dành sẵn cho Số hiệu Bản chiếu 12">
            <a:extLst>
              <a:ext uri="{FF2B5EF4-FFF2-40B4-BE49-F238E27FC236}">
                <a16:creationId xmlns:a16="http://schemas.microsoft.com/office/drawing/2014/main" id="{8AFF9707-B404-4FA5-B2F7-99DCB217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9028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BB785E-8EFC-419B-8A7E-35A86A9C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Important gates: Hadamard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Hadamard gate turns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|+⟩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|−⟩</m:t>
                    </m:r>
                  </m:oMath>
                </a14:m>
                <a:r>
                  <a:rPr lang="en-US"/>
                  <a:t> into a bit: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=|0⟩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92C77-C1BC-49D9-9456-76B49CBD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hỗ dành sẵn cho Số hiệu Bản chiếu 12">
            <a:extLst>
              <a:ext uri="{FF2B5EF4-FFF2-40B4-BE49-F238E27FC236}">
                <a16:creationId xmlns:a16="http://schemas.microsoft.com/office/drawing/2014/main" id="{8AFF9707-B404-4FA5-B2F7-99DCB217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22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A7938D23-231C-473E-BB0B-CF14861C1013}"/>
                  </a:ext>
                </a:extLst>
              </p14:cNvPr>
              <p14:cNvContentPartPr/>
              <p14:nvPr/>
            </p14:nvContentPartPr>
            <p14:xfrm>
              <a:off x="8050320" y="3729600"/>
              <a:ext cx="376920" cy="2062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A7938D23-231C-473E-BB0B-CF14861C10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0960" y="3720240"/>
                <a:ext cx="395640" cy="2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097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E4E18E0-60E2-4B72-98FE-5884C2B7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Quantum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23CE37B-9D80-4684-BFC9-794B13A44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All quantum gates are Hermitian (some are Unitary)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That cause: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23CE37B-9D80-4684-BFC9-794B13A44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18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7A4FBE7-B3A3-4A0D-9EE8-C1FAE108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317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349CDA-4D70-403E-98CF-0DEFD550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2.6. Pratical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AE5AF3D-EF79-4A06-B7C0-54FF76FE5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𝐻𝑍𝐻</m:t>
                    </m:r>
                  </m:oMath>
                </a14:m>
                <a:r>
                  <a:rPr lang="en-US"/>
                  <a:t> equivalent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gate?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AE5AF3D-EF79-4A06-B7C0-54FF76FE5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3302DA7-E3C3-4D5C-9D47-A0E8E857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001851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1185</Words>
  <Application>Microsoft Macintosh PowerPoint</Application>
  <PresentationFormat>Widescreen</PresentationFormat>
  <Paragraphs>211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-apple-system</vt:lpstr>
      <vt:lpstr>Arial</vt:lpstr>
      <vt:lpstr>Calibri (Thân)</vt:lpstr>
      <vt:lpstr>Cambria Math</vt:lpstr>
      <vt:lpstr>Times New Roman</vt:lpstr>
      <vt:lpstr>Chủ đề Office</vt:lpstr>
      <vt:lpstr> Programming for quantum computers: Basic concepts</vt:lpstr>
      <vt:lpstr>Concepts</vt:lpstr>
      <vt:lpstr>1. Basis linear algebra </vt:lpstr>
      <vt:lpstr>1. Basis linear algebra </vt:lpstr>
      <vt:lpstr>1. Basis linear algebra: bra-ket notation </vt:lpstr>
      <vt:lpstr>1. Basis linear algebra: bra-ket notation </vt:lpstr>
      <vt:lpstr>1. Basis linear algebra: multi-bit </vt:lpstr>
      <vt:lpstr>1. Basis linear algebra: operation on multi-bit </vt:lpstr>
      <vt:lpstr>2. Qubit, superposition</vt:lpstr>
      <vt:lpstr>2. Qubit, superposition</vt:lpstr>
      <vt:lpstr>2. Qubit, superposition</vt:lpstr>
      <vt:lpstr>2. Qubit, superposition</vt:lpstr>
      <vt:lpstr>2.1. Rule of measurements</vt:lpstr>
      <vt:lpstr>2.1. Rule of measurements</vt:lpstr>
      <vt:lpstr>2.2. The Implications of this Rule</vt:lpstr>
      <vt:lpstr>2.3. The global phase</vt:lpstr>
      <vt:lpstr>2.3. The global phase</vt:lpstr>
      <vt:lpstr>2.4. Bloch sphere</vt:lpstr>
      <vt:lpstr>2.4. Bloch sphere</vt:lpstr>
      <vt:lpstr>2.5. Operation on qubit</vt:lpstr>
      <vt:lpstr>2.5. Important gates: Hadamard gate</vt:lpstr>
      <vt:lpstr>2.5. Important gates: Hadamard gate</vt:lpstr>
      <vt:lpstr>2.5. Quantum gate</vt:lpstr>
      <vt:lpstr>2.6. Pratical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</dc:title>
  <dc:creator>Tuan Hai</dc:creator>
  <cp:lastModifiedBy>Nguyễn Thị Lê Thủy</cp:lastModifiedBy>
  <cp:revision>39</cp:revision>
  <dcterms:created xsi:type="dcterms:W3CDTF">2021-10-22T13:04:24Z</dcterms:created>
  <dcterms:modified xsi:type="dcterms:W3CDTF">2025-12-22T08:52:56Z</dcterms:modified>
</cp:coreProperties>
</file>