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77" r:id="rId2"/>
    <p:sldId id="293" r:id="rId3"/>
    <p:sldId id="294" r:id="rId4"/>
    <p:sldId id="391" r:id="rId5"/>
    <p:sldId id="392" r:id="rId6"/>
    <p:sldId id="278" r:id="rId7"/>
    <p:sldId id="279" r:id="rId8"/>
    <p:sldId id="280" r:id="rId9"/>
    <p:sldId id="281" r:id="rId10"/>
    <p:sldId id="282" r:id="rId11"/>
    <p:sldId id="305" r:id="rId12"/>
    <p:sldId id="306" r:id="rId13"/>
    <p:sldId id="308" r:id="rId14"/>
    <p:sldId id="316" r:id="rId15"/>
    <p:sldId id="307" r:id="rId16"/>
    <p:sldId id="388" r:id="rId17"/>
    <p:sldId id="283" r:id="rId18"/>
    <p:sldId id="389" r:id="rId19"/>
    <p:sldId id="309" r:id="rId20"/>
    <p:sldId id="310" r:id="rId21"/>
    <p:sldId id="311" r:id="rId22"/>
    <p:sldId id="312" r:id="rId23"/>
    <p:sldId id="313" r:id="rId24"/>
    <p:sldId id="314" r:id="rId25"/>
    <p:sldId id="315" r:id="rId26"/>
    <p:sldId id="390" r:id="rId27"/>
    <p:sldId id="380" r:id="rId28"/>
    <p:sldId id="384" r:id="rId29"/>
    <p:sldId id="386" r:id="rId30"/>
    <p:sldId id="387" r:id="rId31"/>
    <p:sldId id="385" r:id="rId32"/>
    <p:sldId id="362" r:id="rId33"/>
    <p:sldId id="368" r:id="rId3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916"/>
    <p:restoredTop sz="94678"/>
  </p:normalViewPr>
  <p:slideViewPr>
    <p:cSldViewPr snapToGrid="0">
      <p:cViewPr>
        <p:scale>
          <a:sx n="96" d="100"/>
          <a:sy n="96" d="100"/>
        </p:scale>
        <p:origin x="344"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1084E-795F-47FF-83F0-D841C2E57933}" type="datetimeFigureOut">
              <a:rPr lang="vi-VN" smtClean="0"/>
              <a:t>12/10/26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33745-F2A1-44EF-888B-11DA8E4566A3}" type="slidenum">
              <a:rPr lang="vi-VN" smtClean="0"/>
              <a:t>‹#›</a:t>
            </a:fld>
            <a:endParaRPr lang="vi-VN"/>
          </a:p>
        </p:txBody>
      </p:sp>
    </p:spTree>
    <p:extLst>
      <p:ext uri="{BB962C8B-B14F-4D97-AF65-F5344CB8AC3E}">
        <p14:creationId xmlns:p14="http://schemas.microsoft.com/office/powerpoint/2010/main" val="2140671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Thị trường tính toán lượng tử hiện tại với tất cả các bên liên quan,</a:t>
            </a:r>
          </a:p>
          <a:p>
            <a:r>
              <a:rPr lang="en-VN"/>
              <a:t>Đầu tư chính là JPMorgan và bank of american</a:t>
            </a:r>
          </a:p>
          <a:p>
            <a:r>
              <a:rPr lang="en-VN"/>
              <a:t>AWS, GG và Microsoft đầu tư về hạ tầng, cloud, …</a:t>
            </a:r>
          </a:p>
          <a:p>
            <a:r>
              <a:rPr lang="en-VN"/>
              <a:t>IBM, NVIDIA, D</a:t>
            </a:r>
            <a:r>
              <a:rPr lang="en-US"/>
              <a:t>w</a:t>
            </a:r>
            <a:r>
              <a:rPr lang="en-VN"/>
              <a:t>ave phát triển phần cứng thật</a:t>
            </a:r>
          </a:p>
          <a:p>
            <a:r>
              <a:rPr lang="en-VN"/>
              <a:t>Các nhóm nghiên cứu khác, công ty khởi nghiệp, vv, … lo hoàn thiện software, os, … phục vụ developer / researcher</a:t>
            </a:r>
          </a:p>
        </p:txBody>
      </p:sp>
      <p:sp>
        <p:nvSpPr>
          <p:cNvPr id="4" name="Slide Number Placeholder 3"/>
          <p:cNvSpPr>
            <a:spLocks noGrp="1"/>
          </p:cNvSpPr>
          <p:nvPr>
            <p:ph type="sldNum" sz="quarter" idx="5"/>
          </p:nvPr>
        </p:nvSpPr>
        <p:spPr/>
        <p:txBody>
          <a:bodyPr/>
          <a:lstStyle/>
          <a:p>
            <a:fld id="{0448C276-9C15-A14A-885D-84569F0E8E5F}" type="slidenum">
              <a:rPr lang="en-VN"/>
              <a:t>2</a:t>
            </a:fld>
            <a:endParaRPr lang="en-VN"/>
          </a:p>
        </p:txBody>
      </p:sp>
    </p:spTree>
    <p:extLst>
      <p:ext uri="{BB962C8B-B14F-4D97-AF65-F5344CB8AC3E}">
        <p14:creationId xmlns:p14="http://schemas.microsoft.com/office/powerpoint/2010/main" val="3172831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a:solidFill>
                  <a:srgbClr val="E2E5E9"/>
                </a:solidFill>
                <a:effectLst/>
                <a:latin typeface="inherit"/>
              </a:rPr>
              <a:t>Thay vì cứ tống thật nhiều data vào một model, việc chọn đúng cấu trúc mô hình phù hợp với bản chất dữ liệu sẽ hợp lý hơn</a:t>
            </a:r>
          </a:p>
          <a:p>
            <a:pPr algn="l"/>
            <a:r>
              <a:rPr lang="vi-VN" b="0" i="0">
                <a:solidFill>
                  <a:srgbClr val="E2E5E9"/>
                </a:solidFill>
                <a:effectLst/>
                <a:latin typeface="inherit"/>
              </a:rPr>
              <a:t>Nghiên cứu [1] của nhóm Maria Schuld dùng chính cái "tính xấu" của lượng tử – sự phụ thuộc vào thứ tự đo đạc – để giải quyết bài toán classical AI.</a:t>
            </a:r>
          </a:p>
          <a:p>
            <a:pPr algn="l"/>
            <a:r>
              <a:rPr lang="vi-VN" b="0" i="0">
                <a:solidFill>
                  <a:srgbClr val="E2E5E9"/>
                </a:solidFill>
                <a:effectLst/>
                <a:latin typeface="inherit"/>
              </a:rPr>
              <a:t>Trong xác suất cổ điển, p(A x B) = p(B x A), thứ tự bị mất đi. Trên mạch lượng tử, việc đo đại lượng A rồi B (p(A x B)) thường không giống với việc đo B rồi A (p (B x A)) (Anti-commute).</a:t>
            </a:r>
          </a:p>
          <a:p>
            <a:pPr algn="l"/>
            <a:r>
              <a:rPr lang="vi-VN" b="0" i="0">
                <a:solidFill>
                  <a:srgbClr val="E2E5E9"/>
                </a:solidFill>
                <a:effectLst/>
                <a:latin typeface="inherit"/>
              </a:rPr>
              <a:t>Như vậy, nếu muốn model học được tính thứ tự của data, ta có thể dùng các phép đo lượng tử tuần tự làm cấu trúc cốt lõi của model (một cách tự nhiên)</a:t>
            </a:r>
          </a:p>
          <a:p>
            <a:pPr algn="l"/>
            <a:r>
              <a:rPr lang="vi-VN" b="0" i="0">
                <a:solidFill>
                  <a:srgbClr val="E2E5E9"/>
                </a:solidFill>
                <a:effectLst/>
                <a:latin typeface="inherit"/>
              </a:rPr>
              <a:t>Thay vì đo một lần, model thực hiện các phép đo liên tiếp trên cùng một trạng thái lượng tử. Mỗi phép đo "làm sụp đổ" hàm sóng và ảnh hưởng trực tiếp đến kết quả của phép đo sau. Model được huấn luyện để xử lý nhiều thứ tự câu hỏi cùng lúc. Khi đảo thứ tự các observable trong mạch, model tự động điều chỉnh xác suất sinh ra chuỗi kết quả tương ứng.</a:t>
            </a:r>
          </a:p>
          <a:p>
            <a:endParaRPr lang="vi-VN"/>
          </a:p>
        </p:txBody>
      </p:sp>
      <p:sp>
        <p:nvSpPr>
          <p:cNvPr id="4" name="Slide Number Placeholder 3"/>
          <p:cNvSpPr>
            <a:spLocks noGrp="1"/>
          </p:cNvSpPr>
          <p:nvPr>
            <p:ph type="sldNum" sz="quarter" idx="5"/>
          </p:nvPr>
        </p:nvSpPr>
        <p:spPr/>
        <p:txBody>
          <a:bodyPr/>
          <a:lstStyle/>
          <a:p>
            <a:fld id="{F02A4BF2-330F-0041-B456-2AF550CE6FFE}" type="slidenum">
              <a:rPr lang="vi-VN" smtClean="0"/>
              <a:t>30</a:t>
            </a:fld>
            <a:endParaRPr lang="vi-VN"/>
          </a:p>
        </p:txBody>
      </p:sp>
    </p:spTree>
    <p:extLst>
      <p:ext uri="{BB962C8B-B14F-4D97-AF65-F5344CB8AC3E}">
        <p14:creationId xmlns:p14="http://schemas.microsoft.com/office/powerpoint/2010/main" val="1913254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Supported by the universality theorem and rank representation theorem, QuanTA can represent arbitrary matrices effectively, allowing it to achieve performance comparable to or sometimes even better than full fine-tuning, with only a fraction of the parameters. Note: the performance graph is a conceptual illustration.</a:t>
            </a:r>
            <a:endParaRPr lang="vi-VN"/>
          </a:p>
        </p:txBody>
      </p:sp>
      <p:sp>
        <p:nvSpPr>
          <p:cNvPr id="4" name="Slide Number Placeholder 3"/>
          <p:cNvSpPr>
            <a:spLocks noGrp="1"/>
          </p:cNvSpPr>
          <p:nvPr>
            <p:ph type="sldNum" sz="quarter" idx="5"/>
          </p:nvPr>
        </p:nvSpPr>
        <p:spPr/>
        <p:txBody>
          <a:bodyPr/>
          <a:lstStyle/>
          <a:p>
            <a:fld id="{F02A4BF2-330F-0041-B456-2AF550CE6FFE}" type="slidenum">
              <a:rPr lang="vi-VN" smtClean="0"/>
              <a:t>31</a:t>
            </a:fld>
            <a:endParaRPr lang="vi-VN"/>
          </a:p>
        </p:txBody>
      </p:sp>
    </p:spTree>
    <p:extLst>
      <p:ext uri="{BB962C8B-B14F-4D97-AF65-F5344CB8AC3E}">
        <p14:creationId xmlns:p14="http://schemas.microsoft.com/office/powerpoint/2010/main" val="956108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79928F3-0DCA-4388-9BA7-AF4A414831C2}"/>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E44796EF-1F04-4AC3-8F51-E73A52D2EF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C478CA1F-ADDA-4801-B9A5-49B691C994B3}"/>
              </a:ext>
            </a:extLst>
          </p:cNvPr>
          <p:cNvSpPr>
            <a:spLocks noGrp="1"/>
          </p:cNvSpPr>
          <p:nvPr>
            <p:ph type="dt" sz="half" idx="10"/>
          </p:nvPr>
        </p:nvSpPr>
        <p:spPr/>
        <p:txBody>
          <a:bodyPr/>
          <a:lstStyle/>
          <a:p>
            <a:fld id="{B69E3218-0DF7-4F94-8A7C-FF02C56324C7}" type="datetime1">
              <a:rPr lang="vi-VN" smtClean="0"/>
              <a:t>12/10/26</a:t>
            </a:fld>
            <a:endParaRPr lang="vi-VN"/>
          </a:p>
        </p:txBody>
      </p:sp>
      <p:sp>
        <p:nvSpPr>
          <p:cNvPr id="5" name="Chỗ dành sẵn cho Chân trang 4">
            <a:extLst>
              <a:ext uri="{FF2B5EF4-FFF2-40B4-BE49-F238E27FC236}">
                <a16:creationId xmlns:a16="http://schemas.microsoft.com/office/drawing/2014/main" id="{50D75D26-A890-4431-8443-87BEDD800044}"/>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142781CF-B543-48BB-B136-983EDD269283}"/>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1071555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5FF5070-38A6-482B-8182-654C7FE76617}"/>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966741CC-3CD6-4D95-AA0B-E90AE26ABFAE}"/>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1D745E9D-790F-4ACF-9013-C4AE74545E79}"/>
              </a:ext>
            </a:extLst>
          </p:cNvPr>
          <p:cNvSpPr>
            <a:spLocks noGrp="1"/>
          </p:cNvSpPr>
          <p:nvPr>
            <p:ph type="dt" sz="half" idx="10"/>
          </p:nvPr>
        </p:nvSpPr>
        <p:spPr/>
        <p:txBody>
          <a:bodyPr/>
          <a:lstStyle/>
          <a:p>
            <a:fld id="{7726F2FE-7DDA-4CC2-8B19-6C163EA0FB59}" type="datetime1">
              <a:rPr lang="vi-VN" smtClean="0"/>
              <a:t>12/10/26</a:t>
            </a:fld>
            <a:endParaRPr lang="vi-VN"/>
          </a:p>
        </p:txBody>
      </p:sp>
      <p:sp>
        <p:nvSpPr>
          <p:cNvPr id="5" name="Chỗ dành sẵn cho Chân trang 4">
            <a:extLst>
              <a:ext uri="{FF2B5EF4-FFF2-40B4-BE49-F238E27FC236}">
                <a16:creationId xmlns:a16="http://schemas.microsoft.com/office/drawing/2014/main" id="{0B7DA203-0A2E-405B-B2C2-B6653AEDBB1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323F7590-D27A-46B4-965B-B00D6638ACE6}"/>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1922341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F05BC5B-86D4-42C2-9C7A-6019833BF505}"/>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18382EFA-E550-468C-9B02-51E5387010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6BE90071-94E0-4791-94CF-84478DA99A3A}"/>
              </a:ext>
            </a:extLst>
          </p:cNvPr>
          <p:cNvSpPr>
            <a:spLocks noGrp="1"/>
          </p:cNvSpPr>
          <p:nvPr>
            <p:ph type="dt" sz="half" idx="10"/>
          </p:nvPr>
        </p:nvSpPr>
        <p:spPr/>
        <p:txBody>
          <a:bodyPr/>
          <a:lstStyle/>
          <a:p>
            <a:fld id="{226BA978-731B-4F2E-AA3A-2BB764E111B8}" type="datetime1">
              <a:rPr lang="vi-VN" smtClean="0"/>
              <a:t>12/10/26</a:t>
            </a:fld>
            <a:endParaRPr lang="vi-VN"/>
          </a:p>
        </p:txBody>
      </p:sp>
      <p:sp>
        <p:nvSpPr>
          <p:cNvPr id="5" name="Chỗ dành sẵn cho Chân trang 4">
            <a:extLst>
              <a:ext uri="{FF2B5EF4-FFF2-40B4-BE49-F238E27FC236}">
                <a16:creationId xmlns:a16="http://schemas.microsoft.com/office/drawing/2014/main" id="{4CAC533B-8AA9-4256-9115-9C1C78D0FF3E}"/>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F817FD00-5977-490E-A264-72CAD3DA681E}"/>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3931568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8FB8F2E-CFFD-4155-948C-1F255C6960B4}"/>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01618815-62A1-4D41-ADB4-947D4B44AD69}"/>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2DB7A840-DA15-4FED-8DB0-8C8BE3DF9DDC}"/>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BED8B9AD-446B-4FC4-AA56-E5FA5821B52E}"/>
              </a:ext>
            </a:extLst>
          </p:cNvPr>
          <p:cNvSpPr>
            <a:spLocks noGrp="1"/>
          </p:cNvSpPr>
          <p:nvPr>
            <p:ph type="dt" sz="half" idx="10"/>
          </p:nvPr>
        </p:nvSpPr>
        <p:spPr/>
        <p:txBody>
          <a:bodyPr/>
          <a:lstStyle/>
          <a:p>
            <a:fld id="{361C2917-EDF8-45BB-8125-D502F66F2477}" type="datetime1">
              <a:rPr lang="vi-VN" smtClean="0"/>
              <a:t>12/10/26</a:t>
            </a:fld>
            <a:endParaRPr lang="vi-VN"/>
          </a:p>
        </p:txBody>
      </p:sp>
      <p:sp>
        <p:nvSpPr>
          <p:cNvPr id="6" name="Chỗ dành sẵn cho Chân trang 5">
            <a:extLst>
              <a:ext uri="{FF2B5EF4-FFF2-40B4-BE49-F238E27FC236}">
                <a16:creationId xmlns:a16="http://schemas.microsoft.com/office/drawing/2014/main" id="{8B62D0BA-4BCF-467D-9A0C-13F82F2E0809}"/>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9CC5D80C-A0C0-4A45-A0C1-D557AAD195DF}"/>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753628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F262587-5F1C-4596-9FDD-91654C3CC703}"/>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2D7AE537-4AD6-4604-B682-0C3ECDDC77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174CD087-C982-4C7F-AA39-FE252441218B}"/>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6E426E1D-1877-40A9-8E13-747AFCEE40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9D55B67D-1CCE-4BE8-A6C5-F687F5A9E604}"/>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75137438-E8C2-4776-A032-80621DA0EC89}"/>
              </a:ext>
            </a:extLst>
          </p:cNvPr>
          <p:cNvSpPr>
            <a:spLocks noGrp="1"/>
          </p:cNvSpPr>
          <p:nvPr>
            <p:ph type="dt" sz="half" idx="10"/>
          </p:nvPr>
        </p:nvSpPr>
        <p:spPr/>
        <p:txBody>
          <a:bodyPr/>
          <a:lstStyle/>
          <a:p>
            <a:fld id="{943EB70E-550C-49E7-9133-9B30B2AC0232}" type="datetime1">
              <a:rPr lang="vi-VN" smtClean="0"/>
              <a:t>12/10/26</a:t>
            </a:fld>
            <a:endParaRPr lang="vi-VN"/>
          </a:p>
        </p:txBody>
      </p:sp>
      <p:sp>
        <p:nvSpPr>
          <p:cNvPr id="8" name="Chỗ dành sẵn cho Chân trang 7">
            <a:extLst>
              <a:ext uri="{FF2B5EF4-FFF2-40B4-BE49-F238E27FC236}">
                <a16:creationId xmlns:a16="http://schemas.microsoft.com/office/drawing/2014/main" id="{5ACC0978-B43E-4D47-86FA-A68701482863}"/>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062037BF-55C9-46FF-9683-439342135EDA}"/>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52675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76E0F3D-FB69-410B-AB5D-77D68F6BF44D}"/>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4E73F3AF-3AF4-43BF-9DAC-BDC131F47000}"/>
              </a:ext>
            </a:extLst>
          </p:cNvPr>
          <p:cNvSpPr>
            <a:spLocks noGrp="1"/>
          </p:cNvSpPr>
          <p:nvPr>
            <p:ph type="dt" sz="half" idx="10"/>
          </p:nvPr>
        </p:nvSpPr>
        <p:spPr/>
        <p:txBody>
          <a:bodyPr/>
          <a:lstStyle/>
          <a:p>
            <a:fld id="{EB22B735-CBDF-45F6-82E6-FE5BC94C75AA}" type="datetime1">
              <a:rPr lang="vi-VN" smtClean="0"/>
              <a:t>12/10/26</a:t>
            </a:fld>
            <a:endParaRPr lang="vi-VN"/>
          </a:p>
        </p:txBody>
      </p:sp>
      <p:sp>
        <p:nvSpPr>
          <p:cNvPr id="4" name="Chỗ dành sẵn cho Chân trang 3">
            <a:extLst>
              <a:ext uri="{FF2B5EF4-FFF2-40B4-BE49-F238E27FC236}">
                <a16:creationId xmlns:a16="http://schemas.microsoft.com/office/drawing/2014/main" id="{80213AFD-83DA-4433-ADAC-B3453D6E6797}"/>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BD5A51CE-C938-48AC-BAC5-8694D9BCCD7E}"/>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981531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E6EDFCC5-1255-42EE-B47E-8A13545B1026}"/>
              </a:ext>
            </a:extLst>
          </p:cNvPr>
          <p:cNvSpPr>
            <a:spLocks noGrp="1"/>
          </p:cNvSpPr>
          <p:nvPr>
            <p:ph type="dt" sz="half" idx="10"/>
          </p:nvPr>
        </p:nvSpPr>
        <p:spPr/>
        <p:txBody>
          <a:bodyPr/>
          <a:lstStyle/>
          <a:p>
            <a:fld id="{F921F1B4-08A7-407A-8506-E3D4A4F9FDBE}" type="datetime1">
              <a:rPr lang="vi-VN" smtClean="0"/>
              <a:t>12/10/26</a:t>
            </a:fld>
            <a:endParaRPr lang="vi-VN"/>
          </a:p>
        </p:txBody>
      </p:sp>
      <p:sp>
        <p:nvSpPr>
          <p:cNvPr id="3" name="Chỗ dành sẵn cho Chân trang 2">
            <a:extLst>
              <a:ext uri="{FF2B5EF4-FFF2-40B4-BE49-F238E27FC236}">
                <a16:creationId xmlns:a16="http://schemas.microsoft.com/office/drawing/2014/main" id="{177BA3AD-A557-40D0-87EE-5DE133C17EEA}"/>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1FED691B-7ECF-49E6-B450-06B1780B94F0}"/>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301144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FE9D19D-A63F-4D96-8508-8CD55A426350}"/>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8D258687-6DC1-4AAB-88FD-DE9E01CCBE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7A6408E5-D29A-453F-8850-88D53D19C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6E2A4A98-361F-4CCE-AEDB-5F419BBF8776}"/>
              </a:ext>
            </a:extLst>
          </p:cNvPr>
          <p:cNvSpPr>
            <a:spLocks noGrp="1"/>
          </p:cNvSpPr>
          <p:nvPr>
            <p:ph type="dt" sz="half" idx="10"/>
          </p:nvPr>
        </p:nvSpPr>
        <p:spPr/>
        <p:txBody>
          <a:bodyPr/>
          <a:lstStyle/>
          <a:p>
            <a:fld id="{E0A7DA55-73DE-4601-A128-75DCD866C671}" type="datetime1">
              <a:rPr lang="vi-VN" smtClean="0"/>
              <a:t>12/10/26</a:t>
            </a:fld>
            <a:endParaRPr lang="vi-VN"/>
          </a:p>
        </p:txBody>
      </p:sp>
      <p:sp>
        <p:nvSpPr>
          <p:cNvPr id="6" name="Chỗ dành sẵn cho Chân trang 5">
            <a:extLst>
              <a:ext uri="{FF2B5EF4-FFF2-40B4-BE49-F238E27FC236}">
                <a16:creationId xmlns:a16="http://schemas.microsoft.com/office/drawing/2014/main" id="{CA9395BE-E856-453C-B479-60677863D89F}"/>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5523AD49-2BAF-4990-9537-BBC121902B13}"/>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3837925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A7CD618-2038-4E0D-B148-E8D64069DE0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BA1E3364-AF8F-4760-98AD-37C9BCE909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E6325719-9193-4C4D-9E0D-7BEEA3952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ECD3AFB8-5C16-439F-9C1A-C809511D77DF}"/>
              </a:ext>
            </a:extLst>
          </p:cNvPr>
          <p:cNvSpPr>
            <a:spLocks noGrp="1"/>
          </p:cNvSpPr>
          <p:nvPr>
            <p:ph type="dt" sz="half" idx="10"/>
          </p:nvPr>
        </p:nvSpPr>
        <p:spPr/>
        <p:txBody>
          <a:bodyPr/>
          <a:lstStyle/>
          <a:p>
            <a:fld id="{B7FC29C0-C975-4E4A-AE5A-74F936E8F8E3}" type="datetime1">
              <a:rPr lang="vi-VN" smtClean="0"/>
              <a:t>12/10/26</a:t>
            </a:fld>
            <a:endParaRPr lang="vi-VN"/>
          </a:p>
        </p:txBody>
      </p:sp>
      <p:sp>
        <p:nvSpPr>
          <p:cNvPr id="6" name="Chỗ dành sẵn cho Chân trang 5">
            <a:extLst>
              <a:ext uri="{FF2B5EF4-FFF2-40B4-BE49-F238E27FC236}">
                <a16:creationId xmlns:a16="http://schemas.microsoft.com/office/drawing/2014/main" id="{F89F5123-9689-4396-8999-58F21AC12CD7}"/>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B105D673-34F1-4149-A9B5-2C18CF564A6F}"/>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94275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C06FF4A-D437-421B-A533-6CA560B226DE}"/>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195A3E87-077A-41FD-BA86-1D63DB35B6CF}"/>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EADBEE75-4866-4B05-BB7B-FCB77D8583C9}"/>
              </a:ext>
            </a:extLst>
          </p:cNvPr>
          <p:cNvSpPr>
            <a:spLocks noGrp="1"/>
          </p:cNvSpPr>
          <p:nvPr>
            <p:ph type="dt" sz="half" idx="10"/>
          </p:nvPr>
        </p:nvSpPr>
        <p:spPr/>
        <p:txBody>
          <a:bodyPr/>
          <a:lstStyle/>
          <a:p>
            <a:fld id="{D62A4E45-6A0E-45B7-B173-32CF994E7277}" type="datetime1">
              <a:rPr lang="vi-VN" smtClean="0"/>
              <a:t>12/10/26</a:t>
            </a:fld>
            <a:endParaRPr lang="vi-VN"/>
          </a:p>
        </p:txBody>
      </p:sp>
      <p:sp>
        <p:nvSpPr>
          <p:cNvPr id="5" name="Chỗ dành sẵn cho Chân trang 4">
            <a:extLst>
              <a:ext uri="{FF2B5EF4-FFF2-40B4-BE49-F238E27FC236}">
                <a16:creationId xmlns:a16="http://schemas.microsoft.com/office/drawing/2014/main" id="{3DBBB99E-D789-49A7-B085-2FC6C09B2D54}"/>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6291AAD4-3A39-4873-A595-0411CFD50B15}"/>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159679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859B217D-9B54-4785-9CD8-3A99881CCEAB}"/>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A1DF2EF7-4D06-4452-8437-E4F2D5189A39}"/>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1B41416E-27C2-4E77-BD17-BE15F50849F3}"/>
              </a:ext>
            </a:extLst>
          </p:cNvPr>
          <p:cNvSpPr>
            <a:spLocks noGrp="1"/>
          </p:cNvSpPr>
          <p:nvPr>
            <p:ph type="dt" sz="half" idx="10"/>
          </p:nvPr>
        </p:nvSpPr>
        <p:spPr/>
        <p:txBody>
          <a:bodyPr/>
          <a:lstStyle/>
          <a:p>
            <a:fld id="{55A1F26E-83AE-4875-9471-7BE993A8DCA5}" type="datetime1">
              <a:rPr lang="vi-VN" smtClean="0"/>
              <a:t>12/10/26</a:t>
            </a:fld>
            <a:endParaRPr lang="vi-VN"/>
          </a:p>
        </p:txBody>
      </p:sp>
      <p:sp>
        <p:nvSpPr>
          <p:cNvPr id="5" name="Chỗ dành sẵn cho Chân trang 4">
            <a:extLst>
              <a:ext uri="{FF2B5EF4-FFF2-40B4-BE49-F238E27FC236}">
                <a16:creationId xmlns:a16="http://schemas.microsoft.com/office/drawing/2014/main" id="{F10EBFAC-CF78-4F22-B089-9EE1C2B8E628}"/>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4DEA6C6D-4E8A-4F15-9875-96EF1FC13237}"/>
              </a:ext>
            </a:extLst>
          </p:cNvPr>
          <p:cNvSpPr>
            <a:spLocks noGrp="1"/>
          </p:cNvSpPr>
          <p:nvPr>
            <p:ph type="sldNum" sz="quarter" idx="12"/>
          </p:nvPr>
        </p:nvSpPr>
        <p:spPr/>
        <p:txBody>
          <a:bodyPr/>
          <a:lstStyle/>
          <a:p>
            <a:fld id="{6728FB6D-289F-493D-B429-BB6C39253D80}" type="slidenum">
              <a:rPr lang="vi-VN" smtClean="0"/>
              <a:t>‹#›</a:t>
            </a:fld>
            <a:endParaRPr lang="vi-VN"/>
          </a:p>
        </p:txBody>
      </p:sp>
    </p:spTree>
    <p:extLst>
      <p:ext uri="{BB962C8B-B14F-4D97-AF65-F5344CB8AC3E}">
        <p14:creationId xmlns:p14="http://schemas.microsoft.com/office/powerpoint/2010/main" val="3795181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689FB170-2389-46C9-88CB-01EAF39B03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8F63DA40-E8A6-4F06-A4AF-DB6FAF33FD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CB91D48A-B58F-4315-914C-5CED597711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E0EBE5-6E38-4468-9044-2C150FEFC308}" type="datetime1">
              <a:rPr lang="vi-VN" smtClean="0"/>
              <a:t>12/10/26</a:t>
            </a:fld>
            <a:endParaRPr lang="vi-VN"/>
          </a:p>
        </p:txBody>
      </p:sp>
      <p:sp>
        <p:nvSpPr>
          <p:cNvPr id="5" name="Chỗ dành sẵn cho Chân trang 4">
            <a:extLst>
              <a:ext uri="{FF2B5EF4-FFF2-40B4-BE49-F238E27FC236}">
                <a16:creationId xmlns:a16="http://schemas.microsoft.com/office/drawing/2014/main" id="{7AB0570C-A139-4F83-AA06-24FD8D4BA5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Chỗ dành sẵn cho Số hiệu Bản chiếu 5">
            <a:extLst>
              <a:ext uri="{FF2B5EF4-FFF2-40B4-BE49-F238E27FC236}">
                <a16:creationId xmlns:a16="http://schemas.microsoft.com/office/drawing/2014/main" id="{743FCB8A-F1B7-4FFD-AEBC-97C0F0146E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28FB6D-289F-493D-B429-BB6C39253D80}" type="slidenum">
              <a:rPr lang="vi-VN" smtClean="0"/>
              <a:t>‹#›</a:t>
            </a:fld>
            <a:endParaRPr lang="vi-VN"/>
          </a:p>
        </p:txBody>
      </p:sp>
    </p:spTree>
    <p:extLst>
      <p:ext uri="{BB962C8B-B14F-4D97-AF65-F5344CB8AC3E}">
        <p14:creationId xmlns:p14="http://schemas.microsoft.com/office/powerpoint/2010/main" val="2248763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jpeg"/><Relationship Id="rId5" Type="http://schemas.openxmlformats.org/officeDocument/2006/relationships/image" Target="../media/image8.png"/><Relationship Id="rId10" Type="http://schemas.openxmlformats.org/officeDocument/2006/relationships/image" Target="../media/image13.jpeg"/><Relationship Id="rId4" Type="http://schemas.openxmlformats.org/officeDocument/2006/relationships/image" Target="../media/image7.jpe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hyperlink" Target="https://www.snolab.ca/news/snolab-and-the-2024-nobel-prize-in-physics/" TargetMode="Externa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png"/><Relationship Id="rId4" Type="http://schemas.openxmlformats.org/officeDocument/2006/relationships/image" Target="../media/image2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jpe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jpe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3.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image" Target="../media/image60.png"/><Relationship Id="rId16" Type="http://schemas.openxmlformats.org/officeDocument/2006/relationships/hyperlink" Target="https://arxiv.org/abs/0806.3719" TargetMode="External"/><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hyperlink" Target="https://arxiv.org/abs/2309.15642" TargetMode="External"/><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E405-C404-26A1-D096-907786BDC6A3}"/>
              </a:ext>
            </a:extLst>
          </p:cNvPr>
          <p:cNvSpPr>
            <a:spLocks noGrp="1"/>
          </p:cNvSpPr>
          <p:nvPr>
            <p:ph type="title"/>
          </p:nvPr>
        </p:nvSpPr>
        <p:spPr>
          <a:xfrm>
            <a:off x="838200" y="2766218"/>
            <a:ext cx="10515600" cy="1325563"/>
          </a:xfrm>
        </p:spPr>
        <p:txBody>
          <a:bodyPr>
            <a:normAutofit/>
          </a:bodyPr>
          <a:lstStyle/>
          <a:p>
            <a:r>
              <a:rPr lang="en-VN"/>
              <a:t>Quantum + AI</a:t>
            </a:r>
            <a:br>
              <a:rPr lang="en-VN"/>
            </a:br>
            <a:r>
              <a:rPr lang="en-VN"/>
              <a:t>Tư duy lượng tử trong trí tuệ nhân tạo</a:t>
            </a:r>
          </a:p>
        </p:txBody>
      </p:sp>
      <p:sp>
        <p:nvSpPr>
          <p:cNvPr id="4" name="Slide Number Placeholder 3">
            <a:extLst>
              <a:ext uri="{FF2B5EF4-FFF2-40B4-BE49-F238E27FC236}">
                <a16:creationId xmlns:a16="http://schemas.microsoft.com/office/drawing/2014/main" id="{671ECAB7-09AD-CF28-EE0D-A09EF64E470C}"/>
              </a:ext>
            </a:extLst>
          </p:cNvPr>
          <p:cNvSpPr>
            <a:spLocks noGrp="1"/>
          </p:cNvSpPr>
          <p:nvPr>
            <p:ph type="sldNum" sz="quarter" idx="12"/>
          </p:nvPr>
        </p:nvSpPr>
        <p:spPr/>
        <p:txBody>
          <a:bodyPr/>
          <a:lstStyle/>
          <a:p>
            <a:fld id="{6728FB6D-289F-493D-B429-BB6C39253D80}" type="slidenum">
              <a:rPr lang="vi-VN" smtClean="0"/>
              <a:t>1</a:t>
            </a:fld>
            <a:endParaRPr lang="vi-VN"/>
          </a:p>
        </p:txBody>
      </p:sp>
      <p:sp>
        <p:nvSpPr>
          <p:cNvPr id="5" name="Title 1">
            <a:extLst>
              <a:ext uri="{FF2B5EF4-FFF2-40B4-BE49-F238E27FC236}">
                <a16:creationId xmlns:a16="http://schemas.microsoft.com/office/drawing/2014/main" id="{E966EAD6-DFFC-8EB0-97A0-0347C5E5FF7B}"/>
              </a:ext>
            </a:extLst>
          </p:cNvPr>
          <p:cNvSpPr txBox="1">
            <a:spLocks/>
          </p:cNvSpPr>
          <p:nvPr/>
        </p:nvSpPr>
        <p:spPr>
          <a:xfrm>
            <a:off x="838200" y="4091781"/>
            <a:ext cx="10515600" cy="6259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VN" sz="2800"/>
              <a:t>TS. Vũ Tuấn Hải, UIT-VNUHCM</a:t>
            </a:r>
          </a:p>
        </p:txBody>
      </p:sp>
    </p:spTree>
    <p:extLst>
      <p:ext uri="{BB962C8B-B14F-4D97-AF65-F5344CB8AC3E}">
        <p14:creationId xmlns:p14="http://schemas.microsoft.com/office/powerpoint/2010/main" val="89550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D2FD4-94CE-D128-4196-2F8C800A4557}"/>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3A14724B-E029-2C9F-282B-7BE239A928B6}"/>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C18EDEDF-EEEC-1839-669F-ED1644DBCC9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320652-EDBF-5741-A5EB-DBD4F612B0BB}" type="slidenum">
              <a:rPr lang="vi-VN" smtClean="0"/>
              <a:pPr/>
              <a:t>2</a:t>
            </a:fld>
            <a:endParaRPr lang="en-VN"/>
          </a:p>
        </p:txBody>
      </p:sp>
      <p:pic>
        <p:nvPicPr>
          <p:cNvPr id="1028" name="Picture 4" descr="Quantum Computing Market Map and Data 2022">
            <a:extLst>
              <a:ext uri="{FF2B5EF4-FFF2-40B4-BE49-F238E27FC236}">
                <a16:creationId xmlns:a16="http://schemas.microsoft.com/office/drawing/2014/main" id="{6B90947B-4F9A-5BD4-8771-F0AC85F99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575"/>
            <a:ext cx="12192000" cy="680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208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12ECA-4886-8596-A9BB-234F072BDBF6}"/>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5E6CFE9C-2B58-80DB-2545-9F0C846A70A7}"/>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270778A9-0DC1-8156-7356-C01DD3A3594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320652-EDBF-5741-A5EB-DBD4F612B0BB}" type="slidenum">
              <a:rPr lang="vi-VN" smtClean="0"/>
              <a:pPr/>
              <a:t>3</a:t>
            </a:fld>
            <a:endParaRPr lang="en-VN"/>
          </a:p>
        </p:txBody>
      </p:sp>
      <p:pic>
        <p:nvPicPr>
          <p:cNvPr id="2050" name="Picture 2" descr="Quantum Communications and Security marketing">
            <a:extLst>
              <a:ext uri="{FF2B5EF4-FFF2-40B4-BE49-F238E27FC236}">
                <a16:creationId xmlns:a16="http://schemas.microsoft.com/office/drawing/2014/main" id="{752B7FCA-FAA7-12BC-4F1F-CD0E24FAA9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3" y="0"/>
            <a:ext cx="1196816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183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95E059-ADB9-6C0D-64EA-A955FF5DA907}"/>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320652-EDBF-5741-A5EB-DBD4F612B0BB}" type="slidenum">
              <a:rPr lang="vi-VN" smtClean="0"/>
              <a:pPr/>
              <a:t>4</a:t>
            </a:fld>
            <a:endParaRPr lang="vi-VN"/>
          </a:p>
        </p:txBody>
      </p:sp>
      <p:pic>
        <p:nvPicPr>
          <p:cNvPr id="6" name="Picture 5" descr="A screenshot of a chat&#10;&#10;AI-generated content may be incorrect.">
            <a:extLst>
              <a:ext uri="{FF2B5EF4-FFF2-40B4-BE49-F238E27FC236}">
                <a16:creationId xmlns:a16="http://schemas.microsoft.com/office/drawing/2014/main" id="{289AC522-F861-4CFE-CEF6-FE150EE696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1451" y="0"/>
            <a:ext cx="9640549" cy="6858000"/>
          </a:xfrm>
          <a:prstGeom prst="rect">
            <a:avLst/>
          </a:prstGeom>
        </p:spPr>
      </p:pic>
      <p:pic>
        <p:nvPicPr>
          <p:cNvPr id="1026" name="Picture 2" descr="May be an image of text">
            <a:extLst>
              <a:ext uri="{FF2B5EF4-FFF2-40B4-BE49-F238E27FC236}">
                <a16:creationId xmlns:a16="http://schemas.microsoft.com/office/drawing/2014/main" id="{81CE6D9A-DF34-89E7-31B2-8CF594F37F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387" t="35166" b="11874"/>
          <a:stretch/>
        </p:blipFill>
        <p:spPr bwMode="auto">
          <a:xfrm>
            <a:off x="146823" y="1564352"/>
            <a:ext cx="7764725" cy="515712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5A5817-30F4-77DC-98BD-5076370D5CF8}"/>
              </a:ext>
            </a:extLst>
          </p:cNvPr>
          <p:cNvSpPr txBox="1"/>
          <p:nvPr/>
        </p:nvSpPr>
        <p:spPr>
          <a:xfrm>
            <a:off x="146823" y="202786"/>
            <a:ext cx="6273514" cy="1384995"/>
          </a:xfrm>
          <a:prstGeom prst="rect">
            <a:avLst/>
          </a:prstGeom>
          <a:solidFill>
            <a:schemeClr val="bg1"/>
          </a:solidFill>
        </p:spPr>
        <p:txBody>
          <a:bodyPr wrap="square">
            <a:spAutoFit/>
          </a:bodyPr>
          <a:lstStyle/>
          <a:p>
            <a:r>
              <a:rPr lang="vi-VN" sz="2800" b="0" i="0">
                <a:effectLst/>
                <a:latin typeface="Calibri" panose="020F0502020204030204" pitchFamily="34" charset="0"/>
                <a:cs typeface="Calibri" panose="020F0502020204030204" pitchFamily="34" charset="0"/>
              </a:rPr>
              <a:t>Danh mục sản phẩm công nghệ chiến lược được Chính phủ ban hành 30/4/2026</a:t>
            </a:r>
            <a:endParaRPr lang="en-VN" sz="2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8044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768ED0-41B9-2EEB-3A0B-42C5432744C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320652-EDBF-5741-A5EB-DBD4F612B0BB}" type="slidenum">
              <a:rPr lang="vi-VN" smtClean="0"/>
              <a:pPr/>
              <a:t>5</a:t>
            </a:fld>
            <a:endParaRPr lang="en-VN"/>
          </a:p>
        </p:txBody>
      </p:sp>
      <p:pic>
        <p:nvPicPr>
          <p:cNvPr id="7170" name="Picture 2" descr="No photo description available.">
            <a:extLst>
              <a:ext uri="{FF2B5EF4-FFF2-40B4-BE49-F238E27FC236}">
                <a16:creationId xmlns:a16="http://schemas.microsoft.com/office/drawing/2014/main" id="{285DEFAE-4A08-EBF5-4B4F-6ED335282C4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2688" t="22077" r="11814" b="21966"/>
          <a:stretch>
            <a:fillRect/>
          </a:stretch>
        </p:blipFill>
        <p:spPr bwMode="auto">
          <a:xfrm>
            <a:off x="197954" y="136655"/>
            <a:ext cx="3760384" cy="23365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text on a white background&#10;&#10;AI-generated content may be incorrect.">
            <a:extLst>
              <a:ext uri="{FF2B5EF4-FFF2-40B4-BE49-F238E27FC236}">
                <a16:creationId xmlns:a16="http://schemas.microsoft.com/office/drawing/2014/main" id="{363B6E54-0C99-71EA-D9BD-0169A302BC06}"/>
              </a:ext>
            </a:extLst>
          </p:cNvPr>
          <p:cNvPicPr>
            <a:picLocks noChangeAspect="1"/>
          </p:cNvPicPr>
          <p:nvPr/>
        </p:nvPicPr>
        <p:blipFill>
          <a:blip r:embed="rId3"/>
          <a:stretch>
            <a:fillRect/>
          </a:stretch>
        </p:blipFill>
        <p:spPr>
          <a:xfrm>
            <a:off x="197953" y="3796942"/>
            <a:ext cx="3614085" cy="866535"/>
          </a:xfrm>
          <a:prstGeom prst="rect">
            <a:avLst/>
          </a:prstGeom>
        </p:spPr>
      </p:pic>
      <p:pic>
        <p:nvPicPr>
          <p:cNvPr id="7172" name="Picture 4" descr="Viettel High Tech - YouTube">
            <a:extLst>
              <a:ext uri="{FF2B5EF4-FFF2-40B4-BE49-F238E27FC236}">
                <a16:creationId xmlns:a16="http://schemas.microsoft.com/office/drawing/2014/main" id="{DAF4CA56-15C1-2A43-C61E-F491A375234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40875" b="24652"/>
          <a:stretch>
            <a:fillRect/>
          </a:stretch>
        </p:blipFill>
        <p:spPr bwMode="auto">
          <a:xfrm>
            <a:off x="197954" y="2445072"/>
            <a:ext cx="4097533" cy="1412538"/>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QUAPP INC. - HUTECH IT Open Day">
            <a:extLst>
              <a:ext uri="{FF2B5EF4-FFF2-40B4-BE49-F238E27FC236}">
                <a16:creationId xmlns:a16="http://schemas.microsoft.com/office/drawing/2014/main" id="{23588D03-62DC-0024-F279-35FC7595B01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954" y="4655657"/>
            <a:ext cx="2865628" cy="99214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black and white logo with a brain&#10;&#10;AI-generated content may be incorrect.">
            <a:extLst>
              <a:ext uri="{FF2B5EF4-FFF2-40B4-BE49-F238E27FC236}">
                <a16:creationId xmlns:a16="http://schemas.microsoft.com/office/drawing/2014/main" id="{BF1C592B-45AA-4DEF-4C4E-7DB00987ADBA}"/>
              </a:ext>
            </a:extLst>
          </p:cNvPr>
          <p:cNvPicPr>
            <a:picLocks noChangeAspect="1"/>
          </p:cNvPicPr>
          <p:nvPr/>
        </p:nvPicPr>
        <p:blipFill>
          <a:blip r:embed="rId6"/>
          <a:stretch>
            <a:fillRect/>
          </a:stretch>
        </p:blipFill>
        <p:spPr>
          <a:xfrm>
            <a:off x="4508182" y="3796942"/>
            <a:ext cx="1693004" cy="2204432"/>
          </a:xfrm>
          <a:prstGeom prst="rect">
            <a:avLst/>
          </a:prstGeom>
        </p:spPr>
      </p:pic>
      <p:pic>
        <p:nvPicPr>
          <p:cNvPr id="7180" name="Picture 12">
            <a:extLst>
              <a:ext uri="{FF2B5EF4-FFF2-40B4-BE49-F238E27FC236}">
                <a16:creationId xmlns:a16="http://schemas.microsoft.com/office/drawing/2014/main" id="{FF2B267B-9652-BCD4-6C23-B6EBA1E9EEB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28533" y="3693354"/>
            <a:ext cx="2935566" cy="1651256"/>
          </a:xfrm>
          <a:prstGeom prst="rect">
            <a:avLst/>
          </a:prstGeom>
          <a:noFill/>
          <a:extLst>
            <a:ext uri="{909E8E84-426E-40DD-AFC4-6F175D3DCCD1}">
              <a14:hiddenFill xmlns:a14="http://schemas.microsoft.com/office/drawing/2010/main">
                <a:solidFill>
                  <a:srgbClr val="FFFFFF"/>
                </a:solidFill>
              </a14:hiddenFill>
            </a:ext>
          </a:extLst>
        </p:spPr>
      </p:pic>
      <p:pic>
        <p:nvPicPr>
          <p:cNvPr id="7184" name="Picture 16" descr="No photo description available.">
            <a:extLst>
              <a:ext uri="{FF2B5EF4-FFF2-40B4-BE49-F238E27FC236}">
                <a16:creationId xmlns:a16="http://schemas.microsoft.com/office/drawing/2014/main" id="{532CE699-15C8-A257-FEFA-CD3A57AFECE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113143" y="686250"/>
            <a:ext cx="1366346" cy="1376222"/>
          </a:xfrm>
          <a:prstGeom prst="rect">
            <a:avLst/>
          </a:prstGeom>
          <a:noFill/>
          <a:extLst>
            <a:ext uri="{909E8E84-426E-40DD-AFC4-6F175D3DCCD1}">
              <a14:hiddenFill xmlns:a14="http://schemas.microsoft.com/office/drawing/2010/main">
                <a:solidFill>
                  <a:srgbClr val="FFFFFF"/>
                </a:solidFill>
              </a14:hiddenFill>
            </a:ext>
          </a:extLst>
        </p:spPr>
      </p:pic>
      <p:pic>
        <p:nvPicPr>
          <p:cNvPr id="7186" name="Picture 18" descr="VNQUANTUM">
            <a:extLst>
              <a:ext uri="{FF2B5EF4-FFF2-40B4-BE49-F238E27FC236}">
                <a16:creationId xmlns:a16="http://schemas.microsoft.com/office/drawing/2014/main" id="{A63F0354-0F92-FD9A-E274-E7E12DE8C1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8182" y="664247"/>
            <a:ext cx="2533804" cy="1064386"/>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No photo description available.">
            <a:extLst>
              <a:ext uri="{FF2B5EF4-FFF2-40B4-BE49-F238E27FC236}">
                <a16:creationId xmlns:a16="http://schemas.microsoft.com/office/drawing/2014/main" id="{631889A0-D93E-D481-B4CE-81ADEF70DAD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37355" b="37382"/>
          <a:stretch>
            <a:fillRect/>
          </a:stretch>
        </p:blipFill>
        <p:spPr bwMode="auto">
          <a:xfrm>
            <a:off x="6197522" y="4924174"/>
            <a:ext cx="3066577" cy="774708"/>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No photo description available.">
            <a:extLst>
              <a:ext uri="{FF2B5EF4-FFF2-40B4-BE49-F238E27FC236}">
                <a16:creationId xmlns:a16="http://schemas.microsoft.com/office/drawing/2014/main" id="{1FE859BB-640B-2A22-1ECD-84556D2000F3}"/>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5733" t="27053" r="18953" b="35758"/>
          <a:stretch>
            <a:fillRect/>
          </a:stretch>
        </p:blipFill>
        <p:spPr bwMode="auto">
          <a:xfrm>
            <a:off x="4679347" y="2067033"/>
            <a:ext cx="3760385" cy="1427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205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9CA1D9-9A1B-2854-8C79-CD5B901B902E}"/>
              </a:ext>
            </a:extLst>
          </p:cNvPr>
          <p:cNvSpPr>
            <a:spLocks noGrp="1"/>
          </p:cNvSpPr>
          <p:nvPr>
            <p:ph type="sldNum" sz="quarter" idx="12"/>
          </p:nvPr>
        </p:nvSpPr>
        <p:spPr/>
        <p:txBody>
          <a:bodyPr/>
          <a:lstStyle/>
          <a:p>
            <a:fld id="{6728FB6D-289F-493D-B429-BB6C39253D80}" type="slidenum">
              <a:rPr lang="vi-VN" smtClean="0"/>
              <a:t>6</a:t>
            </a:fld>
            <a:endParaRPr lang="vi-VN"/>
          </a:p>
        </p:txBody>
      </p:sp>
      <p:pic>
        <p:nvPicPr>
          <p:cNvPr id="1026" name="Picture 2" descr="SNOLAB and the 2024 Nobel Prize in Physics | SNOLAB">
            <a:hlinkClick r:id="rId2"/>
            <a:extLst>
              <a:ext uri="{FF2B5EF4-FFF2-40B4-BE49-F238E27FC236}">
                <a16:creationId xmlns:a16="http://schemas.microsoft.com/office/drawing/2014/main" id="{19BCEF88-6EEE-0863-7B62-60F2B3E4A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959350" cy="496905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The Nobel Prize in Physics 2025 – European Physical Society">
            <a:extLst>
              <a:ext uri="{FF2B5EF4-FFF2-40B4-BE49-F238E27FC236}">
                <a16:creationId xmlns:a16="http://schemas.microsoft.com/office/drawing/2014/main" id="{A0EE8F84-ABC2-1E17-4A45-627BF2EAC1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3917" y="0"/>
            <a:ext cx="7224823" cy="4334894"/>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50DFAAD9-0889-D9E2-61E1-F626138E53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2743200" y="1"/>
            <a:ext cx="6857999" cy="6857999"/>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Turing award 2025, Nobel Prize in Computer Science, was awarded to  reinforcement learning pioneers Richard Sutton and Andrew Barto. They did  their most significant work at the transition from the… | Mario Brcic">
            <a:extLst>
              <a:ext uri="{FF2B5EF4-FFF2-40B4-BE49-F238E27FC236}">
                <a16:creationId xmlns:a16="http://schemas.microsoft.com/office/drawing/2014/main" id="{058C504F-97F4-FDF9-6D60-937950DB4B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54864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CIFAR's Gilles Brassard and Charles H. Bennett receive 2025 ACM A.M. Turing  Award for pioneering quantum information science – CIFAR">
            <a:extLst>
              <a:ext uri="{FF2B5EF4-FFF2-40B4-BE49-F238E27FC236}">
                <a16:creationId xmlns:a16="http://schemas.microsoft.com/office/drawing/2014/main" id="{70EF796E-A749-7237-B7F2-E7F81D2DBF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800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D167F9-0F3C-BACE-1BF9-F822A8A6C990}"/>
              </a:ext>
            </a:extLst>
          </p:cNvPr>
          <p:cNvSpPr>
            <a:spLocks noGrp="1"/>
          </p:cNvSpPr>
          <p:nvPr>
            <p:ph type="sldNum" sz="quarter" idx="12"/>
          </p:nvPr>
        </p:nvSpPr>
        <p:spPr/>
        <p:txBody>
          <a:bodyPr/>
          <a:lstStyle/>
          <a:p>
            <a:fld id="{6728FB6D-289F-493D-B429-BB6C39253D80}" type="slidenum">
              <a:rPr lang="vi-VN" smtClean="0"/>
              <a:t>7</a:t>
            </a:fld>
            <a:endParaRPr lang="vi-VN"/>
          </a:p>
        </p:txBody>
      </p:sp>
      <p:pic>
        <p:nvPicPr>
          <p:cNvPr id="2050" name="Picture 2" descr="Elon Musk Mocked for Mixing up the Moon and Mars on Twitter - Business  Insider">
            <a:extLst>
              <a:ext uri="{FF2B5EF4-FFF2-40B4-BE49-F238E27FC236}">
                <a16:creationId xmlns:a16="http://schemas.microsoft.com/office/drawing/2014/main" id="{1A70B795-7B4F-0573-EEA5-BB72FB651E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47713" cy="32607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8D14C29-F690-3D96-5268-64BD49410F8A}"/>
              </a:ext>
            </a:extLst>
          </p:cNvPr>
          <p:cNvSpPr txBox="1"/>
          <p:nvPr/>
        </p:nvSpPr>
        <p:spPr>
          <a:xfrm>
            <a:off x="0" y="2891453"/>
            <a:ext cx="4347713" cy="369332"/>
          </a:xfrm>
          <a:prstGeom prst="rect">
            <a:avLst/>
          </a:prstGeom>
          <a:noFill/>
        </p:spPr>
        <p:txBody>
          <a:bodyPr wrap="square" rtlCol="0">
            <a:spAutoFit/>
          </a:bodyPr>
          <a:lstStyle/>
          <a:p>
            <a:r>
              <a:rPr lang="en-VN">
                <a:solidFill>
                  <a:schemeClr val="bg1"/>
                </a:solidFill>
              </a:rPr>
              <a:t>Elon Musk, Cử nhân Vật lý &amp; Kinh tế, Upenn</a:t>
            </a:r>
          </a:p>
        </p:txBody>
      </p:sp>
      <p:pic>
        <p:nvPicPr>
          <p:cNvPr id="2052" name="Picture 4" descr="Dario Amodei Says Anthropic Struggles to Balance Safety With Profit -  Business Insider">
            <a:extLst>
              <a:ext uri="{FF2B5EF4-FFF2-40B4-BE49-F238E27FC236}">
                <a16:creationId xmlns:a16="http://schemas.microsoft.com/office/drawing/2014/main" id="{2B8FBE39-EC10-F0BB-7981-6F96405B7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7713" y="0"/>
            <a:ext cx="4347713" cy="32710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B00C2D7-34EB-A8CF-C08F-5FBCABE5CD65}"/>
              </a:ext>
            </a:extLst>
          </p:cNvPr>
          <p:cNvSpPr txBox="1"/>
          <p:nvPr/>
        </p:nvSpPr>
        <p:spPr>
          <a:xfrm>
            <a:off x="4347713" y="136525"/>
            <a:ext cx="4347713" cy="369332"/>
          </a:xfrm>
          <a:prstGeom prst="rect">
            <a:avLst/>
          </a:prstGeom>
          <a:noFill/>
        </p:spPr>
        <p:txBody>
          <a:bodyPr wrap="square" rtlCol="0">
            <a:spAutoFit/>
          </a:bodyPr>
          <a:lstStyle/>
          <a:p>
            <a:r>
              <a:rPr lang="en-VN">
                <a:solidFill>
                  <a:schemeClr val="bg1"/>
                </a:solidFill>
              </a:rPr>
              <a:t>Dario Amodei, Cử nhân Vật lý, Stanford</a:t>
            </a:r>
          </a:p>
        </p:txBody>
      </p:sp>
      <p:pic>
        <p:nvPicPr>
          <p:cNvPr id="7" name="Picture 8" descr="The Mulleted, Meme-Loving Billionaire Behind Meta's Hit AI App - WSJ">
            <a:extLst>
              <a:ext uri="{FF2B5EF4-FFF2-40B4-BE49-F238E27FC236}">
                <a16:creationId xmlns:a16="http://schemas.microsoft.com/office/drawing/2014/main" id="{F77812F0-F5FF-E90A-C6AB-E2B7F3B3EF9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375" r="34965" b="37135"/>
          <a:stretch>
            <a:fillRect/>
          </a:stretch>
        </p:blipFill>
        <p:spPr bwMode="auto">
          <a:xfrm>
            <a:off x="-1" y="3260785"/>
            <a:ext cx="4019909" cy="354333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17E5DEE-D7C0-8CCF-7870-3018422BEDA8}"/>
              </a:ext>
            </a:extLst>
          </p:cNvPr>
          <p:cNvSpPr txBox="1"/>
          <p:nvPr/>
        </p:nvSpPr>
        <p:spPr>
          <a:xfrm>
            <a:off x="207751" y="3581976"/>
            <a:ext cx="4347713" cy="369332"/>
          </a:xfrm>
          <a:prstGeom prst="rect">
            <a:avLst/>
          </a:prstGeom>
          <a:noFill/>
        </p:spPr>
        <p:txBody>
          <a:bodyPr wrap="square" rtlCol="0">
            <a:spAutoFit/>
          </a:bodyPr>
          <a:lstStyle/>
          <a:p>
            <a:r>
              <a:rPr lang="en-VN"/>
              <a:t>Alex Wang, Vật lý, MIT (drop)</a:t>
            </a:r>
          </a:p>
        </p:txBody>
      </p:sp>
      <p:pic>
        <p:nvPicPr>
          <p:cNvPr id="9" name="Picture 10" descr="John Michael Jumper, 15th Frontiers of Knowledge Award in Biology and  Biomedicine">
            <a:extLst>
              <a:ext uri="{FF2B5EF4-FFF2-40B4-BE49-F238E27FC236}">
                <a16:creationId xmlns:a16="http://schemas.microsoft.com/office/drawing/2014/main" id="{23E37154-89C3-A9DB-0FFF-31CFD48CF4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7713" y="3260785"/>
            <a:ext cx="3191774" cy="363974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F3E59B6-AE4C-049E-0F94-744FF9BCE340}"/>
              </a:ext>
            </a:extLst>
          </p:cNvPr>
          <p:cNvSpPr txBox="1"/>
          <p:nvPr/>
        </p:nvSpPr>
        <p:spPr>
          <a:xfrm>
            <a:off x="4347713" y="3307310"/>
            <a:ext cx="4347713" cy="338554"/>
          </a:xfrm>
          <a:prstGeom prst="rect">
            <a:avLst/>
          </a:prstGeom>
          <a:noFill/>
        </p:spPr>
        <p:txBody>
          <a:bodyPr wrap="square" rtlCol="0">
            <a:spAutoFit/>
          </a:bodyPr>
          <a:lstStyle/>
          <a:p>
            <a:r>
              <a:rPr lang="en-VN" sz="1600">
                <a:solidFill>
                  <a:schemeClr val="bg1"/>
                </a:solidFill>
              </a:rPr>
              <a:t>John Jumber, Google Deepmind</a:t>
            </a:r>
          </a:p>
        </p:txBody>
      </p:sp>
    </p:spTree>
    <p:extLst>
      <p:ext uri="{BB962C8B-B14F-4D97-AF65-F5344CB8AC3E}">
        <p14:creationId xmlns:p14="http://schemas.microsoft.com/office/powerpoint/2010/main" val="250080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1"/>
      <p:bldP spid="8" grpId="1"/>
      <p:bldP spid="1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BA675-AD1E-9099-4842-7849167A3E1A}"/>
              </a:ext>
            </a:extLst>
          </p:cNvPr>
          <p:cNvSpPr>
            <a:spLocks noGrp="1"/>
          </p:cNvSpPr>
          <p:nvPr>
            <p:ph type="title"/>
          </p:nvPr>
        </p:nvSpPr>
        <p:spPr>
          <a:xfrm>
            <a:off x="838199" y="1"/>
            <a:ext cx="10515600" cy="907084"/>
          </a:xfrm>
        </p:spPr>
        <p:txBody>
          <a:bodyPr/>
          <a:lstStyle/>
          <a:p>
            <a:r>
              <a:rPr lang="en-VN"/>
              <a:t>Có nên học toán, lý, hoá, … ?</a:t>
            </a:r>
          </a:p>
        </p:txBody>
      </p:sp>
      <p:sp>
        <p:nvSpPr>
          <p:cNvPr id="4" name="Slide Number Placeholder 3">
            <a:extLst>
              <a:ext uri="{FF2B5EF4-FFF2-40B4-BE49-F238E27FC236}">
                <a16:creationId xmlns:a16="http://schemas.microsoft.com/office/drawing/2014/main" id="{47B31308-7517-B27D-3675-69D2573B0416}"/>
              </a:ext>
            </a:extLst>
          </p:cNvPr>
          <p:cNvSpPr>
            <a:spLocks noGrp="1"/>
          </p:cNvSpPr>
          <p:nvPr>
            <p:ph type="sldNum" sz="quarter" idx="12"/>
          </p:nvPr>
        </p:nvSpPr>
        <p:spPr/>
        <p:txBody>
          <a:bodyPr/>
          <a:lstStyle/>
          <a:p>
            <a:fld id="{6728FB6D-289F-493D-B429-BB6C39253D80}" type="slidenum">
              <a:rPr lang="vi-VN" smtClean="0"/>
              <a:t>8</a:t>
            </a:fld>
            <a:endParaRPr lang="vi-VN"/>
          </a:p>
        </p:txBody>
      </p:sp>
      <p:pic>
        <p:nvPicPr>
          <p:cNvPr id="3076" name="Picture 4" descr="Elon Musk and Nvidia's CEO Jensen Huang say physics and math matter more  than coding in the AI era 📚 Both Elon Musk and Jensen Huang agree: in a  world driven by">
            <a:extLst>
              <a:ext uri="{FF2B5EF4-FFF2-40B4-BE49-F238E27FC236}">
                <a16:creationId xmlns:a16="http://schemas.microsoft.com/office/drawing/2014/main" id="{2AEEB691-874D-D732-B59E-F79748260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37689"/>
            <a:ext cx="4740966" cy="59203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f I had a kid right now, I'd tell them to train as a plumber.&quot; -- Geoffrey  Hinton | Diego Basch">
            <a:extLst>
              <a:ext uri="{FF2B5EF4-FFF2-40B4-BE49-F238E27FC236}">
                <a16:creationId xmlns:a16="http://schemas.microsoft.com/office/drawing/2014/main" id="{7A995FA1-BC60-0F9F-465E-1EE2C4564D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445" r="5217"/>
          <a:stretch>
            <a:fillRect/>
          </a:stretch>
        </p:blipFill>
        <p:spPr bwMode="auto">
          <a:xfrm>
            <a:off x="4740966" y="937689"/>
            <a:ext cx="7451034"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055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C1F902-645B-5626-8B3A-2688C335BAA2}"/>
              </a:ext>
            </a:extLst>
          </p:cNvPr>
          <p:cNvSpPr>
            <a:spLocks noGrp="1"/>
          </p:cNvSpPr>
          <p:nvPr>
            <p:ph type="sldNum" sz="quarter" idx="12"/>
          </p:nvPr>
        </p:nvSpPr>
        <p:spPr/>
        <p:txBody>
          <a:bodyPr/>
          <a:lstStyle/>
          <a:p>
            <a:fld id="{6728FB6D-289F-493D-B429-BB6C39253D80}" type="slidenum">
              <a:rPr lang="vi-VN" smtClean="0"/>
              <a:t>9</a:t>
            </a:fld>
            <a:endParaRPr lang="vi-VN"/>
          </a:p>
        </p:txBody>
      </p:sp>
      <p:pic>
        <p:nvPicPr>
          <p:cNvPr id="4098" name="Picture 2" descr="Dumb Wojak Meme Generator">
            <a:extLst>
              <a:ext uri="{FF2B5EF4-FFF2-40B4-BE49-F238E27FC236}">
                <a16:creationId xmlns:a16="http://schemas.microsoft.com/office/drawing/2014/main" id="{B2364E44-6957-D6A2-EEE5-8D7F67D97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3018" y="3221051"/>
            <a:ext cx="4055164" cy="331786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3E16CA0-BA1E-7723-FDDD-0B92E41AAE7E}"/>
              </a:ext>
            </a:extLst>
          </p:cNvPr>
          <p:cNvSpPr txBox="1"/>
          <p:nvPr/>
        </p:nvSpPr>
        <p:spPr>
          <a:xfrm>
            <a:off x="7540486" y="3038488"/>
            <a:ext cx="4465983" cy="1384995"/>
          </a:xfrm>
          <a:prstGeom prst="rect">
            <a:avLst/>
          </a:prstGeom>
          <a:noFill/>
        </p:spPr>
        <p:txBody>
          <a:bodyPr wrap="square" rtlCol="0">
            <a:spAutoFit/>
          </a:bodyPr>
          <a:lstStyle/>
          <a:p>
            <a:r>
              <a:rPr lang="en-VN" sz="2800"/>
              <a:t>Use AI for pass exam</a:t>
            </a:r>
          </a:p>
          <a:p>
            <a:r>
              <a:rPr lang="en-VN" sz="2800"/>
              <a:t>Generate useless product</a:t>
            </a:r>
          </a:p>
          <a:p>
            <a:r>
              <a:rPr lang="en-VN" sz="2800"/>
              <a:t>…</a:t>
            </a:r>
          </a:p>
        </p:txBody>
      </p:sp>
      <p:pic>
        <p:nvPicPr>
          <p:cNvPr id="8" name="Picture 7" descr="A cartoon of a person with a beard&#10;&#10;AI-generated content may be incorrect.">
            <a:extLst>
              <a:ext uri="{FF2B5EF4-FFF2-40B4-BE49-F238E27FC236}">
                <a16:creationId xmlns:a16="http://schemas.microsoft.com/office/drawing/2014/main" id="{A5A131DA-CE42-C62A-BB83-906038C66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4502" y="3352388"/>
            <a:ext cx="3053798" cy="3369087"/>
          </a:xfrm>
          <a:prstGeom prst="rect">
            <a:avLst/>
          </a:prstGeom>
        </p:spPr>
      </p:pic>
      <p:pic>
        <p:nvPicPr>
          <p:cNvPr id="4102" name="Picture 6" descr="View steipete's full-sized avatar">
            <a:extLst>
              <a:ext uri="{FF2B5EF4-FFF2-40B4-BE49-F238E27FC236}">
                <a16:creationId xmlns:a16="http://schemas.microsoft.com/office/drawing/2014/main" id="{1FFAD2EA-38E5-41D0-D6A6-7E0D208B7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202" y="110435"/>
            <a:ext cx="1559339" cy="155933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white text on a white background&#10;&#10;AI-generated content may be incorrect.">
            <a:extLst>
              <a:ext uri="{FF2B5EF4-FFF2-40B4-BE49-F238E27FC236}">
                <a16:creationId xmlns:a16="http://schemas.microsoft.com/office/drawing/2014/main" id="{AC604CBE-2E13-7C4E-4473-D4911B330A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0541" y="0"/>
            <a:ext cx="4725228" cy="1719083"/>
          </a:xfrm>
          <a:prstGeom prst="rect">
            <a:avLst/>
          </a:prstGeom>
        </p:spPr>
      </p:pic>
      <p:pic>
        <p:nvPicPr>
          <p:cNvPr id="4104" name="Picture 8" descr="What if you could run society like a simulation before making real  decisions? 🤯 That's the idea behind MiroFish, built by 20-year-old Guo  Hangjiang in just 10 days. The project quickly shot">
            <a:extLst>
              <a:ext uri="{FF2B5EF4-FFF2-40B4-BE49-F238E27FC236}">
                <a16:creationId xmlns:a16="http://schemas.microsoft.com/office/drawing/2014/main" id="{97205178-2CC9-3A75-55FE-48BFC29D1FE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56196"/>
          <a:stretch>
            <a:fillRect/>
          </a:stretch>
        </p:blipFill>
        <p:spPr bwMode="auto">
          <a:xfrm>
            <a:off x="61294" y="1719083"/>
            <a:ext cx="2835077" cy="155933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2FAD4B1-35D5-002A-3563-BDB19026F12C}"/>
              </a:ext>
            </a:extLst>
          </p:cNvPr>
          <p:cNvSpPr txBox="1"/>
          <p:nvPr/>
        </p:nvSpPr>
        <p:spPr>
          <a:xfrm>
            <a:off x="2922518" y="2058682"/>
            <a:ext cx="2060300" cy="954107"/>
          </a:xfrm>
          <a:prstGeom prst="rect">
            <a:avLst/>
          </a:prstGeom>
          <a:noFill/>
        </p:spPr>
        <p:txBody>
          <a:bodyPr wrap="square">
            <a:spAutoFit/>
          </a:bodyPr>
          <a:lstStyle/>
          <a:p>
            <a:r>
              <a:rPr lang="en-VN" sz="2800"/>
              <a:t>Guo Hangjiang</a:t>
            </a:r>
          </a:p>
        </p:txBody>
      </p:sp>
      <p:sp>
        <p:nvSpPr>
          <p:cNvPr id="14" name="TextBox 13">
            <a:extLst>
              <a:ext uri="{FF2B5EF4-FFF2-40B4-BE49-F238E27FC236}">
                <a16:creationId xmlns:a16="http://schemas.microsoft.com/office/drawing/2014/main" id="{026B256C-223A-1EA7-685E-8D434E455787}"/>
              </a:ext>
            </a:extLst>
          </p:cNvPr>
          <p:cNvSpPr txBox="1"/>
          <p:nvPr/>
        </p:nvSpPr>
        <p:spPr>
          <a:xfrm>
            <a:off x="4691270" y="674875"/>
            <a:ext cx="1948069" cy="369332"/>
          </a:xfrm>
          <a:prstGeom prst="rect">
            <a:avLst/>
          </a:prstGeom>
          <a:noFill/>
        </p:spPr>
        <p:txBody>
          <a:bodyPr wrap="square">
            <a:spAutoFit/>
          </a:bodyPr>
          <a:lstStyle/>
          <a:p>
            <a:r>
              <a:rPr lang="en-US"/>
              <a:t>Peter Steinberger</a:t>
            </a:r>
            <a:endParaRPr lang="en-VN"/>
          </a:p>
        </p:txBody>
      </p:sp>
      <p:sp>
        <p:nvSpPr>
          <p:cNvPr id="15" name="TextBox 14">
            <a:extLst>
              <a:ext uri="{FF2B5EF4-FFF2-40B4-BE49-F238E27FC236}">
                <a16:creationId xmlns:a16="http://schemas.microsoft.com/office/drawing/2014/main" id="{22466600-57BE-5AFA-C4E0-3A87DCD04C2B}"/>
              </a:ext>
            </a:extLst>
          </p:cNvPr>
          <p:cNvSpPr txBox="1"/>
          <p:nvPr/>
        </p:nvSpPr>
        <p:spPr>
          <a:xfrm>
            <a:off x="121202" y="6334780"/>
            <a:ext cx="4465983" cy="523220"/>
          </a:xfrm>
          <a:prstGeom prst="rect">
            <a:avLst/>
          </a:prstGeom>
          <a:noFill/>
        </p:spPr>
        <p:txBody>
          <a:bodyPr wrap="square" rtlCol="0">
            <a:spAutoFit/>
          </a:bodyPr>
          <a:lstStyle/>
          <a:p>
            <a:r>
              <a:rPr lang="en-VN" sz="2800"/>
              <a:t>Build funded-startup</a:t>
            </a:r>
          </a:p>
        </p:txBody>
      </p:sp>
    </p:spTree>
    <p:extLst>
      <p:ext uri="{BB962C8B-B14F-4D97-AF65-F5344CB8AC3E}">
        <p14:creationId xmlns:p14="http://schemas.microsoft.com/office/powerpoint/2010/main" val="1456400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149037-4DFC-71CE-15D4-E57A76A59E9E}"/>
              </a:ext>
            </a:extLst>
          </p:cNvPr>
          <p:cNvSpPr>
            <a:spLocks noGrp="1"/>
          </p:cNvSpPr>
          <p:nvPr>
            <p:ph type="sldNum" sz="quarter" idx="12"/>
          </p:nvPr>
        </p:nvSpPr>
        <p:spPr/>
        <p:txBody>
          <a:bodyPr/>
          <a:lstStyle/>
          <a:p>
            <a:fld id="{6728FB6D-289F-493D-B429-BB6C39253D80}" type="slidenum">
              <a:rPr lang="vi-VN" smtClean="0"/>
              <a:t>10</a:t>
            </a:fld>
            <a:endParaRPr lang="vi-VN"/>
          </a:p>
        </p:txBody>
      </p:sp>
      <p:sp>
        <p:nvSpPr>
          <p:cNvPr id="5" name="Oval 4">
            <a:extLst>
              <a:ext uri="{FF2B5EF4-FFF2-40B4-BE49-F238E27FC236}">
                <a16:creationId xmlns:a16="http://schemas.microsoft.com/office/drawing/2014/main" id="{8E4BD0CD-0B34-B2EC-0A38-1F5D29482C8B}"/>
              </a:ext>
            </a:extLst>
          </p:cNvPr>
          <p:cNvSpPr/>
          <p:nvPr/>
        </p:nvSpPr>
        <p:spPr>
          <a:xfrm>
            <a:off x="4737652" y="1975446"/>
            <a:ext cx="1736034" cy="115294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7" name="TextBox 6">
            <a:extLst>
              <a:ext uri="{FF2B5EF4-FFF2-40B4-BE49-F238E27FC236}">
                <a16:creationId xmlns:a16="http://schemas.microsoft.com/office/drawing/2014/main" id="{DB82502D-ADAE-9E6E-2079-70B3CF75962E}"/>
              </a:ext>
            </a:extLst>
          </p:cNvPr>
          <p:cNvSpPr txBox="1"/>
          <p:nvPr/>
        </p:nvSpPr>
        <p:spPr>
          <a:xfrm>
            <a:off x="4737652" y="2304302"/>
            <a:ext cx="1736034" cy="369332"/>
          </a:xfrm>
          <a:prstGeom prst="rect">
            <a:avLst/>
          </a:prstGeom>
          <a:noFill/>
        </p:spPr>
        <p:txBody>
          <a:bodyPr wrap="square">
            <a:spAutoFit/>
          </a:bodyPr>
          <a:lstStyle/>
          <a:p>
            <a:pPr algn="ctr"/>
            <a:r>
              <a:rPr lang="en-VN">
                <a:solidFill>
                  <a:schemeClr val="tx1"/>
                </a:solidFill>
              </a:rPr>
              <a:t>Programming</a:t>
            </a:r>
          </a:p>
        </p:txBody>
      </p:sp>
      <p:sp>
        <p:nvSpPr>
          <p:cNvPr id="8" name="Oval 7">
            <a:extLst>
              <a:ext uri="{FF2B5EF4-FFF2-40B4-BE49-F238E27FC236}">
                <a16:creationId xmlns:a16="http://schemas.microsoft.com/office/drawing/2014/main" id="{CC361475-DC42-CB00-55FB-B76E16121439}"/>
              </a:ext>
            </a:extLst>
          </p:cNvPr>
          <p:cNvSpPr/>
          <p:nvPr/>
        </p:nvSpPr>
        <p:spPr>
          <a:xfrm>
            <a:off x="4340087" y="1872742"/>
            <a:ext cx="2531164" cy="214354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9" name="TextBox 8">
            <a:extLst>
              <a:ext uri="{FF2B5EF4-FFF2-40B4-BE49-F238E27FC236}">
                <a16:creationId xmlns:a16="http://schemas.microsoft.com/office/drawing/2014/main" id="{F4A059A3-9EE5-02D3-797A-2272F9DFA42F}"/>
              </a:ext>
            </a:extLst>
          </p:cNvPr>
          <p:cNvSpPr txBox="1"/>
          <p:nvPr/>
        </p:nvSpPr>
        <p:spPr>
          <a:xfrm>
            <a:off x="4313583" y="3037700"/>
            <a:ext cx="2425146" cy="369332"/>
          </a:xfrm>
          <a:prstGeom prst="rect">
            <a:avLst/>
          </a:prstGeom>
          <a:noFill/>
        </p:spPr>
        <p:txBody>
          <a:bodyPr wrap="square">
            <a:spAutoFit/>
          </a:bodyPr>
          <a:lstStyle/>
          <a:p>
            <a:pPr algn="ctr"/>
            <a:r>
              <a:rPr lang="en-VN"/>
              <a:t>Computer science</a:t>
            </a:r>
            <a:endParaRPr lang="en-VN">
              <a:solidFill>
                <a:schemeClr val="tx1"/>
              </a:solidFill>
            </a:endParaRPr>
          </a:p>
        </p:txBody>
      </p:sp>
      <p:sp>
        <p:nvSpPr>
          <p:cNvPr id="10" name="Oval 9">
            <a:extLst>
              <a:ext uri="{FF2B5EF4-FFF2-40B4-BE49-F238E27FC236}">
                <a16:creationId xmlns:a16="http://schemas.microsoft.com/office/drawing/2014/main" id="{D82F0674-87EF-4FDE-BB5B-19FF97875F49}"/>
              </a:ext>
            </a:extLst>
          </p:cNvPr>
          <p:cNvSpPr/>
          <p:nvPr/>
        </p:nvSpPr>
        <p:spPr>
          <a:xfrm>
            <a:off x="6135757" y="3075057"/>
            <a:ext cx="2531164" cy="214354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1" name="TextBox 10">
            <a:extLst>
              <a:ext uri="{FF2B5EF4-FFF2-40B4-BE49-F238E27FC236}">
                <a16:creationId xmlns:a16="http://schemas.microsoft.com/office/drawing/2014/main" id="{3EAAC744-89AA-5FCA-72C8-D0670B46B710}"/>
              </a:ext>
            </a:extLst>
          </p:cNvPr>
          <p:cNvSpPr txBox="1"/>
          <p:nvPr/>
        </p:nvSpPr>
        <p:spPr>
          <a:xfrm>
            <a:off x="6533322" y="3931331"/>
            <a:ext cx="1736034" cy="707886"/>
          </a:xfrm>
          <a:prstGeom prst="rect">
            <a:avLst/>
          </a:prstGeom>
          <a:noFill/>
        </p:spPr>
        <p:txBody>
          <a:bodyPr wrap="square">
            <a:spAutoFit/>
          </a:bodyPr>
          <a:lstStyle/>
          <a:p>
            <a:pPr algn="ctr"/>
            <a:r>
              <a:rPr lang="en-VN" sz="4000"/>
              <a:t>Math</a:t>
            </a:r>
            <a:endParaRPr lang="en-VN" sz="4000">
              <a:solidFill>
                <a:schemeClr val="tx1"/>
              </a:solidFill>
            </a:endParaRPr>
          </a:p>
        </p:txBody>
      </p:sp>
      <p:sp>
        <p:nvSpPr>
          <p:cNvPr id="12" name="Oval 11">
            <a:extLst>
              <a:ext uri="{FF2B5EF4-FFF2-40B4-BE49-F238E27FC236}">
                <a16:creationId xmlns:a16="http://schemas.microsoft.com/office/drawing/2014/main" id="{F0E08375-9D6A-DC04-89C3-4D10AAA1D702}"/>
              </a:ext>
            </a:extLst>
          </p:cNvPr>
          <p:cNvSpPr/>
          <p:nvPr/>
        </p:nvSpPr>
        <p:spPr>
          <a:xfrm>
            <a:off x="2067341" y="2335262"/>
            <a:ext cx="2531164" cy="214354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3" name="TextBox 12">
            <a:extLst>
              <a:ext uri="{FF2B5EF4-FFF2-40B4-BE49-F238E27FC236}">
                <a16:creationId xmlns:a16="http://schemas.microsoft.com/office/drawing/2014/main" id="{2C9005AA-30A1-FBEA-51E7-FA53DF42EF9A}"/>
              </a:ext>
            </a:extLst>
          </p:cNvPr>
          <p:cNvSpPr txBox="1"/>
          <p:nvPr/>
        </p:nvSpPr>
        <p:spPr>
          <a:xfrm>
            <a:off x="2206489" y="3075057"/>
            <a:ext cx="1736034" cy="707886"/>
          </a:xfrm>
          <a:prstGeom prst="rect">
            <a:avLst/>
          </a:prstGeom>
          <a:noFill/>
        </p:spPr>
        <p:txBody>
          <a:bodyPr wrap="square">
            <a:spAutoFit/>
          </a:bodyPr>
          <a:lstStyle/>
          <a:p>
            <a:pPr algn="ctr"/>
            <a:r>
              <a:rPr lang="en-VN" sz="4000"/>
              <a:t>Physic</a:t>
            </a:r>
            <a:endParaRPr lang="en-VN" sz="4000">
              <a:solidFill>
                <a:schemeClr val="tx1"/>
              </a:solidFill>
            </a:endParaRPr>
          </a:p>
        </p:txBody>
      </p:sp>
      <p:sp>
        <p:nvSpPr>
          <p:cNvPr id="14" name="Oval 13">
            <a:extLst>
              <a:ext uri="{FF2B5EF4-FFF2-40B4-BE49-F238E27FC236}">
                <a16:creationId xmlns:a16="http://schemas.microsoft.com/office/drawing/2014/main" id="{193ECBB2-585B-44F0-E844-B5991B0689F7}"/>
              </a:ext>
            </a:extLst>
          </p:cNvPr>
          <p:cNvSpPr/>
          <p:nvPr/>
        </p:nvSpPr>
        <p:spPr>
          <a:xfrm>
            <a:off x="1543881" y="1559753"/>
            <a:ext cx="7812154" cy="4796597"/>
          </a:xfrm>
          <a:prstGeom prst="ellipse">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5" name="TextBox 14">
            <a:extLst>
              <a:ext uri="{FF2B5EF4-FFF2-40B4-BE49-F238E27FC236}">
                <a16:creationId xmlns:a16="http://schemas.microsoft.com/office/drawing/2014/main" id="{F24F3F1F-0552-1E4F-696B-918C23AB854F}"/>
              </a:ext>
            </a:extLst>
          </p:cNvPr>
          <p:cNvSpPr txBox="1"/>
          <p:nvPr/>
        </p:nvSpPr>
        <p:spPr>
          <a:xfrm>
            <a:off x="7401339" y="136525"/>
            <a:ext cx="3604592" cy="646331"/>
          </a:xfrm>
          <a:prstGeom prst="rect">
            <a:avLst/>
          </a:prstGeom>
          <a:noFill/>
        </p:spPr>
        <p:txBody>
          <a:bodyPr wrap="square" rtlCol="0">
            <a:spAutoFit/>
          </a:bodyPr>
          <a:lstStyle/>
          <a:p>
            <a:r>
              <a:rPr lang="en-VN" sz="3600"/>
              <a:t>Tầm nhìn của bạn</a:t>
            </a:r>
          </a:p>
        </p:txBody>
      </p:sp>
      <p:cxnSp>
        <p:nvCxnSpPr>
          <p:cNvPr id="17" name="Straight Arrow Connector 16">
            <a:extLst>
              <a:ext uri="{FF2B5EF4-FFF2-40B4-BE49-F238E27FC236}">
                <a16:creationId xmlns:a16="http://schemas.microsoft.com/office/drawing/2014/main" id="{D085EF98-E423-094D-7677-0F6A180919CC}"/>
              </a:ext>
            </a:extLst>
          </p:cNvPr>
          <p:cNvCxnSpPr>
            <a:cxnSpLocks/>
          </p:cNvCxnSpPr>
          <p:nvPr/>
        </p:nvCxnSpPr>
        <p:spPr>
          <a:xfrm flipV="1">
            <a:off x="6506817" y="637229"/>
            <a:ext cx="974035" cy="103273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6E5400CD-FD08-AEFA-E22A-2C75B30AD72D}"/>
              </a:ext>
            </a:extLst>
          </p:cNvPr>
          <p:cNvSpPr txBox="1"/>
          <p:nvPr/>
        </p:nvSpPr>
        <p:spPr>
          <a:xfrm>
            <a:off x="7378148" y="782856"/>
            <a:ext cx="3604592" cy="1815882"/>
          </a:xfrm>
          <a:prstGeom prst="rect">
            <a:avLst/>
          </a:prstGeom>
          <a:noFill/>
        </p:spPr>
        <p:txBody>
          <a:bodyPr wrap="square" rtlCol="0">
            <a:spAutoFit/>
          </a:bodyPr>
          <a:lstStyle/>
          <a:p>
            <a:pPr algn="r"/>
            <a:r>
              <a:rPr lang="en-VN" sz="2800"/>
              <a:t>Nên làm gì?</a:t>
            </a:r>
          </a:p>
          <a:p>
            <a:pPr algn="r"/>
            <a:r>
              <a:rPr lang="en-VN" sz="2800"/>
              <a:t>Khi nào?</a:t>
            </a:r>
          </a:p>
          <a:p>
            <a:pPr algn="r"/>
            <a:r>
              <a:rPr lang="en-VN" sz="2800"/>
              <a:t>Với ai?</a:t>
            </a:r>
          </a:p>
          <a:p>
            <a:pPr algn="r"/>
            <a:r>
              <a:rPr lang="en-VN" sz="2800"/>
              <a:t>Bằng cách nào?</a:t>
            </a:r>
          </a:p>
        </p:txBody>
      </p:sp>
      <p:sp>
        <p:nvSpPr>
          <p:cNvPr id="22" name="Oval 21">
            <a:extLst>
              <a:ext uri="{FF2B5EF4-FFF2-40B4-BE49-F238E27FC236}">
                <a16:creationId xmlns:a16="http://schemas.microsoft.com/office/drawing/2014/main" id="{9A8AB83A-BD08-F053-B10D-B60A102023C2}"/>
              </a:ext>
            </a:extLst>
          </p:cNvPr>
          <p:cNvSpPr/>
          <p:nvPr/>
        </p:nvSpPr>
        <p:spPr>
          <a:xfrm>
            <a:off x="3833190" y="3618913"/>
            <a:ext cx="2726636" cy="133705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23" name="TextBox 22">
            <a:extLst>
              <a:ext uri="{FF2B5EF4-FFF2-40B4-BE49-F238E27FC236}">
                <a16:creationId xmlns:a16="http://schemas.microsoft.com/office/drawing/2014/main" id="{A87777F2-BFE6-BA25-D5B7-D60C134E399E}"/>
              </a:ext>
            </a:extLst>
          </p:cNvPr>
          <p:cNvSpPr txBox="1"/>
          <p:nvPr/>
        </p:nvSpPr>
        <p:spPr>
          <a:xfrm>
            <a:off x="4320210" y="4025452"/>
            <a:ext cx="1736034" cy="707886"/>
          </a:xfrm>
          <a:prstGeom prst="rect">
            <a:avLst/>
          </a:prstGeom>
          <a:noFill/>
        </p:spPr>
        <p:txBody>
          <a:bodyPr wrap="square">
            <a:spAutoFit/>
          </a:bodyPr>
          <a:lstStyle/>
          <a:p>
            <a:pPr algn="ctr"/>
            <a:r>
              <a:rPr lang="en-VN" sz="4000"/>
              <a:t>AI</a:t>
            </a:r>
            <a:endParaRPr lang="en-VN" sz="4000">
              <a:solidFill>
                <a:schemeClr val="tx1"/>
              </a:solidFill>
            </a:endParaRPr>
          </a:p>
        </p:txBody>
      </p:sp>
    </p:spTree>
    <p:extLst>
      <p:ext uri="{BB962C8B-B14F-4D97-AF65-F5344CB8AC3E}">
        <p14:creationId xmlns:p14="http://schemas.microsoft.com/office/powerpoint/2010/main" val="292049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9872EA-FA7E-3954-F625-60B2042A4B42}"/>
              </a:ext>
            </a:extLst>
          </p:cNvPr>
          <p:cNvSpPr>
            <a:spLocks noGrp="1"/>
          </p:cNvSpPr>
          <p:nvPr>
            <p:ph idx="1"/>
          </p:nvPr>
        </p:nvSpPr>
        <p:spPr>
          <a:xfrm>
            <a:off x="838200" y="1825625"/>
            <a:ext cx="9750168" cy="4351339"/>
          </a:xfrm>
        </p:spPr>
        <p:txBody>
          <a:bodyPr/>
          <a:lstStyle/>
          <a:p>
            <a:pPr marL="0" indent="0">
              <a:buNone/>
            </a:pPr>
            <a:r>
              <a:rPr lang="en-US" sz="3733"/>
              <a:t>1. AI for quantum</a:t>
            </a:r>
          </a:p>
          <a:p>
            <a:pPr marL="0" indent="0">
              <a:buNone/>
            </a:pPr>
            <a:r>
              <a:rPr lang="en-US" sz="3733"/>
              <a:t>2. Quantum for AI</a:t>
            </a:r>
          </a:p>
          <a:p>
            <a:pPr marL="0" indent="0">
              <a:buNone/>
            </a:pPr>
            <a:r>
              <a:rPr lang="en-US" sz="3733"/>
              <a:t>3. Quantum AI</a:t>
            </a:r>
          </a:p>
        </p:txBody>
      </p:sp>
      <p:sp>
        <p:nvSpPr>
          <p:cNvPr id="4" name="Slide Number Placeholder 3">
            <a:extLst>
              <a:ext uri="{FF2B5EF4-FFF2-40B4-BE49-F238E27FC236}">
                <a16:creationId xmlns:a16="http://schemas.microsoft.com/office/drawing/2014/main" id="{309F9E80-F5FE-C192-F7A7-16848472A45B}"/>
              </a:ext>
            </a:extLst>
          </p:cNvPr>
          <p:cNvSpPr>
            <a:spLocks noGrp="1"/>
          </p:cNvSpPr>
          <p:nvPr>
            <p:ph type="sldNum" sz="quarter" idx="12"/>
          </p:nvPr>
        </p:nvSpPr>
        <p:spPr/>
        <p:txBody>
          <a:bodyPr/>
          <a:lstStyle/>
          <a:p>
            <a:fld id="{6A45828D-F580-42DE-B77E-860980F07F32}" type="slidenum">
              <a:rPr lang="vi-VN" smtClean="0"/>
              <a:t>11</a:t>
            </a:fld>
            <a:endParaRPr lang="vi-VN"/>
          </a:p>
        </p:txBody>
      </p:sp>
      <p:sp>
        <p:nvSpPr>
          <p:cNvPr id="5" name="Oval 4">
            <a:extLst>
              <a:ext uri="{FF2B5EF4-FFF2-40B4-BE49-F238E27FC236}">
                <a16:creationId xmlns:a16="http://schemas.microsoft.com/office/drawing/2014/main" id="{9568DD99-D169-137D-4608-2CEDD3854899}"/>
              </a:ext>
            </a:extLst>
          </p:cNvPr>
          <p:cNvSpPr/>
          <p:nvPr/>
        </p:nvSpPr>
        <p:spPr>
          <a:xfrm>
            <a:off x="5063525" y="1119530"/>
            <a:ext cx="4810897" cy="3532657"/>
          </a:xfrm>
          <a:prstGeom prst="ellipse">
            <a:avLst/>
          </a:prstGeom>
          <a:solidFill>
            <a:schemeClr val="bg1">
              <a:lumMod val="85000"/>
              <a:alpha val="5045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6" name="TextBox 5">
            <a:extLst>
              <a:ext uri="{FF2B5EF4-FFF2-40B4-BE49-F238E27FC236}">
                <a16:creationId xmlns:a16="http://schemas.microsoft.com/office/drawing/2014/main" id="{D6CF1849-B232-A39A-EAF5-531C4BA27494}"/>
              </a:ext>
            </a:extLst>
          </p:cNvPr>
          <p:cNvSpPr txBox="1"/>
          <p:nvPr/>
        </p:nvSpPr>
        <p:spPr>
          <a:xfrm>
            <a:off x="5418780" y="2111545"/>
            <a:ext cx="1867243" cy="830997"/>
          </a:xfrm>
          <a:prstGeom prst="rect">
            <a:avLst/>
          </a:prstGeom>
          <a:noFill/>
        </p:spPr>
        <p:txBody>
          <a:bodyPr wrap="square" rtlCol="0">
            <a:spAutoFit/>
          </a:bodyPr>
          <a:lstStyle/>
          <a:p>
            <a:r>
              <a:rPr lang="en-VN" sz="2400"/>
              <a:t>Quantum computing</a:t>
            </a:r>
          </a:p>
        </p:txBody>
      </p:sp>
      <p:sp>
        <p:nvSpPr>
          <p:cNvPr id="7" name="Oval 6">
            <a:extLst>
              <a:ext uri="{FF2B5EF4-FFF2-40B4-BE49-F238E27FC236}">
                <a16:creationId xmlns:a16="http://schemas.microsoft.com/office/drawing/2014/main" id="{37CBF94F-3E57-8B33-3926-20259C47CA29}"/>
              </a:ext>
            </a:extLst>
          </p:cNvPr>
          <p:cNvSpPr/>
          <p:nvPr/>
        </p:nvSpPr>
        <p:spPr>
          <a:xfrm>
            <a:off x="7073561" y="1091512"/>
            <a:ext cx="4492364" cy="3532659"/>
          </a:xfrm>
          <a:prstGeom prst="ellipse">
            <a:avLst/>
          </a:prstGeom>
          <a:solidFill>
            <a:schemeClr val="accent2">
              <a:lumMod val="60000"/>
              <a:lumOff val="40000"/>
              <a:alpha val="49585"/>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8" name="TextBox 7">
            <a:extLst>
              <a:ext uri="{FF2B5EF4-FFF2-40B4-BE49-F238E27FC236}">
                <a16:creationId xmlns:a16="http://schemas.microsoft.com/office/drawing/2014/main" id="{A590AE75-D51A-7371-E41F-CB348EE8D6C8}"/>
              </a:ext>
            </a:extLst>
          </p:cNvPr>
          <p:cNvSpPr txBox="1"/>
          <p:nvPr/>
        </p:nvSpPr>
        <p:spPr>
          <a:xfrm>
            <a:off x="10175333" y="2669565"/>
            <a:ext cx="668868" cy="461665"/>
          </a:xfrm>
          <a:prstGeom prst="rect">
            <a:avLst/>
          </a:prstGeom>
          <a:noFill/>
        </p:spPr>
        <p:txBody>
          <a:bodyPr wrap="square" rtlCol="0">
            <a:spAutoFit/>
          </a:bodyPr>
          <a:lstStyle/>
          <a:p>
            <a:r>
              <a:rPr lang="en-VN" sz="2400"/>
              <a:t>AI</a:t>
            </a:r>
          </a:p>
        </p:txBody>
      </p:sp>
      <p:sp>
        <p:nvSpPr>
          <p:cNvPr id="9" name="Oval 8">
            <a:extLst>
              <a:ext uri="{FF2B5EF4-FFF2-40B4-BE49-F238E27FC236}">
                <a16:creationId xmlns:a16="http://schemas.microsoft.com/office/drawing/2014/main" id="{13D04C50-A140-DA1A-FA1F-6EA4E968DD9F}"/>
              </a:ext>
            </a:extLst>
          </p:cNvPr>
          <p:cNvSpPr/>
          <p:nvPr/>
        </p:nvSpPr>
        <p:spPr>
          <a:xfrm>
            <a:off x="7956038" y="1209559"/>
            <a:ext cx="2760361" cy="1233191"/>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10" name="TextBox 9">
            <a:extLst>
              <a:ext uri="{FF2B5EF4-FFF2-40B4-BE49-F238E27FC236}">
                <a16:creationId xmlns:a16="http://schemas.microsoft.com/office/drawing/2014/main" id="{DD04F080-3AD7-955D-18C1-8EB8398C29C4}"/>
              </a:ext>
            </a:extLst>
          </p:cNvPr>
          <p:cNvSpPr txBox="1"/>
          <p:nvPr/>
        </p:nvSpPr>
        <p:spPr>
          <a:xfrm>
            <a:off x="8257556" y="1425059"/>
            <a:ext cx="2207745" cy="461665"/>
          </a:xfrm>
          <a:prstGeom prst="rect">
            <a:avLst/>
          </a:prstGeom>
          <a:noFill/>
        </p:spPr>
        <p:txBody>
          <a:bodyPr wrap="square" rtlCol="0">
            <a:spAutoFit/>
          </a:bodyPr>
          <a:lstStyle/>
          <a:p>
            <a:r>
              <a:rPr lang="en-VN" sz="2400"/>
              <a:t>Quantum for AI</a:t>
            </a:r>
          </a:p>
        </p:txBody>
      </p:sp>
      <p:sp>
        <p:nvSpPr>
          <p:cNvPr id="11" name="Oval 10">
            <a:extLst>
              <a:ext uri="{FF2B5EF4-FFF2-40B4-BE49-F238E27FC236}">
                <a16:creationId xmlns:a16="http://schemas.microsoft.com/office/drawing/2014/main" id="{3D045ACF-26E4-4924-D40E-BE6E6199CAD9}"/>
              </a:ext>
            </a:extLst>
          </p:cNvPr>
          <p:cNvSpPr/>
          <p:nvPr/>
        </p:nvSpPr>
        <p:spPr>
          <a:xfrm>
            <a:off x="5978954" y="3288728"/>
            <a:ext cx="2980037" cy="1238392"/>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12" name="TextBox 11">
            <a:extLst>
              <a:ext uri="{FF2B5EF4-FFF2-40B4-BE49-F238E27FC236}">
                <a16:creationId xmlns:a16="http://schemas.microsoft.com/office/drawing/2014/main" id="{F0D00019-EA03-7610-E0D6-B616AD2841B7}"/>
              </a:ext>
            </a:extLst>
          </p:cNvPr>
          <p:cNvSpPr txBox="1"/>
          <p:nvPr/>
        </p:nvSpPr>
        <p:spPr>
          <a:xfrm>
            <a:off x="6365100" y="3726570"/>
            <a:ext cx="2207745" cy="461665"/>
          </a:xfrm>
          <a:prstGeom prst="rect">
            <a:avLst/>
          </a:prstGeom>
          <a:noFill/>
        </p:spPr>
        <p:txBody>
          <a:bodyPr wrap="square" rtlCol="0">
            <a:spAutoFit/>
          </a:bodyPr>
          <a:lstStyle/>
          <a:p>
            <a:r>
              <a:rPr lang="en-US" sz="2400"/>
              <a:t>AI for quantum</a:t>
            </a:r>
            <a:endParaRPr lang="en-VN" sz="2400"/>
          </a:p>
        </p:txBody>
      </p:sp>
      <p:sp>
        <p:nvSpPr>
          <p:cNvPr id="13" name="Oval 12">
            <a:extLst>
              <a:ext uri="{FF2B5EF4-FFF2-40B4-BE49-F238E27FC236}">
                <a16:creationId xmlns:a16="http://schemas.microsoft.com/office/drawing/2014/main" id="{95D05B15-1CF7-33F5-93B0-10F07D24EA8A}"/>
              </a:ext>
            </a:extLst>
          </p:cNvPr>
          <p:cNvSpPr/>
          <p:nvPr/>
        </p:nvSpPr>
        <p:spPr>
          <a:xfrm>
            <a:off x="7286024" y="2182650"/>
            <a:ext cx="2401673" cy="1418853"/>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14" name="TextBox 13">
            <a:extLst>
              <a:ext uri="{FF2B5EF4-FFF2-40B4-BE49-F238E27FC236}">
                <a16:creationId xmlns:a16="http://schemas.microsoft.com/office/drawing/2014/main" id="{7F7C303B-BE5C-E6FB-F728-6EAC71B77C58}"/>
              </a:ext>
            </a:extLst>
          </p:cNvPr>
          <p:cNvSpPr txBox="1"/>
          <p:nvPr/>
        </p:nvSpPr>
        <p:spPr>
          <a:xfrm>
            <a:off x="7582588" y="2611621"/>
            <a:ext cx="1867243" cy="461665"/>
          </a:xfrm>
          <a:prstGeom prst="rect">
            <a:avLst/>
          </a:prstGeom>
          <a:noFill/>
        </p:spPr>
        <p:txBody>
          <a:bodyPr wrap="square" rtlCol="0">
            <a:spAutoFit/>
          </a:bodyPr>
          <a:lstStyle/>
          <a:p>
            <a:r>
              <a:rPr lang="en-VN" sz="2400"/>
              <a:t>Quantum AI</a:t>
            </a:r>
          </a:p>
        </p:txBody>
      </p:sp>
    </p:spTree>
    <p:extLst>
      <p:ext uri="{BB962C8B-B14F-4D97-AF65-F5344CB8AC3E}">
        <p14:creationId xmlns:p14="http://schemas.microsoft.com/office/powerpoint/2010/main" val="4143088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2CB91-BD3F-44F3-43E9-2F258775BC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8CA476-D2C9-4C9E-2B3F-5EAF5E89658D}"/>
              </a:ext>
            </a:extLst>
          </p:cNvPr>
          <p:cNvSpPr>
            <a:spLocks noGrp="1"/>
          </p:cNvSpPr>
          <p:nvPr>
            <p:ph type="sldNum" sz="quarter" idx="12"/>
          </p:nvPr>
        </p:nvSpPr>
        <p:spPr/>
        <p:txBody>
          <a:bodyPr/>
          <a:lstStyle/>
          <a:p>
            <a:fld id="{6A45828D-F580-42DE-B77E-860980F07F32}" type="slidenum">
              <a:rPr lang="vi-VN" smtClean="0"/>
              <a:t>12</a:t>
            </a:fld>
            <a:endParaRPr lang="vi-VN"/>
          </a:p>
        </p:txBody>
      </p:sp>
      <p:sp>
        <p:nvSpPr>
          <p:cNvPr id="5" name="Oval 4">
            <a:extLst>
              <a:ext uri="{FF2B5EF4-FFF2-40B4-BE49-F238E27FC236}">
                <a16:creationId xmlns:a16="http://schemas.microsoft.com/office/drawing/2014/main" id="{08FC1E79-016B-0D43-2E7F-B2941F9C789D}"/>
              </a:ext>
            </a:extLst>
          </p:cNvPr>
          <p:cNvSpPr/>
          <p:nvPr/>
        </p:nvSpPr>
        <p:spPr>
          <a:xfrm>
            <a:off x="2293820" y="1690688"/>
            <a:ext cx="4810897" cy="3532657"/>
          </a:xfrm>
          <a:prstGeom prst="ellipse">
            <a:avLst/>
          </a:prstGeom>
          <a:solidFill>
            <a:schemeClr val="bg1">
              <a:lumMod val="85000"/>
              <a:alpha val="5045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6" name="TextBox 5">
            <a:extLst>
              <a:ext uri="{FF2B5EF4-FFF2-40B4-BE49-F238E27FC236}">
                <a16:creationId xmlns:a16="http://schemas.microsoft.com/office/drawing/2014/main" id="{1781C44A-44A1-AA06-2BAF-CBB9FCD778A9}"/>
              </a:ext>
            </a:extLst>
          </p:cNvPr>
          <p:cNvSpPr txBox="1"/>
          <p:nvPr/>
        </p:nvSpPr>
        <p:spPr>
          <a:xfrm>
            <a:off x="2649075" y="2682703"/>
            <a:ext cx="1867243" cy="1200329"/>
          </a:xfrm>
          <a:prstGeom prst="rect">
            <a:avLst/>
          </a:prstGeom>
          <a:noFill/>
        </p:spPr>
        <p:txBody>
          <a:bodyPr wrap="square" rtlCol="0">
            <a:spAutoFit/>
          </a:bodyPr>
          <a:lstStyle/>
          <a:p>
            <a:r>
              <a:rPr lang="en-VN" sz="2400"/>
              <a:t>Tư duy</a:t>
            </a:r>
          </a:p>
          <a:p>
            <a:r>
              <a:rPr lang="en-VN" sz="2400"/>
              <a:t>“tính toán</a:t>
            </a:r>
          </a:p>
          <a:p>
            <a:r>
              <a:rPr lang="en-US" sz="2400"/>
              <a:t>l</a:t>
            </a:r>
            <a:r>
              <a:rPr lang="en-VN" sz="2400"/>
              <a:t>ượng tử”</a:t>
            </a:r>
          </a:p>
        </p:txBody>
      </p:sp>
      <p:sp>
        <p:nvSpPr>
          <p:cNvPr id="7" name="Oval 6">
            <a:extLst>
              <a:ext uri="{FF2B5EF4-FFF2-40B4-BE49-F238E27FC236}">
                <a16:creationId xmlns:a16="http://schemas.microsoft.com/office/drawing/2014/main" id="{02F1A2BD-D6A1-F43D-95C8-5FFC7D7B9188}"/>
              </a:ext>
            </a:extLst>
          </p:cNvPr>
          <p:cNvSpPr/>
          <p:nvPr/>
        </p:nvSpPr>
        <p:spPr>
          <a:xfrm>
            <a:off x="4303856" y="1662670"/>
            <a:ext cx="4492364" cy="3532659"/>
          </a:xfrm>
          <a:prstGeom prst="ellipse">
            <a:avLst/>
          </a:prstGeom>
          <a:solidFill>
            <a:schemeClr val="accent2">
              <a:lumMod val="60000"/>
              <a:lumOff val="40000"/>
              <a:alpha val="49585"/>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8" name="TextBox 7">
            <a:extLst>
              <a:ext uri="{FF2B5EF4-FFF2-40B4-BE49-F238E27FC236}">
                <a16:creationId xmlns:a16="http://schemas.microsoft.com/office/drawing/2014/main" id="{80792CC3-E436-B38A-F261-67CAC38CB236}"/>
              </a:ext>
            </a:extLst>
          </p:cNvPr>
          <p:cNvSpPr txBox="1"/>
          <p:nvPr/>
        </p:nvSpPr>
        <p:spPr>
          <a:xfrm>
            <a:off x="7405628" y="3240723"/>
            <a:ext cx="668868" cy="830997"/>
          </a:xfrm>
          <a:prstGeom prst="rect">
            <a:avLst/>
          </a:prstGeom>
          <a:noFill/>
        </p:spPr>
        <p:txBody>
          <a:bodyPr wrap="square" rtlCol="0">
            <a:spAutoFit/>
          </a:bodyPr>
          <a:lstStyle/>
          <a:p>
            <a:r>
              <a:rPr lang="en-VN" sz="2400"/>
              <a:t>Học tập</a:t>
            </a:r>
          </a:p>
        </p:txBody>
      </p:sp>
      <p:sp>
        <p:nvSpPr>
          <p:cNvPr id="9" name="Oval 8">
            <a:extLst>
              <a:ext uri="{FF2B5EF4-FFF2-40B4-BE49-F238E27FC236}">
                <a16:creationId xmlns:a16="http://schemas.microsoft.com/office/drawing/2014/main" id="{73294C64-F64F-2CA2-0A5B-2930A4AF7A2E}"/>
              </a:ext>
            </a:extLst>
          </p:cNvPr>
          <p:cNvSpPr/>
          <p:nvPr/>
        </p:nvSpPr>
        <p:spPr>
          <a:xfrm>
            <a:off x="5186333" y="1780717"/>
            <a:ext cx="2760361" cy="1233191"/>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10" name="TextBox 9">
            <a:extLst>
              <a:ext uri="{FF2B5EF4-FFF2-40B4-BE49-F238E27FC236}">
                <a16:creationId xmlns:a16="http://schemas.microsoft.com/office/drawing/2014/main" id="{B0E14A30-C5C7-2F09-F0AB-E382A559A5C8}"/>
              </a:ext>
            </a:extLst>
          </p:cNvPr>
          <p:cNvSpPr txBox="1"/>
          <p:nvPr/>
        </p:nvSpPr>
        <p:spPr>
          <a:xfrm>
            <a:off x="5712446" y="1931694"/>
            <a:ext cx="2207745" cy="830997"/>
          </a:xfrm>
          <a:prstGeom prst="rect">
            <a:avLst/>
          </a:prstGeom>
          <a:noFill/>
        </p:spPr>
        <p:txBody>
          <a:bodyPr wrap="square" rtlCol="0">
            <a:spAutoFit/>
          </a:bodyPr>
          <a:lstStyle/>
          <a:p>
            <a:r>
              <a:rPr lang="en-VN" sz="2400"/>
              <a:t>Tư duy mới cho học tập</a:t>
            </a:r>
          </a:p>
        </p:txBody>
      </p:sp>
      <p:sp>
        <p:nvSpPr>
          <p:cNvPr id="11" name="Oval 10">
            <a:extLst>
              <a:ext uri="{FF2B5EF4-FFF2-40B4-BE49-F238E27FC236}">
                <a16:creationId xmlns:a16="http://schemas.microsoft.com/office/drawing/2014/main" id="{88565718-D754-F4E5-0804-543BF8F973ED}"/>
              </a:ext>
            </a:extLst>
          </p:cNvPr>
          <p:cNvSpPr/>
          <p:nvPr/>
        </p:nvSpPr>
        <p:spPr>
          <a:xfrm>
            <a:off x="3209249" y="3859886"/>
            <a:ext cx="2980037" cy="1238392"/>
          </a:xfrm>
          <a:prstGeom prst="ellipse">
            <a:avLst/>
          </a:prstGeom>
          <a:solidFill>
            <a:schemeClr val="accent4">
              <a:alpha val="7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00">
              <a:solidFill>
                <a:schemeClr val="tx1"/>
              </a:solidFill>
            </a:endParaRPr>
          </a:p>
        </p:txBody>
      </p:sp>
      <p:sp>
        <p:nvSpPr>
          <p:cNvPr id="12" name="TextBox 11">
            <a:extLst>
              <a:ext uri="{FF2B5EF4-FFF2-40B4-BE49-F238E27FC236}">
                <a16:creationId xmlns:a16="http://schemas.microsoft.com/office/drawing/2014/main" id="{C5DF15E6-D695-F14A-E031-F8A361733F22}"/>
              </a:ext>
            </a:extLst>
          </p:cNvPr>
          <p:cNvSpPr txBox="1"/>
          <p:nvPr/>
        </p:nvSpPr>
        <p:spPr>
          <a:xfrm>
            <a:off x="3482930" y="4030474"/>
            <a:ext cx="2613070" cy="830997"/>
          </a:xfrm>
          <a:prstGeom prst="rect">
            <a:avLst/>
          </a:prstGeom>
          <a:noFill/>
        </p:spPr>
        <p:txBody>
          <a:bodyPr wrap="square" rtlCol="0">
            <a:spAutoFit/>
          </a:bodyPr>
          <a:lstStyle/>
          <a:p>
            <a:r>
              <a:rPr lang="en-US" sz="2400"/>
              <a:t>Học tập để củng cổ tư duy “lượng tử”</a:t>
            </a:r>
            <a:endParaRPr lang="en-VN" sz="2400"/>
          </a:p>
        </p:txBody>
      </p:sp>
      <p:sp>
        <p:nvSpPr>
          <p:cNvPr id="16" name="TextBox 15">
            <a:extLst>
              <a:ext uri="{FF2B5EF4-FFF2-40B4-BE49-F238E27FC236}">
                <a16:creationId xmlns:a16="http://schemas.microsoft.com/office/drawing/2014/main" id="{6044D7AD-9AEB-E481-C4D0-77356D099A73}"/>
              </a:ext>
            </a:extLst>
          </p:cNvPr>
          <p:cNvSpPr txBox="1"/>
          <p:nvPr/>
        </p:nvSpPr>
        <p:spPr>
          <a:xfrm>
            <a:off x="3256812" y="5406507"/>
            <a:ext cx="5539408" cy="369332"/>
          </a:xfrm>
          <a:prstGeom prst="rect">
            <a:avLst/>
          </a:prstGeom>
          <a:noFill/>
        </p:spPr>
        <p:txBody>
          <a:bodyPr wrap="square" rtlCol="0">
            <a:spAutoFit/>
          </a:bodyPr>
          <a:lstStyle/>
          <a:p>
            <a:r>
              <a:rPr lang="en-VN"/>
              <a:t>Bài giảng lấy cảm hứng từ thầy Vũ Quang Tuyên, HCMUS</a:t>
            </a:r>
          </a:p>
        </p:txBody>
      </p:sp>
    </p:spTree>
    <p:extLst>
      <p:ext uri="{BB962C8B-B14F-4D97-AF65-F5344CB8AC3E}">
        <p14:creationId xmlns:p14="http://schemas.microsoft.com/office/powerpoint/2010/main" val="2559453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DBE03-6BF0-4D43-CDFE-091B23E69565}"/>
              </a:ext>
            </a:extLst>
          </p:cNvPr>
          <p:cNvSpPr>
            <a:spLocks noGrp="1"/>
          </p:cNvSpPr>
          <p:nvPr>
            <p:ph type="title"/>
          </p:nvPr>
        </p:nvSpPr>
        <p:spPr/>
        <p:txBody>
          <a:bodyPr/>
          <a:lstStyle/>
          <a:p>
            <a:r>
              <a:rPr lang="en-VN"/>
              <a:t>Minigame</a:t>
            </a:r>
          </a:p>
        </p:txBody>
      </p:sp>
      <p:sp>
        <p:nvSpPr>
          <p:cNvPr id="4" name="Slide Number Placeholder 3">
            <a:extLst>
              <a:ext uri="{FF2B5EF4-FFF2-40B4-BE49-F238E27FC236}">
                <a16:creationId xmlns:a16="http://schemas.microsoft.com/office/drawing/2014/main" id="{BB3D0FC0-4705-BA03-F51E-9621C3075597}"/>
              </a:ext>
            </a:extLst>
          </p:cNvPr>
          <p:cNvSpPr>
            <a:spLocks noGrp="1"/>
          </p:cNvSpPr>
          <p:nvPr>
            <p:ph type="sldNum" sz="quarter" idx="12"/>
          </p:nvPr>
        </p:nvSpPr>
        <p:spPr/>
        <p:txBody>
          <a:bodyPr/>
          <a:lstStyle/>
          <a:p>
            <a:fld id="{6728FB6D-289F-493D-B429-BB6C39253D80}" type="slidenum">
              <a:rPr lang="vi-VN" smtClean="0"/>
              <a:t>13</a:t>
            </a:fld>
            <a:endParaRPr lang="vi-VN"/>
          </a:p>
        </p:txBody>
      </p:sp>
      <p:pic>
        <p:nvPicPr>
          <p:cNvPr id="6146" name="Picture 2" descr="Уникальная головоломка со спичками - нужно найти все решения">
            <a:extLst>
              <a:ext uri="{FF2B5EF4-FFF2-40B4-BE49-F238E27FC236}">
                <a16:creationId xmlns:a16="http://schemas.microsoft.com/office/drawing/2014/main" id="{748637AE-51A9-5431-C9A7-116962833C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187574"/>
            <a:ext cx="7459436"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DF2C5C4-30F0-7575-241B-C91154377768}"/>
              </a:ext>
            </a:extLst>
          </p:cNvPr>
          <p:cNvSpPr txBox="1"/>
          <p:nvPr/>
        </p:nvSpPr>
        <p:spPr>
          <a:xfrm>
            <a:off x="838199" y="1518772"/>
            <a:ext cx="11009243" cy="646331"/>
          </a:xfrm>
          <a:prstGeom prst="rect">
            <a:avLst/>
          </a:prstGeom>
          <a:noFill/>
        </p:spPr>
        <p:txBody>
          <a:bodyPr wrap="square" rtlCol="0">
            <a:spAutoFit/>
          </a:bodyPr>
          <a:lstStyle/>
          <a:p>
            <a:r>
              <a:rPr lang="en-VN" sz="3600"/>
              <a:t>Di chuyển đúng 1 que diêm để biểu thức đúng</a:t>
            </a:r>
          </a:p>
        </p:txBody>
      </p:sp>
    </p:spTree>
    <p:extLst>
      <p:ext uri="{BB962C8B-B14F-4D97-AF65-F5344CB8AC3E}">
        <p14:creationId xmlns:p14="http://schemas.microsoft.com/office/powerpoint/2010/main" val="1267779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B104DE-82E2-A837-B6B9-77F8C5D0773D}"/>
                  </a:ext>
                </a:extLst>
              </p:cNvPr>
              <p:cNvSpPr>
                <a:spLocks noGrp="1"/>
              </p:cNvSpPr>
              <p:nvPr>
                <p:ph idx="1"/>
              </p:nvPr>
            </p:nvSpPr>
            <p:spPr>
              <a:xfrm>
                <a:off x="838200" y="1446368"/>
                <a:ext cx="10515600" cy="4351338"/>
              </a:xfrm>
            </p:spPr>
            <p:txBody>
              <a:bodyPr>
                <a:normAutofit/>
              </a:bodyPr>
              <a:lstStyle/>
              <a:p>
                <a:pPr marL="0" indent="0">
                  <a:buNone/>
                </a:pPr>
                <a14:m>
                  <m:oMath xmlns:m="http://schemas.openxmlformats.org/officeDocument/2006/math">
                    <m:d>
                      <m:dPr>
                        <m:begChr m:val="|"/>
                        <m:endChr m:val="⟩"/>
                        <m:ctrlPr>
                          <a:rPr lang="vi-VN" sz="2400" b="0" i="1">
                            <a:latin typeface="Cambria Math" panose="02040503050406030204" pitchFamily="18" charset="0"/>
                          </a:rPr>
                        </m:ctrlPr>
                      </m:dPr>
                      <m:e>
                        <m:r>
                          <a:rPr lang="vi-VN" sz="2400" b="0" i="1">
                            <a:latin typeface="Cambria Math" panose="02040503050406030204" pitchFamily="18" charset="0"/>
                          </a:rPr>
                          <m:t>𝜓</m:t>
                        </m:r>
                      </m:e>
                    </m:d>
                    <m:r>
                      <a:rPr lang="vi-VN" sz="2400" b="0" i="1">
                        <a:latin typeface="Cambria Math" panose="02040503050406030204" pitchFamily="18" charset="0"/>
                      </a:rPr>
                      <m:t>=</m:t>
                    </m:r>
                    <m:f>
                      <m:fPr>
                        <m:ctrlPr>
                          <a:rPr lang="vi-VN" sz="2400" b="0" i="1">
                            <a:latin typeface="Cambria Math" panose="02040503050406030204" pitchFamily="18" charset="0"/>
                          </a:rPr>
                        </m:ctrlPr>
                      </m:fPr>
                      <m:num>
                        <m:r>
                          <a:rPr lang="vi-VN" sz="2400" b="0" i="1">
                            <a:latin typeface="Cambria Math" panose="02040503050406030204" pitchFamily="18" charset="0"/>
                          </a:rPr>
                          <m:t>1</m:t>
                        </m:r>
                      </m:num>
                      <m:den>
                        <m:rad>
                          <m:radPr>
                            <m:degHide m:val="on"/>
                            <m:ctrlPr>
                              <a:rPr lang="vi-VN" sz="2400" b="0" i="1">
                                <a:latin typeface="Cambria Math" panose="02040503050406030204" pitchFamily="18" charset="0"/>
                              </a:rPr>
                            </m:ctrlPr>
                          </m:radPr>
                          <m:deg/>
                          <m:e>
                            <m:r>
                              <a:rPr lang="vi-VN" sz="2400" b="0" i="1">
                                <a:latin typeface="Cambria Math" panose="02040503050406030204" pitchFamily="18" charset="0"/>
                              </a:rPr>
                              <m:t>2</m:t>
                            </m:r>
                          </m:e>
                        </m:rad>
                      </m:den>
                    </m:f>
                    <m:d>
                      <m:dPr>
                        <m:ctrlPr>
                          <a:rPr lang="vi-VN" sz="2400" b="0" i="1">
                            <a:latin typeface="Cambria Math" panose="02040503050406030204" pitchFamily="18" charset="0"/>
                          </a:rPr>
                        </m:ctrlPr>
                      </m:dPr>
                      <m:e>
                        <m:d>
                          <m:dPr>
                            <m:begChr m:val="|"/>
                            <m:endChr m:val="⟩"/>
                            <m:ctrlPr>
                              <a:rPr lang="vi-VN" sz="2400" b="0" i="1">
                                <a:latin typeface="Cambria Math" panose="02040503050406030204" pitchFamily="18" charset="0"/>
                              </a:rPr>
                            </m:ctrlPr>
                          </m:dPr>
                          <m:e>
                            <m:r>
                              <a:rPr lang="vi-VN" sz="2400" b="0" i="1">
                                <a:latin typeface="Cambria Math" panose="02040503050406030204" pitchFamily="18" charset="0"/>
                              </a:rPr>
                              <m:t>0</m:t>
                            </m:r>
                          </m:e>
                        </m:d>
                        <m:r>
                          <a:rPr lang="vi-VN" sz="2400" b="0" i="1">
                            <a:latin typeface="Cambria Math" panose="02040503050406030204" pitchFamily="18" charset="0"/>
                          </a:rPr>
                          <m:t>+|1⟩</m:t>
                        </m:r>
                      </m:e>
                    </m:d>
                  </m:oMath>
                </a14:m>
                <a:r>
                  <a:rPr lang="en-VN" sz="2400"/>
                  <a:t> </a:t>
                </a:r>
              </a:p>
            </p:txBody>
          </p:sp>
        </mc:Choice>
        <mc:Fallback>
          <p:sp>
            <p:nvSpPr>
              <p:cNvPr id="3" name="Content Placeholder 2">
                <a:extLst>
                  <a:ext uri="{FF2B5EF4-FFF2-40B4-BE49-F238E27FC236}">
                    <a16:creationId xmlns:a16="http://schemas.microsoft.com/office/drawing/2014/main" id="{1EB104DE-82E2-A837-B6B9-77F8C5D0773D}"/>
                  </a:ext>
                </a:extLst>
              </p:cNvPr>
              <p:cNvSpPr>
                <a:spLocks noGrp="1" noRot="1" noChangeAspect="1" noMove="1" noResize="1" noEditPoints="1" noAdjustHandles="1" noChangeArrowheads="1" noChangeShapeType="1" noTextEdit="1"/>
              </p:cNvSpPr>
              <p:nvPr>
                <p:ph idx="1"/>
              </p:nvPr>
            </p:nvSpPr>
            <p:spPr>
              <a:xfrm>
                <a:off x="838200" y="1446368"/>
                <a:ext cx="10515600" cy="4351338"/>
              </a:xfrm>
              <a:blipFill>
                <a:blip r:embed="rId2"/>
                <a:stretch>
                  <a:fillRect/>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177DC677-EF15-7156-8110-913D83BF9BE8}"/>
              </a:ext>
            </a:extLst>
          </p:cNvPr>
          <p:cNvSpPr>
            <a:spLocks noGrp="1"/>
          </p:cNvSpPr>
          <p:nvPr>
            <p:ph type="sldNum" sz="quarter" idx="12"/>
          </p:nvPr>
        </p:nvSpPr>
        <p:spPr/>
        <p:txBody>
          <a:bodyPr/>
          <a:lstStyle/>
          <a:p>
            <a:fld id="{6728FB6D-289F-493D-B429-BB6C39253D80}" type="slidenum">
              <a:rPr lang="vi-VN" smtClean="0"/>
              <a:t>14</a:t>
            </a:fld>
            <a:endParaRPr lang="vi-VN"/>
          </a:p>
        </p:txBody>
      </p:sp>
      <p:sp>
        <p:nvSpPr>
          <p:cNvPr id="6" name="Title 5">
            <a:extLst>
              <a:ext uri="{FF2B5EF4-FFF2-40B4-BE49-F238E27FC236}">
                <a16:creationId xmlns:a16="http://schemas.microsoft.com/office/drawing/2014/main" id="{48358BA6-7081-3347-8353-35BA8C6E0A6C}"/>
              </a:ext>
            </a:extLst>
          </p:cNvPr>
          <p:cNvSpPr txBox="1">
            <a:spLocks noGrp="1"/>
          </p:cNvSpPr>
          <p:nvPr>
            <p:ph type="title"/>
          </p:nvPr>
        </p:nvSpPr>
        <p:spPr>
          <a:prstGeom prst="rect">
            <a:avLst/>
          </a:prstGeom>
          <a:noFill/>
        </p:spPr>
        <p:txBody>
          <a:bodyPr wrap="square" rtlCol="0">
            <a:spAutoFit/>
          </a:bodyPr>
          <a:lstStyle/>
          <a:p>
            <a:r>
              <a:rPr lang="en-VN" sz="4400"/>
              <a:t>Trạng thái chồng chập (Superposition)</a:t>
            </a:r>
          </a:p>
        </p:txBody>
      </p:sp>
      <p:pic>
        <p:nvPicPr>
          <p:cNvPr id="7" name="Picture 4" descr="Contradictions &amp; Criticisms">
            <a:extLst>
              <a:ext uri="{FF2B5EF4-FFF2-40B4-BE49-F238E27FC236}">
                <a16:creationId xmlns:a16="http://schemas.microsoft.com/office/drawing/2014/main" id="{F941215D-9892-C088-7803-479CCE4DD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14981"/>
            <a:ext cx="7772400" cy="4373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711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B2984-E87A-E3CA-4FAD-C7ACE67E54CD}"/>
              </a:ext>
            </a:extLst>
          </p:cNvPr>
          <p:cNvSpPr>
            <a:spLocks noGrp="1"/>
          </p:cNvSpPr>
          <p:nvPr>
            <p:ph idx="1"/>
          </p:nvPr>
        </p:nvSpPr>
        <p:spPr>
          <a:xfrm>
            <a:off x="7063409" y="1721920"/>
            <a:ext cx="4290390" cy="4455043"/>
          </a:xfrm>
        </p:spPr>
        <p:txBody>
          <a:bodyPr>
            <a:normAutofit/>
          </a:bodyPr>
          <a:lstStyle/>
          <a:p>
            <a:pPr marL="0" indent="0">
              <a:buNone/>
            </a:pPr>
            <a:r>
              <a:rPr lang="en-VN" sz="4000"/>
              <a:t>Luôn luôn có nhiều đáp án khả dĩ cho một vấn đề</a:t>
            </a:r>
          </a:p>
          <a:p>
            <a:pPr marL="0" indent="0">
              <a:buNone/>
            </a:pPr>
            <a:endParaRPr lang="en-VN" sz="4000"/>
          </a:p>
          <a:p>
            <a:pPr marL="0" indent="0">
              <a:buNone/>
            </a:pPr>
            <a:r>
              <a:rPr lang="en-VN" sz="4000"/>
              <a:t>Hãy cố gắng nghĩ ra nhiều giải pháp nhất có thể</a:t>
            </a:r>
          </a:p>
        </p:txBody>
      </p:sp>
      <p:sp>
        <p:nvSpPr>
          <p:cNvPr id="4" name="Slide Number Placeholder 3">
            <a:extLst>
              <a:ext uri="{FF2B5EF4-FFF2-40B4-BE49-F238E27FC236}">
                <a16:creationId xmlns:a16="http://schemas.microsoft.com/office/drawing/2014/main" id="{641F17F7-FDDA-C004-9C9B-645DD4F7C768}"/>
              </a:ext>
            </a:extLst>
          </p:cNvPr>
          <p:cNvSpPr>
            <a:spLocks noGrp="1"/>
          </p:cNvSpPr>
          <p:nvPr>
            <p:ph type="sldNum" sz="quarter" idx="12"/>
          </p:nvPr>
        </p:nvSpPr>
        <p:spPr/>
        <p:txBody>
          <a:bodyPr/>
          <a:lstStyle/>
          <a:p>
            <a:fld id="{6728FB6D-289F-493D-B429-BB6C39253D80}" type="slidenum">
              <a:rPr lang="vi-VN" smtClean="0"/>
              <a:t>15</a:t>
            </a:fld>
            <a:endParaRPr lang="vi-VN"/>
          </a:p>
        </p:txBody>
      </p:sp>
      <p:pic>
        <p:nvPicPr>
          <p:cNvPr id="5124" name="Picture 4" descr="Why Do Physicists Say A Multiverse Has To Exist?">
            <a:extLst>
              <a:ext uri="{FF2B5EF4-FFF2-40B4-BE49-F238E27FC236}">
                <a16:creationId xmlns:a16="http://schemas.microsoft.com/office/drawing/2014/main" id="{41DE55BB-DF79-9D10-0BB3-BFB4E17BB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545"/>
            <a:ext cx="4290390" cy="339655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Schrödinger's cat memes are best 😹 Follow ➮ @SeekersOfTheCosmos for more  interesting stuff about Science and the Universe 🌌 Follow ➮  @SeekersOfTheFuture for the latest tech breakthroughs🤖 ➖➖➖🐈➖➖➖🐈➖➖">
            <a:extLst>
              <a:ext uri="{FF2B5EF4-FFF2-40B4-BE49-F238E27FC236}">
                <a16:creationId xmlns:a16="http://schemas.microsoft.com/office/drawing/2014/main" id="{EB185DD1-E769-C3A8-DE36-88AA18CDE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322" y="2299252"/>
            <a:ext cx="4558748" cy="45587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24CC289-2A95-0FC9-732B-089CECA23847}"/>
              </a:ext>
            </a:extLst>
          </p:cNvPr>
          <p:cNvSpPr txBox="1"/>
          <p:nvPr/>
        </p:nvSpPr>
        <p:spPr>
          <a:xfrm>
            <a:off x="132521" y="3528884"/>
            <a:ext cx="4290390" cy="3329116"/>
          </a:xfrm>
          <a:prstGeom prst="rect">
            <a:avLst/>
          </a:prstGeom>
          <a:solidFill>
            <a:schemeClr val="bg1"/>
          </a:solidFill>
        </p:spPr>
        <p:txBody>
          <a:bodyPr wrap="square">
            <a:spAutoFit/>
          </a:bodyPr>
          <a:lstStyle/>
          <a:p>
            <a:pPr>
              <a:spcAft>
                <a:spcPts val="1125"/>
              </a:spcAft>
            </a:pPr>
            <a:r>
              <a:rPr lang="en-US" sz="2400">
                <a:latin typeface="Aptos" panose="020B0004020202020204" pitchFamily="34" charset="0"/>
              </a:rPr>
              <a:t>Rockefeller </a:t>
            </a:r>
            <a:r>
              <a:rPr lang="vi-VN" sz="2400" b="0" i="0">
                <a:solidFill>
                  <a:srgbClr val="000000"/>
                </a:solidFill>
                <a:effectLst/>
                <a:latin typeface="Aptos" panose="020B0004020202020204" pitchFamily="34" charset="0"/>
              </a:rPr>
              <a:t>hỏi người vận hành máy: "Bạn sử dụng bao nhiêu giọt chất hàn để hàn hoàn chỉnh một chiếc lon?".</a:t>
            </a:r>
          </a:p>
          <a:p>
            <a:pPr algn="l">
              <a:spcAft>
                <a:spcPts val="1125"/>
              </a:spcAft>
              <a:buNone/>
            </a:pPr>
            <a:r>
              <a:rPr lang="vi-VN" sz="2400">
                <a:solidFill>
                  <a:srgbClr val="000000"/>
                </a:solidFill>
                <a:latin typeface="Aptos" panose="020B0004020202020204" pitchFamily="34" charset="0"/>
              </a:rPr>
              <a:t>Đ</a:t>
            </a:r>
            <a:r>
              <a:rPr lang="vi-VN" sz="2400" b="0" i="0">
                <a:solidFill>
                  <a:srgbClr val="000000"/>
                </a:solidFill>
                <a:effectLst/>
                <a:latin typeface="Aptos" panose="020B0004020202020204" pitchFamily="34" charset="0"/>
              </a:rPr>
              <a:t>áp: "40 giọt, thưa ngài".</a:t>
            </a:r>
          </a:p>
          <a:p>
            <a:pPr algn="l">
              <a:spcAft>
                <a:spcPts val="1125"/>
              </a:spcAft>
              <a:buNone/>
            </a:pPr>
            <a:r>
              <a:rPr lang="vi-VN" sz="2400" b="0" i="0">
                <a:solidFill>
                  <a:srgbClr val="000000"/>
                </a:solidFill>
                <a:effectLst/>
                <a:latin typeface="Aptos" panose="020B0004020202020204" pitchFamily="34" charset="0"/>
              </a:rPr>
              <a:t>Rockefeller hỏi tiếp: "Vậy bạn đã bao giờ thử dùng 38 giọt chưa?".</a:t>
            </a:r>
          </a:p>
        </p:txBody>
      </p:sp>
      <p:sp>
        <p:nvSpPr>
          <p:cNvPr id="7" name="TextBox 6">
            <a:extLst>
              <a:ext uri="{FF2B5EF4-FFF2-40B4-BE49-F238E27FC236}">
                <a16:creationId xmlns:a16="http://schemas.microsoft.com/office/drawing/2014/main" id="{7F1249EA-F828-9E68-92B6-1A96497BC2B6}"/>
              </a:ext>
            </a:extLst>
          </p:cNvPr>
          <p:cNvSpPr txBox="1"/>
          <p:nvPr/>
        </p:nvSpPr>
        <p:spPr>
          <a:xfrm>
            <a:off x="4422911" y="108373"/>
            <a:ext cx="5645426" cy="1446550"/>
          </a:xfrm>
          <a:prstGeom prst="rect">
            <a:avLst/>
          </a:prstGeom>
          <a:noFill/>
        </p:spPr>
        <p:txBody>
          <a:bodyPr wrap="square" rtlCol="0">
            <a:spAutoFit/>
          </a:bodyPr>
          <a:lstStyle/>
          <a:p>
            <a:r>
              <a:rPr lang="en-VN" sz="4400"/>
              <a:t>Trạng thái chồng chập (Superposition)</a:t>
            </a:r>
          </a:p>
        </p:txBody>
      </p:sp>
    </p:spTree>
    <p:extLst>
      <p:ext uri="{BB962C8B-B14F-4D97-AF65-F5344CB8AC3E}">
        <p14:creationId xmlns:p14="http://schemas.microsoft.com/office/powerpoint/2010/main" val="356352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FFC2-7FD9-BCF4-1487-79A495512823}"/>
              </a:ext>
            </a:extLst>
          </p:cNvPr>
          <p:cNvSpPr>
            <a:spLocks noGrp="1"/>
          </p:cNvSpPr>
          <p:nvPr>
            <p:ph type="title"/>
          </p:nvPr>
        </p:nvSpPr>
        <p:spPr/>
        <p:txBody>
          <a:bodyPr/>
          <a:lstStyle/>
          <a:p>
            <a:r>
              <a:rPr lang="en-VN"/>
              <a:t>Trạng thái chồng chập</a:t>
            </a:r>
          </a:p>
        </p:txBody>
      </p:sp>
      <p:sp>
        <p:nvSpPr>
          <p:cNvPr id="3" name="Content Placeholder 2">
            <a:extLst>
              <a:ext uri="{FF2B5EF4-FFF2-40B4-BE49-F238E27FC236}">
                <a16:creationId xmlns:a16="http://schemas.microsoft.com/office/drawing/2014/main" id="{A13C1F29-6C0B-4B51-81CD-9A386D9206D9}"/>
              </a:ext>
            </a:extLst>
          </p:cNvPr>
          <p:cNvSpPr>
            <a:spLocks noGrp="1"/>
          </p:cNvSpPr>
          <p:nvPr>
            <p:ph idx="1"/>
          </p:nvPr>
        </p:nvSpPr>
        <p:spPr/>
        <p:txBody>
          <a:bodyPr>
            <a:normAutofit/>
          </a:bodyPr>
          <a:lstStyle/>
          <a:p>
            <a:pPr marL="0" indent="0">
              <a:buNone/>
            </a:pPr>
            <a:r>
              <a:rPr lang="en-VN" sz="4000"/>
              <a:t>Nếu bí, hãy thử thay đổi môi trường, phương pháp, điều kiện hay thậm chí cả bài toán ban đầu để mở rộng không gian trạng thái</a:t>
            </a:r>
          </a:p>
        </p:txBody>
      </p:sp>
      <p:sp>
        <p:nvSpPr>
          <p:cNvPr id="4" name="Slide Number Placeholder 3">
            <a:extLst>
              <a:ext uri="{FF2B5EF4-FFF2-40B4-BE49-F238E27FC236}">
                <a16:creationId xmlns:a16="http://schemas.microsoft.com/office/drawing/2014/main" id="{3ACAC2E9-7FCD-0E6A-219A-7AF4039C2CDD}"/>
              </a:ext>
            </a:extLst>
          </p:cNvPr>
          <p:cNvSpPr>
            <a:spLocks noGrp="1"/>
          </p:cNvSpPr>
          <p:nvPr>
            <p:ph type="sldNum" sz="quarter" idx="12"/>
          </p:nvPr>
        </p:nvSpPr>
        <p:spPr/>
        <p:txBody>
          <a:bodyPr/>
          <a:lstStyle/>
          <a:p>
            <a:fld id="{6728FB6D-289F-493D-B429-BB6C39253D80}" type="slidenum">
              <a:rPr lang="vi-VN" smtClean="0"/>
              <a:t>16</a:t>
            </a:fld>
            <a:endParaRPr lang="vi-VN"/>
          </a:p>
        </p:txBody>
      </p:sp>
    </p:spTree>
    <p:extLst>
      <p:ext uri="{BB962C8B-B14F-4D97-AF65-F5344CB8AC3E}">
        <p14:creationId xmlns:p14="http://schemas.microsoft.com/office/powerpoint/2010/main" val="3331248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BCA26-FF25-7557-2BFE-4310871D1CBC}"/>
              </a:ext>
            </a:extLst>
          </p:cNvPr>
          <p:cNvSpPr>
            <a:spLocks noGrp="1"/>
          </p:cNvSpPr>
          <p:nvPr>
            <p:ph type="title"/>
          </p:nvPr>
        </p:nvSpPr>
        <p:spPr/>
        <p:txBody>
          <a:bodyPr/>
          <a:lstStyle/>
          <a:p>
            <a:r>
              <a:rPr lang="en-VN"/>
              <a:t>Minigame</a:t>
            </a:r>
          </a:p>
        </p:txBody>
      </p:sp>
      <p:sp>
        <p:nvSpPr>
          <p:cNvPr id="3" name="Content Placeholder 2">
            <a:extLst>
              <a:ext uri="{FF2B5EF4-FFF2-40B4-BE49-F238E27FC236}">
                <a16:creationId xmlns:a16="http://schemas.microsoft.com/office/drawing/2014/main" id="{91A57E7C-87C4-D3DA-36BC-CE6D35F18DD5}"/>
              </a:ext>
            </a:extLst>
          </p:cNvPr>
          <p:cNvSpPr>
            <a:spLocks noGrp="1"/>
          </p:cNvSpPr>
          <p:nvPr>
            <p:ph idx="1"/>
          </p:nvPr>
        </p:nvSpPr>
        <p:spPr>
          <a:xfrm>
            <a:off x="838200" y="2663687"/>
            <a:ext cx="2355574" cy="3513276"/>
          </a:xfrm>
        </p:spPr>
        <p:txBody>
          <a:bodyPr>
            <a:normAutofit/>
          </a:bodyPr>
          <a:lstStyle/>
          <a:p>
            <a:pPr marL="0" indent="0">
              <a:buNone/>
            </a:pPr>
            <a:r>
              <a:rPr lang="en-VN" sz="19900"/>
              <a:t>3</a:t>
            </a:r>
          </a:p>
        </p:txBody>
      </p:sp>
      <p:sp>
        <p:nvSpPr>
          <p:cNvPr id="4" name="Slide Number Placeholder 3">
            <a:extLst>
              <a:ext uri="{FF2B5EF4-FFF2-40B4-BE49-F238E27FC236}">
                <a16:creationId xmlns:a16="http://schemas.microsoft.com/office/drawing/2014/main" id="{6689C317-9640-A581-0C26-D6274C72D8B5}"/>
              </a:ext>
            </a:extLst>
          </p:cNvPr>
          <p:cNvSpPr>
            <a:spLocks noGrp="1"/>
          </p:cNvSpPr>
          <p:nvPr>
            <p:ph type="sldNum" sz="quarter" idx="12"/>
          </p:nvPr>
        </p:nvSpPr>
        <p:spPr/>
        <p:txBody>
          <a:bodyPr/>
          <a:lstStyle/>
          <a:p>
            <a:fld id="{6728FB6D-289F-493D-B429-BB6C39253D80}" type="slidenum">
              <a:rPr lang="vi-VN" smtClean="0"/>
              <a:t>17</a:t>
            </a:fld>
            <a:endParaRPr lang="vi-VN"/>
          </a:p>
        </p:txBody>
      </p:sp>
      <p:sp>
        <p:nvSpPr>
          <p:cNvPr id="5" name="TextBox 4">
            <a:extLst>
              <a:ext uri="{FF2B5EF4-FFF2-40B4-BE49-F238E27FC236}">
                <a16:creationId xmlns:a16="http://schemas.microsoft.com/office/drawing/2014/main" id="{1E93A93A-E0A7-D77A-D802-68C35D944A67}"/>
              </a:ext>
            </a:extLst>
          </p:cNvPr>
          <p:cNvSpPr txBox="1"/>
          <p:nvPr/>
        </p:nvSpPr>
        <p:spPr>
          <a:xfrm>
            <a:off x="838199" y="1518772"/>
            <a:ext cx="11009243" cy="646331"/>
          </a:xfrm>
          <a:prstGeom prst="rect">
            <a:avLst/>
          </a:prstGeom>
          <a:noFill/>
        </p:spPr>
        <p:txBody>
          <a:bodyPr wrap="square" rtlCol="0">
            <a:spAutoFit/>
          </a:bodyPr>
          <a:lstStyle/>
          <a:p>
            <a:r>
              <a:rPr lang="en-VN" sz="3600"/>
              <a:t>Liệt kê sự vật, hiện tượng hoặc cá nhân liên quan tới số</a:t>
            </a:r>
          </a:p>
        </p:txBody>
      </p:sp>
      <p:sp>
        <p:nvSpPr>
          <p:cNvPr id="6" name="Content Placeholder 2">
            <a:extLst>
              <a:ext uri="{FF2B5EF4-FFF2-40B4-BE49-F238E27FC236}">
                <a16:creationId xmlns:a16="http://schemas.microsoft.com/office/drawing/2014/main" id="{60E18E33-9B73-4FCE-CD93-2608D4466CFE}"/>
              </a:ext>
            </a:extLst>
          </p:cNvPr>
          <p:cNvSpPr txBox="1">
            <a:spLocks/>
          </p:cNvSpPr>
          <p:nvPr/>
        </p:nvSpPr>
        <p:spPr>
          <a:xfrm>
            <a:off x="6430617" y="2663687"/>
            <a:ext cx="2355574" cy="35132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19900"/>
              <a:t>7</a:t>
            </a:r>
          </a:p>
        </p:txBody>
      </p:sp>
      <p:sp>
        <p:nvSpPr>
          <p:cNvPr id="7" name="TextBox 6">
            <a:extLst>
              <a:ext uri="{FF2B5EF4-FFF2-40B4-BE49-F238E27FC236}">
                <a16:creationId xmlns:a16="http://schemas.microsoft.com/office/drawing/2014/main" id="{A77ADFA7-6733-0C75-1F9E-DBE2B83FE689}"/>
              </a:ext>
            </a:extLst>
          </p:cNvPr>
          <p:cNvSpPr txBox="1"/>
          <p:nvPr/>
        </p:nvSpPr>
        <p:spPr>
          <a:xfrm>
            <a:off x="1126435" y="5433391"/>
            <a:ext cx="8044069" cy="1384995"/>
          </a:xfrm>
          <a:prstGeom prst="rect">
            <a:avLst/>
          </a:prstGeom>
          <a:noFill/>
        </p:spPr>
        <p:txBody>
          <a:bodyPr wrap="square" rtlCol="0">
            <a:spAutoFit/>
          </a:bodyPr>
          <a:lstStyle/>
          <a:p>
            <a:r>
              <a:rPr lang="en-VN" sz="2800"/>
              <a:t>3: </a:t>
            </a:r>
            <a:r>
              <a:rPr lang="en-US" sz="2800"/>
              <a:t>Kiềng ba chân, tam tai, 3gà, …</a:t>
            </a:r>
          </a:p>
          <a:p>
            <a:r>
              <a:rPr lang="en-US" sz="2800"/>
              <a:t>7: R7, 7 sắc cầu vồng, 7 nốt nhạc, 7 lục địa, …</a:t>
            </a:r>
          </a:p>
          <a:p>
            <a:r>
              <a:rPr lang="en-US" sz="2800"/>
              <a:t>37: 3 chìm 7 nổi, tam sao thất bản, …</a:t>
            </a:r>
            <a:r>
              <a:rPr lang="en-VN" sz="2800"/>
              <a:t> </a:t>
            </a:r>
          </a:p>
        </p:txBody>
      </p:sp>
      <p:sp>
        <p:nvSpPr>
          <p:cNvPr id="9" name="TextBox 8">
            <a:extLst>
              <a:ext uri="{FF2B5EF4-FFF2-40B4-BE49-F238E27FC236}">
                <a16:creationId xmlns:a16="http://schemas.microsoft.com/office/drawing/2014/main" id="{3F9BAF73-F50A-915D-5394-47587550D0E2}"/>
              </a:ext>
            </a:extLst>
          </p:cNvPr>
          <p:cNvSpPr txBox="1"/>
          <p:nvPr/>
        </p:nvSpPr>
        <p:spPr>
          <a:xfrm>
            <a:off x="3415748" y="2844335"/>
            <a:ext cx="6394174" cy="2215991"/>
          </a:xfrm>
          <a:prstGeom prst="rect">
            <a:avLst/>
          </a:prstGeom>
          <a:noFill/>
        </p:spPr>
        <p:txBody>
          <a:bodyPr wrap="square">
            <a:spAutoFit/>
          </a:bodyPr>
          <a:lstStyle/>
          <a:p>
            <a:r>
              <a:rPr lang="en-US" sz="13800"/>
              <a:t>v</a:t>
            </a:r>
            <a:r>
              <a:rPr lang="en-VN" sz="13800"/>
              <a:t>à</a:t>
            </a:r>
            <a:endParaRPr lang="en-VN" sz="2400"/>
          </a:p>
        </p:txBody>
      </p:sp>
    </p:spTree>
    <p:extLst>
      <p:ext uri="{BB962C8B-B14F-4D97-AF65-F5344CB8AC3E}">
        <p14:creationId xmlns:p14="http://schemas.microsoft.com/office/powerpoint/2010/main" val="238878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68379F-D2C3-3DDC-AE3F-EFED1EB47061}"/>
              </a:ext>
            </a:extLst>
          </p:cNvPr>
          <p:cNvSpPr>
            <a:spLocks noGrp="1"/>
          </p:cNvSpPr>
          <p:nvPr>
            <p:ph type="sldNum" sz="quarter" idx="12"/>
          </p:nvPr>
        </p:nvSpPr>
        <p:spPr/>
        <p:txBody>
          <a:bodyPr/>
          <a:lstStyle/>
          <a:p>
            <a:fld id="{6728FB6D-289F-493D-B429-BB6C39253D80}" type="slidenum">
              <a:rPr lang="vi-VN" smtClean="0"/>
              <a:t>18</a:t>
            </a:fld>
            <a:endParaRPr lang="vi-VN"/>
          </a:p>
        </p:txBody>
      </p:sp>
      <p:pic>
        <p:nvPicPr>
          <p:cNvPr id="13314" name="Picture 2" descr="Vật lí Lượng tử Tốc hành (Phần 2) | Thư Viện Vật Lý">
            <a:extLst>
              <a:ext uri="{FF2B5EF4-FFF2-40B4-BE49-F238E27FC236}">
                <a16:creationId xmlns:a16="http://schemas.microsoft.com/office/drawing/2014/main" id="{C4C6873C-6903-C3F7-EF82-ACF05884E9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536" b="1990"/>
          <a:stretch>
            <a:fillRect/>
          </a:stretch>
        </p:blipFill>
        <p:spPr bwMode="auto">
          <a:xfrm>
            <a:off x="715617" y="42696"/>
            <a:ext cx="8610600" cy="68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675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73D3BE-E72D-2D15-9453-60D9ADB9C5E7}"/>
              </a:ext>
            </a:extLst>
          </p:cNvPr>
          <p:cNvSpPr>
            <a:spLocks noGrp="1"/>
          </p:cNvSpPr>
          <p:nvPr>
            <p:ph type="sldNum" sz="quarter" idx="12"/>
          </p:nvPr>
        </p:nvSpPr>
        <p:spPr/>
        <p:txBody>
          <a:bodyPr/>
          <a:lstStyle/>
          <a:p>
            <a:fld id="{6728FB6D-289F-493D-B429-BB6C39253D80}" type="slidenum">
              <a:rPr lang="vi-VN" smtClean="0"/>
              <a:t>19</a:t>
            </a:fld>
            <a:endParaRPr lang="vi-VN"/>
          </a:p>
        </p:txBody>
      </p:sp>
      <p:sp>
        <p:nvSpPr>
          <p:cNvPr id="5" name="Title 4">
            <a:extLst>
              <a:ext uri="{FF2B5EF4-FFF2-40B4-BE49-F238E27FC236}">
                <a16:creationId xmlns:a16="http://schemas.microsoft.com/office/drawing/2014/main" id="{10BDFD1B-2C98-E1E8-EA05-ADFF5EABBBF3}"/>
              </a:ext>
            </a:extLst>
          </p:cNvPr>
          <p:cNvSpPr txBox="1">
            <a:spLocks noGrp="1"/>
          </p:cNvSpPr>
          <p:nvPr>
            <p:ph type="title"/>
          </p:nvPr>
        </p:nvSpPr>
        <p:spPr>
          <a:xfrm>
            <a:off x="838200" y="677041"/>
            <a:ext cx="10515600" cy="701731"/>
          </a:xfrm>
          <a:prstGeom prst="rect">
            <a:avLst/>
          </a:prstGeom>
          <a:noFill/>
        </p:spPr>
        <p:txBody>
          <a:bodyPr wrap="square" rtlCol="0">
            <a:spAutoFit/>
          </a:bodyPr>
          <a:lstStyle/>
          <a:p>
            <a:r>
              <a:rPr lang="en-VN"/>
              <a:t>Giao thoa </a:t>
            </a:r>
            <a:r>
              <a:rPr lang="en-VN" sz="4400"/>
              <a:t>(</a:t>
            </a:r>
            <a:r>
              <a:rPr lang="en-US"/>
              <a:t>interference</a:t>
            </a:r>
            <a:r>
              <a:rPr lang="en-VN" sz="4400"/>
              <a:t>)</a:t>
            </a:r>
          </a:p>
        </p:txBody>
      </p:sp>
      <p:sp>
        <p:nvSpPr>
          <p:cNvPr id="6" name="Content Placeholder 2">
            <a:extLst>
              <a:ext uri="{FF2B5EF4-FFF2-40B4-BE49-F238E27FC236}">
                <a16:creationId xmlns:a16="http://schemas.microsoft.com/office/drawing/2014/main" id="{7C92AC62-153D-E2A4-285D-8A8E62AEBA69}"/>
              </a:ext>
            </a:extLst>
          </p:cNvPr>
          <p:cNvSpPr>
            <a:spLocks noGrp="1"/>
          </p:cNvSpPr>
          <p:nvPr>
            <p:ph idx="1"/>
          </p:nvPr>
        </p:nvSpPr>
        <p:spPr>
          <a:xfrm>
            <a:off x="838199" y="1490267"/>
            <a:ext cx="10515600" cy="1193558"/>
          </a:xfrm>
        </p:spPr>
        <p:txBody>
          <a:bodyPr>
            <a:normAutofit/>
          </a:bodyPr>
          <a:lstStyle/>
          <a:p>
            <a:pPr marL="0" indent="0">
              <a:buNone/>
            </a:pPr>
            <a:r>
              <a:rPr lang="en-VN"/>
              <a:t>Khi kết hợp có thể tạo ra cộng hưởng (nếu cùng pha) </a:t>
            </a:r>
          </a:p>
          <a:p>
            <a:pPr marL="0" indent="0">
              <a:buNone/>
            </a:pPr>
            <a:r>
              <a:rPr lang="en-VN"/>
              <a:t>hoặc triệt tiêu nhau (nếu khác pha)</a:t>
            </a:r>
          </a:p>
        </p:txBody>
      </p:sp>
      <p:pic>
        <p:nvPicPr>
          <p:cNvPr id="8194" name="Picture 2" descr="Internet - Free web icons">
            <a:extLst>
              <a:ext uri="{FF2B5EF4-FFF2-40B4-BE49-F238E27FC236}">
                <a16:creationId xmlns:a16="http://schemas.microsoft.com/office/drawing/2014/main" id="{16E253B1-1895-CA10-5023-4E09CA92B7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2683825"/>
            <a:ext cx="1798984" cy="17989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3F5D69C-5BFD-29FF-198B-5FB12A05440B}"/>
                  </a:ext>
                </a:extLst>
              </p:cNvPr>
              <p:cNvSpPr txBox="1"/>
              <p:nvPr/>
            </p:nvSpPr>
            <p:spPr>
              <a:xfrm>
                <a:off x="2736574" y="3253409"/>
                <a:ext cx="599523" cy="73866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vi-VN" sz="4800" b="0" i="1">
                          <a:latin typeface="Cambria Math" panose="02040503050406030204" pitchFamily="18" charset="0"/>
                        </a:rPr>
                        <m:t>+</m:t>
                      </m:r>
                    </m:oMath>
                  </m:oMathPara>
                </a14:m>
                <a:endParaRPr lang="en-VN" sz="4800"/>
              </a:p>
            </p:txBody>
          </p:sp>
        </mc:Choice>
        <mc:Fallback>
          <p:sp>
            <p:nvSpPr>
              <p:cNvPr id="9" name="TextBox 8">
                <a:extLst>
                  <a:ext uri="{FF2B5EF4-FFF2-40B4-BE49-F238E27FC236}">
                    <a16:creationId xmlns:a16="http://schemas.microsoft.com/office/drawing/2014/main" id="{93F5D69C-5BFD-29FF-198B-5FB12A05440B}"/>
                  </a:ext>
                </a:extLst>
              </p:cNvPr>
              <p:cNvSpPr txBox="1">
                <a:spLocks noRot="1" noChangeAspect="1" noMove="1" noResize="1" noEditPoints="1" noAdjustHandles="1" noChangeArrowheads="1" noChangeShapeType="1" noTextEdit="1"/>
              </p:cNvSpPr>
              <p:nvPr/>
            </p:nvSpPr>
            <p:spPr>
              <a:xfrm>
                <a:off x="2736574" y="3253409"/>
                <a:ext cx="599523" cy="738664"/>
              </a:xfrm>
              <a:prstGeom prst="rect">
                <a:avLst/>
              </a:prstGeom>
              <a:blipFill>
                <a:blip r:embed="rId3"/>
                <a:stretch>
                  <a:fillRect l="-20833" r="-20833" b="-5085"/>
                </a:stretch>
              </a:blipFill>
            </p:spPr>
            <p:txBody>
              <a:bodyPr/>
              <a:lstStyle/>
              <a:p>
                <a:r>
                  <a:rPr lang="en-VN">
                    <a:noFill/>
                  </a:rPr>
                  <a:t> </a:t>
                </a:r>
              </a:p>
            </p:txBody>
          </p:sp>
        </mc:Fallback>
      </mc:AlternateContent>
      <p:pic>
        <p:nvPicPr>
          <p:cNvPr id="8196" name="Picture 4" descr="Music Icon SVG Vector &amp; PNG Free Download | UXWing">
            <a:extLst>
              <a:ext uri="{FF2B5EF4-FFF2-40B4-BE49-F238E27FC236}">
                <a16:creationId xmlns:a16="http://schemas.microsoft.com/office/drawing/2014/main" id="{7CF1F377-8776-85F6-8F1A-CBD24AC6D0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5488" y="2683825"/>
            <a:ext cx="1532052" cy="17989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9167081-1E9D-3005-7D73-A1CF0624B107}"/>
                  </a:ext>
                </a:extLst>
              </p:cNvPr>
              <p:cNvSpPr txBox="1"/>
              <p:nvPr/>
            </p:nvSpPr>
            <p:spPr>
              <a:xfrm>
                <a:off x="5056854" y="3253409"/>
                <a:ext cx="599523" cy="73866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vi-VN" sz="4800" b="0" i="1">
                          <a:latin typeface="Cambria Math" panose="02040503050406030204" pitchFamily="18" charset="0"/>
                        </a:rPr>
                        <m:t>=</m:t>
                      </m:r>
                    </m:oMath>
                  </m:oMathPara>
                </a14:m>
                <a:endParaRPr lang="en-VN" sz="4800"/>
              </a:p>
            </p:txBody>
          </p:sp>
        </mc:Choice>
        <mc:Fallback>
          <p:sp>
            <p:nvSpPr>
              <p:cNvPr id="10" name="TextBox 9">
                <a:extLst>
                  <a:ext uri="{FF2B5EF4-FFF2-40B4-BE49-F238E27FC236}">
                    <a16:creationId xmlns:a16="http://schemas.microsoft.com/office/drawing/2014/main" id="{A9167081-1E9D-3005-7D73-A1CF0624B107}"/>
                  </a:ext>
                </a:extLst>
              </p:cNvPr>
              <p:cNvSpPr txBox="1">
                <a:spLocks noRot="1" noChangeAspect="1" noMove="1" noResize="1" noEditPoints="1" noAdjustHandles="1" noChangeArrowheads="1" noChangeShapeType="1" noTextEdit="1"/>
              </p:cNvSpPr>
              <p:nvPr/>
            </p:nvSpPr>
            <p:spPr>
              <a:xfrm>
                <a:off x="5056854" y="3253409"/>
                <a:ext cx="599523" cy="738664"/>
              </a:xfrm>
              <a:prstGeom prst="rect">
                <a:avLst/>
              </a:prstGeom>
              <a:blipFill>
                <a:blip r:embed="rId5"/>
                <a:stretch>
                  <a:fillRect l="-10417" r="-8333"/>
                </a:stretch>
              </a:blipFill>
            </p:spPr>
            <p:txBody>
              <a:bodyPr/>
              <a:lstStyle/>
              <a:p>
                <a:r>
                  <a:rPr lang="en-VN">
                    <a:noFill/>
                  </a:rPr>
                  <a:t> </a:t>
                </a:r>
              </a:p>
            </p:txBody>
          </p:sp>
        </mc:Fallback>
      </mc:AlternateContent>
      <p:pic>
        <p:nvPicPr>
          <p:cNvPr id="8198" name="Picture 6">
            <a:extLst>
              <a:ext uri="{FF2B5EF4-FFF2-40B4-BE49-F238E27FC236}">
                <a16:creationId xmlns:a16="http://schemas.microsoft.com/office/drawing/2014/main" id="{6319527D-3FC1-C4BA-E2A3-FCE9F6EB51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9978" y="2529526"/>
            <a:ext cx="1885408" cy="1953283"/>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Xe Đạp Điện Dylexe VC K1 Nhập Khẩu Chính Hãng">
            <a:extLst>
              <a:ext uri="{FF2B5EF4-FFF2-40B4-BE49-F238E27FC236}">
                <a16:creationId xmlns:a16="http://schemas.microsoft.com/office/drawing/2014/main" id="{F6811737-EBE2-C72F-3D5E-938E0F536D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6097" y="4773563"/>
            <a:ext cx="1962762" cy="180560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nternet - Free web icons">
            <a:extLst>
              <a:ext uri="{FF2B5EF4-FFF2-40B4-BE49-F238E27FC236}">
                <a16:creationId xmlns:a16="http://schemas.microsoft.com/office/drawing/2014/main" id="{633B0A13-1A1D-D19A-DB94-366DCF5FC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4773563"/>
            <a:ext cx="1798984" cy="17989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D08E93B-FB74-CE05-2CC6-2E43B64BB766}"/>
                  </a:ext>
                </a:extLst>
              </p:cNvPr>
              <p:cNvSpPr txBox="1"/>
              <p:nvPr/>
            </p:nvSpPr>
            <p:spPr>
              <a:xfrm>
                <a:off x="2736574" y="5343147"/>
                <a:ext cx="599523" cy="73866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vi-VN" sz="4800" b="0" i="1">
                          <a:latin typeface="Cambria Math" panose="02040503050406030204" pitchFamily="18" charset="0"/>
                        </a:rPr>
                        <m:t>+</m:t>
                      </m:r>
                    </m:oMath>
                  </m:oMathPara>
                </a14:m>
                <a:endParaRPr lang="en-VN" sz="4800"/>
              </a:p>
            </p:txBody>
          </p:sp>
        </mc:Choice>
        <mc:Fallback>
          <p:sp>
            <p:nvSpPr>
              <p:cNvPr id="12" name="TextBox 11">
                <a:extLst>
                  <a:ext uri="{FF2B5EF4-FFF2-40B4-BE49-F238E27FC236}">
                    <a16:creationId xmlns:a16="http://schemas.microsoft.com/office/drawing/2014/main" id="{AD08E93B-FB74-CE05-2CC6-2E43B64BB766}"/>
                  </a:ext>
                </a:extLst>
              </p:cNvPr>
              <p:cNvSpPr txBox="1">
                <a:spLocks noRot="1" noChangeAspect="1" noMove="1" noResize="1" noEditPoints="1" noAdjustHandles="1" noChangeArrowheads="1" noChangeShapeType="1" noTextEdit="1"/>
              </p:cNvSpPr>
              <p:nvPr/>
            </p:nvSpPr>
            <p:spPr>
              <a:xfrm>
                <a:off x="2736574" y="5343147"/>
                <a:ext cx="599523" cy="738664"/>
              </a:xfrm>
              <a:prstGeom prst="rect">
                <a:avLst/>
              </a:prstGeom>
              <a:blipFill>
                <a:blip r:embed="rId8"/>
                <a:stretch>
                  <a:fillRect l="-20833" r="-20833" b="-333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B23E65F8-A413-FE2A-3C8C-E4FB6695145C}"/>
                  </a:ext>
                </a:extLst>
              </p:cNvPr>
              <p:cNvSpPr txBox="1"/>
              <p:nvPr/>
            </p:nvSpPr>
            <p:spPr>
              <a:xfrm>
                <a:off x="5398250" y="5343147"/>
                <a:ext cx="599523" cy="73866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vi-VN" sz="4800" b="0" i="1">
                          <a:latin typeface="Cambria Math" panose="02040503050406030204" pitchFamily="18" charset="0"/>
                        </a:rPr>
                        <m:t>=</m:t>
                      </m:r>
                    </m:oMath>
                  </m:oMathPara>
                </a14:m>
                <a:endParaRPr lang="en-VN" sz="4800"/>
              </a:p>
            </p:txBody>
          </p:sp>
        </mc:Choice>
        <mc:Fallback>
          <p:sp>
            <p:nvSpPr>
              <p:cNvPr id="13" name="TextBox 12">
                <a:extLst>
                  <a:ext uri="{FF2B5EF4-FFF2-40B4-BE49-F238E27FC236}">
                    <a16:creationId xmlns:a16="http://schemas.microsoft.com/office/drawing/2014/main" id="{B23E65F8-A413-FE2A-3C8C-E4FB6695145C}"/>
                  </a:ext>
                </a:extLst>
              </p:cNvPr>
              <p:cNvSpPr txBox="1">
                <a:spLocks noRot="1" noChangeAspect="1" noMove="1" noResize="1" noEditPoints="1" noAdjustHandles="1" noChangeArrowheads="1" noChangeShapeType="1" noTextEdit="1"/>
              </p:cNvSpPr>
              <p:nvPr/>
            </p:nvSpPr>
            <p:spPr>
              <a:xfrm>
                <a:off x="5398250" y="5343147"/>
                <a:ext cx="599523" cy="738664"/>
              </a:xfrm>
              <a:prstGeom prst="rect">
                <a:avLst/>
              </a:prstGeom>
              <a:blipFill>
                <a:blip r:embed="rId9"/>
                <a:stretch>
                  <a:fillRect l="-10417" r="-8333"/>
                </a:stretch>
              </a:blipFill>
            </p:spPr>
            <p:txBody>
              <a:bodyPr/>
              <a:lstStyle/>
              <a:p>
                <a:r>
                  <a:rPr lang="en-VN">
                    <a:noFill/>
                  </a:rPr>
                  <a:t> </a:t>
                </a:r>
              </a:p>
            </p:txBody>
          </p:sp>
        </mc:Fallback>
      </mc:AlternateContent>
      <p:pic>
        <p:nvPicPr>
          <p:cNvPr id="8204" name="Picture 12" descr="Grab Logo PNG Vectors Free Download">
            <a:extLst>
              <a:ext uri="{FF2B5EF4-FFF2-40B4-BE49-F238E27FC236}">
                <a16:creationId xmlns:a16="http://schemas.microsoft.com/office/drawing/2014/main" id="{4CFAE64A-13F6-BB7F-52F4-B17F3E92B8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5999" y="4772733"/>
            <a:ext cx="1583617" cy="1583617"/>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Green SM Official - YouTube">
            <a:extLst>
              <a:ext uri="{FF2B5EF4-FFF2-40B4-BE49-F238E27FC236}">
                <a16:creationId xmlns:a16="http://schemas.microsoft.com/office/drawing/2014/main" id="{6C1D8C42-E6B7-427C-2886-68F3EF6ABC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77842" y="4772733"/>
            <a:ext cx="1586948" cy="1586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23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566F-02F6-A443-39AB-121D73F5E16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DED33D-37E3-49AE-7FF1-5EB695D2599D}"/>
              </a:ext>
            </a:extLst>
          </p:cNvPr>
          <p:cNvSpPr>
            <a:spLocks noGrp="1"/>
          </p:cNvSpPr>
          <p:nvPr>
            <p:ph type="sldNum" sz="quarter" idx="12"/>
          </p:nvPr>
        </p:nvSpPr>
        <p:spPr/>
        <p:txBody>
          <a:bodyPr/>
          <a:lstStyle/>
          <a:p>
            <a:fld id="{6728FB6D-289F-493D-B429-BB6C39253D80}" type="slidenum">
              <a:rPr lang="vi-VN" smtClean="0"/>
              <a:t>20</a:t>
            </a:fld>
            <a:endParaRPr lang="vi-VN"/>
          </a:p>
        </p:txBody>
      </p:sp>
      <p:sp>
        <p:nvSpPr>
          <p:cNvPr id="5" name="Title 4">
            <a:extLst>
              <a:ext uri="{FF2B5EF4-FFF2-40B4-BE49-F238E27FC236}">
                <a16:creationId xmlns:a16="http://schemas.microsoft.com/office/drawing/2014/main" id="{DBEE3C34-6276-9D43-2FB6-87D522D82BFE}"/>
              </a:ext>
            </a:extLst>
          </p:cNvPr>
          <p:cNvSpPr txBox="1">
            <a:spLocks noGrp="1"/>
          </p:cNvSpPr>
          <p:nvPr>
            <p:ph type="title"/>
          </p:nvPr>
        </p:nvSpPr>
        <p:spPr>
          <a:xfrm>
            <a:off x="838200" y="677041"/>
            <a:ext cx="10515600" cy="701731"/>
          </a:xfrm>
          <a:prstGeom prst="rect">
            <a:avLst/>
          </a:prstGeom>
          <a:noFill/>
        </p:spPr>
        <p:txBody>
          <a:bodyPr wrap="square" rtlCol="0">
            <a:spAutoFit/>
          </a:bodyPr>
          <a:lstStyle/>
          <a:p>
            <a:r>
              <a:rPr lang="en-VN"/>
              <a:t>Giao thoa </a:t>
            </a:r>
            <a:r>
              <a:rPr lang="en-VN" sz="4400"/>
              <a:t>(</a:t>
            </a:r>
            <a:r>
              <a:rPr lang="en-US"/>
              <a:t>interference</a:t>
            </a:r>
            <a:r>
              <a:rPr lang="en-VN" sz="4400"/>
              <a:t>)</a:t>
            </a:r>
          </a:p>
        </p:txBody>
      </p:sp>
      <p:pic>
        <p:nvPicPr>
          <p:cNvPr id="9218" name="Picture 2" descr="Video của Thái Bảo (@nguyenhoangthaibao0) với bản nhạc nhạc nền - Hoàng Anh🫠 - ca. | TikTok">
            <a:extLst>
              <a:ext uri="{FF2B5EF4-FFF2-40B4-BE49-F238E27FC236}">
                <a16:creationId xmlns:a16="http://schemas.microsoft.com/office/drawing/2014/main" id="{D5AE1781-E2E2-41A4-1EC0-77B87544DB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391" b="45314"/>
          <a:stretch>
            <a:fillRect/>
          </a:stretch>
        </p:blipFill>
        <p:spPr bwMode="auto">
          <a:xfrm>
            <a:off x="838200" y="344556"/>
            <a:ext cx="6450496" cy="6199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403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01EBB-2018-B160-597C-8502C0CB4641}"/>
              </a:ext>
            </a:extLst>
          </p:cNvPr>
          <p:cNvSpPr>
            <a:spLocks noGrp="1"/>
          </p:cNvSpPr>
          <p:nvPr>
            <p:ph type="title"/>
          </p:nvPr>
        </p:nvSpPr>
        <p:spPr/>
        <p:txBody>
          <a:bodyPr/>
          <a:lstStyle/>
          <a:p>
            <a:r>
              <a:rPr lang="en-VN"/>
              <a:t>Đo (Measure)</a:t>
            </a:r>
          </a:p>
        </p:txBody>
      </p:sp>
      <p:sp>
        <p:nvSpPr>
          <p:cNvPr id="3" name="Content Placeholder 2">
            <a:extLst>
              <a:ext uri="{FF2B5EF4-FFF2-40B4-BE49-F238E27FC236}">
                <a16:creationId xmlns:a16="http://schemas.microsoft.com/office/drawing/2014/main" id="{1D21D75B-3C52-04C8-F69A-A99AEE85A938}"/>
              </a:ext>
            </a:extLst>
          </p:cNvPr>
          <p:cNvSpPr>
            <a:spLocks noGrp="1"/>
          </p:cNvSpPr>
          <p:nvPr>
            <p:ph idx="1"/>
          </p:nvPr>
        </p:nvSpPr>
        <p:spPr>
          <a:xfrm>
            <a:off x="838200" y="1825625"/>
            <a:ext cx="10515600" cy="1156114"/>
          </a:xfrm>
        </p:spPr>
        <p:txBody>
          <a:bodyPr/>
          <a:lstStyle/>
          <a:p>
            <a:pPr marL="0" indent="0">
              <a:buNone/>
            </a:pPr>
            <a:r>
              <a:rPr lang="en-VN"/>
              <a:t>Phép đo trả về một trạng thái duy nhất</a:t>
            </a:r>
          </a:p>
          <a:p>
            <a:pPr marL="0" indent="0">
              <a:buNone/>
            </a:pPr>
            <a:r>
              <a:rPr lang="en-VN"/>
              <a:t>Các phép đo khác nhau có thể trả về các trạng thái khác nhau</a:t>
            </a:r>
          </a:p>
        </p:txBody>
      </p:sp>
      <p:sp>
        <p:nvSpPr>
          <p:cNvPr id="4" name="Slide Number Placeholder 3">
            <a:extLst>
              <a:ext uri="{FF2B5EF4-FFF2-40B4-BE49-F238E27FC236}">
                <a16:creationId xmlns:a16="http://schemas.microsoft.com/office/drawing/2014/main" id="{11986A41-53B2-3F11-99D0-2705721442C6}"/>
              </a:ext>
            </a:extLst>
          </p:cNvPr>
          <p:cNvSpPr>
            <a:spLocks noGrp="1"/>
          </p:cNvSpPr>
          <p:nvPr>
            <p:ph type="sldNum" sz="quarter" idx="12"/>
          </p:nvPr>
        </p:nvSpPr>
        <p:spPr/>
        <p:txBody>
          <a:bodyPr/>
          <a:lstStyle/>
          <a:p>
            <a:fld id="{6728FB6D-289F-493D-B429-BB6C39253D80}" type="slidenum">
              <a:rPr lang="vi-VN" smtClean="0"/>
              <a:t>21</a:t>
            </a:fld>
            <a:endParaRPr lang="vi-VN"/>
          </a:p>
        </p:txBody>
      </p:sp>
      <p:sp>
        <p:nvSpPr>
          <p:cNvPr id="5" name="Content Placeholder 2">
            <a:extLst>
              <a:ext uri="{FF2B5EF4-FFF2-40B4-BE49-F238E27FC236}">
                <a16:creationId xmlns:a16="http://schemas.microsoft.com/office/drawing/2014/main" id="{2D0BF6D3-05AB-836C-4C24-0AEE257E8A58}"/>
              </a:ext>
            </a:extLst>
          </p:cNvPr>
          <p:cNvSpPr txBox="1">
            <a:spLocks/>
          </p:cNvSpPr>
          <p:nvPr/>
        </p:nvSpPr>
        <p:spPr>
          <a:xfrm>
            <a:off x="1427922" y="3512930"/>
            <a:ext cx="5184913" cy="1156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a:t>Hãy đưa ra quyết định để trở về</a:t>
            </a:r>
          </a:p>
          <a:p>
            <a:pPr marL="0" indent="0">
              <a:buFont typeface="Arial" panose="020B0604020202020204" pitchFamily="34" charset="0"/>
              <a:buNone/>
            </a:pPr>
            <a:r>
              <a:rPr lang="en-VN"/>
              <a:t>”trạng thái cổ điển”</a:t>
            </a:r>
          </a:p>
        </p:txBody>
      </p:sp>
      <p:sp>
        <p:nvSpPr>
          <p:cNvPr id="6" name="Down Arrow 5">
            <a:extLst>
              <a:ext uri="{FF2B5EF4-FFF2-40B4-BE49-F238E27FC236}">
                <a16:creationId xmlns:a16="http://schemas.microsoft.com/office/drawing/2014/main" id="{D0195CA5-0AD6-2B38-DEE7-CED7A6BA38E8}"/>
              </a:ext>
            </a:extLst>
          </p:cNvPr>
          <p:cNvSpPr/>
          <p:nvPr/>
        </p:nvSpPr>
        <p:spPr>
          <a:xfrm>
            <a:off x="3154018" y="2816639"/>
            <a:ext cx="569843" cy="696291"/>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pic>
        <p:nvPicPr>
          <p:cNvPr id="10242" name="Picture 2" descr="No photo description available.">
            <a:extLst>
              <a:ext uri="{FF2B5EF4-FFF2-40B4-BE49-F238E27FC236}">
                <a16:creationId xmlns:a16="http://schemas.microsoft.com/office/drawing/2014/main" id="{24C490C0-CB24-F65E-5211-764095F6A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6817" y="1690688"/>
            <a:ext cx="3945835" cy="394583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C684F0C-4A7A-EFAF-0B66-C2B8B6F5D121}"/>
              </a:ext>
            </a:extLst>
          </p:cNvPr>
          <p:cNvSpPr txBox="1"/>
          <p:nvPr/>
        </p:nvSpPr>
        <p:spPr>
          <a:xfrm>
            <a:off x="6410740" y="5717144"/>
            <a:ext cx="3263348" cy="1077218"/>
          </a:xfrm>
          <a:prstGeom prst="rect">
            <a:avLst/>
          </a:prstGeom>
          <a:noFill/>
        </p:spPr>
        <p:txBody>
          <a:bodyPr wrap="square" rtlCol="0">
            <a:spAutoFit/>
          </a:bodyPr>
          <a:lstStyle/>
          <a:p>
            <a:r>
              <a:rPr lang="en-VN" sz="3200"/>
              <a:t>“Em thích ăn gì?”</a:t>
            </a:r>
          </a:p>
          <a:p>
            <a:r>
              <a:rPr lang="en-VN" sz="3200"/>
              <a:t>“Gì cx được”</a:t>
            </a:r>
          </a:p>
        </p:txBody>
      </p:sp>
      <p:sp>
        <p:nvSpPr>
          <p:cNvPr id="8" name="Content Placeholder 2">
            <a:extLst>
              <a:ext uri="{FF2B5EF4-FFF2-40B4-BE49-F238E27FC236}">
                <a16:creationId xmlns:a16="http://schemas.microsoft.com/office/drawing/2014/main" id="{366C7ABD-BAC7-8049-DF13-6CE97B284D35}"/>
              </a:ext>
            </a:extLst>
          </p:cNvPr>
          <p:cNvSpPr txBox="1">
            <a:spLocks/>
          </p:cNvSpPr>
          <p:nvPr/>
        </p:nvSpPr>
        <p:spPr>
          <a:xfrm>
            <a:off x="561561" y="5677696"/>
            <a:ext cx="5184913" cy="1156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a:t>Thường phải đo nhiều lần để có kết qủa thống kê</a:t>
            </a:r>
          </a:p>
        </p:txBody>
      </p:sp>
      <p:sp>
        <p:nvSpPr>
          <p:cNvPr id="9" name="Down Arrow 8">
            <a:extLst>
              <a:ext uri="{FF2B5EF4-FFF2-40B4-BE49-F238E27FC236}">
                <a16:creationId xmlns:a16="http://schemas.microsoft.com/office/drawing/2014/main" id="{59D39774-55B2-9657-481E-49ADEF9BBE3B}"/>
              </a:ext>
            </a:extLst>
          </p:cNvPr>
          <p:cNvSpPr/>
          <p:nvPr/>
        </p:nvSpPr>
        <p:spPr>
          <a:xfrm>
            <a:off x="2869096" y="4531521"/>
            <a:ext cx="569843" cy="110500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47269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riangle 11">
            <a:extLst>
              <a:ext uri="{FF2B5EF4-FFF2-40B4-BE49-F238E27FC236}">
                <a16:creationId xmlns:a16="http://schemas.microsoft.com/office/drawing/2014/main" id="{96194169-C79F-6A2A-16BC-499ABABA7298}"/>
              </a:ext>
            </a:extLst>
          </p:cNvPr>
          <p:cNvSpPr/>
          <p:nvPr/>
        </p:nvSpPr>
        <p:spPr>
          <a:xfrm>
            <a:off x="1417982" y="3564835"/>
            <a:ext cx="2928731" cy="2350328"/>
          </a:xfrm>
          <a:prstGeom prst="triangle">
            <a:avLst>
              <a:gd name="adj" fmla="val 4930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tle 1">
            <a:extLst>
              <a:ext uri="{FF2B5EF4-FFF2-40B4-BE49-F238E27FC236}">
                <a16:creationId xmlns:a16="http://schemas.microsoft.com/office/drawing/2014/main" id="{E6975F57-69BE-9CFF-AE64-346F70587E5B}"/>
              </a:ext>
            </a:extLst>
          </p:cNvPr>
          <p:cNvSpPr>
            <a:spLocks noGrp="1"/>
          </p:cNvSpPr>
          <p:nvPr>
            <p:ph type="title"/>
          </p:nvPr>
        </p:nvSpPr>
        <p:spPr/>
        <p:txBody>
          <a:bodyPr/>
          <a:lstStyle/>
          <a:p>
            <a:r>
              <a:rPr lang="en-VN"/>
              <a:t>Nguyên lý bất định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680263-AEBE-C32D-ABA3-D58C5A51025B}"/>
                  </a:ext>
                </a:extLst>
              </p:cNvPr>
              <p:cNvSpPr>
                <a:spLocks noGrp="1"/>
              </p:cNvSpPr>
              <p:nvPr>
                <p:ph idx="1"/>
              </p:nvPr>
            </p:nvSpPr>
            <p:spPr>
              <a:xfrm>
                <a:off x="838200" y="1825625"/>
                <a:ext cx="10515600" cy="583096"/>
              </a:xfrm>
            </p:spPr>
            <p:txBody>
              <a:bodyPr/>
              <a:lstStyle/>
              <a:p>
                <a:pPr marL="0" indent="0">
                  <a:buNone/>
                </a:pPr>
                <a14:m>
                  <m:oMath xmlns:m="http://schemas.openxmlformats.org/officeDocument/2006/math">
                    <m:r>
                      <a:rPr lang="vi-VN" b="0" i="1">
                        <a:latin typeface="Cambria Math" panose="02040503050406030204" pitchFamily="18" charset="0"/>
                      </a:rPr>
                      <m:t>𝛥</m:t>
                    </m:r>
                    <m:r>
                      <a:rPr lang="vi-VN" b="0" i="1">
                        <a:latin typeface="Cambria Math" panose="02040503050406030204" pitchFamily="18" charset="0"/>
                      </a:rPr>
                      <m:t>𝑥</m:t>
                    </m:r>
                    <m:r>
                      <a:rPr lang="vi-VN" b="0" i="1">
                        <a:latin typeface="Cambria Math" panose="02040503050406030204" pitchFamily="18" charset="0"/>
                      </a:rPr>
                      <m:t>.</m:t>
                    </m:r>
                    <m:r>
                      <a:rPr lang="vi-VN" b="0" i="1">
                        <a:latin typeface="Cambria Math" panose="02040503050406030204" pitchFamily="18" charset="0"/>
                      </a:rPr>
                      <m:t>𝛥</m:t>
                    </m:r>
                    <m:r>
                      <a:rPr lang="vi-VN" b="0" i="1">
                        <a:latin typeface="Cambria Math" panose="02040503050406030204" pitchFamily="18" charset="0"/>
                      </a:rPr>
                      <m:t>𝑝</m:t>
                    </m:r>
                    <m:r>
                      <a:rPr lang="vi-VN" b="0" i="1">
                        <a:latin typeface="Cambria Math" panose="02040503050406030204" pitchFamily="18" charset="0"/>
                      </a:rPr>
                      <m:t>≥</m:t>
                    </m:r>
                    <m:r>
                      <m:rPr>
                        <m:nor/>
                      </m:rPr>
                      <a:rPr lang="en-VN"/>
                      <m:t>ℏ</m:t>
                    </m:r>
                    <m:r>
                      <m:rPr>
                        <m:nor/>
                      </m:rPr>
                      <a:rPr lang="vi-VN"/>
                      <m:t>/</m:t>
                    </m:r>
                  </m:oMath>
                </a14:m>
                <a:r>
                  <a:rPr lang="en-VN"/>
                  <a:t>2</a:t>
                </a:r>
              </a:p>
            </p:txBody>
          </p:sp>
        </mc:Choice>
        <mc:Fallback>
          <p:sp>
            <p:nvSpPr>
              <p:cNvPr id="3" name="Content Placeholder 2">
                <a:extLst>
                  <a:ext uri="{FF2B5EF4-FFF2-40B4-BE49-F238E27FC236}">
                    <a16:creationId xmlns:a16="http://schemas.microsoft.com/office/drawing/2014/main" id="{BD680263-AEBE-C32D-ABA3-D58C5A51025B}"/>
                  </a:ext>
                </a:extLst>
              </p:cNvPr>
              <p:cNvSpPr>
                <a:spLocks noGrp="1" noRot="1" noChangeAspect="1" noMove="1" noResize="1" noEditPoints="1" noAdjustHandles="1" noChangeArrowheads="1" noChangeShapeType="1" noTextEdit="1"/>
              </p:cNvSpPr>
              <p:nvPr>
                <p:ph idx="1"/>
              </p:nvPr>
            </p:nvSpPr>
            <p:spPr>
              <a:xfrm>
                <a:off x="838200" y="1825625"/>
                <a:ext cx="10515600" cy="583096"/>
              </a:xfrm>
              <a:blipFill>
                <a:blip r:embed="rId2"/>
                <a:stretch>
                  <a:fillRect l="-362" t="-17021" b="-10638"/>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7EC200B4-4574-DCFF-A6FA-8631474B4B62}"/>
              </a:ext>
            </a:extLst>
          </p:cNvPr>
          <p:cNvSpPr>
            <a:spLocks noGrp="1"/>
          </p:cNvSpPr>
          <p:nvPr>
            <p:ph type="sldNum" sz="quarter" idx="12"/>
          </p:nvPr>
        </p:nvSpPr>
        <p:spPr/>
        <p:txBody>
          <a:bodyPr/>
          <a:lstStyle/>
          <a:p>
            <a:fld id="{6728FB6D-289F-493D-B429-BB6C39253D80}" type="slidenum">
              <a:rPr lang="vi-VN" smtClean="0"/>
              <a:t>22</a:t>
            </a:fld>
            <a:endParaRPr lang="vi-VN"/>
          </a:p>
        </p:txBody>
      </p:sp>
      <p:sp>
        <p:nvSpPr>
          <p:cNvPr id="5" name="Content Placeholder 2">
            <a:extLst>
              <a:ext uri="{FF2B5EF4-FFF2-40B4-BE49-F238E27FC236}">
                <a16:creationId xmlns:a16="http://schemas.microsoft.com/office/drawing/2014/main" id="{1B72FCB9-1074-386C-F952-F66AEC3F9B8F}"/>
              </a:ext>
            </a:extLst>
          </p:cNvPr>
          <p:cNvSpPr txBox="1">
            <a:spLocks/>
          </p:cNvSpPr>
          <p:nvPr/>
        </p:nvSpPr>
        <p:spPr>
          <a:xfrm>
            <a:off x="838200" y="2408721"/>
            <a:ext cx="10515600" cy="1156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a:t>Phải chấp nhận kết quả có đúng và sai, không hoàn hảo</a:t>
            </a:r>
          </a:p>
        </p:txBody>
      </p:sp>
      <p:sp>
        <p:nvSpPr>
          <p:cNvPr id="6" name="Oval 5">
            <a:extLst>
              <a:ext uri="{FF2B5EF4-FFF2-40B4-BE49-F238E27FC236}">
                <a16:creationId xmlns:a16="http://schemas.microsoft.com/office/drawing/2014/main" id="{BB264075-1A13-9F7C-A539-C902E515D276}"/>
              </a:ext>
            </a:extLst>
          </p:cNvPr>
          <p:cNvSpPr/>
          <p:nvPr/>
        </p:nvSpPr>
        <p:spPr>
          <a:xfrm>
            <a:off x="2239617" y="3161748"/>
            <a:ext cx="1311966" cy="12854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TextBox 6">
            <a:extLst>
              <a:ext uri="{FF2B5EF4-FFF2-40B4-BE49-F238E27FC236}">
                <a16:creationId xmlns:a16="http://schemas.microsoft.com/office/drawing/2014/main" id="{C301644A-676D-A740-7B8E-5FAECF538492}"/>
              </a:ext>
            </a:extLst>
          </p:cNvPr>
          <p:cNvSpPr txBox="1"/>
          <p:nvPr/>
        </p:nvSpPr>
        <p:spPr>
          <a:xfrm>
            <a:off x="2305877" y="3482802"/>
            <a:ext cx="1245706" cy="523220"/>
          </a:xfrm>
          <a:prstGeom prst="rect">
            <a:avLst/>
          </a:prstGeom>
          <a:noFill/>
        </p:spPr>
        <p:txBody>
          <a:bodyPr wrap="square" rtlCol="0">
            <a:spAutoFit/>
          </a:bodyPr>
          <a:lstStyle/>
          <a:p>
            <a:r>
              <a:rPr lang="en-VN" sz="2800"/>
              <a:t>Nhanh</a:t>
            </a:r>
          </a:p>
        </p:txBody>
      </p:sp>
      <p:sp>
        <p:nvSpPr>
          <p:cNvPr id="8" name="Oval 7">
            <a:extLst>
              <a:ext uri="{FF2B5EF4-FFF2-40B4-BE49-F238E27FC236}">
                <a16:creationId xmlns:a16="http://schemas.microsoft.com/office/drawing/2014/main" id="{969B3E42-28DA-DA0A-B287-41719FB1E96C}"/>
              </a:ext>
            </a:extLst>
          </p:cNvPr>
          <p:cNvSpPr/>
          <p:nvPr/>
        </p:nvSpPr>
        <p:spPr>
          <a:xfrm>
            <a:off x="838200" y="5070889"/>
            <a:ext cx="1311966" cy="12854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CEC0BB80-21EA-DAE8-D332-F2A06A7BC6BC}"/>
              </a:ext>
            </a:extLst>
          </p:cNvPr>
          <p:cNvSpPr txBox="1"/>
          <p:nvPr/>
        </p:nvSpPr>
        <p:spPr>
          <a:xfrm>
            <a:off x="904460" y="5391943"/>
            <a:ext cx="1245706" cy="523220"/>
          </a:xfrm>
          <a:prstGeom prst="rect">
            <a:avLst/>
          </a:prstGeom>
          <a:noFill/>
        </p:spPr>
        <p:txBody>
          <a:bodyPr wrap="square" rtlCol="0">
            <a:spAutoFit/>
          </a:bodyPr>
          <a:lstStyle/>
          <a:p>
            <a:pPr algn="ctr"/>
            <a:r>
              <a:rPr lang="en-VN" sz="2800"/>
              <a:t>Tốt</a:t>
            </a:r>
          </a:p>
        </p:txBody>
      </p:sp>
      <p:sp>
        <p:nvSpPr>
          <p:cNvPr id="10" name="Oval 9">
            <a:extLst>
              <a:ext uri="{FF2B5EF4-FFF2-40B4-BE49-F238E27FC236}">
                <a16:creationId xmlns:a16="http://schemas.microsoft.com/office/drawing/2014/main" id="{02031234-C72F-0CC0-AADD-758CE570FF76}"/>
              </a:ext>
            </a:extLst>
          </p:cNvPr>
          <p:cNvSpPr/>
          <p:nvPr/>
        </p:nvSpPr>
        <p:spPr>
          <a:xfrm>
            <a:off x="3551583" y="5079448"/>
            <a:ext cx="1311966" cy="12854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1A9CDB98-4B54-7C5B-C8CB-0A5ABBD8C288}"/>
              </a:ext>
            </a:extLst>
          </p:cNvPr>
          <p:cNvSpPr txBox="1"/>
          <p:nvPr/>
        </p:nvSpPr>
        <p:spPr>
          <a:xfrm>
            <a:off x="3617843" y="5400502"/>
            <a:ext cx="1245706" cy="523220"/>
          </a:xfrm>
          <a:prstGeom prst="rect">
            <a:avLst/>
          </a:prstGeom>
          <a:noFill/>
        </p:spPr>
        <p:txBody>
          <a:bodyPr wrap="square" rtlCol="0">
            <a:spAutoFit/>
          </a:bodyPr>
          <a:lstStyle/>
          <a:p>
            <a:pPr algn="ctr"/>
            <a:r>
              <a:rPr lang="en-VN" sz="2800"/>
              <a:t>Đẹp</a:t>
            </a:r>
          </a:p>
        </p:txBody>
      </p:sp>
      <p:sp>
        <p:nvSpPr>
          <p:cNvPr id="13" name="Triangle 12">
            <a:extLst>
              <a:ext uri="{FF2B5EF4-FFF2-40B4-BE49-F238E27FC236}">
                <a16:creationId xmlns:a16="http://schemas.microsoft.com/office/drawing/2014/main" id="{21E02F01-6D51-039D-2521-3C4BB360A82C}"/>
              </a:ext>
            </a:extLst>
          </p:cNvPr>
          <p:cNvSpPr/>
          <p:nvPr/>
        </p:nvSpPr>
        <p:spPr>
          <a:xfrm>
            <a:off x="8063949" y="3541506"/>
            <a:ext cx="2928731" cy="2350328"/>
          </a:xfrm>
          <a:prstGeom prst="triangle">
            <a:avLst>
              <a:gd name="adj" fmla="val 4930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Oval 13">
            <a:extLst>
              <a:ext uri="{FF2B5EF4-FFF2-40B4-BE49-F238E27FC236}">
                <a16:creationId xmlns:a16="http://schemas.microsoft.com/office/drawing/2014/main" id="{E7060F97-E005-6D44-8511-363CCA0937D5}"/>
              </a:ext>
            </a:extLst>
          </p:cNvPr>
          <p:cNvSpPr/>
          <p:nvPr/>
        </p:nvSpPr>
        <p:spPr>
          <a:xfrm>
            <a:off x="8885584" y="3138419"/>
            <a:ext cx="1311966" cy="12854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TextBox 14">
            <a:extLst>
              <a:ext uri="{FF2B5EF4-FFF2-40B4-BE49-F238E27FC236}">
                <a16:creationId xmlns:a16="http://schemas.microsoft.com/office/drawing/2014/main" id="{5BD7A1C6-46CB-1961-1952-46771B41298D}"/>
              </a:ext>
            </a:extLst>
          </p:cNvPr>
          <p:cNvSpPr txBox="1"/>
          <p:nvPr/>
        </p:nvSpPr>
        <p:spPr>
          <a:xfrm>
            <a:off x="8951844" y="3316494"/>
            <a:ext cx="1245706" cy="954107"/>
          </a:xfrm>
          <a:prstGeom prst="rect">
            <a:avLst/>
          </a:prstGeom>
          <a:noFill/>
        </p:spPr>
        <p:txBody>
          <a:bodyPr wrap="square" rtlCol="0">
            <a:spAutoFit/>
          </a:bodyPr>
          <a:lstStyle/>
          <a:p>
            <a:pPr algn="ctr"/>
            <a:r>
              <a:rPr lang="en-VN" sz="2800"/>
              <a:t>Thành</a:t>
            </a:r>
          </a:p>
          <a:p>
            <a:pPr algn="ctr"/>
            <a:r>
              <a:rPr lang="en-US" sz="2800"/>
              <a:t>Đ</a:t>
            </a:r>
            <a:r>
              <a:rPr lang="en-VN" sz="2800"/>
              <a:t>ạt</a:t>
            </a:r>
          </a:p>
        </p:txBody>
      </p:sp>
      <p:sp>
        <p:nvSpPr>
          <p:cNvPr id="16" name="Oval 15">
            <a:extLst>
              <a:ext uri="{FF2B5EF4-FFF2-40B4-BE49-F238E27FC236}">
                <a16:creationId xmlns:a16="http://schemas.microsoft.com/office/drawing/2014/main" id="{D9E166AF-A86A-8746-9433-9C04C785216F}"/>
              </a:ext>
            </a:extLst>
          </p:cNvPr>
          <p:cNvSpPr/>
          <p:nvPr/>
        </p:nvSpPr>
        <p:spPr>
          <a:xfrm>
            <a:off x="7484167" y="5047560"/>
            <a:ext cx="1311966" cy="12854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TextBox 16">
            <a:extLst>
              <a:ext uri="{FF2B5EF4-FFF2-40B4-BE49-F238E27FC236}">
                <a16:creationId xmlns:a16="http://schemas.microsoft.com/office/drawing/2014/main" id="{70E69BA0-CFC4-AD3F-D498-A2CB9ACD8C35}"/>
              </a:ext>
            </a:extLst>
          </p:cNvPr>
          <p:cNvSpPr txBox="1"/>
          <p:nvPr/>
        </p:nvSpPr>
        <p:spPr>
          <a:xfrm>
            <a:off x="7547113" y="5236565"/>
            <a:ext cx="1245706" cy="954107"/>
          </a:xfrm>
          <a:prstGeom prst="rect">
            <a:avLst/>
          </a:prstGeom>
          <a:noFill/>
        </p:spPr>
        <p:txBody>
          <a:bodyPr wrap="square" rtlCol="0">
            <a:spAutoFit/>
          </a:bodyPr>
          <a:lstStyle/>
          <a:p>
            <a:pPr algn="ctr"/>
            <a:r>
              <a:rPr lang="en-VN" sz="2800"/>
              <a:t>Gia đình</a:t>
            </a:r>
          </a:p>
        </p:txBody>
      </p:sp>
      <p:sp>
        <p:nvSpPr>
          <p:cNvPr id="18" name="Oval 17">
            <a:extLst>
              <a:ext uri="{FF2B5EF4-FFF2-40B4-BE49-F238E27FC236}">
                <a16:creationId xmlns:a16="http://schemas.microsoft.com/office/drawing/2014/main" id="{9A94F3C3-57F9-FD0C-3FFF-3E41DF8D3BF0}"/>
              </a:ext>
            </a:extLst>
          </p:cNvPr>
          <p:cNvSpPr/>
          <p:nvPr/>
        </p:nvSpPr>
        <p:spPr>
          <a:xfrm>
            <a:off x="10197550" y="5056119"/>
            <a:ext cx="1311966" cy="12854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TextBox 18">
            <a:extLst>
              <a:ext uri="{FF2B5EF4-FFF2-40B4-BE49-F238E27FC236}">
                <a16:creationId xmlns:a16="http://schemas.microsoft.com/office/drawing/2014/main" id="{D697D22D-237C-3A76-8109-01B519F8D270}"/>
              </a:ext>
            </a:extLst>
          </p:cNvPr>
          <p:cNvSpPr txBox="1"/>
          <p:nvPr/>
        </p:nvSpPr>
        <p:spPr>
          <a:xfrm>
            <a:off x="10230680" y="5200236"/>
            <a:ext cx="1245706" cy="954107"/>
          </a:xfrm>
          <a:prstGeom prst="rect">
            <a:avLst/>
          </a:prstGeom>
          <a:noFill/>
        </p:spPr>
        <p:txBody>
          <a:bodyPr wrap="square" rtlCol="0">
            <a:spAutoFit/>
          </a:bodyPr>
          <a:lstStyle/>
          <a:p>
            <a:pPr algn="ctr"/>
            <a:r>
              <a:rPr lang="en-VN" sz="2800"/>
              <a:t>Ngoại</a:t>
            </a:r>
          </a:p>
          <a:p>
            <a:pPr algn="ctr"/>
            <a:r>
              <a:rPr lang="en-VN" sz="2800"/>
              <a:t>hình</a:t>
            </a:r>
          </a:p>
        </p:txBody>
      </p:sp>
      <p:pic>
        <p:nvPicPr>
          <p:cNvPr id="11266" name="Picture 2" descr="No photo description available.">
            <a:extLst>
              <a:ext uri="{FF2B5EF4-FFF2-40B4-BE49-F238E27FC236}">
                <a16:creationId xmlns:a16="http://schemas.microsoft.com/office/drawing/2014/main" id="{42C3F103-FB46-9CFA-586A-3DDBA9DC50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62" y="0"/>
            <a:ext cx="6891337"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407CBEB-E18A-5CE7-FBE2-F284E57CB7BE}"/>
              </a:ext>
            </a:extLst>
          </p:cNvPr>
          <p:cNvSpPr txBox="1"/>
          <p:nvPr/>
        </p:nvSpPr>
        <p:spPr>
          <a:xfrm>
            <a:off x="2837620" y="5350927"/>
            <a:ext cx="3581403" cy="1569660"/>
          </a:xfrm>
          <a:prstGeom prst="rect">
            <a:avLst/>
          </a:prstGeom>
          <a:noFill/>
        </p:spPr>
        <p:txBody>
          <a:bodyPr wrap="square" rtlCol="0">
            <a:spAutoFit/>
          </a:bodyPr>
          <a:lstStyle/>
          <a:p>
            <a:r>
              <a:rPr lang="en-VN" sz="4800">
                <a:solidFill>
                  <a:schemeClr val="bg1"/>
                </a:solidFill>
              </a:rPr>
              <a:t>*Tôi khi không có cả 3</a:t>
            </a:r>
          </a:p>
        </p:txBody>
      </p:sp>
    </p:spTree>
    <p:extLst>
      <p:ext uri="{BB962C8B-B14F-4D97-AF65-F5344CB8AC3E}">
        <p14:creationId xmlns:p14="http://schemas.microsoft.com/office/powerpoint/2010/main" val="375066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512F5-BC6F-421D-E9DD-3398523E1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31753-DB6E-41D3-5E59-1C0BCB7428E5}"/>
              </a:ext>
            </a:extLst>
          </p:cNvPr>
          <p:cNvSpPr>
            <a:spLocks noGrp="1"/>
          </p:cNvSpPr>
          <p:nvPr>
            <p:ph type="title"/>
          </p:nvPr>
        </p:nvSpPr>
        <p:spPr/>
        <p:txBody>
          <a:bodyPr/>
          <a:lstStyle/>
          <a:p>
            <a:r>
              <a:rPr lang="en-VN"/>
              <a:t>Rối (entanglement)</a:t>
            </a:r>
          </a:p>
        </p:txBody>
      </p:sp>
      <p:pic>
        <p:nvPicPr>
          <p:cNvPr id="5" name="snaptik.vn_7171045956652174597.mp4">
            <a:hlinkClick r:id="" action="ppaction://media"/>
            <a:extLst>
              <a:ext uri="{FF2B5EF4-FFF2-40B4-BE49-F238E27FC236}">
                <a16:creationId xmlns:a16="http://schemas.microsoft.com/office/drawing/2014/main" id="{BC600B86-1D02-527A-E7A5-DC7ED9C13563}"/>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rcRect t="50022"/>
          <a:stretch>
            <a:fillRect/>
          </a:stretch>
        </p:blipFill>
        <p:spPr>
          <a:xfrm>
            <a:off x="4015408" y="1713879"/>
            <a:ext cx="5804453" cy="5156600"/>
          </a:xfrm>
        </p:spPr>
      </p:pic>
      <p:sp>
        <p:nvSpPr>
          <p:cNvPr id="4" name="Slide Number Placeholder 3">
            <a:extLst>
              <a:ext uri="{FF2B5EF4-FFF2-40B4-BE49-F238E27FC236}">
                <a16:creationId xmlns:a16="http://schemas.microsoft.com/office/drawing/2014/main" id="{5B128FB8-BE52-769A-72B9-D305A947C40B}"/>
              </a:ext>
            </a:extLst>
          </p:cNvPr>
          <p:cNvSpPr>
            <a:spLocks noGrp="1"/>
          </p:cNvSpPr>
          <p:nvPr>
            <p:ph type="sldNum" sz="quarter" idx="12"/>
          </p:nvPr>
        </p:nvSpPr>
        <p:spPr/>
        <p:txBody>
          <a:bodyPr/>
          <a:lstStyle/>
          <a:p>
            <a:fld id="{6728FB6D-289F-493D-B429-BB6C39253D80}" type="slidenum">
              <a:rPr lang="vi-VN" smtClean="0"/>
              <a:t>23</a:t>
            </a:fld>
            <a:endParaRPr lang="vi-VN"/>
          </a:p>
        </p:txBody>
      </p:sp>
      <p:pic>
        <p:nvPicPr>
          <p:cNvPr id="7" name="Picture 6" descr="A cartoon cow with black spots&#10;&#10;AI-generated content may be incorrect.">
            <a:extLst>
              <a:ext uri="{FF2B5EF4-FFF2-40B4-BE49-F238E27FC236}">
                <a16:creationId xmlns:a16="http://schemas.microsoft.com/office/drawing/2014/main" id="{4AF49AC5-DC46-5A33-3997-4FDF4D9AC8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1713879"/>
            <a:ext cx="3548526" cy="3430242"/>
          </a:xfrm>
          <a:prstGeom prst="rect">
            <a:avLst/>
          </a:prstGeom>
        </p:spPr>
      </p:pic>
    </p:spTree>
    <p:extLst>
      <p:ext uri="{BB962C8B-B14F-4D97-AF65-F5344CB8AC3E}">
        <p14:creationId xmlns:p14="http://schemas.microsoft.com/office/powerpoint/2010/main" val="66122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95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90695-2FCB-169A-324A-B22B3919F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1043D-02EE-9BD7-0C89-DA4A5FEB025E}"/>
              </a:ext>
            </a:extLst>
          </p:cNvPr>
          <p:cNvSpPr>
            <a:spLocks noGrp="1"/>
          </p:cNvSpPr>
          <p:nvPr>
            <p:ph type="title"/>
          </p:nvPr>
        </p:nvSpPr>
        <p:spPr/>
        <p:txBody>
          <a:bodyPr/>
          <a:lstStyle/>
          <a:p>
            <a:r>
              <a:rPr lang="en-VN"/>
              <a:t>Rối (entanglement)</a:t>
            </a:r>
          </a:p>
        </p:txBody>
      </p:sp>
      <p:sp>
        <p:nvSpPr>
          <p:cNvPr id="4" name="Slide Number Placeholder 3">
            <a:extLst>
              <a:ext uri="{FF2B5EF4-FFF2-40B4-BE49-F238E27FC236}">
                <a16:creationId xmlns:a16="http://schemas.microsoft.com/office/drawing/2014/main" id="{32C23885-B1B0-BD0D-D153-0B906FA38936}"/>
              </a:ext>
            </a:extLst>
          </p:cNvPr>
          <p:cNvSpPr>
            <a:spLocks noGrp="1"/>
          </p:cNvSpPr>
          <p:nvPr>
            <p:ph type="sldNum" sz="quarter" idx="12"/>
          </p:nvPr>
        </p:nvSpPr>
        <p:spPr/>
        <p:txBody>
          <a:bodyPr/>
          <a:lstStyle/>
          <a:p>
            <a:fld id="{6728FB6D-289F-493D-B429-BB6C39253D80}" type="slidenum">
              <a:rPr lang="vi-VN" smtClean="0"/>
              <a:t>24</a:t>
            </a:fld>
            <a:endParaRPr lang="vi-VN"/>
          </a:p>
        </p:txBody>
      </p:sp>
      <p:pic>
        <p:nvPicPr>
          <p:cNvPr id="5" name="Picture 2" descr="Star Trek's Transporter Technology, Explained">
            <a:extLst>
              <a:ext uri="{FF2B5EF4-FFF2-40B4-BE49-F238E27FC236}">
                <a16:creationId xmlns:a16="http://schemas.microsoft.com/office/drawing/2014/main" id="{24CE6C94-8A41-F708-7655-EEA71A8BFF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47850"/>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2530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D44BD-D9A2-43F4-25AC-11F122172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17924-976F-A0BA-A885-981CB6E2CC7D}"/>
              </a:ext>
            </a:extLst>
          </p:cNvPr>
          <p:cNvSpPr>
            <a:spLocks noGrp="1"/>
          </p:cNvSpPr>
          <p:nvPr>
            <p:ph type="title"/>
          </p:nvPr>
        </p:nvSpPr>
        <p:spPr/>
        <p:txBody>
          <a:bodyPr/>
          <a:lstStyle/>
          <a:p>
            <a:r>
              <a:rPr lang="en-VN"/>
              <a:t>Rối (entanglement)</a:t>
            </a:r>
          </a:p>
        </p:txBody>
      </p:sp>
      <p:sp>
        <p:nvSpPr>
          <p:cNvPr id="3" name="Content Placeholder 2">
            <a:extLst>
              <a:ext uri="{FF2B5EF4-FFF2-40B4-BE49-F238E27FC236}">
                <a16:creationId xmlns:a16="http://schemas.microsoft.com/office/drawing/2014/main" id="{9E0101A9-E786-460A-4B01-8DF654F47C5D}"/>
              </a:ext>
            </a:extLst>
          </p:cNvPr>
          <p:cNvSpPr>
            <a:spLocks noGrp="1"/>
          </p:cNvSpPr>
          <p:nvPr>
            <p:ph idx="1"/>
          </p:nvPr>
        </p:nvSpPr>
        <p:spPr>
          <a:xfrm>
            <a:off x="838200" y="1825625"/>
            <a:ext cx="7470913" cy="4351338"/>
          </a:xfrm>
        </p:spPr>
        <p:txBody>
          <a:bodyPr/>
          <a:lstStyle/>
          <a:p>
            <a:pPr marL="0" indent="0">
              <a:buNone/>
            </a:pPr>
            <a:r>
              <a:rPr lang="en-VN"/>
              <a:t>Một sự vật hiện tượng ở A có thể làm ảnh hưởng đến sự vật hiện tượng ở B (non-local)</a:t>
            </a:r>
          </a:p>
          <a:p>
            <a:pPr marL="0" indent="0">
              <a:buNone/>
            </a:pPr>
            <a:endParaRPr lang="en-VN"/>
          </a:p>
          <a:p>
            <a:pPr marL="0" indent="0">
              <a:buNone/>
            </a:pPr>
            <a:r>
              <a:rPr lang="en-US"/>
              <a:t>Khi một vấn đề không tiến triển, hãy xem xét các mối liên hệ giữa các thành phần thay vì chỉ cố cải thiện một thành phần.</a:t>
            </a:r>
            <a:endParaRPr lang="en-VN"/>
          </a:p>
        </p:txBody>
      </p:sp>
      <p:sp>
        <p:nvSpPr>
          <p:cNvPr id="4" name="Slide Number Placeholder 3">
            <a:extLst>
              <a:ext uri="{FF2B5EF4-FFF2-40B4-BE49-F238E27FC236}">
                <a16:creationId xmlns:a16="http://schemas.microsoft.com/office/drawing/2014/main" id="{3B95154D-F7F5-F383-E653-8EE36206780A}"/>
              </a:ext>
            </a:extLst>
          </p:cNvPr>
          <p:cNvSpPr>
            <a:spLocks noGrp="1"/>
          </p:cNvSpPr>
          <p:nvPr>
            <p:ph type="sldNum" sz="quarter" idx="12"/>
          </p:nvPr>
        </p:nvSpPr>
        <p:spPr/>
        <p:txBody>
          <a:bodyPr/>
          <a:lstStyle/>
          <a:p>
            <a:fld id="{6728FB6D-289F-493D-B429-BB6C39253D80}" type="slidenum">
              <a:rPr lang="vi-VN" smtClean="0"/>
              <a:t>25</a:t>
            </a:fld>
            <a:endParaRPr lang="vi-VN"/>
          </a:p>
        </p:txBody>
      </p:sp>
    </p:spTree>
    <p:extLst>
      <p:ext uri="{BB962C8B-B14F-4D97-AF65-F5344CB8AC3E}">
        <p14:creationId xmlns:p14="http://schemas.microsoft.com/office/powerpoint/2010/main" val="267475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9F3F-EEFA-3409-4048-18D88A5D71AB}"/>
              </a:ext>
            </a:extLst>
          </p:cNvPr>
          <p:cNvSpPr>
            <a:spLocks noGrp="1"/>
          </p:cNvSpPr>
          <p:nvPr>
            <p:ph type="title"/>
          </p:nvPr>
        </p:nvSpPr>
        <p:spPr/>
        <p:txBody>
          <a:bodyPr/>
          <a:lstStyle/>
          <a:p>
            <a:r>
              <a:rPr lang="en-VN"/>
              <a:t>Tư duy “lượng tử”</a:t>
            </a:r>
          </a:p>
        </p:txBody>
      </p:sp>
      <p:sp>
        <p:nvSpPr>
          <p:cNvPr id="3" name="Content Placeholder 2">
            <a:extLst>
              <a:ext uri="{FF2B5EF4-FFF2-40B4-BE49-F238E27FC236}">
                <a16:creationId xmlns:a16="http://schemas.microsoft.com/office/drawing/2014/main" id="{F0EB3562-6E3D-52F2-8D3F-7E4E3B9E5EE1}"/>
              </a:ext>
            </a:extLst>
          </p:cNvPr>
          <p:cNvSpPr>
            <a:spLocks noGrp="1"/>
          </p:cNvSpPr>
          <p:nvPr>
            <p:ph idx="1"/>
          </p:nvPr>
        </p:nvSpPr>
        <p:spPr/>
        <p:txBody>
          <a:bodyPr/>
          <a:lstStyle/>
          <a:p>
            <a:pPr marL="0" indent="0">
              <a:buNone/>
            </a:pPr>
            <a:r>
              <a:rPr lang="en-VN"/>
              <a:t>Có nhiều cách hiểu</a:t>
            </a:r>
          </a:p>
          <a:p>
            <a:pPr marL="0" indent="0">
              <a:buNone/>
            </a:pPr>
            <a:r>
              <a:rPr lang="en-VN"/>
              <a:t>Có nhiều lời giải</a:t>
            </a:r>
          </a:p>
          <a:p>
            <a:pPr marL="0" indent="0">
              <a:buNone/>
            </a:pPr>
            <a:r>
              <a:rPr lang="en-VN"/>
              <a:t>Có nhiều kết quả khác nhau</a:t>
            </a:r>
          </a:p>
          <a:p>
            <a:pPr marL="0" indent="0">
              <a:buNone/>
            </a:pPr>
            <a:r>
              <a:rPr lang="en-VN"/>
              <a:t>Có những quan hệ ẩn</a:t>
            </a:r>
          </a:p>
          <a:p>
            <a:pPr marL="0" indent="0">
              <a:buNone/>
            </a:pPr>
            <a:r>
              <a:rPr lang="en-VN"/>
              <a:t>Cứ thử và chấp nhận kết quả sai / không hoàn hảo</a:t>
            </a:r>
          </a:p>
          <a:p>
            <a:pPr marL="0" indent="0">
              <a:buNone/>
            </a:pPr>
            <a:r>
              <a:rPr lang="en-VN"/>
              <a:t>Nhưng chỉ kết luận khi đã đầy đủ thông tin</a:t>
            </a:r>
          </a:p>
        </p:txBody>
      </p:sp>
      <p:sp>
        <p:nvSpPr>
          <p:cNvPr id="4" name="Slide Number Placeholder 3">
            <a:extLst>
              <a:ext uri="{FF2B5EF4-FFF2-40B4-BE49-F238E27FC236}">
                <a16:creationId xmlns:a16="http://schemas.microsoft.com/office/drawing/2014/main" id="{AFCB9722-E4FA-34CD-72E5-4147F4F2FF30}"/>
              </a:ext>
            </a:extLst>
          </p:cNvPr>
          <p:cNvSpPr>
            <a:spLocks noGrp="1"/>
          </p:cNvSpPr>
          <p:nvPr>
            <p:ph type="sldNum" sz="quarter" idx="12"/>
          </p:nvPr>
        </p:nvSpPr>
        <p:spPr/>
        <p:txBody>
          <a:bodyPr/>
          <a:lstStyle/>
          <a:p>
            <a:fld id="{6728FB6D-289F-493D-B429-BB6C39253D80}" type="slidenum">
              <a:rPr lang="vi-VN" smtClean="0"/>
              <a:t>26</a:t>
            </a:fld>
            <a:endParaRPr lang="vi-VN"/>
          </a:p>
        </p:txBody>
      </p:sp>
    </p:spTree>
    <p:extLst>
      <p:ext uri="{BB962C8B-B14F-4D97-AF65-F5344CB8AC3E}">
        <p14:creationId xmlns:p14="http://schemas.microsoft.com/office/powerpoint/2010/main" val="3608929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52539-B806-4569-F0FF-87761C90354D}"/>
              </a:ext>
            </a:extLst>
          </p:cNvPr>
          <p:cNvSpPr>
            <a:spLocks noGrp="1"/>
          </p:cNvSpPr>
          <p:nvPr>
            <p:ph type="title"/>
          </p:nvPr>
        </p:nvSpPr>
        <p:spPr>
          <a:xfrm>
            <a:off x="838201" y="365125"/>
            <a:ext cx="9671756" cy="1325563"/>
          </a:xfrm>
        </p:spPr>
        <p:txBody>
          <a:bodyPr>
            <a:normAutofit/>
          </a:bodyPr>
          <a:lstStyle/>
          <a:p>
            <a:r>
              <a:rPr lang="en-VN"/>
              <a:t>2. Quantum</a:t>
            </a:r>
            <a:r>
              <a:rPr lang="en-US"/>
              <a:t> for AI (Quantum-inspired model)</a:t>
            </a:r>
            <a:endParaRPr lang="en-VN"/>
          </a:p>
        </p:txBody>
      </p:sp>
      <p:sp>
        <p:nvSpPr>
          <p:cNvPr id="4" name="Slide Number Placeholder 3">
            <a:extLst>
              <a:ext uri="{FF2B5EF4-FFF2-40B4-BE49-F238E27FC236}">
                <a16:creationId xmlns:a16="http://schemas.microsoft.com/office/drawing/2014/main" id="{F95DBCA6-FF6F-18FC-DD20-07FEE84B762B}"/>
              </a:ext>
            </a:extLst>
          </p:cNvPr>
          <p:cNvSpPr>
            <a:spLocks noGrp="1"/>
          </p:cNvSpPr>
          <p:nvPr>
            <p:ph type="sldNum" sz="quarter" idx="12"/>
          </p:nvPr>
        </p:nvSpPr>
        <p:spPr/>
        <p:txBody>
          <a:bodyPr/>
          <a:lstStyle/>
          <a:p>
            <a:fld id="{6A45828D-F580-42DE-B77E-860980F07F32}" type="slidenum">
              <a:rPr lang="vi-VN" smtClean="0"/>
              <a:pPr/>
              <a:t>27</a:t>
            </a:fld>
            <a:r>
              <a:rPr lang="en-US"/>
              <a:t>/80</a:t>
            </a:r>
            <a:endParaRPr lang="vi-VN"/>
          </a:p>
        </p:txBody>
      </p:sp>
      <p:sp>
        <p:nvSpPr>
          <p:cNvPr id="5" name="Rectangle 4">
            <a:extLst>
              <a:ext uri="{FF2B5EF4-FFF2-40B4-BE49-F238E27FC236}">
                <a16:creationId xmlns:a16="http://schemas.microsoft.com/office/drawing/2014/main" id="{968C6370-A673-1840-9768-47D3C4620E16}"/>
              </a:ext>
            </a:extLst>
          </p:cNvPr>
          <p:cNvSpPr/>
          <p:nvPr/>
        </p:nvSpPr>
        <p:spPr>
          <a:xfrm>
            <a:off x="990599" y="1690688"/>
            <a:ext cx="1757405" cy="9336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133">
                <a:solidFill>
                  <a:schemeClr val="tx1"/>
                </a:solidFill>
              </a:rPr>
              <a:t>Data pre-processing</a:t>
            </a:r>
          </a:p>
        </p:txBody>
      </p:sp>
      <p:sp>
        <p:nvSpPr>
          <p:cNvPr id="6" name="Rectangle 5">
            <a:extLst>
              <a:ext uri="{FF2B5EF4-FFF2-40B4-BE49-F238E27FC236}">
                <a16:creationId xmlns:a16="http://schemas.microsoft.com/office/drawing/2014/main" id="{45913CDF-BBF1-4006-E634-611524D88AA4}"/>
              </a:ext>
            </a:extLst>
          </p:cNvPr>
          <p:cNvSpPr/>
          <p:nvPr/>
        </p:nvSpPr>
        <p:spPr>
          <a:xfrm>
            <a:off x="3132430" y="1690688"/>
            <a:ext cx="1924413" cy="9336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133">
                <a:solidFill>
                  <a:schemeClr val="tx1"/>
                </a:solidFill>
              </a:rPr>
              <a:t>Model building</a:t>
            </a:r>
          </a:p>
        </p:txBody>
      </p:sp>
      <p:sp>
        <p:nvSpPr>
          <p:cNvPr id="7" name="Rectangle 6">
            <a:extLst>
              <a:ext uri="{FF2B5EF4-FFF2-40B4-BE49-F238E27FC236}">
                <a16:creationId xmlns:a16="http://schemas.microsoft.com/office/drawing/2014/main" id="{FBA852FD-552B-F3D0-B695-BB92FA92C2DF}"/>
              </a:ext>
            </a:extLst>
          </p:cNvPr>
          <p:cNvSpPr/>
          <p:nvPr/>
        </p:nvSpPr>
        <p:spPr>
          <a:xfrm>
            <a:off x="5439020" y="1690688"/>
            <a:ext cx="1924413" cy="9336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133">
                <a:solidFill>
                  <a:schemeClr val="tx1"/>
                </a:solidFill>
              </a:rPr>
              <a:t>Model training</a:t>
            </a:r>
          </a:p>
        </p:txBody>
      </p:sp>
      <p:sp>
        <p:nvSpPr>
          <p:cNvPr id="8" name="Rectangle 7">
            <a:extLst>
              <a:ext uri="{FF2B5EF4-FFF2-40B4-BE49-F238E27FC236}">
                <a16:creationId xmlns:a16="http://schemas.microsoft.com/office/drawing/2014/main" id="{42F232DF-84D0-FEFB-A612-00D52EE4C226}"/>
              </a:ext>
            </a:extLst>
          </p:cNvPr>
          <p:cNvSpPr/>
          <p:nvPr/>
        </p:nvSpPr>
        <p:spPr>
          <a:xfrm>
            <a:off x="7745611" y="1690688"/>
            <a:ext cx="1924413" cy="9336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133">
                <a:solidFill>
                  <a:schemeClr val="tx1"/>
                </a:solidFill>
              </a:rPr>
              <a:t>Model </a:t>
            </a:r>
            <a:r>
              <a:rPr lang="en-US" sz="2133">
                <a:solidFill>
                  <a:schemeClr val="tx1"/>
                </a:solidFill>
              </a:rPr>
              <a:t>post-processing</a:t>
            </a:r>
            <a:endParaRPr lang="en-VN" sz="2133">
              <a:solidFill>
                <a:schemeClr val="tx1"/>
              </a:solidFill>
            </a:endParaRPr>
          </a:p>
        </p:txBody>
      </p:sp>
      <p:cxnSp>
        <p:nvCxnSpPr>
          <p:cNvPr id="9" name="Straight Arrow Connector 8">
            <a:extLst>
              <a:ext uri="{FF2B5EF4-FFF2-40B4-BE49-F238E27FC236}">
                <a16:creationId xmlns:a16="http://schemas.microsoft.com/office/drawing/2014/main" id="{EF389F0D-26C0-F824-EA46-E237C1486B1A}"/>
              </a:ext>
            </a:extLst>
          </p:cNvPr>
          <p:cNvCxnSpPr>
            <a:cxnSpLocks/>
            <a:stCxn id="5" idx="3"/>
            <a:endCxn id="6" idx="1"/>
          </p:cNvCxnSpPr>
          <p:nvPr/>
        </p:nvCxnSpPr>
        <p:spPr>
          <a:xfrm>
            <a:off x="2748005" y="2157499"/>
            <a:ext cx="3844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A624A2A-27CD-D43B-779A-A754F28CAAAC}"/>
              </a:ext>
            </a:extLst>
          </p:cNvPr>
          <p:cNvCxnSpPr>
            <a:cxnSpLocks/>
            <a:stCxn id="6" idx="3"/>
            <a:endCxn id="7" idx="1"/>
          </p:cNvCxnSpPr>
          <p:nvPr/>
        </p:nvCxnSpPr>
        <p:spPr>
          <a:xfrm>
            <a:off x="5056844" y="2157499"/>
            <a:ext cx="3821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BE23E17-A067-6257-D239-6882EB51AD1E}"/>
              </a:ext>
            </a:extLst>
          </p:cNvPr>
          <p:cNvCxnSpPr>
            <a:cxnSpLocks/>
            <a:stCxn id="7" idx="3"/>
            <a:endCxn id="8" idx="1"/>
          </p:cNvCxnSpPr>
          <p:nvPr/>
        </p:nvCxnSpPr>
        <p:spPr>
          <a:xfrm>
            <a:off x="7363434" y="2157499"/>
            <a:ext cx="3821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32">
            <a:extLst>
              <a:ext uri="{FF2B5EF4-FFF2-40B4-BE49-F238E27FC236}">
                <a16:creationId xmlns:a16="http://schemas.microsoft.com/office/drawing/2014/main" id="{9F4C7EA7-82C6-A284-AEAE-75DCD21A6E6B}"/>
              </a:ext>
            </a:extLst>
          </p:cNvPr>
          <p:cNvCxnSpPr>
            <a:stCxn id="8" idx="2"/>
            <a:endCxn id="6" idx="2"/>
          </p:cNvCxnSpPr>
          <p:nvPr/>
        </p:nvCxnSpPr>
        <p:spPr>
          <a:xfrm rot="5400000">
            <a:off x="6401227" y="317719"/>
            <a:ext cx="16933" cy="4613181"/>
          </a:xfrm>
          <a:prstGeom prst="bent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7BACB846-D8BB-AEA8-2736-0C692E18A095}"/>
              </a:ext>
            </a:extLst>
          </p:cNvPr>
          <p:cNvSpPr txBox="1"/>
          <p:nvPr/>
        </p:nvSpPr>
        <p:spPr>
          <a:xfrm rot="16200000">
            <a:off x="151796" y="1930901"/>
            <a:ext cx="942088" cy="461665"/>
          </a:xfrm>
          <a:prstGeom prst="rect">
            <a:avLst/>
          </a:prstGeom>
          <a:noFill/>
        </p:spPr>
        <p:txBody>
          <a:bodyPr wrap="square" rtlCol="0">
            <a:spAutoFit/>
          </a:bodyPr>
          <a:lstStyle/>
          <a:p>
            <a:pPr algn="ctr"/>
            <a:r>
              <a:rPr lang="en-VN" sz="2400" b="1"/>
              <a:t>AI</a:t>
            </a:r>
          </a:p>
        </p:txBody>
      </p:sp>
    </p:spTree>
    <p:extLst>
      <p:ext uri="{BB962C8B-B14F-4D97-AF65-F5344CB8AC3E}">
        <p14:creationId xmlns:p14="http://schemas.microsoft.com/office/powerpoint/2010/main" val="3243409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7A74E-CE64-CFAF-9DBF-FFFB154637AF}"/>
              </a:ext>
            </a:extLst>
          </p:cNvPr>
          <p:cNvSpPr>
            <a:spLocks noGrp="1"/>
          </p:cNvSpPr>
          <p:nvPr>
            <p:ph type="title"/>
          </p:nvPr>
        </p:nvSpPr>
        <p:spPr>
          <a:xfrm>
            <a:off x="838200" y="365125"/>
            <a:ext cx="9914467" cy="1325563"/>
          </a:xfrm>
        </p:spPr>
        <p:txBody>
          <a:bodyPr>
            <a:normAutofit/>
          </a:bodyPr>
          <a:lstStyle/>
          <a:p>
            <a:r>
              <a:rPr lang="en-US"/>
              <a:t>2.1. Data pre-processing: compression task</a:t>
            </a:r>
            <a:endParaRPr lang="vi-VN"/>
          </a:p>
        </p:txBody>
      </p:sp>
      <p:sp>
        <p:nvSpPr>
          <p:cNvPr id="3" name="Content Placeholder 2">
            <a:extLst>
              <a:ext uri="{FF2B5EF4-FFF2-40B4-BE49-F238E27FC236}">
                <a16:creationId xmlns:a16="http://schemas.microsoft.com/office/drawing/2014/main" id="{D9B2381B-71CE-C0D4-03D8-1A95C5F4394A}"/>
              </a:ext>
            </a:extLst>
          </p:cNvPr>
          <p:cNvSpPr>
            <a:spLocks noGrp="1"/>
          </p:cNvSpPr>
          <p:nvPr>
            <p:ph idx="1"/>
          </p:nvPr>
        </p:nvSpPr>
        <p:spPr>
          <a:xfrm>
            <a:off x="6533146" y="1432382"/>
            <a:ext cx="3612445" cy="831041"/>
          </a:xfrm>
        </p:spPr>
        <p:txBody>
          <a:bodyPr>
            <a:normAutofit/>
          </a:bodyPr>
          <a:lstStyle/>
          <a:p>
            <a:pPr marL="0" indent="0">
              <a:buNone/>
            </a:pPr>
            <a:r>
              <a:rPr lang="en-US" sz="1600"/>
              <a:t>[x] Classical embedding compression for the base BERT model. Only the red components are tunable.</a:t>
            </a:r>
            <a:endParaRPr lang="vi-VN" sz="1600"/>
          </a:p>
        </p:txBody>
      </p:sp>
      <p:sp>
        <p:nvSpPr>
          <p:cNvPr id="4" name="Slide Number Placeholder 3">
            <a:extLst>
              <a:ext uri="{FF2B5EF4-FFF2-40B4-BE49-F238E27FC236}">
                <a16:creationId xmlns:a16="http://schemas.microsoft.com/office/drawing/2014/main" id="{C2FCD044-9129-1D03-7F28-E0CAD4386495}"/>
              </a:ext>
            </a:extLst>
          </p:cNvPr>
          <p:cNvSpPr>
            <a:spLocks noGrp="1"/>
          </p:cNvSpPr>
          <p:nvPr>
            <p:ph type="sldNum" sz="quarter" idx="12"/>
          </p:nvPr>
        </p:nvSpPr>
        <p:spPr/>
        <p:txBody>
          <a:bodyPr/>
          <a:lstStyle/>
          <a:p>
            <a:fld id="{6A45828D-F580-42DE-B77E-860980F07F32}" type="slidenum">
              <a:rPr lang="vi-VN" smtClean="0"/>
              <a:pPr/>
              <a:t>28</a:t>
            </a:fld>
            <a:r>
              <a:rPr lang="en-US"/>
              <a:t>/80</a:t>
            </a:r>
            <a:endParaRPr lang="vi-VN"/>
          </a:p>
        </p:txBody>
      </p:sp>
      <p:sp>
        <p:nvSpPr>
          <p:cNvPr id="8" name="TextBox 7">
            <a:extLst>
              <a:ext uri="{FF2B5EF4-FFF2-40B4-BE49-F238E27FC236}">
                <a16:creationId xmlns:a16="http://schemas.microsoft.com/office/drawing/2014/main" id="{98C92840-D1AC-AEAE-689A-B81C955EED79}"/>
              </a:ext>
            </a:extLst>
          </p:cNvPr>
          <p:cNvSpPr txBox="1"/>
          <p:nvPr/>
        </p:nvSpPr>
        <p:spPr>
          <a:xfrm>
            <a:off x="753533" y="6300122"/>
            <a:ext cx="9666111" cy="523220"/>
          </a:xfrm>
          <a:prstGeom prst="rect">
            <a:avLst/>
          </a:prstGeom>
          <a:noFill/>
        </p:spPr>
        <p:txBody>
          <a:bodyPr wrap="square">
            <a:spAutoFit/>
          </a:bodyPr>
          <a:lstStyle/>
          <a:p>
            <a:r>
              <a:rPr lang="en-US" sz="1400" b="1">
                <a:solidFill>
                  <a:srgbClr val="222222"/>
                </a:solidFill>
                <a:latin typeface="Calibri" panose="020F0502020204030204" pitchFamily="34" charset="0"/>
                <a:ea typeface="Calibri" panose="020F0502020204030204" pitchFamily="34" charset="0"/>
                <a:cs typeface="Calibri" panose="020F0502020204030204" pitchFamily="34" charset="0"/>
              </a:rPr>
              <a:t>[2.1.1]</a:t>
            </a:r>
            <a:r>
              <a:rPr lang="en-US" sz="1400">
                <a:solidFill>
                  <a:srgbClr val="222222"/>
                </a:solidFill>
                <a:latin typeface="Calibri" panose="020F0502020204030204" pitchFamily="34" charset="0"/>
                <a:ea typeface="Calibri" panose="020F0502020204030204" pitchFamily="34" charset="0"/>
                <a:cs typeface="Calibri" panose="020F0502020204030204" pitchFamily="34" charset="0"/>
              </a:rPr>
              <a:t> </a:t>
            </a:r>
            <a:r>
              <a:rPr lang="vi-VN" sz="1400">
                <a:solidFill>
                  <a:srgbClr val="222222"/>
                </a:solidFill>
                <a:latin typeface="Calibri" panose="020F0502020204030204" pitchFamily="34" charset="0"/>
                <a:ea typeface="Calibri" panose="020F0502020204030204" pitchFamily="34" charset="0"/>
                <a:cs typeface="Calibri" panose="020F0502020204030204" pitchFamily="34" charset="0"/>
              </a:rPr>
              <a:t>Kankeu, I., Fritsch, S. G., Schönhoff, G., Mounzer, E., Lukowicz, P., &amp; Kiefer-Emmanouilidis, M. (2025). Quantum-inspired embeddings projection and similarity metrics for representation learning. </a:t>
            </a:r>
            <a:r>
              <a:rPr lang="vi-VN" sz="1400" i="1">
                <a:solidFill>
                  <a:srgbClr val="222222"/>
                </a:solidFill>
                <a:latin typeface="Calibri" panose="020F0502020204030204" pitchFamily="34" charset="0"/>
                <a:ea typeface="Calibri" panose="020F0502020204030204" pitchFamily="34" charset="0"/>
                <a:cs typeface="Calibri" panose="020F0502020204030204" pitchFamily="34" charset="0"/>
              </a:rPr>
              <a:t>arXiv preprint arXiv:2501.04591</a:t>
            </a:r>
            <a:r>
              <a:rPr lang="vi-VN" sz="1400">
                <a:solidFill>
                  <a:srgbClr val="222222"/>
                </a:solidFill>
                <a:latin typeface="Calibri" panose="020F0502020204030204" pitchFamily="34" charset="0"/>
                <a:ea typeface="Calibri" panose="020F0502020204030204" pitchFamily="34" charset="0"/>
                <a:cs typeface="Calibri" panose="020F0502020204030204" pitchFamily="34" charset="0"/>
              </a:rPr>
              <a:t>.</a:t>
            </a:r>
            <a:endParaRPr lang="vi-VN" sz="140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A86A320C-6047-647D-9A1E-A0E753BD505E}"/>
              </a:ext>
            </a:extLst>
          </p:cNvPr>
          <p:cNvPicPr>
            <a:picLocks noChangeAspect="1"/>
          </p:cNvPicPr>
          <p:nvPr/>
        </p:nvPicPr>
        <p:blipFill>
          <a:blip r:embed="rId2"/>
          <a:stretch>
            <a:fillRect/>
          </a:stretch>
        </p:blipFill>
        <p:spPr>
          <a:xfrm>
            <a:off x="987779" y="2715308"/>
            <a:ext cx="9093200" cy="3544381"/>
          </a:xfrm>
          <a:prstGeom prst="rect">
            <a:avLst/>
          </a:prstGeom>
        </p:spPr>
      </p:pic>
      <p:pic>
        <p:nvPicPr>
          <p:cNvPr id="6" name="Picture 5">
            <a:extLst>
              <a:ext uri="{FF2B5EF4-FFF2-40B4-BE49-F238E27FC236}">
                <a16:creationId xmlns:a16="http://schemas.microsoft.com/office/drawing/2014/main" id="{0745D1C2-8F01-3BCF-8337-C9C0408C8BC5}"/>
              </a:ext>
            </a:extLst>
          </p:cNvPr>
          <p:cNvPicPr>
            <a:picLocks noChangeAspect="1"/>
          </p:cNvPicPr>
          <p:nvPr/>
        </p:nvPicPr>
        <p:blipFill>
          <a:blip r:embed="rId3"/>
          <a:stretch>
            <a:fillRect/>
          </a:stretch>
        </p:blipFill>
        <p:spPr>
          <a:xfrm>
            <a:off x="838201" y="1432382"/>
            <a:ext cx="5545367" cy="1790596"/>
          </a:xfrm>
          <a:prstGeom prst="rect">
            <a:avLst/>
          </a:prstGeom>
        </p:spPr>
      </p:pic>
      <p:sp>
        <p:nvSpPr>
          <p:cNvPr id="12" name="TextBox 11">
            <a:extLst>
              <a:ext uri="{FF2B5EF4-FFF2-40B4-BE49-F238E27FC236}">
                <a16:creationId xmlns:a16="http://schemas.microsoft.com/office/drawing/2014/main" id="{282CFD18-0610-E38B-37F4-692AD1E9DB3A}"/>
              </a:ext>
            </a:extLst>
          </p:cNvPr>
          <p:cNvSpPr txBox="1"/>
          <p:nvPr/>
        </p:nvSpPr>
        <p:spPr>
          <a:xfrm>
            <a:off x="753532" y="5378573"/>
            <a:ext cx="3795891" cy="954300"/>
          </a:xfrm>
          <a:prstGeom prst="rect">
            <a:avLst/>
          </a:prstGeom>
          <a:noFill/>
        </p:spPr>
        <p:txBody>
          <a:bodyPr wrap="square">
            <a:spAutoFit/>
          </a:bodyPr>
          <a:lstStyle/>
          <a:p>
            <a:r>
              <a:rPr lang="en-US" sz="1867"/>
              <a:t>Quantum-inspired embedding compression of base BERT. </a:t>
            </a:r>
            <a:r>
              <a:rPr lang="en-US" sz="1867">
                <a:latin typeface="Calibri" panose="020F0502020204030204" pitchFamily="34" charset="0"/>
                <a:ea typeface="Calibri" panose="020F0502020204030204" pitchFamily="34" charset="0"/>
                <a:cs typeface="Calibri" panose="020F0502020204030204" pitchFamily="34" charset="0"/>
              </a:rPr>
              <a:t>x32 </a:t>
            </a:r>
            <a:r>
              <a:rPr lang="vi-VN" sz="1867">
                <a:latin typeface="Calibri" panose="020F0502020204030204" pitchFamily="34" charset="0"/>
                <a:ea typeface="Calibri" panose="020F0502020204030204" pitchFamily="34" charset="0"/>
                <a:cs typeface="Calibri" panose="020F0502020204030204" pitchFamily="34" charset="0"/>
              </a:rPr>
              <a:t>fewer parameters</a:t>
            </a:r>
            <a:r>
              <a:rPr lang="en-US" sz="1867">
                <a:latin typeface="Calibri" panose="020F0502020204030204" pitchFamily="34" charset="0"/>
                <a:ea typeface="Calibri" panose="020F0502020204030204" pitchFamily="34" charset="0"/>
                <a:cs typeface="Calibri" panose="020F0502020204030204" pitchFamily="34" charset="0"/>
              </a:rPr>
              <a:t>???</a:t>
            </a:r>
            <a:endParaRPr lang="vi-VN" sz="1867">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7127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BD68-94AC-57A3-2E45-8037A74D3101}"/>
              </a:ext>
            </a:extLst>
          </p:cNvPr>
          <p:cNvSpPr>
            <a:spLocks noGrp="1"/>
          </p:cNvSpPr>
          <p:nvPr>
            <p:ph type="title"/>
          </p:nvPr>
        </p:nvSpPr>
        <p:spPr>
          <a:xfrm>
            <a:off x="838201" y="365125"/>
            <a:ext cx="8836377" cy="1325563"/>
          </a:xfrm>
        </p:spPr>
        <p:txBody>
          <a:bodyPr>
            <a:normAutofit/>
          </a:bodyPr>
          <a:lstStyle/>
          <a:p>
            <a:r>
              <a:rPr lang="en-US"/>
              <a:t>2.2. Model building: quantum-inspired model</a:t>
            </a:r>
            <a:endParaRPr lang="vi-VN"/>
          </a:p>
        </p:txBody>
      </p:sp>
      <p:sp>
        <p:nvSpPr>
          <p:cNvPr id="4" name="Slide Number Placeholder 3">
            <a:extLst>
              <a:ext uri="{FF2B5EF4-FFF2-40B4-BE49-F238E27FC236}">
                <a16:creationId xmlns:a16="http://schemas.microsoft.com/office/drawing/2014/main" id="{F2797270-8475-A39F-8635-C82CB0B2B842}"/>
              </a:ext>
            </a:extLst>
          </p:cNvPr>
          <p:cNvSpPr>
            <a:spLocks noGrp="1"/>
          </p:cNvSpPr>
          <p:nvPr>
            <p:ph type="sldNum" sz="quarter" idx="12"/>
          </p:nvPr>
        </p:nvSpPr>
        <p:spPr/>
        <p:txBody>
          <a:bodyPr/>
          <a:lstStyle/>
          <a:p>
            <a:fld id="{6A45828D-F580-42DE-B77E-860980F07F32}" type="slidenum">
              <a:rPr lang="vi-VN" smtClean="0"/>
              <a:pPr/>
              <a:t>29</a:t>
            </a:fld>
            <a:r>
              <a:rPr lang="en-US"/>
              <a:t>/80</a:t>
            </a:r>
            <a:endParaRPr lang="vi-VN"/>
          </a:p>
        </p:txBody>
      </p:sp>
      <p:sp>
        <p:nvSpPr>
          <p:cNvPr id="10" name="TextBox 9">
            <a:extLst>
              <a:ext uri="{FF2B5EF4-FFF2-40B4-BE49-F238E27FC236}">
                <a16:creationId xmlns:a16="http://schemas.microsoft.com/office/drawing/2014/main" id="{911CA425-ABC8-AE2C-74F5-B3BE89DEC697}"/>
              </a:ext>
            </a:extLst>
          </p:cNvPr>
          <p:cNvSpPr txBox="1"/>
          <p:nvPr/>
        </p:nvSpPr>
        <p:spPr>
          <a:xfrm>
            <a:off x="767646" y="6226135"/>
            <a:ext cx="9505245" cy="502573"/>
          </a:xfrm>
          <a:prstGeom prst="rect">
            <a:avLst/>
          </a:prstGeom>
          <a:noFill/>
        </p:spPr>
        <p:txBody>
          <a:bodyPr wrap="square">
            <a:spAutoFit/>
          </a:bodyPr>
          <a:lstStyle/>
          <a:p>
            <a:r>
              <a:rPr lang="en-US" sz="1333" b="1">
                <a:latin typeface="Calibri" panose="020F0502020204030204" pitchFamily="34" charset="0"/>
                <a:ea typeface="Calibri" panose="020F0502020204030204" pitchFamily="34" charset="0"/>
                <a:cs typeface="Calibri" panose="020F0502020204030204" pitchFamily="34" charset="0"/>
              </a:rPr>
              <a:t>[2.2.1]</a:t>
            </a:r>
            <a:r>
              <a:rPr lang="en-US" sz="1333">
                <a:latin typeface="Calibri" panose="020F0502020204030204" pitchFamily="34" charset="0"/>
                <a:ea typeface="Calibri" panose="020F0502020204030204" pitchFamily="34" charset="0"/>
                <a:cs typeface="Calibri" panose="020F0502020204030204" pitchFamily="34" charset="0"/>
              </a:rPr>
              <a:t> </a:t>
            </a:r>
            <a:r>
              <a:rPr lang="vi-VN" sz="1333">
                <a:latin typeface="Calibri" panose="020F0502020204030204" pitchFamily="34" charset="0"/>
                <a:ea typeface="Calibri" panose="020F0502020204030204" pitchFamily="34" charset="0"/>
                <a:cs typeface="Calibri" panose="020F0502020204030204" pitchFamily="34" charset="0"/>
              </a:rPr>
              <a:t>Nguyen, H. Q., Nguyen, X. B., Churchill, H., Choudhary, A. K., Sinha, P., Khan, S. U., &amp; Luu, K. (2024). Quantum-brain: Quantum-inspired neural network approach to vision-brain understanding. arXiv preprint arXiv:2411.13378.</a:t>
            </a:r>
          </a:p>
        </p:txBody>
      </p:sp>
      <p:pic>
        <p:nvPicPr>
          <p:cNvPr id="13" name="Picture 12">
            <a:extLst>
              <a:ext uri="{FF2B5EF4-FFF2-40B4-BE49-F238E27FC236}">
                <a16:creationId xmlns:a16="http://schemas.microsoft.com/office/drawing/2014/main" id="{03EC8487-C58B-9F9F-6774-67AC70A19DAA}"/>
              </a:ext>
            </a:extLst>
          </p:cNvPr>
          <p:cNvPicPr>
            <a:picLocks noChangeAspect="1"/>
          </p:cNvPicPr>
          <p:nvPr/>
        </p:nvPicPr>
        <p:blipFill>
          <a:blip r:embed="rId2"/>
          <a:srcRect l="-1861" r="1"/>
          <a:stretch/>
        </p:blipFill>
        <p:spPr>
          <a:xfrm>
            <a:off x="513645" y="1453796"/>
            <a:ext cx="10912289" cy="3327049"/>
          </a:xfrm>
          <a:prstGeom prst="rect">
            <a:avLst/>
          </a:prstGeom>
        </p:spPr>
      </p:pic>
      <p:sp>
        <p:nvSpPr>
          <p:cNvPr id="8" name="TextBox 7">
            <a:extLst>
              <a:ext uri="{FF2B5EF4-FFF2-40B4-BE49-F238E27FC236}">
                <a16:creationId xmlns:a16="http://schemas.microsoft.com/office/drawing/2014/main" id="{20FC4D93-D40E-9CAB-835D-326C09AC0FA3}"/>
              </a:ext>
            </a:extLst>
          </p:cNvPr>
          <p:cNvSpPr txBox="1"/>
          <p:nvPr/>
        </p:nvSpPr>
        <p:spPr>
          <a:xfrm>
            <a:off x="767645" y="4780845"/>
            <a:ext cx="10741377" cy="1077218"/>
          </a:xfrm>
          <a:prstGeom prst="rect">
            <a:avLst/>
          </a:prstGeom>
          <a:noFill/>
        </p:spPr>
        <p:txBody>
          <a:bodyPr wrap="square">
            <a:spAutoFit/>
          </a:bodyPr>
          <a:lstStyle/>
          <a:p>
            <a:r>
              <a:rPr lang="en-US" sz="1600"/>
              <a:t>Quantum-Brain for Vision-Brain Understanding. Motivated by the connectivities in brain signals and entanglement in quantum theory, we propose Quantum-Brain, a quantum-inspired neural network to explore the connectivities in brain signals for vision-brain understanding. Apart from self-attention, we evaluate the entanglement between brain voxels to enhance the exploration of connectivity. </a:t>
            </a:r>
            <a:r>
              <a:rPr lang="en-US" sz="1600" b="1"/>
              <a:t>[2.2.1]</a:t>
            </a:r>
            <a:r>
              <a:rPr lang="en-US" sz="1600"/>
              <a:t> </a:t>
            </a:r>
            <a:endParaRPr lang="vi-VN" sz="1600"/>
          </a:p>
        </p:txBody>
      </p:sp>
    </p:spTree>
    <p:extLst>
      <p:ext uri="{BB962C8B-B14F-4D97-AF65-F5344CB8AC3E}">
        <p14:creationId xmlns:p14="http://schemas.microsoft.com/office/powerpoint/2010/main" val="3828468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1CF4-4878-E028-1C59-F66B024BD639}"/>
              </a:ext>
            </a:extLst>
          </p:cNvPr>
          <p:cNvSpPr>
            <a:spLocks noGrp="1"/>
          </p:cNvSpPr>
          <p:nvPr>
            <p:ph type="title"/>
          </p:nvPr>
        </p:nvSpPr>
        <p:spPr>
          <a:xfrm>
            <a:off x="838201" y="365126"/>
            <a:ext cx="10021711" cy="696031"/>
          </a:xfrm>
        </p:spPr>
        <p:txBody>
          <a:bodyPr>
            <a:normAutofit fontScale="90000"/>
          </a:bodyPr>
          <a:lstStyle/>
          <a:p>
            <a:r>
              <a:rPr lang="en-US"/>
              <a:t>2.2. Model building: quantum-inspired model</a:t>
            </a:r>
            <a:endParaRPr lang="vi-VN"/>
          </a:p>
        </p:txBody>
      </p:sp>
      <p:sp>
        <p:nvSpPr>
          <p:cNvPr id="4" name="Slide Number Placeholder 3">
            <a:extLst>
              <a:ext uri="{FF2B5EF4-FFF2-40B4-BE49-F238E27FC236}">
                <a16:creationId xmlns:a16="http://schemas.microsoft.com/office/drawing/2014/main" id="{E93FEF06-778D-D7BF-6916-6CE7A5778EB4}"/>
              </a:ext>
            </a:extLst>
          </p:cNvPr>
          <p:cNvSpPr>
            <a:spLocks noGrp="1"/>
          </p:cNvSpPr>
          <p:nvPr>
            <p:ph type="sldNum" sz="quarter" idx="12"/>
          </p:nvPr>
        </p:nvSpPr>
        <p:spPr/>
        <p:txBody>
          <a:bodyPr/>
          <a:lstStyle/>
          <a:p>
            <a:fld id="{6A45828D-F580-42DE-B77E-860980F07F32}" type="slidenum">
              <a:rPr lang="vi-VN" smtClean="0"/>
              <a:pPr/>
              <a:t>30</a:t>
            </a:fld>
            <a:r>
              <a:rPr lang="en-US"/>
              <a:t>/80</a:t>
            </a:r>
            <a:endParaRPr lang="vi-VN"/>
          </a:p>
        </p:txBody>
      </p:sp>
      <p:sp>
        <p:nvSpPr>
          <p:cNvPr id="5" name="TextBox 4">
            <a:extLst>
              <a:ext uri="{FF2B5EF4-FFF2-40B4-BE49-F238E27FC236}">
                <a16:creationId xmlns:a16="http://schemas.microsoft.com/office/drawing/2014/main" id="{75232D1D-E364-F741-5F6B-D32E336C5722}"/>
              </a:ext>
            </a:extLst>
          </p:cNvPr>
          <p:cNvSpPr txBox="1"/>
          <p:nvPr/>
        </p:nvSpPr>
        <p:spPr>
          <a:xfrm>
            <a:off x="767646" y="6226136"/>
            <a:ext cx="9505245" cy="502573"/>
          </a:xfrm>
          <a:prstGeom prst="rect">
            <a:avLst/>
          </a:prstGeom>
          <a:noFill/>
        </p:spPr>
        <p:txBody>
          <a:bodyPr wrap="square">
            <a:spAutoFit/>
          </a:bodyPr>
          <a:lstStyle/>
          <a:p>
            <a:r>
              <a:rPr lang="en-US" sz="1333" b="1">
                <a:latin typeface="Calibri" panose="020F0502020204030204" pitchFamily="34" charset="0"/>
                <a:ea typeface="Calibri" panose="020F0502020204030204" pitchFamily="34" charset="0"/>
                <a:cs typeface="Calibri" panose="020F0502020204030204" pitchFamily="34" charset="0"/>
              </a:rPr>
              <a:t>[2.2.2]</a:t>
            </a:r>
            <a:r>
              <a:rPr lang="en-US" sz="1333">
                <a:latin typeface="Calibri" panose="020F0502020204030204" pitchFamily="34" charset="0"/>
                <a:ea typeface="Calibri" panose="020F0502020204030204" pitchFamily="34" charset="0"/>
                <a:cs typeface="Calibri" panose="020F0502020204030204" pitchFamily="34" charset="0"/>
              </a:rPr>
              <a:t> Gili, K., Alonso, G., &amp; Schuld, M. (2024). An inductive bias from quantum mechanics: learning order effects with non-commuting measurements. Quantum Machine Intelligence, 6(2), 67</a:t>
            </a:r>
            <a:endParaRPr lang="vi-VN" sz="1333">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May be an illustration of text">
            <a:extLst>
              <a:ext uri="{FF2B5EF4-FFF2-40B4-BE49-F238E27FC236}">
                <a16:creationId xmlns:a16="http://schemas.microsoft.com/office/drawing/2014/main" id="{1A05D2CF-9577-7D67-7918-00E9B11B5B54}"/>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838199" y="1061156"/>
            <a:ext cx="8604956" cy="5168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163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BD68-94AC-57A3-2E45-8037A74D3101}"/>
              </a:ext>
            </a:extLst>
          </p:cNvPr>
          <p:cNvSpPr>
            <a:spLocks noGrp="1"/>
          </p:cNvSpPr>
          <p:nvPr>
            <p:ph type="title"/>
          </p:nvPr>
        </p:nvSpPr>
        <p:spPr>
          <a:xfrm>
            <a:off x="838201" y="365125"/>
            <a:ext cx="8836377" cy="1325563"/>
          </a:xfrm>
        </p:spPr>
        <p:txBody>
          <a:bodyPr>
            <a:normAutofit/>
          </a:bodyPr>
          <a:lstStyle/>
          <a:p>
            <a:r>
              <a:rPr lang="en-US"/>
              <a:t>2.3. Post-processing: compressing by Tensor-network</a:t>
            </a:r>
            <a:endParaRPr lang="vi-VN"/>
          </a:p>
        </p:txBody>
      </p:sp>
      <p:pic>
        <p:nvPicPr>
          <p:cNvPr id="6" name="Content Placeholder 5">
            <a:extLst>
              <a:ext uri="{FF2B5EF4-FFF2-40B4-BE49-F238E27FC236}">
                <a16:creationId xmlns:a16="http://schemas.microsoft.com/office/drawing/2014/main" id="{BD55E132-2658-05D0-6FC8-8ABAC86F3962}"/>
              </a:ext>
            </a:extLst>
          </p:cNvPr>
          <p:cNvPicPr>
            <a:picLocks noGrp="1" noChangeAspect="1"/>
          </p:cNvPicPr>
          <p:nvPr>
            <p:ph idx="1"/>
          </p:nvPr>
        </p:nvPicPr>
        <p:blipFill>
          <a:blip r:embed="rId3"/>
          <a:stretch>
            <a:fillRect/>
          </a:stretch>
        </p:blipFill>
        <p:spPr>
          <a:xfrm>
            <a:off x="968024" y="1843089"/>
            <a:ext cx="4564736" cy="2532692"/>
          </a:xfrm>
        </p:spPr>
      </p:pic>
      <p:sp>
        <p:nvSpPr>
          <p:cNvPr id="4" name="Slide Number Placeholder 3">
            <a:extLst>
              <a:ext uri="{FF2B5EF4-FFF2-40B4-BE49-F238E27FC236}">
                <a16:creationId xmlns:a16="http://schemas.microsoft.com/office/drawing/2014/main" id="{F2797270-8475-A39F-8635-C82CB0B2B842}"/>
              </a:ext>
            </a:extLst>
          </p:cNvPr>
          <p:cNvSpPr>
            <a:spLocks noGrp="1"/>
          </p:cNvSpPr>
          <p:nvPr>
            <p:ph type="sldNum" sz="quarter" idx="12"/>
          </p:nvPr>
        </p:nvSpPr>
        <p:spPr/>
        <p:txBody>
          <a:bodyPr/>
          <a:lstStyle/>
          <a:p>
            <a:fld id="{6A45828D-F580-42DE-B77E-860980F07F32}" type="slidenum">
              <a:rPr lang="vi-VN" smtClean="0"/>
              <a:pPr/>
              <a:t>31</a:t>
            </a:fld>
            <a:r>
              <a:rPr lang="en-US"/>
              <a:t>/80</a:t>
            </a:r>
            <a:endParaRPr lang="vi-VN"/>
          </a:p>
        </p:txBody>
      </p:sp>
      <p:sp>
        <p:nvSpPr>
          <p:cNvPr id="10" name="TextBox 9">
            <a:extLst>
              <a:ext uri="{FF2B5EF4-FFF2-40B4-BE49-F238E27FC236}">
                <a16:creationId xmlns:a16="http://schemas.microsoft.com/office/drawing/2014/main" id="{911CA425-ABC8-AE2C-74F5-B3BE89DEC697}"/>
              </a:ext>
            </a:extLst>
          </p:cNvPr>
          <p:cNvSpPr txBox="1"/>
          <p:nvPr/>
        </p:nvSpPr>
        <p:spPr>
          <a:xfrm>
            <a:off x="838201" y="5627406"/>
            <a:ext cx="9587089" cy="1117935"/>
          </a:xfrm>
          <a:prstGeom prst="rect">
            <a:avLst/>
          </a:prstGeom>
          <a:noFill/>
        </p:spPr>
        <p:txBody>
          <a:bodyPr wrap="square">
            <a:spAutoFit/>
          </a:bodyPr>
          <a:lstStyle/>
          <a:p>
            <a:r>
              <a:rPr lang="en-US" sz="1333" b="1">
                <a:latin typeface="Calibri" panose="020F0502020204030204" pitchFamily="34" charset="0"/>
                <a:ea typeface="Calibri" panose="020F0502020204030204" pitchFamily="34" charset="0"/>
                <a:cs typeface="Calibri" panose="020F0502020204030204" pitchFamily="34" charset="0"/>
              </a:rPr>
              <a:t>[2.3.1]</a:t>
            </a:r>
            <a:r>
              <a:rPr lang="en-US" sz="1333">
                <a:latin typeface="Calibri" panose="020F0502020204030204" pitchFamily="34" charset="0"/>
                <a:ea typeface="Calibri" panose="020F0502020204030204" pitchFamily="34" charset="0"/>
                <a:cs typeface="Calibri" panose="020F0502020204030204" pitchFamily="34" charset="0"/>
              </a:rPr>
              <a:t> </a:t>
            </a:r>
            <a:r>
              <a:rPr lang="vi-VN" sz="1333">
                <a:latin typeface="Calibri" panose="020F0502020204030204" pitchFamily="34" charset="0"/>
                <a:ea typeface="Calibri" panose="020F0502020204030204" pitchFamily="34" charset="0"/>
                <a:cs typeface="Calibri" panose="020F0502020204030204" pitchFamily="34" charset="0"/>
              </a:rPr>
              <a:t>Solgi, R., Zhen, K., Swaminathan, R. V., Susanj, N., Mouchtaris, T., Kunzmann, J., &amp; Zhang, Z. (2025). </a:t>
            </a:r>
            <a:r>
              <a:rPr lang="vi-VN" sz="1333" i="1">
                <a:latin typeface="Calibri" panose="020F0502020204030204" pitchFamily="34" charset="0"/>
                <a:ea typeface="Calibri" panose="020F0502020204030204" pitchFamily="34" charset="0"/>
                <a:cs typeface="Calibri" panose="020F0502020204030204" pitchFamily="34" charset="0"/>
              </a:rPr>
              <a:t>Sparse augmented tensor networks for post-training compression of large language models</a:t>
            </a:r>
            <a:r>
              <a:rPr lang="vi-VN" sz="1333">
                <a:latin typeface="Calibri" panose="020F0502020204030204" pitchFamily="34" charset="0"/>
                <a:ea typeface="Calibri" panose="020F0502020204030204" pitchFamily="34" charset="0"/>
                <a:cs typeface="Calibri" panose="020F0502020204030204" pitchFamily="34" charset="0"/>
              </a:rPr>
              <a:t>.</a:t>
            </a:r>
            <a:r>
              <a:rPr lang="en-US" sz="1333">
                <a:latin typeface="Calibri" panose="020F0502020204030204" pitchFamily="34" charset="0"/>
                <a:ea typeface="Calibri" panose="020F0502020204030204" pitchFamily="34" charset="0"/>
                <a:cs typeface="Calibri" panose="020F0502020204030204" pitchFamily="34" charset="0"/>
              </a:rPr>
              <a:t> EMNLP2025</a:t>
            </a:r>
          </a:p>
          <a:p>
            <a:r>
              <a:rPr lang="en-US" sz="1333" b="1">
                <a:latin typeface="Calibri" panose="020F0502020204030204" pitchFamily="34" charset="0"/>
                <a:ea typeface="Calibri" panose="020F0502020204030204" pitchFamily="34" charset="0"/>
                <a:cs typeface="Calibri" panose="020F0502020204030204" pitchFamily="34" charset="0"/>
              </a:rPr>
              <a:t>[2.3.2]</a:t>
            </a:r>
            <a:r>
              <a:rPr lang="en-US" sz="1333">
                <a:latin typeface="Calibri" panose="020F0502020204030204" pitchFamily="34" charset="0"/>
                <a:ea typeface="Calibri" panose="020F0502020204030204" pitchFamily="34" charset="0"/>
                <a:cs typeface="Calibri" panose="020F0502020204030204" pitchFamily="34" charset="0"/>
              </a:rPr>
              <a:t> </a:t>
            </a:r>
            <a:r>
              <a:rPr lang="vi-VN" sz="1333">
                <a:latin typeface="Calibri" panose="020F0502020204030204" pitchFamily="34" charset="0"/>
                <a:ea typeface="Calibri" panose="020F0502020204030204" pitchFamily="34" charset="0"/>
                <a:cs typeface="Calibri" panose="020F0502020204030204" pitchFamily="34" charset="0"/>
              </a:rPr>
              <a:t>Chen, Z., Dangovski, R., Loh, C., Dugan, O., Luo, D., &amp; Soljačić, M. (2024). QuanTA: Efficient High-Rank Fine-Tuning of LLMs with Quantum-Informed Tensor Adaptation. In A. Globerson, L. Mackey, D. Belgrave, A. Fan, U. Paquet, J. Tomczak, &amp; C. Zhang (Eds), Advances in Neural Information Processing Systems (Vol. 37, pp. 92210–92245). doi:10.52202/079017-2928</a:t>
            </a:r>
          </a:p>
        </p:txBody>
      </p:sp>
      <p:pic>
        <p:nvPicPr>
          <p:cNvPr id="15" name="Picture 14">
            <a:extLst>
              <a:ext uri="{FF2B5EF4-FFF2-40B4-BE49-F238E27FC236}">
                <a16:creationId xmlns:a16="http://schemas.microsoft.com/office/drawing/2014/main" id="{CC603917-8A04-398D-14EB-177E3DC7D0B0}"/>
              </a:ext>
            </a:extLst>
          </p:cNvPr>
          <p:cNvPicPr>
            <a:picLocks noChangeAspect="1"/>
          </p:cNvPicPr>
          <p:nvPr/>
        </p:nvPicPr>
        <p:blipFill>
          <a:blip r:embed="rId4"/>
          <a:stretch>
            <a:fillRect/>
          </a:stretch>
        </p:blipFill>
        <p:spPr>
          <a:xfrm>
            <a:off x="5700509" y="1843089"/>
            <a:ext cx="6372959" cy="2532692"/>
          </a:xfrm>
          <a:prstGeom prst="rect">
            <a:avLst/>
          </a:prstGeom>
        </p:spPr>
      </p:pic>
      <p:sp>
        <p:nvSpPr>
          <p:cNvPr id="17" name="TextBox 16">
            <a:extLst>
              <a:ext uri="{FF2B5EF4-FFF2-40B4-BE49-F238E27FC236}">
                <a16:creationId xmlns:a16="http://schemas.microsoft.com/office/drawing/2014/main" id="{5B08D050-1F26-4599-E508-7B8FDFB48811}"/>
              </a:ext>
            </a:extLst>
          </p:cNvPr>
          <p:cNvSpPr txBox="1"/>
          <p:nvPr/>
        </p:nvSpPr>
        <p:spPr>
          <a:xfrm>
            <a:off x="5700508" y="4375781"/>
            <a:ext cx="6096000" cy="1221168"/>
          </a:xfrm>
          <a:prstGeom prst="rect">
            <a:avLst/>
          </a:prstGeom>
          <a:noFill/>
        </p:spPr>
        <p:txBody>
          <a:bodyPr wrap="square">
            <a:spAutoFit/>
          </a:bodyPr>
          <a:lstStyle/>
          <a:p>
            <a:r>
              <a:rPr lang="en-US" sz="1467"/>
              <a:t>(B) Conceptual comparison of QuanTA and LoRA methods. LoRA parameterizes the weight matrix update as a outer product of two low-rank matrices, limiting its capacity. QuanTA, inspired by quantum circuits, uses tensors that operate on specific axes of the (reshaped) input, enabling high-rank parameterization</a:t>
            </a:r>
            <a:r>
              <a:rPr lang="en-US" sz="1467" b="1"/>
              <a:t>.[2.3.2]</a:t>
            </a:r>
            <a:endParaRPr lang="vi-VN" sz="1467" b="1"/>
          </a:p>
        </p:txBody>
      </p:sp>
      <p:sp>
        <p:nvSpPr>
          <p:cNvPr id="19" name="TextBox 18">
            <a:extLst>
              <a:ext uri="{FF2B5EF4-FFF2-40B4-BE49-F238E27FC236}">
                <a16:creationId xmlns:a16="http://schemas.microsoft.com/office/drawing/2014/main" id="{592C14C7-32DE-0BF1-235B-32526C57BB27}"/>
              </a:ext>
            </a:extLst>
          </p:cNvPr>
          <p:cNvSpPr txBox="1"/>
          <p:nvPr/>
        </p:nvSpPr>
        <p:spPr>
          <a:xfrm>
            <a:off x="838201" y="4375780"/>
            <a:ext cx="4761089" cy="543867"/>
          </a:xfrm>
          <a:prstGeom prst="rect">
            <a:avLst/>
          </a:prstGeom>
          <a:noFill/>
        </p:spPr>
        <p:txBody>
          <a:bodyPr wrap="square">
            <a:spAutoFit/>
          </a:bodyPr>
          <a:lstStyle/>
          <a:p>
            <a:r>
              <a:rPr lang="en-US" sz="1467"/>
              <a:t>(A) The sparse + low-rank tensor train representation for a weight matrix (or embedding table). </a:t>
            </a:r>
            <a:r>
              <a:rPr lang="en-US" sz="1467" b="1"/>
              <a:t>[2.3.1]</a:t>
            </a:r>
            <a:endParaRPr lang="vi-VN" sz="1467" b="1"/>
          </a:p>
        </p:txBody>
      </p:sp>
    </p:spTree>
    <p:extLst>
      <p:ext uri="{BB962C8B-B14F-4D97-AF65-F5344CB8AC3E}">
        <p14:creationId xmlns:p14="http://schemas.microsoft.com/office/powerpoint/2010/main" val="1177768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2.3. Post-processing: tensor network</a:t>
            </a:r>
            <a:br>
              <a:rPr lang="en-US"/>
            </a:br>
            <a:r>
              <a:rPr lang="en-US" sz="2667"/>
              <a:t>Tensor network</a:t>
            </a:r>
            <a:endParaRPr lang="vi-VN" sz="2667"/>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32</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66141" y="1690688"/>
            <a:ext cx="6755460" cy="17249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EC6C2AF-C776-F18D-0502-B031175E4AB8}"/>
                  </a:ext>
                </a:extLst>
              </p:cNvPr>
              <p:cNvSpPr txBox="1"/>
              <p:nvPr/>
            </p:nvSpPr>
            <p:spPr>
              <a:xfrm>
                <a:off x="979156" y="4253557"/>
                <a:ext cx="6464771" cy="761427"/>
              </a:xfrm>
              <a:prstGeom prst="rect">
                <a:avLst/>
              </a:prstGeom>
              <a:noFill/>
            </p:spPr>
            <p:txBody>
              <a:bodyPr wrap="square" rtlCol="0">
                <a:spAutoFit/>
              </a:bodyPr>
              <a:lstStyle/>
              <a:p>
                <a:r>
                  <a:rPr lang="en-US" sz="2400"/>
                  <a:t>We present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𝑛</m:t>
                        </m:r>
                      </m:sup>
                    </m:sSup>
                  </m:oMath>
                </a14:m>
                <a:r>
                  <a:rPr lang="en-US" sz="2400"/>
                  <a:t> statevector as </a:t>
                </a:r>
                <a14:m>
                  <m:oMath xmlns:m="http://schemas.openxmlformats.org/officeDocument/2006/math">
                    <m:limLow>
                      <m:limLowPr>
                        <m:ctrlPr>
                          <a:rPr lang="en-US" sz="2400" i="1">
                            <a:latin typeface="Cambria Math" panose="02040503050406030204" pitchFamily="18" charset="0"/>
                          </a:rPr>
                        </m:ctrlPr>
                      </m:limLowPr>
                      <m:e>
                        <m:groupChr>
                          <m:groupChrPr>
                            <m:chr m:val="⏟"/>
                            <m:ctrlPr>
                              <a:rPr lang="en-US" sz="2400" i="1">
                                <a:latin typeface="Cambria Math" panose="02040503050406030204" pitchFamily="18" charset="0"/>
                              </a:rPr>
                            </m:ctrlPr>
                          </m:groupChrPr>
                          <m:e>
                            <m:d>
                              <m:dPr>
                                <m:ctrlPr>
                                  <a:rPr lang="en-US" sz="2400" i="1">
                                    <a:latin typeface="Cambria Math" panose="02040503050406030204" pitchFamily="18" charset="0"/>
                                  </a:rPr>
                                </m:ctrlPr>
                              </m:dPr>
                              <m:e>
                                <m:r>
                                  <a:rPr lang="en-US" sz="2400" i="1">
                                    <a:latin typeface="Cambria Math" panose="02040503050406030204" pitchFamily="18" charset="0"/>
                                  </a:rPr>
                                  <m:t>2,2,…,2</m:t>
                                </m:r>
                              </m:e>
                            </m:d>
                          </m:e>
                        </m:groupChr>
                      </m:e>
                      <m:lim>
                        <m:r>
                          <a:rPr lang="en-US" sz="2400" i="1">
                            <a:latin typeface="Cambria Math" panose="02040503050406030204" pitchFamily="18" charset="0"/>
                          </a:rPr>
                          <m:t>𝑛</m:t>
                        </m:r>
                      </m:lim>
                    </m:limLow>
                  </m:oMath>
                </a14:m>
                <a:r>
                  <a:rPr lang="en-US" sz="2400"/>
                  <a:t> tensor</a:t>
                </a:r>
                <a:endParaRPr lang="vi-VN" sz="2400"/>
              </a:p>
            </p:txBody>
          </p:sp>
        </mc:Choice>
        <mc:Fallback>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979156" y="4253557"/>
                <a:ext cx="6464771" cy="761427"/>
              </a:xfrm>
              <a:prstGeom prst="rect">
                <a:avLst/>
              </a:prstGeom>
              <a:blipFill>
                <a:blip r:embed="rId3"/>
                <a:stretch>
                  <a:fillRect l="-1569" t="-491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3AD5AAE-8DF5-66C5-3222-DC92FF93A2DE}"/>
                  </a:ext>
                </a:extLst>
              </p:cNvPr>
              <p:cNvSpPr txBox="1"/>
              <p:nvPr/>
            </p:nvSpPr>
            <p:spPr>
              <a:xfrm>
                <a:off x="966139" y="4763605"/>
                <a:ext cx="10847684" cy="632802"/>
              </a:xfrm>
              <a:prstGeom prst="rect">
                <a:avLst/>
              </a:prstGeom>
              <a:noFill/>
            </p:spPr>
            <p:txBody>
              <a:bodyPr wrap="square" rtlCol="0">
                <a:spAutoFit/>
              </a:bodyPr>
              <a:lstStyle/>
              <a:p>
                <a:r>
                  <a:rPr lang="en-US" sz="2400"/>
                  <a:t>For qubit 0, we reshape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𝜓</m:t>
                    </m:r>
                    <m:r>
                      <a:rPr lang="en-US" sz="2400" i="1">
                        <a:latin typeface="Cambria Math" panose="02040503050406030204" pitchFamily="18" charset="0"/>
                      </a:rPr>
                      <m:t>⟩</m:t>
                    </m:r>
                  </m:oMath>
                </a14:m>
                <a:r>
                  <a:rPr lang="en-US" sz="2400"/>
                  <a:t> as row = </a:t>
                </a:r>
                <a14:m>
                  <m:oMath xmlns:m="http://schemas.openxmlformats.org/officeDocument/2006/math">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e>
                    </m:d>
                    <m:r>
                      <a:rPr lang="en-US" sz="2400" i="1">
                        <a:latin typeface="Cambria Math" panose="02040503050406030204" pitchFamily="18" charset="0"/>
                      </a:rPr>
                      <m:t>,</m:t>
                    </m:r>
                  </m:oMath>
                </a14:m>
                <a:r>
                  <a:rPr lang="en-US" sz="2400"/>
                  <a:t> col </a:t>
                </a:r>
                <a14:m>
                  <m:oMath xmlns:m="http://schemas.openxmlformats.org/officeDocument/2006/math">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e>
                    </m:d>
                  </m:oMath>
                </a14:m>
                <a:r>
                  <a:rPr lang="en-US" sz="240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e>
                        </m:d>
                      </m:sub>
                    </m:sSub>
                    <m:groupChr>
                      <m:groupChrPr>
                        <m:chr m:val="→"/>
                        <m:vertJc m:val="bot"/>
                        <m:ctrlPr>
                          <a:rPr lang="en-US" sz="2400" i="1">
                            <a:latin typeface="Cambria Math" panose="02040503050406030204" pitchFamily="18" charset="0"/>
                          </a:rPr>
                        </m:ctrlPr>
                      </m:groupChrPr>
                      <m:e>
                        <m:r>
                          <m:rPr>
                            <m:brk m:alnAt="2"/>
                          </m:rPr>
                          <a:rPr lang="en-US" sz="2400" i="1">
                            <a:latin typeface="Cambria Math" panose="02040503050406030204" pitchFamily="18" charset="0"/>
                          </a:rPr>
                          <m:t>𝑆</m:t>
                        </m:r>
                        <m:r>
                          <a:rPr lang="en-US" sz="2400" i="1">
                            <a:latin typeface="Cambria Math" panose="02040503050406030204" pitchFamily="18" charset="0"/>
                          </a:rPr>
                          <m:t>𝑉𝐷</m:t>
                        </m:r>
                      </m:e>
                    </m:groupChr>
                    <m:r>
                      <a:rPr lang="en-US" sz="2400" i="1">
                        <a:latin typeface="Cambria Math" panose="02040503050406030204" pitchFamily="18" charset="0"/>
                      </a:rPr>
                      <m:t> </m:t>
                    </m:r>
                    <m:r>
                      <a:rPr lang="en-US" sz="2400" i="1">
                        <a:latin typeface="Cambria Math" panose="02040503050406030204" pitchFamily="18" charset="0"/>
                      </a:rPr>
                      <m:t>𝑈</m:t>
                    </m:r>
                    <m:r>
                      <a:rPr lang="en-US" sz="2400" i="1">
                        <a:latin typeface="Cambria Math" panose="02040503050406030204" pitchFamily="18" charset="0"/>
                      </a:rPr>
                      <m:t>   </m:t>
                    </m:r>
                    <m:r>
                      <a:rPr lang="en-US" sz="2400" i="1">
                        <a:latin typeface="Cambria Math" panose="02040503050406030204" pitchFamily="18" charset="0"/>
                      </a:rPr>
                      <m:t>𝑆</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a14:m>
                <a:endParaRPr lang="vi-VN" sz="2400"/>
              </a:p>
            </p:txBody>
          </p:sp>
        </mc:Choice>
        <mc:Fallback>
          <p:sp>
            <p:nvSpPr>
              <p:cNvPr id="8" name="TextBox 7">
                <a:extLst>
                  <a:ext uri="{FF2B5EF4-FFF2-40B4-BE49-F238E27FC236}">
                    <a16:creationId xmlns:a16="http://schemas.microsoft.com/office/drawing/2014/main" id="{53AD5AAE-8DF5-66C5-3222-DC92FF93A2DE}"/>
                  </a:ext>
                </a:extLst>
              </p:cNvPr>
              <p:cNvSpPr txBox="1">
                <a:spLocks noRot="1" noChangeAspect="1" noMove="1" noResize="1" noEditPoints="1" noAdjustHandles="1" noChangeArrowheads="1" noChangeShapeType="1" noTextEdit="1"/>
              </p:cNvSpPr>
              <p:nvPr/>
            </p:nvSpPr>
            <p:spPr>
              <a:xfrm>
                <a:off x="966139" y="4763605"/>
                <a:ext cx="10847684" cy="632802"/>
              </a:xfrm>
              <a:prstGeom prst="rect">
                <a:avLst/>
              </a:prstGeom>
              <a:blipFill>
                <a:blip r:embed="rId4"/>
                <a:stretch>
                  <a:fillRect l="-818" b="-17647"/>
                </a:stretch>
              </a:blipFill>
            </p:spPr>
            <p:txBody>
              <a:bodyPr/>
              <a:lstStyle/>
              <a:p>
                <a:r>
                  <a:rPr lang="en-VN">
                    <a:noFill/>
                  </a:rPr>
                  <a:t> </a:t>
                </a:r>
              </a:p>
            </p:txBody>
          </p:sp>
        </mc:Fallback>
      </mc:AlternateContent>
      <p:sp>
        <p:nvSpPr>
          <p:cNvPr id="11" name="Rectangle 10">
            <a:extLst>
              <a:ext uri="{FF2B5EF4-FFF2-40B4-BE49-F238E27FC236}">
                <a16:creationId xmlns:a16="http://schemas.microsoft.com/office/drawing/2014/main" id="{58D97694-98F5-F568-F10B-9EB19652F176}"/>
              </a:ext>
            </a:extLst>
          </p:cNvPr>
          <p:cNvSpPr/>
          <p:nvPr/>
        </p:nvSpPr>
        <p:spPr>
          <a:xfrm>
            <a:off x="10314275" y="4848969"/>
            <a:ext cx="313080"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2" name="Rectangle 11">
            <a:extLst>
              <a:ext uri="{FF2B5EF4-FFF2-40B4-BE49-F238E27FC236}">
                <a16:creationId xmlns:a16="http://schemas.microsoft.com/office/drawing/2014/main" id="{D7433777-55D8-FE5B-B7E3-F73C2093B818}"/>
              </a:ext>
            </a:extLst>
          </p:cNvPr>
          <p:cNvSpPr/>
          <p:nvPr/>
        </p:nvSpPr>
        <p:spPr>
          <a:xfrm>
            <a:off x="10699225" y="4848273"/>
            <a:ext cx="718540"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1B18B496-44CA-8BC6-C0A3-58DB3AC80D34}"/>
                  </a:ext>
                </a:extLst>
              </p:cNvPr>
              <p:cNvSpPr txBox="1"/>
              <p:nvPr/>
            </p:nvSpPr>
            <p:spPr>
              <a:xfrm>
                <a:off x="10108304" y="4233796"/>
                <a:ext cx="768208" cy="544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1</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sup>
                      </m:sSubSup>
                    </m:oMath>
                  </m:oMathPara>
                </a14:m>
                <a:endParaRPr lang="vi-VN" sz="2400"/>
              </a:p>
            </p:txBody>
          </p:sp>
        </mc:Choice>
        <mc:Fallback>
          <p:sp>
            <p:nvSpPr>
              <p:cNvPr id="13" name="TextBox 12">
                <a:extLst>
                  <a:ext uri="{FF2B5EF4-FFF2-40B4-BE49-F238E27FC236}">
                    <a16:creationId xmlns:a16="http://schemas.microsoft.com/office/drawing/2014/main" id="{1B18B496-44CA-8BC6-C0A3-58DB3AC80D34}"/>
                  </a:ext>
                </a:extLst>
              </p:cNvPr>
              <p:cNvSpPr txBox="1">
                <a:spLocks noRot="1" noChangeAspect="1" noMove="1" noResize="1" noEditPoints="1" noAdjustHandles="1" noChangeArrowheads="1" noChangeShapeType="1" noTextEdit="1"/>
              </p:cNvSpPr>
              <p:nvPr/>
            </p:nvSpPr>
            <p:spPr>
              <a:xfrm>
                <a:off x="10108304" y="4233796"/>
                <a:ext cx="768208" cy="544444"/>
              </a:xfrm>
              <a:prstGeom prst="rect">
                <a:avLst/>
              </a:prstGeom>
              <a:blipFill>
                <a:blip r:embed="rId5"/>
                <a:stretch>
                  <a:fillRect b="-227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A6286C9D-470D-3689-E246-B9252963842B}"/>
                  </a:ext>
                </a:extLst>
              </p:cNvPr>
              <p:cNvSpPr txBox="1"/>
              <p:nvPr/>
            </p:nvSpPr>
            <p:spPr>
              <a:xfrm>
                <a:off x="966139" y="5263417"/>
                <a:ext cx="10768660" cy="1532599"/>
              </a:xfrm>
              <a:prstGeom prst="rect">
                <a:avLst/>
              </a:prstGeom>
              <a:noFill/>
            </p:spPr>
            <p:txBody>
              <a:bodyPr wrap="square" rtlCol="0">
                <a:spAutoFit/>
              </a:bodyPr>
              <a:lstStyle/>
              <a:p>
                <a:r>
                  <a:rPr lang="en-US" sz="2400"/>
                  <a:t>For qubit 1, we reshape </a:t>
                </a:r>
                <a14:m>
                  <m:oMath xmlns:m="http://schemas.openxmlformats.org/officeDocument/2006/math">
                    <m:r>
                      <a:rPr lang="en-US" sz="2400" i="1">
                        <a:latin typeface="Cambria Math" panose="02040503050406030204" pitchFamily="18" charset="0"/>
                      </a:rPr>
                      <m:t>𝑆</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a14:m>
                <a:r>
                  <a:rPr lang="en-US" sz="2400"/>
                  <a:t> as row </a:t>
                </a:r>
                <a14:m>
                  <m:oMath xmlns:m="http://schemas.openxmlformats.org/officeDocument/2006/math">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𝑏𝑜𝑛𝑑</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e>
                    </m:d>
                  </m:oMath>
                </a14:m>
                <a:r>
                  <a:rPr lang="en-US" sz="2400"/>
                  <a:t>, col </a:t>
                </a:r>
                <a14:m>
                  <m:oMath xmlns:m="http://schemas.openxmlformats.org/officeDocument/2006/math">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3</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e>
                    </m:d>
                  </m:oMath>
                </a14:m>
                <a:r>
                  <a:rPr lang="en-US" sz="2400"/>
                  <a:t>   </a:t>
                </a:r>
                <a14:m>
                  <m:oMath xmlns:m="http://schemas.openxmlformats.org/officeDocument/2006/math">
                    <m:groupChr>
                      <m:groupChrPr>
                        <m:chr m:val="→"/>
                        <m:vertJc m:val="bot"/>
                        <m:ctrlPr>
                          <a:rPr lang="en-US" sz="2400" i="1">
                            <a:latin typeface="Cambria Math" panose="02040503050406030204" pitchFamily="18" charset="0"/>
                          </a:rPr>
                        </m:ctrlPr>
                      </m:groupChrPr>
                      <m:e>
                        <m:r>
                          <m:rPr>
                            <m:brk m:alnAt="2"/>
                          </m:rPr>
                          <a:rPr lang="en-US" sz="2400" i="1">
                            <a:latin typeface="Cambria Math" panose="02040503050406030204" pitchFamily="18" charset="0"/>
                          </a:rPr>
                          <m:t>𝑆</m:t>
                        </m:r>
                        <m:r>
                          <a:rPr lang="en-US" sz="2400" i="1">
                            <a:latin typeface="Cambria Math" panose="02040503050406030204" pitchFamily="18" charset="0"/>
                          </a:rPr>
                          <m:t>𝑉𝐷</m:t>
                        </m:r>
                      </m:e>
                    </m:groupChr>
                    <m:r>
                      <a:rPr lang="en-US" sz="2400" i="1">
                        <a:latin typeface="Cambria Math" panose="02040503050406030204" pitchFamily="18" charset="0"/>
                      </a:rPr>
                      <m:t> </m:t>
                    </m:r>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2</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sup>
                    </m:sSubSup>
                    <m:r>
                      <a:rPr lang="en-US" sz="2400" i="1">
                        <a:latin typeface="Cambria Math" panose="02040503050406030204" pitchFamily="18" charset="0"/>
                      </a:rPr>
                      <m:t>𝑆</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a14:m>
                <a:endParaRPr lang="en-US" sz="240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en-US" sz="2400"/>
              </a:p>
              <a:p>
                <a:r>
                  <a:rPr lang="en-US" sz="2400"/>
                  <a:t>Finally, we collect </a:t>
                </a:r>
                <a14:m>
                  <m:oMath xmlns:m="http://schemas.openxmlformats.org/officeDocument/2006/math">
                    <m:d>
                      <m:dPr>
                        <m:begChr m:val="{"/>
                        <m:endChr m:val="}"/>
                        <m:ctrlPr>
                          <a:rPr lang="en-US" sz="2400" i="1">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1</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2</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𝑛</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sup>
                        </m:sSubSup>
                      </m:e>
                    </m:d>
                  </m:oMath>
                </a14:m>
                <a:endParaRPr lang="vi-VN" sz="2400"/>
              </a:p>
            </p:txBody>
          </p:sp>
        </mc:Choice>
        <mc:Fallback>
          <p:sp>
            <p:nvSpPr>
              <p:cNvPr id="15" name="TextBox 14">
                <a:extLst>
                  <a:ext uri="{FF2B5EF4-FFF2-40B4-BE49-F238E27FC236}">
                    <a16:creationId xmlns:a16="http://schemas.microsoft.com/office/drawing/2014/main" id="{A6286C9D-470D-3689-E246-B9252963842B}"/>
                  </a:ext>
                </a:extLst>
              </p:cNvPr>
              <p:cNvSpPr txBox="1">
                <a:spLocks noRot="1" noChangeAspect="1" noMove="1" noResize="1" noEditPoints="1" noAdjustHandles="1" noChangeArrowheads="1" noChangeShapeType="1" noTextEdit="1"/>
              </p:cNvSpPr>
              <p:nvPr/>
            </p:nvSpPr>
            <p:spPr>
              <a:xfrm>
                <a:off x="966139" y="5263417"/>
                <a:ext cx="10768660" cy="1532599"/>
              </a:xfrm>
              <a:prstGeom prst="rect">
                <a:avLst/>
              </a:prstGeom>
              <a:blipFill>
                <a:blip r:embed="rId6"/>
                <a:stretch>
                  <a:fillRect l="-824" b="-2459"/>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4774391" y="1125451"/>
            <a:ext cx="2888356" cy="461665"/>
          </a:xfrm>
          <a:prstGeom prst="rect">
            <a:avLst/>
          </a:prstGeom>
          <a:noFill/>
        </p:spPr>
        <p:txBody>
          <a:bodyPr wrap="square" rtlCol="0">
            <a:spAutoFit/>
          </a:bodyPr>
          <a:lstStyle/>
          <a:p>
            <a:pPr algn="ctr"/>
            <a:r>
              <a:rPr lang="en-US" sz="2400">
                <a:solidFill>
                  <a:srgbClr val="FF0000"/>
                </a:solidFill>
              </a:rPr>
              <a:t>Virtual (Bond) index</a:t>
            </a:r>
            <a:endParaRPr lang="vi-VN" sz="2400">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5407094" y="1763483"/>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8" name="Rectangle 17">
            <a:extLst>
              <a:ext uri="{FF2B5EF4-FFF2-40B4-BE49-F238E27FC236}">
                <a16:creationId xmlns:a16="http://schemas.microsoft.com/office/drawing/2014/main" id="{E01747C4-0F89-EE72-3F38-A6851838F780}"/>
              </a:ext>
            </a:extLst>
          </p:cNvPr>
          <p:cNvSpPr/>
          <p:nvPr/>
        </p:nvSpPr>
        <p:spPr>
          <a:xfrm>
            <a:off x="6564348" y="1773711"/>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5618903" y="1587116"/>
            <a:ext cx="599666" cy="1763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6218569" y="1587116"/>
            <a:ext cx="557588" cy="1865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5966363" y="2895601"/>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5" name="Rectangle 24">
            <a:extLst>
              <a:ext uri="{FF2B5EF4-FFF2-40B4-BE49-F238E27FC236}">
                <a16:creationId xmlns:a16="http://schemas.microsoft.com/office/drawing/2014/main" id="{D2E7183F-CD3F-ACB3-1DA3-00B3A30DCDA2}"/>
              </a:ext>
            </a:extLst>
          </p:cNvPr>
          <p:cNvSpPr/>
          <p:nvPr/>
        </p:nvSpPr>
        <p:spPr>
          <a:xfrm>
            <a:off x="7156017" y="2895601"/>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6" name="Rectangle 25">
            <a:extLst>
              <a:ext uri="{FF2B5EF4-FFF2-40B4-BE49-F238E27FC236}">
                <a16:creationId xmlns:a16="http://schemas.microsoft.com/office/drawing/2014/main" id="{78EF9AB5-41DC-D1C8-9CEF-AD0504ACD796}"/>
              </a:ext>
            </a:extLst>
          </p:cNvPr>
          <p:cNvSpPr/>
          <p:nvPr/>
        </p:nvSpPr>
        <p:spPr>
          <a:xfrm>
            <a:off x="4774391" y="2901329"/>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 name="TextBox 30">
            <a:extLst>
              <a:ext uri="{FF2B5EF4-FFF2-40B4-BE49-F238E27FC236}">
                <a16:creationId xmlns:a16="http://schemas.microsoft.com/office/drawing/2014/main" id="{ED373544-1161-BA8C-B2E4-739CFA49C14F}"/>
              </a:ext>
            </a:extLst>
          </p:cNvPr>
          <p:cNvSpPr txBox="1"/>
          <p:nvPr/>
        </p:nvSpPr>
        <p:spPr>
          <a:xfrm>
            <a:off x="5171595" y="3746582"/>
            <a:ext cx="2093947" cy="461665"/>
          </a:xfrm>
          <a:prstGeom prst="rect">
            <a:avLst/>
          </a:prstGeom>
          <a:noFill/>
        </p:spPr>
        <p:txBody>
          <a:bodyPr wrap="square" rtlCol="0">
            <a:spAutoFit/>
          </a:bodyPr>
          <a:lstStyle/>
          <a:p>
            <a:pPr algn="ctr"/>
            <a:r>
              <a:rPr lang="en-US" sz="2400">
                <a:solidFill>
                  <a:srgbClr val="FF0000"/>
                </a:solidFill>
              </a:rPr>
              <a:t>Physical index</a:t>
            </a:r>
            <a:endParaRPr lang="vi-VN" sz="2400">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6218569" y="3462993"/>
            <a:ext cx="1190814" cy="2835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6218569" y="3462993"/>
            <a:ext cx="1160" cy="2835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5027757" y="3468721"/>
            <a:ext cx="1190812" cy="27786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759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2.3. Post-processing: tensor network</a:t>
            </a:r>
            <a:br>
              <a:rPr lang="en-US"/>
            </a:br>
            <a:r>
              <a:rPr lang="en-US" sz="2667"/>
              <a:t>Tensor network</a:t>
            </a:r>
            <a:endParaRPr lang="vi-VN" sz="2667"/>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33</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54797"/>
          <a:stretch/>
        </p:blipFill>
        <p:spPr bwMode="auto">
          <a:xfrm>
            <a:off x="920046" y="2255925"/>
            <a:ext cx="3053644" cy="17249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EC6C2AF-C776-F18D-0502-B031175E4AB8}"/>
                  </a:ext>
                </a:extLst>
              </p:cNvPr>
              <p:cNvSpPr txBox="1"/>
              <p:nvPr/>
            </p:nvSpPr>
            <p:spPr>
              <a:xfrm>
                <a:off x="838201" y="4820843"/>
                <a:ext cx="3867479" cy="491417"/>
              </a:xfrm>
              <a:prstGeom prst="rect">
                <a:avLst/>
              </a:prstGeom>
              <a:noFill/>
            </p:spPr>
            <p:txBody>
              <a:bodyPr wrap="square" rtlCol="0">
                <a:spAutoFit/>
              </a:bodyPr>
              <a:lstStyle/>
              <a:p>
                <a:r>
                  <a:rPr lang="en-US" sz="2400"/>
                  <a:t>In qubits system:</a:t>
                </a:r>
                <a14:m>
                  <m:oMath xmlns:m="http://schemas.openxmlformats.org/officeDocument/2006/math">
                    <m:r>
                      <a:rPr lang="en-US" sz="240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𝑗</m:t>
                        </m:r>
                      </m:sub>
                    </m:sSub>
                    <m:r>
                      <a:rPr lang="en-US" sz="2400" i="1">
                        <a:latin typeface="Cambria Math" panose="02040503050406030204" pitchFamily="18" charset="0"/>
                      </a:rPr>
                      <m:t>={0,1}</m:t>
                    </m:r>
                  </m:oMath>
                </a14:m>
                <a:endParaRPr lang="vi-VN" sz="2400"/>
              </a:p>
            </p:txBody>
          </p:sp>
        </mc:Choice>
        <mc:Fallback>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838201" y="4820843"/>
                <a:ext cx="3867479" cy="491417"/>
              </a:xfrm>
              <a:prstGeom prst="rect">
                <a:avLst/>
              </a:prstGeom>
              <a:blipFill>
                <a:blip r:embed="rId3"/>
                <a:stretch>
                  <a:fillRect l="-2623" t="-7500" b="-20000"/>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1026481" y="1690689"/>
            <a:ext cx="2888356" cy="461665"/>
          </a:xfrm>
          <a:prstGeom prst="rect">
            <a:avLst/>
          </a:prstGeom>
          <a:noFill/>
        </p:spPr>
        <p:txBody>
          <a:bodyPr wrap="square" rtlCol="0">
            <a:spAutoFit/>
          </a:bodyPr>
          <a:lstStyle/>
          <a:p>
            <a:pPr algn="ctr"/>
            <a:r>
              <a:rPr lang="en-US" sz="2400">
                <a:solidFill>
                  <a:srgbClr val="FF0000"/>
                </a:solidFill>
              </a:rPr>
              <a:t>Virtual (Bond) index</a:t>
            </a:r>
            <a:endParaRPr lang="vi-VN" sz="2400">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1659184" y="2328721"/>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8" name="Rectangle 17">
            <a:extLst>
              <a:ext uri="{FF2B5EF4-FFF2-40B4-BE49-F238E27FC236}">
                <a16:creationId xmlns:a16="http://schemas.microsoft.com/office/drawing/2014/main" id="{E01747C4-0F89-EE72-3F38-A6851838F780}"/>
              </a:ext>
            </a:extLst>
          </p:cNvPr>
          <p:cNvSpPr/>
          <p:nvPr/>
        </p:nvSpPr>
        <p:spPr>
          <a:xfrm>
            <a:off x="2816437" y="2338949"/>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1870993" y="2152354"/>
            <a:ext cx="599666" cy="1763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2470659" y="2152354"/>
            <a:ext cx="557587" cy="1865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2218452" y="3460839"/>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5" name="Rectangle 24">
            <a:extLst>
              <a:ext uri="{FF2B5EF4-FFF2-40B4-BE49-F238E27FC236}">
                <a16:creationId xmlns:a16="http://schemas.microsoft.com/office/drawing/2014/main" id="{D2E7183F-CD3F-ACB3-1DA3-00B3A30DCDA2}"/>
              </a:ext>
            </a:extLst>
          </p:cNvPr>
          <p:cNvSpPr/>
          <p:nvPr/>
        </p:nvSpPr>
        <p:spPr>
          <a:xfrm>
            <a:off x="3408107" y="3460839"/>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6" name="Rectangle 25">
            <a:extLst>
              <a:ext uri="{FF2B5EF4-FFF2-40B4-BE49-F238E27FC236}">
                <a16:creationId xmlns:a16="http://schemas.microsoft.com/office/drawing/2014/main" id="{78EF9AB5-41DC-D1C8-9CEF-AD0504ACD796}"/>
              </a:ext>
            </a:extLst>
          </p:cNvPr>
          <p:cNvSpPr/>
          <p:nvPr/>
        </p:nvSpPr>
        <p:spPr>
          <a:xfrm>
            <a:off x="1026480" y="3466567"/>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 name="TextBox 30">
            <a:extLst>
              <a:ext uri="{FF2B5EF4-FFF2-40B4-BE49-F238E27FC236}">
                <a16:creationId xmlns:a16="http://schemas.microsoft.com/office/drawing/2014/main" id="{ED373544-1161-BA8C-B2E4-739CFA49C14F}"/>
              </a:ext>
            </a:extLst>
          </p:cNvPr>
          <p:cNvSpPr txBox="1"/>
          <p:nvPr/>
        </p:nvSpPr>
        <p:spPr>
          <a:xfrm>
            <a:off x="1423684" y="4335314"/>
            <a:ext cx="2093947" cy="461665"/>
          </a:xfrm>
          <a:prstGeom prst="rect">
            <a:avLst/>
          </a:prstGeom>
          <a:noFill/>
        </p:spPr>
        <p:txBody>
          <a:bodyPr wrap="square" rtlCol="0">
            <a:spAutoFit/>
          </a:bodyPr>
          <a:lstStyle/>
          <a:p>
            <a:pPr algn="ctr"/>
            <a:r>
              <a:rPr lang="en-US" sz="2400">
                <a:solidFill>
                  <a:srgbClr val="FF0000"/>
                </a:solidFill>
              </a:rPr>
              <a:t>Physical index</a:t>
            </a:r>
            <a:endParaRPr lang="vi-VN" sz="2400">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2470658" y="4028231"/>
            <a:ext cx="1190815" cy="3070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2470658" y="4028231"/>
            <a:ext cx="1160" cy="3070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1279846" y="4033959"/>
            <a:ext cx="1190812" cy="3013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76CF769-9E94-2838-0505-8A88555E0005}"/>
                  </a:ext>
                </a:extLst>
              </p:cNvPr>
              <p:cNvSpPr txBox="1"/>
              <p:nvPr/>
            </p:nvSpPr>
            <p:spPr>
              <a:xfrm>
                <a:off x="4583290" y="1027907"/>
                <a:ext cx="7168444" cy="5038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4</m:t>
                              </m:r>
                            </m:sub>
                          </m:sSub>
                        </m:e>
                      </m:d>
                      <m:r>
                        <a:rPr lang="en-US" sz="2400" i="1">
                          <a:latin typeface="Cambria Math" panose="02040503050406030204" pitchFamily="18" charset="0"/>
                        </a:rPr>
                        <m:t>=1/</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4</m:t>
                          </m:r>
                        </m:e>
                      </m:rad>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0001</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0010</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0100</m:t>
                              </m:r>
                            </m:e>
                          </m:d>
                          <m:r>
                            <a:rPr lang="en-US" sz="2400" i="1">
                              <a:latin typeface="Cambria Math" panose="02040503050406030204" pitchFamily="18" charset="0"/>
                            </a:rPr>
                            <m:t>+|1000⟩</m:t>
                          </m:r>
                        </m:e>
                      </m:d>
                    </m:oMath>
                  </m:oMathPara>
                </a14:m>
                <a:endParaRPr lang="vi-VN" sz="2400"/>
              </a:p>
            </p:txBody>
          </p:sp>
        </mc:Choice>
        <mc:Fallback>
          <p:sp>
            <p:nvSpPr>
              <p:cNvPr id="9" name="TextBox 8">
                <a:extLst>
                  <a:ext uri="{FF2B5EF4-FFF2-40B4-BE49-F238E27FC236}">
                    <a16:creationId xmlns:a16="http://schemas.microsoft.com/office/drawing/2014/main" id="{276CF769-9E94-2838-0505-8A88555E0005}"/>
                  </a:ext>
                </a:extLst>
              </p:cNvPr>
              <p:cNvSpPr txBox="1">
                <a:spLocks noRot="1" noChangeAspect="1" noMove="1" noResize="1" noEditPoints="1" noAdjustHandles="1" noChangeArrowheads="1" noChangeShapeType="1" noTextEdit="1"/>
              </p:cNvSpPr>
              <p:nvPr/>
            </p:nvSpPr>
            <p:spPr>
              <a:xfrm>
                <a:off x="4583290" y="1027907"/>
                <a:ext cx="7168444" cy="503856"/>
              </a:xfrm>
              <a:prstGeom prst="rect">
                <a:avLst/>
              </a:prstGeom>
              <a:blipFill>
                <a:blip r:embed="rId4"/>
                <a:stretch>
                  <a:fillRect b="-175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5A791C9-E754-E678-FFB5-DED393288A7C}"/>
                  </a:ext>
                </a:extLst>
              </p:cNvPr>
              <p:cNvSpPr txBox="1"/>
              <p:nvPr/>
            </p:nvSpPr>
            <p:spPr>
              <a:xfrm>
                <a:off x="4514503" y="1525437"/>
                <a:ext cx="5773469" cy="9605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4</m:t>
                              </m:r>
                            </m:sub>
                          </m:sSub>
                        </m:e>
                      </m:d>
                      <m:sSub>
                        <m:sSubPr>
                          <m:ctrlPr>
                            <a:rPr lang="en-US" sz="2400" i="1">
                              <a:latin typeface="Cambria Math" panose="02040503050406030204" pitchFamily="18" charset="0"/>
                            </a:rPr>
                          </m:ctrlPr>
                        </m:sSubPr>
                        <m:e>
                          <m:groupChr>
                            <m:groupChrPr>
                              <m:chr m:val="→"/>
                              <m:vertJc m:val="bot"/>
                              <m:ctrlPr>
                                <a:rPr lang="en-US" sz="2400" i="1">
                                  <a:latin typeface="Cambria Math" panose="02040503050406030204" pitchFamily="18" charset="0"/>
                                </a:rPr>
                              </m:ctrlPr>
                            </m:groupChrPr>
                            <m:e>
                              <m:r>
                                <a:rPr lang="en-US" sz="2400" i="1">
                                  <a:latin typeface="Cambria Math" panose="02040503050406030204" pitchFamily="18" charset="0"/>
                                </a:rPr>
                                <m:t> (</m:t>
                              </m:r>
                              <m:r>
                                <a:rPr lang="en-US" sz="2400" i="1">
                                  <a:latin typeface="Cambria Math" panose="02040503050406030204" pitchFamily="18" charset="0"/>
                                </a:rPr>
                                <m:t>𝑙𝑣𝑏𝑜𝑛𝑑</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brk m:alnAt="2"/>
                                        </m:rPr>
                                        <a:rPr lang="en-US" sz="2400" i="1">
                                          <a:latin typeface="Cambria Math" panose="02040503050406030204" pitchFamily="18" charset="0"/>
                                        </a:rPr>
                                        <m:t>𝜎</m:t>
                                      </m:r>
                                    </m:e>
                                    <m:sub>
                                      <m:r>
                                        <m:rPr>
                                          <m:brk m:alnAt="2"/>
                                        </m:rPr>
                                        <a:rPr lang="en-US" sz="2400" i="1">
                                          <a:latin typeface="Cambria Math" panose="02040503050406030204" pitchFamily="18" charset="0"/>
                                        </a:rPr>
                                        <m:t>1</m:t>
                                      </m:r>
                                    </m:sub>
                                  </m:sSub>
                                </m:e>
                              </m:d>
                              <m:r>
                                <m:rPr>
                                  <m:brk m:alnAt="2"/>
                                </m:rPr>
                                <a:rPr lang="en-US" sz="2400" i="1">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𝑛</m:t>
                                      </m:r>
                                    </m:sup>
                                  </m:sSup>
                                </m:num>
                                <m:den>
                                  <m:r>
                                    <a:rPr lang="en-US" sz="2400" i="1">
                                      <a:latin typeface="Cambria Math" panose="02040503050406030204" pitchFamily="18" charset="0"/>
                                    </a:rPr>
                                    <m:t>𝑙𝑣𝑏𝑜𝑛𝑑</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brk m:alnAt="2"/>
                                            </m:rPr>
                                            <a:rPr lang="en-US" sz="2400" i="1">
                                              <a:latin typeface="Cambria Math" panose="02040503050406030204" pitchFamily="18" charset="0"/>
                                            </a:rPr>
                                            <m:t>𝜎</m:t>
                                          </m:r>
                                        </m:e>
                                        <m:sub>
                                          <m:r>
                                            <m:rPr>
                                              <m:brk m:alnAt="2"/>
                                            </m:rPr>
                                            <a:rPr lang="en-US" sz="2400" i="1">
                                              <a:latin typeface="Cambria Math" panose="02040503050406030204" pitchFamily="18" charset="0"/>
                                            </a:rPr>
                                            <m:t>1</m:t>
                                          </m:r>
                                        </m:sub>
                                      </m:sSub>
                                    </m:e>
                                  </m:d>
                                </m:den>
                              </m:f>
                            </m:e>
                          </m:groupChr>
                          <m:r>
                            <a:rPr lang="en-US" sz="2400" i="1">
                              <a:latin typeface="Cambria Math" panose="02040503050406030204" pitchFamily="18" charset="0"/>
                            </a:rPr>
                            <m:t>𝜓</m:t>
                          </m:r>
                        </m:e>
                        <m: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3</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4</m:t>
                                  </m:r>
                                </m:sub>
                              </m:sSub>
                            </m:e>
                          </m:d>
                        </m:sub>
                      </m:sSub>
                      <m:groupChr>
                        <m:groupChrPr>
                          <m:chr m:val="→"/>
                          <m:vertJc m:val="bot"/>
                          <m:ctrlPr>
                            <a:rPr lang="en-US" sz="2400" i="1">
                              <a:latin typeface="Cambria Math" panose="02040503050406030204" pitchFamily="18" charset="0"/>
                            </a:rPr>
                          </m:ctrlPr>
                        </m:groupChrPr>
                        <m:e>
                          <m:r>
                            <m:rPr>
                              <m:brk m:alnAt="2"/>
                            </m:rPr>
                            <a:rPr lang="en-US" sz="2400" i="1">
                              <a:latin typeface="Cambria Math" panose="02040503050406030204" pitchFamily="18" charset="0"/>
                            </a:rPr>
                            <m:t>𝑆</m:t>
                          </m:r>
                          <m:r>
                            <a:rPr lang="en-US" sz="2400" i="1">
                              <a:latin typeface="Cambria Math" panose="02040503050406030204" pitchFamily="18" charset="0"/>
                            </a:rPr>
                            <m:t>𝑉𝐷</m:t>
                          </m:r>
                        </m:e>
                      </m:groupChr>
                      <m:r>
                        <a:rPr lang="en-US" sz="2400" i="1">
                          <a:latin typeface="Cambria Math" panose="02040503050406030204" pitchFamily="18" charset="0"/>
                        </a:rPr>
                        <m:t>𝑈</m:t>
                      </m:r>
                      <m:r>
                        <a:rPr lang="en-US" sz="2400" i="1">
                          <a:latin typeface="Cambria Math" panose="02040503050406030204" pitchFamily="18" charset="0"/>
                        </a:rPr>
                        <m:t>𝛴</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m:oMathPara>
                </a14:m>
                <a:endParaRPr lang="vi-VN" sz="2400" i="1"/>
              </a:p>
            </p:txBody>
          </p:sp>
        </mc:Choice>
        <mc:Fallback>
          <p:sp>
            <p:nvSpPr>
              <p:cNvPr id="19" name="TextBox 18">
                <a:extLst>
                  <a:ext uri="{FF2B5EF4-FFF2-40B4-BE49-F238E27FC236}">
                    <a16:creationId xmlns:a16="http://schemas.microsoft.com/office/drawing/2014/main" id="{A5A791C9-E754-E678-FFB5-DED393288A7C}"/>
                  </a:ext>
                </a:extLst>
              </p:cNvPr>
              <p:cNvSpPr txBox="1">
                <a:spLocks noRot="1" noChangeAspect="1" noMove="1" noResize="1" noEditPoints="1" noAdjustHandles="1" noChangeArrowheads="1" noChangeShapeType="1" noTextEdit="1"/>
              </p:cNvSpPr>
              <p:nvPr/>
            </p:nvSpPr>
            <p:spPr>
              <a:xfrm>
                <a:off x="4514503" y="1525437"/>
                <a:ext cx="5773469" cy="960519"/>
              </a:xfrm>
              <a:prstGeom prst="rect">
                <a:avLst/>
              </a:prstGeom>
              <a:blipFill>
                <a:blip r:embed="rId5"/>
                <a:stretch>
                  <a:fillRect r="-8991" b="-394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8D7ECDD5-AAC9-61B5-C144-603DF0B4D4B9}"/>
                  </a:ext>
                </a:extLst>
              </p:cNvPr>
              <p:cNvSpPr txBox="1"/>
              <p:nvPr/>
            </p:nvSpPr>
            <p:spPr>
              <a:xfrm>
                <a:off x="9734534" y="2515880"/>
                <a:ext cx="2666005" cy="870559"/>
              </a:xfrm>
              <a:prstGeom prst="rect">
                <a:avLst/>
              </a:prstGeom>
              <a:noFill/>
            </p:spPr>
            <p:txBody>
              <a:bodyPr wrap="square" rtlCol="0">
                <a:spAutoFit/>
              </a:bodyPr>
              <a:lstStyle/>
              <a:p>
                <a14:m>
                  <m:oMath xmlns:m="http://schemas.openxmlformats.org/officeDocument/2006/math">
                    <m:r>
                      <m:rPr>
                        <m:sty m:val="p"/>
                      </m:rPr>
                      <a:rPr lang="en-US" sz="2400">
                        <a:latin typeface="Cambria Math" panose="02040503050406030204" pitchFamily="18" charset="0"/>
                      </a:rPr>
                      <m:t>Σ</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r>
                                <a:rPr lang="en-US" sz="2400" i="1">
                                  <a:latin typeface="Cambria Math" panose="02040503050406030204" pitchFamily="18" charset="0"/>
                                </a:rPr>
                                <m:t>/2</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1/2</m:t>
                              </m:r>
                            </m:e>
                          </m:mr>
                        </m:m>
                      </m:e>
                    </m:d>
                  </m:oMath>
                </a14:m>
                <a:r>
                  <a:rPr lang="en-US" sz="2400"/>
                  <a:t> </a:t>
                </a:r>
                <a:endParaRPr lang="vi-VN" sz="2400"/>
              </a:p>
            </p:txBody>
          </p:sp>
        </mc:Choice>
        <mc:Fallback>
          <p:sp>
            <p:nvSpPr>
              <p:cNvPr id="22" name="TextBox 21">
                <a:extLst>
                  <a:ext uri="{FF2B5EF4-FFF2-40B4-BE49-F238E27FC236}">
                    <a16:creationId xmlns:a16="http://schemas.microsoft.com/office/drawing/2014/main" id="{8D7ECDD5-AAC9-61B5-C144-603DF0B4D4B9}"/>
                  </a:ext>
                </a:extLst>
              </p:cNvPr>
              <p:cNvSpPr txBox="1">
                <a:spLocks noRot="1" noChangeAspect="1" noMove="1" noResize="1" noEditPoints="1" noAdjustHandles="1" noChangeArrowheads="1" noChangeShapeType="1" noTextEdit="1"/>
              </p:cNvSpPr>
              <p:nvPr/>
            </p:nvSpPr>
            <p:spPr>
              <a:xfrm>
                <a:off x="9734534" y="2515880"/>
                <a:ext cx="2666005" cy="870559"/>
              </a:xfrm>
              <a:prstGeom prst="rect">
                <a:avLst/>
              </a:prstGeom>
              <a:blipFill>
                <a:blip r:embed="rId6"/>
                <a:stretch>
                  <a:fillRect l="-474" b="-10145"/>
                </a:stretch>
              </a:blipFill>
            </p:spPr>
            <p:txBody>
              <a:bodyPr/>
              <a:lstStyle/>
              <a:p>
                <a:r>
                  <a:rPr lang="en-VN">
                    <a:noFill/>
                  </a:rPr>
                  <a:t> </a:t>
                </a:r>
              </a:p>
            </p:txBody>
          </p:sp>
        </mc:Fallback>
      </mc:AlternateContent>
      <p:cxnSp>
        <p:nvCxnSpPr>
          <p:cNvPr id="27" name="Connector: Elbow 26">
            <a:extLst>
              <a:ext uri="{FF2B5EF4-FFF2-40B4-BE49-F238E27FC236}">
                <a16:creationId xmlns:a16="http://schemas.microsoft.com/office/drawing/2014/main" id="{EC75DA3E-4746-EB8D-9D61-73D7E3E32A3F}"/>
              </a:ext>
            </a:extLst>
          </p:cNvPr>
          <p:cNvCxnSpPr>
            <a:cxnSpLocks/>
            <a:stCxn id="3085" idx="2"/>
            <a:endCxn id="22" idx="1"/>
          </p:cNvCxnSpPr>
          <p:nvPr/>
        </p:nvCxnSpPr>
        <p:spPr>
          <a:xfrm rot="5400000">
            <a:off x="9779253" y="2442439"/>
            <a:ext cx="464003" cy="553439"/>
          </a:xfrm>
          <a:prstGeom prst="bentConnector4">
            <a:avLst>
              <a:gd name="adj1" fmla="val 3095"/>
              <a:gd name="adj2" fmla="val 141305"/>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6ED1B0F5-AA3D-10D8-6884-B53CE23B4F06}"/>
                  </a:ext>
                </a:extLst>
              </p:cNvPr>
              <p:cNvSpPr txBox="1"/>
              <p:nvPr/>
            </p:nvSpPr>
            <p:spPr>
              <a:xfrm>
                <a:off x="9734534" y="3971241"/>
                <a:ext cx="2666005" cy="830997"/>
              </a:xfrm>
              <a:prstGeom prst="rect">
                <a:avLst/>
              </a:prstGeom>
              <a:noFill/>
            </p:spPr>
            <p:txBody>
              <a:bodyPr wrap="square" rtlCol="0">
                <a:spAutoFit/>
              </a:bodyPr>
              <a:lstStyle/>
              <a:p>
                <a:r>
                  <a:rPr lang="en-US" sz="2400"/>
                  <a:t>(l)vbond = 1</a:t>
                </a:r>
              </a:p>
              <a:p>
                <a:r>
                  <a:rPr lang="en-US" sz="2400"/>
                  <a:t>(r)vbond = </a:t>
                </a:r>
                <a14:m>
                  <m:oMath xmlns:m="http://schemas.openxmlformats.org/officeDocument/2006/math">
                    <m:r>
                      <a:rPr lang="en-US" sz="2400" i="1">
                        <a:latin typeface="Cambria Math" panose="02040503050406030204" pitchFamily="18" charset="0"/>
                      </a:rPr>
                      <m:t>{1,2}</m:t>
                    </m:r>
                  </m:oMath>
                </a14:m>
                <a:endParaRPr lang="vi-VN" sz="2400"/>
              </a:p>
            </p:txBody>
          </p:sp>
        </mc:Choice>
        <mc:Fallback>
          <p:sp>
            <p:nvSpPr>
              <p:cNvPr id="37" name="TextBox 36">
                <a:extLst>
                  <a:ext uri="{FF2B5EF4-FFF2-40B4-BE49-F238E27FC236}">
                    <a16:creationId xmlns:a16="http://schemas.microsoft.com/office/drawing/2014/main" id="{6ED1B0F5-AA3D-10D8-6884-B53CE23B4F06}"/>
                  </a:ext>
                </a:extLst>
              </p:cNvPr>
              <p:cNvSpPr txBox="1">
                <a:spLocks noRot="1" noChangeAspect="1" noMove="1" noResize="1" noEditPoints="1" noAdjustHandles="1" noChangeArrowheads="1" noChangeShapeType="1" noTextEdit="1"/>
              </p:cNvSpPr>
              <p:nvPr/>
            </p:nvSpPr>
            <p:spPr>
              <a:xfrm>
                <a:off x="9734534" y="3971241"/>
                <a:ext cx="2666005" cy="830997"/>
              </a:xfrm>
              <a:prstGeom prst="rect">
                <a:avLst/>
              </a:prstGeom>
              <a:blipFill>
                <a:blip r:embed="rId7"/>
                <a:stretch>
                  <a:fillRect l="-3791" t="-5970" b="-13433"/>
                </a:stretch>
              </a:blipFill>
            </p:spPr>
            <p:txBody>
              <a:bodyPr/>
              <a:lstStyle/>
              <a:p>
                <a:r>
                  <a:rPr lang="en-VN">
                    <a:noFill/>
                  </a:rPr>
                  <a:t> </a:t>
                </a:r>
              </a:p>
            </p:txBody>
          </p:sp>
        </mc:Fallback>
      </mc:AlternateContent>
      <p:cxnSp>
        <p:nvCxnSpPr>
          <p:cNvPr id="38" name="Straight Arrow Connector 37">
            <a:extLst>
              <a:ext uri="{FF2B5EF4-FFF2-40B4-BE49-F238E27FC236}">
                <a16:creationId xmlns:a16="http://schemas.microsoft.com/office/drawing/2014/main" id="{74A0DB7A-EFE3-1DB3-125D-AF462C65511F}"/>
              </a:ext>
            </a:extLst>
          </p:cNvPr>
          <p:cNvCxnSpPr>
            <a:cxnSpLocks/>
            <a:stCxn id="22" idx="2"/>
            <a:endCxn id="37" idx="0"/>
          </p:cNvCxnSpPr>
          <p:nvPr/>
        </p:nvCxnSpPr>
        <p:spPr>
          <a:xfrm>
            <a:off x="11067537" y="3386439"/>
            <a:ext cx="0" cy="5848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2914BF5-1BB9-C45D-7598-2AF158CE4DA6}"/>
              </a:ext>
            </a:extLst>
          </p:cNvPr>
          <p:cNvCxnSpPr>
            <a:cxnSpLocks/>
          </p:cNvCxnSpPr>
          <p:nvPr/>
        </p:nvCxnSpPr>
        <p:spPr>
          <a:xfrm>
            <a:off x="5557136" y="3099076"/>
            <a:ext cx="0" cy="5104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AD20FCC2-7F00-EC7D-D712-7AF9451C3FBC}"/>
                  </a:ext>
                </a:extLst>
              </p:cNvPr>
              <p:cNvSpPr txBox="1"/>
              <p:nvPr/>
            </p:nvSpPr>
            <p:spPr>
              <a:xfrm>
                <a:off x="3940967" y="2588674"/>
                <a:ext cx="4306712" cy="471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r>
                        <a:rPr lang="en-US" sz="2400" i="1">
                          <a:latin typeface="Cambria Math" panose="02040503050406030204" pitchFamily="18" charset="0"/>
                        </a:rPr>
                        <m:t>    </m:t>
                      </m:r>
                      <m:r>
                        <a:rPr lang="en-US" sz="2400" i="1">
                          <a:latin typeface="Cambria Math" panose="02040503050406030204" pitchFamily="18" charset="0"/>
                        </a:rPr>
                        <m:t>𝛴</m:t>
                      </m:r>
                      <m:sSup>
                        <m:sSupPr>
                          <m:ctrlPr>
                            <a:rPr lang="en-US" sz="2400" i="1">
                              <a:latin typeface="Cambria Math" panose="02040503050406030204" pitchFamily="18" charset="0"/>
                            </a:rPr>
                          </m:ctrlPr>
                        </m:sSupPr>
                        <m:e>
                          <m:r>
                            <a:rPr lang="en-US" sz="2400" i="1">
                              <a:latin typeface="Cambria Math" panose="02040503050406030204" pitchFamily="18" charset="0"/>
                            </a:rPr>
                            <m:t>    </m:t>
                          </m:r>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m:oMathPara>
                </a14:m>
                <a:endParaRPr lang="vi-VN" sz="2400"/>
              </a:p>
            </p:txBody>
          </p:sp>
        </mc:Choice>
        <mc:Fallback>
          <p:sp>
            <p:nvSpPr>
              <p:cNvPr id="45" name="TextBox 44">
                <a:extLst>
                  <a:ext uri="{FF2B5EF4-FFF2-40B4-BE49-F238E27FC236}">
                    <a16:creationId xmlns:a16="http://schemas.microsoft.com/office/drawing/2014/main" id="{AD20FCC2-7F00-EC7D-D712-7AF9451C3FBC}"/>
                  </a:ext>
                </a:extLst>
              </p:cNvPr>
              <p:cNvSpPr txBox="1">
                <a:spLocks noRot="1" noChangeAspect="1" noMove="1" noResize="1" noEditPoints="1" noAdjustHandles="1" noChangeArrowheads="1" noChangeShapeType="1" noTextEdit="1"/>
              </p:cNvSpPr>
              <p:nvPr/>
            </p:nvSpPr>
            <p:spPr>
              <a:xfrm>
                <a:off x="3940967" y="2588674"/>
                <a:ext cx="4306712" cy="471219"/>
              </a:xfrm>
              <a:prstGeom prst="rect">
                <a:avLst/>
              </a:prstGeom>
              <a:blipFill>
                <a:blip r:embed="rId8"/>
                <a:stretch>
                  <a:fillRect b="-24324"/>
                </a:stretch>
              </a:blipFill>
            </p:spPr>
            <p:txBody>
              <a:bodyPr/>
              <a:lstStyle/>
              <a:p>
                <a:r>
                  <a:rPr lang="en-VN">
                    <a:noFill/>
                  </a:rPr>
                  <a:t> </a:t>
                </a:r>
              </a:p>
            </p:txBody>
          </p:sp>
        </mc:Fallback>
      </mc:AlternateContent>
      <p:sp>
        <p:nvSpPr>
          <p:cNvPr id="46" name="Rectangle 45">
            <a:extLst>
              <a:ext uri="{FF2B5EF4-FFF2-40B4-BE49-F238E27FC236}">
                <a16:creationId xmlns:a16="http://schemas.microsoft.com/office/drawing/2014/main" id="{BAD2D6A9-F675-E317-8285-0696715BC9C6}"/>
              </a:ext>
            </a:extLst>
          </p:cNvPr>
          <p:cNvSpPr/>
          <p:nvPr/>
        </p:nvSpPr>
        <p:spPr>
          <a:xfrm>
            <a:off x="5353059" y="2588674"/>
            <a:ext cx="374288" cy="5104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47" name="Straight Arrow Connector 46">
            <a:extLst>
              <a:ext uri="{FF2B5EF4-FFF2-40B4-BE49-F238E27FC236}">
                <a16:creationId xmlns:a16="http://schemas.microsoft.com/office/drawing/2014/main" id="{6CEBF9C7-8324-DD08-613B-4375A65FC664}"/>
              </a:ext>
            </a:extLst>
          </p:cNvPr>
          <p:cNvCxnSpPr>
            <a:cxnSpLocks/>
          </p:cNvCxnSpPr>
          <p:nvPr/>
        </p:nvCxnSpPr>
        <p:spPr>
          <a:xfrm>
            <a:off x="6035660" y="3099076"/>
            <a:ext cx="0" cy="5104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FEB8483C-AFE4-A2FC-668D-66B4F7DEBD46}"/>
              </a:ext>
            </a:extLst>
          </p:cNvPr>
          <p:cNvSpPr/>
          <p:nvPr/>
        </p:nvSpPr>
        <p:spPr>
          <a:xfrm>
            <a:off x="5831583" y="2588674"/>
            <a:ext cx="374288" cy="5104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49" name="Straight Arrow Connector 48">
            <a:extLst>
              <a:ext uri="{FF2B5EF4-FFF2-40B4-BE49-F238E27FC236}">
                <a16:creationId xmlns:a16="http://schemas.microsoft.com/office/drawing/2014/main" id="{494608D4-9E59-F003-D72D-618BC2D9E9DB}"/>
              </a:ext>
            </a:extLst>
          </p:cNvPr>
          <p:cNvCxnSpPr>
            <a:cxnSpLocks/>
          </p:cNvCxnSpPr>
          <p:nvPr/>
        </p:nvCxnSpPr>
        <p:spPr>
          <a:xfrm>
            <a:off x="6514184" y="3099900"/>
            <a:ext cx="0" cy="5104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7F32E91-3DB0-FB54-298D-0731DA132D1A}"/>
              </a:ext>
            </a:extLst>
          </p:cNvPr>
          <p:cNvSpPr/>
          <p:nvPr/>
        </p:nvSpPr>
        <p:spPr>
          <a:xfrm>
            <a:off x="6310106" y="2589498"/>
            <a:ext cx="509524" cy="5104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49173919-8785-F6DC-6261-90BAA4F8181C}"/>
                  </a:ext>
                </a:extLst>
              </p:cNvPr>
              <p:cNvSpPr txBox="1"/>
              <p:nvPr/>
            </p:nvSpPr>
            <p:spPr>
              <a:xfrm>
                <a:off x="4705679" y="3598982"/>
                <a:ext cx="11432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2×2</m:t>
                      </m:r>
                    </m:oMath>
                  </m:oMathPara>
                </a14:m>
                <a:endParaRPr lang="vi-VN" sz="2400"/>
              </a:p>
            </p:txBody>
          </p:sp>
        </mc:Choice>
        <mc:Fallback>
          <p:sp>
            <p:nvSpPr>
              <p:cNvPr id="51" name="TextBox 50">
                <a:extLst>
                  <a:ext uri="{FF2B5EF4-FFF2-40B4-BE49-F238E27FC236}">
                    <a16:creationId xmlns:a16="http://schemas.microsoft.com/office/drawing/2014/main" id="{49173919-8785-F6DC-6261-90BAA4F8181C}"/>
                  </a:ext>
                </a:extLst>
              </p:cNvPr>
              <p:cNvSpPr txBox="1">
                <a:spLocks noRot="1" noChangeAspect="1" noMove="1" noResize="1" noEditPoints="1" noAdjustHandles="1" noChangeArrowheads="1" noChangeShapeType="1" noTextEdit="1"/>
              </p:cNvSpPr>
              <p:nvPr/>
            </p:nvSpPr>
            <p:spPr>
              <a:xfrm>
                <a:off x="4705679" y="3598982"/>
                <a:ext cx="1143276" cy="461665"/>
              </a:xfrm>
              <a:prstGeom prst="rect">
                <a:avLst/>
              </a:prstGeom>
              <a:blipFill>
                <a:blip r:embed="rId9"/>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DC1F7F3E-7942-3639-FC27-B284E78C804D}"/>
                  </a:ext>
                </a:extLst>
              </p:cNvPr>
              <p:cNvSpPr txBox="1"/>
              <p:nvPr/>
            </p:nvSpPr>
            <p:spPr>
              <a:xfrm>
                <a:off x="5465559" y="3594744"/>
                <a:ext cx="11432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2×2</m:t>
                      </m:r>
                    </m:oMath>
                  </m:oMathPara>
                </a14:m>
                <a:endParaRPr lang="vi-VN" sz="2400"/>
              </a:p>
            </p:txBody>
          </p:sp>
        </mc:Choice>
        <mc:Fallback>
          <p:sp>
            <p:nvSpPr>
              <p:cNvPr id="52" name="TextBox 51">
                <a:extLst>
                  <a:ext uri="{FF2B5EF4-FFF2-40B4-BE49-F238E27FC236}">
                    <a16:creationId xmlns:a16="http://schemas.microsoft.com/office/drawing/2014/main" id="{DC1F7F3E-7942-3639-FC27-B284E78C804D}"/>
                  </a:ext>
                </a:extLst>
              </p:cNvPr>
              <p:cNvSpPr txBox="1">
                <a:spLocks noRot="1" noChangeAspect="1" noMove="1" noResize="1" noEditPoints="1" noAdjustHandles="1" noChangeArrowheads="1" noChangeShapeType="1" noTextEdit="1"/>
              </p:cNvSpPr>
              <p:nvPr/>
            </p:nvSpPr>
            <p:spPr>
              <a:xfrm>
                <a:off x="5465559" y="3594744"/>
                <a:ext cx="1143276" cy="461665"/>
              </a:xfrm>
              <a:prstGeom prst="rect">
                <a:avLst/>
              </a:prstGeom>
              <a:blipFill>
                <a:blip r:embed="rId10"/>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22803538-522D-6BE3-59C0-0867D32D5B56}"/>
                  </a:ext>
                </a:extLst>
              </p:cNvPr>
              <p:cNvSpPr txBox="1"/>
              <p:nvPr/>
            </p:nvSpPr>
            <p:spPr>
              <a:xfrm>
                <a:off x="6239739" y="3594744"/>
                <a:ext cx="11432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2×8</m:t>
                      </m:r>
                    </m:oMath>
                  </m:oMathPara>
                </a14:m>
                <a:endParaRPr lang="vi-VN" sz="2400"/>
              </a:p>
            </p:txBody>
          </p:sp>
        </mc:Choice>
        <mc:Fallback>
          <p:sp>
            <p:nvSpPr>
              <p:cNvPr id="53" name="TextBox 52">
                <a:extLst>
                  <a:ext uri="{FF2B5EF4-FFF2-40B4-BE49-F238E27FC236}">
                    <a16:creationId xmlns:a16="http://schemas.microsoft.com/office/drawing/2014/main" id="{22803538-522D-6BE3-59C0-0867D32D5B56}"/>
                  </a:ext>
                </a:extLst>
              </p:cNvPr>
              <p:cNvSpPr txBox="1">
                <a:spLocks noRot="1" noChangeAspect="1" noMove="1" noResize="1" noEditPoints="1" noAdjustHandles="1" noChangeArrowheads="1" noChangeShapeType="1" noTextEdit="1"/>
              </p:cNvSpPr>
              <p:nvPr/>
            </p:nvSpPr>
            <p:spPr>
              <a:xfrm>
                <a:off x="6239739" y="3594744"/>
                <a:ext cx="1143276" cy="461665"/>
              </a:xfrm>
              <a:prstGeom prst="rect">
                <a:avLst/>
              </a:prstGeom>
              <a:blipFill>
                <a:blip r:embed="rId11"/>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4012816D-C675-0A15-92E2-E85CC4D7D1C3}"/>
                  </a:ext>
                </a:extLst>
              </p:cNvPr>
              <p:cNvSpPr txBox="1"/>
              <p:nvPr/>
            </p:nvSpPr>
            <p:spPr>
              <a:xfrm>
                <a:off x="4815400" y="3980894"/>
                <a:ext cx="5152233" cy="17989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𝜎</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eqArr>
                            <m:eqArrPr>
                              <m:ctrlPr>
                                <a:rPr lang="en-US" sz="2400" i="1">
                                  <a:latin typeface="Cambria Math" panose="02040503050406030204" pitchFamily="18" charset="0"/>
                                </a:rPr>
                              </m:ctrlPr>
                            </m:eqArr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sub>
                              </m:sSub>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f>
                                          <m:fPr>
                                            <m:ctrlPr>
                                              <a:rPr lang="en-US" sz="2400" i="1">
                                                <a:latin typeface="Cambria Math" panose="02040503050406030204" pitchFamily="18" charset="0"/>
                                              </a:rPr>
                                            </m:ctrlPr>
                                          </m:fPr>
                                          <m:num>
                                            <m:r>
                                              <m:rPr>
                                                <m:brk m:alnAt="7"/>
                                              </m:rP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e>
                                      <m:e>
                                        <m:f>
                                          <m:fPr>
                                            <m:ctrlPr>
                                              <a:rPr lang="en-US" sz="2400" i="1">
                                                <a:latin typeface="Cambria Math" panose="02040503050406030204" pitchFamily="18" charset="0"/>
                                              </a:rPr>
                                            </m:ctrlPr>
                                          </m:fPr>
                                          <m:num>
                                            <m:r>
                                              <m:rPr>
                                                <m:brk m:alnAt="7"/>
                                              </m:rP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6</m:t>
                                                </m:r>
                                              </m:e>
                                            </m:rad>
                                          </m:den>
                                        </m:f>
                                      </m:e>
                                    </m:mr>
                                  </m:m>
                                </m:e>
                              </m:d>
                              <m:r>
                                <a:rPr lang="en-US" sz="2400" i="1">
                                  <a:latin typeface="Cambria Math" panose="02040503050406030204" pitchFamily="18" charset="0"/>
                                </a:rPr>
                                <m:t> </m:t>
                              </m:r>
                            </m:e>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sub>
                              </m:sSub>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f>
                                          <m:fPr>
                                            <m:ctrlPr>
                                              <a:rPr lang="en-US" sz="2400" i="1">
                                                <a:latin typeface="Cambria Math" panose="02040503050406030204" pitchFamily="18" charset="0"/>
                                              </a:rPr>
                                            </m:ctrlPr>
                                          </m:fPr>
                                          <m:num>
                                            <m:r>
                                              <m:rPr>
                                                <m:brk m:alnAt="7"/>
                                              </m:rP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e>
                                      <m:e>
                                        <m:f>
                                          <m:fPr>
                                            <m:ctrlPr>
                                              <a:rPr lang="en-US" sz="2400" i="1">
                                                <a:latin typeface="Cambria Math" panose="02040503050406030204" pitchFamily="18" charset="0"/>
                                              </a:rPr>
                                            </m:ctrlPr>
                                          </m:fPr>
                                          <m:num>
                                            <m:r>
                                              <a:rPr lang="en-US" sz="2400" i="1">
                                                <a:latin typeface="Cambria Math" panose="02040503050406030204" pitchFamily="18" charset="0"/>
                                              </a:rPr>
                                              <m:t>−2</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6</m:t>
                                                </m:r>
                                              </m:e>
                                            </m:rad>
                                          </m:den>
                                        </m:f>
                                      </m:e>
                                    </m:mr>
                                  </m:m>
                                </m:e>
                              </m:d>
                            </m:e>
                          </m:eqArr>
                        </m:e>
                      </m:d>
                    </m:oMath>
                  </m:oMathPara>
                </a14:m>
                <a:endParaRPr lang="vi-VN" sz="2400"/>
              </a:p>
            </p:txBody>
          </p:sp>
        </mc:Choice>
        <mc:Fallback>
          <p:sp>
            <p:nvSpPr>
              <p:cNvPr id="54" name="TextBox 53">
                <a:extLst>
                  <a:ext uri="{FF2B5EF4-FFF2-40B4-BE49-F238E27FC236}">
                    <a16:creationId xmlns:a16="http://schemas.microsoft.com/office/drawing/2014/main" id="{4012816D-C675-0A15-92E2-E85CC4D7D1C3}"/>
                  </a:ext>
                </a:extLst>
              </p:cNvPr>
              <p:cNvSpPr txBox="1">
                <a:spLocks noRot="1" noChangeAspect="1" noMove="1" noResize="1" noEditPoints="1" noAdjustHandles="1" noChangeArrowheads="1" noChangeShapeType="1" noTextEdit="1"/>
              </p:cNvSpPr>
              <p:nvPr/>
            </p:nvSpPr>
            <p:spPr>
              <a:xfrm>
                <a:off x="4815400" y="3980894"/>
                <a:ext cx="5152233" cy="1798954"/>
              </a:xfrm>
              <a:prstGeom prst="rect">
                <a:avLst/>
              </a:prstGeom>
              <a:blipFill>
                <a:blip r:embed="rId12"/>
                <a:stretch>
                  <a:fillRect l="-246"/>
                </a:stretch>
              </a:blipFill>
            </p:spPr>
            <p:txBody>
              <a:bodyPr/>
              <a:lstStyle/>
              <a:p>
                <a:r>
                  <a:rPr lang="en-VN">
                    <a:noFill/>
                  </a:rPr>
                  <a:t> </a:t>
                </a:r>
              </a:p>
            </p:txBody>
          </p:sp>
        </mc:Fallback>
      </mc:AlternateContent>
      <p:cxnSp>
        <p:nvCxnSpPr>
          <p:cNvPr id="55" name="Straight Arrow Connector 54">
            <a:extLst>
              <a:ext uri="{FF2B5EF4-FFF2-40B4-BE49-F238E27FC236}">
                <a16:creationId xmlns:a16="http://schemas.microsoft.com/office/drawing/2014/main" id="{76C46D29-D6F3-D8A3-B4A8-34AD84FCCDAA}"/>
              </a:ext>
            </a:extLst>
          </p:cNvPr>
          <p:cNvCxnSpPr>
            <a:cxnSpLocks/>
          </p:cNvCxnSpPr>
          <p:nvPr/>
        </p:nvCxnSpPr>
        <p:spPr>
          <a:xfrm>
            <a:off x="5277316" y="4028231"/>
            <a:ext cx="0" cy="7074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63A820D-C520-6632-FF63-6629D950D91A}"/>
              </a:ext>
            </a:extLst>
          </p:cNvPr>
          <p:cNvCxnSpPr>
            <a:cxnSpLocks/>
            <a:endCxn id="60" idx="0"/>
          </p:cNvCxnSpPr>
          <p:nvPr/>
        </p:nvCxnSpPr>
        <p:spPr>
          <a:xfrm>
            <a:off x="8347893" y="5784359"/>
            <a:ext cx="1386641" cy="4914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4359EF37-944A-38CB-C5BF-0A56FAA7C5D4}"/>
                  </a:ext>
                </a:extLst>
              </p:cNvPr>
              <p:cNvSpPr txBox="1"/>
              <p:nvPr/>
            </p:nvSpPr>
            <p:spPr>
              <a:xfrm>
                <a:off x="8619637" y="6275807"/>
                <a:ext cx="2229793" cy="495457"/>
              </a:xfrm>
              <a:prstGeom prst="rect">
                <a:avLst/>
              </a:prstGeom>
              <a:noFill/>
            </p:spPr>
            <p:txBody>
              <a:bodyPr wrap="square" rtlCol="0">
                <a:spAutoFit/>
              </a:bodyPr>
              <a:lstStyle/>
              <a:p>
                <a:r>
                  <a:rPr lang="en-US" sz="2400"/>
                  <a:t>Collect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sub>
                    </m:sSub>
                  </m:oMath>
                </a14:m>
                <a:endParaRPr lang="vi-VN" sz="2400"/>
              </a:p>
            </p:txBody>
          </p:sp>
        </mc:Choice>
        <mc:Fallback>
          <p:sp>
            <p:nvSpPr>
              <p:cNvPr id="60" name="TextBox 59">
                <a:extLst>
                  <a:ext uri="{FF2B5EF4-FFF2-40B4-BE49-F238E27FC236}">
                    <a16:creationId xmlns:a16="http://schemas.microsoft.com/office/drawing/2014/main" id="{4359EF37-944A-38CB-C5BF-0A56FAA7C5D4}"/>
                  </a:ext>
                </a:extLst>
              </p:cNvPr>
              <p:cNvSpPr txBox="1">
                <a:spLocks noRot="1" noChangeAspect="1" noMove="1" noResize="1" noEditPoints="1" noAdjustHandles="1" noChangeArrowheads="1" noChangeShapeType="1" noTextEdit="1"/>
              </p:cNvSpPr>
              <p:nvPr/>
            </p:nvSpPr>
            <p:spPr>
              <a:xfrm>
                <a:off x="8619637" y="6275807"/>
                <a:ext cx="2229793" cy="495457"/>
              </a:xfrm>
              <a:prstGeom prst="rect">
                <a:avLst/>
              </a:prstGeom>
              <a:blipFill>
                <a:blip r:embed="rId13"/>
                <a:stretch>
                  <a:fillRect l="-3955" t="-4878" b="-1951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1C4314EE-AB55-E45D-50DF-1F8AF9C10F53}"/>
                  </a:ext>
                </a:extLst>
              </p:cNvPr>
              <p:cNvSpPr txBox="1"/>
              <p:nvPr/>
            </p:nvSpPr>
            <p:spPr>
              <a:xfrm>
                <a:off x="6636907" y="6230954"/>
                <a:ext cx="1498952" cy="471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𝛴</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m:oMathPara>
                </a14:m>
                <a:endParaRPr lang="vi-VN" sz="2400"/>
              </a:p>
            </p:txBody>
          </p:sp>
        </mc:Choice>
        <mc:Fallback>
          <p:sp>
            <p:nvSpPr>
              <p:cNvPr id="62" name="TextBox 61">
                <a:extLst>
                  <a:ext uri="{FF2B5EF4-FFF2-40B4-BE49-F238E27FC236}">
                    <a16:creationId xmlns:a16="http://schemas.microsoft.com/office/drawing/2014/main" id="{1C4314EE-AB55-E45D-50DF-1F8AF9C10F53}"/>
                  </a:ext>
                </a:extLst>
              </p:cNvPr>
              <p:cNvSpPr txBox="1">
                <a:spLocks noRot="1" noChangeAspect="1" noMove="1" noResize="1" noEditPoints="1" noAdjustHandles="1" noChangeArrowheads="1" noChangeShapeType="1" noTextEdit="1"/>
              </p:cNvSpPr>
              <p:nvPr/>
            </p:nvSpPr>
            <p:spPr>
              <a:xfrm>
                <a:off x="6636907" y="6230954"/>
                <a:ext cx="1498952" cy="471219"/>
              </a:xfrm>
              <a:prstGeom prst="rect">
                <a:avLst/>
              </a:prstGeom>
              <a:blipFill>
                <a:blip r:embed="rId14"/>
                <a:stretch>
                  <a:fillRect/>
                </a:stretch>
              </a:blipFill>
            </p:spPr>
            <p:txBody>
              <a:bodyPr/>
              <a:lstStyle/>
              <a:p>
                <a:r>
                  <a:rPr lang="en-VN">
                    <a:noFill/>
                  </a:rPr>
                  <a:t> </a:t>
                </a:r>
              </a:p>
            </p:txBody>
          </p:sp>
        </mc:Fallback>
      </mc:AlternateContent>
      <p:cxnSp>
        <p:nvCxnSpPr>
          <p:cNvPr id="63" name="Straight Arrow Connector 62">
            <a:extLst>
              <a:ext uri="{FF2B5EF4-FFF2-40B4-BE49-F238E27FC236}">
                <a16:creationId xmlns:a16="http://schemas.microsoft.com/office/drawing/2014/main" id="{95068092-ACDC-0635-B16B-049DBAA4F6C4}"/>
              </a:ext>
            </a:extLst>
          </p:cNvPr>
          <p:cNvCxnSpPr>
            <a:cxnSpLocks/>
            <a:endCxn id="3076" idx="0"/>
          </p:cNvCxnSpPr>
          <p:nvPr/>
        </p:nvCxnSpPr>
        <p:spPr>
          <a:xfrm flipH="1">
            <a:off x="7370795" y="5796073"/>
            <a:ext cx="977099" cy="46977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26D55934-7F60-E060-6835-5CF3502C2FA2}"/>
              </a:ext>
            </a:extLst>
          </p:cNvPr>
          <p:cNvSpPr txBox="1"/>
          <p:nvPr/>
        </p:nvSpPr>
        <p:spPr>
          <a:xfrm>
            <a:off x="5802517" y="6174143"/>
            <a:ext cx="1063907" cy="584775"/>
          </a:xfrm>
          <a:prstGeom prst="rect">
            <a:avLst/>
          </a:prstGeom>
          <a:noFill/>
        </p:spPr>
        <p:txBody>
          <a:bodyPr wrap="square" rtlCol="0">
            <a:spAutoFit/>
          </a:bodyPr>
          <a:lstStyle/>
          <a:p>
            <a:r>
              <a:rPr lang="en-US" sz="1600">
                <a:solidFill>
                  <a:srgbClr val="FF0000"/>
                </a:solidFill>
              </a:rPr>
              <a:t>For next iteration</a:t>
            </a:r>
            <a:endParaRPr lang="vi-VN" sz="1600">
              <a:solidFill>
                <a:srgbClr val="FF0000"/>
              </a:solidFill>
            </a:endParaRPr>
          </a:p>
        </p:txBody>
      </p:sp>
      <p:sp>
        <p:nvSpPr>
          <p:cNvPr id="3076" name="Rectangle 3075">
            <a:extLst>
              <a:ext uri="{FF2B5EF4-FFF2-40B4-BE49-F238E27FC236}">
                <a16:creationId xmlns:a16="http://schemas.microsoft.com/office/drawing/2014/main" id="{106B0630-B7E1-2BD9-19B1-8FEAA4E29862}"/>
              </a:ext>
            </a:extLst>
          </p:cNvPr>
          <p:cNvSpPr/>
          <p:nvPr/>
        </p:nvSpPr>
        <p:spPr>
          <a:xfrm>
            <a:off x="6746497" y="6265847"/>
            <a:ext cx="1248596" cy="4431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085" name="Rectangle 3084">
            <a:extLst>
              <a:ext uri="{FF2B5EF4-FFF2-40B4-BE49-F238E27FC236}">
                <a16:creationId xmlns:a16="http://schemas.microsoft.com/office/drawing/2014/main" id="{6A81384A-4FFF-ED68-52E7-7D61013FC854}"/>
              </a:ext>
            </a:extLst>
          </p:cNvPr>
          <p:cNvSpPr/>
          <p:nvPr/>
        </p:nvSpPr>
        <p:spPr>
          <a:xfrm>
            <a:off x="10076164" y="2426198"/>
            <a:ext cx="423617" cy="6095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094" name="TextBox 3093">
            <a:extLst>
              <a:ext uri="{FF2B5EF4-FFF2-40B4-BE49-F238E27FC236}">
                <a16:creationId xmlns:a16="http://schemas.microsoft.com/office/drawing/2014/main" id="{1CB6F29E-23F3-CCF4-F904-132462AF6E55}"/>
              </a:ext>
            </a:extLst>
          </p:cNvPr>
          <p:cNvSpPr txBox="1"/>
          <p:nvPr/>
        </p:nvSpPr>
        <p:spPr>
          <a:xfrm>
            <a:off x="838201" y="5359669"/>
            <a:ext cx="4886591" cy="1323054"/>
          </a:xfrm>
          <a:prstGeom prst="rect">
            <a:avLst/>
          </a:prstGeom>
          <a:noFill/>
        </p:spPr>
        <p:txBody>
          <a:bodyPr wrap="square">
            <a:spAutoFit/>
          </a:bodyPr>
          <a:lstStyle/>
          <a:p>
            <a:r>
              <a:rPr lang="vi-VN" sz="1333" b="1">
                <a:latin typeface="Calibri" panose="020F0502020204030204" pitchFamily="34" charset="0"/>
                <a:ea typeface="Calibri" panose="020F0502020204030204" pitchFamily="34" charset="0"/>
                <a:cs typeface="Calibri" panose="020F0502020204030204" pitchFamily="34" charset="0"/>
              </a:rPr>
              <a:t>[</a:t>
            </a:r>
            <a:r>
              <a:rPr lang="en-US" sz="1333" b="1">
                <a:latin typeface="Calibri" panose="020F0502020204030204" pitchFamily="34" charset="0"/>
                <a:ea typeface="Calibri" panose="020F0502020204030204" pitchFamily="34" charset="0"/>
                <a:cs typeface="Calibri" panose="020F0502020204030204" pitchFamily="34" charset="0"/>
              </a:rPr>
              <a:t>2.3.3</a:t>
            </a:r>
            <a:r>
              <a:rPr lang="vi-VN" sz="1333" b="1">
                <a:latin typeface="Calibri" panose="020F0502020204030204" pitchFamily="34" charset="0"/>
                <a:ea typeface="Calibri" panose="020F0502020204030204" pitchFamily="34" charset="0"/>
                <a:cs typeface="Calibri" panose="020F0502020204030204" pitchFamily="34" charset="0"/>
              </a:rPr>
              <a:t>]</a:t>
            </a:r>
            <a:r>
              <a:rPr lang="en-US" sz="1333" b="1">
                <a:latin typeface="Calibri" panose="020F0502020204030204" pitchFamily="34" charset="0"/>
                <a:ea typeface="Calibri" panose="020F0502020204030204" pitchFamily="34" charset="0"/>
                <a:cs typeface="Calibri" panose="020F0502020204030204" pitchFamily="34" charset="0"/>
              </a:rPr>
              <a:t> </a:t>
            </a:r>
            <a:r>
              <a:rPr lang="vi-VN" sz="1333">
                <a:latin typeface="Calibri" panose="020F0502020204030204" pitchFamily="34" charset="0"/>
                <a:ea typeface="Calibri" panose="020F0502020204030204" pitchFamily="34" charset="0"/>
                <a:cs typeface="Calibri" panose="020F0502020204030204" pitchFamily="34" charset="0"/>
              </a:rPr>
              <a:t>Siddhartha Patra, Saeed S. Jahromi, Sukhbinder Singh, Roman Orus “Efficient tensor network simulation of IBM’s largest quantum processors” </a:t>
            </a:r>
            <a:r>
              <a:rPr lang="vi-VN" sz="1333">
                <a:solidFill>
                  <a:srgbClr val="0074E0"/>
                </a:solidFill>
                <a:latin typeface="Calibri" panose="020F0502020204030204" pitchFamily="34" charset="0"/>
                <a:ea typeface="Calibri" panose="020F0502020204030204" pitchFamily="34" charset="0"/>
                <a:cs typeface="Calibri" panose="020F0502020204030204" pitchFamily="34" charset="0"/>
                <a:hlinkClick r:id="rId15"/>
              </a:rPr>
              <a:t>arXiv:2309.15642</a:t>
            </a:r>
            <a:r>
              <a:rPr lang="vi-VN" sz="1333">
                <a:latin typeface="Calibri" panose="020F0502020204030204" pitchFamily="34" charset="0"/>
                <a:ea typeface="Calibri" panose="020F0502020204030204" pitchFamily="34" charset="0"/>
                <a:cs typeface="Calibri" panose="020F0502020204030204" pitchFamily="34" charset="0"/>
              </a:rPr>
              <a:t>, 2023.</a:t>
            </a:r>
          </a:p>
          <a:p>
            <a:r>
              <a:rPr lang="en-US" sz="1333" b="1">
                <a:latin typeface="Calibri" panose="020F0502020204030204" pitchFamily="34" charset="0"/>
                <a:ea typeface="Calibri" panose="020F0502020204030204" pitchFamily="34" charset="0"/>
                <a:cs typeface="Calibri" panose="020F0502020204030204" pitchFamily="34" charset="0"/>
              </a:rPr>
              <a:t>[2.3.4] </a:t>
            </a:r>
            <a:r>
              <a:rPr lang="vi-VN" sz="1333">
                <a:latin typeface="Calibri" panose="020F0502020204030204" pitchFamily="34" charset="0"/>
                <a:ea typeface="Calibri" panose="020F0502020204030204" pitchFamily="34" charset="0"/>
                <a:cs typeface="Calibri" panose="020F0502020204030204" pitchFamily="34" charset="0"/>
              </a:rPr>
              <a:t>H. C. Jiang, Z. Y. Weng, T. Xiang “Accurate determination of tensor network state of quantum lattice models in two dimensions” </a:t>
            </a:r>
            <a:r>
              <a:rPr lang="vi-VN" sz="1333">
                <a:solidFill>
                  <a:srgbClr val="0074E0"/>
                </a:solidFill>
                <a:latin typeface="Calibri" panose="020F0502020204030204" pitchFamily="34" charset="0"/>
                <a:ea typeface="Calibri" panose="020F0502020204030204" pitchFamily="34" charset="0"/>
                <a:cs typeface="Calibri" panose="020F0502020204030204" pitchFamily="34" charset="0"/>
                <a:hlinkClick r:id="rId16"/>
              </a:rPr>
              <a:t>arXiv:0806.3719</a:t>
            </a:r>
            <a:r>
              <a:rPr lang="vi-VN" sz="1333">
                <a:latin typeface="Calibri" panose="020F0502020204030204" pitchFamily="34" charset="0"/>
                <a:ea typeface="Calibri" panose="020F0502020204030204" pitchFamily="34" charset="0"/>
                <a:cs typeface="Calibri" panose="020F0502020204030204" pitchFamily="34" charset="0"/>
              </a:rPr>
              <a:t>, 2008.</a:t>
            </a:r>
          </a:p>
        </p:txBody>
      </p:sp>
    </p:spTree>
    <p:extLst>
      <p:ext uri="{BB962C8B-B14F-4D97-AF65-F5344CB8AC3E}">
        <p14:creationId xmlns:p14="http://schemas.microsoft.com/office/powerpoint/2010/main" val="3404543134"/>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10340</TotalTime>
  <Words>1773</Words>
  <Application>Microsoft Macintosh PowerPoint</Application>
  <PresentationFormat>Widescreen</PresentationFormat>
  <Paragraphs>196</Paragraphs>
  <Slides>33</Slides>
  <Notes>3</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Arial</vt:lpstr>
      <vt:lpstr>Calibri</vt:lpstr>
      <vt:lpstr>Cambria Math</vt:lpstr>
      <vt:lpstr>inherit</vt:lpstr>
      <vt:lpstr>Times New Roman</vt:lpstr>
      <vt:lpstr>Chủ đề Office</vt:lpstr>
      <vt:lpstr>Quantum + AI Tư duy lượng tử trong trí tuệ nhân tạo</vt:lpstr>
      <vt:lpstr>PowerPoint Presentation</vt:lpstr>
      <vt:lpstr>PowerPoint Presentation</vt:lpstr>
      <vt:lpstr>PowerPoint Presentation</vt:lpstr>
      <vt:lpstr>PowerPoint Presentation</vt:lpstr>
      <vt:lpstr>PowerPoint Presentation</vt:lpstr>
      <vt:lpstr>PowerPoint Presentation</vt:lpstr>
      <vt:lpstr>Có nên học toán, lý, hoá, … ?</vt:lpstr>
      <vt:lpstr>PowerPoint Presentation</vt:lpstr>
      <vt:lpstr>PowerPoint Presentation</vt:lpstr>
      <vt:lpstr>PowerPoint Presentation</vt:lpstr>
      <vt:lpstr>PowerPoint Presentation</vt:lpstr>
      <vt:lpstr>Minigame</vt:lpstr>
      <vt:lpstr>Trạng thái chồng chập (Superposition)</vt:lpstr>
      <vt:lpstr>PowerPoint Presentation</vt:lpstr>
      <vt:lpstr>Trạng thái chồng chập</vt:lpstr>
      <vt:lpstr>Minigame</vt:lpstr>
      <vt:lpstr>PowerPoint Presentation</vt:lpstr>
      <vt:lpstr>Giao thoa (interference)</vt:lpstr>
      <vt:lpstr>Giao thoa (interference)</vt:lpstr>
      <vt:lpstr>Đo (Measure)</vt:lpstr>
      <vt:lpstr>Nguyên lý bất định</vt:lpstr>
      <vt:lpstr>Rối (entanglement)</vt:lpstr>
      <vt:lpstr>Rối (entanglement)</vt:lpstr>
      <vt:lpstr>Rối (entanglement)</vt:lpstr>
      <vt:lpstr>Tư duy “lượng tử”</vt:lpstr>
      <vt:lpstr>2. Quantum for AI (Quantum-inspired model)</vt:lpstr>
      <vt:lpstr>2.1. Data pre-processing: compression task</vt:lpstr>
      <vt:lpstr>2.2. Model building: quantum-inspired model</vt:lpstr>
      <vt:lpstr>2.2. Model building: quantum-inspired model</vt:lpstr>
      <vt:lpstr>2.3. Post-processing: compressing by Tensor-network</vt:lpstr>
      <vt:lpstr>2.3. Post-processing: tensor network Tensor network</vt:lpstr>
      <vt:lpstr>2.3. Post-processing: tensor network Tensor network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thân</dc:title>
  <dc:creator>Tuan Hai</dc:creator>
  <cp:lastModifiedBy>Vũ Tuấn Hải</cp:lastModifiedBy>
  <cp:revision>31</cp:revision>
  <dcterms:created xsi:type="dcterms:W3CDTF">2021-09-16T00:42:46Z</dcterms:created>
  <dcterms:modified xsi:type="dcterms:W3CDTF">2026-10-13T05:32:27Z</dcterms:modified>
</cp:coreProperties>
</file>