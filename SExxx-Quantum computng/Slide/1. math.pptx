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89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7" r:id="rId30"/>
    <p:sldId id="284" r:id="rId31"/>
    <p:sldId id="285" r:id="rId32"/>
    <p:sldId id="286" r:id="rId33"/>
    <p:sldId id="288" r:id="rId3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030" autoAdjust="0"/>
  </p:normalViewPr>
  <p:slideViewPr>
    <p:cSldViewPr snapToGrid="0">
      <p:cViewPr varScale="1">
        <p:scale>
          <a:sx n="109" d="100"/>
          <a:sy n="109" d="100"/>
        </p:scale>
        <p:origin x="58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7226A7-5670-4E33-BDB8-C41537D25060}" type="datetimeFigureOut">
              <a:rPr lang="vi-VN" smtClean="0"/>
              <a:t>22/12/25</a:t>
            </a:fld>
            <a:endParaRPr lang="vi-VN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96B80F-1D11-4AC3-9A42-A129ADC2AD6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24542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>
                <a:effectLst/>
                <a:latin typeface="Times New Roman" panose="02020603050405020304" pitchFamily="18" charset="0"/>
              </a:rPr>
              <a:t>One application ofthe completeness relation is to give a means for representing any operator in the outer product notation</a:t>
            </a:r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6B80F-1D11-4AC3-9A42-A129ADC2AD66}" type="slidenum">
              <a:rPr lang="vi-VN" smtClean="0"/>
              <a:t>21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06925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885F972-7020-4056-867A-6C9D2BC16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2A300C01-38DD-4348-8B22-43833C6152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9B4F344-6A93-4AA6-9426-D2F4219D6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5C75D-4FEA-45E7-93A1-FAAF79A76D77}" type="datetime1">
              <a:rPr lang="vi-VN" smtClean="0"/>
              <a:t>22/12/25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9C38BB8C-32DA-49B2-B1DD-9121270E0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C48809A3-55AE-44EE-AA67-E6D87B735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11894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D485ADB-AE27-4B31-AD29-BDD00B039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EA31E71D-3C96-40F9-B830-0DED0C114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3351511-F4F3-4A21-B4D0-5629715C6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4C8B4-E2CF-42F4-9553-DBCBA282C932}" type="datetime1">
              <a:rPr lang="vi-VN" smtClean="0"/>
              <a:t>22/12/25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0504C118-A5FA-4D03-905F-FFDD79840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9B1402C-8BA5-4519-9A53-2C63872E7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5726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2340BD6-F47A-4431-B24D-2AD916B0B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58A332D5-DF75-405E-915B-EDC5DB733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DFBF114A-E3FC-4701-A1FF-298C78C4A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8E9D8-472C-4C1F-A304-29EDDA8E7801}" type="datetime1">
              <a:rPr lang="vi-VN" smtClean="0"/>
              <a:t>22/12/25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DA40457F-85ED-47AD-AD26-AA008AC24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1ADC3952-070D-4A69-95AE-CB4EC8773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4231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DE74469-E723-4A0F-AEF9-47D636D44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FC683EC2-7293-4ADA-866C-89DBC80139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E217964A-B639-4E93-B593-F0FE36ECE1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5B725553-BDC6-48FD-88D5-CEF959042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1156C-C915-40B0-99E7-725153F17CB8}" type="datetime1">
              <a:rPr lang="vi-VN" smtClean="0"/>
              <a:t>22/12/25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C4D265DC-4B45-4CDB-BF6A-1EDC921D7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BA09126A-DF00-49AB-906E-D0B43F8E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2827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048C7FB-D0FD-4D35-8233-ABF8D6486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1448E58D-F8D9-487A-AFDA-FC1DC9716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76260461-0DF3-4FFD-A203-B7CAFE214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05BBB803-9AAC-452C-945B-40A2EFFADE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3067FFC3-42F3-4B44-8652-E0735E5C54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6F72DD92-1D3D-413D-9104-963D3F1E0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F269C-9302-462A-A29D-B1726E2FF2B3}" type="datetime1">
              <a:rPr lang="vi-VN" smtClean="0"/>
              <a:t>22/12/25</a:t>
            </a:fld>
            <a:endParaRPr lang="vi-VN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DDBF794A-6076-4572-9226-4DFEE9825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9BE82F1E-993B-421C-B401-59BB4AE62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4194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D7ED4C5-3814-4730-AAA9-87ACB3950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55C0C9E3-2269-4622-A006-7C858FA93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02E64-9B66-4E9C-8177-B105D4A4CA21}" type="datetime1">
              <a:rPr lang="vi-VN" smtClean="0"/>
              <a:t>22/12/25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E3A416C4-0FBB-4B70-8866-563CF4D75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5ECEAEA0-5AC2-45B6-9BC1-C27CEC0F0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85628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7649FE1C-51A3-49C7-878B-BD6DFC10E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E5C93-7BDE-4B7B-B36B-4C7750B9EB7E}" type="datetime1">
              <a:rPr lang="vi-VN" smtClean="0"/>
              <a:t>22/12/25</a:t>
            </a:fld>
            <a:endParaRPr lang="vi-VN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00C82F78-FC14-44C8-BAEC-68420A20B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52400C8D-01DD-476E-99D6-89D8F6BCF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90249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5E9AA0D-E622-45D1-BF26-04E82C8A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A36BAC3-9D38-40F5-A27D-8B2192E9A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E988CE55-50DB-4E67-9D86-0704BD4DB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12A035C1-510B-4CEE-B006-5A1904ABB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D0C27-6F58-4C86-98ED-7429D1160C8C}" type="datetime1">
              <a:rPr lang="vi-VN" smtClean="0"/>
              <a:t>22/12/25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2A2872FC-32D9-496D-8FC1-0E2807F58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5101A3B4-4432-4BB9-9E3B-FC3371766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86555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A366E31-E016-44A9-817B-D997139C6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8E1168DB-2A70-4B62-92D1-E18A876C48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19970C91-FDBA-429A-AADB-2A597936A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A81535E5-950F-4DAB-BCFE-9C53BE9E3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5ADDE-E531-4964-B9E6-E565AD4526BC}" type="datetime1">
              <a:rPr lang="vi-VN" smtClean="0"/>
              <a:t>22/12/25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86712518-78E7-4EB7-BAB1-305DF06D9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69A6FCEB-3B43-4EE7-8709-C2A5BE3D9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67542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0AEED9E-D154-45AD-95F7-4B766361F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C9037015-A82E-45F8-B6D3-2874663B1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D6F6C339-7871-4BCF-AF3B-26BF2CB76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34A02-4881-4DD1-B683-8C5B7DF23EAB}" type="datetime1">
              <a:rPr lang="vi-VN" smtClean="0"/>
              <a:t>22/12/25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F59D662F-D244-484C-BB18-4039B9A3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909F6575-6F25-4661-9CD4-DAC762F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42908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4EE254DD-E026-458C-98D5-079096680F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18914B96-2183-4E52-8474-0C50608B2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78EB906-6DC4-4EE9-847F-D37E89634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F513D-02BD-42E1-A3BB-BBA92D968E71}" type="datetime1">
              <a:rPr lang="vi-VN" smtClean="0"/>
              <a:t>22/12/25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E52E3AC4-8214-4E44-A6AC-533ECCF1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EF4C2B42-BB5F-455E-BF47-740CD8F78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29809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197A5289-BD2B-45C0-A8F1-2FDAF76C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1EB9755-8CC1-46F5-A9C4-E17541EC7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383A76F1-578A-47D8-94DE-F56FF73CB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DB5C7-DDB5-4B1E-8296-AE1CA4EE8D37}" type="datetime1">
              <a:rPr lang="vi-VN" smtClean="0"/>
              <a:t>22/12/25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40D9AACD-FDC0-402C-88F1-846ECD0DD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95F0EB4E-34B9-48F1-8473-DB9C4AAA31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180ABF-BDB3-40CA-807F-6247C1C0487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58776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B8CA5-BB6A-5EBC-38F7-2567029A8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6485263" cy="2387600"/>
          </a:xfrm>
        </p:spPr>
        <p:txBody>
          <a:bodyPr>
            <a:normAutofit fontScale="90000"/>
          </a:bodyPr>
          <a:lstStyle/>
          <a:p>
            <a:pPr algn="l"/>
            <a:br>
              <a:rPr lang="en-VN"/>
            </a:br>
            <a:r>
              <a:rPr lang="en-VN"/>
              <a:t>Programming for quantum computers: Basic math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9A6EE0-2E06-0718-5C73-69B0708186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VN"/>
              <a:t>Vu Tuan Hai</a:t>
            </a:r>
          </a:p>
          <a:p>
            <a:pPr algn="l"/>
            <a:r>
              <a:rPr lang="en-VN"/>
              <a:t>haivt@uit.edu.vn</a:t>
            </a:r>
          </a:p>
          <a:p>
            <a:pPr algn="l"/>
            <a:r>
              <a:rPr lang="en-VN"/>
              <a:t>SE-UIT-VNUHCM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D1614-B956-B316-5EB9-69023E123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BB9E5-D81C-FE46-A488-49ADE3951462}" type="slidenum">
              <a:t>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19578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497CDD3-F16A-46C2-B3E2-8CAFFA5C6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1.1. Bases, Linear independence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C15CC6-A196-46FF-8792-F0FDD82729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/>
                  <a:t>Give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/>
                  <a:t> is the vector space that has a spanning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d>
                  </m:oMath>
                </a14:m>
                <a:r>
                  <a:rPr lang="en-US"/>
                  <a:t>, so any vector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/>
                  <a:t> can be written as a linear combination: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Example: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𝑠𝑝𝑎𝑛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ℂ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/>
                  <a:t>, any vector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i="1"/>
              </a:p>
              <a:p>
                <a:pPr marL="0" indent="0">
                  <a:buNone/>
                </a:pPr>
                <a:endParaRPr lang="en-US" i="1"/>
              </a:p>
              <a:p>
                <a:pPr marL="0" indent="0">
                  <a:buNone/>
                </a:pPr>
                <a:r>
                  <a:rPr lang="en-US"/>
                  <a:t>Note: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/>
                  <a:t> may have many different spanning sets</a:t>
                </a:r>
              </a:p>
              <a:p>
                <a:pPr marL="0" indent="0">
                  <a:buNone/>
                </a:pPr>
                <a:r>
                  <a:rPr lang="en-US"/>
                  <a:t>Exercise 1.1.1: Give two others spanning sets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C15CC6-A196-46FF-8792-F0FDD82729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501" r="-1159" b="-168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889E5BBD-C76E-469B-AB13-C3E8316B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96573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497CDD3-F16A-46C2-B3E2-8CAFFA5C6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1.1. Bases, Linear independence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C15CC6-A196-46FF-8792-F0FDD82729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A set of non-zero vector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d>
                  </m:oMath>
                </a14:m>
                <a:r>
                  <a:rPr lang="en-US"/>
                  <a:t> is linearly dependent if there exist a set of non-zero complex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/>
                  <a:t> such that: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i="1"/>
              </a:p>
              <a:p>
                <a:pPr marL="0" indent="0">
                  <a:buNone/>
                </a:pPr>
                <a:endParaRPr lang="en-US" i="1"/>
              </a:p>
              <a:p>
                <a:pPr marL="0" indent="0">
                  <a:buNone/>
                </a:pPr>
                <a:r>
                  <a:rPr lang="en-US"/>
                  <a:t>Basic: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linearly</m:t>
                            </m:r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independent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spanning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                      </m:t>
                            </m:r>
                          </m:e>
                        </m:eqArr>
                      </m:e>
                    </m:d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Exercise 1.1.2: What basic of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/>
                  <a:t> vector space?</a:t>
                </a:r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C15CC6-A196-46FF-8792-F0FDD82729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638" b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0ADCBE95-5E27-4235-A100-8EE4834FF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27787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497CDD3-F16A-46C2-B3E2-8CAFFA5C6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1.2. Linear operators and matrices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C15CC6-A196-46FF-8792-F0FDD82729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/>
                  <a:t>A linear operator between vector space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/>
                  <a:t> is defined as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/>
                  <a:t> which is linear in its inputs: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Note: some important operator:</a:t>
                </a:r>
              </a:p>
              <a:p>
                <a:pPr>
                  <a:buFontTx/>
                  <a:buChar char="-"/>
                </a:pPr>
                <a:r>
                  <a:rPr lang="en-US"/>
                  <a:t>Identity operator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/>
              </a:p>
              <a:p>
                <a:pPr>
                  <a:buFontTx/>
                  <a:buChar char="-"/>
                </a:pPr>
                <a:r>
                  <a:rPr lang="en-US"/>
                  <a:t>Zero operator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/>
                  <a:t>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/>
              </a:p>
              <a:p>
                <a:pPr>
                  <a:buFontTx/>
                  <a:buChar char="-"/>
                </a:pPr>
                <a:r>
                  <a:rPr lang="en-US"/>
                  <a:t>Composition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𝐵𝐴</m:t>
                        </m:r>
                      </m:e>
                    </m:d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⟩)</m:t>
                    </m:r>
                  </m:oMath>
                </a14:m>
                <a:r>
                  <a:rPr lang="en-US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C15CC6-A196-46FF-8792-F0FDD82729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1" t="-2801" b="-36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Đường kết nối Mũi tên Thẳng 4">
            <a:extLst>
              <a:ext uri="{FF2B5EF4-FFF2-40B4-BE49-F238E27FC236}">
                <a16:creationId xmlns:a16="http://schemas.microsoft.com/office/drawing/2014/main" id="{2C201A8E-7F8C-441E-B205-80D65492805B}"/>
              </a:ext>
            </a:extLst>
          </p:cNvPr>
          <p:cNvCxnSpPr/>
          <p:nvPr/>
        </p:nvCxnSpPr>
        <p:spPr>
          <a:xfrm flipV="1">
            <a:off x="7978876" y="3788244"/>
            <a:ext cx="0" cy="1209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Đường kết nối Mũi tên Thẳng 5">
            <a:extLst>
              <a:ext uri="{FF2B5EF4-FFF2-40B4-BE49-F238E27FC236}">
                <a16:creationId xmlns:a16="http://schemas.microsoft.com/office/drawing/2014/main" id="{649B90A0-510F-4544-A47A-5CA6F62F1F58}"/>
              </a:ext>
            </a:extLst>
          </p:cNvPr>
          <p:cNvCxnSpPr>
            <a:cxnSpLocks/>
          </p:cNvCxnSpPr>
          <p:nvPr/>
        </p:nvCxnSpPr>
        <p:spPr>
          <a:xfrm flipV="1">
            <a:off x="8514734" y="3878825"/>
            <a:ext cx="0" cy="914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3B8D3AA2-0DC5-4D94-95DC-CC676ADF1257}"/>
              </a:ext>
            </a:extLst>
          </p:cNvPr>
          <p:cNvSpPr txBox="1"/>
          <p:nvPr/>
        </p:nvSpPr>
        <p:spPr>
          <a:xfrm>
            <a:off x="7610168" y="5132549"/>
            <a:ext cx="1135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Matrix</a:t>
            </a:r>
            <a:endParaRPr lang="vi-VN"/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5FD088CC-AB9F-4785-B4D4-37D2746BDD93}"/>
              </a:ext>
            </a:extLst>
          </p:cNvPr>
          <p:cNvSpPr txBox="1"/>
          <p:nvPr/>
        </p:nvSpPr>
        <p:spPr>
          <a:xfrm>
            <a:off x="8266471" y="4823512"/>
            <a:ext cx="1135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Vector</a:t>
            </a:r>
            <a:endParaRPr lang="vi-VN"/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03929A48-BDE5-4214-8BB5-79B2F3047493}"/>
              </a:ext>
            </a:extLst>
          </p:cNvPr>
          <p:cNvSpPr/>
          <p:nvPr/>
        </p:nvSpPr>
        <p:spPr>
          <a:xfrm>
            <a:off x="7816659" y="3141405"/>
            <a:ext cx="820994" cy="54042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11" name="Đường kết nối Mũi tên Thẳng 10">
            <a:extLst>
              <a:ext uri="{FF2B5EF4-FFF2-40B4-BE49-F238E27FC236}">
                <a16:creationId xmlns:a16="http://schemas.microsoft.com/office/drawing/2014/main" id="{CE6496CF-CC97-4F75-A17C-1B93DF9DFAA5}"/>
              </a:ext>
            </a:extLst>
          </p:cNvPr>
          <p:cNvCxnSpPr>
            <a:cxnSpLocks/>
          </p:cNvCxnSpPr>
          <p:nvPr/>
        </p:nvCxnSpPr>
        <p:spPr>
          <a:xfrm flipH="1" flipV="1">
            <a:off x="8991598" y="3497167"/>
            <a:ext cx="82099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2D467D66-9449-4C11-847C-F99A7BACE9A4}"/>
              </a:ext>
            </a:extLst>
          </p:cNvPr>
          <p:cNvSpPr txBox="1"/>
          <p:nvPr/>
        </p:nvSpPr>
        <p:spPr>
          <a:xfrm>
            <a:off x="9891250" y="3312501"/>
            <a:ext cx="1135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Vector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CB352D96-F8A9-4D86-975F-8C631EB9D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30743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497CDD3-F16A-46C2-B3E2-8CAFFA5C6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1.2. Linear operators and matrices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C15CC6-A196-46FF-8792-F0FDD82729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75258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Suppose the basic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/>
                  <a:t> 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d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/>
                  <a:t> 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,…|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d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Exercise 1.2.1:</a:t>
                </a:r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=|0⟩</m:t>
                    </m:r>
                  </m:oMath>
                </a14:m>
                <a:r>
                  <a:rPr lang="en-US"/>
                  <a:t>, how about the values of operator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?</a:t>
                </a:r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=|1⟩</m:t>
                    </m:r>
                  </m:oMath>
                </a14:m>
                <a:r>
                  <a:rPr lang="en-US"/>
                  <a:t>, how about the values of operator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?</a:t>
                </a: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C15CC6-A196-46FF-8792-F0FDD82729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75258" cy="4351338"/>
              </a:xfrm>
              <a:blipFill>
                <a:blip r:embed="rId2"/>
                <a:stretch>
                  <a:fillRect l="-116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Đường kết nối Mũi tên Thẳng 4">
            <a:extLst>
              <a:ext uri="{FF2B5EF4-FFF2-40B4-BE49-F238E27FC236}">
                <a16:creationId xmlns:a16="http://schemas.microsoft.com/office/drawing/2014/main" id="{2C201A8E-7F8C-441E-B205-80D65492805B}"/>
              </a:ext>
            </a:extLst>
          </p:cNvPr>
          <p:cNvCxnSpPr>
            <a:cxnSpLocks/>
          </p:cNvCxnSpPr>
          <p:nvPr/>
        </p:nvCxnSpPr>
        <p:spPr>
          <a:xfrm flipV="1">
            <a:off x="6916993" y="3497167"/>
            <a:ext cx="0" cy="661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Đường kết nối Mũi tên Thẳng 5">
            <a:extLst>
              <a:ext uri="{FF2B5EF4-FFF2-40B4-BE49-F238E27FC236}">
                <a16:creationId xmlns:a16="http://schemas.microsoft.com/office/drawing/2014/main" id="{649B90A0-510F-4544-A47A-5CA6F62F1F58}"/>
              </a:ext>
            </a:extLst>
          </p:cNvPr>
          <p:cNvCxnSpPr>
            <a:cxnSpLocks/>
          </p:cNvCxnSpPr>
          <p:nvPr/>
        </p:nvCxnSpPr>
        <p:spPr>
          <a:xfrm flipV="1">
            <a:off x="7497103" y="3497168"/>
            <a:ext cx="0" cy="4111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3B8D3AA2-0DC5-4D94-95DC-CC676ADF1257}"/>
              </a:ext>
            </a:extLst>
          </p:cNvPr>
          <p:cNvSpPr txBox="1"/>
          <p:nvPr/>
        </p:nvSpPr>
        <p:spPr>
          <a:xfrm>
            <a:off x="6580240" y="4293982"/>
            <a:ext cx="1135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Scalar</a:t>
            </a:r>
            <a:endParaRPr lang="vi-VN"/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5FD088CC-AB9F-4785-B4D4-37D2746BDD93}"/>
              </a:ext>
            </a:extLst>
          </p:cNvPr>
          <p:cNvSpPr txBox="1"/>
          <p:nvPr/>
        </p:nvSpPr>
        <p:spPr>
          <a:xfrm>
            <a:off x="7148052" y="3908323"/>
            <a:ext cx="1135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Vector</a:t>
            </a:r>
            <a:endParaRPr lang="vi-VN"/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03929A48-BDE5-4214-8BB5-79B2F3047493}"/>
              </a:ext>
            </a:extLst>
          </p:cNvPr>
          <p:cNvSpPr/>
          <p:nvPr/>
        </p:nvSpPr>
        <p:spPr>
          <a:xfrm>
            <a:off x="6634332" y="2889271"/>
            <a:ext cx="1135624" cy="54042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11" name="Đường kết nối Mũi tên Thẳng 10">
            <a:extLst>
              <a:ext uri="{FF2B5EF4-FFF2-40B4-BE49-F238E27FC236}">
                <a16:creationId xmlns:a16="http://schemas.microsoft.com/office/drawing/2014/main" id="{CE6496CF-CC97-4F75-A17C-1B93DF9DFAA5}"/>
              </a:ext>
            </a:extLst>
          </p:cNvPr>
          <p:cNvCxnSpPr>
            <a:cxnSpLocks/>
          </p:cNvCxnSpPr>
          <p:nvPr/>
        </p:nvCxnSpPr>
        <p:spPr>
          <a:xfrm flipH="1" flipV="1">
            <a:off x="7873179" y="3110769"/>
            <a:ext cx="82099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2D467D66-9449-4C11-847C-F99A7BACE9A4}"/>
              </a:ext>
            </a:extLst>
          </p:cNvPr>
          <p:cNvSpPr txBox="1"/>
          <p:nvPr/>
        </p:nvSpPr>
        <p:spPr>
          <a:xfrm>
            <a:off x="8772831" y="2926103"/>
            <a:ext cx="1135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Vector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43817085-018A-490E-B994-7D2A31DC1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03079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497CDD3-F16A-46C2-B3E2-8CAFFA5C6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1.2. Linear operators and matrices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C15CC6-A196-46FF-8792-F0FDD82729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75258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Exercise 1.2.2: Suppose the basic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/>
                  <a:t> 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d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/>
                  <a:t> 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,…|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d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,…|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d>
                  </m:oMath>
                </a14:m>
                <a:r>
                  <a:rPr lang="en-US"/>
                  <a:t>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, how about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⟩)=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⟩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nary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𝐵𝐴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C15CC6-A196-46FF-8792-F0FDD82729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75258" cy="4351338"/>
              </a:xfrm>
              <a:blipFill>
                <a:blip r:embed="rId2"/>
                <a:stretch>
                  <a:fillRect l="-116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ED2A473-D942-41CE-9CF5-1145ABB98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93008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497CDD3-F16A-46C2-B3E2-8CAFFA5C6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1.3. Pauli matrices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C15CC6-A196-46FF-8792-F0FDD82729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75258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C15CC6-A196-46FF-8792-F0FDD82729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75258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4FB05A47-859A-44F8-AB0F-7632D33C0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88842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497CDD3-F16A-46C2-B3E2-8CAFFA5C6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1.4. Inner product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C15CC6-A196-46FF-8792-F0FDD82729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75258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Notation: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≡⟨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⟩≡⟨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⟩</m:t>
                        </m:r>
                      </m:e>
                    </m:d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(1)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⟩</m:t>
                            </m:r>
                          </m:e>
                        </m:nary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⟩</m:t>
                            </m:r>
                          </m:e>
                        </m:d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(2)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(3)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/>
                  <a:t> with equality iff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C15CC6-A196-46FF-8792-F0FDD82729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75258" cy="4351338"/>
              </a:xfrm>
              <a:blipFill>
                <a:blip r:embed="rId2"/>
                <a:stretch>
                  <a:fillRect l="-116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49941826-6523-4A81-8EF0-93DCC30FC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9732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497CDD3-F16A-46C2-B3E2-8CAFFA5C6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1.4. Inner product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C15CC6-A196-46FF-8792-F0FDD82729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75258" cy="435133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/>
                  <a:t>Take example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/>
                  <a:t> is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complex vector space: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Exercise 1.4.1: Verify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∙,∙</m:t>
                        </m:r>
                      </m:e>
                    </m:d>
                  </m:oMath>
                </a14:m>
                <a:r>
                  <a:rPr lang="en-US"/>
                  <a:t> just defined an inner product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Exercise 1.4.2: Prove that: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, |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⟩)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Exercuse 1.4.3: What happens if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C15CC6-A196-46FF-8792-F0FDD82729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75258" cy="4351338"/>
              </a:xfrm>
              <a:blipFill>
                <a:blip r:embed="rId2"/>
                <a:stretch>
                  <a:fillRect l="-1000" t="-2101" b="-238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05BA9C1D-CC7C-4AC9-B822-215048ED1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90663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497CDD3-F16A-46C2-B3E2-8CAFFA5C6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1.4. Inner product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C15CC6-A196-46FF-8792-F0FDD82729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75258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Exercise 1.4.1: Verify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∙,∙</m:t>
                        </m:r>
                      </m:e>
                    </m:d>
                  </m:oMath>
                </a14:m>
                <a:r>
                  <a:rPr lang="en-US"/>
                  <a:t> just defined an inner product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(1)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⟩</m:t>
                            </m:r>
                          </m:e>
                        </m:nary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/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,|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⟩</m:t>
                            </m:r>
                          </m:e>
                        </m:d>
                      </m:e>
                    </m:nary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(2)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⟩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|"/>
                                    <m:endChr m:val="⟩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nary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(3)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≥0</m:t>
                            </m:r>
                          </m:e>
                        </m:nary>
                      </m:e>
                    </m:nary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C15CC6-A196-46FF-8792-F0FDD82729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75258" cy="4351338"/>
              </a:xfrm>
              <a:blipFill>
                <a:blip r:embed="rId2"/>
                <a:stretch>
                  <a:fillRect l="-116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49499FE6-65AE-481F-AB70-8D4B586CE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10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09954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497CDD3-F16A-46C2-B3E2-8CAFFA5C6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1.4. Inner product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C15CC6-A196-46FF-8792-F0FDD82729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75258" cy="4351338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/>
                  <a:t>Exercise 1.4.2: Prove that: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nary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, |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⟩)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nary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|"/>
                                      <m:endChr m:val="⟩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⟩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</m:d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d>
                                        <m:dPr>
                                          <m:begChr m:val="|"/>
                                          <m:endChr m:val="⟩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⟩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d>
                                    <m:dPr>
                                      <m:begChr m:val="|"/>
                                      <m:endChr m:val="⟩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C15CC6-A196-46FF-8792-F0FDD82729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75258" cy="4351338"/>
              </a:xfrm>
              <a:blipFill>
                <a:blip r:embed="rId2"/>
                <a:stretch>
                  <a:fillRect l="-889" t="-26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0B194B5F-FEF9-4DB1-BEF5-84BB8BFBB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11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75637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0E7CA8B-7563-400B-A48C-1CAB896FE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1.4. Inner product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2E44043-B9B5-4197-B861-7293545FA2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Exercise 1.4.3: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are orthogonal if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Example: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2E44043-B9B5-4197-B861-7293545FA2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Đường kết nối Mũi tên Thẳng 4">
            <a:extLst>
              <a:ext uri="{FF2B5EF4-FFF2-40B4-BE49-F238E27FC236}">
                <a16:creationId xmlns:a16="http://schemas.microsoft.com/office/drawing/2014/main" id="{8CCAE640-6209-4957-9E1D-EA0AB22E4BC2}"/>
              </a:ext>
            </a:extLst>
          </p:cNvPr>
          <p:cNvCxnSpPr/>
          <p:nvPr/>
        </p:nvCxnSpPr>
        <p:spPr>
          <a:xfrm flipV="1">
            <a:off x="1017638" y="3404267"/>
            <a:ext cx="0" cy="27726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Đường kết nối Mũi tên Thẳng 5">
            <a:extLst>
              <a:ext uri="{FF2B5EF4-FFF2-40B4-BE49-F238E27FC236}">
                <a16:creationId xmlns:a16="http://schemas.microsoft.com/office/drawing/2014/main" id="{57362C45-CA54-473E-9F06-74EC60E9C9D4}"/>
              </a:ext>
            </a:extLst>
          </p:cNvPr>
          <p:cNvCxnSpPr>
            <a:cxnSpLocks/>
          </p:cNvCxnSpPr>
          <p:nvPr/>
        </p:nvCxnSpPr>
        <p:spPr>
          <a:xfrm flipV="1">
            <a:off x="1017638" y="6176963"/>
            <a:ext cx="351994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Đường kết nối Mũi tên Thẳng 7">
            <a:extLst>
              <a:ext uri="{FF2B5EF4-FFF2-40B4-BE49-F238E27FC236}">
                <a16:creationId xmlns:a16="http://schemas.microsoft.com/office/drawing/2014/main" id="{C78AA917-AB0B-48C8-8C93-0EE51D6116CB}"/>
              </a:ext>
            </a:extLst>
          </p:cNvPr>
          <p:cNvCxnSpPr>
            <a:cxnSpLocks/>
          </p:cNvCxnSpPr>
          <p:nvPr/>
        </p:nvCxnSpPr>
        <p:spPr>
          <a:xfrm flipV="1">
            <a:off x="1017638" y="5275004"/>
            <a:ext cx="0" cy="9019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F2F594B9-00E3-4E89-8B14-ADC9023AE6A5}"/>
              </a:ext>
            </a:extLst>
          </p:cNvPr>
          <p:cNvCxnSpPr>
            <a:cxnSpLocks/>
          </p:cNvCxnSpPr>
          <p:nvPr/>
        </p:nvCxnSpPr>
        <p:spPr>
          <a:xfrm>
            <a:off x="1017637" y="6176963"/>
            <a:ext cx="81116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B659039A-3B1D-401C-A468-B54ED336B7B1}"/>
              </a:ext>
            </a:extLst>
          </p:cNvPr>
          <p:cNvSpPr txBox="1"/>
          <p:nvPr/>
        </p:nvSpPr>
        <p:spPr>
          <a:xfrm>
            <a:off x="1197077" y="5090338"/>
            <a:ext cx="766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(0, 1)</a:t>
            </a:r>
            <a:endParaRPr lang="vi-VN"/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1D4C1D99-DF2B-4C7B-8638-B13A3533213D}"/>
              </a:ext>
            </a:extLst>
          </p:cNvPr>
          <p:cNvSpPr txBox="1"/>
          <p:nvPr/>
        </p:nvSpPr>
        <p:spPr>
          <a:xfrm>
            <a:off x="1875503" y="6282169"/>
            <a:ext cx="766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(1, 0)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23FC4FA6-CE81-4DCE-92C2-CF6A611C6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12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4042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0E7CA8B-7563-400B-A48C-1CAB896FE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1.4. Inner product: Norm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2E44043-B9B5-4197-B861-7293545FA2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Norm: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⟨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ra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Normalized:</a:t>
                </a:r>
              </a:p>
              <a:p>
                <a:pPr>
                  <a:buFontTx/>
                  <a:buChar char="-"/>
                </a:pPr>
                <a:r>
                  <a:rPr lang="en-US"/>
                  <a:t>A unit /normalized vector is a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such that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/>
              </a:p>
              <a:p>
                <a:pPr>
                  <a:buFontTx/>
                  <a:buChar char="-"/>
                </a:pPr>
                <a:endParaRPr lang="en-US"/>
              </a:p>
              <a:p>
                <a:pPr marL="0" indent="0">
                  <a:buNone/>
                </a:pPr>
                <a:r>
                  <a:rPr lang="en-US" b="0"/>
                  <a:t>-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⟩</m:t>
                            </m:r>
                          </m:e>
                        </m:d>
                      </m:den>
                    </m:f>
                  </m:oMath>
                </a14:m>
                <a:r>
                  <a:rPr lang="en-US"/>
                  <a:t> is the normalized form for any non-zero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2E44043-B9B5-4197-B861-7293545FA2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421569A-BBC0-44E6-BC72-1C8D1608E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13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89460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0E7CA8B-7563-400B-A48C-1CAB896FE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1.4. Inner product: Norm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2E44043-B9B5-4197-B861-7293545FA2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/>
                  <a:t>Exercise 1.4.4: What are the normalized form of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2E44043-B9B5-4197-B861-7293545FA2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61BFCDDF-20DF-4670-831D-A50B7B1CB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14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35157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0E7CA8B-7563-400B-A48C-1CAB896FE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1.4. Inner product: Gram-Schmidt procedure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2E44043-B9B5-4197-B861-7293545FA2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Suppose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</m:e>
                    </m:d>
                  </m:oMath>
                </a14:m>
                <a:r>
                  <a:rPr lang="en-US"/>
                  <a:t> is the basis of space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/>
                  <a:t> with inner product.</a:t>
                </a:r>
              </a:p>
              <a:p>
                <a:pPr marL="0" indent="0">
                  <a:buNone/>
                </a:pPr>
                <a:r>
                  <a:rPr lang="en-US"/>
                  <a:t>Gram-Schmidt procedure is used to create an orthonormal basis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</m:e>
                    </m:d>
                  </m:oMath>
                </a14:m>
                <a:r>
                  <a:rPr lang="en-US"/>
                  <a:t> for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⟩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⟩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den>
                              </m:f>
                            </m:e>
                            <m:e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⟩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nary>
                                    <m:naryPr>
                                      <m:chr m:val="∑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m:rPr>
                                          <m:brk m:alnAt="23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⟨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⟩</m:t>
                                          </m:r>
                                        </m:e>
                                      </m:d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⟩</m:t>
                                      </m:r>
                                    </m:e>
                                  </m:nary>
                                </m:num>
                                <m:den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⟩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3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⟨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𝑤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+1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⟩</m:t>
                                              </m:r>
                                            </m:e>
                                          </m:d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⟩</m:t>
                                          </m:r>
                                        </m:e>
                                      </m:nary>
                                    </m:e>
                                  </m:d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2E44043-B9B5-4197-B861-7293545FA2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80EB2DB3-70FE-489C-99C3-9745784AD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15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80091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0E7CA8B-7563-400B-A48C-1CAB896FE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1.4. Inner product: Gram-Schmidt procedure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2E44043-B9B5-4197-B861-7293545FA2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Exercise 1.4.5. Prove that the Gram–Schmidt procedure produces an orthonormal basis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Hint: The orthonormal basis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</m:e>
                    </m:d>
                  </m:oMath>
                </a14:m>
                <a:r>
                  <a:rPr lang="en-US"/>
                  <a:t> for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/>
                  <a:t> means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⟩=0</m:t>
                    </m:r>
                  </m:oMath>
                </a14:m>
                <a:r>
                  <a:rPr lang="en-US"/>
                  <a:t>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2E44043-B9B5-4197-B861-7293545FA2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9225615-C1F7-4ADD-BB84-2769BF7EB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16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77797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0E7CA8B-7563-400B-A48C-1CAB896FE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1.4. Inner product: Gram-Schmidt procedure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2E44043-B9B5-4197-B861-7293545FA2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⟩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⟩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⟨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⟩⟨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⟩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Note that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/>
                  <a:t> because it’s normalized. Ex: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/>
                  <a:t> </a:t>
                </a: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2E44043-B9B5-4197-B861-7293545FA2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495B97C7-4223-49CD-A0B9-3511DB9A1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17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56618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0E7CA8B-7563-400B-A48C-1CAB896FE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1.4. Inner product: Gram-Schmidt procedure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2E44043-B9B5-4197-B861-7293545FA2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/>
                  <a:t>For all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−1:</m:t>
                    </m:r>
                  </m:oMath>
                </a14:m>
                <a:endParaRPr lang="en-US" sz="20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⟩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⟨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⟩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nary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⟨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⟩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⟩</m:t>
                                  </m:r>
                                </m:e>
                              </m:nary>
                            </m:e>
                          </m:d>
                        </m:den>
                      </m:f>
                    </m:oMath>
                  </m:oMathPara>
                </a14:m>
                <a:endParaRPr lang="en-US" sz="2000"/>
              </a:p>
              <a:p>
                <a:pPr marL="0" indent="0">
                  <a:buNone/>
                </a:pPr>
                <a:endParaRPr lang="en-US" sz="20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⟩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⟨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⟩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nary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⟨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⟩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⟩</m:t>
                                  </m:r>
                                </m:e>
                              </m:nary>
                            </m:e>
                          </m:d>
                        </m:den>
                      </m:f>
                    </m:oMath>
                  </m:oMathPara>
                </a14:m>
                <a:endParaRPr lang="en-US" sz="2000"/>
              </a:p>
              <a:p>
                <a:pPr marL="0" indent="0">
                  <a:buNone/>
                </a:pPr>
                <a:endParaRPr lang="en-US" sz="20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⟨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⟨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⟩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⟩⟨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⟩</m:t>
                                          </m:r>
                                        </m:e>
                                      </m:d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d>
                          <m:d>
                            <m:dPr>
                              <m:begChr m:val="‖"/>
                              <m:endChr m:val="‖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⟩</m:t>
                                          </m:r>
                                        </m:e>
                                      </m:d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d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/>
              </a:p>
              <a:p>
                <a:pPr marL="0" indent="0">
                  <a:buNone/>
                </a:pPr>
                <a:endParaRPr lang="en-US" sz="2000"/>
              </a:p>
              <a:p>
                <a:pPr marL="0" indent="0">
                  <a:buNone/>
                </a:pPr>
                <a:r>
                  <a:rPr lang="en-US" sz="2000"/>
                  <a:t>Note: for all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i="1"/>
                  <a:t>,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/>
                  <a:t> </a:t>
                </a: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2E44043-B9B5-4197-B861-7293545FA2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4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94E36E1F-3535-4E3F-88CF-0E1084F03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18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26777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6367F40-6BE8-48A5-93C9-7ECACCA74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1.4. Inner product: Hilbert space / matrix presentation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2F238BD-3B4E-49CA-9555-3D8566D005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nary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nary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begChr m:val="⟨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Note: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e>
                        </m:eqArr>
                      </m:e>
                    </m:d>
                  </m:oMath>
                </a14:m>
                <a:r>
                  <a:rPr lang="en-US"/>
                  <a:t> is the Kronecker – delta function.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2F238BD-3B4E-49CA-9555-3D8566D005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3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7A35CF03-4766-44AC-9C2A-1A472DDF6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19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37507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0D3FE4D-223C-4D78-9031-CF5F04AB8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1.4. Outer product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EBFECA4-6A2D-496E-946C-792606C934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,|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/>
                  <a:t> in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/>
                  <a:t>, we define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 as a linear operator: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⟩⟨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| :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⟩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endParaRPr lang="en-US"/>
              </a:p>
              <a:p>
                <a:pPr marL="0" indent="0" algn="ctr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Outer product is a tool that helps you jump between vector spaces!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EBFECA4-6A2D-496E-946C-792606C934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564758C-0E72-44BB-AFCD-C2B16102A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20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30289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0D3FE4D-223C-4D78-9031-CF5F04AB8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1.4. Outer product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EBFECA4-6A2D-496E-946C-792606C934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nary>
                  </m:oMath>
                </a14:m>
                <a:r>
                  <a:rPr lang="en-US"/>
                  <a:t>. Note that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⟩⟨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</m:nary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⟩⟨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So: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⟩⟨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This is called the completeness relation for orthonormal basis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EBFECA4-6A2D-496E-946C-792606C934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54" t="-14566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CAE0211A-75ED-41EE-9554-CB10F1B62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21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061384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A5E2BC1-BC51-481B-A241-F623D6C7A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1.4. Outer product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6F9ACA47-F79D-42B6-B405-F1D34544CE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are the orthonormal basis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/>
                  <a:t> respectively.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⟩⟨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⟩⟨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⟨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⟩⟨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6F9ACA47-F79D-42B6-B405-F1D34544CE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9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341FF12-27F4-4ADC-B0B3-CC21B6AEA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22</a:t>
            </a:fld>
            <a:endParaRPr lang="vi-VN"/>
          </a:p>
        </p:txBody>
      </p:sp>
      <p:cxnSp>
        <p:nvCxnSpPr>
          <p:cNvPr id="6" name="Đường kết nối Mũi tên Thẳng 5">
            <a:extLst>
              <a:ext uri="{FF2B5EF4-FFF2-40B4-BE49-F238E27FC236}">
                <a16:creationId xmlns:a16="http://schemas.microsoft.com/office/drawing/2014/main" id="{DCC670D7-3409-4EF8-BCED-F56CFEB06DB3}"/>
              </a:ext>
            </a:extLst>
          </p:cNvPr>
          <p:cNvCxnSpPr/>
          <p:nvPr/>
        </p:nvCxnSpPr>
        <p:spPr>
          <a:xfrm flipV="1">
            <a:off x="6056671" y="4911212"/>
            <a:ext cx="0" cy="619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DD438B3F-23B3-43A8-B8EB-8F7609FEB811}"/>
                  </a:ext>
                </a:extLst>
              </p:cNvPr>
              <p:cNvSpPr txBox="1"/>
              <p:nvPr/>
            </p:nvSpPr>
            <p:spPr>
              <a:xfrm>
                <a:off x="5651091" y="5619053"/>
                <a:ext cx="889818" cy="557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</m:sSub>
                    </m:oMath>
                  </m:oMathPara>
                </a14:m>
                <a:endParaRPr lang="vi-VN" sz="2800"/>
              </a:p>
            </p:txBody>
          </p:sp>
        </mc:Choice>
        <mc:Fallback xmlns="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DD438B3F-23B3-43A8-B8EB-8F7609FEB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091" y="5619053"/>
                <a:ext cx="889818" cy="5579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30608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A5E2BC1-BC51-481B-A241-F623D6C7A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1.4. Outer product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6F9ACA47-F79D-42B6-B405-F1D34544CE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/>
                  <a:t>Exercise 1.4.6: Express Pauli operators in the outer product notation.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=|0⟩⟨0|+|1⟩⟨1| </m:t>
                      </m:r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=|0⟩⟨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|+|1⟩⟨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|0⟩⟨1|+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|1⟩⟨0|</m:t>
                      </m:r>
                    </m:oMath>
                  </m:oMathPara>
                </a14:m>
                <a:endParaRPr lang="en-US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=|0⟩⟨0|−|1⟩⟨1|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6F9ACA47-F79D-42B6-B405-F1D34544CE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6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341FF12-27F4-4ADC-B0B3-CC21B6AEA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23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829138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A5E2BC1-BC51-481B-A241-F623D6C7A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1.4. Outer product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6F9ACA47-F79D-42B6-B405-F1D34544CE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/>
                  <a:t>Exercise 1.4.7: 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is an orthonormal basis for an inner product space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/>
                  <a:t>. What is the matrix representation for the operator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d>
                      <m:dPr>
                        <m:begChr m:val="⟨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/>
                  <a:t> with respect to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basis?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⟨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begChr m:val="⟨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⟩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⟨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⟩=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1⇒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d>
                      <m:dPr>
                        <m:begChr m:val="⟨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⟩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So the matrix representation is Identity matrix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6F9ACA47-F79D-42B6-B405-F1D34544CE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 b="-7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341FF12-27F4-4ADC-B0B3-CC21B6AEA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24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351455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B7F1561-0DBE-491D-8054-8C3DFAF59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*The Cauchy-Schwarz inequality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D7B7148-A9DC-45F0-A7C4-FB933E5C41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For any two vectors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</m:oMath>
                </a14:m>
                <a:r>
                  <a:rPr lang="en-US"/>
                  <a:t> is the orthonormal basis: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begChr m:val="|"/>
                                      <m:endChr m:val="⟩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d>
                                    <m:dPr>
                                      <m:begChr m:val="⟨"/>
                                      <m:end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⟩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d>
                                    <m:dPr>
                                      <m:begChr m:val="⟨"/>
                                      <m:end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The first member of basis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⟨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⟩</m:t>
                            </m:r>
                          </m:e>
                        </m:rad>
                      </m:den>
                    </m:f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D7B7148-A9DC-45F0-A7C4-FB933E5C41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18DBCB7-D978-42AB-981E-F7CCDA3CF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25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253440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B7F1561-0DBE-491D-8054-8C3DFAF59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*The Cauchy-Schwarz inequality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D7B7148-A9DC-45F0-A7C4-FB933E5C41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The first member of basis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⟨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⟩</m:t>
                            </m:r>
                          </m:e>
                        </m:rad>
                      </m:den>
                    </m:f>
                  </m:oMath>
                </a14:m>
                <a:r>
                  <a:rPr lang="en-US"/>
                  <a:t>, so: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⟩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d>
                                    <m:dPr>
                                      <m:begChr m:val="⟨"/>
                                      <m:end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⟨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d>
                                        <m:dPr>
                                          <m:begChr m:val="|"/>
                                          <m:endChr m:val="⟩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⟨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⟩</m:t>
                                          </m:r>
                                        </m:e>
                                      </m:rad>
                                    </m:den>
                                  </m:f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d>
                                        <m:dPr>
                                          <m:begChr m:val="⟨"/>
                                          <m:endChr m:val="|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⟨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⟩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</m:d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⟨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⟨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⟩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⟨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⟩</m:t>
                          </m:r>
                        </m:den>
                      </m:f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⟨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D7B7148-A9DC-45F0-A7C4-FB933E5C41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18DBCB7-D978-42AB-981E-F7CCDA3CF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26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157640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B7F1561-0DBE-491D-8054-8C3DFAF59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*The Cauchy-Schwarz inequality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D7B7148-A9DC-45F0-A7C4-FB933E5C41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⟨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The equality occurs iff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Prove: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D7B7148-A9DC-45F0-A7C4-FB933E5C41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18DBCB7-D978-42AB-981E-F7CCDA3CF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27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865505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AE41587-91CF-4C84-B8C3-3E4B449AB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1.5. Eigenvalue &amp; eigenvector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0AB1083-2786-480A-9A6C-5B13520D0E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/>
                  <a:t> 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en-US"/>
                  <a:t> is the eigenvalue corresponding with eigenvector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=0:</m:t>
                    </m:r>
                  </m:oMath>
                </a14:m>
                <a:r>
                  <a:rPr lang="en-US"/>
                  <a:t> characteristic function.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⟩⟨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/>
                  <a:t> the diagonal representation.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0AB1083-2786-480A-9A6C-5B13520D0E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A68EC314-A25D-4889-9C79-4EE454D73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28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650427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3A94A01-ED9F-4CCF-9592-EE7E3DDFC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1.5. Eigenvalue &amp; eigenvector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E386A30-2449-4D3D-AEC5-15EF2FBD9B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/>
                  <a:t>In normal, there is one eigenvector corresponding one eigenvalue.</a:t>
                </a:r>
              </a:p>
              <a:p>
                <a:pPr marL="0" indent="0">
                  <a:buNone/>
                </a:pPr>
                <a:r>
                  <a:rPr lang="en-US"/>
                  <a:t>If there are more two eigenvectors corresponding one eigenvalue (or dimensional of eigenspace &gt; 1), we will call it as degenerate.</a:t>
                </a:r>
              </a:p>
              <a:p>
                <a:pPr marL="0" indent="0">
                  <a:buNone/>
                </a:pPr>
                <a:r>
                  <a:rPr lang="en-US"/>
                  <a:t>Example: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/>
                  <a:t>, we have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E386A30-2449-4D3D-AEC5-15EF2FBD9B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5927690B-0DFE-4EF9-BF2A-8FC4C34C8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29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004476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CB6BC14-C5DC-4256-A0E9-8AB456B83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1.5. Eigenvalue &amp; eigenvector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38EB510-6042-48E7-B348-C28B52A13A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Exercise 1.5.1: Find the eigenvectors, eigenvalues, and diagonal representations of the Pauli matrices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/>
                  <a:t>.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38EB510-6042-48E7-B348-C28B52A13A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48B80AB-CC42-41FE-8A89-AC2D969B0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30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113711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CB6BC14-C5DC-4256-A0E9-8AB456B83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1.5. Eigenvalue &amp; eigenvector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38EB510-6042-48E7-B348-C28B52A13A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Exercise 1.5.2: Prove that the matrix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is not diagonalizable.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38EB510-6042-48E7-B348-C28B52A13A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48B80AB-CC42-41FE-8A89-AC2D969B0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31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600962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CB6BC14-C5DC-4256-A0E9-8AB456B83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1.5. Eigenvalue &amp; eigenvector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38EB510-6042-48E7-B348-C28B52A13A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has only one eigenvector, it’s not diagonalizable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≠|1⟩⟨1|=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38EB510-6042-48E7-B348-C28B52A13A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48B80AB-CC42-41FE-8A89-AC2D969B0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32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849135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E570911-5CFC-4F0D-BD68-3C535D3D0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1.6. Adjoint and Hermitian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A65D444E-9B81-4B0B-8F3F-7B73B1202D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⟨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=⟨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d>
                            <m:dPr>
                              <m:begChr m:val="|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Exercise 1.6.1: Prove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  <m:d>
                              <m:dPr>
                                <m:begChr m:val="⟨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⟩⟨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A65D444E-9B81-4B0B-8F3F-7B73B1202D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b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2987FF37-0E94-4117-802F-AF2BD0577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0ABF-BDB3-40CA-807F-6247C1C04879}" type="slidenum">
              <a:rPr lang="vi-VN" smtClean="0"/>
              <a:t>33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23494303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1565</Words>
  <Application>Microsoft Macintosh PowerPoint</Application>
  <PresentationFormat>Widescreen</PresentationFormat>
  <Paragraphs>279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Cambria Math</vt:lpstr>
      <vt:lpstr>Times New Roman</vt:lpstr>
      <vt:lpstr>Chủ đề Office</vt:lpstr>
      <vt:lpstr> Programming for quantum computers: Basic math</vt:lpstr>
      <vt:lpstr>1.1. Bases, Linear independence</vt:lpstr>
      <vt:lpstr>1.1. Bases, Linear independence</vt:lpstr>
      <vt:lpstr>1.2. Linear operators and matrices</vt:lpstr>
      <vt:lpstr>1.2. Linear operators and matrices</vt:lpstr>
      <vt:lpstr>1.2. Linear operators and matrices</vt:lpstr>
      <vt:lpstr>1.3. Pauli matrices</vt:lpstr>
      <vt:lpstr>1.4. Inner product</vt:lpstr>
      <vt:lpstr>1.4. Inner product</vt:lpstr>
      <vt:lpstr>1.4. Inner product</vt:lpstr>
      <vt:lpstr>1.4. Inner product</vt:lpstr>
      <vt:lpstr>1.4. Inner product</vt:lpstr>
      <vt:lpstr>1.4. Inner product: Norm</vt:lpstr>
      <vt:lpstr>1.4. Inner product: Norm</vt:lpstr>
      <vt:lpstr>1.4. Inner product: Gram-Schmidt procedure</vt:lpstr>
      <vt:lpstr>1.4. Inner product: Gram-Schmidt procedure</vt:lpstr>
      <vt:lpstr>1.4. Inner product: Gram-Schmidt procedure</vt:lpstr>
      <vt:lpstr>1.4. Inner product: Gram-Schmidt procedure</vt:lpstr>
      <vt:lpstr>1.4. Inner product: Hilbert space / matrix presentation</vt:lpstr>
      <vt:lpstr>1.4. Outer product</vt:lpstr>
      <vt:lpstr>1.4. Outer product</vt:lpstr>
      <vt:lpstr>1.4. Outer product</vt:lpstr>
      <vt:lpstr>1.4. Outer product</vt:lpstr>
      <vt:lpstr>1.4. Outer product</vt:lpstr>
      <vt:lpstr>*The Cauchy-Schwarz inequality</vt:lpstr>
      <vt:lpstr>*The Cauchy-Schwarz inequality</vt:lpstr>
      <vt:lpstr>*The Cauchy-Schwarz inequality</vt:lpstr>
      <vt:lpstr>1.5. Eigenvalue &amp; eigenvector</vt:lpstr>
      <vt:lpstr>1.5. Eigenvalue &amp; eigenvector</vt:lpstr>
      <vt:lpstr>1.5. Eigenvalue &amp; eigenvector</vt:lpstr>
      <vt:lpstr>1.5. Eigenvalue &amp; eigenvector</vt:lpstr>
      <vt:lpstr>1.5. Eigenvalue &amp; eigenvector</vt:lpstr>
      <vt:lpstr>1.6. Adjoint and Hermitian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0. Basic math Linear algebra</dc:title>
  <dc:creator>Tuan Hai</dc:creator>
  <cp:lastModifiedBy>Nguyễn Thị Lê Thủy</cp:lastModifiedBy>
  <cp:revision>36</cp:revision>
  <dcterms:created xsi:type="dcterms:W3CDTF">2021-11-18T01:51:11Z</dcterms:created>
  <dcterms:modified xsi:type="dcterms:W3CDTF">2025-12-22T08:48:29Z</dcterms:modified>
</cp:coreProperties>
</file>