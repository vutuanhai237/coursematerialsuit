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0.xml"/>
  <Override ContentType="application/vnd.openxmlformats-officedocument.presentationml.slide+xml" PartName="/ppt/slides/slide61.xml"/>
  <Override ContentType="application/vnd.openxmlformats-officedocument.presentationml.slide+xml" PartName="/ppt/slides/slide62.xml"/>
  <Override ContentType="application/vnd.openxmlformats-officedocument.presentationml.slide+xml" PartName="/ppt/slides/slide63.xml"/>
  <Override ContentType="application/vnd.openxmlformats-officedocument.presentationml.slide+xml" PartName="/ppt/slides/slide64.xml"/>
  <Override ContentType="application/vnd.openxmlformats-officedocument.presentationml.slide+xml" PartName="/ppt/slides/slide65.xml"/>
  <Override ContentType="application/vnd.openxmlformats-officedocument.presentationml.slide+xml" PartName="/ppt/slides/slide66.xml"/>
  <Override ContentType="application/vnd.openxmlformats-officedocument.presentationml.slide+xml" PartName="/ppt/slides/slide67.xml"/>
  <Override ContentType="application/vnd.openxmlformats-officedocument.presentationml.slide+xml" PartName="/ppt/slides/slide68.xml"/>
  <Override ContentType="application/vnd.openxmlformats-officedocument.presentationml.slide+xml" PartName="/ppt/slides/slide69.xml"/>
  <Override ContentType="application/vnd.openxmlformats-officedocument.presentationml.slide+xml" PartName="/ppt/slides/slide70.xml"/>
  <Override ContentType="application/vnd.openxmlformats-officedocument.presentationml.slide+xml" PartName="/ppt/slides/slide71.xml"/>
  <Override ContentType="application/vnd.openxmlformats-officedocument.presentationml.slide+xml" PartName="/ppt/slides/slide72.xml"/>
  <Override ContentType="application/vnd.openxmlformats-officedocument.presentationml.slide+xml" PartName="/ppt/slides/slide73.xml"/>
  <Override ContentType="application/vnd.openxmlformats-officedocument.presentationml.slide+xml" PartName="/ppt/slides/slide74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77.xml"/>
  <Override ContentType="application/vnd.openxmlformats-officedocument.presentationml.slide+xml" PartName="/ppt/slides/slide78.xml"/>
  <Override ContentType="application/vnd.openxmlformats-officedocument.presentationml.slide+xml" PartName="/ppt/slides/slide79.xml"/>
  <Override ContentType="application/vnd.openxmlformats-officedocument.presentationml.slide+xml" PartName="/ppt/slides/slide80.xml"/>
  <Override ContentType="application/vnd.openxmlformats-officedocument.presentationml.slide+xml" PartName="/ppt/slides/slide81.xml"/>
  <Override ContentType="application/vnd.openxmlformats-officedocument.presentationml.slide+xml" PartName="/ppt/slides/slide82.xml"/>
  <Override ContentType="application/vnd.openxmlformats-officedocument.presentationml.slide+xml" PartName="/ppt/slides/slide83.xml"/>
  <Override ContentType="application/vnd.openxmlformats-officedocument.presentationml.slide+xml" PartName="/ppt/slides/slide84.xml"/>
  <Override ContentType="application/vnd.openxmlformats-officedocument.presentationml.slide+xml" PartName="/ppt/slides/slide85.xml"/>
  <Override ContentType="application/vnd.openxmlformats-officedocument.presentationml.slide+xml" PartName="/ppt/slides/slide86.xml"/>
  <Override ContentType="application/vnd.openxmlformats-officedocument.presentationml.slide+xml" PartName="/ppt/slides/slide87.xml"/>
  <Override ContentType="application/vnd.openxmlformats-officedocument.presentationml.slide+xml" PartName="/ppt/slides/slide88.xml"/>
  <Override ContentType="application/vnd.openxmlformats-officedocument.presentationml.slide+xml" PartName="/ppt/slides/slide89.xml"/>
  <Override ContentType="application/vnd.openxmlformats-officedocument.presentationml.slide+xml" PartName="/ppt/slides/slide90.xml"/>
  <Override ContentType="application/vnd.openxmlformats-officedocument.presentationml.slide+xml" PartName="/ppt/slides/slide91.xml"/>
  <Override ContentType="application/vnd.openxmlformats-officedocument.presentationml.slide+xml" PartName="/ppt/slides/slide92.xml"/>
  <Override ContentType="application/vnd.openxmlformats-officedocument.presentationml.slide+xml" PartName="/ppt/slides/slide93.xml"/>
  <Override ContentType="application/vnd.openxmlformats-officedocument.presentationml.slide+xml" PartName="/ppt/slides/slide94.xml"/>
  <Override ContentType="application/vnd.openxmlformats-officedocument.presentationml.slide+xml" PartName="/ppt/slides/slide95.xml"/>
  <Override ContentType="application/vnd.openxmlformats-officedocument.presentationml.slide+xml" PartName="/ppt/slides/slide96.xml"/>
  <Override ContentType="application/vnd.openxmlformats-officedocument.presentationml.slide+xml" PartName="/ppt/slides/slide97.xml"/>
  <Override ContentType="application/vnd.openxmlformats-officedocument.presentationml.slide+xml" PartName="/ppt/slides/slide98.xml"/>
  <Override ContentType="application/vnd.openxmlformats-officedocument.presentationml.slide+xml" PartName="/ppt/slides/slide99.xml"/>
  <Override ContentType="application/vnd.openxmlformats-officedocument.presentationml.slide+xml" PartName="/ppt/slides/slide100.xml"/>
  <Override ContentType="application/vnd.openxmlformats-officedocument.presentationml.slide+xml" PartName="/ppt/slides/slide101.xml"/>
  <Override ContentType="application/vnd.openxmlformats-officedocument.presentationml.slide+xml" PartName="/ppt/slides/slide102.xml"/>
  <Override ContentType="application/vnd.openxmlformats-officedocument.presentationml.slide+xml" PartName="/ppt/slides/slide103.xml"/>
  <Override ContentType="application/vnd.openxmlformats-officedocument.presentationml.slide+xml" PartName="/ppt/slides/slide104.xml"/>
  <Override ContentType="application/vnd.openxmlformats-officedocument.presentationml.slide+xml" PartName="/ppt/slides/slide105.xml"/>
  <Override ContentType="application/vnd.openxmlformats-officedocument.presentationml.slide+xml" PartName="/ppt/slides/slide106.xml"/>
  <Override ContentType="application/vnd.openxmlformats-officedocument.presentationml.slide+xml" PartName="/ppt/slides/slide107.xml"/>
  <Override ContentType="application/vnd.openxmlformats-officedocument.presentationml.slide+xml" PartName="/ppt/slides/slide108.xml"/>
  <Override ContentType="application/vnd.openxmlformats-officedocument.presentationml.slide+xml" PartName="/ppt/slides/slide109.xml"/>
  <Override ContentType="application/vnd.openxmlformats-officedocument.presentationml.slide+xml" PartName="/ppt/slides/slide110.xml"/>
  <Override ContentType="application/vnd.openxmlformats-officedocument.presentationml.slide+xml" PartName="/ppt/slides/slide111.xml"/>
  <Override ContentType="application/vnd.openxmlformats-officedocument.presentationml.slide+xml" PartName="/ppt/slides/slide112.xml"/>
  <Override ContentType="application/vnd.openxmlformats-officedocument.presentationml.slide+xml" PartName="/ppt/slides/slide113.xml"/>
  <Override ContentType="application/vnd.openxmlformats-officedocument.presentationml.slide+xml" PartName="/ppt/slides/slide114.xml"/>
  <Override ContentType="application/vnd.openxmlformats-officedocument.presentationml.slide+xml" PartName="/ppt/slides/slide115.xml"/>
  <Override ContentType="application/vnd.openxmlformats-officedocument.presentationml.slide+xml" PartName="/ppt/slides/slide116.xml"/>
  <Override ContentType="application/vnd.openxmlformats-officedocument.presentationml.slide+xml" PartName="/ppt/slides/slide117.xml"/>
  <Override ContentType="application/vnd.openxmlformats-officedocument.presentationml.slide+xml" PartName="/ppt/slides/slide118.xml"/>
  <Override ContentType="application/vnd.openxmlformats-officedocument.presentationml.slide+xml" PartName="/ppt/slides/slide119.xml"/>
  <Override ContentType="application/vnd.openxmlformats-officedocument.presentationml.slide+xml" PartName="/ppt/slides/slide120.xml"/>
  <Override ContentType="application/vnd.openxmlformats-officedocument.presentationml.slide+xml" PartName="/ppt/slides/slide121.xml"/>
  <Override ContentType="application/vnd.openxmlformats-officedocument.presentationml.slide+xml" PartName="/ppt/slides/slide122.xml"/>
  <Override ContentType="application/vnd.openxmlformats-officedocument.presentationml.slide+xml" PartName="/ppt/slides/slide123.xml"/>
  <Override ContentType="application/vnd.openxmlformats-officedocument.presentationml.slide+xml" PartName="/ppt/slides/slide124.xml"/>
  <Override ContentType="application/vnd.openxmlformats-officedocument.presentationml.slide+xml" PartName="/ppt/slides/slide1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</p:sldIdLst>
  <p:sldSz cx="18288000" cy="10287000"/>
  <p:notesSz cx="6858000" cy="9144000"/>
  <p:embeddedFontLst>
    <p:embeddedFont>
      <p:font typeface="Bebas Neue Bold" charset="1" panose="020B0606020202050201"/>
      <p:regular r:id="rId131"/>
    </p:embeddedFont>
    <p:embeddedFont>
      <p:font typeface="Roboto" charset="1" panose="02000000000000000000"/>
      <p:regular r:id="rId132"/>
    </p:embeddedFont>
    <p:embeddedFont>
      <p:font typeface="Roboto Bold" charset="1" panose="02000000000000000000"/>
      <p:regular r:id="rId133"/>
    </p:embeddedFont>
    <p:embeddedFont>
      <p:font typeface="Times New Roman Italics" charset="1" panose="02020503050405090304"/>
      <p:regular r:id="rId134"/>
    </p:embeddedFont>
    <p:embeddedFont>
      <p:font typeface="Roboto Italics" charset="1" panose="02000000000000000000"/>
      <p:regular r:id="rId135"/>
    </p:embeddedFont>
    <p:embeddedFont>
      <p:font typeface="Roboto Bold Italics" charset="1" panose="02000000000000000000"/>
      <p:regular r:id="rId136"/>
    </p:embeddedFont>
    <p:embeddedFont>
      <p:font typeface="Times New Roman" charset="1" panose="02020603050405020304"/>
      <p:regular r:id="rId1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00" Target="slides/slide95.xml" Type="http://schemas.openxmlformats.org/officeDocument/2006/relationships/slide"/><Relationship Id="rId101" Target="slides/slide96.xml" Type="http://schemas.openxmlformats.org/officeDocument/2006/relationships/slide"/><Relationship Id="rId102" Target="slides/slide97.xml" Type="http://schemas.openxmlformats.org/officeDocument/2006/relationships/slide"/><Relationship Id="rId103" Target="slides/slide98.xml" Type="http://schemas.openxmlformats.org/officeDocument/2006/relationships/slide"/><Relationship Id="rId104" Target="slides/slide99.xml" Type="http://schemas.openxmlformats.org/officeDocument/2006/relationships/slide"/><Relationship Id="rId105" Target="slides/slide100.xml" Type="http://schemas.openxmlformats.org/officeDocument/2006/relationships/slide"/><Relationship Id="rId106" Target="slides/slide101.xml" Type="http://schemas.openxmlformats.org/officeDocument/2006/relationships/slide"/><Relationship Id="rId107" Target="slides/slide102.xml" Type="http://schemas.openxmlformats.org/officeDocument/2006/relationships/slide"/><Relationship Id="rId108" Target="slides/slide103.xml" Type="http://schemas.openxmlformats.org/officeDocument/2006/relationships/slide"/><Relationship Id="rId109" Target="slides/slide104.xml" Type="http://schemas.openxmlformats.org/officeDocument/2006/relationships/slide"/><Relationship Id="rId11" Target="slides/slide6.xml" Type="http://schemas.openxmlformats.org/officeDocument/2006/relationships/slide"/><Relationship Id="rId110" Target="slides/slide105.xml" Type="http://schemas.openxmlformats.org/officeDocument/2006/relationships/slide"/><Relationship Id="rId111" Target="slides/slide106.xml" Type="http://schemas.openxmlformats.org/officeDocument/2006/relationships/slide"/><Relationship Id="rId112" Target="slides/slide107.xml" Type="http://schemas.openxmlformats.org/officeDocument/2006/relationships/slide"/><Relationship Id="rId113" Target="slides/slide108.xml" Type="http://schemas.openxmlformats.org/officeDocument/2006/relationships/slide"/><Relationship Id="rId114" Target="slides/slide109.xml" Type="http://schemas.openxmlformats.org/officeDocument/2006/relationships/slide"/><Relationship Id="rId115" Target="slides/slide110.xml" Type="http://schemas.openxmlformats.org/officeDocument/2006/relationships/slide"/><Relationship Id="rId116" Target="slides/slide111.xml" Type="http://schemas.openxmlformats.org/officeDocument/2006/relationships/slide"/><Relationship Id="rId117" Target="slides/slide112.xml" Type="http://schemas.openxmlformats.org/officeDocument/2006/relationships/slide"/><Relationship Id="rId118" Target="slides/slide113.xml" Type="http://schemas.openxmlformats.org/officeDocument/2006/relationships/slide"/><Relationship Id="rId119" Target="slides/slide114.xml" Type="http://schemas.openxmlformats.org/officeDocument/2006/relationships/slide"/><Relationship Id="rId12" Target="slides/slide7.xml" Type="http://schemas.openxmlformats.org/officeDocument/2006/relationships/slide"/><Relationship Id="rId120" Target="slides/slide115.xml" Type="http://schemas.openxmlformats.org/officeDocument/2006/relationships/slide"/><Relationship Id="rId121" Target="slides/slide116.xml" Type="http://schemas.openxmlformats.org/officeDocument/2006/relationships/slide"/><Relationship Id="rId122" Target="slides/slide117.xml" Type="http://schemas.openxmlformats.org/officeDocument/2006/relationships/slide"/><Relationship Id="rId123" Target="slides/slide118.xml" Type="http://schemas.openxmlformats.org/officeDocument/2006/relationships/slide"/><Relationship Id="rId124" Target="slides/slide119.xml" Type="http://schemas.openxmlformats.org/officeDocument/2006/relationships/slide"/><Relationship Id="rId125" Target="slides/slide120.xml" Type="http://schemas.openxmlformats.org/officeDocument/2006/relationships/slide"/><Relationship Id="rId126" Target="slides/slide121.xml" Type="http://schemas.openxmlformats.org/officeDocument/2006/relationships/slide"/><Relationship Id="rId127" Target="slides/slide122.xml" Type="http://schemas.openxmlformats.org/officeDocument/2006/relationships/slide"/><Relationship Id="rId128" Target="slides/slide123.xml" Type="http://schemas.openxmlformats.org/officeDocument/2006/relationships/slide"/><Relationship Id="rId129" Target="slides/slide124.xml" Type="http://schemas.openxmlformats.org/officeDocument/2006/relationships/slide"/><Relationship Id="rId13" Target="slides/slide8.xml" Type="http://schemas.openxmlformats.org/officeDocument/2006/relationships/slide"/><Relationship Id="rId130" Target="slides/slide125.xml" Type="http://schemas.openxmlformats.org/officeDocument/2006/relationships/slide"/><Relationship Id="rId131" Target="fonts/font131.fntdata" Type="http://schemas.openxmlformats.org/officeDocument/2006/relationships/font"/><Relationship Id="rId132" Target="fonts/font132.fntdata" Type="http://schemas.openxmlformats.org/officeDocument/2006/relationships/font"/><Relationship Id="rId133" Target="fonts/font133.fntdata" Type="http://schemas.openxmlformats.org/officeDocument/2006/relationships/font"/><Relationship Id="rId134" Target="fonts/font134.fntdata" Type="http://schemas.openxmlformats.org/officeDocument/2006/relationships/font"/><Relationship Id="rId135" Target="fonts/font135.fntdata" Type="http://schemas.openxmlformats.org/officeDocument/2006/relationships/font"/><Relationship Id="rId136" Target="fonts/font136.fntdata" Type="http://schemas.openxmlformats.org/officeDocument/2006/relationships/font"/><Relationship Id="rId137" Target="fonts/font137.fntdata" Type="http://schemas.openxmlformats.org/officeDocument/2006/relationships/font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slides/slide56.xml" Type="http://schemas.openxmlformats.org/officeDocument/2006/relationships/slide"/><Relationship Id="rId62" Target="slides/slide57.xml" Type="http://schemas.openxmlformats.org/officeDocument/2006/relationships/slide"/><Relationship Id="rId63" Target="slides/slide58.xml" Type="http://schemas.openxmlformats.org/officeDocument/2006/relationships/slide"/><Relationship Id="rId64" Target="slides/slide59.xml" Type="http://schemas.openxmlformats.org/officeDocument/2006/relationships/slide"/><Relationship Id="rId65" Target="slides/slide60.xml" Type="http://schemas.openxmlformats.org/officeDocument/2006/relationships/slide"/><Relationship Id="rId66" Target="slides/slide61.xml" Type="http://schemas.openxmlformats.org/officeDocument/2006/relationships/slide"/><Relationship Id="rId67" Target="slides/slide62.xml" Type="http://schemas.openxmlformats.org/officeDocument/2006/relationships/slide"/><Relationship Id="rId68" Target="slides/slide63.xml" Type="http://schemas.openxmlformats.org/officeDocument/2006/relationships/slide"/><Relationship Id="rId69" Target="slides/slide64.xml" Type="http://schemas.openxmlformats.org/officeDocument/2006/relationships/slide"/><Relationship Id="rId7" Target="slides/slide2.xml" Type="http://schemas.openxmlformats.org/officeDocument/2006/relationships/slide"/><Relationship Id="rId70" Target="slides/slide65.xml" Type="http://schemas.openxmlformats.org/officeDocument/2006/relationships/slide"/><Relationship Id="rId71" Target="slides/slide66.xml" Type="http://schemas.openxmlformats.org/officeDocument/2006/relationships/slide"/><Relationship Id="rId72" Target="slides/slide67.xml" Type="http://schemas.openxmlformats.org/officeDocument/2006/relationships/slide"/><Relationship Id="rId73" Target="slides/slide68.xml" Type="http://schemas.openxmlformats.org/officeDocument/2006/relationships/slide"/><Relationship Id="rId74" Target="slides/slide69.xml" Type="http://schemas.openxmlformats.org/officeDocument/2006/relationships/slide"/><Relationship Id="rId75" Target="slides/slide70.xml" Type="http://schemas.openxmlformats.org/officeDocument/2006/relationships/slide"/><Relationship Id="rId76" Target="slides/slide71.xml" Type="http://schemas.openxmlformats.org/officeDocument/2006/relationships/slide"/><Relationship Id="rId77" Target="slides/slide72.xml" Type="http://schemas.openxmlformats.org/officeDocument/2006/relationships/slide"/><Relationship Id="rId78" Target="slides/slide73.xml" Type="http://schemas.openxmlformats.org/officeDocument/2006/relationships/slide"/><Relationship Id="rId79" Target="slides/slide74.xml" Type="http://schemas.openxmlformats.org/officeDocument/2006/relationships/slide"/><Relationship Id="rId8" Target="slides/slide3.xml" Type="http://schemas.openxmlformats.org/officeDocument/2006/relationships/slide"/><Relationship Id="rId80" Target="slides/slide75.xml" Type="http://schemas.openxmlformats.org/officeDocument/2006/relationships/slide"/><Relationship Id="rId81" Target="slides/slide76.xml" Type="http://schemas.openxmlformats.org/officeDocument/2006/relationships/slide"/><Relationship Id="rId82" Target="slides/slide77.xml" Type="http://schemas.openxmlformats.org/officeDocument/2006/relationships/slide"/><Relationship Id="rId83" Target="slides/slide78.xml" Type="http://schemas.openxmlformats.org/officeDocument/2006/relationships/slide"/><Relationship Id="rId84" Target="slides/slide79.xml" Type="http://schemas.openxmlformats.org/officeDocument/2006/relationships/slide"/><Relationship Id="rId85" Target="slides/slide80.xml" Type="http://schemas.openxmlformats.org/officeDocument/2006/relationships/slide"/><Relationship Id="rId86" Target="slides/slide81.xml" Type="http://schemas.openxmlformats.org/officeDocument/2006/relationships/slide"/><Relationship Id="rId87" Target="slides/slide82.xml" Type="http://schemas.openxmlformats.org/officeDocument/2006/relationships/slide"/><Relationship Id="rId88" Target="slides/slide83.xml" Type="http://schemas.openxmlformats.org/officeDocument/2006/relationships/slide"/><Relationship Id="rId89" Target="slides/slide84.xml" Type="http://schemas.openxmlformats.org/officeDocument/2006/relationships/slide"/><Relationship Id="rId9" Target="slides/slide4.xml" Type="http://schemas.openxmlformats.org/officeDocument/2006/relationships/slide"/><Relationship Id="rId90" Target="slides/slide85.xml" Type="http://schemas.openxmlformats.org/officeDocument/2006/relationships/slide"/><Relationship Id="rId91" Target="slides/slide86.xml" Type="http://schemas.openxmlformats.org/officeDocument/2006/relationships/slide"/><Relationship Id="rId92" Target="slides/slide87.xml" Type="http://schemas.openxmlformats.org/officeDocument/2006/relationships/slide"/><Relationship Id="rId93" Target="slides/slide88.xml" Type="http://schemas.openxmlformats.org/officeDocument/2006/relationships/slide"/><Relationship Id="rId94" Target="slides/slide89.xml" Type="http://schemas.openxmlformats.org/officeDocument/2006/relationships/slide"/><Relationship Id="rId95" Target="slides/slide90.xml" Type="http://schemas.openxmlformats.org/officeDocument/2006/relationships/slide"/><Relationship Id="rId96" Target="slides/slide91.xml" Type="http://schemas.openxmlformats.org/officeDocument/2006/relationships/slide"/><Relationship Id="rId97" Target="slides/slide92.xml" Type="http://schemas.openxmlformats.org/officeDocument/2006/relationships/slide"/><Relationship Id="rId98" Target="slides/slide93.xml" Type="http://schemas.openxmlformats.org/officeDocument/2006/relationships/slide"/><Relationship Id="rId99" Target="slides/slide9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png" Type="http://schemas.openxmlformats.org/officeDocument/2006/relationships/image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1.png" Type="http://schemas.openxmlformats.org/officeDocument/2006/relationships/image"/><Relationship Id="rId4" Target="../media/image3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2.png" Type="http://schemas.openxmlformats.org/officeDocument/2006/relationships/image"/><Relationship Id="rId4" Target="../media/image43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Relationship Id="rId3" Target="../media/image49.png" Type="http://schemas.openxmlformats.org/officeDocument/2006/relationships/image"/><Relationship Id="rId4" Target="../media/image50.png" Type="http://schemas.openxmlformats.org/officeDocument/2006/relationships/image"/><Relationship Id="rId5" Target="../media/image51.png" Type="http://schemas.openxmlformats.org/officeDocument/2006/relationships/image"/><Relationship Id="rId6" Target="../media/image52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media/image54.png" Type="http://schemas.openxmlformats.org/officeDocument/2006/relationships/image"/><Relationship Id="rId4" Target="../media/image55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3.png" Type="http://schemas.openxmlformats.org/officeDocument/2006/relationships/image"/><Relationship Id="rId11" Target="../media/image64.png" Type="http://schemas.openxmlformats.org/officeDocument/2006/relationships/image"/><Relationship Id="rId12" Target="../media/image65.png" Type="http://schemas.openxmlformats.org/officeDocument/2006/relationships/image"/><Relationship Id="rId13" Target="../media/image66.png" Type="http://schemas.openxmlformats.org/officeDocument/2006/relationships/image"/><Relationship Id="rId14" Target="../media/image67.png" Type="http://schemas.openxmlformats.org/officeDocument/2006/relationships/image"/><Relationship Id="rId15" Target="../media/image68.png" Type="http://schemas.openxmlformats.org/officeDocument/2006/relationships/image"/><Relationship Id="rId16" Target="../media/image69.png" Type="http://schemas.openxmlformats.org/officeDocument/2006/relationships/image"/><Relationship Id="rId17" Target="../media/image70.png" Type="http://schemas.openxmlformats.org/officeDocument/2006/relationships/image"/><Relationship Id="rId2" Target="../media/image56.png" Type="http://schemas.openxmlformats.org/officeDocument/2006/relationships/image"/><Relationship Id="rId3" Target="../embeddings/oleObject2.bin" Type="http://schemas.openxmlformats.org/officeDocument/2006/relationships/oleObject"/><Relationship Id="rId4" Target="../media/image57.png" Type="http://schemas.openxmlformats.org/officeDocument/2006/relationships/image"/><Relationship Id="rId5" Target="../media/image58.png" Type="http://schemas.openxmlformats.org/officeDocument/2006/relationships/image"/><Relationship Id="rId6" Target="../media/image59.png" Type="http://schemas.openxmlformats.org/officeDocument/2006/relationships/image"/><Relationship Id="rId7" Target="../media/image60.png" Type="http://schemas.openxmlformats.org/officeDocument/2006/relationships/image"/><Relationship Id="rId8" Target="../media/image61.png" Type="http://schemas.openxmlformats.org/officeDocument/2006/relationships/image"/><Relationship Id="rId9" Target="../media/image62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9.png" Type="http://schemas.openxmlformats.org/officeDocument/2006/relationships/image"/><Relationship Id="rId11" Target="../media/image80.png" Type="http://schemas.openxmlformats.org/officeDocument/2006/relationships/image"/><Relationship Id="rId2" Target="../media/image71.png" Type="http://schemas.openxmlformats.org/officeDocument/2006/relationships/image"/><Relationship Id="rId3" Target="../media/image72.png" Type="http://schemas.openxmlformats.org/officeDocument/2006/relationships/image"/><Relationship Id="rId4" Target="../media/image73.png" Type="http://schemas.openxmlformats.org/officeDocument/2006/relationships/image"/><Relationship Id="rId5" Target="../media/image74.png" Type="http://schemas.openxmlformats.org/officeDocument/2006/relationships/image"/><Relationship Id="rId6" Target="../media/image75.png" Type="http://schemas.openxmlformats.org/officeDocument/2006/relationships/image"/><Relationship Id="rId7" Target="../media/image76.png" Type="http://schemas.openxmlformats.org/officeDocument/2006/relationships/image"/><Relationship Id="rId8" Target="../media/image77.svg" Type="http://schemas.openxmlformats.org/officeDocument/2006/relationships/image"/><Relationship Id="rId9" Target="../media/image78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8.png" Type="http://schemas.openxmlformats.org/officeDocument/2006/relationships/image"/><Relationship Id="rId11" Target="../media/image89.png" Type="http://schemas.openxmlformats.org/officeDocument/2006/relationships/image"/><Relationship Id="rId12" Target="../media/image90.png" Type="http://schemas.openxmlformats.org/officeDocument/2006/relationships/image"/><Relationship Id="rId13" Target="../media/image91.png" Type="http://schemas.openxmlformats.org/officeDocument/2006/relationships/image"/><Relationship Id="rId14" Target="../media/image92.png" Type="http://schemas.openxmlformats.org/officeDocument/2006/relationships/image"/><Relationship Id="rId15" Target="../media/image93.png" Type="http://schemas.openxmlformats.org/officeDocument/2006/relationships/image"/><Relationship Id="rId16" Target="../media/image94.png" Type="http://schemas.openxmlformats.org/officeDocument/2006/relationships/image"/><Relationship Id="rId17" Target="../media/image95.png" Type="http://schemas.openxmlformats.org/officeDocument/2006/relationships/image"/><Relationship Id="rId18" Target="../media/image96.png" Type="http://schemas.openxmlformats.org/officeDocument/2006/relationships/image"/><Relationship Id="rId19" Target="../media/image97.png" Type="http://schemas.openxmlformats.org/officeDocument/2006/relationships/image"/><Relationship Id="rId2" Target="../media/image81.png" Type="http://schemas.openxmlformats.org/officeDocument/2006/relationships/image"/><Relationship Id="rId20" Target="../media/image98.png" Type="http://schemas.openxmlformats.org/officeDocument/2006/relationships/image"/><Relationship Id="rId21" Target="../media/image99.png" Type="http://schemas.openxmlformats.org/officeDocument/2006/relationships/image"/><Relationship Id="rId22" Target="../media/image100.png" Type="http://schemas.openxmlformats.org/officeDocument/2006/relationships/image"/><Relationship Id="rId23" Target="../media/image101.png" Type="http://schemas.openxmlformats.org/officeDocument/2006/relationships/image"/><Relationship Id="rId24" Target="../media/image102.png" Type="http://schemas.openxmlformats.org/officeDocument/2006/relationships/image"/><Relationship Id="rId25" Target="../media/image103.png" Type="http://schemas.openxmlformats.org/officeDocument/2006/relationships/image"/><Relationship Id="rId26" Target="../media/image104.png" Type="http://schemas.openxmlformats.org/officeDocument/2006/relationships/image"/><Relationship Id="rId27" Target="../media/image105.png" Type="http://schemas.openxmlformats.org/officeDocument/2006/relationships/image"/><Relationship Id="rId28" Target="../media/image106.png" Type="http://schemas.openxmlformats.org/officeDocument/2006/relationships/image"/><Relationship Id="rId29" Target="../media/image107.png" Type="http://schemas.openxmlformats.org/officeDocument/2006/relationships/image"/><Relationship Id="rId3" Target="../embeddings/oleObject3.bin" Type="http://schemas.openxmlformats.org/officeDocument/2006/relationships/oleObject"/><Relationship Id="rId30" Target="../media/image108.png" Type="http://schemas.openxmlformats.org/officeDocument/2006/relationships/image"/><Relationship Id="rId31" Target="../media/image109.png" Type="http://schemas.openxmlformats.org/officeDocument/2006/relationships/image"/><Relationship Id="rId4" Target="../media/image82.png" Type="http://schemas.openxmlformats.org/officeDocument/2006/relationships/image"/><Relationship Id="rId5" Target="../media/image83.png" Type="http://schemas.openxmlformats.org/officeDocument/2006/relationships/image"/><Relationship Id="rId6" Target="../media/image84.png" Type="http://schemas.openxmlformats.org/officeDocument/2006/relationships/image"/><Relationship Id="rId7" Target="../media/image85.png" Type="http://schemas.openxmlformats.org/officeDocument/2006/relationships/image"/><Relationship Id="rId8" Target="../media/image86.png" Type="http://schemas.openxmlformats.org/officeDocument/2006/relationships/image"/><Relationship Id="rId9" Target="../media/image87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0.png" Type="http://schemas.openxmlformats.org/officeDocument/2006/relationships/image"/><Relationship Id="rId3" Target="../media/image54.png" Type="http://schemas.openxmlformats.org/officeDocument/2006/relationships/image"/><Relationship Id="rId4" Target="../media/image55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9.png" Type="http://schemas.openxmlformats.org/officeDocument/2006/relationships/image"/><Relationship Id="rId2" Target="../media/image111.png" Type="http://schemas.openxmlformats.org/officeDocument/2006/relationships/image"/><Relationship Id="rId3" Target="../media/image112.png" Type="http://schemas.openxmlformats.org/officeDocument/2006/relationships/image"/><Relationship Id="rId4" Target="../media/image113.png" Type="http://schemas.openxmlformats.org/officeDocument/2006/relationships/image"/><Relationship Id="rId5" Target="../media/image114.png" Type="http://schemas.openxmlformats.org/officeDocument/2006/relationships/image"/><Relationship Id="rId6" Target="../media/image115.png" Type="http://schemas.openxmlformats.org/officeDocument/2006/relationships/image"/><Relationship Id="rId7" Target="../media/image116.png" Type="http://schemas.openxmlformats.org/officeDocument/2006/relationships/image"/><Relationship Id="rId8" Target="../media/image117.png" Type="http://schemas.openxmlformats.org/officeDocument/2006/relationships/image"/><Relationship Id="rId9" Target="../media/image118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7.png" Type="http://schemas.openxmlformats.org/officeDocument/2006/relationships/image"/><Relationship Id="rId11" Target="../media/image128.png" Type="http://schemas.openxmlformats.org/officeDocument/2006/relationships/image"/><Relationship Id="rId12" Target="../media/image129.png" Type="http://schemas.openxmlformats.org/officeDocument/2006/relationships/image"/><Relationship Id="rId13" Target="../media/image130.png" Type="http://schemas.openxmlformats.org/officeDocument/2006/relationships/image"/><Relationship Id="rId14" Target="../media/image131.png" Type="http://schemas.openxmlformats.org/officeDocument/2006/relationships/image"/><Relationship Id="rId15" Target="../media/image132.png" Type="http://schemas.openxmlformats.org/officeDocument/2006/relationships/image"/><Relationship Id="rId16" Target="../media/image133.png" Type="http://schemas.openxmlformats.org/officeDocument/2006/relationships/image"/><Relationship Id="rId17" Target="../media/image134.png" Type="http://schemas.openxmlformats.org/officeDocument/2006/relationships/image"/><Relationship Id="rId18" Target="../media/image135.png" Type="http://schemas.openxmlformats.org/officeDocument/2006/relationships/image"/><Relationship Id="rId19" Target="../media/image136.png" Type="http://schemas.openxmlformats.org/officeDocument/2006/relationships/image"/><Relationship Id="rId2" Target="../media/image120.png" Type="http://schemas.openxmlformats.org/officeDocument/2006/relationships/image"/><Relationship Id="rId20" Target="../media/image137.png" Type="http://schemas.openxmlformats.org/officeDocument/2006/relationships/image"/><Relationship Id="rId21" Target="../media/image138.png" Type="http://schemas.openxmlformats.org/officeDocument/2006/relationships/image"/><Relationship Id="rId22" Target="../media/image139.png" Type="http://schemas.openxmlformats.org/officeDocument/2006/relationships/image"/><Relationship Id="rId23" Target="../media/image140.png" Type="http://schemas.openxmlformats.org/officeDocument/2006/relationships/image"/><Relationship Id="rId24" Target="../media/image141.png" Type="http://schemas.openxmlformats.org/officeDocument/2006/relationships/image"/><Relationship Id="rId25" Target="../media/image142.png" Type="http://schemas.openxmlformats.org/officeDocument/2006/relationships/image"/><Relationship Id="rId26" Target="../media/image143.png" Type="http://schemas.openxmlformats.org/officeDocument/2006/relationships/image"/><Relationship Id="rId27" Target="../media/image144.png" Type="http://schemas.openxmlformats.org/officeDocument/2006/relationships/image"/><Relationship Id="rId28" Target="../media/image145.png" Type="http://schemas.openxmlformats.org/officeDocument/2006/relationships/image"/><Relationship Id="rId29" Target="../media/image146.png" Type="http://schemas.openxmlformats.org/officeDocument/2006/relationships/image"/><Relationship Id="rId3" Target="../embeddings/oleObject4.bin" Type="http://schemas.openxmlformats.org/officeDocument/2006/relationships/oleObject"/><Relationship Id="rId30" Target="../media/image147.png" Type="http://schemas.openxmlformats.org/officeDocument/2006/relationships/image"/><Relationship Id="rId31" Target="../media/image148.png" Type="http://schemas.openxmlformats.org/officeDocument/2006/relationships/image"/><Relationship Id="rId32" Target="../media/image149.png" Type="http://schemas.openxmlformats.org/officeDocument/2006/relationships/image"/><Relationship Id="rId33" Target="../media/image150.png" Type="http://schemas.openxmlformats.org/officeDocument/2006/relationships/image"/><Relationship Id="rId34" Target="../media/image151.png" Type="http://schemas.openxmlformats.org/officeDocument/2006/relationships/image"/><Relationship Id="rId35" Target="../media/image152.png" Type="http://schemas.openxmlformats.org/officeDocument/2006/relationships/image"/><Relationship Id="rId4" Target="../media/image121.png" Type="http://schemas.openxmlformats.org/officeDocument/2006/relationships/image"/><Relationship Id="rId5" Target="../media/image122.png" Type="http://schemas.openxmlformats.org/officeDocument/2006/relationships/image"/><Relationship Id="rId6" Target="../media/image123.png" Type="http://schemas.openxmlformats.org/officeDocument/2006/relationships/image"/><Relationship Id="rId7" Target="../media/image124.png" Type="http://schemas.openxmlformats.org/officeDocument/2006/relationships/image"/><Relationship Id="rId8" Target="../media/image125.png" Type="http://schemas.openxmlformats.org/officeDocument/2006/relationships/image"/><Relationship Id="rId9" Target="../media/image126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3.png" Type="http://schemas.openxmlformats.org/officeDocument/2006/relationships/image"/><Relationship Id="rId3" Target="../media/image54.png" Type="http://schemas.openxmlformats.org/officeDocument/2006/relationships/image"/><Relationship Id="rId4" Target="../media/image55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4.png" Type="http://schemas.openxmlformats.org/officeDocument/2006/relationships/image"/><Relationship Id="rId3" Target="../media/image155.png" Type="http://schemas.openxmlformats.org/officeDocument/2006/relationships/image"/><Relationship Id="rId4" Target="../media/image156.png" Type="http://schemas.openxmlformats.org/officeDocument/2006/relationships/image"/><Relationship Id="rId5" Target="../media/image157.png" Type="http://schemas.openxmlformats.org/officeDocument/2006/relationships/image"/><Relationship Id="rId6" Target="../media/image158.png" Type="http://schemas.openxmlformats.org/officeDocument/2006/relationships/image"/><Relationship Id="rId7" Target="../media/image159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0.png" Type="http://schemas.openxmlformats.org/officeDocument/2006/relationships/image"/><Relationship Id="rId3" Target="../media/image161.png" Type="http://schemas.openxmlformats.org/officeDocument/2006/relationships/image"/><Relationship Id="rId4" Target="../media/image162.png" Type="http://schemas.openxmlformats.org/officeDocument/2006/relationships/image"/><Relationship Id="rId5" Target="../media/image163.png" Type="http://schemas.openxmlformats.org/officeDocument/2006/relationships/image"/><Relationship Id="rId6" Target="../media/image164.png" Type="http://schemas.openxmlformats.org/officeDocument/2006/relationships/image"/><Relationship Id="rId7" Target="../media/image165.png" Type="http://schemas.openxmlformats.org/officeDocument/2006/relationships/image"/><Relationship Id="rId8" Target="../media/image166.png" Type="http://schemas.openxmlformats.org/officeDocument/2006/relationships/image"/><Relationship Id="rId9" Target="../media/image167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6.png" Type="http://schemas.openxmlformats.org/officeDocument/2006/relationships/image"/><Relationship Id="rId11" Target="../media/image177.png" Type="http://schemas.openxmlformats.org/officeDocument/2006/relationships/image"/><Relationship Id="rId12" Target="../media/image178.png" Type="http://schemas.openxmlformats.org/officeDocument/2006/relationships/image"/><Relationship Id="rId13" Target="../media/image179.png" Type="http://schemas.openxmlformats.org/officeDocument/2006/relationships/image"/><Relationship Id="rId14" Target="../media/image180.png" Type="http://schemas.openxmlformats.org/officeDocument/2006/relationships/image"/><Relationship Id="rId15" Target="../media/image181.png" Type="http://schemas.openxmlformats.org/officeDocument/2006/relationships/image"/><Relationship Id="rId16" Target="../media/image182.svg" Type="http://schemas.openxmlformats.org/officeDocument/2006/relationships/image"/><Relationship Id="rId2" Target="../media/image168.png" Type="http://schemas.openxmlformats.org/officeDocument/2006/relationships/image"/><Relationship Id="rId3" Target="../media/image169.png" Type="http://schemas.openxmlformats.org/officeDocument/2006/relationships/image"/><Relationship Id="rId4" Target="../media/image170.png" Type="http://schemas.openxmlformats.org/officeDocument/2006/relationships/image"/><Relationship Id="rId5" Target="../media/image171.png" Type="http://schemas.openxmlformats.org/officeDocument/2006/relationships/image"/><Relationship Id="rId6" Target="../media/image172.png" Type="http://schemas.openxmlformats.org/officeDocument/2006/relationships/image"/><Relationship Id="rId7" Target="../media/image173.png" Type="http://schemas.openxmlformats.org/officeDocument/2006/relationships/image"/><Relationship Id="rId8" Target="../media/image174.png" Type="http://schemas.openxmlformats.org/officeDocument/2006/relationships/image"/><Relationship Id="rId9" Target="../media/image175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1.png" Type="http://schemas.openxmlformats.org/officeDocument/2006/relationships/image"/><Relationship Id="rId11" Target="../media/image182.svg" Type="http://schemas.openxmlformats.org/officeDocument/2006/relationships/image"/><Relationship Id="rId2" Target="../media/image183.png" Type="http://schemas.openxmlformats.org/officeDocument/2006/relationships/image"/><Relationship Id="rId3" Target="../media/image184.png" Type="http://schemas.openxmlformats.org/officeDocument/2006/relationships/image"/><Relationship Id="rId4" Target="../media/image185.png" Type="http://schemas.openxmlformats.org/officeDocument/2006/relationships/image"/><Relationship Id="rId5" Target="../media/image186.png" Type="http://schemas.openxmlformats.org/officeDocument/2006/relationships/image"/><Relationship Id="rId6" Target="../media/image187.png" Type="http://schemas.openxmlformats.org/officeDocument/2006/relationships/image"/><Relationship Id="rId7" Target="../media/image188.png" Type="http://schemas.openxmlformats.org/officeDocument/2006/relationships/image"/><Relationship Id="rId8" Target="../media/image189.png" Type="http://schemas.openxmlformats.org/officeDocument/2006/relationships/image"/><Relationship Id="rId9" Target="../media/image190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9.png" Type="http://schemas.openxmlformats.org/officeDocument/2006/relationships/image"/><Relationship Id="rId11" Target="../media/image200.png" Type="http://schemas.openxmlformats.org/officeDocument/2006/relationships/image"/><Relationship Id="rId12" Target="../media/image158.png" Type="http://schemas.openxmlformats.org/officeDocument/2006/relationships/image"/><Relationship Id="rId13" Target="../media/image159.svg" Type="http://schemas.openxmlformats.org/officeDocument/2006/relationships/image"/><Relationship Id="rId2" Target="../media/image191.png" Type="http://schemas.openxmlformats.org/officeDocument/2006/relationships/image"/><Relationship Id="rId3" Target="../media/image192.png" Type="http://schemas.openxmlformats.org/officeDocument/2006/relationships/image"/><Relationship Id="rId4" Target="../media/image193.png" Type="http://schemas.openxmlformats.org/officeDocument/2006/relationships/image"/><Relationship Id="rId5" Target="../media/image194.png" Type="http://schemas.openxmlformats.org/officeDocument/2006/relationships/image"/><Relationship Id="rId6" Target="../media/image195.png" Type="http://schemas.openxmlformats.org/officeDocument/2006/relationships/image"/><Relationship Id="rId7" Target="../media/image196.png" Type="http://schemas.openxmlformats.org/officeDocument/2006/relationships/image"/><Relationship Id="rId8" Target="../media/image197.png" Type="http://schemas.openxmlformats.org/officeDocument/2006/relationships/image"/><Relationship Id="rId9" Target="../media/image198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9.png" Type="http://schemas.openxmlformats.org/officeDocument/2006/relationships/image"/><Relationship Id="rId11" Target="../media/image158.png" Type="http://schemas.openxmlformats.org/officeDocument/2006/relationships/image"/><Relationship Id="rId12" Target="../media/image159.svg" Type="http://schemas.openxmlformats.org/officeDocument/2006/relationships/image"/><Relationship Id="rId13" Target="../media/image210.png" Type="http://schemas.openxmlformats.org/officeDocument/2006/relationships/image"/><Relationship Id="rId2" Target="../media/image201.png" Type="http://schemas.openxmlformats.org/officeDocument/2006/relationships/image"/><Relationship Id="rId3" Target="../media/image202.png" Type="http://schemas.openxmlformats.org/officeDocument/2006/relationships/image"/><Relationship Id="rId4" Target="../media/image203.png" Type="http://schemas.openxmlformats.org/officeDocument/2006/relationships/image"/><Relationship Id="rId5" Target="../media/image204.png" Type="http://schemas.openxmlformats.org/officeDocument/2006/relationships/image"/><Relationship Id="rId6" Target="../media/image205.png" Type="http://schemas.openxmlformats.org/officeDocument/2006/relationships/image"/><Relationship Id="rId7" Target="../media/image206.png" Type="http://schemas.openxmlformats.org/officeDocument/2006/relationships/image"/><Relationship Id="rId8" Target="../media/image207.png" Type="http://schemas.openxmlformats.org/officeDocument/2006/relationships/image"/><Relationship Id="rId9" Target="../media/image208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7.png" Type="http://schemas.openxmlformats.org/officeDocument/2006/relationships/image"/><Relationship Id="rId11" Target="../media/image218.png" Type="http://schemas.openxmlformats.org/officeDocument/2006/relationships/image"/><Relationship Id="rId12" Target="../media/image219.png" Type="http://schemas.openxmlformats.org/officeDocument/2006/relationships/image"/><Relationship Id="rId13" Target="../media/image220.png" Type="http://schemas.openxmlformats.org/officeDocument/2006/relationships/image"/><Relationship Id="rId14" Target="../media/image221.png" Type="http://schemas.openxmlformats.org/officeDocument/2006/relationships/image"/><Relationship Id="rId2" Target="../media/image211.png" Type="http://schemas.openxmlformats.org/officeDocument/2006/relationships/image"/><Relationship Id="rId3" Target="../media/image212.png" Type="http://schemas.openxmlformats.org/officeDocument/2006/relationships/image"/><Relationship Id="rId4" Target="../media/image213.png" Type="http://schemas.openxmlformats.org/officeDocument/2006/relationships/image"/><Relationship Id="rId5" Target="../media/image214.png" Type="http://schemas.openxmlformats.org/officeDocument/2006/relationships/image"/><Relationship Id="rId6" Target="../media/image215.png" Type="http://schemas.openxmlformats.org/officeDocument/2006/relationships/image"/><Relationship Id="rId7" Target="../media/image216.png" Type="http://schemas.openxmlformats.org/officeDocument/2006/relationships/image"/><Relationship Id="rId8" Target="../media/image158.png" Type="http://schemas.openxmlformats.org/officeDocument/2006/relationships/image"/><Relationship Id="rId9" Target="../media/image159.sv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2.png" Type="http://schemas.openxmlformats.org/officeDocument/2006/relationships/image"/><Relationship Id="rId3" Target="../media/image54.png" Type="http://schemas.openxmlformats.org/officeDocument/2006/relationships/image"/><Relationship Id="rId4" Target="../media/image55.sv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3.png" Type="http://schemas.openxmlformats.org/officeDocument/2006/relationships/image"/><Relationship Id="rId3" Target="../media/image224.png" Type="http://schemas.openxmlformats.org/officeDocument/2006/relationships/image"/><Relationship Id="rId4" Target="../media/image225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6.png" Type="http://schemas.openxmlformats.org/officeDocument/2006/relationships/image"/><Relationship Id="rId3" Target="../media/image227.png" Type="http://schemas.openxmlformats.org/officeDocument/2006/relationships/image"/><Relationship Id="rId4" Target="../media/image228.png" Type="http://schemas.openxmlformats.org/officeDocument/2006/relationships/image"/><Relationship Id="rId5" Target="../media/image229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0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1.png" Type="http://schemas.openxmlformats.org/officeDocument/2006/relationships/image"/><Relationship Id="rId3" Target="../media/image232.png" Type="http://schemas.openxmlformats.org/officeDocument/2006/relationships/image"/><Relationship Id="rId4" Target="../media/image233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4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5.png" Type="http://schemas.openxmlformats.org/officeDocument/2006/relationships/image"/><Relationship Id="rId3" Target="../media/image158.png" Type="http://schemas.openxmlformats.org/officeDocument/2006/relationships/image"/><Relationship Id="rId4" Target="../media/image159.svg" Type="http://schemas.openxmlformats.org/officeDocument/2006/relationships/image"/><Relationship Id="rId5" Target="../media/image236.png" Type="http://schemas.openxmlformats.org/officeDocument/2006/relationships/image"/><Relationship Id="rId6" Target="../media/image237.png" Type="http://schemas.openxmlformats.org/officeDocument/2006/relationships/image"/><Relationship Id="rId7" Target="../media/image238.png" Type="http://schemas.openxmlformats.org/officeDocument/2006/relationships/image"/><Relationship Id="rId8" Target="../media/image239.png" Type="http://schemas.openxmlformats.org/officeDocument/2006/relationships/image"/><Relationship Id="rId9" Target="../media/image240.pn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9.png" Type="http://schemas.openxmlformats.org/officeDocument/2006/relationships/image"/><Relationship Id="rId11" Target="../media/image250.png" Type="http://schemas.openxmlformats.org/officeDocument/2006/relationships/image"/><Relationship Id="rId12" Target="../media/image251.png" Type="http://schemas.openxmlformats.org/officeDocument/2006/relationships/image"/><Relationship Id="rId13" Target="../media/image252.png" Type="http://schemas.openxmlformats.org/officeDocument/2006/relationships/image"/><Relationship Id="rId14" Target="../media/image181.png" Type="http://schemas.openxmlformats.org/officeDocument/2006/relationships/image"/><Relationship Id="rId15" Target="../media/image182.svg" Type="http://schemas.openxmlformats.org/officeDocument/2006/relationships/image"/><Relationship Id="rId16" Target="../media/image253.png" Type="http://schemas.openxmlformats.org/officeDocument/2006/relationships/image"/><Relationship Id="rId17" Target="../media/image254.png" Type="http://schemas.openxmlformats.org/officeDocument/2006/relationships/image"/><Relationship Id="rId18" Target="../media/image255.png" Type="http://schemas.openxmlformats.org/officeDocument/2006/relationships/image"/><Relationship Id="rId19" Target="../media/image256.png" Type="http://schemas.openxmlformats.org/officeDocument/2006/relationships/image"/><Relationship Id="rId2" Target="../media/image241.png" Type="http://schemas.openxmlformats.org/officeDocument/2006/relationships/image"/><Relationship Id="rId20" Target="../media/image257.png" Type="http://schemas.openxmlformats.org/officeDocument/2006/relationships/image"/><Relationship Id="rId21" Target="../media/image258.png" Type="http://schemas.openxmlformats.org/officeDocument/2006/relationships/image"/><Relationship Id="rId22" Target="../media/image259.png" Type="http://schemas.openxmlformats.org/officeDocument/2006/relationships/image"/><Relationship Id="rId3" Target="../media/image242.png" Type="http://schemas.openxmlformats.org/officeDocument/2006/relationships/image"/><Relationship Id="rId4" Target="../media/image243.png" Type="http://schemas.openxmlformats.org/officeDocument/2006/relationships/image"/><Relationship Id="rId5" Target="../media/image244.png" Type="http://schemas.openxmlformats.org/officeDocument/2006/relationships/image"/><Relationship Id="rId6" Target="../media/image245.png" Type="http://schemas.openxmlformats.org/officeDocument/2006/relationships/image"/><Relationship Id="rId7" Target="../media/image246.png" Type="http://schemas.openxmlformats.org/officeDocument/2006/relationships/image"/><Relationship Id="rId8" Target="../media/image247.png" Type="http://schemas.openxmlformats.org/officeDocument/2006/relationships/image"/><Relationship Id="rId9" Target="../media/image248.pn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0.png" Type="http://schemas.openxmlformats.org/officeDocument/2006/relationships/image"/><Relationship Id="rId3" Target="../media/image261.png" Type="http://schemas.openxmlformats.org/officeDocument/2006/relationships/image"/><Relationship Id="rId4" Target="../media/image262.png" Type="http://schemas.openxmlformats.org/officeDocument/2006/relationships/image"/><Relationship Id="rId5" Target="../media/image263.pn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4.png" Type="http://schemas.openxmlformats.org/officeDocument/2006/relationships/image"/><Relationship Id="rId3" Target="../media/image265.png" Type="http://schemas.openxmlformats.org/officeDocument/2006/relationships/image"/><Relationship Id="rId4" Target="../media/image266.png" Type="http://schemas.openxmlformats.org/officeDocument/2006/relationships/image"/><Relationship Id="rId5" Target="../media/image267.pn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8.png" Type="http://schemas.openxmlformats.org/officeDocument/2006/relationships/image"/><Relationship Id="rId3" Target="../media/image269.png" Type="http://schemas.openxmlformats.org/officeDocument/2006/relationships/image"/><Relationship Id="rId4" Target="../media/image270.png" Type="http://schemas.openxmlformats.org/officeDocument/2006/relationships/image"/><Relationship Id="rId5" Target="../media/image271.pn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2.png" Type="http://schemas.openxmlformats.org/officeDocument/2006/relationships/image"/><Relationship Id="rId3" Target="../media/image273.png" Type="http://schemas.openxmlformats.org/officeDocument/2006/relationships/image"/><Relationship Id="rId4" Target="../media/image274.png" Type="http://schemas.openxmlformats.org/officeDocument/2006/relationships/image"/><Relationship Id="rId5" Target="../media/image181.png" Type="http://schemas.openxmlformats.org/officeDocument/2006/relationships/image"/><Relationship Id="rId6" Target="../media/image182.sv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5.png" Type="http://schemas.openxmlformats.org/officeDocument/2006/relationships/image"/><Relationship Id="rId3" Target="../media/image276.png" Type="http://schemas.openxmlformats.org/officeDocument/2006/relationships/image"/><Relationship Id="rId4" Target="../media/image277.pn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6.png" Type="http://schemas.openxmlformats.org/officeDocument/2006/relationships/image"/><Relationship Id="rId11" Target="../media/image287.png" Type="http://schemas.openxmlformats.org/officeDocument/2006/relationships/image"/><Relationship Id="rId12" Target="../media/image288.png" Type="http://schemas.openxmlformats.org/officeDocument/2006/relationships/image"/><Relationship Id="rId13" Target="../media/image289.png" Type="http://schemas.openxmlformats.org/officeDocument/2006/relationships/image"/><Relationship Id="rId14" Target="../media/image290.png" Type="http://schemas.openxmlformats.org/officeDocument/2006/relationships/image"/><Relationship Id="rId15" Target="../media/image275.png" Type="http://schemas.openxmlformats.org/officeDocument/2006/relationships/image"/><Relationship Id="rId2" Target="../media/image278.png" Type="http://schemas.openxmlformats.org/officeDocument/2006/relationships/image"/><Relationship Id="rId3" Target="../media/image279.png" Type="http://schemas.openxmlformats.org/officeDocument/2006/relationships/image"/><Relationship Id="rId4" Target="../media/image280.png" Type="http://schemas.openxmlformats.org/officeDocument/2006/relationships/image"/><Relationship Id="rId5" Target="../media/image281.png" Type="http://schemas.openxmlformats.org/officeDocument/2006/relationships/image"/><Relationship Id="rId6" Target="../media/image282.png" Type="http://schemas.openxmlformats.org/officeDocument/2006/relationships/image"/><Relationship Id="rId7" Target="../media/image283.png" Type="http://schemas.openxmlformats.org/officeDocument/2006/relationships/image"/><Relationship Id="rId8" Target="../media/image284.png" Type="http://schemas.openxmlformats.org/officeDocument/2006/relationships/image"/><Relationship Id="rId9" Target="../media/image285.png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1.png" Type="http://schemas.openxmlformats.org/officeDocument/2006/relationships/image"/><Relationship Id="rId3" Target="../media/image292.png" Type="http://schemas.openxmlformats.org/officeDocument/2006/relationships/image"/><Relationship Id="rId4" Target="../media/image293.png" Type="http://schemas.openxmlformats.org/officeDocument/2006/relationships/image"/><Relationship Id="rId5" Target="../media/image294.png" Type="http://schemas.openxmlformats.org/officeDocument/2006/relationships/image"/><Relationship Id="rId6" Target="../media/image295.png" Type="http://schemas.openxmlformats.org/officeDocument/2006/relationships/image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6.png" Type="http://schemas.openxmlformats.org/officeDocument/2006/relationships/image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7.png" Type="http://schemas.openxmlformats.org/officeDocument/2006/relationships/image"/><Relationship Id="rId3" Target="../media/image298.svg" Type="http://schemas.openxmlformats.org/officeDocument/2006/relationships/image"/><Relationship Id="rId4" Target="../media/image299.png" Type="http://schemas.openxmlformats.org/officeDocument/2006/relationships/image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0.png" Type="http://schemas.openxmlformats.org/officeDocument/2006/relationships/image"/><Relationship Id="rId3" Target="../media/image301.png" Type="http://schemas.openxmlformats.org/officeDocument/2006/relationships/image"/><Relationship Id="rId4" Target="../media/image302.png" Type="http://schemas.openxmlformats.org/officeDocument/2006/relationships/image"/><Relationship Id="rId5" Target="../media/image303.png" Type="http://schemas.openxmlformats.org/officeDocument/2006/relationships/image"/><Relationship Id="rId6" Target="../media/image304.png" Type="http://schemas.openxmlformats.org/officeDocument/2006/relationships/image"/></Relationships>
</file>

<file path=ppt/slides/_rels/slide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0.png" Type="http://schemas.openxmlformats.org/officeDocument/2006/relationships/image"/><Relationship Id="rId3" Target="../media/image301.png" Type="http://schemas.openxmlformats.org/officeDocument/2006/relationships/image"/><Relationship Id="rId4" Target="../media/image305.png" Type="http://schemas.openxmlformats.org/officeDocument/2006/relationships/image"/><Relationship Id="rId5" Target="../media/image306.png" Type="http://schemas.openxmlformats.org/officeDocument/2006/relationships/image"/></Relationships>
</file>

<file path=ppt/slides/_rels/slide5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0.png" Type="http://schemas.openxmlformats.org/officeDocument/2006/relationships/image"/><Relationship Id="rId3" Target="../media/image301.png" Type="http://schemas.openxmlformats.org/officeDocument/2006/relationships/image"/><Relationship Id="rId4" Target="../media/image307.png" Type="http://schemas.openxmlformats.org/officeDocument/2006/relationships/image"/><Relationship Id="rId5" Target="../media/image308.png" Type="http://schemas.openxmlformats.org/officeDocument/2006/relationships/image"/><Relationship Id="rId6" Target="../media/image309.png" Type="http://schemas.openxmlformats.org/officeDocument/2006/relationships/image"/></Relationships>
</file>

<file path=ppt/slides/_rels/slide6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0.png" Type="http://schemas.openxmlformats.org/officeDocument/2006/relationships/image"/><Relationship Id="rId3" Target="../embeddings/oleObject5.bin" Type="http://schemas.openxmlformats.org/officeDocument/2006/relationships/oleObject"/><Relationship Id="rId4" Target="../media/image301.png" Type="http://schemas.openxmlformats.org/officeDocument/2006/relationships/image"/><Relationship Id="rId5" Target="../media/image311.png" Type="http://schemas.openxmlformats.org/officeDocument/2006/relationships/image"/></Relationships>
</file>

<file path=ppt/slides/_rels/slide6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2.png" Type="http://schemas.openxmlformats.org/officeDocument/2006/relationships/image"/><Relationship Id="rId3" Target="../embeddings/oleObject6.bin" Type="http://schemas.openxmlformats.org/officeDocument/2006/relationships/oleObject"/><Relationship Id="rId4" Target="../media/image301.png" Type="http://schemas.openxmlformats.org/officeDocument/2006/relationships/image"/><Relationship Id="rId5" Target="../media/image311.png" Type="http://schemas.openxmlformats.org/officeDocument/2006/relationships/image"/></Relationships>
</file>

<file path=ppt/slides/_rels/slide6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3.png" Type="http://schemas.openxmlformats.org/officeDocument/2006/relationships/image"/><Relationship Id="rId3" Target="../embeddings/oleObject7.bin" Type="http://schemas.openxmlformats.org/officeDocument/2006/relationships/oleObject"/><Relationship Id="rId4" Target="../media/image301.png" Type="http://schemas.openxmlformats.org/officeDocument/2006/relationships/image"/><Relationship Id="rId5" Target="../media/image311.png" Type="http://schemas.openxmlformats.org/officeDocument/2006/relationships/image"/></Relationships>
</file>

<file path=ppt/slides/_rels/slide6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4.png" Type="http://schemas.openxmlformats.org/officeDocument/2006/relationships/image"/><Relationship Id="rId3" Target="../embeddings/oleObject8.bin" Type="http://schemas.openxmlformats.org/officeDocument/2006/relationships/oleObject"/><Relationship Id="rId4" Target="../media/image301.png" Type="http://schemas.openxmlformats.org/officeDocument/2006/relationships/image"/><Relationship Id="rId5" Target="../media/image311.png" Type="http://schemas.openxmlformats.org/officeDocument/2006/relationships/image"/></Relationships>
</file>

<file path=ppt/slides/_rels/slide6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5.png" Type="http://schemas.openxmlformats.org/officeDocument/2006/relationships/image"/><Relationship Id="rId3" Target="../embeddings/oleObject9.bin" Type="http://schemas.openxmlformats.org/officeDocument/2006/relationships/oleObject"/><Relationship Id="rId4" Target="../media/image301.png" Type="http://schemas.openxmlformats.org/officeDocument/2006/relationships/image"/><Relationship Id="rId5" Target="../media/image311.png" Type="http://schemas.openxmlformats.org/officeDocument/2006/relationships/image"/></Relationships>
</file>

<file path=ppt/slides/_rels/slide6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6.png" Type="http://schemas.openxmlformats.org/officeDocument/2006/relationships/image"/><Relationship Id="rId3" Target="../embeddings/oleObject10.bin" Type="http://schemas.openxmlformats.org/officeDocument/2006/relationships/oleObject"/><Relationship Id="rId4" Target="../media/image301.png" Type="http://schemas.openxmlformats.org/officeDocument/2006/relationships/image"/><Relationship Id="rId5" Target="../media/image311.png" Type="http://schemas.openxmlformats.org/officeDocument/2006/relationships/image"/></Relationships>
</file>

<file path=ppt/slides/_rels/slide6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7.png" Type="http://schemas.openxmlformats.org/officeDocument/2006/relationships/image"/><Relationship Id="rId3" Target="../embeddings/oleObject11.bin" Type="http://schemas.openxmlformats.org/officeDocument/2006/relationships/oleObject"/><Relationship Id="rId4" Target="../media/image301.png" Type="http://schemas.openxmlformats.org/officeDocument/2006/relationships/image"/><Relationship Id="rId5" Target="../media/image311.png" Type="http://schemas.openxmlformats.org/officeDocument/2006/relationships/image"/></Relationships>
</file>

<file path=ppt/slides/_rels/slide6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8.png" Type="http://schemas.openxmlformats.org/officeDocument/2006/relationships/image"/><Relationship Id="rId3" Target="../embeddings/oleObject12.bin" Type="http://schemas.openxmlformats.org/officeDocument/2006/relationships/oleObject"/><Relationship Id="rId4" Target="../media/image301.png" Type="http://schemas.openxmlformats.org/officeDocument/2006/relationships/image"/><Relationship Id="rId5" Target="../media/image311.png" Type="http://schemas.openxmlformats.org/officeDocument/2006/relationships/image"/></Relationships>
</file>

<file path=ppt/slides/_rels/slide6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9.png" Type="http://schemas.openxmlformats.org/officeDocument/2006/relationships/image"/><Relationship Id="rId3" Target="../embeddings/oleObject13.bin" Type="http://schemas.openxmlformats.org/officeDocument/2006/relationships/oleObject"/><Relationship Id="rId4" Target="../media/image301.png" Type="http://schemas.openxmlformats.org/officeDocument/2006/relationships/image"/><Relationship Id="rId5" Target="../media/image311.png" Type="http://schemas.openxmlformats.org/officeDocument/2006/relationships/image"/></Relationships>
</file>

<file path=ppt/slides/_rels/slide6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0.png" Type="http://schemas.openxmlformats.org/officeDocument/2006/relationships/image"/><Relationship Id="rId3" Target="../embeddings/oleObject14.bin" Type="http://schemas.openxmlformats.org/officeDocument/2006/relationships/oleObject"/><Relationship Id="rId4" Target="../media/image301.png" Type="http://schemas.openxmlformats.org/officeDocument/2006/relationships/image"/><Relationship Id="rId5" Target="../media/image311.png" Type="http://schemas.openxmlformats.org/officeDocument/2006/relationships/image"/></Relationships>
</file>

<file path=ppt/slides/_rels/slide7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1.png" Type="http://schemas.openxmlformats.org/officeDocument/2006/relationships/image"/><Relationship Id="rId3" Target="../media/image322.png" Type="http://schemas.openxmlformats.org/officeDocument/2006/relationships/image"/></Relationships>
</file>

<file path=ppt/slides/_rels/slide7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1.png" Type="http://schemas.openxmlformats.org/officeDocument/2006/relationships/image"/><Relationship Id="rId3" Target="../media/image323.png" Type="http://schemas.openxmlformats.org/officeDocument/2006/relationships/image"/><Relationship Id="rId4" Target="../media/image324.png" Type="http://schemas.openxmlformats.org/officeDocument/2006/relationships/image"/></Relationships>
</file>

<file path=ppt/slides/_rels/slide7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1.png" Type="http://schemas.openxmlformats.org/officeDocument/2006/relationships/image"/><Relationship Id="rId3" Target="../media/image325.png" Type="http://schemas.openxmlformats.org/officeDocument/2006/relationships/image"/><Relationship Id="rId4" Target="../media/image326.png" Type="http://schemas.openxmlformats.org/officeDocument/2006/relationships/image"/></Relationships>
</file>

<file path=ppt/slides/_rels/slide7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7.png" Type="http://schemas.openxmlformats.org/officeDocument/2006/relationships/image"/><Relationship Id="rId3" Target="../embeddings/oleObject15.bin" Type="http://schemas.openxmlformats.org/officeDocument/2006/relationships/oleObject"/><Relationship Id="rId4" Target="../media/image322.png" Type="http://schemas.openxmlformats.org/officeDocument/2006/relationships/image"/><Relationship Id="rId5" Target="../media/image324.png" Type="http://schemas.openxmlformats.org/officeDocument/2006/relationships/image"/><Relationship Id="rId6" Target="../media/image326.png" Type="http://schemas.openxmlformats.org/officeDocument/2006/relationships/image"/></Relationships>
</file>

<file path=ppt/slides/_rels/slide7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8.png" Type="http://schemas.openxmlformats.org/officeDocument/2006/relationships/image"/><Relationship Id="rId3" Target="../embeddings/oleObject16.bin" Type="http://schemas.openxmlformats.org/officeDocument/2006/relationships/oleObject"/><Relationship Id="rId4" Target="../media/image322.png" Type="http://schemas.openxmlformats.org/officeDocument/2006/relationships/image"/><Relationship Id="rId5" Target="../media/image324.png" Type="http://schemas.openxmlformats.org/officeDocument/2006/relationships/image"/><Relationship Id="rId6" Target="../media/image329.png" Type="http://schemas.openxmlformats.org/officeDocument/2006/relationships/image"/><Relationship Id="rId7" Target="../media/image330.svg" Type="http://schemas.openxmlformats.org/officeDocument/2006/relationships/image"/><Relationship Id="rId8" Target="../media/image326.png" Type="http://schemas.openxmlformats.org/officeDocument/2006/relationships/image"/></Relationships>
</file>

<file path=ppt/slides/_rels/slide7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1.png" Type="http://schemas.openxmlformats.org/officeDocument/2006/relationships/image"/><Relationship Id="rId3" Target="../embeddings/oleObject17.bin" Type="http://schemas.openxmlformats.org/officeDocument/2006/relationships/oleObject"/><Relationship Id="rId4" Target="../media/image322.png" Type="http://schemas.openxmlformats.org/officeDocument/2006/relationships/image"/><Relationship Id="rId5" Target="../media/image324.png" Type="http://schemas.openxmlformats.org/officeDocument/2006/relationships/image"/><Relationship Id="rId6" Target="../media/image329.png" Type="http://schemas.openxmlformats.org/officeDocument/2006/relationships/image"/><Relationship Id="rId7" Target="../media/image330.svg" Type="http://schemas.openxmlformats.org/officeDocument/2006/relationships/image"/><Relationship Id="rId8" Target="../media/image326.png" Type="http://schemas.openxmlformats.org/officeDocument/2006/relationships/image"/></Relationships>
</file>

<file path=ppt/slides/_rels/slide7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2.png" Type="http://schemas.openxmlformats.org/officeDocument/2006/relationships/image"/><Relationship Id="rId3" Target="../embeddings/oleObject18.bin" Type="http://schemas.openxmlformats.org/officeDocument/2006/relationships/oleObject"/><Relationship Id="rId4" Target="../media/image322.png" Type="http://schemas.openxmlformats.org/officeDocument/2006/relationships/image"/><Relationship Id="rId5" Target="../media/image324.png" Type="http://schemas.openxmlformats.org/officeDocument/2006/relationships/image"/><Relationship Id="rId6" Target="../media/image326.png" Type="http://schemas.openxmlformats.org/officeDocument/2006/relationships/image"/></Relationships>
</file>

<file path=ppt/slides/_rels/slide7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1.png" Type="http://schemas.openxmlformats.org/officeDocument/2006/relationships/image"/><Relationship Id="rId11" Target="../media/image342.png" Type="http://schemas.openxmlformats.org/officeDocument/2006/relationships/image"/><Relationship Id="rId12" Target="../media/image343.png" Type="http://schemas.openxmlformats.org/officeDocument/2006/relationships/image"/><Relationship Id="rId2" Target="../media/image333.png" Type="http://schemas.openxmlformats.org/officeDocument/2006/relationships/image"/><Relationship Id="rId3" Target="../media/image334.png" Type="http://schemas.openxmlformats.org/officeDocument/2006/relationships/image"/><Relationship Id="rId4" Target="../media/image335.png" Type="http://schemas.openxmlformats.org/officeDocument/2006/relationships/image"/><Relationship Id="rId5" Target="../media/image336.png" Type="http://schemas.openxmlformats.org/officeDocument/2006/relationships/image"/><Relationship Id="rId6" Target="../media/image337.png" Type="http://schemas.openxmlformats.org/officeDocument/2006/relationships/image"/><Relationship Id="rId7" Target="../media/image338.png" Type="http://schemas.openxmlformats.org/officeDocument/2006/relationships/image"/><Relationship Id="rId8" Target="../media/image339.png" Type="http://schemas.openxmlformats.org/officeDocument/2006/relationships/image"/><Relationship Id="rId9" Target="../media/image340.png" Type="http://schemas.openxmlformats.org/officeDocument/2006/relationships/image"/></Relationships>
</file>

<file path=ppt/slides/_rels/slide7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4.png" Type="http://schemas.openxmlformats.org/officeDocument/2006/relationships/image"/><Relationship Id="rId3" Target="../embeddings/oleObject19.bin" Type="http://schemas.openxmlformats.org/officeDocument/2006/relationships/oleObject"/><Relationship Id="rId4" Target="../media/image345.png" Type="http://schemas.openxmlformats.org/officeDocument/2006/relationships/image"/></Relationships>
</file>

<file path=ppt/slides/_rels/slide8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6.png" Type="http://schemas.openxmlformats.org/officeDocument/2006/relationships/image"/><Relationship Id="rId3" Target="../embeddings/oleObject20.bin" Type="http://schemas.openxmlformats.org/officeDocument/2006/relationships/oleObject"/><Relationship Id="rId4" Target="../media/image322.png" Type="http://schemas.openxmlformats.org/officeDocument/2006/relationships/image"/><Relationship Id="rId5" Target="../media/image324.png" Type="http://schemas.openxmlformats.org/officeDocument/2006/relationships/image"/><Relationship Id="rId6" Target="../media/image326.png" Type="http://schemas.openxmlformats.org/officeDocument/2006/relationships/image"/></Relationships>
</file>

<file path=ppt/slides/_rels/slide8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7.png" Type="http://schemas.openxmlformats.org/officeDocument/2006/relationships/image"/><Relationship Id="rId3" Target="../embeddings/oleObject21.bin" Type="http://schemas.openxmlformats.org/officeDocument/2006/relationships/oleObject"/><Relationship Id="rId4" Target="../media/image322.png" Type="http://schemas.openxmlformats.org/officeDocument/2006/relationships/image"/><Relationship Id="rId5" Target="../media/image324.png" Type="http://schemas.openxmlformats.org/officeDocument/2006/relationships/image"/><Relationship Id="rId6" Target="../media/image329.png" Type="http://schemas.openxmlformats.org/officeDocument/2006/relationships/image"/><Relationship Id="rId7" Target="../media/image330.svg" Type="http://schemas.openxmlformats.org/officeDocument/2006/relationships/image"/><Relationship Id="rId8" Target="../media/image326.png" Type="http://schemas.openxmlformats.org/officeDocument/2006/relationships/image"/></Relationships>
</file>

<file path=ppt/slides/_rels/slide8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8.png" Type="http://schemas.openxmlformats.org/officeDocument/2006/relationships/image"/><Relationship Id="rId3" Target="../embeddings/oleObject22.bin" Type="http://schemas.openxmlformats.org/officeDocument/2006/relationships/oleObject"/><Relationship Id="rId4" Target="../media/image322.png" Type="http://schemas.openxmlformats.org/officeDocument/2006/relationships/image"/><Relationship Id="rId5" Target="../media/image324.png" Type="http://schemas.openxmlformats.org/officeDocument/2006/relationships/image"/><Relationship Id="rId6" Target="../media/image329.png" Type="http://schemas.openxmlformats.org/officeDocument/2006/relationships/image"/><Relationship Id="rId7" Target="../media/image330.svg" Type="http://schemas.openxmlformats.org/officeDocument/2006/relationships/image"/><Relationship Id="rId8" Target="../media/image326.png" Type="http://schemas.openxmlformats.org/officeDocument/2006/relationships/image"/></Relationships>
</file>

<file path=ppt/slides/_rels/slide8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9.png" Type="http://schemas.openxmlformats.org/officeDocument/2006/relationships/image"/><Relationship Id="rId3" Target="../embeddings/oleObject23.bin" Type="http://schemas.openxmlformats.org/officeDocument/2006/relationships/oleObject"/><Relationship Id="rId4" Target="../media/image322.png" Type="http://schemas.openxmlformats.org/officeDocument/2006/relationships/image"/><Relationship Id="rId5" Target="../media/image324.png" Type="http://schemas.openxmlformats.org/officeDocument/2006/relationships/image"/><Relationship Id="rId6" Target="../media/image329.png" Type="http://schemas.openxmlformats.org/officeDocument/2006/relationships/image"/><Relationship Id="rId7" Target="../media/image330.svg" Type="http://schemas.openxmlformats.org/officeDocument/2006/relationships/image"/><Relationship Id="rId8" Target="../media/image326.png" Type="http://schemas.openxmlformats.org/officeDocument/2006/relationships/image"/></Relationships>
</file>

<file path=ppt/slides/_rels/slide8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0.png" Type="http://schemas.openxmlformats.org/officeDocument/2006/relationships/image"/><Relationship Id="rId3" Target="../embeddings/oleObject24.bin" Type="http://schemas.openxmlformats.org/officeDocument/2006/relationships/oleObject"/><Relationship Id="rId4" Target="../media/image322.png" Type="http://schemas.openxmlformats.org/officeDocument/2006/relationships/image"/><Relationship Id="rId5" Target="../media/image324.png" Type="http://schemas.openxmlformats.org/officeDocument/2006/relationships/image"/><Relationship Id="rId6" Target="../media/image329.png" Type="http://schemas.openxmlformats.org/officeDocument/2006/relationships/image"/><Relationship Id="rId7" Target="../media/image330.svg" Type="http://schemas.openxmlformats.org/officeDocument/2006/relationships/image"/><Relationship Id="rId8" Target="../media/image326.png" Type="http://schemas.openxmlformats.org/officeDocument/2006/relationships/image"/></Relationships>
</file>

<file path=ppt/slides/_rels/slide8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1.png" Type="http://schemas.openxmlformats.org/officeDocument/2006/relationships/image"/><Relationship Id="rId3" Target="../embeddings/oleObject25.bin" Type="http://schemas.openxmlformats.org/officeDocument/2006/relationships/oleObject"/><Relationship Id="rId4" Target="../media/image322.png" Type="http://schemas.openxmlformats.org/officeDocument/2006/relationships/image"/><Relationship Id="rId5" Target="../media/image324.png" Type="http://schemas.openxmlformats.org/officeDocument/2006/relationships/image"/><Relationship Id="rId6" Target="../media/image326.png" Type="http://schemas.openxmlformats.org/officeDocument/2006/relationships/image"/></Relationships>
</file>

<file path=ppt/slides/_rels/slide8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2.png" Type="http://schemas.openxmlformats.org/officeDocument/2006/relationships/image"/><Relationship Id="rId3" Target="../embeddings/oleObject26.bin" Type="http://schemas.openxmlformats.org/officeDocument/2006/relationships/oleObject"/><Relationship Id="rId4" Target="../media/image322.png" Type="http://schemas.openxmlformats.org/officeDocument/2006/relationships/image"/><Relationship Id="rId5" Target="../media/image324.png" Type="http://schemas.openxmlformats.org/officeDocument/2006/relationships/image"/><Relationship Id="rId6" Target="../media/image326.png" Type="http://schemas.openxmlformats.org/officeDocument/2006/relationships/image"/></Relationships>
</file>

<file path=ppt/slides/_rels/slide8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3.png" Type="http://schemas.openxmlformats.org/officeDocument/2006/relationships/image"/><Relationship Id="rId3" Target="../embeddings/oleObject27.bin" Type="http://schemas.openxmlformats.org/officeDocument/2006/relationships/oleObject"/><Relationship Id="rId4" Target="../media/image322.png" Type="http://schemas.openxmlformats.org/officeDocument/2006/relationships/image"/><Relationship Id="rId5" Target="../media/image324.png" Type="http://schemas.openxmlformats.org/officeDocument/2006/relationships/image"/><Relationship Id="rId6" Target="../media/image329.png" Type="http://schemas.openxmlformats.org/officeDocument/2006/relationships/image"/><Relationship Id="rId7" Target="../media/image330.svg" Type="http://schemas.openxmlformats.org/officeDocument/2006/relationships/image"/><Relationship Id="rId8" Target="../media/image326.png" Type="http://schemas.openxmlformats.org/officeDocument/2006/relationships/image"/></Relationships>
</file>

<file path=ppt/slides/_rels/slide8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4.png" Type="http://schemas.openxmlformats.org/officeDocument/2006/relationships/image"/><Relationship Id="rId3" Target="../embeddings/oleObject28.bin" Type="http://schemas.openxmlformats.org/officeDocument/2006/relationships/oleObject"/><Relationship Id="rId4" Target="../media/image322.png" Type="http://schemas.openxmlformats.org/officeDocument/2006/relationships/image"/><Relationship Id="rId5" Target="../media/image324.png" Type="http://schemas.openxmlformats.org/officeDocument/2006/relationships/image"/><Relationship Id="rId6" Target="../media/image329.png" Type="http://schemas.openxmlformats.org/officeDocument/2006/relationships/image"/><Relationship Id="rId7" Target="../media/image330.svg" Type="http://schemas.openxmlformats.org/officeDocument/2006/relationships/image"/><Relationship Id="rId8" Target="../media/image326.png" Type="http://schemas.openxmlformats.org/officeDocument/2006/relationships/image"/></Relationships>
</file>

<file path=ppt/slides/_rels/slide8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5.png" Type="http://schemas.openxmlformats.org/officeDocument/2006/relationships/image"/><Relationship Id="rId3" Target="../embeddings/oleObject29.bin" Type="http://schemas.openxmlformats.org/officeDocument/2006/relationships/oleObject"/><Relationship Id="rId4" Target="../media/image322.png" Type="http://schemas.openxmlformats.org/officeDocument/2006/relationships/image"/><Relationship Id="rId5" Target="../media/image324.png" Type="http://schemas.openxmlformats.org/officeDocument/2006/relationships/image"/><Relationship Id="rId6" Target="../media/image329.png" Type="http://schemas.openxmlformats.org/officeDocument/2006/relationships/image"/><Relationship Id="rId7" Target="../media/image330.svg" Type="http://schemas.openxmlformats.org/officeDocument/2006/relationships/image"/><Relationship Id="rId8" Target="../media/image326.png" Type="http://schemas.openxmlformats.org/officeDocument/2006/relationships/image"/></Relationships>
</file>

<file path=ppt/slides/_rels/slide9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6.png" Type="http://schemas.openxmlformats.org/officeDocument/2006/relationships/image"/><Relationship Id="rId3" Target="../embeddings/oleObject30.bin" Type="http://schemas.openxmlformats.org/officeDocument/2006/relationships/oleObject"/><Relationship Id="rId4" Target="../media/image324.png" Type="http://schemas.openxmlformats.org/officeDocument/2006/relationships/image"/><Relationship Id="rId5" Target="../media/image357.png" Type="http://schemas.openxmlformats.org/officeDocument/2006/relationships/image"/><Relationship Id="rId6" Target="../media/image326.png" Type="http://schemas.openxmlformats.org/officeDocument/2006/relationships/image"/></Relationships>
</file>

<file path=ppt/slides/_rels/slide9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8.png" Type="http://schemas.openxmlformats.org/officeDocument/2006/relationships/image"/><Relationship Id="rId3" Target="../embeddings/oleObject31.bin" Type="http://schemas.openxmlformats.org/officeDocument/2006/relationships/oleObject"/><Relationship Id="rId4" Target="../media/image324.png" Type="http://schemas.openxmlformats.org/officeDocument/2006/relationships/image"/><Relationship Id="rId5" Target="../media/image357.png" Type="http://schemas.openxmlformats.org/officeDocument/2006/relationships/image"/><Relationship Id="rId6" Target="../media/image329.png" Type="http://schemas.openxmlformats.org/officeDocument/2006/relationships/image"/><Relationship Id="rId7" Target="../media/image330.svg" Type="http://schemas.openxmlformats.org/officeDocument/2006/relationships/image"/><Relationship Id="rId8" Target="../media/image326.png" Type="http://schemas.openxmlformats.org/officeDocument/2006/relationships/image"/></Relationships>
</file>

<file path=ppt/slides/_rels/slide9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9.png" Type="http://schemas.openxmlformats.org/officeDocument/2006/relationships/image"/><Relationship Id="rId3" Target="../embeddings/oleObject32.bin" Type="http://schemas.openxmlformats.org/officeDocument/2006/relationships/oleObject"/><Relationship Id="rId4" Target="../media/image324.png" Type="http://schemas.openxmlformats.org/officeDocument/2006/relationships/image"/><Relationship Id="rId5" Target="../media/image357.png" Type="http://schemas.openxmlformats.org/officeDocument/2006/relationships/image"/><Relationship Id="rId6" Target="../media/image329.png" Type="http://schemas.openxmlformats.org/officeDocument/2006/relationships/image"/><Relationship Id="rId7" Target="../media/image330.svg" Type="http://schemas.openxmlformats.org/officeDocument/2006/relationships/image"/><Relationship Id="rId8" Target="../media/image326.png" Type="http://schemas.openxmlformats.org/officeDocument/2006/relationships/image"/></Relationships>
</file>

<file path=ppt/slides/_rels/slide9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0.png" Type="http://schemas.openxmlformats.org/officeDocument/2006/relationships/image"/><Relationship Id="rId3" Target="../embeddings/oleObject33.bin" Type="http://schemas.openxmlformats.org/officeDocument/2006/relationships/oleObject"/><Relationship Id="rId4" Target="../media/image324.png" Type="http://schemas.openxmlformats.org/officeDocument/2006/relationships/image"/><Relationship Id="rId5" Target="../media/image357.png" Type="http://schemas.openxmlformats.org/officeDocument/2006/relationships/image"/><Relationship Id="rId6" Target="../media/image326.png" Type="http://schemas.openxmlformats.org/officeDocument/2006/relationships/image"/></Relationships>
</file>

<file path=ppt/slides/_rels/slide9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1.png" Type="http://schemas.openxmlformats.org/officeDocument/2006/relationships/image"/><Relationship Id="rId3" Target="../embeddings/oleObject34.bin" Type="http://schemas.openxmlformats.org/officeDocument/2006/relationships/oleObject"/><Relationship Id="rId4" Target="../media/image324.png" Type="http://schemas.openxmlformats.org/officeDocument/2006/relationships/image"/><Relationship Id="rId5" Target="../media/image357.png" Type="http://schemas.openxmlformats.org/officeDocument/2006/relationships/image"/><Relationship Id="rId6" Target="../media/image329.png" Type="http://schemas.openxmlformats.org/officeDocument/2006/relationships/image"/><Relationship Id="rId7" Target="../media/image330.svg" Type="http://schemas.openxmlformats.org/officeDocument/2006/relationships/image"/><Relationship Id="rId8" Target="../media/image326.png" Type="http://schemas.openxmlformats.org/officeDocument/2006/relationships/image"/></Relationships>
</file>

<file path=ppt/slides/_rels/slide9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2.png" Type="http://schemas.openxmlformats.org/officeDocument/2006/relationships/image"/><Relationship Id="rId3" Target="../embeddings/oleObject35.bin" Type="http://schemas.openxmlformats.org/officeDocument/2006/relationships/oleObject"/><Relationship Id="rId4" Target="../media/image324.png" Type="http://schemas.openxmlformats.org/officeDocument/2006/relationships/image"/><Relationship Id="rId5" Target="../media/image357.png" Type="http://schemas.openxmlformats.org/officeDocument/2006/relationships/image"/><Relationship Id="rId6" Target="../media/image326.png" Type="http://schemas.openxmlformats.org/officeDocument/2006/relationships/image"/></Relationships>
</file>

<file path=ppt/slides/_rels/slide9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3.png" Type="http://schemas.openxmlformats.org/officeDocument/2006/relationships/image"/><Relationship Id="rId3" Target="../embeddings/oleObject36.bin" Type="http://schemas.openxmlformats.org/officeDocument/2006/relationships/oleObject"/><Relationship Id="rId4" Target="../media/image324.png" Type="http://schemas.openxmlformats.org/officeDocument/2006/relationships/image"/><Relationship Id="rId5" Target="../media/image357.png" Type="http://schemas.openxmlformats.org/officeDocument/2006/relationships/image"/><Relationship Id="rId6" Target="../media/image326.png" Type="http://schemas.openxmlformats.org/officeDocument/2006/relationships/image"/></Relationships>
</file>

<file path=ppt/slides/_rels/slide9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4.png" Type="http://schemas.openxmlformats.org/officeDocument/2006/relationships/image"/><Relationship Id="rId3" Target="../embeddings/oleObject37.bin" Type="http://schemas.openxmlformats.org/officeDocument/2006/relationships/oleObject"/><Relationship Id="rId4" Target="../media/image324.png" Type="http://schemas.openxmlformats.org/officeDocument/2006/relationships/image"/><Relationship Id="rId5" Target="../media/image357.png" Type="http://schemas.openxmlformats.org/officeDocument/2006/relationships/image"/><Relationship Id="rId6" Target="../media/image329.png" Type="http://schemas.openxmlformats.org/officeDocument/2006/relationships/image"/><Relationship Id="rId7" Target="../media/image330.svg" Type="http://schemas.openxmlformats.org/officeDocument/2006/relationships/image"/><Relationship Id="rId8" Target="../media/image326.png" Type="http://schemas.openxmlformats.org/officeDocument/2006/relationships/image"/></Relationships>
</file>

<file path=ppt/slides/_rels/slide9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5.png" Type="http://schemas.openxmlformats.org/officeDocument/2006/relationships/image"/><Relationship Id="rId3" Target="../embeddings/oleObject38.bin" Type="http://schemas.openxmlformats.org/officeDocument/2006/relationships/oleObject"/><Relationship Id="rId4" Target="../media/image324.png" Type="http://schemas.openxmlformats.org/officeDocument/2006/relationships/image"/><Relationship Id="rId5" Target="../media/image357.png" Type="http://schemas.openxmlformats.org/officeDocument/2006/relationships/image"/><Relationship Id="rId6" Target="../media/image326.png" Type="http://schemas.openxmlformats.org/officeDocument/2006/relationships/image"/></Relationships>
</file>

<file path=ppt/slides/_rels/slide9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6.png" Type="http://schemas.openxmlformats.org/officeDocument/2006/relationships/image"/><Relationship Id="rId3" Target="../embeddings/oleObject39.bin" Type="http://schemas.openxmlformats.org/officeDocument/2006/relationships/oleObject"/><Relationship Id="rId4" Target="../media/image324.png" Type="http://schemas.openxmlformats.org/officeDocument/2006/relationships/image"/><Relationship Id="rId5" Target="../media/image357.png" Type="http://schemas.openxmlformats.org/officeDocument/2006/relationships/image"/><Relationship Id="rId6" Target="../media/image326.png" Type="http://schemas.openxmlformats.org/officeDocument/2006/relationships/image"/></Relationships>
</file>

<file path=ppt/slides/_rels/slide10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7.png" Type="http://schemas.openxmlformats.org/officeDocument/2006/relationships/image"/><Relationship Id="rId3" Target="../embeddings/oleObject40.bin" Type="http://schemas.openxmlformats.org/officeDocument/2006/relationships/oleObject"/><Relationship Id="rId4" Target="../media/image324.png" Type="http://schemas.openxmlformats.org/officeDocument/2006/relationships/image"/><Relationship Id="rId5" Target="../media/image357.png" Type="http://schemas.openxmlformats.org/officeDocument/2006/relationships/image"/><Relationship Id="rId6" Target="../media/image329.png" Type="http://schemas.openxmlformats.org/officeDocument/2006/relationships/image"/><Relationship Id="rId7" Target="../media/image330.svg" Type="http://schemas.openxmlformats.org/officeDocument/2006/relationships/image"/><Relationship Id="rId8" Target="../media/image326.png" Type="http://schemas.openxmlformats.org/officeDocument/2006/relationships/image"/></Relationships>
</file>

<file path=ppt/slides/_rels/slide10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8.png" Type="http://schemas.openxmlformats.org/officeDocument/2006/relationships/image"/><Relationship Id="rId3" Target="../embeddings/oleObject41.bin" Type="http://schemas.openxmlformats.org/officeDocument/2006/relationships/oleObject"/><Relationship Id="rId4" Target="../media/image324.png" Type="http://schemas.openxmlformats.org/officeDocument/2006/relationships/image"/><Relationship Id="rId5" Target="../media/image357.png" Type="http://schemas.openxmlformats.org/officeDocument/2006/relationships/image"/><Relationship Id="rId6" Target="../media/image326.png" Type="http://schemas.openxmlformats.org/officeDocument/2006/relationships/image"/></Relationships>
</file>

<file path=ppt/slides/_rels/slide10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9.png" Type="http://schemas.openxmlformats.org/officeDocument/2006/relationships/image"/><Relationship Id="rId3" Target="../embeddings/oleObject42.bin" Type="http://schemas.openxmlformats.org/officeDocument/2006/relationships/oleObject"/><Relationship Id="rId4" Target="../media/image324.png" Type="http://schemas.openxmlformats.org/officeDocument/2006/relationships/image"/><Relationship Id="rId5" Target="../media/image370.png" Type="http://schemas.openxmlformats.org/officeDocument/2006/relationships/image"/><Relationship Id="rId6" Target="../media/image329.png" Type="http://schemas.openxmlformats.org/officeDocument/2006/relationships/image"/><Relationship Id="rId7" Target="../media/image330.svg" Type="http://schemas.openxmlformats.org/officeDocument/2006/relationships/image"/><Relationship Id="rId8" Target="../media/image326.png" Type="http://schemas.openxmlformats.org/officeDocument/2006/relationships/image"/></Relationships>
</file>

<file path=ppt/slides/_rels/slide10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1.png" Type="http://schemas.openxmlformats.org/officeDocument/2006/relationships/image"/><Relationship Id="rId3" Target="../embeddings/oleObject43.bin" Type="http://schemas.openxmlformats.org/officeDocument/2006/relationships/oleObject"/><Relationship Id="rId4" Target="../media/image324.png" Type="http://schemas.openxmlformats.org/officeDocument/2006/relationships/image"/><Relationship Id="rId5" Target="../media/image370.png" Type="http://schemas.openxmlformats.org/officeDocument/2006/relationships/image"/><Relationship Id="rId6" Target="../media/image326.png" Type="http://schemas.openxmlformats.org/officeDocument/2006/relationships/image"/></Relationships>
</file>

<file path=ppt/slides/_rels/slide10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2.png" Type="http://schemas.openxmlformats.org/officeDocument/2006/relationships/image"/><Relationship Id="rId3" Target="../embeddings/oleObject44.bin" Type="http://schemas.openxmlformats.org/officeDocument/2006/relationships/oleObject"/><Relationship Id="rId4" Target="../media/image324.png" Type="http://schemas.openxmlformats.org/officeDocument/2006/relationships/image"/><Relationship Id="rId5" Target="../media/image370.png" Type="http://schemas.openxmlformats.org/officeDocument/2006/relationships/image"/><Relationship Id="rId6" Target="../media/image326.png" Type="http://schemas.openxmlformats.org/officeDocument/2006/relationships/image"/></Relationships>
</file>

<file path=ppt/slides/_rels/slide10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3.png" Type="http://schemas.openxmlformats.org/officeDocument/2006/relationships/image"/></Relationships>
</file>

<file path=ppt/slides/_rels/slide10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4.png" Type="http://schemas.openxmlformats.org/officeDocument/2006/relationships/image"/></Relationships>
</file>

<file path=ppt/slides/_rels/slide10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7.png" Type="http://schemas.openxmlformats.org/officeDocument/2006/relationships/image"/><Relationship Id="rId3" Target="../media/image298.svg" Type="http://schemas.openxmlformats.org/officeDocument/2006/relationships/image"/><Relationship Id="rId4" Target="../media/image299.png" Type="http://schemas.openxmlformats.org/officeDocument/2006/relationships/image"/></Relationships>
</file>

<file path=ppt/slides/_rels/slide10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5.png" Type="http://schemas.openxmlformats.org/officeDocument/2006/relationships/image"/></Relationships>
</file>

<file path=ppt/slides/_rels/slide1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7.png" Type="http://schemas.openxmlformats.org/officeDocument/2006/relationships/image"/><Relationship Id="rId3" Target="../media/image298.svg" Type="http://schemas.openxmlformats.org/officeDocument/2006/relationships/image"/></Relationships>
</file>

<file path=ppt/slides/_rels/slide1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6.png" Type="http://schemas.openxmlformats.org/officeDocument/2006/relationships/image"/></Relationships>
</file>

<file path=ppt/slides/_rels/slide1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7.png" Type="http://schemas.openxmlformats.org/officeDocument/2006/relationships/image"/></Relationships>
</file>

<file path=ppt/slides/_rels/slide1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8.png" Type="http://schemas.openxmlformats.org/officeDocument/2006/relationships/image"/></Relationships>
</file>

<file path=ppt/slides/_rels/slide1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9.png" Type="http://schemas.openxmlformats.org/officeDocument/2006/relationships/image"/></Relationships>
</file>

<file path=ppt/slides/_rels/slide1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0.png" Type="http://schemas.openxmlformats.org/officeDocument/2006/relationships/image"/></Relationships>
</file>

<file path=ppt/slides/_rels/slide1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1.png" Type="http://schemas.openxmlformats.org/officeDocument/2006/relationships/image"/></Relationships>
</file>

<file path=ppt/slides/_rels/slide1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2.png" Type="http://schemas.openxmlformats.org/officeDocument/2006/relationships/image"/><Relationship Id="rId3" Target="../media/image383.png" Type="http://schemas.openxmlformats.org/officeDocument/2006/relationships/image"/></Relationships>
</file>

<file path=ppt/slides/_rels/slide1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4.png" Type="http://schemas.openxmlformats.org/officeDocument/2006/relationships/image"/></Relationships>
</file>

<file path=ppt/slides/_rels/slide1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5.png" Type="http://schemas.openxmlformats.org/officeDocument/2006/relationships/image"/></Relationships>
</file>

<file path=ppt/slides/_rels/slide1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6.png" Type="http://schemas.openxmlformats.org/officeDocument/2006/relationships/image"/></Relationships>
</file>

<file path=ppt/slides/_rels/slide1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7.png" Type="http://schemas.openxmlformats.org/officeDocument/2006/relationships/image"/></Relationships>
</file>

<file path=ppt/slides/_rels/slide1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3752" y="3575309"/>
            <a:ext cx="18020496" cy="3336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29"/>
              </a:lnSpc>
            </a:pPr>
            <a:r>
              <a:rPr lang="en-US" sz="12479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Quantum Transpiler and Transpiler Optimization Methods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Agenda: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05983" y="1158155"/>
            <a:ext cx="16230600" cy="8312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60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1. Quantum computing fundamentals</a:t>
            </a:r>
          </a:p>
          <a:p>
            <a:pPr algn="just">
              <a:lnSpc>
                <a:spcPts val="660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2. Introduction to Transpilation</a:t>
            </a:r>
          </a:p>
          <a:p>
            <a:pPr algn="just">
              <a:lnSpc>
                <a:spcPts val="660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2.1. Modeling hardware constraints</a:t>
            </a:r>
          </a:p>
          <a:p>
            <a:pPr algn="just">
              <a:lnSpc>
                <a:spcPts val="660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3. Introduction to Qiskit Preset Pass Manager</a:t>
            </a:r>
          </a:p>
          <a:p>
            <a:pPr algn="just">
              <a:lnSpc>
                <a:spcPts val="660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3.1. Init stage</a:t>
            </a:r>
          </a:p>
          <a:p>
            <a:pPr algn="just">
              <a:lnSpc>
                <a:spcPts val="660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3.2. Layout stage</a:t>
            </a:r>
          </a:p>
          <a:p>
            <a:pPr algn="just">
              <a:lnSpc>
                <a:spcPts val="660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3.3. Routing stage</a:t>
            </a:r>
          </a:p>
          <a:p>
            <a:pPr algn="just">
              <a:lnSpc>
                <a:spcPts val="660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3.4. Translation stage</a:t>
            </a:r>
          </a:p>
          <a:p>
            <a:pPr algn="just">
              <a:lnSpc>
                <a:spcPts val="660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3.5. Optimization stage</a:t>
            </a:r>
          </a:p>
          <a:p>
            <a:pPr algn="just">
              <a:lnSpc>
                <a:spcPts val="660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3.6. Scheduling stage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64535" y="3650059"/>
            <a:ext cx="4114378" cy="6281493"/>
          </a:xfrm>
          <a:custGeom>
            <a:avLst/>
            <a:gdLst/>
            <a:ahLst/>
            <a:cxnLst/>
            <a:rect r="r" b="b" t="t" l="l"/>
            <a:pathLst>
              <a:path h="6281493" w="4114378">
                <a:moveTo>
                  <a:pt x="0" y="0"/>
                </a:moveTo>
                <a:lnTo>
                  <a:pt x="4114378" y="0"/>
                </a:lnTo>
                <a:lnTo>
                  <a:pt x="4114378" y="6281494"/>
                </a:lnTo>
                <a:lnTo>
                  <a:pt x="0" y="6281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0988" y="768173"/>
            <a:ext cx="12882475" cy="513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37"/>
              </a:lnSpc>
            </a:pPr>
            <a:r>
              <a:rPr lang="en-US" sz="12879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1</a:t>
            </a:r>
          </a:p>
          <a:p>
            <a:pPr algn="l">
              <a:lnSpc>
                <a:spcPts val="13137"/>
              </a:lnSpc>
            </a:pPr>
            <a:r>
              <a:rPr lang="en-US" sz="12879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Quantum computing fundamentals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9255" y="1223203"/>
            <a:ext cx="16230600" cy="6964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Classical bit can only be in one of two states: 0 or 1</a:t>
            </a: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Qubit (quantum bit) has two basic states: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and it can be a combination of both basis states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where,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</a:p>
          <a:p>
            <a:pPr algn="l">
              <a:lnSpc>
                <a:spcPts val="4620"/>
              </a:lnSpc>
            </a:pP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lang="en-US" b="true" sz="33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Superposition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620221" y="2057086"/>
            <a:ext cx="7047558" cy="2511278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758905" y="4575254"/>
            <a:ext cx="4770190" cy="1331715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53224" y="5753042"/>
            <a:ext cx="2356668" cy="882808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02223" y="6187320"/>
            <a:ext cx="3846816" cy="1222055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Bit and Qubit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9255" y="1223203"/>
            <a:ext cx="16230600" cy="5802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A quantum gate is an operation that changes the state of one or more qubits</a:t>
            </a: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If a qubit is in state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after applying a quantum gate      , the new state: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and quantum gates are represented mathematically by unitary: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1) Quantum state example:                            2) Unitary matrix example:                      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hat is a Quantum Gate?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719835" y="2371082"/>
            <a:ext cx="848329" cy="678071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540856" y="3028566"/>
            <a:ext cx="493008" cy="459697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485871" y="3636911"/>
            <a:ext cx="3316259" cy="1135111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878706" y="5338750"/>
            <a:ext cx="2530589" cy="969907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77629" y="7190749"/>
            <a:ext cx="2987374" cy="1049844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86729" y="7978694"/>
            <a:ext cx="5070313" cy="2169728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332366" y="6909610"/>
            <a:ext cx="3466998" cy="1902509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432944" y="6884867"/>
            <a:ext cx="3763908" cy="1951994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739688" y="7813057"/>
            <a:ext cx="10579139" cy="30878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9255" y="1223203"/>
            <a:ext cx="16230600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Pauli gates (1-qubit):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Quantum Gate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20339" y="1774417"/>
            <a:ext cx="3466998" cy="1902509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814017" y="1745106"/>
            <a:ext cx="3818722" cy="196113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7990" y="1738635"/>
            <a:ext cx="3896376" cy="1974072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2421156" y="1223203"/>
            <a:ext cx="16230600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Hadamard H (1-qubit):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083201" y="1592844"/>
            <a:ext cx="5189077" cy="2227588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505983" y="3641098"/>
            <a:ext cx="16230600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Rotation gates (1-qubit):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182886" y="3755762"/>
            <a:ext cx="9505694" cy="3236321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986085" y="3776637"/>
            <a:ext cx="8455090" cy="3061221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8520" y="5898325"/>
            <a:ext cx="6819799" cy="2788672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505983" y="8156780"/>
            <a:ext cx="4317047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Phase gates (1-qubit):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31758" y="8567013"/>
            <a:ext cx="3329962" cy="187967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774049" y="8448250"/>
            <a:ext cx="4298346" cy="2117198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9561748" y="6593779"/>
            <a:ext cx="16230600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CX - CNOT (2-qubit):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050149" y="6899748"/>
            <a:ext cx="6139189" cy="38895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505983" y="1296371"/>
          <a:ext cx="7586157" cy="4274588"/>
        </p:xfrm>
        <a:graphic>
          <a:graphicData uri="http://schemas.openxmlformats.org/presentationml/2006/ole">
            <p:oleObj imgW="9105900" imgH="5791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Quantum Gate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0906" y="3618239"/>
            <a:ext cx="16986188" cy="3484346"/>
          </a:xfrm>
          <a:custGeom>
            <a:avLst/>
            <a:gdLst/>
            <a:ahLst/>
            <a:cxnLst/>
            <a:rect r="r" b="b" t="t" l="l"/>
            <a:pathLst>
              <a:path h="3484346" w="16986188">
                <a:moveTo>
                  <a:pt x="0" y="0"/>
                </a:moveTo>
                <a:lnTo>
                  <a:pt x="16986188" y="0"/>
                </a:lnTo>
                <a:lnTo>
                  <a:pt x="16986188" y="3484346"/>
                </a:lnTo>
                <a:lnTo>
                  <a:pt x="0" y="34843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9255" y="1223203"/>
            <a:ext cx="16230600" cy="11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A quantum circuit is a graphical way to represent a sequence of quantum gates and measurements used to perform a quantum computation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hat is a quantum circuit?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83823" y="5901297"/>
            <a:ext cx="3785616" cy="4114800"/>
          </a:xfrm>
          <a:custGeom>
            <a:avLst/>
            <a:gdLst/>
            <a:ahLst/>
            <a:cxnLst/>
            <a:rect r="r" b="b" t="t" l="l"/>
            <a:pathLst>
              <a:path h="4114800" w="3785616">
                <a:moveTo>
                  <a:pt x="0" y="0"/>
                </a:moveTo>
                <a:lnTo>
                  <a:pt x="3785616" y="0"/>
                </a:lnTo>
                <a:lnTo>
                  <a:pt x="37856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0988" y="768173"/>
            <a:ext cx="12882475" cy="513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37"/>
              </a:lnSpc>
            </a:pPr>
            <a:r>
              <a:rPr lang="en-US" sz="12879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2</a:t>
            </a:r>
          </a:p>
          <a:p>
            <a:pPr algn="l">
              <a:lnSpc>
                <a:spcPts val="13137"/>
              </a:lnSpc>
            </a:pPr>
            <a:r>
              <a:rPr lang="en-US" sz="12879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Introduction to Transpilation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9255" y="1383844"/>
            <a:ext cx="12380683" cy="11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Despite programming at a low level there are still abstraction in </a:t>
            </a:r>
          </a:p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our representation that can’t be excuted by hardware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Why do we need quantum circuit compilation?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9255" y="2890748"/>
            <a:ext cx="12380683" cy="11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There are numerous hardware constraints that need to be </a:t>
            </a:r>
          </a:p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accounted for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9255" y="4397653"/>
            <a:ext cx="13276836" cy="11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The compilation’s job is to take the high-level abstract circuit and </a:t>
            </a:r>
          </a:p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output an optimized </a:t>
            </a: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circuit that can run on a given quantum computer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50906" y="6175413"/>
            <a:ext cx="16986188" cy="3484346"/>
          </a:xfrm>
          <a:custGeom>
            <a:avLst/>
            <a:gdLst/>
            <a:ahLst/>
            <a:cxnLst/>
            <a:rect r="r" b="b" t="t" l="l"/>
            <a:pathLst>
              <a:path h="3484346" w="16986188">
                <a:moveTo>
                  <a:pt x="0" y="0"/>
                </a:moveTo>
                <a:lnTo>
                  <a:pt x="16986188" y="0"/>
                </a:lnTo>
                <a:lnTo>
                  <a:pt x="16986188" y="3484346"/>
                </a:lnTo>
                <a:lnTo>
                  <a:pt x="0" y="34843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932898" y="6765883"/>
            <a:ext cx="5108643" cy="3218445"/>
          </a:xfrm>
          <a:custGeom>
            <a:avLst/>
            <a:gdLst/>
            <a:ahLst/>
            <a:cxnLst/>
            <a:rect r="r" b="b" t="t" l="l"/>
            <a:pathLst>
              <a:path h="3218445" w="5108643">
                <a:moveTo>
                  <a:pt x="0" y="0"/>
                </a:moveTo>
                <a:lnTo>
                  <a:pt x="5108643" y="0"/>
                </a:lnTo>
                <a:lnTo>
                  <a:pt x="5108643" y="3218445"/>
                </a:lnTo>
                <a:lnTo>
                  <a:pt x="0" y="32184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0988" y="768173"/>
            <a:ext cx="12882475" cy="5117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37"/>
              </a:lnSpc>
            </a:pPr>
            <a:r>
              <a:rPr lang="en-US" sz="12879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2.1</a:t>
            </a:r>
          </a:p>
          <a:p>
            <a:pPr algn="l">
              <a:lnSpc>
                <a:spcPts val="13137"/>
              </a:lnSpc>
            </a:pPr>
            <a:r>
              <a:rPr lang="en-US" sz="12879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Modeling hardware</a:t>
            </a:r>
          </a:p>
          <a:p>
            <a:pPr algn="l">
              <a:lnSpc>
                <a:spcPts val="13137"/>
              </a:lnSpc>
            </a:pPr>
            <a:r>
              <a:rPr lang="en-US" sz="12879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constraints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79830" y="1291420"/>
            <a:ext cx="7704160" cy="7704160"/>
          </a:xfrm>
          <a:custGeom>
            <a:avLst/>
            <a:gdLst/>
            <a:ahLst/>
            <a:cxnLst/>
            <a:rect r="r" b="b" t="t" l="l"/>
            <a:pathLst>
              <a:path h="7704160" w="7704160">
                <a:moveTo>
                  <a:pt x="0" y="0"/>
                </a:moveTo>
                <a:lnTo>
                  <a:pt x="7704160" y="0"/>
                </a:lnTo>
                <a:lnTo>
                  <a:pt x="7704160" y="7704160"/>
                </a:lnTo>
                <a:lnTo>
                  <a:pt x="0" y="77041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88426" y="1489282"/>
            <a:ext cx="7086968" cy="7308436"/>
          </a:xfrm>
          <a:custGeom>
            <a:avLst/>
            <a:gdLst/>
            <a:ahLst/>
            <a:cxnLst/>
            <a:rect r="r" b="b" t="t" l="l"/>
            <a:pathLst>
              <a:path h="7308436" w="7086968">
                <a:moveTo>
                  <a:pt x="0" y="0"/>
                </a:moveTo>
                <a:lnTo>
                  <a:pt x="7086968" y="0"/>
                </a:lnTo>
                <a:lnTo>
                  <a:pt x="7086968" y="7308436"/>
                </a:lnTo>
                <a:lnTo>
                  <a:pt x="0" y="73084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09255" y="1383844"/>
            <a:ext cx="8534745" cy="11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Each quantum computer only supports a set 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of operations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Operations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9255" y="2890748"/>
            <a:ext cx="8534745" cy="1735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Typically, hardware supports a universal gate </a:t>
            </a:r>
          </a:p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set that can be used to contruct any unitary 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operation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9255" y="4978703"/>
            <a:ext cx="8534745" cy="11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All qubits do not nesscesarily need to 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support the same operations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15344" y="1957274"/>
            <a:ext cx="7625702" cy="7805978"/>
          </a:xfrm>
          <a:custGeom>
            <a:avLst/>
            <a:gdLst/>
            <a:ahLst/>
            <a:cxnLst/>
            <a:rect r="r" b="b" t="t" l="l"/>
            <a:pathLst>
              <a:path h="7805978" w="7625702">
                <a:moveTo>
                  <a:pt x="0" y="0"/>
                </a:moveTo>
                <a:lnTo>
                  <a:pt x="7625702" y="0"/>
                </a:lnTo>
                <a:lnTo>
                  <a:pt x="7625702" y="7805978"/>
                </a:lnTo>
                <a:lnTo>
                  <a:pt x="0" y="7805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950716" y="4473853"/>
            <a:ext cx="6193284" cy="5289399"/>
          </a:xfrm>
          <a:custGeom>
            <a:avLst/>
            <a:gdLst/>
            <a:ahLst/>
            <a:cxnLst/>
            <a:rect r="r" b="b" t="t" l="l"/>
            <a:pathLst>
              <a:path h="5289399" w="6193284">
                <a:moveTo>
                  <a:pt x="0" y="0"/>
                </a:moveTo>
                <a:lnTo>
                  <a:pt x="6193284" y="0"/>
                </a:lnTo>
                <a:lnTo>
                  <a:pt x="6193284" y="5289399"/>
                </a:lnTo>
                <a:lnTo>
                  <a:pt x="0" y="52893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09255" y="1383844"/>
            <a:ext cx="8534745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Qubit may have limited connectivity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Qubit connectivity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9255" y="2309699"/>
            <a:ext cx="8534745" cy="1735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For multi-qubit gates this means we can only </a:t>
            </a:r>
          </a:p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run these operations where there is 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connectivity between qubits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89954" y="1189534"/>
            <a:ext cx="7246630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IBM Yorktown 5-qubit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23878" y="1318219"/>
            <a:ext cx="9628591" cy="7650561"/>
          </a:xfrm>
          <a:custGeom>
            <a:avLst/>
            <a:gdLst/>
            <a:ahLst/>
            <a:cxnLst/>
            <a:rect r="r" b="b" t="t" l="l"/>
            <a:pathLst>
              <a:path h="7650561" w="9628591">
                <a:moveTo>
                  <a:pt x="0" y="0"/>
                </a:moveTo>
                <a:lnTo>
                  <a:pt x="9628591" y="0"/>
                </a:lnTo>
                <a:lnTo>
                  <a:pt x="9628591" y="7650562"/>
                </a:lnTo>
                <a:lnTo>
                  <a:pt x="0" y="76505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Connectivity contraints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9255" y="1383844"/>
            <a:ext cx="7680873" cy="11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Connectivity is not always sufficient to fully map the abstract circuit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9255" y="2890748"/>
            <a:ext cx="7680873" cy="1735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The compiler will use SWAP gate (or other techniques) to move state between qubits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9255" y="4978703"/>
            <a:ext cx="7680873" cy="11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So expensive to do → minimum SWAP gates as much as possible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94422" y="1322115"/>
            <a:ext cx="9487502" cy="7465575"/>
          </a:xfrm>
          <a:custGeom>
            <a:avLst/>
            <a:gdLst/>
            <a:ahLst/>
            <a:cxnLst/>
            <a:rect r="r" b="b" t="t" l="l"/>
            <a:pathLst>
              <a:path h="7465575" w="9487502">
                <a:moveTo>
                  <a:pt x="0" y="0"/>
                </a:moveTo>
                <a:lnTo>
                  <a:pt x="9487502" y="0"/>
                </a:lnTo>
                <a:lnTo>
                  <a:pt x="9487502" y="7465576"/>
                </a:lnTo>
                <a:lnTo>
                  <a:pt x="0" y="74655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Noise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614859" y="9016291"/>
            <a:ext cx="7246630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Variation of error rates and operation times across quantum hardware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9255" y="1383844"/>
            <a:ext cx="7680873" cy="11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Every operation is a potential source of noise or errors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9255" y="2890748"/>
            <a:ext cx="8012028" cy="1735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Gate errors: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Single-qubit errors</a:t>
            </a:r>
          </a:p>
          <a:p>
            <a:pPr algn="l" marL="712470" indent="-356235" lvl="1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Multi-qubit errors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9255" y="8228757"/>
            <a:ext cx="7680873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Readout error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9255" y="4978703"/>
            <a:ext cx="8012028" cy="289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Decoherence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T1: Energy Relaxation, the time for a qubit at |1⟩ to decay to ground state |0⟩</a:t>
            </a:r>
          </a:p>
          <a:p>
            <a:pPr algn="l" marL="712470" indent="-356235" lvl="1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T2: dephasing of a qubit in superposition state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8460" y="5403757"/>
            <a:ext cx="8805540" cy="3417596"/>
          </a:xfrm>
          <a:custGeom>
            <a:avLst/>
            <a:gdLst/>
            <a:ahLst/>
            <a:cxnLst/>
            <a:rect r="r" b="b" t="t" l="l"/>
            <a:pathLst>
              <a:path h="3417596" w="8805540">
                <a:moveTo>
                  <a:pt x="0" y="0"/>
                </a:moveTo>
                <a:lnTo>
                  <a:pt x="8805540" y="0"/>
                </a:lnTo>
                <a:lnTo>
                  <a:pt x="8805540" y="3417596"/>
                </a:lnTo>
                <a:lnTo>
                  <a:pt x="0" y="34175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77144" y="1669755"/>
            <a:ext cx="8692909" cy="7151598"/>
          </a:xfrm>
          <a:custGeom>
            <a:avLst/>
            <a:gdLst/>
            <a:ahLst/>
            <a:cxnLst/>
            <a:rect r="r" b="b" t="t" l="l"/>
            <a:pathLst>
              <a:path h="7151598" w="8692909">
                <a:moveTo>
                  <a:pt x="0" y="0"/>
                </a:moveTo>
                <a:lnTo>
                  <a:pt x="8692909" y="0"/>
                </a:lnTo>
                <a:lnTo>
                  <a:pt x="8692909" y="7151598"/>
                </a:lnTo>
                <a:lnTo>
                  <a:pt x="0" y="71515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43" t="0" r="-8815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DAG Representation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9255" y="1383844"/>
            <a:ext cx="8012028" cy="1735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The </a:t>
            </a:r>
            <a:r>
              <a:rPr lang="en-US" b="true" sz="33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DAGCircuit</a:t>
            </a: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tracks the flow of data from </a:t>
            </a:r>
            <a:r>
              <a:rPr lang="en-US" sz="3300">
                <a:solidFill>
                  <a:srgbClr val="7ED957"/>
                </a:solidFill>
                <a:latin typeface="Roboto"/>
                <a:ea typeface="Roboto"/>
                <a:cs typeface="Roboto"/>
                <a:sym typeface="Roboto"/>
              </a:rPr>
              <a:t>input nodes</a:t>
            </a: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through </a:t>
            </a:r>
            <a:r>
              <a:rPr lang="en-US" sz="3300">
                <a:solidFill>
                  <a:srgbClr val="38B6FF"/>
                </a:solidFill>
                <a:latin typeface="Roboto"/>
                <a:ea typeface="Roboto"/>
                <a:cs typeface="Roboto"/>
                <a:sym typeface="Roboto"/>
              </a:rPr>
              <a:t>operations </a:t>
            </a: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 </a:t>
            </a:r>
            <a:r>
              <a:rPr lang="en-US" sz="3300">
                <a:solidFill>
                  <a:srgbClr val="8C52FF"/>
                </a:solidFill>
                <a:latin typeface="Roboto"/>
                <a:ea typeface="Roboto"/>
                <a:cs typeface="Roboto"/>
                <a:sym typeface="Roboto"/>
              </a:rPr>
              <a:t>output nodes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9255" y="3319373"/>
            <a:ext cx="8012028" cy="11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The </a:t>
            </a:r>
            <a:r>
              <a:rPr lang="en-US" b="true" sz="33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edges</a:t>
            </a: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track bits (quantum/classical) and other classical variables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99380" y="590129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0988" y="768173"/>
            <a:ext cx="12882475" cy="513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37"/>
              </a:lnSpc>
            </a:pPr>
            <a:r>
              <a:rPr lang="en-US" sz="12879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3</a:t>
            </a:r>
          </a:p>
          <a:p>
            <a:pPr algn="l">
              <a:lnSpc>
                <a:spcPts val="13137"/>
              </a:lnSpc>
            </a:pPr>
            <a:r>
              <a:rPr lang="en-US" sz="12879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Introduction to Qiskit Preset Pass Manager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2858" y="4089958"/>
            <a:ext cx="8987820" cy="4714516"/>
          </a:xfrm>
          <a:custGeom>
            <a:avLst/>
            <a:gdLst/>
            <a:ahLst/>
            <a:cxnLst/>
            <a:rect r="r" b="b" t="t" l="l"/>
            <a:pathLst>
              <a:path h="4714516" w="8987820">
                <a:moveTo>
                  <a:pt x="0" y="0"/>
                </a:moveTo>
                <a:lnTo>
                  <a:pt x="8987820" y="0"/>
                </a:lnTo>
                <a:lnTo>
                  <a:pt x="8987820" y="4714517"/>
                </a:lnTo>
                <a:lnTo>
                  <a:pt x="0" y="4714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0085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Pass Manager Stages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9255" y="1260019"/>
            <a:ext cx="16650045" cy="2205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The Qiskit compilation pipeline is devided into discrete stages</a:t>
            </a:r>
          </a:p>
          <a:p>
            <a:pPr algn="l">
              <a:lnSpc>
                <a:spcPts val="594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Qiskit’s Preset Pass Manager uses 6 stages </a:t>
            </a:r>
          </a:p>
          <a:p>
            <a:pPr algn="l">
              <a:lnSpc>
                <a:spcPts val="594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If you’re constructing a pass managers manually, you can define your own stages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9207089" y="4142233"/>
            <a:ext cx="8774464" cy="4714516"/>
          </a:xfrm>
          <a:custGeom>
            <a:avLst/>
            <a:gdLst/>
            <a:ahLst/>
            <a:cxnLst/>
            <a:rect r="r" b="b" t="t" l="l"/>
            <a:pathLst>
              <a:path h="4714516" w="8774464">
                <a:moveTo>
                  <a:pt x="0" y="0"/>
                </a:moveTo>
                <a:lnTo>
                  <a:pt x="8774464" y="0"/>
                </a:lnTo>
                <a:lnTo>
                  <a:pt x="8774464" y="4714516"/>
                </a:lnTo>
                <a:lnTo>
                  <a:pt x="0" y="47145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31" t="-100854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0988" y="768173"/>
            <a:ext cx="12882475" cy="345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37"/>
              </a:lnSpc>
            </a:pPr>
            <a:r>
              <a:rPr lang="en-US" sz="12879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3.1</a:t>
            </a:r>
          </a:p>
          <a:p>
            <a:pPr algn="l">
              <a:lnSpc>
                <a:spcPts val="13137"/>
              </a:lnSpc>
            </a:pPr>
            <a:r>
              <a:rPr lang="en-US" sz="12879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init stage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763791"/>
            <a:ext cx="18288000" cy="5228770"/>
          </a:xfrm>
          <a:custGeom>
            <a:avLst/>
            <a:gdLst/>
            <a:ahLst/>
            <a:cxnLst/>
            <a:rect r="r" b="b" t="t" l="l"/>
            <a:pathLst>
              <a:path h="5228770" w="18288000">
                <a:moveTo>
                  <a:pt x="0" y="0"/>
                </a:moveTo>
                <a:lnTo>
                  <a:pt x="18288000" y="0"/>
                </a:lnTo>
                <a:lnTo>
                  <a:pt x="18288000" y="5228770"/>
                </a:lnTo>
                <a:lnTo>
                  <a:pt x="0" y="52287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643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Init stage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9255" y="1260019"/>
            <a:ext cx="16650045" cy="2205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This stage is divided into two phases:</a:t>
            </a:r>
          </a:p>
          <a:p>
            <a:pPr algn="l" marL="712470" indent="-356235" lvl="1">
              <a:lnSpc>
                <a:spcPts val="594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Decompose larger (&gt;= 3-qubit) gates to 1 and 2-qubit gates</a:t>
            </a:r>
          </a:p>
          <a:p>
            <a:pPr algn="l" marL="712470" indent="-356235" lvl="1">
              <a:lnSpc>
                <a:spcPts val="594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Logical optimizations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1519" y="1203882"/>
            <a:ext cx="17620433" cy="5493158"/>
          </a:xfrm>
          <a:custGeom>
            <a:avLst/>
            <a:gdLst/>
            <a:ahLst/>
            <a:cxnLst/>
            <a:rect r="r" b="b" t="t" l="l"/>
            <a:pathLst>
              <a:path h="5493158" w="17620433">
                <a:moveTo>
                  <a:pt x="0" y="0"/>
                </a:moveTo>
                <a:lnTo>
                  <a:pt x="17620434" y="0"/>
                </a:lnTo>
                <a:lnTo>
                  <a:pt x="17620434" y="5493158"/>
                </a:lnTo>
                <a:lnTo>
                  <a:pt x="0" y="549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682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9255" y="6868490"/>
            <a:ext cx="17344962" cy="2753513"/>
          </a:xfrm>
          <a:custGeom>
            <a:avLst/>
            <a:gdLst/>
            <a:ahLst/>
            <a:cxnLst/>
            <a:rect r="r" b="b" t="t" l="l"/>
            <a:pathLst>
              <a:path h="2753513" w="17344962">
                <a:moveTo>
                  <a:pt x="0" y="0"/>
                </a:moveTo>
                <a:lnTo>
                  <a:pt x="17344962" y="0"/>
                </a:lnTo>
                <a:lnTo>
                  <a:pt x="17344962" y="2753513"/>
                </a:lnTo>
                <a:lnTo>
                  <a:pt x="0" y="27535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Decompose larger gates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Logical Optimization Passes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55872" y="1632473"/>
            <a:ext cx="17120615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</a:t>
            </a:r>
            <a:r>
              <a:rPr lang="en-US" b="true" sz="33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RemoveIdentityEquivalent</a:t>
            </a: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Remove gates that are equivalent to an identity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5872" y="2558328"/>
            <a:ext cx="17120615" cy="11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</a:t>
            </a:r>
            <a:r>
              <a:rPr lang="en-US" sz="33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RemoveDiagonalBeforeMeasure</a:t>
            </a: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Remove a diagonal gate, that occurs immediately before 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a measure. This doesn’t impact the the result of the measurement and can be removed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55872" y="4065233"/>
            <a:ext cx="17120615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</a:t>
            </a:r>
            <a:r>
              <a:rPr lang="en-US" b="true" sz="33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InverseCannellation</a:t>
            </a: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Remove gates that are inverse pairs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55872" y="4991088"/>
            <a:ext cx="17120615" cy="11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</a:t>
            </a:r>
            <a:r>
              <a:rPr lang="en-US" sz="33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CommutativeInverseCannellation</a:t>
            </a: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Remove any inverse pairs found by reordering 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commutative operations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5872" y="6497992"/>
            <a:ext cx="17120615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</a:t>
            </a:r>
            <a:r>
              <a:rPr lang="en-US" b="true" sz="33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ConsolidateBlock</a:t>
            </a: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Consolidate blocks of 2-qubit gates into UnitaryGate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5872" y="7423847"/>
            <a:ext cx="17120615" cy="11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</a:t>
            </a:r>
            <a:r>
              <a:rPr lang="en-US" b="true" sz="33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Split2QUnitaries</a:t>
            </a: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Any UnitaryGates that are composed of a tensor product of two single-qubit gates will be decomposed into a single qubit UnitaryGate on each qubit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9255" y="1223203"/>
            <a:ext cx="16230600" cy="11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Remove I gates and gates equivalent to the identity gate because they do not change </a:t>
            </a:r>
          </a:p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the initial quantum state after being applied.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904592" y="2507738"/>
            <a:ext cx="3163422" cy="175206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609255" y="2695157"/>
            <a:ext cx="16230600" cy="4059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Identity gate I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and init state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then state after I gate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I gate equivalent: 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321706" y="3986230"/>
            <a:ext cx="4805698" cy="1341628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267950" y="5350018"/>
            <a:ext cx="2913210" cy="1028765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32850" y="5536360"/>
            <a:ext cx="14622299" cy="377263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853701" y="7201929"/>
            <a:ext cx="14372092" cy="3810117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RemoveIdentityEquivalent Pass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2841" y="1028700"/>
            <a:ext cx="15082318" cy="8939323"/>
          </a:xfrm>
          <a:custGeom>
            <a:avLst/>
            <a:gdLst/>
            <a:ahLst/>
            <a:cxnLst/>
            <a:rect r="r" b="b" t="t" l="l"/>
            <a:pathLst>
              <a:path h="8939323" w="15082318">
                <a:moveTo>
                  <a:pt x="0" y="0"/>
                </a:moveTo>
                <a:lnTo>
                  <a:pt x="15082318" y="0"/>
                </a:lnTo>
                <a:lnTo>
                  <a:pt x="15082318" y="8939323"/>
                </a:lnTo>
                <a:lnTo>
                  <a:pt x="0" y="89393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23481" y="4425755"/>
            <a:ext cx="726706" cy="1030789"/>
          </a:xfrm>
          <a:custGeom>
            <a:avLst/>
            <a:gdLst/>
            <a:ahLst/>
            <a:cxnLst/>
            <a:rect r="r" b="b" t="t" l="l"/>
            <a:pathLst>
              <a:path h="1030789" w="726706">
                <a:moveTo>
                  <a:pt x="0" y="0"/>
                </a:moveTo>
                <a:lnTo>
                  <a:pt x="726706" y="0"/>
                </a:lnTo>
                <a:lnTo>
                  <a:pt x="726706" y="1030789"/>
                </a:lnTo>
                <a:lnTo>
                  <a:pt x="0" y="10307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RemoveIdentityEquivalent Pass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369435" y="4933602"/>
            <a:ext cx="726706" cy="1030789"/>
          </a:xfrm>
          <a:custGeom>
            <a:avLst/>
            <a:gdLst/>
            <a:ahLst/>
            <a:cxnLst/>
            <a:rect r="r" b="b" t="t" l="l"/>
            <a:pathLst>
              <a:path h="1030789" w="726706">
                <a:moveTo>
                  <a:pt x="0" y="0"/>
                </a:moveTo>
                <a:lnTo>
                  <a:pt x="726707" y="0"/>
                </a:lnTo>
                <a:lnTo>
                  <a:pt x="726707" y="1030789"/>
                </a:lnTo>
                <a:lnTo>
                  <a:pt x="0" y="10307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525072" y="3344544"/>
            <a:ext cx="726706" cy="1030789"/>
          </a:xfrm>
          <a:custGeom>
            <a:avLst/>
            <a:gdLst/>
            <a:ahLst/>
            <a:cxnLst/>
            <a:rect r="r" b="b" t="t" l="l"/>
            <a:pathLst>
              <a:path h="1030789" w="726706">
                <a:moveTo>
                  <a:pt x="0" y="0"/>
                </a:moveTo>
                <a:lnTo>
                  <a:pt x="726706" y="0"/>
                </a:lnTo>
                <a:lnTo>
                  <a:pt x="726706" y="1030789"/>
                </a:lnTo>
                <a:lnTo>
                  <a:pt x="0" y="10307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505983" y="1336376"/>
          <a:ext cx="17287776" cy="8530604"/>
        </p:xfrm>
        <a:graphic>
          <a:graphicData uri="http://schemas.openxmlformats.org/presentationml/2006/ole">
            <p:oleObj imgW="20739100" imgH="119888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27375" y="2502527"/>
            <a:ext cx="1738688" cy="823008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741332" y="1827639"/>
            <a:ext cx="7795524" cy="2172786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7233" y="3776193"/>
            <a:ext cx="1698972" cy="816389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774754" y="3115205"/>
            <a:ext cx="7394455" cy="2138363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72607" y="4885106"/>
            <a:ext cx="1681321" cy="813447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988087" y="4425800"/>
            <a:ext cx="5054396" cy="1840219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18523" y="5859653"/>
            <a:ext cx="3243493" cy="1073809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850778" y="5386222"/>
            <a:ext cx="6702102" cy="2020671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27969" y="6987619"/>
            <a:ext cx="2104961" cy="884054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552530" y="7929000"/>
            <a:ext cx="2065244" cy="877434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3742340" y="6337258"/>
            <a:ext cx="8003364" cy="2207426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3797751" y="7368981"/>
            <a:ext cx="7337672" cy="2096477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573201" y="8941089"/>
            <a:ext cx="2047592" cy="874492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3916544" y="8419960"/>
            <a:ext cx="5912910" cy="1916751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RemoveIdentityEquivalent Pass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9255" y="2695157"/>
            <a:ext cx="16230600" cy="4059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A diagonal 1-qubit gate:                               , and it’s conjugate transpose: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and U is unitary gate                       , so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178736" y="2077749"/>
            <a:ext cx="3599203" cy="1989706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866591" y="2005462"/>
            <a:ext cx="4466654" cy="2134281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585339" y="3593771"/>
            <a:ext cx="2655071" cy="1017618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1096830" y="2835694"/>
            <a:ext cx="20258096" cy="4862039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17686" y="5873057"/>
            <a:ext cx="3632750" cy="1184557"/>
          </a:xfrm>
          <a:prstGeom prst="rect">
            <a:avLst/>
          </a:prstGeom>
        </p:spPr>
      </p:pic>
      <p:sp>
        <p:nvSpPr>
          <p:cNvPr name="Freeform 8" id="8"/>
          <p:cNvSpPr/>
          <p:nvPr/>
        </p:nvSpPr>
        <p:spPr>
          <a:xfrm flipH="false" flipV="false" rot="0">
            <a:off x="7337271" y="7736728"/>
            <a:ext cx="4592196" cy="2502747"/>
          </a:xfrm>
          <a:custGeom>
            <a:avLst/>
            <a:gdLst/>
            <a:ahLst/>
            <a:cxnLst/>
            <a:rect r="r" b="b" t="t" l="l"/>
            <a:pathLst>
              <a:path h="2502747" w="4592196">
                <a:moveTo>
                  <a:pt x="0" y="0"/>
                </a:moveTo>
                <a:lnTo>
                  <a:pt x="4592196" y="0"/>
                </a:lnTo>
                <a:lnTo>
                  <a:pt x="4592196" y="2502747"/>
                </a:lnTo>
                <a:lnTo>
                  <a:pt x="0" y="250274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91345" y="7069210"/>
            <a:ext cx="16230600" cy="1735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A complex:                      , but                                           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→ General diagonal quantum gate: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901395" y="6821097"/>
            <a:ext cx="2405858" cy="972088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715431" y="6665559"/>
            <a:ext cx="5267009" cy="1456934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973974" y="7623601"/>
            <a:ext cx="5405993" cy="2410651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RemoveDiagonalBeforeMeasure Pass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9255" y="1223203"/>
            <a:ext cx="16230600" cy="11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Remove a diagonal gate, that occurs immediately before a measure. This doesn’t </a:t>
            </a:r>
          </a:p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impact the the result of the measurement and can be removed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263123" y="1028700"/>
          <a:ext cx="17287776" cy="8530604"/>
        </p:xfrm>
        <a:graphic>
          <a:graphicData uri="http://schemas.openxmlformats.org/presentationml/2006/ole">
            <p:oleObj imgW="20739100" imgH="119888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08716" y="2003592"/>
            <a:ext cx="1493872" cy="1229121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69576" y="2423522"/>
            <a:ext cx="341265" cy="436879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RemoveDiagonalBeforeMeasure Pass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08532" y="3573084"/>
            <a:ext cx="463356" cy="441292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30596" y="4737249"/>
            <a:ext cx="419227" cy="463356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25607" y="5837314"/>
            <a:ext cx="697241" cy="61266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49168" y="7152124"/>
            <a:ext cx="450118" cy="435408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62381" y="8224411"/>
            <a:ext cx="741370" cy="608983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99497" y="9401505"/>
            <a:ext cx="1275332" cy="745782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247249" y="2236709"/>
            <a:ext cx="1663669" cy="810505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340656" y="3574372"/>
            <a:ext cx="542789" cy="454531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7393243" y="4735410"/>
            <a:ext cx="485420" cy="444969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7386256" y="5914172"/>
            <a:ext cx="569266" cy="458944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7290275" y="6896632"/>
            <a:ext cx="1721036" cy="820066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7326681" y="8122179"/>
            <a:ext cx="1681321" cy="813447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7393978" y="9422099"/>
            <a:ext cx="1028209" cy="557498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976889" y="3155250"/>
            <a:ext cx="1875790" cy="1292774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008716" y="4348194"/>
            <a:ext cx="1493872" cy="1229121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983086" y="5483680"/>
            <a:ext cx="1801434" cy="1280381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951259" y="6612971"/>
            <a:ext cx="2183351" cy="1400364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929009" y="7808169"/>
            <a:ext cx="2450356" cy="1444865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2014068" y="9111674"/>
            <a:ext cx="1801434" cy="1325445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9641770" y="1885066"/>
            <a:ext cx="2712498" cy="1513793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9743322" y="3187077"/>
            <a:ext cx="1493872" cy="1229121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9717692" y="4317704"/>
            <a:ext cx="1801434" cy="1280381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9735435" y="5361296"/>
            <a:ext cx="2754538" cy="1467397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9395202" y="6362126"/>
            <a:ext cx="5671306" cy="192536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9457447" y="7658331"/>
            <a:ext cx="4924369" cy="180087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9844632" y="9086378"/>
            <a:ext cx="1444175" cy="12289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3042" y="1028700"/>
            <a:ext cx="15321916" cy="9144380"/>
          </a:xfrm>
          <a:custGeom>
            <a:avLst/>
            <a:gdLst/>
            <a:ahLst/>
            <a:cxnLst/>
            <a:rect r="r" b="b" t="t" l="l"/>
            <a:pathLst>
              <a:path h="9144380" w="15321916">
                <a:moveTo>
                  <a:pt x="0" y="0"/>
                </a:moveTo>
                <a:lnTo>
                  <a:pt x="15321916" y="0"/>
                </a:lnTo>
                <a:lnTo>
                  <a:pt x="15321916" y="9144380"/>
                </a:lnTo>
                <a:lnTo>
                  <a:pt x="0" y="914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RemoveDiagonalBeforeMeasure Pass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400000">
            <a:off x="14802478" y="3587394"/>
            <a:ext cx="726706" cy="1030789"/>
          </a:xfrm>
          <a:custGeom>
            <a:avLst/>
            <a:gdLst/>
            <a:ahLst/>
            <a:cxnLst/>
            <a:rect r="r" b="b" t="t" l="l"/>
            <a:pathLst>
              <a:path h="1030789" w="726706">
                <a:moveTo>
                  <a:pt x="0" y="0"/>
                </a:moveTo>
                <a:lnTo>
                  <a:pt x="726706" y="0"/>
                </a:lnTo>
                <a:lnTo>
                  <a:pt x="726706" y="1030789"/>
                </a:lnTo>
                <a:lnTo>
                  <a:pt x="0" y="10307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3548379" y="4041442"/>
            <a:ext cx="911379" cy="1292736"/>
          </a:xfrm>
          <a:custGeom>
            <a:avLst/>
            <a:gdLst/>
            <a:ahLst/>
            <a:cxnLst/>
            <a:rect r="r" b="b" t="t" l="l"/>
            <a:pathLst>
              <a:path h="1292736" w="911379">
                <a:moveTo>
                  <a:pt x="0" y="0"/>
                </a:moveTo>
                <a:lnTo>
                  <a:pt x="911379" y="0"/>
                </a:lnTo>
                <a:lnTo>
                  <a:pt x="911379" y="1292737"/>
                </a:lnTo>
                <a:lnTo>
                  <a:pt x="0" y="12927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9255" y="1223203"/>
            <a:ext cx="16230600" cy="8127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Remove gates that are inverse pairs. With quantum gate      , inverse           :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quantum gate is unitary: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  <a:r>
              <a:rPr lang="en-US" sz="3300" i="true">
                <a:solidFill>
                  <a:srgbClr val="000000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Example</a:t>
            </a: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                    , and inverse of S: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and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 we can remove these gates of quantum circuit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329021" y="1315366"/>
            <a:ext cx="499022" cy="465304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399619" y="1150149"/>
            <a:ext cx="1177872" cy="687092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12781" y="1672260"/>
            <a:ext cx="3062437" cy="1069537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816464" y="2729489"/>
            <a:ext cx="2655071" cy="1017618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96675" y="3293718"/>
            <a:ext cx="3024097" cy="1079122"/>
          </a:xfrm>
          <a:prstGeom prst="rect">
            <a:avLst/>
          </a:prstGeom>
        </p:spPr>
      </p:pic>
      <p:sp>
        <p:nvSpPr>
          <p:cNvPr name="Freeform 8" id="8"/>
          <p:cNvSpPr/>
          <p:nvPr/>
        </p:nvSpPr>
        <p:spPr>
          <a:xfrm flipH="false" flipV="false" rot="0">
            <a:off x="1156490" y="3238298"/>
            <a:ext cx="2889833" cy="1184831"/>
          </a:xfrm>
          <a:custGeom>
            <a:avLst/>
            <a:gdLst/>
            <a:ahLst/>
            <a:cxnLst/>
            <a:rect r="r" b="b" t="t" l="l"/>
            <a:pathLst>
              <a:path h="1184831" w="2889833">
                <a:moveTo>
                  <a:pt x="0" y="0"/>
                </a:moveTo>
                <a:lnTo>
                  <a:pt x="2889833" y="0"/>
                </a:lnTo>
                <a:lnTo>
                  <a:pt x="2889833" y="1184831"/>
                </a:lnTo>
                <a:lnTo>
                  <a:pt x="0" y="11848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InverseCannellation Pass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18108" y="5258485"/>
            <a:ext cx="3493766" cy="1972133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627214" y="5022052"/>
            <a:ext cx="6330955" cy="2444998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4427" y="5760058"/>
            <a:ext cx="18039148" cy="439636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InverseCannellation Pass</a:t>
            </a:r>
          </a:p>
        </p:txBody>
      </p:sp>
      <p:graphicFrame>
        <p:nvGraphicFramePr>
          <p:cNvPr name="Object 3" id="3"/>
          <p:cNvGraphicFramePr/>
          <p:nvPr/>
        </p:nvGraphicFramePr>
        <p:xfrm>
          <a:off x="0" y="1028700"/>
          <a:ext cx="17287776" cy="8530604"/>
        </p:xfrm>
        <a:graphic>
          <a:graphicData uri="http://schemas.openxmlformats.org/presentationml/2006/ole">
            <p:oleObj imgW="20739100" imgH="119888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69576" y="2423522"/>
            <a:ext cx="341265" cy="436879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68816" y="3566465"/>
            <a:ext cx="542789" cy="454531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97499" y="4746443"/>
            <a:ext cx="485420" cy="444969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85549" y="5949651"/>
            <a:ext cx="463356" cy="441292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89594" y="7140356"/>
            <a:ext cx="569266" cy="458944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52267" y="8275802"/>
            <a:ext cx="1028209" cy="557498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07614" y="9518628"/>
            <a:ext cx="419227" cy="463356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61652" y="1274806"/>
            <a:ext cx="531973" cy="496029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299466" y="1098680"/>
            <a:ext cx="1255648" cy="732461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228421" y="1274806"/>
            <a:ext cx="531973" cy="496029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2068876" y="1098680"/>
            <a:ext cx="1255648" cy="732461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3459631" y="2423522"/>
            <a:ext cx="341265" cy="436879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3358871" y="3566465"/>
            <a:ext cx="542789" cy="454531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3363651" y="4746443"/>
            <a:ext cx="485420" cy="444969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3398586" y="5949651"/>
            <a:ext cx="463356" cy="441292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3345631" y="7114516"/>
            <a:ext cx="569266" cy="458944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3307386" y="8249961"/>
            <a:ext cx="1028209" cy="557498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3334967" y="9388815"/>
            <a:ext cx="697241" cy="61266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9145787" y="2335632"/>
            <a:ext cx="697241" cy="61266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2134900" y="2410283"/>
            <a:ext cx="419227" cy="463356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9166380" y="3577864"/>
            <a:ext cx="450118" cy="435408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2093344" y="3423044"/>
            <a:ext cx="741370" cy="608983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9082219" y="4664436"/>
            <a:ext cx="741370" cy="608983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2119454" y="4813740"/>
            <a:ext cx="450118" cy="435408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924406" y="5760263"/>
            <a:ext cx="1721036" cy="820066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1970518" y="5719076"/>
            <a:ext cx="2215284" cy="902441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8921148" y="6878524"/>
            <a:ext cx="1681321" cy="813447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8953090" y="8165697"/>
            <a:ext cx="1663669" cy="810505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9037722" y="9340640"/>
            <a:ext cx="1275332" cy="745782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1992216" y="6896077"/>
            <a:ext cx="2175568" cy="895822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2001042" y="8082271"/>
            <a:ext cx="2157916" cy="89288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2025680" y="9299085"/>
            <a:ext cx="1773992" cy="82889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51079" y="1158547"/>
            <a:ext cx="13785841" cy="8766133"/>
          </a:xfrm>
          <a:custGeom>
            <a:avLst/>
            <a:gdLst/>
            <a:ahLst/>
            <a:cxnLst/>
            <a:rect r="r" b="b" t="t" l="l"/>
            <a:pathLst>
              <a:path h="8766133" w="13785841">
                <a:moveTo>
                  <a:pt x="0" y="0"/>
                </a:moveTo>
                <a:lnTo>
                  <a:pt x="13785842" y="0"/>
                </a:lnTo>
                <a:lnTo>
                  <a:pt x="13785842" y="8766133"/>
                </a:lnTo>
                <a:lnTo>
                  <a:pt x="0" y="87661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9787" r="-1163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InverseCannellation Pass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477635" y="4187803"/>
            <a:ext cx="1145285" cy="1624518"/>
          </a:xfrm>
          <a:custGeom>
            <a:avLst/>
            <a:gdLst/>
            <a:ahLst/>
            <a:cxnLst/>
            <a:rect r="r" b="b" t="t" l="l"/>
            <a:pathLst>
              <a:path h="1624518" w="1145285">
                <a:moveTo>
                  <a:pt x="0" y="0"/>
                </a:moveTo>
                <a:lnTo>
                  <a:pt x="1145286" y="0"/>
                </a:lnTo>
                <a:lnTo>
                  <a:pt x="1145286" y="1624518"/>
                </a:lnTo>
                <a:lnTo>
                  <a:pt x="0" y="16245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574541" y="4214751"/>
            <a:ext cx="1145285" cy="1624518"/>
          </a:xfrm>
          <a:custGeom>
            <a:avLst/>
            <a:gdLst/>
            <a:ahLst/>
            <a:cxnLst/>
            <a:rect r="r" b="b" t="t" l="l"/>
            <a:pathLst>
              <a:path h="1624518" w="1145285">
                <a:moveTo>
                  <a:pt x="0" y="0"/>
                </a:moveTo>
                <a:lnTo>
                  <a:pt x="1145285" y="0"/>
                </a:lnTo>
                <a:lnTo>
                  <a:pt x="1145285" y="1624518"/>
                </a:lnTo>
                <a:lnTo>
                  <a:pt x="0" y="16245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017" y="2063333"/>
            <a:ext cx="18420847" cy="4225571"/>
          </a:xfrm>
          <a:custGeom>
            <a:avLst/>
            <a:gdLst/>
            <a:ahLst/>
            <a:cxnLst/>
            <a:rect r="r" b="b" t="t" l="l"/>
            <a:pathLst>
              <a:path h="4225571" w="18420847">
                <a:moveTo>
                  <a:pt x="0" y="0"/>
                </a:moveTo>
                <a:lnTo>
                  <a:pt x="18420847" y="0"/>
                </a:lnTo>
                <a:lnTo>
                  <a:pt x="18420847" y="4225570"/>
                </a:lnTo>
                <a:lnTo>
                  <a:pt x="0" y="422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9255" y="6212703"/>
            <a:ext cx="16230600" cy="289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A and B commute if: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or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A and B commute so we can: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5101" y="6347266"/>
            <a:ext cx="4057796" cy="1298924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579807" y="6937324"/>
            <a:ext cx="9249199" cy="2319814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519400" y="8487533"/>
            <a:ext cx="9249199" cy="2292977"/>
          </a:xfrm>
          <a:prstGeom prst="rect">
            <a:avLst/>
          </a:prstGeom>
        </p:spPr>
      </p:pic>
      <p:sp>
        <p:nvSpPr>
          <p:cNvPr name="Freeform 7" id="7"/>
          <p:cNvSpPr/>
          <p:nvPr/>
        </p:nvSpPr>
        <p:spPr>
          <a:xfrm flipH="false" flipV="false" rot="0">
            <a:off x="4921219" y="7561833"/>
            <a:ext cx="8566376" cy="1070797"/>
          </a:xfrm>
          <a:custGeom>
            <a:avLst/>
            <a:gdLst/>
            <a:ahLst/>
            <a:cxnLst/>
            <a:rect r="r" b="b" t="t" l="l"/>
            <a:pathLst>
              <a:path h="1070797" w="8566376">
                <a:moveTo>
                  <a:pt x="0" y="0"/>
                </a:moveTo>
                <a:lnTo>
                  <a:pt x="8566376" y="0"/>
                </a:lnTo>
                <a:lnTo>
                  <a:pt x="8566376" y="1070797"/>
                </a:lnTo>
                <a:lnTo>
                  <a:pt x="0" y="10707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CommutativeInverseCannellation Pass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9255" y="1223203"/>
            <a:ext cx="16230600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Remove inverse gate pairs that are separated by o</a:t>
            </a: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pe</a:t>
            </a: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rations that commute with them.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710" y="1403291"/>
            <a:ext cx="9538225" cy="7855009"/>
          </a:xfrm>
          <a:custGeom>
            <a:avLst/>
            <a:gdLst/>
            <a:ahLst/>
            <a:cxnLst/>
            <a:rect r="r" b="b" t="t" l="l"/>
            <a:pathLst>
              <a:path h="7855009" w="9538225">
                <a:moveTo>
                  <a:pt x="0" y="0"/>
                </a:moveTo>
                <a:lnTo>
                  <a:pt x="9538225" y="0"/>
                </a:lnTo>
                <a:lnTo>
                  <a:pt x="9538225" y="7855009"/>
                </a:lnTo>
                <a:lnTo>
                  <a:pt x="0" y="78550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689935" y="1327091"/>
            <a:ext cx="8186880" cy="6383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X gate on qubit 0, Z gate on qubit 1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then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and 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so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398396" y="1984156"/>
            <a:ext cx="3454086" cy="1047739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490505" y="2846878"/>
            <a:ext cx="3269868" cy="1009361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211850" y="3991754"/>
            <a:ext cx="7143050" cy="1747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211850" y="5744090"/>
            <a:ext cx="7143050" cy="1747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747766" y="7785442"/>
            <a:ext cx="4071216" cy="1150594"/>
          </a:xfrm>
          <a:prstGeom prst="rect">
            <a:avLst/>
          </a:prstGeom>
        </p:spPr>
      </p:pic>
      <p:sp>
        <p:nvSpPr>
          <p:cNvPr name="Freeform 9" id="9"/>
          <p:cNvSpPr/>
          <p:nvPr/>
        </p:nvSpPr>
        <p:spPr>
          <a:xfrm flipH="false" flipV="false" rot="0">
            <a:off x="11906345" y="7638083"/>
            <a:ext cx="3754059" cy="1445313"/>
          </a:xfrm>
          <a:custGeom>
            <a:avLst/>
            <a:gdLst/>
            <a:ahLst/>
            <a:cxnLst/>
            <a:rect r="r" b="b" t="t" l="l"/>
            <a:pathLst>
              <a:path h="1445313" w="3754059">
                <a:moveTo>
                  <a:pt x="0" y="0"/>
                </a:moveTo>
                <a:lnTo>
                  <a:pt x="3754059" y="0"/>
                </a:lnTo>
                <a:lnTo>
                  <a:pt x="3754059" y="1445313"/>
                </a:lnTo>
                <a:lnTo>
                  <a:pt x="0" y="14453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Example 1: </a:t>
            </a:r>
            <a:r>
              <a:rPr lang="en-US" sz="4999">
                <a:solidFill>
                  <a:srgbClr val="7ED957"/>
                </a:solidFill>
                <a:latin typeface="Roboto"/>
                <a:ea typeface="Roboto"/>
                <a:cs typeface="Roboto"/>
                <a:sym typeface="Roboto"/>
              </a:rPr>
              <a:t>COMMUTE </a:t>
            </a: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Two gates on different qubit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89935" y="1327091"/>
            <a:ext cx="8186880" cy="8708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Pauli X, Y, Z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X, Y, and Z do not commute pairwise when acting on the same qubit: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→  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505983" y="1424401"/>
            <a:ext cx="8498575" cy="8862599"/>
          </a:xfrm>
          <a:custGeom>
            <a:avLst/>
            <a:gdLst/>
            <a:ahLst/>
            <a:cxnLst/>
            <a:rect r="r" b="b" t="t" l="l"/>
            <a:pathLst>
              <a:path h="8862599" w="8498575">
                <a:moveTo>
                  <a:pt x="0" y="0"/>
                </a:moveTo>
                <a:lnTo>
                  <a:pt x="8498575" y="0"/>
                </a:lnTo>
                <a:lnTo>
                  <a:pt x="8498575" y="8862599"/>
                </a:lnTo>
                <a:lnTo>
                  <a:pt x="0" y="88625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Example 2: </a:t>
            </a:r>
            <a:r>
              <a:rPr lang="en-US" sz="4999">
                <a:solidFill>
                  <a:srgbClr val="FF3131"/>
                </a:solidFill>
                <a:latin typeface="Roboto"/>
                <a:ea typeface="Roboto"/>
                <a:cs typeface="Roboto"/>
                <a:sym typeface="Roboto"/>
              </a:rPr>
              <a:t>UNCOMMUTE </a:t>
            </a: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Pauli gates on the same qubit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06534" y="2008425"/>
            <a:ext cx="2841610" cy="1559329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070012" y="1984402"/>
            <a:ext cx="3129889" cy="1607375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196008" y="1979098"/>
            <a:ext cx="3193535" cy="1617983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216614" y="4950524"/>
            <a:ext cx="2720651" cy="916361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077871" y="4924280"/>
            <a:ext cx="3035581" cy="910528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264924" y="5815904"/>
            <a:ext cx="2891238" cy="973952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145536" y="6741298"/>
            <a:ext cx="2720651" cy="916361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077871" y="6773375"/>
            <a:ext cx="3035581" cy="910528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419110" y="7622953"/>
            <a:ext cx="2725025" cy="94625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145536" y="8534496"/>
            <a:ext cx="2720651" cy="916361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077871" y="8566573"/>
            <a:ext cx="3035581" cy="910528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0362246" y="9406674"/>
            <a:ext cx="2838750" cy="965204"/>
          </a:xfrm>
          <a:prstGeom prst="rect">
            <a:avLst/>
          </a:prstGeom>
        </p:spPr>
      </p:pic>
      <p:sp>
        <p:nvSpPr>
          <p:cNvPr name="Freeform 17" id="17"/>
          <p:cNvSpPr/>
          <p:nvPr/>
        </p:nvSpPr>
        <p:spPr>
          <a:xfrm flipH="false" flipV="false" rot="0">
            <a:off x="10411325" y="5725934"/>
            <a:ext cx="2613741" cy="1006290"/>
          </a:xfrm>
          <a:custGeom>
            <a:avLst/>
            <a:gdLst/>
            <a:ahLst/>
            <a:cxnLst/>
            <a:rect r="r" b="b" t="t" l="l"/>
            <a:pathLst>
              <a:path h="1006290" w="2613741">
                <a:moveTo>
                  <a:pt x="0" y="0"/>
                </a:moveTo>
                <a:lnTo>
                  <a:pt x="2613741" y="0"/>
                </a:lnTo>
                <a:lnTo>
                  <a:pt x="2613741" y="1006290"/>
                </a:lnTo>
                <a:lnTo>
                  <a:pt x="0" y="100629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474752" y="7516663"/>
            <a:ext cx="2613741" cy="1006290"/>
          </a:xfrm>
          <a:custGeom>
            <a:avLst/>
            <a:gdLst/>
            <a:ahLst/>
            <a:cxnLst/>
            <a:rect r="r" b="b" t="t" l="l"/>
            <a:pathLst>
              <a:path h="1006290" w="2613741">
                <a:moveTo>
                  <a:pt x="0" y="0"/>
                </a:moveTo>
                <a:lnTo>
                  <a:pt x="2613740" y="0"/>
                </a:lnTo>
                <a:lnTo>
                  <a:pt x="2613740" y="1006290"/>
                </a:lnTo>
                <a:lnTo>
                  <a:pt x="0" y="100629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474752" y="9280710"/>
            <a:ext cx="2613741" cy="1006290"/>
          </a:xfrm>
          <a:custGeom>
            <a:avLst/>
            <a:gdLst/>
            <a:ahLst/>
            <a:cxnLst/>
            <a:rect r="r" b="b" t="t" l="l"/>
            <a:pathLst>
              <a:path h="1006290" w="2613741">
                <a:moveTo>
                  <a:pt x="0" y="0"/>
                </a:moveTo>
                <a:lnTo>
                  <a:pt x="2613740" y="0"/>
                </a:lnTo>
                <a:lnTo>
                  <a:pt x="2613740" y="1006290"/>
                </a:lnTo>
                <a:lnTo>
                  <a:pt x="0" y="100629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89935" y="1327091"/>
            <a:ext cx="8186880" cy="5221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Diagonal gate: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then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505983" y="1207984"/>
            <a:ext cx="8638017" cy="9028681"/>
          </a:xfrm>
          <a:custGeom>
            <a:avLst/>
            <a:gdLst/>
            <a:ahLst/>
            <a:cxnLst/>
            <a:rect r="r" b="b" t="t" l="l"/>
            <a:pathLst>
              <a:path h="9028681" w="8638017">
                <a:moveTo>
                  <a:pt x="0" y="0"/>
                </a:moveTo>
                <a:lnTo>
                  <a:pt x="8638017" y="0"/>
                </a:lnTo>
                <a:lnTo>
                  <a:pt x="8638017" y="9028681"/>
                </a:lnTo>
                <a:lnTo>
                  <a:pt x="0" y="90286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5983" y="174674"/>
            <a:ext cx="16753317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Example 3: </a:t>
            </a:r>
            <a:r>
              <a:rPr lang="en-US" sz="4999">
                <a:solidFill>
                  <a:srgbClr val="7ED957"/>
                </a:solidFill>
                <a:latin typeface="Roboto"/>
                <a:ea typeface="Roboto"/>
                <a:cs typeface="Roboto"/>
                <a:sym typeface="Roboto"/>
              </a:rPr>
              <a:t>COMMUTE</a:t>
            </a: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Diagonal gates on the same qubit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345271" y="1785859"/>
            <a:ext cx="4135968" cy="2079167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566244" y="1802234"/>
            <a:ext cx="3939474" cy="2046418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273955" y="4073285"/>
            <a:ext cx="4991765" cy="206502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536810" y="4087458"/>
            <a:ext cx="4821688" cy="2036674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619295" y="6188239"/>
            <a:ext cx="4328159" cy="1192659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146755" y="6775260"/>
            <a:ext cx="9094877" cy="2748872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146755" y="8245699"/>
            <a:ext cx="9094877" cy="2748872"/>
          </a:xfrm>
          <a:prstGeom prst="rect">
            <a:avLst/>
          </a:prstGeom>
        </p:spPr>
      </p:pic>
      <p:sp>
        <p:nvSpPr>
          <p:cNvPr name="Freeform 12" id="12"/>
          <p:cNvSpPr/>
          <p:nvPr/>
        </p:nvSpPr>
        <p:spPr>
          <a:xfrm flipH="false" flipV="false" rot="0">
            <a:off x="9392531" y="7149169"/>
            <a:ext cx="8331585" cy="243097"/>
          </a:xfrm>
          <a:custGeom>
            <a:avLst/>
            <a:gdLst/>
            <a:ahLst/>
            <a:cxnLst/>
            <a:rect r="r" b="b" t="t" l="l"/>
            <a:pathLst>
              <a:path h="243097" w="8331585">
                <a:moveTo>
                  <a:pt x="0" y="0"/>
                </a:moveTo>
                <a:lnTo>
                  <a:pt x="8331586" y="0"/>
                </a:lnTo>
                <a:lnTo>
                  <a:pt x="8331586" y="243096"/>
                </a:lnTo>
                <a:lnTo>
                  <a:pt x="0" y="2430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77" t="-2456092" r="0" b="-1157937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830468" y="6043758"/>
            <a:ext cx="3816937" cy="1469521"/>
          </a:xfrm>
          <a:custGeom>
            <a:avLst/>
            <a:gdLst/>
            <a:ahLst/>
            <a:cxnLst/>
            <a:rect r="r" b="b" t="t" l="l"/>
            <a:pathLst>
              <a:path h="1469521" w="3816937">
                <a:moveTo>
                  <a:pt x="0" y="0"/>
                </a:moveTo>
                <a:lnTo>
                  <a:pt x="3816937" y="0"/>
                </a:lnTo>
                <a:lnTo>
                  <a:pt x="3816937" y="1469521"/>
                </a:lnTo>
                <a:lnTo>
                  <a:pt x="0" y="14695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50812" y="1327091"/>
            <a:ext cx="8186880" cy="5221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CX gate: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Diagonal gate: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Diagonal gate on control qubit: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and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398194" y="1314533"/>
            <a:ext cx="8770361" cy="2040826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0">
            <a:off x="505983" y="1369550"/>
            <a:ext cx="8462130" cy="9016384"/>
          </a:xfrm>
          <a:custGeom>
            <a:avLst/>
            <a:gdLst/>
            <a:ahLst/>
            <a:cxnLst/>
            <a:rect r="r" b="b" t="t" l="l"/>
            <a:pathLst>
              <a:path h="9016384" w="8462130">
                <a:moveTo>
                  <a:pt x="0" y="0"/>
                </a:moveTo>
                <a:lnTo>
                  <a:pt x="8462131" y="0"/>
                </a:lnTo>
                <a:lnTo>
                  <a:pt x="8462131" y="9016384"/>
                </a:lnTo>
                <a:lnTo>
                  <a:pt x="0" y="90163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5015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5983" y="174674"/>
            <a:ext cx="17218133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Example 4: </a:t>
            </a:r>
            <a:r>
              <a:rPr lang="en-US" sz="4999">
                <a:solidFill>
                  <a:srgbClr val="7ED957"/>
                </a:solidFill>
                <a:latin typeface="Roboto"/>
                <a:ea typeface="Roboto"/>
                <a:cs typeface="Roboto"/>
                <a:sym typeface="Roboto"/>
              </a:rPr>
              <a:t>COMMUTE</a:t>
            </a: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Diagonal gate on control qubit of CX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636028" y="2664056"/>
            <a:ext cx="6254274" cy="1621478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492115" y="3551613"/>
            <a:ext cx="10237854" cy="2128231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031767" y="4513881"/>
            <a:ext cx="6271210" cy="1467124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061156" y="5174741"/>
            <a:ext cx="5918540" cy="1408345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466363" y="5912589"/>
            <a:ext cx="10150560" cy="2113682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998740" y="6867340"/>
            <a:ext cx="6271210" cy="1467124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028129" y="7442449"/>
            <a:ext cx="5918540" cy="1408345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046161" y="8430186"/>
            <a:ext cx="7129762" cy="1718456"/>
          </a:xfrm>
          <a:prstGeom prst="rect">
            <a:avLst/>
          </a:prstGeom>
        </p:spPr>
      </p:pic>
      <p:sp>
        <p:nvSpPr>
          <p:cNvPr name="Freeform 14" id="14"/>
          <p:cNvSpPr/>
          <p:nvPr/>
        </p:nvSpPr>
        <p:spPr>
          <a:xfrm flipH="false" flipV="false" rot="0">
            <a:off x="10453796" y="8864374"/>
            <a:ext cx="6444600" cy="805575"/>
          </a:xfrm>
          <a:custGeom>
            <a:avLst/>
            <a:gdLst/>
            <a:ahLst/>
            <a:cxnLst/>
            <a:rect r="r" b="b" t="t" l="l"/>
            <a:pathLst>
              <a:path h="805575" w="6444600">
                <a:moveTo>
                  <a:pt x="0" y="0"/>
                </a:moveTo>
                <a:lnTo>
                  <a:pt x="6444601" y="0"/>
                </a:lnTo>
                <a:lnTo>
                  <a:pt x="6444601" y="805575"/>
                </a:lnTo>
                <a:lnTo>
                  <a:pt x="0" y="80557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50812" y="1327091"/>
            <a:ext cx="8186880" cy="5221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CX gate: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X gate: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X gate on target qubit: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and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398194" y="1314533"/>
            <a:ext cx="8770361" cy="2040826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001904" y="2937630"/>
            <a:ext cx="3522522" cy="1074329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479895" y="3549577"/>
            <a:ext cx="10262296" cy="2132305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092582" y="4520743"/>
            <a:ext cx="5855689" cy="1453156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127790" y="5215188"/>
            <a:ext cx="5433186" cy="1327453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454142" y="5910552"/>
            <a:ext cx="10175002" cy="2117756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033367" y="6873392"/>
            <a:ext cx="5855689" cy="1453156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046572" y="7566784"/>
            <a:ext cx="5433186" cy="1327453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030805" y="8427627"/>
            <a:ext cx="7160474" cy="1723574"/>
          </a:xfrm>
          <a:prstGeom prst="rect">
            <a:avLst/>
          </a:prstGeom>
        </p:spPr>
      </p:pic>
      <p:sp>
        <p:nvSpPr>
          <p:cNvPr name="Freeform 12" id="12"/>
          <p:cNvSpPr/>
          <p:nvPr/>
        </p:nvSpPr>
        <p:spPr>
          <a:xfrm flipH="false" flipV="false" rot="0">
            <a:off x="10453796" y="8864374"/>
            <a:ext cx="6444600" cy="805575"/>
          </a:xfrm>
          <a:custGeom>
            <a:avLst/>
            <a:gdLst/>
            <a:ahLst/>
            <a:cxnLst/>
            <a:rect r="r" b="b" t="t" l="l"/>
            <a:pathLst>
              <a:path h="805575" w="6444600">
                <a:moveTo>
                  <a:pt x="0" y="0"/>
                </a:moveTo>
                <a:lnTo>
                  <a:pt x="6444601" y="0"/>
                </a:lnTo>
                <a:lnTo>
                  <a:pt x="6444601" y="805575"/>
                </a:lnTo>
                <a:lnTo>
                  <a:pt x="0" y="80557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30389" y="1233896"/>
            <a:ext cx="8984661" cy="8505755"/>
          </a:xfrm>
          <a:custGeom>
            <a:avLst/>
            <a:gdLst/>
            <a:ahLst/>
            <a:cxnLst/>
            <a:rect r="r" b="b" t="t" l="l"/>
            <a:pathLst>
              <a:path h="8505755" w="8984661">
                <a:moveTo>
                  <a:pt x="0" y="0"/>
                </a:moveTo>
                <a:lnTo>
                  <a:pt x="8984661" y="0"/>
                </a:lnTo>
                <a:lnTo>
                  <a:pt x="8984661" y="8505755"/>
                </a:lnTo>
                <a:lnTo>
                  <a:pt x="0" y="850575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6139" t="0" r="-1511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05983" y="174674"/>
            <a:ext cx="17218133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Example 5: </a:t>
            </a:r>
            <a:r>
              <a:rPr lang="en-US" sz="4999">
                <a:solidFill>
                  <a:srgbClr val="7ED957"/>
                </a:solidFill>
                <a:latin typeface="Roboto"/>
                <a:ea typeface="Roboto"/>
                <a:cs typeface="Roboto"/>
                <a:sym typeface="Roboto"/>
              </a:rPr>
              <a:t>COMMUTE</a:t>
            </a: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X-axis gate on target qubit of CX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5983" y="1157236"/>
            <a:ext cx="11115034" cy="8964913"/>
          </a:xfrm>
          <a:custGeom>
            <a:avLst/>
            <a:gdLst/>
            <a:ahLst/>
            <a:cxnLst/>
            <a:rect r="r" b="b" t="t" l="l"/>
            <a:pathLst>
              <a:path h="8964913" w="11115034">
                <a:moveTo>
                  <a:pt x="0" y="0"/>
                </a:moveTo>
                <a:lnTo>
                  <a:pt x="11115034" y="0"/>
                </a:lnTo>
                <a:lnTo>
                  <a:pt x="11115034" y="8964913"/>
                </a:lnTo>
                <a:lnTo>
                  <a:pt x="0" y="89649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5983" y="174674"/>
            <a:ext cx="17218133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Example 6: Two CX gates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865672" y="1237650"/>
            <a:ext cx="6487698" cy="1517754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718145" y="1650417"/>
            <a:ext cx="8258023" cy="1812808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865672" y="2570856"/>
            <a:ext cx="6487698" cy="1517754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718145" y="2983623"/>
            <a:ext cx="8258023" cy="1812808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869179" y="3951627"/>
            <a:ext cx="5880132" cy="1399034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1406314" y="1081036"/>
            <a:ext cx="8186880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Two CX gates same control: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1586945" y="4248356"/>
            <a:ext cx="6444600" cy="805575"/>
          </a:xfrm>
          <a:custGeom>
            <a:avLst/>
            <a:gdLst/>
            <a:ahLst/>
            <a:cxnLst/>
            <a:rect r="r" b="b" t="t" l="l"/>
            <a:pathLst>
              <a:path h="805575" w="6444600">
                <a:moveTo>
                  <a:pt x="0" y="0"/>
                </a:moveTo>
                <a:lnTo>
                  <a:pt x="6444600" y="0"/>
                </a:lnTo>
                <a:lnTo>
                  <a:pt x="6444600" y="805575"/>
                </a:lnTo>
                <a:lnTo>
                  <a:pt x="0" y="8055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865672" y="5886820"/>
            <a:ext cx="6487698" cy="1517754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742588" y="6303662"/>
            <a:ext cx="8209139" cy="1804661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890115" y="7224099"/>
            <a:ext cx="6438814" cy="1509607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0768776" y="7641232"/>
            <a:ext cx="8156762" cy="1795931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1869179" y="8600797"/>
            <a:ext cx="5880132" cy="1399034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1406314" y="5730206"/>
            <a:ext cx="8186880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Two CX gates same target: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1621017" y="8900308"/>
            <a:ext cx="6444600" cy="805575"/>
          </a:xfrm>
          <a:custGeom>
            <a:avLst/>
            <a:gdLst/>
            <a:ahLst/>
            <a:cxnLst/>
            <a:rect r="r" b="b" t="t" l="l"/>
            <a:pathLst>
              <a:path h="805575" w="6444600">
                <a:moveTo>
                  <a:pt x="0" y="0"/>
                </a:moveTo>
                <a:lnTo>
                  <a:pt x="6444601" y="0"/>
                </a:lnTo>
                <a:lnTo>
                  <a:pt x="6444601" y="805575"/>
                </a:lnTo>
                <a:lnTo>
                  <a:pt x="0" y="8055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4322" y="1028700"/>
            <a:ext cx="16024978" cy="8953827"/>
          </a:xfrm>
          <a:custGeom>
            <a:avLst/>
            <a:gdLst/>
            <a:ahLst/>
            <a:cxnLst/>
            <a:rect r="r" b="b" t="t" l="l"/>
            <a:pathLst>
              <a:path h="8953827" w="16024978">
                <a:moveTo>
                  <a:pt x="0" y="0"/>
                </a:moveTo>
                <a:lnTo>
                  <a:pt x="16024978" y="0"/>
                </a:lnTo>
                <a:lnTo>
                  <a:pt x="16024978" y="8953827"/>
                </a:lnTo>
                <a:lnTo>
                  <a:pt x="0" y="89538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CommutativeInverseCannellation Pass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400000">
            <a:off x="3853759" y="4433143"/>
            <a:ext cx="771055" cy="1093695"/>
          </a:xfrm>
          <a:custGeom>
            <a:avLst/>
            <a:gdLst/>
            <a:ahLst/>
            <a:cxnLst/>
            <a:rect r="r" b="b" t="t" l="l"/>
            <a:pathLst>
              <a:path h="1093695" w="771055">
                <a:moveTo>
                  <a:pt x="0" y="0"/>
                </a:moveTo>
                <a:lnTo>
                  <a:pt x="771055" y="0"/>
                </a:lnTo>
                <a:lnTo>
                  <a:pt x="771055" y="1093695"/>
                </a:lnTo>
                <a:lnTo>
                  <a:pt x="0" y="10936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9569956" y="4445447"/>
            <a:ext cx="771055" cy="1093695"/>
          </a:xfrm>
          <a:custGeom>
            <a:avLst/>
            <a:gdLst/>
            <a:ahLst/>
            <a:cxnLst/>
            <a:rect r="r" b="b" t="t" l="l"/>
            <a:pathLst>
              <a:path h="1093695" w="771055">
                <a:moveTo>
                  <a:pt x="0" y="0"/>
                </a:moveTo>
                <a:lnTo>
                  <a:pt x="771055" y="0"/>
                </a:lnTo>
                <a:lnTo>
                  <a:pt x="771055" y="1093695"/>
                </a:lnTo>
                <a:lnTo>
                  <a:pt x="0" y="10936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8254395" y="3524819"/>
            <a:ext cx="771055" cy="1093695"/>
          </a:xfrm>
          <a:custGeom>
            <a:avLst/>
            <a:gdLst/>
            <a:ahLst/>
            <a:cxnLst/>
            <a:rect r="r" b="b" t="t" l="l"/>
            <a:pathLst>
              <a:path h="1093695" w="771055">
                <a:moveTo>
                  <a:pt x="0" y="0"/>
                </a:moveTo>
                <a:lnTo>
                  <a:pt x="771055" y="0"/>
                </a:lnTo>
                <a:lnTo>
                  <a:pt x="771055" y="1093695"/>
                </a:lnTo>
                <a:lnTo>
                  <a:pt x="0" y="10936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1588966" y="3557137"/>
            <a:ext cx="771055" cy="1093695"/>
          </a:xfrm>
          <a:custGeom>
            <a:avLst/>
            <a:gdLst/>
            <a:ahLst/>
            <a:cxnLst/>
            <a:rect r="r" b="b" t="t" l="l"/>
            <a:pathLst>
              <a:path h="1093695" w="771055">
                <a:moveTo>
                  <a:pt x="0" y="0"/>
                </a:moveTo>
                <a:lnTo>
                  <a:pt x="771055" y="0"/>
                </a:lnTo>
                <a:lnTo>
                  <a:pt x="771055" y="1093695"/>
                </a:lnTo>
                <a:lnTo>
                  <a:pt x="0" y="10936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477" y="1943251"/>
            <a:ext cx="18119045" cy="5590825"/>
          </a:xfrm>
          <a:custGeom>
            <a:avLst/>
            <a:gdLst/>
            <a:ahLst/>
            <a:cxnLst/>
            <a:rect r="r" b="b" t="t" l="l"/>
            <a:pathLst>
              <a:path h="5590825" w="18119045">
                <a:moveTo>
                  <a:pt x="0" y="0"/>
                </a:moveTo>
                <a:lnTo>
                  <a:pt x="18119046" y="0"/>
                </a:lnTo>
                <a:lnTo>
                  <a:pt x="18119046" y="5590825"/>
                </a:lnTo>
                <a:lnTo>
                  <a:pt x="0" y="5590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ConsolidateBlock Pass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9255" y="1223203"/>
            <a:ext cx="16230600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Combine a sequence of quantum gates into a unitary block operation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9255" y="7600751"/>
            <a:ext cx="16230600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The unitary before and after must have fidelity is 1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825778" y="8034957"/>
            <a:ext cx="6552223" cy="213376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842834" y="8395663"/>
            <a:ext cx="5710340" cy="1412349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9255" y="1223203"/>
            <a:ext cx="16230600" cy="11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A quantum circuit may contain a long sequence of gates, each gate corresponds a </a:t>
            </a: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unitary matrix: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396394" y="1614816"/>
            <a:ext cx="3754453" cy="1075738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779278" y="2743343"/>
            <a:ext cx="5963594" cy="6383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The entire gate sequence is </a:t>
            </a: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equivalent to a single unitary: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therefore, instead of treating </a:t>
            </a: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each gate separately: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 can consolidate them and </a:t>
            </a: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decomposed into a more </a:t>
            </a: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efficient gate sequence.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960808" y="3797108"/>
            <a:ext cx="5760642" cy="1447349"/>
          </a:xfrm>
          <a:prstGeom prst="rect">
            <a:avLst/>
          </a:prstGeom>
        </p:spPr>
      </p:pic>
      <p:sp>
        <p:nvSpPr>
          <p:cNvPr name="Freeform 6" id="6"/>
          <p:cNvSpPr/>
          <p:nvPr/>
        </p:nvSpPr>
        <p:spPr>
          <a:xfrm flipH="false" flipV="false" rot="0">
            <a:off x="505983" y="3015338"/>
            <a:ext cx="11170023" cy="5916139"/>
          </a:xfrm>
          <a:custGeom>
            <a:avLst/>
            <a:gdLst/>
            <a:ahLst/>
            <a:cxnLst/>
            <a:rect r="r" b="b" t="t" l="l"/>
            <a:pathLst>
              <a:path h="5916139" w="11170023">
                <a:moveTo>
                  <a:pt x="0" y="0"/>
                </a:moveTo>
                <a:lnTo>
                  <a:pt x="11170023" y="0"/>
                </a:lnTo>
                <a:lnTo>
                  <a:pt x="11170023" y="5916138"/>
                </a:lnTo>
                <a:lnTo>
                  <a:pt x="0" y="59161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Why do we need ConsolidateBlocks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625330" y="6123912"/>
            <a:ext cx="6431598" cy="155917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2341" y="1216116"/>
            <a:ext cx="16583319" cy="8899928"/>
          </a:xfrm>
          <a:custGeom>
            <a:avLst/>
            <a:gdLst/>
            <a:ahLst/>
            <a:cxnLst/>
            <a:rect r="r" b="b" t="t" l="l"/>
            <a:pathLst>
              <a:path h="8899928" w="16583319">
                <a:moveTo>
                  <a:pt x="0" y="0"/>
                </a:moveTo>
                <a:lnTo>
                  <a:pt x="16583318" y="0"/>
                </a:lnTo>
                <a:lnTo>
                  <a:pt x="16583318" y="8899928"/>
                </a:lnTo>
                <a:lnTo>
                  <a:pt x="0" y="88999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ConsolidateBlock Pass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9255" y="3149803"/>
            <a:ext cx="16902922" cy="6622241"/>
          </a:xfrm>
          <a:custGeom>
            <a:avLst/>
            <a:gdLst/>
            <a:ahLst/>
            <a:cxnLst/>
            <a:rect r="r" b="b" t="t" l="l"/>
            <a:pathLst>
              <a:path h="6622241" w="16902922">
                <a:moveTo>
                  <a:pt x="0" y="0"/>
                </a:moveTo>
                <a:lnTo>
                  <a:pt x="16902922" y="0"/>
                </a:lnTo>
                <a:lnTo>
                  <a:pt x="16902922" y="6622241"/>
                </a:lnTo>
                <a:lnTo>
                  <a:pt x="0" y="66222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Split2QUnitaries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9255" y="1223203"/>
            <a:ext cx="16230600" cy="11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Decompose a general two-qubit unitary into single-qubit operations and entangling </a:t>
            </a: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operations.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07200" y="2345055"/>
            <a:ext cx="3858000" cy="1126249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07200" y="5991385"/>
            <a:ext cx="3858000" cy="118216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5983" y="4158002"/>
            <a:ext cx="17016273" cy="5260407"/>
          </a:xfrm>
          <a:custGeom>
            <a:avLst/>
            <a:gdLst/>
            <a:ahLst/>
            <a:cxnLst/>
            <a:rect r="r" b="b" t="t" l="l"/>
            <a:pathLst>
              <a:path h="5260407" w="17016273">
                <a:moveTo>
                  <a:pt x="0" y="0"/>
                </a:moveTo>
                <a:lnTo>
                  <a:pt x="17016273" y="0"/>
                </a:lnTo>
                <a:lnTo>
                  <a:pt x="17016273" y="5260407"/>
                </a:lnTo>
                <a:lnTo>
                  <a:pt x="0" y="52604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Why do we need Split2QUnitaries?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32592" y="2838584"/>
            <a:ext cx="17391392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3. Optimize the circuit by consolidating gate blocks and decomposing them into fewer gates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2592" y="1988929"/>
            <a:ext cx="16230600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2. Decompose a unitary into the hardware's basis gate set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05983" y="1139441"/>
            <a:ext cx="16230600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1. Arbitrary U(4) is not directly executable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Euler Decomposition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09255" y="1223203"/>
            <a:ext cx="16230600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An arbitrary single-qubit is described by a unitary matrix: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325132" y="1830096"/>
            <a:ext cx="2798848" cy="1045574"/>
          </a:xfrm>
          <a:prstGeom prst="rect">
            <a:avLst/>
          </a:prstGeom>
        </p:spPr>
      </p:pic>
      <p:sp>
        <p:nvSpPr>
          <p:cNvPr name="Freeform 5" id="5"/>
          <p:cNvSpPr/>
          <p:nvPr/>
        </p:nvSpPr>
        <p:spPr>
          <a:xfrm flipH="false" flipV="false" rot="0">
            <a:off x="3481414" y="7110309"/>
            <a:ext cx="6444600" cy="805575"/>
          </a:xfrm>
          <a:custGeom>
            <a:avLst/>
            <a:gdLst/>
            <a:ahLst/>
            <a:cxnLst/>
            <a:rect r="r" b="b" t="t" l="l"/>
            <a:pathLst>
              <a:path h="805575" w="6444600">
                <a:moveTo>
                  <a:pt x="0" y="0"/>
                </a:moveTo>
                <a:lnTo>
                  <a:pt x="6444600" y="0"/>
                </a:lnTo>
                <a:lnTo>
                  <a:pt x="6444600" y="805575"/>
                </a:lnTo>
                <a:lnTo>
                  <a:pt x="0" y="8055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609255" y="2832932"/>
            <a:ext cx="16230600" cy="5802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and it can be expressed as three rotations about two axes.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  <a:r>
              <a:rPr lang="en-US" sz="33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YZY Euler decomposition: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because global phase does not affect measurement probabilities so, we can ignore global phase and decompose G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while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531598" y="3967728"/>
            <a:ext cx="10179370" cy="2351543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724907" y="6730428"/>
            <a:ext cx="5530600" cy="1564767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322247" y="6951683"/>
            <a:ext cx="3258932" cy="1122254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77655" y="7463092"/>
            <a:ext cx="13107617" cy="288751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890913" y="8527566"/>
            <a:ext cx="11969209" cy="2640536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2057400" y="8582032"/>
            <a:ext cx="16230600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057400" y="9523019"/>
            <a:ext cx="16230600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Euler decomposition step-by-step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09255" y="1223203"/>
            <a:ext cx="16230600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1. First, we have a arbitrary single-qubit unitary:                             and       gate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611686" y="1715119"/>
            <a:ext cx="4418729" cy="1311561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36550" y="986890"/>
            <a:ext cx="3258932" cy="1122254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609255" y="2172482"/>
            <a:ext cx="16230600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2. Compute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9255" y="3117386"/>
            <a:ext cx="17251297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3. Diagonalize                                 , then find        and      . And        must be of the form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064182" y="2724584"/>
            <a:ext cx="3925096" cy="1229289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573358" y="3145660"/>
            <a:ext cx="575106" cy="491236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231202" y="2950233"/>
            <a:ext cx="1217306" cy="72607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087956" y="3150054"/>
            <a:ext cx="522388" cy="48245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696724" y="3145660"/>
            <a:ext cx="575106" cy="491236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175145" y="1255471"/>
            <a:ext cx="527180" cy="483248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609255" y="4062291"/>
            <a:ext cx="17251297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4. We now have                                      and we may find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329169" y="3611534"/>
            <a:ext cx="4380388" cy="1321146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449915" y="3723760"/>
            <a:ext cx="3129533" cy="1096695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609255" y="5007196"/>
            <a:ext cx="17251297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5. Decomposition has form                                             by compute                                        .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325843" y="4530020"/>
            <a:ext cx="4811717" cy="1393034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5360606" y="4507594"/>
            <a:ext cx="5338897" cy="1468915"/>
          </a:xfrm>
          <a:prstGeom prst="rect">
            <a:avLst/>
          </a:prstGeom>
        </p:spPr>
      </p:pic>
      <p:sp>
        <p:nvSpPr>
          <p:cNvPr name="Freeform 20" id="20"/>
          <p:cNvSpPr/>
          <p:nvPr/>
        </p:nvSpPr>
        <p:spPr>
          <a:xfrm flipH="false" flipV="false" rot="0">
            <a:off x="9268614" y="7614019"/>
            <a:ext cx="5492133" cy="2114471"/>
          </a:xfrm>
          <a:custGeom>
            <a:avLst/>
            <a:gdLst/>
            <a:ahLst/>
            <a:cxnLst/>
            <a:rect r="r" b="b" t="t" l="l"/>
            <a:pathLst>
              <a:path h="2114471" w="5492133">
                <a:moveTo>
                  <a:pt x="0" y="0"/>
                </a:moveTo>
                <a:lnTo>
                  <a:pt x="5492134" y="0"/>
                </a:lnTo>
                <a:lnTo>
                  <a:pt x="5492134" y="2114471"/>
                </a:lnTo>
                <a:lnTo>
                  <a:pt x="0" y="211447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09255" y="8929845"/>
            <a:ext cx="8251656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6. Finally, we extract the angles                      :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6479671" y="8793578"/>
            <a:ext cx="2190194" cy="892212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895083" y="5565647"/>
            <a:ext cx="2722166" cy="1024806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1036703" y="5790176"/>
            <a:ext cx="17251297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939797" y="6302968"/>
            <a:ext cx="2616731" cy="100324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1028700" y="6516714"/>
            <a:ext cx="17251297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833978" y="6951882"/>
            <a:ext cx="3455426" cy="1166985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1044707" y="7249751"/>
            <a:ext cx="17251297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845959" y="7698643"/>
            <a:ext cx="3311650" cy="1127048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1036703" y="7976290"/>
            <a:ext cx="17251297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9092267" y="8331055"/>
            <a:ext cx="5338897" cy="1468915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9017982" y="7410070"/>
            <a:ext cx="5990684" cy="1589528"/>
          </a:xfrm>
          <a:prstGeom prst="rect">
            <a:avLst/>
          </a:prstGeom>
        </p:spPr>
      </p:pic>
      <p:sp>
        <p:nvSpPr>
          <p:cNvPr name="TextBox 33" id="33"/>
          <p:cNvSpPr txBox="true"/>
          <p:nvPr/>
        </p:nvSpPr>
        <p:spPr>
          <a:xfrm rot="0">
            <a:off x="609255" y="9823740"/>
            <a:ext cx="15365989" cy="34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[1] Euler Angle decomposition, “Constructive Quantum Shannon Decomposition from Cartan Involutions”, Byron Drury et al, arXiv: 0806.4015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Example: Euler decomposition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05983" y="1523408"/>
            <a:ext cx="16230600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 have:                                                                                                   and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507465" y="274346"/>
            <a:ext cx="11820364" cy="320312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51151" y="2572066"/>
            <a:ext cx="5540263" cy="1518647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505983" y="4095750"/>
            <a:ext cx="16230600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b="true" sz="33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Step 1: Compute square of M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818493" y="3916204"/>
            <a:ext cx="15893712" cy="3882011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505983" y="8078965"/>
            <a:ext cx="16230600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8685" y="6429350"/>
            <a:ext cx="13623181" cy="396421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Example: Euler decomposition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05983" y="1259523"/>
            <a:ext cx="16230600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b="true" sz="33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Step 2: Diagonalization by finding the eigenvalues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05983" y="2063777"/>
            <a:ext cx="16230600" cy="6383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 have: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and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 the eigenvalues are: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Diagonal matrix: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095105" y="1949485"/>
            <a:ext cx="9052357" cy="3202411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86279" y="4740630"/>
            <a:ext cx="4834444" cy="1386838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107326" y="6653694"/>
            <a:ext cx="4073348" cy="1135973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107643" y="7286404"/>
            <a:ext cx="10391716" cy="3269734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Example: Euler decomposition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05983" y="1259523"/>
            <a:ext cx="16230600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b="true" sz="33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Step 2: Diagonalization by finding the eigenvalues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05983" y="2063777"/>
            <a:ext cx="16230600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For each eigenvalue, we find the corresponding eigenvector by: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280596" y="2551892"/>
            <a:ext cx="4681374" cy="1361326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843174" y="7195052"/>
            <a:ext cx="8601653" cy="2780053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505983" y="3751703"/>
            <a:ext cx="16230600" cy="3478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 we have two eigenvectors: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finally, we have eigenvector matrix: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568132" y="4472187"/>
            <a:ext cx="4077600" cy="2026044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628260" y="4526399"/>
            <a:ext cx="3427055" cy="191762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Example: Euler decomposition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05983" y="1259523"/>
            <a:ext cx="16230600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b="true" sz="33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Step 3: Take Square Root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05983" y="2063777"/>
            <a:ext cx="16230600" cy="5802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Compute: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and we find: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Finally, from (1), (2) and (3), we have: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695949" y="1859486"/>
            <a:ext cx="12896101" cy="3382409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38175" y="3969381"/>
            <a:ext cx="17411651" cy="423067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90412" y="7063915"/>
            <a:ext cx="16591028" cy="3697052"/>
          </a:xfrm>
          <a:prstGeom prst="rect">
            <a:avLst/>
          </a:prstGeom>
        </p:spPr>
      </p:pic>
      <p:sp>
        <p:nvSpPr>
          <p:cNvPr name="Freeform 8" id="8"/>
          <p:cNvSpPr/>
          <p:nvPr/>
        </p:nvSpPr>
        <p:spPr>
          <a:xfrm flipH="false" flipV="false" rot="0">
            <a:off x="10620510" y="7764026"/>
            <a:ext cx="5965795" cy="2296831"/>
          </a:xfrm>
          <a:custGeom>
            <a:avLst/>
            <a:gdLst/>
            <a:ahLst/>
            <a:cxnLst/>
            <a:rect r="r" b="b" t="t" l="l"/>
            <a:pathLst>
              <a:path h="2296831" w="5965795">
                <a:moveTo>
                  <a:pt x="0" y="0"/>
                </a:moveTo>
                <a:lnTo>
                  <a:pt x="5965795" y="0"/>
                </a:lnTo>
                <a:lnTo>
                  <a:pt x="5965795" y="2296831"/>
                </a:lnTo>
                <a:lnTo>
                  <a:pt x="0" y="22968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9050" y="2043319"/>
            <a:ext cx="17978950" cy="4164427"/>
          </a:xfrm>
          <a:custGeom>
            <a:avLst/>
            <a:gdLst/>
            <a:ahLst/>
            <a:cxnLst/>
            <a:rect r="r" b="b" t="t" l="l"/>
            <a:pathLst>
              <a:path h="4164427" w="17978950">
                <a:moveTo>
                  <a:pt x="0" y="0"/>
                </a:moveTo>
                <a:lnTo>
                  <a:pt x="17978950" y="0"/>
                </a:lnTo>
                <a:lnTo>
                  <a:pt x="17978950" y="4164427"/>
                </a:lnTo>
                <a:lnTo>
                  <a:pt x="0" y="41644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Cartan/KAK Decomposition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9255" y="1223203"/>
            <a:ext cx="16230600" cy="6964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This method is used to decompose an arbitrary two-qubit gate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into 3 part: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where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382636" y="5854753"/>
            <a:ext cx="11522729" cy="2533441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566798" y="7595033"/>
            <a:ext cx="9154404" cy="2039509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Cartan/KAK Decomposition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09255" y="1223203"/>
            <a:ext cx="16230600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1. First, we define a “magic basis” of Bell states: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14660" y="1522639"/>
            <a:ext cx="6792313" cy="366454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609255" y="4950569"/>
            <a:ext cx="16230600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2. Define a new operator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66790" y="4617245"/>
            <a:ext cx="3551278" cy="1166986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609255" y="5733549"/>
            <a:ext cx="16230600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3. Compute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667107" y="5350863"/>
            <a:ext cx="3867586" cy="1207722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609255" y="6516529"/>
            <a:ext cx="16230600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4. Diagonalize                                   and find diagonal matrix       and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090957" y="6132917"/>
            <a:ext cx="3925096" cy="1229289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442804" y="6544804"/>
            <a:ext cx="575106" cy="491236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819204" y="6282213"/>
            <a:ext cx="3234970" cy="1118261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609255" y="7340444"/>
            <a:ext cx="16230600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5. Find              and 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11086" y="7175448"/>
            <a:ext cx="1370669" cy="775594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868547" y="6797636"/>
            <a:ext cx="5640828" cy="1531219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609255" y="8113898"/>
            <a:ext cx="16230600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6. We have                                        and                                    and  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402583" y="7672345"/>
            <a:ext cx="4514580" cy="1367474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352835" y="7716676"/>
            <a:ext cx="3982607" cy="1278812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809150" y="7687756"/>
            <a:ext cx="4140761" cy="1281208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609255" y="8887353"/>
            <a:ext cx="16230600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7. Finally, we extract                   from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4457278" y="8770796"/>
            <a:ext cx="1830754" cy="8363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7346352" y="8910014"/>
            <a:ext cx="522388" cy="502419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505983" y="9536983"/>
            <a:ext cx="13602734" cy="675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[1] “Constructive Quantum Shannon Decomposition from Cartan Involutions”, Byron Drury et al, arXiv: 0806.4015</a:t>
            </a:r>
          </a:p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[2] “Optimal Quantum Circuits for General Two-Qubit Gates”, Farrokh Vatan and Colin Williams, arXiv: 0308006v3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8805679" y="1796633"/>
            <a:ext cx="8453621" cy="3116553"/>
          </a:xfrm>
          <a:custGeom>
            <a:avLst/>
            <a:gdLst/>
            <a:ahLst/>
            <a:cxnLst/>
            <a:rect r="r" b="b" t="t" l="l"/>
            <a:pathLst>
              <a:path h="3116553" w="8453621">
                <a:moveTo>
                  <a:pt x="0" y="0"/>
                </a:moveTo>
                <a:lnTo>
                  <a:pt x="8453621" y="0"/>
                </a:lnTo>
                <a:lnTo>
                  <a:pt x="8453621" y="3116552"/>
                </a:lnTo>
                <a:lnTo>
                  <a:pt x="0" y="311655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59162" t="0" r="0" b="0"/>
            </a:stretch>
          </a:blipFill>
        </p:spPr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9255" y="1223203"/>
            <a:ext cx="16230600" cy="4648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After that, we have: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825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1. First exponential of the entanglement:</a:t>
            </a:r>
          </a:p>
          <a:p>
            <a:pPr algn="just">
              <a:lnSpc>
                <a:spcPts val="825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2. Second exponential of the entanglement:</a:t>
            </a:r>
          </a:p>
          <a:p>
            <a:pPr algn="just">
              <a:lnSpc>
                <a:spcPts val="825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3. Last exponential of the entanglement: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382636" y="1103106"/>
            <a:ext cx="11522729" cy="2533441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66330" y="4644112"/>
            <a:ext cx="8023391" cy="1925416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582234" y="2505560"/>
            <a:ext cx="8376300" cy="1984234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131169" y="3564415"/>
            <a:ext cx="8503859" cy="2012580"/>
          </a:xfrm>
          <a:prstGeom prst="rect">
            <a:avLst/>
          </a:prstGeom>
        </p:spPr>
      </p:pic>
      <p:sp>
        <p:nvSpPr>
          <p:cNvPr name="Freeform 7" id="7"/>
          <p:cNvSpPr/>
          <p:nvPr/>
        </p:nvSpPr>
        <p:spPr>
          <a:xfrm flipH="false" flipV="false" rot="0">
            <a:off x="329808" y="6167611"/>
            <a:ext cx="17628384" cy="2614975"/>
          </a:xfrm>
          <a:custGeom>
            <a:avLst/>
            <a:gdLst/>
            <a:ahLst/>
            <a:cxnLst/>
            <a:rect r="r" b="b" t="t" l="l"/>
            <a:pathLst>
              <a:path h="2614975" w="17628384">
                <a:moveTo>
                  <a:pt x="0" y="0"/>
                </a:moveTo>
                <a:lnTo>
                  <a:pt x="17628384" y="0"/>
                </a:lnTo>
                <a:lnTo>
                  <a:pt x="17628384" y="2614976"/>
                </a:lnTo>
                <a:lnTo>
                  <a:pt x="0" y="26149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1324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Cartan/KAK Decomposition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9255" y="8706387"/>
            <a:ext cx="16230600" cy="11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According to Vatan and Williams, an arbitrary two-qubit unitary can be decomposed using at most 15 single-qubit gates and 3 CX gates</a:t>
            </a:r>
          </a:p>
        </p:txBody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0988" y="768173"/>
            <a:ext cx="12882475" cy="345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37"/>
              </a:lnSpc>
            </a:pPr>
            <a:r>
              <a:rPr lang="en-US" sz="12879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3.2</a:t>
            </a:r>
          </a:p>
          <a:p>
            <a:pPr algn="l">
              <a:lnSpc>
                <a:spcPts val="13137"/>
              </a:lnSpc>
            </a:pPr>
            <a:r>
              <a:rPr lang="en-US" sz="12879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layout stage</a:t>
            </a:r>
          </a:p>
        </p:txBody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9255" y="2460085"/>
            <a:ext cx="16650045" cy="769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Layout is of critical importance because not all qubits perform the same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28700" y="5143500"/>
            <a:ext cx="15960777" cy="4648576"/>
          </a:xfrm>
          <a:custGeom>
            <a:avLst/>
            <a:gdLst/>
            <a:ahLst/>
            <a:cxnLst/>
            <a:rect r="r" b="b" t="t" l="l"/>
            <a:pathLst>
              <a:path h="4648576" w="15960777">
                <a:moveTo>
                  <a:pt x="0" y="0"/>
                </a:moveTo>
                <a:lnTo>
                  <a:pt x="15960777" y="0"/>
                </a:lnTo>
                <a:lnTo>
                  <a:pt x="15960777" y="4648576"/>
                </a:lnTo>
                <a:lnTo>
                  <a:pt x="0" y="46485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Layout stage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9255" y="1383844"/>
            <a:ext cx="16987223" cy="11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This stage takes the virtual qubits from abstract circuit and maps them to a qubit as 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define as defined in the target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9255" y="3153455"/>
            <a:ext cx="16650045" cy="769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This stage typically tries multiple techniques to find the best layout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9255" y="3846825"/>
            <a:ext cx="16650045" cy="769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A poor layout can induce more SWAPs because of the connectivity</a:t>
            </a:r>
          </a:p>
        </p:txBody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649312"/>
            <a:ext cx="46800" cy="9360048"/>
          </a:xfrm>
          <a:custGeom>
            <a:avLst/>
            <a:gdLst/>
            <a:ahLst/>
            <a:cxnLst/>
            <a:rect r="r" b="b" t="t" l="l"/>
            <a:pathLst>
              <a:path h="9360048" w="46800">
                <a:moveTo>
                  <a:pt x="0" y="0"/>
                </a:moveTo>
                <a:lnTo>
                  <a:pt x="46800" y="0"/>
                </a:lnTo>
                <a:lnTo>
                  <a:pt x="46800" y="9360048"/>
                </a:lnTo>
                <a:lnTo>
                  <a:pt x="0" y="93600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83774" y="0"/>
            <a:ext cx="5253280" cy="10232774"/>
          </a:xfrm>
          <a:custGeom>
            <a:avLst/>
            <a:gdLst/>
            <a:ahLst/>
            <a:cxnLst/>
            <a:rect r="r" b="b" t="t" l="l"/>
            <a:pathLst>
              <a:path h="10232774" w="5253280">
                <a:moveTo>
                  <a:pt x="0" y="0"/>
                </a:moveTo>
                <a:lnTo>
                  <a:pt x="5253280" y="0"/>
                </a:lnTo>
                <a:lnTo>
                  <a:pt x="5253280" y="10232774"/>
                </a:lnTo>
                <a:lnTo>
                  <a:pt x="0" y="102327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VF2Layout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9255" y="1383844"/>
            <a:ext cx="8012028" cy="11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Builds a graph from </a:t>
            </a:r>
            <a:r>
              <a:rPr lang="en-US" sz="33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2-qubit interactions</a:t>
            </a: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in the circuit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57619" y="2890748"/>
            <a:ext cx="8534745" cy="11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Searches for isomorphic subgraphs in the 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target’s connectivity graph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9255" y="4397653"/>
            <a:ext cx="8534745" cy="11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If a subgraph is found, a layout without 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swaps can be used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57619" y="5904558"/>
            <a:ext cx="8534745" cy="11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After a layout is found, it searches for 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additional layouts</a:t>
            </a:r>
          </a:p>
        </p:txBody>
      </p: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41797" y="649312"/>
            <a:ext cx="6246203" cy="9658013"/>
          </a:xfrm>
          <a:custGeom>
            <a:avLst/>
            <a:gdLst/>
            <a:ahLst/>
            <a:cxnLst/>
            <a:rect r="r" b="b" t="t" l="l"/>
            <a:pathLst>
              <a:path h="9658013" w="6246203">
                <a:moveTo>
                  <a:pt x="0" y="0"/>
                </a:moveTo>
                <a:lnTo>
                  <a:pt x="6246203" y="0"/>
                </a:lnTo>
                <a:lnTo>
                  <a:pt x="6246203" y="9658013"/>
                </a:lnTo>
                <a:lnTo>
                  <a:pt x="0" y="96580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140" t="-38033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27448" y="1028700"/>
            <a:ext cx="10188477" cy="4114800"/>
          </a:xfrm>
          <a:custGeom>
            <a:avLst/>
            <a:gdLst/>
            <a:ahLst/>
            <a:cxnLst/>
            <a:rect r="r" b="b" t="t" l="l"/>
            <a:pathLst>
              <a:path h="4114800" w="10188477">
                <a:moveTo>
                  <a:pt x="0" y="0"/>
                </a:moveTo>
                <a:lnTo>
                  <a:pt x="10188477" y="0"/>
                </a:lnTo>
                <a:lnTo>
                  <a:pt x="101884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VF2 Algorithm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0292" y="5111924"/>
            <a:ext cx="10816064" cy="34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“VF2++—An improved subgraph isomorphism algorithm”,Alpár Jüttner et al, Discrete Applied Mathematics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05983" y="5674404"/>
            <a:ext cx="8012028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b="true" sz="3300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1. The candidate set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900" y="5524261"/>
            <a:ext cx="12226172" cy="3104989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327448" y="6717340"/>
            <a:ext cx="8534745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27448" y="7934253"/>
            <a:ext cx="8534745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29238" y="7263091"/>
            <a:ext cx="9812219" cy="1991954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327448" y="8898208"/>
            <a:ext cx="8534745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46452" y="8246840"/>
            <a:ext cx="9605646" cy="1957525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41797" y="649312"/>
            <a:ext cx="6246203" cy="9658013"/>
          </a:xfrm>
          <a:custGeom>
            <a:avLst/>
            <a:gdLst/>
            <a:ahLst/>
            <a:cxnLst/>
            <a:rect r="r" b="b" t="t" l="l"/>
            <a:pathLst>
              <a:path h="9658013" w="6246203">
                <a:moveTo>
                  <a:pt x="0" y="0"/>
                </a:moveTo>
                <a:lnTo>
                  <a:pt x="6246203" y="0"/>
                </a:lnTo>
                <a:lnTo>
                  <a:pt x="6246203" y="9658013"/>
                </a:lnTo>
                <a:lnTo>
                  <a:pt x="0" y="96580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140" t="-38033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27448" y="1028700"/>
            <a:ext cx="10188477" cy="4114800"/>
          </a:xfrm>
          <a:custGeom>
            <a:avLst/>
            <a:gdLst/>
            <a:ahLst/>
            <a:cxnLst/>
            <a:rect r="r" b="b" t="t" l="l"/>
            <a:pathLst>
              <a:path h="4114800" w="10188477">
                <a:moveTo>
                  <a:pt x="0" y="0"/>
                </a:moveTo>
                <a:lnTo>
                  <a:pt x="10188477" y="0"/>
                </a:lnTo>
                <a:lnTo>
                  <a:pt x="101884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VF2 Algorithm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0292" y="5111924"/>
            <a:ext cx="10816064" cy="34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“VF2++—An improved subgraph isomorphism algorithm”,Alpár Jüttner et al, Discrete Applied Mathematics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05983" y="5674404"/>
            <a:ext cx="8012028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b="true" sz="3300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2. Consistency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0045" y="7499989"/>
            <a:ext cx="3918985" cy="1009748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335076" y="7680048"/>
            <a:ext cx="8534745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27448" y="8472553"/>
            <a:ext cx="8534745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34033" y="7916482"/>
            <a:ext cx="8431130" cy="1761772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530292" y="6475420"/>
            <a:ext cx="10816064" cy="864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adjacency relationship between logical nodes must be preserved in the corresponding physical nodes</a:t>
            </a:r>
          </a:p>
        </p:txBody>
      </p: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41797" y="649312"/>
            <a:ext cx="6246203" cy="9658013"/>
          </a:xfrm>
          <a:custGeom>
            <a:avLst/>
            <a:gdLst/>
            <a:ahLst/>
            <a:cxnLst/>
            <a:rect r="r" b="b" t="t" l="l"/>
            <a:pathLst>
              <a:path h="9658013" w="6246203">
                <a:moveTo>
                  <a:pt x="0" y="0"/>
                </a:moveTo>
                <a:lnTo>
                  <a:pt x="6246203" y="0"/>
                </a:lnTo>
                <a:lnTo>
                  <a:pt x="6246203" y="9658013"/>
                </a:lnTo>
                <a:lnTo>
                  <a:pt x="0" y="96580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140" t="-38033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27448" y="1028700"/>
            <a:ext cx="10188477" cy="4114800"/>
          </a:xfrm>
          <a:custGeom>
            <a:avLst/>
            <a:gdLst/>
            <a:ahLst/>
            <a:cxnLst/>
            <a:rect r="r" b="b" t="t" l="l"/>
            <a:pathLst>
              <a:path h="4114800" w="10188477">
                <a:moveTo>
                  <a:pt x="0" y="0"/>
                </a:moveTo>
                <a:lnTo>
                  <a:pt x="10188477" y="0"/>
                </a:lnTo>
                <a:lnTo>
                  <a:pt x="101884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VF2 Algorithm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0292" y="5111924"/>
            <a:ext cx="10816064" cy="34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“VF2++—An improved subgraph isomorphism algorithm”,Alpár Jüttner et al, Discrete Applied Mathematics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05983" y="5674404"/>
            <a:ext cx="8012028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b="true" sz="3300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3. Cutting rules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35076" y="7680048"/>
            <a:ext cx="8534745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28545" y="7966840"/>
            <a:ext cx="17293114" cy="3405996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327448" y="8472553"/>
            <a:ext cx="8534745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20231" y="8111988"/>
            <a:ext cx="5583373" cy="1370759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530292" y="6475420"/>
            <a:ext cx="10816064" cy="864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Prune the branch if the current mapping cannot be extended to a complete mapping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35076" y="9331733"/>
            <a:ext cx="8534745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68887" y="7317024"/>
            <a:ext cx="5612884" cy="1375678"/>
          </a:xfrm>
          <a:prstGeom prst="rect">
            <a:avLst/>
          </a:prstGeom>
        </p:spPr>
      </p:pic>
      <p:sp>
        <p:nvSpPr>
          <p:cNvPr name="Freeform 14" id="14"/>
          <p:cNvSpPr/>
          <p:nvPr/>
        </p:nvSpPr>
        <p:spPr>
          <a:xfrm flipH="false" flipV="false" rot="0">
            <a:off x="12194197" y="801712"/>
            <a:ext cx="6246203" cy="9658013"/>
          </a:xfrm>
          <a:custGeom>
            <a:avLst/>
            <a:gdLst/>
            <a:ahLst/>
            <a:cxnLst/>
            <a:rect r="r" b="b" t="t" l="l"/>
            <a:pathLst>
              <a:path h="9658013" w="6246203">
                <a:moveTo>
                  <a:pt x="0" y="0"/>
                </a:moveTo>
                <a:lnTo>
                  <a:pt x="6246203" y="0"/>
                </a:lnTo>
                <a:lnTo>
                  <a:pt x="6246203" y="9658013"/>
                </a:lnTo>
                <a:lnTo>
                  <a:pt x="0" y="96580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140" t="-38033" r="0" b="0"/>
            </a:stretch>
          </a:blipFill>
        </p:spPr>
      </p: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308208" y="5955359"/>
          <a:ext cx="16230600" cy="3459750"/>
        </p:xfrm>
        <a:graphic>
          <a:graphicData uri="http://schemas.openxmlformats.org/presentationml/2006/ole">
            <p:oleObj imgW="19469100" imgH="67056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9483242" y="1168796"/>
            <a:ext cx="8496550" cy="3431485"/>
          </a:xfrm>
          <a:custGeom>
            <a:avLst/>
            <a:gdLst/>
            <a:ahLst/>
            <a:cxnLst/>
            <a:rect r="r" b="b" t="t" l="l"/>
            <a:pathLst>
              <a:path h="3431485" w="8496550">
                <a:moveTo>
                  <a:pt x="0" y="0"/>
                </a:moveTo>
                <a:lnTo>
                  <a:pt x="8496550" y="0"/>
                </a:lnTo>
                <a:lnTo>
                  <a:pt x="8496550" y="3431484"/>
                </a:lnTo>
                <a:lnTo>
                  <a:pt x="0" y="34314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05983" y="1168796"/>
            <a:ext cx="8638017" cy="4659138"/>
          </a:xfrm>
          <a:custGeom>
            <a:avLst/>
            <a:gdLst/>
            <a:ahLst/>
            <a:cxnLst/>
            <a:rect r="r" b="b" t="t" l="l"/>
            <a:pathLst>
              <a:path h="4659138" w="8638017">
                <a:moveTo>
                  <a:pt x="0" y="0"/>
                </a:moveTo>
                <a:lnTo>
                  <a:pt x="8638017" y="0"/>
                </a:lnTo>
                <a:lnTo>
                  <a:pt x="8638017" y="4659138"/>
                </a:lnTo>
                <a:lnTo>
                  <a:pt x="0" y="46591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Example: Find layout using VF2Layout</a:t>
            </a:r>
          </a:p>
        </p:txBody>
      </p: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308208" y="5955359"/>
          <a:ext cx="16230600" cy="3459750"/>
        </p:xfrm>
        <a:graphic>
          <a:graphicData uri="http://schemas.openxmlformats.org/presentationml/2006/ole">
            <p:oleObj imgW="19469100" imgH="67056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9483242" y="1168796"/>
            <a:ext cx="8496550" cy="3431485"/>
          </a:xfrm>
          <a:custGeom>
            <a:avLst/>
            <a:gdLst/>
            <a:ahLst/>
            <a:cxnLst/>
            <a:rect r="r" b="b" t="t" l="l"/>
            <a:pathLst>
              <a:path h="3431485" w="8496550">
                <a:moveTo>
                  <a:pt x="0" y="0"/>
                </a:moveTo>
                <a:lnTo>
                  <a:pt x="8496550" y="0"/>
                </a:lnTo>
                <a:lnTo>
                  <a:pt x="8496550" y="3431484"/>
                </a:lnTo>
                <a:lnTo>
                  <a:pt x="0" y="34314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05983" y="1168796"/>
            <a:ext cx="8638017" cy="4659138"/>
          </a:xfrm>
          <a:custGeom>
            <a:avLst/>
            <a:gdLst/>
            <a:ahLst/>
            <a:cxnLst/>
            <a:rect r="r" b="b" t="t" l="l"/>
            <a:pathLst>
              <a:path h="4659138" w="8638017">
                <a:moveTo>
                  <a:pt x="0" y="0"/>
                </a:moveTo>
                <a:lnTo>
                  <a:pt x="8638017" y="0"/>
                </a:lnTo>
                <a:lnTo>
                  <a:pt x="8638017" y="4659138"/>
                </a:lnTo>
                <a:lnTo>
                  <a:pt x="0" y="46591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Example: Find layout using VF2Layout</a:t>
            </a:r>
          </a:p>
        </p:txBody>
      </p:sp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308208" y="5955359"/>
          <a:ext cx="16230600" cy="3459750"/>
        </p:xfrm>
        <a:graphic>
          <a:graphicData uri="http://schemas.openxmlformats.org/presentationml/2006/ole">
            <p:oleObj imgW="19469100" imgH="67056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9483242" y="1168796"/>
            <a:ext cx="8496550" cy="3431485"/>
          </a:xfrm>
          <a:custGeom>
            <a:avLst/>
            <a:gdLst/>
            <a:ahLst/>
            <a:cxnLst/>
            <a:rect r="r" b="b" t="t" l="l"/>
            <a:pathLst>
              <a:path h="3431485" w="8496550">
                <a:moveTo>
                  <a:pt x="0" y="0"/>
                </a:moveTo>
                <a:lnTo>
                  <a:pt x="8496550" y="0"/>
                </a:lnTo>
                <a:lnTo>
                  <a:pt x="8496550" y="3431484"/>
                </a:lnTo>
                <a:lnTo>
                  <a:pt x="0" y="34314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05983" y="1168796"/>
            <a:ext cx="8638017" cy="4659138"/>
          </a:xfrm>
          <a:custGeom>
            <a:avLst/>
            <a:gdLst/>
            <a:ahLst/>
            <a:cxnLst/>
            <a:rect r="r" b="b" t="t" l="l"/>
            <a:pathLst>
              <a:path h="4659138" w="8638017">
                <a:moveTo>
                  <a:pt x="0" y="0"/>
                </a:moveTo>
                <a:lnTo>
                  <a:pt x="8638017" y="0"/>
                </a:lnTo>
                <a:lnTo>
                  <a:pt x="8638017" y="4659138"/>
                </a:lnTo>
                <a:lnTo>
                  <a:pt x="0" y="46591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Example: Find layout using VF2Layout</a:t>
            </a:r>
          </a:p>
        </p:txBody>
      </p:sp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308208" y="5955359"/>
          <a:ext cx="16230600" cy="3459750"/>
        </p:xfrm>
        <a:graphic>
          <a:graphicData uri="http://schemas.openxmlformats.org/presentationml/2006/ole">
            <p:oleObj imgW="19469100" imgH="67056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9483242" y="1168796"/>
            <a:ext cx="8496550" cy="3431485"/>
          </a:xfrm>
          <a:custGeom>
            <a:avLst/>
            <a:gdLst/>
            <a:ahLst/>
            <a:cxnLst/>
            <a:rect r="r" b="b" t="t" l="l"/>
            <a:pathLst>
              <a:path h="3431485" w="8496550">
                <a:moveTo>
                  <a:pt x="0" y="0"/>
                </a:moveTo>
                <a:lnTo>
                  <a:pt x="8496550" y="0"/>
                </a:lnTo>
                <a:lnTo>
                  <a:pt x="8496550" y="3431484"/>
                </a:lnTo>
                <a:lnTo>
                  <a:pt x="0" y="34314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05983" y="1168796"/>
            <a:ext cx="8638017" cy="4659138"/>
          </a:xfrm>
          <a:custGeom>
            <a:avLst/>
            <a:gdLst/>
            <a:ahLst/>
            <a:cxnLst/>
            <a:rect r="r" b="b" t="t" l="l"/>
            <a:pathLst>
              <a:path h="4659138" w="8638017">
                <a:moveTo>
                  <a:pt x="0" y="0"/>
                </a:moveTo>
                <a:lnTo>
                  <a:pt x="8638017" y="0"/>
                </a:lnTo>
                <a:lnTo>
                  <a:pt x="8638017" y="4659138"/>
                </a:lnTo>
                <a:lnTo>
                  <a:pt x="0" y="46591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Example: Find layout using VF2Layout</a:t>
            </a:r>
          </a:p>
        </p:txBody>
      </p:sp>
    </p:spTree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308208" y="5955359"/>
          <a:ext cx="16230600" cy="3459750"/>
        </p:xfrm>
        <a:graphic>
          <a:graphicData uri="http://schemas.openxmlformats.org/presentationml/2006/ole">
            <p:oleObj imgW="19469100" imgH="67056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9483242" y="1168796"/>
            <a:ext cx="8496550" cy="3431485"/>
          </a:xfrm>
          <a:custGeom>
            <a:avLst/>
            <a:gdLst/>
            <a:ahLst/>
            <a:cxnLst/>
            <a:rect r="r" b="b" t="t" l="l"/>
            <a:pathLst>
              <a:path h="3431485" w="8496550">
                <a:moveTo>
                  <a:pt x="0" y="0"/>
                </a:moveTo>
                <a:lnTo>
                  <a:pt x="8496550" y="0"/>
                </a:lnTo>
                <a:lnTo>
                  <a:pt x="8496550" y="3431484"/>
                </a:lnTo>
                <a:lnTo>
                  <a:pt x="0" y="34314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05983" y="1168796"/>
            <a:ext cx="8638017" cy="4659138"/>
          </a:xfrm>
          <a:custGeom>
            <a:avLst/>
            <a:gdLst/>
            <a:ahLst/>
            <a:cxnLst/>
            <a:rect r="r" b="b" t="t" l="l"/>
            <a:pathLst>
              <a:path h="4659138" w="8638017">
                <a:moveTo>
                  <a:pt x="0" y="0"/>
                </a:moveTo>
                <a:lnTo>
                  <a:pt x="8638017" y="0"/>
                </a:lnTo>
                <a:lnTo>
                  <a:pt x="8638017" y="4659138"/>
                </a:lnTo>
                <a:lnTo>
                  <a:pt x="0" y="46591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Example: Find layout using VF2Layout</a:t>
            </a:r>
          </a:p>
        </p:txBody>
      </p:sp>
    </p:spTree>
  </p:cSld>
  <p:clrMapOvr>
    <a:masterClrMapping/>
  </p:clrMapOvr>
</p:sld>
</file>

<file path=ppt/slides/slide6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308208" y="5955359"/>
          <a:ext cx="16230600" cy="3459750"/>
        </p:xfrm>
        <a:graphic>
          <a:graphicData uri="http://schemas.openxmlformats.org/presentationml/2006/ole">
            <p:oleObj imgW="19469100" imgH="67056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9483242" y="1168796"/>
            <a:ext cx="8496550" cy="3431485"/>
          </a:xfrm>
          <a:custGeom>
            <a:avLst/>
            <a:gdLst/>
            <a:ahLst/>
            <a:cxnLst/>
            <a:rect r="r" b="b" t="t" l="l"/>
            <a:pathLst>
              <a:path h="3431485" w="8496550">
                <a:moveTo>
                  <a:pt x="0" y="0"/>
                </a:moveTo>
                <a:lnTo>
                  <a:pt x="8496550" y="0"/>
                </a:lnTo>
                <a:lnTo>
                  <a:pt x="8496550" y="3431484"/>
                </a:lnTo>
                <a:lnTo>
                  <a:pt x="0" y="34314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05983" y="1168796"/>
            <a:ext cx="8638017" cy="4659138"/>
          </a:xfrm>
          <a:custGeom>
            <a:avLst/>
            <a:gdLst/>
            <a:ahLst/>
            <a:cxnLst/>
            <a:rect r="r" b="b" t="t" l="l"/>
            <a:pathLst>
              <a:path h="4659138" w="8638017">
                <a:moveTo>
                  <a:pt x="0" y="0"/>
                </a:moveTo>
                <a:lnTo>
                  <a:pt x="8638017" y="0"/>
                </a:lnTo>
                <a:lnTo>
                  <a:pt x="8638017" y="4659138"/>
                </a:lnTo>
                <a:lnTo>
                  <a:pt x="0" y="46591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Example: Find layout using VF2Layout</a:t>
            </a:r>
          </a:p>
        </p:txBody>
      </p:sp>
    </p:spTree>
  </p:cSld>
  <p:clrMapOvr>
    <a:masterClrMapping/>
  </p:clrMapOvr>
</p:sld>
</file>

<file path=ppt/slides/slide6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308208" y="5955359"/>
          <a:ext cx="16230600" cy="3459750"/>
        </p:xfrm>
        <a:graphic>
          <a:graphicData uri="http://schemas.openxmlformats.org/presentationml/2006/ole">
            <p:oleObj imgW="19469100" imgH="67056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9483242" y="1168796"/>
            <a:ext cx="8496550" cy="3431485"/>
          </a:xfrm>
          <a:custGeom>
            <a:avLst/>
            <a:gdLst/>
            <a:ahLst/>
            <a:cxnLst/>
            <a:rect r="r" b="b" t="t" l="l"/>
            <a:pathLst>
              <a:path h="3431485" w="8496550">
                <a:moveTo>
                  <a:pt x="0" y="0"/>
                </a:moveTo>
                <a:lnTo>
                  <a:pt x="8496550" y="0"/>
                </a:lnTo>
                <a:lnTo>
                  <a:pt x="8496550" y="3431484"/>
                </a:lnTo>
                <a:lnTo>
                  <a:pt x="0" y="34314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05983" y="1168796"/>
            <a:ext cx="8638017" cy="4659138"/>
          </a:xfrm>
          <a:custGeom>
            <a:avLst/>
            <a:gdLst/>
            <a:ahLst/>
            <a:cxnLst/>
            <a:rect r="r" b="b" t="t" l="l"/>
            <a:pathLst>
              <a:path h="4659138" w="8638017">
                <a:moveTo>
                  <a:pt x="0" y="0"/>
                </a:moveTo>
                <a:lnTo>
                  <a:pt x="8638017" y="0"/>
                </a:lnTo>
                <a:lnTo>
                  <a:pt x="8638017" y="4659138"/>
                </a:lnTo>
                <a:lnTo>
                  <a:pt x="0" y="46591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Example: Find layout using VF2Layout</a:t>
            </a:r>
          </a:p>
        </p:txBody>
      </p:sp>
    </p:spTree>
  </p:cSld>
  <p:clrMapOvr>
    <a:masterClrMapping/>
  </p:clrMapOvr>
</p:sld>
</file>

<file path=ppt/slides/slide6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308208" y="5955359"/>
          <a:ext cx="16230600" cy="3459750"/>
        </p:xfrm>
        <a:graphic>
          <a:graphicData uri="http://schemas.openxmlformats.org/presentationml/2006/ole">
            <p:oleObj imgW="19469100" imgH="67056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9483242" y="1168796"/>
            <a:ext cx="8496550" cy="3431485"/>
          </a:xfrm>
          <a:custGeom>
            <a:avLst/>
            <a:gdLst/>
            <a:ahLst/>
            <a:cxnLst/>
            <a:rect r="r" b="b" t="t" l="l"/>
            <a:pathLst>
              <a:path h="3431485" w="8496550">
                <a:moveTo>
                  <a:pt x="0" y="0"/>
                </a:moveTo>
                <a:lnTo>
                  <a:pt x="8496550" y="0"/>
                </a:lnTo>
                <a:lnTo>
                  <a:pt x="8496550" y="3431484"/>
                </a:lnTo>
                <a:lnTo>
                  <a:pt x="0" y="34314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05983" y="1168796"/>
            <a:ext cx="8638017" cy="4659138"/>
          </a:xfrm>
          <a:custGeom>
            <a:avLst/>
            <a:gdLst/>
            <a:ahLst/>
            <a:cxnLst/>
            <a:rect r="r" b="b" t="t" l="l"/>
            <a:pathLst>
              <a:path h="4659138" w="8638017">
                <a:moveTo>
                  <a:pt x="0" y="0"/>
                </a:moveTo>
                <a:lnTo>
                  <a:pt x="8638017" y="0"/>
                </a:lnTo>
                <a:lnTo>
                  <a:pt x="8638017" y="4659138"/>
                </a:lnTo>
                <a:lnTo>
                  <a:pt x="0" y="46591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Example: Find layout using VF2Layout</a:t>
            </a:r>
          </a:p>
        </p:txBody>
      </p:sp>
    </p:spTree>
  </p:cSld>
  <p:clrMapOvr>
    <a:masterClrMapping/>
  </p:clrMapOvr>
</p:sld>
</file>

<file path=ppt/slides/slide6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308208" y="5955359"/>
          <a:ext cx="16230600" cy="3459750"/>
        </p:xfrm>
        <a:graphic>
          <a:graphicData uri="http://schemas.openxmlformats.org/presentationml/2006/ole">
            <p:oleObj imgW="19469100" imgH="67056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9483242" y="1168796"/>
            <a:ext cx="8496550" cy="3431485"/>
          </a:xfrm>
          <a:custGeom>
            <a:avLst/>
            <a:gdLst/>
            <a:ahLst/>
            <a:cxnLst/>
            <a:rect r="r" b="b" t="t" l="l"/>
            <a:pathLst>
              <a:path h="3431485" w="8496550">
                <a:moveTo>
                  <a:pt x="0" y="0"/>
                </a:moveTo>
                <a:lnTo>
                  <a:pt x="8496550" y="0"/>
                </a:lnTo>
                <a:lnTo>
                  <a:pt x="8496550" y="3431484"/>
                </a:lnTo>
                <a:lnTo>
                  <a:pt x="0" y="34314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05983" y="1168796"/>
            <a:ext cx="8638017" cy="4659138"/>
          </a:xfrm>
          <a:custGeom>
            <a:avLst/>
            <a:gdLst/>
            <a:ahLst/>
            <a:cxnLst/>
            <a:rect r="r" b="b" t="t" l="l"/>
            <a:pathLst>
              <a:path h="4659138" w="8638017">
                <a:moveTo>
                  <a:pt x="0" y="0"/>
                </a:moveTo>
                <a:lnTo>
                  <a:pt x="8638017" y="0"/>
                </a:lnTo>
                <a:lnTo>
                  <a:pt x="8638017" y="4659138"/>
                </a:lnTo>
                <a:lnTo>
                  <a:pt x="0" y="46591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Example: Find layout using VF2Layout</a:t>
            </a:r>
          </a:p>
        </p:txBody>
      </p:sp>
    </p:spTree>
  </p:cSld>
  <p:clrMapOvr>
    <a:masterClrMapping/>
  </p:clrMapOvr>
</p:sld>
</file>

<file path=ppt/slides/slide6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308208" y="5955359"/>
          <a:ext cx="16230600" cy="3459750"/>
        </p:xfrm>
        <a:graphic>
          <a:graphicData uri="http://schemas.openxmlformats.org/presentationml/2006/ole">
            <p:oleObj imgW="19469100" imgH="67056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9483242" y="1168796"/>
            <a:ext cx="8496550" cy="3431485"/>
          </a:xfrm>
          <a:custGeom>
            <a:avLst/>
            <a:gdLst/>
            <a:ahLst/>
            <a:cxnLst/>
            <a:rect r="r" b="b" t="t" l="l"/>
            <a:pathLst>
              <a:path h="3431485" w="8496550">
                <a:moveTo>
                  <a:pt x="0" y="0"/>
                </a:moveTo>
                <a:lnTo>
                  <a:pt x="8496550" y="0"/>
                </a:lnTo>
                <a:lnTo>
                  <a:pt x="8496550" y="3431484"/>
                </a:lnTo>
                <a:lnTo>
                  <a:pt x="0" y="34314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05983" y="1168796"/>
            <a:ext cx="8638017" cy="4659138"/>
          </a:xfrm>
          <a:custGeom>
            <a:avLst/>
            <a:gdLst/>
            <a:ahLst/>
            <a:cxnLst/>
            <a:rect r="r" b="b" t="t" l="l"/>
            <a:pathLst>
              <a:path h="4659138" w="8638017">
                <a:moveTo>
                  <a:pt x="0" y="0"/>
                </a:moveTo>
                <a:lnTo>
                  <a:pt x="8638017" y="0"/>
                </a:lnTo>
                <a:lnTo>
                  <a:pt x="8638017" y="4659138"/>
                </a:lnTo>
                <a:lnTo>
                  <a:pt x="0" y="46591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Example: Find layout using VF2Layout</a:t>
            </a:r>
          </a:p>
        </p:txBody>
      </p:sp>
    </p:spTree>
  </p:cSld>
  <p:clrMapOvr>
    <a:masterClrMapping/>
  </p:clrMapOvr>
</p:sld>
</file>

<file path=ppt/slides/slide7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SabreLayout Pass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09255" y="1383844"/>
            <a:ext cx="7680873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Run if VF2Layout doesn’t find a layout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9255" y="2119199"/>
            <a:ext cx="16650045" cy="4122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Based on SABRE (Swap-based BidiREctional) algorithms:</a:t>
            </a:r>
          </a:p>
          <a:p>
            <a:pPr algn="l" marL="712470" indent="-356235" lvl="1">
              <a:lnSpc>
                <a:spcPts val="660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Starts with an initial random guess</a:t>
            </a:r>
          </a:p>
          <a:p>
            <a:pPr algn="l" marL="712470" indent="-356235" lvl="1">
              <a:lnSpc>
                <a:spcPts val="660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Routers circuit by swapping qubits in the layout instead of inserting swap gates</a:t>
            </a:r>
          </a:p>
          <a:p>
            <a:pPr algn="l" marL="712470" indent="-356235" lvl="1">
              <a:lnSpc>
                <a:spcPts val="660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If fully routed, reverses edge direction in the DAG and re-routes</a:t>
            </a:r>
          </a:p>
          <a:p>
            <a:pPr algn="l" marL="712470" indent="-356235" lvl="1">
              <a:lnSpc>
                <a:spcPts val="660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Repeats multiple times to minimize swap count</a:t>
            </a:r>
          </a:p>
        </p:txBody>
      </p:sp>
    </p:spTree>
  </p:cSld>
  <p:clrMapOvr>
    <a:masterClrMapping/>
  </p:clrMapOvr>
</p:sld>
</file>

<file path=ppt/slides/slide7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Sabre algorithm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1552759" y="0"/>
            <a:ext cx="6364905" cy="10393559"/>
          </a:xfrm>
          <a:custGeom>
            <a:avLst/>
            <a:gdLst/>
            <a:ahLst/>
            <a:cxnLst/>
            <a:rect r="r" b="b" t="t" l="l"/>
            <a:pathLst>
              <a:path h="10393559" w="6364905">
                <a:moveTo>
                  <a:pt x="0" y="0"/>
                </a:moveTo>
                <a:lnTo>
                  <a:pt x="6364905" y="0"/>
                </a:lnTo>
                <a:lnTo>
                  <a:pt x="6364905" y="10393559"/>
                </a:lnTo>
                <a:lnTo>
                  <a:pt x="0" y="103935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81107" y="1751532"/>
            <a:ext cx="7255530" cy="8306868"/>
          </a:xfrm>
          <a:custGeom>
            <a:avLst/>
            <a:gdLst/>
            <a:ahLst/>
            <a:cxnLst/>
            <a:rect r="r" b="b" t="t" l="l"/>
            <a:pathLst>
              <a:path h="8306868" w="7255530">
                <a:moveTo>
                  <a:pt x="0" y="0"/>
                </a:moveTo>
                <a:lnTo>
                  <a:pt x="7255530" y="0"/>
                </a:lnTo>
                <a:lnTo>
                  <a:pt x="7255530" y="8306868"/>
                </a:lnTo>
                <a:lnTo>
                  <a:pt x="0" y="83068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429862" y="9716319"/>
            <a:ext cx="4858138" cy="441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5"/>
              </a:lnSpc>
              <a:spcBef>
                <a:spcPct val="0"/>
              </a:spcBef>
            </a:pPr>
            <a:r>
              <a:rPr lang="en-US" sz="123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[1] SWAP-based Heuristic Search Algorithm, “Tackling the Qubit Mapping Problem for NISQ-Era Quantum Devices”, Gushu et al, arXiv: 1809.02573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05983" y="1178102"/>
            <a:ext cx="7680873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Input 1: Front Layer F</a:t>
            </a:r>
          </a:p>
        </p:txBody>
      </p:sp>
    </p:spTree>
  </p:cSld>
  <p:clrMapOvr>
    <a:masterClrMapping/>
  </p:clrMapOvr>
</p:sld>
</file>

<file path=ppt/slides/slide7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Sabre algorithm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1552759" y="0"/>
            <a:ext cx="6364905" cy="10393559"/>
          </a:xfrm>
          <a:custGeom>
            <a:avLst/>
            <a:gdLst/>
            <a:ahLst/>
            <a:cxnLst/>
            <a:rect r="r" b="b" t="t" l="l"/>
            <a:pathLst>
              <a:path h="10393559" w="6364905">
                <a:moveTo>
                  <a:pt x="0" y="0"/>
                </a:moveTo>
                <a:lnTo>
                  <a:pt x="6364905" y="0"/>
                </a:lnTo>
                <a:lnTo>
                  <a:pt x="6364905" y="10393559"/>
                </a:lnTo>
                <a:lnTo>
                  <a:pt x="0" y="103935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714746" y="5797169"/>
            <a:ext cx="6578162" cy="4908929"/>
          </a:xfrm>
          <a:prstGeom prst="rect">
            <a:avLst/>
          </a:prstGeom>
        </p:spPr>
      </p:pic>
      <p:sp>
        <p:nvSpPr>
          <p:cNvPr name="Freeform 5" id="5"/>
          <p:cNvSpPr/>
          <p:nvPr/>
        </p:nvSpPr>
        <p:spPr>
          <a:xfrm flipH="false" flipV="false" rot="0">
            <a:off x="3744620" y="1751532"/>
            <a:ext cx="5735858" cy="4339239"/>
          </a:xfrm>
          <a:custGeom>
            <a:avLst/>
            <a:gdLst/>
            <a:ahLst/>
            <a:cxnLst/>
            <a:rect r="r" b="b" t="t" l="l"/>
            <a:pathLst>
              <a:path h="4339239" w="5735858">
                <a:moveTo>
                  <a:pt x="0" y="0"/>
                </a:moveTo>
                <a:lnTo>
                  <a:pt x="5735858" y="0"/>
                </a:lnTo>
                <a:lnTo>
                  <a:pt x="5735858" y="4339239"/>
                </a:lnTo>
                <a:lnTo>
                  <a:pt x="0" y="43392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183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429862" y="9716319"/>
            <a:ext cx="4858138" cy="441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5"/>
              </a:lnSpc>
              <a:spcBef>
                <a:spcPct val="0"/>
              </a:spcBef>
            </a:pPr>
            <a:r>
              <a:rPr lang="en-US" sz="123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[1] SWAP-based Heuristic Search Algorithm, “Tackling the Qubit Mapping Problem for NISQ-Era Quantum Devices”, Gushu et al, arXiv: 1809.02573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5983" y="1178102"/>
            <a:ext cx="7680873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Input 2: Coupling graph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5983" y="5517341"/>
            <a:ext cx="7680873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Input 3: Distance matrix</a:t>
            </a:r>
          </a:p>
        </p:txBody>
      </p:sp>
    </p:spTree>
  </p:cSld>
  <p:clrMapOvr>
    <a:masterClrMapping/>
  </p:clrMapOvr>
</p:sld>
</file>

<file path=ppt/slides/slide7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Sabre algorithm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1552759" y="0"/>
            <a:ext cx="6364905" cy="10393559"/>
          </a:xfrm>
          <a:custGeom>
            <a:avLst/>
            <a:gdLst/>
            <a:ahLst/>
            <a:cxnLst/>
            <a:rect r="r" b="b" t="t" l="l"/>
            <a:pathLst>
              <a:path h="10393559" w="6364905">
                <a:moveTo>
                  <a:pt x="0" y="0"/>
                </a:moveTo>
                <a:lnTo>
                  <a:pt x="6364905" y="0"/>
                </a:lnTo>
                <a:lnTo>
                  <a:pt x="6364905" y="10393559"/>
                </a:lnTo>
                <a:lnTo>
                  <a:pt x="0" y="103935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026445" y="8908861"/>
            <a:ext cx="7442162" cy="1691118"/>
          </a:xfrm>
          <a:prstGeom prst="rect">
            <a:avLst/>
          </a:prstGeom>
        </p:spPr>
      </p:pic>
      <p:sp>
        <p:nvSpPr>
          <p:cNvPr name="Freeform 5" id="5"/>
          <p:cNvSpPr/>
          <p:nvPr/>
        </p:nvSpPr>
        <p:spPr>
          <a:xfrm flipH="false" flipV="false" rot="0">
            <a:off x="4858575" y="269924"/>
            <a:ext cx="6694185" cy="8850417"/>
          </a:xfrm>
          <a:custGeom>
            <a:avLst/>
            <a:gdLst/>
            <a:ahLst/>
            <a:cxnLst/>
            <a:rect r="r" b="b" t="t" l="l"/>
            <a:pathLst>
              <a:path h="8850417" w="6694185">
                <a:moveTo>
                  <a:pt x="0" y="0"/>
                </a:moveTo>
                <a:lnTo>
                  <a:pt x="6694184" y="0"/>
                </a:lnTo>
                <a:lnTo>
                  <a:pt x="6694184" y="8850416"/>
                </a:lnTo>
                <a:lnTo>
                  <a:pt x="0" y="88504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429862" y="9716319"/>
            <a:ext cx="4858138" cy="441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5"/>
              </a:lnSpc>
              <a:spcBef>
                <a:spcPct val="0"/>
              </a:spcBef>
            </a:pPr>
            <a:r>
              <a:rPr lang="en-US" sz="123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[1] SWAP-based Heuristic Search Algorithm, “Tackling the Qubit Mapping Problem for NISQ-Era Quantum Devices”, Gushu et al, arXiv: 1809.02573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5983" y="1178102"/>
            <a:ext cx="7680873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Input 4: DAG circuit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5983" y="8716401"/>
            <a:ext cx="7680873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Input 5: Init mapping</a:t>
            </a:r>
          </a:p>
        </p:txBody>
      </p:sp>
    </p:spTree>
  </p:cSld>
  <p:clrMapOvr>
    <a:masterClrMapping/>
  </p:clrMapOvr>
</p:sld>
</file>

<file path=ppt/slides/slide7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308208" y="1143381"/>
          <a:ext cx="17671583" cy="4000119"/>
        </p:xfrm>
        <a:graphic>
          <a:graphicData uri="http://schemas.openxmlformats.org/presentationml/2006/ole">
            <p:oleObj imgW="21196300" imgH="75311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0" y="5143500"/>
            <a:ext cx="7485574" cy="4605789"/>
          </a:xfrm>
          <a:custGeom>
            <a:avLst/>
            <a:gdLst/>
            <a:ahLst/>
            <a:cxnLst/>
            <a:rect r="r" b="b" t="t" l="l"/>
            <a:pathLst>
              <a:path h="4605789" w="7485574">
                <a:moveTo>
                  <a:pt x="0" y="0"/>
                </a:moveTo>
                <a:lnTo>
                  <a:pt x="7485574" y="0"/>
                </a:lnTo>
                <a:lnTo>
                  <a:pt x="7485574" y="4605789"/>
                </a:lnTo>
                <a:lnTo>
                  <a:pt x="0" y="46057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6075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276071" y="5257800"/>
            <a:ext cx="5735858" cy="5159799"/>
          </a:xfrm>
          <a:custGeom>
            <a:avLst/>
            <a:gdLst/>
            <a:ahLst/>
            <a:cxnLst/>
            <a:rect r="r" b="b" t="t" l="l"/>
            <a:pathLst>
              <a:path h="5159799" w="5735858">
                <a:moveTo>
                  <a:pt x="0" y="0"/>
                </a:moveTo>
                <a:lnTo>
                  <a:pt x="5735858" y="0"/>
                </a:lnTo>
                <a:lnTo>
                  <a:pt x="5735858" y="5159799"/>
                </a:lnTo>
                <a:lnTo>
                  <a:pt x="0" y="51597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455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011929" y="1143381"/>
            <a:ext cx="6252711" cy="8266743"/>
          </a:xfrm>
          <a:custGeom>
            <a:avLst/>
            <a:gdLst/>
            <a:ahLst/>
            <a:cxnLst/>
            <a:rect r="r" b="b" t="t" l="l"/>
            <a:pathLst>
              <a:path h="8266743" w="6252711">
                <a:moveTo>
                  <a:pt x="0" y="0"/>
                </a:moveTo>
                <a:lnTo>
                  <a:pt x="6252711" y="0"/>
                </a:lnTo>
                <a:lnTo>
                  <a:pt x="6252711" y="8266743"/>
                </a:lnTo>
                <a:lnTo>
                  <a:pt x="0" y="82667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Sabre algorithm</a:t>
            </a:r>
          </a:p>
        </p:txBody>
      </p:sp>
    </p:spTree>
  </p:cSld>
  <p:clrMapOvr>
    <a:masterClrMapping/>
  </p:clrMapOvr>
</p:sld>
</file>

<file path=ppt/slides/slide7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308208" y="1143381"/>
          <a:ext cx="17671583" cy="4000119"/>
        </p:xfrm>
        <a:graphic>
          <a:graphicData uri="http://schemas.openxmlformats.org/presentationml/2006/ole">
            <p:oleObj imgW="21196300" imgH="75311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0" y="5143500"/>
            <a:ext cx="7485574" cy="4605789"/>
          </a:xfrm>
          <a:custGeom>
            <a:avLst/>
            <a:gdLst/>
            <a:ahLst/>
            <a:cxnLst/>
            <a:rect r="r" b="b" t="t" l="l"/>
            <a:pathLst>
              <a:path h="4605789" w="7485574">
                <a:moveTo>
                  <a:pt x="0" y="0"/>
                </a:moveTo>
                <a:lnTo>
                  <a:pt x="7485574" y="0"/>
                </a:lnTo>
                <a:lnTo>
                  <a:pt x="7485574" y="4605789"/>
                </a:lnTo>
                <a:lnTo>
                  <a:pt x="0" y="46057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6075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276071" y="5257800"/>
            <a:ext cx="5735858" cy="5159799"/>
          </a:xfrm>
          <a:custGeom>
            <a:avLst/>
            <a:gdLst/>
            <a:ahLst/>
            <a:cxnLst/>
            <a:rect r="r" b="b" t="t" l="l"/>
            <a:pathLst>
              <a:path h="5159799" w="5735858">
                <a:moveTo>
                  <a:pt x="0" y="0"/>
                </a:moveTo>
                <a:lnTo>
                  <a:pt x="5735858" y="0"/>
                </a:lnTo>
                <a:lnTo>
                  <a:pt x="5735858" y="5159799"/>
                </a:lnTo>
                <a:lnTo>
                  <a:pt x="0" y="51597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455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Sabre algorithm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171067" y="6183448"/>
            <a:ext cx="748062" cy="771197"/>
          </a:xfrm>
          <a:custGeom>
            <a:avLst/>
            <a:gdLst/>
            <a:ahLst/>
            <a:cxnLst/>
            <a:rect r="r" b="b" t="t" l="l"/>
            <a:pathLst>
              <a:path h="771197" w="748062">
                <a:moveTo>
                  <a:pt x="0" y="0"/>
                </a:moveTo>
                <a:lnTo>
                  <a:pt x="748062" y="0"/>
                </a:lnTo>
                <a:lnTo>
                  <a:pt x="748062" y="771198"/>
                </a:lnTo>
                <a:lnTo>
                  <a:pt x="0" y="7711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27830" y="6183448"/>
            <a:ext cx="748062" cy="771197"/>
          </a:xfrm>
          <a:custGeom>
            <a:avLst/>
            <a:gdLst/>
            <a:ahLst/>
            <a:cxnLst/>
            <a:rect r="r" b="b" t="t" l="l"/>
            <a:pathLst>
              <a:path h="771197" w="748062">
                <a:moveTo>
                  <a:pt x="0" y="0"/>
                </a:moveTo>
                <a:lnTo>
                  <a:pt x="748062" y="0"/>
                </a:lnTo>
                <a:lnTo>
                  <a:pt x="748062" y="771198"/>
                </a:lnTo>
                <a:lnTo>
                  <a:pt x="0" y="7711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011929" y="1143381"/>
            <a:ext cx="6252711" cy="8266743"/>
          </a:xfrm>
          <a:custGeom>
            <a:avLst/>
            <a:gdLst/>
            <a:ahLst/>
            <a:cxnLst/>
            <a:rect r="r" b="b" t="t" l="l"/>
            <a:pathLst>
              <a:path h="8266743" w="6252711">
                <a:moveTo>
                  <a:pt x="0" y="0"/>
                </a:moveTo>
                <a:lnTo>
                  <a:pt x="6252711" y="0"/>
                </a:lnTo>
                <a:lnTo>
                  <a:pt x="6252711" y="8266743"/>
                </a:lnTo>
                <a:lnTo>
                  <a:pt x="0" y="8266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308208" y="1143381"/>
          <a:ext cx="17671583" cy="4000119"/>
        </p:xfrm>
        <a:graphic>
          <a:graphicData uri="http://schemas.openxmlformats.org/presentationml/2006/ole">
            <p:oleObj imgW="21196300" imgH="75311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0" y="5143500"/>
            <a:ext cx="7485574" cy="4605789"/>
          </a:xfrm>
          <a:custGeom>
            <a:avLst/>
            <a:gdLst/>
            <a:ahLst/>
            <a:cxnLst/>
            <a:rect r="r" b="b" t="t" l="l"/>
            <a:pathLst>
              <a:path h="4605789" w="7485574">
                <a:moveTo>
                  <a:pt x="0" y="0"/>
                </a:moveTo>
                <a:lnTo>
                  <a:pt x="7485574" y="0"/>
                </a:lnTo>
                <a:lnTo>
                  <a:pt x="7485574" y="4605789"/>
                </a:lnTo>
                <a:lnTo>
                  <a:pt x="0" y="46057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6075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276071" y="5257800"/>
            <a:ext cx="5735858" cy="5159799"/>
          </a:xfrm>
          <a:custGeom>
            <a:avLst/>
            <a:gdLst/>
            <a:ahLst/>
            <a:cxnLst/>
            <a:rect r="r" b="b" t="t" l="l"/>
            <a:pathLst>
              <a:path h="5159799" w="5735858">
                <a:moveTo>
                  <a:pt x="0" y="0"/>
                </a:moveTo>
                <a:lnTo>
                  <a:pt x="5735858" y="0"/>
                </a:lnTo>
                <a:lnTo>
                  <a:pt x="5735858" y="5159799"/>
                </a:lnTo>
                <a:lnTo>
                  <a:pt x="0" y="51597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455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Sabre algorithm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151054" y="7864596"/>
            <a:ext cx="748062" cy="771197"/>
          </a:xfrm>
          <a:custGeom>
            <a:avLst/>
            <a:gdLst/>
            <a:ahLst/>
            <a:cxnLst/>
            <a:rect r="r" b="b" t="t" l="l"/>
            <a:pathLst>
              <a:path h="771197" w="748062">
                <a:moveTo>
                  <a:pt x="0" y="0"/>
                </a:moveTo>
                <a:lnTo>
                  <a:pt x="748061" y="0"/>
                </a:lnTo>
                <a:lnTo>
                  <a:pt x="748061" y="771197"/>
                </a:lnTo>
                <a:lnTo>
                  <a:pt x="0" y="7711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789442" y="9545743"/>
            <a:ext cx="748062" cy="771197"/>
          </a:xfrm>
          <a:custGeom>
            <a:avLst/>
            <a:gdLst/>
            <a:ahLst/>
            <a:cxnLst/>
            <a:rect r="r" b="b" t="t" l="l"/>
            <a:pathLst>
              <a:path h="771197" w="748062">
                <a:moveTo>
                  <a:pt x="0" y="0"/>
                </a:moveTo>
                <a:lnTo>
                  <a:pt x="748061" y="0"/>
                </a:lnTo>
                <a:lnTo>
                  <a:pt x="748061" y="771197"/>
                </a:lnTo>
                <a:lnTo>
                  <a:pt x="0" y="7711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011929" y="1143381"/>
            <a:ext cx="6252711" cy="8266743"/>
          </a:xfrm>
          <a:custGeom>
            <a:avLst/>
            <a:gdLst/>
            <a:ahLst/>
            <a:cxnLst/>
            <a:rect r="r" b="b" t="t" l="l"/>
            <a:pathLst>
              <a:path h="8266743" w="6252711">
                <a:moveTo>
                  <a:pt x="0" y="0"/>
                </a:moveTo>
                <a:lnTo>
                  <a:pt x="6252711" y="0"/>
                </a:lnTo>
                <a:lnTo>
                  <a:pt x="6252711" y="8266743"/>
                </a:lnTo>
                <a:lnTo>
                  <a:pt x="0" y="8266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308208" y="1143381"/>
          <a:ext cx="17671583" cy="4000119"/>
        </p:xfrm>
        <a:graphic>
          <a:graphicData uri="http://schemas.openxmlformats.org/presentationml/2006/ole">
            <p:oleObj imgW="21196300" imgH="75311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0" y="5143500"/>
            <a:ext cx="7485574" cy="4605789"/>
          </a:xfrm>
          <a:custGeom>
            <a:avLst/>
            <a:gdLst/>
            <a:ahLst/>
            <a:cxnLst/>
            <a:rect r="r" b="b" t="t" l="l"/>
            <a:pathLst>
              <a:path h="4605789" w="7485574">
                <a:moveTo>
                  <a:pt x="0" y="0"/>
                </a:moveTo>
                <a:lnTo>
                  <a:pt x="7485574" y="0"/>
                </a:lnTo>
                <a:lnTo>
                  <a:pt x="7485574" y="4605789"/>
                </a:lnTo>
                <a:lnTo>
                  <a:pt x="0" y="46057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6075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276071" y="5257800"/>
            <a:ext cx="5735858" cy="5159799"/>
          </a:xfrm>
          <a:custGeom>
            <a:avLst/>
            <a:gdLst/>
            <a:ahLst/>
            <a:cxnLst/>
            <a:rect r="r" b="b" t="t" l="l"/>
            <a:pathLst>
              <a:path h="5159799" w="5735858">
                <a:moveTo>
                  <a:pt x="0" y="0"/>
                </a:moveTo>
                <a:lnTo>
                  <a:pt x="5735858" y="0"/>
                </a:lnTo>
                <a:lnTo>
                  <a:pt x="5735858" y="5159799"/>
                </a:lnTo>
                <a:lnTo>
                  <a:pt x="0" y="51597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455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Sabre algorithm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011929" y="1143381"/>
            <a:ext cx="6252711" cy="8266743"/>
          </a:xfrm>
          <a:custGeom>
            <a:avLst/>
            <a:gdLst/>
            <a:ahLst/>
            <a:cxnLst/>
            <a:rect r="r" b="b" t="t" l="l"/>
            <a:pathLst>
              <a:path h="8266743" w="6252711">
                <a:moveTo>
                  <a:pt x="0" y="0"/>
                </a:moveTo>
                <a:lnTo>
                  <a:pt x="6252711" y="0"/>
                </a:lnTo>
                <a:lnTo>
                  <a:pt x="6252711" y="8266743"/>
                </a:lnTo>
                <a:lnTo>
                  <a:pt x="0" y="82667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Sabre algorithm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05983" y="952500"/>
            <a:ext cx="7680873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SABRE Heuristic Cost Function: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819652" y="-68923"/>
            <a:ext cx="19927303" cy="4545817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05983" y="3302061"/>
            <a:ext cx="9722266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Try s1 = SWAP(Q0, Q1) and we have temp mapping: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745999" y="3384123"/>
            <a:ext cx="7442162" cy="1691118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677200" y="3832048"/>
            <a:ext cx="1517675" cy="698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9"/>
              </a:lnSpc>
              <a:spcBef>
                <a:spcPct val="0"/>
              </a:spcBef>
            </a:pPr>
            <a:r>
              <a:rPr lang="en-US" sz="3985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Before</a:t>
            </a:r>
            <a:r>
              <a:rPr lang="en-US" sz="398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437318" y="3384123"/>
            <a:ext cx="7442162" cy="1691118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9710856" y="3832048"/>
            <a:ext cx="1208484" cy="698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9"/>
              </a:lnSpc>
              <a:spcBef>
                <a:spcPct val="0"/>
              </a:spcBef>
            </a:pPr>
            <a:r>
              <a:rPr lang="en-US" sz="3985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</a:t>
            </a:r>
            <a:r>
              <a:rPr lang="en-US" sz="398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04553" y="2771427"/>
            <a:ext cx="11904348" cy="651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5"/>
              </a:lnSpc>
            </a:pPr>
            <a:r>
              <a:rPr lang="en-US" sz="1853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[1] “Tackling the Qubit Mapping Problem for NISQ-Era Quantum Devices”, Gushu et al, arXiv: 1809.02573</a:t>
            </a:r>
          </a:p>
          <a:p>
            <a:pPr algn="l">
              <a:lnSpc>
                <a:spcPts val="2595"/>
              </a:lnSpc>
              <a:spcBef>
                <a:spcPct val="0"/>
              </a:spcBef>
            </a:pPr>
            <a:r>
              <a:rPr lang="en-US" sz="1853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[2] “LightSABRE: A Lightweight and Enhanced SABRE Algorithm”, Henry Zou et al, arXiv: 2409.08368v1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92833" y="4715276"/>
            <a:ext cx="9722266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Front layer: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51523" y="5115180"/>
            <a:ext cx="4368307" cy="1178809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417061" y="5248628"/>
            <a:ext cx="6578162" cy="4908929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089940" y="5115180"/>
            <a:ext cx="4368307" cy="1178809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60850" y="5757992"/>
            <a:ext cx="4349654" cy="1638892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592833" y="6958213"/>
            <a:ext cx="9722266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Extended set: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51523" y="7339067"/>
            <a:ext cx="4368307" cy="1178809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089940" y="7339067"/>
            <a:ext cx="4368307" cy="1178809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58985" y="7981568"/>
            <a:ext cx="4353385" cy="1639514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413291" y="8509351"/>
            <a:ext cx="12073490" cy="2468719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505983" y="2082346"/>
          <a:ext cx="16230600" cy="5380795"/>
        </p:xfrm>
        <a:graphic>
          <a:graphicData uri="http://schemas.openxmlformats.org/presentationml/2006/ole">
            <p:oleObj imgW="19469100" imgH="86233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Sabre algorithm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05983" y="1232691"/>
            <a:ext cx="7680873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Compare all candidates: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05983" y="8132721"/>
            <a:ext cx="7680873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Best SWAP: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288122" y="8673062"/>
            <a:ext cx="3711755" cy="1069384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308208" y="1143381"/>
          <a:ext cx="17671583" cy="4000119"/>
        </p:xfrm>
        <a:graphic>
          <a:graphicData uri="http://schemas.openxmlformats.org/presentationml/2006/ole">
            <p:oleObj imgW="21196300" imgH="75311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0" y="5143500"/>
            <a:ext cx="7485574" cy="4605789"/>
          </a:xfrm>
          <a:custGeom>
            <a:avLst/>
            <a:gdLst/>
            <a:ahLst/>
            <a:cxnLst/>
            <a:rect r="r" b="b" t="t" l="l"/>
            <a:pathLst>
              <a:path h="4605789" w="7485574">
                <a:moveTo>
                  <a:pt x="0" y="0"/>
                </a:moveTo>
                <a:lnTo>
                  <a:pt x="7485574" y="0"/>
                </a:lnTo>
                <a:lnTo>
                  <a:pt x="7485574" y="4605789"/>
                </a:lnTo>
                <a:lnTo>
                  <a:pt x="0" y="46057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6075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276071" y="5257800"/>
            <a:ext cx="5735858" cy="5159799"/>
          </a:xfrm>
          <a:custGeom>
            <a:avLst/>
            <a:gdLst/>
            <a:ahLst/>
            <a:cxnLst/>
            <a:rect r="r" b="b" t="t" l="l"/>
            <a:pathLst>
              <a:path h="5159799" w="5735858">
                <a:moveTo>
                  <a:pt x="0" y="0"/>
                </a:moveTo>
                <a:lnTo>
                  <a:pt x="5735858" y="0"/>
                </a:lnTo>
                <a:lnTo>
                  <a:pt x="5735858" y="5159799"/>
                </a:lnTo>
                <a:lnTo>
                  <a:pt x="0" y="51597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455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Sabre algorithm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011929" y="1143381"/>
            <a:ext cx="6252711" cy="8266743"/>
          </a:xfrm>
          <a:custGeom>
            <a:avLst/>
            <a:gdLst/>
            <a:ahLst/>
            <a:cxnLst/>
            <a:rect r="r" b="b" t="t" l="l"/>
            <a:pathLst>
              <a:path h="8266743" w="6252711">
                <a:moveTo>
                  <a:pt x="0" y="0"/>
                </a:moveTo>
                <a:lnTo>
                  <a:pt x="6252711" y="0"/>
                </a:lnTo>
                <a:lnTo>
                  <a:pt x="6252711" y="8266743"/>
                </a:lnTo>
                <a:lnTo>
                  <a:pt x="0" y="82667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308208" y="1143381"/>
          <a:ext cx="17671583" cy="4000119"/>
        </p:xfrm>
        <a:graphic>
          <a:graphicData uri="http://schemas.openxmlformats.org/presentationml/2006/ole">
            <p:oleObj imgW="21196300" imgH="75311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0" y="5143500"/>
            <a:ext cx="7485574" cy="4605789"/>
          </a:xfrm>
          <a:custGeom>
            <a:avLst/>
            <a:gdLst/>
            <a:ahLst/>
            <a:cxnLst/>
            <a:rect r="r" b="b" t="t" l="l"/>
            <a:pathLst>
              <a:path h="4605789" w="7485574">
                <a:moveTo>
                  <a:pt x="0" y="0"/>
                </a:moveTo>
                <a:lnTo>
                  <a:pt x="7485574" y="0"/>
                </a:lnTo>
                <a:lnTo>
                  <a:pt x="7485574" y="4605789"/>
                </a:lnTo>
                <a:lnTo>
                  <a:pt x="0" y="46057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6075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276071" y="5257800"/>
            <a:ext cx="5735858" cy="5159799"/>
          </a:xfrm>
          <a:custGeom>
            <a:avLst/>
            <a:gdLst/>
            <a:ahLst/>
            <a:cxnLst/>
            <a:rect r="r" b="b" t="t" l="l"/>
            <a:pathLst>
              <a:path h="5159799" w="5735858">
                <a:moveTo>
                  <a:pt x="0" y="0"/>
                </a:moveTo>
                <a:lnTo>
                  <a:pt x="5735858" y="0"/>
                </a:lnTo>
                <a:lnTo>
                  <a:pt x="5735858" y="5159799"/>
                </a:lnTo>
                <a:lnTo>
                  <a:pt x="0" y="51597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455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Sabre algorithm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789442" y="6183448"/>
            <a:ext cx="748062" cy="771197"/>
          </a:xfrm>
          <a:custGeom>
            <a:avLst/>
            <a:gdLst/>
            <a:ahLst/>
            <a:cxnLst/>
            <a:rect r="r" b="b" t="t" l="l"/>
            <a:pathLst>
              <a:path h="771197" w="748062">
                <a:moveTo>
                  <a:pt x="0" y="0"/>
                </a:moveTo>
                <a:lnTo>
                  <a:pt x="748061" y="0"/>
                </a:lnTo>
                <a:lnTo>
                  <a:pt x="748061" y="771198"/>
                </a:lnTo>
                <a:lnTo>
                  <a:pt x="0" y="7711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151054" y="6183448"/>
            <a:ext cx="748062" cy="771197"/>
          </a:xfrm>
          <a:custGeom>
            <a:avLst/>
            <a:gdLst/>
            <a:ahLst/>
            <a:cxnLst/>
            <a:rect r="r" b="b" t="t" l="l"/>
            <a:pathLst>
              <a:path h="771197" w="748062">
                <a:moveTo>
                  <a:pt x="0" y="0"/>
                </a:moveTo>
                <a:lnTo>
                  <a:pt x="748061" y="0"/>
                </a:lnTo>
                <a:lnTo>
                  <a:pt x="748061" y="771198"/>
                </a:lnTo>
                <a:lnTo>
                  <a:pt x="0" y="7711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011929" y="1143381"/>
            <a:ext cx="6252711" cy="8266743"/>
          </a:xfrm>
          <a:custGeom>
            <a:avLst/>
            <a:gdLst/>
            <a:ahLst/>
            <a:cxnLst/>
            <a:rect r="r" b="b" t="t" l="l"/>
            <a:pathLst>
              <a:path h="8266743" w="6252711">
                <a:moveTo>
                  <a:pt x="0" y="0"/>
                </a:moveTo>
                <a:lnTo>
                  <a:pt x="6252711" y="0"/>
                </a:lnTo>
                <a:lnTo>
                  <a:pt x="6252711" y="8266743"/>
                </a:lnTo>
                <a:lnTo>
                  <a:pt x="0" y="8266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308208" y="1143381"/>
          <a:ext cx="17671583" cy="4000119"/>
        </p:xfrm>
        <a:graphic>
          <a:graphicData uri="http://schemas.openxmlformats.org/presentationml/2006/ole">
            <p:oleObj imgW="21196300" imgH="75311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0" y="5143500"/>
            <a:ext cx="7485574" cy="4605789"/>
          </a:xfrm>
          <a:custGeom>
            <a:avLst/>
            <a:gdLst/>
            <a:ahLst/>
            <a:cxnLst/>
            <a:rect r="r" b="b" t="t" l="l"/>
            <a:pathLst>
              <a:path h="4605789" w="7485574">
                <a:moveTo>
                  <a:pt x="0" y="0"/>
                </a:moveTo>
                <a:lnTo>
                  <a:pt x="7485574" y="0"/>
                </a:lnTo>
                <a:lnTo>
                  <a:pt x="7485574" y="4605789"/>
                </a:lnTo>
                <a:lnTo>
                  <a:pt x="0" y="46057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6075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276071" y="5257800"/>
            <a:ext cx="5735858" cy="5159799"/>
          </a:xfrm>
          <a:custGeom>
            <a:avLst/>
            <a:gdLst/>
            <a:ahLst/>
            <a:cxnLst/>
            <a:rect r="r" b="b" t="t" l="l"/>
            <a:pathLst>
              <a:path h="5159799" w="5735858">
                <a:moveTo>
                  <a:pt x="0" y="0"/>
                </a:moveTo>
                <a:lnTo>
                  <a:pt x="5735858" y="0"/>
                </a:lnTo>
                <a:lnTo>
                  <a:pt x="5735858" y="5159799"/>
                </a:lnTo>
                <a:lnTo>
                  <a:pt x="0" y="51597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455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Sabre algorithm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789442" y="6183448"/>
            <a:ext cx="748062" cy="771197"/>
          </a:xfrm>
          <a:custGeom>
            <a:avLst/>
            <a:gdLst/>
            <a:ahLst/>
            <a:cxnLst/>
            <a:rect r="r" b="b" t="t" l="l"/>
            <a:pathLst>
              <a:path h="771197" w="748062">
                <a:moveTo>
                  <a:pt x="0" y="0"/>
                </a:moveTo>
                <a:lnTo>
                  <a:pt x="748061" y="0"/>
                </a:lnTo>
                <a:lnTo>
                  <a:pt x="748061" y="771198"/>
                </a:lnTo>
                <a:lnTo>
                  <a:pt x="0" y="7711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151054" y="6183448"/>
            <a:ext cx="748062" cy="771197"/>
          </a:xfrm>
          <a:custGeom>
            <a:avLst/>
            <a:gdLst/>
            <a:ahLst/>
            <a:cxnLst/>
            <a:rect r="r" b="b" t="t" l="l"/>
            <a:pathLst>
              <a:path h="771197" w="748062">
                <a:moveTo>
                  <a:pt x="0" y="0"/>
                </a:moveTo>
                <a:lnTo>
                  <a:pt x="748061" y="0"/>
                </a:lnTo>
                <a:lnTo>
                  <a:pt x="748061" y="771198"/>
                </a:lnTo>
                <a:lnTo>
                  <a:pt x="0" y="7711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011929" y="1143381"/>
            <a:ext cx="6252711" cy="8266743"/>
          </a:xfrm>
          <a:custGeom>
            <a:avLst/>
            <a:gdLst/>
            <a:ahLst/>
            <a:cxnLst/>
            <a:rect r="r" b="b" t="t" l="l"/>
            <a:pathLst>
              <a:path h="8266743" w="6252711">
                <a:moveTo>
                  <a:pt x="0" y="0"/>
                </a:moveTo>
                <a:lnTo>
                  <a:pt x="6252711" y="0"/>
                </a:lnTo>
                <a:lnTo>
                  <a:pt x="6252711" y="8266743"/>
                </a:lnTo>
                <a:lnTo>
                  <a:pt x="0" y="8266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308208" y="1143381"/>
          <a:ext cx="17671583" cy="4000119"/>
        </p:xfrm>
        <a:graphic>
          <a:graphicData uri="http://schemas.openxmlformats.org/presentationml/2006/ole">
            <p:oleObj imgW="21196300" imgH="75311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0" y="5143500"/>
            <a:ext cx="7485574" cy="4605789"/>
          </a:xfrm>
          <a:custGeom>
            <a:avLst/>
            <a:gdLst/>
            <a:ahLst/>
            <a:cxnLst/>
            <a:rect r="r" b="b" t="t" l="l"/>
            <a:pathLst>
              <a:path h="4605789" w="7485574">
                <a:moveTo>
                  <a:pt x="0" y="0"/>
                </a:moveTo>
                <a:lnTo>
                  <a:pt x="7485574" y="0"/>
                </a:lnTo>
                <a:lnTo>
                  <a:pt x="7485574" y="4605789"/>
                </a:lnTo>
                <a:lnTo>
                  <a:pt x="0" y="46057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6075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276071" y="5257800"/>
            <a:ext cx="5735858" cy="5159799"/>
          </a:xfrm>
          <a:custGeom>
            <a:avLst/>
            <a:gdLst/>
            <a:ahLst/>
            <a:cxnLst/>
            <a:rect r="r" b="b" t="t" l="l"/>
            <a:pathLst>
              <a:path h="5159799" w="5735858">
                <a:moveTo>
                  <a:pt x="0" y="0"/>
                </a:moveTo>
                <a:lnTo>
                  <a:pt x="5735858" y="0"/>
                </a:lnTo>
                <a:lnTo>
                  <a:pt x="5735858" y="5159799"/>
                </a:lnTo>
                <a:lnTo>
                  <a:pt x="0" y="51597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455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Sabre algorithm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789442" y="6183448"/>
            <a:ext cx="748062" cy="771197"/>
          </a:xfrm>
          <a:custGeom>
            <a:avLst/>
            <a:gdLst/>
            <a:ahLst/>
            <a:cxnLst/>
            <a:rect r="r" b="b" t="t" l="l"/>
            <a:pathLst>
              <a:path h="771197" w="748062">
                <a:moveTo>
                  <a:pt x="0" y="0"/>
                </a:moveTo>
                <a:lnTo>
                  <a:pt x="748061" y="0"/>
                </a:lnTo>
                <a:lnTo>
                  <a:pt x="748061" y="771198"/>
                </a:lnTo>
                <a:lnTo>
                  <a:pt x="0" y="7711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151054" y="6183448"/>
            <a:ext cx="748062" cy="771197"/>
          </a:xfrm>
          <a:custGeom>
            <a:avLst/>
            <a:gdLst/>
            <a:ahLst/>
            <a:cxnLst/>
            <a:rect r="r" b="b" t="t" l="l"/>
            <a:pathLst>
              <a:path h="771197" w="748062">
                <a:moveTo>
                  <a:pt x="0" y="0"/>
                </a:moveTo>
                <a:lnTo>
                  <a:pt x="748061" y="0"/>
                </a:lnTo>
                <a:lnTo>
                  <a:pt x="748061" y="771198"/>
                </a:lnTo>
                <a:lnTo>
                  <a:pt x="0" y="7711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011929" y="1143381"/>
            <a:ext cx="6252711" cy="8266743"/>
          </a:xfrm>
          <a:custGeom>
            <a:avLst/>
            <a:gdLst/>
            <a:ahLst/>
            <a:cxnLst/>
            <a:rect r="r" b="b" t="t" l="l"/>
            <a:pathLst>
              <a:path h="8266743" w="6252711">
                <a:moveTo>
                  <a:pt x="0" y="0"/>
                </a:moveTo>
                <a:lnTo>
                  <a:pt x="6252711" y="0"/>
                </a:lnTo>
                <a:lnTo>
                  <a:pt x="6252711" y="8266743"/>
                </a:lnTo>
                <a:lnTo>
                  <a:pt x="0" y="8266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308208" y="1143381"/>
          <a:ext cx="17671583" cy="4000119"/>
        </p:xfrm>
        <a:graphic>
          <a:graphicData uri="http://schemas.openxmlformats.org/presentationml/2006/ole">
            <p:oleObj imgW="21196300" imgH="75311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0" y="5143500"/>
            <a:ext cx="7485574" cy="4605789"/>
          </a:xfrm>
          <a:custGeom>
            <a:avLst/>
            <a:gdLst/>
            <a:ahLst/>
            <a:cxnLst/>
            <a:rect r="r" b="b" t="t" l="l"/>
            <a:pathLst>
              <a:path h="4605789" w="7485574">
                <a:moveTo>
                  <a:pt x="0" y="0"/>
                </a:moveTo>
                <a:lnTo>
                  <a:pt x="7485574" y="0"/>
                </a:lnTo>
                <a:lnTo>
                  <a:pt x="7485574" y="4605789"/>
                </a:lnTo>
                <a:lnTo>
                  <a:pt x="0" y="46057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6075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276071" y="5257800"/>
            <a:ext cx="5735858" cy="5159799"/>
          </a:xfrm>
          <a:custGeom>
            <a:avLst/>
            <a:gdLst/>
            <a:ahLst/>
            <a:cxnLst/>
            <a:rect r="r" b="b" t="t" l="l"/>
            <a:pathLst>
              <a:path h="5159799" w="5735858">
                <a:moveTo>
                  <a:pt x="0" y="0"/>
                </a:moveTo>
                <a:lnTo>
                  <a:pt x="5735858" y="0"/>
                </a:lnTo>
                <a:lnTo>
                  <a:pt x="5735858" y="5159799"/>
                </a:lnTo>
                <a:lnTo>
                  <a:pt x="0" y="51597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455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Sabre algorithm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151054" y="7864596"/>
            <a:ext cx="748062" cy="771197"/>
          </a:xfrm>
          <a:custGeom>
            <a:avLst/>
            <a:gdLst/>
            <a:ahLst/>
            <a:cxnLst/>
            <a:rect r="r" b="b" t="t" l="l"/>
            <a:pathLst>
              <a:path h="771197" w="748062">
                <a:moveTo>
                  <a:pt x="0" y="0"/>
                </a:moveTo>
                <a:lnTo>
                  <a:pt x="748061" y="0"/>
                </a:lnTo>
                <a:lnTo>
                  <a:pt x="748061" y="771197"/>
                </a:lnTo>
                <a:lnTo>
                  <a:pt x="0" y="7711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789442" y="9545743"/>
            <a:ext cx="748062" cy="771197"/>
          </a:xfrm>
          <a:custGeom>
            <a:avLst/>
            <a:gdLst/>
            <a:ahLst/>
            <a:cxnLst/>
            <a:rect r="r" b="b" t="t" l="l"/>
            <a:pathLst>
              <a:path h="771197" w="748062">
                <a:moveTo>
                  <a:pt x="0" y="0"/>
                </a:moveTo>
                <a:lnTo>
                  <a:pt x="748061" y="0"/>
                </a:lnTo>
                <a:lnTo>
                  <a:pt x="748061" y="771197"/>
                </a:lnTo>
                <a:lnTo>
                  <a:pt x="0" y="7711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011929" y="1143381"/>
            <a:ext cx="6252711" cy="8266743"/>
          </a:xfrm>
          <a:custGeom>
            <a:avLst/>
            <a:gdLst/>
            <a:ahLst/>
            <a:cxnLst/>
            <a:rect r="r" b="b" t="t" l="l"/>
            <a:pathLst>
              <a:path h="8266743" w="6252711">
                <a:moveTo>
                  <a:pt x="0" y="0"/>
                </a:moveTo>
                <a:lnTo>
                  <a:pt x="6252711" y="0"/>
                </a:lnTo>
                <a:lnTo>
                  <a:pt x="6252711" y="8266743"/>
                </a:lnTo>
                <a:lnTo>
                  <a:pt x="0" y="8266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Sabre algorithm</a:t>
            </a:r>
          </a:p>
        </p:txBody>
      </p:sp>
      <p:graphicFrame>
        <p:nvGraphicFramePr>
          <p:cNvPr name="Object 3" id="3"/>
          <p:cNvGraphicFramePr/>
          <p:nvPr/>
        </p:nvGraphicFramePr>
        <p:xfrm>
          <a:off x="308208" y="1143381"/>
          <a:ext cx="17671583" cy="4000119"/>
        </p:xfrm>
        <a:graphic>
          <a:graphicData uri="http://schemas.openxmlformats.org/presentationml/2006/ole">
            <p:oleObj imgW="21196300" imgH="75311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0" y="5143500"/>
            <a:ext cx="7485574" cy="4605789"/>
          </a:xfrm>
          <a:custGeom>
            <a:avLst/>
            <a:gdLst/>
            <a:ahLst/>
            <a:cxnLst/>
            <a:rect r="r" b="b" t="t" l="l"/>
            <a:pathLst>
              <a:path h="4605789" w="7485574">
                <a:moveTo>
                  <a:pt x="0" y="0"/>
                </a:moveTo>
                <a:lnTo>
                  <a:pt x="7485574" y="0"/>
                </a:lnTo>
                <a:lnTo>
                  <a:pt x="7485574" y="4605789"/>
                </a:lnTo>
                <a:lnTo>
                  <a:pt x="0" y="46057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6075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276071" y="5257800"/>
            <a:ext cx="5735858" cy="5159799"/>
          </a:xfrm>
          <a:custGeom>
            <a:avLst/>
            <a:gdLst/>
            <a:ahLst/>
            <a:cxnLst/>
            <a:rect r="r" b="b" t="t" l="l"/>
            <a:pathLst>
              <a:path h="5159799" w="5735858">
                <a:moveTo>
                  <a:pt x="0" y="0"/>
                </a:moveTo>
                <a:lnTo>
                  <a:pt x="5735858" y="0"/>
                </a:lnTo>
                <a:lnTo>
                  <a:pt x="5735858" y="5159799"/>
                </a:lnTo>
                <a:lnTo>
                  <a:pt x="0" y="51597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455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011929" y="1143381"/>
            <a:ext cx="6252711" cy="8266743"/>
          </a:xfrm>
          <a:custGeom>
            <a:avLst/>
            <a:gdLst/>
            <a:ahLst/>
            <a:cxnLst/>
            <a:rect r="r" b="b" t="t" l="l"/>
            <a:pathLst>
              <a:path h="8266743" w="6252711">
                <a:moveTo>
                  <a:pt x="0" y="0"/>
                </a:moveTo>
                <a:lnTo>
                  <a:pt x="6252711" y="0"/>
                </a:lnTo>
                <a:lnTo>
                  <a:pt x="6252711" y="8266743"/>
                </a:lnTo>
                <a:lnTo>
                  <a:pt x="0" y="82667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Sabre algorithm</a:t>
            </a:r>
          </a:p>
        </p:txBody>
      </p:sp>
      <p:graphicFrame>
        <p:nvGraphicFramePr>
          <p:cNvPr name="Object 3" id="3"/>
          <p:cNvGraphicFramePr/>
          <p:nvPr/>
        </p:nvGraphicFramePr>
        <p:xfrm>
          <a:off x="308208" y="1143381"/>
          <a:ext cx="17671583" cy="4000119"/>
        </p:xfrm>
        <a:graphic>
          <a:graphicData uri="http://schemas.openxmlformats.org/presentationml/2006/ole">
            <p:oleObj imgW="21196300" imgH="75311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0" y="5143500"/>
            <a:ext cx="7485574" cy="4605789"/>
          </a:xfrm>
          <a:custGeom>
            <a:avLst/>
            <a:gdLst/>
            <a:ahLst/>
            <a:cxnLst/>
            <a:rect r="r" b="b" t="t" l="l"/>
            <a:pathLst>
              <a:path h="4605789" w="7485574">
                <a:moveTo>
                  <a:pt x="0" y="0"/>
                </a:moveTo>
                <a:lnTo>
                  <a:pt x="7485574" y="0"/>
                </a:lnTo>
                <a:lnTo>
                  <a:pt x="7485574" y="4605789"/>
                </a:lnTo>
                <a:lnTo>
                  <a:pt x="0" y="46057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6075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276071" y="5257800"/>
            <a:ext cx="5735858" cy="5159799"/>
          </a:xfrm>
          <a:custGeom>
            <a:avLst/>
            <a:gdLst/>
            <a:ahLst/>
            <a:cxnLst/>
            <a:rect r="r" b="b" t="t" l="l"/>
            <a:pathLst>
              <a:path h="5159799" w="5735858">
                <a:moveTo>
                  <a:pt x="0" y="0"/>
                </a:moveTo>
                <a:lnTo>
                  <a:pt x="5735858" y="0"/>
                </a:lnTo>
                <a:lnTo>
                  <a:pt x="5735858" y="5159799"/>
                </a:lnTo>
                <a:lnTo>
                  <a:pt x="0" y="51597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455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011929" y="1143381"/>
            <a:ext cx="6252711" cy="8266743"/>
          </a:xfrm>
          <a:custGeom>
            <a:avLst/>
            <a:gdLst/>
            <a:ahLst/>
            <a:cxnLst/>
            <a:rect r="r" b="b" t="t" l="l"/>
            <a:pathLst>
              <a:path h="8266743" w="6252711">
                <a:moveTo>
                  <a:pt x="0" y="0"/>
                </a:moveTo>
                <a:lnTo>
                  <a:pt x="6252711" y="0"/>
                </a:lnTo>
                <a:lnTo>
                  <a:pt x="6252711" y="8266743"/>
                </a:lnTo>
                <a:lnTo>
                  <a:pt x="0" y="82667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Sabre algorithm</a:t>
            </a:r>
          </a:p>
        </p:txBody>
      </p:sp>
      <p:graphicFrame>
        <p:nvGraphicFramePr>
          <p:cNvPr name="Object 3" id="3"/>
          <p:cNvGraphicFramePr/>
          <p:nvPr/>
        </p:nvGraphicFramePr>
        <p:xfrm>
          <a:off x="308208" y="1143381"/>
          <a:ext cx="17671583" cy="4000119"/>
        </p:xfrm>
        <a:graphic>
          <a:graphicData uri="http://schemas.openxmlformats.org/presentationml/2006/ole">
            <p:oleObj imgW="21196300" imgH="75311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0" y="5143500"/>
            <a:ext cx="7485574" cy="4605789"/>
          </a:xfrm>
          <a:custGeom>
            <a:avLst/>
            <a:gdLst/>
            <a:ahLst/>
            <a:cxnLst/>
            <a:rect r="r" b="b" t="t" l="l"/>
            <a:pathLst>
              <a:path h="4605789" w="7485574">
                <a:moveTo>
                  <a:pt x="0" y="0"/>
                </a:moveTo>
                <a:lnTo>
                  <a:pt x="7485574" y="0"/>
                </a:lnTo>
                <a:lnTo>
                  <a:pt x="7485574" y="4605789"/>
                </a:lnTo>
                <a:lnTo>
                  <a:pt x="0" y="46057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6075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276071" y="5257800"/>
            <a:ext cx="5735858" cy="5159799"/>
          </a:xfrm>
          <a:custGeom>
            <a:avLst/>
            <a:gdLst/>
            <a:ahLst/>
            <a:cxnLst/>
            <a:rect r="r" b="b" t="t" l="l"/>
            <a:pathLst>
              <a:path h="5159799" w="5735858">
                <a:moveTo>
                  <a:pt x="0" y="0"/>
                </a:moveTo>
                <a:lnTo>
                  <a:pt x="5735858" y="0"/>
                </a:lnTo>
                <a:lnTo>
                  <a:pt x="5735858" y="5159799"/>
                </a:lnTo>
                <a:lnTo>
                  <a:pt x="0" y="51597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455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789442" y="7864596"/>
            <a:ext cx="748062" cy="771197"/>
          </a:xfrm>
          <a:custGeom>
            <a:avLst/>
            <a:gdLst/>
            <a:ahLst/>
            <a:cxnLst/>
            <a:rect r="r" b="b" t="t" l="l"/>
            <a:pathLst>
              <a:path h="771197" w="748062">
                <a:moveTo>
                  <a:pt x="0" y="0"/>
                </a:moveTo>
                <a:lnTo>
                  <a:pt x="748061" y="0"/>
                </a:lnTo>
                <a:lnTo>
                  <a:pt x="748061" y="771197"/>
                </a:lnTo>
                <a:lnTo>
                  <a:pt x="0" y="7711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789442" y="9545743"/>
            <a:ext cx="748062" cy="771197"/>
          </a:xfrm>
          <a:custGeom>
            <a:avLst/>
            <a:gdLst/>
            <a:ahLst/>
            <a:cxnLst/>
            <a:rect r="r" b="b" t="t" l="l"/>
            <a:pathLst>
              <a:path h="771197" w="748062">
                <a:moveTo>
                  <a:pt x="0" y="0"/>
                </a:moveTo>
                <a:lnTo>
                  <a:pt x="748061" y="0"/>
                </a:lnTo>
                <a:lnTo>
                  <a:pt x="748061" y="771197"/>
                </a:lnTo>
                <a:lnTo>
                  <a:pt x="0" y="7711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011929" y="1143381"/>
            <a:ext cx="6252711" cy="8266743"/>
          </a:xfrm>
          <a:custGeom>
            <a:avLst/>
            <a:gdLst/>
            <a:ahLst/>
            <a:cxnLst/>
            <a:rect r="r" b="b" t="t" l="l"/>
            <a:pathLst>
              <a:path h="8266743" w="6252711">
                <a:moveTo>
                  <a:pt x="0" y="0"/>
                </a:moveTo>
                <a:lnTo>
                  <a:pt x="6252711" y="0"/>
                </a:lnTo>
                <a:lnTo>
                  <a:pt x="6252711" y="8266743"/>
                </a:lnTo>
                <a:lnTo>
                  <a:pt x="0" y="8266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Sabre algorithm</a:t>
            </a:r>
          </a:p>
        </p:txBody>
      </p:sp>
      <p:graphicFrame>
        <p:nvGraphicFramePr>
          <p:cNvPr name="Object 3" id="3"/>
          <p:cNvGraphicFramePr/>
          <p:nvPr/>
        </p:nvGraphicFramePr>
        <p:xfrm>
          <a:off x="308208" y="1143381"/>
          <a:ext cx="17671583" cy="4000119"/>
        </p:xfrm>
        <a:graphic>
          <a:graphicData uri="http://schemas.openxmlformats.org/presentationml/2006/ole">
            <p:oleObj imgW="21196300" imgH="75311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0" y="5143500"/>
            <a:ext cx="7485574" cy="4605789"/>
          </a:xfrm>
          <a:custGeom>
            <a:avLst/>
            <a:gdLst/>
            <a:ahLst/>
            <a:cxnLst/>
            <a:rect r="r" b="b" t="t" l="l"/>
            <a:pathLst>
              <a:path h="4605789" w="7485574">
                <a:moveTo>
                  <a:pt x="0" y="0"/>
                </a:moveTo>
                <a:lnTo>
                  <a:pt x="7485574" y="0"/>
                </a:lnTo>
                <a:lnTo>
                  <a:pt x="7485574" y="4605789"/>
                </a:lnTo>
                <a:lnTo>
                  <a:pt x="0" y="46057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6075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276071" y="5257800"/>
            <a:ext cx="5735858" cy="5159799"/>
          </a:xfrm>
          <a:custGeom>
            <a:avLst/>
            <a:gdLst/>
            <a:ahLst/>
            <a:cxnLst/>
            <a:rect r="r" b="b" t="t" l="l"/>
            <a:pathLst>
              <a:path h="5159799" w="5735858">
                <a:moveTo>
                  <a:pt x="0" y="0"/>
                </a:moveTo>
                <a:lnTo>
                  <a:pt x="5735858" y="0"/>
                </a:lnTo>
                <a:lnTo>
                  <a:pt x="5735858" y="5159799"/>
                </a:lnTo>
                <a:lnTo>
                  <a:pt x="0" y="51597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455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789442" y="7864596"/>
            <a:ext cx="748062" cy="771197"/>
          </a:xfrm>
          <a:custGeom>
            <a:avLst/>
            <a:gdLst/>
            <a:ahLst/>
            <a:cxnLst/>
            <a:rect r="r" b="b" t="t" l="l"/>
            <a:pathLst>
              <a:path h="771197" w="748062">
                <a:moveTo>
                  <a:pt x="0" y="0"/>
                </a:moveTo>
                <a:lnTo>
                  <a:pt x="748061" y="0"/>
                </a:lnTo>
                <a:lnTo>
                  <a:pt x="748061" y="771197"/>
                </a:lnTo>
                <a:lnTo>
                  <a:pt x="0" y="7711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789442" y="9545743"/>
            <a:ext cx="748062" cy="771197"/>
          </a:xfrm>
          <a:custGeom>
            <a:avLst/>
            <a:gdLst/>
            <a:ahLst/>
            <a:cxnLst/>
            <a:rect r="r" b="b" t="t" l="l"/>
            <a:pathLst>
              <a:path h="771197" w="748062">
                <a:moveTo>
                  <a:pt x="0" y="0"/>
                </a:moveTo>
                <a:lnTo>
                  <a:pt x="748061" y="0"/>
                </a:lnTo>
                <a:lnTo>
                  <a:pt x="748061" y="771197"/>
                </a:lnTo>
                <a:lnTo>
                  <a:pt x="0" y="7711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011929" y="1143381"/>
            <a:ext cx="6252711" cy="8266743"/>
          </a:xfrm>
          <a:custGeom>
            <a:avLst/>
            <a:gdLst/>
            <a:ahLst/>
            <a:cxnLst/>
            <a:rect r="r" b="b" t="t" l="l"/>
            <a:pathLst>
              <a:path h="8266743" w="6252711">
                <a:moveTo>
                  <a:pt x="0" y="0"/>
                </a:moveTo>
                <a:lnTo>
                  <a:pt x="6252711" y="0"/>
                </a:lnTo>
                <a:lnTo>
                  <a:pt x="6252711" y="8266743"/>
                </a:lnTo>
                <a:lnTo>
                  <a:pt x="0" y="8266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Sabre algorithm</a:t>
            </a:r>
          </a:p>
        </p:txBody>
      </p:sp>
      <p:graphicFrame>
        <p:nvGraphicFramePr>
          <p:cNvPr name="Object 3" id="3"/>
          <p:cNvGraphicFramePr/>
          <p:nvPr/>
        </p:nvGraphicFramePr>
        <p:xfrm>
          <a:off x="308208" y="1143381"/>
          <a:ext cx="17671583" cy="4000119"/>
        </p:xfrm>
        <a:graphic>
          <a:graphicData uri="http://schemas.openxmlformats.org/presentationml/2006/ole">
            <p:oleObj imgW="21196300" imgH="75311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0" y="5143500"/>
            <a:ext cx="7485574" cy="4605789"/>
          </a:xfrm>
          <a:custGeom>
            <a:avLst/>
            <a:gdLst/>
            <a:ahLst/>
            <a:cxnLst/>
            <a:rect r="r" b="b" t="t" l="l"/>
            <a:pathLst>
              <a:path h="4605789" w="7485574">
                <a:moveTo>
                  <a:pt x="0" y="0"/>
                </a:moveTo>
                <a:lnTo>
                  <a:pt x="7485574" y="0"/>
                </a:lnTo>
                <a:lnTo>
                  <a:pt x="7485574" y="4605789"/>
                </a:lnTo>
                <a:lnTo>
                  <a:pt x="0" y="46057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6075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276071" y="5257800"/>
            <a:ext cx="5735858" cy="5159799"/>
          </a:xfrm>
          <a:custGeom>
            <a:avLst/>
            <a:gdLst/>
            <a:ahLst/>
            <a:cxnLst/>
            <a:rect r="r" b="b" t="t" l="l"/>
            <a:pathLst>
              <a:path h="5159799" w="5735858">
                <a:moveTo>
                  <a:pt x="0" y="0"/>
                </a:moveTo>
                <a:lnTo>
                  <a:pt x="5735858" y="0"/>
                </a:lnTo>
                <a:lnTo>
                  <a:pt x="5735858" y="5159799"/>
                </a:lnTo>
                <a:lnTo>
                  <a:pt x="0" y="51597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455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789442" y="7864596"/>
            <a:ext cx="748062" cy="771197"/>
          </a:xfrm>
          <a:custGeom>
            <a:avLst/>
            <a:gdLst/>
            <a:ahLst/>
            <a:cxnLst/>
            <a:rect r="r" b="b" t="t" l="l"/>
            <a:pathLst>
              <a:path h="771197" w="748062">
                <a:moveTo>
                  <a:pt x="0" y="0"/>
                </a:moveTo>
                <a:lnTo>
                  <a:pt x="748061" y="0"/>
                </a:lnTo>
                <a:lnTo>
                  <a:pt x="748061" y="771197"/>
                </a:lnTo>
                <a:lnTo>
                  <a:pt x="0" y="7711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789442" y="9545743"/>
            <a:ext cx="748062" cy="771197"/>
          </a:xfrm>
          <a:custGeom>
            <a:avLst/>
            <a:gdLst/>
            <a:ahLst/>
            <a:cxnLst/>
            <a:rect r="r" b="b" t="t" l="l"/>
            <a:pathLst>
              <a:path h="771197" w="748062">
                <a:moveTo>
                  <a:pt x="0" y="0"/>
                </a:moveTo>
                <a:lnTo>
                  <a:pt x="748061" y="0"/>
                </a:lnTo>
                <a:lnTo>
                  <a:pt x="748061" y="771197"/>
                </a:lnTo>
                <a:lnTo>
                  <a:pt x="0" y="7711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011929" y="1143381"/>
            <a:ext cx="6252711" cy="8266743"/>
          </a:xfrm>
          <a:custGeom>
            <a:avLst/>
            <a:gdLst/>
            <a:ahLst/>
            <a:cxnLst/>
            <a:rect r="r" b="b" t="t" l="l"/>
            <a:pathLst>
              <a:path h="8266743" w="6252711">
                <a:moveTo>
                  <a:pt x="0" y="0"/>
                </a:moveTo>
                <a:lnTo>
                  <a:pt x="6252711" y="0"/>
                </a:lnTo>
                <a:lnTo>
                  <a:pt x="6252711" y="8266743"/>
                </a:lnTo>
                <a:lnTo>
                  <a:pt x="0" y="8266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Sabre algorithm</a:t>
            </a:r>
          </a:p>
        </p:txBody>
      </p:sp>
      <p:graphicFrame>
        <p:nvGraphicFramePr>
          <p:cNvPr name="Object 3" id="3"/>
          <p:cNvGraphicFramePr/>
          <p:nvPr/>
        </p:nvGraphicFramePr>
        <p:xfrm>
          <a:off x="308208" y="1143381"/>
          <a:ext cx="17671583" cy="4000119"/>
        </p:xfrm>
        <a:graphic>
          <a:graphicData uri="http://schemas.openxmlformats.org/presentationml/2006/ole">
            <p:oleObj imgW="21196300" imgH="75311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6276071" y="5257800"/>
            <a:ext cx="5735858" cy="5159799"/>
          </a:xfrm>
          <a:custGeom>
            <a:avLst/>
            <a:gdLst/>
            <a:ahLst/>
            <a:cxnLst/>
            <a:rect r="r" b="b" t="t" l="l"/>
            <a:pathLst>
              <a:path h="5159799" w="5735858">
                <a:moveTo>
                  <a:pt x="0" y="0"/>
                </a:moveTo>
                <a:lnTo>
                  <a:pt x="5735858" y="0"/>
                </a:lnTo>
                <a:lnTo>
                  <a:pt x="5735858" y="5159799"/>
                </a:lnTo>
                <a:lnTo>
                  <a:pt x="0" y="51597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455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05983" y="5023418"/>
            <a:ext cx="5877667" cy="5263582"/>
          </a:xfrm>
          <a:custGeom>
            <a:avLst/>
            <a:gdLst/>
            <a:ahLst/>
            <a:cxnLst/>
            <a:rect r="r" b="b" t="t" l="l"/>
            <a:pathLst>
              <a:path h="5263582" w="5877667">
                <a:moveTo>
                  <a:pt x="0" y="0"/>
                </a:moveTo>
                <a:lnTo>
                  <a:pt x="5877667" y="0"/>
                </a:lnTo>
                <a:lnTo>
                  <a:pt x="5877667" y="5263582"/>
                </a:lnTo>
                <a:lnTo>
                  <a:pt x="0" y="52635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011929" y="1143381"/>
            <a:ext cx="6252711" cy="8266743"/>
          </a:xfrm>
          <a:custGeom>
            <a:avLst/>
            <a:gdLst/>
            <a:ahLst/>
            <a:cxnLst/>
            <a:rect r="r" b="b" t="t" l="l"/>
            <a:pathLst>
              <a:path h="8266743" w="6252711">
                <a:moveTo>
                  <a:pt x="0" y="0"/>
                </a:moveTo>
                <a:lnTo>
                  <a:pt x="6252711" y="0"/>
                </a:lnTo>
                <a:lnTo>
                  <a:pt x="6252711" y="8266743"/>
                </a:lnTo>
                <a:lnTo>
                  <a:pt x="0" y="82667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Sabre algorithm</a:t>
            </a:r>
          </a:p>
        </p:txBody>
      </p:sp>
      <p:graphicFrame>
        <p:nvGraphicFramePr>
          <p:cNvPr name="Object 3" id="3"/>
          <p:cNvGraphicFramePr/>
          <p:nvPr/>
        </p:nvGraphicFramePr>
        <p:xfrm>
          <a:off x="308208" y="1143381"/>
          <a:ext cx="17671583" cy="4000119"/>
        </p:xfrm>
        <a:graphic>
          <a:graphicData uri="http://schemas.openxmlformats.org/presentationml/2006/ole">
            <p:oleObj imgW="21196300" imgH="75311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6276071" y="5257800"/>
            <a:ext cx="5735858" cy="5159799"/>
          </a:xfrm>
          <a:custGeom>
            <a:avLst/>
            <a:gdLst/>
            <a:ahLst/>
            <a:cxnLst/>
            <a:rect r="r" b="b" t="t" l="l"/>
            <a:pathLst>
              <a:path h="5159799" w="5735858">
                <a:moveTo>
                  <a:pt x="0" y="0"/>
                </a:moveTo>
                <a:lnTo>
                  <a:pt x="5735858" y="0"/>
                </a:lnTo>
                <a:lnTo>
                  <a:pt x="5735858" y="5159799"/>
                </a:lnTo>
                <a:lnTo>
                  <a:pt x="0" y="51597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455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05983" y="5023418"/>
            <a:ext cx="5877667" cy="5263582"/>
          </a:xfrm>
          <a:custGeom>
            <a:avLst/>
            <a:gdLst/>
            <a:ahLst/>
            <a:cxnLst/>
            <a:rect r="r" b="b" t="t" l="l"/>
            <a:pathLst>
              <a:path h="5263582" w="5877667">
                <a:moveTo>
                  <a:pt x="0" y="0"/>
                </a:moveTo>
                <a:lnTo>
                  <a:pt x="5877667" y="0"/>
                </a:lnTo>
                <a:lnTo>
                  <a:pt x="5877667" y="5263582"/>
                </a:lnTo>
                <a:lnTo>
                  <a:pt x="0" y="52635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789442" y="6183448"/>
            <a:ext cx="748062" cy="771197"/>
          </a:xfrm>
          <a:custGeom>
            <a:avLst/>
            <a:gdLst/>
            <a:ahLst/>
            <a:cxnLst/>
            <a:rect r="r" b="b" t="t" l="l"/>
            <a:pathLst>
              <a:path h="771197" w="748062">
                <a:moveTo>
                  <a:pt x="0" y="0"/>
                </a:moveTo>
                <a:lnTo>
                  <a:pt x="748061" y="0"/>
                </a:lnTo>
                <a:lnTo>
                  <a:pt x="748061" y="771198"/>
                </a:lnTo>
                <a:lnTo>
                  <a:pt x="0" y="7711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789442" y="7864596"/>
            <a:ext cx="748062" cy="771197"/>
          </a:xfrm>
          <a:custGeom>
            <a:avLst/>
            <a:gdLst/>
            <a:ahLst/>
            <a:cxnLst/>
            <a:rect r="r" b="b" t="t" l="l"/>
            <a:pathLst>
              <a:path h="771197" w="748062">
                <a:moveTo>
                  <a:pt x="0" y="0"/>
                </a:moveTo>
                <a:lnTo>
                  <a:pt x="748061" y="0"/>
                </a:lnTo>
                <a:lnTo>
                  <a:pt x="748061" y="771197"/>
                </a:lnTo>
                <a:lnTo>
                  <a:pt x="0" y="7711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011929" y="1143381"/>
            <a:ext cx="6252711" cy="8266743"/>
          </a:xfrm>
          <a:custGeom>
            <a:avLst/>
            <a:gdLst/>
            <a:ahLst/>
            <a:cxnLst/>
            <a:rect r="r" b="b" t="t" l="l"/>
            <a:pathLst>
              <a:path h="8266743" w="6252711">
                <a:moveTo>
                  <a:pt x="0" y="0"/>
                </a:moveTo>
                <a:lnTo>
                  <a:pt x="6252711" y="0"/>
                </a:lnTo>
                <a:lnTo>
                  <a:pt x="6252711" y="8266743"/>
                </a:lnTo>
                <a:lnTo>
                  <a:pt x="0" y="8266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Sabre algorithm</a:t>
            </a:r>
          </a:p>
        </p:txBody>
      </p:sp>
      <p:graphicFrame>
        <p:nvGraphicFramePr>
          <p:cNvPr name="Object 3" id="3"/>
          <p:cNvGraphicFramePr/>
          <p:nvPr/>
        </p:nvGraphicFramePr>
        <p:xfrm>
          <a:off x="308208" y="1143381"/>
          <a:ext cx="17671583" cy="4000119"/>
        </p:xfrm>
        <a:graphic>
          <a:graphicData uri="http://schemas.openxmlformats.org/presentationml/2006/ole">
            <p:oleObj imgW="21196300" imgH="75311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6276071" y="5257800"/>
            <a:ext cx="5735858" cy="5159799"/>
          </a:xfrm>
          <a:custGeom>
            <a:avLst/>
            <a:gdLst/>
            <a:ahLst/>
            <a:cxnLst/>
            <a:rect r="r" b="b" t="t" l="l"/>
            <a:pathLst>
              <a:path h="5159799" w="5735858">
                <a:moveTo>
                  <a:pt x="0" y="0"/>
                </a:moveTo>
                <a:lnTo>
                  <a:pt x="5735858" y="0"/>
                </a:lnTo>
                <a:lnTo>
                  <a:pt x="5735858" y="5159799"/>
                </a:lnTo>
                <a:lnTo>
                  <a:pt x="0" y="51597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455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05983" y="5023418"/>
            <a:ext cx="5877667" cy="5263582"/>
          </a:xfrm>
          <a:custGeom>
            <a:avLst/>
            <a:gdLst/>
            <a:ahLst/>
            <a:cxnLst/>
            <a:rect r="r" b="b" t="t" l="l"/>
            <a:pathLst>
              <a:path h="5263582" w="5877667">
                <a:moveTo>
                  <a:pt x="0" y="0"/>
                </a:moveTo>
                <a:lnTo>
                  <a:pt x="5877667" y="0"/>
                </a:lnTo>
                <a:lnTo>
                  <a:pt x="5877667" y="5263582"/>
                </a:lnTo>
                <a:lnTo>
                  <a:pt x="0" y="52635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789442" y="6183448"/>
            <a:ext cx="748062" cy="771197"/>
          </a:xfrm>
          <a:custGeom>
            <a:avLst/>
            <a:gdLst/>
            <a:ahLst/>
            <a:cxnLst/>
            <a:rect r="r" b="b" t="t" l="l"/>
            <a:pathLst>
              <a:path h="771197" w="748062">
                <a:moveTo>
                  <a:pt x="0" y="0"/>
                </a:moveTo>
                <a:lnTo>
                  <a:pt x="748061" y="0"/>
                </a:lnTo>
                <a:lnTo>
                  <a:pt x="748061" y="771198"/>
                </a:lnTo>
                <a:lnTo>
                  <a:pt x="0" y="7711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789442" y="7864596"/>
            <a:ext cx="748062" cy="771197"/>
          </a:xfrm>
          <a:custGeom>
            <a:avLst/>
            <a:gdLst/>
            <a:ahLst/>
            <a:cxnLst/>
            <a:rect r="r" b="b" t="t" l="l"/>
            <a:pathLst>
              <a:path h="771197" w="748062">
                <a:moveTo>
                  <a:pt x="0" y="0"/>
                </a:moveTo>
                <a:lnTo>
                  <a:pt x="748061" y="0"/>
                </a:lnTo>
                <a:lnTo>
                  <a:pt x="748061" y="771197"/>
                </a:lnTo>
                <a:lnTo>
                  <a:pt x="0" y="7711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011929" y="1143381"/>
            <a:ext cx="6252711" cy="8266743"/>
          </a:xfrm>
          <a:custGeom>
            <a:avLst/>
            <a:gdLst/>
            <a:ahLst/>
            <a:cxnLst/>
            <a:rect r="r" b="b" t="t" l="l"/>
            <a:pathLst>
              <a:path h="8266743" w="6252711">
                <a:moveTo>
                  <a:pt x="0" y="0"/>
                </a:moveTo>
                <a:lnTo>
                  <a:pt x="6252711" y="0"/>
                </a:lnTo>
                <a:lnTo>
                  <a:pt x="6252711" y="8266743"/>
                </a:lnTo>
                <a:lnTo>
                  <a:pt x="0" y="8266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Sabre algorithm</a:t>
            </a:r>
          </a:p>
        </p:txBody>
      </p:sp>
      <p:graphicFrame>
        <p:nvGraphicFramePr>
          <p:cNvPr name="Object 3" id="3"/>
          <p:cNvGraphicFramePr/>
          <p:nvPr/>
        </p:nvGraphicFramePr>
        <p:xfrm>
          <a:off x="308208" y="1143381"/>
          <a:ext cx="17671583" cy="4000119"/>
        </p:xfrm>
        <a:graphic>
          <a:graphicData uri="http://schemas.openxmlformats.org/presentationml/2006/ole">
            <p:oleObj imgW="21196300" imgH="75311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6276071" y="5257800"/>
            <a:ext cx="5735858" cy="5159799"/>
          </a:xfrm>
          <a:custGeom>
            <a:avLst/>
            <a:gdLst/>
            <a:ahLst/>
            <a:cxnLst/>
            <a:rect r="r" b="b" t="t" l="l"/>
            <a:pathLst>
              <a:path h="5159799" w="5735858">
                <a:moveTo>
                  <a:pt x="0" y="0"/>
                </a:moveTo>
                <a:lnTo>
                  <a:pt x="5735858" y="0"/>
                </a:lnTo>
                <a:lnTo>
                  <a:pt x="5735858" y="5159799"/>
                </a:lnTo>
                <a:lnTo>
                  <a:pt x="0" y="51597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455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05983" y="5023418"/>
            <a:ext cx="5877667" cy="5263582"/>
          </a:xfrm>
          <a:custGeom>
            <a:avLst/>
            <a:gdLst/>
            <a:ahLst/>
            <a:cxnLst/>
            <a:rect r="r" b="b" t="t" l="l"/>
            <a:pathLst>
              <a:path h="5263582" w="5877667">
                <a:moveTo>
                  <a:pt x="0" y="0"/>
                </a:moveTo>
                <a:lnTo>
                  <a:pt x="5877667" y="0"/>
                </a:lnTo>
                <a:lnTo>
                  <a:pt x="5877667" y="5263582"/>
                </a:lnTo>
                <a:lnTo>
                  <a:pt x="0" y="52635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011929" y="1143381"/>
            <a:ext cx="6252711" cy="8266743"/>
          </a:xfrm>
          <a:custGeom>
            <a:avLst/>
            <a:gdLst/>
            <a:ahLst/>
            <a:cxnLst/>
            <a:rect r="r" b="b" t="t" l="l"/>
            <a:pathLst>
              <a:path h="8266743" w="6252711">
                <a:moveTo>
                  <a:pt x="0" y="0"/>
                </a:moveTo>
                <a:lnTo>
                  <a:pt x="6252711" y="0"/>
                </a:lnTo>
                <a:lnTo>
                  <a:pt x="6252711" y="8266743"/>
                </a:lnTo>
                <a:lnTo>
                  <a:pt x="0" y="82667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Sabre algorithm</a:t>
            </a:r>
          </a:p>
        </p:txBody>
      </p:sp>
      <p:graphicFrame>
        <p:nvGraphicFramePr>
          <p:cNvPr name="Object 3" id="3"/>
          <p:cNvGraphicFramePr/>
          <p:nvPr/>
        </p:nvGraphicFramePr>
        <p:xfrm>
          <a:off x="308208" y="1143381"/>
          <a:ext cx="17671583" cy="4000119"/>
        </p:xfrm>
        <a:graphic>
          <a:graphicData uri="http://schemas.openxmlformats.org/presentationml/2006/ole">
            <p:oleObj imgW="21196300" imgH="75311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6276071" y="5257800"/>
            <a:ext cx="5735858" cy="5159799"/>
          </a:xfrm>
          <a:custGeom>
            <a:avLst/>
            <a:gdLst/>
            <a:ahLst/>
            <a:cxnLst/>
            <a:rect r="r" b="b" t="t" l="l"/>
            <a:pathLst>
              <a:path h="5159799" w="5735858">
                <a:moveTo>
                  <a:pt x="0" y="0"/>
                </a:moveTo>
                <a:lnTo>
                  <a:pt x="5735858" y="0"/>
                </a:lnTo>
                <a:lnTo>
                  <a:pt x="5735858" y="5159799"/>
                </a:lnTo>
                <a:lnTo>
                  <a:pt x="0" y="51597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455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05983" y="5023418"/>
            <a:ext cx="5877667" cy="5263582"/>
          </a:xfrm>
          <a:custGeom>
            <a:avLst/>
            <a:gdLst/>
            <a:ahLst/>
            <a:cxnLst/>
            <a:rect r="r" b="b" t="t" l="l"/>
            <a:pathLst>
              <a:path h="5263582" w="5877667">
                <a:moveTo>
                  <a:pt x="0" y="0"/>
                </a:moveTo>
                <a:lnTo>
                  <a:pt x="5877667" y="0"/>
                </a:lnTo>
                <a:lnTo>
                  <a:pt x="5877667" y="5263582"/>
                </a:lnTo>
                <a:lnTo>
                  <a:pt x="0" y="52635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151054" y="6183448"/>
            <a:ext cx="748062" cy="771197"/>
          </a:xfrm>
          <a:custGeom>
            <a:avLst/>
            <a:gdLst/>
            <a:ahLst/>
            <a:cxnLst/>
            <a:rect r="r" b="b" t="t" l="l"/>
            <a:pathLst>
              <a:path h="771197" w="748062">
                <a:moveTo>
                  <a:pt x="0" y="0"/>
                </a:moveTo>
                <a:lnTo>
                  <a:pt x="748061" y="0"/>
                </a:lnTo>
                <a:lnTo>
                  <a:pt x="748061" y="771198"/>
                </a:lnTo>
                <a:lnTo>
                  <a:pt x="0" y="7711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809456" y="9545743"/>
            <a:ext cx="748062" cy="771197"/>
          </a:xfrm>
          <a:custGeom>
            <a:avLst/>
            <a:gdLst/>
            <a:ahLst/>
            <a:cxnLst/>
            <a:rect r="r" b="b" t="t" l="l"/>
            <a:pathLst>
              <a:path h="771197" w="748062">
                <a:moveTo>
                  <a:pt x="0" y="0"/>
                </a:moveTo>
                <a:lnTo>
                  <a:pt x="748061" y="0"/>
                </a:lnTo>
                <a:lnTo>
                  <a:pt x="748061" y="771197"/>
                </a:lnTo>
                <a:lnTo>
                  <a:pt x="0" y="7711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011929" y="1143381"/>
            <a:ext cx="6252711" cy="8266743"/>
          </a:xfrm>
          <a:custGeom>
            <a:avLst/>
            <a:gdLst/>
            <a:ahLst/>
            <a:cxnLst/>
            <a:rect r="r" b="b" t="t" l="l"/>
            <a:pathLst>
              <a:path h="8266743" w="6252711">
                <a:moveTo>
                  <a:pt x="0" y="0"/>
                </a:moveTo>
                <a:lnTo>
                  <a:pt x="6252711" y="0"/>
                </a:lnTo>
                <a:lnTo>
                  <a:pt x="6252711" y="8266743"/>
                </a:lnTo>
                <a:lnTo>
                  <a:pt x="0" y="8266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Sabre algorithm</a:t>
            </a:r>
          </a:p>
        </p:txBody>
      </p:sp>
      <p:graphicFrame>
        <p:nvGraphicFramePr>
          <p:cNvPr name="Object 3" id="3"/>
          <p:cNvGraphicFramePr/>
          <p:nvPr/>
        </p:nvGraphicFramePr>
        <p:xfrm>
          <a:off x="308208" y="1143381"/>
          <a:ext cx="17671583" cy="4000119"/>
        </p:xfrm>
        <a:graphic>
          <a:graphicData uri="http://schemas.openxmlformats.org/presentationml/2006/ole">
            <p:oleObj imgW="21196300" imgH="75311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6276071" y="5257800"/>
            <a:ext cx="5735858" cy="5159799"/>
          </a:xfrm>
          <a:custGeom>
            <a:avLst/>
            <a:gdLst/>
            <a:ahLst/>
            <a:cxnLst/>
            <a:rect r="r" b="b" t="t" l="l"/>
            <a:pathLst>
              <a:path h="5159799" w="5735858">
                <a:moveTo>
                  <a:pt x="0" y="0"/>
                </a:moveTo>
                <a:lnTo>
                  <a:pt x="5735858" y="0"/>
                </a:lnTo>
                <a:lnTo>
                  <a:pt x="5735858" y="5159799"/>
                </a:lnTo>
                <a:lnTo>
                  <a:pt x="0" y="51597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455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05983" y="5023418"/>
            <a:ext cx="5877667" cy="5263582"/>
          </a:xfrm>
          <a:custGeom>
            <a:avLst/>
            <a:gdLst/>
            <a:ahLst/>
            <a:cxnLst/>
            <a:rect r="r" b="b" t="t" l="l"/>
            <a:pathLst>
              <a:path h="5263582" w="5877667">
                <a:moveTo>
                  <a:pt x="0" y="0"/>
                </a:moveTo>
                <a:lnTo>
                  <a:pt x="5877667" y="0"/>
                </a:lnTo>
                <a:lnTo>
                  <a:pt x="5877667" y="5263582"/>
                </a:lnTo>
                <a:lnTo>
                  <a:pt x="0" y="52635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011929" y="1143381"/>
            <a:ext cx="6252711" cy="8266743"/>
          </a:xfrm>
          <a:custGeom>
            <a:avLst/>
            <a:gdLst/>
            <a:ahLst/>
            <a:cxnLst/>
            <a:rect r="r" b="b" t="t" l="l"/>
            <a:pathLst>
              <a:path h="8266743" w="6252711">
                <a:moveTo>
                  <a:pt x="0" y="0"/>
                </a:moveTo>
                <a:lnTo>
                  <a:pt x="6252711" y="0"/>
                </a:lnTo>
                <a:lnTo>
                  <a:pt x="6252711" y="8266743"/>
                </a:lnTo>
                <a:lnTo>
                  <a:pt x="0" y="82667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Sabre algorithm</a:t>
            </a:r>
          </a:p>
        </p:txBody>
      </p:sp>
      <p:graphicFrame>
        <p:nvGraphicFramePr>
          <p:cNvPr name="Object 3" id="3"/>
          <p:cNvGraphicFramePr/>
          <p:nvPr/>
        </p:nvGraphicFramePr>
        <p:xfrm>
          <a:off x="308208" y="1143381"/>
          <a:ext cx="17671583" cy="4000119"/>
        </p:xfrm>
        <a:graphic>
          <a:graphicData uri="http://schemas.openxmlformats.org/presentationml/2006/ole">
            <p:oleObj imgW="21196300" imgH="75311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6276071" y="5257800"/>
            <a:ext cx="5735858" cy="5159799"/>
          </a:xfrm>
          <a:custGeom>
            <a:avLst/>
            <a:gdLst/>
            <a:ahLst/>
            <a:cxnLst/>
            <a:rect r="r" b="b" t="t" l="l"/>
            <a:pathLst>
              <a:path h="5159799" w="5735858">
                <a:moveTo>
                  <a:pt x="0" y="0"/>
                </a:moveTo>
                <a:lnTo>
                  <a:pt x="5735858" y="0"/>
                </a:lnTo>
                <a:lnTo>
                  <a:pt x="5735858" y="5159799"/>
                </a:lnTo>
                <a:lnTo>
                  <a:pt x="0" y="51597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455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05983" y="5023418"/>
            <a:ext cx="5877667" cy="5263582"/>
          </a:xfrm>
          <a:custGeom>
            <a:avLst/>
            <a:gdLst/>
            <a:ahLst/>
            <a:cxnLst/>
            <a:rect r="r" b="b" t="t" l="l"/>
            <a:pathLst>
              <a:path h="5263582" w="5877667">
                <a:moveTo>
                  <a:pt x="0" y="0"/>
                </a:moveTo>
                <a:lnTo>
                  <a:pt x="5877667" y="0"/>
                </a:lnTo>
                <a:lnTo>
                  <a:pt x="5877667" y="5263582"/>
                </a:lnTo>
                <a:lnTo>
                  <a:pt x="0" y="52635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011929" y="1143381"/>
            <a:ext cx="6252711" cy="8266743"/>
          </a:xfrm>
          <a:custGeom>
            <a:avLst/>
            <a:gdLst/>
            <a:ahLst/>
            <a:cxnLst/>
            <a:rect r="r" b="b" t="t" l="l"/>
            <a:pathLst>
              <a:path h="8266743" w="6252711">
                <a:moveTo>
                  <a:pt x="0" y="0"/>
                </a:moveTo>
                <a:lnTo>
                  <a:pt x="6252711" y="0"/>
                </a:lnTo>
                <a:lnTo>
                  <a:pt x="6252711" y="8266743"/>
                </a:lnTo>
                <a:lnTo>
                  <a:pt x="0" y="82667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Sabre algorithm</a:t>
            </a:r>
          </a:p>
        </p:txBody>
      </p:sp>
      <p:graphicFrame>
        <p:nvGraphicFramePr>
          <p:cNvPr name="Object 3" id="3"/>
          <p:cNvGraphicFramePr/>
          <p:nvPr/>
        </p:nvGraphicFramePr>
        <p:xfrm>
          <a:off x="308208" y="1143381"/>
          <a:ext cx="17671583" cy="4000119"/>
        </p:xfrm>
        <a:graphic>
          <a:graphicData uri="http://schemas.openxmlformats.org/presentationml/2006/ole">
            <p:oleObj imgW="21196300" imgH="75311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6276071" y="5257800"/>
            <a:ext cx="5735858" cy="5159799"/>
          </a:xfrm>
          <a:custGeom>
            <a:avLst/>
            <a:gdLst/>
            <a:ahLst/>
            <a:cxnLst/>
            <a:rect r="r" b="b" t="t" l="l"/>
            <a:pathLst>
              <a:path h="5159799" w="5735858">
                <a:moveTo>
                  <a:pt x="0" y="0"/>
                </a:moveTo>
                <a:lnTo>
                  <a:pt x="5735858" y="0"/>
                </a:lnTo>
                <a:lnTo>
                  <a:pt x="5735858" y="5159799"/>
                </a:lnTo>
                <a:lnTo>
                  <a:pt x="0" y="51597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455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05983" y="5023418"/>
            <a:ext cx="5877667" cy="5263582"/>
          </a:xfrm>
          <a:custGeom>
            <a:avLst/>
            <a:gdLst/>
            <a:ahLst/>
            <a:cxnLst/>
            <a:rect r="r" b="b" t="t" l="l"/>
            <a:pathLst>
              <a:path h="5263582" w="5877667">
                <a:moveTo>
                  <a:pt x="0" y="0"/>
                </a:moveTo>
                <a:lnTo>
                  <a:pt x="5877667" y="0"/>
                </a:lnTo>
                <a:lnTo>
                  <a:pt x="5877667" y="5263582"/>
                </a:lnTo>
                <a:lnTo>
                  <a:pt x="0" y="52635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171067" y="6183448"/>
            <a:ext cx="748062" cy="771197"/>
          </a:xfrm>
          <a:custGeom>
            <a:avLst/>
            <a:gdLst/>
            <a:ahLst/>
            <a:cxnLst/>
            <a:rect r="r" b="b" t="t" l="l"/>
            <a:pathLst>
              <a:path h="771197" w="748062">
                <a:moveTo>
                  <a:pt x="0" y="0"/>
                </a:moveTo>
                <a:lnTo>
                  <a:pt x="748062" y="0"/>
                </a:lnTo>
                <a:lnTo>
                  <a:pt x="748062" y="771198"/>
                </a:lnTo>
                <a:lnTo>
                  <a:pt x="0" y="7711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789442" y="7864596"/>
            <a:ext cx="748062" cy="771197"/>
          </a:xfrm>
          <a:custGeom>
            <a:avLst/>
            <a:gdLst/>
            <a:ahLst/>
            <a:cxnLst/>
            <a:rect r="r" b="b" t="t" l="l"/>
            <a:pathLst>
              <a:path h="771197" w="748062">
                <a:moveTo>
                  <a:pt x="0" y="0"/>
                </a:moveTo>
                <a:lnTo>
                  <a:pt x="748061" y="0"/>
                </a:lnTo>
                <a:lnTo>
                  <a:pt x="748061" y="771197"/>
                </a:lnTo>
                <a:lnTo>
                  <a:pt x="0" y="7711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011929" y="1143381"/>
            <a:ext cx="6252711" cy="8266743"/>
          </a:xfrm>
          <a:custGeom>
            <a:avLst/>
            <a:gdLst/>
            <a:ahLst/>
            <a:cxnLst/>
            <a:rect r="r" b="b" t="t" l="l"/>
            <a:pathLst>
              <a:path h="8266743" w="6252711">
                <a:moveTo>
                  <a:pt x="0" y="0"/>
                </a:moveTo>
                <a:lnTo>
                  <a:pt x="6252711" y="0"/>
                </a:lnTo>
                <a:lnTo>
                  <a:pt x="6252711" y="8266743"/>
                </a:lnTo>
                <a:lnTo>
                  <a:pt x="0" y="8266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Sabre algorithm</a:t>
            </a:r>
          </a:p>
        </p:txBody>
      </p:sp>
      <p:graphicFrame>
        <p:nvGraphicFramePr>
          <p:cNvPr name="Object 3" id="3"/>
          <p:cNvGraphicFramePr/>
          <p:nvPr/>
        </p:nvGraphicFramePr>
        <p:xfrm>
          <a:off x="308208" y="1143381"/>
          <a:ext cx="17671583" cy="4000119"/>
        </p:xfrm>
        <a:graphic>
          <a:graphicData uri="http://schemas.openxmlformats.org/presentationml/2006/ole">
            <p:oleObj imgW="21196300" imgH="75311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6276071" y="5257800"/>
            <a:ext cx="5735858" cy="5159799"/>
          </a:xfrm>
          <a:custGeom>
            <a:avLst/>
            <a:gdLst/>
            <a:ahLst/>
            <a:cxnLst/>
            <a:rect r="r" b="b" t="t" l="l"/>
            <a:pathLst>
              <a:path h="5159799" w="5735858">
                <a:moveTo>
                  <a:pt x="0" y="0"/>
                </a:moveTo>
                <a:lnTo>
                  <a:pt x="5735858" y="0"/>
                </a:lnTo>
                <a:lnTo>
                  <a:pt x="5735858" y="5159799"/>
                </a:lnTo>
                <a:lnTo>
                  <a:pt x="0" y="51597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455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05983" y="5023418"/>
            <a:ext cx="5877667" cy="5263582"/>
          </a:xfrm>
          <a:custGeom>
            <a:avLst/>
            <a:gdLst/>
            <a:ahLst/>
            <a:cxnLst/>
            <a:rect r="r" b="b" t="t" l="l"/>
            <a:pathLst>
              <a:path h="5263582" w="5877667">
                <a:moveTo>
                  <a:pt x="0" y="0"/>
                </a:moveTo>
                <a:lnTo>
                  <a:pt x="5877667" y="0"/>
                </a:lnTo>
                <a:lnTo>
                  <a:pt x="5877667" y="5263582"/>
                </a:lnTo>
                <a:lnTo>
                  <a:pt x="0" y="52635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011929" y="1143381"/>
            <a:ext cx="6252711" cy="8266743"/>
          </a:xfrm>
          <a:custGeom>
            <a:avLst/>
            <a:gdLst/>
            <a:ahLst/>
            <a:cxnLst/>
            <a:rect r="r" b="b" t="t" l="l"/>
            <a:pathLst>
              <a:path h="8266743" w="6252711">
                <a:moveTo>
                  <a:pt x="0" y="0"/>
                </a:moveTo>
                <a:lnTo>
                  <a:pt x="6252711" y="0"/>
                </a:lnTo>
                <a:lnTo>
                  <a:pt x="6252711" y="8266743"/>
                </a:lnTo>
                <a:lnTo>
                  <a:pt x="0" y="82667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Sabre algorithm</a:t>
            </a:r>
          </a:p>
        </p:txBody>
      </p:sp>
      <p:graphicFrame>
        <p:nvGraphicFramePr>
          <p:cNvPr name="Object 3" id="3"/>
          <p:cNvGraphicFramePr/>
          <p:nvPr/>
        </p:nvGraphicFramePr>
        <p:xfrm>
          <a:off x="308208" y="1143381"/>
          <a:ext cx="17671583" cy="4000119"/>
        </p:xfrm>
        <a:graphic>
          <a:graphicData uri="http://schemas.openxmlformats.org/presentationml/2006/ole">
            <p:oleObj imgW="21196300" imgH="75311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6276071" y="5257800"/>
            <a:ext cx="5735858" cy="5159799"/>
          </a:xfrm>
          <a:custGeom>
            <a:avLst/>
            <a:gdLst/>
            <a:ahLst/>
            <a:cxnLst/>
            <a:rect r="r" b="b" t="t" l="l"/>
            <a:pathLst>
              <a:path h="5159799" w="5735858">
                <a:moveTo>
                  <a:pt x="0" y="0"/>
                </a:moveTo>
                <a:lnTo>
                  <a:pt x="5735858" y="0"/>
                </a:lnTo>
                <a:lnTo>
                  <a:pt x="5735858" y="5159799"/>
                </a:lnTo>
                <a:lnTo>
                  <a:pt x="0" y="51597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455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05983" y="5023418"/>
            <a:ext cx="5877667" cy="5263582"/>
          </a:xfrm>
          <a:custGeom>
            <a:avLst/>
            <a:gdLst/>
            <a:ahLst/>
            <a:cxnLst/>
            <a:rect r="r" b="b" t="t" l="l"/>
            <a:pathLst>
              <a:path h="5263582" w="5877667">
                <a:moveTo>
                  <a:pt x="0" y="0"/>
                </a:moveTo>
                <a:lnTo>
                  <a:pt x="5877667" y="0"/>
                </a:lnTo>
                <a:lnTo>
                  <a:pt x="5877667" y="5263582"/>
                </a:lnTo>
                <a:lnTo>
                  <a:pt x="0" y="52635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011929" y="1143381"/>
            <a:ext cx="6252711" cy="8266743"/>
          </a:xfrm>
          <a:custGeom>
            <a:avLst/>
            <a:gdLst/>
            <a:ahLst/>
            <a:cxnLst/>
            <a:rect r="r" b="b" t="t" l="l"/>
            <a:pathLst>
              <a:path h="8266743" w="6252711">
                <a:moveTo>
                  <a:pt x="0" y="0"/>
                </a:moveTo>
                <a:lnTo>
                  <a:pt x="6252711" y="0"/>
                </a:lnTo>
                <a:lnTo>
                  <a:pt x="6252711" y="8266743"/>
                </a:lnTo>
                <a:lnTo>
                  <a:pt x="0" y="82667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Sabre algorithm</a:t>
            </a:r>
          </a:p>
        </p:txBody>
      </p:sp>
      <p:graphicFrame>
        <p:nvGraphicFramePr>
          <p:cNvPr name="Object 3" id="3"/>
          <p:cNvGraphicFramePr/>
          <p:nvPr/>
        </p:nvGraphicFramePr>
        <p:xfrm>
          <a:off x="308208" y="1143381"/>
          <a:ext cx="17671583" cy="4000119"/>
        </p:xfrm>
        <a:graphic>
          <a:graphicData uri="http://schemas.openxmlformats.org/presentationml/2006/ole">
            <p:oleObj imgW="21196300" imgH="75311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6276071" y="5257800"/>
            <a:ext cx="5735858" cy="5159799"/>
          </a:xfrm>
          <a:custGeom>
            <a:avLst/>
            <a:gdLst/>
            <a:ahLst/>
            <a:cxnLst/>
            <a:rect r="r" b="b" t="t" l="l"/>
            <a:pathLst>
              <a:path h="5159799" w="5735858">
                <a:moveTo>
                  <a:pt x="0" y="0"/>
                </a:moveTo>
                <a:lnTo>
                  <a:pt x="5735858" y="0"/>
                </a:lnTo>
                <a:lnTo>
                  <a:pt x="5735858" y="5159799"/>
                </a:lnTo>
                <a:lnTo>
                  <a:pt x="0" y="51597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455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05983" y="5023418"/>
            <a:ext cx="5877667" cy="5263582"/>
          </a:xfrm>
          <a:custGeom>
            <a:avLst/>
            <a:gdLst/>
            <a:ahLst/>
            <a:cxnLst/>
            <a:rect r="r" b="b" t="t" l="l"/>
            <a:pathLst>
              <a:path h="5263582" w="5877667">
                <a:moveTo>
                  <a:pt x="0" y="0"/>
                </a:moveTo>
                <a:lnTo>
                  <a:pt x="5877667" y="0"/>
                </a:lnTo>
                <a:lnTo>
                  <a:pt x="5877667" y="5263582"/>
                </a:lnTo>
                <a:lnTo>
                  <a:pt x="0" y="52635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789442" y="7864596"/>
            <a:ext cx="748062" cy="771197"/>
          </a:xfrm>
          <a:custGeom>
            <a:avLst/>
            <a:gdLst/>
            <a:ahLst/>
            <a:cxnLst/>
            <a:rect r="r" b="b" t="t" l="l"/>
            <a:pathLst>
              <a:path h="771197" w="748062">
                <a:moveTo>
                  <a:pt x="0" y="0"/>
                </a:moveTo>
                <a:lnTo>
                  <a:pt x="748061" y="0"/>
                </a:lnTo>
                <a:lnTo>
                  <a:pt x="748061" y="771197"/>
                </a:lnTo>
                <a:lnTo>
                  <a:pt x="0" y="7711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163358" y="7856886"/>
            <a:ext cx="748062" cy="771197"/>
          </a:xfrm>
          <a:custGeom>
            <a:avLst/>
            <a:gdLst/>
            <a:ahLst/>
            <a:cxnLst/>
            <a:rect r="r" b="b" t="t" l="l"/>
            <a:pathLst>
              <a:path h="771197" w="748062">
                <a:moveTo>
                  <a:pt x="0" y="0"/>
                </a:moveTo>
                <a:lnTo>
                  <a:pt x="748061" y="0"/>
                </a:lnTo>
                <a:lnTo>
                  <a:pt x="748061" y="771198"/>
                </a:lnTo>
                <a:lnTo>
                  <a:pt x="0" y="7711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011929" y="1143381"/>
            <a:ext cx="6252711" cy="8266743"/>
          </a:xfrm>
          <a:custGeom>
            <a:avLst/>
            <a:gdLst/>
            <a:ahLst/>
            <a:cxnLst/>
            <a:rect r="r" b="b" t="t" l="l"/>
            <a:pathLst>
              <a:path h="8266743" w="6252711">
                <a:moveTo>
                  <a:pt x="0" y="0"/>
                </a:moveTo>
                <a:lnTo>
                  <a:pt x="6252711" y="0"/>
                </a:lnTo>
                <a:lnTo>
                  <a:pt x="6252711" y="8266743"/>
                </a:lnTo>
                <a:lnTo>
                  <a:pt x="0" y="8266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Sabre algorithm</a:t>
            </a:r>
          </a:p>
        </p:txBody>
      </p:sp>
      <p:graphicFrame>
        <p:nvGraphicFramePr>
          <p:cNvPr name="Object 3" id="3"/>
          <p:cNvGraphicFramePr/>
          <p:nvPr/>
        </p:nvGraphicFramePr>
        <p:xfrm>
          <a:off x="308208" y="1143381"/>
          <a:ext cx="17671583" cy="4000119"/>
        </p:xfrm>
        <a:graphic>
          <a:graphicData uri="http://schemas.openxmlformats.org/presentationml/2006/ole">
            <p:oleObj imgW="21196300" imgH="75311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6276071" y="5257800"/>
            <a:ext cx="5735858" cy="5159799"/>
          </a:xfrm>
          <a:custGeom>
            <a:avLst/>
            <a:gdLst/>
            <a:ahLst/>
            <a:cxnLst/>
            <a:rect r="r" b="b" t="t" l="l"/>
            <a:pathLst>
              <a:path h="5159799" w="5735858">
                <a:moveTo>
                  <a:pt x="0" y="0"/>
                </a:moveTo>
                <a:lnTo>
                  <a:pt x="5735858" y="0"/>
                </a:lnTo>
                <a:lnTo>
                  <a:pt x="5735858" y="5159799"/>
                </a:lnTo>
                <a:lnTo>
                  <a:pt x="0" y="51597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455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05983" y="5023418"/>
            <a:ext cx="5877667" cy="5263582"/>
          </a:xfrm>
          <a:custGeom>
            <a:avLst/>
            <a:gdLst/>
            <a:ahLst/>
            <a:cxnLst/>
            <a:rect r="r" b="b" t="t" l="l"/>
            <a:pathLst>
              <a:path h="5263582" w="5877667">
                <a:moveTo>
                  <a:pt x="0" y="0"/>
                </a:moveTo>
                <a:lnTo>
                  <a:pt x="5877667" y="0"/>
                </a:lnTo>
                <a:lnTo>
                  <a:pt x="5877667" y="5263582"/>
                </a:lnTo>
                <a:lnTo>
                  <a:pt x="0" y="52635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011929" y="1143381"/>
            <a:ext cx="6252711" cy="8266743"/>
          </a:xfrm>
          <a:custGeom>
            <a:avLst/>
            <a:gdLst/>
            <a:ahLst/>
            <a:cxnLst/>
            <a:rect r="r" b="b" t="t" l="l"/>
            <a:pathLst>
              <a:path h="8266743" w="6252711">
                <a:moveTo>
                  <a:pt x="0" y="0"/>
                </a:moveTo>
                <a:lnTo>
                  <a:pt x="6252711" y="0"/>
                </a:lnTo>
                <a:lnTo>
                  <a:pt x="6252711" y="8266743"/>
                </a:lnTo>
                <a:lnTo>
                  <a:pt x="0" y="82667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Sabre algorithm</a:t>
            </a:r>
          </a:p>
        </p:txBody>
      </p:sp>
      <p:graphicFrame>
        <p:nvGraphicFramePr>
          <p:cNvPr name="Object 3" id="3"/>
          <p:cNvGraphicFramePr/>
          <p:nvPr/>
        </p:nvGraphicFramePr>
        <p:xfrm>
          <a:off x="308208" y="1143381"/>
          <a:ext cx="17671583" cy="4000119"/>
        </p:xfrm>
        <a:graphic>
          <a:graphicData uri="http://schemas.openxmlformats.org/presentationml/2006/ole">
            <p:oleObj imgW="21196300" imgH="75311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6276071" y="5257800"/>
            <a:ext cx="5735858" cy="5159799"/>
          </a:xfrm>
          <a:custGeom>
            <a:avLst/>
            <a:gdLst/>
            <a:ahLst/>
            <a:cxnLst/>
            <a:rect r="r" b="b" t="t" l="l"/>
            <a:pathLst>
              <a:path h="5159799" w="5735858">
                <a:moveTo>
                  <a:pt x="0" y="0"/>
                </a:moveTo>
                <a:lnTo>
                  <a:pt x="5735858" y="0"/>
                </a:lnTo>
                <a:lnTo>
                  <a:pt x="5735858" y="5159799"/>
                </a:lnTo>
                <a:lnTo>
                  <a:pt x="0" y="51597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455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08208" y="5137718"/>
            <a:ext cx="6106307" cy="5048633"/>
          </a:xfrm>
          <a:custGeom>
            <a:avLst/>
            <a:gdLst/>
            <a:ahLst/>
            <a:cxnLst/>
            <a:rect r="r" b="b" t="t" l="l"/>
            <a:pathLst>
              <a:path h="5048633" w="6106307">
                <a:moveTo>
                  <a:pt x="0" y="0"/>
                </a:moveTo>
                <a:lnTo>
                  <a:pt x="6106307" y="0"/>
                </a:lnTo>
                <a:lnTo>
                  <a:pt x="6106307" y="5048633"/>
                </a:lnTo>
                <a:lnTo>
                  <a:pt x="0" y="50486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789442" y="7864596"/>
            <a:ext cx="748062" cy="771197"/>
          </a:xfrm>
          <a:custGeom>
            <a:avLst/>
            <a:gdLst/>
            <a:ahLst/>
            <a:cxnLst/>
            <a:rect r="r" b="b" t="t" l="l"/>
            <a:pathLst>
              <a:path h="771197" w="748062">
                <a:moveTo>
                  <a:pt x="0" y="0"/>
                </a:moveTo>
                <a:lnTo>
                  <a:pt x="748061" y="0"/>
                </a:lnTo>
                <a:lnTo>
                  <a:pt x="748061" y="771197"/>
                </a:lnTo>
                <a:lnTo>
                  <a:pt x="0" y="7711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801746" y="6175739"/>
            <a:ext cx="748062" cy="771197"/>
          </a:xfrm>
          <a:custGeom>
            <a:avLst/>
            <a:gdLst/>
            <a:ahLst/>
            <a:cxnLst/>
            <a:rect r="r" b="b" t="t" l="l"/>
            <a:pathLst>
              <a:path h="771197" w="748062">
                <a:moveTo>
                  <a:pt x="0" y="0"/>
                </a:moveTo>
                <a:lnTo>
                  <a:pt x="748062" y="0"/>
                </a:lnTo>
                <a:lnTo>
                  <a:pt x="748062" y="771198"/>
                </a:lnTo>
                <a:lnTo>
                  <a:pt x="0" y="7711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011929" y="1143381"/>
            <a:ext cx="6252711" cy="8266743"/>
          </a:xfrm>
          <a:custGeom>
            <a:avLst/>
            <a:gdLst/>
            <a:ahLst/>
            <a:cxnLst/>
            <a:rect r="r" b="b" t="t" l="l"/>
            <a:pathLst>
              <a:path h="8266743" w="6252711">
                <a:moveTo>
                  <a:pt x="0" y="0"/>
                </a:moveTo>
                <a:lnTo>
                  <a:pt x="6252711" y="0"/>
                </a:lnTo>
                <a:lnTo>
                  <a:pt x="6252711" y="8266743"/>
                </a:lnTo>
                <a:lnTo>
                  <a:pt x="0" y="8266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Sabre algorithm</a:t>
            </a:r>
          </a:p>
        </p:txBody>
      </p:sp>
      <p:graphicFrame>
        <p:nvGraphicFramePr>
          <p:cNvPr name="Object 3" id="3"/>
          <p:cNvGraphicFramePr/>
          <p:nvPr/>
        </p:nvGraphicFramePr>
        <p:xfrm>
          <a:off x="308208" y="1143381"/>
          <a:ext cx="17671583" cy="4000119"/>
        </p:xfrm>
        <a:graphic>
          <a:graphicData uri="http://schemas.openxmlformats.org/presentationml/2006/ole">
            <p:oleObj imgW="21196300" imgH="75311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6276071" y="5257800"/>
            <a:ext cx="5735858" cy="5159799"/>
          </a:xfrm>
          <a:custGeom>
            <a:avLst/>
            <a:gdLst/>
            <a:ahLst/>
            <a:cxnLst/>
            <a:rect r="r" b="b" t="t" l="l"/>
            <a:pathLst>
              <a:path h="5159799" w="5735858">
                <a:moveTo>
                  <a:pt x="0" y="0"/>
                </a:moveTo>
                <a:lnTo>
                  <a:pt x="5735858" y="0"/>
                </a:lnTo>
                <a:lnTo>
                  <a:pt x="5735858" y="5159799"/>
                </a:lnTo>
                <a:lnTo>
                  <a:pt x="0" y="51597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455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08208" y="5137718"/>
            <a:ext cx="6106307" cy="5048633"/>
          </a:xfrm>
          <a:custGeom>
            <a:avLst/>
            <a:gdLst/>
            <a:ahLst/>
            <a:cxnLst/>
            <a:rect r="r" b="b" t="t" l="l"/>
            <a:pathLst>
              <a:path h="5048633" w="6106307">
                <a:moveTo>
                  <a:pt x="0" y="0"/>
                </a:moveTo>
                <a:lnTo>
                  <a:pt x="6106307" y="0"/>
                </a:lnTo>
                <a:lnTo>
                  <a:pt x="6106307" y="5048633"/>
                </a:lnTo>
                <a:lnTo>
                  <a:pt x="0" y="50486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011929" y="1143381"/>
            <a:ext cx="6252711" cy="8266743"/>
          </a:xfrm>
          <a:custGeom>
            <a:avLst/>
            <a:gdLst/>
            <a:ahLst/>
            <a:cxnLst/>
            <a:rect r="r" b="b" t="t" l="l"/>
            <a:pathLst>
              <a:path h="8266743" w="6252711">
                <a:moveTo>
                  <a:pt x="0" y="0"/>
                </a:moveTo>
                <a:lnTo>
                  <a:pt x="6252711" y="0"/>
                </a:lnTo>
                <a:lnTo>
                  <a:pt x="6252711" y="8266743"/>
                </a:lnTo>
                <a:lnTo>
                  <a:pt x="0" y="82667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Sabre algorithm</a:t>
            </a:r>
          </a:p>
        </p:txBody>
      </p:sp>
      <p:graphicFrame>
        <p:nvGraphicFramePr>
          <p:cNvPr name="Object 3" id="3"/>
          <p:cNvGraphicFramePr/>
          <p:nvPr/>
        </p:nvGraphicFramePr>
        <p:xfrm>
          <a:off x="308208" y="1143381"/>
          <a:ext cx="17671583" cy="4000119"/>
        </p:xfrm>
        <a:graphic>
          <a:graphicData uri="http://schemas.openxmlformats.org/presentationml/2006/ole">
            <p:oleObj imgW="21196300" imgH="75311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6276071" y="5257800"/>
            <a:ext cx="5735858" cy="5159799"/>
          </a:xfrm>
          <a:custGeom>
            <a:avLst/>
            <a:gdLst/>
            <a:ahLst/>
            <a:cxnLst/>
            <a:rect r="r" b="b" t="t" l="l"/>
            <a:pathLst>
              <a:path h="5159799" w="5735858">
                <a:moveTo>
                  <a:pt x="0" y="0"/>
                </a:moveTo>
                <a:lnTo>
                  <a:pt x="5735858" y="0"/>
                </a:lnTo>
                <a:lnTo>
                  <a:pt x="5735858" y="5159799"/>
                </a:lnTo>
                <a:lnTo>
                  <a:pt x="0" y="51597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455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08208" y="5137718"/>
            <a:ext cx="6106307" cy="5048633"/>
          </a:xfrm>
          <a:custGeom>
            <a:avLst/>
            <a:gdLst/>
            <a:ahLst/>
            <a:cxnLst/>
            <a:rect r="r" b="b" t="t" l="l"/>
            <a:pathLst>
              <a:path h="5048633" w="6106307">
                <a:moveTo>
                  <a:pt x="0" y="0"/>
                </a:moveTo>
                <a:lnTo>
                  <a:pt x="6106307" y="0"/>
                </a:lnTo>
                <a:lnTo>
                  <a:pt x="6106307" y="5048633"/>
                </a:lnTo>
                <a:lnTo>
                  <a:pt x="0" y="50486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011929" y="1143381"/>
            <a:ext cx="6252711" cy="8266743"/>
          </a:xfrm>
          <a:custGeom>
            <a:avLst/>
            <a:gdLst/>
            <a:ahLst/>
            <a:cxnLst/>
            <a:rect r="r" b="b" t="t" l="l"/>
            <a:pathLst>
              <a:path h="8266743" w="6252711">
                <a:moveTo>
                  <a:pt x="0" y="0"/>
                </a:moveTo>
                <a:lnTo>
                  <a:pt x="6252711" y="0"/>
                </a:lnTo>
                <a:lnTo>
                  <a:pt x="6252711" y="8266743"/>
                </a:lnTo>
                <a:lnTo>
                  <a:pt x="0" y="82667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222" y="1226583"/>
            <a:ext cx="17977386" cy="8548973"/>
          </a:xfrm>
          <a:custGeom>
            <a:avLst/>
            <a:gdLst/>
            <a:ahLst/>
            <a:cxnLst/>
            <a:rect r="r" b="b" t="t" l="l"/>
            <a:pathLst>
              <a:path h="8548973" w="17977386">
                <a:moveTo>
                  <a:pt x="0" y="0"/>
                </a:moveTo>
                <a:lnTo>
                  <a:pt x="17977386" y="0"/>
                </a:lnTo>
                <a:lnTo>
                  <a:pt x="17977386" y="8548973"/>
                </a:lnTo>
                <a:lnTo>
                  <a:pt x="0" y="85489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Sabre algorithm</a:t>
            </a:r>
          </a:p>
        </p:txBody>
      </p:sp>
    </p:spTree>
  </p:cSld>
  <p:clrMapOvr>
    <a:masterClrMapping/>
  </p:clrMapOvr>
</p:sld>
</file>

<file path=ppt/slides/slide10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0988" y="768173"/>
            <a:ext cx="12882475" cy="345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37"/>
              </a:lnSpc>
            </a:pPr>
            <a:r>
              <a:rPr lang="en-US" sz="12879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3.3</a:t>
            </a:r>
          </a:p>
          <a:p>
            <a:pPr algn="l">
              <a:lnSpc>
                <a:spcPts val="13137"/>
              </a:lnSpc>
            </a:pPr>
            <a:r>
              <a:rPr lang="en-US" sz="12879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routing stage</a:t>
            </a:r>
          </a:p>
        </p:txBody>
      </p:sp>
    </p:spTree>
  </p:cSld>
  <p:clrMapOvr>
    <a:masterClrMapping/>
  </p:clrMapOvr>
</p:sld>
</file>

<file path=ppt/slides/slide10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4539" y="4874956"/>
            <a:ext cx="17701029" cy="5033730"/>
          </a:xfrm>
          <a:custGeom>
            <a:avLst/>
            <a:gdLst/>
            <a:ahLst/>
            <a:cxnLst/>
            <a:rect r="r" b="b" t="t" l="l"/>
            <a:pathLst>
              <a:path h="5033730" w="17701029">
                <a:moveTo>
                  <a:pt x="0" y="0"/>
                </a:moveTo>
                <a:lnTo>
                  <a:pt x="17701029" y="0"/>
                </a:lnTo>
                <a:lnTo>
                  <a:pt x="17701029" y="5033730"/>
                </a:lnTo>
                <a:lnTo>
                  <a:pt x="0" y="50337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Routing stage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9255" y="1383844"/>
            <a:ext cx="16987223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This stage takes the circuit with a layout set and inserts SWAP gates where necessary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9255" y="2189617"/>
            <a:ext cx="16987223" cy="11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If running with default however this pass is skipped for efficiency, and it’s run as part of 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SabreLayout in the Layout stage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9255" y="3572696"/>
            <a:ext cx="16987223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We re-run layout with VF2PostLayout after SWAP insertion to search for a better layout</a:t>
            </a:r>
          </a:p>
        </p:txBody>
      </p:sp>
    </p:spTree>
  </p:cSld>
  <p:clrMapOvr>
    <a:masterClrMapping/>
  </p:clrMapOvr>
</p:sld>
</file>

<file path=ppt/slides/slide10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VF2PostLayout Pass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09255" y="1383844"/>
            <a:ext cx="16987223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Just like VF2Layout: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9255" y="2189617"/>
            <a:ext cx="11783672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Build a graph from </a:t>
            </a:r>
            <a:r>
              <a:rPr lang="en-US" b="true" sz="33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2-qubit interactions</a:t>
            </a: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in the circuit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9255" y="4374726"/>
            <a:ext cx="11886944" cy="11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Different with VF2Layout: the pass is run post-routing, this 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guarantees at least one isomorphic subgraph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786486" y="463476"/>
            <a:ext cx="46800" cy="9360048"/>
          </a:xfrm>
          <a:custGeom>
            <a:avLst/>
            <a:gdLst/>
            <a:ahLst/>
            <a:cxnLst/>
            <a:rect r="r" b="b" t="t" l="l"/>
            <a:pathLst>
              <a:path h="9360048" w="46800">
                <a:moveTo>
                  <a:pt x="0" y="0"/>
                </a:moveTo>
                <a:lnTo>
                  <a:pt x="46800" y="0"/>
                </a:lnTo>
                <a:lnTo>
                  <a:pt x="46800" y="9360048"/>
                </a:lnTo>
                <a:lnTo>
                  <a:pt x="0" y="93600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034720" y="27113"/>
            <a:ext cx="5253280" cy="10232774"/>
          </a:xfrm>
          <a:custGeom>
            <a:avLst/>
            <a:gdLst/>
            <a:ahLst/>
            <a:cxnLst/>
            <a:rect r="r" b="b" t="t" l="l"/>
            <a:pathLst>
              <a:path h="10232774" w="5253280">
                <a:moveTo>
                  <a:pt x="0" y="0"/>
                </a:moveTo>
                <a:lnTo>
                  <a:pt x="5253280" y="0"/>
                </a:lnTo>
                <a:lnTo>
                  <a:pt x="5253280" y="10232774"/>
                </a:lnTo>
                <a:lnTo>
                  <a:pt x="0" y="102327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09255" y="2991646"/>
            <a:ext cx="11783672" cy="11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Searches for isomorphic </a:t>
            </a:r>
            <a:r>
              <a:rPr lang="en-US" b="true" sz="33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subgraphs</a:t>
            </a: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in the target’s connectivity graph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9255" y="5757806"/>
            <a:ext cx="11886944" cy="11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Again, the pass searches for additional layouts and picks the 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layout with the lowest error rate</a:t>
            </a:r>
          </a:p>
        </p:txBody>
      </p:sp>
    </p:spTree>
  </p:cSld>
  <p:clrMapOvr>
    <a:masterClrMapping/>
  </p:clrMapOvr>
</p:sld>
</file>

<file path=ppt/slides/slide10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0988" y="768173"/>
            <a:ext cx="12882475" cy="345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37"/>
              </a:lnSpc>
            </a:pPr>
            <a:r>
              <a:rPr lang="en-US" sz="12879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3.4</a:t>
            </a:r>
          </a:p>
          <a:p>
            <a:pPr algn="l">
              <a:lnSpc>
                <a:spcPts val="13137"/>
              </a:lnSpc>
            </a:pPr>
            <a:r>
              <a:rPr lang="en-US" sz="12879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translation stage</a:t>
            </a:r>
          </a:p>
        </p:txBody>
      </p:sp>
    </p:spTree>
  </p:cSld>
  <p:clrMapOvr>
    <a:masterClrMapping/>
  </p:clrMapOvr>
</p:sld>
</file>

<file path=ppt/slides/slide1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5347" y="5279714"/>
            <a:ext cx="17837306" cy="4704589"/>
          </a:xfrm>
          <a:custGeom>
            <a:avLst/>
            <a:gdLst/>
            <a:ahLst/>
            <a:cxnLst/>
            <a:rect r="r" b="b" t="t" l="l"/>
            <a:pathLst>
              <a:path h="4704589" w="17837306">
                <a:moveTo>
                  <a:pt x="0" y="0"/>
                </a:moveTo>
                <a:lnTo>
                  <a:pt x="17837306" y="0"/>
                </a:lnTo>
                <a:lnTo>
                  <a:pt x="17837306" y="4704589"/>
                </a:lnTo>
                <a:lnTo>
                  <a:pt x="0" y="47045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Translation stage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9255" y="1383844"/>
            <a:ext cx="16987223" cy="11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This stage is responsible for making sure that all the operations are supported on the 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target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9255" y="2743032"/>
            <a:ext cx="16987223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It takes the routed circuit, which already meets the target connectivity constraints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0388" y="3516486"/>
            <a:ext cx="16987223" cy="11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It run the same passes as the first phase of the init stage, but for all operations instead of 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just those with &gt;= 3-qubit</a:t>
            </a:r>
          </a:p>
        </p:txBody>
      </p:sp>
    </p:spTree>
  </p:cSld>
  <p:clrMapOvr>
    <a:masterClrMapping/>
  </p:clrMapOvr>
</p:sld>
</file>

<file path=ppt/slides/slide1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5983" y="174674"/>
            <a:ext cx="7184427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HighLevelSynthesis Pass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85855" y="1661999"/>
            <a:ext cx="8001091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Pluggable synthesis of high level objects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64287" y="174674"/>
            <a:ext cx="7184427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UnitarySynthesis Pass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9144000" y="463476"/>
            <a:ext cx="46800" cy="9360048"/>
          </a:xfrm>
          <a:custGeom>
            <a:avLst/>
            <a:gdLst/>
            <a:ahLst/>
            <a:cxnLst/>
            <a:rect r="r" b="b" t="t" l="l"/>
            <a:pathLst>
              <a:path h="9360048" w="46800">
                <a:moveTo>
                  <a:pt x="0" y="0"/>
                </a:moveTo>
                <a:lnTo>
                  <a:pt x="46800" y="0"/>
                </a:lnTo>
                <a:lnTo>
                  <a:pt x="46800" y="9360048"/>
                </a:lnTo>
                <a:lnTo>
                  <a:pt x="0" y="93600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85855" y="2587853"/>
            <a:ext cx="8534745" cy="11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Scans the DAG for gates outside the 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target that have an installed plugin available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85855" y="4094758"/>
            <a:ext cx="8534745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Plugins can be written for any object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9255" y="5020613"/>
            <a:ext cx="8534745" cy="11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Calls the plugin to synthesis the high level 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abstract object into an equivalent circuit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64287" y="1661999"/>
            <a:ext cx="8001091" cy="11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Specialized pass for synthesizing 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UnitaryGates in the circuit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64287" y="3168903"/>
            <a:ext cx="8001091" cy="2316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Has a plugin interface to enable </a:t>
            </a:r>
          </a:p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configurable synthesis, each plugin is </a:t>
            </a:r>
          </a:p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giving the unitary matrix and synthesizes 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it to an equivalent circuit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64287" y="5837907"/>
            <a:ext cx="8001091" cy="11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Qiskit has 3 built-in plugins for unitary 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systhesis</a:t>
            </a:r>
          </a:p>
        </p:txBody>
      </p:sp>
    </p:spTree>
  </p:cSld>
  <p:clrMapOvr>
    <a:masterClrMapping/>
  </p:clrMapOvr>
</p:sld>
</file>

<file path=ppt/slides/slide1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78739" y="5484734"/>
            <a:ext cx="13838859" cy="4687914"/>
          </a:xfrm>
          <a:custGeom>
            <a:avLst/>
            <a:gdLst/>
            <a:ahLst/>
            <a:cxnLst/>
            <a:rect r="r" b="b" t="t" l="l"/>
            <a:pathLst>
              <a:path h="4687914" w="13838859">
                <a:moveTo>
                  <a:pt x="0" y="0"/>
                </a:moveTo>
                <a:lnTo>
                  <a:pt x="13838859" y="0"/>
                </a:lnTo>
                <a:lnTo>
                  <a:pt x="13838859" y="4687914"/>
                </a:lnTo>
                <a:lnTo>
                  <a:pt x="0" y="4687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Basis Translator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78739" y="1274293"/>
            <a:ext cx="16230600" cy="11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The basis translator uses an equivalence library that builds a graph of equivalent 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circuits to a gate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78739" y="2676422"/>
            <a:ext cx="16230600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Dijkstra’s algorithm is used to find a path from a given gate to gates in the target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78739" y="3497502"/>
            <a:ext cx="16230600" cy="11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The gates in the circuits are recursively along the path to build an equivalent circuit 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that conforms to the target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78739" y="4899631"/>
            <a:ext cx="16230600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Each gate is then replaced in the DAG by that equivalent circuit</a:t>
            </a:r>
          </a:p>
        </p:txBody>
      </p:sp>
    </p:spTree>
  </p:cSld>
  <p:clrMapOvr>
    <a:masterClrMapping/>
  </p:clrMapOvr>
</p:sld>
</file>

<file path=ppt/slides/slide1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0260" y="2382256"/>
            <a:ext cx="17795945" cy="5605723"/>
          </a:xfrm>
          <a:custGeom>
            <a:avLst/>
            <a:gdLst/>
            <a:ahLst/>
            <a:cxnLst/>
            <a:rect r="r" b="b" t="t" l="l"/>
            <a:pathLst>
              <a:path h="5605723" w="17795945">
                <a:moveTo>
                  <a:pt x="0" y="0"/>
                </a:moveTo>
                <a:lnTo>
                  <a:pt x="17795944" y="0"/>
                </a:lnTo>
                <a:lnTo>
                  <a:pt x="17795944" y="5605722"/>
                </a:lnTo>
                <a:lnTo>
                  <a:pt x="0" y="56057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Basis Translator</a:t>
            </a:r>
          </a:p>
        </p:txBody>
      </p:sp>
    </p:spTree>
  </p:cSld>
  <p:clrMapOvr>
    <a:masterClrMapping/>
  </p:clrMapOvr>
</p:sld>
</file>

<file path=ppt/slides/slide1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0988" y="768173"/>
            <a:ext cx="12882475" cy="345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37"/>
              </a:lnSpc>
            </a:pPr>
            <a:r>
              <a:rPr lang="en-US" sz="12879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3.5</a:t>
            </a:r>
          </a:p>
          <a:p>
            <a:pPr algn="l">
              <a:lnSpc>
                <a:spcPts val="13137"/>
              </a:lnSpc>
            </a:pPr>
            <a:r>
              <a:rPr lang="en-US" sz="12879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optimization stage</a:t>
            </a:r>
          </a:p>
        </p:txBody>
      </p:sp>
    </p:spTree>
  </p:cSld>
  <p:clrMapOvr>
    <a:masterClrMapping/>
  </p:clrMapOvr>
</p:sld>
</file>

<file path=ppt/slides/slide1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2540" y="2892814"/>
            <a:ext cx="16357486" cy="7394186"/>
          </a:xfrm>
          <a:custGeom>
            <a:avLst/>
            <a:gdLst/>
            <a:ahLst/>
            <a:cxnLst/>
            <a:rect r="r" b="b" t="t" l="l"/>
            <a:pathLst>
              <a:path h="7394186" w="16357486">
                <a:moveTo>
                  <a:pt x="0" y="0"/>
                </a:moveTo>
                <a:lnTo>
                  <a:pt x="16357487" y="0"/>
                </a:lnTo>
                <a:lnTo>
                  <a:pt x="16357487" y="7394186"/>
                </a:lnTo>
                <a:lnTo>
                  <a:pt x="0" y="73941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Optimization stage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9255" y="1383844"/>
            <a:ext cx="16987223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This stage takes the mapped circuit and optimizes it to reduce unnecessary operations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9255" y="2122608"/>
            <a:ext cx="17453398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It runs in a loop until a fixed point in depth and size is found between subsequent iterations</a:t>
            </a:r>
          </a:p>
        </p:txBody>
      </p:sp>
    </p:spTree>
  </p:cSld>
  <p:clrMapOvr>
    <a:masterClrMapping/>
  </p:clrMapOvr>
</p:sld>
</file>

<file path=ppt/slides/slide1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2089" y="1721828"/>
            <a:ext cx="17803822" cy="6843344"/>
          </a:xfrm>
          <a:custGeom>
            <a:avLst/>
            <a:gdLst/>
            <a:ahLst/>
            <a:cxnLst/>
            <a:rect r="r" b="b" t="t" l="l"/>
            <a:pathLst>
              <a:path h="6843344" w="17803822">
                <a:moveTo>
                  <a:pt x="0" y="0"/>
                </a:moveTo>
                <a:lnTo>
                  <a:pt x="17803822" y="0"/>
                </a:lnTo>
                <a:lnTo>
                  <a:pt x="17803822" y="6843344"/>
                </a:lnTo>
                <a:lnTo>
                  <a:pt x="0" y="68433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Optimization stage</a:t>
            </a:r>
          </a:p>
        </p:txBody>
      </p:sp>
    </p:spTree>
  </p:cSld>
  <p:clrMapOvr>
    <a:masterClrMapping/>
  </p:clrMapOvr>
</p:sld>
</file>

<file path=ppt/slides/slide1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7338" y="3767883"/>
            <a:ext cx="17673325" cy="5898472"/>
          </a:xfrm>
          <a:custGeom>
            <a:avLst/>
            <a:gdLst/>
            <a:ahLst/>
            <a:cxnLst/>
            <a:rect r="r" b="b" t="t" l="l"/>
            <a:pathLst>
              <a:path h="5898472" w="17673325">
                <a:moveTo>
                  <a:pt x="0" y="0"/>
                </a:moveTo>
                <a:lnTo>
                  <a:pt x="17673324" y="0"/>
                </a:lnTo>
                <a:lnTo>
                  <a:pt x="17673324" y="5898472"/>
                </a:lnTo>
                <a:lnTo>
                  <a:pt x="0" y="58984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Optimization stage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266752"/>
            <a:ext cx="16230600" cy="67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1-qubit Unitary Peephole Optimization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49897" y="2184302"/>
            <a:ext cx="16046581" cy="11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Optimize1qGatesDecomposition finds sequences of single qubit gates and optimizes  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them</a:t>
            </a:r>
          </a:p>
        </p:txBody>
      </p:sp>
    </p:spTree>
  </p:cSld>
  <p:clrMapOvr>
    <a:masterClrMapping/>
  </p:clrMapOvr>
</p:sld>
</file>

<file path=ppt/slides/slide1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8452" y="3904415"/>
            <a:ext cx="16929391" cy="5819478"/>
          </a:xfrm>
          <a:custGeom>
            <a:avLst/>
            <a:gdLst/>
            <a:ahLst/>
            <a:cxnLst/>
            <a:rect r="r" b="b" t="t" l="l"/>
            <a:pathLst>
              <a:path h="5819478" w="16929391">
                <a:moveTo>
                  <a:pt x="0" y="0"/>
                </a:moveTo>
                <a:lnTo>
                  <a:pt x="16929390" y="0"/>
                </a:lnTo>
                <a:lnTo>
                  <a:pt x="16929390" y="5819478"/>
                </a:lnTo>
                <a:lnTo>
                  <a:pt x="0" y="58194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Optimization stage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266752"/>
            <a:ext cx="16230600" cy="67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1-qubit Unitary Peephole Optimization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49897" y="2184302"/>
            <a:ext cx="16046581" cy="11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Optimize1qGatesDecomposition finds sequences of single qubit gates and optimizes  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them</a:t>
            </a:r>
          </a:p>
        </p:txBody>
      </p:sp>
    </p:spTree>
  </p:cSld>
  <p:clrMapOvr>
    <a:masterClrMapping/>
  </p:clrMapOvr>
</p:sld>
</file>

<file path=ppt/slides/slide1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405306"/>
            <a:ext cx="13216183" cy="3128029"/>
          </a:xfrm>
          <a:custGeom>
            <a:avLst/>
            <a:gdLst/>
            <a:ahLst/>
            <a:cxnLst/>
            <a:rect r="r" b="b" t="t" l="l"/>
            <a:pathLst>
              <a:path h="3128029" w="13216183">
                <a:moveTo>
                  <a:pt x="0" y="0"/>
                </a:moveTo>
                <a:lnTo>
                  <a:pt x="13216183" y="0"/>
                </a:lnTo>
                <a:lnTo>
                  <a:pt x="13216183" y="3128029"/>
                </a:lnTo>
                <a:lnTo>
                  <a:pt x="0" y="31280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218" r="-49467" b="-16964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931569" y="1028700"/>
            <a:ext cx="5629852" cy="9139400"/>
          </a:xfrm>
          <a:custGeom>
            <a:avLst/>
            <a:gdLst/>
            <a:ahLst/>
            <a:cxnLst/>
            <a:rect r="r" b="b" t="t" l="l"/>
            <a:pathLst>
              <a:path h="9139400" w="5629852">
                <a:moveTo>
                  <a:pt x="0" y="0"/>
                </a:moveTo>
                <a:lnTo>
                  <a:pt x="5629852" y="0"/>
                </a:lnTo>
                <a:lnTo>
                  <a:pt x="5629852" y="9139400"/>
                </a:lnTo>
                <a:lnTo>
                  <a:pt x="0" y="91394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387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Optimization stage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266752"/>
            <a:ext cx="16230600" cy="67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2-qubit Block Collection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9897" y="2184302"/>
            <a:ext cx="10715257" cy="2316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Collect2qBlocks traverses the DAG efficiently</a:t>
            </a:r>
          </a:p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For each CNOT, it collect ancestors and predecessors </a:t>
            </a:r>
          </a:p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until a branch is found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These form a 2q block</a:t>
            </a:r>
          </a:p>
        </p:txBody>
      </p:sp>
    </p:spTree>
  </p:cSld>
  <p:clrMapOvr>
    <a:masterClrMapping/>
  </p:clrMapOvr>
</p:sld>
</file>

<file path=ppt/slides/slide1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5983" y="2830265"/>
            <a:ext cx="17326258" cy="5685179"/>
          </a:xfrm>
          <a:custGeom>
            <a:avLst/>
            <a:gdLst/>
            <a:ahLst/>
            <a:cxnLst/>
            <a:rect r="r" b="b" t="t" l="l"/>
            <a:pathLst>
              <a:path h="5685179" w="17326258">
                <a:moveTo>
                  <a:pt x="0" y="0"/>
                </a:moveTo>
                <a:lnTo>
                  <a:pt x="17326259" y="0"/>
                </a:lnTo>
                <a:lnTo>
                  <a:pt x="17326259" y="5685178"/>
                </a:lnTo>
                <a:lnTo>
                  <a:pt x="0" y="56851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Optimization stage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266752"/>
            <a:ext cx="16230600" cy="67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2-qubit Unitary Peephole Optimization</a:t>
            </a:r>
          </a:p>
        </p:txBody>
      </p:sp>
    </p:spTree>
  </p:cSld>
  <p:clrMapOvr>
    <a:masterClrMapping/>
  </p:clrMapOvr>
</p:sld>
</file>

<file path=ppt/slides/slide1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5208" y="3069443"/>
            <a:ext cx="8890815" cy="4879118"/>
          </a:xfrm>
          <a:custGeom>
            <a:avLst/>
            <a:gdLst/>
            <a:ahLst/>
            <a:cxnLst/>
            <a:rect r="r" b="b" t="t" l="l"/>
            <a:pathLst>
              <a:path h="4879118" w="8890815">
                <a:moveTo>
                  <a:pt x="0" y="0"/>
                </a:moveTo>
                <a:lnTo>
                  <a:pt x="8890814" y="0"/>
                </a:lnTo>
                <a:lnTo>
                  <a:pt x="8890814" y="4879119"/>
                </a:lnTo>
                <a:lnTo>
                  <a:pt x="0" y="48791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7104" r="-80989" b="-4097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Optimization stage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266752"/>
            <a:ext cx="16230600" cy="67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Commutative Cancellation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1763214" y="482939"/>
            <a:ext cx="3758895" cy="9321122"/>
          </a:xfrm>
          <a:custGeom>
            <a:avLst/>
            <a:gdLst/>
            <a:ahLst/>
            <a:cxnLst/>
            <a:rect r="r" b="b" t="t" l="l"/>
            <a:pathLst>
              <a:path h="9321122" w="3758895">
                <a:moveTo>
                  <a:pt x="0" y="0"/>
                </a:moveTo>
                <a:lnTo>
                  <a:pt x="3758895" y="0"/>
                </a:lnTo>
                <a:lnTo>
                  <a:pt x="3758895" y="9321122"/>
                </a:lnTo>
                <a:lnTo>
                  <a:pt x="0" y="93211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2878" t="0" r="0" b="0"/>
            </a:stretch>
          </a:blipFill>
        </p:spPr>
      </p:sp>
    </p:spTree>
  </p:cSld>
  <p:clrMapOvr>
    <a:masterClrMapping/>
  </p:clrMapOvr>
</p:sld>
</file>

<file path=ppt/slides/slide1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0988" y="768173"/>
            <a:ext cx="12882475" cy="345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37"/>
              </a:lnSpc>
            </a:pPr>
            <a:r>
              <a:rPr lang="en-US" sz="12879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3.6</a:t>
            </a:r>
          </a:p>
          <a:p>
            <a:pPr algn="l">
              <a:lnSpc>
                <a:spcPts val="13137"/>
              </a:lnSpc>
            </a:pPr>
            <a:r>
              <a:rPr lang="en-US" sz="12879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SCHEDULING stage</a:t>
            </a:r>
          </a:p>
        </p:txBody>
      </p:sp>
    </p:spTree>
  </p:cSld>
  <p:clrMapOvr>
    <a:masterClrMapping/>
  </p:clrMapOvr>
</p:sld>
</file>

<file path=ppt/slides/slide1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7261" y="4250568"/>
            <a:ext cx="16080080" cy="5879279"/>
          </a:xfrm>
          <a:custGeom>
            <a:avLst/>
            <a:gdLst/>
            <a:ahLst/>
            <a:cxnLst/>
            <a:rect r="r" b="b" t="t" l="l"/>
            <a:pathLst>
              <a:path h="5879279" w="16080080">
                <a:moveTo>
                  <a:pt x="0" y="0"/>
                </a:moveTo>
                <a:lnTo>
                  <a:pt x="16080079" y="0"/>
                </a:lnTo>
                <a:lnTo>
                  <a:pt x="16080079" y="5879279"/>
                </a:lnTo>
                <a:lnTo>
                  <a:pt x="0" y="58792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Scheduling stage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9255" y="1383844"/>
            <a:ext cx="16987223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This stage takes the mapped and optimized circuit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9255" y="2122608"/>
            <a:ext cx="17453398" cy="11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It analyzes the runtime of the operations in the circuit and identifies idle periods on each 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qubit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9255" y="3439013"/>
            <a:ext cx="17453398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It will then insert explicit operations to account for all the time in the circuit</a:t>
            </a:r>
          </a:p>
        </p:txBody>
      </p:sp>
    </p:spTree>
  </p:cSld>
  <p:clrMapOvr>
    <a:masterClrMapping/>
  </p:clrMapOvr>
</p:sld>
</file>

<file path=ppt/slides/slide1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0288" y="4104506"/>
            <a:ext cx="17446190" cy="6182494"/>
          </a:xfrm>
          <a:custGeom>
            <a:avLst/>
            <a:gdLst/>
            <a:ahLst/>
            <a:cxnLst/>
            <a:rect r="r" b="b" t="t" l="l"/>
            <a:pathLst>
              <a:path h="6182494" w="17446190">
                <a:moveTo>
                  <a:pt x="0" y="0"/>
                </a:moveTo>
                <a:lnTo>
                  <a:pt x="17446190" y="0"/>
                </a:lnTo>
                <a:lnTo>
                  <a:pt x="17446190" y="6182494"/>
                </a:lnTo>
                <a:lnTo>
                  <a:pt x="0" y="61824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5983" y="174674"/>
            <a:ext cx="16230600" cy="8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Scheduling stage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9255" y="1383844"/>
            <a:ext cx="16987223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This stage takes the mapped and optimized circuit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9255" y="2122608"/>
            <a:ext cx="17453398" cy="11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It analyzes the runtime of the operations in the circuit and identifies idle periods on each 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qubit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9255" y="3439013"/>
            <a:ext cx="17453398" cy="5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It will then insert explicit operations to account for all the time in the circuit</a:t>
            </a:r>
          </a:p>
        </p:txBody>
      </p:sp>
    </p:spTree>
  </p:cSld>
  <p:clrMapOvr>
    <a:masterClrMapping/>
  </p:clrMapOvr>
</p:sld>
</file>

<file path=ppt/slides/slide1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9586" y="4364463"/>
            <a:ext cx="12882475" cy="1767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37"/>
              </a:lnSpc>
            </a:pPr>
            <a:r>
              <a:rPr lang="en-US" sz="12879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DAHUIFN_t8k</dc:identifier>
  <dcterms:modified xsi:type="dcterms:W3CDTF">2011-08-01T06:04:30Z</dcterms:modified>
  <cp:revision>1</cp:revision>
  <dc:title>Quantum Transpilation</dc:title>
</cp:coreProperties>
</file>