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370" r:id="rId2"/>
    <p:sldId id="380" r:id="rId3"/>
    <p:sldId id="371" r:id="rId4"/>
    <p:sldId id="358" r:id="rId5"/>
    <p:sldId id="369" r:id="rId6"/>
    <p:sldId id="274" r:id="rId7"/>
    <p:sldId id="265" r:id="rId8"/>
    <p:sldId id="276" r:id="rId9"/>
    <p:sldId id="267" r:id="rId10"/>
    <p:sldId id="277" r:id="rId11"/>
    <p:sldId id="262" r:id="rId12"/>
    <p:sldId id="278" r:id="rId13"/>
    <p:sldId id="279" r:id="rId14"/>
    <p:sldId id="365" r:id="rId15"/>
    <p:sldId id="366" r:id="rId16"/>
    <p:sldId id="367" r:id="rId17"/>
    <p:sldId id="360" r:id="rId18"/>
    <p:sldId id="261" r:id="rId19"/>
    <p:sldId id="275" r:id="rId20"/>
    <p:sldId id="376" r:id="rId21"/>
    <p:sldId id="285" r:id="rId22"/>
    <p:sldId id="364" r:id="rId23"/>
    <p:sldId id="368" r:id="rId24"/>
    <p:sldId id="268" r:id="rId25"/>
    <p:sldId id="359" r:id="rId26"/>
    <p:sldId id="372" r:id="rId27"/>
    <p:sldId id="374" r:id="rId28"/>
    <p:sldId id="316" r:id="rId29"/>
    <p:sldId id="362" r:id="rId30"/>
    <p:sldId id="296" r:id="rId31"/>
    <p:sldId id="334" r:id="rId32"/>
    <p:sldId id="363" r:id="rId33"/>
    <p:sldId id="332" r:id="rId34"/>
    <p:sldId id="333" r:id="rId35"/>
    <p:sldId id="375" r:id="rId36"/>
    <p:sldId id="327" r:id="rId37"/>
    <p:sldId id="377" r:id="rId38"/>
    <p:sldId id="378" r:id="rId39"/>
    <p:sldId id="379" r:id="rId40"/>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hông có Kiểu, Lưới Bảng">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41" autoAdjust="0"/>
    <p:restoredTop sz="86788" autoAdjust="0"/>
  </p:normalViewPr>
  <p:slideViewPr>
    <p:cSldViewPr snapToGrid="0">
      <p:cViewPr varScale="1">
        <p:scale>
          <a:sx n="116" d="100"/>
          <a:sy n="116" d="100"/>
        </p:scale>
        <p:origin x="1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61D66D-790A-42FE-9F35-47D6C83EFAA2}" type="datetimeFigureOut">
              <a:rPr lang="vi-VN" smtClean="0"/>
              <a:t>23/9/26</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6DF54-78B0-4903-8B9A-8E88D0176FCD}" type="slidenum">
              <a:rPr lang="vi-VN" smtClean="0"/>
              <a:t>‹#›</a:t>
            </a:fld>
            <a:endParaRPr lang="vi-VN"/>
          </a:p>
        </p:txBody>
      </p:sp>
    </p:spTree>
    <p:extLst>
      <p:ext uri="{BB962C8B-B14F-4D97-AF65-F5344CB8AC3E}">
        <p14:creationId xmlns:p14="http://schemas.microsoft.com/office/powerpoint/2010/main" val="1283989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gate and operator presented in the last slide can be viewed as vector and matrix in the state-vector approach.</a:t>
            </a:r>
          </a:p>
          <a:p>
            <a:endParaRPr lang="en-US" dirty="0"/>
          </a:p>
          <a:p>
            <a:r>
              <a:rPr lang="en-US" dirty="0"/>
              <a:t>A state is simply a normalized vector which has dimensional two exponential of n where n is the number of qubits.</a:t>
            </a:r>
          </a:p>
          <a:p>
            <a:r>
              <a:rPr lang="en-US" dirty="0"/>
              <a:t>Because the length of state is only 1, so each element on state always has the norm less or equal 1.</a:t>
            </a:r>
          </a:p>
          <a:p>
            <a:endParaRPr lang="en-US" dirty="0"/>
          </a:p>
          <a:p>
            <a:r>
              <a:rPr lang="en-US" dirty="0"/>
              <a:t>The gate and operator is actually the matrix which has the element is the complex number.</a:t>
            </a:r>
          </a:p>
          <a:p>
            <a:r>
              <a:rPr lang="en-US" dirty="0"/>
              <a:t>A operator can be reconstructed by tensor multiplication between gates.</a:t>
            </a:r>
          </a:p>
          <a:p>
            <a:endParaRPr lang="en-US" dirty="0"/>
          </a:p>
          <a:p>
            <a:r>
              <a:rPr lang="en-US" dirty="0"/>
              <a:t>And when a operator acts on a state as Eq 1.2, it is equivalent to a matrix-vector multiplication.</a:t>
            </a:r>
          </a:p>
          <a:p>
            <a:r>
              <a:rPr lang="en-US" dirty="0"/>
              <a:t>But note that the dimensional of both state and operator increase exponentially based on the number of qubits.</a:t>
            </a:r>
          </a:p>
          <a:p>
            <a:r>
              <a:rPr lang="en-US" dirty="0"/>
              <a:t>Computing this term is a hard problem.</a:t>
            </a:r>
          </a:p>
        </p:txBody>
      </p:sp>
      <p:sp>
        <p:nvSpPr>
          <p:cNvPr id="4" name="Slide Number Placeholder 3"/>
          <p:cNvSpPr>
            <a:spLocks noGrp="1"/>
          </p:cNvSpPr>
          <p:nvPr>
            <p:ph type="sldNum" sz="quarter" idx="5"/>
          </p:nvPr>
        </p:nvSpPr>
        <p:spPr/>
        <p:txBody>
          <a:bodyPr/>
          <a:lstStyle/>
          <a:p>
            <a:fld id="{D5185723-9913-4F02-B630-868413D77CE4}" type="slidenum">
              <a:rPr lang="en-US" smtClean="0"/>
              <a:t>4</a:t>
            </a:fld>
            <a:endParaRPr lang="en-US"/>
          </a:p>
        </p:txBody>
      </p:sp>
    </p:spTree>
    <p:extLst>
      <p:ext uri="{BB962C8B-B14F-4D97-AF65-F5344CB8AC3E}">
        <p14:creationId xmlns:p14="http://schemas.microsoft.com/office/powerpoint/2010/main" val="4002790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Returning to the general case, we see that implementing the two-level unitary operation U requires at most 2(n−1) controlled operations to swap |g1 with |gm−1 and then back again. Each of these controlled operations can be realized using O(n) single qubit and gates; the controlled-U˜ operation also requires O(n) gates. Thus, implementing U requires O(n^2) single qubit and gates. We saw in the previous section that an arbitrary unitary matrix on the 2^n-dimensional state space of n qubits may be written as a product of O(2^2n) = O(4^n) two-level unitary operations. Combining these results, we see that an arbitrary unitary operation on n qubits can be implemented using a circuit containing O(n^2 x 4^n) single qubit and gates. Obviously, this construction does not provide terribly efficient quantum circuits! However, we show in Section 4.5.4 that the construction is close to optimal in the sense that there are unitary operations that require an exponential number of gates to implement. Thus, to find fast quantum algorithms we will clearly need a different approach than is taken in the universality construction.</a:t>
            </a:r>
            <a:endParaRPr lang="vi-VN"/>
          </a:p>
        </p:txBody>
      </p:sp>
      <p:sp>
        <p:nvSpPr>
          <p:cNvPr id="4" name="Slide Number Placeholder 3"/>
          <p:cNvSpPr>
            <a:spLocks noGrp="1"/>
          </p:cNvSpPr>
          <p:nvPr>
            <p:ph type="sldNum" sz="quarter" idx="5"/>
          </p:nvPr>
        </p:nvSpPr>
        <p:spPr/>
        <p:txBody>
          <a:bodyPr/>
          <a:lstStyle/>
          <a:p>
            <a:fld id="{EF16DF54-78B0-4903-8B9A-8E88D0176FCD}" type="slidenum">
              <a:rPr lang="vi-VN" smtClean="0"/>
              <a:t>15</a:t>
            </a:fld>
            <a:endParaRPr lang="vi-VN"/>
          </a:p>
        </p:txBody>
      </p:sp>
    </p:spTree>
    <p:extLst>
      <p:ext uri="{BB962C8B-B14F-4D97-AF65-F5344CB8AC3E}">
        <p14:creationId xmlns:p14="http://schemas.microsoft.com/office/powerpoint/2010/main" val="3180815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EF16DF54-78B0-4903-8B9A-8E88D0176FCD}" type="slidenum">
              <a:rPr lang="vi-VN" smtClean="0"/>
              <a:t>16</a:t>
            </a:fld>
            <a:endParaRPr lang="vi-VN"/>
          </a:p>
        </p:txBody>
      </p:sp>
    </p:spTree>
    <p:extLst>
      <p:ext uri="{BB962C8B-B14F-4D97-AF65-F5344CB8AC3E}">
        <p14:creationId xmlns:p14="http://schemas.microsoft.com/office/powerpoint/2010/main" val="3497246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𝜙</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𝑥</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14:m>
                  <m:oMath xmlns:m="http://schemas.openxmlformats.org/officeDocument/2006/math">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𝑈</m:t>
                        </m:r>
                      </m:e>
                      <m:sub>
                        <m:r>
                          <a:rPr lang="vi-VN" sz="1200" i="1">
                            <a:effectLst/>
                            <a:latin typeface="Cambria Math" panose="02040503050406030204" pitchFamily="18" charset="0"/>
                            <a:cs typeface="Calibri" panose="020F0502020204030204" pitchFamily="34" charset="0"/>
                          </a:rPr>
                          <m:t>𝜙</m:t>
                        </m:r>
                      </m:sub>
                    </m:sSub>
                  </m:oMath>
                </a14:m>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𝜽</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tác động và trả về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𝜽</m:t>
                        </m:r>
                      </m:e>
                    </m:d>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𝜙</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𝑥</m:t>
                        </m:r>
                      </m:e>
                    </m:d>
                    <m:sSup>
                      <m:sSupPr>
                        <m:ctrlPr>
                          <a:rPr lang="vi-VN" sz="1200" b="0" i="1">
                            <a:effectLst/>
                            <a:latin typeface="Cambria Math" panose="02040503050406030204" pitchFamily="18" charset="0"/>
                            <a:cs typeface="Calibri" panose="020F0502020204030204" pitchFamily="34" charset="0"/>
                          </a:rPr>
                        </m:ctrlPr>
                      </m:sSupPr>
                      <m:e>
                        <m:d>
                          <m:dPr>
                            <m:begChr m:val="|"/>
                            <m:endChr m:val="⟩"/>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0</m:t>
                            </m:r>
                          </m:e>
                        </m:d>
                      </m:e>
                      <m:sup>
                        <m:r>
                          <a:rPr lang="vi-VN" sz="1200" i="1">
                            <a:latin typeface="Cambria Math" panose="02040503050406030204" pitchFamily="18" charset="0"/>
                            <a:cs typeface="Calibri" panose="020F0502020204030204" pitchFamily="34" charset="0"/>
                          </a:rPr>
                          <m:t>⊗</m:t>
                        </m:r>
                        <m:d>
                          <m:dPr>
                            <m:ctrlPr>
                              <a:rPr lang="vi-VN" sz="1200" i="1">
                                <a:latin typeface="Cambria Math" panose="02040503050406030204" pitchFamily="18" charset="0"/>
                                <a:cs typeface="Calibri" panose="020F0502020204030204" pitchFamily="34" charset="0"/>
                              </a:rPr>
                            </m:ctrlPr>
                          </m:dPr>
                          <m:e>
                            <m:r>
                              <a:rPr lang="vi-VN" sz="1200" i="1">
                                <a:latin typeface="Cambria Math" panose="02040503050406030204" pitchFamily="18" charset="0"/>
                                <a:cs typeface="Calibri" panose="020F0502020204030204" pitchFamily="34" charset="0"/>
                              </a:rPr>
                              <m:t>𝑛</m:t>
                            </m:r>
                            <m:r>
                              <a:rPr lang="vi-VN" sz="1200" i="1">
                                <a:latin typeface="Cambria Math" panose="02040503050406030204" pitchFamily="18" charset="0"/>
                                <a:cs typeface="Calibri" panose="020F0502020204030204" pitchFamily="34" charset="0"/>
                              </a:rPr>
                              <m:t>+</m:t>
                            </m:r>
                            <m:r>
                              <a:rPr lang="vi-VN" sz="1200" i="1">
                                <a:latin typeface="Cambria Math" panose="02040503050406030204" pitchFamily="18" charset="0"/>
                                <a:cs typeface="Calibri" panose="020F0502020204030204" pitchFamily="34" charset="0"/>
                              </a:rPr>
                              <m:t>𝑚</m:t>
                            </m:r>
                          </m:e>
                        </m:d>
                      </m:sup>
                    </m:sSup>
                  </m:oMath>
                </a14:m>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m:t>
                    </m:r>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𝑀</m:t>
                        </m:r>
                      </m:e>
                      <m:sub>
                        <m:r>
                          <a:rPr lang="vi-VN" sz="1200" i="1">
                            <a:effectLst/>
                            <a:latin typeface="Cambria Math" panose="02040503050406030204" pitchFamily="18" charset="0"/>
                            <a:cs typeface="Calibri" panose="020F0502020204030204" pitchFamily="34" charset="0"/>
                          </a:rPr>
                          <m:t>𝑖</m:t>
                        </m:r>
                      </m:sub>
                    </m:sSub>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14:m>
                  <m:oMath xmlns:m="http://schemas.openxmlformats.org/officeDocument/2006/math">
                    <m:r>
                      <a:rPr lang="vi-VN" sz="1200" i="1">
                        <a:effectLst/>
                        <a:latin typeface="Cambria Math" panose="02040503050406030204" pitchFamily="18" charset="0"/>
                        <a:cs typeface="Calibri" panose="020F0502020204030204" pitchFamily="34" charset="0"/>
                      </a:rPr>
                      <m:t>𝑓</m:t>
                    </m:r>
                  </m:oMath>
                </a14:m>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Choice>
        <mc:Fallback xmlns="">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𝜙(𝑥)</a:t>
                </a:r>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𝜙</a:t>
                </a:r>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𝑈(𝜽)</a:t>
                </a:r>
                <a:r>
                  <a:rPr lang="vi-VN" sz="1200">
                    <a:effectLst/>
                    <a:latin typeface="Calibri" panose="020F0502020204030204" pitchFamily="34" charset="0"/>
                    <a:cs typeface="Calibri" panose="020F0502020204030204" pitchFamily="34" charset="0"/>
                  </a:rPr>
                  <a:t> tác động và trả về </a:t>
                </a:r>
                <a:r>
                  <a:rPr lang="vi-VN" sz="1200" i="0">
                    <a:effectLst/>
                    <a:latin typeface="Cambria Math" panose="02040503050406030204" pitchFamily="18" charset="0"/>
                    <a:cs typeface="Calibri" panose="020F0502020204030204" pitchFamily="34" charset="0"/>
                  </a:rPr>
                  <a:t>𝑈(𝜽)𝑈𝜙(𝑥)</a:t>
                </a:r>
                <a:r>
                  <a:rPr lang="vi-VN" sz="1200" b="0" i="0">
                    <a:effectLst/>
                    <a:latin typeface="Cambria Math" panose="02040503050406030204" pitchFamily="18"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|0⟩</a:t>
                </a:r>
                <a:r>
                  <a:rPr lang="vi-VN" sz="1200" b="0" i="0">
                    <a:effectLst/>
                    <a:latin typeface="Cambria Math" panose="02040503050406030204" pitchFamily="18" charset="0"/>
                    <a:cs typeface="Calibri" panose="020F0502020204030204" pitchFamily="34" charset="0"/>
                  </a:rPr>
                  <a:t>^(</a:t>
                </a:r>
                <a:r>
                  <a:rPr lang="vi-VN" sz="1200" i="0">
                    <a:latin typeface="Cambria Math" panose="02040503050406030204" pitchFamily="18" charset="0"/>
                    <a:cs typeface="Calibri" panose="020F0502020204030204" pitchFamily="34" charset="0"/>
                  </a:rPr>
                  <a:t>⊗(𝑛+𝑚) </a:t>
                </a:r>
                <a:r>
                  <a:rPr lang="vi-VN" sz="1200" b="0" i="0">
                    <a:effectLst/>
                    <a:latin typeface="Cambria Math" panose="02040503050406030204" pitchFamily="18" charset="0"/>
                    <a:cs typeface="Calibri" panose="020F0502020204030204" pitchFamily="34" charset="0"/>
                  </a:rPr>
                  <a:t>)</a:t>
                </a:r>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{𝑀</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𝑖}</a:t>
                </a:r>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r>
                  <a:rPr lang="vi-VN" sz="1200" i="0">
                    <a:effectLst/>
                    <a:latin typeface="Cambria Math" panose="02040503050406030204" pitchFamily="18" charset="0"/>
                    <a:cs typeface="Calibri" panose="020F0502020204030204" pitchFamily="34" charset="0"/>
                  </a:rPr>
                  <a:t>𝑓</a:t>
                </a:r>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Fallback>
      </mc:AlternateContent>
      <p:sp>
        <p:nvSpPr>
          <p:cNvPr id="4" name="Slide Number Placeholder 3"/>
          <p:cNvSpPr>
            <a:spLocks noGrp="1"/>
          </p:cNvSpPr>
          <p:nvPr>
            <p:ph type="sldNum" sz="quarter" idx="5"/>
          </p:nvPr>
        </p:nvSpPr>
        <p:spPr/>
        <p:txBody>
          <a:bodyPr/>
          <a:lstStyle/>
          <a:p>
            <a:fld id="{89C9BFFF-DB5C-C647-BABC-3A750988F3DE}" type="slidenum">
              <a:rPr lang="en-VN"/>
              <a:t>17</a:t>
            </a:fld>
            <a:endParaRPr lang="en-VN"/>
          </a:p>
        </p:txBody>
      </p:sp>
    </p:spTree>
    <p:extLst>
      <p:ext uri="{BB962C8B-B14F-4D97-AF65-F5344CB8AC3E}">
        <p14:creationId xmlns:p14="http://schemas.microsoft.com/office/powerpoint/2010/main" val="3898813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Global phases are artefacts of the mathematical framework you are using, and have no physical meaning.</a:t>
            </a:r>
          </a:p>
          <a:p>
            <a:pPr marL="0" indent="0">
              <a:buNone/>
            </a:pPr>
            <a:endParaRPr lang="en-US"/>
          </a:p>
          <a:p>
            <a:pPr marL="0" indent="0">
              <a:buNone/>
            </a:pPr>
            <a:r>
              <a:rPr lang="en-US"/>
              <a:t>On the other hand, we have the concept “relative phase”. </a:t>
            </a:r>
            <a:r>
              <a:rPr lang="en-US" b="0" i="0">
                <a:solidFill>
                  <a:srgbClr val="232629"/>
                </a:solidFill>
                <a:effectLst/>
                <a:latin typeface="-apple-system"/>
              </a:rPr>
              <a:t>States differing by a relative phase are different systems</a:t>
            </a:r>
            <a:endParaRPr lang="vi-VN"/>
          </a:p>
          <a:p>
            <a:endParaRPr lang="vi-VN"/>
          </a:p>
        </p:txBody>
      </p:sp>
      <p:sp>
        <p:nvSpPr>
          <p:cNvPr id="4" name="Slide Number Placeholder 3"/>
          <p:cNvSpPr>
            <a:spLocks noGrp="1"/>
          </p:cNvSpPr>
          <p:nvPr>
            <p:ph type="sldNum" sz="quarter" idx="5"/>
          </p:nvPr>
        </p:nvSpPr>
        <p:spPr/>
        <p:txBody>
          <a:bodyPr/>
          <a:lstStyle/>
          <a:p>
            <a:fld id="{EF16DF54-78B0-4903-8B9A-8E88D0176FCD}" type="slidenum">
              <a:rPr lang="vi-VN" smtClean="0"/>
              <a:t>21</a:t>
            </a:fld>
            <a:endParaRPr lang="vi-VN"/>
          </a:p>
        </p:txBody>
      </p:sp>
    </p:spTree>
    <p:extLst>
      <p:ext uri="{BB962C8B-B14F-4D97-AF65-F5344CB8AC3E}">
        <p14:creationId xmlns:p14="http://schemas.microsoft.com/office/powerpoint/2010/main" val="2404474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None/>
                </a:pPr>
                <a:r>
                  <a:rPr lang="en-US" sz="1200"/>
                  <a:t>50% probability of being measured in the state </a:t>
                </a:r>
                <a14:m>
                  <m:oMath xmlns:m="http://schemas.openxmlformats.org/officeDocument/2006/math">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00</m:t>
                        </m:r>
                      </m:e>
                    </m:d>
                    <m:r>
                      <a:rPr lang="en-US" sz="1200" b="0" i="0" smtClean="0">
                        <a:latin typeface="Cambria Math" panose="02040503050406030204" pitchFamily="18" charset="0"/>
                      </a:rPr>
                      <m:t>,</m:t>
                    </m:r>
                  </m:oMath>
                </a14:m>
                <a:r>
                  <a:rPr lang="en-US" sz="1200"/>
                  <a:t> 50% probability of being measured in the state </a:t>
                </a:r>
                <a14:m>
                  <m:oMath xmlns:m="http://schemas.openxmlformats.org/officeDocument/2006/math">
                    <m:r>
                      <a:rPr lang="en-US" sz="1200" i="1">
                        <a:latin typeface="Cambria Math" panose="02040503050406030204" pitchFamily="18" charset="0"/>
                      </a:rPr>
                      <m:t>|</m:t>
                    </m:r>
                    <m:r>
                      <a:rPr lang="en-US" sz="1200" b="0" i="1" smtClean="0">
                        <a:latin typeface="Cambria Math" panose="02040503050406030204" pitchFamily="18" charset="0"/>
                      </a:rPr>
                      <m:t>11</m:t>
                    </m:r>
                    <m:r>
                      <a:rPr lang="en-US" sz="1200" i="1">
                        <a:latin typeface="Cambria Math" panose="02040503050406030204" pitchFamily="18" charset="0"/>
                      </a:rPr>
                      <m:t>⟩</m:t>
                    </m:r>
                  </m:oMath>
                </a14:m>
                <a:r>
                  <a:rPr lang="en-US" sz="1200"/>
                  <a:t>.</a:t>
                </a:r>
              </a:p>
              <a:p>
                <a:pPr marL="0" indent="0">
                  <a:buNone/>
                </a:pPr>
                <a:r>
                  <a:rPr lang="en-US" sz="1200"/>
                  <a:t> </a:t>
                </a:r>
                <a:endParaRPr lang="vi-VN"/>
              </a:p>
            </p:txBody>
          </p:sp>
        </mc:Choice>
        <mc:Fallback xmlns="">
          <p:sp>
            <p:nvSpPr>
              <p:cNvPr id="3" name="Notes Placeholder 2"/>
              <p:cNvSpPr>
                <a:spLocks noGrp="1"/>
              </p:cNvSpPr>
              <p:nvPr>
                <p:ph type="body" idx="1"/>
              </p:nvPr>
            </p:nvSpPr>
            <p:spPr/>
            <p:txBody>
              <a:bodyPr/>
              <a:lstStyle/>
              <a:p>
                <a:pPr marL="0" indent="0">
                  <a:buNone/>
                </a:pPr>
                <a:r>
                  <a:rPr lang="en-US" sz="1200"/>
                  <a:t>50% probability of being measured in the state </a:t>
                </a:r>
                <a:r>
                  <a:rPr lang="en-US" sz="1200" b="0" i="0">
                    <a:latin typeface="Cambria Math" panose="02040503050406030204" pitchFamily="18" charset="0"/>
                  </a:rPr>
                  <a:t>|00⟩,</a:t>
                </a:r>
                <a:r>
                  <a:rPr lang="en-US" sz="1200"/>
                  <a:t> 50% probability of being measured in the state </a:t>
                </a:r>
                <a:r>
                  <a:rPr lang="en-US" sz="1200" i="0">
                    <a:latin typeface="Cambria Math" panose="02040503050406030204" pitchFamily="18" charset="0"/>
                  </a:rPr>
                  <a:t>|</a:t>
                </a:r>
                <a:r>
                  <a:rPr lang="en-US" sz="1200" b="0" i="0">
                    <a:latin typeface="Cambria Math" panose="02040503050406030204" pitchFamily="18" charset="0"/>
                  </a:rPr>
                  <a:t>11</a:t>
                </a:r>
                <a:r>
                  <a:rPr lang="en-US" sz="1200" i="0">
                    <a:latin typeface="Cambria Math" panose="02040503050406030204" pitchFamily="18" charset="0"/>
                  </a:rPr>
                  <a:t>⟩</a:t>
                </a:r>
                <a:r>
                  <a:rPr lang="en-US" sz="1200"/>
                  <a:t>.</a:t>
                </a:r>
              </a:p>
              <a:p>
                <a:pPr marL="0" indent="0">
                  <a:buNone/>
                </a:pPr>
                <a:r>
                  <a:rPr lang="en-US" sz="1200"/>
                  <a:t> </a:t>
                </a:r>
                <a:endParaRPr lang="vi-VN"/>
              </a:p>
            </p:txBody>
          </p:sp>
        </mc:Fallback>
      </mc:AlternateContent>
      <p:sp>
        <p:nvSpPr>
          <p:cNvPr id="4" name="Slide Number Placeholder 3"/>
          <p:cNvSpPr>
            <a:spLocks noGrp="1"/>
          </p:cNvSpPr>
          <p:nvPr>
            <p:ph type="sldNum" sz="quarter" idx="5"/>
          </p:nvPr>
        </p:nvSpPr>
        <p:spPr/>
        <p:txBody>
          <a:bodyPr/>
          <a:lstStyle/>
          <a:p>
            <a:fld id="{EF16DF54-78B0-4903-8B9A-8E88D0176FCD}" type="slidenum">
              <a:rPr lang="vi-VN" smtClean="0"/>
              <a:t>25</a:t>
            </a:fld>
            <a:endParaRPr lang="vi-VN"/>
          </a:p>
        </p:txBody>
      </p:sp>
    </p:spTree>
    <p:extLst>
      <p:ext uri="{BB962C8B-B14F-4D97-AF65-F5344CB8AC3E}">
        <p14:creationId xmlns:p14="http://schemas.microsoft.com/office/powerpoint/2010/main" val="3574507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EF16DF54-78B0-4903-8B9A-8E88D0176FCD}" type="slidenum">
              <a:rPr lang="vi-VN" smtClean="0"/>
              <a:t>26</a:t>
            </a:fld>
            <a:endParaRPr lang="vi-VN"/>
          </a:p>
        </p:txBody>
      </p:sp>
    </p:spTree>
    <p:extLst>
      <p:ext uri="{BB962C8B-B14F-4D97-AF65-F5344CB8AC3E}">
        <p14:creationId xmlns:p14="http://schemas.microsoft.com/office/powerpoint/2010/main" val="2867482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EF16DF54-78B0-4903-8B9A-8E88D0176FCD}" type="slidenum">
              <a:rPr lang="vi-VN" smtClean="0"/>
              <a:t>27</a:t>
            </a:fld>
            <a:endParaRPr lang="vi-VN"/>
          </a:p>
        </p:txBody>
      </p:sp>
    </p:spTree>
    <p:extLst>
      <p:ext uri="{BB962C8B-B14F-4D97-AF65-F5344CB8AC3E}">
        <p14:creationId xmlns:p14="http://schemas.microsoft.com/office/powerpoint/2010/main" val="880761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a:t>
            </a:r>
            <a:r>
              <a:rPr lang="en-US"/>
              <a:t>h</a:t>
            </a:r>
            <a:r>
              <a:rPr lang="en-VN"/>
              <a:t>o C là loss/cost function, tính đạo hàm riêng </a:t>
            </a:r>
            <a:r>
              <a:rPr lang="en-US"/>
              <a:t>thứ i bằng phương pháp sai phân hữu hạn, tuy nhiên trong trường hợp này ta tính các hệ số cụ thể. Với các eigenvalues khác nhau, độ dời s và hệ số tự do r sẽ có giá trị khác nhau. </a:t>
            </a:r>
          </a:p>
          <a:p>
            <a:r>
              <a:rPr lang="en-US"/>
              <a:t>Cách tính cụ thể được trình bày trong paper.</a:t>
            </a:r>
            <a:endParaRPr lang="en-VN"/>
          </a:p>
        </p:txBody>
      </p:sp>
      <p:sp>
        <p:nvSpPr>
          <p:cNvPr id="4" name="Slide Number Placeholder 3"/>
          <p:cNvSpPr>
            <a:spLocks noGrp="1"/>
          </p:cNvSpPr>
          <p:nvPr>
            <p:ph type="sldNum" sz="quarter" idx="5"/>
          </p:nvPr>
        </p:nvSpPr>
        <p:spPr/>
        <p:txBody>
          <a:bodyPr/>
          <a:lstStyle/>
          <a:p>
            <a:fld id="{F02A4BF2-330F-0041-B456-2AF550CE6FFE}" type="slidenum">
              <a:rPr lang="en-VN"/>
              <a:t>30</a:t>
            </a:fld>
            <a:endParaRPr lang="en-VN"/>
          </a:p>
        </p:txBody>
      </p:sp>
    </p:spTree>
    <p:extLst>
      <p:ext uri="{BB962C8B-B14F-4D97-AF65-F5344CB8AC3E}">
        <p14:creationId xmlns:p14="http://schemas.microsoft.com/office/powerpoint/2010/main" val="2377449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No. qubit = number of qubit</a:t>
            </a:r>
          </a:p>
          <a:p>
            <a:r>
              <a:rPr lang="en-VN"/>
              <a:t>Circuit depth = độ dài của U_phi</a:t>
            </a:r>
          </a:p>
        </p:txBody>
      </p:sp>
      <p:sp>
        <p:nvSpPr>
          <p:cNvPr id="4" name="Slide Number Placeholder 3"/>
          <p:cNvSpPr>
            <a:spLocks noGrp="1"/>
          </p:cNvSpPr>
          <p:nvPr>
            <p:ph type="sldNum" sz="quarter" idx="5"/>
          </p:nvPr>
        </p:nvSpPr>
        <p:spPr/>
        <p:txBody>
          <a:bodyPr/>
          <a:lstStyle/>
          <a:p>
            <a:fld id="{F02A4BF2-330F-0041-B456-2AF550CE6FFE}" type="slidenum">
              <a:rPr lang="en-VN"/>
              <a:t>32</a:t>
            </a:fld>
            <a:endParaRPr lang="en-VN"/>
          </a:p>
        </p:txBody>
      </p:sp>
    </p:spTree>
    <p:extLst>
      <p:ext uri="{BB962C8B-B14F-4D97-AF65-F5344CB8AC3E}">
        <p14:creationId xmlns:p14="http://schemas.microsoft.com/office/powerpoint/2010/main" val="1750963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B56F43B-C421-4FC1-BF73-D6F1C86FAF13}"/>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a:extLst>
              <a:ext uri="{FF2B5EF4-FFF2-40B4-BE49-F238E27FC236}">
                <a16:creationId xmlns:a16="http://schemas.microsoft.com/office/drawing/2014/main" id="{C798ADB8-956B-47FE-B3AD-73B647B5BF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p>
        </p:txBody>
      </p:sp>
      <p:sp>
        <p:nvSpPr>
          <p:cNvPr id="4" name="Chỗ dành sẵn cho Ngày tháng 3">
            <a:extLst>
              <a:ext uri="{FF2B5EF4-FFF2-40B4-BE49-F238E27FC236}">
                <a16:creationId xmlns:a16="http://schemas.microsoft.com/office/drawing/2014/main" id="{7643D3CF-139A-4E11-A7F5-D7ADD1A6D0B7}"/>
              </a:ext>
            </a:extLst>
          </p:cNvPr>
          <p:cNvSpPr>
            <a:spLocks noGrp="1"/>
          </p:cNvSpPr>
          <p:nvPr>
            <p:ph type="dt" sz="half" idx="10"/>
          </p:nvPr>
        </p:nvSpPr>
        <p:spPr/>
        <p:txBody>
          <a:bodyPr/>
          <a:lstStyle/>
          <a:p>
            <a:fld id="{FC4ADBB0-DFBB-4DCA-A0C8-E8E421A3A1BE}" type="datetime1">
              <a:rPr lang="vi-VN" smtClean="0"/>
              <a:t>23/9/26</a:t>
            </a:fld>
            <a:endParaRPr lang="vi-VN"/>
          </a:p>
        </p:txBody>
      </p:sp>
      <p:sp>
        <p:nvSpPr>
          <p:cNvPr id="5" name="Chỗ dành sẵn cho Chân trang 4">
            <a:extLst>
              <a:ext uri="{FF2B5EF4-FFF2-40B4-BE49-F238E27FC236}">
                <a16:creationId xmlns:a16="http://schemas.microsoft.com/office/drawing/2014/main" id="{81140645-1512-4335-8476-F3108E95F2D7}"/>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E5FEBEA6-BB46-4F2D-AE8C-1F0EABDAA90A}"/>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643683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BDC0A4C-1EE4-4ED5-867C-BD41B7EBD799}"/>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8C15102C-474F-43F1-9B51-487124E874B6}"/>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D41D3381-5C7A-445D-8756-295C203809B4}"/>
              </a:ext>
            </a:extLst>
          </p:cNvPr>
          <p:cNvSpPr>
            <a:spLocks noGrp="1"/>
          </p:cNvSpPr>
          <p:nvPr>
            <p:ph type="dt" sz="half" idx="10"/>
          </p:nvPr>
        </p:nvSpPr>
        <p:spPr/>
        <p:txBody>
          <a:bodyPr/>
          <a:lstStyle/>
          <a:p>
            <a:fld id="{3844ABA2-F96A-4642-AB00-30B67DAE18DC}" type="datetime1">
              <a:rPr lang="vi-VN" smtClean="0"/>
              <a:t>23/9/26</a:t>
            </a:fld>
            <a:endParaRPr lang="vi-VN"/>
          </a:p>
        </p:txBody>
      </p:sp>
      <p:sp>
        <p:nvSpPr>
          <p:cNvPr id="5" name="Chỗ dành sẵn cho Chân trang 4">
            <a:extLst>
              <a:ext uri="{FF2B5EF4-FFF2-40B4-BE49-F238E27FC236}">
                <a16:creationId xmlns:a16="http://schemas.microsoft.com/office/drawing/2014/main" id="{15DB3BAF-2010-405D-890A-A664927C7F3D}"/>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900C6BE0-E62F-4779-AF3C-85CA11D5C732}"/>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1143372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6818C3C-B515-4D3A-85A9-A3BAEB3240C0}"/>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a:extLst>
              <a:ext uri="{FF2B5EF4-FFF2-40B4-BE49-F238E27FC236}">
                <a16:creationId xmlns:a16="http://schemas.microsoft.com/office/drawing/2014/main" id="{B9B21172-A207-48AA-9F86-22FFA52952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CD0A4E73-55C6-46C3-AF62-11D8BC172155}"/>
              </a:ext>
            </a:extLst>
          </p:cNvPr>
          <p:cNvSpPr>
            <a:spLocks noGrp="1"/>
          </p:cNvSpPr>
          <p:nvPr>
            <p:ph type="dt" sz="half" idx="10"/>
          </p:nvPr>
        </p:nvSpPr>
        <p:spPr/>
        <p:txBody>
          <a:bodyPr/>
          <a:lstStyle/>
          <a:p>
            <a:fld id="{38B10CBF-AA1C-442C-8908-2E147AAB595F}" type="datetime1">
              <a:rPr lang="vi-VN" smtClean="0"/>
              <a:t>23/9/26</a:t>
            </a:fld>
            <a:endParaRPr lang="vi-VN"/>
          </a:p>
        </p:txBody>
      </p:sp>
      <p:sp>
        <p:nvSpPr>
          <p:cNvPr id="5" name="Chỗ dành sẵn cho Chân trang 4">
            <a:extLst>
              <a:ext uri="{FF2B5EF4-FFF2-40B4-BE49-F238E27FC236}">
                <a16:creationId xmlns:a16="http://schemas.microsoft.com/office/drawing/2014/main" id="{BE30C147-8040-43D9-A71E-FD5481DC7F38}"/>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6947C5C8-BE0B-4C86-A454-27BF21167AEE}"/>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1289382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93C0710-FE88-4A9B-B9A3-E28490D474DB}"/>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91D57A46-12B4-4545-9D99-4174EB0992F6}"/>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ội dung 3">
            <a:extLst>
              <a:ext uri="{FF2B5EF4-FFF2-40B4-BE49-F238E27FC236}">
                <a16:creationId xmlns:a16="http://schemas.microsoft.com/office/drawing/2014/main" id="{87924178-C40B-4F5C-BFAA-55FB178DA6DA}"/>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Ngày tháng 4">
            <a:extLst>
              <a:ext uri="{FF2B5EF4-FFF2-40B4-BE49-F238E27FC236}">
                <a16:creationId xmlns:a16="http://schemas.microsoft.com/office/drawing/2014/main" id="{F1B8E41F-4A3E-4F22-9856-C461A5E342CA}"/>
              </a:ext>
            </a:extLst>
          </p:cNvPr>
          <p:cNvSpPr>
            <a:spLocks noGrp="1"/>
          </p:cNvSpPr>
          <p:nvPr>
            <p:ph type="dt" sz="half" idx="10"/>
          </p:nvPr>
        </p:nvSpPr>
        <p:spPr/>
        <p:txBody>
          <a:bodyPr/>
          <a:lstStyle/>
          <a:p>
            <a:fld id="{A375865D-2E54-4B89-8689-1A851FA9B0C2}" type="datetime1">
              <a:rPr lang="vi-VN" smtClean="0"/>
              <a:t>23/9/26</a:t>
            </a:fld>
            <a:endParaRPr lang="vi-VN"/>
          </a:p>
        </p:txBody>
      </p:sp>
      <p:sp>
        <p:nvSpPr>
          <p:cNvPr id="6" name="Chỗ dành sẵn cho Chân trang 5">
            <a:extLst>
              <a:ext uri="{FF2B5EF4-FFF2-40B4-BE49-F238E27FC236}">
                <a16:creationId xmlns:a16="http://schemas.microsoft.com/office/drawing/2014/main" id="{0A43F3EF-66D9-4339-95A3-48314D14A0C4}"/>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67038853-8DDD-4501-A476-2EFE83DD0B8D}"/>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2873794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1A0E904-EFCE-46FC-803C-6DB78BB9AF3E}"/>
              </a:ext>
            </a:extLst>
          </p:cNvPr>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a:extLst>
              <a:ext uri="{FF2B5EF4-FFF2-40B4-BE49-F238E27FC236}">
                <a16:creationId xmlns:a16="http://schemas.microsoft.com/office/drawing/2014/main" id="{17CCA23D-A113-4D05-8A66-6DD71FB58A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C01E6C1A-A0ED-4444-8CE3-E41398A0EBF2}"/>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Văn bản 4">
            <a:extLst>
              <a:ext uri="{FF2B5EF4-FFF2-40B4-BE49-F238E27FC236}">
                <a16:creationId xmlns:a16="http://schemas.microsoft.com/office/drawing/2014/main" id="{74EB86F6-8460-4399-85EB-856A1C5E3C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EF8C5568-1A81-420E-ACBA-2DBF5C5082EE}"/>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7" name="Chỗ dành sẵn cho Ngày tháng 6">
            <a:extLst>
              <a:ext uri="{FF2B5EF4-FFF2-40B4-BE49-F238E27FC236}">
                <a16:creationId xmlns:a16="http://schemas.microsoft.com/office/drawing/2014/main" id="{7BDF83D4-603F-4CE6-AC9B-88FCDD872AE0}"/>
              </a:ext>
            </a:extLst>
          </p:cNvPr>
          <p:cNvSpPr>
            <a:spLocks noGrp="1"/>
          </p:cNvSpPr>
          <p:nvPr>
            <p:ph type="dt" sz="half" idx="10"/>
          </p:nvPr>
        </p:nvSpPr>
        <p:spPr/>
        <p:txBody>
          <a:bodyPr/>
          <a:lstStyle/>
          <a:p>
            <a:fld id="{19BFCA60-D758-4057-AC39-283123382124}" type="datetime1">
              <a:rPr lang="vi-VN" smtClean="0"/>
              <a:t>23/9/26</a:t>
            </a:fld>
            <a:endParaRPr lang="vi-VN"/>
          </a:p>
        </p:txBody>
      </p:sp>
      <p:sp>
        <p:nvSpPr>
          <p:cNvPr id="8" name="Chỗ dành sẵn cho Chân trang 7">
            <a:extLst>
              <a:ext uri="{FF2B5EF4-FFF2-40B4-BE49-F238E27FC236}">
                <a16:creationId xmlns:a16="http://schemas.microsoft.com/office/drawing/2014/main" id="{1B31F924-96E6-4EB1-8F2A-1208789DA2C6}"/>
              </a:ext>
            </a:extLst>
          </p:cNvPr>
          <p:cNvSpPr>
            <a:spLocks noGrp="1"/>
          </p:cNvSpPr>
          <p:nvPr>
            <p:ph type="ftr" sz="quarter" idx="11"/>
          </p:nvPr>
        </p:nvSpPr>
        <p:spPr/>
        <p:txBody>
          <a:bodyPr/>
          <a:lstStyle/>
          <a:p>
            <a:endParaRPr lang="vi-VN"/>
          </a:p>
        </p:txBody>
      </p:sp>
      <p:sp>
        <p:nvSpPr>
          <p:cNvPr id="9" name="Chỗ dành sẵn cho Số hiệu Bản chiếu 8">
            <a:extLst>
              <a:ext uri="{FF2B5EF4-FFF2-40B4-BE49-F238E27FC236}">
                <a16:creationId xmlns:a16="http://schemas.microsoft.com/office/drawing/2014/main" id="{20C21F78-3645-4410-845B-0FD2AB3A8079}"/>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3690508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1E3E84A-DF91-462F-9EE9-7D0D2DD3AE88}"/>
              </a:ext>
            </a:extLst>
          </p:cNvPr>
          <p:cNvSpPr>
            <a:spLocks noGrp="1"/>
          </p:cNvSpPr>
          <p:nvPr>
            <p:ph type="title"/>
          </p:nvPr>
        </p:nvSpPr>
        <p:spPr/>
        <p:txBody>
          <a:bodyPr/>
          <a:lstStyle/>
          <a:p>
            <a:r>
              <a:rPr lang="vi-VN"/>
              <a:t>Bấm để sửa kiểu tiêu đề Bản cái</a:t>
            </a:r>
          </a:p>
        </p:txBody>
      </p:sp>
      <p:sp>
        <p:nvSpPr>
          <p:cNvPr id="3" name="Chỗ dành sẵn cho Ngày tháng 2">
            <a:extLst>
              <a:ext uri="{FF2B5EF4-FFF2-40B4-BE49-F238E27FC236}">
                <a16:creationId xmlns:a16="http://schemas.microsoft.com/office/drawing/2014/main" id="{994DF4E4-7B5C-455C-8042-0619075B127C}"/>
              </a:ext>
            </a:extLst>
          </p:cNvPr>
          <p:cNvSpPr>
            <a:spLocks noGrp="1"/>
          </p:cNvSpPr>
          <p:nvPr>
            <p:ph type="dt" sz="half" idx="10"/>
          </p:nvPr>
        </p:nvSpPr>
        <p:spPr/>
        <p:txBody>
          <a:bodyPr/>
          <a:lstStyle/>
          <a:p>
            <a:fld id="{7A2B3298-1CF5-4179-AF41-9A5CDD968281}" type="datetime1">
              <a:rPr lang="vi-VN" smtClean="0"/>
              <a:t>23/9/26</a:t>
            </a:fld>
            <a:endParaRPr lang="vi-VN"/>
          </a:p>
        </p:txBody>
      </p:sp>
      <p:sp>
        <p:nvSpPr>
          <p:cNvPr id="4" name="Chỗ dành sẵn cho Chân trang 3">
            <a:extLst>
              <a:ext uri="{FF2B5EF4-FFF2-40B4-BE49-F238E27FC236}">
                <a16:creationId xmlns:a16="http://schemas.microsoft.com/office/drawing/2014/main" id="{041FB397-378F-476F-97A2-24AF8258C110}"/>
              </a:ext>
            </a:extLst>
          </p:cNvPr>
          <p:cNvSpPr>
            <a:spLocks noGrp="1"/>
          </p:cNvSpPr>
          <p:nvPr>
            <p:ph type="ftr" sz="quarter" idx="11"/>
          </p:nvPr>
        </p:nvSpPr>
        <p:spPr/>
        <p:txBody>
          <a:bodyPr/>
          <a:lstStyle/>
          <a:p>
            <a:endParaRPr lang="vi-VN"/>
          </a:p>
        </p:txBody>
      </p:sp>
      <p:sp>
        <p:nvSpPr>
          <p:cNvPr id="5" name="Chỗ dành sẵn cho Số hiệu Bản chiếu 4">
            <a:extLst>
              <a:ext uri="{FF2B5EF4-FFF2-40B4-BE49-F238E27FC236}">
                <a16:creationId xmlns:a16="http://schemas.microsoft.com/office/drawing/2014/main" id="{01DB2F8A-B207-4D73-B590-1C9BCA6C1F16}"/>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2140861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D019CFA5-4300-4497-855D-D2F78B44B24D}"/>
              </a:ext>
            </a:extLst>
          </p:cNvPr>
          <p:cNvSpPr>
            <a:spLocks noGrp="1"/>
          </p:cNvSpPr>
          <p:nvPr>
            <p:ph type="dt" sz="half" idx="10"/>
          </p:nvPr>
        </p:nvSpPr>
        <p:spPr/>
        <p:txBody>
          <a:bodyPr/>
          <a:lstStyle/>
          <a:p>
            <a:fld id="{9C6816FA-DA8A-46A1-935B-81637D3DCF4F}" type="datetime1">
              <a:rPr lang="vi-VN" smtClean="0"/>
              <a:t>23/9/26</a:t>
            </a:fld>
            <a:endParaRPr lang="vi-VN"/>
          </a:p>
        </p:txBody>
      </p:sp>
      <p:sp>
        <p:nvSpPr>
          <p:cNvPr id="3" name="Chỗ dành sẵn cho Chân trang 2">
            <a:extLst>
              <a:ext uri="{FF2B5EF4-FFF2-40B4-BE49-F238E27FC236}">
                <a16:creationId xmlns:a16="http://schemas.microsoft.com/office/drawing/2014/main" id="{8A3CE94B-F3BD-4EA3-A014-339D5F8BD5CF}"/>
              </a:ext>
            </a:extLst>
          </p:cNvPr>
          <p:cNvSpPr>
            <a:spLocks noGrp="1"/>
          </p:cNvSpPr>
          <p:nvPr>
            <p:ph type="ftr" sz="quarter" idx="11"/>
          </p:nvPr>
        </p:nvSpPr>
        <p:spPr/>
        <p:txBody>
          <a:bodyPr/>
          <a:lstStyle/>
          <a:p>
            <a:endParaRPr lang="vi-VN"/>
          </a:p>
        </p:txBody>
      </p:sp>
      <p:sp>
        <p:nvSpPr>
          <p:cNvPr id="4" name="Chỗ dành sẵn cho Số hiệu Bản chiếu 3">
            <a:extLst>
              <a:ext uri="{FF2B5EF4-FFF2-40B4-BE49-F238E27FC236}">
                <a16:creationId xmlns:a16="http://schemas.microsoft.com/office/drawing/2014/main" id="{9BDB017B-2A0B-4625-8D88-E7B81FF5336D}"/>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1109625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FAB6530-5BFA-4B78-BAFA-8DDE7EA72FC0}"/>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a:extLst>
              <a:ext uri="{FF2B5EF4-FFF2-40B4-BE49-F238E27FC236}">
                <a16:creationId xmlns:a16="http://schemas.microsoft.com/office/drawing/2014/main" id="{CCF86F9F-15C6-4351-A589-FCB4FC2686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Văn bản 3">
            <a:extLst>
              <a:ext uri="{FF2B5EF4-FFF2-40B4-BE49-F238E27FC236}">
                <a16:creationId xmlns:a16="http://schemas.microsoft.com/office/drawing/2014/main" id="{058C7C77-0C4C-408A-B92A-322BA7F5F0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DBC9DC99-427F-4FA4-9ADB-DD6F40A9E442}"/>
              </a:ext>
            </a:extLst>
          </p:cNvPr>
          <p:cNvSpPr>
            <a:spLocks noGrp="1"/>
          </p:cNvSpPr>
          <p:nvPr>
            <p:ph type="dt" sz="half" idx="10"/>
          </p:nvPr>
        </p:nvSpPr>
        <p:spPr/>
        <p:txBody>
          <a:bodyPr/>
          <a:lstStyle/>
          <a:p>
            <a:fld id="{E74DEEF0-E224-4B78-9425-C6F80B2F1143}" type="datetime1">
              <a:rPr lang="vi-VN" smtClean="0"/>
              <a:t>23/9/26</a:t>
            </a:fld>
            <a:endParaRPr lang="vi-VN"/>
          </a:p>
        </p:txBody>
      </p:sp>
      <p:sp>
        <p:nvSpPr>
          <p:cNvPr id="6" name="Chỗ dành sẵn cho Chân trang 5">
            <a:extLst>
              <a:ext uri="{FF2B5EF4-FFF2-40B4-BE49-F238E27FC236}">
                <a16:creationId xmlns:a16="http://schemas.microsoft.com/office/drawing/2014/main" id="{68396942-938D-4A49-A62C-DB5E58C21A3B}"/>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E06AF21A-36C2-40E0-94FD-EA0E9FB2EB39}"/>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3759656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301AA81-85A7-4AE6-855A-B7FAFC2B38E9}"/>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a:extLst>
              <a:ext uri="{FF2B5EF4-FFF2-40B4-BE49-F238E27FC236}">
                <a16:creationId xmlns:a16="http://schemas.microsoft.com/office/drawing/2014/main" id="{22C34202-787D-471B-A284-ACCC756812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a:extLst>
              <a:ext uri="{FF2B5EF4-FFF2-40B4-BE49-F238E27FC236}">
                <a16:creationId xmlns:a16="http://schemas.microsoft.com/office/drawing/2014/main" id="{7F11EC97-D276-47CC-8BCE-536F1F2DE2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8BB0E528-3994-4676-887A-B2A8650394DB}"/>
              </a:ext>
            </a:extLst>
          </p:cNvPr>
          <p:cNvSpPr>
            <a:spLocks noGrp="1"/>
          </p:cNvSpPr>
          <p:nvPr>
            <p:ph type="dt" sz="half" idx="10"/>
          </p:nvPr>
        </p:nvSpPr>
        <p:spPr/>
        <p:txBody>
          <a:bodyPr/>
          <a:lstStyle/>
          <a:p>
            <a:fld id="{7EFCE8C9-A9C3-4798-8CE0-26142FD84B4C}" type="datetime1">
              <a:rPr lang="vi-VN" smtClean="0"/>
              <a:t>23/9/26</a:t>
            </a:fld>
            <a:endParaRPr lang="vi-VN"/>
          </a:p>
        </p:txBody>
      </p:sp>
      <p:sp>
        <p:nvSpPr>
          <p:cNvPr id="6" name="Chỗ dành sẵn cho Chân trang 5">
            <a:extLst>
              <a:ext uri="{FF2B5EF4-FFF2-40B4-BE49-F238E27FC236}">
                <a16:creationId xmlns:a16="http://schemas.microsoft.com/office/drawing/2014/main" id="{E6F8D4F5-69B2-48CF-8BDC-B697627DDB3A}"/>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182F01CB-0761-41F7-8BEE-B0F85FED7D74}"/>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405465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B464E48-B581-40BF-93D5-83DB4EF005EB}"/>
              </a:ext>
            </a:extLst>
          </p:cNvPr>
          <p:cNvSpPr>
            <a:spLocks noGrp="1"/>
          </p:cNvSpPr>
          <p:nvPr>
            <p:ph type="title"/>
          </p:nvPr>
        </p:nvSpPr>
        <p:spPr/>
        <p:txBody>
          <a:bodyPr/>
          <a:lstStyle/>
          <a:p>
            <a:r>
              <a:rPr lang="vi-VN"/>
              <a:t>Bấm để sửa kiểu tiêu đề Bản cái</a:t>
            </a:r>
          </a:p>
        </p:txBody>
      </p:sp>
      <p:sp>
        <p:nvSpPr>
          <p:cNvPr id="3" name="Chỗ dành sẵn cho Văn bản Dọc 2">
            <a:extLst>
              <a:ext uri="{FF2B5EF4-FFF2-40B4-BE49-F238E27FC236}">
                <a16:creationId xmlns:a16="http://schemas.microsoft.com/office/drawing/2014/main" id="{58DE2AE1-7C63-4442-A208-DCBD9176BFF9}"/>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4D5D391E-E8C8-4EFD-A5DB-00E6119BEC10}"/>
              </a:ext>
            </a:extLst>
          </p:cNvPr>
          <p:cNvSpPr>
            <a:spLocks noGrp="1"/>
          </p:cNvSpPr>
          <p:nvPr>
            <p:ph type="dt" sz="half" idx="10"/>
          </p:nvPr>
        </p:nvSpPr>
        <p:spPr/>
        <p:txBody>
          <a:bodyPr/>
          <a:lstStyle/>
          <a:p>
            <a:fld id="{359BE2F6-B0D3-466A-82B2-ABEFC48B3338}" type="datetime1">
              <a:rPr lang="vi-VN" smtClean="0"/>
              <a:t>23/9/26</a:t>
            </a:fld>
            <a:endParaRPr lang="vi-VN"/>
          </a:p>
        </p:txBody>
      </p:sp>
      <p:sp>
        <p:nvSpPr>
          <p:cNvPr id="5" name="Chỗ dành sẵn cho Chân trang 4">
            <a:extLst>
              <a:ext uri="{FF2B5EF4-FFF2-40B4-BE49-F238E27FC236}">
                <a16:creationId xmlns:a16="http://schemas.microsoft.com/office/drawing/2014/main" id="{4B0928B0-4D02-44C8-920F-49E2F7BC392A}"/>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7C429E5E-68EC-41B2-AE5E-558FC8C13332}"/>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4149520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265135BA-1892-4F5F-8BA9-43936E428327}"/>
              </a:ext>
            </a:extLst>
          </p:cNvPr>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a:extLst>
              <a:ext uri="{FF2B5EF4-FFF2-40B4-BE49-F238E27FC236}">
                <a16:creationId xmlns:a16="http://schemas.microsoft.com/office/drawing/2014/main" id="{F50FD219-85BA-47CA-A367-05D50FA0AA2F}"/>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8409665D-BCE3-4A48-924C-7D65F09BE412}"/>
              </a:ext>
            </a:extLst>
          </p:cNvPr>
          <p:cNvSpPr>
            <a:spLocks noGrp="1"/>
          </p:cNvSpPr>
          <p:nvPr>
            <p:ph type="dt" sz="half" idx="10"/>
          </p:nvPr>
        </p:nvSpPr>
        <p:spPr/>
        <p:txBody>
          <a:bodyPr/>
          <a:lstStyle/>
          <a:p>
            <a:fld id="{BC74DA87-581A-4368-87FF-97BD13CE399D}" type="datetime1">
              <a:rPr lang="vi-VN" smtClean="0"/>
              <a:t>23/9/26</a:t>
            </a:fld>
            <a:endParaRPr lang="vi-VN"/>
          </a:p>
        </p:txBody>
      </p:sp>
      <p:sp>
        <p:nvSpPr>
          <p:cNvPr id="5" name="Chỗ dành sẵn cho Chân trang 4">
            <a:extLst>
              <a:ext uri="{FF2B5EF4-FFF2-40B4-BE49-F238E27FC236}">
                <a16:creationId xmlns:a16="http://schemas.microsoft.com/office/drawing/2014/main" id="{7D371709-9056-443A-A027-801FA2BC5D14}"/>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CC65B05A-913F-4031-B997-C3A362DEA26B}"/>
              </a:ext>
            </a:extLst>
          </p:cNvPr>
          <p:cNvSpPr>
            <a:spLocks noGrp="1"/>
          </p:cNvSpPr>
          <p:nvPr>
            <p:ph type="sldNum" sz="quarter" idx="12"/>
          </p:nvPr>
        </p:nvSpPr>
        <p:spPr/>
        <p:txBody>
          <a:bodyPr/>
          <a:lstStyle/>
          <a:p>
            <a:fld id="{71331178-9F85-4EDF-BDD3-1E7064DA4C59}" type="slidenum">
              <a:rPr lang="vi-VN" smtClean="0"/>
              <a:t>‹#›</a:t>
            </a:fld>
            <a:endParaRPr lang="vi-VN"/>
          </a:p>
        </p:txBody>
      </p:sp>
    </p:spTree>
    <p:extLst>
      <p:ext uri="{BB962C8B-B14F-4D97-AF65-F5344CB8AC3E}">
        <p14:creationId xmlns:p14="http://schemas.microsoft.com/office/powerpoint/2010/main" val="1465544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A6C3BC26-C104-4EB0-B9AE-2A85E9E48E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a:extLst>
              <a:ext uri="{FF2B5EF4-FFF2-40B4-BE49-F238E27FC236}">
                <a16:creationId xmlns:a16="http://schemas.microsoft.com/office/drawing/2014/main" id="{0C32949E-5E5C-466F-9E49-642FDBDE72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EEA77896-A215-4959-99FB-F4F26F14B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3E2CA6-4B42-4742-895B-98FFB0FAE4AD}" type="datetime1">
              <a:rPr lang="vi-VN" smtClean="0"/>
              <a:t>23/9/26</a:t>
            </a:fld>
            <a:endParaRPr lang="vi-VN"/>
          </a:p>
        </p:txBody>
      </p:sp>
      <p:sp>
        <p:nvSpPr>
          <p:cNvPr id="5" name="Chỗ dành sẵn cho Chân trang 4">
            <a:extLst>
              <a:ext uri="{FF2B5EF4-FFF2-40B4-BE49-F238E27FC236}">
                <a16:creationId xmlns:a16="http://schemas.microsoft.com/office/drawing/2014/main" id="{63128FEA-EA3A-4D0B-874A-417C160062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Chỗ dành sẵn cho Số hiệu Bản chiếu 5">
            <a:extLst>
              <a:ext uri="{FF2B5EF4-FFF2-40B4-BE49-F238E27FC236}">
                <a16:creationId xmlns:a16="http://schemas.microsoft.com/office/drawing/2014/main" id="{FE48E849-C77C-466C-BFCD-EA23E387CB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331178-9F85-4EDF-BDD3-1E7064DA4C59}" type="slidenum">
              <a:rPr lang="vi-VN" smtClean="0"/>
              <a:t>‹#›</a:t>
            </a:fld>
            <a:endParaRPr lang="vi-VN"/>
          </a:p>
        </p:txBody>
      </p:sp>
    </p:spTree>
    <p:extLst>
      <p:ext uri="{BB962C8B-B14F-4D97-AF65-F5344CB8AC3E}">
        <p14:creationId xmlns:p14="http://schemas.microsoft.com/office/powerpoint/2010/main" val="3793359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16.png"/><Relationship Id="rId3" Type="http://schemas.openxmlformats.org/officeDocument/2006/relationships/image" Target="../media/image14.png"/><Relationship Id="rId7" Type="http://schemas.openxmlformats.org/officeDocument/2006/relationships/image" Target="../media/image20.png"/><Relationship Id="rId12"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6.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2.gif"/><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gif"/></Relationships>
</file>

<file path=ppt/slides/_rels/slide7.xml.rels><?xml version="1.0" encoding="UTF-8" standalone="yes"?>
<Relationships xmlns="http://schemas.openxmlformats.org/package/2006/relationships"><Relationship Id="rId2" Type="http://schemas.openxmlformats.org/officeDocument/2006/relationships/image" Target="../media/image25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261.png"/><Relationship Id="rId5" Type="http://schemas.openxmlformats.org/officeDocument/2006/relationships/image" Target="../media/image120.png"/><Relationship Id="rId4" Type="http://schemas.openxmlformats.org/officeDocument/2006/relationships/image" Target="../media/image111.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30.png"/><Relationship Id="rId7" Type="http://schemas.openxmlformats.org/officeDocument/2006/relationships/image" Target="../media/image311.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180.png"/><Relationship Id="rId10" Type="http://schemas.openxmlformats.org/officeDocument/2006/relationships/image" Target="../media/image33.png"/><Relationship Id="rId4" Type="http://schemas.openxmlformats.org/officeDocument/2006/relationships/image" Target="../media/image1710.png"/><Relationship Id="rId9"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270.png"/><Relationship Id="rId13" Type="http://schemas.openxmlformats.org/officeDocument/2006/relationships/image" Target="../media/image320.png"/><Relationship Id="rId3" Type="http://schemas.openxmlformats.org/officeDocument/2006/relationships/image" Target="../media/image35.png"/><Relationship Id="rId7" Type="http://schemas.openxmlformats.org/officeDocument/2006/relationships/image" Target="../media/image260.png"/><Relationship Id="rId12" Type="http://schemas.openxmlformats.org/officeDocument/2006/relationships/image" Target="../media/image310.png"/><Relationship Id="rId2" Type="http://schemas.openxmlformats.org/officeDocument/2006/relationships/image" Target="../media/image1611.png"/><Relationship Id="rId1" Type="http://schemas.openxmlformats.org/officeDocument/2006/relationships/slideLayout" Target="../slideLayouts/slideLayout2.xml"/><Relationship Id="rId6" Type="http://schemas.openxmlformats.org/officeDocument/2006/relationships/image" Target="../media/image250.png"/><Relationship Id="rId11" Type="http://schemas.openxmlformats.org/officeDocument/2006/relationships/image" Target="../media/image300.png"/><Relationship Id="rId5" Type="http://schemas.openxmlformats.org/officeDocument/2006/relationships/image" Target="../media/image240.png"/><Relationship Id="rId10" Type="http://schemas.openxmlformats.org/officeDocument/2006/relationships/image" Target="../media/image290.png"/><Relationship Id="rId4" Type="http://schemas.openxmlformats.org/officeDocument/2006/relationships/image" Target="../media/image230.png"/><Relationship Id="rId9" Type="http://schemas.openxmlformats.org/officeDocument/2006/relationships/image" Target="../media/image280.png"/><Relationship Id="rId14" Type="http://schemas.openxmlformats.org/officeDocument/2006/relationships/image" Target="../media/image330.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0.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3.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18" Type="http://schemas.openxmlformats.org/officeDocument/2006/relationships/image" Target="../media/image62.png"/><Relationship Id="rId26" Type="http://schemas.openxmlformats.org/officeDocument/2006/relationships/image" Target="../media/image70.png"/><Relationship Id="rId3" Type="http://schemas.openxmlformats.org/officeDocument/2006/relationships/image" Target="../media/image47.png"/><Relationship Id="rId21" Type="http://schemas.openxmlformats.org/officeDocument/2006/relationships/image" Target="../media/image65.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5" Type="http://schemas.openxmlformats.org/officeDocument/2006/relationships/image" Target="../media/image69.png"/><Relationship Id="rId2" Type="http://schemas.openxmlformats.org/officeDocument/2006/relationships/image" Target="../media/image46.png"/><Relationship Id="rId16"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png"/><Relationship Id="rId24" Type="http://schemas.openxmlformats.org/officeDocument/2006/relationships/image" Target="../media/image68.png"/><Relationship Id="rId5" Type="http://schemas.openxmlformats.org/officeDocument/2006/relationships/image" Target="../media/image49.png"/><Relationship Id="rId15" Type="http://schemas.openxmlformats.org/officeDocument/2006/relationships/image" Target="../media/image59.png"/><Relationship Id="rId23" Type="http://schemas.openxmlformats.org/officeDocument/2006/relationships/image" Target="../media/image67.png"/><Relationship Id="rId10" Type="http://schemas.openxmlformats.org/officeDocument/2006/relationships/image" Target="../media/image54.png"/><Relationship Id="rId19" Type="http://schemas.openxmlformats.org/officeDocument/2006/relationships/image" Target="../media/image63.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png"/><Relationship Id="rId27" Type="http://schemas.openxmlformats.org/officeDocument/2006/relationships/image" Target="../media/image64.png"/></Relationships>
</file>

<file path=ppt/slides/_rels/slide14.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s>
</file>

<file path=ppt/slides/_rels/slide15.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2.png"/><Relationship Id="rId3" Type="http://schemas.openxmlformats.org/officeDocument/2006/relationships/image" Target="../media/image81.png"/><Relationship Id="rId7" Type="http://schemas.openxmlformats.org/officeDocument/2006/relationships/image" Target="../media/image85.png"/><Relationship Id="rId12" Type="http://schemas.openxmlformats.org/officeDocument/2006/relationships/image" Target="../media/image91.png"/><Relationship Id="rId17" Type="http://schemas.openxmlformats.org/officeDocument/2006/relationships/image" Target="../media/image96.png"/><Relationship Id="rId2" Type="http://schemas.openxmlformats.org/officeDocument/2006/relationships/notesSlide" Target="../notesSlides/notesSlide2.xml"/><Relationship Id="rId16"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94.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image" Target="../media/image93.png"/></Relationships>
</file>

<file path=ppt/slides/_rels/slide16.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png"/><Relationship Id="rId18" Type="http://schemas.openxmlformats.org/officeDocument/2006/relationships/image" Target="../media/image115.png"/><Relationship Id="rId26" Type="http://schemas.openxmlformats.org/officeDocument/2006/relationships/image" Target="../media/image124.png"/><Relationship Id="rId3" Type="http://schemas.openxmlformats.org/officeDocument/2006/relationships/image" Target="../media/image97.png"/><Relationship Id="rId21" Type="http://schemas.openxmlformats.org/officeDocument/2006/relationships/image" Target="../media/image118.png"/><Relationship Id="rId7" Type="http://schemas.openxmlformats.org/officeDocument/2006/relationships/image" Target="../media/image102.png"/><Relationship Id="rId12" Type="http://schemas.openxmlformats.org/officeDocument/2006/relationships/image" Target="../media/image107.png"/><Relationship Id="rId17" Type="http://schemas.openxmlformats.org/officeDocument/2006/relationships/image" Target="../media/image114.png"/><Relationship Id="rId25" Type="http://schemas.openxmlformats.org/officeDocument/2006/relationships/image" Target="../media/image123.png"/><Relationship Id="rId2" Type="http://schemas.openxmlformats.org/officeDocument/2006/relationships/notesSlide" Target="../notesSlides/notesSlide3.xml"/><Relationship Id="rId16" Type="http://schemas.openxmlformats.org/officeDocument/2006/relationships/image" Target="../media/image113.png"/><Relationship Id="rId20" Type="http://schemas.openxmlformats.org/officeDocument/2006/relationships/image" Target="../media/image117.png"/><Relationship Id="rId29"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22.png"/><Relationship Id="rId32" Type="http://schemas.openxmlformats.org/officeDocument/2006/relationships/image" Target="../media/image131.png"/><Relationship Id="rId5" Type="http://schemas.openxmlformats.org/officeDocument/2006/relationships/image" Target="../media/image99.png"/><Relationship Id="rId15" Type="http://schemas.openxmlformats.org/officeDocument/2006/relationships/image" Target="../media/image112.png"/><Relationship Id="rId23" Type="http://schemas.openxmlformats.org/officeDocument/2006/relationships/image" Target="../media/image121.png"/><Relationship Id="rId28" Type="http://schemas.openxmlformats.org/officeDocument/2006/relationships/image" Target="../media/image126.png"/><Relationship Id="rId10" Type="http://schemas.openxmlformats.org/officeDocument/2006/relationships/image" Target="../media/image105.png"/><Relationship Id="rId19" Type="http://schemas.openxmlformats.org/officeDocument/2006/relationships/image" Target="../media/image116.png"/><Relationship Id="rId31" Type="http://schemas.openxmlformats.org/officeDocument/2006/relationships/image" Target="../media/image129.png"/><Relationship Id="rId4" Type="http://schemas.openxmlformats.org/officeDocument/2006/relationships/image" Target="../media/image98.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9.png"/><Relationship Id="rId27" Type="http://schemas.openxmlformats.org/officeDocument/2006/relationships/image" Target="../media/image125.png"/><Relationship Id="rId30" Type="http://schemas.openxmlformats.org/officeDocument/2006/relationships/image" Target="../media/image128.png"/></Relationships>
</file>

<file path=ppt/slides/_rels/slide17.xml.rels><?xml version="1.0" encoding="UTF-8" standalone="yes"?>
<Relationships xmlns="http://schemas.openxmlformats.org/package/2006/relationships"><Relationship Id="rId8" Type="http://schemas.openxmlformats.org/officeDocument/2006/relationships/image" Target="../media/image1090.png"/><Relationship Id="rId3" Type="http://schemas.openxmlformats.org/officeDocument/2006/relationships/image" Target="../media/image132.png"/><Relationship Id="rId7" Type="http://schemas.openxmlformats.org/officeDocument/2006/relationships/image" Target="../media/image1080.png"/><Relationship Id="rId12" Type="http://schemas.openxmlformats.org/officeDocument/2006/relationships/image" Target="../media/image115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5.png"/><Relationship Id="rId11" Type="http://schemas.openxmlformats.org/officeDocument/2006/relationships/image" Target="../media/image1140.png"/><Relationship Id="rId5" Type="http://schemas.openxmlformats.org/officeDocument/2006/relationships/image" Target="../media/image134.png"/><Relationship Id="rId10" Type="http://schemas.openxmlformats.org/officeDocument/2006/relationships/image" Target="../media/image1130.png"/><Relationship Id="rId4" Type="http://schemas.openxmlformats.org/officeDocument/2006/relationships/image" Target="../media/image133.png"/><Relationship Id="rId9" Type="http://schemas.openxmlformats.org/officeDocument/2006/relationships/image" Target="../media/image1120.png"/></Relationships>
</file>

<file path=ppt/slides/_rels/slide1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510.png"/><Relationship Id="rId1" Type="http://schemas.openxmlformats.org/officeDocument/2006/relationships/slideLayout" Target="../slideLayouts/slideLayout2.xml"/><Relationship Id="rId4" Type="http://schemas.openxmlformats.org/officeDocument/2006/relationships/image" Target="../media/image281.png"/></Relationships>
</file>

<file path=ppt/slides/_rels/slide19.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136.png"/><Relationship Id="rId7" Type="http://schemas.openxmlformats.org/officeDocument/2006/relationships/image" Target="../media/image700.pn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 Id="rId9" Type="http://schemas.openxmlformats.org/officeDocument/2006/relationships/image" Target="../media/image141.png"/></Relationships>
</file>

<file path=ppt/slides/_rels/slide20.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2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820.png"/><Relationship Id="rId13" Type="http://schemas.openxmlformats.org/officeDocument/2006/relationships/image" Target="../media/image870.png"/><Relationship Id="rId3" Type="http://schemas.openxmlformats.org/officeDocument/2006/relationships/image" Target="../media/image750.png"/><Relationship Id="rId7" Type="http://schemas.openxmlformats.org/officeDocument/2006/relationships/image" Target="../media/image810.png"/><Relationship Id="rId12" Type="http://schemas.openxmlformats.org/officeDocument/2006/relationships/image" Target="../media/image157.png"/><Relationship Id="rId2" Type="http://schemas.openxmlformats.org/officeDocument/2006/relationships/image" Target="../media/image740.png"/><Relationship Id="rId16" Type="http://schemas.openxmlformats.org/officeDocument/2006/relationships/image" Target="../media/image158.png"/><Relationship Id="rId1" Type="http://schemas.openxmlformats.org/officeDocument/2006/relationships/slideLayout" Target="../slideLayouts/slideLayout2.xml"/><Relationship Id="rId6" Type="http://schemas.openxmlformats.org/officeDocument/2006/relationships/image" Target="../media/image1361.png"/><Relationship Id="rId11" Type="http://schemas.openxmlformats.org/officeDocument/2006/relationships/image" Target="../media/image850.png"/><Relationship Id="rId5" Type="http://schemas.openxmlformats.org/officeDocument/2006/relationships/image" Target="../media/image34.png"/><Relationship Id="rId15" Type="http://schemas.openxmlformats.org/officeDocument/2006/relationships/image" Target="../media/image890.png"/><Relationship Id="rId10" Type="http://schemas.openxmlformats.org/officeDocument/2006/relationships/image" Target="../media/image840.png"/><Relationship Id="rId4" Type="http://schemas.openxmlformats.org/officeDocument/2006/relationships/image" Target="../media/image760.png"/><Relationship Id="rId9" Type="http://schemas.openxmlformats.org/officeDocument/2006/relationships/image" Target="../media/image830.png"/><Relationship Id="rId14" Type="http://schemas.openxmlformats.org/officeDocument/2006/relationships/image" Target="../media/image880.png"/></Relationships>
</file>

<file path=ppt/slides/_rels/slide23.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491.png"/><Relationship Id="rId3" Type="http://schemas.openxmlformats.org/officeDocument/2006/relationships/image" Target="../media/image1391.png"/><Relationship Id="rId7" Type="http://schemas.openxmlformats.org/officeDocument/2006/relationships/image" Target="../media/image1431.png"/><Relationship Id="rId12" Type="http://schemas.openxmlformats.org/officeDocument/2006/relationships/image" Target="../media/image1481.png"/><Relationship Id="rId2" Type="http://schemas.openxmlformats.org/officeDocument/2006/relationships/image" Target="../media/image1381.png"/><Relationship Id="rId1" Type="http://schemas.openxmlformats.org/officeDocument/2006/relationships/slideLayout" Target="../slideLayouts/slideLayout2.xml"/><Relationship Id="rId6" Type="http://schemas.openxmlformats.org/officeDocument/2006/relationships/image" Target="../media/image1421.png"/><Relationship Id="rId11" Type="http://schemas.openxmlformats.org/officeDocument/2006/relationships/image" Target="../media/image1471.png"/><Relationship Id="rId5" Type="http://schemas.openxmlformats.org/officeDocument/2006/relationships/image" Target="../media/image1411.png"/><Relationship Id="rId15" Type="http://schemas.openxmlformats.org/officeDocument/2006/relationships/image" Target="../media/image1511.png"/><Relationship Id="rId10" Type="http://schemas.openxmlformats.org/officeDocument/2006/relationships/image" Target="../media/image1461.png"/><Relationship Id="rId4" Type="http://schemas.openxmlformats.org/officeDocument/2006/relationships/image" Target="../media/image1401.png"/><Relationship Id="rId9" Type="http://schemas.openxmlformats.org/officeDocument/2006/relationships/image" Target="../media/image160.png"/><Relationship Id="rId14" Type="http://schemas.openxmlformats.org/officeDocument/2006/relationships/image" Target="../media/image161.png"/></Relationships>
</file>

<file path=ppt/slides/_rels/slide24.xml.rels><?xml version="1.0" encoding="UTF-8" standalone="yes"?>
<Relationships xmlns="http://schemas.openxmlformats.org/package/2006/relationships"><Relationship Id="rId3" Type="http://schemas.openxmlformats.org/officeDocument/2006/relationships/image" Target="../media/image930.png"/><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010.png"/><Relationship Id="rId3" Type="http://schemas.openxmlformats.org/officeDocument/2006/relationships/image" Target="../media/image950.png"/><Relationship Id="rId7" Type="http://schemas.openxmlformats.org/officeDocument/2006/relationships/image" Target="../media/image99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80.png"/><Relationship Id="rId11" Type="http://schemas.openxmlformats.org/officeDocument/2006/relationships/image" Target="../media/image1531.png"/><Relationship Id="rId10" Type="http://schemas.openxmlformats.org/officeDocument/2006/relationships/image" Target="../media/image1030.png"/><Relationship Id="rId4" Type="http://schemas.openxmlformats.org/officeDocument/2006/relationships/image" Target="../media/image960.png"/><Relationship Id="rId9" Type="http://schemas.openxmlformats.org/officeDocument/2006/relationships/image" Target="../media/image1020.png"/></Relationships>
</file>

<file path=ppt/slides/_rels/slide26.xml.rels><?xml version="1.0" encoding="UTF-8" standalone="yes"?>
<Relationships xmlns="http://schemas.openxmlformats.org/package/2006/relationships"><Relationship Id="rId8" Type="http://schemas.openxmlformats.org/officeDocument/2006/relationships/image" Target="../media/image1591.png"/><Relationship Id="rId13" Type="http://schemas.openxmlformats.org/officeDocument/2006/relationships/image" Target="../media/image164.png"/><Relationship Id="rId18" Type="http://schemas.openxmlformats.org/officeDocument/2006/relationships/image" Target="../media/image169.png"/><Relationship Id="rId3" Type="http://schemas.openxmlformats.org/officeDocument/2006/relationships/image" Target="../media/image1541.png"/><Relationship Id="rId21" Type="http://schemas.openxmlformats.org/officeDocument/2006/relationships/image" Target="../media/image172.png"/><Relationship Id="rId7" Type="http://schemas.openxmlformats.org/officeDocument/2006/relationships/image" Target="../media/image1581.png"/><Relationship Id="rId12" Type="http://schemas.openxmlformats.org/officeDocument/2006/relationships/image" Target="../media/image163.png"/><Relationship Id="rId17" Type="http://schemas.openxmlformats.org/officeDocument/2006/relationships/image" Target="../media/image168.png"/><Relationship Id="rId2" Type="http://schemas.openxmlformats.org/officeDocument/2006/relationships/notesSlide" Target="../notesSlides/notesSlide7.xml"/><Relationship Id="rId16" Type="http://schemas.openxmlformats.org/officeDocument/2006/relationships/image" Target="../media/image167.png"/><Relationship Id="rId20" Type="http://schemas.openxmlformats.org/officeDocument/2006/relationships/image" Target="../media/image171.png"/><Relationship Id="rId1" Type="http://schemas.openxmlformats.org/officeDocument/2006/relationships/slideLayout" Target="../slideLayouts/slideLayout2.xml"/><Relationship Id="rId6" Type="http://schemas.openxmlformats.org/officeDocument/2006/relationships/image" Target="../media/image1571.png"/><Relationship Id="rId11" Type="http://schemas.openxmlformats.org/officeDocument/2006/relationships/image" Target="../media/image162.png"/><Relationship Id="rId5" Type="http://schemas.openxmlformats.org/officeDocument/2006/relationships/image" Target="../media/image1561.png"/><Relationship Id="rId15" Type="http://schemas.openxmlformats.org/officeDocument/2006/relationships/image" Target="../media/image166.png"/><Relationship Id="rId23" Type="http://schemas.openxmlformats.org/officeDocument/2006/relationships/image" Target="../media/image174.png"/><Relationship Id="rId10" Type="http://schemas.openxmlformats.org/officeDocument/2006/relationships/image" Target="../media/image1612.png"/><Relationship Id="rId19" Type="http://schemas.openxmlformats.org/officeDocument/2006/relationships/image" Target="../media/image170.png"/><Relationship Id="rId4" Type="http://schemas.openxmlformats.org/officeDocument/2006/relationships/image" Target="../media/image1551.png"/><Relationship Id="rId9" Type="http://schemas.openxmlformats.org/officeDocument/2006/relationships/image" Target="../media/image1601.png"/><Relationship Id="rId14" Type="http://schemas.openxmlformats.org/officeDocument/2006/relationships/image" Target="../media/image165.png"/><Relationship Id="rId22" Type="http://schemas.openxmlformats.org/officeDocument/2006/relationships/image" Target="../media/image173.png"/></Relationships>
</file>

<file path=ppt/slides/_rels/slide27.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6.png"/><Relationship Id="rId18" Type="http://schemas.openxmlformats.org/officeDocument/2006/relationships/image" Target="../media/image191.png"/><Relationship Id="rId26" Type="http://schemas.openxmlformats.org/officeDocument/2006/relationships/image" Target="../media/image199.png"/><Relationship Id="rId3" Type="http://schemas.openxmlformats.org/officeDocument/2006/relationships/image" Target="../media/image175.png"/><Relationship Id="rId21" Type="http://schemas.openxmlformats.org/officeDocument/2006/relationships/image" Target="../media/image194.png"/><Relationship Id="rId7" Type="http://schemas.openxmlformats.org/officeDocument/2006/relationships/image" Target="../media/image179.png"/><Relationship Id="rId12" Type="http://schemas.openxmlformats.org/officeDocument/2006/relationships/image" Target="../media/image185.png"/><Relationship Id="rId17" Type="http://schemas.openxmlformats.org/officeDocument/2006/relationships/image" Target="../media/image190.png"/><Relationship Id="rId25" Type="http://schemas.openxmlformats.org/officeDocument/2006/relationships/image" Target="../media/image198.png"/><Relationship Id="rId2" Type="http://schemas.openxmlformats.org/officeDocument/2006/relationships/notesSlide" Target="../notesSlides/notesSlide8.xml"/><Relationship Id="rId16" Type="http://schemas.openxmlformats.org/officeDocument/2006/relationships/image" Target="../media/image189.png"/><Relationship Id="rId20" Type="http://schemas.openxmlformats.org/officeDocument/2006/relationships/image" Target="../media/image193.png"/><Relationship Id="rId1" Type="http://schemas.openxmlformats.org/officeDocument/2006/relationships/slideLayout" Target="../slideLayouts/slideLayout2.xml"/><Relationship Id="rId6" Type="http://schemas.openxmlformats.org/officeDocument/2006/relationships/image" Target="../media/image178.png"/><Relationship Id="rId11" Type="http://schemas.openxmlformats.org/officeDocument/2006/relationships/image" Target="../media/image184.png"/><Relationship Id="rId24" Type="http://schemas.openxmlformats.org/officeDocument/2006/relationships/image" Target="../media/image197.png"/><Relationship Id="rId5" Type="http://schemas.openxmlformats.org/officeDocument/2006/relationships/image" Target="../media/image177.png"/><Relationship Id="rId15" Type="http://schemas.openxmlformats.org/officeDocument/2006/relationships/image" Target="../media/image188.png"/><Relationship Id="rId23" Type="http://schemas.openxmlformats.org/officeDocument/2006/relationships/image" Target="../media/image196.png"/><Relationship Id="rId28" Type="http://schemas.openxmlformats.org/officeDocument/2006/relationships/image" Target="../media/image201.png"/><Relationship Id="rId10" Type="http://schemas.openxmlformats.org/officeDocument/2006/relationships/image" Target="../media/image183.png"/><Relationship Id="rId19" Type="http://schemas.openxmlformats.org/officeDocument/2006/relationships/image" Target="../media/image192.png"/><Relationship Id="rId4" Type="http://schemas.openxmlformats.org/officeDocument/2006/relationships/image" Target="../media/image176.png"/><Relationship Id="rId9" Type="http://schemas.openxmlformats.org/officeDocument/2006/relationships/image" Target="../media/image182.png"/><Relationship Id="rId14" Type="http://schemas.openxmlformats.org/officeDocument/2006/relationships/image" Target="../media/image187.png"/><Relationship Id="rId22" Type="http://schemas.openxmlformats.org/officeDocument/2006/relationships/image" Target="../media/image195.png"/><Relationship Id="rId27" Type="http://schemas.openxmlformats.org/officeDocument/2006/relationships/image" Target="../media/image200.png"/></Relationships>
</file>

<file path=ppt/slides/_rels/slide28.xml.rels><?xml version="1.0" encoding="UTF-8" standalone="yes"?>
<Relationships xmlns="http://schemas.openxmlformats.org/package/2006/relationships"><Relationship Id="rId3" Type="http://schemas.openxmlformats.org/officeDocument/2006/relationships/image" Target="../media/image1170.png"/><Relationship Id="rId7" Type="http://schemas.openxmlformats.org/officeDocument/2006/relationships/image" Target="../media/image1220.png"/><Relationship Id="rId2" Type="http://schemas.openxmlformats.org/officeDocument/2006/relationships/image" Target="../media/image1160.png"/><Relationship Id="rId1" Type="http://schemas.openxmlformats.org/officeDocument/2006/relationships/slideLayout" Target="../slideLayouts/slideLayout2.xml"/><Relationship Id="rId6" Type="http://schemas.openxmlformats.org/officeDocument/2006/relationships/image" Target="../media/image1210.png"/><Relationship Id="rId5" Type="http://schemas.openxmlformats.org/officeDocument/2006/relationships/image" Target="../media/image1190.png"/><Relationship Id="rId4" Type="http://schemas.openxmlformats.org/officeDocument/2006/relationships/image" Target="../media/image1180.png"/></Relationships>
</file>

<file path=ppt/slides/_rels/slide29.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1230.png"/><Relationship Id="rId1" Type="http://schemas.openxmlformats.org/officeDocument/2006/relationships/slideLayout" Target="../slideLayouts/slideLayout2.xml"/><Relationship Id="rId4" Type="http://schemas.openxmlformats.org/officeDocument/2006/relationships/image" Target="../media/image1250.png"/></Relationships>
</file>

<file path=ppt/slides/_rels/slide30.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4.png"/></Relationships>
</file>

<file path=ppt/slides/_rels/slide31.xml.rels><?xml version="1.0" encoding="UTF-8" standalone="yes"?>
<Relationships xmlns="http://schemas.openxmlformats.org/package/2006/relationships"><Relationship Id="rId8" Type="http://schemas.openxmlformats.org/officeDocument/2006/relationships/image" Target="../media/image1400.png"/><Relationship Id="rId13" Type="http://schemas.openxmlformats.org/officeDocument/2006/relationships/image" Target="../media/image1450.png"/><Relationship Id="rId18" Type="http://schemas.openxmlformats.org/officeDocument/2006/relationships/image" Target="../media/image1500.png"/><Relationship Id="rId26" Type="http://schemas.openxmlformats.org/officeDocument/2006/relationships/image" Target="../media/image1580.png"/><Relationship Id="rId3" Type="http://schemas.openxmlformats.org/officeDocument/2006/relationships/image" Target="../media/image1350.png"/><Relationship Id="rId21" Type="http://schemas.openxmlformats.org/officeDocument/2006/relationships/image" Target="../media/image1530.png"/><Relationship Id="rId7" Type="http://schemas.openxmlformats.org/officeDocument/2006/relationships/image" Target="../media/image1390.png"/><Relationship Id="rId12" Type="http://schemas.openxmlformats.org/officeDocument/2006/relationships/image" Target="../media/image1440.png"/><Relationship Id="rId17" Type="http://schemas.openxmlformats.org/officeDocument/2006/relationships/image" Target="../media/image1490.png"/><Relationship Id="rId25" Type="http://schemas.openxmlformats.org/officeDocument/2006/relationships/image" Target="../media/image1570.png"/><Relationship Id="rId2" Type="http://schemas.openxmlformats.org/officeDocument/2006/relationships/image" Target="../media/image2030.png"/><Relationship Id="rId16" Type="http://schemas.openxmlformats.org/officeDocument/2006/relationships/image" Target="../media/image1480.png"/><Relationship Id="rId20" Type="http://schemas.openxmlformats.org/officeDocument/2006/relationships/image" Target="../media/image1520.png"/><Relationship Id="rId1" Type="http://schemas.openxmlformats.org/officeDocument/2006/relationships/slideLayout" Target="../slideLayouts/slideLayout2.xml"/><Relationship Id="rId6" Type="http://schemas.openxmlformats.org/officeDocument/2006/relationships/image" Target="../media/image1380.png"/><Relationship Id="rId11" Type="http://schemas.openxmlformats.org/officeDocument/2006/relationships/image" Target="../media/image1430.png"/><Relationship Id="rId24" Type="http://schemas.openxmlformats.org/officeDocument/2006/relationships/image" Target="../media/image1560.png"/><Relationship Id="rId5" Type="http://schemas.openxmlformats.org/officeDocument/2006/relationships/image" Target="../media/image1370.png"/><Relationship Id="rId15" Type="http://schemas.openxmlformats.org/officeDocument/2006/relationships/image" Target="../media/image1470.png"/><Relationship Id="rId23" Type="http://schemas.openxmlformats.org/officeDocument/2006/relationships/image" Target="../media/image1550.png"/><Relationship Id="rId10" Type="http://schemas.openxmlformats.org/officeDocument/2006/relationships/image" Target="../media/image1420.png"/><Relationship Id="rId19" Type="http://schemas.openxmlformats.org/officeDocument/2006/relationships/image" Target="../media/image1510.png"/><Relationship Id="rId4" Type="http://schemas.openxmlformats.org/officeDocument/2006/relationships/image" Target="../media/image1360.png"/><Relationship Id="rId9" Type="http://schemas.openxmlformats.org/officeDocument/2006/relationships/image" Target="../media/image1410.png"/><Relationship Id="rId14" Type="http://schemas.openxmlformats.org/officeDocument/2006/relationships/image" Target="../media/image1460.png"/><Relationship Id="rId22" Type="http://schemas.openxmlformats.org/officeDocument/2006/relationships/image" Target="../media/image1540.png"/></Relationships>
</file>

<file path=ppt/slides/_rels/slide32.xml.rels><?xml version="1.0" encoding="UTF-8" standalone="yes"?>
<Relationships xmlns="http://schemas.openxmlformats.org/package/2006/relationships"><Relationship Id="rId3" Type="http://schemas.openxmlformats.org/officeDocument/2006/relationships/image" Target="../media/image159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00.png"/></Relationships>
</file>

<file path=ppt/slides/_rels/slide33.xml.rels><?xml version="1.0" encoding="UTF-8" standalone="yes"?>
<Relationships xmlns="http://schemas.openxmlformats.org/package/2006/relationships"><Relationship Id="rId3" Type="http://schemas.openxmlformats.org/officeDocument/2006/relationships/image" Target="../media/image1620.png"/><Relationship Id="rId2" Type="http://schemas.openxmlformats.org/officeDocument/2006/relationships/image" Target="../media/image16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690.png"/><Relationship Id="rId13" Type="http://schemas.openxmlformats.org/officeDocument/2006/relationships/image" Target="../media/image1740.png"/><Relationship Id="rId18" Type="http://schemas.openxmlformats.org/officeDocument/2006/relationships/image" Target="../media/image1790.png"/><Relationship Id="rId3" Type="http://schemas.openxmlformats.org/officeDocument/2006/relationships/image" Target="../media/image1640.png"/><Relationship Id="rId7" Type="http://schemas.openxmlformats.org/officeDocument/2006/relationships/image" Target="../media/image1680.png"/><Relationship Id="rId12" Type="http://schemas.openxmlformats.org/officeDocument/2006/relationships/image" Target="../media/image1730.png"/><Relationship Id="rId17" Type="http://schemas.openxmlformats.org/officeDocument/2006/relationships/image" Target="../media/image1780.png"/><Relationship Id="rId2" Type="http://schemas.openxmlformats.org/officeDocument/2006/relationships/image" Target="../media/image1630.png"/><Relationship Id="rId16" Type="http://schemas.openxmlformats.org/officeDocument/2006/relationships/image" Target="../media/image1770.png"/><Relationship Id="rId20" Type="http://schemas.openxmlformats.org/officeDocument/2006/relationships/image" Target="../media/image1820.png"/><Relationship Id="rId1" Type="http://schemas.openxmlformats.org/officeDocument/2006/relationships/slideLayout" Target="../slideLayouts/slideLayout2.xml"/><Relationship Id="rId6" Type="http://schemas.openxmlformats.org/officeDocument/2006/relationships/image" Target="../media/image1670.png"/><Relationship Id="rId11" Type="http://schemas.openxmlformats.org/officeDocument/2006/relationships/image" Target="../media/image1720.png"/><Relationship Id="rId5" Type="http://schemas.openxmlformats.org/officeDocument/2006/relationships/image" Target="../media/image1660.png"/><Relationship Id="rId15" Type="http://schemas.openxmlformats.org/officeDocument/2006/relationships/image" Target="../media/image1760.png"/><Relationship Id="rId10" Type="http://schemas.openxmlformats.org/officeDocument/2006/relationships/image" Target="../media/image1711.png"/><Relationship Id="rId19" Type="http://schemas.openxmlformats.org/officeDocument/2006/relationships/image" Target="../media/image1811.png"/><Relationship Id="rId4" Type="http://schemas.openxmlformats.org/officeDocument/2006/relationships/image" Target="../media/image1650.png"/><Relationship Id="rId9" Type="http://schemas.openxmlformats.org/officeDocument/2006/relationships/image" Target="../media/image1700.png"/><Relationship Id="rId14" Type="http://schemas.openxmlformats.org/officeDocument/2006/relationships/image" Target="../media/image1750.png"/></Relationships>
</file>

<file path=ppt/slides/_rels/slide35.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image" Target="../media/image205.png"/><Relationship Id="rId7" Type="http://schemas.openxmlformats.org/officeDocument/2006/relationships/image" Target="../media/image209.png"/><Relationship Id="rId2" Type="http://schemas.openxmlformats.org/officeDocument/2006/relationships/image" Target="../media/image2040.png"/><Relationship Id="rId1" Type="http://schemas.openxmlformats.org/officeDocument/2006/relationships/slideLayout" Target="../slideLayouts/slideLayout2.xml"/><Relationship Id="rId6" Type="http://schemas.openxmlformats.org/officeDocument/2006/relationships/image" Target="../media/image208.png"/><Relationship Id="rId5" Type="http://schemas.openxmlformats.org/officeDocument/2006/relationships/image" Target="../media/image207.png"/><Relationship Id="rId4" Type="http://schemas.openxmlformats.org/officeDocument/2006/relationships/image" Target="../media/image206.png"/><Relationship Id="rId9" Type="http://schemas.openxmlformats.org/officeDocument/2006/relationships/image" Target="../media/image212.png"/></Relationships>
</file>

<file path=ppt/slides/_rels/slide36.xml.rels><?xml version="1.0" encoding="UTF-8" standalone="yes"?>
<Relationships xmlns="http://schemas.openxmlformats.org/package/2006/relationships"><Relationship Id="rId3" Type="http://schemas.openxmlformats.org/officeDocument/2006/relationships/image" Target="../media/image1170.png"/><Relationship Id="rId7" Type="http://schemas.openxmlformats.org/officeDocument/2006/relationships/image" Target="../media/image1860.png"/><Relationship Id="rId2" Type="http://schemas.openxmlformats.org/officeDocument/2006/relationships/image" Target="../media/image1830.png"/><Relationship Id="rId1" Type="http://schemas.openxmlformats.org/officeDocument/2006/relationships/slideLayout" Target="../slideLayouts/slideLayout2.xml"/><Relationship Id="rId6" Type="http://schemas.openxmlformats.org/officeDocument/2006/relationships/image" Target="../media/image1850.png"/><Relationship Id="rId5" Type="http://schemas.openxmlformats.org/officeDocument/2006/relationships/image" Target="../media/image1840.png"/><Relationship Id="rId4" Type="http://schemas.openxmlformats.org/officeDocument/2006/relationships/image" Target="../media/image1180.png"/></Relationships>
</file>

<file path=ppt/slides/_rels/slide37.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0.png"/><Relationship Id="rId1" Type="http://schemas.openxmlformats.org/officeDocument/2006/relationships/slideLayout" Target="../slideLayouts/slideLayout2.xml"/><Relationship Id="rId5" Type="http://schemas.openxmlformats.org/officeDocument/2006/relationships/image" Target="../media/image215.png"/><Relationship Id="rId4" Type="http://schemas.openxmlformats.org/officeDocument/2006/relationships/image" Target="../media/image214.png"/></Relationships>
</file>

<file path=ppt/slides/_rels/slide38.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6.png"/><Relationship Id="rId1" Type="http://schemas.openxmlformats.org/officeDocument/2006/relationships/slideLayout" Target="../slideLayouts/slideLayout2.xml"/><Relationship Id="rId5" Type="http://schemas.openxmlformats.org/officeDocument/2006/relationships/image" Target="../media/image215.png"/><Relationship Id="rId4" Type="http://schemas.openxmlformats.org/officeDocument/2006/relationships/image" Target="../media/image214.png"/></Relationships>
</file>

<file path=ppt/slides/_rels/slide39.xml.rels><?xml version="1.0" encoding="UTF-8" standalone="yes"?>
<Relationships xmlns="http://schemas.openxmlformats.org/package/2006/relationships"><Relationship Id="rId8" Type="http://schemas.openxmlformats.org/officeDocument/2006/relationships/image" Target="../media/image224.png"/><Relationship Id="rId13" Type="http://schemas.openxmlformats.org/officeDocument/2006/relationships/image" Target="../media/image229.png"/><Relationship Id="rId18" Type="http://schemas.openxmlformats.org/officeDocument/2006/relationships/image" Target="../media/image235.png"/><Relationship Id="rId3" Type="http://schemas.openxmlformats.org/officeDocument/2006/relationships/image" Target="../media/image218.png"/><Relationship Id="rId7" Type="http://schemas.openxmlformats.org/officeDocument/2006/relationships/image" Target="../media/image223.png"/><Relationship Id="rId12" Type="http://schemas.openxmlformats.org/officeDocument/2006/relationships/image" Target="../media/image228.png"/><Relationship Id="rId17" Type="http://schemas.openxmlformats.org/officeDocument/2006/relationships/image" Target="../media/image234.png"/><Relationship Id="rId2" Type="http://schemas.openxmlformats.org/officeDocument/2006/relationships/image" Target="../media/image217.png"/><Relationship Id="rId16" Type="http://schemas.openxmlformats.org/officeDocument/2006/relationships/image" Target="../media/image233.png"/><Relationship Id="rId1" Type="http://schemas.openxmlformats.org/officeDocument/2006/relationships/slideLayout" Target="../slideLayouts/slideLayout2.xml"/><Relationship Id="rId6" Type="http://schemas.openxmlformats.org/officeDocument/2006/relationships/image" Target="../media/image222.png"/><Relationship Id="rId11" Type="http://schemas.openxmlformats.org/officeDocument/2006/relationships/image" Target="../media/image227.png"/><Relationship Id="rId5" Type="http://schemas.openxmlformats.org/officeDocument/2006/relationships/image" Target="../media/image221.png"/><Relationship Id="rId15" Type="http://schemas.openxmlformats.org/officeDocument/2006/relationships/image" Target="../media/image232.png"/><Relationship Id="rId10" Type="http://schemas.openxmlformats.org/officeDocument/2006/relationships/image" Target="../media/image226.png"/><Relationship Id="rId19" Type="http://schemas.openxmlformats.org/officeDocument/2006/relationships/image" Target="../media/image236.png"/><Relationship Id="rId4" Type="http://schemas.openxmlformats.org/officeDocument/2006/relationships/image" Target="../media/image219.png"/><Relationship Id="rId9" Type="http://schemas.openxmlformats.org/officeDocument/2006/relationships/image" Target="../media/image225.png"/><Relationship Id="rId14" Type="http://schemas.openxmlformats.org/officeDocument/2006/relationships/image" Target="../media/image2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3DFA87-40F6-982F-0CDB-89DCD7A1AB0F}"/>
              </a:ext>
            </a:extLst>
          </p:cNvPr>
          <p:cNvSpPr/>
          <p:nvPr/>
        </p:nvSpPr>
        <p:spPr>
          <a:xfrm>
            <a:off x="0" y="0"/>
            <a:ext cx="12192000" cy="685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Slide Number Placeholder 3">
            <a:extLst>
              <a:ext uri="{FF2B5EF4-FFF2-40B4-BE49-F238E27FC236}">
                <a16:creationId xmlns:a16="http://schemas.microsoft.com/office/drawing/2014/main" id="{EF95B790-EC81-4179-5E81-4FF57861A536}"/>
              </a:ext>
            </a:extLst>
          </p:cNvPr>
          <p:cNvSpPr>
            <a:spLocks noGrp="1"/>
          </p:cNvSpPr>
          <p:nvPr>
            <p:ph type="sldNum" sz="quarter" idx="12"/>
          </p:nvPr>
        </p:nvSpPr>
        <p:spPr/>
        <p:txBody>
          <a:bodyPr/>
          <a:lstStyle/>
          <a:p>
            <a:fld id="{71331178-9F85-4EDF-BDD3-1E7064DA4C59}" type="slidenum">
              <a:rPr lang="vi-VN" smtClean="0"/>
              <a:t>1</a:t>
            </a:fld>
            <a:endParaRPr lang="vi-VN"/>
          </a:p>
        </p:txBody>
      </p:sp>
      <p:pic>
        <p:nvPicPr>
          <p:cNvPr id="9" name="Picture 8" descr="A blue and white website&#10;&#10;AI-generated content may be incorrect.">
            <a:extLst>
              <a:ext uri="{FF2B5EF4-FFF2-40B4-BE49-F238E27FC236}">
                <a16:creationId xmlns:a16="http://schemas.microsoft.com/office/drawing/2014/main" id="{289872FC-241E-7A88-9D04-57E4B3363B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0" y="-20121"/>
            <a:ext cx="10337800" cy="6878121"/>
          </a:xfrm>
          <a:prstGeom prst="rect">
            <a:avLst/>
          </a:prstGeom>
        </p:spPr>
      </p:pic>
    </p:spTree>
    <p:extLst>
      <p:ext uri="{BB962C8B-B14F-4D97-AF65-F5344CB8AC3E}">
        <p14:creationId xmlns:p14="http://schemas.microsoft.com/office/powerpoint/2010/main" val="92090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EDAD2-B1EE-A0CD-7DEC-908AA2FEA762}"/>
              </a:ext>
            </a:extLst>
          </p:cNvPr>
          <p:cNvSpPr>
            <a:spLocks noGrp="1"/>
          </p:cNvSpPr>
          <p:nvPr>
            <p:ph idx="1"/>
          </p:nvPr>
        </p:nvSpPr>
        <p:spPr>
          <a:xfrm>
            <a:off x="838200" y="2700669"/>
            <a:ext cx="10515600" cy="3476293"/>
          </a:xfrm>
        </p:spPr>
        <p:txBody>
          <a:bodyPr>
            <a:normAutofit/>
          </a:bodyPr>
          <a:lstStyle/>
          <a:p>
            <a:pPr marL="0" indent="0">
              <a:buNone/>
            </a:pPr>
            <a:r>
              <a:rPr lang="en-VN" sz="4000"/>
              <a:t>Math =&gt; Quantum Computing =&gt; Code =&gt; Project</a:t>
            </a:r>
          </a:p>
        </p:txBody>
      </p:sp>
      <p:sp>
        <p:nvSpPr>
          <p:cNvPr id="4" name="Slide Number Placeholder 3">
            <a:extLst>
              <a:ext uri="{FF2B5EF4-FFF2-40B4-BE49-F238E27FC236}">
                <a16:creationId xmlns:a16="http://schemas.microsoft.com/office/drawing/2014/main" id="{527FC7CC-EC4E-E2E6-C574-3A3BD9F9A6A5}"/>
              </a:ext>
            </a:extLst>
          </p:cNvPr>
          <p:cNvSpPr>
            <a:spLocks noGrp="1"/>
          </p:cNvSpPr>
          <p:nvPr>
            <p:ph type="sldNum" sz="quarter" idx="12"/>
          </p:nvPr>
        </p:nvSpPr>
        <p:spPr/>
        <p:txBody>
          <a:bodyPr/>
          <a:lstStyle/>
          <a:p>
            <a:fld id="{71331178-9F85-4EDF-BDD3-1E7064DA4C59}" type="slidenum">
              <a:rPr lang="vi-VN" smtClean="0"/>
              <a:t>2</a:t>
            </a:fld>
            <a:endParaRPr lang="vi-VN"/>
          </a:p>
        </p:txBody>
      </p:sp>
      <p:sp>
        <p:nvSpPr>
          <p:cNvPr id="5" name="Rectangle 4">
            <a:extLst>
              <a:ext uri="{FF2B5EF4-FFF2-40B4-BE49-F238E27FC236}">
                <a16:creationId xmlns:a16="http://schemas.microsoft.com/office/drawing/2014/main" id="{3E361ACF-0D16-69E2-A226-876662382F00}"/>
              </a:ext>
            </a:extLst>
          </p:cNvPr>
          <p:cNvSpPr/>
          <p:nvPr/>
        </p:nvSpPr>
        <p:spPr>
          <a:xfrm>
            <a:off x="2700670" y="2700669"/>
            <a:ext cx="4476307" cy="6485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335563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55453-2717-5D8C-CCBD-9F305FE522B8}"/>
              </a:ext>
            </a:extLst>
          </p:cNvPr>
          <p:cNvSpPr>
            <a:spLocks noGrp="1"/>
          </p:cNvSpPr>
          <p:nvPr>
            <p:ph type="title"/>
          </p:nvPr>
        </p:nvSpPr>
        <p:spPr/>
        <p:txBody>
          <a:bodyPr/>
          <a:lstStyle/>
          <a:p>
            <a:r>
              <a:rPr lang="en-US"/>
              <a:t>Basic quantum computing</a:t>
            </a:r>
            <a:endParaRPr lang="vi-VN"/>
          </a:p>
        </p:txBody>
      </p:sp>
      <p:sp>
        <p:nvSpPr>
          <p:cNvPr id="3" name="Content Placeholder 2">
            <a:extLst>
              <a:ext uri="{FF2B5EF4-FFF2-40B4-BE49-F238E27FC236}">
                <a16:creationId xmlns:a16="http://schemas.microsoft.com/office/drawing/2014/main" id="{E79E1A25-6268-11CF-DD3A-EAB410CBD421}"/>
              </a:ext>
            </a:extLst>
          </p:cNvPr>
          <p:cNvSpPr>
            <a:spLocks noGrp="1"/>
          </p:cNvSpPr>
          <p:nvPr>
            <p:ph idx="1"/>
          </p:nvPr>
        </p:nvSpPr>
        <p:spPr>
          <a:xfrm>
            <a:off x="838200" y="1825624"/>
            <a:ext cx="10515600" cy="4823531"/>
          </a:xfrm>
        </p:spPr>
        <p:txBody>
          <a:bodyPr/>
          <a:lstStyle/>
          <a:p>
            <a:pPr marL="0" indent="0">
              <a:buNone/>
            </a:pPr>
            <a:r>
              <a:rPr lang="en-US"/>
              <a:t>Dr. Nguyen Van Duy, Phenikka Univ</a:t>
            </a:r>
          </a:p>
          <a:p>
            <a:pPr marL="0" indent="0">
              <a:buNone/>
            </a:pPr>
            <a:r>
              <a:rPr lang="en-US"/>
              <a:t>Dr. Vu Tuan Hai, UIT-VNUHCM</a:t>
            </a:r>
          </a:p>
          <a:p>
            <a:pPr marL="0" indent="0">
              <a:buNone/>
            </a:pPr>
            <a:endParaRPr lang="en-US"/>
          </a:p>
          <a:p>
            <a:pPr marL="0" indent="0">
              <a:buNone/>
            </a:pPr>
            <a:r>
              <a:rPr lang="en-US"/>
              <a:t>Outline:</a:t>
            </a:r>
          </a:p>
          <a:p>
            <a:pPr marL="514350" indent="-514350">
              <a:buAutoNum type="arabicPeriod"/>
            </a:pPr>
            <a:r>
              <a:rPr lang="en-US"/>
              <a:t>Overview</a:t>
            </a:r>
          </a:p>
          <a:p>
            <a:pPr marL="514350" indent="-514350">
              <a:buAutoNum type="arabicPeriod"/>
            </a:pPr>
            <a:r>
              <a:rPr lang="en-US"/>
              <a:t>Quantum gate: single &amp; multi-qubit</a:t>
            </a:r>
          </a:p>
          <a:p>
            <a:pPr marL="514350" indent="-514350">
              <a:buAutoNum type="arabicPeriod"/>
            </a:pPr>
            <a:r>
              <a:rPr lang="en-US"/>
              <a:t>Quantum circuit: single &amp; multi-qubit</a:t>
            </a:r>
          </a:p>
          <a:p>
            <a:pPr marL="514350" indent="-514350">
              <a:buAutoNum type="arabicPeriod"/>
            </a:pPr>
            <a:r>
              <a:rPr lang="en-US"/>
              <a:t>Measurement</a:t>
            </a:r>
          </a:p>
          <a:p>
            <a:pPr marL="514350" indent="-514350">
              <a:buAutoNum type="arabicPeriod"/>
            </a:pPr>
            <a:r>
              <a:rPr lang="en-US"/>
              <a:t>Encoding/Embedding</a:t>
            </a:r>
          </a:p>
          <a:p>
            <a:pPr marL="514350" indent="-514350">
              <a:buAutoNum type="arabicPeriod"/>
            </a:pPr>
            <a:endParaRPr lang="vi-VN"/>
          </a:p>
        </p:txBody>
      </p:sp>
      <p:sp>
        <p:nvSpPr>
          <p:cNvPr id="4" name="Slide Number Placeholder 3">
            <a:extLst>
              <a:ext uri="{FF2B5EF4-FFF2-40B4-BE49-F238E27FC236}">
                <a16:creationId xmlns:a16="http://schemas.microsoft.com/office/drawing/2014/main" id="{4CBD7E05-4B85-7857-8D44-0A60AB3B3DF9}"/>
              </a:ext>
            </a:extLst>
          </p:cNvPr>
          <p:cNvSpPr>
            <a:spLocks noGrp="1"/>
          </p:cNvSpPr>
          <p:nvPr>
            <p:ph type="sldNum" sz="quarter" idx="12"/>
          </p:nvPr>
        </p:nvSpPr>
        <p:spPr/>
        <p:txBody>
          <a:bodyPr/>
          <a:lstStyle/>
          <a:p>
            <a:fld id="{71331178-9F85-4EDF-BDD3-1E7064DA4C59}" type="slidenum">
              <a:rPr lang="vi-VN" smtClean="0"/>
              <a:t>3</a:t>
            </a:fld>
            <a:endParaRPr lang="vi-VN"/>
          </a:p>
        </p:txBody>
      </p:sp>
    </p:spTree>
    <p:extLst>
      <p:ext uri="{BB962C8B-B14F-4D97-AF65-F5344CB8AC3E}">
        <p14:creationId xmlns:p14="http://schemas.microsoft.com/office/powerpoint/2010/main" val="3722800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7F6365-A6A1-F53A-3A7F-14801FA12829}"/>
                  </a:ext>
                </a:extLst>
              </p:cNvPr>
              <p:cNvSpPr>
                <a:spLocks noGrp="1"/>
              </p:cNvSpPr>
              <p:nvPr>
                <p:ph idx="1"/>
              </p:nvPr>
            </p:nvSpPr>
            <p:spPr>
              <a:xfrm>
                <a:off x="838201" y="1527440"/>
                <a:ext cx="5850464" cy="1545881"/>
              </a:xfrm>
            </p:spPr>
            <p:txBody>
              <a:bodyPr>
                <a:normAutofit fontScale="92500"/>
              </a:bodyPr>
              <a:lstStyle/>
              <a:p>
                <a:pPr marL="0" indent="0">
                  <a:buNone/>
                </a:pPr>
                <a:r>
                  <a:rPr lang="en-US" sz="2400" dirty="0"/>
                  <a:t>A </a:t>
                </a:r>
                <a14:m>
                  <m:oMath xmlns:m="http://schemas.openxmlformats.org/officeDocument/2006/math">
                    <m:r>
                      <a:rPr lang="en-US" sz="2400" i="1">
                        <a:latin typeface="Cambria Math" panose="02040503050406030204" pitchFamily="18" charset="0"/>
                      </a:rPr>
                      <m:t>𝑛</m:t>
                    </m:r>
                  </m:oMath>
                </a14:m>
                <a:r>
                  <a:rPr lang="en-US" sz="2400" dirty="0"/>
                  <a:t> – qubit </a:t>
                </a:r>
                <a:r>
                  <a:rPr lang="en-US" sz="2400"/>
                  <a:t>quantum state:</a:t>
                </a:r>
                <a:endParaRPr lang="en-US" sz="2400" dirty="0"/>
              </a:p>
              <a:p>
                <a:pPr marL="457189" lvl="1" indent="0">
                  <a:buNone/>
                </a:pPr>
                <a14:m>
                  <m:oMath xmlns:m="http://schemas.openxmlformats.org/officeDocument/2006/math">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𝜓</m:t>
                            </m:r>
                          </m:e>
                          <m:sup>
                            <m:d>
                              <m:dPr>
                                <m:ctrlPr>
                                  <a:rPr lang="en-US" i="1">
                                    <a:latin typeface="Cambria Math" panose="02040503050406030204" pitchFamily="18" charset="0"/>
                                  </a:rPr>
                                </m:ctrlPr>
                              </m:dPr>
                              <m:e>
                                <m:r>
                                  <a:rPr lang="en-US" i="1">
                                    <a:latin typeface="Cambria Math" panose="02040503050406030204" pitchFamily="18" charset="0"/>
                                  </a:rPr>
                                  <m:t>𝑡</m:t>
                                </m:r>
                              </m:e>
                            </m:d>
                          </m:sup>
                        </m:sSup>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𝛼</m:t>
                                  </m:r>
                                </m:e>
                                <m:sub>
                                  <m:r>
                                    <a:rPr lang="en-US" i="1">
                                      <a:latin typeface="Cambria Math" panose="02040503050406030204" pitchFamily="18" charset="0"/>
                                    </a:rPr>
                                    <m:t>0</m:t>
                                  </m:r>
                                </m:sub>
                                <m:sup>
                                  <m:d>
                                    <m:dPr>
                                      <m:ctrlPr>
                                        <a:rPr lang="en-US" i="1">
                                          <a:latin typeface="Cambria Math" panose="02040503050406030204" pitchFamily="18" charset="0"/>
                                        </a:rPr>
                                      </m:ctrlPr>
                                    </m:dPr>
                                    <m:e>
                                      <m:r>
                                        <a:rPr lang="en-US" i="1">
                                          <a:latin typeface="Cambria Math" panose="02040503050406030204" pitchFamily="18" charset="0"/>
                                        </a:rPr>
                                        <m:t>𝑡</m:t>
                                      </m:r>
                                    </m:e>
                                  </m:d>
                                </m:sup>
                              </m:sSubSup>
                            </m:e>
                          </m:mr>
                          <m:mr>
                            <m:e>
                              <m:r>
                                <a:rPr lang="en-US" i="1">
                                  <a:latin typeface="Cambria Math" panose="02040503050406030204" pitchFamily="18" charset="0"/>
                                  <a:ea typeface="Cambria Math" panose="02040503050406030204" pitchFamily="18" charset="0"/>
                                </a:rPr>
                                <m:t>⋮</m:t>
                              </m:r>
                            </m:e>
                          </m:mr>
                          <m:mr>
                            <m:e>
                              <m:sSubSup>
                                <m:sSubSupPr>
                                  <m:ctrlPr>
                                    <a:rPr lang="en-US" i="1">
                                      <a:latin typeface="Cambria Math" panose="02040503050406030204" pitchFamily="18" charset="0"/>
                                    </a:rPr>
                                  </m:ctrlPr>
                                </m:sSubSupPr>
                                <m:e>
                                  <m:r>
                                    <a:rPr lang="en-US" i="1">
                                      <a:latin typeface="Cambria Math" panose="02040503050406030204" pitchFamily="18" charset="0"/>
                                    </a:rPr>
                                    <m:t>𝛼</m:t>
                                  </m:r>
                                </m:e>
                                <m:sub>
                                  <m:r>
                                    <a:rPr lang="en-US" i="1">
                                      <a:latin typeface="Cambria Math" panose="02040503050406030204" pitchFamily="18" charset="0"/>
                                    </a:rPr>
                                    <m:t>𝑁</m:t>
                                  </m:r>
                                  <m:r>
                                    <a:rPr lang="en-US" i="1">
                                      <a:latin typeface="Cambria Math" panose="02040503050406030204" pitchFamily="18" charset="0"/>
                                    </a:rPr>
                                    <m:t>−1</m:t>
                                  </m:r>
                                </m:sub>
                                <m:sup>
                                  <m:d>
                                    <m:dPr>
                                      <m:ctrlPr>
                                        <a:rPr lang="en-US" i="1">
                                          <a:latin typeface="Cambria Math" panose="02040503050406030204" pitchFamily="18" charset="0"/>
                                        </a:rPr>
                                      </m:ctrlPr>
                                    </m:dPr>
                                    <m:e>
                                      <m:r>
                                        <a:rPr lang="en-US" i="1">
                                          <a:latin typeface="Cambria Math" panose="02040503050406030204" pitchFamily="18" charset="0"/>
                                        </a:rPr>
                                        <m:t>𝑡</m:t>
                                      </m:r>
                                    </m:e>
                                  </m:d>
                                </m:sup>
                              </m:sSubSup>
                            </m:e>
                          </m:mr>
                        </m:m>
                      </m:e>
                    </m:d>
                  </m:oMath>
                </a14:m>
                <a:r>
                  <a:rPr lang="en-US" dirty="0"/>
                  <a:t>  where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𝑛</m:t>
                        </m:r>
                      </m:sup>
                    </m:sSup>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𝛼</m:t>
                        </m:r>
                      </m:e>
                      <m:sub>
                        <m:r>
                          <a:rPr lang="en-US" i="1">
                            <a:latin typeface="Cambria Math" panose="02040503050406030204" pitchFamily="18" charset="0"/>
                          </a:rPr>
                          <m:t>𝑗</m:t>
                        </m:r>
                      </m:sub>
                      <m:sup>
                        <m:d>
                          <m:dPr>
                            <m:ctrlPr>
                              <a:rPr lang="en-US" i="1">
                                <a:latin typeface="Cambria Math" panose="02040503050406030204" pitchFamily="18" charset="0"/>
                              </a:rPr>
                            </m:ctrlPr>
                          </m:dPr>
                          <m:e>
                            <m:r>
                              <a:rPr lang="en-US" i="1">
                                <a:latin typeface="Cambria Math" panose="02040503050406030204" pitchFamily="18" charset="0"/>
                              </a:rPr>
                              <m:t>𝑡</m:t>
                            </m:r>
                          </m:e>
                        </m:d>
                      </m:sup>
                    </m:sSubSup>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ℂ</m:t>
                    </m:r>
                  </m:oMath>
                </a14:m>
                <a:r>
                  <a:rPr lang="en-US" dirty="0"/>
                  <a:t> </a:t>
                </a:r>
              </a:p>
            </p:txBody>
          </p:sp>
        </mc:Choice>
        <mc:Fallback xmlns="">
          <p:sp>
            <p:nvSpPr>
              <p:cNvPr id="3" name="Content Placeholder 2">
                <a:extLst>
                  <a:ext uri="{FF2B5EF4-FFF2-40B4-BE49-F238E27FC236}">
                    <a16:creationId xmlns:a16="http://schemas.microsoft.com/office/drawing/2014/main" id="{AF7F6365-A6A1-F53A-3A7F-14801FA12829}"/>
                  </a:ext>
                </a:extLst>
              </p:cNvPr>
              <p:cNvSpPr>
                <a:spLocks noGrp="1" noRot="1" noChangeAspect="1" noMove="1" noResize="1" noEditPoints="1" noAdjustHandles="1" noChangeArrowheads="1" noChangeShapeType="1" noTextEdit="1"/>
              </p:cNvSpPr>
              <p:nvPr>
                <p:ph idx="1"/>
              </p:nvPr>
            </p:nvSpPr>
            <p:spPr>
              <a:xfrm>
                <a:off x="838201" y="1527440"/>
                <a:ext cx="5850464" cy="1545881"/>
              </a:xfrm>
              <a:blipFill>
                <a:blip r:embed="rId3"/>
                <a:stretch>
                  <a:fillRect l="-1302" t="-4918"/>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FA9173CE-5AF2-DEF6-8117-C2B6515361C4}"/>
              </a:ext>
            </a:extLst>
          </p:cNvPr>
          <p:cNvSpPr>
            <a:spLocks noGrp="1"/>
          </p:cNvSpPr>
          <p:nvPr>
            <p:ph type="sldNum" sz="quarter" idx="12"/>
          </p:nvPr>
        </p:nvSpPr>
        <p:spPr/>
        <p:txBody>
          <a:bodyPr/>
          <a:lstStyle/>
          <a:p>
            <a:fld id="{3C0C221A-CB66-4297-9A52-937C35126D0C}" type="slidenum">
              <a:rPr lang="en-US" smtClean="0"/>
              <a:t>4</a:t>
            </a:fld>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extLst>
                  <p:ext uri="{D42A27DB-BD31-4B8C-83A1-F6EECF244321}">
                    <p14:modId xmlns:p14="http://schemas.microsoft.com/office/powerpoint/2010/main" val="3244166038"/>
                  </p:ext>
                </p:extLst>
              </p:nvPr>
            </p:nvGraphicFramePr>
            <p:xfrm>
              <a:off x="1297969" y="3574671"/>
              <a:ext cx="4981517" cy="1344994"/>
            </p:xfrm>
            <a:graphic>
              <a:graphicData uri="http://schemas.openxmlformats.org/drawingml/2006/table">
                <a:tbl>
                  <a:tblPr firstRow="1" bandRow="1">
                    <a:tableStyleId>{5C22544A-7EE6-4342-B048-85BDC9FD1C3A}</a:tableStyleId>
                  </a:tblPr>
                  <a:tblGrid>
                    <a:gridCol w="3989272">
                      <a:extLst>
                        <a:ext uri="{9D8B030D-6E8A-4147-A177-3AD203B41FA5}">
                          <a16:colId xmlns:a16="http://schemas.microsoft.com/office/drawing/2014/main" val="1848615564"/>
                        </a:ext>
                      </a:extLst>
                    </a:gridCol>
                    <a:gridCol w="992245">
                      <a:extLst>
                        <a:ext uri="{9D8B030D-6E8A-4147-A177-3AD203B41FA5}">
                          <a16:colId xmlns:a16="http://schemas.microsoft.com/office/drawing/2014/main" val="1798586957"/>
                        </a:ext>
                      </a:extLst>
                    </a:gridCol>
                  </a:tblGrid>
                  <a:tr h="544895">
                    <a:tc>
                      <a:txBody>
                        <a:bodyPr/>
                        <a:lstStyle/>
                        <a:p>
                          <a:pPr marL="0" indent="0">
                            <a:buNone/>
                          </a:pPr>
                          <a14:m>
                            <m:oMathPara xmlns:m="http://schemas.openxmlformats.org/officeDocument/2006/math">
                              <m:oMathParaPr>
                                <m:jc m:val="left"/>
                              </m:oMathParaPr>
                              <m:oMath xmlns:m="http://schemas.openxmlformats.org/officeDocument/2006/math">
                                <m:r>
                                  <a:rPr lang="en-US" sz="2400" b="0" i="1" smtClean="0">
                                    <a:solidFill>
                                      <a:schemeClr val="tx1"/>
                                    </a:solidFill>
                                    <a:latin typeface="Cambria Math" panose="02040503050406030204" pitchFamily="18" charset="0"/>
                                  </a:rPr>
                                  <m:t>𝑈</m:t>
                                </m:r>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𝑤</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𝜃</m:t>
                                    </m:r>
                                  </m:e>
                                </m:d>
                                <m:r>
                                  <a:rPr lang="en-US" sz="2400" b="0" i="1" smtClean="0">
                                    <a:solidFill>
                                      <a:schemeClr val="tx1"/>
                                    </a:solidFill>
                                    <a:latin typeface="Cambria Math" panose="02040503050406030204" pitchFamily="18" charset="0"/>
                                  </a:rPr>
                                  <m:t>: </m:t>
                                </m:r>
                                <m:d>
                                  <m:dPr>
                                    <m:begChr m:val="["/>
                                    <m:endChr m:val="]"/>
                                    <m:ctrlPr>
                                      <a:rPr lang="en-US" sz="2400" b="0" i="1" smtClean="0">
                                        <a:solidFill>
                                          <a:schemeClr val="tx1"/>
                                        </a:solidFill>
                                        <a:latin typeface="Cambria Math" panose="02040503050406030204" pitchFamily="18" charset="0"/>
                                      </a:rPr>
                                    </m:ctrlPr>
                                  </m:dPr>
                                  <m:e>
                                    <m:m>
                                      <m:mPr>
                                        <m:mcs>
                                          <m:mc>
                                            <m:mcPr>
                                              <m:count m:val="1"/>
                                              <m:mcJc m:val="center"/>
                                            </m:mcPr>
                                          </m:mc>
                                        </m:mcs>
                                        <m:ctrlPr>
                                          <a:rPr lang="en-US" sz="2400" i="1" smtClean="0">
                                            <a:solidFill>
                                              <a:schemeClr val="tx1"/>
                                            </a:solidFill>
                                            <a:latin typeface="Cambria Math" panose="02040503050406030204" pitchFamily="18" charset="0"/>
                                          </a:rPr>
                                        </m:ctrlPr>
                                      </m:mPr>
                                      <m:mr>
                                        <m:e>
                                          <m:sSubSup>
                                            <m:sSubSupPr>
                                              <m:ctrlPr>
                                                <a:rPr lang="en-US" sz="2400" i="1">
                                                  <a:solidFill>
                                                    <a:schemeClr val="tx1"/>
                                                  </a:solidFill>
                                                  <a:latin typeface="Cambria Math" panose="02040503050406030204" pitchFamily="18" charset="0"/>
                                                </a:rPr>
                                              </m:ctrlPr>
                                            </m:sSubSupPr>
                                            <m:e>
                                              <m:r>
                                                <a:rPr lang="en-US" sz="2400" i="1">
                                                  <a:solidFill>
                                                    <a:schemeClr val="tx1"/>
                                                  </a:solidFill>
                                                  <a:latin typeface="Cambria Math" panose="02040503050406030204" pitchFamily="18" charset="0"/>
                                                </a:rPr>
                                                <m:t>𝛼</m:t>
                                              </m:r>
                                            </m:e>
                                            <m:sub>
                                              <m:r>
                                                <a:rPr lang="en-US" sz="2400" i="1">
                                                  <a:solidFill>
                                                    <a:schemeClr val="tx1"/>
                                                  </a:solidFill>
                                                  <a:latin typeface="Cambria Math" panose="02040503050406030204" pitchFamily="18" charset="0"/>
                                                </a:rPr>
                                                <m:t>0</m:t>
                                              </m:r>
                                            </m:sub>
                                            <m:sup>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𝑡</m:t>
                                                  </m:r>
                                                </m:e>
                                              </m:d>
                                            </m:sup>
                                          </m:sSubSup>
                                        </m:e>
                                      </m:mr>
                                      <m:mr>
                                        <m:e>
                                          <m:r>
                                            <a:rPr lang="en-US" sz="2400" i="1">
                                              <a:solidFill>
                                                <a:schemeClr val="tx1"/>
                                              </a:solidFill>
                                              <a:latin typeface="Cambria Math" panose="02040503050406030204" pitchFamily="18" charset="0"/>
                                              <a:ea typeface="Cambria Math" panose="02040503050406030204" pitchFamily="18" charset="0"/>
                                            </a:rPr>
                                            <m:t>⋮</m:t>
                                          </m:r>
                                        </m:e>
                                      </m:mr>
                                      <m:mr>
                                        <m:e>
                                          <m:sSubSup>
                                            <m:sSubSupPr>
                                              <m:ctrlPr>
                                                <a:rPr lang="en-US" sz="2400" i="1">
                                                  <a:solidFill>
                                                    <a:schemeClr val="tx1"/>
                                                  </a:solidFill>
                                                  <a:latin typeface="Cambria Math" panose="02040503050406030204" pitchFamily="18" charset="0"/>
                                                </a:rPr>
                                              </m:ctrlPr>
                                            </m:sSubSupPr>
                                            <m:e>
                                              <m:r>
                                                <a:rPr lang="en-US" sz="2400" i="1">
                                                  <a:solidFill>
                                                    <a:schemeClr val="tx1"/>
                                                  </a:solidFill>
                                                  <a:latin typeface="Cambria Math" panose="02040503050406030204" pitchFamily="18" charset="0"/>
                                                </a:rPr>
                                                <m:t>𝛼</m:t>
                                              </m:r>
                                            </m:e>
                                            <m:sub>
                                              <m:r>
                                                <a:rPr lang="en-US" sz="2400" i="1">
                                                  <a:solidFill>
                                                    <a:schemeClr val="tx1"/>
                                                  </a:solidFill>
                                                  <a:latin typeface="Cambria Math" panose="02040503050406030204" pitchFamily="18" charset="0"/>
                                                </a:rPr>
                                                <m:t>𝑁</m:t>
                                              </m:r>
                                              <m:r>
                                                <a:rPr lang="en-US" sz="2400" i="1">
                                                  <a:solidFill>
                                                    <a:schemeClr val="tx1"/>
                                                  </a:solidFill>
                                                  <a:latin typeface="Cambria Math" panose="02040503050406030204" pitchFamily="18" charset="0"/>
                                                </a:rPr>
                                                <m:t>−1</m:t>
                                              </m:r>
                                            </m:sub>
                                            <m:sup>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𝑡</m:t>
                                                  </m:r>
                                                </m:e>
                                              </m:d>
                                            </m:sup>
                                          </m:sSubSup>
                                        </m:e>
                                      </m:mr>
                                    </m:m>
                                  </m:e>
                                </m:d>
                                <m:r>
                                  <a:rPr lang="en-US" sz="2400" b="0" i="1" smtClean="0">
                                    <a:solidFill>
                                      <a:schemeClr val="tx1"/>
                                    </a:solidFill>
                                    <a:latin typeface="Cambria Math" panose="02040503050406030204" pitchFamily="18" charset="0"/>
                                  </a:rPr>
                                  <m:t>→ </m:t>
                                </m:r>
                                <m:d>
                                  <m:dPr>
                                    <m:begChr m:val="["/>
                                    <m:endChr m:val="]"/>
                                    <m:ctrlPr>
                                      <a:rPr lang="en-US" sz="2400" b="0" i="1" smtClean="0">
                                        <a:solidFill>
                                          <a:schemeClr val="tx1"/>
                                        </a:solidFill>
                                        <a:latin typeface="Cambria Math" panose="02040503050406030204" pitchFamily="18" charset="0"/>
                                      </a:rPr>
                                    </m:ctrlPr>
                                  </m:dPr>
                                  <m:e>
                                    <m:m>
                                      <m:mPr>
                                        <m:mcs>
                                          <m:mc>
                                            <m:mcPr>
                                              <m:count m:val="1"/>
                                              <m:mcJc m:val="center"/>
                                            </m:mcPr>
                                          </m:mc>
                                        </m:mcs>
                                        <m:ctrlPr>
                                          <a:rPr lang="en-US" sz="2400" i="1" smtClean="0">
                                            <a:solidFill>
                                              <a:schemeClr val="tx1"/>
                                            </a:solidFill>
                                            <a:latin typeface="Cambria Math" panose="02040503050406030204" pitchFamily="18" charset="0"/>
                                          </a:rPr>
                                        </m:ctrlPr>
                                      </m:mPr>
                                      <m:mr>
                                        <m:e>
                                          <m:sSubSup>
                                            <m:sSubSupPr>
                                              <m:ctrlPr>
                                                <a:rPr lang="en-US" sz="2400" i="1">
                                                  <a:solidFill>
                                                    <a:schemeClr val="tx1"/>
                                                  </a:solidFill>
                                                  <a:latin typeface="Cambria Math" panose="02040503050406030204" pitchFamily="18" charset="0"/>
                                                </a:rPr>
                                              </m:ctrlPr>
                                            </m:sSubSupPr>
                                            <m:e>
                                              <m:r>
                                                <a:rPr lang="en-US" sz="2400" i="1">
                                                  <a:solidFill>
                                                    <a:schemeClr val="tx1"/>
                                                  </a:solidFill>
                                                  <a:latin typeface="Cambria Math" panose="02040503050406030204" pitchFamily="18" charset="0"/>
                                                </a:rPr>
                                                <m:t>𝛼</m:t>
                                              </m:r>
                                            </m:e>
                                            <m:sub>
                                              <m:r>
                                                <a:rPr lang="en-US" sz="2400" i="1">
                                                  <a:solidFill>
                                                    <a:schemeClr val="tx1"/>
                                                  </a:solidFill>
                                                  <a:latin typeface="Cambria Math" panose="02040503050406030204" pitchFamily="18" charset="0"/>
                                                </a:rPr>
                                                <m:t>0</m:t>
                                              </m:r>
                                            </m:sub>
                                            <m:sup>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𝑡</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𝟏</m:t>
                                                  </m:r>
                                                </m:e>
                                              </m:d>
                                            </m:sup>
                                          </m:sSubSup>
                                        </m:e>
                                      </m:mr>
                                      <m:mr>
                                        <m:e>
                                          <m:r>
                                            <a:rPr lang="en-US" sz="2400" i="1">
                                              <a:solidFill>
                                                <a:schemeClr val="tx1"/>
                                              </a:solidFill>
                                              <a:latin typeface="Cambria Math" panose="02040503050406030204" pitchFamily="18" charset="0"/>
                                              <a:ea typeface="Cambria Math" panose="02040503050406030204" pitchFamily="18" charset="0"/>
                                            </a:rPr>
                                            <m:t>⋮</m:t>
                                          </m:r>
                                        </m:e>
                                      </m:mr>
                                      <m:mr>
                                        <m:e>
                                          <m:sSubSup>
                                            <m:sSubSupPr>
                                              <m:ctrlPr>
                                                <a:rPr lang="en-US" sz="2400" i="1">
                                                  <a:solidFill>
                                                    <a:schemeClr val="tx1"/>
                                                  </a:solidFill>
                                                  <a:latin typeface="Cambria Math" panose="02040503050406030204" pitchFamily="18" charset="0"/>
                                                </a:rPr>
                                              </m:ctrlPr>
                                            </m:sSubSupPr>
                                            <m:e>
                                              <m:r>
                                                <a:rPr lang="en-US" sz="2400" i="1">
                                                  <a:solidFill>
                                                    <a:schemeClr val="tx1"/>
                                                  </a:solidFill>
                                                  <a:latin typeface="Cambria Math" panose="02040503050406030204" pitchFamily="18" charset="0"/>
                                                </a:rPr>
                                                <m:t>𝛼</m:t>
                                              </m:r>
                                            </m:e>
                                            <m:sub>
                                              <m:r>
                                                <a:rPr lang="en-US" sz="2400" i="1">
                                                  <a:solidFill>
                                                    <a:schemeClr val="tx1"/>
                                                  </a:solidFill>
                                                  <a:latin typeface="Cambria Math" panose="02040503050406030204" pitchFamily="18" charset="0"/>
                                                </a:rPr>
                                                <m:t>𝑁</m:t>
                                              </m:r>
                                              <m:r>
                                                <a:rPr lang="en-US" sz="2400" i="1">
                                                  <a:solidFill>
                                                    <a:schemeClr val="tx1"/>
                                                  </a:solidFill>
                                                  <a:latin typeface="Cambria Math" panose="02040503050406030204" pitchFamily="18" charset="0"/>
                                                </a:rPr>
                                                <m:t>−1</m:t>
                                              </m:r>
                                            </m:sub>
                                            <m:sup>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𝑡</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𝟏</m:t>
                                                  </m:r>
                                                </m:e>
                                              </m:d>
                                            </m:sup>
                                          </m:sSubSup>
                                        </m:e>
                                      </m:mr>
                                    </m:m>
                                  </m:e>
                                </m:d>
                              </m:oMath>
                            </m:oMathPara>
                          </a14:m>
                          <a:endParaRPr lang="en-US" sz="24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xmlns="">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extLst>
                  <p:ext uri="{D42A27DB-BD31-4B8C-83A1-F6EECF244321}">
                    <p14:modId xmlns:p14="http://schemas.microsoft.com/office/powerpoint/2010/main" val="3244166038"/>
                  </p:ext>
                </p:extLst>
              </p:nvPr>
            </p:nvGraphicFramePr>
            <p:xfrm>
              <a:off x="1297969" y="3574671"/>
              <a:ext cx="4981517" cy="1344994"/>
            </p:xfrm>
            <a:graphic>
              <a:graphicData uri="http://schemas.openxmlformats.org/drawingml/2006/table">
                <a:tbl>
                  <a:tblPr firstRow="1" bandRow="1">
                    <a:tableStyleId>{5C22544A-7EE6-4342-B048-85BDC9FD1C3A}</a:tableStyleId>
                  </a:tblPr>
                  <a:tblGrid>
                    <a:gridCol w="3989272">
                      <a:extLst>
                        <a:ext uri="{9D8B030D-6E8A-4147-A177-3AD203B41FA5}">
                          <a16:colId xmlns:a16="http://schemas.microsoft.com/office/drawing/2014/main" val="1848615564"/>
                        </a:ext>
                      </a:extLst>
                    </a:gridCol>
                    <a:gridCol w="992245">
                      <a:extLst>
                        <a:ext uri="{9D8B030D-6E8A-4147-A177-3AD203B41FA5}">
                          <a16:colId xmlns:a16="http://schemas.microsoft.com/office/drawing/2014/main" val="1798586957"/>
                        </a:ext>
                      </a:extLst>
                    </a:gridCol>
                  </a:tblGrid>
                  <a:tr h="1344994">
                    <a:tc>
                      <a:txBody>
                        <a:bodyPr/>
                        <a:lstStyle/>
                        <a:p>
                          <a:endParaRPr lang="en-VN"/>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17" r="-24762" b="-1869"/>
                          </a:stretch>
                        </a:blipFill>
                      </a:tcPr>
                    </a:tc>
                    <a:tc>
                      <a:txBody>
                        <a:bodyPr/>
                        <a:lstStyle/>
                        <a:p>
                          <a:pPr algn="r"/>
                          <a:endParaRPr 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F29AD60-6F1B-2BA1-6A04-EC40BE6F8E46}"/>
                  </a:ext>
                </a:extLst>
              </p:cNvPr>
              <p:cNvSpPr txBox="1"/>
              <p:nvPr/>
            </p:nvSpPr>
            <p:spPr>
              <a:xfrm>
                <a:off x="838202" y="4939390"/>
                <a:ext cx="6199599" cy="954107"/>
              </a:xfrm>
              <a:prstGeom prst="rect">
                <a:avLst/>
              </a:prstGeom>
              <a:noFill/>
            </p:spPr>
            <p:txBody>
              <a:bodyPr wrap="square" rtlCol="0">
                <a:spAutoFit/>
              </a:bodyPr>
              <a:lstStyle/>
              <a:p>
                <a:r>
                  <a:rPr lang="en-US" sz="2800" dirty="0"/>
                  <a:t>where </a:t>
                </a:r>
                <a14:m>
                  <m:oMath xmlns:m="http://schemas.openxmlformats.org/officeDocument/2006/math">
                    <m:r>
                      <a:rPr lang="en-US" sz="2800" i="1">
                        <a:latin typeface="Cambria Math" panose="02040503050406030204" pitchFamily="18" charset="0"/>
                      </a:rPr>
                      <m:t>𝑤</m:t>
                    </m:r>
                  </m:oMath>
                </a14:m>
                <a:r>
                  <a:rPr lang="en-US" sz="2800" dirty="0"/>
                  <a:t> and </a:t>
                </a:r>
                <a14:m>
                  <m:oMath xmlns:m="http://schemas.openxmlformats.org/officeDocument/2006/math">
                    <m:r>
                      <a:rPr lang="en-US" sz="2800" i="1">
                        <a:latin typeface="Cambria Math" panose="02040503050406030204" pitchFamily="18" charset="0"/>
                      </a:rPr>
                      <m:t>𝜃</m:t>
                    </m:r>
                  </m:oMath>
                </a14:m>
                <a:r>
                  <a:rPr lang="en-US" sz="2800" dirty="0"/>
                  <a:t> are wires and parameter (if applicable). Our </a:t>
                </a:r>
                <a:r>
                  <a:rPr lang="en-US" sz="2800"/>
                  <a:t>target is:</a:t>
                </a:r>
                <a:endParaRPr lang="en-US" sz="2800" dirty="0"/>
              </a:p>
            </p:txBody>
          </p:sp>
        </mc:Choice>
        <mc:Fallback xmlns="">
          <p:sp>
            <p:nvSpPr>
              <p:cNvPr id="6" name="TextBox 5">
                <a:extLst>
                  <a:ext uri="{FF2B5EF4-FFF2-40B4-BE49-F238E27FC236}">
                    <a16:creationId xmlns:a16="http://schemas.microsoft.com/office/drawing/2014/main" id="{BF29AD60-6F1B-2BA1-6A04-EC40BE6F8E46}"/>
                  </a:ext>
                </a:extLst>
              </p:cNvPr>
              <p:cNvSpPr txBox="1">
                <a:spLocks noRot="1" noChangeAspect="1" noMove="1" noResize="1" noEditPoints="1" noAdjustHandles="1" noChangeArrowheads="1" noChangeShapeType="1" noTextEdit="1"/>
              </p:cNvSpPr>
              <p:nvPr/>
            </p:nvSpPr>
            <p:spPr>
              <a:xfrm>
                <a:off x="838202" y="4939390"/>
                <a:ext cx="6199599" cy="954107"/>
              </a:xfrm>
              <a:prstGeom prst="rect">
                <a:avLst/>
              </a:prstGeom>
              <a:blipFill>
                <a:blip r:embed="rId5"/>
                <a:stretch>
                  <a:fillRect l="-2049" t="-5195" b="-15584"/>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extLst>
                  <p:ext uri="{D42A27DB-BD31-4B8C-83A1-F6EECF244321}">
                    <p14:modId xmlns:p14="http://schemas.microsoft.com/office/powerpoint/2010/main" val="9530323"/>
                  </p:ext>
                </p:extLst>
              </p:nvPr>
            </p:nvGraphicFramePr>
            <p:xfrm>
              <a:off x="838200" y="6014465"/>
              <a:ext cx="4519774" cy="511302"/>
            </p:xfrm>
            <a:graphic>
              <a:graphicData uri="http://schemas.openxmlformats.org/drawingml/2006/table">
                <a:tbl>
                  <a:tblPr firstRow="1" bandRow="1">
                    <a:tableStyleId>{5C22544A-7EE6-4342-B048-85BDC9FD1C3A}</a:tableStyleId>
                  </a:tblPr>
                  <a:tblGrid>
                    <a:gridCol w="3420439">
                      <a:extLst>
                        <a:ext uri="{9D8B030D-6E8A-4147-A177-3AD203B41FA5}">
                          <a16:colId xmlns:a16="http://schemas.microsoft.com/office/drawing/2014/main" val="1848615564"/>
                        </a:ext>
                      </a:extLst>
                    </a:gridCol>
                    <a:gridCol w="1099335">
                      <a:extLst>
                        <a:ext uri="{9D8B030D-6E8A-4147-A177-3AD203B41FA5}">
                          <a16:colId xmlns:a16="http://schemas.microsoft.com/office/drawing/2014/main" val="1798586957"/>
                        </a:ext>
                      </a:extLst>
                    </a:gridCol>
                  </a:tblGrid>
                  <a:tr h="441368">
                    <a:tc>
                      <a:txBody>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tx1"/>
                                        </a:solidFill>
                                        <a:latin typeface="Cambria Math" panose="02040503050406030204" pitchFamily="18" charset="0"/>
                                      </a:rPr>
                                    </m:ctrlPr>
                                  </m:dPr>
                                  <m:e>
                                    <m:sSup>
                                      <m:sSupPr>
                                        <m:ctrlPr>
                                          <a:rPr lang="en-US" sz="2400" b="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𝜓</m:t>
                                        </m:r>
                                      </m:e>
                                      <m:sup>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𝑚</m:t>
                                            </m:r>
                                          </m:e>
                                        </m:d>
                                      </m:sup>
                                    </m:sSup>
                                  </m:e>
                                </m:d>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𝑈</m:t>
                                </m:r>
                                <m:r>
                                  <a:rPr lang="en-US" sz="2400" b="0" i="1" smtClean="0">
                                    <a:solidFill>
                                      <a:schemeClr val="tx1"/>
                                    </a:solidFill>
                                    <a:latin typeface="Cambria Math" panose="02040503050406030204" pitchFamily="18" charset="0"/>
                                  </a:rPr>
                                  <m:t>|</m:t>
                                </m:r>
                                <m:sSup>
                                  <m:sSupPr>
                                    <m:ctrlPr>
                                      <a:rPr lang="en-US" sz="2400" b="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𝜓</m:t>
                                    </m:r>
                                  </m:e>
                                  <m:sup>
                                    <m:r>
                                      <a:rPr lang="en-US" sz="2400" b="0" i="1" smtClean="0">
                                        <a:solidFill>
                                          <a:schemeClr val="tx1"/>
                                        </a:solidFill>
                                        <a:latin typeface="Cambria Math" panose="02040503050406030204" pitchFamily="18" charset="0"/>
                                      </a:rPr>
                                      <m:t>(0)</m:t>
                                    </m:r>
                                  </m:sup>
                                </m:sSup>
                                <m:r>
                                  <a:rPr lang="en-US" sz="2400" b="0" i="1" smtClean="0">
                                    <a:solidFill>
                                      <a:schemeClr val="tx1"/>
                                    </a:solidFill>
                                    <a:latin typeface="Cambria Math" panose="02040503050406030204" pitchFamily="18" charset="0"/>
                                  </a:rPr>
                                  <m:t>⟩</m:t>
                                </m:r>
                              </m:oMath>
                            </m:oMathPara>
                          </a14:m>
                          <a:endParaRPr 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xmlns="">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extLst>
                  <p:ext uri="{D42A27DB-BD31-4B8C-83A1-F6EECF244321}">
                    <p14:modId xmlns:p14="http://schemas.microsoft.com/office/powerpoint/2010/main" val="9530323"/>
                  </p:ext>
                </p:extLst>
              </p:nvPr>
            </p:nvGraphicFramePr>
            <p:xfrm>
              <a:off x="838200" y="6014465"/>
              <a:ext cx="4519774" cy="511302"/>
            </p:xfrm>
            <a:graphic>
              <a:graphicData uri="http://schemas.openxmlformats.org/drawingml/2006/table">
                <a:tbl>
                  <a:tblPr firstRow="1" bandRow="1">
                    <a:tableStyleId>{5C22544A-7EE6-4342-B048-85BDC9FD1C3A}</a:tableStyleId>
                  </a:tblPr>
                  <a:tblGrid>
                    <a:gridCol w="3420439">
                      <a:extLst>
                        <a:ext uri="{9D8B030D-6E8A-4147-A177-3AD203B41FA5}">
                          <a16:colId xmlns:a16="http://schemas.microsoft.com/office/drawing/2014/main" val="1848615564"/>
                        </a:ext>
                      </a:extLst>
                    </a:gridCol>
                    <a:gridCol w="1099335">
                      <a:extLst>
                        <a:ext uri="{9D8B030D-6E8A-4147-A177-3AD203B41FA5}">
                          <a16:colId xmlns:a16="http://schemas.microsoft.com/office/drawing/2014/main" val="1798586957"/>
                        </a:ext>
                      </a:extLst>
                    </a:gridCol>
                  </a:tblGrid>
                  <a:tr h="511302">
                    <a:tc>
                      <a:txBody>
                        <a:bodyPr/>
                        <a:lstStyle/>
                        <a:p>
                          <a:endParaRPr lang="en-VN"/>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l="-372" r="-32342" b="-12195"/>
                          </a:stretch>
                        </a:blipFill>
                      </a:tcPr>
                    </a:tc>
                    <a:tc>
                      <a:txBody>
                        <a:bodyPr/>
                        <a:lstStyle/>
                        <a:p>
                          <a:pPr algn="r"/>
                          <a:endParaRPr 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p:sp>
        <p:nvSpPr>
          <p:cNvPr id="10" name="Rectangle 9">
            <a:extLst>
              <a:ext uri="{FF2B5EF4-FFF2-40B4-BE49-F238E27FC236}">
                <a16:creationId xmlns:a16="http://schemas.microsoft.com/office/drawing/2014/main" id="{7178EF51-E299-E47D-551E-6A111826D439}"/>
              </a:ext>
            </a:extLst>
          </p:cNvPr>
          <p:cNvSpPr/>
          <p:nvPr/>
        </p:nvSpPr>
        <p:spPr>
          <a:xfrm>
            <a:off x="3317007" y="1989105"/>
            <a:ext cx="3311967" cy="12315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F78A8F11-5D99-B60E-D80B-3645A062F90B}"/>
              </a:ext>
            </a:extLst>
          </p:cNvPr>
          <p:cNvSpPr/>
          <p:nvPr/>
        </p:nvSpPr>
        <p:spPr>
          <a:xfrm>
            <a:off x="1297969" y="3598402"/>
            <a:ext cx="3916092" cy="13449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Rectangle 13">
            <a:extLst>
              <a:ext uri="{FF2B5EF4-FFF2-40B4-BE49-F238E27FC236}">
                <a16:creationId xmlns:a16="http://schemas.microsoft.com/office/drawing/2014/main" id="{0C5614B0-CC33-CBF6-E415-2690E7CD43F2}"/>
              </a:ext>
            </a:extLst>
          </p:cNvPr>
          <p:cNvSpPr/>
          <p:nvPr/>
        </p:nvSpPr>
        <p:spPr>
          <a:xfrm>
            <a:off x="1297970" y="5984443"/>
            <a:ext cx="2429965" cy="54489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TextBox 18">
            <a:extLst>
              <a:ext uri="{FF2B5EF4-FFF2-40B4-BE49-F238E27FC236}">
                <a16:creationId xmlns:a16="http://schemas.microsoft.com/office/drawing/2014/main" id="{64224EE5-9F94-9A5D-C5CD-21206D6CB6D6}"/>
              </a:ext>
            </a:extLst>
          </p:cNvPr>
          <p:cNvSpPr txBox="1"/>
          <p:nvPr/>
        </p:nvSpPr>
        <p:spPr>
          <a:xfrm>
            <a:off x="838200" y="3140026"/>
            <a:ext cx="6095144" cy="461665"/>
          </a:xfrm>
          <a:prstGeom prst="rect">
            <a:avLst/>
          </a:prstGeom>
          <a:noFill/>
        </p:spPr>
        <p:txBody>
          <a:bodyPr wrap="square">
            <a:spAutoFit/>
          </a:bodyPr>
          <a:lstStyle/>
          <a:p>
            <a:r>
              <a:rPr lang="en-US" sz="2400" dirty="0"/>
              <a:t>A quantum gate </a:t>
            </a:r>
            <a:r>
              <a:rPr lang="en-US" sz="2400"/>
              <a:t>update amplitudes:</a:t>
            </a:r>
            <a:endParaRPr lang="en-US" sz="2400" dirty="0"/>
          </a:p>
        </p:txBody>
      </p:sp>
      <p:sp>
        <p:nvSpPr>
          <p:cNvPr id="18" name="Title 17">
            <a:extLst>
              <a:ext uri="{FF2B5EF4-FFF2-40B4-BE49-F238E27FC236}">
                <a16:creationId xmlns:a16="http://schemas.microsoft.com/office/drawing/2014/main" id="{13094FE6-FB57-044E-3A99-C91D5980EC9B}"/>
              </a:ext>
            </a:extLst>
          </p:cNvPr>
          <p:cNvSpPr>
            <a:spLocks noGrp="1"/>
          </p:cNvSpPr>
          <p:nvPr>
            <p:ph type="title"/>
          </p:nvPr>
        </p:nvSpPr>
        <p:spPr/>
        <p:txBody>
          <a:bodyPr/>
          <a:lstStyle/>
          <a:p>
            <a:r>
              <a:rPr lang="en-US" sz="5400"/>
              <a:t>Overview</a:t>
            </a:r>
            <a:endParaRPr lang="vi-VN" sz="5400"/>
          </a:p>
        </p:txBody>
      </p:sp>
      <p:cxnSp>
        <p:nvCxnSpPr>
          <p:cNvPr id="21" name="Straight Connector 20">
            <a:extLst>
              <a:ext uri="{FF2B5EF4-FFF2-40B4-BE49-F238E27FC236}">
                <a16:creationId xmlns:a16="http://schemas.microsoft.com/office/drawing/2014/main" id="{582F2B7A-36A3-0970-8CD7-B1553D3347D3}"/>
              </a:ext>
            </a:extLst>
          </p:cNvPr>
          <p:cNvCxnSpPr/>
          <p:nvPr/>
        </p:nvCxnSpPr>
        <p:spPr>
          <a:xfrm>
            <a:off x="6826176" y="1600200"/>
            <a:ext cx="0" cy="485563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F9FD4547-007B-A716-8750-1756EFACEF12}"/>
                  </a:ext>
                </a:extLst>
              </p:cNvPr>
              <p:cNvSpPr txBox="1">
                <a:spLocks/>
              </p:cNvSpPr>
              <p:nvPr/>
            </p:nvSpPr>
            <p:spPr>
              <a:xfrm>
                <a:off x="6932950" y="2036960"/>
                <a:ext cx="1604599" cy="67237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1">
                  <a:buFont typeface="Arial" panose="020B0604020202020204" pitchFamily="34" charset="0"/>
                  <a:buNone/>
                </a:pP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𝜓</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
                      </m:e>
                    </m:d>
                  </m:oMath>
                </a14:m>
                <a:r>
                  <a:rPr lang="en-US" dirty="0"/>
                  <a:t>   </a:t>
                </a:r>
              </a:p>
            </p:txBody>
          </p:sp>
        </mc:Choice>
        <mc:Fallback xmlns="">
          <p:sp>
            <p:nvSpPr>
              <p:cNvPr id="22" name="Content Placeholder 2">
                <a:extLst>
                  <a:ext uri="{FF2B5EF4-FFF2-40B4-BE49-F238E27FC236}">
                    <a16:creationId xmlns:a16="http://schemas.microsoft.com/office/drawing/2014/main" id="{F9FD4547-007B-A716-8750-1756EFACEF12}"/>
                  </a:ext>
                </a:extLst>
              </p:cNvPr>
              <p:cNvSpPr txBox="1">
                <a:spLocks noRot="1" noChangeAspect="1" noMove="1" noResize="1" noEditPoints="1" noAdjustHandles="1" noChangeArrowheads="1" noChangeShapeType="1" noTextEdit="1"/>
              </p:cNvSpPr>
              <p:nvPr/>
            </p:nvSpPr>
            <p:spPr>
              <a:xfrm>
                <a:off x="6932950" y="2036960"/>
                <a:ext cx="1604599" cy="672374"/>
              </a:xfrm>
              <a:prstGeom prst="rect">
                <a:avLst/>
              </a:prstGeom>
              <a:blipFill>
                <a:blip r:embed="rId7"/>
                <a:stretch>
                  <a:fillRect t="-740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D7AFE0E1-1654-542B-642C-D620EFB19C7C}"/>
                  </a:ext>
                </a:extLst>
              </p:cNvPr>
              <p:cNvSpPr txBox="1">
                <a:spLocks/>
              </p:cNvSpPr>
              <p:nvPr/>
            </p:nvSpPr>
            <p:spPr>
              <a:xfrm>
                <a:off x="9108458" y="1807845"/>
                <a:ext cx="1600197" cy="1260807"/>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1">
                  <a:buFont typeface="Arial" panose="020B0604020202020204" pitchFamily="34" charset="0"/>
                  <a:buNone/>
                </a:pP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𝜓</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
                            </m:e>
                          </m:mr>
                          <m:m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0</m:t>
                                    </m:r>
                                  </m:e>
                                </m:mr>
                              </m:m>
                            </m:e>
                          </m:mr>
                        </m:m>
                      </m:e>
                    </m:d>
                  </m:oMath>
                </a14:m>
                <a:r>
                  <a:rPr lang="en-US" dirty="0"/>
                  <a:t>   </a:t>
                </a:r>
              </a:p>
            </p:txBody>
          </p:sp>
        </mc:Choice>
        <mc:Fallback xmlns="">
          <p:sp>
            <p:nvSpPr>
              <p:cNvPr id="23" name="Content Placeholder 2">
                <a:extLst>
                  <a:ext uri="{FF2B5EF4-FFF2-40B4-BE49-F238E27FC236}">
                    <a16:creationId xmlns:a16="http://schemas.microsoft.com/office/drawing/2014/main" id="{D7AFE0E1-1654-542B-642C-D620EFB19C7C}"/>
                  </a:ext>
                </a:extLst>
              </p:cNvPr>
              <p:cNvSpPr txBox="1">
                <a:spLocks noRot="1" noChangeAspect="1" noMove="1" noResize="1" noEditPoints="1" noAdjustHandles="1" noChangeArrowheads="1" noChangeShapeType="1" noTextEdit="1"/>
              </p:cNvSpPr>
              <p:nvPr/>
            </p:nvSpPr>
            <p:spPr>
              <a:xfrm>
                <a:off x="9108458" y="1807845"/>
                <a:ext cx="1600197" cy="1260807"/>
              </a:xfrm>
              <a:prstGeom prst="rect">
                <a:avLst/>
              </a:prstGeom>
              <a:blipFill>
                <a:blip r:embed="rId8"/>
                <a:stretch>
                  <a:fillRect t="-120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E2461C64-B9B4-96DF-4945-07A3AF4C7E92}"/>
                  </a:ext>
                </a:extLst>
              </p:cNvPr>
              <p:cNvSpPr txBox="1">
                <a:spLocks/>
              </p:cNvSpPr>
              <p:nvPr/>
            </p:nvSpPr>
            <p:spPr>
              <a:xfrm>
                <a:off x="6988177" y="5036643"/>
                <a:ext cx="1604599" cy="67237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1">
                  <a:buFont typeface="Arial" panose="020B0604020202020204" pitchFamily="34" charset="0"/>
                  <a:buNone/>
                </a:pPr>
                <a14:m>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𝜓</m:t>
                        </m:r>
                        <m:r>
                          <a:rPr lang="en-US" sz="2400" b="0" i="1" smtClean="0">
                            <a:latin typeface="Cambria Math" panose="02040503050406030204" pitchFamily="18" charset="0"/>
                          </a:rPr>
                          <m:t>′</m:t>
                        </m:r>
                      </m:e>
                    </m:d>
                    <m:r>
                      <a:rPr lang="en-US" sz="2400" i="1">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3</m:t>
                            </m:r>
                          </m:e>
                        </m:rad>
                      </m:den>
                    </m:f>
                    <m:d>
                      <m:dPr>
                        <m:begChr m:val="["/>
                        <m:endChr m:val="]"/>
                        <m:ctrlPr>
                          <a:rPr lang="en-US" sz="2400" i="1">
                            <a:latin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1</m:t>
                              </m:r>
                            </m:e>
                          </m:mr>
                          <m:mr>
                            <m:e>
                              <m:r>
                                <a:rPr lang="en-US" sz="2400" b="0" i="1" smtClean="0">
                                  <a:latin typeface="Cambria Math" panose="02040503050406030204" pitchFamily="18" charset="0"/>
                                </a:rPr>
                                <m:t>2</m:t>
                              </m:r>
                            </m:e>
                          </m:mr>
                        </m:m>
                      </m:e>
                    </m:d>
                  </m:oMath>
                </a14:m>
                <a:r>
                  <a:rPr lang="en-US" sz="2400" dirty="0"/>
                  <a:t>   </a:t>
                </a:r>
              </a:p>
            </p:txBody>
          </p:sp>
        </mc:Choice>
        <mc:Fallback xmlns="">
          <p:sp>
            <p:nvSpPr>
              <p:cNvPr id="24" name="Content Placeholder 2">
                <a:extLst>
                  <a:ext uri="{FF2B5EF4-FFF2-40B4-BE49-F238E27FC236}">
                    <a16:creationId xmlns:a16="http://schemas.microsoft.com/office/drawing/2014/main" id="{E2461C64-B9B4-96DF-4945-07A3AF4C7E92}"/>
                  </a:ext>
                </a:extLst>
              </p:cNvPr>
              <p:cNvSpPr txBox="1">
                <a:spLocks noRot="1" noChangeAspect="1" noMove="1" noResize="1" noEditPoints="1" noAdjustHandles="1" noChangeArrowheads="1" noChangeShapeType="1" noTextEdit="1"/>
              </p:cNvSpPr>
              <p:nvPr/>
            </p:nvSpPr>
            <p:spPr>
              <a:xfrm>
                <a:off x="6988177" y="5036643"/>
                <a:ext cx="1604599" cy="672374"/>
              </a:xfrm>
              <a:prstGeom prst="rect">
                <a:avLst/>
              </a:prstGeom>
              <a:blipFill>
                <a:blip r:embed="rId9"/>
                <a:stretch>
                  <a:fillRect t="-740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A267F686-D820-D1D3-7022-05CCE15D29EC}"/>
                  </a:ext>
                </a:extLst>
              </p:cNvPr>
              <p:cNvSpPr txBox="1">
                <a:spLocks/>
              </p:cNvSpPr>
              <p:nvPr/>
            </p:nvSpPr>
            <p:spPr>
              <a:xfrm>
                <a:off x="9108457" y="4807528"/>
                <a:ext cx="2133599" cy="126080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11">
                  <a:buFont typeface="Arial" panose="020B0604020202020204" pitchFamily="34" charset="0"/>
                  <a:buNone/>
                </a:pPr>
                <a14:m>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𝜓</m:t>
                        </m:r>
                        <m:r>
                          <a:rPr lang="en-US" sz="2400" b="0" i="1" smtClean="0">
                            <a:latin typeface="Cambria Math" panose="02040503050406030204" pitchFamily="18" charset="0"/>
                          </a:rPr>
                          <m:t>′</m:t>
                        </m:r>
                      </m:e>
                    </m:d>
                    <m:r>
                      <a:rPr lang="en-US" sz="2400" i="1">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2</m:t>
                            </m:r>
                          </m:e>
                        </m:rad>
                      </m:den>
                    </m:f>
                    <m:d>
                      <m:dPr>
                        <m:begChr m:val="["/>
                        <m:endChr m:val="]"/>
                        <m:ctrlPr>
                          <a:rPr lang="en-US" sz="2400" i="1">
                            <a:latin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rPr>
                            </m:ctrlPr>
                          </m:mPr>
                          <m:mr>
                            <m:e>
                              <m:m>
                                <m:mPr>
                                  <m:mcs>
                                    <m:mc>
                                      <m:mcPr>
                                        <m:count m:val="1"/>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1</m:t>
                                    </m:r>
                                  </m:e>
                                </m:mr>
                                <m:mr>
                                  <m:e>
                                    <m:r>
                                      <a:rPr lang="en-US" sz="2400" b="0" i="1" smtClean="0">
                                        <a:latin typeface="Cambria Math" panose="02040503050406030204" pitchFamily="18" charset="0"/>
                                      </a:rPr>
                                      <m:t>0</m:t>
                                    </m:r>
                                  </m:e>
                                </m:mr>
                              </m:m>
                            </m:e>
                          </m:mr>
                          <m:mr>
                            <m:e>
                              <m:m>
                                <m:mPr>
                                  <m:mcs>
                                    <m:mc>
                                      <m:mcPr>
                                        <m:count m:val="1"/>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0</m:t>
                                    </m:r>
                                  </m:e>
                                </m:mr>
                                <m:mr>
                                  <m:e>
                                    <m:r>
                                      <a:rPr lang="en-US" sz="2400" b="0" i="1" smtClean="0">
                                        <a:latin typeface="Cambria Math" panose="02040503050406030204" pitchFamily="18" charset="0"/>
                                      </a:rPr>
                                      <m:t>−1</m:t>
                                    </m:r>
                                  </m:e>
                                </m:mr>
                              </m:m>
                            </m:e>
                          </m:mr>
                        </m:m>
                      </m:e>
                    </m:d>
                  </m:oMath>
                </a14:m>
                <a:r>
                  <a:rPr lang="en-US" sz="2400" dirty="0"/>
                  <a:t>   </a:t>
                </a:r>
              </a:p>
            </p:txBody>
          </p:sp>
        </mc:Choice>
        <mc:Fallback xmlns="">
          <p:sp>
            <p:nvSpPr>
              <p:cNvPr id="25" name="Content Placeholder 2">
                <a:extLst>
                  <a:ext uri="{FF2B5EF4-FFF2-40B4-BE49-F238E27FC236}">
                    <a16:creationId xmlns:a16="http://schemas.microsoft.com/office/drawing/2014/main" id="{A267F686-D820-D1D3-7022-05CCE15D29EC}"/>
                  </a:ext>
                </a:extLst>
              </p:cNvPr>
              <p:cNvSpPr txBox="1">
                <a:spLocks noRot="1" noChangeAspect="1" noMove="1" noResize="1" noEditPoints="1" noAdjustHandles="1" noChangeArrowheads="1" noChangeShapeType="1" noTextEdit="1"/>
              </p:cNvSpPr>
              <p:nvPr/>
            </p:nvSpPr>
            <p:spPr>
              <a:xfrm>
                <a:off x="9108457" y="4807528"/>
                <a:ext cx="2133599" cy="1260807"/>
              </a:xfrm>
              <a:prstGeom prst="rect">
                <a:avLst/>
              </a:prstGeom>
              <a:blipFill>
                <a:blip r:embed="rId10"/>
                <a:stretch>
                  <a:fillRect t="-4000"/>
                </a:stretch>
              </a:blipFill>
            </p:spPr>
            <p:txBody>
              <a:bodyPr/>
              <a:lstStyle/>
              <a:p>
                <a:r>
                  <a:rPr lang="en-VN">
                    <a:noFill/>
                  </a:rPr>
                  <a:t> </a:t>
                </a:r>
              </a:p>
            </p:txBody>
          </p:sp>
        </mc:Fallback>
      </mc:AlternateContent>
      <p:cxnSp>
        <p:nvCxnSpPr>
          <p:cNvPr id="26" name="Straight Connector 25">
            <a:extLst>
              <a:ext uri="{FF2B5EF4-FFF2-40B4-BE49-F238E27FC236}">
                <a16:creationId xmlns:a16="http://schemas.microsoft.com/office/drawing/2014/main" id="{4AD1AF85-C7F1-69D7-24C1-BFAB36881E53}"/>
              </a:ext>
            </a:extLst>
          </p:cNvPr>
          <p:cNvCxnSpPr>
            <a:cxnSpLocks/>
          </p:cNvCxnSpPr>
          <p:nvPr/>
        </p:nvCxnSpPr>
        <p:spPr>
          <a:xfrm>
            <a:off x="8649903" y="1551733"/>
            <a:ext cx="0" cy="49041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2D83891-59D7-4A9D-8AAE-52B0D03BF5B4}"/>
              </a:ext>
            </a:extLst>
          </p:cNvPr>
          <p:cNvSpPr txBox="1"/>
          <p:nvPr/>
        </p:nvSpPr>
        <p:spPr>
          <a:xfrm>
            <a:off x="6873257" y="1527440"/>
            <a:ext cx="1736451" cy="461665"/>
          </a:xfrm>
          <a:prstGeom prst="rect">
            <a:avLst/>
          </a:prstGeom>
          <a:noFill/>
        </p:spPr>
        <p:txBody>
          <a:bodyPr wrap="square">
            <a:spAutoFit/>
          </a:bodyPr>
          <a:lstStyle/>
          <a:p>
            <a:pPr algn="ctr"/>
            <a:r>
              <a:rPr lang="en-US" sz="2400"/>
              <a:t>1-qubit</a:t>
            </a:r>
            <a:endParaRPr lang="en-US" sz="2400" dirty="0"/>
          </a:p>
        </p:txBody>
      </p:sp>
      <p:sp>
        <p:nvSpPr>
          <p:cNvPr id="28" name="TextBox 27">
            <a:extLst>
              <a:ext uri="{FF2B5EF4-FFF2-40B4-BE49-F238E27FC236}">
                <a16:creationId xmlns:a16="http://schemas.microsoft.com/office/drawing/2014/main" id="{26D6C66C-5D2B-E43E-3108-42D0D8837516}"/>
              </a:ext>
            </a:extLst>
          </p:cNvPr>
          <p:cNvSpPr txBox="1"/>
          <p:nvPr/>
        </p:nvSpPr>
        <p:spPr>
          <a:xfrm>
            <a:off x="8609708" y="1527440"/>
            <a:ext cx="1523215" cy="461665"/>
          </a:xfrm>
          <a:prstGeom prst="rect">
            <a:avLst/>
          </a:prstGeom>
          <a:noFill/>
        </p:spPr>
        <p:txBody>
          <a:bodyPr wrap="square">
            <a:spAutoFit/>
          </a:bodyPr>
          <a:lstStyle/>
          <a:p>
            <a:pPr algn="ctr"/>
            <a:r>
              <a:rPr lang="en-US" sz="2400"/>
              <a:t>2-qubit</a:t>
            </a:r>
            <a:endParaRPr lang="en-US" sz="2400" dirty="0"/>
          </a:p>
        </p:txBody>
      </p:sp>
      <p:cxnSp>
        <p:nvCxnSpPr>
          <p:cNvPr id="31" name="Straight Arrow Connector 30">
            <a:extLst>
              <a:ext uri="{FF2B5EF4-FFF2-40B4-BE49-F238E27FC236}">
                <a16:creationId xmlns:a16="http://schemas.microsoft.com/office/drawing/2014/main" id="{7B338ED0-F6B4-DE38-F5F6-6CC687E9AD9A}"/>
              </a:ext>
            </a:extLst>
          </p:cNvPr>
          <p:cNvCxnSpPr>
            <a:stCxn id="22" idx="2"/>
          </p:cNvCxnSpPr>
          <p:nvPr/>
        </p:nvCxnSpPr>
        <p:spPr>
          <a:xfrm flipH="1">
            <a:off x="7728390" y="2709334"/>
            <a:ext cx="0" cy="22182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B05F22F-DA00-6796-0861-CFCA1F86E01E}"/>
              </a:ext>
            </a:extLst>
          </p:cNvPr>
          <p:cNvCxnSpPr>
            <a:cxnSpLocks/>
          </p:cNvCxnSpPr>
          <p:nvPr/>
        </p:nvCxnSpPr>
        <p:spPr>
          <a:xfrm>
            <a:off x="9349757" y="2663813"/>
            <a:ext cx="0" cy="241869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B47D55F-E308-61F6-DA27-1E4F05B82C8F}"/>
                  </a:ext>
                </a:extLst>
              </p:cNvPr>
              <p:cNvSpPr txBox="1"/>
              <p:nvPr/>
            </p:nvSpPr>
            <p:spPr>
              <a:xfrm>
                <a:off x="7278195" y="3499380"/>
                <a:ext cx="35129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𝑈</m:t>
                      </m:r>
                    </m:oMath>
                  </m:oMathPara>
                </a14:m>
                <a:endParaRPr lang="vi-VN" sz="2400"/>
              </a:p>
            </p:txBody>
          </p:sp>
        </mc:Choice>
        <mc:Fallback xmlns="">
          <p:sp>
            <p:nvSpPr>
              <p:cNvPr id="35" name="TextBox 34">
                <a:extLst>
                  <a:ext uri="{FF2B5EF4-FFF2-40B4-BE49-F238E27FC236}">
                    <a16:creationId xmlns:a16="http://schemas.microsoft.com/office/drawing/2014/main" id="{6B47D55F-E308-61F6-DA27-1E4F05B82C8F}"/>
                  </a:ext>
                </a:extLst>
              </p:cNvPr>
              <p:cNvSpPr txBox="1">
                <a:spLocks noRot="1" noChangeAspect="1" noMove="1" noResize="1" noEditPoints="1" noAdjustHandles="1" noChangeArrowheads="1" noChangeShapeType="1" noTextEdit="1"/>
              </p:cNvSpPr>
              <p:nvPr/>
            </p:nvSpPr>
            <p:spPr>
              <a:xfrm>
                <a:off x="7278195" y="3499380"/>
                <a:ext cx="351295" cy="461665"/>
              </a:xfrm>
              <a:prstGeom prst="rect">
                <a:avLst/>
              </a:prstGeom>
              <a:blipFill>
                <a:blip r:embed="rId11"/>
                <a:stretch>
                  <a:fillRect l="-3571" r="-14286"/>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BA6B76C-68AB-DE45-44EC-17B5EB3A3CB2}"/>
                  </a:ext>
                </a:extLst>
              </p:cNvPr>
              <p:cNvSpPr txBox="1"/>
              <p:nvPr/>
            </p:nvSpPr>
            <p:spPr>
              <a:xfrm>
                <a:off x="8944560" y="3501940"/>
                <a:ext cx="35129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𝑈</m:t>
                      </m:r>
                    </m:oMath>
                  </m:oMathPara>
                </a14:m>
                <a:endParaRPr lang="vi-VN" sz="2400"/>
              </a:p>
            </p:txBody>
          </p:sp>
        </mc:Choice>
        <mc:Fallback xmlns="">
          <p:sp>
            <p:nvSpPr>
              <p:cNvPr id="36" name="TextBox 35">
                <a:extLst>
                  <a:ext uri="{FF2B5EF4-FFF2-40B4-BE49-F238E27FC236}">
                    <a16:creationId xmlns:a16="http://schemas.microsoft.com/office/drawing/2014/main" id="{1BA6B76C-68AB-DE45-44EC-17B5EB3A3CB2}"/>
                  </a:ext>
                </a:extLst>
              </p:cNvPr>
              <p:cNvSpPr txBox="1">
                <a:spLocks noRot="1" noChangeAspect="1" noMove="1" noResize="1" noEditPoints="1" noAdjustHandles="1" noChangeArrowheads="1" noChangeShapeType="1" noTextEdit="1"/>
              </p:cNvSpPr>
              <p:nvPr/>
            </p:nvSpPr>
            <p:spPr>
              <a:xfrm>
                <a:off x="8944560" y="3501940"/>
                <a:ext cx="351295" cy="461665"/>
              </a:xfrm>
              <a:prstGeom prst="rect">
                <a:avLst/>
              </a:prstGeom>
              <a:blipFill>
                <a:blip r:embed="rId12"/>
                <a:stretch>
                  <a:fillRect l="-3571" r="-1785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6CEC714-D9D6-1ED3-23B3-90364A62ACA6}"/>
                  </a:ext>
                </a:extLst>
              </p:cNvPr>
              <p:cNvSpPr txBox="1"/>
              <p:nvPr/>
            </p:nvSpPr>
            <p:spPr>
              <a:xfrm>
                <a:off x="3149026" y="2493821"/>
                <a:ext cx="2812725" cy="7268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d>
                            <m:dPr>
                              <m:begChr m:val="‖"/>
                              <m:endChr m:val="‖"/>
                              <m:ctrlPr>
                                <a:rPr lang="en-US" sz="2800" b="0" i="1" smtClean="0">
                                  <a:latin typeface="Cambria Math" panose="02040503050406030204" pitchFamily="18" charset="0"/>
                                </a:rPr>
                              </m:ctrlPr>
                            </m:dPr>
                            <m:e>
                              <m:sSubSup>
                                <m:sSubSupPr>
                                  <m:ctrlPr>
                                    <a:rPr lang="en-US" sz="2800" i="1">
                                      <a:latin typeface="Cambria Math" panose="02040503050406030204" pitchFamily="18" charset="0"/>
                                    </a:rPr>
                                  </m:ctrlPr>
                                </m:sSubSupPr>
                                <m:e>
                                  <m:r>
                                    <a:rPr lang="en-US" sz="2800" i="1">
                                      <a:latin typeface="Cambria Math" panose="02040503050406030204" pitchFamily="18" charset="0"/>
                                    </a:rPr>
                                    <m:t>𝛼</m:t>
                                  </m:r>
                                </m:e>
                                <m:sub>
                                  <m:r>
                                    <a:rPr lang="en-US" sz="2800" i="1">
                                      <a:latin typeface="Cambria Math" panose="02040503050406030204" pitchFamily="18" charset="0"/>
                                    </a:rPr>
                                    <m:t>𝑗</m:t>
                                  </m:r>
                                </m:sub>
                                <m:sup>
                                  <m:d>
                                    <m:dPr>
                                      <m:ctrlPr>
                                        <a:rPr lang="en-US" sz="2800" i="1">
                                          <a:latin typeface="Cambria Math" panose="02040503050406030204" pitchFamily="18" charset="0"/>
                                        </a:rPr>
                                      </m:ctrlPr>
                                    </m:dPr>
                                    <m:e>
                                      <m:r>
                                        <a:rPr lang="en-US" sz="2800" i="1">
                                          <a:latin typeface="Cambria Math" panose="02040503050406030204" pitchFamily="18" charset="0"/>
                                        </a:rPr>
                                        <m:t>𝑡</m:t>
                                      </m:r>
                                    </m:e>
                                  </m:d>
                                </m:sup>
                              </m:sSubSup>
                            </m:e>
                          </m:d>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r>
                        <a:rPr lang="en-US" sz="2800" i="1">
                          <a:latin typeface="Cambria Math" panose="02040503050406030204" pitchFamily="18" charset="0"/>
                        </a:rPr>
                        <m:t>1</m:t>
                      </m:r>
                      <m:r>
                        <a:rPr lang="en-US" sz="2800" b="0" i="1" smtClean="0">
                          <a:latin typeface="Cambria Math" panose="02040503050406030204" pitchFamily="18" charset="0"/>
                        </a:rPr>
                        <m:t>.</m:t>
                      </m:r>
                    </m:oMath>
                  </m:oMathPara>
                </a14:m>
                <a:endParaRPr lang="en-US" sz="2800" dirty="0"/>
              </a:p>
            </p:txBody>
          </p:sp>
        </mc:Choice>
        <mc:Fallback xmlns="">
          <p:sp>
            <p:nvSpPr>
              <p:cNvPr id="37" name="TextBox 36">
                <a:extLst>
                  <a:ext uri="{FF2B5EF4-FFF2-40B4-BE49-F238E27FC236}">
                    <a16:creationId xmlns:a16="http://schemas.microsoft.com/office/drawing/2014/main" id="{E6CEC714-D9D6-1ED3-23B3-90364A62ACA6}"/>
                  </a:ext>
                </a:extLst>
              </p:cNvPr>
              <p:cNvSpPr txBox="1">
                <a:spLocks noRot="1" noChangeAspect="1" noMove="1" noResize="1" noEditPoints="1" noAdjustHandles="1" noChangeArrowheads="1" noChangeShapeType="1" noTextEdit="1"/>
              </p:cNvSpPr>
              <p:nvPr/>
            </p:nvSpPr>
            <p:spPr>
              <a:xfrm>
                <a:off x="3149026" y="2493821"/>
                <a:ext cx="2812725" cy="726802"/>
              </a:xfrm>
              <a:prstGeom prst="rect">
                <a:avLst/>
              </a:prstGeom>
              <a:blipFill>
                <a:blip r:embed="rId13"/>
                <a:stretch>
                  <a:fillRect b="-12069"/>
                </a:stretch>
              </a:blipFill>
            </p:spPr>
            <p:txBody>
              <a:bodyPr/>
              <a:lstStyle/>
              <a:p>
                <a:r>
                  <a:rPr lang="en-VN">
                    <a:noFill/>
                  </a:rPr>
                  <a:t> </a:t>
                </a:r>
              </a:p>
            </p:txBody>
          </p:sp>
        </mc:Fallback>
      </mc:AlternateContent>
    </p:spTree>
    <p:extLst>
      <p:ext uri="{BB962C8B-B14F-4D97-AF65-F5344CB8AC3E}">
        <p14:creationId xmlns:p14="http://schemas.microsoft.com/office/powerpoint/2010/main" val="3018939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D6707-8B25-3C9A-EFD4-323A09E221AD}"/>
              </a:ext>
            </a:extLst>
          </p:cNvPr>
          <p:cNvSpPr>
            <a:spLocks noGrp="1"/>
          </p:cNvSpPr>
          <p:nvPr>
            <p:ph type="title"/>
          </p:nvPr>
        </p:nvSpPr>
        <p:spPr/>
        <p:txBody>
          <a:bodyPr/>
          <a:lstStyle/>
          <a:p>
            <a:r>
              <a:rPr lang="en-US"/>
              <a:t>Notation</a:t>
            </a:r>
            <a:endParaRPr lang="vi-VN"/>
          </a:p>
        </p:txBody>
      </p:sp>
      <p:sp>
        <p:nvSpPr>
          <p:cNvPr id="4" name="Slide Number Placeholder 3">
            <a:extLst>
              <a:ext uri="{FF2B5EF4-FFF2-40B4-BE49-F238E27FC236}">
                <a16:creationId xmlns:a16="http://schemas.microsoft.com/office/drawing/2014/main" id="{0E7E8A90-EB5F-963D-A777-8EF15D3D6D48}"/>
              </a:ext>
            </a:extLst>
          </p:cNvPr>
          <p:cNvSpPr>
            <a:spLocks noGrp="1"/>
          </p:cNvSpPr>
          <p:nvPr>
            <p:ph type="sldNum" sz="quarter" idx="12"/>
          </p:nvPr>
        </p:nvSpPr>
        <p:spPr/>
        <p:txBody>
          <a:bodyPr/>
          <a:lstStyle/>
          <a:p>
            <a:fld id="{71331178-9F85-4EDF-BDD3-1E7064DA4C59}" type="slidenum">
              <a:rPr lang="vi-VN" smtClean="0"/>
              <a:t>5</a:t>
            </a:fld>
            <a:endParaRPr lang="vi-VN"/>
          </a:p>
        </p:txBody>
      </p:sp>
      <p:cxnSp>
        <p:nvCxnSpPr>
          <p:cNvPr id="5" name="Straight Connector 4">
            <a:extLst>
              <a:ext uri="{FF2B5EF4-FFF2-40B4-BE49-F238E27FC236}">
                <a16:creationId xmlns:a16="http://schemas.microsoft.com/office/drawing/2014/main" id="{B540D89B-4A8C-23A3-3A2B-75A5216CC675}"/>
              </a:ext>
            </a:extLst>
          </p:cNvPr>
          <p:cNvCxnSpPr>
            <a:cxnSpLocks/>
          </p:cNvCxnSpPr>
          <p:nvPr/>
        </p:nvCxnSpPr>
        <p:spPr>
          <a:xfrm>
            <a:off x="930721" y="2439255"/>
            <a:ext cx="2918852"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03C878A8-E32D-E568-1D0B-EC4D121FCB0A}"/>
                  </a:ext>
                </a:extLst>
              </p:cNvPr>
              <p:cNvSpPr/>
              <p:nvPr/>
            </p:nvSpPr>
            <p:spPr>
              <a:xfrm>
                <a:off x="1711820" y="2167106"/>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𝑈</m:t>
                      </m:r>
                    </m:oMath>
                  </m:oMathPara>
                </a14:m>
                <a:endParaRPr lang="vi-VN" sz="2400">
                  <a:solidFill>
                    <a:schemeClr val="tx1"/>
                  </a:solidFill>
                </a:endParaRPr>
              </a:p>
            </p:txBody>
          </p:sp>
        </mc:Choice>
        <mc:Fallback xmlns="">
          <p:sp>
            <p:nvSpPr>
              <p:cNvPr id="6" name="Rectangle 5">
                <a:extLst>
                  <a:ext uri="{FF2B5EF4-FFF2-40B4-BE49-F238E27FC236}">
                    <a16:creationId xmlns:a16="http://schemas.microsoft.com/office/drawing/2014/main" id="{03C878A8-E32D-E568-1D0B-EC4D121FCB0A}"/>
                  </a:ext>
                </a:extLst>
              </p:cNvPr>
              <p:cNvSpPr>
                <a:spLocks noRot="1" noChangeAspect="1" noMove="1" noResize="1" noEditPoints="1" noAdjustHandles="1" noChangeArrowheads="1" noChangeShapeType="1" noTextEdit="1"/>
              </p:cNvSpPr>
              <p:nvPr/>
            </p:nvSpPr>
            <p:spPr>
              <a:xfrm>
                <a:off x="1711820" y="2167106"/>
                <a:ext cx="1152626" cy="544297"/>
              </a:xfrm>
              <a:prstGeom prst="rect">
                <a:avLst/>
              </a:prstGeom>
              <a:blipFill>
                <a:blip r:embed="rId2"/>
                <a:stretch>
                  <a:fillRect/>
                </a:stretch>
              </a:blipFill>
              <a:ln>
                <a:solidFill>
                  <a:schemeClr val="tx1"/>
                </a:solidFill>
              </a:ln>
            </p:spPr>
            <p:txBody>
              <a:bodyPr/>
              <a:lstStyle/>
              <a:p>
                <a:r>
                  <a:rPr lang="vi-VN">
                    <a:noFill/>
                  </a:rPr>
                  <a:t> </a:t>
                </a:r>
              </a:p>
            </p:txBody>
          </p:sp>
        </mc:Fallback>
      </mc:AlternateContent>
      <p:sp>
        <p:nvSpPr>
          <p:cNvPr id="8" name="TextBox 7">
            <a:extLst>
              <a:ext uri="{FF2B5EF4-FFF2-40B4-BE49-F238E27FC236}">
                <a16:creationId xmlns:a16="http://schemas.microsoft.com/office/drawing/2014/main" id="{E68C0BF8-0C14-3C1E-C2D9-B41E2DBCCCF1}"/>
              </a:ext>
            </a:extLst>
          </p:cNvPr>
          <p:cNvSpPr txBox="1"/>
          <p:nvPr/>
        </p:nvSpPr>
        <p:spPr>
          <a:xfrm>
            <a:off x="3991028" y="2254588"/>
            <a:ext cx="4693246" cy="461665"/>
          </a:xfrm>
          <a:prstGeom prst="rect">
            <a:avLst/>
          </a:prstGeom>
          <a:noFill/>
        </p:spPr>
        <p:txBody>
          <a:bodyPr wrap="square" rtlCol="0">
            <a:spAutoFit/>
          </a:bodyPr>
          <a:lstStyle/>
          <a:p>
            <a:r>
              <a:rPr lang="en-US" sz="2400"/>
              <a:t>A quantum gate act on a wire</a:t>
            </a:r>
            <a:endParaRPr lang="vi-VN" sz="2400"/>
          </a:p>
        </p:txBody>
      </p:sp>
      <p:cxnSp>
        <p:nvCxnSpPr>
          <p:cNvPr id="9" name="Straight Connector 8">
            <a:extLst>
              <a:ext uri="{FF2B5EF4-FFF2-40B4-BE49-F238E27FC236}">
                <a16:creationId xmlns:a16="http://schemas.microsoft.com/office/drawing/2014/main" id="{2BC3C804-C9D9-695C-EC4E-030D2CCBE051}"/>
              </a:ext>
            </a:extLst>
          </p:cNvPr>
          <p:cNvCxnSpPr>
            <a:cxnSpLocks/>
          </p:cNvCxnSpPr>
          <p:nvPr/>
        </p:nvCxnSpPr>
        <p:spPr>
          <a:xfrm>
            <a:off x="926827" y="3526601"/>
            <a:ext cx="2918852"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0527DBB3-FEDB-D773-2E04-B6A5C4BF96ED}"/>
                  </a:ext>
                </a:extLst>
              </p:cNvPr>
              <p:cNvSpPr/>
              <p:nvPr/>
            </p:nvSpPr>
            <p:spPr>
              <a:xfrm>
                <a:off x="1753078" y="3254452"/>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𝑈</m:t>
                      </m:r>
                    </m:oMath>
                  </m:oMathPara>
                </a14:m>
                <a:endParaRPr lang="vi-VN" sz="2400">
                  <a:solidFill>
                    <a:schemeClr val="tx1"/>
                  </a:solidFill>
                </a:endParaRPr>
              </a:p>
            </p:txBody>
          </p:sp>
        </mc:Choice>
        <mc:Fallback xmlns="">
          <p:sp>
            <p:nvSpPr>
              <p:cNvPr id="10" name="Rectangle 9">
                <a:extLst>
                  <a:ext uri="{FF2B5EF4-FFF2-40B4-BE49-F238E27FC236}">
                    <a16:creationId xmlns:a16="http://schemas.microsoft.com/office/drawing/2014/main" id="{0527DBB3-FEDB-D773-2E04-B6A5C4BF96ED}"/>
                  </a:ext>
                </a:extLst>
              </p:cNvPr>
              <p:cNvSpPr>
                <a:spLocks noRot="1" noChangeAspect="1" noMove="1" noResize="1" noEditPoints="1" noAdjustHandles="1" noChangeArrowheads="1" noChangeShapeType="1" noTextEdit="1"/>
              </p:cNvSpPr>
              <p:nvPr/>
            </p:nvSpPr>
            <p:spPr>
              <a:xfrm>
                <a:off x="1753078" y="3254452"/>
                <a:ext cx="1152626" cy="544297"/>
              </a:xfrm>
              <a:prstGeom prst="rect">
                <a:avLst/>
              </a:prstGeom>
              <a:blipFill>
                <a:blip r:embed="rId3"/>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A698659-3472-4D01-C3F4-C35FFB4EAF1A}"/>
                  </a:ext>
                </a:extLst>
              </p:cNvPr>
              <p:cNvSpPr txBox="1"/>
              <p:nvPr/>
            </p:nvSpPr>
            <p:spPr>
              <a:xfrm>
                <a:off x="4032285" y="3341934"/>
                <a:ext cx="5369363" cy="461665"/>
              </a:xfrm>
              <a:prstGeom prst="rect">
                <a:avLst/>
              </a:prstGeom>
              <a:noFill/>
            </p:spPr>
            <p:txBody>
              <a:bodyPr wrap="square" rtlCol="0">
                <a:spAutoFit/>
              </a:bodyPr>
              <a:lstStyle/>
              <a:p>
                <a:r>
                  <a:rPr lang="en-US" sz="2400"/>
                  <a:t>A </a:t>
                </a:r>
                <a14:m>
                  <m:oMath xmlns:m="http://schemas.openxmlformats.org/officeDocument/2006/math">
                    <m:r>
                      <a:rPr lang="en-US" sz="2400" b="0" i="1" smtClean="0">
                        <a:latin typeface="Cambria Math" panose="02040503050406030204" pitchFamily="18" charset="0"/>
                      </a:rPr>
                      <m:t>𝑛</m:t>
                    </m:r>
                  </m:oMath>
                </a14:m>
                <a:r>
                  <a:rPr lang="en-US" sz="2400"/>
                  <a:t>-qubit quantum gate act on </a:t>
                </a:r>
                <a14:m>
                  <m:oMath xmlns:m="http://schemas.openxmlformats.org/officeDocument/2006/math">
                    <m:r>
                      <a:rPr lang="en-US" sz="2400" b="0" i="1" smtClean="0">
                        <a:latin typeface="Cambria Math" panose="02040503050406030204" pitchFamily="18" charset="0"/>
                      </a:rPr>
                      <m:t>𝑛</m:t>
                    </m:r>
                  </m:oMath>
                </a14:m>
                <a:r>
                  <a:rPr lang="en-US" sz="2400"/>
                  <a:t> wires</a:t>
                </a:r>
                <a:endParaRPr lang="vi-VN" sz="2400"/>
              </a:p>
            </p:txBody>
          </p:sp>
        </mc:Choice>
        <mc:Fallback xmlns="">
          <p:sp>
            <p:nvSpPr>
              <p:cNvPr id="11" name="TextBox 10">
                <a:extLst>
                  <a:ext uri="{FF2B5EF4-FFF2-40B4-BE49-F238E27FC236}">
                    <a16:creationId xmlns:a16="http://schemas.microsoft.com/office/drawing/2014/main" id="{FA698659-3472-4D01-C3F4-C35FFB4EAF1A}"/>
                  </a:ext>
                </a:extLst>
              </p:cNvPr>
              <p:cNvSpPr txBox="1">
                <a:spLocks noRot="1" noChangeAspect="1" noMove="1" noResize="1" noEditPoints="1" noAdjustHandles="1" noChangeArrowheads="1" noChangeShapeType="1" noTextEdit="1"/>
              </p:cNvSpPr>
              <p:nvPr/>
            </p:nvSpPr>
            <p:spPr>
              <a:xfrm>
                <a:off x="4032285" y="3341934"/>
                <a:ext cx="5369363" cy="461665"/>
              </a:xfrm>
              <a:prstGeom prst="rect">
                <a:avLst/>
              </a:prstGeom>
              <a:blipFill>
                <a:blip r:embed="rId4"/>
                <a:stretch>
                  <a:fillRect l="-1703" t="-10526" b="-28947"/>
                </a:stretch>
              </a:blipFill>
            </p:spPr>
            <p:txBody>
              <a:bodyPr/>
              <a:lstStyle/>
              <a:p>
                <a:r>
                  <a:rPr lang="vi-VN">
                    <a:noFill/>
                  </a:rPr>
                  <a:t> </a:t>
                </a:r>
              </a:p>
            </p:txBody>
          </p:sp>
        </mc:Fallback>
      </mc:AlternateContent>
      <p:cxnSp>
        <p:nvCxnSpPr>
          <p:cNvPr id="12" name="Straight Connector 11">
            <a:extLst>
              <a:ext uri="{FF2B5EF4-FFF2-40B4-BE49-F238E27FC236}">
                <a16:creationId xmlns:a16="http://schemas.microsoft.com/office/drawing/2014/main" id="{467ABAD3-C63D-0567-8A7A-7451F6EB280C}"/>
              </a:ext>
            </a:extLst>
          </p:cNvPr>
          <p:cNvCxnSpPr>
            <a:cxnSpLocks/>
          </p:cNvCxnSpPr>
          <p:nvPr/>
        </p:nvCxnSpPr>
        <p:spPr>
          <a:xfrm flipV="1">
            <a:off x="1313736" y="3352799"/>
            <a:ext cx="290162" cy="34760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49A40CA-8532-2199-7F77-DE2E244694F3}"/>
                  </a:ext>
                </a:extLst>
              </p:cNvPr>
              <p:cNvSpPr txBox="1"/>
              <p:nvPr/>
            </p:nvSpPr>
            <p:spPr>
              <a:xfrm>
                <a:off x="1221626" y="2898730"/>
                <a:ext cx="6651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𝑛</m:t>
                      </m:r>
                    </m:oMath>
                  </m:oMathPara>
                </a14:m>
                <a:endParaRPr lang="vi-VN" sz="2400"/>
              </a:p>
            </p:txBody>
          </p:sp>
        </mc:Choice>
        <mc:Fallback xmlns="">
          <p:sp>
            <p:nvSpPr>
              <p:cNvPr id="15" name="TextBox 14">
                <a:extLst>
                  <a:ext uri="{FF2B5EF4-FFF2-40B4-BE49-F238E27FC236}">
                    <a16:creationId xmlns:a16="http://schemas.microsoft.com/office/drawing/2014/main" id="{749A40CA-8532-2199-7F77-DE2E244694F3}"/>
                  </a:ext>
                </a:extLst>
              </p:cNvPr>
              <p:cNvSpPr txBox="1">
                <a:spLocks noRot="1" noChangeAspect="1" noMove="1" noResize="1" noEditPoints="1" noAdjustHandles="1" noChangeArrowheads="1" noChangeShapeType="1" noTextEdit="1"/>
              </p:cNvSpPr>
              <p:nvPr/>
            </p:nvSpPr>
            <p:spPr>
              <a:xfrm>
                <a:off x="1221626" y="2898730"/>
                <a:ext cx="665170" cy="461665"/>
              </a:xfrm>
              <a:prstGeom prst="rect">
                <a:avLst/>
              </a:prstGeom>
              <a:blipFill>
                <a:blip r:embed="rId5"/>
                <a:stretch>
                  <a:fillRect/>
                </a:stretch>
              </a:blipFill>
            </p:spPr>
            <p:txBody>
              <a:bodyPr/>
              <a:lstStyle/>
              <a:p>
                <a:r>
                  <a:rPr lang="vi-VN">
                    <a:noFill/>
                  </a:rPr>
                  <a:t> </a:t>
                </a:r>
              </a:p>
            </p:txBody>
          </p:sp>
        </mc:Fallback>
      </mc:AlternateContent>
      <p:cxnSp>
        <p:nvCxnSpPr>
          <p:cNvPr id="16" name="Straight Connector 15">
            <a:extLst>
              <a:ext uri="{FF2B5EF4-FFF2-40B4-BE49-F238E27FC236}">
                <a16:creationId xmlns:a16="http://schemas.microsoft.com/office/drawing/2014/main" id="{ED62A056-8C5E-E8D5-C3EE-AEA7C124E75C}"/>
              </a:ext>
            </a:extLst>
          </p:cNvPr>
          <p:cNvCxnSpPr>
            <a:cxnSpLocks/>
            <a:endCxn id="17" idx="1"/>
          </p:cNvCxnSpPr>
          <p:nvPr/>
        </p:nvCxnSpPr>
        <p:spPr>
          <a:xfrm>
            <a:off x="919130" y="4428636"/>
            <a:ext cx="1051991" cy="0"/>
          </a:xfrm>
          <a:prstGeom prst="line">
            <a:avLst/>
          </a:prstGeom>
          <a:ln w="38100"/>
        </p:spPr>
        <p:style>
          <a:lnRef idx="1">
            <a:schemeClr val="dk1"/>
          </a:lnRef>
          <a:fillRef idx="0">
            <a:schemeClr val="dk1"/>
          </a:fillRef>
          <a:effectRef idx="0">
            <a:schemeClr val="dk1"/>
          </a:effectRef>
          <a:fontRef idx="minor">
            <a:schemeClr val="tx1"/>
          </a:fontRef>
        </p:style>
      </p:cxnSp>
      <p:sp>
        <p:nvSpPr>
          <p:cNvPr id="17" name="Hình chữ nhật 93">
            <a:extLst>
              <a:ext uri="{FF2B5EF4-FFF2-40B4-BE49-F238E27FC236}">
                <a16:creationId xmlns:a16="http://schemas.microsoft.com/office/drawing/2014/main" id="{F11D7677-DF23-55E5-8A12-F0BBA6D337D0}"/>
              </a:ext>
            </a:extLst>
          </p:cNvPr>
          <p:cNvSpPr/>
          <p:nvPr/>
        </p:nvSpPr>
        <p:spPr>
          <a:xfrm>
            <a:off x="1971121" y="4275169"/>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8" name="Arc 17">
            <a:extLst>
              <a:ext uri="{FF2B5EF4-FFF2-40B4-BE49-F238E27FC236}">
                <a16:creationId xmlns:a16="http://schemas.microsoft.com/office/drawing/2014/main" id="{E3BECC89-20E2-4CF5-C6D7-483B1BAD9BF2}"/>
              </a:ext>
            </a:extLst>
          </p:cNvPr>
          <p:cNvSpPr/>
          <p:nvPr/>
        </p:nvSpPr>
        <p:spPr>
          <a:xfrm>
            <a:off x="2026818" y="4419769"/>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9" name="Straight Arrow Connector 18">
            <a:extLst>
              <a:ext uri="{FF2B5EF4-FFF2-40B4-BE49-F238E27FC236}">
                <a16:creationId xmlns:a16="http://schemas.microsoft.com/office/drawing/2014/main" id="{61B74BDA-3C03-B71B-5C61-8368F9048B44}"/>
              </a:ext>
            </a:extLst>
          </p:cNvPr>
          <p:cNvCxnSpPr>
            <a:cxnSpLocks/>
          </p:cNvCxnSpPr>
          <p:nvPr/>
        </p:nvCxnSpPr>
        <p:spPr>
          <a:xfrm flipV="1">
            <a:off x="2081034" y="4342140"/>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F9B39C89-AE49-81AD-A9BD-F0DE577D41EA}"/>
              </a:ext>
            </a:extLst>
          </p:cNvPr>
          <p:cNvCxnSpPr>
            <a:cxnSpLocks/>
          </p:cNvCxnSpPr>
          <p:nvPr/>
        </p:nvCxnSpPr>
        <p:spPr>
          <a:xfrm>
            <a:off x="944740" y="5241439"/>
            <a:ext cx="216415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751D6E61-2F2D-CC4D-F58A-A26BD37152BA}"/>
              </a:ext>
            </a:extLst>
          </p:cNvPr>
          <p:cNvCxnSpPr>
            <a:cxnSpLocks/>
          </p:cNvCxnSpPr>
          <p:nvPr/>
        </p:nvCxnSpPr>
        <p:spPr>
          <a:xfrm>
            <a:off x="944740" y="5186402"/>
            <a:ext cx="2164155" cy="0"/>
          </a:xfrm>
          <a:prstGeom prst="line">
            <a:avLst/>
          </a:prstGeom>
          <a:ln w="28575"/>
        </p:spPr>
        <p:style>
          <a:lnRef idx="1">
            <a:schemeClr val="dk1"/>
          </a:lnRef>
          <a:fillRef idx="0">
            <a:schemeClr val="dk1"/>
          </a:fillRef>
          <a:effectRef idx="0">
            <a:schemeClr val="dk1"/>
          </a:effectRef>
          <a:fontRef idx="minor">
            <a:schemeClr val="tx1"/>
          </a:fontRef>
        </p:style>
      </p:cxnSp>
      <p:sp>
        <p:nvSpPr>
          <p:cNvPr id="26" name="Arrow: Down 25">
            <a:extLst>
              <a:ext uri="{FF2B5EF4-FFF2-40B4-BE49-F238E27FC236}">
                <a16:creationId xmlns:a16="http://schemas.microsoft.com/office/drawing/2014/main" id="{09F6BF60-5F9B-1E8C-3507-E976F464947F}"/>
              </a:ext>
            </a:extLst>
          </p:cNvPr>
          <p:cNvSpPr/>
          <p:nvPr/>
        </p:nvSpPr>
        <p:spPr>
          <a:xfrm>
            <a:off x="2075829" y="4583581"/>
            <a:ext cx="116340" cy="572617"/>
          </a:xfrm>
          <a:prstGeom prst="downArrow">
            <a:avLst>
              <a:gd name="adj1" fmla="val 50000"/>
              <a:gd name="adj2" fmla="val 5272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2B2E1EA-ED2E-AA5E-97ED-2FDE88C52CDC}"/>
                  </a:ext>
                </a:extLst>
              </p:cNvPr>
              <p:cNvSpPr txBox="1"/>
              <p:nvPr/>
            </p:nvSpPr>
            <p:spPr>
              <a:xfrm>
                <a:off x="919130" y="4858603"/>
                <a:ext cx="1772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xmlns="">
          <p:sp>
            <p:nvSpPr>
              <p:cNvPr id="27" name="TextBox 26">
                <a:extLst>
                  <a:ext uri="{FF2B5EF4-FFF2-40B4-BE49-F238E27FC236}">
                    <a16:creationId xmlns:a16="http://schemas.microsoft.com/office/drawing/2014/main" id="{22B2E1EA-ED2E-AA5E-97ED-2FDE88C52CDC}"/>
                  </a:ext>
                </a:extLst>
              </p:cNvPr>
              <p:cNvSpPr txBox="1">
                <a:spLocks noRot="1" noChangeAspect="1" noMove="1" noResize="1" noEditPoints="1" noAdjustHandles="1" noChangeArrowheads="1" noChangeShapeType="1" noTextEdit="1"/>
              </p:cNvSpPr>
              <p:nvPr/>
            </p:nvSpPr>
            <p:spPr>
              <a:xfrm>
                <a:off x="919130" y="4858603"/>
                <a:ext cx="177228" cy="276999"/>
              </a:xfrm>
              <a:prstGeom prst="rect">
                <a:avLst/>
              </a:prstGeom>
              <a:blipFill>
                <a:blip r:embed="rId6"/>
                <a:stretch>
                  <a:fillRect l="-17241" r="-10345" b="-222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B575F88-008A-D654-E004-7799BC405182}"/>
                  </a:ext>
                </a:extLst>
              </p:cNvPr>
              <p:cNvSpPr txBox="1"/>
              <p:nvPr/>
            </p:nvSpPr>
            <p:spPr>
              <a:xfrm>
                <a:off x="900214" y="4083183"/>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xmlns="">
          <p:sp>
            <p:nvSpPr>
              <p:cNvPr id="28" name="TextBox 27">
                <a:extLst>
                  <a:ext uri="{FF2B5EF4-FFF2-40B4-BE49-F238E27FC236}">
                    <a16:creationId xmlns:a16="http://schemas.microsoft.com/office/drawing/2014/main" id="{BB575F88-008A-D654-E004-7799BC405182}"/>
                  </a:ext>
                </a:extLst>
              </p:cNvPr>
              <p:cNvSpPr txBox="1">
                <a:spLocks noRot="1" noChangeAspect="1" noMove="1" noResize="1" noEditPoints="1" noAdjustHandles="1" noChangeArrowheads="1" noChangeShapeType="1" noTextEdit="1"/>
              </p:cNvSpPr>
              <p:nvPr/>
            </p:nvSpPr>
            <p:spPr>
              <a:xfrm>
                <a:off x="900214" y="4083183"/>
                <a:ext cx="196144" cy="276999"/>
              </a:xfrm>
              <a:prstGeom prst="rect">
                <a:avLst/>
              </a:prstGeom>
              <a:blipFill>
                <a:blip r:embed="rId7"/>
                <a:stretch>
                  <a:fillRect l="-28125" r="-21875" b="-288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99CF2EF-ACEF-5B54-A9C6-DF8A45ED18B5}"/>
                  </a:ext>
                </a:extLst>
              </p:cNvPr>
              <p:cNvSpPr txBox="1"/>
              <p:nvPr/>
            </p:nvSpPr>
            <p:spPr>
              <a:xfrm>
                <a:off x="898090" y="2042312"/>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xmlns="">
          <p:sp>
            <p:nvSpPr>
              <p:cNvPr id="29" name="TextBox 28">
                <a:extLst>
                  <a:ext uri="{FF2B5EF4-FFF2-40B4-BE49-F238E27FC236}">
                    <a16:creationId xmlns:a16="http://schemas.microsoft.com/office/drawing/2014/main" id="{D99CF2EF-ACEF-5B54-A9C6-DF8A45ED18B5}"/>
                  </a:ext>
                </a:extLst>
              </p:cNvPr>
              <p:cNvSpPr txBox="1">
                <a:spLocks noRot="1" noChangeAspect="1" noMove="1" noResize="1" noEditPoints="1" noAdjustHandles="1" noChangeArrowheads="1" noChangeShapeType="1" noTextEdit="1"/>
              </p:cNvSpPr>
              <p:nvPr/>
            </p:nvSpPr>
            <p:spPr>
              <a:xfrm>
                <a:off x="898090" y="2042312"/>
                <a:ext cx="196144" cy="276999"/>
              </a:xfrm>
              <a:prstGeom prst="rect">
                <a:avLst/>
              </a:prstGeom>
              <a:blipFill>
                <a:blip r:embed="rId8"/>
                <a:stretch>
                  <a:fillRect l="-27273" r="-18182" b="-288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A3CD9B9-9935-6B54-D8B2-153CC11DF112}"/>
                  </a:ext>
                </a:extLst>
              </p:cNvPr>
              <p:cNvSpPr txBox="1"/>
              <p:nvPr/>
            </p:nvSpPr>
            <p:spPr>
              <a:xfrm>
                <a:off x="897464" y="3145331"/>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xmlns="">
          <p:sp>
            <p:nvSpPr>
              <p:cNvPr id="30" name="TextBox 29">
                <a:extLst>
                  <a:ext uri="{FF2B5EF4-FFF2-40B4-BE49-F238E27FC236}">
                    <a16:creationId xmlns:a16="http://schemas.microsoft.com/office/drawing/2014/main" id="{4A3CD9B9-9935-6B54-D8B2-153CC11DF112}"/>
                  </a:ext>
                </a:extLst>
              </p:cNvPr>
              <p:cNvSpPr txBox="1">
                <a:spLocks noRot="1" noChangeAspect="1" noMove="1" noResize="1" noEditPoints="1" noAdjustHandles="1" noChangeArrowheads="1" noChangeShapeType="1" noTextEdit="1"/>
              </p:cNvSpPr>
              <p:nvPr/>
            </p:nvSpPr>
            <p:spPr>
              <a:xfrm>
                <a:off x="897464" y="3145331"/>
                <a:ext cx="196144" cy="276999"/>
              </a:xfrm>
              <a:prstGeom prst="rect">
                <a:avLst/>
              </a:prstGeom>
              <a:blipFill>
                <a:blip r:embed="rId9"/>
                <a:stretch>
                  <a:fillRect l="-28125" r="-21875" b="-288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34CE707-6454-916C-F62D-52904E50FA92}"/>
                  </a:ext>
                </a:extLst>
              </p:cNvPr>
              <p:cNvSpPr txBox="1"/>
              <p:nvPr/>
            </p:nvSpPr>
            <p:spPr>
              <a:xfrm>
                <a:off x="3991028" y="4188040"/>
                <a:ext cx="5369363" cy="461665"/>
              </a:xfrm>
              <a:prstGeom prst="rect">
                <a:avLst/>
              </a:prstGeom>
              <a:noFill/>
            </p:spPr>
            <p:txBody>
              <a:bodyPr wrap="square" rtlCol="0">
                <a:spAutoFit/>
              </a:bodyPr>
              <a:lstStyle/>
              <a:p>
                <a:r>
                  <a:rPr lang="en-US" sz="2400"/>
                  <a:t>Measure qubit </a:t>
                </a:r>
                <a14:m>
                  <m:oMath xmlns:m="http://schemas.openxmlformats.org/officeDocument/2006/math">
                    <m:r>
                      <a:rPr lang="en-US" sz="2400" b="0" i="1" smtClean="0">
                        <a:latin typeface="Cambria Math" panose="02040503050406030204" pitchFamily="18" charset="0"/>
                      </a:rPr>
                      <m:t>𝑞</m:t>
                    </m:r>
                  </m:oMath>
                </a14:m>
                <a:endParaRPr lang="vi-VN" sz="2400"/>
              </a:p>
            </p:txBody>
          </p:sp>
        </mc:Choice>
        <mc:Fallback xmlns="">
          <p:sp>
            <p:nvSpPr>
              <p:cNvPr id="31" name="TextBox 30">
                <a:extLst>
                  <a:ext uri="{FF2B5EF4-FFF2-40B4-BE49-F238E27FC236}">
                    <a16:creationId xmlns:a16="http://schemas.microsoft.com/office/drawing/2014/main" id="{434CE707-6454-916C-F62D-52904E50FA92}"/>
                  </a:ext>
                </a:extLst>
              </p:cNvPr>
              <p:cNvSpPr txBox="1">
                <a:spLocks noRot="1" noChangeAspect="1" noMove="1" noResize="1" noEditPoints="1" noAdjustHandles="1" noChangeArrowheads="1" noChangeShapeType="1" noTextEdit="1"/>
              </p:cNvSpPr>
              <p:nvPr/>
            </p:nvSpPr>
            <p:spPr>
              <a:xfrm>
                <a:off x="3991028" y="4188040"/>
                <a:ext cx="5369363" cy="461665"/>
              </a:xfrm>
              <a:prstGeom prst="rect">
                <a:avLst/>
              </a:prstGeom>
              <a:blipFill>
                <a:blip r:embed="rId10"/>
                <a:stretch>
                  <a:fillRect l="-1818" t="-10526" b="-28947"/>
                </a:stretch>
              </a:blipFill>
            </p:spPr>
            <p:txBody>
              <a:bodyPr/>
              <a:lstStyle/>
              <a:p>
                <a:r>
                  <a:rPr lang="vi-VN">
                    <a:noFill/>
                  </a:rPr>
                  <a:t> </a:t>
                </a:r>
              </a:p>
            </p:txBody>
          </p:sp>
        </mc:Fallback>
      </mc:AlternateContent>
      <p:sp>
        <p:nvSpPr>
          <p:cNvPr id="32" name="TextBox 31">
            <a:extLst>
              <a:ext uri="{FF2B5EF4-FFF2-40B4-BE49-F238E27FC236}">
                <a16:creationId xmlns:a16="http://schemas.microsoft.com/office/drawing/2014/main" id="{3AD2BAF6-1205-55CB-EF59-22E44ECADC20}"/>
              </a:ext>
            </a:extLst>
          </p:cNvPr>
          <p:cNvSpPr txBox="1"/>
          <p:nvPr/>
        </p:nvSpPr>
        <p:spPr>
          <a:xfrm>
            <a:off x="4230275" y="4580407"/>
            <a:ext cx="5369363" cy="461665"/>
          </a:xfrm>
          <a:prstGeom prst="rect">
            <a:avLst/>
          </a:prstGeom>
          <a:noFill/>
        </p:spPr>
        <p:txBody>
          <a:bodyPr wrap="square" rtlCol="0">
            <a:spAutoFit/>
          </a:bodyPr>
          <a:lstStyle/>
          <a:p>
            <a:r>
              <a:rPr lang="en-US" sz="2400"/>
              <a:t>then write down the results to</a:t>
            </a:r>
            <a:endParaRPr lang="vi-VN" sz="2400"/>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7C4CFD3-CD0D-4796-4D4C-F2F93387430E}"/>
                  </a:ext>
                </a:extLst>
              </p:cNvPr>
              <p:cNvSpPr txBox="1"/>
              <p:nvPr/>
            </p:nvSpPr>
            <p:spPr>
              <a:xfrm>
                <a:off x="4650860" y="4964848"/>
                <a:ext cx="5369363" cy="461665"/>
              </a:xfrm>
              <a:prstGeom prst="rect">
                <a:avLst/>
              </a:prstGeom>
              <a:noFill/>
            </p:spPr>
            <p:txBody>
              <a:bodyPr wrap="square" rtlCol="0">
                <a:spAutoFit/>
              </a:bodyPr>
              <a:lstStyle/>
              <a:p>
                <a:r>
                  <a:rPr lang="en-US" sz="2400"/>
                  <a:t>classical channel </a:t>
                </a:r>
                <a14:m>
                  <m:oMath xmlns:m="http://schemas.openxmlformats.org/officeDocument/2006/math">
                    <m:r>
                      <a:rPr lang="en-US" sz="2400" b="0" i="1" smtClean="0">
                        <a:latin typeface="Cambria Math" panose="02040503050406030204" pitchFamily="18" charset="0"/>
                      </a:rPr>
                      <m:t>𝑐</m:t>
                    </m:r>
                  </m:oMath>
                </a14:m>
                <a:endParaRPr lang="vi-VN" sz="2400"/>
              </a:p>
            </p:txBody>
          </p:sp>
        </mc:Choice>
        <mc:Fallback xmlns="">
          <p:sp>
            <p:nvSpPr>
              <p:cNvPr id="33" name="TextBox 32">
                <a:extLst>
                  <a:ext uri="{FF2B5EF4-FFF2-40B4-BE49-F238E27FC236}">
                    <a16:creationId xmlns:a16="http://schemas.microsoft.com/office/drawing/2014/main" id="{27C4CFD3-CD0D-4796-4D4C-F2F93387430E}"/>
                  </a:ext>
                </a:extLst>
              </p:cNvPr>
              <p:cNvSpPr txBox="1">
                <a:spLocks noRot="1" noChangeAspect="1" noMove="1" noResize="1" noEditPoints="1" noAdjustHandles="1" noChangeArrowheads="1" noChangeShapeType="1" noTextEdit="1"/>
              </p:cNvSpPr>
              <p:nvPr/>
            </p:nvSpPr>
            <p:spPr>
              <a:xfrm>
                <a:off x="4650860" y="4964848"/>
                <a:ext cx="5369363" cy="461665"/>
              </a:xfrm>
              <a:prstGeom prst="rect">
                <a:avLst/>
              </a:prstGeom>
              <a:blipFill>
                <a:blip r:embed="rId11"/>
                <a:stretch>
                  <a:fillRect l="-1816" t="-10526" b="-28947"/>
                </a:stretch>
              </a:blipFill>
            </p:spPr>
            <p:txBody>
              <a:bodyPr/>
              <a:lstStyle/>
              <a:p>
                <a:r>
                  <a:rPr lang="vi-VN">
                    <a:noFill/>
                  </a:rPr>
                  <a:t> </a:t>
                </a:r>
              </a:p>
            </p:txBody>
          </p:sp>
        </mc:Fallback>
      </mc:AlternateContent>
      <p:cxnSp>
        <p:nvCxnSpPr>
          <p:cNvPr id="14" name="Straight Connector 13">
            <a:extLst>
              <a:ext uri="{FF2B5EF4-FFF2-40B4-BE49-F238E27FC236}">
                <a16:creationId xmlns:a16="http://schemas.microsoft.com/office/drawing/2014/main" id="{DDA6D6DE-F9B7-B5AD-0E60-95F924625EF2}"/>
              </a:ext>
            </a:extLst>
          </p:cNvPr>
          <p:cNvCxnSpPr>
            <a:cxnSpLocks/>
            <a:endCxn id="35" idx="1"/>
          </p:cNvCxnSpPr>
          <p:nvPr/>
        </p:nvCxnSpPr>
        <p:spPr>
          <a:xfrm flipV="1">
            <a:off x="7957827" y="1049296"/>
            <a:ext cx="2287592" cy="5654"/>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47608191-08EB-29DB-FFF6-3C24BEC8C760}"/>
                  </a:ext>
                </a:extLst>
              </p:cNvPr>
              <p:cNvSpPr/>
              <p:nvPr/>
            </p:nvSpPr>
            <p:spPr>
              <a:xfrm>
                <a:off x="8784078" y="782801"/>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𝑈</m:t>
                      </m:r>
                    </m:oMath>
                  </m:oMathPara>
                </a14:m>
                <a:endParaRPr lang="vi-VN" sz="2400">
                  <a:solidFill>
                    <a:schemeClr val="tx1"/>
                  </a:solidFill>
                </a:endParaRPr>
              </a:p>
            </p:txBody>
          </p:sp>
        </mc:Choice>
        <mc:Fallback xmlns="">
          <p:sp>
            <p:nvSpPr>
              <p:cNvPr id="20" name="Rectangle 19">
                <a:extLst>
                  <a:ext uri="{FF2B5EF4-FFF2-40B4-BE49-F238E27FC236}">
                    <a16:creationId xmlns:a16="http://schemas.microsoft.com/office/drawing/2014/main" id="{47608191-08EB-29DB-FFF6-3C24BEC8C760}"/>
                  </a:ext>
                </a:extLst>
              </p:cNvPr>
              <p:cNvSpPr>
                <a:spLocks noRot="1" noChangeAspect="1" noMove="1" noResize="1" noEditPoints="1" noAdjustHandles="1" noChangeArrowheads="1" noChangeShapeType="1" noTextEdit="1"/>
              </p:cNvSpPr>
              <p:nvPr/>
            </p:nvSpPr>
            <p:spPr>
              <a:xfrm>
                <a:off x="8784078" y="782801"/>
                <a:ext cx="1152626" cy="544297"/>
              </a:xfrm>
              <a:prstGeom prst="rect">
                <a:avLst/>
              </a:prstGeom>
              <a:blipFill>
                <a:blip r:embed="rId12"/>
                <a:stretch>
                  <a:fillRect/>
                </a:stretch>
              </a:blipFill>
              <a:ln>
                <a:solidFill>
                  <a:schemeClr val="tx1"/>
                </a:solidFill>
              </a:ln>
            </p:spPr>
            <p:txBody>
              <a:bodyPr/>
              <a:lstStyle/>
              <a:p>
                <a:r>
                  <a:rPr lang="en-VN">
                    <a:noFill/>
                  </a:rPr>
                  <a:t> </a:t>
                </a:r>
              </a:p>
            </p:txBody>
          </p:sp>
        </mc:Fallback>
      </mc:AlternateContent>
      <p:cxnSp>
        <p:nvCxnSpPr>
          <p:cNvPr id="21" name="Straight Connector 20">
            <a:extLst>
              <a:ext uri="{FF2B5EF4-FFF2-40B4-BE49-F238E27FC236}">
                <a16:creationId xmlns:a16="http://schemas.microsoft.com/office/drawing/2014/main" id="{ED685EAE-ED02-680F-D25B-12B6D501FEE5}"/>
              </a:ext>
            </a:extLst>
          </p:cNvPr>
          <p:cNvCxnSpPr>
            <a:cxnSpLocks/>
          </p:cNvCxnSpPr>
          <p:nvPr/>
        </p:nvCxnSpPr>
        <p:spPr>
          <a:xfrm flipV="1">
            <a:off x="8344736" y="881148"/>
            <a:ext cx="290162" cy="34760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1F64971-F699-3CF1-BFFA-872F2F352612}"/>
                  </a:ext>
                </a:extLst>
              </p:cNvPr>
              <p:cNvSpPr txBox="1"/>
              <p:nvPr/>
            </p:nvSpPr>
            <p:spPr>
              <a:xfrm>
                <a:off x="8252626" y="427079"/>
                <a:ext cx="6651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𝑛</m:t>
                      </m:r>
                    </m:oMath>
                  </m:oMathPara>
                </a14:m>
                <a:endParaRPr lang="vi-VN" sz="2400"/>
              </a:p>
            </p:txBody>
          </p:sp>
        </mc:Choice>
        <mc:Fallback xmlns="">
          <p:sp>
            <p:nvSpPr>
              <p:cNvPr id="22" name="TextBox 21">
                <a:extLst>
                  <a:ext uri="{FF2B5EF4-FFF2-40B4-BE49-F238E27FC236}">
                    <a16:creationId xmlns:a16="http://schemas.microsoft.com/office/drawing/2014/main" id="{71F64971-F699-3CF1-BFFA-872F2F352612}"/>
                  </a:ext>
                </a:extLst>
              </p:cNvPr>
              <p:cNvSpPr txBox="1">
                <a:spLocks noRot="1" noChangeAspect="1" noMove="1" noResize="1" noEditPoints="1" noAdjustHandles="1" noChangeArrowheads="1" noChangeShapeType="1" noTextEdit="1"/>
              </p:cNvSpPr>
              <p:nvPr/>
            </p:nvSpPr>
            <p:spPr>
              <a:xfrm>
                <a:off x="8252626" y="427079"/>
                <a:ext cx="665170" cy="461665"/>
              </a:xfrm>
              <a:prstGeom prst="rect">
                <a:avLst/>
              </a:prstGeom>
              <a:blipFill>
                <a:blip r:embed="rId13"/>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CBD93B7-2F91-4F8B-4C1A-AAE2950EFE18}"/>
                  </a:ext>
                </a:extLst>
              </p:cNvPr>
              <p:cNvSpPr txBox="1"/>
              <p:nvPr/>
            </p:nvSpPr>
            <p:spPr>
              <a:xfrm>
                <a:off x="7928464" y="673680"/>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xmlns="">
          <p:sp>
            <p:nvSpPr>
              <p:cNvPr id="24" name="TextBox 23">
                <a:extLst>
                  <a:ext uri="{FF2B5EF4-FFF2-40B4-BE49-F238E27FC236}">
                    <a16:creationId xmlns:a16="http://schemas.microsoft.com/office/drawing/2014/main" id="{CCBD93B7-2F91-4F8B-4C1A-AAE2950EFE18}"/>
                  </a:ext>
                </a:extLst>
              </p:cNvPr>
              <p:cNvSpPr txBox="1">
                <a:spLocks noRot="1" noChangeAspect="1" noMove="1" noResize="1" noEditPoints="1" noAdjustHandles="1" noChangeArrowheads="1" noChangeShapeType="1" noTextEdit="1"/>
              </p:cNvSpPr>
              <p:nvPr/>
            </p:nvSpPr>
            <p:spPr>
              <a:xfrm>
                <a:off x="7928464" y="673680"/>
                <a:ext cx="196144" cy="276999"/>
              </a:xfrm>
              <a:prstGeom prst="rect">
                <a:avLst/>
              </a:prstGeom>
              <a:blipFill>
                <a:blip r:embed="rId14"/>
                <a:stretch>
                  <a:fillRect l="-25000" r="-25000" b="-31818"/>
                </a:stretch>
              </a:blipFill>
            </p:spPr>
            <p:txBody>
              <a:bodyPr/>
              <a:lstStyle/>
              <a:p>
                <a:r>
                  <a:rPr lang="en-VN">
                    <a:noFill/>
                  </a:rPr>
                  <a:t> </a:t>
                </a:r>
              </a:p>
            </p:txBody>
          </p:sp>
        </mc:Fallback>
      </mc:AlternateContent>
      <p:sp>
        <p:nvSpPr>
          <p:cNvPr id="35" name="Hình chữ nhật 93">
            <a:extLst>
              <a:ext uri="{FF2B5EF4-FFF2-40B4-BE49-F238E27FC236}">
                <a16:creationId xmlns:a16="http://schemas.microsoft.com/office/drawing/2014/main" id="{6A3F564C-6624-9D3E-A39F-9507ECFA92CB}"/>
              </a:ext>
            </a:extLst>
          </p:cNvPr>
          <p:cNvSpPr/>
          <p:nvPr/>
        </p:nvSpPr>
        <p:spPr>
          <a:xfrm>
            <a:off x="10245419" y="895829"/>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36" name="Arc 35">
            <a:extLst>
              <a:ext uri="{FF2B5EF4-FFF2-40B4-BE49-F238E27FC236}">
                <a16:creationId xmlns:a16="http://schemas.microsoft.com/office/drawing/2014/main" id="{9D764967-39D5-BEC1-1D44-13AEC76F28FD}"/>
              </a:ext>
            </a:extLst>
          </p:cNvPr>
          <p:cNvSpPr/>
          <p:nvPr/>
        </p:nvSpPr>
        <p:spPr>
          <a:xfrm>
            <a:off x="10301116" y="1040429"/>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37" name="Straight Arrow Connector 36">
            <a:extLst>
              <a:ext uri="{FF2B5EF4-FFF2-40B4-BE49-F238E27FC236}">
                <a16:creationId xmlns:a16="http://schemas.microsoft.com/office/drawing/2014/main" id="{F88E9B75-403E-2792-4988-92CA2368BC69}"/>
              </a:ext>
            </a:extLst>
          </p:cNvPr>
          <p:cNvCxnSpPr>
            <a:cxnSpLocks/>
          </p:cNvCxnSpPr>
          <p:nvPr/>
        </p:nvCxnSpPr>
        <p:spPr>
          <a:xfrm flipV="1">
            <a:off x="10355332" y="962800"/>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3ABE7D33-AEAE-AD31-A473-FE258A9B21CC}"/>
              </a:ext>
            </a:extLst>
          </p:cNvPr>
          <p:cNvCxnSpPr>
            <a:cxnSpLocks/>
          </p:cNvCxnSpPr>
          <p:nvPr/>
        </p:nvCxnSpPr>
        <p:spPr>
          <a:xfrm>
            <a:off x="7959738" y="1831895"/>
            <a:ext cx="25920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CAD62293-07A4-742E-6AB0-35493C4CCFF5}"/>
              </a:ext>
            </a:extLst>
          </p:cNvPr>
          <p:cNvCxnSpPr>
            <a:cxnSpLocks/>
          </p:cNvCxnSpPr>
          <p:nvPr/>
        </p:nvCxnSpPr>
        <p:spPr>
          <a:xfrm>
            <a:off x="7959738" y="1776858"/>
            <a:ext cx="2592000" cy="0"/>
          </a:xfrm>
          <a:prstGeom prst="line">
            <a:avLst/>
          </a:prstGeom>
          <a:ln w="28575"/>
        </p:spPr>
        <p:style>
          <a:lnRef idx="1">
            <a:schemeClr val="dk1"/>
          </a:lnRef>
          <a:fillRef idx="0">
            <a:schemeClr val="dk1"/>
          </a:fillRef>
          <a:effectRef idx="0">
            <a:schemeClr val="dk1"/>
          </a:effectRef>
          <a:fontRef idx="minor">
            <a:schemeClr val="tx1"/>
          </a:fontRef>
        </p:style>
      </p:cxnSp>
      <p:sp>
        <p:nvSpPr>
          <p:cNvPr id="40" name="Arrow: Down 25">
            <a:extLst>
              <a:ext uri="{FF2B5EF4-FFF2-40B4-BE49-F238E27FC236}">
                <a16:creationId xmlns:a16="http://schemas.microsoft.com/office/drawing/2014/main" id="{C91B26EF-7A80-7975-FC59-EEF3F5BC61AF}"/>
              </a:ext>
            </a:extLst>
          </p:cNvPr>
          <p:cNvSpPr/>
          <p:nvPr/>
        </p:nvSpPr>
        <p:spPr>
          <a:xfrm>
            <a:off x="10350127" y="1204241"/>
            <a:ext cx="116340" cy="572617"/>
          </a:xfrm>
          <a:prstGeom prst="downArrow">
            <a:avLst>
              <a:gd name="adj1" fmla="val 50000"/>
              <a:gd name="adj2" fmla="val 5272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646CC278-A771-65B1-5833-301CBB270D31}"/>
                  </a:ext>
                </a:extLst>
              </p:cNvPr>
              <p:cNvSpPr txBox="1"/>
              <p:nvPr/>
            </p:nvSpPr>
            <p:spPr>
              <a:xfrm>
                <a:off x="8047674" y="1479263"/>
                <a:ext cx="1772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xmlns="">
          <p:sp>
            <p:nvSpPr>
              <p:cNvPr id="41" name="TextBox 40">
                <a:extLst>
                  <a:ext uri="{FF2B5EF4-FFF2-40B4-BE49-F238E27FC236}">
                    <a16:creationId xmlns:a16="http://schemas.microsoft.com/office/drawing/2014/main" id="{646CC278-A771-65B1-5833-301CBB270D31}"/>
                  </a:ext>
                </a:extLst>
              </p:cNvPr>
              <p:cNvSpPr txBox="1">
                <a:spLocks noRot="1" noChangeAspect="1" noMove="1" noResize="1" noEditPoints="1" noAdjustHandles="1" noChangeArrowheads="1" noChangeShapeType="1" noTextEdit="1"/>
              </p:cNvSpPr>
              <p:nvPr/>
            </p:nvSpPr>
            <p:spPr>
              <a:xfrm>
                <a:off x="8047674" y="1479263"/>
                <a:ext cx="177228" cy="276999"/>
              </a:xfrm>
              <a:prstGeom prst="rect">
                <a:avLst/>
              </a:prstGeom>
              <a:blipFill>
                <a:blip r:embed="rId15"/>
                <a:stretch>
                  <a:fillRect l="-13333" r="-6667" b="-4348"/>
                </a:stretch>
              </a:blipFill>
            </p:spPr>
            <p:txBody>
              <a:bodyPr/>
              <a:lstStyle/>
              <a:p>
                <a:r>
                  <a:rPr lang="en-VN">
                    <a:noFill/>
                  </a:rPr>
                  <a:t> </a:t>
                </a:r>
              </a:p>
            </p:txBody>
          </p:sp>
        </mc:Fallback>
      </mc:AlternateContent>
    </p:spTree>
    <p:extLst>
      <p:ext uri="{BB962C8B-B14F-4D97-AF65-F5344CB8AC3E}">
        <p14:creationId xmlns:p14="http://schemas.microsoft.com/office/powerpoint/2010/main" val="3007652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EE5AF4E-080D-6DB5-C17D-36DCDF822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8396" y="1269099"/>
            <a:ext cx="2117594" cy="2117594"/>
          </a:xfrm>
          <a:prstGeom prst="rect">
            <a:avLst/>
          </a:prstGeom>
          <a:noFill/>
          <a:extLst>
            <a:ext uri="{909E8E84-426E-40DD-AFC4-6F175D3DCCD1}">
              <a14:hiddenFill xmlns:a14="http://schemas.microsoft.com/office/drawing/2010/main">
                <a:solidFill>
                  <a:srgbClr val="FFFFFF"/>
                </a:solidFill>
              </a14:hiddenFill>
            </a:ext>
          </a:extLst>
        </p:spPr>
      </p:pic>
      <p:sp>
        <p:nvSpPr>
          <p:cNvPr id="2" name="Tiêu đề 1">
            <a:extLst>
              <a:ext uri="{FF2B5EF4-FFF2-40B4-BE49-F238E27FC236}">
                <a16:creationId xmlns:a16="http://schemas.microsoft.com/office/drawing/2014/main" id="{E3450256-972B-45BE-BAD2-3177A6B8ED8A}"/>
              </a:ext>
            </a:extLst>
          </p:cNvPr>
          <p:cNvSpPr>
            <a:spLocks noGrp="1"/>
          </p:cNvSpPr>
          <p:nvPr>
            <p:ph type="title"/>
          </p:nvPr>
        </p:nvSpPr>
        <p:spPr>
          <a:xfrm>
            <a:off x="838200" y="236345"/>
            <a:ext cx="10515600" cy="780629"/>
          </a:xfrm>
        </p:spPr>
        <p:txBody>
          <a:bodyPr/>
          <a:lstStyle/>
          <a:p>
            <a:r>
              <a:rPr lang="en-US"/>
              <a:t>Single qubit gate</a:t>
            </a:r>
            <a:endParaRPr lang="vi-VN"/>
          </a:p>
        </p:txBody>
      </p:sp>
      <p:sp>
        <p:nvSpPr>
          <p:cNvPr id="4" name="Chỗ dành sẵn cho Số hiệu Bản chiếu 3">
            <a:extLst>
              <a:ext uri="{FF2B5EF4-FFF2-40B4-BE49-F238E27FC236}">
                <a16:creationId xmlns:a16="http://schemas.microsoft.com/office/drawing/2014/main" id="{EDACA0F0-C758-4C1E-9EFE-71586761DE9F}"/>
              </a:ext>
            </a:extLst>
          </p:cNvPr>
          <p:cNvSpPr>
            <a:spLocks noGrp="1"/>
          </p:cNvSpPr>
          <p:nvPr>
            <p:ph type="sldNum" sz="quarter" idx="12"/>
          </p:nvPr>
        </p:nvSpPr>
        <p:spPr/>
        <p:txBody>
          <a:bodyPr/>
          <a:lstStyle/>
          <a:p>
            <a:fld id="{71331178-9F85-4EDF-BDD3-1E7064DA4C59}" type="slidenum">
              <a:rPr lang="vi-VN" smtClean="0"/>
              <a:t>6</a:t>
            </a:fld>
            <a:endParaRPr lang="vi-VN"/>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5E5DF4A2-2561-0368-9B2C-C3E2E9B59612}"/>
                  </a:ext>
                </a:extLst>
              </p:cNvPr>
              <p:cNvGraphicFramePr>
                <a:graphicFrameLocks noGrp="1"/>
              </p:cNvGraphicFramePr>
              <p:nvPr>
                <p:extLst>
                  <p:ext uri="{D42A27DB-BD31-4B8C-83A1-F6EECF244321}">
                    <p14:modId xmlns:p14="http://schemas.microsoft.com/office/powerpoint/2010/main" val="1973388533"/>
                  </p:ext>
                </p:extLst>
              </p:nvPr>
            </p:nvGraphicFramePr>
            <p:xfrm>
              <a:off x="967129" y="3386693"/>
              <a:ext cx="9901500" cy="3346778"/>
            </p:xfrm>
            <a:graphic>
              <a:graphicData uri="http://schemas.openxmlformats.org/drawingml/2006/table">
                <a:tbl>
                  <a:tblPr firstRow="1" bandRow="1">
                    <a:tableStyleId>{5940675A-B579-460E-94D1-54222C63F5DA}</a:tableStyleId>
                  </a:tblPr>
                  <a:tblGrid>
                    <a:gridCol w="2475375">
                      <a:extLst>
                        <a:ext uri="{9D8B030D-6E8A-4147-A177-3AD203B41FA5}">
                          <a16:colId xmlns:a16="http://schemas.microsoft.com/office/drawing/2014/main" val="3544462324"/>
                        </a:ext>
                      </a:extLst>
                    </a:gridCol>
                    <a:gridCol w="2475375">
                      <a:extLst>
                        <a:ext uri="{9D8B030D-6E8A-4147-A177-3AD203B41FA5}">
                          <a16:colId xmlns:a16="http://schemas.microsoft.com/office/drawing/2014/main" val="1668064342"/>
                        </a:ext>
                      </a:extLst>
                    </a:gridCol>
                    <a:gridCol w="2475375">
                      <a:extLst>
                        <a:ext uri="{9D8B030D-6E8A-4147-A177-3AD203B41FA5}">
                          <a16:colId xmlns:a16="http://schemas.microsoft.com/office/drawing/2014/main" val="2239233392"/>
                        </a:ext>
                      </a:extLst>
                    </a:gridCol>
                    <a:gridCol w="2475375">
                      <a:extLst>
                        <a:ext uri="{9D8B030D-6E8A-4147-A177-3AD203B41FA5}">
                          <a16:colId xmlns:a16="http://schemas.microsoft.com/office/drawing/2014/main" val="1036597050"/>
                        </a:ext>
                      </a:extLst>
                    </a:gridCol>
                  </a:tblGrid>
                  <a:tr h="724750">
                    <a:tc>
                      <a:txBody>
                        <a:bodyPr/>
                        <a:lstStyle/>
                        <a:p>
                          <a:pPr algn="ct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𝑋</m:t>
                                </m:r>
                              </m:oMath>
                            </m:oMathPara>
                          </a14:m>
                          <a:endParaRPr lang="en-VN"/>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VN" i="1">
                                    <a:latin typeface="Cambria Math" panose="02040503050406030204" pitchFamily="18" charset="0"/>
                                  </a:rPr>
                                  <m:t>𝑌</m:t>
                                </m:r>
                              </m:oMath>
                            </m:oMathPara>
                          </a14:m>
                          <a:endParaRPr lang="en-VN" i="1"/>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𝑍</m:t>
                                </m:r>
                              </m:oMath>
                            </m:oMathPara>
                          </a14:m>
                          <a:endParaRPr lang="en-VN" i="1"/>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VN" i="1">
                                    <a:latin typeface="Cambria Math" panose="02040503050406030204" pitchFamily="18" charset="0"/>
                                  </a:rPr>
                                  <m:t>𝐻</m:t>
                                </m:r>
                              </m:oMath>
                            </m:oMathPara>
                          </a14:m>
                          <a:endParaRPr lang="en-VN" i="1"/>
                        </a:p>
                      </a:txBody>
                      <a:tcPr anchor="ctr"/>
                    </a:tc>
                    <a:extLst>
                      <a:ext uri="{0D108BD9-81ED-4DB2-BD59-A6C34878D82A}">
                        <a16:rowId xmlns:a16="http://schemas.microsoft.com/office/drawing/2014/main" val="1126756251"/>
                      </a:ext>
                    </a:extLst>
                  </a:tr>
                  <a:tr h="13110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3200" b="0" i="1" smtClean="0">
                                        <a:latin typeface="Cambria Math" panose="02040503050406030204" pitchFamily="18" charset="0"/>
                                      </a:rPr>
                                    </m:ctrlPr>
                                  </m:dPr>
                                  <m:e>
                                    <m:m>
                                      <m:mPr>
                                        <m:mcs>
                                          <m:mc>
                                            <m:mcPr>
                                              <m:count m:val="2"/>
                                              <m:mcJc m:val="center"/>
                                            </m:mcPr>
                                          </m:mc>
                                        </m:mcs>
                                        <m:ctrlPr>
                                          <a:rPr lang="en-US" sz="3200" b="0" i="1" smtClean="0">
                                            <a:latin typeface="Cambria Math" panose="02040503050406030204" pitchFamily="18" charset="0"/>
                                          </a:rPr>
                                        </m:ctrlPr>
                                      </m:mPr>
                                      <m:mr>
                                        <m:e>
                                          <m:r>
                                            <m:rPr>
                                              <m:brk m:alnAt="7"/>
                                            </m:rPr>
                                            <a:rPr lang="en-US" sz="3200" b="0" i="1" smtClean="0">
                                              <a:latin typeface="Cambria Math" panose="02040503050406030204" pitchFamily="18" charset="0"/>
                                            </a:rPr>
                                            <m:t>0</m:t>
                                          </m:r>
                                        </m:e>
                                        <m:e>
                                          <m:r>
                                            <a:rPr lang="en-US" sz="3200" b="0" i="1" smtClean="0">
                                              <a:latin typeface="Cambria Math" panose="02040503050406030204" pitchFamily="18" charset="0"/>
                                            </a:rPr>
                                            <m:t>1</m:t>
                                          </m:r>
                                        </m:e>
                                      </m:mr>
                                      <m:mr>
                                        <m:e>
                                          <m:r>
                                            <a:rPr lang="en-US" sz="3200" b="0" i="1" smtClean="0">
                                              <a:latin typeface="Cambria Math" panose="02040503050406030204" pitchFamily="18" charset="0"/>
                                            </a:rPr>
                                            <m:t>1</m:t>
                                          </m:r>
                                        </m:e>
                                        <m:e>
                                          <m:r>
                                            <a:rPr lang="en-US" sz="3200" b="0" i="1" smtClean="0">
                                              <a:latin typeface="Cambria Math" panose="02040503050406030204" pitchFamily="18" charset="0"/>
                                            </a:rPr>
                                            <m:t>0</m:t>
                                          </m:r>
                                        </m:e>
                                      </m:mr>
                                    </m:m>
                                  </m:e>
                                </m:d>
                              </m:oMath>
                            </m:oMathPara>
                          </a14:m>
                          <a:endParaRPr lang="en-VN" sz="3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3200" b="0" i="1" smtClean="0">
                                        <a:latin typeface="Cambria Math" panose="02040503050406030204" pitchFamily="18" charset="0"/>
                                      </a:rPr>
                                    </m:ctrlPr>
                                  </m:dPr>
                                  <m:e>
                                    <m:m>
                                      <m:mPr>
                                        <m:mcs>
                                          <m:mc>
                                            <m:mcPr>
                                              <m:count m:val="2"/>
                                              <m:mcJc m:val="center"/>
                                            </m:mcPr>
                                          </m:mc>
                                        </m:mcs>
                                        <m:ctrlPr>
                                          <a:rPr lang="en-US" sz="3200" b="0" i="1" smtClean="0">
                                            <a:latin typeface="Cambria Math" panose="02040503050406030204" pitchFamily="18" charset="0"/>
                                          </a:rPr>
                                        </m:ctrlPr>
                                      </m:mPr>
                                      <m:mr>
                                        <m:e>
                                          <m:r>
                                            <m:rPr>
                                              <m:brk m:alnAt="7"/>
                                            </m:rPr>
                                            <a:rPr lang="en-US" sz="3200" b="0" i="1" smtClean="0">
                                              <a:latin typeface="Cambria Math" panose="02040503050406030204" pitchFamily="18" charset="0"/>
                                            </a:rPr>
                                            <m:t>0</m:t>
                                          </m:r>
                                        </m:e>
                                        <m:e>
                                          <m:r>
                                            <a:rPr lang="en-US" sz="3200" b="0" i="1" smtClean="0">
                                              <a:latin typeface="Cambria Math" panose="02040503050406030204" pitchFamily="18" charset="0"/>
                                            </a:rPr>
                                            <m:t>−</m:t>
                                          </m:r>
                                          <m:r>
                                            <a:rPr lang="en-US" sz="3200" b="0" i="1" smtClean="0">
                                              <a:latin typeface="Cambria Math" panose="02040503050406030204" pitchFamily="18" charset="0"/>
                                            </a:rPr>
                                            <m:t>𝑖</m:t>
                                          </m:r>
                                        </m:e>
                                      </m:mr>
                                      <m:mr>
                                        <m:e>
                                          <m:r>
                                            <a:rPr lang="en-US" sz="3200" b="0" i="1" smtClean="0">
                                              <a:latin typeface="Cambria Math" panose="02040503050406030204" pitchFamily="18" charset="0"/>
                                            </a:rPr>
                                            <m:t>𝑖</m:t>
                                          </m:r>
                                        </m:e>
                                        <m:e>
                                          <m:r>
                                            <a:rPr lang="en-US" sz="3200" b="0" i="1" smtClean="0">
                                              <a:latin typeface="Cambria Math" panose="02040503050406030204" pitchFamily="18" charset="0"/>
                                            </a:rPr>
                                            <m:t>0</m:t>
                                          </m:r>
                                        </m:e>
                                      </m:mr>
                                    </m:m>
                                  </m:e>
                                </m:d>
                              </m:oMath>
                            </m:oMathPara>
                          </a14:m>
                          <a:endParaRPr lang="en-US" sz="3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3200" b="0" i="1" smtClean="0">
                                        <a:latin typeface="Cambria Math" panose="02040503050406030204" pitchFamily="18" charset="0"/>
                                      </a:rPr>
                                    </m:ctrlPr>
                                  </m:dPr>
                                  <m:e>
                                    <m:m>
                                      <m:mPr>
                                        <m:mcs>
                                          <m:mc>
                                            <m:mcPr>
                                              <m:count m:val="2"/>
                                              <m:mcJc m:val="center"/>
                                            </m:mcPr>
                                          </m:mc>
                                        </m:mcs>
                                        <m:ctrlPr>
                                          <a:rPr lang="en-US" sz="3200" b="0" i="1" smtClean="0">
                                            <a:latin typeface="Cambria Math" panose="02040503050406030204" pitchFamily="18" charset="0"/>
                                          </a:rPr>
                                        </m:ctrlPr>
                                      </m:mPr>
                                      <m:mr>
                                        <m:e>
                                          <m:r>
                                            <m:rPr>
                                              <m:brk m:alnAt="7"/>
                                            </m:rPr>
                                            <a:rPr lang="en-US" sz="3200" b="0" i="1" smtClean="0">
                                              <a:latin typeface="Cambria Math" panose="02040503050406030204" pitchFamily="18" charset="0"/>
                                            </a:rPr>
                                            <m:t>1</m:t>
                                          </m:r>
                                        </m:e>
                                        <m:e>
                                          <m:r>
                                            <a:rPr lang="en-US" sz="3200" b="0" i="1" smtClean="0">
                                              <a:latin typeface="Cambria Math" panose="02040503050406030204" pitchFamily="18" charset="0"/>
                                            </a:rPr>
                                            <m:t>0</m:t>
                                          </m:r>
                                        </m:e>
                                      </m:mr>
                                      <m:mr>
                                        <m:e>
                                          <m:r>
                                            <a:rPr lang="en-US" sz="3200" b="0" i="1" smtClean="0">
                                              <a:latin typeface="Cambria Math" panose="02040503050406030204" pitchFamily="18" charset="0"/>
                                            </a:rPr>
                                            <m:t>0</m:t>
                                          </m:r>
                                        </m:e>
                                        <m:e>
                                          <m:r>
                                            <a:rPr lang="en-US" sz="3200" b="0" i="1" smtClean="0">
                                              <a:latin typeface="Cambria Math" panose="02040503050406030204" pitchFamily="18" charset="0"/>
                                            </a:rPr>
                                            <m:t>−1</m:t>
                                          </m:r>
                                        </m:e>
                                      </m:mr>
                                    </m:m>
                                  </m:e>
                                </m:d>
                              </m:oMath>
                            </m:oMathPara>
                          </a14:m>
                          <a:endParaRPr lang="en-US" sz="3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vi-VN" sz="3200" b="0" i="1" smtClean="0">
                                        <a:latin typeface="Cambria Math" panose="02040503050406030204" pitchFamily="18" charset="0"/>
                                      </a:rPr>
                                    </m:ctrlPr>
                                  </m:fPr>
                                  <m:num>
                                    <m:r>
                                      <a:rPr lang="vi-VN" sz="3200" b="0" i="1" smtClean="0">
                                        <a:latin typeface="Cambria Math" panose="02040503050406030204" pitchFamily="18" charset="0"/>
                                      </a:rPr>
                                      <m:t>1</m:t>
                                    </m:r>
                                  </m:num>
                                  <m:den>
                                    <m:rad>
                                      <m:radPr>
                                        <m:degHide m:val="on"/>
                                        <m:ctrlPr>
                                          <a:rPr lang="vi-VN" sz="3200" b="0" i="1" smtClean="0">
                                            <a:latin typeface="Cambria Math" panose="02040503050406030204" pitchFamily="18" charset="0"/>
                                          </a:rPr>
                                        </m:ctrlPr>
                                      </m:radPr>
                                      <m:deg/>
                                      <m:e>
                                        <m:r>
                                          <a:rPr lang="vi-VN" sz="3200" b="0" i="1" smtClean="0">
                                            <a:latin typeface="Cambria Math" panose="02040503050406030204" pitchFamily="18" charset="0"/>
                                          </a:rPr>
                                          <m:t>2</m:t>
                                        </m:r>
                                      </m:e>
                                    </m:rad>
                                  </m:den>
                                </m:f>
                                <m:d>
                                  <m:dPr>
                                    <m:begChr m:val="["/>
                                    <m:endChr m:val="]"/>
                                    <m:ctrlPr>
                                      <a:rPr lang="en-US" sz="3200" b="0" i="1" smtClean="0">
                                        <a:latin typeface="Cambria Math" panose="02040503050406030204" pitchFamily="18" charset="0"/>
                                      </a:rPr>
                                    </m:ctrlPr>
                                  </m:dPr>
                                  <m:e>
                                    <m:m>
                                      <m:mPr>
                                        <m:mcs>
                                          <m:mc>
                                            <m:mcPr>
                                              <m:count m:val="2"/>
                                              <m:mcJc m:val="center"/>
                                            </m:mcPr>
                                          </m:mc>
                                        </m:mcs>
                                        <m:ctrlPr>
                                          <a:rPr lang="en-US" sz="3200" b="0" i="1" smtClean="0">
                                            <a:latin typeface="Cambria Math" panose="02040503050406030204" pitchFamily="18" charset="0"/>
                                          </a:rPr>
                                        </m:ctrlPr>
                                      </m:mPr>
                                      <m:mr>
                                        <m:e>
                                          <m:r>
                                            <m:rPr>
                                              <m:brk m:alnAt="7"/>
                                            </m:rPr>
                                            <a:rPr lang="en-US" sz="3200" b="0" i="1" smtClean="0">
                                              <a:latin typeface="Cambria Math" panose="02040503050406030204" pitchFamily="18" charset="0"/>
                                            </a:rPr>
                                            <m:t>1</m:t>
                                          </m:r>
                                        </m:e>
                                        <m:e>
                                          <m:r>
                                            <a:rPr lang="vi-VN" sz="3200" b="0" i="1" smtClean="0">
                                              <a:latin typeface="Cambria Math" panose="02040503050406030204" pitchFamily="18" charset="0"/>
                                            </a:rPr>
                                            <m:t>1</m:t>
                                          </m:r>
                                        </m:e>
                                      </m:mr>
                                      <m:mr>
                                        <m:e>
                                          <m:r>
                                            <a:rPr lang="vi-VN" sz="3200" b="0" i="1" smtClean="0">
                                              <a:latin typeface="Cambria Math" panose="02040503050406030204" pitchFamily="18" charset="0"/>
                                            </a:rPr>
                                            <m:t>1</m:t>
                                          </m:r>
                                        </m:e>
                                        <m:e>
                                          <m:r>
                                            <a:rPr lang="vi-VN" sz="3200" b="0" i="1" smtClean="0">
                                              <a:latin typeface="Cambria Math" panose="02040503050406030204" pitchFamily="18" charset="0"/>
                                            </a:rPr>
                                            <m:t>−</m:t>
                                          </m:r>
                                          <m:r>
                                            <a:rPr lang="en-US" sz="3200" b="0" i="1" smtClean="0">
                                              <a:latin typeface="Cambria Math" panose="02040503050406030204" pitchFamily="18" charset="0"/>
                                            </a:rPr>
                                            <m:t>1</m:t>
                                          </m:r>
                                        </m:e>
                                      </m:mr>
                                    </m:m>
                                  </m:e>
                                </m:d>
                              </m:oMath>
                            </m:oMathPara>
                          </a14:m>
                          <a:endParaRPr lang="en-US" sz="3200"/>
                        </a:p>
                      </a:txBody>
                      <a:tcPr anchor="ctr"/>
                    </a:tc>
                    <a:extLst>
                      <a:ext uri="{0D108BD9-81ED-4DB2-BD59-A6C34878D82A}">
                        <a16:rowId xmlns:a16="http://schemas.microsoft.com/office/drawing/2014/main" val="2896586236"/>
                      </a:ext>
                    </a:extLst>
                  </a:tr>
                  <a:tr h="13110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|0⟩⟨1|+|1⟩⟨0|</m:t>
                                </m:r>
                              </m:oMath>
                            </m:oMathPara>
                          </a14:m>
                          <a:endParaRPr lang="en-US" sz="200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i="1">
                                    <a:latin typeface="Cambria Math" panose="02040503050406030204" pitchFamily="18" charset="0"/>
                                  </a:rPr>
                                  <m:t>|0⟩⟨1|+</m:t>
                                </m:r>
                                <m:r>
                                  <a:rPr lang="en-US" sz="2000" b="0" i="1" smtClean="0">
                                    <a:latin typeface="Cambria Math" panose="02040503050406030204" pitchFamily="18" charset="0"/>
                                  </a:rPr>
                                  <m:t>𝑖</m:t>
                                </m:r>
                                <m:r>
                                  <a:rPr lang="en-US" sz="2000" i="1">
                                    <a:latin typeface="Cambria Math" panose="02040503050406030204" pitchFamily="18" charset="0"/>
                                  </a:rPr>
                                  <m:t>|1⟩⟨0|</m:t>
                                </m:r>
                              </m:oMath>
                            </m:oMathPara>
                          </a14:m>
                          <a:endParaRPr lang="en-VN" sz="200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|0⟩⟨0|−|1⟩⟨1</m:t>
                                </m:r>
                                <m:r>
                                  <a:rPr lang="vi-VN" sz="2000" b="0" i="1" smtClean="0">
                                    <a:latin typeface="Cambria Math" panose="02040503050406030204" pitchFamily="18" charset="0"/>
                                  </a:rPr>
                                  <m:t>|</m:t>
                                </m:r>
                              </m:oMath>
                            </m:oMathPara>
                          </a14:m>
                          <a:endParaRPr lang="en-VN" sz="2000"/>
                        </a:p>
                      </a:txBody>
                      <a:tcPr anchor="ctr"/>
                    </a:tc>
                    <a:tc>
                      <a:txBody>
                        <a:bodyPr/>
                        <a:lstStyle/>
                        <a:p>
                          <a:pPr algn="ctr"/>
                          <a14:m>
                            <m:oMathPara xmlns:m="http://schemas.openxmlformats.org/officeDocument/2006/math">
                              <m:oMathParaPr>
                                <m:jc m:val="centerGroup"/>
                              </m:oMathParaPr>
                              <m:oMath xmlns:m="http://schemas.openxmlformats.org/officeDocument/2006/math">
                                <m:f>
                                  <m:fPr>
                                    <m:ctrlPr>
                                      <a:rPr lang="vi-VN" sz="2000" b="0" i="1">
                                        <a:latin typeface="Cambria Math" panose="02040503050406030204" pitchFamily="18" charset="0"/>
                                      </a:rPr>
                                    </m:ctrlPr>
                                  </m:fPr>
                                  <m:num>
                                    <m:r>
                                      <a:rPr lang="en-US" sz="2000" i="1">
                                        <a:latin typeface="Cambria Math" panose="02040503050406030204" pitchFamily="18" charset="0"/>
                                      </a:rPr>
                                      <m:t>1</m:t>
                                    </m:r>
                                  </m:num>
                                  <m:den>
                                    <m:rad>
                                      <m:radPr>
                                        <m:degHide m:val="on"/>
                                        <m:ctrlPr>
                                          <a:rPr lang="vi-VN" sz="2000" b="0" i="1">
                                            <a:latin typeface="Cambria Math" panose="02040503050406030204" pitchFamily="18" charset="0"/>
                                          </a:rPr>
                                        </m:ctrlPr>
                                      </m:radPr>
                                      <m:deg/>
                                      <m:e>
                                        <m:r>
                                          <a:rPr lang="vi-VN" sz="2000" b="0" i="1">
                                            <a:latin typeface="Cambria Math" panose="02040503050406030204" pitchFamily="18" charset="0"/>
                                          </a:rPr>
                                          <m:t>2</m:t>
                                        </m:r>
                                      </m:e>
                                    </m:rad>
                                  </m:den>
                                </m:f>
                                <m:r>
                                  <a:rPr lang="vi-VN" sz="2000" b="0" i="1">
                                    <a:latin typeface="Cambria Math" panose="02040503050406030204" pitchFamily="18" charset="0"/>
                                  </a:rPr>
                                  <m:t>( </m:t>
                                </m:r>
                                <m:r>
                                  <a:rPr lang="en-US" sz="2000" i="1">
                                    <a:latin typeface="Cambria Math" panose="02040503050406030204" pitchFamily="18" charset="0"/>
                                  </a:rPr>
                                  <m:t>|0⟩⟨0|+</m:t>
                                </m:r>
                                <m:r>
                                  <a:rPr lang="vi-VN" sz="2000" b="0" i="1">
                                    <a:latin typeface="Cambria Math" panose="02040503050406030204" pitchFamily="18" charset="0"/>
                                  </a:rPr>
                                  <m:t>|0⟩⟨1|+|1⟩⟨0|−</m:t>
                                </m:r>
                                <m:r>
                                  <a:rPr lang="en-US" sz="2000" i="1">
                                    <a:latin typeface="Cambria Math" panose="02040503050406030204" pitchFamily="18" charset="0"/>
                                  </a:rPr>
                                  <m:t>|1⟩⟨1</m:t>
                                </m:r>
                                <m:r>
                                  <a:rPr lang="vi-VN" sz="2000" b="0" i="1">
                                    <a:latin typeface="Cambria Math" panose="02040503050406030204" pitchFamily="18" charset="0"/>
                                  </a:rPr>
                                  <m:t>|)</m:t>
                                </m:r>
                              </m:oMath>
                            </m:oMathPara>
                          </a14:m>
                          <a:endParaRPr lang="en-VN" sz="1600"/>
                        </a:p>
                      </a:txBody>
                      <a:tcPr anchor="ctr"/>
                    </a:tc>
                    <a:extLst>
                      <a:ext uri="{0D108BD9-81ED-4DB2-BD59-A6C34878D82A}">
                        <a16:rowId xmlns:a16="http://schemas.microsoft.com/office/drawing/2014/main" val="1862033279"/>
                      </a:ext>
                    </a:extLst>
                  </a:tr>
                </a:tbl>
              </a:graphicData>
            </a:graphic>
          </p:graphicFrame>
        </mc:Choice>
        <mc:Fallback xmlns="">
          <p:graphicFrame>
            <p:nvGraphicFramePr>
              <p:cNvPr id="5" name="Table 4">
                <a:extLst>
                  <a:ext uri="{FF2B5EF4-FFF2-40B4-BE49-F238E27FC236}">
                    <a16:creationId xmlns:a16="http://schemas.microsoft.com/office/drawing/2014/main" id="{5E5DF4A2-2561-0368-9B2C-C3E2E9B59612}"/>
                  </a:ext>
                </a:extLst>
              </p:cNvPr>
              <p:cNvGraphicFramePr>
                <a:graphicFrameLocks noGrp="1"/>
              </p:cNvGraphicFramePr>
              <p:nvPr>
                <p:extLst>
                  <p:ext uri="{D42A27DB-BD31-4B8C-83A1-F6EECF244321}">
                    <p14:modId xmlns:p14="http://schemas.microsoft.com/office/powerpoint/2010/main" val="1973388533"/>
                  </p:ext>
                </p:extLst>
              </p:nvPr>
            </p:nvGraphicFramePr>
            <p:xfrm>
              <a:off x="967129" y="3386693"/>
              <a:ext cx="9901500" cy="3346778"/>
            </p:xfrm>
            <a:graphic>
              <a:graphicData uri="http://schemas.openxmlformats.org/drawingml/2006/table">
                <a:tbl>
                  <a:tblPr firstRow="1" bandRow="1">
                    <a:tableStyleId>{5940675A-B579-460E-94D1-54222C63F5DA}</a:tableStyleId>
                  </a:tblPr>
                  <a:tblGrid>
                    <a:gridCol w="2475375">
                      <a:extLst>
                        <a:ext uri="{9D8B030D-6E8A-4147-A177-3AD203B41FA5}">
                          <a16:colId xmlns:a16="http://schemas.microsoft.com/office/drawing/2014/main" val="3544462324"/>
                        </a:ext>
                      </a:extLst>
                    </a:gridCol>
                    <a:gridCol w="2475375">
                      <a:extLst>
                        <a:ext uri="{9D8B030D-6E8A-4147-A177-3AD203B41FA5}">
                          <a16:colId xmlns:a16="http://schemas.microsoft.com/office/drawing/2014/main" val="1668064342"/>
                        </a:ext>
                      </a:extLst>
                    </a:gridCol>
                    <a:gridCol w="2475375">
                      <a:extLst>
                        <a:ext uri="{9D8B030D-6E8A-4147-A177-3AD203B41FA5}">
                          <a16:colId xmlns:a16="http://schemas.microsoft.com/office/drawing/2014/main" val="2239233392"/>
                        </a:ext>
                      </a:extLst>
                    </a:gridCol>
                    <a:gridCol w="2475375">
                      <a:extLst>
                        <a:ext uri="{9D8B030D-6E8A-4147-A177-3AD203B41FA5}">
                          <a16:colId xmlns:a16="http://schemas.microsoft.com/office/drawing/2014/main" val="1036597050"/>
                        </a:ext>
                      </a:extLst>
                    </a:gridCol>
                  </a:tblGrid>
                  <a:tr h="724750">
                    <a:tc>
                      <a:txBody>
                        <a:bodyPr/>
                        <a:lstStyle/>
                        <a:p>
                          <a:endParaRPr lang="en-VN"/>
                        </a:p>
                      </a:txBody>
                      <a:tcPr anchor="ctr">
                        <a:blipFill>
                          <a:blip r:embed="rId3"/>
                          <a:stretch>
                            <a:fillRect l="-513" t="-1754" r="-300513" b="-366667"/>
                          </a:stretch>
                        </a:blipFill>
                      </a:tcPr>
                    </a:tc>
                    <a:tc>
                      <a:txBody>
                        <a:bodyPr/>
                        <a:lstStyle/>
                        <a:p>
                          <a:endParaRPr lang="en-VN"/>
                        </a:p>
                      </a:txBody>
                      <a:tcPr anchor="ctr">
                        <a:blipFill>
                          <a:blip r:embed="rId3"/>
                          <a:stretch>
                            <a:fillRect l="-100513" t="-1754" r="-200513" b="-366667"/>
                          </a:stretch>
                        </a:blipFill>
                      </a:tcPr>
                    </a:tc>
                    <a:tc>
                      <a:txBody>
                        <a:bodyPr/>
                        <a:lstStyle/>
                        <a:p>
                          <a:endParaRPr lang="en-VN"/>
                        </a:p>
                      </a:txBody>
                      <a:tcPr anchor="ctr">
                        <a:blipFill>
                          <a:blip r:embed="rId3"/>
                          <a:stretch>
                            <a:fillRect l="-200513" t="-1754" r="-100513" b="-366667"/>
                          </a:stretch>
                        </a:blipFill>
                      </a:tcPr>
                    </a:tc>
                    <a:tc>
                      <a:txBody>
                        <a:bodyPr/>
                        <a:lstStyle/>
                        <a:p>
                          <a:endParaRPr lang="en-VN"/>
                        </a:p>
                      </a:txBody>
                      <a:tcPr anchor="ctr">
                        <a:blipFill>
                          <a:blip r:embed="rId3"/>
                          <a:stretch>
                            <a:fillRect l="-300513" t="-1754" r="-513" b="-366667"/>
                          </a:stretch>
                        </a:blipFill>
                      </a:tcPr>
                    </a:tc>
                    <a:extLst>
                      <a:ext uri="{0D108BD9-81ED-4DB2-BD59-A6C34878D82A}">
                        <a16:rowId xmlns:a16="http://schemas.microsoft.com/office/drawing/2014/main" val="1126756251"/>
                      </a:ext>
                    </a:extLst>
                  </a:tr>
                  <a:tr h="1311014">
                    <a:tc>
                      <a:txBody>
                        <a:bodyPr/>
                        <a:lstStyle/>
                        <a:p>
                          <a:endParaRPr lang="en-VN"/>
                        </a:p>
                      </a:txBody>
                      <a:tcPr anchor="ctr">
                        <a:blipFill>
                          <a:blip r:embed="rId3"/>
                          <a:stretch>
                            <a:fillRect l="-513" t="-55769" r="-300513" b="-100962"/>
                          </a:stretch>
                        </a:blipFill>
                      </a:tcPr>
                    </a:tc>
                    <a:tc>
                      <a:txBody>
                        <a:bodyPr/>
                        <a:lstStyle/>
                        <a:p>
                          <a:endParaRPr lang="en-VN"/>
                        </a:p>
                      </a:txBody>
                      <a:tcPr anchor="ctr">
                        <a:blipFill>
                          <a:blip r:embed="rId3"/>
                          <a:stretch>
                            <a:fillRect l="-100513" t="-55769" r="-200513" b="-100962"/>
                          </a:stretch>
                        </a:blipFill>
                      </a:tcPr>
                    </a:tc>
                    <a:tc>
                      <a:txBody>
                        <a:bodyPr/>
                        <a:lstStyle/>
                        <a:p>
                          <a:endParaRPr lang="en-VN"/>
                        </a:p>
                      </a:txBody>
                      <a:tcPr anchor="ctr">
                        <a:blipFill>
                          <a:blip r:embed="rId3"/>
                          <a:stretch>
                            <a:fillRect l="-200513" t="-55769" r="-100513" b="-100962"/>
                          </a:stretch>
                        </a:blipFill>
                      </a:tcPr>
                    </a:tc>
                    <a:tc>
                      <a:txBody>
                        <a:bodyPr/>
                        <a:lstStyle/>
                        <a:p>
                          <a:endParaRPr lang="en-VN"/>
                        </a:p>
                      </a:txBody>
                      <a:tcPr anchor="ctr">
                        <a:blipFill>
                          <a:blip r:embed="rId3"/>
                          <a:stretch>
                            <a:fillRect l="-300513" t="-55769" r="-513" b="-100962"/>
                          </a:stretch>
                        </a:blipFill>
                      </a:tcPr>
                    </a:tc>
                    <a:extLst>
                      <a:ext uri="{0D108BD9-81ED-4DB2-BD59-A6C34878D82A}">
                        <a16:rowId xmlns:a16="http://schemas.microsoft.com/office/drawing/2014/main" val="2896586236"/>
                      </a:ext>
                    </a:extLst>
                  </a:tr>
                  <a:tr h="1311014">
                    <a:tc>
                      <a:txBody>
                        <a:bodyPr/>
                        <a:lstStyle/>
                        <a:p>
                          <a:endParaRPr lang="en-VN"/>
                        </a:p>
                      </a:txBody>
                      <a:tcPr anchor="ctr">
                        <a:blipFill>
                          <a:blip r:embed="rId3"/>
                          <a:stretch>
                            <a:fillRect l="-513" t="-155769" r="-300513" b="-962"/>
                          </a:stretch>
                        </a:blipFill>
                      </a:tcPr>
                    </a:tc>
                    <a:tc>
                      <a:txBody>
                        <a:bodyPr/>
                        <a:lstStyle/>
                        <a:p>
                          <a:endParaRPr lang="en-VN"/>
                        </a:p>
                      </a:txBody>
                      <a:tcPr anchor="ctr">
                        <a:blipFill>
                          <a:blip r:embed="rId3"/>
                          <a:stretch>
                            <a:fillRect l="-100513" t="-155769" r="-200513" b="-962"/>
                          </a:stretch>
                        </a:blipFill>
                      </a:tcPr>
                    </a:tc>
                    <a:tc>
                      <a:txBody>
                        <a:bodyPr/>
                        <a:lstStyle/>
                        <a:p>
                          <a:endParaRPr lang="en-VN"/>
                        </a:p>
                      </a:txBody>
                      <a:tcPr anchor="ctr">
                        <a:blipFill>
                          <a:blip r:embed="rId3"/>
                          <a:stretch>
                            <a:fillRect l="-200513" t="-155769" r="-100513" b="-962"/>
                          </a:stretch>
                        </a:blipFill>
                      </a:tcPr>
                    </a:tc>
                    <a:tc>
                      <a:txBody>
                        <a:bodyPr/>
                        <a:lstStyle/>
                        <a:p>
                          <a:endParaRPr lang="en-VN"/>
                        </a:p>
                      </a:txBody>
                      <a:tcPr anchor="ctr">
                        <a:blipFill>
                          <a:blip r:embed="rId3"/>
                          <a:stretch>
                            <a:fillRect l="-300513" t="-155769" r="-513" b="-962"/>
                          </a:stretch>
                        </a:blipFill>
                      </a:tcPr>
                    </a:tc>
                    <a:extLst>
                      <a:ext uri="{0D108BD9-81ED-4DB2-BD59-A6C34878D82A}">
                        <a16:rowId xmlns:a16="http://schemas.microsoft.com/office/drawing/2014/main" val="1862033279"/>
                      </a:ext>
                    </a:extLst>
                  </a:tr>
                </a:tbl>
              </a:graphicData>
            </a:graphic>
          </p:graphicFrame>
        </mc:Fallback>
      </mc:AlternateContent>
      <p:sp>
        <p:nvSpPr>
          <p:cNvPr id="8" name="Rectangle 7">
            <a:extLst>
              <a:ext uri="{FF2B5EF4-FFF2-40B4-BE49-F238E27FC236}">
                <a16:creationId xmlns:a16="http://schemas.microsoft.com/office/drawing/2014/main" id="{35853723-287F-940E-C3F0-16D29651C440}"/>
              </a:ext>
            </a:extLst>
          </p:cNvPr>
          <p:cNvSpPr/>
          <p:nvPr/>
        </p:nvSpPr>
        <p:spPr>
          <a:xfrm>
            <a:off x="1972019" y="3546839"/>
            <a:ext cx="418641" cy="4737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0" name="Straight Connector 9">
            <a:extLst>
              <a:ext uri="{FF2B5EF4-FFF2-40B4-BE49-F238E27FC236}">
                <a16:creationId xmlns:a16="http://schemas.microsoft.com/office/drawing/2014/main" id="{EAD5DA48-8FE7-7F4F-71A2-B3F61D91F5CB}"/>
              </a:ext>
            </a:extLst>
          </p:cNvPr>
          <p:cNvCxnSpPr>
            <a:cxnSpLocks/>
            <a:endCxn id="8" idx="1"/>
          </p:cNvCxnSpPr>
          <p:nvPr/>
        </p:nvCxnSpPr>
        <p:spPr>
          <a:xfrm>
            <a:off x="1685581" y="3783701"/>
            <a:ext cx="286438" cy="1"/>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7526B02E-C905-456F-1454-14D4703971C4}"/>
              </a:ext>
            </a:extLst>
          </p:cNvPr>
          <p:cNvCxnSpPr>
            <a:cxnSpLocks/>
            <a:stCxn id="8" idx="3"/>
          </p:cNvCxnSpPr>
          <p:nvPr/>
        </p:nvCxnSpPr>
        <p:spPr>
          <a:xfrm flipV="1">
            <a:off x="2390660" y="3783701"/>
            <a:ext cx="299811" cy="1"/>
          </a:xfrm>
          <a:prstGeom prst="line">
            <a:avLst/>
          </a:prstGeom>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05038DF2-0281-8956-A7DC-D28F5C6C0EC6}"/>
              </a:ext>
            </a:extLst>
          </p:cNvPr>
          <p:cNvSpPr/>
          <p:nvPr/>
        </p:nvSpPr>
        <p:spPr>
          <a:xfrm>
            <a:off x="4448978" y="3546838"/>
            <a:ext cx="418641" cy="4737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6" name="Straight Connector 15">
            <a:extLst>
              <a:ext uri="{FF2B5EF4-FFF2-40B4-BE49-F238E27FC236}">
                <a16:creationId xmlns:a16="http://schemas.microsoft.com/office/drawing/2014/main" id="{35B53B36-786D-3A5D-8260-4B00250476C9}"/>
              </a:ext>
            </a:extLst>
          </p:cNvPr>
          <p:cNvCxnSpPr>
            <a:cxnSpLocks/>
            <a:endCxn id="15" idx="1"/>
          </p:cNvCxnSpPr>
          <p:nvPr/>
        </p:nvCxnSpPr>
        <p:spPr>
          <a:xfrm>
            <a:off x="4162540" y="3783700"/>
            <a:ext cx="286438" cy="1"/>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466374A-4310-8110-FE3E-1FF27ED40D58}"/>
              </a:ext>
            </a:extLst>
          </p:cNvPr>
          <p:cNvCxnSpPr>
            <a:cxnSpLocks/>
            <a:stCxn id="15" idx="3"/>
          </p:cNvCxnSpPr>
          <p:nvPr/>
        </p:nvCxnSpPr>
        <p:spPr>
          <a:xfrm flipV="1">
            <a:off x="4867619" y="3783700"/>
            <a:ext cx="299811" cy="1"/>
          </a:xfrm>
          <a:prstGeom prst="line">
            <a:avLst/>
          </a:prstGeom>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5B797065-3E02-E7D4-186D-CEB443F56936}"/>
              </a:ext>
            </a:extLst>
          </p:cNvPr>
          <p:cNvSpPr/>
          <p:nvPr/>
        </p:nvSpPr>
        <p:spPr>
          <a:xfrm>
            <a:off x="6905742" y="3546837"/>
            <a:ext cx="418641" cy="4737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9" name="Straight Connector 18">
            <a:extLst>
              <a:ext uri="{FF2B5EF4-FFF2-40B4-BE49-F238E27FC236}">
                <a16:creationId xmlns:a16="http://schemas.microsoft.com/office/drawing/2014/main" id="{1C299917-ABD7-3039-C184-83EBA1094E2A}"/>
              </a:ext>
            </a:extLst>
          </p:cNvPr>
          <p:cNvCxnSpPr>
            <a:cxnSpLocks/>
            <a:endCxn id="18" idx="1"/>
          </p:cNvCxnSpPr>
          <p:nvPr/>
        </p:nvCxnSpPr>
        <p:spPr>
          <a:xfrm>
            <a:off x="6619304" y="3783699"/>
            <a:ext cx="286438" cy="1"/>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A36C3846-58B4-0329-D325-65AE8E294F75}"/>
              </a:ext>
            </a:extLst>
          </p:cNvPr>
          <p:cNvCxnSpPr>
            <a:cxnSpLocks/>
            <a:stCxn id="18" idx="3"/>
          </p:cNvCxnSpPr>
          <p:nvPr/>
        </p:nvCxnSpPr>
        <p:spPr>
          <a:xfrm flipV="1">
            <a:off x="7324383" y="3783699"/>
            <a:ext cx="299811" cy="1"/>
          </a:xfrm>
          <a:prstGeom prst="line">
            <a:avLst/>
          </a:prstGeom>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18C7999D-970B-1460-FB94-A67C377B85C4}"/>
              </a:ext>
            </a:extLst>
          </p:cNvPr>
          <p:cNvSpPr/>
          <p:nvPr/>
        </p:nvSpPr>
        <p:spPr>
          <a:xfrm>
            <a:off x="9382701" y="3546836"/>
            <a:ext cx="418641" cy="4737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2" name="Straight Connector 21">
            <a:extLst>
              <a:ext uri="{FF2B5EF4-FFF2-40B4-BE49-F238E27FC236}">
                <a16:creationId xmlns:a16="http://schemas.microsoft.com/office/drawing/2014/main" id="{BE4DAFCC-9F8E-6EDE-BA95-D09C661A3A55}"/>
              </a:ext>
            </a:extLst>
          </p:cNvPr>
          <p:cNvCxnSpPr>
            <a:cxnSpLocks/>
            <a:endCxn id="21" idx="1"/>
          </p:cNvCxnSpPr>
          <p:nvPr/>
        </p:nvCxnSpPr>
        <p:spPr>
          <a:xfrm>
            <a:off x="9096263" y="3783698"/>
            <a:ext cx="286438" cy="1"/>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6144C2E1-7268-8756-0B23-73309770A9A7}"/>
              </a:ext>
            </a:extLst>
          </p:cNvPr>
          <p:cNvCxnSpPr>
            <a:cxnSpLocks/>
            <a:stCxn id="21" idx="3"/>
          </p:cNvCxnSpPr>
          <p:nvPr/>
        </p:nvCxnSpPr>
        <p:spPr>
          <a:xfrm flipV="1">
            <a:off x="9801342" y="3783698"/>
            <a:ext cx="299811" cy="1"/>
          </a:xfrm>
          <a:prstGeom prst="line">
            <a:avLst/>
          </a:prstGeom>
        </p:spPr>
        <p:style>
          <a:lnRef idx="1">
            <a:schemeClr val="dk1"/>
          </a:lnRef>
          <a:fillRef idx="0">
            <a:schemeClr val="dk1"/>
          </a:fillRef>
          <a:effectRef idx="0">
            <a:schemeClr val="dk1"/>
          </a:effectRef>
          <a:fontRef idx="minor">
            <a:schemeClr val="tx1"/>
          </a:fontRef>
        </p:style>
      </p:cxnSp>
      <p:pic>
        <p:nvPicPr>
          <p:cNvPr id="24" name="Picture 2">
            <a:extLst>
              <a:ext uri="{FF2B5EF4-FFF2-40B4-BE49-F238E27FC236}">
                <a16:creationId xmlns:a16="http://schemas.microsoft.com/office/drawing/2014/main" id="{98EBCFCF-D9BC-904C-762C-E959EAEF5806}"/>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209501" y="1230741"/>
            <a:ext cx="2117594" cy="211759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625F3F9-7F08-C4B1-BAEA-BD4C9FF8EA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320" y="1269099"/>
            <a:ext cx="2032918" cy="2032918"/>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85C6D6DB-A369-735D-D6B0-B5DFC7CB2C8B}"/>
              </a:ext>
            </a:extLst>
          </p:cNvPr>
          <p:cNvSpPr txBox="1"/>
          <p:nvPr/>
        </p:nvSpPr>
        <p:spPr>
          <a:xfrm rot="16200000">
            <a:off x="-405805" y="4509545"/>
            <a:ext cx="1581220" cy="369332"/>
          </a:xfrm>
          <a:prstGeom prst="rect">
            <a:avLst/>
          </a:prstGeom>
          <a:noFill/>
        </p:spPr>
        <p:txBody>
          <a:bodyPr wrap="square" rtlCol="0">
            <a:spAutoFit/>
          </a:bodyPr>
          <a:lstStyle/>
          <a:p>
            <a:pPr algn="ctr"/>
            <a:r>
              <a:rPr lang="en-VN">
                <a:solidFill>
                  <a:srgbClr val="FF0000"/>
                </a:solidFill>
              </a:rPr>
              <a:t>Matrix form</a:t>
            </a:r>
          </a:p>
        </p:txBody>
      </p:sp>
      <p:sp>
        <p:nvSpPr>
          <p:cNvPr id="34" name="Left Brace 33">
            <a:extLst>
              <a:ext uri="{FF2B5EF4-FFF2-40B4-BE49-F238E27FC236}">
                <a16:creationId xmlns:a16="http://schemas.microsoft.com/office/drawing/2014/main" id="{8157A0CB-331B-B986-AEF4-899D2F3F5E42}"/>
              </a:ext>
            </a:extLst>
          </p:cNvPr>
          <p:cNvSpPr/>
          <p:nvPr/>
        </p:nvSpPr>
        <p:spPr>
          <a:xfrm>
            <a:off x="601243" y="4143461"/>
            <a:ext cx="281820" cy="1261278"/>
          </a:xfrm>
          <a:prstGeom prst="leftBrace">
            <a:avLst>
              <a:gd name="adj1" fmla="val 45363"/>
              <a:gd name="adj2" fmla="val 50000"/>
            </a:avLst>
          </a:prstGeom>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35" name="Left Brace 34">
            <a:extLst>
              <a:ext uri="{FF2B5EF4-FFF2-40B4-BE49-F238E27FC236}">
                <a16:creationId xmlns:a16="http://schemas.microsoft.com/office/drawing/2014/main" id="{6DD5B560-D390-6325-5ED1-75B111AF46E3}"/>
              </a:ext>
            </a:extLst>
          </p:cNvPr>
          <p:cNvSpPr/>
          <p:nvPr/>
        </p:nvSpPr>
        <p:spPr>
          <a:xfrm>
            <a:off x="604676" y="3389922"/>
            <a:ext cx="251233" cy="630639"/>
          </a:xfrm>
          <a:prstGeom prst="leftBrace">
            <a:avLst>
              <a:gd name="adj1" fmla="val 45363"/>
              <a:gd name="adj2" fmla="val 50000"/>
            </a:avLst>
          </a:prstGeom>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36" name="TextBox 35">
            <a:extLst>
              <a:ext uri="{FF2B5EF4-FFF2-40B4-BE49-F238E27FC236}">
                <a16:creationId xmlns:a16="http://schemas.microsoft.com/office/drawing/2014/main" id="{482A28D2-2A11-DD10-9FEF-E6E3E68C25DE}"/>
              </a:ext>
            </a:extLst>
          </p:cNvPr>
          <p:cNvSpPr txBox="1"/>
          <p:nvPr/>
        </p:nvSpPr>
        <p:spPr>
          <a:xfrm rot="16200000">
            <a:off x="-123270" y="3516544"/>
            <a:ext cx="1051042" cy="369332"/>
          </a:xfrm>
          <a:prstGeom prst="rect">
            <a:avLst/>
          </a:prstGeom>
          <a:noFill/>
        </p:spPr>
        <p:txBody>
          <a:bodyPr wrap="square" rtlCol="0">
            <a:spAutoFit/>
          </a:bodyPr>
          <a:lstStyle/>
          <a:p>
            <a:pPr algn="ctr"/>
            <a:r>
              <a:rPr lang="en-VN">
                <a:solidFill>
                  <a:srgbClr val="FF0000"/>
                </a:solidFill>
              </a:rPr>
              <a:t>Gate</a:t>
            </a:r>
          </a:p>
        </p:txBody>
      </p:sp>
      <p:sp>
        <p:nvSpPr>
          <p:cNvPr id="3" name="TextBox 2">
            <a:extLst>
              <a:ext uri="{FF2B5EF4-FFF2-40B4-BE49-F238E27FC236}">
                <a16:creationId xmlns:a16="http://schemas.microsoft.com/office/drawing/2014/main" id="{07A254EA-C63C-1EA0-82A8-6A6B97661E8A}"/>
              </a:ext>
            </a:extLst>
          </p:cNvPr>
          <p:cNvSpPr txBox="1"/>
          <p:nvPr/>
        </p:nvSpPr>
        <p:spPr>
          <a:xfrm rot="16200000">
            <a:off x="-405805" y="5897122"/>
            <a:ext cx="1581220" cy="369332"/>
          </a:xfrm>
          <a:prstGeom prst="rect">
            <a:avLst/>
          </a:prstGeom>
          <a:noFill/>
        </p:spPr>
        <p:txBody>
          <a:bodyPr wrap="square" rtlCol="0">
            <a:spAutoFit/>
          </a:bodyPr>
          <a:lstStyle/>
          <a:p>
            <a:pPr algn="ctr"/>
            <a:r>
              <a:rPr lang="en-VN">
                <a:solidFill>
                  <a:srgbClr val="FF0000"/>
                </a:solidFill>
              </a:rPr>
              <a:t>Projector form</a:t>
            </a:r>
          </a:p>
        </p:txBody>
      </p:sp>
      <p:sp>
        <p:nvSpPr>
          <p:cNvPr id="6" name="Left Brace 5">
            <a:extLst>
              <a:ext uri="{FF2B5EF4-FFF2-40B4-BE49-F238E27FC236}">
                <a16:creationId xmlns:a16="http://schemas.microsoft.com/office/drawing/2014/main" id="{8E75CB87-8DE3-7ED0-DAD8-A469D4D501BA}"/>
              </a:ext>
            </a:extLst>
          </p:cNvPr>
          <p:cNvSpPr/>
          <p:nvPr/>
        </p:nvSpPr>
        <p:spPr>
          <a:xfrm>
            <a:off x="601243" y="5531038"/>
            <a:ext cx="281820" cy="1202433"/>
          </a:xfrm>
          <a:prstGeom prst="leftBrace">
            <a:avLst>
              <a:gd name="adj1" fmla="val 45363"/>
              <a:gd name="adj2" fmla="val 50000"/>
            </a:avLst>
          </a:prstGeom>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Tree>
    <p:extLst>
      <p:ext uri="{BB962C8B-B14F-4D97-AF65-F5344CB8AC3E}">
        <p14:creationId xmlns:p14="http://schemas.microsoft.com/office/powerpoint/2010/main" val="3940504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A80CB2D-FD77-4CA5-912B-B65E6590B1D0}"/>
              </a:ext>
            </a:extLst>
          </p:cNvPr>
          <p:cNvSpPr>
            <a:spLocks noGrp="1"/>
          </p:cNvSpPr>
          <p:nvPr>
            <p:ph type="title"/>
          </p:nvPr>
        </p:nvSpPr>
        <p:spPr/>
        <p:txBody>
          <a:bodyPr/>
          <a:lstStyle/>
          <a:p>
            <a:r>
              <a:rPr lang="en-US"/>
              <a:t>Single qubit gate: phase gate</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7EC0F06D-7349-4198-A64C-8A8650F3B005}"/>
                  </a:ext>
                </a:extLst>
              </p:cNvPr>
              <p:cNvSpPr>
                <a:spLocks noGrp="1"/>
              </p:cNvSpPr>
              <p:nvPr>
                <p:ph idx="1"/>
              </p:nvPr>
            </p:nvSpPr>
            <p:spPr>
              <a:xfrm>
                <a:off x="838200" y="1825625"/>
                <a:ext cx="10515600" cy="4667250"/>
              </a:xfrm>
            </p:spPr>
            <p:txBody>
              <a:bodyPr>
                <a:normAutofit lnSpcReduction="10000"/>
              </a:bodyPr>
              <a:lstStyle/>
              <a:p>
                <a:pPr marL="0" indent="0">
                  <a:buNone/>
                </a:pPr>
                <a:r>
                  <a:rPr lang="en-US" b="0" i="0">
                    <a:solidFill>
                      <a:srgbClr val="000000"/>
                    </a:solidFill>
                    <a:effectLst/>
                    <a:latin typeface="Calibri (Thân)"/>
                  </a:rPr>
                  <a:t>The P-gate performs a rotation of </a:t>
                </a:r>
                <a14:m>
                  <m:oMath xmlns:m="http://schemas.openxmlformats.org/officeDocument/2006/math">
                    <m:r>
                      <a:rPr lang="en-US" b="0" i="1" smtClean="0">
                        <a:solidFill>
                          <a:srgbClr val="000000"/>
                        </a:solidFill>
                        <a:effectLst/>
                        <a:latin typeface="Cambria Math" panose="02040503050406030204" pitchFamily="18" charset="0"/>
                      </a:rPr>
                      <m:t>𝜙</m:t>
                    </m:r>
                  </m:oMath>
                </a14:m>
                <a:r>
                  <a:rPr lang="en-US" b="0" i="0">
                    <a:solidFill>
                      <a:srgbClr val="000000"/>
                    </a:solidFill>
                    <a:effectLst/>
                    <a:latin typeface="Calibri (Thân)"/>
                  </a:rPr>
                  <a:t> around </a:t>
                </a:r>
                <a14:m>
                  <m:oMath xmlns:m="http://schemas.openxmlformats.org/officeDocument/2006/math">
                    <m:r>
                      <a:rPr lang="en-US" b="0" i="1" smtClean="0">
                        <a:solidFill>
                          <a:srgbClr val="000000"/>
                        </a:solidFill>
                        <a:effectLst/>
                        <a:latin typeface="Cambria Math" panose="02040503050406030204" pitchFamily="18" charset="0"/>
                      </a:rPr>
                      <m:t>𝑍</m:t>
                    </m:r>
                  </m:oMath>
                </a14:m>
                <a:r>
                  <a:rPr lang="en-US" b="0" i="0">
                    <a:solidFill>
                      <a:srgbClr val="000000"/>
                    </a:solidFill>
                    <a:effectLst/>
                    <a:latin typeface="Calibri (Thân)"/>
                  </a:rPr>
                  <a:t>-axis:</a:t>
                </a:r>
              </a:p>
              <a:p>
                <a:pPr marL="0" indent="0">
                  <a:buNone/>
                </a:pPr>
                <a:endParaRPr lang="en-US" b="0" i="1">
                  <a:latin typeface="Calibri (Thân)"/>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rPr>
                                      <m:t>𝜙</m:t>
                                    </m:r>
                                  </m:sup>
                                </m:sSup>
                              </m:e>
                            </m:mr>
                          </m:m>
                        </m:e>
                      </m:d>
                      <m:r>
                        <a:rPr lang="en-US" b="0" i="1" smtClean="0">
                          <a:latin typeface="Cambria Math" panose="02040503050406030204" pitchFamily="18" charset="0"/>
                        </a:rPr>
                        <m:t>,</m:t>
                      </m:r>
                      <m:r>
                        <a:rPr lang="en-US" i="1">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ℝ</m:t>
                      </m:r>
                    </m:oMath>
                  </m:oMathPara>
                </a14:m>
                <a:endParaRPr lang="en-US"/>
              </a:p>
              <a:p>
                <a:pPr marL="0" indent="0">
                  <a:buNone/>
                </a:pPr>
                <a:r>
                  <a:rPr lang="en-US"/>
                  <a:t>S gate: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i="1">
                          <a:latin typeface="Cambria Math" panose="02040503050406030204" pitchFamily="18" charset="0"/>
                        </a:rPr>
                        <m:t>𝑃</m:t>
                      </m:r>
                      <m:d>
                        <m:dPr>
                          <m:ctrlPr>
                            <a:rPr lang="vi-VN" b="0" i="1">
                              <a:latin typeface="Cambria Math" panose="02040503050406030204" pitchFamily="18" charset="0"/>
                            </a:rPr>
                          </m:ctrlPr>
                        </m:dPr>
                        <m:e>
                          <m:f>
                            <m:fPr>
                              <m:ctrlPr>
                                <a:rPr lang="vi-VN" b="0" i="1">
                                  <a:latin typeface="Cambria Math" panose="02040503050406030204" pitchFamily="18" charset="0"/>
                                </a:rPr>
                              </m:ctrlPr>
                            </m:fPr>
                            <m:num>
                              <m:r>
                                <a:rPr lang="vi-VN" b="0" i="1">
                                  <a:latin typeface="Cambria Math" panose="02040503050406030204" pitchFamily="18" charset="0"/>
                                </a:rPr>
                                <m:t>𝜋</m:t>
                              </m:r>
                            </m:num>
                            <m:den>
                              <m:r>
                                <a:rPr lang="vi-VN" b="0" i="1">
                                  <a:latin typeface="Cambria Math" panose="02040503050406030204" pitchFamily="18" charset="0"/>
                                </a:rPr>
                                <m:t>2</m:t>
                              </m:r>
                            </m:den>
                          </m:f>
                        </m:e>
                      </m:d>
                      <m:r>
                        <a:rPr lang="vi-VN" b="0" i="1">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𝑍</m:t>
                          </m:r>
                        </m:e>
                      </m:ra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0</m:t>
                                </m:r>
                              </m:e>
                              <m:e>
                                <m:sSup>
                                  <m:sSupPr>
                                    <m:ctrlPr>
                                      <a:rPr lang="en-US" i="1">
                                        <a:latin typeface="Cambria Math" panose="02040503050406030204" pitchFamily="18" charset="0"/>
                                      </a:rPr>
                                    </m:ctrlPr>
                                  </m:sSupPr>
                                  <m:e>
                                    <m:r>
                                      <a:rPr lang="en-US" i="1">
                                        <a:latin typeface="Cambria Math" panose="02040503050406030204" pitchFamily="18" charset="0"/>
                                      </a:rPr>
                                      <m:t>𝑒</m:t>
                                    </m:r>
                                  </m:e>
                                  <m:sup>
                                    <m:f>
                                      <m:fPr>
                                        <m:ctrlPr>
                                          <a:rPr lang="en-US" b="0" i="1" smtClean="0">
                                            <a:latin typeface="Cambria Math" panose="02040503050406030204" pitchFamily="18" charset="0"/>
                                          </a:rPr>
                                        </m:ctrlPr>
                                      </m:fPr>
                                      <m:num>
                                        <m:r>
                                          <a:rPr lang="en-US" i="1">
                                            <a:latin typeface="Cambria Math" panose="02040503050406030204" pitchFamily="18" charset="0"/>
                                          </a:rPr>
                                          <m:t>𝑖</m:t>
                                        </m:r>
                                        <m:r>
                                          <a:rPr lang="en-US" b="0" i="1" smtClean="0">
                                            <a:latin typeface="Cambria Math" panose="02040503050406030204" pitchFamily="18" charset="0"/>
                                          </a:rPr>
                                          <m:t>𝜋</m:t>
                                        </m:r>
                                      </m:num>
                                      <m:den>
                                        <m:r>
                                          <a:rPr lang="en-US" b="0" i="1" smtClean="0">
                                            <a:latin typeface="Cambria Math" panose="02040503050406030204" pitchFamily="18" charset="0"/>
                                          </a:rPr>
                                          <m:t>2</m:t>
                                        </m:r>
                                      </m:den>
                                    </m:f>
                                  </m:sup>
                                </m:sSup>
                              </m:e>
                            </m:mr>
                          </m:m>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𝑍</m:t>
                              </m:r>
                            </m:e>
                          </m:rad>
                        </m:e>
                        <m:sup>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0</m:t>
                                </m:r>
                              </m:e>
                              <m:e>
                                <m:sSup>
                                  <m:sSupPr>
                                    <m:ctrlPr>
                                      <a:rPr lang="en-US" i="1">
                                        <a:latin typeface="Cambria Math" panose="02040503050406030204" pitchFamily="18" charset="0"/>
                                      </a:rPr>
                                    </m:ctrlPr>
                                  </m:sSupPr>
                                  <m:e>
                                    <m:r>
                                      <a:rPr lang="en-US" i="1">
                                        <a:latin typeface="Cambria Math" panose="02040503050406030204" pitchFamily="18" charset="0"/>
                                      </a:rPr>
                                      <m:t>𝑒</m:t>
                                    </m:r>
                                  </m:e>
                                  <m:sup>
                                    <m:f>
                                      <m:fPr>
                                        <m:ctrlPr>
                                          <a:rPr lang="en-US" i="1">
                                            <a:latin typeface="Cambria Math" panose="02040503050406030204" pitchFamily="18" charset="0"/>
                                          </a:rPr>
                                        </m:ctrlPr>
                                      </m:fPr>
                                      <m:num>
                                        <m:r>
                                          <a:rPr lang="en-US" b="0" i="1" smtClean="0">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𝜋</m:t>
                                        </m:r>
                                      </m:num>
                                      <m:den>
                                        <m:r>
                                          <a:rPr lang="en-US" i="1">
                                            <a:latin typeface="Cambria Math" panose="02040503050406030204" pitchFamily="18" charset="0"/>
                                          </a:rPr>
                                          <m:t>2</m:t>
                                        </m:r>
                                      </m:den>
                                    </m:f>
                                  </m:sup>
                                </m:sSup>
                              </m:e>
                            </m:mr>
                          </m:m>
                        </m:e>
                      </m:d>
                    </m:oMath>
                  </m:oMathPara>
                </a14:m>
                <a:endParaRPr lang="en-US"/>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𝑆𝑆</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oMath>
                  </m:oMathPara>
                </a14:m>
                <a:endParaRPr lang="en-US"/>
              </a:p>
              <a:p>
                <a:pPr marL="0" indent="0">
                  <a:buNone/>
                </a:pPr>
                <a:r>
                  <a:rPr lang="en-US"/>
                  <a:t>T gate: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ad>
                        <m:radPr>
                          <m:ctrlPr>
                            <a:rPr lang="en-US" b="0" i="1" smtClean="0">
                              <a:latin typeface="Cambria Math" panose="02040503050406030204" pitchFamily="18" charset="0"/>
                            </a:rPr>
                          </m:ctrlPr>
                        </m:radPr>
                        <m:deg>
                          <m:r>
                            <m:rPr>
                              <m:brk m:alnAt="7"/>
                            </m:rPr>
                            <a:rPr lang="en-US" b="0" i="1" smtClean="0">
                              <a:latin typeface="Cambria Math" panose="02040503050406030204" pitchFamily="18" charset="0"/>
                            </a:rPr>
                            <m:t>4</m:t>
                          </m:r>
                        </m:deg>
                        <m:e>
                          <m:r>
                            <a:rPr lang="en-US" b="0" i="1" smtClean="0">
                              <a:latin typeface="Cambria Math" panose="02040503050406030204" pitchFamily="18" charset="0"/>
                            </a:rPr>
                            <m:t>𝑍</m:t>
                          </m:r>
                        </m:e>
                      </m:rad>
                      <m:r>
                        <a:rPr lang="vi-VN" b="0" i="1" smtClean="0">
                          <a:latin typeface="Cambria Math" panose="02040503050406030204" pitchFamily="18" charset="0"/>
                        </a:rPr>
                        <m:t>=</m:t>
                      </m:r>
                      <m:rad>
                        <m:radPr>
                          <m:degHide m:val="on"/>
                          <m:ctrlPr>
                            <a:rPr lang="vi-VN" b="0" i="1" smtClean="0">
                              <a:latin typeface="Cambria Math" panose="02040503050406030204" pitchFamily="18" charset="0"/>
                            </a:rPr>
                          </m:ctrlPr>
                        </m:radPr>
                        <m:deg/>
                        <m:e>
                          <m:r>
                            <a:rPr lang="vi-VN" i="1">
                              <a:latin typeface="Cambria Math" panose="02040503050406030204" pitchFamily="18" charset="0"/>
                            </a:rPr>
                            <m:t>𝑆</m:t>
                          </m:r>
                        </m:e>
                      </m:rad>
                    </m:oMath>
                  </m:oMathPara>
                </a14:m>
                <a:endParaRPr lang="vi-VN" i="1"/>
              </a:p>
            </p:txBody>
          </p:sp>
        </mc:Choice>
        <mc:Fallback xmlns="">
          <p:sp>
            <p:nvSpPr>
              <p:cNvPr id="3" name="Chỗ dành sẵn cho Nội dung 2">
                <a:extLst>
                  <a:ext uri="{FF2B5EF4-FFF2-40B4-BE49-F238E27FC236}">
                    <a16:creationId xmlns:a16="http://schemas.microsoft.com/office/drawing/2014/main" id="{7EC0F06D-7349-4198-A64C-8A8650F3B005}"/>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217" t="-2872"/>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34A9403F-AF74-4807-BBF0-2197102D1D6B}"/>
              </a:ext>
            </a:extLst>
          </p:cNvPr>
          <p:cNvSpPr>
            <a:spLocks noGrp="1"/>
          </p:cNvSpPr>
          <p:nvPr>
            <p:ph type="sldNum" sz="quarter" idx="12"/>
          </p:nvPr>
        </p:nvSpPr>
        <p:spPr/>
        <p:txBody>
          <a:bodyPr/>
          <a:lstStyle/>
          <a:p>
            <a:fld id="{71331178-9F85-4EDF-BDD3-1E7064DA4C59}" type="slidenum">
              <a:rPr lang="vi-VN" smtClean="0"/>
              <a:t>7</a:t>
            </a:fld>
            <a:endParaRPr lang="vi-VN"/>
          </a:p>
        </p:txBody>
      </p:sp>
      <p:sp>
        <p:nvSpPr>
          <p:cNvPr id="5" name="Rectangle 4">
            <a:extLst>
              <a:ext uri="{FF2B5EF4-FFF2-40B4-BE49-F238E27FC236}">
                <a16:creationId xmlns:a16="http://schemas.microsoft.com/office/drawing/2014/main" id="{50A4EB1F-45F3-74E2-3034-A90E26DC2AF5}"/>
              </a:ext>
            </a:extLst>
          </p:cNvPr>
          <p:cNvSpPr/>
          <p:nvPr/>
        </p:nvSpPr>
        <p:spPr>
          <a:xfrm>
            <a:off x="4472848" y="2776251"/>
            <a:ext cx="583894" cy="4847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TextBox 5">
            <a:extLst>
              <a:ext uri="{FF2B5EF4-FFF2-40B4-BE49-F238E27FC236}">
                <a16:creationId xmlns:a16="http://schemas.microsoft.com/office/drawing/2014/main" id="{9E6E0061-55D1-48E7-7F47-E685F7C0C5CC}"/>
              </a:ext>
            </a:extLst>
          </p:cNvPr>
          <p:cNvSpPr txBox="1"/>
          <p:nvPr/>
        </p:nvSpPr>
        <p:spPr>
          <a:xfrm>
            <a:off x="3299549" y="2271982"/>
            <a:ext cx="1195331" cy="369332"/>
          </a:xfrm>
          <a:prstGeom prst="rect">
            <a:avLst/>
          </a:prstGeom>
          <a:noFill/>
        </p:spPr>
        <p:txBody>
          <a:bodyPr wrap="square" rtlCol="0">
            <a:spAutoFit/>
          </a:bodyPr>
          <a:lstStyle/>
          <a:p>
            <a:r>
              <a:rPr lang="en-VN">
                <a:solidFill>
                  <a:srgbClr val="FF0000"/>
                </a:solidFill>
              </a:rPr>
              <a:t>Parameter</a:t>
            </a:r>
          </a:p>
        </p:txBody>
      </p:sp>
      <p:cxnSp>
        <p:nvCxnSpPr>
          <p:cNvPr id="8" name="Elbow Connector 7">
            <a:extLst>
              <a:ext uri="{FF2B5EF4-FFF2-40B4-BE49-F238E27FC236}">
                <a16:creationId xmlns:a16="http://schemas.microsoft.com/office/drawing/2014/main" id="{ABAED0FE-2250-3F29-E755-940465DCDFB7}"/>
              </a:ext>
            </a:extLst>
          </p:cNvPr>
          <p:cNvCxnSpPr>
            <a:cxnSpLocks/>
            <a:stCxn id="5" idx="0"/>
            <a:endCxn id="6" idx="3"/>
          </p:cNvCxnSpPr>
          <p:nvPr/>
        </p:nvCxnSpPr>
        <p:spPr>
          <a:xfrm rot="16200000" flipV="1">
            <a:off x="4470037" y="2481492"/>
            <a:ext cx="319603" cy="269915"/>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86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A80CB2D-FD77-4CA5-912B-B65E6590B1D0}"/>
              </a:ext>
            </a:extLst>
          </p:cNvPr>
          <p:cNvSpPr>
            <a:spLocks noGrp="1"/>
          </p:cNvSpPr>
          <p:nvPr>
            <p:ph type="title"/>
          </p:nvPr>
        </p:nvSpPr>
        <p:spPr/>
        <p:txBody>
          <a:bodyPr/>
          <a:lstStyle/>
          <a:p>
            <a:r>
              <a:rPr lang="en-US"/>
              <a:t>Single qubit gate: parameterized gate </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7EC0F06D-7349-4198-A64C-8A8650F3B005}"/>
                  </a:ext>
                </a:extLst>
              </p:cNvPr>
              <p:cNvSpPr>
                <a:spLocks noGrp="1"/>
              </p:cNvSpPr>
              <p:nvPr>
                <p:ph idx="1"/>
              </p:nvPr>
            </p:nvSpPr>
            <p:spPr>
              <a:xfrm>
                <a:off x="838200" y="5840904"/>
                <a:ext cx="8030378" cy="845103"/>
              </a:xfrm>
              <a:ln>
                <a:solidFill>
                  <a:srgbClr val="FF0000"/>
                </a:solidFill>
              </a:ln>
            </p:spPr>
            <p:txBody>
              <a:bodyPr>
                <a:normAutofit/>
              </a:bodyPr>
              <a:lstStyle/>
              <a:p>
                <a:pPr marL="0" indent="0">
                  <a:buNone/>
                </a:pPr>
                <a:r>
                  <a:rPr lang="en-US" sz="2400" b="1">
                    <a:solidFill>
                      <a:srgbClr val="FF0000"/>
                    </a:solidFill>
                  </a:rPr>
                  <a:t>Excercise</a:t>
                </a:r>
                <a:r>
                  <a:rPr lang="en-US" sz="2400">
                    <a:solidFill>
                      <a:srgbClr val="FF0000"/>
                    </a:solidFill>
                  </a:rPr>
                  <a:t>: Let </a:t>
                </a:r>
                <a14:m>
                  <m:oMath xmlns:m="http://schemas.openxmlformats.org/officeDocument/2006/math">
                    <m:r>
                      <a:rPr lang="en-US" sz="2400" b="0" i="1" smtClean="0">
                        <a:solidFill>
                          <a:srgbClr val="FF0000"/>
                        </a:solidFill>
                        <a:latin typeface="Cambria Math" panose="02040503050406030204" pitchFamily="18" charset="0"/>
                      </a:rPr>
                      <m:t>𝑥</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ℝ</m:t>
                    </m:r>
                    <m:r>
                      <a:rPr lang="en-US" sz="2400" b="0" i="1" smtClean="0">
                        <a:solidFill>
                          <a:srgbClr val="FF0000"/>
                        </a:solidFill>
                        <a:latin typeface="Cambria Math" panose="02040503050406030204" pitchFamily="18" charset="0"/>
                      </a:rPr>
                      <m:t>,</m:t>
                    </m:r>
                  </m:oMath>
                </a14:m>
                <a:r>
                  <a:rPr lang="en-US" sz="2400">
                    <a:solidFill>
                      <a:srgbClr val="FF0000"/>
                    </a:solidFill>
                  </a:rPr>
                  <a:t> and matrix </a:t>
                </a:r>
                <a14:m>
                  <m:oMath xmlns:m="http://schemas.openxmlformats.org/officeDocument/2006/math">
                    <m:r>
                      <a:rPr lang="en-US" sz="2400" b="0" i="1" smtClean="0">
                        <a:solidFill>
                          <a:srgbClr val="FF0000"/>
                        </a:solidFill>
                        <a:latin typeface="Cambria Math" panose="02040503050406030204" pitchFamily="18" charset="0"/>
                      </a:rPr>
                      <m:t>𝐴</m:t>
                    </m:r>
                  </m:oMath>
                </a14:m>
                <a:r>
                  <a:rPr lang="en-US" sz="2400">
                    <a:solidFill>
                      <a:srgbClr val="FF0000"/>
                    </a:solidFill>
                  </a:rPr>
                  <a:t> such that </a:t>
                </a:r>
                <a14:m>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𝐴</m:t>
                        </m:r>
                      </m:e>
                      <m:sup>
                        <m:r>
                          <a:rPr lang="en-US" sz="2400" b="0" i="1" smtClean="0">
                            <a:solidFill>
                              <a:srgbClr val="FF0000"/>
                            </a:solidFill>
                            <a:latin typeface="Cambria Math" panose="02040503050406030204" pitchFamily="18" charset="0"/>
                          </a:rPr>
                          <m:t>2</m:t>
                        </m:r>
                      </m:sup>
                    </m:sSup>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𝐼</m:t>
                    </m:r>
                  </m:oMath>
                </a14:m>
                <a:r>
                  <a:rPr lang="en-US" sz="2400">
                    <a:solidFill>
                      <a:srgbClr val="FF0000"/>
                    </a:solidFill>
                  </a:rPr>
                  <a:t>. Prove:</a:t>
                </a:r>
                <a:endParaRPr lang="en-US" sz="2400" b="0" i="1">
                  <a:solidFill>
                    <a:srgbClr val="FF0000"/>
                  </a:solidFill>
                  <a:latin typeface="Cambria Math" panose="02040503050406030204" pitchFamily="18" charset="0"/>
                </a:endParaRPr>
              </a:p>
              <a:p>
                <a:pPr marL="0" indent="0">
                  <a:buNone/>
                </a:pPr>
                <a14:m>
                  <m:oMathPara xmlns:m="http://schemas.openxmlformats.org/officeDocument/2006/math">
                    <m:oMathParaPr>
                      <m:jc m:val="center"/>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𝑒</m:t>
                          </m:r>
                        </m:e>
                        <m:sup>
                          <m:r>
                            <a:rPr lang="en-US" sz="2400" b="0" i="1" smtClean="0">
                              <a:solidFill>
                                <a:srgbClr val="FF0000"/>
                              </a:solidFill>
                              <a:latin typeface="Cambria Math" panose="02040503050406030204" pitchFamily="18" charset="0"/>
                            </a:rPr>
                            <m:t>𝑖𝑥𝐴</m:t>
                          </m:r>
                        </m:sup>
                      </m:sSup>
                      <m:r>
                        <a:rPr lang="en-US" sz="2400" b="0" i="1" smtClean="0">
                          <a:solidFill>
                            <a:srgbClr val="FF0000"/>
                          </a:solidFill>
                          <a:latin typeface="Cambria Math" panose="02040503050406030204" pitchFamily="18" charset="0"/>
                        </a:rPr>
                        <m:t>=</m:t>
                      </m:r>
                      <m:func>
                        <m:funcPr>
                          <m:ctrlPr>
                            <a:rPr lang="en-US" sz="2400" b="0" i="1" smtClean="0">
                              <a:solidFill>
                                <a:srgbClr val="FF0000"/>
                              </a:solidFill>
                              <a:latin typeface="Cambria Math" panose="02040503050406030204" pitchFamily="18" charset="0"/>
                            </a:rPr>
                          </m:ctrlPr>
                        </m:funcPr>
                        <m:fName>
                          <m:r>
                            <m:rPr>
                              <m:sty m:val="p"/>
                            </m:rPr>
                            <a:rPr lang="en-US" sz="2400" b="0" i="0" smtClean="0">
                              <a:solidFill>
                                <a:srgbClr val="FF0000"/>
                              </a:solidFill>
                              <a:latin typeface="Cambria Math" panose="02040503050406030204" pitchFamily="18" charset="0"/>
                            </a:rPr>
                            <m:t>cos</m:t>
                          </m:r>
                        </m:fName>
                        <m:e>
                          <m:r>
                            <a:rPr lang="en-US" sz="2400" b="0" i="1" smtClean="0">
                              <a:solidFill>
                                <a:srgbClr val="FF0000"/>
                              </a:solidFill>
                              <a:latin typeface="Cambria Math" panose="02040503050406030204" pitchFamily="18" charset="0"/>
                            </a:rPr>
                            <m:t>𝑥</m:t>
                          </m:r>
                        </m:e>
                      </m:func>
                      <m:r>
                        <a:rPr lang="en-US" sz="2400" b="0" i="1" smtClean="0">
                          <a:solidFill>
                            <a:srgbClr val="FF0000"/>
                          </a:solidFill>
                          <a:latin typeface="Cambria Math" panose="02040503050406030204" pitchFamily="18" charset="0"/>
                        </a:rPr>
                        <m:t>𝐼</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𝑖</m:t>
                      </m:r>
                      <m:func>
                        <m:funcPr>
                          <m:ctrlPr>
                            <a:rPr lang="en-US" sz="2400" b="0" i="1" smtClean="0">
                              <a:solidFill>
                                <a:srgbClr val="FF0000"/>
                              </a:solidFill>
                              <a:latin typeface="Cambria Math" panose="02040503050406030204" pitchFamily="18" charset="0"/>
                            </a:rPr>
                          </m:ctrlPr>
                        </m:funcPr>
                        <m:fName>
                          <m:r>
                            <m:rPr>
                              <m:sty m:val="p"/>
                            </m:rPr>
                            <a:rPr lang="en-US" sz="2400" b="0" i="0" smtClean="0">
                              <a:solidFill>
                                <a:srgbClr val="FF0000"/>
                              </a:solidFill>
                              <a:latin typeface="Cambria Math" panose="02040503050406030204" pitchFamily="18" charset="0"/>
                            </a:rPr>
                            <m:t>sin</m:t>
                          </m:r>
                        </m:fName>
                        <m:e>
                          <m:r>
                            <a:rPr lang="en-US" sz="2400" b="0" i="1" smtClean="0">
                              <a:solidFill>
                                <a:srgbClr val="FF0000"/>
                              </a:solidFill>
                              <a:latin typeface="Cambria Math" panose="02040503050406030204" pitchFamily="18" charset="0"/>
                            </a:rPr>
                            <m:t>𝑥</m:t>
                          </m:r>
                        </m:e>
                      </m:func>
                      <m:r>
                        <a:rPr lang="en-US" sz="2400" b="0" i="1" smtClean="0">
                          <a:solidFill>
                            <a:srgbClr val="FF0000"/>
                          </a:solidFill>
                          <a:latin typeface="Cambria Math" panose="02040503050406030204" pitchFamily="18" charset="0"/>
                        </a:rPr>
                        <m:t>𝐴</m:t>
                      </m:r>
                    </m:oMath>
                  </m:oMathPara>
                </a14:m>
                <a:endParaRPr lang="en-US" sz="2400">
                  <a:solidFill>
                    <a:srgbClr val="FF0000"/>
                  </a:solidFill>
                </a:endParaRPr>
              </a:p>
            </p:txBody>
          </p:sp>
        </mc:Choice>
        <mc:Fallback xmlns="">
          <p:sp>
            <p:nvSpPr>
              <p:cNvPr id="3" name="Chỗ dành sẵn cho Nội dung 2">
                <a:extLst>
                  <a:ext uri="{FF2B5EF4-FFF2-40B4-BE49-F238E27FC236}">
                    <a16:creationId xmlns:a16="http://schemas.microsoft.com/office/drawing/2014/main" id="{7EC0F06D-7349-4198-A64C-8A8650F3B005}"/>
                  </a:ext>
                </a:extLst>
              </p:cNvPr>
              <p:cNvSpPr>
                <a:spLocks noGrp="1" noRot="1" noChangeAspect="1" noMove="1" noResize="1" noEditPoints="1" noAdjustHandles="1" noChangeArrowheads="1" noChangeShapeType="1" noTextEdit="1"/>
              </p:cNvSpPr>
              <p:nvPr>
                <p:ph idx="1"/>
              </p:nvPr>
            </p:nvSpPr>
            <p:spPr>
              <a:xfrm>
                <a:off x="838200" y="5840904"/>
                <a:ext cx="8030378" cy="845103"/>
              </a:xfrm>
              <a:blipFill>
                <a:blip r:embed="rId2"/>
                <a:stretch>
                  <a:fillRect l="-1104" t="-7246"/>
                </a:stretch>
              </a:blipFill>
              <a:ln>
                <a:solidFill>
                  <a:srgbClr val="FF0000"/>
                </a:solidFill>
              </a:ln>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34A9403F-AF74-4807-BBF0-2197102D1D6B}"/>
              </a:ext>
            </a:extLst>
          </p:cNvPr>
          <p:cNvSpPr>
            <a:spLocks noGrp="1"/>
          </p:cNvSpPr>
          <p:nvPr>
            <p:ph type="sldNum" sz="quarter" idx="12"/>
          </p:nvPr>
        </p:nvSpPr>
        <p:spPr/>
        <p:txBody>
          <a:bodyPr/>
          <a:lstStyle/>
          <a:p>
            <a:fld id="{71331178-9F85-4EDF-BDD3-1E7064DA4C59}" type="slidenum">
              <a:rPr lang="vi-VN" smtClean="0"/>
              <a:t>8</a:t>
            </a:fld>
            <a:endParaRPr lang="vi-V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4149339-252A-2C2D-8764-BF137D753C5B}"/>
                  </a:ext>
                </a:extLst>
              </p:cNvPr>
              <p:cNvSpPr txBox="1"/>
              <p:nvPr/>
            </p:nvSpPr>
            <p:spPr>
              <a:xfrm>
                <a:off x="937352" y="1690202"/>
                <a:ext cx="9740102" cy="8511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vi-VN" sz="2800" b="0" i="1">
                              <a:latin typeface="Cambria Math" panose="02040503050406030204" pitchFamily="18" charset="0"/>
                            </a:rPr>
                          </m:ctrlPr>
                        </m:sSubPr>
                        <m:e>
                          <m:r>
                            <a:rPr lang="en-VN" sz="2800" i="1">
                              <a:latin typeface="Cambria Math" panose="02040503050406030204" pitchFamily="18" charset="0"/>
                            </a:rPr>
                            <m:t>𝑅</m:t>
                          </m:r>
                        </m:e>
                        <m:sub>
                          <m:r>
                            <a:rPr lang="vi-VN" sz="2800" i="1">
                              <a:latin typeface="Cambria Math" panose="02040503050406030204" pitchFamily="18" charset="0"/>
                            </a:rPr>
                            <m:t>𝑥</m:t>
                          </m:r>
                        </m:sub>
                      </m:sSub>
                      <m:d>
                        <m:dPr>
                          <m:ctrlPr>
                            <a:rPr lang="vi-VN" sz="2800" b="0" i="1">
                              <a:latin typeface="Cambria Math" panose="02040503050406030204" pitchFamily="18" charset="0"/>
                            </a:rPr>
                          </m:ctrlPr>
                        </m:dPr>
                        <m:e>
                          <m:r>
                            <a:rPr lang="vi-VN" sz="2800" b="0" i="1">
                              <a:solidFill>
                                <a:srgbClr val="FF0000"/>
                              </a:solidFill>
                              <a:latin typeface="Cambria Math" panose="02040503050406030204" pitchFamily="18" charset="0"/>
                            </a:rPr>
                            <m:t>𝜃</m:t>
                          </m:r>
                        </m:e>
                      </m:d>
                      <m:r>
                        <a:rPr lang="vi-VN" sz="2800" b="0" i="1">
                          <a:latin typeface="Cambria Math" panose="02040503050406030204" pitchFamily="18" charset="0"/>
                        </a:rPr>
                        <m:t>=</m:t>
                      </m:r>
                      <m:sSup>
                        <m:sSupPr>
                          <m:ctrlPr>
                            <a:rPr lang="vi-VN" sz="2800" b="0" i="1">
                              <a:latin typeface="Cambria Math" panose="02040503050406030204" pitchFamily="18" charset="0"/>
                            </a:rPr>
                          </m:ctrlPr>
                        </m:sSupPr>
                        <m:e>
                          <m:r>
                            <a:rPr lang="vi-VN" sz="2800" i="1">
                              <a:latin typeface="Cambria Math" panose="02040503050406030204" pitchFamily="18" charset="0"/>
                            </a:rPr>
                            <m:t>𝑒</m:t>
                          </m:r>
                        </m:e>
                        <m:sup>
                          <m:r>
                            <a:rPr lang="vi-VN" sz="2800" b="0" i="1">
                              <a:latin typeface="Cambria Math" panose="02040503050406030204" pitchFamily="18" charset="0"/>
                            </a:rPr>
                            <m:t>−</m:t>
                          </m:r>
                          <m:f>
                            <m:fPr>
                              <m:ctrlPr>
                                <a:rPr lang="vi-VN" sz="2800" b="0" i="1">
                                  <a:latin typeface="Cambria Math" panose="02040503050406030204" pitchFamily="18" charset="0"/>
                                </a:rPr>
                              </m:ctrlPr>
                            </m:fPr>
                            <m:num>
                              <m:r>
                                <a:rPr lang="vi-VN" sz="2800" i="1">
                                  <a:latin typeface="Cambria Math" panose="02040503050406030204" pitchFamily="18" charset="0"/>
                                </a:rPr>
                                <m:t>𝑖</m:t>
                              </m:r>
                              <m:r>
                                <a:rPr lang="vi-VN" sz="2800" b="0" i="1">
                                  <a:latin typeface="Cambria Math" panose="02040503050406030204" pitchFamily="18" charset="0"/>
                                </a:rPr>
                                <m:t>𝜃</m:t>
                              </m:r>
                              <m:r>
                                <a:rPr lang="vi-VN" sz="2800" i="1">
                                  <a:latin typeface="Cambria Math" panose="02040503050406030204" pitchFamily="18" charset="0"/>
                                </a:rPr>
                                <m:t>𝑋</m:t>
                              </m:r>
                            </m:num>
                            <m:den>
                              <m:r>
                                <a:rPr lang="vi-VN" sz="2800" b="0" i="1">
                                  <a:latin typeface="Cambria Math" panose="02040503050406030204" pitchFamily="18" charset="0"/>
                                </a:rPr>
                                <m:t>2</m:t>
                              </m:r>
                            </m:den>
                          </m:f>
                        </m:sup>
                      </m:sSup>
                      <m:r>
                        <a:rPr lang="vi-VN" sz="2800" b="0" i="1">
                          <a:latin typeface="Cambria Math" panose="02040503050406030204" pitchFamily="18" charset="0"/>
                        </a:rPr>
                        <m:t>=</m:t>
                      </m:r>
                      <m:func>
                        <m:funcPr>
                          <m:ctrlPr>
                            <a:rPr lang="vi-VN" sz="2800" b="0" i="1">
                              <a:latin typeface="Cambria Math" panose="02040503050406030204" pitchFamily="18" charset="0"/>
                            </a:rPr>
                          </m:ctrlPr>
                        </m:funcPr>
                        <m:fName>
                          <m:r>
                            <a:rPr lang="vi-VN" sz="2800" b="0" i="1">
                              <a:latin typeface="Cambria Math" panose="02040503050406030204" pitchFamily="18" charset="0"/>
                            </a:rPr>
                            <m:t>𝑐𝑜𝑠</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r>
                            <a:rPr lang="vi-VN" sz="2800" i="1">
                              <a:latin typeface="Cambria Math" panose="02040503050406030204" pitchFamily="18" charset="0"/>
                            </a:rPr>
                            <m:t>𝐼</m:t>
                          </m:r>
                          <m:r>
                            <a:rPr lang="vi-VN" sz="2800" b="0" i="1">
                              <a:latin typeface="Cambria Math" panose="02040503050406030204" pitchFamily="18" charset="0"/>
                            </a:rPr>
                            <m:t>−</m:t>
                          </m:r>
                          <m:r>
                            <a:rPr lang="vi-VN" sz="2800" i="1">
                              <a:latin typeface="Cambria Math" panose="02040503050406030204" pitchFamily="18" charset="0"/>
                            </a:rPr>
                            <m:t>𝑖</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e>
                          </m:func>
                          <m:r>
                            <a:rPr lang="vi-VN" sz="2800" i="1">
                              <a:latin typeface="Cambria Math" panose="02040503050406030204" pitchFamily="18" charset="0"/>
                            </a:rPr>
                            <m:t>𝑋</m:t>
                          </m:r>
                          <m:r>
                            <a:rPr lang="vi-VN" sz="2800" b="0" i="1">
                              <a:latin typeface="Cambria Math" panose="02040503050406030204" pitchFamily="18" charset="0"/>
                            </a:rPr>
                            <m:t>=</m:t>
                          </m:r>
                          <m:d>
                            <m:dPr>
                              <m:begChr m:val="["/>
                              <m:endChr m:val="]"/>
                              <m:ctrlPr>
                                <a:rPr lang="vi-VN" sz="2800" b="0" i="1">
                                  <a:latin typeface="Cambria Math" panose="02040503050406030204" pitchFamily="18" charset="0"/>
                                </a:rPr>
                              </m:ctrlPr>
                            </m:dPr>
                            <m:e>
                              <m:m>
                                <m:mPr>
                                  <m:mcs>
                                    <m:mc>
                                      <m:mcPr>
                                        <m:count m:val="2"/>
                                        <m:mcJc m:val="center"/>
                                      </m:mcPr>
                                    </m:mc>
                                  </m:mcs>
                                  <m:ctrlPr>
                                    <a:rPr lang="vi-VN" sz="2800" b="0" i="1">
                                      <a:latin typeface="Cambria Math" panose="02040503050406030204" pitchFamily="18" charset="0"/>
                                    </a:rPr>
                                  </m:ctrlPr>
                                </m:mPr>
                                <m:mr>
                                  <m:e>
                                    <m:func>
                                      <m:funcPr>
                                        <m:ctrlPr>
                                          <a:rPr lang="vi-VN" sz="2800" b="0" i="1">
                                            <a:latin typeface="Cambria Math" panose="02040503050406030204" pitchFamily="18" charset="0"/>
                                          </a:rPr>
                                        </m:ctrlPr>
                                      </m:funcPr>
                                      <m:fName>
                                        <m:r>
                                          <m:rPr>
                                            <m:brk m:alnAt="7"/>
                                          </m:rPr>
                                          <a:rPr lang="vi-VN" sz="2800" b="0" i="1">
                                            <a:latin typeface="Cambria Math" panose="02040503050406030204" pitchFamily="18" charset="0"/>
                                          </a:rPr>
                                          <m:t>𝑐</m:t>
                                        </m:r>
                                        <m:r>
                                          <a:rPr lang="vi-VN" sz="2800" b="0" i="1">
                                            <a:latin typeface="Cambria Math" panose="02040503050406030204" pitchFamily="18" charset="0"/>
                                          </a:rPr>
                                          <m:t>𝑜𝑠</m:t>
                                        </m:r>
                                      </m:fName>
                                      <m:e>
                                        <m:r>
                                          <m:rPr>
                                            <m:brk m:alnAt="7"/>
                                          </m:rPr>
                                          <a:rPr lang="vi-VN" sz="2800" b="0" i="1">
                                            <a:latin typeface="Cambria Math" panose="02040503050406030204" pitchFamily="18" charset="0"/>
                                          </a:rPr>
                                          <m:t>𝜃</m:t>
                                        </m:r>
                                        <m:r>
                                          <a:rPr lang="vi-VN" sz="2800" b="0" i="1">
                                            <a:latin typeface="Cambria Math" panose="02040503050406030204" pitchFamily="18" charset="0"/>
                                          </a:rPr>
                                          <m:t>/2</m:t>
                                        </m:r>
                                      </m:e>
                                    </m:func>
                                  </m:e>
                                  <m:e>
                                    <m:r>
                                      <a:rPr lang="vi-VN" sz="2800" b="0" i="1">
                                        <a:latin typeface="Cambria Math" panose="02040503050406030204" pitchFamily="18" charset="0"/>
                                      </a:rPr>
                                      <m:t>−</m:t>
                                    </m:r>
                                    <m:r>
                                      <a:rPr lang="vi-VN" sz="2800" i="1">
                                        <a:latin typeface="Cambria Math" panose="02040503050406030204" pitchFamily="18" charset="0"/>
                                      </a:rPr>
                                      <m:t>𝑖</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r>
                                          <a:rPr lang="vi-VN" sz="2800" b="0" i="1">
                                            <a:latin typeface="Cambria Math" panose="02040503050406030204" pitchFamily="18" charset="0"/>
                                          </a:rPr>
                                          <m:t>𝜃</m:t>
                                        </m:r>
                                        <m:r>
                                          <a:rPr lang="vi-VN" sz="2800" b="0" i="1">
                                            <a:latin typeface="Cambria Math" panose="02040503050406030204" pitchFamily="18" charset="0"/>
                                          </a:rPr>
                                          <m:t>/2</m:t>
                                        </m:r>
                                      </m:e>
                                    </m:func>
                                  </m:e>
                                </m:mr>
                                <m:mr>
                                  <m:e>
                                    <m:r>
                                      <a:rPr lang="vi-VN" sz="2800" b="0" i="1">
                                        <a:latin typeface="Cambria Math" panose="02040503050406030204" pitchFamily="18" charset="0"/>
                                      </a:rPr>
                                      <m:t>−</m:t>
                                    </m:r>
                                    <m:r>
                                      <a:rPr lang="vi-VN" sz="2800" i="1">
                                        <a:latin typeface="Cambria Math" panose="02040503050406030204" pitchFamily="18" charset="0"/>
                                      </a:rPr>
                                      <m:t>𝑖</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r>
                                          <a:rPr lang="vi-VN" sz="2800" b="0" i="1">
                                            <a:latin typeface="Cambria Math" panose="02040503050406030204" pitchFamily="18" charset="0"/>
                                          </a:rPr>
                                          <m:t>𝜃</m:t>
                                        </m:r>
                                        <m:r>
                                          <a:rPr lang="vi-VN" sz="2800" b="0" i="1">
                                            <a:latin typeface="Cambria Math" panose="02040503050406030204" pitchFamily="18" charset="0"/>
                                          </a:rPr>
                                          <m:t>/2</m:t>
                                        </m:r>
                                      </m:e>
                                    </m:func>
                                  </m:e>
                                  <m:e>
                                    <m:func>
                                      <m:funcPr>
                                        <m:ctrlPr>
                                          <a:rPr lang="vi-VN" sz="2800" b="0" i="1">
                                            <a:latin typeface="Cambria Math" panose="02040503050406030204" pitchFamily="18" charset="0"/>
                                          </a:rPr>
                                        </m:ctrlPr>
                                      </m:funcPr>
                                      <m:fName>
                                        <m:r>
                                          <a:rPr lang="vi-VN" sz="2800" b="0" i="1">
                                            <a:latin typeface="Cambria Math" panose="02040503050406030204" pitchFamily="18" charset="0"/>
                                          </a:rPr>
                                          <m:t>𝑐𝑜𝑠</m:t>
                                        </m:r>
                                      </m:fName>
                                      <m:e>
                                        <m:r>
                                          <a:rPr lang="vi-VN" sz="2800" b="0" i="1">
                                            <a:latin typeface="Cambria Math" panose="02040503050406030204" pitchFamily="18" charset="0"/>
                                          </a:rPr>
                                          <m:t>𝜃</m:t>
                                        </m:r>
                                        <m:r>
                                          <a:rPr lang="vi-VN" sz="2800" b="0" i="1">
                                            <a:latin typeface="Cambria Math" panose="02040503050406030204" pitchFamily="18" charset="0"/>
                                          </a:rPr>
                                          <m:t>/2</m:t>
                                        </m:r>
                                      </m:e>
                                    </m:func>
                                  </m:e>
                                </m:mr>
                              </m:m>
                            </m:e>
                          </m:d>
                        </m:e>
                      </m:func>
                    </m:oMath>
                  </m:oMathPara>
                </a14:m>
                <a:endParaRPr lang="en-VN" sz="2800" i="1"/>
              </a:p>
            </p:txBody>
          </p:sp>
        </mc:Choice>
        <mc:Fallback xmlns="">
          <p:sp>
            <p:nvSpPr>
              <p:cNvPr id="8" name="TextBox 7">
                <a:extLst>
                  <a:ext uri="{FF2B5EF4-FFF2-40B4-BE49-F238E27FC236}">
                    <a16:creationId xmlns:a16="http://schemas.microsoft.com/office/drawing/2014/main" id="{E4149339-252A-2C2D-8764-BF137D753C5B}"/>
                  </a:ext>
                </a:extLst>
              </p:cNvPr>
              <p:cNvSpPr txBox="1">
                <a:spLocks noRot="1" noChangeAspect="1" noMove="1" noResize="1" noEditPoints="1" noAdjustHandles="1" noChangeArrowheads="1" noChangeShapeType="1" noTextEdit="1"/>
              </p:cNvSpPr>
              <p:nvPr/>
            </p:nvSpPr>
            <p:spPr>
              <a:xfrm>
                <a:off x="937352" y="1690202"/>
                <a:ext cx="9740102" cy="851130"/>
              </a:xfrm>
              <a:prstGeom prst="rect">
                <a:avLst/>
              </a:prstGeom>
              <a:blipFill>
                <a:blip r:embed="rId3"/>
                <a:stretch>
                  <a:fillRect l="-260" b="-17391"/>
                </a:stretch>
              </a:blipFill>
            </p:spPr>
            <p:txBody>
              <a:bodyPr/>
              <a:lstStyle/>
              <a:p>
                <a:r>
                  <a:rPr lang="en-VN">
                    <a:noFill/>
                  </a:rPr>
                  <a:t> </a:t>
                </a:r>
              </a:p>
            </p:txBody>
          </p:sp>
        </mc:Fallback>
      </mc:AlternateContent>
      <p:sp>
        <p:nvSpPr>
          <p:cNvPr id="9" name="Rectangle 8">
            <a:extLst>
              <a:ext uri="{FF2B5EF4-FFF2-40B4-BE49-F238E27FC236}">
                <a16:creationId xmlns:a16="http://schemas.microsoft.com/office/drawing/2014/main" id="{ECE175CB-8446-D2AC-5079-8E6F6312CB12}"/>
              </a:ext>
            </a:extLst>
          </p:cNvPr>
          <p:cNvSpPr/>
          <p:nvPr/>
        </p:nvSpPr>
        <p:spPr>
          <a:xfrm>
            <a:off x="937352" y="1831493"/>
            <a:ext cx="1035586" cy="61694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8AB44DA-9E18-B4E5-DCC9-7294EB5C0092}"/>
                  </a:ext>
                </a:extLst>
              </p:cNvPr>
              <p:cNvSpPr txBox="1"/>
              <p:nvPr/>
            </p:nvSpPr>
            <p:spPr>
              <a:xfrm>
                <a:off x="937352" y="2489907"/>
                <a:ext cx="9135321" cy="8511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vi-VN" sz="2800" b="0" i="1">
                              <a:latin typeface="Cambria Math" panose="02040503050406030204" pitchFamily="18" charset="0"/>
                            </a:rPr>
                          </m:ctrlPr>
                        </m:sSubPr>
                        <m:e>
                          <m:r>
                            <a:rPr lang="en-VN" sz="2800" i="1">
                              <a:latin typeface="Cambria Math" panose="02040503050406030204" pitchFamily="18" charset="0"/>
                            </a:rPr>
                            <m:t>𝑅</m:t>
                          </m:r>
                        </m:e>
                        <m:sub>
                          <m:r>
                            <a:rPr lang="vi-VN" sz="2800" i="1">
                              <a:latin typeface="Cambria Math" panose="02040503050406030204" pitchFamily="18" charset="0"/>
                            </a:rPr>
                            <m:t>𝑦</m:t>
                          </m:r>
                        </m:sub>
                      </m:sSub>
                      <m:d>
                        <m:dPr>
                          <m:ctrlPr>
                            <a:rPr lang="vi-VN" sz="2800" b="0" i="1">
                              <a:latin typeface="Cambria Math" panose="02040503050406030204" pitchFamily="18" charset="0"/>
                            </a:rPr>
                          </m:ctrlPr>
                        </m:dPr>
                        <m:e>
                          <m:r>
                            <a:rPr lang="vi-VN" sz="2800" b="0" i="1">
                              <a:solidFill>
                                <a:srgbClr val="FF0000"/>
                              </a:solidFill>
                              <a:latin typeface="Cambria Math" panose="02040503050406030204" pitchFamily="18" charset="0"/>
                            </a:rPr>
                            <m:t>𝜃</m:t>
                          </m:r>
                        </m:e>
                      </m:d>
                      <m:r>
                        <a:rPr lang="vi-VN" sz="2800" b="0" i="1">
                          <a:latin typeface="Cambria Math" panose="02040503050406030204" pitchFamily="18" charset="0"/>
                        </a:rPr>
                        <m:t>=</m:t>
                      </m:r>
                      <m:sSup>
                        <m:sSupPr>
                          <m:ctrlPr>
                            <a:rPr lang="vi-VN" sz="2800" b="0" i="1">
                              <a:latin typeface="Cambria Math" panose="02040503050406030204" pitchFamily="18" charset="0"/>
                            </a:rPr>
                          </m:ctrlPr>
                        </m:sSupPr>
                        <m:e>
                          <m:r>
                            <a:rPr lang="vi-VN" sz="2800" i="1">
                              <a:latin typeface="Cambria Math" panose="02040503050406030204" pitchFamily="18" charset="0"/>
                            </a:rPr>
                            <m:t>𝑒</m:t>
                          </m:r>
                        </m:e>
                        <m:sup>
                          <m:r>
                            <a:rPr lang="vi-VN" sz="2800" b="0" i="1">
                              <a:latin typeface="Cambria Math" panose="02040503050406030204" pitchFamily="18" charset="0"/>
                            </a:rPr>
                            <m:t>−</m:t>
                          </m:r>
                          <m:f>
                            <m:fPr>
                              <m:ctrlPr>
                                <a:rPr lang="vi-VN" sz="2800" b="0" i="1">
                                  <a:latin typeface="Cambria Math" panose="02040503050406030204" pitchFamily="18" charset="0"/>
                                </a:rPr>
                              </m:ctrlPr>
                            </m:fPr>
                            <m:num>
                              <m:r>
                                <a:rPr lang="vi-VN" sz="2800" i="1">
                                  <a:latin typeface="Cambria Math" panose="02040503050406030204" pitchFamily="18" charset="0"/>
                                </a:rPr>
                                <m:t>𝑖</m:t>
                              </m:r>
                              <m:r>
                                <a:rPr lang="vi-VN" sz="2800" b="0" i="1">
                                  <a:latin typeface="Cambria Math" panose="02040503050406030204" pitchFamily="18" charset="0"/>
                                </a:rPr>
                                <m:t>𝜃</m:t>
                              </m:r>
                              <m:r>
                                <a:rPr lang="vi-VN" sz="2800" i="1">
                                  <a:latin typeface="Cambria Math" panose="02040503050406030204" pitchFamily="18" charset="0"/>
                                </a:rPr>
                                <m:t>𝑌</m:t>
                              </m:r>
                            </m:num>
                            <m:den>
                              <m:r>
                                <a:rPr lang="vi-VN" sz="2800" b="0" i="1">
                                  <a:latin typeface="Cambria Math" panose="02040503050406030204" pitchFamily="18" charset="0"/>
                                </a:rPr>
                                <m:t>2</m:t>
                              </m:r>
                            </m:den>
                          </m:f>
                        </m:sup>
                      </m:sSup>
                      <m:r>
                        <a:rPr lang="vi-VN" sz="2800" b="0" i="1">
                          <a:latin typeface="Cambria Math" panose="02040503050406030204" pitchFamily="18" charset="0"/>
                        </a:rPr>
                        <m:t>=</m:t>
                      </m:r>
                      <m:func>
                        <m:funcPr>
                          <m:ctrlPr>
                            <a:rPr lang="vi-VN" sz="2800" b="0" i="1">
                              <a:latin typeface="Cambria Math" panose="02040503050406030204" pitchFamily="18" charset="0"/>
                            </a:rPr>
                          </m:ctrlPr>
                        </m:funcPr>
                        <m:fName>
                          <m:r>
                            <a:rPr lang="vi-VN" sz="2800" b="0" i="1">
                              <a:latin typeface="Cambria Math" panose="02040503050406030204" pitchFamily="18" charset="0"/>
                            </a:rPr>
                            <m:t>𝑐𝑜𝑠</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r>
                            <a:rPr lang="vi-VN" sz="2800" i="1">
                              <a:latin typeface="Cambria Math" panose="02040503050406030204" pitchFamily="18" charset="0"/>
                            </a:rPr>
                            <m:t>𝐼</m:t>
                          </m:r>
                          <m:r>
                            <a:rPr lang="vi-VN" sz="2800" b="0" i="1">
                              <a:latin typeface="Cambria Math" panose="02040503050406030204" pitchFamily="18" charset="0"/>
                            </a:rPr>
                            <m:t>−</m:t>
                          </m:r>
                          <m:r>
                            <a:rPr lang="vi-VN" sz="2800" i="1">
                              <a:latin typeface="Cambria Math" panose="02040503050406030204" pitchFamily="18" charset="0"/>
                            </a:rPr>
                            <m:t>𝑖</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e>
                          </m:func>
                          <m:r>
                            <a:rPr lang="vi-VN" sz="2800" i="1">
                              <a:latin typeface="Cambria Math" panose="02040503050406030204" pitchFamily="18" charset="0"/>
                            </a:rPr>
                            <m:t>𝑌</m:t>
                          </m:r>
                          <m:r>
                            <a:rPr lang="vi-VN" sz="2800" b="0" i="1">
                              <a:latin typeface="Cambria Math" panose="02040503050406030204" pitchFamily="18" charset="0"/>
                            </a:rPr>
                            <m:t>=</m:t>
                          </m:r>
                          <m:d>
                            <m:dPr>
                              <m:begChr m:val="["/>
                              <m:endChr m:val="]"/>
                              <m:ctrlPr>
                                <a:rPr lang="vi-VN" sz="2800" b="0" i="1">
                                  <a:latin typeface="Cambria Math" panose="02040503050406030204" pitchFamily="18" charset="0"/>
                                </a:rPr>
                              </m:ctrlPr>
                            </m:dPr>
                            <m:e>
                              <m:m>
                                <m:mPr>
                                  <m:mcs>
                                    <m:mc>
                                      <m:mcPr>
                                        <m:count m:val="2"/>
                                        <m:mcJc m:val="center"/>
                                      </m:mcPr>
                                    </m:mc>
                                  </m:mcs>
                                  <m:ctrlPr>
                                    <a:rPr lang="vi-VN" sz="2800" b="0" i="1">
                                      <a:latin typeface="Cambria Math" panose="02040503050406030204" pitchFamily="18" charset="0"/>
                                    </a:rPr>
                                  </m:ctrlPr>
                                </m:mPr>
                                <m:mr>
                                  <m:e>
                                    <m:func>
                                      <m:funcPr>
                                        <m:ctrlPr>
                                          <a:rPr lang="vi-VN" sz="2800" b="0" i="1">
                                            <a:latin typeface="Cambria Math" panose="02040503050406030204" pitchFamily="18" charset="0"/>
                                          </a:rPr>
                                        </m:ctrlPr>
                                      </m:funcPr>
                                      <m:fName>
                                        <m:r>
                                          <m:rPr>
                                            <m:brk m:alnAt="7"/>
                                          </m:rPr>
                                          <a:rPr lang="vi-VN" sz="2800" b="0" i="1">
                                            <a:latin typeface="Cambria Math" panose="02040503050406030204" pitchFamily="18" charset="0"/>
                                          </a:rPr>
                                          <m:t>𝑐</m:t>
                                        </m:r>
                                        <m:r>
                                          <a:rPr lang="vi-VN" sz="2800" b="0" i="1">
                                            <a:latin typeface="Cambria Math" panose="02040503050406030204" pitchFamily="18" charset="0"/>
                                          </a:rPr>
                                          <m:t>𝑜𝑠</m:t>
                                        </m:r>
                                      </m:fName>
                                      <m:e>
                                        <m:r>
                                          <m:rPr>
                                            <m:brk m:alnAt="7"/>
                                          </m:rPr>
                                          <a:rPr lang="vi-VN" sz="2800" b="0" i="1">
                                            <a:latin typeface="Cambria Math" panose="02040503050406030204" pitchFamily="18" charset="0"/>
                                          </a:rPr>
                                          <m:t>𝜃</m:t>
                                        </m:r>
                                        <m:r>
                                          <a:rPr lang="vi-VN" sz="2800" b="0" i="1">
                                            <a:latin typeface="Cambria Math" panose="02040503050406030204" pitchFamily="18" charset="0"/>
                                          </a:rPr>
                                          <m:t>/2</m:t>
                                        </m:r>
                                      </m:e>
                                    </m:func>
                                  </m:e>
                                  <m:e>
                                    <m:r>
                                      <a:rPr lang="vi-VN" sz="2800" b="0" i="1">
                                        <a:latin typeface="Cambria Math" panose="02040503050406030204" pitchFamily="18" charset="0"/>
                                      </a:rPr>
                                      <m:t>−</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r>
                                          <a:rPr lang="vi-VN" sz="2800" b="0" i="1">
                                            <a:latin typeface="Cambria Math" panose="02040503050406030204" pitchFamily="18" charset="0"/>
                                          </a:rPr>
                                          <m:t>𝜃</m:t>
                                        </m:r>
                                        <m:r>
                                          <a:rPr lang="vi-VN" sz="2800" b="0" i="1">
                                            <a:latin typeface="Cambria Math" panose="02040503050406030204" pitchFamily="18" charset="0"/>
                                          </a:rPr>
                                          <m:t>/2</m:t>
                                        </m:r>
                                      </m:e>
                                    </m:func>
                                  </m:e>
                                </m:mr>
                                <m:mr>
                                  <m:e>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r>
                                          <a:rPr lang="vi-VN" sz="2800" b="0" i="1">
                                            <a:latin typeface="Cambria Math" panose="02040503050406030204" pitchFamily="18" charset="0"/>
                                          </a:rPr>
                                          <m:t>𝜃</m:t>
                                        </m:r>
                                        <m:r>
                                          <a:rPr lang="vi-VN" sz="2800" b="0" i="1">
                                            <a:latin typeface="Cambria Math" panose="02040503050406030204" pitchFamily="18" charset="0"/>
                                          </a:rPr>
                                          <m:t>/2</m:t>
                                        </m:r>
                                      </m:e>
                                    </m:func>
                                  </m:e>
                                  <m:e>
                                    <m:func>
                                      <m:funcPr>
                                        <m:ctrlPr>
                                          <a:rPr lang="vi-VN" sz="2800" b="0" i="1">
                                            <a:latin typeface="Cambria Math" panose="02040503050406030204" pitchFamily="18" charset="0"/>
                                          </a:rPr>
                                        </m:ctrlPr>
                                      </m:funcPr>
                                      <m:fName>
                                        <m:r>
                                          <a:rPr lang="vi-VN" sz="2800" b="0" i="1">
                                            <a:latin typeface="Cambria Math" panose="02040503050406030204" pitchFamily="18" charset="0"/>
                                          </a:rPr>
                                          <m:t>𝑐𝑜𝑠</m:t>
                                        </m:r>
                                      </m:fName>
                                      <m:e>
                                        <m:r>
                                          <a:rPr lang="vi-VN" sz="2800" b="0" i="1">
                                            <a:latin typeface="Cambria Math" panose="02040503050406030204" pitchFamily="18" charset="0"/>
                                          </a:rPr>
                                          <m:t>𝜃</m:t>
                                        </m:r>
                                        <m:r>
                                          <a:rPr lang="vi-VN" sz="2800" b="0" i="1">
                                            <a:latin typeface="Cambria Math" panose="02040503050406030204" pitchFamily="18" charset="0"/>
                                          </a:rPr>
                                          <m:t>/2</m:t>
                                        </m:r>
                                      </m:e>
                                    </m:func>
                                  </m:e>
                                </m:mr>
                              </m:m>
                            </m:e>
                          </m:d>
                        </m:e>
                      </m:func>
                    </m:oMath>
                  </m:oMathPara>
                </a14:m>
                <a:endParaRPr lang="en-VN" sz="2800" i="1"/>
              </a:p>
            </p:txBody>
          </p:sp>
        </mc:Choice>
        <mc:Fallback xmlns="">
          <p:sp>
            <p:nvSpPr>
              <p:cNvPr id="10" name="TextBox 9">
                <a:extLst>
                  <a:ext uri="{FF2B5EF4-FFF2-40B4-BE49-F238E27FC236}">
                    <a16:creationId xmlns:a16="http://schemas.microsoft.com/office/drawing/2014/main" id="{88AB44DA-9E18-B4E5-DCC9-7294EB5C0092}"/>
                  </a:ext>
                </a:extLst>
              </p:cNvPr>
              <p:cNvSpPr txBox="1">
                <a:spLocks noRot="1" noChangeAspect="1" noMove="1" noResize="1" noEditPoints="1" noAdjustHandles="1" noChangeArrowheads="1" noChangeShapeType="1" noTextEdit="1"/>
              </p:cNvSpPr>
              <p:nvPr/>
            </p:nvSpPr>
            <p:spPr>
              <a:xfrm>
                <a:off x="937352" y="2489907"/>
                <a:ext cx="9135321" cy="851130"/>
              </a:xfrm>
              <a:prstGeom prst="rect">
                <a:avLst/>
              </a:prstGeom>
              <a:blipFill>
                <a:blip r:embed="rId4"/>
                <a:stretch>
                  <a:fillRect l="-556" t="-1449" b="-17391"/>
                </a:stretch>
              </a:blipFill>
            </p:spPr>
            <p:txBody>
              <a:bodyPr/>
              <a:lstStyle/>
              <a:p>
                <a:r>
                  <a:rPr lang="en-VN">
                    <a:noFill/>
                  </a:rPr>
                  <a:t> </a:t>
                </a:r>
              </a:p>
            </p:txBody>
          </p:sp>
        </mc:Fallback>
      </mc:AlternateContent>
      <p:sp>
        <p:nvSpPr>
          <p:cNvPr id="11" name="Rectangle 10">
            <a:extLst>
              <a:ext uri="{FF2B5EF4-FFF2-40B4-BE49-F238E27FC236}">
                <a16:creationId xmlns:a16="http://schemas.microsoft.com/office/drawing/2014/main" id="{DE88B713-DA0B-A235-DD97-FF4999909C6D}"/>
              </a:ext>
            </a:extLst>
          </p:cNvPr>
          <p:cNvSpPr/>
          <p:nvPr/>
        </p:nvSpPr>
        <p:spPr>
          <a:xfrm>
            <a:off x="937352" y="2631198"/>
            <a:ext cx="1035586" cy="61694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63B633-D232-E2DF-13EB-E24CA8F3F459}"/>
                  </a:ext>
                </a:extLst>
              </p:cNvPr>
              <p:cNvSpPr txBox="1"/>
              <p:nvPr/>
            </p:nvSpPr>
            <p:spPr>
              <a:xfrm>
                <a:off x="937352" y="3338009"/>
                <a:ext cx="8211030" cy="8451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vi-VN" sz="2800" b="0" i="1">
                              <a:latin typeface="Cambria Math" panose="02040503050406030204" pitchFamily="18" charset="0"/>
                            </a:rPr>
                          </m:ctrlPr>
                        </m:sSubPr>
                        <m:e>
                          <m:r>
                            <a:rPr lang="en-VN" sz="2800" i="1">
                              <a:latin typeface="Cambria Math" panose="02040503050406030204" pitchFamily="18" charset="0"/>
                            </a:rPr>
                            <m:t>𝑅</m:t>
                          </m:r>
                        </m:e>
                        <m:sub>
                          <m:r>
                            <a:rPr lang="vi-VN" sz="2800" i="1">
                              <a:latin typeface="Cambria Math" panose="02040503050406030204" pitchFamily="18" charset="0"/>
                            </a:rPr>
                            <m:t>𝑧</m:t>
                          </m:r>
                        </m:sub>
                      </m:sSub>
                      <m:d>
                        <m:dPr>
                          <m:ctrlPr>
                            <a:rPr lang="vi-VN" sz="2800" b="0" i="1">
                              <a:latin typeface="Cambria Math" panose="02040503050406030204" pitchFamily="18" charset="0"/>
                            </a:rPr>
                          </m:ctrlPr>
                        </m:dPr>
                        <m:e>
                          <m:r>
                            <a:rPr lang="vi-VN" sz="2800" b="0" i="1">
                              <a:solidFill>
                                <a:srgbClr val="FF0000"/>
                              </a:solidFill>
                              <a:latin typeface="Cambria Math" panose="02040503050406030204" pitchFamily="18" charset="0"/>
                            </a:rPr>
                            <m:t>𝜃</m:t>
                          </m:r>
                        </m:e>
                      </m:d>
                      <m:r>
                        <a:rPr lang="vi-VN" sz="2800" b="0" i="1">
                          <a:latin typeface="Cambria Math" panose="02040503050406030204" pitchFamily="18" charset="0"/>
                        </a:rPr>
                        <m:t>=</m:t>
                      </m:r>
                      <m:sSup>
                        <m:sSupPr>
                          <m:ctrlPr>
                            <a:rPr lang="vi-VN" sz="2800" b="0" i="1">
                              <a:latin typeface="Cambria Math" panose="02040503050406030204" pitchFamily="18" charset="0"/>
                            </a:rPr>
                          </m:ctrlPr>
                        </m:sSupPr>
                        <m:e>
                          <m:r>
                            <a:rPr lang="vi-VN" sz="2800" i="1">
                              <a:latin typeface="Cambria Math" panose="02040503050406030204" pitchFamily="18" charset="0"/>
                            </a:rPr>
                            <m:t>𝑒</m:t>
                          </m:r>
                        </m:e>
                        <m:sup>
                          <m:r>
                            <a:rPr lang="vi-VN" sz="2800" b="0" i="1">
                              <a:latin typeface="Cambria Math" panose="02040503050406030204" pitchFamily="18" charset="0"/>
                            </a:rPr>
                            <m:t>−</m:t>
                          </m:r>
                          <m:f>
                            <m:fPr>
                              <m:ctrlPr>
                                <a:rPr lang="vi-VN" sz="2800" b="0" i="1">
                                  <a:latin typeface="Cambria Math" panose="02040503050406030204" pitchFamily="18" charset="0"/>
                                </a:rPr>
                              </m:ctrlPr>
                            </m:fPr>
                            <m:num>
                              <m:r>
                                <a:rPr lang="vi-VN" sz="2800" i="1">
                                  <a:latin typeface="Cambria Math" panose="02040503050406030204" pitchFamily="18" charset="0"/>
                                </a:rPr>
                                <m:t>𝑖</m:t>
                              </m:r>
                              <m:r>
                                <a:rPr lang="vi-VN" sz="2800" b="0" i="1">
                                  <a:latin typeface="Cambria Math" panose="02040503050406030204" pitchFamily="18" charset="0"/>
                                </a:rPr>
                                <m:t>𝜃</m:t>
                              </m:r>
                              <m:r>
                                <a:rPr lang="vi-VN" sz="2800" i="1">
                                  <a:latin typeface="Cambria Math" panose="02040503050406030204" pitchFamily="18" charset="0"/>
                                </a:rPr>
                                <m:t>𝑍</m:t>
                              </m:r>
                            </m:num>
                            <m:den>
                              <m:r>
                                <a:rPr lang="vi-VN" sz="2800" b="0" i="1">
                                  <a:latin typeface="Cambria Math" panose="02040503050406030204" pitchFamily="18" charset="0"/>
                                </a:rPr>
                                <m:t>2</m:t>
                              </m:r>
                            </m:den>
                          </m:f>
                        </m:sup>
                      </m:sSup>
                      <m:r>
                        <a:rPr lang="vi-VN" sz="2800" b="0" i="1">
                          <a:latin typeface="Cambria Math" panose="02040503050406030204" pitchFamily="18" charset="0"/>
                        </a:rPr>
                        <m:t>=</m:t>
                      </m:r>
                      <m:func>
                        <m:funcPr>
                          <m:ctrlPr>
                            <a:rPr lang="vi-VN" sz="2800" b="0" i="1">
                              <a:latin typeface="Cambria Math" panose="02040503050406030204" pitchFamily="18" charset="0"/>
                            </a:rPr>
                          </m:ctrlPr>
                        </m:funcPr>
                        <m:fName>
                          <m:r>
                            <a:rPr lang="vi-VN" sz="2800" b="0" i="1">
                              <a:latin typeface="Cambria Math" panose="02040503050406030204" pitchFamily="18" charset="0"/>
                            </a:rPr>
                            <m:t>𝑐𝑜𝑠</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r>
                            <a:rPr lang="vi-VN" sz="2800" i="1">
                              <a:latin typeface="Cambria Math" panose="02040503050406030204" pitchFamily="18" charset="0"/>
                            </a:rPr>
                            <m:t>𝐼</m:t>
                          </m:r>
                          <m:r>
                            <a:rPr lang="vi-VN" sz="2800" b="0" i="1">
                              <a:latin typeface="Cambria Math" panose="02040503050406030204" pitchFamily="18" charset="0"/>
                            </a:rPr>
                            <m:t>−</m:t>
                          </m:r>
                          <m:r>
                            <a:rPr lang="vi-VN" sz="2800" i="1">
                              <a:latin typeface="Cambria Math" panose="02040503050406030204" pitchFamily="18" charset="0"/>
                            </a:rPr>
                            <m:t>𝑖</m:t>
                          </m:r>
                          <m:func>
                            <m:funcPr>
                              <m:ctrlPr>
                                <a:rPr lang="vi-VN" sz="2800" i="1">
                                  <a:latin typeface="Cambria Math" panose="02040503050406030204" pitchFamily="18" charset="0"/>
                                </a:rPr>
                              </m:ctrlPr>
                            </m:funcPr>
                            <m:fName>
                              <m:r>
                                <a:rPr lang="vi-VN" sz="2800" i="1">
                                  <a:latin typeface="Cambria Math" panose="02040503050406030204" pitchFamily="18" charset="0"/>
                                </a:rPr>
                                <m:t>𝑠𝑖𝑛</m:t>
                              </m:r>
                            </m:fName>
                            <m:e>
                              <m:f>
                                <m:fPr>
                                  <m:ctrlPr>
                                    <a:rPr lang="vi-VN" sz="2800" b="0" i="1">
                                      <a:latin typeface="Cambria Math" panose="02040503050406030204" pitchFamily="18" charset="0"/>
                                    </a:rPr>
                                  </m:ctrlPr>
                                </m:fPr>
                                <m:num>
                                  <m:r>
                                    <a:rPr lang="vi-VN" sz="2800" b="0" i="1">
                                      <a:latin typeface="Cambria Math" panose="02040503050406030204" pitchFamily="18" charset="0"/>
                                    </a:rPr>
                                    <m:t>𝜃</m:t>
                                  </m:r>
                                </m:num>
                                <m:den>
                                  <m:r>
                                    <a:rPr lang="vi-VN" sz="2800" b="0" i="1">
                                      <a:latin typeface="Cambria Math" panose="02040503050406030204" pitchFamily="18" charset="0"/>
                                    </a:rPr>
                                    <m:t>2</m:t>
                                  </m:r>
                                </m:den>
                              </m:f>
                            </m:e>
                          </m:func>
                          <m:r>
                            <a:rPr lang="vi-VN" sz="2800" i="1">
                              <a:latin typeface="Cambria Math" panose="02040503050406030204" pitchFamily="18" charset="0"/>
                            </a:rPr>
                            <m:t>𝑍</m:t>
                          </m:r>
                          <m:r>
                            <a:rPr lang="vi-VN" sz="2800" b="0" i="1">
                              <a:latin typeface="Cambria Math" panose="02040503050406030204" pitchFamily="18" charset="0"/>
                            </a:rPr>
                            <m:t>=</m:t>
                          </m:r>
                          <m:d>
                            <m:dPr>
                              <m:begChr m:val="["/>
                              <m:endChr m:val="]"/>
                              <m:ctrlPr>
                                <a:rPr lang="vi-VN" sz="2800" b="0" i="1">
                                  <a:latin typeface="Cambria Math" panose="02040503050406030204" pitchFamily="18" charset="0"/>
                                </a:rPr>
                              </m:ctrlPr>
                            </m:dPr>
                            <m:e>
                              <m:m>
                                <m:mPr>
                                  <m:mcs>
                                    <m:mc>
                                      <m:mcPr>
                                        <m:count m:val="2"/>
                                        <m:mcJc m:val="center"/>
                                      </m:mcPr>
                                    </m:mc>
                                  </m:mcs>
                                  <m:ctrlPr>
                                    <a:rPr lang="vi-VN" sz="2800" b="0" i="1">
                                      <a:latin typeface="Cambria Math" panose="02040503050406030204" pitchFamily="18" charset="0"/>
                                    </a:rPr>
                                  </m:ctrlPr>
                                </m:mPr>
                                <m:mr>
                                  <m:e>
                                    <m:sSup>
                                      <m:sSupPr>
                                        <m:ctrlPr>
                                          <a:rPr lang="vi-VN" sz="2800" b="0" i="1">
                                            <a:latin typeface="Cambria Math" panose="02040503050406030204" pitchFamily="18" charset="0"/>
                                          </a:rPr>
                                        </m:ctrlPr>
                                      </m:sSupPr>
                                      <m:e>
                                        <m:r>
                                          <m:rPr>
                                            <m:brk m:alnAt="7"/>
                                          </m:rPr>
                                          <a:rPr lang="vi-VN" sz="2800" i="1">
                                            <a:latin typeface="Cambria Math" panose="02040503050406030204" pitchFamily="18" charset="0"/>
                                          </a:rPr>
                                          <m:t>𝑒</m:t>
                                        </m:r>
                                      </m:e>
                                      <m:sup>
                                        <m:r>
                                          <a:rPr lang="vi-VN" sz="2800" b="0" i="1">
                                            <a:latin typeface="Cambria Math" panose="02040503050406030204" pitchFamily="18" charset="0"/>
                                          </a:rPr>
                                          <m:t>−</m:t>
                                        </m:r>
                                        <m:r>
                                          <a:rPr lang="vi-VN" sz="2800" i="1">
                                            <a:latin typeface="Cambria Math" panose="02040503050406030204" pitchFamily="18" charset="0"/>
                                          </a:rPr>
                                          <m:t>𝑖</m:t>
                                        </m:r>
                                        <m:r>
                                          <m:rPr>
                                            <m:brk m:alnAt="7"/>
                                          </m:rPr>
                                          <a:rPr lang="vi-VN" sz="2800" b="0" i="1">
                                            <a:latin typeface="Cambria Math" panose="02040503050406030204" pitchFamily="18" charset="0"/>
                                          </a:rPr>
                                          <m:t>𝜃</m:t>
                                        </m:r>
                                        <m:r>
                                          <a:rPr lang="vi-VN" sz="2800" b="0" i="1">
                                            <a:latin typeface="Cambria Math" panose="02040503050406030204" pitchFamily="18" charset="0"/>
                                          </a:rPr>
                                          <m:t>/2</m:t>
                                        </m:r>
                                      </m:sup>
                                    </m:sSup>
                                  </m:e>
                                  <m:e>
                                    <m:r>
                                      <a:rPr lang="vi-VN" sz="2800" b="0" i="1">
                                        <a:latin typeface="Cambria Math" panose="02040503050406030204" pitchFamily="18" charset="0"/>
                                      </a:rPr>
                                      <m:t>0</m:t>
                                    </m:r>
                                  </m:e>
                                </m:mr>
                                <m:mr>
                                  <m:e>
                                    <m:r>
                                      <a:rPr lang="vi-VN" sz="2800" i="1">
                                        <a:latin typeface="Cambria Math" panose="02040503050406030204" pitchFamily="18" charset="0"/>
                                      </a:rPr>
                                      <m:t>0</m:t>
                                    </m:r>
                                  </m:e>
                                  <m:e>
                                    <m:sSup>
                                      <m:sSupPr>
                                        <m:ctrlPr>
                                          <a:rPr lang="vi-VN" sz="2800" b="0" i="1">
                                            <a:latin typeface="Cambria Math" panose="02040503050406030204" pitchFamily="18" charset="0"/>
                                          </a:rPr>
                                        </m:ctrlPr>
                                      </m:sSupPr>
                                      <m:e>
                                        <m:r>
                                          <a:rPr lang="vi-VN" sz="2800" i="1">
                                            <a:latin typeface="Cambria Math" panose="02040503050406030204" pitchFamily="18" charset="0"/>
                                          </a:rPr>
                                          <m:t>𝑒</m:t>
                                        </m:r>
                                      </m:e>
                                      <m:sup>
                                        <m:r>
                                          <a:rPr lang="vi-VN" sz="2800" i="1">
                                            <a:latin typeface="Cambria Math" panose="02040503050406030204" pitchFamily="18" charset="0"/>
                                          </a:rPr>
                                          <m:t>𝑖</m:t>
                                        </m:r>
                                        <m:r>
                                          <a:rPr lang="vi-VN" sz="2800" b="0" i="1">
                                            <a:latin typeface="Cambria Math" panose="02040503050406030204" pitchFamily="18" charset="0"/>
                                          </a:rPr>
                                          <m:t>𝜃</m:t>
                                        </m:r>
                                        <m:r>
                                          <a:rPr lang="vi-VN" sz="2800" b="0" i="1">
                                            <a:latin typeface="Cambria Math" panose="02040503050406030204" pitchFamily="18" charset="0"/>
                                          </a:rPr>
                                          <m:t>/2</m:t>
                                        </m:r>
                                      </m:sup>
                                    </m:sSup>
                                  </m:e>
                                </m:mr>
                              </m:m>
                            </m:e>
                          </m:d>
                        </m:e>
                      </m:func>
                    </m:oMath>
                  </m:oMathPara>
                </a14:m>
                <a:endParaRPr lang="en-VN" sz="2800" i="1"/>
              </a:p>
            </p:txBody>
          </p:sp>
        </mc:Choice>
        <mc:Fallback xmlns="">
          <p:sp>
            <p:nvSpPr>
              <p:cNvPr id="12" name="TextBox 11">
                <a:extLst>
                  <a:ext uri="{FF2B5EF4-FFF2-40B4-BE49-F238E27FC236}">
                    <a16:creationId xmlns:a16="http://schemas.microsoft.com/office/drawing/2014/main" id="{5963B633-D232-E2DF-13EB-E24CA8F3F459}"/>
                  </a:ext>
                </a:extLst>
              </p:cNvPr>
              <p:cNvSpPr txBox="1">
                <a:spLocks noRot="1" noChangeAspect="1" noMove="1" noResize="1" noEditPoints="1" noAdjustHandles="1" noChangeArrowheads="1" noChangeShapeType="1" noTextEdit="1"/>
              </p:cNvSpPr>
              <p:nvPr/>
            </p:nvSpPr>
            <p:spPr>
              <a:xfrm>
                <a:off x="937352" y="3338009"/>
                <a:ext cx="8211030" cy="845103"/>
              </a:xfrm>
              <a:prstGeom prst="rect">
                <a:avLst/>
              </a:prstGeom>
              <a:blipFill>
                <a:blip r:embed="rId5"/>
                <a:stretch>
                  <a:fillRect l="-463" t="-2985" b="-11940"/>
                </a:stretch>
              </a:blipFill>
            </p:spPr>
            <p:txBody>
              <a:bodyPr/>
              <a:lstStyle/>
              <a:p>
                <a:r>
                  <a:rPr lang="en-VN">
                    <a:noFill/>
                  </a:rPr>
                  <a:t> </a:t>
                </a:r>
              </a:p>
            </p:txBody>
          </p:sp>
        </mc:Fallback>
      </mc:AlternateContent>
      <p:sp>
        <p:nvSpPr>
          <p:cNvPr id="13" name="Rectangle 12">
            <a:extLst>
              <a:ext uri="{FF2B5EF4-FFF2-40B4-BE49-F238E27FC236}">
                <a16:creationId xmlns:a16="http://schemas.microsoft.com/office/drawing/2014/main" id="{316B47A8-9C7A-2A9D-E0F5-71A2B2A26E81}"/>
              </a:ext>
            </a:extLst>
          </p:cNvPr>
          <p:cNvSpPr/>
          <p:nvPr/>
        </p:nvSpPr>
        <p:spPr>
          <a:xfrm>
            <a:off x="937352" y="3479300"/>
            <a:ext cx="1035586" cy="61694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C17A670-EF99-CF99-A4BD-8098C005FC99}"/>
                  </a:ext>
                </a:extLst>
              </p:cNvPr>
              <p:cNvSpPr txBox="1"/>
              <p:nvPr/>
            </p:nvSpPr>
            <p:spPr>
              <a:xfrm>
                <a:off x="838200" y="4321375"/>
                <a:ext cx="4880472" cy="461665"/>
              </a:xfrm>
              <a:prstGeom prst="rect">
                <a:avLst/>
              </a:prstGeom>
              <a:noFill/>
            </p:spPr>
            <p:txBody>
              <a:bodyPr wrap="square" rtlCol="0">
                <a:spAutoFit/>
              </a:bodyPr>
              <a:lstStyle/>
              <a:p>
                <a:r>
                  <a:rPr lang="en-VN" sz="2400"/>
                  <a:t>Parameter </a:t>
                </a:r>
                <a14:m>
                  <m:oMath xmlns:m="http://schemas.openxmlformats.org/officeDocument/2006/math">
                    <m:r>
                      <a:rPr lang="vi-VN" sz="2400" b="0" i="1">
                        <a:solidFill>
                          <a:srgbClr val="FF0000"/>
                        </a:solidFill>
                        <a:latin typeface="Cambria Math" panose="02040503050406030204" pitchFamily="18" charset="0"/>
                      </a:rPr>
                      <m:t>𝜃</m:t>
                    </m:r>
                    <m:r>
                      <a:rPr lang="en-US" sz="2400" b="0" i="1" smtClean="0">
                        <a:solidFill>
                          <a:schemeClr val="tx1"/>
                        </a:solidFill>
                        <a:latin typeface="Cambria Math" panose="02040503050406030204" pitchFamily="18" charset="0"/>
                      </a:rPr>
                      <m:t>∈</m:t>
                    </m:r>
                    <m:d>
                      <m:dPr>
                        <m:begChr m:val="["/>
                        <m:endChr m:val="]"/>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0,2</m:t>
                        </m:r>
                        <m:r>
                          <a:rPr lang="en-US" sz="2400" b="0" i="1" smtClean="0">
                            <a:solidFill>
                              <a:schemeClr val="tx1"/>
                            </a:solidFill>
                            <a:latin typeface="Cambria Math" panose="02040503050406030204" pitchFamily="18" charset="0"/>
                          </a:rPr>
                          <m:t>𝜋</m:t>
                        </m:r>
                      </m:e>
                    </m:d>
                  </m:oMath>
                </a14:m>
                <a:endParaRPr lang="en-VN" sz="2400"/>
              </a:p>
            </p:txBody>
          </p:sp>
        </mc:Choice>
        <mc:Fallback xmlns="">
          <p:sp>
            <p:nvSpPr>
              <p:cNvPr id="14" name="TextBox 13">
                <a:extLst>
                  <a:ext uri="{FF2B5EF4-FFF2-40B4-BE49-F238E27FC236}">
                    <a16:creationId xmlns:a16="http://schemas.microsoft.com/office/drawing/2014/main" id="{6C17A670-EF99-CF99-A4BD-8098C005FC99}"/>
                  </a:ext>
                </a:extLst>
              </p:cNvPr>
              <p:cNvSpPr txBox="1">
                <a:spLocks noRot="1" noChangeAspect="1" noMove="1" noResize="1" noEditPoints="1" noAdjustHandles="1" noChangeArrowheads="1" noChangeShapeType="1" noTextEdit="1"/>
              </p:cNvSpPr>
              <p:nvPr/>
            </p:nvSpPr>
            <p:spPr>
              <a:xfrm>
                <a:off x="838200" y="4321375"/>
                <a:ext cx="4880472" cy="461665"/>
              </a:xfrm>
              <a:prstGeom prst="rect">
                <a:avLst/>
              </a:prstGeom>
              <a:blipFill>
                <a:blip r:embed="rId6"/>
                <a:stretch>
                  <a:fillRect l="-2000" t="-10526" b="-28947"/>
                </a:stretch>
              </a:blipFill>
            </p:spPr>
            <p:txBody>
              <a:bodyPr/>
              <a:lstStyle/>
              <a:p>
                <a:r>
                  <a:rPr lang="vi-VN">
                    <a:noFill/>
                  </a:rPr>
                  <a:t> </a:t>
                </a:r>
              </a:p>
            </p:txBody>
          </p:sp>
        </mc:Fallback>
      </mc:AlternateContent>
    </p:spTree>
    <p:extLst>
      <p:ext uri="{BB962C8B-B14F-4D97-AF65-F5344CB8AC3E}">
        <p14:creationId xmlns:p14="http://schemas.microsoft.com/office/powerpoint/2010/main" val="1782642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A80CB2D-FD77-4CA5-912B-B65E6590B1D0}"/>
              </a:ext>
            </a:extLst>
          </p:cNvPr>
          <p:cNvSpPr>
            <a:spLocks noGrp="1"/>
          </p:cNvSpPr>
          <p:nvPr>
            <p:ph type="title"/>
          </p:nvPr>
        </p:nvSpPr>
        <p:spPr/>
        <p:txBody>
          <a:bodyPr/>
          <a:lstStyle/>
          <a:p>
            <a:r>
              <a:rPr lang="en-US"/>
              <a:t>Single qubit gate: universal (U) gate</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7EC0F06D-7349-4198-A64C-8A8650F3B005}"/>
                  </a:ext>
                </a:extLst>
              </p:cNvPr>
              <p:cNvSpPr>
                <a:spLocks noGrp="1"/>
              </p:cNvSpPr>
              <p:nvPr>
                <p:ph idx="1"/>
              </p:nvPr>
            </p:nvSpPr>
            <p:spPr>
              <a:xfrm>
                <a:off x="838200" y="1825625"/>
                <a:ext cx="10515600" cy="3945359"/>
              </a:xfrm>
            </p:spPr>
            <p:txBody>
              <a:bodyPr>
                <a:normAutofit/>
              </a:bodyPr>
              <a:lstStyle/>
              <a:p>
                <a:pPr marL="0" indent="0">
                  <a:buNone/>
                </a:pP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r>
                                <m:rPr>
                                  <m:brk m:alnAt="7"/>
                                </m:rP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𝜃</m:t>
                                  </m:r>
                                </m:num>
                                <m:den>
                                  <m:r>
                                    <a:rPr lang="en-US" b="0" i="1" smtClean="0">
                                      <a:latin typeface="Cambria Math" panose="02040503050406030204" pitchFamily="18" charset="0"/>
                                    </a:rPr>
                                    <m:t>2</m:t>
                                  </m:r>
                                </m:den>
                              </m:f>
                            </m:e>
                            <m:e>
                              <m:sSup>
                                <m:sSupPr>
                                  <m:ctrlPr>
                                    <a:rPr lang="en-US" i="1">
                                      <a:latin typeface="Cambria Math" panose="02040503050406030204" pitchFamily="18" charset="0"/>
                                    </a:rPr>
                                  </m:ctrlPr>
                                </m:sSupPr>
                                <m:e>
                                  <m:r>
                                    <a:rPr lang="en-US" b="0" i="1" smtClean="0">
                                      <a:latin typeface="Cambria Math" panose="02040503050406030204" pitchFamily="18" charset="0"/>
                                    </a:rPr>
                                    <m:t>−</m:t>
                                  </m:r>
                                  <m:r>
                                    <a:rPr lang="en-US" i="1">
                                      <a:latin typeface="Cambria Math" panose="02040503050406030204" pitchFamily="18" charset="0"/>
                                    </a:rPr>
                                    <m:t>𝑒</m:t>
                                  </m:r>
                                </m:e>
                                <m:sup>
                                  <m:r>
                                    <a:rPr lang="en-US" i="1">
                                      <a:latin typeface="Cambria Math" panose="02040503050406030204" pitchFamily="18" charset="0"/>
                                    </a:rPr>
                                    <m:t>𝑖</m:t>
                                  </m:r>
                                  <m:r>
                                    <a:rPr lang="en-US" b="0" i="1" smtClean="0">
                                      <a:latin typeface="Cambria Math" panose="02040503050406030204" pitchFamily="18" charset="0"/>
                                    </a:rPr>
                                    <m:t>𝜆</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f>
                                    <m:fPr>
                                      <m:ctrlPr>
                                        <a:rPr lang="en-US" i="1">
                                          <a:latin typeface="Cambria Math" panose="02040503050406030204" pitchFamily="18" charset="0"/>
                                        </a:rPr>
                                      </m:ctrlPr>
                                    </m:fPr>
                                    <m:num>
                                      <m:r>
                                        <a:rPr lang="en-US" i="1">
                                          <a:latin typeface="Cambria Math" panose="02040503050406030204" pitchFamily="18" charset="0"/>
                                        </a:rPr>
                                        <m:t>𝜃</m:t>
                                      </m:r>
                                    </m:num>
                                    <m:den>
                                      <m:r>
                                        <a:rPr lang="en-US" i="1">
                                          <a:latin typeface="Cambria Math" panose="02040503050406030204" pitchFamily="18" charset="0"/>
                                        </a:rPr>
                                        <m:t>2</m:t>
                                      </m:r>
                                    </m:den>
                                  </m:f>
                                </m:e>
                              </m:func>
                            </m:e>
                          </m:mr>
                          <m:m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rPr>
                                    <m:t>𝜙</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𝜃</m:t>
                                      </m:r>
                                    </m:num>
                                    <m:den>
                                      <m:r>
                                        <a:rPr lang="en-US" b="0" i="1" smtClean="0">
                                          <a:latin typeface="Cambria Math" panose="02040503050406030204" pitchFamily="18" charset="0"/>
                                        </a:rPr>
                                        <m:t>2</m:t>
                                      </m:r>
                                    </m:den>
                                  </m:f>
                                </m:e>
                              </m:func>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𝜃</m:t>
                                      </m:r>
                                    </m:num>
                                    <m:den>
                                      <m:r>
                                        <a:rPr lang="en-US" b="0" i="1" smtClean="0">
                                          <a:latin typeface="Cambria Math" panose="02040503050406030204" pitchFamily="18" charset="0"/>
                                        </a:rPr>
                                        <m:t>2</m:t>
                                      </m:r>
                                    </m:den>
                                  </m:f>
                                </m:e>
                              </m:func>
                            </m:e>
                          </m:mr>
                        </m:m>
                      </m:e>
                    </m:d>
                  </m:oMath>
                </a14:m>
                <a:r>
                  <a:rPr lang="en-US"/>
                  <a:t> </a:t>
                </a:r>
              </a:p>
              <a:p>
                <a:pPr marL="0" indent="0">
                  <a:buNone/>
                </a:pPr>
                <a:endParaRPr lang="en-US"/>
              </a:p>
              <a:p>
                <a:pPr marL="0" indent="0">
                  <a:buNone/>
                </a:pP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𝑈</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r>
                          <a:rPr lang="en-US" b="0" i="1" smtClean="0">
                            <a:latin typeface="Cambria Math" panose="02040503050406030204" pitchFamily="18" charset="0"/>
                          </a:rPr>
                          <m:t>,0,</m:t>
                        </m:r>
                        <m:r>
                          <a:rPr lang="en-US" b="0" i="1" smtClean="0">
                            <a:latin typeface="Cambria Math" panose="02040503050406030204" pitchFamily="18" charset="0"/>
                          </a:rPr>
                          <m:t>𝜋</m:t>
                        </m:r>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rPr>
                          <m:t>0,0,</m:t>
                        </m:r>
                        <m:r>
                          <a:rPr lang="en-US" b="0" i="1" smtClean="0">
                            <a:latin typeface="Cambria Math" panose="02040503050406030204" pitchFamily="18" charset="0"/>
                          </a:rPr>
                          <m:t>𝜋</m:t>
                        </m:r>
                      </m:e>
                    </m:d>
                    <m:r>
                      <a:rPr lang="en-US" b="0" i="1" smtClean="0">
                        <a:latin typeface="Cambria Math" panose="02040503050406030204" pitchFamily="18" charset="0"/>
                      </a:rPr>
                      <m:t>,…</m:t>
                    </m:r>
                  </m:oMath>
                </a14:m>
                <a:r>
                  <a:rPr lang="en-US"/>
                  <a:t> </a:t>
                </a:r>
                <a:endParaRPr lang="vi-VN"/>
              </a:p>
            </p:txBody>
          </p:sp>
        </mc:Choice>
        <mc:Fallback xmlns="">
          <p:sp>
            <p:nvSpPr>
              <p:cNvPr id="3" name="Chỗ dành sẵn cho Nội dung 2">
                <a:extLst>
                  <a:ext uri="{FF2B5EF4-FFF2-40B4-BE49-F238E27FC236}">
                    <a16:creationId xmlns:a16="http://schemas.microsoft.com/office/drawing/2014/main" id="{7EC0F06D-7349-4198-A64C-8A8650F3B005}"/>
                  </a:ext>
                </a:extLst>
              </p:cNvPr>
              <p:cNvSpPr>
                <a:spLocks noGrp="1" noRot="1" noChangeAspect="1" noMove="1" noResize="1" noEditPoints="1" noAdjustHandles="1" noChangeArrowheads="1" noChangeShapeType="1" noTextEdit="1"/>
              </p:cNvSpPr>
              <p:nvPr>
                <p:ph idx="1"/>
              </p:nvPr>
            </p:nvSpPr>
            <p:spPr>
              <a:xfrm>
                <a:off x="838200" y="1825625"/>
                <a:ext cx="10515600" cy="3945359"/>
              </a:xfrm>
              <a:blipFill>
                <a:blip r:embed="rId2"/>
                <a:stretch>
                  <a:fillRect/>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34A9403F-AF74-4807-BBF0-2197102D1D6B}"/>
              </a:ext>
            </a:extLst>
          </p:cNvPr>
          <p:cNvSpPr>
            <a:spLocks noGrp="1"/>
          </p:cNvSpPr>
          <p:nvPr>
            <p:ph type="sldNum" sz="quarter" idx="12"/>
          </p:nvPr>
        </p:nvSpPr>
        <p:spPr/>
        <p:txBody>
          <a:bodyPr/>
          <a:lstStyle/>
          <a:p>
            <a:fld id="{71331178-9F85-4EDF-BDD3-1E7064DA4C59}" type="slidenum">
              <a:rPr lang="vi-VN" smtClean="0"/>
              <a:t>9</a:t>
            </a:fld>
            <a:endParaRPr lang="vi-VN"/>
          </a:p>
        </p:txBody>
      </p:sp>
      <mc:AlternateContent xmlns:mc="http://schemas.openxmlformats.org/markup-compatibility/2006" xmlns:a14="http://schemas.microsoft.com/office/drawing/2010/main">
        <mc:Choice Requires="a14">
          <p:sp>
            <p:nvSpPr>
              <p:cNvPr id="5" name="Chỗ dành sẵn cho Nội dung 2">
                <a:extLst>
                  <a:ext uri="{FF2B5EF4-FFF2-40B4-BE49-F238E27FC236}">
                    <a16:creationId xmlns:a16="http://schemas.microsoft.com/office/drawing/2014/main" id="{615097B0-72D9-C981-23F8-9C5554DDB033}"/>
                  </a:ext>
                </a:extLst>
              </p:cNvPr>
              <p:cNvSpPr txBox="1">
                <a:spLocks/>
              </p:cNvSpPr>
              <p:nvPr/>
            </p:nvSpPr>
            <p:spPr>
              <a:xfrm>
                <a:off x="838199" y="6067366"/>
                <a:ext cx="9998677" cy="596300"/>
              </a:xfrm>
              <a:prstGeom prst="rect">
                <a:avLst/>
              </a:prstGeom>
              <a:ln>
                <a:solidFill>
                  <a:srgbClr val="FF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solidFill>
                      <a:srgbClr val="FF0000"/>
                    </a:solidFill>
                  </a:rPr>
                  <a:t>Exercise</a:t>
                </a:r>
                <a:r>
                  <a:rPr lang="en-US">
                    <a:solidFill>
                      <a:srgbClr val="FF0000"/>
                    </a:solidFill>
                  </a:rPr>
                  <a:t>: Representing </a:t>
                </a:r>
                <a14:m>
                  <m:oMath xmlns:m="http://schemas.openxmlformats.org/officeDocument/2006/math">
                    <m:r>
                      <a:rPr lang="en-US" b="0" i="1" smtClean="0">
                        <a:solidFill>
                          <a:srgbClr val="FF0000"/>
                        </a:solidFill>
                        <a:latin typeface="Cambria Math" panose="02040503050406030204" pitchFamily="18" charset="0"/>
                      </a:rPr>
                      <m:t>𝑈</m:t>
                    </m:r>
                    <m:d>
                      <m:dPr>
                        <m:ctrlPr>
                          <a:rPr lang="en-US" b="0"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𝜃</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𝜙</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𝜆</m:t>
                        </m:r>
                      </m:e>
                    </m:d>
                  </m:oMath>
                </a14:m>
                <a:r>
                  <a:rPr lang="en-US">
                    <a:solidFill>
                      <a:srgbClr val="FF0000"/>
                    </a:solidFill>
                  </a:rPr>
                  <a:t> as combination of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𝑅</m:t>
                        </m:r>
                      </m:e>
                      <m:sub>
                        <m:r>
                          <a:rPr lang="en-US" b="0" i="1" smtClean="0">
                            <a:solidFill>
                              <a:srgbClr val="FF0000"/>
                            </a:solidFill>
                            <a:latin typeface="Cambria Math" panose="02040503050406030204" pitchFamily="18" charset="0"/>
                          </a:rPr>
                          <m:t>𝑥</m:t>
                        </m:r>
                      </m:sub>
                    </m:sSub>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𝑅</m:t>
                        </m:r>
                      </m:e>
                      <m:sub>
                        <m:r>
                          <a:rPr lang="en-US" b="0" i="1" smtClean="0">
                            <a:solidFill>
                              <a:srgbClr val="FF0000"/>
                            </a:solidFill>
                            <a:latin typeface="Cambria Math" panose="02040503050406030204" pitchFamily="18" charset="0"/>
                          </a:rPr>
                          <m:t>𝑦</m:t>
                        </m:r>
                      </m:sub>
                    </m:sSub>
                  </m:oMath>
                </a14:m>
                <a:r>
                  <a:rPr lang="en-US">
                    <a:solidFill>
                      <a:srgbClr val="FF0000"/>
                    </a:solidFill>
                  </a:rPr>
                  <a:t> and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𝑅</m:t>
                        </m:r>
                      </m:e>
                      <m:sub>
                        <m:r>
                          <a:rPr lang="en-US" b="0" i="1" smtClean="0">
                            <a:solidFill>
                              <a:srgbClr val="FF0000"/>
                            </a:solidFill>
                            <a:latin typeface="Cambria Math" panose="02040503050406030204" pitchFamily="18" charset="0"/>
                          </a:rPr>
                          <m:t>𝑧</m:t>
                        </m:r>
                      </m:sub>
                    </m:sSub>
                  </m:oMath>
                </a14:m>
                <a:endParaRPr lang="vi-VN">
                  <a:solidFill>
                    <a:srgbClr val="FF0000"/>
                  </a:solidFill>
                </a:endParaRPr>
              </a:p>
            </p:txBody>
          </p:sp>
        </mc:Choice>
        <mc:Fallback xmlns="">
          <p:sp>
            <p:nvSpPr>
              <p:cNvPr id="5" name="Chỗ dành sẵn cho Nội dung 2">
                <a:extLst>
                  <a:ext uri="{FF2B5EF4-FFF2-40B4-BE49-F238E27FC236}">
                    <a16:creationId xmlns:a16="http://schemas.microsoft.com/office/drawing/2014/main" id="{615097B0-72D9-C981-23F8-9C5554DDB033}"/>
                  </a:ext>
                </a:extLst>
              </p:cNvPr>
              <p:cNvSpPr txBox="1">
                <a:spLocks noRot="1" noChangeAspect="1" noMove="1" noResize="1" noEditPoints="1" noAdjustHandles="1" noChangeArrowheads="1" noChangeShapeType="1" noTextEdit="1"/>
              </p:cNvSpPr>
              <p:nvPr/>
            </p:nvSpPr>
            <p:spPr>
              <a:xfrm>
                <a:off x="838199" y="6067366"/>
                <a:ext cx="9998677" cy="596300"/>
              </a:xfrm>
              <a:prstGeom prst="rect">
                <a:avLst/>
              </a:prstGeom>
              <a:blipFill>
                <a:blip r:embed="rId3"/>
                <a:stretch>
                  <a:fillRect l="-1156" t="-13000" b="-10000"/>
                </a:stretch>
              </a:blipFill>
              <a:ln>
                <a:solidFill>
                  <a:srgbClr val="FF0000"/>
                </a:solidFill>
              </a:ln>
            </p:spPr>
            <p:txBody>
              <a:bodyPr/>
              <a:lstStyle/>
              <a:p>
                <a:r>
                  <a:rPr lang="vi-VN">
                    <a:noFill/>
                  </a:rPr>
                  <a:t> </a:t>
                </a:r>
              </a:p>
            </p:txBody>
          </p:sp>
        </mc:Fallback>
      </mc:AlternateContent>
    </p:spTree>
    <p:extLst>
      <p:ext uri="{BB962C8B-B14F-4D97-AF65-F5344CB8AC3E}">
        <p14:creationId xmlns:p14="http://schemas.microsoft.com/office/powerpoint/2010/main" val="2653555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594C0-4B51-F662-4AD5-51D7F4B9F95D}"/>
              </a:ext>
            </a:extLst>
          </p:cNvPr>
          <p:cNvSpPr>
            <a:spLocks noGrp="1"/>
          </p:cNvSpPr>
          <p:nvPr>
            <p:ph type="title"/>
          </p:nvPr>
        </p:nvSpPr>
        <p:spPr/>
        <p:txBody>
          <a:bodyPr/>
          <a:lstStyle/>
          <a:p>
            <a:r>
              <a:rPr lang="en-VN"/>
              <a:t>Multi-qubit gate: </a:t>
            </a:r>
            <a:r>
              <a:rPr lang="en-US"/>
              <a:t>c</a:t>
            </a:r>
            <a:r>
              <a:rPr lang="en-VN"/>
              <a:t>ontrol-NOT (CX) gate</a:t>
            </a:r>
          </a:p>
        </p:txBody>
      </p:sp>
      <p:sp>
        <p:nvSpPr>
          <p:cNvPr id="4" name="Slide Number Placeholder 3">
            <a:extLst>
              <a:ext uri="{FF2B5EF4-FFF2-40B4-BE49-F238E27FC236}">
                <a16:creationId xmlns:a16="http://schemas.microsoft.com/office/drawing/2014/main" id="{C7BCC28D-D820-E628-804D-4C99A4C7FD9C}"/>
              </a:ext>
            </a:extLst>
          </p:cNvPr>
          <p:cNvSpPr>
            <a:spLocks noGrp="1"/>
          </p:cNvSpPr>
          <p:nvPr>
            <p:ph type="sldNum" sz="quarter" idx="12"/>
          </p:nvPr>
        </p:nvSpPr>
        <p:spPr/>
        <p:txBody>
          <a:bodyPr/>
          <a:lstStyle/>
          <a:p>
            <a:fld id="{71331178-9F85-4EDF-BDD3-1E7064DA4C59}" type="slidenum">
              <a:rPr lang="vi-VN" smtClean="0"/>
              <a:t>10</a:t>
            </a:fld>
            <a:endParaRPr lang="vi-VN"/>
          </a:p>
        </p:txBody>
      </p:sp>
      <p:cxnSp>
        <p:nvCxnSpPr>
          <p:cNvPr id="6" name="Straight Connector 5">
            <a:extLst>
              <a:ext uri="{FF2B5EF4-FFF2-40B4-BE49-F238E27FC236}">
                <a16:creationId xmlns:a16="http://schemas.microsoft.com/office/drawing/2014/main" id="{90652219-DF1B-FEDD-5110-F8BC1F425FE5}"/>
              </a:ext>
            </a:extLst>
          </p:cNvPr>
          <p:cNvCxnSpPr/>
          <p:nvPr/>
        </p:nvCxnSpPr>
        <p:spPr>
          <a:xfrm>
            <a:off x="969485" y="1828800"/>
            <a:ext cx="5486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221C19B7-1822-11E2-A226-5602568429DE}"/>
              </a:ext>
            </a:extLst>
          </p:cNvPr>
          <p:cNvCxnSpPr/>
          <p:nvPr/>
        </p:nvCxnSpPr>
        <p:spPr>
          <a:xfrm>
            <a:off x="969485" y="2300689"/>
            <a:ext cx="548640" cy="0"/>
          </a:xfrm>
          <a:prstGeom prst="line">
            <a:avLst/>
          </a:prstGeom>
          <a:ln w="38100"/>
        </p:spPr>
        <p:style>
          <a:lnRef idx="1">
            <a:schemeClr val="dk1"/>
          </a:lnRef>
          <a:fillRef idx="0">
            <a:schemeClr val="dk1"/>
          </a:fillRef>
          <a:effectRef idx="0">
            <a:schemeClr val="dk1"/>
          </a:effectRef>
          <a:fontRef idx="minor">
            <a:schemeClr val="tx1"/>
          </a:fontRef>
        </p:style>
      </p:cxnSp>
      <p:sp>
        <p:nvSpPr>
          <p:cNvPr id="8" name="Oval 7">
            <a:extLst>
              <a:ext uri="{FF2B5EF4-FFF2-40B4-BE49-F238E27FC236}">
                <a16:creationId xmlns:a16="http://schemas.microsoft.com/office/drawing/2014/main" id="{D67FA12A-2848-D92F-3DD6-1B475098FE66}"/>
              </a:ext>
            </a:extLst>
          </p:cNvPr>
          <p:cNvSpPr>
            <a:spLocks noChangeAspect="1"/>
          </p:cNvSpPr>
          <p:nvPr/>
        </p:nvSpPr>
        <p:spPr>
          <a:xfrm>
            <a:off x="1160235" y="1727967"/>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E7AE9AD-9191-215E-67AD-4C4434C46428}"/>
                  </a:ext>
                </a:extLst>
              </p:cNvPr>
              <p:cNvSpPr txBox="1"/>
              <p:nvPr/>
            </p:nvSpPr>
            <p:spPr>
              <a:xfrm>
                <a:off x="1031323" y="1996425"/>
                <a:ext cx="426319"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3200" b="0" i="1">
                          <a:latin typeface="Cambria Math" panose="02040503050406030204" pitchFamily="18" charset="0"/>
                        </a:rPr>
                        <m:t>×</m:t>
                      </m:r>
                    </m:oMath>
                  </m:oMathPara>
                </a14:m>
                <a:endParaRPr lang="en-VN" sz="3200"/>
              </a:p>
            </p:txBody>
          </p:sp>
        </mc:Choice>
        <mc:Fallback xmlns="">
          <p:sp>
            <p:nvSpPr>
              <p:cNvPr id="9" name="TextBox 8">
                <a:extLst>
                  <a:ext uri="{FF2B5EF4-FFF2-40B4-BE49-F238E27FC236}">
                    <a16:creationId xmlns:a16="http://schemas.microsoft.com/office/drawing/2014/main" id="{AE7AE9AD-9191-215E-67AD-4C4434C46428}"/>
                  </a:ext>
                </a:extLst>
              </p:cNvPr>
              <p:cNvSpPr txBox="1">
                <a:spLocks noRot="1" noChangeAspect="1" noMove="1" noResize="1" noEditPoints="1" noAdjustHandles="1" noChangeArrowheads="1" noChangeShapeType="1" noTextEdit="1"/>
              </p:cNvSpPr>
              <p:nvPr/>
            </p:nvSpPr>
            <p:spPr>
              <a:xfrm>
                <a:off x="1031323" y="1996425"/>
                <a:ext cx="426319" cy="584775"/>
              </a:xfrm>
              <a:prstGeom prst="rect">
                <a:avLst/>
              </a:prstGeom>
              <a:blipFill>
                <a:blip r:embed="rId2"/>
                <a:stretch>
                  <a:fillRect/>
                </a:stretch>
              </a:blipFill>
            </p:spPr>
            <p:txBody>
              <a:bodyPr/>
              <a:lstStyle/>
              <a:p>
                <a:r>
                  <a:rPr lang="vi-VN">
                    <a:noFill/>
                  </a:rPr>
                  <a:t> </a:t>
                </a:r>
              </a:p>
            </p:txBody>
          </p:sp>
        </mc:Fallback>
      </mc:AlternateContent>
      <p:cxnSp>
        <p:nvCxnSpPr>
          <p:cNvPr id="10" name="Straight Connector 9">
            <a:extLst>
              <a:ext uri="{FF2B5EF4-FFF2-40B4-BE49-F238E27FC236}">
                <a16:creationId xmlns:a16="http://schemas.microsoft.com/office/drawing/2014/main" id="{3AE0DE72-FD71-D45A-2AA9-622D9B86C0E5}"/>
              </a:ext>
            </a:extLst>
          </p:cNvPr>
          <p:cNvCxnSpPr>
            <a:cxnSpLocks/>
            <a:endCxn id="8" idx="4"/>
          </p:cNvCxnSpPr>
          <p:nvPr/>
        </p:nvCxnSpPr>
        <p:spPr>
          <a:xfrm flipV="1">
            <a:off x="1268235" y="1929632"/>
            <a:ext cx="0" cy="371057"/>
          </a:xfrm>
          <a:prstGeom prst="line">
            <a:avLst/>
          </a:prstGeom>
          <a:ln w="38100"/>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4B3B1573-5F53-9744-7FA2-F5AC5F362260}"/>
              </a:ext>
            </a:extLst>
          </p:cNvPr>
          <p:cNvCxnSpPr/>
          <p:nvPr/>
        </p:nvCxnSpPr>
        <p:spPr>
          <a:xfrm>
            <a:off x="969485" y="2761735"/>
            <a:ext cx="5486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1417DE66-0F85-779E-5EE9-E9636B5EBA50}"/>
              </a:ext>
            </a:extLst>
          </p:cNvPr>
          <p:cNvCxnSpPr/>
          <p:nvPr/>
        </p:nvCxnSpPr>
        <p:spPr>
          <a:xfrm>
            <a:off x="969485" y="3233624"/>
            <a:ext cx="548640" cy="0"/>
          </a:xfrm>
          <a:prstGeom prst="line">
            <a:avLst/>
          </a:prstGeom>
          <a:ln w="38100"/>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803C6A0E-8884-08DD-9BCF-6DF05B1EF8F0}"/>
              </a:ext>
            </a:extLst>
          </p:cNvPr>
          <p:cNvSpPr>
            <a:spLocks noChangeAspect="1"/>
          </p:cNvSpPr>
          <p:nvPr/>
        </p:nvSpPr>
        <p:spPr>
          <a:xfrm>
            <a:off x="1160235" y="2660902"/>
            <a:ext cx="216000" cy="201665"/>
          </a:xfrm>
          <a:prstGeom prst="ellipse">
            <a:avLst/>
          </a:prstGeom>
          <a:solidFill>
            <a:schemeClr val="bg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BB3207B-76C4-1648-403F-CBD37C66F1B5}"/>
                  </a:ext>
                </a:extLst>
              </p:cNvPr>
              <p:cNvSpPr txBox="1"/>
              <p:nvPr/>
            </p:nvSpPr>
            <p:spPr>
              <a:xfrm>
                <a:off x="1031323" y="2929360"/>
                <a:ext cx="426319"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3200" b="0" i="1">
                          <a:latin typeface="Cambria Math" panose="02040503050406030204" pitchFamily="18" charset="0"/>
                        </a:rPr>
                        <m:t>×</m:t>
                      </m:r>
                    </m:oMath>
                  </m:oMathPara>
                </a14:m>
                <a:endParaRPr lang="en-VN" sz="3200"/>
              </a:p>
            </p:txBody>
          </p:sp>
        </mc:Choice>
        <mc:Fallback xmlns="">
          <p:sp>
            <p:nvSpPr>
              <p:cNvPr id="16" name="TextBox 15">
                <a:extLst>
                  <a:ext uri="{FF2B5EF4-FFF2-40B4-BE49-F238E27FC236}">
                    <a16:creationId xmlns:a16="http://schemas.microsoft.com/office/drawing/2014/main" id="{4BB3207B-76C4-1648-403F-CBD37C66F1B5}"/>
                  </a:ext>
                </a:extLst>
              </p:cNvPr>
              <p:cNvSpPr txBox="1">
                <a:spLocks noRot="1" noChangeAspect="1" noMove="1" noResize="1" noEditPoints="1" noAdjustHandles="1" noChangeArrowheads="1" noChangeShapeType="1" noTextEdit="1"/>
              </p:cNvSpPr>
              <p:nvPr/>
            </p:nvSpPr>
            <p:spPr>
              <a:xfrm>
                <a:off x="1031323" y="2929360"/>
                <a:ext cx="426319" cy="584775"/>
              </a:xfrm>
              <a:prstGeom prst="rect">
                <a:avLst/>
              </a:prstGeom>
              <a:blipFill>
                <a:blip r:embed="rId3"/>
                <a:stretch>
                  <a:fillRect/>
                </a:stretch>
              </a:blipFill>
            </p:spPr>
            <p:txBody>
              <a:bodyPr/>
              <a:lstStyle/>
              <a:p>
                <a:r>
                  <a:rPr lang="vi-VN">
                    <a:noFill/>
                  </a:rPr>
                  <a:t> </a:t>
                </a:r>
              </a:p>
            </p:txBody>
          </p:sp>
        </mc:Fallback>
      </mc:AlternateContent>
      <p:cxnSp>
        <p:nvCxnSpPr>
          <p:cNvPr id="17" name="Straight Connector 16">
            <a:extLst>
              <a:ext uri="{FF2B5EF4-FFF2-40B4-BE49-F238E27FC236}">
                <a16:creationId xmlns:a16="http://schemas.microsoft.com/office/drawing/2014/main" id="{53AF726C-CFB8-EFEB-17C1-228722C25916}"/>
              </a:ext>
            </a:extLst>
          </p:cNvPr>
          <p:cNvCxnSpPr>
            <a:cxnSpLocks/>
            <a:endCxn id="15" idx="4"/>
          </p:cNvCxnSpPr>
          <p:nvPr/>
        </p:nvCxnSpPr>
        <p:spPr>
          <a:xfrm flipV="1">
            <a:off x="1268235" y="2862567"/>
            <a:ext cx="0" cy="371057"/>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graphicFrame>
            <p:nvGraphicFramePr>
              <p:cNvPr id="20" name="Table 19">
                <a:extLst>
                  <a:ext uri="{FF2B5EF4-FFF2-40B4-BE49-F238E27FC236}">
                    <a16:creationId xmlns:a16="http://schemas.microsoft.com/office/drawing/2014/main" id="{915B5C9C-5D50-36FE-6391-C85AFB2E6DB0}"/>
                  </a:ext>
                </a:extLst>
              </p:cNvPr>
              <p:cNvGraphicFramePr>
                <a:graphicFrameLocks noGrp="1"/>
              </p:cNvGraphicFramePr>
              <p:nvPr>
                <p:extLst>
                  <p:ext uri="{D42A27DB-BD31-4B8C-83A1-F6EECF244321}">
                    <p14:modId xmlns:p14="http://schemas.microsoft.com/office/powerpoint/2010/main" val="2904138764"/>
                  </p:ext>
                </p:extLst>
              </p:nvPr>
            </p:nvGraphicFramePr>
            <p:xfrm>
              <a:off x="4625941" y="1594022"/>
              <a:ext cx="5893662" cy="2011680"/>
            </p:xfrm>
            <a:graphic>
              <a:graphicData uri="http://schemas.openxmlformats.org/drawingml/2006/table">
                <a:tbl>
                  <a:tblPr firstRow="1" bandRow="1">
                    <a:tableStyleId>{5940675A-B579-460E-94D1-54222C63F5DA}</a:tableStyleId>
                  </a:tblPr>
                  <a:tblGrid>
                    <a:gridCol w="1964554">
                      <a:extLst>
                        <a:ext uri="{9D8B030D-6E8A-4147-A177-3AD203B41FA5}">
                          <a16:colId xmlns:a16="http://schemas.microsoft.com/office/drawing/2014/main" val="1401356232"/>
                        </a:ext>
                      </a:extLst>
                    </a:gridCol>
                    <a:gridCol w="1964554">
                      <a:extLst>
                        <a:ext uri="{9D8B030D-6E8A-4147-A177-3AD203B41FA5}">
                          <a16:colId xmlns:a16="http://schemas.microsoft.com/office/drawing/2014/main" val="4271350536"/>
                        </a:ext>
                      </a:extLst>
                    </a:gridCol>
                    <a:gridCol w="1964554">
                      <a:extLst>
                        <a:ext uri="{9D8B030D-6E8A-4147-A177-3AD203B41FA5}">
                          <a16:colId xmlns:a16="http://schemas.microsoft.com/office/drawing/2014/main" val="2685736752"/>
                        </a:ext>
                      </a:extLst>
                    </a:gridCol>
                  </a:tblGrid>
                  <a:tr h="370840">
                    <a:tc>
                      <a:txBody>
                        <a:bodyPr/>
                        <a:lstStyle/>
                        <a:p>
                          <a:pPr algn="ctr"/>
                          <a:r>
                            <a:rPr lang="en-VN" sz="2400" b="1"/>
                            <a:t>Control qubit</a:t>
                          </a:r>
                        </a:p>
                      </a:txBody>
                      <a:tcPr/>
                    </a:tc>
                    <a:tc>
                      <a:txBody>
                        <a:bodyPr/>
                        <a:lstStyle/>
                        <a:p>
                          <a:pPr algn="ctr"/>
                          <a:r>
                            <a:rPr lang="en-VN" sz="2400" b="1"/>
                            <a:t> Target qubit</a:t>
                          </a:r>
                        </a:p>
                      </a:txBody>
                      <a:tcPr/>
                    </a:tc>
                    <a:tc>
                      <a:txBody>
                        <a:bodyPr/>
                        <a:lstStyle/>
                        <a:p>
                          <a:pPr algn="ctr"/>
                          <a:r>
                            <a:rPr lang="en-VN" sz="2400" b="1"/>
                            <a:t>Result</a:t>
                          </a:r>
                        </a:p>
                      </a:txBody>
                      <a:tcPr/>
                    </a:tc>
                    <a:extLst>
                      <a:ext uri="{0D108BD9-81ED-4DB2-BD59-A6C34878D82A}">
                        <a16:rowId xmlns:a16="http://schemas.microsoft.com/office/drawing/2014/main" val="111303614"/>
                      </a:ext>
                    </a:extLst>
                  </a:tr>
                  <a:tr h="370840">
                    <a:tc>
                      <a:txBody>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m:t>
                                </m:r>
                              </m:oMath>
                            </m:oMathPara>
                          </a14:m>
                          <a:endParaRPr lang="en-VN" sz="2400"/>
                        </a:p>
                      </a:txBody>
                      <a:tcPr/>
                    </a:tc>
                    <a:tc>
                      <a:txBody>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m:t>
                                </m:r>
                              </m:oMath>
                            </m:oMathPara>
                          </a14:m>
                          <a:endParaRPr lang="en-VN" sz="2400"/>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vi-VN" sz="2400" b="0" i="1">
                                        <a:latin typeface="Cambria Math" panose="02040503050406030204" pitchFamily="18" charset="0"/>
                                      </a:rPr>
                                    </m:ctrlPr>
                                  </m:dPr>
                                  <m:e>
                                    <m:r>
                                      <a:rPr lang="vi-VN" sz="2400" b="0" i="1">
                                        <a:latin typeface="Cambria Math" panose="02040503050406030204" pitchFamily="18" charset="0"/>
                                      </a:rPr>
                                      <m:t>00</m:t>
                                    </m:r>
                                  </m:e>
                                </m:d>
                              </m:oMath>
                            </m:oMathPara>
                          </a14:m>
                          <a:endParaRPr lang="vi-VN" sz="2400" b="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|01⟩</m:t>
                                </m:r>
                              </m:oMath>
                            </m:oMathPara>
                          </a14:m>
                          <a:endParaRPr lang="en-VN" sz="240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|11⟩</m:t>
                                </m:r>
                              </m:oMath>
                            </m:oMathPara>
                          </a14:m>
                          <a:endParaRPr lang="en-VN" sz="240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|10⟩</m:t>
                                </m:r>
                              </m:oMath>
                            </m:oMathPara>
                          </a14:m>
                          <a:endParaRPr lang="en-VN" sz="2400"/>
                        </a:p>
                      </a:txBody>
                      <a:tcPr/>
                    </a:tc>
                    <a:extLst>
                      <a:ext uri="{0D108BD9-81ED-4DB2-BD59-A6C34878D82A}">
                        <a16:rowId xmlns:a16="http://schemas.microsoft.com/office/drawing/2014/main" val="585267248"/>
                      </a:ext>
                    </a:extLst>
                  </a:tr>
                </a:tbl>
              </a:graphicData>
            </a:graphic>
          </p:graphicFrame>
        </mc:Choice>
        <mc:Fallback xmlns="">
          <p:graphicFrame>
            <p:nvGraphicFramePr>
              <p:cNvPr id="20" name="Table 19">
                <a:extLst>
                  <a:ext uri="{FF2B5EF4-FFF2-40B4-BE49-F238E27FC236}">
                    <a16:creationId xmlns:a16="http://schemas.microsoft.com/office/drawing/2014/main" id="{915B5C9C-5D50-36FE-6391-C85AFB2E6DB0}"/>
                  </a:ext>
                </a:extLst>
              </p:cNvPr>
              <p:cNvGraphicFramePr>
                <a:graphicFrameLocks noGrp="1"/>
              </p:cNvGraphicFramePr>
              <p:nvPr>
                <p:extLst>
                  <p:ext uri="{D42A27DB-BD31-4B8C-83A1-F6EECF244321}">
                    <p14:modId xmlns:p14="http://schemas.microsoft.com/office/powerpoint/2010/main" val="2904138764"/>
                  </p:ext>
                </p:extLst>
              </p:nvPr>
            </p:nvGraphicFramePr>
            <p:xfrm>
              <a:off x="4625941" y="1594022"/>
              <a:ext cx="5893662" cy="2011680"/>
            </p:xfrm>
            <a:graphic>
              <a:graphicData uri="http://schemas.openxmlformats.org/drawingml/2006/table">
                <a:tbl>
                  <a:tblPr firstRow="1" bandRow="1">
                    <a:tableStyleId>{5940675A-B579-460E-94D1-54222C63F5DA}</a:tableStyleId>
                  </a:tblPr>
                  <a:tblGrid>
                    <a:gridCol w="1964554">
                      <a:extLst>
                        <a:ext uri="{9D8B030D-6E8A-4147-A177-3AD203B41FA5}">
                          <a16:colId xmlns:a16="http://schemas.microsoft.com/office/drawing/2014/main" val="1401356232"/>
                        </a:ext>
                      </a:extLst>
                    </a:gridCol>
                    <a:gridCol w="1964554">
                      <a:extLst>
                        <a:ext uri="{9D8B030D-6E8A-4147-A177-3AD203B41FA5}">
                          <a16:colId xmlns:a16="http://schemas.microsoft.com/office/drawing/2014/main" val="4271350536"/>
                        </a:ext>
                      </a:extLst>
                    </a:gridCol>
                    <a:gridCol w="1964554">
                      <a:extLst>
                        <a:ext uri="{9D8B030D-6E8A-4147-A177-3AD203B41FA5}">
                          <a16:colId xmlns:a16="http://schemas.microsoft.com/office/drawing/2014/main" val="2685736752"/>
                        </a:ext>
                      </a:extLst>
                    </a:gridCol>
                  </a:tblGrid>
                  <a:tr h="457200">
                    <a:tc>
                      <a:txBody>
                        <a:bodyPr/>
                        <a:lstStyle/>
                        <a:p>
                          <a:pPr algn="ctr"/>
                          <a:r>
                            <a:rPr lang="en-VN" sz="2400" b="1"/>
                            <a:t>Control qubit</a:t>
                          </a:r>
                        </a:p>
                      </a:txBody>
                      <a:tcPr/>
                    </a:tc>
                    <a:tc>
                      <a:txBody>
                        <a:bodyPr/>
                        <a:lstStyle/>
                        <a:p>
                          <a:pPr algn="ctr"/>
                          <a:r>
                            <a:rPr lang="en-VN" sz="2400" b="1"/>
                            <a:t> Target qubit</a:t>
                          </a:r>
                        </a:p>
                      </a:txBody>
                      <a:tcPr/>
                    </a:tc>
                    <a:tc>
                      <a:txBody>
                        <a:bodyPr/>
                        <a:lstStyle/>
                        <a:p>
                          <a:pPr algn="ctr"/>
                          <a:r>
                            <a:rPr lang="en-VN" sz="2400" b="1"/>
                            <a:t>Result</a:t>
                          </a:r>
                        </a:p>
                      </a:txBody>
                      <a:tcPr/>
                    </a:tc>
                    <a:extLst>
                      <a:ext uri="{0D108BD9-81ED-4DB2-BD59-A6C34878D82A}">
                        <a16:rowId xmlns:a16="http://schemas.microsoft.com/office/drawing/2014/main" val="111303614"/>
                      </a:ext>
                    </a:extLst>
                  </a:tr>
                  <a:tr h="1554480">
                    <a:tc>
                      <a:txBody>
                        <a:bodyPr/>
                        <a:lstStyle/>
                        <a:p>
                          <a:endParaRPr lang="en-VN"/>
                        </a:p>
                      </a:txBody>
                      <a:tcPr>
                        <a:blipFill>
                          <a:blip r:embed="rId4"/>
                          <a:stretch>
                            <a:fillRect l="-645" t="-32520" r="-200645" b="-5691"/>
                          </a:stretch>
                        </a:blipFill>
                      </a:tcPr>
                    </a:tc>
                    <a:tc>
                      <a:txBody>
                        <a:bodyPr/>
                        <a:lstStyle/>
                        <a:p>
                          <a:endParaRPr lang="en-VN"/>
                        </a:p>
                      </a:txBody>
                      <a:tcPr>
                        <a:blipFill>
                          <a:blip r:embed="rId4"/>
                          <a:stretch>
                            <a:fillRect l="-100645" t="-32520" r="-100645" b="-5691"/>
                          </a:stretch>
                        </a:blipFill>
                      </a:tcPr>
                    </a:tc>
                    <a:tc>
                      <a:txBody>
                        <a:bodyPr/>
                        <a:lstStyle/>
                        <a:p>
                          <a:endParaRPr lang="en-VN"/>
                        </a:p>
                      </a:txBody>
                      <a:tcPr>
                        <a:blipFill>
                          <a:blip r:embed="rId4"/>
                          <a:stretch>
                            <a:fillRect l="-200645" t="-32520" r="-645" b="-5691"/>
                          </a:stretch>
                        </a:blipFill>
                      </a:tcPr>
                    </a:tc>
                    <a:extLst>
                      <a:ext uri="{0D108BD9-81ED-4DB2-BD59-A6C34878D82A}">
                        <a16:rowId xmlns:a16="http://schemas.microsoft.com/office/drawing/2014/main" val="585267248"/>
                      </a:ext>
                    </a:extLst>
                  </a:tr>
                </a:tbl>
              </a:graphicData>
            </a:graphic>
          </p:graphicFrame>
        </mc:Fallback>
      </mc:AlternateContent>
      <p:sp>
        <p:nvSpPr>
          <p:cNvPr id="21" name="Rectangle 20">
            <a:extLst>
              <a:ext uri="{FF2B5EF4-FFF2-40B4-BE49-F238E27FC236}">
                <a16:creationId xmlns:a16="http://schemas.microsoft.com/office/drawing/2014/main" id="{EB0E690D-23B5-EF8D-53CD-458FEDEFFABE}"/>
              </a:ext>
            </a:extLst>
          </p:cNvPr>
          <p:cNvSpPr/>
          <p:nvPr/>
        </p:nvSpPr>
        <p:spPr>
          <a:xfrm>
            <a:off x="838200" y="1594022"/>
            <a:ext cx="1679285" cy="8896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A2923C1-CC22-F6E3-502A-28053E462D48}"/>
                  </a:ext>
                </a:extLst>
              </p:cNvPr>
              <p:cNvSpPr txBox="1"/>
              <p:nvPr/>
            </p:nvSpPr>
            <p:spPr>
              <a:xfrm>
                <a:off x="2630805" y="2422277"/>
                <a:ext cx="1459281" cy="646331"/>
              </a:xfrm>
              <a:prstGeom prst="rect">
                <a:avLst/>
              </a:prstGeom>
              <a:noFill/>
            </p:spPr>
            <p:txBody>
              <a:bodyPr wrap="square" rtlCol="0">
                <a:spAutoFit/>
              </a:bodyPr>
              <a:lstStyle/>
              <a:p>
                <a:r>
                  <a:rPr lang="en-VN">
                    <a:solidFill>
                      <a:srgbClr val="FF0000"/>
                    </a:solidFill>
                  </a:rPr>
                  <a:t>Flip target if control is </a:t>
                </a:r>
                <a14:m>
                  <m:oMath xmlns:m="http://schemas.openxmlformats.org/officeDocument/2006/math">
                    <m:r>
                      <a:rPr lang="vi-VN" b="0" i="1">
                        <a:solidFill>
                          <a:srgbClr val="FF0000"/>
                        </a:solidFill>
                        <a:latin typeface="Cambria Math" panose="02040503050406030204" pitchFamily="18" charset="0"/>
                      </a:rPr>
                      <m:t>|1⟩</m:t>
                    </m:r>
                  </m:oMath>
                </a14:m>
                <a:endParaRPr lang="en-VN">
                  <a:solidFill>
                    <a:srgbClr val="FF0000"/>
                  </a:solidFill>
                </a:endParaRPr>
              </a:p>
            </p:txBody>
          </p:sp>
        </mc:Choice>
        <mc:Fallback xmlns="">
          <p:sp>
            <p:nvSpPr>
              <p:cNvPr id="22" name="TextBox 21">
                <a:extLst>
                  <a:ext uri="{FF2B5EF4-FFF2-40B4-BE49-F238E27FC236}">
                    <a16:creationId xmlns:a16="http://schemas.microsoft.com/office/drawing/2014/main" id="{1A2923C1-CC22-F6E3-502A-28053E462D48}"/>
                  </a:ext>
                </a:extLst>
              </p:cNvPr>
              <p:cNvSpPr txBox="1">
                <a:spLocks noRot="1" noChangeAspect="1" noMove="1" noResize="1" noEditPoints="1" noAdjustHandles="1" noChangeArrowheads="1" noChangeShapeType="1" noTextEdit="1"/>
              </p:cNvSpPr>
              <p:nvPr/>
            </p:nvSpPr>
            <p:spPr>
              <a:xfrm>
                <a:off x="2630805" y="2422277"/>
                <a:ext cx="1459281" cy="646331"/>
              </a:xfrm>
              <a:prstGeom prst="rect">
                <a:avLst/>
              </a:prstGeom>
              <a:blipFill>
                <a:blip r:embed="rId5"/>
                <a:stretch>
                  <a:fillRect l="-3448" t="-3846" b="-15385"/>
                </a:stretch>
              </a:blipFill>
            </p:spPr>
            <p:txBody>
              <a:bodyPr/>
              <a:lstStyle/>
              <a:p>
                <a:r>
                  <a:rPr lang="en-VN">
                    <a:noFill/>
                  </a:rPr>
                  <a:t> </a:t>
                </a:r>
              </a:p>
            </p:txBody>
          </p:sp>
        </mc:Fallback>
      </mc:AlternateContent>
      <p:cxnSp>
        <p:nvCxnSpPr>
          <p:cNvPr id="24" name="Curved Connector 23">
            <a:extLst>
              <a:ext uri="{FF2B5EF4-FFF2-40B4-BE49-F238E27FC236}">
                <a16:creationId xmlns:a16="http://schemas.microsoft.com/office/drawing/2014/main" id="{CEB05426-CBBC-3CBF-D052-9B4A3A46CA2E}"/>
              </a:ext>
            </a:extLst>
          </p:cNvPr>
          <p:cNvCxnSpPr>
            <a:cxnSpLocks/>
            <a:stCxn id="21" idx="3"/>
            <a:endCxn id="22" idx="0"/>
          </p:cNvCxnSpPr>
          <p:nvPr/>
        </p:nvCxnSpPr>
        <p:spPr>
          <a:xfrm>
            <a:off x="2517485" y="2038865"/>
            <a:ext cx="842961" cy="383412"/>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5F34DA41-8A0D-D87F-A154-BA7318E51A08}"/>
              </a:ext>
            </a:extLst>
          </p:cNvPr>
          <p:cNvSpPr/>
          <p:nvPr/>
        </p:nvSpPr>
        <p:spPr>
          <a:xfrm>
            <a:off x="849842" y="2579838"/>
            <a:ext cx="1679285" cy="889686"/>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0BCD524B-C757-BC90-1FFE-1068A2032213}"/>
                  </a:ext>
                </a:extLst>
              </p:cNvPr>
              <p:cNvSpPr txBox="1"/>
              <p:nvPr/>
            </p:nvSpPr>
            <p:spPr>
              <a:xfrm>
                <a:off x="575974" y="3556212"/>
                <a:ext cx="1742302" cy="646331"/>
              </a:xfrm>
              <a:prstGeom prst="rect">
                <a:avLst/>
              </a:prstGeom>
              <a:noFill/>
              <a:ln>
                <a:noFill/>
              </a:ln>
            </p:spPr>
            <p:txBody>
              <a:bodyPr wrap="square" rtlCol="0">
                <a:spAutoFit/>
              </a:bodyPr>
              <a:lstStyle/>
              <a:p>
                <a:r>
                  <a:rPr lang="en-VN">
                    <a:solidFill>
                      <a:srgbClr val="00B050"/>
                    </a:solidFill>
                  </a:rPr>
                  <a:t>Flip target if control is </a:t>
                </a:r>
                <a14:m>
                  <m:oMath xmlns:m="http://schemas.openxmlformats.org/officeDocument/2006/math">
                    <m:r>
                      <a:rPr lang="vi-VN" b="0" i="1">
                        <a:solidFill>
                          <a:srgbClr val="00B050"/>
                        </a:solidFill>
                        <a:latin typeface="Cambria Math" panose="02040503050406030204" pitchFamily="18" charset="0"/>
                      </a:rPr>
                      <m:t>|0⟩</m:t>
                    </m:r>
                  </m:oMath>
                </a14:m>
                <a:endParaRPr lang="en-VN">
                  <a:solidFill>
                    <a:srgbClr val="00B050"/>
                  </a:solidFill>
                </a:endParaRPr>
              </a:p>
            </p:txBody>
          </p:sp>
        </mc:Choice>
        <mc:Fallback>
          <p:sp>
            <p:nvSpPr>
              <p:cNvPr id="27" name="TextBox 26">
                <a:extLst>
                  <a:ext uri="{FF2B5EF4-FFF2-40B4-BE49-F238E27FC236}">
                    <a16:creationId xmlns:a16="http://schemas.microsoft.com/office/drawing/2014/main" id="{0BCD524B-C757-BC90-1FFE-1068A2032213}"/>
                  </a:ext>
                </a:extLst>
              </p:cNvPr>
              <p:cNvSpPr txBox="1">
                <a:spLocks noRot="1" noChangeAspect="1" noMove="1" noResize="1" noEditPoints="1" noAdjustHandles="1" noChangeArrowheads="1" noChangeShapeType="1" noTextEdit="1"/>
              </p:cNvSpPr>
              <p:nvPr/>
            </p:nvSpPr>
            <p:spPr>
              <a:xfrm>
                <a:off x="575974" y="3556212"/>
                <a:ext cx="1742302" cy="646331"/>
              </a:xfrm>
              <a:prstGeom prst="rect">
                <a:avLst/>
              </a:prstGeom>
              <a:blipFill>
                <a:blip r:embed="rId6"/>
                <a:stretch>
                  <a:fillRect l="-2899" t="-3846" b="-15385"/>
                </a:stretch>
              </a:blipFill>
              <a:ln>
                <a:noFill/>
              </a:ln>
            </p:spPr>
            <p:txBody>
              <a:bodyPr/>
              <a:lstStyle/>
              <a:p>
                <a:r>
                  <a:rPr lang="en-VN">
                    <a:noFill/>
                  </a:rPr>
                  <a:t> </a:t>
                </a:r>
              </a:p>
            </p:txBody>
          </p:sp>
        </mc:Fallback>
      </mc:AlternateContent>
      <p:cxnSp>
        <p:nvCxnSpPr>
          <p:cNvPr id="28" name="Curved Connector 27">
            <a:extLst>
              <a:ext uri="{FF2B5EF4-FFF2-40B4-BE49-F238E27FC236}">
                <a16:creationId xmlns:a16="http://schemas.microsoft.com/office/drawing/2014/main" id="{D2633142-CDB3-674E-0D4F-EFF5CE542408}"/>
              </a:ext>
            </a:extLst>
          </p:cNvPr>
          <p:cNvCxnSpPr>
            <a:cxnSpLocks/>
            <a:stCxn id="26" idx="1"/>
            <a:endCxn id="27" idx="1"/>
          </p:cNvCxnSpPr>
          <p:nvPr/>
        </p:nvCxnSpPr>
        <p:spPr>
          <a:xfrm rot="10800000" flipV="1">
            <a:off x="575974" y="3024680"/>
            <a:ext cx="273868" cy="854697"/>
          </a:xfrm>
          <a:prstGeom prst="curvedConnector3">
            <a:avLst>
              <a:gd name="adj1" fmla="val 18347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urved Connector 32">
            <a:extLst>
              <a:ext uri="{FF2B5EF4-FFF2-40B4-BE49-F238E27FC236}">
                <a16:creationId xmlns:a16="http://schemas.microsoft.com/office/drawing/2014/main" id="{DFAD3370-3F2B-9640-0713-956568A5FF2D}"/>
              </a:ext>
            </a:extLst>
          </p:cNvPr>
          <p:cNvCxnSpPr>
            <a:cxnSpLocks/>
            <a:stCxn id="22" idx="2"/>
            <a:endCxn id="20" idx="1"/>
          </p:cNvCxnSpPr>
          <p:nvPr/>
        </p:nvCxnSpPr>
        <p:spPr>
          <a:xfrm rot="5400000" flipH="1" flipV="1">
            <a:off x="3758820" y="2201487"/>
            <a:ext cx="468746" cy="1265495"/>
          </a:xfrm>
          <a:prstGeom prst="curvedConnector4">
            <a:avLst>
              <a:gd name="adj1" fmla="val -48768"/>
              <a:gd name="adj2" fmla="val 78828"/>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1" name="Table 40">
            <a:extLst>
              <a:ext uri="{FF2B5EF4-FFF2-40B4-BE49-F238E27FC236}">
                <a16:creationId xmlns:a16="http://schemas.microsoft.com/office/drawing/2014/main" id="{01C47580-F5A1-AB4B-0C59-4F6A7A21181D}"/>
              </a:ext>
            </a:extLst>
          </p:cNvPr>
          <p:cNvGraphicFramePr>
            <a:graphicFrameLocks noGrp="1"/>
          </p:cNvGraphicFramePr>
          <p:nvPr>
            <p:extLst>
              <p:ext uri="{D42A27DB-BD31-4B8C-83A1-F6EECF244321}">
                <p14:modId xmlns:p14="http://schemas.microsoft.com/office/powerpoint/2010/main" val="128487601"/>
              </p:ext>
            </p:extLst>
          </p:nvPr>
        </p:nvGraphicFramePr>
        <p:xfrm>
          <a:off x="3408296" y="5693429"/>
          <a:ext cx="7236548" cy="828040"/>
        </p:xfrm>
        <a:graphic>
          <a:graphicData uri="http://schemas.openxmlformats.org/drawingml/2006/table">
            <a:tbl>
              <a:tblPr firstRow="1" bandRow="1">
                <a:tableStyleId>{5940675A-B579-460E-94D1-54222C63F5DA}</a:tableStyleId>
              </a:tblPr>
              <a:tblGrid>
                <a:gridCol w="1947855">
                  <a:extLst>
                    <a:ext uri="{9D8B030D-6E8A-4147-A177-3AD203B41FA5}">
                      <a16:colId xmlns:a16="http://schemas.microsoft.com/office/drawing/2014/main" val="1401356232"/>
                    </a:ext>
                  </a:extLst>
                </a:gridCol>
                <a:gridCol w="1977081">
                  <a:extLst>
                    <a:ext uri="{9D8B030D-6E8A-4147-A177-3AD203B41FA5}">
                      <a16:colId xmlns:a16="http://schemas.microsoft.com/office/drawing/2014/main" val="4242532352"/>
                    </a:ext>
                  </a:extLst>
                </a:gridCol>
                <a:gridCol w="1940010">
                  <a:extLst>
                    <a:ext uri="{9D8B030D-6E8A-4147-A177-3AD203B41FA5}">
                      <a16:colId xmlns:a16="http://schemas.microsoft.com/office/drawing/2014/main" val="4271350536"/>
                    </a:ext>
                  </a:extLst>
                </a:gridCol>
                <a:gridCol w="1371602">
                  <a:extLst>
                    <a:ext uri="{9D8B030D-6E8A-4147-A177-3AD203B41FA5}">
                      <a16:colId xmlns:a16="http://schemas.microsoft.com/office/drawing/2014/main" val="2685736752"/>
                    </a:ext>
                  </a:extLst>
                </a:gridCol>
              </a:tblGrid>
              <a:tr h="370840">
                <a:tc>
                  <a:txBody>
                    <a:bodyPr/>
                    <a:lstStyle/>
                    <a:p>
                      <a:pPr algn="ctr"/>
                      <a:r>
                        <a:rPr lang="en-VN" sz="1800" b="1"/>
                        <a:t>1st Control qubit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VN" sz="1800" b="1"/>
                        <a:t>2nd Control qubit</a:t>
                      </a:r>
                    </a:p>
                  </a:txBody>
                  <a:tcPr/>
                </a:tc>
                <a:tc>
                  <a:txBody>
                    <a:bodyPr/>
                    <a:lstStyle/>
                    <a:p>
                      <a:pPr algn="ctr"/>
                      <a:r>
                        <a:rPr lang="en-VN" sz="1800" b="1"/>
                        <a:t> Target qubit</a:t>
                      </a:r>
                    </a:p>
                  </a:txBody>
                  <a:tcPr/>
                </a:tc>
                <a:tc>
                  <a:txBody>
                    <a:bodyPr/>
                    <a:lstStyle/>
                    <a:p>
                      <a:pPr algn="ctr"/>
                      <a:r>
                        <a:rPr lang="en-VN" sz="1800" b="1"/>
                        <a:t>Result</a:t>
                      </a:r>
                    </a:p>
                  </a:txBody>
                  <a:tcPr/>
                </a:tc>
                <a:extLst>
                  <a:ext uri="{0D108BD9-81ED-4DB2-BD59-A6C34878D82A}">
                    <a16:rowId xmlns:a16="http://schemas.microsoft.com/office/drawing/2014/main" val="111303614"/>
                  </a:ext>
                </a:extLst>
              </a:tr>
              <a:tr h="370840">
                <a:tc>
                  <a:txBody>
                    <a:bodyPr/>
                    <a:lstStyle/>
                    <a:p>
                      <a:pPr algn="ctr"/>
                      <a:r>
                        <a:rPr lang="en-VN" sz="2400"/>
                        <a:t>?</a:t>
                      </a:r>
                    </a:p>
                  </a:txBody>
                  <a:tcPr/>
                </a:tc>
                <a:tc>
                  <a:txBody>
                    <a:bodyPr/>
                    <a:lstStyle/>
                    <a:p>
                      <a:pPr algn="ctr"/>
                      <a:r>
                        <a:rPr lang="en-VN" sz="2400"/>
                        <a:t>?</a:t>
                      </a:r>
                    </a:p>
                  </a:txBody>
                  <a:tcPr/>
                </a:tc>
                <a:tc>
                  <a:txBody>
                    <a:bodyPr/>
                    <a:lstStyle/>
                    <a:p>
                      <a:pPr algn="ctr"/>
                      <a:r>
                        <a:rPr lang="en-VN" sz="2400"/>
                        <a:t>?</a:t>
                      </a:r>
                    </a:p>
                  </a:txBody>
                  <a:tcPr/>
                </a:tc>
                <a:tc>
                  <a:txBody>
                    <a:bodyPr/>
                    <a:lstStyle/>
                    <a:p>
                      <a:pPr algn="ctr"/>
                      <a:r>
                        <a:rPr lang="en-VN" sz="2400"/>
                        <a:t>?</a:t>
                      </a:r>
                    </a:p>
                  </a:txBody>
                  <a:tcPr/>
                </a:tc>
                <a:extLst>
                  <a:ext uri="{0D108BD9-81ED-4DB2-BD59-A6C34878D82A}">
                    <a16:rowId xmlns:a16="http://schemas.microsoft.com/office/drawing/2014/main" val="585267248"/>
                  </a:ext>
                </a:extLst>
              </a:tr>
            </a:tbl>
          </a:graphicData>
        </a:graphic>
      </p:graphicFrame>
      <p:cxnSp>
        <p:nvCxnSpPr>
          <p:cNvPr id="42" name="Straight Connector 41">
            <a:extLst>
              <a:ext uri="{FF2B5EF4-FFF2-40B4-BE49-F238E27FC236}">
                <a16:creationId xmlns:a16="http://schemas.microsoft.com/office/drawing/2014/main" id="{0AFC4C96-2A51-BFE6-703B-F50D2CB9C235}"/>
              </a:ext>
            </a:extLst>
          </p:cNvPr>
          <p:cNvCxnSpPr/>
          <p:nvPr/>
        </p:nvCxnSpPr>
        <p:spPr>
          <a:xfrm>
            <a:off x="976462" y="5839793"/>
            <a:ext cx="1440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45F8F4E0-2F3C-B70F-C6BA-2D143B1787AE}"/>
              </a:ext>
            </a:extLst>
          </p:cNvPr>
          <p:cNvCxnSpPr/>
          <p:nvPr/>
        </p:nvCxnSpPr>
        <p:spPr>
          <a:xfrm>
            <a:off x="976462" y="6120403"/>
            <a:ext cx="1440000" cy="0"/>
          </a:xfrm>
          <a:prstGeom prst="line">
            <a:avLst/>
          </a:prstGeom>
          <a:ln w="38100"/>
        </p:spPr>
        <p:style>
          <a:lnRef idx="1">
            <a:schemeClr val="dk1"/>
          </a:lnRef>
          <a:fillRef idx="0">
            <a:schemeClr val="dk1"/>
          </a:fillRef>
          <a:effectRef idx="0">
            <a:schemeClr val="dk1"/>
          </a:effectRef>
          <a:fontRef idx="minor">
            <a:schemeClr val="tx1"/>
          </a:fontRef>
        </p:style>
      </p:cxnSp>
      <p:sp>
        <p:nvSpPr>
          <p:cNvPr id="44" name="Oval 43">
            <a:extLst>
              <a:ext uri="{FF2B5EF4-FFF2-40B4-BE49-F238E27FC236}">
                <a16:creationId xmlns:a16="http://schemas.microsoft.com/office/drawing/2014/main" id="{B6A3A77C-C2F6-5C6F-649C-3ED17816705A}"/>
              </a:ext>
            </a:extLst>
          </p:cNvPr>
          <p:cNvSpPr>
            <a:spLocks noChangeAspect="1"/>
          </p:cNvSpPr>
          <p:nvPr/>
        </p:nvSpPr>
        <p:spPr>
          <a:xfrm>
            <a:off x="1571372" y="5738960"/>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55475BF-C466-95CC-3E75-654186F80642}"/>
                  </a:ext>
                </a:extLst>
              </p:cNvPr>
              <p:cNvSpPr txBox="1"/>
              <p:nvPr/>
            </p:nvSpPr>
            <p:spPr>
              <a:xfrm>
                <a:off x="1442460" y="6083196"/>
                <a:ext cx="426319"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3200" b="0" i="1">
                          <a:latin typeface="Cambria Math" panose="02040503050406030204" pitchFamily="18" charset="0"/>
                        </a:rPr>
                        <m:t>×</m:t>
                      </m:r>
                    </m:oMath>
                  </m:oMathPara>
                </a14:m>
                <a:endParaRPr lang="en-VN" sz="3200"/>
              </a:p>
            </p:txBody>
          </p:sp>
        </mc:Choice>
        <mc:Fallback xmlns="">
          <p:sp>
            <p:nvSpPr>
              <p:cNvPr id="45" name="TextBox 44">
                <a:extLst>
                  <a:ext uri="{FF2B5EF4-FFF2-40B4-BE49-F238E27FC236}">
                    <a16:creationId xmlns:a16="http://schemas.microsoft.com/office/drawing/2014/main" id="{D55475BF-C466-95CC-3E75-654186F80642}"/>
                  </a:ext>
                </a:extLst>
              </p:cNvPr>
              <p:cNvSpPr txBox="1">
                <a:spLocks noRot="1" noChangeAspect="1" noMove="1" noResize="1" noEditPoints="1" noAdjustHandles="1" noChangeArrowheads="1" noChangeShapeType="1" noTextEdit="1"/>
              </p:cNvSpPr>
              <p:nvPr/>
            </p:nvSpPr>
            <p:spPr>
              <a:xfrm>
                <a:off x="1442460" y="6083196"/>
                <a:ext cx="426319" cy="584775"/>
              </a:xfrm>
              <a:prstGeom prst="rect">
                <a:avLst/>
              </a:prstGeom>
              <a:blipFill>
                <a:blip r:embed="rId7"/>
                <a:stretch>
                  <a:fillRect/>
                </a:stretch>
              </a:blipFill>
            </p:spPr>
            <p:txBody>
              <a:bodyPr/>
              <a:lstStyle/>
              <a:p>
                <a:r>
                  <a:rPr lang="vi-VN">
                    <a:noFill/>
                  </a:rPr>
                  <a:t> </a:t>
                </a:r>
              </a:p>
            </p:txBody>
          </p:sp>
        </mc:Fallback>
      </mc:AlternateContent>
      <p:cxnSp>
        <p:nvCxnSpPr>
          <p:cNvPr id="46" name="Straight Connector 45">
            <a:extLst>
              <a:ext uri="{FF2B5EF4-FFF2-40B4-BE49-F238E27FC236}">
                <a16:creationId xmlns:a16="http://schemas.microsoft.com/office/drawing/2014/main" id="{C63D1925-7EBB-F73C-9A15-705C98853B39}"/>
              </a:ext>
            </a:extLst>
          </p:cNvPr>
          <p:cNvCxnSpPr>
            <a:cxnSpLocks/>
            <a:endCxn id="44" idx="4"/>
          </p:cNvCxnSpPr>
          <p:nvPr/>
        </p:nvCxnSpPr>
        <p:spPr>
          <a:xfrm flipV="1">
            <a:off x="1676275" y="5940625"/>
            <a:ext cx="3097" cy="462532"/>
          </a:xfrm>
          <a:prstGeom prst="line">
            <a:avLst/>
          </a:prstGeom>
          <a:ln w="38100"/>
        </p:spPr>
        <p:style>
          <a:lnRef idx="1">
            <a:schemeClr val="dk1"/>
          </a:lnRef>
          <a:fillRef idx="0">
            <a:schemeClr val="dk1"/>
          </a:fillRef>
          <a:effectRef idx="0">
            <a:schemeClr val="dk1"/>
          </a:effectRef>
          <a:fontRef idx="minor">
            <a:schemeClr val="tx1"/>
          </a:fontRef>
        </p:style>
      </p:cxnSp>
      <p:sp>
        <p:nvSpPr>
          <p:cNvPr id="47" name="Rectangle 46">
            <a:extLst>
              <a:ext uri="{FF2B5EF4-FFF2-40B4-BE49-F238E27FC236}">
                <a16:creationId xmlns:a16="http://schemas.microsoft.com/office/drawing/2014/main" id="{C068E2E4-BBF6-F9A1-212F-D51439B8C57A}"/>
              </a:ext>
            </a:extLst>
          </p:cNvPr>
          <p:cNvSpPr/>
          <p:nvPr/>
        </p:nvSpPr>
        <p:spPr>
          <a:xfrm>
            <a:off x="849842" y="5681743"/>
            <a:ext cx="1679285" cy="8347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50" name="Straight Connector 49">
            <a:extLst>
              <a:ext uri="{FF2B5EF4-FFF2-40B4-BE49-F238E27FC236}">
                <a16:creationId xmlns:a16="http://schemas.microsoft.com/office/drawing/2014/main" id="{0A752C97-542A-E7EA-E56A-62BAE6BC0B6A}"/>
              </a:ext>
            </a:extLst>
          </p:cNvPr>
          <p:cNvCxnSpPr/>
          <p:nvPr/>
        </p:nvCxnSpPr>
        <p:spPr>
          <a:xfrm>
            <a:off x="976462" y="6403157"/>
            <a:ext cx="1440000" cy="0"/>
          </a:xfrm>
          <a:prstGeom prst="line">
            <a:avLst/>
          </a:prstGeom>
          <a:ln w="38100"/>
        </p:spPr>
        <p:style>
          <a:lnRef idx="1">
            <a:schemeClr val="dk1"/>
          </a:lnRef>
          <a:fillRef idx="0">
            <a:schemeClr val="dk1"/>
          </a:fillRef>
          <a:effectRef idx="0">
            <a:schemeClr val="dk1"/>
          </a:effectRef>
          <a:fontRef idx="minor">
            <a:schemeClr val="tx1"/>
          </a:fontRef>
        </p:style>
      </p:cxnSp>
      <p:sp>
        <p:nvSpPr>
          <p:cNvPr id="51" name="Oval 50">
            <a:extLst>
              <a:ext uri="{FF2B5EF4-FFF2-40B4-BE49-F238E27FC236}">
                <a16:creationId xmlns:a16="http://schemas.microsoft.com/office/drawing/2014/main" id="{4342D089-2D4B-ACE9-EE02-04BE54737FAB}"/>
              </a:ext>
            </a:extLst>
          </p:cNvPr>
          <p:cNvSpPr>
            <a:spLocks noChangeAspect="1"/>
          </p:cNvSpPr>
          <p:nvPr/>
        </p:nvSpPr>
        <p:spPr>
          <a:xfrm>
            <a:off x="1575488" y="6033715"/>
            <a:ext cx="216000" cy="201665"/>
          </a:xfrm>
          <a:prstGeom prst="ellipse">
            <a:avLst/>
          </a:prstGeom>
          <a:solidFill>
            <a:schemeClr val="bg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sp>
        <p:nvSpPr>
          <p:cNvPr id="11" name="Rectangle 10">
            <a:extLst>
              <a:ext uri="{FF2B5EF4-FFF2-40B4-BE49-F238E27FC236}">
                <a16:creationId xmlns:a16="http://schemas.microsoft.com/office/drawing/2014/main" id="{AA29E0E3-00E1-18F8-FBE0-D3341A98243C}"/>
              </a:ext>
            </a:extLst>
          </p:cNvPr>
          <p:cNvSpPr/>
          <p:nvPr/>
        </p:nvSpPr>
        <p:spPr>
          <a:xfrm>
            <a:off x="749036" y="5310900"/>
            <a:ext cx="9995839" cy="12869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TextBox 11">
            <a:extLst>
              <a:ext uri="{FF2B5EF4-FFF2-40B4-BE49-F238E27FC236}">
                <a16:creationId xmlns:a16="http://schemas.microsoft.com/office/drawing/2014/main" id="{3771F0D5-169D-2694-F4BE-A8DA60384E84}"/>
              </a:ext>
            </a:extLst>
          </p:cNvPr>
          <p:cNvSpPr txBox="1"/>
          <p:nvPr/>
        </p:nvSpPr>
        <p:spPr>
          <a:xfrm>
            <a:off x="749036" y="5310900"/>
            <a:ext cx="3373326" cy="369332"/>
          </a:xfrm>
          <a:prstGeom prst="rect">
            <a:avLst/>
          </a:prstGeom>
          <a:noFill/>
        </p:spPr>
        <p:txBody>
          <a:bodyPr wrap="square" rtlCol="0">
            <a:spAutoFit/>
          </a:bodyPr>
          <a:lstStyle/>
          <a:p>
            <a:r>
              <a:rPr lang="en-US" b="1">
                <a:solidFill>
                  <a:srgbClr val="FF0000"/>
                </a:solidFill>
              </a:rPr>
              <a:t>Exercise</a:t>
            </a:r>
            <a:r>
              <a:rPr lang="en-US">
                <a:solidFill>
                  <a:srgbClr val="FF0000"/>
                </a:solidFill>
              </a:rPr>
              <a:t>: Fill this table</a:t>
            </a:r>
            <a:endParaRPr lang="en-VN">
              <a:solidFill>
                <a:srgbClr val="FF0000"/>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62A7138-A826-C4CD-3D14-2F1FAF0130C0}"/>
                  </a:ext>
                </a:extLst>
              </p:cNvPr>
              <p:cNvSpPr txBox="1"/>
              <p:nvPr/>
            </p:nvSpPr>
            <p:spPr>
              <a:xfrm>
                <a:off x="4504917" y="3695538"/>
                <a:ext cx="6057336" cy="74962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𝐶𝑋</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𝐼</m:t>
                                </m:r>
                              </m:e>
                              <m:e>
                                <m:r>
                                  <a:rPr lang="en-US" sz="2400" b="1" i="1" smtClean="0">
                                    <a:latin typeface="Cambria Math" panose="02040503050406030204" pitchFamily="18" charset="0"/>
                                  </a:rPr>
                                  <m:t>𝟎</m:t>
                                </m:r>
                              </m:e>
                            </m:mr>
                            <m:mr>
                              <m:e>
                                <m:r>
                                  <a:rPr lang="en-US" sz="2400" b="1" i="1" smtClean="0">
                                    <a:latin typeface="Cambria Math" panose="02040503050406030204" pitchFamily="18" charset="0"/>
                                  </a:rPr>
                                  <m:t>𝟎</m:t>
                                </m:r>
                              </m:e>
                              <m:e>
                                <m:r>
                                  <a:rPr lang="en-US" sz="2400" b="0" i="1" smtClean="0">
                                    <a:latin typeface="Cambria Math" panose="02040503050406030204" pitchFamily="18" charset="0"/>
                                  </a:rPr>
                                  <m:t>𝑋</m:t>
                                </m:r>
                              </m:e>
                            </m:mr>
                          </m:m>
                        </m:e>
                      </m:d>
                      <m:r>
                        <a:rPr lang="en-US" sz="2400" b="0" i="0" smtClean="0">
                          <a:latin typeface="Cambria Math" panose="02040503050406030204" pitchFamily="18" charset="0"/>
                        </a:rPr>
                        <m:t>=|0</m:t>
                      </m:r>
                      <m:r>
                        <a:rPr lang="en-US" sz="2400" b="0" i="1" smtClean="0">
                          <a:latin typeface="Cambria Math" panose="02040503050406030204" pitchFamily="18" charset="0"/>
                        </a:rPr>
                        <m:t>⟩⟨0|⊗</m:t>
                      </m:r>
                      <m:r>
                        <a:rPr lang="en-US" sz="2400" b="0" i="1" smtClean="0">
                          <a:latin typeface="Cambria Math" panose="02040503050406030204" pitchFamily="18" charset="0"/>
                        </a:rPr>
                        <m:t>𝐼</m:t>
                      </m:r>
                      <m:r>
                        <a:rPr lang="en-US" sz="2400" b="0" i="1" smtClean="0">
                          <a:latin typeface="Cambria Math" panose="02040503050406030204" pitchFamily="18" charset="0"/>
                        </a:rPr>
                        <m:t>+|1⟩⟨1|⊗</m:t>
                      </m:r>
                      <m:r>
                        <a:rPr lang="en-US" sz="2400" b="0" i="1" smtClean="0">
                          <a:latin typeface="Cambria Math" panose="02040503050406030204" pitchFamily="18" charset="0"/>
                        </a:rPr>
                        <m:t>𝑋</m:t>
                      </m:r>
                    </m:oMath>
                  </m:oMathPara>
                </a14:m>
                <a:endParaRPr lang="vi-VN" sz="2400"/>
              </a:p>
            </p:txBody>
          </p:sp>
        </mc:Choice>
        <mc:Fallback xmlns="">
          <p:sp>
            <p:nvSpPr>
              <p:cNvPr id="29" name="TextBox 28">
                <a:extLst>
                  <a:ext uri="{FF2B5EF4-FFF2-40B4-BE49-F238E27FC236}">
                    <a16:creationId xmlns:a16="http://schemas.microsoft.com/office/drawing/2014/main" id="{B62A7138-A826-C4CD-3D14-2F1FAF0130C0}"/>
                  </a:ext>
                </a:extLst>
              </p:cNvPr>
              <p:cNvSpPr txBox="1">
                <a:spLocks noRot="1" noChangeAspect="1" noMove="1" noResize="1" noEditPoints="1" noAdjustHandles="1" noChangeArrowheads="1" noChangeShapeType="1" noTextEdit="1"/>
              </p:cNvSpPr>
              <p:nvPr/>
            </p:nvSpPr>
            <p:spPr>
              <a:xfrm>
                <a:off x="4504917" y="3695538"/>
                <a:ext cx="6057336" cy="749629"/>
              </a:xfrm>
              <a:prstGeom prst="rect">
                <a:avLst/>
              </a:prstGeom>
              <a:blipFill>
                <a:blip r:embed="rId8"/>
                <a:stretch>
                  <a:fillRect/>
                </a:stretch>
              </a:blipFill>
            </p:spPr>
            <p:txBody>
              <a:bodyPr/>
              <a:lstStyle/>
              <a:p>
                <a:r>
                  <a:rPr lang="vi-VN">
                    <a:noFill/>
                  </a:rPr>
                  <a:t> </a:t>
                </a:r>
              </a:p>
            </p:txBody>
          </p:sp>
        </mc:Fallback>
      </mc:AlternateContent>
      <p:cxnSp>
        <p:nvCxnSpPr>
          <p:cNvPr id="3" name="Straight Connector 2">
            <a:extLst>
              <a:ext uri="{FF2B5EF4-FFF2-40B4-BE49-F238E27FC236}">
                <a16:creationId xmlns:a16="http://schemas.microsoft.com/office/drawing/2014/main" id="{3060337F-FBA2-BFE5-B0BD-A115D75EDD3C}"/>
              </a:ext>
            </a:extLst>
          </p:cNvPr>
          <p:cNvCxnSpPr/>
          <p:nvPr/>
        </p:nvCxnSpPr>
        <p:spPr>
          <a:xfrm>
            <a:off x="1718455" y="1839218"/>
            <a:ext cx="5486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19704085-3018-E379-B312-D239362DC1EA}"/>
              </a:ext>
            </a:extLst>
          </p:cNvPr>
          <p:cNvCxnSpPr/>
          <p:nvPr/>
        </p:nvCxnSpPr>
        <p:spPr>
          <a:xfrm>
            <a:off x="1718455" y="2311107"/>
            <a:ext cx="548640" cy="0"/>
          </a:xfrm>
          <a:prstGeom prst="line">
            <a:avLst/>
          </a:prstGeom>
          <a:ln w="38100"/>
        </p:spPr>
        <p:style>
          <a:lnRef idx="1">
            <a:schemeClr val="dk1"/>
          </a:lnRef>
          <a:fillRef idx="0">
            <a:schemeClr val="dk1"/>
          </a:fillRef>
          <a:effectRef idx="0">
            <a:schemeClr val="dk1"/>
          </a:effectRef>
          <a:fontRef idx="minor">
            <a:schemeClr val="tx1"/>
          </a:fontRef>
        </p:style>
      </p:cxnSp>
      <p:sp>
        <p:nvSpPr>
          <p:cNvPr id="18" name="Oval 17">
            <a:extLst>
              <a:ext uri="{FF2B5EF4-FFF2-40B4-BE49-F238E27FC236}">
                <a16:creationId xmlns:a16="http://schemas.microsoft.com/office/drawing/2014/main" id="{D43CAF76-9F5C-7470-257B-22CA7ED78C12}"/>
              </a:ext>
            </a:extLst>
          </p:cNvPr>
          <p:cNvSpPr>
            <a:spLocks noChangeAspect="1"/>
          </p:cNvSpPr>
          <p:nvPr/>
        </p:nvSpPr>
        <p:spPr>
          <a:xfrm>
            <a:off x="1909205" y="1738385"/>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23" name="Straight Connector 22">
            <a:extLst>
              <a:ext uri="{FF2B5EF4-FFF2-40B4-BE49-F238E27FC236}">
                <a16:creationId xmlns:a16="http://schemas.microsoft.com/office/drawing/2014/main" id="{EE18F601-7521-DF89-A037-2AF3AB46B526}"/>
              </a:ext>
            </a:extLst>
          </p:cNvPr>
          <p:cNvCxnSpPr>
            <a:cxnSpLocks/>
            <a:endCxn id="18" idx="4"/>
          </p:cNvCxnSpPr>
          <p:nvPr/>
        </p:nvCxnSpPr>
        <p:spPr>
          <a:xfrm flipV="1">
            <a:off x="2017205" y="1940050"/>
            <a:ext cx="0" cy="371057"/>
          </a:xfrm>
          <a:prstGeom prst="line">
            <a:avLst/>
          </a:prstGeom>
          <a:ln w="3810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6B9C44A5-5D23-B325-E000-2443BD661EB5}"/>
              </a:ext>
            </a:extLst>
          </p:cNvPr>
          <p:cNvCxnSpPr/>
          <p:nvPr/>
        </p:nvCxnSpPr>
        <p:spPr>
          <a:xfrm>
            <a:off x="1718455" y="2772153"/>
            <a:ext cx="5486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E0427B33-31B1-B13A-8BE1-4A4C107E28DC}"/>
              </a:ext>
            </a:extLst>
          </p:cNvPr>
          <p:cNvCxnSpPr/>
          <p:nvPr/>
        </p:nvCxnSpPr>
        <p:spPr>
          <a:xfrm>
            <a:off x="1718455" y="3244042"/>
            <a:ext cx="548640" cy="0"/>
          </a:xfrm>
          <a:prstGeom prst="line">
            <a:avLst/>
          </a:prstGeom>
          <a:ln w="38100"/>
        </p:spPr>
        <p:style>
          <a:lnRef idx="1">
            <a:schemeClr val="dk1"/>
          </a:lnRef>
          <a:fillRef idx="0">
            <a:schemeClr val="dk1"/>
          </a:fillRef>
          <a:effectRef idx="0">
            <a:schemeClr val="dk1"/>
          </a:effectRef>
          <a:fontRef idx="minor">
            <a:schemeClr val="tx1"/>
          </a:fontRef>
        </p:style>
      </p:cxnSp>
      <p:sp>
        <p:nvSpPr>
          <p:cNvPr id="31" name="Oval 30">
            <a:extLst>
              <a:ext uri="{FF2B5EF4-FFF2-40B4-BE49-F238E27FC236}">
                <a16:creationId xmlns:a16="http://schemas.microsoft.com/office/drawing/2014/main" id="{5B9C53E4-206A-E8AD-3523-F481A4316262}"/>
              </a:ext>
            </a:extLst>
          </p:cNvPr>
          <p:cNvSpPr>
            <a:spLocks noChangeAspect="1"/>
          </p:cNvSpPr>
          <p:nvPr/>
        </p:nvSpPr>
        <p:spPr>
          <a:xfrm>
            <a:off x="1909205" y="2671320"/>
            <a:ext cx="216000" cy="201665"/>
          </a:xfrm>
          <a:prstGeom prst="ellipse">
            <a:avLst/>
          </a:prstGeom>
          <a:solidFill>
            <a:schemeClr val="bg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34" name="Straight Connector 33">
            <a:extLst>
              <a:ext uri="{FF2B5EF4-FFF2-40B4-BE49-F238E27FC236}">
                <a16:creationId xmlns:a16="http://schemas.microsoft.com/office/drawing/2014/main" id="{37E55778-8695-6CF2-DCAB-34D9E7F015C3}"/>
              </a:ext>
            </a:extLst>
          </p:cNvPr>
          <p:cNvCxnSpPr>
            <a:cxnSpLocks/>
            <a:endCxn id="31" idx="4"/>
          </p:cNvCxnSpPr>
          <p:nvPr/>
        </p:nvCxnSpPr>
        <p:spPr>
          <a:xfrm flipV="1">
            <a:off x="2017205" y="2872985"/>
            <a:ext cx="0" cy="371057"/>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83C3A08-49F1-554A-B5D4-DB7DE7592053}"/>
                  </a:ext>
                </a:extLst>
              </p:cNvPr>
              <p:cNvSpPr txBox="1"/>
              <p:nvPr/>
            </p:nvSpPr>
            <p:spPr>
              <a:xfrm>
                <a:off x="1840874" y="2105905"/>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35" name="TextBox 34">
                <a:extLst>
                  <a:ext uri="{FF2B5EF4-FFF2-40B4-BE49-F238E27FC236}">
                    <a16:creationId xmlns:a16="http://schemas.microsoft.com/office/drawing/2014/main" id="{E83C3A08-49F1-554A-B5D4-DB7DE7592053}"/>
                  </a:ext>
                </a:extLst>
              </p:cNvPr>
              <p:cNvSpPr txBox="1">
                <a:spLocks noRot="1" noChangeAspect="1" noMove="1" noResize="1" noEditPoints="1" noAdjustHandles="1" noChangeArrowheads="1" noChangeShapeType="1" noTextEdit="1"/>
              </p:cNvSpPr>
              <p:nvPr/>
            </p:nvSpPr>
            <p:spPr>
              <a:xfrm>
                <a:off x="1840874" y="2105905"/>
                <a:ext cx="352661" cy="369332"/>
              </a:xfrm>
              <a:prstGeom prst="rect">
                <a:avLst/>
              </a:prstGeom>
              <a:blipFill>
                <a:blip r:embed="rId9"/>
                <a:stretch>
                  <a:fillRect l="-22414" r="-20690" b="-213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8441944-6089-A4A3-3E29-A8A030919436}"/>
                  </a:ext>
                </a:extLst>
              </p:cNvPr>
              <p:cNvSpPr txBox="1"/>
              <p:nvPr/>
            </p:nvSpPr>
            <p:spPr>
              <a:xfrm>
                <a:off x="1840874" y="3031035"/>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37" name="TextBox 36">
                <a:extLst>
                  <a:ext uri="{FF2B5EF4-FFF2-40B4-BE49-F238E27FC236}">
                    <a16:creationId xmlns:a16="http://schemas.microsoft.com/office/drawing/2014/main" id="{58441944-6089-A4A3-3E29-A8A030919436}"/>
                  </a:ext>
                </a:extLst>
              </p:cNvPr>
              <p:cNvSpPr txBox="1">
                <a:spLocks noRot="1" noChangeAspect="1" noMove="1" noResize="1" noEditPoints="1" noAdjustHandles="1" noChangeArrowheads="1" noChangeShapeType="1" noTextEdit="1"/>
              </p:cNvSpPr>
              <p:nvPr/>
            </p:nvSpPr>
            <p:spPr>
              <a:xfrm>
                <a:off x="1840874" y="3031035"/>
                <a:ext cx="352661" cy="369332"/>
              </a:xfrm>
              <a:prstGeom prst="rect">
                <a:avLst/>
              </a:prstGeom>
              <a:blipFill>
                <a:blip r:embed="rId10"/>
                <a:stretch>
                  <a:fillRect l="-22414" r="-20690" b="-21311"/>
                </a:stretch>
              </a:blipFill>
            </p:spPr>
            <p:txBody>
              <a:bodyPr/>
              <a:lstStyle/>
              <a:p>
                <a:r>
                  <a:rPr lang="vi-VN">
                    <a:noFill/>
                  </a:rPr>
                  <a:t> </a:t>
                </a:r>
              </a:p>
            </p:txBody>
          </p:sp>
        </mc:Fallback>
      </mc:AlternateContent>
    </p:spTree>
    <p:extLst>
      <p:ext uri="{BB962C8B-B14F-4D97-AF65-F5344CB8AC3E}">
        <p14:creationId xmlns:p14="http://schemas.microsoft.com/office/powerpoint/2010/main" val="2659773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E910018-B6F5-47A1-A7C1-F7553D199F84}"/>
              </a:ext>
            </a:extLst>
          </p:cNvPr>
          <p:cNvSpPr>
            <a:spLocks noGrp="1"/>
          </p:cNvSpPr>
          <p:nvPr>
            <p:ph type="title"/>
          </p:nvPr>
        </p:nvSpPr>
        <p:spPr/>
        <p:txBody>
          <a:bodyPr/>
          <a:lstStyle/>
          <a:p>
            <a:r>
              <a:rPr lang="en-US"/>
              <a:t>Basis</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A446B301-A728-44B8-8D64-C4511170549F}"/>
                  </a:ext>
                </a:extLst>
              </p:cNvPr>
              <p:cNvSpPr>
                <a:spLocks noGrp="1"/>
              </p:cNvSpPr>
              <p:nvPr>
                <p:ph idx="1"/>
              </p:nvPr>
            </p:nvSpPr>
            <p:spPr>
              <a:xfrm>
                <a:off x="838201" y="1825625"/>
                <a:ext cx="5257800" cy="2234642"/>
              </a:xfrm>
            </p:spPr>
            <p:txBody>
              <a:bodyPr>
                <a:normAutofit/>
              </a:bodyPr>
              <a:lstStyle/>
              <a:p>
                <a:pPr marL="0" indent="0">
                  <a:buNone/>
                </a:pPr>
                <a:r>
                  <a:rPr lang="en-US"/>
                  <a:t>Let see:</a:t>
                </a:r>
              </a:p>
              <a:p>
                <a:pPr marL="0" indent="0">
                  <a:buNone/>
                </a:pPr>
                <a14:m>
                  <m:oMath xmlns:m="http://schemas.openxmlformats.org/officeDocument/2006/math">
                    <m:d>
                      <m:dPr>
                        <m:ctrlPr>
                          <a:rPr lang="en-US" b="0" i="1" smtClean="0">
                            <a:latin typeface="Cambria Math" panose="02040503050406030204" pitchFamily="18" charset="0"/>
                          </a:rPr>
                        </m:ctrlPr>
                      </m:dPr>
                      <m:e>
                        <m:r>
                          <a:rPr lang="en-US" i="1">
                            <a:latin typeface="Cambria Math" panose="02040503050406030204" pitchFamily="18" charset="0"/>
                          </a:rPr>
                          <m:t>|0⟩⟨0|−|1⟩⟨1|</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=|0⟩</m:t>
                    </m:r>
                  </m:oMath>
                </a14:m>
                <a:r>
                  <a:rPr lang="en-US"/>
                  <a:t> </a:t>
                </a:r>
              </a:p>
              <a:p>
                <a:pPr marL="0" indent="0">
                  <a:buNone/>
                </a:pPr>
                <a14:m>
                  <m:oMath xmlns:m="http://schemas.openxmlformats.org/officeDocument/2006/math">
                    <m:d>
                      <m:dPr>
                        <m:ctrlPr>
                          <a:rPr lang="en-US" b="0" i="1" smtClean="0">
                            <a:latin typeface="Cambria Math" panose="02040503050406030204" pitchFamily="18" charset="0"/>
                          </a:rPr>
                        </m:ctrlPr>
                      </m:dPr>
                      <m:e>
                        <m:r>
                          <a:rPr lang="en-US" i="1">
                            <a:latin typeface="Cambria Math" panose="02040503050406030204" pitchFamily="18" charset="0"/>
                          </a:rPr>
                          <m:t>|0⟩⟨0|−|1⟩⟨1|</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=−|1⟩</m:t>
                    </m:r>
                  </m:oMath>
                </a14:m>
                <a:r>
                  <a:rPr lang="en-US"/>
                  <a:t> </a:t>
                </a:r>
              </a:p>
              <a:p>
                <a:pPr marL="0" indent="0">
                  <a:buNone/>
                </a:pPr>
                <a:r>
                  <a:rPr lang="en-US"/>
                  <a:t>This is called the Z-basis </a:t>
                </a:r>
                <a14:m>
                  <m:oMath xmlns:m="http://schemas.openxmlformats.org/officeDocument/2006/math">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e>
                    </m:d>
                  </m:oMath>
                </a14:m>
                <a:r>
                  <a:rPr lang="en-US"/>
                  <a:t>.</a:t>
                </a:r>
              </a:p>
              <a:p>
                <a:pPr marL="0" indent="0">
                  <a:buNone/>
                </a:pPr>
                <a:endParaRPr lang="vi-VN"/>
              </a:p>
            </p:txBody>
          </p:sp>
        </mc:Choice>
        <mc:Fallback xmlns="">
          <p:sp>
            <p:nvSpPr>
              <p:cNvPr id="3" name="Chỗ dành sẵn cho Nội dung 2">
                <a:extLst>
                  <a:ext uri="{FF2B5EF4-FFF2-40B4-BE49-F238E27FC236}">
                    <a16:creationId xmlns:a16="http://schemas.microsoft.com/office/drawing/2014/main" id="{A446B301-A728-44B8-8D64-C4511170549F}"/>
                  </a:ext>
                </a:extLst>
              </p:cNvPr>
              <p:cNvSpPr>
                <a:spLocks noGrp="1" noRot="1" noChangeAspect="1" noMove="1" noResize="1" noEditPoints="1" noAdjustHandles="1" noChangeArrowheads="1" noChangeShapeType="1" noTextEdit="1"/>
              </p:cNvSpPr>
              <p:nvPr>
                <p:ph idx="1"/>
              </p:nvPr>
            </p:nvSpPr>
            <p:spPr>
              <a:xfrm>
                <a:off x="838201" y="1825625"/>
                <a:ext cx="5257800" cy="2234642"/>
              </a:xfrm>
              <a:blipFill>
                <a:blip r:embed="rId2"/>
                <a:stretch>
                  <a:fillRect l="-2410" t="-4520"/>
                </a:stretch>
              </a:blipFill>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3739FE2D-B1C2-4189-BA6C-5E68414264F1}"/>
              </a:ext>
            </a:extLst>
          </p:cNvPr>
          <p:cNvSpPr>
            <a:spLocks noGrp="1"/>
          </p:cNvSpPr>
          <p:nvPr>
            <p:ph type="sldNum" sz="quarter" idx="12"/>
          </p:nvPr>
        </p:nvSpPr>
        <p:spPr/>
        <p:txBody>
          <a:bodyPr/>
          <a:lstStyle/>
          <a:p>
            <a:fld id="{71331178-9F85-4EDF-BDD3-1E7064DA4C59}" type="slidenum">
              <a:rPr lang="vi-VN" smtClean="0"/>
              <a:t>11</a:t>
            </a:fld>
            <a:endParaRPr lang="vi-VN"/>
          </a:p>
        </p:txBody>
      </p:sp>
      <mc:AlternateContent xmlns:mc="http://schemas.openxmlformats.org/markup-compatibility/2006" xmlns:a14="http://schemas.microsoft.com/office/drawing/2010/main">
        <mc:Choice Requires="a14">
          <p:sp>
            <p:nvSpPr>
              <p:cNvPr id="5" name="Chỗ dành sẵn cho Nội dung 2">
                <a:extLst>
                  <a:ext uri="{FF2B5EF4-FFF2-40B4-BE49-F238E27FC236}">
                    <a16:creationId xmlns:a16="http://schemas.microsoft.com/office/drawing/2014/main" id="{286DDB95-BBD5-AD68-0A4D-EF0573FEE863}"/>
                  </a:ext>
                </a:extLst>
              </p:cNvPr>
              <p:cNvSpPr txBox="1">
                <a:spLocks/>
              </p:cNvSpPr>
              <p:nvPr/>
            </p:nvSpPr>
            <p:spPr>
              <a:xfrm>
                <a:off x="914632" y="3970018"/>
                <a:ext cx="4824557" cy="2074314"/>
              </a:xfrm>
              <a:prstGeom prst="rect">
                <a:avLst/>
              </a:prstGeom>
              <a:ln>
                <a:solidFill>
                  <a:srgbClr val="FF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solidFill>
                      <a:srgbClr val="FF0000"/>
                    </a:solidFill>
                  </a:rPr>
                  <a:t>X-basis </a:t>
                </a:r>
                <a14:m>
                  <m:oMath xmlns:m="http://schemas.openxmlformats.org/officeDocument/2006/math">
                    <m:d>
                      <m:dPr>
                        <m:begChr m:val="{"/>
                        <m:endChr m:val="}"/>
                        <m:ctrlPr>
                          <a:rPr lang="en-US" i="1" smtClean="0">
                            <a:solidFill>
                              <a:srgbClr val="FF0000"/>
                            </a:solidFill>
                            <a:latin typeface="Cambria Math" panose="02040503050406030204" pitchFamily="18" charset="0"/>
                          </a:rPr>
                        </m:ctrlPr>
                      </m:dPr>
                      <m:e>
                        <m:d>
                          <m:dPr>
                            <m:begChr m:val="|"/>
                            <m:endChr m:val="⟩"/>
                            <m:ctrlPr>
                              <a:rPr lang="en-US" i="1" smtClean="0">
                                <a:solidFill>
                                  <a:srgbClr val="FF0000"/>
                                </a:solidFill>
                                <a:latin typeface="Cambria Math" panose="02040503050406030204" pitchFamily="18" charset="0"/>
                              </a:rPr>
                            </m:ctrlPr>
                          </m:dPr>
                          <m:e>
                            <m:r>
                              <a:rPr lang="en-US" i="1" smtClean="0">
                                <a:solidFill>
                                  <a:srgbClr val="FF0000"/>
                                </a:solidFill>
                                <a:latin typeface="Cambria Math" panose="02040503050406030204" pitchFamily="18" charset="0"/>
                              </a:rPr>
                              <m:t>+</m:t>
                            </m:r>
                          </m:e>
                        </m:d>
                        <m:r>
                          <a:rPr lang="en-US" i="1" smtClean="0">
                            <a:solidFill>
                              <a:srgbClr val="FF0000"/>
                            </a:solidFill>
                            <a:latin typeface="Cambria Math" panose="02040503050406030204" pitchFamily="18" charset="0"/>
                          </a:rPr>
                          <m:t>,|−⟩</m:t>
                        </m:r>
                      </m:e>
                    </m:d>
                  </m:oMath>
                </a14:m>
                <a:endParaRPr lang="en-US">
                  <a:solidFill>
                    <a:srgbClr val="FF0000"/>
                  </a:solidFill>
                </a:endParaRPr>
              </a:p>
              <a:p>
                <a:pPr marL="0" indent="0">
                  <a:buFont typeface="Arial" panose="020B0604020202020204" pitchFamily="34" charset="0"/>
                  <a:buNone/>
                </a:pPr>
                <a:r>
                  <a:rPr lang="en-US">
                    <a:solidFill>
                      <a:srgbClr val="FF0000"/>
                    </a:solidFill>
                    <a:latin typeface="Calibri (Thân)"/>
                  </a:rPr>
                  <a:t>Y-basis </a:t>
                </a:r>
                <a14:m>
                  <m:oMath xmlns:m="http://schemas.openxmlformats.org/officeDocument/2006/math">
                    <m:d>
                      <m:dPr>
                        <m:begChr m:val="{"/>
                        <m:endChr m:val="}"/>
                        <m:ctrlPr>
                          <a:rPr lang="en-US" i="1" smtClean="0">
                            <a:solidFill>
                              <a:srgbClr val="FF0000"/>
                            </a:solidFill>
                            <a:latin typeface="Cambria Math" panose="02040503050406030204" pitchFamily="18" charset="0"/>
                          </a:rPr>
                        </m:ctrlPr>
                      </m:dPr>
                      <m:e>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ea typeface="Cambria Math" panose="02040503050406030204" pitchFamily="18" charset="0"/>
                          </a:rPr>
                          <m:t>↺⟩</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ea typeface="Cambria Math" panose="02040503050406030204" pitchFamily="18" charset="0"/>
                          </a:rPr>
                          <m:t>↻</m:t>
                        </m:r>
                        <m:r>
                          <a:rPr lang="en-US" i="1" smtClean="0">
                            <a:solidFill>
                              <a:srgbClr val="FF0000"/>
                            </a:solidFill>
                            <a:latin typeface="Cambria Math" panose="02040503050406030204" pitchFamily="18" charset="0"/>
                          </a:rPr>
                          <m:t>⟩</m:t>
                        </m:r>
                      </m:e>
                    </m:d>
                  </m:oMath>
                </a14:m>
                <a:endParaRPr lang="en-US">
                  <a:solidFill>
                    <a:srgbClr val="FF0000"/>
                  </a:solidFill>
                  <a:latin typeface="Calibri (Thân)"/>
                </a:endParaRPr>
              </a:p>
              <a:p>
                <a:pPr marL="0" indent="0">
                  <a:buFont typeface="Arial" panose="020B0604020202020204" pitchFamily="34" charset="0"/>
                  <a:buNone/>
                </a:pPr>
                <a:r>
                  <a:rPr lang="en-US">
                    <a:solidFill>
                      <a:srgbClr val="FF0000"/>
                    </a:solidFill>
                    <a:latin typeface="Calibri (Thân)"/>
                  </a:rPr>
                  <a:t>There are </a:t>
                </a:r>
                <a14:m>
                  <m:oMath xmlns:m="http://schemas.openxmlformats.org/officeDocument/2006/math">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rPr>
                      <m:t> </m:t>
                    </m:r>
                  </m:oMath>
                </a14:m>
                <a:r>
                  <a:rPr lang="en-US">
                    <a:solidFill>
                      <a:srgbClr val="FF0000"/>
                    </a:solidFill>
                    <a:latin typeface="Calibri (Thân)"/>
                  </a:rPr>
                  <a:t>number of bases; we simply need Z and X-basis.</a:t>
                </a:r>
              </a:p>
            </p:txBody>
          </p:sp>
        </mc:Choice>
        <mc:Fallback xmlns="">
          <p:sp>
            <p:nvSpPr>
              <p:cNvPr id="5" name="Chỗ dành sẵn cho Nội dung 2">
                <a:extLst>
                  <a:ext uri="{FF2B5EF4-FFF2-40B4-BE49-F238E27FC236}">
                    <a16:creationId xmlns:a16="http://schemas.microsoft.com/office/drawing/2014/main" id="{286DDB95-BBD5-AD68-0A4D-EF0573FEE863}"/>
                  </a:ext>
                </a:extLst>
              </p:cNvPr>
              <p:cNvSpPr txBox="1">
                <a:spLocks noRot="1" noChangeAspect="1" noMove="1" noResize="1" noEditPoints="1" noAdjustHandles="1" noChangeArrowheads="1" noChangeShapeType="1" noTextEdit="1"/>
              </p:cNvSpPr>
              <p:nvPr/>
            </p:nvSpPr>
            <p:spPr>
              <a:xfrm>
                <a:off x="914632" y="3970018"/>
                <a:ext cx="4824557" cy="2074314"/>
              </a:xfrm>
              <a:prstGeom prst="rect">
                <a:avLst/>
              </a:prstGeom>
              <a:blipFill>
                <a:blip r:embed="rId3"/>
                <a:stretch>
                  <a:fillRect l="-2396" t="-4373"/>
                </a:stretch>
              </a:blipFill>
              <a:ln>
                <a:solidFill>
                  <a:srgbClr val="FF0000"/>
                </a:solidFill>
              </a:ln>
            </p:spPr>
            <p:txBody>
              <a:bodyPr/>
              <a:lstStyle/>
              <a:p>
                <a:r>
                  <a:rPr lang="vi-VN">
                    <a:noFill/>
                  </a:rPr>
                  <a:t> </a:t>
                </a:r>
              </a:p>
            </p:txBody>
          </p:sp>
        </mc:Fallback>
      </mc:AlternateContent>
      <p:cxnSp>
        <p:nvCxnSpPr>
          <p:cNvPr id="6" name="Đường kết nối Mũi tên Thẳng 5">
            <a:extLst>
              <a:ext uri="{FF2B5EF4-FFF2-40B4-BE49-F238E27FC236}">
                <a16:creationId xmlns:a16="http://schemas.microsoft.com/office/drawing/2014/main" id="{6273657E-9D8A-2758-A018-CA86E0BC13D7}"/>
              </a:ext>
            </a:extLst>
          </p:cNvPr>
          <p:cNvCxnSpPr>
            <a:cxnSpLocks/>
          </p:cNvCxnSpPr>
          <p:nvPr/>
        </p:nvCxnSpPr>
        <p:spPr>
          <a:xfrm flipV="1">
            <a:off x="6095999" y="1174220"/>
            <a:ext cx="0" cy="2556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Đường kết nối Mũi tên Thẳng 6">
            <a:extLst>
              <a:ext uri="{FF2B5EF4-FFF2-40B4-BE49-F238E27FC236}">
                <a16:creationId xmlns:a16="http://schemas.microsoft.com/office/drawing/2014/main" id="{8E664E9C-E04E-5F36-FC08-56BDB021BE2C}"/>
              </a:ext>
            </a:extLst>
          </p:cNvPr>
          <p:cNvCxnSpPr>
            <a:cxnSpLocks/>
          </p:cNvCxnSpPr>
          <p:nvPr/>
        </p:nvCxnSpPr>
        <p:spPr>
          <a:xfrm>
            <a:off x="6096000" y="3730220"/>
            <a:ext cx="1620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Hộp Văn bản 11">
                <a:extLst>
                  <a:ext uri="{FF2B5EF4-FFF2-40B4-BE49-F238E27FC236}">
                    <a16:creationId xmlns:a16="http://schemas.microsoft.com/office/drawing/2014/main" id="{FF2AFD64-6D3E-C3E7-036F-E08C0B01DE07}"/>
                  </a:ext>
                </a:extLst>
              </p:cNvPr>
              <p:cNvSpPr txBox="1"/>
              <p:nvPr/>
            </p:nvSpPr>
            <p:spPr>
              <a:xfrm>
                <a:off x="7426174" y="3534820"/>
                <a:ext cx="10187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vi-VN"/>
              </a:p>
            </p:txBody>
          </p:sp>
        </mc:Choice>
        <mc:Fallback xmlns="">
          <p:sp>
            <p:nvSpPr>
              <p:cNvPr id="9" name="Hộp Văn bản 11">
                <a:extLst>
                  <a:ext uri="{FF2B5EF4-FFF2-40B4-BE49-F238E27FC236}">
                    <a16:creationId xmlns:a16="http://schemas.microsoft.com/office/drawing/2014/main" id="{FF2AFD64-6D3E-C3E7-036F-E08C0B01DE07}"/>
                  </a:ext>
                </a:extLst>
              </p:cNvPr>
              <p:cNvSpPr txBox="1">
                <a:spLocks noRot="1" noChangeAspect="1" noMove="1" noResize="1" noEditPoints="1" noAdjustHandles="1" noChangeArrowheads="1" noChangeShapeType="1" noTextEdit="1"/>
              </p:cNvSpPr>
              <p:nvPr/>
            </p:nvSpPr>
            <p:spPr>
              <a:xfrm>
                <a:off x="7426174" y="3534820"/>
                <a:ext cx="1018735" cy="369332"/>
              </a:xfrm>
              <a:prstGeom prst="rect">
                <a:avLst/>
              </a:prstGeom>
              <a:blipFill>
                <a:blip r:embed="rId4"/>
                <a:stretch>
                  <a:fillRect b="-1666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0" name="Hộp Văn bản 12">
                <a:extLst>
                  <a:ext uri="{FF2B5EF4-FFF2-40B4-BE49-F238E27FC236}">
                    <a16:creationId xmlns:a16="http://schemas.microsoft.com/office/drawing/2014/main" id="{4583D631-1657-5446-3E5B-0259C915B2F2}"/>
                  </a:ext>
                </a:extLst>
              </p:cNvPr>
              <p:cNvSpPr txBox="1"/>
              <p:nvPr/>
            </p:nvSpPr>
            <p:spPr>
              <a:xfrm>
                <a:off x="5869264" y="1051746"/>
                <a:ext cx="10187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vi-VN"/>
              </a:p>
            </p:txBody>
          </p:sp>
        </mc:Choice>
        <mc:Fallback xmlns="">
          <p:sp>
            <p:nvSpPr>
              <p:cNvPr id="10" name="Hộp Văn bản 12">
                <a:extLst>
                  <a:ext uri="{FF2B5EF4-FFF2-40B4-BE49-F238E27FC236}">
                    <a16:creationId xmlns:a16="http://schemas.microsoft.com/office/drawing/2014/main" id="{4583D631-1657-5446-3E5B-0259C915B2F2}"/>
                  </a:ext>
                </a:extLst>
              </p:cNvPr>
              <p:cNvSpPr txBox="1">
                <a:spLocks noRot="1" noChangeAspect="1" noMove="1" noResize="1" noEditPoints="1" noAdjustHandles="1" noChangeArrowheads="1" noChangeShapeType="1" noTextEdit="1"/>
              </p:cNvSpPr>
              <p:nvPr/>
            </p:nvSpPr>
            <p:spPr>
              <a:xfrm>
                <a:off x="5869264" y="1051746"/>
                <a:ext cx="1018735" cy="369332"/>
              </a:xfrm>
              <a:prstGeom prst="rect">
                <a:avLst/>
              </a:prstGeom>
              <a:blipFill>
                <a:blip r:embed="rId5"/>
                <a:stretch>
                  <a:fillRect b="-20690"/>
                </a:stretch>
              </a:blipFill>
            </p:spPr>
            <p:txBody>
              <a:bodyPr/>
              <a:lstStyle/>
              <a:p>
                <a:r>
                  <a:rPr lang="en-VN">
                    <a:noFill/>
                  </a:rPr>
                  <a:t> </a:t>
                </a:r>
              </a:p>
            </p:txBody>
          </p:sp>
        </mc:Fallback>
      </mc:AlternateContent>
      <p:cxnSp>
        <p:nvCxnSpPr>
          <p:cNvPr id="11" name="Đường kết nối Mũi tên Thẳng 13">
            <a:extLst>
              <a:ext uri="{FF2B5EF4-FFF2-40B4-BE49-F238E27FC236}">
                <a16:creationId xmlns:a16="http://schemas.microsoft.com/office/drawing/2014/main" id="{FF20A4D7-78D7-C936-4109-E02715F93110}"/>
              </a:ext>
            </a:extLst>
          </p:cNvPr>
          <p:cNvCxnSpPr>
            <a:cxnSpLocks/>
          </p:cNvCxnSpPr>
          <p:nvPr/>
        </p:nvCxnSpPr>
        <p:spPr>
          <a:xfrm flipV="1">
            <a:off x="6095999" y="2400386"/>
            <a:ext cx="1584000" cy="13476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Hộp Văn bản 16">
                <a:extLst>
                  <a:ext uri="{FF2B5EF4-FFF2-40B4-BE49-F238E27FC236}">
                    <a16:creationId xmlns:a16="http://schemas.microsoft.com/office/drawing/2014/main" id="{6E71F16E-DA5D-119D-5E5D-5B1F2AE9027C}"/>
                  </a:ext>
                </a:extLst>
              </p:cNvPr>
              <p:cNvSpPr txBox="1"/>
              <p:nvPr/>
            </p:nvSpPr>
            <p:spPr>
              <a:xfrm>
                <a:off x="7401460" y="2002920"/>
                <a:ext cx="10187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oMath>
                  </m:oMathPara>
                </a14:m>
                <a:endParaRPr lang="vi-VN"/>
              </a:p>
            </p:txBody>
          </p:sp>
        </mc:Choice>
        <mc:Fallback xmlns="">
          <p:sp>
            <p:nvSpPr>
              <p:cNvPr id="12" name="Hộp Văn bản 16">
                <a:extLst>
                  <a:ext uri="{FF2B5EF4-FFF2-40B4-BE49-F238E27FC236}">
                    <a16:creationId xmlns:a16="http://schemas.microsoft.com/office/drawing/2014/main" id="{6E71F16E-DA5D-119D-5E5D-5B1F2AE9027C}"/>
                  </a:ext>
                </a:extLst>
              </p:cNvPr>
              <p:cNvSpPr txBox="1">
                <a:spLocks noRot="1" noChangeAspect="1" noMove="1" noResize="1" noEditPoints="1" noAdjustHandles="1" noChangeArrowheads="1" noChangeShapeType="1" noTextEdit="1"/>
              </p:cNvSpPr>
              <p:nvPr/>
            </p:nvSpPr>
            <p:spPr>
              <a:xfrm>
                <a:off x="7401460" y="2002920"/>
                <a:ext cx="1018735" cy="369332"/>
              </a:xfrm>
              <a:prstGeom prst="rect">
                <a:avLst/>
              </a:prstGeom>
              <a:blipFill>
                <a:blip r:embed="rId6"/>
                <a:stretch>
                  <a:fillRect b="-16667"/>
                </a:stretch>
              </a:blipFill>
            </p:spPr>
            <p:txBody>
              <a:bodyPr/>
              <a:lstStyle/>
              <a:p>
                <a:r>
                  <a:rPr lang="en-VN">
                    <a:noFill/>
                  </a:rPr>
                  <a:t> </a:t>
                </a:r>
              </a:p>
            </p:txBody>
          </p:sp>
        </mc:Fallback>
      </mc:AlternateContent>
      <p:cxnSp>
        <p:nvCxnSpPr>
          <p:cNvPr id="13" name="Đường nối Thẳng 18">
            <a:extLst>
              <a:ext uri="{FF2B5EF4-FFF2-40B4-BE49-F238E27FC236}">
                <a16:creationId xmlns:a16="http://schemas.microsoft.com/office/drawing/2014/main" id="{14832C89-2A9B-05F2-AEFE-56212EBEA7FF}"/>
              </a:ext>
            </a:extLst>
          </p:cNvPr>
          <p:cNvCxnSpPr>
            <a:cxnSpLocks/>
          </p:cNvCxnSpPr>
          <p:nvPr/>
        </p:nvCxnSpPr>
        <p:spPr>
          <a:xfrm>
            <a:off x="7682881" y="2376083"/>
            <a:ext cx="33119" cy="1354137"/>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4" name="Đường nối Thẳng 19">
            <a:extLst>
              <a:ext uri="{FF2B5EF4-FFF2-40B4-BE49-F238E27FC236}">
                <a16:creationId xmlns:a16="http://schemas.microsoft.com/office/drawing/2014/main" id="{F859782A-C52A-8953-A523-263687D6852E}"/>
              </a:ext>
            </a:extLst>
          </p:cNvPr>
          <p:cNvCxnSpPr>
            <a:cxnSpLocks/>
          </p:cNvCxnSpPr>
          <p:nvPr/>
        </p:nvCxnSpPr>
        <p:spPr>
          <a:xfrm flipH="1">
            <a:off x="6095999" y="2376083"/>
            <a:ext cx="1584000" cy="0"/>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Hộp Văn bản 24">
                <a:extLst>
                  <a:ext uri="{FF2B5EF4-FFF2-40B4-BE49-F238E27FC236}">
                    <a16:creationId xmlns:a16="http://schemas.microsoft.com/office/drawing/2014/main" id="{52D83173-AFA1-5F92-104D-340EDEB698A6}"/>
                  </a:ext>
                </a:extLst>
              </p:cNvPr>
              <p:cNvSpPr txBox="1"/>
              <p:nvPr/>
            </p:nvSpPr>
            <p:spPr>
              <a:xfrm>
                <a:off x="7631787" y="2892666"/>
                <a:ext cx="7487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𝛼</m:t>
                              </m:r>
                            </m:e>
                          </m:d>
                        </m:e>
                        <m:sup>
                          <m:r>
                            <a:rPr lang="en-US" b="0" i="1" smtClean="0">
                              <a:latin typeface="Cambria Math" panose="02040503050406030204" pitchFamily="18" charset="0"/>
                            </a:rPr>
                            <m:t>2</m:t>
                          </m:r>
                        </m:sup>
                      </m:sSup>
                    </m:oMath>
                  </m:oMathPara>
                </a14:m>
                <a:endParaRPr lang="vi-VN"/>
              </a:p>
            </p:txBody>
          </p:sp>
        </mc:Choice>
        <mc:Fallback xmlns="">
          <p:sp>
            <p:nvSpPr>
              <p:cNvPr id="15" name="Hộp Văn bản 24">
                <a:extLst>
                  <a:ext uri="{FF2B5EF4-FFF2-40B4-BE49-F238E27FC236}">
                    <a16:creationId xmlns:a16="http://schemas.microsoft.com/office/drawing/2014/main" id="{52D83173-AFA1-5F92-104D-340EDEB698A6}"/>
                  </a:ext>
                </a:extLst>
              </p:cNvPr>
              <p:cNvSpPr txBox="1">
                <a:spLocks noRot="1" noChangeAspect="1" noMove="1" noResize="1" noEditPoints="1" noAdjustHandles="1" noChangeArrowheads="1" noChangeShapeType="1" noTextEdit="1"/>
              </p:cNvSpPr>
              <p:nvPr/>
            </p:nvSpPr>
            <p:spPr>
              <a:xfrm>
                <a:off x="7631787" y="2892666"/>
                <a:ext cx="748713" cy="369332"/>
              </a:xfrm>
              <a:prstGeom prst="rect">
                <a:avLst/>
              </a:prstGeom>
              <a:blipFill>
                <a:blip r:embed="rId7"/>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6" name="Hộp Văn bản 25">
                <a:extLst>
                  <a:ext uri="{FF2B5EF4-FFF2-40B4-BE49-F238E27FC236}">
                    <a16:creationId xmlns:a16="http://schemas.microsoft.com/office/drawing/2014/main" id="{D3184756-97F7-0CEA-3DB7-FC9BE81A724C}"/>
                  </a:ext>
                </a:extLst>
              </p:cNvPr>
              <p:cNvSpPr txBox="1"/>
              <p:nvPr/>
            </p:nvSpPr>
            <p:spPr>
              <a:xfrm>
                <a:off x="6629058" y="1947670"/>
                <a:ext cx="7487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𝛽</m:t>
                              </m:r>
                            </m:e>
                          </m:d>
                        </m:e>
                        <m:sup>
                          <m:r>
                            <a:rPr lang="en-US" b="0" i="1" smtClean="0">
                              <a:latin typeface="Cambria Math" panose="02040503050406030204" pitchFamily="18" charset="0"/>
                            </a:rPr>
                            <m:t>2</m:t>
                          </m:r>
                        </m:sup>
                      </m:sSup>
                    </m:oMath>
                  </m:oMathPara>
                </a14:m>
                <a:endParaRPr lang="vi-VN"/>
              </a:p>
            </p:txBody>
          </p:sp>
        </mc:Choice>
        <mc:Fallback xmlns="">
          <p:sp>
            <p:nvSpPr>
              <p:cNvPr id="16" name="Hộp Văn bản 25">
                <a:extLst>
                  <a:ext uri="{FF2B5EF4-FFF2-40B4-BE49-F238E27FC236}">
                    <a16:creationId xmlns:a16="http://schemas.microsoft.com/office/drawing/2014/main" id="{D3184756-97F7-0CEA-3DB7-FC9BE81A724C}"/>
                  </a:ext>
                </a:extLst>
              </p:cNvPr>
              <p:cNvSpPr txBox="1">
                <a:spLocks noRot="1" noChangeAspect="1" noMove="1" noResize="1" noEditPoints="1" noAdjustHandles="1" noChangeArrowheads="1" noChangeShapeType="1" noTextEdit="1"/>
              </p:cNvSpPr>
              <p:nvPr/>
            </p:nvSpPr>
            <p:spPr>
              <a:xfrm>
                <a:off x="6629058" y="1947670"/>
                <a:ext cx="748713" cy="369332"/>
              </a:xfrm>
              <a:prstGeom prst="rect">
                <a:avLst/>
              </a:prstGeom>
              <a:blipFill>
                <a:blip r:embed="rId8"/>
                <a:stretch>
                  <a:fillRect b="-16667"/>
                </a:stretch>
              </a:blipFill>
            </p:spPr>
            <p:txBody>
              <a:bodyPr/>
              <a:lstStyle/>
              <a:p>
                <a:r>
                  <a:rPr lang="en-VN">
                    <a:noFill/>
                  </a:rPr>
                  <a:t> </a:t>
                </a:r>
              </a:p>
            </p:txBody>
          </p:sp>
        </mc:Fallback>
      </mc:AlternateContent>
      <p:cxnSp>
        <p:nvCxnSpPr>
          <p:cNvPr id="19" name="Đường kết nối Mũi tên Thẳng 26">
            <a:extLst>
              <a:ext uri="{FF2B5EF4-FFF2-40B4-BE49-F238E27FC236}">
                <a16:creationId xmlns:a16="http://schemas.microsoft.com/office/drawing/2014/main" id="{54CAF757-3925-240C-AE24-9B4CAD53FEB3}"/>
              </a:ext>
            </a:extLst>
          </p:cNvPr>
          <p:cNvCxnSpPr>
            <a:cxnSpLocks/>
          </p:cNvCxnSpPr>
          <p:nvPr/>
        </p:nvCxnSpPr>
        <p:spPr>
          <a:xfrm flipV="1">
            <a:off x="9047610" y="1203683"/>
            <a:ext cx="2419253" cy="252653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Đường kết nối Mũi tên Thẳng 27">
            <a:extLst>
              <a:ext uri="{FF2B5EF4-FFF2-40B4-BE49-F238E27FC236}">
                <a16:creationId xmlns:a16="http://schemas.microsoft.com/office/drawing/2014/main" id="{A2B05BBF-2BEC-181B-47C5-D555742AA083}"/>
              </a:ext>
            </a:extLst>
          </p:cNvPr>
          <p:cNvCxnSpPr>
            <a:cxnSpLocks/>
          </p:cNvCxnSpPr>
          <p:nvPr/>
        </p:nvCxnSpPr>
        <p:spPr>
          <a:xfrm>
            <a:off x="9047610" y="3730220"/>
            <a:ext cx="1595120" cy="14164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Hộp Văn bản 29">
                <a:extLst>
                  <a:ext uri="{FF2B5EF4-FFF2-40B4-BE49-F238E27FC236}">
                    <a16:creationId xmlns:a16="http://schemas.microsoft.com/office/drawing/2014/main" id="{E91A1580-6D49-949C-1C23-446722DD030B}"/>
                  </a:ext>
                </a:extLst>
              </p:cNvPr>
              <p:cNvSpPr txBox="1"/>
              <p:nvPr/>
            </p:nvSpPr>
            <p:spPr>
              <a:xfrm>
                <a:off x="10484272" y="4854202"/>
                <a:ext cx="7974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oMath>
                  </m:oMathPara>
                </a14:m>
                <a:endParaRPr lang="vi-VN"/>
              </a:p>
            </p:txBody>
          </p:sp>
        </mc:Choice>
        <mc:Fallback xmlns="">
          <p:sp>
            <p:nvSpPr>
              <p:cNvPr id="22" name="Hộp Văn bản 29">
                <a:extLst>
                  <a:ext uri="{FF2B5EF4-FFF2-40B4-BE49-F238E27FC236}">
                    <a16:creationId xmlns:a16="http://schemas.microsoft.com/office/drawing/2014/main" id="{E91A1580-6D49-949C-1C23-446722DD030B}"/>
                  </a:ext>
                </a:extLst>
              </p:cNvPr>
              <p:cNvSpPr txBox="1">
                <a:spLocks noRot="1" noChangeAspect="1" noMove="1" noResize="1" noEditPoints="1" noAdjustHandles="1" noChangeArrowheads="1" noChangeShapeType="1" noTextEdit="1"/>
              </p:cNvSpPr>
              <p:nvPr/>
            </p:nvSpPr>
            <p:spPr>
              <a:xfrm>
                <a:off x="10484272" y="4854202"/>
                <a:ext cx="797487" cy="369332"/>
              </a:xfrm>
              <a:prstGeom prst="rect">
                <a:avLst/>
              </a:prstGeom>
              <a:blipFill>
                <a:blip r:embed="rId9"/>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3" name="Hộp Văn bản 32">
                <a:extLst>
                  <a:ext uri="{FF2B5EF4-FFF2-40B4-BE49-F238E27FC236}">
                    <a16:creationId xmlns:a16="http://schemas.microsoft.com/office/drawing/2014/main" id="{2278C08F-608E-CA15-1990-B74FFBA9EEB0}"/>
                  </a:ext>
                </a:extLst>
              </p:cNvPr>
              <p:cNvSpPr txBox="1"/>
              <p:nvPr/>
            </p:nvSpPr>
            <p:spPr>
              <a:xfrm>
                <a:off x="10858340" y="2335615"/>
                <a:ext cx="10187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oMath>
                  </m:oMathPara>
                </a14:m>
                <a:endParaRPr lang="vi-VN"/>
              </a:p>
            </p:txBody>
          </p:sp>
        </mc:Choice>
        <mc:Fallback xmlns="">
          <p:sp>
            <p:nvSpPr>
              <p:cNvPr id="23" name="Hộp Văn bản 32">
                <a:extLst>
                  <a:ext uri="{FF2B5EF4-FFF2-40B4-BE49-F238E27FC236}">
                    <a16:creationId xmlns:a16="http://schemas.microsoft.com/office/drawing/2014/main" id="{2278C08F-608E-CA15-1990-B74FFBA9EEB0}"/>
                  </a:ext>
                </a:extLst>
              </p:cNvPr>
              <p:cNvSpPr txBox="1">
                <a:spLocks noRot="1" noChangeAspect="1" noMove="1" noResize="1" noEditPoints="1" noAdjustHandles="1" noChangeArrowheads="1" noChangeShapeType="1" noTextEdit="1"/>
              </p:cNvSpPr>
              <p:nvPr/>
            </p:nvSpPr>
            <p:spPr>
              <a:xfrm>
                <a:off x="10858340" y="2335615"/>
                <a:ext cx="1018735" cy="369332"/>
              </a:xfrm>
              <a:prstGeom prst="rect">
                <a:avLst/>
              </a:prstGeom>
              <a:blipFill>
                <a:blip r:embed="rId10"/>
                <a:stretch>
                  <a:fillRect b="-16129"/>
                </a:stretch>
              </a:blipFill>
            </p:spPr>
            <p:txBody>
              <a:bodyPr/>
              <a:lstStyle/>
              <a:p>
                <a:r>
                  <a:rPr lang="en-VN">
                    <a:noFill/>
                  </a:rPr>
                  <a:t> </a:t>
                </a:r>
              </a:p>
            </p:txBody>
          </p:sp>
        </mc:Fallback>
      </mc:AlternateContent>
      <p:cxnSp>
        <p:nvCxnSpPr>
          <p:cNvPr id="24" name="Đường nối Thẳng 33">
            <a:extLst>
              <a:ext uri="{FF2B5EF4-FFF2-40B4-BE49-F238E27FC236}">
                <a16:creationId xmlns:a16="http://schemas.microsoft.com/office/drawing/2014/main" id="{FA3B0324-1400-AFF9-5096-ABA2EE4FA99B}"/>
              </a:ext>
            </a:extLst>
          </p:cNvPr>
          <p:cNvCxnSpPr>
            <a:cxnSpLocks/>
          </p:cNvCxnSpPr>
          <p:nvPr/>
        </p:nvCxnSpPr>
        <p:spPr>
          <a:xfrm flipH="1">
            <a:off x="9459481" y="2452258"/>
            <a:ext cx="1491860" cy="165624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5" name="Đường nối Thẳng 34">
            <a:extLst>
              <a:ext uri="{FF2B5EF4-FFF2-40B4-BE49-F238E27FC236}">
                <a16:creationId xmlns:a16="http://schemas.microsoft.com/office/drawing/2014/main" id="{31602392-B6A6-3982-1C5D-4A2960DC771D}"/>
              </a:ext>
            </a:extLst>
          </p:cNvPr>
          <p:cNvCxnSpPr>
            <a:cxnSpLocks/>
          </p:cNvCxnSpPr>
          <p:nvPr/>
        </p:nvCxnSpPr>
        <p:spPr>
          <a:xfrm flipH="1" flipV="1">
            <a:off x="10622996" y="2127584"/>
            <a:ext cx="328346" cy="28291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Hộp Văn bản 35">
                <a:extLst>
                  <a:ext uri="{FF2B5EF4-FFF2-40B4-BE49-F238E27FC236}">
                    <a16:creationId xmlns:a16="http://schemas.microsoft.com/office/drawing/2014/main" id="{46C5284B-26C8-ABBE-53D9-15FF54C25C55}"/>
                  </a:ext>
                </a:extLst>
              </p:cNvPr>
              <p:cNvSpPr txBox="1"/>
              <p:nvPr/>
            </p:nvSpPr>
            <p:spPr>
              <a:xfrm>
                <a:off x="9693160" y="3970018"/>
                <a:ext cx="7487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𝛼</m:t>
                              </m:r>
                            </m:e>
                          </m:d>
                        </m:e>
                        <m:sup>
                          <m:r>
                            <a:rPr lang="en-US" b="0" i="1" smtClean="0">
                              <a:latin typeface="Cambria Math" panose="02040503050406030204" pitchFamily="18" charset="0"/>
                            </a:rPr>
                            <m:t>2</m:t>
                          </m:r>
                        </m:sup>
                      </m:sSup>
                    </m:oMath>
                  </m:oMathPara>
                </a14:m>
                <a:endParaRPr lang="vi-VN"/>
              </a:p>
            </p:txBody>
          </p:sp>
        </mc:Choice>
        <mc:Fallback xmlns="">
          <p:sp>
            <p:nvSpPr>
              <p:cNvPr id="26" name="Hộp Văn bản 35">
                <a:extLst>
                  <a:ext uri="{FF2B5EF4-FFF2-40B4-BE49-F238E27FC236}">
                    <a16:creationId xmlns:a16="http://schemas.microsoft.com/office/drawing/2014/main" id="{46C5284B-26C8-ABBE-53D9-15FF54C25C55}"/>
                  </a:ext>
                </a:extLst>
              </p:cNvPr>
              <p:cNvSpPr txBox="1">
                <a:spLocks noRot="1" noChangeAspect="1" noMove="1" noResize="1" noEditPoints="1" noAdjustHandles="1" noChangeArrowheads="1" noChangeShapeType="1" noTextEdit="1"/>
              </p:cNvSpPr>
              <p:nvPr/>
            </p:nvSpPr>
            <p:spPr>
              <a:xfrm>
                <a:off x="9693160" y="3970018"/>
                <a:ext cx="748713" cy="369332"/>
              </a:xfrm>
              <a:prstGeom prst="rect">
                <a:avLst/>
              </a:prstGeom>
              <a:blipFill>
                <a:blip r:embed="rId11"/>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7" name="Hộp Văn bản 36">
                <a:extLst>
                  <a:ext uri="{FF2B5EF4-FFF2-40B4-BE49-F238E27FC236}">
                    <a16:creationId xmlns:a16="http://schemas.microsoft.com/office/drawing/2014/main" id="{A28148DF-805B-CCAE-BBC9-A1DF7542ECB1}"/>
                  </a:ext>
                </a:extLst>
              </p:cNvPr>
              <p:cNvSpPr txBox="1"/>
              <p:nvPr/>
            </p:nvSpPr>
            <p:spPr>
              <a:xfrm>
                <a:off x="9874283" y="1674185"/>
                <a:ext cx="74871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𝛽</m:t>
                              </m:r>
                            </m:e>
                          </m:d>
                        </m:e>
                        <m:sup>
                          <m:r>
                            <a:rPr lang="en-US" b="0" i="1" smtClean="0">
                              <a:latin typeface="Cambria Math" panose="02040503050406030204" pitchFamily="18" charset="0"/>
                            </a:rPr>
                            <m:t>2</m:t>
                          </m:r>
                        </m:sup>
                      </m:sSup>
                    </m:oMath>
                  </m:oMathPara>
                </a14:m>
                <a:endParaRPr lang="vi-VN"/>
              </a:p>
            </p:txBody>
          </p:sp>
        </mc:Choice>
        <mc:Fallback xmlns="">
          <p:sp>
            <p:nvSpPr>
              <p:cNvPr id="27" name="Hộp Văn bản 36">
                <a:extLst>
                  <a:ext uri="{FF2B5EF4-FFF2-40B4-BE49-F238E27FC236}">
                    <a16:creationId xmlns:a16="http://schemas.microsoft.com/office/drawing/2014/main" id="{A28148DF-805B-CCAE-BBC9-A1DF7542ECB1}"/>
                  </a:ext>
                </a:extLst>
              </p:cNvPr>
              <p:cNvSpPr txBox="1">
                <a:spLocks noRot="1" noChangeAspect="1" noMove="1" noResize="1" noEditPoints="1" noAdjustHandles="1" noChangeArrowheads="1" noChangeShapeType="1" noTextEdit="1"/>
              </p:cNvSpPr>
              <p:nvPr/>
            </p:nvSpPr>
            <p:spPr>
              <a:xfrm>
                <a:off x="9874283" y="1674185"/>
                <a:ext cx="748713" cy="369332"/>
              </a:xfrm>
              <a:prstGeom prst="rect">
                <a:avLst/>
              </a:prstGeom>
              <a:blipFill>
                <a:blip r:embed="rId12"/>
                <a:stretch>
                  <a:fillRect b="-2069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8" name="Hộp Văn bản 45">
                <a:extLst>
                  <a:ext uri="{FF2B5EF4-FFF2-40B4-BE49-F238E27FC236}">
                    <a16:creationId xmlns:a16="http://schemas.microsoft.com/office/drawing/2014/main" id="{BF415A64-D744-8B39-8E28-D2A613B6254E}"/>
                  </a:ext>
                </a:extLst>
              </p:cNvPr>
              <p:cNvSpPr txBox="1"/>
              <p:nvPr/>
            </p:nvSpPr>
            <p:spPr>
              <a:xfrm>
                <a:off x="11440337" y="933990"/>
                <a:ext cx="59670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oMath>
                  </m:oMathPara>
                </a14:m>
                <a:endParaRPr lang="vi-VN"/>
              </a:p>
            </p:txBody>
          </p:sp>
        </mc:Choice>
        <mc:Fallback xmlns="">
          <p:sp>
            <p:nvSpPr>
              <p:cNvPr id="28" name="Hộp Văn bản 45">
                <a:extLst>
                  <a:ext uri="{FF2B5EF4-FFF2-40B4-BE49-F238E27FC236}">
                    <a16:creationId xmlns:a16="http://schemas.microsoft.com/office/drawing/2014/main" id="{BF415A64-D744-8B39-8E28-D2A613B6254E}"/>
                  </a:ext>
                </a:extLst>
              </p:cNvPr>
              <p:cNvSpPr txBox="1">
                <a:spLocks noRot="1" noChangeAspect="1" noMove="1" noResize="1" noEditPoints="1" noAdjustHandles="1" noChangeArrowheads="1" noChangeShapeType="1" noTextEdit="1"/>
              </p:cNvSpPr>
              <p:nvPr/>
            </p:nvSpPr>
            <p:spPr>
              <a:xfrm>
                <a:off x="11440337" y="933990"/>
                <a:ext cx="596705" cy="369332"/>
              </a:xfrm>
              <a:prstGeom prst="rect">
                <a:avLst/>
              </a:prstGeom>
              <a:blipFill>
                <a:blip r:embed="rId13"/>
                <a:stretch>
                  <a:fillRect/>
                </a:stretch>
              </a:blipFill>
            </p:spPr>
            <p:txBody>
              <a:bodyPr/>
              <a:lstStyle/>
              <a:p>
                <a:r>
                  <a:rPr lang="en-VN">
                    <a:noFill/>
                  </a:rPr>
                  <a:t> </a:t>
                </a:r>
              </a:p>
            </p:txBody>
          </p:sp>
        </mc:Fallback>
      </mc:AlternateContent>
      <p:cxnSp>
        <p:nvCxnSpPr>
          <p:cNvPr id="29" name="Đường kết nối Mũi tên Thẳng 50">
            <a:extLst>
              <a:ext uri="{FF2B5EF4-FFF2-40B4-BE49-F238E27FC236}">
                <a16:creationId xmlns:a16="http://schemas.microsoft.com/office/drawing/2014/main" id="{29384F44-F70F-DA4E-9C70-40127A6311DD}"/>
              </a:ext>
            </a:extLst>
          </p:cNvPr>
          <p:cNvCxnSpPr>
            <a:cxnSpLocks/>
          </p:cNvCxnSpPr>
          <p:nvPr/>
        </p:nvCxnSpPr>
        <p:spPr>
          <a:xfrm flipV="1">
            <a:off x="9080727" y="2390034"/>
            <a:ext cx="1936359" cy="137195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F8D52C2-2065-4B10-8DB4-AEBF4E5209D0}"/>
                  </a:ext>
                </a:extLst>
              </p:cNvPr>
              <p:cNvSpPr txBox="1"/>
              <p:nvPr/>
            </p:nvSpPr>
            <p:spPr>
              <a:xfrm>
                <a:off x="8197976" y="3293534"/>
                <a:ext cx="756617"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5400" b="0" i="1">
                          <a:latin typeface="Cambria Math" panose="02040503050406030204" pitchFamily="18" charset="0"/>
                        </a:rPr>
                        <m:t>⇒</m:t>
                      </m:r>
                    </m:oMath>
                  </m:oMathPara>
                </a14:m>
                <a:endParaRPr lang="en-VN" sz="5400"/>
              </a:p>
            </p:txBody>
          </p:sp>
        </mc:Choice>
        <mc:Fallback xmlns="">
          <p:sp>
            <p:nvSpPr>
              <p:cNvPr id="30" name="TextBox 29">
                <a:extLst>
                  <a:ext uri="{FF2B5EF4-FFF2-40B4-BE49-F238E27FC236}">
                    <a16:creationId xmlns:a16="http://schemas.microsoft.com/office/drawing/2014/main" id="{AF8D52C2-2065-4B10-8DB4-AEBF4E5209D0}"/>
                  </a:ext>
                </a:extLst>
              </p:cNvPr>
              <p:cNvSpPr txBox="1">
                <a:spLocks noRot="1" noChangeAspect="1" noMove="1" noResize="1" noEditPoints="1" noAdjustHandles="1" noChangeArrowheads="1" noChangeShapeType="1" noTextEdit="1"/>
              </p:cNvSpPr>
              <p:nvPr/>
            </p:nvSpPr>
            <p:spPr>
              <a:xfrm>
                <a:off x="8197976" y="3293534"/>
                <a:ext cx="756617" cy="830997"/>
              </a:xfrm>
              <a:prstGeom prst="rect">
                <a:avLst/>
              </a:prstGeom>
              <a:blipFill>
                <a:blip r:embed="rId14"/>
                <a:stretch>
                  <a:fillRect l="-14754" r="-13115"/>
                </a:stretch>
              </a:blipFill>
            </p:spPr>
            <p:txBody>
              <a:bodyPr/>
              <a:lstStyle/>
              <a:p>
                <a:r>
                  <a:rPr lang="en-VN">
                    <a:noFill/>
                  </a:rPr>
                  <a:t> </a:t>
                </a:r>
              </a:p>
            </p:txBody>
          </p:sp>
        </mc:Fallback>
      </mc:AlternateContent>
    </p:spTree>
    <p:extLst>
      <p:ext uri="{BB962C8B-B14F-4D97-AF65-F5344CB8AC3E}">
        <p14:creationId xmlns:p14="http://schemas.microsoft.com/office/powerpoint/2010/main" val="2760850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3752E-E168-7B54-FC32-D0B808B5282F}"/>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F3DF81D7-8CE8-3809-55E9-6347395DF5DA}"/>
              </a:ext>
            </a:extLst>
          </p:cNvPr>
          <p:cNvSpPr>
            <a:spLocks noGrp="1"/>
          </p:cNvSpPr>
          <p:nvPr>
            <p:ph type="title"/>
          </p:nvPr>
        </p:nvSpPr>
        <p:spPr/>
        <p:txBody>
          <a:bodyPr/>
          <a:lstStyle/>
          <a:p>
            <a:r>
              <a:rPr lang="en-US"/>
              <a:t>Quantum circuit: single qubit</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862500AF-5FE2-008D-80A9-80325A7A68CC}"/>
                  </a:ext>
                </a:extLst>
              </p:cNvPr>
              <p:cNvSpPr>
                <a:spLocks noGrp="1"/>
              </p:cNvSpPr>
              <p:nvPr>
                <p:ph idx="1"/>
              </p:nvPr>
            </p:nvSpPr>
            <p:spPr>
              <a:xfrm>
                <a:off x="1091682" y="1784139"/>
                <a:ext cx="2743200" cy="853020"/>
              </a:xfrm>
            </p:spPr>
            <p:txBody>
              <a:bodyPr>
                <a:normAutofit/>
              </a:bodyPr>
              <a:lstStyle/>
              <a:p>
                <a:pPr marL="0" indent="0">
                  <a:buNone/>
                </a:pP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d>
                      <m:dPr>
                        <m:begChr m:val="|"/>
                        <m:endChr m:val="⟩"/>
                        <m:ctrlPr>
                          <a:rPr lang="vi-VN" b="0" i="1" smtClean="0">
                            <a:latin typeface="Cambria Math" panose="02040503050406030204" pitchFamily="18" charset="0"/>
                          </a:rPr>
                        </m:ctrlPr>
                      </m:dPr>
                      <m:e>
                        <m:r>
                          <a:rPr lang="vi-VN" b="0" i="1" smtClean="0">
                            <a:latin typeface="Cambria Math" panose="02040503050406030204" pitchFamily="18" charset="0"/>
                          </a:rPr>
                          <m:t>0</m:t>
                        </m:r>
                      </m:e>
                    </m:d>
                    <m:r>
                      <a:rPr lang="vi-VN" b="0" i="1" smtClean="0">
                        <a:latin typeface="Cambria Math" panose="02040503050406030204" pitchFamily="18" charset="0"/>
                      </a:rPr>
                      <m:t>=</m:t>
                    </m:r>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0</m:t>
                              </m:r>
                            </m:e>
                          </m:mr>
                        </m:m>
                      </m:e>
                    </m:d>
                  </m:oMath>
                </a14:m>
                <a:r>
                  <a:rPr lang="en-US"/>
                  <a:t> </a:t>
                </a:r>
              </a:p>
            </p:txBody>
          </p:sp>
        </mc:Choice>
        <mc:Fallback xmlns="">
          <p:sp>
            <p:nvSpPr>
              <p:cNvPr id="3" name="Chỗ dành sẵn cho Nội dung 2">
                <a:extLst>
                  <a:ext uri="{FF2B5EF4-FFF2-40B4-BE49-F238E27FC236}">
                    <a16:creationId xmlns:a16="http://schemas.microsoft.com/office/drawing/2014/main" id="{862500AF-5FE2-008D-80A9-80325A7A68CC}"/>
                  </a:ext>
                </a:extLst>
              </p:cNvPr>
              <p:cNvSpPr>
                <a:spLocks noGrp="1" noRot="1" noChangeAspect="1" noMove="1" noResize="1" noEditPoints="1" noAdjustHandles="1" noChangeArrowheads="1" noChangeShapeType="1" noTextEdit="1"/>
              </p:cNvSpPr>
              <p:nvPr>
                <p:ph idx="1"/>
              </p:nvPr>
            </p:nvSpPr>
            <p:spPr>
              <a:xfrm>
                <a:off x="1091682" y="1784139"/>
                <a:ext cx="2743200" cy="853020"/>
              </a:xfrm>
              <a:blipFill>
                <a:blip r:embed="rId2"/>
                <a:stretch>
                  <a:fillRect/>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40EBCA74-4A76-29DA-69EB-D5D934178FAF}"/>
              </a:ext>
            </a:extLst>
          </p:cNvPr>
          <p:cNvSpPr>
            <a:spLocks noGrp="1"/>
          </p:cNvSpPr>
          <p:nvPr>
            <p:ph type="sldNum" sz="quarter" idx="12"/>
          </p:nvPr>
        </p:nvSpPr>
        <p:spPr/>
        <p:txBody>
          <a:bodyPr/>
          <a:lstStyle/>
          <a:p>
            <a:fld id="{71331178-9F85-4EDF-BDD3-1E7064DA4C59}" type="slidenum">
              <a:rPr lang="vi-VN" smtClean="0"/>
              <a:t>12</a:t>
            </a:fld>
            <a:endParaRPr lang="vi-VN"/>
          </a:p>
        </p:txBody>
      </p:sp>
      <p:cxnSp>
        <p:nvCxnSpPr>
          <p:cNvPr id="6" name="Straight Connector 5">
            <a:extLst>
              <a:ext uri="{FF2B5EF4-FFF2-40B4-BE49-F238E27FC236}">
                <a16:creationId xmlns:a16="http://schemas.microsoft.com/office/drawing/2014/main" id="{46629E42-ED1E-37E2-9B30-37B1DCF297A9}"/>
              </a:ext>
            </a:extLst>
          </p:cNvPr>
          <p:cNvCxnSpPr>
            <a:cxnSpLocks/>
          </p:cNvCxnSpPr>
          <p:nvPr/>
        </p:nvCxnSpPr>
        <p:spPr>
          <a:xfrm>
            <a:off x="6735694" y="2168847"/>
            <a:ext cx="1601208" cy="0"/>
          </a:xfrm>
          <a:prstGeom prst="line">
            <a:avLst/>
          </a:prstGeom>
          <a:ln w="38100"/>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7ED308C9-DE58-2EC0-434B-147CFD80FDE0}"/>
              </a:ext>
            </a:extLst>
          </p:cNvPr>
          <p:cNvSpPr/>
          <p:nvPr/>
        </p:nvSpPr>
        <p:spPr>
          <a:xfrm>
            <a:off x="5897494" y="1900866"/>
            <a:ext cx="2649347" cy="54806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9" name="Chỗ dành sẵn cho Nội dung 2">
                <a:extLst>
                  <a:ext uri="{FF2B5EF4-FFF2-40B4-BE49-F238E27FC236}">
                    <a16:creationId xmlns:a16="http://schemas.microsoft.com/office/drawing/2014/main" id="{4462BCC4-C9BA-3884-E9BC-8C5E375F15D6}"/>
                  </a:ext>
                </a:extLst>
              </p:cNvPr>
              <p:cNvSpPr txBox="1">
                <a:spLocks/>
              </p:cNvSpPr>
              <p:nvPr/>
            </p:nvSpPr>
            <p:spPr>
              <a:xfrm>
                <a:off x="5897494" y="1928237"/>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9" name="Chỗ dành sẵn cho Nội dung 2">
                <a:extLst>
                  <a:ext uri="{FF2B5EF4-FFF2-40B4-BE49-F238E27FC236}">
                    <a16:creationId xmlns:a16="http://schemas.microsoft.com/office/drawing/2014/main" id="{4462BCC4-C9BA-3884-E9BC-8C5E375F15D6}"/>
                  </a:ext>
                </a:extLst>
              </p:cNvPr>
              <p:cNvSpPr txBox="1">
                <a:spLocks noRot="1" noChangeAspect="1" noMove="1" noResize="1" noEditPoints="1" noAdjustHandles="1" noChangeArrowheads="1" noChangeShapeType="1" noTextEdit="1"/>
              </p:cNvSpPr>
              <p:nvPr/>
            </p:nvSpPr>
            <p:spPr>
              <a:xfrm>
                <a:off x="5897494" y="1928237"/>
                <a:ext cx="850557" cy="542753"/>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Chỗ dành sẵn cho Nội dung 2">
                <a:extLst>
                  <a:ext uri="{FF2B5EF4-FFF2-40B4-BE49-F238E27FC236}">
                    <a16:creationId xmlns:a16="http://schemas.microsoft.com/office/drawing/2014/main" id="{EFA17F4E-BA08-F8C2-BBC3-631B14FD1648}"/>
                  </a:ext>
                </a:extLst>
              </p:cNvPr>
              <p:cNvSpPr txBox="1">
                <a:spLocks/>
              </p:cNvSpPr>
              <p:nvPr/>
            </p:nvSpPr>
            <p:spPr>
              <a:xfrm>
                <a:off x="838200" y="3156805"/>
                <a:ext cx="3869094" cy="10905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𝑋</m:t>
                    </m:r>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𝜓</m:t>
                        </m:r>
                      </m:e>
                    </m:d>
                    <m:r>
                      <a:rPr lang="en-US"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d>
                      <m:dPr>
                        <m:begChr m:val="["/>
                        <m:endChr m:val="]"/>
                        <m:ctrlPr>
                          <a:rPr lang="vi-VN" i="1" smtClean="0">
                            <a:latin typeface="Cambria Math" panose="02040503050406030204" pitchFamily="18" charset="0"/>
                          </a:rPr>
                        </m:ctrlPr>
                      </m:dPr>
                      <m:e>
                        <m:m>
                          <m:mPr>
                            <m:mcs>
                              <m:mc>
                                <m:mcPr>
                                  <m:count m:val="1"/>
                                  <m:mcJc m:val="center"/>
                                </m:mcPr>
                              </m:mc>
                            </m:mcs>
                            <m:ctrlPr>
                              <a:rPr lang="vi-VN" i="1" smtClean="0">
                                <a:latin typeface="Cambria Math" panose="02040503050406030204" pitchFamily="18" charset="0"/>
                              </a:rPr>
                            </m:ctrlPr>
                          </m:mPr>
                          <m:mr>
                            <m:e>
                              <m:r>
                                <m:rPr>
                                  <m:brk m:alnAt="7"/>
                                </m:rPr>
                                <a:rPr lang="vi-VN" i="1" smtClean="0">
                                  <a:latin typeface="Cambria Math" panose="02040503050406030204" pitchFamily="18" charset="0"/>
                                </a:rPr>
                                <m:t>1</m:t>
                              </m:r>
                            </m:e>
                          </m:mr>
                          <m:mr>
                            <m:e>
                              <m:r>
                                <a:rPr lang="vi-VN" i="1" smtClean="0">
                                  <a:latin typeface="Cambria Math" panose="02040503050406030204" pitchFamily="18" charset="0"/>
                                </a:rPr>
                                <m:t>0</m:t>
                              </m:r>
                            </m:e>
                          </m:mr>
                        </m:m>
                      </m:e>
                    </m:d>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1</m:t>
                              </m:r>
                            </m:e>
                          </m:mr>
                        </m:m>
                      </m:e>
                    </m:d>
                  </m:oMath>
                </a14:m>
                <a:r>
                  <a:rPr lang="en-US"/>
                  <a:t> </a:t>
                </a:r>
              </a:p>
            </p:txBody>
          </p:sp>
        </mc:Choice>
        <mc:Fallback xmlns="">
          <p:sp>
            <p:nvSpPr>
              <p:cNvPr id="5" name="Chỗ dành sẵn cho Nội dung 2">
                <a:extLst>
                  <a:ext uri="{FF2B5EF4-FFF2-40B4-BE49-F238E27FC236}">
                    <a16:creationId xmlns:a16="http://schemas.microsoft.com/office/drawing/2014/main" id="{EFA17F4E-BA08-F8C2-BBC3-631B14FD1648}"/>
                  </a:ext>
                </a:extLst>
              </p:cNvPr>
              <p:cNvSpPr txBox="1">
                <a:spLocks noRot="1" noChangeAspect="1" noMove="1" noResize="1" noEditPoints="1" noAdjustHandles="1" noChangeArrowheads="1" noChangeShapeType="1" noTextEdit="1"/>
              </p:cNvSpPr>
              <p:nvPr/>
            </p:nvSpPr>
            <p:spPr>
              <a:xfrm>
                <a:off x="838200" y="3156805"/>
                <a:ext cx="3869094" cy="1090570"/>
              </a:xfrm>
              <a:prstGeom prst="rect">
                <a:avLst/>
              </a:prstGeom>
              <a:blipFill>
                <a:blip r:embed="rId4"/>
                <a:stretch>
                  <a:fillRect/>
                </a:stretch>
              </a:blipFill>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D28FC4DB-3429-1B29-92F8-690773F67D5D}"/>
              </a:ext>
            </a:extLst>
          </p:cNvPr>
          <p:cNvCxnSpPr>
            <a:cxnSpLocks/>
          </p:cNvCxnSpPr>
          <p:nvPr/>
        </p:nvCxnSpPr>
        <p:spPr>
          <a:xfrm>
            <a:off x="6735694" y="3537112"/>
            <a:ext cx="1083359" cy="0"/>
          </a:xfrm>
          <a:prstGeom prst="line">
            <a:avLst/>
          </a:prstGeom>
          <a:ln w="38100"/>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C44A4024-500B-026E-E3F4-F0B792E7309B}"/>
              </a:ext>
            </a:extLst>
          </p:cNvPr>
          <p:cNvSpPr/>
          <p:nvPr/>
        </p:nvSpPr>
        <p:spPr>
          <a:xfrm>
            <a:off x="5897494" y="2981131"/>
            <a:ext cx="2649347" cy="1143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4" name="Chỗ dành sẵn cho Nội dung 2">
                <a:extLst>
                  <a:ext uri="{FF2B5EF4-FFF2-40B4-BE49-F238E27FC236}">
                    <a16:creationId xmlns:a16="http://schemas.microsoft.com/office/drawing/2014/main" id="{708A3C9A-9B72-6C84-7FB7-96B73A7B8434}"/>
                  </a:ext>
                </a:extLst>
              </p:cNvPr>
              <p:cNvSpPr txBox="1">
                <a:spLocks/>
              </p:cNvSpPr>
              <p:nvPr/>
            </p:nvSpPr>
            <p:spPr>
              <a:xfrm>
                <a:off x="5897494" y="3296502"/>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14" name="Chỗ dành sẵn cho Nội dung 2">
                <a:extLst>
                  <a:ext uri="{FF2B5EF4-FFF2-40B4-BE49-F238E27FC236}">
                    <a16:creationId xmlns:a16="http://schemas.microsoft.com/office/drawing/2014/main" id="{708A3C9A-9B72-6C84-7FB7-96B73A7B8434}"/>
                  </a:ext>
                </a:extLst>
              </p:cNvPr>
              <p:cNvSpPr txBox="1">
                <a:spLocks noRot="1" noChangeAspect="1" noMove="1" noResize="1" noEditPoints="1" noAdjustHandles="1" noChangeArrowheads="1" noChangeShapeType="1" noTextEdit="1"/>
              </p:cNvSpPr>
              <p:nvPr/>
            </p:nvSpPr>
            <p:spPr>
              <a:xfrm>
                <a:off x="5897494" y="3296502"/>
                <a:ext cx="850557" cy="542753"/>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AE948C12-AA56-567C-EF4D-8B62700E81DD}"/>
                  </a:ext>
                </a:extLst>
              </p:cNvPr>
              <p:cNvSpPr/>
              <p:nvPr/>
            </p:nvSpPr>
            <p:spPr>
              <a:xfrm>
                <a:off x="7015018" y="3359918"/>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𝑋</m:t>
                      </m:r>
                    </m:oMath>
                  </m:oMathPara>
                </a14:m>
                <a:endParaRPr lang="vi-VN" sz="2400">
                  <a:solidFill>
                    <a:schemeClr val="tx1"/>
                  </a:solidFill>
                </a:endParaRPr>
              </a:p>
            </p:txBody>
          </p:sp>
        </mc:Choice>
        <mc:Fallback xmlns="">
          <p:sp>
            <p:nvSpPr>
              <p:cNvPr id="18" name="Rectangle 17">
                <a:extLst>
                  <a:ext uri="{FF2B5EF4-FFF2-40B4-BE49-F238E27FC236}">
                    <a16:creationId xmlns:a16="http://schemas.microsoft.com/office/drawing/2014/main" id="{AE948C12-AA56-567C-EF4D-8B62700E81DD}"/>
                  </a:ext>
                </a:extLst>
              </p:cNvPr>
              <p:cNvSpPr>
                <a:spLocks noRot="1" noChangeAspect="1" noMove="1" noResize="1" noEditPoints="1" noAdjustHandles="1" noChangeArrowheads="1" noChangeShapeType="1" noTextEdit="1"/>
              </p:cNvSpPr>
              <p:nvPr/>
            </p:nvSpPr>
            <p:spPr>
              <a:xfrm>
                <a:off x="7015018" y="3359918"/>
                <a:ext cx="475673" cy="355600"/>
              </a:xfrm>
              <a:prstGeom prst="rect">
                <a:avLst/>
              </a:prstGeom>
              <a:blipFill>
                <a:blip r:embed="rId6"/>
                <a:stretch>
                  <a:fillRect b="-983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1" name="Chỗ dành sẵn cho Nội dung 2">
                <a:extLst>
                  <a:ext uri="{FF2B5EF4-FFF2-40B4-BE49-F238E27FC236}">
                    <a16:creationId xmlns:a16="http://schemas.microsoft.com/office/drawing/2014/main" id="{807D309B-12CE-5911-A480-F1DFC522E0B7}"/>
                  </a:ext>
                </a:extLst>
              </p:cNvPr>
              <p:cNvSpPr txBox="1">
                <a:spLocks/>
              </p:cNvSpPr>
              <p:nvPr/>
            </p:nvSpPr>
            <p:spPr>
              <a:xfrm>
                <a:off x="7755167" y="3292942"/>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en-US" b="0" i="1" smtClean="0">
                              <a:latin typeface="Cambria Math" panose="02040503050406030204" pitchFamily="18" charset="0"/>
                            </a:rPr>
                            <m:t>1</m:t>
                          </m:r>
                        </m:e>
                      </m:d>
                    </m:oMath>
                  </m:oMathPara>
                </a14:m>
                <a:endParaRPr lang="en-US"/>
              </a:p>
            </p:txBody>
          </p:sp>
        </mc:Choice>
        <mc:Fallback xmlns="">
          <p:sp>
            <p:nvSpPr>
              <p:cNvPr id="21" name="Chỗ dành sẵn cho Nội dung 2">
                <a:extLst>
                  <a:ext uri="{FF2B5EF4-FFF2-40B4-BE49-F238E27FC236}">
                    <a16:creationId xmlns:a16="http://schemas.microsoft.com/office/drawing/2014/main" id="{807D309B-12CE-5911-A480-F1DFC522E0B7}"/>
                  </a:ext>
                </a:extLst>
              </p:cNvPr>
              <p:cNvSpPr txBox="1">
                <a:spLocks noRot="1" noChangeAspect="1" noMove="1" noResize="1" noEditPoints="1" noAdjustHandles="1" noChangeArrowheads="1" noChangeShapeType="1" noTextEdit="1"/>
              </p:cNvSpPr>
              <p:nvPr/>
            </p:nvSpPr>
            <p:spPr>
              <a:xfrm>
                <a:off x="7755167" y="3292942"/>
                <a:ext cx="850557" cy="542753"/>
              </a:xfrm>
              <a:prstGeom prst="rect">
                <a:avLst/>
              </a:prstGeom>
              <a:blipFill>
                <a:blip r:embed="rId7"/>
                <a:stretch>
                  <a:fillRect/>
                </a:stretch>
              </a:blipFill>
            </p:spPr>
            <p:txBody>
              <a:bodyPr/>
              <a:lstStyle/>
              <a:p>
                <a:r>
                  <a:rPr lang="vi-VN">
                    <a:noFill/>
                  </a:rPr>
                  <a:t> </a:t>
                </a:r>
              </a:p>
            </p:txBody>
          </p:sp>
        </mc:Fallback>
      </mc:AlternateContent>
      <p:sp>
        <p:nvSpPr>
          <p:cNvPr id="22" name="Rectangle 21">
            <a:extLst>
              <a:ext uri="{FF2B5EF4-FFF2-40B4-BE49-F238E27FC236}">
                <a16:creationId xmlns:a16="http://schemas.microsoft.com/office/drawing/2014/main" id="{B85D0AC7-945B-3F93-DF4A-EE3F0142C7AA}"/>
              </a:ext>
            </a:extLst>
          </p:cNvPr>
          <p:cNvSpPr/>
          <p:nvPr/>
        </p:nvSpPr>
        <p:spPr>
          <a:xfrm>
            <a:off x="838200" y="3292941"/>
            <a:ext cx="875145" cy="5427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3" name="Chỗ dành sẵn cho Nội dung 2">
                <a:extLst>
                  <a:ext uri="{FF2B5EF4-FFF2-40B4-BE49-F238E27FC236}">
                    <a16:creationId xmlns:a16="http://schemas.microsoft.com/office/drawing/2014/main" id="{E01F9926-54F7-7844-B536-1D0F851A86AB}"/>
                  </a:ext>
                </a:extLst>
              </p:cNvPr>
              <p:cNvSpPr txBox="1">
                <a:spLocks/>
              </p:cNvSpPr>
              <p:nvPr/>
            </p:nvSpPr>
            <p:spPr>
              <a:xfrm>
                <a:off x="802432" y="4077478"/>
                <a:ext cx="1069280"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FF0000"/>
                              </a:solidFill>
                              <a:latin typeface="Cambria Math" panose="02040503050406030204" pitchFamily="18" charset="0"/>
                            </a:rPr>
                          </m:ctrlPr>
                        </m:dPr>
                        <m:e>
                          <m:r>
                            <a:rPr lang="en-US" i="1" smtClean="0">
                              <a:solidFill>
                                <a:srgbClr val="FF0000"/>
                              </a:solidFill>
                              <a:latin typeface="Cambria Math" panose="02040503050406030204" pitchFamily="18" charset="0"/>
                            </a:rPr>
                            <m:t>𝜓</m:t>
                          </m:r>
                          <m:r>
                            <a:rPr lang="en-US" b="0" i="1" smtClean="0">
                              <a:solidFill>
                                <a:srgbClr val="FF0000"/>
                              </a:solidFill>
                              <a:latin typeface="Cambria Math" panose="02040503050406030204" pitchFamily="18" charset="0"/>
                            </a:rPr>
                            <m:t>′</m:t>
                          </m:r>
                        </m:e>
                      </m:d>
                    </m:oMath>
                  </m:oMathPara>
                </a14:m>
                <a:endParaRPr lang="en-US">
                  <a:solidFill>
                    <a:srgbClr val="FF0000"/>
                  </a:solidFill>
                </a:endParaRPr>
              </a:p>
            </p:txBody>
          </p:sp>
        </mc:Choice>
        <mc:Fallback xmlns="">
          <p:sp>
            <p:nvSpPr>
              <p:cNvPr id="23" name="Chỗ dành sẵn cho Nội dung 2">
                <a:extLst>
                  <a:ext uri="{FF2B5EF4-FFF2-40B4-BE49-F238E27FC236}">
                    <a16:creationId xmlns:a16="http://schemas.microsoft.com/office/drawing/2014/main" id="{E01F9926-54F7-7844-B536-1D0F851A86AB}"/>
                  </a:ext>
                </a:extLst>
              </p:cNvPr>
              <p:cNvSpPr txBox="1">
                <a:spLocks noRot="1" noChangeAspect="1" noMove="1" noResize="1" noEditPoints="1" noAdjustHandles="1" noChangeArrowheads="1" noChangeShapeType="1" noTextEdit="1"/>
              </p:cNvSpPr>
              <p:nvPr/>
            </p:nvSpPr>
            <p:spPr>
              <a:xfrm>
                <a:off x="802432" y="4077478"/>
                <a:ext cx="1069280" cy="542753"/>
              </a:xfrm>
              <a:prstGeom prst="rect">
                <a:avLst/>
              </a:prstGeom>
              <a:blipFill>
                <a:blip r:embed="rId8"/>
                <a:stretch>
                  <a:fillRect b="-5618"/>
                </a:stretch>
              </a:blipFill>
            </p:spPr>
            <p:txBody>
              <a:bodyPr/>
              <a:lstStyle/>
              <a:p>
                <a:r>
                  <a:rPr lang="vi-VN">
                    <a:noFill/>
                  </a:rPr>
                  <a:t> </a:t>
                </a:r>
              </a:p>
            </p:txBody>
          </p:sp>
        </mc:Fallback>
      </mc:AlternateContent>
      <p:sp>
        <p:nvSpPr>
          <p:cNvPr id="24" name="Left Brace 23">
            <a:extLst>
              <a:ext uri="{FF2B5EF4-FFF2-40B4-BE49-F238E27FC236}">
                <a16:creationId xmlns:a16="http://schemas.microsoft.com/office/drawing/2014/main" id="{FE678839-58FF-7311-B781-A680FFAF04E9}"/>
              </a:ext>
            </a:extLst>
          </p:cNvPr>
          <p:cNvSpPr/>
          <p:nvPr/>
        </p:nvSpPr>
        <p:spPr>
          <a:xfrm rot="16200000">
            <a:off x="1172805" y="3550774"/>
            <a:ext cx="205933" cy="845127"/>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5" name="Chỗ dành sẵn cho Nội dung 2">
                <a:extLst>
                  <a:ext uri="{FF2B5EF4-FFF2-40B4-BE49-F238E27FC236}">
                    <a16:creationId xmlns:a16="http://schemas.microsoft.com/office/drawing/2014/main" id="{D5B3956B-7C5C-8F6B-6D27-5F30747B6E47}"/>
                  </a:ext>
                </a:extLst>
              </p:cNvPr>
              <p:cNvSpPr txBox="1">
                <a:spLocks/>
              </p:cNvSpPr>
              <p:nvPr/>
            </p:nvSpPr>
            <p:spPr>
              <a:xfrm>
                <a:off x="-391885" y="4548347"/>
                <a:ext cx="9046028" cy="10905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𝐻𝑋</m:t>
                      </m:r>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𝜓</m:t>
                          </m:r>
                        </m:e>
                      </m:d>
                      <m:r>
                        <a:rPr lang="en-US"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mr>
                          </m:m>
                        </m:e>
                      </m:d>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d>
                        <m:dPr>
                          <m:begChr m:val="["/>
                          <m:endChr m:val="]"/>
                          <m:ctrlPr>
                            <a:rPr lang="vi-VN" i="1" smtClean="0">
                              <a:latin typeface="Cambria Math" panose="02040503050406030204" pitchFamily="18" charset="0"/>
                            </a:rPr>
                          </m:ctrlPr>
                        </m:dPr>
                        <m:e>
                          <m:m>
                            <m:mPr>
                              <m:mcs>
                                <m:mc>
                                  <m:mcPr>
                                    <m:count m:val="1"/>
                                    <m:mcJc m:val="center"/>
                                  </m:mcPr>
                                </m:mc>
                              </m:mcs>
                              <m:ctrlPr>
                                <a:rPr lang="vi-VN" i="1" smtClean="0">
                                  <a:latin typeface="Cambria Math" panose="02040503050406030204" pitchFamily="18" charset="0"/>
                                </a:rPr>
                              </m:ctrlPr>
                            </m:mPr>
                            <m:mr>
                              <m:e>
                                <m:r>
                                  <m:rPr>
                                    <m:brk m:alnAt="7"/>
                                  </m:rPr>
                                  <a:rPr lang="vi-VN" i="1" smtClean="0">
                                    <a:latin typeface="Cambria Math" panose="02040503050406030204" pitchFamily="18" charset="0"/>
                                  </a:rPr>
                                  <m:t>1</m:t>
                                </m:r>
                              </m:e>
                            </m:mr>
                            <m:mr>
                              <m:e>
                                <m:r>
                                  <a:rPr lang="vi-VN" i="1" smtClean="0">
                                    <a:latin typeface="Cambria Math" panose="02040503050406030204" pitchFamily="18" charset="0"/>
                                  </a:rPr>
                                  <m:t>0</m:t>
                                </m:r>
                              </m:e>
                            </m:mr>
                          </m:m>
                        </m:e>
                      </m:d>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−1</m:t>
                                    </m:r>
                                  </m:e>
                                </m:mr>
                              </m:m>
                            </m:e>
                          </m:d>
                        </m:e>
                      </m:d>
                    </m:oMath>
                  </m:oMathPara>
                </a14:m>
                <a:endParaRPr lang="en-US"/>
              </a:p>
            </p:txBody>
          </p:sp>
        </mc:Choice>
        <mc:Fallback xmlns="">
          <p:sp>
            <p:nvSpPr>
              <p:cNvPr id="25" name="Chỗ dành sẵn cho Nội dung 2">
                <a:extLst>
                  <a:ext uri="{FF2B5EF4-FFF2-40B4-BE49-F238E27FC236}">
                    <a16:creationId xmlns:a16="http://schemas.microsoft.com/office/drawing/2014/main" id="{D5B3956B-7C5C-8F6B-6D27-5F30747B6E47}"/>
                  </a:ext>
                </a:extLst>
              </p:cNvPr>
              <p:cNvSpPr txBox="1">
                <a:spLocks noRot="1" noChangeAspect="1" noMove="1" noResize="1" noEditPoints="1" noAdjustHandles="1" noChangeArrowheads="1" noChangeShapeType="1" noTextEdit="1"/>
              </p:cNvSpPr>
              <p:nvPr/>
            </p:nvSpPr>
            <p:spPr>
              <a:xfrm>
                <a:off x="-391885" y="4548347"/>
                <a:ext cx="9046028" cy="1090570"/>
              </a:xfrm>
              <a:prstGeom prst="rect">
                <a:avLst/>
              </a:prstGeom>
              <a:blipFill>
                <a:blip r:embed="rId9"/>
                <a:stretch>
                  <a:fillRect/>
                </a:stretch>
              </a:blipFill>
            </p:spPr>
            <p:txBody>
              <a:bodyPr/>
              <a:lstStyle/>
              <a:p>
                <a:r>
                  <a:rPr lang="vi-VN">
                    <a:noFill/>
                  </a:rPr>
                  <a:t> </a:t>
                </a:r>
              </a:p>
            </p:txBody>
          </p:sp>
        </mc:Fallback>
      </mc:AlternateContent>
      <p:cxnSp>
        <p:nvCxnSpPr>
          <p:cNvPr id="28" name="Straight Arrow Connector 27">
            <a:extLst>
              <a:ext uri="{FF2B5EF4-FFF2-40B4-BE49-F238E27FC236}">
                <a16:creationId xmlns:a16="http://schemas.microsoft.com/office/drawing/2014/main" id="{6A16C397-D1DE-5EB2-D1CF-BB42B3CD0ADB}"/>
              </a:ext>
            </a:extLst>
          </p:cNvPr>
          <p:cNvCxnSpPr>
            <a:cxnSpLocks/>
            <a:stCxn id="3" idx="3"/>
          </p:cNvCxnSpPr>
          <p:nvPr/>
        </p:nvCxnSpPr>
        <p:spPr>
          <a:xfrm flipV="1">
            <a:off x="3834882" y="2200223"/>
            <a:ext cx="1931436" cy="10426"/>
          </a:xfrm>
          <a:prstGeom prst="straightConnector1">
            <a:avLst/>
          </a:prstGeom>
          <a:ln w="38100">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A26A5E8-A1C4-BDA6-435A-C6E4C3455E45}"/>
              </a:ext>
            </a:extLst>
          </p:cNvPr>
          <p:cNvCxnSpPr>
            <a:cxnSpLocks/>
          </p:cNvCxnSpPr>
          <p:nvPr/>
        </p:nvCxnSpPr>
        <p:spPr>
          <a:xfrm>
            <a:off x="4819261" y="3542912"/>
            <a:ext cx="947057" cy="0"/>
          </a:xfrm>
          <a:prstGeom prst="straightConnector1">
            <a:avLst/>
          </a:prstGeom>
          <a:ln w="38100">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3FC27E3-7ED7-69A2-E250-5AA1E4950EB2}"/>
              </a:ext>
            </a:extLst>
          </p:cNvPr>
          <p:cNvCxnSpPr>
            <a:cxnSpLocks/>
            <a:stCxn id="40" idx="3"/>
            <a:endCxn id="42" idx="1"/>
          </p:cNvCxnSpPr>
          <p:nvPr/>
        </p:nvCxnSpPr>
        <p:spPr>
          <a:xfrm flipV="1">
            <a:off x="9700644" y="4979827"/>
            <a:ext cx="1589398" cy="3560"/>
          </a:xfrm>
          <a:prstGeom prst="line">
            <a:avLst/>
          </a:prstGeom>
          <a:ln w="38100"/>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A52D0EC4-BF45-5146-11AB-288BE2EBFA35}"/>
              </a:ext>
            </a:extLst>
          </p:cNvPr>
          <p:cNvSpPr/>
          <p:nvPr/>
        </p:nvSpPr>
        <p:spPr>
          <a:xfrm>
            <a:off x="8850087" y="4396639"/>
            <a:ext cx="3202750" cy="1143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0" name="Chỗ dành sẵn cho Nội dung 2">
                <a:extLst>
                  <a:ext uri="{FF2B5EF4-FFF2-40B4-BE49-F238E27FC236}">
                    <a16:creationId xmlns:a16="http://schemas.microsoft.com/office/drawing/2014/main" id="{C5C52F73-B733-AEE9-9339-FEE9D8BA6553}"/>
                  </a:ext>
                </a:extLst>
              </p:cNvPr>
              <p:cNvSpPr txBox="1">
                <a:spLocks/>
              </p:cNvSpPr>
              <p:nvPr/>
            </p:nvSpPr>
            <p:spPr>
              <a:xfrm>
                <a:off x="8850087" y="4712010"/>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40" name="Chỗ dành sẵn cho Nội dung 2">
                <a:extLst>
                  <a:ext uri="{FF2B5EF4-FFF2-40B4-BE49-F238E27FC236}">
                    <a16:creationId xmlns:a16="http://schemas.microsoft.com/office/drawing/2014/main" id="{C5C52F73-B733-AEE9-9339-FEE9D8BA6553}"/>
                  </a:ext>
                </a:extLst>
              </p:cNvPr>
              <p:cNvSpPr txBox="1">
                <a:spLocks noRot="1" noChangeAspect="1" noMove="1" noResize="1" noEditPoints="1" noAdjustHandles="1" noChangeArrowheads="1" noChangeShapeType="1" noTextEdit="1"/>
              </p:cNvSpPr>
              <p:nvPr/>
            </p:nvSpPr>
            <p:spPr>
              <a:xfrm>
                <a:off x="8850087" y="4712010"/>
                <a:ext cx="850557" cy="542753"/>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D6C54AF7-F155-75FD-7FB8-6A1418F9BE20}"/>
                  </a:ext>
                </a:extLst>
              </p:cNvPr>
              <p:cNvSpPr/>
              <p:nvPr/>
            </p:nvSpPr>
            <p:spPr>
              <a:xfrm>
                <a:off x="9967611" y="4803416"/>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𝑋</m:t>
                      </m:r>
                    </m:oMath>
                  </m:oMathPara>
                </a14:m>
                <a:endParaRPr lang="vi-VN" sz="2400">
                  <a:solidFill>
                    <a:schemeClr val="tx1"/>
                  </a:solidFill>
                </a:endParaRPr>
              </a:p>
            </p:txBody>
          </p:sp>
        </mc:Choice>
        <mc:Fallback xmlns="">
          <p:sp>
            <p:nvSpPr>
              <p:cNvPr id="41" name="Rectangle 40">
                <a:extLst>
                  <a:ext uri="{FF2B5EF4-FFF2-40B4-BE49-F238E27FC236}">
                    <a16:creationId xmlns:a16="http://schemas.microsoft.com/office/drawing/2014/main" id="{D6C54AF7-F155-75FD-7FB8-6A1418F9BE20}"/>
                  </a:ext>
                </a:extLst>
              </p:cNvPr>
              <p:cNvSpPr>
                <a:spLocks noRot="1" noChangeAspect="1" noMove="1" noResize="1" noEditPoints="1" noAdjustHandles="1" noChangeArrowheads="1" noChangeShapeType="1" noTextEdit="1"/>
              </p:cNvSpPr>
              <p:nvPr/>
            </p:nvSpPr>
            <p:spPr>
              <a:xfrm>
                <a:off x="9967611" y="4803416"/>
                <a:ext cx="475673" cy="355600"/>
              </a:xfrm>
              <a:prstGeom prst="rect">
                <a:avLst/>
              </a:prstGeom>
              <a:blipFill>
                <a:blip r:embed="rId11"/>
                <a:stretch>
                  <a:fillRect b="-11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2" name="Chỗ dành sẵn cho Nội dung 2">
                <a:extLst>
                  <a:ext uri="{FF2B5EF4-FFF2-40B4-BE49-F238E27FC236}">
                    <a16:creationId xmlns:a16="http://schemas.microsoft.com/office/drawing/2014/main" id="{FD0438A1-6734-19EB-6106-D1CEE3573978}"/>
                  </a:ext>
                </a:extLst>
              </p:cNvPr>
              <p:cNvSpPr txBox="1">
                <a:spLocks/>
              </p:cNvSpPr>
              <p:nvPr/>
            </p:nvSpPr>
            <p:spPr>
              <a:xfrm>
                <a:off x="11290042" y="4708450"/>
                <a:ext cx="594844"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en-US" b="0" i="1" smtClean="0">
                              <a:latin typeface="Cambria Math" panose="02040503050406030204" pitchFamily="18" charset="0"/>
                            </a:rPr>
                            <m:t>−</m:t>
                          </m:r>
                        </m:e>
                      </m:d>
                    </m:oMath>
                  </m:oMathPara>
                </a14:m>
                <a:endParaRPr lang="en-US"/>
              </a:p>
            </p:txBody>
          </p:sp>
        </mc:Choice>
        <mc:Fallback xmlns="">
          <p:sp>
            <p:nvSpPr>
              <p:cNvPr id="42" name="Chỗ dành sẵn cho Nội dung 2">
                <a:extLst>
                  <a:ext uri="{FF2B5EF4-FFF2-40B4-BE49-F238E27FC236}">
                    <a16:creationId xmlns:a16="http://schemas.microsoft.com/office/drawing/2014/main" id="{FD0438A1-6734-19EB-6106-D1CEE3573978}"/>
                  </a:ext>
                </a:extLst>
              </p:cNvPr>
              <p:cNvSpPr txBox="1">
                <a:spLocks noRot="1" noChangeAspect="1" noMove="1" noResize="1" noEditPoints="1" noAdjustHandles="1" noChangeArrowheads="1" noChangeShapeType="1" noTextEdit="1"/>
              </p:cNvSpPr>
              <p:nvPr/>
            </p:nvSpPr>
            <p:spPr>
              <a:xfrm>
                <a:off x="11290042" y="4708450"/>
                <a:ext cx="594844" cy="542753"/>
              </a:xfrm>
              <a:prstGeom prst="rect">
                <a:avLst/>
              </a:prstGeom>
              <a:blipFill>
                <a:blip r:embed="rId1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A64016B5-C74A-1F4E-0E1A-C26C9D6352FF}"/>
                  </a:ext>
                </a:extLst>
              </p:cNvPr>
              <p:cNvSpPr/>
              <p:nvPr/>
            </p:nvSpPr>
            <p:spPr>
              <a:xfrm>
                <a:off x="10528966" y="4803416"/>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a:solidFill>
                    <a:schemeClr val="tx1"/>
                  </a:solidFill>
                </a:endParaRPr>
              </a:p>
            </p:txBody>
          </p:sp>
        </mc:Choice>
        <mc:Fallback xmlns="">
          <p:sp>
            <p:nvSpPr>
              <p:cNvPr id="46" name="Rectangle 45">
                <a:extLst>
                  <a:ext uri="{FF2B5EF4-FFF2-40B4-BE49-F238E27FC236}">
                    <a16:creationId xmlns:a16="http://schemas.microsoft.com/office/drawing/2014/main" id="{A64016B5-C74A-1F4E-0E1A-C26C9D6352FF}"/>
                  </a:ext>
                </a:extLst>
              </p:cNvPr>
              <p:cNvSpPr>
                <a:spLocks noRot="1" noChangeAspect="1" noMove="1" noResize="1" noEditPoints="1" noAdjustHandles="1" noChangeArrowheads="1" noChangeShapeType="1" noTextEdit="1"/>
              </p:cNvSpPr>
              <p:nvPr/>
            </p:nvSpPr>
            <p:spPr>
              <a:xfrm>
                <a:off x="10528966" y="4803416"/>
                <a:ext cx="475673" cy="355600"/>
              </a:xfrm>
              <a:prstGeom prst="rect">
                <a:avLst/>
              </a:prstGeom>
              <a:blipFill>
                <a:blip r:embed="rId13"/>
                <a:stretch>
                  <a:fillRect b="-11667"/>
                </a:stretch>
              </a:blipFill>
            </p:spPr>
            <p:txBody>
              <a:bodyPr/>
              <a:lstStyle/>
              <a:p>
                <a:r>
                  <a:rPr lang="vi-VN">
                    <a:noFill/>
                  </a:rPr>
                  <a:t> </a:t>
                </a:r>
              </a:p>
            </p:txBody>
          </p:sp>
        </mc:Fallback>
      </mc:AlternateContent>
      <p:cxnSp>
        <p:nvCxnSpPr>
          <p:cNvPr id="48" name="Straight Arrow Connector 47">
            <a:extLst>
              <a:ext uri="{FF2B5EF4-FFF2-40B4-BE49-F238E27FC236}">
                <a16:creationId xmlns:a16="http://schemas.microsoft.com/office/drawing/2014/main" id="{9BC2B749-12EC-9CDA-FDDA-2FDE6B8A027E}"/>
              </a:ext>
            </a:extLst>
          </p:cNvPr>
          <p:cNvCxnSpPr>
            <a:cxnSpLocks/>
          </p:cNvCxnSpPr>
          <p:nvPr/>
        </p:nvCxnSpPr>
        <p:spPr>
          <a:xfrm>
            <a:off x="7755167" y="4964095"/>
            <a:ext cx="1074976" cy="0"/>
          </a:xfrm>
          <a:prstGeom prst="straightConnector1">
            <a:avLst/>
          </a:prstGeom>
          <a:ln w="38100">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DA7FE012-FB82-33F3-5853-94D8D3F6FEE9}"/>
              </a:ext>
            </a:extLst>
          </p:cNvPr>
          <p:cNvSpPr/>
          <p:nvPr/>
        </p:nvSpPr>
        <p:spPr>
          <a:xfrm>
            <a:off x="640562" y="4756368"/>
            <a:ext cx="565090" cy="43716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7" name="Rectangle 56">
            <a:extLst>
              <a:ext uri="{FF2B5EF4-FFF2-40B4-BE49-F238E27FC236}">
                <a16:creationId xmlns:a16="http://schemas.microsoft.com/office/drawing/2014/main" id="{7E2ED26D-D4DC-0427-E842-6C0DED8E9137}"/>
              </a:ext>
            </a:extLst>
          </p:cNvPr>
          <p:cNvSpPr/>
          <p:nvPr/>
        </p:nvSpPr>
        <p:spPr>
          <a:xfrm>
            <a:off x="2104618" y="4515154"/>
            <a:ext cx="2924581" cy="9796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8" name="Left Brace 57">
            <a:extLst>
              <a:ext uri="{FF2B5EF4-FFF2-40B4-BE49-F238E27FC236}">
                <a16:creationId xmlns:a16="http://schemas.microsoft.com/office/drawing/2014/main" id="{BA219453-4F01-87B2-440F-22FA930C6457}"/>
              </a:ext>
            </a:extLst>
          </p:cNvPr>
          <p:cNvSpPr/>
          <p:nvPr/>
        </p:nvSpPr>
        <p:spPr>
          <a:xfrm rot="16200000">
            <a:off x="3478317" y="4200220"/>
            <a:ext cx="205933" cy="2895831"/>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59" name="Chỗ dành sẵn cho Nội dung 2">
            <a:extLst>
              <a:ext uri="{FF2B5EF4-FFF2-40B4-BE49-F238E27FC236}">
                <a16:creationId xmlns:a16="http://schemas.microsoft.com/office/drawing/2014/main" id="{80CEDE38-E1F5-66B3-E77D-C4A2631710F3}"/>
              </a:ext>
            </a:extLst>
          </p:cNvPr>
          <p:cNvSpPr txBox="1">
            <a:spLocks/>
          </p:cNvSpPr>
          <p:nvPr/>
        </p:nvSpPr>
        <p:spPr>
          <a:xfrm>
            <a:off x="2104618" y="5804035"/>
            <a:ext cx="2923753" cy="542753"/>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solidFill>
                  <a:srgbClr val="FF0000"/>
                </a:solidFill>
              </a:rPr>
              <a:t>Matrix multiplication</a:t>
            </a:r>
          </a:p>
        </p:txBody>
      </p:sp>
    </p:spTree>
    <p:extLst>
      <p:ext uri="{BB962C8B-B14F-4D97-AF65-F5344CB8AC3E}">
        <p14:creationId xmlns:p14="http://schemas.microsoft.com/office/powerpoint/2010/main" val="3531645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4AE2-ACB3-CB0E-7770-2D040D100705}"/>
              </a:ext>
            </a:extLst>
          </p:cNvPr>
          <p:cNvSpPr>
            <a:spLocks noGrp="1"/>
          </p:cNvSpPr>
          <p:nvPr>
            <p:ph type="title"/>
          </p:nvPr>
        </p:nvSpPr>
        <p:spPr/>
        <p:txBody>
          <a:bodyPr/>
          <a:lstStyle/>
          <a:p>
            <a:r>
              <a:rPr lang="en-US"/>
              <a:t>Quantum circuit: multi-qubit</a:t>
            </a:r>
            <a:endParaRPr lang="vi-VN"/>
          </a:p>
        </p:txBody>
      </p:sp>
      <p:sp>
        <p:nvSpPr>
          <p:cNvPr id="4" name="Slide Number Placeholder 3">
            <a:extLst>
              <a:ext uri="{FF2B5EF4-FFF2-40B4-BE49-F238E27FC236}">
                <a16:creationId xmlns:a16="http://schemas.microsoft.com/office/drawing/2014/main" id="{E13556BD-6429-E084-1548-CE9434DA2983}"/>
              </a:ext>
            </a:extLst>
          </p:cNvPr>
          <p:cNvSpPr>
            <a:spLocks noGrp="1"/>
          </p:cNvSpPr>
          <p:nvPr>
            <p:ph type="sldNum" sz="quarter" idx="12"/>
          </p:nvPr>
        </p:nvSpPr>
        <p:spPr/>
        <p:txBody>
          <a:bodyPr/>
          <a:lstStyle/>
          <a:p>
            <a:fld id="{71331178-9F85-4EDF-BDD3-1E7064DA4C59}" type="slidenum">
              <a:rPr lang="vi-VN" smtClean="0"/>
              <a:t>13</a:t>
            </a:fld>
            <a:endParaRPr lang="vi-VN"/>
          </a:p>
        </p:txBody>
      </p:sp>
      <mc:AlternateContent xmlns:mc="http://schemas.openxmlformats.org/markup-compatibility/2006" xmlns:a14="http://schemas.microsoft.com/office/drawing/2010/main">
        <mc:Choice Requires="a14">
          <p:sp>
            <p:nvSpPr>
              <p:cNvPr id="6" name="Chỗ dành sẵn cho Nội dung 2">
                <a:extLst>
                  <a:ext uri="{FF2B5EF4-FFF2-40B4-BE49-F238E27FC236}">
                    <a16:creationId xmlns:a16="http://schemas.microsoft.com/office/drawing/2014/main" id="{855F0627-64C3-DDD2-8BAF-1374975AD945}"/>
                  </a:ext>
                </a:extLst>
              </p:cNvPr>
              <p:cNvSpPr>
                <a:spLocks noGrp="1"/>
              </p:cNvSpPr>
              <p:nvPr>
                <p:ph idx="1"/>
              </p:nvPr>
            </p:nvSpPr>
            <p:spPr>
              <a:xfrm>
                <a:off x="959520" y="1489362"/>
                <a:ext cx="5756812" cy="809982"/>
              </a:xfrm>
            </p:spPr>
            <p:txBody>
              <a:bodyPr/>
              <a:lstStyle/>
              <a:p>
                <a:pPr marL="0" indent="0">
                  <a:buNone/>
                </a:pP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0</m:t>
                            </m:r>
                          </m:sub>
                        </m:sSub>
                        <m:d>
                          <m:dPr>
                            <m:begChr m:val="|"/>
                            <m:endChr m:val="⟩"/>
                            <m:ctrlPr>
                              <a:rPr lang="en-US" i="1">
                                <a:latin typeface="Cambria Math" panose="02040503050406030204" pitchFamily="18" charset="0"/>
                              </a:rPr>
                            </m:ctrlPr>
                          </m:dPr>
                          <m:e>
                            <m:r>
                              <a:rPr lang="en-US" b="0" i="1" smtClean="0">
                                <a:latin typeface="Cambria Math" panose="02040503050406030204" pitchFamily="18" charset="0"/>
                              </a:rPr>
                              <m:t>0</m:t>
                            </m:r>
                          </m:e>
                        </m:d>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1</m:t>
                            </m:r>
                          </m:sub>
                        </m:sSub>
                        <m:d>
                          <m:dPr>
                            <m:begChr m:val="|"/>
                            <m:endChr m:val="⟩"/>
                            <m:ctrlPr>
                              <a:rPr lang="en-US" i="1">
                                <a:latin typeface="Cambria Math" panose="02040503050406030204" pitchFamily="18" charset="0"/>
                              </a:rPr>
                            </m:ctrlPr>
                          </m:dPr>
                          <m:e>
                            <m:r>
                              <a:rPr lang="en-US" i="1">
                                <a:latin typeface="Cambria Math" panose="02040503050406030204" pitchFamily="18" charset="0"/>
                              </a:rPr>
                              <m:t>0</m:t>
                            </m:r>
                          </m:e>
                        </m:d>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m:t>
                    </m:r>
                  </m:oMath>
                </a14:m>
                <a:r>
                  <a:rPr lang="en-US"/>
                  <a:t> </a:t>
                </a:r>
              </a:p>
              <a:p>
                <a:pPr marL="0" indent="0">
                  <a:buNone/>
                </a:pPr>
                <a:endParaRPr lang="en-US"/>
              </a:p>
            </p:txBody>
          </p:sp>
        </mc:Choice>
        <mc:Fallback xmlns="">
          <p:sp>
            <p:nvSpPr>
              <p:cNvPr id="6" name="Chỗ dành sẵn cho Nội dung 2">
                <a:extLst>
                  <a:ext uri="{FF2B5EF4-FFF2-40B4-BE49-F238E27FC236}">
                    <a16:creationId xmlns:a16="http://schemas.microsoft.com/office/drawing/2014/main" id="{855F0627-64C3-DDD2-8BAF-1374975AD945}"/>
                  </a:ext>
                </a:extLst>
              </p:cNvPr>
              <p:cNvSpPr>
                <a:spLocks noGrp="1" noRot="1" noChangeAspect="1" noMove="1" noResize="1" noEditPoints="1" noAdjustHandles="1" noChangeArrowheads="1" noChangeShapeType="1" noTextEdit="1"/>
              </p:cNvSpPr>
              <p:nvPr>
                <p:ph idx="1"/>
              </p:nvPr>
            </p:nvSpPr>
            <p:spPr>
              <a:xfrm>
                <a:off x="959520" y="1489362"/>
                <a:ext cx="5756812" cy="809982"/>
              </a:xfr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Chỗ dành sẵn cho Nội dung 2">
                <a:extLst>
                  <a:ext uri="{FF2B5EF4-FFF2-40B4-BE49-F238E27FC236}">
                    <a16:creationId xmlns:a16="http://schemas.microsoft.com/office/drawing/2014/main" id="{A78276FF-BD7A-7F69-D59C-16F0FBA66C90}"/>
                  </a:ext>
                </a:extLst>
              </p:cNvPr>
              <p:cNvSpPr txBox="1">
                <a:spLocks/>
              </p:cNvSpPr>
              <p:nvPr/>
            </p:nvSpPr>
            <p:spPr>
              <a:xfrm>
                <a:off x="996819" y="2510565"/>
                <a:ext cx="7613782" cy="79298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e>
                    </m:d>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𝜓</m:t>
                        </m:r>
                      </m:e>
                    </m:d>
                    <m:r>
                      <a:rPr lang="en-US" i="1" smtClean="0">
                        <a:latin typeface="Cambria Math" panose="02040503050406030204" pitchFamily="18" charset="0"/>
                      </a:rPr>
                      <m:t>=</m:t>
                    </m:r>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e>
                    </m:d>
                    <m:d>
                      <m:dPr>
                        <m:ctrlPr>
                          <a:rPr lang="en-US" b="0" i="1" smtClean="0">
                            <a:latin typeface="Cambria Math" panose="02040503050406030204" pitchFamily="18" charset="0"/>
                          </a:rPr>
                        </m:ctrlPr>
                      </m:dPr>
                      <m:e>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i="1">
                                      <a:latin typeface="Cambria Math" panose="02040503050406030204" pitchFamily="18" charset="0"/>
                                    </a:rPr>
                                    <m:t>1</m:t>
                                  </m:r>
                                </m:e>
                              </m:mr>
                              <m:mr>
                                <m:e>
                                  <m:r>
                                    <a:rPr lang="vi-VN" i="1">
                                      <a:latin typeface="Cambria Math" panose="02040503050406030204" pitchFamily="18" charset="0"/>
                                    </a:rPr>
                                    <m:t>0</m:t>
                                  </m:r>
                                </m:e>
                              </m:mr>
                            </m:m>
                          </m:e>
                        </m:d>
                        <m:r>
                          <a:rPr lang="en-US" b="0" i="1" smtClean="0">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i="1">
                                      <a:latin typeface="Cambria Math" panose="02040503050406030204" pitchFamily="18" charset="0"/>
                                    </a:rPr>
                                    <m:t>1</m:t>
                                  </m:r>
                                </m:e>
                              </m:mr>
                              <m:mr>
                                <m:e>
                                  <m:r>
                                    <a:rPr lang="vi-VN" i="1">
                                      <a:latin typeface="Cambria Math" panose="02040503050406030204" pitchFamily="18" charset="0"/>
                                    </a:rPr>
                                    <m:t>0</m:t>
                                  </m:r>
                                </m:e>
                              </m:mr>
                            </m:m>
                          </m:e>
                        </m:d>
                      </m:e>
                    </m:d>
                    <m:r>
                      <a:rPr lang="en-US" b="0" i="0" smtClean="0">
                        <a:latin typeface="Cambria Math" panose="02040503050406030204" pitchFamily="18" charset="0"/>
                      </a:rPr>
                      <m:t>=</m:t>
                    </m:r>
                    <m:r>
                      <a:rPr lang="en-US" b="0" i="1" smtClean="0">
                        <a:solidFill>
                          <a:srgbClr val="FF0000"/>
                        </a:solidFill>
                        <a:latin typeface="Cambria Math" panose="02040503050406030204" pitchFamily="18" charset="0"/>
                      </a:rPr>
                      <m:t>?</m:t>
                    </m:r>
                  </m:oMath>
                </a14:m>
                <a:r>
                  <a:rPr lang="en-US"/>
                  <a:t> </a:t>
                </a:r>
              </a:p>
            </p:txBody>
          </p:sp>
        </mc:Choice>
        <mc:Fallback xmlns="">
          <p:sp>
            <p:nvSpPr>
              <p:cNvPr id="11" name="Chỗ dành sẵn cho Nội dung 2">
                <a:extLst>
                  <a:ext uri="{FF2B5EF4-FFF2-40B4-BE49-F238E27FC236}">
                    <a16:creationId xmlns:a16="http://schemas.microsoft.com/office/drawing/2014/main" id="{A78276FF-BD7A-7F69-D59C-16F0FBA66C90}"/>
                  </a:ext>
                </a:extLst>
              </p:cNvPr>
              <p:cNvSpPr txBox="1">
                <a:spLocks noRot="1" noChangeAspect="1" noMove="1" noResize="1" noEditPoints="1" noAdjustHandles="1" noChangeArrowheads="1" noChangeShapeType="1" noTextEdit="1"/>
              </p:cNvSpPr>
              <p:nvPr/>
            </p:nvSpPr>
            <p:spPr>
              <a:xfrm>
                <a:off x="996819" y="2510565"/>
                <a:ext cx="7613782" cy="792986"/>
              </a:xfrm>
              <a:prstGeom prst="rect">
                <a:avLst/>
              </a:prstGeom>
              <a:blipFill>
                <a:blip r:embed="rId3"/>
                <a:stretch>
                  <a:fillRect/>
                </a:stretch>
              </a:blipFill>
            </p:spPr>
            <p:txBody>
              <a:bodyPr/>
              <a:lstStyle/>
              <a:p>
                <a:r>
                  <a:rPr lang="vi-VN">
                    <a:noFill/>
                  </a:rPr>
                  <a:t> </a:t>
                </a:r>
              </a:p>
            </p:txBody>
          </p:sp>
        </mc:Fallback>
      </mc:AlternateContent>
      <p:cxnSp>
        <p:nvCxnSpPr>
          <p:cNvPr id="12" name="Straight Connector 11">
            <a:extLst>
              <a:ext uri="{FF2B5EF4-FFF2-40B4-BE49-F238E27FC236}">
                <a16:creationId xmlns:a16="http://schemas.microsoft.com/office/drawing/2014/main" id="{166C5DB6-130D-3D5D-67B9-0A20E917EA4E}"/>
              </a:ext>
            </a:extLst>
          </p:cNvPr>
          <p:cNvCxnSpPr>
            <a:cxnSpLocks/>
          </p:cNvCxnSpPr>
          <p:nvPr/>
        </p:nvCxnSpPr>
        <p:spPr>
          <a:xfrm>
            <a:off x="9409081" y="2638945"/>
            <a:ext cx="1083359" cy="0"/>
          </a:xfrm>
          <a:prstGeom prst="line">
            <a:avLst/>
          </a:prstGeom>
          <a:ln w="38100"/>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96CCDC9B-2F7A-E674-35D6-0DDAAE47AF41}"/>
              </a:ext>
            </a:extLst>
          </p:cNvPr>
          <p:cNvSpPr/>
          <p:nvPr/>
        </p:nvSpPr>
        <p:spPr>
          <a:xfrm>
            <a:off x="8570882" y="2339556"/>
            <a:ext cx="2187482" cy="10427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4" name="Chỗ dành sẵn cho Nội dung 2">
                <a:extLst>
                  <a:ext uri="{FF2B5EF4-FFF2-40B4-BE49-F238E27FC236}">
                    <a16:creationId xmlns:a16="http://schemas.microsoft.com/office/drawing/2014/main" id="{B9087727-DAF9-43B2-AB38-3079560E5433}"/>
                  </a:ext>
                </a:extLst>
              </p:cNvPr>
              <p:cNvSpPr txBox="1">
                <a:spLocks/>
              </p:cNvSpPr>
              <p:nvPr/>
            </p:nvSpPr>
            <p:spPr>
              <a:xfrm>
                <a:off x="8570881" y="2398335"/>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14" name="Chỗ dành sẵn cho Nội dung 2">
                <a:extLst>
                  <a:ext uri="{FF2B5EF4-FFF2-40B4-BE49-F238E27FC236}">
                    <a16:creationId xmlns:a16="http://schemas.microsoft.com/office/drawing/2014/main" id="{B9087727-DAF9-43B2-AB38-3079560E5433}"/>
                  </a:ext>
                </a:extLst>
              </p:cNvPr>
              <p:cNvSpPr txBox="1">
                <a:spLocks noRot="1" noChangeAspect="1" noMove="1" noResize="1" noEditPoints="1" noAdjustHandles="1" noChangeArrowheads="1" noChangeShapeType="1" noTextEdit="1"/>
              </p:cNvSpPr>
              <p:nvPr/>
            </p:nvSpPr>
            <p:spPr>
              <a:xfrm>
                <a:off x="8570881" y="2398335"/>
                <a:ext cx="850557" cy="542753"/>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FB03E3B-ABC8-1A44-BD00-4DB6AAA16B00}"/>
                  </a:ext>
                </a:extLst>
              </p:cNvPr>
              <p:cNvSpPr/>
              <p:nvPr/>
            </p:nvSpPr>
            <p:spPr>
              <a:xfrm>
                <a:off x="9688405" y="2461751"/>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𝑍</m:t>
                      </m:r>
                    </m:oMath>
                  </m:oMathPara>
                </a14:m>
                <a:endParaRPr lang="vi-VN" sz="2400">
                  <a:solidFill>
                    <a:schemeClr val="tx1"/>
                  </a:solidFill>
                </a:endParaRPr>
              </a:p>
            </p:txBody>
          </p:sp>
        </mc:Choice>
        <mc:Fallback xmlns="">
          <p:sp>
            <p:nvSpPr>
              <p:cNvPr id="15" name="Rectangle 14">
                <a:extLst>
                  <a:ext uri="{FF2B5EF4-FFF2-40B4-BE49-F238E27FC236}">
                    <a16:creationId xmlns:a16="http://schemas.microsoft.com/office/drawing/2014/main" id="{4FB03E3B-ABC8-1A44-BD00-4DB6AAA16B00}"/>
                  </a:ext>
                </a:extLst>
              </p:cNvPr>
              <p:cNvSpPr>
                <a:spLocks noRot="1" noChangeAspect="1" noMove="1" noResize="1" noEditPoints="1" noAdjustHandles="1" noChangeArrowheads="1" noChangeShapeType="1" noTextEdit="1"/>
              </p:cNvSpPr>
              <p:nvPr/>
            </p:nvSpPr>
            <p:spPr>
              <a:xfrm>
                <a:off x="9688405" y="2461751"/>
                <a:ext cx="475673" cy="355600"/>
              </a:xfrm>
              <a:prstGeom prst="rect">
                <a:avLst/>
              </a:prstGeom>
              <a:blipFill>
                <a:blip r:embed="rId5"/>
                <a:stretch>
                  <a:fillRect b="-10000"/>
                </a:stretch>
              </a:blipFill>
            </p:spPr>
            <p:txBody>
              <a:bodyPr/>
              <a:lstStyle/>
              <a:p>
                <a:r>
                  <a:rPr lang="vi-VN">
                    <a:noFill/>
                  </a:rPr>
                  <a:t> </a:t>
                </a:r>
              </a:p>
            </p:txBody>
          </p:sp>
        </mc:Fallback>
      </mc:AlternateContent>
      <p:sp>
        <p:nvSpPr>
          <p:cNvPr id="17" name="Rectangle 16">
            <a:extLst>
              <a:ext uri="{FF2B5EF4-FFF2-40B4-BE49-F238E27FC236}">
                <a16:creationId xmlns:a16="http://schemas.microsoft.com/office/drawing/2014/main" id="{A520C659-C03B-F2E4-2F7F-F35954C52385}"/>
              </a:ext>
            </a:extLst>
          </p:cNvPr>
          <p:cNvSpPr/>
          <p:nvPr/>
        </p:nvSpPr>
        <p:spPr>
          <a:xfrm>
            <a:off x="1059023" y="2646701"/>
            <a:ext cx="1368087" cy="48031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1" name="Straight Connector 20">
            <a:extLst>
              <a:ext uri="{FF2B5EF4-FFF2-40B4-BE49-F238E27FC236}">
                <a16:creationId xmlns:a16="http://schemas.microsoft.com/office/drawing/2014/main" id="{8ABC9741-5554-4E0E-7C62-0461E14653F3}"/>
              </a:ext>
            </a:extLst>
          </p:cNvPr>
          <p:cNvCxnSpPr>
            <a:cxnSpLocks/>
          </p:cNvCxnSpPr>
          <p:nvPr/>
        </p:nvCxnSpPr>
        <p:spPr>
          <a:xfrm>
            <a:off x="9421438" y="3080201"/>
            <a:ext cx="1083359"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Chỗ dành sẵn cho Nội dung 2">
                <a:extLst>
                  <a:ext uri="{FF2B5EF4-FFF2-40B4-BE49-F238E27FC236}">
                    <a16:creationId xmlns:a16="http://schemas.microsoft.com/office/drawing/2014/main" id="{3B80FEA8-56F5-09D3-5C60-4800D5901C23}"/>
                  </a:ext>
                </a:extLst>
              </p:cNvPr>
              <p:cNvSpPr txBox="1">
                <a:spLocks/>
              </p:cNvSpPr>
              <p:nvPr/>
            </p:nvSpPr>
            <p:spPr>
              <a:xfrm>
                <a:off x="8583238" y="2839591"/>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22" name="Chỗ dành sẵn cho Nội dung 2">
                <a:extLst>
                  <a:ext uri="{FF2B5EF4-FFF2-40B4-BE49-F238E27FC236}">
                    <a16:creationId xmlns:a16="http://schemas.microsoft.com/office/drawing/2014/main" id="{3B80FEA8-56F5-09D3-5C60-4800D5901C23}"/>
                  </a:ext>
                </a:extLst>
              </p:cNvPr>
              <p:cNvSpPr txBox="1">
                <a:spLocks noRot="1" noChangeAspect="1" noMove="1" noResize="1" noEditPoints="1" noAdjustHandles="1" noChangeArrowheads="1" noChangeShapeType="1" noTextEdit="1"/>
              </p:cNvSpPr>
              <p:nvPr/>
            </p:nvSpPr>
            <p:spPr>
              <a:xfrm>
                <a:off x="8583238" y="2839591"/>
                <a:ext cx="850557" cy="542753"/>
              </a:xfrm>
              <a:prstGeom prst="rect">
                <a:avLst/>
              </a:prstGeom>
              <a:blipFill>
                <a:blip r:embed="rId6"/>
                <a:stretch>
                  <a:fillRect/>
                </a:stretch>
              </a:blipFill>
            </p:spPr>
            <p:txBody>
              <a:bodyPr/>
              <a:lstStyle/>
              <a:p>
                <a:r>
                  <a:rPr lang="vi-VN">
                    <a:noFill/>
                  </a:rPr>
                  <a:t> </a:t>
                </a:r>
              </a:p>
            </p:txBody>
          </p:sp>
        </mc:Fallback>
      </mc:AlternateContent>
      <p:cxnSp>
        <p:nvCxnSpPr>
          <p:cNvPr id="23" name="Straight Connector 22">
            <a:extLst>
              <a:ext uri="{FF2B5EF4-FFF2-40B4-BE49-F238E27FC236}">
                <a16:creationId xmlns:a16="http://schemas.microsoft.com/office/drawing/2014/main" id="{3CB53979-E4FF-6F7F-11DD-7265E78E185C}"/>
              </a:ext>
            </a:extLst>
          </p:cNvPr>
          <p:cNvCxnSpPr>
            <a:cxnSpLocks/>
          </p:cNvCxnSpPr>
          <p:nvPr/>
        </p:nvCxnSpPr>
        <p:spPr>
          <a:xfrm>
            <a:off x="9409080" y="1474093"/>
            <a:ext cx="1083359" cy="0"/>
          </a:xfrm>
          <a:prstGeom prst="line">
            <a:avLst/>
          </a:prstGeom>
          <a:ln w="38100"/>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3707F109-C681-FBD1-CDE0-B46C2B1E8CFB}"/>
              </a:ext>
            </a:extLst>
          </p:cNvPr>
          <p:cNvSpPr/>
          <p:nvPr/>
        </p:nvSpPr>
        <p:spPr>
          <a:xfrm>
            <a:off x="8570881" y="1174704"/>
            <a:ext cx="2187482" cy="10427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25" name="Chỗ dành sẵn cho Nội dung 2">
                <a:extLst>
                  <a:ext uri="{FF2B5EF4-FFF2-40B4-BE49-F238E27FC236}">
                    <a16:creationId xmlns:a16="http://schemas.microsoft.com/office/drawing/2014/main" id="{556A972D-11F8-B609-3EF5-8E92F005A923}"/>
                  </a:ext>
                </a:extLst>
              </p:cNvPr>
              <p:cNvSpPr txBox="1">
                <a:spLocks/>
              </p:cNvSpPr>
              <p:nvPr/>
            </p:nvSpPr>
            <p:spPr>
              <a:xfrm>
                <a:off x="8570880" y="1233483"/>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25" name="Chỗ dành sẵn cho Nội dung 2">
                <a:extLst>
                  <a:ext uri="{FF2B5EF4-FFF2-40B4-BE49-F238E27FC236}">
                    <a16:creationId xmlns:a16="http://schemas.microsoft.com/office/drawing/2014/main" id="{556A972D-11F8-B609-3EF5-8E92F005A923}"/>
                  </a:ext>
                </a:extLst>
              </p:cNvPr>
              <p:cNvSpPr txBox="1">
                <a:spLocks noRot="1" noChangeAspect="1" noMove="1" noResize="1" noEditPoints="1" noAdjustHandles="1" noChangeArrowheads="1" noChangeShapeType="1" noTextEdit="1"/>
              </p:cNvSpPr>
              <p:nvPr/>
            </p:nvSpPr>
            <p:spPr>
              <a:xfrm>
                <a:off x="8570880" y="1233483"/>
                <a:ext cx="850557" cy="542753"/>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8E39EB9E-4C05-15AF-018B-AB8BEB95D0F6}"/>
                  </a:ext>
                </a:extLst>
              </p:cNvPr>
              <p:cNvSpPr/>
              <p:nvPr/>
            </p:nvSpPr>
            <p:spPr>
              <a:xfrm>
                <a:off x="9688404" y="1296899"/>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a:solidFill>
                    <a:schemeClr val="tx1"/>
                  </a:solidFill>
                </a:endParaRPr>
              </a:p>
            </p:txBody>
          </p:sp>
        </mc:Choice>
        <mc:Fallback xmlns="">
          <p:sp>
            <p:nvSpPr>
              <p:cNvPr id="26" name="Rectangle 25">
                <a:extLst>
                  <a:ext uri="{FF2B5EF4-FFF2-40B4-BE49-F238E27FC236}">
                    <a16:creationId xmlns:a16="http://schemas.microsoft.com/office/drawing/2014/main" id="{8E39EB9E-4C05-15AF-018B-AB8BEB95D0F6}"/>
                  </a:ext>
                </a:extLst>
              </p:cNvPr>
              <p:cNvSpPr>
                <a:spLocks noRot="1" noChangeAspect="1" noMove="1" noResize="1" noEditPoints="1" noAdjustHandles="1" noChangeArrowheads="1" noChangeShapeType="1" noTextEdit="1"/>
              </p:cNvSpPr>
              <p:nvPr/>
            </p:nvSpPr>
            <p:spPr>
              <a:xfrm>
                <a:off x="9688404" y="1296899"/>
                <a:ext cx="475673" cy="355600"/>
              </a:xfrm>
              <a:prstGeom prst="rect">
                <a:avLst/>
              </a:prstGeom>
              <a:blipFill>
                <a:blip r:embed="rId8"/>
                <a:stretch>
                  <a:fillRect b="-10000"/>
                </a:stretch>
              </a:blipFill>
            </p:spPr>
            <p:txBody>
              <a:bodyPr/>
              <a:lstStyle/>
              <a:p>
                <a:r>
                  <a:rPr lang="vi-VN">
                    <a:noFill/>
                  </a:rPr>
                  <a:t> </a:t>
                </a:r>
              </a:p>
            </p:txBody>
          </p:sp>
        </mc:Fallback>
      </mc:AlternateContent>
      <p:cxnSp>
        <p:nvCxnSpPr>
          <p:cNvPr id="27" name="Straight Connector 26">
            <a:extLst>
              <a:ext uri="{FF2B5EF4-FFF2-40B4-BE49-F238E27FC236}">
                <a16:creationId xmlns:a16="http://schemas.microsoft.com/office/drawing/2014/main" id="{DBB4C793-81FE-4CFF-8382-26D28EDB029E}"/>
              </a:ext>
            </a:extLst>
          </p:cNvPr>
          <p:cNvCxnSpPr>
            <a:cxnSpLocks/>
          </p:cNvCxnSpPr>
          <p:nvPr/>
        </p:nvCxnSpPr>
        <p:spPr>
          <a:xfrm>
            <a:off x="9421437" y="1915349"/>
            <a:ext cx="1083359"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8" name="Chỗ dành sẵn cho Nội dung 2">
                <a:extLst>
                  <a:ext uri="{FF2B5EF4-FFF2-40B4-BE49-F238E27FC236}">
                    <a16:creationId xmlns:a16="http://schemas.microsoft.com/office/drawing/2014/main" id="{849005C8-9920-53DD-F99D-A853E0C4313A}"/>
                  </a:ext>
                </a:extLst>
              </p:cNvPr>
              <p:cNvSpPr txBox="1">
                <a:spLocks/>
              </p:cNvSpPr>
              <p:nvPr/>
            </p:nvSpPr>
            <p:spPr>
              <a:xfrm>
                <a:off x="8583237" y="1674739"/>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28" name="Chỗ dành sẵn cho Nội dung 2">
                <a:extLst>
                  <a:ext uri="{FF2B5EF4-FFF2-40B4-BE49-F238E27FC236}">
                    <a16:creationId xmlns:a16="http://schemas.microsoft.com/office/drawing/2014/main" id="{849005C8-9920-53DD-F99D-A853E0C4313A}"/>
                  </a:ext>
                </a:extLst>
              </p:cNvPr>
              <p:cNvSpPr txBox="1">
                <a:spLocks noRot="1" noChangeAspect="1" noMove="1" noResize="1" noEditPoints="1" noAdjustHandles="1" noChangeArrowheads="1" noChangeShapeType="1" noTextEdit="1"/>
              </p:cNvSpPr>
              <p:nvPr/>
            </p:nvSpPr>
            <p:spPr>
              <a:xfrm>
                <a:off x="8583237" y="1674739"/>
                <a:ext cx="850557" cy="542753"/>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A73C8BF8-9AA5-FFFC-93B5-A7EE2DB654DB}"/>
                  </a:ext>
                </a:extLst>
              </p:cNvPr>
              <p:cNvSpPr/>
              <p:nvPr/>
            </p:nvSpPr>
            <p:spPr>
              <a:xfrm>
                <a:off x="9688404" y="1711608"/>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𝑋</m:t>
                      </m:r>
                    </m:oMath>
                  </m:oMathPara>
                </a14:m>
                <a:endParaRPr lang="vi-VN" sz="2400">
                  <a:solidFill>
                    <a:schemeClr val="tx1"/>
                  </a:solidFill>
                </a:endParaRPr>
              </a:p>
            </p:txBody>
          </p:sp>
        </mc:Choice>
        <mc:Fallback xmlns="">
          <p:sp>
            <p:nvSpPr>
              <p:cNvPr id="29" name="Rectangle 28">
                <a:extLst>
                  <a:ext uri="{FF2B5EF4-FFF2-40B4-BE49-F238E27FC236}">
                    <a16:creationId xmlns:a16="http://schemas.microsoft.com/office/drawing/2014/main" id="{A73C8BF8-9AA5-FFFC-93B5-A7EE2DB654DB}"/>
                  </a:ext>
                </a:extLst>
              </p:cNvPr>
              <p:cNvSpPr>
                <a:spLocks noRot="1" noChangeAspect="1" noMove="1" noResize="1" noEditPoints="1" noAdjustHandles="1" noChangeArrowheads="1" noChangeShapeType="1" noTextEdit="1"/>
              </p:cNvSpPr>
              <p:nvPr/>
            </p:nvSpPr>
            <p:spPr>
              <a:xfrm>
                <a:off x="9688404" y="1711608"/>
                <a:ext cx="475673" cy="355600"/>
              </a:xfrm>
              <a:prstGeom prst="rect">
                <a:avLst/>
              </a:prstGeom>
              <a:blipFill>
                <a:blip r:embed="rId10"/>
                <a:stretch>
                  <a:fillRect b="-10000"/>
                </a:stretch>
              </a:blipFill>
            </p:spPr>
            <p:txBody>
              <a:bodyPr/>
              <a:lstStyle/>
              <a:p>
                <a:r>
                  <a:rPr lang="vi-VN">
                    <a:noFill/>
                  </a:rPr>
                  <a:t> </a:t>
                </a:r>
              </a:p>
            </p:txBody>
          </p:sp>
        </mc:Fallback>
      </mc:AlternateContent>
      <p:cxnSp>
        <p:nvCxnSpPr>
          <p:cNvPr id="30" name="Straight Connector 29">
            <a:extLst>
              <a:ext uri="{FF2B5EF4-FFF2-40B4-BE49-F238E27FC236}">
                <a16:creationId xmlns:a16="http://schemas.microsoft.com/office/drawing/2014/main" id="{16348EFA-16D6-6237-C991-58C834C6ACCE}"/>
              </a:ext>
            </a:extLst>
          </p:cNvPr>
          <p:cNvCxnSpPr>
            <a:cxnSpLocks/>
          </p:cNvCxnSpPr>
          <p:nvPr/>
        </p:nvCxnSpPr>
        <p:spPr>
          <a:xfrm>
            <a:off x="10542018" y="4110269"/>
            <a:ext cx="1083359" cy="0"/>
          </a:xfrm>
          <a:prstGeom prst="line">
            <a:avLst/>
          </a:prstGeom>
          <a:ln w="38100"/>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3BE5CDED-F5C8-8CA9-BFCB-55D4CEBE68B3}"/>
              </a:ext>
            </a:extLst>
          </p:cNvPr>
          <p:cNvSpPr/>
          <p:nvPr/>
        </p:nvSpPr>
        <p:spPr>
          <a:xfrm>
            <a:off x="9703819" y="3810880"/>
            <a:ext cx="2187482" cy="10427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32" name="Chỗ dành sẵn cho Nội dung 2">
                <a:extLst>
                  <a:ext uri="{FF2B5EF4-FFF2-40B4-BE49-F238E27FC236}">
                    <a16:creationId xmlns:a16="http://schemas.microsoft.com/office/drawing/2014/main" id="{2B8338E5-1541-B2DC-EAB8-01E84648529A}"/>
                  </a:ext>
                </a:extLst>
              </p:cNvPr>
              <p:cNvSpPr txBox="1">
                <a:spLocks/>
              </p:cNvSpPr>
              <p:nvPr/>
            </p:nvSpPr>
            <p:spPr>
              <a:xfrm>
                <a:off x="9703818" y="3869659"/>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32" name="Chỗ dành sẵn cho Nội dung 2">
                <a:extLst>
                  <a:ext uri="{FF2B5EF4-FFF2-40B4-BE49-F238E27FC236}">
                    <a16:creationId xmlns:a16="http://schemas.microsoft.com/office/drawing/2014/main" id="{2B8338E5-1541-B2DC-EAB8-01E84648529A}"/>
                  </a:ext>
                </a:extLst>
              </p:cNvPr>
              <p:cNvSpPr txBox="1">
                <a:spLocks noRot="1" noChangeAspect="1" noMove="1" noResize="1" noEditPoints="1" noAdjustHandles="1" noChangeArrowheads="1" noChangeShapeType="1" noTextEdit="1"/>
              </p:cNvSpPr>
              <p:nvPr/>
            </p:nvSpPr>
            <p:spPr>
              <a:xfrm>
                <a:off x="9703818" y="3869659"/>
                <a:ext cx="850557" cy="542753"/>
              </a:xfrm>
              <a:prstGeom prst="rect">
                <a:avLst/>
              </a:prstGeom>
              <a:blipFill>
                <a:blip r:embed="rId11"/>
                <a:stretch>
                  <a:fillRect/>
                </a:stretch>
              </a:blipFill>
            </p:spPr>
            <p:txBody>
              <a:bodyPr/>
              <a:lstStyle/>
              <a:p>
                <a:r>
                  <a:rPr lang="en-VN">
                    <a:noFill/>
                  </a:rPr>
                  <a:t> </a:t>
                </a:r>
              </a:p>
            </p:txBody>
          </p:sp>
        </mc:Fallback>
      </mc:AlternateContent>
      <p:cxnSp>
        <p:nvCxnSpPr>
          <p:cNvPr id="34" name="Straight Connector 33">
            <a:extLst>
              <a:ext uri="{FF2B5EF4-FFF2-40B4-BE49-F238E27FC236}">
                <a16:creationId xmlns:a16="http://schemas.microsoft.com/office/drawing/2014/main" id="{F3BC6240-46C1-FE5D-C279-7A10AE3A6C6D}"/>
              </a:ext>
            </a:extLst>
          </p:cNvPr>
          <p:cNvCxnSpPr>
            <a:cxnSpLocks/>
          </p:cNvCxnSpPr>
          <p:nvPr/>
        </p:nvCxnSpPr>
        <p:spPr>
          <a:xfrm>
            <a:off x="10554375" y="4551525"/>
            <a:ext cx="1083359"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5" name="Chỗ dành sẵn cho Nội dung 2">
                <a:extLst>
                  <a:ext uri="{FF2B5EF4-FFF2-40B4-BE49-F238E27FC236}">
                    <a16:creationId xmlns:a16="http://schemas.microsoft.com/office/drawing/2014/main" id="{8DD3974D-932B-A33C-2690-B0F3CB884D79}"/>
                  </a:ext>
                </a:extLst>
              </p:cNvPr>
              <p:cNvSpPr txBox="1">
                <a:spLocks/>
              </p:cNvSpPr>
              <p:nvPr/>
            </p:nvSpPr>
            <p:spPr>
              <a:xfrm>
                <a:off x="9716175" y="4310915"/>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35" name="Chỗ dành sẵn cho Nội dung 2">
                <a:extLst>
                  <a:ext uri="{FF2B5EF4-FFF2-40B4-BE49-F238E27FC236}">
                    <a16:creationId xmlns:a16="http://schemas.microsoft.com/office/drawing/2014/main" id="{8DD3974D-932B-A33C-2690-B0F3CB884D79}"/>
                  </a:ext>
                </a:extLst>
              </p:cNvPr>
              <p:cNvSpPr txBox="1">
                <a:spLocks noRot="1" noChangeAspect="1" noMove="1" noResize="1" noEditPoints="1" noAdjustHandles="1" noChangeArrowheads="1" noChangeShapeType="1" noTextEdit="1"/>
              </p:cNvSpPr>
              <p:nvPr/>
            </p:nvSpPr>
            <p:spPr>
              <a:xfrm>
                <a:off x="9716175" y="4310915"/>
                <a:ext cx="850557" cy="542753"/>
              </a:xfrm>
              <a:prstGeom prst="rect">
                <a:avLst/>
              </a:prstGeom>
              <a:blipFill>
                <a:blip r:embed="rId12"/>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F62F8A1D-2393-34B6-FE70-B045B04E2989}"/>
                  </a:ext>
                </a:extLst>
              </p:cNvPr>
              <p:cNvSpPr/>
              <p:nvPr/>
            </p:nvSpPr>
            <p:spPr>
              <a:xfrm>
                <a:off x="10821342" y="3933074"/>
                <a:ext cx="683893" cy="740509"/>
              </a:xfrm>
              <a:prstGeom prst="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𝑈</m:t>
                      </m:r>
                    </m:oMath>
                  </m:oMathPara>
                </a14:m>
                <a:endParaRPr lang="vi-VN" sz="2400">
                  <a:solidFill>
                    <a:srgbClr val="FF0000"/>
                  </a:solidFill>
                </a:endParaRPr>
              </a:p>
            </p:txBody>
          </p:sp>
        </mc:Choice>
        <mc:Fallback xmlns="">
          <p:sp>
            <p:nvSpPr>
              <p:cNvPr id="33" name="Rectangle 32">
                <a:extLst>
                  <a:ext uri="{FF2B5EF4-FFF2-40B4-BE49-F238E27FC236}">
                    <a16:creationId xmlns:a16="http://schemas.microsoft.com/office/drawing/2014/main" id="{F62F8A1D-2393-34B6-FE70-B045B04E2989}"/>
                  </a:ext>
                </a:extLst>
              </p:cNvPr>
              <p:cNvSpPr>
                <a:spLocks noRot="1" noChangeAspect="1" noMove="1" noResize="1" noEditPoints="1" noAdjustHandles="1" noChangeArrowheads="1" noChangeShapeType="1" noTextEdit="1"/>
              </p:cNvSpPr>
              <p:nvPr/>
            </p:nvSpPr>
            <p:spPr>
              <a:xfrm>
                <a:off x="10821342" y="3933074"/>
                <a:ext cx="683893" cy="740509"/>
              </a:xfrm>
              <a:prstGeom prst="rect">
                <a:avLst/>
              </a:prstGeom>
              <a:blipFill>
                <a:blip r:embed="rId13"/>
                <a:stretch>
                  <a:fillRect/>
                </a:stretch>
              </a:blipFill>
              <a:ln w="38100">
                <a:solidFill>
                  <a:srgbClr val="FF0000"/>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6" name="Chỗ dành sẵn cho Nội dung 2">
                <a:extLst>
                  <a:ext uri="{FF2B5EF4-FFF2-40B4-BE49-F238E27FC236}">
                    <a16:creationId xmlns:a16="http://schemas.microsoft.com/office/drawing/2014/main" id="{BB07DB0E-0964-AB91-4128-EA4C68625B8C}"/>
                  </a:ext>
                </a:extLst>
              </p:cNvPr>
              <p:cNvSpPr txBox="1">
                <a:spLocks/>
              </p:cNvSpPr>
              <p:nvPr/>
            </p:nvSpPr>
            <p:spPr>
              <a:xfrm>
                <a:off x="1341340" y="3382344"/>
                <a:ext cx="690566" cy="6901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𝑈</m:t>
                      </m:r>
                    </m:oMath>
                  </m:oMathPara>
                </a14:m>
                <a:endParaRPr lang="en-US">
                  <a:solidFill>
                    <a:srgbClr val="FF0000"/>
                  </a:solidFill>
                </a:endParaRPr>
              </a:p>
            </p:txBody>
          </p:sp>
        </mc:Choice>
        <mc:Fallback xmlns="">
          <p:sp>
            <p:nvSpPr>
              <p:cNvPr id="36" name="Chỗ dành sẵn cho Nội dung 2">
                <a:extLst>
                  <a:ext uri="{FF2B5EF4-FFF2-40B4-BE49-F238E27FC236}">
                    <a16:creationId xmlns:a16="http://schemas.microsoft.com/office/drawing/2014/main" id="{BB07DB0E-0964-AB91-4128-EA4C68625B8C}"/>
                  </a:ext>
                </a:extLst>
              </p:cNvPr>
              <p:cNvSpPr txBox="1">
                <a:spLocks noRot="1" noChangeAspect="1" noMove="1" noResize="1" noEditPoints="1" noAdjustHandles="1" noChangeArrowheads="1" noChangeShapeType="1" noTextEdit="1"/>
              </p:cNvSpPr>
              <p:nvPr/>
            </p:nvSpPr>
            <p:spPr>
              <a:xfrm>
                <a:off x="1341340" y="3382344"/>
                <a:ext cx="690566" cy="690166"/>
              </a:xfrm>
              <a:prstGeom prst="rect">
                <a:avLst/>
              </a:prstGeom>
              <a:blipFill>
                <a:blip r:embed="rId14"/>
                <a:stretch>
                  <a:fillRect/>
                </a:stretch>
              </a:blipFill>
            </p:spPr>
            <p:txBody>
              <a:bodyPr/>
              <a:lstStyle/>
              <a:p>
                <a:r>
                  <a:rPr lang="vi-VN">
                    <a:noFill/>
                  </a:rPr>
                  <a:t> </a:t>
                </a:r>
              </a:p>
            </p:txBody>
          </p:sp>
        </mc:Fallback>
      </mc:AlternateContent>
      <p:sp>
        <p:nvSpPr>
          <p:cNvPr id="37" name="Left Brace 36">
            <a:extLst>
              <a:ext uri="{FF2B5EF4-FFF2-40B4-BE49-F238E27FC236}">
                <a16:creationId xmlns:a16="http://schemas.microsoft.com/office/drawing/2014/main" id="{678B375F-73F4-068B-A8BC-8D12A72598D7}"/>
              </a:ext>
            </a:extLst>
          </p:cNvPr>
          <p:cNvSpPr/>
          <p:nvPr/>
        </p:nvSpPr>
        <p:spPr>
          <a:xfrm rot="16200000">
            <a:off x="1601082" y="2720004"/>
            <a:ext cx="205933" cy="1118746"/>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cxnSp>
        <p:nvCxnSpPr>
          <p:cNvPr id="39" name="Connector: Curved 38">
            <a:extLst>
              <a:ext uri="{FF2B5EF4-FFF2-40B4-BE49-F238E27FC236}">
                <a16:creationId xmlns:a16="http://schemas.microsoft.com/office/drawing/2014/main" id="{47EBEE96-7CE1-79B7-78B0-AAB21C775B9A}"/>
              </a:ext>
            </a:extLst>
          </p:cNvPr>
          <p:cNvCxnSpPr>
            <a:cxnSpLocks/>
            <a:stCxn id="20" idx="2"/>
            <a:endCxn id="33" idx="2"/>
          </p:cNvCxnSpPr>
          <p:nvPr/>
        </p:nvCxnSpPr>
        <p:spPr>
          <a:xfrm rot="5400000" flipH="1" flipV="1">
            <a:off x="9872518" y="3467280"/>
            <a:ext cx="84467" cy="2497074"/>
          </a:xfrm>
          <a:prstGeom prst="curvedConnector3">
            <a:avLst>
              <a:gd name="adj1" fmla="val -380266"/>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CD083F4F-EF12-D1D3-677D-658B00FBFC4C}"/>
                  </a:ext>
                </a:extLst>
              </p:cNvPr>
              <p:cNvSpPr/>
              <p:nvPr/>
            </p:nvSpPr>
            <p:spPr>
              <a:xfrm>
                <a:off x="9584293" y="2392153"/>
                <a:ext cx="683893" cy="806860"/>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 </m:t>
                      </m:r>
                    </m:oMath>
                  </m:oMathPara>
                </a14:m>
                <a:endParaRPr lang="vi-VN" sz="2400">
                  <a:solidFill>
                    <a:srgbClr val="FF0000"/>
                  </a:solidFill>
                </a:endParaRPr>
              </a:p>
            </p:txBody>
          </p:sp>
        </mc:Choice>
        <mc:Fallback xmlns="">
          <p:sp>
            <p:nvSpPr>
              <p:cNvPr id="40" name="Rectangle 39">
                <a:extLst>
                  <a:ext uri="{FF2B5EF4-FFF2-40B4-BE49-F238E27FC236}">
                    <a16:creationId xmlns:a16="http://schemas.microsoft.com/office/drawing/2014/main" id="{CD083F4F-EF12-D1D3-677D-658B00FBFC4C}"/>
                  </a:ext>
                </a:extLst>
              </p:cNvPr>
              <p:cNvSpPr>
                <a:spLocks noRot="1" noChangeAspect="1" noMove="1" noResize="1" noEditPoints="1" noAdjustHandles="1" noChangeArrowheads="1" noChangeShapeType="1" noTextEdit="1"/>
              </p:cNvSpPr>
              <p:nvPr/>
            </p:nvSpPr>
            <p:spPr>
              <a:xfrm>
                <a:off x="9584293" y="2392153"/>
                <a:ext cx="683893" cy="806860"/>
              </a:xfrm>
              <a:prstGeom prst="rect">
                <a:avLst/>
              </a:prstGeom>
              <a:blipFill>
                <a:blip r:embed="rId15"/>
                <a:stretch>
                  <a:fillRect/>
                </a:stretch>
              </a:blipFill>
              <a:ln w="38100">
                <a:solidFill>
                  <a:srgbClr val="FF0000"/>
                </a:solidFill>
                <a:prstDash val="sysDash"/>
              </a:ln>
            </p:spPr>
            <p:txBody>
              <a:bodyPr/>
              <a:lstStyle/>
              <a:p>
                <a:r>
                  <a:rPr lang="vi-VN">
                    <a:noFill/>
                  </a:rPr>
                  <a:t> </a:t>
                </a:r>
              </a:p>
            </p:txBody>
          </p:sp>
        </mc:Fallback>
      </mc:AlternateContent>
      <p:cxnSp>
        <p:nvCxnSpPr>
          <p:cNvPr id="43" name="Straight Connector 42">
            <a:extLst>
              <a:ext uri="{FF2B5EF4-FFF2-40B4-BE49-F238E27FC236}">
                <a16:creationId xmlns:a16="http://schemas.microsoft.com/office/drawing/2014/main" id="{624686FC-0874-B046-7554-A20E7A56B319}"/>
              </a:ext>
            </a:extLst>
          </p:cNvPr>
          <p:cNvCxnSpPr>
            <a:cxnSpLocks/>
          </p:cNvCxnSpPr>
          <p:nvPr/>
        </p:nvCxnSpPr>
        <p:spPr>
          <a:xfrm>
            <a:off x="1835017" y="5435052"/>
            <a:ext cx="1371600" cy="0"/>
          </a:xfrm>
          <a:prstGeom prst="line">
            <a:avLst/>
          </a:prstGeom>
          <a:ln w="38100"/>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EC8ECBFF-3A92-1606-DB1B-65FE35DE6582}"/>
              </a:ext>
            </a:extLst>
          </p:cNvPr>
          <p:cNvSpPr/>
          <p:nvPr/>
        </p:nvSpPr>
        <p:spPr>
          <a:xfrm>
            <a:off x="996819" y="5135662"/>
            <a:ext cx="2401920" cy="145316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5" name="Chỗ dành sẵn cho Nội dung 2">
                <a:extLst>
                  <a:ext uri="{FF2B5EF4-FFF2-40B4-BE49-F238E27FC236}">
                    <a16:creationId xmlns:a16="http://schemas.microsoft.com/office/drawing/2014/main" id="{9D6058B0-2520-1745-D596-9CB357CAE720}"/>
                  </a:ext>
                </a:extLst>
              </p:cNvPr>
              <p:cNvSpPr txBox="1">
                <a:spLocks/>
              </p:cNvSpPr>
              <p:nvPr/>
            </p:nvSpPr>
            <p:spPr>
              <a:xfrm>
                <a:off x="996818" y="5194442"/>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45" name="Chỗ dành sẵn cho Nội dung 2">
                <a:extLst>
                  <a:ext uri="{FF2B5EF4-FFF2-40B4-BE49-F238E27FC236}">
                    <a16:creationId xmlns:a16="http://schemas.microsoft.com/office/drawing/2014/main" id="{9D6058B0-2520-1745-D596-9CB357CAE720}"/>
                  </a:ext>
                </a:extLst>
              </p:cNvPr>
              <p:cNvSpPr txBox="1">
                <a:spLocks noRot="1" noChangeAspect="1" noMove="1" noResize="1" noEditPoints="1" noAdjustHandles="1" noChangeArrowheads="1" noChangeShapeType="1" noTextEdit="1"/>
              </p:cNvSpPr>
              <p:nvPr/>
            </p:nvSpPr>
            <p:spPr>
              <a:xfrm>
                <a:off x="996818" y="5194442"/>
                <a:ext cx="850557" cy="542753"/>
              </a:xfrm>
              <a:prstGeom prst="rect">
                <a:avLst/>
              </a:prstGeom>
              <a:blipFill>
                <a:blip r:embed="rId16"/>
                <a:stretch>
                  <a:fillRect/>
                </a:stretch>
              </a:blipFill>
            </p:spPr>
            <p:txBody>
              <a:bodyPr/>
              <a:lstStyle/>
              <a:p>
                <a:r>
                  <a:rPr lang="vi-VN">
                    <a:noFill/>
                  </a:rPr>
                  <a:t> </a:t>
                </a:r>
              </a:p>
            </p:txBody>
          </p:sp>
        </mc:Fallback>
      </mc:AlternateContent>
      <p:cxnSp>
        <p:nvCxnSpPr>
          <p:cNvPr id="47" name="Straight Connector 46">
            <a:extLst>
              <a:ext uri="{FF2B5EF4-FFF2-40B4-BE49-F238E27FC236}">
                <a16:creationId xmlns:a16="http://schemas.microsoft.com/office/drawing/2014/main" id="{149CAC09-3288-CC6C-13A5-F8B8D108C8AE}"/>
              </a:ext>
            </a:extLst>
          </p:cNvPr>
          <p:cNvCxnSpPr>
            <a:cxnSpLocks/>
          </p:cNvCxnSpPr>
          <p:nvPr/>
        </p:nvCxnSpPr>
        <p:spPr>
          <a:xfrm>
            <a:off x="1847374" y="5876308"/>
            <a:ext cx="13716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Chỗ dành sẵn cho Nội dung 2">
                <a:extLst>
                  <a:ext uri="{FF2B5EF4-FFF2-40B4-BE49-F238E27FC236}">
                    <a16:creationId xmlns:a16="http://schemas.microsoft.com/office/drawing/2014/main" id="{B54A9258-DF81-1F87-1A6B-1CB8DAE94C41}"/>
                  </a:ext>
                </a:extLst>
              </p:cNvPr>
              <p:cNvSpPr txBox="1">
                <a:spLocks/>
              </p:cNvSpPr>
              <p:nvPr/>
            </p:nvSpPr>
            <p:spPr>
              <a:xfrm>
                <a:off x="1009175" y="5635698"/>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48" name="Chỗ dành sẵn cho Nội dung 2">
                <a:extLst>
                  <a:ext uri="{FF2B5EF4-FFF2-40B4-BE49-F238E27FC236}">
                    <a16:creationId xmlns:a16="http://schemas.microsoft.com/office/drawing/2014/main" id="{B54A9258-DF81-1F87-1A6B-1CB8DAE94C41}"/>
                  </a:ext>
                </a:extLst>
              </p:cNvPr>
              <p:cNvSpPr txBox="1">
                <a:spLocks noRot="1" noChangeAspect="1" noMove="1" noResize="1" noEditPoints="1" noAdjustHandles="1" noChangeArrowheads="1" noChangeShapeType="1" noTextEdit="1"/>
              </p:cNvSpPr>
              <p:nvPr/>
            </p:nvSpPr>
            <p:spPr>
              <a:xfrm>
                <a:off x="1009175" y="5635698"/>
                <a:ext cx="850557" cy="542753"/>
              </a:xfrm>
              <a:prstGeom prst="rect">
                <a:avLst/>
              </a:prstGeom>
              <a:blipFill>
                <a:blip r:embed="rId1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3AFEF1E7-DE54-BAF2-F231-C7723E3C5814}"/>
                  </a:ext>
                </a:extLst>
              </p:cNvPr>
              <p:cNvSpPr/>
              <p:nvPr/>
            </p:nvSpPr>
            <p:spPr>
              <a:xfrm>
                <a:off x="2217014" y="5614445"/>
                <a:ext cx="899289" cy="54429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𝑦</m:t>
                          </m:r>
                        </m:sub>
                      </m:sSub>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𝜃</m:t>
                          </m:r>
                        </m:e>
                      </m:d>
                    </m:oMath>
                  </m:oMathPara>
                </a14:m>
                <a:endParaRPr lang="vi-VN" sz="2400">
                  <a:solidFill>
                    <a:schemeClr val="tx1"/>
                  </a:solidFill>
                </a:endParaRPr>
              </a:p>
            </p:txBody>
          </p:sp>
        </mc:Choice>
        <mc:Fallback xmlns="">
          <p:sp>
            <p:nvSpPr>
              <p:cNvPr id="49" name="Rectangle 48">
                <a:extLst>
                  <a:ext uri="{FF2B5EF4-FFF2-40B4-BE49-F238E27FC236}">
                    <a16:creationId xmlns:a16="http://schemas.microsoft.com/office/drawing/2014/main" id="{3AFEF1E7-DE54-BAF2-F231-C7723E3C5814}"/>
                  </a:ext>
                </a:extLst>
              </p:cNvPr>
              <p:cNvSpPr>
                <a:spLocks noRot="1" noChangeAspect="1" noMove="1" noResize="1" noEditPoints="1" noAdjustHandles="1" noChangeArrowheads="1" noChangeShapeType="1" noTextEdit="1"/>
              </p:cNvSpPr>
              <p:nvPr/>
            </p:nvSpPr>
            <p:spPr>
              <a:xfrm>
                <a:off x="2217014" y="5614445"/>
                <a:ext cx="899289" cy="544297"/>
              </a:xfrm>
              <a:prstGeom prst="rect">
                <a:avLst/>
              </a:prstGeom>
              <a:blipFill>
                <a:blip r:embed="rId18"/>
                <a:stretch>
                  <a:fillRect l="-5369"/>
                </a:stretch>
              </a:blipFill>
            </p:spPr>
            <p:txBody>
              <a:bodyPr/>
              <a:lstStyle/>
              <a:p>
                <a:r>
                  <a:rPr lang="vi-VN">
                    <a:noFill/>
                  </a:rPr>
                  <a:t> </a:t>
                </a:r>
              </a:p>
            </p:txBody>
          </p:sp>
        </mc:Fallback>
      </mc:AlternateContent>
      <p:cxnSp>
        <p:nvCxnSpPr>
          <p:cNvPr id="50" name="Straight Connector 49">
            <a:extLst>
              <a:ext uri="{FF2B5EF4-FFF2-40B4-BE49-F238E27FC236}">
                <a16:creationId xmlns:a16="http://schemas.microsoft.com/office/drawing/2014/main" id="{C9793368-722A-02F7-4AAD-DEA71C979C9A}"/>
              </a:ext>
            </a:extLst>
          </p:cNvPr>
          <p:cNvCxnSpPr>
            <a:cxnSpLocks/>
          </p:cNvCxnSpPr>
          <p:nvPr/>
        </p:nvCxnSpPr>
        <p:spPr>
          <a:xfrm>
            <a:off x="1859730" y="6311870"/>
            <a:ext cx="13716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Chỗ dành sẵn cho Nội dung 2">
                <a:extLst>
                  <a:ext uri="{FF2B5EF4-FFF2-40B4-BE49-F238E27FC236}">
                    <a16:creationId xmlns:a16="http://schemas.microsoft.com/office/drawing/2014/main" id="{FB06D637-C2B8-2023-503F-002F2C94818C}"/>
                  </a:ext>
                </a:extLst>
              </p:cNvPr>
              <p:cNvSpPr txBox="1">
                <a:spLocks/>
              </p:cNvSpPr>
              <p:nvPr/>
            </p:nvSpPr>
            <p:spPr>
              <a:xfrm>
                <a:off x="1021531" y="6071260"/>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51" name="Chỗ dành sẵn cho Nội dung 2">
                <a:extLst>
                  <a:ext uri="{FF2B5EF4-FFF2-40B4-BE49-F238E27FC236}">
                    <a16:creationId xmlns:a16="http://schemas.microsoft.com/office/drawing/2014/main" id="{FB06D637-C2B8-2023-503F-002F2C94818C}"/>
                  </a:ext>
                </a:extLst>
              </p:cNvPr>
              <p:cNvSpPr txBox="1">
                <a:spLocks noRot="1" noChangeAspect="1" noMove="1" noResize="1" noEditPoints="1" noAdjustHandles="1" noChangeArrowheads="1" noChangeShapeType="1" noTextEdit="1"/>
              </p:cNvSpPr>
              <p:nvPr/>
            </p:nvSpPr>
            <p:spPr>
              <a:xfrm>
                <a:off x="1021531" y="6071260"/>
                <a:ext cx="850557" cy="542753"/>
              </a:xfrm>
              <a:prstGeom prst="rect">
                <a:avLst/>
              </a:prstGeom>
              <a:blipFill>
                <a:blip r:embed="rId19"/>
                <a:stretch>
                  <a:fillRect/>
                </a:stretch>
              </a:blipFill>
            </p:spPr>
            <p:txBody>
              <a:bodyPr/>
              <a:lstStyle/>
              <a:p>
                <a:r>
                  <a:rPr lang="vi-VN">
                    <a:noFill/>
                  </a:rPr>
                  <a:t> </a:t>
                </a:r>
              </a:p>
            </p:txBody>
          </p:sp>
        </mc:Fallback>
      </mc:AlternateContent>
      <p:sp>
        <p:nvSpPr>
          <p:cNvPr id="53" name="Oval 52">
            <a:extLst>
              <a:ext uri="{FF2B5EF4-FFF2-40B4-BE49-F238E27FC236}">
                <a16:creationId xmlns:a16="http://schemas.microsoft.com/office/drawing/2014/main" id="{E7C6B4F5-8B0F-52C6-D189-E7B474FA0D47}"/>
              </a:ext>
            </a:extLst>
          </p:cNvPr>
          <p:cNvSpPr>
            <a:spLocks noChangeAspect="1"/>
          </p:cNvSpPr>
          <p:nvPr/>
        </p:nvSpPr>
        <p:spPr>
          <a:xfrm>
            <a:off x="2006343" y="5337256"/>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54" name="Straight Connector 53">
            <a:extLst>
              <a:ext uri="{FF2B5EF4-FFF2-40B4-BE49-F238E27FC236}">
                <a16:creationId xmlns:a16="http://schemas.microsoft.com/office/drawing/2014/main" id="{E4D9A34D-C0C0-3C11-9A04-517431758B23}"/>
              </a:ext>
            </a:extLst>
          </p:cNvPr>
          <p:cNvCxnSpPr>
            <a:cxnSpLocks/>
            <a:endCxn id="53" idx="4"/>
          </p:cNvCxnSpPr>
          <p:nvPr/>
        </p:nvCxnSpPr>
        <p:spPr>
          <a:xfrm flipV="1">
            <a:off x="2114343" y="5538921"/>
            <a:ext cx="0" cy="772949"/>
          </a:xfrm>
          <a:prstGeom prst="line">
            <a:avLst/>
          </a:prstGeom>
          <a:ln w="38100"/>
        </p:spPr>
        <p:style>
          <a:lnRef idx="1">
            <a:schemeClr val="dk1"/>
          </a:lnRef>
          <a:fillRef idx="0">
            <a:schemeClr val="dk1"/>
          </a:fillRef>
          <a:effectRef idx="0">
            <a:schemeClr val="dk1"/>
          </a:effectRef>
          <a:fontRef idx="minor">
            <a:schemeClr val="tx1"/>
          </a:fontRef>
        </p:style>
      </p:cxnSp>
      <p:sp>
        <p:nvSpPr>
          <p:cNvPr id="57" name="Rectangle 56">
            <a:extLst>
              <a:ext uri="{FF2B5EF4-FFF2-40B4-BE49-F238E27FC236}">
                <a16:creationId xmlns:a16="http://schemas.microsoft.com/office/drawing/2014/main" id="{A1291349-5B3B-DC32-1B7E-075DF59EB48F}"/>
              </a:ext>
            </a:extLst>
          </p:cNvPr>
          <p:cNvSpPr/>
          <p:nvPr/>
        </p:nvSpPr>
        <p:spPr>
          <a:xfrm>
            <a:off x="833135" y="4746476"/>
            <a:ext cx="2694644" cy="197499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8" name="TextBox 57">
            <a:extLst>
              <a:ext uri="{FF2B5EF4-FFF2-40B4-BE49-F238E27FC236}">
                <a16:creationId xmlns:a16="http://schemas.microsoft.com/office/drawing/2014/main" id="{DFEB89B0-B190-A410-4C3E-82999F1AC629}"/>
              </a:ext>
            </a:extLst>
          </p:cNvPr>
          <p:cNvSpPr txBox="1"/>
          <p:nvPr/>
        </p:nvSpPr>
        <p:spPr>
          <a:xfrm>
            <a:off x="833134" y="4746477"/>
            <a:ext cx="2694644" cy="369332"/>
          </a:xfrm>
          <a:prstGeom prst="rect">
            <a:avLst/>
          </a:prstGeom>
          <a:noFill/>
        </p:spPr>
        <p:txBody>
          <a:bodyPr wrap="square" rtlCol="0">
            <a:spAutoFit/>
          </a:bodyPr>
          <a:lstStyle/>
          <a:p>
            <a:r>
              <a:rPr lang="en-US" b="1">
                <a:solidFill>
                  <a:srgbClr val="FF0000"/>
                </a:solidFill>
              </a:rPr>
              <a:t>Exercise</a:t>
            </a:r>
            <a:r>
              <a:rPr lang="en-US">
                <a:solidFill>
                  <a:srgbClr val="FF0000"/>
                </a:solidFill>
              </a:rPr>
              <a:t>: How about this?</a:t>
            </a:r>
            <a:endParaRPr lang="en-VN">
              <a:solidFill>
                <a:srgbClr val="FF0000"/>
              </a:solidFill>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81504EB7-0BAA-B1EE-B00D-DC2E963AB749}"/>
                  </a:ext>
                </a:extLst>
              </p:cNvPr>
              <p:cNvSpPr txBox="1"/>
              <p:nvPr/>
            </p:nvSpPr>
            <p:spPr>
              <a:xfrm>
                <a:off x="3740018" y="5110830"/>
                <a:ext cx="7613782" cy="138204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rPr>
                        <m:t>𝐶</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𝑋</m:t>
                          </m:r>
                        </m:e>
                        <m:sub>
                          <m:r>
                            <a:rPr lang="en-US" sz="2800" b="0" i="1" smtClean="0">
                              <a:latin typeface="Cambria Math" panose="02040503050406030204" pitchFamily="18" charset="0"/>
                            </a:rPr>
                            <m:t>0,2</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𝑅</m:t>
                          </m:r>
                        </m:e>
                        <m:sub>
                          <m:r>
                            <a:rPr lang="en-US" sz="2800" b="0" i="1" smtClean="0">
                              <a:latin typeface="Cambria Math" panose="02040503050406030204" pitchFamily="18" charset="0"/>
                            </a:rPr>
                            <m:t>𝑦</m:t>
                          </m:r>
                        </m:sub>
                      </m:sSub>
                      <m:sSub>
                        <m:sSubPr>
                          <m:ctrlPr>
                            <a:rPr lang="en-US" sz="2800" b="0" i="1" smtClean="0">
                              <a:latin typeface="Cambria Math" panose="02040503050406030204" pitchFamily="18" charset="0"/>
                            </a:rPr>
                          </m:ctrlPr>
                        </m:sSubPr>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𝜃</m:t>
                              </m:r>
                            </m:e>
                          </m:d>
                        </m:e>
                        <m:sub>
                          <m:r>
                            <a:rPr lang="en-US" sz="2800" b="0" i="1" smtClean="0">
                              <a:latin typeface="Cambria Math" panose="02040503050406030204" pitchFamily="18" charset="0"/>
                            </a:rPr>
                            <m:t>1</m:t>
                          </m:r>
                        </m:sub>
                      </m:sSub>
                      <m:r>
                        <a:rPr lang="en-US" sz="2800" b="0" i="1" smtClean="0">
                          <a:latin typeface="Cambria Math" panose="02040503050406030204" pitchFamily="18" charset="0"/>
                        </a:rPr>
                        <m:t>=|0⟩⟨0|⊗</m:t>
                      </m:r>
                      <m:d>
                        <m:dPr>
                          <m:ctrlPr>
                            <a:rPr lang="en-US" sz="2800" b="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𝐼</m:t>
                              </m:r>
                              <m:r>
                                <a:rPr lang="en-US" sz="2800" i="1">
                                  <a:latin typeface="Cambria Math" panose="02040503050406030204" pitchFamily="18" charset="0"/>
                                </a:rPr>
                                <m:t>⊗</m:t>
                              </m:r>
                              <m:r>
                                <a:rPr lang="en-US" sz="2800" i="1">
                                  <a:latin typeface="Cambria Math" panose="02040503050406030204" pitchFamily="18" charset="0"/>
                                </a:rPr>
                                <m:t>𝑅</m:t>
                              </m:r>
                            </m:e>
                            <m:sub>
                              <m:r>
                                <a:rPr lang="en-US" sz="2800" i="1">
                                  <a:latin typeface="Cambria Math" panose="02040503050406030204" pitchFamily="18" charset="0"/>
                                </a:rPr>
                                <m:t>𝑦</m:t>
                              </m:r>
                            </m:sub>
                          </m:sSub>
                          <m:d>
                            <m:dPr>
                              <m:ctrlPr>
                                <a:rPr lang="en-US" sz="2800" i="1">
                                  <a:latin typeface="Cambria Math" panose="02040503050406030204" pitchFamily="18" charset="0"/>
                                </a:rPr>
                              </m:ctrlPr>
                            </m:dPr>
                            <m:e>
                              <m:r>
                                <a:rPr lang="en-US" sz="2800" i="1">
                                  <a:latin typeface="Cambria Math" panose="02040503050406030204" pitchFamily="18" charset="0"/>
                                </a:rPr>
                                <m:t>𝜃</m:t>
                              </m:r>
                            </m:e>
                          </m:d>
                        </m:e>
                      </m:d>
                      <m:r>
                        <a:rPr lang="en-US" sz="2800" b="0" i="1" smtClean="0">
                          <a:latin typeface="Cambria Math" panose="02040503050406030204" pitchFamily="18" charset="0"/>
                        </a:rPr>
                        <m:t>⊗</m:t>
                      </m:r>
                      <m:r>
                        <a:rPr lang="en-US" sz="2800" b="0" i="1" smtClean="0">
                          <a:latin typeface="Cambria Math" panose="02040503050406030204" pitchFamily="18" charset="0"/>
                        </a:rPr>
                        <m:t>𝐼</m:t>
                      </m:r>
                    </m:oMath>
                  </m:oMathPara>
                </a14:m>
                <a:endParaRPr lang="en-US" sz="2800" b="0" i="1">
                  <a:latin typeface="Cambria Math" panose="02040503050406030204" pitchFamily="18" charset="0"/>
                </a:endParaRPr>
              </a:p>
              <a:p>
                <a:pPr lvl="5"/>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rPr>
                        <m:t>    +|1⟩⟨1|⊗</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𝐼</m:t>
                          </m:r>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𝑦</m:t>
                              </m:r>
                            </m:sub>
                          </m:sSub>
                          <m:d>
                            <m:dPr>
                              <m:ctrlPr>
                                <a:rPr lang="en-US" sz="2800" i="1">
                                  <a:latin typeface="Cambria Math" panose="02040503050406030204" pitchFamily="18" charset="0"/>
                                </a:rPr>
                              </m:ctrlPr>
                            </m:dPr>
                            <m:e>
                              <m:r>
                                <a:rPr lang="en-US" sz="2800" i="1">
                                  <a:latin typeface="Cambria Math" panose="02040503050406030204" pitchFamily="18" charset="0"/>
                                </a:rPr>
                                <m:t>𝜃</m:t>
                              </m:r>
                            </m:e>
                          </m:d>
                        </m:e>
                      </m:d>
                      <m:r>
                        <a:rPr lang="en-US" sz="2800" i="1">
                          <a:latin typeface="Cambria Math" panose="02040503050406030204" pitchFamily="18" charset="0"/>
                        </a:rPr>
                        <m:t>⊗</m:t>
                      </m:r>
                      <m:r>
                        <a:rPr lang="en-US" sz="2800" b="0" i="1" smtClean="0">
                          <a:latin typeface="Cambria Math" panose="02040503050406030204" pitchFamily="18" charset="0"/>
                        </a:rPr>
                        <m:t>𝑋</m:t>
                      </m:r>
                    </m:oMath>
                  </m:oMathPara>
                </a14:m>
                <a:endParaRPr lang="vi-VN" sz="2800" i="1"/>
              </a:p>
            </p:txBody>
          </p:sp>
        </mc:Choice>
        <mc:Fallback xmlns="">
          <p:sp>
            <p:nvSpPr>
              <p:cNvPr id="59" name="TextBox 58">
                <a:extLst>
                  <a:ext uri="{FF2B5EF4-FFF2-40B4-BE49-F238E27FC236}">
                    <a16:creationId xmlns:a16="http://schemas.microsoft.com/office/drawing/2014/main" id="{81504EB7-0BAA-B1EE-B00D-DC2E963AB749}"/>
                  </a:ext>
                </a:extLst>
              </p:cNvPr>
              <p:cNvSpPr txBox="1">
                <a:spLocks noRot="1" noChangeAspect="1" noMove="1" noResize="1" noEditPoints="1" noAdjustHandles="1" noChangeArrowheads="1" noChangeShapeType="1" noTextEdit="1"/>
              </p:cNvSpPr>
              <p:nvPr/>
            </p:nvSpPr>
            <p:spPr>
              <a:xfrm>
                <a:off x="3740018" y="5110830"/>
                <a:ext cx="7613782" cy="1382045"/>
              </a:xfrm>
              <a:prstGeom prst="rect">
                <a:avLst/>
              </a:prstGeom>
              <a:blipFill>
                <a:blip r:embed="rId21"/>
                <a:stretch>
                  <a:fillRect/>
                </a:stretch>
              </a:blipFill>
            </p:spPr>
            <p:txBody>
              <a:bodyPr/>
              <a:lstStyle/>
              <a:p>
                <a:r>
                  <a:rPr lang="vi-VN">
                    <a:noFill/>
                  </a:rPr>
                  <a:t> </a:t>
                </a:r>
              </a:p>
            </p:txBody>
          </p:sp>
        </mc:Fallback>
      </mc:AlternateContent>
      <p:sp>
        <p:nvSpPr>
          <p:cNvPr id="3" name="Rectangle 2">
            <a:extLst>
              <a:ext uri="{FF2B5EF4-FFF2-40B4-BE49-F238E27FC236}">
                <a16:creationId xmlns:a16="http://schemas.microsoft.com/office/drawing/2014/main" id="{4C0F741A-62E3-D81E-5256-61DBDB4F38FC}"/>
              </a:ext>
            </a:extLst>
          </p:cNvPr>
          <p:cNvSpPr/>
          <p:nvPr/>
        </p:nvSpPr>
        <p:spPr>
          <a:xfrm>
            <a:off x="2217014" y="1454734"/>
            <a:ext cx="445100" cy="48031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Left Brace 4">
            <a:extLst>
              <a:ext uri="{FF2B5EF4-FFF2-40B4-BE49-F238E27FC236}">
                <a16:creationId xmlns:a16="http://schemas.microsoft.com/office/drawing/2014/main" id="{BA28A914-A381-2AB1-F28C-111DA9A3DCA2}"/>
              </a:ext>
            </a:extLst>
          </p:cNvPr>
          <p:cNvSpPr/>
          <p:nvPr/>
        </p:nvSpPr>
        <p:spPr>
          <a:xfrm rot="16200000">
            <a:off x="2353616" y="1528037"/>
            <a:ext cx="205933" cy="1118746"/>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7" name="TextBox 6">
            <a:extLst>
              <a:ext uri="{FF2B5EF4-FFF2-40B4-BE49-F238E27FC236}">
                <a16:creationId xmlns:a16="http://schemas.microsoft.com/office/drawing/2014/main" id="{B1B31083-7BC8-D5E5-FF76-0EACD709A51A}"/>
              </a:ext>
            </a:extLst>
          </p:cNvPr>
          <p:cNvSpPr txBox="1"/>
          <p:nvPr/>
        </p:nvSpPr>
        <p:spPr>
          <a:xfrm>
            <a:off x="1641297" y="2201070"/>
            <a:ext cx="1630569" cy="369332"/>
          </a:xfrm>
          <a:prstGeom prst="rect">
            <a:avLst/>
          </a:prstGeom>
          <a:noFill/>
        </p:spPr>
        <p:txBody>
          <a:bodyPr wrap="square" rtlCol="0">
            <a:spAutoFit/>
          </a:bodyPr>
          <a:lstStyle/>
          <a:p>
            <a:pPr algn="ctr"/>
            <a:r>
              <a:rPr lang="en-US">
                <a:solidFill>
                  <a:srgbClr val="FF0000"/>
                </a:solidFill>
              </a:rPr>
              <a:t>Tensor product</a:t>
            </a:r>
            <a:endParaRPr lang="en-VN">
              <a:solidFill>
                <a:srgbClr val="FF0000"/>
              </a:solidFill>
            </a:endParaRPr>
          </a:p>
        </p:txBody>
      </p:sp>
      <p:cxnSp>
        <p:nvCxnSpPr>
          <p:cNvPr id="8" name="Straight Connector 7">
            <a:extLst>
              <a:ext uri="{FF2B5EF4-FFF2-40B4-BE49-F238E27FC236}">
                <a16:creationId xmlns:a16="http://schemas.microsoft.com/office/drawing/2014/main" id="{B05C1BA4-940B-CAC0-8894-92F96F45097B}"/>
              </a:ext>
            </a:extLst>
          </p:cNvPr>
          <p:cNvCxnSpPr>
            <a:cxnSpLocks/>
          </p:cNvCxnSpPr>
          <p:nvPr/>
        </p:nvCxnSpPr>
        <p:spPr>
          <a:xfrm>
            <a:off x="8149056" y="4110269"/>
            <a:ext cx="1083359" cy="0"/>
          </a:xfrm>
          <a:prstGeom prst="line">
            <a:avLst/>
          </a:prstGeom>
          <a:ln w="38100"/>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026BD07A-A793-7689-771C-873F606B41F4}"/>
              </a:ext>
            </a:extLst>
          </p:cNvPr>
          <p:cNvSpPr/>
          <p:nvPr/>
        </p:nvSpPr>
        <p:spPr>
          <a:xfrm>
            <a:off x="7310857" y="3810880"/>
            <a:ext cx="2187482" cy="10427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0" name="Chỗ dành sẵn cho Nội dung 2">
                <a:extLst>
                  <a:ext uri="{FF2B5EF4-FFF2-40B4-BE49-F238E27FC236}">
                    <a16:creationId xmlns:a16="http://schemas.microsoft.com/office/drawing/2014/main" id="{73101C0A-8F51-08A4-1575-A4EDD43412BA}"/>
                  </a:ext>
                </a:extLst>
              </p:cNvPr>
              <p:cNvSpPr txBox="1">
                <a:spLocks/>
              </p:cNvSpPr>
              <p:nvPr/>
            </p:nvSpPr>
            <p:spPr>
              <a:xfrm>
                <a:off x="7310856" y="3869659"/>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10" name="Chỗ dành sẵn cho Nội dung 2">
                <a:extLst>
                  <a:ext uri="{FF2B5EF4-FFF2-40B4-BE49-F238E27FC236}">
                    <a16:creationId xmlns:a16="http://schemas.microsoft.com/office/drawing/2014/main" id="{73101C0A-8F51-08A4-1575-A4EDD43412BA}"/>
                  </a:ext>
                </a:extLst>
              </p:cNvPr>
              <p:cNvSpPr txBox="1">
                <a:spLocks noRot="1" noChangeAspect="1" noMove="1" noResize="1" noEditPoints="1" noAdjustHandles="1" noChangeArrowheads="1" noChangeShapeType="1" noTextEdit="1"/>
              </p:cNvSpPr>
              <p:nvPr/>
            </p:nvSpPr>
            <p:spPr>
              <a:xfrm>
                <a:off x="7310856" y="3869659"/>
                <a:ext cx="850557" cy="542753"/>
              </a:xfrm>
              <a:prstGeom prst="rect">
                <a:avLst/>
              </a:prstGeom>
              <a:blipFill>
                <a:blip r:embed="rId22"/>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334AFF5-2318-5801-F9FB-1AE5E255C3DA}"/>
                  </a:ext>
                </a:extLst>
              </p:cNvPr>
              <p:cNvSpPr/>
              <p:nvPr/>
            </p:nvSpPr>
            <p:spPr>
              <a:xfrm>
                <a:off x="8428380" y="3933075"/>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𝑍</m:t>
                      </m:r>
                    </m:oMath>
                  </m:oMathPara>
                </a14:m>
                <a:endParaRPr lang="vi-VN" sz="2400">
                  <a:solidFill>
                    <a:schemeClr val="tx1"/>
                  </a:solidFill>
                </a:endParaRPr>
              </a:p>
            </p:txBody>
          </p:sp>
        </mc:Choice>
        <mc:Fallback xmlns="">
          <p:sp>
            <p:nvSpPr>
              <p:cNvPr id="16" name="Rectangle 15">
                <a:extLst>
                  <a:ext uri="{FF2B5EF4-FFF2-40B4-BE49-F238E27FC236}">
                    <a16:creationId xmlns:a16="http://schemas.microsoft.com/office/drawing/2014/main" id="{F334AFF5-2318-5801-F9FB-1AE5E255C3DA}"/>
                  </a:ext>
                </a:extLst>
              </p:cNvPr>
              <p:cNvSpPr>
                <a:spLocks noRot="1" noChangeAspect="1" noMove="1" noResize="1" noEditPoints="1" noAdjustHandles="1" noChangeArrowheads="1" noChangeShapeType="1" noTextEdit="1"/>
              </p:cNvSpPr>
              <p:nvPr/>
            </p:nvSpPr>
            <p:spPr>
              <a:xfrm>
                <a:off x="8428380" y="3933075"/>
                <a:ext cx="475673" cy="355600"/>
              </a:xfrm>
              <a:prstGeom prst="rect">
                <a:avLst/>
              </a:prstGeom>
              <a:blipFill>
                <a:blip r:embed="rId23"/>
                <a:stretch>
                  <a:fillRect l="-17949" t="-6667" b="-36667"/>
                </a:stretch>
              </a:blipFill>
            </p:spPr>
            <p:txBody>
              <a:bodyPr/>
              <a:lstStyle/>
              <a:p>
                <a:r>
                  <a:rPr lang="en-VN">
                    <a:noFill/>
                  </a:rPr>
                  <a:t> </a:t>
                </a:r>
              </a:p>
            </p:txBody>
          </p:sp>
        </mc:Fallback>
      </mc:AlternateContent>
      <p:cxnSp>
        <p:nvCxnSpPr>
          <p:cNvPr id="18" name="Straight Connector 17">
            <a:extLst>
              <a:ext uri="{FF2B5EF4-FFF2-40B4-BE49-F238E27FC236}">
                <a16:creationId xmlns:a16="http://schemas.microsoft.com/office/drawing/2014/main" id="{18FA5727-EF1B-B4E1-A4E3-795202F2AC08}"/>
              </a:ext>
            </a:extLst>
          </p:cNvPr>
          <p:cNvCxnSpPr>
            <a:cxnSpLocks/>
          </p:cNvCxnSpPr>
          <p:nvPr/>
        </p:nvCxnSpPr>
        <p:spPr>
          <a:xfrm>
            <a:off x="8161413" y="4551525"/>
            <a:ext cx="1083359"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Chỗ dành sẵn cho Nội dung 2">
                <a:extLst>
                  <a:ext uri="{FF2B5EF4-FFF2-40B4-BE49-F238E27FC236}">
                    <a16:creationId xmlns:a16="http://schemas.microsoft.com/office/drawing/2014/main" id="{7BC78C44-3A8E-7BDB-9CDB-B11E4A87B2BB}"/>
                  </a:ext>
                </a:extLst>
              </p:cNvPr>
              <p:cNvSpPr txBox="1">
                <a:spLocks/>
              </p:cNvSpPr>
              <p:nvPr/>
            </p:nvSpPr>
            <p:spPr>
              <a:xfrm>
                <a:off x="7323213" y="4310915"/>
                <a:ext cx="850557" cy="54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i="1" smtClean="0">
                              <a:latin typeface="Cambria Math" panose="02040503050406030204" pitchFamily="18" charset="0"/>
                            </a:rPr>
                          </m:ctrlPr>
                        </m:dPr>
                        <m:e>
                          <m:r>
                            <a:rPr lang="vi-VN" i="1" smtClean="0">
                              <a:latin typeface="Cambria Math" panose="02040503050406030204" pitchFamily="18" charset="0"/>
                            </a:rPr>
                            <m:t>0</m:t>
                          </m:r>
                        </m:e>
                      </m:d>
                    </m:oMath>
                  </m:oMathPara>
                </a14:m>
                <a:endParaRPr lang="en-US"/>
              </a:p>
            </p:txBody>
          </p:sp>
        </mc:Choice>
        <mc:Fallback xmlns="">
          <p:sp>
            <p:nvSpPr>
              <p:cNvPr id="19" name="Chỗ dành sẵn cho Nội dung 2">
                <a:extLst>
                  <a:ext uri="{FF2B5EF4-FFF2-40B4-BE49-F238E27FC236}">
                    <a16:creationId xmlns:a16="http://schemas.microsoft.com/office/drawing/2014/main" id="{7BC78C44-3A8E-7BDB-9CDB-B11E4A87B2BB}"/>
                  </a:ext>
                </a:extLst>
              </p:cNvPr>
              <p:cNvSpPr txBox="1">
                <a:spLocks noRot="1" noChangeAspect="1" noMove="1" noResize="1" noEditPoints="1" noAdjustHandles="1" noChangeArrowheads="1" noChangeShapeType="1" noTextEdit="1"/>
              </p:cNvSpPr>
              <p:nvPr/>
            </p:nvSpPr>
            <p:spPr>
              <a:xfrm>
                <a:off x="7323213" y="4310915"/>
                <a:ext cx="850557" cy="542753"/>
              </a:xfrm>
              <a:prstGeom prst="rect">
                <a:avLst/>
              </a:prstGeom>
              <a:blipFill>
                <a:blip r:embed="rId24"/>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6474C34C-26A9-B18C-F267-4EF70C7ADC3E}"/>
                  </a:ext>
                </a:extLst>
              </p:cNvPr>
              <p:cNvSpPr/>
              <p:nvPr/>
            </p:nvSpPr>
            <p:spPr>
              <a:xfrm>
                <a:off x="8324268" y="3875051"/>
                <a:ext cx="683893" cy="882999"/>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 </m:t>
                      </m:r>
                    </m:oMath>
                  </m:oMathPara>
                </a14:m>
                <a:endParaRPr lang="vi-VN" sz="2400">
                  <a:solidFill>
                    <a:srgbClr val="FF0000"/>
                  </a:solidFill>
                </a:endParaRPr>
              </a:p>
            </p:txBody>
          </p:sp>
        </mc:Choice>
        <mc:Fallback xmlns="">
          <p:sp>
            <p:nvSpPr>
              <p:cNvPr id="20" name="Rectangle 19">
                <a:extLst>
                  <a:ext uri="{FF2B5EF4-FFF2-40B4-BE49-F238E27FC236}">
                    <a16:creationId xmlns:a16="http://schemas.microsoft.com/office/drawing/2014/main" id="{6474C34C-26A9-B18C-F267-4EF70C7ADC3E}"/>
                  </a:ext>
                </a:extLst>
              </p:cNvPr>
              <p:cNvSpPr>
                <a:spLocks noRot="1" noChangeAspect="1" noMove="1" noResize="1" noEditPoints="1" noAdjustHandles="1" noChangeArrowheads="1" noChangeShapeType="1" noTextEdit="1"/>
              </p:cNvSpPr>
              <p:nvPr/>
            </p:nvSpPr>
            <p:spPr>
              <a:xfrm>
                <a:off x="8324268" y="3875051"/>
                <a:ext cx="683893" cy="882999"/>
              </a:xfrm>
              <a:prstGeom prst="rect">
                <a:avLst/>
              </a:prstGeom>
              <a:blipFill>
                <a:blip r:embed="rId25"/>
                <a:stretch>
                  <a:fillRect/>
                </a:stretch>
              </a:blipFill>
              <a:ln w="38100">
                <a:solidFill>
                  <a:srgbClr val="FF0000"/>
                </a:solidFill>
                <a:prstDash val="sysDash"/>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4443CF9B-7251-5847-34C1-D21E0A7FE251}"/>
                  </a:ext>
                </a:extLst>
              </p:cNvPr>
              <p:cNvSpPr/>
              <p:nvPr/>
            </p:nvSpPr>
            <p:spPr>
              <a:xfrm>
                <a:off x="8430309" y="4351696"/>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𝐼</m:t>
                      </m:r>
                    </m:oMath>
                  </m:oMathPara>
                </a14:m>
                <a:endParaRPr lang="vi-VN" sz="2400" i="1">
                  <a:solidFill>
                    <a:schemeClr val="tx1"/>
                  </a:solidFill>
                </a:endParaRPr>
              </a:p>
            </p:txBody>
          </p:sp>
        </mc:Choice>
        <mc:Fallback xmlns="">
          <p:sp>
            <p:nvSpPr>
              <p:cNvPr id="61" name="Rectangle 60">
                <a:extLst>
                  <a:ext uri="{FF2B5EF4-FFF2-40B4-BE49-F238E27FC236}">
                    <a16:creationId xmlns:a16="http://schemas.microsoft.com/office/drawing/2014/main" id="{4443CF9B-7251-5847-34C1-D21E0A7FE251}"/>
                  </a:ext>
                </a:extLst>
              </p:cNvPr>
              <p:cNvSpPr>
                <a:spLocks noRot="1" noChangeAspect="1" noMove="1" noResize="1" noEditPoints="1" noAdjustHandles="1" noChangeArrowheads="1" noChangeShapeType="1" noTextEdit="1"/>
              </p:cNvSpPr>
              <p:nvPr/>
            </p:nvSpPr>
            <p:spPr>
              <a:xfrm>
                <a:off x="8430309" y="4351696"/>
                <a:ext cx="475673" cy="355600"/>
              </a:xfrm>
              <a:prstGeom prst="rect">
                <a:avLst/>
              </a:prstGeom>
              <a:blipFill>
                <a:blip r:embed="rId26"/>
                <a:stretch>
                  <a:fillRect l="-10256" t="-6667" b="-40000"/>
                </a:stretch>
              </a:blipFill>
            </p:spPr>
            <p:txBody>
              <a:bodyPr/>
              <a:lstStyle/>
              <a:p>
                <a:r>
                  <a:rPr lang="en-VN">
                    <a:noFill/>
                  </a:rPr>
                  <a:t> </a:t>
                </a:r>
              </a:p>
            </p:txBody>
          </p:sp>
        </mc:Fallback>
      </mc:AlternateContent>
      <p:cxnSp>
        <p:nvCxnSpPr>
          <p:cNvPr id="62" name="Connector: Curved 38">
            <a:extLst>
              <a:ext uri="{FF2B5EF4-FFF2-40B4-BE49-F238E27FC236}">
                <a16:creationId xmlns:a16="http://schemas.microsoft.com/office/drawing/2014/main" id="{E82B1271-76DE-E16A-6FAD-87915B2278B2}"/>
              </a:ext>
            </a:extLst>
          </p:cNvPr>
          <p:cNvCxnSpPr>
            <a:cxnSpLocks/>
            <a:stCxn id="40" idx="2"/>
            <a:endCxn id="20" idx="0"/>
          </p:cNvCxnSpPr>
          <p:nvPr/>
        </p:nvCxnSpPr>
        <p:spPr>
          <a:xfrm rot="5400000">
            <a:off x="8958209" y="2907020"/>
            <a:ext cx="676038" cy="1260025"/>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C90660C5-9EEA-1F25-8482-DC2790ACE797}"/>
              </a:ext>
            </a:extLst>
          </p:cNvPr>
          <p:cNvSpPr txBox="1"/>
          <p:nvPr/>
        </p:nvSpPr>
        <p:spPr>
          <a:xfrm>
            <a:off x="10758363" y="2637858"/>
            <a:ext cx="1548992" cy="369332"/>
          </a:xfrm>
          <a:prstGeom prst="rect">
            <a:avLst/>
          </a:prstGeom>
          <a:noFill/>
        </p:spPr>
        <p:txBody>
          <a:bodyPr wrap="square" rtlCol="0">
            <a:spAutoFit/>
          </a:bodyPr>
          <a:lstStyle/>
          <a:p>
            <a:r>
              <a:rPr lang="en-US">
                <a:solidFill>
                  <a:srgbClr val="FF0000"/>
                </a:solidFill>
              </a:rPr>
              <a:t>“Basic” gate</a:t>
            </a:r>
            <a:endParaRPr lang="en-VN">
              <a:solidFill>
                <a:srgbClr val="FF0000"/>
              </a:solidFill>
            </a:endParaRPr>
          </a:p>
        </p:txBody>
      </p:sp>
      <p:sp>
        <p:nvSpPr>
          <p:cNvPr id="41" name="TextBox 40">
            <a:extLst>
              <a:ext uri="{FF2B5EF4-FFF2-40B4-BE49-F238E27FC236}">
                <a16:creationId xmlns:a16="http://schemas.microsoft.com/office/drawing/2014/main" id="{9C861C81-3615-EE79-23A3-9CBD049849FF}"/>
              </a:ext>
            </a:extLst>
          </p:cNvPr>
          <p:cNvSpPr txBox="1"/>
          <p:nvPr/>
        </p:nvSpPr>
        <p:spPr>
          <a:xfrm>
            <a:off x="10259411" y="3423822"/>
            <a:ext cx="1720624" cy="369332"/>
          </a:xfrm>
          <a:prstGeom prst="rect">
            <a:avLst/>
          </a:prstGeom>
          <a:noFill/>
        </p:spPr>
        <p:txBody>
          <a:bodyPr wrap="square" rtlCol="0">
            <a:spAutoFit/>
          </a:bodyPr>
          <a:lstStyle/>
          <a:p>
            <a:r>
              <a:rPr lang="en-US">
                <a:solidFill>
                  <a:srgbClr val="FF0000"/>
                </a:solidFill>
              </a:rPr>
              <a:t>“Complex” gate</a:t>
            </a:r>
            <a:endParaRPr lang="en-VN">
              <a:solidFill>
                <a:srgbClr val="FF0000"/>
              </a:solidFill>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5C2CC54-B6EA-BB4D-595E-B9849262C57A}"/>
                  </a:ext>
                </a:extLst>
              </p:cNvPr>
              <p:cNvSpPr txBox="1"/>
              <p:nvPr/>
            </p:nvSpPr>
            <p:spPr>
              <a:xfrm>
                <a:off x="1931347" y="6083651"/>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42" name="TextBox 41">
                <a:extLst>
                  <a:ext uri="{FF2B5EF4-FFF2-40B4-BE49-F238E27FC236}">
                    <a16:creationId xmlns:a16="http://schemas.microsoft.com/office/drawing/2014/main" id="{55C2CC54-B6EA-BB4D-595E-B9849262C57A}"/>
                  </a:ext>
                </a:extLst>
              </p:cNvPr>
              <p:cNvSpPr txBox="1">
                <a:spLocks noRot="1" noChangeAspect="1" noMove="1" noResize="1" noEditPoints="1" noAdjustHandles="1" noChangeArrowheads="1" noChangeShapeType="1" noTextEdit="1"/>
              </p:cNvSpPr>
              <p:nvPr/>
            </p:nvSpPr>
            <p:spPr>
              <a:xfrm>
                <a:off x="1931347" y="6083651"/>
                <a:ext cx="352661" cy="369332"/>
              </a:xfrm>
              <a:prstGeom prst="rect">
                <a:avLst/>
              </a:prstGeom>
              <a:blipFill>
                <a:blip r:embed="rId27"/>
                <a:stretch>
                  <a:fillRect l="-22414" r="-20690" b="-19672"/>
                </a:stretch>
              </a:blipFill>
            </p:spPr>
            <p:txBody>
              <a:bodyPr/>
              <a:lstStyle/>
              <a:p>
                <a:r>
                  <a:rPr lang="vi-VN">
                    <a:noFill/>
                  </a:rPr>
                  <a:t> </a:t>
                </a:r>
              </a:p>
            </p:txBody>
          </p:sp>
        </mc:Fallback>
      </mc:AlternateContent>
    </p:spTree>
    <p:extLst>
      <p:ext uri="{BB962C8B-B14F-4D97-AF65-F5344CB8AC3E}">
        <p14:creationId xmlns:p14="http://schemas.microsoft.com/office/powerpoint/2010/main" val="103468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81823-B795-EAF5-EC2F-748C89B75394}"/>
              </a:ext>
            </a:extLst>
          </p:cNvPr>
          <p:cNvSpPr>
            <a:spLocks noGrp="1"/>
          </p:cNvSpPr>
          <p:nvPr>
            <p:ph type="title"/>
          </p:nvPr>
        </p:nvSpPr>
        <p:spPr/>
        <p:txBody>
          <a:bodyPr/>
          <a:lstStyle/>
          <a:p>
            <a:r>
              <a:rPr lang="en-US"/>
              <a:t>Arbitary gate / circuit</a:t>
            </a:r>
            <a:endParaRPr lang="vi-V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28C0F3-807A-C03A-9A4B-845D16BBD1E8}"/>
                  </a:ext>
                </a:extLst>
              </p:cNvPr>
              <p:cNvSpPr>
                <a:spLocks noGrp="1"/>
              </p:cNvSpPr>
              <p:nvPr>
                <p:ph idx="1"/>
              </p:nvPr>
            </p:nvSpPr>
            <p:spPr>
              <a:xfrm>
                <a:off x="838200" y="1825625"/>
                <a:ext cx="10913772" cy="2376552"/>
              </a:xfrm>
            </p:spPr>
            <p:txBody>
              <a:bodyPr>
                <a:normAutofit/>
              </a:bodyPr>
              <a:lstStyle/>
              <a:p>
                <a:pPr marL="0" indent="0">
                  <a:buNone/>
                </a:pPr>
                <a:r>
                  <a:rPr lang="en-US"/>
                  <a:t>A</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𝑑</m:t>
                    </m:r>
                  </m:oMath>
                </a14:m>
                <a:r>
                  <a:rPr lang="en-US"/>
                  <a:t> unitary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𝑎</m:t>
                              </m:r>
                            </m:e>
                            <m:e>
                              <m:r>
                                <a:rPr lang="en-US" b="0" i="1" smtClean="0">
                                  <a:latin typeface="Cambria Math" panose="02040503050406030204" pitchFamily="18" charset="0"/>
                                </a:rPr>
                                <m:t>𝑏</m:t>
                              </m:r>
                            </m:e>
                            <m:e>
                              <m:r>
                                <a:rPr lang="en-US" b="0" i="1" smtClean="0">
                                  <a:latin typeface="Cambria Math" panose="02040503050406030204" pitchFamily="18" charset="0"/>
                                </a:rPr>
                                <m:t>…</m:t>
                              </m:r>
                            </m:e>
                          </m:mr>
                          <m:mr>
                            <m:e>
                              <m:r>
                                <a:rPr lang="en-US" b="0" i="1" smtClean="0">
                                  <a:latin typeface="Cambria Math" panose="02040503050406030204" pitchFamily="18" charset="0"/>
                                </a:rPr>
                                <m:t>𝑐</m:t>
                              </m:r>
                            </m:e>
                            <m:e>
                              <m:r>
                                <a:rPr lang="en-US" b="0" i="1" smtClean="0">
                                  <a:latin typeface="Cambria Math" panose="02040503050406030204" pitchFamily="18" charset="0"/>
                                </a:rPr>
                                <m:t>𝑑</m:t>
                              </m:r>
                            </m:e>
                            <m:e>
                              <m:r>
                                <a:rPr lang="en-US" b="0" i="1" smtClean="0">
                                  <a:latin typeface="Cambria Math" panose="02040503050406030204" pitchFamily="18" charset="0"/>
                                </a:rPr>
                                <m:t>…</m:t>
                              </m:r>
                            </m:e>
                          </m:mr>
                          <m:mr>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mr>
                        </m:m>
                      </m:e>
                    </m:d>
                  </m:oMath>
                </a14:m>
                <a:r>
                  <a:rPr lang="en-US"/>
                  <a:t> can rewritten as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oMath>
                </a14:m>
                <a:endParaRPr lang="en-US" b="0"/>
              </a:p>
              <a:p>
                <a:pPr marL="0" indent="0">
                  <a:buNone/>
                </a:pPr>
                <a:r>
                  <a:rPr lang="en-US"/>
                  <a:t>with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𝑑</m:t>
                            </m:r>
                            <m:r>
                              <a:rPr lang="en-US" b="0" i="1" smtClean="0">
                                <a:latin typeface="Cambria Math" panose="02040503050406030204" pitchFamily="18" charset="0"/>
                              </a:rPr>
                              <m:t>−1</m:t>
                            </m:r>
                          </m:e>
                        </m:d>
                      </m:num>
                      <m:den>
                        <m:r>
                          <a:rPr lang="en-US" b="0" i="1" smtClean="0">
                            <a:latin typeface="Cambria Math" panose="02040503050406030204" pitchFamily="18" charset="0"/>
                          </a:rPr>
                          <m:t>2</m:t>
                        </m:r>
                      </m:den>
                    </m:f>
                  </m:oMath>
                </a14:m>
                <a:r>
                  <a:rPr lang="en-US"/>
                  <a:t> (normally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m:t>
                    </m:r>
                  </m:oMath>
                </a14:m>
                <a:r>
                  <a:rPr lang="en-US"/>
                  <a:t>        </a:t>
                </a:r>
              </a:p>
              <a:p>
                <a:pPr marL="0" indent="0">
                  <a:buNone/>
                </a:pPr>
                <a:r>
                  <a:rPr lang="en-US"/>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𝑗</m:t>
                        </m:r>
                      </m:sub>
                    </m:sSub>
                  </m:oMath>
                </a14:m>
                <a:r>
                  <a:rPr lang="en-US"/>
                  <a:t> is the two-level matrix.</a:t>
                </a:r>
                <a:endParaRPr lang="vi-VN"/>
              </a:p>
            </p:txBody>
          </p:sp>
        </mc:Choice>
        <mc:Fallback xmlns="">
          <p:sp>
            <p:nvSpPr>
              <p:cNvPr id="3" name="Content Placeholder 2">
                <a:extLst>
                  <a:ext uri="{FF2B5EF4-FFF2-40B4-BE49-F238E27FC236}">
                    <a16:creationId xmlns:a16="http://schemas.microsoft.com/office/drawing/2014/main" id="{1628C0F3-807A-C03A-9A4B-845D16BBD1E8}"/>
                  </a:ext>
                </a:extLst>
              </p:cNvPr>
              <p:cNvSpPr>
                <a:spLocks noGrp="1" noRot="1" noChangeAspect="1" noMove="1" noResize="1" noEditPoints="1" noAdjustHandles="1" noChangeArrowheads="1" noChangeShapeType="1" noTextEdit="1"/>
              </p:cNvSpPr>
              <p:nvPr>
                <p:ph idx="1"/>
              </p:nvPr>
            </p:nvSpPr>
            <p:spPr>
              <a:xfrm>
                <a:off x="838200" y="1825625"/>
                <a:ext cx="10913772" cy="2376552"/>
              </a:xfrm>
              <a:blipFill>
                <a:blip r:embed="rId2"/>
                <a:stretch>
                  <a:fillRect l="-1173" b="-5641"/>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6BE9D1C6-1C5D-50D5-7103-E22073D20561}"/>
              </a:ext>
            </a:extLst>
          </p:cNvPr>
          <p:cNvSpPr>
            <a:spLocks noGrp="1"/>
          </p:cNvSpPr>
          <p:nvPr>
            <p:ph type="sldNum" sz="quarter" idx="12"/>
          </p:nvPr>
        </p:nvSpPr>
        <p:spPr/>
        <p:txBody>
          <a:bodyPr/>
          <a:lstStyle/>
          <a:p>
            <a:fld id="{71331178-9F85-4EDF-BDD3-1E7064DA4C59}" type="slidenum">
              <a:rPr lang="vi-VN" smtClean="0"/>
              <a:t>14</a:t>
            </a:fld>
            <a:endParaRPr lang="vi-VN"/>
          </a:p>
        </p:txBody>
      </p:sp>
      <p:sp>
        <p:nvSpPr>
          <p:cNvPr id="5" name="Rectangle 4">
            <a:extLst>
              <a:ext uri="{FF2B5EF4-FFF2-40B4-BE49-F238E27FC236}">
                <a16:creationId xmlns:a16="http://schemas.microsoft.com/office/drawing/2014/main" id="{295603D6-4330-40B3-ABC5-68524AF6612D}"/>
              </a:ext>
            </a:extLst>
          </p:cNvPr>
          <p:cNvSpPr/>
          <p:nvPr/>
        </p:nvSpPr>
        <p:spPr>
          <a:xfrm>
            <a:off x="968363" y="4291661"/>
            <a:ext cx="2914617" cy="234095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TextBox 5">
            <a:extLst>
              <a:ext uri="{FF2B5EF4-FFF2-40B4-BE49-F238E27FC236}">
                <a16:creationId xmlns:a16="http://schemas.microsoft.com/office/drawing/2014/main" id="{B1543B13-0347-7039-C7EB-192A34940CBB}"/>
              </a:ext>
            </a:extLst>
          </p:cNvPr>
          <p:cNvSpPr txBox="1"/>
          <p:nvPr/>
        </p:nvSpPr>
        <p:spPr>
          <a:xfrm>
            <a:off x="968361" y="4291662"/>
            <a:ext cx="3094923" cy="369332"/>
          </a:xfrm>
          <a:prstGeom prst="rect">
            <a:avLst/>
          </a:prstGeom>
          <a:noFill/>
        </p:spPr>
        <p:txBody>
          <a:bodyPr wrap="square" rtlCol="0">
            <a:spAutoFit/>
          </a:bodyPr>
          <a:lstStyle/>
          <a:p>
            <a:r>
              <a:rPr lang="en-US" b="1">
                <a:solidFill>
                  <a:srgbClr val="FF0000"/>
                </a:solidFill>
              </a:rPr>
              <a:t>Readmore:</a:t>
            </a:r>
            <a:r>
              <a:rPr lang="en-US">
                <a:solidFill>
                  <a:srgbClr val="FF0000"/>
                </a:solidFill>
              </a:rPr>
              <a:t> Two-level matrix</a:t>
            </a:r>
            <a:endParaRPr lang="en-VN">
              <a:solidFill>
                <a:srgbClr val="FF0000"/>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90F2DDB-801C-D5E6-A304-5657B7641B4A}"/>
                  </a:ext>
                </a:extLst>
              </p:cNvPr>
              <p:cNvSpPr txBox="1"/>
              <p:nvPr/>
            </p:nvSpPr>
            <p:spPr>
              <a:xfrm>
                <a:off x="968361" y="5099002"/>
                <a:ext cx="958102"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400" b="0" i="1" smtClean="0">
                          <a:solidFill>
                            <a:srgbClr val="FF0000"/>
                          </a:solidFill>
                          <a:latin typeface="Cambria Math" panose="02040503050406030204" pitchFamily="18" charset="0"/>
                        </a:rPr>
                        <m:t>𝑈</m:t>
                      </m:r>
                      <m:r>
                        <a:rPr lang="en-US" sz="2400" b="0" i="1" smtClean="0">
                          <a:solidFill>
                            <a:srgbClr val="FF0000"/>
                          </a:solidFill>
                          <a:latin typeface="Cambria Math" panose="02040503050406030204" pitchFamily="18" charset="0"/>
                        </a:rPr>
                        <m:t>=</m:t>
                      </m:r>
                    </m:oMath>
                  </m:oMathPara>
                </a14:m>
                <a:endParaRPr lang="vi-VN" sz="2400">
                  <a:solidFill>
                    <a:srgbClr val="FF0000"/>
                  </a:solidFill>
                </a:endParaRPr>
              </a:p>
            </p:txBody>
          </p:sp>
        </mc:Choice>
        <mc:Fallback xmlns="">
          <p:sp>
            <p:nvSpPr>
              <p:cNvPr id="8" name="TextBox 7">
                <a:extLst>
                  <a:ext uri="{FF2B5EF4-FFF2-40B4-BE49-F238E27FC236}">
                    <a16:creationId xmlns:a16="http://schemas.microsoft.com/office/drawing/2014/main" id="{890F2DDB-801C-D5E6-A304-5657B7641B4A}"/>
                  </a:ext>
                </a:extLst>
              </p:cNvPr>
              <p:cNvSpPr txBox="1">
                <a:spLocks noRot="1" noChangeAspect="1" noMove="1" noResize="1" noEditPoints="1" noAdjustHandles="1" noChangeArrowheads="1" noChangeShapeType="1" noTextEdit="1"/>
              </p:cNvSpPr>
              <p:nvPr/>
            </p:nvSpPr>
            <p:spPr>
              <a:xfrm>
                <a:off x="968361" y="5099002"/>
                <a:ext cx="958102" cy="461665"/>
              </a:xfrm>
              <a:prstGeom prst="rect">
                <a:avLst/>
              </a:prstGeom>
              <a:blipFill>
                <a:blip r:embed="rId3"/>
                <a:stretch>
                  <a:fillRect l="-1911"/>
                </a:stretch>
              </a:blipFill>
            </p:spPr>
            <p:txBody>
              <a:bodyPr/>
              <a:lstStyle/>
              <a:p>
                <a:r>
                  <a:rPr lang="vi-VN">
                    <a:noFill/>
                  </a:rPr>
                  <a:t> </a:t>
                </a:r>
              </a:p>
            </p:txBody>
          </p:sp>
        </mc:Fallback>
      </mc:AlternateContent>
      <p:sp>
        <p:nvSpPr>
          <p:cNvPr id="9" name="Double Bracket 8">
            <a:extLst>
              <a:ext uri="{FF2B5EF4-FFF2-40B4-BE49-F238E27FC236}">
                <a16:creationId xmlns:a16="http://schemas.microsoft.com/office/drawing/2014/main" id="{BB8D9CCD-7F6A-446D-AA88-D8BB8F609C17}"/>
              </a:ext>
            </a:extLst>
          </p:cNvPr>
          <p:cNvSpPr/>
          <p:nvPr/>
        </p:nvSpPr>
        <p:spPr>
          <a:xfrm>
            <a:off x="1752598" y="4733178"/>
            <a:ext cx="1962957" cy="1371600"/>
          </a:xfrm>
          <a:prstGeom prst="bracketPair">
            <a:avLst>
              <a:gd name="adj" fmla="val 10047"/>
            </a:avLst>
          </a:prstGeom>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F735936-D2E3-3238-4103-0EC9AC2C9B31}"/>
                  </a:ext>
                </a:extLst>
              </p:cNvPr>
              <p:cNvSpPr txBox="1"/>
              <p:nvPr/>
            </p:nvSpPr>
            <p:spPr>
              <a:xfrm>
                <a:off x="1881390" y="4732518"/>
                <a:ext cx="1923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m:t>
                      </m:r>
                    </m:oMath>
                  </m:oMathPara>
                </a14:m>
                <a:endParaRPr lang="vi-VN">
                  <a:solidFill>
                    <a:srgbClr val="FF0000"/>
                  </a:solidFill>
                </a:endParaRPr>
              </a:p>
            </p:txBody>
          </p:sp>
        </mc:Choice>
        <mc:Fallback xmlns="">
          <p:sp>
            <p:nvSpPr>
              <p:cNvPr id="10" name="TextBox 9">
                <a:extLst>
                  <a:ext uri="{FF2B5EF4-FFF2-40B4-BE49-F238E27FC236}">
                    <a16:creationId xmlns:a16="http://schemas.microsoft.com/office/drawing/2014/main" id="{0F735936-D2E3-3238-4103-0EC9AC2C9B31}"/>
                  </a:ext>
                </a:extLst>
              </p:cNvPr>
              <p:cNvSpPr txBox="1">
                <a:spLocks noRot="1" noChangeAspect="1" noMove="1" noResize="1" noEditPoints="1" noAdjustHandles="1" noChangeArrowheads="1" noChangeShapeType="1" noTextEdit="1"/>
              </p:cNvSpPr>
              <p:nvPr/>
            </p:nvSpPr>
            <p:spPr>
              <a:xfrm>
                <a:off x="1881390" y="4732518"/>
                <a:ext cx="192360" cy="276999"/>
              </a:xfrm>
              <a:prstGeom prst="rect">
                <a:avLst/>
              </a:prstGeom>
              <a:blipFill>
                <a:blip r:embed="rId4"/>
                <a:stretch>
                  <a:fillRect l="-29032" r="-25806" b="-869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C2DCDF6-24DF-CA09-1581-48EE19160122}"/>
                  </a:ext>
                </a:extLst>
              </p:cNvPr>
              <p:cNvSpPr txBox="1"/>
              <p:nvPr/>
            </p:nvSpPr>
            <p:spPr>
              <a:xfrm>
                <a:off x="3294420" y="5843136"/>
                <a:ext cx="1923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m:t>
                      </m:r>
                    </m:oMath>
                  </m:oMathPara>
                </a14:m>
                <a:endParaRPr lang="vi-VN">
                  <a:solidFill>
                    <a:srgbClr val="FF0000"/>
                  </a:solidFill>
                </a:endParaRPr>
              </a:p>
            </p:txBody>
          </p:sp>
        </mc:Choice>
        <mc:Fallback xmlns="">
          <p:sp>
            <p:nvSpPr>
              <p:cNvPr id="11" name="TextBox 10">
                <a:extLst>
                  <a:ext uri="{FF2B5EF4-FFF2-40B4-BE49-F238E27FC236}">
                    <a16:creationId xmlns:a16="http://schemas.microsoft.com/office/drawing/2014/main" id="{FC2DCDF6-24DF-CA09-1581-48EE19160122}"/>
                  </a:ext>
                </a:extLst>
              </p:cNvPr>
              <p:cNvSpPr txBox="1">
                <a:spLocks noRot="1" noChangeAspect="1" noMove="1" noResize="1" noEditPoints="1" noAdjustHandles="1" noChangeArrowheads="1" noChangeShapeType="1" noTextEdit="1"/>
              </p:cNvSpPr>
              <p:nvPr/>
            </p:nvSpPr>
            <p:spPr>
              <a:xfrm>
                <a:off x="3294420" y="5843136"/>
                <a:ext cx="192360" cy="276999"/>
              </a:xfrm>
              <a:prstGeom prst="rect">
                <a:avLst/>
              </a:prstGeom>
              <a:blipFill>
                <a:blip r:embed="rId5"/>
                <a:stretch>
                  <a:fillRect l="-25000" r="-25000" b="-88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773941C-C787-567E-6496-8BE862844427}"/>
                  </a:ext>
                </a:extLst>
              </p:cNvPr>
              <p:cNvSpPr txBox="1"/>
              <p:nvPr/>
            </p:nvSpPr>
            <p:spPr>
              <a:xfrm>
                <a:off x="2354369" y="5195452"/>
                <a:ext cx="569194" cy="4675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vi-VN" i="1" smtClean="0">
                              <a:solidFill>
                                <a:srgbClr val="FF0000"/>
                              </a:solidFill>
                              <a:latin typeface="Cambria Math" panose="02040503050406030204" pitchFamily="18" charset="0"/>
                            </a:rPr>
                          </m:ctrlPr>
                        </m:mPr>
                        <m:mr>
                          <m:e>
                            <m:r>
                              <m:rPr>
                                <m:brk m:alnAt="7"/>
                              </m:rPr>
                              <a:rPr lang="en-US" b="0" i="1" smtClean="0">
                                <a:solidFill>
                                  <a:srgbClr val="FF0000"/>
                                </a:solidFill>
                                <a:latin typeface="Cambria Math" panose="02040503050406030204" pitchFamily="18" charset="0"/>
                              </a:rPr>
                              <m:t>𝑎</m:t>
                            </m:r>
                          </m:e>
                          <m:e>
                            <m:r>
                              <a:rPr lang="en-US" b="0" i="1" smtClean="0">
                                <a:solidFill>
                                  <a:srgbClr val="FF0000"/>
                                </a:solidFill>
                                <a:latin typeface="Cambria Math" panose="02040503050406030204" pitchFamily="18" charset="0"/>
                              </a:rPr>
                              <m:t>𝑏</m:t>
                            </m:r>
                          </m:e>
                        </m:mr>
                        <m:mr>
                          <m:e>
                            <m:r>
                              <a:rPr lang="en-US" b="0" i="1" smtClean="0">
                                <a:solidFill>
                                  <a:srgbClr val="FF0000"/>
                                </a:solidFill>
                                <a:latin typeface="Cambria Math" panose="02040503050406030204" pitchFamily="18" charset="0"/>
                              </a:rPr>
                              <m:t>𝑐</m:t>
                            </m:r>
                          </m:e>
                          <m:e>
                            <m:r>
                              <a:rPr lang="en-US" b="0" i="1" smtClean="0">
                                <a:solidFill>
                                  <a:srgbClr val="FF0000"/>
                                </a:solidFill>
                                <a:latin typeface="Cambria Math" panose="02040503050406030204" pitchFamily="18" charset="0"/>
                              </a:rPr>
                              <m:t>𝑑</m:t>
                            </m:r>
                          </m:e>
                        </m:mr>
                      </m:m>
                    </m:oMath>
                  </m:oMathPara>
                </a14:m>
                <a:endParaRPr lang="vi-VN">
                  <a:solidFill>
                    <a:srgbClr val="FF0000"/>
                  </a:solidFill>
                </a:endParaRPr>
              </a:p>
            </p:txBody>
          </p:sp>
        </mc:Choice>
        <mc:Fallback xmlns="">
          <p:sp>
            <p:nvSpPr>
              <p:cNvPr id="12" name="TextBox 11">
                <a:extLst>
                  <a:ext uri="{FF2B5EF4-FFF2-40B4-BE49-F238E27FC236}">
                    <a16:creationId xmlns:a16="http://schemas.microsoft.com/office/drawing/2014/main" id="{1773941C-C787-567E-6496-8BE862844427}"/>
                  </a:ext>
                </a:extLst>
              </p:cNvPr>
              <p:cNvSpPr txBox="1">
                <a:spLocks noRot="1" noChangeAspect="1" noMove="1" noResize="1" noEditPoints="1" noAdjustHandles="1" noChangeArrowheads="1" noChangeShapeType="1" noTextEdit="1"/>
              </p:cNvSpPr>
              <p:nvPr/>
            </p:nvSpPr>
            <p:spPr>
              <a:xfrm>
                <a:off x="2354369" y="5195452"/>
                <a:ext cx="569194" cy="467500"/>
              </a:xfrm>
              <a:prstGeom prst="rect">
                <a:avLst/>
              </a:prstGeom>
              <a:blipFill>
                <a:blip r:embed="rId6"/>
                <a:stretch>
                  <a:fillRect/>
                </a:stretch>
              </a:blipFill>
            </p:spPr>
            <p:txBody>
              <a:bodyPr/>
              <a:lstStyle/>
              <a:p>
                <a:r>
                  <a:rPr lang="vi-VN">
                    <a:noFill/>
                  </a:rPr>
                  <a:t> </a:t>
                </a:r>
              </a:p>
            </p:txBody>
          </p:sp>
        </mc:Fallback>
      </mc:AlternateContent>
      <p:sp>
        <p:nvSpPr>
          <p:cNvPr id="13" name="Rectangle 12">
            <a:extLst>
              <a:ext uri="{FF2B5EF4-FFF2-40B4-BE49-F238E27FC236}">
                <a16:creationId xmlns:a16="http://schemas.microsoft.com/office/drawing/2014/main" id="{71C0CCF3-9FFA-53F6-2BA0-FBD0F2BBC0C3}"/>
              </a:ext>
            </a:extLst>
          </p:cNvPr>
          <p:cNvSpPr/>
          <p:nvPr/>
        </p:nvSpPr>
        <p:spPr>
          <a:xfrm>
            <a:off x="2300359" y="5182714"/>
            <a:ext cx="689021" cy="5677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EF7F023-2E87-E61E-BB41-BF3C9BA16D22}"/>
                  </a:ext>
                </a:extLst>
              </p:cNvPr>
              <p:cNvSpPr txBox="1"/>
              <p:nvPr/>
            </p:nvSpPr>
            <p:spPr>
              <a:xfrm>
                <a:off x="2075632" y="4915429"/>
                <a:ext cx="2067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solidFill>
                            <a:srgbClr val="FF0000"/>
                          </a:solidFill>
                          <a:latin typeface="Cambria Math" panose="02040503050406030204" pitchFamily="18" charset="0"/>
                          <a:ea typeface="Cambria Math" panose="02040503050406030204" pitchFamily="18" charset="0"/>
                        </a:rPr>
                        <m:t>⋱</m:t>
                      </m:r>
                    </m:oMath>
                  </m:oMathPara>
                </a14:m>
                <a:endParaRPr lang="vi-VN">
                  <a:solidFill>
                    <a:srgbClr val="FF0000"/>
                  </a:solidFill>
                </a:endParaRPr>
              </a:p>
            </p:txBody>
          </p:sp>
        </mc:Choice>
        <mc:Fallback xmlns="">
          <p:sp>
            <p:nvSpPr>
              <p:cNvPr id="14" name="TextBox 13">
                <a:extLst>
                  <a:ext uri="{FF2B5EF4-FFF2-40B4-BE49-F238E27FC236}">
                    <a16:creationId xmlns:a16="http://schemas.microsoft.com/office/drawing/2014/main" id="{5EF7F023-2E87-E61E-BB41-BF3C9BA16D22}"/>
                  </a:ext>
                </a:extLst>
              </p:cNvPr>
              <p:cNvSpPr txBox="1">
                <a:spLocks noRot="1" noChangeAspect="1" noMove="1" noResize="1" noEditPoints="1" noAdjustHandles="1" noChangeArrowheads="1" noChangeShapeType="1" noTextEdit="1"/>
              </p:cNvSpPr>
              <p:nvPr/>
            </p:nvSpPr>
            <p:spPr>
              <a:xfrm>
                <a:off x="2075632" y="4915429"/>
                <a:ext cx="206787" cy="276999"/>
              </a:xfrm>
              <a:prstGeom prst="rect">
                <a:avLst/>
              </a:prstGeom>
              <a:blipFill>
                <a:blip r:embed="rId7"/>
                <a:stretch>
                  <a:fillRect l="-20588" r="-17647" b="-434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E67C50D-64B5-118E-4086-75409882524D}"/>
                  </a:ext>
                </a:extLst>
              </p:cNvPr>
              <p:cNvSpPr txBox="1"/>
              <p:nvPr/>
            </p:nvSpPr>
            <p:spPr>
              <a:xfrm>
                <a:off x="3051220" y="5685320"/>
                <a:ext cx="2067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solidFill>
                            <a:srgbClr val="FF0000"/>
                          </a:solidFill>
                          <a:latin typeface="Cambria Math" panose="02040503050406030204" pitchFamily="18" charset="0"/>
                          <a:ea typeface="Cambria Math" panose="02040503050406030204" pitchFamily="18" charset="0"/>
                        </a:rPr>
                        <m:t>⋱</m:t>
                      </m:r>
                    </m:oMath>
                  </m:oMathPara>
                </a14:m>
                <a:endParaRPr lang="vi-VN">
                  <a:solidFill>
                    <a:srgbClr val="FF0000"/>
                  </a:solidFill>
                </a:endParaRPr>
              </a:p>
            </p:txBody>
          </p:sp>
        </mc:Choice>
        <mc:Fallback xmlns="">
          <p:sp>
            <p:nvSpPr>
              <p:cNvPr id="15" name="TextBox 14">
                <a:extLst>
                  <a:ext uri="{FF2B5EF4-FFF2-40B4-BE49-F238E27FC236}">
                    <a16:creationId xmlns:a16="http://schemas.microsoft.com/office/drawing/2014/main" id="{0E67C50D-64B5-118E-4086-75409882524D}"/>
                  </a:ext>
                </a:extLst>
              </p:cNvPr>
              <p:cNvSpPr txBox="1">
                <a:spLocks noRot="1" noChangeAspect="1" noMove="1" noResize="1" noEditPoints="1" noAdjustHandles="1" noChangeArrowheads="1" noChangeShapeType="1" noTextEdit="1"/>
              </p:cNvSpPr>
              <p:nvPr/>
            </p:nvSpPr>
            <p:spPr>
              <a:xfrm>
                <a:off x="3051220" y="5685320"/>
                <a:ext cx="206787" cy="276999"/>
              </a:xfrm>
              <a:prstGeom prst="rect">
                <a:avLst/>
              </a:prstGeom>
              <a:blipFill>
                <a:blip r:embed="rId8"/>
                <a:stretch>
                  <a:fillRect l="-21212" r="-21212" b="-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F3C6B61-FC51-0331-3BDA-2CD08C2370CE}"/>
                  </a:ext>
                </a:extLst>
              </p:cNvPr>
              <p:cNvSpPr txBox="1"/>
              <p:nvPr/>
            </p:nvSpPr>
            <p:spPr>
              <a:xfrm>
                <a:off x="2399440" y="6104778"/>
                <a:ext cx="479051" cy="47083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US" sz="2400" b="0" i="1" smtClean="0">
                              <a:solidFill>
                                <a:srgbClr val="FF0000"/>
                              </a:solidFill>
                              <a:latin typeface="Cambria Math" panose="02040503050406030204" pitchFamily="18" charset="0"/>
                            </a:rPr>
                          </m:ctrlPr>
                        </m:accPr>
                        <m:e>
                          <m:r>
                            <a:rPr lang="en-US" sz="2400" i="1">
                              <a:solidFill>
                                <a:srgbClr val="FF0000"/>
                              </a:solidFill>
                              <a:latin typeface="Cambria Math" panose="02040503050406030204" pitchFamily="18" charset="0"/>
                            </a:rPr>
                            <m:t>𝑈</m:t>
                          </m:r>
                        </m:e>
                      </m:acc>
                    </m:oMath>
                  </m:oMathPara>
                </a14:m>
                <a:endParaRPr lang="vi-VN" sz="2400">
                  <a:solidFill>
                    <a:srgbClr val="FF0000"/>
                  </a:solidFill>
                </a:endParaRPr>
              </a:p>
            </p:txBody>
          </p:sp>
        </mc:Choice>
        <mc:Fallback xmlns="">
          <p:sp>
            <p:nvSpPr>
              <p:cNvPr id="16" name="TextBox 15">
                <a:extLst>
                  <a:ext uri="{FF2B5EF4-FFF2-40B4-BE49-F238E27FC236}">
                    <a16:creationId xmlns:a16="http://schemas.microsoft.com/office/drawing/2014/main" id="{3F3C6B61-FC51-0331-3BDA-2CD08C2370CE}"/>
                  </a:ext>
                </a:extLst>
              </p:cNvPr>
              <p:cNvSpPr txBox="1">
                <a:spLocks noRot="1" noChangeAspect="1" noMove="1" noResize="1" noEditPoints="1" noAdjustHandles="1" noChangeArrowheads="1" noChangeShapeType="1" noTextEdit="1"/>
              </p:cNvSpPr>
              <p:nvPr/>
            </p:nvSpPr>
            <p:spPr>
              <a:xfrm>
                <a:off x="2399440" y="6104778"/>
                <a:ext cx="479051" cy="470835"/>
              </a:xfrm>
              <a:prstGeom prst="rect">
                <a:avLst/>
              </a:prstGeom>
              <a:blipFill>
                <a:blip r:embed="rId9"/>
                <a:stretch>
                  <a:fillRect l="-3846" t="-5128" r="-6410"/>
                </a:stretch>
              </a:blipFill>
            </p:spPr>
            <p:txBody>
              <a:bodyPr/>
              <a:lstStyle/>
              <a:p>
                <a:r>
                  <a:rPr lang="vi-VN">
                    <a:noFill/>
                  </a:rPr>
                  <a:t> </a:t>
                </a:r>
              </a:p>
            </p:txBody>
          </p:sp>
        </mc:Fallback>
      </mc:AlternateContent>
      <p:cxnSp>
        <p:nvCxnSpPr>
          <p:cNvPr id="18" name="Straight Arrow Connector 17">
            <a:extLst>
              <a:ext uri="{FF2B5EF4-FFF2-40B4-BE49-F238E27FC236}">
                <a16:creationId xmlns:a16="http://schemas.microsoft.com/office/drawing/2014/main" id="{07C6346B-99B1-0662-5534-DCCCDB7D16AE}"/>
              </a:ext>
            </a:extLst>
          </p:cNvPr>
          <p:cNvCxnSpPr>
            <a:stCxn id="16" idx="0"/>
            <a:endCxn id="13" idx="2"/>
          </p:cNvCxnSpPr>
          <p:nvPr/>
        </p:nvCxnSpPr>
        <p:spPr>
          <a:xfrm flipV="1">
            <a:off x="2638966" y="5750416"/>
            <a:ext cx="5904" cy="3543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48DB5E67-DE5D-E645-2ECF-4929175BC4D4}"/>
              </a:ext>
            </a:extLst>
          </p:cNvPr>
          <p:cNvSpPr/>
          <p:nvPr/>
        </p:nvSpPr>
        <p:spPr>
          <a:xfrm>
            <a:off x="8782972" y="2139903"/>
            <a:ext cx="1737922" cy="502950"/>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04CDB8C-3B28-731F-56E8-4D9310F66D2B}"/>
                  </a:ext>
                </a:extLst>
              </p:cNvPr>
              <p:cNvSpPr txBox="1"/>
              <p:nvPr/>
            </p:nvSpPr>
            <p:spPr>
              <a:xfrm>
                <a:off x="4288664" y="4221555"/>
                <a:ext cx="4417453" cy="516936"/>
              </a:xfrm>
              <a:prstGeom prst="rect">
                <a:avLst/>
              </a:prstGeom>
              <a:noFill/>
              <a:ln>
                <a:noFill/>
              </a:ln>
            </p:spPr>
            <p:txBody>
              <a:bodyPr wrap="square" rtlCol="0">
                <a:spAutoFit/>
              </a:bodyPr>
              <a:lstStyle/>
              <a:p>
                <a:r>
                  <a:rPr lang="en-US" sz="2400">
                    <a:solidFill>
                      <a:schemeClr val="accent1"/>
                    </a:solidFill>
                  </a:rPr>
                  <a:t>How to transform </a:t>
                </a:r>
                <a14:m>
                  <m:oMath xmlns:m="http://schemas.openxmlformats.org/officeDocument/2006/math">
                    <m:d>
                      <m:dPr>
                        <m:begChr m:val="{"/>
                        <m:endChr m:val="}"/>
                        <m:ctrlPr>
                          <a:rPr lang="en-US" sz="2400" b="0" i="1" smtClean="0">
                            <a:solidFill>
                              <a:schemeClr val="accent1"/>
                            </a:solidFill>
                            <a:latin typeface="Cambria Math" panose="02040503050406030204" pitchFamily="18" charset="0"/>
                          </a:rPr>
                        </m:ctrlPr>
                      </m:dPr>
                      <m:e>
                        <m:sSub>
                          <m:sSubPr>
                            <m:ctrlPr>
                              <a:rPr lang="en-US" sz="2400" b="0" i="1" smtClean="0">
                                <a:solidFill>
                                  <a:schemeClr val="accent1"/>
                                </a:solidFill>
                                <a:latin typeface="Cambria Math" panose="02040503050406030204" pitchFamily="18" charset="0"/>
                              </a:rPr>
                            </m:ctrlPr>
                          </m:sSubPr>
                          <m:e>
                            <m:r>
                              <a:rPr lang="en-US" sz="2400" b="0" i="1" smtClean="0">
                                <a:solidFill>
                                  <a:schemeClr val="accent1"/>
                                </a:solidFill>
                                <a:latin typeface="Cambria Math" panose="02040503050406030204" pitchFamily="18" charset="0"/>
                              </a:rPr>
                              <m:t>𝑈</m:t>
                            </m:r>
                          </m:e>
                          <m:sub>
                            <m:r>
                              <a:rPr lang="en-US" sz="2400" b="0" i="1" smtClean="0">
                                <a:solidFill>
                                  <a:schemeClr val="accent1"/>
                                </a:solidFill>
                                <a:latin typeface="Cambria Math" panose="02040503050406030204" pitchFamily="18" charset="0"/>
                              </a:rPr>
                              <m:t>𝑗</m:t>
                            </m:r>
                          </m:sub>
                        </m:sSub>
                      </m:e>
                    </m:d>
                  </m:oMath>
                </a14:m>
                <a:r>
                  <a:rPr lang="en-US" sz="2400">
                    <a:solidFill>
                      <a:schemeClr val="accent1"/>
                    </a:solidFill>
                  </a:rPr>
                  <a:t> into gates?</a:t>
                </a:r>
                <a:endParaRPr lang="en-VN" sz="2400">
                  <a:solidFill>
                    <a:schemeClr val="accent1"/>
                  </a:solidFill>
                </a:endParaRPr>
              </a:p>
            </p:txBody>
          </p:sp>
        </mc:Choice>
        <mc:Fallback xmlns="">
          <p:sp>
            <p:nvSpPr>
              <p:cNvPr id="21" name="TextBox 20">
                <a:extLst>
                  <a:ext uri="{FF2B5EF4-FFF2-40B4-BE49-F238E27FC236}">
                    <a16:creationId xmlns:a16="http://schemas.microsoft.com/office/drawing/2014/main" id="{004CDB8C-3B28-731F-56E8-4D9310F66D2B}"/>
                  </a:ext>
                </a:extLst>
              </p:cNvPr>
              <p:cNvSpPr txBox="1">
                <a:spLocks noRot="1" noChangeAspect="1" noMove="1" noResize="1" noEditPoints="1" noAdjustHandles="1" noChangeArrowheads="1" noChangeShapeType="1" noTextEdit="1"/>
              </p:cNvSpPr>
              <p:nvPr/>
            </p:nvSpPr>
            <p:spPr>
              <a:xfrm>
                <a:off x="4288664" y="4221555"/>
                <a:ext cx="4417453" cy="516936"/>
              </a:xfrm>
              <a:prstGeom prst="rect">
                <a:avLst/>
              </a:prstGeom>
              <a:blipFill>
                <a:blip r:embed="rId10"/>
                <a:stretch>
                  <a:fillRect l="-2210" t="-3571" r="-1381" b="-22619"/>
                </a:stretch>
              </a:blipFill>
              <a:ln>
                <a:noFill/>
              </a:ln>
            </p:spPr>
            <p:txBody>
              <a:bodyPr/>
              <a:lstStyle/>
              <a:p>
                <a:r>
                  <a:rPr lang="vi-VN">
                    <a:noFill/>
                  </a:rPr>
                  <a:t> </a:t>
                </a:r>
              </a:p>
            </p:txBody>
          </p:sp>
        </mc:Fallback>
      </mc:AlternateContent>
      <p:cxnSp>
        <p:nvCxnSpPr>
          <p:cNvPr id="23" name="Connector: Curved 22">
            <a:extLst>
              <a:ext uri="{FF2B5EF4-FFF2-40B4-BE49-F238E27FC236}">
                <a16:creationId xmlns:a16="http://schemas.microsoft.com/office/drawing/2014/main" id="{4CBA98ED-609A-BEBD-CA68-2066BF6139B0}"/>
              </a:ext>
            </a:extLst>
          </p:cNvPr>
          <p:cNvCxnSpPr>
            <a:cxnSpLocks/>
            <a:stCxn id="20" idx="2"/>
            <a:endCxn id="21" idx="0"/>
          </p:cNvCxnSpPr>
          <p:nvPr/>
        </p:nvCxnSpPr>
        <p:spPr>
          <a:xfrm rot="5400000">
            <a:off x="7285311" y="1854933"/>
            <a:ext cx="1578702" cy="3154542"/>
          </a:xfrm>
          <a:prstGeom prst="curvedConnector3">
            <a:avLst>
              <a:gd name="adj1" fmla="val 50000"/>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9F2297D-97D7-CCC6-C293-BF963529C6CD}"/>
              </a:ext>
            </a:extLst>
          </p:cNvPr>
          <p:cNvSpPr txBox="1"/>
          <p:nvPr/>
        </p:nvSpPr>
        <p:spPr>
          <a:xfrm>
            <a:off x="4301546" y="5231307"/>
            <a:ext cx="4417453" cy="461665"/>
          </a:xfrm>
          <a:prstGeom prst="rect">
            <a:avLst/>
          </a:prstGeom>
          <a:noFill/>
        </p:spPr>
        <p:txBody>
          <a:bodyPr wrap="square" rtlCol="0">
            <a:spAutoFit/>
          </a:bodyPr>
          <a:lstStyle/>
          <a:p>
            <a:r>
              <a:rPr lang="en-US" sz="2400">
                <a:solidFill>
                  <a:schemeClr val="accent1"/>
                </a:solidFill>
              </a:rPr>
              <a:t>Use single-qubit gate and CX gate</a:t>
            </a:r>
            <a:endParaRPr lang="en-VN" sz="2400">
              <a:solidFill>
                <a:schemeClr val="accent1"/>
              </a:solidFill>
            </a:endParaRPr>
          </a:p>
        </p:txBody>
      </p:sp>
      <p:cxnSp>
        <p:nvCxnSpPr>
          <p:cNvPr id="29" name="Straight Arrow Connector 28">
            <a:extLst>
              <a:ext uri="{FF2B5EF4-FFF2-40B4-BE49-F238E27FC236}">
                <a16:creationId xmlns:a16="http://schemas.microsoft.com/office/drawing/2014/main" id="{74A1EB37-B3F4-5477-BD18-3C2782DE95E7}"/>
              </a:ext>
            </a:extLst>
          </p:cNvPr>
          <p:cNvCxnSpPr>
            <a:cxnSpLocks/>
            <a:stCxn id="5" idx="3"/>
            <a:endCxn id="28" idx="1"/>
          </p:cNvCxnSpPr>
          <p:nvPr/>
        </p:nvCxnSpPr>
        <p:spPr>
          <a:xfrm flipV="1">
            <a:off x="3882980" y="5462140"/>
            <a:ext cx="418566" cy="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6C73790-9351-534F-209D-4E3829F69832}"/>
              </a:ext>
            </a:extLst>
          </p:cNvPr>
          <p:cNvCxnSpPr>
            <a:cxnSpLocks/>
            <a:stCxn id="21" idx="2"/>
            <a:endCxn id="28" idx="0"/>
          </p:cNvCxnSpPr>
          <p:nvPr/>
        </p:nvCxnSpPr>
        <p:spPr>
          <a:xfrm>
            <a:off x="6497391" y="4738491"/>
            <a:ext cx="12882" cy="49281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2287BC2E-6064-4C60-C658-E2A8BE962090}"/>
              </a:ext>
            </a:extLst>
          </p:cNvPr>
          <p:cNvSpPr/>
          <p:nvPr/>
        </p:nvSpPr>
        <p:spPr>
          <a:xfrm>
            <a:off x="4032149" y="5954955"/>
            <a:ext cx="6496330" cy="6776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36">
            <a:extLst>
              <a:ext uri="{FF2B5EF4-FFF2-40B4-BE49-F238E27FC236}">
                <a16:creationId xmlns:a16="http://schemas.microsoft.com/office/drawing/2014/main" id="{AE25730D-41B8-C1E6-7ADA-B70C701562C0}"/>
              </a:ext>
            </a:extLst>
          </p:cNvPr>
          <p:cNvSpPr txBox="1"/>
          <p:nvPr/>
        </p:nvSpPr>
        <p:spPr>
          <a:xfrm>
            <a:off x="4089451" y="5985479"/>
            <a:ext cx="6278042" cy="646331"/>
          </a:xfrm>
          <a:prstGeom prst="rect">
            <a:avLst/>
          </a:prstGeom>
          <a:noFill/>
        </p:spPr>
        <p:txBody>
          <a:bodyPr wrap="square" rtlCol="0">
            <a:spAutoFit/>
          </a:bodyPr>
          <a:lstStyle/>
          <a:p>
            <a:r>
              <a:rPr lang="en-US" b="1">
                <a:solidFill>
                  <a:srgbClr val="FF0000"/>
                </a:solidFill>
              </a:rPr>
              <a:t>Note:</a:t>
            </a:r>
            <a:r>
              <a:rPr lang="en-US">
                <a:solidFill>
                  <a:srgbClr val="FF0000"/>
                </a:solidFill>
              </a:rPr>
              <a:t> Multi-control X (MCX) gate can be decomposed into single-qubit and CX gate. </a:t>
            </a:r>
            <a:endParaRPr lang="en-VN">
              <a:solidFill>
                <a:srgbClr val="FF0000"/>
              </a:solidFill>
            </a:endParaRPr>
          </a:p>
        </p:txBody>
      </p:sp>
      <p:sp>
        <p:nvSpPr>
          <p:cNvPr id="38" name="Rectangle 37">
            <a:extLst>
              <a:ext uri="{FF2B5EF4-FFF2-40B4-BE49-F238E27FC236}">
                <a16:creationId xmlns:a16="http://schemas.microsoft.com/office/drawing/2014/main" id="{71A5E6BC-D0FE-5AA0-30ED-39617F424324}"/>
              </a:ext>
            </a:extLst>
          </p:cNvPr>
          <p:cNvSpPr/>
          <p:nvPr/>
        </p:nvSpPr>
        <p:spPr>
          <a:xfrm>
            <a:off x="7560000" y="5231304"/>
            <a:ext cx="1002961" cy="464073"/>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39" name="Straight Arrow Connector 38">
            <a:extLst>
              <a:ext uri="{FF2B5EF4-FFF2-40B4-BE49-F238E27FC236}">
                <a16:creationId xmlns:a16="http://schemas.microsoft.com/office/drawing/2014/main" id="{80F503A1-4361-C5BF-FA08-B792AD9F70EC}"/>
              </a:ext>
            </a:extLst>
          </p:cNvPr>
          <p:cNvCxnSpPr>
            <a:cxnSpLocks/>
            <a:endCxn id="38" idx="2"/>
          </p:cNvCxnSpPr>
          <p:nvPr/>
        </p:nvCxnSpPr>
        <p:spPr>
          <a:xfrm flipV="1">
            <a:off x="8061480" y="5695377"/>
            <a:ext cx="1" cy="27484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128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3C50-3440-2B76-C536-AB05D5C6C912}"/>
              </a:ext>
            </a:extLst>
          </p:cNvPr>
          <p:cNvSpPr>
            <a:spLocks noGrp="1"/>
          </p:cNvSpPr>
          <p:nvPr>
            <p:ph type="title"/>
          </p:nvPr>
        </p:nvSpPr>
        <p:spPr/>
        <p:txBody>
          <a:bodyPr/>
          <a:lstStyle/>
          <a:p>
            <a:r>
              <a:rPr lang="en-US"/>
              <a:t>Arbitary gate / circuit</a:t>
            </a:r>
            <a:endParaRPr lang="vi-VN"/>
          </a:p>
        </p:txBody>
      </p:sp>
      <p:sp>
        <p:nvSpPr>
          <p:cNvPr id="4" name="Slide Number Placeholder 3">
            <a:extLst>
              <a:ext uri="{FF2B5EF4-FFF2-40B4-BE49-F238E27FC236}">
                <a16:creationId xmlns:a16="http://schemas.microsoft.com/office/drawing/2014/main" id="{88420F8F-886D-8CF9-2229-467CDC815736}"/>
              </a:ext>
            </a:extLst>
          </p:cNvPr>
          <p:cNvSpPr>
            <a:spLocks noGrp="1"/>
          </p:cNvSpPr>
          <p:nvPr>
            <p:ph type="sldNum" sz="quarter" idx="12"/>
          </p:nvPr>
        </p:nvSpPr>
        <p:spPr>
          <a:xfrm>
            <a:off x="10893490" y="6356350"/>
            <a:ext cx="460310" cy="365125"/>
          </a:xfrm>
        </p:spPr>
        <p:txBody>
          <a:bodyPr/>
          <a:lstStyle/>
          <a:p>
            <a:fld id="{71331178-9F85-4EDF-BDD3-1E7064DA4C59}" type="slidenum">
              <a:rPr lang="vi-VN" smtClean="0"/>
              <a:t>15</a:t>
            </a:fld>
            <a:endParaRPr lang="vi-VN"/>
          </a:p>
        </p:txBody>
      </p:sp>
      <p:sp>
        <p:nvSpPr>
          <p:cNvPr id="5" name="Rectangle 4">
            <a:extLst>
              <a:ext uri="{FF2B5EF4-FFF2-40B4-BE49-F238E27FC236}">
                <a16:creationId xmlns:a16="http://schemas.microsoft.com/office/drawing/2014/main" id="{F64484C7-70C5-CA94-E98C-36DB891F316E}"/>
              </a:ext>
            </a:extLst>
          </p:cNvPr>
          <p:cNvSpPr/>
          <p:nvPr/>
        </p:nvSpPr>
        <p:spPr>
          <a:xfrm>
            <a:off x="942606" y="1682560"/>
            <a:ext cx="6301760" cy="32500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A86E95B-447B-C9C1-2D0D-0DECCDEB4E5D}"/>
                  </a:ext>
                </a:extLst>
              </p:cNvPr>
              <p:cNvSpPr txBox="1"/>
              <p:nvPr/>
            </p:nvSpPr>
            <p:spPr>
              <a:xfrm>
                <a:off x="942606" y="2141276"/>
                <a:ext cx="4878645" cy="27146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400" b="0" i="1" smtClean="0">
                          <a:solidFill>
                            <a:srgbClr val="FF0000"/>
                          </a:solidFill>
                          <a:latin typeface="Cambria Math" panose="02040503050406030204" pitchFamily="18" charset="0"/>
                        </a:rPr>
                        <m:t>𝑈</m:t>
                      </m:r>
                      <m:r>
                        <a:rPr lang="en-US" sz="2400" b="0" i="1" smtClean="0">
                          <a:solidFill>
                            <a:srgbClr val="FF0000"/>
                          </a:solidFill>
                          <a:latin typeface="Cambria Math" panose="02040503050406030204" pitchFamily="18" charset="0"/>
                        </a:rPr>
                        <m:t>=</m:t>
                      </m:r>
                      <m:d>
                        <m:dPr>
                          <m:begChr m:val="["/>
                          <m:endChr m:val="]"/>
                          <m:ctrlPr>
                            <a:rPr lang="en-US" sz="2400" b="0" i="1" smtClean="0">
                              <a:solidFill>
                                <a:srgbClr val="FF0000"/>
                              </a:solidFill>
                              <a:latin typeface="Cambria Math" panose="02040503050406030204" pitchFamily="18" charset="0"/>
                            </a:rPr>
                          </m:ctrlPr>
                        </m:dPr>
                        <m:e>
                          <m:m>
                            <m:mPr>
                              <m:mcs>
                                <m:mc>
                                  <m:mcPr>
                                    <m:count m:val="2"/>
                                    <m:mcJc m:val="center"/>
                                  </m:mcPr>
                                </m:mc>
                              </m:mcs>
                              <m:ctrlPr>
                                <a:rPr lang="en-US" sz="2400" b="0" i="1" smtClean="0">
                                  <a:solidFill>
                                    <a:srgbClr val="FF0000"/>
                                  </a:solidFill>
                                  <a:latin typeface="Cambria Math" panose="02040503050406030204" pitchFamily="18" charset="0"/>
                                </a:rPr>
                              </m:ctrlPr>
                            </m:mPr>
                            <m:mr>
                              <m:e>
                                <m:m>
                                  <m:mPr>
                                    <m:mcs>
                                      <m:mc>
                                        <m:mcPr>
                                          <m:count m:val="2"/>
                                          <m:mcJc m:val="center"/>
                                        </m:mcPr>
                                      </m:mc>
                                    </m:mcs>
                                    <m:ctrlPr>
                                      <a:rPr lang="en-US" sz="2400" i="1">
                                        <a:solidFill>
                                          <a:srgbClr val="FF0000"/>
                                        </a:solidFill>
                                        <a:latin typeface="Cambria Math" panose="02040503050406030204" pitchFamily="18" charset="0"/>
                                      </a:rPr>
                                    </m:ctrlPr>
                                  </m:mP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1" i="1" smtClean="0">
                                                <a:solidFill>
                                                  <a:srgbClr val="FF0000"/>
                                                </a:solidFill>
                                                <a:latin typeface="Cambria Math" panose="02040503050406030204" pitchFamily="18" charset="0"/>
                                              </a:rPr>
                                              <m:t>𝟏</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1" i="1" smtClean="0">
                                                <a:solidFill>
                                                  <a:srgbClr val="FF0000"/>
                                                </a:solidFill>
                                                <a:latin typeface="Cambria Math" panose="02040503050406030204" pitchFamily="18" charset="0"/>
                                              </a:rPr>
                                              <m:t>𝟏</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m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1" i="1" smtClean="0">
                                                <a:solidFill>
                                                  <a:srgbClr val="FF0000"/>
                                                </a:solidFill>
                                                <a:latin typeface="Cambria Math" panose="02040503050406030204" pitchFamily="18" charset="0"/>
                                              </a:rPr>
                                              <m:t>𝒂</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1" i="1" smtClean="0">
                                                <a:solidFill>
                                                  <a:srgbClr val="FF0000"/>
                                                </a:solidFill>
                                                <a:latin typeface="Cambria Math" panose="02040503050406030204" pitchFamily="18" charset="0"/>
                                              </a:rPr>
                                              <m:t>𝟏</m:t>
                                            </m:r>
                                          </m:e>
                                        </m:mr>
                                      </m:m>
                                    </m:e>
                                  </m:mr>
                                </m:m>
                              </m:e>
                              <m:e>
                                <m:m>
                                  <m:mPr>
                                    <m:mcs>
                                      <m:mc>
                                        <m:mcPr>
                                          <m:count m:val="2"/>
                                          <m:mcJc m:val="center"/>
                                        </m:mcPr>
                                      </m:mc>
                                    </m:mcs>
                                    <m:ctrlPr>
                                      <a:rPr lang="en-US" sz="2400" i="1">
                                        <a:solidFill>
                                          <a:srgbClr val="FF0000"/>
                                        </a:solidFill>
                                        <a:latin typeface="Cambria Math" panose="02040503050406030204" pitchFamily="18" charset="0"/>
                                      </a:rPr>
                                    </m:ctrlPr>
                                  </m:mP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m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1" i="1" smtClean="0">
                                                <a:solidFill>
                                                  <a:srgbClr val="FF0000"/>
                                                </a:solidFill>
                                                <a:latin typeface="Cambria Math" panose="02040503050406030204" pitchFamily="18" charset="0"/>
                                              </a:rPr>
                                              <m:t>𝒄</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mr>
                                </m:m>
                              </m:e>
                            </m:mr>
                            <m:mr>
                              <m:e>
                                <m:m>
                                  <m:mPr>
                                    <m:mcs>
                                      <m:mc>
                                        <m:mcPr>
                                          <m:count m:val="2"/>
                                          <m:mcJc m:val="center"/>
                                        </m:mcPr>
                                      </m:mc>
                                    </m:mcs>
                                    <m:ctrlPr>
                                      <a:rPr lang="en-US" sz="2400" i="1">
                                        <a:solidFill>
                                          <a:srgbClr val="FF0000"/>
                                        </a:solidFill>
                                        <a:latin typeface="Cambria Math" panose="02040503050406030204" pitchFamily="18" charset="0"/>
                                      </a:rPr>
                                    </m:ctrlPr>
                                  </m:mP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m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1" i="1" smtClean="0">
                                                <a:solidFill>
                                                  <a:srgbClr val="FF0000"/>
                                                </a:solidFill>
                                                <a:latin typeface="Cambria Math" panose="02040503050406030204" pitchFamily="18" charset="0"/>
                                              </a:rPr>
                                              <m:t>𝒃</m:t>
                                            </m:r>
                                          </m:e>
                                          <m:e>
                                            <m:r>
                                              <a:rPr lang="en-US" sz="2400" b="0" i="1" smtClean="0">
                                                <a:solidFill>
                                                  <a:srgbClr val="FF0000"/>
                                                </a:solidFill>
                                                <a:latin typeface="Cambria Math" panose="02040503050406030204" pitchFamily="18" charset="0"/>
                                              </a:rPr>
                                              <m:t>0</m:t>
                                            </m:r>
                                          </m:e>
                                        </m:mr>
                                      </m:m>
                                    </m:e>
                                  </m:mr>
                                </m:m>
                              </m:e>
                              <m:e>
                                <m:m>
                                  <m:mPr>
                                    <m:mcs>
                                      <m:mc>
                                        <m:mcPr>
                                          <m:count m:val="2"/>
                                          <m:mcJc m:val="center"/>
                                        </m:mcPr>
                                      </m:mc>
                                    </m:mcs>
                                    <m:ctrlPr>
                                      <a:rPr lang="en-US" sz="2400" i="1">
                                        <a:solidFill>
                                          <a:srgbClr val="FF0000"/>
                                        </a:solidFill>
                                        <a:latin typeface="Cambria Math" panose="02040503050406030204" pitchFamily="18" charset="0"/>
                                      </a:rPr>
                                    </m:ctrlPr>
                                  </m:mP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1" i="1" smtClean="0">
                                                <a:solidFill>
                                                  <a:srgbClr val="FF0000"/>
                                                </a:solidFill>
                                                <a:latin typeface="Cambria Math" panose="02040503050406030204" pitchFamily="18" charset="0"/>
                                              </a:rPr>
                                              <m:t>𝟏</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1" i="1" smtClean="0">
                                                <a:solidFill>
                                                  <a:srgbClr val="FF0000"/>
                                                </a:solidFill>
                                                <a:latin typeface="Cambria Math" panose="02040503050406030204" pitchFamily="18" charset="0"/>
                                              </a:rPr>
                                              <m:t>𝟏</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mr>
                                  <m:m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0" i="1" smtClean="0">
                                                <a:solidFill>
                                                  <a:srgbClr val="FF0000"/>
                                                </a:solidFill>
                                                <a:latin typeface="Cambria Math" panose="02040503050406030204" pitchFamily="18" charset="0"/>
                                              </a:rPr>
                                              <m:t>0</m:t>
                                            </m:r>
                                          </m:e>
                                        </m:mr>
                                      </m:m>
                                    </m:e>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1" i="1" smtClean="0">
                                                <a:solidFill>
                                                  <a:srgbClr val="FF0000"/>
                                                </a:solidFill>
                                                <a:latin typeface="Cambria Math" panose="02040503050406030204" pitchFamily="18" charset="0"/>
                                              </a:rPr>
                                              <m:t>𝟏</m:t>
                                            </m:r>
                                          </m:e>
                                          <m:e>
                                            <m:r>
                                              <a:rPr lang="en-US" sz="2400" b="0" i="1" smtClean="0">
                                                <a:solidFill>
                                                  <a:srgbClr val="FF0000"/>
                                                </a:solidFill>
                                                <a:latin typeface="Cambria Math" panose="02040503050406030204" pitchFamily="18" charset="0"/>
                                              </a:rPr>
                                              <m:t>0</m:t>
                                            </m:r>
                                          </m:e>
                                        </m:mr>
                                        <m:mr>
                                          <m:e>
                                            <m:r>
                                              <a:rPr lang="en-US" sz="2400" b="0" i="1" smtClean="0">
                                                <a:solidFill>
                                                  <a:srgbClr val="FF0000"/>
                                                </a:solidFill>
                                                <a:latin typeface="Cambria Math" panose="02040503050406030204" pitchFamily="18" charset="0"/>
                                              </a:rPr>
                                              <m:t>0</m:t>
                                            </m:r>
                                          </m:e>
                                          <m:e>
                                            <m:r>
                                              <a:rPr lang="en-US" sz="2400" b="1" i="1" smtClean="0">
                                                <a:solidFill>
                                                  <a:srgbClr val="FF0000"/>
                                                </a:solidFill>
                                                <a:latin typeface="Cambria Math" panose="02040503050406030204" pitchFamily="18" charset="0"/>
                                              </a:rPr>
                                              <m:t>𝒅</m:t>
                                            </m:r>
                                          </m:e>
                                        </m:mr>
                                      </m:m>
                                    </m:e>
                                  </m:mr>
                                </m:m>
                              </m:e>
                            </m:mr>
                          </m:m>
                        </m:e>
                      </m:d>
                    </m:oMath>
                  </m:oMathPara>
                </a14:m>
                <a:endParaRPr lang="vi-VN" sz="2400">
                  <a:solidFill>
                    <a:srgbClr val="FF0000"/>
                  </a:solidFill>
                </a:endParaRPr>
              </a:p>
            </p:txBody>
          </p:sp>
        </mc:Choice>
        <mc:Fallback xmlns="">
          <p:sp>
            <p:nvSpPr>
              <p:cNvPr id="6" name="TextBox 5">
                <a:extLst>
                  <a:ext uri="{FF2B5EF4-FFF2-40B4-BE49-F238E27FC236}">
                    <a16:creationId xmlns:a16="http://schemas.microsoft.com/office/drawing/2014/main" id="{AA86E95B-447B-C9C1-2D0D-0DECCDEB4E5D}"/>
                  </a:ext>
                </a:extLst>
              </p:cNvPr>
              <p:cNvSpPr txBox="1">
                <a:spLocks noRot="1" noChangeAspect="1" noMove="1" noResize="1" noEditPoints="1" noAdjustHandles="1" noChangeArrowheads="1" noChangeShapeType="1" noTextEdit="1"/>
              </p:cNvSpPr>
              <p:nvPr/>
            </p:nvSpPr>
            <p:spPr>
              <a:xfrm>
                <a:off x="942606" y="2141276"/>
                <a:ext cx="4878645" cy="2714654"/>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9A9F353-27AC-2590-CED5-EEEAF1D5DAD8}"/>
                  </a:ext>
                </a:extLst>
              </p:cNvPr>
              <p:cNvSpPr txBox="1"/>
              <p:nvPr/>
            </p:nvSpPr>
            <p:spPr>
              <a:xfrm>
                <a:off x="968360" y="1683701"/>
                <a:ext cx="6462750" cy="512191"/>
              </a:xfrm>
              <a:prstGeom prst="rect">
                <a:avLst/>
              </a:prstGeom>
              <a:noFill/>
            </p:spPr>
            <p:txBody>
              <a:bodyPr wrap="square" rtlCol="0">
                <a:spAutoFit/>
              </a:bodyPr>
              <a:lstStyle/>
              <a:p>
                <a:r>
                  <a:rPr lang="en-US" b="1">
                    <a:solidFill>
                      <a:srgbClr val="FF0000"/>
                    </a:solidFill>
                  </a:rPr>
                  <a:t>*Excercise:</a:t>
                </a:r>
                <a:r>
                  <a:rPr lang="en-US">
                    <a:solidFill>
                      <a:srgbClr val="FF0000"/>
                    </a:solidFill>
                  </a:rPr>
                  <a:t> Implement this gate using </a:t>
                </a:r>
                <a14:m>
                  <m:oMath xmlns:m="http://schemas.openxmlformats.org/officeDocument/2006/math">
                    <m:acc>
                      <m:accPr>
                        <m:chr m:val="̃"/>
                        <m:ctrlPr>
                          <a:rPr lang="en-US" b="0" i="1" smtClean="0">
                            <a:solidFill>
                              <a:srgbClr val="FF0000"/>
                            </a:solidFill>
                            <a:latin typeface="Cambria Math" panose="02040503050406030204" pitchFamily="18" charset="0"/>
                          </a:rPr>
                        </m:ctrlPr>
                      </m:accPr>
                      <m:e>
                        <m:r>
                          <a:rPr lang="en-US" b="1" i="1" smtClean="0">
                            <a:solidFill>
                              <a:srgbClr val="FF0000"/>
                            </a:solidFill>
                            <a:latin typeface="Cambria Math" panose="02040503050406030204" pitchFamily="18" charset="0"/>
                          </a:rPr>
                          <m:t>𝑼</m:t>
                        </m:r>
                      </m:e>
                    </m:acc>
                    <m:r>
                      <a:rPr lang="en-US" b="1" i="1" smtClean="0">
                        <a:solidFill>
                          <a:srgbClr val="FF0000"/>
                        </a:solidFill>
                        <a:latin typeface="Cambria Math" panose="02040503050406030204" pitchFamily="18" charset="0"/>
                      </a:rPr>
                      <m:t>=</m:t>
                    </m:r>
                    <m:d>
                      <m:dPr>
                        <m:begChr m:val="["/>
                        <m:endChr m:val="]"/>
                        <m:ctrlPr>
                          <a:rPr lang="en-US" b="1" i="1" smtClean="0">
                            <a:solidFill>
                              <a:srgbClr val="FF0000"/>
                            </a:solidFill>
                            <a:latin typeface="Cambria Math" panose="02040503050406030204" pitchFamily="18" charset="0"/>
                          </a:rPr>
                        </m:ctrlPr>
                      </m:dPr>
                      <m:e>
                        <m:m>
                          <m:mPr>
                            <m:mcs>
                              <m:mc>
                                <m:mcPr>
                                  <m:count m:val="2"/>
                                  <m:mcJc m:val="center"/>
                                </m:mcPr>
                              </m:mc>
                            </m:mcs>
                            <m:ctrlPr>
                              <a:rPr lang="en-US" b="1" i="1" smtClean="0">
                                <a:solidFill>
                                  <a:srgbClr val="FF0000"/>
                                </a:solidFill>
                                <a:latin typeface="Cambria Math" panose="02040503050406030204" pitchFamily="18" charset="0"/>
                              </a:rPr>
                            </m:ctrlPr>
                          </m:mPr>
                          <m:mr>
                            <m:e>
                              <m:r>
                                <m:rPr>
                                  <m:brk m:alnAt="7"/>
                                </m:rPr>
                                <a:rPr lang="en-US" b="1" i="1" smtClean="0">
                                  <a:solidFill>
                                    <a:srgbClr val="FF0000"/>
                                  </a:solidFill>
                                  <a:latin typeface="Cambria Math" panose="02040503050406030204" pitchFamily="18" charset="0"/>
                                </a:rPr>
                                <m:t>𝒂</m:t>
                              </m:r>
                            </m:e>
                            <m:e>
                              <m:r>
                                <a:rPr lang="en-US" b="1" i="1" smtClean="0">
                                  <a:solidFill>
                                    <a:srgbClr val="FF0000"/>
                                  </a:solidFill>
                                  <a:latin typeface="Cambria Math" panose="02040503050406030204" pitchFamily="18" charset="0"/>
                                </a:rPr>
                                <m:t>𝒄</m:t>
                              </m:r>
                            </m:e>
                          </m:mr>
                          <m:mr>
                            <m:e>
                              <m:r>
                                <a:rPr lang="en-US" b="1" i="1" smtClean="0">
                                  <a:solidFill>
                                    <a:srgbClr val="FF0000"/>
                                  </a:solidFill>
                                  <a:latin typeface="Cambria Math" panose="02040503050406030204" pitchFamily="18" charset="0"/>
                                </a:rPr>
                                <m:t>𝒃</m:t>
                              </m:r>
                            </m:e>
                            <m:e>
                              <m:r>
                                <a:rPr lang="en-US" b="1" i="1" smtClean="0">
                                  <a:solidFill>
                                    <a:srgbClr val="FF0000"/>
                                  </a:solidFill>
                                  <a:latin typeface="Cambria Math" panose="02040503050406030204" pitchFamily="18" charset="0"/>
                                </a:rPr>
                                <m:t>𝒅</m:t>
                              </m:r>
                            </m:e>
                          </m:mr>
                        </m:m>
                      </m:e>
                    </m:d>
                  </m:oMath>
                </a14:m>
                <a:r>
                  <a:rPr lang="en-US">
                    <a:solidFill>
                      <a:srgbClr val="FF0000"/>
                    </a:solidFill>
                  </a:rPr>
                  <a:t> and MCX gate</a:t>
                </a:r>
                <a:endParaRPr lang="en-VN">
                  <a:solidFill>
                    <a:srgbClr val="FF0000"/>
                  </a:solidFill>
                </a:endParaRPr>
              </a:p>
            </p:txBody>
          </p:sp>
        </mc:Choice>
        <mc:Fallback xmlns="">
          <p:sp>
            <p:nvSpPr>
              <p:cNvPr id="16" name="TextBox 15">
                <a:extLst>
                  <a:ext uri="{FF2B5EF4-FFF2-40B4-BE49-F238E27FC236}">
                    <a16:creationId xmlns:a16="http://schemas.microsoft.com/office/drawing/2014/main" id="{89A9F353-27AC-2590-CED5-EEEAF1D5DAD8}"/>
                  </a:ext>
                </a:extLst>
              </p:cNvPr>
              <p:cNvSpPr txBox="1">
                <a:spLocks noRot="1" noChangeAspect="1" noMove="1" noResize="1" noEditPoints="1" noAdjustHandles="1" noChangeArrowheads="1" noChangeShapeType="1" noTextEdit="1"/>
              </p:cNvSpPr>
              <p:nvPr/>
            </p:nvSpPr>
            <p:spPr>
              <a:xfrm>
                <a:off x="968360" y="1683701"/>
                <a:ext cx="6462750" cy="512191"/>
              </a:xfrm>
              <a:prstGeom prst="rect">
                <a:avLst/>
              </a:prstGeom>
              <a:blipFill>
                <a:blip r:embed="rId4"/>
                <a:stretch>
                  <a:fillRect l="-849" b="-7143"/>
                </a:stretch>
              </a:blipFill>
            </p:spPr>
            <p:txBody>
              <a:bodyPr/>
              <a:lstStyle/>
              <a:p>
                <a:r>
                  <a:rPr lang="vi-VN">
                    <a:noFill/>
                  </a:rPr>
                  <a:t> </a:t>
                </a:r>
              </a:p>
            </p:txBody>
          </p:sp>
        </mc:Fallback>
      </mc:AlternateContent>
      <p:sp>
        <p:nvSpPr>
          <p:cNvPr id="19" name="TextBox 18">
            <a:extLst>
              <a:ext uri="{FF2B5EF4-FFF2-40B4-BE49-F238E27FC236}">
                <a16:creationId xmlns:a16="http://schemas.microsoft.com/office/drawing/2014/main" id="{43D3E831-8942-1684-9DDA-2B8A04FD7C43}"/>
              </a:ext>
            </a:extLst>
          </p:cNvPr>
          <p:cNvSpPr txBox="1"/>
          <p:nvPr/>
        </p:nvSpPr>
        <p:spPr>
          <a:xfrm>
            <a:off x="942606" y="6054812"/>
            <a:ext cx="6301760" cy="584775"/>
          </a:xfrm>
          <a:prstGeom prst="rect">
            <a:avLst/>
          </a:prstGeom>
          <a:noFill/>
          <a:ln>
            <a:solidFill>
              <a:srgbClr val="FF0000"/>
            </a:solidFill>
          </a:ln>
        </p:spPr>
        <p:txBody>
          <a:bodyPr wrap="square">
            <a:spAutoFit/>
          </a:bodyPr>
          <a:lstStyle/>
          <a:p>
            <a:r>
              <a:rPr lang="en-US" sz="1600">
                <a:solidFill>
                  <a:srgbClr val="FF0000"/>
                </a:solidFill>
              </a:rPr>
              <a:t>*Exercise 4.39, Nielsen, M. A., &amp; Chuang, I. L. (2010). </a:t>
            </a:r>
            <a:r>
              <a:rPr lang="en-US" sz="1600" i="1">
                <a:solidFill>
                  <a:srgbClr val="FF0000"/>
                </a:solidFill>
              </a:rPr>
              <a:t>Quantum computation and quantum information</a:t>
            </a:r>
            <a:r>
              <a:rPr lang="en-US" sz="1600">
                <a:solidFill>
                  <a:srgbClr val="FF0000"/>
                </a:solidFill>
              </a:rPr>
              <a:t>. Cambridge university press.</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6FCF351-A583-81FE-BCE9-5A726F3118FD}"/>
                  </a:ext>
                </a:extLst>
              </p:cNvPr>
              <p:cNvSpPr txBox="1"/>
              <p:nvPr/>
            </p:nvSpPr>
            <p:spPr>
              <a:xfrm>
                <a:off x="7492376" y="1690688"/>
                <a:ext cx="4595431" cy="646331"/>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𝑈</m:t>
                    </m:r>
                  </m:oMath>
                </a14:m>
                <a:r>
                  <a:rPr lang="en-US"/>
                  <a:t> is a 3-qubit gate</a:t>
                </a:r>
              </a:p>
              <a:p>
                <a14:m>
                  <m:oMath xmlns:m="http://schemas.openxmlformats.org/officeDocument/2006/math">
                    <m:r>
                      <a:rPr lang="en-US" b="0" i="1" smtClean="0">
                        <a:latin typeface="Cambria Math" panose="02040503050406030204" pitchFamily="18" charset="0"/>
                      </a:rPr>
                      <m:t>𝑈</m:t>
                    </m:r>
                  </m:oMath>
                </a14:m>
                <a:r>
                  <a:rPr lang="en-US"/>
                  <a:t> acts non-trivially on </a:t>
                </a:r>
                <a14:m>
                  <m:oMath xmlns:m="http://schemas.openxmlformats.org/officeDocument/2006/math">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010</m:t>
                            </m:r>
                          </m:e>
                        </m:d>
                        <m:r>
                          <a:rPr lang="en-US" b="0" i="1" smtClean="0">
                            <a:latin typeface="Cambria Math" panose="02040503050406030204" pitchFamily="18" charset="0"/>
                          </a:rPr>
                          <m:t>,|111⟩</m:t>
                        </m:r>
                      </m:e>
                    </m:d>
                  </m:oMath>
                </a14:m>
                <a:endParaRPr lang="en-US" b="0"/>
              </a:p>
            </p:txBody>
          </p:sp>
        </mc:Choice>
        <mc:Fallback xmlns="">
          <p:sp>
            <p:nvSpPr>
              <p:cNvPr id="20" name="TextBox 19">
                <a:extLst>
                  <a:ext uri="{FF2B5EF4-FFF2-40B4-BE49-F238E27FC236}">
                    <a16:creationId xmlns:a16="http://schemas.microsoft.com/office/drawing/2014/main" id="{F6FCF351-A583-81FE-BCE9-5A726F3118FD}"/>
                  </a:ext>
                </a:extLst>
              </p:cNvPr>
              <p:cNvSpPr txBox="1">
                <a:spLocks noRot="1" noChangeAspect="1" noMove="1" noResize="1" noEditPoints="1" noAdjustHandles="1" noChangeArrowheads="1" noChangeShapeType="1" noTextEdit="1"/>
              </p:cNvSpPr>
              <p:nvPr/>
            </p:nvSpPr>
            <p:spPr>
              <a:xfrm>
                <a:off x="7492376" y="1690688"/>
                <a:ext cx="4595431" cy="646331"/>
              </a:xfrm>
              <a:prstGeom prst="rect">
                <a:avLst/>
              </a:prstGeom>
              <a:blipFill>
                <a:blip r:embed="rId5"/>
                <a:stretch>
                  <a:fillRect t="-4717" b="-1415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165EE61-7705-E873-5073-1BA72DF5ABF9}"/>
                  </a:ext>
                </a:extLst>
              </p:cNvPr>
              <p:cNvSpPr txBox="1"/>
              <p:nvPr/>
            </p:nvSpPr>
            <p:spPr>
              <a:xfrm>
                <a:off x="7692986" y="2333695"/>
                <a:ext cx="3368350" cy="2083327"/>
              </a:xfrm>
              <a:prstGeom prst="rect">
                <a:avLst/>
              </a:prstGeom>
              <a:noFill/>
            </p:spPr>
            <p:txBody>
              <a:bodyPr wrap="square">
                <a:spAutoFit/>
              </a:bodyPr>
              <a:lstStyle/>
              <a:p>
                <a14:m>
                  <m:oMath xmlns:m="http://schemas.openxmlformats.org/officeDocument/2006/math">
                    <m:r>
                      <a:rPr lang="en-US" b="0" i="1" smtClean="0">
                        <a:latin typeface="Cambria Math" panose="02040503050406030204" pitchFamily="18" charset="0"/>
                      </a:rPr>
                      <m:t>𝑈</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010</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0</m:t>
                                          </m:r>
                                        </m:e>
                                      </m:mr>
                                    </m:m>
                                  </m:e>
                                </m:mr>
                                <m:mr>
                                  <m:e>
                                    <m:m>
                                      <m:mPr>
                                        <m:mcs>
                                          <m:mc>
                                            <m:mcPr>
                                              <m:count m:val="1"/>
                                              <m:mcJc m:val="center"/>
                                            </m:mcPr>
                                          </m:mc>
                                        </m:mcs>
                                        <m:ctrlPr>
                                          <a:rPr lang="en-US" b="0" i="1" smtClean="0">
                                            <a:latin typeface="Cambria Math" panose="02040503050406030204" pitchFamily="18" charset="0"/>
                                          </a:rPr>
                                        </m:ctrlPr>
                                      </m:mPr>
                                      <m:mr>
                                        <m:e>
                                          <m:r>
                                            <m:rPr>
                                              <m:brk m:alnAt="7"/>
                                            </m:rPr>
                                            <a:rPr lang="en-US" b="1" i="1" smtClean="0">
                                              <a:latin typeface="Cambria Math" panose="02040503050406030204" pitchFamily="18" charset="0"/>
                                            </a:rPr>
                                            <m:t>𝒂</m:t>
                                          </m:r>
                                        </m:e>
                                      </m:mr>
                                      <m:mr>
                                        <m:e>
                                          <m:r>
                                            <a:rPr lang="en-US" b="0" i="1" smtClean="0">
                                              <a:latin typeface="Cambria Math" panose="02040503050406030204" pitchFamily="18" charset="0"/>
                                            </a:rPr>
                                            <m:t>0</m:t>
                                          </m:r>
                                        </m:e>
                                      </m:mr>
                                    </m:m>
                                  </m:e>
                                </m:mr>
                              </m:m>
                            </m:e>
                          </m:mr>
                          <m:mr>
                            <m:e>
                              <m:m>
                                <m:mPr>
                                  <m:mcs>
                                    <m:mc>
                                      <m:mcPr>
                                        <m:count m:val="1"/>
                                        <m:mcJc m:val="center"/>
                                      </m:mcPr>
                                    </m:mc>
                                  </m:mcs>
                                  <m:ctrlPr>
                                    <a:rPr lang="en-US" i="1">
                                      <a:latin typeface="Cambria Math" panose="02040503050406030204" pitchFamily="18" charset="0"/>
                                    </a:rPr>
                                  </m:ctrlPr>
                                </m:mPr>
                                <m:m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1" i="1" smtClean="0">
                                              <a:latin typeface="Cambria Math" panose="02040503050406030204" pitchFamily="18" charset="0"/>
                                            </a:rPr>
                                            <m:t>𝒃</m:t>
                                          </m:r>
                                        </m:e>
                                      </m:mr>
                                    </m:m>
                                  </m:e>
                                </m:mr>
                              </m:m>
                            </m:e>
                          </m:mr>
                        </m:m>
                      </m:e>
                    </m:d>
                    <m:r>
                      <a:rPr lang="en-US" b="0" i="1" smtClean="0">
                        <a:latin typeface="Cambria Math" panose="02040503050406030204" pitchFamily="18" charset="0"/>
                      </a:rPr>
                      <m:t>,</m:t>
                    </m:r>
                  </m:oMath>
                </a14:m>
                <a:r>
                  <a:rPr lang="en-US"/>
                  <a:t> </a:t>
                </a:r>
                <a14:m>
                  <m:oMath xmlns:m="http://schemas.openxmlformats.org/officeDocument/2006/math">
                    <m:r>
                      <a:rPr lang="en-US" i="1">
                        <a:latin typeface="Cambria Math" panose="02040503050406030204" pitchFamily="18" charset="0"/>
                      </a:rPr>
                      <m:t>𝑈</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1</m:t>
                        </m:r>
                        <m:r>
                          <a:rPr lang="en-US" i="1">
                            <a:latin typeface="Cambria Math" panose="02040503050406030204" pitchFamily="18" charset="0"/>
                          </a:rPr>
                          <m:t>1</m:t>
                        </m:r>
                        <m:r>
                          <a:rPr lang="en-US" b="0" i="1" smtClean="0">
                            <a:latin typeface="Cambria Math" panose="02040503050406030204" pitchFamily="18" charset="0"/>
                          </a:rPr>
                          <m:t>1</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m>
                                <m:mPr>
                                  <m:mcs>
                                    <m:mc>
                                      <m:mcPr>
                                        <m:count m:val="1"/>
                                        <m:mcJc m:val="center"/>
                                      </m:mcPr>
                                    </m:mc>
                                  </m:mcs>
                                  <m:ctrlPr>
                                    <a:rPr lang="en-US" i="1">
                                      <a:latin typeface="Cambria Math" panose="02040503050406030204" pitchFamily="18" charset="0"/>
                                    </a:rPr>
                                  </m:ctrlPr>
                                </m:mP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mr>
                                      <m:mr>
                                        <m:e>
                                          <m:r>
                                            <a:rPr lang="en-US" i="1">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b="1" i="1" smtClean="0">
                                              <a:latin typeface="Cambria Math" panose="02040503050406030204" pitchFamily="18" charset="0"/>
                                            </a:rPr>
                                            <m:t>𝒄</m:t>
                                          </m:r>
                                        </m:e>
                                      </m:mr>
                                      <m:mr>
                                        <m:e>
                                          <m:r>
                                            <a:rPr lang="en-US" i="1">
                                              <a:latin typeface="Cambria Math" panose="02040503050406030204" pitchFamily="18" charset="0"/>
                                            </a:rPr>
                                            <m:t>0</m:t>
                                          </m:r>
                                        </m:e>
                                      </m:mr>
                                    </m:m>
                                  </m:e>
                                </m:mr>
                              </m:m>
                            </m:e>
                          </m:mr>
                          <m:mr>
                            <m:e>
                              <m:m>
                                <m:mPr>
                                  <m:mcs>
                                    <m:mc>
                                      <m:mcPr>
                                        <m:count m:val="1"/>
                                        <m:mcJc m:val="center"/>
                                      </m:mcPr>
                                    </m:mc>
                                  </m:mcs>
                                  <m:ctrlPr>
                                    <a:rPr lang="en-US" i="1">
                                      <a:latin typeface="Cambria Math" panose="02040503050406030204" pitchFamily="18" charset="0"/>
                                    </a:rPr>
                                  </m:ctrlPr>
                                </m:mP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mr>
                                      <m:mr>
                                        <m:e>
                                          <m:r>
                                            <a:rPr lang="en-US" i="1">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mr>
                                      <m:mr>
                                        <m:e>
                                          <m:r>
                                            <a:rPr lang="en-US" b="1" i="1" smtClean="0">
                                              <a:latin typeface="Cambria Math" panose="02040503050406030204" pitchFamily="18" charset="0"/>
                                            </a:rPr>
                                            <m:t>𝒅</m:t>
                                          </m:r>
                                        </m:e>
                                      </m:mr>
                                    </m:m>
                                  </m:e>
                                </m:mr>
                              </m:m>
                            </m:e>
                          </m:mr>
                        </m:m>
                      </m:e>
                    </m:d>
                  </m:oMath>
                </a14:m>
                <a:endParaRPr lang="vi-VN"/>
              </a:p>
            </p:txBody>
          </p:sp>
        </mc:Choice>
        <mc:Fallback xmlns="">
          <p:sp>
            <p:nvSpPr>
              <p:cNvPr id="22" name="TextBox 21">
                <a:extLst>
                  <a:ext uri="{FF2B5EF4-FFF2-40B4-BE49-F238E27FC236}">
                    <a16:creationId xmlns:a16="http://schemas.microsoft.com/office/drawing/2014/main" id="{A165EE61-7705-E873-5073-1BA72DF5ABF9}"/>
                  </a:ext>
                </a:extLst>
              </p:cNvPr>
              <p:cNvSpPr txBox="1">
                <a:spLocks noRot="1" noChangeAspect="1" noMove="1" noResize="1" noEditPoints="1" noAdjustHandles="1" noChangeArrowheads="1" noChangeShapeType="1" noTextEdit="1"/>
              </p:cNvSpPr>
              <p:nvPr/>
            </p:nvSpPr>
            <p:spPr>
              <a:xfrm>
                <a:off x="7692986" y="2333695"/>
                <a:ext cx="3368350" cy="2083327"/>
              </a:xfrm>
              <a:prstGeom prst="rect">
                <a:avLst/>
              </a:prstGeom>
              <a:blipFill>
                <a:blip r:embed="rId6"/>
                <a:stretch>
                  <a:fillRect/>
                </a:stretch>
              </a:blipFill>
            </p:spPr>
            <p:txBody>
              <a:bodyPr/>
              <a:lstStyle/>
              <a:p>
                <a:r>
                  <a:rPr lang="vi-VN">
                    <a:noFill/>
                  </a:rPr>
                  <a:t> </a:t>
                </a:r>
              </a:p>
            </p:txBody>
          </p:sp>
        </mc:Fallback>
      </mc:AlternateContent>
      <p:sp>
        <p:nvSpPr>
          <p:cNvPr id="23" name="TextBox 22">
            <a:extLst>
              <a:ext uri="{FF2B5EF4-FFF2-40B4-BE49-F238E27FC236}">
                <a16:creationId xmlns:a16="http://schemas.microsoft.com/office/drawing/2014/main" id="{610A3185-2F6C-BDE0-FE64-FF3B360CBD24}"/>
              </a:ext>
            </a:extLst>
          </p:cNvPr>
          <p:cNvSpPr txBox="1"/>
          <p:nvPr/>
        </p:nvSpPr>
        <p:spPr>
          <a:xfrm>
            <a:off x="7492376" y="4286277"/>
            <a:ext cx="4595431" cy="369332"/>
          </a:xfrm>
          <a:prstGeom prst="rect">
            <a:avLst/>
          </a:prstGeom>
          <a:noFill/>
        </p:spPr>
        <p:txBody>
          <a:bodyPr wrap="square" rtlCol="0">
            <a:spAutoFit/>
          </a:bodyPr>
          <a:lstStyle/>
          <a:p>
            <a:r>
              <a:rPr lang="en-US" b="0"/>
              <a:t>Gray-code:</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CE02723-45D3-CCC3-EC3E-D7DF3CDAF6F4}"/>
                  </a:ext>
                </a:extLst>
              </p:cNvPr>
              <p:cNvSpPr txBox="1"/>
              <p:nvPr/>
            </p:nvSpPr>
            <p:spPr>
              <a:xfrm>
                <a:off x="7614945" y="4655609"/>
                <a:ext cx="447286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010</m:t>
                          </m:r>
                        </m:e>
                      </m:d>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111</m:t>
                          </m:r>
                        </m:e>
                      </m:d>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011</m:t>
                          </m:r>
                        </m:e>
                      </m:d>
                      <m:r>
                        <a:rPr lang="en-US" b="0" i="1" smtClean="0">
                          <a:latin typeface="Cambria Math" panose="02040503050406030204" pitchFamily="18" charset="0"/>
                        </a:rPr>
                        <m:t>→|010⟩</m:t>
                      </m:r>
                    </m:oMath>
                  </m:oMathPara>
                </a14:m>
                <a:endParaRPr lang="vi-VN"/>
              </a:p>
            </p:txBody>
          </p:sp>
        </mc:Choice>
        <mc:Fallback xmlns="">
          <p:sp>
            <p:nvSpPr>
              <p:cNvPr id="25" name="TextBox 24">
                <a:extLst>
                  <a:ext uri="{FF2B5EF4-FFF2-40B4-BE49-F238E27FC236}">
                    <a16:creationId xmlns:a16="http://schemas.microsoft.com/office/drawing/2014/main" id="{ECE02723-45D3-CCC3-EC3E-D7DF3CDAF6F4}"/>
                  </a:ext>
                </a:extLst>
              </p:cNvPr>
              <p:cNvSpPr txBox="1">
                <a:spLocks noRot="1" noChangeAspect="1" noMove="1" noResize="1" noEditPoints="1" noAdjustHandles="1" noChangeArrowheads="1" noChangeShapeType="1" noTextEdit="1"/>
              </p:cNvSpPr>
              <p:nvPr/>
            </p:nvSpPr>
            <p:spPr>
              <a:xfrm>
                <a:off x="7614945" y="4655609"/>
                <a:ext cx="4472861" cy="369332"/>
              </a:xfrm>
              <a:prstGeom prst="rect">
                <a:avLst/>
              </a:prstGeom>
              <a:blipFill>
                <a:blip r:embed="rId7"/>
                <a:stretch>
                  <a:fillRect b="-15000"/>
                </a:stretch>
              </a:blipFill>
            </p:spPr>
            <p:txBody>
              <a:bodyPr/>
              <a:lstStyle/>
              <a:p>
                <a:r>
                  <a:rPr lang="vi-VN">
                    <a:noFill/>
                  </a:rPr>
                  <a:t> </a:t>
                </a:r>
              </a:p>
            </p:txBody>
          </p:sp>
        </mc:Fallback>
      </mc:AlternateContent>
      <p:cxnSp>
        <p:nvCxnSpPr>
          <p:cNvPr id="27" name="Straight Connector 26">
            <a:extLst>
              <a:ext uri="{FF2B5EF4-FFF2-40B4-BE49-F238E27FC236}">
                <a16:creationId xmlns:a16="http://schemas.microsoft.com/office/drawing/2014/main" id="{37B98276-EE76-6F54-D7F4-2C6E5675340C}"/>
              </a:ext>
            </a:extLst>
          </p:cNvPr>
          <p:cNvCxnSpPr/>
          <p:nvPr/>
        </p:nvCxnSpPr>
        <p:spPr>
          <a:xfrm>
            <a:off x="7699168" y="5359015"/>
            <a:ext cx="384048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F2D3CBED-F232-8C63-CD47-A15A542C56C3}"/>
              </a:ext>
            </a:extLst>
          </p:cNvPr>
          <p:cNvCxnSpPr/>
          <p:nvPr/>
        </p:nvCxnSpPr>
        <p:spPr>
          <a:xfrm>
            <a:off x="7699168" y="5779584"/>
            <a:ext cx="3840480" cy="0"/>
          </a:xfrm>
          <a:prstGeom prst="line">
            <a:avLst/>
          </a:prstGeom>
          <a:ln w="38100"/>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71BF4ECE-DD60-DF36-5F33-272565D71508}"/>
              </a:ext>
            </a:extLst>
          </p:cNvPr>
          <p:cNvSpPr>
            <a:spLocks noChangeAspect="1"/>
          </p:cNvSpPr>
          <p:nvPr/>
        </p:nvSpPr>
        <p:spPr>
          <a:xfrm>
            <a:off x="8494687" y="5258182"/>
            <a:ext cx="216000" cy="201665"/>
          </a:xfrm>
          <a:prstGeom prst="ellipse">
            <a:avLst/>
          </a:prstGeom>
          <a:solidFill>
            <a:schemeClr val="bg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31" name="Straight Connector 30">
            <a:extLst>
              <a:ext uri="{FF2B5EF4-FFF2-40B4-BE49-F238E27FC236}">
                <a16:creationId xmlns:a16="http://schemas.microsoft.com/office/drawing/2014/main" id="{232FF703-54B8-FD53-8890-FEF5B3179B88}"/>
              </a:ext>
            </a:extLst>
          </p:cNvPr>
          <p:cNvCxnSpPr>
            <a:cxnSpLocks/>
            <a:endCxn id="29" idx="4"/>
          </p:cNvCxnSpPr>
          <p:nvPr/>
        </p:nvCxnSpPr>
        <p:spPr>
          <a:xfrm flipV="1">
            <a:off x="8602687" y="5459847"/>
            <a:ext cx="0" cy="761113"/>
          </a:xfrm>
          <a:prstGeom prst="line">
            <a:avLst/>
          </a:prstGeom>
          <a:ln w="38100"/>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A3F8F7AC-F4B1-B772-C731-4D598A13839F}"/>
              </a:ext>
            </a:extLst>
          </p:cNvPr>
          <p:cNvCxnSpPr/>
          <p:nvPr/>
        </p:nvCxnSpPr>
        <p:spPr>
          <a:xfrm>
            <a:off x="7699168" y="6220960"/>
            <a:ext cx="3840480" cy="0"/>
          </a:xfrm>
          <a:prstGeom prst="line">
            <a:avLst/>
          </a:prstGeom>
          <a:ln w="38100"/>
        </p:spPr>
        <p:style>
          <a:lnRef idx="1">
            <a:schemeClr val="dk1"/>
          </a:lnRef>
          <a:fillRef idx="0">
            <a:schemeClr val="dk1"/>
          </a:fillRef>
          <a:effectRef idx="0">
            <a:schemeClr val="dk1"/>
          </a:effectRef>
          <a:fontRef idx="minor">
            <a:schemeClr val="tx1"/>
          </a:fontRef>
        </p:style>
      </p:cxnSp>
      <p:sp>
        <p:nvSpPr>
          <p:cNvPr id="34" name="Oval 33">
            <a:extLst>
              <a:ext uri="{FF2B5EF4-FFF2-40B4-BE49-F238E27FC236}">
                <a16:creationId xmlns:a16="http://schemas.microsoft.com/office/drawing/2014/main" id="{C4A34094-C25D-142D-F2E6-A16913673909}"/>
              </a:ext>
            </a:extLst>
          </p:cNvPr>
          <p:cNvSpPr>
            <a:spLocks noChangeAspect="1"/>
          </p:cNvSpPr>
          <p:nvPr/>
        </p:nvSpPr>
        <p:spPr>
          <a:xfrm>
            <a:off x="8498803" y="5683565"/>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694C5A9-E858-9378-1156-8B815D011C23}"/>
                  </a:ext>
                </a:extLst>
              </p:cNvPr>
              <p:cNvSpPr txBox="1"/>
              <p:nvPr/>
            </p:nvSpPr>
            <p:spPr>
              <a:xfrm>
                <a:off x="8246855" y="5037782"/>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vi-VN"/>
              </a:p>
            </p:txBody>
          </p:sp>
        </mc:Choice>
        <mc:Fallback xmlns="">
          <p:sp>
            <p:nvSpPr>
              <p:cNvPr id="37" name="TextBox 36">
                <a:extLst>
                  <a:ext uri="{FF2B5EF4-FFF2-40B4-BE49-F238E27FC236}">
                    <a16:creationId xmlns:a16="http://schemas.microsoft.com/office/drawing/2014/main" id="{7694C5A9-E858-9378-1156-8B815D011C23}"/>
                  </a:ext>
                </a:extLst>
              </p:cNvPr>
              <p:cNvSpPr txBox="1">
                <a:spLocks noRot="1" noChangeAspect="1" noMove="1" noResize="1" noEditPoints="1" noAdjustHandles="1" noChangeArrowheads="1" noChangeShapeType="1" noTextEdit="1"/>
              </p:cNvSpPr>
              <p:nvPr/>
            </p:nvSpPr>
            <p:spPr>
              <a:xfrm>
                <a:off x="8246855" y="5037782"/>
                <a:ext cx="350739" cy="369332"/>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87EA03D-4B5F-09BF-707A-501F33A1AF35}"/>
                  </a:ext>
                </a:extLst>
              </p:cNvPr>
              <p:cNvSpPr txBox="1"/>
              <p:nvPr/>
            </p:nvSpPr>
            <p:spPr>
              <a:xfrm>
                <a:off x="8241695" y="5474735"/>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vi-VN"/>
              </a:p>
            </p:txBody>
          </p:sp>
        </mc:Choice>
        <mc:Fallback xmlns="">
          <p:sp>
            <p:nvSpPr>
              <p:cNvPr id="38" name="TextBox 37">
                <a:extLst>
                  <a:ext uri="{FF2B5EF4-FFF2-40B4-BE49-F238E27FC236}">
                    <a16:creationId xmlns:a16="http://schemas.microsoft.com/office/drawing/2014/main" id="{687EA03D-4B5F-09BF-707A-501F33A1AF35}"/>
                  </a:ext>
                </a:extLst>
              </p:cNvPr>
              <p:cNvSpPr txBox="1">
                <a:spLocks noRot="1" noChangeAspect="1" noMove="1" noResize="1" noEditPoints="1" noAdjustHandles="1" noChangeArrowheads="1" noChangeShapeType="1" noTextEdit="1"/>
              </p:cNvSpPr>
              <p:nvPr/>
            </p:nvSpPr>
            <p:spPr>
              <a:xfrm>
                <a:off x="8241695" y="5474735"/>
                <a:ext cx="350739" cy="369332"/>
              </a:xfrm>
              <a:prstGeom prst="rect">
                <a:avLst/>
              </a:prstGeom>
              <a:blipFill>
                <a:blip r:embed="rId9"/>
                <a:stretch>
                  <a:fillRect/>
                </a:stretch>
              </a:blipFill>
            </p:spPr>
            <p:txBody>
              <a:bodyPr/>
              <a:lstStyle/>
              <a:p>
                <a:r>
                  <a:rPr lang="vi-VN">
                    <a:noFill/>
                  </a:rPr>
                  <a:t> </a:t>
                </a:r>
              </a:p>
            </p:txBody>
          </p:sp>
        </mc:Fallback>
      </mc:AlternateContent>
      <p:sp>
        <p:nvSpPr>
          <p:cNvPr id="39" name="Oval 38">
            <a:extLst>
              <a:ext uri="{FF2B5EF4-FFF2-40B4-BE49-F238E27FC236}">
                <a16:creationId xmlns:a16="http://schemas.microsoft.com/office/drawing/2014/main" id="{A5147986-8B08-91DD-6FB1-2765B045A955}"/>
              </a:ext>
            </a:extLst>
          </p:cNvPr>
          <p:cNvSpPr>
            <a:spLocks noChangeAspect="1"/>
          </p:cNvSpPr>
          <p:nvPr/>
        </p:nvSpPr>
        <p:spPr>
          <a:xfrm>
            <a:off x="9750125" y="5670656"/>
            <a:ext cx="216000" cy="201665"/>
          </a:xfrm>
          <a:prstGeom prst="ellipse">
            <a:avLst/>
          </a:prstGeom>
          <a:solidFill>
            <a:schemeClr val="tx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sp>
        <p:nvSpPr>
          <p:cNvPr id="40" name="Oval 39">
            <a:extLst>
              <a:ext uri="{FF2B5EF4-FFF2-40B4-BE49-F238E27FC236}">
                <a16:creationId xmlns:a16="http://schemas.microsoft.com/office/drawing/2014/main" id="{A8E5380E-648F-54F1-9DBA-0B3580581629}"/>
              </a:ext>
            </a:extLst>
          </p:cNvPr>
          <p:cNvSpPr>
            <a:spLocks noChangeAspect="1"/>
          </p:cNvSpPr>
          <p:nvPr/>
        </p:nvSpPr>
        <p:spPr>
          <a:xfrm>
            <a:off x="9754241" y="6096039"/>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0F2C04C-4CB7-6119-5240-2270D8D28A19}"/>
                  </a:ext>
                </a:extLst>
              </p:cNvPr>
              <p:cNvSpPr txBox="1"/>
              <p:nvPr/>
            </p:nvSpPr>
            <p:spPr>
              <a:xfrm>
                <a:off x="9502293" y="5450256"/>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vi-VN"/>
              </a:p>
            </p:txBody>
          </p:sp>
        </mc:Choice>
        <mc:Fallback xmlns="">
          <p:sp>
            <p:nvSpPr>
              <p:cNvPr id="41" name="TextBox 40">
                <a:extLst>
                  <a:ext uri="{FF2B5EF4-FFF2-40B4-BE49-F238E27FC236}">
                    <a16:creationId xmlns:a16="http://schemas.microsoft.com/office/drawing/2014/main" id="{90F2C04C-4CB7-6119-5240-2270D8D28A19}"/>
                  </a:ext>
                </a:extLst>
              </p:cNvPr>
              <p:cNvSpPr txBox="1">
                <a:spLocks noRot="1" noChangeAspect="1" noMove="1" noResize="1" noEditPoints="1" noAdjustHandles="1" noChangeArrowheads="1" noChangeShapeType="1" noTextEdit="1"/>
              </p:cNvSpPr>
              <p:nvPr/>
            </p:nvSpPr>
            <p:spPr>
              <a:xfrm>
                <a:off x="9502293" y="5450256"/>
                <a:ext cx="350739" cy="369332"/>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5025F46-6115-522B-E944-F5F8793768F1}"/>
                  </a:ext>
                </a:extLst>
              </p:cNvPr>
              <p:cNvSpPr txBox="1"/>
              <p:nvPr/>
            </p:nvSpPr>
            <p:spPr>
              <a:xfrm>
                <a:off x="9497133" y="5887209"/>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vi-VN"/>
              </a:p>
            </p:txBody>
          </p:sp>
        </mc:Choice>
        <mc:Fallback xmlns="">
          <p:sp>
            <p:nvSpPr>
              <p:cNvPr id="42" name="TextBox 41">
                <a:extLst>
                  <a:ext uri="{FF2B5EF4-FFF2-40B4-BE49-F238E27FC236}">
                    <a16:creationId xmlns:a16="http://schemas.microsoft.com/office/drawing/2014/main" id="{65025F46-6115-522B-E944-F5F8793768F1}"/>
                  </a:ext>
                </a:extLst>
              </p:cNvPr>
              <p:cNvSpPr txBox="1">
                <a:spLocks noRot="1" noChangeAspect="1" noMove="1" noResize="1" noEditPoints="1" noAdjustHandles="1" noChangeArrowheads="1" noChangeShapeType="1" noTextEdit="1"/>
              </p:cNvSpPr>
              <p:nvPr/>
            </p:nvSpPr>
            <p:spPr>
              <a:xfrm>
                <a:off x="9497133" y="5887209"/>
                <a:ext cx="350739" cy="369332"/>
              </a:xfrm>
              <a:prstGeom prst="rect">
                <a:avLst/>
              </a:prstGeom>
              <a:blipFill>
                <a:blip r:embed="rId11"/>
                <a:stretch>
                  <a:fillRect/>
                </a:stretch>
              </a:blipFill>
            </p:spPr>
            <p:txBody>
              <a:bodyPr/>
              <a:lstStyle/>
              <a:p>
                <a:r>
                  <a:rPr lang="vi-VN">
                    <a:noFill/>
                  </a:rPr>
                  <a:t> </a:t>
                </a:r>
              </a:p>
            </p:txBody>
          </p:sp>
        </mc:Fallback>
      </mc:AlternateContent>
      <p:cxnSp>
        <p:nvCxnSpPr>
          <p:cNvPr id="43" name="Straight Connector 42">
            <a:extLst>
              <a:ext uri="{FF2B5EF4-FFF2-40B4-BE49-F238E27FC236}">
                <a16:creationId xmlns:a16="http://schemas.microsoft.com/office/drawing/2014/main" id="{346528EA-60DE-AD94-8616-436BCAA0B008}"/>
              </a:ext>
            </a:extLst>
          </p:cNvPr>
          <p:cNvCxnSpPr>
            <a:cxnSpLocks/>
            <a:stCxn id="40" idx="0"/>
            <a:endCxn id="44" idx="2"/>
          </p:cNvCxnSpPr>
          <p:nvPr/>
        </p:nvCxnSpPr>
        <p:spPr>
          <a:xfrm flipH="1" flipV="1">
            <a:off x="9852960" y="5447767"/>
            <a:ext cx="9281" cy="64827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9A8B4D8-9F4F-8020-B885-D01FD68EA391}"/>
                  </a:ext>
                </a:extLst>
              </p:cNvPr>
              <p:cNvSpPr txBox="1"/>
              <p:nvPr/>
            </p:nvSpPr>
            <p:spPr>
              <a:xfrm>
                <a:off x="9603985" y="5163907"/>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oMath>
                  </m:oMathPara>
                </a14:m>
                <a:endParaRPr lang="vi-VN"/>
              </a:p>
            </p:txBody>
          </p:sp>
        </mc:Choice>
        <mc:Fallback xmlns="">
          <p:sp>
            <p:nvSpPr>
              <p:cNvPr id="44" name="TextBox 43">
                <a:extLst>
                  <a:ext uri="{FF2B5EF4-FFF2-40B4-BE49-F238E27FC236}">
                    <a16:creationId xmlns:a16="http://schemas.microsoft.com/office/drawing/2014/main" id="{59A8B4D8-9F4F-8020-B885-D01FD68EA391}"/>
                  </a:ext>
                </a:extLst>
              </p:cNvPr>
              <p:cNvSpPr txBox="1">
                <a:spLocks noRot="1" noChangeAspect="1" noMove="1" noResize="1" noEditPoints="1" noAdjustHandles="1" noChangeArrowheads="1" noChangeShapeType="1" noTextEdit="1"/>
              </p:cNvSpPr>
              <p:nvPr/>
            </p:nvSpPr>
            <p:spPr>
              <a:xfrm>
                <a:off x="9603985" y="5163907"/>
                <a:ext cx="497949" cy="283860"/>
              </a:xfrm>
              <a:prstGeom prst="rect">
                <a:avLst/>
              </a:prstGeom>
              <a:blipFill>
                <a:blip r:embed="rId12"/>
                <a:stretch>
                  <a:fillRect t="-20408" r="-52381" b="-8163"/>
                </a:stretch>
              </a:blipFill>
              <a:ln>
                <a:solidFill>
                  <a:schemeClr val="tx1"/>
                </a:solidFill>
              </a:ln>
            </p:spPr>
            <p:txBody>
              <a:bodyPr/>
              <a:lstStyle/>
              <a:p>
                <a:r>
                  <a:rPr lang="vi-VN">
                    <a:noFill/>
                  </a:rPr>
                  <a:t> </a:t>
                </a:r>
              </a:p>
            </p:txBody>
          </p:sp>
        </mc:Fallback>
      </mc:AlternateContent>
      <p:sp>
        <p:nvSpPr>
          <p:cNvPr id="54" name="Oval 53">
            <a:extLst>
              <a:ext uri="{FF2B5EF4-FFF2-40B4-BE49-F238E27FC236}">
                <a16:creationId xmlns:a16="http://schemas.microsoft.com/office/drawing/2014/main" id="{DB36EDD2-1C58-74F5-EF58-5F90DEBA3278}"/>
              </a:ext>
            </a:extLst>
          </p:cNvPr>
          <p:cNvSpPr>
            <a:spLocks noChangeAspect="1"/>
          </p:cNvSpPr>
          <p:nvPr/>
        </p:nvSpPr>
        <p:spPr>
          <a:xfrm>
            <a:off x="11057220" y="5244135"/>
            <a:ext cx="216000" cy="201665"/>
          </a:xfrm>
          <a:prstGeom prst="ellipse">
            <a:avLst/>
          </a:prstGeom>
          <a:solidFill>
            <a:schemeClr val="bg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56" name="Straight Connector 55">
            <a:extLst>
              <a:ext uri="{FF2B5EF4-FFF2-40B4-BE49-F238E27FC236}">
                <a16:creationId xmlns:a16="http://schemas.microsoft.com/office/drawing/2014/main" id="{CD7CC083-7C6C-FD16-4C46-D7AF18193CDD}"/>
              </a:ext>
            </a:extLst>
          </p:cNvPr>
          <p:cNvCxnSpPr>
            <a:cxnSpLocks/>
            <a:endCxn id="54" idx="4"/>
          </p:cNvCxnSpPr>
          <p:nvPr/>
        </p:nvCxnSpPr>
        <p:spPr>
          <a:xfrm flipV="1">
            <a:off x="11165220" y="5445800"/>
            <a:ext cx="0" cy="761113"/>
          </a:xfrm>
          <a:prstGeom prst="line">
            <a:avLst/>
          </a:prstGeom>
          <a:ln w="38100"/>
        </p:spPr>
        <p:style>
          <a:lnRef idx="1">
            <a:schemeClr val="dk1"/>
          </a:lnRef>
          <a:fillRef idx="0">
            <a:schemeClr val="dk1"/>
          </a:fillRef>
          <a:effectRef idx="0">
            <a:schemeClr val="dk1"/>
          </a:effectRef>
          <a:fontRef idx="minor">
            <a:schemeClr val="tx1"/>
          </a:fontRef>
        </p:style>
      </p:cxnSp>
      <p:sp>
        <p:nvSpPr>
          <p:cNvPr id="57" name="Oval 56">
            <a:extLst>
              <a:ext uri="{FF2B5EF4-FFF2-40B4-BE49-F238E27FC236}">
                <a16:creationId xmlns:a16="http://schemas.microsoft.com/office/drawing/2014/main" id="{0901FE8A-8D01-D8C8-79AB-1C2BDE05F16F}"/>
              </a:ext>
            </a:extLst>
          </p:cNvPr>
          <p:cNvSpPr>
            <a:spLocks noChangeAspect="1"/>
          </p:cNvSpPr>
          <p:nvPr/>
        </p:nvSpPr>
        <p:spPr>
          <a:xfrm>
            <a:off x="11061336" y="5669518"/>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8DEFBF01-00AC-9DAE-0A66-AF3CE9610757}"/>
                  </a:ext>
                </a:extLst>
              </p:cNvPr>
              <p:cNvSpPr txBox="1"/>
              <p:nvPr/>
            </p:nvSpPr>
            <p:spPr>
              <a:xfrm>
                <a:off x="10809388" y="5023735"/>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vi-VN"/>
              </a:p>
            </p:txBody>
          </p:sp>
        </mc:Choice>
        <mc:Fallback xmlns="">
          <p:sp>
            <p:nvSpPr>
              <p:cNvPr id="58" name="TextBox 57">
                <a:extLst>
                  <a:ext uri="{FF2B5EF4-FFF2-40B4-BE49-F238E27FC236}">
                    <a16:creationId xmlns:a16="http://schemas.microsoft.com/office/drawing/2014/main" id="{8DEFBF01-00AC-9DAE-0A66-AF3CE9610757}"/>
                  </a:ext>
                </a:extLst>
              </p:cNvPr>
              <p:cNvSpPr txBox="1">
                <a:spLocks noRot="1" noChangeAspect="1" noMove="1" noResize="1" noEditPoints="1" noAdjustHandles="1" noChangeArrowheads="1" noChangeShapeType="1" noTextEdit="1"/>
              </p:cNvSpPr>
              <p:nvPr/>
            </p:nvSpPr>
            <p:spPr>
              <a:xfrm>
                <a:off x="10809388" y="5023735"/>
                <a:ext cx="350739" cy="369332"/>
              </a:xfrm>
              <a:prstGeom prst="rect">
                <a:avLst/>
              </a:prstGeom>
              <a:blipFill>
                <a:blip r:embed="rId1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E4C4502-647B-A432-3EBF-9568E7795044}"/>
                  </a:ext>
                </a:extLst>
              </p:cNvPr>
              <p:cNvSpPr txBox="1"/>
              <p:nvPr/>
            </p:nvSpPr>
            <p:spPr>
              <a:xfrm>
                <a:off x="10804228" y="5460688"/>
                <a:ext cx="3507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vi-VN"/>
              </a:p>
            </p:txBody>
          </p:sp>
        </mc:Choice>
        <mc:Fallback xmlns="">
          <p:sp>
            <p:nvSpPr>
              <p:cNvPr id="59" name="TextBox 58">
                <a:extLst>
                  <a:ext uri="{FF2B5EF4-FFF2-40B4-BE49-F238E27FC236}">
                    <a16:creationId xmlns:a16="http://schemas.microsoft.com/office/drawing/2014/main" id="{EE4C4502-647B-A432-3EBF-9568E7795044}"/>
                  </a:ext>
                </a:extLst>
              </p:cNvPr>
              <p:cNvSpPr txBox="1">
                <a:spLocks noRot="1" noChangeAspect="1" noMove="1" noResize="1" noEditPoints="1" noAdjustHandles="1" noChangeArrowheads="1" noChangeShapeType="1" noTextEdit="1"/>
              </p:cNvSpPr>
              <p:nvPr/>
            </p:nvSpPr>
            <p:spPr>
              <a:xfrm>
                <a:off x="10804228" y="5460688"/>
                <a:ext cx="350739" cy="369332"/>
              </a:xfrm>
              <a:prstGeom prst="rect">
                <a:avLst/>
              </a:prstGeom>
              <a:blipFill>
                <a:blip r:embed="rId14"/>
                <a:stretch>
                  <a:fillRect/>
                </a:stretch>
              </a:blipFill>
            </p:spPr>
            <p:txBody>
              <a:bodyPr/>
              <a:lstStyle/>
              <a:p>
                <a:r>
                  <a:rPr lang="vi-VN">
                    <a:noFill/>
                  </a:rPr>
                  <a:t> </a:t>
                </a:r>
              </a:p>
            </p:txBody>
          </p:sp>
        </mc:Fallback>
      </mc:AlternateContent>
      <p:sp>
        <p:nvSpPr>
          <p:cNvPr id="60" name="Left Brace 59">
            <a:extLst>
              <a:ext uri="{FF2B5EF4-FFF2-40B4-BE49-F238E27FC236}">
                <a16:creationId xmlns:a16="http://schemas.microsoft.com/office/drawing/2014/main" id="{27AFEA92-370D-7730-2C0C-657810C075C5}"/>
              </a:ext>
            </a:extLst>
          </p:cNvPr>
          <p:cNvSpPr/>
          <p:nvPr/>
        </p:nvSpPr>
        <p:spPr>
          <a:xfrm rot="16200000">
            <a:off x="9778489" y="4197998"/>
            <a:ext cx="129361" cy="1706250"/>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61" name="Left Brace 60">
            <a:extLst>
              <a:ext uri="{FF2B5EF4-FFF2-40B4-BE49-F238E27FC236}">
                <a16:creationId xmlns:a16="http://schemas.microsoft.com/office/drawing/2014/main" id="{9CB2A903-AEE4-C950-A6DD-44DE8A5E0F0E}"/>
              </a:ext>
            </a:extLst>
          </p:cNvPr>
          <p:cNvSpPr/>
          <p:nvPr/>
        </p:nvSpPr>
        <p:spPr>
          <a:xfrm rot="16200000">
            <a:off x="8448265" y="4687117"/>
            <a:ext cx="132297" cy="725075"/>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62" name="Left Brace 61">
            <a:extLst>
              <a:ext uri="{FF2B5EF4-FFF2-40B4-BE49-F238E27FC236}">
                <a16:creationId xmlns:a16="http://schemas.microsoft.com/office/drawing/2014/main" id="{A45870E0-BFDA-F487-ED63-1B405F4A3F4B}"/>
              </a:ext>
            </a:extLst>
          </p:cNvPr>
          <p:cNvSpPr/>
          <p:nvPr/>
        </p:nvSpPr>
        <p:spPr>
          <a:xfrm rot="16200000">
            <a:off x="11100617" y="4685357"/>
            <a:ext cx="132297" cy="725075"/>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4D40889B-9DAE-52E0-F589-3805C105168D}"/>
                  </a:ext>
                </a:extLst>
              </p:cNvPr>
              <p:cNvSpPr txBox="1"/>
              <p:nvPr/>
            </p:nvSpPr>
            <p:spPr>
              <a:xfrm>
                <a:off x="8738929" y="5079033"/>
                <a:ext cx="948005" cy="307777"/>
              </a:xfrm>
              <a:prstGeom prst="rect">
                <a:avLst/>
              </a:prstGeom>
              <a:noFill/>
            </p:spPr>
            <p:txBody>
              <a:bodyPr wrap="square">
                <a:spAutoFit/>
              </a:bodyPr>
              <a:lstStyle/>
              <a:p>
                <a:r>
                  <a:rPr lang="en-US" sz="1400" b="0"/>
                  <a:t>Differ at </a:t>
                </a:r>
                <a14:m>
                  <m:oMath xmlns:m="http://schemas.openxmlformats.org/officeDocument/2006/math">
                    <m:r>
                      <a:rPr lang="en-US" sz="1400" b="0" i="1" smtClean="0">
                        <a:latin typeface="Cambria Math" panose="02040503050406030204" pitchFamily="18" charset="0"/>
                      </a:rPr>
                      <m:t>0</m:t>
                    </m:r>
                  </m:oMath>
                </a14:m>
                <a:endParaRPr lang="vi-VN" sz="1400"/>
              </a:p>
            </p:txBody>
          </p:sp>
        </mc:Choice>
        <mc:Fallback xmlns="">
          <p:sp>
            <p:nvSpPr>
              <p:cNvPr id="63" name="TextBox 62">
                <a:extLst>
                  <a:ext uri="{FF2B5EF4-FFF2-40B4-BE49-F238E27FC236}">
                    <a16:creationId xmlns:a16="http://schemas.microsoft.com/office/drawing/2014/main" id="{4D40889B-9DAE-52E0-F589-3805C105168D}"/>
                  </a:ext>
                </a:extLst>
              </p:cNvPr>
              <p:cNvSpPr txBox="1">
                <a:spLocks noRot="1" noChangeAspect="1" noMove="1" noResize="1" noEditPoints="1" noAdjustHandles="1" noChangeArrowheads="1" noChangeShapeType="1" noTextEdit="1"/>
              </p:cNvSpPr>
              <p:nvPr/>
            </p:nvSpPr>
            <p:spPr>
              <a:xfrm>
                <a:off x="8738929" y="5079033"/>
                <a:ext cx="948005" cy="307777"/>
              </a:xfrm>
              <a:prstGeom prst="rect">
                <a:avLst/>
              </a:prstGeom>
              <a:blipFill>
                <a:blip r:embed="rId15"/>
                <a:stretch>
                  <a:fillRect l="-1935" t="-1961" b="-2156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24" name="TextBox 1023">
                <a:extLst>
                  <a:ext uri="{FF2B5EF4-FFF2-40B4-BE49-F238E27FC236}">
                    <a16:creationId xmlns:a16="http://schemas.microsoft.com/office/drawing/2014/main" id="{F7795D96-DF78-4897-07CB-8E1CB8C9A6BE}"/>
                  </a:ext>
                </a:extLst>
              </p:cNvPr>
              <p:cNvSpPr txBox="1"/>
              <p:nvPr/>
            </p:nvSpPr>
            <p:spPr>
              <a:xfrm>
                <a:off x="8420536" y="6005913"/>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024" name="TextBox 1023">
                <a:extLst>
                  <a:ext uri="{FF2B5EF4-FFF2-40B4-BE49-F238E27FC236}">
                    <a16:creationId xmlns:a16="http://schemas.microsoft.com/office/drawing/2014/main" id="{F7795D96-DF78-4897-07CB-8E1CB8C9A6BE}"/>
                  </a:ext>
                </a:extLst>
              </p:cNvPr>
              <p:cNvSpPr txBox="1">
                <a:spLocks noRot="1" noChangeAspect="1" noMove="1" noResize="1" noEditPoints="1" noAdjustHandles="1" noChangeArrowheads="1" noChangeShapeType="1" noTextEdit="1"/>
              </p:cNvSpPr>
              <p:nvPr/>
            </p:nvSpPr>
            <p:spPr>
              <a:xfrm>
                <a:off x="8420536" y="6005913"/>
                <a:ext cx="352661" cy="369332"/>
              </a:xfrm>
              <a:prstGeom prst="rect">
                <a:avLst/>
              </a:prstGeom>
              <a:blipFill>
                <a:blip r:embed="rId16"/>
                <a:stretch>
                  <a:fillRect l="-20690" r="-22414" b="-213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25" name="TextBox 1024">
                <a:extLst>
                  <a:ext uri="{FF2B5EF4-FFF2-40B4-BE49-F238E27FC236}">
                    <a16:creationId xmlns:a16="http://schemas.microsoft.com/office/drawing/2014/main" id="{9EBEED83-F721-DE01-BC1C-BF8741694226}"/>
                  </a:ext>
                </a:extLst>
              </p:cNvPr>
              <p:cNvSpPr txBox="1"/>
              <p:nvPr/>
            </p:nvSpPr>
            <p:spPr>
              <a:xfrm>
                <a:off x="10986822" y="6011309"/>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025" name="TextBox 1024">
                <a:extLst>
                  <a:ext uri="{FF2B5EF4-FFF2-40B4-BE49-F238E27FC236}">
                    <a16:creationId xmlns:a16="http://schemas.microsoft.com/office/drawing/2014/main" id="{9EBEED83-F721-DE01-BC1C-BF8741694226}"/>
                  </a:ext>
                </a:extLst>
              </p:cNvPr>
              <p:cNvSpPr txBox="1">
                <a:spLocks noRot="1" noChangeAspect="1" noMove="1" noResize="1" noEditPoints="1" noAdjustHandles="1" noChangeArrowheads="1" noChangeShapeType="1" noTextEdit="1"/>
              </p:cNvSpPr>
              <p:nvPr/>
            </p:nvSpPr>
            <p:spPr>
              <a:xfrm>
                <a:off x="10986822" y="6011309"/>
                <a:ext cx="352661" cy="369332"/>
              </a:xfrm>
              <a:prstGeom prst="rect">
                <a:avLst/>
              </a:prstGeom>
              <a:blipFill>
                <a:blip r:embed="rId17"/>
                <a:stretch>
                  <a:fillRect l="-20690" r="-22414" b="-21311"/>
                </a:stretch>
              </a:blipFill>
            </p:spPr>
            <p:txBody>
              <a:bodyPr/>
              <a:lstStyle/>
              <a:p>
                <a:r>
                  <a:rPr lang="vi-VN">
                    <a:noFill/>
                  </a:rPr>
                  <a:t> </a:t>
                </a:r>
              </a:p>
            </p:txBody>
          </p:sp>
        </mc:Fallback>
      </mc:AlternateContent>
    </p:spTree>
    <p:extLst>
      <p:ext uri="{BB962C8B-B14F-4D97-AF65-F5344CB8AC3E}">
        <p14:creationId xmlns:p14="http://schemas.microsoft.com/office/powerpoint/2010/main" val="2956828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10DBB-CEA0-E307-C947-FB69DF736D9A}"/>
              </a:ext>
            </a:extLst>
          </p:cNvPr>
          <p:cNvSpPr>
            <a:spLocks noGrp="1"/>
          </p:cNvSpPr>
          <p:nvPr>
            <p:ph type="title"/>
          </p:nvPr>
        </p:nvSpPr>
        <p:spPr/>
        <p:txBody>
          <a:bodyPr/>
          <a:lstStyle/>
          <a:p>
            <a:r>
              <a:rPr lang="en-US"/>
              <a:t>Equivalent gate / circuit</a:t>
            </a:r>
            <a:endParaRPr lang="vi-VN"/>
          </a:p>
        </p:txBody>
      </p:sp>
      <p:sp>
        <p:nvSpPr>
          <p:cNvPr id="4" name="Slide Number Placeholder 3">
            <a:extLst>
              <a:ext uri="{FF2B5EF4-FFF2-40B4-BE49-F238E27FC236}">
                <a16:creationId xmlns:a16="http://schemas.microsoft.com/office/drawing/2014/main" id="{BB7376C6-4CBC-4800-3257-D63869DCE8D1}"/>
              </a:ext>
            </a:extLst>
          </p:cNvPr>
          <p:cNvSpPr>
            <a:spLocks noGrp="1"/>
          </p:cNvSpPr>
          <p:nvPr>
            <p:ph type="sldNum" sz="quarter" idx="12"/>
          </p:nvPr>
        </p:nvSpPr>
        <p:spPr/>
        <p:txBody>
          <a:bodyPr/>
          <a:lstStyle/>
          <a:p>
            <a:fld id="{71331178-9F85-4EDF-BDD3-1E7064DA4C59}" type="slidenum">
              <a:rPr lang="vi-VN" smtClean="0"/>
              <a:t>16</a:t>
            </a:fld>
            <a:endParaRPr lang="vi-VN"/>
          </a:p>
        </p:txBody>
      </p:sp>
      <p:cxnSp>
        <p:nvCxnSpPr>
          <p:cNvPr id="8" name="Straight Connector 7">
            <a:extLst>
              <a:ext uri="{FF2B5EF4-FFF2-40B4-BE49-F238E27FC236}">
                <a16:creationId xmlns:a16="http://schemas.microsoft.com/office/drawing/2014/main" id="{40B545FA-CC43-84E6-1E35-8621C9F37884}"/>
              </a:ext>
            </a:extLst>
          </p:cNvPr>
          <p:cNvCxnSpPr/>
          <p:nvPr/>
        </p:nvCxnSpPr>
        <p:spPr>
          <a:xfrm>
            <a:off x="1123391" y="3612108"/>
            <a:ext cx="18288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7F3D8EDB-216F-043A-423D-42DAB455F0F1}"/>
              </a:ext>
            </a:extLst>
          </p:cNvPr>
          <p:cNvCxnSpPr>
            <a:cxnSpLocks/>
            <a:endCxn id="13" idx="4"/>
          </p:cNvCxnSpPr>
          <p:nvPr/>
        </p:nvCxnSpPr>
        <p:spPr>
          <a:xfrm flipV="1">
            <a:off x="2026910" y="3717754"/>
            <a:ext cx="4116" cy="335730"/>
          </a:xfrm>
          <a:prstGeom prst="line">
            <a:avLst/>
          </a:prstGeom>
          <a:ln w="38100"/>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11CC6841-2158-CB7E-9733-A8D72A9197C9}"/>
              </a:ext>
            </a:extLst>
          </p:cNvPr>
          <p:cNvCxnSpPr/>
          <p:nvPr/>
        </p:nvCxnSpPr>
        <p:spPr>
          <a:xfrm>
            <a:off x="1123391" y="4053484"/>
            <a:ext cx="1828800" cy="0"/>
          </a:xfrm>
          <a:prstGeom prst="line">
            <a:avLst/>
          </a:prstGeom>
          <a:ln w="38100"/>
        </p:spPr>
        <p:style>
          <a:lnRef idx="1">
            <a:schemeClr val="dk1"/>
          </a:lnRef>
          <a:fillRef idx="0">
            <a:schemeClr val="dk1"/>
          </a:fillRef>
          <a:effectRef idx="0">
            <a:schemeClr val="dk1"/>
          </a:effectRef>
          <a:fontRef idx="minor">
            <a:schemeClr val="tx1"/>
          </a:fontRef>
        </p:style>
      </p:cxnSp>
      <p:sp>
        <p:nvSpPr>
          <p:cNvPr id="13" name="Oval 12">
            <a:extLst>
              <a:ext uri="{FF2B5EF4-FFF2-40B4-BE49-F238E27FC236}">
                <a16:creationId xmlns:a16="http://schemas.microsoft.com/office/drawing/2014/main" id="{8530D3F4-BDCE-8F44-8F7E-FC57D4649EC4}"/>
              </a:ext>
            </a:extLst>
          </p:cNvPr>
          <p:cNvSpPr>
            <a:spLocks noChangeAspect="1"/>
          </p:cNvSpPr>
          <p:nvPr/>
        </p:nvSpPr>
        <p:spPr>
          <a:xfrm>
            <a:off x="1923026" y="3516089"/>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74192BA-44C5-6246-7B9A-E5BF2135EF35}"/>
                  </a:ext>
                </a:extLst>
              </p:cNvPr>
              <p:cNvSpPr txBox="1"/>
              <p:nvPr/>
            </p:nvSpPr>
            <p:spPr>
              <a:xfrm>
                <a:off x="1292049" y="3462973"/>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17" name="TextBox 16">
                <a:extLst>
                  <a:ext uri="{FF2B5EF4-FFF2-40B4-BE49-F238E27FC236}">
                    <a16:creationId xmlns:a16="http://schemas.microsoft.com/office/drawing/2014/main" id="{474192BA-44C5-6246-7B9A-E5BF2135EF35}"/>
                  </a:ext>
                </a:extLst>
              </p:cNvPr>
              <p:cNvSpPr txBox="1">
                <a:spLocks noRot="1" noChangeAspect="1" noMove="1" noResize="1" noEditPoints="1" noAdjustHandles="1" noChangeArrowheads="1" noChangeShapeType="1" noTextEdit="1"/>
              </p:cNvSpPr>
              <p:nvPr/>
            </p:nvSpPr>
            <p:spPr>
              <a:xfrm>
                <a:off x="1292049" y="3462973"/>
                <a:ext cx="497949" cy="283860"/>
              </a:xfrm>
              <a:prstGeom prst="rect">
                <a:avLst/>
              </a:prstGeom>
              <a:blipFill>
                <a:blip r:embed="rId3"/>
                <a:stretch>
                  <a:fillRect b="-40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4944400-51A8-8CEA-593A-107D7B555D52}"/>
                  </a:ext>
                </a:extLst>
              </p:cNvPr>
              <p:cNvSpPr txBox="1"/>
              <p:nvPr/>
            </p:nvSpPr>
            <p:spPr>
              <a:xfrm>
                <a:off x="1297890" y="3911554"/>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18" name="TextBox 17">
                <a:extLst>
                  <a:ext uri="{FF2B5EF4-FFF2-40B4-BE49-F238E27FC236}">
                    <a16:creationId xmlns:a16="http://schemas.microsoft.com/office/drawing/2014/main" id="{C4944400-51A8-8CEA-593A-107D7B555D52}"/>
                  </a:ext>
                </a:extLst>
              </p:cNvPr>
              <p:cNvSpPr txBox="1">
                <a:spLocks noRot="1" noChangeAspect="1" noMove="1" noResize="1" noEditPoints="1" noAdjustHandles="1" noChangeArrowheads="1" noChangeShapeType="1" noTextEdit="1"/>
              </p:cNvSpPr>
              <p:nvPr/>
            </p:nvSpPr>
            <p:spPr>
              <a:xfrm>
                <a:off x="1297890" y="3911554"/>
                <a:ext cx="497949" cy="283860"/>
              </a:xfrm>
              <a:prstGeom prst="rect">
                <a:avLst/>
              </a:prstGeom>
              <a:blipFill>
                <a:blip r:embed="rId4"/>
                <a:stretch>
                  <a:fillRect b="-4167"/>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EBFCF4A-B9B3-C61A-5415-4364CBF91E19}"/>
                  </a:ext>
                </a:extLst>
              </p:cNvPr>
              <p:cNvSpPr txBox="1"/>
              <p:nvPr/>
            </p:nvSpPr>
            <p:spPr>
              <a:xfrm>
                <a:off x="2253007" y="3469665"/>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19" name="TextBox 18">
                <a:extLst>
                  <a:ext uri="{FF2B5EF4-FFF2-40B4-BE49-F238E27FC236}">
                    <a16:creationId xmlns:a16="http://schemas.microsoft.com/office/drawing/2014/main" id="{1EBFCF4A-B9B3-C61A-5415-4364CBF91E19}"/>
                  </a:ext>
                </a:extLst>
              </p:cNvPr>
              <p:cNvSpPr txBox="1">
                <a:spLocks noRot="1" noChangeAspect="1" noMove="1" noResize="1" noEditPoints="1" noAdjustHandles="1" noChangeArrowheads="1" noChangeShapeType="1" noTextEdit="1"/>
              </p:cNvSpPr>
              <p:nvPr/>
            </p:nvSpPr>
            <p:spPr>
              <a:xfrm>
                <a:off x="2253007" y="3469665"/>
                <a:ext cx="497949" cy="283860"/>
              </a:xfrm>
              <a:prstGeom prst="rect">
                <a:avLst/>
              </a:prstGeom>
              <a:blipFill>
                <a:blip r:embed="rId5"/>
                <a:stretch>
                  <a:fillRect b="-40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499ACC5-C114-3A2C-7F2F-B798C08773E2}"/>
                  </a:ext>
                </a:extLst>
              </p:cNvPr>
              <p:cNvSpPr txBox="1"/>
              <p:nvPr/>
            </p:nvSpPr>
            <p:spPr>
              <a:xfrm>
                <a:off x="2264208" y="3911554"/>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20" name="TextBox 19">
                <a:extLst>
                  <a:ext uri="{FF2B5EF4-FFF2-40B4-BE49-F238E27FC236}">
                    <a16:creationId xmlns:a16="http://schemas.microsoft.com/office/drawing/2014/main" id="{A499ACC5-C114-3A2C-7F2F-B798C08773E2}"/>
                  </a:ext>
                </a:extLst>
              </p:cNvPr>
              <p:cNvSpPr txBox="1">
                <a:spLocks noRot="1" noChangeAspect="1" noMove="1" noResize="1" noEditPoints="1" noAdjustHandles="1" noChangeArrowheads="1" noChangeShapeType="1" noTextEdit="1"/>
              </p:cNvSpPr>
              <p:nvPr/>
            </p:nvSpPr>
            <p:spPr>
              <a:xfrm>
                <a:off x="2264208" y="3911554"/>
                <a:ext cx="497949" cy="283860"/>
              </a:xfrm>
              <a:prstGeom prst="rect">
                <a:avLst/>
              </a:prstGeom>
              <a:blipFill>
                <a:blip r:embed="rId6"/>
                <a:stretch>
                  <a:fillRect b="-4167"/>
                </a:stretch>
              </a:blipFill>
              <a:ln>
                <a:solidFill>
                  <a:schemeClr val="tx1"/>
                </a:solidFill>
              </a:ln>
            </p:spPr>
            <p:txBody>
              <a:bodyPr/>
              <a:lstStyle/>
              <a:p>
                <a:r>
                  <a:rPr lang="vi-VN">
                    <a:noFill/>
                  </a:rPr>
                  <a:t> </a:t>
                </a:r>
              </a:p>
            </p:txBody>
          </p:sp>
        </mc:Fallback>
      </mc:AlternateContent>
      <p:sp>
        <p:nvSpPr>
          <p:cNvPr id="21" name="Rectangle 20">
            <a:extLst>
              <a:ext uri="{FF2B5EF4-FFF2-40B4-BE49-F238E27FC236}">
                <a16:creationId xmlns:a16="http://schemas.microsoft.com/office/drawing/2014/main" id="{98CDC6F4-2393-3F15-9002-C53773A1B4E3}"/>
              </a:ext>
            </a:extLst>
          </p:cNvPr>
          <p:cNvSpPr/>
          <p:nvPr/>
        </p:nvSpPr>
        <p:spPr>
          <a:xfrm>
            <a:off x="880533" y="3200392"/>
            <a:ext cx="2325511" cy="12417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2" name="Straight Connector 21">
            <a:extLst>
              <a:ext uri="{FF2B5EF4-FFF2-40B4-BE49-F238E27FC236}">
                <a16:creationId xmlns:a16="http://schemas.microsoft.com/office/drawing/2014/main" id="{CEB6D725-28B0-B419-BBBA-B6A0FDE4E7C3}"/>
              </a:ext>
            </a:extLst>
          </p:cNvPr>
          <p:cNvCxnSpPr/>
          <p:nvPr/>
        </p:nvCxnSpPr>
        <p:spPr>
          <a:xfrm>
            <a:off x="4213723" y="3612108"/>
            <a:ext cx="18288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08E4D570-2386-4D10-AF3D-D6E15EF76150}"/>
              </a:ext>
            </a:extLst>
          </p:cNvPr>
          <p:cNvCxnSpPr>
            <a:cxnSpLocks/>
            <a:endCxn id="26" idx="0"/>
          </p:cNvCxnSpPr>
          <p:nvPr/>
        </p:nvCxnSpPr>
        <p:spPr>
          <a:xfrm>
            <a:off x="5111880" y="3621320"/>
            <a:ext cx="0" cy="341832"/>
          </a:xfrm>
          <a:prstGeom prst="line">
            <a:avLst/>
          </a:prstGeom>
          <a:ln w="3810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278FC4C6-E764-413E-62F1-4BFE57DA149D}"/>
              </a:ext>
            </a:extLst>
          </p:cNvPr>
          <p:cNvCxnSpPr/>
          <p:nvPr/>
        </p:nvCxnSpPr>
        <p:spPr>
          <a:xfrm>
            <a:off x="4213723" y="4053484"/>
            <a:ext cx="1828800" cy="0"/>
          </a:xfrm>
          <a:prstGeom prst="line">
            <a:avLst/>
          </a:prstGeom>
          <a:ln w="38100"/>
        </p:spPr>
        <p:style>
          <a:lnRef idx="1">
            <a:schemeClr val="dk1"/>
          </a:lnRef>
          <a:fillRef idx="0">
            <a:schemeClr val="dk1"/>
          </a:fillRef>
          <a:effectRef idx="0">
            <a:schemeClr val="dk1"/>
          </a:effectRef>
          <a:fontRef idx="minor">
            <a:schemeClr val="tx1"/>
          </a:fontRef>
        </p:style>
      </p:cxnSp>
      <p:sp>
        <p:nvSpPr>
          <p:cNvPr id="26" name="Oval 25">
            <a:extLst>
              <a:ext uri="{FF2B5EF4-FFF2-40B4-BE49-F238E27FC236}">
                <a16:creationId xmlns:a16="http://schemas.microsoft.com/office/drawing/2014/main" id="{33090EFD-218F-4F30-E5FF-8D91426E0A54}"/>
              </a:ext>
            </a:extLst>
          </p:cNvPr>
          <p:cNvSpPr>
            <a:spLocks noChangeAspect="1"/>
          </p:cNvSpPr>
          <p:nvPr/>
        </p:nvSpPr>
        <p:spPr>
          <a:xfrm>
            <a:off x="5003880" y="3963152"/>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sp>
        <p:nvSpPr>
          <p:cNvPr id="31" name="Rectangle 30">
            <a:extLst>
              <a:ext uri="{FF2B5EF4-FFF2-40B4-BE49-F238E27FC236}">
                <a16:creationId xmlns:a16="http://schemas.microsoft.com/office/drawing/2014/main" id="{66D6FDFC-E6FD-41E5-AEF0-E0B772E9357A}"/>
              </a:ext>
            </a:extLst>
          </p:cNvPr>
          <p:cNvSpPr/>
          <p:nvPr/>
        </p:nvSpPr>
        <p:spPr>
          <a:xfrm>
            <a:off x="3970865" y="3200392"/>
            <a:ext cx="2325511" cy="12417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EBBC986-48D5-28CA-20D1-16AC4BF3DC01}"/>
                  </a:ext>
                </a:extLst>
              </p:cNvPr>
              <p:cNvSpPr txBox="1"/>
              <p:nvPr/>
            </p:nvSpPr>
            <p:spPr>
              <a:xfrm>
                <a:off x="3437115" y="3621320"/>
                <a:ext cx="3141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35" name="TextBox 34">
                <a:extLst>
                  <a:ext uri="{FF2B5EF4-FFF2-40B4-BE49-F238E27FC236}">
                    <a16:creationId xmlns:a16="http://schemas.microsoft.com/office/drawing/2014/main" id="{AEBBC986-48D5-28CA-20D1-16AC4BF3DC01}"/>
                  </a:ext>
                </a:extLst>
              </p:cNvPr>
              <p:cNvSpPr txBox="1">
                <a:spLocks noRot="1" noChangeAspect="1" noMove="1" noResize="1" noEditPoints="1" noAdjustHandles="1" noChangeArrowheads="1" noChangeShapeType="1" noTextEdit="1"/>
              </p:cNvSpPr>
              <p:nvPr/>
            </p:nvSpPr>
            <p:spPr>
              <a:xfrm>
                <a:off x="3437115" y="3621320"/>
                <a:ext cx="314189" cy="369332"/>
              </a:xfrm>
              <a:prstGeom prst="rect">
                <a:avLst/>
              </a:prstGeom>
              <a:blipFill>
                <a:blip r:embed="rId7"/>
                <a:stretch>
                  <a:fillRect l="-13725" r="-11765" b="-3279"/>
                </a:stretch>
              </a:blipFill>
            </p:spPr>
            <p:txBody>
              <a:bodyPr/>
              <a:lstStyle/>
              <a:p>
                <a:r>
                  <a:rPr lang="vi-VN">
                    <a:noFill/>
                  </a:rPr>
                  <a:t> </a:t>
                </a:r>
              </a:p>
            </p:txBody>
          </p:sp>
        </mc:Fallback>
      </mc:AlternateContent>
      <p:cxnSp>
        <p:nvCxnSpPr>
          <p:cNvPr id="38" name="Straight Connector 37">
            <a:extLst>
              <a:ext uri="{FF2B5EF4-FFF2-40B4-BE49-F238E27FC236}">
                <a16:creationId xmlns:a16="http://schemas.microsoft.com/office/drawing/2014/main" id="{07E2A000-8BDB-2069-0CDD-A3C88A5F2C4C}"/>
              </a:ext>
            </a:extLst>
          </p:cNvPr>
          <p:cNvCxnSpPr/>
          <p:nvPr/>
        </p:nvCxnSpPr>
        <p:spPr>
          <a:xfrm>
            <a:off x="1163400" y="4829261"/>
            <a:ext cx="18288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6A4E22A8-AF20-238A-917D-FA7BC84E9282}"/>
              </a:ext>
            </a:extLst>
          </p:cNvPr>
          <p:cNvCxnSpPr/>
          <p:nvPr/>
        </p:nvCxnSpPr>
        <p:spPr>
          <a:xfrm>
            <a:off x="1163400" y="5249830"/>
            <a:ext cx="1828800" cy="0"/>
          </a:xfrm>
          <a:prstGeom prst="line">
            <a:avLst/>
          </a:prstGeom>
          <a:ln w="38100"/>
        </p:spPr>
        <p:style>
          <a:lnRef idx="1">
            <a:schemeClr val="dk1"/>
          </a:lnRef>
          <a:fillRef idx="0">
            <a:schemeClr val="dk1"/>
          </a:fillRef>
          <a:effectRef idx="0">
            <a:schemeClr val="dk1"/>
          </a:effectRef>
          <a:fontRef idx="minor">
            <a:schemeClr val="tx1"/>
          </a:fontRef>
        </p:style>
      </p:cxnSp>
      <p:sp>
        <p:nvSpPr>
          <p:cNvPr id="40" name="Oval 39">
            <a:extLst>
              <a:ext uri="{FF2B5EF4-FFF2-40B4-BE49-F238E27FC236}">
                <a16:creationId xmlns:a16="http://schemas.microsoft.com/office/drawing/2014/main" id="{7FF553E7-E503-31A4-8A5B-B11DDD7892A5}"/>
              </a:ext>
            </a:extLst>
          </p:cNvPr>
          <p:cNvSpPr>
            <a:spLocks noChangeAspect="1"/>
          </p:cNvSpPr>
          <p:nvPr/>
        </p:nvSpPr>
        <p:spPr>
          <a:xfrm>
            <a:off x="1958919" y="4728428"/>
            <a:ext cx="216000" cy="201665"/>
          </a:xfrm>
          <a:prstGeom prst="ellipse">
            <a:avLst/>
          </a:prstGeom>
          <a:solidFill>
            <a:schemeClr val="tx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42" name="Straight Connector 41">
            <a:extLst>
              <a:ext uri="{FF2B5EF4-FFF2-40B4-BE49-F238E27FC236}">
                <a16:creationId xmlns:a16="http://schemas.microsoft.com/office/drawing/2014/main" id="{651D2663-7AF0-7F43-32DA-508B119B2087}"/>
              </a:ext>
            </a:extLst>
          </p:cNvPr>
          <p:cNvCxnSpPr>
            <a:cxnSpLocks/>
            <a:endCxn id="40" idx="4"/>
          </p:cNvCxnSpPr>
          <p:nvPr/>
        </p:nvCxnSpPr>
        <p:spPr>
          <a:xfrm flipV="1">
            <a:off x="2066919" y="4930093"/>
            <a:ext cx="0" cy="761113"/>
          </a:xfrm>
          <a:prstGeom prst="line">
            <a:avLst/>
          </a:prstGeom>
          <a:ln w="38100"/>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4645CC15-FB0D-6A14-967C-2E3BBFF7DC0E}"/>
              </a:ext>
            </a:extLst>
          </p:cNvPr>
          <p:cNvCxnSpPr/>
          <p:nvPr/>
        </p:nvCxnSpPr>
        <p:spPr>
          <a:xfrm>
            <a:off x="1163400" y="5691206"/>
            <a:ext cx="1828800" cy="0"/>
          </a:xfrm>
          <a:prstGeom prst="line">
            <a:avLst/>
          </a:prstGeom>
          <a:ln w="38100"/>
        </p:spPr>
        <p:style>
          <a:lnRef idx="1">
            <a:schemeClr val="dk1"/>
          </a:lnRef>
          <a:fillRef idx="0">
            <a:schemeClr val="dk1"/>
          </a:fillRef>
          <a:effectRef idx="0">
            <a:schemeClr val="dk1"/>
          </a:effectRef>
          <a:fontRef idx="minor">
            <a:schemeClr val="tx1"/>
          </a:fontRef>
        </p:style>
      </p:cxnSp>
      <p:sp>
        <p:nvSpPr>
          <p:cNvPr id="44" name="Oval 43">
            <a:extLst>
              <a:ext uri="{FF2B5EF4-FFF2-40B4-BE49-F238E27FC236}">
                <a16:creationId xmlns:a16="http://schemas.microsoft.com/office/drawing/2014/main" id="{D4F3DF26-9331-990C-F789-561850F3F096}"/>
              </a:ext>
            </a:extLst>
          </p:cNvPr>
          <p:cNvSpPr>
            <a:spLocks noChangeAspect="1"/>
          </p:cNvSpPr>
          <p:nvPr/>
        </p:nvSpPr>
        <p:spPr>
          <a:xfrm>
            <a:off x="1963035" y="5153811"/>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sp>
        <p:nvSpPr>
          <p:cNvPr id="48" name="Rectangle 47">
            <a:extLst>
              <a:ext uri="{FF2B5EF4-FFF2-40B4-BE49-F238E27FC236}">
                <a16:creationId xmlns:a16="http://schemas.microsoft.com/office/drawing/2014/main" id="{34F25E58-3DC9-9AA1-8CDE-24CE40AA33FA}"/>
              </a:ext>
            </a:extLst>
          </p:cNvPr>
          <p:cNvSpPr/>
          <p:nvPr/>
        </p:nvSpPr>
        <p:spPr>
          <a:xfrm>
            <a:off x="895628" y="4594775"/>
            <a:ext cx="2325511" cy="12417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3EFCA4B-C9E0-C60A-F693-CAB91ED1422D}"/>
                  </a:ext>
                </a:extLst>
              </p:cNvPr>
              <p:cNvSpPr txBox="1"/>
              <p:nvPr/>
            </p:nvSpPr>
            <p:spPr>
              <a:xfrm>
                <a:off x="3452210" y="5015703"/>
                <a:ext cx="3141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49" name="TextBox 48">
                <a:extLst>
                  <a:ext uri="{FF2B5EF4-FFF2-40B4-BE49-F238E27FC236}">
                    <a16:creationId xmlns:a16="http://schemas.microsoft.com/office/drawing/2014/main" id="{53EFCA4B-C9E0-C60A-F693-CAB91ED1422D}"/>
                  </a:ext>
                </a:extLst>
              </p:cNvPr>
              <p:cNvSpPr txBox="1">
                <a:spLocks noRot="1" noChangeAspect="1" noMove="1" noResize="1" noEditPoints="1" noAdjustHandles="1" noChangeArrowheads="1" noChangeShapeType="1" noTextEdit="1"/>
              </p:cNvSpPr>
              <p:nvPr/>
            </p:nvSpPr>
            <p:spPr>
              <a:xfrm>
                <a:off x="3452210" y="5015703"/>
                <a:ext cx="314189" cy="369332"/>
              </a:xfrm>
              <a:prstGeom prst="rect">
                <a:avLst/>
              </a:prstGeom>
              <a:blipFill>
                <a:blip r:embed="rId8"/>
                <a:stretch>
                  <a:fillRect l="-11538" r="-11538" b="-3333"/>
                </a:stretch>
              </a:blipFill>
            </p:spPr>
            <p:txBody>
              <a:bodyPr/>
              <a:lstStyle/>
              <a:p>
                <a:r>
                  <a:rPr lang="vi-VN">
                    <a:noFill/>
                  </a:rPr>
                  <a:t> </a:t>
                </a:r>
              </a:p>
            </p:txBody>
          </p:sp>
        </mc:Fallback>
      </mc:AlternateContent>
      <p:cxnSp>
        <p:nvCxnSpPr>
          <p:cNvPr id="50" name="Straight Connector 49">
            <a:extLst>
              <a:ext uri="{FF2B5EF4-FFF2-40B4-BE49-F238E27FC236}">
                <a16:creationId xmlns:a16="http://schemas.microsoft.com/office/drawing/2014/main" id="{9FD34118-B088-14E0-C5A7-2E1FEAB82835}"/>
              </a:ext>
            </a:extLst>
          </p:cNvPr>
          <p:cNvCxnSpPr/>
          <p:nvPr/>
        </p:nvCxnSpPr>
        <p:spPr>
          <a:xfrm>
            <a:off x="4193153" y="4787549"/>
            <a:ext cx="62179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D5C45669-72DA-67F0-68EE-A3D12F27EFA2}"/>
              </a:ext>
            </a:extLst>
          </p:cNvPr>
          <p:cNvCxnSpPr/>
          <p:nvPr/>
        </p:nvCxnSpPr>
        <p:spPr>
          <a:xfrm>
            <a:off x="4193153" y="5208118"/>
            <a:ext cx="62179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3F652AB3-AEAD-D487-7B03-4F0CA72EF456}"/>
              </a:ext>
            </a:extLst>
          </p:cNvPr>
          <p:cNvCxnSpPr/>
          <p:nvPr/>
        </p:nvCxnSpPr>
        <p:spPr>
          <a:xfrm>
            <a:off x="4193153" y="5649494"/>
            <a:ext cx="62179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933E004-457B-142C-CCF7-A45D23485DF8}"/>
                  </a:ext>
                </a:extLst>
              </p:cNvPr>
              <p:cNvSpPr txBox="1"/>
              <p:nvPr/>
            </p:nvSpPr>
            <p:spPr>
              <a:xfrm>
                <a:off x="4392456" y="5524099"/>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54" name="TextBox 53">
                <a:extLst>
                  <a:ext uri="{FF2B5EF4-FFF2-40B4-BE49-F238E27FC236}">
                    <a16:creationId xmlns:a16="http://schemas.microsoft.com/office/drawing/2014/main" id="{2933E004-457B-142C-CCF7-A45D23485DF8}"/>
                  </a:ext>
                </a:extLst>
              </p:cNvPr>
              <p:cNvSpPr txBox="1">
                <a:spLocks noRot="1" noChangeAspect="1" noMove="1" noResize="1" noEditPoints="1" noAdjustHandles="1" noChangeArrowheads="1" noChangeShapeType="1" noTextEdit="1"/>
              </p:cNvSpPr>
              <p:nvPr/>
            </p:nvSpPr>
            <p:spPr>
              <a:xfrm>
                <a:off x="4392456" y="5524099"/>
                <a:ext cx="497949" cy="283860"/>
              </a:xfrm>
              <a:prstGeom prst="rect">
                <a:avLst/>
              </a:prstGeom>
              <a:blipFill>
                <a:blip r:embed="rId9"/>
                <a:stretch>
                  <a:fillRect b="-40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98B6B09-A399-64F2-4D68-FD8B6B8887AF}"/>
                  </a:ext>
                </a:extLst>
              </p:cNvPr>
              <p:cNvSpPr txBox="1"/>
              <p:nvPr/>
            </p:nvSpPr>
            <p:spPr>
              <a:xfrm>
                <a:off x="5277139" y="5503808"/>
                <a:ext cx="497949" cy="284117"/>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55" name="TextBox 54">
                <a:extLst>
                  <a:ext uri="{FF2B5EF4-FFF2-40B4-BE49-F238E27FC236}">
                    <a16:creationId xmlns:a16="http://schemas.microsoft.com/office/drawing/2014/main" id="{698B6B09-A399-64F2-4D68-FD8B6B8887AF}"/>
                  </a:ext>
                </a:extLst>
              </p:cNvPr>
              <p:cNvSpPr txBox="1">
                <a:spLocks noRot="1" noChangeAspect="1" noMove="1" noResize="1" noEditPoints="1" noAdjustHandles="1" noChangeArrowheads="1" noChangeShapeType="1" noTextEdit="1"/>
              </p:cNvSpPr>
              <p:nvPr/>
            </p:nvSpPr>
            <p:spPr>
              <a:xfrm>
                <a:off x="5277139" y="5503808"/>
                <a:ext cx="497949" cy="284117"/>
              </a:xfrm>
              <a:prstGeom prst="rect">
                <a:avLst/>
              </a:prstGeom>
              <a:blipFill>
                <a:blip r:embed="rId10"/>
                <a:stretch>
                  <a:fillRect b="-8333"/>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496EE099-197E-2708-9550-20D57BA8D742}"/>
                  </a:ext>
                </a:extLst>
              </p:cNvPr>
              <p:cNvSpPr txBox="1"/>
              <p:nvPr/>
            </p:nvSpPr>
            <p:spPr>
              <a:xfrm>
                <a:off x="6119833" y="5504065"/>
                <a:ext cx="497949" cy="276999"/>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oMath>
                  </m:oMathPara>
                </a14:m>
                <a:endParaRPr lang="vi-VN"/>
              </a:p>
            </p:txBody>
          </p:sp>
        </mc:Choice>
        <mc:Fallback xmlns="">
          <p:sp>
            <p:nvSpPr>
              <p:cNvPr id="56" name="TextBox 55">
                <a:extLst>
                  <a:ext uri="{FF2B5EF4-FFF2-40B4-BE49-F238E27FC236}">
                    <a16:creationId xmlns:a16="http://schemas.microsoft.com/office/drawing/2014/main" id="{496EE099-197E-2708-9550-20D57BA8D742}"/>
                  </a:ext>
                </a:extLst>
              </p:cNvPr>
              <p:cNvSpPr txBox="1">
                <a:spLocks noRot="1" noChangeAspect="1" noMove="1" noResize="1" noEditPoints="1" noAdjustHandles="1" noChangeArrowheads="1" noChangeShapeType="1" noTextEdit="1"/>
              </p:cNvSpPr>
              <p:nvPr/>
            </p:nvSpPr>
            <p:spPr>
              <a:xfrm>
                <a:off x="6119833" y="5504065"/>
                <a:ext cx="497949" cy="276999"/>
              </a:xfrm>
              <a:prstGeom prst="rect">
                <a:avLst/>
              </a:prstGeom>
              <a:blipFill>
                <a:blip r:embed="rId11"/>
                <a:stretch>
                  <a:fillRect b="-6383"/>
                </a:stretch>
              </a:blipFill>
              <a:ln>
                <a:solidFill>
                  <a:schemeClr val="tx1"/>
                </a:solidFill>
              </a:ln>
            </p:spPr>
            <p:txBody>
              <a:bodyPr/>
              <a:lstStyle/>
              <a:p>
                <a:r>
                  <a:rPr lang="vi-VN">
                    <a:noFill/>
                  </a:rPr>
                  <a:t> </a:t>
                </a:r>
              </a:p>
            </p:txBody>
          </p:sp>
        </mc:Fallback>
      </mc:AlternateContent>
      <p:cxnSp>
        <p:nvCxnSpPr>
          <p:cNvPr id="60" name="Straight Connector 59">
            <a:extLst>
              <a:ext uri="{FF2B5EF4-FFF2-40B4-BE49-F238E27FC236}">
                <a16:creationId xmlns:a16="http://schemas.microsoft.com/office/drawing/2014/main" id="{9A84D029-D2CD-57AA-F3F0-36295610ECDD}"/>
              </a:ext>
            </a:extLst>
          </p:cNvPr>
          <p:cNvCxnSpPr>
            <a:cxnSpLocks/>
            <a:endCxn id="61" idx="4"/>
          </p:cNvCxnSpPr>
          <p:nvPr/>
        </p:nvCxnSpPr>
        <p:spPr>
          <a:xfrm flipV="1">
            <a:off x="5082014" y="5305742"/>
            <a:ext cx="4116" cy="335730"/>
          </a:xfrm>
          <a:prstGeom prst="line">
            <a:avLst/>
          </a:prstGeom>
          <a:ln w="38100"/>
        </p:spPr>
        <p:style>
          <a:lnRef idx="1">
            <a:schemeClr val="dk1"/>
          </a:lnRef>
          <a:fillRef idx="0">
            <a:schemeClr val="dk1"/>
          </a:fillRef>
          <a:effectRef idx="0">
            <a:schemeClr val="dk1"/>
          </a:effectRef>
          <a:fontRef idx="minor">
            <a:schemeClr val="tx1"/>
          </a:fontRef>
        </p:style>
      </p:cxnSp>
      <p:sp>
        <p:nvSpPr>
          <p:cNvPr id="61" name="Oval 60">
            <a:extLst>
              <a:ext uri="{FF2B5EF4-FFF2-40B4-BE49-F238E27FC236}">
                <a16:creationId xmlns:a16="http://schemas.microsoft.com/office/drawing/2014/main" id="{531B0C8E-EBCE-71B0-4DFD-5A9343EBA84D}"/>
              </a:ext>
            </a:extLst>
          </p:cNvPr>
          <p:cNvSpPr>
            <a:spLocks noChangeAspect="1"/>
          </p:cNvSpPr>
          <p:nvPr/>
        </p:nvSpPr>
        <p:spPr>
          <a:xfrm>
            <a:off x="4978130" y="5104077"/>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63" name="Straight Connector 62">
            <a:extLst>
              <a:ext uri="{FF2B5EF4-FFF2-40B4-BE49-F238E27FC236}">
                <a16:creationId xmlns:a16="http://schemas.microsoft.com/office/drawing/2014/main" id="{BD6B18D6-A0CA-14AB-9247-CE1AD8CC2941}"/>
              </a:ext>
            </a:extLst>
          </p:cNvPr>
          <p:cNvCxnSpPr>
            <a:cxnSpLocks/>
            <a:endCxn id="64" idx="4"/>
          </p:cNvCxnSpPr>
          <p:nvPr/>
        </p:nvCxnSpPr>
        <p:spPr>
          <a:xfrm flipV="1">
            <a:off x="5943856" y="4881486"/>
            <a:ext cx="0" cy="745100"/>
          </a:xfrm>
          <a:prstGeom prst="line">
            <a:avLst/>
          </a:prstGeom>
          <a:ln w="38100"/>
        </p:spPr>
        <p:style>
          <a:lnRef idx="1">
            <a:schemeClr val="dk1"/>
          </a:lnRef>
          <a:fillRef idx="0">
            <a:schemeClr val="dk1"/>
          </a:fillRef>
          <a:effectRef idx="0">
            <a:schemeClr val="dk1"/>
          </a:effectRef>
          <a:fontRef idx="minor">
            <a:schemeClr val="tx1"/>
          </a:fontRef>
        </p:style>
      </p:cxnSp>
      <p:sp>
        <p:nvSpPr>
          <p:cNvPr id="64" name="Oval 63">
            <a:extLst>
              <a:ext uri="{FF2B5EF4-FFF2-40B4-BE49-F238E27FC236}">
                <a16:creationId xmlns:a16="http://schemas.microsoft.com/office/drawing/2014/main" id="{FCA25924-801C-6C2E-AFE2-E2BC4536F570}"/>
              </a:ext>
            </a:extLst>
          </p:cNvPr>
          <p:cNvSpPr>
            <a:spLocks noChangeAspect="1"/>
          </p:cNvSpPr>
          <p:nvPr/>
        </p:nvSpPr>
        <p:spPr>
          <a:xfrm>
            <a:off x="5835856" y="4679821"/>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67" name="Straight Connector 66">
            <a:extLst>
              <a:ext uri="{FF2B5EF4-FFF2-40B4-BE49-F238E27FC236}">
                <a16:creationId xmlns:a16="http://schemas.microsoft.com/office/drawing/2014/main" id="{8D4F9641-71AF-F5FB-0649-91A0220A2A56}"/>
              </a:ext>
            </a:extLst>
          </p:cNvPr>
          <p:cNvCxnSpPr>
            <a:cxnSpLocks/>
            <a:endCxn id="68" idx="4"/>
          </p:cNvCxnSpPr>
          <p:nvPr/>
        </p:nvCxnSpPr>
        <p:spPr>
          <a:xfrm flipV="1">
            <a:off x="6792017" y="5339567"/>
            <a:ext cx="4116" cy="335730"/>
          </a:xfrm>
          <a:prstGeom prst="line">
            <a:avLst/>
          </a:prstGeom>
          <a:ln w="38100"/>
        </p:spPr>
        <p:style>
          <a:lnRef idx="1">
            <a:schemeClr val="dk1"/>
          </a:lnRef>
          <a:fillRef idx="0">
            <a:schemeClr val="dk1"/>
          </a:fillRef>
          <a:effectRef idx="0">
            <a:schemeClr val="dk1"/>
          </a:effectRef>
          <a:fontRef idx="minor">
            <a:schemeClr val="tx1"/>
          </a:fontRef>
        </p:style>
      </p:cxnSp>
      <p:sp>
        <p:nvSpPr>
          <p:cNvPr id="68" name="Oval 67">
            <a:extLst>
              <a:ext uri="{FF2B5EF4-FFF2-40B4-BE49-F238E27FC236}">
                <a16:creationId xmlns:a16="http://schemas.microsoft.com/office/drawing/2014/main" id="{5058E701-0BC8-7D3A-0517-B7E64FC8933C}"/>
              </a:ext>
            </a:extLst>
          </p:cNvPr>
          <p:cNvSpPr>
            <a:spLocks noChangeAspect="1"/>
          </p:cNvSpPr>
          <p:nvPr/>
        </p:nvSpPr>
        <p:spPr>
          <a:xfrm>
            <a:off x="6688133" y="5137902"/>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0AD08FBF-E660-B2CB-C311-9546BE6AF836}"/>
                  </a:ext>
                </a:extLst>
              </p:cNvPr>
              <p:cNvSpPr txBox="1"/>
              <p:nvPr/>
            </p:nvSpPr>
            <p:spPr>
              <a:xfrm>
                <a:off x="6949153" y="5500346"/>
                <a:ext cx="497949" cy="284117"/>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69" name="TextBox 68">
                <a:extLst>
                  <a:ext uri="{FF2B5EF4-FFF2-40B4-BE49-F238E27FC236}">
                    <a16:creationId xmlns:a16="http://schemas.microsoft.com/office/drawing/2014/main" id="{0AD08FBF-E660-B2CB-C311-9546BE6AF836}"/>
                  </a:ext>
                </a:extLst>
              </p:cNvPr>
              <p:cNvSpPr txBox="1">
                <a:spLocks noRot="1" noChangeAspect="1" noMove="1" noResize="1" noEditPoints="1" noAdjustHandles="1" noChangeArrowheads="1" noChangeShapeType="1" noTextEdit="1"/>
              </p:cNvSpPr>
              <p:nvPr/>
            </p:nvSpPr>
            <p:spPr>
              <a:xfrm>
                <a:off x="6949153" y="5500346"/>
                <a:ext cx="497949" cy="284117"/>
              </a:xfrm>
              <a:prstGeom prst="rect">
                <a:avLst/>
              </a:prstGeom>
              <a:blipFill>
                <a:blip r:embed="rId12"/>
                <a:stretch>
                  <a:fillRect b="-8163"/>
                </a:stretch>
              </a:blipFill>
              <a:ln>
                <a:solidFill>
                  <a:schemeClr val="tx1"/>
                </a:solidFill>
              </a:ln>
            </p:spPr>
            <p:txBody>
              <a:bodyPr/>
              <a:lstStyle/>
              <a:p>
                <a:r>
                  <a:rPr lang="vi-VN">
                    <a:noFill/>
                  </a:rPr>
                  <a:t> </a:t>
                </a:r>
              </a:p>
            </p:txBody>
          </p:sp>
        </mc:Fallback>
      </mc:AlternateContent>
      <p:cxnSp>
        <p:nvCxnSpPr>
          <p:cNvPr id="71" name="Straight Connector 70">
            <a:extLst>
              <a:ext uri="{FF2B5EF4-FFF2-40B4-BE49-F238E27FC236}">
                <a16:creationId xmlns:a16="http://schemas.microsoft.com/office/drawing/2014/main" id="{7E0298A3-3FBC-345C-F13E-E06EA4A74CEC}"/>
              </a:ext>
            </a:extLst>
          </p:cNvPr>
          <p:cNvCxnSpPr>
            <a:cxnSpLocks/>
            <a:endCxn id="72" idx="4"/>
          </p:cNvCxnSpPr>
          <p:nvPr/>
        </p:nvCxnSpPr>
        <p:spPr>
          <a:xfrm flipV="1">
            <a:off x="7613190" y="4886557"/>
            <a:ext cx="0" cy="745100"/>
          </a:xfrm>
          <a:prstGeom prst="line">
            <a:avLst/>
          </a:prstGeom>
          <a:ln w="38100"/>
        </p:spPr>
        <p:style>
          <a:lnRef idx="1">
            <a:schemeClr val="dk1"/>
          </a:lnRef>
          <a:fillRef idx="0">
            <a:schemeClr val="dk1"/>
          </a:fillRef>
          <a:effectRef idx="0">
            <a:schemeClr val="dk1"/>
          </a:effectRef>
          <a:fontRef idx="minor">
            <a:schemeClr val="tx1"/>
          </a:fontRef>
        </p:style>
      </p:cxnSp>
      <p:sp>
        <p:nvSpPr>
          <p:cNvPr id="72" name="Oval 71">
            <a:extLst>
              <a:ext uri="{FF2B5EF4-FFF2-40B4-BE49-F238E27FC236}">
                <a16:creationId xmlns:a16="http://schemas.microsoft.com/office/drawing/2014/main" id="{A51BCFD5-85C8-25D2-0F52-970FA814A300}"/>
              </a:ext>
            </a:extLst>
          </p:cNvPr>
          <p:cNvSpPr>
            <a:spLocks noChangeAspect="1"/>
          </p:cNvSpPr>
          <p:nvPr/>
        </p:nvSpPr>
        <p:spPr>
          <a:xfrm>
            <a:off x="7505190" y="4684892"/>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1B2BDA93-1835-0441-91E0-8A04B1184D3E}"/>
                  </a:ext>
                </a:extLst>
              </p:cNvPr>
              <p:cNvSpPr txBox="1"/>
              <p:nvPr/>
            </p:nvSpPr>
            <p:spPr>
              <a:xfrm>
                <a:off x="7798480" y="5493157"/>
                <a:ext cx="497949" cy="276999"/>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oMath>
                  </m:oMathPara>
                </a14:m>
                <a:endParaRPr lang="vi-VN"/>
              </a:p>
            </p:txBody>
          </p:sp>
        </mc:Choice>
        <mc:Fallback xmlns="">
          <p:sp>
            <p:nvSpPr>
              <p:cNvPr id="73" name="TextBox 72">
                <a:extLst>
                  <a:ext uri="{FF2B5EF4-FFF2-40B4-BE49-F238E27FC236}">
                    <a16:creationId xmlns:a16="http://schemas.microsoft.com/office/drawing/2014/main" id="{1B2BDA93-1835-0441-91E0-8A04B1184D3E}"/>
                  </a:ext>
                </a:extLst>
              </p:cNvPr>
              <p:cNvSpPr txBox="1">
                <a:spLocks noRot="1" noChangeAspect="1" noMove="1" noResize="1" noEditPoints="1" noAdjustHandles="1" noChangeArrowheads="1" noChangeShapeType="1" noTextEdit="1"/>
              </p:cNvSpPr>
              <p:nvPr/>
            </p:nvSpPr>
            <p:spPr>
              <a:xfrm>
                <a:off x="7798480" y="5493157"/>
                <a:ext cx="497949" cy="276999"/>
              </a:xfrm>
              <a:prstGeom prst="rect">
                <a:avLst/>
              </a:prstGeom>
              <a:blipFill>
                <a:blip r:embed="rId13"/>
                <a:stretch>
                  <a:fillRect b="-6250"/>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3396BDC9-FE86-916C-742E-6405CADB2E0B}"/>
                  </a:ext>
                </a:extLst>
              </p:cNvPr>
              <p:cNvSpPr txBox="1"/>
              <p:nvPr/>
            </p:nvSpPr>
            <p:spPr>
              <a:xfrm>
                <a:off x="7790534" y="5055949"/>
                <a:ext cx="497949" cy="284117"/>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74" name="TextBox 73">
                <a:extLst>
                  <a:ext uri="{FF2B5EF4-FFF2-40B4-BE49-F238E27FC236}">
                    <a16:creationId xmlns:a16="http://schemas.microsoft.com/office/drawing/2014/main" id="{3396BDC9-FE86-916C-742E-6405CADB2E0B}"/>
                  </a:ext>
                </a:extLst>
              </p:cNvPr>
              <p:cNvSpPr txBox="1">
                <a:spLocks noRot="1" noChangeAspect="1" noMove="1" noResize="1" noEditPoints="1" noAdjustHandles="1" noChangeArrowheads="1" noChangeShapeType="1" noTextEdit="1"/>
              </p:cNvSpPr>
              <p:nvPr/>
            </p:nvSpPr>
            <p:spPr>
              <a:xfrm>
                <a:off x="7790534" y="5055949"/>
                <a:ext cx="497949" cy="284117"/>
              </a:xfrm>
              <a:prstGeom prst="rect">
                <a:avLst/>
              </a:prstGeom>
              <a:blipFill>
                <a:blip r:embed="rId14"/>
                <a:stretch>
                  <a:fillRect b="-8163"/>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20F93007-0DD3-A757-DD65-7E74244F05B1}"/>
                  </a:ext>
                </a:extLst>
              </p:cNvPr>
              <p:cNvSpPr txBox="1"/>
              <p:nvPr/>
            </p:nvSpPr>
            <p:spPr>
              <a:xfrm>
                <a:off x="8380601" y="5490376"/>
                <a:ext cx="497949" cy="276999"/>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oMath>
                  </m:oMathPara>
                </a14:m>
                <a:endParaRPr lang="vi-VN"/>
              </a:p>
            </p:txBody>
          </p:sp>
        </mc:Choice>
        <mc:Fallback xmlns="">
          <p:sp>
            <p:nvSpPr>
              <p:cNvPr id="75" name="TextBox 74">
                <a:extLst>
                  <a:ext uri="{FF2B5EF4-FFF2-40B4-BE49-F238E27FC236}">
                    <a16:creationId xmlns:a16="http://schemas.microsoft.com/office/drawing/2014/main" id="{20F93007-0DD3-A757-DD65-7E74244F05B1}"/>
                  </a:ext>
                </a:extLst>
              </p:cNvPr>
              <p:cNvSpPr txBox="1">
                <a:spLocks noRot="1" noChangeAspect="1" noMove="1" noResize="1" noEditPoints="1" noAdjustHandles="1" noChangeArrowheads="1" noChangeShapeType="1" noTextEdit="1"/>
              </p:cNvSpPr>
              <p:nvPr/>
            </p:nvSpPr>
            <p:spPr>
              <a:xfrm>
                <a:off x="8380601" y="5490376"/>
                <a:ext cx="497949" cy="276999"/>
              </a:xfrm>
              <a:prstGeom prst="rect">
                <a:avLst/>
              </a:prstGeom>
              <a:blipFill>
                <a:blip r:embed="rId15"/>
                <a:stretch>
                  <a:fillRect b="-6383"/>
                </a:stretch>
              </a:blipFill>
              <a:ln>
                <a:solidFill>
                  <a:schemeClr val="tx1"/>
                </a:solidFill>
              </a:ln>
            </p:spPr>
            <p:txBody>
              <a:bodyPr/>
              <a:lstStyle/>
              <a:p>
                <a:r>
                  <a:rPr lang="vi-VN">
                    <a:noFill/>
                  </a:rPr>
                  <a:t> </a:t>
                </a:r>
              </a:p>
            </p:txBody>
          </p:sp>
        </mc:Fallback>
      </mc:AlternateContent>
      <p:cxnSp>
        <p:nvCxnSpPr>
          <p:cNvPr id="77" name="Straight Connector 76">
            <a:extLst>
              <a:ext uri="{FF2B5EF4-FFF2-40B4-BE49-F238E27FC236}">
                <a16:creationId xmlns:a16="http://schemas.microsoft.com/office/drawing/2014/main" id="{EEA744B8-0904-4B32-5AE2-3EC56B2CF104}"/>
              </a:ext>
            </a:extLst>
          </p:cNvPr>
          <p:cNvCxnSpPr>
            <a:cxnSpLocks/>
            <a:endCxn id="78" idx="4"/>
          </p:cNvCxnSpPr>
          <p:nvPr/>
        </p:nvCxnSpPr>
        <p:spPr>
          <a:xfrm flipV="1">
            <a:off x="8645668" y="4870084"/>
            <a:ext cx="4116" cy="335730"/>
          </a:xfrm>
          <a:prstGeom prst="line">
            <a:avLst/>
          </a:prstGeom>
          <a:ln w="38100"/>
        </p:spPr>
        <p:style>
          <a:lnRef idx="1">
            <a:schemeClr val="dk1"/>
          </a:lnRef>
          <a:fillRef idx="0">
            <a:schemeClr val="dk1"/>
          </a:fillRef>
          <a:effectRef idx="0">
            <a:schemeClr val="dk1"/>
          </a:effectRef>
          <a:fontRef idx="minor">
            <a:schemeClr val="tx1"/>
          </a:fontRef>
        </p:style>
      </p:cxnSp>
      <p:sp>
        <p:nvSpPr>
          <p:cNvPr id="78" name="Oval 77">
            <a:extLst>
              <a:ext uri="{FF2B5EF4-FFF2-40B4-BE49-F238E27FC236}">
                <a16:creationId xmlns:a16="http://schemas.microsoft.com/office/drawing/2014/main" id="{2C6DE6F1-EA6A-5E1C-8643-1D21C212E8CC}"/>
              </a:ext>
            </a:extLst>
          </p:cNvPr>
          <p:cNvSpPr>
            <a:spLocks noChangeAspect="1"/>
          </p:cNvSpPr>
          <p:nvPr/>
        </p:nvSpPr>
        <p:spPr>
          <a:xfrm>
            <a:off x="8541784" y="4668419"/>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D363CF94-3FDA-B86E-B265-29E03BD41419}"/>
                  </a:ext>
                </a:extLst>
              </p:cNvPr>
              <p:cNvSpPr txBox="1"/>
              <p:nvPr/>
            </p:nvSpPr>
            <p:spPr>
              <a:xfrm>
                <a:off x="8953316" y="5039498"/>
                <a:ext cx="497949" cy="284117"/>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79" name="TextBox 78">
                <a:extLst>
                  <a:ext uri="{FF2B5EF4-FFF2-40B4-BE49-F238E27FC236}">
                    <a16:creationId xmlns:a16="http://schemas.microsoft.com/office/drawing/2014/main" id="{D363CF94-3FDA-B86E-B265-29E03BD41419}"/>
                  </a:ext>
                </a:extLst>
              </p:cNvPr>
              <p:cNvSpPr txBox="1">
                <a:spLocks noRot="1" noChangeAspect="1" noMove="1" noResize="1" noEditPoints="1" noAdjustHandles="1" noChangeArrowheads="1" noChangeShapeType="1" noTextEdit="1"/>
              </p:cNvSpPr>
              <p:nvPr/>
            </p:nvSpPr>
            <p:spPr>
              <a:xfrm>
                <a:off x="8953316" y="5039498"/>
                <a:ext cx="497949" cy="284117"/>
              </a:xfrm>
              <a:prstGeom prst="rect">
                <a:avLst/>
              </a:prstGeom>
              <a:blipFill>
                <a:blip r:embed="rId16"/>
                <a:stretch>
                  <a:fillRect t="-2083" b="-8333"/>
                </a:stretch>
              </a:blipFill>
              <a:ln>
                <a:solidFill>
                  <a:schemeClr val="tx1"/>
                </a:solidFill>
              </a:ln>
            </p:spPr>
            <p:txBody>
              <a:bodyPr/>
              <a:lstStyle/>
              <a:p>
                <a:r>
                  <a:rPr lang="vi-VN">
                    <a:noFill/>
                  </a:rPr>
                  <a:t> </a:t>
                </a:r>
              </a:p>
            </p:txBody>
          </p:sp>
        </mc:Fallback>
      </mc:AlternateContent>
      <p:cxnSp>
        <p:nvCxnSpPr>
          <p:cNvPr id="81" name="Straight Connector 80">
            <a:extLst>
              <a:ext uri="{FF2B5EF4-FFF2-40B4-BE49-F238E27FC236}">
                <a16:creationId xmlns:a16="http://schemas.microsoft.com/office/drawing/2014/main" id="{24AAD216-4AF0-7EE1-DD49-AEF9763460D3}"/>
              </a:ext>
            </a:extLst>
          </p:cNvPr>
          <p:cNvCxnSpPr>
            <a:cxnSpLocks/>
            <a:endCxn id="82" idx="4"/>
          </p:cNvCxnSpPr>
          <p:nvPr/>
        </p:nvCxnSpPr>
        <p:spPr>
          <a:xfrm flipV="1">
            <a:off x="9636422" y="4881792"/>
            <a:ext cx="4116" cy="335730"/>
          </a:xfrm>
          <a:prstGeom prst="line">
            <a:avLst/>
          </a:prstGeom>
          <a:ln w="38100"/>
        </p:spPr>
        <p:style>
          <a:lnRef idx="1">
            <a:schemeClr val="dk1"/>
          </a:lnRef>
          <a:fillRef idx="0">
            <a:schemeClr val="dk1"/>
          </a:fillRef>
          <a:effectRef idx="0">
            <a:schemeClr val="dk1"/>
          </a:effectRef>
          <a:fontRef idx="minor">
            <a:schemeClr val="tx1"/>
          </a:fontRef>
        </p:style>
      </p:cxnSp>
      <p:sp>
        <p:nvSpPr>
          <p:cNvPr id="82" name="Oval 81">
            <a:extLst>
              <a:ext uri="{FF2B5EF4-FFF2-40B4-BE49-F238E27FC236}">
                <a16:creationId xmlns:a16="http://schemas.microsoft.com/office/drawing/2014/main" id="{B4C4DFC2-6C27-6C53-A0AD-F526C61E634D}"/>
              </a:ext>
            </a:extLst>
          </p:cNvPr>
          <p:cNvSpPr>
            <a:spLocks noChangeAspect="1"/>
          </p:cNvSpPr>
          <p:nvPr/>
        </p:nvSpPr>
        <p:spPr>
          <a:xfrm>
            <a:off x="9532538" y="4680127"/>
            <a:ext cx="216000" cy="201665"/>
          </a:xfrm>
          <a:prstGeom prst="ellipse">
            <a:avLst/>
          </a:prstGeom>
          <a:solidFill>
            <a:schemeClr val="tx1"/>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DE55360C-A621-32A4-5C6F-6369E43645E1}"/>
                  </a:ext>
                </a:extLst>
              </p:cNvPr>
              <p:cNvSpPr txBox="1"/>
              <p:nvPr/>
            </p:nvSpPr>
            <p:spPr>
              <a:xfrm>
                <a:off x="9842228" y="4649049"/>
                <a:ext cx="497949" cy="276999"/>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oMath>
                  </m:oMathPara>
                </a14:m>
                <a:endParaRPr lang="vi-VN"/>
              </a:p>
            </p:txBody>
          </p:sp>
        </mc:Choice>
        <mc:Fallback xmlns="">
          <p:sp>
            <p:nvSpPr>
              <p:cNvPr id="83" name="TextBox 82">
                <a:extLst>
                  <a:ext uri="{FF2B5EF4-FFF2-40B4-BE49-F238E27FC236}">
                    <a16:creationId xmlns:a16="http://schemas.microsoft.com/office/drawing/2014/main" id="{DE55360C-A621-32A4-5C6F-6369E43645E1}"/>
                  </a:ext>
                </a:extLst>
              </p:cNvPr>
              <p:cNvSpPr txBox="1">
                <a:spLocks noRot="1" noChangeAspect="1" noMove="1" noResize="1" noEditPoints="1" noAdjustHandles="1" noChangeArrowheads="1" noChangeShapeType="1" noTextEdit="1"/>
              </p:cNvSpPr>
              <p:nvPr/>
            </p:nvSpPr>
            <p:spPr>
              <a:xfrm>
                <a:off x="9842228" y="4649049"/>
                <a:ext cx="497949" cy="276999"/>
              </a:xfrm>
              <a:prstGeom prst="rect">
                <a:avLst/>
              </a:prstGeom>
              <a:blipFill>
                <a:blip r:embed="rId17"/>
                <a:stretch>
                  <a:fillRect b="-6383"/>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C74B5E15-088E-57EC-BBA6-5C257C710AFD}"/>
                  </a:ext>
                </a:extLst>
              </p:cNvPr>
              <p:cNvSpPr txBox="1"/>
              <p:nvPr/>
            </p:nvSpPr>
            <p:spPr>
              <a:xfrm>
                <a:off x="9849420" y="5031696"/>
                <a:ext cx="497949" cy="276999"/>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oMath>
                  </m:oMathPara>
                </a14:m>
                <a:endParaRPr lang="vi-VN"/>
              </a:p>
            </p:txBody>
          </p:sp>
        </mc:Choice>
        <mc:Fallback xmlns="">
          <p:sp>
            <p:nvSpPr>
              <p:cNvPr id="84" name="TextBox 83">
                <a:extLst>
                  <a:ext uri="{FF2B5EF4-FFF2-40B4-BE49-F238E27FC236}">
                    <a16:creationId xmlns:a16="http://schemas.microsoft.com/office/drawing/2014/main" id="{C74B5E15-088E-57EC-BBA6-5C257C710AFD}"/>
                  </a:ext>
                </a:extLst>
              </p:cNvPr>
              <p:cNvSpPr txBox="1">
                <a:spLocks noRot="1" noChangeAspect="1" noMove="1" noResize="1" noEditPoints="1" noAdjustHandles="1" noChangeArrowheads="1" noChangeShapeType="1" noTextEdit="1"/>
              </p:cNvSpPr>
              <p:nvPr/>
            </p:nvSpPr>
            <p:spPr>
              <a:xfrm>
                <a:off x="9849420" y="5031696"/>
                <a:ext cx="497949" cy="276999"/>
              </a:xfrm>
              <a:prstGeom prst="rect">
                <a:avLst/>
              </a:prstGeom>
              <a:blipFill>
                <a:blip r:embed="rId18"/>
                <a:stretch>
                  <a:fillRect b="-6250"/>
                </a:stretch>
              </a:blipFill>
              <a:ln>
                <a:solidFill>
                  <a:schemeClr val="tx1"/>
                </a:solidFill>
              </a:ln>
            </p:spPr>
            <p:txBody>
              <a:bodyPr/>
              <a:lstStyle/>
              <a:p>
                <a:r>
                  <a:rPr lang="vi-VN">
                    <a:noFill/>
                  </a:rPr>
                  <a:t> </a:t>
                </a:r>
              </a:p>
            </p:txBody>
          </p:sp>
        </mc:Fallback>
      </mc:AlternateContent>
      <p:sp>
        <p:nvSpPr>
          <p:cNvPr id="85" name="Rectangle 84">
            <a:extLst>
              <a:ext uri="{FF2B5EF4-FFF2-40B4-BE49-F238E27FC236}">
                <a16:creationId xmlns:a16="http://schemas.microsoft.com/office/drawing/2014/main" id="{9FCFEA9B-DE98-F726-5BCA-CA456D870DDC}"/>
              </a:ext>
            </a:extLst>
          </p:cNvPr>
          <p:cNvSpPr/>
          <p:nvPr/>
        </p:nvSpPr>
        <p:spPr>
          <a:xfrm>
            <a:off x="3957910" y="4579479"/>
            <a:ext cx="6666307" cy="12745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6" name="TextBox 85">
            <a:extLst>
              <a:ext uri="{FF2B5EF4-FFF2-40B4-BE49-F238E27FC236}">
                <a16:creationId xmlns:a16="http://schemas.microsoft.com/office/drawing/2014/main" id="{B54BF7BB-CAB7-2063-3B08-E0948E988A77}"/>
              </a:ext>
            </a:extLst>
          </p:cNvPr>
          <p:cNvSpPr txBox="1"/>
          <p:nvPr/>
        </p:nvSpPr>
        <p:spPr>
          <a:xfrm>
            <a:off x="838200" y="5872896"/>
            <a:ext cx="2382939" cy="461665"/>
          </a:xfrm>
          <a:prstGeom prst="rect">
            <a:avLst/>
          </a:prstGeom>
          <a:noFill/>
        </p:spPr>
        <p:txBody>
          <a:bodyPr wrap="square" rtlCol="0">
            <a:spAutoFit/>
          </a:bodyPr>
          <a:lstStyle/>
          <a:p>
            <a:pPr algn="ctr"/>
            <a:r>
              <a:rPr lang="en-US" sz="2400"/>
              <a:t>Toffoli (CCX) gate</a:t>
            </a:r>
            <a:endParaRPr lang="vi-VN" sz="2400"/>
          </a:p>
        </p:txBody>
      </p:sp>
      <p:sp>
        <p:nvSpPr>
          <p:cNvPr id="87" name="TextBox 86">
            <a:extLst>
              <a:ext uri="{FF2B5EF4-FFF2-40B4-BE49-F238E27FC236}">
                <a16:creationId xmlns:a16="http://schemas.microsoft.com/office/drawing/2014/main" id="{F742AD46-05B9-1BD0-EEDA-8906711A1071}"/>
              </a:ext>
            </a:extLst>
          </p:cNvPr>
          <p:cNvSpPr txBox="1"/>
          <p:nvPr/>
        </p:nvSpPr>
        <p:spPr>
          <a:xfrm>
            <a:off x="3970865" y="5872896"/>
            <a:ext cx="6666307" cy="461665"/>
          </a:xfrm>
          <a:prstGeom prst="rect">
            <a:avLst/>
          </a:prstGeom>
          <a:noFill/>
        </p:spPr>
        <p:txBody>
          <a:bodyPr wrap="square" rtlCol="0">
            <a:spAutoFit/>
          </a:bodyPr>
          <a:lstStyle/>
          <a:p>
            <a:pPr algn="ctr"/>
            <a:r>
              <a:rPr lang="en-US" sz="2400"/>
              <a:t>Decompose into 6 CX gates</a:t>
            </a:r>
            <a:endParaRPr lang="vi-VN" sz="2400"/>
          </a:p>
        </p:txBody>
      </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737A7346-1D9F-3D94-AAE2-972E67A051BD}"/>
                  </a:ext>
                </a:extLst>
              </p:cNvPr>
              <p:cNvSpPr txBox="1"/>
              <p:nvPr/>
            </p:nvSpPr>
            <p:spPr>
              <a:xfrm>
                <a:off x="1848361" y="3844021"/>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88" name="TextBox 87">
                <a:extLst>
                  <a:ext uri="{FF2B5EF4-FFF2-40B4-BE49-F238E27FC236}">
                    <a16:creationId xmlns:a16="http://schemas.microsoft.com/office/drawing/2014/main" id="{737A7346-1D9F-3D94-AAE2-972E67A051BD}"/>
                  </a:ext>
                </a:extLst>
              </p:cNvPr>
              <p:cNvSpPr txBox="1">
                <a:spLocks noRot="1" noChangeAspect="1" noMove="1" noResize="1" noEditPoints="1" noAdjustHandles="1" noChangeArrowheads="1" noChangeShapeType="1" noTextEdit="1"/>
              </p:cNvSpPr>
              <p:nvPr/>
            </p:nvSpPr>
            <p:spPr>
              <a:xfrm>
                <a:off x="1848361" y="3844021"/>
                <a:ext cx="352661" cy="369332"/>
              </a:xfrm>
              <a:prstGeom prst="rect">
                <a:avLst/>
              </a:prstGeom>
              <a:blipFill>
                <a:blip r:embed="rId19"/>
                <a:stretch>
                  <a:fillRect l="-20690" r="-22414" b="-21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21580788-FA05-1334-BF4D-5899D7D54002}"/>
                  </a:ext>
                </a:extLst>
              </p:cNvPr>
              <p:cNvSpPr txBox="1"/>
              <p:nvPr/>
            </p:nvSpPr>
            <p:spPr>
              <a:xfrm>
                <a:off x="4935549" y="3399114"/>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89" name="TextBox 88">
                <a:extLst>
                  <a:ext uri="{FF2B5EF4-FFF2-40B4-BE49-F238E27FC236}">
                    <a16:creationId xmlns:a16="http://schemas.microsoft.com/office/drawing/2014/main" id="{21580788-FA05-1334-BF4D-5899D7D54002}"/>
                  </a:ext>
                </a:extLst>
              </p:cNvPr>
              <p:cNvSpPr txBox="1">
                <a:spLocks noRot="1" noChangeAspect="1" noMove="1" noResize="1" noEditPoints="1" noAdjustHandles="1" noChangeArrowheads="1" noChangeShapeType="1" noTextEdit="1"/>
              </p:cNvSpPr>
              <p:nvPr/>
            </p:nvSpPr>
            <p:spPr>
              <a:xfrm>
                <a:off x="4935549" y="3399114"/>
                <a:ext cx="352661" cy="369332"/>
              </a:xfrm>
              <a:prstGeom prst="rect">
                <a:avLst/>
              </a:prstGeom>
              <a:blipFill>
                <a:blip r:embed="rId20"/>
                <a:stretch>
                  <a:fillRect l="-22807" r="-22807" b="-21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82D8176E-7B40-F55B-2F78-379A615D2B73}"/>
                  </a:ext>
                </a:extLst>
              </p:cNvPr>
              <p:cNvSpPr txBox="1"/>
              <p:nvPr/>
            </p:nvSpPr>
            <p:spPr>
              <a:xfrm>
                <a:off x="1890662" y="5481363"/>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0" name="TextBox 89">
                <a:extLst>
                  <a:ext uri="{FF2B5EF4-FFF2-40B4-BE49-F238E27FC236}">
                    <a16:creationId xmlns:a16="http://schemas.microsoft.com/office/drawing/2014/main" id="{82D8176E-7B40-F55B-2F78-379A615D2B73}"/>
                  </a:ext>
                </a:extLst>
              </p:cNvPr>
              <p:cNvSpPr txBox="1">
                <a:spLocks noRot="1" noChangeAspect="1" noMove="1" noResize="1" noEditPoints="1" noAdjustHandles="1" noChangeArrowheads="1" noChangeShapeType="1" noTextEdit="1"/>
              </p:cNvSpPr>
              <p:nvPr/>
            </p:nvSpPr>
            <p:spPr>
              <a:xfrm>
                <a:off x="1890662" y="5481363"/>
                <a:ext cx="352661" cy="369332"/>
              </a:xfrm>
              <a:prstGeom prst="rect">
                <a:avLst/>
              </a:prstGeom>
              <a:blipFill>
                <a:blip r:embed="rId21"/>
                <a:stretch>
                  <a:fillRect l="-20690" r="-22414" b="-213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C3185432-73DF-E571-8B0A-1321DD35CF08}"/>
                  </a:ext>
                </a:extLst>
              </p:cNvPr>
              <p:cNvSpPr txBox="1"/>
              <p:nvPr/>
            </p:nvSpPr>
            <p:spPr>
              <a:xfrm>
                <a:off x="4906220" y="544788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1" name="TextBox 90">
                <a:extLst>
                  <a:ext uri="{FF2B5EF4-FFF2-40B4-BE49-F238E27FC236}">
                    <a16:creationId xmlns:a16="http://schemas.microsoft.com/office/drawing/2014/main" id="{C3185432-73DF-E571-8B0A-1321DD35CF08}"/>
                  </a:ext>
                </a:extLst>
              </p:cNvPr>
              <p:cNvSpPr txBox="1">
                <a:spLocks noRot="1" noChangeAspect="1" noMove="1" noResize="1" noEditPoints="1" noAdjustHandles="1" noChangeArrowheads="1" noChangeShapeType="1" noTextEdit="1"/>
              </p:cNvSpPr>
              <p:nvPr/>
            </p:nvSpPr>
            <p:spPr>
              <a:xfrm>
                <a:off x="4906220" y="5447887"/>
                <a:ext cx="352661" cy="369332"/>
              </a:xfrm>
              <a:prstGeom prst="rect">
                <a:avLst/>
              </a:prstGeom>
              <a:blipFill>
                <a:blip r:embed="rId22"/>
                <a:stretch>
                  <a:fillRect l="-22414" r="-20690" b="-21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0CE3B85E-91F1-CD5A-D181-1A4ED0068DC1}"/>
                  </a:ext>
                </a:extLst>
              </p:cNvPr>
              <p:cNvSpPr txBox="1"/>
              <p:nvPr/>
            </p:nvSpPr>
            <p:spPr>
              <a:xfrm>
                <a:off x="5767814" y="544788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2" name="TextBox 91">
                <a:extLst>
                  <a:ext uri="{FF2B5EF4-FFF2-40B4-BE49-F238E27FC236}">
                    <a16:creationId xmlns:a16="http://schemas.microsoft.com/office/drawing/2014/main" id="{0CE3B85E-91F1-CD5A-D181-1A4ED0068DC1}"/>
                  </a:ext>
                </a:extLst>
              </p:cNvPr>
              <p:cNvSpPr txBox="1">
                <a:spLocks noRot="1" noChangeAspect="1" noMove="1" noResize="1" noEditPoints="1" noAdjustHandles="1" noChangeArrowheads="1" noChangeShapeType="1" noTextEdit="1"/>
              </p:cNvSpPr>
              <p:nvPr/>
            </p:nvSpPr>
            <p:spPr>
              <a:xfrm>
                <a:off x="5767814" y="5447887"/>
                <a:ext cx="352661" cy="369332"/>
              </a:xfrm>
              <a:prstGeom prst="rect">
                <a:avLst/>
              </a:prstGeom>
              <a:blipFill>
                <a:blip r:embed="rId23"/>
                <a:stretch>
                  <a:fillRect l="-20690" r="-22414" b="-21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428712EF-B667-6E95-5125-07C668145370}"/>
                  </a:ext>
                </a:extLst>
              </p:cNvPr>
              <p:cNvSpPr txBox="1"/>
              <p:nvPr/>
            </p:nvSpPr>
            <p:spPr>
              <a:xfrm>
                <a:off x="6616778" y="5445345"/>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3" name="TextBox 92">
                <a:extLst>
                  <a:ext uri="{FF2B5EF4-FFF2-40B4-BE49-F238E27FC236}">
                    <a16:creationId xmlns:a16="http://schemas.microsoft.com/office/drawing/2014/main" id="{428712EF-B667-6E95-5125-07C668145370}"/>
                  </a:ext>
                </a:extLst>
              </p:cNvPr>
              <p:cNvSpPr txBox="1">
                <a:spLocks noRot="1" noChangeAspect="1" noMove="1" noResize="1" noEditPoints="1" noAdjustHandles="1" noChangeArrowheads="1" noChangeShapeType="1" noTextEdit="1"/>
              </p:cNvSpPr>
              <p:nvPr/>
            </p:nvSpPr>
            <p:spPr>
              <a:xfrm>
                <a:off x="6616778" y="5445345"/>
                <a:ext cx="352661" cy="369332"/>
              </a:xfrm>
              <a:prstGeom prst="rect">
                <a:avLst/>
              </a:prstGeom>
              <a:blipFill>
                <a:blip r:embed="rId24"/>
                <a:stretch>
                  <a:fillRect l="-20690" r="-22414" b="-213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D7C21D06-2FF3-65FA-C45C-3258AAFCE948}"/>
                  </a:ext>
                </a:extLst>
              </p:cNvPr>
              <p:cNvSpPr txBox="1"/>
              <p:nvPr/>
            </p:nvSpPr>
            <p:spPr>
              <a:xfrm>
                <a:off x="7441686" y="5445345"/>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4" name="TextBox 93">
                <a:extLst>
                  <a:ext uri="{FF2B5EF4-FFF2-40B4-BE49-F238E27FC236}">
                    <a16:creationId xmlns:a16="http://schemas.microsoft.com/office/drawing/2014/main" id="{D7C21D06-2FF3-65FA-C45C-3258AAFCE948}"/>
                  </a:ext>
                </a:extLst>
              </p:cNvPr>
              <p:cNvSpPr txBox="1">
                <a:spLocks noRot="1" noChangeAspect="1" noMove="1" noResize="1" noEditPoints="1" noAdjustHandles="1" noChangeArrowheads="1" noChangeShapeType="1" noTextEdit="1"/>
              </p:cNvSpPr>
              <p:nvPr/>
            </p:nvSpPr>
            <p:spPr>
              <a:xfrm>
                <a:off x="7441686" y="5445345"/>
                <a:ext cx="352661" cy="369332"/>
              </a:xfrm>
              <a:prstGeom prst="rect">
                <a:avLst/>
              </a:prstGeom>
              <a:blipFill>
                <a:blip r:embed="rId25"/>
                <a:stretch>
                  <a:fillRect l="-22414" r="-20690" b="-213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D60B640-94C7-5BF7-A142-63513DC13458}"/>
                  </a:ext>
                </a:extLst>
              </p:cNvPr>
              <p:cNvSpPr txBox="1"/>
              <p:nvPr/>
            </p:nvSpPr>
            <p:spPr>
              <a:xfrm>
                <a:off x="8474350" y="499262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5" name="TextBox 94">
                <a:extLst>
                  <a:ext uri="{FF2B5EF4-FFF2-40B4-BE49-F238E27FC236}">
                    <a16:creationId xmlns:a16="http://schemas.microsoft.com/office/drawing/2014/main" id="{CD60B640-94C7-5BF7-A142-63513DC13458}"/>
                  </a:ext>
                </a:extLst>
              </p:cNvPr>
              <p:cNvSpPr txBox="1">
                <a:spLocks noRot="1" noChangeAspect="1" noMove="1" noResize="1" noEditPoints="1" noAdjustHandles="1" noChangeArrowheads="1" noChangeShapeType="1" noTextEdit="1"/>
              </p:cNvSpPr>
              <p:nvPr/>
            </p:nvSpPr>
            <p:spPr>
              <a:xfrm>
                <a:off x="8474350" y="4992627"/>
                <a:ext cx="352661" cy="369332"/>
              </a:xfrm>
              <a:prstGeom prst="rect">
                <a:avLst/>
              </a:prstGeom>
              <a:blipFill>
                <a:blip r:embed="rId26"/>
                <a:stretch>
                  <a:fillRect l="-20690" r="-22414" b="-1967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AA6510A1-6D9C-FD9D-D62E-F6B0209250D4}"/>
                  </a:ext>
                </a:extLst>
              </p:cNvPr>
              <p:cNvSpPr txBox="1"/>
              <p:nvPr/>
            </p:nvSpPr>
            <p:spPr>
              <a:xfrm>
                <a:off x="9465765" y="499262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96" name="TextBox 95">
                <a:extLst>
                  <a:ext uri="{FF2B5EF4-FFF2-40B4-BE49-F238E27FC236}">
                    <a16:creationId xmlns:a16="http://schemas.microsoft.com/office/drawing/2014/main" id="{AA6510A1-6D9C-FD9D-D62E-F6B0209250D4}"/>
                  </a:ext>
                </a:extLst>
              </p:cNvPr>
              <p:cNvSpPr txBox="1">
                <a:spLocks noRot="1" noChangeAspect="1" noMove="1" noResize="1" noEditPoints="1" noAdjustHandles="1" noChangeArrowheads="1" noChangeShapeType="1" noTextEdit="1"/>
              </p:cNvSpPr>
              <p:nvPr/>
            </p:nvSpPr>
            <p:spPr>
              <a:xfrm>
                <a:off x="9465765" y="4992627"/>
                <a:ext cx="352661" cy="369332"/>
              </a:xfrm>
              <a:prstGeom prst="rect">
                <a:avLst/>
              </a:prstGeom>
              <a:blipFill>
                <a:blip r:embed="rId27"/>
                <a:stretch>
                  <a:fillRect l="-22414" r="-20690" b="-19672"/>
                </a:stretch>
              </a:blipFill>
            </p:spPr>
            <p:txBody>
              <a:bodyPr/>
              <a:lstStyle/>
              <a:p>
                <a:r>
                  <a:rPr lang="vi-VN">
                    <a:noFill/>
                  </a:rPr>
                  <a:t> </a:t>
                </a:r>
              </a:p>
            </p:txBody>
          </p:sp>
        </mc:Fallback>
      </mc:AlternateContent>
      <p:cxnSp>
        <p:nvCxnSpPr>
          <p:cNvPr id="97" name="Straight Connector 96">
            <a:extLst>
              <a:ext uri="{FF2B5EF4-FFF2-40B4-BE49-F238E27FC236}">
                <a16:creationId xmlns:a16="http://schemas.microsoft.com/office/drawing/2014/main" id="{5BCDC388-97B3-D8AA-A6A0-AD41058C2E53}"/>
              </a:ext>
            </a:extLst>
          </p:cNvPr>
          <p:cNvCxnSpPr/>
          <p:nvPr/>
        </p:nvCxnSpPr>
        <p:spPr>
          <a:xfrm>
            <a:off x="1138486" y="2199931"/>
            <a:ext cx="18288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1E4CE119-1C7F-7C56-903B-9CDB01631B89}"/>
              </a:ext>
            </a:extLst>
          </p:cNvPr>
          <p:cNvCxnSpPr/>
          <p:nvPr/>
        </p:nvCxnSpPr>
        <p:spPr>
          <a:xfrm>
            <a:off x="1138486" y="2641307"/>
            <a:ext cx="18288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8940AFB4-7B0E-32EC-D4A3-82959A1EAA84}"/>
                  </a:ext>
                </a:extLst>
              </p:cNvPr>
              <p:cNvSpPr txBox="1"/>
              <p:nvPr/>
            </p:nvSpPr>
            <p:spPr>
              <a:xfrm>
                <a:off x="1307144" y="2050796"/>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101" name="TextBox 100">
                <a:extLst>
                  <a:ext uri="{FF2B5EF4-FFF2-40B4-BE49-F238E27FC236}">
                    <a16:creationId xmlns:a16="http://schemas.microsoft.com/office/drawing/2014/main" id="{8940AFB4-7B0E-32EC-D4A3-82959A1EAA84}"/>
                  </a:ext>
                </a:extLst>
              </p:cNvPr>
              <p:cNvSpPr txBox="1">
                <a:spLocks noRot="1" noChangeAspect="1" noMove="1" noResize="1" noEditPoints="1" noAdjustHandles="1" noChangeArrowheads="1" noChangeShapeType="1" noTextEdit="1"/>
              </p:cNvSpPr>
              <p:nvPr/>
            </p:nvSpPr>
            <p:spPr>
              <a:xfrm>
                <a:off x="1307144" y="2050796"/>
                <a:ext cx="497949" cy="283860"/>
              </a:xfrm>
              <a:prstGeom prst="rect">
                <a:avLst/>
              </a:prstGeom>
              <a:blipFill>
                <a:blip r:embed="rId28"/>
                <a:stretch>
                  <a:fillRect b="-40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5681482A-5C32-1A1C-E80D-E032ABC97142}"/>
                  </a:ext>
                </a:extLst>
              </p:cNvPr>
              <p:cNvSpPr txBox="1"/>
              <p:nvPr/>
            </p:nvSpPr>
            <p:spPr>
              <a:xfrm>
                <a:off x="1925944" y="2058001"/>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oMath>
                  </m:oMathPara>
                </a14:m>
                <a:endParaRPr lang="vi-VN"/>
              </a:p>
            </p:txBody>
          </p:sp>
        </mc:Choice>
        <mc:Fallback xmlns="">
          <p:sp>
            <p:nvSpPr>
              <p:cNvPr id="102" name="TextBox 101">
                <a:extLst>
                  <a:ext uri="{FF2B5EF4-FFF2-40B4-BE49-F238E27FC236}">
                    <a16:creationId xmlns:a16="http://schemas.microsoft.com/office/drawing/2014/main" id="{5681482A-5C32-1A1C-E80D-E032ABC97142}"/>
                  </a:ext>
                </a:extLst>
              </p:cNvPr>
              <p:cNvSpPr txBox="1">
                <a:spLocks noRot="1" noChangeAspect="1" noMove="1" noResize="1" noEditPoints="1" noAdjustHandles="1" noChangeArrowheads="1" noChangeShapeType="1" noTextEdit="1"/>
              </p:cNvSpPr>
              <p:nvPr/>
            </p:nvSpPr>
            <p:spPr>
              <a:xfrm>
                <a:off x="1925944" y="2058001"/>
                <a:ext cx="497949" cy="283860"/>
              </a:xfrm>
              <a:prstGeom prst="rect">
                <a:avLst/>
              </a:prstGeom>
              <a:blipFill>
                <a:blip r:embed="rId29"/>
                <a:stretch>
                  <a:fillRect b="-4167"/>
                </a:stretch>
              </a:blipFill>
              <a:ln>
                <a:solidFill>
                  <a:schemeClr val="tx1"/>
                </a:solidFill>
              </a:ln>
            </p:spPr>
            <p:txBody>
              <a:bodyPr/>
              <a:lstStyle/>
              <a:p>
                <a:r>
                  <a:rPr lang="vi-VN">
                    <a:noFill/>
                  </a:rPr>
                  <a:t> </a:t>
                </a:r>
              </a:p>
            </p:txBody>
          </p:sp>
        </mc:Fallback>
      </mc:AlternateContent>
      <p:sp>
        <p:nvSpPr>
          <p:cNvPr id="105" name="Rectangle 104">
            <a:extLst>
              <a:ext uri="{FF2B5EF4-FFF2-40B4-BE49-F238E27FC236}">
                <a16:creationId xmlns:a16="http://schemas.microsoft.com/office/drawing/2014/main" id="{539983F9-AE4E-0C2B-795A-A5E62520E345}"/>
              </a:ext>
            </a:extLst>
          </p:cNvPr>
          <p:cNvSpPr/>
          <p:nvPr/>
        </p:nvSpPr>
        <p:spPr>
          <a:xfrm>
            <a:off x="895628" y="1788215"/>
            <a:ext cx="2325511" cy="12417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106" name="Straight Connector 105">
            <a:extLst>
              <a:ext uri="{FF2B5EF4-FFF2-40B4-BE49-F238E27FC236}">
                <a16:creationId xmlns:a16="http://schemas.microsoft.com/office/drawing/2014/main" id="{5E8D7642-A850-3449-69A2-BB7DA21736DB}"/>
              </a:ext>
            </a:extLst>
          </p:cNvPr>
          <p:cNvCxnSpPr/>
          <p:nvPr/>
        </p:nvCxnSpPr>
        <p:spPr>
          <a:xfrm>
            <a:off x="4228818" y="2199931"/>
            <a:ext cx="18288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08" name="Straight Connector 107">
            <a:extLst>
              <a:ext uri="{FF2B5EF4-FFF2-40B4-BE49-F238E27FC236}">
                <a16:creationId xmlns:a16="http://schemas.microsoft.com/office/drawing/2014/main" id="{2C7B0B04-0CF6-37D6-6555-2F5B30400D3E}"/>
              </a:ext>
            </a:extLst>
          </p:cNvPr>
          <p:cNvCxnSpPr/>
          <p:nvPr/>
        </p:nvCxnSpPr>
        <p:spPr>
          <a:xfrm>
            <a:off x="4228818" y="2641307"/>
            <a:ext cx="1828800" cy="0"/>
          </a:xfrm>
          <a:prstGeom prst="line">
            <a:avLst/>
          </a:prstGeom>
          <a:ln w="38100"/>
        </p:spPr>
        <p:style>
          <a:lnRef idx="1">
            <a:schemeClr val="dk1"/>
          </a:lnRef>
          <a:fillRef idx="0">
            <a:schemeClr val="dk1"/>
          </a:fillRef>
          <a:effectRef idx="0">
            <a:schemeClr val="dk1"/>
          </a:effectRef>
          <a:fontRef idx="minor">
            <a:schemeClr val="tx1"/>
          </a:fontRef>
        </p:style>
      </p:cxnSp>
      <p:sp>
        <p:nvSpPr>
          <p:cNvPr id="110" name="Rectangle 109">
            <a:extLst>
              <a:ext uri="{FF2B5EF4-FFF2-40B4-BE49-F238E27FC236}">
                <a16:creationId xmlns:a16="http://schemas.microsoft.com/office/drawing/2014/main" id="{6AFBD873-CCC3-7C9A-892F-F75E9E186A84}"/>
              </a:ext>
            </a:extLst>
          </p:cNvPr>
          <p:cNvSpPr/>
          <p:nvPr/>
        </p:nvSpPr>
        <p:spPr>
          <a:xfrm>
            <a:off x="3985960" y="1788215"/>
            <a:ext cx="2325511" cy="12417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E4D8B387-F58E-2C6E-778E-D8C7A378914A}"/>
                  </a:ext>
                </a:extLst>
              </p:cNvPr>
              <p:cNvSpPr txBox="1"/>
              <p:nvPr/>
            </p:nvSpPr>
            <p:spPr>
              <a:xfrm>
                <a:off x="3452210" y="2209143"/>
                <a:ext cx="3141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111" name="TextBox 110">
                <a:extLst>
                  <a:ext uri="{FF2B5EF4-FFF2-40B4-BE49-F238E27FC236}">
                    <a16:creationId xmlns:a16="http://schemas.microsoft.com/office/drawing/2014/main" id="{E4D8B387-F58E-2C6E-778E-D8C7A378914A}"/>
                  </a:ext>
                </a:extLst>
              </p:cNvPr>
              <p:cNvSpPr txBox="1">
                <a:spLocks noRot="1" noChangeAspect="1" noMove="1" noResize="1" noEditPoints="1" noAdjustHandles="1" noChangeArrowheads="1" noChangeShapeType="1" noTextEdit="1"/>
              </p:cNvSpPr>
              <p:nvPr/>
            </p:nvSpPr>
            <p:spPr>
              <a:xfrm>
                <a:off x="3452210" y="2209143"/>
                <a:ext cx="314189" cy="369332"/>
              </a:xfrm>
              <a:prstGeom prst="rect">
                <a:avLst/>
              </a:prstGeom>
              <a:blipFill>
                <a:blip r:embed="rId30"/>
                <a:stretch>
                  <a:fillRect l="-11538" r="-11538" b="-327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67C38587-5578-C525-22F8-8B300548E1D9}"/>
                  </a:ext>
                </a:extLst>
              </p:cNvPr>
              <p:cNvSpPr txBox="1"/>
              <p:nvPr/>
            </p:nvSpPr>
            <p:spPr>
              <a:xfrm>
                <a:off x="1292048" y="2478570"/>
                <a:ext cx="497949" cy="283860"/>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oMath>
                  </m:oMathPara>
                </a14:m>
                <a:endParaRPr lang="vi-VN"/>
              </a:p>
            </p:txBody>
          </p:sp>
        </mc:Choice>
        <mc:Fallback xmlns="">
          <p:sp>
            <p:nvSpPr>
              <p:cNvPr id="114" name="TextBox 113">
                <a:extLst>
                  <a:ext uri="{FF2B5EF4-FFF2-40B4-BE49-F238E27FC236}">
                    <a16:creationId xmlns:a16="http://schemas.microsoft.com/office/drawing/2014/main" id="{67C38587-5578-C525-22F8-8B300548E1D9}"/>
                  </a:ext>
                </a:extLst>
              </p:cNvPr>
              <p:cNvSpPr txBox="1">
                <a:spLocks noRot="1" noChangeAspect="1" noMove="1" noResize="1" noEditPoints="1" noAdjustHandles="1" noChangeArrowheads="1" noChangeShapeType="1" noTextEdit="1"/>
              </p:cNvSpPr>
              <p:nvPr/>
            </p:nvSpPr>
            <p:spPr>
              <a:xfrm>
                <a:off x="1292048" y="2478570"/>
                <a:ext cx="497949" cy="283860"/>
              </a:xfrm>
              <a:prstGeom prst="rect">
                <a:avLst/>
              </a:prstGeom>
              <a:blipFill>
                <a:blip r:embed="rId31"/>
                <a:stretch>
                  <a:fillRect b="-4167"/>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43882959-80AD-5A0F-55D6-4FE8400B0E40}"/>
                  </a:ext>
                </a:extLst>
              </p:cNvPr>
              <p:cNvSpPr txBox="1"/>
              <p:nvPr/>
            </p:nvSpPr>
            <p:spPr>
              <a:xfrm>
                <a:off x="1923026" y="2489505"/>
                <a:ext cx="497949" cy="284117"/>
              </a:xfrm>
              <a:prstGeom prst="rect">
                <a:avLst/>
              </a:prstGeom>
              <a:solidFill>
                <a:schemeClr val="bg1"/>
              </a:solid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𝑈</m:t>
                          </m:r>
                        </m:e>
                        <m:sup>
                          <m:r>
                            <a:rPr lang="en-US" b="0" i="1" smtClean="0">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115" name="TextBox 114">
                <a:extLst>
                  <a:ext uri="{FF2B5EF4-FFF2-40B4-BE49-F238E27FC236}">
                    <a16:creationId xmlns:a16="http://schemas.microsoft.com/office/drawing/2014/main" id="{43882959-80AD-5A0F-55D6-4FE8400B0E40}"/>
                  </a:ext>
                </a:extLst>
              </p:cNvPr>
              <p:cNvSpPr txBox="1">
                <a:spLocks noRot="1" noChangeAspect="1" noMove="1" noResize="1" noEditPoints="1" noAdjustHandles="1" noChangeArrowheads="1" noChangeShapeType="1" noTextEdit="1"/>
              </p:cNvSpPr>
              <p:nvPr/>
            </p:nvSpPr>
            <p:spPr>
              <a:xfrm>
                <a:off x="1923026" y="2489505"/>
                <a:ext cx="497949" cy="284117"/>
              </a:xfrm>
              <a:prstGeom prst="rect">
                <a:avLst/>
              </a:prstGeom>
              <a:blipFill>
                <a:blip r:embed="rId32"/>
                <a:stretch>
                  <a:fillRect b="-8163"/>
                </a:stretch>
              </a:blipFill>
              <a:ln>
                <a:solidFill>
                  <a:schemeClr val="tx1"/>
                </a:solidFill>
              </a:ln>
            </p:spPr>
            <p:txBody>
              <a:bodyPr/>
              <a:lstStyle/>
              <a:p>
                <a:r>
                  <a:rPr lang="vi-VN">
                    <a:noFill/>
                  </a:rPr>
                  <a:t> </a:t>
                </a:r>
              </a:p>
            </p:txBody>
          </p:sp>
        </mc:Fallback>
      </mc:AlternateContent>
    </p:spTree>
    <p:extLst>
      <p:ext uri="{BB962C8B-B14F-4D97-AF65-F5344CB8AC3E}">
        <p14:creationId xmlns:p14="http://schemas.microsoft.com/office/powerpoint/2010/main" val="2380992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9" name="Straight Connector 58">
            <a:extLst>
              <a:ext uri="{FF2B5EF4-FFF2-40B4-BE49-F238E27FC236}">
                <a16:creationId xmlns:a16="http://schemas.microsoft.com/office/drawing/2014/main" id="{C0ABA5F6-FBF5-B248-DAD3-A93812BFB71E}"/>
              </a:ext>
            </a:extLst>
          </p:cNvPr>
          <p:cNvCxnSpPr>
            <a:cxnSpLocks/>
          </p:cNvCxnSpPr>
          <p:nvPr/>
        </p:nvCxnSpPr>
        <p:spPr>
          <a:xfrm flipV="1">
            <a:off x="5655734" y="1495777"/>
            <a:ext cx="1625779" cy="110811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7D60B7D-F99A-69CE-9B57-174811A21C3A}"/>
              </a:ext>
            </a:extLst>
          </p:cNvPr>
          <p:cNvCxnSpPr>
            <a:cxnSpLocks/>
          </p:cNvCxnSpPr>
          <p:nvPr/>
        </p:nvCxnSpPr>
        <p:spPr>
          <a:xfrm>
            <a:off x="5655734" y="4408312"/>
            <a:ext cx="1633340" cy="102066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D9B7B20-41F7-181A-55EB-C7E222C49118}"/>
              </a:ext>
            </a:extLst>
          </p:cNvPr>
          <p:cNvSpPr>
            <a:spLocks noGrp="1"/>
          </p:cNvSpPr>
          <p:nvPr>
            <p:ph type="title"/>
          </p:nvPr>
        </p:nvSpPr>
        <p:spPr>
          <a:xfrm>
            <a:off x="838201" y="365125"/>
            <a:ext cx="9505845" cy="1325563"/>
          </a:xfrm>
        </p:spPr>
        <p:txBody>
          <a:bodyPr>
            <a:normAutofit/>
          </a:bodyPr>
          <a:lstStyle/>
          <a:p>
            <a:r>
              <a:rPr lang="en-VN"/>
              <a:t>Parameterized quantum circuit (</a:t>
            </a:r>
            <a:r>
              <a:rPr lang="en-VN" b="1"/>
              <a:t>PQC</a:t>
            </a:r>
            <a:r>
              <a:rPr lang="en-VN"/>
              <a:t>)</a:t>
            </a:r>
          </a:p>
        </p:txBody>
      </p:sp>
      <p:sp>
        <p:nvSpPr>
          <p:cNvPr id="3" name="TextBox 2">
            <a:extLst>
              <a:ext uri="{FF2B5EF4-FFF2-40B4-BE49-F238E27FC236}">
                <a16:creationId xmlns:a16="http://schemas.microsoft.com/office/drawing/2014/main" id="{26AFD4A1-EBD6-2E40-084C-BE85233C1D54}"/>
              </a:ext>
            </a:extLst>
          </p:cNvPr>
          <p:cNvSpPr txBox="1"/>
          <p:nvPr/>
        </p:nvSpPr>
        <p:spPr>
          <a:xfrm>
            <a:off x="-2268637" y="5162309"/>
            <a:ext cx="184731" cy="369332"/>
          </a:xfrm>
          <a:prstGeom prst="rect">
            <a:avLst/>
          </a:prstGeom>
          <a:noFill/>
        </p:spPr>
        <p:txBody>
          <a:bodyPr wrap="none" rtlCol="0">
            <a:spAutoFit/>
          </a:bodyPr>
          <a:lstStyle/>
          <a:p>
            <a:endParaRPr lang="en-VN"/>
          </a:p>
        </p:txBody>
      </p:sp>
      <p:sp>
        <p:nvSpPr>
          <p:cNvPr id="8" name="Slide Number Placeholder 7">
            <a:extLst>
              <a:ext uri="{FF2B5EF4-FFF2-40B4-BE49-F238E27FC236}">
                <a16:creationId xmlns:a16="http://schemas.microsoft.com/office/drawing/2014/main" id="{9C9A8759-ECB6-9319-87D3-507AD9125A01}"/>
              </a:ext>
            </a:extLst>
          </p:cNvPr>
          <p:cNvSpPr>
            <a:spLocks noGrp="1"/>
          </p:cNvSpPr>
          <p:nvPr>
            <p:ph type="sldNum" sz="quarter" idx="12"/>
          </p:nvPr>
        </p:nvSpPr>
        <p:spPr/>
        <p:txBody>
          <a:bodyPr/>
          <a:lstStyle/>
          <a:p>
            <a:fld id="{9E11622E-1351-4F49-A6C4-DF2CF4D2C924}" type="slidenum">
              <a:rPr lang="en-VN" smtClean="0"/>
              <a:t>17</a:t>
            </a:fld>
            <a:endParaRPr lang="en-VN"/>
          </a:p>
        </p:txBody>
      </p:sp>
      <p:sp>
        <p:nvSpPr>
          <p:cNvPr id="5" name="TextBox 4">
            <a:extLst>
              <a:ext uri="{FF2B5EF4-FFF2-40B4-BE49-F238E27FC236}">
                <a16:creationId xmlns:a16="http://schemas.microsoft.com/office/drawing/2014/main" id="{7CF15648-7EA3-8FB4-1BD5-A72FAA990D5B}"/>
              </a:ext>
            </a:extLst>
          </p:cNvPr>
          <p:cNvSpPr txBox="1"/>
          <p:nvPr/>
        </p:nvSpPr>
        <p:spPr>
          <a:xfrm>
            <a:off x="838200" y="6192848"/>
            <a:ext cx="6506336" cy="523220"/>
          </a:xfrm>
          <a:prstGeom prst="rect">
            <a:avLst/>
          </a:prstGeom>
          <a:noFill/>
          <a:ln>
            <a:solidFill>
              <a:srgbClr val="FF0000"/>
            </a:solidFill>
          </a:ln>
        </p:spPr>
        <p:txBody>
          <a:bodyPr wrap="square">
            <a:spAutoFit/>
          </a:bodyPr>
          <a:lstStyle/>
          <a:p>
            <a:r>
              <a:rPr lang="en-US" sz="1400" b="1">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vi-VN" sz="1400">
                <a:solidFill>
                  <a:srgbClr val="FF0000"/>
                </a:solidFill>
                <a:latin typeface="Calibri" panose="020F0502020204030204" pitchFamily="34" charset="0"/>
                <a:ea typeface="Calibri" panose="020F0502020204030204" pitchFamily="34" charset="0"/>
                <a:cs typeface="Calibri" panose="020F0502020204030204" pitchFamily="34" charset="0"/>
              </a:rPr>
              <a:t>Benedetti, M et al, Parameterized quantum circuits as machine learning models. Quantum Science and Technology, 4(4), 043001 (2019)</a:t>
            </a:r>
          </a:p>
        </p:txBody>
      </p:sp>
      <p:cxnSp>
        <p:nvCxnSpPr>
          <p:cNvPr id="9" name="Straight Connector 8">
            <a:extLst>
              <a:ext uri="{FF2B5EF4-FFF2-40B4-BE49-F238E27FC236}">
                <a16:creationId xmlns:a16="http://schemas.microsoft.com/office/drawing/2014/main" id="{BF1B6ACC-7314-016A-EA3B-E4536E3F4F9B}"/>
              </a:ext>
            </a:extLst>
          </p:cNvPr>
          <p:cNvCxnSpPr>
            <a:cxnSpLocks/>
            <a:endCxn id="29" idx="3"/>
          </p:cNvCxnSpPr>
          <p:nvPr/>
        </p:nvCxnSpPr>
        <p:spPr>
          <a:xfrm>
            <a:off x="1854802" y="3101424"/>
            <a:ext cx="5156076" cy="7541"/>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D6774FC-3542-5716-450A-82151A97A7D5}"/>
              </a:ext>
            </a:extLst>
          </p:cNvPr>
          <p:cNvCxnSpPr>
            <a:cxnSpLocks/>
          </p:cNvCxnSpPr>
          <p:nvPr/>
        </p:nvCxnSpPr>
        <p:spPr>
          <a:xfrm>
            <a:off x="1899957" y="3942448"/>
            <a:ext cx="419604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4A2AFD5-5B02-6830-6B1B-FEF450424B94}"/>
              </a:ext>
            </a:extLst>
          </p:cNvPr>
          <p:cNvCxnSpPr>
            <a:cxnSpLocks/>
          </p:cNvCxnSpPr>
          <p:nvPr/>
        </p:nvCxnSpPr>
        <p:spPr>
          <a:xfrm flipV="1">
            <a:off x="2509558" y="3736426"/>
            <a:ext cx="383821" cy="412044"/>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FECC0428-61AD-32C7-D585-5384474F0725}"/>
              </a:ext>
            </a:extLst>
          </p:cNvPr>
          <p:cNvCxnSpPr>
            <a:cxnSpLocks/>
          </p:cNvCxnSpPr>
          <p:nvPr/>
        </p:nvCxnSpPr>
        <p:spPr>
          <a:xfrm flipV="1">
            <a:off x="2509558" y="2895402"/>
            <a:ext cx="383821" cy="412044"/>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4BBAA7E-F665-5500-7EBD-190A703E6CDF}"/>
                  </a:ext>
                </a:extLst>
              </p:cNvPr>
              <p:cNvSpPr txBox="1"/>
              <p:nvPr/>
            </p:nvSpPr>
            <p:spPr>
              <a:xfrm>
                <a:off x="939852" y="2884926"/>
                <a:ext cx="912301" cy="384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e>
                        <m:sup>
                          <m:r>
                            <a:rPr lang="en-US" sz="2400" i="1">
                              <a:latin typeface="Cambria Math" panose="02040503050406030204" pitchFamily="18" charset="0"/>
                            </a:rPr>
                            <m:t>⊗</m:t>
                          </m:r>
                          <m:r>
                            <a:rPr lang="en-US" sz="2400" i="1">
                              <a:latin typeface="Cambria Math" panose="02040503050406030204" pitchFamily="18" charset="0"/>
                            </a:rPr>
                            <m:t>𝑚</m:t>
                          </m:r>
                        </m:sup>
                      </m:sSup>
                    </m:oMath>
                  </m:oMathPara>
                </a14:m>
                <a:endParaRPr lang="vi-VN" sz="2400"/>
              </a:p>
            </p:txBody>
          </p:sp>
        </mc:Choice>
        <mc:Fallback xmlns="">
          <p:sp>
            <p:nvSpPr>
              <p:cNvPr id="18" name="TextBox 17">
                <a:extLst>
                  <a:ext uri="{FF2B5EF4-FFF2-40B4-BE49-F238E27FC236}">
                    <a16:creationId xmlns:a16="http://schemas.microsoft.com/office/drawing/2014/main" id="{A4BBAA7E-F665-5500-7EBD-190A703E6CDF}"/>
                  </a:ext>
                </a:extLst>
              </p:cNvPr>
              <p:cNvSpPr txBox="1">
                <a:spLocks noRot="1" noChangeAspect="1" noMove="1" noResize="1" noEditPoints="1" noAdjustHandles="1" noChangeArrowheads="1" noChangeShapeType="1" noTextEdit="1"/>
              </p:cNvSpPr>
              <p:nvPr/>
            </p:nvSpPr>
            <p:spPr>
              <a:xfrm>
                <a:off x="939852" y="2884926"/>
                <a:ext cx="912301" cy="384657"/>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ABDD7A9-E55B-C4E8-944B-6C06FE65DCA8}"/>
                  </a:ext>
                </a:extLst>
              </p:cNvPr>
              <p:cNvSpPr txBox="1"/>
              <p:nvPr/>
            </p:nvSpPr>
            <p:spPr>
              <a:xfrm>
                <a:off x="939851" y="3782595"/>
                <a:ext cx="848181" cy="384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e>
                        <m:sup>
                          <m:r>
                            <a:rPr lang="en-US" sz="2400" i="1">
                              <a:latin typeface="Cambria Math" panose="02040503050406030204" pitchFamily="18" charset="0"/>
                            </a:rPr>
                            <m:t>⊗</m:t>
                          </m:r>
                          <m:r>
                            <a:rPr lang="en-US" sz="2400" i="1">
                              <a:latin typeface="Cambria Math" panose="02040503050406030204" pitchFamily="18" charset="0"/>
                            </a:rPr>
                            <m:t>𝑛</m:t>
                          </m:r>
                        </m:sup>
                      </m:sSup>
                    </m:oMath>
                  </m:oMathPara>
                </a14:m>
                <a:endParaRPr lang="vi-VN" sz="2400"/>
              </a:p>
            </p:txBody>
          </p:sp>
        </mc:Choice>
        <mc:Fallback xmlns="">
          <p:sp>
            <p:nvSpPr>
              <p:cNvPr id="23" name="TextBox 22">
                <a:extLst>
                  <a:ext uri="{FF2B5EF4-FFF2-40B4-BE49-F238E27FC236}">
                    <a16:creationId xmlns:a16="http://schemas.microsoft.com/office/drawing/2014/main" id="{7ABDD7A9-E55B-C4E8-944B-6C06FE65DCA8}"/>
                  </a:ext>
                </a:extLst>
              </p:cNvPr>
              <p:cNvSpPr txBox="1">
                <a:spLocks noRot="1" noChangeAspect="1" noMove="1" noResize="1" noEditPoints="1" noAdjustHandles="1" noChangeArrowheads="1" noChangeShapeType="1" noTextEdit="1"/>
              </p:cNvSpPr>
              <p:nvPr/>
            </p:nvSpPr>
            <p:spPr>
              <a:xfrm>
                <a:off x="939851" y="3782595"/>
                <a:ext cx="848181" cy="384657"/>
              </a:xfrm>
              <a:prstGeom prst="rect">
                <a:avLst/>
              </a:prstGeom>
              <a:blipFill>
                <a:blip r:embed="rId4"/>
                <a:stretch>
                  <a:fillRect/>
                </a:stretch>
              </a:blipFill>
            </p:spPr>
            <p:txBody>
              <a:bodyPr/>
              <a:lstStyle/>
              <a:p>
                <a:r>
                  <a:rPr lang="vi-VN">
                    <a:noFill/>
                  </a:rPr>
                  <a:t> </a:t>
                </a:r>
              </a:p>
            </p:txBody>
          </p:sp>
        </mc:Fallback>
      </mc:AlternateContent>
      <p:sp>
        <p:nvSpPr>
          <p:cNvPr id="24" name="TextBox 23">
            <a:extLst>
              <a:ext uri="{FF2B5EF4-FFF2-40B4-BE49-F238E27FC236}">
                <a16:creationId xmlns:a16="http://schemas.microsoft.com/office/drawing/2014/main" id="{A1C7222A-D970-269E-B8BB-9D07B7381290}"/>
              </a:ext>
            </a:extLst>
          </p:cNvPr>
          <p:cNvSpPr txBox="1"/>
          <p:nvPr/>
        </p:nvSpPr>
        <p:spPr>
          <a:xfrm>
            <a:off x="838200" y="3346996"/>
            <a:ext cx="2506133" cy="461665"/>
          </a:xfrm>
          <a:prstGeom prst="rect">
            <a:avLst/>
          </a:prstGeom>
          <a:noFill/>
        </p:spPr>
        <p:txBody>
          <a:bodyPr wrap="square" rtlCol="0">
            <a:spAutoFit/>
          </a:bodyPr>
          <a:lstStyle/>
          <a:p>
            <a:r>
              <a:rPr lang="en-US" sz="2400"/>
              <a:t>Ancilla qubits</a:t>
            </a:r>
            <a:endParaRPr lang="vi-VN" sz="2400"/>
          </a:p>
        </p:txBody>
      </p:sp>
      <p:sp>
        <p:nvSpPr>
          <p:cNvPr id="25" name="TextBox 24">
            <a:extLst>
              <a:ext uri="{FF2B5EF4-FFF2-40B4-BE49-F238E27FC236}">
                <a16:creationId xmlns:a16="http://schemas.microsoft.com/office/drawing/2014/main" id="{2650980E-C313-FD80-A9F0-B2A378E61153}"/>
              </a:ext>
            </a:extLst>
          </p:cNvPr>
          <p:cNvSpPr txBox="1"/>
          <p:nvPr/>
        </p:nvSpPr>
        <p:spPr>
          <a:xfrm>
            <a:off x="794658" y="2351454"/>
            <a:ext cx="2506133" cy="461665"/>
          </a:xfrm>
          <a:prstGeom prst="rect">
            <a:avLst/>
          </a:prstGeom>
          <a:noFill/>
        </p:spPr>
        <p:txBody>
          <a:bodyPr wrap="square" rtlCol="0">
            <a:spAutoFit/>
          </a:bodyPr>
          <a:lstStyle/>
          <a:p>
            <a:r>
              <a:rPr lang="en-US" sz="2400"/>
              <a:t>(Main) qubits</a:t>
            </a:r>
            <a:endParaRPr lang="vi-VN" sz="2400"/>
          </a:p>
        </p:txBody>
      </p:sp>
      <p:sp>
        <p:nvSpPr>
          <p:cNvPr id="27" name="Rectangle 26">
            <a:extLst>
              <a:ext uri="{FF2B5EF4-FFF2-40B4-BE49-F238E27FC236}">
                <a16:creationId xmlns:a16="http://schemas.microsoft.com/office/drawing/2014/main" id="{E8E6C3A4-60E8-8175-6176-A54DC9086BCA}"/>
              </a:ext>
            </a:extLst>
          </p:cNvPr>
          <p:cNvSpPr/>
          <p:nvPr/>
        </p:nvSpPr>
        <p:spPr>
          <a:xfrm>
            <a:off x="3579274" y="2662121"/>
            <a:ext cx="2076460" cy="174619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5A6521F-6069-790F-56F0-DC5D6EB72862}"/>
                  </a:ext>
                </a:extLst>
              </p:cNvPr>
              <p:cNvSpPr txBox="1"/>
              <p:nvPr/>
            </p:nvSpPr>
            <p:spPr>
              <a:xfrm>
                <a:off x="4242059" y="3350548"/>
                <a:ext cx="75039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b="1" i="1">
                              <a:latin typeface="Cambria Math" panose="02040503050406030204" pitchFamily="18" charset="0"/>
                            </a:rPr>
                            <m:t>𝜽</m:t>
                          </m:r>
                        </m:e>
                      </m:d>
                    </m:oMath>
                  </m:oMathPara>
                </a14:m>
                <a:endParaRPr lang="vi-VN" sz="2400"/>
              </a:p>
            </p:txBody>
          </p:sp>
        </mc:Choice>
        <mc:Fallback xmlns="">
          <p:sp>
            <p:nvSpPr>
              <p:cNvPr id="28" name="TextBox 27">
                <a:extLst>
                  <a:ext uri="{FF2B5EF4-FFF2-40B4-BE49-F238E27FC236}">
                    <a16:creationId xmlns:a16="http://schemas.microsoft.com/office/drawing/2014/main" id="{85A6521F-6069-790F-56F0-DC5D6EB72862}"/>
                  </a:ext>
                </a:extLst>
              </p:cNvPr>
              <p:cNvSpPr txBox="1">
                <a:spLocks noRot="1" noChangeAspect="1" noMove="1" noResize="1" noEditPoints="1" noAdjustHandles="1" noChangeArrowheads="1" noChangeShapeType="1" noTextEdit="1"/>
              </p:cNvSpPr>
              <p:nvPr/>
            </p:nvSpPr>
            <p:spPr>
              <a:xfrm>
                <a:off x="4242059" y="3350548"/>
                <a:ext cx="750398" cy="369332"/>
              </a:xfrm>
              <a:prstGeom prst="rect">
                <a:avLst/>
              </a:prstGeom>
              <a:blipFill>
                <a:blip r:embed="rId5"/>
                <a:stretch>
                  <a:fillRect l="-8943" b="-10000"/>
                </a:stretch>
              </a:blipFill>
            </p:spPr>
            <p:txBody>
              <a:bodyPr/>
              <a:lstStyle/>
              <a:p>
                <a:r>
                  <a:rPr lang="vi-VN">
                    <a:noFill/>
                  </a:rPr>
                  <a:t> </a:t>
                </a:r>
              </a:p>
            </p:txBody>
          </p:sp>
        </mc:Fallback>
      </mc:AlternateContent>
      <p:sp>
        <p:nvSpPr>
          <p:cNvPr id="29" name="Hình chữ nhật 93">
            <a:extLst>
              <a:ext uri="{FF2B5EF4-FFF2-40B4-BE49-F238E27FC236}">
                <a16:creationId xmlns:a16="http://schemas.microsoft.com/office/drawing/2014/main" id="{DAEC4E73-A67C-6F67-ADAE-80C4A3ABC5E7}"/>
              </a:ext>
            </a:extLst>
          </p:cNvPr>
          <p:cNvSpPr/>
          <p:nvPr/>
        </p:nvSpPr>
        <p:spPr>
          <a:xfrm>
            <a:off x="6602453" y="2904343"/>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30" name="Arc 29">
            <a:extLst>
              <a:ext uri="{FF2B5EF4-FFF2-40B4-BE49-F238E27FC236}">
                <a16:creationId xmlns:a16="http://schemas.microsoft.com/office/drawing/2014/main" id="{FD3C0B1C-82E5-71A4-A660-9F207045397D}"/>
              </a:ext>
            </a:extLst>
          </p:cNvPr>
          <p:cNvSpPr/>
          <p:nvPr/>
        </p:nvSpPr>
        <p:spPr>
          <a:xfrm>
            <a:off x="6676715" y="3097143"/>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31" name="Straight Arrow Connector 30">
            <a:extLst>
              <a:ext uri="{FF2B5EF4-FFF2-40B4-BE49-F238E27FC236}">
                <a16:creationId xmlns:a16="http://schemas.microsoft.com/office/drawing/2014/main" id="{C6DED405-8E1B-64AA-4B51-41AB5BFAEB2E}"/>
              </a:ext>
            </a:extLst>
          </p:cNvPr>
          <p:cNvCxnSpPr>
            <a:cxnSpLocks/>
          </p:cNvCxnSpPr>
          <p:nvPr/>
        </p:nvCxnSpPr>
        <p:spPr>
          <a:xfrm flipV="1">
            <a:off x="6749003" y="2993638"/>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8540F21-3723-8A60-C6EF-0208066FEEB8}"/>
              </a:ext>
            </a:extLst>
          </p:cNvPr>
          <p:cNvCxnSpPr>
            <a:cxnSpLocks/>
          </p:cNvCxnSpPr>
          <p:nvPr/>
        </p:nvCxnSpPr>
        <p:spPr>
          <a:xfrm flipV="1">
            <a:off x="5997324" y="2876698"/>
            <a:ext cx="383821" cy="412044"/>
          </a:xfrm>
          <a:prstGeom prst="line">
            <a:avLst/>
          </a:prstGeom>
          <a:ln w="28575"/>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8B8A3150-4A6A-9D1C-D90C-B1083DAFD993}"/>
              </a:ext>
            </a:extLst>
          </p:cNvPr>
          <p:cNvCxnSpPr>
            <a:cxnSpLocks/>
          </p:cNvCxnSpPr>
          <p:nvPr/>
        </p:nvCxnSpPr>
        <p:spPr>
          <a:xfrm>
            <a:off x="1899958" y="4743959"/>
            <a:ext cx="517253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44D54A33-CAAE-E3DF-C404-06EDD29CF8EF}"/>
              </a:ext>
            </a:extLst>
          </p:cNvPr>
          <p:cNvCxnSpPr>
            <a:cxnSpLocks/>
          </p:cNvCxnSpPr>
          <p:nvPr/>
        </p:nvCxnSpPr>
        <p:spPr>
          <a:xfrm>
            <a:off x="1899956" y="4817340"/>
            <a:ext cx="517253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9C58CFFC-4620-433F-19EF-9C2670E21971}"/>
              </a:ext>
            </a:extLst>
          </p:cNvPr>
          <p:cNvCxnSpPr>
            <a:cxnSpLocks/>
            <a:endCxn id="29" idx="2"/>
          </p:cNvCxnSpPr>
          <p:nvPr/>
        </p:nvCxnSpPr>
        <p:spPr>
          <a:xfrm flipV="1">
            <a:off x="6806665" y="3313587"/>
            <a:ext cx="0" cy="1430372"/>
          </a:xfrm>
          <a:prstGeom prst="line">
            <a:avLst/>
          </a:prstGeom>
          <a:ln w="12700">
            <a:headEnd type="arrow"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613DECE-2C41-AD73-A592-80AC0F9838E9}"/>
                  </a:ext>
                </a:extLst>
              </p:cNvPr>
              <p:cNvSpPr txBox="1"/>
              <p:nvPr/>
            </p:nvSpPr>
            <p:spPr>
              <a:xfrm>
                <a:off x="195806" y="4567336"/>
                <a:ext cx="1704151"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𝑐</m:t>
                      </m:r>
                    </m:oMath>
                  </m:oMathPara>
                </a14:m>
                <a:endParaRPr lang="vi-VN" sz="2400"/>
              </a:p>
            </p:txBody>
          </p:sp>
        </mc:Choice>
        <mc:Fallback xmlns="">
          <p:sp>
            <p:nvSpPr>
              <p:cNvPr id="43" name="TextBox 42">
                <a:extLst>
                  <a:ext uri="{FF2B5EF4-FFF2-40B4-BE49-F238E27FC236}">
                    <a16:creationId xmlns:a16="http://schemas.microsoft.com/office/drawing/2014/main" id="{5613DECE-2C41-AD73-A592-80AC0F9838E9}"/>
                  </a:ext>
                </a:extLst>
              </p:cNvPr>
              <p:cNvSpPr txBox="1">
                <a:spLocks noRot="1" noChangeAspect="1" noMove="1" noResize="1" noEditPoints="1" noAdjustHandles="1" noChangeArrowheads="1" noChangeShapeType="1" noTextEdit="1"/>
              </p:cNvSpPr>
              <p:nvPr/>
            </p:nvSpPr>
            <p:spPr>
              <a:xfrm>
                <a:off x="195806" y="4567336"/>
                <a:ext cx="1704151" cy="369332"/>
              </a:xfrm>
              <a:prstGeom prst="rect">
                <a:avLst/>
              </a:prstGeom>
              <a:blipFill>
                <a:blip r:embed="rId6"/>
                <a:stretch>
                  <a:fillRect b="-1639"/>
                </a:stretch>
              </a:blipFill>
            </p:spPr>
            <p:txBody>
              <a:bodyPr/>
              <a:lstStyle/>
              <a:p>
                <a:r>
                  <a:rPr lang="vi-VN">
                    <a:noFill/>
                  </a:rPr>
                  <a:t> </a:t>
                </a:r>
              </a:p>
            </p:txBody>
          </p:sp>
        </mc:Fallback>
      </mc:AlternateContent>
      <p:sp>
        <p:nvSpPr>
          <p:cNvPr id="44" name="TextBox 43">
            <a:extLst>
              <a:ext uri="{FF2B5EF4-FFF2-40B4-BE49-F238E27FC236}">
                <a16:creationId xmlns:a16="http://schemas.microsoft.com/office/drawing/2014/main" id="{98623146-1A19-CE6A-3E4D-96D0930046BD}"/>
              </a:ext>
            </a:extLst>
          </p:cNvPr>
          <p:cNvSpPr txBox="1"/>
          <p:nvPr/>
        </p:nvSpPr>
        <p:spPr>
          <a:xfrm>
            <a:off x="838200" y="4190911"/>
            <a:ext cx="2506133" cy="461665"/>
          </a:xfrm>
          <a:prstGeom prst="rect">
            <a:avLst/>
          </a:prstGeom>
          <a:noFill/>
        </p:spPr>
        <p:txBody>
          <a:bodyPr wrap="square" rtlCol="0">
            <a:spAutoFit/>
          </a:bodyPr>
          <a:lstStyle/>
          <a:p>
            <a:r>
              <a:rPr lang="en-US" sz="2400"/>
              <a:t>Classical channel</a:t>
            </a:r>
            <a:endParaRPr lang="vi-VN" sz="2400"/>
          </a:p>
        </p:txBody>
      </p:sp>
      <p:sp>
        <p:nvSpPr>
          <p:cNvPr id="57" name="Rectangle 56">
            <a:extLst>
              <a:ext uri="{FF2B5EF4-FFF2-40B4-BE49-F238E27FC236}">
                <a16:creationId xmlns:a16="http://schemas.microsoft.com/office/drawing/2014/main" id="{CBA39A83-DA49-E25E-235A-31062CC3A0E8}"/>
              </a:ext>
            </a:extLst>
          </p:cNvPr>
          <p:cNvSpPr/>
          <p:nvPr/>
        </p:nvSpPr>
        <p:spPr>
          <a:xfrm>
            <a:off x="7281513" y="1495777"/>
            <a:ext cx="4458932" cy="3933195"/>
          </a:xfrm>
          <a:prstGeom prst="rect">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63" name="Straight Connector 62">
            <a:extLst>
              <a:ext uri="{FF2B5EF4-FFF2-40B4-BE49-F238E27FC236}">
                <a16:creationId xmlns:a16="http://schemas.microsoft.com/office/drawing/2014/main" id="{C0E15684-451F-8CEC-4A60-4A98231BFB21}"/>
              </a:ext>
            </a:extLst>
          </p:cNvPr>
          <p:cNvCxnSpPr>
            <a:cxnSpLocks/>
          </p:cNvCxnSpPr>
          <p:nvPr/>
        </p:nvCxnSpPr>
        <p:spPr>
          <a:xfrm>
            <a:off x="7440543" y="2098613"/>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3" name="Straight Connector 3072">
            <a:extLst>
              <a:ext uri="{FF2B5EF4-FFF2-40B4-BE49-F238E27FC236}">
                <a16:creationId xmlns:a16="http://schemas.microsoft.com/office/drawing/2014/main" id="{F03FE966-13AB-EE11-C687-C0D71BCC5C15}"/>
              </a:ext>
            </a:extLst>
          </p:cNvPr>
          <p:cNvCxnSpPr>
            <a:cxnSpLocks/>
          </p:cNvCxnSpPr>
          <p:nvPr/>
        </p:nvCxnSpPr>
        <p:spPr>
          <a:xfrm>
            <a:off x="7440543" y="2482251"/>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5" name="Straight Connector 3074">
            <a:extLst>
              <a:ext uri="{FF2B5EF4-FFF2-40B4-BE49-F238E27FC236}">
                <a16:creationId xmlns:a16="http://schemas.microsoft.com/office/drawing/2014/main" id="{319FAA29-9794-45ED-7888-F4328807C9CF}"/>
              </a:ext>
            </a:extLst>
          </p:cNvPr>
          <p:cNvCxnSpPr>
            <a:cxnSpLocks/>
          </p:cNvCxnSpPr>
          <p:nvPr/>
        </p:nvCxnSpPr>
        <p:spPr>
          <a:xfrm>
            <a:off x="7440543" y="2865888"/>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7" name="Straight Connector 3076">
            <a:extLst>
              <a:ext uri="{FF2B5EF4-FFF2-40B4-BE49-F238E27FC236}">
                <a16:creationId xmlns:a16="http://schemas.microsoft.com/office/drawing/2014/main" id="{1D4C9A78-F240-5005-2FC9-58445F7C03D4}"/>
              </a:ext>
            </a:extLst>
          </p:cNvPr>
          <p:cNvCxnSpPr>
            <a:cxnSpLocks/>
          </p:cNvCxnSpPr>
          <p:nvPr/>
        </p:nvCxnSpPr>
        <p:spPr>
          <a:xfrm>
            <a:off x="7446187" y="3249525"/>
            <a:ext cx="4145280" cy="0"/>
          </a:xfrm>
          <a:prstGeom prst="line">
            <a:avLst/>
          </a:prstGeom>
          <a:ln w="28575"/>
        </p:spPr>
        <p:style>
          <a:lnRef idx="1">
            <a:schemeClr val="dk1"/>
          </a:lnRef>
          <a:fillRef idx="0">
            <a:schemeClr val="dk1"/>
          </a:fillRef>
          <a:effectRef idx="0">
            <a:schemeClr val="dk1"/>
          </a:effectRef>
          <a:fontRef idx="minor">
            <a:schemeClr val="tx1"/>
          </a:fontRef>
        </p:style>
      </p:cxnSp>
      <p:sp>
        <p:nvSpPr>
          <p:cNvPr id="3079" name="Rectangle 3078">
            <a:extLst>
              <a:ext uri="{FF2B5EF4-FFF2-40B4-BE49-F238E27FC236}">
                <a16:creationId xmlns:a16="http://schemas.microsoft.com/office/drawing/2014/main" id="{E2C6F9A4-6B3D-8477-E342-C31B8B2BF6D8}"/>
              </a:ext>
            </a:extLst>
          </p:cNvPr>
          <p:cNvSpPr/>
          <p:nvPr/>
        </p:nvSpPr>
        <p:spPr>
          <a:xfrm>
            <a:off x="7782494" y="1899148"/>
            <a:ext cx="664761" cy="43289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080" name="TextBox 3079">
                <a:extLst>
                  <a:ext uri="{FF2B5EF4-FFF2-40B4-BE49-F238E27FC236}">
                    <a16:creationId xmlns:a16="http://schemas.microsoft.com/office/drawing/2014/main" id="{BAC769A3-926B-4E2F-FF99-89D599453A02}"/>
                  </a:ext>
                </a:extLst>
              </p:cNvPr>
              <p:cNvSpPr txBox="1"/>
              <p:nvPr/>
            </p:nvSpPr>
            <p:spPr>
              <a:xfrm>
                <a:off x="7842131" y="1989773"/>
                <a:ext cx="553805" cy="205121"/>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𝑌</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0</m:t>
                              </m:r>
                            </m:sub>
                          </m:sSub>
                        </m:e>
                      </m:d>
                    </m:oMath>
                  </m:oMathPara>
                </a14:m>
                <a:endParaRPr lang="vi-VN" sz="1333"/>
              </a:p>
            </p:txBody>
          </p:sp>
        </mc:Choice>
        <mc:Fallback xmlns="">
          <p:sp>
            <p:nvSpPr>
              <p:cNvPr id="3080" name="TextBox 3079">
                <a:extLst>
                  <a:ext uri="{FF2B5EF4-FFF2-40B4-BE49-F238E27FC236}">
                    <a16:creationId xmlns:a16="http://schemas.microsoft.com/office/drawing/2014/main" id="{BAC769A3-926B-4E2F-FF99-89D599453A02}"/>
                  </a:ext>
                </a:extLst>
              </p:cNvPr>
              <p:cNvSpPr txBox="1">
                <a:spLocks noRot="1" noChangeAspect="1" noMove="1" noResize="1" noEditPoints="1" noAdjustHandles="1" noChangeArrowheads="1" noChangeShapeType="1" noTextEdit="1"/>
              </p:cNvSpPr>
              <p:nvPr/>
            </p:nvSpPr>
            <p:spPr>
              <a:xfrm>
                <a:off x="7842131" y="1989773"/>
                <a:ext cx="553805" cy="205121"/>
              </a:xfrm>
              <a:prstGeom prst="rect">
                <a:avLst/>
              </a:prstGeom>
              <a:blipFill>
                <a:blip r:embed="rId7"/>
                <a:stretch>
                  <a:fillRect l="-6818" b="-17647"/>
                </a:stretch>
              </a:blipFill>
            </p:spPr>
            <p:txBody>
              <a:bodyPr/>
              <a:lstStyle/>
              <a:p>
                <a:r>
                  <a:rPr lang="en-VN">
                    <a:noFill/>
                  </a:rPr>
                  <a:t> </a:t>
                </a:r>
              </a:p>
            </p:txBody>
          </p:sp>
        </mc:Fallback>
      </mc:AlternateContent>
      <p:sp>
        <p:nvSpPr>
          <p:cNvPr id="3081" name="Rectangle 3080">
            <a:extLst>
              <a:ext uri="{FF2B5EF4-FFF2-40B4-BE49-F238E27FC236}">
                <a16:creationId xmlns:a16="http://schemas.microsoft.com/office/drawing/2014/main" id="{12594910-D0C8-DDA0-7A73-B88D2DE4925A}"/>
              </a:ext>
            </a:extLst>
          </p:cNvPr>
          <p:cNvSpPr/>
          <p:nvPr/>
        </p:nvSpPr>
        <p:spPr>
          <a:xfrm>
            <a:off x="7787920" y="2603888"/>
            <a:ext cx="664761" cy="43289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082" name="TextBox 3081">
                <a:extLst>
                  <a:ext uri="{FF2B5EF4-FFF2-40B4-BE49-F238E27FC236}">
                    <a16:creationId xmlns:a16="http://schemas.microsoft.com/office/drawing/2014/main" id="{DCFA5A36-0C65-A5D5-DBB8-0E3408525134}"/>
                  </a:ext>
                </a:extLst>
              </p:cNvPr>
              <p:cNvSpPr txBox="1"/>
              <p:nvPr/>
            </p:nvSpPr>
            <p:spPr>
              <a:xfrm>
                <a:off x="7847556" y="2694513"/>
                <a:ext cx="554831" cy="2051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𝑋</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1</m:t>
                              </m:r>
                            </m:sub>
                          </m:sSub>
                        </m:e>
                      </m:d>
                    </m:oMath>
                  </m:oMathPara>
                </a14:m>
                <a:endParaRPr lang="vi-VN" sz="1333"/>
              </a:p>
            </p:txBody>
          </p:sp>
        </mc:Choice>
        <mc:Fallback xmlns="">
          <p:sp>
            <p:nvSpPr>
              <p:cNvPr id="3082" name="TextBox 3081">
                <a:extLst>
                  <a:ext uri="{FF2B5EF4-FFF2-40B4-BE49-F238E27FC236}">
                    <a16:creationId xmlns:a16="http://schemas.microsoft.com/office/drawing/2014/main" id="{DCFA5A36-0C65-A5D5-DBB8-0E3408525134}"/>
                  </a:ext>
                </a:extLst>
              </p:cNvPr>
              <p:cNvSpPr txBox="1">
                <a:spLocks noRot="1" noChangeAspect="1" noMove="1" noResize="1" noEditPoints="1" noAdjustHandles="1" noChangeArrowheads="1" noChangeShapeType="1" noTextEdit="1"/>
              </p:cNvSpPr>
              <p:nvPr/>
            </p:nvSpPr>
            <p:spPr>
              <a:xfrm>
                <a:off x="7847556" y="2694513"/>
                <a:ext cx="554831" cy="205121"/>
              </a:xfrm>
              <a:prstGeom prst="rect">
                <a:avLst/>
              </a:prstGeom>
              <a:blipFill>
                <a:blip r:embed="rId8"/>
                <a:stretch>
                  <a:fillRect l="-4444" b="-17647"/>
                </a:stretch>
              </a:blipFill>
            </p:spPr>
            <p:txBody>
              <a:bodyPr/>
              <a:lstStyle/>
              <a:p>
                <a:r>
                  <a:rPr lang="en-VN">
                    <a:noFill/>
                  </a:rPr>
                  <a:t> </a:t>
                </a:r>
              </a:p>
            </p:txBody>
          </p:sp>
        </mc:Fallback>
      </mc:AlternateContent>
      <p:sp>
        <p:nvSpPr>
          <p:cNvPr id="3083" name="Rectangle 3082">
            <a:extLst>
              <a:ext uri="{FF2B5EF4-FFF2-40B4-BE49-F238E27FC236}">
                <a16:creationId xmlns:a16="http://schemas.microsoft.com/office/drawing/2014/main" id="{82D2CAB3-EBA0-2FE0-478D-F9E59AB138DF}"/>
              </a:ext>
            </a:extLst>
          </p:cNvPr>
          <p:cNvSpPr/>
          <p:nvPr/>
        </p:nvSpPr>
        <p:spPr>
          <a:xfrm>
            <a:off x="8737724" y="2242505"/>
            <a:ext cx="664761" cy="43289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084" name="TextBox 3083">
                <a:extLst>
                  <a:ext uri="{FF2B5EF4-FFF2-40B4-BE49-F238E27FC236}">
                    <a16:creationId xmlns:a16="http://schemas.microsoft.com/office/drawing/2014/main" id="{F2D25819-B5E3-6C15-4303-D60CFAB6B210}"/>
                  </a:ext>
                </a:extLst>
              </p:cNvPr>
              <p:cNvSpPr txBox="1"/>
              <p:nvPr/>
            </p:nvSpPr>
            <p:spPr>
              <a:xfrm>
                <a:off x="8797361" y="2333130"/>
                <a:ext cx="558807" cy="2051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𝑋</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2</m:t>
                              </m:r>
                            </m:sub>
                          </m:sSub>
                        </m:e>
                      </m:d>
                    </m:oMath>
                  </m:oMathPara>
                </a14:m>
                <a:endParaRPr lang="vi-VN" sz="1333"/>
              </a:p>
            </p:txBody>
          </p:sp>
        </mc:Choice>
        <mc:Fallback xmlns="">
          <p:sp>
            <p:nvSpPr>
              <p:cNvPr id="3084" name="TextBox 3083">
                <a:extLst>
                  <a:ext uri="{FF2B5EF4-FFF2-40B4-BE49-F238E27FC236}">
                    <a16:creationId xmlns:a16="http://schemas.microsoft.com/office/drawing/2014/main" id="{F2D25819-B5E3-6C15-4303-D60CFAB6B210}"/>
                  </a:ext>
                </a:extLst>
              </p:cNvPr>
              <p:cNvSpPr txBox="1">
                <a:spLocks noRot="1" noChangeAspect="1" noMove="1" noResize="1" noEditPoints="1" noAdjustHandles="1" noChangeArrowheads="1" noChangeShapeType="1" noTextEdit="1"/>
              </p:cNvSpPr>
              <p:nvPr/>
            </p:nvSpPr>
            <p:spPr>
              <a:xfrm>
                <a:off x="8797361" y="2333130"/>
                <a:ext cx="558807" cy="205121"/>
              </a:xfrm>
              <a:prstGeom prst="rect">
                <a:avLst/>
              </a:prstGeom>
              <a:blipFill>
                <a:blip r:embed="rId9"/>
                <a:stretch>
                  <a:fillRect l="-4444" b="-17647"/>
                </a:stretch>
              </a:blipFill>
            </p:spPr>
            <p:txBody>
              <a:bodyPr/>
              <a:lstStyle/>
              <a:p>
                <a:r>
                  <a:rPr lang="en-VN">
                    <a:noFill/>
                  </a:rPr>
                  <a:t> </a:t>
                </a:r>
              </a:p>
            </p:txBody>
          </p:sp>
        </mc:Fallback>
      </mc:AlternateContent>
      <p:cxnSp>
        <p:nvCxnSpPr>
          <p:cNvPr id="3085" name="Straight Connector 3084">
            <a:extLst>
              <a:ext uri="{FF2B5EF4-FFF2-40B4-BE49-F238E27FC236}">
                <a16:creationId xmlns:a16="http://schemas.microsoft.com/office/drawing/2014/main" id="{058C4BB8-3B2E-D4B1-C248-355A9C1F49DF}"/>
              </a:ext>
            </a:extLst>
          </p:cNvPr>
          <p:cNvCxnSpPr>
            <a:cxnSpLocks/>
          </p:cNvCxnSpPr>
          <p:nvPr/>
        </p:nvCxnSpPr>
        <p:spPr>
          <a:xfrm>
            <a:off x="7434899" y="3633163"/>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86" name="Straight Connector 3085">
            <a:extLst>
              <a:ext uri="{FF2B5EF4-FFF2-40B4-BE49-F238E27FC236}">
                <a16:creationId xmlns:a16="http://schemas.microsoft.com/office/drawing/2014/main" id="{9C1ECFD0-BD17-2B32-AF03-525B8606254B}"/>
              </a:ext>
            </a:extLst>
          </p:cNvPr>
          <p:cNvCxnSpPr>
            <a:cxnSpLocks/>
          </p:cNvCxnSpPr>
          <p:nvPr/>
        </p:nvCxnSpPr>
        <p:spPr>
          <a:xfrm>
            <a:off x="7440543" y="4016801"/>
            <a:ext cx="414528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87" name="Straight Connector 3086">
            <a:extLst>
              <a:ext uri="{FF2B5EF4-FFF2-40B4-BE49-F238E27FC236}">
                <a16:creationId xmlns:a16="http://schemas.microsoft.com/office/drawing/2014/main" id="{EF05A6BA-0844-B52D-C869-4EA5994FFDCB}"/>
              </a:ext>
            </a:extLst>
          </p:cNvPr>
          <p:cNvCxnSpPr>
            <a:cxnSpLocks/>
            <a:endCxn id="3083" idx="2"/>
          </p:cNvCxnSpPr>
          <p:nvPr/>
        </p:nvCxnSpPr>
        <p:spPr>
          <a:xfrm flipV="1">
            <a:off x="9070104" y="2675397"/>
            <a:ext cx="0" cy="957767"/>
          </a:xfrm>
          <a:prstGeom prst="line">
            <a:avLst/>
          </a:prstGeom>
          <a:ln w="28575"/>
        </p:spPr>
        <p:style>
          <a:lnRef idx="1">
            <a:schemeClr val="dk1"/>
          </a:lnRef>
          <a:fillRef idx="0">
            <a:schemeClr val="dk1"/>
          </a:fillRef>
          <a:effectRef idx="0">
            <a:schemeClr val="dk1"/>
          </a:effectRef>
          <a:fontRef idx="minor">
            <a:schemeClr val="tx1"/>
          </a:fontRef>
        </p:style>
      </p:cxnSp>
      <p:sp>
        <p:nvSpPr>
          <p:cNvPr id="3091" name="Oval 3090">
            <a:extLst>
              <a:ext uri="{FF2B5EF4-FFF2-40B4-BE49-F238E27FC236}">
                <a16:creationId xmlns:a16="http://schemas.microsoft.com/office/drawing/2014/main" id="{4478DBF9-9D88-CFE9-5E42-B8575056DA67}"/>
              </a:ext>
            </a:extLst>
          </p:cNvPr>
          <p:cNvSpPr/>
          <p:nvPr/>
        </p:nvSpPr>
        <p:spPr>
          <a:xfrm>
            <a:off x="8955604" y="3519337"/>
            <a:ext cx="224600" cy="2246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p:sp>
        <p:nvSpPr>
          <p:cNvPr id="3092" name="Rectangle 3091">
            <a:extLst>
              <a:ext uri="{FF2B5EF4-FFF2-40B4-BE49-F238E27FC236}">
                <a16:creationId xmlns:a16="http://schemas.microsoft.com/office/drawing/2014/main" id="{F6FB6435-3809-30E5-A3E4-F1771CB2CD00}"/>
              </a:ext>
            </a:extLst>
          </p:cNvPr>
          <p:cNvSpPr/>
          <p:nvPr/>
        </p:nvSpPr>
        <p:spPr>
          <a:xfrm>
            <a:off x="9679285" y="2649484"/>
            <a:ext cx="664761" cy="43289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093" name="TextBox 3092">
                <a:extLst>
                  <a:ext uri="{FF2B5EF4-FFF2-40B4-BE49-F238E27FC236}">
                    <a16:creationId xmlns:a16="http://schemas.microsoft.com/office/drawing/2014/main" id="{42930002-E27B-9398-E171-3BDB853B2D98}"/>
                  </a:ext>
                </a:extLst>
              </p:cNvPr>
              <p:cNvSpPr txBox="1"/>
              <p:nvPr/>
            </p:nvSpPr>
            <p:spPr>
              <a:xfrm>
                <a:off x="9738922" y="2740109"/>
                <a:ext cx="552202" cy="2051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333" i="1">
                              <a:latin typeface="Cambria Math" panose="02040503050406030204" pitchFamily="18" charset="0"/>
                            </a:rPr>
                          </m:ctrlPr>
                        </m:sSubPr>
                        <m:e>
                          <m:r>
                            <a:rPr lang="en-US" sz="1333" i="1">
                              <a:latin typeface="Cambria Math" panose="02040503050406030204" pitchFamily="18" charset="0"/>
                            </a:rPr>
                            <m:t>𝑅</m:t>
                          </m:r>
                        </m:e>
                        <m:sub>
                          <m:r>
                            <a:rPr lang="en-US" sz="1333" i="1">
                              <a:latin typeface="Cambria Math" panose="02040503050406030204" pitchFamily="18" charset="0"/>
                            </a:rPr>
                            <m:t>𝑍</m:t>
                          </m:r>
                        </m:sub>
                      </m:sSub>
                      <m:d>
                        <m:dPr>
                          <m:ctrlPr>
                            <a:rPr lang="en-US" sz="1333" i="1">
                              <a:latin typeface="Cambria Math" panose="02040503050406030204" pitchFamily="18" charset="0"/>
                            </a:rPr>
                          </m:ctrlPr>
                        </m:dPr>
                        <m:e>
                          <m:sSub>
                            <m:sSubPr>
                              <m:ctrlPr>
                                <a:rPr lang="en-US" sz="1333" i="1">
                                  <a:latin typeface="Cambria Math" panose="02040503050406030204" pitchFamily="18" charset="0"/>
                                </a:rPr>
                              </m:ctrlPr>
                            </m:sSubPr>
                            <m:e>
                              <m:r>
                                <a:rPr lang="en-US" sz="1333" i="1">
                                  <a:latin typeface="Cambria Math" panose="02040503050406030204" pitchFamily="18" charset="0"/>
                                </a:rPr>
                                <m:t>𝜃</m:t>
                              </m:r>
                            </m:e>
                            <m:sub>
                              <m:r>
                                <a:rPr lang="en-US" sz="1333" i="1">
                                  <a:latin typeface="Cambria Math" panose="02040503050406030204" pitchFamily="18" charset="0"/>
                                </a:rPr>
                                <m:t>3</m:t>
                              </m:r>
                            </m:sub>
                          </m:sSub>
                        </m:e>
                      </m:d>
                    </m:oMath>
                  </m:oMathPara>
                </a14:m>
                <a:endParaRPr lang="vi-VN" sz="1333"/>
              </a:p>
            </p:txBody>
          </p:sp>
        </mc:Choice>
        <mc:Fallback xmlns="">
          <p:sp>
            <p:nvSpPr>
              <p:cNvPr id="3093" name="TextBox 3092">
                <a:extLst>
                  <a:ext uri="{FF2B5EF4-FFF2-40B4-BE49-F238E27FC236}">
                    <a16:creationId xmlns:a16="http://schemas.microsoft.com/office/drawing/2014/main" id="{42930002-E27B-9398-E171-3BDB853B2D98}"/>
                  </a:ext>
                </a:extLst>
              </p:cNvPr>
              <p:cNvSpPr txBox="1">
                <a:spLocks noRot="1" noChangeAspect="1" noMove="1" noResize="1" noEditPoints="1" noAdjustHandles="1" noChangeArrowheads="1" noChangeShapeType="1" noTextEdit="1"/>
              </p:cNvSpPr>
              <p:nvPr/>
            </p:nvSpPr>
            <p:spPr>
              <a:xfrm>
                <a:off x="9738922" y="2740109"/>
                <a:ext cx="552202" cy="205121"/>
              </a:xfrm>
              <a:prstGeom prst="rect">
                <a:avLst/>
              </a:prstGeom>
              <a:blipFill>
                <a:blip r:embed="rId10"/>
                <a:stretch>
                  <a:fillRect l="-6818" b="-17647"/>
                </a:stretch>
              </a:blipFill>
            </p:spPr>
            <p:txBody>
              <a:bodyPr/>
              <a:lstStyle/>
              <a:p>
                <a:r>
                  <a:rPr lang="en-VN">
                    <a:noFill/>
                  </a:rPr>
                  <a:t> </a:t>
                </a:r>
              </a:p>
            </p:txBody>
          </p:sp>
        </mc:Fallback>
      </mc:AlternateContent>
      <p:cxnSp>
        <p:nvCxnSpPr>
          <p:cNvPr id="3094" name="Straight Connector 3093">
            <a:extLst>
              <a:ext uri="{FF2B5EF4-FFF2-40B4-BE49-F238E27FC236}">
                <a16:creationId xmlns:a16="http://schemas.microsoft.com/office/drawing/2014/main" id="{2ACB9085-EED7-3179-9949-C06C1B26BD92}"/>
              </a:ext>
            </a:extLst>
          </p:cNvPr>
          <p:cNvCxnSpPr>
            <a:cxnSpLocks/>
            <a:endCxn id="3092" idx="2"/>
          </p:cNvCxnSpPr>
          <p:nvPr/>
        </p:nvCxnSpPr>
        <p:spPr>
          <a:xfrm flipV="1">
            <a:off x="10011665" y="3082375"/>
            <a:ext cx="0" cy="957767"/>
          </a:xfrm>
          <a:prstGeom prst="line">
            <a:avLst/>
          </a:prstGeom>
          <a:ln w="28575"/>
        </p:spPr>
        <p:style>
          <a:lnRef idx="1">
            <a:schemeClr val="dk1"/>
          </a:lnRef>
          <a:fillRef idx="0">
            <a:schemeClr val="dk1"/>
          </a:fillRef>
          <a:effectRef idx="0">
            <a:schemeClr val="dk1"/>
          </a:effectRef>
          <a:fontRef idx="minor">
            <a:schemeClr val="tx1"/>
          </a:fontRef>
        </p:style>
      </p:cxnSp>
      <p:sp>
        <p:nvSpPr>
          <p:cNvPr id="3095" name="Oval 3094">
            <a:extLst>
              <a:ext uri="{FF2B5EF4-FFF2-40B4-BE49-F238E27FC236}">
                <a16:creationId xmlns:a16="http://schemas.microsoft.com/office/drawing/2014/main" id="{23D912C8-7695-2FF0-5F2E-098360645CAB}"/>
              </a:ext>
            </a:extLst>
          </p:cNvPr>
          <p:cNvSpPr/>
          <p:nvPr/>
        </p:nvSpPr>
        <p:spPr>
          <a:xfrm>
            <a:off x="9897165" y="3926316"/>
            <a:ext cx="224600" cy="2246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p:sp>
        <p:nvSpPr>
          <p:cNvPr id="3096" name="Oval 3095">
            <a:extLst>
              <a:ext uri="{FF2B5EF4-FFF2-40B4-BE49-F238E27FC236}">
                <a16:creationId xmlns:a16="http://schemas.microsoft.com/office/drawing/2014/main" id="{DD33CDD9-01B1-58A6-9FFC-4B4EA8E4EB56}"/>
              </a:ext>
            </a:extLst>
          </p:cNvPr>
          <p:cNvSpPr/>
          <p:nvPr/>
        </p:nvSpPr>
        <p:spPr>
          <a:xfrm>
            <a:off x="9897165" y="3519337"/>
            <a:ext cx="224600" cy="224600"/>
          </a:xfrm>
          <a:prstGeom prst="ellipse">
            <a:avLst/>
          </a:prstGeom>
          <a:solidFill>
            <a:schemeClr val="bg1"/>
          </a:solidFill>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098" name="TextBox 3097">
                <a:extLst>
                  <a:ext uri="{FF2B5EF4-FFF2-40B4-BE49-F238E27FC236}">
                    <a16:creationId xmlns:a16="http://schemas.microsoft.com/office/drawing/2014/main" id="{8EFAD544-7A0C-072D-443F-9DDF6B791384}"/>
                  </a:ext>
                </a:extLst>
              </p:cNvPr>
              <p:cNvSpPr txBox="1"/>
              <p:nvPr/>
            </p:nvSpPr>
            <p:spPr>
              <a:xfrm>
                <a:off x="7449339" y="4818582"/>
                <a:ext cx="2672427" cy="461665"/>
              </a:xfrm>
              <a:prstGeom prst="rect">
                <a:avLst/>
              </a:prstGeom>
              <a:noFill/>
              <a:ln>
                <a:solidFill>
                  <a:srgbClr val="FF0000"/>
                </a:solidFill>
              </a:ln>
            </p:spPr>
            <p:txBody>
              <a:bodyPr wrap="square" rtlCol="0">
                <a:spAutoFit/>
              </a:bodyPr>
              <a:lstStyle/>
              <a:p>
                <a14:m>
                  <m:oMath xmlns:m="http://schemas.openxmlformats.org/officeDocument/2006/math">
                    <m:r>
                      <a:rPr lang="en-US" sz="2400" b="1" i="1">
                        <a:latin typeface="Cambria Math" panose="02040503050406030204" pitchFamily="18" charset="0"/>
                      </a:rPr>
                      <m:t>𝜽</m:t>
                    </m:r>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m>
                              <m:mPr>
                                <m:mcs>
                                  <m:mc>
                                    <m:mcPr>
                                      <m:count m:val="3"/>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0</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1</m:t>
                                      </m:r>
                                    </m:sub>
                                  </m:sSub>
                                </m:e>
                                <m:e>
                                  <m:r>
                                    <a:rPr lang="en-US" sz="2400" i="1">
                                      <a:latin typeface="Cambria Math" panose="02040503050406030204" pitchFamily="18" charset="0"/>
                                    </a:rPr>
                                    <m:t>…</m:t>
                                  </m:r>
                                </m:e>
                              </m:mr>
                            </m:m>
                          </m:e>
                        </m:d>
                      </m:e>
                      <m:sup>
                        <m:r>
                          <a:rPr lang="en-US" sz="2400" i="1">
                            <a:latin typeface="Cambria Math" panose="02040503050406030204" pitchFamily="18" charset="0"/>
                            <a:ea typeface="Cambria Math" panose="02040503050406030204" pitchFamily="18" charset="0"/>
                          </a:rPr>
                          <m:t>⊺</m:t>
                        </m:r>
                      </m:sup>
                    </m:sSup>
                  </m:oMath>
                </a14:m>
                <a:r>
                  <a:rPr lang="en-US" sz="2400"/>
                  <a:t>  </a:t>
                </a:r>
                <a:endParaRPr lang="en-VN" sz="2400"/>
              </a:p>
            </p:txBody>
          </p:sp>
        </mc:Choice>
        <mc:Fallback xmlns="">
          <p:sp>
            <p:nvSpPr>
              <p:cNvPr id="3098" name="TextBox 3097">
                <a:extLst>
                  <a:ext uri="{FF2B5EF4-FFF2-40B4-BE49-F238E27FC236}">
                    <a16:creationId xmlns:a16="http://schemas.microsoft.com/office/drawing/2014/main" id="{8EFAD544-7A0C-072D-443F-9DDF6B791384}"/>
                  </a:ext>
                </a:extLst>
              </p:cNvPr>
              <p:cNvSpPr txBox="1">
                <a:spLocks noRot="1" noChangeAspect="1" noMove="1" noResize="1" noEditPoints="1" noAdjustHandles="1" noChangeArrowheads="1" noChangeShapeType="1" noTextEdit="1"/>
              </p:cNvSpPr>
              <p:nvPr/>
            </p:nvSpPr>
            <p:spPr>
              <a:xfrm>
                <a:off x="7449339" y="4818582"/>
                <a:ext cx="2672427" cy="461665"/>
              </a:xfrm>
              <a:prstGeom prst="rect">
                <a:avLst/>
              </a:prstGeom>
              <a:blipFill>
                <a:blip r:embed="rId11"/>
                <a:stretch>
                  <a:fillRect l="-472"/>
                </a:stretch>
              </a:blipFill>
              <a:ln>
                <a:solidFill>
                  <a:srgbClr val="FF0000"/>
                </a:solidFill>
              </a:ln>
            </p:spPr>
            <p:txBody>
              <a:bodyPr/>
              <a:lstStyle/>
              <a:p>
                <a:r>
                  <a:rPr lang="en-VN">
                    <a:noFill/>
                  </a:rPr>
                  <a:t> </a:t>
                </a:r>
              </a:p>
            </p:txBody>
          </p:sp>
        </mc:Fallback>
      </mc:AlternateContent>
      <p:sp>
        <p:nvSpPr>
          <p:cNvPr id="3099" name="Rectangle 3098">
            <a:extLst>
              <a:ext uri="{FF2B5EF4-FFF2-40B4-BE49-F238E27FC236}">
                <a16:creationId xmlns:a16="http://schemas.microsoft.com/office/drawing/2014/main" id="{1D083D2E-FBE0-B342-2B56-6A19EC2F36B7}"/>
              </a:ext>
            </a:extLst>
          </p:cNvPr>
          <p:cNvSpPr/>
          <p:nvPr/>
        </p:nvSpPr>
        <p:spPr>
          <a:xfrm>
            <a:off x="7666395" y="1803729"/>
            <a:ext cx="881247" cy="2422831"/>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00" name="TextBox 3099">
            <a:extLst>
              <a:ext uri="{FF2B5EF4-FFF2-40B4-BE49-F238E27FC236}">
                <a16:creationId xmlns:a16="http://schemas.microsoft.com/office/drawing/2014/main" id="{2E80F3D9-E764-4F4C-7DDC-762F603AE142}"/>
              </a:ext>
            </a:extLst>
          </p:cNvPr>
          <p:cNvSpPr txBox="1"/>
          <p:nvPr/>
        </p:nvSpPr>
        <p:spPr>
          <a:xfrm>
            <a:off x="7654131" y="4195841"/>
            <a:ext cx="947445" cy="584775"/>
          </a:xfrm>
          <a:prstGeom prst="rect">
            <a:avLst/>
          </a:prstGeom>
          <a:noFill/>
        </p:spPr>
        <p:txBody>
          <a:bodyPr wrap="square">
            <a:spAutoFit/>
          </a:bodyPr>
          <a:lstStyle/>
          <a:p>
            <a:pPr algn="ctr"/>
            <a:r>
              <a:rPr lang="en-US" sz="1600">
                <a:solidFill>
                  <a:srgbClr val="000000"/>
                </a:solidFill>
                <a:latin typeface="Calibri" panose="020F0502020204030204" pitchFamily="34" charset="0"/>
                <a:ea typeface="Calibri" panose="020F0502020204030204" pitchFamily="34" charset="0"/>
                <a:cs typeface="Calibri" panose="020F0502020204030204" pitchFamily="34" charset="0"/>
              </a:rPr>
              <a:t>1-qubit gates</a:t>
            </a:r>
            <a:endParaRPr lang="vi-VN" sz="16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1" name="Rectangle 3100">
            <a:extLst>
              <a:ext uri="{FF2B5EF4-FFF2-40B4-BE49-F238E27FC236}">
                <a16:creationId xmlns:a16="http://schemas.microsoft.com/office/drawing/2014/main" id="{2538C970-E573-2E0E-55E9-7B23A41C563D}"/>
              </a:ext>
            </a:extLst>
          </p:cNvPr>
          <p:cNvSpPr/>
          <p:nvPr/>
        </p:nvSpPr>
        <p:spPr>
          <a:xfrm>
            <a:off x="8632546" y="1796486"/>
            <a:ext cx="881247" cy="2422831"/>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02" name="Rectangle 3101">
            <a:extLst>
              <a:ext uri="{FF2B5EF4-FFF2-40B4-BE49-F238E27FC236}">
                <a16:creationId xmlns:a16="http://schemas.microsoft.com/office/drawing/2014/main" id="{21A804EB-3B2C-4440-34EB-75476096C49A}"/>
              </a:ext>
            </a:extLst>
          </p:cNvPr>
          <p:cNvSpPr/>
          <p:nvPr/>
        </p:nvSpPr>
        <p:spPr>
          <a:xfrm>
            <a:off x="9598696" y="1787879"/>
            <a:ext cx="1914560" cy="2422831"/>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3103" name="TextBox 3102">
            <a:extLst>
              <a:ext uri="{FF2B5EF4-FFF2-40B4-BE49-F238E27FC236}">
                <a16:creationId xmlns:a16="http://schemas.microsoft.com/office/drawing/2014/main" id="{FF949F28-59E4-26F7-B2A0-C955BA5BCE89}"/>
              </a:ext>
            </a:extLst>
          </p:cNvPr>
          <p:cNvSpPr txBox="1"/>
          <p:nvPr/>
        </p:nvSpPr>
        <p:spPr>
          <a:xfrm>
            <a:off x="8561771" y="4197104"/>
            <a:ext cx="1024271" cy="584775"/>
          </a:xfrm>
          <a:prstGeom prst="rect">
            <a:avLst/>
          </a:prstGeom>
          <a:noFill/>
        </p:spPr>
        <p:txBody>
          <a:bodyPr wrap="square">
            <a:spAutoFit/>
          </a:bodyPr>
          <a:lstStyle/>
          <a:p>
            <a:pPr algn="ctr"/>
            <a:r>
              <a:rPr lang="en-US" sz="1600">
                <a:solidFill>
                  <a:srgbClr val="000000"/>
                </a:solidFill>
                <a:latin typeface="Calibri" panose="020F0502020204030204" pitchFamily="34" charset="0"/>
                <a:ea typeface="Calibri" panose="020F0502020204030204" pitchFamily="34" charset="0"/>
                <a:cs typeface="Calibri" panose="020F0502020204030204" pitchFamily="34" charset="0"/>
              </a:rPr>
              <a:t>2-qubit gates</a:t>
            </a:r>
            <a:endParaRPr lang="vi-VN" sz="16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4" name="TextBox 3103">
            <a:extLst>
              <a:ext uri="{FF2B5EF4-FFF2-40B4-BE49-F238E27FC236}">
                <a16:creationId xmlns:a16="http://schemas.microsoft.com/office/drawing/2014/main" id="{9164D572-3C7F-8EA6-5B55-46154D2A7E15}"/>
              </a:ext>
            </a:extLst>
          </p:cNvPr>
          <p:cNvSpPr txBox="1"/>
          <p:nvPr/>
        </p:nvSpPr>
        <p:spPr>
          <a:xfrm>
            <a:off x="10473900" y="4195841"/>
            <a:ext cx="1174462" cy="584775"/>
          </a:xfrm>
          <a:prstGeom prst="rect">
            <a:avLst/>
          </a:prstGeom>
          <a:noFill/>
        </p:spPr>
        <p:txBody>
          <a:bodyPr wrap="square">
            <a:spAutoFit/>
          </a:bodyPr>
          <a:lstStyle/>
          <a:p>
            <a:pPr algn="ctr"/>
            <a:r>
              <a:rPr lang="en-US" sz="1600">
                <a:solidFill>
                  <a:srgbClr val="000000"/>
                </a:solidFill>
                <a:latin typeface="Calibri" panose="020F0502020204030204" pitchFamily="34" charset="0"/>
                <a:ea typeface="Calibri" panose="020F0502020204030204" pitchFamily="34" charset="0"/>
                <a:cs typeface="Calibri" panose="020F0502020204030204" pitchFamily="34" charset="0"/>
              </a:rPr>
              <a:t>complex gate</a:t>
            </a:r>
            <a:endParaRPr lang="vi-VN" sz="16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5" name="Rectangle 3104">
            <a:extLst>
              <a:ext uri="{FF2B5EF4-FFF2-40B4-BE49-F238E27FC236}">
                <a16:creationId xmlns:a16="http://schemas.microsoft.com/office/drawing/2014/main" id="{52E35932-BFA4-1A23-034C-6BFF6D6B421C}"/>
              </a:ext>
            </a:extLst>
          </p:cNvPr>
          <p:cNvSpPr/>
          <p:nvPr/>
        </p:nvSpPr>
        <p:spPr>
          <a:xfrm>
            <a:off x="10608626" y="1938594"/>
            <a:ext cx="833255" cy="114378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3106" name="Straight Connector 3105">
            <a:extLst>
              <a:ext uri="{FF2B5EF4-FFF2-40B4-BE49-F238E27FC236}">
                <a16:creationId xmlns:a16="http://schemas.microsoft.com/office/drawing/2014/main" id="{9574F327-9C50-9014-D83E-53A095FC41C4}"/>
              </a:ext>
            </a:extLst>
          </p:cNvPr>
          <p:cNvCxnSpPr>
            <a:cxnSpLocks/>
          </p:cNvCxnSpPr>
          <p:nvPr/>
        </p:nvCxnSpPr>
        <p:spPr>
          <a:xfrm flipV="1">
            <a:off x="11061131" y="3060559"/>
            <a:ext cx="0" cy="957767"/>
          </a:xfrm>
          <a:prstGeom prst="line">
            <a:avLst/>
          </a:prstGeom>
          <a:ln w="28575"/>
        </p:spPr>
        <p:style>
          <a:lnRef idx="1">
            <a:schemeClr val="dk1"/>
          </a:lnRef>
          <a:fillRef idx="0">
            <a:schemeClr val="dk1"/>
          </a:fillRef>
          <a:effectRef idx="0">
            <a:schemeClr val="dk1"/>
          </a:effectRef>
          <a:fontRef idx="minor">
            <a:schemeClr val="tx1"/>
          </a:fontRef>
        </p:style>
      </p:cxnSp>
      <p:sp>
        <p:nvSpPr>
          <p:cNvPr id="3107" name="Oval 3106">
            <a:extLst>
              <a:ext uri="{FF2B5EF4-FFF2-40B4-BE49-F238E27FC236}">
                <a16:creationId xmlns:a16="http://schemas.microsoft.com/office/drawing/2014/main" id="{FDD7F85C-CBB7-83A5-1B3D-74C50FB111EB}"/>
              </a:ext>
            </a:extLst>
          </p:cNvPr>
          <p:cNvSpPr/>
          <p:nvPr/>
        </p:nvSpPr>
        <p:spPr>
          <a:xfrm>
            <a:off x="10946631" y="3904500"/>
            <a:ext cx="224600" cy="2246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109" name="TextBox 3108">
                <a:extLst>
                  <a:ext uri="{FF2B5EF4-FFF2-40B4-BE49-F238E27FC236}">
                    <a16:creationId xmlns:a16="http://schemas.microsoft.com/office/drawing/2014/main" id="{D3FE9651-8F7C-0C15-B045-4DD8697E09DD}"/>
                  </a:ext>
                </a:extLst>
              </p:cNvPr>
              <p:cNvSpPr txBox="1"/>
              <p:nvPr/>
            </p:nvSpPr>
            <p:spPr>
              <a:xfrm>
                <a:off x="10680158" y="2360615"/>
                <a:ext cx="6879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𝑉</m:t>
                      </m:r>
                      <m:d>
                        <m:dPr>
                          <m:ctrlPr>
                            <a:rPr lang="en-US" sz="1400" i="1">
                              <a:latin typeface="Cambria Math" panose="02040503050406030204" pitchFamily="18" charset="0"/>
                            </a:rPr>
                          </m:ctrlPr>
                        </m:dPr>
                        <m:e>
                          <m:sSub>
                            <m:sSubPr>
                              <m:ctrlPr>
                                <a:rPr lang="en-US" sz="1400" b="1" i="1">
                                  <a:latin typeface="Cambria Math" panose="02040503050406030204" pitchFamily="18" charset="0"/>
                                </a:rPr>
                              </m:ctrlPr>
                            </m:sSubPr>
                            <m:e>
                              <m:r>
                                <a:rPr lang="en-US" sz="1400" b="1" i="1">
                                  <a:latin typeface="Cambria Math" panose="02040503050406030204" pitchFamily="18" charset="0"/>
                                </a:rPr>
                                <m:t>𝜽</m:t>
                              </m:r>
                            </m:e>
                            <m:sub>
                              <m:r>
                                <a:rPr lang="en-US" sz="1400" b="1" i="1">
                                  <a:latin typeface="Cambria Math" panose="02040503050406030204" pitchFamily="18" charset="0"/>
                                </a:rPr>
                                <m:t>𝟒</m:t>
                              </m:r>
                              <m:r>
                                <a:rPr lang="en-US" sz="1400" b="1" i="1">
                                  <a:latin typeface="Cambria Math" panose="02040503050406030204" pitchFamily="18" charset="0"/>
                                </a:rPr>
                                <m:t>−</m:t>
                              </m:r>
                              <m:r>
                                <a:rPr lang="en-US" sz="1400" b="1" i="1">
                                  <a:latin typeface="Cambria Math" panose="02040503050406030204" pitchFamily="18" charset="0"/>
                                </a:rPr>
                                <m:t>𝟕</m:t>
                              </m:r>
                            </m:sub>
                          </m:sSub>
                        </m:e>
                      </m:d>
                    </m:oMath>
                  </m:oMathPara>
                </a14:m>
                <a:endParaRPr lang="vi-VN" sz="1400"/>
              </a:p>
            </p:txBody>
          </p:sp>
        </mc:Choice>
        <mc:Fallback xmlns="">
          <p:sp>
            <p:nvSpPr>
              <p:cNvPr id="3109" name="TextBox 3108">
                <a:extLst>
                  <a:ext uri="{FF2B5EF4-FFF2-40B4-BE49-F238E27FC236}">
                    <a16:creationId xmlns:a16="http://schemas.microsoft.com/office/drawing/2014/main" id="{D3FE9651-8F7C-0C15-B045-4DD8697E09DD}"/>
                  </a:ext>
                </a:extLst>
              </p:cNvPr>
              <p:cNvSpPr txBox="1">
                <a:spLocks noRot="1" noChangeAspect="1" noMove="1" noResize="1" noEditPoints="1" noAdjustHandles="1" noChangeArrowheads="1" noChangeShapeType="1" noTextEdit="1"/>
              </p:cNvSpPr>
              <p:nvPr/>
            </p:nvSpPr>
            <p:spPr>
              <a:xfrm>
                <a:off x="10680158" y="2360615"/>
                <a:ext cx="687944" cy="215444"/>
              </a:xfrm>
              <a:prstGeom prst="rect">
                <a:avLst/>
              </a:prstGeom>
              <a:blipFill>
                <a:blip r:embed="rId12"/>
                <a:stretch>
                  <a:fillRect l="-3571" b="-15789"/>
                </a:stretch>
              </a:blipFill>
            </p:spPr>
            <p:txBody>
              <a:bodyPr/>
              <a:lstStyle/>
              <a:p>
                <a:r>
                  <a:rPr lang="en-VN">
                    <a:noFill/>
                  </a:rPr>
                  <a:t> </a:t>
                </a:r>
              </a:p>
            </p:txBody>
          </p:sp>
        </mc:Fallback>
      </mc:AlternateContent>
      <p:sp>
        <p:nvSpPr>
          <p:cNvPr id="4" name="TextBox 3">
            <a:extLst>
              <a:ext uri="{FF2B5EF4-FFF2-40B4-BE49-F238E27FC236}">
                <a16:creationId xmlns:a16="http://schemas.microsoft.com/office/drawing/2014/main" id="{D6748CD7-ADB0-68D8-1B12-32313F041CA2}"/>
              </a:ext>
            </a:extLst>
          </p:cNvPr>
          <p:cNvSpPr txBox="1"/>
          <p:nvPr/>
        </p:nvSpPr>
        <p:spPr>
          <a:xfrm>
            <a:off x="3760361" y="4021038"/>
            <a:ext cx="2027663" cy="338554"/>
          </a:xfrm>
          <a:prstGeom prst="rect">
            <a:avLst/>
          </a:prstGeom>
          <a:noFill/>
        </p:spPr>
        <p:txBody>
          <a:bodyPr wrap="square" rtlCol="0">
            <a:spAutoFit/>
          </a:bodyPr>
          <a:lstStyle/>
          <a:p>
            <a:r>
              <a:rPr lang="en-US" sz="1600"/>
              <a:t>Trainable parameter</a:t>
            </a:r>
            <a:endParaRPr lang="en-VN" sz="1600"/>
          </a:p>
        </p:txBody>
      </p:sp>
      <p:cxnSp>
        <p:nvCxnSpPr>
          <p:cNvPr id="7" name="Straight Arrow Connector 6">
            <a:extLst>
              <a:ext uri="{FF2B5EF4-FFF2-40B4-BE49-F238E27FC236}">
                <a16:creationId xmlns:a16="http://schemas.microsoft.com/office/drawing/2014/main" id="{7C1D86EA-2AFC-3380-477E-9E866D1311F1}"/>
              </a:ext>
            </a:extLst>
          </p:cNvPr>
          <p:cNvCxnSpPr>
            <a:cxnSpLocks/>
          </p:cNvCxnSpPr>
          <p:nvPr/>
        </p:nvCxnSpPr>
        <p:spPr>
          <a:xfrm flipV="1">
            <a:off x="4726283" y="3671245"/>
            <a:ext cx="0" cy="4214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8194BEAE-7471-5EDA-6CED-C62448C7EA01}"/>
              </a:ext>
            </a:extLst>
          </p:cNvPr>
          <p:cNvSpPr txBox="1"/>
          <p:nvPr/>
        </p:nvSpPr>
        <p:spPr>
          <a:xfrm>
            <a:off x="9416695" y="4195842"/>
            <a:ext cx="1242992" cy="584775"/>
          </a:xfrm>
          <a:prstGeom prst="rect">
            <a:avLst/>
          </a:prstGeom>
          <a:noFill/>
        </p:spPr>
        <p:txBody>
          <a:bodyPr wrap="square">
            <a:spAutoFit/>
          </a:bodyPr>
          <a:lstStyle/>
          <a:p>
            <a:pPr algn="ctr"/>
            <a:r>
              <a:rPr lang="en-US" sz="1600">
                <a:solidFill>
                  <a:srgbClr val="000000"/>
                </a:solidFill>
                <a:latin typeface="Calibri" panose="020F0502020204030204" pitchFamily="34" charset="0"/>
                <a:ea typeface="Calibri" panose="020F0502020204030204" pitchFamily="34" charset="0"/>
                <a:cs typeface="Calibri" panose="020F0502020204030204" pitchFamily="34" charset="0"/>
              </a:rPr>
              <a:t>multi-control gate</a:t>
            </a:r>
            <a:endParaRPr lang="vi-VN" sz="16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3623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E910018-B6F5-47A1-A7C1-F7553D199F84}"/>
              </a:ext>
            </a:extLst>
          </p:cNvPr>
          <p:cNvSpPr>
            <a:spLocks noGrp="1"/>
          </p:cNvSpPr>
          <p:nvPr>
            <p:ph type="title"/>
          </p:nvPr>
        </p:nvSpPr>
        <p:spPr/>
        <p:txBody>
          <a:bodyPr/>
          <a:lstStyle/>
          <a:p>
            <a:r>
              <a:rPr lang="en-US"/>
              <a:t>Measurement</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A446B301-A728-44B8-8D64-C4511170549F}"/>
                  </a:ext>
                </a:extLst>
              </p:cNvPr>
              <p:cNvSpPr>
                <a:spLocks noGrp="1"/>
              </p:cNvSpPr>
              <p:nvPr>
                <p:ph idx="1"/>
              </p:nvPr>
            </p:nvSpPr>
            <p:spPr>
              <a:xfrm>
                <a:off x="838199" y="1825625"/>
                <a:ext cx="10908323" cy="596299"/>
              </a:xfrm>
            </p:spPr>
            <p:txBody>
              <a:bodyPr/>
              <a:lstStyle/>
              <a:p>
                <a:pPr marL="0" indent="0">
                  <a:buNone/>
                </a:pPr>
                <a:r>
                  <a:rPr lang="en-US"/>
                  <a:t>All Pauli matrices have eigenvalues </a:t>
                </a:r>
                <a14:m>
                  <m:oMath xmlns:m="http://schemas.openxmlformats.org/officeDocument/2006/math">
                    <m:r>
                      <a:rPr lang="en-US" b="0" i="1" smtClean="0">
                        <a:latin typeface="Cambria Math" panose="02040503050406030204" pitchFamily="18" charset="0"/>
                      </a:rPr>
                      <m:t>±1</m:t>
                    </m:r>
                  </m:oMath>
                </a14:m>
                <a:r>
                  <a:rPr lang="en-US"/>
                  <a:t> and its eigenvectors (eigenstates):</a:t>
                </a:r>
              </a:p>
              <a:p>
                <a:pPr marL="0" indent="0">
                  <a:buNone/>
                </a:pPr>
                <a:endParaRPr lang="en-US"/>
              </a:p>
              <a:p>
                <a:pPr marL="0" indent="0">
                  <a:buNone/>
                </a:pPr>
                <a:endParaRPr lang="vi-VN"/>
              </a:p>
            </p:txBody>
          </p:sp>
        </mc:Choice>
        <mc:Fallback xmlns="">
          <p:sp>
            <p:nvSpPr>
              <p:cNvPr id="3" name="Chỗ dành sẵn cho Nội dung 2">
                <a:extLst>
                  <a:ext uri="{FF2B5EF4-FFF2-40B4-BE49-F238E27FC236}">
                    <a16:creationId xmlns:a16="http://schemas.microsoft.com/office/drawing/2014/main" id="{A446B301-A728-44B8-8D64-C4511170549F}"/>
                  </a:ext>
                </a:extLst>
              </p:cNvPr>
              <p:cNvSpPr>
                <a:spLocks noGrp="1" noRot="1" noChangeAspect="1" noMove="1" noResize="1" noEditPoints="1" noAdjustHandles="1" noChangeArrowheads="1" noChangeShapeType="1" noTextEdit="1"/>
              </p:cNvSpPr>
              <p:nvPr>
                <p:ph idx="1"/>
              </p:nvPr>
            </p:nvSpPr>
            <p:spPr>
              <a:xfrm>
                <a:off x="838199" y="1825625"/>
                <a:ext cx="10908323" cy="596299"/>
              </a:xfrm>
              <a:blipFill>
                <a:blip r:embed="rId2"/>
                <a:stretch>
                  <a:fillRect l="-1047" t="-16667" b="-8333"/>
                </a:stretch>
              </a:blipFill>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3739FE2D-B1C2-4189-BA6C-5E68414264F1}"/>
              </a:ext>
            </a:extLst>
          </p:cNvPr>
          <p:cNvSpPr>
            <a:spLocks noGrp="1"/>
          </p:cNvSpPr>
          <p:nvPr>
            <p:ph type="sldNum" sz="quarter" idx="12"/>
          </p:nvPr>
        </p:nvSpPr>
        <p:spPr/>
        <p:txBody>
          <a:bodyPr/>
          <a:lstStyle/>
          <a:p>
            <a:fld id="{71331178-9F85-4EDF-BDD3-1E7064DA4C59}" type="slidenum">
              <a:rPr lang="vi-VN" smtClean="0"/>
              <a:t>18</a:t>
            </a:fld>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D47C8C7-D187-4626-BEA3-99F898FE7F9E}"/>
                  </a:ext>
                </a:extLst>
              </p:cNvPr>
              <p:cNvSpPr txBox="1"/>
              <p:nvPr/>
            </p:nvSpPr>
            <p:spPr>
              <a:xfrm>
                <a:off x="1343798" y="2421924"/>
                <a:ext cx="6098058" cy="3254737"/>
              </a:xfrm>
              <a:prstGeom prst="rect">
                <a:avLst/>
              </a:prstGeom>
              <a:noFill/>
            </p:spPr>
            <p:txBody>
              <a:bodyPr wrap="square">
                <a:spAutoFit/>
              </a:bodyPr>
              <a:lstStyle/>
              <a:p>
                <a14:m>
                  <m:oMath xmlns:m="http://schemas.openxmlformats.org/officeDocument/2006/math">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𝑢</m:t>
                        </m:r>
                      </m:e>
                      <m:sub>
                        <m:sSup>
                          <m:sSupPr>
                            <m:ctrlPr>
                              <a:rPr lang="en-US" sz="2800" i="1">
                                <a:latin typeface="Cambria Math" panose="02040503050406030204" pitchFamily="18" charset="0"/>
                              </a:rPr>
                            </m:ctrlPr>
                          </m:sSupPr>
                          <m:e>
                            <m:r>
                              <a:rPr lang="en-US" sz="2800" i="1">
                                <a:latin typeface="Cambria Math" panose="02040503050406030204" pitchFamily="18" charset="0"/>
                              </a:rPr>
                              <m:t>𝑥</m:t>
                            </m:r>
                          </m:e>
                          <m:sup>
                            <m:r>
                              <a:rPr lang="en-US" sz="2800" i="1">
                                <a:latin typeface="Cambria Math" panose="02040503050406030204" pitchFamily="18" charset="0"/>
                              </a:rPr>
                              <m:t>+</m:t>
                            </m:r>
                          </m:sup>
                        </m:sSup>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ad>
                          <m:radPr>
                            <m:degHide m:val="on"/>
                            <m:ctrlPr>
                              <a:rPr lang="en-US" sz="2800" b="0" i="1" smtClean="0">
                                <a:latin typeface="Cambria Math" panose="02040503050406030204" pitchFamily="18" charset="0"/>
                              </a:rPr>
                            </m:ctrlPr>
                          </m:radPr>
                          <m:deg/>
                          <m:e>
                            <m:r>
                              <a:rPr lang="en-US" sz="2800" b="0" i="1" smtClean="0">
                                <a:latin typeface="Cambria Math" panose="02040503050406030204" pitchFamily="18" charset="0"/>
                              </a:rPr>
                              <m:t>2</m:t>
                            </m:r>
                          </m:e>
                        </m:rad>
                      </m:den>
                    </m:f>
                    <m:d>
                      <m:dPr>
                        <m:begChr m:val="["/>
                        <m:endChr m:val="]"/>
                        <m:ctrlPr>
                          <a:rPr lang="en-US" sz="2800" b="0" i="1" smtClean="0">
                            <a:latin typeface="Cambria Math" panose="02040503050406030204" pitchFamily="18" charset="0"/>
                          </a:rPr>
                        </m:ctrlPr>
                      </m:dPr>
                      <m:e>
                        <m:m>
                          <m:mPr>
                            <m:mcs>
                              <m:mc>
                                <m:mcPr>
                                  <m:count m:val="1"/>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1</m:t>
                              </m:r>
                            </m:e>
                          </m:mr>
                          <m:mr>
                            <m:e>
                              <m:r>
                                <a:rPr lang="en-US" sz="2800" b="0" i="1" smtClean="0">
                                  <a:latin typeface="Cambria Math" panose="02040503050406030204" pitchFamily="18" charset="0"/>
                                </a:rPr>
                                <m:t>1</m:t>
                              </m:r>
                            </m:e>
                          </m:mr>
                        </m:m>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𝑢</m:t>
                        </m:r>
                      </m:e>
                      <m:sub>
                        <m:sSup>
                          <m:sSupPr>
                            <m:ctrlPr>
                              <a:rPr lang="en-US" sz="2800" i="1">
                                <a:latin typeface="Cambria Math" panose="02040503050406030204" pitchFamily="18" charset="0"/>
                              </a:rPr>
                            </m:ctrlPr>
                          </m:sSupPr>
                          <m:e>
                            <m:r>
                              <a:rPr lang="en-US" sz="2800" i="1">
                                <a:latin typeface="Cambria Math" panose="02040503050406030204" pitchFamily="18" charset="0"/>
                              </a:rPr>
                              <m:t>𝑥</m:t>
                            </m:r>
                          </m:e>
                          <m:sup>
                            <m:r>
                              <a:rPr lang="en-US" sz="2800" b="0" i="1" smtClean="0">
                                <a:latin typeface="Cambria Math" panose="02040503050406030204" pitchFamily="18" charset="0"/>
                              </a:rPr>
                              <m:t>−</m:t>
                            </m:r>
                          </m:sup>
                        </m:sSup>
                      </m:sub>
                    </m:sSub>
                    <m:r>
                      <a:rPr lang="en-US" sz="2800" b="0" i="1" smtClean="0">
                        <a:latin typeface="Cambria Math" panose="02040503050406030204" pitchFamily="18" charset="0"/>
                      </a:rPr>
                      <m:t>⟩</m:t>
                    </m:r>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ad>
                          <m:radPr>
                            <m:degHide m:val="on"/>
                            <m:ctrlPr>
                              <a:rPr lang="en-US" sz="2800" i="1">
                                <a:latin typeface="Cambria Math" panose="02040503050406030204" pitchFamily="18" charset="0"/>
                              </a:rPr>
                            </m:ctrlPr>
                          </m:radPr>
                          <m:deg/>
                          <m:e>
                            <m:r>
                              <a:rPr lang="en-US" sz="2800" i="1">
                                <a:latin typeface="Cambria Math" panose="02040503050406030204" pitchFamily="18" charset="0"/>
                              </a:rPr>
                              <m:t>2</m:t>
                            </m:r>
                          </m:e>
                        </m:rad>
                      </m:den>
                    </m:f>
                    <m:d>
                      <m:dPr>
                        <m:begChr m:val="["/>
                        <m:endChr m:val="]"/>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i="1">
                                  <a:latin typeface="Cambria Math" panose="02040503050406030204" pitchFamily="18" charset="0"/>
                                </a:rPr>
                                <m:t>1</m:t>
                              </m:r>
                            </m:e>
                          </m:mr>
                          <m:mr>
                            <m:e>
                              <m:r>
                                <a:rPr lang="en-US" sz="2800" b="0" i="1" smtClean="0">
                                  <a:latin typeface="Cambria Math" panose="02040503050406030204" pitchFamily="18" charset="0"/>
                                </a:rPr>
                                <m:t>−</m:t>
                              </m:r>
                              <m:r>
                                <a:rPr lang="en-US" sz="2800" i="1">
                                  <a:latin typeface="Cambria Math" panose="02040503050406030204" pitchFamily="18" charset="0"/>
                                </a:rPr>
                                <m:t>1</m:t>
                              </m:r>
                            </m:e>
                          </m:mr>
                        </m:m>
                      </m:e>
                    </m:d>
                  </m:oMath>
                </a14:m>
                <a:r>
                  <a:rPr lang="en-US" sz="2800"/>
                  <a:t> </a:t>
                </a:r>
              </a:p>
              <a:p>
                <a:pPr marL="0" indent="0">
                  <a:buNone/>
                </a:pPr>
                <a:endParaRPr lang="en-US" sz="2800"/>
              </a:p>
              <a:p>
                <a14:m>
                  <m:oMath xmlns:m="http://schemas.openxmlformats.org/officeDocument/2006/math">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𝑢</m:t>
                        </m:r>
                      </m:e>
                      <m:sub>
                        <m:sSup>
                          <m:sSupPr>
                            <m:ctrlPr>
                              <a:rPr lang="en-US" sz="2800" i="1">
                                <a:latin typeface="Cambria Math" panose="02040503050406030204" pitchFamily="18" charset="0"/>
                              </a:rPr>
                            </m:ctrlPr>
                          </m:sSupPr>
                          <m:e>
                            <m:r>
                              <a:rPr lang="en-US" sz="2800" b="0" i="1" smtClean="0">
                                <a:latin typeface="Cambria Math" panose="02040503050406030204" pitchFamily="18" charset="0"/>
                              </a:rPr>
                              <m:t>𝑦</m:t>
                            </m:r>
                          </m:e>
                          <m:sup>
                            <m:r>
                              <a:rPr lang="en-US" sz="2800" i="1">
                                <a:latin typeface="Cambria Math" panose="02040503050406030204" pitchFamily="18" charset="0"/>
                              </a:rPr>
                              <m:t>+</m:t>
                            </m:r>
                          </m:sup>
                        </m:sSup>
                      </m:sub>
                    </m:sSub>
                    <m:r>
                      <a:rPr lang="en-US" sz="2800" i="1">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ad>
                          <m:radPr>
                            <m:degHide m:val="on"/>
                            <m:ctrlPr>
                              <a:rPr lang="en-US" sz="2800" b="0" i="1" smtClean="0">
                                <a:latin typeface="Cambria Math" panose="02040503050406030204" pitchFamily="18" charset="0"/>
                              </a:rPr>
                            </m:ctrlPr>
                          </m:radPr>
                          <m:deg/>
                          <m:e>
                            <m:r>
                              <a:rPr lang="en-US" sz="2800" b="0" i="1" smtClean="0">
                                <a:latin typeface="Cambria Math" panose="02040503050406030204" pitchFamily="18" charset="0"/>
                              </a:rPr>
                              <m:t>2</m:t>
                            </m:r>
                          </m:e>
                        </m:rad>
                      </m:den>
                    </m:f>
                    <m:d>
                      <m:dPr>
                        <m:begChr m:val="["/>
                        <m:endChr m:val="]"/>
                        <m:ctrlPr>
                          <a:rPr lang="en-US" sz="2800" b="0" i="1" smtClean="0">
                            <a:latin typeface="Cambria Math" panose="02040503050406030204" pitchFamily="18" charset="0"/>
                          </a:rPr>
                        </m:ctrlPr>
                      </m:dPr>
                      <m:e>
                        <m:m>
                          <m:mPr>
                            <m:mcs>
                              <m:mc>
                                <m:mcPr>
                                  <m:count m:val="1"/>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1</m:t>
                              </m:r>
                            </m:e>
                          </m:mr>
                          <m:mr>
                            <m:e>
                              <m:r>
                                <a:rPr lang="en-US" sz="2800" b="0" i="1" smtClean="0">
                                  <a:latin typeface="Cambria Math" panose="02040503050406030204" pitchFamily="18" charset="0"/>
                                </a:rPr>
                                <m:t>𝑖</m:t>
                              </m:r>
                            </m:e>
                          </m:mr>
                        </m:m>
                      </m:e>
                    </m:d>
                    <m:r>
                      <a:rPr lang="en-US" sz="2800" b="0" i="1" smtClean="0">
                        <a:latin typeface="Cambria Math" panose="02040503050406030204" pitchFamily="18" charset="0"/>
                      </a:rPr>
                      <m:t>,</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𝑢</m:t>
                        </m:r>
                      </m:e>
                      <m:sub>
                        <m:sSup>
                          <m:sSupPr>
                            <m:ctrlPr>
                              <a:rPr lang="en-US" sz="2800" i="1">
                                <a:latin typeface="Cambria Math" panose="02040503050406030204" pitchFamily="18" charset="0"/>
                              </a:rPr>
                            </m:ctrlPr>
                          </m:sSupPr>
                          <m:e>
                            <m:r>
                              <a:rPr lang="en-US" sz="2800" b="0" i="1" smtClean="0">
                                <a:latin typeface="Cambria Math" panose="02040503050406030204" pitchFamily="18" charset="0"/>
                              </a:rPr>
                              <m:t>𝑦</m:t>
                            </m:r>
                          </m:e>
                          <m:sup>
                            <m:r>
                              <a:rPr lang="en-US" sz="2800" b="0" i="1" smtClean="0">
                                <a:latin typeface="Cambria Math" panose="02040503050406030204" pitchFamily="18" charset="0"/>
                              </a:rPr>
                              <m:t>−</m:t>
                            </m:r>
                          </m:sup>
                        </m:sSup>
                      </m:sub>
                    </m:sSub>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ad>
                          <m:radPr>
                            <m:degHide m:val="on"/>
                            <m:ctrlPr>
                              <a:rPr lang="en-US" sz="2800" i="1">
                                <a:latin typeface="Cambria Math" panose="02040503050406030204" pitchFamily="18" charset="0"/>
                              </a:rPr>
                            </m:ctrlPr>
                          </m:radPr>
                          <m:deg/>
                          <m:e>
                            <m:r>
                              <a:rPr lang="en-US" sz="2800" i="1">
                                <a:latin typeface="Cambria Math" panose="02040503050406030204" pitchFamily="18" charset="0"/>
                              </a:rPr>
                              <m:t>2</m:t>
                            </m:r>
                          </m:e>
                        </m:rad>
                      </m:den>
                    </m:f>
                    <m:d>
                      <m:dPr>
                        <m:begChr m:val="["/>
                        <m:endChr m:val="]"/>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i="1">
                                  <a:latin typeface="Cambria Math" panose="02040503050406030204" pitchFamily="18" charset="0"/>
                                </a:rPr>
                                <m:t>1</m:t>
                              </m:r>
                            </m:e>
                          </m:mr>
                          <m:mr>
                            <m:e>
                              <m:r>
                                <a:rPr lang="en-US" sz="2800" b="0" i="1" smtClean="0">
                                  <a:latin typeface="Cambria Math" panose="02040503050406030204" pitchFamily="18" charset="0"/>
                                </a:rPr>
                                <m:t>−</m:t>
                              </m:r>
                              <m:r>
                                <a:rPr lang="en-US" sz="2800" b="0" i="1" smtClean="0">
                                  <a:latin typeface="Cambria Math" panose="02040503050406030204" pitchFamily="18" charset="0"/>
                                </a:rPr>
                                <m:t>𝑖</m:t>
                              </m:r>
                            </m:e>
                          </m:mr>
                        </m:m>
                      </m:e>
                    </m:d>
                  </m:oMath>
                </a14:m>
                <a:r>
                  <a:rPr lang="en-US" sz="2800"/>
                  <a:t> </a:t>
                </a:r>
              </a:p>
              <a:p>
                <a:pPr marL="0" indent="0">
                  <a:buNone/>
                </a:pPr>
                <a:endParaRPr lang="en-US" sz="2800"/>
              </a:p>
              <a:p>
                <a14:m>
                  <m:oMath xmlns:m="http://schemas.openxmlformats.org/officeDocument/2006/math">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𝑢</m:t>
                        </m:r>
                      </m:e>
                      <m:sub>
                        <m:sSup>
                          <m:sSupPr>
                            <m:ctrlPr>
                              <a:rPr lang="en-US" sz="2800" i="1">
                                <a:latin typeface="Cambria Math" panose="02040503050406030204" pitchFamily="18" charset="0"/>
                              </a:rPr>
                            </m:ctrlPr>
                          </m:sSupPr>
                          <m:e>
                            <m:r>
                              <a:rPr lang="en-US" sz="2800" b="0" i="1" smtClean="0">
                                <a:latin typeface="Cambria Math" panose="02040503050406030204" pitchFamily="18" charset="0"/>
                              </a:rPr>
                              <m:t>𝑧</m:t>
                            </m:r>
                          </m:e>
                          <m:sup>
                            <m:r>
                              <a:rPr lang="en-US" sz="2800" i="1">
                                <a:latin typeface="Cambria Math" panose="02040503050406030204" pitchFamily="18" charset="0"/>
                              </a:rPr>
                              <m:t>+</m:t>
                            </m:r>
                          </m:sup>
                        </m:sSup>
                      </m:sub>
                    </m:sSub>
                    <m:r>
                      <a:rPr lang="en-US" sz="2800" i="1">
                        <a:latin typeface="Cambria Math" panose="02040503050406030204" pitchFamily="18" charset="0"/>
                      </a:rPr>
                      <m:t>⟩=</m:t>
                    </m:r>
                    <m:d>
                      <m:dPr>
                        <m:begChr m:val="["/>
                        <m:endChr m:val="]"/>
                        <m:ctrlPr>
                          <a:rPr lang="en-US" sz="2800" b="0" i="1" smtClean="0">
                            <a:latin typeface="Cambria Math" panose="02040503050406030204" pitchFamily="18" charset="0"/>
                          </a:rPr>
                        </m:ctrlPr>
                      </m:dPr>
                      <m:e>
                        <m:m>
                          <m:mPr>
                            <m:mcs>
                              <m:mc>
                                <m:mcPr>
                                  <m:count m:val="1"/>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1</m:t>
                              </m:r>
                            </m:e>
                          </m:mr>
                          <m:mr>
                            <m:e>
                              <m:r>
                                <a:rPr lang="en-US" sz="2800" b="0" i="1" smtClean="0">
                                  <a:latin typeface="Cambria Math" panose="02040503050406030204" pitchFamily="18" charset="0"/>
                                </a:rPr>
                                <m:t>0</m:t>
                              </m:r>
                            </m:e>
                          </m:mr>
                        </m:m>
                      </m:e>
                    </m:d>
                    <m:r>
                      <a:rPr lang="en-US" sz="2800" b="0" i="1" smtClean="0">
                        <a:latin typeface="Cambria Math" panose="02040503050406030204" pitchFamily="18" charset="0"/>
                      </a:rPr>
                      <m:t>,</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𝑢</m:t>
                        </m:r>
                      </m:e>
                      <m:sub>
                        <m:sSup>
                          <m:sSupPr>
                            <m:ctrlPr>
                              <a:rPr lang="en-US" sz="2800" i="1">
                                <a:latin typeface="Cambria Math" panose="02040503050406030204" pitchFamily="18" charset="0"/>
                              </a:rPr>
                            </m:ctrlPr>
                          </m:sSupPr>
                          <m:e>
                            <m:r>
                              <a:rPr lang="en-US" sz="2800" b="0" i="1" smtClean="0">
                                <a:latin typeface="Cambria Math" panose="02040503050406030204" pitchFamily="18" charset="0"/>
                              </a:rPr>
                              <m:t>𝑧</m:t>
                            </m:r>
                          </m:e>
                          <m:sup>
                            <m:r>
                              <a:rPr lang="en-US" sz="2800" b="0" i="1" smtClean="0">
                                <a:latin typeface="Cambria Math" panose="02040503050406030204" pitchFamily="18" charset="0"/>
                              </a:rPr>
                              <m:t>−</m:t>
                            </m:r>
                          </m:sup>
                        </m:sSup>
                      </m:sub>
                    </m:sSub>
                    <m:r>
                      <a:rPr lang="en-US" sz="2800" i="1">
                        <a:latin typeface="Cambria Math" panose="02040503050406030204" pitchFamily="18" charset="0"/>
                      </a:rPr>
                      <m:t>⟩=</m:t>
                    </m:r>
                    <m:d>
                      <m:dPr>
                        <m:begChr m:val="["/>
                        <m:endChr m:val="]"/>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b="0" i="1" smtClean="0">
                                  <a:latin typeface="Cambria Math" panose="02040503050406030204" pitchFamily="18" charset="0"/>
                                </a:rPr>
                                <m:t>0</m:t>
                              </m:r>
                            </m:e>
                          </m:mr>
                          <m:mr>
                            <m:e>
                              <m:r>
                                <a:rPr lang="en-US" sz="2800" b="0" i="1" smtClean="0">
                                  <a:latin typeface="Cambria Math" panose="02040503050406030204" pitchFamily="18" charset="0"/>
                                </a:rPr>
                                <m:t>1</m:t>
                              </m:r>
                            </m:e>
                          </m:mr>
                        </m:m>
                      </m:e>
                    </m:d>
                  </m:oMath>
                </a14:m>
                <a:r>
                  <a:rPr lang="en-US" sz="2800"/>
                  <a:t> </a:t>
                </a:r>
              </a:p>
            </p:txBody>
          </p:sp>
        </mc:Choice>
        <mc:Fallback xmlns="">
          <p:sp>
            <p:nvSpPr>
              <p:cNvPr id="6" name="TextBox 5">
                <a:extLst>
                  <a:ext uri="{FF2B5EF4-FFF2-40B4-BE49-F238E27FC236}">
                    <a16:creationId xmlns:a16="http://schemas.microsoft.com/office/drawing/2014/main" id="{5D47C8C7-D187-4626-BEA3-99F898FE7F9E}"/>
                  </a:ext>
                </a:extLst>
              </p:cNvPr>
              <p:cNvSpPr txBox="1">
                <a:spLocks noRot="1" noChangeAspect="1" noMove="1" noResize="1" noEditPoints="1" noAdjustHandles="1" noChangeArrowheads="1" noChangeShapeType="1" noTextEdit="1"/>
              </p:cNvSpPr>
              <p:nvPr/>
            </p:nvSpPr>
            <p:spPr>
              <a:xfrm>
                <a:off x="1343798" y="2421924"/>
                <a:ext cx="6098058" cy="3254737"/>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Chỗ dành sẵn cho Nội dung 2">
                <a:extLst>
                  <a:ext uri="{FF2B5EF4-FFF2-40B4-BE49-F238E27FC236}">
                    <a16:creationId xmlns:a16="http://schemas.microsoft.com/office/drawing/2014/main" id="{C0866EB0-9ACA-F816-8029-9F151B62CE62}"/>
                  </a:ext>
                </a:extLst>
              </p:cNvPr>
              <p:cNvSpPr txBox="1">
                <a:spLocks/>
              </p:cNvSpPr>
              <p:nvPr/>
            </p:nvSpPr>
            <p:spPr>
              <a:xfrm>
                <a:off x="838199" y="6154866"/>
                <a:ext cx="9998677" cy="516867"/>
              </a:xfrm>
              <a:prstGeom prst="rect">
                <a:avLst/>
              </a:prstGeom>
              <a:ln>
                <a:solidFill>
                  <a:srgbClr val="FF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solidFill>
                      <a:srgbClr val="FF0000"/>
                    </a:solidFill>
                  </a:rPr>
                  <a:t>Exercise</a:t>
                </a:r>
                <a:r>
                  <a:rPr lang="en-US">
                    <a:solidFill>
                      <a:srgbClr val="FF0000"/>
                    </a:solidFill>
                  </a:rPr>
                  <a:t>: What are eigenstates of Identity matrix (</a:t>
                </a:r>
                <a14:m>
                  <m:oMath xmlns:m="http://schemas.openxmlformats.org/officeDocument/2006/math">
                    <m:sSup>
                      <m:sSupPr>
                        <m:ctrlPr>
                          <a:rPr lang="en-US" i="1" smtClean="0">
                            <a:solidFill>
                              <a:srgbClr val="FF0000"/>
                            </a:solidFill>
                            <a:latin typeface="Cambria Math" panose="02040503050406030204" pitchFamily="18" charset="0"/>
                          </a:rPr>
                        </m:ctrlPr>
                      </m:sSupPr>
                      <m:e>
                        <m:r>
                          <a:rPr lang="en-US" i="1" smtClean="0">
                            <a:solidFill>
                              <a:srgbClr val="FF0000"/>
                            </a:solidFill>
                            <a:latin typeface="Cambria Math" panose="02040503050406030204" pitchFamily="18" charset="0"/>
                          </a:rPr>
                          <m:t>0</m:t>
                        </m:r>
                      </m:e>
                      <m:sup>
                        <m:r>
                          <a:rPr lang="en-US" i="1" smtClean="0">
                            <a:solidFill>
                              <a:srgbClr val="FF0000"/>
                            </a:solidFill>
                            <a:latin typeface="Cambria Math" panose="02040503050406030204" pitchFamily="18" charset="0"/>
                          </a:rPr>
                          <m:t>𝑡h</m:t>
                        </m:r>
                      </m:sup>
                    </m:sSup>
                  </m:oMath>
                </a14:m>
                <a:r>
                  <a:rPr lang="en-US">
                    <a:solidFill>
                      <a:srgbClr val="FF0000"/>
                    </a:solidFill>
                  </a:rPr>
                  <a:t> Pauli matrix)?</a:t>
                </a:r>
                <a:endParaRPr lang="vi-VN">
                  <a:solidFill>
                    <a:srgbClr val="FF0000"/>
                  </a:solidFill>
                </a:endParaRPr>
              </a:p>
            </p:txBody>
          </p:sp>
        </mc:Choice>
        <mc:Fallback xmlns="">
          <p:sp>
            <p:nvSpPr>
              <p:cNvPr id="7" name="Chỗ dành sẵn cho Nội dung 2">
                <a:extLst>
                  <a:ext uri="{FF2B5EF4-FFF2-40B4-BE49-F238E27FC236}">
                    <a16:creationId xmlns:a16="http://schemas.microsoft.com/office/drawing/2014/main" id="{C0866EB0-9ACA-F816-8029-9F151B62CE62}"/>
                  </a:ext>
                </a:extLst>
              </p:cNvPr>
              <p:cNvSpPr txBox="1">
                <a:spLocks noRot="1" noChangeAspect="1" noMove="1" noResize="1" noEditPoints="1" noAdjustHandles="1" noChangeArrowheads="1" noChangeShapeType="1" noTextEdit="1"/>
              </p:cNvSpPr>
              <p:nvPr/>
            </p:nvSpPr>
            <p:spPr>
              <a:xfrm>
                <a:off x="838199" y="6154866"/>
                <a:ext cx="9998677" cy="516867"/>
              </a:xfrm>
              <a:prstGeom prst="rect">
                <a:avLst/>
              </a:prstGeom>
              <a:blipFill>
                <a:blip r:embed="rId4"/>
                <a:stretch>
                  <a:fillRect l="-1156" t="-17442" r="-243" b="-26744"/>
                </a:stretch>
              </a:blipFill>
              <a:ln>
                <a:solidFill>
                  <a:srgbClr val="FF0000"/>
                </a:solidFill>
              </a:ln>
            </p:spPr>
            <p:txBody>
              <a:bodyPr/>
              <a:lstStyle/>
              <a:p>
                <a:r>
                  <a:rPr lang="vi-VN">
                    <a:noFill/>
                  </a:rPr>
                  <a:t> </a:t>
                </a:r>
              </a:p>
            </p:txBody>
          </p:sp>
        </mc:Fallback>
      </mc:AlternateContent>
    </p:spTree>
    <p:extLst>
      <p:ext uri="{BB962C8B-B14F-4D97-AF65-F5344CB8AC3E}">
        <p14:creationId xmlns:p14="http://schemas.microsoft.com/office/powerpoint/2010/main" val="2655517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FCF2E88-C435-4E49-9DD1-ADBFBB922564}"/>
              </a:ext>
            </a:extLst>
          </p:cNvPr>
          <p:cNvSpPr>
            <a:spLocks noGrp="1"/>
          </p:cNvSpPr>
          <p:nvPr>
            <p:ph type="title"/>
          </p:nvPr>
        </p:nvSpPr>
        <p:spPr/>
        <p:txBody>
          <a:bodyPr/>
          <a:lstStyle/>
          <a:p>
            <a:r>
              <a:rPr lang="en-US"/>
              <a:t>Measurement</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2B335CE8-D9B8-418C-B58B-63C51B05C681}"/>
                  </a:ext>
                </a:extLst>
              </p:cNvPr>
              <p:cNvSpPr>
                <a:spLocks noGrp="1"/>
              </p:cNvSpPr>
              <p:nvPr>
                <p:ph idx="1"/>
              </p:nvPr>
            </p:nvSpPr>
            <p:spPr>
              <a:xfrm>
                <a:off x="838200" y="1825625"/>
                <a:ext cx="9592085" cy="988409"/>
              </a:xfrm>
            </p:spPr>
            <p:txBody>
              <a:bodyPr>
                <a:normAutofit/>
              </a:bodyPr>
              <a:lstStyle/>
              <a:p>
                <a:pPr marL="0" indent="0">
                  <a:buNone/>
                </a:pPr>
                <a:r>
                  <a:rPr lang="en-US"/>
                  <a:t>We can get expectation value through observable </a:t>
                </a:r>
                <a14:m>
                  <m:oMath xmlns:m="http://schemas.openxmlformats.org/officeDocument/2006/math">
                    <m:acc>
                      <m:accPr>
                        <m:chr m:val="̂"/>
                        <m:ctrlPr>
                          <a:rPr lang="vi-VN" sz="2800" b="0" i="1" smtClean="0">
                            <a:latin typeface="Cambria Math" panose="02040503050406030204" pitchFamily="18" charset="0"/>
                          </a:rPr>
                        </m:ctrlPr>
                      </m:accPr>
                      <m:e>
                        <m:r>
                          <a:rPr lang="en-US" sz="2800" i="1">
                            <a:latin typeface="Cambria Math" panose="02040503050406030204" pitchFamily="18" charset="0"/>
                          </a:rPr>
                          <m:t>𝐵</m:t>
                        </m:r>
                      </m:e>
                    </m:acc>
                  </m:oMath>
                </a14:m>
                <a:r>
                  <a:rPr lang="en-US"/>
                  <a:t>:</a:t>
                </a:r>
              </a:p>
              <a:p>
                <a:pPr marL="0" indent="0">
                  <a:buNone/>
                </a:pPr>
                <a:endParaRPr lang="en-US"/>
              </a:p>
            </p:txBody>
          </p:sp>
        </mc:Choice>
        <mc:Fallback xmlns="">
          <p:sp>
            <p:nvSpPr>
              <p:cNvPr id="3" name="Chỗ dành sẵn cho Nội dung 2">
                <a:extLst>
                  <a:ext uri="{FF2B5EF4-FFF2-40B4-BE49-F238E27FC236}">
                    <a16:creationId xmlns:a16="http://schemas.microsoft.com/office/drawing/2014/main" id="{2B335CE8-D9B8-418C-B58B-63C51B05C681}"/>
                  </a:ext>
                </a:extLst>
              </p:cNvPr>
              <p:cNvSpPr>
                <a:spLocks noGrp="1" noRot="1" noChangeAspect="1" noMove="1" noResize="1" noEditPoints="1" noAdjustHandles="1" noChangeArrowheads="1" noChangeShapeType="1" noTextEdit="1"/>
              </p:cNvSpPr>
              <p:nvPr>
                <p:ph idx="1"/>
              </p:nvPr>
            </p:nvSpPr>
            <p:spPr>
              <a:xfrm>
                <a:off x="838200" y="1825625"/>
                <a:ext cx="9592085" cy="988409"/>
              </a:xfrm>
              <a:blipFill>
                <a:blip r:embed="rId2"/>
                <a:stretch>
                  <a:fillRect l="-1335" t="-8589"/>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717AACA9-5762-4DBE-8994-EFB789714CD9}"/>
              </a:ext>
            </a:extLst>
          </p:cNvPr>
          <p:cNvSpPr>
            <a:spLocks noGrp="1"/>
          </p:cNvSpPr>
          <p:nvPr>
            <p:ph type="sldNum" sz="quarter" idx="12"/>
          </p:nvPr>
        </p:nvSpPr>
        <p:spPr/>
        <p:txBody>
          <a:bodyPr/>
          <a:lstStyle/>
          <a:p>
            <a:fld id="{71331178-9F85-4EDF-BDD3-1E7064DA4C59}" type="slidenum">
              <a:rPr lang="vi-VN" smtClean="0"/>
              <a:t>19</a:t>
            </a:fld>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69846E-3F2A-D01C-4E61-536838589610}"/>
                  </a:ext>
                </a:extLst>
              </p:cNvPr>
              <p:cNvSpPr txBox="1"/>
              <p:nvPr/>
            </p:nvSpPr>
            <p:spPr>
              <a:xfrm>
                <a:off x="1456923" y="2351021"/>
                <a:ext cx="2786666" cy="53476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𝐸</m:t>
                      </m:r>
                      <m:r>
                        <a:rPr lang="en-US" sz="2800" b="0" i="1" smtClean="0">
                          <a:latin typeface="Cambria Math" panose="02040503050406030204" pitchFamily="18" charset="0"/>
                        </a:rPr>
                        <m:t>⟩=⟨</m:t>
                      </m:r>
                      <m:r>
                        <a:rPr lang="vi-VN" sz="2800" b="0" i="1">
                          <a:latin typeface="Cambria Math" panose="02040503050406030204" pitchFamily="18" charset="0"/>
                        </a:rPr>
                        <m:t>𝜓</m:t>
                      </m:r>
                      <m:r>
                        <a:rPr lang="vi-VN" sz="2800" b="0" i="1">
                          <a:latin typeface="Cambria Math" panose="02040503050406030204" pitchFamily="18" charset="0"/>
                        </a:rPr>
                        <m:t>|</m:t>
                      </m:r>
                      <m:acc>
                        <m:accPr>
                          <m:chr m:val="̂"/>
                          <m:ctrlPr>
                            <a:rPr lang="vi-VN" sz="2800" b="0" i="1">
                              <a:latin typeface="Cambria Math" panose="02040503050406030204" pitchFamily="18" charset="0"/>
                            </a:rPr>
                          </m:ctrlPr>
                        </m:accPr>
                        <m:e>
                          <m:r>
                            <a:rPr lang="vi-VN" sz="2800" i="1">
                              <a:latin typeface="Cambria Math" panose="02040503050406030204" pitchFamily="18" charset="0"/>
                            </a:rPr>
                            <m:t>𝐵</m:t>
                          </m:r>
                        </m:e>
                      </m:acc>
                      <m:r>
                        <a:rPr lang="vi-VN" sz="2800" b="0" i="1">
                          <a:latin typeface="Cambria Math" panose="02040503050406030204" pitchFamily="18" charset="0"/>
                        </a:rPr>
                        <m:t>|</m:t>
                      </m:r>
                      <m:r>
                        <a:rPr lang="vi-VN" sz="2800" b="0" i="1">
                          <a:latin typeface="Cambria Math" panose="02040503050406030204" pitchFamily="18" charset="0"/>
                        </a:rPr>
                        <m:t>𝜓</m:t>
                      </m:r>
                      <m:r>
                        <a:rPr lang="vi-VN" sz="2800" b="0" i="1">
                          <a:latin typeface="Cambria Math" panose="02040503050406030204" pitchFamily="18" charset="0"/>
                        </a:rPr>
                        <m:t>⟩</m:t>
                      </m:r>
                    </m:oMath>
                  </m:oMathPara>
                </a14:m>
                <a:endParaRPr lang="en-US" sz="2800"/>
              </a:p>
            </p:txBody>
          </p:sp>
        </mc:Choice>
        <mc:Fallback xmlns="">
          <p:sp>
            <p:nvSpPr>
              <p:cNvPr id="6" name="TextBox 5">
                <a:extLst>
                  <a:ext uri="{FF2B5EF4-FFF2-40B4-BE49-F238E27FC236}">
                    <a16:creationId xmlns:a16="http://schemas.microsoft.com/office/drawing/2014/main" id="{A569846E-3F2A-D01C-4E61-536838589610}"/>
                  </a:ext>
                </a:extLst>
              </p:cNvPr>
              <p:cNvSpPr txBox="1">
                <a:spLocks noRot="1" noChangeAspect="1" noMove="1" noResize="1" noEditPoints="1" noAdjustHandles="1" noChangeArrowheads="1" noChangeShapeType="1" noTextEdit="1"/>
              </p:cNvSpPr>
              <p:nvPr/>
            </p:nvSpPr>
            <p:spPr>
              <a:xfrm>
                <a:off x="1456923" y="2351021"/>
                <a:ext cx="2786666" cy="534762"/>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C785304-8D73-C0E4-8F29-ECB800920050}"/>
                  </a:ext>
                </a:extLst>
              </p:cNvPr>
              <p:cNvSpPr txBox="1"/>
              <p:nvPr/>
            </p:nvSpPr>
            <p:spPr>
              <a:xfrm>
                <a:off x="838200" y="2917323"/>
                <a:ext cx="6094926" cy="534762"/>
              </a:xfrm>
              <a:prstGeom prst="rect">
                <a:avLst/>
              </a:prstGeom>
              <a:noFill/>
            </p:spPr>
            <p:txBody>
              <a:bodyPr wrap="square">
                <a:spAutoFit/>
              </a:bodyPr>
              <a:lstStyle/>
              <a:p>
                <a:pPr marL="0" indent="0">
                  <a:buNone/>
                </a:pPr>
                <a:r>
                  <a:rPr lang="en-US" sz="2800"/>
                  <a:t>If </a:t>
                </a:r>
                <a14:m>
                  <m:oMath xmlns:m="http://schemas.openxmlformats.org/officeDocument/2006/math">
                    <m:acc>
                      <m:accPr>
                        <m:chr m:val="̂"/>
                        <m:ctrlPr>
                          <a:rPr lang="vi-VN" sz="2800" b="0" i="1">
                            <a:latin typeface="Cambria Math" panose="02040503050406030204" pitchFamily="18" charset="0"/>
                          </a:rPr>
                        </m:ctrlPr>
                      </m:accPr>
                      <m:e>
                        <m:r>
                          <a:rPr lang="en-US" sz="2800" i="1">
                            <a:latin typeface="Cambria Math" panose="02040503050406030204" pitchFamily="18" charset="0"/>
                          </a:rPr>
                          <m:t>𝐵</m:t>
                        </m:r>
                      </m:e>
                    </m:acc>
                    <m:r>
                      <a:rPr lang="vi-VN" sz="2800" b="0" i="1">
                        <a:latin typeface="Cambria Math" panose="02040503050406030204" pitchFamily="18" charset="0"/>
                      </a:rPr>
                      <m:t>=|0⟩⟨0|</m:t>
                    </m:r>
                  </m:oMath>
                </a14:m>
                <a:r>
                  <a:rPr lang="en-US" sz="2800"/>
                  <a:t>:</a:t>
                </a:r>
              </a:p>
            </p:txBody>
          </p:sp>
        </mc:Choice>
        <mc:Fallback xmlns="">
          <p:sp>
            <p:nvSpPr>
              <p:cNvPr id="8" name="TextBox 7">
                <a:extLst>
                  <a:ext uri="{FF2B5EF4-FFF2-40B4-BE49-F238E27FC236}">
                    <a16:creationId xmlns:a16="http://schemas.microsoft.com/office/drawing/2014/main" id="{AC785304-8D73-C0E4-8F29-ECB800920050}"/>
                  </a:ext>
                </a:extLst>
              </p:cNvPr>
              <p:cNvSpPr txBox="1">
                <a:spLocks noRot="1" noChangeAspect="1" noMove="1" noResize="1" noEditPoints="1" noAdjustHandles="1" noChangeArrowheads="1" noChangeShapeType="1" noTextEdit="1"/>
              </p:cNvSpPr>
              <p:nvPr/>
            </p:nvSpPr>
            <p:spPr>
              <a:xfrm>
                <a:off x="838200" y="2917323"/>
                <a:ext cx="6094926" cy="534762"/>
              </a:xfrm>
              <a:prstGeom prst="rect">
                <a:avLst/>
              </a:prstGeom>
              <a:blipFill>
                <a:blip r:embed="rId4"/>
                <a:stretch>
                  <a:fillRect l="-2102" t="-9195" b="-3333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5F758AB-6258-0D2A-B940-96A3C10E0BF3}"/>
                  </a:ext>
                </a:extLst>
              </p:cNvPr>
              <p:cNvSpPr txBox="1"/>
              <p:nvPr/>
            </p:nvSpPr>
            <p:spPr>
              <a:xfrm>
                <a:off x="838200" y="3483625"/>
                <a:ext cx="609492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m:t>
                      </m:r>
                      <m:r>
                        <a:rPr lang="en-US" sz="2800" i="1" smtClean="0">
                          <a:latin typeface="Cambria Math" panose="02040503050406030204" pitchFamily="18" charset="0"/>
                        </a:rPr>
                        <m:t>𝐸</m:t>
                      </m:r>
                      <m:r>
                        <a:rPr lang="en-US" sz="2800" i="1" smtClean="0">
                          <a:latin typeface="Cambria Math" panose="02040503050406030204" pitchFamily="18" charset="0"/>
                        </a:rPr>
                        <m:t>⟩=</m:t>
                      </m:r>
                      <m:d>
                        <m:dPr>
                          <m:begChr m:val="⟨"/>
                          <m:endChr m:val="⟩"/>
                          <m:ctrlPr>
                            <a:rPr lang="vi-VN" sz="2800" i="1">
                              <a:latin typeface="Cambria Math" panose="02040503050406030204" pitchFamily="18" charset="0"/>
                            </a:rPr>
                          </m:ctrlPr>
                        </m:dPr>
                        <m:e>
                          <m:r>
                            <a:rPr lang="vi-VN" sz="2800" i="1">
                              <a:latin typeface="Cambria Math" panose="02040503050406030204" pitchFamily="18" charset="0"/>
                            </a:rPr>
                            <m:t>𝜓</m:t>
                          </m:r>
                        </m:e>
                        <m:e>
                          <m:r>
                            <a:rPr lang="vi-VN" sz="2800" b="0" i="1">
                              <a:latin typeface="Cambria Math" panose="02040503050406030204" pitchFamily="18" charset="0"/>
                            </a:rPr>
                            <m:t>0</m:t>
                          </m:r>
                        </m:e>
                      </m:d>
                      <m:d>
                        <m:dPr>
                          <m:begChr m:val="⟨"/>
                          <m:endChr m:val="⟩"/>
                          <m:ctrlPr>
                            <a:rPr lang="vi-VN" sz="2800" b="0" i="1">
                              <a:latin typeface="Cambria Math" panose="02040503050406030204" pitchFamily="18" charset="0"/>
                            </a:rPr>
                          </m:ctrlPr>
                        </m:dPr>
                        <m:e>
                          <m:r>
                            <a:rPr lang="vi-VN" sz="2800" b="0" i="1">
                              <a:latin typeface="Cambria Math" panose="02040503050406030204" pitchFamily="18" charset="0"/>
                            </a:rPr>
                            <m:t>0</m:t>
                          </m:r>
                        </m:e>
                        <m:e>
                          <m:r>
                            <a:rPr lang="vi-VN" sz="2800" i="1">
                              <a:latin typeface="Cambria Math" panose="02040503050406030204" pitchFamily="18" charset="0"/>
                            </a:rPr>
                            <m:t>𝜓</m:t>
                          </m:r>
                        </m:e>
                      </m:d>
                      <m:r>
                        <a:rPr lang="vi-VN" sz="2800" b="0" i="1">
                          <a:latin typeface="Cambria Math" panose="02040503050406030204" pitchFamily="18" charset="0"/>
                        </a:rPr>
                        <m:t>=</m:t>
                      </m:r>
                      <m:sSup>
                        <m:sSupPr>
                          <m:ctrlPr>
                            <a:rPr lang="vi-VN" sz="2800" b="0" i="1">
                              <a:latin typeface="Cambria Math" panose="02040503050406030204" pitchFamily="18" charset="0"/>
                            </a:rPr>
                          </m:ctrlPr>
                        </m:sSupPr>
                        <m:e>
                          <m:d>
                            <m:dPr>
                              <m:begChr m:val="|"/>
                              <m:endChr m:val="|"/>
                              <m:ctrlPr>
                                <a:rPr lang="vi-VN" sz="2800" b="0" i="1">
                                  <a:latin typeface="Cambria Math" panose="02040503050406030204" pitchFamily="18" charset="0"/>
                                </a:rPr>
                              </m:ctrlPr>
                            </m:dPr>
                            <m:e>
                              <m:d>
                                <m:dPr>
                                  <m:begChr m:val="⟨"/>
                                  <m:endChr m:val="⟩"/>
                                  <m:ctrlPr>
                                    <a:rPr lang="vi-VN" sz="2800" i="1">
                                      <a:latin typeface="Cambria Math" panose="02040503050406030204" pitchFamily="18" charset="0"/>
                                    </a:rPr>
                                  </m:ctrlPr>
                                </m:dPr>
                                <m:e>
                                  <m:r>
                                    <a:rPr lang="en-US" sz="2800" b="0" i="1" smtClean="0">
                                      <a:latin typeface="Cambria Math" panose="02040503050406030204" pitchFamily="18" charset="0"/>
                                    </a:rPr>
                                    <m:t>0</m:t>
                                  </m:r>
                                </m:e>
                                <m:e>
                                  <m:r>
                                    <a:rPr lang="en-US" sz="2800" b="0" i="1" smtClean="0">
                                      <a:latin typeface="Cambria Math" panose="02040503050406030204" pitchFamily="18" charset="0"/>
                                    </a:rPr>
                                    <m:t>𝜓</m:t>
                                  </m:r>
                                </m:e>
                              </m:d>
                            </m:e>
                          </m:d>
                        </m:e>
                        <m:sup>
                          <m:r>
                            <a:rPr lang="vi-VN" sz="2800" b="0" i="1">
                              <a:latin typeface="Cambria Math" panose="02040503050406030204" pitchFamily="18" charset="0"/>
                            </a:rPr>
                            <m:t>2</m:t>
                          </m:r>
                        </m:sup>
                      </m:sSup>
                    </m:oMath>
                  </m:oMathPara>
                </a14:m>
                <a:endParaRPr lang="vi-VN" sz="2800"/>
              </a:p>
            </p:txBody>
          </p:sp>
        </mc:Choice>
        <mc:Fallback xmlns="">
          <p:sp>
            <p:nvSpPr>
              <p:cNvPr id="10" name="TextBox 9">
                <a:extLst>
                  <a:ext uri="{FF2B5EF4-FFF2-40B4-BE49-F238E27FC236}">
                    <a16:creationId xmlns:a16="http://schemas.microsoft.com/office/drawing/2014/main" id="{D5F758AB-6258-0D2A-B940-96A3C10E0BF3}"/>
                  </a:ext>
                </a:extLst>
              </p:cNvPr>
              <p:cNvSpPr txBox="1">
                <a:spLocks noRot="1" noChangeAspect="1" noMove="1" noResize="1" noEditPoints="1" noAdjustHandles="1" noChangeArrowheads="1" noChangeShapeType="1" noTextEdit="1"/>
              </p:cNvSpPr>
              <p:nvPr/>
            </p:nvSpPr>
            <p:spPr>
              <a:xfrm>
                <a:off x="838200" y="3483625"/>
                <a:ext cx="6094926" cy="523220"/>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Chỗ dành sẵn cho Nội dung 2">
                <a:extLst>
                  <a:ext uri="{FF2B5EF4-FFF2-40B4-BE49-F238E27FC236}">
                    <a16:creationId xmlns:a16="http://schemas.microsoft.com/office/drawing/2014/main" id="{E3682813-B757-2AE8-308D-612D10B647D4}"/>
                  </a:ext>
                </a:extLst>
              </p:cNvPr>
              <p:cNvSpPr txBox="1">
                <a:spLocks/>
              </p:cNvSpPr>
              <p:nvPr/>
            </p:nvSpPr>
            <p:spPr>
              <a:xfrm>
                <a:off x="838200" y="4100970"/>
                <a:ext cx="10842938" cy="564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If </a:t>
                </a:r>
                <a14:m>
                  <m:oMath xmlns:m="http://schemas.openxmlformats.org/officeDocument/2006/math">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𝜓</m:t>
                        </m:r>
                      </m:e>
                    </m:d>
                    <m:r>
                      <a:rPr lang="en-US" i="1" smtClean="0">
                        <a:latin typeface="Cambria Math" panose="02040503050406030204" pitchFamily="18" charset="0"/>
                      </a:rPr>
                      <m:t>=</m:t>
                    </m:r>
                    <m:r>
                      <a:rPr lang="en-US" i="1" smtClean="0">
                        <a:latin typeface="Cambria Math" panose="02040503050406030204" pitchFamily="18" charset="0"/>
                      </a:rPr>
                      <m:t>𝛼</m:t>
                    </m:r>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0</m:t>
                        </m:r>
                      </m:e>
                    </m:d>
                    <m:r>
                      <a:rPr lang="en-US" i="1" smtClean="0">
                        <a:latin typeface="Cambria Math" panose="02040503050406030204" pitchFamily="18" charset="0"/>
                      </a:rPr>
                      <m:t>+</m:t>
                    </m:r>
                    <m:r>
                      <a:rPr lang="en-US" i="1" smtClean="0">
                        <a:latin typeface="Cambria Math" panose="02040503050406030204" pitchFamily="18" charset="0"/>
                      </a:rPr>
                      <m:t>𝛽</m:t>
                    </m:r>
                    <m:r>
                      <a:rPr lang="en-US" i="1" smtClean="0">
                        <a:latin typeface="Cambria Math" panose="02040503050406030204" pitchFamily="18" charset="0"/>
                      </a:rPr>
                      <m:t>|1⟩</m:t>
                    </m:r>
                    <m:r>
                      <a:rPr lang="en-US" smtClean="0">
                        <a:latin typeface="Cambria Math" panose="02040503050406030204" pitchFamily="18" charset="0"/>
                      </a:rPr>
                      <m:t>:</m:t>
                    </m:r>
                  </m:oMath>
                </a14:m>
                <a:endParaRPr lang="en-US"/>
              </a:p>
            </p:txBody>
          </p:sp>
        </mc:Choice>
        <mc:Fallback xmlns="">
          <p:sp>
            <p:nvSpPr>
              <p:cNvPr id="11" name="Chỗ dành sẵn cho Nội dung 2">
                <a:extLst>
                  <a:ext uri="{FF2B5EF4-FFF2-40B4-BE49-F238E27FC236}">
                    <a16:creationId xmlns:a16="http://schemas.microsoft.com/office/drawing/2014/main" id="{E3682813-B757-2AE8-308D-612D10B647D4}"/>
                  </a:ext>
                </a:extLst>
              </p:cNvPr>
              <p:cNvSpPr txBox="1">
                <a:spLocks noRot="1" noChangeAspect="1" noMove="1" noResize="1" noEditPoints="1" noAdjustHandles="1" noChangeArrowheads="1" noChangeShapeType="1" noTextEdit="1"/>
              </p:cNvSpPr>
              <p:nvPr/>
            </p:nvSpPr>
            <p:spPr>
              <a:xfrm>
                <a:off x="838200" y="4100970"/>
                <a:ext cx="10842938" cy="564032"/>
              </a:xfrm>
              <a:prstGeom prst="rect">
                <a:avLst/>
              </a:prstGeom>
              <a:blipFill>
                <a:blip r:embed="rId6"/>
                <a:stretch>
                  <a:fillRect l="-1181" t="-18478" b="-1630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B637ABE-22AC-BD8E-C3E3-5CDEE0EA60B0}"/>
                  </a:ext>
                </a:extLst>
              </p:cNvPr>
              <p:cNvSpPr txBox="1"/>
              <p:nvPr/>
            </p:nvSpPr>
            <p:spPr>
              <a:xfrm>
                <a:off x="8610600" y="815386"/>
                <a:ext cx="3187521" cy="523220"/>
              </a:xfrm>
              <a:prstGeom prst="rect">
                <a:avLst/>
              </a:prstGeom>
              <a:noFill/>
              <a:ln>
                <a:solidFill>
                  <a:srgbClr val="FF0000"/>
                </a:solidFill>
              </a:ln>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𝑥</m:t>
                          </m:r>
                        </m:e>
                        <m:e>
                          <m:r>
                            <a:rPr lang="en-US" sz="2800" b="0" i="1" smtClean="0">
                              <a:solidFill>
                                <a:srgbClr val="FF0000"/>
                              </a:solidFill>
                              <a:latin typeface="Cambria Math" panose="02040503050406030204" pitchFamily="18" charset="0"/>
                            </a:rPr>
                            <m:t>𝑥</m:t>
                          </m:r>
                        </m:e>
                      </m:d>
                      <m:r>
                        <a:rPr lang="en-US" sz="2800" b="0" i="1" smtClean="0">
                          <a:solidFill>
                            <a:srgbClr val="FF0000"/>
                          </a:solidFill>
                          <a:latin typeface="Cambria Math" panose="02040503050406030204" pitchFamily="18" charset="0"/>
                        </a:rPr>
                        <m:t>=1,</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𝑥</m:t>
                          </m:r>
                        </m:e>
                        <m:e>
                          <m:r>
                            <a:rPr lang="en-US" sz="2800" b="0" i="1" smtClean="0">
                              <a:solidFill>
                                <a:srgbClr val="FF0000"/>
                              </a:solidFill>
                              <a:latin typeface="Cambria Math" panose="02040503050406030204" pitchFamily="18" charset="0"/>
                            </a:rPr>
                            <m:t>𝑦</m:t>
                          </m:r>
                        </m:e>
                      </m:d>
                      <m:r>
                        <a:rPr lang="en-US" sz="2800" b="0" i="1" smtClean="0">
                          <a:solidFill>
                            <a:srgbClr val="FF0000"/>
                          </a:solidFill>
                          <a:latin typeface="Cambria Math" panose="02040503050406030204" pitchFamily="18" charset="0"/>
                        </a:rPr>
                        <m:t>=0</m:t>
                      </m:r>
                    </m:oMath>
                  </m:oMathPara>
                </a14:m>
                <a:endParaRPr lang="vi-VN" sz="2800">
                  <a:solidFill>
                    <a:srgbClr val="FF0000"/>
                  </a:solidFill>
                </a:endParaRPr>
              </a:p>
            </p:txBody>
          </p:sp>
        </mc:Choice>
        <mc:Fallback xmlns="">
          <p:sp>
            <p:nvSpPr>
              <p:cNvPr id="12" name="TextBox 11">
                <a:extLst>
                  <a:ext uri="{FF2B5EF4-FFF2-40B4-BE49-F238E27FC236}">
                    <a16:creationId xmlns:a16="http://schemas.microsoft.com/office/drawing/2014/main" id="{0B637ABE-22AC-BD8E-C3E3-5CDEE0EA60B0}"/>
                  </a:ext>
                </a:extLst>
              </p:cNvPr>
              <p:cNvSpPr txBox="1">
                <a:spLocks noRot="1" noChangeAspect="1" noMove="1" noResize="1" noEditPoints="1" noAdjustHandles="1" noChangeArrowheads="1" noChangeShapeType="1" noTextEdit="1"/>
              </p:cNvSpPr>
              <p:nvPr/>
            </p:nvSpPr>
            <p:spPr>
              <a:xfrm>
                <a:off x="8610600" y="815386"/>
                <a:ext cx="3187521" cy="523220"/>
              </a:xfrm>
              <a:prstGeom prst="rect">
                <a:avLst/>
              </a:prstGeom>
              <a:blipFill>
                <a:blip r:embed="rId7"/>
                <a:stretch>
                  <a:fillRect/>
                </a:stretch>
              </a:blipFill>
              <a:ln>
                <a:solidFill>
                  <a:srgbClr val="FF000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781A31B-844C-AED1-10BF-AB43DA9085D1}"/>
                  </a:ext>
                </a:extLst>
              </p:cNvPr>
              <p:cNvSpPr txBox="1"/>
              <p:nvPr/>
            </p:nvSpPr>
            <p:spPr>
              <a:xfrm>
                <a:off x="1654935" y="4602417"/>
                <a:ext cx="105563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𝐸</m:t>
                          </m:r>
                        </m:e>
                      </m:d>
                      <m:r>
                        <a:rPr lang="en-US" sz="2800" i="1">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𝛼</m:t>
                              </m:r>
                            </m:e>
                          </m:d>
                        </m:e>
                        <m:sup>
                          <m:r>
                            <a:rPr lang="en-US" sz="2800" i="1">
                              <a:latin typeface="Cambria Math" panose="02040503050406030204" pitchFamily="18" charset="0"/>
                            </a:rPr>
                            <m:t>2</m:t>
                          </m:r>
                        </m:sup>
                      </m:sSup>
                      <m:r>
                        <a:rPr lang="en-US" sz="2800" b="0" i="1" smtClean="0">
                          <a:latin typeface="Cambria Math" panose="02040503050406030204" pitchFamily="18" charset="0"/>
                        </a:rPr>
                        <m:t>=</m:t>
                      </m:r>
                      <m:r>
                        <a:rPr lang="en-US" sz="2800" i="1">
                          <a:latin typeface="Cambria Math" panose="02040503050406030204" pitchFamily="18" charset="0"/>
                        </a:rPr>
                        <m:t>𝑝</m:t>
                      </m:r>
                      <m:r>
                        <a:rPr lang="en-US" sz="2800" i="1">
                          <a:latin typeface="Cambria Math" panose="02040503050406030204" pitchFamily="18" charset="0"/>
                        </a:rPr>
                        <m:t>(0)</m:t>
                      </m:r>
                    </m:oMath>
                  </m:oMathPara>
                </a14:m>
                <a:endParaRPr lang="en-US" sz="2800"/>
              </a:p>
            </p:txBody>
          </p:sp>
        </mc:Choice>
        <mc:Fallback xmlns="">
          <p:sp>
            <p:nvSpPr>
              <p:cNvPr id="14" name="TextBox 13">
                <a:extLst>
                  <a:ext uri="{FF2B5EF4-FFF2-40B4-BE49-F238E27FC236}">
                    <a16:creationId xmlns:a16="http://schemas.microsoft.com/office/drawing/2014/main" id="{0781A31B-844C-AED1-10BF-AB43DA9085D1}"/>
                  </a:ext>
                </a:extLst>
              </p:cNvPr>
              <p:cNvSpPr txBox="1">
                <a:spLocks noRot="1" noChangeAspect="1" noMove="1" noResize="1" noEditPoints="1" noAdjustHandles="1" noChangeArrowheads="1" noChangeShapeType="1" noTextEdit="1"/>
              </p:cNvSpPr>
              <p:nvPr/>
            </p:nvSpPr>
            <p:spPr>
              <a:xfrm>
                <a:off x="1654935" y="4602417"/>
                <a:ext cx="10556382" cy="523220"/>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2CD4529-C794-5A8B-F2F7-BFDD1647B581}"/>
                  </a:ext>
                </a:extLst>
              </p:cNvPr>
              <p:cNvSpPr txBox="1"/>
              <p:nvPr/>
            </p:nvSpPr>
            <p:spPr>
              <a:xfrm>
                <a:off x="949342" y="6270378"/>
                <a:ext cx="5389369" cy="461665"/>
              </a:xfrm>
              <a:prstGeom prst="rect">
                <a:avLst/>
              </a:prstGeom>
              <a:noFill/>
              <a:ln>
                <a:solidFill>
                  <a:srgbClr val="FF0000"/>
                </a:solidFill>
              </a:ln>
            </p:spPr>
            <p:txBody>
              <a:bodyPr wrap="square">
                <a:spAutoFit/>
              </a:bodyPr>
              <a:lstStyle/>
              <a:p>
                <a:r>
                  <a:rPr lang="en-US" sz="2400" b="1">
                    <a:solidFill>
                      <a:srgbClr val="FF0000"/>
                    </a:solidFill>
                  </a:rPr>
                  <a:t>Note that</a:t>
                </a:r>
                <a:r>
                  <a:rPr lang="en-US" sz="2400">
                    <a:solidFill>
                      <a:srgbClr val="FF0000"/>
                    </a:solidFill>
                  </a:rPr>
                  <a:t>: </a:t>
                </a:r>
                <a14:m>
                  <m:oMath xmlns:m="http://schemas.openxmlformats.org/officeDocument/2006/math">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𝑍</m:t>
                        </m:r>
                      </m:e>
                    </m:d>
                    <m:r>
                      <a:rPr lang="en-US" sz="2400" b="0" i="1" smtClean="0">
                        <a:solidFill>
                          <a:srgbClr val="FF0000"/>
                        </a:solidFill>
                        <a:latin typeface="Cambria Math" panose="02040503050406030204" pitchFamily="18" charset="0"/>
                      </a:rPr>
                      <m:t>=</m:t>
                    </m:r>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𝜓</m:t>
                        </m:r>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𝑍</m:t>
                            </m:r>
                          </m:e>
                        </m:d>
                        <m:r>
                          <a:rPr lang="en-US" sz="2400" b="0" i="1" smtClean="0">
                            <a:solidFill>
                              <a:srgbClr val="FF0000"/>
                            </a:solidFill>
                            <a:latin typeface="Cambria Math" panose="02040503050406030204" pitchFamily="18" charset="0"/>
                          </a:rPr>
                          <m:t>𝜓</m:t>
                        </m:r>
                      </m:e>
                    </m:d>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𝑝</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0</m:t>
                        </m:r>
                      </m:e>
                    </m:d>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𝑝</m:t>
                    </m:r>
                    <m:r>
                      <a:rPr lang="en-US" sz="2400" b="0" i="1" smtClean="0">
                        <a:solidFill>
                          <a:srgbClr val="FF0000"/>
                        </a:solidFill>
                        <a:latin typeface="Cambria Math" panose="02040503050406030204" pitchFamily="18" charset="0"/>
                      </a:rPr>
                      <m:t>(1)</m:t>
                    </m:r>
                  </m:oMath>
                </a14:m>
                <a:endParaRPr lang="en-US" sz="2400">
                  <a:solidFill>
                    <a:srgbClr val="FF0000"/>
                  </a:solidFill>
                </a:endParaRPr>
              </a:p>
            </p:txBody>
          </p:sp>
        </mc:Choice>
        <mc:Fallback xmlns="">
          <p:sp>
            <p:nvSpPr>
              <p:cNvPr id="5" name="TextBox 4">
                <a:extLst>
                  <a:ext uri="{FF2B5EF4-FFF2-40B4-BE49-F238E27FC236}">
                    <a16:creationId xmlns:a16="http://schemas.microsoft.com/office/drawing/2014/main" id="{F2CD4529-C794-5A8B-F2F7-BFDD1647B581}"/>
                  </a:ext>
                </a:extLst>
              </p:cNvPr>
              <p:cNvSpPr txBox="1">
                <a:spLocks noRot="1" noChangeAspect="1" noMove="1" noResize="1" noEditPoints="1" noAdjustHandles="1" noChangeArrowheads="1" noChangeShapeType="1" noTextEdit="1"/>
              </p:cNvSpPr>
              <p:nvPr/>
            </p:nvSpPr>
            <p:spPr>
              <a:xfrm>
                <a:off x="949342" y="6270378"/>
                <a:ext cx="5389369" cy="461665"/>
              </a:xfrm>
              <a:prstGeom prst="rect">
                <a:avLst/>
              </a:prstGeom>
              <a:blipFill>
                <a:blip r:embed="rId9"/>
                <a:stretch>
                  <a:fillRect l="-1693" t="-9091" b="-28571"/>
                </a:stretch>
              </a:blipFill>
              <a:ln>
                <a:solidFill>
                  <a:srgbClr val="FF0000"/>
                </a:solidFill>
              </a:ln>
            </p:spPr>
            <p:txBody>
              <a:bodyPr/>
              <a:lstStyle/>
              <a:p>
                <a:r>
                  <a:rPr lang="vi-VN">
                    <a:noFill/>
                  </a:rPr>
                  <a:t> </a:t>
                </a:r>
              </a:p>
            </p:txBody>
          </p:sp>
        </mc:Fallback>
      </mc:AlternateContent>
    </p:spTree>
    <p:extLst>
      <p:ext uri="{BB962C8B-B14F-4D97-AF65-F5344CB8AC3E}">
        <p14:creationId xmlns:p14="http://schemas.microsoft.com/office/powerpoint/2010/main" val="2386186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C72C8-03E4-0944-D2A1-BB949ACD5E3A}"/>
              </a:ext>
            </a:extLst>
          </p:cNvPr>
          <p:cNvSpPr>
            <a:spLocks noGrp="1"/>
          </p:cNvSpPr>
          <p:nvPr>
            <p:ph type="title"/>
          </p:nvPr>
        </p:nvSpPr>
        <p:spPr>
          <a:xfrm>
            <a:off x="838200" y="26464"/>
            <a:ext cx="10515600" cy="1325563"/>
          </a:xfrm>
        </p:spPr>
        <p:txBody>
          <a:bodyPr/>
          <a:lstStyle/>
          <a:p>
            <a:r>
              <a:rPr lang="en-US"/>
              <a:t>Measurement</a:t>
            </a:r>
            <a:endParaRPr lang="vi-V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CFB741-FCB0-1080-DCA0-232FE40F4FCD}"/>
                  </a:ext>
                </a:extLst>
              </p:cNvPr>
              <p:cNvSpPr>
                <a:spLocks noGrp="1"/>
              </p:cNvSpPr>
              <p:nvPr>
                <p:ph idx="1"/>
              </p:nvPr>
            </p:nvSpPr>
            <p:spPr>
              <a:xfrm>
                <a:off x="838200" y="2929940"/>
                <a:ext cx="10515600" cy="1849008"/>
              </a:xfrm>
            </p:spPr>
            <p:txBody>
              <a:bodyPr>
                <a:normAutofit/>
              </a:bodyPr>
              <a:lstStyle/>
              <a:p>
                <a:pPr marL="0" indent="0">
                  <a:buNone/>
                </a:pPr>
                <a:r>
                  <a:rPr lang="en-US"/>
                  <a:t>The measurement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𝐵</m:t>
                        </m:r>
                      </m:e>
                    </m:acc>
                  </m:oMath>
                </a14:m>
                <a:r>
                  <a:rPr lang="en-US"/>
                  <a:t> 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oMath>
                </a14:m>
                <a:r>
                  <a:rPr lang="en-US"/>
                  <a:t> give eigenvalue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𝑗</m:t>
                        </m:r>
                      </m:sub>
                    </m:sSub>
                  </m:oMath>
                </a14:m>
                <a:r>
                  <a:rPr lang="en-US"/>
                  <a:t> with probability:</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b="0" i="1" smtClean="0">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𝜓</m:t>
                              </m:r>
                              <m:r>
                                <a:rPr lang="en-US" b="0" i="1" smtClean="0">
                                  <a:latin typeface="Cambria Math" panose="02040503050406030204" pitchFamily="18" charset="0"/>
                                </a:rPr>
                                <m:t>⟩</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𝑗</m:t>
                                  </m:r>
                                </m:sub>
                              </m:sSub>
                            </m:e>
                          </m:d>
                        </m:e>
                        <m:sup>
                          <m:r>
                            <a:rPr lang="en-US" b="0" i="1" smtClean="0">
                              <a:latin typeface="Cambria Math" panose="02040503050406030204" pitchFamily="18" charset="0"/>
                            </a:rPr>
                            <m:t>2</m:t>
                          </m:r>
                        </m:sup>
                      </m:sSup>
                    </m:oMath>
                  </m:oMathPara>
                </a14:m>
                <a:endParaRPr lang="en-US"/>
              </a:p>
              <a:p>
                <a:pPr marL="0" indent="0">
                  <a:buNone/>
                </a:pPr>
                <a:r>
                  <a:rPr lang="en-US"/>
                  <a:t>If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𝐵</m:t>
                        </m:r>
                      </m:e>
                    </m:acc>
                    <m:r>
                      <a:rPr lang="en-US" b="0" i="1" smtClean="0">
                        <a:latin typeface="Cambria Math" panose="02040503050406030204" pitchFamily="18" charset="0"/>
                      </a:rPr>
                      <m:t>=</m:t>
                    </m:r>
                    <m:r>
                      <a:rPr lang="en-US" b="0" i="1" smtClean="0">
                        <a:latin typeface="Cambria Math" panose="02040503050406030204" pitchFamily="18" charset="0"/>
                      </a:rPr>
                      <m:t>𝑍</m:t>
                    </m:r>
                  </m:oMath>
                </a14:m>
                <a:r>
                  <a:rPr lang="en-US"/>
                  <a:t>, it naturally fit with above rule </a:t>
                </a:r>
                <a14:m>
                  <m:oMath xmlns:m="http://schemas.openxmlformats.org/officeDocument/2006/math">
                    <m:r>
                      <a:rPr lang="en-US" b="0" i="1" smtClean="0">
                        <a:latin typeface="Cambria Math" panose="02040503050406030204" pitchFamily="18" charset="0"/>
                      </a:rPr>
                      <m:t>⇒</m:t>
                    </m:r>
                  </m:oMath>
                </a14:m>
                <a:r>
                  <a:rPr lang="en-US"/>
                  <a:t> Measuring with </a:t>
                </a:r>
                <a14:m>
                  <m:oMath xmlns:m="http://schemas.openxmlformats.org/officeDocument/2006/math">
                    <m:r>
                      <a:rPr lang="en-US" b="0" i="1" smtClean="0">
                        <a:latin typeface="Cambria Math" panose="02040503050406030204" pitchFamily="18" charset="0"/>
                      </a:rPr>
                      <m:t>𝑍</m:t>
                    </m:r>
                  </m:oMath>
                </a14:m>
                <a:r>
                  <a:rPr lang="en-US"/>
                  <a:t> is default.</a:t>
                </a:r>
                <a:endParaRPr lang="vi-VN"/>
              </a:p>
            </p:txBody>
          </p:sp>
        </mc:Choice>
        <mc:Fallback xmlns="">
          <p:sp>
            <p:nvSpPr>
              <p:cNvPr id="3" name="Content Placeholder 2">
                <a:extLst>
                  <a:ext uri="{FF2B5EF4-FFF2-40B4-BE49-F238E27FC236}">
                    <a16:creationId xmlns:a16="http://schemas.microsoft.com/office/drawing/2014/main" id="{0ACFB741-FCB0-1080-DCA0-232FE40F4FCD}"/>
                  </a:ext>
                </a:extLst>
              </p:cNvPr>
              <p:cNvSpPr>
                <a:spLocks noGrp="1" noRot="1" noChangeAspect="1" noMove="1" noResize="1" noEditPoints="1" noAdjustHandles="1" noChangeArrowheads="1" noChangeShapeType="1" noTextEdit="1"/>
              </p:cNvSpPr>
              <p:nvPr>
                <p:ph idx="1"/>
              </p:nvPr>
            </p:nvSpPr>
            <p:spPr>
              <a:xfrm>
                <a:off x="838200" y="2929940"/>
                <a:ext cx="10515600" cy="1849008"/>
              </a:xfrm>
              <a:blipFill>
                <a:blip r:embed="rId2"/>
                <a:stretch>
                  <a:fillRect l="-1217" t="-4620"/>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7EB50677-2A08-5B91-26B6-0786365C01E4}"/>
              </a:ext>
            </a:extLst>
          </p:cNvPr>
          <p:cNvSpPr>
            <a:spLocks noGrp="1"/>
          </p:cNvSpPr>
          <p:nvPr>
            <p:ph type="sldNum" sz="quarter" idx="12"/>
          </p:nvPr>
        </p:nvSpPr>
        <p:spPr/>
        <p:txBody>
          <a:bodyPr/>
          <a:lstStyle/>
          <a:p>
            <a:fld id="{71331178-9F85-4EDF-BDD3-1E7064DA4C59}" type="slidenum">
              <a:rPr lang="vi-VN" smtClean="0"/>
              <a:t>20</a:t>
            </a:fld>
            <a:endParaRPr lang="vi-V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19D6395-DD83-629F-1ED0-03A33B66AA0F}"/>
                  </a:ext>
                </a:extLst>
              </p:cNvPr>
              <p:cNvSpPr txBox="1"/>
              <p:nvPr/>
            </p:nvSpPr>
            <p:spPr>
              <a:xfrm>
                <a:off x="949342" y="1209256"/>
                <a:ext cx="5214017" cy="1632113"/>
              </a:xfrm>
              <a:prstGeom prst="rect">
                <a:avLst/>
              </a:prstGeom>
              <a:noFill/>
              <a:ln>
                <a:solidFill>
                  <a:srgbClr val="FF0000"/>
                </a:solidFill>
              </a:ln>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𝜓</m:t>
                          </m:r>
                        </m:e>
                      </m:d>
                      <m:r>
                        <a:rPr lang="en-US" sz="2800" b="0" i="1" smtClean="0">
                          <a:solidFill>
                            <a:srgbClr val="FF0000"/>
                          </a:solidFill>
                          <a:latin typeface="Cambria Math" panose="02040503050406030204" pitchFamily="18" charset="0"/>
                        </a:rPr>
                        <m:t>=</m:t>
                      </m:r>
                      <m:nary>
                        <m:naryPr>
                          <m:chr m:val="∑"/>
                          <m:subHide m:val="on"/>
                          <m:supHide m:val="on"/>
                          <m:ctrlPr>
                            <a:rPr lang="en-US" sz="2800" b="0" i="1" smtClean="0">
                              <a:solidFill>
                                <a:srgbClr val="FF0000"/>
                              </a:solidFill>
                              <a:latin typeface="Cambria Math" panose="02040503050406030204" pitchFamily="18" charset="0"/>
                            </a:rPr>
                          </m:ctrlPr>
                        </m:naryPr>
                        <m:sub/>
                        <m:sup/>
                        <m:e>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𝛼</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𝑢</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e>
                      </m:nary>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𝑎</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𝑢</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𝜓</m:t>
                      </m:r>
                      <m:r>
                        <a:rPr lang="en-US" sz="2800" b="0" i="1" smtClean="0">
                          <a:solidFill>
                            <a:srgbClr val="FF0000"/>
                          </a:solidFill>
                          <a:latin typeface="Cambria Math" panose="02040503050406030204" pitchFamily="18" charset="0"/>
                        </a:rPr>
                        <m:t>⟩</m:t>
                      </m:r>
                    </m:oMath>
                  </m:oMathPara>
                </a14:m>
                <a:endParaRPr lang="en-US" sz="2800" b="0" i="1">
                  <a:solidFill>
                    <a:srgbClr val="FF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acc>
                        <m:accPr>
                          <m:chr m:val="̂"/>
                          <m:ctrlPr>
                            <a:rPr lang="en-US" sz="2800" b="0" i="1" smtClean="0">
                              <a:solidFill>
                                <a:srgbClr val="FF0000"/>
                              </a:solidFill>
                              <a:latin typeface="Cambria Math" panose="02040503050406030204" pitchFamily="18" charset="0"/>
                            </a:rPr>
                          </m:ctrlPr>
                        </m:accPr>
                        <m:e>
                          <m:r>
                            <a:rPr lang="en-US" sz="2800" b="0" i="1" smtClean="0">
                              <a:solidFill>
                                <a:srgbClr val="FF0000"/>
                              </a:solidFill>
                              <a:latin typeface="Cambria Math" panose="02040503050406030204" pitchFamily="18" charset="0"/>
                            </a:rPr>
                            <m:t>𝐵</m:t>
                          </m:r>
                        </m:e>
                      </m:acc>
                      <m:d>
                        <m:dPr>
                          <m:begChr m:val="|"/>
                          <m:endChr m:val="⟩"/>
                          <m:ctrlPr>
                            <a:rPr lang="en-US" sz="2800" b="0" i="1" smtClean="0">
                              <a:solidFill>
                                <a:srgbClr val="FF0000"/>
                              </a:solidFill>
                              <a:latin typeface="Cambria Math" panose="02040503050406030204" pitchFamily="18" charset="0"/>
                            </a:rPr>
                          </m:ctrlPr>
                        </m:dPr>
                        <m:e>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𝑢</m:t>
                              </m:r>
                            </m:e>
                            <m:sub>
                              <m:r>
                                <a:rPr lang="en-US" sz="2800" b="0" i="1" smtClean="0">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𝜆</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𝑢</m:t>
                          </m:r>
                        </m:e>
                        <m:sub>
                          <m:r>
                            <a:rPr lang="en-US" sz="2800" b="0" i="1" smtClean="0">
                              <a:solidFill>
                                <a:srgbClr val="FF0000"/>
                              </a:solidFill>
                              <a:latin typeface="Cambria Math" panose="02040503050406030204" pitchFamily="18" charset="0"/>
                            </a:rPr>
                            <m:t>𝑗</m:t>
                          </m:r>
                        </m:sub>
                      </m:sSub>
                      <m:r>
                        <a:rPr lang="en-US" sz="2800" b="0" i="1" smtClean="0">
                          <a:solidFill>
                            <a:srgbClr val="FF0000"/>
                          </a:solidFill>
                          <a:latin typeface="Cambria Math" panose="02040503050406030204" pitchFamily="18" charset="0"/>
                        </a:rPr>
                        <m:t>⟩</m:t>
                      </m:r>
                    </m:oMath>
                  </m:oMathPara>
                </a14:m>
                <a:endParaRPr lang="vi-VN" sz="2800">
                  <a:solidFill>
                    <a:srgbClr val="FF0000"/>
                  </a:solidFill>
                </a:endParaRPr>
              </a:p>
            </p:txBody>
          </p:sp>
        </mc:Choice>
        <mc:Fallback xmlns="">
          <p:sp>
            <p:nvSpPr>
              <p:cNvPr id="5" name="TextBox 4">
                <a:extLst>
                  <a:ext uri="{FF2B5EF4-FFF2-40B4-BE49-F238E27FC236}">
                    <a16:creationId xmlns:a16="http://schemas.microsoft.com/office/drawing/2014/main" id="{D19D6395-DD83-629F-1ED0-03A33B66AA0F}"/>
                  </a:ext>
                </a:extLst>
              </p:cNvPr>
              <p:cNvSpPr txBox="1">
                <a:spLocks noRot="1" noChangeAspect="1" noMove="1" noResize="1" noEditPoints="1" noAdjustHandles="1" noChangeArrowheads="1" noChangeShapeType="1" noTextEdit="1"/>
              </p:cNvSpPr>
              <p:nvPr/>
            </p:nvSpPr>
            <p:spPr>
              <a:xfrm>
                <a:off x="949342" y="1209256"/>
                <a:ext cx="5214017" cy="1632113"/>
              </a:xfrm>
              <a:prstGeom prst="rect">
                <a:avLst/>
              </a:prstGeom>
              <a:blipFill>
                <a:blip r:embed="rId3"/>
                <a:stretch>
                  <a:fillRect/>
                </a:stretch>
              </a:blipFill>
              <a:ln>
                <a:solidFill>
                  <a:srgbClr val="FF000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312ED5B-ED2B-FC7D-8C79-3CB068100FF1}"/>
                  </a:ext>
                </a:extLst>
              </p:cNvPr>
              <p:cNvSpPr txBox="1"/>
              <p:nvPr/>
            </p:nvSpPr>
            <p:spPr>
              <a:xfrm>
                <a:off x="6262713" y="2010372"/>
                <a:ext cx="4979945" cy="830997"/>
              </a:xfrm>
              <a:prstGeom prst="rect">
                <a:avLst/>
              </a:prstGeom>
              <a:noFill/>
              <a:ln>
                <a:solidFill>
                  <a:srgbClr val="FF0000"/>
                </a:solidFill>
              </a:ln>
            </p:spPr>
            <p:txBody>
              <a:bodyPr wrap="square">
                <a:spAutoFit/>
              </a:bodyPr>
              <a:lstStyle/>
              <a:p>
                <a14:m>
                  <m:oMath xmlns:m="http://schemas.openxmlformats.org/officeDocument/2006/math">
                    <m:r>
                      <a:rPr lang="en-US" sz="2400" b="0" i="1" smtClean="0">
                        <a:solidFill>
                          <a:srgbClr val="FF0000"/>
                        </a:solidFill>
                        <a:latin typeface="Cambria Math" panose="02040503050406030204" pitchFamily="18" charset="0"/>
                      </a:rPr>
                      <m:t>𝑍</m:t>
                    </m:r>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0</m:t>
                        </m:r>
                      </m:e>
                    </m:d>
                    <m:r>
                      <a:rPr lang="en-US" sz="2400" b="0" i="1" smtClean="0">
                        <a:solidFill>
                          <a:srgbClr val="FF0000"/>
                        </a:solidFill>
                        <a:latin typeface="Cambria Math" panose="02040503050406030204" pitchFamily="18" charset="0"/>
                      </a:rPr>
                      <m:t>=</m:t>
                    </m:r>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0</m:t>
                        </m:r>
                      </m:e>
                    </m:d>
                    <m:r>
                      <a:rPr lang="en-US" sz="2400" b="0" i="0" smtClean="0">
                        <a:solidFill>
                          <a:srgbClr val="FF0000"/>
                        </a:solidFill>
                        <a:latin typeface="Cambria Math" panose="02040503050406030204" pitchFamily="18" charset="0"/>
                      </a:rPr>
                      <m:t>→</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𝜆</m:t>
                        </m:r>
                      </m:e>
                      <m:sub>
                        <m:r>
                          <a:rPr lang="en-US" sz="2400" b="0" i="1" smtClean="0">
                            <a:solidFill>
                              <a:srgbClr val="FF0000"/>
                            </a:solidFill>
                            <a:latin typeface="Cambria Math" panose="02040503050406030204" pitchFamily="18" charset="0"/>
                          </a:rPr>
                          <m:t>0</m:t>
                        </m:r>
                      </m:sub>
                    </m:sSub>
                    <m:r>
                      <a:rPr lang="en-US" sz="2400" b="0" i="1" smtClean="0">
                        <a:solidFill>
                          <a:srgbClr val="FF0000"/>
                        </a:solidFill>
                        <a:latin typeface="Cambria Math" panose="02040503050406030204" pitchFamily="18" charset="0"/>
                      </a:rPr>
                      <m:t>=1,</m:t>
                    </m:r>
                    <m:d>
                      <m:dPr>
                        <m:begChr m:val="|"/>
                        <m:endChr m:val="⟩"/>
                        <m:ctrlPr>
                          <a:rPr lang="en-US" sz="2400" b="0" i="1" smtClean="0">
                            <a:solidFill>
                              <a:srgbClr val="FF0000"/>
                            </a:solidFill>
                            <a:latin typeface="Cambria Math" panose="02040503050406030204" pitchFamily="18" charset="0"/>
                          </a:rPr>
                        </m:ctrlPr>
                      </m:dPr>
                      <m:e>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𝑢</m:t>
                            </m:r>
                          </m:e>
                          <m:sub>
                            <m:r>
                              <a:rPr lang="en-US" sz="2400" b="0" i="1" smtClean="0">
                                <a:solidFill>
                                  <a:srgbClr val="FF0000"/>
                                </a:solidFill>
                                <a:latin typeface="Cambria Math" panose="02040503050406030204" pitchFamily="18" charset="0"/>
                              </a:rPr>
                              <m:t>0</m:t>
                            </m:r>
                          </m:sub>
                        </m:sSub>
                      </m:e>
                    </m:d>
                    <m:r>
                      <a:rPr lang="en-US" sz="2400" b="0" i="1" smtClean="0">
                        <a:solidFill>
                          <a:srgbClr val="FF0000"/>
                        </a:solidFill>
                        <a:latin typeface="Cambria Math" panose="02040503050406030204" pitchFamily="18" charset="0"/>
                      </a:rPr>
                      <m:t>=|0⟩</m:t>
                    </m:r>
                  </m:oMath>
                </a14:m>
                <a:r>
                  <a:rPr lang="en-US" sz="2400">
                    <a:solidFill>
                      <a:srgbClr val="FF0000"/>
                    </a:solidFill>
                  </a:rPr>
                  <a:t> </a:t>
                </a:r>
              </a:p>
              <a:p>
                <a14:m>
                  <m:oMath xmlns:m="http://schemas.openxmlformats.org/officeDocument/2006/math">
                    <m:r>
                      <a:rPr lang="en-US" sz="2400" b="0" i="1" smtClean="0">
                        <a:solidFill>
                          <a:srgbClr val="FF0000"/>
                        </a:solidFill>
                        <a:latin typeface="Cambria Math" panose="02040503050406030204" pitchFamily="18" charset="0"/>
                      </a:rPr>
                      <m:t>𝑍</m:t>
                    </m:r>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1</m:t>
                        </m:r>
                      </m:e>
                    </m:d>
                    <m:r>
                      <a:rPr lang="en-US" sz="2400" b="0" i="1" smtClean="0">
                        <a:solidFill>
                          <a:srgbClr val="FF0000"/>
                        </a:solidFill>
                        <a:latin typeface="Cambria Math" panose="02040503050406030204" pitchFamily="18" charset="0"/>
                      </a:rPr>
                      <m:t>=−|1⟩</m:t>
                    </m:r>
                  </m:oMath>
                </a14:m>
                <a:r>
                  <a:rPr lang="en-US" sz="2400">
                    <a:solidFill>
                      <a:srgbClr val="FF0000"/>
                    </a:solidFill>
                  </a:rPr>
                  <a:t> </a:t>
                </a:r>
                <a14:m>
                  <m:oMath xmlns:m="http://schemas.openxmlformats.org/officeDocument/2006/math">
                    <m:r>
                      <a:rPr lang="en-US" sz="2400">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𝜆</m:t>
                        </m:r>
                      </m:e>
                      <m:sub>
                        <m:r>
                          <a:rPr lang="en-US" sz="2400" b="0" i="1" smtClean="0">
                            <a:solidFill>
                              <a:srgbClr val="FF0000"/>
                            </a:solidFill>
                            <a:latin typeface="Cambria Math" panose="02040503050406030204" pitchFamily="18" charset="0"/>
                          </a:rPr>
                          <m:t>1</m:t>
                        </m:r>
                      </m:sub>
                    </m:sSub>
                    <m:r>
                      <a:rPr lang="en-US" sz="240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1,</m:t>
                    </m:r>
                    <m:d>
                      <m:dPr>
                        <m:begChr m:val="|"/>
                        <m:endChr m:val="⟩"/>
                        <m:ctrlPr>
                          <a:rPr lang="en-US" sz="2400" i="1">
                            <a:solidFill>
                              <a:srgbClr val="FF0000"/>
                            </a:solidFill>
                            <a:latin typeface="Cambria Math" panose="02040503050406030204" pitchFamily="18" charset="0"/>
                          </a:rPr>
                        </m:ctrlPr>
                      </m:dPr>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𝑢</m:t>
                            </m:r>
                          </m:e>
                          <m:sub>
                            <m:r>
                              <a:rPr lang="en-US" sz="2400" b="0" i="1" smtClean="0">
                                <a:solidFill>
                                  <a:srgbClr val="FF0000"/>
                                </a:solidFill>
                                <a:latin typeface="Cambria Math" panose="02040503050406030204" pitchFamily="18" charset="0"/>
                              </a:rPr>
                              <m:t>1</m:t>
                            </m:r>
                          </m:sub>
                        </m:sSub>
                      </m:e>
                    </m:d>
                    <m:r>
                      <a:rPr lang="en-US" sz="240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m:t>
                    </m:r>
                  </m:oMath>
                </a14:m>
                <a:r>
                  <a:rPr lang="en-US" sz="2400">
                    <a:solidFill>
                      <a:srgbClr val="FF0000"/>
                    </a:solidFill>
                  </a:rPr>
                  <a:t> </a:t>
                </a:r>
              </a:p>
            </p:txBody>
          </p:sp>
        </mc:Choice>
        <mc:Fallback xmlns="">
          <p:sp>
            <p:nvSpPr>
              <p:cNvPr id="9" name="TextBox 8">
                <a:extLst>
                  <a:ext uri="{FF2B5EF4-FFF2-40B4-BE49-F238E27FC236}">
                    <a16:creationId xmlns:a16="http://schemas.microsoft.com/office/drawing/2014/main" id="{E312ED5B-ED2B-FC7D-8C79-3CB068100FF1}"/>
                  </a:ext>
                </a:extLst>
              </p:cNvPr>
              <p:cNvSpPr txBox="1">
                <a:spLocks noRot="1" noChangeAspect="1" noMove="1" noResize="1" noEditPoints="1" noAdjustHandles="1" noChangeArrowheads="1" noChangeShapeType="1" noTextEdit="1"/>
              </p:cNvSpPr>
              <p:nvPr/>
            </p:nvSpPr>
            <p:spPr>
              <a:xfrm>
                <a:off x="6262713" y="2010372"/>
                <a:ext cx="4979945" cy="830997"/>
              </a:xfrm>
              <a:prstGeom prst="rect">
                <a:avLst/>
              </a:prstGeom>
              <a:blipFill>
                <a:blip r:embed="rId4"/>
                <a:stretch>
                  <a:fillRect l="-122" b="-8696"/>
                </a:stretch>
              </a:blipFill>
              <a:ln>
                <a:solidFill>
                  <a:srgbClr val="FF0000"/>
                </a:solidFill>
              </a:ln>
            </p:spPr>
            <p:txBody>
              <a:bodyPr/>
              <a:lstStyle/>
              <a:p>
                <a:r>
                  <a:rPr lang="vi-VN">
                    <a:noFill/>
                  </a:rPr>
                  <a:t> </a:t>
                </a:r>
              </a:p>
            </p:txBody>
          </p:sp>
        </mc:Fallback>
      </mc:AlternateContent>
      <p:cxnSp>
        <p:nvCxnSpPr>
          <p:cNvPr id="20" name="Straight Connector 19">
            <a:extLst>
              <a:ext uri="{FF2B5EF4-FFF2-40B4-BE49-F238E27FC236}">
                <a16:creationId xmlns:a16="http://schemas.microsoft.com/office/drawing/2014/main" id="{E424AC3C-B240-C366-903C-5528C79FB2CD}"/>
              </a:ext>
            </a:extLst>
          </p:cNvPr>
          <p:cNvCxnSpPr>
            <a:cxnSpLocks/>
            <a:endCxn id="21" idx="1"/>
          </p:cNvCxnSpPr>
          <p:nvPr/>
        </p:nvCxnSpPr>
        <p:spPr>
          <a:xfrm>
            <a:off x="923732" y="5049525"/>
            <a:ext cx="1051991" cy="0"/>
          </a:xfrm>
          <a:prstGeom prst="line">
            <a:avLst/>
          </a:prstGeom>
          <a:ln w="38100"/>
        </p:spPr>
        <p:style>
          <a:lnRef idx="1">
            <a:schemeClr val="dk1"/>
          </a:lnRef>
          <a:fillRef idx="0">
            <a:schemeClr val="dk1"/>
          </a:fillRef>
          <a:effectRef idx="0">
            <a:schemeClr val="dk1"/>
          </a:effectRef>
          <a:fontRef idx="minor">
            <a:schemeClr val="tx1"/>
          </a:fontRef>
        </p:style>
      </p:cxnSp>
      <p:sp>
        <p:nvSpPr>
          <p:cNvPr id="21" name="Hình chữ nhật 93">
            <a:extLst>
              <a:ext uri="{FF2B5EF4-FFF2-40B4-BE49-F238E27FC236}">
                <a16:creationId xmlns:a16="http://schemas.microsoft.com/office/drawing/2014/main" id="{59600E14-06BC-872D-C57E-C897D9B21FF1}"/>
              </a:ext>
            </a:extLst>
          </p:cNvPr>
          <p:cNvSpPr/>
          <p:nvPr/>
        </p:nvSpPr>
        <p:spPr>
          <a:xfrm>
            <a:off x="1975723" y="4896058"/>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22" name="Arc 21">
            <a:extLst>
              <a:ext uri="{FF2B5EF4-FFF2-40B4-BE49-F238E27FC236}">
                <a16:creationId xmlns:a16="http://schemas.microsoft.com/office/drawing/2014/main" id="{984DF057-1E53-EF0F-4EF9-A43574637E29}"/>
              </a:ext>
            </a:extLst>
          </p:cNvPr>
          <p:cNvSpPr/>
          <p:nvPr/>
        </p:nvSpPr>
        <p:spPr>
          <a:xfrm>
            <a:off x="2031420" y="5040658"/>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23" name="Straight Arrow Connector 22">
            <a:extLst>
              <a:ext uri="{FF2B5EF4-FFF2-40B4-BE49-F238E27FC236}">
                <a16:creationId xmlns:a16="http://schemas.microsoft.com/office/drawing/2014/main" id="{AD164081-5E4C-8A5B-2400-B0A09D5EDB43}"/>
              </a:ext>
            </a:extLst>
          </p:cNvPr>
          <p:cNvCxnSpPr>
            <a:cxnSpLocks/>
          </p:cNvCxnSpPr>
          <p:nvPr/>
        </p:nvCxnSpPr>
        <p:spPr>
          <a:xfrm flipV="1">
            <a:off x="2085636" y="4963029"/>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C541B2E-7743-F0F1-6E64-C26B4E92A935}"/>
              </a:ext>
            </a:extLst>
          </p:cNvPr>
          <p:cNvCxnSpPr>
            <a:cxnSpLocks/>
          </p:cNvCxnSpPr>
          <p:nvPr/>
        </p:nvCxnSpPr>
        <p:spPr>
          <a:xfrm>
            <a:off x="949342" y="5862328"/>
            <a:ext cx="216415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683150F7-9DC4-AE75-BE8A-AA0881E30A3B}"/>
              </a:ext>
            </a:extLst>
          </p:cNvPr>
          <p:cNvCxnSpPr>
            <a:cxnSpLocks/>
          </p:cNvCxnSpPr>
          <p:nvPr/>
        </p:nvCxnSpPr>
        <p:spPr>
          <a:xfrm>
            <a:off x="949342" y="5807291"/>
            <a:ext cx="2164155" cy="0"/>
          </a:xfrm>
          <a:prstGeom prst="line">
            <a:avLst/>
          </a:prstGeom>
          <a:ln w="28575"/>
        </p:spPr>
        <p:style>
          <a:lnRef idx="1">
            <a:schemeClr val="dk1"/>
          </a:lnRef>
          <a:fillRef idx="0">
            <a:schemeClr val="dk1"/>
          </a:fillRef>
          <a:effectRef idx="0">
            <a:schemeClr val="dk1"/>
          </a:effectRef>
          <a:fontRef idx="minor">
            <a:schemeClr val="tx1"/>
          </a:fontRef>
        </p:style>
      </p:cxnSp>
      <p:sp>
        <p:nvSpPr>
          <p:cNvPr id="26" name="Arrow: Down 25">
            <a:extLst>
              <a:ext uri="{FF2B5EF4-FFF2-40B4-BE49-F238E27FC236}">
                <a16:creationId xmlns:a16="http://schemas.microsoft.com/office/drawing/2014/main" id="{3C8BBC2F-0D61-0EB1-2106-2DBC987EBA29}"/>
              </a:ext>
            </a:extLst>
          </p:cNvPr>
          <p:cNvSpPr/>
          <p:nvPr/>
        </p:nvSpPr>
        <p:spPr>
          <a:xfrm>
            <a:off x="2080431" y="5204470"/>
            <a:ext cx="116340" cy="572617"/>
          </a:xfrm>
          <a:prstGeom prst="downArrow">
            <a:avLst>
              <a:gd name="adj1" fmla="val 50000"/>
              <a:gd name="adj2" fmla="val 5272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517741D-05ED-7E1C-94EB-88E7B8A17646}"/>
                  </a:ext>
                </a:extLst>
              </p:cNvPr>
              <p:cNvSpPr txBox="1"/>
              <p:nvPr/>
            </p:nvSpPr>
            <p:spPr>
              <a:xfrm>
                <a:off x="923732" y="5479492"/>
                <a:ext cx="1772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xmlns="">
          <p:sp>
            <p:nvSpPr>
              <p:cNvPr id="27" name="TextBox 26">
                <a:extLst>
                  <a:ext uri="{FF2B5EF4-FFF2-40B4-BE49-F238E27FC236}">
                    <a16:creationId xmlns:a16="http://schemas.microsoft.com/office/drawing/2014/main" id="{1517741D-05ED-7E1C-94EB-88E7B8A17646}"/>
                  </a:ext>
                </a:extLst>
              </p:cNvPr>
              <p:cNvSpPr txBox="1">
                <a:spLocks noRot="1" noChangeAspect="1" noMove="1" noResize="1" noEditPoints="1" noAdjustHandles="1" noChangeArrowheads="1" noChangeShapeType="1" noTextEdit="1"/>
              </p:cNvSpPr>
              <p:nvPr/>
            </p:nvSpPr>
            <p:spPr>
              <a:xfrm>
                <a:off x="923732" y="5479492"/>
                <a:ext cx="177228" cy="276999"/>
              </a:xfrm>
              <a:prstGeom prst="rect">
                <a:avLst/>
              </a:prstGeom>
              <a:blipFill>
                <a:blip r:embed="rId5"/>
                <a:stretch>
                  <a:fillRect l="-17241" r="-10345" b="-222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0C98D4B-A299-A41A-B493-BE73A8C88101}"/>
                  </a:ext>
                </a:extLst>
              </p:cNvPr>
              <p:cNvSpPr txBox="1"/>
              <p:nvPr/>
            </p:nvSpPr>
            <p:spPr>
              <a:xfrm>
                <a:off x="2059206" y="4586345"/>
                <a:ext cx="20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oMath>
                  </m:oMathPara>
                </a14:m>
                <a:endParaRPr lang="vi-VN"/>
              </a:p>
            </p:txBody>
          </p:sp>
        </mc:Choice>
        <mc:Fallback xmlns="">
          <p:sp>
            <p:nvSpPr>
              <p:cNvPr id="28" name="TextBox 27">
                <a:extLst>
                  <a:ext uri="{FF2B5EF4-FFF2-40B4-BE49-F238E27FC236}">
                    <a16:creationId xmlns:a16="http://schemas.microsoft.com/office/drawing/2014/main" id="{60C98D4B-A299-A41A-B493-BE73A8C88101}"/>
                  </a:ext>
                </a:extLst>
              </p:cNvPr>
              <p:cNvSpPr txBox="1">
                <a:spLocks noRot="1" noChangeAspect="1" noMove="1" noResize="1" noEditPoints="1" noAdjustHandles="1" noChangeArrowheads="1" noChangeShapeType="1" noTextEdit="1"/>
              </p:cNvSpPr>
              <p:nvPr/>
            </p:nvSpPr>
            <p:spPr>
              <a:xfrm>
                <a:off x="2059206" y="4586345"/>
                <a:ext cx="206017" cy="276999"/>
              </a:xfrm>
              <a:prstGeom prst="rect">
                <a:avLst/>
              </a:prstGeom>
              <a:blipFill>
                <a:blip r:embed="rId6"/>
                <a:stretch>
                  <a:fillRect l="-26471" r="-20588" b="-869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9BB1B8C-0DF5-52AF-742B-C79E4E89FBF3}"/>
                  </a:ext>
                </a:extLst>
              </p:cNvPr>
              <p:cNvSpPr txBox="1"/>
              <p:nvPr/>
            </p:nvSpPr>
            <p:spPr>
              <a:xfrm>
                <a:off x="3776133" y="5201296"/>
                <a:ext cx="158044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e>
                      </m:d>
                    </m:oMath>
                  </m:oMathPara>
                </a14:m>
                <a:endParaRPr lang="vi-VN"/>
              </a:p>
            </p:txBody>
          </p:sp>
        </mc:Choice>
        <mc:Fallback xmlns="">
          <p:sp>
            <p:nvSpPr>
              <p:cNvPr id="30" name="TextBox 29">
                <a:extLst>
                  <a:ext uri="{FF2B5EF4-FFF2-40B4-BE49-F238E27FC236}">
                    <a16:creationId xmlns:a16="http://schemas.microsoft.com/office/drawing/2014/main" id="{59BB1B8C-0DF5-52AF-742B-C79E4E89FBF3}"/>
                  </a:ext>
                </a:extLst>
              </p:cNvPr>
              <p:cNvSpPr txBox="1">
                <a:spLocks noRot="1" noChangeAspect="1" noMove="1" noResize="1" noEditPoints="1" noAdjustHandles="1" noChangeArrowheads="1" noChangeShapeType="1" noTextEdit="1"/>
              </p:cNvSpPr>
              <p:nvPr/>
            </p:nvSpPr>
            <p:spPr>
              <a:xfrm>
                <a:off x="3776133" y="5201296"/>
                <a:ext cx="1580445" cy="369332"/>
              </a:xfrm>
              <a:prstGeom prst="rect">
                <a:avLst/>
              </a:prstGeom>
              <a:blipFill>
                <a:blip r:embed="rId7"/>
                <a:stretch>
                  <a:fillRect/>
                </a:stretch>
              </a:blipFill>
            </p:spPr>
            <p:txBody>
              <a:bodyPr/>
              <a:lstStyle/>
              <a:p>
                <a:r>
                  <a:rPr lang="vi-VN">
                    <a:noFill/>
                  </a:rPr>
                  <a:t> </a:t>
                </a:r>
              </a:p>
            </p:txBody>
          </p:sp>
        </mc:Fallback>
      </mc:AlternateContent>
      <p:cxnSp>
        <p:nvCxnSpPr>
          <p:cNvPr id="33" name="Straight Arrow Connector 32">
            <a:extLst>
              <a:ext uri="{FF2B5EF4-FFF2-40B4-BE49-F238E27FC236}">
                <a16:creationId xmlns:a16="http://schemas.microsoft.com/office/drawing/2014/main" id="{19DC3B48-E34A-577A-4377-542BCDF56131}"/>
              </a:ext>
            </a:extLst>
          </p:cNvPr>
          <p:cNvCxnSpPr>
            <a:cxnSpLocks/>
          </p:cNvCxnSpPr>
          <p:nvPr/>
        </p:nvCxnSpPr>
        <p:spPr>
          <a:xfrm>
            <a:off x="2282042" y="5385962"/>
            <a:ext cx="136426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A7D18025-C9EB-ED01-D646-D3AE6A35FFFD}"/>
              </a:ext>
            </a:extLst>
          </p:cNvPr>
          <p:cNvCxnSpPr>
            <a:cxnSpLocks/>
            <a:stCxn id="30" idx="2"/>
            <a:endCxn id="39" idx="2"/>
          </p:cNvCxnSpPr>
          <p:nvPr/>
        </p:nvCxnSpPr>
        <p:spPr>
          <a:xfrm rot="5400000">
            <a:off x="2747674" y="4235404"/>
            <a:ext cx="483458" cy="3153906"/>
          </a:xfrm>
          <a:prstGeom prst="bentConnector3">
            <a:avLst>
              <a:gd name="adj1" fmla="val 174137"/>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E6F90C5-AC7E-EA09-5B2D-05B6342E6DB0}"/>
                  </a:ext>
                </a:extLst>
              </p:cNvPr>
              <p:cNvSpPr txBox="1"/>
              <p:nvPr/>
            </p:nvSpPr>
            <p:spPr>
              <a:xfrm>
                <a:off x="1329094" y="5777087"/>
                <a:ext cx="16671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vi-VN"/>
              </a:p>
            </p:txBody>
          </p:sp>
        </mc:Choice>
        <mc:Fallback xmlns="">
          <p:sp>
            <p:nvSpPr>
              <p:cNvPr id="39" name="TextBox 38">
                <a:extLst>
                  <a:ext uri="{FF2B5EF4-FFF2-40B4-BE49-F238E27FC236}">
                    <a16:creationId xmlns:a16="http://schemas.microsoft.com/office/drawing/2014/main" id="{5E6F90C5-AC7E-EA09-5B2D-05B6342E6DB0}"/>
                  </a:ext>
                </a:extLst>
              </p:cNvPr>
              <p:cNvSpPr txBox="1">
                <a:spLocks noRot="1" noChangeAspect="1" noMove="1" noResize="1" noEditPoints="1" noAdjustHandles="1" noChangeArrowheads="1" noChangeShapeType="1" noTextEdit="1"/>
              </p:cNvSpPr>
              <p:nvPr/>
            </p:nvSpPr>
            <p:spPr>
              <a:xfrm>
                <a:off x="1329094" y="5777087"/>
                <a:ext cx="166712" cy="276999"/>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4FD37E5-506E-215E-D00F-365706EB27A0}"/>
                  </a:ext>
                </a:extLst>
              </p:cNvPr>
              <p:cNvSpPr txBox="1"/>
              <p:nvPr/>
            </p:nvSpPr>
            <p:spPr>
              <a:xfrm>
                <a:off x="2544597" y="6069371"/>
                <a:ext cx="1598425" cy="276999"/>
              </a:xfrm>
              <a:prstGeom prst="rect">
                <a:avLst/>
              </a:prstGeom>
              <a:noFill/>
            </p:spPr>
            <p:txBody>
              <a:bodyPr wrap="square">
                <a:spAutoFit/>
              </a:bodyPr>
              <a:lstStyle/>
              <a:p>
                <a:r>
                  <a:rPr lang="en-US" sz="1200"/>
                  <a:t>Repeat </a:t>
                </a:r>
                <a14:m>
                  <m:oMath xmlns:m="http://schemas.openxmlformats.org/officeDocument/2006/math">
                    <m:r>
                      <a:rPr lang="en-US" sz="1200" b="0" i="1" smtClean="0">
                        <a:latin typeface="Cambria Math" panose="02040503050406030204" pitchFamily="18" charset="0"/>
                      </a:rPr>
                      <m:t>𝑁</m:t>
                    </m:r>
                  </m:oMath>
                </a14:m>
                <a:r>
                  <a:rPr lang="en-US" sz="1200"/>
                  <a:t> times</a:t>
                </a:r>
                <a:endParaRPr lang="vi-VN" sz="1200"/>
              </a:p>
            </p:txBody>
          </p:sp>
        </mc:Choice>
        <mc:Fallback xmlns="">
          <p:sp>
            <p:nvSpPr>
              <p:cNvPr id="44" name="TextBox 43">
                <a:extLst>
                  <a:ext uri="{FF2B5EF4-FFF2-40B4-BE49-F238E27FC236}">
                    <a16:creationId xmlns:a16="http://schemas.microsoft.com/office/drawing/2014/main" id="{F4FD37E5-506E-215E-D00F-365706EB27A0}"/>
                  </a:ext>
                </a:extLst>
              </p:cNvPr>
              <p:cNvSpPr txBox="1">
                <a:spLocks noRot="1" noChangeAspect="1" noMove="1" noResize="1" noEditPoints="1" noAdjustHandles="1" noChangeArrowheads="1" noChangeShapeType="1" noTextEdit="1"/>
              </p:cNvSpPr>
              <p:nvPr/>
            </p:nvSpPr>
            <p:spPr>
              <a:xfrm>
                <a:off x="2544597" y="6069371"/>
                <a:ext cx="1598425" cy="276999"/>
              </a:xfrm>
              <a:prstGeom prst="rect">
                <a:avLst/>
              </a:prstGeom>
              <a:blipFill>
                <a:blip r:embed="rId9"/>
                <a:stretch>
                  <a:fillRect b="-20000"/>
                </a:stretch>
              </a:blipFill>
            </p:spPr>
            <p:txBody>
              <a:bodyPr/>
              <a:lstStyle/>
              <a:p>
                <a:r>
                  <a:rPr lang="vi-VN">
                    <a:noFill/>
                  </a:rPr>
                  <a:t> </a:t>
                </a:r>
              </a:p>
            </p:txBody>
          </p:sp>
        </mc:Fallback>
      </mc:AlternateContent>
      <p:sp>
        <p:nvSpPr>
          <p:cNvPr id="46" name="TextBox 45">
            <a:extLst>
              <a:ext uri="{FF2B5EF4-FFF2-40B4-BE49-F238E27FC236}">
                <a16:creationId xmlns:a16="http://schemas.microsoft.com/office/drawing/2014/main" id="{4616EBFA-D827-6341-BE5F-1463A1AC54C8}"/>
              </a:ext>
            </a:extLst>
          </p:cNvPr>
          <p:cNvSpPr txBox="1"/>
          <p:nvPr/>
        </p:nvSpPr>
        <p:spPr>
          <a:xfrm>
            <a:off x="2544597" y="4770696"/>
            <a:ext cx="1271483" cy="461665"/>
          </a:xfrm>
          <a:prstGeom prst="rect">
            <a:avLst/>
          </a:prstGeom>
          <a:noFill/>
        </p:spPr>
        <p:txBody>
          <a:bodyPr wrap="square">
            <a:spAutoFit/>
          </a:bodyPr>
          <a:lstStyle/>
          <a:p>
            <a:r>
              <a:rPr lang="en-US" sz="1200"/>
              <a:t>Receive eigenvalue</a:t>
            </a:r>
            <a:endParaRPr lang="vi-VN" sz="1200"/>
          </a:p>
        </p:txBody>
      </p:sp>
      <p:cxnSp>
        <p:nvCxnSpPr>
          <p:cNvPr id="47" name="Straight Arrow Connector 46">
            <a:extLst>
              <a:ext uri="{FF2B5EF4-FFF2-40B4-BE49-F238E27FC236}">
                <a16:creationId xmlns:a16="http://schemas.microsoft.com/office/drawing/2014/main" id="{BEF16641-A057-6E6C-3226-BBB76D25DEAD}"/>
              </a:ext>
            </a:extLst>
          </p:cNvPr>
          <p:cNvCxnSpPr>
            <a:cxnSpLocks/>
          </p:cNvCxnSpPr>
          <p:nvPr/>
        </p:nvCxnSpPr>
        <p:spPr>
          <a:xfrm>
            <a:off x="6904153" y="6418896"/>
            <a:ext cx="237631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87A2341-8D33-9198-EBA0-F90BD6F9D34C}"/>
              </a:ext>
            </a:extLst>
          </p:cNvPr>
          <p:cNvCxnSpPr>
            <a:cxnSpLocks/>
          </p:cNvCxnSpPr>
          <p:nvPr/>
        </p:nvCxnSpPr>
        <p:spPr>
          <a:xfrm flipV="1">
            <a:off x="6921085" y="4732281"/>
            <a:ext cx="0" cy="16866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0B543C79-D7C7-312E-E0E0-538DA7938368}"/>
              </a:ext>
            </a:extLst>
          </p:cNvPr>
          <p:cNvSpPr/>
          <p:nvPr/>
        </p:nvSpPr>
        <p:spPr>
          <a:xfrm>
            <a:off x="7337778" y="5486403"/>
            <a:ext cx="373527" cy="892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4" name="Rectangle 53">
            <a:extLst>
              <a:ext uri="{FF2B5EF4-FFF2-40B4-BE49-F238E27FC236}">
                <a16:creationId xmlns:a16="http://schemas.microsoft.com/office/drawing/2014/main" id="{A3688B2B-C780-2FDB-F073-2A24CFE24188}"/>
              </a:ext>
            </a:extLst>
          </p:cNvPr>
          <p:cNvSpPr/>
          <p:nvPr/>
        </p:nvSpPr>
        <p:spPr>
          <a:xfrm>
            <a:off x="8016105" y="5116495"/>
            <a:ext cx="373527" cy="12606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F7B35F2-627D-7F7B-D620-310D811EBC37}"/>
                  </a:ext>
                </a:extLst>
              </p:cNvPr>
              <p:cNvSpPr txBox="1"/>
              <p:nvPr/>
            </p:nvSpPr>
            <p:spPr>
              <a:xfrm>
                <a:off x="7323328" y="6418896"/>
                <a:ext cx="3879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0</m:t>
                          </m:r>
                        </m:sub>
                      </m:sSub>
                    </m:oMath>
                  </m:oMathPara>
                </a14:m>
                <a:endParaRPr lang="vi-VN"/>
              </a:p>
            </p:txBody>
          </p:sp>
        </mc:Choice>
        <mc:Fallback xmlns="">
          <p:sp>
            <p:nvSpPr>
              <p:cNvPr id="55" name="TextBox 54">
                <a:extLst>
                  <a:ext uri="{FF2B5EF4-FFF2-40B4-BE49-F238E27FC236}">
                    <a16:creationId xmlns:a16="http://schemas.microsoft.com/office/drawing/2014/main" id="{6F7B35F2-627D-7F7B-D620-310D811EBC37}"/>
                  </a:ext>
                </a:extLst>
              </p:cNvPr>
              <p:cNvSpPr txBox="1">
                <a:spLocks noRot="1" noChangeAspect="1" noMove="1" noResize="1" noEditPoints="1" noAdjustHandles="1" noChangeArrowheads="1" noChangeShapeType="1" noTextEdit="1"/>
              </p:cNvSpPr>
              <p:nvPr/>
            </p:nvSpPr>
            <p:spPr>
              <a:xfrm>
                <a:off x="7323328" y="6418896"/>
                <a:ext cx="387977" cy="369332"/>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7C0D133F-C72C-139A-268F-19A3AA8B6F21}"/>
                  </a:ext>
                </a:extLst>
              </p:cNvPr>
              <p:cNvSpPr txBox="1"/>
              <p:nvPr/>
            </p:nvSpPr>
            <p:spPr>
              <a:xfrm>
                <a:off x="8016105" y="6416656"/>
                <a:ext cx="3879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1</m:t>
                          </m:r>
                        </m:sub>
                      </m:sSub>
                    </m:oMath>
                  </m:oMathPara>
                </a14:m>
                <a:endParaRPr lang="vi-VN"/>
              </a:p>
            </p:txBody>
          </p:sp>
        </mc:Choice>
        <mc:Fallback xmlns="">
          <p:sp>
            <p:nvSpPr>
              <p:cNvPr id="56" name="TextBox 55">
                <a:extLst>
                  <a:ext uri="{FF2B5EF4-FFF2-40B4-BE49-F238E27FC236}">
                    <a16:creationId xmlns:a16="http://schemas.microsoft.com/office/drawing/2014/main" id="{7C0D133F-C72C-139A-268F-19A3AA8B6F21}"/>
                  </a:ext>
                </a:extLst>
              </p:cNvPr>
              <p:cNvSpPr txBox="1">
                <a:spLocks noRot="1" noChangeAspect="1" noMove="1" noResize="1" noEditPoints="1" noAdjustHandles="1" noChangeArrowheads="1" noChangeShapeType="1" noTextEdit="1"/>
              </p:cNvSpPr>
              <p:nvPr/>
            </p:nvSpPr>
            <p:spPr>
              <a:xfrm>
                <a:off x="8016105" y="6416656"/>
                <a:ext cx="387977" cy="369332"/>
              </a:xfrm>
              <a:prstGeom prst="rect">
                <a:avLst/>
              </a:prstGeom>
              <a:blipFill>
                <a:blip r:embed="rId11"/>
                <a:stretch>
                  <a:fillRect b="-1667"/>
                </a:stretch>
              </a:blipFill>
            </p:spPr>
            <p:txBody>
              <a:bodyPr/>
              <a:lstStyle/>
              <a:p>
                <a:r>
                  <a:rPr lang="vi-VN">
                    <a:noFill/>
                  </a:rPr>
                  <a:t> </a:t>
                </a:r>
              </a:p>
            </p:txBody>
          </p:sp>
        </mc:Fallback>
      </mc:AlternateContent>
      <p:cxnSp>
        <p:nvCxnSpPr>
          <p:cNvPr id="57" name="Straight Arrow Connector 56">
            <a:extLst>
              <a:ext uri="{FF2B5EF4-FFF2-40B4-BE49-F238E27FC236}">
                <a16:creationId xmlns:a16="http://schemas.microsoft.com/office/drawing/2014/main" id="{C0272EE6-620D-6CDC-7F8E-B3C3A726362F}"/>
              </a:ext>
            </a:extLst>
          </p:cNvPr>
          <p:cNvCxnSpPr>
            <a:cxnSpLocks/>
          </p:cNvCxnSpPr>
          <p:nvPr/>
        </p:nvCxnSpPr>
        <p:spPr>
          <a:xfrm>
            <a:off x="5267316" y="5399628"/>
            <a:ext cx="136426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9C1BE73-F256-9101-A26D-055C23C46F88}"/>
                  </a:ext>
                </a:extLst>
              </p:cNvPr>
              <p:cNvSpPr txBox="1"/>
              <p:nvPr/>
            </p:nvSpPr>
            <p:spPr>
              <a:xfrm>
                <a:off x="7013224" y="5096197"/>
                <a:ext cx="102263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𝑁</m:t>
                      </m:r>
                    </m:oMath>
                  </m:oMathPara>
                </a14:m>
                <a:endParaRPr lang="vi-VN"/>
              </a:p>
            </p:txBody>
          </p:sp>
        </mc:Choice>
        <mc:Fallback xmlns="">
          <p:sp>
            <p:nvSpPr>
              <p:cNvPr id="59" name="TextBox 58">
                <a:extLst>
                  <a:ext uri="{FF2B5EF4-FFF2-40B4-BE49-F238E27FC236}">
                    <a16:creationId xmlns:a16="http://schemas.microsoft.com/office/drawing/2014/main" id="{E9C1BE73-F256-9101-A26D-055C23C46F88}"/>
                  </a:ext>
                </a:extLst>
              </p:cNvPr>
              <p:cNvSpPr txBox="1">
                <a:spLocks noRot="1" noChangeAspect="1" noMove="1" noResize="1" noEditPoints="1" noAdjustHandles="1" noChangeArrowheads="1" noChangeShapeType="1" noTextEdit="1"/>
              </p:cNvSpPr>
              <p:nvPr/>
            </p:nvSpPr>
            <p:spPr>
              <a:xfrm>
                <a:off x="7013224" y="5096197"/>
                <a:ext cx="1022633" cy="369332"/>
              </a:xfrm>
              <a:prstGeom prst="rect">
                <a:avLst/>
              </a:prstGeom>
              <a:blipFill>
                <a:blip r:embed="rId12"/>
                <a:stretch>
                  <a:fillRect b="-1311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EE09DF46-DEFC-B61B-EAA2-211602ADFCAE}"/>
                  </a:ext>
                </a:extLst>
              </p:cNvPr>
              <p:cNvSpPr txBox="1"/>
              <p:nvPr/>
            </p:nvSpPr>
            <p:spPr>
              <a:xfrm>
                <a:off x="7730052" y="4695592"/>
                <a:ext cx="102263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𝑁</m:t>
                      </m:r>
                    </m:oMath>
                  </m:oMathPara>
                </a14:m>
                <a:endParaRPr lang="vi-VN"/>
              </a:p>
            </p:txBody>
          </p:sp>
        </mc:Choice>
        <mc:Fallback xmlns="">
          <p:sp>
            <p:nvSpPr>
              <p:cNvPr id="60" name="TextBox 59">
                <a:extLst>
                  <a:ext uri="{FF2B5EF4-FFF2-40B4-BE49-F238E27FC236}">
                    <a16:creationId xmlns:a16="http://schemas.microsoft.com/office/drawing/2014/main" id="{EE09DF46-DEFC-B61B-EAA2-211602ADFCAE}"/>
                  </a:ext>
                </a:extLst>
              </p:cNvPr>
              <p:cNvSpPr txBox="1">
                <a:spLocks noRot="1" noChangeAspect="1" noMove="1" noResize="1" noEditPoints="1" noAdjustHandles="1" noChangeArrowheads="1" noChangeShapeType="1" noTextEdit="1"/>
              </p:cNvSpPr>
              <p:nvPr/>
            </p:nvSpPr>
            <p:spPr>
              <a:xfrm>
                <a:off x="7730052" y="4695592"/>
                <a:ext cx="1022633" cy="369332"/>
              </a:xfrm>
              <a:prstGeom prst="rect">
                <a:avLst/>
              </a:prstGeom>
              <a:blipFill>
                <a:blip r:embed="rId13"/>
                <a:stretch>
                  <a:fillRect b="-1475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35772FC6-A361-838E-3548-30DEA3BA443C}"/>
                  </a:ext>
                </a:extLst>
              </p:cNvPr>
              <p:cNvSpPr txBox="1"/>
              <p:nvPr/>
            </p:nvSpPr>
            <p:spPr>
              <a:xfrm>
                <a:off x="6486462" y="4578097"/>
                <a:ext cx="4346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𝑓</m:t>
                      </m:r>
                    </m:oMath>
                  </m:oMathPara>
                </a14:m>
                <a:endParaRPr lang="vi-VN" sz="2400"/>
              </a:p>
            </p:txBody>
          </p:sp>
        </mc:Choice>
        <mc:Fallback xmlns="">
          <p:sp>
            <p:nvSpPr>
              <p:cNvPr id="61" name="TextBox 60">
                <a:extLst>
                  <a:ext uri="{FF2B5EF4-FFF2-40B4-BE49-F238E27FC236}">
                    <a16:creationId xmlns:a16="http://schemas.microsoft.com/office/drawing/2014/main" id="{35772FC6-A361-838E-3548-30DEA3BA443C}"/>
                  </a:ext>
                </a:extLst>
              </p:cNvPr>
              <p:cNvSpPr txBox="1">
                <a:spLocks noRot="1" noChangeAspect="1" noMove="1" noResize="1" noEditPoints="1" noAdjustHandles="1" noChangeArrowheads="1" noChangeShapeType="1" noTextEdit="1"/>
              </p:cNvSpPr>
              <p:nvPr/>
            </p:nvSpPr>
            <p:spPr>
              <a:xfrm>
                <a:off x="6486462" y="4578097"/>
                <a:ext cx="434623" cy="461665"/>
              </a:xfrm>
              <a:prstGeom prst="rect">
                <a:avLst/>
              </a:prstGeom>
              <a:blipFill>
                <a:blip r:embed="rId14"/>
                <a:stretch>
                  <a:fillRect l="-2817" r="-1408" b="-1973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4160BC1-5C82-45C1-3D2E-8A91EAB1F024}"/>
                  </a:ext>
                </a:extLst>
              </p:cNvPr>
              <p:cNvSpPr txBox="1"/>
              <p:nvPr/>
            </p:nvSpPr>
            <p:spPr>
              <a:xfrm>
                <a:off x="8714186" y="5127470"/>
                <a:ext cx="2966348" cy="638957"/>
              </a:xfrm>
              <a:prstGeom prst="rect">
                <a:avLst/>
              </a:prstGeom>
              <a:noFill/>
            </p:spPr>
            <p:txBody>
              <a:bodyPr wrap="square">
                <a:spAutoFit/>
              </a:bodyPr>
              <a:lstStyle/>
              <a:p>
                <a:r>
                  <a:rPr lang="en-US" sz="2400"/>
                  <a:t>If </a:t>
                </a:r>
                <a14:m>
                  <m:oMath xmlns:m="http://schemas.openxmlformats.org/officeDocument/2006/math">
                    <m:r>
                      <a:rPr lang="en-US" sz="2400" b="0" i="1" smtClean="0">
                        <a:latin typeface="Cambria Math" panose="02040503050406030204" pitchFamily="18" charset="0"/>
                      </a:rPr>
                      <m:t>𝑁</m:t>
                    </m:r>
                    <m:r>
                      <a:rPr lang="en-US" sz="2400" b="0" i="1" smtClean="0">
                        <a:latin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𝑗</m:t>
                            </m:r>
                          </m:sub>
                        </m:sSub>
                      </m:num>
                      <m:den>
                        <m:r>
                          <a:rPr lang="en-US" sz="2400" b="0" i="1" smtClean="0">
                            <a:latin typeface="Cambria Math" panose="02040503050406030204" pitchFamily="18" charset="0"/>
                            <a:ea typeface="Cambria Math" panose="02040503050406030204" pitchFamily="18" charset="0"/>
                          </a:rPr>
                          <m:t>𝑁</m:t>
                        </m:r>
                      </m:den>
                    </m:f>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d>
                          <m:dPr>
                            <m:begChr m:val="|"/>
                            <m:endChr m:val="|"/>
                            <m:ctrlPr>
                              <a:rPr lang="en-US" sz="2400" b="0" i="1" smtClean="0">
                                <a:latin typeface="Cambria Math" panose="02040503050406030204" pitchFamily="18" charset="0"/>
                                <a:ea typeface="Cambria Math" panose="02040503050406030204" pitchFamily="18" charset="0"/>
                              </a:rPr>
                            </m:ctrlPr>
                          </m:dPr>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𝛼</m:t>
                                </m:r>
                              </m:e>
                              <m:sub>
                                <m:r>
                                  <a:rPr lang="en-US" sz="2400" b="0" i="1" smtClean="0">
                                    <a:latin typeface="Cambria Math" panose="02040503050406030204" pitchFamily="18" charset="0"/>
                                    <a:ea typeface="Cambria Math" panose="02040503050406030204" pitchFamily="18" charset="0"/>
                                  </a:rPr>
                                  <m:t>𝑗</m:t>
                                </m:r>
                              </m:sub>
                            </m:sSub>
                          </m:e>
                        </m:d>
                      </m:e>
                      <m:sup>
                        <m:r>
                          <a:rPr lang="en-US" sz="2400" b="0" i="1" smtClean="0">
                            <a:latin typeface="Cambria Math" panose="02040503050406030204" pitchFamily="18" charset="0"/>
                            <a:ea typeface="Cambria Math" panose="02040503050406030204" pitchFamily="18" charset="0"/>
                          </a:rPr>
                          <m:t>2</m:t>
                        </m:r>
                      </m:sup>
                    </m:sSup>
                  </m:oMath>
                </a14:m>
                <a:endParaRPr lang="vi-VN" sz="2400"/>
              </a:p>
            </p:txBody>
          </p:sp>
        </mc:Choice>
        <mc:Fallback xmlns="">
          <p:sp>
            <p:nvSpPr>
              <p:cNvPr id="63" name="TextBox 62">
                <a:extLst>
                  <a:ext uri="{FF2B5EF4-FFF2-40B4-BE49-F238E27FC236}">
                    <a16:creationId xmlns:a16="http://schemas.microsoft.com/office/drawing/2014/main" id="{34160BC1-5C82-45C1-3D2E-8A91EAB1F024}"/>
                  </a:ext>
                </a:extLst>
              </p:cNvPr>
              <p:cNvSpPr txBox="1">
                <a:spLocks noRot="1" noChangeAspect="1" noMove="1" noResize="1" noEditPoints="1" noAdjustHandles="1" noChangeArrowheads="1" noChangeShapeType="1" noTextEdit="1"/>
              </p:cNvSpPr>
              <p:nvPr/>
            </p:nvSpPr>
            <p:spPr>
              <a:xfrm>
                <a:off x="8714186" y="5127470"/>
                <a:ext cx="2966348" cy="638957"/>
              </a:xfrm>
              <a:prstGeom prst="rect">
                <a:avLst/>
              </a:prstGeom>
              <a:blipFill>
                <a:blip r:embed="rId15"/>
                <a:stretch>
                  <a:fillRect l="-3080" b="-9524"/>
                </a:stretch>
              </a:blipFill>
            </p:spPr>
            <p:txBody>
              <a:bodyPr/>
              <a:lstStyle/>
              <a:p>
                <a:r>
                  <a:rPr lang="vi-VN">
                    <a:noFill/>
                  </a:rPr>
                  <a:t> </a:t>
                </a:r>
              </a:p>
            </p:txBody>
          </p:sp>
        </mc:Fallback>
      </mc:AlternateContent>
    </p:spTree>
    <p:extLst>
      <p:ext uri="{BB962C8B-B14F-4D97-AF65-F5344CB8AC3E}">
        <p14:creationId xmlns:p14="http://schemas.microsoft.com/office/powerpoint/2010/main" val="4283538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7BF2C80-C972-4EEB-BC1B-D266DE9E7776}"/>
              </a:ext>
            </a:extLst>
          </p:cNvPr>
          <p:cNvSpPr>
            <a:spLocks noGrp="1"/>
          </p:cNvSpPr>
          <p:nvPr>
            <p:ph type="title"/>
          </p:nvPr>
        </p:nvSpPr>
        <p:spPr/>
        <p:txBody>
          <a:bodyPr/>
          <a:lstStyle/>
          <a:p>
            <a:r>
              <a:rPr lang="en-US"/>
              <a:t>Measurement: global phase</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C6661845-B70A-4B5D-B31D-177BA05AFFA9}"/>
                  </a:ext>
                </a:extLst>
              </p:cNvPr>
              <p:cNvSpPr>
                <a:spLocks noGrp="1"/>
              </p:cNvSpPr>
              <p:nvPr>
                <p:ph idx="1"/>
              </p:nvPr>
            </p:nvSpPr>
            <p:spPr/>
            <p:txBody>
              <a:bodyPr>
                <a:normAutofit/>
              </a:bodyPr>
              <a:lstStyle/>
              <a:p>
                <a:pPr marL="0" indent="0">
                  <a:buNone/>
                </a:pPr>
                <a:r>
                  <a:rPr lang="en-US"/>
                  <a:t>Measuring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=|1⟩</m:t>
                    </m:r>
                  </m:oMath>
                </a14:m>
                <a:r>
                  <a:rPr lang="en-US"/>
                  <a:t> give us output 1 with 100%. </a:t>
                </a:r>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d>
                        <m:dPr>
                          <m:begChr m:val="["/>
                          <m:endChr m:val="]"/>
                          <m:ctrlPr>
                            <a:rPr lang="vi-VN" i="1" smtClean="0">
                              <a:latin typeface="Cambria Math" panose="02040503050406030204" pitchFamily="18" charset="0"/>
                            </a:rPr>
                          </m:ctrlPr>
                        </m:dPr>
                        <m:e>
                          <m:m>
                            <m:mPr>
                              <m:mcs>
                                <m:mc>
                                  <m:mcPr>
                                    <m:count m:val="1"/>
                                    <m:mcJc m:val="center"/>
                                  </m:mcPr>
                                </m:mc>
                              </m:mcs>
                              <m:ctrlPr>
                                <a:rPr lang="vi-VN" i="1" smtClean="0">
                                  <a:latin typeface="Cambria Math" panose="02040503050406030204" pitchFamily="18" charset="0"/>
                                </a:rPr>
                              </m:ctrlPr>
                            </m:mPr>
                            <m:mr>
                              <m:e>
                                <m:r>
                                  <m:rPr>
                                    <m:brk m:alnAt="7"/>
                                  </m:rPr>
                                  <a:rPr lang="vi-VN" b="0" i="1" smtClean="0">
                                    <a:latin typeface="Cambria Math" panose="02040503050406030204" pitchFamily="18" charset="0"/>
                                  </a:rPr>
                                  <m:t>0</m:t>
                                </m:r>
                              </m:e>
                            </m:mr>
                            <m:mr>
                              <m:e>
                                <m:r>
                                  <a:rPr lang="vi-VN" b="0" i="1" smtClean="0">
                                    <a:latin typeface="Cambria Math" panose="02040503050406030204" pitchFamily="18" charset="0"/>
                                  </a:rPr>
                                  <m:t>𝑖</m:t>
                                </m:r>
                              </m:e>
                            </m:mr>
                          </m:m>
                        </m:e>
                      </m:d>
                      <m:r>
                        <a:rPr lang="vi-VN" b="0" i="1" smtClean="0">
                          <a:latin typeface="Cambria Math" panose="02040503050406030204" pitchFamily="18" charset="0"/>
                        </a:rPr>
                        <m:t>=</m:t>
                      </m:r>
                      <m:r>
                        <a:rPr lang="vi-VN" b="0" i="1" smtClean="0">
                          <a:latin typeface="Cambria Math" panose="02040503050406030204" pitchFamily="18" charset="0"/>
                        </a:rPr>
                        <m:t>𝑖</m:t>
                      </m:r>
                      <m:d>
                        <m:dPr>
                          <m:begChr m:val="["/>
                          <m:endChr m:val="]"/>
                          <m:ctrlPr>
                            <a:rPr lang="vi-VN" i="1" smtClean="0">
                              <a:latin typeface="Cambria Math" panose="02040503050406030204" pitchFamily="18" charset="0"/>
                            </a:rPr>
                          </m:ctrlPr>
                        </m:dPr>
                        <m:e>
                          <m:m>
                            <m:mPr>
                              <m:mcs>
                                <m:mc>
                                  <m:mcPr>
                                    <m:count m:val="1"/>
                                    <m:mcJc m:val="center"/>
                                  </m:mcPr>
                                </m:mc>
                              </m:mcs>
                              <m:ctrlPr>
                                <a:rPr lang="vi-VN" i="1" smtClean="0">
                                  <a:latin typeface="Cambria Math" panose="02040503050406030204" pitchFamily="18" charset="0"/>
                                </a:rPr>
                              </m:ctrlPr>
                            </m:mPr>
                            <m:mr>
                              <m:e>
                                <m:r>
                                  <m:rPr>
                                    <m:brk m:alnAt="7"/>
                                  </m:rPr>
                                  <a:rPr lang="vi-VN" b="0" i="1" smtClean="0">
                                    <a:latin typeface="Cambria Math" panose="02040503050406030204" pitchFamily="18" charset="0"/>
                                  </a:rPr>
                                  <m:t>0</m:t>
                                </m:r>
                              </m:e>
                            </m:mr>
                            <m:mr>
                              <m:e>
                                <m:r>
                                  <a:rPr lang="vi-VN" b="0" i="1" smtClean="0">
                                    <a:latin typeface="Cambria Math" panose="02040503050406030204" pitchFamily="18" charset="0"/>
                                  </a:rPr>
                                  <m:t>1</m:t>
                                </m:r>
                              </m:e>
                            </m:mr>
                          </m:m>
                        </m:e>
                      </m:d>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m:oMathPara>
                </a14:m>
                <a:endParaRPr lang="vi-VN"/>
              </a:p>
              <a:p>
                <a:pPr marL="0" indent="0">
                  <a:buNone/>
                </a:pPr>
                <a:endParaRPr lang="vi-VN"/>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(0)=</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e>
                              </m:d>
                              <m:r>
                                <a:rPr lang="en-US" b="0" i="1" smtClean="0">
                                  <a:latin typeface="Cambria Math" panose="02040503050406030204" pitchFamily="18" charset="0"/>
                                </a:rPr>
                                <m:t>)</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1</m:t>
                                  </m:r>
                                </m:e>
                              </m:d>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1</m:t>
                                  </m:r>
                                </m:e>
                              </m:d>
                            </m:e>
                          </m:d>
                        </m:e>
                        <m:sup>
                          <m:r>
                            <a:rPr lang="en-US" b="0" i="1" smtClean="0">
                              <a:latin typeface="Cambria Math" panose="02040503050406030204" pitchFamily="18" charset="0"/>
                            </a:rPr>
                            <m:t>2</m:t>
                          </m:r>
                        </m:sup>
                      </m:sSup>
                    </m:oMath>
                  </m:oMathPara>
                </a14:m>
                <a:endParaRPr lang="en-US"/>
              </a:p>
              <a:p>
                <a:pPr marL="0" indent="0">
                  <a:buNone/>
                </a:pPr>
                <a:endParaRPr lang="en-US"/>
              </a:p>
              <a:p>
                <a:pPr marL="0" indent="0">
                  <a:buNone/>
                </a:pPr>
                <a14:m>
                  <m:oMath xmlns:m="http://schemas.openxmlformats.org/officeDocument/2006/math">
                    <m:r>
                      <a:rPr lang="en-US" b="0" i="1" smtClean="0">
                        <a:latin typeface="Cambria Math" panose="02040503050406030204" pitchFamily="18" charset="0"/>
                      </a:rPr>
                      <m:t>𝑖</m:t>
                    </m:r>
                  </m:oMath>
                </a14:m>
                <a:r>
                  <a:rPr lang="en-US"/>
                  <a:t> is disappears </a:t>
                </a:r>
                <a14:m>
                  <m:oMath xmlns:m="http://schemas.openxmlformats.org/officeDocument/2006/math">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0" smtClean="0">
                        <a:latin typeface="Cambria Math" panose="02040503050406030204" pitchFamily="18" charset="0"/>
                      </a:rPr>
                      <m:t>~</m:t>
                    </m:r>
                  </m:oMath>
                </a14:m>
                <a:r>
                  <a:rPr lang="en-US"/>
                  <a:t>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m:t>
                    </m:r>
                  </m:oMath>
                </a14:m>
                <a:endParaRPr lang="vi-VN"/>
              </a:p>
            </p:txBody>
          </p:sp>
        </mc:Choice>
        <mc:Fallback xmlns="">
          <p:sp>
            <p:nvSpPr>
              <p:cNvPr id="3" name="Chỗ dành sẵn cho Nội dung 2">
                <a:extLst>
                  <a:ext uri="{FF2B5EF4-FFF2-40B4-BE49-F238E27FC236}">
                    <a16:creationId xmlns:a16="http://schemas.microsoft.com/office/drawing/2014/main" id="{C6661845-B70A-4B5D-B31D-177BA05AFFA9}"/>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8FC02F79-ACB3-4844-890E-7DA3252E2826}"/>
              </a:ext>
            </a:extLst>
          </p:cNvPr>
          <p:cNvSpPr>
            <a:spLocks noGrp="1"/>
          </p:cNvSpPr>
          <p:nvPr>
            <p:ph type="sldNum" sz="quarter" idx="12"/>
          </p:nvPr>
        </p:nvSpPr>
        <p:spPr/>
        <p:txBody>
          <a:bodyPr/>
          <a:lstStyle/>
          <a:p>
            <a:fld id="{71331178-9F85-4EDF-BDD3-1E7064DA4C59}" type="slidenum">
              <a:rPr lang="vi-VN" smtClean="0"/>
              <a:t>21</a:t>
            </a:fld>
            <a:endParaRPr lang="vi-VN"/>
          </a:p>
        </p:txBody>
      </p:sp>
    </p:spTree>
    <p:extLst>
      <p:ext uri="{BB962C8B-B14F-4D97-AF65-F5344CB8AC3E}">
        <p14:creationId xmlns:p14="http://schemas.microsoft.com/office/powerpoint/2010/main" val="3034673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29041-9612-C268-EB1B-9CD9184A5956}"/>
              </a:ext>
            </a:extLst>
          </p:cNvPr>
          <p:cNvSpPr>
            <a:spLocks noGrp="1"/>
          </p:cNvSpPr>
          <p:nvPr>
            <p:ph type="title"/>
          </p:nvPr>
        </p:nvSpPr>
        <p:spPr/>
        <p:txBody>
          <a:bodyPr/>
          <a:lstStyle/>
          <a:p>
            <a:r>
              <a:rPr lang="en-US"/>
              <a:t>Measurement commutes with controls*</a:t>
            </a:r>
            <a:endParaRPr lang="en-VN"/>
          </a:p>
        </p:txBody>
      </p:sp>
      <p:sp>
        <p:nvSpPr>
          <p:cNvPr id="4" name="Slide Number Placeholder 3">
            <a:extLst>
              <a:ext uri="{FF2B5EF4-FFF2-40B4-BE49-F238E27FC236}">
                <a16:creationId xmlns:a16="http://schemas.microsoft.com/office/drawing/2014/main" id="{0C5BD30E-9E4F-07E7-B4EA-C5AE25F30367}"/>
              </a:ext>
            </a:extLst>
          </p:cNvPr>
          <p:cNvSpPr>
            <a:spLocks noGrp="1"/>
          </p:cNvSpPr>
          <p:nvPr>
            <p:ph type="sldNum" sz="quarter" idx="12"/>
          </p:nvPr>
        </p:nvSpPr>
        <p:spPr/>
        <p:txBody>
          <a:bodyPr/>
          <a:lstStyle/>
          <a:p>
            <a:fld id="{71331178-9F85-4EDF-BDD3-1E7064DA4C59}" type="slidenum">
              <a:rPr lang="vi-VN" smtClean="0"/>
              <a:t>22</a:t>
            </a:fld>
            <a:endParaRPr lang="vi-VN"/>
          </a:p>
        </p:txBody>
      </p:sp>
      <p:sp>
        <p:nvSpPr>
          <p:cNvPr id="6" name="TextBox 5">
            <a:extLst>
              <a:ext uri="{FF2B5EF4-FFF2-40B4-BE49-F238E27FC236}">
                <a16:creationId xmlns:a16="http://schemas.microsoft.com/office/drawing/2014/main" id="{8599A148-4161-6E11-6D25-4FCC9B409799}"/>
              </a:ext>
            </a:extLst>
          </p:cNvPr>
          <p:cNvSpPr txBox="1"/>
          <p:nvPr/>
        </p:nvSpPr>
        <p:spPr>
          <a:xfrm>
            <a:off x="838200" y="5729658"/>
            <a:ext cx="6585284" cy="954107"/>
          </a:xfrm>
          <a:prstGeom prst="rect">
            <a:avLst/>
          </a:prstGeom>
          <a:noFill/>
          <a:ln>
            <a:solidFill>
              <a:srgbClr val="FF0000"/>
            </a:solidFill>
          </a:ln>
        </p:spPr>
        <p:txBody>
          <a:bodyPr wrap="square">
            <a:spAutoFit/>
          </a:bodyPr>
          <a:lstStyle/>
          <a:p>
            <a:r>
              <a:rPr lang="en-US" sz="1400">
                <a:solidFill>
                  <a:srgbClr val="FF0000"/>
                </a:solidFill>
              </a:rPr>
              <a:t>*Exercise 4.35, Nielsen, M. A., &amp; Chuang, I. L. (2010). </a:t>
            </a:r>
            <a:r>
              <a:rPr lang="en-US" sz="1400" i="1">
                <a:solidFill>
                  <a:srgbClr val="FF0000"/>
                </a:solidFill>
              </a:rPr>
              <a:t>Quantum computation and quantum information</a:t>
            </a:r>
            <a:r>
              <a:rPr lang="en-US" sz="1400">
                <a:solidFill>
                  <a:srgbClr val="FF0000"/>
                </a:solidFill>
              </a:rPr>
              <a:t>. Cambridge university press.</a:t>
            </a:r>
          </a:p>
          <a:p>
            <a:r>
              <a:rPr lang="en-US" sz="1400">
                <a:solidFill>
                  <a:srgbClr val="FF0000"/>
                </a:solidFill>
              </a:rPr>
              <a:t>**Bäumer, E., … (2024). Efficient long-range entanglement using dynamic circuits. </a:t>
            </a:r>
            <a:r>
              <a:rPr lang="en-US" sz="1400" i="1">
                <a:solidFill>
                  <a:srgbClr val="FF0000"/>
                </a:solidFill>
              </a:rPr>
              <a:t>PRX Quantum</a:t>
            </a:r>
            <a:r>
              <a:rPr lang="en-US" sz="1400">
                <a:solidFill>
                  <a:srgbClr val="FF0000"/>
                </a:solidFill>
              </a:rPr>
              <a:t>, </a:t>
            </a:r>
            <a:r>
              <a:rPr lang="en-US" sz="1400" i="1">
                <a:solidFill>
                  <a:srgbClr val="FF0000"/>
                </a:solidFill>
              </a:rPr>
              <a:t>5</a:t>
            </a:r>
            <a:r>
              <a:rPr lang="en-US" sz="1400">
                <a:solidFill>
                  <a:srgbClr val="FF0000"/>
                </a:solidFill>
              </a:rPr>
              <a:t>(3), 030339.</a:t>
            </a:r>
            <a:endParaRPr lang="en-VN" sz="1400">
              <a:solidFill>
                <a:srgbClr val="FF0000"/>
              </a:solidFill>
            </a:endParaRPr>
          </a:p>
        </p:txBody>
      </p:sp>
      <p:cxnSp>
        <p:nvCxnSpPr>
          <p:cNvPr id="7" name="Straight Connector 6">
            <a:extLst>
              <a:ext uri="{FF2B5EF4-FFF2-40B4-BE49-F238E27FC236}">
                <a16:creationId xmlns:a16="http://schemas.microsoft.com/office/drawing/2014/main" id="{047590C9-99BF-A1FD-222F-85EA21B0D237}"/>
              </a:ext>
            </a:extLst>
          </p:cNvPr>
          <p:cNvCxnSpPr>
            <a:cxnSpLocks/>
          </p:cNvCxnSpPr>
          <p:nvPr/>
        </p:nvCxnSpPr>
        <p:spPr>
          <a:xfrm>
            <a:off x="950997" y="1823583"/>
            <a:ext cx="14760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93D4A230-670C-3280-6E43-7C2EF339CA9D}"/>
                  </a:ext>
                </a:extLst>
              </p:cNvPr>
              <p:cNvSpPr/>
              <p:nvPr/>
            </p:nvSpPr>
            <p:spPr>
              <a:xfrm>
                <a:off x="2426997" y="1599807"/>
                <a:ext cx="899289" cy="54429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2400" b="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𝑋</m:t>
                      </m:r>
                    </m:oMath>
                  </m:oMathPara>
                </a14:m>
                <a:endParaRPr lang="vi-VN" sz="2400" i="1">
                  <a:solidFill>
                    <a:schemeClr val="tx1"/>
                  </a:solidFill>
                </a:endParaRPr>
              </a:p>
            </p:txBody>
          </p:sp>
        </mc:Choice>
        <mc:Fallback xmlns="">
          <p:sp>
            <p:nvSpPr>
              <p:cNvPr id="12" name="Rectangle 11">
                <a:extLst>
                  <a:ext uri="{FF2B5EF4-FFF2-40B4-BE49-F238E27FC236}">
                    <a16:creationId xmlns:a16="http://schemas.microsoft.com/office/drawing/2014/main" id="{93D4A230-670C-3280-6E43-7C2EF339CA9D}"/>
                  </a:ext>
                </a:extLst>
              </p:cNvPr>
              <p:cNvSpPr>
                <a:spLocks noRot="1" noChangeAspect="1" noMove="1" noResize="1" noEditPoints="1" noAdjustHandles="1" noChangeArrowheads="1" noChangeShapeType="1" noTextEdit="1"/>
              </p:cNvSpPr>
              <p:nvPr/>
            </p:nvSpPr>
            <p:spPr>
              <a:xfrm>
                <a:off x="2426997" y="1599807"/>
                <a:ext cx="899289" cy="544297"/>
              </a:xfrm>
              <a:prstGeom prst="rect">
                <a:avLst/>
              </a:prstGeom>
              <a:blipFill>
                <a:blip r:embed="rId2"/>
                <a:stretch>
                  <a:fillRect b="-8889"/>
                </a:stretch>
              </a:blipFill>
            </p:spPr>
            <p:txBody>
              <a:bodyPr/>
              <a:lstStyle/>
              <a:p>
                <a:r>
                  <a:rPr lang="en-VN">
                    <a:noFill/>
                  </a:rPr>
                  <a:t> </a:t>
                </a:r>
              </a:p>
            </p:txBody>
          </p:sp>
        </mc:Fallback>
      </mc:AlternateContent>
      <p:sp>
        <p:nvSpPr>
          <p:cNvPr id="18" name="Hình chữ nhật 93">
            <a:extLst>
              <a:ext uri="{FF2B5EF4-FFF2-40B4-BE49-F238E27FC236}">
                <a16:creationId xmlns:a16="http://schemas.microsoft.com/office/drawing/2014/main" id="{98871F4C-4214-9174-1C2F-7AB6996448E6}"/>
              </a:ext>
            </a:extLst>
          </p:cNvPr>
          <p:cNvSpPr/>
          <p:nvPr/>
        </p:nvSpPr>
        <p:spPr>
          <a:xfrm>
            <a:off x="1211742" y="1670116"/>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9" name="Arc 18">
            <a:extLst>
              <a:ext uri="{FF2B5EF4-FFF2-40B4-BE49-F238E27FC236}">
                <a16:creationId xmlns:a16="http://schemas.microsoft.com/office/drawing/2014/main" id="{3EC704D8-866A-E64F-C8C6-16429F0CF3D8}"/>
              </a:ext>
            </a:extLst>
          </p:cNvPr>
          <p:cNvSpPr/>
          <p:nvPr/>
        </p:nvSpPr>
        <p:spPr>
          <a:xfrm>
            <a:off x="1267439" y="1814716"/>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20" name="Straight Arrow Connector 19">
            <a:extLst>
              <a:ext uri="{FF2B5EF4-FFF2-40B4-BE49-F238E27FC236}">
                <a16:creationId xmlns:a16="http://schemas.microsoft.com/office/drawing/2014/main" id="{190589C8-136D-23DE-8AFC-6B43A8FF33C0}"/>
              </a:ext>
            </a:extLst>
          </p:cNvPr>
          <p:cNvCxnSpPr>
            <a:cxnSpLocks/>
          </p:cNvCxnSpPr>
          <p:nvPr/>
        </p:nvCxnSpPr>
        <p:spPr>
          <a:xfrm flipV="1">
            <a:off x="1321655" y="1737087"/>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EFC1FD4D-3F5E-B52E-9514-BA5833AA81CB}"/>
              </a:ext>
            </a:extLst>
          </p:cNvPr>
          <p:cNvCxnSpPr>
            <a:cxnSpLocks/>
          </p:cNvCxnSpPr>
          <p:nvPr/>
        </p:nvCxnSpPr>
        <p:spPr>
          <a:xfrm>
            <a:off x="1510066" y="1890553"/>
            <a:ext cx="918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9529F2EE-533B-EE2A-D5CF-1767ECE3D8FE}"/>
              </a:ext>
            </a:extLst>
          </p:cNvPr>
          <p:cNvCxnSpPr>
            <a:cxnSpLocks/>
          </p:cNvCxnSpPr>
          <p:nvPr/>
        </p:nvCxnSpPr>
        <p:spPr>
          <a:xfrm>
            <a:off x="4039544" y="1861567"/>
            <a:ext cx="14760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5F4DB96-272E-2E92-D8D2-5FA0813FDAB2}"/>
                  </a:ext>
                </a:extLst>
              </p:cNvPr>
              <p:cNvSpPr txBox="1"/>
              <p:nvPr/>
            </p:nvSpPr>
            <p:spPr>
              <a:xfrm>
                <a:off x="5515544" y="1676901"/>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23" name="TextBox 22">
                <a:extLst>
                  <a:ext uri="{FF2B5EF4-FFF2-40B4-BE49-F238E27FC236}">
                    <a16:creationId xmlns:a16="http://schemas.microsoft.com/office/drawing/2014/main" id="{55F4DB96-272E-2E92-D8D2-5FA0813FDAB2}"/>
                  </a:ext>
                </a:extLst>
              </p:cNvPr>
              <p:cNvSpPr txBox="1">
                <a:spLocks noRot="1" noChangeAspect="1" noMove="1" noResize="1" noEditPoints="1" noAdjustHandles="1" noChangeArrowheads="1" noChangeShapeType="1" noTextEdit="1"/>
              </p:cNvSpPr>
              <p:nvPr/>
            </p:nvSpPr>
            <p:spPr>
              <a:xfrm>
                <a:off x="5515544" y="1676901"/>
                <a:ext cx="447238" cy="369332"/>
              </a:xfrm>
              <a:prstGeom prst="rect">
                <a:avLst/>
              </a:prstGeom>
              <a:blipFill>
                <a:blip r:embed="rId3"/>
                <a:stretch>
                  <a:fillRect l="-25000" r="-25000" b="-3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D89BA11-7CA4-C416-F704-36C7AE87DFF2}"/>
                  </a:ext>
                </a:extLst>
              </p:cNvPr>
              <p:cNvSpPr txBox="1"/>
              <p:nvPr/>
            </p:nvSpPr>
            <p:spPr>
              <a:xfrm>
                <a:off x="3271868" y="1630734"/>
                <a:ext cx="7801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m:t>
                      </m:r>
                    </m:oMath>
                  </m:oMathPara>
                </a14:m>
                <a:endParaRPr lang="vi-VN" sz="2400"/>
              </a:p>
            </p:txBody>
          </p:sp>
        </mc:Choice>
        <mc:Fallback xmlns="">
          <p:sp>
            <p:nvSpPr>
              <p:cNvPr id="24" name="TextBox 23">
                <a:extLst>
                  <a:ext uri="{FF2B5EF4-FFF2-40B4-BE49-F238E27FC236}">
                    <a16:creationId xmlns:a16="http://schemas.microsoft.com/office/drawing/2014/main" id="{9D89BA11-7CA4-C416-F704-36C7AE87DFF2}"/>
                  </a:ext>
                </a:extLst>
              </p:cNvPr>
              <p:cNvSpPr txBox="1">
                <a:spLocks noRot="1" noChangeAspect="1" noMove="1" noResize="1" noEditPoints="1" noAdjustHandles="1" noChangeArrowheads="1" noChangeShapeType="1" noTextEdit="1"/>
              </p:cNvSpPr>
              <p:nvPr/>
            </p:nvSpPr>
            <p:spPr>
              <a:xfrm>
                <a:off x="3271868" y="1630734"/>
                <a:ext cx="780176" cy="461665"/>
              </a:xfrm>
              <a:prstGeom prst="rect">
                <a:avLst/>
              </a:prstGeom>
              <a:blipFill>
                <a:blip r:embed="rId4"/>
                <a:stretch>
                  <a:fillRect/>
                </a:stretch>
              </a:blipFill>
            </p:spPr>
            <p:txBody>
              <a:bodyPr/>
              <a:lstStyle/>
              <a:p>
                <a:r>
                  <a:rPr lang="en-VN">
                    <a:noFill/>
                  </a:rPr>
                  <a:t> </a:t>
                </a:r>
              </a:p>
            </p:txBody>
          </p:sp>
        </mc:Fallback>
      </mc:AlternateContent>
      <p:sp>
        <p:nvSpPr>
          <p:cNvPr id="25" name="Rectangle 24">
            <a:extLst>
              <a:ext uri="{FF2B5EF4-FFF2-40B4-BE49-F238E27FC236}">
                <a16:creationId xmlns:a16="http://schemas.microsoft.com/office/drawing/2014/main" id="{6C8DDEBB-9B7D-202C-D9C5-8BE43FCFA529}"/>
              </a:ext>
            </a:extLst>
          </p:cNvPr>
          <p:cNvSpPr/>
          <p:nvPr/>
        </p:nvSpPr>
        <p:spPr>
          <a:xfrm>
            <a:off x="3934436" y="1522951"/>
            <a:ext cx="2088859" cy="6463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i="1">
              <a:solidFill>
                <a:schemeClr val="tx1"/>
              </a:solidFill>
            </a:endParaRPr>
          </a:p>
        </p:txBody>
      </p:sp>
      <p:sp>
        <p:nvSpPr>
          <p:cNvPr id="26" name="TextBox 25">
            <a:extLst>
              <a:ext uri="{FF2B5EF4-FFF2-40B4-BE49-F238E27FC236}">
                <a16:creationId xmlns:a16="http://schemas.microsoft.com/office/drawing/2014/main" id="{4278D94A-F626-E2EA-630A-E701EBD081B8}"/>
              </a:ext>
            </a:extLst>
          </p:cNvPr>
          <p:cNvSpPr txBox="1"/>
          <p:nvPr/>
        </p:nvSpPr>
        <p:spPr>
          <a:xfrm>
            <a:off x="1112644" y="2390862"/>
            <a:ext cx="1314353" cy="400110"/>
          </a:xfrm>
          <a:prstGeom prst="rect">
            <a:avLst/>
          </a:prstGeom>
          <a:noFill/>
        </p:spPr>
        <p:txBody>
          <a:bodyPr wrap="square" rtlCol="0">
            <a:spAutoFit/>
          </a:bodyPr>
          <a:lstStyle/>
          <a:p>
            <a:r>
              <a:rPr lang="en-VN" sz="2000">
                <a:solidFill>
                  <a:srgbClr val="FF0000"/>
                </a:solidFill>
              </a:rPr>
              <a:t>If we get 1</a:t>
            </a:r>
          </a:p>
        </p:txBody>
      </p:sp>
      <p:sp>
        <p:nvSpPr>
          <p:cNvPr id="27" name="Left Brace 26">
            <a:extLst>
              <a:ext uri="{FF2B5EF4-FFF2-40B4-BE49-F238E27FC236}">
                <a16:creationId xmlns:a16="http://schemas.microsoft.com/office/drawing/2014/main" id="{00F8ED49-4736-B0EB-EF49-AB8E2DCA734A}"/>
              </a:ext>
            </a:extLst>
          </p:cNvPr>
          <p:cNvSpPr/>
          <p:nvPr/>
        </p:nvSpPr>
        <p:spPr>
          <a:xfrm rot="16200000">
            <a:off x="1677895" y="1703362"/>
            <a:ext cx="205933" cy="1118746"/>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7187E27-6429-EFB7-FAF5-871E061CFB8E}"/>
                  </a:ext>
                </a:extLst>
              </p:cNvPr>
              <p:cNvSpPr txBox="1"/>
              <p:nvPr/>
            </p:nvSpPr>
            <p:spPr>
              <a:xfrm>
                <a:off x="2458029" y="2381746"/>
                <a:ext cx="2464836" cy="400110"/>
              </a:xfrm>
              <a:prstGeom prst="rect">
                <a:avLst/>
              </a:prstGeom>
              <a:noFill/>
            </p:spPr>
            <p:txBody>
              <a:bodyPr wrap="square" rtlCol="0">
                <a:spAutoFit/>
              </a:bodyPr>
              <a:lstStyle/>
              <a:p>
                <a:r>
                  <a:rPr lang="en-US" sz="2000">
                    <a:solidFill>
                      <a:srgbClr val="FF0000"/>
                    </a:solidFill>
                  </a:rPr>
                  <a:t>t</a:t>
                </a:r>
                <a:r>
                  <a:rPr lang="en-VN" sz="2000">
                    <a:solidFill>
                      <a:srgbClr val="FF0000"/>
                    </a:solidFill>
                  </a:rPr>
                  <a:t>hen apply </a:t>
                </a:r>
                <a14:m>
                  <m:oMath xmlns:m="http://schemas.openxmlformats.org/officeDocument/2006/math">
                    <m:r>
                      <a:rPr lang="en-VN" sz="2000" i="1">
                        <a:solidFill>
                          <a:srgbClr val="FF0000"/>
                        </a:solidFill>
                        <a:latin typeface="Cambria Math" panose="02040503050406030204" pitchFamily="18" charset="0"/>
                      </a:rPr>
                      <m:t>𝑋</m:t>
                    </m:r>
                  </m:oMath>
                </a14:m>
                <a:endParaRPr lang="en-VN" sz="2000">
                  <a:solidFill>
                    <a:srgbClr val="FF0000"/>
                  </a:solidFill>
                </a:endParaRPr>
              </a:p>
            </p:txBody>
          </p:sp>
        </mc:Choice>
        <mc:Fallback xmlns="">
          <p:sp>
            <p:nvSpPr>
              <p:cNvPr id="28" name="TextBox 27">
                <a:extLst>
                  <a:ext uri="{FF2B5EF4-FFF2-40B4-BE49-F238E27FC236}">
                    <a16:creationId xmlns:a16="http://schemas.microsoft.com/office/drawing/2014/main" id="{E7187E27-6429-EFB7-FAF5-871E061CFB8E}"/>
                  </a:ext>
                </a:extLst>
              </p:cNvPr>
              <p:cNvSpPr txBox="1">
                <a:spLocks noRot="1" noChangeAspect="1" noMove="1" noResize="1" noEditPoints="1" noAdjustHandles="1" noChangeArrowheads="1" noChangeShapeType="1" noTextEdit="1"/>
              </p:cNvSpPr>
              <p:nvPr/>
            </p:nvSpPr>
            <p:spPr>
              <a:xfrm>
                <a:off x="2458029" y="2381746"/>
                <a:ext cx="2464836" cy="400110"/>
              </a:xfrm>
              <a:prstGeom prst="rect">
                <a:avLst/>
              </a:prstGeom>
              <a:blipFill>
                <a:blip r:embed="rId5"/>
                <a:stretch>
                  <a:fillRect l="-2564" t="-9375" b="-28125"/>
                </a:stretch>
              </a:blipFill>
            </p:spPr>
            <p:txBody>
              <a:bodyPr/>
              <a:lstStyle/>
              <a:p>
                <a:r>
                  <a:rPr lang="en-VN">
                    <a:noFill/>
                  </a:rPr>
                  <a:t> </a:t>
                </a:r>
              </a:p>
            </p:txBody>
          </p:sp>
        </mc:Fallback>
      </mc:AlternateContent>
      <p:sp>
        <p:nvSpPr>
          <p:cNvPr id="29" name="Left Brace 28">
            <a:extLst>
              <a:ext uri="{FF2B5EF4-FFF2-40B4-BE49-F238E27FC236}">
                <a16:creationId xmlns:a16="http://schemas.microsoft.com/office/drawing/2014/main" id="{306C0AEA-B1E3-5BA7-4C6E-2DEB441B4C9E}"/>
              </a:ext>
            </a:extLst>
          </p:cNvPr>
          <p:cNvSpPr/>
          <p:nvPr/>
        </p:nvSpPr>
        <p:spPr>
          <a:xfrm rot="16200000">
            <a:off x="2773676" y="1816050"/>
            <a:ext cx="205933" cy="899290"/>
          </a:xfrm>
          <a:prstGeom prst="leftBrace">
            <a:avLst>
              <a:gd name="adj1" fmla="val 44697"/>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cxnSp>
        <p:nvCxnSpPr>
          <p:cNvPr id="34" name="Straight Connector 33">
            <a:extLst>
              <a:ext uri="{FF2B5EF4-FFF2-40B4-BE49-F238E27FC236}">
                <a16:creationId xmlns:a16="http://schemas.microsoft.com/office/drawing/2014/main" id="{2B18FC69-CB1E-EADA-5AC6-F32A6FB6F146}"/>
              </a:ext>
            </a:extLst>
          </p:cNvPr>
          <p:cNvCxnSpPr>
            <a:cxnSpLocks/>
          </p:cNvCxnSpPr>
          <p:nvPr/>
        </p:nvCxnSpPr>
        <p:spPr>
          <a:xfrm>
            <a:off x="1850467" y="3043988"/>
            <a:ext cx="1476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E8CB0A59-FC81-AC97-08C7-67CBA8E64510}"/>
              </a:ext>
            </a:extLst>
          </p:cNvPr>
          <p:cNvCxnSpPr>
            <a:cxnSpLocks/>
          </p:cNvCxnSpPr>
          <p:nvPr/>
        </p:nvCxnSpPr>
        <p:spPr>
          <a:xfrm>
            <a:off x="1850467" y="3607449"/>
            <a:ext cx="147600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4B553032-4253-7894-B6BE-AF2378A8B260}"/>
                  </a:ext>
                </a:extLst>
              </p:cNvPr>
              <p:cNvSpPr/>
              <p:nvPr/>
            </p:nvSpPr>
            <p:spPr>
              <a:xfrm>
                <a:off x="2127393" y="3341757"/>
                <a:ext cx="530728"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2400" b="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oMath>
                  </m:oMathPara>
                </a14:m>
                <a:endParaRPr lang="vi-VN" sz="2400" i="1">
                  <a:solidFill>
                    <a:schemeClr val="tx1"/>
                  </a:solidFill>
                </a:endParaRPr>
              </a:p>
            </p:txBody>
          </p:sp>
        </mc:Choice>
        <mc:Fallback xmlns="">
          <p:sp>
            <p:nvSpPr>
              <p:cNvPr id="36" name="Rectangle 35">
                <a:extLst>
                  <a:ext uri="{FF2B5EF4-FFF2-40B4-BE49-F238E27FC236}">
                    <a16:creationId xmlns:a16="http://schemas.microsoft.com/office/drawing/2014/main" id="{4B553032-4253-7894-B6BE-AF2378A8B260}"/>
                  </a:ext>
                </a:extLst>
              </p:cNvPr>
              <p:cNvSpPr>
                <a:spLocks noRot="1" noChangeAspect="1" noMove="1" noResize="1" noEditPoints="1" noAdjustHandles="1" noChangeArrowheads="1" noChangeShapeType="1" noTextEdit="1"/>
              </p:cNvSpPr>
              <p:nvPr/>
            </p:nvSpPr>
            <p:spPr>
              <a:xfrm>
                <a:off x="2127393" y="3341757"/>
                <a:ext cx="530728" cy="544297"/>
              </a:xfrm>
              <a:prstGeom prst="rect">
                <a:avLst/>
              </a:prstGeom>
              <a:blipFill>
                <a:blip r:embed="rId6"/>
                <a:stretch>
                  <a:fillRect/>
                </a:stretch>
              </a:blipFill>
              <a:ln>
                <a:solidFill>
                  <a:schemeClr val="tx1"/>
                </a:solidFill>
              </a:ln>
            </p:spPr>
            <p:txBody>
              <a:bodyPr/>
              <a:lstStyle/>
              <a:p>
                <a:r>
                  <a:rPr lang="vi-VN">
                    <a:noFill/>
                  </a:rPr>
                  <a:t> </a:t>
                </a:r>
              </a:p>
            </p:txBody>
          </p:sp>
        </mc:Fallback>
      </mc:AlternateContent>
      <p:sp>
        <p:nvSpPr>
          <p:cNvPr id="37" name="Hình chữ nhật 93">
            <a:extLst>
              <a:ext uri="{FF2B5EF4-FFF2-40B4-BE49-F238E27FC236}">
                <a16:creationId xmlns:a16="http://schemas.microsoft.com/office/drawing/2014/main" id="{E965B31F-C3A2-8CC3-F243-46FB1DD42EA0}"/>
              </a:ext>
            </a:extLst>
          </p:cNvPr>
          <p:cNvSpPr/>
          <p:nvPr/>
        </p:nvSpPr>
        <p:spPr>
          <a:xfrm>
            <a:off x="2902458" y="2890521"/>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38" name="Arc 37">
            <a:extLst>
              <a:ext uri="{FF2B5EF4-FFF2-40B4-BE49-F238E27FC236}">
                <a16:creationId xmlns:a16="http://schemas.microsoft.com/office/drawing/2014/main" id="{28445272-A590-264C-EAF0-63090C48E410}"/>
              </a:ext>
            </a:extLst>
          </p:cNvPr>
          <p:cNvSpPr/>
          <p:nvPr/>
        </p:nvSpPr>
        <p:spPr>
          <a:xfrm>
            <a:off x="2958155" y="3035121"/>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39" name="Straight Arrow Connector 38">
            <a:extLst>
              <a:ext uri="{FF2B5EF4-FFF2-40B4-BE49-F238E27FC236}">
                <a16:creationId xmlns:a16="http://schemas.microsoft.com/office/drawing/2014/main" id="{27100CEE-647B-7861-5205-6290DE563CC4}"/>
              </a:ext>
            </a:extLst>
          </p:cNvPr>
          <p:cNvCxnSpPr>
            <a:cxnSpLocks/>
          </p:cNvCxnSpPr>
          <p:nvPr/>
        </p:nvCxnSpPr>
        <p:spPr>
          <a:xfrm flipV="1">
            <a:off x="3012371" y="2957492"/>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A313EE21-1330-1CD4-DA09-8788C4522CE4}"/>
              </a:ext>
            </a:extLst>
          </p:cNvPr>
          <p:cNvCxnSpPr>
            <a:cxnSpLocks/>
            <a:stCxn id="36" idx="0"/>
            <a:endCxn id="41" idx="4"/>
          </p:cNvCxnSpPr>
          <p:nvPr/>
        </p:nvCxnSpPr>
        <p:spPr>
          <a:xfrm flipH="1" flipV="1">
            <a:off x="2389326" y="3144819"/>
            <a:ext cx="3431" cy="196938"/>
          </a:xfrm>
          <a:prstGeom prst="line">
            <a:avLst/>
          </a:prstGeom>
          <a:ln w="38100"/>
        </p:spPr>
        <p:style>
          <a:lnRef idx="1">
            <a:schemeClr val="dk1"/>
          </a:lnRef>
          <a:fillRef idx="0">
            <a:schemeClr val="dk1"/>
          </a:fillRef>
          <a:effectRef idx="0">
            <a:schemeClr val="dk1"/>
          </a:effectRef>
          <a:fontRef idx="minor">
            <a:schemeClr val="tx1"/>
          </a:fontRef>
        </p:style>
      </p:cxnSp>
      <p:sp>
        <p:nvSpPr>
          <p:cNvPr id="41" name="Oval 40">
            <a:extLst>
              <a:ext uri="{FF2B5EF4-FFF2-40B4-BE49-F238E27FC236}">
                <a16:creationId xmlns:a16="http://schemas.microsoft.com/office/drawing/2014/main" id="{E843C07A-12FA-0EDC-F51F-5239D4351831}"/>
              </a:ext>
            </a:extLst>
          </p:cNvPr>
          <p:cNvSpPr>
            <a:spLocks noChangeAspect="1"/>
          </p:cNvSpPr>
          <p:nvPr/>
        </p:nvSpPr>
        <p:spPr>
          <a:xfrm>
            <a:off x="2281326" y="2943154"/>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8212CA8-7007-5456-64C1-DB033DED8DDD}"/>
                  </a:ext>
                </a:extLst>
              </p:cNvPr>
              <p:cNvSpPr txBox="1"/>
              <p:nvPr/>
            </p:nvSpPr>
            <p:spPr>
              <a:xfrm>
                <a:off x="3271868" y="2992092"/>
                <a:ext cx="7801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m:t>
                      </m:r>
                    </m:oMath>
                  </m:oMathPara>
                </a14:m>
                <a:endParaRPr lang="vi-VN" sz="2400"/>
              </a:p>
            </p:txBody>
          </p:sp>
        </mc:Choice>
        <mc:Fallback xmlns="">
          <p:sp>
            <p:nvSpPr>
              <p:cNvPr id="44" name="TextBox 43">
                <a:extLst>
                  <a:ext uri="{FF2B5EF4-FFF2-40B4-BE49-F238E27FC236}">
                    <a16:creationId xmlns:a16="http://schemas.microsoft.com/office/drawing/2014/main" id="{F8212CA8-7007-5456-64C1-DB033DED8DDD}"/>
                  </a:ext>
                </a:extLst>
              </p:cNvPr>
              <p:cNvSpPr txBox="1">
                <a:spLocks noRot="1" noChangeAspect="1" noMove="1" noResize="1" noEditPoints="1" noAdjustHandles="1" noChangeArrowheads="1" noChangeShapeType="1" noTextEdit="1"/>
              </p:cNvSpPr>
              <p:nvPr/>
            </p:nvSpPr>
            <p:spPr>
              <a:xfrm>
                <a:off x="3271868" y="2992092"/>
                <a:ext cx="780176" cy="461665"/>
              </a:xfrm>
              <a:prstGeom prst="rect">
                <a:avLst/>
              </a:prstGeom>
              <a:blipFill>
                <a:blip r:embed="rId7"/>
                <a:stretch>
                  <a:fillRect/>
                </a:stretch>
              </a:blipFill>
            </p:spPr>
            <p:txBody>
              <a:bodyPr/>
              <a:lstStyle/>
              <a:p>
                <a:r>
                  <a:rPr lang="en-VN">
                    <a:noFill/>
                  </a:rPr>
                  <a:t> </a:t>
                </a:r>
              </a:p>
            </p:txBody>
          </p:sp>
        </mc:Fallback>
      </mc:AlternateContent>
      <p:cxnSp>
        <p:nvCxnSpPr>
          <p:cNvPr id="45" name="Straight Connector 44">
            <a:extLst>
              <a:ext uri="{FF2B5EF4-FFF2-40B4-BE49-F238E27FC236}">
                <a16:creationId xmlns:a16="http://schemas.microsoft.com/office/drawing/2014/main" id="{205F8751-B862-613D-2A65-00C50862BB9D}"/>
              </a:ext>
            </a:extLst>
          </p:cNvPr>
          <p:cNvCxnSpPr>
            <a:cxnSpLocks/>
            <a:endCxn id="48" idx="1"/>
          </p:cNvCxnSpPr>
          <p:nvPr/>
        </p:nvCxnSpPr>
        <p:spPr>
          <a:xfrm>
            <a:off x="4032190" y="3043988"/>
            <a:ext cx="398927"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463C5C7D-D4B9-9043-37D2-0E7B8C105031}"/>
              </a:ext>
            </a:extLst>
          </p:cNvPr>
          <p:cNvCxnSpPr>
            <a:cxnSpLocks/>
          </p:cNvCxnSpPr>
          <p:nvPr/>
        </p:nvCxnSpPr>
        <p:spPr>
          <a:xfrm>
            <a:off x="4032190" y="3607449"/>
            <a:ext cx="1476000" cy="0"/>
          </a:xfrm>
          <a:prstGeom prst="line">
            <a:avLst/>
          </a:prstGeom>
          <a:ln w="38100"/>
        </p:spPr>
        <p:style>
          <a:lnRef idx="1">
            <a:schemeClr val="dk1"/>
          </a:lnRef>
          <a:fillRef idx="0">
            <a:schemeClr val="dk1"/>
          </a:fillRef>
          <a:effectRef idx="0">
            <a:schemeClr val="dk1"/>
          </a:effectRef>
          <a:fontRef idx="minor">
            <a:schemeClr val="tx1"/>
          </a:fontRef>
        </p:style>
      </p:cxnSp>
      <p:sp>
        <p:nvSpPr>
          <p:cNvPr id="48" name="Hình chữ nhật 93">
            <a:extLst>
              <a:ext uri="{FF2B5EF4-FFF2-40B4-BE49-F238E27FC236}">
                <a16:creationId xmlns:a16="http://schemas.microsoft.com/office/drawing/2014/main" id="{720BC6DD-B6C2-687C-8D76-546BD71D9AD8}"/>
              </a:ext>
            </a:extLst>
          </p:cNvPr>
          <p:cNvSpPr/>
          <p:nvPr/>
        </p:nvSpPr>
        <p:spPr>
          <a:xfrm>
            <a:off x="4431117" y="2890521"/>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49" name="Arc 48">
            <a:extLst>
              <a:ext uri="{FF2B5EF4-FFF2-40B4-BE49-F238E27FC236}">
                <a16:creationId xmlns:a16="http://schemas.microsoft.com/office/drawing/2014/main" id="{26CFA094-FB12-D06C-FF97-CBA3F54DDBB9}"/>
              </a:ext>
            </a:extLst>
          </p:cNvPr>
          <p:cNvSpPr/>
          <p:nvPr/>
        </p:nvSpPr>
        <p:spPr>
          <a:xfrm>
            <a:off x="4486814" y="3035121"/>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50" name="Straight Arrow Connector 49">
            <a:extLst>
              <a:ext uri="{FF2B5EF4-FFF2-40B4-BE49-F238E27FC236}">
                <a16:creationId xmlns:a16="http://schemas.microsoft.com/office/drawing/2014/main" id="{8C6328C8-67EB-98F0-E0C3-AD9BF6F07F7F}"/>
              </a:ext>
            </a:extLst>
          </p:cNvPr>
          <p:cNvCxnSpPr>
            <a:cxnSpLocks/>
          </p:cNvCxnSpPr>
          <p:nvPr/>
        </p:nvCxnSpPr>
        <p:spPr>
          <a:xfrm flipV="1">
            <a:off x="4541030" y="2957492"/>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2D38A9BA-ABC8-5A4D-770E-5E48B274081D}"/>
              </a:ext>
            </a:extLst>
          </p:cNvPr>
          <p:cNvCxnSpPr>
            <a:cxnSpLocks/>
          </p:cNvCxnSpPr>
          <p:nvPr/>
        </p:nvCxnSpPr>
        <p:spPr>
          <a:xfrm flipH="1" flipV="1">
            <a:off x="4543925" y="3191315"/>
            <a:ext cx="3431" cy="162000"/>
          </a:xfrm>
          <a:prstGeom prst="line">
            <a:avLst/>
          </a:prstGeom>
          <a:ln w="38100"/>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B114B02C-D82E-F877-ACE8-36E6286DF142}"/>
              </a:ext>
            </a:extLst>
          </p:cNvPr>
          <p:cNvCxnSpPr>
            <a:cxnSpLocks/>
          </p:cNvCxnSpPr>
          <p:nvPr/>
        </p:nvCxnSpPr>
        <p:spPr>
          <a:xfrm flipH="1" flipV="1">
            <a:off x="4618865" y="3191315"/>
            <a:ext cx="3431" cy="16200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A61B401A-ED41-55F3-C13B-47DEE4F93F2B}"/>
                  </a:ext>
                </a:extLst>
              </p:cNvPr>
              <p:cNvSpPr/>
              <p:nvPr/>
            </p:nvSpPr>
            <p:spPr>
              <a:xfrm>
                <a:off x="4309116" y="3341757"/>
                <a:ext cx="530728" cy="54429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2400" b="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oMath>
                  </m:oMathPara>
                </a14:m>
                <a:endParaRPr lang="vi-VN" sz="2400" i="1">
                  <a:solidFill>
                    <a:schemeClr val="tx1"/>
                  </a:solidFill>
                </a:endParaRPr>
              </a:p>
            </p:txBody>
          </p:sp>
        </mc:Choice>
        <mc:Fallback xmlns="">
          <p:sp>
            <p:nvSpPr>
              <p:cNvPr id="47" name="Rectangle 46">
                <a:extLst>
                  <a:ext uri="{FF2B5EF4-FFF2-40B4-BE49-F238E27FC236}">
                    <a16:creationId xmlns:a16="http://schemas.microsoft.com/office/drawing/2014/main" id="{A61B401A-ED41-55F3-C13B-47DEE4F93F2B}"/>
                  </a:ext>
                </a:extLst>
              </p:cNvPr>
              <p:cNvSpPr>
                <a:spLocks noRot="1" noChangeAspect="1" noMove="1" noResize="1" noEditPoints="1" noAdjustHandles="1" noChangeArrowheads="1" noChangeShapeType="1" noTextEdit="1"/>
              </p:cNvSpPr>
              <p:nvPr/>
            </p:nvSpPr>
            <p:spPr>
              <a:xfrm>
                <a:off x="4309116" y="3341757"/>
                <a:ext cx="530728" cy="544297"/>
              </a:xfrm>
              <a:prstGeom prst="rect">
                <a:avLst/>
              </a:prstGeom>
              <a:blipFill>
                <a:blip r:embed="rId8"/>
                <a:stretch>
                  <a:fillRect l="-11364" b="-8889"/>
                </a:stretch>
              </a:blipFill>
            </p:spPr>
            <p:txBody>
              <a:bodyPr/>
              <a:lstStyle/>
              <a:p>
                <a:r>
                  <a:rPr lang="en-VN">
                    <a:noFill/>
                  </a:rPr>
                  <a:t> </a:t>
                </a:r>
              </a:p>
            </p:txBody>
          </p:sp>
        </mc:Fallback>
      </mc:AlternateContent>
      <p:sp>
        <p:nvSpPr>
          <p:cNvPr id="54" name="Rectangle 53">
            <a:extLst>
              <a:ext uri="{FF2B5EF4-FFF2-40B4-BE49-F238E27FC236}">
                <a16:creationId xmlns:a16="http://schemas.microsoft.com/office/drawing/2014/main" id="{6990BC07-B800-FE61-2ADB-D6287C25BDEC}"/>
              </a:ext>
            </a:extLst>
          </p:cNvPr>
          <p:cNvSpPr/>
          <p:nvPr/>
        </p:nvSpPr>
        <p:spPr>
          <a:xfrm>
            <a:off x="3930360" y="2807213"/>
            <a:ext cx="2088859" cy="11809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i="1">
              <a:solidFill>
                <a:schemeClr val="tx1"/>
              </a:solidFill>
            </a:endParaRP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795DBFD1-E640-BE44-4906-04067BA5B2F3}"/>
                  </a:ext>
                </a:extLst>
              </p:cNvPr>
              <p:cNvSpPr txBox="1"/>
              <p:nvPr/>
            </p:nvSpPr>
            <p:spPr>
              <a:xfrm>
                <a:off x="1282829" y="3422783"/>
                <a:ext cx="6211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𝜓</m:t>
                          </m:r>
                        </m:e>
                        <m:sub>
                          <m:r>
                            <a:rPr lang="vi-VN" b="0" i="1">
                              <a:latin typeface="Cambria Math" panose="02040503050406030204" pitchFamily="18" charset="0"/>
                            </a:rPr>
                            <m:t>2</m:t>
                          </m:r>
                        </m:sub>
                      </m:sSub>
                      <m:r>
                        <a:rPr lang="vi-VN" b="0" i="1">
                          <a:latin typeface="Cambria Math" panose="02040503050406030204" pitchFamily="18" charset="0"/>
                        </a:rPr>
                        <m:t>⟩</m:t>
                      </m:r>
                    </m:oMath>
                  </m:oMathPara>
                </a14:m>
                <a:endParaRPr lang="en-VN" i="1"/>
              </a:p>
            </p:txBody>
          </p:sp>
        </mc:Choice>
        <mc:Fallback xmlns="">
          <p:sp>
            <p:nvSpPr>
              <p:cNvPr id="55" name="TextBox 54">
                <a:extLst>
                  <a:ext uri="{FF2B5EF4-FFF2-40B4-BE49-F238E27FC236}">
                    <a16:creationId xmlns:a16="http://schemas.microsoft.com/office/drawing/2014/main" id="{795DBFD1-E640-BE44-4906-04067BA5B2F3}"/>
                  </a:ext>
                </a:extLst>
              </p:cNvPr>
              <p:cNvSpPr txBox="1">
                <a:spLocks noRot="1" noChangeAspect="1" noMove="1" noResize="1" noEditPoints="1" noAdjustHandles="1" noChangeArrowheads="1" noChangeShapeType="1" noTextEdit="1"/>
              </p:cNvSpPr>
              <p:nvPr/>
            </p:nvSpPr>
            <p:spPr>
              <a:xfrm>
                <a:off x="1282829" y="3422783"/>
                <a:ext cx="621132" cy="369332"/>
              </a:xfrm>
              <a:prstGeom prst="rect">
                <a:avLst/>
              </a:prstGeom>
              <a:blipFill>
                <a:blip r:embed="rId9"/>
                <a:stretch>
                  <a:fillRect r="-2000" b="-1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BED7E5F-4F6C-5756-2E64-345A7F970EEF}"/>
                  </a:ext>
                </a:extLst>
              </p:cNvPr>
              <p:cNvSpPr txBox="1"/>
              <p:nvPr/>
            </p:nvSpPr>
            <p:spPr>
              <a:xfrm>
                <a:off x="1272509" y="2830079"/>
                <a:ext cx="6211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𝜓</m:t>
                          </m:r>
                        </m:e>
                        <m:sub>
                          <m:r>
                            <a:rPr lang="vi-VN" b="0" i="1">
                              <a:latin typeface="Cambria Math" panose="02040503050406030204" pitchFamily="18" charset="0"/>
                            </a:rPr>
                            <m:t>1</m:t>
                          </m:r>
                        </m:sub>
                      </m:sSub>
                      <m:r>
                        <a:rPr lang="vi-VN" b="0" i="1">
                          <a:latin typeface="Cambria Math" panose="02040503050406030204" pitchFamily="18" charset="0"/>
                        </a:rPr>
                        <m:t>⟩</m:t>
                      </m:r>
                    </m:oMath>
                  </m:oMathPara>
                </a14:m>
                <a:endParaRPr lang="en-VN" i="1"/>
              </a:p>
            </p:txBody>
          </p:sp>
        </mc:Choice>
        <mc:Fallback xmlns="">
          <p:sp>
            <p:nvSpPr>
              <p:cNvPr id="56" name="TextBox 55">
                <a:extLst>
                  <a:ext uri="{FF2B5EF4-FFF2-40B4-BE49-F238E27FC236}">
                    <a16:creationId xmlns:a16="http://schemas.microsoft.com/office/drawing/2014/main" id="{BBED7E5F-4F6C-5756-2E64-345A7F970EEF}"/>
                  </a:ext>
                </a:extLst>
              </p:cNvPr>
              <p:cNvSpPr txBox="1">
                <a:spLocks noRot="1" noChangeAspect="1" noMove="1" noResize="1" noEditPoints="1" noAdjustHandles="1" noChangeArrowheads="1" noChangeShapeType="1" noTextEdit="1"/>
              </p:cNvSpPr>
              <p:nvPr/>
            </p:nvSpPr>
            <p:spPr>
              <a:xfrm>
                <a:off x="1272509" y="2830079"/>
                <a:ext cx="621132" cy="369332"/>
              </a:xfrm>
              <a:prstGeom prst="rect">
                <a:avLst/>
              </a:prstGeom>
              <a:blipFill>
                <a:blip r:embed="rId10"/>
                <a:stretch>
                  <a:fillRect l="-2000" b="-1290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1DB39876-B10A-EBB5-9459-1D03A8DE5A8B}"/>
                  </a:ext>
                </a:extLst>
              </p:cNvPr>
              <p:cNvSpPr txBox="1"/>
              <p:nvPr/>
            </p:nvSpPr>
            <p:spPr>
              <a:xfrm>
                <a:off x="950997" y="4019050"/>
                <a:ext cx="189914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vi-VN" b="0" i="1">
                              <a:latin typeface="Cambria Math" panose="02040503050406030204" pitchFamily="18" charset="0"/>
                            </a:rPr>
                          </m:ctrlPr>
                        </m:dPr>
                        <m:e>
                          <m:r>
                            <m:rPr>
                              <m:sty m:val="p"/>
                            </m:rPr>
                            <a:rPr lang="vi-VN" b="0" i="0">
                              <a:latin typeface="Cambria Math" panose="02040503050406030204" pitchFamily="18" charset="0"/>
                            </a:rPr>
                            <m:t>Ψ</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sSub>
                            <m:sSubPr>
                              <m:ctrlPr>
                                <a:rPr lang="vi-VN" b="0" i="1">
                                  <a:latin typeface="Cambria Math" panose="02040503050406030204" pitchFamily="18" charset="0"/>
                                </a:rPr>
                              </m:ctrlPr>
                            </m:sSubPr>
                            <m:e>
                              <m:r>
                                <a:rPr lang="vi-VN" b="0" i="1">
                                  <a:latin typeface="Cambria Math" panose="02040503050406030204" pitchFamily="18" charset="0"/>
                                </a:rPr>
                                <m:t>𝜓</m:t>
                              </m:r>
                            </m:e>
                            <m:sub>
                              <m:r>
                                <a:rPr lang="vi-VN" b="0" i="1">
                                  <a:latin typeface="Cambria Math" panose="02040503050406030204" pitchFamily="18" charset="0"/>
                                </a:rPr>
                                <m:t>1</m:t>
                              </m:r>
                            </m:sub>
                          </m:sSub>
                        </m:e>
                      </m:d>
                      <m:r>
                        <a:rPr lang="vi-VN" b="0" i="1">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𝜓</m:t>
                          </m:r>
                        </m:e>
                        <m:sub>
                          <m:r>
                            <a:rPr lang="vi-VN" b="0" i="1">
                              <a:latin typeface="Cambria Math" panose="02040503050406030204" pitchFamily="18" charset="0"/>
                            </a:rPr>
                            <m:t>2</m:t>
                          </m:r>
                        </m:sub>
                      </m:sSub>
                      <m:r>
                        <a:rPr lang="vi-VN" b="0" i="1">
                          <a:latin typeface="Cambria Math" panose="02040503050406030204" pitchFamily="18" charset="0"/>
                        </a:rPr>
                        <m:t>⟩</m:t>
                      </m:r>
                    </m:oMath>
                  </m:oMathPara>
                </a14:m>
                <a:endParaRPr lang="en-VN"/>
              </a:p>
            </p:txBody>
          </p:sp>
        </mc:Choice>
        <mc:Fallback xmlns="">
          <p:sp>
            <p:nvSpPr>
              <p:cNvPr id="57" name="TextBox 56">
                <a:extLst>
                  <a:ext uri="{FF2B5EF4-FFF2-40B4-BE49-F238E27FC236}">
                    <a16:creationId xmlns:a16="http://schemas.microsoft.com/office/drawing/2014/main" id="{1DB39876-B10A-EBB5-9459-1D03A8DE5A8B}"/>
                  </a:ext>
                </a:extLst>
              </p:cNvPr>
              <p:cNvSpPr txBox="1">
                <a:spLocks noRot="1" noChangeAspect="1" noMove="1" noResize="1" noEditPoints="1" noAdjustHandles="1" noChangeArrowheads="1" noChangeShapeType="1" noTextEdit="1"/>
              </p:cNvSpPr>
              <p:nvPr/>
            </p:nvSpPr>
            <p:spPr>
              <a:xfrm>
                <a:off x="950997" y="4019050"/>
                <a:ext cx="1899146" cy="276999"/>
              </a:xfrm>
              <a:prstGeom prst="rect">
                <a:avLst/>
              </a:prstGeom>
              <a:blipFill>
                <a:blip r:embed="rId11"/>
                <a:stretch>
                  <a:fillRect t="-4348" r="-2649" b="-3478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0A97416B-DFA1-02AC-7B3D-D87E7028CE4D}"/>
                  </a:ext>
                </a:extLst>
              </p:cNvPr>
              <p:cNvSpPr txBox="1"/>
              <p:nvPr/>
            </p:nvSpPr>
            <p:spPr>
              <a:xfrm>
                <a:off x="1594426" y="4538996"/>
                <a:ext cx="3921118" cy="923330"/>
              </a:xfrm>
              <a:prstGeom prst="rect">
                <a:avLst/>
              </a:prstGeom>
              <a:noFill/>
            </p:spPr>
            <p:txBody>
              <a:bodyPr wrap="square" lIns="0" tIns="0" rIns="0" bIns="0" rtlCol="0">
                <a:spAutoFit/>
              </a:bodyPr>
              <a:lstStyle/>
              <a:p>
                <a:endParaRPr lang="vi-VN" sz="2000" b="0" i="1">
                  <a:latin typeface="Cambria Math" panose="02040503050406030204" pitchFamily="18" charset="0"/>
                </a:endParaRPr>
              </a:p>
              <a:p>
                <a:pPr/>
                <a14:m>
                  <m:oMathPara xmlns:m="http://schemas.openxmlformats.org/officeDocument/2006/math">
                    <m:oMathParaPr>
                      <m:jc m:val="left"/>
                    </m:oMathParaPr>
                    <m:oMath xmlns:m="http://schemas.openxmlformats.org/officeDocument/2006/math">
                      <m:d>
                        <m:dPr>
                          <m:begChr m:val="|"/>
                          <m:endChr m:val="⟩"/>
                          <m:ctrlPr>
                            <a:rPr lang="vi-VN" sz="2000" b="0" i="1">
                              <a:latin typeface="Cambria Math" panose="02040503050406030204" pitchFamily="18" charset="0"/>
                            </a:rPr>
                          </m:ctrlPr>
                        </m:dPr>
                        <m:e>
                          <m:r>
                            <m:rPr>
                              <m:sty m:val="p"/>
                            </m:rPr>
                            <a:rPr lang="vi-VN" sz="2000" b="0" i="0">
                              <a:latin typeface="Cambria Math" panose="02040503050406030204" pitchFamily="18" charset="0"/>
                            </a:rPr>
                            <m:t>Ψ</m:t>
                          </m:r>
                        </m:e>
                      </m:d>
                      <m:r>
                        <a:rPr lang="vi-VN" sz="2000" b="0" i="1">
                          <a:latin typeface="Cambria Math" panose="02040503050406030204" pitchFamily="18" charset="0"/>
                        </a:rPr>
                        <m:t>=</m:t>
                      </m:r>
                      <m:r>
                        <a:rPr lang="vi-VN" sz="2000" i="1">
                          <a:latin typeface="Cambria Math" panose="02040503050406030204" pitchFamily="18" charset="0"/>
                        </a:rPr>
                        <m:t>𝐶𝑈</m:t>
                      </m:r>
                      <m:d>
                        <m:dPr>
                          <m:begChr m:val="["/>
                          <m:endChr m:val="]"/>
                          <m:ctrlPr>
                            <a:rPr lang="vi-VN" sz="2000" b="0" i="1">
                              <a:latin typeface="Cambria Math" panose="02040503050406030204" pitchFamily="18" charset="0"/>
                            </a:rPr>
                          </m:ctrlPr>
                        </m:dPr>
                        <m:e>
                          <m:d>
                            <m:dPr>
                              <m:ctrlPr>
                                <a:rPr lang="vi-VN" sz="2000" i="1">
                                  <a:latin typeface="Cambria Math" panose="02040503050406030204" pitchFamily="18" charset="0"/>
                                </a:rPr>
                              </m:ctrlPr>
                            </m:dPr>
                            <m:e>
                              <m:r>
                                <a:rPr lang="vi-VN" sz="2000" i="1">
                                  <a:latin typeface="Cambria Math" panose="02040503050406030204" pitchFamily="18" charset="0"/>
                                </a:rPr>
                                <m:t>𝛼</m:t>
                              </m:r>
                              <m:d>
                                <m:dPr>
                                  <m:begChr m:val="|"/>
                                  <m:endChr m:val="⟩"/>
                                  <m:ctrlPr>
                                    <a:rPr lang="vi-VN" sz="2000" i="1">
                                      <a:latin typeface="Cambria Math" panose="02040503050406030204" pitchFamily="18" charset="0"/>
                                    </a:rPr>
                                  </m:ctrlPr>
                                </m:dPr>
                                <m:e>
                                  <m:r>
                                    <a:rPr lang="vi-VN" sz="2000" i="1">
                                      <a:latin typeface="Cambria Math" panose="02040503050406030204" pitchFamily="18" charset="0"/>
                                    </a:rPr>
                                    <m:t>0</m:t>
                                  </m:r>
                                </m:e>
                              </m:d>
                              <m:r>
                                <a:rPr lang="vi-VN" sz="2000" i="1">
                                  <a:latin typeface="Cambria Math" panose="02040503050406030204" pitchFamily="18" charset="0"/>
                                </a:rPr>
                                <m:t>+</m:t>
                              </m:r>
                              <m:r>
                                <a:rPr lang="vi-VN" sz="2000" i="1">
                                  <a:latin typeface="Cambria Math" panose="02040503050406030204" pitchFamily="18" charset="0"/>
                                </a:rPr>
                                <m:t>𝛽</m:t>
                              </m:r>
                              <m:r>
                                <a:rPr lang="vi-VN" sz="2000" i="1">
                                  <a:latin typeface="Cambria Math" panose="02040503050406030204" pitchFamily="18" charset="0"/>
                                </a:rPr>
                                <m:t>|1⟩</m:t>
                              </m:r>
                            </m:e>
                          </m:d>
                          <m:r>
                            <a:rPr lang="vi-VN" sz="2000" i="1">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𝜓</m:t>
                              </m:r>
                            </m:e>
                            <m:sub>
                              <m:r>
                                <a:rPr lang="vi-VN" sz="2000" i="1">
                                  <a:latin typeface="Cambria Math" panose="02040503050406030204" pitchFamily="18" charset="0"/>
                                </a:rPr>
                                <m:t>2</m:t>
                              </m:r>
                            </m:sub>
                          </m:sSub>
                          <m:r>
                            <a:rPr lang="vi-VN" sz="2000" i="1">
                              <a:latin typeface="Cambria Math" panose="02040503050406030204" pitchFamily="18" charset="0"/>
                            </a:rPr>
                            <m:t>⟩</m:t>
                          </m:r>
                        </m:e>
                      </m:d>
                    </m:oMath>
                  </m:oMathPara>
                </a14:m>
                <a:endParaRPr lang="vi-VN" sz="2000" b="0"/>
              </a:p>
              <a:p>
                <a:r>
                  <a:rPr lang="en-VN" sz="2000"/>
                  <a:t>       </a:t>
                </a:r>
                <a14:m>
                  <m:oMath xmlns:m="http://schemas.openxmlformats.org/officeDocument/2006/math">
                    <m:r>
                      <a:rPr lang="vi-VN" sz="2000" b="0" i="0">
                        <a:latin typeface="Cambria Math" panose="02040503050406030204" pitchFamily="18" charset="0"/>
                      </a:rPr>
                      <m:t> </m:t>
                    </m:r>
                    <m:r>
                      <a:rPr lang="vi-VN" sz="2000" b="0" i="1">
                        <a:latin typeface="Cambria Math" panose="02040503050406030204" pitchFamily="18" charset="0"/>
                      </a:rPr>
                      <m:t>=</m:t>
                    </m:r>
                    <m:r>
                      <a:rPr lang="vi-VN" sz="2000" b="0" i="1">
                        <a:solidFill>
                          <a:srgbClr val="FF0000"/>
                        </a:solidFill>
                        <a:latin typeface="Cambria Math" panose="02040503050406030204" pitchFamily="18" charset="0"/>
                      </a:rPr>
                      <m:t>𝛼</m:t>
                    </m:r>
                    <m:d>
                      <m:dPr>
                        <m:begChr m:val="|"/>
                        <m:endChr m:val="⟩"/>
                        <m:ctrlPr>
                          <a:rPr lang="vi-VN" sz="2000" b="0" i="1">
                            <a:solidFill>
                              <a:srgbClr val="FF0000"/>
                            </a:solidFill>
                            <a:latin typeface="Cambria Math" panose="02040503050406030204" pitchFamily="18" charset="0"/>
                          </a:rPr>
                        </m:ctrlPr>
                      </m:dPr>
                      <m:e>
                        <m:r>
                          <a:rPr lang="vi-VN" sz="2000" b="0" i="1">
                            <a:solidFill>
                              <a:srgbClr val="FF0000"/>
                            </a:solidFill>
                            <a:latin typeface="Cambria Math" panose="02040503050406030204" pitchFamily="18" charset="0"/>
                          </a:rPr>
                          <m:t>0</m:t>
                        </m:r>
                      </m:e>
                    </m:d>
                    <m:d>
                      <m:dPr>
                        <m:begChr m:val="|"/>
                        <m:endChr m:val="⟩"/>
                        <m:ctrlPr>
                          <a:rPr lang="vi-VN" sz="2000" b="0" i="1">
                            <a:solidFill>
                              <a:srgbClr val="FF0000"/>
                            </a:solidFill>
                            <a:latin typeface="Cambria Math" panose="02040503050406030204" pitchFamily="18" charset="0"/>
                          </a:rPr>
                        </m:ctrlPr>
                      </m:dPr>
                      <m:e>
                        <m:sSub>
                          <m:sSubPr>
                            <m:ctrlPr>
                              <a:rPr lang="vi-VN" sz="2000" b="0" i="1">
                                <a:solidFill>
                                  <a:srgbClr val="FF0000"/>
                                </a:solidFill>
                                <a:latin typeface="Cambria Math" panose="02040503050406030204" pitchFamily="18" charset="0"/>
                              </a:rPr>
                            </m:ctrlPr>
                          </m:sSubPr>
                          <m:e>
                            <m:r>
                              <a:rPr lang="vi-VN" sz="2000" b="0" i="1">
                                <a:solidFill>
                                  <a:srgbClr val="FF0000"/>
                                </a:solidFill>
                                <a:latin typeface="Cambria Math" panose="02040503050406030204" pitchFamily="18" charset="0"/>
                              </a:rPr>
                              <m:t>𝜓</m:t>
                            </m:r>
                          </m:e>
                          <m:sub>
                            <m:r>
                              <a:rPr lang="vi-VN" sz="2000" b="0" i="1">
                                <a:solidFill>
                                  <a:srgbClr val="FF0000"/>
                                </a:solidFill>
                                <a:latin typeface="Cambria Math" panose="02040503050406030204" pitchFamily="18" charset="0"/>
                              </a:rPr>
                              <m:t>2</m:t>
                            </m:r>
                          </m:sub>
                        </m:sSub>
                      </m:e>
                    </m:d>
                    <m:r>
                      <a:rPr lang="vi-VN" sz="2000" b="0" i="1">
                        <a:latin typeface="Cambria Math" panose="02040503050406030204" pitchFamily="18" charset="0"/>
                      </a:rPr>
                      <m:t>+</m:t>
                    </m:r>
                    <m:r>
                      <a:rPr lang="vi-VN" sz="2000" b="0" i="1">
                        <a:solidFill>
                          <a:schemeClr val="accent1"/>
                        </a:solidFill>
                        <a:latin typeface="Cambria Math" panose="02040503050406030204" pitchFamily="18" charset="0"/>
                      </a:rPr>
                      <m:t>𝛽</m:t>
                    </m:r>
                    <m:d>
                      <m:dPr>
                        <m:begChr m:val="|"/>
                        <m:endChr m:val="⟩"/>
                        <m:ctrlPr>
                          <a:rPr lang="vi-VN" sz="2000" b="0" i="1">
                            <a:solidFill>
                              <a:schemeClr val="accent1"/>
                            </a:solidFill>
                            <a:latin typeface="Cambria Math" panose="02040503050406030204" pitchFamily="18" charset="0"/>
                          </a:rPr>
                        </m:ctrlPr>
                      </m:dPr>
                      <m:e>
                        <m:r>
                          <a:rPr lang="vi-VN" sz="2000" b="0" i="1">
                            <a:solidFill>
                              <a:schemeClr val="accent1"/>
                            </a:solidFill>
                            <a:latin typeface="Cambria Math" panose="02040503050406030204" pitchFamily="18" charset="0"/>
                          </a:rPr>
                          <m:t>1</m:t>
                        </m:r>
                      </m:e>
                    </m:d>
                    <m:r>
                      <a:rPr lang="vi-VN" sz="2000" b="0" i="1">
                        <a:solidFill>
                          <a:schemeClr val="accent1"/>
                        </a:solidFill>
                        <a:latin typeface="Cambria Math" panose="02040503050406030204" pitchFamily="18" charset="0"/>
                      </a:rPr>
                      <m:t>⊗</m:t>
                    </m:r>
                    <m:d>
                      <m:dPr>
                        <m:ctrlPr>
                          <a:rPr lang="vi-VN" sz="2000" b="0" i="1">
                            <a:solidFill>
                              <a:schemeClr val="accent1"/>
                            </a:solidFill>
                            <a:latin typeface="Cambria Math" panose="02040503050406030204" pitchFamily="18" charset="0"/>
                          </a:rPr>
                        </m:ctrlPr>
                      </m:dPr>
                      <m:e>
                        <m:r>
                          <a:rPr lang="vi-VN" sz="2000" i="1">
                            <a:solidFill>
                              <a:schemeClr val="accent1"/>
                            </a:solidFill>
                            <a:latin typeface="Cambria Math" panose="02040503050406030204" pitchFamily="18" charset="0"/>
                          </a:rPr>
                          <m:t>𝑈</m:t>
                        </m:r>
                        <m:r>
                          <a:rPr lang="vi-VN" sz="2000" i="1">
                            <a:solidFill>
                              <a:schemeClr val="accent1"/>
                            </a:solidFill>
                            <a:latin typeface="Cambria Math" panose="02040503050406030204" pitchFamily="18" charset="0"/>
                          </a:rPr>
                          <m:t>|</m:t>
                        </m:r>
                        <m:sSub>
                          <m:sSubPr>
                            <m:ctrlPr>
                              <a:rPr lang="vi-VN" sz="2000" i="1">
                                <a:solidFill>
                                  <a:schemeClr val="accent1"/>
                                </a:solidFill>
                                <a:latin typeface="Cambria Math" panose="02040503050406030204" pitchFamily="18" charset="0"/>
                              </a:rPr>
                            </m:ctrlPr>
                          </m:sSubPr>
                          <m:e>
                            <m:r>
                              <a:rPr lang="vi-VN" sz="2000" i="1">
                                <a:solidFill>
                                  <a:schemeClr val="accent1"/>
                                </a:solidFill>
                                <a:latin typeface="Cambria Math" panose="02040503050406030204" pitchFamily="18" charset="0"/>
                              </a:rPr>
                              <m:t>𝜓</m:t>
                            </m:r>
                          </m:e>
                          <m:sub>
                            <m:r>
                              <a:rPr lang="vi-VN" sz="2000" i="1">
                                <a:solidFill>
                                  <a:schemeClr val="accent1"/>
                                </a:solidFill>
                                <a:latin typeface="Cambria Math" panose="02040503050406030204" pitchFamily="18" charset="0"/>
                              </a:rPr>
                              <m:t>2</m:t>
                            </m:r>
                          </m:sub>
                        </m:sSub>
                        <m:r>
                          <a:rPr lang="vi-VN" sz="2000" i="1">
                            <a:solidFill>
                              <a:schemeClr val="accent1"/>
                            </a:solidFill>
                            <a:latin typeface="Cambria Math" panose="02040503050406030204" pitchFamily="18" charset="0"/>
                          </a:rPr>
                          <m:t>⟩</m:t>
                        </m:r>
                      </m:e>
                    </m:d>
                  </m:oMath>
                </a14:m>
                <a:endParaRPr lang="en-VN" sz="2000"/>
              </a:p>
            </p:txBody>
          </p:sp>
        </mc:Choice>
        <mc:Fallback xmlns="">
          <p:sp>
            <p:nvSpPr>
              <p:cNvPr id="59" name="TextBox 58">
                <a:extLst>
                  <a:ext uri="{FF2B5EF4-FFF2-40B4-BE49-F238E27FC236}">
                    <a16:creationId xmlns:a16="http://schemas.microsoft.com/office/drawing/2014/main" id="{0A97416B-DFA1-02AC-7B3D-D87E7028CE4D}"/>
                  </a:ext>
                </a:extLst>
              </p:cNvPr>
              <p:cNvSpPr txBox="1">
                <a:spLocks noRot="1" noChangeAspect="1" noMove="1" noResize="1" noEditPoints="1" noAdjustHandles="1" noChangeArrowheads="1" noChangeShapeType="1" noTextEdit="1"/>
              </p:cNvSpPr>
              <p:nvPr/>
            </p:nvSpPr>
            <p:spPr>
              <a:xfrm>
                <a:off x="1594426" y="4538996"/>
                <a:ext cx="3921118" cy="923330"/>
              </a:xfrm>
              <a:prstGeom prst="rect">
                <a:avLst/>
              </a:prstGeom>
              <a:blipFill>
                <a:blip r:embed="rId12"/>
                <a:stretch>
                  <a:fillRect b="-12162"/>
                </a:stretch>
              </a:blipFill>
            </p:spPr>
            <p:txBody>
              <a:bodyPr/>
              <a:lstStyle/>
              <a:p>
                <a:r>
                  <a:rPr lang="en-VN">
                    <a:noFill/>
                  </a:rPr>
                  <a:t> </a:t>
                </a:r>
              </a:p>
            </p:txBody>
          </p:sp>
        </mc:Fallback>
      </mc:AlternateContent>
      <p:cxnSp>
        <p:nvCxnSpPr>
          <p:cNvPr id="61" name="Curved Connector 60">
            <a:extLst>
              <a:ext uri="{FF2B5EF4-FFF2-40B4-BE49-F238E27FC236}">
                <a16:creationId xmlns:a16="http://schemas.microsoft.com/office/drawing/2014/main" id="{EA8FCE11-8704-E5C2-CBA8-56628C401AD1}"/>
              </a:ext>
            </a:extLst>
          </p:cNvPr>
          <p:cNvCxnSpPr>
            <a:cxnSpLocks/>
            <a:endCxn id="59" idx="1"/>
          </p:cNvCxnSpPr>
          <p:nvPr/>
        </p:nvCxnSpPr>
        <p:spPr>
          <a:xfrm rot="16200000" flipH="1">
            <a:off x="1089826" y="4496061"/>
            <a:ext cx="626516" cy="382684"/>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9033A7B-708D-AC6F-E0C7-5706F4F1350E}"/>
                  </a:ext>
                </a:extLst>
              </p:cNvPr>
              <p:cNvSpPr txBox="1"/>
              <p:nvPr/>
            </p:nvSpPr>
            <p:spPr>
              <a:xfrm>
                <a:off x="1360690" y="4481650"/>
                <a:ext cx="1899146" cy="215444"/>
              </a:xfrm>
              <a:prstGeom prst="rect">
                <a:avLst/>
              </a:prstGeom>
              <a:noFill/>
            </p:spPr>
            <p:txBody>
              <a:bodyPr wrap="square" lIns="0" tIns="0" rIns="0" bIns="0" rtlCol="0">
                <a:spAutoFit/>
              </a:bodyPr>
              <a:lstStyle/>
              <a:p>
                <a:r>
                  <a:rPr lang="en-VN" sz="1400" i="1"/>
                  <a:t>Control-U </a:t>
                </a:r>
                <a14:m>
                  <m:oMath xmlns:m="http://schemas.openxmlformats.org/officeDocument/2006/math">
                    <m:r>
                      <a:rPr lang="vi-VN" sz="1400" b="0" i="1">
                        <a:latin typeface="Cambria Math" panose="02040503050406030204" pitchFamily="18" charset="0"/>
                      </a:rPr>
                      <m:t>≡</m:t>
                    </m:r>
                    <m:r>
                      <a:rPr lang="vi-VN" sz="1400" i="1">
                        <a:latin typeface="Cambria Math" panose="02040503050406030204" pitchFamily="18" charset="0"/>
                      </a:rPr>
                      <m:t>𝐶𝑈</m:t>
                    </m:r>
                  </m:oMath>
                </a14:m>
                <a:endParaRPr lang="en-VN" sz="1400" i="1"/>
              </a:p>
            </p:txBody>
          </p:sp>
        </mc:Choice>
        <mc:Fallback xmlns="">
          <p:sp>
            <p:nvSpPr>
              <p:cNvPr id="62" name="TextBox 61">
                <a:extLst>
                  <a:ext uri="{FF2B5EF4-FFF2-40B4-BE49-F238E27FC236}">
                    <a16:creationId xmlns:a16="http://schemas.microsoft.com/office/drawing/2014/main" id="{B9033A7B-708D-AC6F-E0C7-5706F4F1350E}"/>
                  </a:ext>
                </a:extLst>
              </p:cNvPr>
              <p:cNvSpPr txBox="1">
                <a:spLocks noRot="1" noChangeAspect="1" noMove="1" noResize="1" noEditPoints="1" noAdjustHandles="1" noChangeArrowheads="1" noChangeShapeType="1" noTextEdit="1"/>
              </p:cNvSpPr>
              <p:nvPr/>
            </p:nvSpPr>
            <p:spPr>
              <a:xfrm>
                <a:off x="1360690" y="4481650"/>
                <a:ext cx="1899146" cy="215444"/>
              </a:xfrm>
              <a:prstGeom prst="rect">
                <a:avLst/>
              </a:prstGeom>
              <a:blipFill>
                <a:blip r:embed="rId13"/>
                <a:stretch>
                  <a:fillRect l="-6000" t="-21053" b="-42105"/>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CD4891D-2B47-BE47-0041-F6DB0DCB5278}"/>
                  </a:ext>
                </a:extLst>
              </p:cNvPr>
              <p:cNvSpPr txBox="1"/>
              <p:nvPr/>
            </p:nvSpPr>
            <p:spPr>
              <a:xfrm>
                <a:off x="8943294" y="3663874"/>
                <a:ext cx="8342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i="1">
                          <a:solidFill>
                            <a:srgbClr val="0070C0"/>
                          </a:solidFill>
                          <a:latin typeface="Cambria Math" panose="02040503050406030204" pitchFamily="18" charset="0"/>
                        </a:rPr>
                        <m:t>𝑈</m:t>
                      </m:r>
                      <m:r>
                        <a:rPr lang="vi-VN" i="1">
                          <a:solidFill>
                            <a:srgbClr val="0070C0"/>
                          </a:solidFill>
                          <a:latin typeface="Cambria Math" panose="02040503050406030204" pitchFamily="18" charset="0"/>
                        </a:rPr>
                        <m:t>|</m:t>
                      </m:r>
                      <m:sSub>
                        <m:sSubPr>
                          <m:ctrlPr>
                            <a:rPr lang="vi-VN" i="1">
                              <a:solidFill>
                                <a:srgbClr val="0070C0"/>
                              </a:solidFill>
                              <a:latin typeface="Cambria Math" panose="02040503050406030204" pitchFamily="18" charset="0"/>
                            </a:rPr>
                          </m:ctrlPr>
                        </m:sSubPr>
                        <m:e>
                          <m:r>
                            <a:rPr lang="vi-VN" i="1">
                              <a:solidFill>
                                <a:srgbClr val="0070C0"/>
                              </a:solidFill>
                              <a:latin typeface="Cambria Math" panose="02040503050406030204" pitchFamily="18" charset="0"/>
                            </a:rPr>
                            <m:t>𝜓</m:t>
                          </m:r>
                        </m:e>
                        <m:sub>
                          <m:r>
                            <a:rPr lang="vi-VN" i="1">
                              <a:solidFill>
                                <a:srgbClr val="0070C0"/>
                              </a:solidFill>
                              <a:latin typeface="Cambria Math" panose="02040503050406030204" pitchFamily="18" charset="0"/>
                            </a:rPr>
                            <m:t>2</m:t>
                          </m:r>
                        </m:sub>
                      </m:sSub>
                      <m:r>
                        <a:rPr lang="vi-VN" i="1">
                          <a:solidFill>
                            <a:srgbClr val="0070C0"/>
                          </a:solidFill>
                          <a:latin typeface="Cambria Math" panose="02040503050406030204" pitchFamily="18" charset="0"/>
                        </a:rPr>
                        <m:t>⟩</m:t>
                      </m:r>
                    </m:oMath>
                  </m:oMathPara>
                </a14:m>
                <a:endParaRPr lang="en-VN">
                  <a:solidFill>
                    <a:srgbClr val="0070C0"/>
                  </a:solidFill>
                </a:endParaRPr>
              </a:p>
            </p:txBody>
          </p:sp>
        </mc:Choice>
        <mc:Fallback xmlns="">
          <p:sp>
            <p:nvSpPr>
              <p:cNvPr id="70" name="TextBox 69">
                <a:extLst>
                  <a:ext uri="{FF2B5EF4-FFF2-40B4-BE49-F238E27FC236}">
                    <a16:creationId xmlns:a16="http://schemas.microsoft.com/office/drawing/2014/main" id="{0CD4891D-2B47-BE47-0041-F6DB0DCB5278}"/>
                  </a:ext>
                </a:extLst>
              </p:cNvPr>
              <p:cNvSpPr txBox="1">
                <a:spLocks noRot="1" noChangeAspect="1" noMove="1" noResize="1" noEditPoints="1" noAdjustHandles="1" noChangeArrowheads="1" noChangeShapeType="1" noTextEdit="1"/>
              </p:cNvSpPr>
              <p:nvPr/>
            </p:nvSpPr>
            <p:spPr>
              <a:xfrm>
                <a:off x="8943294" y="3663874"/>
                <a:ext cx="834244" cy="369332"/>
              </a:xfrm>
              <a:prstGeom prst="rect">
                <a:avLst/>
              </a:prstGeom>
              <a:blipFill>
                <a:blip r:embed="rId14"/>
                <a:stretch>
                  <a:fillRect b="-13333"/>
                </a:stretch>
              </a:blipFill>
            </p:spPr>
            <p:txBody>
              <a:bodyPr/>
              <a:lstStyle/>
              <a:p>
                <a:r>
                  <a:rPr lang="en-VN">
                    <a:noFill/>
                  </a:rPr>
                  <a:t> </a:t>
                </a:r>
              </a:p>
            </p:txBody>
          </p:sp>
        </mc:Fallback>
      </mc:AlternateContent>
      <p:sp>
        <p:nvSpPr>
          <p:cNvPr id="74" name="TextBox 73">
            <a:extLst>
              <a:ext uri="{FF2B5EF4-FFF2-40B4-BE49-F238E27FC236}">
                <a16:creationId xmlns:a16="http://schemas.microsoft.com/office/drawing/2014/main" id="{41A6E760-5783-3834-5A83-55624AFB048B}"/>
              </a:ext>
            </a:extLst>
          </p:cNvPr>
          <p:cNvSpPr txBox="1"/>
          <p:nvPr/>
        </p:nvSpPr>
        <p:spPr>
          <a:xfrm>
            <a:off x="6155011" y="2865113"/>
            <a:ext cx="2160854" cy="369332"/>
          </a:xfrm>
          <a:prstGeom prst="rect">
            <a:avLst/>
          </a:prstGeom>
          <a:noFill/>
        </p:spPr>
        <p:txBody>
          <a:bodyPr wrap="square" rtlCol="0">
            <a:spAutoFit/>
          </a:bodyPr>
          <a:lstStyle/>
          <a:p>
            <a:r>
              <a:rPr lang="en-VN">
                <a:solidFill>
                  <a:srgbClr val="FF0000"/>
                </a:solidFill>
              </a:rPr>
              <a:t>If we get 0</a:t>
            </a:r>
          </a:p>
        </p:txBody>
      </p:sp>
      <p:sp>
        <p:nvSpPr>
          <p:cNvPr id="75" name="TextBox 74">
            <a:extLst>
              <a:ext uri="{FF2B5EF4-FFF2-40B4-BE49-F238E27FC236}">
                <a16:creationId xmlns:a16="http://schemas.microsoft.com/office/drawing/2014/main" id="{1778B309-D3A1-551C-37C2-35451685D5DB}"/>
              </a:ext>
            </a:extLst>
          </p:cNvPr>
          <p:cNvSpPr txBox="1"/>
          <p:nvPr/>
        </p:nvSpPr>
        <p:spPr>
          <a:xfrm>
            <a:off x="8245744" y="3054891"/>
            <a:ext cx="2229345" cy="369332"/>
          </a:xfrm>
          <a:prstGeom prst="rect">
            <a:avLst/>
          </a:prstGeom>
          <a:noFill/>
        </p:spPr>
        <p:txBody>
          <a:bodyPr wrap="square" rtlCol="0">
            <a:spAutoFit/>
          </a:bodyPr>
          <a:lstStyle/>
          <a:p>
            <a:r>
              <a:rPr lang="en-VN">
                <a:solidFill>
                  <a:srgbClr val="0070C0"/>
                </a:solidFill>
              </a:rPr>
              <a:t>If we get 1</a:t>
            </a:r>
          </a:p>
        </p:txBody>
      </p:sp>
      <p:cxnSp>
        <p:nvCxnSpPr>
          <p:cNvPr id="77" name="Straight Arrow Connector 76">
            <a:extLst>
              <a:ext uri="{FF2B5EF4-FFF2-40B4-BE49-F238E27FC236}">
                <a16:creationId xmlns:a16="http://schemas.microsoft.com/office/drawing/2014/main" id="{01878246-08F7-0F2B-FBCC-37C0E06E0C2F}"/>
              </a:ext>
            </a:extLst>
          </p:cNvPr>
          <p:cNvCxnSpPr>
            <a:cxnSpLocks/>
            <a:stCxn id="48" idx="3"/>
            <a:endCxn id="74" idx="1"/>
          </p:cNvCxnSpPr>
          <p:nvPr/>
        </p:nvCxnSpPr>
        <p:spPr>
          <a:xfrm>
            <a:off x="4737436" y="3043988"/>
            <a:ext cx="1417575" cy="5791"/>
          </a:xfrm>
          <a:prstGeom prst="straightConnector1">
            <a:avLst/>
          </a:prstGeom>
          <a:ln>
            <a:solidFill>
              <a:srgbClr val="FF0000"/>
            </a:solidFill>
            <a:prstDash val="lgDash"/>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36AB6D29-9D31-FE37-6DEA-860D6393D145}"/>
                  </a:ext>
                </a:extLst>
              </p:cNvPr>
              <p:cNvSpPr txBox="1"/>
              <p:nvPr/>
            </p:nvSpPr>
            <p:spPr>
              <a:xfrm>
                <a:off x="6818316" y="3424725"/>
                <a:ext cx="8342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i="1">
                          <a:solidFill>
                            <a:srgbClr val="FF0000"/>
                          </a:solidFill>
                          <a:latin typeface="Cambria Math" panose="02040503050406030204" pitchFamily="18" charset="0"/>
                        </a:rPr>
                        <m:t>|</m:t>
                      </m:r>
                      <m:sSub>
                        <m:sSubPr>
                          <m:ctrlPr>
                            <a:rPr lang="vi-VN" i="1">
                              <a:solidFill>
                                <a:srgbClr val="FF0000"/>
                              </a:solidFill>
                              <a:latin typeface="Cambria Math" panose="02040503050406030204" pitchFamily="18" charset="0"/>
                            </a:rPr>
                          </m:ctrlPr>
                        </m:sSubPr>
                        <m:e>
                          <m:r>
                            <a:rPr lang="vi-VN" i="1">
                              <a:solidFill>
                                <a:srgbClr val="FF0000"/>
                              </a:solidFill>
                              <a:latin typeface="Cambria Math" panose="02040503050406030204" pitchFamily="18" charset="0"/>
                            </a:rPr>
                            <m:t>𝜓</m:t>
                          </m:r>
                        </m:e>
                        <m:sub>
                          <m:r>
                            <a:rPr lang="vi-VN" i="1">
                              <a:solidFill>
                                <a:srgbClr val="FF0000"/>
                              </a:solidFill>
                              <a:latin typeface="Cambria Math" panose="02040503050406030204" pitchFamily="18" charset="0"/>
                            </a:rPr>
                            <m:t>2</m:t>
                          </m:r>
                        </m:sub>
                      </m:sSub>
                      <m:r>
                        <a:rPr lang="vi-VN" i="1">
                          <a:solidFill>
                            <a:srgbClr val="FF0000"/>
                          </a:solidFill>
                          <a:latin typeface="Cambria Math" panose="02040503050406030204" pitchFamily="18" charset="0"/>
                        </a:rPr>
                        <m:t>⟩</m:t>
                      </m:r>
                    </m:oMath>
                  </m:oMathPara>
                </a14:m>
                <a:endParaRPr lang="en-VN">
                  <a:solidFill>
                    <a:srgbClr val="FF0000"/>
                  </a:solidFill>
                </a:endParaRPr>
              </a:p>
            </p:txBody>
          </p:sp>
        </mc:Choice>
        <mc:Fallback xmlns="">
          <p:sp>
            <p:nvSpPr>
              <p:cNvPr id="78" name="TextBox 77">
                <a:extLst>
                  <a:ext uri="{FF2B5EF4-FFF2-40B4-BE49-F238E27FC236}">
                    <a16:creationId xmlns:a16="http://schemas.microsoft.com/office/drawing/2014/main" id="{36AB6D29-9D31-FE37-6DEA-860D6393D145}"/>
                  </a:ext>
                </a:extLst>
              </p:cNvPr>
              <p:cNvSpPr txBox="1">
                <a:spLocks noRot="1" noChangeAspect="1" noMove="1" noResize="1" noEditPoints="1" noAdjustHandles="1" noChangeArrowheads="1" noChangeShapeType="1" noTextEdit="1"/>
              </p:cNvSpPr>
              <p:nvPr/>
            </p:nvSpPr>
            <p:spPr>
              <a:xfrm>
                <a:off x="6818316" y="3424725"/>
                <a:ext cx="834244" cy="369332"/>
              </a:xfrm>
              <a:prstGeom prst="rect">
                <a:avLst/>
              </a:prstGeom>
              <a:blipFill>
                <a:blip r:embed="rId15"/>
                <a:stretch>
                  <a:fillRect b="-13333"/>
                </a:stretch>
              </a:blipFill>
            </p:spPr>
            <p:txBody>
              <a:bodyPr/>
              <a:lstStyle/>
              <a:p>
                <a:r>
                  <a:rPr lang="en-VN">
                    <a:noFill/>
                  </a:rPr>
                  <a:t> </a:t>
                </a:r>
              </a:p>
            </p:txBody>
          </p:sp>
        </mc:Fallback>
      </mc:AlternateContent>
      <p:cxnSp>
        <p:nvCxnSpPr>
          <p:cNvPr id="79" name="Straight Arrow Connector 78">
            <a:extLst>
              <a:ext uri="{FF2B5EF4-FFF2-40B4-BE49-F238E27FC236}">
                <a16:creationId xmlns:a16="http://schemas.microsoft.com/office/drawing/2014/main" id="{E115EA13-EC05-0B08-617B-5A552ADE5AD6}"/>
              </a:ext>
            </a:extLst>
          </p:cNvPr>
          <p:cNvCxnSpPr>
            <a:cxnSpLocks/>
          </p:cNvCxnSpPr>
          <p:nvPr/>
        </p:nvCxnSpPr>
        <p:spPr>
          <a:xfrm>
            <a:off x="7152313" y="3110958"/>
            <a:ext cx="0" cy="313767"/>
          </a:xfrm>
          <a:prstGeom prst="straightConnector1">
            <a:avLst/>
          </a:prstGeom>
          <a:ln>
            <a:solidFill>
              <a:srgbClr val="FF0000"/>
            </a:solidFill>
            <a:prstDash val="lgDash"/>
            <a:tailEnd type="triangle"/>
          </a:ln>
        </p:spPr>
        <p:style>
          <a:lnRef idx="1">
            <a:schemeClr val="accent2"/>
          </a:lnRef>
          <a:fillRef idx="0">
            <a:schemeClr val="accent2"/>
          </a:fillRef>
          <a:effectRef idx="0">
            <a:schemeClr val="accent2"/>
          </a:effectRef>
          <a:fontRef idx="minor">
            <a:schemeClr val="tx1"/>
          </a:fontRef>
        </p:style>
      </p:cxnSp>
      <p:cxnSp>
        <p:nvCxnSpPr>
          <p:cNvPr id="85" name="Straight Arrow Connector 84">
            <a:extLst>
              <a:ext uri="{FF2B5EF4-FFF2-40B4-BE49-F238E27FC236}">
                <a16:creationId xmlns:a16="http://schemas.microsoft.com/office/drawing/2014/main" id="{CEA7DD98-3F44-DF5D-AC99-7BF50132B240}"/>
              </a:ext>
            </a:extLst>
          </p:cNvPr>
          <p:cNvCxnSpPr>
            <a:cxnSpLocks/>
            <a:endCxn id="78" idx="1"/>
          </p:cNvCxnSpPr>
          <p:nvPr/>
        </p:nvCxnSpPr>
        <p:spPr>
          <a:xfrm flipV="1">
            <a:off x="5656644" y="3609391"/>
            <a:ext cx="1161672" cy="4514"/>
          </a:xfrm>
          <a:prstGeom prst="straightConnector1">
            <a:avLst/>
          </a:prstGeom>
          <a:ln>
            <a:solidFill>
              <a:srgbClr val="FF0000"/>
            </a:solidFill>
            <a:prstDash val="lgDash"/>
            <a:tailEnd type="triangle"/>
          </a:ln>
        </p:spPr>
        <p:style>
          <a:lnRef idx="1">
            <a:schemeClr val="accent2"/>
          </a:lnRef>
          <a:fillRef idx="0">
            <a:schemeClr val="accent2"/>
          </a:fillRef>
          <a:effectRef idx="0">
            <a:schemeClr val="accent2"/>
          </a:effectRef>
          <a:fontRef idx="minor">
            <a:schemeClr val="tx1"/>
          </a:fontRef>
        </p:style>
      </p:cxnSp>
      <p:cxnSp>
        <p:nvCxnSpPr>
          <p:cNvPr id="89" name="Elbow Connector 88">
            <a:extLst>
              <a:ext uri="{FF2B5EF4-FFF2-40B4-BE49-F238E27FC236}">
                <a16:creationId xmlns:a16="http://schemas.microsoft.com/office/drawing/2014/main" id="{85DEEB6B-E066-59C2-4414-D77CF591C79B}"/>
              </a:ext>
            </a:extLst>
          </p:cNvPr>
          <p:cNvCxnSpPr>
            <a:stCxn id="48" idx="3"/>
            <a:endCxn id="75" idx="1"/>
          </p:cNvCxnSpPr>
          <p:nvPr/>
        </p:nvCxnSpPr>
        <p:spPr>
          <a:xfrm>
            <a:off x="4737436" y="3043988"/>
            <a:ext cx="3508308" cy="195569"/>
          </a:xfrm>
          <a:prstGeom prst="bentConnector3">
            <a:avLst>
              <a:gd name="adj1" fmla="val 15558"/>
            </a:avLst>
          </a:prstGeom>
          <a:ln>
            <a:solidFill>
              <a:schemeClr val="accent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91">
            <a:extLst>
              <a:ext uri="{FF2B5EF4-FFF2-40B4-BE49-F238E27FC236}">
                <a16:creationId xmlns:a16="http://schemas.microsoft.com/office/drawing/2014/main" id="{64F4C6D1-EBCA-E68D-B98B-51180D1BB280}"/>
              </a:ext>
            </a:extLst>
          </p:cNvPr>
          <p:cNvCxnSpPr>
            <a:cxnSpLocks/>
            <a:endCxn id="70" idx="1"/>
          </p:cNvCxnSpPr>
          <p:nvPr/>
        </p:nvCxnSpPr>
        <p:spPr>
          <a:xfrm>
            <a:off x="5656644" y="3613793"/>
            <a:ext cx="3286650" cy="234747"/>
          </a:xfrm>
          <a:prstGeom prst="bentConnector3">
            <a:avLst>
              <a:gd name="adj1" fmla="val 4637"/>
            </a:avLst>
          </a:prstGeom>
          <a:ln>
            <a:solidFill>
              <a:schemeClr val="accent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662E5CAB-B382-B6C2-4019-2661B32C8CDB}"/>
              </a:ext>
            </a:extLst>
          </p:cNvPr>
          <p:cNvCxnSpPr>
            <a:cxnSpLocks/>
          </p:cNvCxnSpPr>
          <p:nvPr/>
        </p:nvCxnSpPr>
        <p:spPr>
          <a:xfrm>
            <a:off x="9305279" y="3398739"/>
            <a:ext cx="0" cy="313767"/>
          </a:xfrm>
          <a:prstGeom prst="straightConnector1">
            <a:avLst/>
          </a:prstGeom>
          <a:ln>
            <a:solidFill>
              <a:schemeClr val="accent1"/>
            </a:solidFill>
            <a:prstDash val="lgDash"/>
            <a:tailEnd type="triangle"/>
          </a:ln>
        </p:spPr>
        <p:style>
          <a:lnRef idx="1">
            <a:schemeClr val="accent2"/>
          </a:lnRef>
          <a:fillRef idx="0">
            <a:schemeClr val="accent2"/>
          </a:fillRef>
          <a:effectRef idx="0">
            <a:schemeClr val="accent2"/>
          </a:effectRef>
          <a:fontRef idx="minor">
            <a:schemeClr val="tx1"/>
          </a:fontRef>
        </p:style>
      </p:cxnSp>
      <p:pic>
        <p:nvPicPr>
          <p:cNvPr id="1026" name="Picture 2">
            <a:extLst>
              <a:ext uri="{FF2B5EF4-FFF2-40B4-BE49-F238E27FC236}">
                <a16:creationId xmlns:a16="http://schemas.microsoft.com/office/drawing/2014/main" id="{705B7160-5AE9-A048-E7B1-A73802B723C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52560" y="6024661"/>
            <a:ext cx="1902701" cy="674121"/>
          </a:xfrm>
          <a:prstGeom prst="rect">
            <a:avLst/>
          </a:prstGeom>
          <a:noFill/>
          <a:extLst>
            <a:ext uri="{909E8E84-426E-40DD-AFC4-6F175D3DCCD1}">
              <a14:hiddenFill xmlns:a14="http://schemas.microsoft.com/office/drawing/2010/main">
                <a:solidFill>
                  <a:srgbClr val="FFFFFF"/>
                </a:solidFill>
              </a14:hiddenFill>
            </a:ext>
          </a:extLst>
        </p:spPr>
      </p:pic>
      <p:sp>
        <p:nvSpPr>
          <p:cNvPr id="99" name="Rectangle 98">
            <a:extLst>
              <a:ext uri="{FF2B5EF4-FFF2-40B4-BE49-F238E27FC236}">
                <a16:creationId xmlns:a16="http://schemas.microsoft.com/office/drawing/2014/main" id="{1161CC50-5438-CE1B-D003-527F1C357DA9}"/>
              </a:ext>
            </a:extLst>
          </p:cNvPr>
          <p:cNvSpPr/>
          <p:nvPr/>
        </p:nvSpPr>
        <p:spPr>
          <a:xfrm>
            <a:off x="7580371" y="5729657"/>
            <a:ext cx="3211956" cy="9775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0" name="TextBox 99">
            <a:extLst>
              <a:ext uri="{FF2B5EF4-FFF2-40B4-BE49-F238E27FC236}">
                <a16:creationId xmlns:a16="http://schemas.microsoft.com/office/drawing/2014/main" id="{A6F05298-B321-2E43-197B-241BBBF648FA}"/>
              </a:ext>
            </a:extLst>
          </p:cNvPr>
          <p:cNvSpPr txBox="1"/>
          <p:nvPr/>
        </p:nvSpPr>
        <p:spPr>
          <a:xfrm>
            <a:off x="7580236" y="5682287"/>
            <a:ext cx="3099431" cy="369332"/>
          </a:xfrm>
          <a:prstGeom prst="rect">
            <a:avLst/>
          </a:prstGeom>
          <a:noFill/>
        </p:spPr>
        <p:txBody>
          <a:bodyPr wrap="square" rtlCol="0">
            <a:spAutoFit/>
          </a:bodyPr>
          <a:lstStyle/>
          <a:p>
            <a:r>
              <a:rPr lang="en-VN" b="1">
                <a:solidFill>
                  <a:srgbClr val="FF0000"/>
                </a:solidFill>
              </a:rPr>
              <a:t>Read more</a:t>
            </a:r>
            <a:r>
              <a:rPr lang="en-VN">
                <a:solidFill>
                  <a:srgbClr val="FF0000"/>
                </a:solidFill>
              </a:rPr>
              <a:t>: Dynamic circuit**</a:t>
            </a:r>
          </a:p>
        </p:txBody>
      </p:sp>
    </p:spTree>
    <p:extLst>
      <p:ext uri="{BB962C8B-B14F-4D97-AF65-F5344CB8AC3E}">
        <p14:creationId xmlns:p14="http://schemas.microsoft.com/office/powerpoint/2010/main" val="229294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29041-9612-C268-EB1B-9CD9184A5956}"/>
              </a:ext>
            </a:extLst>
          </p:cNvPr>
          <p:cNvSpPr>
            <a:spLocks noGrp="1"/>
          </p:cNvSpPr>
          <p:nvPr>
            <p:ph type="title"/>
          </p:nvPr>
        </p:nvSpPr>
        <p:spPr/>
        <p:txBody>
          <a:bodyPr/>
          <a:lstStyle/>
          <a:p>
            <a:r>
              <a:rPr lang="en-US"/>
              <a:t>Measuring an operator</a:t>
            </a:r>
            <a:endParaRPr lang="en-VN"/>
          </a:p>
        </p:txBody>
      </p:sp>
      <p:sp>
        <p:nvSpPr>
          <p:cNvPr id="4" name="Slide Number Placeholder 3">
            <a:extLst>
              <a:ext uri="{FF2B5EF4-FFF2-40B4-BE49-F238E27FC236}">
                <a16:creationId xmlns:a16="http://schemas.microsoft.com/office/drawing/2014/main" id="{0C5BD30E-9E4F-07E7-B4EA-C5AE25F30367}"/>
              </a:ext>
            </a:extLst>
          </p:cNvPr>
          <p:cNvSpPr>
            <a:spLocks noGrp="1"/>
          </p:cNvSpPr>
          <p:nvPr>
            <p:ph type="sldNum" sz="quarter" idx="12"/>
          </p:nvPr>
        </p:nvSpPr>
        <p:spPr/>
        <p:txBody>
          <a:bodyPr/>
          <a:lstStyle/>
          <a:p>
            <a:fld id="{71331178-9F85-4EDF-BDD3-1E7064DA4C59}" type="slidenum">
              <a:rPr lang="vi-VN" smtClean="0"/>
              <a:t>23</a:t>
            </a:fld>
            <a:endParaRPr lang="vi-VN"/>
          </a:p>
        </p:txBody>
      </p:sp>
      <p:cxnSp>
        <p:nvCxnSpPr>
          <p:cNvPr id="3" name="Straight Connector 2">
            <a:extLst>
              <a:ext uri="{FF2B5EF4-FFF2-40B4-BE49-F238E27FC236}">
                <a16:creationId xmlns:a16="http://schemas.microsoft.com/office/drawing/2014/main" id="{7BA211BC-45EA-1A1A-41B4-398689020075}"/>
              </a:ext>
            </a:extLst>
          </p:cNvPr>
          <p:cNvCxnSpPr>
            <a:cxnSpLocks/>
            <a:endCxn id="9" idx="1"/>
          </p:cNvCxnSpPr>
          <p:nvPr/>
        </p:nvCxnSpPr>
        <p:spPr>
          <a:xfrm>
            <a:off x="1416158" y="1904597"/>
            <a:ext cx="7168937"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136FC1B0-9B1A-A5BD-7B6B-185E27EF4D64}"/>
              </a:ext>
            </a:extLst>
          </p:cNvPr>
          <p:cNvCxnSpPr>
            <a:cxnSpLocks/>
            <a:stCxn id="15" idx="3"/>
            <a:endCxn id="32" idx="1"/>
          </p:cNvCxnSpPr>
          <p:nvPr/>
        </p:nvCxnSpPr>
        <p:spPr>
          <a:xfrm>
            <a:off x="1416158" y="2468058"/>
            <a:ext cx="7168938" cy="6456"/>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05BA45F-E8C3-5779-DD42-C414A608054D}"/>
                  </a:ext>
                </a:extLst>
              </p:cNvPr>
              <p:cNvSpPr/>
              <p:nvPr/>
            </p:nvSpPr>
            <p:spPr>
              <a:xfrm>
                <a:off x="3947888" y="2202366"/>
                <a:ext cx="530728"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2400" b="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𝑈</m:t>
                      </m:r>
                    </m:oMath>
                  </m:oMathPara>
                </a14:m>
                <a:endParaRPr lang="vi-VN" sz="2400" i="1">
                  <a:solidFill>
                    <a:schemeClr val="tx1"/>
                  </a:solidFill>
                </a:endParaRPr>
              </a:p>
            </p:txBody>
          </p:sp>
        </mc:Choice>
        <mc:Fallback xmlns="">
          <p:sp>
            <p:nvSpPr>
              <p:cNvPr id="8" name="Rectangle 7">
                <a:extLst>
                  <a:ext uri="{FF2B5EF4-FFF2-40B4-BE49-F238E27FC236}">
                    <a16:creationId xmlns:a16="http://schemas.microsoft.com/office/drawing/2014/main" id="{C05BA45F-E8C3-5779-DD42-C414A608054D}"/>
                  </a:ext>
                </a:extLst>
              </p:cNvPr>
              <p:cNvSpPr>
                <a:spLocks noRot="1" noChangeAspect="1" noMove="1" noResize="1" noEditPoints="1" noAdjustHandles="1" noChangeArrowheads="1" noChangeShapeType="1" noTextEdit="1"/>
              </p:cNvSpPr>
              <p:nvPr/>
            </p:nvSpPr>
            <p:spPr>
              <a:xfrm>
                <a:off x="3947888" y="2202366"/>
                <a:ext cx="530728" cy="544297"/>
              </a:xfrm>
              <a:prstGeom prst="rect">
                <a:avLst/>
              </a:prstGeom>
              <a:blipFill>
                <a:blip r:embed="rId2"/>
                <a:stretch>
                  <a:fillRect/>
                </a:stretch>
              </a:blipFill>
              <a:ln>
                <a:solidFill>
                  <a:schemeClr val="tx1"/>
                </a:solidFill>
              </a:ln>
            </p:spPr>
            <p:txBody>
              <a:bodyPr/>
              <a:lstStyle/>
              <a:p>
                <a:r>
                  <a:rPr lang="vi-VN">
                    <a:noFill/>
                  </a:rPr>
                  <a:t> </a:t>
                </a:r>
              </a:p>
            </p:txBody>
          </p:sp>
        </mc:Fallback>
      </mc:AlternateContent>
      <p:sp>
        <p:nvSpPr>
          <p:cNvPr id="9" name="Hình chữ nhật 93">
            <a:extLst>
              <a:ext uri="{FF2B5EF4-FFF2-40B4-BE49-F238E27FC236}">
                <a16:creationId xmlns:a16="http://schemas.microsoft.com/office/drawing/2014/main" id="{03A0487B-BDA3-296F-3A97-A159CA0D52E4}"/>
              </a:ext>
            </a:extLst>
          </p:cNvPr>
          <p:cNvSpPr/>
          <p:nvPr/>
        </p:nvSpPr>
        <p:spPr>
          <a:xfrm>
            <a:off x="8585095" y="1751130"/>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0" name="Arc 9">
            <a:extLst>
              <a:ext uri="{FF2B5EF4-FFF2-40B4-BE49-F238E27FC236}">
                <a16:creationId xmlns:a16="http://schemas.microsoft.com/office/drawing/2014/main" id="{7714E62E-D440-8235-67C3-923C85DC15FC}"/>
              </a:ext>
            </a:extLst>
          </p:cNvPr>
          <p:cNvSpPr/>
          <p:nvPr/>
        </p:nvSpPr>
        <p:spPr>
          <a:xfrm>
            <a:off x="8640792" y="1895730"/>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1" name="Straight Arrow Connector 10">
            <a:extLst>
              <a:ext uri="{FF2B5EF4-FFF2-40B4-BE49-F238E27FC236}">
                <a16:creationId xmlns:a16="http://schemas.microsoft.com/office/drawing/2014/main" id="{6B0D3222-095D-5355-C21B-6E81822FB1E8}"/>
              </a:ext>
            </a:extLst>
          </p:cNvPr>
          <p:cNvCxnSpPr>
            <a:cxnSpLocks/>
          </p:cNvCxnSpPr>
          <p:nvPr/>
        </p:nvCxnSpPr>
        <p:spPr>
          <a:xfrm flipV="1">
            <a:off x="8695008" y="1818101"/>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5DF7EB0-385A-1F0B-AE6C-049202384F39}"/>
              </a:ext>
            </a:extLst>
          </p:cNvPr>
          <p:cNvCxnSpPr>
            <a:cxnSpLocks/>
            <a:stCxn id="8" idx="0"/>
            <a:endCxn id="14" idx="4"/>
          </p:cNvCxnSpPr>
          <p:nvPr/>
        </p:nvCxnSpPr>
        <p:spPr>
          <a:xfrm flipH="1" flipV="1">
            <a:off x="4209821" y="2005428"/>
            <a:ext cx="3431" cy="196938"/>
          </a:xfrm>
          <a:prstGeom prst="line">
            <a:avLst/>
          </a:prstGeom>
          <a:ln w="38100"/>
        </p:spPr>
        <p:style>
          <a:lnRef idx="1">
            <a:schemeClr val="dk1"/>
          </a:lnRef>
          <a:fillRef idx="0">
            <a:schemeClr val="dk1"/>
          </a:fillRef>
          <a:effectRef idx="0">
            <a:schemeClr val="dk1"/>
          </a:effectRef>
          <a:fontRef idx="minor">
            <a:schemeClr val="tx1"/>
          </a:fontRef>
        </p:style>
      </p:cxnSp>
      <p:sp>
        <p:nvSpPr>
          <p:cNvPr id="14" name="Oval 13">
            <a:extLst>
              <a:ext uri="{FF2B5EF4-FFF2-40B4-BE49-F238E27FC236}">
                <a16:creationId xmlns:a16="http://schemas.microsoft.com/office/drawing/2014/main" id="{B980418F-63C7-6D3E-AF0B-90B583C67E62}"/>
              </a:ext>
            </a:extLst>
          </p:cNvPr>
          <p:cNvSpPr>
            <a:spLocks noChangeAspect="1"/>
          </p:cNvSpPr>
          <p:nvPr/>
        </p:nvSpPr>
        <p:spPr>
          <a:xfrm>
            <a:off x="4101821" y="1803763"/>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35212EA-F8D8-9781-7D16-4A4C4ED5288B}"/>
                  </a:ext>
                </a:extLst>
              </p:cNvPr>
              <p:cNvSpPr txBox="1"/>
              <p:nvPr/>
            </p:nvSpPr>
            <p:spPr>
              <a:xfrm>
                <a:off x="757790" y="2283392"/>
                <a:ext cx="6583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r>
                        <a:rPr lang="vi-VN" b="0" i="1">
                          <a:latin typeface="Cambria Math" panose="02040503050406030204" pitchFamily="18" charset="0"/>
                        </a:rPr>
                        <m:t>⟩</m:t>
                      </m:r>
                    </m:oMath>
                  </m:oMathPara>
                </a14:m>
                <a:endParaRPr lang="en-VN" i="1"/>
              </a:p>
            </p:txBody>
          </p:sp>
        </mc:Choice>
        <mc:Fallback xmlns="">
          <p:sp>
            <p:nvSpPr>
              <p:cNvPr id="15" name="TextBox 14">
                <a:extLst>
                  <a:ext uri="{FF2B5EF4-FFF2-40B4-BE49-F238E27FC236}">
                    <a16:creationId xmlns:a16="http://schemas.microsoft.com/office/drawing/2014/main" id="{035212EA-F8D8-9781-7D16-4A4C4ED5288B}"/>
                  </a:ext>
                </a:extLst>
              </p:cNvPr>
              <p:cNvSpPr txBox="1">
                <a:spLocks noRot="1" noChangeAspect="1" noMove="1" noResize="1" noEditPoints="1" noAdjustHandles="1" noChangeArrowheads="1" noChangeShapeType="1" noTextEdit="1"/>
              </p:cNvSpPr>
              <p:nvPr/>
            </p:nvSpPr>
            <p:spPr>
              <a:xfrm>
                <a:off x="757790" y="2283392"/>
                <a:ext cx="658368" cy="369332"/>
              </a:xfrm>
              <a:prstGeom prst="rect">
                <a:avLst/>
              </a:prstGeom>
              <a:blipFill>
                <a:blip r:embed="rId3"/>
                <a:stretch>
                  <a:fillRect l="-1852" r="-2778" b="-1333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001DACE-CDC0-EABE-0E3F-469A1F48CCD3}"/>
                  </a:ext>
                </a:extLst>
              </p:cNvPr>
              <p:cNvSpPr txBox="1"/>
              <p:nvPr/>
            </p:nvSpPr>
            <p:spPr>
              <a:xfrm>
                <a:off x="838200" y="1690688"/>
                <a:ext cx="6211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smtClean="0">
                          <a:latin typeface="Cambria Math" panose="02040503050406030204" pitchFamily="18" charset="0"/>
                        </a:rPr>
                        <m:t>|</m:t>
                      </m:r>
                      <m:r>
                        <a:rPr lang="en-US" b="0" i="1" smtClean="0">
                          <a:latin typeface="Cambria Math" panose="02040503050406030204" pitchFamily="18" charset="0"/>
                        </a:rPr>
                        <m:t>0</m:t>
                      </m:r>
                      <m:r>
                        <a:rPr lang="vi-VN" b="0" i="1">
                          <a:latin typeface="Cambria Math" panose="02040503050406030204" pitchFamily="18" charset="0"/>
                        </a:rPr>
                        <m:t>⟩</m:t>
                      </m:r>
                    </m:oMath>
                  </m:oMathPara>
                </a14:m>
                <a:endParaRPr lang="en-VN" i="1"/>
              </a:p>
            </p:txBody>
          </p:sp>
        </mc:Choice>
        <mc:Fallback xmlns="">
          <p:sp>
            <p:nvSpPr>
              <p:cNvPr id="16" name="TextBox 15">
                <a:extLst>
                  <a:ext uri="{FF2B5EF4-FFF2-40B4-BE49-F238E27FC236}">
                    <a16:creationId xmlns:a16="http://schemas.microsoft.com/office/drawing/2014/main" id="{0001DACE-CDC0-EABE-0E3F-469A1F48CCD3}"/>
                  </a:ext>
                </a:extLst>
              </p:cNvPr>
              <p:cNvSpPr txBox="1">
                <a:spLocks noRot="1" noChangeAspect="1" noMove="1" noResize="1" noEditPoints="1" noAdjustHandles="1" noChangeArrowheads="1" noChangeShapeType="1" noTextEdit="1"/>
              </p:cNvSpPr>
              <p:nvPr/>
            </p:nvSpPr>
            <p:spPr>
              <a:xfrm>
                <a:off x="838200" y="1690688"/>
                <a:ext cx="621132" cy="369332"/>
              </a:xfrm>
              <a:prstGeom prst="rect">
                <a:avLst/>
              </a:prstGeom>
              <a:blipFill>
                <a:blip r:embed="rId4"/>
                <a:stretch>
                  <a:fillRect b="-1311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CF2458E-71A8-6BC0-3C64-24C98DCAB2E8}"/>
                  </a:ext>
                </a:extLst>
              </p:cNvPr>
              <p:cNvSpPr/>
              <p:nvPr/>
            </p:nvSpPr>
            <p:spPr>
              <a:xfrm>
                <a:off x="1783859" y="1632671"/>
                <a:ext cx="530728"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i="1">
                  <a:solidFill>
                    <a:schemeClr val="tx1"/>
                  </a:solidFill>
                </a:endParaRPr>
              </a:p>
            </p:txBody>
          </p:sp>
        </mc:Choice>
        <mc:Fallback xmlns="">
          <p:sp>
            <p:nvSpPr>
              <p:cNvPr id="17" name="Rectangle 16">
                <a:extLst>
                  <a:ext uri="{FF2B5EF4-FFF2-40B4-BE49-F238E27FC236}">
                    <a16:creationId xmlns:a16="http://schemas.microsoft.com/office/drawing/2014/main" id="{2CF2458E-71A8-6BC0-3C64-24C98DCAB2E8}"/>
                  </a:ext>
                </a:extLst>
              </p:cNvPr>
              <p:cNvSpPr>
                <a:spLocks noRot="1" noChangeAspect="1" noMove="1" noResize="1" noEditPoints="1" noAdjustHandles="1" noChangeArrowheads="1" noChangeShapeType="1" noTextEdit="1"/>
              </p:cNvSpPr>
              <p:nvPr/>
            </p:nvSpPr>
            <p:spPr>
              <a:xfrm>
                <a:off x="1783859" y="1632671"/>
                <a:ext cx="530728" cy="544297"/>
              </a:xfrm>
              <a:prstGeom prst="rect">
                <a:avLst/>
              </a:prstGeom>
              <a:blipFill>
                <a:blip r:embed="rId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73E08611-8763-19CE-C71F-1D506AE90535}"/>
                  </a:ext>
                </a:extLst>
              </p:cNvPr>
              <p:cNvSpPr/>
              <p:nvPr/>
            </p:nvSpPr>
            <p:spPr>
              <a:xfrm>
                <a:off x="6242156" y="1632671"/>
                <a:ext cx="530728"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i="1">
                  <a:solidFill>
                    <a:schemeClr val="tx1"/>
                  </a:solidFill>
                </a:endParaRPr>
              </a:p>
            </p:txBody>
          </p:sp>
        </mc:Choice>
        <mc:Fallback xmlns="">
          <p:sp>
            <p:nvSpPr>
              <p:cNvPr id="30" name="Rectangle 29">
                <a:extLst>
                  <a:ext uri="{FF2B5EF4-FFF2-40B4-BE49-F238E27FC236}">
                    <a16:creationId xmlns:a16="http://schemas.microsoft.com/office/drawing/2014/main" id="{73E08611-8763-19CE-C71F-1D506AE90535}"/>
                  </a:ext>
                </a:extLst>
              </p:cNvPr>
              <p:cNvSpPr>
                <a:spLocks noRot="1" noChangeAspect="1" noMove="1" noResize="1" noEditPoints="1" noAdjustHandles="1" noChangeArrowheads="1" noChangeShapeType="1" noTextEdit="1"/>
              </p:cNvSpPr>
              <p:nvPr/>
            </p:nvSpPr>
            <p:spPr>
              <a:xfrm>
                <a:off x="6242156" y="1632671"/>
                <a:ext cx="530728" cy="544297"/>
              </a:xfrm>
              <a:prstGeom prst="rect">
                <a:avLst/>
              </a:prstGeom>
              <a:blipFill>
                <a:blip r:embed="rId6"/>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B4F6FC5-8B55-696D-0BE2-CC36F8FE038E}"/>
                  </a:ext>
                </a:extLst>
              </p:cNvPr>
              <p:cNvSpPr txBox="1"/>
              <p:nvPr/>
            </p:nvSpPr>
            <p:spPr>
              <a:xfrm>
                <a:off x="8585096" y="2289848"/>
                <a:ext cx="73257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𝑜𝑢𝑡</m:t>
                          </m:r>
                        </m:sub>
                      </m:sSub>
                      <m:r>
                        <a:rPr lang="vi-VN" b="0" i="1">
                          <a:latin typeface="Cambria Math" panose="02040503050406030204" pitchFamily="18" charset="0"/>
                        </a:rPr>
                        <m:t>⟩</m:t>
                      </m:r>
                    </m:oMath>
                  </m:oMathPara>
                </a14:m>
                <a:endParaRPr lang="en-VN" i="1"/>
              </a:p>
            </p:txBody>
          </p:sp>
        </mc:Choice>
        <mc:Fallback xmlns="">
          <p:sp>
            <p:nvSpPr>
              <p:cNvPr id="32" name="TextBox 31">
                <a:extLst>
                  <a:ext uri="{FF2B5EF4-FFF2-40B4-BE49-F238E27FC236}">
                    <a16:creationId xmlns:a16="http://schemas.microsoft.com/office/drawing/2014/main" id="{3B4F6FC5-8B55-696D-0BE2-CC36F8FE038E}"/>
                  </a:ext>
                </a:extLst>
              </p:cNvPr>
              <p:cNvSpPr txBox="1">
                <a:spLocks noRot="1" noChangeAspect="1" noMove="1" noResize="1" noEditPoints="1" noAdjustHandles="1" noChangeArrowheads="1" noChangeShapeType="1" noTextEdit="1"/>
              </p:cNvSpPr>
              <p:nvPr/>
            </p:nvSpPr>
            <p:spPr>
              <a:xfrm>
                <a:off x="8585096" y="2289848"/>
                <a:ext cx="732578" cy="369332"/>
              </a:xfrm>
              <a:prstGeom prst="rect">
                <a:avLst/>
              </a:prstGeom>
              <a:blipFill>
                <a:blip r:embed="rId7"/>
                <a:stretch>
                  <a:fillRect l="-2500" r="-7500" b="-1333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0" name="Hộp Văn bản 3">
                <a:extLst>
                  <a:ext uri="{FF2B5EF4-FFF2-40B4-BE49-F238E27FC236}">
                    <a16:creationId xmlns:a16="http://schemas.microsoft.com/office/drawing/2014/main" id="{E2BC3350-289D-F821-5ED9-98B58A85E1E5}"/>
                  </a:ext>
                </a:extLst>
              </p:cNvPr>
              <p:cNvSpPr txBox="1"/>
              <p:nvPr/>
            </p:nvSpPr>
            <p:spPr>
              <a:xfrm>
                <a:off x="838200" y="5061463"/>
                <a:ext cx="8295751" cy="754630"/>
              </a:xfrm>
              <a:prstGeom prst="rect">
                <a:avLst/>
              </a:prstGeom>
              <a:noFill/>
            </p:spPr>
            <p:txBody>
              <a:bodyPr wrap="square" rtlCol="0">
                <a:spAutoFit/>
              </a:bodyPr>
              <a:lstStyle/>
              <a:p>
                <a:r>
                  <a:rPr lang="en-US" sz="2000" b="1">
                    <a:solidFill>
                      <a:srgbClr val="FF0000"/>
                    </a:solidFill>
                  </a:rPr>
                  <a:t>Suppose</a:t>
                </a:r>
                <a:r>
                  <a:rPr lang="en-US" sz="2000">
                    <a:solidFill>
                      <a:srgbClr val="FF0000"/>
                    </a:solidFill>
                  </a:rPr>
                  <a:t> </a:t>
                </a:r>
                <a14:m>
                  <m:oMath xmlns:m="http://schemas.openxmlformats.org/officeDocument/2006/math">
                    <m:r>
                      <a:rPr lang="en-US" sz="2000" b="0" i="1" smtClean="0">
                        <a:solidFill>
                          <a:srgbClr val="FF0000"/>
                        </a:solidFill>
                        <a:latin typeface="Cambria Math" panose="02040503050406030204" pitchFamily="18" charset="0"/>
                      </a:rPr>
                      <m:t>𝑈</m:t>
                    </m:r>
                  </m:oMath>
                </a14:m>
                <a:r>
                  <a:rPr lang="en-US" sz="2000">
                    <a:solidFill>
                      <a:srgbClr val="FF0000"/>
                    </a:solidFill>
                  </a:rPr>
                  <a:t> has an eigenvector </a:t>
                </a:r>
                <a14:m>
                  <m:oMath xmlns:m="http://schemas.openxmlformats.org/officeDocument/2006/math">
                    <m:d>
                      <m:dPr>
                        <m:begChr m:val=""/>
                        <m:endChr m:val="⟩"/>
                        <m:ctrlPr>
                          <a:rPr lang="en-US" sz="200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𝑢</m:t>
                        </m:r>
                      </m:e>
                    </m:d>
                  </m:oMath>
                </a14:m>
                <a:r>
                  <a:rPr lang="en-US" sz="2000">
                    <a:solidFill>
                      <a:srgbClr val="FF0000"/>
                    </a:solidFill>
                  </a:rPr>
                  <a:t> with eigenvalue </a:t>
                </a:r>
                <a14:m>
                  <m:oMath xmlns:m="http://schemas.openxmlformats.org/officeDocument/2006/math">
                    <m:sSup>
                      <m:sSupPr>
                        <m:ctrlPr>
                          <a:rPr lang="en-US" sz="2000" b="0" i="1" smtClean="0">
                            <a:solidFill>
                              <a:srgbClr val="FF0000"/>
                            </a:solidFill>
                            <a:latin typeface="Cambria Math" panose="02040503050406030204" pitchFamily="18" charset="0"/>
                          </a:rPr>
                        </m:ctrlPr>
                      </m:sSupPr>
                      <m:e>
                        <m:r>
                          <a:rPr lang="en-US" sz="2000" b="0" i="1" smtClean="0">
                            <a:solidFill>
                              <a:srgbClr val="FF0000"/>
                            </a:solidFill>
                            <a:latin typeface="Cambria Math" panose="02040503050406030204" pitchFamily="18" charset="0"/>
                          </a:rPr>
                          <m:t>𝑒</m:t>
                        </m:r>
                      </m:e>
                      <m:sup>
                        <m:r>
                          <a:rPr lang="en-US" sz="2000" b="0" i="1" smtClean="0">
                            <a:solidFill>
                              <a:srgbClr val="FF0000"/>
                            </a:solidFill>
                            <a:latin typeface="Cambria Math" panose="02040503050406030204" pitchFamily="18" charset="0"/>
                          </a:rPr>
                          <m:t>2</m:t>
                        </m:r>
                        <m:r>
                          <a:rPr lang="en-US" sz="2000" b="0" i="1" smtClean="0">
                            <a:solidFill>
                              <a:srgbClr val="FF0000"/>
                            </a:solidFill>
                            <a:latin typeface="Cambria Math" panose="02040503050406030204" pitchFamily="18" charset="0"/>
                            <a:ea typeface="Cambria Math" panose="02040503050406030204" pitchFamily="18" charset="0"/>
                          </a:rPr>
                          <m:t>𝜋</m:t>
                        </m:r>
                        <m:r>
                          <a:rPr lang="en-US" sz="2000" b="0" i="1" smtClean="0">
                            <a:solidFill>
                              <a:srgbClr val="FF0000"/>
                            </a:solidFill>
                            <a:latin typeface="Cambria Math" panose="02040503050406030204" pitchFamily="18" charset="0"/>
                            <a:ea typeface="Cambria Math" panose="02040503050406030204" pitchFamily="18" charset="0"/>
                          </a:rPr>
                          <m:t>𝑖</m:t>
                        </m:r>
                        <m:r>
                          <a:rPr lang="en-US" sz="2000" b="0" i="1" smtClean="0">
                            <a:solidFill>
                              <a:srgbClr val="FF0000"/>
                            </a:solidFill>
                            <a:latin typeface="Cambria Math" panose="02040503050406030204" pitchFamily="18" charset="0"/>
                            <a:ea typeface="Cambria Math" panose="02040503050406030204" pitchFamily="18" charset="0"/>
                          </a:rPr>
                          <m:t>𝜑</m:t>
                        </m:r>
                      </m:sup>
                    </m:sSup>
                  </m:oMath>
                </a14:m>
                <a:r>
                  <a:rPr lang="en-US" sz="2000">
                    <a:solidFill>
                      <a:srgbClr val="FF0000"/>
                    </a:solidFill>
                  </a:rPr>
                  <a:t> </a:t>
                </a:r>
              </a:p>
              <a:p>
                <a:r>
                  <a:rPr lang="en-US" sz="2000">
                    <a:solidFill>
                      <a:srgbClr val="FF0000"/>
                    </a:solidFill>
                  </a:rPr>
                  <a:t>Note that: </a:t>
                </a:r>
                <a14:m>
                  <m:oMath xmlns:m="http://schemas.openxmlformats.org/officeDocument/2006/math">
                    <m:r>
                      <a:rPr lang="en-US" sz="2000" b="0" i="1" smtClean="0">
                        <a:solidFill>
                          <a:srgbClr val="FF0000"/>
                        </a:solidFill>
                        <a:latin typeface="Cambria Math" panose="02040503050406030204" pitchFamily="18" charset="0"/>
                      </a:rPr>
                      <m:t>𝑈</m:t>
                    </m:r>
                    <m:d>
                      <m:dPr>
                        <m:begChr m:val=""/>
                        <m:endChr m:val="⟩"/>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e>
                    </m:d>
                    <m:r>
                      <a:rPr lang="en-US" sz="2000" b="0" i="0"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𝜆</m:t>
                    </m:r>
                    <m:d>
                      <m:dPr>
                        <m:begChr m:val=""/>
                        <m:endChr m:val="⟩"/>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e>
                    </m:d>
                    <m:r>
                      <a:rPr lang="en-US" sz="2000" b="0" i="1" smtClean="0">
                        <a:solidFill>
                          <a:srgbClr val="FF0000"/>
                        </a:solidFill>
                        <a:latin typeface="Cambria Math" panose="02040503050406030204" pitchFamily="18" charset="0"/>
                      </a:rPr>
                      <m:t>=</m:t>
                    </m:r>
                    <m:d>
                      <m:dPr>
                        <m:begChr m:val=""/>
                        <m:endChr m:val="⟩"/>
                        <m:ctrlPr>
                          <a:rPr lang="en-US" sz="2000" i="1">
                            <a:solidFill>
                              <a:srgbClr val="FF0000"/>
                            </a:solidFill>
                            <a:latin typeface="Cambria Math" panose="02040503050406030204" pitchFamily="18" charset="0"/>
                          </a:rPr>
                        </m:ctrlPr>
                      </m:dPr>
                      <m:e>
                        <m:sSup>
                          <m:sSupPr>
                            <m:ctrlPr>
                              <a:rPr lang="en-US" sz="2000" i="1">
                                <a:solidFill>
                                  <a:srgbClr val="FF0000"/>
                                </a:solidFill>
                                <a:latin typeface="Cambria Math" panose="02040503050406030204" pitchFamily="18" charset="0"/>
                              </a:rPr>
                            </m:ctrlPr>
                          </m:sSupPr>
                          <m:e>
                            <m:r>
                              <a:rPr lang="en-US" sz="2000" i="1">
                                <a:solidFill>
                                  <a:srgbClr val="FF0000"/>
                                </a:solidFill>
                                <a:latin typeface="Cambria Math" panose="02040503050406030204" pitchFamily="18" charset="0"/>
                              </a:rPr>
                              <m:t>𝑒</m:t>
                            </m:r>
                          </m:e>
                          <m:sup>
                            <m:r>
                              <a:rPr lang="en-US" sz="2000" i="1">
                                <a:solidFill>
                                  <a:srgbClr val="FF0000"/>
                                </a:solidFill>
                                <a:latin typeface="Cambria Math" panose="02040503050406030204" pitchFamily="18" charset="0"/>
                              </a:rPr>
                              <m:t>2</m:t>
                            </m:r>
                            <m:r>
                              <a:rPr lang="en-US" sz="2000" i="1">
                                <a:solidFill>
                                  <a:srgbClr val="FF0000"/>
                                </a:solidFill>
                                <a:latin typeface="Cambria Math" panose="02040503050406030204" pitchFamily="18" charset="0"/>
                                <a:ea typeface="Cambria Math" panose="02040503050406030204" pitchFamily="18" charset="0"/>
                              </a:rPr>
                              <m:t>𝜋</m:t>
                            </m:r>
                            <m:r>
                              <a:rPr lang="en-US" sz="2000" i="1">
                                <a:solidFill>
                                  <a:srgbClr val="FF0000"/>
                                </a:solidFill>
                                <a:latin typeface="Cambria Math" panose="02040503050406030204" pitchFamily="18" charset="0"/>
                                <a:ea typeface="Cambria Math" panose="02040503050406030204" pitchFamily="18" charset="0"/>
                              </a:rPr>
                              <m:t>𝑖</m:t>
                            </m:r>
                            <m:r>
                              <a:rPr lang="en-US" sz="2000" i="1">
                                <a:solidFill>
                                  <a:srgbClr val="FF0000"/>
                                </a:solidFill>
                                <a:latin typeface="Cambria Math" panose="02040503050406030204" pitchFamily="18" charset="0"/>
                                <a:ea typeface="Cambria Math" panose="02040503050406030204" pitchFamily="18" charset="0"/>
                              </a:rPr>
                              <m:t>𝜑</m:t>
                            </m:r>
                          </m:sup>
                        </m:sSup>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e>
                    </m:d>
                  </m:oMath>
                </a14:m>
                <a:r>
                  <a:rPr lang="en-US" sz="2000">
                    <a:solidFill>
                      <a:srgbClr val="FF0000"/>
                    </a:solidFill>
                  </a:rPr>
                  <a:t> because of </a:t>
                </a:r>
                <a14:m>
                  <m:oMath xmlns:m="http://schemas.openxmlformats.org/officeDocument/2006/math">
                    <m:r>
                      <a:rPr lang="en-US" sz="2000" b="0" i="1" smtClean="0">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ea typeface="Cambria Math" panose="02040503050406030204" pitchFamily="18" charset="0"/>
                      </a:rPr>
                      <m:t>𝜆</m:t>
                    </m:r>
                    <m:r>
                      <a:rPr lang="en-US" sz="2000" i="1">
                        <a:solidFill>
                          <a:srgbClr val="FF0000"/>
                        </a:solidFill>
                        <a:latin typeface="Cambria Math" panose="02040503050406030204" pitchFamily="18" charset="0"/>
                        <a:ea typeface="Cambria Math" panose="02040503050406030204" pitchFamily="18" charset="0"/>
                      </a:rPr>
                      <m:t>|=1</m:t>
                    </m:r>
                  </m:oMath>
                </a14:m>
                <a:endParaRPr lang="en-US" sz="2000">
                  <a:solidFill>
                    <a:srgbClr val="FF0000"/>
                  </a:solidFill>
                </a:endParaRPr>
              </a:p>
            </p:txBody>
          </p:sp>
        </mc:Choice>
        <mc:Fallback xmlns="">
          <p:sp>
            <p:nvSpPr>
              <p:cNvPr id="60" name="Hộp Văn bản 3">
                <a:extLst>
                  <a:ext uri="{FF2B5EF4-FFF2-40B4-BE49-F238E27FC236}">
                    <a16:creationId xmlns:a16="http://schemas.microsoft.com/office/drawing/2014/main" id="{E2BC3350-289D-F821-5ED9-98B58A85E1E5}"/>
                  </a:ext>
                </a:extLst>
              </p:cNvPr>
              <p:cNvSpPr txBox="1">
                <a:spLocks noRot="1" noChangeAspect="1" noMove="1" noResize="1" noEditPoints="1" noAdjustHandles="1" noChangeArrowheads="1" noChangeShapeType="1" noTextEdit="1"/>
              </p:cNvSpPr>
              <p:nvPr/>
            </p:nvSpPr>
            <p:spPr>
              <a:xfrm>
                <a:off x="838200" y="5061463"/>
                <a:ext cx="8295751" cy="754630"/>
              </a:xfrm>
              <a:prstGeom prst="rect">
                <a:avLst/>
              </a:prstGeom>
              <a:blipFill>
                <a:blip r:embed="rId8"/>
                <a:stretch>
                  <a:fillRect l="-917" t="-61667" b="-13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3" name="Hộp Văn bản 9">
                <a:extLst>
                  <a:ext uri="{FF2B5EF4-FFF2-40B4-BE49-F238E27FC236}">
                    <a16:creationId xmlns:a16="http://schemas.microsoft.com/office/drawing/2014/main" id="{CCAB10EF-8142-CDBF-F83E-E15D25BEB0F8}"/>
                  </a:ext>
                </a:extLst>
              </p:cNvPr>
              <p:cNvSpPr txBox="1"/>
              <p:nvPr/>
            </p:nvSpPr>
            <p:spPr>
              <a:xfrm>
                <a:off x="838200" y="5708759"/>
                <a:ext cx="7058422" cy="10316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000" b="0" i="1" smtClean="0">
                          <a:solidFill>
                            <a:srgbClr val="FF0000"/>
                          </a:solidFill>
                          <a:latin typeface="Cambria Math" panose="02040503050406030204" pitchFamily="18" charset="0"/>
                        </a:rPr>
                        <m:t>𝑈</m:t>
                      </m:r>
                      <m:sSup>
                        <m:sSupPr>
                          <m:ctrlPr>
                            <a:rPr lang="en-US" sz="2000" b="0" i="1" smtClean="0">
                              <a:solidFill>
                                <a:srgbClr val="FF0000"/>
                              </a:solidFill>
                              <a:latin typeface="Cambria Math" panose="02040503050406030204" pitchFamily="18" charset="0"/>
                            </a:rPr>
                          </m:ctrlPr>
                        </m:sSupPr>
                        <m:e>
                          <m:r>
                            <a:rPr lang="en-US" sz="2000" b="0" i="1" smtClean="0">
                              <a:solidFill>
                                <a:srgbClr val="FF0000"/>
                              </a:solidFill>
                              <a:latin typeface="Cambria Math" panose="02040503050406030204" pitchFamily="18" charset="0"/>
                            </a:rPr>
                            <m:t>𝑈</m:t>
                          </m:r>
                        </m:e>
                        <m:sup>
                          <m:r>
                            <a:rPr lang="en-US" sz="2000" b="0" i="1" smtClean="0">
                              <a:solidFill>
                                <a:srgbClr val="FF0000"/>
                              </a:solidFill>
                              <a:latin typeface="Cambria Math" panose="02040503050406030204" pitchFamily="18" charset="0"/>
                            </a:rPr>
                            <m:t>∗</m:t>
                          </m:r>
                        </m:sup>
                      </m:sSup>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𝐼</m:t>
                      </m:r>
                      <m:r>
                        <a:rPr lang="en-US" sz="2000" b="0" i="1" smtClean="0">
                          <a:solidFill>
                            <a:srgbClr val="FF0000"/>
                          </a:solidFill>
                          <a:latin typeface="Cambria Math" panose="02040503050406030204" pitchFamily="18" charset="0"/>
                        </a:rPr>
                        <m:t>, </m:t>
                      </m:r>
                      <m:r>
                        <a:rPr lang="en-US" sz="2000" b="0" i="1" smtClean="0">
                          <a:solidFill>
                            <a:srgbClr val="FF0000"/>
                          </a:solidFill>
                          <a:latin typeface="Cambria Math" panose="02040503050406030204" pitchFamily="18" charset="0"/>
                        </a:rPr>
                        <m:t>𝑈</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𝑢</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𝜆</m:t>
                      </m:r>
                      <m:r>
                        <a:rPr lang="en-US" sz="2000" b="0" i="1" smtClean="0">
                          <a:solidFill>
                            <a:srgbClr val="FF0000"/>
                          </a:solidFill>
                          <a:latin typeface="Cambria Math" panose="02040503050406030204" pitchFamily="18" charset="0"/>
                          <a:ea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𝑢</m:t>
                      </m:r>
                      <m:r>
                        <a:rPr lang="en-US" sz="2000" b="0" i="1" smtClean="0">
                          <a:solidFill>
                            <a:srgbClr val="FF0000"/>
                          </a:solidFill>
                          <a:latin typeface="Cambria Math" panose="02040503050406030204" pitchFamily="18" charset="0"/>
                          <a:ea typeface="Cambria Math" panose="02040503050406030204" pitchFamily="18" charset="0"/>
                        </a:rPr>
                        <m:t>⟩ (1)</m:t>
                      </m:r>
                    </m:oMath>
                  </m:oMathPara>
                </a14:m>
                <a:endParaRPr lang="en-US" sz="2000" b="0">
                  <a:solidFill>
                    <a:srgbClr val="FF0000"/>
                  </a:solidFill>
                  <a:ea typeface="Cambria Math" panose="02040503050406030204" pitchFamily="18" charset="0"/>
                </a:endParaRPr>
              </a:p>
              <a:p>
                <a14:m>
                  <m:oMath xmlns:m="http://schemas.openxmlformats.org/officeDocument/2006/math">
                    <m:sSup>
                      <m:sSupPr>
                        <m:ctrlPr>
                          <a:rPr lang="en-US" sz="2000" b="0" i="1" smtClean="0">
                            <a:solidFill>
                              <a:srgbClr val="FF0000"/>
                            </a:solidFill>
                            <a:latin typeface="Cambria Math" panose="02040503050406030204" pitchFamily="18" charset="0"/>
                          </a:rPr>
                        </m:ctrlPr>
                      </m:sSupPr>
                      <m:e>
                        <m:r>
                          <a:rPr lang="en-US" sz="2000" i="1">
                            <a:solidFill>
                              <a:srgbClr val="FF0000"/>
                            </a:solidFill>
                            <a:latin typeface="Cambria Math" panose="02040503050406030204" pitchFamily="18" charset="0"/>
                            <a:ea typeface="Cambria Math" panose="02040503050406030204" pitchFamily="18" charset="0"/>
                          </a:rPr>
                          <m:t>↔</m:t>
                        </m:r>
                        <m:d>
                          <m:dPr>
                            <m:ctrlPr>
                              <a:rPr lang="en-US" sz="2000" b="0" i="1" smtClean="0">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𝑈</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e>
                        </m:d>
                      </m:e>
                      <m:sup>
                        <m:r>
                          <a:rPr lang="en-US" sz="2000" b="0" i="1" smtClean="0">
                            <a:solidFill>
                              <a:srgbClr val="FF0000"/>
                            </a:solidFill>
                            <a:latin typeface="Cambria Math" panose="02040503050406030204" pitchFamily="18" charset="0"/>
                          </a:rPr>
                          <m:t>∗</m:t>
                        </m:r>
                      </m:sup>
                    </m:sSup>
                    <m:r>
                      <a:rPr lang="en-US" sz="2000" b="0" i="1" smtClean="0">
                        <a:solidFill>
                          <a:srgbClr val="FF0000"/>
                        </a:solidFill>
                        <a:latin typeface="Cambria Math" panose="02040503050406030204" pitchFamily="18" charset="0"/>
                      </a:rPr>
                      <m:t>=</m:t>
                    </m:r>
                    <m:sSup>
                      <m:sSupPr>
                        <m:ctrlPr>
                          <a:rPr lang="en-US" sz="2000" b="0" i="1" smtClean="0">
                            <a:solidFill>
                              <a:srgbClr val="FF0000"/>
                            </a:solidFill>
                            <a:latin typeface="Cambria Math" panose="02040503050406030204" pitchFamily="18" charset="0"/>
                            <a:ea typeface="Cambria Math" panose="02040503050406030204" pitchFamily="18" charset="0"/>
                          </a:rPr>
                        </m:ctrlPr>
                      </m:sSupPr>
                      <m:e>
                        <m:d>
                          <m:dPr>
                            <m:ctrlPr>
                              <a:rPr lang="en-US" sz="2000" b="0" i="1" smtClean="0">
                                <a:solidFill>
                                  <a:srgbClr val="FF0000"/>
                                </a:solidFill>
                                <a:latin typeface="Cambria Math" panose="02040503050406030204" pitchFamily="18" charset="0"/>
                                <a:ea typeface="Cambria Math" panose="02040503050406030204" pitchFamily="18" charset="0"/>
                              </a:rPr>
                            </m:ctrlPr>
                          </m:dPr>
                          <m:e>
                            <m:r>
                              <a:rPr lang="en-US" sz="2000" i="1">
                                <a:solidFill>
                                  <a:srgbClr val="FF0000"/>
                                </a:solidFill>
                                <a:latin typeface="Cambria Math" panose="02040503050406030204" pitchFamily="18" charset="0"/>
                                <a:ea typeface="Cambria Math" panose="02040503050406030204" pitchFamily="18" charset="0"/>
                              </a:rPr>
                              <m:t>𝜆</m:t>
                            </m:r>
                            <m:r>
                              <a:rPr lang="en-US" sz="2000" i="1">
                                <a:solidFill>
                                  <a:srgbClr val="FF0000"/>
                                </a:solidFill>
                                <a:latin typeface="Cambria Math" panose="02040503050406030204" pitchFamily="18" charset="0"/>
                                <a:ea typeface="Cambria Math" panose="02040503050406030204" pitchFamily="18" charset="0"/>
                              </a:rPr>
                              <m:t>|</m:t>
                            </m:r>
                            <m:r>
                              <a:rPr lang="en-US" sz="2000" i="1">
                                <a:solidFill>
                                  <a:srgbClr val="FF0000"/>
                                </a:solidFill>
                                <a:latin typeface="Cambria Math" panose="02040503050406030204" pitchFamily="18" charset="0"/>
                                <a:ea typeface="Cambria Math" panose="02040503050406030204" pitchFamily="18" charset="0"/>
                              </a:rPr>
                              <m:t>𝑢</m:t>
                            </m:r>
                            <m:r>
                              <a:rPr lang="en-US" sz="2000" i="1">
                                <a:solidFill>
                                  <a:srgbClr val="FF0000"/>
                                </a:solidFill>
                                <a:latin typeface="Cambria Math" panose="02040503050406030204" pitchFamily="18" charset="0"/>
                                <a:ea typeface="Cambria Math" panose="02040503050406030204" pitchFamily="18" charset="0"/>
                              </a:rPr>
                              <m:t>⟩</m:t>
                            </m:r>
                          </m:e>
                        </m:d>
                      </m:e>
                      <m:sup>
                        <m:r>
                          <a:rPr lang="en-US" sz="2000" b="0" i="1" smtClean="0">
                            <a:solidFill>
                              <a:srgbClr val="FF0000"/>
                            </a:solidFill>
                            <a:latin typeface="Cambria Math" panose="02040503050406030204" pitchFamily="18" charset="0"/>
                            <a:ea typeface="Cambria Math" panose="02040503050406030204" pitchFamily="18" charset="0"/>
                          </a:rPr>
                          <m:t>∗</m:t>
                        </m:r>
                      </m:sup>
                    </m:sSup>
                    <m:r>
                      <a:rPr lang="en-US" sz="2000" i="1">
                        <a:solidFill>
                          <a:srgbClr val="FF0000"/>
                        </a:solidFill>
                        <a:latin typeface="Cambria Math" panose="02040503050406030204" pitchFamily="18" charset="0"/>
                        <a:ea typeface="Cambria Math" panose="02040503050406030204" pitchFamily="18" charset="0"/>
                      </a:rPr>
                      <m:t>↔</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sSup>
                      <m:sSupPr>
                        <m:ctrlPr>
                          <a:rPr lang="en-US" sz="2000" b="0" i="1" smtClean="0">
                            <a:solidFill>
                              <a:srgbClr val="FF0000"/>
                            </a:solidFill>
                            <a:latin typeface="Cambria Math" panose="02040503050406030204" pitchFamily="18" charset="0"/>
                          </a:rPr>
                        </m:ctrlPr>
                      </m:sSupPr>
                      <m:e>
                        <m:r>
                          <a:rPr lang="en-US" sz="2000" b="0" i="1" smtClean="0">
                            <a:solidFill>
                              <a:srgbClr val="FF0000"/>
                            </a:solidFill>
                            <a:latin typeface="Cambria Math" panose="02040503050406030204" pitchFamily="18" charset="0"/>
                          </a:rPr>
                          <m:t>𝑈</m:t>
                        </m:r>
                      </m:e>
                      <m:sup>
                        <m:r>
                          <a:rPr lang="en-US" sz="2000" b="0" i="1" smtClean="0">
                            <a:solidFill>
                              <a:srgbClr val="FF0000"/>
                            </a:solidFill>
                            <a:latin typeface="Cambria Math" panose="02040503050406030204" pitchFamily="18" charset="0"/>
                            <a:ea typeface="Cambria Math" panose="02040503050406030204" pitchFamily="18" charset="0"/>
                          </a:rPr>
                          <m:t>†</m:t>
                        </m:r>
                      </m:sup>
                    </m:sSup>
                    <m:r>
                      <a:rPr lang="en-US" sz="2000" b="0" i="1" smtClean="0">
                        <a:solidFill>
                          <a:srgbClr val="FF0000"/>
                        </a:solidFill>
                        <a:latin typeface="Cambria Math" panose="02040503050406030204" pitchFamily="18" charset="0"/>
                      </a:rPr>
                      <m:t>=</m:t>
                    </m:r>
                    <m:sSup>
                      <m:sSupPr>
                        <m:ctrlPr>
                          <a:rPr lang="en-US" sz="2000" b="0" i="1" smtClean="0">
                            <a:solidFill>
                              <a:srgbClr val="FF0000"/>
                            </a:solidFill>
                            <a:latin typeface="Cambria Math" panose="02040503050406030204" pitchFamily="18" charset="0"/>
                            <a:ea typeface="Cambria Math" panose="02040503050406030204" pitchFamily="18" charset="0"/>
                          </a:rPr>
                        </m:ctrlPr>
                      </m:sSupPr>
                      <m:e>
                        <m:r>
                          <a:rPr lang="en-US" sz="2000" i="1">
                            <a:solidFill>
                              <a:srgbClr val="FF0000"/>
                            </a:solidFill>
                            <a:latin typeface="Cambria Math" panose="02040503050406030204" pitchFamily="18" charset="0"/>
                            <a:ea typeface="Cambria Math" panose="02040503050406030204" pitchFamily="18" charset="0"/>
                          </a:rPr>
                          <m:t>𝜆</m:t>
                        </m:r>
                      </m:e>
                      <m:sup>
                        <m:r>
                          <a:rPr lang="en-US" sz="2000" b="0" i="1" smtClean="0">
                            <a:solidFill>
                              <a:srgbClr val="FF0000"/>
                            </a:solidFill>
                            <a:latin typeface="Cambria Math" panose="02040503050406030204" pitchFamily="18" charset="0"/>
                            <a:ea typeface="Cambria Math" panose="02040503050406030204" pitchFamily="18" charset="0"/>
                          </a:rPr>
                          <m:t>∗</m:t>
                        </m:r>
                      </m:sup>
                    </m:sSup>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oMath>
                </a14:m>
                <a:r>
                  <a:rPr lang="en-US" sz="2000">
                    <a:solidFill>
                      <a:srgbClr val="FF0000"/>
                    </a:solidFill>
                  </a:rPr>
                  <a:t> </a:t>
                </a:r>
                <a14:m>
                  <m:oMath xmlns:m="http://schemas.openxmlformats.org/officeDocument/2006/math">
                    <m:d>
                      <m:dPr>
                        <m:ctrlPr>
                          <a:rPr lang="en-US" sz="2000" i="1">
                            <a:solidFill>
                              <a:srgbClr val="FF0000"/>
                            </a:solidFill>
                            <a:latin typeface="Cambria Math" panose="02040503050406030204" pitchFamily="18" charset="0"/>
                            <a:ea typeface="Cambria Math" panose="02040503050406030204" pitchFamily="18" charset="0"/>
                          </a:rPr>
                        </m:ctrlPr>
                      </m:dPr>
                      <m:e>
                        <m:r>
                          <a:rPr lang="en-US" sz="2000" i="1">
                            <a:solidFill>
                              <a:srgbClr val="FF0000"/>
                            </a:solidFill>
                            <a:latin typeface="Cambria Math" panose="02040503050406030204" pitchFamily="18" charset="0"/>
                            <a:ea typeface="Cambria Math" panose="02040503050406030204" pitchFamily="18" charset="0"/>
                          </a:rPr>
                          <m:t>2</m:t>
                        </m:r>
                      </m:e>
                    </m:d>
                  </m:oMath>
                </a14:m>
                <a:endParaRPr lang="en-US" sz="2000">
                  <a:solidFill>
                    <a:srgbClr val="FF0000"/>
                  </a:solidFill>
                </a:endParaRPr>
              </a:p>
              <a:p>
                <a:r>
                  <a:rPr lang="en-US" sz="2000">
                    <a:solidFill>
                      <a:srgbClr val="FF0000"/>
                    </a:solidFill>
                  </a:rPr>
                  <a:t>(1) </a:t>
                </a:r>
                <a14:m>
                  <m:oMath xmlns:m="http://schemas.openxmlformats.org/officeDocument/2006/math">
                    <m:r>
                      <a:rPr lang="en-US" sz="200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 </m:t>
                    </m:r>
                  </m:oMath>
                </a14:m>
                <a:r>
                  <a:rPr lang="en-US" sz="2000">
                    <a:solidFill>
                      <a:srgbClr val="FF0000"/>
                    </a:solidFill>
                  </a:rPr>
                  <a:t>(2):</a:t>
                </a:r>
                <a14:m>
                  <m:oMath xmlns:m="http://schemas.openxmlformats.org/officeDocument/2006/math">
                    <m:r>
                      <a:rPr lang="en-US" sz="2000" b="0" i="0" smtClean="0">
                        <a:solidFill>
                          <a:srgbClr val="FF0000"/>
                        </a:solidFill>
                        <a:latin typeface="Cambria Math" panose="02040503050406030204" pitchFamily="18" charset="0"/>
                      </a:rPr>
                      <m:t> </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sSup>
                      <m:sSupPr>
                        <m:ctrlPr>
                          <a:rPr lang="en-US" sz="2000" i="1">
                            <a:solidFill>
                              <a:srgbClr val="FF0000"/>
                            </a:solidFill>
                            <a:latin typeface="Cambria Math" panose="02040503050406030204" pitchFamily="18" charset="0"/>
                          </a:rPr>
                        </m:ctrlPr>
                      </m:sSupPr>
                      <m:e>
                        <m:r>
                          <a:rPr lang="en-US" sz="2000" i="1">
                            <a:solidFill>
                              <a:srgbClr val="FF0000"/>
                            </a:solidFill>
                            <a:latin typeface="Cambria Math" panose="02040503050406030204" pitchFamily="18" charset="0"/>
                          </a:rPr>
                          <m:t>𝑈</m:t>
                        </m:r>
                      </m:e>
                      <m:sup>
                        <m:r>
                          <a:rPr lang="en-US" sz="2000" i="1">
                            <a:solidFill>
                              <a:srgbClr val="FF0000"/>
                            </a:solidFill>
                            <a:latin typeface="Cambria Math" panose="02040503050406030204" pitchFamily="18" charset="0"/>
                            <a:ea typeface="Cambria Math" panose="02040503050406030204" pitchFamily="18" charset="0"/>
                          </a:rPr>
                          <m:t>†</m:t>
                        </m:r>
                      </m:sup>
                    </m:sSup>
                    <m:r>
                      <a:rPr lang="en-US" sz="2000" i="1">
                        <a:solidFill>
                          <a:srgbClr val="FF0000"/>
                        </a:solidFill>
                        <a:latin typeface="Cambria Math" panose="02040503050406030204" pitchFamily="18" charset="0"/>
                      </a:rPr>
                      <m:t>𝑈</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sSup>
                      <m:sSupPr>
                        <m:ctrlPr>
                          <a:rPr lang="en-US" sz="2000" i="1">
                            <a:solidFill>
                              <a:srgbClr val="FF0000"/>
                            </a:solidFill>
                            <a:latin typeface="Cambria Math" panose="02040503050406030204" pitchFamily="18" charset="0"/>
                            <a:ea typeface="Cambria Math" panose="02040503050406030204" pitchFamily="18" charset="0"/>
                          </a:rPr>
                        </m:ctrlPr>
                      </m:sSupPr>
                      <m:e>
                        <m:r>
                          <a:rPr lang="en-US" sz="2000" i="1">
                            <a:solidFill>
                              <a:srgbClr val="FF0000"/>
                            </a:solidFill>
                            <a:latin typeface="Cambria Math" panose="02040503050406030204" pitchFamily="18" charset="0"/>
                            <a:ea typeface="Cambria Math" panose="02040503050406030204" pitchFamily="18" charset="0"/>
                          </a:rPr>
                          <m:t>𝜆</m:t>
                        </m:r>
                      </m:e>
                      <m:sup>
                        <m:r>
                          <a:rPr lang="en-US" sz="2000" i="1">
                            <a:solidFill>
                              <a:srgbClr val="FF0000"/>
                            </a:solidFill>
                            <a:latin typeface="Cambria Math" panose="02040503050406030204" pitchFamily="18" charset="0"/>
                            <a:ea typeface="Cambria Math" panose="02040503050406030204" pitchFamily="18" charset="0"/>
                          </a:rPr>
                          <m:t>∗</m:t>
                        </m:r>
                      </m:sup>
                    </m:sSup>
                    <m:r>
                      <a:rPr lang="en-US" sz="2000" i="1">
                        <a:solidFill>
                          <a:srgbClr val="FF0000"/>
                        </a:solidFill>
                        <a:latin typeface="Cambria Math" panose="02040503050406030204" pitchFamily="18" charset="0"/>
                        <a:ea typeface="Cambria Math" panose="02040503050406030204" pitchFamily="18" charset="0"/>
                      </a:rPr>
                      <m:t>𝜆</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𝑢</m:t>
                    </m:r>
                    <m:r>
                      <a:rPr lang="en-US" sz="2000" b="0" i="1" smtClean="0">
                        <a:solidFill>
                          <a:srgbClr val="FF0000"/>
                        </a:solidFill>
                        <a:latin typeface="Cambria Math" panose="02040503050406030204" pitchFamily="18" charset="0"/>
                        <a:ea typeface="Cambria Math" panose="02040503050406030204" pitchFamily="18" charset="0"/>
                      </a:rPr>
                      <m:t>⟩</m:t>
                    </m:r>
                    <m:r>
                      <a:rPr lang="vi-VN" sz="2000" i="1" smtClean="0">
                        <a:solidFill>
                          <a:srgbClr val="FF0000"/>
                        </a:solidFill>
                        <a:latin typeface="Cambria Math" panose="02040503050406030204" pitchFamily="18" charset="0"/>
                        <a:ea typeface="Cambria Math" panose="02040503050406030204" pitchFamily="18" charset="0"/>
                      </a:rPr>
                      <m:t>↔</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𝑢</m:t>
                    </m:r>
                    <m:r>
                      <a:rPr lang="en-US" sz="2000" b="0" i="1" smtClean="0">
                        <a:solidFill>
                          <a:srgbClr val="FF0000"/>
                        </a:solidFill>
                        <a:latin typeface="Cambria Math" panose="02040503050406030204" pitchFamily="18" charset="0"/>
                      </a:rPr>
                      <m:t>⟩=</m:t>
                    </m:r>
                    <m:sSup>
                      <m:sSupPr>
                        <m:ctrlPr>
                          <a:rPr lang="en-US" sz="2000" i="1">
                            <a:solidFill>
                              <a:srgbClr val="FF0000"/>
                            </a:solidFill>
                            <a:latin typeface="Cambria Math" panose="02040503050406030204" pitchFamily="18" charset="0"/>
                            <a:ea typeface="Cambria Math" panose="02040503050406030204" pitchFamily="18" charset="0"/>
                          </a:rPr>
                        </m:ctrlPr>
                      </m:sSupPr>
                      <m:e>
                        <m:r>
                          <a:rPr lang="en-US" sz="2000" i="1">
                            <a:solidFill>
                              <a:srgbClr val="FF0000"/>
                            </a:solidFill>
                            <a:latin typeface="Cambria Math" panose="02040503050406030204" pitchFamily="18" charset="0"/>
                            <a:ea typeface="Cambria Math" panose="02040503050406030204" pitchFamily="18" charset="0"/>
                          </a:rPr>
                          <m:t>𝜆</m:t>
                        </m:r>
                      </m:e>
                      <m:sup>
                        <m:r>
                          <a:rPr lang="en-US" sz="2000" i="1">
                            <a:solidFill>
                              <a:srgbClr val="FF0000"/>
                            </a:solidFill>
                            <a:latin typeface="Cambria Math" panose="02040503050406030204" pitchFamily="18" charset="0"/>
                            <a:ea typeface="Cambria Math" panose="02040503050406030204" pitchFamily="18" charset="0"/>
                          </a:rPr>
                          <m:t>∗</m:t>
                        </m:r>
                      </m:sup>
                    </m:sSup>
                    <m:r>
                      <a:rPr lang="en-US" sz="2000" i="1">
                        <a:solidFill>
                          <a:srgbClr val="FF0000"/>
                        </a:solidFill>
                        <a:latin typeface="Cambria Math" panose="02040503050406030204" pitchFamily="18" charset="0"/>
                        <a:ea typeface="Cambria Math" panose="02040503050406030204" pitchFamily="18" charset="0"/>
                      </a:rPr>
                      <m:t>𝜆</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𝑢</m:t>
                    </m:r>
                    <m:r>
                      <a:rPr lang="en-US" sz="2000" i="1">
                        <a:solidFill>
                          <a:srgbClr val="FF0000"/>
                        </a:solidFill>
                        <a:latin typeface="Cambria Math" panose="02040503050406030204" pitchFamily="18" charset="0"/>
                        <a:ea typeface="Cambria Math" panose="02040503050406030204" pitchFamily="18" charset="0"/>
                      </a:rPr>
                      <m:t>⟩</m:t>
                    </m:r>
                    <m:r>
                      <a:rPr lang="vi-VN" sz="2000" i="1">
                        <a:solidFill>
                          <a:srgbClr val="FF0000"/>
                        </a:solidFill>
                        <a:latin typeface="Cambria Math" panose="02040503050406030204" pitchFamily="18" charset="0"/>
                        <a:ea typeface="Cambria Math" panose="02040503050406030204" pitchFamily="18" charset="0"/>
                      </a:rPr>
                      <m:t>↔</m:t>
                    </m:r>
                    <m:d>
                      <m:dPr>
                        <m:begChr m:val="|"/>
                        <m:endChr m:val="|"/>
                        <m:ctrlPr>
                          <a:rPr lang="vi-VN" sz="2000" i="1">
                            <a:solidFill>
                              <a:srgbClr val="FF0000"/>
                            </a:solidFill>
                            <a:latin typeface="Cambria Math" panose="02040503050406030204" pitchFamily="18" charset="0"/>
                            <a:ea typeface="Cambria Math" panose="02040503050406030204" pitchFamily="18" charset="0"/>
                          </a:rPr>
                        </m:ctrlPr>
                      </m:dPr>
                      <m:e>
                        <m:r>
                          <a:rPr lang="en-US" sz="2000" i="1">
                            <a:solidFill>
                              <a:srgbClr val="FF0000"/>
                            </a:solidFill>
                            <a:latin typeface="Cambria Math" panose="02040503050406030204" pitchFamily="18" charset="0"/>
                            <a:ea typeface="Cambria Math" panose="02040503050406030204" pitchFamily="18" charset="0"/>
                          </a:rPr>
                          <m:t>𝜆</m:t>
                        </m:r>
                      </m:e>
                    </m:d>
                    <m:r>
                      <a:rPr lang="vi-VN" sz="2000" i="1">
                        <a:solidFill>
                          <a:srgbClr val="FF0000"/>
                        </a:solidFill>
                        <a:latin typeface="Cambria Math" panose="02040503050406030204" pitchFamily="18" charset="0"/>
                        <a:ea typeface="Cambria Math" panose="02040503050406030204" pitchFamily="18" charset="0"/>
                      </a:rPr>
                      <m:t>=1</m:t>
                    </m:r>
                  </m:oMath>
                </a14:m>
                <a:endParaRPr lang="vi-VN" sz="2000">
                  <a:solidFill>
                    <a:srgbClr val="FF0000"/>
                  </a:solidFill>
                </a:endParaRPr>
              </a:p>
            </p:txBody>
          </p:sp>
        </mc:Choice>
        <mc:Fallback xmlns="">
          <p:sp>
            <p:nvSpPr>
              <p:cNvPr id="63" name="Hộp Văn bản 9">
                <a:extLst>
                  <a:ext uri="{FF2B5EF4-FFF2-40B4-BE49-F238E27FC236}">
                    <a16:creationId xmlns:a16="http://schemas.microsoft.com/office/drawing/2014/main" id="{CCAB10EF-8142-CDBF-F83E-E15D25BEB0F8}"/>
                  </a:ext>
                </a:extLst>
              </p:cNvPr>
              <p:cNvSpPr txBox="1">
                <a:spLocks noRot="1" noChangeAspect="1" noMove="1" noResize="1" noEditPoints="1" noAdjustHandles="1" noChangeArrowheads="1" noChangeShapeType="1" noTextEdit="1"/>
              </p:cNvSpPr>
              <p:nvPr/>
            </p:nvSpPr>
            <p:spPr>
              <a:xfrm>
                <a:off x="838200" y="5708759"/>
                <a:ext cx="7058422" cy="1031693"/>
              </a:xfrm>
              <a:prstGeom prst="rect">
                <a:avLst/>
              </a:prstGeom>
              <a:blipFill>
                <a:blip r:embed="rId9"/>
                <a:stretch>
                  <a:fillRect l="-1079" b="-9756"/>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5030EBC9-F908-2873-09FD-1C27DAFB76D0}"/>
                  </a:ext>
                </a:extLst>
              </p:cNvPr>
              <p:cNvSpPr txBox="1"/>
              <p:nvPr/>
            </p:nvSpPr>
            <p:spPr>
              <a:xfrm>
                <a:off x="883668" y="2872241"/>
                <a:ext cx="4966472" cy="455574"/>
              </a:xfrm>
              <a:prstGeom prst="rect">
                <a:avLst/>
              </a:prstGeom>
              <a:noFill/>
            </p:spPr>
            <p:txBody>
              <a:bodyPr wrap="square" lIns="0" tIns="0" rIns="0" bIns="0" rtlCol="0">
                <a:spAutoFit/>
              </a:bodyPr>
              <a:lstStyle/>
              <a:p>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e>
                    </m:d>
                    <m:r>
                      <a:rPr lang="en-US" b="0" i="1" smtClean="0">
                        <a:latin typeface="Cambria Math" panose="02040503050406030204" pitchFamily="18" charset="0"/>
                      </a:rPr>
                      <m:t> </m:t>
                    </m:r>
                    <m:groupChr>
                      <m:groupChrPr>
                        <m:chr m:val="→"/>
                        <m:vertJc m:val="bot"/>
                        <m:ctrlPr>
                          <a:rPr lang="en-US" b="0" i="1" smtClean="0">
                            <a:latin typeface="Cambria Math" panose="02040503050406030204" pitchFamily="18" charset="0"/>
                          </a:rPr>
                        </m:ctrlPr>
                      </m:groupChrPr>
                      <m:e>
                        <m:sSub>
                          <m:sSubPr>
                            <m:ctrlPr>
                              <a:rPr lang="en-US" b="0" i="1" smtClean="0">
                                <a:latin typeface="Cambria Math" panose="02040503050406030204" pitchFamily="18" charset="0"/>
                              </a:rPr>
                            </m:ctrlPr>
                          </m:sSubPr>
                          <m:e>
                            <m:r>
                              <m:rPr>
                                <m:brk m:alnAt="2"/>
                              </m:rPr>
                              <a:rPr lang="en-US" b="0" i="1" smtClean="0">
                                <a:latin typeface="Cambria Math" panose="02040503050406030204" pitchFamily="18" charset="0"/>
                              </a:rPr>
                              <m:t>𝐻</m:t>
                            </m:r>
                          </m:e>
                          <m:sub>
                            <m:r>
                              <m:rPr>
                                <m:brk m:alnAt="2"/>
                              </m:rPr>
                              <a:rPr lang="en-US" b="0" i="1" smtClean="0">
                                <a:latin typeface="Cambria Math" panose="02040503050406030204" pitchFamily="18" charset="0"/>
                              </a:rPr>
                              <m:t>0</m:t>
                            </m:r>
                          </m:sub>
                        </m:sSub>
                      </m:e>
                    </m:groupCh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e>
                    </m:d>
                    <m:r>
                      <a:rPr lang="en-US" b="0" i="1" smtClean="0">
                        <a:latin typeface="Cambria Math" panose="02040503050406030204" pitchFamily="18" charset="0"/>
                      </a:rPr>
                      <m:t> </m:t>
                    </m:r>
                    <m:groupChr>
                      <m:groupChrPr>
                        <m:chr m:val="→"/>
                        <m:vertJc m:val="bot"/>
                        <m:ctrlPr>
                          <a:rPr lang="en-US" i="1">
                            <a:latin typeface="Cambria Math" panose="02040503050406030204" pitchFamily="18" charset="0"/>
                          </a:rPr>
                        </m:ctrlPr>
                      </m:groupChrPr>
                      <m:e>
                        <m:sSub>
                          <m:sSubPr>
                            <m:ctrlPr>
                              <a:rPr lang="en-US" i="1">
                                <a:latin typeface="Cambria Math" panose="02040503050406030204" pitchFamily="18" charset="0"/>
                              </a:rPr>
                            </m:ctrlPr>
                          </m:sSubPr>
                          <m:e>
                            <m:r>
                              <a:rPr lang="en-US" b="0" i="1" smtClean="0">
                                <a:latin typeface="Cambria Math" panose="02040503050406030204" pitchFamily="18" charset="0"/>
                              </a:rPr>
                              <m:t>𝐶𝑈</m:t>
                            </m:r>
                          </m:e>
                          <m:sub>
                            <m:r>
                              <m:rPr>
                                <m:brk m:alnAt="2"/>
                              </m:rPr>
                              <a:rPr lang="en-US" i="1">
                                <a:latin typeface="Cambria Math" panose="02040503050406030204" pitchFamily="18" charset="0"/>
                              </a:rPr>
                              <m:t>0</m:t>
                            </m:r>
                            <m:r>
                              <a:rPr lang="en-US" b="0" i="1" smtClean="0">
                                <a:latin typeface="Cambria Math" panose="02040503050406030204" pitchFamily="18" charset="0"/>
                              </a:rPr>
                              <m:t>,1</m:t>
                            </m:r>
                          </m:sub>
                        </m:sSub>
                      </m:e>
                    </m:groupCh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e>
                        </m:d>
                        <m:r>
                          <a:rPr lang="en-US" b="0" i="1" smtClean="0">
                            <a:latin typeface="Cambria Math" panose="02040503050406030204" pitchFamily="18" charset="0"/>
                          </a:rPr>
                          <m:t>+|1⟩</m:t>
                        </m:r>
                        <m:r>
                          <a:rPr lang="en-US" b="0" i="1" smtClean="0">
                            <a:latin typeface="Cambria Math" panose="02040503050406030204" pitchFamily="18" charset="0"/>
                          </a:rPr>
                          <m:t>𝑈</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e>
                    </m:d>
                    <m:groupChr>
                      <m:groupChrPr>
                        <m:chr m:val="→"/>
                        <m:vertJc m:val="bot"/>
                        <m:ctrlPr>
                          <a:rPr lang="en-US" i="1">
                            <a:latin typeface="Cambria Math" panose="02040503050406030204" pitchFamily="18" charset="0"/>
                          </a:rPr>
                        </m:ctrlPr>
                      </m:groupChrPr>
                      <m:e>
                        <m:sSub>
                          <m:sSubPr>
                            <m:ctrlPr>
                              <a:rPr lang="en-US" i="1">
                                <a:latin typeface="Cambria Math" panose="02040503050406030204" pitchFamily="18" charset="0"/>
                              </a:rPr>
                            </m:ctrlPr>
                          </m:sSubPr>
                          <m:e>
                            <m:r>
                              <m:rPr>
                                <m:brk m:alnAt="2"/>
                              </m:rPr>
                              <a:rPr lang="en-US" i="1">
                                <a:latin typeface="Cambria Math" panose="02040503050406030204" pitchFamily="18" charset="0"/>
                              </a:rPr>
                              <m:t>𝐻</m:t>
                            </m:r>
                          </m:e>
                          <m:sub>
                            <m:r>
                              <m:rPr>
                                <m:brk m:alnAt="2"/>
                              </m:rPr>
                              <a:rPr lang="en-US" i="1">
                                <a:latin typeface="Cambria Math" panose="02040503050406030204" pitchFamily="18" charset="0"/>
                              </a:rPr>
                              <m:t>0</m:t>
                            </m:r>
                          </m:sub>
                        </m:sSub>
                      </m:e>
                    </m:groupChr>
                  </m:oMath>
                </a14:m>
                <a:r>
                  <a:rPr lang="en-US"/>
                  <a:t> </a:t>
                </a:r>
                <a:endParaRPr lang="vi-VN"/>
              </a:p>
            </p:txBody>
          </p:sp>
        </mc:Choice>
        <mc:Fallback xmlns="">
          <p:sp>
            <p:nvSpPr>
              <p:cNvPr id="64" name="TextBox 63">
                <a:extLst>
                  <a:ext uri="{FF2B5EF4-FFF2-40B4-BE49-F238E27FC236}">
                    <a16:creationId xmlns:a16="http://schemas.microsoft.com/office/drawing/2014/main" id="{5030EBC9-F908-2873-09FD-1C27DAFB76D0}"/>
                  </a:ext>
                </a:extLst>
              </p:cNvPr>
              <p:cNvSpPr txBox="1">
                <a:spLocks noRot="1" noChangeAspect="1" noMove="1" noResize="1" noEditPoints="1" noAdjustHandles="1" noChangeArrowheads="1" noChangeShapeType="1" noTextEdit="1"/>
              </p:cNvSpPr>
              <p:nvPr/>
            </p:nvSpPr>
            <p:spPr>
              <a:xfrm>
                <a:off x="883668" y="2872241"/>
                <a:ext cx="4966472" cy="455574"/>
              </a:xfrm>
              <a:prstGeom prst="rect">
                <a:avLst/>
              </a:prstGeom>
              <a:blipFill>
                <a:blip r:embed="rId10"/>
                <a:stretch>
                  <a:fillRect/>
                </a:stretch>
              </a:blipFill>
            </p:spPr>
            <p:txBody>
              <a:bodyPr/>
              <a:lstStyle/>
              <a:p>
                <a:r>
                  <a:rPr lang="vi-VN">
                    <a:noFill/>
                  </a:rPr>
                  <a:t> </a:t>
                </a:r>
              </a:p>
            </p:txBody>
          </p:sp>
        </mc:Fallback>
      </mc:AlternateContent>
      <p:cxnSp>
        <p:nvCxnSpPr>
          <p:cNvPr id="66" name="Straight Connector 65">
            <a:extLst>
              <a:ext uri="{FF2B5EF4-FFF2-40B4-BE49-F238E27FC236}">
                <a16:creationId xmlns:a16="http://schemas.microsoft.com/office/drawing/2014/main" id="{2EDB3BEA-4C04-1D24-FD3F-B2FD7D703330}"/>
              </a:ext>
            </a:extLst>
          </p:cNvPr>
          <p:cNvCxnSpPr>
            <a:cxnSpLocks/>
          </p:cNvCxnSpPr>
          <p:nvPr/>
        </p:nvCxnSpPr>
        <p:spPr>
          <a:xfrm>
            <a:off x="1507794" y="1590508"/>
            <a:ext cx="0" cy="2194560"/>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8764C5E4-8E1A-48A5-E3AE-5891CA500A33}"/>
              </a:ext>
            </a:extLst>
          </p:cNvPr>
          <p:cNvCxnSpPr>
            <a:cxnSpLocks/>
          </p:cNvCxnSpPr>
          <p:nvPr/>
        </p:nvCxnSpPr>
        <p:spPr>
          <a:xfrm>
            <a:off x="2633715" y="1590507"/>
            <a:ext cx="0" cy="2194560"/>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3D1FF697-BF8E-DB68-D0AA-33196C6A009D}"/>
              </a:ext>
            </a:extLst>
          </p:cNvPr>
          <p:cNvCxnSpPr>
            <a:cxnSpLocks/>
          </p:cNvCxnSpPr>
          <p:nvPr/>
        </p:nvCxnSpPr>
        <p:spPr>
          <a:xfrm>
            <a:off x="5349705" y="1590507"/>
            <a:ext cx="0" cy="2194560"/>
          </a:xfrm>
          <a:prstGeom prst="line">
            <a:avLst/>
          </a:prstGeom>
          <a:ln>
            <a:prstDash val="lg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C101B75-08D4-5225-08D5-E13F4DF96FFA}"/>
                  </a:ext>
                </a:extLst>
              </p:cNvPr>
              <p:cNvSpPr txBox="1"/>
              <p:nvPr/>
            </p:nvSpPr>
            <p:spPr>
              <a:xfrm>
                <a:off x="2944448" y="3413291"/>
                <a:ext cx="2498816" cy="408060"/>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0</m:t>
                                </m:r>
                              </m:e>
                            </m:d>
                            <m:r>
                              <a:rPr lang="en-US" i="1">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|1⟩</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e>
                    </m:d>
                    <m:r>
                      <a:rPr lang="en-US" b="0" i="1" smtClean="0">
                        <a:latin typeface="Cambria Math" panose="02040503050406030204" pitchFamily="18" charset="0"/>
                      </a:rPr>
                      <m:t> </m:t>
                    </m:r>
                  </m:oMath>
                </a14:m>
                <a:r>
                  <a:rPr lang="en-US"/>
                  <a:t> </a:t>
                </a:r>
                <a:endParaRPr lang="vi-VN"/>
              </a:p>
            </p:txBody>
          </p:sp>
        </mc:Choice>
        <mc:Fallback xmlns="">
          <p:sp>
            <p:nvSpPr>
              <p:cNvPr id="76" name="TextBox 75">
                <a:extLst>
                  <a:ext uri="{FF2B5EF4-FFF2-40B4-BE49-F238E27FC236}">
                    <a16:creationId xmlns:a16="http://schemas.microsoft.com/office/drawing/2014/main" id="{7C101B75-08D4-5225-08D5-E13F4DF96FFA}"/>
                  </a:ext>
                </a:extLst>
              </p:cNvPr>
              <p:cNvSpPr txBox="1">
                <a:spLocks noRot="1" noChangeAspect="1" noMove="1" noResize="1" noEditPoints="1" noAdjustHandles="1" noChangeArrowheads="1" noChangeShapeType="1" noTextEdit="1"/>
              </p:cNvSpPr>
              <p:nvPr/>
            </p:nvSpPr>
            <p:spPr>
              <a:xfrm>
                <a:off x="2944448" y="3413291"/>
                <a:ext cx="2498816" cy="408060"/>
              </a:xfrm>
              <a:prstGeom prst="rect">
                <a:avLst/>
              </a:prstGeom>
              <a:blipFill>
                <a:blip r:embed="rId11"/>
                <a:stretch>
                  <a:fillRect l="-1951" t="-4478" r="-2195" b="-16418"/>
                </a:stretch>
              </a:blipFill>
            </p:spPr>
            <p:txBody>
              <a:bodyPr/>
              <a:lstStyle/>
              <a:p>
                <a:r>
                  <a:rPr lang="vi-VN">
                    <a:noFill/>
                  </a:rPr>
                  <a:t> </a:t>
                </a:r>
              </a:p>
            </p:txBody>
          </p:sp>
        </mc:Fallback>
      </mc:AlternateContent>
      <p:sp>
        <p:nvSpPr>
          <p:cNvPr id="80" name="Rectangle 79">
            <a:extLst>
              <a:ext uri="{FF2B5EF4-FFF2-40B4-BE49-F238E27FC236}">
                <a16:creationId xmlns:a16="http://schemas.microsoft.com/office/drawing/2014/main" id="{A748B08A-8647-B7C1-F8FF-3868DFD7BD96}"/>
              </a:ext>
            </a:extLst>
          </p:cNvPr>
          <p:cNvSpPr/>
          <p:nvPr/>
        </p:nvSpPr>
        <p:spPr>
          <a:xfrm>
            <a:off x="838200" y="5061463"/>
            <a:ext cx="7997516" cy="16222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000"/>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202138FD-FDCD-BDF4-C4B4-B1C3F28764C0}"/>
                  </a:ext>
                </a:extLst>
              </p:cNvPr>
              <p:cNvSpPr txBox="1"/>
              <p:nvPr/>
            </p:nvSpPr>
            <p:spPr>
              <a:xfrm>
                <a:off x="5945198" y="2652044"/>
                <a:ext cx="2120498" cy="408060"/>
              </a:xfrm>
              <a:prstGeom prst="rect">
                <a:avLst/>
              </a:prstGeom>
              <a:noFill/>
            </p:spPr>
            <p:txBody>
              <a:bodyPr wrap="square" lIns="0" tIns="0" rIns="0" bIns="0" rtlCol="0">
                <a:spAutoFit/>
              </a:bodyPr>
              <a:lstStyle/>
              <a:p>
                <a:r>
                  <a:rPr lang="en-US" b="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e>
                    </m:d>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𝜆</m:t>
                    </m:r>
                    <m:r>
                      <a:rPr lang="en-US" b="0" i="1" smtClean="0">
                        <a:latin typeface="Cambria Math" panose="02040503050406030204" pitchFamily="18" charset="0"/>
                      </a:rPr>
                      <m:t>=1</m:t>
                    </m:r>
                    <m:r>
                      <a:rPr lang="en-US" b="0" i="0" smtClean="0">
                        <a:latin typeface="Cambria Math" panose="02040503050406030204" pitchFamily="18" charset="0"/>
                      </a:rPr>
                      <m:t> </m:t>
                    </m:r>
                  </m:oMath>
                </a14:m>
                <a:r>
                  <a:rPr lang="en-US"/>
                  <a:t> </a:t>
                </a:r>
                <a:endParaRPr lang="vi-VN"/>
              </a:p>
            </p:txBody>
          </p:sp>
        </mc:Choice>
        <mc:Fallback xmlns="">
          <p:sp>
            <p:nvSpPr>
              <p:cNvPr id="81" name="TextBox 80">
                <a:extLst>
                  <a:ext uri="{FF2B5EF4-FFF2-40B4-BE49-F238E27FC236}">
                    <a16:creationId xmlns:a16="http://schemas.microsoft.com/office/drawing/2014/main" id="{202138FD-FDCD-BDF4-C4B4-B1C3F28764C0}"/>
                  </a:ext>
                </a:extLst>
              </p:cNvPr>
              <p:cNvSpPr txBox="1">
                <a:spLocks noRot="1" noChangeAspect="1" noMove="1" noResize="1" noEditPoints="1" noAdjustHandles="1" noChangeArrowheads="1" noChangeShapeType="1" noTextEdit="1"/>
              </p:cNvSpPr>
              <p:nvPr/>
            </p:nvSpPr>
            <p:spPr>
              <a:xfrm>
                <a:off x="5945198" y="2652044"/>
                <a:ext cx="2120498" cy="408060"/>
              </a:xfrm>
              <a:prstGeom prst="rect">
                <a:avLst/>
              </a:prstGeom>
              <a:blipFill>
                <a:blip r:embed="rId12"/>
                <a:stretch>
                  <a:fillRect b="-1044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7C220C2E-7C14-F729-1671-EC6752FEF8A9}"/>
                  </a:ext>
                </a:extLst>
              </p:cNvPr>
              <p:cNvSpPr txBox="1"/>
              <p:nvPr/>
            </p:nvSpPr>
            <p:spPr>
              <a:xfrm>
                <a:off x="5945196" y="3373283"/>
                <a:ext cx="2269245" cy="408060"/>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e>
                    </m:d>
                    <m:r>
                      <a:rPr lang="en-US" b="0" i="0" smtClean="0">
                        <a:latin typeface="Cambria Math" panose="02040503050406030204" pitchFamily="18" charset="0"/>
                      </a:rPr>
                      <m:t> </m:t>
                    </m:r>
                    <m:r>
                      <m:rPr>
                        <m:sty m:val="p"/>
                      </m:rPr>
                      <a:rPr lang="en-US">
                        <a:latin typeface="Cambria Math" panose="02040503050406030204" pitchFamily="18" charset="0"/>
                      </a:rPr>
                      <m:t>if</m:t>
                    </m:r>
                    <m:r>
                      <a:rPr lang="en-US" i="1">
                        <a:latin typeface="Cambria Math" panose="02040503050406030204" pitchFamily="18" charset="0"/>
                      </a:rPr>
                      <m:t> </m:t>
                    </m:r>
                    <m:r>
                      <a:rPr lang="en-US" i="1">
                        <a:latin typeface="Cambria Math" panose="02040503050406030204" pitchFamily="18" charset="0"/>
                      </a:rPr>
                      <m:t>𝜆</m:t>
                    </m:r>
                    <m:r>
                      <a:rPr lang="en-US" i="1">
                        <a:latin typeface="Cambria Math" panose="02040503050406030204" pitchFamily="18" charset="0"/>
                      </a:rPr>
                      <m:t>=−1</m:t>
                    </m:r>
                  </m:oMath>
                </a14:m>
                <a:r>
                  <a:rPr lang="en-US"/>
                  <a:t> </a:t>
                </a:r>
                <a:endParaRPr lang="vi-VN"/>
              </a:p>
            </p:txBody>
          </p:sp>
        </mc:Choice>
        <mc:Fallback xmlns="">
          <p:sp>
            <p:nvSpPr>
              <p:cNvPr id="82" name="TextBox 81">
                <a:extLst>
                  <a:ext uri="{FF2B5EF4-FFF2-40B4-BE49-F238E27FC236}">
                    <a16:creationId xmlns:a16="http://schemas.microsoft.com/office/drawing/2014/main" id="{7C220C2E-7C14-F729-1671-EC6752FEF8A9}"/>
                  </a:ext>
                </a:extLst>
              </p:cNvPr>
              <p:cNvSpPr txBox="1">
                <a:spLocks noRot="1" noChangeAspect="1" noMove="1" noResize="1" noEditPoints="1" noAdjustHandles="1" noChangeArrowheads="1" noChangeShapeType="1" noTextEdit="1"/>
              </p:cNvSpPr>
              <p:nvPr/>
            </p:nvSpPr>
            <p:spPr>
              <a:xfrm>
                <a:off x="5945196" y="3373283"/>
                <a:ext cx="2269245" cy="408060"/>
              </a:xfrm>
              <a:prstGeom prst="rect">
                <a:avLst/>
              </a:prstGeom>
              <a:blipFill>
                <a:blip r:embed="rId13"/>
                <a:stretch>
                  <a:fillRect l="-268" b="-10448"/>
                </a:stretch>
              </a:blipFill>
            </p:spPr>
            <p:txBody>
              <a:bodyPr/>
              <a:lstStyle/>
              <a:p>
                <a:r>
                  <a:rPr lang="vi-VN">
                    <a:noFill/>
                  </a:rPr>
                  <a:t> </a:t>
                </a:r>
              </a:p>
            </p:txBody>
          </p:sp>
        </mc:Fallback>
      </mc:AlternateContent>
      <p:cxnSp>
        <p:nvCxnSpPr>
          <p:cNvPr id="84" name="Connector: Curved 83">
            <a:extLst>
              <a:ext uri="{FF2B5EF4-FFF2-40B4-BE49-F238E27FC236}">
                <a16:creationId xmlns:a16="http://schemas.microsoft.com/office/drawing/2014/main" id="{A30CFA95-92B8-C5AB-3F5A-D06C061C8DD8}"/>
              </a:ext>
            </a:extLst>
          </p:cNvPr>
          <p:cNvCxnSpPr>
            <a:cxnSpLocks/>
            <a:endCxn id="81" idx="1"/>
          </p:cNvCxnSpPr>
          <p:nvPr/>
        </p:nvCxnSpPr>
        <p:spPr>
          <a:xfrm rot="5400000" flipH="1" flipV="1">
            <a:off x="5608046" y="2865776"/>
            <a:ext cx="346854" cy="327450"/>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6" name="Connector: Curved 85">
            <a:extLst>
              <a:ext uri="{FF2B5EF4-FFF2-40B4-BE49-F238E27FC236}">
                <a16:creationId xmlns:a16="http://schemas.microsoft.com/office/drawing/2014/main" id="{151CE1A6-5308-CC9A-033A-217C483B7A27}"/>
              </a:ext>
            </a:extLst>
          </p:cNvPr>
          <p:cNvCxnSpPr>
            <a:cxnSpLocks/>
            <a:endCxn id="82" idx="1"/>
          </p:cNvCxnSpPr>
          <p:nvPr/>
        </p:nvCxnSpPr>
        <p:spPr>
          <a:xfrm rot="16200000" flipH="1">
            <a:off x="5608045" y="3240162"/>
            <a:ext cx="346854" cy="327448"/>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62E14C22-360F-A303-35C5-AC78355C7332}"/>
              </a:ext>
            </a:extLst>
          </p:cNvPr>
          <p:cNvCxnSpPr>
            <a:cxnSpLocks/>
          </p:cNvCxnSpPr>
          <p:nvPr/>
        </p:nvCxnSpPr>
        <p:spPr>
          <a:xfrm>
            <a:off x="8255409" y="1583960"/>
            <a:ext cx="0" cy="2194560"/>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01" name="Rectangle 100">
            <a:extLst>
              <a:ext uri="{FF2B5EF4-FFF2-40B4-BE49-F238E27FC236}">
                <a16:creationId xmlns:a16="http://schemas.microsoft.com/office/drawing/2014/main" id="{A2D8A59A-3709-2B15-1E5F-DF2AF306DE6C}"/>
              </a:ext>
            </a:extLst>
          </p:cNvPr>
          <p:cNvSpPr/>
          <p:nvPr/>
        </p:nvSpPr>
        <p:spPr>
          <a:xfrm>
            <a:off x="3855047" y="2111070"/>
            <a:ext cx="716951" cy="723784"/>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102" name="Connector: Curved 101">
            <a:extLst>
              <a:ext uri="{FF2B5EF4-FFF2-40B4-BE49-F238E27FC236}">
                <a16:creationId xmlns:a16="http://schemas.microsoft.com/office/drawing/2014/main" id="{E6490BF2-D94F-C413-192E-EE657F01B188}"/>
              </a:ext>
            </a:extLst>
          </p:cNvPr>
          <p:cNvCxnSpPr>
            <a:cxnSpLocks/>
            <a:endCxn id="9" idx="2"/>
          </p:cNvCxnSpPr>
          <p:nvPr/>
        </p:nvCxnSpPr>
        <p:spPr>
          <a:xfrm flipV="1">
            <a:off x="4571998" y="2058063"/>
            <a:ext cx="4166257" cy="298703"/>
          </a:xfrm>
          <a:prstGeom prst="curvedConnector2">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A570D6A5-9C5D-6CCA-59B2-40E0056B4F9A}"/>
                  </a:ext>
                </a:extLst>
              </p:cNvPr>
              <p:cNvSpPr txBox="1"/>
              <p:nvPr/>
            </p:nvSpPr>
            <p:spPr>
              <a:xfrm rot="21290874">
                <a:off x="6808014" y="2036575"/>
                <a:ext cx="1532843" cy="184666"/>
              </a:xfrm>
              <a:prstGeom prst="rect">
                <a:avLst/>
              </a:prstGeom>
              <a:noFill/>
            </p:spPr>
            <p:txBody>
              <a:bodyPr wrap="square" lIns="0" tIns="0" rIns="0" bIns="0" rtlCol="0">
                <a:spAutoFit/>
              </a:bodyPr>
              <a:lstStyle/>
              <a:p>
                <a14:m>
                  <m:oMath xmlns:m="http://schemas.openxmlformats.org/officeDocument/2006/math">
                    <m:r>
                      <a:rPr lang="en-US" sz="1200" b="0" i="1" smtClean="0">
                        <a:solidFill>
                          <a:srgbClr val="FF0000"/>
                        </a:solidFill>
                        <a:latin typeface="Cambria Math" panose="02040503050406030204" pitchFamily="18" charset="0"/>
                      </a:rPr>
                      <m:t>𝜆</m:t>
                    </m:r>
                  </m:oMath>
                </a14:m>
                <a:r>
                  <a:rPr lang="en-US" sz="1200">
                    <a:solidFill>
                      <a:srgbClr val="FF0000"/>
                    </a:solidFill>
                  </a:rPr>
                  <a:t> is kicked back from </a:t>
                </a:r>
                <a14:m>
                  <m:oMath xmlns:m="http://schemas.openxmlformats.org/officeDocument/2006/math">
                    <m:r>
                      <a:rPr lang="en-US" sz="1200" b="0" i="1" smtClean="0">
                        <a:solidFill>
                          <a:srgbClr val="FF0000"/>
                        </a:solidFill>
                        <a:latin typeface="Cambria Math" panose="02040503050406030204" pitchFamily="18" charset="0"/>
                      </a:rPr>
                      <m:t>𝑈</m:t>
                    </m:r>
                  </m:oMath>
                </a14:m>
                <a:endParaRPr lang="vi-VN" sz="1200">
                  <a:solidFill>
                    <a:srgbClr val="FF0000"/>
                  </a:solidFill>
                </a:endParaRPr>
              </a:p>
            </p:txBody>
          </p:sp>
        </mc:Choice>
        <mc:Fallback xmlns="">
          <p:sp>
            <p:nvSpPr>
              <p:cNvPr id="107" name="TextBox 106">
                <a:extLst>
                  <a:ext uri="{FF2B5EF4-FFF2-40B4-BE49-F238E27FC236}">
                    <a16:creationId xmlns:a16="http://schemas.microsoft.com/office/drawing/2014/main" id="{A570D6A5-9C5D-6CCA-59B2-40E0056B4F9A}"/>
                  </a:ext>
                </a:extLst>
              </p:cNvPr>
              <p:cNvSpPr txBox="1">
                <a:spLocks noRot="1" noChangeAspect="1" noMove="1" noResize="1" noEditPoints="1" noAdjustHandles="1" noChangeArrowheads="1" noChangeShapeType="1" noTextEdit="1"/>
              </p:cNvSpPr>
              <p:nvPr/>
            </p:nvSpPr>
            <p:spPr>
              <a:xfrm rot="21290874">
                <a:off x="6808014" y="2036575"/>
                <a:ext cx="1532843" cy="184666"/>
              </a:xfrm>
              <a:prstGeom prst="rect">
                <a:avLst/>
              </a:prstGeom>
              <a:blipFill>
                <a:blip r:embed="rId14"/>
                <a:stretch>
                  <a:fillRect l="-3252" t="-7407" b="-2222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E98A955E-4EF1-3561-944C-A841C9139312}"/>
                  </a:ext>
                </a:extLst>
              </p:cNvPr>
              <p:cNvSpPr txBox="1"/>
              <p:nvPr/>
            </p:nvSpPr>
            <p:spPr>
              <a:xfrm>
                <a:off x="8249315" y="2712490"/>
                <a:ext cx="2269245"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𝑖𝑛</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𝑜𝑢𝑡</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e>
                      </m:d>
                    </m:oMath>
                  </m:oMathPara>
                </a14:m>
                <a:endParaRPr lang="vi-VN"/>
              </a:p>
            </p:txBody>
          </p:sp>
        </mc:Choice>
        <mc:Fallback xmlns="">
          <p:sp>
            <p:nvSpPr>
              <p:cNvPr id="108" name="TextBox 107">
                <a:extLst>
                  <a:ext uri="{FF2B5EF4-FFF2-40B4-BE49-F238E27FC236}">
                    <a16:creationId xmlns:a16="http://schemas.microsoft.com/office/drawing/2014/main" id="{E98A955E-4EF1-3561-944C-A841C9139312}"/>
                  </a:ext>
                </a:extLst>
              </p:cNvPr>
              <p:cNvSpPr txBox="1">
                <a:spLocks noRot="1" noChangeAspect="1" noMove="1" noResize="1" noEditPoints="1" noAdjustHandles="1" noChangeArrowheads="1" noChangeShapeType="1" noTextEdit="1"/>
              </p:cNvSpPr>
              <p:nvPr/>
            </p:nvSpPr>
            <p:spPr>
              <a:xfrm>
                <a:off x="8249315" y="2712490"/>
                <a:ext cx="2269245" cy="276999"/>
              </a:xfrm>
              <a:prstGeom prst="rect">
                <a:avLst/>
              </a:prstGeom>
              <a:blipFill>
                <a:blip r:embed="rId15"/>
                <a:stretch>
                  <a:fillRect b="-20000"/>
                </a:stretch>
              </a:blipFill>
            </p:spPr>
            <p:txBody>
              <a:bodyPr/>
              <a:lstStyle/>
              <a:p>
                <a:r>
                  <a:rPr lang="vi-VN">
                    <a:noFill/>
                  </a:rPr>
                  <a:t> </a:t>
                </a:r>
              </a:p>
            </p:txBody>
          </p:sp>
        </mc:Fallback>
      </mc:AlternateContent>
      <p:cxnSp>
        <p:nvCxnSpPr>
          <p:cNvPr id="110" name="Straight Connector 109">
            <a:extLst>
              <a:ext uri="{FF2B5EF4-FFF2-40B4-BE49-F238E27FC236}">
                <a16:creationId xmlns:a16="http://schemas.microsoft.com/office/drawing/2014/main" id="{AD72B8E9-F87E-A528-9600-65BC57DA58F8}"/>
              </a:ext>
            </a:extLst>
          </p:cNvPr>
          <p:cNvCxnSpPr>
            <a:cxnSpLocks/>
          </p:cNvCxnSpPr>
          <p:nvPr/>
        </p:nvCxnSpPr>
        <p:spPr>
          <a:xfrm flipV="1">
            <a:off x="1794822" y="2336212"/>
            <a:ext cx="215301" cy="263692"/>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4590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31FC031-721D-46AA-BA9D-54876C434C05}"/>
              </a:ext>
            </a:extLst>
          </p:cNvPr>
          <p:cNvSpPr>
            <a:spLocks noGrp="1"/>
          </p:cNvSpPr>
          <p:nvPr>
            <p:ph type="title"/>
          </p:nvPr>
        </p:nvSpPr>
        <p:spPr/>
        <p:txBody>
          <a:bodyPr/>
          <a:lstStyle/>
          <a:p>
            <a:r>
              <a:rPr lang="en-US"/>
              <a:t>Seperable states</a:t>
            </a:r>
            <a:endParaRPr lang="vi-VN"/>
          </a:p>
        </p:txBody>
      </p:sp>
      <p:sp>
        <p:nvSpPr>
          <p:cNvPr id="3" name="Chỗ dành sẵn cho Nội dung 2">
            <a:extLst>
              <a:ext uri="{FF2B5EF4-FFF2-40B4-BE49-F238E27FC236}">
                <a16:creationId xmlns:a16="http://schemas.microsoft.com/office/drawing/2014/main" id="{8F35A04D-8C5C-453C-A11B-B6BFA6CCB56F}"/>
              </a:ext>
            </a:extLst>
          </p:cNvPr>
          <p:cNvSpPr>
            <a:spLocks noGrp="1"/>
          </p:cNvSpPr>
          <p:nvPr>
            <p:ph idx="1"/>
          </p:nvPr>
        </p:nvSpPr>
        <p:spPr>
          <a:xfrm>
            <a:off x="838200" y="1825625"/>
            <a:ext cx="10515600" cy="1958509"/>
          </a:xfrm>
        </p:spPr>
        <p:txBody>
          <a:bodyPr>
            <a:normAutofit/>
          </a:bodyPr>
          <a:lstStyle/>
          <a:p>
            <a:pPr marL="0" indent="0">
              <a:buNone/>
            </a:pPr>
            <a:r>
              <a:rPr lang="en-US"/>
              <a:t>We can write down a state as the tensor product form.</a:t>
            </a:r>
          </a:p>
          <a:p>
            <a:pPr marL="0" indent="0">
              <a:buNone/>
            </a:pPr>
            <a:r>
              <a:rPr lang="en-US"/>
              <a:t>Example:</a:t>
            </a:r>
          </a:p>
        </p:txBody>
      </p:sp>
      <p:sp>
        <p:nvSpPr>
          <p:cNvPr id="4" name="Chỗ dành sẵn cho Số hiệu Bản chiếu 3">
            <a:extLst>
              <a:ext uri="{FF2B5EF4-FFF2-40B4-BE49-F238E27FC236}">
                <a16:creationId xmlns:a16="http://schemas.microsoft.com/office/drawing/2014/main" id="{675E7085-9858-4FEC-B11D-705607913229}"/>
              </a:ext>
            </a:extLst>
          </p:cNvPr>
          <p:cNvSpPr>
            <a:spLocks noGrp="1"/>
          </p:cNvSpPr>
          <p:nvPr>
            <p:ph type="sldNum" sz="quarter" idx="12"/>
          </p:nvPr>
        </p:nvSpPr>
        <p:spPr/>
        <p:txBody>
          <a:bodyPr/>
          <a:lstStyle/>
          <a:p>
            <a:fld id="{71331178-9F85-4EDF-BDD3-1E7064DA4C59}" type="slidenum">
              <a:rPr lang="vi-VN" smtClean="0"/>
              <a:t>24</a:t>
            </a:fld>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EC30B6E-4260-E3C0-C747-C447A6A8C16F}"/>
                  </a:ext>
                </a:extLst>
              </p:cNvPr>
              <p:cNvSpPr txBox="1"/>
              <p:nvPr/>
            </p:nvSpPr>
            <p:spPr>
              <a:xfrm>
                <a:off x="3898553" y="5771575"/>
                <a:ext cx="6095222" cy="58477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lang="en-US" sz="3200" b="0" i="0" smtClean="0">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m:t>
                          </m:r>
                        </m:e>
                      </m:d>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0</m:t>
                          </m:r>
                        </m:e>
                      </m:d>
                    </m:oMath>
                  </m:oMathPara>
                </a14:m>
                <a:endParaRPr lang="en-US" sz="3200"/>
              </a:p>
            </p:txBody>
          </p:sp>
        </mc:Choice>
        <mc:Fallback xmlns="">
          <p:sp>
            <p:nvSpPr>
              <p:cNvPr id="6" name="TextBox 5">
                <a:extLst>
                  <a:ext uri="{FF2B5EF4-FFF2-40B4-BE49-F238E27FC236}">
                    <a16:creationId xmlns:a16="http://schemas.microsoft.com/office/drawing/2014/main" id="{AEC30B6E-4260-E3C0-C747-C447A6A8C16F}"/>
                  </a:ext>
                </a:extLst>
              </p:cNvPr>
              <p:cNvSpPr txBox="1">
                <a:spLocks noRot="1" noChangeAspect="1" noMove="1" noResize="1" noEditPoints="1" noAdjustHandles="1" noChangeArrowheads="1" noChangeShapeType="1" noTextEdit="1"/>
              </p:cNvSpPr>
              <p:nvPr/>
            </p:nvSpPr>
            <p:spPr>
              <a:xfrm>
                <a:off x="3898553" y="5771575"/>
                <a:ext cx="6095222" cy="584775"/>
              </a:xfrm>
              <a:prstGeom prst="rect">
                <a:avLst/>
              </a:prstGeom>
              <a:blipFill>
                <a:blip r:embed="rId2"/>
                <a:stretch>
                  <a:fillRect b="-1063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7894DF5-EAE9-9204-8D31-B863B9E686E3}"/>
                  </a:ext>
                </a:extLst>
              </p:cNvPr>
              <p:cNvSpPr txBox="1"/>
              <p:nvPr/>
            </p:nvSpPr>
            <p:spPr>
              <a:xfrm>
                <a:off x="1354991" y="2629446"/>
                <a:ext cx="6491679" cy="282276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𝜓</m:t>
                          </m:r>
                        </m:e>
                      </m:d>
                      <m:r>
                        <a:rPr lang="en-US" sz="3200" b="0" i="1" smtClean="0">
                          <a:latin typeface="Cambria Math" panose="02040503050406030204" pitchFamily="18" charset="0"/>
                        </a:rPr>
                        <m:t>=</m:t>
                      </m:r>
                      <m:f>
                        <m:fPr>
                          <m:ctrlPr>
                            <a:rPr lang="vi-VN" sz="3200" b="0" i="1" smtClean="0">
                              <a:latin typeface="Cambria Math" panose="02040503050406030204" pitchFamily="18" charset="0"/>
                            </a:rPr>
                          </m:ctrlPr>
                        </m:fPr>
                        <m:num>
                          <m:r>
                            <a:rPr lang="vi-VN" sz="3200" b="0" i="1" smtClean="0">
                              <a:latin typeface="Cambria Math" panose="02040503050406030204" pitchFamily="18" charset="0"/>
                            </a:rPr>
                            <m:t>1</m:t>
                          </m:r>
                        </m:num>
                        <m:den>
                          <m:rad>
                            <m:radPr>
                              <m:degHide m:val="on"/>
                              <m:ctrlPr>
                                <a:rPr lang="vi-VN" sz="3200" b="0" i="1" smtClean="0">
                                  <a:latin typeface="Cambria Math" panose="02040503050406030204" pitchFamily="18" charset="0"/>
                                </a:rPr>
                              </m:ctrlPr>
                            </m:radPr>
                            <m:deg/>
                            <m:e>
                              <m:r>
                                <a:rPr lang="vi-VN" sz="3200" b="0" i="1" smtClean="0">
                                  <a:latin typeface="Cambria Math" panose="02040503050406030204" pitchFamily="18" charset="0"/>
                                </a:rPr>
                                <m:t>2</m:t>
                              </m:r>
                            </m:e>
                          </m:rad>
                        </m:den>
                      </m:f>
                      <m:d>
                        <m:dPr>
                          <m:begChr m:val="["/>
                          <m:endChr m:val="]"/>
                          <m:ctrlPr>
                            <a:rPr lang="vi-VN" sz="3200" b="0" i="1" smtClean="0">
                              <a:latin typeface="Cambria Math" panose="02040503050406030204" pitchFamily="18" charset="0"/>
                            </a:rPr>
                          </m:ctrlPr>
                        </m:dPr>
                        <m:e>
                          <m:m>
                            <m:mPr>
                              <m:mcs>
                                <m:mc>
                                  <m:mcPr>
                                    <m:count m:val="1"/>
                                    <m:mcJc m:val="center"/>
                                  </m:mcPr>
                                </m:mc>
                              </m:mcs>
                              <m:ctrlPr>
                                <a:rPr lang="vi-VN" sz="3200" b="0" i="1" smtClean="0">
                                  <a:latin typeface="Cambria Math" panose="02040503050406030204" pitchFamily="18" charset="0"/>
                                </a:rPr>
                              </m:ctrlPr>
                            </m:mPr>
                            <m:mr>
                              <m:e>
                                <m:m>
                                  <m:mPr>
                                    <m:mcs>
                                      <m:mc>
                                        <m:mcPr>
                                          <m:count m:val="1"/>
                                          <m:mcJc m:val="center"/>
                                        </m:mcPr>
                                      </m:mc>
                                    </m:mcs>
                                    <m:ctrlPr>
                                      <a:rPr lang="vi-VN" sz="3200" b="0" i="1" smtClean="0">
                                        <a:latin typeface="Cambria Math" panose="02040503050406030204" pitchFamily="18" charset="0"/>
                                      </a:rPr>
                                    </m:ctrlPr>
                                  </m:mPr>
                                  <m:mr>
                                    <m:e>
                                      <m:r>
                                        <m:rPr>
                                          <m:brk m:alnAt="7"/>
                                        </m:rPr>
                                        <a:rPr lang="vi-VN" sz="3200" b="0" i="1" smtClean="0">
                                          <a:latin typeface="Cambria Math" panose="02040503050406030204" pitchFamily="18" charset="0"/>
                                        </a:rPr>
                                        <m:t>1</m:t>
                                      </m:r>
                                    </m:e>
                                  </m:mr>
                                  <m:mr>
                                    <m:e>
                                      <m:r>
                                        <a:rPr lang="vi-VN" sz="3200" b="0" i="1" smtClean="0">
                                          <a:latin typeface="Cambria Math" panose="02040503050406030204" pitchFamily="18" charset="0"/>
                                        </a:rPr>
                                        <m:t>0</m:t>
                                      </m:r>
                                    </m:e>
                                  </m:mr>
                                </m:m>
                              </m:e>
                            </m:mr>
                            <m:mr>
                              <m:e>
                                <m:m>
                                  <m:mPr>
                                    <m:mcs>
                                      <m:mc>
                                        <m:mcPr>
                                          <m:count m:val="1"/>
                                          <m:mcJc m:val="center"/>
                                        </m:mcPr>
                                      </m:mc>
                                    </m:mcs>
                                    <m:ctrlPr>
                                      <a:rPr lang="vi-VN" sz="3200" b="0" i="1" smtClean="0">
                                        <a:latin typeface="Cambria Math" panose="02040503050406030204" pitchFamily="18" charset="0"/>
                                      </a:rPr>
                                    </m:ctrlPr>
                                  </m:mPr>
                                  <m:mr>
                                    <m:e>
                                      <m:r>
                                        <m:rPr>
                                          <m:brk m:alnAt="7"/>
                                        </m:rPr>
                                        <a:rPr lang="vi-VN" sz="3200" b="0" i="1" smtClean="0">
                                          <a:latin typeface="Cambria Math" panose="02040503050406030204" pitchFamily="18" charset="0"/>
                                        </a:rPr>
                                        <m:t>1</m:t>
                                      </m:r>
                                    </m:e>
                                  </m:mr>
                                  <m:mr>
                                    <m:e>
                                      <m:r>
                                        <a:rPr lang="vi-VN" sz="3200" b="0" i="1" smtClean="0">
                                          <a:latin typeface="Cambria Math" panose="02040503050406030204" pitchFamily="18" charset="0"/>
                                        </a:rPr>
                                        <m:t>0</m:t>
                                      </m:r>
                                    </m:e>
                                  </m:mr>
                                </m:m>
                              </m:e>
                            </m:mr>
                          </m:m>
                        </m:e>
                      </m:d>
                      <m:r>
                        <a:rPr lang="vi-VN"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ad>
                            <m:radPr>
                              <m:degHide m:val="on"/>
                              <m:ctrlPr>
                                <a:rPr lang="en-US" sz="3200" b="0" i="1" smtClean="0">
                                  <a:latin typeface="Cambria Math" panose="02040503050406030204" pitchFamily="18" charset="0"/>
                                </a:rPr>
                              </m:ctrlPr>
                            </m:radPr>
                            <m:deg/>
                            <m:e>
                              <m:r>
                                <a:rPr lang="en-US" sz="3200" b="0" i="1" smtClean="0">
                                  <a:latin typeface="Cambria Math" panose="02040503050406030204" pitchFamily="18" charset="0"/>
                                </a:rPr>
                                <m:t>2</m:t>
                              </m:r>
                            </m:e>
                          </m:rad>
                        </m:den>
                      </m:f>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00</m:t>
                          </m:r>
                        </m:e>
                      </m:d>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ad>
                            <m:radPr>
                              <m:degHide m:val="on"/>
                              <m:ctrlPr>
                                <a:rPr lang="en-US" sz="3200" b="0" i="1" smtClean="0">
                                  <a:latin typeface="Cambria Math" panose="02040503050406030204" pitchFamily="18" charset="0"/>
                                </a:rPr>
                              </m:ctrlPr>
                            </m:radPr>
                            <m:deg/>
                            <m:e>
                              <m:r>
                                <a:rPr lang="en-US" sz="3200" b="0" i="1" smtClean="0">
                                  <a:latin typeface="Cambria Math" panose="02040503050406030204" pitchFamily="18" charset="0"/>
                                </a:rPr>
                                <m:t>2</m:t>
                              </m:r>
                            </m:e>
                          </m:rad>
                        </m:den>
                      </m:f>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10</m:t>
                          </m:r>
                        </m:e>
                      </m:d>
                    </m:oMath>
                  </m:oMathPara>
                </a14:m>
                <a:endParaRPr lang="vi-VN" sz="3200" b="0"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vi-VN" sz="3200" b="0" i="1">
                          <a:latin typeface="Cambria Math" panose="02040503050406030204" pitchFamily="18" charset="0"/>
                        </a:rPr>
                        <m:t>                        </m:t>
                      </m:r>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num>
                        <m:den>
                          <m:rad>
                            <m:radPr>
                              <m:degHide m:val="on"/>
                              <m:ctrlPr>
                                <a:rPr lang="en-US" sz="3200" i="1">
                                  <a:latin typeface="Cambria Math" panose="02040503050406030204" pitchFamily="18" charset="0"/>
                                </a:rPr>
                              </m:ctrlPr>
                            </m:radPr>
                            <m:deg/>
                            <m:e>
                              <m:r>
                                <a:rPr lang="en-US" sz="3200" i="1">
                                  <a:latin typeface="Cambria Math" panose="02040503050406030204" pitchFamily="18" charset="0"/>
                                </a:rPr>
                                <m:t>2</m:t>
                              </m:r>
                            </m:e>
                          </m:rad>
                        </m:den>
                      </m:f>
                      <m:d>
                        <m:dPr>
                          <m:ctrlPr>
                            <a:rPr lang="en-US" sz="3200" i="1">
                              <a:latin typeface="Cambria Math" panose="02040503050406030204" pitchFamily="18" charset="0"/>
                            </a:rPr>
                          </m:ctrlPr>
                        </m:dPr>
                        <m:e>
                          <m:d>
                            <m:dPr>
                              <m:begChr m:val="|"/>
                              <m:endChr m:val="⟩"/>
                              <m:ctrlPr>
                                <a:rPr lang="en-US" sz="3200" i="1">
                                  <a:latin typeface="Cambria Math" panose="02040503050406030204" pitchFamily="18" charset="0"/>
                                </a:rPr>
                              </m:ctrlPr>
                            </m:dPr>
                            <m:e>
                              <m:r>
                                <a:rPr lang="en-US" sz="3200" i="1">
                                  <a:latin typeface="Cambria Math" panose="02040503050406030204" pitchFamily="18" charset="0"/>
                                </a:rPr>
                                <m:t>0</m:t>
                              </m:r>
                            </m:e>
                          </m:d>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1</m:t>
                              </m:r>
                            </m:e>
                          </m:d>
                        </m:e>
                      </m:d>
                      <m:d>
                        <m:dPr>
                          <m:begChr m:val="|"/>
                          <m:endChr m:val="⟩"/>
                          <m:ctrlPr>
                            <a:rPr lang="en-US" sz="3200" i="1">
                              <a:latin typeface="Cambria Math" panose="02040503050406030204" pitchFamily="18" charset="0"/>
                            </a:rPr>
                          </m:ctrlPr>
                        </m:dPr>
                        <m:e>
                          <m:r>
                            <a:rPr lang="en-US" sz="3200" i="1">
                              <a:latin typeface="Cambria Math" panose="02040503050406030204" pitchFamily="18" charset="0"/>
                            </a:rPr>
                            <m:t>0</m:t>
                          </m:r>
                        </m:e>
                      </m:d>
                    </m:oMath>
                  </m:oMathPara>
                </a14:m>
                <a:endParaRPr lang="en-US" i="1">
                  <a:latin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07894DF5-EAE9-9204-8D31-B863B9E686E3}"/>
                  </a:ext>
                </a:extLst>
              </p:cNvPr>
              <p:cNvSpPr txBox="1">
                <a:spLocks noRot="1" noChangeAspect="1" noMove="1" noResize="1" noEditPoints="1" noAdjustHandles="1" noChangeArrowheads="1" noChangeShapeType="1" noTextEdit="1"/>
              </p:cNvSpPr>
              <p:nvPr/>
            </p:nvSpPr>
            <p:spPr>
              <a:xfrm>
                <a:off x="1354991" y="2629446"/>
                <a:ext cx="6491679" cy="2822760"/>
              </a:xfrm>
              <a:prstGeom prst="rect">
                <a:avLst/>
              </a:prstGeom>
              <a:blipFill>
                <a:blip r:embed="rId3"/>
                <a:stretch>
                  <a:fillRect b="-1339"/>
                </a:stretch>
              </a:blipFill>
            </p:spPr>
            <p:txBody>
              <a:bodyPr/>
              <a:lstStyle/>
              <a:p>
                <a:r>
                  <a:rPr lang="en-VN">
                    <a:noFill/>
                  </a:rPr>
                  <a:t> </a:t>
                </a:r>
              </a:p>
            </p:txBody>
          </p:sp>
        </mc:Fallback>
      </mc:AlternateContent>
    </p:spTree>
    <p:extLst>
      <p:ext uri="{BB962C8B-B14F-4D97-AF65-F5344CB8AC3E}">
        <p14:creationId xmlns:p14="http://schemas.microsoft.com/office/powerpoint/2010/main" val="1606633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91998-34F2-FF61-7C8E-79BCBFF9B17B}"/>
              </a:ext>
            </a:extLst>
          </p:cNvPr>
          <p:cNvSpPr>
            <a:spLocks noGrp="1"/>
          </p:cNvSpPr>
          <p:nvPr>
            <p:ph type="title"/>
          </p:nvPr>
        </p:nvSpPr>
        <p:spPr/>
        <p:txBody>
          <a:bodyPr/>
          <a:lstStyle/>
          <a:p>
            <a:r>
              <a:rPr lang="en-VN"/>
              <a:t>Entangled states</a:t>
            </a:r>
          </a:p>
        </p:txBody>
      </p:sp>
      <p:sp>
        <p:nvSpPr>
          <p:cNvPr id="4" name="Slide Number Placeholder 3">
            <a:extLst>
              <a:ext uri="{FF2B5EF4-FFF2-40B4-BE49-F238E27FC236}">
                <a16:creationId xmlns:a16="http://schemas.microsoft.com/office/drawing/2014/main" id="{C76D65D2-6AA7-41B1-11E7-271115E6B904}"/>
              </a:ext>
            </a:extLst>
          </p:cNvPr>
          <p:cNvSpPr>
            <a:spLocks noGrp="1"/>
          </p:cNvSpPr>
          <p:nvPr>
            <p:ph type="sldNum" sz="quarter" idx="12"/>
          </p:nvPr>
        </p:nvSpPr>
        <p:spPr/>
        <p:txBody>
          <a:bodyPr/>
          <a:lstStyle/>
          <a:p>
            <a:fld id="{71331178-9F85-4EDF-BDD3-1E7064DA4C59}" type="slidenum">
              <a:rPr lang="vi-VN" smtClean="0"/>
              <a:t>25</a:t>
            </a:fld>
            <a:endParaRPr lang="vi-VN"/>
          </a:p>
        </p:txBody>
      </p:sp>
      <p:cxnSp>
        <p:nvCxnSpPr>
          <p:cNvPr id="5" name="Straight Connector 4">
            <a:extLst>
              <a:ext uri="{FF2B5EF4-FFF2-40B4-BE49-F238E27FC236}">
                <a16:creationId xmlns:a16="http://schemas.microsoft.com/office/drawing/2014/main" id="{81E6A885-8BAB-987D-F1B0-EA11F41F011C}"/>
              </a:ext>
            </a:extLst>
          </p:cNvPr>
          <p:cNvCxnSpPr/>
          <p:nvPr/>
        </p:nvCxnSpPr>
        <p:spPr>
          <a:xfrm>
            <a:off x="1559794" y="1925466"/>
            <a:ext cx="1440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CD1161AA-DA5A-A05C-3735-1F4B9BA68C49}"/>
              </a:ext>
            </a:extLst>
          </p:cNvPr>
          <p:cNvCxnSpPr/>
          <p:nvPr/>
        </p:nvCxnSpPr>
        <p:spPr>
          <a:xfrm>
            <a:off x="1559794" y="2397355"/>
            <a:ext cx="1440000" cy="0"/>
          </a:xfrm>
          <a:prstGeom prst="line">
            <a:avLst/>
          </a:prstGeom>
          <a:ln w="38100"/>
        </p:spPr>
        <p:style>
          <a:lnRef idx="1">
            <a:schemeClr val="dk1"/>
          </a:lnRef>
          <a:fillRef idx="0">
            <a:schemeClr val="dk1"/>
          </a:fillRef>
          <a:effectRef idx="0">
            <a:schemeClr val="dk1"/>
          </a:effectRef>
          <a:fontRef idx="minor">
            <a:schemeClr val="tx1"/>
          </a:fontRef>
        </p:style>
      </p:cxnSp>
      <p:sp>
        <p:nvSpPr>
          <p:cNvPr id="7" name="Oval 6">
            <a:extLst>
              <a:ext uri="{FF2B5EF4-FFF2-40B4-BE49-F238E27FC236}">
                <a16:creationId xmlns:a16="http://schemas.microsoft.com/office/drawing/2014/main" id="{64D89D2E-E1A3-E8B0-5DB5-B808D5AD3C7B}"/>
              </a:ext>
            </a:extLst>
          </p:cNvPr>
          <p:cNvSpPr>
            <a:spLocks noChangeAspect="1"/>
          </p:cNvSpPr>
          <p:nvPr/>
        </p:nvSpPr>
        <p:spPr>
          <a:xfrm>
            <a:off x="2420922" y="1824633"/>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9" name="Straight Connector 8">
            <a:extLst>
              <a:ext uri="{FF2B5EF4-FFF2-40B4-BE49-F238E27FC236}">
                <a16:creationId xmlns:a16="http://schemas.microsoft.com/office/drawing/2014/main" id="{C16798B2-0F3D-A1AE-88E8-4B3939A6D11B}"/>
              </a:ext>
            </a:extLst>
          </p:cNvPr>
          <p:cNvCxnSpPr>
            <a:cxnSpLocks/>
            <a:endCxn id="7" idx="4"/>
          </p:cNvCxnSpPr>
          <p:nvPr/>
        </p:nvCxnSpPr>
        <p:spPr>
          <a:xfrm flipV="1">
            <a:off x="2528922" y="2026298"/>
            <a:ext cx="0" cy="371057"/>
          </a:xfrm>
          <a:prstGeom prst="line">
            <a:avLst/>
          </a:prstGeom>
          <a:ln w="38100"/>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B8C57C35-49DB-9512-73CE-AF2B0AD0DE88}"/>
              </a:ext>
            </a:extLst>
          </p:cNvPr>
          <p:cNvSpPr/>
          <p:nvPr/>
        </p:nvSpPr>
        <p:spPr>
          <a:xfrm>
            <a:off x="937549" y="1690688"/>
            <a:ext cx="2170245" cy="8896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25E8F27-BA35-4CCB-8F1B-A19D1537995D}"/>
                  </a:ext>
                </a:extLst>
              </p:cNvPr>
              <p:cNvSpPr/>
              <p:nvPr/>
            </p:nvSpPr>
            <p:spPr>
              <a:xfrm>
                <a:off x="1761413" y="1748146"/>
                <a:ext cx="475673" cy="3556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a:solidFill>
                    <a:schemeClr val="tx1"/>
                  </a:solidFill>
                </a:endParaRPr>
              </a:p>
            </p:txBody>
          </p:sp>
        </mc:Choice>
        <mc:Fallback xmlns="">
          <p:sp>
            <p:nvSpPr>
              <p:cNvPr id="11" name="Rectangle 10">
                <a:extLst>
                  <a:ext uri="{FF2B5EF4-FFF2-40B4-BE49-F238E27FC236}">
                    <a16:creationId xmlns:a16="http://schemas.microsoft.com/office/drawing/2014/main" id="{125E8F27-BA35-4CCB-8F1B-A19D1537995D}"/>
                  </a:ext>
                </a:extLst>
              </p:cNvPr>
              <p:cNvSpPr>
                <a:spLocks noRot="1" noChangeAspect="1" noMove="1" noResize="1" noEditPoints="1" noAdjustHandles="1" noChangeArrowheads="1" noChangeShapeType="1" noTextEdit="1"/>
              </p:cNvSpPr>
              <p:nvPr/>
            </p:nvSpPr>
            <p:spPr>
              <a:xfrm>
                <a:off x="1761413" y="1748146"/>
                <a:ext cx="475673" cy="355600"/>
              </a:xfrm>
              <a:prstGeom prst="rect">
                <a:avLst/>
              </a:prstGeom>
              <a:blipFill>
                <a:blip r:embed="rId3"/>
                <a:stretch>
                  <a:fillRect l="-20513" t="-6667" b="-3666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0AE4D15-6F22-15DC-F46B-8CC905B45C3A}"/>
                  </a:ext>
                </a:extLst>
              </p:cNvPr>
              <p:cNvSpPr txBox="1"/>
              <p:nvPr/>
            </p:nvSpPr>
            <p:spPr>
              <a:xfrm>
                <a:off x="1048131" y="1713838"/>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2" name="TextBox 11">
                <a:extLst>
                  <a:ext uri="{FF2B5EF4-FFF2-40B4-BE49-F238E27FC236}">
                    <a16:creationId xmlns:a16="http://schemas.microsoft.com/office/drawing/2014/main" id="{F0AE4D15-6F22-15DC-F46B-8CC905B45C3A}"/>
                  </a:ext>
                </a:extLst>
              </p:cNvPr>
              <p:cNvSpPr txBox="1">
                <a:spLocks noRot="1" noChangeAspect="1" noMove="1" noResize="1" noEditPoints="1" noAdjustHandles="1" noChangeArrowheads="1" noChangeShapeType="1" noTextEdit="1"/>
              </p:cNvSpPr>
              <p:nvPr/>
            </p:nvSpPr>
            <p:spPr>
              <a:xfrm>
                <a:off x="1048131" y="1713838"/>
                <a:ext cx="447238" cy="369332"/>
              </a:xfrm>
              <a:prstGeom prst="rect">
                <a:avLst/>
              </a:prstGeom>
              <a:blipFill>
                <a:blip r:embed="rId4"/>
                <a:stretch>
                  <a:fillRect l="-25000" r="-25000" b="-3225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0868EB0-3B67-47F0-D137-CAB5EB16106C}"/>
                  </a:ext>
                </a:extLst>
              </p:cNvPr>
              <p:cNvSpPr txBox="1"/>
              <p:nvPr/>
            </p:nvSpPr>
            <p:spPr>
              <a:xfrm>
                <a:off x="1048131" y="2147106"/>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3" name="TextBox 12">
                <a:extLst>
                  <a:ext uri="{FF2B5EF4-FFF2-40B4-BE49-F238E27FC236}">
                    <a16:creationId xmlns:a16="http://schemas.microsoft.com/office/drawing/2014/main" id="{10868EB0-3B67-47F0-D137-CAB5EB16106C}"/>
                  </a:ext>
                </a:extLst>
              </p:cNvPr>
              <p:cNvSpPr txBox="1">
                <a:spLocks noRot="1" noChangeAspect="1" noMove="1" noResize="1" noEditPoints="1" noAdjustHandles="1" noChangeArrowheads="1" noChangeShapeType="1" noTextEdit="1"/>
              </p:cNvSpPr>
              <p:nvPr/>
            </p:nvSpPr>
            <p:spPr>
              <a:xfrm>
                <a:off x="1048131" y="2147106"/>
                <a:ext cx="447238" cy="369332"/>
              </a:xfrm>
              <a:prstGeom prst="rect">
                <a:avLst/>
              </a:prstGeom>
              <a:blipFill>
                <a:blip r:embed="rId4"/>
                <a:stretch>
                  <a:fillRect l="-25000" r="-25000" b="-32258"/>
                </a:stretch>
              </a:blipFill>
            </p:spPr>
            <p:txBody>
              <a:bodyPr/>
              <a:lstStyle/>
              <a:p>
                <a:r>
                  <a:rPr lang="en-VN">
                    <a:noFill/>
                  </a:rPr>
                  <a:t> </a:t>
                </a:r>
              </a:p>
            </p:txBody>
          </p:sp>
        </mc:Fallback>
      </mc:AlternateContent>
      <p:sp>
        <p:nvSpPr>
          <p:cNvPr id="16" name="TextBox 15">
            <a:extLst>
              <a:ext uri="{FF2B5EF4-FFF2-40B4-BE49-F238E27FC236}">
                <a16:creationId xmlns:a16="http://schemas.microsoft.com/office/drawing/2014/main" id="{A15FA08B-4D28-6F06-E425-73B2011E5B71}"/>
              </a:ext>
            </a:extLst>
          </p:cNvPr>
          <p:cNvSpPr txBox="1"/>
          <p:nvPr/>
        </p:nvSpPr>
        <p:spPr>
          <a:xfrm>
            <a:off x="838199" y="2681205"/>
            <a:ext cx="9914681" cy="1938992"/>
          </a:xfrm>
          <a:prstGeom prst="rect">
            <a:avLst/>
          </a:prstGeom>
          <a:noFill/>
        </p:spPr>
        <p:txBody>
          <a:bodyPr wrap="square">
            <a:spAutoFit/>
          </a:bodyPr>
          <a:lstStyle/>
          <a:p>
            <a:pPr marL="0" indent="0">
              <a:buNone/>
            </a:pPr>
            <a:r>
              <a:rPr lang="en-US" sz="2400"/>
              <a:t>We could create the state:</a:t>
            </a:r>
          </a:p>
          <a:p>
            <a:pPr marL="0" indent="0">
              <a:buNone/>
            </a:pPr>
            <a:endParaRPr lang="en-US" sz="2400"/>
          </a:p>
          <a:p>
            <a:pPr marL="0" indent="0">
              <a:buNone/>
            </a:pPr>
            <a:endParaRPr lang="en-US" sz="2400"/>
          </a:p>
          <a:p>
            <a:pPr marL="0" indent="0">
              <a:buNone/>
            </a:pPr>
            <a:endParaRPr lang="en-US" sz="2400"/>
          </a:p>
          <a:p>
            <a:pPr marL="0" indent="0">
              <a:buNone/>
            </a:pPr>
            <a:r>
              <a:rPr lang="en-US" sz="2400"/>
              <a:t>This is known as a Bell state.</a:t>
            </a:r>
            <a:endParaRPr lang="vi-VN" sz="2400"/>
          </a:p>
        </p:txBody>
      </p:sp>
      <p:sp>
        <p:nvSpPr>
          <p:cNvPr id="18" name="TextBox 17">
            <a:extLst>
              <a:ext uri="{FF2B5EF4-FFF2-40B4-BE49-F238E27FC236}">
                <a16:creationId xmlns:a16="http://schemas.microsoft.com/office/drawing/2014/main" id="{45EDE0D6-9DA7-5A23-7307-F9BE208EC9A3}"/>
              </a:ext>
            </a:extLst>
          </p:cNvPr>
          <p:cNvSpPr txBox="1"/>
          <p:nvPr/>
        </p:nvSpPr>
        <p:spPr>
          <a:xfrm>
            <a:off x="937549" y="6259810"/>
            <a:ext cx="9815331" cy="461665"/>
          </a:xfrm>
          <a:prstGeom prst="rect">
            <a:avLst/>
          </a:prstGeom>
          <a:noFill/>
          <a:ln>
            <a:solidFill>
              <a:srgbClr val="FF0000"/>
            </a:solidFill>
          </a:ln>
        </p:spPr>
        <p:txBody>
          <a:bodyPr wrap="square">
            <a:spAutoFit/>
          </a:bodyPr>
          <a:lstStyle/>
          <a:p>
            <a:pPr marL="0" indent="0">
              <a:buNone/>
            </a:pPr>
            <a:r>
              <a:rPr lang="en-US" sz="2400" b="1">
                <a:solidFill>
                  <a:srgbClr val="FF0000"/>
                </a:solidFill>
              </a:rPr>
              <a:t>Readmore</a:t>
            </a:r>
            <a:r>
              <a:rPr lang="en-US" sz="2400">
                <a:solidFill>
                  <a:srgbClr val="FF0000"/>
                </a:solidFill>
              </a:rPr>
              <a:t>: It’s also called as “spooky action at a distance” / EPR paradox.</a:t>
            </a:r>
            <a:endParaRPr lang="vi-VN" sz="2400">
              <a:solidFill>
                <a:srgbClr val="FF0000"/>
              </a:solidFill>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1A5A4B2-E40D-2143-BBB5-E1D097D2B984}"/>
                  </a:ext>
                </a:extLst>
              </p:cNvPr>
              <p:cNvSpPr txBox="1"/>
              <p:nvPr/>
            </p:nvSpPr>
            <p:spPr>
              <a:xfrm>
                <a:off x="1495369" y="3296525"/>
                <a:ext cx="4323144" cy="726994"/>
              </a:xfrm>
              <a:prstGeom prst="rect">
                <a:avLst/>
              </a:prstGeom>
              <a:noFill/>
            </p:spPr>
            <p:txBody>
              <a:bodyPr wrap="square">
                <a:spAutoFit/>
              </a:bodyPr>
              <a:lstStyle/>
              <a:p>
                <a:pPr marL="0" indent="0">
                  <a:buNone/>
                </a:pPr>
                <a14:m>
                  <m:oMath xmlns:m="http://schemas.openxmlformats.org/officeDocument/2006/math">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𝜓</m:t>
                        </m:r>
                      </m:e>
                    </m:d>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ad>
                          <m:radPr>
                            <m:degHide m:val="on"/>
                            <m:ctrlPr>
                              <a:rPr lang="en-US" sz="2800" b="0" i="1" smtClean="0">
                                <a:latin typeface="Cambria Math" panose="02040503050406030204" pitchFamily="18" charset="0"/>
                              </a:rPr>
                            </m:ctrlPr>
                          </m:radPr>
                          <m:deg/>
                          <m:e>
                            <m:r>
                              <a:rPr lang="en-US" sz="2800" b="0" i="1" smtClean="0">
                                <a:latin typeface="Cambria Math" panose="02040503050406030204" pitchFamily="18" charset="0"/>
                              </a:rPr>
                              <m:t>2</m:t>
                            </m:r>
                          </m:e>
                        </m:rad>
                      </m:den>
                    </m:f>
                    <m:d>
                      <m:dPr>
                        <m:ctrlPr>
                          <a:rPr lang="en-US" sz="2800" b="0" i="1" smtClean="0">
                            <a:latin typeface="Cambria Math" panose="02040503050406030204" pitchFamily="18" charset="0"/>
                          </a:rPr>
                        </m:ctrlPr>
                      </m:dPr>
                      <m:e>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00</m:t>
                            </m:r>
                          </m:e>
                        </m:d>
                        <m:r>
                          <a:rPr lang="en-US" sz="2800" b="0" i="1" smtClean="0">
                            <a:latin typeface="Cambria Math" panose="02040503050406030204" pitchFamily="18" charset="0"/>
                          </a:rPr>
                          <m:t>+|11⟩</m:t>
                        </m:r>
                      </m:e>
                    </m:d>
                  </m:oMath>
                </a14:m>
                <a:r>
                  <a:rPr lang="en-US" sz="2800"/>
                  <a:t> </a:t>
                </a:r>
              </a:p>
            </p:txBody>
          </p:sp>
        </mc:Choice>
        <mc:Fallback xmlns="">
          <p:sp>
            <p:nvSpPr>
              <p:cNvPr id="20" name="TextBox 19">
                <a:extLst>
                  <a:ext uri="{FF2B5EF4-FFF2-40B4-BE49-F238E27FC236}">
                    <a16:creationId xmlns:a16="http://schemas.microsoft.com/office/drawing/2014/main" id="{E1A5A4B2-E40D-2143-BBB5-E1D097D2B984}"/>
                  </a:ext>
                </a:extLst>
              </p:cNvPr>
              <p:cNvSpPr txBox="1">
                <a:spLocks noRot="1" noChangeAspect="1" noMove="1" noResize="1" noEditPoints="1" noAdjustHandles="1" noChangeArrowheads="1" noChangeShapeType="1" noTextEdit="1"/>
              </p:cNvSpPr>
              <p:nvPr/>
            </p:nvSpPr>
            <p:spPr>
              <a:xfrm>
                <a:off x="1495369" y="3296525"/>
                <a:ext cx="4323144" cy="726994"/>
              </a:xfrm>
              <a:prstGeom prst="rect">
                <a:avLst/>
              </a:prstGeom>
              <a:blipFill>
                <a:blip r:embed="rId6"/>
                <a:stretch>
                  <a:fillRect/>
                </a:stretch>
              </a:blipFill>
            </p:spPr>
            <p:txBody>
              <a:bodyPr/>
              <a:lstStyle/>
              <a:p>
                <a:r>
                  <a:rPr lang="en-VN">
                    <a:noFill/>
                  </a:rPr>
                  <a:t> </a:t>
                </a:r>
              </a:p>
            </p:txBody>
          </p:sp>
        </mc:Fallback>
      </mc:AlternateContent>
      <p:sp>
        <p:nvSpPr>
          <p:cNvPr id="21" name="TextBox 20">
            <a:extLst>
              <a:ext uri="{FF2B5EF4-FFF2-40B4-BE49-F238E27FC236}">
                <a16:creationId xmlns:a16="http://schemas.microsoft.com/office/drawing/2014/main" id="{D09DA49F-21BC-BACF-0352-1DC22D167A54}"/>
              </a:ext>
            </a:extLst>
          </p:cNvPr>
          <p:cNvSpPr txBox="1"/>
          <p:nvPr/>
        </p:nvSpPr>
        <p:spPr>
          <a:xfrm>
            <a:off x="3162718" y="1916273"/>
            <a:ext cx="2462578" cy="461665"/>
          </a:xfrm>
          <a:prstGeom prst="rect">
            <a:avLst/>
          </a:prstGeom>
          <a:noFill/>
        </p:spPr>
        <p:txBody>
          <a:bodyPr wrap="square" rtlCol="0">
            <a:spAutoFit/>
          </a:bodyPr>
          <a:lstStyle/>
          <a:p>
            <a:r>
              <a:rPr lang="en-VN" sz="2400"/>
              <a:t>Measuring qubit 0</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497B68B-64BD-EC13-12DF-2E1D26E5F175}"/>
                  </a:ext>
                </a:extLst>
              </p:cNvPr>
              <p:cNvSpPr txBox="1"/>
              <p:nvPr/>
            </p:nvSpPr>
            <p:spPr>
              <a:xfrm>
                <a:off x="5925112" y="1454608"/>
                <a:ext cx="1204893" cy="461665"/>
              </a:xfrm>
              <a:prstGeom prst="rect">
                <a:avLst/>
              </a:prstGeom>
              <a:noFill/>
            </p:spPr>
            <p:txBody>
              <a:bodyPr wrap="square" rtlCol="0">
                <a:spAutoFit/>
              </a:bodyPr>
              <a:lstStyle/>
              <a:p>
                <a:r>
                  <a:rPr lang="en-VN" sz="2400"/>
                  <a:t>50% </a:t>
                </a:r>
                <a14:m>
                  <m:oMath xmlns:m="http://schemas.openxmlformats.org/officeDocument/2006/math">
                    <m:r>
                      <a:rPr lang="vi-VN" sz="2400" b="0" i="1">
                        <a:latin typeface="Cambria Math" panose="02040503050406030204" pitchFamily="18" charset="0"/>
                      </a:rPr>
                      <m:t>|0⟩</m:t>
                    </m:r>
                  </m:oMath>
                </a14:m>
                <a:endParaRPr lang="en-VN" sz="2400"/>
              </a:p>
            </p:txBody>
          </p:sp>
        </mc:Choice>
        <mc:Fallback xmlns="">
          <p:sp>
            <p:nvSpPr>
              <p:cNvPr id="22" name="TextBox 21">
                <a:extLst>
                  <a:ext uri="{FF2B5EF4-FFF2-40B4-BE49-F238E27FC236}">
                    <a16:creationId xmlns:a16="http://schemas.microsoft.com/office/drawing/2014/main" id="{6497B68B-64BD-EC13-12DF-2E1D26E5F175}"/>
                  </a:ext>
                </a:extLst>
              </p:cNvPr>
              <p:cNvSpPr txBox="1">
                <a:spLocks noRot="1" noChangeAspect="1" noMove="1" noResize="1" noEditPoints="1" noAdjustHandles="1" noChangeArrowheads="1" noChangeShapeType="1" noTextEdit="1"/>
              </p:cNvSpPr>
              <p:nvPr/>
            </p:nvSpPr>
            <p:spPr>
              <a:xfrm>
                <a:off x="5925112" y="1454608"/>
                <a:ext cx="1204893" cy="461665"/>
              </a:xfrm>
              <a:prstGeom prst="rect">
                <a:avLst/>
              </a:prstGeom>
              <a:blipFill>
                <a:blip r:embed="rId7"/>
                <a:stretch>
                  <a:fillRect l="-8333" t="-8108" b="-2973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CDE6776-57FD-EBF6-78C9-AF63CC444811}"/>
                  </a:ext>
                </a:extLst>
              </p:cNvPr>
              <p:cNvSpPr txBox="1"/>
              <p:nvPr/>
            </p:nvSpPr>
            <p:spPr>
              <a:xfrm>
                <a:off x="5948262" y="2338876"/>
                <a:ext cx="1204893" cy="461665"/>
              </a:xfrm>
              <a:prstGeom prst="rect">
                <a:avLst/>
              </a:prstGeom>
              <a:noFill/>
            </p:spPr>
            <p:txBody>
              <a:bodyPr wrap="square" rtlCol="0">
                <a:spAutoFit/>
              </a:bodyPr>
              <a:lstStyle/>
              <a:p>
                <a:r>
                  <a:rPr lang="en-VN" sz="2400"/>
                  <a:t>50% </a:t>
                </a:r>
                <a14:m>
                  <m:oMath xmlns:m="http://schemas.openxmlformats.org/officeDocument/2006/math">
                    <m:r>
                      <a:rPr lang="vi-VN" sz="2400" b="0" i="1">
                        <a:latin typeface="Cambria Math" panose="02040503050406030204" pitchFamily="18" charset="0"/>
                      </a:rPr>
                      <m:t>|1⟩</m:t>
                    </m:r>
                  </m:oMath>
                </a14:m>
                <a:endParaRPr lang="en-VN" sz="2400"/>
              </a:p>
            </p:txBody>
          </p:sp>
        </mc:Choice>
        <mc:Fallback xmlns="">
          <p:sp>
            <p:nvSpPr>
              <p:cNvPr id="23" name="TextBox 22">
                <a:extLst>
                  <a:ext uri="{FF2B5EF4-FFF2-40B4-BE49-F238E27FC236}">
                    <a16:creationId xmlns:a16="http://schemas.microsoft.com/office/drawing/2014/main" id="{2CDE6776-57FD-EBF6-78C9-AF63CC444811}"/>
                  </a:ext>
                </a:extLst>
              </p:cNvPr>
              <p:cNvSpPr txBox="1">
                <a:spLocks noRot="1" noChangeAspect="1" noMove="1" noResize="1" noEditPoints="1" noAdjustHandles="1" noChangeArrowheads="1" noChangeShapeType="1" noTextEdit="1"/>
              </p:cNvSpPr>
              <p:nvPr/>
            </p:nvSpPr>
            <p:spPr>
              <a:xfrm>
                <a:off x="5948262" y="2338876"/>
                <a:ext cx="1204893" cy="461665"/>
              </a:xfrm>
              <a:prstGeom prst="rect">
                <a:avLst/>
              </a:prstGeom>
              <a:blipFill>
                <a:blip r:embed="rId8"/>
                <a:stretch>
                  <a:fillRect l="-8333" t="-8108" b="-29730"/>
                </a:stretch>
              </a:blipFill>
            </p:spPr>
            <p:txBody>
              <a:bodyPr/>
              <a:lstStyle/>
              <a:p>
                <a:r>
                  <a:rPr lang="en-VN">
                    <a:noFill/>
                  </a:rPr>
                  <a:t> </a:t>
                </a:r>
              </a:p>
            </p:txBody>
          </p:sp>
        </mc:Fallback>
      </mc:AlternateContent>
      <p:cxnSp>
        <p:nvCxnSpPr>
          <p:cNvPr id="25" name="Straight Arrow Connector 24">
            <a:extLst>
              <a:ext uri="{FF2B5EF4-FFF2-40B4-BE49-F238E27FC236}">
                <a16:creationId xmlns:a16="http://schemas.microsoft.com/office/drawing/2014/main" id="{33DB066F-5974-D9CB-083A-70D64038F394}"/>
              </a:ext>
            </a:extLst>
          </p:cNvPr>
          <p:cNvCxnSpPr>
            <a:stCxn id="21" idx="3"/>
            <a:endCxn id="22" idx="1"/>
          </p:cNvCxnSpPr>
          <p:nvPr/>
        </p:nvCxnSpPr>
        <p:spPr>
          <a:xfrm flipV="1">
            <a:off x="5625296" y="1685441"/>
            <a:ext cx="299816" cy="46166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C5F7B637-A49A-1EFD-81E7-C5750FED49A1}"/>
              </a:ext>
            </a:extLst>
          </p:cNvPr>
          <p:cNvCxnSpPr>
            <a:cxnSpLocks/>
            <a:stCxn id="21" idx="3"/>
            <a:endCxn id="23" idx="1"/>
          </p:cNvCxnSpPr>
          <p:nvPr/>
        </p:nvCxnSpPr>
        <p:spPr>
          <a:xfrm>
            <a:off x="5625296" y="2147106"/>
            <a:ext cx="322966" cy="42260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2B96CE-E498-A039-E9CA-BECE26F72951}"/>
                  </a:ext>
                </a:extLst>
              </p:cNvPr>
              <p:cNvSpPr txBox="1"/>
              <p:nvPr/>
            </p:nvSpPr>
            <p:spPr>
              <a:xfrm>
                <a:off x="7723834" y="1454608"/>
                <a:ext cx="2908372" cy="461665"/>
              </a:xfrm>
              <a:prstGeom prst="rect">
                <a:avLst/>
              </a:prstGeom>
              <a:noFill/>
            </p:spPr>
            <p:txBody>
              <a:bodyPr wrap="square" rtlCol="0">
                <a:spAutoFit/>
              </a:bodyPr>
              <a:lstStyle/>
              <a:p>
                <a:r>
                  <a:rPr lang="en-VN" sz="2400"/>
                  <a:t>100% qubit 1 is </a:t>
                </a:r>
                <a14:m>
                  <m:oMath xmlns:m="http://schemas.openxmlformats.org/officeDocument/2006/math">
                    <m:r>
                      <a:rPr lang="vi-VN" sz="2400" b="0" i="1">
                        <a:latin typeface="Cambria Math" panose="02040503050406030204" pitchFamily="18" charset="0"/>
                      </a:rPr>
                      <m:t>|0⟩</m:t>
                    </m:r>
                  </m:oMath>
                </a14:m>
                <a:endParaRPr lang="en-VN" sz="2400"/>
              </a:p>
            </p:txBody>
          </p:sp>
        </mc:Choice>
        <mc:Fallback xmlns="">
          <p:sp>
            <p:nvSpPr>
              <p:cNvPr id="29" name="TextBox 28">
                <a:extLst>
                  <a:ext uri="{FF2B5EF4-FFF2-40B4-BE49-F238E27FC236}">
                    <a16:creationId xmlns:a16="http://schemas.microsoft.com/office/drawing/2014/main" id="{6B2B96CE-E498-A039-E9CA-BECE26F72951}"/>
                  </a:ext>
                </a:extLst>
              </p:cNvPr>
              <p:cNvSpPr txBox="1">
                <a:spLocks noRot="1" noChangeAspect="1" noMove="1" noResize="1" noEditPoints="1" noAdjustHandles="1" noChangeArrowheads="1" noChangeShapeType="1" noTextEdit="1"/>
              </p:cNvSpPr>
              <p:nvPr/>
            </p:nvSpPr>
            <p:spPr>
              <a:xfrm>
                <a:off x="7723834" y="1454608"/>
                <a:ext cx="2908372" cy="461665"/>
              </a:xfrm>
              <a:prstGeom prst="rect">
                <a:avLst/>
              </a:prstGeom>
              <a:blipFill>
                <a:blip r:embed="rId9"/>
                <a:stretch>
                  <a:fillRect l="-3478" t="-8108" b="-2973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47FD59E-77C1-799F-1FE2-C22201191EDB}"/>
                  </a:ext>
                </a:extLst>
              </p:cNvPr>
              <p:cNvSpPr txBox="1"/>
              <p:nvPr/>
            </p:nvSpPr>
            <p:spPr>
              <a:xfrm>
                <a:off x="7723834" y="2337966"/>
                <a:ext cx="2908372" cy="461665"/>
              </a:xfrm>
              <a:prstGeom prst="rect">
                <a:avLst/>
              </a:prstGeom>
              <a:noFill/>
            </p:spPr>
            <p:txBody>
              <a:bodyPr wrap="square" rtlCol="0">
                <a:spAutoFit/>
              </a:bodyPr>
              <a:lstStyle/>
              <a:p>
                <a:r>
                  <a:rPr lang="en-VN" sz="2400"/>
                  <a:t>100% qubit 1 is </a:t>
                </a:r>
                <a14:m>
                  <m:oMath xmlns:m="http://schemas.openxmlformats.org/officeDocument/2006/math">
                    <m:r>
                      <a:rPr lang="vi-VN" sz="2400" b="0" i="1">
                        <a:latin typeface="Cambria Math" panose="02040503050406030204" pitchFamily="18" charset="0"/>
                      </a:rPr>
                      <m:t>|1⟩</m:t>
                    </m:r>
                  </m:oMath>
                </a14:m>
                <a:endParaRPr lang="en-VN" sz="2400"/>
              </a:p>
            </p:txBody>
          </p:sp>
        </mc:Choice>
        <mc:Fallback xmlns="">
          <p:sp>
            <p:nvSpPr>
              <p:cNvPr id="30" name="TextBox 29">
                <a:extLst>
                  <a:ext uri="{FF2B5EF4-FFF2-40B4-BE49-F238E27FC236}">
                    <a16:creationId xmlns:a16="http://schemas.microsoft.com/office/drawing/2014/main" id="{B47FD59E-77C1-799F-1FE2-C22201191EDB}"/>
                  </a:ext>
                </a:extLst>
              </p:cNvPr>
              <p:cNvSpPr txBox="1">
                <a:spLocks noRot="1" noChangeAspect="1" noMove="1" noResize="1" noEditPoints="1" noAdjustHandles="1" noChangeArrowheads="1" noChangeShapeType="1" noTextEdit="1"/>
              </p:cNvSpPr>
              <p:nvPr/>
            </p:nvSpPr>
            <p:spPr>
              <a:xfrm>
                <a:off x="7723834" y="2337966"/>
                <a:ext cx="2908372" cy="461665"/>
              </a:xfrm>
              <a:prstGeom prst="rect">
                <a:avLst/>
              </a:prstGeom>
              <a:blipFill>
                <a:blip r:embed="rId10"/>
                <a:stretch>
                  <a:fillRect l="-3478" t="-8108" b="-29730"/>
                </a:stretch>
              </a:blipFill>
            </p:spPr>
            <p:txBody>
              <a:bodyPr/>
              <a:lstStyle/>
              <a:p>
                <a:r>
                  <a:rPr lang="en-VN">
                    <a:noFill/>
                  </a:rPr>
                  <a:t> </a:t>
                </a:r>
              </a:p>
            </p:txBody>
          </p:sp>
        </mc:Fallback>
      </mc:AlternateContent>
      <p:cxnSp>
        <p:nvCxnSpPr>
          <p:cNvPr id="31" name="Straight Arrow Connector 30">
            <a:extLst>
              <a:ext uri="{FF2B5EF4-FFF2-40B4-BE49-F238E27FC236}">
                <a16:creationId xmlns:a16="http://schemas.microsoft.com/office/drawing/2014/main" id="{DCA164F9-A594-5E2F-B35C-641E0E1BB7F6}"/>
              </a:ext>
            </a:extLst>
          </p:cNvPr>
          <p:cNvCxnSpPr>
            <a:cxnSpLocks/>
            <a:stCxn id="22" idx="3"/>
            <a:endCxn id="29" idx="1"/>
          </p:cNvCxnSpPr>
          <p:nvPr/>
        </p:nvCxnSpPr>
        <p:spPr>
          <a:xfrm>
            <a:off x="7130005" y="1685441"/>
            <a:ext cx="59382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B7E64805-F55F-567E-4718-6F7D65E068B1}"/>
              </a:ext>
            </a:extLst>
          </p:cNvPr>
          <p:cNvCxnSpPr>
            <a:cxnSpLocks/>
            <a:stCxn id="23" idx="3"/>
            <a:endCxn id="30" idx="1"/>
          </p:cNvCxnSpPr>
          <p:nvPr/>
        </p:nvCxnSpPr>
        <p:spPr>
          <a:xfrm flipV="1">
            <a:off x="7153155" y="2568799"/>
            <a:ext cx="570679" cy="91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B4BE9A3-005F-3A71-B894-506BCEBD1483}"/>
                  </a:ext>
                </a:extLst>
              </p:cNvPr>
              <p:cNvSpPr txBox="1"/>
              <p:nvPr/>
            </p:nvSpPr>
            <p:spPr>
              <a:xfrm>
                <a:off x="2354101" y="2178010"/>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3" name="TextBox 2">
                <a:extLst>
                  <a:ext uri="{FF2B5EF4-FFF2-40B4-BE49-F238E27FC236}">
                    <a16:creationId xmlns:a16="http://schemas.microsoft.com/office/drawing/2014/main" id="{8B4BE9A3-005F-3A71-B894-506BCEBD1483}"/>
                  </a:ext>
                </a:extLst>
              </p:cNvPr>
              <p:cNvSpPr txBox="1">
                <a:spLocks noRot="1" noChangeAspect="1" noMove="1" noResize="1" noEditPoints="1" noAdjustHandles="1" noChangeArrowheads="1" noChangeShapeType="1" noTextEdit="1"/>
              </p:cNvSpPr>
              <p:nvPr/>
            </p:nvSpPr>
            <p:spPr>
              <a:xfrm>
                <a:off x="2354101" y="2178010"/>
                <a:ext cx="352661" cy="369332"/>
              </a:xfrm>
              <a:prstGeom prst="rect">
                <a:avLst/>
              </a:prstGeom>
              <a:blipFill>
                <a:blip r:embed="rId11"/>
                <a:stretch>
                  <a:fillRect l="-20690" r="-22414" b="-21311"/>
                </a:stretch>
              </a:blipFill>
            </p:spPr>
            <p:txBody>
              <a:bodyPr/>
              <a:lstStyle/>
              <a:p>
                <a:r>
                  <a:rPr lang="vi-VN">
                    <a:noFill/>
                  </a:rPr>
                  <a:t> </a:t>
                </a:r>
              </a:p>
            </p:txBody>
          </p:sp>
        </mc:Fallback>
      </mc:AlternateContent>
    </p:spTree>
    <p:extLst>
      <p:ext uri="{BB962C8B-B14F-4D97-AF65-F5344CB8AC3E}">
        <p14:creationId xmlns:p14="http://schemas.microsoft.com/office/powerpoint/2010/main" val="1020617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C1EC4-73F5-8B0E-2919-DFA28C46825B}"/>
              </a:ext>
            </a:extLst>
          </p:cNvPr>
          <p:cNvSpPr>
            <a:spLocks noGrp="1"/>
          </p:cNvSpPr>
          <p:nvPr>
            <p:ph type="title"/>
          </p:nvPr>
        </p:nvSpPr>
        <p:spPr/>
        <p:txBody>
          <a:bodyPr/>
          <a:lstStyle/>
          <a:p>
            <a:r>
              <a:rPr lang="en-VN"/>
              <a:t>Entangled state</a:t>
            </a:r>
            <a:r>
              <a:rPr lang="en-US"/>
              <a:t>s: GHZ and W</a:t>
            </a:r>
            <a:endParaRPr lang="vi-V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2A6C9D-7E03-36AC-4D22-97773F7717E8}"/>
                  </a:ext>
                </a:extLst>
              </p:cNvPr>
              <p:cNvSpPr>
                <a:spLocks noGrp="1"/>
              </p:cNvSpPr>
              <p:nvPr>
                <p:ph idx="1"/>
              </p:nvPr>
            </p:nvSpPr>
            <p:spPr>
              <a:xfrm>
                <a:off x="838200" y="1465793"/>
                <a:ext cx="4609563" cy="782347"/>
              </a:xfrm>
            </p:spPr>
            <p:txBody>
              <a:bodyPr/>
              <a:lstStyle/>
              <a:p>
                <a:pPr marL="0" indent="0">
                  <a:buNone/>
                </a:pP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𝐺𝐻𝑍</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sup>
                            <m:r>
                              <a:rPr lang="en-US" b="0" i="1" smtClean="0">
                                <a:latin typeface="Cambria Math" panose="02040503050406030204" pitchFamily="18" charset="0"/>
                              </a:rPr>
                              <m:t>⊗</m:t>
                            </m:r>
                            <m:r>
                              <a:rPr lang="en-US" b="0" i="1" smtClean="0">
                                <a:latin typeface="Cambria Math" panose="02040503050406030204" pitchFamily="18" charset="0"/>
                              </a:rPr>
                              <m:t>𝑛</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b="0" i="1" smtClean="0">
                                    <a:latin typeface="Cambria Math" panose="02040503050406030204" pitchFamily="18" charset="0"/>
                                  </a:rPr>
                                  <m:t>1</m:t>
                                </m:r>
                              </m:e>
                            </m:d>
                          </m:e>
                          <m:sup>
                            <m:r>
                              <a:rPr lang="en-US" i="1">
                                <a:latin typeface="Cambria Math" panose="02040503050406030204" pitchFamily="18" charset="0"/>
                              </a:rPr>
                              <m:t>⊗</m:t>
                            </m:r>
                            <m:r>
                              <a:rPr lang="en-US" i="1">
                                <a:latin typeface="Cambria Math" panose="02040503050406030204" pitchFamily="18" charset="0"/>
                              </a:rPr>
                              <m:t>𝑛</m:t>
                            </m:r>
                          </m:sup>
                        </m:sSup>
                      </m:e>
                    </m:d>
                  </m:oMath>
                </a14:m>
                <a:r>
                  <a:rPr lang="en-US"/>
                  <a:t> </a:t>
                </a:r>
                <a:endParaRPr lang="vi-VN"/>
              </a:p>
            </p:txBody>
          </p:sp>
        </mc:Choice>
        <mc:Fallback xmlns="">
          <p:sp>
            <p:nvSpPr>
              <p:cNvPr id="3" name="Content Placeholder 2">
                <a:extLst>
                  <a:ext uri="{FF2B5EF4-FFF2-40B4-BE49-F238E27FC236}">
                    <a16:creationId xmlns:a16="http://schemas.microsoft.com/office/drawing/2014/main" id="{632A6C9D-7E03-36AC-4D22-97773F7717E8}"/>
                  </a:ext>
                </a:extLst>
              </p:cNvPr>
              <p:cNvSpPr>
                <a:spLocks noGrp="1" noRot="1" noChangeAspect="1" noMove="1" noResize="1" noEditPoints="1" noAdjustHandles="1" noChangeArrowheads="1" noChangeShapeType="1" noTextEdit="1"/>
              </p:cNvSpPr>
              <p:nvPr>
                <p:ph idx="1"/>
              </p:nvPr>
            </p:nvSpPr>
            <p:spPr>
              <a:xfrm>
                <a:off x="838200" y="1465793"/>
                <a:ext cx="4609563" cy="782347"/>
              </a:xfrm>
              <a:blipFill>
                <a:blip r:embed="rId3"/>
                <a:stretch>
                  <a:fillRect/>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EA35A9D9-1BC5-24E3-2907-FF6FBA5B79F5}"/>
              </a:ext>
            </a:extLst>
          </p:cNvPr>
          <p:cNvSpPr>
            <a:spLocks noGrp="1"/>
          </p:cNvSpPr>
          <p:nvPr>
            <p:ph type="sldNum" sz="quarter" idx="12"/>
          </p:nvPr>
        </p:nvSpPr>
        <p:spPr/>
        <p:txBody>
          <a:bodyPr/>
          <a:lstStyle/>
          <a:p>
            <a:fld id="{71331178-9F85-4EDF-BDD3-1E7064DA4C59}" type="slidenum">
              <a:rPr lang="vi-VN" smtClean="0"/>
              <a:t>26</a:t>
            </a:fld>
            <a:endParaRPr lang="vi-VN"/>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662534FE-095A-9A66-50AD-1E9AB7373361}"/>
                  </a:ext>
                </a:extLst>
              </p:cNvPr>
              <p:cNvSpPr txBox="1">
                <a:spLocks/>
              </p:cNvSpPr>
              <p:nvPr/>
            </p:nvSpPr>
            <p:spPr>
              <a:xfrm>
                <a:off x="838200" y="4479381"/>
                <a:ext cx="8106177" cy="7823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𝑊</m:t>
                        </m:r>
                      </m:e>
                    </m:d>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i="1" smtClean="0">
                            <a:latin typeface="Cambria Math" panose="02040503050406030204" pitchFamily="18" charset="0"/>
                          </a:rPr>
                          <m:t>1</m:t>
                        </m:r>
                      </m:num>
                      <m:den>
                        <m:rad>
                          <m:radPr>
                            <m:degHide m:val="on"/>
                            <m:ctrlPr>
                              <a:rPr lang="en-US" i="1" smtClean="0">
                                <a:latin typeface="Cambria Math" panose="02040503050406030204" pitchFamily="18" charset="0"/>
                              </a:rPr>
                            </m:ctrlPr>
                          </m:radPr>
                          <m:deg/>
                          <m:e>
                            <m:r>
                              <a:rPr lang="en-US" i="1" smtClean="0">
                                <a:latin typeface="Cambria Math" panose="02040503050406030204" pitchFamily="18" charset="0"/>
                              </a:rPr>
                              <m:t>2</m:t>
                            </m:r>
                          </m:e>
                        </m:rad>
                      </m:den>
                    </m:f>
                    <m:d>
                      <m:dPr>
                        <m:ctrlPr>
                          <a:rPr lang="en-US"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00…10</m:t>
                            </m:r>
                          </m:e>
                        </m:d>
                        <m:r>
                          <a:rPr lang="en-US" b="0" i="1" smtClean="0">
                            <a:latin typeface="Cambria Math" panose="02040503050406030204" pitchFamily="18" charset="0"/>
                          </a:rPr>
                          <m:t>+…+|10…0⟩</m:t>
                        </m:r>
                      </m:e>
                    </m:d>
                  </m:oMath>
                </a14:m>
                <a:r>
                  <a:rPr lang="en-US"/>
                  <a:t> </a:t>
                </a:r>
                <a:endParaRPr lang="vi-VN"/>
              </a:p>
            </p:txBody>
          </p:sp>
        </mc:Choice>
        <mc:Fallback xmlns="">
          <p:sp>
            <p:nvSpPr>
              <p:cNvPr id="5" name="Content Placeholder 2">
                <a:extLst>
                  <a:ext uri="{FF2B5EF4-FFF2-40B4-BE49-F238E27FC236}">
                    <a16:creationId xmlns:a16="http://schemas.microsoft.com/office/drawing/2014/main" id="{662534FE-095A-9A66-50AD-1E9AB7373361}"/>
                  </a:ext>
                </a:extLst>
              </p:cNvPr>
              <p:cNvSpPr txBox="1">
                <a:spLocks noRot="1" noChangeAspect="1" noMove="1" noResize="1" noEditPoints="1" noAdjustHandles="1" noChangeArrowheads="1" noChangeShapeType="1" noTextEdit="1"/>
              </p:cNvSpPr>
              <p:nvPr/>
            </p:nvSpPr>
            <p:spPr>
              <a:xfrm>
                <a:off x="838200" y="4479381"/>
                <a:ext cx="8106177" cy="782347"/>
              </a:xfrm>
              <a:prstGeom prst="rect">
                <a:avLst/>
              </a:prstGeom>
              <a:blipFill>
                <a:blip r:embed="rId4"/>
                <a:stretch>
                  <a:fillRect/>
                </a:stretch>
              </a:blipFill>
            </p:spPr>
            <p:txBody>
              <a:bodyPr/>
              <a:lstStyle/>
              <a:p>
                <a:r>
                  <a:rPr lang="vi-VN">
                    <a:noFill/>
                  </a:rPr>
                  <a:t> </a:t>
                </a:r>
              </a:p>
            </p:txBody>
          </p:sp>
        </mc:Fallback>
      </mc:AlternateContent>
      <p:cxnSp>
        <p:nvCxnSpPr>
          <p:cNvPr id="6" name="Straight Connector 5">
            <a:extLst>
              <a:ext uri="{FF2B5EF4-FFF2-40B4-BE49-F238E27FC236}">
                <a16:creationId xmlns:a16="http://schemas.microsoft.com/office/drawing/2014/main" id="{E11E7CA6-999A-0CE3-FCB2-C2BC21F09B43}"/>
              </a:ext>
            </a:extLst>
          </p:cNvPr>
          <p:cNvCxnSpPr/>
          <p:nvPr/>
        </p:nvCxnSpPr>
        <p:spPr>
          <a:xfrm>
            <a:off x="1585552" y="2482918"/>
            <a:ext cx="23774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6319C1A4-C923-E2B1-C5B8-090B1E4E0D0A}"/>
              </a:ext>
            </a:extLst>
          </p:cNvPr>
          <p:cNvCxnSpPr/>
          <p:nvPr/>
        </p:nvCxnSpPr>
        <p:spPr>
          <a:xfrm>
            <a:off x="1585552" y="2954807"/>
            <a:ext cx="2377440" cy="0"/>
          </a:xfrm>
          <a:prstGeom prst="line">
            <a:avLst/>
          </a:prstGeom>
          <a:ln w="38100"/>
        </p:spPr>
        <p:style>
          <a:lnRef idx="1">
            <a:schemeClr val="dk1"/>
          </a:lnRef>
          <a:fillRef idx="0">
            <a:schemeClr val="dk1"/>
          </a:fillRef>
          <a:effectRef idx="0">
            <a:schemeClr val="dk1"/>
          </a:effectRef>
          <a:fontRef idx="minor">
            <a:schemeClr val="tx1"/>
          </a:fontRef>
        </p:style>
      </p:cxnSp>
      <p:sp>
        <p:nvSpPr>
          <p:cNvPr id="8" name="Oval 7">
            <a:extLst>
              <a:ext uri="{FF2B5EF4-FFF2-40B4-BE49-F238E27FC236}">
                <a16:creationId xmlns:a16="http://schemas.microsoft.com/office/drawing/2014/main" id="{D3B78420-97E0-5673-CA22-2BDDF8697637}"/>
              </a:ext>
            </a:extLst>
          </p:cNvPr>
          <p:cNvSpPr>
            <a:spLocks noChangeAspect="1"/>
          </p:cNvSpPr>
          <p:nvPr/>
        </p:nvSpPr>
        <p:spPr>
          <a:xfrm>
            <a:off x="2446680" y="2382085"/>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9" name="Straight Connector 8">
            <a:extLst>
              <a:ext uri="{FF2B5EF4-FFF2-40B4-BE49-F238E27FC236}">
                <a16:creationId xmlns:a16="http://schemas.microsoft.com/office/drawing/2014/main" id="{92D98547-F036-51C1-019E-1C8FD5C26ED8}"/>
              </a:ext>
            </a:extLst>
          </p:cNvPr>
          <p:cNvCxnSpPr>
            <a:cxnSpLocks/>
            <a:endCxn id="8" idx="4"/>
          </p:cNvCxnSpPr>
          <p:nvPr/>
        </p:nvCxnSpPr>
        <p:spPr>
          <a:xfrm flipV="1">
            <a:off x="2554680" y="2583750"/>
            <a:ext cx="0" cy="371057"/>
          </a:xfrm>
          <a:prstGeom prst="line">
            <a:avLst/>
          </a:prstGeom>
          <a:ln w="38100"/>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2A6DBF23-6D67-3A36-81F1-45C25522803F}"/>
              </a:ext>
            </a:extLst>
          </p:cNvPr>
          <p:cNvSpPr/>
          <p:nvPr/>
        </p:nvSpPr>
        <p:spPr>
          <a:xfrm>
            <a:off x="963307" y="2248139"/>
            <a:ext cx="3159960" cy="212770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81354E00-CC41-85CC-5EF5-93EB8157228B}"/>
                  </a:ext>
                </a:extLst>
              </p:cNvPr>
              <p:cNvSpPr/>
              <p:nvPr/>
            </p:nvSpPr>
            <p:spPr>
              <a:xfrm>
                <a:off x="1787171" y="2305598"/>
                <a:ext cx="475673" cy="3556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a:solidFill>
                    <a:schemeClr val="tx1"/>
                  </a:solidFill>
                </a:endParaRPr>
              </a:p>
            </p:txBody>
          </p:sp>
        </mc:Choice>
        <mc:Fallback xmlns="">
          <p:sp>
            <p:nvSpPr>
              <p:cNvPr id="11" name="Rectangle 10">
                <a:extLst>
                  <a:ext uri="{FF2B5EF4-FFF2-40B4-BE49-F238E27FC236}">
                    <a16:creationId xmlns:a16="http://schemas.microsoft.com/office/drawing/2014/main" id="{81354E00-CC41-85CC-5EF5-93EB8157228B}"/>
                  </a:ext>
                </a:extLst>
              </p:cNvPr>
              <p:cNvSpPr>
                <a:spLocks noRot="1" noChangeAspect="1" noMove="1" noResize="1" noEditPoints="1" noAdjustHandles="1" noChangeArrowheads="1" noChangeShapeType="1" noTextEdit="1"/>
              </p:cNvSpPr>
              <p:nvPr/>
            </p:nvSpPr>
            <p:spPr>
              <a:xfrm>
                <a:off x="1787171" y="2305598"/>
                <a:ext cx="475673" cy="355600"/>
              </a:xfrm>
              <a:prstGeom prst="rect">
                <a:avLst/>
              </a:prstGeom>
              <a:blipFill>
                <a:blip r:embed="rId5"/>
                <a:stretch>
                  <a:fillRect b="-983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8D94A6-EDB1-A3DD-6DEB-B04062CB23EF}"/>
                  </a:ext>
                </a:extLst>
              </p:cNvPr>
              <p:cNvSpPr txBox="1"/>
              <p:nvPr/>
            </p:nvSpPr>
            <p:spPr>
              <a:xfrm>
                <a:off x="1073889" y="2271290"/>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2" name="TextBox 11">
                <a:extLst>
                  <a:ext uri="{FF2B5EF4-FFF2-40B4-BE49-F238E27FC236}">
                    <a16:creationId xmlns:a16="http://schemas.microsoft.com/office/drawing/2014/main" id="{148D94A6-EDB1-A3DD-6DEB-B04062CB23EF}"/>
                  </a:ext>
                </a:extLst>
              </p:cNvPr>
              <p:cNvSpPr txBox="1">
                <a:spLocks noRot="1" noChangeAspect="1" noMove="1" noResize="1" noEditPoints="1" noAdjustHandles="1" noChangeArrowheads="1" noChangeShapeType="1" noTextEdit="1"/>
              </p:cNvSpPr>
              <p:nvPr/>
            </p:nvSpPr>
            <p:spPr>
              <a:xfrm>
                <a:off x="1073889" y="2271290"/>
                <a:ext cx="447238" cy="369332"/>
              </a:xfrm>
              <a:prstGeom prst="rect">
                <a:avLst/>
              </a:prstGeom>
              <a:blipFill>
                <a:blip r:embed="rId6"/>
                <a:stretch>
                  <a:fillRect l="-22973" r="-24324" b="-3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DE2949F-2AD5-80FA-3B11-DF5A50609E57}"/>
                  </a:ext>
                </a:extLst>
              </p:cNvPr>
              <p:cNvSpPr txBox="1"/>
              <p:nvPr/>
            </p:nvSpPr>
            <p:spPr>
              <a:xfrm>
                <a:off x="1073889" y="2704558"/>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3" name="TextBox 12">
                <a:extLst>
                  <a:ext uri="{FF2B5EF4-FFF2-40B4-BE49-F238E27FC236}">
                    <a16:creationId xmlns:a16="http://schemas.microsoft.com/office/drawing/2014/main" id="{2DE2949F-2AD5-80FA-3B11-DF5A50609E57}"/>
                  </a:ext>
                </a:extLst>
              </p:cNvPr>
              <p:cNvSpPr txBox="1">
                <a:spLocks noRot="1" noChangeAspect="1" noMove="1" noResize="1" noEditPoints="1" noAdjustHandles="1" noChangeArrowheads="1" noChangeShapeType="1" noTextEdit="1"/>
              </p:cNvSpPr>
              <p:nvPr/>
            </p:nvSpPr>
            <p:spPr>
              <a:xfrm>
                <a:off x="1073889" y="2704558"/>
                <a:ext cx="447238" cy="369332"/>
              </a:xfrm>
              <a:prstGeom prst="rect">
                <a:avLst/>
              </a:prstGeom>
              <a:blipFill>
                <a:blip r:embed="rId7"/>
                <a:stretch>
                  <a:fillRect l="-22973" r="-24324" b="-3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A0020CD-12A1-644D-33AE-83AB9887B79B}"/>
                  </a:ext>
                </a:extLst>
              </p:cNvPr>
              <p:cNvSpPr txBox="1"/>
              <p:nvPr/>
            </p:nvSpPr>
            <p:spPr>
              <a:xfrm>
                <a:off x="2379859" y="2735462"/>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4" name="TextBox 13">
                <a:extLst>
                  <a:ext uri="{FF2B5EF4-FFF2-40B4-BE49-F238E27FC236}">
                    <a16:creationId xmlns:a16="http://schemas.microsoft.com/office/drawing/2014/main" id="{5A0020CD-12A1-644D-33AE-83AB9887B79B}"/>
                  </a:ext>
                </a:extLst>
              </p:cNvPr>
              <p:cNvSpPr txBox="1">
                <a:spLocks noRot="1" noChangeAspect="1" noMove="1" noResize="1" noEditPoints="1" noAdjustHandles="1" noChangeArrowheads="1" noChangeShapeType="1" noTextEdit="1"/>
              </p:cNvSpPr>
              <p:nvPr/>
            </p:nvSpPr>
            <p:spPr>
              <a:xfrm>
                <a:off x="2379859" y="2735462"/>
                <a:ext cx="352661" cy="369332"/>
              </a:xfrm>
              <a:prstGeom prst="rect">
                <a:avLst/>
              </a:prstGeom>
              <a:blipFill>
                <a:blip r:embed="rId8"/>
                <a:stretch>
                  <a:fillRect l="-20690" r="-22414" b="-21667"/>
                </a:stretch>
              </a:blipFill>
            </p:spPr>
            <p:txBody>
              <a:bodyPr/>
              <a:lstStyle/>
              <a:p>
                <a:r>
                  <a:rPr lang="vi-VN">
                    <a:noFill/>
                  </a:rPr>
                  <a:t> </a:t>
                </a:r>
              </a:p>
            </p:txBody>
          </p:sp>
        </mc:Fallback>
      </mc:AlternateContent>
      <p:cxnSp>
        <p:nvCxnSpPr>
          <p:cNvPr id="15" name="Straight Connector 14">
            <a:extLst>
              <a:ext uri="{FF2B5EF4-FFF2-40B4-BE49-F238E27FC236}">
                <a16:creationId xmlns:a16="http://schemas.microsoft.com/office/drawing/2014/main" id="{8DF8EB92-0132-D8D9-AEDC-C3919A1E11F4}"/>
              </a:ext>
            </a:extLst>
          </p:cNvPr>
          <p:cNvCxnSpPr/>
          <p:nvPr/>
        </p:nvCxnSpPr>
        <p:spPr>
          <a:xfrm>
            <a:off x="1585552" y="4104869"/>
            <a:ext cx="237744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B01551C-6EA7-BFEC-76A9-42E9A1A8D5DA}"/>
                  </a:ext>
                </a:extLst>
              </p:cNvPr>
              <p:cNvSpPr txBox="1"/>
              <p:nvPr/>
            </p:nvSpPr>
            <p:spPr>
              <a:xfrm>
                <a:off x="1073889" y="3854620"/>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6" name="TextBox 15">
                <a:extLst>
                  <a:ext uri="{FF2B5EF4-FFF2-40B4-BE49-F238E27FC236}">
                    <a16:creationId xmlns:a16="http://schemas.microsoft.com/office/drawing/2014/main" id="{0B01551C-6EA7-BFEC-76A9-42E9A1A8D5DA}"/>
                  </a:ext>
                </a:extLst>
              </p:cNvPr>
              <p:cNvSpPr txBox="1">
                <a:spLocks noRot="1" noChangeAspect="1" noMove="1" noResize="1" noEditPoints="1" noAdjustHandles="1" noChangeArrowheads="1" noChangeShapeType="1" noTextEdit="1"/>
              </p:cNvSpPr>
              <p:nvPr/>
            </p:nvSpPr>
            <p:spPr>
              <a:xfrm>
                <a:off x="1073889" y="3854620"/>
                <a:ext cx="447238" cy="369332"/>
              </a:xfrm>
              <a:prstGeom prst="rect">
                <a:avLst/>
              </a:prstGeom>
              <a:blipFill>
                <a:blip r:embed="rId9"/>
                <a:stretch>
                  <a:fillRect l="-22973" r="-24324" b="-344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1DB0E99-F6B0-01B5-DF71-03C4F53C6E81}"/>
                  </a:ext>
                </a:extLst>
              </p:cNvPr>
              <p:cNvSpPr txBox="1"/>
              <p:nvPr/>
            </p:nvSpPr>
            <p:spPr>
              <a:xfrm>
                <a:off x="3481238" y="3891972"/>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7" name="TextBox 16">
                <a:extLst>
                  <a:ext uri="{FF2B5EF4-FFF2-40B4-BE49-F238E27FC236}">
                    <a16:creationId xmlns:a16="http://schemas.microsoft.com/office/drawing/2014/main" id="{71DB0E99-F6B0-01B5-DF71-03C4F53C6E81}"/>
                  </a:ext>
                </a:extLst>
              </p:cNvPr>
              <p:cNvSpPr txBox="1">
                <a:spLocks noRot="1" noChangeAspect="1" noMove="1" noResize="1" noEditPoints="1" noAdjustHandles="1" noChangeArrowheads="1" noChangeShapeType="1" noTextEdit="1"/>
              </p:cNvSpPr>
              <p:nvPr/>
            </p:nvSpPr>
            <p:spPr>
              <a:xfrm>
                <a:off x="3481238" y="3891972"/>
                <a:ext cx="352661" cy="369332"/>
              </a:xfrm>
              <a:prstGeom prst="rect">
                <a:avLst/>
              </a:prstGeom>
              <a:blipFill>
                <a:blip r:embed="rId10"/>
                <a:stretch>
                  <a:fillRect l="-20690" r="-22414" b="-21311"/>
                </a:stretch>
              </a:blipFill>
            </p:spPr>
            <p:txBody>
              <a:bodyPr/>
              <a:lstStyle/>
              <a:p>
                <a:r>
                  <a:rPr lang="vi-VN">
                    <a:noFill/>
                  </a:rPr>
                  <a:t> </a:t>
                </a:r>
              </a:p>
            </p:txBody>
          </p:sp>
        </mc:Fallback>
      </mc:AlternateContent>
      <p:cxnSp>
        <p:nvCxnSpPr>
          <p:cNvPr id="18" name="Straight Connector 17">
            <a:extLst>
              <a:ext uri="{FF2B5EF4-FFF2-40B4-BE49-F238E27FC236}">
                <a16:creationId xmlns:a16="http://schemas.microsoft.com/office/drawing/2014/main" id="{F5A54488-048E-B8D7-6575-60112F875754}"/>
              </a:ext>
            </a:extLst>
          </p:cNvPr>
          <p:cNvCxnSpPr/>
          <p:nvPr/>
        </p:nvCxnSpPr>
        <p:spPr>
          <a:xfrm>
            <a:off x="1585552" y="3397258"/>
            <a:ext cx="237744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7B1963D-E0ED-520C-8872-0CFDC4468DE1}"/>
                  </a:ext>
                </a:extLst>
              </p:cNvPr>
              <p:cNvSpPr txBox="1"/>
              <p:nvPr/>
            </p:nvSpPr>
            <p:spPr>
              <a:xfrm>
                <a:off x="1073889" y="3147009"/>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19" name="TextBox 18">
                <a:extLst>
                  <a:ext uri="{FF2B5EF4-FFF2-40B4-BE49-F238E27FC236}">
                    <a16:creationId xmlns:a16="http://schemas.microsoft.com/office/drawing/2014/main" id="{A7B1963D-E0ED-520C-8872-0CFDC4468DE1}"/>
                  </a:ext>
                </a:extLst>
              </p:cNvPr>
              <p:cNvSpPr txBox="1">
                <a:spLocks noRot="1" noChangeAspect="1" noMove="1" noResize="1" noEditPoints="1" noAdjustHandles="1" noChangeArrowheads="1" noChangeShapeType="1" noTextEdit="1"/>
              </p:cNvSpPr>
              <p:nvPr/>
            </p:nvSpPr>
            <p:spPr>
              <a:xfrm>
                <a:off x="1073889" y="3147009"/>
                <a:ext cx="447238" cy="369332"/>
              </a:xfrm>
              <a:prstGeom prst="rect">
                <a:avLst/>
              </a:prstGeom>
              <a:blipFill>
                <a:blip r:embed="rId11"/>
                <a:stretch>
                  <a:fillRect l="-22973" r="-24324" b="-344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CD74B5C-8CA6-FB2A-53D7-FC2915D689F8}"/>
                  </a:ext>
                </a:extLst>
              </p:cNvPr>
              <p:cNvSpPr txBox="1"/>
              <p:nvPr/>
            </p:nvSpPr>
            <p:spPr>
              <a:xfrm>
                <a:off x="2821634" y="3174153"/>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20" name="TextBox 19">
                <a:extLst>
                  <a:ext uri="{FF2B5EF4-FFF2-40B4-BE49-F238E27FC236}">
                    <a16:creationId xmlns:a16="http://schemas.microsoft.com/office/drawing/2014/main" id="{8CD74B5C-8CA6-FB2A-53D7-FC2915D689F8}"/>
                  </a:ext>
                </a:extLst>
              </p:cNvPr>
              <p:cNvSpPr txBox="1">
                <a:spLocks noRot="1" noChangeAspect="1" noMove="1" noResize="1" noEditPoints="1" noAdjustHandles="1" noChangeArrowheads="1" noChangeShapeType="1" noTextEdit="1"/>
              </p:cNvSpPr>
              <p:nvPr/>
            </p:nvSpPr>
            <p:spPr>
              <a:xfrm>
                <a:off x="2821634" y="3174153"/>
                <a:ext cx="352661" cy="369332"/>
              </a:xfrm>
              <a:prstGeom prst="rect">
                <a:avLst/>
              </a:prstGeom>
              <a:blipFill>
                <a:blip r:embed="rId12"/>
                <a:stretch>
                  <a:fillRect l="-22414" r="-20690" b="-21667"/>
                </a:stretch>
              </a:blipFill>
            </p:spPr>
            <p:txBody>
              <a:bodyPr/>
              <a:lstStyle/>
              <a:p>
                <a:r>
                  <a:rPr lang="vi-VN">
                    <a:noFill/>
                  </a:rPr>
                  <a:t> </a:t>
                </a:r>
              </a:p>
            </p:txBody>
          </p:sp>
        </mc:Fallback>
      </mc:AlternateContent>
      <p:sp>
        <p:nvSpPr>
          <p:cNvPr id="21" name="Oval 20">
            <a:extLst>
              <a:ext uri="{FF2B5EF4-FFF2-40B4-BE49-F238E27FC236}">
                <a16:creationId xmlns:a16="http://schemas.microsoft.com/office/drawing/2014/main" id="{AFE09499-784B-9AF0-4E25-308EFB38EF98}"/>
              </a:ext>
            </a:extLst>
          </p:cNvPr>
          <p:cNvSpPr>
            <a:spLocks noChangeAspect="1"/>
          </p:cNvSpPr>
          <p:nvPr/>
        </p:nvSpPr>
        <p:spPr>
          <a:xfrm>
            <a:off x="2888966" y="2378279"/>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22" name="Straight Connector 21">
            <a:extLst>
              <a:ext uri="{FF2B5EF4-FFF2-40B4-BE49-F238E27FC236}">
                <a16:creationId xmlns:a16="http://schemas.microsoft.com/office/drawing/2014/main" id="{7D84E40E-E602-CA24-920F-CD7365B0006C}"/>
              </a:ext>
            </a:extLst>
          </p:cNvPr>
          <p:cNvCxnSpPr>
            <a:cxnSpLocks/>
            <a:endCxn id="21" idx="4"/>
          </p:cNvCxnSpPr>
          <p:nvPr/>
        </p:nvCxnSpPr>
        <p:spPr>
          <a:xfrm flipV="1">
            <a:off x="2996966" y="2579944"/>
            <a:ext cx="0" cy="827891"/>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4E0D28F-BC92-A193-85C7-C578BCC0A585}"/>
                  </a:ext>
                </a:extLst>
              </p:cNvPr>
              <p:cNvSpPr txBox="1"/>
              <p:nvPr/>
            </p:nvSpPr>
            <p:spPr>
              <a:xfrm>
                <a:off x="3232377" y="3556898"/>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25" name="TextBox 24">
                <a:extLst>
                  <a:ext uri="{FF2B5EF4-FFF2-40B4-BE49-F238E27FC236}">
                    <a16:creationId xmlns:a16="http://schemas.microsoft.com/office/drawing/2014/main" id="{C4E0D28F-BC92-A193-85C7-C578BCC0A585}"/>
                  </a:ext>
                </a:extLst>
              </p:cNvPr>
              <p:cNvSpPr txBox="1">
                <a:spLocks noRot="1" noChangeAspect="1" noMove="1" noResize="1" noEditPoints="1" noAdjustHandles="1" noChangeArrowheads="1" noChangeShapeType="1" noTextEdit="1"/>
              </p:cNvSpPr>
              <p:nvPr/>
            </p:nvSpPr>
            <p:spPr>
              <a:xfrm>
                <a:off x="3232377" y="3556898"/>
                <a:ext cx="136255" cy="276999"/>
              </a:xfrm>
              <a:prstGeom prst="rect">
                <a:avLst/>
              </a:prstGeom>
              <a:blipFill>
                <a:blip r:embed="rId13"/>
                <a:stretch>
                  <a:fillRect l="-34783" r="-30435" b="-6522"/>
                </a:stretch>
              </a:blipFill>
            </p:spPr>
            <p:txBody>
              <a:bodyPr/>
              <a:lstStyle/>
              <a:p>
                <a:r>
                  <a:rPr lang="vi-VN">
                    <a:noFill/>
                  </a:rPr>
                  <a:t> </a:t>
                </a:r>
              </a:p>
            </p:txBody>
          </p:sp>
        </mc:Fallback>
      </mc:AlternateContent>
      <p:sp>
        <p:nvSpPr>
          <p:cNvPr id="26" name="Oval 25">
            <a:extLst>
              <a:ext uri="{FF2B5EF4-FFF2-40B4-BE49-F238E27FC236}">
                <a16:creationId xmlns:a16="http://schemas.microsoft.com/office/drawing/2014/main" id="{C09F6967-3D7E-A9BB-AB08-3C231437CAF0}"/>
              </a:ext>
            </a:extLst>
          </p:cNvPr>
          <p:cNvSpPr>
            <a:spLocks noChangeAspect="1"/>
          </p:cNvSpPr>
          <p:nvPr/>
        </p:nvSpPr>
        <p:spPr>
          <a:xfrm>
            <a:off x="3553811" y="2380278"/>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27" name="Straight Connector 26">
            <a:extLst>
              <a:ext uri="{FF2B5EF4-FFF2-40B4-BE49-F238E27FC236}">
                <a16:creationId xmlns:a16="http://schemas.microsoft.com/office/drawing/2014/main" id="{45644AE4-7534-93E4-D396-3C5F6FBDE1E5}"/>
              </a:ext>
            </a:extLst>
          </p:cNvPr>
          <p:cNvCxnSpPr>
            <a:cxnSpLocks/>
            <a:endCxn id="26" idx="4"/>
          </p:cNvCxnSpPr>
          <p:nvPr/>
        </p:nvCxnSpPr>
        <p:spPr>
          <a:xfrm flipV="1">
            <a:off x="3661811" y="2581943"/>
            <a:ext cx="0" cy="1522926"/>
          </a:xfrm>
          <a:prstGeom prst="line">
            <a:avLst/>
          </a:prstGeom>
          <a:ln w="38100"/>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E7EAFD68-6E76-1B46-616E-3D47762B36E2}"/>
              </a:ext>
            </a:extLst>
          </p:cNvPr>
          <p:cNvCxnSpPr/>
          <p:nvPr/>
        </p:nvCxnSpPr>
        <p:spPr>
          <a:xfrm>
            <a:off x="4877073" y="2482918"/>
            <a:ext cx="338328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C9A8CAF5-C90A-049B-D303-4E082A8A3B7E}"/>
              </a:ext>
            </a:extLst>
          </p:cNvPr>
          <p:cNvCxnSpPr/>
          <p:nvPr/>
        </p:nvCxnSpPr>
        <p:spPr>
          <a:xfrm>
            <a:off x="4877073" y="2954807"/>
            <a:ext cx="3383280" cy="0"/>
          </a:xfrm>
          <a:prstGeom prst="line">
            <a:avLst/>
          </a:prstGeom>
          <a:ln w="38100"/>
        </p:spPr>
        <p:style>
          <a:lnRef idx="1">
            <a:schemeClr val="dk1"/>
          </a:lnRef>
          <a:fillRef idx="0">
            <a:schemeClr val="dk1"/>
          </a:fillRef>
          <a:effectRef idx="0">
            <a:schemeClr val="dk1"/>
          </a:effectRef>
          <a:fontRef idx="minor">
            <a:schemeClr val="tx1"/>
          </a:fontRef>
        </p:style>
      </p:cxnSp>
      <p:sp>
        <p:nvSpPr>
          <p:cNvPr id="31" name="Oval 30">
            <a:extLst>
              <a:ext uri="{FF2B5EF4-FFF2-40B4-BE49-F238E27FC236}">
                <a16:creationId xmlns:a16="http://schemas.microsoft.com/office/drawing/2014/main" id="{1202EA70-D646-153A-A217-E93C5B9C6ED4}"/>
              </a:ext>
            </a:extLst>
          </p:cNvPr>
          <p:cNvSpPr>
            <a:spLocks noChangeAspect="1"/>
          </p:cNvSpPr>
          <p:nvPr/>
        </p:nvSpPr>
        <p:spPr>
          <a:xfrm>
            <a:off x="6733031" y="2382085"/>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32" name="Straight Connector 31">
            <a:extLst>
              <a:ext uri="{FF2B5EF4-FFF2-40B4-BE49-F238E27FC236}">
                <a16:creationId xmlns:a16="http://schemas.microsoft.com/office/drawing/2014/main" id="{F3E341FA-E2A5-DB87-DC29-09A6861AB4FA}"/>
              </a:ext>
            </a:extLst>
          </p:cNvPr>
          <p:cNvCxnSpPr>
            <a:cxnSpLocks/>
            <a:endCxn id="31" idx="4"/>
          </p:cNvCxnSpPr>
          <p:nvPr/>
        </p:nvCxnSpPr>
        <p:spPr>
          <a:xfrm flipV="1">
            <a:off x="6841031" y="2583750"/>
            <a:ext cx="0" cy="371057"/>
          </a:xfrm>
          <a:prstGeom prst="line">
            <a:avLst/>
          </a:prstGeom>
          <a:ln w="38100"/>
        </p:spPr>
        <p:style>
          <a:lnRef idx="1">
            <a:schemeClr val="dk1"/>
          </a:lnRef>
          <a:fillRef idx="0">
            <a:schemeClr val="dk1"/>
          </a:fillRef>
          <a:effectRef idx="0">
            <a:schemeClr val="dk1"/>
          </a:effectRef>
          <a:fontRef idx="minor">
            <a:schemeClr val="tx1"/>
          </a:fontRef>
        </p:style>
      </p:cxnSp>
      <p:sp>
        <p:nvSpPr>
          <p:cNvPr id="33" name="Rectangle 32">
            <a:extLst>
              <a:ext uri="{FF2B5EF4-FFF2-40B4-BE49-F238E27FC236}">
                <a16:creationId xmlns:a16="http://schemas.microsoft.com/office/drawing/2014/main" id="{DD16230B-8AC3-0A6C-FF77-41A2BFAD4D6B}"/>
              </a:ext>
            </a:extLst>
          </p:cNvPr>
          <p:cNvSpPr/>
          <p:nvPr/>
        </p:nvSpPr>
        <p:spPr>
          <a:xfrm>
            <a:off x="4254828" y="2248139"/>
            <a:ext cx="4258405" cy="212770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7F784653-1277-3381-A70B-0E33D3A84EF4}"/>
                  </a:ext>
                </a:extLst>
              </p:cNvPr>
              <p:cNvSpPr/>
              <p:nvPr/>
            </p:nvSpPr>
            <p:spPr>
              <a:xfrm>
                <a:off x="5078692" y="2305598"/>
                <a:ext cx="1421361" cy="3556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𝑦</m:t>
                          </m:r>
                        </m:sub>
                      </m:sSub>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𝜋</m:t>
                          </m:r>
                          <m:r>
                            <a:rPr lang="en-US" sz="2400" b="0" i="1" smtClean="0">
                              <a:solidFill>
                                <a:schemeClr val="tx1"/>
                              </a:solidFill>
                              <a:latin typeface="Cambria Math" panose="02040503050406030204" pitchFamily="18" charset="0"/>
                            </a:rPr>
                            <m:t>/2</m:t>
                          </m:r>
                        </m:e>
                      </m:d>
                    </m:oMath>
                  </m:oMathPara>
                </a14:m>
                <a:endParaRPr lang="vi-VN" sz="2400">
                  <a:solidFill>
                    <a:schemeClr val="tx1"/>
                  </a:solidFill>
                </a:endParaRPr>
              </a:p>
            </p:txBody>
          </p:sp>
        </mc:Choice>
        <mc:Fallback xmlns="">
          <p:sp>
            <p:nvSpPr>
              <p:cNvPr id="34" name="Rectangle 33">
                <a:extLst>
                  <a:ext uri="{FF2B5EF4-FFF2-40B4-BE49-F238E27FC236}">
                    <a16:creationId xmlns:a16="http://schemas.microsoft.com/office/drawing/2014/main" id="{7F784653-1277-3381-A70B-0E33D3A84EF4}"/>
                  </a:ext>
                </a:extLst>
              </p:cNvPr>
              <p:cNvSpPr>
                <a:spLocks noRot="1" noChangeAspect="1" noMove="1" noResize="1" noEditPoints="1" noAdjustHandles="1" noChangeArrowheads="1" noChangeShapeType="1" noTextEdit="1"/>
              </p:cNvSpPr>
              <p:nvPr/>
            </p:nvSpPr>
            <p:spPr>
              <a:xfrm>
                <a:off x="5078692" y="2305598"/>
                <a:ext cx="1421361" cy="355600"/>
              </a:xfrm>
              <a:prstGeom prst="rect">
                <a:avLst/>
              </a:prstGeom>
              <a:blipFill>
                <a:blip r:embed="rId14"/>
                <a:stretch>
                  <a:fillRect t="-1639" b="-32787"/>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DE6DEC8-750D-AB45-E76C-5C924CF9AA44}"/>
                  </a:ext>
                </a:extLst>
              </p:cNvPr>
              <p:cNvSpPr txBox="1"/>
              <p:nvPr/>
            </p:nvSpPr>
            <p:spPr>
              <a:xfrm>
                <a:off x="4365410" y="2271290"/>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35" name="TextBox 34">
                <a:extLst>
                  <a:ext uri="{FF2B5EF4-FFF2-40B4-BE49-F238E27FC236}">
                    <a16:creationId xmlns:a16="http://schemas.microsoft.com/office/drawing/2014/main" id="{2DE6DEC8-750D-AB45-E76C-5C924CF9AA44}"/>
                  </a:ext>
                </a:extLst>
              </p:cNvPr>
              <p:cNvSpPr txBox="1">
                <a:spLocks noRot="1" noChangeAspect="1" noMove="1" noResize="1" noEditPoints="1" noAdjustHandles="1" noChangeArrowheads="1" noChangeShapeType="1" noTextEdit="1"/>
              </p:cNvSpPr>
              <p:nvPr/>
            </p:nvSpPr>
            <p:spPr>
              <a:xfrm>
                <a:off x="4365410" y="2271290"/>
                <a:ext cx="447238" cy="369332"/>
              </a:xfrm>
              <a:prstGeom prst="rect">
                <a:avLst/>
              </a:prstGeom>
              <a:blipFill>
                <a:blip r:embed="rId15"/>
                <a:stretch>
                  <a:fillRect l="-23288" r="-26027" b="-3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6E31380-B89D-39E7-9D2B-7DB64DB81419}"/>
                  </a:ext>
                </a:extLst>
              </p:cNvPr>
              <p:cNvSpPr txBox="1"/>
              <p:nvPr/>
            </p:nvSpPr>
            <p:spPr>
              <a:xfrm>
                <a:off x="4365410" y="2704558"/>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36" name="TextBox 35">
                <a:extLst>
                  <a:ext uri="{FF2B5EF4-FFF2-40B4-BE49-F238E27FC236}">
                    <a16:creationId xmlns:a16="http://schemas.microsoft.com/office/drawing/2014/main" id="{46E31380-B89D-39E7-9D2B-7DB64DB81419}"/>
                  </a:ext>
                </a:extLst>
              </p:cNvPr>
              <p:cNvSpPr txBox="1">
                <a:spLocks noRot="1" noChangeAspect="1" noMove="1" noResize="1" noEditPoints="1" noAdjustHandles="1" noChangeArrowheads="1" noChangeShapeType="1" noTextEdit="1"/>
              </p:cNvSpPr>
              <p:nvPr/>
            </p:nvSpPr>
            <p:spPr>
              <a:xfrm>
                <a:off x="4365410" y="2704558"/>
                <a:ext cx="447238" cy="369332"/>
              </a:xfrm>
              <a:prstGeom prst="rect">
                <a:avLst/>
              </a:prstGeom>
              <a:blipFill>
                <a:blip r:embed="rId16"/>
                <a:stretch>
                  <a:fillRect l="-23288" r="-26027" b="-3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E0B0D3C-C332-C7A5-DF52-2BC9CC7531CC}"/>
                  </a:ext>
                </a:extLst>
              </p:cNvPr>
              <p:cNvSpPr txBox="1"/>
              <p:nvPr/>
            </p:nvSpPr>
            <p:spPr>
              <a:xfrm>
                <a:off x="6666210" y="2735462"/>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37" name="TextBox 36">
                <a:extLst>
                  <a:ext uri="{FF2B5EF4-FFF2-40B4-BE49-F238E27FC236}">
                    <a16:creationId xmlns:a16="http://schemas.microsoft.com/office/drawing/2014/main" id="{5E0B0D3C-C332-C7A5-DF52-2BC9CC7531CC}"/>
                  </a:ext>
                </a:extLst>
              </p:cNvPr>
              <p:cNvSpPr txBox="1">
                <a:spLocks noRot="1" noChangeAspect="1" noMove="1" noResize="1" noEditPoints="1" noAdjustHandles="1" noChangeArrowheads="1" noChangeShapeType="1" noTextEdit="1"/>
              </p:cNvSpPr>
              <p:nvPr/>
            </p:nvSpPr>
            <p:spPr>
              <a:xfrm>
                <a:off x="6666210" y="2735462"/>
                <a:ext cx="352661" cy="369332"/>
              </a:xfrm>
              <a:prstGeom prst="rect">
                <a:avLst/>
              </a:prstGeom>
              <a:blipFill>
                <a:blip r:embed="rId17"/>
                <a:stretch>
                  <a:fillRect l="-22807" r="-22807" b="-21667"/>
                </a:stretch>
              </a:blipFill>
            </p:spPr>
            <p:txBody>
              <a:bodyPr/>
              <a:lstStyle/>
              <a:p>
                <a:r>
                  <a:rPr lang="vi-VN">
                    <a:noFill/>
                  </a:rPr>
                  <a:t> </a:t>
                </a:r>
              </a:p>
            </p:txBody>
          </p:sp>
        </mc:Fallback>
      </mc:AlternateContent>
      <p:cxnSp>
        <p:nvCxnSpPr>
          <p:cNvPr id="38" name="Straight Connector 37">
            <a:extLst>
              <a:ext uri="{FF2B5EF4-FFF2-40B4-BE49-F238E27FC236}">
                <a16:creationId xmlns:a16="http://schemas.microsoft.com/office/drawing/2014/main" id="{F916E1E2-1230-9C3B-1677-213327140732}"/>
              </a:ext>
            </a:extLst>
          </p:cNvPr>
          <p:cNvCxnSpPr/>
          <p:nvPr/>
        </p:nvCxnSpPr>
        <p:spPr>
          <a:xfrm>
            <a:off x="4877073" y="4104869"/>
            <a:ext cx="3383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5136928-3FC2-C2FE-CC0C-1A0D539B269A}"/>
                  </a:ext>
                </a:extLst>
              </p:cNvPr>
              <p:cNvSpPr txBox="1"/>
              <p:nvPr/>
            </p:nvSpPr>
            <p:spPr>
              <a:xfrm>
                <a:off x="4365410" y="3854620"/>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39" name="TextBox 38">
                <a:extLst>
                  <a:ext uri="{FF2B5EF4-FFF2-40B4-BE49-F238E27FC236}">
                    <a16:creationId xmlns:a16="http://schemas.microsoft.com/office/drawing/2014/main" id="{B5136928-3FC2-C2FE-CC0C-1A0D539B269A}"/>
                  </a:ext>
                </a:extLst>
              </p:cNvPr>
              <p:cNvSpPr txBox="1">
                <a:spLocks noRot="1" noChangeAspect="1" noMove="1" noResize="1" noEditPoints="1" noAdjustHandles="1" noChangeArrowheads="1" noChangeShapeType="1" noTextEdit="1"/>
              </p:cNvSpPr>
              <p:nvPr/>
            </p:nvSpPr>
            <p:spPr>
              <a:xfrm>
                <a:off x="4365410" y="3854620"/>
                <a:ext cx="447238" cy="369332"/>
              </a:xfrm>
              <a:prstGeom prst="rect">
                <a:avLst/>
              </a:prstGeom>
              <a:blipFill>
                <a:blip r:embed="rId18"/>
                <a:stretch>
                  <a:fillRect l="-23288" r="-26027" b="-344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D80B6C7-97C2-1588-68EE-EB3104518008}"/>
                  </a:ext>
                </a:extLst>
              </p:cNvPr>
              <p:cNvSpPr txBox="1"/>
              <p:nvPr/>
            </p:nvSpPr>
            <p:spPr>
              <a:xfrm>
                <a:off x="7767589" y="3891972"/>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40" name="TextBox 39">
                <a:extLst>
                  <a:ext uri="{FF2B5EF4-FFF2-40B4-BE49-F238E27FC236}">
                    <a16:creationId xmlns:a16="http://schemas.microsoft.com/office/drawing/2014/main" id="{ED80B6C7-97C2-1588-68EE-EB3104518008}"/>
                  </a:ext>
                </a:extLst>
              </p:cNvPr>
              <p:cNvSpPr txBox="1">
                <a:spLocks noRot="1" noChangeAspect="1" noMove="1" noResize="1" noEditPoints="1" noAdjustHandles="1" noChangeArrowheads="1" noChangeShapeType="1" noTextEdit="1"/>
              </p:cNvSpPr>
              <p:nvPr/>
            </p:nvSpPr>
            <p:spPr>
              <a:xfrm>
                <a:off x="7767589" y="3891972"/>
                <a:ext cx="352661" cy="369332"/>
              </a:xfrm>
              <a:prstGeom prst="rect">
                <a:avLst/>
              </a:prstGeom>
              <a:blipFill>
                <a:blip r:embed="rId19"/>
                <a:stretch>
                  <a:fillRect l="-20690" r="-22414" b="-21311"/>
                </a:stretch>
              </a:blipFill>
            </p:spPr>
            <p:txBody>
              <a:bodyPr/>
              <a:lstStyle/>
              <a:p>
                <a:r>
                  <a:rPr lang="vi-VN">
                    <a:noFill/>
                  </a:rPr>
                  <a:t> </a:t>
                </a:r>
              </a:p>
            </p:txBody>
          </p:sp>
        </mc:Fallback>
      </mc:AlternateContent>
      <p:cxnSp>
        <p:nvCxnSpPr>
          <p:cNvPr id="41" name="Straight Connector 40">
            <a:extLst>
              <a:ext uri="{FF2B5EF4-FFF2-40B4-BE49-F238E27FC236}">
                <a16:creationId xmlns:a16="http://schemas.microsoft.com/office/drawing/2014/main" id="{893FF0B3-72AE-26B5-E62D-708080167FC0}"/>
              </a:ext>
            </a:extLst>
          </p:cNvPr>
          <p:cNvCxnSpPr/>
          <p:nvPr/>
        </p:nvCxnSpPr>
        <p:spPr>
          <a:xfrm>
            <a:off x="4877073" y="3397258"/>
            <a:ext cx="3383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720AC82-4FF7-6EC5-B3AA-8D1A69356ABC}"/>
                  </a:ext>
                </a:extLst>
              </p:cNvPr>
              <p:cNvSpPr txBox="1"/>
              <p:nvPr/>
            </p:nvSpPr>
            <p:spPr>
              <a:xfrm>
                <a:off x="4365410" y="3147009"/>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42" name="TextBox 41">
                <a:extLst>
                  <a:ext uri="{FF2B5EF4-FFF2-40B4-BE49-F238E27FC236}">
                    <a16:creationId xmlns:a16="http://schemas.microsoft.com/office/drawing/2014/main" id="{6720AC82-4FF7-6EC5-B3AA-8D1A69356ABC}"/>
                  </a:ext>
                </a:extLst>
              </p:cNvPr>
              <p:cNvSpPr txBox="1">
                <a:spLocks noRot="1" noChangeAspect="1" noMove="1" noResize="1" noEditPoints="1" noAdjustHandles="1" noChangeArrowheads="1" noChangeShapeType="1" noTextEdit="1"/>
              </p:cNvSpPr>
              <p:nvPr/>
            </p:nvSpPr>
            <p:spPr>
              <a:xfrm>
                <a:off x="4365410" y="3147009"/>
                <a:ext cx="447238" cy="369332"/>
              </a:xfrm>
              <a:prstGeom prst="rect">
                <a:avLst/>
              </a:prstGeom>
              <a:blipFill>
                <a:blip r:embed="rId20"/>
                <a:stretch>
                  <a:fillRect l="-23288" r="-26027" b="-344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93B1ABB-AA16-5D70-01DA-3F9D020B9DB0}"/>
                  </a:ext>
                </a:extLst>
              </p:cNvPr>
              <p:cNvSpPr txBox="1"/>
              <p:nvPr/>
            </p:nvSpPr>
            <p:spPr>
              <a:xfrm>
                <a:off x="7107985" y="3174153"/>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43" name="TextBox 42">
                <a:extLst>
                  <a:ext uri="{FF2B5EF4-FFF2-40B4-BE49-F238E27FC236}">
                    <a16:creationId xmlns:a16="http://schemas.microsoft.com/office/drawing/2014/main" id="{993B1ABB-AA16-5D70-01DA-3F9D020B9DB0}"/>
                  </a:ext>
                </a:extLst>
              </p:cNvPr>
              <p:cNvSpPr txBox="1">
                <a:spLocks noRot="1" noChangeAspect="1" noMove="1" noResize="1" noEditPoints="1" noAdjustHandles="1" noChangeArrowheads="1" noChangeShapeType="1" noTextEdit="1"/>
              </p:cNvSpPr>
              <p:nvPr/>
            </p:nvSpPr>
            <p:spPr>
              <a:xfrm>
                <a:off x="7107985" y="3174153"/>
                <a:ext cx="352661" cy="369332"/>
              </a:xfrm>
              <a:prstGeom prst="rect">
                <a:avLst/>
              </a:prstGeom>
              <a:blipFill>
                <a:blip r:embed="rId21"/>
                <a:stretch>
                  <a:fillRect l="-20690" r="-22414" b="-21667"/>
                </a:stretch>
              </a:blipFill>
            </p:spPr>
            <p:txBody>
              <a:bodyPr/>
              <a:lstStyle/>
              <a:p>
                <a:r>
                  <a:rPr lang="vi-VN">
                    <a:noFill/>
                  </a:rPr>
                  <a:t> </a:t>
                </a:r>
              </a:p>
            </p:txBody>
          </p:sp>
        </mc:Fallback>
      </mc:AlternateContent>
      <p:sp>
        <p:nvSpPr>
          <p:cNvPr id="44" name="Oval 43">
            <a:extLst>
              <a:ext uri="{FF2B5EF4-FFF2-40B4-BE49-F238E27FC236}">
                <a16:creationId xmlns:a16="http://schemas.microsoft.com/office/drawing/2014/main" id="{6AB2DE49-AB88-4E8E-7557-8471E1427D26}"/>
              </a:ext>
            </a:extLst>
          </p:cNvPr>
          <p:cNvSpPr>
            <a:spLocks noChangeAspect="1"/>
          </p:cNvSpPr>
          <p:nvPr/>
        </p:nvSpPr>
        <p:spPr>
          <a:xfrm>
            <a:off x="7175317" y="2850301"/>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45" name="Straight Connector 44">
            <a:extLst>
              <a:ext uri="{FF2B5EF4-FFF2-40B4-BE49-F238E27FC236}">
                <a16:creationId xmlns:a16="http://schemas.microsoft.com/office/drawing/2014/main" id="{0239B13C-1EFD-1790-DB95-C477D24687C4}"/>
              </a:ext>
            </a:extLst>
          </p:cNvPr>
          <p:cNvCxnSpPr>
            <a:cxnSpLocks/>
            <a:endCxn id="44" idx="4"/>
          </p:cNvCxnSpPr>
          <p:nvPr/>
        </p:nvCxnSpPr>
        <p:spPr>
          <a:xfrm flipV="1">
            <a:off x="7283317" y="3051966"/>
            <a:ext cx="0" cy="34529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7FB84B1-1EF0-B3D0-10E4-43D7F3DC71BF}"/>
                  </a:ext>
                </a:extLst>
              </p:cNvPr>
              <p:cNvSpPr txBox="1"/>
              <p:nvPr/>
            </p:nvSpPr>
            <p:spPr>
              <a:xfrm>
                <a:off x="7518728" y="3556898"/>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46" name="TextBox 45">
                <a:extLst>
                  <a:ext uri="{FF2B5EF4-FFF2-40B4-BE49-F238E27FC236}">
                    <a16:creationId xmlns:a16="http://schemas.microsoft.com/office/drawing/2014/main" id="{37FB84B1-1EF0-B3D0-10E4-43D7F3DC71BF}"/>
                  </a:ext>
                </a:extLst>
              </p:cNvPr>
              <p:cNvSpPr txBox="1">
                <a:spLocks noRot="1" noChangeAspect="1" noMove="1" noResize="1" noEditPoints="1" noAdjustHandles="1" noChangeArrowheads="1" noChangeShapeType="1" noTextEdit="1"/>
              </p:cNvSpPr>
              <p:nvPr/>
            </p:nvSpPr>
            <p:spPr>
              <a:xfrm>
                <a:off x="7518728" y="3556898"/>
                <a:ext cx="136255" cy="276999"/>
              </a:xfrm>
              <a:prstGeom prst="rect">
                <a:avLst/>
              </a:prstGeom>
              <a:blipFill>
                <a:blip r:embed="rId22"/>
                <a:stretch>
                  <a:fillRect l="-34783" r="-30435" b="-6522"/>
                </a:stretch>
              </a:blipFill>
            </p:spPr>
            <p:txBody>
              <a:bodyPr/>
              <a:lstStyle/>
              <a:p>
                <a:r>
                  <a:rPr lang="vi-VN">
                    <a:noFill/>
                  </a:rPr>
                  <a:t> </a:t>
                </a:r>
              </a:p>
            </p:txBody>
          </p:sp>
        </mc:Fallback>
      </mc:AlternateContent>
      <p:cxnSp>
        <p:nvCxnSpPr>
          <p:cNvPr id="48" name="Straight Connector 47">
            <a:extLst>
              <a:ext uri="{FF2B5EF4-FFF2-40B4-BE49-F238E27FC236}">
                <a16:creationId xmlns:a16="http://schemas.microsoft.com/office/drawing/2014/main" id="{C4230919-F5AE-D30F-D49F-DB622EE0E918}"/>
              </a:ext>
            </a:extLst>
          </p:cNvPr>
          <p:cNvCxnSpPr>
            <a:cxnSpLocks/>
          </p:cNvCxnSpPr>
          <p:nvPr/>
        </p:nvCxnSpPr>
        <p:spPr>
          <a:xfrm flipV="1">
            <a:off x="7948162" y="3780368"/>
            <a:ext cx="0" cy="324501"/>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2" name="Hộp Văn bản 3">
                <a:extLst>
                  <a:ext uri="{FF2B5EF4-FFF2-40B4-BE49-F238E27FC236}">
                    <a16:creationId xmlns:a16="http://schemas.microsoft.com/office/drawing/2014/main" id="{7055E474-0A47-6E21-76F0-86A550DF675D}"/>
                  </a:ext>
                </a:extLst>
              </p:cNvPr>
              <p:cNvSpPr txBox="1"/>
              <p:nvPr/>
            </p:nvSpPr>
            <p:spPr>
              <a:xfrm>
                <a:off x="838200" y="6235508"/>
                <a:ext cx="8009967" cy="461665"/>
              </a:xfrm>
              <a:prstGeom prst="rect">
                <a:avLst/>
              </a:prstGeom>
              <a:noFill/>
            </p:spPr>
            <p:txBody>
              <a:bodyPr wrap="square" rtlCol="0">
                <a:spAutoFit/>
              </a:bodyPr>
              <a:lstStyle/>
              <a:p>
                <a:r>
                  <a:rPr lang="en-US" sz="2400" b="1">
                    <a:solidFill>
                      <a:srgbClr val="FF0000"/>
                    </a:solidFill>
                  </a:rPr>
                  <a:t>Exercise</a:t>
                </a:r>
                <a:r>
                  <a:rPr lang="en-US" sz="2400">
                    <a:solidFill>
                      <a:srgbClr val="FF0000"/>
                    </a:solidFill>
                  </a:rPr>
                  <a:t>: How to prepare </a:t>
                </a:r>
                <a14:m>
                  <m:oMath xmlns:m="http://schemas.openxmlformats.org/officeDocument/2006/math">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𝑊</m:t>
                        </m:r>
                      </m:e>
                    </m:d>
                    <m:r>
                      <a:rPr lang="en-US" sz="2400" b="0" i="1" smtClean="0">
                        <a:solidFill>
                          <a:srgbClr val="FF0000"/>
                        </a:solidFill>
                        <a:latin typeface="Cambria Math" panose="02040503050406030204" pitchFamily="18" charset="0"/>
                      </a:rPr>
                      <m:t>?</m:t>
                    </m:r>
                  </m:oMath>
                </a14:m>
                <a:endParaRPr lang="en-US" sz="2400">
                  <a:solidFill>
                    <a:srgbClr val="FF0000"/>
                  </a:solidFill>
                </a:endParaRPr>
              </a:p>
            </p:txBody>
          </p:sp>
        </mc:Choice>
        <mc:Fallback xmlns="">
          <p:sp>
            <p:nvSpPr>
              <p:cNvPr id="52" name="Hộp Văn bản 3">
                <a:extLst>
                  <a:ext uri="{FF2B5EF4-FFF2-40B4-BE49-F238E27FC236}">
                    <a16:creationId xmlns:a16="http://schemas.microsoft.com/office/drawing/2014/main" id="{7055E474-0A47-6E21-76F0-86A550DF675D}"/>
                  </a:ext>
                </a:extLst>
              </p:cNvPr>
              <p:cNvSpPr txBox="1">
                <a:spLocks noRot="1" noChangeAspect="1" noMove="1" noResize="1" noEditPoints="1" noAdjustHandles="1" noChangeArrowheads="1" noChangeShapeType="1" noTextEdit="1"/>
              </p:cNvSpPr>
              <p:nvPr/>
            </p:nvSpPr>
            <p:spPr>
              <a:xfrm>
                <a:off x="838200" y="6235508"/>
                <a:ext cx="8009967" cy="461665"/>
              </a:xfrm>
              <a:prstGeom prst="rect">
                <a:avLst/>
              </a:prstGeom>
              <a:blipFill>
                <a:blip r:embed="rId23"/>
                <a:stretch>
                  <a:fillRect l="-1219" t="-10526" b="-28947"/>
                </a:stretch>
              </a:blipFill>
            </p:spPr>
            <p:txBody>
              <a:bodyPr/>
              <a:lstStyle/>
              <a:p>
                <a:r>
                  <a:rPr lang="vi-VN">
                    <a:noFill/>
                  </a:rPr>
                  <a:t> </a:t>
                </a:r>
              </a:p>
            </p:txBody>
          </p:sp>
        </mc:Fallback>
      </mc:AlternateContent>
      <p:sp>
        <p:nvSpPr>
          <p:cNvPr id="53" name="Rectangle 52">
            <a:extLst>
              <a:ext uri="{FF2B5EF4-FFF2-40B4-BE49-F238E27FC236}">
                <a16:creationId xmlns:a16="http://schemas.microsoft.com/office/drawing/2014/main" id="{FD1FAFC9-CE55-82D9-4060-EEB0B5A4BBC3}"/>
              </a:ext>
            </a:extLst>
          </p:cNvPr>
          <p:cNvSpPr/>
          <p:nvPr/>
        </p:nvSpPr>
        <p:spPr>
          <a:xfrm>
            <a:off x="838200" y="6305033"/>
            <a:ext cx="7997516" cy="3786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45542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8" name="Straight Connector 107">
            <a:extLst>
              <a:ext uri="{FF2B5EF4-FFF2-40B4-BE49-F238E27FC236}">
                <a16:creationId xmlns:a16="http://schemas.microsoft.com/office/drawing/2014/main" id="{525F153F-71BD-C255-A858-EA9C4BDE6A0F}"/>
              </a:ext>
            </a:extLst>
          </p:cNvPr>
          <p:cNvCxnSpPr/>
          <p:nvPr/>
        </p:nvCxnSpPr>
        <p:spPr>
          <a:xfrm>
            <a:off x="562282" y="5506716"/>
            <a:ext cx="310896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950565C2-F82C-473A-6066-35D416FF5102}"/>
              </a:ext>
            </a:extLst>
          </p:cNvPr>
          <p:cNvCxnSpPr/>
          <p:nvPr/>
        </p:nvCxnSpPr>
        <p:spPr>
          <a:xfrm>
            <a:off x="562282" y="5978605"/>
            <a:ext cx="3108960" cy="0"/>
          </a:xfrm>
          <a:prstGeom prst="line">
            <a:avLst/>
          </a:prstGeom>
          <a:ln w="38100"/>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F7C1EC4-73F5-8B0E-2919-DFA28C46825B}"/>
              </a:ext>
            </a:extLst>
          </p:cNvPr>
          <p:cNvSpPr>
            <a:spLocks noGrp="1"/>
          </p:cNvSpPr>
          <p:nvPr>
            <p:ph type="title"/>
          </p:nvPr>
        </p:nvSpPr>
        <p:spPr>
          <a:xfrm>
            <a:off x="838200" y="-7405"/>
            <a:ext cx="10515600" cy="1325563"/>
          </a:xfrm>
        </p:spPr>
        <p:txBody>
          <a:bodyPr/>
          <a:lstStyle/>
          <a:p>
            <a:r>
              <a:rPr lang="en-VN"/>
              <a:t>Entangled state</a:t>
            </a:r>
            <a:r>
              <a:rPr lang="en-US"/>
              <a:t>s: GHZ and W</a:t>
            </a:r>
            <a:endParaRPr lang="vi-VN"/>
          </a:p>
        </p:txBody>
      </p:sp>
      <p:sp>
        <p:nvSpPr>
          <p:cNvPr id="4" name="Slide Number Placeholder 3">
            <a:extLst>
              <a:ext uri="{FF2B5EF4-FFF2-40B4-BE49-F238E27FC236}">
                <a16:creationId xmlns:a16="http://schemas.microsoft.com/office/drawing/2014/main" id="{EA35A9D9-1BC5-24E3-2907-FF6FBA5B79F5}"/>
              </a:ext>
            </a:extLst>
          </p:cNvPr>
          <p:cNvSpPr>
            <a:spLocks noGrp="1"/>
          </p:cNvSpPr>
          <p:nvPr>
            <p:ph type="sldNum" sz="quarter" idx="12"/>
          </p:nvPr>
        </p:nvSpPr>
        <p:spPr/>
        <p:txBody>
          <a:bodyPr/>
          <a:lstStyle/>
          <a:p>
            <a:fld id="{71331178-9F85-4EDF-BDD3-1E7064DA4C59}" type="slidenum">
              <a:rPr lang="vi-VN" smtClean="0"/>
              <a:t>27</a:t>
            </a:fld>
            <a:endParaRPr lang="vi-VN"/>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662534FE-095A-9A66-50AD-1E9AB7373361}"/>
                  </a:ext>
                </a:extLst>
              </p:cNvPr>
              <p:cNvSpPr txBox="1">
                <a:spLocks/>
              </p:cNvSpPr>
              <p:nvPr/>
            </p:nvSpPr>
            <p:spPr>
              <a:xfrm>
                <a:off x="838200" y="1602512"/>
                <a:ext cx="8106177" cy="7823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d>
                      <m:dPr>
                        <m:begChr m:val="|"/>
                        <m:endChr m:val="⟩"/>
                        <m:ctrlPr>
                          <a:rPr lang="en-US" i="1" smtClean="0">
                            <a:latin typeface="Cambria Math" panose="02040503050406030204" pitchFamily="18" charset="0"/>
                          </a:rPr>
                        </m:ctrlPr>
                      </m:dPr>
                      <m:e>
                        <m:r>
                          <a:rPr lang="en-US" i="1" smtClean="0">
                            <a:latin typeface="Cambria Math" panose="02040503050406030204" pitchFamily="18" charset="0"/>
                          </a:rPr>
                          <m:t>𝑊</m:t>
                        </m:r>
                      </m:e>
                    </m:d>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i="1" smtClean="0">
                            <a:latin typeface="Cambria Math" panose="02040503050406030204" pitchFamily="18" charset="0"/>
                          </a:rPr>
                          <m:t>1</m:t>
                        </m:r>
                      </m:num>
                      <m:den>
                        <m:rad>
                          <m:radPr>
                            <m:degHide m:val="on"/>
                            <m:ctrlPr>
                              <a:rPr lang="en-US" i="1" smtClean="0">
                                <a:latin typeface="Cambria Math" panose="02040503050406030204" pitchFamily="18" charset="0"/>
                              </a:rPr>
                            </m:ctrlPr>
                          </m:radPr>
                          <m:deg/>
                          <m:e>
                            <m:r>
                              <a:rPr lang="en-US" i="1" smtClean="0">
                                <a:latin typeface="Cambria Math" panose="02040503050406030204" pitchFamily="18" charset="0"/>
                              </a:rPr>
                              <m:t>2</m:t>
                            </m:r>
                          </m:e>
                        </m:rad>
                      </m:den>
                    </m:f>
                    <m:d>
                      <m:dPr>
                        <m:ctrlPr>
                          <a:rPr lang="en-US"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00…10</m:t>
                            </m:r>
                          </m:e>
                        </m:d>
                        <m:r>
                          <a:rPr lang="en-US" b="0" i="1" smtClean="0">
                            <a:latin typeface="Cambria Math" panose="02040503050406030204" pitchFamily="18" charset="0"/>
                          </a:rPr>
                          <m:t>+…+|10…0⟩</m:t>
                        </m:r>
                      </m:e>
                    </m:d>
                  </m:oMath>
                </a14:m>
                <a:r>
                  <a:rPr lang="en-US"/>
                  <a:t> </a:t>
                </a:r>
                <a:endParaRPr lang="vi-VN"/>
              </a:p>
            </p:txBody>
          </p:sp>
        </mc:Choice>
        <mc:Fallback xmlns="">
          <p:sp>
            <p:nvSpPr>
              <p:cNvPr id="5" name="Content Placeholder 2">
                <a:extLst>
                  <a:ext uri="{FF2B5EF4-FFF2-40B4-BE49-F238E27FC236}">
                    <a16:creationId xmlns:a16="http://schemas.microsoft.com/office/drawing/2014/main" id="{662534FE-095A-9A66-50AD-1E9AB7373361}"/>
                  </a:ext>
                </a:extLst>
              </p:cNvPr>
              <p:cNvSpPr txBox="1">
                <a:spLocks noRot="1" noChangeAspect="1" noMove="1" noResize="1" noEditPoints="1" noAdjustHandles="1" noChangeArrowheads="1" noChangeShapeType="1" noTextEdit="1"/>
              </p:cNvSpPr>
              <p:nvPr/>
            </p:nvSpPr>
            <p:spPr>
              <a:xfrm>
                <a:off x="838200" y="1602512"/>
                <a:ext cx="8106177" cy="782347"/>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Hộp Văn bản 3">
                <a:extLst>
                  <a:ext uri="{FF2B5EF4-FFF2-40B4-BE49-F238E27FC236}">
                    <a16:creationId xmlns:a16="http://schemas.microsoft.com/office/drawing/2014/main" id="{7055E474-0A47-6E21-76F0-86A550DF675D}"/>
                  </a:ext>
                </a:extLst>
              </p:cNvPr>
              <p:cNvSpPr txBox="1"/>
              <p:nvPr/>
            </p:nvSpPr>
            <p:spPr>
              <a:xfrm>
                <a:off x="946861" y="1059296"/>
                <a:ext cx="8009967" cy="461665"/>
              </a:xfrm>
              <a:prstGeom prst="rect">
                <a:avLst/>
              </a:prstGeom>
              <a:noFill/>
            </p:spPr>
            <p:txBody>
              <a:bodyPr wrap="square" rtlCol="0">
                <a:spAutoFit/>
              </a:bodyPr>
              <a:lstStyle/>
              <a:p>
                <a:r>
                  <a:rPr lang="en-US" sz="2400" b="1">
                    <a:solidFill>
                      <a:srgbClr val="FF0000"/>
                    </a:solidFill>
                  </a:rPr>
                  <a:t>Exercise</a:t>
                </a:r>
                <a:r>
                  <a:rPr lang="en-US" sz="2400">
                    <a:solidFill>
                      <a:srgbClr val="FF0000"/>
                    </a:solidFill>
                  </a:rPr>
                  <a:t>: How to prepare </a:t>
                </a:r>
                <a14:m>
                  <m:oMath xmlns:m="http://schemas.openxmlformats.org/officeDocument/2006/math">
                    <m:d>
                      <m:dPr>
                        <m:begChr m:val="|"/>
                        <m:endChr m:val="⟩"/>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𝑊</m:t>
                        </m:r>
                      </m:e>
                    </m:d>
                    <m:r>
                      <a:rPr lang="en-US" sz="2400" b="0" i="1" smtClean="0">
                        <a:solidFill>
                          <a:srgbClr val="FF0000"/>
                        </a:solidFill>
                        <a:latin typeface="Cambria Math" panose="02040503050406030204" pitchFamily="18" charset="0"/>
                      </a:rPr>
                      <m:t>?</m:t>
                    </m:r>
                  </m:oMath>
                </a14:m>
                <a:endParaRPr lang="en-US" sz="2400">
                  <a:solidFill>
                    <a:srgbClr val="FF0000"/>
                  </a:solidFill>
                </a:endParaRPr>
              </a:p>
            </p:txBody>
          </p:sp>
        </mc:Choice>
        <mc:Fallback xmlns="">
          <p:sp>
            <p:nvSpPr>
              <p:cNvPr id="52" name="Hộp Văn bản 3">
                <a:extLst>
                  <a:ext uri="{FF2B5EF4-FFF2-40B4-BE49-F238E27FC236}">
                    <a16:creationId xmlns:a16="http://schemas.microsoft.com/office/drawing/2014/main" id="{7055E474-0A47-6E21-76F0-86A550DF675D}"/>
                  </a:ext>
                </a:extLst>
              </p:cNvPr>
              <p:cNvSpPr txBox="1">
                <a:spLocks noRot="1" noChangeAspect="1" noMove="1" noResize="1" noEditPoints="1" noAdjustHandles="1" noChangeArrowheads="1" noChangeShapeType="1" noTextEdit="1"/>
              </p:cNvSpPr>
              <p:nvPr/>
            </p:nvSpPr>
            <p:spPr>
              <a:xfrm>
                <a:off x="946861" y="1059296"/>
                <a:ext cx="8009967" cy="461665"/>
              </a:xfrm>
              <a:prstGeom prst="rect">
                <a:avLst/>
              </a:prstGeom>
              <a:blipFill>
                <a:blip r:embed="rId4"/>
                <a:stretch>
                  <a:fillRect l="-1142" t="-10526" b="-28947"/>
                </a:stretch>
              </a:blipFill>
            </p:spPr>
            <p:txBody>
              <a:bodyPr/>
              <a:lstStyle/>
              <a:p>
                <a:r>
                  <a:rPr lang="vi-VN">
                    <a:noFill/>
                  </a:rPr>
                  <a:t> </a:t>
                </a:r>
              </a:p>
            </p:txBody>
          </p:sp>
        </mc:Fallback>
      </mc:AlternateContent>
      <p:sp>
        <p:nvSpPr>
          <p:cNvPr id="53" name="Rectangle 52">
            <a:extLst>
              <a:ext uri="{FF2B5EF4-FFF2-40B4-BE49-F238E27FC236}">
                <a16:creationId xmlns:a16="http://schemas.microsoft.com/office/drawing/2014/main" id="{FD1FAFC9-CE55-82D9-4060-EEB0B5A4BBC3}"/>
              </a:ext>
            </a:extLst>
          </p:cNvPr>
          <p:cNvSpPr/>
          <p:nvPr/>
        </p:nvSpPr>
        <p:spPr>
          <a:xfrm>
            <a:off x="946861" y="1128821"/>
            <a:ext cx="7997516" cy="3786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8" name="Straight Connector 27">
            <a:extLst>
              <a:ext uri="{FF2B5EF4-FFF2-40B4-BE49-F238E27FC236}">
                <a16:creationId xmlns:a16="http://schemas.microsoft.com/office/drawing/2014/main" id="{16BAACA1-84EC-FB4F-0EFD-6598E00D368C}"/>
              </a:ext>
            </a:extLst>
          </p:cNvPr>
          <p:cNvCxnSpPr/>
          <p:nvPr/>
        </p:nvCxnSpPr>
        <p:spPr>
          <a:xfrm>
            <a:off x="1458524" y="2853621"/>
            <a:ext cx="795528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39744C38-062B-CABE-03C4-2FBCEB25116F}"/>
              </a:ext>
            </a:extLst>
          </p:cNvPr>
          <p:cNvCxnSpPr/>
          <p:nvPr/>
        </p:nvCxnSpPr>
        <p:spPr>
          <a:xfrm>
            <a:off x="1458524" y="3867370"/>
            <a:ext cx="7955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7629E8F7-CF4B-D50F-2973-436D1A4E2110}"/>
                  </a:ext>
                </a:extLst>
              </p:cNvPr>
              <p:cNvSpPr/>
              <p:nvPr/>
            </p:nvSpPr>
            <p:spPr>
              <a:xfrm>
                <a:off x="1660143" y="2676301"/>
                <a:ext cx="475673" cy="3556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𝑋</m:t>
                      </m:r>
                    </m:oMath>
                  </m:oMathPara>
                </a14:m>
                <a:endParaRPr lang="vi-VN" sz="2400">
                  <a:solidFill>
                    <a:schemeClr val="tx1"/>
                  </a:solidFill>
                </a:endParaRPr>
              </a:p>
            </p:txBody>
          </p:sp>
        </mc:Choice>
        <mc:Fallback xmlns="">
          <p:sp>
            <p:nvSpPr>
              <p:cNvPr id="51" name="Rectangle 50">
                <a:extLst>
                  <a:ext uri="{FF2B5EF4-FFF2-40B4-BE49-F238E27FC236}">
                    <a16:creationId xmlns:a16="http://schemas.microsoft.com/office/drawing/2014/main" id="{7629E8F7-CF4B-D50F-2973-436D1A4E2110}"/>
                  </a:ext>
                </a:extLst>
              </p:cNvPr>
              <p:cNvSpPr>
                <a:spLocks noRot="1" noChangeAspect="1" noMove="1" noResize="1" noEditPoints="1" noAdjustHandles="1" noChangeArrowheads="1" noChangeShapeType="1" noTextEdit="1"/>
              </p:cNvSpPr>
              <p:nvPr/>
            </p:nvSpPr>
            <p:spPr>
              <a:xfrm>
                <a:off x="1660143" y="2676301"/>
                <a:ext cx="475673" cy="355600"/>
              </a:xfrm>
              <a:prstGeom prst="rect">
                <a:avLst/>
              </a:prstGeom>
              <a:blipFill>
                <a:blip r:embed="rId5"/>
                <a:stretch>
                  <a:fillRect b="-11667"/>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F179B30-9674-3834-5236-FC8995160DCF}"/>
                  </a:ext>
                </a:extLst>
              </p:cNvPr>
              <p:cNvSpPr txBox="1"/>
              <p:nvPr/>
            </p:nvSpPr>
            <p:spPr>
              <a:xfrm>
                <a:off x="946861" y="2641993"/>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54" name="TextBox 53">
                <a:extLst>
                  <a:ext uri="{FF2B5EF4-FFF2-40B4-BE49-F238E27FC236}">
                    <a16:creationId xmlns:a16="http://schemas.microsoft.com/office/drawing/2014/main" id="{3F179B30-9674-3834-5236-FC8995160DCF}"/>
                  </a:ext>
                </a:extLst>
              </p:cNvPr>
              <p:cNvSpPr txBox="1">
                <a:spLocks noRot="1" noChangeAspect="1" noMove="1" noResize="1" noEditPoints="1" noAdjustHandles="1" noChangeArrowheads="1" noChangeShapeType="1" noTextEdit="1"/>
              </p:cNvSpPr>
              <p:nvPr/>
            </p:nvSpPr>
            <p:spPr>
              <a:xfrm>
                <a:off x="946861" y="2641993"/>
                <a:ext cx="447238" cy="369332"/>
              </a:xfrm>
              <a:prstGeom prst="rect">
                <a:avLst/>
              </a:prstGeom>
              <a:blipFill>
                <a:blip r:embed="rId6"/>
                <a:stretch>
                  <a:fillRect l="-22973" r="-24324" b="-344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95406708-D253-F6CC-B763-AB83A340652E}"/>
                  </a:ext>
                </a:extLst>
              </p:cNvPr>
              <p:cNvSpPr txBox="1"/>
              <p:nvPr/>
            </p:nvSpPr>
            <p:spPr>
              <a:xfrm>
                <a:off x="946861" y="3617121"/>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55" name="TextBox 54">
                <a:extLst>
                  <a:ext uri="{FF2B5EF4-FFF2-40B4-BE49-F238E27FC236}">
                    <a16:creationId xmlns:a16="http://schemas.microsoft.com/office/drawing/2014/main" id="{95406708-D253-F6CC-B763-AB83A340652E}"/>
                  </a:ext>
                </a:extLst>
              </p:cNvPr>
              <p:cNvSpPr txBox="1">
                <a:spLocks noRot="1" noChangeAspect="1" noMove="1" noResize="1" noEditPoints="1" noAdjustHandles="1" noChangeArrowheads="1" noChangeShapeType="1" noTextEdit="1"/>
              </p:cNvSpPr>
              <p:nvPr/>
            </p:nvSpPr>
            <p:spPr>
              <a:xfrm>
                <a:off x="946861" y="3617121"/>
                <a:ext cx="447238" cy="369332"/>
              </a:xfrm>
              <a:prstGeom prst="rect">
                <a:avLst/>
              </a:prstGeom>
              <a:blipFill>
                <a:blip r:embed="rId7"/>
                <a:stretch>
                  <a:fillRect l="-22973" r="-24324" b="-34426"/>
                </a:stretch>
              </a:blipFill>
            </p:spPr>
            <p:txBody>
              <a:bodyPr/>
              <a:lstStyle/>
              <a:p>
                <a:r>
                  <a:rPr lang="vi-VN">
                    <a:noFill/>
                  </a:rPr>
                  <a:t> </a:t>
                </a:r>
              </a:p>
            </p:txBody>
          </p:sp>
        </mc:Fallback>
      </mc:AlternateContent>
      <p:cxnSp>
        <p:nvCxnSpPr>
          <p:cNvPr id="57" name="Straight Connector 56">
            <a:extLst>
              <a:ext uri="{FF2B5EF4-FFF2-40B4-BE49-F238E27FC236}">
                <a16:creationId xmlns:a16="http://schemas.microsoft.com/office/drawing/2014/main" id="{13B26C49-1CF8-C2F6-6C22-7AF79787533B}"/>
              </a:ext>
            </a:extLst>
          </p:cNvPr>
          <p:cNvCxnSpPr/>
          <p:nvPr/>
        </p:nvCxnSpPr>
        <p:spPr>
          <a:xfrm>
            <a:off x="1458524" y="4757790"/>
            <a:ext cx="7955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F4271BB-F2E7-2579-244E-8E0F46902439}"/>
                  </a:ext>
                </a:extLst>
              </p:cNvPr>
              <p:cNvSpPr txBox="1"/>
              <p:nvPr/>
            </p:nvSpPr>
            <p:spPr>
              <a:xfrm>
                <a:off x="946861" y="4507541"/>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58" name="TextBox 57">
                <a:extLst>
                  <a:ext uri="{FF2B5EF4-FFF2-40B4-BE49-F238E27FC236}">
                    <a16:creationId xmlns:a16="http://schemas.microsoft.com/office/drawing/2014/main" id="{CF4271BB-F2E7-2579-244E-8E0F46902439}"/>
                  </a:ext>
                </a:extLst>
              </p:cNvPr>
              <p:cNvSpPr txBox="1">
                <a:spLocks noRot="1" noChangeAspect="1" noMove="1" noResize="1" noEditPoints="1" noAdjustHandles="1" noChangeArrowheads="1" noChangeShapeType="1" noTextEdit="1"/>
              </p:cNvSpPr>
              <p:nvPr/>
            </p:nvSpPr>
            <p:spPr>
              <a:xfrm>
                <a:off x="946861" y="4507541"/>
                <a:ext cx="447238" cy="369332"/>
              </a:xfrm>
              <a:prstGeom prst="rect">
                <a:avLst/>
              </a:prstGeom>
              <a:blipFill>
                <a:blip r:embed="rId8"/>
                <a:stretch>
                  <a:fillRect l="-22973" r="-24324" b="-34426"/>
                </a:stretch>
              </a:blipFill>
            </p:spPr>
            <p:txBody>
              <a:bodyPr/>
              <a:lstStyle/>
              <a:p>
                <a:r>
                  <a:rPr lang="vi-VN">
                    <a:noFill/>
                  </a:rPr>
                  <a:t> </a:t>
                </a:r>
              </a:p>
            </p:txBody>
          </p:sp>
        </mc:Fallback>
      </mc:AlternateContent>
      <p:cxnSp>
        <p:nvCxnSpPr>
          <p:cNvPr id="60" name="Straight Connector 59">
            <a:extLst>
              <a:ext uri="{FF2B5EF4-FFF2-40B4-BE49-F238E27FC236}">
                <a16:creationId xmlns:a16="http://schemas.microsoft.com/office/drawing/2014/main" id="{6E8DF0B0-D6FD-8452-E808-C7040D873602}"/>
              </a:ext>
            </a:extLst>
          </p:cNvPr>
          <p:cNvCxnSpPr/>
          <p:nvPr/>
        </p:nvCxnSpPr>
        <p:spPr>
          <a:xfrm>
            <a:off x="1458524" y="4309821"/>
            <a:ext cx="7955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D1C33EC-76B7-EF58-494E-64BA40AA2B34}"/>
                  </a:ext>
                </a:extLst>
              </p:cNvPr>
              <p:cNvSpPr txBox="1"/>
              <p:nvPr/>
            </p:nvSpPr>
            <p:spPr>
              <a:xfrm>
                <a:off x="946861" y="4059572"/>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61" name="TextBox 60">
                <a:extLst>
                  <a:ext uri="{FF2B5EF4-FFF2-40B4-BE49-F238E27FC236}">
                    <a16:creationId xmlns:a16="http://schemas.microsoft.com/office/drawing/2014/main" id="{9D1C33EC-76B7-EF58-494E-64BA40AA2B34}"/>
                  </a:ext>
                </a:extLst>
              </p:cNvPr>
              <p:cNvSpPr txBox="1">
                <a:spLocks noRot="1" noChangeAspect="1" noMove="1" noResize="1" noEditPoints="1" noAdjustHandles="1" noChangeArrowheads="1" noChangeShapeType="1" noTextEdit="1"/>
              </p:cNvSpPr>
              <p:nvPr/>
            </p:nvSpPr>
            <p:spPr>
              <a:xfrm>
                <a:off x="946861" y="4059572"/>
                <a:ext cx="447238" cy="369332"/>
              </a:xfrm>
              <a:prstGeom prst="rect">
                <a:avLst/>
              </a:prstGeom>
              <a:blipFill>
                <a:blip r:embed="rId9"/>
                <a:stretch>
                  <a:fillRect l="-22973" r="-24324" b="-3278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B83ADDE1-097F-B3EF-726F-9EFAEF4DC3D0}"/>
                  </a:ext>
                </a:extLst>
              </p:cNvPr>
              <p:cNvSpPr txBox="1"/>
              <p:nvPr/>
            </p:nvSpPr>
            <p:spPr>
              <a:xfrm>
                <a:off x="1829851" y="3465427"/>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65" name="TextBox 64">
                <a:extLst>
                  <a:ext uri="{FF2B5EF4-FFF2-40B4-BE49-F238E27FC236}">
                    <a16:creationId xmlns:a16="http://schemas.microsoft.com/office/drawing/2014/main" id="{B83ADDE1-097F-B3EF-726F-9EFAEF4DC3D0}"/>
                  </a:ext>
                </a:extLst>
              </p:cNvPr>
              <p:cNvSpPr txBox="1">
                <a:spLocks noRot="1" noChangeAspect="1" noMove="1" noResize="1" noEditPoints="1" noAdjustHandles="1" noChangeArrowheads="1" noChangeShapeType="1" noTextEdit="1"/>
              </p:cNvSpPr>
              <p:nvPr/>
            </p:nvSpPr>
            <p:spPr>
              <a:xfrm>
                <a:off x="1829851" y="3465427"/>
                <a:ext cx="136255" cy="276999"/>
              </a:xfrm>
              <a:prstGeom prst="rect">
                <a:avLst/>
              </a:prstGeom>
              <a:blipFill>
                <a:blip r:embed="rId10"/>
                <a:stretch>
                  <a:fillRect l="-34783" r="-30435" b="-6522"/>
                </a:stretch>
              </a:blipFill>
            </p:spPr>
            <p:txBody>
              <a:bodyPr/>
              <a:lstStyle/>
              <a:p>
                <a:r>
                  <a:rPr lang="vi-VN">
                    <a:noFill/>
                  </a:rPr>
                  <a:t> </a:t>
                </a:r>
              </a:p>
            </p:txBody>
          </p:sp>
        </mc:Fallback>
      </mc:AlternateContent>
      <p:cxnSp>
        <p:nvCxnSpPr>
          <p:cNvPr id="70" name="Straight Connector 69">
            <a:extLst>
              <a:ext uri="{FF2B5EF4-FFF2-40B4-BE49-F238E27FC236}">
                <a16:creationId xmlns:a16="http://schemas.microsoft.com/office/drawing/2014/main" id="{144885A3-3399-56C4-12B1-5B7358274831}"/>
              </a:ext>
            </a:extLst>
          </p:cNvPr>
          <p:cNvCxnSpPr/>
          <p:nvPr/>
        </p:nvCxnSpPr>
        <p:spPr>
          <a:xfrm>
            <a:off x="4543708" y="5490191"/>
            <a:ext cx="25603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36B6C4F1-621A-1BFA-BC72-4C60EEB46209}"/>
              </a:ext>
            </a:extLst>
          </p:cNvPr>
          <p:cNvCxnSpPr/>
          <p:nvPr/>
        </p:nvCxnSpPr>
        <p:spPr>
          <a:xfrm>
            <a:off x="4543708" y="5962080"/>
            <a:ext cx="25603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3EB13B85-8224-C370-9023-2FFF80F3216B}"/>
              </a:ext>
            </a:extLst>
          </p:cNvPr>
          <p:cNvCxnSpPr/>
          <p:nvPr/>
        </p:nvCxnSpPr>
        <p:spPr>
          <a:xfrm>
            <a:off x="4543708" y="6404531"/>
            <a:ext cx="25603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A872B687-5345-2123-8694-402A001BCAA8}"/>
                  </a:ext>
                </a:extLst>
              </p:cNvPr>
              <p:cNvSpPr txBox="1"/>
              <p:nvPr/>
            </p:nvSpPr>
            <p:spPr>
              <a:xfrm>
                <a:off x="5727766" y="5296612"/>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79" name="TextBox 78">
                <a:extLst>
                  <a:ext uri="{FF2B5EF4-FFF2-40B4-BE49-F238E27FC236}">
                    <a16:creationId xmlns:a16="http://schemas.microsoft.com/office/drawing/2014/main" id="{A872B687-5345-2123-8694-402A001BCAA8}"/>
                  </a:ext>
                </a:extLst>
              </p:cNvPr>
              <p:cNvSpPr txBox="1">
                <a:spLocks noRot="1" noChangeAspect="1" noMove="1" noResize="1" noEditPoints="1" noAdjustHandles="1" noChangeArrowheads="1" noChangeShapeType="1" noTextEdit="1"/>
              </p:cNvSpPr>
              <p:nvPr/>
            </p:nvSpPr>
            <p:spPr>
              <a:xfrm>
                <a:off x="5727766" y="5296612"/>
                <a:ext cx="352661" cy="369332"/>
              </a:xfrm>
              <a:prstGeom prst="rect">
                <a:avLst/>
              </a:prstGeom>
              <a:blipFill>
                <a:blip r:embed="rId11"/>
                <a:stretch>
                  <a:fillRect l="-22807" r="-22807" b="-21667"/>
                </a:stretch>
              </a:blipFill>
            </p:spPr>
            <p:txBody>
              <a:bodyPr/>
              <a:lstStyle/>
              <a:p>
                <a:r>
                  <a:rPr lang="vi-VN">
                    <a:noFill/>
                  </a:rPr>
                  <a:t> </a:t>
                </a:r>
              </a:p>
            </p:txBody>
          </p:sp>
        </mc:Fallback>
      </mc:AlternateContent>
      <p:sp>
        <p:nvSpPr>
          <p:cNvPr id="80" name="Oval 79">
            <a:extLst>
              <a:ext uri="{FF2B5EF4-FFF2-40B4-BE49-F238E27FC236}">
                <a16:creationId xmlns:a16="http://schemas.microsoft.com/office/drawing/2014/main" id="{7F167818-A983-C3F5-6166-CA26D2E23A06}"/>
              </a:ext>
            </a:extLst>
          </p:cNvPr>
          <p:cNvSpPr>
            <a:spLocks noChangeAspect="1"/>
          </p:cNvSpPr>
          <p:nvPr/>
        </p:nvSpPr>
        <p:spPr>
          <a:xfrm>
            <a:off x="5794459" y="5852931"/>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81" name="Straight Connector 80">
            <a:extLst>
              <a:ext uri="{FF2B5EF4-FFF2-40B4-BE49-F238E27FC236}">
                <a16:creationId xmlns:a16="http://schemas.microsoft.com/office/drawing/2014/main" id="{2F69E180-7153-899E-D6BB-EFF7D203C8A7}"/>
              </a:ext>
            </a:extLst>
          </p:cNvPr>
          <p:cNvCxnSpPr>
            <a:cxnSpLocks/>
            <a:endCxn id="80" idx="0"/>
          </p:cNvCxnSpPr>
          <p:nvPr/>
        </p:nvCxnSpPr>
        <p:spPr>
          <a:xfrm>
            <a:off x="5902459" y="5490191"/>
            <a:ext cx="0" cy="362740"/>
          </a:xfrm>
          <a:prstGeom prst="line">
            <a:avLst/>
          </a:prstGeom>
          <a:ln w="38100"/>
        </p:spPr>
        <p:style>
          <a:lnRef idx="1">
            <a:schemeClr val="dk1"/>
          </a:lnRef>
          <a:fillRef idx="0">
            <a:schemeClr val="dk1"/>
          </a:fillRef>
          <a:effectRef idx="0">
            <a:schemeClr val="dk1"/>
          </a:effectRef>
          <a:fontRef idx="minor">
            <a:schemeClr val="tx1"/>
          </a:fontRef>
        </p:style>
      </p:cxnSp>
      <p:sp>
        <p:nvSpPr>
          <p:cNvPr id="85" name="Oval 84">
            <a:extLst>
              <a:ext uri="{FF2B5EF4-FFF2-40B4-BE49-F238E27FC236}">
                <a16:creationId xmlns:a16="http://schemas.microsoft.com/office/drawing/2014/main" id="{7625033F-5C88-14F4-96EB-ABE1A043F1E0}"/>
              </a:ext>
            </a:extLst>
          </p:cNvPr>
          <p:cNvSpPr>
            <a:spLocks noChangeAspect="1"/>
          </p:cNvSpPr>
          <p:nvPr/>
        </p:nvSpPr>
        <p:spPr>
          <a:xfrm>
            <a:off x="6188646" y="5864124"/>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86" name="Straight Connector 85">
            <a:extLst>
              <a:ext uri="{FF2B5EF4-FFF2-40B4-BE49-F238E27FC236}">
                <a16:creationId xmlns:a16="http://schemas.microsoft.com/office/drawing/2014/main" id="{4BDC5399-93BA-1AB3-001B-D27001D4905B}"/>
              </a:ext>
            </a:extLst>
          </p:cNvPr>
          <p:cNvCxnSpPr>
            <a:cxnSpLocks/>
            <a:endCxn id="85" idx="4"/>
          </p:cNvCxnSpPr>
          <p:nvPr/>
        </p:nvCxnSpPr>
        <p:spPr>
          <a:xfrm flipV="1">
            <a:off x="6296646" y="6065789"/>
            <a:ext cx="0" cy="197228"/>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3713B83F-4BA4-97BA-CBE3-50DD147FF4A8}"/>
                  </a:ext>
                </a:extLst>
              </p:cNvPr>
              <p:cNvSpPr/>
              <p:nvPr/>
            </p:nvSpPr>
            <p:spPr>
              <a:xfrm>
                <a:off x="6049046" y="6213762"/>
                <a:ext cx="529128" cy="41926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𝐻</m:t>
                      </m:r>
                    </m:oMath>
                  </m:oMathPara>
                </a14:m>
                <a:endParaRPr lang="vi-VN" sz="2400">
                  <a:solidFill>
                    <a:schemeClr val="tx1"/>
                  </a:solidFill>
                </a:endParaRPr>
              </a:p>
            </p:txBody>
          </p:sp>
        </mc:Choice>
        <mc:Fallback xmlns="">
          <p:sp>
            <p:nvSpPr>
              <p:cNvPr id="87" name="Rectangle 86">
                <a:extLst>
                  <a:ext uri="{FF2B5EF4-FFF2-40B4-BE49-F238E27FC236}">
                    <a16:creationId xmlns:a16="http://schemas.microsoft.com/office/drawing/2014/main" id="{3713B83F-4BA4-97BA-CBE3-50DD147FF4A8}"/>
                  </a:ext>
                </a:extLst>
              </p:cNvPr>
              <p:cNvSpPr>
                <a:spLocks noRot="1" noChangeAspect="1" noMove="1" noResize="1" noEditPoints="1" noAdjustHandles="1" noChangeArrowheads="1" noChangeShapeType="1" noTextEdit="1"/>
              </p:cNvSpPr>
              <p:nvPr/>
            </p:nvSpPr>
            <p:spPr>
              <a:xfrm>
                <a:off x="6049046" y="6213762"/>
                <a:ext cx="529128" cy="419266"/>
              </a:xfrm>
              <a:prstGeom prst="rect">
                <a:avLst/>
              </a:prstGeom>
              <a:blipFill>
                <a:blip r:embed="rId12"/>
                <a:stretch>
                  <a:fillRect b="-1408"/>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BCE897F-DB3C-F501-20F4-0616068B7F65}"/>
                  </a:ext>
                </a:extLst>
              </p:cNvPr>
              <p:cNvSpPr txBox="1"/>
              <p:nvPr/>
            </p:nvSpPr>
            <p:spPr>
              <a:xfrm>
                <a:off x="6688247" y="5747379"/>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88" name="TextBox 87">
                <a:extLst>
                  <a:ext uri="{FF2B5EF4-FFF2-40B4-BE49-F238E27FC236}">
                    <a16:creationId xmlns:a16="http://schemas.microsoft.com/office/drawing/2014/main" id="{2BCE897F-DB3C-F501-20F4-0616068B7F65}"/>
                  </a:ext>
                </a:extLst>
              </p:cNvPr>
              <p:cNvSpPr txBox="1">
                <a:spLocks noRot="1" noChangeAspect="1" noMove="1" noResize="1" noEditPoints="1" noAdjustHandles="1" noChangeArrowheads="1" noChangeShapeType="1" noTextEdit="1"/>
              </p:cNvSpPr>
              <p:nvPr/>
            </p:nvSpPr>
            <p:spPr>
              <a:xfrm>
                <a:off x="6688247" y="5747379"/>
                <a:ext cx="352661" cy="369332"/>
              </a:xfrm>
              <a:prstGeom prst="rect">
                <a:avLst/>
              </a:prstGeom>
              <a:blipFill>
                <a:blip r:embed="rId13"/>
                <a:stretch>
                  <a:fillRect l="-20690" r="-22414" b="-21667"/>
                </a:stretch>
              </a:blipFill>
            </p:spPr>
            <p:txBody>
              <a:bodyPr/>
              <a:lstStyle/>
              <a:p>
                <a:r>
                  <a:rPr lang="vi-VN">
                    <a:noFill/>
                  </a:rPr>
                  <a:t> </a:t>
                </a:r>
              </a:p>
            </p:txBody>
          </p:sp>
        </mc:Fallback>
      </mc:AlternateContent>
      <p:sp>
        <p:nvSpPr>
          <p:cNvPr id="89" name="Oval 88">
            <a:extLst>
              <a:ext uri="{FF2B5EF4-FFF2-40B4-BE49-F238E27FC236}">
                <a16:creationId xmlns:a16="http://schemas.microsoft.com/office/drawing/2014/main" id="{6EAEE7E9-3A99-23B8-A430-1371FCA74C04}"/>
              </a:ext>
            </a:extLst>
          </p:cNvPr>
          <p:cNvSpPr>
            <a:spLocks noChangeAspect="1"/>
          </p:cNvSpPr>
          <p:nvPr/>
        </p:nvSpPr>
        <p:spPr>
          <a:xfrm>
            <a:off x="6754940" y="6303698"/>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90" name="Straight Connector 89">
            <a:extLst>
              <a:ext uri="{FF2B5EF4-FFF2-40B4-BE49-F238E27FC236}">
                <a16:creationId xmlns:a16="http://schemas.microsoft.com/office/drawing/2014/main" id="{6E87ABF5-11DF-4F2E-7D83-38A0043DDE40}"/>
              </a:ext>
            </a:extLst>
          </p:cNvPr>
          <p:cNvCxnSpPr>
            <a:cxnSpLocks/>
            <a:endCxn id="89" idx="0"/>
          </p:cNvCxnSpPr>
          <p:nvPr/>
        </p:nvCxnSpPr>
        <p:spPr>
          <a:xfrm>
            <a:off x="6862940" y="5940958"/>
            <a:ext cx="0" cy="362740"/>
          </a:xfrm>
          <a:prstGeom prst="line">
            <a:avLst/>
          </a:prstGeom>
          <a:ln w="38100"/>
        </p:spPr>
        <p:style>
          <a:lnRef idx="1">
            <a:schemeClr val="dk1"/>
          </a:lnRef>
          <a:fillRef idx="0">
            <a:schemeClr val="dk1"/>
          </a:fillRef>
          <a:effectRef idx="0">
            <a:schemeClr val="dk1"/>
          </a:effectRef>
          <a:fontRef idx="minor">
            <a:schemeClr val="tx1"/>
          </a:fontRef>
        </p:style>
      </p:cxnSp>
      <p:sp>
        <p:nvSpPr>
          <p:cNvPr id="91" name="Rectangle 90">
            <a:extLst>
              <a:ext uri="{FF2B5EF4-FFF2-40B4-BE49-F238E27FC236}">
                <a16:creationId xmlns:a16="http://schemas.microsoft.com/office/drawing/2014/main" id="{C57D91EA-49CA-C08F-819E-12D3689A05E5}"/>
              </a:ext>
            </a:extLst>
          </p:cNvPr>
          <p:cNvSpPr/>
          <p:nvPr/>
        </p:nvSpPr>
        <p:spPr>
          <a:xfrm>
            <a:off x="4365769" y="5216848"/>
            <a:ext cx="2851150" cy="15172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66A04E71-026A-C7F8-3A64-30CE778CA52D}"/>
                  </a:ext>
                </a:extLst>
              </p:cNvPr>
              <p:cNvSpPr/>
              <p:nvPr/>
            </p:nvSpPr>
            <p:spPr>
              <a:xfrm>
                <a:off x="5178863" y="3658866"/>
                <a:ext cx="1227562" cy="125346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𝑊</m:t>
                          </m:r>
                        </m:e>
                        <m:sub>
                          <m:r>
                            <a:rPr lang="en-US" sz="2400" b="0" i="1" smtClean="0">
                              <a:solidFill>
                                <a:schemeClr val="tx1"/>
                              </a:solidFill>
                              <a:latin typeface="Cambria Math" panose="02040503050406030204" pitchFamily="18" charset="0"/>
                            </a:rPr>
                            <m:t>3</m:t>
                          </m:r>
                        </m:sub>
                      </m:sSub>
                    </m:oMath>
                  </m:oMathPara>
                </a14:m>
                <a:endParaRPr lang="vi-VN" sz="2400">
                  <a:solidFill>
                    <a:schemeClr val="tx1"/>
                  </a:solidFill>
                </a:endParaRPr>
              </a:p>
            </p:txBody>
          </p:sp>
        </mc:Choice>
        <mc:Fallback xmlns="">
          <p:sp>
            <p:nvSpPr>
              <p:cNvPr id="95" name="Rectangle 94">
                <a:extLst>
                  <a:ext uri="{FF2B5EF4-FFF2-40B4-BE49-F238E27FC236}">
                    <a16:creationId xmlns:a16="http://schemas.microsoft.com/office/drawing/2014/main" id="{66A04E71-026A-C7F8-3A64-30CE778CA52D}"/>
                  </a:ext>
                </a:extLst>
              </p:cNvPr>
              <p:cNvSpPr>
                <a:spLocks noRot="1" noChangeAspect="1" noMove="1" noResize="1" noEditPoints="1" noAdjustHandles="1" noChangeArrowheads="1" noChangeShapeType="1" noTextEdit="1"/>
              </p:cNvSpPr>
              <p:nvPr/>
            </p:nvSpPr>
            <p:spPr>
              <a:xfrm>
                <a:off x="5178863" y="3658866"/>
                <a:ext cx="1227562" cy="1253469"/>
              </a:xfrm>
              <a:prstGeom prst="rect">
                <a:avLst/>
              </a:prstGeom>
              <a:blipFill>
                <a:blip r:embed="rId14"/>
                <a:stretch>
                  <a:fillRect/>
                </a:stretch>
              </a:blipFill>
              <a:ln>
                <a:solidFill>
                  <a:schemeClr val="tx1"/>
                </a:solidFill>
              </a:ln>
            </p:spPr>
            <p:txBody>
              <a:bodyPr/>
              <a:lstStyle/>
              <a:p>
                <a:r>
                  <a:rPr lang="vi-VN">
                    <a:noFill/>
                  </a:rPr>
                  <a:t> </a:t>
                </a:r>
              </a:p>
            </p:txBody>
          </p:sp>
        </mc:Fallback>
      </mc:AlternateContent>
      <p:cxnSp>
        <p:nvCxnSpPr>
          <p:cNvPr id="96" name="Straight Connector 95">
            <a:extLst>
              <a:ext uri="{FF2B5EF4-FFF2-40B4-BE49-F238E27FC236}">
                <a16:creationId xmlns:a16="http://schemas.microsoft.com/office/drawing/2014/main" id="{EC70C2F0-7BCA-0EDF-18F2-68F0E3C72EDF}"/>
              </a:ext>
            </a:extLst>
          </p:cNvPr>
          <p:cNvCxnSpPr/>
          <p:nvPr/>
        </p:nvCxnSpPr>
        <p:spPr>
          <a:xfrm>
            <a:off x="1458524" y="3284727"/>
            <a:ext cx="795528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04BF296-0823-02E0-B868-8B3A3C4EE35D}"/>
                  </a:ext>
                </a:extLst>
              </p:cNvPr>
              <p:cNvSpPr txBox="1"/>
              <p:nvPr/>
            </p:nvSpPr>
            <p:spPr>
              <a:xfrm>
                <a:off x="946861" y="3073099"/>
                <a:ext cx="4472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|0⟩</m:t>
                      </m:r>
                    </m:oMath>
                  </m:oMathPara>
                </a14:m>
                <a:endParaRPr lang="en-VN" sz="2400"/>
              </a:p>
            </p:txBody>
          </p:sp>
        </mc:Choice>
        <mc:Fallback xmlns="">
          <p:sp>
            <p:nvSpPr>
              <p:cNvPr id="97" name="TextBox 96">
                <a:extLst>
                  <a:ext uri="{FF2B5EF4-FFF2-40B4-BE49-F238E27FC236}">
                    <a16:creationId xmlns:a16="http://schemas.microsoft.com/office/drawing/2014/main" id="{E04BF296-0823-02E0-B868-8B3A3C4EE35D}"/>
                  </a:ext>
                </a:extLst>
              </p:cNvPr>
              <p:cNvSpPr txBox="1">
                <a:spLocks noRot="1" noChangeAspect="1" noMove="1" noResize="1" noEditPoints="1" noAdjustHandles="1" noChangeArrowheads="1" noChangeShapeType="1" noTextEdit="1"/>
              </p:cNvSpPr>
              <p:nvPr/>
            </p:nvSpPr>
            <p:spPr>
              <a:xfrm>
                <a:off x="946861" y="3073099"/>
                <a:ext cx="447238" cy="369332"/>
              </a:xfrm>
              <a:prstGeom prst="rect">
                <a:avLst/>
              </a:prstGeom>
              <a:blipFill>
                <a:blip r:embed="rId15"/>
                <a:stretch>
                  <a:fillRect l="-22973" r="-24324" b="-34426"/>
                </a:stretch>
              </a:blipFill>
            </p:spPr>
            <p:txBody>
              <a:bodyPr/>
              <a:lstStyle/>
              <a:p>
                <a:r>
                  <a:rPr lang="vi-VN">
                    <a:noFill/>
                  </a:rPr>
                  <a:t> </a:t>
                </a:r>
              </a:p>
            </p:txBody>
          </p:sp>
        </mc:Fallback>
      </mc:AlternateContent>
      <p:sp>
        <p:nvSpPr>
          <p:cNvPr id="98" name="Oval 97">
            <a:extLst>
              <a:ext uri="{FF2B5EF4-FFF2-40B4-BE49-F238E27FC236}">
                <a16:creationId xmlns:a16="http://schemas.microsoft.com/office/drawing/2014/main" id="{1A168E96-1AEE-A37C-C88A-A634C512E90A}"/>
              </a:ext>
            </a:extLst>
          </p:cNvPr>
          <p:cNvSpPr>
            <a:spLocks noChangeAspect="1"/>
          </p:cNvSpPr>
          <p:nvPr/>
        </p:nvSpPr>
        <p:spPr>
          <a:xfrm>
            <a:off x="2040058" y="5384058"/>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99" name="Straight Connector 98">
            <a:extLst>
              <a:ext uri="{FF2B5EF4-FFF2-40B4-BE49-F238E27FC236}">
                <a16:creationId xmlns:a16="http://schemas.microsoft.com/office/drawing/2014/main" id="{BF71AC5B-A622-777A-0F58-AEA75E8BEA05}"/>
              </a:ext>
            </a:extLst>
          </p:cNvPr>
          <p:cNvCxnSpPr>
            <a:cxnSpLocks/>
            <a:endCxn id="98" idx="4"/>
          </p:cNvCxnSpPr>
          <p:nvPr/>
        </p:nvCxnSpPr>
        <p:spPr>
          <a:xfrm flipV="1">
            <a:off x="2148058" y="5585723"/>
            <a:ext cx="0" cy="197228"/>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F3CCB385-C9E4-DAB0-D66E-F6BA2935FDBC}"/>
                  </a:ext>
                </a:extLst>
              </p:cNvPr>
              <p:cNvSpPr/>
              <p:nvPr/>
            </p:nvSpPr>
            <p:spPr>
              <a:xfrm>
                <a:off x="855711" y="5675710"/>
                <a:ext cx="2511778" cy="56841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𝐹</m:t>
                      </m:r>
                      <m:d>
                        <m:dPr>
                          <m:ctrlPr>
                            <a:rPr lang="en-US" sz="2400" b="0" i="1" smtClean="0">
                              <a:solidFill>
                                <a:schemeClr val="tx1"/>
                              </a:solidFill>
                              <a:latin typeface="Cambria Math" panose="02040503050406030204" pitchFamily="18" charset="0"/>
                            </a:rPr>
                          </m:ctrlPr>
                        </m:dPr>
                        <m:e>
                          <m:func>
                            <m:funcPr>
                              <m:ctrlPr>
                                <a:rPr lang="en-US" sz="2400" b="0" i="1" smtClean="0">
                                  <a:solidFill>
                                    <a:schemeClr val="tx1"/>
                                  </a:solidFill>
                                  <a:latin typeface="Cambria Math" panose="02040503050406030204" pitchFamily="18" charset="0"/>
                                </a:rPr>
                              </m:ctrlPr>
                            </m:funcPr>
                            <m:fName>
                              <m:r>
                                <m:rPr>
                                  <m:sty m:val="p"/>
                                </m:rPr>
                                <a:rPr lang="en-US" sz="2400" b="0" i="0" smtClean="0">
                                  <a:solidFill>
                                    <a:schemeClr val="tx1"/>
                                  </a:solidFill>
                                  <a:latin typeface="Cambria Math" panose="02040503050406030204" pitchFamily="18" charset="0"/>
                                </a:rPr>
                                <m:t>acos</m:t>
                              </m:r>
                            </m:fName>
                            <m:e>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1/</m:t>
                                  </m:r>
                                  <m:rad>
                                    <m:radPr>
                                      <m:degHide m:val="on"/>
                                      <m:ctrlPr>
                                        <a:rPr lang="en-US" sz="2400" b="0" i="1" smtClean="0">
                                          <a:solidFill>
                                            <a:schemeClr val="tx1"/>
                                          </a:solidFill>
                                          <a:latin typeface="Cambria Math" panose="02040503050406030204" pitchFamily="18" charset="0"/>
                                        </a:rPr>
                                      </m:ctrlPr>
                                    </m:radPr>
                                    <m:deg/>
                                    <m:e>
                                      <m:r>
                                        <a:rPr lang="en-US" sz="2400" b="0" i="1" smtClean="0">
                                          <a:solidFill>
                                            <a:schemeClr val="tx1"/>
                                          </a:solidFill>
                                          <a:latin typeface="Cambria Math" panose="02040503050406030204" pitchFamily="18" charset="0"/>
                                        </a:rPr>
                                        <m:t>3</m:t>
                                      </m:r>
                                    </m:e>
                                  </m:rad>
                                </m:e>
                              </m:d>
                            </m:e>
                          </m:func>
                        </m:e>
                      </m:d>
                    </m:oMath>
                  </m:oMathPara>
                </a14:m>
                <a:endParaRPr lang="vi-VN" sz="2400">
                  <a:solidFill>
                    <a:schemeClr val="tx1"/>
                  </a:solidFill>
                </a:endParaRPr>
              </a:p>
            </p:txBody>
          </p:sp>
        </mc:Choice>
        <mc:Fallback xmlns="">
          <p:sp>
            <p:nvSpPr>
              <p:cNvPr id="100" name="Rectangle 99">
                <a:extLst>
                  <a:ext uri="{FF2B5EF4-FFF2-40B4-BE49-F238E27FC236}">
                    <a16:creationId xmlns:a16="http://schemas.microsoft.com/office/drawing/2014/main" id="{F3CCB385-C9E4-DAB0-D66E-F6BA2935FDBC}"/>
                  </a:ext>
                </a:extLst>
              </p:cNvPr>
              <p:cNvSpPr>
                <a:spLocks noRot="1" noChangeAspect="1" noMove="1" noResize="1" noEditPoints="1" noAdjustHandles="1" noChangeArrowheads="1" noChangeShapeType="1" noTextEdit="1"/>
              </p:cNvSpPr>
              <p:nvPr/>
            </p:nvSpPr>
            <p:spPr>
              <a:xfrm>
                <a:off x="855711" y="5675710"/>
                <a:ext cx="2511778" cy="568418"/>
              </a:xfrm>
              <a:prstGeom prst="rect">
                <a:avLst/>
              </a:prstGeom>
              <a:blipFill>
                <a:blip r:embed="rId16"/>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1" name="Rectangle 100">
                <a:extLst>
                  <a:ext uri="{FF2B5EF4-FFF2-40B4-BE49-F238E27FC236}">
                    <a16:creationId xmlns:a16="http://schemas.microsoft.com/office/drawing/2014/main" id="{B61BD349-38F9-D3E4-73F0-12D1AC351631}"/>
                  </a:ext>
                </a:extLst>
              </p:cNvPr>
              <p:cNvSpPr/>
              <p:nvPr/>
            </p:nvSpPr>
            <p:spPr>
              <a:xfrm>
                <a:off x="4693088" y="5322619"/>
                <a:ext cx="904408" cy="84352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𝐶𝐹</m:t>
                      </m:r>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𝜃</m:t>
                          </m:r>
                        </m:e>
                      </m:d>
                    </m:oMath>
                  </m:oMathPara>
                </a14:m>
                <a:endParaRPr lang="vi-VN" sz="2400">
                  <a:solidFill>
                    <a:schemeClr val="tx1"/>
                  </a:solidFill>
                </a:endParaRPr>
              </a:p>
            </p:txBody>
          </p:sp>
        </mc:Choice>
        <mc:Fallback xmlns="">
          <p:sp>
            <p:nvSpPr>
              <p:cNvPr id="101" name="Rectangle 100">
                <a:extLst>
                  <a:ext uri="{FF2B5EF4-FFF2-40B4-BE49-F238E27FC236}">
                    <a16:creationId xmlns:a16="http://schemas.microsoft.com/office/drawing/2014/main" id="{B61BD349-38F9-D3E4-73F0-12D1AC351631}"/>
                  </a:ext>
                </a:extLst>
              </p:cNvPr>
              <p:cNvSpPr>
                <a:spLocks noRot="1" noChangeAspect="1" noMove="1" noResize="1" noEditPoints="1" noAdjustHandles="1" noChangeArrowheads="1" noChangeShapeType="1" noTextEdit="1"/>
              </p:cNvSpPr>
              <p:nvPr/>
            </p:nvSpPr>
            <p:spPr>
              <a:xfrm>
                <a:off x="4693088" y="5322619"/>
                <a:ext cx="904408" cy="843525"/>
              </a:xfrm>
              <a:prstGeom prst="rect">
                <a:avLst/>
              </a:prstGeom>
              <a:blipFill>
                <a:blip r:embed="rId17"/>
                <a:stretch>
                  <a:fillRect l="-7333"/>
                </a:stretch>
              </a:blipFill>
              <a:ln>
                <a:solidFill>
                  <a:schemeClr val="tx1"/>
                </a:solidFill>
              </a:ln>
            </p:spPr>
            <p:txBody>
              <a:bodyPr/>
              <a:lstStyle/>
              <a:p>
                <a:r>
                  <a:rPr lang="vi-VN">
                    <a:noFill/>
                  </a:rPr>
                  <a:t> </a:t>
                </a:r>
              </a:p>
            </p:txBody>
          </p:sp>
        </mc:Fallback>
      </mc:AlternateContent>
      <p:sp>
        <p:nvSpPr>
          <p:cNvPr id="106" name="Rectangle 105">
            <a:extLst>
              <a:ext uri="{FF2B5EF4-FFF2-40B4-BE49-F238E27FC236}">
                <a16:creationId xmlns:a16="http://schemas.microsoft.com/office/drawing/2014/main" id="{FD85C51A-EA67-B5E4-4FCA-3E021384D710}"/>
              </a:ext>
            </a:extLst>
          </p:cNvPr>
          <p:cNvSpPr/>
          <p:nvPr/>
        </p:nvSpPr>
        <p:spPr>
          <a:xfrm>
            <a:off x="292392" y="5204716"/>
            <a:ext cx="3570411" cy="11876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10" name="Rectangle 109">
                <a:extLst>
                  <a:ext uri="{FF2B5EF4-FFF2-40B4-BE49-F238E27FC236}">
                    <a16:creationId xmlns:a16="http://schemas.microsoft.com/office/drawing/2014/main" id="{E81CA5F3-8B4F-5E30-DAF5-67ECF1386D54}"/>
                  </a:ext>
                </a:extLst>
              </p:cNvPr>
              <p:cNvSpPr/>
              <p:nvPr/>
            </p:nvSpPr>
            <p:spPr>
              <a:xfrm>
                <a:off x="2255761" y="2741203"/>
                <a:ext cx="1189172" cy="65427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𝐶𝐹</m:t>
                      </m:r>
                      <m:d>
                        <m:dPr>
                          <m:ctrlPr>
                            <a:rPr lang="en-US" sz="2400" b="0" i="1" smtClean="0">
                              <a:solidFill>
                                <a:schemeClr val="tx1"/>
                              </a:solidFill>
                              <a:latin typeface="Cambria Math" panose="02040503050406030204" pitchFamily="18" charset="0"/>
                            </a:rPr>
                          </m:ctrlPr>
                        </m:dPr>
                        <m:e>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𝜃</m:t>
                              </m:r>
                            </m:e>
                            <m:sub>
                              <m:r>
                                <a:rPr lang="en-US" sz="2400" b="0" i="1" smtClean="0">
                                  <a:solidFill>
                                    <a:schemeClr val="tx1"/>
                                  </a:solidFill>
                                  <a:latin typeface="Cambria Math" panose="02040503050406030204" pitchFamily="18" charset="0"/>
                                </a:rPr>
                                <m:t>1</m:t>
                              </m:r>
                            </m:sub>
                          </m:sSub>
                        </m:e>
                      </m:d>
                    </m:oMath>
                  </m:oMathPara>
                </a14:m>
                <a:endParaRPr lang="vi-VN" sz="2400">
                  <a:solidFill>
                    <a:schemeClr val="tx1"/>
                  </a:solidFill>
                </a:endParaRPr>
              </a:p>
            </p:txBody>
          </p:sp>
        </mc:Choice>
        <mc:Fallback xmlns="">
          <p:sp>
            <p:nvSpPr>
              <p:cNvPr id="110" name="Rectangle 109">
                <a:extLst>
                  <a:ext uri="{FF2B5EF4-FFF2-40B4-BE49-F238E27FC236}">
                    <a16:creationId xmlns:a16="http://schemas.microsoft.com/office/drawing/2014/main" id="{E81CA5F3-8B4F-5E30-DAF5-67ECF1386D54}"/>
                  </a:ext>
                </a:extLst>
              </p:cNvPr>
              <p:cNvSpPr>
                <a:spLocks noRot="1" noChangeAspect="1" noMove="1" noResize="1" noEditPoints="1" noAdjustHandles="1" noChangeArrowheads="1" noChangeShapeType="1" noTextEdit="1"/>
              </p:cNvSpPr>
              <p:nvPr/>
            </p:nvSpPr>
            <p:spPr>
              <a:xfrm>
                <a:off x="2255761" y="2741203"/>
                <a:ext cx="1189172" cy="654279"/>
              </a:xfrm>
              <a:prstGeom prst="rect">
                <a:avLst/>
              </a:prstGeom>
              <a:blipFill>
                <a:blip r:embed="rId18"/>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1" name="Rectangle 110">
                <a:extLst>
                  <a:ext uri="{FF2B5EF4-FFF2-40B4-BE49-F238E27FC236}">
                    <a16:creationId xmlns:a16="http://schemas.microsoft.com/office/drawing/2014/main" id="{86970BB2-CF07-6259-D27F-E4AD75A4DA07}"/>
                  </a:ext>
                </a:extLst>
              </p:cNvPr>
              <p:cNvSpPr/>
              <p:nvPr/>
            </p:nvSpPr>
            <p:spPr>
              <a:xfrm>
                <a:off x="3888847" y="3395482"/>
                <a:ext cx="1189172" cy="583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𝐶𝐹</m:t>
                      </m:r>
                      <m:d>
                        <m:dPr>
                          <m:ctrlPr>
                            <a:rPr lang="en-US" sz="2400" b="0" i="1" smtClean="0">
                              <a:solidFill>
                                <a:schemeClr val="tx1"/>
                              </a:solidFill>
                              <a:latin typeface="Cambria Math" panose="02040503050406030204" pitchFamily="18" charset="0"/>
                            </a:rPr>
                          </m:ctrlPr>
                        </m:dPr>
                        <m:e>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𝜃</m:t>
                              </m:r>
                            </m:e>
                            <m:sub>
                              <m:r>
                                <a:rPr lang="en-US" sz="2400" b="0" i="1" smtClean="0">
                                  <a:solidFill>
                                    <a:schemeClr val="tx1"/>
                                  </a:solidFill>
                                  <a:latin typeface="Cambria Math" panose="02040503050406030204" pitchFamily="18" charset="0"/>
                                </a:rPr>
                                <m:t>1</m:t>
                              </m:r>
                            </m:sub>
                          </m:sSub>
                        </m:e>
                      </m:d>
                    </m:oMath>
                  </m:oMathPara>
                </a14:m>
                <a:endParaRPr lang="vi-VN" sz="2400">
                  <a:solidFill>
                    <a:schemeClr val="tx1"/>
                  </a:solidFill>
                </a:endParaRPr>
              </a:p>
            </p:txBody>
          </p:sp>
        </mc:Choice>
        <mc:Fallback xmlns="">
          <p:sp>
            <p:nvSpPr>
              <p:cNvPr id="111" name="Rectangle 110">
                <a:extLst>
                  <a:ext uri="{FF2B5EF4-FFF2-40B4-BE49-F238E27FC236}">
                    <a16:creationId xmlns:a16="http://schemas.microsoft.com/office/drawing/2014/main" id="{86970BB2-CF07-6259-D27F-E4AD75A4DA07}"/>
                  </a:ext>
                </a:extLst>
              </p:cNvPr>
              <p:cNvSpPr>
                <a:spLocks noRot="1" noChangeAspect="1" noMove="1" noResize="1" noEditPoints="1" noAdjustHandles="1" noChangeArrowheads="1" noChangeShapeType="1" noTextEdit="1"/>
              </p:cNvSpPr>
              <p:nvPr/>
            </p:nvSpPr>
            <p:spPr>
              <a:xfrm>
                <a:off x="3888847" y="3395482"/>
                <a:ext cx="1189172" cy="583723"/>
              </a:xfrm>
              <a:prstGeom prst="rect">
                <a:avLst/>
              </a:prstGeom>
              <a:blipFill>
                <a:blip r:embed="rId19"/>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66941BC5-EDF4-E59B-FDAC-48A2A3CB9CD5}"/>
                  </a:ext>
                </a:extLst>
              </p:cNvPr>
              <p:cNvSpPr txBox="1"/>
              <p:nvPr/>
            </p:nvSpPr>
            <p:spPr>
              <a:xfrm>
                <a:off x="3543108" y="3448396"/>
                <a:ext cx="2067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112" name="TextBox 111">
                <a:extLst>
                  <a:ext uri="{FF2B5EF4-FFF2-40B4-BE49-F238E27FC236}">
                    <a16:creationId xmlns:a16="http://schemas.microsoft.com/office/drawing/2014/main" id="{66941BC5-EDF4-E59B-FDAC-48A2A3CB9CD5}"/>
                  </a:ext>
                </a:extLst>
              </p:cNvPr>
              <p:cNvSpPr txBox="1">
                <a:spLocks noRot="1" noChangeAspect="1" noMove="1" noResize="1" noEditPoints="1" noAdjustHandles="1" noChangeArrowheads="1" noChangeShapeType="1" noTextEdit="1"/>
              </p:cNvSpPr>
              <p:nvPr/>
            </p:nvSpPr>
            <p:spPr>
              <a:xfrm>
                <a:off x="3543108" y="3448396"/>
                <a:ext cx="206788" cy="276999"/>
              </a:xfrm>
              <a:prstGeom prst="rect">
                <a:avLst/>
              </a:prstGeom>
              <a:blipFill>
                <a:blip r:embed="rId20"/>
                <a:stretch>
                  <a:fillRect l="-20588" r="-17647" b="-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4657AFF1-6B57-71C4-3C76-6AFDE5C073B3}"/>
                  </a:ext>
                </a:extLst>
              </p:cNvPr>
              <p:cNvSpPr txBox="1"/>
              <p:nvPr/>
            </p:nvSpPr>
            <p:spPr>
              <a:xfrm>
                <a:off x="7783844" y="263347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13" name="TextBox 112">
                <a:extLst>
                  <a:ext uri="{FF2B5EF4-FFF2-40B4-BE49-F238E27FC236}">
                    <a16:creationId xmlns:a16="http://schemas.microsoft.com/office/drawing/2014/main" id="{4657AFF1-6B57-71C4-3C76-6AFDE5C073B3}"/>
                  </a:ext>
                </a:extLst>
              </p:cNvPr>
              <p:cNvSpPr txBox="1">
                <a:spLocks noRot="1" noChangeAspect="1" noMove="1" noResize="1" noEditPoints="1" noAdjustHandles="1" noChangeArrowheads="1" noChangeShapeType="1" noTextEdit="1"/>
              </p:cNvSpPr>
              <p:nvPr/>
            </p:nvSpPr>
            <p:spPr>
              <a:xfrm>
                <a:off x="7783844" y="2633477"/>
                <a:ext cx="352661" cy="369332"/>
              </a:xfrm>
              <a:prstGeom prst="rect">
                <a:avLst/>
              </a:prstGeom>
              <a:blipFill>
                <a:blip r:embed="rId21"/>
                <a:stretch>
                  <a:fillRect l="-22414" r="-20690" b="-19672"/>
                </a:stretch>
              </a:blipFill>
            </p:spPr>
            <p:txBody>
              <a:bodyPr/>
              <a:lstStyle/>
              <a:p>
                <a:r>
                  <a:rPr lang="vi-VN">
                    <a:noFill/>
                  </a:rPr>
                  <a:t> </a:t>
                </a:r>
              </a:p>
            </p:txBody>
          </p:sp>
        </mc:Fallback>
      </mc:AlternateContent>
      <p:sp>
        <p:nvSpPr>
          <p:cNvPr id="114" name="Oval 113">
            <a:extLst>
              <a:ext uri="{FF2B5EF4-FFF2-40B4-BE49-F238E27FC236}">
                <a16:creationId xmlns:a16="http://schemas.microsoft.com/office/drawing/2014/main" id="{79D4E680-9ECC-176F-88C6-7D8CE37B29BF}"/>
              </a:ext>
            </a:extLst>
          </p:cNvPr>
          <p:cNvSpPr>
            <a:spLocks noChangeAspect="1"/>
          </p:cNvSpPr>
          <p:nvPr/>
        </p:nvSpPr>
        <p:spPr>
          <a:xfrm>
            <a:off x="7850537" y="3189796"/>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115" name="Straight Connector 114">
            <a:extLst>
              <a:ext uri="{FF2B5EF4-FFF2-40B4-BE49-F238E27FC236}">
                <a16:creationId xmlns:a16="http://schemas.microsoft.com/office/drawing/2014/main" id="{C4E6D369-5ED9-D48A-17AD-D7397E530B04}"/>
              </a:ext>
            </a:extLst>
          </p:cNvPr>
          <p:cNvCxnSpPr>
            <a:cxnSpLocks/>
            <a:endCxn id="114" idx="0"/>
          </p:cNvCxnSpPr>
          <p:nvPr/>
        </p:nvCxnSpPr>
        <p:spPr>
          <a:xfrm>
            <a:off x="7958537" y="2827056"/>
            <a:ext cx="0" cy="36274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0415EC46-37DB-EDB6-3EEE-6D4D6B9F1AE8}"/>
                  </a:ext>
                </a:extLst>
              </p:cNvPr>
              <p:cNvSpPr txBox="1"/>
              <p:nvPr/>
            </p:nvSpPr>
            <p:spPr>
              <a:xfrm>
                <a:off x="8171197" y="2640723"/>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16" name="TextBox 115">
                <a:extLst>
                  <a:ext uri="{FF2B5EF4-FFF2-40B4-BE49-F238E27FC236}">
                    <a16:creationId xmlns:a16="http://schemas.microsoft.com/office/drawing/2014/main" id="{0415EC46-37DB-EDB6-3EEE-6D4D6B9F1AE8}"/>
                  </a:ext>
                </a:extLst>
              </p:cNvPr>
              <p:cNvSpPr txBox="1">
                <a:spLocks noRot="1" noChangeAspect="1" noMove="1" noResize="1" noEditPoints="1" noAdjustHandles="1" noChangeArrowheads="1" noChangeShapeType="1" noTextEdit="1"/>
              </p:cNvSpPr>
              <p:nvPr/>
            </p:nvSpPr>
            <p:spPr>
              <a:xfrm>
                <a:off x="8171197" y="2640723"/>
                <a:ext cx="352661" cy="369332"/>
              </a:xfrm>
              <a:prstGeom prst="rect">
                <a:avLst/>
              </a:prstGeom>
              <a:blipFill>
                <a:blip r:embed="rId22"/>
                <a:stretch>
                  <a:fillRect l="-20690" r="-22414" b="-21311"/>
                </a:stretch>
              </a:blipFill>
            </p:spPr>
            <p:txBody>
              <a:bodyPr/>
              <a:lstStyle/>
              <a:p>
                <a:r>
                  <a:rPr lang="vi-VN">
                    <a:noFill/>
                  </a:rPr>
                  <a:t> </a:t>
                </a:r>
              </a:p>
            </p:txBody>
          </p:sp>
        </mc:Fallback>
      </mc:AlternateContent>
      <p:cxnSp>
        <p:nvCxnSpPr>
          <p:cNvPr id="118" name="Straight Connector 117">
            <a:extLst>
              <a:ext uri="{FF2B5EF4-FFF2-40B4-BE49-F238E27FC236}">
                <a16:creationId xmlns:a16="http://schemas.microsoft.com/office/drawing/2014/main" id="{ADBE335E-EC3B-4E97-C0F8-9361ED34AFC1}"/>
              </a:ext>
            </a:extLst>
          </p:cNvPr>
          <p:cNvCxnSpPr>
            <a:cxnSpLocks/>
          </p:cNvCxnSpPr>
          <p:nvPr/>
        </p:nvCxnSpPr>
        <p:spPr>
          <a:xfrm>
            <a:off x="8345890" y="2834302"/>
            <a:ext cx="0" cy="684811"/>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63B338B9-12DD-CD7C-3396-09BA84CF9195}"/>
                  </a:ext>
                </a:extLst>
              </p:cNvPr>
              <p:cNvSpPr txBox="1"/>
              <p:nvPr/>
            </p:nvSpPr>
            <p:spPr>
              <a:xfrm>
                <a:off x="8683928" y="2639229"/>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20" name="TextBox 119">
                <a:extLst>
                  <a:ext uri="{FF2B5EF4-FFF2-40B4-BE49-F238E27FC236}">
                    <a16:creationId xmlns:a16="http://schemas.microsoft.com/office/drawing/2014/main" id="{63B338B9-12DD-CD7C-3396-09BA84CF9195}"/>
                  </a:ext>
                </a:extLst>
              </p:cNvPr>
              <p:cNvSpPr txBox="1">
                <a:spLocks noRot="1" noChangeAspect="1" noMove="1" noResize="1" noEditPoints="1" noAdjustHandles="1" noChangeArrowheads="1" noChangeShapeType="1" noTextEdit="1"/>
              </p:cNvSpPr>
              <p:nvPr/>
            </p:nvSpPr>
            <p:spPr>
              <a:xfrm>
                <a:off x="8683928" y="2639229"/>
                <a:ext cx="352661" cy="369332"/>
              </a:xfrm>
              <a:prstGeom prst="rect">
                <a:avLst/>
              </a:prstGeom>
              <a:blipFill>
                <a:blip r:embed="rId23"/>
                <a:stretch>
                  <a:fillRect l="-22807" r="-22807" b="-19672"/>
                </a:stretch>
              </a:blipFill>
            </p:spPr>
            <p:txBody>
              <a:bodyPr/>
              <a:lstStyle/>
              <a:p>
                <a:r>
                  <a:rPr lang="vi-VN">
                    <a:noFill/>
                  </a:rPr>
                  <a:t> </a:t>
                </a:r>
              </a:p>
            </p:txBody>
          </p:sp>
        </mc:Fallback>
      </mc:AlternateContent>
      <p:sp>
        <p:nvSpPr>
          <p:cNvPr id="121" name="Oval 120">
            <a:extLst>
              <a:ext uri="{FF2B5EF4-FFF2-40B4-BE49-F238E27FC236}">
                <a16:creationId xmlns:a16="http://schemas.microsoft.com/office/drawing/2014/main" id="{57DA3470-19BA-D00B-7B8D-1D7D69257C8A}"/>
              </a:ext>
            </a:extLst>
          </p:cNvPr>
          <p:cNvSpPr>
            <a:spLocks noChangeAspect="1"/>
          </p:cNvSpPr>
          <p:nvPr/>
        </p:nvSpPr>
        <p:spPr>
          <a:xfrm>
            <a:off x="8750621" y="4658597"/>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122" name="Straight Connector 121">
            <a:extLst>
              <a:ext uri="{FF2B5EF4-FFF2-40B4-BE49-F238E27FC236}">
                <a16:creationId xmlns:a16="http://schemas.microsoft.com/office/drawing/2014/main" id="{77861525-CA66-B547-822E-B42345DEBEF6}"/>
              </a:ext>
            </a:extLst>
          </p:cNvPr>
          <p:cNvCxnSpPr>
            <a:cxnSpLocks/>
            <a:endCxn id="121" idx="0"/>
          </p:cNvCxnSpPr>
          <p:nvPr/>
        </p:nvCxnSpPr>
        <p:spPr>
          <a:xfrm>
            <a:off x="8856380" y="3725395"/>
            <a:ext cx="2241" cy="933202"/>
          </a:xfrm>
          <a:prstGeom prst="line">
            <a:avLst/>
          </a:prstGeom>
          <a:ln w="38100"/>
        </p:spPr>
        <p:style>
          <a:lnRef idx="1">
            <a:schemeClr val="dk1"/>
          </a:lnRef>
          <a:fillRef idx="0">
            <a:schemeClr val="dk1"/>
          </a:fillRef>
          <a:effectRef idx="0">
            <a:schemeClr val="dk1"/>
          </a:effectRef>
          <a:fontRef idx="minor">
            <a:schemeClr val="tx1"/>
          </a:fontRef>
        </p:style>
      </p:cxnSp>
      <p:cxnSp>
        <p:nvCxnSpPr>
          <p:cNvPr id="124" name="Straight Connector 123">
            <a:extLst>
              <a:ext uri="{FF2B5EF4-FFF2-40B4-BE49-F238E27FC236}">
                <a16:creationId xmlns:a16="http://schemas.microsoft.com/office/drawing/2014/main" id="{996C2F1D-D715-BF9C-905A-B1A6A54F2DBA}"/>
              </a:ext>
            </a:extLst>
          </p:cNvPr>
          <p:cNvCxnSpPr>
            <a:cxnSpLocks/>
          </p:cNvCxnSpPr>
          <p:nvPr/>
        </p:nvCxnSpPr>
        <p:spPr>
          <a:xfrm>
            <a:off x="8856380" y="2844546"/>
            <a:ext cx="0" cy="674567"/>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056790F7-B18D-CF5F-624E-615B29410D39}"/>
                  </a:ext>
                </a:extLst>
              </p:cNvPr>
              <p:cNvSpPr txBox="1"/>
              <p:nvPr/>
            </p:nvSpPr>
            <p:spPr>
              <a:xfrm>
                <a:off x="8539917" y="2923428"/>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126" name="TextBox 125">
                <a:extLst>
                  <a:ext uri="{FF2B5EF4-FFF2-40B4-BE49-F238E27FC236}">
                    <a16:creationId xmlns:a16="http://schemas.microsoft.com/office/drawing/2014/main" id="{056790F7-B18D-CF5F-624E-615B29410D39}"/>
                  </a:ext>
                </a:extLst>
              </p:cNvPr>
              <p:cNvSpPr txBox="1">
                <a:spLocks noRot="1" noChangeAspect="1" noMove="1" noResize="1" noEditPoints="1" noAdjustHandles="1" noChangeArrowheads="1" noChangeShapeType="1" noTextEdit="1"/>
              </p:cNvSpPr>
              <p:nvPr/>
            </p:nvSpPr>
            <p:spPr>
              <a:xfrm>
                <a:off x="8539917" y="2923428"/>
                <a:ext cx="136255" cy="276999"/>
              </a:xfrm>
              <a:prstGeom prst="rect">
                <a:avLst/>
              </a:prstGeom>
              <a:blipFill>
                <a:blip r:embed="rId24"/>
                <a:stretch>
                  <a:fillRect l="-36364" r="-36364" b="-88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766826F6-98DC-5CF0-7A9C-4871F81B6B02}"/>
                  </a:ext>
                </a:extLst>
              </p:cNvPr>
              <p:cNvSpPr txBox="1"/>
              <p:nvPr/>
            </p:nvSpPr>
            <p:spPr>
              <a:xfrm>
                <a:off x="7350782" y="3088017"/>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30" name="TextBox 129">
                <a:extLst>
                  <a:ext uri="{FF2B5EF4-FFF2-40B4-BE49-F238E27FC236}">
                    <a16:creationId xmlns:a16="http://schemas.microsoft.com/office/drawing/2014/main" id="{766826F6-98DC-5CF0-7A9C-4871F81B6B02}"/>
                  </a:ext>
                </a:extLst>
              </p:cNvPr>
              <p:cNvSpPr txBox="1">
                <a:spLocks noRot="1" noChangeAspect="1" noMove="1" noResize="1" noEditPoints="1" noAdjustHandles="1" noChangeArrowheads="1" noChangeShapeType="1" noTextEdit="1"/>
              </p:cNvSpPr>
              <p:nvPr/>
            </p:nvSpPr>
            <p:spPr>
              <a:xfrm>
                <a:off x="7350782" y="3088017"/>
                <a:ext cx="352661" cy="369332"/>
              </a:xfrm>
              <a:prstGeom prst="rect">
                <a:avLst/>
              </a:prstGeom>
              <a:blipFill>
                <a:blip r:embed="rId25"/>
                <a:stretch>
                  <a:fillRect l="-22414" r="-20690" b="-21667"/>
                </a:stretch>
              </a:blipFill>
            </p:spPr>
            <p:txBody>
              <a:bodyPr/>
              <a:lstStyle/>
              <a:p>
                <a:r>
                  <a:rPr lang="vi-VN">
                    <a:noFill/>
                  </a:rPr>
                  <a:t> </a:t>
                </a:r>
              </a:p>
            </p:txBody>
          </p:sp>
        </mc:Fallback>
      </mc:AlternateContent>
      <p:sp>
        <p:nvSpPr>
          <p:cNvPr id="131" name="Oval 130">
            <a:extLst>
              <a:ext uri="{FF2B5EF4-FFF2-40B4-BE49-F238E27FC236}">
                <a16:creationId xmlns:a16="http://schemas.microsoft.com/office/drawing/2014/main" id="{0CE39309-CFBA-12FB-FFD1-9480D673FCB8}"/>
              </a:ext>
            </a:extLst>
          </p:cNvPr>
          <p:cNvSpPr>
            <a:spLocks noChangeAspect="1"/>
          </p:cNvSpPr>
          <p:nvPr/>
        </p:nvSpPr>
        <p:spPr>
          <a:xfrm>
            <a:off x="7417475" y="4653569"/>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132" name="Straight Connector 131">
            <a:extLst>
              <a:ext uri="{FF2B5EF4-FFF2-40B4-BE49-F238E27FC236}">
                <a16:creationId xmlns:a16="http://schemas.microsoft.com/office/drawing/2014/main" id="{91B7375E-B29E-11A8-9CCD-7F143D4A95AC}"/>
              </a:ext>
            </a:extLst>
          </p:cNvPr>
          <p:cNvCxnSpPr>
            <a:cxnSpLocks/>
            <a:endCxn id="131" idx="0"/>
          </p:cNvCxnSpPr>
          <p:nvPr/>
        </p:nvCxnSpPr>
        <p:spPr>
          <a:xfrm>
            <a:off x="7525475" y="3725395"/>
            <a:ext cx="0" cy="928174"/>
          </a:xfrm>
          <a:prstGeom prst="line">
            <a:avLst/>
          </a:prstGeom>
          <a:ln w="38100"/>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C9FD51E2-B56F-9A6D-0023-7BF0B72E1C3A}"/>
              </a:ext>
            </a:extLst>
          </p:cNvPr>
          <p:cNvCxnSpPr>
            <a:cxnSpLocks/>
          </p:cNvCxnSpPr>
          <p:nvPr/>
        </p:nvCxnSpPr>
        <p:spPr>
          <a:xfrm>
            <a:off x="7523234" y="3293334"/>
            <a:ext cx="0" cy="229781"/>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B113D227-A7AB-67D7-9732-E107A074053C}"/>
                  </a:ext>
                </a:extLst>
              </p:cNvPr>
              <p:cNvSpPr txBox="1"/>
              <p:nvPr/>
            </p:nvSpPr>
            <p:spPr>
              <a:xfrm>
                <a:off x="6961189" y="3084015"/>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36" name="TextBox 135">
                <a:extLst>
                  <a:ext uri="{FF2B5EF4-FFF2-40B4-BE49-F238E27FC236}">
                    <a16:creationId xmlns:a16="http://schemas.microsoft.com/office/drawing/2014/main" id="{B113D227-A7AB-67D7-9732-E107A074053C}"/>
                  </a:ext>
                </a:extLst>
              </p:cNvPr>
              <p:cNvSpPr txBox="1">
                <a:spLocks noRot="1" noChangeAspect="1" noMove="1" noResize="1" noEditPoints="1" noAdjustHandles="1" noChangeArrowheads="1" noChangeShapeType="1" noTextEdit="1"/>
              </p:cNvSpPr>
              <p:nvPr/>
            </p:nvSpPr>
            <p:spPr>
              <a:xfrm>
                <a:off x="6961189" y="3084015"/>
                <a:ext cx="352661" cy="369332"/>
              </a:xfrm>
              <a:prstGeom prst="rect">
                <a:avLst/>
              </a:prstGeom>
              <a:blipFill>
                <a:blip r:embed="rId26"/>
                <a:stretch>
                  <a:fillRect l="-22414" r="-20690" b="-21667"/>
                </a:stretch>
              </a:blipFill>
            </p:spPr>
            <p:txBody>
              <a:bodyPr/>
              <a:lstStyle/>
              <a:p>
                <a:r>
                  <a:rPr lang="vi-VN">
                    <a:noFill/>
                  </a:rPr>
                  <a:t> </a:t>
                </a:r>
              </a:p>
            </p:txBody>
          </p:sp>
        </mc:Fallback>
      </mc:AlternateContent>
      <p:sp>
        <p:nvSpPr>
          <p:cNvPr id="137" name="Oval 136">
            <a:extLst>
              <a:ext uri="{FF2B5EF4-FFF2-40B4-BE49-F238E27FC236}">
                <a16:creationId xmlns:a16="http://schemas.microsoft.com/office/drawing/2014/main" id="{1565CE66-48AE-A74B-24B4-3492171D8F30}"/>
              </a:ext>
            </a:extLst>
          </p:cNvPr>
          <p:cNvSpPr>
            <a:spLocks noChangeAspect="1"/>
          </p:cNvSpPr>
          <p:nvPr/>
        </p:nvSpPr>
        <p:spPr>
          <a:xfrm>
            <a:off x="7027882" y="4204006"/>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138" name="Straight Connector 137">
            <a:extLst>
              <a:ext uri="{FF2B5EF4-FFF2-40B4-BE49-F238E27FC236}">
                <a16:creationId xmlns:a16="http://schemas.microsoft.com/office/drawing/2014/main" id="{E32766A4-6C6E-C9AA-F62A-A6B1432B0EF5}"/>
              </a:ext>
            </a:extLst>
          </p:cNvPr>
          <p:cNvCxnSpPr>
            <a:cxnSpLocks/>
            <a:endCxn id="137" idx="0"/>
          </p:cNvCxnSpPr>
          <p:nvPr/>
        </p:nvCxnSpPr>
        <p:spPr>
          <a:xfrm>
            <a:off x="7133641" y="3725395"/>
            <a:ext cx="2241" cy="478611"/>
          </a:xfrm>
          <a:prstGeom prst="line">
            <a:avLst/>
          </a:prstGeom>
          <a:ln w="38100"/>
        </p:spPr>
        <p:style>
          <a:lnRef idx="1">
            <a:schemeClr val="dk1"/>
          </a:lnRef>
          <a:fillRef idx="0">
            <a:schemeClr val="dk1"/>
          </a:fillRef>
          <a:effectRef idx="0">
            <a:schemeClr val="dk1"/>
          </a:effectRef>
          <a:fontRef idx="minor">
            <a:schemeClr val="tx1"/>
          </a:fontRef>
        </p:style>
      </p:cxnSp>
      <p:cxnSp>
        <p:nvCxnSpPr>
          <p:cNvPr id="139" name="Straight Connector 138">
            <a:extLst>
              <a:ext uri="{FF2B5EF4-FFF2-40B4-BE49-F238E27FC236}">
                <a16:creationId xmlns:a16="http://schemas.microsoft.com/office/drawing/2014/main" id="{45D7542F-D795-9115-6EB9-272291D9840B}"/>
              </a:ext>
            </a:extLst>
          </p:cNvPr>
          <p:cNvCxnSpPr>
            <a:cxnSpLocks/>
          </p:cNvCxnSpPr>
          <p:nvPr/>
        </p:nvCxnSpPr>
        <p:spPr>
          <a:xfrm>
            <a:off x="7133641" y="3289332"/>
            <a:ext cx="0" cy="229781"/>
          </a:xfrm>
          <a:prstGeom prst="line">
            <a:avLst/>
          </a:prstGeom>
          <a:ln w="38100"/>
        </p:spPr>
        <p:style>
          <a:lnRef idx="1">
            <a:schemeClr val="dk1"/>
          </a:lnRef>
          <a:fillRef idx="0">
            <a:schemeClr val="dk1"/>
          </a:fillRef>
          <a:effectRef idx="0">
            <a:schemeClr val="dk1"/>
          </a:effectRef>
          <a:fontRef idx="minor">
            <a:schemeClr val="tx1"/>
          </a:fontRef>
        </p:style>
      </p:cxnSp>
      <p:sp>
        <p:nvSpPr>
          <p:cNvPr id="141" name="Oval 140">
            <a:extLst>
              <a:ext uri="{FF2B5EF4-FFF2-40B4-BE49-F238E27FC236}">
                <a16:creationId xmlns:a16="http://schemas.microsoft.com/office/drawing/2014/main" id="{9BC761DA-C97A-4CD6-C38A-911F76344B7B}"/>
              </a:ext>
            </a:extLst>
          </p:cNvPr>
          <p:cNvSpPr>
            <a:spLocks noChangeAspect="1"/>
          </p:cNvSpPr>
          <p:nvPr/>
        </p:nvSpPr>
        <p:spPr>
          <a:xfrm>
            <a:off x="6593113" y="3767662"/>
            <a:ext cx="216000" cy="20166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142" name="Straight Connector 141">
            <a:extLst>
              <a:ext uri="{FF2B5EF4-FFF2-40B4-BE49-F238E27FC236}">
                <a16:creationId xmlns:a16="http://schemas.microsoft.com/office/drawing/2014/main" id="{DA5BA895-CDB9-7017-C3CB-089FA9BA6FB1}"/>
              </a:ext>
            </a:extLst>
          </p:cNvPr>
          <p:cNvCxnSpPr>
            <a:cxnSpLocks/>
            <a:endCxn id="141" idx="0"/>
          </p:cNvCxnSpPr>
          <p:nvPr/>
        </p:nvCxnSpPr>
        <p:spPr>
          <a:xfrm>
            <a:off x="6701113" y="3725395"/>
            <a:ext cx="0" cy="42267"/>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E5FC173D-EA32-6FD6-4EE0-C44396AC7574}"/>
                  </a:ext>
                </a:extLst>
              </p:cNvPr>
              <p:cNvSpPr txBox="1"/>
              <p:nvPr/>
            </p:nvSpPr>
            <p:spPr>
              <a:xfrm>
                <a:off x="6535313" y="3076868"/>
                <a:ext cx="3526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2400" i="1" smtClean="0">
                          <a:latin typeface="Cambria Math" panose="02040503050406030204" pitchFamily="18" charset="0"/>
                          <a:ea typeface="Cambria Math" panose="02040503050406030204" pitchFamily="18" charset="0"/>
                        </a:rPr>
                        <m:t>⨁</m:t>
                      </m:r>
                    </m:oMath>
                  </m:oMathPara>
                </a14:m>
                <a:endParaRPr lang="vi-VN" sz="2400"/>
              </a:p>
            </p:txBody>
          </p:sp>
        </mc:Choice>
        <mc:Fallback xmlns="">
          <p:sp>
            <p:nvSpPr>
              <p:cNvPr id="146" name="TextBox 145">
                <a:extLst>
                  <a:ext uri="{FF2B5EF4-FFF2-40B4-BE49-F238E27FC236}">
                    <a16:creationId xmlns:a16="http://schemas.microsoft.com/office/drawing/2014/main" id="{E5FC173D-EA32-6FD6-4EE0-C44396AC7574}"/>
                  </a:ext>
                </a:extLst>
              </p:cNvPr>
              <p:cNvSpPr txBox="1">
                <a:spLocks noRot="1" noChangeAspect="1" noMove="1" noResize="1" noEditPoints="1" noAdjustHandles="1" noChangeArrowheads="1" noChangeShapeType="1" noTextEdit="1"/>
              </p:cNvSpPr>
              <p:nvPr/>
            </p:nvSpPr>
            <p:spPr>
              <a:xfrm>
                <a:off x="6535313" y="3076868"/>
                <a:ext cx="352661" cy="369332"/>
              </a:xfrm>
              <a:prstGeom prst="rect">
                <a:avLst/>
              </a:prstGeom>
              <a:blipFill>
                <a:blip r:embed="rId27"/>
                <a:stretch>
                  <a:fillRect l="-20690" r="-22414" b="-21667"/>
                </a:stretch>
              </a:blipFill>
            </p:spPr>
            <p:txBody>
              <a:bodyPr/>
              <a:lstStyle/>
              <a:p>
                <a:r>
                  <a:rPr lang="vi-VN">
                    <a:noFill/>
                  </a:rPr>
                  <a:t> </a:t>
                </a:r>
              </a:p>
            </p:txBody>
          </p:sp>
        </mc:Fallback>
      </mc:AlternateContent>
      <p:cxnSp>
        <p:nvCxnSpPr>
          <p:cNvPr id="147" name="Straight Connector 146">
            <a:extLst>
              <a:ext uri="{FF2B5EF4-FFF2-40B4-BE49-F238E27FC236}">
                <a16:creationId xmlns:a16="http://schemas.microsoft.com/office/drawing/2014/main" id="{422C3923-5C8D-ACF4-C333-4BF0073D13EF}"/>
              </a:ext>
            </a:extLst>
          </p:cNvPr>
          <p:cNvCxnSpPr>
            <a:cxnSpLocks/>
          </p:cNvCxnSpPr>
          <p:nvPr/>
        </p:nvCxnSpPr>
        <p:spPr>
          <a:xfrm>
            <a:off x="6707765" y="3282185"/>
            <a:ext cx="0" cy="236928"/>
          </a:xfrm>
          <a:prstGeom prst="line">
            <a:avLst/>
          </a:prstGeom>
          <a:ln w="38100"/>
        </p:spPr>
        <p:style>
          <a:lnRef idx="1">
            <a:schemeClr val="dk1"/>
          </a:lnRef>
          <a:fillRef idx="0">
            <a:schemeClr val="dk1"/>
          </a:fillRef>
          <a:effectRef idx="0">
            <a:schemeClr val="dk1"/>
          </a:effectRef>
          <a:fontRef idx="minor">
            <a:schemeClr val="tx1"/>
          </a:fontRef>
        </p:style>
      </p:cxnSp>
      <p:cxnSp>
        <p:nvCxnSpPr>
          <p:cNvPr id="150" name="Straight Connector 149">
            <a:extLst>
              <a:ext uri="{FF2B5EF4-FFF2-40B4-BE49-F238E27FC236}">
                <a16:creationId xmlns:a16="http://schemas.microsoft.com/office/drawing/2014/main" id="{742DCD6C-864A-5F5F-82AE-24754EF1079D}"/>
              </a:ext>
            </a:extLst>
          </p:cNvPr>
          <p:cNvCxnSpPr>
            <a:cxnSpLocks/>
          </p:cNvCxnSpPr>
          <p:nvPr/>
        </p:nvCxnSpPr>
        <p:spPr>
          <a:xfrm flipV="1">
            <a:off x="4365769" y="4912335"/>
            <a:ext cx="813094" cy="296136"/>
          </a:xfrm>
          <a:prstGeom prst="line">
            <a:avLst/>
          </a:prstGeom>
          <a:ln w="28575">
            <a:prstDash val="sysDash"/>
          </a:ln>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715D3EE6-7801-9D6E-AC8C-16D7E56E5756}"/>
              </a:ext>
            </a:extLst>
          </p:cNvPr>
          <p:cNvCxnSpPr>
            <a:cxnSpLocks/>
          </p:cNvCxnSpPr>
          <p:nvPr/>
        </p:nvCxnSpPr>
        <p:spPr>
          <a:xfrm flipH="1" flipV="1">
            <a:off x="6406425" y="4905764"/>
            <a:ext cx="810494" cy="311084"/>
          </a:xfrm>
          <a:prstGeom prst="line">
            <a:avLst/>
          </a:prstGeom>
          <a:ln w="28575">
            <a:prstDash val="sysDash"/>
          </a:ln>
        </p:spPr>
        <p:style>
          <a:lnRef idx="1">
            <a:schemeClr val="dk1"/>
          </a:lnRef>
          <a:fillRef idx="0">
            <a:schemeClr val="dk1"/>
          </a:fillRef>
          <a:effectRef idx="0">
            <a:schemeClr val="dk1"/>
          </a:effectRef>
          <a:fontRef idx="minor">
            <a:schemeClr val="tx1"/>
          </a:fontRef>
        </p:style>
      </p:cxnSp>
      <p:cxnSp>
        <p:nvCxnSpPr>
          <p:cNvPr id="158" name="Straight Connector 157">
            <a:extLst>
              <a:ext uri="{FF2B5EF4-FFF2-40B4-BE49-F238E27FC236}">
                <a16:creationId xmlns:a16="http://schemas.microsoft.com/office/drawing/2014/main" id="{17AF5626-26F7-F706-475C-916CA8A5F1DB}"/>
              </a:ext>
            </a:extLst>
          </p:cNvPr>
          <p:cNvCxnSpPr>
            <a:cxnSpLocks/>
          </p:cNvCxnSpPr>
          <p:nvPr/>
        </p:nvCxnSpPr>
        <p:spPr>
          <a:xfrm>
            <a:off x="3862803" y="5221788"/>
            <a:ext cx="830285" cy="92454"/>
          </a:xfrm>
          <a:prstGeom prst="line">
            <a:avLst/>
          </a:prstGeom>
          <a:ln w="28575">
            <a:prstDash val="sysDash"/>
          </a:ln>
        </p:spPr>
        <p:style>
          <a:lnRef idx="1">
            <a:schemeClr val="dk1"/>
          </a:lnRef>
          <a:fillRef idx="0">
            <a:schemeClr val="dk1"/>
          </a:fillRef>
          <a:effectRef idx="0">
            <a:schemeClr val="dk1"/>
          </a:effectRef>
          <a:fontRef idx="minor">
            <a:schemeClr val="tx1"/>
          </a:fontRef>
        </p:style>
      </p:cxnSp>
      <p:cxnSp>
        <p:nvCxnSpPr>
          <p:cNvPr id="162" name="Straight Connector 161">
            <a:extLst>
              <a:ext uri="{FF2B5EF4-FFF2-40B4-BE49-F238E27FC236}">
                <a16:creationId xmlns:a16="http://schemas.microsoft.com/office/drawing/2014/main" id="{E1840EDB-C315-FC3F-071C-082A6835336D}"/>
              </a:ext>
            </a:extLst>
          </p:cNvPr>
          <p:cNvCxnSpPr>
            <a:cxnSpLocks/>
          </p:cNvCxnSpPr>
          <p:nvPr/>
        </p:nvCxnSpPr>
        <p:spPr>
          <a:xfrm flipV="1">
            <a:off x="3862803" y="6166144"/>
            <a:ext cx="830285" cy="187972"/>
          </a:xfrm>
          <a:prstGeom prst="line">
            <a:avLst/>
          </a:prstGeom>
          <a:ln w="28575">
            <a:prstDash val="sys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52C8F9E2-EAD7-74C2-3615-07E3D5D5A719}"/>
                  </a:ext>
                </a:extLst>
              </p:cNvPr>
              <p:cNvSpPr txBox="1"/>
              <p:nvPr/>
            </p:nvSpPr>
            <p:spPr>
              <a:xfrm>
                <a:off x="7585737" y="5223416"/>
                <a:ext cx="3974230" cy="1477328"/>
              </a:xfrm>
              <a:prstGeom prst="rect">
                <a:avLst/>
              </a:prstGeom>
              <a:noFill/>
              <a:ln>
                <a:solidFill>
                  <a:srgbClr val="FF0000"/>
                </a:solidFill>
              </a:ln>
            </p:spPr>
            <p:txBody>
              <a:bodyPr wrap="square">
                <a:spAutoFit/>
              </a:bodyPr>
              <a:lstStyle/>
              <a:p>
                <a:pPr marL="0" indent="0">
                  <a:buNone/>
                </a:pPr>
                <a:r>
                  <a:rPr lang="en-US" b="1">
                    <a:solidFill>
                      <a:srgbClr val="FF0000"/>
                    </a:solidFill>
                    <a:latin typeface="Calibri (Body)"/>
                  </a:rPr>
                  <a:t>Readmore</a:t>
                </a:r>
                <a:r>
                  <a:rPr lang="en-US">
                    <a:solidFill>
                      <a:srgbClr val="FF0000"/>
                    </a:solidFill>
                    <a:latin typeface="Calibri (Body)"/>
                  </a:rPr>
                  <a:t>: Entangled state preparation isn’t a trivial problem. </a:t>
                </a:r>
              </a:p>
              <a:p>
                <a:pPr marL="0" indent="0">
                  <a:buNone/>
                </a:pPr>
                <a:r>
                  <a:rPr lang="vi-VN">
                    <a:solidFill>
                      <a:srgbClr val="FF0000"/>
                    </a:solidFill>
                    <a:latin typeface="Calibri (Body)"/>
                  </a:rPr>
                  <a:t>Entangled State Preparation via Cluster States on Quantum Computers with </a:t>
                </a:r>
                <a14:m>
                  <m:oMath xmlns:m="http://schemas.openxmlformats.org/officeDocument/2006/math">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𝑞𝑜</m:t>
                        </m:r>
                      </m:e>
                      <m:e>
                        <m:r>
                          <a:rPr lang="en-US" b="0" i="1" smtClean="0">
                            <a:solidFill>
                              <a:srgbClr val="FF0000"/>
                            </a:solidFill>
                            <a:latin typeface="Cambria Math" panose="02040503050406030204" pitchFamily="18" charset="0"/>
                          </a:rPr>
                          <m:t>𝑜𝑝</m:t>
                        </m:r>
                      </m:e>
                    </m:d>
                    <m:r>
                      <a:rPr lang="en-US" b="0" i="1" smtClean="0">
                        <a:solidFill>
                          <a:srgbClr val="FF0000"/>
                        </a:solidFill>
                        <a:latin typeface="Cambria Math" panose="02040503050406030204" pitchFamily="18" charset="0"/>
                      </a:rPr>
                      <m:t> </m:t>
                    </m:r>
                  </m:oMath>
                </a14:m>
                <a:r>
                  <a:rPr lang="vi-VN">
                    <a:solidFill>
                      <a:srgbClr val="FF0000"/>
                    </a:solidFill>
                    <a:latin typeface="Calibri (Body)"/>
                  </a:rPr>
                  <a:t>Software</a:t>
                </a:r>
                <a:r>
                  <a:rPr lang="en-US">
                    <a:solidFill>
                      <a:srgbClr val="FF0000"/>
                    </a:solidFill>
                    <a:latin typeface="Calibri (Body)"/>
                  </a:rPr>
                  <a:t>, 2025 QSW</a:t>
                </a:r>
                <a:endParaRPr lang="vi-VN">
                  <a:solidFill>
                    <a:srgbClr val="FF0000"/>
                  </a:solidFill>
                  <a:latin typeface="Calibri (Body)"/>
                </a:endParaRPr>
              </a:p>
            </p:txBody>
          </p:sp>
        </mc:Choice>
        <mc:Fallback xmlns="">
          <p:sp>
            <p:nvSpPr>
              <p:cNvPr id="176" name="TextBox 175">
                <a:extLst>
                  <a:ext uri="{FF2B5EF4-FFF2-40B4-BE49-F238E27FC236}">
                    <a16:creationId xmlns:a16="http://schemas.microsoft.com/office/drawing/2014/main" id="{52C8F9E2-EAD7-74C2-3615-07E3D5D5A719}"/>
                  </a:ext>
                </a:extLst>
              </p:cNvPr>
              <p:cNvSpPr txBox="1">
                <a:spLocks noRot="1" noChangeAspect="1" noMove="1" noResize="1" noEditPoints="1" noAdjustHandles="1" noChangeArrowheads="1" noChangeShapeType="1" noTextEdit="1"/>
              </p:cNvSpPr>
              <p:nvPr/>
            </p:nvSpPr>
            <p:spPr>
              <a:xfrm>
                <a:off x="7585737" y="5223416"/>
                <a:ext cx="3974230" cy="1477328"/>
              </a:xfrm>
              <a:prstGeom prst="rect">
                <a:avLst/>
              </a:prstGeom>
              <a:blipFill>
                <a:blip r:embed="rId28"/>
                <a:stretch>
                  <a:fillRect l="-1070" t="-2049" b="-5328"/>
                </a:stretch>
              </a:blipFill>
              <a:ln>
                <a:solidFill>
                  <a:srgbClr val="FF0000"/>
                </a:solidFill>
              </a:ln>
            </p:spPr>
            <p:txBody>
              <a:bodyPr/>
              <a:lstStyle/>
              <a:p>
                <a:r>
                  <a:rPr lang="vi-VN">
                    <a:noFill/>
                  </a:rPr>
                  <a:t> </a:t>
                </a:r>
              </a:p>
            </p:txBody>
          </p:sp>
        </mc:Fallback>
      </mc:AlternateContent>
    </p:spTree>
    <p:extLst>
      <p:ext uri="{BB962C8B-B14F-4D97-AF65-F5344CB8AC3E}">
        <p14:creationId xmlns:p14="http://schemas.microsoft.com/office/powerpoint/2010/main" val="173266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Straight Connector 48">
            <a:extLst>
              <a:ext uri="{FF2B5EF4-FFF2-40B4-BE49-F238E27FC236}">
                <a16:creationId xmlns:a16="http://schemas.microsoft.com/office/drawing/2014/main" id="{1495C2AD-6176-B3FC-45FB-50A20B28E237}"/>
              </a:ext>
            </a:extLst>
          </p:cNvPr>
          <p:cNvCxnSpPr/>
          <p:nvPr/>
        </p:nvCxnSpPr>
        <p:spPr>
          <a:xfrm>
            <a:off x="1043459" y="5349103"/>
            <a:ext cx="28997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ADD38E-63EF-154C-B348-F04AF9E1AA4A}"/>
              </a:ext>
            </a:extLst>
          </p:cNvPr>
          <p:cNvSpPr>
            <a:spLocks noGrp="1"/>
          </p:cNvSpPr>
          <p:nvPr>
            <p:ph type="title"/>
          </p:nvPr>
        </p:nvSpPr>
        <p:spPr/>
        <p:txBody>
          <a:bodyPr>
            <a:normAutofit/>
          </a:bodyPr>
          <a:lstStyle/>
          <a:p>
            <a:r>
              <a:rPr lang="en-VN"/>
              <a:t>Gradient and optimizer</a:t>
            </a:r>
          </a:p>
        </p:txBody>
      </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D21E891-5D4C-C534-335C-0F82247E7E6C}"/>
                  </a:ext>
                </a:extLst>
              </p:cNvPr>
              <p:cNvSpPr/>
              <p:nvPr/>
            </p:nvSpPr>
            <p:spPr>
              <a:xfrm>
                <a:off x="838200" y="1441621"/>
                <a:ext cx="8772611" cy="32739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Considering a PQC</a:t>
                </a:r>
                <a14:m>
                  <m:oMath xmlns:m="http://schemas.openxmlformats.org/officeDocument/2006/math">
                    <m:r>
                      <a:rPr lang="vi-VN" sz="2800" b="0" i="0">
                        <a:solidFill>
                          <a:schemeClr val="tx1"/>
                        </a:solidFill>
                        <a:latin typeface="Cambria Math" panose="02040503050406030204" pitchFamily="18" charset="0"/>
                        <a:ea typeface="Cambria Math" panose="02040503050406030204" pitchFamily="18" charset="0"/>
                      </a:rPr>
                      <m:t> </m:t>
                    </m:r>
                    <m:r>
                      <a:rPr lang="vi-VN" sz="2800" i="1">
                        <a:solidFill>
                          <a:schemeClr val="tx1"/>
                        </a:solidFill>
                        <a:latin typeface="Cambria Math" panose="02040503050406030204" pitchFamily="18" charset="0"/>
                        <a:ea typeface="Cambria Math" panose="02040503050406030204" pitchFamily="18" charset="0"/>
                      </a:rPr>
                      <m:t>𝑈</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−1</m:t>
                        </m:r>
                      </m:sub>
                    </m:sSub>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−2</m:t>
                        </m:r>
                      </m:sub>
                    </m:sSub>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0</m:t>
                        </m:r>
                      </m:sub>
                    </m:sSub>
                  </m:oMath>
                </a14:m>
                <a:r>
                  <a:rPr lang="en-VN" i="1">
                    <a:solidFill>
                      <a:schemeClr val="tx1"/>
                    </a:solidFill>
                    <a:latin typeface="Calibri" panose="020F0502020204030204" pitchFamily="34" charset="0"/>
                    <a:cs typeface="Calibri" panose="020F0502020204030204" pitchFamily="34" charset="0"/>
                  </a:rPr>
                  <a:t> </a:t>
                </a: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with associated cost function:</a:t>
                </a: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vi-VN" sz="2800" i="1">
                        <a:solidFill>
                          <a:schemeClr val="tx1"/>
                        </a:solidFill>
                        <a:latin typeface="Cambria Math" panose="02040503050406030204" pitchFamily="18" charset="0"/>
                        <a:ea typeface="Cambria Math" panose="02040503050406030204" pitchFamily="18" charset="0"/>
                      </a:rPr>
                      <m:t>𝐶</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r>
                      <a:rPr lang="vi-VN" sz="2800" i="1">
                        <a:solidFill>
                          <a:schemeClr val="tx1"/>
                        </a:solidFill>
                        <a:latin typeface="Cambria Math" panose="02040503050406030204" pitchFamily="18" charset="0"/>
                        <a:ea typeface="Cambria Math" panose="02040503050406030204" pitchFamily="18" charset="0"/>
                      </a:rPr>
                      <m:t>𝑓</m:t>
                    </m:r>
                    <m:r>
                      <a:rPr lang="vi-VN" sz="2800" b="0" i="1">
                        <a:solidFill>
                          <a:schemeClr val="tx1"/>
                        </a:solidFill>
                        <a:latin typeface="Cambria Math" panose="02040503050406030204" pitchFamily="18" charset="0"/>
                        <a:ea typeface="Cambria Math" panose="02040503050406030204" pitchFamily="18" charset="0"/>
                      </a:rPr>
                      <m:t>(</m:t>
                    </m:r>
                    <m:d>
                      <m:dPr>
                        <m:begChr m:val="⟨"/>
                        <m:endChr m:val="⟩"/>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𝟎</m:t>
                        </m:r>
                        <m:d>
                          <m:dPr>
                            <m:begChr m:val="|"/>
                            <m:endChr m:val="|"/>
                            <m:ctrlPr>
                              <a:rPr lang="vi-VN" sz="2800" i="1">
                                <a:solidFill>
                                  <a:schemeClr val="tx1"/>
                                </a:solidFill>
                                <a:latin typeface="Cambria Math" panose="02040503050406030204" pitchFamily="18" charset="0"/>
                                <a:ea typeface="Cambria Math" panose="02040503050406030204" pitchFamily="18" charset="0"/>
                              </a:rPr>
                            </m:ctrlPr>
                          </m:dPr>
                          <m:e>
                            <m:sSup>
                              <m:sSupPr>
                                <m:ctrlPr>
                                  <a:rPr lang="vi-VN" sz="2800" i="1">
                                    <a:solidFill>
                                      <a:schemeClr val="tx1"/>
                                    </a:solidFill>
                                    <a:latin typeface="Cambria Math" panose="02040503050406030204" pitchFamily="18" charset="0"/>
                                    <a:ea typeface="Cambria Math" panose="02040503050406030204" pitchFamily="18" charset="0"/>
                                  </a:rPr>
                                </m:ctrlPr>
                              </m:sSupPr>
                              <m:e>
                                <m:r>
                                  <a:rPr lang="vi-VN" sz="2800" i="1">
                                    <a:solidFill>
                                      <a:schemeClr val="tx1"/>
                                    </a:solidFill>
                                    <a:latin typeface="Cambria Math" panose="02040503050406030204" pitchFamily="18" charset="0"/>
                                    <a:ea typeface="Cambria Math" panose="02040503050406030204" pitchFamily="18" charset="0"/>
                                  </a:rPr>
                                  <m:t>𝑈</m:t>
                                </m:r>
                              </m:e>
                              <m:sup>
                                <m:r>
                                  <a:rPr lang="vi-VN" sz="2800" i="1">
                                    <a:solidFill>
                                      <a:schemeClr val="tx1"/>
                                    </a:solidFill>
                                    <a:latin typeface="Cambria Math" panose="02040503050406030204" pitchFamily="18" charset="0"/>
                                    <a:ea typeface="Cambria Math" panose="02040503050406030204" pitchFamily="18" charset="0"/>
                                  </a:rPr>
                                  <m:t>†</m:t>
                                </m:r>
                              </m:sup>
                            </m:sSup>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acc>
                              <m:accPr>
                                <m:chr m:val="̂"/>
                                <m:ctrlPr>
                                  <a:rPr lang="vi-VN" sz="2800" i="1">
                                    <a:solidFill>
                                      <a:schemeClr val="tx1"/>
                                    </a:solidFill>
                                    <a:latin typeface="Cambria Math" panose="02040503050406030204" pitchFamily="18" charset="0"/>
                                    <a:ea typeface="Cambria Math" panose="02040503050406030204" pitchFamily="18" charset="0"/>
                                  </a:rPr>
                                </m:ctrlPr>
                              </m:accPr>
                              <m:e>
                                <m:r>
                                  <a:rPr lang="vi-VN" sz="2800" i="1">
                                    <a:solidFill>
                                      <a:schemeClr val="tx1"/>
                                    </a:solidFill>
                                    <a:latin typeface="Cambria Math" panose="02040503050406030204" pitchFamily="18" charset="0"/>
                                    <a:ea typeface="Cambria Math" panose="02040503050406030204" pitchFamily="18" charset="0"/>
                                  </a:rPr>
                                  <m:t>𝐵</m:t>
                                </m:r>
                              </m:e>
                            </m:acc>
                            <m:r>
                              <a:rPr lang="vi-VN" sz="2800" i="1">
                                <a:solidFill>
                                  <a:schemeClr val="tx1"/>
                                </a:solidFill>
                                <a:latin typeface="Cambria Math" panose="02040503050406030204" pitchFamily="18" charset="0"/>
                                <a:ea typeface="Cambria Math" panose="02040503050406030204" pitchFamily="18" charset="0"/>
                              </a:rPr>
                              <m:t>𝑈</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e>
                        </m:d>
                        <m:r>
                          <a:rPr lang="vi-VN" sz="2800" b="1" i="1">
                            <a:solidFill>
                              <a:schemeClr val="tx1"/>
                            </a:solidFill>
                            <a:latin typeface="Cambria Math" panose="02040503050406030204" pitchFamily="18" charset="0"/>
                            <a:ea typeface="Cambria Math" panose="02040503050406030204" pitchFamily="18" charset="0"/>
                          </a:rPr>
                          <m:t>𝟎</m:t>
                        </m:r>
                      </m:e>
                    </m:d>
                    <m:r>
                      <a:rPr lang="vi-VN" sz="2800" b="0" i="1">
                        <a:solidFill>
                          <a:schemeClr val="tx1"/>
                        </a:solidFill>
                        <a:latin typeface="Cambria Math" panose="02040503050406030204" pitchFamily="18" charset="0"/>
                        <a:ea typeface="Cambria Math" panose="02040503050406030204" pitchFamily="18" charset="0"/>
                      </a:rPr>
                      <m:t>)</m:t>
                    </m:r>
                  </m:oMath>
                </a14:m>
                <a:endParaRPr lang="en-VN" sz="2800" b="1" i="1">
                  <a:solidFill>
                    <a:schemeClr val="tx1"/>
                  </a:solidFill>
                  <a:latin typeface="Calibri" panose="020F0502020204030204" pitchFamily="34" charset="0"/>
                  <a:cs typeface="Calibri" panose="020F0502020204030204" pitchFamily="34" charset="0"/>
                </a:endParaRPr>
              </a:p>
              <a:p>
                <a:r>
                  <a:rPr lang="en-VN" sz="2800">
                    <a:solidFill>
                      <a:schemeClr val="tx1"/>
                    </a:solidFill>
                    <a:latin typeface="Calibri" panose="020F0502020204030204" pitchFamily="34" charset="0"/>
                    <a:cs typeface="Calibri" panose="020F0502020204030204" pitchFamily="34" charset="0"/>
                  </a:rPr>
                  <a:t>We want to find:</a:t>
                </a:r>
              </a:p>
              <a:p>
                <a:pPr lvl="1"/>
                <a14:m>
                  <m:oMath xmlns:m="http://schemas.openxmlformats.org/officeDocument/2006/math">
                    <m:sSup>
                      <m:sSupPr>
                        <m:ctrlPr>
                          <a:rPr lang="vi-VN" sz="2800" b="1" i="1">
                            <a:solidFill>
                              <a:schemeClr val="tx1"/>
                            </a:solidFill>
                            <a:latin typeface="Cambria Math" panose="02040503050406030204" pitchFamily="18" charset="0"/>
                          </a:rPr>
                        </m:ctrlPr>
                      </m:sSupPr>
                      <m:e>
                        <m:r>
                          <a:rPr lang="vi-VN" sz="2800" b="1" i="1">
                            <a:solidFill>
                              <a:schemeClr val="tx1"/>
                            </a:solidFill>
                            <a:latin typeface="Cambria Math" panose="02040503050406030204" pitchFamily="18" charset="0"/>
                          </a:rPr>
                          <m:t>𝜽</m:t>
                        </m:r>
                      </m:e>
                      <m:sup>
                        <m:r>
                          <a:rPr lang="vi-VN" sz="2800" b="1" i="1">
                            <a:solidFill>
                              <a:schemeClr val="tx1"/>
                            </a:solidFill>
                            <a:latin typeface="Cambria Math" panose="02040503050406030204" pitchFamily="18" charset="0"/>
                          </a:rPr>
                          <m:t>∗</m:t>
                        </m:r>
                      </m:sup>
                    </m:sSup>
                    <m:r>
                      <a:rPr lang="vi-VN" sz="2800" b="1" i="1">
                        <a:solidFill>
                          <a:schemeClr val="tx1"/>
                        </a:solidFill>
                        <a:latin typeface="Cambria Math" panose="02040503050406030204" pitchFamily="18" charset="0"/>
                      </a:rPr>
                      <m:t>=</m:t>
                    </m:r>
                    <m:sSub>
                      <m:sSubPr>
                        <m:ctrlPr>
                          <a:rPr lang="vi-VN" sz="2800" i="1">
                            <a:solidFill>
                              <a:schemeClr val="tx1"/>
                            </a:solidFill>
                            <a:latin typeface="Cambria Math" panose="02040503050406030204" pitchFamily="18" charset="0"/>
                          </a:rPr>
                        </m:ctrlPr>
                      </m:sSubPr>
                      <m:e>
                        <m:r>
                          <m:rPr>
                            <m:sty m:val="p"/>
                          </m:rPr>
                          <a:rPr lang="vi-VN" sz="2800">
                            <a:solidFill>
                              <a:schemeClr val="tx1"/>
                            </a:solidFill>
                            <a:latin typeface="Cambria Math" panose="02040503050406030204" pitchFamily="18" charset="0"/>
                          </a:rPr>
                          <m:t>argmin</m:t>
                        </m:r>
                      </m:e>
                      <m:sub>
                        <m:r>
                          <a:rPr lang="vi-VN" sz="2800" b="1" i="1">
                            <a:solidFill>
                              <a:schemeClr val="tx1"/>
                            </a:solidFill>
                            <a:latin typeface="Cambria Math" panose="02040503050406030204" pitchFamily="18" charset="0"/>
                          </a:rPr>
                          <m:t>𝜽</m:t>
                        </m:r>
                      </m:sub>
                    </m:sSub>
                    <m:r>
                      <a:rPr lang="vi-VN" sz="2800" i="1">
                        <a:solidFill>
                          <a:schemeClr val="tx1"/>
                        </a:solidFill>
                        <a:latin typeface="Cambria Math" panose="02040503050406030204" pitchFamily="18" charset="0"/>
                      </a:rPr>
                      <m:t>𝐶</m:t>
                    </m:r>
                    <m:d>
                      <m:dPr>
                        <m:ctrlPr>
                          <a:rPr lang="vi-VN" sz="2800" b="1" i="1">
                            <a:solidFill>
                              <a:schemeClr val="tx1"/>
                            </a:solidFill>
                            <a:latin typeface="Cambria Math" panose="02040503050406030204" pitchFamily="18" charset="0"/>
                          </a:rPr>
                        </m:ctrlPr>
                      </m:dPr>
                      <m:e>
                        <m:r>
                          <a:rPr lang="vi-VN" sz="2800" b="1" i="1">
                            <a:solidFill>
                              <a:schemeClr val="tx1"/>
                            </a:solidFill>
                            <a:latin typeface="Cambria Math" panose="02040503050406030204" pitchFamily="18" charset="0"/>
                          </a:rPr>
                          <m:t>𝜽</m:t>
                        </m:r>
                      </m:e>
                    </m:d>
                  </m:oMath>
                </a14:m>
                <a:r>
                  <a:rPr lang="en-VN" sz="2800" b="1" i="1">
                    <a:solidFill>
                      <a:schemeClr val="tx1"/>
                    </a:solidFill>
                    <a:latin typeface="Calibri" panose="020F0502020204030204" pitchFamily="34" charset="0"/>
                    <a:cs typeface="Calibri" panose="020F0502020204030204" pitchFamily="34" charset="0"/>
                  </a:rPr>
                  <a:t> </a:t>
                </a:r>
              </a:p>
              <a:p>
                <a:r>
                  <a:rPr lang="en-VN" sz="2800" i="1">
                    <a:solidFill>
                      <a:schemeClr val="tx1"/>
                    </a:solidFill>
                    <a:latin typeface="Calibri" panose="020F0502020204030204" pitchFamily="34" charset="0"/>
                    <a:cs typeface="Calibri" panose="020F0502020204030204" pitchFamily="34" charset="0"/>
                  </a:rPr>
                  <a:t> </a:t>
                </a:r>
              </a:p>
            </p:txBody>
          </p:sp>
        </mc:Choice>
        <mc:Fallback xmlns="">
          <p:sp>
            <p:nvSpPr>
              <p:cNvPr id="50" name="Rectangle 49">
                <a:extLst>
                  <a:ext uri="{FF2B5EF4-FFF2-40B4-BE49-F238E27FC236}">
                    <a16:creationId xmlns:a16="http://schemas.microsoft.com/office/drawing/2014/main" id="{5D21E891-5D4C-C534-335C-0F82247E7E6C}"/>
                  </a:ext>
                </a:extLst>
              </p:cNvPr>
              <p:cNvSpPr>
                <a:spLocks noRot="1" noChangeAspect="1" noMove="1" noResize="1" noEditPoints="1" noAdjustHandles="1" noChangeArrowheads="1" noChangeShapeType="1" noTextEdit="1"/>
              </p:cNvSpPr>
              <p:nvPr/>
            </p:nvSpPr>
            <p:spPr>
              <a:xfrm>
                <a:off x="838200" y="1441621"/>
                <a:ext cx="8772611" cy="3273984"/>
              </a:xfrm>
              <a:prstGeom prst="rect">
                <a:avLst/>
              </a:prstGeom>
              <a:blipFill>
                <a:blip r:embed="rId2"/>
                <a:stretch>
                  <a:fillRect l="-1447" t="-1931"/>
                </a:stretch>
              </a:blipFill>
              <a:ln>
                <a:noFill/>
              </a:ln>
            </p:spPr>
            <p:txBody>
              <a:bodyPr/>
              <a:lstStyle/>
              <a:p>
                <a:r>
                  <a:rPr lang="en-VN">
                    <a:noFill/>
                  </a:rPr>
                  <a:t> </a:t>
                </a:r>
              </a:p>
            </p:txBody>
          </p:sp>
        </mc:Fallback>
      </mc:AlternateContent>
      <p:sp>
        <p:nvSpPr>
          <p:cNvPr id="52" name="Slide Number Placeholder 51">
            <a:extLst>
              <a:ext uri="{FF2B5EF4-FFF2-40B4-BE49-F238E27FC236}">
                <a16:creationId xmlns:a16="http://schemas.microsoft.com/office/drawing/2014/main" id="{C82A7B59-BBF9-E075-9F5C-BC2E6CDB6379}"/>
              </a:ext>
            </a:extLst>
          </p:cNvPr>
          <p:cNvSpPr>
            <a:spLocks noGrp="1"/>
          </p:cNvSpPr>
          <p:nvPr>
            <p:ph type="sldNum" sz="quarter" idx="12"/>
          </p:nvPr>
        </p:nvSpPr>
        <p:spPr/>
        <p:txBody>
          <a:bodyPr/>
          <a:lstStyle/>
          <a:p>
            <a:fld id="{D98A4569-6716-F649-8F1C-6F4A1EFC2E5C}" type="slidenum">
              <a:t>28</a:t>
            </a:fld>
            <a:endParaRPr lang="en-VN"/>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A8A39BA6-8714-E404-42DE-F41BAB3062DD}"/>
                  </a:ext>
                </a:extLst>
              </p:cNvPr>
              <p:cNvSpPr/>
              <p:nvPr/>
            </p:nvSpPr>
            <p:spPr>
              <a:xfrm>
                <a:off x="1548716" y="4924383"/>
                <a:ext cx="169150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sz="2400" i="1">
                          <a:solidFill>
                            <a:schemeClr val="tx1"/>
                          </a:solidFill>
                          <a:latin typeface="Cambria Math" panose="02040503050406030204" pitchFamily="18" charset="0"/>
                        </a:rPr>
                        <m:t>𝑈</m:t>
                      </m:r>
                      <m:r>
                        <a:rPr lang="en-VN" sz="2400" i="1">
                          <a:solidFill>
                            <a:schemeClr val="tx1"/>
                          </a:solidFill>
                          <a:latin typeface="Cambria Math" panose="02040503050406030204" pitchFamily="18" charset="0"/>
                        </a:rPr>
                        <m:t>(</m:t>
                      </m:r>
                      <m:r>
                        <a:rPr lang="en-VN" sz="2400" b="1" i="1">
                          <a:solidFill>
                            <a:schemeClr val="tx1"/>
                          </a:solidFill>
                          <a:latin typeface="Cambria Math" panose="02040503050406030204" pitchFamily="18" charset="0"/>
                        </a:rPr>
                        <m:t>𝜽</m:t>
                      </m:r>
                      <m:r>
                        <a:rPr lang="en-VN" sz="2400" i="1">
                          <a:solidFill>
                            <a:schemeClr val="tx1"/>
                          </a:solidFill>
                          <a:latin typeface="Cambria Math" panose="02040503050406030204" pitchFamily="18" charset="0"/>
                        </a:rPr>
                        <m:t>)</m:t>
                      </m:r>
                    </m:oMath>
                  </m:oMathPara>
                </a14:m>
                <a:endParaRPr sz="2400"/>
              </a:p>
            </p:txBody>
          </p:sp>
        </mc:Choice>
        <mc:Fallback xmlns="">
          <p:sp>
            <p:nvSpPr>
              <p:cNvPr id="46" name="Rectangle 45">
                <a:extLst>
                  <a:ext uri="{FF2B5EF4-FFF2-40B4-BE49-F238E27FC236}">
                    <a16:creationId xmlns:a16="http://schemas.microsoft.com/office/drawing/2014/main" id="{A8A39BA6-8714-E404-42DE-F41BAB3062DD}"/>
                  </a:ext>
                </a:extLst>
              </p:cNvPr>
              <p:cNvSpPr>
                <a:spLocks noRot="1" noChangeAspect="1" noMove="1" noResize="1" noEditPoints="1" noAdjustHandles="1" noChangeArrowheads="1" noChangeShapeType="1" noTextEdit="1"/>
              </p:cNvSpPr>
              <p:nvPr/>
            </p:nvSpPr>
            <p:spPr>
              <a:xfrm>
                <a:off x="1548716" y="4924383"/>
                <a:ext cx="1691501" cy="867719"/>
              </a:xfrm>
              <a:prstGeom prst="rect">
                <a:avLst/>
              </a:prstGeom>
              <a:blipFill>
                <a:blip r:embed="rId3"/>
                <a:stretch>
                  <a:fillRect/>
                </a:stretch>
              </a:blipFill>
              <a:ln>
                <a:solidFill>
                  <a:schemeClr val="tx1"/>
                </a:solidFill>
              </a:ln>
            </p:spPr>
            <p:txBody>
              <a:bodyPr/>
              <a:lstStyle/>
              <a:p>
                <a:r>
                  <a:rPr lang="en-VN">
                    <a:noFill/>
                  </a:rPr>
                  <a:t> </a:t>
                </a:r>
              </a:p>
            </p:txBody>
          </p:sp>
        </mc:Fallback>
      </mc:AlternateContent>
      <p:sp>
        <p:nvSpPr>
          <p:cNvPr id="57" name="Hình chữ nhật 93">
            <a:extLst>
              <a:ext uri="{FF2B5EF4-FFF2-40B4-BE49-F238E27FC236}">
                <a16:creationId xmlns:a16="http://schemas.microsoft.com/office/drawing/2014/main" id="{2A3779FB-3879-7CD9-2EE1-E1E2E279A9D6}"/>
              </a:ext>
            </a:extLst>
          </p:cNvPr>
          <p:cNvSpPr/>
          <p:nvPr/>
        </p:nvSpPr>
        <p:spPr>
          <a:xfrm>
            <a:off x="3943180" y="5144481"/>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58" name="Arc 57">
            <a:extLst>
              <a:ext uri="{FF2B5EF4-FFF2-40B4-BE49-F238E27FC236}">
                <a16:creationId xmlns:a16="http://schemas.microsoft.com/office/drawing/2014/main" id="{9F9FE0D3-5F91-F63F-2F6D-63D493FB67F6}"/>
              </a:ext>
            </a:extLst>
          </p:cNvPr>
          <p:cNvSpPr/>
          <p:nvPr/>
        </p:nvSpPr>
        <p:spPr>
          <a:xfrm>
            <a:off x="4017441" y="5337280"/>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59" name="Straight Arrow Connector 58">
            <a:extLst>
              <a:ext uri="{FF2B5EF4-FFF2-40B4-BE49-F238E27FC236}">
                <a16:creationId xmlns:a16="http://schemas.microsoft.com/office/drawing/2014/main" id="{39AF0994-ACA4-4DEF-5097-6E879D161E49}"/>
              </a:ext>
            </a:extLst>
          </p:cNvPr>
          <p:cNvCxnSpPr>
            <a:cxnSpLocks/>
          </p:cNvCxnSpPr>
          <p:nvPr/>
        </p:nvCxnSpPr>
        <p:spPr>
          <a:xfrm flipV="1">
            <a:off x="4089730" y="5233775"/>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D35146D7-1EB0-06B3-27DE-48561DB42421}"/>
              </a:ext>
            </a:extLst>
          </p:cNvPr>
          <p:cNvCxnSpPr>
            <a:cxnSpLocks/>
          </p:cNvCxnSpPr>
          <p:nvPr/>
        </p:nvCxnSpPr>
        <p:spPr>
          <a:xfrm flipV="1">
            <a:off x="1213708" y="5222791"/>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986C42-0EFF-70AA-817C-3CBF7B091F7F}"/>
              </a:ext>
            </a:extLst>
          </p:cNvPr>
          <p:cNvCxnSpPr>
            <a:cxnSpLocks/>
          </p:cNvCxnSpPr>
          <p:nvPr/>
        </p:nvCxnSpPr>
        <p:spPr>
          <a:xfrm flipV="1">
            <a:off x="3532721" y="5217449"/>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7708B677-147A-6A63-0034-BADA4C3CE1A8}"/>
                  </a:ext>
                </a:extLst>
              </p:cNvPr>
              <p:cNvSpPr txBox="1"/>
              <p:nvPr/>
            </p:nvSpPr>
            <p:spPr>
              <a:xfrm>
                <a:off x="4887780" y="5112021"/>
                <a:ext cx="9116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oMath>
                  </m:oMathPara>
                </a14:m>
                <a:endParaRPr lang="en-VN" sz="2400"/>
              </a:p>
            </p:txBody>
          </p:sp>
        </mc:Choice>
        <mc:Fallback xmlns="">
          <p:sp>
            <p:nvSpPr>
              <p:cNvPr id="64" name="TextBox 63">
                <a:extLst>
                  <a:ext uri="{FF2B5EF4-FFF2-40B4-BE49-F238E27FC236}">
                    <a16:creationId xmlns:a16="http://schemas.microsoft.com/office/drawing/2014/main" id="{7708B677-147A-6A63-0034-BADA4C3CE1A8}"/>
                  </a:ext>
                </a:extLst>
              </p:cNvPr>
              <p:cNvSpPr txBox="1">
                <a:spLocks noRot="1" noChangeAspect="1" noMove="1" noResize="1" noEditPoints="1" noAdjustHandles="1" noChangeArrowheads="1" noChangeShapeType="1" noTextEdit="1"/>
              </p:cNvSpPr>
              <p:nvPr/>
            </p:nvSpPr>
            <p:spPr>
              <a:xfrm>
                <a:off x="4887780" y="5112021"/>
                <a:ext cx="911656" cy="461665"/>
              </a:xfrm>
              <a:prstGeom prst="rect">
                <a:avLst/>
              </a:prstGeom>
              <a:blipFill>
                <a:blip r:embed="rId4"/>
                <a:stretch>
                  <a:fillRect/>
                </a:stretch>
              </a:blipFill>
            </p:spPr>
            <p:txBody>
              <a:bodyPr/>
              <a:lstStyle/>
              <a:p>
                <a:r>
                  <a:rPr lang="en-VN">
                    <a:noFill/>
                  </a:rPr>
                  <a:t> </a:t>
                </a:r>
              </a:p>
            </p:txBody>
          </p:sp>
        </mc:Fallback>
      </mc:AlternateContent>
      <p:cxnSp>
        <p:nvCxnSpPr>
          <p:cNvPr id="66" name="Straight Arrow Connector 65">
            <a:extLst>
              <a:ext uri="{FF2B5EF4-FFF2-40B4-BE49-F238E27FC236}">
                <a16:creationId xmlns:a16="http://schemas.microsoft.com/office/drawing/2014/main" id="{595471C7-86EB-7471-4A9D-B32FE7AE12EF}"/>
              </a:ext>
            </a:extLst>
          </p:cNvPr>
          <p:cNvCxnSpPr>
            <a:stCxn id="57" idx="3"/>
            <a:endCxn id="64" idx="1"/>
          </p:cNvCxnSpPr>
          <p:nvPr/>
        </p:nvCxnSpPr>
        <p:spPr>
          <a:xfrm flipV="1">
            <a:off x="4351605" y="5342854"/>
            <a:ext cx="536175" cy="624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780FC65-407E-2595-D7CC-35B757880195}"/>
                  </a:ext>
                </a:extLst>
              </p:cNvPr>
              <p:cNvSpPr txBox="1"/>
              <p:nvPr/>
            </p:nvSpPr>
            <p:spPr>
              <a:xfrm>
                <a:off x="6365938" y="5112172"/>
                <a:ext cx="105444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vi-VN" sz="2400">
                          <a:solidFill>
                            <a:srgbClr val="FF0000"/>
                          </a:solidFill>
                          <a:latin typeface="Cambria Math" panose="02040503050406030204" pitchFamily="18" charset="0"/>
                          <a:ea typeface="Cambria Math" panose="02040503050406030204" pitchFamily="18" charset="0"/>
                        </a:rPr>
                        <m:t>∇</m:t>
                      </m:r>
                      <m:r>
                        <a:rPr lang="vi-VN" sz="2400" i="1">
                          <a:solidFill>
                            <a:srgbClr val="FF0000"/>
                          </a:solidFill>
                          <a:latin typeface="Cambria Math" panose="02040503050406030204" pitchFamily="18" charset="0"/>
                          <a:ea typeface="Cambria Math" panose="02040503050406030204" pitchFamily="18" charset="0"/>
                        </a:rPr>
                        <m:t>𝐶</m:t>
                      </m:r>
                    </m:oMath>
                  </m:oMathPara>
                </a14:m>
                <a:endParaRPr lang="en-VN" sz="2400">
                  <a:solidFill>
                    <a:srgbClr val="FF0000"/>
                  </a:solidFill>
                </a:endParaRPr>
              </a:p>
            </p:txBody>
          </p:sp>
        </mc:Choice>
        <mc:Fallback xmlns="">
          <p:sp>
            <p:nvSpPr>
              <p:cNvPr id="67" name="TextBox 66">
                <a:extLst>
                  <a:ext uri="{FF2B5EF4-FFF2-40B4-BE49-F238E27FC236}">
                    <a16:creationId xmlns:a16="http://schemas.microsoft.com/office/drawing/2014/main" id="{B780FC65-407E-2595-D7CC-35B757880195}"/>
                  </a:ext>
                </a:extLst>
              </p:cNvPr>
              <p:cNvSpPr txBox="1">
                <a:spLocks noRot="1" noChangeAspect="1" noMove="1" noResize="1" noEditPoints="1" noAdjustHandles="1" noChangeArrowheads="1" noChangeShapeType="1" noTextEdit="1"/>
              </p:cNvSpPr>
              <p:nvPr/>
            </p:nvSpPr>
            <p:spPr>
              <a:xfrm>
                <a:off x="6365938" y="5112172"/>
                <a:ext cx="1054447" cy="461665"/>
              </a:xfrm>
              <a:prstGeom prst="rect">
                <a:avLst/>
              </a:prstGeom>
              <a:blipFill>
                <a:blip r:embed="rId5"/>
                <a:stretch>
                  <a:fillRect/>
                </a:stretch>
              </a:blipFill>
            </p:spPr>
            <p:txBody>
              <a:bodyPr/>
              <a:lstStyle/>
              <a:p>
                <a:r>
                  <a:rPr lang="en-VN">
                    <a:noFill/>
                  </a:rPr>
                  <a:t> </a:t>
                </a:r>
              </a:p>
            </p:txBody>
          </p:sp>
        </mc:Fallback>
      </mc:AlternateContent>
      <p:cxnSp>
        <p:nvCxnSpPr>
          <p:cNvPr id="68" name="Straight Arrow Connector 67">
            <a:extLst>
              <a:ext uri="{FF2B5EF4-FFF2-40B4-BE49-F238E27FC236}">
                <a16:creationId xmlns:a16="http://schemas.microsoft.com/office/drawing/2014/main" id="{AD23F435-A588-E5AA-F720-DAADCAEE6234}"/>
              </a:ext>
            </a:extLst>
          </p:cNvPr>
          <p:cNvCxnSpPr>
            <a:cxnSpLocks/>
            <a:stCxn id="64" idx="3"/>
            <a:endCxn id="67" idx="1"/>
          </p:cNvCxnSpPr>
          <p:nvPr/>
        </p:nvCxnSpPr>
        <p:spPr>
          <a:xfrm>
            <a:off x="5799436" y="5342854"/>
            <a:ext cx="566502" cy="15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1143910-BC54-FA73-56ED-84D98CB4DBBD}"/>
                  </a:ext>
                </a:extLst>
              </p:cNvPr>
              <p:cNvSpPr txBox="1"/>
              <p:nvPr/>
            </p:nvSpPr>
            <p:spPr>
              <a:xfrm>
                <a:off x="7952259" y="5119509"/>
                <a:ext cx="3504107" cy="461665"/>
              </a:xfrm>
              <a:prstGeom prst="rect">
                <a:avLst/>
              </a:prstGeom>
              <a:noFill/>
              <a:ln>
                <a:solidFill>
                  <a:schemeClr val="tx1"/>
                </a:solidFill>
                <a:prstDash val="dash"/>
              </a:ln>
            </p:spPr>
            <p:txBody>
              <a:bodyPr wrap="square">
                <a:spAutoFit/>
              </a:bodyPr>
              <a:lstStyle/>
              <a:p>
                <a14:m>
                  <m:oMath xmlns:m="http://schemas.openxmlformats.org/officeDocument/2006/math">
                    <m:sSup>
                      <m:sSupPr>
                        <m:ctrlPr>
                          <a:rPr lang="vi-VN" sz="2400" i="1">
                            <a:latin typeface="Cambria Math" panose="02040503050406030204" pitchFamily="18" charset="0"/>
                          </a:rPr>
                        </m:ctrlPr>
                      </m:sSupPr>
                      <m:e>
                        <m:r>
                          <a:rPr lang="vi-VN" sz="2400" b="1" i="1">
                            <a:latin typeface="Cambria Math" panose="02040503050406030204" pitchFamily="18" charset="0"/>
                          </a:rPr>
                          <m:t>𝜽</m:t>
                        </m:r>
                      </m:e>
                      <m:sup>
                        <m:r>
                          <m:rPr>
                            <m:sty m:val="p"/>
                          </m:rPr>
                          <a:rPr lang="vi-VN" sz="2400" i="1">
                            <a:latin typeface="Cambria Math" panose="02040503050406030204" pitchFamily="18" charset="0"/>
                          </a:rPr>
                          <m:t>t</m:t>
                        </m:r>
                        <m:r>
                          <a:rPr lang="vi-VN" sz="2400" i="1">
                            <a:latin typeface="Cambria Math" panose="02040503050406030204" pitchFamily="18" charset="0"/>
                          </a:rPr>
                          <m:t>+1</m:t>
                        </m:r>
                      </m:sup>
                    </m:sSup>
                    <m:r>
                      <a:rPr lang="vi-VN" sz="2400" i="1">
                        <a:latin typeface="Cambria Math" panose="02040503050406030204" pitchFamily="18" charset="0"/>
                      </a:rPr>
                      <m:t>←</m:t>
                    </m:r>
                  </m:oMath>
                </a14:m>
                <a:r>
                  <a:rPr lang="en-VN" sz="2400"/>
                  <a:t> Optimizer</a:t>
                </a:r>
                <a14:m>
                  <m:oMath xmlns:m="http://schemas.openxmlformats.org/officeDocument/2006/math">
                    <m:r>
                      <a:rPr lang="en-VN" sz="2400" i="1">
                        <a:latin typeface="Cambria Math" panose="02040503050406030204" pitchFamily="18" charset="0"/>
                      </a:rPr>
                      <m:t>(</m:t>
                    </m:r>
                    <m:r>
                      <a:rPr lang="vi-VN" sz="2400" b="1" i="1">
                        <a:latin typeface="Cambria Math" panose="02040503050406030204" pitchFamily="18" charset="0"/>
                      </a:rPr>
                      <m:t>𝜽</m:t>
                    </m:r>
                    <m:r>
                      <a:rPr lang="vi-VN" sz="2400" i="1">
                        <a:latin typeface="Cambria Math" panose="02040503050406030204" pitchFamily="18" charset="0"/>
                      </a:rPr>
                      <m:t>,</m:t>
                    </m:r>
                    <m:r>
                      <m:rPr>
                        <m:sty m:val="p"/>
                      </m:rPr>
                      <a:rPr lang="vi-VN" sz="2400">
                        <a:latin typeface="Cambria Math" panose="02040503050406030204" pitchFamily="18" charset="0"/>
                      </a:rPr>
                      <m:t>∇</m:t>
                    </m:r>
                    <m:r>
                      <a:rPr lang="vi-VN" sz="2400" i="1">
                        <a:latin typeface="Cambria Math" panose="02040503050406030204" pitchFamily="18" charset="0"/>
                      </a:rPr>
                      <m:t>𝐶</m:t>
                    </m:r>
                    <m:r>
                      <a:rPr lang="en-VN" sz="2400" i="1">
                        <a:latin typeface="Cambria Math" panose="02040503050406030204" pitchFamily="18" charset="0"/>
                      </a:rPr>
                      <m:t>)</m:t>
                    </m:r>
                  </m:oMath>
                </a14:m>
                <a:endParaRPr lang="en-VN" sz="2400"/>
              </a:p>
            </p:txBody>
          </p:sp>
        </mc:Choice>
        <mc:Fallback xmlns="">
          <p:sp>
            <p:nvSpPr>
              <p:cNvPr id="72" name="TextBox 71">
                <a:extLst>
                  <a:ext uri="{FF2B5EF4-FFF2-40B4-BE49-F238E27FC236}">
                    <a16:creationId xmlns:a16="http://schemas.microsoft.com/office/drawing/2014/main" id="{01143910-BC54-FA73-56ED-84D98CB4DBBD}"/>
                  </a:ext>
                </a:extLst>
              </p:cNvPr>
              <p:cNvSpPr txBox="1">
                <a:spLocks noRot="1" noChangeAspect="1" noMove="1" noResize="1" noEditPoints="1" noAdjustHandles="1" noChangeArrowheads="1" noChangeShapeType="1" noTextEdit="1"/>
              </p:cNvSpPr>
              <p:nvPr/>
            </p:nvSpPr>
            <p:spPr>
              <a:xfrm>
                <a:off x="7952259" y="5119509"/>
                <a:ext cx="3504107" cy="461665"/>
              </a:xfrm>
              <a:prstGeom prst="rect">
                <a:avLst/>
              </a:prstGeom>
              <a:blipFill>
                <a:blip r:embed="rId6"/>
                <a:stretch>
                  <a:fillRect l="-360" t="-5128" b="-25641"/>
                </a:stretch>
              </a:blipFill>
              <a:ln>
                <a:solidFill>
                  <a:schemeClr val="tx1"/>
                </a:solidFill>
                <a:prstDash val="dash"/>
              </a:ln>
            </p:spPr>
            <p:txBody>
              <a:bodyPr/>
              <a:lstStyle/>
              <a:p>
                <a:r>
                  <a:rPr lang="en-VN">
                    <a:noFill/>
                  </a:rPr>
                  <a:t> </a:t>
                </a:r>
              </a:p>
            </p:txBody>
          </p:sp>
        </mc:Fallback>
      </mc:AlternateContent>
      <p:cxnSp>
        <p:nvCxnSpPr>
          <p:cNvPr id="73" name="Straight Arrow Connector 72">
            <a:extLst>
              <a:ext uri="{FF2B5EF4-FFF2-40B4-BE49-F238E27FC236}">
                <a16:creationId xmlns:a16="http://schemas.microsoft.com/office/drawing/2014/main" id="{50E22070-189C-4084-0DA3-9D4910284806}"/>
              </a:ext>
            </a:extLst>
          </p:cNvPr>
          <p:cNvCxnSpPr>
            <a:cxnSpLocks/>
            <a:stCxn id="67" idx="3"/>
            <a:endCxn id="72" idx="1"/>
          </p:cNvCxnSpPr>
          <p:nvPr/>
        </p:nvCxnSpPr>
        <p:spPr>
          <a:xfrm>
            <a:off x="7420385" y="5343005"/>
            <a:ext cx="531874" cy="733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DB988B16-DAAE-E8B2-143C-A8F15EC09A5C}"/>
              </a:ext>
            </a:extLst>
          </p:cNvPr>
          <p:cNvCxnSpPr>
            <a:cxnSpLocks/>
            <a:stCxn id="72" idx="2"/>
            <a:endCxn id="46" idx="2"/>
          </p:cNvCxnSpPr>
          <p:nvPr/>
        </p:nvCxnSpPr>
        <p:spPr>
          <a:xfrm rot="5400000">
            <a:off x="5943926" y="2031715"/>
            <a:ext cx="210928" cy="7309846"/>
          </a:xfrm>
          <a:prstGeom prst="bentConnector3">
            <a:avLst>
              <a:gd name="adj1" fmla="val 24679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A50D1D80-D9B7-5ED7-3B35-6399690675AF}"/>
                  </a:ext>
                </a:extLst>
              </p:cNvPr>
              <p:cNvSpPr txBox="1"/>
              <p:nvPr/>
            </p:nvSpPr>
            <p:spPr>
              <a:xfrm>
                <a:off x="4492370" y="5640366"/>
                <a:ext cx="4613189" cy="461665"/>
              </a:xfrm>
              <a:prstGeom prst="rect">
                <a:avLst/>
              </a:prstGeom>
              <a:noFill/>
            </p:spPr>
            <p:txBody>
              <a:bodyPr wrap="square" rtlCol="0">
                <a:spAutoFit/>
              </a:bodyPr>
              <a:lstStyle/>
              <a:p>
                <a:r>
                  <a:rPr lang="en-VN" sz="2400"/>
                  <a:t>Update </a:t>
                </a:r>
                <a14:m>
                  <m:oMath xmlns:m="http://schemas.openxmlformats.org/officeDocument/2006/math">
                    <m:r>
                      <a:rPr lang="en-VN" sz="2400" b="1" i="1">
                        <a:latin typeface="Cambria Math" panose="02040503050406030204" pitchFamily="18" charset="0"/>
                      </a:rPr>
                      <m:t>𝜽</m:t>
                    </m:r>
                  </m:oMath>
                </a14:m>
                <a:r>
                  <a:rPr lang="en-VN" sz="2400" b="1"/>
                  <a:t> </a:t>
                </a:r>
                <a:r>
                  <a:rPr lang="en-VN" sz="2400"/>
                  <a:t>until </a:t>
                </a:r>
                <a14:m>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r>
                      <a:rPr lang="vi-VN" sz="2400" b="1" i="1">
                        <a:latin typeface="Cambria Math" panose="02040503050406030204" pitchFamily="18" charset="0"/>
                        <a:ea typeface="Cambria Math" panose="02040503050406030204" pitchFamily="18" charset="0"/>
                      </a:rPr>
                      <m:t>&lt;</m:t>
                    </m:r>
                    <m:r>
                      <a:rPr lang="vi-VN" sz="2400" i="1">
                        <a:latin typeface="Cambria Math" panose="02040503050406030204" pitchFamily="18" charset="0"/>
                        <a:ea typeface="Cambria Math" panose="02040503050406030204" pitchFamily="18" charset="0"/>
                      </a:rPr>
                      <m:t>𝜏</m:t>
                    </m:r>
                  </m:oMath>
                </a14:m>
                <a:endParaRPr lang="en-VN" sz="2400"/>
              </a:p>
            </p:txBody>
          </p:sp>
        </mc:Choice>
        <mc:Fallback xmlns="">
          <p:sp>
            <p:nvSpPr>
              <p:cNvPr id="79" name="TextBox 78">
                <a:extLst>
                  <a:ext uri="{FF2B5EF4-FFF2-40B4-BE49-F238E27FC236}">
                    <a16:creationId xmlns:a16="http://schemas.microsoft.com/office/drawing/2014/main" id="{A50D1D80-D9B7-5ED7-3B35-6399690675AF}"/>
                  </a:ext>
                </a:extLst>
              </p:cNvPr>
              <p:cNvSpPr txBox="1">
                <a:spLocks noRot="1" noChangeAspect="1" noMove="1" noResize="1" noEditPoints="1" noAdjustHandles="1" noChangeArrowheads="1" noChangeShapeType="1" noTextEdit="1"/>
              </p:cNvSpPr>
              <p:nvPr/>
            </p:nvSpPr>
            <p:spPr>
              <a:xfrm>
                <a:off x="4492370" y="5640366"/>
                <a:ext cx="4613189" cy="461665"/>
              </a:xfrm>
              <a:prstGeom prst="rect">
                <a:avLst/>
              </a:prstGeom>
              <a:blipFill>
                <a:blip r:embed="rId7"/>
                <a:stretch>
                  <a:fillRect l="-1918" t="-8108" b="-29730"/>
                </a:stretch>
              </a:blipFill>
            </p:spPr>
            <p:txBody>
              <a:bodyPr/>
              <a:lstStyle/>
              <a:p>
                <a:r>
                  <a:rPr lang="en-VN">
                    <a:noFill/>
                  </a:rPr>
                  <a:t> </a:t>
                </a:r>
              </a:p>
            </p:txBody>
          </p:sp>
        </mc:Fallback>
      </mc:AlternateContent>
      <p:sp>
        <p:nvSpPr>
          <p:cNvPr id="80" name="TextBox 79">
            <a:extLst>
              <a:ext uri="{FF2B5EF4-FFF2-40B4-BE49-F238E27FC236}">
                <a16:creationId xmlns:a16="http://schemas.microsoft.com/office/drawing/2014/main" id="{7C84B3EA-56D1-AEB4-2040-3AB4D9C32451}"/>
              </a:ext>
            </a:extLst>
          </p:cNvPr>
          <p:cNvSpPr txBox="1"/>
          <p:nvPr/>
        </p:nvSpPr>
        <p:spPr>
          <a:xfrm>
            <a:off x="6192701" y="4172636"/>
            <a:ext cx="1397685" cy="461665"/>
          </a:xfrm>
          <a:prstGeom prst="rect">
            <a:avLst/>
          </a:prstGeom>
          <a:noFill/>
        </p:spPr>
        <p:txBody>
          <a:bodyPr wrap="square" rtlCol="0">
            <a:spAutoFit/>
          </a:bodyPr>
          <a:lstStyle/>
          <a:p>
            <a:r>
              <a:rPr lang="en-VN" sz="2400">
                <a:solidFill>
                  <a:srgbClr val="FF0000"/>
                </a:solidFill>
              </a:rPr>
              <a:t>Gradient</a:t>
            </a:r>
          </a:p>
        </p:txBody>
      </p:sp>
      <p:cxnSp>
        <p:nvCxnSpPr>
          <p:cNvPr id="81" name="Straight Arrow Connector 80">
            <a:extLst>
              <a:ext uri="{FF2B5EF4-FFF2-40B4-BE49-F238E27FC236}">
                <a16:creationId xmlns:a16="http://schemas.microsoft.com/office/drawing/2014/main" id="{91851B99-096F-9AE9-3916-FC38B8A1A642}"/>
              </a:ext>
            </a:extLst>
          </p:cNvPr>
          <p:cNvCxnSpPr>
            <a:cxnSpLocks/>
            <a:stCxn id="80" idx="2"/>
            <a:endCxn id="67" idx="0"/>
          </p:cNvCxnSpPr>
          <p:nvPr/>
        </p:nvCxnSpPr>
        <p:spPr>
          <a:xfrm>
            <a:off x="6891544" y="4634301"/>
            <a:ext cx="1618" cy="477871"/>
          </a:xfrm>
          <a:prstGeom prst="straightConnector1">
            <a:avLst/>
          </a:prstGeom>
          <a:ln>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6904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921D-108F-FF86-3522-399BA6BB5155}"/>
              </a:ext>
            </a:extLst>
          </p:cNvPr>
          <p:cNvSpPr>
            <a:spLocks noGrp="1"/>
          </p:cNvSpPr>
          <p:nvPr>
            <p:ph type="title"/>
          </p:nvPr>
        </p:nvSpPr>
        <p:spPr/>
        <p:txBody>
          <a:bodyPr/>
          <a:lstStyle/>
          <a:p>
            <a:r>
              <a:rPr lang="en-VN"/>
              <a:t>Gradient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156DC11-7823-551F-9FDB-8AB8DA234703}"/>
                  </a:ext>
                </a:extLst>
              </p:cNvPr>
              <p:cNvSpPr>
                <a:spLocks noGrp="1"/>
              </p:cNvSpPr>
              <p:nvPr>
                <p:ph idx="1"/>
              </p:nvPr>
            </p:nvSpPr>
            <p:spPr>
              <a:xfrm>
                <a:off x="1648691" y="2244684"/>
                <a:ext cx="6358488" cy="9541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indent="0">
                  <a:buNone/>
                </a:pPr>
                <a14:m>
                  <m:oMath xmlns:m="http://schemas.openxmlformats.org/officeDocument/2006/math">
                    <m:r>
                      <m:rPr>
                        <m:sty m:val="p"/>
                      </m:rPr>
                      <a:rPr lang="vi-VN" b="0" i="0">
                        <a:solidFill>
                          <a:schemeClr val="tx1"/>
                        </a:solidFill>
                        <a:latin typeface="Cambria Math" panose="02040503050406030204" pitchFamily="18" charset="0"/>
                        <a:ea typeface="Cambria Math" panose="02040503050406030204" pitchFamily="18" charset="0"/>
                      </a:rPr>
                      <m:t>∇</m:t>
                    </m:r>
                    <m:r>
                      <a:rPr lang="vi-VN" i="1">
                        <a:solidFill>
                          <a:schemeClr val="tx1"/>
                        </a:solidFill>
                        <a:latin typeface="Cambria Math" panose="02040503050406030204" pitchFamily="18" charset="0"/>
                        <a:ea typeface="Cambria Math" panose="02040503050406030204" pitchFamily="18" charset="0"/>
                      </a:rPr>
                      <m:t>𝐶</m:t>
                    </m:r>
                    <m:r>
                      <a:rPr lang="vi-VN" b="0" i="1">
                        <a:solidFill>
                          <a:schemeClr val="tx1"/>
                        </a:solidFill>
                        <a:latin typeface="Cambria Math" panose="02040503050406030204" pitchFamily="18" charset="0"/>
                        <a:ea typeface="Cambria Math" panose="02040503050406030204" pitchFamily="18" charset="0"/>
                      </a:rPr>
                      <m:t>=</m:t>
                    </m:r>
                    <m:sSup>
                      <m:sSupPr>
                        <m:ctrlPr>
                          <a:rPr lang="vi-VN" b="0" i="1">
                            <a:solidFill>
                              <a:schemeClr val="tx1"/>
                            </a:solidFill>
                            <a:latin typeface="Cambria Math" panose="02040503050406030204" pitchFamily="18" charset="0"/>
                            <a:ea typeface="Cambria Math" panose="02040503050406030204" pitchFamily="18" charset="0"/>
                          </a:rPr>
                        </m:ctrlPr>
                      </m:sSupPr>
                      <m:e>
                        <m:d>
                          <m:dPr>
                            <m:begChr m:val="["/>
                            <m:endChr m:val="]"/>
                            <m:ctrlPr>
                              <a:rPr lang="vi-VN" b="0" i="1">
                                <a:solidFill>
                                  <a:schemeClr val="tx1"/>
                                </a:solidFill>
                                <a:latin typeface="Cambria Math" panose="02040503050406030204" pitchFamily="18" charset="0"/>
                                <a:ea typeface="Cambria Math" panose="02040503050406030204" pitchFamily="18" charset="0"/>
                              </a:rPr>
                            </m:ctrlPr>
                          </m:dPr>
                          <m:e>
                            <m:m>
                              <m:mPr>
                                <m:mcs>
                                  <m:mc>
                                    <m:mcPr>
                                      <m:count m:val="3"/>
                                      <m:mcJc m:val="center"/>
                                    </m:mcPr>
                                  </m:mc>
                                </m:mcs>
                                <m:ctrlPr>
                                  <a:rPr lang="vi-VN" b="0" i="1">
                                    <a:solidFill>
                                      <a:schemeClr val="tx1"/>
                                    </a:solidFill>
                                    <a:latin typeface="Cambria Math" panose="02040503050406030204" pitchFamily="18" charset="0"/>
                                    <a:ea typeface="Cambria Math" panose="02040503050406030204" pitchFamily="18" charset="0"/>
                                  </a:rPr>
                                </m:ctrlPr>
                              </m:mPr>
                              <m:mr>
                                <m:e>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m:t>
                                      </m:r>
                                    </m:e>
                                    <m:sub>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𝜃</m:t>
                                          </m:r>
                                        </m:e>
                                        <m:sub>
                                          <m:r>
                                            <a:rPr lang="vi-VN" i="1">
                                              <a:solidFill>
                                                <a:schemeClr val="tx1"/>
                                              </a:solidFill>
                                              <a:latin typeface="Cambria Math" panose="02040503050406030204" pitchFamily="18" charset="0"/>
                                              <a:ea typeface="Cambria Math" panose="02040503050406030204" pitchFamily="18" charset="0"/>
                                            </a:rPr>
                                            <m:t>0</m:t>
                                          </m:r>
                                        </m:sub>
                                      </m:sSub>
                                    </m:sub>
                                  </m:sSub>
                                  <m:r>
                                    <a:rPr lang="vi-VN" i="1">
                                      <a:solidFill>
                                        <a:schemeClr val="tx1"/>
                                      </a:solidFill>
                                      <a:latin typeface="Cambria Math" panose="02040503050406030204" pitchFamily="18" charset="0"/>
                                      <a:ea typeface="Cambria Math" panose="02040503050406030204" pitchFamily="18" charset="0"/>
                                    </a:rPr>
                                    <m:t>𝐶</m:t>
                                  </m:r>
                                </m:e>
                                <m:e>
                                  <m:r>
                                    <a:rPr lang="vi-VN" b="0" i="1">
                                      <a:solidFill>
                                        <a:schemeClr val="tx1"/>
                                      </a:solidFill>
                                      <a:latin typeface="Cambria Math" panose="02040503050406030204" pitchFamily="18" charset="0"/>
                                      <a:ea typeface="Cambria Math" panose="02040503050406030204" pitchFamily="18" charset="0"/>
                                    </a:rPr>
                                    <m:t>…</m:t>
                                  </m:r>
                                </m:e>
                                <m:e>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m:t>
                                      </m:r>
                                    </m:e>
                                    <m:sub>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𝜃</m:t>
                                          </m:r>
                                        </m:e>
                                        <m:sub>
                                          <m:r>
                                            <a:rPr lang="vi-VN" i="1">
                                              <a:solidFill>
                                                <a:schemeClr val="tx1"/>
                                              </a:solidFill>
                                              <a:latin typeface="Cambria Math" panose="02040503050406030204" pitchFamily="18" charset="0"/>
                                              <a:ea typeface="Cambria Math" panose="02040503050406030204" pitchFamily="18" charset="0"/>
                                            </a:rPr>
                                            <m:t>𝑚</m:t>
                                          </m:r>
                                          <m:r>
                                            <a:rPr lang="vi-VN" b="0" i="1">
                                              <a:solidFill>
                                                <a:schemeClr val="tx1"/>
                                              </a:solidFill>
                                              <a:latin typeface="Cambria Math" panose="02040503050406030204" pitchFamily="18" charset="0"/>
                                              <a:ea typeface="Cambria Math" panose="02040503050406030204" pitchFamily="18" charset="0"/>
                                            </a:rPr>
                                            <m:t>−1</m:t>
                                          </m:r>
                                        </m:sub>
                                      </m:sSub>
                                    </m:sub>
                                  </m:sSub>
                                  <m:r>
                                    <a:rPr lang="vi-VN" i="1">
                                      <a:solidFill>
                                        <a:schemeClr val="tx1"/>
                                      </a:solidFill>
                                      <a:latin typeface="Cambria Math" panose="02040503050406030204" pitchFamily="18" charset="0"/>
                                      <a:ea typeface="Cambria Math" panose="02040503050406030204" pitchFamily="18" charset="0"/>
                                    </a:rPr>
                                    <m:t>𝐶</m:t>
                                  </m:r>
                                </m:e>
                              </m:mr>
                            </m:m>
                          </m:e>
                        </m:d>
                      </m:e>
                      <m:sup>
                        <m:r>
                          <a:rPr lang="vi-VN" b="0" i="1">
                            <a:solidFill>
                              <a:schemeClr val="tx1"/>
                            </a:solidFill>
                            <a:latin typeface="Cambria Math" panose="02040503050406030204" pitchFamily="18" charset="0"/>
                            <a:ea typeface="Cambria Math" panose="02040503050406030204" pitchFamily="18" charset="0"/>
                          </a:rPr>
                          <m:t>⊺</m:t>
                        </m:r>
                      </m:sup>
                    </m:sSup>
                  </m:oMath>
                </a14:m>
                <a:r>
                  <a:rPr lang="en-VN" b="1" i="1">
                    <a:solidFill>
                      <a:schemeClr val="tx1"/>
                    </a:solidFill>
                  </a:rPr>
                  <a:t> </a:t>
                </a:r>
              </a:p>
            </p:txBody>
          </p:sp>
        </mc:Choice>
        <mc:Fallback xmlns="">
          <p:sp>
            <p:nvSpPr>
              <p:cNvPr id="4" name="Content Placeholder 3">
                <a:extLst>
                  <a:ext uri="{FF2B5EF4-FFF2-40B4-BE49-F238E27FC236}">
                    <a16:creationId xmlns:a16="http://schemas.microsoft.com/office/drawing/2014/main" id="{F156DC11-7823-551F-9FDB-8AB8DA234703}"/>
                  </a:ext>
                </a:extLst>
              </p:cNvPr>
              <p:cNvSpPr>
                <a:spLocks noGrp="1" noRot="1" noChangeAspect="1" noMove="1" noResize="1" noEditPoints="1" noAdjustHandles="1" noChangeArrowheads="1" noChangeShapeType="1" noTextEdit="1"/>
              </p:cNvSpPr>
              <p:nvPr>
                <p:ph idx="1"/>
              </p:nvPr>
            </p:nvSpPr>
            <p:spPr>
              <a:xfrm>
                <a:off x="1648691" y="2244684"/>
                <a:ext cx="6358488" cy="954107"/>
              </a:xfrm>
              <a:prstGeom prst="rect">
                <a:avLst/>
              </a:prstGeom>
              <a:blipFill>
                <a:blip r:embed="rId2"/>
                <a:stretch>
                  <a:fillRect l="-398"/>
                </a:stretch>
              </a:blipFill>
              <a:ln>
                <a:noFill/>
              </a:ln>
            </p:spPr>
            <p:txBody>
              <a:bodyPr/>
              <a:lstStyle/>
              <a:p>
                <a:r>
                  <a:rPr lang="en-VN">
                    <a:noFill/>
                  </a:rPr>
                  <a:t> </a:t>
                </a:r>
              </a:p>
            </p:txBody>
          </p:sp>
        </mc:Fallback>
      </mc:AlternateContent>
      <p:sp>
        <p:nvSpPr>
          <p:cNvPr id="5" name="TextBox 4">
            <a:extLst>
              <a:ext uri="{FF2B5EF4-FFF2-40B4-BE49-F238E27FC236}">
                <a16:creationId xmlns:a16="http://schemas.microsoft.com/office/drawing/2014/main" id="{8A37164C-7F40-2C49-B88B-7F4A329943D4}"/>
              </a:ext>
            </a:extLst>
          </p:cNvPr>
          <p:cNvSpPr txBox="1"/>
          <p:nvPr/>
        </p:nvSpPr>
        <p:spPr>
          <a:xfrm>
            <a:off x="838201" y="1690687"/>
            <a:ext cx="10233455" cy="523220"/>
          </a:xfrm>
          <a:prstGeom prst="rect">
            <a:avLst/>
          </a:prstGeom>
          <a:noFill/>
        </p:spPr>
        <p:txBody>
          <a:bodyPr wrap="square" rtlCol="0">
            <a:spAutoFit/>
          </a:bodyPr>
          <a:lstStyle/>
          <a:p>
            <a:r>
              <a:rPr lang="en-VN" sz="2800"/>
              <a:t>Computing </a:t>
            </a:r>
            <a:r>
              <a:rPr lang="en-US" sz="2800"/>
              <a:t>PQC’s</a:t>
            </a:r>
            <a:r>
              <a:rPr lang="en-VN" sz="2800"/>
              <a:t> gradient is the key in </a:t>
            </a:r>
            <a:r>
              <a:rPr lang="en-US" sz="2800"/>
              <a:t>quantum </a:t>
            </a:r>
            <a:r>
              <a:rPr lang="en-VN" sz="2800"/>
              <a:t>optimization</a:t>
            </a:r>
            <a:r>
              <a:rPr lang="en-US" sz="2800"/>
              <a:t>:</a:t>
            </a:r>
            <a:endParaRPr lang="en-VN" sz="2800"/>
          </a:p>
        </p:txBody>
      </p:sp>
      <p:sp>
        <p:nvSpPr>
          <p:cNvPr id="6" name="TextBox 5">
            <a:extLst>
              <a:ext uri="{FF2B5EF4-FFF2-40B4-BE49-F238E27FC236}">
                <a16:creationId xmlns:a16="http://schemas.microsoft.com/office/drawing/2014/main" id="{5EB8BDE1-E923-084F-F9AD-EB9E3BABDDB0}"/>
              </a:ext>
            </a:extLst>
          </p:cNvPr>
          <p:cNvSpPr txBox="1"/>
          <p:nvPr/>
        </p:nvSpPr>
        <p:spPr>
          <a:xfrm>
            <a:off x="838201" y="2988203"/>
            <a:ext cx="11280423" cy="954107"/>
          </a:xfrm>
          <a:prstGeom prst="rect">
            <a:avLst/>
          </a:prstGeom>
          <a:noFill/>
        </p:spPr>
        <p:txBody>
          <a:bodyPr wrap="square" rtlCol="0">
            <a:spAutoFit/>
          </a:bodyPr>
          <a:lstStyle/>
          <a:p>
            <a:r>
              <a:rPr lang="en-US" sz="2800"/>
              <a:t>The partial derivative can be computed through </a:t>
            </a:r>
            <a:r>
              <a:rPr lang="en-VN" sz="2800"/>
              <a:t>parameter-shift rule</a:t>
            </a:r>
            <a:r>
              <a:rPr lang="en-US" sz="2800" b="1"/>
              <a:t>*</a:t>
            </a:r>
            <a:r>
              <a:rPr lang="en-VN" sz="2800"/>
              <a:t>:</a:t>
            </a:r>
          </a:p>
          <a:p>
            <a:endParaRPr lang="en-VN" sz="2800" i="1"/>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119155-0CC6-FF6C-3B08-CF75C9C1790D}"/>
                  </a:ext>
                </a:extLst>
              </p:cNvPr>
              <p:cNvSpPr txBox="1"/>
              <p:nvPr/>
            </p:nvSpPr>
            <p:spPr>
              <a:xfrm>
                <a:off x="767643" y="4890891"/>
                <a:ext cx="11731903" cy="1168077"/>
              </a:xfrm>
              <a:prstGeom prst="rect">
                <a:avLst/>
              </a:prstGeom>
              <a:noFill/>
            </p:spPr>
            <p:txBody>
              <a:bodyPr wrap="square" rtlCol="0">
                <a:spAutoFit/>
              </a:bodyPr>
              <a:lstStyle/>
              <a:p>
                <a14:m>
                  <m:oMath xmlns:m="http://schemas.openxmlformats.org/officeDocument/2006/math">
                    <m:r>
                      <a:rPr lang="vi-VN" sz="2800" i="1">
                        <a:latin typeface="Cambria Math" panose="02040503050406030204" pitchFamily="18" charset="0"/>
                        <a:ea typeface="Cambria Math" panose="02040503050406030204" pitchFamily="18" charset="0"/>
                      </a:rPr>
                      <m:t>𝐶</m:t>
                    </m:r>
                    <m:d>
                      <m:dPr>
                        <m:ctrlPr>
                          <a:rPr lang="vi-VN" sz="2800" i="1">
                            <a:latin typeface="Cambria Math" panose="02040503050406030204" pitchFamily="18" charset="0"/>
                            <a:ea typeface="Cambria Math" panose="02040503050406030204" pitchFamily="18" charset="0"/>
                          </a:rPr>
                        </m:ctrlPr>
                      </m:dPr>
                      <m:e>
                        <m:sSubSup>
                          <m:sSubSupPr>
                            <m:ctrlPr>
                              <a:rPr lang="vi-VN" sz="2800" i="1">
                                <a:latin typeface="Cambria Math" panose="02040503050406030204" pitchFamily="18" charset="0"/>
                                <a:ea typeface="Cambria Math" panose="02040503050406030204" pitchFamily="18" charset="0"/>
                              </a:rPr>
                            </m:ctrlPr>
                          </m:sSubSupPr>
                          <m:e>
                            <m:r>
                              <a:rPr lang="vi-VN" sz="2800" i="1">
                                <a:latin typeface="Cambria Math" panose="02040503050406030204" pitchFamily="18" charset="0"/>
                                <a:ea typeface="Cambria Math" panose="02040503050406030204" pitchFamily="18" charset="0"/>
                              </a:rPr>
                              <m:t>𝜃</m:t>
                            </m:r>
                          </m:e>
                          <m:sub>
                            <m:r>
                              <a:rPr lang="vi-VN" sz="2800" i="1">
                                <a:latin typeface="Cambria Math" panose="02040503050406030204" pitchFamily="18" charset="0"/>
                                <a:ea typeface="Cambria Math" panose="02040503050406030204" pitchFamily="18" charset="0"/>
                              </a:rPr>
                              <m:t>𝑗</m:t>
                            </m:r>
                          </m:sub>
                          <m:sup>
                            <m:r>
                              <a:rPr lang="vi-VN" sz="2800" i="1">
                                <a:latin typeface="Cambria Math" panose="02040503050406030204" pitchFamily="18" charset="0"/>
                                <a:ea typeface="Cambria Math" panose="02040503050406030204" pitchFamily="18" charset="0"/>
                              </a:rPr>
                              <m:t>+</m:t>
                            </m:r>
                            <m:sSub>
                              <m:sSubPr>
                                <m:ctrlPr>
                                  <a:rPr lang="vi-VN" sz="2800" i="1">
                                    <a:latin typeface="Cambria Math" panose="02040503050406030204" pitchFamily="18" charset="0"/>
                                    <a:ea typeface="Cambria Math" panose="02040503050406030204" pitchFamily="18" charset="0"/>
                                  </a:rPr>
                                </m:ctrlPr>
                              </m:sSubPr>
                              <m:e>
                                <m:r>
                                  <a:rPr lang="vi-VN" sz="2800" i="1">
                                    <a:latin typeface="Cambria Math" panose="02040503050406030204" pitchFamily="18" charset="0"/>
                                    <a:ea typeface="Cambria Math" panose="02040503050406030204" pitchFamily="18" charset="0"/>
                                  </a:rPr>
                                  <m:t>𝜖</m:t>
                                </m:r>
                              </m:e>
                              <m:sub>
                                <m:r>
                                  <a:rPr lang="vi-VN" sz="2800" i="1">
                                    <a:latin typeface="Cambria Math" panose="02040503050406030204" pitchFamily="18" charset="0"/>
                                    <a:ea typeface="Cambria Math" panose="02040503050406030204" pitchFamily="18" charset="0"/>
                                  </a:rPr>
                                  <m:t>𝑘</m:t>
                                </m:r>
                              </m:sub>
                            </m:sSub>
                          </m:sup>
                        </m:sSubSup>
                      </m:e>
                    </m:d>
                    <m:r>
                      <a:rPr lang="vi-VN" sz="2800" i="1">
                        <a:latin typeface="Cambria Math" panose="02040503050406030204" pitchFamily="18" charset="0"/>
                        <a:ea typeface="Cambria Math" panose="02040503050406030204" pitchFamily="18" charset="0"/>
                      </a:rPr>
                      <m:t>≡</m:t>
                    </m:r>
                    <m:r>
                      <a:rPr lang="vi-VN" sz="2800" i="1">
                        <a:latin typeface="Cambria Math" panose="02040503050406030204" pitchFamily="18" charset="0"/>
                        <a:ea typeface="Cambria Math" panose="02040503050406030204" pitchFamily="18" charset="0"/>
                      </a:rPr>
                      <m:t>𝐶</m:t>
                    </m:r>
                    <m:d>
                      <m:dPr>
                        <m:ctrlPr>
                          <a:rPr lang="vi-VN" sz="2800" i="1">
                            <a:latin typeface="Cambria Math" panose="02040503050406030204" pitchFamily="18" charset="0"/>
                            <a:ea typeface="Cambria Math" panose="02040503050406030204" pitchFamily="18" charset="0"/>
                          </a:rPr>
                        </m:ctrlPr>
                      </m:dPr>
                      <m:e>
                        <m:r>
                          <a:rPr lang="vi-VN" sz="2800" b="1" i="1">
                            <a:latin typeface="Cambria Math" panose="02040503050406030204" pitchFamily="18" charset="0"/>
                            <a:ea typeface="Cambria Math" panose="02040503050406030204" pitchFamily="18" charset="0"/>
                          </a:rPr>
                          <m:t>𝜽</m:t>
                        </m:r>
                        <m:r>
                          <a:rPr lang="vi-VN" sz="2800" b="1" i="1">
                            <a:latin typeface="Cambria Math" panose="02040503050406030204" pitchFamily="18" charset="0"/>
                            <a:ea typeface="Cambria Math" panose="02040503050406030204" pitchFamily="18" charset="0"/>
                          </a:rPr>
                          <m:t>+</m:t>
                        </m:r>
                        <m:sSub>
                          <m:sSubPr>
                            <m:ctrlPr>
                              <a:rPr lang="vi-VN" sz="2800" b="1" i="1">
                                <a:latin typeface="Cambria Math" panose="02040503050406030204" pitchFamily="18" charset="0"/>
                                <a:ea typeface="Cambria Math" panose="02040503050406030204" pitchFamily="18" charset="0"/>
                              </a:rPr>
                            </m:ctrlPr>
                          </m:sSubPr>
                          <m:e>
                            <m:r>
                              <a:rPr lang="vi-VN" sz="2800" b="1" i="1">
                                <a:latin typeface="Cambria Math" panose="02040503050406030204" pitchFamily="18" charset="0"/>
                                <a:ea typeface="Cambria Math" panose="02040503050406030204" pitchFamily="18" charset="0"/>
                              </a:rPr>
                              <m:t>𝒆</m:t>
                            </m:r>
                          </m:e>
                          <m:sub>
                            <m:r>
                              <a:rPr lang="vi-VN" sz="2800" b="1" i="1">
                                <a:latin typeface="Cambria Math" panose="02040503050406030204" pitchFamily="18" charset="0"/>
                                <a:ea typeface="Cambria Math" panose="02040503050406030204" pitchFamily="18" charset="0"/>
                              </a:rPr>
                              <m:t>𝒋</m:t>
                            </m:r>
                          </m:sub>
                        </m:sSub>
                        <m:sSub>
                          <m:sSubPr>
                            <m:ctrlPr>
                              <a:rPr lang="vi-VN" sz="2800" i="1">
                                <a:latin typeface="Cambria Math" panose="02040503050406030204" pitchFamily="18" charset="0"/>
                                <a:ea typeface="Cambria Math" panose="02040503050406030204" pitchFamily="18" charset="0"/>
                              </a:rPr>
                            </m:ctrlPr>
                          </m:sSubPr>
                          <m:e>
                            <m:r>
                              <a:rPr lang="vi-VN" sz="2800" i="1">
                                <a:latin typeface="Cambria Math" panose="02040503050406030204" pitchFamily="18" charset="0"/>
                                <a:ea typeface="Cambria Math" panose="02040503050406030204" pitchFamily="18" charset="0"/>
                              </a:rPr>
                              <m:t>𝜖</m:t>
                            </m:r>
                          </m:e>
                          <m:sub>
                            <m:r>
                              <a:rPr lang="vi-VN" sz="2800" i="1">
                                <a:latin typeface="Cambria Math" panose="02040503050406030204" pitchFamily="18" charset="0"/>
                                <a:ea typeface="Cambria Math" panose="02040503050406030204" pitchFamily="18" charset="0"/>
                              </a:rPr>
                              <m:t>𝑘</m:t>
                            </m:r>
                          </m:sub>
                        </m:sSub>
                      </m:e>
                    </m:d>
                  </m:oMath>
                </a14:m>
                <a:r>
                  <a:rPr lang="en-VN" sz="280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vi-VN" sz="2800" b="1" i="1">
                            <a:latin typeface="Cambria Math" panose="02040503050406030204" pitchFamily="18" charset="0"/>
                            <a:ea typeface="Cambria Math" panose="02040503050406030204" pitchFamily="18" charset="0"/>
                          </a:rPr>
                        </m:ctrlPr>
                      </m:sSubPr>
                      <m:e>
                        <m:r>
                          <a:rPr lang="vi-VN" sz="2800" b="1" i="1">
                            <a:latin typeface="Cambria Math" panose="02040503050406030204" pitchFamily="18" charset="0"/>
                            <a:ea typeface="Cambria Math" panose="02040503050406030204" pitchFamily="18" charset="0"/>
                          </a:rPr>
                          <m:t>𝒆</m:t>
                        </m:r>
                      </m:e>
                      <m:sub>
                        <m:r>
                          <a:rPr lang="vi-VN" sz="2800" b="1" i="1">
                            <a:latin typeface="Cambria Math" panose="02040503050406030204" pitchFamily="18" charset="0"/>
                            <a:ea typeface="Cambria Math" panose="02040503050406030204" pitchFamily="18" charset="0"/>
                          </a:rPr>
                          <m:t>𝒋</m:t>
                        </m:r>
                      </m:sub>
                    </m:sSub>
                  </m:oMath>
                </a14:m>
                <a:r>
                  <a:rPr lang="en-VN" sz="2800" i="1">
                    <a:latin typeface="Calibri" panose="020F0502020204030204" pitchFamily="34" charset="0"/>
                    <a:ea typeface="Calibri" panose="020F0502020204030204" pitchFamily="34" charset="0"/>
                    <a:cs typeface="Calibri" panose="020F0502020204030204" pitchFamily="34" charset="0"/>
                  </a:rPr>
                  <a:t> </a:t>
                </a:r>
                <a:r>
                  <a:rPr lang="en-VN" sz="2800">
                    <a:latin typeface="Calibri" panose="020F0502020204030204" pitchFamily="34" charset="0"/>
                    <a:ea typeface="Calibri" panose="020F0502020204030204" pitchFamily="34" charset="0"/>
                    <a:cs typeface="Calibri" panose="020F0502020204030204" pitchFamily="34" charset="0"/>
                  </a:rPr>
                  <a:t>is the </a:t>
                </a:r>
                <a14:m>
                  <m:oMath xmlns:m="http://schemas.openxmlformats.org/officeDocument/2006/math">
                    <m:sSup>
                      <m:sSupPr>
                        <m:ctrlPr>
                          <a:rPr lang="vi-VN" sz="2800" i="1">
                            <a:latin typeface="Cambria Math" panose="02040503050406030204" pitchFamily="18" charset="0"/>
                          </a:rPr>
                        </m:ctrlPr>
                      </m:sSupPr>
                      <m:e>
                        <m:r>
                          <a:rPr lang="en-VN" sz="2800" i="1">
                            <a:latin typeface="Cambria Math" panose="02040503050406030204" pitchFamily="18" charset="0"/>
                          </a:rPr>
                          <m:t>𝑗</m:t>
                        </m:r>
                      </m:e>
                      <m:sup>
                        <m:r>
                          <a:rPr lang="en-VN" sz="2800" i="1">
                            <a:latin typeface="Cambria Math" panose="02040503050406030204" pitchFamily="18" charset="0"/>
                          </a:rPr>
                          <m:t>𝑡h</m:t>
                        </m:r>
                      </m:sup>
                    </m:sSup>
                  </m:oMath>
                </a14:m>
                <a:r>
                  <a:rPr lang="en-VN" sz="2800">
                    <a:latin typeface="Calibri" panose="020F0502020204030204" pitchFamily="34" charset="0"/>
                    <a:ea typeface="Calibri" panose="020F0502020204030204" pitchFamily="34" charset="0"/>
                    <a:cs typeface="Calibri" panose="020F0502020204030204" pitchFamily="34" charset="0"/>
                  </a:rPr>
                  <a:t> unit vector,</a:t>
                </a:r>
                <a:endParaRPr lang="en-US" sz="2800">
                  <a:latin typeface="Calibri" panose="020F0502020204030204" pitchFamily="34" charset="0"/>
                  <a:ea typeface="Calibri" panose="020F0502020204030204" pitchFamily="34" charset="0"/>
                  <a:cs typeface="Calibri" panose="020F0502020204030204" pitchFamily="34" charset="0"/>
                </a:endParaRPr>
              </a:p>
              <a:p>
                <a14:m>
                  <m:oMath xmlns:m="http://schemas.openxmlformats.org/officeDocument/2006/math">
                    <m:sSub>
                      <m:sSubPr>
                        <m:ctrlPr>
                          <a:rPr lang="vi-VN" sz="2800" i="1">
                            <a:latin typeface="Cambria Math" panose="02040503050406030204" pitchFamily="18" charset="0"/>
                            <a:ea typeface="Cambria Math" panose="02040503050406030204" pitchFamily="18" charset="0"/>
                          </a:rPr>
                        </m:ctrlPr>
                      </m:sSubPr>
                      <m:e>
                        <m:r>
                          <a:rPr lang="vi-VN" sz="2800" i="1">
                            <a:latin typeface="Cambria Math" panose="02040503050406030204" pitchFamily="18" charset="0"/>
                            <a:ea typeface="Cambria Math" panose="02040503050406030204" pitchFamily="18" charset="0"/>
                          </a:rPr>
                          <m:t>𝜖</m:t>
                        </m:r>
                      </m:e>
                      <m:sub>
                        <m:r>
                          <a:rPr lang="vi-VN" sz="2800" i="1">
                            <a:latin typeface="Cambria Math" panose="02040503050406030204" pitchFamily="18" charset="0"/>
                            <a:ea typeface="Cambria Math" panose="02040503050406030204" pitchFamily="18" charset="0"/>
                          </a:rPr>
                          <m:t>𝑘</m:t>
                        </m:r>
                      </m:sub>
                    </m:sSub>
                  </m:oMath>
                </a14:m>
                <a:r>
                  <a:rPr lang="en-VN" sz="2800">
                    <a:latin typeface="Calibri" panose="020F0502020204030204" pitchFamily="34" charset="0"/>
                    <a:ea typeface="Calibri" panose="020F0502020204030204" pitchFamily="34" charset="0"/>
                    <a:cs typeface="Calibri" panose="020F0502020204030204" pitchFamily="34" charset="0"/>
                  </a:rPr>
                  <a:t> is the shift-value</a:t>
                </a:r>
                <a:r>
                  <a:rPr lang="en-US" sz="280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vi-VN" sz="2800" i="1">
                            <a:latin typeface="Cambria Math" panose="02040503050406030204" pitchFamily="18" charset="0"/>
                            <a:ea typeface="Cambria Math" panose="02040503050406030204" pitchFamily="18" charset="0"/>
                          </a:rPr>
                        </m:ctrlPr>
                      </m:sSubPr>
                      <m:e>
                        <m:r>
                          <a:rPr lang="vi-VN" sz="2800" i="1">
                            <a:latin typeface="Cambria Math" panose="02040503050406030204" pitchFamily="18" charset="0"/>
                            <a:ea typeface="Cambria Math" panose="02040503050406030204" pitchFamily="18" charset="0"/>
                          </a:rPr>
                          <m:t>𝑑</m:t>
                        </m:r>
                      </m:e>
                      <m:sub>
                        <m:r>
                          <a:rPr lang="vi-VN" sz="2800" i="1">
                            <a:latin typeface="Cambria Math" panose="02040503050406030204" pitchFamily="18" charset="0"/>
                            <a:ea typeface="Cambria Math" panose="02040503050406030204" pitchFamily="18" charset="0"/>
                          </a:rPr>
                          <m:t>𝑘</m:t>
                        </m:r>
                      </m:sub>
                    </m:sSub>
                  </m:oMath>
                </a14:m>
                <a:r>
                  <a:rPr lang="en-US" sz="2800">
                    <a:latin typeface="Calibri" panose="020F0502020204030204" pitchFamily="34" charset="0"/>
                    <a:ea typeface="Calibri" panose="020F0502020204030204" pitchFamily="34" charset="0"/>
                    <a:cs typeface="Calibri" panose="020F0502020204030204" pitchFamily="34" charset="0"/>
                  </a:rPr>
                  <a:t> is the scalar factor</a:t>
                </a:r>
                <a:endParaRPr lang="en-VN" sz="280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 name="TextBox 6">
                <a:extLst>
                  <a:ext uri="{FF2B5EF4-FFF2-40B4-BE49-F238E27FC236}">
                    <a16:creationId xmlns:a16="http://schemas.microsoft.com/office/drawing/2014/main" id="{F9119155-0CC6-FF6C-3B08-CF75C9C1790D}"/>
                  </a:ext>
                </a:extLst>
              </p:cNvPr>
              <p:cNvSpPr txBox="1">
                <a:spLocks noRot="1" noChangeAspect="1" noMove="1" noResize="1" noEditPoints="1" noAdjustHandles="1" noChangeArrowheads="1" noChangeShapeType="1" noTextEdit="1"/>
              </p:cNvSpPr>
              <p:nvPr/>
            </p:nvSpPr>
            <p:spPr>
              <a:xfrm>
                <a:off x="767643" y="4890891"/>
                <a:ext cx="11731903" cy="1168077"/>
              </a:xfrm>
              <a:prstGeom prst="rect">
                <a:avLst/>
              </a:prstGeom>
              <a:blipFill>
                <a:blip r:embed="rId3"/>
                <a:stretch>
                  <a:fillRect b="-14063"/>
                </a:stretch>
              </a:blipFill>
            </p:spPr>
            <p:txBody>
              <a:bodyPr/>
              <a:lstStyle/>
              <a:p>
                <a:r>
                  <a:rPr lang="vi-VN">
                    <a:noFill/>
                  </a:rPr>
                  <a:t> </a:t>
                </a:r>
              </a:p>
            </p:txBody>
          </p:sp>
        </mc:Fallback>
      </mc:AlternateContent>
      <p:sp>
        <p:nvSpPr>
          <p:cNvPr id="9" name="TextBox 8">
            <a:extLst>
              <a:ext uri="{FF2B5EF4-FFF2-40B4-BE49-F238E27FC236}">
                <a16:creationId xmlns:a16="http://schemas.microsoft.com/office/drawing/2014/main" id="{F2A3DF7A-C538-B93A-A7C9-06D99D69B1A3}"/>
              </a:ext>
            </a:extLst>
          </p:cNvPr>
          <p:cNvSpPr txBox="1"/>
          <p:nvPr/>
        </p:nvSpPr>
        <p:spPr>
          <a:xfrm>
            <a:off x="838200" y="6241588"/>
            <a:ext cx="8751710" cy="502573"/>
          </a:xfrm>
          <a:prstGeom prst="rect">
            <a:avLst/>
          </a:prstGeom>
          <a:noFill/>
          <a:ln>
            <a:solidFill>
              <a:srgbClr val="FF0000"/>
            </a:solidFill>
          </a:ln>
        </p:spPr>
        <p:txBody>
          <a:bodyPr wrap="square">
            <a:spAutoFit/>
          </a:bodyPr>
          <a:lstStyle/>
          <a:p>
            <a:r>
              <a:rPr lang="en-US" sz="1333" b="1">
                <a:solidFill>
                  <a:srgbClr val="FF0000"/>
                </a:solidFill>
                <a:highlight>
                  <a:srgbClr val="FFFFFF"/>
                </a:highlight>
                <a:latin typeface="Arial" panose="020B0604020202020204" pitchFamily="34" charset="0"/>
              </a:rPr>
              <a:t>*</a:t>
            </a:r>
            <a:r>
              <a:rPr lang="en-US" sz="1333">
                <a:solidFill>
                  <a:srgbClr val="FF0000"/>
                </a:solidFill>
                <a:highlight>
                  <a:srgbClr val="FFFFFF"/>
                </a:highlight>
                <a:latin typeface="Arial" panose="020B0604020202020204" pitchFamily="34" charset="0"/>
              </a:rPr>
              <a:t>D. Wierichs, J. Izaac, C. Wang, and C. Y.-Y. Lin, “General parameter-shift rules for quantum gradients,” Quantum, vol. 6, p. 677, Mar. 2022</a:t>
            </a:r>
            <a:endParaRPr lang="en-VN" sz="1333">
              <a:solidFill>
                <a:srgbClr val="FF0000"/>
              </a:solidFill>
            </a:endParaRPr>
          </a:p>
        </p:txBody>
      </p:sp>
      <p:sp>
        <p:nvSpPr>
          <p:cNvPr id="12" name="Slide Number Placeholder 11">
            <a:extLst>
              <a:ext uri="{FF2B5EF4-FFF2-40B4-BE49-F238E27FC236}">
                <a16:creationId xmlns:a16="http://schemas.microsoft.com/office/drawing/2014/main" id="{A0A80CC2-EDAD-A8C6-55F4-AA54EF5772ED}"/>
              </a:ext>
            </a:extLst>
          </p:cNvPr>
          <p:cNvSpPr>
            <a:spLocks noGrp="1"/>
          </p:cNvSpPr>
          <p:nvPr>
            <p:ph type="sldNum" sz="quarter" idx="12"/>
          </p:nvPr>
        </p:nvSpPr>
        <p:spPr/>
        <p:txBody>
          <a:bodyPr/>
          <a:lstStyle/>
          <a:p>
            <a:fld id="{D98A4569-6716-F649-8F1C-6F4A1EFC2E5C}" type="slidenum">
              <a:t>29</a:t>
            </a:fld>
            <a:endParaRPr lang="en-V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31D01C-CD6D-79DE-1500-45400CA64561}"/>
                  </a:ext>
                </a:extLst>
              </p:cNvPr>
              <p:cNvSpPr txBox="1"/>
              <p:nvPr/>
            </p:nvSpPr>
            <p:spPr>
              <a:xfrm>
                <a:off x="1189681" y="3513997"/>
                <a:ext cx="6249771" cy="12461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vi-VN" sz="2667" i="1">
                              <a:latin typeface="Cambria Math" panose="02040503050406030204" pitchFamily="18" charset="0"/>
                              <a:ea typeface="Cambria Math" panose="02040503050406030204" pitchFamily="18" charset="0"/>
                            </a:rPr>
                          </m:ctrlPr>
                        </m:fPr>
                        <m:num>
                          <m:r>
                            <a:rPr lang="vi-VN" sz="2667" i="1">
                              <a:latin typeface="Cambria Math" panose="02040503050406030204" pitchFamily="18" charset="0"/>
                              <a:ea typeface="Cambria Math" panose="02040503050406030204" pitchFamily="18" charset="0"/>
                            </a:rPr>
                            <m:t>𝜕</m:t>
                          </m:r>
                          <m:r>
                            <a:rPr lang="vi-VN" sz="2667" i="1">
                              <a:latin typeface="Cambria Math" panose="02040503050406030204" pitchFamily="18" charset="0"/>
                              <a:ea typeface="Cambria Math" panose="02040503050406030204" pitchFamily="18" charset="0"/>
                            </a:rPr>
                            <m:t>𝐶</m:t>
                          </m:r>
                        </m:num>
                        <m:den>
                          <m:r>
                            <a:rPr lang="vi-VN" sz="2667" i="1">
                              <a:latin typeface="Cambria Math" panose="02040503050406030204" pitchFamily="18" charset="0"/>
                              <a:ea typeface="Cambria Math" panose="02040503050406030204" pitchFamily="18" charset="0"/>
                            </a:rPr>
                            <m:t>𝜕</m:t>
                          </m:r>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𝜃</m:t>
                              </m:r>
                            </m:e>
                            <m:sub>
                              <m:r>
                                <a:rPr lang="vi-VN" sz="2667" i="1">
                                  <a:latin typeface="Cambria Math" panose="02040503050406030204" pitchFamily="18" charset="0"/>
                                  <a:ea typeface="Cambria Math" panose="02040503050406030204" pitchFamily="18" charset="0"/>
                                </a:rPr>
                                <m:t>𝑗</m:t>
                              </m:r>
                            </m:sub>
                          </m:sSub>
                        </m:den>
                      </m:f>
                      <m:r>
                        <a:rPr lang="vi-VN" sz="2667" i="1">
                          <a:latin typeface="Cambria Math" panose="02040503050406030204" pitchFamily="18" charset="0"/>
                          <a:ea typeface="Cambria Math" panose="02040503050406030204" pitchFamily="18" charset="0"/>
                        </a:rPr>
                        <m:t>=</m:t>
                      </m:r>
                      <m:nary>
                        <m:naryPr>
                          <m:chr m:val="∑"/>
                          <m:ctrlPr>
                            <a:rPr lang="vi-VN" sz="2667" i="1">
                              <a:latin typeface="Cambria Math" panose="02040503050406030204" pitchFamily="18" charset="0"/>
                              <a:ea typeface="Cambria Math" panose="02040503050406030204" pitchFamily="18" charset="0"/>
                            </a:rPr>
                          </m:ctrlPr>
                        </m:naryPr>
                        <m:sub>
                          <m:r>
                            <m:rPr>
                              <m:brk m:alnAt="23"/>
                            </m:rPr>
                            <a:rPr lang="vi-VN" sz="2667" i="1">
                              <a:latin typeface="Cambria Math" panose="02040503050406030204" pitchFamily="18" charset="0"/>
                              <a:ea typeface="Cambria Math" panose="02040503050406030204" pitchFamily="18" charset="0"/>
                            </a:rPr>
                            <m:t>𝑘</m:t>
                          </m:r>
                          <m:r>
                            <a:rPr lang="vi-VN" sz="2667" i="1">
                              <a:latin typeface="Cambria Math" panose="02040503050406030204" pitchFamily="18" charset="0"/>
                              <a:ea typeface="Cambria Math" panose="02040503050406030204" pitchFamily="18" charset="0"/>
                            </a:rPr>
                            <m:t>=1</m:t>
                          </m:r>
                        </m:sub>
                        <m:sup>
                          <m:r>
                            <a:rPr lang="vi-VN" sz="2667" i="1">
                              <a:latin typeface="Cambria Math" panose="02040503050406030204" pitchFamily="18" charset="0"/>
                              <a:ea typeface="Cambria Math" panose="02040503050406030204" pitchFamily="18" charset="0"/>
                            </a:rPr>
                            <m:t>𝑅</m:t>
                          </m:r>
                        </m:sup>
                        <m:e>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𝑑</m:t>
                              </m:r>
                            </m:e>
                            <m:sub>
                              <m:r>
                                <a:rPr lang="vi-VN" sz="2667" i="1">
                                  <a:latin typeface="Cambria Math" panose="02040503050406030204" pitchFamily="18" charset="0"/>
                                  <a:ea typeface="Cambria Math" panose="02040503050406030204" pitchFamily="18" charset="0"/>
                                </a:rPr>
                                <m:t>𝑘</m:t>
                              </m:r>
                            </m:sub>
                          </m:sSub>
                          <m:d>
                            <m:dPr>
                              <m:ctrlPr>
                                <a:rPr lang="vi-VN" sz="2667" i="1">
                                  <a:latin typeface="Cambria Math" panose="02040503050406030204" pitchFamily="18" charset="0"/>
                                  <a:ea typeface="Cambria Math" panose="02040503050406030204" pitchFamily="18" charset="0"/>
                                </a:rPr>
                              </m:ctrlPr>
                            </m:dPr>
                            <m:e>
                              <m:r>
                                <a:rPr lang="vi-VN" sz="2667" i="1">
                                  <a:latin typeface="Cambria Math" panose="02040503050406030204" pitchFamily="18" charset="0"/>
                                  <a:ea typeface="Cambria Math" panose="02040503050406030204" pitchFamily="18" charset="0"/>
                                </a:rPr>
                                <m:t>𝐶</m:t>
                              </m:r>
                              <m:d>
                                <m:dPr>
                                  <m:ctrlPr>
                                    <a:rPr lang="vi-VN" sz="2667" i="1">
                                      <a:latin typeface="Cambria Math" panose="02040503050406030204" pitchFamily="18" charset="0"/>
                                      <a:ea typeface="Cambria Math" panose="02040503050406030204" pitchFamily="18" charset="0"/>
                                    </a:rPr>
                                  </m:ctrlPr>
                                </m:dPr>
                                <m:e>
                                  <m:sSubSup>
                                    <m:sSubSupPr>
                                      <m:ctrlPr>
                                        <a:rPr lang="vi-VN" sz="2667" i="1">
                                          <a:latin typeface="Cambria Math" panose="02040503050406030204" pitchFamily="18" charset="0"/>
                                          <a:ea typeface="Cambria Math" panose="02040503050406030204" pitchFamily="18" charset="0"/>
                                        </a:rPr>
                                      </m:ctrlPr>
                                    </m:sSubSupPr>
                                    <m:e>
                                      <m:r>
                                        <a:rPr lang="vi-VN" sz="2667" i="1">
                                          <a:latin typeface="Cambria Math" panose="02040503050406030204" pitchFamily="18" charset="0"/>
                                          <a:ea typeface="Cambria Math" panose="02040503050406030204" pitchFamily="18" charset="0"/>
                                        </a:rPr>
                                        <m:t>𝜃</m:t>
                                      </m:r>
                                    </m:e>
                                    <m:sub>
                                      <m:r>
                                        <a:rPr lang="vi-VN" sz="2667" i="1">
                                          <a:latin typeface="Cambria Math" panose="02040503050406030204" pitchFamily="18" charset="0"/>
                                          <a:ea typeface="Cambria Math" panose="02040503050406030204" pitchFamily="18" charset="0"/>
                                        </a:rPr>
                                        <m:t>𝑗</m:t>
                                      </m:r>
                                    </m:sub>
                                    <m:sup>
                                      <m:r>
                                        <a:rPr lang="vi-VN" sz="2667" i="1">
                                          <a:latin typeface="Cambria Math" panose="02040503050406030204" pitchFamily="18" charset="0"/>
                                          <a:ea typeface="Cambria Math" panose="02040503050406030204" pitchFamily="18" charset="0"/>
                                        </a:rPr>
                                        <m:t>+</m:t>
                                      </m:r>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𝜖</m:t>
                                          </m:r>
                                        </m:e>
                                        <m:sub>
                                          <m:r>
                                            <a:rPr lang="vi-VN" sz="2667" i="1">
                                              <a:latin typeface="Cambria Math" panose="02040503050406030204" pitchFamily="18" charset="0"/>
                                              <a:ea typeface="Cambria Math" panose="02040503050406030204" pitchFamily="18" charset="0"/>
                                            </a:rPr>
                                            <m:t>𝑘</m:t>
                                          </m:r>
                                        </m:sub>
                                      </m:sSub>
                                    </m:sup>
                                  </m:sSubSup>
                                </m:e>
                              </m:d>
                              <m:r>
                                <a:rPr lang="vi-VN" sz="2667" i="1">
                                  <a:latin typeface="Cambria Math" panose="02040503050406030204" pitchFamily="18" charset="0"/>
                                  <a:ea typeface="Cambria Math" panose="02040503050406030204" pitchFamily="18" charset="0"/>
                                </a:rPr>
                                <m:t>−</m:t>
                              </m:r>
                              <m:r>
                                <a:rPr lang="vi-VN" sz="2667" i="1">
                                  <a:latin typeface="Cambria Math" panose="02040503050406030204" pitchFamily="18" charset="0"/>
                                  <a:ea typeface="Cambria Math" panose="02040503050406030204" pitchFamily="18" charset="0"/>
                                </a:rPr>
                                <m:t>𝐶</m:t>
                              </m:r>
                              <m:d>
                                <m:dPr>
                                  <m:ctrlPr>
                                    <a:rPr lang="vi-VN" sz="2667" i="1">
                                      <a:latin typeface="Cambria Math" panose="02040503050406030204" pitchFamily="18" charset="0"/>
                                      <a:ea typeface="Cambria Math" panose="02040503050406030204" pitchFamily="18" charset="0"/>
                                    </a:rPr>
                                  </m:ctrlPr>
                                </m:dPr>
                                <m:e>
                                  <m:sSubSup>
                                    <m:sSubSupPr>
                                      <m:ctrlPr>
                                        <a:rPr lang="vi-VN" sz="2667" i="1">
                                          <a:latin typeface="Cambria Math" panose="02040503050406030204" pitchFamily="18" charset="0"/>
                                          <a:ea typeface="Cambria Math" panose="02040503050406030204" pitchFamily="18" charset="0"/>
                                        </a:rPr>
                                      </m:ctrlPr>
                                    </m:sSubSupPr>
                                    <m:e>
                                      <m:r>
                                        <a:rPr lang="vi-VN" sz="2667" i="1">
                                          <a:latin typeface="Cambria Math" panose="02040503050406030204" pitchFamily="18" charset="0"/>
                                          <a:ea typeface="Cambria Math" panose="02040503050406030204" pitchFamily="18" charset="0"/>
                                        </a:rPr>
                                        <m:t>𝜃</m:t>
                                      </m:r>
                                    </m:e>
                                    <m:sub>
                                      <m:r>
                                        <a:rPr lang="vi-VN" sz="2667" i="1">
                                          <a:latin typeface="Cambria Math" panose="02040503050406030204" pitchFamily="18" charset="0"/>
                                          <a:ea typeface="Cambria Math" panose="02040503050406030204" pitchFamily="18" charset="0"/>
                                        </a:rPr>
                                        <m:t>𝑗</m:t>
                                      </m:r>
                                    </m:sub>
                                    <m:sup>
                                      <m:r>
                                        <a:rPr lang="vi-VN" sz="2667" i="1">
                                          <a:latin typeface="Cambria Math" panose="02040503050406030204" pitchFamily="18" charset="0"/>
                                          <a:ea typeface="Cambria Math" panose="02040503050406030204" pitchFamily="18" charset="0"/>
                                        </a:rPr>
                                        <m:t>−</m:t>
                                      </m:r>
                                      <m:sSub>
                                        <m:sSubPr>
                                          <m:ctrlPr>
                                            <a:rPr lang="vi-VN" sz="2667" i="1">
                                              <a:latin typeface="Cambria Math" panose="02040503050406030204" pitchFamily="18" charset="0"/>
                                              <a:ea typeface="Cambria Math" panose="02040503050406030204" pitchFamily="18" charset="0"/>
                                            </a:rPr>
                                          </m:ctrlPr>
                                        </m:sSubPr>
                                        <m:e>
                                          <m:r>
                                            <a:rPr lang="vi-VN" sz="2667" i="1">
                                              <a:latin typeface="Cambria Math" panose="02040503050406030204" pitchFamily="18" charset="0"/>
                                              <a:ea typeface="Cambria Math" panose="02040503050406030204" pitchFamily="18" charset="0"/>
                                            </a:rPr>
                                            <m:t>𝜖</m:t>
                                          </m:r>
                                        </m:e>
                                        <m:sub>
                                          <m:r>
                                            <a:rPr lang="vi-VN" sz="2667" i="1">
                                              <a:latin typeface="Cambria Math" panose="02040503050406030204" pitchFamily="18" charset="0"/>
                                              <a:ea typeface="Cambria Math" panose="02040503050406030204" pitchFamily="18" charset="0"/>
                                            </a:rPr>
                                            <m:t>𝑘</m:t>
                                          </m:r>
                                        </m:sub>
                                      </m:sSub>
                                    </m:sup>
                                  </m:sSubSup>
                                </m:e>
                              </m:d>
                            </m:e>
                          </m:d>
                        </m:e>
                      </m:nary>
                    </m:oMath>
                  </m:oMathPara>
                </a14:m>
                <a:endParaRPr lang="en-VN" sz="2667"/>
              </a:p>
            </p:txBody>
          </p:sp>
        </mc:Choice>
        <mc:Fallback xmlns="">
          <p:sp>
            <p:nvSpPr>
              <p:cNvPr id="8" name="TextBox 7">
                <a:extLst>
                  <a:ext uri="{FF2B5EF4-FFF2-40B4-BE49-F238E27FC236}">
                    <a16:creationId xmlns:a16="http://schemas.microsoft.com/office/drawing/2014/main" id="{7931D01C-CD6D-79DE-1500-45400CA64561}"/>
                  </a:ext>
                </a:extLst>
              </p:cNvPr>
              <p:cNvSpPr txBox="1">
                <a:spLocks noRot="1" noChangeAspect="1" noMove="1" noResize="1" noEditPoints="1" noAdjustHandles="1" noChangeArrowheads="1" noChangeShapeType="1" noTextEdit="1"/>
              </p:cNvSpPr>
              <p:nvPr/>
            </p:nvSpPr>
            <p:spPr>
              <a:xfrm>
                <a:off x="1189681" y="3513997"/>
                <a:ext cx="6249771" cy="1246175"/>
              </a:xfrm>
              <a:prstGeom prst="rect">
                <a:avLst/>
              </a:prstGeom>
              <a:blipFill>
                <a:blip r:embed="rId4"/>
                <a:stretch>
                  <a:fillRect t="-104040" b="-164646"/>
                </a:stretch>
              </a:blipFill>
            </p:spPr>
            <p:txBody>
              <a:bodyPr/>
              <a:lstStyle/>
              <a:p>
                <a:r>
                  <a:rPr lang="en-VN">
                    <a:noFill/>
                  </a:rPr>
                  <a:t> </a:t>
                </a:r>
              </a:p>
            </p:txBody>
          </p:sp>
        </mc:Fallback>
      </mc:AlternateContent>
    </p:spTree>
    <p:extLst>
      <p:ext uri="{BB962C8B-B14F-4D97-AF65-F5344CB8AC3E}">
        <p14:creationId xmlns:p14="http://schemas.microsoft.com/office/powerpoint/2010/main" val="519695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1126-7B75-E05A-8EFF-99130F917EB3}"/>
              </a:ext>
            </a:extLst>
          </p:cNvPr>
          <p:cNvSpPr>
            <a:spLocks noGrp="1"/>
          </p:cNvSpPr>
          <p:nvPr>
            <p:ph type="title"/>
          </p:nvPr>
        </p:nvSpPr>
        <p:spPr>
          <a:xfrm>
            <a:off x="838201" y="0"/>
            <a:ext cx="8621889" cy="1325563"/>
          </a:xfrm>
        </p:spPr>
        <p:txBody>
          <a:bodyPr>
            <a:normAutofit/>
          </a:bodyPr>
          <a:lstStyle/>
          <a:p>
            <a:r>
              <a:rPr lang="en-VN"/>
              <a:t>Gradient</a:t>
            </a:r>
            <a:br>
              <a:rPr lang="en-US"/>
            </a:br>
            <a:r>
              <a:rPr lang="en-VN" sz="2933"/>
              <a:t>Parameter-shift rule</a:t>
            </a:r>
          </a:p>
        </p:txBody>
      </p:sp>
      <mc:AlternateContent xmlns:mc="http://schemas.openxmlformats.org/markup-compatibility/2006" xmlns:a14="http://schemas.microsoft.com/office/drawing/2010/main">
        <mc:Choice Requires="a14">
          <p:sp>
            <p:nvSpPr>
              <p:cNvPr id="10" name="Chỗ dành sẵn cho Nội dung 2">
                <a:extLst>
                  <a:ext uri="{FF2B5EF4-FFF2-40B4-BE49-F238E27FC236}">
                    <a16:creationId xmlns:a16="http://schemas.microsoft.com/office/drawing/2014/main" id="{E59CCD19-B484-83EA-DE73-1B91F3F4B415}"/>
                  </a:ext>
                </a:extLst>
              </p:cNvPr>
              <p:cNvSpPr txBox="1">
                <a:spLocks/>
              </p:cNvSpPr>
              <p:nvPr/>
            </p:nvSpPr>
            <p:spPr>
              <a:xfrm>
                <a:off x="1644658" y="1902243"/>
                <a:ext cx="5177137" cy="824595"/>
              </a:xfrm>
              <a:prstGeom prst="rect">
                <a:avLst/>
              </a:prstGeom>
            </p:spPr>
            <p:txBody>
              <a:bodyPr vert="horz" lIns="121920" tIns="60960" rIns="121920" bIns="6096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sSub>
                      <m:sSubPr>
                        <m:ctrlPr>
                          <a:rPr lang="vi-VN" sz="2400" i="1">
                            <a:latin typeface="Cambria Math" panose="02040503050406030204" pitchFamily="18" charset="0"/>
                          </a:rPr>
                        </m:ctrlPr>
                      </m:sSubPr>
                      <m:e>
                        <m:r>
                          <a:rPr lang="en-US" sz="2400" i="1">
                            <a:latin typeface="Cambria Math" panose="02040503050406030204" pitchFamily="18" charset="0"/>
                          </a:rPr>
                          <m:t>𝜕</m:t>
                        </m:r>
                      </m:e>
                      <m:sub>
                        <m:sSub>
                          <m:sSubPr>
                            <m:ctrlPr>
                              <a:rPr lang="vi-VN" sz="2400" i="1">
                                <a:latin typeface="Cambria Math" panose="02040503050406030204" pitchFamily="18" charset="0"/>
                              </a:rPr>
                            </m:ctrlPr>
                          </m:sSubPr>
                          <m:e>
                            <m:r>
                              <a:rPr lang="vi-VN" sz="2400" i="1">
                                <a:latin typeface="Cambria Math" panose="02040503050406030204" pitchFamily="18" charset="0"/>
                              </a:rPr>
                              <m:t>𝜃</m:t>
                            </m:r>
                          </m:e>
                          <m:sub>
                            <m:r>
                              <a:rPr lang="en-US" sz="2400" i="1">
                                <a:latin typeface="Cambria Math" panose="02040503050406030204" pitchFamily="18" charset="0"/>
                              </a:rPr>
                              <m:t>𝑗</m:t>
                            </m:r>
                          </m:sub>
                        </m:sSub>
                      </m:sub>
                    </m:sSub>
                    <m:r>
                      <a:rPr lang="en-US" sz="2400" i="1">
                        <a:latin typeface="Cambria Math" panose="02040503050406030204" pitchFamily="18" charset="0"/>
                      </a:rPr>
                      <m:t>𝐶</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𝐶</m:t>
                        </m:r>
                        <m:d>
                          <m:dPr>
                            <m:ctrlPr>
                              <a:rPr lang="en-US" sz="2400" i="1">
                                <a:latin typeface="Cambria Math" panose="02040503050406030204" pitchFamily="18" charset="0"/>
                              </a:rPr>
                            </m:ctrlPr>
                          </m:dPr>
                          <m:e>
                            <m:sSubSup>
                              <m:sSubSupPr>
                                <m:ctrlPr>
                                  <a:rPr lang="vi-VN" sz="2400" i="1">
                                    <a:latin typeface="Cambria Math" panose="02040503050406030204" pitchFamily="18" charset="0"/>
                                  </a:rPr>
                                </m:ctrlPr>
                              </m:sSubSupPr>
                              <m:e>
                                <m:r>
                                  <a:rPr lang="en-US" sz="2400" i="1">
                                    <a:latin typeface="Cambria Math" panose="02040503050406030204" pitchFamily="18" charset="0"/>
                                  </a:rPr>
                                  <m:t>𝜃</m:t>
                                </m:r>
                              </m:e>
                              <m:sub>
                                <m:r>
                                  <a:rPr lang="en-US" sz="2400" i="1">
                                    <a:latin typeface="Cambria Math" panose="02040503050406030204" pitchFamily="18" charset="0"/>
                                  </a:rPr>
                                  <m:t>𝑗</m:t>
                                </m:r>
                              </m:sub>
                              <m:sup>
                                <m:r>
                                  <a:rPr lang="vi-VN"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2</m:t>
                                    </m:r>
                                  </m:den>
                                </m:f>
                              </m:sup>
                            </m:sSubSup>
                          </m:e>
                        </m:d>
                        <m:r>
                          <a:rPr lang="en-US" sz="2400" i="1">
                            <a:latin typeface="Cambria Math" panose="02040503050406030204" pitchFamily="18" charset="0"/>
                          </a:rPr>
                          <m:t>−</m:t>
                        </m:r>
                        <m:r>
                          <a:rPr lang="en-US" sz="2400" i="1">
                            <a:latin typeface="Cambria Math" panose="02040503050406030204" pitchFamily="18" charset="0"/>
                          </a:rPr>
                          <m:t>𝐶</m:t>
                        </m:r>
                        <m:d>
                          <m:dPr>
                            <m:ctrlPr>
                              <a:rPr lang="en-US" sz="2400" i="1">
                                <a:latin typeface="Cambria Math" panose="02040503050406030204" pitchFamily="18" charset="0"/>
                              </a:rPr>
                            </m:ctrlPr>
                          </m:dPr>
                          <m:e>
                            <m:sSubSup>
                              <m:sSubSupPr>
                                <m:ctrlPr>
                                  <a:rPr lang="vi-VN" sz="2400" i="1">
                                    <a:latin typeface="Cambria Math" panose="02040503050406030204" pitchFamily="18" charset="0"/>
                                  </a:rPr>
                                </m:ctrlPr>
                              </m:sSubSupPr>
                              <m:e>
                                <m:r>
                                  <a:rPr lang="en-US" sz="2400" i="1">
                                    <a:latin typeface="Cambria Math" panose="02040503050406030204" pitchFamily="18" charset="0"/>
                                  </a:rPr>
                                  <m:t>𝜃</m:t>
                                </m:r>
                              </m:e>
                              <m:sub>
                                <m:r>
                                  <a:rPr lang="en-US" sz="2400" i="1">
                                    <a:latin typeface="Cambria Math" panose="02040503050406030204" pitchFamily="18" charset="0"/>
                                  </a:rPr>
                                  <m:t>𝑗</m:t>
                                </m:r>
                              </m:sub>
                              <m:sup>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2</m:t>
                                    </m:r>
                                  </m:den>
                                </m:f>
                              </m:sup>
                            </m:sSubSup>
                          </m:e>
                        </m:d>
                      </m:e>
                    </m:d>
                  </m:oMath>
                </a14:m>
                <a:r>
                  <a:rPr lang="en-US" sz="2400"/>
                  <a:t> </a:t>
                </a:r>
              </a:p>
            </p:txBody>
          </p:sp>
        </mc:Choice>
        <mc:Fallback xmlns="">
          <p:sp>
            <p:nvSpPr>
              <p:cNvPr id="10" name="Chỗ dành sẵn cho Nội dung 2">
                <a:extLst>
                  <a:ext uri="{FF2B5EF4-FFF2-40B4-BE49-F238E27FC236}">
                    <a16:creationId xmlns:a16="http://schemas.microsoft.com/office/drawing/2014/main" id="{E59CCD19-B484-83EA-DE73-1B91F3F4B415}"/>
                  </a:ext>
                </a:extLst>
              </p:cNvPr>
              <p:cNvSpPr txBox="1">
                <a:spLocks noRot="1" noChangeAspect="1" noMove="1" noResize="1" noEditPoints="1" noAdjustHandles="1" noChangeArrowheads="1" noChangeShapeType="1" noTextEdit="1"/>
              </p:cNvSpPr>
              <p:nvPr/>
            </p:nvSpPr>
            <p:spPr>
              <a:xfrm>
                <a:off x="1644658" y="1902243"/>
                <a:ext cx="5177137" cy="824595"/>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 name="Chỗ dành sẵn cho Nội dung 2">
                <a:extLst>
                  <a:ext uri="{FF2B5EF4-FFF2-40B4-BE49-F238E27FC236}">
                    <a16:creationId xmlns:a16="http://schemas.microsoft.com/office/drawing/2014/main" id="{AE47E588-5A6E-221D-21F5-1B4C18C7AE6F}"/>
                  </a:ext>
                </a:extLst>
              </p:cNvPr>
              <p:cNvSpPr txBox="1">
                <a:spLocks/>
              </p:cNvSpPr>
              <p:nvPr/>
            </p:nvSpPr>
            <p:spPr>
              <a:xfrm>
                <a:off x="1018963" y="2984888"/>
                <a:ext cx="4886747" cy="2168085"/>
              </a:xfrm>
              <a:prstGeom prst="rect">
                <a:avLst/>
              </a:prstGeom>
              <a:ln>
                <a:solidFill>
                  <a:srgbClr val="FF0000"/>
                </a:solidFill>
              </a:ln>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a:solidFill>
                      <a:srgbClr val="FF0000"/>
                    </a:solidFill>
                  </a:rPr>
                  <a:t>Example</a:t>
                </a:r>
                <a:r>
                  <a:rPr lang="en-US" sz="2400">
                    <a:solidFill>
                      <a:srgbClr val="FF0000"/>
                    </a:solidFill>
                  </a:rPr>
                  <a:t>:</a:t>
                </a:r>
                <a:endParaRPr lang="en-US" sz="2400" i="1">
                  <a:solidFill>
                    <a:srgbClr val="FF0000"/>
                  </a:solidFill>
                  <a:latin typeface="Cambria Math" panose="02040503050406030204" pitchFamily="18" charset="0"/>
                </a:endParaRPr>
              </a:p>
              <a:p>
                <a:pPr marL="0" indent="0">
                  <a:buNone/>
                </a:pPr>
                <a14:m>
                  <m:oMath xmlns:m="http://schemas.openxmlformats.org/officeDocument/2006/math">
                    <m:r>
                      <a:rPr lang="en-US" sz="2400" i="1" smtClean="0">
                        <a:solidFill>
                          <a:srgbClr val="FF0000"/>
                        </a:solidFill>
                        <a:latin typeface="Cambria Math" panose="02040503050406030204" pitchFamily="18" charset="0"/>
                      </a:rPr>
                      <m:t>𝑓</m:t>
                    </m:r>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𝑥</m:t>
                        </m:r>
                      </m:e>
                    </m:d>
                    <m:r>
                      <a:rPr lang="en-US" sz="2400" i="1">
                        <a:solidFill>
                          <a:srgbClr val="FF0000"/>
                        </a:solidFill>
                        <a:latin typeface="Cambria Math" panose="02040503050406030204" pitchFamily="18" charset="0"/>
                      </a:rPr>
                      <m:t>=</m:t>
                    </m:r>
                    <m:func>
                      <m:funcPr>
                        <m:ctrlPr>
                          <a:rPr lang="en-US" sz="2400" i="1">
                            <a:solidFill>
                              <a:srgbClr val="FF0000"/>
                            </a:solidFill>
                            <a:latin typeface="Cambria Math" panose="02040503050406030204" pitchFamily="18" charset="0"/>
                          </a:rPr>
                        </m:ctrlPr>
                      </m:funcPr>
                      <m:fName>
                        <m:r>
                          <m:rPr>
                            <m:sty m:val="p"/>
                          </m:rPr>
                          <a:rPr lang="en-US" sz="2400">
                            <a:solidFill>
                              <a:srgbClr val="FF0000"/>
                            </a:solidFill>
                            <a:latin typeface="Cambria Math" panose="02040503050406030204" pitchFamily="18" charset="0"/>
                          </a:rPr>
                          <m:t>sin</m:t>
                        </m:r>
                      </m:fName>
                      <m:e>
                        <m:r>
                          <a:rPr lang="en-US" sz="2400" i="1">
                            <a:solidFill>
                              <a:srgbClr val="FF0000"/>
                            </a:solidFill>
                            <a:latin typeface="Cambria Math" panose="02040503050406030204" pitchFamily="18" charset="0"/>
                          </a:rPr>
                          <m:t>𝑥</m:t>
                        </m:r>
                      </m:e>
                    </m:func>
                  </m:oMath>
                </a14:m>
                <a:r>
                  <a:rPr lang="en-US" sz="2400">
                    <a:solidFill>
                      <a:srgbClr val="FF0000"/>
                    </a:solidFill>
                    <a:latin typeface="Cambria Math" panose="02040503050406030204" pitchFamily="18" charset="0"/>
                  </a:rPr>
                  <a:t> </a:t>
                </a:r>
              </a:p>
              <a:p>
                <a:pPr marL="0" indent="0">
                  <a:buNone/>
                </a:pPr>
                <a14:m>
                  <m:oMath xmlns:m="http://schemas.openxmlformats.org/officeDocument/2006/math">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𝑓</m:t>
                        </m:r>
                      </m:e>
                      <m:sup>
                        <m:r>
                          <a:rPr lang="en-US" sz="2400" i="1">
                            <a:solidFill>
                              <a:srgbClr val="FF0000"/>
                            </a:solidFill>
                            <a:latin typeface="Cambria Math" panose="02040503050406030204" pitchFamily="18" charset="0"/>
                          </a:rPr>
                          <m:t>′</m:t>
                        </m:r>
                      </m:sup>
                    </m:sSup>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𝑥</m:t>
                        </m:r>
                      </m:e>
                    </m:d>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i="1">
                            <a:solidFill>
                              <a:srgbClr val="FF0000"/>
                            </a:solidFill>
                            <a:latin typeface="Cambria Math" panose="02040503050406030204" pitchFamily="18" charset="0"/>
                          </a:rPr>
                          <m:t>2</m:t>
                        </m:r>
                      </m:den>
                    </m:f>
                    <m:d>
                      <m:dPr>
                        <m:begChr m:val="["/>
                        <m:endChr m:val="]"/>
                        <m:ctrlPr>
                          <a:rPr lang="en-US" sz="2400" i="1">
                            <a:solidFill>
                              <a:srgbClr val="FF0000"/>
                            </a:solidFill>
                            <a:latin typeface="Cambria Math" panose="02040503050406030204" pitchFamily="18" charset="0"/>
                          </a:rPr>
                        </m:ctrlPr>
                      </m:dPr>
                      <m:e>
                        <m:func>
                          <m:funcPr>
                            <m:ctrlPr>
                              <a:rPr lang="en-US" sz="2400" i="1">
                                <a:solidFill>
                                  <a:srgbClr val="FF0000"/>
                                </a:solidFill>
                                <a:latin typeface="Cambria Math" panose="02040503050406030204" pitchFamily="18" charset="0"/>
                              </a:rPr>
                            </m:ctrlPr>
                          </m:funcPr>
                          <m:fName>
                            <m:r>
                              <m:rPr>
                                <m:sty m:val="p"/>
                              </m:rPr>
                              <a:rPr lang="en-US" sz="2400">
                                <a:solidFill>
                                  <a:srgbClr val="FF0000"/>
                                </a:solidFill>
                                <a:latin typeface="Cambria Math" panose="02040503050406030204" pitchFamily="18" charset="0"/>
                              </a:rPr>
                              <m:t>sin</m:t>
                            </m:r>
                          </m:fName>
                          <m:e>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𝜋</m:t>
                                    </m:r>
                                  </m:num>
                                  <m:den>
                                    <m:r>
                                      <a:rPr lang="en-US" sz="2400" i="1">
                                        <a:solidFill>
                                          <a:srgbClr val="FF0000"/>
                                        </a:solidFill>
                                        <a:latin typeface="Cambria Math" panose="02040503050406030204" pitchFamily="18" charset="0"/>
                                      </a:rPr>
                                      <m:t>2</m:t>
                                    </m:r>
                                  </m:den>
                                </m:f>
                              </m:e>
                            </m:d>
                          </m:e>
                        </m:func>
                        <m:r>
                          <a:rPr lang="en-US" sz="2400" i="1">
                            <a:solidFill>
                              <a:srgbClr val="FF0000"/>
                            </a:solidFill>
                            <a:latin typeface="Cambria Math" panose="02040503050406030204" pitchFamily="18" charset="0"/>
                          </a:rPr>
                          <m:t>−</m:t>
                        </m:r>
                        <m:r>
                          <m:rPr>
                            <m:sty m:val="p"/>
                          </m:rPr>
                          <a:rPr lang="en-US" sz="2400">
                            <a:solidFill>
                              <a:srgbClr val="FF0000"/>
                            </a:solidFill>
                            <a:latin typeface="Cambria Math" panose="02040503050406030204" pitchFamily="18" charset="0"/>
                          </a:rPr>
                          <m:t>sin</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𝜋</m:t>
                            </m:r>
                          </m:num>
                          <m:den>
                            <m:r>
                              <a:rPr lang="en-US" sz="2400" i="1">
                                <a:solidFill>
                                  <a:srgbClr val="FF0000"/>
                                </a:solidFill>
                                <a:latin typeface="Cambria Math" panose="02040503050406030204" pitchFamily="18" charset="0"/>
                              </a:rPr>
                              <m:t>2</m:t>
                            </m:r>
                          </m:den>
                        </m:f>
                        <m:r>
                          <a:rPr lang="en-US" sz="2400" i="1">
                            <a:solidFill>
                              <a:srgbClr val="FF0000"/>
                            </a:solidFill>
                            <a:latin typeface="Cambria Math" panose="02040503050406030204" pitchFamily="18" charset="0"/>
                          </a:rPr>
                          <m:t>)</m:t>
                        </m:r>
                      </m:e>
                    </m:d>
                  </m:oMath>
                </a14:m>
                <a:r>
                  <a:rPr lang="vi-VN" sz="2400" i="1">
                    <a:solidFill>
                      <a:srgbClr val="FF0000"/>
                    </a:solidFill>
                    <a:latin typeface="Cambria Math" panose="02040503050406030204" pitchFamily="18" charset="0"/>
                  </a:rPr>
                  <a:t> </a:t>
                </a:r>
                <a:endParaRPr lang="en-US" sz="2400" i="1">
                  <a:solidFill>
                    <a:srgbClr val="FF0000"/>
                  </a:solidFill>
                  <a:latin typeface="Cambria Math" panose="02040503050406030204" pitchFamily="18" charset="0"/>
                </a:endParaRPr>
              </a:p>
              <a:p>
                <a:pPr marL="0" indent="0">
                  <a:buNone/>
                </a:pPr>
                <a14:m>
                  <m:oMath xmlns:m="http://schemas.openxmlformats.org/officeDocument/2006/math">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i="1">
                            <a:solidFill>
                              <a:srgbClr val="FF0000"/>
                            </a:solidFill>
                            <a:latin typeface="Cambria Math" panose="02040503050406030204" pitchFamily="18" charset="0"/>
                          </a:rPr>
                          <m:t>2</m:t>
                        </m:r>
                      </m:den>
                    </m:f>
                    <m:d>
                      <m:dPr>
                        <m:begChr m:val="["/>
                        <m:endChr m:val="]"/>
                        <m:ctrlPr>
                          <a:rPr lang="en-US" sz="2400" i="1">
                            <a:solidFill>
                              <a:srgbClr val="FF0000"/>
                            </a:solidFill>
                            <a:latin typeface="Cambria Math" panose="02040503050406030204" pitchFamily="18" charset="0"/>
                          </a:rPr>
                        </m:ctrlPr>
                      </m:dPr>
                      <m:e>
                        <m:func>
                          <m:funcPr>
                            <m:ctrlPr>
                              <a:rPr lang="en-US" sz="2400" i="1">
                                <a:solidFill>
                                  <a:srgbClr val="FF0000"/>
                                </a:solidFill>
                                <a:latin typeface="Cambria Math" panose="02040503050406030204" pitchFamily="18" charset="0"/>
                              </a:rPr>
                            </m:ctrlPr>
                          </m:funcPr>
                          <m:fName>
                            <m:r>
                              <m:rPr>
                                <m:sty m:val="p"/>
                              </m:rPr>
                              <a:rPr lang="en-US" sz="2400">
                                <a:solidFill>
                                  <a:srgbClr val="FF0000"/>
                                </a:solidFill>
                                <a:latin typeface="Cambria Math" panose="02040503050406030204" pitchFamily="18" charset="0"/>
                              </a:rPr>
                              <m:t>cos</m:t>
                            </m:r>
                          </m:fName>
                          <m:e>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𝑥</m:t>
                                </m:r>
                              </m:e>
                            </m:d>
                          </m:e>
                        </m:func>
                        <m:r>
                          <a:rPr lang="en-US" sz="2400" i="1">
                            <a:solidFill>
                              <a:srgbClr val="FF0000"/>
                            </a:solidFill>
                            <a:latin typeface="Cambria Math" panose="02040503050406030204" pitchFamily="18" charset="0"/>
                          </a:rPr>
                          <m:t>+</m:t>
                        </m:r>
                        <m:r>
                          <m:rPr>
                            <m:sty m:val="p"/>
                          </m:rPr>
                          <a:rPr lang="en-US" sz="2400">
                            <a:solidFill>
                              <a:srgbClr val="FF0000"/>
                            </a:solidFill>
                            <a:latin typeface="Cambria Math" panose="02040503050406030204" pitchFamily="18" charset="0"/>
                          </a:rPr>
                          <m:t>cos</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e>
                    </m:d>
                  </m:oMath>
                </a14:m>
                <a:r>
                  <a:rPr lang="en-US" sz="2400">
                    <a:solidFill>
                      <a:srgbClr val="FF0000"/>
                    </a:solidFill>
                  </a:rPr>
                  <a:t> </a:t>
                </a:r>
                <a14:m>
                  <m:oMath xmlns:m="http://schemas.openxmlformats.org/officeDocument/2006/math">
                    <m:r>
                      <a:rPr lang="en-US" sz="2400" i="1">
                        <a:solidFill>
                          <a:srgbClr val="FF0000"/>
                        </a:solidFill>
                        <a:latin typeface="Cambria Math" panose="02040503050406030204" pitchFamily="18" charset="0"/>
                      </a:rPr>
                      <m:t>=</m:t>
                    </m:r>
                    <m:r>
                      <m:rPr>
                        <m:sty m:val="p"/>
                      </m:rPr>
                      <a:rPr lang="en-US" sz="2400">
                        <a:solidFill>
                          <a:srgbClr val="FF0000"/>
                        </a:solidFill>
                        <a:latin typeface="Cambria Math" panose="02040503050406030204" pitchFamily="18" charset="0"/>
                      </a:rPr>
                      <m:t>cos</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𝑥</m:t>
                    </m:r>
                    <m:r>
                      <a:rPr lang="vi-VN" sz="2400" i="1">
                        <a:solidFill>
                          <a:srgbClr val="FF0000"/>
                        </a:solidFill>
                        <a:latin typeface="Cambria Math" panose="02040503050406030204" pitchFamily="18" charset="0"/>
                      </a:rPr>
                      <m:t>)</m:t>
                    </m:r>
                  </m:oMath>
                </a14:m>
                <a:endParaRPr lang="en-US" sz="2400">
                  <a:solidFill>
                    <a:srgbClr val="FF0000"/>
                  </a:solidFill>
                </a:endParaRPr>
              </a:p>
            </p:txBody>
          </p:sp>
        </mc:Choice>
        <mc:Fallback xmlns="">
          <p:sp>
            <p:nvSpPr>
              <p:cNvPr id="13" name="Chỗ dành sẵn cho Nội dung 2">
                <a:extLst>
                  <a:ext uri="{FF2B5EF4-FFF2-40B4-BE49-F238E27FC236}">
                    <a16:creationId xmlns:a16="http://schemas.microsoft.com/office/drawing/2014/main" id="{AE47E588-5A6E-221D-21F5-1B4C18C7AE6F}"/>
                  </a:ext>
                </a:extLst>
              </p:cNvPr>
              <p:cNvSpPr txBox="1">
                <a:spLocks noRot="1" noChangeAspect="1" noMove="1" noResize="1" noEditPoints="1" noAdjustHandles="1" noChangeArrowheads="1" noChangeShapeType="1" noTextEdit="1"/>
              </p:cNvSpPr>
              <p:nvPr/>
            </p:nvSpPr>
            <p:spPr>
              <a:xfrm>
                <a:off x="1018963" y="2984888"/>
                <a:ext cx="4886747" cy="2168085"/>
              </a:xfrm>
              <a:prstGeom prst="rect">
                <a:avLst/>
              </a:prstGeom>
              <a:blipFill>
                <a:blip r:embed="rId4"/>
                <a:stretch>
                  <a:fillRect l="-1119" t="-3081"/>
                </a:stretch>
              </a:blipFill>
              <a:ln>
                <a:solidFill>
                  <a:srgbClr val="FF0000"/>
                </a:solidFill>
              </a:ln>
            </p:spPr>
            <p:txBody>
              <a:bodyPr/>
              <a:lstStyle/>
              <a:p>
                <a:r>
                  <a:rPr lang="vi-VN">
                    <a:noFill/>
                  </a:rPr>
                  <a:t> </a:t>
                </a:r>
              </a:p>
            </p:txBody>
          </p:sp>
        </mc:Fallback>
      </mc:AlternateContent>
      <p:sp>
        <p:nvSpPr>
          <p:cNvPr id="3" name="TextBox 2">
            <a:extLst>
              <a:ext uri="{FF2B5EF4-FFF2-40B4-BE49-F238E27FC236}">
                <a16:creationId xmlns:a16="http://schemas.microsoft.com/office/drawing/2014/main" id="{B9B68063-D87D-E6CA-58C7-A6FF72DAECA3}"/>
              </a:ext>
            </a:extLst>
          </p:cNvPr>
          <p:cNvSpPr txBox="1"/>
          <p:nvPr/>
        </p:nvSpPr>
        <p:spPr>
          <a:xfrm>
            <a:off x="909348" y="1348695"/>
            <a:ext cx="10702649" cy="461665"/>
          </a:xfrm>
          <a:prstGeom prst="rect">
            <a:avLst/>
          </a:prstGeom>
          <a:noFill/>
        </p:spPr>
        <p:txBody>
          <a:bodyPr wrap="square" rtlCol="0">
            <a:spAutoFit/>
          </a:bodyPr>
          <a:lstStyle/>
          <a:p>
            <a:r>
              <a:rPr lang="en-US" sz="2400"/>
              <a:t>Commonly, we only use 2term-PSR</a:t>
            </a:r>
            <a:endParaRPr lang="vi-VN" sz="2400"/>
          </a:p>
        </p:txBody>
      </p:sp>
    </p:spTree>
    <p:extLst>
      <p:ext uri="{BB962C8B-B14F-4D97-AF65-F5344CB8AC3E}">
        <p14:creationId xmlns:p14="http://schemas.microsoft.com/office/powerpoint/2010/main" val="3853497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11558-5FAA-64EB-E37F-62FD12AF77BA}"/>
              </a:ext>
            </a:extLst>
          </p:cNvPr>
          <p:cNvSpPr>
            <a:spLocks noGrp="1"/>
          </p:cNvSpPr>
          <p:nvPr>
            <p:ph type="title"/>
          </p:nvPr>
        </p:nvSpPr>
        <p:spPr>
          <a:xfrm>
            <a:off x="838201" y="26460"/>
            <a:ext cx="8621889" cy="1325563"/>
          </a:xfrm>
        </p:spPr>
        <p:txBody>
          <a:bodyPr>
            <a:normAutofit/>
          </a:bodyPr>
          <a:lstStyle/>
          <a:p>
            <a:r>
              <a:rPr lang="en-US"/>
              <a:t>Encoding</a:t>
            </a:r>
            <a:br>
              <a:rPr lang="en-US"/>
            </a:br>
            <a:r>
              <a:rPr lang="en-US" sz="2667"/>
              <a:t>Quantum state preparation*</a:t>
            </a:r>
            <a:endParaRPr lang="vi-VN" sz="2667"/>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D2ABCF-4B6F-A4E1-66D1-56D3B85A048B}"/>
                  </a:ext>
                </a:extLst>
              </p:cNvPr>
              <p:cNvSpPr>
                <a:spLocks noGrp="1"/>
              </p:cNvSpPr>
              <p:nvPr>
                <p:ph idx="1"/>
              </p:nvPr>
            </p:nvSpPr>
            <p:spPr>
              <a:xfrm>
                <a:off x="5373697" y="2158551"/>
                <a:ext cx="6395155" cy="611501"/>
              </a:xfrm>
            </p:spPr>
            <p:txBody>
              <a:bodyPr>
                <a:normAutofit/>
              </a:bodyPr>
              <a:lstStyle/>
              <a:p>
                <a:pPr marL="0" indent="0">
                  <a:buNone/>
                </a:pPr>
                <a:r>
                  <a:rPr lang="en-US"/>
                  <a:t>with </a:t>
                </a:r>
                <a14:m>
                  <m:oMath xmlns:m="http://schemas.openxmlformats.org/officeDocument/2006/math">
                    <m:d>
                      <m:dPr>
                        <m:begChr m:val="|"/>
                        <m:endChr m:val="⟩"/>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𝜓</m:t>
                        </m:r>
                        <m:r>
                          <a:rPr lang="en-US" i="1" smtClean="0">
                            <a:solidFill>
                              <a:schemeClr val="tx1"/>
                            </a:solidFill>
                            <a:latin typeface="Cambria Math" panose="02040503050406030204" pitchFamily="18" charset="0"/>
                          </a:rPr>
                          <m:t>′</m:t>
                        </m:r>
                      </m:e>
                    </m:d>
                  </m:oMath>
                </a14:m>
                <a:r>
                  <a:rPr lang="en-US"/>
                  <a:t> is the prepared state </a:t>
                </a:r>
                <a:endParaRPr lang="vi-VN"/>
              </a:p>
            </p:txBody>
          </p:sp>
        </mc:Choice>
        <mc:Fallback xmlns="">
          <p:sp>
            <p:nvSpPr>
              <p:cNvPr id="3" name="Content Placeholder 2">
                <a:extLst>
                  <a:ext uri="{FF2B5EF4-FFF2-40B4-BE49-F238E27FC236}">
                    <a16:creationId xmlns:a16="http://schemas.microsoft.com/office/drawing/2014/main" id="{33D2ABCF-4B6F-A4E1-66D1-56D3B85A048B}"/>
                  </a:ext>
                </a:extLst>
              </p:cNvPr>
              <p:cNvSpPr>
                <a:spLocks noGrp="1" noRot="1" noChangeAspect="1" noMove="1" noResize="1" noEditPoints="1" noAdjustHandles="1" noChangeArrowheads="1" noChangeShapeType="1" noTextEdit="1"/>
              </p:cNvSpPr>
              <p:nvPr>
                <p:ph idx="1"/>
              </p:nvPr>
            </p:nvSpPr>
            <p:spPr>
              <a:xfrm>
                <a:off x="5373697" y="2158551"/>
                <a:ext cx="6395155" cy="611501"/>
              </a:xfrm>
              <a:blipFill>
                <a:blip r:embed="rId2"/>
                <a:stretch>
                  <a:fillRect l="-2002" t="-16000" b="-7000"/>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0E8938C9-1842-7666-9E6A-A84A2E46C04E}"/>
              </a:ext>
            </a:extLst>
          </p:cNvPr>
          <p:cNvSpPr>
            <a:spLocks noGrp="1"/>
          </p:cNvSpPr>
          <p:nvPr>
            <p:ph type="sldNum" sz="quarter" idx="12"/>
          </p:nvPr>
        </p:nvSpPr>
        <p:spPr/>
        <p:txBody>
          <a:bodyPr/>
          <a:lstStyle/>
          <a:p>
            <a:fld id="{6A45828D-F580-42DE-B77E-860980F07F32}" type="slidenum">
              <a:rPr lang="vi-VN" smtClean="0"/>
              <a:t>31</a:t>
            </a:fld>
            <a:endParaRPr lang="vi-VN"/>
          </a:p>
        </p:txBody>
      </p:sp>
      <p:cxnSp>
        <p:nvCxnSpPr>
          <p:cNvPr id="5" name="Straight Connector 4">
            <a:extLst>
              <a:ext uri="{FF2B5EF4-FFF2-40B4-BE49-F238E27FC236}">
                <a16:creationId xmlns:a16="http://schemas.microsoft.com/office/drawing/2014/main" id="{C0E1282E-ECE0-AA9C-65EF-BE0452C1C46E}"/>
              </a:ext>
            </a:extLst>
          </p:cNvPr>
          <p:cNvCxnSpPr>
            <a:cxnSpLocks/>
          </p:cNvCxnSpPr>
          <p:nvPr/>
        </p:nvCxnSpPr>
        <p:spPr>
          <a:xfrm>
            <a:off x="989756" y="1694317"/>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5D586C1-637B-BB92-039A-7F1DF8F9D0C3}"/>
                  </a:ext>
                </a:extLst>
              </p:cNvPr>
              <p:cNvSpPr/>
              <p:nvPr/>
            </p:nvSpPr>
            <p:spPr>
              <a:xfrm>
                <a:off x="2010410" y="1255539"/>
                <a:ext cx="1522873"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𝑈</m:t>
                      </m:r>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𝜙</m:t>
                          </m:r>
                        </m:e>
                      </m:d>
                    </m:oMath>
                  </m:oMathPara>
                </a14:m>
                <a:endParaRPr lang="ar-AE" sz="2400">
                  <a:solidFill>
                    <a:schemeClr val="tx1"/>
                  </a:solidFill>
                </a:endParaRPr>
              </a:p>
            </p:txBody>
          </p:sp>
        </mc:Choice>
        <mc:Fallback xmlns="">
          <p:sp>
            <p:nvSpPr>
              <p:cNvPr id="6" name="Rectangle 5">
                <a:extLst>
                  <a:ext uri="{FF2B5EF4-FFF2-40B4-BE49-F238E27FC236}">
                    <a16:creationId xmlns:a16="http://schemas.microsoft.com/office/drawing/2014/main" id="{15D586C1-637B-BB92-039A-7F1DF8F9D0C3}"/>
                  </a:ext>
                </a:extLst>
              </p:cNvPr>
              <p:cNvSpPr>
                <a:spLocks noRot="1" noChangeAspect="1" noMove="1" noResize="1" noEditPoints="1" noAdjustHandles="1" noChangeArrowheads="1" noChangeShapeType="1" noTextEdit="1"/>
              </p:cNvSpPr>
              <p:nvPr/>
            </p:nvSpPr>
            <p:spPr>
              <a:xfrm>
                <a:off x="2010410" y="1255539"/>
                <a:ext cx="1522873" cy="867719"/>
              </a:xfrm>
              <a:prstGeom prst="rect">
                <a:avLst/>
              </a:prstGeom>
              <a:blipFill>
                <a:blip r:embed="rId3"/>
                <a:stretch>
                  <a:fillRect/>
                </a:stretch>
              </a:blipFill>
              <a:ln>
                <a:solidFill>
                  <a:schemeClr val="tx1"/>
                </a:solidFill>
              </a:ln>
            </p:spPr>
            <p:txBody>
              <a:bodyPr/>
              <a:lstStyle/>
              <a:p>
                <a:r>
                  <a:rPr lang="en-VN">
                    <a:noFill/>
                  </a:rPr>
                  <a:t> </a:t>
                </a:r>
              </a:p>
            </p:txBody>
          </p:sp>
        </mc:Fallback>
      </mc:AlternateContent>
      <p:cxnSp>
        <p:nvCxnSpPr>
          <p:cNvPr id="7" name="Straight Connector 6">
            <a:extLst>
              <a:ext uri="{FF2B5EF4-FFF2-40B4-BE49-F238E27FC236}">
                <a16:creationId xmlns:a16="http://schemas.microsoft.com/office/drawing/2014/main" id="{A0E1D5A3-A6E2-DADB-99FB-450B4CFA0C7F}"/>
              </a:ext>
            </a:extLst>
          </p:cNvPr>
          <p:cNvCxnSpPr>
            <a:cxnSpLocks/>
          </p:cNvCxnSpPr>
          <p:nvPr/>
        </p:nvCxnSpPr>
        <p:spPr>
          <a:xfrm flipV="1">
            <a:off x="1240780" y="1553947"/>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FF1A9B-DE49-A125-C011-EA6FC1345682}"/>
                  </a:ext>
                </a:extLst>
              </p:cNvPr>
              <p:cNvSpPr txBox="1"/>
              <p:nvPr/>
            </p:nvSpPr>
            <p:spPr>
              <a:xfrm>
                <a:off x="825450" y="2130845"/>
                <a:ext cx="2160460" cy="476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0</m:t>
                              </m:r>
                            </m:sub>
                          </m:sSub>
                        </m:e>
                      </m:d>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e>
                        <m:sup>
                          <m:r>
                            <a:rPr lang="en-US" sz="2400" i="1">
                              <a:latin typeface="Cambria Math" panose="02040503050406030204" pitchFamily="18" charset="0"/>
                            </a:rPr>
                            <m:t>⊗</m:t>
                          </m:r>
                          <m:r>
                            <a:rPr lang="en-US" sz="2400" i="1">
                              <a:latin typeface="Cambria Math" panose="02040503050406030204" pitchFamily="18" charset="0"/>
                            </a:rPr>
                            <m:t>𝑛</m:t>
                          </m:r>
                        </m:sup>
                      </m:sSup>
                    </m:oMath>
                  </m:oMathPara>
                </a14:m>
                <a:endParaRPr lang="vi-VN" sz="2400" b="1"/>
              </a:p>
            </p:txBody>
          </p:sp>
        </mc:Choice>
        <mc:Fallback xmlns="">
          <p:sp>
            <p:nvSpPr>
              <p:cNvPr id="8" name="TextBox 7">
                <a:extLst>
                  <a:ext uri="{FF2B5EF4-FFF2-40B4-BE49-F238E27FC236}">
                    <a16:creationId xmlns:a16="http://schemas.microsoft.com/office/drawing/2014/main" id="{56FF1A9B-DE49-A125-C011-EA6FC1345682}"/>
                  </a:ext>
                </a:extLst>
              </p:cNvPr>
              <p:cNvSpPr txBox="1">
                <a:spLocks noRot="1" noChangeAspect="1" noMove="1" noResize="1" noEditPoints="1" noAdjustHandles="1" noChangeArrowheads="1" noChangeShapeType="1" noTextEdit="1"/>
              </p:cNvSpPr>
              <p:nvPr/>
            </p:nvSpPr>
            <p:spPr>
              <a:xfrm>
                <a:off x="825450" y="2130845"/>
                <a:ext cx="2160460" cy="476990"/>
              </a:xfrm>
              <a:prstGeom prst="rect">
                <a:avLst/>
              </a:prstGeom>
              <a:blipFill>
                <a:blip r:embed="rId4"/>
                <a:stretch>
                  <a:fillRect b="-18421"/>
                </a:stretch>
              </a:blipFill>
            </p:spPr>
            <p:txBody>
              <a:bodyPr/>
              <a:lstStyle/>
              <a:p>
                <a:r>
                  <a:rPr lang="en-VN">
                    <a:noFill/>
                  </a:rPr>
                  <a:t> </a:t>
                </a:r>
              </a:p>
            </p:txBody>
          </p:sp>
        </mc:Fallback>
      </mc:AlternateContent>
      <p:cxnSp>
        <p:nvCxnSpPr>
          <p:cNvPr id="9" name="Straight Arrow Connector 8">
            <a:extLst>
              <a:ext uri="{FF2B5EF4-FFF2-40B4-BE49-F238E27FC236}">
                <a16:creationId xmlns:a16="http://schemas.microsoft.com/office/drawing/2014/main" id="{DB90448E-F81D-F69A-4383-A99C6438B7EC}"/>
              </a:ext>
            </a:extLst>
          </p:cNvPr>
          <p:cNvCxnSpPr>
            <a:cxnSpLocks/>
          </p:cNvCxnSpPr>
          <p:nvPr/>
        </p:nvCxnSpPr>
        <p:spPr>
          <a:xfrm flipV="1">
            <a:off x="1640637" y="1713211"/>
            <a:ext cx="0" cy="488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6BF3E86-148D-8511-8749-42FB7C570260}"/>
                  </a:ext>
                </a:extLst>
              </p:cNvPr>
              <p:cNvSpPr txBox="1"/>
              <p:nvPr/>
            </p:nvSpPr>
            <p:spPr>
              <a:xfrm>
                <a:off x="3097967" y="2130845"/>
                <a:ext cx="3410080"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r>
                            <a:rPr lang="en-US" sz="2400" i="1">
                              <a:latin typeface="Cambria Math" panose="02040503050406030204" pitchFamily="18" charset="0"/>
                            </a:rPr>
                            <m:t>′</m:t>
                          </m:r>
                        </m:e>
                      </m:d>
                      <m:r>
                        <a:rPr lang="en-US" sz="2400" i="1">
                          <a:latin typeface="Cambria Math" panose="02040503050406030204" pitchFamily="18" charset="0"/>
                        </a:rPr>
                        <m:t>=</m:t>
                      </m:r>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𝜙</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0</m:t>
                          </m:r>
                        </m:sub>
                      </m:sSub>
                      <m:r>
                        <a:rPr lang="en-US" sz="2400" i="1">
                          <a:latin typeface="Cambria Math" panose="02040503050406030204" pitchFamily="18" charset="0"/>
                        </a:rPr>
                        <m:t>⟩</m:t>
                      </m:r>
                    </m:oMath>
                  </m:oMathPara>
                </a14:m>
                <a:endParaRPr lang="ar-AE" sz="2400"/>
              </a:p>
            </p:txBody>
          </p:sp>
        </mc:Choice>
        <mc:Fallback xmlns="">
          <p:sp>
            <p:nvSpPr>
              <p:cNvPr id="12" name="TextBox 11">
                <a:extLst>
                  <a:ext uri="{FF2B5EF4-FFF2-40B4-BE49-F238E27FC236}">
                    <a16:creationId xmlns:a16="http://schemas.microsoft.com/office/drawing/2014/main" id="{96BF3E86-148D-8511-8749-42FB7C570260}"/>
                  </a:ext>
                </a:extLst>
              </p:cNvPr>
              <p:cNvSpPr txBox="1">
                <a:spLocks noRot="1" noChangeAspect="1" noMove="1" noResize="1" noEditPoints="1" noAdjustHandles="1" noChangeArrowheads="1" noChangeShapeType="1" noTextEdit="1"/>
              </p:cNvSpPr>
              <p:nvPr/>
            </p:nvSpPr>
            <p:spPr>
              <a:xfrm>
                <a:off x="3097967" y="2130845"/>
                <a:ext cx="3410080" cy="461665"/>
              </a:xfrm>
              <a:prstGeom prst="rect">
                <a:avLst/>
              </a:prstGeom>
              <a:blipFill>
                <a:blip r:embed="rId5"/>
                <a:stretch>
                  <a:fillRect t="-13514" b="-27027"/>
                </a:stretch>
              </a:blipFill>
            </p:spPr>
            <p:txBody>
              <a:bodyPr/>
              <a:lstStyle/>
              <a:p>
                <a:r>
                  <a:rPr lang="en-VN">
                    <a:noFill/>
                  </a:rPr>
                  <a:t> </a:t>
                </a:r>
              </a:p>
            </p:txBody>
          </p:sp>
        </mc:Fallback>
      </mc:AlternateContent>
      <p:cxnSp>
        <p:nvCxnSpPr>
          <p:cNvPr id="13" name="Straight Arrow Connector 12">
            <a:extLst>
              <a:ext uri="{FF2B5EF4-FFF2-40B4-BE49-F238E27FC236}">
                <a16:creationId xmlns:a16="http://schemas.microsoft.com/office/drawing/2014/main" id="{ED86E370-72AE-6164-E10E-AF210A2553FF}"/>
              </a:ext>
            </a:extLst>
          </p:cNvPr>
          <p:cNvCxnSpPr>
            <a:cxnSpLocks/>
          </p:cNvCxnSpPr>
          <p:nvPr/>
        </p:nvCxnSpPr>
        <p:spPr>
          <a:xfrm flipV="1">
            <a:off x="3913155" y="1713211"/>
            <a:ext cx="0" cy="488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0DF3C35F-48CD-BA56-BBC0-E7F3DBC51900}"/>
              </a:ext>
            </a:extLst>
          </p:cNvPr>
          <p:cNvCxnSpPr>
            <a:cxnSpLocks/>
          </p:cNvCxnSpPr>
          <p:nvPr/>
        </p:nvCxnSpPr>
        <p:spPr>
          <a:xfrm flipV="1">
            <a:off x="2985909" y="2123257"/>
            <a:ext cx="0" cy="646795"/>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C59332C1-10F0-2696-6AC2-EC2FB81955EB}"/>
                  </a:ext>
                </a:extLst>
              </p:cNvPr>
              <p:cNvSpPr txBox="1">
                <a:spLocks/>
              </p:cNvSpPr>
              <p:nvPr/>
            </p:nvSpPr>
            <p:spPr>
              <a:xfrm>
                <a:off x="1900033" y="2709339"/>
                <a:ext cx="5387623" cy="507747"/>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a:solidFill>
                      <a:srgbClr val="FF0000"/>
                    </a:solidFill>
                  </a:rPr>
                  <a:t>How to prepare </a:t>
                </a:r>
                <a14:m>
                  <m:oMath xmlns:m="http://schemas.openxmlformats.org/officeDocument/2006/math">
                    <m:r>
                      <a:rPr lang="en-US" sz="2400" i="1">
                        <a:solidFill>
                          <a:srgbClr val="FF0000"/>
                        </a:solidFill>
                        <a:latin typeface="Cambria Math" panose="02040503050406030204" pitchFamily="18" charset="0"/>
                      </a:rPr>
                      <m:t>𝑈</m:t>
                    </m:r>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𝜙</m:t>
                        </m:r>
                      </m:e>
                    </m:d>
                    <m:r>
                      <a:rPr lang="en-US" sz="2400" i="1">
                        <a:solidFill>
                          <a:srgbClr val="FF0000"/>
                        </a:solidFill>
                        <a:latin typeface="Cambria Math" panose="02040503050406030204" pitchFamily="18" charset="0"/>
                      </a:rPr>
                      <m:t>?</m:t>
                    </m:r>
                  </m:oMath>
                </a14:m>
                <a:endParaRPr lang="vi-VN" sz="2400">
                  <a:solidFill>
                    <a:srgbClr val="FF0000"/>
                  </a:solidFill>
                </a:endParaRPr>
              </a:p>
            </p:txBody>
          </p:sp>
        </mc:Choice>
        <mc:Fallback xmlns="">
          <p:sp>
            <p:nvSpPr>
              <p:cNvPr id="16" name="Content Placeholder 2">
                <a:extLst>
                  <a:ext uri="{FF2B5EF4-FFF2-40B4-BE49-F238E27FC236}">
                    <a16:creationId xmlns:a16="http://schemas.microsoft.com/office/drawing/2014/main" id="{C59332C1-10F0-2696-6AC2-EC2FB81955EB}"/>
                  </a:ext>
                </a:extLst>
              </p:cNvPr>
              <p:cNvSpPr txBox="1">
                <a:spLocks noRot="1" noChangeAspect="1" noMove="1" noResize="1" noEditPoints="1" noAdjustHandles="1" noChangeArrowheads="1" noChangeShapeType="1" noTextEdit="1"/>
              </p:cNvSpPr>
              <p:nvPr/>
            </p:nvSpPr>
            <p:spPr>
              <a:xfrm>
                <a:off x="1900033" y="2709339"/>
                <a:ext cx="5387623" cy="507747"/>
              </a:xfrm>
              <a:prstGeom prst="rect">
                <a:avLst/>
              </a:prstGeom>
              <a:blipFill>
                <a:blip r:embed="rId6"/>
                <a:stretch>
                  <a:fillRect l="-1176" t="-12195" b="-12195"/>
                </a:stretch>
              </a:blipFill>
            </p:spPr>
            <p:txBody>
              <a:bodyPr/>
              <a:lstStyle/>
              <a:p>
                <a:r>
                  <a:rPr lang="en-VN">
                    <a:noFill/>
                  </a:rPr>
                  <a:t> </a:t>
                </a:r>
              </a:p>
            </p:txBody>
          </p:sp>
        </mc:Fallback>
      </mc:AlternateContent>
      <p:cxnSp>
        <p:nvCxnSpPr>
          <p:cNvPr id="17" name="Straight Connector 16">
            <a:extLst>
              <a:ext uri="{FF2B5EF4-FFF2-40B4-BE49-F238E27FC236}">
                <a16:creationId xmlns:a16="http://schemas.microsoft.com/office/drawing/2014/main" id="{EA3AFE83-4A5F-6DEE-3427-2887B9B5EE5B}"/>
              </a:ext>
            </a:extLst>
          </p:cNvPr>
          <p:cNvCxnSpPr>
            <a:cxnSpLocks/>
          </p:cNvCxnSpPr>
          <p:nvPr/>
        </p:nvCxnSpPr>
        <p:spPr>
          <a:xfrm>
            <a:off x="1242001" y="4562492"/>
            <a:ext cx="73152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B33E20-582C-9B8C-AA90-D23CA25A2DE6}"/>
              </a:ext>
            </a:extLst>
          </p:cNvPr>
          <p:cNvCxnSpPr>
            <a:cxnSpLocks/>
          </p:cNvCxnSpPr>
          <p:nvPr/>
        </p:nvCxnSpPr>
        <p:spPr>
          <a:xfrm>
            <a:off x="1242001" y="4861647"/>
            <a:ext cx="73152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7D86038-3CAC-C9DF-BC12-9C1B85E871E7}"/>
              </a:ext>
            </a:extLst>
          </p:cNvPr>
          <p:cNvCxnSpPr>
            <a:cxnSpLocks/>
          </p:cNvCxnSpPr>
          <p:nvPr/>
        </p:nvCxnSpPr>
        <p:spPr>
          <a:xfrm>
            <a:off x="1242001" y="5158691"/>
            <a:ext cx="7315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3C90A47-6695-1E24-50B9-14C36C2C1D6D}"/>
              </a:ext>
            </a:extLst>
          </p:cNvPr>
          <p:cNvCxnSpPr>
            <a:cxnSpLocks/>
          </p:cNvCxnSpPr>
          <p:nvPr/>
        </p:nvCxnSpPr>
        <p:spPr>
          <a:xfrm>
            <a:off x="1242001" y="5477219"/>
            <a:ext cx="7315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216B4590-271B-BED3-4FFD-ECE30711DD02}"/>
                  </a:ext>
                </a:extLst>
              </p:cNvPr>
              <p:cNvSpPr txBox="1">
                <a:spLocks/>
              </p:cNvSpPr>
              <p:nvPr/>
            </p:nvSpPr>
            <p:spPr>
              <a:xfrm>
                <a:off x="1067026" y="3133148"/>
                <a:ext cx="5387623" cy="507747"/>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a:t>For example: </a:t>
                </a: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r>
                          <a:rPr lang="en-US" sz="2400" i="1">
                            <a:latin typeface="Cambria Math" panose="02040503050406030204" pitchFamily="18" charset="0"/>
                          </a:rPr>
                          <m:t>′</m:t>
                        </m:r>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5</m:t>
                                  </m:r>
                                </m:e>
                              </m:rad>
                            </m:e>
                            <m:e>
                              <m:r>
                                <a:rPr lang="en-US" sz="2400" i="1">
                                  <a:latin typeface="Cambria Math" panose="02040503050406030204" pitchFamily="18" charset="0"/>
                                </a:rPr>
                                <m:t>2</m:t>
                              </m:r>
                              <m:r>
                                <m:rPr>
                                  <m:brk m:alnAt="7"/>
                                </m:rP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5</m:t>
                                  </m:r>
                                </m:e>
                              </m:rad>
                            </m:e>
                          </m:mr>
                        </m:m>
                      </m:e>
                    </m:d>
                  </m:oMath>
                </a14:m>
                <a:endParaRPr lang="vi-VN" sz="2400"/>
              </a:p>
            </p:txBody>
          </p:sp>
        </mc:Choice>
        <mc:Fallback xmlns="">
          <p:sp>
            <p:nvSpPr>
              <p:cNvPr id="22" name="Content Placeholder 2">
                <a:extLst>
                  <a:ext uri="{FF2B5EF4-FFF2-40B4-BE49-F238E27FC236}">
                    <a16:creationId xmlns:a16="http://schemas.microsoft.com/office/drawing/2014/main" id="{216B4590-271B-BED3-4FFD-ECE30711DD02}"/>
                  </a:ext>
                </a:extLst>
              </p:cNvPr>
              <p:cNvSpPr txBox="1">
                <a:spLocks noRot="1" noChangeAspect="1" noMove="1" noResize="1" noEditPoints="1" noAdjustHandles="1" noChangeArrowheads="1" noChangeShapeType="1" noTextEdit="1"/>
              </p:cNvSpPr>
              <p:nvPr/>
            </p:nvSpPr>
            <p:spPr>
              <a:xfrm>
                <a:off x="1067026" y="3133148"/>
                <a:ext cx="5387623" cy="507747"/>
              </a:xfrm>
              <a:prstGeom prst="rect">
                <a:avLst/>
              </a:prstGeom>
              <a:blipFill>
                <a:blip r:embed="rId7"/>
                <a:stretch>
                  <a:fillRect l="-1412" t="-7317" b="-1951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A6B85C2-77B6-DF62-FE7B-FEB4ECC83178}"/>
                  </a:ext>
                </a:extLst>
              </p:cNvPr>
              <p:cNvSpPr txBox="1"/>
              <p:nvPr/>
            </p:nvSpPr>
            <p:spPr>
              <a:xfrm>
                <a:off x="1067025" y="3663734"/>
                <a:ext cx="3048000" cy="83099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0.447</m:t>
                          </m:r>
                        </m:e>
                        <m:sub>
                          <m:r>
                            <a:rPr lang="en-US" sz="2400" i="1">
                              <a:latin typeface="Cambria Math" panose="02040503050406030204" pitchFamily="18" charset="0"/>
                            </a:rPr>
                            <m:t>10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0.0111</m:t>
                          </m:r>
                        </m:e>
                        <m:sub>
                          <m:r>
                            <a:rPr lang="en-US" sz="2400" i="1">
                              <a:latin typeface="Cambria Math" panose="02040503050406030204" pitchFamily="18" charset="0"/>
                            </a:rPr>
                            <m:t>2</m:t>
                          </m:r>
                        </m:sub>
                      </m:sSub>
                    </m:oMath>
                  </m:oMathPara>
                </a14:m>
                <a:endParaRPr lang="en-US" sz="240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vi-VN" sz="2400" i="1">
                              <a:latin typeface="Cambria Math" panose="02040503050406030204" pitchFamily="18" charset="0"/>
                            </a:rPr>
                            <m:t>0.8944</m:t>
                          </m:r>
                        </m:e>
                        <m:sub>
                          <m:r>
                            <a:rPr lang="en-US" sz="2400" i="1">
                              <a:latin typeface="Cambria Math" panose="02040503050406030204" pitchFamily="18" charset="0"/>
                            </a:rPr>
                            <m:t>10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0.1110</m:t>
                          </m:r>
                        </m:e>
                        <m:sub>
                          <m:r>
                            <a:rPr lang="en-US" sz="2400" i="1">
                              <a:latin typeface="Cambria Math" panose="02040503050406030204" pitchFamily="18" charset="0"/>
                            </a:rPr>
                            <m:t>2</m:t>
                          </m:r>
                        </m:sub>
                      </m:sSub>
                    </m:oMath>
                  </m:oMathPara>
                </a14:m>
                <a:endParaRPr lang="vi-VN" sz="2400"/>
              </a:p>
            </p:txBody>
          </p:sp>
        </mc:Choice>
        <mc:Fallback xmlns="">
          <p:sp>
            <p:nvSpPr>
              <p:cNvPr id="23" name="TextBox 22">
                <a:extLst>
                  <a:ext uri="{FF2B5EF4-FFF2-40B4-BE49-F238E27FC236}">
                    <a16:creationId xmlns:a16="http://schemas.microsoft.com/office/drawing/2014/main" id="{0A6B85C2-77B6-DF62-FE7B-FEB4ECC83178}"/>
                  </a:ext>
                </a:extLst>
              </p:cNvPr>
              <p:cNvSpPr txBox="1">
                <a:spLocks noRot="1" noChangeAspect="1" noMove="1" noResize="1" noEditPoints="1" noAdjustHandles="1" noChangeArrowheads="1" noChangeShapeType="1" noTextEdit="1"/>
              </p:cNvSpPr>
              <p:nvPr/>
            </p:nvSpPr>
            <p:spPr>
              <a:xfrm>
                <a:off x="1067025" y="3663734"/>
                <a:ext cx="3048000" cy="830997"/>
              </a:xfrm>
              <a:prstGeom prst="rect">
                <a:avLst/>
              </a:prstGeom>
              <a:blipFill>
                <a:blip r:embed="rId8"/>
                <a:stretch>
                  <a:fillRect l="-417" b="-1515"/>
                </a:stretch>
              </a:blipFill>
            </p:spPr>
            <p:txBody>
              <a:bodyPr/>
              <a:lstStyle/>
              <a:p>
                <a:r>
                  <a:rPr lang="en-VN">
                    <a:noFill/>
                  </a:rPr>
                  <a:t> </a:t>
                </a:r>
              </a:p>
            </p:txBody>
          </p:sp>
        </mc:Fallback>
      </mc:AlternateContent>
      <p:cxnSp>
        <p:nvCxnSpPr>
          <p:cNvPr id="26" name="Straight Connector 25">
            <a:extLst>
              <a:ext uri="{FF2B5EF4-FFF2-40B4-BE49-F238E27FC236}">
                <a16:creationId xmlns:a16="http://schemas.microsoft.com/office/drawing/2014/main" id="{22BA2717-8314-7A49-B4B5-D559D206141C}"/>
              </a:ext>
            </a:extLst>
          </p:cNvPr>
          <p:cNvCxnSpPr>
            <a:cxnSpLocks/>
          </p:cNvCxnSpPr>
          <p:nvPr/>
        </p:nvCxnSpPr>
        <p:spPr>
          <a:xfrm>
            <a:off x="1242001" y="4714889"/>
            <a:ext cx="73152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C702D83-C040-641A-5961-59455ADC111C}"/>
              </a:ext>
            </a:extLst>
          </p:cNvPr>
          <p:cNvCxnSpPr>
            <a:cxnSpLocks/>
          </p:cNvCxnSpPr>
          <p:nvPr/>
        </p:nvCxnSpPr>
        <p:spPr>
          <a:xfrm>
            <a:off x="1242001" y="5014044"/>
            <a:ext cx="73152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E284D74-39B1-82CA-A56B-B8B46BAFD783}"/>
              </a:ext>
            </a:extLst>
          </p:cNvPr>
          <p:cNvCxnSpPr>
            <a:cxnSpLocks/>
          </p:cNvCxnSpPr>
          <p:nvPr/>
        </p:nvCxnSpPr>
        <p:spPr>
          <a:xfrm>
            <a:off x="1242001" y="5311088"/>
            <a:ext cx="7315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208892C-4FFA-465F-488C-FB2B894F0580}"/>
              </a:ext>
            </a:extLst>
          </p:cNvPr>
          <p:cNvCxnSpPr>
            <a:cxnSpLocks/>
          </p:cNvCxnSpPr>
          <p:nvPr/>
        </p:nvCxnSpPr>
        <p:spPr>
          <a:xfrm>
            <a:off x="1242001" y="5629616"/>
            <a:ext cx="7315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63772B3E-A71D-3B16-284D-9FD0ADB71D7E}"/>
                  </a:ext>
                </a:extLst>
              </p:cNvPr>
              <p:cNvSpPr/>
              <p:nvPr/>
            </p:nvSpPr>
            <p:spPr>
              <a:xfrm>
                <a:off x="1548706" y="4641921"/>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0" name="Rectangle 29">
                <a:extLst>
                  <a:ext uri="{FF2B5EF4-FFF2-40B4-BE49-F238E27FC236}">
                    <a16:creationId xmlns:a16="http://schemas.microsoft.com/office/drawing/2014/main" id="{63772B3E-A71D-3B16-284D-9FD0ADB71D7E}"/>
                  </a:ext>
                </a:extLst>
              </p:cNvPr>
              <p:cNvSpPr>
                <a:spLocks noRot="1" noChangeAspect="1" noMove="1" noResize="1" noEditPoints="1" noAdjustHandles="1" noChangeArrowheads="1" noChangeShapeType="1" noTextEdit="1"/>
              </p:cNvSpPr>
              <p:nvPr/>
            </p:nvSpPr>
            <p:spPr>
              <a:xfrm>
                <a:off x="1548706" y="4641921"/>
                <a:ext cx="234637" cy="121996"/>
              </a:xfrm>
              <a:prstGeom prst="rect">
                <a:avLst/>
              </a:prstGeom>
              <a:blipFill>
                <a:blip r:embed="rId9"/>
                <a:stretch>
                  <a:fillRect t="-16667" b="-41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604726F6-D2CF-9B34-80EB-D9E2D9F39266}"/>
                  </a:ext>
                </a:extLst>
              </p:cNvPr>
              <p:cNvSpPr/>
              <p:nvPr/>
            </p:nvSpPr>
            <p:spPr>
              <a:xfrm>
                <a:off x="1548706" y="4798538"/>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3" name="Rectangle 32">
                <a:extLst>
                  <a:ext uri="{FF2B5EF4-FFF2-40B4-BE49-F238E27FC236}">
                    <a16:creationId xmlns:a16="http://schemas.microsoft.com/office/drawing/2014/main" id="{604726F6-D2CF-9B34-80EB-D9E2D9F39266}"/>
                  </a:ext>
                </a:extLst>
              </p:cNvPr>
              <p:cNvSpPr>
                <a:spLocks noRot="1" noChangeAspect="1" noMove="1" noResize="1" noEditPoints="1" noAdjustHandles="1" noChangeArrowheads="1" noChangeShapeType="1" noTextEdit="1"/>
              </p:cNvSpPr>
              <p:nvPr/>
            </p:nvSpPr>
            <p:spPr>
              <a:xfrm>
                <a:off x="1548706" y="4798538"/>
                <a:ext cx="234637" cy="121996"/>
              </a:xfrm>
              <a:prstGeom prst="rect">
                <a:avLst/>
              </a:prstGeom>
              <a:blipFill>
                <a:blip r:embed="rId10"/>
                <a:stretch>
                  <a:fillRect t="-27273" b="-54545"/>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253E16C9-A7E7-827F-6F3D-2FA24CA995EB}"/>
                  </a:ext>
                </a:extLst>
              </p:cNvPr>
              <p:cNvSpPr/>
              <p:nvPr/>
            </p:nvSpPr>
            <p:spPr>
              <a:xfrm>
                <a:off x="1548706" y="4947686"/>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4" name="Rectangle 33">
                <a:extLst>
                  <a:ext uri="{FF2B5EF4-FFF2-40B4-BE49-F238E27FC236}">
                    <a16:creationId xmlns:a16="http://schemas.microsoft.com/office/drawing/2014/main" id="{253E16C9-A7E7-827F-6F3D-2FA24CA995EB}"/>
                  </a:ext>
                </a:extLst>
              </p:cNvPr>
              <p:cNvSpPr>
                <a:spLocks noRot="1" noChangeAspect="1" noMove="1" noResize="1" noEditPoints="1" noAdjustHandles="1" noChangeArrowheads="1" noChangeShapeType="1" noTextEdit="1"/>
              </p:cNvSpPr>
              <p:nvPr/>
            </p:nvSpPr>
            <p:spPr>
              <a:xfrm>
                <a:off x="1548706" y="4947686"/>
                <a:ext cx="234637" cy="121996"/>
              </a:xfrm>
              <a:prstGeom prst="rect">
                <a:avLst/>
              </a:prstGeom>
              <a:blipFill>
                <a:blip r:embed="rId11"/>
                <a:stretch>
                  <a:fillRect t="-27273" b="-45455"/>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F5E7A378-3642-CB73-885C-EC2DC31194B0}"/>
                  </a:ext>
                </a:extLst>
              </p:cNvPr>
              <p:cNvSpPr/>
              <p:nvPr/>
            </p:nvSpPr>
            <p:spPr>
              <a:xfrm>
                <a:off x="1548706" y="5094275"/>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5" name="Rectangle 34">
                <a:extLst>
                  <a:ext uri="{FF2B5EF4-FFF2-40B4-BE49-F238E27FC236}">
                    <a16:creationId xmlns:a16="http://schemas.microsoft.com/office/drawing/2014/main" id="{F5E7A378-3642-CB73-885C-EC2DC31194B0}"/>
                  </a:ext>
                </a:extLst>
              </p:cNvPr>
              <p:cNvSpPr>
                <a:spLocks noRot="1" noChangeAspect="1" noMove="1" noResize="1" noEditPoints="1" noAdjustHandles="1" noChangeArrowheads="1" noChangeShapeType="1" noTextEdit="1"/>
              </p:cNvSpPr>
              <p:nvPr/>
            </p:nvSpPr>
            <p:spPr>
              <a:xfrm>
                <a:off x="1548706" y="5094275"/>
                <a:ext cx="234637" cy="121996"/>
              </a:xfrm>
              <a:prstGeom prst="rect">
                <a:avLst/>
              </a:prstGeom>
              <a:blipFill>
                <a:blip r:embed="rId12"/>
                <a:stretch>
                  <a:fillRect t="-16667" b="-41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75F315F3-6172-F103-989D-8B1D3DBB9E2F}"/>
                  </a:ext>
                </a:extLst>
              </p:cNvPr>
              <p:cNvSpPr/>
              <p:nvPr/>
            </p:nvSpPr>
            <p:spPr>
              <a:xfrm>
                <a:off x="1548706" y="5250893"/>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6" name="Rectangle 35">
                <a:extLst>
                  <a:ext uri="{FF2B5EF4-FFF2-40B4-BE49-F238E27FC236}">
                    <a16:creationId xmlns:a16="http://schemas.microsoft.com/office/drawing/2014/main" id="{75F315F3-6172-F103-989D-8B1D3DBB9E2F}"/>
                  </a:ext>
                </a:extLst>
              </p:cNvPr>
              <p:cNvSpPr>
                <a:spLocks noRot="1" noChangeAspect="1" noMove="1" noResize="1" noEditPoints="1" noAdjustHandles="1" noChangeArrowheads="1" noChangeShapeType="1" noTextEdit="1"/>
              </p:cNvSpPr>
              <p:nvPr/>
            </p:nvSpPr>
            <p:spPr>
              <a:xfrm>
                <a:off x="1548706" y="5250893"/>
                <a:ext cx="234637" cy="121996"/>
              </a:xfrm>
              <a:prstGeom prst="rect">
                <a:avLst/>
              </a:prstGeom>
              <a:blipFill>
                <a:blip r:embed="rId9"/>
                <a:stretch>
                  <a:fillRect t="-16667" b="-41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498E84FB-8C46-6717-2A51-C10986B6E4D6}"/>
                  </a:ext>
                </a:extLst>
              </p:cNvPr>
              <p:cNvSpPr/>
              <p:nvPr/>
            </p:nvSpPr>
            <p:spPr>
              <a:xfrm>
                <a:off x="1548706" y="5400041"/>
                <a:ext cx="234637" cy="121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800" i="1">
                          <a:solidFill>
                            <a:schemeClr val="tx1"/>
                          </a:solidFill>
                          <a:latin typeface="Cambria Math" panose="02040503050406030204" pitchFamily="18" charset="0"/>
                        </a:rPr>
                        <m:t> </m:t>
                      </m:r>
                      <m:r>
                        <a:rPr lang="en-US" sz="800" i="1">
                          <a:solidFill>
                            <a:schemeClr val="tx1"/>
                          </a:solidFill>
                          <a:latin typeface="Cambria Math" panose="02040503050406030204" pitchFamily="18" charset="0"/>
                        </a:rPr>
                        <m:t>𝑋</m:t>
                      </m:r>
                    </m:oMath>
                  </m:oMathPara>
                </a14:m>
                <a:endParaRPr lang="ar-AE" sz="800">
                  <a:solidFill>
                    <a:schemeClr val="tx1"/>
                  </a:solidFill>
                </a:endParaRPr>
              </a:p>
            </p:txBody>
          </p:sp>
        </mc:Choice>
        <mc:Fallback xmlns="">
          <p:sp>
            <p:nvSpPr>
              <p:cNvPr id="37" name="Rectangle 36">
                <a:extLst>
                  <a:ext uri="{FF2B5EF4-FFF2-40B4-BE49-F238E27FC236}">
                    <a16:creationId xmlns:a16="http://schemas.microsoft.com/office/drawing/2014/main" id="{498E84FB-8C46-6717-2A51-C10986B6E4D6}"/>
                  </a:ext>
                </a:extLst>
              </p:cNvPr>
              <p:cNvSpPr>
                <a:spLocks noRot="1" noChangeAspect="1" noMove="1" noResize="1" noEditPoints="1" noAdjustHandles="1" noChangeArrowheads="1" noChangeShapeType="1" noTextEdit="1"/>
              </p:cNvSpPr>
              <p:nvPr/>
            </p:nvSpPr>
            <p:spPr>
              <a:xfrm>
                <a:off x="1548706" y="5400041"/>
                <a:ext cx="234637" cy="121996"/>
              </a:xfrm>
              <a:prstGeom prst="rect">
                <a:avLst/>
              </a:prstGeom>
              <a:blipFill>
                <a:blip r:embed="rId12"/>
                <a:stretch>
                  <a:fillRect t="-16667" b="-41667"/>
                </a:stretch>
              </a:blipFill>
              <a:ln>
                <a:solidFill>
                  <a:schemeClr val="tx1"/>
                </a:solidFill>
              </a:ln>
            </p:spPr>
            <p:txBody>
              <a:bodyPr/>
              <a:lstStyle/>
              <a:p>
                <a:r>
                  <a:rPr lang="en-VN">
                    <a:noFill/>
                  </a:rPr>
                  <a:t> </a:t>
                </a:r>
              </a:p>
            </p:txBody>
          </p:sp>
        </mc:Fallback>
      </mc:AlternateContent>
      <p:sp>
        <p:nvSpPr>
          <p:cNvPr id="38" name="Left Brace 37">
            <a:extLst>
              <a:ext uri="{FF2B5EF4-FFF2-40B4-BE49-F238E27FC236}">
                <a16:creationId xmlns:a16="http://schemas.microsoft.com/office/drawing/2014/main" id="{67B8BF12-8E65-61AD-B3C9-79F6F85B6EDC}"/>
              </a:ext>
            </a:extLst>
          </p:cNvPr>
          <p:cNvSpPr/>
          <p:nvPr/>
        </p:nvSpPr>
        <p:spPr>
          <a:xfrm rot="10800000">
            <a:off x="2024781" y="4544699"/>
            <a:ext cx="255444" cy="492439"/>
          </a:xfrm>
          <a:prstGeom prst="leftBrace">
            <a:avLst>
              <a:gd name="adj1" fmla="val 18364"/>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0AFC929-D8FE-3790-139C-3864496962B7}"/>
                  </a:ext>
                </a:extLst>
              </p:cNvPr>
              <p:cNvSpPr txBox="1"/>
              <p:nvPr/>
            </p:nvSpPr>
            <p:spPr>
              <a:xfrm>
                <a:off x="2162412" y="4498974"/>
                <a:ext cx="1024467" cy="512704"/>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1/</m:t>
                      </m:r>
                      <m:rad>
                        <m:radPr>
                          <m:degHide m:val="on"/>
                          <m:ctrlPr>
                            <a:rPr lang="en-US" sz="2400" i="1">
                              <a:solidFill>
                                <a:srgbClr val="FF0000"/>
                              </a:solidFill>
                              <a:latin typeface="Cambria Math" panose="02040503050406030204" pitchFamily="18" charset="0"/>
                            </a:rPr>
                          </m:ctrlPr>
                        </m:radPr>
                        <m:deg/>
                        <m:e>
                          <m:r>
                            <a:rPr lang="en-US" sz="2400" i="1">
                              <a:solidFill>
                                <a:srgbClr val="FF0000"/>
                              </a:solidFill>
                              <a:latin typeface="Cambria Math" panose="02040503050406030204" pitchFamily="18" charset="0"/>
                            </a:rPr>
                            <m:t>5</m:t>
                          </m:r>
                        </m:e>
                      </m:rad>
                    </m:oMath>
                  </m:oMathPara>
                </a14:m>
                <a:endParaRPr lang="vi-VN" sz="2400">
                  <a:solidFill>
                    <a:srgbClr val="FF0000"/>
                  </a:solidFill>
                </a:endParaRPr>
              </a:p>
            </p:txBody>
          </p:sp>
        </mc:Choice>
        <mc:Fallback xmlns="">
          <p:sp>
            <p:nvSpPr>
              <p:cNvPr id="40" name="TextBox 39">
                <a:extLst>
                  <a:ext uri="{FF2B5EF4-FFF2-40B4-BE49-F238E27FC236}">
                    <a16:creationId xmlns:a16="http://schemas.microsoft.com/office/drawing/2014/main" id="{60AFC929-D8FE-3790-139C-3864496962B7}"/>
                  </a:ext>
                </a:extLst>
              </p:cNvPr>
              <p:cNvSpPr txBox="1">
                <a:spLocks noRot="1" noChangeAspect="1" noMove="1" noResize="1" noEditPoints="1" noAdjustHandles="1" noChangeArrowheads="1" noChangeShapeType="1" noTextEdit="1"/>
              </p:cNvSpPr>
              <p:nvPr/>
            </p:nvSpPr>
            <p:spPr>
              <a:xfrm>
                <a:off x="2162412" y="4498974"/>
                <a:ext cx="1024467" cy="512704"/>
              </a:xfrm>
              <a:prstGeom prst="rect">
                <a:avLst/>
              </a:prstGeom>
              <a:blipFill>
                <a:blip r:embed="rId13"/>
                <a:stretch>
                  <a:fillRect b="-17073"/>
                </a:stretch>
              </a:blipFill>
              <a:ln>
                <a:noFill/>
              </a:ln>
            </p:spPr>
            <p:txBody>
              <a:bodyPr/>
              <a:lstStyle/>
              <a:p>
                <a:r>
                  <a:rPr lang="en-VN">
                    <a:noFill/>
                  </a:rPr>
                  <a:t> </a:t>
                </a:r>
              </a:p>
            </p:txBody>
          </p:sp>
        </mc:Fallback>
      </mc:AlternateContent>
      <p:sp>
        <p:nvSpPr>
          <p:cNvPr id="41" name="Left Brace 40">
            <a:extLst>
              <a:ext uri="{FF2B5EF4-FFF2-40B4-BE49-F238E27FC236}">
                <a16:creationId xmlns:a16="http://schemas.microsoft.com/office/drawing/2014/main" id="{C4A13A9D-87F5-505E-66DA-FF1A347B9E28}"/>
              </a:ext>
            </a:extLst>
          </p:cNvPr>
          <p:cNvSpPr/>
          <p:nvPr/>
        </p:nvSpPr>
        <p:spPr>
          <a:xfrm rot="10800000">
            <a:off x="2044537" y="5155665"/>
            <a:ext cx="255444" cy="492439"/>
          </a:xfrm>
          <a:prstGeom prst="leftBrace">
            <a:avLst>
              <a:gd name="adj1" fmla="val 18364"/>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6A8350A-9AD9-7233-2C6D-CADA74120F9C}"/>
                  </a:ext>
                </a:extLst>
              </p:cNvPr>
              <p:cNvSpPr txBox="1"/>
              <p:nvPr/>
            </p:nvSpPr>
            <p:spPr>
              <a:xfrm>
                <a:off x="2182168" y="5109939"/>
                <a:ext cx="1024467" cy="5127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2/</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5</m:t>
                          </m:r>
                        </m:e>
                      </m:rad>
                    </m:oMath>
                  </m:oMathPara>
                </a14:m>
                <a:endParaRPr lang="vi-VN" sz="2400"/>
              </a:p>
            </p:txBody>
          </p:sp>
        </mc:Choice>
        <mc:Fallback xmlns="">
          <p:sp>
            <p:nvSpPr>
              <p:cNvPr id="42" name="TextBox 41">
                <a:extLst>
                  <a:ext uri="{FF2B5EF4-FFF2-40B4-BE49-F238E27FC236}">
                    <a16:creationId xmlns:a16="http://schemas.microsoft.com/office/drawing/2014/main" id="{76A8350A-9AD9-7233-2C6D-CADA74120F9C}"/>
                  </a:ext>
                </a:extLst>
              </p:cNvPr>
              <p:cNvSpPr txBox="1">
                <a:spLocks noRot="1" noChangeAspect="1" noMove="1" noResize="1" noEditPoints="1" noAdjustHandles="1" noChangeArrowheads="1" noChangeShapeType="1" noTextEdit="1"/>
              </p:cNvSpPr>
              <p:nvPr/>
            </p:nvSpPr>
            <p:spPr>
              <a:xfrm>
                <a:off x="2182168" y="5109939"/>
                <a:ext cx="1024467" cy="512704"/>
              </a:xfrm>
              <a:prstGeom prst="rect">
                <a:avLst/>
              </a:prstGeom>
              <a:blipFill>
                <a:blip r:embed="rId14"/>
                <a:stretch>
                  <a:fillRect b="-17073"/>
                </a:stretch>
              </a:blipFill>
            </p:spPr>
            <p:txBody>
              <a:bodyPr/>
              <a:lstStyle/>
              <a:p>
                <a:r>
                  <a:rPr lang="en-VN">
                    <a:noFill/>
                  </a:rPr>
                  <a:t> </a:t>
                </a:r>
              </a:p>
            </p:txBody>
          </p:sp>
        </mc:Fallback>
      </mc:AlternateContent>
      <p:cxnSp>
        <p:nvCxnSpPr>
          <p:cNvPr id="43" name="Straight Arrow Connector 42">
            <a:extLst>
              <a:ext uri="{FF2B5EF4-FFF2-40B4-BE49-F238E27FC236}">
                <a16:creationId xmlns:a16="http://schemas.microsoft.com/office/drawing/2014/main" id="{9DED8119-3EE8-5E3D-B88D-2A8D0E00B76B}"/>
              </a:ext>
            </a:extLst>
          </p:cNvPr>
          <p:cNvCxnSpPr>
            <a:cxnSpLocks/>
          </p:cNvCxnSpPr>
          <p:nvPr/>
        </p:nvCxnSpPr>
        <p:spPr>
          <a:xfrm>
            <a:off x="2997198" y="5082987"/>
            <a:ext cx="6553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5" name="Content Placeholder 2">
                <a:extLst>
                  <a:ext uri="{FF2B5EF4-FFF2-40B4-BE49-F238E27FC236}">
                    <a16:creationId xmlns:a16="http://schemas.microsoft.com/office/drawing/2014/main" id="{444E6799-F292-28D7-CAA8-E7F1914CB490}"/>
                  </a:ext>
                </a:extLst>
              </p:cNvPr>
              <p:cNvSpPr txBox="1">
                <a:spLocks/>
              </p:cNvSpPr>
              <p:nvPr/>
            </p:nvSpPr>
            <p:spPr>
              <a:xfrm>
                <a:off x="3622395" y="4901399"/>
                <a:ext cx="1622779" cy="507747"/>
              </a:xfrm>
              <a:prstGeom prst="rect">
                <a:avLst/>
              </a:prstGeom>
            </p:spPr>
            <p:txBody>
              <a:bodyPr vert="horz" lIns="121920" tIns="60960" rIns="121920" bIns="60960" rtlCol="0">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𝑀</m:t>
                        </m:r>
                        <m:r>
                          <a:rPr lang="en-US" sz="2400" i="1">
                            <a:latin typeface="Cambria Math" panose="02040503050406030204" pitchFamily="18" charset="0"/>
                          </a:rPr>
                          <m:t>2</m:t>
                        </m:r>
                      </m:e>
                      <m:sup>
                        <m:r>
                          <a:rPr lang="en-US" sz="2400" i="1">
                            <a:latin typeface="Cambria Math" panose="02040503050406030204" pitchFamily="18" charset="0"/>
                          </a:rPr>
                          <m:t>𝑛</m:t>
                        </m:r>
                      </m:sup>
                    </m:sSup>
                    <m:r>
                      <a:rPr lang="en-US" sz="2400" i="1">
                        <a:latin typeface="Cambria Math" panose="02040503050406030204" pitchFamily="18" charset="0"/>
                      </a:rPr>
                      <m:t> </m:t>
                    </m:r>
                  </m:oMath>
                </a14:m>
                <a:r>
                  <a:rPr lang="en-US" sz="2400"/>
                  <a:t>qubits</a:t>
                </a:r>
                <a:endParaRPr lang="vi-VN" sz="2400"/>
              </a:p>
            </p:txBody>
          </p:sp>
        </mc:Choice>
        <mc:Fallback xmlns="">
          <p:sp>
            <p:nvSpPr>
              <p:cNvPr id="45" name="Content Placeholder 2">
                <a:extLst>
                  <a:ext uri="{FF2B5EF4-FFF2-40B4-BE49-F238E27FC236}">
                    <a16:creationId xmlns:a16="http://schemas.microsoft.com/office/drawing/2014/main" id="{444E6799-F292-28D7-CAA8-E7F1914CB490}"/>
                  </a:ext>
                </a:extLst>
              </p:cNvPr>
              <p:cNvSpPr txBox="1">
                <a:spLocks noRot="1" noChangeAspect="1" noMove="1" noResize="1" noEditPoints="1" noAdjustHandles="1" noChangeArrowheads="1" noChangeShapeType="1" noTextEdit="1"/>
              </p:cNvSpPr>
              <p:nvPr/>
            </p:nvSpPr>
            <p:spPr>
              <a:xfrm>
                <a:off x="3622395" y="4901399"/>
                <a:ext cx="1622779" cy="507747"/>
              </a:xfrm>
              <a:prstGeom prst="rect">
                <a:avLst/>
              </a:prstGeom>
              <a:blipFill>
                <a:blip r:embed="rId15"/>
                <a:stretch>
                  <a:fillRect t="-9756" b="-731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D90B47C-20EC-4730-5D8E-F484568E6EA0}"/>
                  </a:ext>
                </a:extLst>
              </p:cNvPr>
              <p:cNvSpPr txBox="1"/>
              <p:nvPr/>
            </p:nvSpPr>
            <p:spPr>
              <a:xfrm>
                <a:off x="1031727" y="4461168"/>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49" name="TextBox 48">
                <a:extLst>
                  <a:ext uri="{FF2B5EF4-FFF2-40B4-BE49-F238E27FC236}">
                    <a16:creationId xmlns:a16="http://schemas.microsoft.com/office/drawing/2014/main" id="{0D90B47C-20EC-4730-5D8E-F484568E6EA0}"/>
                  </a:ext>
                </a:extLst>
              </p:cNvPr>
              <p:cNvSpPr txBox="1">
                <a:spLocks noRot="1" noChangeAspect="1" noMove="1" noResize="1" noEditPoints="1" noAdjustHandles="1" noChangeArrowheads="1" noChangeShapeType="1" noTextEdit="1"/>
              </p:cNvSpPr>
              <p:nvPr/>
            </p:nvSpPr>
            <p:spPr>
              <a:xfrm>
                <a:off x="1031727" y="4461168"/>
                <a:ext cx="206788" cy="164212"/>
              </a:xfrm>
              <a:prstGeom prst="rect">
                <a:avLst/>
              </a:prstGeom>
              <a:blipFill>
                <a:blip r:embed="rId16"/>
                <a:stretch>
                  <a:fillRect l="-17647" r="-17647"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E1DA43A-8991-A1F6-62E4-A9F82CFC603D}"/>
                  </a:ext>
                </a:extLst>
              </p:cNvPr>
              <p:cNvSpPr txBox="1"/>
              <p:nvPr/>
            </p:nvSpPr>
            <p:spPr>
              <a:xfrm>
                <a:off x="1030823" y="4618552"/>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0" name="TextBox 49">
                <a:extLst>
                  <a:ext uri="{FF2B5EF4-FFF2-40B4-BE49-F238E27FC236}">
                    <a16:creationId xmlns:a16="http://schemas.microsoft.com/office/drawing/2014/main" id="{3E1DA43A-8991-A1F6-62E4-A9F82CFC603D}"/>
                  </a:ext>
                </a:extLst>
              </p:cNvPr>
              <p:cNvSpPr txBox="1">
                <a:spLocks noRot="1" noChangeAspect="1" noMove="1" noResize="1" noEditPoints="1" noAdjustHandles="1" noChangeArrowheads="1" noChangeShapeType="1" noTextEdit="1"/>
              </p:cNvSpPr>
              <p:nvPr/>
            </p:nvSpPr>
            <p:spPr>
              <a:xfrm>
                <a:off x="1030823" y="4618552"/>
                <a:ext cx="206788" cy="164212"/>
              </a:xfrm>
              <a:prstGeom prst="rect">
                <a:avLst/>
              </a:prstGeom>
              <a:blipFill>
                <a:blip r:embed="rId17"/>
                <a:stretch>
                  <a:fillRect l="-23529" r="-17647"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76AA4A1-9638-4567-C463-90290F4F9EC2}"/>
                  </a:ext>
                </a:extLst>
              </p:cNvPr>
              <p:cNvSpPr txBox="1"/>
              <p:nvPr/>
            </p:nvSpPr>
            <p:spPr>
              <a:xfrm>
                <a:off x="1030823" y="4765284"/>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1" name="TextBox 50">
                <a:extLst>
                  <a:ext uri="{FF2B5EF4-FFF2-40B4-BE49-F238E27FC236}">
                    <a16:creationId xmlns:a16="http://schemas.microsoft.com/office/drawing/2014/main" id="{076AA4A1-9638-4567-C463-90290F4F9EC2}"/>
                  </a:ext>
                </a:extLst>
              </p:cNvPr>
              <p:cNvSpPr txBox="1">
                <a:spLocks noRot="1" noChangeAspect="1" noMove="1" noResize="1" noEditPoints="1" noAdjustHandles="1" noChangeArrowheads="1" noChangeShapeType="1" noTextEdit="1"/>
              </p:cNvSpPr>
              <p:nvPr/>
            </p:nvSpPr>
            <p:spPr>
              <a:xfrm>
                <a:off x="1030823" y="4765284"/>
                <a:ext cx="206788" cy="164212"/>
              </a:xfrm>
              <a:prstGeom prst="rect">
                <a:avLst/>
              </a:prstGeom>
              <a:blipFill>
                <a:blip r:embed="rId18"/>
                <a:stretch>
                  <a:fillRect l="-23529" r="-17647"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E7E3BFF1-DEF6-C927-D659-E8688878B865}"/>
                  </a:ext>
                </a:extLst>
              </p:cNvPr>
              <p:cNvSpPr txBox="1"/>
              <p:nvPr/>
            </p:nvSpPr>
            <p:spPr>
              <a:xfrm>
                <a:off x="1029919" y="4922668"/>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2" name="TextBox 51">
                <a:extLst>
                  <a:ext uri="{FF2B5EF4-FFF2-40B4-BE49-F238E27FC236}">
                    <a16:creationId xmlns:a16="http://schemas.microsoft.com/office/drawing/2014/main" id="{E7E3BFF1-DEF6-C927-D659-E8688878B865}"/>
                  </a:ext>
                </a:extLst>
              </p:cNvPr>
              <p:cNvSpPr txBox="1">
                <a:spLocks noRot="1" noChangeAspect="1" noMove="1" noResize="1" noEditPoints="1" noAdjustHandles="1" noChangeArrowheads="1" noChangeShapeType="1" noTextEdit="1"/>
              </p:cNvSpPr>
              <p:nvPr/>
            </p:nvSpPr>
            <p:spPr>
              <a:xfrm>
                <a:off x="1029919" y="4922668"/>
                <a:ext cx="206788" cy="164212"/>
              </a:xfrm>
              <a:prstGeom prst="rect">
                <a:avLst/>
              </a:prstGeom>
              <a:blipFill>
                <a:blip r:embed="rId17"/>
                <a:stretch>
                  <a:fillRect l="-23529" r="-17647"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1C5509A-A9D1-37A1-E210-0BE5B9DBE972}"/>
                  </a:ext>
                </a:extLst>
              </p:cNvPr>
              <p:cNvSpPr txBox="1"/>
              <p:nvPr/>
            </p:nvSpPr>
            <p:spPr>
              <a:xfrm>
                <a:off x="1027127" y="5060536"/>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3" name="TextBox 52">
                <a:extLst>
                  <a:ext uri="{FF2B5EF4-FFF2-40B4-BE49-F238E27FC236}">
                    <a16:creationId xmlns:a16="http://schemas.microsoft.com/office/drawing/2014/main" id="{91C5509A-A9D1-37A1-E210-0BE5B9DBE972}"/>
                  </a:ext>
                </a:extLst>
              </p:cNvPr>
              <p:cNvSpPr txBox="1">
                <a:spLocks noRot="1" noChangeAspect="1" noMove="1" noResize="1" noEditPoints="1" noAdjustHandles="1" noChangeArrowheads="1" noChangeShapeType="1" noTextEdit="1"/>
              </p:cNvSpPr>
              <p:nvPr/>
            </p:nvSpPr>
            <p:spPr>
              <a:xfrm>
                <a:off x="1027127" y="5060536"/>
                <a:ext cx="206788" cy="164212"/>
              </a:xfrm>
              <a:prstGeom prst="rect">
                <a:avLst/>
              </a:prstGeom>
              <a:blipFill>
                <a:blip r:embed="rId19"/>
                <a:stretch>
                  <a:fillRect l="-17647" r="-23529"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B1C0C340-4381-EE46-91EB-8C18FEAF500D}"/>
                  </a:ext>
                </a:extLst>
              </p:cNvPr>
              <p:cNvSpPr txBox="1"/>
              <p:nvPr/>
            </p:nvSpPr>
            <p:spPr>
              <a:xfrm>
                <a:off x="1026223" y="5217920"/>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4" name="TextBox 53">
                <a:extLst>
                  <a:ext uri="{FF2B5EF4-FFF2-40B4-BE49-F238E27FC236}">
                    <a16:creationId xmlns:a16="http://schemas.microsoft.com/office/drawing/2014/main" id="{B1C0C340-4381-EE46-91EB-8C18FEAF500D}"/>
                  </a:ext>
                </a:extLst>
              </p:cNvPr>
              <p:cNvSpPr txBox="1">
                <a:spLocks noRot="1" noChangeAspect="1" noMove="1" noResize="1" noEditPoints="1" noAdjustHandles="1" noChangeArrowheads="1" noChangeShapeType="1" noTextEdit="1"/>
              </p:cNvSpPr>
              <p:nvPr/>
            </p:nvSpPr>
            <p:spPr>
              <a:xfrm>
                <a:off x="1026223" y="5217920"/>
                <a:ext cx="206788" cy="164212"/>
              </a:xfrm>
              <a:prstGeom prst="rect">
                <a:avLst/>
              </a:prstGeom>
              <a:blipFill>
                <a:blip r:embed="rId20"/>
                <a:stretch>
                  <a:fillRect l="-17647" r="-23529"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A67FE19-1B70-5B9E-2EC4-576DDA0E3391}"/>
                  </a:ext>
                </a:extLst>
              </p:cNvPr>
              <p:cNvSpPr txBox="1"/>
              <p:nvPr/>
            </p:nvSpPr>
            <p:spPr>
              <a:xfrm>
                <a:off x="1026223" y="5364652"/>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5" name="TextBox 54">
                <a:extLst>
                  <a:ext uri="{FF2B5EF4-FFF2-40B4-BE49-F238E27FC236}">
                    <a16:creationId xmlns:a16="http://schemas.microsoft.com/office/drawing/2014/main" id="{DA67FE19-1B70-5B9E-2EC4-576DDA0E3391}"/>
                  </a:ext>
                </a:extLst>
              </p:cNvPr>
              <p:cNvSpPr txBox="1">
                <a:spLocks noRot="1" noChangeAspect="1" noMove="1" noResize="1" noEditPoints="1" noAdjustHandles="1" noChangeArrowheads="1" noChangeShapeType="1" noTextEdit="1"/>
              </p:cNvSpPr>
              <p:nvPr/>
            </p:nvSpPr>
            <p:spPr>
              <a:xfrm>
                <a:off x="1026223" y="5364652"/>
                <a:ext cx="206788" cy="164212"/>
              </a:xfrm>
              <a:prstGeom prst="rect">
                <a:avLst/>
              </a:prstGeom>
              <a:blipFill>
                <a:blip r:embed="rId21"/>
                <a:stretch>
                  <a:fillRect l="-17647" r="-23529"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2AD879E-2D27-757F-99C5-F5F8414A3E58}"/>
                  </a:ext>
                </a:extLst>
              </p:cNvPr>
              <p:cNvSpPr txBox="1"/>
              <p:nvPr/>
            </p:nvSpPr>
            <p:spPr>
              <a:xfrm>
                <a:off x="1025319" y="5522036"/>
                <a:ext cx="206788" cy="164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67" i="1">
                          <a:latin typeface="Cambria Math" panose="02040503050406030204" pitchFamily="18" charset="0"/>
                        </a:rPr>
                        <m:t>|0⟩</m:t>
                      </m:r>
                    </m:oMath>
                  </m:oMathPara>
                </a14:m>
                <a:endParaRPr lang="vi-VN" sz="1067"/>
              </a:p>
            </p:txBody>
          </p:sp>
        </mc:Choice>
        <mc:Fallback xmlns="">
          <p:sp>
            <p:nvSpPr>
              <p:cNvPr id="56" name="TextBox 55">
                <a:extLst>
                  <a:ext uri="{FF2B5EF4-FFF2-40B4-BE49-F238E27FC236}">
                    <a16:creationId xmlns:a16="http://schemas.microsoft.com/office/drawing/2014/main" id="{52AD879E-2D27-757F-99C5-F5F8414A3E58}"/>
                  </a:ext>
                </a:extLst>
              </p:cNvPr>
              <p:cNvSpPr txBox="1">
                <a:spLocks noRot="1" noChangeAspect="1" noMove="1" noResize="1" noEditPoints="1" noAdjustHandles="1" noChangeArrowheads="1" noChangeShapeType="1" noTextEdit="1"/>
              </p:cNvSpPr>
              <p:nvPr/>
            </p:nvSpPr>
            <p:spPr>
              <a:xfrm>
                <a:off x="1025319" y="5522036"/>
                <a:ext cx="206788" cy="164212"/>
              </a:xfrm>
              <a:prstGeom prst="rect">
                <a:avLst/>
              </a:prstGeom>
              <a:blipFill>
                <a:blip r:embed="rId20"/>
                <a:stretch>
                  <a:fillRect l="-17647" r="-23529" b="-28571"/>
                </a:stretch>
              </a:blipFill>
            </p:spPr>
            <p:txBody>
              <a:bodyPr/>
              <a:lstStyle/>
              <a:p>
                <a:r>
                  <a:rPr lang="en-VN">
                    <a:noFill/>
                  </a:rPr>
                  <a:t> </a:t>
                </a:r>
              </a:p>
            </p:txBody>
          </p:sp>
        </mc:Fallback>
      </mc:AlternateContent>
      <p:cxnSp>
        <p:nvCxnSpPr>
          <p:cNvPr id="57" name="Straight Connector 56">
            <a:extLst>
              <a:ext uri="{FF2B5EF4-FFF2-40B4-BE49-F238E27FC236}">
                <a16:creationId xmlns:a16="http://schemas.microsoft.com/office/drawing/2014/main" id="{DB1A5CF8-A949-8FF0-B749-38D6AB5B71E0}"/>
              </a:ext>
            </a:extLst>
          </p:cNvPr>
          <p:cNvCxnSpPr>
            <a:cxnSpLocks/>
          </p:cNvCxnSpPr>
          <p:nvPr/>
        </p:nvCxnSpPr>
        <p:spPr>
          <a:xfrm>
            <a:off x="5878304" y="3947951"/>
            <a:ext cx="301957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F0E03C4-9044-332F-8BB4-5F3E29A50F8F}"/>
                  </a:ext>
                </a:extLst>
              </p:cNvPr>
              <p:cNvSpPr txBox="1"/>
              <p:nvPr/>
            </p:nvSpPr>
            <p:spPr>
              <a:xfrm>
                <a:off x="5381867" y="3727639"/>
                <a:ext cx="46326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|0⟩</m:t>
                      </m:r>
                    </m:oMath>
                  </m:oMathPara>
                </a14:m>
                <a:endParaRPr lang="vi-VN" sz="2400"/>
              </a:p>
            </p:txBody>
          </p:sp>
        </mc:Choice>
        <mc:Fallback xmlns="">
          <p:sp>
            <p:nvSpPr>
              <p:cNvPr id="58" name="TextBox 57">
                <a:extLst>
                  <a:ext uri="{FF2B5EF4-FFF2-40B4-BE49-F238E27FC236}">
                    <a16:creationId xmlns:a16="http://schemas.microsoft.com/office/drawing/2014/main" id="{2F0E03C4-9044-332F-8BB4-5F3E29A50F8F}"/>
                  </a:ext>
                </a:extLst>
              </p:cNvPr>
              <p:cNvSpPr txBox="1">
                <a:spLocks noRot="1" noChangeAspect="1" noMove="1" noResize="1" noEditPoints="1" noAdjustHandles="1" noChangeArrowheads="1" noChangeShapeType="1" noTextEdit="1"/>
              </p:cNvSpPr>
              <p:nvPr/>
            </p:nvSpPr>
            <p:spPr>
              <a:xfrm>
                <a:off x="5381867" y="3727639"/>
                <a:ext cx="463268" cy="369332"/>
              </a:xfrm>
              <a:prstGeom prst="rect">
                <a:avLst/>
              </a:prstGeom>
              <a:blipFill>
                <a:blip r:embed="rId22"/>
                <a:stretch>
                  <a:fillRect l="-18421" r="-21053" b="-3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D9823389-AD4F-0880-4B8C-9137C899F2F5}"/>
                  </a:ext>
                </a:extLst>
              </p:cNvPr>
              <p:cNvSpPr/>
              <p:nvPr/>
            </p:nvSpPr>
            <p:spPr>
              <a:xfrm>
                <a:off x="6043985" y="3697334"/>
                <a:ext cx="1737503" cy="50666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𝑅</m:t>
                          </m:r>
                        </m:e>
                        <m:sub>
                          <m:r>
                            <a:rPr lang="en-US" sz="2400" i="1">
                              <a:solidFill>
                                <a:schemeClr val="tx1"/>
                              </a:solidFill>
                              <a:latin typeface="Cambria Math" panose="02040503050406030204" pitchFamily="18" charset="0"/>
                            </a:rPr>
                            <m:t>𝑌</m:t>
                          </m:r>
                        </m:sub>
                      </m:sSub>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2.2143</m:t>
                          </m:r>
                        </m:e>
                      </m:d>
                    </m:oMath>
                  </m:oMathPara>
                </a14:m>
                <a:endParaRPr lang="ar-AE" sz="2400">
                  <a:solidFill>
                    <a:schemeClr val="tx1"/>
                  </a:solidFill>
                </a:endParaRPr>
              </a:p>
            </p:txBody>
          </p:sp>
        </mc:Choice>
        <mc:Fallback xmlns="">
          <p:sp>
            <p:nvSpPr>
              <p:cNvPr id="60" name="Rectangle 59">
                <a:extLst>
                  <a:ext uri="{FF2B5EF4-FFF2-40B4-BE49-F238E27FC236}">
                    <a16:creationId xmlns:a16="http://schemas.microsoft.com/office/drawing/2014/main" id="{D9823389-AD4F-0880-4B8C-9137C899F2F5}"/>
                  </a:ext>
                </a:extLst>
              </p:cNvPr>
              <p:cNvSpPr>
                <a:spLocks noRot="1" noChangeAspect="1" noMove="1" noResize="1" noEditPoints="1" noAdjustHandles="1" noChangeArrowheads="1" noChangeShapeType="1" noTextEdit="1"/>
              </p:cNvSpPr>
              <p:nvPr/>
            </p:nvSpPr>
            <p:spPr>
              <a:xfrm>
                <a:off x="6043985" y="3697334"/>
                <a:ext cx="1737503" cy="506661"/>
              </a:xfrm>
              <a:prstGeom prst="rect">
                <a:avLst/>
              </a:prstGeom>
              <a:blipFill>
                <a:blip r:embed="rId23"/>
                <a:stretch>
                  <a:fillRect l="-5797" t="-4762" r="-7971" b="-19048"/>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45E946F-CC73-31B9-9EC4-29889D790CB1}"/>
                  </a:ext>
                </a:extLst>
              </p:cNvPr>
              <p:cNvSpPr txBox="1"/>
              <p:nvPr/>
            </p:nvSpPr>
            <p:spPr>
              <a:xfrm>
                <a:off x="7897863" y="4179373"/>
                <a:ext cx="1985865" cy="886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r>
                            <a:rPr lang="en-US" sz="2400" i="1">
                              <a:latin typeface="Cambria Math" panose="02040503050406030204" pitchFamily="18" charset="0"/>
                            </a:rPr>
                            <m:t>′</m:t>
                          </m:r>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5</m:t>
                                    </m:r>
                                  </m:e>
                                </m:rad>
                              </m:e>
                            </m:mr>
                            <m:mr>
                              <m:e>
                                <m:r>
                                  <a:rPr lang="en-US" sz="2400" i="1">
                                    <a:latin typeface="Cambria Math" panose="02040503050406030204" pitchFamily="18" charset="0"/>
                                  </a:rPr>
                                  <m:t>2</m:t>
                                </m:r>
                                <m:r>
                                  <m:rPr>
                                    <m:brk m:alnAt="7"/>
                                  </m:rP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5</m:t>
                                    </m:r>
                                  </m:e>
                                </m:rad>
                              </m:e>
                            </m:mr>
                          </m:m>
                        </m:e>
                      </m:d>
                      <m:r>
                        <a:rPr lang="en-US" sz="2400" i="1">
                          <a:latin typeface="Cambria Math" panose="02040503050406030204" pitchFamily="18" charset="0"/>
                        </a:rPr>
                        <m:t> </m:t>
                      </m:r>
                    </m:oMath>
                  </m:oMathPara>
                </a14:m>
                <a:endParaRPr lang="vi-VN" sz="2400"/>
              </a:p>
            </p:txBody>
          </p:sp>
        </mc:Choice>
        <mc:Fallback xmlns="">
          <p:sp>
            <p:nvSpPr>
              <p:cNvPr id="62" name="TextBox 61">
                <a:extLst>
                  <a:ext uri="{FF2B5EF4-FFF2-40B4-BE49-F238E27FC236}">
                    <a16:creationId xmlns:a16="http://schemas.microsoft.com/office/drawing/2014/main" id="{E45E946F-CC73-31B9-9EC4-29889D790CB1}"/>
                  </a:ext>
                </a:extLst>
              </p:cNvPr>
              <p:cNvSpPr txBox="1">
                <a:spLocks noRot="1" noChangeAspect="1" noMove="1" noResize="1" noEditPoints="1" noAdjustHandles="1" noChangeArrowheads="1" noChangeShapeType="1" noTextEdit="1"/>
              </p:cNvSpPr>
              <p:nvPr/>
            </p:nvSpPr>
            <p:spPr>
              <a:xfrm>
                <a:off x="7897863" y="4179373"/>
                <a:ext cx="1985865" cy="886333"/>
              </a:xfrm>
              <a:prstGeom prst="rect">
                <a:avLst/>
              </a:prstGeom>
              <a:blipFill>
                <a:blip r:embed="rId24"/>
                <a:stretch>
                  <a:fillRect l="-637" r="-5096" b="-15714"/>
                </a:stretch>
              </a:blipFill>
            </p:spPr>
            <p:txBody>
              <a:bodyPr/>
              <a:lstStyle/>
              <a:p>
                <a:r>
                  <a:rPr lang="en-VN">
                    <a:noFill/>
                  </a:rPr>
                  <a:t> </a:t>
                </a:r>
              </a:p>
            </p:txBody>
          </p:sp>
        </mc:Fallback>
      </mc:AlternateContent>
      <p:cxnSp>
        <p:nvCxnSpPr>
          <p:cNvPr id="64" name="Straight Arrow Connector 63">
            <a:extLst>
              <a:ext uri="{FF2B5EF4-FFF2-40B4-BE49-F238E27FC236}">
                <a16:creationId xmlns:a16="http://schemas.microsoft.com/office/drawing/2014/main" id="{12803414-AAE4-B4DE-ECD1-392044CAB67D}"/>
              </a:ext>
            </a:extLst>
          </p:cNvPr>
          <p:cNvCxnSpPr>
            <a:cxnSpLocks/>
          </p:cNvCxnSpPr>
          <p:nvPr/>
        </p:nvCxnSpPr>
        <p:spPr>
          <a:xfrm flipV="1">
            <a:off x="8111496" y="4015591"/>
            <a:ext cx="0" cy="4678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920F3974-C5E5-02EB-2148-0837096B6262}"/>
              </a:ext>
            </a:extLst>
          </p:cNvPr>
          <p:cNvCxnSpPr>
            <a:cxnSpLocks/>
          </p:cNvCxnSpPr>
          <p:nvPr/>
        </p:nvCxnSpPr>
        <p:spPr>
          <a:xfrm flipV="1">
            <a:off x="7049913" y="4216533"/>
            <a:ext cx="0" cy="1127945"/>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7" name="Content Placeholder 2">
                <a:extLst>
                  <a:ext uri="{FF2B5EF4-FFF2-40B4-BE49-F238E27FC236}">
                    <a16:creationId xmlns:a16="http://schemas.microsoft.com/office/drawing/2014/main" id="{851B5FC4-6623-6A8E-77E5-52F105D3A30F}"/>
                  </a:ext>
                </a:extLst>
              </p:cNvPr>
              <p:cNvSpPr txBox="1">
                <a:spLocks/>
              </p:cNvSpPr>
              <p:nvPr/>
            </p:nvSpPr>
            <p:spPr>
              <a:xfrm>
                <a:off x="6043985" y="5378640"/>
                <a:ext cx="2197683" cy="507747"/>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a:solidFill>
                      <a:srgbClr val="FF0000"/>
                    </a:solidFill>
                  </a:rPr>
                  <a:t>How to find </a:t>
                </a:r>
                <a14:m>
                  <m:oMath xmlns:m="http://schemas.openxmlformats.org/officeDocument/2006/math">
                    <m:r>
                      <a:rPr lang="en-US" sz="2400" i="1">
                        <a:solidFill>
                          <a:srgbClr val="FF0000"/>
                        </a:solidFill>
                        <a:latin typeface="Cambria Math" panose="02040503050406030204" pitchFamily="18" charset="0"/>
                      </a:rPr>
                      <m:t>𝜙</m:t>
                    </m:r>
                    <m:r>
                      <a:rPr lang="en-US" sz="2400" i="1">
                        <a:solidFill>
                          <a:srgbClr val="FF0000"/>
                        </a:solidFill>
                        <a:latin typeface="Cambria Math" panose="02040503050406030204" pitchFamily="18" charset="0"/>
                      </a:rPr>
                      <m:t>?</m:t>
                    </m:r>
                  </m:oMath>
                </a14:m>
                <a:endParaRPr lang="vi-VN" sz="2400">
                  <a:solidFill>
                    <a:srgbClr val="FF0000"/>
                  </a:solidFill>
                </a:endParaRPr>
              </a:p>
            </p:txBody>
          </p:sp>
        </mc:Choice>
        <mc:Fallback xmlns="">
          <p:sp>
            <p:nvSpPr>
              <p:cNvPr id="67" name="Content Placeholder 2">
                <a:extLst>
                  <a:ext uri="{FF2B5EF4-FFF2-40B4-BE49-F238E27FC236}">
                    <a16:creationId xmlns:a16="http://schemas.microsoft.com/office/drawing/2014/main" id="{851B5FC4-6623-6A8E-77E5-52F105D3A30F}"/>
                  </a:ext>
                </a:extLst>
              </p:cNvPr>
              <p:cNvSpPr txBox="1">
                <a:spLocks noRot="1" noChangeAspect="1" noMove="1" noResize="1" noEditPoints="1" noAdjustHandles="1" noChangeArrowheads="1" noChangeShapeType="1" noTextEdit="1"/>
              </p:cNvSpPr>
              <p:nvPr/>
            </p:nvSpPr>
            <p:spPr>
              <a:xfrm>
                <a:off x="6043985" y="5378640"/>
                <a:ext cx="2197683" cy="507747"/>
              </a:xfrm>
              <a:prstGeom prst="rect">
                <a:avLst/>
              </a:prstGeom>
              <a:blipFill>
                <a:blip r:embed="rId25"/>
                <a:stretch>
                  <a:fillRect l="-2874" t="-9756" b="-12195"/>
                </a:stretch>
              </a:blipFill>
            </p:spPr>
            <p:txBody>
              <a:bodyPr/>
              <a:lstStyle/>
              <a:p>
                <a:r>
                  <a:rPr lang="en-VN">
                    <a:noFill/>
                  </a:rPr>
                  <a:t> </a:t>
                </a:r>
              </a:p>
            </p:txBody>
          </p:sp>
        </mc:Fallback>
      </mc:AlternateContent>
      <p:sp>
        <p:nvSpPr>
          <p:cNvPr id="69" name="Content Placeholder 2">
            <a:extLst>
              <a:ext uri="{FF2B5EF4-FFF2-40B4-BE49-F238E27FC236}">
                <a16:creationId xmlns:a16="http://schemas.microsoft.com/office/drawing/2014/main" id="{A63CD7F2-59A0-CCD9-5FEB-55E5594506A7}"/>
              </a:ext>
            </a:extLst>
          </p:cNvPr>
          <p:cNvSpPr txBox="1">
            <a:spLocks/>
          </p:cNvSpPr>
          <p:nvPr/>
        </p:nvSpPr>
        <p:spPr>
          <a:xfrm>
            <a:off x="940986" y="5810100"/>
            <a:ext cx="4342215" cy="387501"/>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600"/>
              <a:t>Basic encoding</a:t>
            </a:r>
            <a:endParaRPr lang="vi-VN" sz="1600"/>
          </a:p>
        </p:txBody>
      </p:sp>
      <p:sp>
        <p:nvSpPr>
          <p:cNvPr id="70" name="Content Placeholder 2">
            <a:extLst>
              <a:ext uri="{FF2B5EF4-FFF2-40B4-BE49-F238E27FC236}">
                <a16:creationId xmlns:a16="http://schemas.microsoft.com/office/drawing/2014/main" id="{FB92F090-0728-4F4A-8FCF-78EF86BA12B1}"/>
              </a:ext>
            </a:extLst>
          </p:cNvPr>
          <p:cNvSpPr txBox="1">
            <a:spLocks/>
          </p:cNvSpPr>
          <p:nvPr/>
        </p:nvSpPr>
        <p:spPr>
          <a:xfrm>
            <a:off x="5373697" y="5810100"/>
            <a:ext cx="6395155" cy="387501"/>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600"/>
              <a:t>Amplitude encoding</a:t>
            </a:r>
            <a:endParaRPr lang="vi-VN" sz="1600"/>
          </a:p>
        </p:txBody>
      </p:sp>
      <p:sp>
        <p:nvSpPr>
          <p:cNvPr id="71" name="Rectangle 70">
            <a:extLst>
              <a:ext uri="{FF2B5EF4-FFF2-40B4-BE49-F238E27FC236}">
                <a16:creationId xmlns:a16="http://schemas.microsoft.com/office/drawing/2014/main" id="{FC4AE028-FAFE-9FE6-CD5B-ADD4DFF54560}"/>
              </a:ext>
            </a:extLst>
          </p:cNvPr>
          <p:cNvSpPr/>
          <p:nvPr/>
        </p:nvSpPr>
        <p:spPr>
          <a:xfrm>
            <a:off x="940986" y="3644543"/>
            <a:ext cx="4304188" cy="214629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72" name="Rectangle 71">
            <a:extLst>
              <a:ext uri="{FF2B5EF4-FFF2-40B4-BE49-F238E27FC236}">
                <a16:creationId xmlns:a16="http://schemas.microsoft.com/office/drawing/2014/main" id="{68905BD4-5B12-B86C-9678-F336C4E1FC4C}"/>
              </a:ext>
            </a:extLst>
          </p:cNvPr>
          <p:cNvSpPr/>
          <p:nvPr/>
        </p:nvSpPr>
        <p:spPr>
          <a:xfrm>
            <a:off x="5373697" y="3641744"/>
            <a:ext cx="6395155" cy="214629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73" name="Straight Arrow Connector 72">
            <a:extLst>
              <a:ext uri="{FF2B5EF4-FFF2-40B4-BE49-F238E27FC236}">
                <a16:creationId xmlns:a16="http://schemas.microsoft.com/office/drawing/2014/main" id="{802876DD-11CA-F3F5-9D5B-AE3B4CC9BE12}"/>
              </a:ext>
            </a:extLst>
          </p:cNvPr>
          <p:cNvCxnSpPr>
            <a:cxnSpLocks/>
          </p:cNvCxnSpPr>
          <p:nvPr/>
        </p:nvCxnSpPr>
        <p:spPr>
          <a:xfrm>
            <a:off x="9872131" y="4682665"/>
            <a:ext cx="6553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4" name="Content Placeholder 2">
                <a:extLst>
                  <a:ext uri="{FF2B5EF4-FFF2-40B4-BE49-F238E27FC236}">
                    <a16:creationId xmlns:a16="http://schemas.microsoft.com/office/drawing/2014/main" id="{AABF885A-6543-2385-06C0-EE1DB282C2B0}"/>
                  </a:ext>
                </a:extLst>
              </p:cNvPr>
              <p:cNvSpPr txBox="1">
                <a:spLocks/>
              </p:cNvSpPr>
              <p:nvPr/>
            </p:nvSpPr>
            <p:spPr>
              <a:xfrm>
                <a:off x="10497328" y="4444636"/>
                <a:ext cx="1622779" cy="507747"/>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r>
                      <a:rPr lang="en-US" sz="2400" i="1">
                        <a:latin typeface="Cambria Math" panose="02040503050406030204" pitchFamily="18" charset="0"/>
                      </a:rPr>
                      <m:t>𝑛</m:t>
                    </m:r>
                    <m:r>
                      <a:rPr lang="en-US" sz="2400" i="1">
                        <a:latin typeface="Cambria Math" panose="02040503050406030204" pitchFamily="18" charset="0"/>
                      </a:rPr>
                      <m:t> </m:t>
                    </m:r>
                  </m:oMath>
                </a14:m>
                <a:r>
                  <a:rPr lang="en-US" sz="2400"/>
                  <a:t>qubits</a:t>
                </a:r>
                <a:endParaRPr lang="vi-VN" sz="2400"/>
              </a:p>
            </p:txBody>
          </p:sp>
        </mc:Choice>
        <mc:Fallback xmlns="">
          <p:sp>
            <p:nvSpPr>
              <p:cNvPr id="74" name="Content Placeholder 2">
                <a:extLst>
                  <a:ext uri="{FF2B5EF4-FFF2-40B4-BE49-F238E27FC236}">
                    <a16:creationId xmlns:a16="http://schemas.microsoft.com/office/drawing/2014/main" id="{AABF885A-6543-2385-06C0-EE1DB282C2B0}"/>
                  </a:ext>
                </a:extLst>
              </p:cNvPr>
              <p:cNvSpPr txBox="1">
                <a:spLocks noRot="1" noChangeAspect="1" noMove="1" noResize="1" noEditPoints="1" noAdjustHandles="1" noChangeArrowheads="1" noChangeShapeType="1" noTextEdit="1"/>
              </p:cNvSpPr>
              <p:nvPr/>
            </p:nvSpPr>
            <p:spPr>
              <a:xfrm>
                <a:off x="10497328" y="4444636"/>
                <a:ext cx="1622779" cy="507747"/>
              </a:xfrm>
              <a:prstGeom prst="rect">
                <a:avLst/>
              </a:prstGeom>
              <a:blipFill>
                <a:blip r:embed="rId26"/>
                <a:stretch>
                  <a:fillRect t="-9756" b="-14634"/>
                </a:stretch>
              </a:blipFill>
            </p:spPr>
            <p:txBody>
              <a:bodyPr/>
              <a:lstStyle/>
              <a:p>
                <a:r>
                  <a:rPr lang="en-VN">
                    <a:noFill/>
                  </a:rPr>
                  <a:t> </a:t>
                </a:r>
              </a:p>
            </p:txBody>
          </p:sp>
        </mc:Fallback>
      </mc:AlternateContent>
      <p:sp>
        <p:nvSpPr>
          <p:cNvPr id="79" name="TextBox 78">
            <a:extLst>
              <a:ext uri="{FF2B5EF4-FFF2-40B4-BE49-F238E27FC236}">
                <a16:creationId xmlns:a16="http://schemas.microsoft.com/office/drawing/2014/main" id="{6D0BF38F-3695-3F8A-F79C-8638ACE1220C}"/>
              </a:ext>
            </a:extLst>
          </p:cNvPr>
          <p:cNvSpPr txBox="1"/>
          <p:nvPr/>
        </p:nvSpPr>
        <p:spPr>
          <a:xfrm>
            <a:off x="838201" y="6383072"/>
            <a:ext cx="9659128" cy="297454"/>
          </a:xfrm>
          <a:prstGeom prst="rect">
            <a:avLst/>
          </a:prstGeom>
          <a:noFill/>
          <a:ln>
            <a:solidFill>
              <a:srgbClr val="FF0000"/>
            </a:solidFill>
          </a:ln>
        </p:spPr>
        <p:txBody>
          <a:bodyPr wrap="square">
            <a:spAutoFit/>
          </a:bodyPr>
          <a:lstStyle/>
          <a:p>
            <a:r>
              <a:rPr lang="en-US" sz="1333" b="1">
                <a:solidFill>
                  <a:srgbClr val="FF0000"/>
                </a:solidFill>
              </a:rPr>
              <a:t>*</a:t>
            </a:r>
            <a:r>
              <a:rPr lang="en-US" sz="1333">
                <a:solidFill>
                  <a:srgbClr val="FF0000"/>
                </a:solidFill>
              </a:rPr>
              <a:t>Schuld, M., &amp; Petruccione, F. (2018). Supervised learning with quantum computers. </a:t>
            </a:r>
            <a:r>
              <a:rPr lang="en-US" sz="1333" i="1">
                <a:solidFill>
                  <a:srgbClr val="FF0000"/>
                </a:solidFill>
              </a:rPr>
              <a:t>Quantum science and technology</a:t>
            </a:r>
            <a:r>
              <a:rPr lang="en-US" sz="1333">
                <a:solidFill>
                  <a:srgbClr val="FF0000"/>
                </a:solidFill>
              </a:rPr>
              <a:t>, </a:t>
            </a:r>
            <a:r>
              <a:rPr lang="en-US" sz="1333" i="1">
                <a:solidFill>
                  <a:srgbClr val="FF0000"/>
                </a:solidFill>
              </a:rPr>
              <a:t>17</a:t>
            </a:r>
            <a:r>
              <a:rPr lang="en-US" sz="1333">
                <a:solidFill>
                  <a:srgbClr val="FF0000"/>
                </a:solidFill>
              </a:rPr>
              <a:t>.</a:t>
            </a:r>
            <a:endParaRPr lang="vi-VN" sz="1333">
              <a:solidFill>
                <a:srgbClr val="FF0000"/>
              </a:solidFill>
            </a:endParaRPr>
          </a:p>
        </p:txBody>
      </p:sp>
    </p:spTree>
    <p:extLst>
      <p:ext uri="{BB962C8B-B14F-4D97-AF65-F5344CB8AC3E}">
        <p14:creationId xmlns:p14="http://schemas.microsoft.com/office/powerpoint/2010/main" val="4201431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4C3DD22D-A768-5652-F362-7E7F23F587C4}"/>
                  </a:ext>
                </a:extLst>
              </p:cNvPr>
              <p:cNvGraphicFramePr>
                <a:graphicFrameLocks noGrp="1"/>
              </p:cNvGraphicFramePr>
              <p:nvPr>
                <p:ph idx="1"/>
              </p:nvPr>
            </p:nvGraphicFramePr>
            <p:xfrm>
              <a:off x="838201" y="1415295"/>
              <a:ext cx="11116736" cy="3084128"/>
            </p:xfrm>
            <a:graphic>
              <a:graphicData uri="http://schemas.openxmlformats.org/drawingml/2006/table">
                <a:tbl>
                  <a:tblPr firstRow="1" bandRow="1">
                    <a:tableStyleId>{5C22544A-7EE6-4342-B048-85BDC9FD1C3A}</a:tableStyleId>
                  </a:tblPr>
                  <a:tblGrid>
                    <a:gridCol w="1475503">
                      <a:extLst>
                        <a:ext uri="{9D8B030D-6E8A-4147-A177-3AD203B41FA5}">
                          <a16:colId xmlns:a16="http://schemas.microsoft.com/office/drawing/2014/main" val="3837862959"/>
                        </a:ext>
                      </a:extLst>
                    </a:gridCol>
                    <a:gridCol w="1170392">
                      <a:extLst>
                        <a:ext uri="{9D8B030D-6E8A-4147-A177-3AD203B41FA5}">
                          <a16:colId xmlns:a16="http://schemas.microsoft.com/office/drawing/2014/main" val="4225924437"/>
                        </a:ext>
                      </a:extLst>
                    </a:gridCol>
                    <a:gridCol w="1417441">
                      <a:extLst>
                        <a:ext uri="{9D8B030D-6E8A-4147-A177-3AD203B41FA5}">
                          <a16:colId xmlns:a16="http://schemas.microsoft.com/office/drawing/2014/main" val="3136394921"/>
                        </a:ext>
                      </a:extLst>
                    </a:gridCol>
                    <a:gridCol w="1237041">
                      <a:extLst>
                        <a:ext uri="{9D8B030D-6E8A-4147-A177-3AD203B41FA5}">
                          <a16:colId xmlns:a16="http://schemas.microsoft.com/office/drawing/2014/main" val="75451648"/>
                        </a:ext>
                      </a:extLst>
                    </a:gridCol>
                    <a:gridCol w="1809747">
                      <a:extLst>
                        <a:ext uri="{9D8B030D-6E8A-4147-A177-3AD203B41FA5}">
                          <a16:colId xmlns:a16="http://schemas.microsoft.com/office/drawing/2014/main" val="2396834512"/>
                        </a:ext>
                      </a:extLst>
                    </a:gridCol>
                    <a:gridCol w="1374489">
                      <a:extLst>
                        <a:ext uri="{9D8B030D-6E8A-4147-A177-3AD203B41FA5}">
                          <a16:colId xmlns:a16="http://schemas.microsoft.com/office/drawing/2014/main" val="2629910099"/>
                        </a:ext>
                      </a:extLst>
                    </a:gridCol>
                    <a:gridCol w="2632123">
                      <a:extLst>
                        <a:ext uri="{9D8B030D-6E8A-4147-A177-3AD203B41FA5}">
                          <a16:colId xmlns:a16="http://schemas.microsoft.com/office/drawing/2014/main" val="2261585604"/>
                        </a:ext>
                      </a:extLst>
                    </a:gridCol>
                  </a:tblGrid>
                  <a:tr h="1513840">
                    <a:tc>
                      <a:txBody>
                        <a:bodyPr/>
                        <a:lstStyle/>
                        <a:p>
                          <a:endParaRPr lang="en-VN" sz="1300" b="1" i="0">
                            <a:solidFill>
                              <a:schemeClr val="accent1"/>
                            </a:solidFill>
                          </a:endParaRPr>
                        </a:p>
                        <a:p>
                          <a:endParaRPr lang="en-VN" sz="1300" b="1" i="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VN" sz="1900" b="0" i="0">
                              <a:solidFill>
                                <a:schemeClr val="tx1"/>
                              </a:solidFill>
                            </a:rPr>
                            <a:t>Threshold Encoding </a:t>
                          </a:r>
                          <a:r>
                            <a:rPr lang="en-VN" sz="1900" b="1" i="0">
                              <a:solidFill>
                                <a:schemeClr val="tx1"/>
                              </a:solidFill>
                            </a:rPr>
                            <a:t>- 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Flexible Representation</a:t>
                          </a:r>
                          <a:r>
                            <a:rPr lang="en-US" sz="1900" b="1" i="0">
                              <a:solidFill>
                                <a:schemeClr val="tx1"/>
                              </a:solidFill>
                            </a:rPr>
                            <a:t> - FRQI</a:t>
                          </a:r>
                          <a:endParaRPr lang="en-VN" sz="1900" b="1" i="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Novel enhanced quantum </a:t>
                          </a:r>
                          <a:r>
                            <a:rPr lang="en-US" sz="1900" b="1" i="0">
                              <a:solidFill>
                                <a:schemeClr val="tx1"/>
                              </a:solidFill>
                            </a:rPr>
                            <a:t>- NEQR </a:t>
                          </a:r>
                          <a:r>
                            <a:rPr lang="en-US" sz="1900" b="1" i="0">
                              <a:solidFill>
                                <a:srgbClr val="FF0000"/>
                              </a:solidFill>
                            </a:rPr>
                            <a:t>[1.25]</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Amplitude Encoding </a:t>
                          </a:r>
                          <a:r>
                            <a:rPr lang="en-US" sz="1900" b="1" i="0">
                              <a:solidFill>
                                <a:schemeClr val="tx1"/>
                              </a:solidFill>
                            </a:rPr>
                            <a:t>- AE </a:t>
                          </a:r>
                          <a:r>
                            <a:rPr lang="en-US" sz="1900" b="1" i="0">
                              <a:solidFill>
                                <a:srgbClr val="FF0000"/>
                              </a:solidFill>
                            </a:rPr>
                            <a:t>[1.26] </a:t>
                          </a:r>
                          <a:r>
                            <a:rPr lang="en-US" sz="1900" b="1" i="0">
                              <a:solidFill>
                                <a:schemeClr val="tx1"/>
                              </a:solidFill>
                            </a:rPr>
                            <a:t>&amp; Quantum RAM </a:t>
                          </a:r>
                          <a:r>
                            <a:rPr lang="en-US" sz="1900" b="1" i="0">
                              <a:solidFill>
                                <a:srgbClr val="FF0000"/>
                              </a:solidFill>
                            </a:rPr>
                            <a:t>[1.27]</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Divide – and - Conquer Encoder - </a:t>
                          </a:r>
                          <a:r>
                            <a:rPr lang="en-US" sz="1900" b="1" i="0">
                              <a:solidFill>
                                <a:schemeClr val="tx1"/>
                              </a:solidFill>
                            </a:rPr>
                            <a:t>DCE </a:t>
                          </a:r>
                          <a:r>
                            <a:rPr lang="en-US" sz="1900" b="1" i="0">
                              <a:solidFill>
                                <a:srgbClr val="FF0000"/>
                              </a:solidFill>
                            </a:rPr>
                            <a:t>[1.28]</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rgbClr val="FF0000"/>
                              </a:solidFill>
                            </a:rPr>
                            <a:t>Universal Compilation – based variational quantum- </a:t>
                          </a:r>
                          <a:r>
                            <a:rPr lang="en-US" sz="1900" b="1" i="0">
                              <a:solidFill>
                                <a:srgbClr val="FF0000"/>
                              </a:solidFill>
                            </a:rPr>
                            <a:t>U</a:t>
                          </a:r>
                          <a:r>
                            <a:rPr lang="en-VN" sz="1900" b="1" i="0">
                              <a:solidFill>
                                <a:srgbClr val="FF0000"/>
                              </a:solidFill>
                            </a:rPr>
                            <a:t>C – VQA [1</a:t>
                          </a:r>
                          <a:r>
                            <a:rPr lang="en-US" sz="1900" b="1" i="0">
                              <a:solidFill>
                                <a:srgbClr val="FF0000"/>
                              </a:solidFill>
                            </a:rPr>
                            <a:t>.29</a:t>
                          </a:r>
                          <a:r>
                            <a:rPr lang="en-VN" sz="1900" b="1" i="0">
                              <a:solidFill>
                                <a:srgbClr val="FF00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4215602"/>
                      </a:ext>
                    </a:extLst>
                  </a:tr>
                  <a:tr h="701753">
                    <a:tc>
                      <a:txBody>
                        <a:bodyPr/>
                        <a:lstStyle/>
                        <a:p>
                          <a:r>
                            <a:rPr lang="en-US" sz="1300" b="1" i="0">
                              <a:solidFill>
                                <a:schemeClr val="accent1"/>
                              </a:solidFill>
                            </a:rPr>
                            <a:t>#</a:t>
                          </a:r>
                          <a:r>
                            <a:rPr lang="en-VN" sz="1300" b="1" i="0">
                              <a:solidFill>
                                <a:schemeClr val="accent1"/>
                              </a:solidFill>
                            </a:rPr>
                            <a:t>qubit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m:t>
                              </m:r>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en-US" sz="1900" i="1" kern="1200">
                                      <a:solidFill>
                                        <a:schemeClr val="dk1"/>
                                      </a:solidFill>
                                      <a:effectLst/>
                                      <a:latin typeface="Cambria Math" panose="02040503050406030204" pitchFamily="18" charset="0"/>
                                      <a:ea typeface="+mn-ea"/>
                                      <a:cs typeface="+mn-cs"/>
                                    </a:rPr>
                                    <m:t>2</m:t>
                                  </m:r>
                                  <m:r>
                                    <a:rPr lang="en-US" sz="1900" i="1" kern="1200">
                                      <a:solidFill>
                                        <a:schemeClr val="dk1"/>
                                      </a:solidFill>
                                      <a:effectLst/>
                                      <a:latin typeface="Cambria Math" panose="02040503050406030204" pitchFamily="18" charset="0"/>
                                      <a:ea typeface="+mn-ea"/>
                                      <a:cs typeface="+mn-cs"/>
                                    </a:rPr>
                                    <m:t>𝑛</m:t>
                                  </m:r>
                                </m:sup>
                              </m:sSup>
                              <m:r>
                                <a:rPr lang="en-US" sz="1900" i="1" kern="1200">
                                  <a:solidFill>
                                    <a:schemeClr val="dk1"/>
                                  </a:solidFill>
                                  <a:effectLst/>
                                  <a:latin typeface="Cambria Math" panose="02040503050406030204" pitchFamily="18" charset="0"/>
                                  <a:ea typeface="+mn-ea"/>
                                  <a:cs typeface="+mn-cs"/>
                                </a:rPr>
                                <m:t>)</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(2</m:t>
                              </m:r>
                              <m:r>
                                <a:rPr lang="vi-VN" sz="1900" b="0" i="1" kern="1200">
                                  <a:solidFill>
                                    <a:schemeClr val="dk1"/>
                                  </a:solidFill>
                                  <a:effectLst/>
                                  <a:latin typeface="Cambria Math" panose="02040503050406030204" pitchFamily="18" charset="0"/>
                                  <a:ea typeface="+mn-ea"/>
                                  <a:cs typeface="+mn-cs"/>
                                </a:rPr>
                                <m:t>𝑛</m:t>
                              </m:r>
                              <m:r>
                                <a:rPr lang="vi-VN" sz="1900" b="0" i="1" kern="1200">
                                  <a:solidFill>
                                    <a:schemeClr val="dk1"/>
                                  </a:solidFill>
                                  <a:effectLst/>
                                  <a:latin typeface="Cambria Math" panose="02040503050406030204" pitchFamily="18" charset="0"/>
                                  <a:ea typeface="+mn-ea"/>
                                  <a:cs typeface="+mn-cs"/>
                                </a:rPr>
                                <m:t>+1)</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(2</m:t>
                              </m:r>
                              <m:r>
                                <a:rPr lang="vi-VN" sz="1900" b="0" i="1" kern="1200">
                                  <a:solidFill>
                                    <a:schemeClr val="dk1"/>
                                  </a:solidFill>
                                  <a:effectLst/>
                                  <a:latin typeface="Cambria Math" panose="02040503050406030204" pitchFamily="18" charset="0"/>
                                  <a:ea typeface="+mn-ea"/>
                                  <a:cs typeface="+mn-cs"/>
                                </a:rPr>
                                <m:t>𝑛</m:t>
                              </m:r>
                              <m:r>
                                <a:rPr lang="vi-VN" sz="1900" b="0" i="1" kern="1200">
                                  <a:solidFill>
                                    <a:schemeClr val="dk1"/>
                                  </a:solidFill>
                                  <a:effectLst/>
                                  <a:latin typeface="Cambria Math" panose="02040503050406030204" pitchFamily="18" charset="0"/>
                                  <a:ea typeface="+mn-ea"/>
                                  <a:cs typeface="+mn-cs"/>
                                </a:rPr>
                                <m:t>+1)</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d>
                                <m:dPr>
                                  <m:ctrlPr>
                                    <a:rPr lang="en-VN" sz="1900" i="1" kern="1200">
                                      <a:solidFill>
                                        <a:schemeClr val="dk1"/>
                                      </a:solidFill>
                                      <a:effectLst/>
                                      <a:latin typeface="Cambria Math" panose="02040503050406030204" pitchFamily="18" charset="0"/>
                                      <a:ea typeface="+mn-ea"/>
                                      <a:cs typeface="+mn-cs"/>
                                    </a:rPr>
                                  </m:ctrlPr>
                                </m:dPr>
                                <m:e>
                                  <m:r>
                                    <a:rPr lang="en-US" sz="1900" i="1" kern="1200">
                                      <a:solidFill>
                                        <a:schemeClr val="dk1"/>
                                      </a:solidFill>
                                      <a:effectLst/>
                                      <a:latin typeface="Cambria Math" panose="02040503050406030204" pitchFamily="18" charset="0"/>
                                      <a:ea typeface="+mn-ea"/>
                                      <a:cs typeface="+mn-cs"/>
                                    </a:rPr>
                                    <m:t>𝑛</m:t>
                                  </m:r>
                                </m:e>
                              </m:d>
                            </m:oMath>
                          </a14:m>
                          <a:r>
                            <a:rPr lang="en-VN" sz="1300" b="0">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d>
                                <m:dPr>
                                  <m:ctrlPr>
                                    <a:rPr lang="en-VN" sz="1900" i="1" kern="1200">
                                      <a:solidFill>
                                        <a:schemeClr val="dk1"/>
                                      </a:solidFill>
                                      <a:effectLst/>
                                      <a:latin typeface="Cambria Math" panose="02040503050406030204" pitchFamily="18" charset="0"/>
                                      <a:ea typeface="+mn-ea"/>
                                      <a:cs typeface="+mn-cs"/>
                                    </a:rPr>
                                  </m:ctrlPr>
                                </m:dPr>
                                <m:e>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en-US" sz="1900" i="1" kern="1200">
                                          <a:solidFill>
                                            <a:schemeClr val="dk1"/>
                                          </a:solidFill>
                                          <a:effectLst/>
                                          <a:latin typeface="Cambria Math" panose="02040503050406030204" pitchFamily="18" charset="0"/>
                                          <a:ea typeface="+mn-ea"/>
                                          <a:cs typeface="+mn-cs"/>
                                        </a:rPr>
                                        <m:t>2</m:t>
                                      </m:r>
                                      <m:r>
                                        <a:rPr lang="en-US" sz="1900" i="1" kern="1200">
                                          <a:solidFill>
                                            <a:schemeClr val="dk1"/>
                                          </a:solidFill>
                                          <a:effectLst/>
                                          <a:latin typeface="Cambria Math" panose="02040503050406030204" pitchFamily="18" charset="0"/>
                                          <a:ea typeface="+mn-ea"/>
                                          <a:cs typeface="+mn-cs"/>
                                        </a:rPr>
                                        <m:t>𝑛</m:t>
                                      </m:r>
                                    </m:sup>
                                  </m:sSup>
                                </m:e>
                              </m:d>
                            </m:oMath>
                          </a14:m>
                          <a:r>
                            <a:rPr lang="en-VN" sz="1300" b="0">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900" b="1" i="1" kern="1200">
                                  <a:solidFill>
                                    <a:srgbClr val="FF0000"/>
                                  </a:solidFill>
                                  <a:effectLst/>
                                  <a:latin typeface="Cambria Math" panose="02040503050406030204" pitchFamily="18" charset="0"/>
                                  <a:ea typeface="+mn-ea"/>
                                  <a:cs typeface="+mn-cs"/>
                                </a:rPr>
                                <m:t>𝓞</m:t>
                              </m:r>
                              <m:d>
                                <m:dPr>
                                  <m:ctrlPr>
                                    <a:rPr lang="en-VN" sz="1900" b="1" i="1" kern="1200">
                                      <a:solidFill>
                                        <a:srgbClr val="FF0000"/>
                                      </a:solidFill>
                                      <a:effectLst/>
                                      <a:latin typeface="Cambria Math" panose="02040503050406030204" pitchFamily="18" charset="0"/>
                                      <a:ea typeface="+mn-ea"/>
                                      <a:cs typeface="+mn-cs"/>
                                    </a:rPr>
                                  </m:ctrlPr>
                                </m:dPr>
                                <m:e>
                                  <m:r>
                                    <a:rPr lang="en-US" sz="1900" b="1" i="1" kern="1200">
                                      <a:solidFill>
                                        <a:srgbClr val="FF0000"/>
                                      </a:solidFill>
                                      <a:effectLst/>
                                      <a:latin typeface="Cambria Math" panose="02040503050406030204" pitchFamily="18" charset="0"/>
                                      <a:ea typeface="+mn-ea"/>
                                      <a:cs typeface="+mn-cs"/>
                                    </a:rPr>
                                    <m:t>𝒏</m:t>
                                  </m:r>
                                </m:e>
                              </m:d>
                            </m:oMath>
                          </a14:m>
                          <a:r>
                            <a:rPr lang="en-VN" sz="1300" b="1">
                              <a:solidFill>
                                <a:srgbClr val="FF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7499625"/>
                      </a:ext>
                    </a:extLst>
                  </a:tr>
                  <a:tr h="843135">
                    <a:tc>
                      <a:txBody>
                        <a:bodyPr/>
                        <a:lstStyle/>
                        <a:p>
                          <a:r>
                            <a:rPr lang="en-VN" sz="1300" b="1" i="0">
                              <a:solidFill>
                                <a:schemeClr val="accent1"/>
                              </a:solidFill>
                            </a:rPr>
                            <a:t>Circuit depth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m:t>
                              </m:r>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en-US" sz="1900" i="1" kern="1200">
                                      <a:solidFill>
                                        <a:schemeClr val="dk1"/>
                                      </a:solidFill>
                                      <a:effectLst/>
                                      <a:latin typeface="Cambria Math" panose="02040503050406030204" pitchFamily="18" charset="0"/>
                                      <a:ea typeface="+mn-ea"/>
                                      <a:cs typeface="+mn-cs"/>
                                    </a:rPr>
                                    <m:t>2</m:t>
                                  </m:r>
                                  <m:r>
                                    <a:rPr lang="en-US" sz="1900" i="1" kern="1200">
                                      <a:solidFill>
                                        <a:schemeClr val="dk1"/>
                                      </a:solidFill>
                                      <a:effectLst/>
                                      <a:latin typeface="Cambria Math" panose="02040503050406030204" pitchFamily="18" charset="0"/>
                                      <a:ea typeface="+mn-ea"/>
                                      <a:cs typeface="+mn-cs"/>
                                    </a:rPr>
                                    <m:t>𝑛</m:t>
                                  </m:r>
                                </m:sup>
                              </m:sSup>
                              <m:r>
                                <a:rPr lang="en-US" sz="1900" i="1" kern="1200">
                                  <a:solidFill>
                                    <a:schemeClr val="dk1"/>
                                  </a:solidFill>
                                  <a:effectLst/>
                                  <a:latin typeface="Cambria Math" panose="02040503050406030204" pitchFamily="18" charset="0"/>
                                  <a:ea typeface="+mn-ea"/>
                                  <a:cs typeface="+mn-cs"/>
                                </a:rPr>
                                <m:t>)</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m:t>
                              </m:r>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vi-VN" sz="1900" b="0" i="1" kern="1200">
                                      <a:solidFill>
                                        <a:schemeClr val="dk1"/>
                                      </a:solidFill>
                                      <a:effectLst/>
                                      <a:latin typeface="Cambria Math" panose="02040503050406030204" pitchFamily="18" charset="0"/>
                                      <a:ea typeface="+mn-ea"/>
                                      <a:cs typeface="+mn-cs"/>
                                    </a:rPr>
                                    <m:t>4</m:t>
                                  </m:r>
                                  <m:r>
                                    <a:rPr lang="en-US" sz="1900" i="1" kern="1200">
                                      <a:solidFill>
                                        <a:schemeClr val="dk1"/>
                                      </a:solidFill>
                                      <a:effectLst/>
                                      <a:latin typeface="Cambria Math" panose="02040503050406030204" pitchFamily="18" charset="0"/>
                                      <a:ea typeface="+mn-ea"/>
                                      <a:cs typeface="+mn-cs"/>
                                    </a:rPr>
                                    <m:t>𝑛</m:t>
                                  </m:r>
                                </m:sup>
                              </m:sSup>
                              <m:r>
                                <a:rPr lang="en-US" sz="1900" i="1" kern="1200">
                                  <a:solidFill>
                                    <a:schemeClr val="dk1"/>
                                  </a:solidFill>
                                  <a:effectLst/>
                                  <a:latin typeface="Cambria Math" panose="02040503050406030204" pitchFamily="18" charset="0"/>
                                  <a:ea typeface="+mn-ea"/>
                                  <a:cs typeface="+mn-cs"/>
                                </a:rPr>
                                <m:t>)</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r>
                                <a:rPr lang="en-US" sz="1900" i="1" kern="1200">
                                  <a:solidFill>
                                    <a:schemeClr val="dk1"/>
                                  </a:solidFill>
                                  <a:effectLst/>
                                  <a:latin typeface="Cambria Math" panose="02040503050406030204" pitchFamily="18" charset="0"/>
                                  <a:ea typeface="+mn-ea"/>
                                  <a:cs typeface="+mn-cs"/>
                                </a:rPr>
                                <m:t>(</m:t>
                              </m:r>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vi-VN" sz="1900" b="0" i="1" kern="1200">
                                      <a:solidFill>
                                        <a:schemeClr val="dk1"/>
                                      </a:solidFill>
                                      <a:effectLst/>
                                      <a:latin typeface="Cambria Math" panose="02040503050406030204" pitchFamily="18" charset="0"/>
                                      <a:ea typeface="+mn-ea"/>
                                      <a:cs typeface="+mn-cs"/>
                                    </a:rPr>
                                    <m:t>2</m:t>
                                  </m:r>
                                  <m:r>
                                    <a:rPr lang="en-US" sz="1900" i="1" kern="1200">
                                      <a:solidFill>
                                        <a:schemeClr val="dk1"/>
                                      </a:solidFill>
                                      <a:effectLst/>
                                      <a:latin typeface="Cambria Math" panose="02040503050406030204" pitchFamily="18" charset="0"/>
                                      <a:ea typeface="+mn-ea"/>
                                      <a:cs typeface="+mn-cs"/>
                                    </a:rPr>
                                    <m:t>𝑛</m:t>
                                  </m:r>
                                </m:sup>
                              </m:sSup>
                              <m:r>
                                <a:rPr lang="en-US" sz="1900" i="1" kern="1200">
                                  <a:solidFill>
                                    <a:schemeClr val="dk1"/>
                                  </a:solidFill>
                                  <a:effectLst/>
                                  <a:latin typeface="Cambria Math" panose="02040503050406030204" pitchFamily="18" charset="0"/>
                                  <a:ea typeface="+mn-ea"/>
                                  <a:cs typeface="+mn-cs"/>
                                </a:rPr>
                                <m:t>)</m:t>
                              </m:r>
                            </m:oMath>
                          </a14:m>
                          <a:r>
                            <a:rPr lang="en-VN" sz="1300" i="1">
                              <a:effectLst/>
                            </a:rPr>
                            <a:t> </a:t>
                          </a:r>
                          <a:endParaRPr lang="en-VN" sz="1300" b="0" i="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d>
                                <m:dPr>
                                  <m:ctrlPr>
                                    <a:rPr lang="en-VN" sz="1900" i="1" kern="1200">
                                      <a:solidFill>
                                        <a:schemeClr val="dk1"/>
                                      </a:solidFill>
                                      <a:effectLst/>
                                      <a:latin typeface="Cambria Math" panose="02040503050406030204" pitchFamily="18" charset="0"/>
                                      <a:ea typeface="+mn-ea"/>
                                      <a:cs typeface="+mn-cs"/>
                                    </a:rPr>
                                  </m:ctrlPr>
                                </m:dPr>
                                <m:e>
                                  <m:sSup>
                                    <m:sSupPr>
                                      <m:ctrlPr>
                                        <a:rPr lang="en-VN" sz="1900" i="1" kern="1200">
                                          <a:solidFill>
                                            <a:schemeClr val="dk1"/>
                                          </a:solidFill>
                                          <a:effectLst/>
                                          <a:latin typeface="Cambria Math" panose="02040503050406030204" pitchFamily="18" charset="0"/>
                                          <a:ea typeface="+mn-ea"/>
                                          <a:cs typeface="+mn-cs"/>
                                        </a:rPr>
                                      </m:ctrlPr>
                                    </m:sSupPr>
                                    <m:e>
                                      <m:r>
                                        <a:rPr lang="en-US" sz="1900" i="1" kern="1200">
                                          <a:solidFill>
                                            <a:schemeClr val="dk1"/>
                                          </a:solidFill>
                                          <a:effectLst/>
                                          <a:latin typeface="Cambria Math" panose="02040503050406030204" pitchFamily="18" charset="0"/>
                                          <a:ea typeface="+mn-ea"/>
                                          <a:cs typeface="+mn-cs"/>
                                        </a:rPr>
                                        <m:t>2</m:t>
                                      </m:r>
                                    </m:e>
                                    <m:sup>
                                      <m:r>
                                        <a:rPr lang="vi-VN" sz="1900" b="0" i="1" kern="1200">
                                          <a:solidFill>
                                            <a:schemeClr val="dk1"/>
                                          </a:solidFill>
                                          <a:effectLst/>
                                          <a:latin typeface="Cambria Math" panose="02040503050406030204" pitchFamily="18" charset="0"/>
                                          <a:ea typeface="+mn-ea"/>
                                          <a:cs typeface="+mn-cs"/>
                                        </a:rPr>
                                        <m:t>2</m:t>
                                      </m:r>
                                      <m:r>
                                        <a:rPr lang="en-US" sz="1900" i="1" kern="1200">
                                          <a:solidFill>
                                            <a:schemeClr val="dk1"/>
                                          </a:solidFill>
                                          <a:effectLst/>
                                          <a:latin typeface="Cambria Math" panose="02040503050406030204" pitchFamily="18" charset="0"/>
                                          <a:ea typeface="+mn-ea"/>
                                          <a:cs typeface="+mn-cs"/>
                                        </a:rPr>
                                        <m:t>𝑛</m:t>
                                      </m:r>
                                    </m:sup>
                                  </m:sSup>
                                </m:e>
                              </m:d>
                            </m:oMath>
                          </a14:m>
                          <a:r>
                            <a:rPr lang="en-VN" sz="1300" b="0" i="1">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900" i="1" kern="1200">
                                  <a:solidFill>
                                    <a:schemeClr val="dk1"/>
                                  </a:solidFill>
                                  <a:effectLst/>
                                  <a:latin typeface="Cambria Math" panose="02040503050406030204" pitchFamily="18" charset="0"/>
                                  <a:ea typeface="+mn-ea"/>
                                  <a:cs typeface="+mn-cs"/>
                                </a:rPr>
                                <m:t>𝒪</m:t>
                              </m:r>
                              <m:d>
                                <m:dPr>
                                  <m:ctrlPr>
                                    <a:rPr lang="en-VN" sz="1900" i="1" kern="1200">
                                      <a:solidFill>
                                        <a:schemeClr val="dk1"/>
                                      </a:solidFill>
                                      <a:effectLst/>
                                      <a:latin typeface="Cambria Math" panose="02040503050406030204" pitchFamily="18" charset="0"/>
                                      <a:ea typeface="+mn-ea"/>
                                      <a:cs typeface="+mn-cs"/>
                                    </a:rPr>
                                  </m:ctrlPr>
                                </m:dPr>
                                <m:e>
                                  <m:r>
                                    <a:rPr lang="en-VN" sz="1900" i="1" kern="1200">
                                      <a:solidFill>
                                        <a:schemeClr val="dk1"/>
                                      </a:solidFill>
                                      <a:effectLst/>
                                      <a:latin typeface="Cambria Math" panose="02040503050406030204" pitchFamily="18" charset="0"/>
                                      <a:ea typeface="+mn-ea"/>
                                      <a:cs typeface="+mn-cs"/>
                                    </a:rPr>
                                    <m:t>𝑘</m:t>
                                  </m:r>
                                </m:e>
                              </m:d>
                            </m:oMath>
                          </a14:m>
                          <a:r>
                            <a:rPr lang="en-VN" sz="1300" b="0" i="1">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600" b="1" i="1" kern="1200">
                                  <a:solidFill>
                                    <a:srgbClr val="FF0000"/>
                                  </a:solidFill>
                                  <a:effectLst/>
                                  <a:latin typeface="Cambria Math" panose="02040503050406030204" pitchFamily="18" charset="0"/>
                                  <a:ea typeface="+mn-ea"/>
                                  <a:cs typeface="+mn-cs"/>
                                </a:rPr>
                                <m:t>𝓞</m:t>
                              </m:r>
                              <m:d>
                                <m:dPr>
                                  <m:ctrlPr>
                                    <a:rPr lang="en-VN" sz="1600" b="1" i="1" kern="1200">
                                      <a:solidFill>
                                        <a:srgbClr val="FF0000"/>
                                      </a:solidFill>
                                      <a:effectLst/>
                                      <a:latin typeface="Cambria Math" panose="02040503050406030204" pitchFamily="18" charset="0"/>
                                      <a:ea typeface="+mn-ea"/>
                                      <a:cs typeface="+mn-cs"/>
                                    </a:rPr>
                                  </m:ctrlPr>
                                </m:dPr>
                                <m:e>
                                  <m:r>
                                    <a:rPr lang="en-VN" sz="1600" b="1" i="0" kern="1200">
                                      <a:solidFill>
                                        <a:srgbClr val="FF0000"/>
                                      </a:solidFill>
                                      <a:effectLst/>
                                      <a:latin typeface="Cambria Math" panose="02040503050406030204" pitchFamily="18" charset="0"/>
                                      <a:ea typeface="+mn-ea"/>
                                      <a:cs typeface="+mn-cs"/>
                                    </a:rPr>
                                    <m:t>𝐩𝐨𝐥𝐲</m:t>
                                  </m:r>
                                  <m:d>
                                    <m:dPr>
                                      <m:ctrlPr>
                                        <a:rPr lang="vi-VN" sz="1600" b="1" i="1" kern="1200">
                                          <a:solidFill>
                                            <a:srgbClr val="FF0000"/>
                                          </a:solidFill>
                                          <a:effectLst/>
                                          <a:latin typeface="Cambria Math" panose="02040503050406030204" pitchFamily="18" charset="0"/>
                                          <a:ea typeface="+mn-ea"/>
                                          <a:cs typeface="+mn-cs"/>
                                        </a:rPr>
                                      </m:ctrlPr>
                                    </m:dPr>
                                    <m:e>
                                      <m:r>
                                        <a:rPr lang="vi-VN" sz="1600" b="1" i="1" kern="1200">
                                          <a:solidFill>
                                            <a:srgbClr val="FF0000"/>
                                          </a:solidFill>
                                          <a:effectLst/>
                                          <a:latin typeface="Cambria Math" panose="02040503050406030204" pitchFamily="18" charset="0"/>
                                          <a:ea typeface="+mn-ea"/>
                                          <a:cs typeface="+mn-cs"/>
                                        </a:rPr>
                                        <m:t>𝒏</m:t>
                                      </m:r>
                                    </m:e>
                                  </m:d>
                                </m:e>
                              </m:d>
                              <m:r>
                                <a:rPr lang="vi-VN" sz="1600" b="1" i="1" kern="1200">
                                  <a:solidFill>
                                    <a:srgbClr val="FF0000"/>
                                  </a:solidFill>
                                  <a:effectLst/>
                                  <a:latin typeface="Cambria Math" panose="02040503050406030204" pitchFamily="18" charset="0"/>
                                  <a:ea typeface="+mn-ea"/>
                                  <a:cs typeface="+mn-cs"/>
                                </a:rPr>
                                <m:t>+</m:t>
                              </m:r>
                              <m:r>
                                <a:rPr lang="en-US" sz="1600" b="1" i="1" kern="1200">
                                  <a:solidFill>
                                    <a:srgbClr val="FF0000"/>
                                  </a:solidFill>
                                  <a:effectLst/>
                                  <a:latin typeface="Cambria Math" panose="02040503050406030204" pitchFamily="18" charset="0"/>
                                  <a:ea typeface="+mn-ea"/>
                                  <a:cs typeface="+mn-cs"/>
                                </a:rPr>
                                <m:t>𝓞</m:t>
                              </m:r>
                              <m:d>
                                <m:dPr>
                                  <m:ctrlPr>
                                    <a:rPr lang="en-VN" sz="1600" b="1" i="1" kern="1200">
                                      <a:solidFill>
                                        <a:srgbClr val="FF0000"/>
                                      </a:solidFill>
                                      <a:effectLst/>
                                      <a:latin typeface="Cambria Math" panose="02040503050406030204" pitchFamily="18" charset="0"/>
                                      <a:ea typeface="+mn-ea"/>
                                      <a:cs typeface="+mn-cs"/>
                                    </a:rPr>
                                  </m:ctrlPr>
                                </m:dPr>
                                <m:e>
                                  <m:r>
                                    <a:rPr lang="en-VN" sz="1600" b="1" i="0" kern="1200">
                                      <a:solidFill>
                                        <a:srgbClr val="FF0000"/>
                                      </a:solidFill>
                                      <a:effectLst/>
                                      <a:latin typeface="Cambria Math" panose="02040503050406030204" pitchFamily="18" charset="0"/>
                                      <a:ea typeface="+mn-ea"/>
                                      <a:cs typeface="+mn-cs"/>
                                    </a:rPr>
                                    <m:t>𝐩𝐨𝐥𝐲</m:t>
                                  </m:r>
                                  <m:d>
                                    <m:dPr>
                                      <m:ctrlPr>
                                        <a:rPr lang="vi-VN" sz="1600" b="1" i="1" kern="1200">
                                          <a:solidFill>
                                            <a:srgbClr val="FF0000"/>
                                          </a:solidFill>
                                          <a:effectLst/>
                                          <a:latin typeface="Cambria Math" panose="02040503050406030204" pitchFamily="18" charset="0"/>
                                          <a:ea typeface="+mn-ea"/>
                                          <a:cs typeface="+mn-cs"/>
                                        </a:rPr>
                                      </m:ctrlPr>
                                    </m:dPr>
                                    <m:e>
                                      <m:r>
                                        <a:rPr lang="vi-VN" sz="1600" b="1" i="1" kern="1200">
                                          <a:solidFill>
                                            <a:srgbClr val="FF0000"/>
                                          </a:solidFill>
                                          <a:effectLst/>
                                          <a:latin typeface="Cambria Math" panose="02040503050406030204" pitchFamily="18" charset="0"/>
                                          <a:ea typeface="+mn-ea"/>
                                          <a:cs typeface="+mn-cs"/>
                                        </a:rPr>
                                        <m:t>𝒏</m:t>
                                      </m:r>
                                    </m:e>
                                  </m:d>
                                </m:e>
                              </m:d>
                            </m:oMath>
                          </a14:m>
                          <a:r>
                            <a:rPr lang="en-VN" sz="1600" b="1">
                              <a:solidFill>
                                <a:srgbClr val="FF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2459893"/>
                      </a:ext>
                    </a:extLst>
                  </a:tr>
                </a:tbl>
              </a:graphicData>
            </a:graphic>
          </p:graphicFrame>
        </mc:Choice>
        <mc:Fallback xmlns="">
          <p:graphicFrame>
            <p:nvGraphicFramePr>
              <p:cNvPr id="5" name="Table 5">
                <a:extLst>
                  <a:ext uri="{FF2B5EF4-FFF2-40B4-BE49-F238E27FC236}">
                    <a16:creationId xmlns:a16="http://schemas.microsoft.com/office/drawing/2014/main" id="{4C3DD22D-A768-5652-F362-7E7F23F587C4}"/>
                  </a:ext>
                </a:extLst>
              </p:cNvPr>
              <p:cNvGraphicFramePr>
                <a:graphicFrameLocks noGrp="1"/>
              </p:cNvGraphicFramePr>
              <p:nvPr>
                <p:ph idx="1"/>
              </p:nvPr>
            </p:nvGraphicFramePr>
            <p:xfrm>
              <a:off x="838201" y="1415295"/>
              <a:ext cx="11116736" cy="3084128"/>
            </p:xfrm>
            <a:graphic>
              <a:graphicData uri="http://schemas.openxmlformats.org/drawingml/2006/table">
                <a:tbl>
                  <a:tblPr firstRow="1" bandRow="1">
                    <a:tableStyleId>{5C22544A-7EE6-4342-B048-85BDC9FD1C3A}</a:tableStyleId>
                  </a:tblPr>
                  <a:tblGrid>
                    <a:gridCol w="1475503">
                      <a:extLst>
                        <a:ext uri="{9D8B030D-6E8A-4147-A177-3AD203B41FA5}">
                          <a16:colId xmlns:a16="http://schemas.microsoft.com/office/drawing/2014/main" val="3837862959"/>
                        </a:ext>
                      </a:extLst>
                    </a:gridCol>
                    <a:gridCol w="1170392">
                      <a:extLst>
                        <a:ext uri="{9D8B030D-6E8A-4147-A177-3AD203B41FA5}">
                          <a16:colId xmlns:a16="http://schemas.microsoft.com/office/drawing/2014/main" val="4225924437"/>
                        </a:ext>
                      </a:extLst>
                    </a:gridCol>
                    <a:gridCol w="1417441">
                      <a:extLst>
                        <a:ext uri="{9D8B030D-6E8A-4147-A177-3AD203B41FA5}">
                          <a16:colId xmlns:a16="http://schemas.microsoft.com/office/drawing/2014/main" val="3136394921"/>
                        </a:ext>
                      </a:extLst>
                    </a:gridCol>
                    <a:gridCol w="1237041">
                      <a:extLst>
                        <a:ext uri="{9D8B030D-6E8A-4147-A177-3AD203B41FA5}">
                          <a16:colId xmlns:a16="http://schemas.microsoft.com/office/drawing/2014/main" val="75451648"/>
                        </a:ext>
                      </a:extLst>
                    </a:gridCol>
                    <a:gridCol w="1809747">
                      <a:extLst>
                        <a:ext uri="{9D8B030D-6E8A-4147-A177-3AD203B41FA5}">
                          <a16:colId xmlns:a16="http://schemas.microsoft.com/office/drawing/2014/main" val="2396834512"/>
                        </a:ext>
                      </a:extLst>
                    </a:gridCol>
                    <a:gridCol w="1374489">
                      <a:extLst>
                        <a:ext uri="{9D8B030D-6E8A-4147-A177-3AD203B41FA5}">
                          <a16:colId xmlns:a16="http://schemas.microsoft.com/office/drawing/2014/main" val="2629910099"/>
                        </a:ext>
                      </a:extLst>
                    </a:gridCol>
                    <a:gridCol w="2632123">
                      <a:extLst>
                        <a:ext uri="{9D8B030D-6E8A-4147-A177-3AD203B41FA5}">
                          <a16:colId xmlns:a16="http://schemas.microsoft.com/office/drawing/2014/main" val="2261585604"/>
                        </a:ext>
                      </a:extLst>
                    </a:gridCol>
                  </a:tblGrid>
                  <a:tr h="1539240">
                    <a:tc>
                      <a:txBody>
                        <a:bodyPr/>
                        <a:lstStyle/>
                        <a:p>
                          <a:endParaRPr lang="en-VN" sz="1300" b="1" i="0">
                            <a:solidFill>
                              <a:schemeClr val="accent1"/>
                            </a:solidFill>
                          </a:endParaRPr>
                        </a:p>
                        <a:p>
                          <a:endParaRPr lang="en-VN" sz="1300" b="1" i="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VN" sz="1900" b="0" i="0">
                              <a:solidFill>
                                <a:schemeClr val="tx1"/>
                              </a:solidFill>
                            </a:rPr>
                            <a:t>Threshold Encoding </a:t>
                          </a:r>
                          <a:r>
                            <a:rPr lang="en-VN" sz="1900" b="1" i="0">
                              <a:solidFill>
                                <a:schemeClr val="tx1"/>
                              </a:solidFill>
                            </a:rPr>
                            <a:t>- 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Flexible Representation</a:t>
                          </a:r>
                          <a:r>
                            <a:rPr lang="en-US" sz="1900" b="1" i="0">
                              <a:solidFill>
                                <a:schemeClr val="tx1"/>
                              </a:solidFill>
                            </a:rPr>
                            <a:t> - FRQI</a:t>
                          </a:r>
                          <a:endParaRPr lang="en-VN" sz="1900" b="1" i="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Novel enhanced quantum </a:t>
                          </a:r>
                          <a:r>
                            <a:rPr lang="en-US" sz="1900" b="1" i="0">
                              <a:solidFill>
                                <a:schemeClr val="tx1"/>
                              </a:solidFill>
                            </a:rPr>
                            <a:t>- NEQR </a:t>
                          </a:r>
                          <a:r>
                            <a:rPr lang="en-US" sz="1900" b="1" i="0">
                              <a:solidFill>
                                <a:srgbClr val="FF0000"/>
                              </a:solidFill>
                            </a:rPr>
                            <a:t>[1.25]</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Amplitude Encoding </a:t>
                          </a:r>
                          <a:r>
                            <a:rPr lang="en-US" sz="1900" b="1" i="0">
                              <a:solidFill>
                                <a:schemeClr val="tx1"/>
                              </a:solidFill>
                            </a:rPr>
                            <a:t>- AE </a:t>
                          </a:r>
                          <a:r>
                            <a:rPr lang="en-US" sz="1900" b="1" i="0">
                              <a:solidFill>
                                <a:srgbClr val="FF0000"/>
                              </a:solidFill>
                            </a:rPr>
                            <a:t>[1.26] </a:t>
                          </a:r>
                          <a:r>
                            <a:rPr lang="en-US" sz="1900" b="1" i="0">
                              <a:solidFill>
                                <a:schemeClr val="tx1"/>
                              </a:solidFill>
                            </a:rPr>
                            <a:t>&amp; Quantum RAM </a:t>
                          </a:r>
                          <a:r>
                            <a:rPr lang="en-US" sz="1900" b="1" i="0">
                              <a:solidFill>
                                <a:srgbClr val="FF0000"/>
                              </a:solidFill>
                            </a:rPr>
                            <a:t>[1.27]</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chemeClr val="tx1"/>
                              </a:solidFill>
                            </a:rPr>
                            <a:t>Divide – and - Conquer Encoder - </a:t>
                          </a:r>
                          <a:r>
                            <a:rPr lang="en-US" sz="1900" b="1" i="0">
                              <a:solidFill>
                                <a:schemeClr val="tx1"/>
                              </a:solidFill>
                            </a:rPr>
                            <a:t>DCE </a:t>
                          </a:r>
                          <a:r>
                            <a:rPr lang="en-US" sz="1900" b="1" i="0">
                              <a:solidFill>
                                <a:srgbClr val="FF0000"/>
                              </a:solidFill>
                            </a:rPr>
                            <a:t>[1.28]</a:t>
                          </a:r>
                          <a:endParaRPr lang="en-VN" sz="1900" b="1" i="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900" b="0" i="0">
                              <a:solidFill>
                                <a:srgbClr val="FF0000"/>
                              </a:solidFill>
                            </a:rPr>
                            <a:t>Universal Compilation – based variational quantum- </a:t>
                          </a:r>
                          <a:r>
                            <a:rPr lang="en-US" sz="1900" b="1" i="0">
                              <a:solidFill>
                                <a:srgbClr val="FF0000"/>
                              </a:solidFill>
                            </a:rPr>
                            <a:t>U</a:t>
                          </a:r>
                          <a:r>
                            <a:rPr lang="en-VN" sz="1900" b="1" i="0">
                              <a:solidFill>
                                <a:srgbClr val="FF0000"/>
                              </a:solidFill>
                            </a:rPr>
                            <a:t>C – VQA [1</a:t>
                          </a:r>
                          <a:r>
                            <a:rPr lang="en-US" sz="1900" b="1" i="0">
                              <a:solidFill>
                                <a:srgbClr val="FF0000"/>
                              </a:solidFill>
                            </a:rPr>
                            <a:t>.29</a:t>
                          </a:r>
                          <a:r>
                            <a:rPr lang="en-VN" sz="1900" b="1" i="0">
                              <a:solidFill>
                                <a:srgbClr val="FF00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4215602"/>
                      </a:ext>
                    </a:extLst>
                  </a:tr>
                  <a:tr h="701753">
                    <a:tc>
                      <a:txBody>
                        <a:bodyPr/>
                        <a:lstStyle/>
                        <a:p>
                          <a:r>
                            <a:rPr lang="en-US" sz="1300" b="1" i="0">
                              <a:solidFill>
                                <a:schemeClr val="accent1"/>
                              </a:solidFill>
                            </a:rPr>
                            <a:t>#</a:t>
                          </a:r>
                          <a:r>
                            <a:rPr lang="en-VN" sz="1300" b="1" i="0">
                              <a:solidFill>
                                <a:schemeClr val="accent1"/>
                              </a:solidFill>
                            </a:rPr>
                            <a:t>qubit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7174" t="-227273" r="-727174" b="-123636"/>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6607" t="-227273" r="-497321" b="-123636"/>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7551" t="-227273" r="-468367" b="-123636"/>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5070" t="-227273" r="-223239" b="-123636"/>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4679" t="-227273" r="-190826" b="-123636"/>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3671" t="-227273" r="-483" b="-123636"/>
                          </a:stretch>
                        </a:blipFill>
                      </a:tcPr>
                    </a:tc>
                    <a:extLst>
                      <a:ext uri="{0D108BD9-81ED-4DB2-BD59-A6C34878D82A}">
                        <a16:rowId xmlns:a16="http://schemas.microsoft.com/office/drawing/2014/main" val="1657499625"/>
                      </a:ext>
                    </a:extLst>
                  </a:tr>
                  <a:tr h="843135">
                    <a:tc>
                      <a:txBody>
                        <a:bodyPr/>
                        <a:lstStyle/>
                        <a:p>
                          <a:r>
                            <a:rPr lang="en-VN" sz="1300" b="1" i="0">
                              <a:solidFill>
                                <a:schemeClr val="accent1"/>
                              </a:solidFill>
                            </a:rPr>
                            <a:t>Circuit depth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7174" t="-268657" r="-727174" b="-1493"/>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6607" t="-268657" r="-497321" b="-1493"/>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7551" t="-268657" r="-468367" b="-1493"/>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5070" t="-268657" r="-223239" b="-1493"/>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4679" t="-268657" r="-190826" b="-1493"/>
                          </a:stretch>
                        </a:blipFill>
                      </a:tcPr>
                    </a:tc>
                    <a:tc>
                      <a:txBody>
                        <a:bodyPr/>
                        <a:lstStyle/>
                        <a:p>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3671" t="-268657" r="-483" b="-1493"/>
                          </a:stretch>
                        </a:blipFill>
                      </a:tcPr>
                    </a:tc>
                    <a:extLst>
                      <a:ext uri="{0D108BD9-81ED-4DB2-BD59-A6C34878D82A}">
                        <a16:rowId xmlns:a16="http://schemas.microsoft.com/office/drawing/2014/main" val="592459893"/>
                      </a:ext>
                    </a:extLst>
                  </a:tr>
                </a:tbl>
              </a:graphicData>
            </a:graphic>
          </p:graphicFrame>
        </mc:Fallback>
      </mc:AlternateContent>
      <p:sp>
        <p:nvSpPr>
          <p:cNvPr id="4" name="TextBox 3">
            <a:extLst>
              <a:ext uri="{FF2B5EF4-FFF2-40B4-BE49-F238E27FC236}">
                <a16:creationId xmlns:a16="http://schemas.microsoft.com/office/drawing/2014/main" id="{F759354A-10B6-3D4C-886F-919DB082D420}"/>
              </a:ext>
            </a:extLst>
          </p:cNvPr>
          <p:cNvSpPr txBox="1"/>
          <p:nvPr/>
        </p:nvSpPr>
        <p:spPr>
          <a:xfrm>
            <a:off x="717769" y="5172597"/>
            <a:ext cx="9544111" cy="1528175"/>
          </a:xfrm>
          <a:prstGeom prst="rect">
            <a:avLst/>
          </a:prstGeom>
          <a:noFill/>
        </p:spPr>
        <p:txBody>
          <a:bodyPr wrap="square" rtlCol="0">
            <a:spAutoFit/>
          </a:bodyPr>
          <a:lstStyle/>
          <a:p>
            <a:pPr algn="just"/>
            <a:r>
              <a:rPr lang="en-VN" sz="1333" b="1">
                <a:latin typeface="Calibri" panose="020F0502020204030204" pitchFamily="34" charset="0"/>
                <a:cs typeface="Calibri" panose="020F0502020204030204" pitchFamily="34" charset="0"/>
              </a:rPr>
              <a:t>[1</a:t>
            </a:r>
            <a:r>
              <a:rPr lang="en-US" sz="1333" b="1">
                <a:latin typeface="Calibri" panose="020F0502020204030204" pitchFamily="34" charset="0"/>
                <a:cs typeface="Calibri" panose="020F0502020204030204" pitchFamily="34" charset="0"/>
              </a:rPr>
              <a:t>.25</a:t>
            </a:r>
            <a:r>
              <a:rPr lang="en-VN" sz="1333" b="1">
                <a:latin typeface="Calibri" panose="020F0502020204030204" pitchFamily="34" charset="0"/>
                <a:cs typeface="Calibri" panose="020F0502020204030204" pitchFamily="34" charset="0"/>
              </a:rPr>
              <a:t>]</a:t>
            </a:r>
            <a:r>
              <a:rPr lang="en-VN" sz="1333">
                <a:latin typeface="Calibri" panose="020F0502020204030204" pitchFamily="34" charset="0"/>
                <a:cs typeface="Calibri" panose="020F0502020204030204" pitchFamily="34" charset="0"/>
              </a:rPr>
              <a:t> </a:t>
            </a:r>
            <a:r>
              <a:rPr lang="en-US" sz="1333">
                <a:latin typeface="Calibri" panose="020F0502020204030204" pitchFamily="34" charset="0"/>
                <a:cs typeface="Calibri" panose="020F0502020204030204" pitchFamily="34" charset="0"/>
              </a:rPr>
              <a:t>Zhang, Y., Lu, K., Gao, Y., &amp; Wang, M, NEQR: a novel enhanced quantum representation of digital images. Quantum information processing, 12, 2833-2860 (2013).</a:t>
            </a:r>
          </a:p>
          <a:p>
            <a:pPr algn="just"/>
            <a:r>
              <a:rPr lang="en-US" sz="1333" b="1">
                <a:latin typeface="Calibri" panose="020F0502020204030204" pitchFamily="34" charset="0"/>
                <a:cs typeface="Calibri" panose="020F0502020204030204" pitchFamily="34" charset="0"/>
              </a:rPr>
              <a:t>[1.26]</a:t>
            </a:r>
            <a:r>
              <a:rPr lang="en-US" sz="1333">
                <a:latin typeface="Calibri" panose="020F0502020204030204" pitchFamily="34" charset="0"/>
                <a:cs typeface="Calibri" panose="020F0502020204030204" pitchFamily="34" charset="0"/>
              </a:rPr>
              <a:t> M. Weigold et al, Data encoding patterns for quantum computing, in Proceedings of the 27th Conference on Pattern Languages of Programs PLoP ’20, (The Hillside Group, USA, 2022).</a:t>
            </a:r>
          </a:p>
          <a:p>
            <a:pPr algn="just"/>
            <a:r>
              <a:rPr lang="en-US" sz="1333" b="1">
                <a:latin typeface="Calibri" panose="020F0502020204030204" pitchFamily="34" charset="0"/>
                <a:cs typeface="Calibri" panose="020F0502020204030204" pitchFamily="34" charset="0"/>
              </a:rPr>
              <a:t>[1.27]</a:t>
            </a:r>
            <a:r>
              <a:rPr lang="en-US" sz="1333">
                <a:latin typeface="Calibri" panose="020F0502020204030204" pitchFamily="34" charset="0"/>
                <a:cs typeface="Calibri" panose="020F0502020204030204" pitchFamily="34" charset="0"/>
              </a:rPr>
              <a:t> V. Giovannetti et al, Quantum random access memory, Phys. Rev. Lett. 100 (Apr 2008) p. 160501.</a:t>
            </a:r>
          </a:p>
          <a:p>
            <a:pPr algn="just"/>
            <a:r>
              <a:rPr lang="en-US" sz="1333" b="1">
                <a:latin typeface="Calibri" panose="020F0502020204030204" pitchFamily="34" charset="0"/>
                <a:cs typeface="Calibri" panose="020F0502020204030204" pitchFamily="34" charset="0"/>
              </a:rPr>
              <a:t>[1.28]</a:t>
            </a:r>
            <a:r>
              <a:rPr lang="en-US" sz="1333">
                <a:latin typeface="Calibri" panose="020F0502020204030204" pitchFamily="34" charset="0"/>
                <a:cs typeface="Calibri" panose="020F0502020204030204" pitchFamily="34" charset="0"/>
              </a:rPr>
              <a:t> I. F. Araujo et al, A divide-and-conquer algorithm for quantum state preparation, Scientific Reports 11 (Mar 2021) p. 6329.</a:t>
            </a:r>
          </a:p>
          <a:p>
            <a:pPr algn="just"/>
            <a:r>
              <a:rPr lang="en-US" sz="1333" b="1">
                <a:latin typeface="Calibri" panose="020F0502020204030204" pitchFamily="34" charset="0"/>
                <a:cs typeface="Calibri" panose="020F0502020204030204" pitchFamily="34" charset="0"/>
              </a:rPr>
              <a:t>[1.29]</a:t>
            </a:r>
            <a:r>
              <a:rPr lang="en-US" sz="1333">
                <a:latin typeface="Calibri" panose="020F0502020204030204" pitchFamily="34" charset="0"/>
                <a:cs typeface="Calibri" panose="020F0502020204030204" pitchFamily="34" charset="0"/>
              </a:rPr>
              <a:t> Hai, V. T., &amp; Ho, L. B. (2023). Universal compilation for quantum state tomography. Scientific Reports, 13(1), 3750</a:t>
            </a:r>
          </a:p>
        </p:txBody>
      </p:sp>
      <p:cxnSp>
        <p:nvCxnSpPr>
          <p:cNvPr id="7" name="Straight Connector 6">
            <a:extLst>
              <a:ext uri="{FF2B5EF4-FFF2-40B4-BE49-F238E27FC236}">
                <a16:creationId xmlns:a16="http://schemas.microsoft.com/office/drawing/2014/main" id="{BCC1EF66-80A1-E11E-34E1-E785C10275EC}"/>
              </a:ext>
            </a:extLst>
          </p:cNvPr>
          <p:cNvCxnSpPr>
            <a:cxnSpLocks/>
          </p:cNvCxnSpPr>
          <p:nvPr/>
        </p:nvCxnSpPr>
        <p:spPr>
          <a:xfrm>
            <a:off x="838202" y="1415296"/>
            <a:ext cx="1456269" cy="1294041"/>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08517813-D178-7347-47AD-DF20A84E494A}"/>
              </a:ext>
            </a:extLst>
          </p:cNvPr>
          <p:cNvSpPr txBox="1"/>
          <p:nvPr/>
        </p:nvSpPr>
        <p:spPr>
          <a:xfrm>
            <a:off x="1239388" y="1380719"/>
            <a:ext cx="1136499" cy="369332"/>
          </a:xfrm>
          <a:prstGeom prst="rect">
            <a:avLst/>
          </a:prstGeom>
          <a:noFill/>
        </p:spPr>
        <p:txBody>
          <a:bodyPr wrap="square">
            <a:spAutoFit/>
          </a:bodyPr>
          <a:lstStyle/>
          <a:p>
            <a:r>
              <a:rPr lang="en-VN" b="1">
                <a:solidFill>
                  <a:schemeClr val="accent1"/>
                </a:solidFill>
              </a:rPr>
              <a:t>Encoder</a:t>
            </a:r>
            <a:endParaRPr lang="en-VN"/>
          </a:p>
        </p:txBody>
      </p:sp>
      <p:sp>
        <p:nvSpPr>
          <p:cNvPr id="12" name="TextBox 11">
            <a:extLst>
              <a:ext uri="{FF2B5EF4-FFF2-40B4-BE49-F238E27FC236}">
                <a16:creationId xmlns:a16="http://schemas.microsoft.com/office/drawing/2014/main" id="{DD3410FE-A1AF-00E6-FA61-1EF2703AF6EC}"/>
              </a:ext>
            </a:extLst>
          </p:cNvPr>
          <p:cNvSpPr txBox="1"/>
          <p:nvPr/>
        </p:nvSpPr>
        <p:spPr>
          <a:xfrm>
            <a:off x="833971" y="2277893"/>
            <a:ext cx="973667" cy="369332"/>
          </a:xfrm>
          <a:prstGeom prst="rect">
            <a:avLst/>
          </a:prstGeom>
          <a:noFill/>
        </p:spPr>
        <p:txBody>
          <a:bodyPr wrap="square">
            <a:spAutoFit/>
          </a:bodyPr>
          <a:lstStyle/>
          <a:p>
            <a:r>
              <a:rPr lang="en-VN" b="1">
                <a:solidFill>
                  <a:schemeClr val="accent1"/>
                </a:solidFill>
              </a:rPr>
              <a:t>Feature</a:t>
            </a:r>
            <a:endParaRPr lang="en-VN"/>
          </a:p>
        </p:txBody>
      </p:sp>
      <p:sp>
        <p:nvSpPr>
          <p:cNvPr id="13" name="TextBox 12">
            <a:extLst>
              <a:ext uri="{FF2B5EF4-FFF2-40B4-BE49-F238E27FC236}">
                <a16:creationId xmlns:a16="http://schemas.microsoft.com/office/drawing/2014/main" id="{0E5B2108-5C79-F46A-564B-29C8CBA60676}"/>
              </a:ext>
            </a:extLst>
          </p:cNvPr>
          <p:cNvSpPr txBox="1"/>
          <p:nvPr/>
        </p:nvSpPr>
        <p:spPr>
          <a:xfrm>
            <a:off x="717767" y="4479711"/>
            <a:ext cx="4750347" cy="369332"/>
          </a:xfrm>
          <a:prstGeom prst="rect">
            <a:avLst/>
          </a:prstGeom>
          <a:noFill/>
        </p:spPr>
        <p:txBody>
          <a:bodyPr wrap="square">
            <a:spAutoFit/>
          </a:bodyPr>
          <a:lstStyle/>
          <a:p>
            <a:r>
              <a:rPr lang="en-US"/>
              <a:t>List of e</a:t>
            </a:r>
            <a:r>
              <a:rPr lang="en-VN"/>
              <a:t>ncoders</a:t>
            </a:r>
          </a:p>
        </p:txBody>
      </p:sp>
      <p:cxnSp>
        <p:nvCxnSpPr>
          <p:cNvPr id="9" name="Straight Arrow Connector 8">
            <a:extLst>
              <a:ext uri="{FF2B5EF4-FFF2-40B4-BE49-F238E27FC236}">
                <a16:creationId xmlns:a16="http://schemas.microsoft.com/office/drawing/2014/main" id="{1824E574-80B9-73A6-B222-76CE86D3F5C4}"/>
              </a:ext>
            </a:extLst>
          </p:cNvPr>
          <p:cNvCxnSpPr>
            <a:cxnSpLocks/>
            <a:stCxn id="10" idx="0"/>
          </p:cNvCxnSpPr>
          <p:nvPr/>
        </p:nvCxnSpPr>
        <p:spPr>
          <a:xfrm flipV="1">
            <a:off x="10139423" y="4224167"/>
            <a:ext cx="0" cy="3384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313A6B3-2473-7DF3-4A1E-9FC941481069}"/>
              </a:ext>
            </a:extLst>
          </p:cNvPr>
          <p:cNvSpPr txBox="1"/>
          <p:nvPr/>
        </p:nvSpPr>
        <p:spPr>
          <a:xfrm>
            <a:off x="9348969" y="4562597"/>
            <a:ext cx="1580907" cy="369332"/>
          </a:xfrm>
          <a:prstGeom prst="rect">
            <a:avLst/>
          </a:prstGeom>
          <a:noFill/>
        </p:spPr>
        <p:txBody>
          <a:bodyPr wrap="square" rtlCol="0">
            <a:spAutoFit/>
          </a:bodyPr>
          <a:lstStyle/>
          <a:p>
            <a:r>
              <a:rPr lang="en-VN">
                <a:solidFill>
                  <a:schemeClr val="accent1"/>
                </a:solidFill>
              </a:rPr>
              <a:t>Circuit depth</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6C59DC2-CA30-322B-BBA4-6F282CA2C74D}"/>
                  </a:ext>
                </a:extLst>
              </p:cNvPr>
              <p:cNvSpPr txBox="1"/>
              <p:nvPr/>
            </p:nvSpPr>
            <p:spPr>
              <a:xfrm>
                <a:off x="10261879" y="4923465"/>
                <a:ext cx="1817972" cy="394210"/>
              </a:xfrm>
              <a:prstGeom prst="rect">
                <a:avLst/>
              </a:prstGeom>
              <a:noFill/>
            </p:spPr>
            <p:txBody>
              <a:bodyPr wrap="square" rtlCol="0">
                <a:spAutoFit/>
              </a:bodyPr>
              <a:lstStyle/>
              <a:p>
                <a:r>
                  <a:rPr lang="en-VN">
                    <a:solidFill>
                      <a:schemeClr val="accent1"/>
                    </a:solidFill>
                  </a:rPr>
                  <a:t>Resource for </a:t>
                </a:r>
                <a14:m>
                  <m:oMath xmlns:m="http://schemas.openxmlformats.org/officeDocument/2006/math">
                    <m:sSub>
                      <m:sSubPr>
                        <m:ctrlPr>
                          <a:rPr lang="vi-VN" b="1" i="1">
                            <a:solidFill>
                              <a:schemeClr val="accent1"/>
                            </a:solidFill>
                            <a:latin typeface="Cambria Math" panose="02040503050406030204" pitchFamily="18" charset="0"/>
                          </a:rPr>
                        </m:ctrlPr>
                      </m:sSubPr>
                      <m:e>
                        <m:r>
                          <a:rPr lang="vi-VN" b="1" i="1">
                            <a:solidFill>
                              <a:schemeClr val="accent1"/>
                            </a:solidFill>
                            <a:latin typeface="Cambria Math" panose="02040503050406030204" pitchFamily="18" charset="0"/>
                          </a:rPr>
                          <m:t>𝜽</m:t>
                        </m:r>
                      </m:e>
                      <m:sub>
                        <m:r>
                          <a:rPr lang="vi-VN" b="1" i="1">
                            <a:solidFill>
                              <a:schemeClr val="accent1"/>
                            </a:solidFill>
                            <a:latin typeface="Cambria Math" panose="02040503050406030204" pitchFamily="18" charset="0"/>
                          </a:rPr>
                          <m:t>𝝓</m:t>
                        </m:r>
                      </m:sub>
                    </m:sSub>
                  </m:oMath>
                </a14:m>
                <a:endParaRPr lang="en-VN" b="1">
                  <a:solidFill>
                    <a:schemeClr val="accent1"/>
                  </a:solidFill>
                </a:endParaRPr>
              </a:p>
            </p:txBody>
          </p:sp>
        </mc:Choice>
        <mc:Fallback xmlns="">
          <p:sp>
            <p:nvSpPr>
              <p:cNvPr id="17" name="TextBox 16">
                <a:extLst>
                  <a:ext uri="{FF2B5EF4-FFF2-40B4-BE49-F238E27FC236}">
                    <a16:creationId xmlns:a16="http://schemas.microsoft.com/office/drawing/2014/main" id="{06C59DC2-CA30-322B-BBA4-6F282CA2C74D}"/>
                  </a:ext>
                </a:extLst>
              </p:cNvPr>
              <p:cNvSpPr txBox="1">
                <a:spLocks noRot="1" noChangeAspect="1" noMove="1" noResize="1" noEditPoints="1" noAdjustHandles="1" noChangeArrowheads="1" noChangeShapeType="1" noTextEdit="1"/>
              </p:cNvSpPr>
              <p:nvPr/>
            </p:nvSpPr>
            <p:spPr>
              <a:xfrm>
                <a:off x="10261879" y="4923465"/>
                <a:ext cx="1817972" cy="394210"/>
              </a:xfrm>
              <a:prstGeom prst="rect">
                <a:avLst/>
              </a:prstGeom>
              <a:blipFill>
                <a:blip r:embed="rId4"/>
                <a:stretch>
                  <a:fillRect l="-2069" t="-6250" b="-18750"/>
                </a:stretch>
              </a:blipFill>
            </p:spPr>
            <p:txBody>
              <a:bodyPr/>
              <a:lstStyle/>
              <a:p>
                <a:r>
                  <a:rPr lang="en-VN">
                    <a:noFill/>
                  </a:rPr>
                  <a:t> </a:t>
                </a:r>
              </a:p>
            </p:txBody>
          </p:sp>
        </mc:Fallback>
      </mc:AlternateContent>
      <p:cxnSp>
        <p:nvCxnSpPr>
          <p:cNvPr id="20" name="Straight Arrow Connector 19">
            <a:extLst>
              <a:ext uri="{FF2B5EF4-FFF2-40B4-BE49-F238E27FC236}">
                <a16:creationId xmlns:a16="http://schemas.microsoft.com/office/drawing/2014/main" id="{A3E4CD82-687B-09CE-76E1-494EFAD45058}"/>
              </a:ext>
            </a:extLst>
          </p:cNvPr>
          <p:cNvCxnSpPr>
            <a:cxnSpLocks/>
            <a:stCxn id="17" idx="0"/>
          </p:cNvCxnSpPr>
          <p:nvPr/>
        </p:nvCxnSpPr>
        <p:spPr>
          <a:xfrm flipV="1">
            <a:off x="11170865" y="4172728"/>
            <a:ext cx="0" cy="75073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CD9E4119-165D-0E11-BD79-AC2A8D117DE0}"/>
              </a:ext>
            </a:extLst>
          </p:cNvPr>
          <p:cNvSpPr txBox="1">
            <a:spLocks/>
          </p:cNvSpPr>
          <p:nvPr/>
        </p:nvSpPr>
        <p:spPr>
          <a:xfrm>
            <a:off x="838201" y="26460"/>
            <a:ext cx="8621889" cy="1325563"/>
          </a:xfrm>
          <a:prstGeom prst="rect">
            <a:avLst/>
          </a:prstGeom>
        </p:spPr>
        <p:txBody>
          <a:bodyPr vert="horz" lIns="121920" tIns="60960" rIns="121920" bIns="6096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4400"/>
              <a:t>Encoding</a:t>
            </a:r>
            <a:br>
              <a:rPr lang="en-US" sz="4400"/>
            </a:br>
            <a:r>
              <a:rPr lang="en-US" sz="2667"/>
              <a:t>Diff encoders</a:t>
            </a:r>
            <a:endParaRPr lang="vi-VN" sz="2667"/>
          </a:p>
        </p:txBody>
      </p:sp>
      <p:sp>
        <p:nvSpPr>
          <p:cNvPr id="3" name="Slide Number Placeholder 3">
            <a:extLst>
              <a:ext uri="{FF2B5EF4-FFF2-40B4-BE49-F238E27FC236}">
                <a16:creationId xmlns:a16="http://schemas.microsoft.com/office/drawing/2014/main" id="{30017447-2F17-764B-05AD-2B5B9CE752E1}"/>
              </a:ext>
            </a:extLst>
          </p:cNvPr>
          <p:cNvSpPr>
            <a:spLocks noGrp="1"/>
          </p:cNvSpPr>
          <p:nvPr>
            <p:ph type="sldNum" sz="quarter" idx="12"/>
          </p:nvPr>
        </p:nvSpPr>
        <p:spPr>
          <a:xfrm>
            <a:off x="10684933" y="6356351"/>
            <a:ext cx="668867" cy="365125"/>
          </a:xfrm>
        </p:spPr>
        <p:txBody>
          <a:bodyPr/>
          <a:lstStyle/>
          <a:p>
            <a:fld id="{6A45828D-F580-42DE-B77E-860980F07F32}" type="slidenum">
              <a:rPr lang="vi-VN" smtClean="0"/>
              <a:t>32</a:t>
            </a:fld>
            <a:endParaRPr lang="vi-VN"/>
          </a:p>
        </p:txBody>
      </p:sp>
    </p:spTree>
    <p:extLst>
      <p:ext uri="{BB962C8B-B14F-4D97-AF65-F5344CB8AC3E}">
        <p14:creationId xmlns:p14="http://schemas.microsoft.com/office/powerpoint/2010/main" val="13018598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0AD3F-F643-CA02-7473-C671096DA7A5}"/>
              </a:ext>
            </a:extLst>
          </p:cNvPr>
          <p:cNvSpPr>
            <a:spLocks noGrp="1"/>
          </p:cNvSpPr>
          <p:nvPr>
            <p:ph type="title"/>
          </p:nvPr>
        </p:nvSpPr>
        <p:spPr/>
        <p:txBody>
          <a:bodyPr>
            <a:normAutofit/>
          </a:bodyPr>
          <a:lstStyle/>
          <a:p>
            <a:r>
              <a:rPr lang="en-US"/>
              <a:t>Encoding</a:t>
            </a:r>
            <a:br>
              <a:rPr lang="en-US"/>
            </a:br>
            <a:r>
              <a:rPr lang="en-US" sz="2667"/>
              <a:t>Time-evolution Unitary approximation</a:t>
            </a:r>
            <a:endParaRPr lang="vi-VN" sz="2667"/>
          </a:p>
        </p:txBody>
      </p:sp>
      <p:sp>
        <p:nvSpPr>
          <p:cNvPr id="3" name="Content Placeholder 2">
            <a:extLst>
              <a:ext uri="{FF2B5EF4-FFF2-40B4-BE49-F238E27FC236}">
                <a16:creationId xmlns:a16="http://schemas.microsoft.com/office/drawing/2014/main" id="{9F6ECC02-D370-FCBC-B8E9-3CE75D012D70}"/>
              </a:ext>
            </a:extLst>
          </p:cNvPr>
          <p:cNvSpPr>
            <a:spLocks noGrp="1"/>
          </p:cNvSpPr>
          <p:nvPr>
            <p:ph idx="1"/>
          </p:nvPr>
        </p:nvSpPr>
        <p:spPr>
          <a:xfrm>
            <a:off x="838200" y="1825625"/>
            <a:ext cx="10515600" cy="1325563"/>
          </a:xfrm>
        </p:spPr>
        <p:txBody>
          <a:bodyPr>
            <a:normAutofit/>
          </a:bodyPr>
          <a:lstStyle/>
          <a:p>
            <a:pPr marL="0" indent="0">
              <a:buNone/>
            </a:pPr>
            <a:r>
              <a:rPr lang="en-US">
                <a:latin typeface="__Roboto_22ceb1"/>
              </a:rPr>
              <a:t>I</a:t>
            </a:r>
            <a:r>
              <a:rPr lang="en-US" b="0" i="0">
                <a:effectLst/>
                <a:latin typeface="__Roboto_22ceb1"/>
              </a:rPr>
              <a:t>mplementing a time evolution unitary in a quantum circuit is difficult, so we use a Trotter-Suzuki decomposition to perform approximate </a:t>
            </a:r>
            <a:r>
              <a:rPr lang="en-US" i="0">
                <a:effectLst/>
                <a:latin typeface="__Roboto_22ceb1"/>
              </a:rPr>
              <a:t>time</a:t>
            </a:r>
            <a:r>
              <a:rPr lang="en-US" b="0" i="0">
                <a:effectLst/>
                <a:latin typeface="__Roboto_22ceb1"/>
              </a:rPr>
              <a:t> evolution:</a:t>
            </a:r>
          </a:p>
        </p:txBody>
      </p:sp>
      <p:sp>
        <p:nvSpPr>
          <p:cNvPr id="4" name="Slide Number Placeholder 3">
            <a:extLst>
              <a:ext uri="{FF2B5EF4-FFF2-40B4-BE49-F238E27FC236}">
                <a16:creationId xmlns:a16="http://schemas.microsoft.com/office/drawing/2014/main" id="{A434C64C-B058-7F03-17F5-00A4B922DF09}"/>
              </a:ext>
            </a:extLst>
          </p:cNvPr>
          <p:cNvSpPr>
            <a:spLocks noGrp="1"/>
          </p:cNvSpPr>
          <p:nvPr>
            <p:ph type="sldNum" sz="quarter" idx="12"/>
          </p:nvPr>
        </p:nvSpPr>
        <p:spPr/>
        <p:txBody>
          <a:bodyPr/>
          <a:lstStyle/>
          <a:p>
            <a:fld id="{6A45828D-F580-42DE-B77E-860980F07F32}" type="slidenum">
              <a:rPr lang="vi-VN" smtClean="0"/>
              <a:t>33</a:t>
            </a:fld>
            <a:endParaRPr lang="vi-V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7631599-F981-C1A5-D5AE-0A8A17DC53F2}"/>
                  </a:ext>
                </a:extLst>
              </p:cNvPr>
              <p:cNvSpPr txBox="1"/>
              <p:nvPr/>
            </p:nvSpPr>
            <p:spPr>
              <a:xfrm>
                <a:off x="1677531" y="3151189"/>
                <a:ext cx="9245030" cy="11738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𝑇</m:t>
                          </m:r>
                        </m:e>
                      </m:d>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𝒯</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exp</m:t>
                          </m:r>
                        </m:fName>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nary>
                                <m:naryPr>
                                  <m:limLoc m:val="undOvr"/>
                                  <m:ctrlPr>
                                    <a:rPr lang="en-US" sz="2400" i="1">
                                      <a:latin typeface="Cambria Math" panose="02040503050406030204" pitchFamily="18" charset="0"/>
                                      <a:ea typeface="Cambria Math" panose="02040503050406030204" pitchFamily="18" charset="0"/>
                                    </a:rPr>
                                  </m:ctrlPr>
                                </m:naryPr>
                                <m:sub>
                                  <m:r>
                                    <m:rPr>
                                      <m:brk m:alnAt="24"/>
                                    </m:rPr>
                                    <a:rPr lang="en-US" sz="2400" i="1">
                                      <a:latin typeface="Cambria Math" panose="02040503050406030204" pitchFamily="18" charset="0"/>
                                      <a:ea typeface="Cambria Math" panose="02040503050406030204" pitchFamily="18" charset="0"/>
                                    </a:rPr>
                                    <m:t>0</m:t>
                                  </m:r>
                                </m:sub>
                                <m:sup>
                                  <m:r>
                                    <a:rPr lang="en-US" sz="2400" i="1">
                                      <a:latin typeface="Cambria Math" panose="02040503050406030204" pitchFamily="18" charset="0"/>
                                      <a:ea typeface="Cambria Math" panose="02040503050406030204" pitchFamily="18" charset="0"/>
                                    </a:rPr>
                                    <m:t>𝑇</m:t>
                                  </m:r>
                                </m:sup>
                                <m:e>
                                  <m:r>
                                    <a:rPr lang="en-US" sz="2400" i="1">
                                      <a:latin typeface="Cambria Math" panose="02040503050406030204" pitchFamily="18" charset="0"/>
                                      <a:ea typeface="Cambria Math" panose="02040503050406030204" pitchFamily="18" charset="0"/>
                                    </a:rPr>
                                    <m:t>𝐻</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𝑡</m:t>
                                      </m:r>
                                    </m:e>
                                  </m:d>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𝑑𝑡</m:t>
                                  </m:r>
                                </m:e>
                              </m:nary>
                            </m:e>
                          </m:d>
                          <m:groupChr>
                            <m:groupChrPr>
                              <m:chr m:val="→"/>
                              <m:vertJc m:val="bot"/>
                              <m:ctrlPr>
                                <a:rPr lang="en-US" sz="2400" i="1">
                                  <a:latin typeface="Cambria Math" panose="02040503050406030204" pitchFamily="18" charset="0"/>
                                  <a:ea typeface="Cambria Math" panose="02040503050406030204" pitchFamily="18" charset="0"/>
                                </a:rPr>
                              </m:ctrlPr>
                            </m:groupChrPr>
                            <m:e>
                              <m:r>
                                <m:rPr>
                                  <m:brk m:alnAt="2"/>
                                </m:rPr>
                                <a:rPr lang="en-US" sz="2400" i="1">
                                  <a:latin typeface="Cambria Math" panose="02040503050406030204" pitchFamily="18" charset="0"/>
                                  <a:ea typeface="Cambria Math" panose="02040503050406030204" pitchFamily="18" charset="0"/>
                                </a:rPr>
                                <m:t>𝑑</m:t>
                              </m:r>
                              <m:r>
                                <a:rPr lang="en-US" sz="2400" i="1">
                                  <a:latin typeface="Cambria Math" panose="02040503050406030204" pitchFamily="18" charset="0"/>
                                  <a:ea typeface="Cambria Math" panose="02040503050406030204" pitchFamily="18" charset="0"/>
                                </a:rPr>
                                <m:t>𝑖𝑠𝑐𝑟𝑒𝑡𝑖𝑧𝑎𝑡𝑖𝑜𝑛</m:t>
                              </m:r>
                            </m:e>
                          </m:groupCh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𝒯</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exp</m:t>
                              </m:r>
                            </m:fName>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nary>
                                    <m:naryPr>
                                      <m:chr m:val="∑"/>
                                      <m:ctrlPr>
                                        <a:rPr lang="en-US" sz="2400" i="1">
                                          <a:latin typeface="Cambria Math" panose="02040503050406030204" pitchFamily="18" charset="0"/>
                                          <a:ea typeface="Cambria Math" panose="02040503050406030204" pitchFamily="18" charset="0"/>
                                        </a:rPr>
                                      </m:ctrlPr>
                                    </m:naryPr>
                                    <m:sub>
                                      <m:r>
                                        <m:rPr>
                                          <m:brk m:alnAt="23"/>
                                        </m:rPr>
                                        <a:rPr lang="en-US" sz="2400" i="1">
                                          <a:latin typeface="Cambria Math" panose="02040503050406030204" pitchFamily="18" charset="0"/>
                                          <a:ea typeface="Cambria Math" panose="02040503050406030204" pitchFamily="18" charset="0"/>
                                        </a:rPr>
                                        <m:t>𝑘</m:t>
                                      </m:r>
                                      <m:r>
                                        <a:rPr lang="en-US" sz="2400" i="1">
                                          <a:latin typeface="Cambria Math" panose="02040503050406030204" pitchFamily="18" charset="0"/>
                                          <a:ea typeface="Cambria Math" panose="02040503050406030204" pitchFamily="18" charset="0"/>
                                        </a:rPr>
                                        <m:t>=</m:t>
                                      </m:r>
                                      <m:r>
                                        <m:rPr>
                                          <m:brk m:alnAt="23"/>
                                        </m:rPr>
                                        <a:rPr lang="en-US" sz="2400" i="1">
                                          <a:latin typeface="Cambria Math" panose="02040503050406030204" pitchFamily="18" charset="0"/>
                                          <a:ea typeface="Cambria Math" panose="02040503050406030204" pitchFamily="18" charset="0"/>
                                        </a:rPr>
                                        <m:t>0</m:t>
                                      </m:r>
                                    </m:sub>
                                    <m:sup>
                                      <m:r>
                                        <a:rPr lang="en-US" sz="2400" i="1">
                                          <a:latin typeface="Cambria Math" panose="02040503050406030204" pitchFamily="18" charset="0"/>
                                          <a:ea typeface="Cambria Math" panose="02040503050406030204" pitchFamily="18" charset="0"/>
                                        </a:rPr>
                                        <m:t>𝑇</m:t>
                                      </m:r>
                                      <m:r>
                                        <a:rPr lang="en-US" sz="2400">
                                          <a:latin typeface="Cambria Math" panose="02040503050406030204" pitchFamily="18" charset="0"/>
                                          <a:ea typeface="Cambria Math" panose="02040503050406030204" pitchFamily="18" charset="0"/>
                                        </a:rPr>
                                        <m:t>/</m:t>
                                      </m:r>
                                      <m:r>
                                        <m:rPr>
                                          <m:sty m:val="p"/>
                                        </m:rPr>
                                        <a:rPr lang="en-US" sz="2400">
                                          <a:latin typeface="Cambria Math" panose="02040503050406030204" pitchFamily="18" charset="0"/>
                                          <a:ea typeface="Cambria Math" panose="02040503050406030204" pitchFamily="18" charset="0"/>
                                        </a:rPr>
                                        <m:t>Δ</m:t>
                                      </m:r>
                                      <m:r>
                                        <a:rPr lang="en-US" sz="2400" i="1">
                                          <a:latin typeface="Cambria Math" panose="02040503050406030204" pitchFamily="18" charset="0"/>
                                          <a:ea typeface="Cambria Math" panose="02040503050406030204" pitchFamily="18" charset="0"/>
                                        </a:rPr>
                                        <m:t>𝑡</m:t>
                                      </m:r>
                                    </m:sup>
                                    <m:e>
                                      <m:r>
                                        <a:rPr lang="en-US" sz="2400" i="1">
                                          <a:latin typeface="Cambria Math" panose="02040503050406030204" pitchFamily="18" charset="0"/>
                                          <a:ea typeface="Cambria Math" panose="02040503050406030204" pitchFamily="18" charset="0"/>
                                        </a:rPr>
                                        <m:t>𝐻</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𝑘</m:t>
                                          </m:r>
                                          <m:r>
                                            <m:rPr>
                                              <m:sty m:val="p"/>
                                            </m:rPr>
                                            <a:rPr lang="en-US" sz="2400">
                                              <a:latin typeface="Cambria Math" panose="02040503050406030204" pitchFamily="18" charset="0"/>
                                              <a:ea typeface="Cambria Math" panose="02040503050406030204" pitchFamily="18" charset="0"/>
                                            </a:rPr>
                                            <m:t>Δ</m:t>
                                          </m:r>
                                          <m:r>
                                            <a:rPr lang="en-US" sz="2400" i="1">
                                              <a:latin typeface="Cambria Math" panose="02040503050406030204" pitchFamily="18" charset="0"/>
                                              <a:ea typeface="Cambria Math" panose="02040503050406030204" pitchFamily="18" charset="0"/>
                                            </a:rPr>
                                            <m:t>𝑡</m:t>
                                          </m:r>
                                        </m:e>
                                      </m:d>
                                      <m:r>
                                        <m:rPr>
                                          <m:sty m:val="p"/>
                                        </m:rPr>
                                        <a:rPr lang="en-US" sz="2400">
                                          <a:latin typeface="Cambria Math" panose="02040503050406030204" pitchFamily="18" charset="0"/>
                                          <a:ea typeface="Cambria Math" panose="02040503050406030204" pitchFamily="18" charset="0"/>
                                        </a:rPr>
                                        <m:t>Δ</m:t>
                                      </m:r>
                                      <m:r>
                                        <a:rPr lang="en-US" sz="2400" i="1">
                                          <a:latin typeface="Cambria Math" panose="02040503050406030204" pitchFamily="18" charset="0"/>
                                          <a:ea typeface="Cambria Math" panose="02040503050406030204" pitchFamily="18" charset="0"/>
                                        </a:rPr>
                                        <m:t>𝑡</m:t>
                                      </m:r>
                                    </m:e>
                                  </m:nary>
                                </m:e>
                              </m:d>
                            </m:e>
                          </m:func>
                        </m:e>
                      </m:func>
                    </m:oMath>
                  </m:oMathPara>
                </a14:m>
                <a:endParaRPr lang="vi-VN" sz="2400"/>
              </a:p>
            </p:txBody>
          </p:sp>
        </mc:Choice>
        <mc:Fallback xmlns="">
          <p:sp>
            <p:nvSpPr>
              <p:cNvPr id="9" name="TextBox 8">
                <a:extLst>
                  <a:ext uri="{FF2B5EF4-FFF2-40B4-BE49-F238E27FC236}">
                    <a16:creationId xmlns:a16="http://schemas.microsoft.com/office/drawing/2014/main" id="{D7631599-F981-C1A5-D5AE-0A8A17DC53F2}"/>
                  </a:ext>
                </a:extLst>
              </p:cNvPr>
              <p:cNvSpPr txBox="1">
                <a:spLocks noRot="1" noChangeAspect="1" noMove="1" noResize="1" noEditPoints="1" noAdjustHandles="1" noChangeArrowheads="1" noChangeShapeType="1" noTextEdit="1"/>
              </p:cNvSpPr>
              <p:nvPr/>
            </p:nvSpPr>
            <p:spPr>
              <a:xfrm>
                <a:off x="1677531" y="3151189"/>
                <a:ext cx="9245030" cy="1173847"/>
              </a:xfrm>
              <a:prstGeom prst="rect">
                <a:avLst/>
              </a:prstGeom>
              <a:blipFill>
                <a:blip r:embed="rId2"/>
                <a:stretch>
                  <a:fillRect l="-274" t="-118280" b="-17526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9AE5C5E-1956-3CD8-7AE9-2D14DACAA682}"/>
                  </a:ext>
                </a:extLst>
              </p:cNvPr>
              <p:cNvSpPr txBox="1"/>
              <p:nvPr/>
            </p:nvSpPr>
            <p:spPr>
              <a:xfrm>
                <a:off x="2433885" y="4439417"/>
                <a:ext cx="5888150" cy="1980927"/>
              </a:xfrm>
              <a:prstGeom prst="rect">
                <a:avLst/>
              </a:prstGeom>
              <a:noFill/>
            </p:spPr>
            <p:txBody>
              <a:bodyPr wrap="none" lIns="0" tIns="0" rIns="0" bIns="0" rtlCol="0">
                <a:spAutoFit/>
              </a:bodyPr>
              <a:lstStyle/>
              <a:p>
                <a14:m>
                  <m:oMath xmlns:m="http://schemas.openxmlformats.org/officeDocument/2006/math">
                    <m:groupChr>
                      <m:groupChrPr>
                        <m:chr m:val="→"/>
                        <m:vertJc m:val="bot"/>
                        <m:ctrlPr>
                          <a:rPr lang="en-US" sz="2400" i="1">
                            <a:latin typeface="Cambria Math" panose="02040503050406030204" pitchFamily="18" charset="0"/>
                            <a:ea typeface="Cambria Math" panose="02040503050406030204" pitchFamily="18" charset="0"/>
                          </a:rPr>
                        </m:ctrlPr>
                      </m:groupChrPr>
                      <m:e>
                        <m:r>
                          <a:rPr lang="en-US" sz="2400" i="1">
                            <a:latin typeface="Cambria Math" panose="02040503050406030204" pitchFamily="18" charset="0"/>
                            <a:ea typeface="Cambria Math" panose="02040503050406030204" pitchFamily="18" charset="0"/>
                          </a:rPr>
                          <m:t>𝒯</m:t>
                        </m:r>
                      </m:e>
                    </m:groupChr>
                    <m:r>
                      <a:rPr lang="en-US" sz="2400" i="1">
                        <a:latin typeface="Cambria Math" panose="02040503050406030204" pitchFamily="18" charset="0"/>
                        <a:ea typeface="Cambria Math" panose="02040503050406030204" pitchFamily="18" charset="0"/>
                      </a:rPr>
                      <m:t> </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𝑛</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𝑑</m:t>
                            </m:r>
                          </m:sub>
                        </m:sSub>
                        <m:r>
                          <m:rPr>
                            <m:sty m:val="p"/>
                          </m:rPr>
                          <a:rPr lang="en-US" sz="2400">
                            <a:latin typeface="Cambria Math" panose="02040503050406030204" pitchFamily="18" charset="0"/>
                          </a:rPr>
                          <m:t>Δ</m:t>
                        </m:r>
                        <m:r>
                          <a:rPr lang="en-US" sz="2400" i="1">
                            <a:latin typeface="Cambria Math" panose="02040503050406030204" pitchFamily="18" charset="0"/>
                          </a:rPr>
                          <m:t>𝑡</m:t>
                        </m:r>
                      </m:sup>
                    </m:sSup>
                    <m:sSup>
                      <m:sSupPr>
                        <m:ctrlPr>
                          <a:rPr lang="en-US" sz="2400" i="1">
                            <a:latin typeface="Cambria Math" panose="02040503050406030204" pitchFamily="18" charset="0"/>
                          </a:rPr>
                        </m:ctrlPr>
                      </m:sSupPr>
                      <m:e>
                        <m:r>
                          <a:rPr lang="en-US" sz="2400" i="1">
                            <a:latin typeface="Cambria Math" panose="02040503050406030204" pitchFamily="18" charset="0"/>
                          </a:rPr>
                          <m:t>  </m:t>
                        </m:r>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𝑛</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𝑐</m:t>
                            </m:r>
                          </m:sub>
                        </m:sSub>
                        <m:r>
                          <m:rPr>
                            <m:sty m:val="p"/>
                          </m:rPr>
                          <a:rPr lang="en-US" sz="2400">
                            <a:latin typeface="Cambria Math" panose="02040503050406030204" pitchFamily="18" charset="0"/>
                          </a:rPr>
                          <m:t>Δ</m:t>
                        </m:r>
                        <m:r>
                          <a:rPr lang="en-US" sz="2400" i="1">
                            <a:latin typeface="Cambria Math" panose="02040503050406030204" pitchFamily="18" charset="0"/>
                          </a:rPr>
                          <m:t>𝑡</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𝑑</m:t>
                            </m:r>
                          </m:sub>
                        </m:sSub>
                        <m:r>
                          <m:rPr>
                            <m:sty m:val="p"/>
                          </m:rPr>
                          <a:rPr lang="en-US" sz="2400">
                            <a:latin typeface="Cambria Math" panose="02040503050406030204" pitchFamily="18" charset="0"/>
                          </a:rPr>
                          <m:t>Δ</m:t>
                        </m:r>
                        <m:r>
                          <a:rPr lang="en-US" sz="2400" i="1">
                            <a:latin typeface="Cambria Math" panose="02040503050406030204" pitchFamily="18" charset="0"/>
                          </a:rPr>
                          <m:t>𝑡</m:t>
                        </m:r>
                      </m:sup>
                    </m:sSup>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𝑐</m:t>
                            </m:r>
                          </m:sub>
                        </m:sSub>
                        <m:r>
                          <m:rPr>
                            <m:sty m:val="p"/>
                          </m:rPr>
                          <a:rPr lang="en-US" sz="2400">
                            <a:latin typeface="Cambria Math" panose="02040503050406030204" pitchFamily="18" charset="0"/>
                          </a:rPr>
                          <m:t>Δ</m:t>
                        </m:r>
                        <m:r>
                          <a:rPr lang="en-US" sz="2400" i="1">
                            <a:latin typeface="Cambria Math" panose="02040503050406030204" pitchFamily="18" charset="0"/>
                          </a:rPr>
                          <m:t>𝑡</m:t>
                        </m:r>
                      </m:sup>
                    </m:sSup>
                  </m:oMath>
                </a14:m>
                <a:r>
                  <a:rPr lang="en-US" sz="2400" i="1">
                    <a:latin typeface="Cambria Math" panose="02040503050406030204" pitchFamily="18" charset="0"/>
                  </a:rPr>
                  <a:t> </a:t>
                </a:r>
              </a:p>
              <a:p>
                <a:endParaRPr lang="en-US" sz="2400" i="1">
                  <a:latin typeface="Cambria Math" panose="02040503050406030204" pitchFamily="18" charset="0"/>
                </a:endParaRPr>
              </a:p>
              <a:p>
                <a:endParaRPr lang="en-US" sz="2400" i="1">
                  <a:latin typeface="Cambria Math" panose="02040503050406030204" pitchFamily="18" charset="0"/>
                </a:endParaRPr>
              </a:p>
              <a:p>
                <a:endParaRPr lang="en-US" sz="2400" i="1">
                  <a:latin typeface="Cambria Math" panose="02040503050406030204" pitchFamily="18" charset="0"/>
                </a:endParaRPr>
              </a:p>
              <a:p>
                <a14:m>
                  <m:oMath xmlns:m="http://schemas.openxmlformats.org/officeDocument/2006/math">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𝑑</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𝑛</m:t>
                            </m:r>
                          </m:sub>
                        </m:sSub>
                      </m:e>
                    </m:d>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𝐶</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𝑑</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1</m:t>
                            </m:r>
                          </m:sub>
                        </m:sSub>
                      </m:e>
                    </m:d>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𝐶</m:t>
                        </m:r>
                      </m:sub>
                    </m:sSub>
                  </m:oMath>
                </a14:m>
                <a:r>
                  <a:rPr lang="en-US" sz="2400"/>
                  <a:t> </a:t>
                </a:r>
                <a:endParaRPr lang="vi-VN" sz="2400"/>
              </a:p>
            </p:txBody>
          </p:sp>
        </mc:Choice>
        <mc:Fallback xmlns="">
          <p:sp>
            <p:nvSpPr>
              <p:cNvPr id="12" name="TextBox 11">
                <a:extLst>
                  <a:ext uri="{FF2B5EF4-FFF2-40B4-BE49-F238E27FC236}">
                    <a16:creationId xmlns:a16="http://schemas.microsoft.com/office/drawing/2014/main" id="{A9AE5C5E-1956-3CD8-7AE9-2D14DACAA682}"/>
                  </a:ext>
                </a:extLst>
              </p:cNvPr>
              <p:cNvSpPr txBox="1">
                <a:spLocks noRot="1" noChangeAspect="1" noMove="1" noResize="1" noEditPoints="1" noAdjustHandles="1" noChangeArrowheads="1" noChangeShapeType="1" noTextEdit="1"/>
              </p:cNvSpPr>
              <p:nvPr/>
            </p:nvSpPr>
            <p:spPr>
              <a:xfrm>
                <a:off x="2433885" y="4439417"/>
                <a:ext cx="5888150" cy="1980927"/>
              </a:xfrm>
              <a:prstGeom prst="rect">
                <a:avLst/>
              </a:prstGeom>
              <a:blipFill>
                <a:blip r:embed="rId3"/>
                <a:stretch>
                  <a:fillRect l="-4301" t="-2548" b="-5096"/>
                </a:stretch>
              </a:blipFill>
            </p:spPr>
            <p:txBody>
              <a:bodyPr/>
              <a:lstStyle/>
              <a:p>
                <a:r>
                  <a:rPr lang="en-VN">
                    <a:noFill/>
                  </a:rPr>
                  <a:t> </a:t>
                </a:r>
              </a:p>
            </p:txBody>
          </p:sp>
        </mc:Fallback>
      </mc:AlternateContent>
      <p:sp>
        <p:nvSpPr>
          <p:cNvPr id="13" name="TextBox 12">
            <a:extLst>
              <a:ext uri="{FF2B5EF4-FFF2-40B4-BE49-F238E27FC236}">
                <a16:creationId xmlns:a16="http://schemas.microsoft.com/office/drawing/2014/main" id="{35F25E94-C0F6-6148-547A-E30F831AE54F}"/>
              </a:ext>
            </a:extLst>
          </p:cNvPr>
          <p:cNvSpPr txBox="1"/>
          <p:nvPr/>
        </p:nvSpPr>
        <p:spPr>
          <a:xfrm>
            <a:off x="2705281" y="5465910"/>
            <a:ext cx="2838640" cy="338554"/>
          </a:xfrm>
          <a:prstGeom prst="rect">
            <a:avLst/>
          </a:prstGeom>
          <a:noFill/>
        </p:spPr>
        <p:txBody>
          <a:bodyPr wrap="square" rtlCol="0">
            <a:spAutoFit/>
          </a:bodyPr>
          <a:lstStyle/>
          <a:p>
            <a:r>
              <a:rPr lang="en-US" sz="1600">
                <a:solidFill>
                  <a:srgbClr val="FF0000"/>
                </a:solidFill>
              </a:rPr>
              <a:t>Implemented by rotation gates</a:t>
            </a:r>
            <a:endParaRPr lang="vi-VN" sz="1600" b="1">
              <a:solidFill>
                <a:srgbClr val="FF0000"/>
              </a:solidFill>
            </a:endParaRPr>
          </a:p>
        </p:txBody>
      </p:sp>
      <p:cxnSp>
        <p:nvCxnSpPr>
          <p:cNvPr id="14" name="Straight Arrow Connector 13">
            <a:extLst>
              <a:ext uri="{FF2B5EF4-FFF2-40B4-BE49-F238E27FC236}">
                <a16:creationId xmlns:a16="http://schemas.microsoft.com/office/drawing/2014/main" id="{01DF91D0-8F56-0C10-1753-A5F6959B1754}"/>
              </a:ext>
            </a:extLst>
          </p:cNvPr>
          <p:cNvCxnSpPr>
            <a:cxnSpLocks/>
            <a:stCxn id="19" idx="2"/>
            <a:endCxn id="13" idx="0"/>
          </p:cNvCxnSpPr>
          <p:nvPr/>
        </p:nvCxnSpPr>
        <p:spPr>
          <a:xfrm flipH="1">
            <a:off x="4124601" y="4949128"/>
            <a:ext cx="684466" cy="5167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B77270-E06C-10F1-465A-71CD669C3C17}"/>
              </a:ext>
            </a:extLst>
          </p:cNvPr>
          <p:cNvCxnSpPr>
            <a:cxnSpLocks/>
            <a:stCxn id="18" idx="2"/>
            <a:endCxn id="13" idx="0"/>
          </p:cNvCxnSpPr>
          <p:nvPr/>
        </p:nvCxnSpPr>
        <p:spPr>
          <a:xfrm>
            <a:off x="3406041" y="4949128"/>
            <a:ext cx="718560" cy="5167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71B23A4-4B43-86F1-66D8-744F837E6859}"/>
              </a:ext>
            </a:extLst>
          </p:cNvPr>
          <p:cNvSpPr/>
          <p:nvPr/>
        </p:nvSpPr>
        <p:spPr>
          <a:xfrm>
            <a:off x="2746438" y="4536299"/>
            <a:ext cx="1319205"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9" name="Rectangle 18">
            <a:extLst>
              <a:ext uri="{FF2B5EF4-FFF2-40B4-BE49-F238E27FC236}">
                <a16:creationId xmlns:a16="http://schemas.microsoft.com/office/drawing/2014/main" id="{B723DC12-EA3D-4A21-439F-11040C3D8E06}"/>
              </a:ext>
            </a:extLst>
          </p:cNvPr>
          <p:cNvSpPr/>
          <p:nvPr/>
        </p:nvSpPr>
        <p:spPr>
          <a:xfrm>
            <a:off x="4171244" y="4536299"/>
            <a:ext cx="1275645"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5" name="Rectangle 4">
            <a:extLst>
              <a:ext uri="{FF2B5EF4-FFF2-40B4-BE49-F238E27FC236}">
                <a16:creationId xmlns:a16="http://schemas.microsoft.com/office/drawing/2014/main" id="{BC5A82BE-E13D-2DD1-EFF8-DFDBAD7E2FBC}"/>
              </a:ext>
            </a:extLst>
          </p:cNvPr>
          <p:cNvSpPr/>
          <p:nvPr/>
        </p:nvSpPr>
        <p:spPr>
          <a:xfrm>
            <a:off x="4297684" y="3547612"/>
            <a:ext cx="787961"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6" name="TextBox 5">
            <a:extLst>
              <a:ext uri="{FF2B5EF4-FFF2-40B4-BE49-F238E27FC236}">
                <a16:creationId xmlns:a16="http://schemas.microsoft.com/office/drawing/2014/main" id="{7EE43FB7-CBA5-5A64-F9D2-0DD05B9A1C64}"/>
              </a:ext>
            </a:extLst>
          </p:cNvPr>
          <p:cNvSpPr txBox="1"/>
          <p:nvPr/>
        </p:nvSpPr>
        <p:spPr>
          <a:xfrm>
            <a:off x="4329904" y="3210515"/>
            <a:ext cx="942621" cy="338554"/>
          </a:xfrm>
          <a:prstGeom prst="rect">
            <a:avLst/>
          </a:prstGeom>
          <a:noFill/>
        </p:spPr>
        <p:txBody>
          <a:bodyPr wrap="square" rtlCol="0">
            <a:spAutoFit/>
          </a:bodyPr>
          <a:lstStyle/>
          <a:p>
            <a:r>
              <a:rPr lang="en-US" sz="1600">
                <a:solidFill>
                  <a:srgbClr val="FF0000"/>
                </a:solidFill>
              </a:rPr>
              <a:t>Target</a:t>
            </a:r>
            <a:endParaRPr lang="vi-VN" sz="1600">
              <a:solidFill>
                <a:srgbClr val="FF0000"/>
              </a:solidFill>
            </a:endParaRPr>
          </a:p>
        </p:txBody>
      </p:sp>
      <p:sp>
        <p:nvSpPr>
          <p:cNvPr id="20" name="Rectangle 19">
            <a:extLst>
              <a:ext uri="{FF2B5EF4-FFF2-40B4-BE49-F238E27FC236}">
                <a16:creationId xmlns:a16="http://schemas.microsoft.com/office/drawing/2014/main" id="{F63CFE52-8DF7-081C-F486-5BFD7720C232}"/>
              </a:ext>
            </a:extLst>
          </p:cNvPr>
          <p:cNvSpPr/>
          <p:nvPr/>
        </p:nvSpPr>
        <p:spPr>
          <a:xfrm>
            <a:off x="2746438" y="3531686"/>
            <a:ext cx="273340"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1" name="TextBox 20">
            <a:extLst>
              <a:ext uri="{FF2B5EF4-FFF2-40B4-BE49-F238E27FC236}">
                <a16:creationId xmlns:a16="http://schemas.microsoft.com/office/drawing/2014/main" id="{F75FFC19-F402-23EF-78DA-2E37CE8D56AA}"/>
              </a:ext>
            </a:extLst>
          </p:cNvPr>
          <p:cNvSpPr txBox="1"/>
          <p:nvPr/>
        </p:nvSpPr>
        <p:spPr>
          <a:xfrm>
            <a:off x="1428046" y="3193511"/>
            <a:ext cx="2330028" cy="338554"/>
          </a:xfrm>
          <a:prstGeom prst="rect">
            <a:avLst/>
          </a:prstGeom>
          <a:noFill/>
        </p:spPr>
        <p:txBody>
          <a:bodyPr wrap="square" rtlCol="0">
            <a:spAutoFit/>
          </a:bodyPr>
          <a:lstStyle/>
          <a:p>
            <a:r>
              <a:rPr lang="en-US" sz="1600">
                <a:solidFill>
                  <a:srgbClr val="FF0000"/>
                </a:solidFill>
              </a:rPr>
              <a:t>Time-ordering operator</a:t>
            </a:r>
            <a:endParaRPr lang="vi-VN" sz="1600">
              <a:solidFill>
                <a:srgbClr val="FF0000"/>
              </a:solidFill>
            </a:endParaRPr>
          </a:p>
        </p:txBody>
      </p:sp>
      <p:sp>
        <p:nvSpPr>
          <p:cNvPr id="22" name="Rectangle 21">
            <a:extLst>
              <a:ext uri="{FF2B5EF4-FFF2-40B4-BE49-F238E27FC236}">
                <a16:creationId xmlns:a16="http://schemas.microsoft.com/office/drawing/2014/main" id="{8EE39407-BB82-46CF-ADBD-9B300575B28B}"/>
              </a:ext>
            </a:extLst>
          </p:cNvPr>
          <p:cNvSpPr/>
          <p:nvPr/>
        </p:nvSpPr>
        <p:spPr>
          <a:xfrm>
            <a:off x="2705282" y="6043164"/>
            <a:ext cx="2958596" cy="412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25" name="TextBox 24">
            <a:extLst>
              <a:ext uri="{FF2B5EF4-FFF2-40B4-BE49-F238E27FC236}">
                <a16:creationId xmlns:a16="http://schemas.microsoft.com/office/drawing/2014/main" id="{3772A2AC-D406-F5C2-ED76-4E7839747524}"/>
              </a:ext>
            </a:extLst>
          </p:cNvPr>
          <p:cNvSpPr txBox="1"/>
          <p:nvPr/>
        </p:nvSpPr>
        <p:spPr>
          <a:xfrm>
            <a:off x="6781340" y="6043164"/>
            <a:ext cx="2075361" cy="338554"/>
          </a:xfrm>
          <a:prstGeom prst="rect">
            <a:avLst/>
          </a:prstGeom>
          <a:noFill/>
        </p:spPr>
        <p:txBody>
          <a:bodyPr wrap="square" rtlCol="0">
            <a:spAutoFit/>
          </a:bodyPr>
          <a:lstStyle/>
          <a:p>
            <a:r>
              <a:rPr lang="en-US" sz="1600">
                <a:solidFill>
                  <a:srgbClr val="FF0000"/>
                </a:solidFill>
              </a:rPr>
              <a:t>Quantum circuit</a:t>
            </a:r>
            <a:endParaRPr lang="vi-VN" sz="1600" b="1">
              <a:solidFill>
                <a:srgbClr val="FF0000"/>
              </a:solidFill>
            </a:endParaRPr>
          </a:p>
        </p:txBody>
      </p:sp>
      <p:cxnSp>
        <p:nvCxnSpPr>
          <p:cNvPr id="26" name="Straight Arrow Connector 25">
            <a:extLst>
              <a:ext uri="{FF2B5EF4-FFF2-40B4-BE49-F238E27FC236}">
                <a16:creationId xmlns:a16="http://schemas.microsoft.com/office/drawing/2014/main" id="{5CEC121F-4322-8BBD-12AF-4A6068E4BB8A}"/>
              </a:ext>
            </a:extLst>
          </p:cNvPr>
          <p:cNvCxnSpPr>
            <a:cxnSpLocks/>
            <a:stCxn id="22" idx="3"/>
            <a:endCxn id="25" idx="1"/>
          </p:cNvCxnSpPr>
          <p:nvPr/>
        </p:nvCxnSpPr>
        <p:spPr>
          <a:xfrm flipV="1">
            <a:off x="5663878" y="6212441"/>
            <a:ext cx="1117462" cy="371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8434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A43FAA78-0F04-82AC-96E3-455212BA39F9}"/>
              </a:ext>
            </a:extLst>
          </p:cNvPr>
          <p:cNvCxnSpPr>
            <a:cxnSpLocks/>
          </p:cNvCxnSpPr>
          <p:nvPr/>
        </p:nvCxnSpPr>
        <p:spPr>
          <a:xfrm>
            <a:off x="8830181" y="3897921"/>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2C95B56-8785-ECC6-925C-DB23F37917CE}"/>
              </a:ext>
            </a:extLst>
          </p:cNvPr>
          <p:cNvCxnSpPr>
            <a:cxnSpLocks/>
          </p:cNvCxnSpPr>
          <p:nvPr/>
        </p:nvCxnSpPr>
        <p:spPr>
          <a:xfrm>
            <a:off x="8828025" y="3427764"/>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38667E-2B0E-BC01-15AB-A2475F738E50}"/>
              </a:ext>
            </a:extLst>
          </p:cNvPr>
          <p:cNvCxnSpPr>
            <a:cxnSpLocks/>
          </p:cNvCxnSpPr>
          <p:nvPr/>
        </p:nvCxnSpPr>
        <p:spPr>
          <a:xfrm>
            <a:off x="1390512" y="4820460"/>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540AD3F-F643-CA02-7473-C671096DA7A5}"/>
              </a:ext>
            </a:extLst>
          </p:cNvPr>
          <p:cNvSpPr>
            <a:spLocks noGrp="1"/>
          </p:cNvSpPr>
          <p:nvPr>
            <p:ph type="title"/>
          </p:nvPr>
        </p:nvSpPr>
        <p:spPr/>
        <p:txBody>
          <a:bodyPr>
            <a:normAutofit/>
          </a:bodyPr>
          <a:lstStyle/>
          <a:p>
            <a:r>
              <a:rPr lang="en-US"/>
              <a:t>Encoding</a:t>
            </a:r>
            <a:br>
              <a:rPr lang="en-US"/>
            </a:br>
            <a:r>
              <a:rPr lang="en-US" sz="2667"/>
              <a:t>Time-evolution Unitary approximation*</a:t>
            </a:r>
            <a:endParaRPr lang="vi-VN" sz="2667"/>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6ECC02-D370-FCBC-B8E9-3CE75D012D70}"/>
                  </a:ext>
                </a:extLst>
              </p:cNvPr>
              <p:cNvSpPr>
                <a:spLocks noGrp="1"/>
              </p:cNvSpPr>
              <p:nvPr>
                <p:ph idx="1"/>
              </p:nvPr>
            </p:nvSpPr>
            <p:spPr>
              <a:xfrm>
                <a:off x="838200" y="1825625"/>
                <a:ext cx="11353800" cy="1325563"/>
              </a:xfrm>
            </p:spPr>
            <p:txBody>
              <a:bodyPr>
                <a:normAutofit/>
              </a:bodyPr>
              <a:lstStyle/>
              <a:p>
                <a:pPr marL="0" indent="0">
                  <a:buNone/>
                </a:pPr>
                <a:r>
                  <a:rPr lang="en-US" sz="2667">
                    <a:latin typeface="__Roboto_22ceb1"/>
                  </a:rPr>
                  <a:t>We already know that:</a:t>
                </a:r>
              </a:p>
              <a:p>
                <a:pPr marL="0" indent="0">
                  <a:buNone/>
                </a:pPr>
                <a14:m>
                  <m:oMath xmlns:m="http://schemas.openxmlformats.org/officeDocument/2006/math">
                    <m:r>
                      <a:rPr lang="en-US" sz="2667" i="1">
                        <a:latin typeface="Cambria Math" panose="02040503050406030204" pitchFamily="18" charset="0"/>
                        <a:ea typeface="Cambria Math" panose="02040503050406030204" pitchFamily="18" charset="0"/>
                      </a:rPr>
                      <m:t>      </m:t>
                    </m:r>
                    <m:r>
                      <a:rPr lang="en-US" sz="2667" i="1">
                        <a:latin typeface="Cambria Math" panose="02040503050406030204" pitchFamily="18" charset="0"/>
                        <a:ea typeface="Cambria Math" panose="02040503050406030204" pitchFamily="18" charset="0"/>
                      </a:rPr>
                      <m:t>𝐻</m:t>
                    </m:r>
                    <m:r>
                      <a:rPr lang="en-US" sz="2667" i="1">
                        <a:latin typeface="Cambria Math" panose="02040503050406030204" pitchFamily="18" charset="0"/>
                        <a:ea typeface="Cambria Math" panose="02040503050406030204" pitchFamily="18" charset="0"/>
                      </a:rPr>
                      <m:t>=</m:t>
                    </m:r>
                    <m:nary>
                      <m:naryPr>
                        <m:chr m:val="∑"/>
                        <m:subHide m:val="on"/>
                        <m:supHide m:val="on"/>
                        <m:ctrlPr>
                          <a:rPr lang="en-US" sz="2667" i="1">
                            <a:latin typeface="Cambria Math" panose="02040503050406030204" pitchFamily="18" charset="0"/>
                            <a:ea typeface="Cambria Math" panose="02040503050406030204" pitchFamily="18" charset="0"/>
                          </a:rPr>
                        </m:ctrlPr>
                      </m:naryPr>
                      <m:sub/>
                      <m:sup/>
                      <m:e>
                        <m:sSub>
                          <m:sSubPr>
                            <m:ctrlPr>
                              <a:rPr lang="en-US" sz="2667" i="1">
                                <a:latin typeface="Cambria Math" panose="02040503050406030204" pitchFamily="18" charset="0"/>
                                <a:ea typeface="Cambria Math" panose="02040503050406030204" pitchFamily="18" charset="0"/>
                              </a:rPr>
                            </m:ctrlPr>
                          </m:sSubPr>
                          <m:e>
                            <m:r>
                              <a:rPr lang="en-US" sz="2667" i="1">
                                <a:latin typeface="Cambria Math" panose="02040503050406030204" pitchFamily="18" charset="0"/>
                                <a:ea typeface="Cambria Math" panose="02040503050406030204" pitchFamily="18" charset="0"/>
                              </a:rPr>
                              <m:t>h</m:t>
                            </m:r>
                          </m:e>
                          <m:sub>
                            <m:r>
                              <a:rPr lang="en-US" sz="2667" i="1">
                                <a:latin typeface="Cambria Math" panose="02040503050406030204" pitchFamily="18" charset="0"/>
                                <a:ea typeface="Cambria Math" panose="02040503050406030204" pitchFamily="18" charset="0"/>
                              </a:rPr>
                              <m:t>𝑗</m:t>
                            </m:r>
                          </m:sub>
                        </m:sSub>
                        <m:sSub>
                          <m:sSubPr>
                            <m:ctrlPr>
                              <a:rPr lang="en-US" sz="2667" i="1">
                                <a:latin typeface="Cambria Math" panose="02040503050406030204" pitchFamily="18" charset="0"/>
                                <a:ea typeface="Cambria Math" panose="02040503050406030204" pitchFamily="18" charset="0"/>
                              </a:rPr>
                            </m:ctrlPr>
                          </m:sSubPr>
                          <m:e>
                            <m:r>
                              <a:rPr lang="en-US" sz="2667" i="1">
                                <a:latin typeface="Cambria Math" panose="02040503050406030204" pitchFamily="18" charset="0"/>
                                <a:ea typeface="Cambria Math" panose="02040503050406030204" pitchFamily="18" charset="0"/>
                              </a:rPr>
                              <m:t>𝑃</m:t>
                            </m:r>
                          </m:e>
                          <m:sub>
                            <m:r>
                              <a:rPr lang="en-US" sz="2667" i="1">
                                <a:latin typeface="Cambria Math" panose="02040503050406030204" pitchFamily="18" charset="0"/>
                                <a:ea typeface="Cambria Math" panose="02040503050406030204" pitchFamily="18" charset="0"/>
                              </a:rPr>
                              <m:t>𝑗</m:t>
                            </m:r>
                          </m:sub>
                        </m:sSub>
                      </m:e>
                    </m:nary>
                    <m:r>
                      <a:rPr lang="en-US" sz="2667" i="1">
                        <a:latin typeface="Cambria Math" panose="02040503050406030204" pitchFamily="18" charset="0"/>
                        <a:ea typeface="Cambria Math" panose="02040503050406030204" pitchFamily="18" charset="0"/>
                      </a:rPr>
                      <m:t> </m:t>
                    </m:r>
                  </m:oMath>
                </a14:m>
                <a:r>
                  <a:rPr lang="en-US" sz="2667">
                    <a:latin typeface="Calibri (Body)"/>
                    <a:ea typeface="Cambria Math" panose="02040503050406030204" pitchFamily="18" charset="0"/>
                  </a:rPr>
                  <a:t>with coefficient </a:t>
                </a:r>
                <a14:m>
                  <m:oMath xmlns:m="http://schemas.openxmlformats.org/officeDocument/2006/math">
                    <m:sSub>
                      <m:sSubPr>
                        <m:ctrlPr>
                          <a:rPr lang="en-US" sz="2667" i="1">
                            <a:latin typeface="Cambria Math" panose="02040503050406030204" pitchFamily="18" charset="0"/>
                            <a:ea typeface="Cambria Math" panose="02040503050406030204" pitchFamily="18" charset="0"/>
                          </a:rPr>
                        </m:ctrlPr>
                      </m:sSubPr>
                      <m:e>
                        <m:r>
                          <a:rPr lang="en-US" sz="2667" i="1">
                            <a:latin typeface="Cambria Math" panose="02040503050406030204" pitchFamily="18" charset="0"/>
                            <a:ea typeface="Cambria Math" panose="02040503050406030204" pitchFamily="18" charset="0"/>
                          </a:rPr>
                          <m:t>h</m:t>
                        </m:r>
                      </m:e>
                      <m:sub>
                        <m:r>
                          <a:rPr lang="en-US" sz="2667" i="1">
                            <a:latin typeface="Cambria Math" panose="02040503050406030204" pitchFamily="18" charset="0"/>
                            <a:ea typeface="Cambria Math" panose="02040503050406030204" pitchFamily="18" charset="0"/>
                          </a:rPr>
                          <m:t>𝑗</m:t>
                        </m:r>
                      </m:sub>
                    </m:sSub>
                    <m:r>
                      <a:rPr lang="en-US" sz="2667" i="1">
                        <a:latin typeface="Cambria Math" panose="02040503050406030204" pitchFamily="18" charset="0"/>
                        <a:ea typeface="Cambria Math" panose="02040503050406030204" pitchFamily="18" charset="0"/>
                      </a:rPr>
                      <m:t>∈</m:t>
                    </m:r>
                    <m:r>
                      <a:rPr lang="en-US" sz="2667" i="1">
                        <a:latin typeface="Cambria Math" panose="02040503050406030204" pitchFamily="18" charset="0"/>
                        <a:ea typeface="Cambria Math" panose="02040503050406030204" pitchFamily="18" charset="0"/>
                      </a:rPr>
                      <m:t>ℂ</m:t>
                    </m:r>
                    <m:r>
                      <a:rPr lang="en-US" sz="2667" i="1">
                        <a:latin typeface="Cambria Math" panose="02040503050406030204" pitchFamily="18" charset="0"/>
                        <a:ea typeface="Cambria Math" panose="02040503050406030204" pitchFamily="18" charset="0"/>
                      </a:rPr>
                      <m:t> </m:t>
                    </m:r>
                  </m:oMath>
                </a14:m>
                <a:r>
                  <a:rPr lang="en-US" sz="2667">
                    <a:latin typeface="Calibri (Body)"/>
                    <a:ea typeface="Cambria Math" panose="02040503050406030204" pitchFamily="18" charset="0"/>
                  </a:rPr>
                  <a:t>and</a:t>
                </a:r>
                <a14:m>
                  <m:oMath xmlns:m="http://schemas.openxmlformats.org/officeDocument/2006/math">
                    <m:r>
                      <a:rPr lang="en-US" sz="2667" i="1">
                        <a:latin typeface="Cambria Math" panose="02040503050406030204" pitchFamily="18" charset="0"/>
                        <a:ea typeface="Cambria Math" panose="02040503050406030204" pitchFamily="18" charset="0"/>
                      </a:rPr>
                      <m:t> </m:t>
                    </m:r>
                    <m:sSub>
                      <m:sSubPr>
                        <m:ctrlPr>
                          <a:rPr lang="en-US" sz="2667" i="1">
                            <a:latin typeface="Cambria Math" panose="02040503050406030204" pitchFamily="18" charset="0"/>
                            <a:ea typeface="Cambria Math" panose="02040503050406030204" pitchFamily="18" charset="0"/>
                          </a:rPr>
                        </m:ctrlPr>
                      </m:sSubPr>
                      <m:e>
                        <m:r>
                          <a:rPr lang="en-US" sz="2667" i="1">
                            <a:latin typeface="Cambria Math" panose="02040503050406030204" pitchFamily="18" charset="0"/>
                            <a:ea typeface="Cambria Math" panose="02040503050406030204" pitchFamily="18" charset="0"/>
                          </a:rPr>
                          <m:t>𝑃</m:t>
                        </m:r>
                      </m:e>
                      <m:sub>
                        <m:r>
                          <a:rPr lang="en-US" sz="2667" i="1">
                            <a:latin typeface="Cambria Math" panose="02040503050406030204" pitchFamily="18" charset="0"/>
                            <a:ea typeface="Cambria Math" panose="02040503050406030204" pitchFamily="18" charset="0"/>
                          </a:rPr>
                          <m:t>𝑗</m:t>
                        </m:r>
                      </m:sub>
                    </m:sSub>
                    <m:r>
                      <a:rPr lang="en-US" sz="2667" i="1">
                        <a:latin typeface="Cambria Math" panose="02040503050406030204" pitchFamily="18" charset="0"/>
                        <a:ea typeface="Cambria Math" panose="02040503050406030204" pitchFamily="18" charset="0"/>
                      </a:rPr>
                      <m:t> </m:t>
                    </m:r>
                  </m:oMath>
                </a14:m>
                <a:r>
                  <a:rPr lang="en-US" sz="2667">
                    <a:latin typeface="Calibri (Body)"/>
                    <a:ea typeface="Cambria Math" panose="02040503050406030204" pitchFamily="18" charset="0"/>
                  </a:rPr>
                  <a:t>is the </a:t>
                </a:r>
                <a14:m>
                  <m:oMath xmlns:m="http://schemas.openxmlformats.org/officeDocument/2006/math">
                    <m:r>
                      <a:rPr lang="en-US" sz="2667" i="1">
                        <a:latin typeface="Cambria Math" panose="02040503050406030204" pitchFamily="18" charset="0"/>
                        <a:ea typeface="Cambria Math" panose="02040503050406030204" pitchFamily="18" charset="0"/>
                      </a:rPr>
                      <m:t>𝑛</m:t>
                    </m:r>
                  </m:oMath>
                </a14:m>
                <a:r>
                  <a:rPr lang="en-US" sz="2667">
                    <a:latin typeface="Calibri (Body)"/>
                    <a:ea typeface="Cambria Math" panose="02040503050406030204" pitchFamily="18" charset="0"/>
                  </a:rPr>
                  <a:t> - qubit Pauli string</a:t>
                </a:r>
                <a:endParaRPr lang="vi-VN" sz="2667" i="1">
                  <a:latin typeface="Calibri (Body)"/>
                </a:endParaRPr>
              </a:p>
              <a:p>
                <a:pPr marL="0" indent="0">
                  <a:buNone/>
                </a:pPr>
                <a:endParaRPr lang="en-US" sz="2667">
                  <a:latin typeface="__Roboto_22ceb1"/>
                </a:endParaRPr>
              </a:p>
              <a:p>
                <a:pPr marL="0" indent="0">
                  <a:buNone/>
                </a:pPr>
                <a:endParaRPr lang="en-US" sz="2667">
                  <a:latin typeface="__Roboto_22ceb1"/>
                </a:endParaRPr>
              </a:p>
            </p:txBody>
          </p:sp>
        </mc:Choice>
        <mc:Fallback xmlns="">
          <p:sp>
            <p:nvSpPr>
              <p:cNvPr id="3" name="Content Placeholder 2">
                <a:extLst>
                  <a:ext uri="{FF2B5EF4-FFF2-40B4-BE49-F238E27FC236}">
                    <a16:creationId xmlns:a16="http://schemas.microsoft.com/office/drawing/2014/main" id="{9F6ECC02-D370-FCBC-B8E9-3CE75D012D70}"/>
                  </a:ext>
                </a:extLst>
              </p:cNvPr>
              <p:cNvSpPr>
                <a:spLocks noGrp="1" noRot="1" noChangeAspect="1" noMove="1" noResize="1" noEditPoints="1" noAdjustHandles="1" noChangeArrowheads="1" noChangeShapeType="1" noTextEdit="1"/>
              </p:cNvSpPr>
              <p:nvPr>
                <p:ph idx="1"/>
              </p:nvPr>
            </p:nvSpPr>
            <p:spPr>
              <a:xfrm>
                <a:off x="838200" y="1825625"/>
                <a:ext cx="11353800" cy="1325563"/>
              </a:xfrm>
              <a:blipFill>
                <a:blip r:embed="rId2"/>
                <a:stretch>
                  <a:fillRect l="-1006" t="-15094" b="-50943"/>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A434C64C-B058-7F03-17F5-00A4B922DF09}"/>
              </a:ext>
            </a:extLst>
          </p:cNvPr>
          <p:cNvSpPr>
            <a:spLocks noGrp="1"/>
          </p:cNvSpPr>
          <p:nvPr>
            <p:ph type="sldNum" sz="quarter" idx="12"/>
          </p:nvPr>
        </p:nvSpPr>
        <p:spPr/>
        <p:txBody>
          <a:bodyPr/>
          <a:lstStyle/>
          <a:p>
            <a:fld id="{6A45828D-F580-42DE-B77E-860980F07F32}" type="slidenum">
              <a:rPr lang="vi-VN" smtClean="0"/>
              <a:t>34</a:t>
            </a:fld>
            <a:endParaRPr lang="vi-V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7631599-F981-C1A5-D5AE-0A8A17DC53F2}"/>
                  </a:ext>
                </a:extLst>
              </p:cNvPr>
              <p:cNvSpPr txBox="1"/>
              <p:nvPr/>
            </p:nvSpPr>
            <p:spPr>
              <a:xfrm>
                <a:off x="1384020" y="2869915"/>
                <a:ext cx="5156907" cy="1094980"/>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𝑇</m:t>
                          </m:r>
                        </m:e>
                      </m:d>
                      <m:r>
                        <a:rPr lang="en-US" sz="2400" i="1">
                          <a:latin typeface="Cambria Math" panose="02040503050406030204" pitchFamily="18" charset="0"/>
                        </a:rPr>
                        <m:t>=</m:t>
                      </m:r>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𝑘</m:t>
                          </m:r>
                          <m: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𝑇</m:t>
                          </m:r>
                          <m:r>
                            <a:rPr lang="en-US" sz="2400" i="1">
                              <a:latin typeface="Cambria Math" panose="02040503050406030204" pitchFamily="18" charset="0"/>
                            </a:rPr>
                            <m:t>/</m:t>
                          </m:r>
                          <m:r>
                            <m:rPr>
                              <m:sty m:val="p"/>
                            </m:rPr>
                            <a:rPr lang="en-US" sz="2400">
                              <a:latin typeface="Cambria Math" panose="02040503050406030204" pitchFamily="18" charset="0"/>
                            </a:rPr>
                            <m:t>Δ</m:t>
                          </m:r>
                          <m:r>
                            <a:rPr lang="en-US" sz="2400" i="1">
                              <a:latin typeface="Cambria Math" panose="02040503050406030204" pitchFamily="18" charset="0"/>
                            </a:rPr>
                            <m:t>𝑡</m:t>
                          </m:r>
                        </m:sup>
                        <m:e>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𝑗</m:t>
                              </m:r>
                            </m:sub>
                            <m:sup>
                              <m:r>
                                <a:rPr lang="en-US" sz="2400" i="1">
                                  <a:latin typeface="Cambria Math" panose="02040503050406030204" pitchFamily="18" charset="0"/>
                                </a:rPr>
                                <m:t> </m:t>
                              </m:r>
                            </m:sup>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𝑗</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𝑗</m:t>
                                          </m:r>
                                        </m:sub>
                                      </m:sSub>
                                    </m:e>
                                  </m:d>
                                  <m:r>
                                    <m:rPr>
                                      <m:sty m:val="p"/>
                                    </m:rPr>
                                    <a:rPr lang="en-US" sz="2400">
                                      <a:latin typeface="Cambria Math" panose="02040503050406030204" pitchFamily="18" charset="0"/>
                                    </a:rPr>
                                    <m:t>Δ</m:t>
                                  </m:r>
                                  <m:r>
                                    <a:rPr lang="en-US" sz="2400" i="1">
                                      <a:latin typeface="Cambria Math" panose="02040503050406030204" pitchFamily="18" charset="0"/>
                                    </a:rPr>
                                    <m:t>𝑡</m:t>
                                  </m:r>
                                </m:sup>
                              </m:sSup>
                            </m:e>
                          </m:nary>
                        </m:e>
                      </m:nary>
                    </m:oMath>
                  </m:oMathPara>
                </a14:m>
                <a:endParaRPr lang="vi-VN" sz="2400"/>
              </a:p>
            </p:txBody>
          </p:sp>
        </mc:Choice>
        <mc:Fallback xmlns="">
          <p:sp>
            <p:nvSpPr>
              <p:cNvPr id="9" name="TextBox 8">
                <a:extLst>
                  <a:ext uri="{FF2B5EF4-FFF2-40B4-BE49-F238E27FC236}">
                    <a16:creationId xmlns:a16="http://schemas.microsoft.com/office/drawing/2014/main" id="{D7631599-F981-C1A5-D5AE-0A8A17DC53F2}"/>
                  </a:ext>
                </a:extLst>
              </p:cNvPr>
              <p:cNvSpPr txBox="1">
                <a:spLocks noRot="1" noChangeAspect="1" noMove="1" noResize="1" noEditPoints="1" noAdjustHandles="1" noChangeArrowheads="1" noChangeShapeType="1" noTextEdit="1"/>
              </p:cNvSpPr>
              <p:nvPr/>
            </p:nvSpPr>
            <p:spPr>
              <a:xfrm>
                <a:off x="1384020" y="2869915"/>
                <a:ext cx="5156907" cy="1094980"/>
              </a:xfrm>
              <a:prstGeom prst="rect">
                <a:avLst/>
              </a:prstGeom>
              <a:blipFill>
                <a:blip r:embed="rId3"/>
                <a:stretch>
                  <a:fillRect l="-1961" t="-110465" b="-166279"/>
                </a:stretch>
              </a:blipFill>
            </p:spPr>
            <p:txBody>
              <a:bodyPr/>
              <a:lstStyle/>
              <a:p>
                <a:r>
                  <a:rPr lang="en-VN">
                    <a:noFill/>
                  </a:rPr>
                  <a:t> </a:t>
                </a:r>
              </a:p>
            </p:txBody>
          </p:sp>
        </mc:Fallback>
      </mc:AlternateContent>
      <p:sp>
        <p:nvSpPr>
          <p:cNvPr id="12" name="TextBox 11">
            <a:extLst>
              <a:ext uri="{FF2B5EF4-FFF2-40B4-BE49-F238E27FC236}">
                <a16:creationId xmlns:a16="http://schemas.microsoft.com/office/drawing/2014/main" id="{A9AE5C5E-1956-3CD8-7AE9-2D14DACAA682}"/>
              </a:ext>
            </a:extLst>
          </p:cNvPr>
          <p:cNvSpPr txBox="1"/>
          <p:nvPr/>
        </p:nvSpPr>
        <p:spPr>
          <a:xfrm>
            <a:off x="1428046" y="2250803"/>
            <a:ext cx="65" cy="369332"/>
          </a:xfrm>
          <a:prstGeom prst="rect">
            <a:avLst/>
          </a:prstGeom>
          <a:noFill/>
        </p:spPr>
        <p:txBody>
          <a:bodyPr wrap="none" lIns="0" tIns="0" rIns="0" bIns="0" rtlCol="0">
            <a:spAutoFit/>
          </a:bodyPr>
          <a:lstStyle/>
          <a:p>
            <a:endParaRPr lang="vi-VN" sz="2400" i="1">
              <a:latin typeface="Calibri (Body)"/>
            </a:endParaRPr>
          </a:p>
        </p:txBody>
      </p:sp>
      <p:sp>
        <p:nvSpPr>
          <p:cNvPr id="22" name="Rectangle 21">
            <a:extLst>
              <a:ext uri="{FF2B5EF4-FFF2-40B4-BE49-F238E27FC236}">
                <a16:creationId xmlns:a16="http://schemas.microsoft.com/office/drawing/2014/main" id="{8EE39407-BB82-46CF-ADBD-9B300575B28B}"/>
              </a:ext>
            </a:extLst>
          </p:cNvPr>
          <p:cNvSpPr/>
          <p:nvPr/>
        </p:nvSpPr>
        <p:spPr>
          <a:xfrm>
            <a:off x="5970027" y="3099334"/>
            <a:ext cx="6018773" cy="31885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5234197-4E92-8881-198E-9264C8C536C5}"/>
                  </a:ext>
                </a:extLst>
              </p:cNvPr>
              <p:cNvSpPr/>
              <p:nvPr/>
            </p:nvSpPr>
            <p:spPr>
              <a:xfrm>
                <a:off x="1874945" y="4381682"/>
                <a:ext cx="1522873"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ar-AE"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 </m:t>
                          </m:r>
                          <m:r>
                            <a:rPr lang="ar-AE" sz="2400" i="1">
                              <a:solidFill>
                                <a:schemeClr val="tx1"/>
                              </a:solidFill>
                              <a:latin typeface="Cambria Math" panose="02040503050406030204" pitchFamily="18" charset="0"/>
                            </a:rPr>
                            <m:t>𝑒</m:t>
                          </m:r>
                        </m:e>
                        <m:sup>
                          <m:r>
                            <a:rPr lang="ar-AE" sz="2400" i="1">
                              <a:solidFill>
                                <a:schemeClr val="tx1"/>
                              </a:solidFill>
                              <a:latin typeface="Cambria Math" panose="02040503050406030204" pitchFamily="18" charset="0"/>
                            </a:rPr>
                            <m:t>−</m:t>
                          </m:r>
                          <m:r>
                            <a:rPr lang="ar-AE" sz="2400" i="1">
                              <a:solidFill>
                                <a:schemeClr val="tx1"/>
                              </a:solidFill>
                              <a:latin typeface="Cambria Math" panose="02040503050406030204" pitchFamily="18" charset="0"/>
                            </a:rPr>
                            <m:t>𝑖</m:t>
                          </m:r>
                          <m:d>
                            <m:dPr>
                              <m:ctrlPr>
                                <a:rPr lang="ar-AE" sz="2400" i="1">
                                  <a:solidFill>
                                    <a:schemeClr val="tx1"/>
                                  </a:solidFill>
                                  <a:latin typeface="Cambria Math" panose="02040503050406030204" pitchFamily="18" charset="0"/>
                                </a:rPr>
                              </m:ctrlPr>
                            </m:dPr>
                            <m:e>
                              <m:sSub>
                                <m:sSubPr>
                                  <m:ctrlPr>
                                    <a:rPr lang="ar-AE" sz="2400" i="1">
                                      <a:solidFill>
                                        <a:schemeClr val="tx1"/>
                                      </a:solidFill>
                                      <a:latin typeface="Cambria Math" panose="02040503050406030204" pitchFamily="18" charset="0"/>
                                    </a:rPr>
                                  </m:ctrlPr>
                                </m:sSubPr>
                                <m:e>
                                  <m:r>
                                    <a:rPr lang="ar-AE"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0</m:t>
                                  </m:r>
                                </m:sub>
                              </m:sSub>
                              <m:sSub>
                                <m:sSubPr>
                                  <m:ctrlPr>
                                    <a:rPr lang="ar-AE" sz="2400" i="1">
                                      <a:solidFill>
                                        <a:schemeClr val="tx1"/>
                                      </a:solidFill>
                                      <a:latin typeface="Cambria Math" panose="02040503050406030204" pitchFamily="18" charset="0"/>
                                    </a:rPr>
                                  </m:ctrlPr>
                                </m:sSubPr>
                                <m:e>
                                  <m:r>
                                    <a:rPr lang="ar-AE" sz="2400" i="1">
                                      <a:solidFill>
                                        <a:schemeClr val="tx1"/>
                                      </a:solidFill>
                                      <a:latin typeface="Cambria Math" panose="02040503050406030204" pitchFamily="18" charset="0"/>
                                    </a:rPr>
                                    <m:t>𝑃</m:t>
                                  </m:r>
                                </m:e>
                                <m:sub>
                                  <m:r>
                                    <a:rPr lang="en-US" sz="2400" i="1">
                                      <a:solidFill>
                                        <a:schemeClr val="tx1"/>
                                      </a:solidFill>
                                      <a:latin typeface="Cambria Math" panose="02040503050406030204" pitchFamily="18" charset="0"/>
                                    </a:rPr>
                                    <m:t>0</m:t>
                                  </m:r>
                                </m:sub>
                              </m:sSub>
                            </m:e>
                          </m:d>
                          <m:r>
                            <m:rPr>
                              <m:sty m:val="p"/>
                            </m:rPr>
                            <a:rPr lang="el-GR" sz="2400">
                              <a:solidFill>
                                <a:schemeClr val="tx1"/>
                              </a:solidFill>
                              <a:latin typeface="Cambria Math" panose="02040503050406030204" pitchFamily="18" charset="0"/>
                            </a:rPr>
                            <m:t>Δ</m:t>
                          </m:r>
                          <m:r>
                            <a:rPr lang="el-GR" sz="2400" i="1">
                              <a:solidFill>
                                <a:schemeClr val="tx1"/>
                              </a:solidFill>
                              <a:latin typeface="Cambria Math" panose="02040503050406030204" pitchFamily="18" charset="0"/>
                            </a:rPr>
                            <m:t>𝑡</m:t>
                          </m:r>
                        </m:sup>
                      </m:sSup>
                    </m:oMath>
                  </m:oMathPara>
                </a14:m>
                <a:endParaRPr lang="ar-AE" sz="2400">
                  <a:solidFill>
                    <a:schemeClr val="tx1"/>
                  </a:solidFill>
                </a:endParaRPr>
              </a:p>
            </p:txBody>
          </p:sp>
        </mc:Choice>
        <mc:Fallback xmlns="">
          <p:sp>
            <p:nvSpPr>
              <p:cNvPr id="7" name="Rectangle 6">
                <a:extLst>
                  <a:ext uri="{FF2B5EF4-FFF2-40B4-BE49-F238E27FC236}">
                    <a16:creationId xmlns:a16="http://schemas.microsoft.com/office/drawing/2014/main" id="{55234197-4E92-8881-198E-9264C8C536C5}"/>
                  </a:ext>
                </a:extLst>
              </p:cNvPr>
              <p:cNvSpPr>
                <a:spLocks noRot="1" noChangeAspect="1" noMove="1" noResize="1" noEditPoints="1" noAdjustHandles="1" noChangeArrowheads="1" noChangeShapeType="1" noTextEdit="1"/>
              </p:cNvSpPr>
              <p:nvPr/>
            </p:nvSpPr>
            <p:spPr>
              <a:xfrm>
                <a:off x="1874945" y="4381682"/>
                <a:ext cx="1522873" cy="867719"/>
              </a:xfrm>
              <a:prstGeom prst="rect">
                <a:avLst/>
              </a:prstGeom>
              <a:blipFill>
                <a:blip r:embed="rId4"/>
                <a:stretch>
                  <a:fillRect l="-9917" r="-11570"/>
                </a:stretch>
              </a:blipFill>
              <a:ln>
                <a:solidFill>
                  <a:schemeClr val="tx1"/>
                </a:solidFill>
              </a:ln>
            </p:spPr>
            <p:txBody>
              <a:bodyPr/>
              <a:lstStyle/>
              <a:p>
                <a:r>
                  <a:rPr lang="en-VN">
                    <a:noFill/>
                  </a:rPr>
                  <a:t> </a:t>
                </a:r>
              </a:p>
            </p:txBody>
          </p:sp>
        </mc:Fallback>
      </mc:AlternateContent>
      <p:cxnSp>
        <p:nvCxnSpPr>
          <p:cNvPr id="8" name="Straight Connector 7">
            <a:extLst>
              <a:ext uri="{FF2B5EF4-FFF2-40B4-BE49-F238E27FC236}">
                <a16:creationId xmlns:a16="http://schemas.microsoft.com/office/drawing/2014/main" id="{1056E11A-0D64-8A6D-C52A-B282D6C2C993}"/>
              </a:ext>
            </a:extLst>
          </p:cNvPr>
          <p:cNvCxnSpPr>
            <a:cxnSpLocks/>
          </p:cNvCxnSpPr>
          <p:nvPr/>
        </p:nvCxnSpPr>
        <p:spPr>
          <a:xfrm flipV="1">
            <a:off x="1539936" y="4680089"/>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1D1E7B1-3C0A-3D91-ABE4-219A76E3A24D}"/>
                  </a:ext>
                </a:extLst>
              </p:cNvPr>
              <p:cNvSpPr/>
              <p:nvPr/>
            </p:nvSpPr>
            <p:spPr>
              <a:xfrm>
                <a:off x="3480173" y="4386601"/>
                <a:ext cx="1522873"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ar-AE"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 </m:t>
                          </m:r>
                          <m:r>
                            <a:rPr lang="ar-AE" sz="2400" i="1">
                              <a:solidFill>
                                <a:schemeClr val="tx1"/>
                              </a:solidFill>
                              <a:latin typeface="Cambria Math" panose="02040503050406030204" pitchFamily="18" charset="0"/>
                            </a:rPr>
                            <m:t>𝑒</m:t>
                          </m:r>
                        </m:e>
                        <m:sup>
                          <m:r>
                            <a:rPr lang="ar-AE" sz="2400" i="1">
                              <a:solidFill>
                                <a:schemeClr val="tx1"/>
                              </a:solidFill>
                              <a:latin typeface="Cambria Math" panose="02040503050406030204" pitchFamily="18" charset="0"/>
                            </a:rPr>
                            <m:t>−</m:t>
                          </m:r>
                          <m:r>
                            <a:rPr lang="ar-AE" sz="2400" i="1">
                              <a:solidFill>
                                <a:schemeClr val="tx1"/>
                              </a:solidFill>
                              <a:latin typeface="Cambria Math" panose="02040503050406030204" pitchFamily="18" charset="0"/>
                            </a:rPr>
                            <m:t>𝑖</m:t>
                          </m:r>
                          <m:d>
                            <m:dPr>
                              <m:ctrlPr>
                                <a:rPr lang="ar-AE" sz="2400" i="1">
                                  <a:solidFill>
                                    <a:schemeClr val="tx1"/>
                                  </a:solidFill>
                                  <a:latin typeface="Cambria Math" panose="02040503050406030204" pitchFamily="18" charset="0"/>
                                </a:rPr>
                              </m:ctrlPr>
                            </m:dPr>
                            <m:e>
                              <m:sSub>
                                <m:sSubPr>
                                  <m:ctrlPr>
                                    <a:rPr lang="ar-AE" sz="2400" i="1">
                                      <a:solidFill>
                                        <a:schemeClr val="tx1"/>
                                      </a:solidFill>
                                      <a:latin typeface="Cambria Math" panose="02040503050406030204" pitchFamily="18" charset="0"/>
                                    </a:rPr>
                                  </m:ctrlPr>
                                </m:sSubPr>
                                <m:e>
                                  <m:r>
                                    <a:rPr lang="ar-AE"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1</m:t>
                                  </m:r>
                                </m:sub>
                              </m:sSub>
                              <m:sSub>
                                <m:sSubPr>
                                  <m:ctrlPr>
                                    <a:rPr lang="ar-AE" sz="2400" i="1">
                                      <a:solidFill>
                                        <a:schemeClr val="tx1"/>
                                      </a:solidFill>
                                      <a:latin typeface="Cambria Math" panose="02040503050406030204" pitchFamily="18" charset="0"/>
                                    </a:rPr>
                                  </m:ctrlPr>
                                </m:sSubPr>
                                <m:e>
                                  <m:r>
                                    <a:rPr lang="ar-AE" sz="2400" i="1">
                                      <a:solidFill>
                                        <a:schemeClr val="tx1"/>
                                      </a:solidFill>
                                      <a:latin typeface="Cambria Math" panose="02040503050406030204" pitchFamily="18" charset="0"/>
                                    </a:rPr>
                                    <m:t>𝑃</m:t>
                                  </m:r>
                                </m:e>
                                <m:sub>
                                  <m:r>
                                    <a:rPr lang="en-US" sz="2400" i="1">
                                      <a:solidFill>
                                        <a:schemeClr val="tx1"/>
                                      </a:solidFill>
                                      <a:latin typeface="Cambria Math" panose="02040503050406030204" pitchFamily="18" charset="0"/>
                                    </a:rPr>
                                    <m:t>1</m:t>
                                  </m:r>
                                </m:sub>
                              </m:sSub>
                            </m:e>
                          </m:d>
                          <m:r>
                            <m:rPr>
                              <m:sty m:val="p"/>
                            </m:rPr>
                            <a:rPr lang="el-GR" sz="2400">
                              <a:solidFill>
                                <a:schemeClr val="tx1"/>
                              </a:solidFill>
                              <a:latin typeface="Cambria Math" panose="02040503050406030204" pitchFamily="18" charset="0"/>
                            </a:rPr>
                            <m:t>Δ</m:t>
                          </m:r>
                          <m:r>
                            <a:rPr lang="el-GR" sz="2400" i="1">
                              <a:solidFill>
                                <a:schemeClr val="tx1"/>
                              </a:solidFill>
                              <a:latin typeface="Cambria Math" panose="02040503050406030204" pitchFamily="18" charset="0"/>
                            </a:rPr>
                            <m:t>𝑡</m:t>
                          </m:r>
                        </m:sup>
                      </m:sSup>
                    </m:oMath>
                  </m:oMathPara>
                </a14:m>
                <a:endParaRPr lang="ar-AE" sz="2400">
                  <a:solidFill>
                    <a:schemeClr val="tx1"/>
                  </a:solidFill>
                </a:endParaRPr>
              </a:p>
            </p:txBody>
          </p:sp>
        </mc:Choice>
        <mc:Fallback xmlns="">
          <p:sp>
            <p:nvSpPr>
              <p:cNvPr id="17" name="Rectangle 16">
                <a:extLst>
                  <a:ext uri="{FF2B5EF4-FFF2-40B4-BE49-F238E27FC236}">
                    <a16:creationId xmlns:a16="http://schemas.microsoft.com/office/drawing/2014/main" id="{01D1E7B1-3C0A-3D91-ABE4-219A76E3A24D}"/>
                  </a:ext>
                </a:extLst>
              </p:cNvPr>
              <p:cNvSpPr>
                <a:spLocks noRot="1" noChangeAspect="1" noMove="1" noResize="1" noEditPoints="1" noAdjustHandles="1" noChangeArrowheads="1" noChangeShapeType="1" noTextEdit="1"/>
              </p:cNvSpPr>
              <p:nvPr/>
            </p:nvSpPr>
            <p:spPr>
              <a:xfrm>
                <a:off x="3480173" y="4386601"/>
                <a:ext cx="1522873" cy="867719"/>
              </a:xfrm>
              <a:prstGeom prst="rect">
                <a:avLst/>
              </a:prstGeom>
              <a:blipFill>
                <a:blip r:embed="rId5"/>
                <a:stretch>
                  <a:fillRect l="-9016" r="-11475"/>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FA94AFA-DC3F-0617-FB9E-BFB673900940}"/>
                  </a:ext>
                </a:extLst>
              </p:cNvPr>
              <p:cNvSpPr txBox="1"/>
              <p:nvPr/>
            </p:nvSpPr>
            <p:spPr>
              <a:xfrm>
                <a:off x="5518907" y="4558825"/>
                <a:ext cx="31579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oMath>
                  </m:oMathPara>
                </a14:m>
                <a:endParaRPr lang="vi-VN" sz="2400"/>
              </a:p>
            </p:txBody>
          </p:sp>
        </mc:Choice>
        <mc:Fallback xmlns="">
          <p:sp>
            <p:nvSpPr>
              <p:cNvPr id="30" name="TextBox 29">
                <a:extLst>
                  <a:ext uri="{FF2B5EF4-FFF2-40B4-BE49-F238E27FC236}">
                    <a16:creationId xmlns:a16="http://schemas.microsoft.com/office/drawing/2014/main" id="{7FA94AFA-DC3F-0617-FB9E-BFB673900940}"/>
                  </a:ext>
                </a:extLst>
              </p:cNvPr>
              <p:cNvSpPr txBox="1">
                <a:spLocks noRot="1" noChangeAspect="1" noMove="1" noResize="1" noEditPoints="1" noAdjustHandles="1" noChangeArrowheads="1" noChangeShapeType="1" noTextEdit="1"/>
              </p:cNvSpPr>
              <p:nvPr/>
            </p:nvSpPr>
            <p:spPr>
              <a:xfrm>
                <a:off x="5518907" y="4558825"/>
                <a:ext cx="315792" cy="369332"/>
              </a:xfrm>
              <a:prstGeom prst="rect">
                <a:avLst/>
              </a:prstGeom>
              <a:blipFill>
                <a:blip r:embed="rId6"/>
                <a:stretch>
                  <a:fillRect/>
                </a:stretch>
              </a:blipFill>
            </p:spPr>
            <p:txBody>
              <a:bodyPr/>
              <a:lstStyle/>
              <a:p>
                <a:r>
                  <a:rPr lang="en-VN">
                    <a:noFill/>
                  </a:rPr>
                  <a:t> </a:t>
                </a:r>
              </a:p>
            </p:txBody>
          </p:sp>
        </mc:Fallback>
      </mc:AlternateContent>
      <p:sp>
        <p:nvSpPr>
          <p:cNvPr id="31" name="Left Brace 30">
            <a:extLst>
              <a:ext uri="{FF2B5EF4-FFF2-40B4-BE49-F238E27FC236}">
                <a16:creationId xmlns:a16="http://schemas.microsoft.com/office/drawing/2014/main" id="{2FE806E3-8A40-A64E-3258-F07E9C19D25B}"/>
              </a:ext>
            </a:extLst>
          </p:cNvPr>
          <p:cNvSpPr/>
          <p:nvPr/>
        </p:nvSpPr>
        <p:spPr>
          <a:xfrm rot="16200000">
            <a:off x="3311273" y="3899818"/>
            <a:ext cx="255444" cy="3128103"/>
          </a:xfrm>
          <a:prstGeom prst="leftBrace">
            <a:avLst>
              <a:gd name="adj1" fmla="val 66983"/>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p:sp>
        <p:nvSpPr>
          <p:cNvPr id="33" name="Double Bracket 32">
            <a:extLst>
              <a:ext uri="{FF2B5EF4-FFF2-40B4-BE49-F238E27FC236}">
                <a16:creationId xmlns:a16="http://schemas.microsoft.com/office/drawing/2014/main" id="{A112E297-5677-5FAC-DA48-76B556412996}"/>
              </a:ext>
            </a:extLst>
          </p:cNvPr>
          <p:cNvSpPr/>
          <p:nvPr/>
        </p:nvSpPr>
        <p:spPr>
          <a:xfrm>
            <a:off x="1798635" y="4195478"/>
            <a:ext cx="3308816" cy="1398753"/>
          </a:xfrm>
          <a:prstGeom prst="bracketPair">
            <a:avLst>
              <a:gd name="adj" fmla="val 940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sz="240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605A4CF-92EF-9F7C-964B-7FA12B47A9FB}"/>
                  </a:ext>
                </a:extLst>
              </p:cNvPr>
              <p:cNvSpPr txBox="1"/>
              <p:nvPr/>
            </p:nvSpPr>
            <p:spPr>
              <a:xfrm>
                <a:off x="2636380" y="5591593"/>
                <a:ext cx="1972733" cy="461665"/>
              </a:xfrm>
              <a:prstGeom prst="rect">
                <a:avLst/>
              </a:prstGeom>
              <a:noFill/>
            </p:spPr>
            <p:txBody>
              <a:bodyPr wrap="square" rtlCol="0">
                <a:spAutoFit/>
              </a:bodyPr>
              <a:lstStyle/>
              <a:p>
                <a14:m>
                  <m:oMath xmlns:m="http://schemas.openxmlformats.org/officeDocument/2006/math">
                    <m:r>
                      <a:rPr lang="en-US" sz="2400" i="1">
                        <a:latin typeface="Cambria Math" panose="02040503050406030204" pitchFamily="18" charset="0"/>
                      </a:rPr>
                      <m:t>𝑇</m:t>
                    </m:r>
                    <m:r>
                      <a:rPr lang="en-US" sz="2400" i="1">
                        <a:latin typeface="Cambria Math" panose="02040503050406030204" pitchFamily="18" charset="0"/>
                      </a:rPr>
                      <m:t>/</m:t>
                    </m:r>
                    <m:r>
                      <m:rPr>
                        <m:sty m:val="p"/>
                      </m:rPr>
                      <a:rPr lang="en-US" sz="2400">
                        <a:latin typeface="Cambria Math" panose="02040503050406030204" pitchFamily="18" charset="0"/>
                      </a:rPr>
                      <m:t>Δ</m:t>
                    </m:r>
                    <m:r>
                      <a:rPr lang="en-US" sz="2400" i="1">
                        <a:latin typeface="Cambria Math" panose="02040503050406030204" pitchFamily="18" charset="0"/>
                      </a:rPr>
                      <m:t>𝑡</m:t>
                    </m:r>
                  </m:oMath>
                </a14:m>
                <a:r>
                  <a:rPr lang="en-US" sz="2400"/>
                  <a:t> times</a:t>
                </a:r>
                <a:endParaRPr lang="vi-VN" sz="2400"/>
              </a:p>
            </p:txBody>
          </p:sp>
        </mc:Choice>
        <mc:Fallback xmlns="">
          <p:sp>
            <p:nvSpPr>
              <p:cNvPr id="34" name="TextBox 33">
                <a:extLst>
                  <a:ext uri="{FF2B5EF4-FFF2-40B4-BE49-F238E27FC236}">
                    <a16:creationId xmlns:a16="http://schemas.microsoft.com/office/drawing/2014/main" id="{2605A4CF-92EF-9F7C-964B-7FA12B47A9FB}"/>
                  </a:ext>
                </a:extLst>
              </p:cNvPr>
              <p:cNvSpPr txBox="1">
                <a:spLocks noRot="1" noChangeAspect="1" noMove="1" noResize="1" noEditPoints="1" noAdjustHandles="1" noChangeArrowheads="1" noChangeShapeType="1" noTextEdit="1"/>
              </p:cNvSpPr>
              <p:nvPr/>
            </p:nvSpPr>
            <p:spPr>
              <a:xfrm>
                <a:off x="2636380" y="5591593"/>
                <a:ext cx="1972733" cy="461665"/>
              </a:xfrm>
              <a:prstGeom prst="rect">
                <a:avLst/>
              </a:prstGeom>
              <a:blipFill>
                <a:blip r:embed="rId7"/>
                <a:stretch>
                  <a:fillRect l="-641" t="-8108" b="-29730"/>
                </a:stretch>
              </a:blipFill>
            </p:spPr>
            <p:txBody>
              <a:bodyPr/>
              <a:lstStyle/>
              <a:p>
                <a:r>
                  <a:rPr lang="en-VN">
                    <a:noFill/>
                  </a:rPr>
                  <a:t> </a:t>
                </a:r>
              </a:p>
            </p:txBody>
          </p:sp>
        </mc:Fallback>
      </mc:AlternateContent>
      <p:sp>
        <p:nvSpPr>
          <p:cNvPr id="35" name="TextBox 34">
            <a:extLst>
              <a:ext uri="{FF2B5EF4-FFF2-40B4-BE49-F238E27FC236}">
                <a16:creationId xmlns:a16="http://schemas.microsoft.com/office/drawing/2014/main" id="{BBE0F3B1-356D-5117-D8EF-B2F8D8AB37FE}"/>
              </a:ext>
            </a:extLst>
          </p:cNvPr>
          <p:cNvSpPr txBox="1"/>
          <p:nvPr/>
        </p:nvSpPr>
        <p:spPr>
          <a:xfrm>
            <a:off x="838200" y="6382921"/>
            <a:ext cx="4417334" cy="338554"/>
          </a:xfrm>
          <a:prstGeom prst="rect">
            <a:avLst/>
          </a:prstGeom>
          <a:noFill/>
          <a:ln>
            <a:solidFill>
              <a:srgbClr val="FF0000"/>
            </a:solidFill>
          </a:ln>
        </p:spPr>
        <p:txBody>
          <a:bodyPr wrap="square" rtlCol="0">
            <a:spAutoFit/>
          </a:bodyPr>
          <a:lstStyle/>
          <a:p>
            <a:r>
              <a:rPr lang="en-US" sz="1600" b="1">
                <a:solidFill>
                  <a:srgbClr val="FF0000"/>
                </a:solidFill>
              </a:rPr>
              <a:t>Readmore: *</a:t>
            </a:r>
            <a:r>
              <a:rPr lang="vi-VN" sz="1600">
                <a:solidFill>
                  <a:srgbClr val="FF0000"/>
                </a:solidFill>
                <a:latin typeface="Quicksand"/>
              </a:rPr>
              <a:t>qml.ApproxTimeEvolution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4BA4E18-6E75-6D61-77E1-E2DB1457766F}"/>
                  </a:ext>
                </a:extLst>
              </p:cNvPr>
              <p:cNvSpPr txBox="1"/>
              <p:nvPr/>
            </p:nvSpPr>
            <p:spPr>
              <a:xfrm>
                <a:off x="5970886" y="3304083"/>
                <a:ext cx="2106317" cy="6903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ar-AE" sz="2400" i="1">
                              <a:latin typeface="Cambria Math" panose="02040503050406030204" pitchFamily="18" charset="0"/>
                            </a:rPr>
                          </m:ctrlPr>
                        </m:sSupPr>
                        <m:e>
                          <m:r>
                            <a:rPr lang="en-US" sz="2400" i="1">
                              <a:latin typeface="Cambria Math" panose="02040503050406030204" pitchFamily="18" charset="0"/>
                            </a:rPr>
                            <m:t> </m:t>
                          </m:r>
                          <m:r>
                            <a:rPr lang="ar-AE" sz="2400" i="1">
                              <a:latin typeface="Cambria Math" panose="02040503050406030204" pitchFamily="18" charset="0"/>
                            </a:rPr>
                            <m:t>𝑒</m:t>
                          </m:r>
                        </m:e>
                        <m:sup>
                          <m:r>
                            <a:rPr lang="ar-AE" sz="2400" i="1">
                              <a:latin typeface="Cambria Math" panose="02040503050406030204" pitchFamily="18" charset="0"/>
                            </a:rPr>
                            <m:t>−</m:t>
                          </m:r>
                          <m:r>
                            <a:rPr lang="ar-AE" sz="2400" i="1">
                              <a:latin typeface="Cambria Math" panose="02040503050406030204" pitchFamily="18" charset="0"/>
                            </a:rPr>
                            <m:t>𝑖</m:t>
                          </m:r>
                          <m:d>
                            <m:dPr>
                              <m:ctrlPr>
                                <a:rPr lang="ar-AE"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0</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1</m:t>
                                  </m:r>
                                </m:sub>
                              </m:sSub>
                            </m:e>
                          </m:d>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1">
                                      <a:latin typeface="Cambria Math" panose="02040503050406030204" pitchFamily="18" charset="0"/>
                                    </a:rPr>
                                    <m:t>2</m:t>
                                  </m:r>
                                </m:den>
                              </m:f>
                            </m:e>
                          </m:d>
                        </m:sup>
                      </m:sSup>
                    </m:oMath>
                  </m:oMathPara>
                </a14:m>
                <a:endParaRPr lang="vi-VN" sz="2400"/>
              </a:p>
            </p:txBody>
          </p:sp>
        </mc:Choice>
        <mc:Fallback xmlns="">
          <p:sp>
            <p:nvSpPr>
              <p:cNvPr id="39" name="TextBox 38">
                <a:extLst>
                  <a:ext uri="{FF2B5EF4-FFF2-40B4-BE49-F238E27FC236}">
                    <a16:creationId xmlns:a16="http://schemas.microsoft.com/office/drawing/2014/main" id="{54BA4E18-6E75-6D61-77E1-E2DB1457766F}"/>
                  </a:ext>
                </a:extLst>
              </p:cNvPr>
              <p:cNvSpPr txBox="1">
                <a:spLocks noRot="1" noChangeAspect="1" noMove="1" noResize="1" noEditPoints="1" noAdjustHandles="1" noChangeArrowheads="1" noChangeShapeType="1" noTextEdit="1"/>
              </p:cNvSpPr>
              <p:nvPr/>
            </p:nvSpPr>
            <p:spPr>
              <a:xfrm>
                <a:off x="5970886" y="3304083"/>
                <a:ext cx="2106317" cy="690382"/>
              </a:xfrm>
              <a:prstGeom prst="rect">
                <a:avLst/>
              </a:prstGeom>
              <a:blipFill>
                <a:blip r:embed="rId8"/>
                <a:stretch>
                  <a:fillRect l="-2395" b="-14545"/>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1EAD340-C1B0-E9E2-CB0B-DF9252E21FC1}"/>
                  </a:ext>
                </a:extLst>
              </p:cNvPr>
              <p:cNvSpPr txBox="1"/>
              <p:nvPr/>
            </p:nvSpPr>
            <p:spPr>
              <a:xfrm>
                <a:off x="5970884" y="4215208"/>
                <a:ext cx="2145944" cy="6903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ar-AE" sz="2400" i="1">
                              <a:latin typeface="Cambria Math" panose="02040503050406030204" pitchFamily="18" charset="0"/>
                            </a:rPr>
                          </m:ctrlPr>
                        </m:sSupPr>
                        <m:e>
                          <m:r>
                            <a:rPr lang="en-US" sz="2400" i="1">
                              <a:latin typeface="Cambria Math" panose="02040503050406030204" pitchFamily="18" charset="0"/>
                            </a:rPr>
                            <m:t> </m:t>
                          </m:r>
                          <m:r>
                            <a:rPr lang="ar-AE" sz="2400" i="1">
                              <a:latin typeface="Cambria Math" panose="02040503050406030204" pitchFamily="18" charset="0"/>
                            </a:rPr>
                            <m:t>𝑒</m:t>
                          </m:r>
                        </m:e>
                        <m:sup>
                          <m:r>
                            <a:rPr lang="ar-AE" sz="2400" i="1">
                              <a:latin typeface="Cambria Math" panose="02040503050406030204" pitchFamily="18" charset="0"/>
                            </a:rPr>
                            <m:t>−</m:t>
                          </m:r>
                          <m:r>
                            <a:rPr lang="ar-AE" sz="2400" i="1">
                              <a:latin typeface="Cambria Math" panose="02040503050406030204" pitchFamily="18" charset="0"/>
                            </a:rPr>
                            <m:t>𝑖</m:t>
                          </m:r>
                          <m:d>
                            <m:dPr>
                              <m:ctrlPr>
                                <a:rPr lang="ar-AE"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0</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1</m:t>
                                  </m:r>
                                </m:sub>
                              </m:sSub>
                            </m:e>
                          </m:d>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1">
                                      <a:latin typeface="Cambria Math" panose="02040503050406030204" pitchFamily="18" charset="0"/>
                                    </a:rPr>
                                    <m:t>2</m:t>
                                  </m:r>
                                </m:den>
                              </m:f>
                            </m:e>
                          </m:d>
                        </m:sup>
                      </m:sSup>
                    </m:oMath>
                  </m:oMathPara>
                </a14:m>
                <a:endParaRPr lang="vi-VN" sz="2400"/>
              </a:p>
            </p:txBody>
          </p:sp>
        </mc:Choice>
        <mc:Fallback xmlns="">
          <p:sp>
            <p:nvSpPr>
              <p:cNvPr id="40" name="TextBox 39">
                <a:extLst>
                  <a:ext uri="{FF2B5EF4-FFF2-40B4-BE49-F238E27FC236}">
                    <a16:creationId xmlns:a16="http://schemas.microsoft.com/office/drawing/2014/main" id="{A1EAD340-C1B0-E9E2-CB0B-DF9252E21FC1}"/>
                  </a:ext>
                </a:extLst>
              </p:cNvPr>
              <p:cNvSpPr txBox="1">
                <a:spLocks noRot="1" noChangeAspect="1" noMove="1" noResize="1" noEditPoints="1" noAdjustHandles="1" noChangeArrowheads="1" noChangeShapeType="1" noTextEdit="1"/>
              </p:cNvSpPr>
              <p:nvPr/>
            </p:nvSpPr>
            <p:spPr>
              <a:xfrm>
                <a:off x="5970884" y="4215208"/>
                <a:ext cx="2145944" cy="690382"/>
              </a:xfrm>
              <a:prstGeom prst="rect">
                <a:avLst/>
              </a:prstGeom>
              <a:blipFill>
                <a:blip r:embed="rId9"/>
                <a:stretch>
                  <a:fillRect l="-2339" b="-14286"/>
                </a:stretch>
              </a:blipFill>
            </p:spPr>
            <p:txBody>
              <a:bodyPr/>
              <a:lstStyle/>
              <a:p>
                <a:r>
                  <a:rPr lang="en-VN">
                    <a:noFill/>
                  </a:rPr>
                  <a:t> </a:t>
                </a:r>
              </a:p>
            </p:txBody>
          </p:sp>
        </mc:Fallback>
      </mc:AlternateContent>
      <p:cxnSp>
        <p:nvCxnSpPr>
          <p:cNvPr id="41" name="Straight Connector 40">
            <a:extLst>
              <a:ext uri="{FF2B5EF4-FFF2-40B4-BE49-F238E27FC236}">
                <a16:creationId xmlns:a16="http://schemas.microsoft.com/office/drawing/2014/main" id="{1C4B61FA-74B8-F020-665F-8BDC5E9F3263}"/>
              </a:ext>
            </a:extLst>
          </p:cNvPr>
          <p:cNvCxnSpPr>
            <a:cxnSpLocks/>
          </p:cNvCxnSpPr>
          <p:nvPr/>
        </p:nvCxnSpPr>
        <p:spPr>
          <a:xfrm>
            <a:off x="8830181" y="3655209"/>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BDD11FB2-DAAF-1031-A841-8AC28BD9ADB1}"/>
              </a:ext>
            </a:extLst>
          </p:cNvPr>
          <p:cNvSpPr/>
          <p:nvPr/>
        </p:nvSpPr>
        <p:spPr>
          <a:xfrm>
            <a:off x="9760100" y="3185730"/>
            <a:ext cx="118505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AE" sz="2400">
              <a:solidFill>
                <a:schemeClr val="tx1"/>
              </a:solidFill>
            </a:endParaRPr>
          </a:p>
        </p:txBody>
      </p:sp>
      <p:cxnSp>
        <p:nvCxnSpPr>
          <p:cNvPr id="47" name="Straight Connector 46">
            <a:extLst>
              <a:ext uri="{FF2B5EF4-FFF2-40B4-BE49-F238E27FC236}">
                <a16:creationId xmlns:a16="http://schemas.microsoft.com/office/drawing/2014/main" id="{0DE12B67-F95F-84FD-1497-4D54C459C68A}"/>
              </a:ext>
            </a:extLst>
          </p:cNvPr>
          <p:cNvCxnSpPr>
            <a:cxnSpLocks/>
          </p:cNvCxnSpPr>
          <p:nvPr/>
        </p:nvCxnSpPr>
        <p:spPr>
          <a:xfrm>
            <a:off x="8822812" y="4933371"/>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982A6F0-C8BC-A901-983D-1A03E947EBCD}"/>
              </a:ext>
            </a:extLst>
          </p:cNvPr>
          <p:cNvCxnSpPr>
            <a:cxnSpLocks/>
          </p:cNvCxnSpPr>
          <p:nvPr/>
        </p:nvCxnSpPr>
        <p:spPr>
          <a:xfrm>
            <a:off x="8820656" y="4463213"/>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F89761C-5698-6E62-74A7-0D2BB951C9BF}"/>
              </a:ext>
            </a:extLst>
          </p:cNvPr>
          <p:cNvCxnSpPr>
            <a:cxnSpLocks/>
          </p:cNvCxnSpPr>
          <p:nvPr/>
        </p:nvCxnSpPr>
        <p:spPr>
          <a:xfrm>
            <a:off x="8822812" y="4690659"/>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3F7EE182-A41D-5268-6F0E-E3C2EDD42008}"/>
              </a:ext>
            </a:extLst>
          </p:cNvPr>
          <p:cNvSpPr/>
          <p:nvPr/>
        </p:nvSpPr>
        <p:spPr>
          <a:xfrm>
            <a:off x="9780673" y="4256166"/>
            <a:ext cx="1164479"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AE" sz="2400">
              <a:solidFill>
                <a:schemeClr val="tx1"/>
              </a:solidFill>
            </a:endParaRPr>
          </a:p>
        </p:txBody>
      </p:sp>
      <p:cxnSp>
        <p:nvCxnSpPr>
          <p:cNvPr id="52" name="Straight Arrow Connector 51">
            <a:extLst>
              <a:ext uri="{FF2B5EF4-FFF2-40B4-BE49-F238E27FC236}">
                <a16:creationId xmlns:a16="http://schemas.microsoft.com/office/drawing/2014/main" id="{B019ABA6-2628-351F-343F-E77BC7904353}"/>
              </a:ext>
            </a:extLst>
          </p:cNvPr>
          <p:cNvCxnSpPr/>
          <p:nvPr/>
        </p:nvCxnSpPr>
        <p:spPr>
          <a:xfrm>
            <a:off x="6773335" y="3897922"/>
            <a:ext cx="0" cy="4934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F4A8096-C59E-72A6-C5D5-D199C1C00298}"/>
                  </a:ext>
                </a:extLst>
              </p:cNvPr>
              <p:cNvSpPr txBox="1"/>
              <p:nvPr/>
            </p:nvSpPr>
            <p:spPr>
              <a:xfrm>
                <a:off x="6835664" y="3889982"/>
                <a:ext cx="1810779" cy="37029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1600" i="1">
                          <a:solidFill>
                            <a:srgbClr val="FF0000"/>
                          </a:solidFill>
                          <a:latin typeface="Cambria Math" panose="02040503050406030204" pitchFamily="18" charset="0"/>
                        </a:rPr>
                        <m:t>𝑍</m:t>
                      </m:r>
                      <m:r>
                        <a:rPr lang="en-US" sz="1600" i="1">
                          <a:solidFill>
                            <a:srgbClr val="FF0000"/>
                          </a:solidFill>
                          <a:latin typeface="Cambria Math" panose="02040503050406030204" pitchFamily="18" charset="0"/>
                        </a:rPr>
                        <m:t>=</m:t>
                      </m:r>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𝐻</m:t>
                          </m:r>
                          <m:sSup>
                            <m:sSupPr>
                              <m:ctrlPr>
                                <a:rPr lang="en-US" sz="1600" i="1">
                                  <a:solidFill>
                                    <a:srgbClr val="FF0000"/>
                                  </a:solidFill>
                                  <a:latin typeface="Cambria Math" panose="02040503050406030204" pitchFamily="18" charset="0"/>
                                </a:rPr>
                              </m:ctrlPr>
                            </m:sSupPr>
                            <m:e>
                              <m:r>
                                <a:rPr lang="en-US" sz="1600" i="1">
                                  <a:solidFill>
                                    <a:srgbClr val="FF0000"/>
                                  </a:solidFill>
                                  <a:latin typeface="Cambria Math" panose="02040503050406030204" pitchFamily="18" charset="0"/>
                                </a:rPr>
                                <m:t>𝑆</m:t>
                              </m:r>
                            </m:e>
                            <m:sup>
                              <m:r>
                                <a:rPr lang="en-US" sz="1600" i="1">
                                  <a:solidFill>
                                    <a:srgbClr val="FF0000"/>
                                  </a:solidFill>
                                  <a:latin typeface="Cambria Math" panose="02040503050406030204" pitchFamily="18" charset="0"/>
                                  <a:ea typeface="Cambria Math" panose="02040503050406030204" pitchFamily="18" charset="0"/>
                                </a:rPr>
                                <m:t>†</m:t>
                              </m:r>
                            </m:sup>
                          </m:sSup>
                        </m:e>
                      </m:d>
                      <m:r>
                        <a:rPr lang="en-US" sz="1600" i="1">
                          <a:solidFill>
                            <a:srgbClr val="FF0000"/>
                          </a:solidFill>
                          <a:latin typeface="Cambria Math" panose="02040503050406030204" pitchFamily="18" charset="0"/>
                        </a:rPr>
                        <m:t>𝑌</m:t>
                      </m:r>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𝑆𝐻</m:t>
                          </m:r>
                        </m:e>
                      </m:d>
                    </m:oMath>
                  </m:oMathPara>
                </a14:m>
                <a:endParaRPr lang="vi-VN" sz="1600">
                  <a:solidFill>
                    <a:srgbClr val="FF0000"/>
                  </a:solidFill>
                </a:endParaRPr>
              </a:p>
            </p:txBody>
          </p:sp>
        </mc:Choice>
        <mc:Fallback xmlns="">
          <p:sp>
            <p:nvSpPr>
              <p:cNvPr id="53" name="TextBox 52">
                <a:extLst>
                  <a:ext uri="{FF2B5EF4-FFF2-40B4-BE49-F238E27FC236}">
                    <a16:creationId xmlns:a16="http://schemas.microsoft.com/office/drawing/2014/main" id="{0F4A8096-C59E-72A6-C5D5-D199C1C00298}"/>
                  </a:ext>
                </a:extLst>
              </p:cNvPr>
              <p:cNvSpPr txBox="1">
                <a:spLocks noRot="1" noChangeAspect="1" noMove="1" noResize="1" noEditPoints="1" noAdjustHandles="1" noChangeArrowheads="1" noChangeShapeType="1" noTextEdit="1"/>
              </p:cNvSpPr>
              <p:nvPr/>
            </p:nvSpPr>
            <p:spPr>
              <a:xfrm>
                <a:off x="6835664" y="3889982"/>
                <a:ext cx="1810779" cy="370294"/>
              </a:xfrm>
              <a:prstGeom prst="rect">
                <a:avLst/>
              </a:prstGeom>
              <a:blipFill>
                <a:blip r:embed="rId10"/>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136C254A-4790-BC94-1834-82E2105C537B}"/>
                  </a:ext>
                </a:extLst>
              </p:cNvPr>
              <p:cNvSpPr/>
              <p:nvPr/>
            </p:nvSpPr>
            <p:spPr>
              <a:xfrm>
                <a:off x="8912369" y="4249964"/>
                <a:ext cx="338688"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𝐻</m:t>
                      </m:r>
                    </m:oMath>
                  </m:oMathPara>
                </a14:m>
                <a:endParaRPr lang="ar-AE" sz="2400">
                  <a:solidFill>
                    <a:schemeClr val="tx1"/>
                  </a:solidFill>
                </a:endParaRPr>
              </a:p>
            </p:txBody>
          </p:sp>
        </mc:Choice>
        <mc:Fallback xmlns="">
          <p:sp>
            <p:nvSpPr>
              <p:cNvPr id="54" name="Rectangle 53">
                <a:extLst>
                  <a:ext uri="{FF2B5EF4-FFF2-40B4-BE49-F238E27FC236}">
                    <a16:creationId xmlns:a16="http://schemas.microsoft.com/office/drawing/2014/main" id="{136C254A-4790-BC94-1834-82E2105C537B}"/>
                  </a:ext>
                </a:extLst>
              </p:cNvPr>
              <p:cNvSpPr>
                <a:spLocks noRot="1" noChangeAspect="1" noMove="1" noResize="1" noEditPoints="1" noAdjustHandles="1" noChangeArrowheads="1" noChangeShapeType="1" noTextEdit="1"/>
              </p:cNvSpPr>
              <p:nvPr/>
            </p:nvSpPr>
            <p:spPr>
              <a:xfrm>
                <a:off x="8912369" y="4249964"/>
                <a:ext cx="338688" cy="358723"/>
              </a:xfrm>
              <a:prstGeom prst="rect">
                <a:avLst/>
              </a:prstGeom>
              <a:blipFill>
                <a:blip r:embed="rId11"/>
                <a:stretch>
                  <a:fillRect l="-48276" t="-26667" r="-51724" b="-46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5350E6EC-666E-021B-B357-1752B7A8B668}"/>
                  </a:ext>
                </a:extLst>
              </p:cNvPr>
              <p:cNvSpPr/>
              <p:nvPr/>
            </p:nvSpPr>
            <p:spPr>
              <a:xfrm>
                <a:off x="9313299" y="4249964"/>
                <a:ext cx="405132"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𝑆</m:t>
                          </m:r>
                        </m:e>
                        <m:sup>
                          <m:r>
                            <a:rPr lang="en-US" sz="2400" i="1">
                              <a:solidFill>
                                <a:schemeClr val="tx1"/>
                              </a:solidFill>
                              <a:latin typeface="Cambria Math" panose="02040503050406030204" pitchFamily="18" charset="0"/>
                              <a:ea typeface="Cambria Math" panose="02040503050406030204" pitchFamily="18" charset="0"/>
                            </a:rPr>
                            <m:t>†</m:t>
                          </m:r>
                        </m:sup>
                      </m:sSup>
                    </m:oMath>
                  </m:oMathPara>
                </a14:m>
                <a:endParaRPr lang="ar-AE" sz="2400">
                  <a:solidFill>
                    <a:schemeClr val="tx1"/>
                  </a:solidFill>
                </a:endParaRPr>
              </a:p>
            </p:txBody>
          </p:sp>
        </mc:Choice>
        <mc:Fallback xmlns="">
          <p:sp>
            <p:nvSpPr>
              <p:cNvPr id="55" name="Rectangle 54">
                <a:extLst>
                  <a:ext uri="{FF2B5EF4-FFF2-40B4-BE49-F238E27FC236}">
                    <a16:creationId xmlns:a16="http://schemas.microsoft.com/office/drawing/2014/main" id="{5350E6EC-666E-021B-B357-1752B7A8B668}"/>
                  </a:ext>
                </a:extLst>
              </p:cNvPr>
              <p:cNvSpPr>
                <a:spLocks noRot="1" noChangeAspect="1" noMove="1" noResize="1" noEditPoints="1" noAdjustHandles="1" noChangeArrowheads="1" noChangeShapeType="1" noTextEdit="1"/>
              </p:cNvSpPr>
              <p:nvPr/>
            </p:nvSpPr>
            <p:spPr>
              <a:xfrm>
                <a:off x="9313299" y="4249964"/>
                <a:ext cx="405132" cy="358723"/>
              </a:xfrm>
              <a:prstGeom prst="rect">
                <a:avLst/>
              </a:prstGeom>
              <a:blipFill>
                <a:blip r:embed="rId12"/>
                <a:stretch>
                  <a:fillRect l="-41176" t="-23333" r="-50000" b="-46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363C5427-091F-68CE-9382-1EBA0EA866D9}"/>
                  </a:ext>
                </a:extLst>
              </p:cNvPr>
              <p:cNvSpPr/>
              <p:nvPr/>
            </p:nvSpPr>
            <p:spPr>
              <a:xfrm>
                <a:off x="11007481" y="4241021"/>
                <a:ext cx="405132"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𝑆</m:t>
                      </m:r>
                    </m:oMath>
                  </m:oMathPara>
                </a14:m>
                <a:endParaRPr lang="ar-AE" sz="2400">
                  <a:solidFill>
                    <a:schemeClr val="tx1"/>
                  </a:solidFill>
                </a:endParaRPr>
              </a:p>
            </p:txBody>
          </p:sp>
        </mc:Choice>
        <mc:Fallback xmlns="">
          <p:sp>
            <p:nvSpPr>
              <p:cNvPr id="57" name="Rectangle 56">
                <a:extLst>
                  <a:ext uri="{FF2B5EF4-FFF2-40B4-BE49-F238E27FC236}">
                    <a16:creationId xmlns:a16="http://schemas.microsoft.com/office/drawing/2014/main" id="{363C5427-091F-68CE-9382-1EBA0EA866D9}"/>
                  </a:ext>
                </a:extLst>
              </p:cNvPr>
              <p:cNvSpPr>
                <a:spLocks noRot="1" noChangeAspect="1" noMove="1" noResize="1" noEditPoints="1" noAdjustHandles="1" noChangeArrowheads="1" noChangeShapeType="1" noTextEdit="1"/>
              </p:cNvSpPr>
              <p:nvPr/>
            </p:nvSpPr>
            <p:spPr>
              <a:xfrm>
                <a:off x="11007481" y="4241021"/>
                <a:ext cx="405132" cy="358723"/>
              </a:xfrm>
              <a:prstGeom prst="rect">
                <a:avLst/>
              </a:prstGeom>
              <a:blipFill>
                <a:blip r:embed="rId13"/>
                <a:stretch>
                  <a:fillRect l="-26471" t="-23333" r="-32353" b="-46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5690512-03FB-404A-9F86-E5B79D2C5210}"/>
                  </a:ext>
                </a:extLst>
              </p:cNvPr>
              <p:cNvSpPr txBox="1"/>
              <p:nvPr/>
            </p:nvSpPr>
            <p:spPr>
              <a:xfrm>
                <a:off x="5970885" y="5357642"/>
                <a:ext cx="2825041"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𝐶</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0−1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𝑍</m:t>
                          </m:r>
                        </m:sub>
                      </m:sSub>
                      <m:sSub>
                        <m:sSubPr>
                          <m:ctrlPr>
                            <a:rPr lang="en-US" sz="2400" i="1">
                              <a:latin typeface="Cambria Math" panose="02040503050406030204" pitchFamily="18" charset="0"/>
                            </a:rPr>
                          </m:ctrlPr>
                        </m:sSubPr>
                        <m:e>
                          <m:d>
                            <m:dPr>
                              <m:ctrlPr>
                                <a:rPr lang="en-US" sz="2400" i="1">
                                  <a:latin typeface="Cambria Math" panose="02040503050406030204" pitchFamily="18" charset="0"/>
                                </a:rPr>
                              </m:ctrlPr>
                            </m:dPr>
                            <m:e>
                              <m:r>
                                <a:rPr lang="en-US" sz="2400" i="1">
                                  <a:latin typeface="Cambria Math" panose="02040503050406030204" pitchFamily="18" charset="0"/>
                                </a:rPr>
                                <m:t>𝜃</m:t>
                              </m:r>
                            </m:e>
                          </m:d>
                        </m:e>
                        <m:sub>
                          <m:r>
                            <a:rPr lang="en-US" sz="2400">
                              <a:latin typeface="Cambria Math" panose="02040503050406030204" pitchFamily="18" charset="0"/>
                            </a:rPr>
                            <m:t>0</m:t>
                          </m:r>
                        </m:sub>
                      </m:sSub>
                      <m:r>
                        <a:rPr lang="en-US" sz="2400" i="1">
                          <a:latin typeface="Cambria Math" panose="02040503050406030204" pitchFamily="18" charset="0"/>
                        </a:rPr>
                        <m:t>𝐶</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0−1</m:t>
                          </m:r>
                        </m:sub>
                      </m:sSub>
                    </m:oMath>
                  </m:oMathPara>
                </a14:m>
                <a:endParaRPr lang="vi-VN" sz="2400"/>
              </a:p>
            </p:txBody>
          </p:sp>
        </mc:Choice>
        <mc:Fallback xmlns="">
          <p:sp>
            <p:nvSpPr>
              <p:cNvPr id="58" name="TextBox 57">
                <a:extLst>
                  <a:ext uri="{FF2B5EF4-FFF2-40B4-BE49-F238E27FC236}">
                    <a16:creationId xmlns:a16="http://schemas.microsoft.com/office/drawing/2014/main" id="{C5690512-03FB-404A-9F86-E5B79D2C5210}"/>
                  </a:ext>
                </a:extLst>
              </p:cNvPr>
              <p:cNvSpPr txBox="1">
                <a:spLocks noRot="1" noChangeAspect="1" noMove="1" noResize="1" noEditPoints="1" noAdjustHandles="1" noChangeArrowheads="1" noChangeShapeType="1" noTextEdit="1"/>
              </p:cNvSpPr>
              <p:nvPr/>
            </p:nvSpPr>
            <p:spPr>
              <a:xfrm>
                <a:off x="5970885" y="5357642"/>
                <a:ext cx="2825041" cy="461665"/>
              </a:xfrm>
              <a:prstGeom prst="rect">
                <a:avLst/>
              </a:prstGeom>
              <a:blipFill>
                <a:blip r:embed="rId14"/>
                <a:stretch>
                  <a:fillRect l="-446"/>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07F2ECB8-0DC0-F2DC-C206-8118C262D0C2}"/>
                  </a:ext>
                </a:extLst>
              </p:cNvPr>
              <p:cNvSpPr/>
              <p:nvPr/>
            </p:nvSpPr>
            <p:spPr>
              <a:xfrm>
                <a:off x="11474940" y="4241021"/>
                <a:ext cx="338688"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𝐻</m:t>
                      </m:r>
                    </m:oMath>
                  </m:oMathPara>
                </a14:m>
                <a:endParaRPr lang="ar-AE" sz="2400">
                  <a:solidFill>
                    <a:schemeClr val="tx1"/>
                  </a:solidFill>
                </a:endParaRPr>
              </a:p>
            </p:txBody>
          </p:sp>
        </mc:Choice>
        <mc:Fallback xmlns="">
          <p:sp>
            <p:nvSpPr>
              <p:cNvPr id="60" name="Rectangle 59">
                <a:extLst>
                  <a:ext uri="{FF2B5EF4-FFF2-40B4-BE49-F238E27FC236}">
                    <a16:creationId xmlns:a16="http://schemas.microsoft.com/office/drawing/2014/main" id="{07F2ECB8-0DC0-F2DC-C206-8118C262D0C2}"/>
                  </a:ext>
                </a:extLst>
              </p:cNvPr>
              <p:cNvSpPr>
                <a:spLocks noRot="1" noChangeAspect="1" noMove="1" noResize="1" noEditPoints="1" noAdjustHandles="1" noChangeArrowheads="1" noChangeShapeType="1" noTextEdit="1"/>
              </p:cNvSpPr>
              <p:nvPr/>
            </p:nvSpPr>
            <p:spPr>
              <a:xfrm>
                <a:off x="11474940" y="4241021"/>
                <a:ext cx="338688" cy="358723"/>
              </a:xfrm>
              <a:prstGeom prst="rect">
                <a:avLst/>
              </a:prstGeom>
              <a:blipFill>
                <a:blip r:embed="rId15"/>
                <a:stretch>
                  <a:fillRect l="-44828" t="-23333" r="-55172" b="-46667"/>
                </a:stretch>
              </a:blipFill>
              <a:ln>
                <a:solidFill>
                  <a:schemeClr val="tx1"/>
                </a:solidFill>
              </a:ln>
            </p:spPr>
            <p:txBody>
              <a:bodyPr/>
              <a:lstStyle/>
              <a:p>
                <a:r>
                  <a:rPr lang="en-VN">
                    <a:noFill/>
                  </a:rPr>
                  <a:t> </a:t>
                </a:r>
              </a:p>
            </p:txBody>
          </p:sp>
        </mc:Fallback>
      </mc:AlternateContent>
      <p:cxnSp>
        <p:nvCxnSpPr>
          <p:cNvPr id="61" name="Straight Arrow Connector 60">
            <a:extLst>
              <a:ext uri="{FF2B5EF4-FFF2-40B4-BE49-F238E27FC236}">
                <a16:creationId xmlns:a16="http://schemas.microsoft.com/office/drawing/2014/main" id="{F14396A0-2D44-C2E2-307E-34836C25D605}"/>
              </a:ext>
            </a:extLst>
          </p:cNvPr>
          <p:cNvCxnSpPr>
            <a:cxnSpLocks/>
          </p:cNvCxnSpPr>
          <p:nvPr/>
        </p:nvCxnSpPr>
        <p:spPr>
          <a:xfrm>
            <a:off x="6773335" y="4711279"/>
            <a:ext cx="0" cy="7017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C93D3C2-A651-E68F-018C-FD9C76A0B666}"/>
              </a:ext>
            </a:extLst>
          </p:cNvPr>
          <p:cNvCxnSpPr>
            <a:cxnSpLocks/>
          </p:cNvCxnSpPr>
          <p:nvPr/>
        </p:nvCxnSpPr>
        <p:spPr>
          <a:xfrm>
            <a:off x="8843116" y="6009189"/>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12" name="Straight Connector 13311">
            <a:extLst>
              <a:ext uri="{FF2B5EF4-FFF2-40B4-BE49-F238E27FC236}">
                <a16:creationId xmlns:a16="http://schemas.microsoft.com/office/drawing/2014/main" id="{59C4FCF1-CD28-C1B1-1B19-6BB96EBFCB41}"/>
              </a:ext>
            </a:extLst>
          </p:cNvPr>
          <p:cNvCxnSpPr>
            <a:cxnSpLocks/>
          </p:cNvCxnSpPr>
          <p:nvPr/>
        </p:nvCxnSpPr>
        <p:spPr>
          <a:xfrm>
            <a:off x="8840960" y="5539032"/>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13" name="Straight Connector 13312">
            <a:extLst>
              <a:ext uri="{FF2B5EF4-FFF2-40B4-BE49-F238E27FC236}">
                <a16:creationId xmlns:a16="http://schemas.microsoft.com/office/drawing/2014/main" id="{62A62C5D-7ACB-8E46-6C3B-37C34CDB04A4}"/>
              </a:ext>
            </a:extLst>
          </p:cNvPr>
          <p:cNvCxnSpPr>
            <a:cxnSpLocks/>
          </p:cNvCxnSpPr>
          <p:nvPr/>
        </p:nvCxnSpPr>
        <p:spPr>
          <a:xfrm>
            <a:off x="8843116" y="5766477"/>
            <a:ext cx="30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316" name="Rectangle 13315">
                <a:extLst>
                  <a:ext uri="{FF2B5EF4-FFF2-40B4-BE49-F238E27FC236}">
                    <a16:creationId xmlns:a16="http://schemas.microsoft.com/office/drawing/2014/main" id="{28673A9B-1742-8D2E-7B10-FC357685A9AF}"/>
                  </a:ext>
                </a:extLst>
              </p:cNvPr>
              <p:cNvSpPr/>
              <p:nvPr/>
            </p:nvSpPr>
            <p:spPr>
              <a:xfrm>
                <a:off x="8951488" y="5325783"/>
                <a:ext cx="338688"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𝐻</m:t>
                      </m:r>
                    </m:oMath>
                  </m:oMathPara>
                </a14:m>
                <a:endParaRPr lang="ar-AE" sz="2400">
                  <a:solidFill>
                    <a:schemeClr val="tx1"/>
                  </a:solidFill>
                </a:endParaRPr>
              </a:p>
            </p:txBody>
          </p:sp>
        </mc:Choice>
        <mc:Fallback xmlns="">
          <p:sp>
            <p:nvSpPr>
              <p:cNvPr id="13316" name="Rectangle 13315">
                <a:extLst>
                  <a:ext uri="{FF2B5EF4-FFF2-40B4-BE49-F238E27FC236}">
                    <a16:creationId xmlns:a16="http://schemas.microsoft.com/office/drawing/2014/main" id="{28673A9B-1742-8D2E-7B10-FC357685A9AF}"/>
                  </a:ext>
                </a:extLst>
              </p:cNvPr>
              <p:cNvSpPr>
                <a:spLocks noRot="1" noChangeAspect="1" noMove="1" noResize="1" noEditPoints="1" noAdjustHandles="1" noChangeArrowheads="1" noChangeShapeType="1" noTextEdit="1"/>
              </p:cNvSpPr>
              <p:nvPr/>
            </p:nvSpPr>
            <p:spPr>
              <a:xfrm>
                <a:off x="8951488" y="5325783"/>
                <a:ext cx="338688" cy="358723"/>
              </a:xfrm>
              <a:prstGeom prst="rect">
                <a:avLst/>
              </a:prstGeom>
              <a:blipFill>
                <a:blip r:embed="rId16"/>
                <a:stretch>
                  <a:fillRect l="-50000" t="-27586" r="-57143" b="-48276"/>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317" name="Rectangle 13316">
                <a:extLst>
                  <a:ext uri="{FF2B5EF4-FFF2-40B4-BE49-F238E27FC236}">
                    <a16:creationId xmlns:a16="http://schemas.microsoft.com/office/drawing/2014/main" id="{43E145FC-DDFA-1D0B-4C69-1B16D76C37DB}"/>
                  </a:ext>
                </a:extLst>
              </p:cNvPr>
              <p:cNvSpPr/>
              <p:nvPr/>
            </p:nvSpPr>
            <p:spPr>
              <a:xfrm>
                <a:off x="9352418" y="5325783"/>
                <a:ext cx="405132"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𝑆</m:t>
                          </m:r>
                        </m:e>
                        <m:sup>
                          <m:r>
                            <a:rPr lang="en-US" sz="2400" i="1">
                              <a:solidFill>
                                <a:schemeClr val="tx1"/>
                              </a:solidFill>
                              <a:latin typeface="Cambria Math" panose="02040503050406030204" pitchFamily="18" charset="0"/>
                              <a:ea typeface="Cambria Math" panose="02040503050406030204" pitchFamily="18" charset="0"/>
                            </a:rPr>
                            <m:t>†</m:t>
                          </m:r>
                        </m:sup>
                      </m:sSup>
                    </m:oMath>
                  </m:oMathPara>
                </a14:m>
                <a:endParaRPr lang="ar-AE" sz="2400">
                  <a:solidFill>
                    <a:schemeClr val="tx1"/>
                  </a:solidFill>
                </a:endParaRPr>
              </a:p>
            </p:txBody>
          </p:sp>
        </mc:Choice>
        <mc:Fallback xmlns="">
          <p:sp>
            <p:nvSpPr>
              <p:cNvPr id="13317" name="Rectangle 13316">
                <a:extLst>
                  <a:ext uri="{FF2B5EF4-FFF2-40B4-BE49-F238E27FC236}">
                    <a16:creationId xmlns:a16="http://schemas.microsoft.com/office/drawing/2014/main" id="{43E145FC-DDFA-1D0B-4C69-1B16D76C37DB}"/>
                  </a:ext>
                </a:extLst>
              </p:cNvPr>
              <p:cNvSpPr>
                <a:spLocks noRot="1" noChangeAspect="1" noMove="1" noResize="1" noEditPoints="1" noAdjustHandles="1" noChangeArrowheads="1" noChangeShapeType="1" noTextEdit="1"/>
              </p:cNvSpPr>
              <p:nvPr/>
            </p:nvSpPr>
            <p:spPr>
              <a:xfrm>
                <a:off x="9352418" y="5325783"/>
                <a:ext cx="405132" cy="358723"/>
              </a:xfrm>
              <a:prstGeom prst="rect">
                <a:avLst/>
              </a:prstGeom>
              <a:blipFill>
                <a:blip r:embed="rId17"/>
                <a:stretch>
                  <a:fillRect l="-41176" t="-24138" r="-50000" b="-51724"/>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318" name="Rectangle 13317">
                <a:extLst>
                  <a:ext uri="{FF2B5EF4-FFF2-40B4-BE49-F238E27FC236}">
                    <a16:creationId xmlns:a16="http://schemas.microsoft.com/office/drawing/2014/main" id="{F3FEDEE8-8A54-56BB-83D5-19EB6128FB42}"/>
                  </a:ext>
                </a:extLst>
              </p:cNvPr>
              <p:cNvSpPr/>
              <p:nvPr/>
            </p:nvSpPr>
            <p:spPr>
              <a:xfrm>
                <a:off x="11020263" y="5316840"/>
                <a:ext cx="405132"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𝑆</m:t>
                      </m:r>
                    </m:oMath>
                  </m:oMathPara>
                </a14:m>
                <a:endParaRPr lang="ar-AE" sz="2400">
                  <a:solidFill>
                    <a:schemeClr val="tx1"/>
                  </a:solidFill>
                </a:endParaRPr>
              </a:p>
            </p:txBody>
          </p:sp>
        </mc:Choice>
        <mc:Fallback xmlns="">
          <p:sp>
            <p:nvSpPr>
              <p:cNvPr id="13318" name="Rectangle 13317">
                <a:extLst>
                  <a:ext uri="{FF2B5EF4-FFF2-40B4-BE49-F238E27FC236}">
                    <a16:creationId xmlns:a16="http://schemas.microsoft.com/office/drawing/2014/main" id="{F3FEDEE8-8A54-56BB-83D5-19EB6128FB42}"/>
                  </a:ext>
                </a:extLst>
              </p:cNvPr>
              <p:cNvSpPr>
                <a:spLocks noRot="1" noChangeAspect="1" noMove="1" noResize="1" noEditPoints="1" noAdjustHandles="1" noChangeArrowheads="1" noChangeShapeType="1" noTextEdit="1"/>
              </p:cNvSpPr>
              <p:nvPr/>
            </p:nvSpPr>
            <p:spPr>
              <a:xfrm>
                <a:off x="11020263" y="5316840"/>
                <a:ext cx="405132" cy="358723"/>
              </a:xfrm>
              <a:prstGeom prst="rect">
                <a:avLst/>
              </a:prstGeom>
              <a:blipFill>
                <a:blip r:embed="rId18"/>
                <a:stretch>
                  <a:fillRect l="-26471" t="-26667" r="-32353" b="-4666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319" name="Rectangle 13318">
                <a:extLst>
                  <a:ext uri="{FF2B5EF4-FFF2-40B4-BE49-F238E27FC236}">
                    <a16:creationId xmlns:a16="http://schemas.microsoft.com/office/drawing/2014/main" id="{268A0381-A891-05A7-9491-E24255670412}"/>
                  </a:ext>
                </a:extLst>
              </p:cNvPr>
              <p:cNvSpPr/>
              <p:nvPr/>
            </p:nvSpPr>
            <p:spPr>
              <a:xfrm>
                <a:off x="11487723" y="5316840"/>
                <a:ext cx="338688" cy="3587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𝐻</m:t>
                      </m:r>
                    </m:oMath>
                  </m:oMathPara>
                </a14:m>
                <a:endParaRPr lang="ar-AE" sz="2400">
                  <a:solidFill>
                    <a:schemeClr val="tx1"/>
                  </a:solidFill>
                </a:endParaRPr>
              </a:p>
            </p:txBody>
          </p:sp>
        </mc:Choice>
        <mc:Fallback xmlns="">
          <p:sp>
            <p:nvSpPr>
              <p:cNvPr id="13319" name="Rectangle 13318">
                <a:extLst>
                  <a:ext uri="{FF2B5EF4-FFF2-40B4-BE49-F238E27FC236}">
                    <a16:creationId xmlns:a16="http://schemas.microsoft.com/office/drawing/2014/main" id="{268A0381-A891-05A7-9491-E24255670412}"/>
                  </a:ext>
                </a:extLst>
              </p:cNvPr>
              <p:cNvSpPr>
                <a:spLocks noRot="1" noChangeAspect="1" noMove="1" noResize="1" noEditPoints="1" noAdjustHandles="1" noChangeArrowheads="1" noChangeShapeType="1" noTextEdit="1"/>
              </p:cNvSpPr>
              <p:nvPr/>
            </p:nvSpPr>
            <p:spPr>
              <a:xfrm>
                <a:off x="11487723" y="5316840"/>
                <a:ext cx="338688" cy="358723"/>
              </a:xfrm>
              <a:prstGeom prst="rect">
                <a:avLst/>
              </a:prstGeom>
              <a:blipFill>
                <a:blip r:embed="rId19"/>
                <a:stretch>
                  <a:fillRect l="-44828" t="-26667" r="-55172" b="-46667"/>
                </a:stretch>
              </a:blipFill>
              <a:ln>
                <a:solidFill>
                  <a:schemeClr val="tx1"/>
                </a:solidFill>
              </a:ln>
            </p:spPr>
            <p:txBody>
              <a:bodyPr/>
              <a:lstStyle/>
              <a:p>
                <a:r>
                  <a:rPr lang="en-VN">
                    <a:noFill/>
                  </a:rPr>
                  <a:t> </a:t>
                </a:r>
              </a:p>
            </p:txBody>
          </p:sp>
        </mc:Fallback>
      </mc:AlternateContent>
      <p:sp>
        <p:nvSpPr>
          <p:cNvPr id="13320" name="Oval 13319">
            <a:extLst>
              <a:ext uri="{FF2B5EF4-FFF2-40B4-BE49-F238E27FC236}">
                <a16:creationId xmlns:a16="http://schemas.microsoft.com/office/drawing/2014/main" id="{182E06AB-5CF1-0A56-D0CD-7188A6E95CBA}"/>
              </a:ext>
            </a:extLst>
          </p:cNvPr>
          <p:cNvSpPr/>
          <p:nvPr/>
        </p:nvSpPr>
        <p:spPr>
          <a:xfrm>
            <a:off x="9735294" y="5870484"/>
            <a:ext cx="298565" cy="298565"/>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13321" name="Đường nối Thẳng 67">
            <a:extLst>
              <a:ext uri="{FF2B5EF4-FFF2-40B4-BE49-F238E27FC236}">
                <a16:creationId xmlns:a16="http://schemas.microsoft.com/office/drawing/2014/main" id="{16EFBE7A-F856-842C-4740-E3B593EBABF4}"/>
              </a:ext>
            </a:extLst>
          </p:cNvPr>
          <p:cNvCxnSpPr>
            <a:cxnSpLocks/>
            <a:stCxn id="13320" idx="4"/>
            <a:endCxn id="13322" idx="4"/>
          </p:cNvCxnSpPr>
          <p:nvPr/>
        </p:nvCxnSpPr>
        <p:spPr>
          <a:xfrm flipV="1">
            <a:off x="9884576" y="5596974"/>
            <a:ext cx="0" cy="57207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3322" name="Hình Bầu dục 68">
            <a:extLst>
              <a:ext uri="{FF2B5EF4-FFF2-40B4-BE49-F238E27FC236}">
                <a16:creationId xmlns:a16="http://schemas.microsoft.com/office/drawing/2014/main" id="{3B522757-A802-1D93-D077-73858E7C9C68}"/>
              </a:ext>
            </a:extLst>
          </p:cNvPr>
          <p:cNvSpPr/>
          <p:nvPr/>
        </p:nvSpPr>
        <p:spPr>
          <a:xfrm>
            <a:off x="9821833" y="5486469"/>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p:sp>
        <p:nvSpPr>
          <p:cNvPr id="13324" name="Oval 13323">
            <a:extLst>
              <a:ext uri="{FF2B5EF4-FFF2-40B4-BE49-F238E27FC236}">
                <a16:creationId xmlns:a16="http://schemas.microsoft.com/office/drawing/2014/main" id="{B6AE8E5E-4463-DD99-0C3F-DE0EDEE472DE}"/>
              </a:ext>
            </a:extLst>
          </p:cNvPr>
          <p:cNvSpPr/>
          <p:nvPr/>
        </p:nvSpPr>
        <p:spPr>
          <a:xfrm>
            <a:off x="10748352" y="5870484"/>
            <a:ext cx="298565" cy="298565"/>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cxnSp>
        <p:nvCxnSpPr>
          <p:cNvPr id="13325" name="Đường nối Thẳng 67">
            <a:extLst>
              <a:ext uri="{FF2B5EF4-FFF2-40B4-BE49-F238E27FC236}">
                <a16:creationId xmlns:a16="http://schemas.microsoft.com/office/drawing/2014/main" id="{BDF98DDB-AE3E-F399-4F05-7E4A0DD8EF0B}"/>
              </a:ext>
            </a:extLst>
          </p:cNvPr>
          <p:cNvCxnSpPr>
            <a:cxnSpLocks/>
            <a:stCxn id="13324" idx="4"/>
            <a:endCxn id="13326" idx="4"/>
          </p:cNvCxnSpPr>
          <p:nvPr/>
        </p:nvCxnSpPr>
        <p:spPr>
          <a:xfrm flipV="1">
            <a:off x="10897635" y="5596974"/>
            <a:ext cx="0" cy="57207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3326" name="Hình Bầu dục 68">
            <a:extLst>
              <a:ext uri="{FF2B5EF4-FFF2-40B4-BE49-F238E27FC236}">
                <a16:creationId xmlns:a16="http://schemas.microsoft.com/office/drawing/2014/main" id="{23E71AC4-C8BF-7961-2559-414A80196812}"/>
              </a:ext>
            </a:extLst>
          </p:cNvPr>
          <p:cNvSpPr/>
          <p:nvPr/>
        </p:nvSpPr>
        <p:spPr>
          <a:xfrm>
            <a:off x="10834891" y="5486469"/>
            <a:ext cx="125487" cy="11050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i="1">
              <a:latin typeface="+mj-lt"/>
            </a:endParaRPr>
          </a:p>
        </p:txBody>
      </p:sp>
      <mc:AlternateContent xmlns:mc="http://schemas.openxmlformats.org/markup-compatibility/2006" xmlns:a14="http://schemas.microsoft.com/office/drawing/2010/main">
        <mc:Choice Requires="a14">
          <p:sp>
            <p:nvSpPr>
              <p:cNvPr id="13327" name="Rectangle 13326">
                <a:extLst>
                  <a:ext uri="{FF2B5EF4-FFF2-40B4-BE49-F238E27FC236}">
                    <a16:creationId xmlns:a16="http://schemas.microsoft.com/office/drawing/2014/main" id="{1CD0EAE1-C2CC-F402-8E0F-41F548BF9D5A}"/>
                  </a:ext>
                </a:extLst>
              </p:cNvPr>
              <p:cNvSpPr/>
              <p:nvPr/>
            </p:nvSpPr>
            <p:spPr>
              <a:xfrm>
                <a:off x="9987721" y="5317171"/>
                <a:ext cx="817164" cy="40196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chemeClr val="tx1"/>
                          </a:solidFill>
                          <a:latin typeface="Cambria Math" panose="02040503050406030204" pitchFamily="18" charset="0"/>
                        </a:rPr>
                        <m:t> </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𝑅</m:t>
                          </m:r>
                        </m:e>
                        <m:sub>
                          <m:r>
                            <a:rPr lang="en-US" sz="2400" i="1">
                              <a:solidFill>
                                <a:schemeClr val="tx1"/>
                              </a:solidFill>
                              <a:latin typeface="Cambria Math" panose="02040503050406030204" pitchFamily="18" charset="0"/>
                            </a:rPr>
                            <m:t>𝑍</m:t>
                          </m:r>
                        </m:sub>
                      </m:sSub>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𝜃</m:t>
                          </m:r>
                        </m:e>
                      </m:d>
                    </m:oMath>
                  </m:oMathPara>
                </a14:m>
                <a:endParaRPr lang="ar-AE" sz="2400">
                  <a:solidFill>
                    <a:schemeClr val="tx1"/>
                  </a:solidFill>
                </a:endParaRPr>
              </a:p>
            </p:txBody>
          </p:sp>
        </mc:Choice>
        <mc:Fallback xmlns="">
          <p:sp>
            <p:nvSpPr>
              <p:cNvPr id="13327" name="Rectangle 13326">
                <a:extLst>
                  <a:ext uri="{FF2B5EF4-FFF2-40B4-BE49-F238E27FC236}">
                    <a16:creationId xmlns:a16="http://schemas.microsoft.com/office/drawing/2014/main" id="{1CD0EAE1-C2CC-F402-8E0F-41F548BF9D5A}"/>
                  </a:ext>
                </a:extLst>
              </p:cNvPr>
              <p:cNvSpPr>
                <a:spLocks noRot="1" noChangeAspect="1" noMove="1" noResize="1" noEditPoints="1" noAdjustHandles="1" noChangeArrowheads="1" noChangeShapeType="1" noTextEdit="1"/>
              </p:cNvSpPr>
              <p:nvPr/>
            </p:nvSpPr>
            <p:spPr>
              <a:xfrm>
                <a:off x="9987721" y="5317171"/>
                <a:ext cx="817164" cy="401960"/>
              </a:xfrm>
              <a:prstGeom prst="rect">
                <a:avLst/>
              </a:prstGeom>
              <a:blipFill>
                <a:blip r:embed="rId20"/>
                <a:stretch>
                  <a:fillRect l="-23881" t="-18182" r="-26866" b="-36364"/>
                </a:stretch>
              </a:blipFill>
              <a:ln>
                <a:solidFill>
                  <a:schemeClr val="tx1"/>
                </a:solidFill>
              </a:ln>
            </p:spPr>
            <p:txBody>
              <a:bodyPr/>
              <a:lstStyle/>
              <a:p>
                <a:r>
                  <a:rPr lang="en-VN">
                    <a:noFill/>
                  </a:rPr>
                  <a:t> </a:t>
                </a:r>
              </a:p>
            </p:txBody>
          </p:sp>
        </mc:Fallback>
      </mc:AlternateContent>
      <p:sp>
        <p:nvSpPr>
          <p:cNvPr id="13328" name="TextBox 13327">
            <a:extLst>
              <a:ext uri="{FF2B5EF4-FFF2-40B4-BE49-F238E27FC236}">
                <a16:creationId xmlns:a16="http://schemas.microsoft.com/office/drawing/2014/main" id="{276F6E15-C58B-E1C9-7533-B5E605C6B72B}"/>
              </a:ext>
            </a:extLst>
          </p:cNvPr>
          <p:cNvSpPr txBox="1"/>
          <p:nvPr/>
        </p:nvSpPr>
        <p:spPr>
          <a:xfrm>
            <a:off x="9780672" y="2745810"/>
            <a:ext cx="2208128" cy="338554"/>
          </a:xfrm>
          <a:prstGeom prst="rect">
            <a:avLst/>
          </a:prstGeom>
          <a:noFill/>
        </p:spPr>
        <p:txBody>
          <a:bodyPr wrap="square" rtlCol="0">
            <a:spAutoFit/>
          </a:bodyPr>
          <a:lstStyle/>
          <a:p>
            <a:pPr algn="r"/>
            <a:r>
              <a:rPr lang="en-US" sz="1600">
                <a:solidFill>
                  <a:srgbClr val="FF0000"/>
                </a:solidFill>
              </a:rPr>
              <a:t>Example</a:t>
            </a:r>
            <a:endParaRPr lang="vi-VN" sz="1600">
              <a:solidFill>
                <a:srgbClr val="FF0000"/>
              </a:solidFill>
              <a:latin typeface="Quicksand"/>
            </a:endParaRPr>
          </a:p>
        </p:txBody>
      </p:sp>
    </p:spTree>
    <p:extLst>
      <p:ext uri="{BB962C8B-B14F-4D97-AF65-F5344CB8AC3E}">
        <p14:creationId xmlns:p14="http://schemas.microsoft.com/office/powerpoint/2010/main" val="36115759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BD3D2FB-9F54-851B-D395-D3EBBC4C0378}"/>
                  </a:ext>
                </a:extLst>
              </p:cNvPr>
              <p:cNvSpPr>
                <a:spLocks noGrp="1"/>
              </p:cNvSpPr>
              <p:nvPr>
                <p:ph type="title"/>
              </p:nvPr>
            </p:nvSpPr>
            <p:spPr/>
            <p:txBody>
              <a:bodyPr/>
              <a:lstStyle/>
              <a:p>
                <a:r>
                  <a:rPr lang="en-US"/>
                  <a:t>Quantum embedding (embedding </a:t>
                </a:r>
                <a14:m>
                  <m:oMath xmlns:m="http://schemas.openxmlformats.org/officeDocument/2006/math">
                    <m:r>
                      <a:rPr lang="en-US" b="0" i="1" smtClean="0">
                        <a:latin typeface="Cambria Math" panose="02040503050406030204" pitchFamily="18" charset="0"/>
                      </a:rPr>
                      <m:t>𝑥</m:t>
                    </m:r>
                  </m:oMath>
                </a14:m>
                <a:r>
                  <a:rPr lang="en-US"/>
                  <a:t> into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oMath>
                </a14:m>
                <a:endParaRPr lang="vi-VN"/>
              </a:p>
            </p:txBody>
          </p:sp>
        </mc:Choice>
        <mc:Fallback xmlns="">
          <p:sp>
            <p:nvSpPr>
              <p:cNvPr id="2" name="Title 1">
                <a:extLst>
                  <a:ext uri="{FF2B5EF4-FFF2-40B4-BE49-F238E27FC236}">
                    <a16:creationId xmlns:a16="http://schemas.microsoft.com/office/drawing/2014/main" id="{5BD3D2FB-9F54-851B-D395-D3EBBC4C0378}"/>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153D5BA9-65C1-ACF2-5962-122A2FEFB271}"/>
              </a:ext>
            </a:extLst>
          </p:cNvPr>
          <p:cNvSpPr>
            <a:spLocks noGrp="1"/>
          </p:cNvSpPr>
          <p:nvPr>
            <p:ph type="sldNum" sz="quarter" idx="12"/>
          </p:nvPr>
        </p:nvSpPr>
        <p:spPr/>
        <p:txBody>
          <a:bodyPr/>
          <a:lstStyle/>
          <a:p>
            <a:fld id="{71331178-9F85-4EDF-BDD3-1E7064DA4C59}" type="slidenum">
              <a:rPr lang="vi-VN" smtClean="0"/>
              <a:t>35</a:t>
            </a:fld>
            <a:endParaRPr lang="vi-VN"/>
          </a:p>
        </p:txBody>
      </p:sp>
      <p:cxnSp>
        <p:nvCxnSpPr>
          <p:cNvPr id="17" name="Straight Connector 16">
            <a:extLst>
              <a:ext uri="{FF2B5EF4-FFF2-40B4-BE49-F238E27FC236}">
                <a16:creationId xmlns:a16="http://schemas.microsoft.com/office/drawing/2014/main" id="{B13AAA5A-1229-9607-C668-58520ACFFB8F}"/>
              </a:ext>
            </a:extLst>
          </p:cNvPr>
          <p:cNvCxnSpPr>
            <a:cxnSpLocks/>
          </p:cNvCxnSpPr>
          <p:nvPr/>
        </p:nvCxnSpPr>
        <p:spPr>
          <a:xfrm>
            <a:off x="1002506" y="1942673"/>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ECFDB6C3-DBE2-35C2-637D-4575512FD52F}"/>
                  </a:ext>
                </a:extLst>
              </p:cNvPr>
              <p:cNvSpPr/>
              <p:nvPr/>
            </p:nvSpPr>
            <p:spPr>
              <a:xfrm>
                <a:off x="2023160" y="1503895"/>
                <a:ext cx="1522873"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𝑈</m:t>
                          </m:r>
                        </m:e>
                        <m:sub>
                          <m:r>
                            <a:rPr lang="en-US" sz="2400" b="0" i="1" smtClean="0">
                              <a:solidFill>
                                <a:schemeClr val="tx1"/>
                              </a:solidFill>
                              <a:latin typeface="Cambria Math" panose="02040503050406030204" pitchFamily="18" charset="0"/>
                            </a:rPr>
                            <m:t>𝜙</m:t>
                          </m:r>
                        </m:sub>
                      </m:sSub>
                      <m:d>
                        <m:dPr>
                          <m:ctrlPr>
                            <a:rPr lang="en-US" sz="2400" i="1">
                              <a:solidFill>
                                <a:schemeClr val="tx1"/>
                              </a:solidFill>
                              <a:latin typeface="Cambria Math" panose="02040503050406030204" pitchFamily="18" charset="0"/>
                            </a:rPr>
                          </m:ctrlPr>
                        </m:dPr>
                        <m:e>
                          <m:r>
                            <a:rPr lang="en-US" sz="2400" b="1" i="1" smtClean="0">
                              <a:solidFill>
                                <a:schemeClr val="tx1"/>
                              </a:solidFill>
                              <a:latin typeface="Cambria Math" panose="02040503050406030204" pitchFamily="18" charset="0"/>
                            </a:rPr>
                            <m:t>𝒙</m:t>
                          </m:r>
                        </m:e>
                      </m:d>
                    </m:oMath>
                  </m:oMathPara>
                </a14:m>
                <a:endParaRPr lang="ar-AE" sz="2400">
                  <a:solidFill>
                    <a:schemeClr val="tx1"/>
                  </a:solidFill>
                </a:endParaRPr>
              </a:p>
            </p:txBody>
          </p:sp>
        </mc:Choice>
        <mc:Fallback xmlns="">
          <p:sp>
            <p:nvSpPr>
              <p:cNvPr id="18" name="Rectangle 17">
                <a:extLst>
                  <a:ext uri="{FF2B5EF4-FFF2-40B4-BE49-F238E27FC236}">
                    <a16:creationId xmlns:a16="http://schemas.microsoft.com/office/drawing/2014/main" id="{ECFDB6C3-DBE2-35C2-637D-4575512FD52F}"/>
                  </a:ext>
                </a:extLst>
              </p:cNvPr>
              <p:cNvSpPr>
                <a:spLocks noRot="1" noChangeAspect="1" noMove="1" noResize="1" noEditPoints="1" noAdjustHandles="1" noChangeArrowheads="1" noChangeShapeType="1" noTextEdit="1"/>
              </p:cNvSpPr>
              <p:nvPr/>
            </p:nvSpPr>
            <p:spPr>
              <a:xfrm>
                <a:off x="2023160" y="1503895"/>
                <a:ext cx="1522873" cy="867719"/>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19" name="Straight Connector 18">
            <a:extLst>
              <a:ext uri="{FF2B5EF4-FFF2-40B4-BE49-F238E27FC236}">
                <a16:creationId xmlns:a16="http://schemas.microsoft.com/office/drawing/2014/main" id="{20A62A94-9221-3B58-6066-8A6C27FA4FA4}"/>
              </a:ext>
            </a:extLst>
          </p:cNvPr>
          <p:cNvCxnSpPr>
            <a:cxnSpLocks/>
          </p:cNvCxnSpPr>
          <p:nvPr/>
        </p:nvCxnSpPr>
        <p:spPr>
          <a:xfrm flipV="1">
            <a:off x="1253530" y="1802303"/>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CA7EAB6-64A2-5E72-21A5-1F8E0A216EB3}"/>
                  </a:ext>
                </a:extLst>
              </p:cNvPr>
              <p:cNvSpPr txBox="1"/>
              <p:nvPr/>
            </p:nvSpPr>
            <p:spPr>
              <a:xfrm>
                <a:off x="838200" y="2463864"/>
                <a:ext cx="2160460" cy="476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0</m:t>
                              </m:r>
                            </m:sub>
                          </m:sSub>
                        </m:e>
                      </m:d>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e>
                        <m:sup>
                          <m:r>
                            <a:rPr lang="en-US" sz="2400" i="1">
                              <a:latin typeface="Cambria Math" panose="02040503050406030204" pitchFamily="18" charset="0"/>
                            </a:rPr>
                            <m:t>⊗</m:t>
                          </m:r>
                          <m:r>
                            <a:rPr lang="en-US" sz="2400" i="1">
                              <a:latin typeface="Cambria Math" panose="02040503050406030204" pitchFamily="18" charset="0"/>
                            </a:rPr>
                            <m:t>𝑛</m:t>
                          </m:r>
                        </m:sup>
                      </m:sSup>
                    </m:oMath>
                  </m:oMathPara>
                </a14:m>
                <a:endParaRPr lang="vi-VN" sz="2400" b="1"/>
              </a:p>
            </p:txBody>
          </p:sp>
        </mc:Choice>
        <mc:Fallback xmlns="">
          <p:sp>
            <p:nvSpPr>
              <p:cNvPr id="20" name="TextBox 19">
                <a:extLst>
                  <a:ext uri="{FF2B5EF4-FFF2-40B4-BE49-F238E27FC236}">
                    <a16:creationId xmlns:a16="http://schemas.microsoft.com/office/drawing/2014/main" id="{CCA7EAB6-64A2-5E72-21A5-1F8E0A216EB3}"/>
                  </a:ext>
                </a:extLst>
              </p:cNvPr>
              <p:cNvSpPr txBox="1">
                <a:spLocks noRot="1" noChangeAspect="1" noMove="1" noResize="1" noEditPoints="1" noAdjustHandles="1" noChangeArrowheads="1" noChangeShapeType="1" noTextEdit="1"/>
              </p:cNvSpPr>
              <p:nvPr/>
            </p:nvSpPr>
            <p:spPr>
              <a:xfrm>
                <a:off x="838200" y="2463864"/>
                <a:ext cx="2160460" cy="476990"/>
              </a:xfrm>
              <a:prstGeom prst="rect">
                <a:avLst/>
              </a:prstGeom>
              <a:blipFill>
                <a:blip r:embed="rId4"/>
                <a:stretch>
                  <a:fillRect/>
                </a:stretch>
              </a:blipFill>
            </p:spPr>
            <p:txBody>
              <a:bodyPr/>
              <a:lstStyle/>
              <a:p>
                <a:r>
                  <a:rPr lang="vi-VN">
                    <a:noFill/>
                  </a:rPr>
                  <a:t> </a:t>
                </a:r>
              </a:p>
            </p:txBody>
          </p:sp>
        </mc:Fallback>
      </mc:AlternateContent>
      <p:cxnSp>
        <p:nvCxnSpPr>
          <p:cNvPr id="21" name="Straight Arrow Connector 20">
            <a:extLst>
              <a:ext uri="{FF2B5EF4-FFF2-40B4-BE49-F238E27FC236}">
                <a16:creationId xmlns:a16="http://schemas.microsoft.com/office/drawing/2014/main" id="{968F4943-75A4-29FD-1E14-7ADFFE838D1C}"/>
              </a:ext>
            </a:extLst>
          </p:cNvPr>
          <p:cNvCxnSpPr>
            <a:cxnSpLocks/>
          </p:cNvCxnSpPr>
          <p:nvPr/>
        </p:nvCxnSpPr>
        <p:spPr>
          <a:xfrm flipV="1">
            <a:off x="1653387" y="1961567"/>
            <a:ext cx="0" cy="488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7E72EE7-9F41-B2D0-A55E-8D2AEF263A9E}"/>
                  </a:ext>
                </a:extLst>
              </p:cNvPr>
              <p:cNvSpPr txBox="1"/>
              <p:nvPr/>
            </p:nvSpPr>
            <p:spPr>
              <a:xfrm>
                <a:off x="3110717" y="2463864"/>
                <a:ext cx="3410080" cy="49481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𝜓</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e>
                      </m:d>
                      <m:r>
                        <a:rPr lang="en-US" sz="2400" i="1">
                          <a:latin typeface="Cambria Math" panose="02040503050406030204" pitchFamily="18" charset="0"/>
                        </a:rPr>
                        <m:t>=</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𝑈</m:t>
                          </m:r>
                        </m:e>
                        <m:sub>
                          <m:r>
                            <a:rPr lang="en-US" sz="2400" b="0" i="1" smtClean="0">
                              <a:latin typeface="Cambria Math" panose="02040503050406030204" pitchFamily="18" charset="0"/>
                            </a:rPr>
                            <m:t>𝜙</m:t>
                          </m:r>
                        </m:sub>
                      </m:sSub>
                      <m:d>
                        <m:dPr>
                          <m:ctrlPr>
                            <a:rPr lang="en-US" sz="2400" i="1">
                              <a:latin typeface="Cambria Math" panose="02040503050406030204" pitchFamily="18" charset="0"/>
                            </a:rPr>
                          </m:ctrlPr>
                        </m:dPr>
                        <m:e>
                          <m:r>
                            <a:rPr lang="en-US" sz="2400" b="1" i="1" smtClean="0">
                              <a:latin typeface="Cambria Math" panose="02040503050406030204" pitchFamily="18" charset="0"/>
                            </a:rPr>
                            <m:t>𝒙</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0</m:t>
                          </m:r>
                        </m:sub>
                      </m:sSub>
                      <m:r>
                        <a:rPr lang="en-US" sz="2400" i="1">
                          <a:latin typeface="Cambria Math" panose="02040503050406030204" pitchFamily="18" charset="0"/>
                        </a:rPr>
                        <m:t>⟩</m:t>
                      </m:r>
                    </m:oMath>
                  </m:oMathPara>
                </a14:m>
                <a:endParaRPr lang="ar-AE" sz="2400"/>
              </a:p>
            </p:txBody>
          </p:sp>
        </mc:Choice>
        <mc:Fallback xmlns="">
          <p:sp>
            <p:nvSpPr>
              <p:cNvPr id="22" name="TextBox 21">
                <a:extLst>
                  <a:ext uri="{FF2B5EF4-FFF2-40B4-BE49-F238E27FC236}">
                    <a16:creationId xmlns:a16="http://schemas.microsoft.com/office/drawing/2014/main" id="{C7E72EE7-9F41-B2D0-A55E-8D2AEF263A9E}"/>
                  </a:ext>
                </a:extLst>
              </p:cNvPr>
              <p:cNvSpPr txBox="1">
                <a:spLocks noRot="1" noChangeAspect="1" noMove="1" noResize="1" noEditPoints="1" noAdjustHandles="1" noChangeArrowheads="1" noChangeShapeType="1" noTextEdit="1"/>
              </p:cNvSpPr>
              <p:nvPr/>
            </p:nvSpPr>
            <p:spPr>
              <a:xfrm>
                <a:off x="3110717" y="2463864"/>
                <a:ext cx="3410080" cy="494815"/>
              </a:xfrm>
              <a:prstGeom prst="rect">
                <a:avLst/>
              </a:prstGeom>
              <a:blipFill>
                <a:blip r:embed="rId5"/>
                <a:stretch>
                  <a:fillRect b="-12346"/>
                </a:stretch>
              </a:blipFill>
            </p:spPr>
            <p:txBody>
              <a:bodyPr/>
              <a:lstStyle/>
              <a:p>
                <a:r>
                  <a:rPr lang="vi-VN">
                    <a:noFill/>
                  </a:rPr>
                  <a:t> </a:t>
                </a:r>
              </a:p>
            </p:txBody>
          </p:sp>
        </mc:Fallback>
      </mc:AlternateContent>
      <p:cxnSp>
        <p:nvCxnSpPr>
          <p:cNvPr id="23" name="Straight Arrow Connector 22">
            <a:extLst>
              <a:ext uri="{FF2B5EF4-FFF2-40B4-BE49-F238E27FC236}">
                <a16:creationId xmlns:a16="http://schemas.microsoft.com/office/drawing/2014/main" id="{E8D036F6-D830-11BA-7B8E-BD6859A22766}"/>
              </a:ext>
            </a:extLst>
          </p:cNvPr>
          <p:cNvCxnSpPr>
            <a:cxnSpLocks/>
          </p:cNvCxnSpPr>
          <p:nvPr/>
        </p:nvCxnSpPr>
        <p:spPr>
          <a:xfrm flipV="1">
            <a:off x="3925905" y="1961567"/>
            <a:ext cx="0" cy="488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3E4748AB-3625-2398-A705-1D30DD65AD22}"/>
                  </a:ext>
                </a:extLst>
              </p:cNvPr>
              <p:cNvSpPr txBox="1">
                <a:spLocks/>
              </p:cNvSpPr>
              <p:nvPr/>
            </p:nvSpPr>
            <p:spPr>
              <a:xfrm>
                <a:off x="914400" y="3060127"/>
                <a:ext cx="5394955" cy="507747"/>
              </a:xfrm>
              <a:prstGeom prst="rect">
                <a:avLst/>
              </a:prstGeom>
            </p:spPr>
            <p:txBody>
              <a:bodyPr vert="horz" lIns="121920" tIns="60960" rIns="121920" bIns="6096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a:t>For example: </a:t>
                </a:r>
                <a14:m>
                  <m:oMath xmlns:m="http://schemas.openxmlformats.org/officeDocument/2006/math">
                    <m:r>
                      <a:rPr lang="en-US" sz="2400" b="1" i="1" smtClean="0">
                        <a:latin typeface="Cambria Math" panose="02040503050406030204" pitchFamily="18" charset="0"/>
                      </a:rPr>
                      <m:t>𝒙</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m>
                          <m:mPr>
                            <m:mcs>
                              <m:mc>
                                <m:mcPr>
                                  <m:count m:val="3"/>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1</m:t>
                              </m:r>
                            </m:e>
                            <m:e>
                              <m:r>
                                <a:rPr lang="en-US" sz="2400" b="0" i="1" smtClean="0">
                                  <a:latin typeface="Cambria Math" panose="02040503050406030204" pitchFamily="18" charset="0"/>
                                </a:rPr>
                                <m:t>2</m:t>
                              </m:r>
                            </m:e>
                            <m:e>
                              <m:r>
                                <a:rPr lang="en-US" sz="2400" b="0" i="1" smtClean="0">
                                  <a:latin typeface="Cambria Math" panose="02040503050406030204" pitchFamily="18" charset="0"/>
                                </a:rPr>
                                <m:t>3</m:t>
                              </m:r>
                            </m:e>
                          </m:mr>
                        </m:m>
                      </m:e>
                    </m:d>
                  </m:oMath>
                </a14:m>
                <a:endParaRPr lang="vi-VN" sz="2400"/>
              </a:p>
            </p:txBody>
          </p:sp>
        </mc:Choice>
        <mc:Fallback xmlns="">
          <p:sp>
            <p:nvSpPr>
              <p:cNvPr id="26" name="Content Placeholder 2">
                <a:extLst>
                  <a:ext uri="{FF2B5EF4-FFF2-40B4-BE49-F238E27FC236}">
                    <a16:creationId xmlns:a16="http://schemas.microsoft.com/office/drawing/2014/main" id="{3E4748AB-3625-2398-A705-1D30DD65AD22}"/>
                  </a:ext>
                </a:extLst>
              </p:cNvPr>
              <p:cNvSpPr txBox="1">
                <a:spLocks noRot="1" noChangeAspect="1" noMove="1" noResize="1" noEditPoints="1" noAdjustHandles="1" noChangeArrowheads="1" noChangeShapeType="1" noTextEdit="1"/>
              </p:cNvSpPr>
              <p:nvPr/>
            </p:nvSpPr>
            <p:spPr>
              <a:xfrm>
                <a:off x="914400" y="3060127"/>
                <a:ext cx="5394955" cy="507747"/>
              </a:xfrm>
              <a:prstGeom prst="rect">
                <a:avLst/>
              </a:prstGeom>
              <a:blipFill>
                <a:blip r:embed="rId6"/>
                <a:stretch>
                  <a:fillRect l="-1130" t="-14458" b="-13253"/>
                </a:stretch>
              </a:blipFill>
            </p:spPr>
            <p:txBody>
              <a:bodyPr/>
              <a:lstStyle/>
              <a:p>
                <a:r>
                  <a:rPr lang="vi-VN">
                    <a:noFill/>
                  </a:rPr>
                  <a:t> </a:t>
                </a:r>
              </a:p>
            </p:txBody>
          </p:sp>
        </mc:Fallback>
      </mc:AlternateContent>
      <p:cxnSp>
        <p:nvCxnSpPr>
          <p:cNvPr id="29" name="Straight Connector 28">
            <a:extLst>
              <a:ext uri="{FF2B5EF4-FFF2-40B4-BE49-F238E27FC236}">
                <a16:creationId xmlns:a16="http://schemas.microsoft.com/office/drawing/2014/main" id="{FDFAB55C-0581-A4BA-BFCD-D63F476ADD42}"/>
              </a:ext>
            </a:extLst>
          </p:cNvPr>
          <p:cNvCxnSpPr>
            <a:cxnSpLocks/>
          </p:cNvCxnSpPr>
          <p:nvPr/>
        </p:nvCxnSpPr>
        <p:spPr>
          <a:xfrm>
            <a:off x="1002506" y="4149651"/>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C95023B5-91D8-5C65-FDEA-4EAB7AB89E7A}"/>
                  </a:ext>
                </a:extLst>
              </p:cNvPr>
              <p:cNvSpPr/>
              <p:nvPr/>
            </p:nvSpPr>
            <p:spPr>
              <a:xfrm>
                <a:off x="2023159" y="3895777"/>
                <a:ext cx="1522873" cy="5077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𝑦</m:t>
                          </m:r>
                        </m:sub>
                      </m:sSub>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[0]</m:t>
                          </m:r>
                        </m:e>
                      </m:d>
                    </m:oMath>
                  </m:oMathPara>
                </a14:m>
                <a:endParaRPr lang="ar-AE" sz="2400">
                  <a:solidFill>
                    <a:schemeClr val="tx1"/>
                  </a:solidFill>
                </a:endParaRPr>
              </a:p>
            </p:txBody>
          </p:sp>
        </mc:Choice>
        <mc:Fallback xmlns="">
          <p:sp>
            <p:nvSpPr>
              <p:cNvPr id="30" name="Rectangle 29">
                <a:extLst>
                  <a:ext uri="{FF2B5EF4-FFF2-40B4-BE49-F238E27FC236}">
                    <a16:creationId xmlns:a16="http://schemas.microsoft.com/office/drawing/2014/main" id="{C95023B5-91D8-5C65-FDEA-4EAB7AB89E7A}"/>
                  </a:ext>
                </a:extLst>
              </p:cNvPr>
              <p:cNvSpPr>
                <a:spLocks noRot="1" noChangeAspect="1" noMove="1" noResize="1" noEditPoints="1" noAdjustHandles="1" noChangeArrowheads="1" noChangeShapeType="1" noTextEdit="1"/>
              </p:cNvSpPr>
              <p:nvPr/>
            </p:nvSpPr>
            <p:spPr>
              <a:xfrm>
                <a:off x="2023159" y="3895777"/>
                <a:ext cx="1522873" cy="507748"/>
              </a:xfrm>
              <a:prstGeom prst="rect">
                <a:avLst/>
              </a:prstGeom>
              <a:blipFill>
                <a:blip r:embed="rId7"/>
                <a:stretch>
                  <a:fillRect b="-9412"/>
                </a:stretch>
              </a:blipFill>
              <a:ln>
                <a:solidFill>
                  <a:schemeClr val="tx1"/>
                </a:solidFill>
              </a:ln>
            </p:spPr>
            <p:txBody>
              <a:bodyPr/>
              <a:lstStyle/>
              <a:p>
                <a:r>
                  <a:rPr lang="vi-VN">
                    <a:noFill/>
                  </a:rPr>
                  <a:t> </a:t>
                </a:r>
              </a:p>
            </p:txBody>
          </p:sp>
        </mc:Fallback>
      </mc:AlternateContent>
      <p:cxnSp>
        <p:nvCxnSpPr>
          <p:cNvPr id="31" name="Straight Connector 30">
            <a:extLst>
              <a:ext uri="{FF2B5EF4-FFF2-40B4-BE49-F238E27FC236}">
                <a16:creationId xmlns:a16="http://schemas.microsoft.com/office/drawing/2014/main" id="{BBF679CC-C045-0DA7-9FC6-577986E9B331}"/>
              </a:ext>
            </a:extLst>
          </p:cNvPr>
          <p:cNvCxnSpPr>
            <a:cxnSpLocks/>
          </p:cNvCxnSpPr>
          <p:nvPr/>
        </p:nvCxnSpPr>
        <p:spPr>
          <a:xfrm>
            <a:off x="1002506" y="4776184"/>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1F753AC4-FABF-AC49-684E-36889C611BCC}"/>
                  </a:ext>
                </a:extLst>
              </p:cNvPr>
              <p:cNvSpPr/>
              <p:nvPr/>
            </p:nvSpPr>
            <p:spPr>
              <a:xfrm>
                <a:off x="2023159" y="4522310"/>
                <a:ext cx="1522873" cy="5077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𝑦</m:t>
                          </m:r>
                        </m:sub>
                      </m:sSub>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[1]</m:t>
                          </m:r>
                        </m:e>
                      </m:d>
                    </m:oMath>
                  </m:oMathPara>
                </a14:m>
                <a:endParaRPr lang="ar-AE" sz="2400">
                  <a:solidFill>
                    <a:schemeClr val="tx1"/>
                  </a:solidFill>
                </a:endParaRPr>
              </a:p>
            </p:txBody>
          </p:sp>
        </mc:Choice>
        <mc:Fallback xmlns="">
          <p:sp>
            <p:nvSpPr>
              <p:cNvPr id="32" name="Rectangle 31">
                <a:extLst>
                  <a:ext uri="{FF2B5EF4-FFF2-40B4-BE49-F238E27FC236}">
                    <a16:creationId xmlns:a16="http://schemas.microsoft.com/office/drawing/2014/main" id="{1F753AC4-FABF-AC49-684E-36889C611BCC}"/>
                  </a:ext>
                </a:extLst>
              </p:cNvPr>
              <p:cNvSpPr>
                <a:spLocks noRot="1" noChangeAspect="1" noMove="1" noResize="1" noEditPoints="1" noAdjustHandles="1" noChangeArrowheads="1" noChangeShapeType="1" noTextEdit="1"/>
              </p:cNvSpPr>
              <p:nvPr/>
            </p:nvSpPr>
            <p:spPr>
              <a:xfrm>
                <a:off x="2023159" y="4522310"/>
                <a:ext cx="1522873" cy="507748"/>
              </a:xfrm>
              <a:prstGeom prst="rect">
                <a:avLst/>
              </a:prstGeom>
              <a:blipFill>
                <a:blip r:embed="rId8"/>
                <a:stretch>
                  <a:fillRect b="-9412"/>
                </a:stretch>
              </a:blipFill>
              <a:ln>
                <a:solidFill>
                  <a:schemeClr val="tx1"/>
                </a:solidFill>
              </a:ln>
            </p:spPr>
            <p:txBody>
              <a:bodyPr/>
              <a:lstStyle/>
              <a:p>
                <a:r>
                  <a:rPr lang="vi-VN">
                    <a:noFill/>
                  </a:rPr>
                  <a:t> </a:t>
                </a:r>
              </a:p>
            </p:txBody>
          </p:sp>
        </mc:Fallback>
      </mc:AlternateContent>
      <p:cxnSp>
        <p:nvCxnSpPr>
          <p:cNvPr id="33" name="Straight Connector 32">
            <a:extLst>
              <a:ext uri="{FF2B5EF4-FFF2-40B4-BE49-F238E27FC236}">
                <a16:creationId xmlns:a16="http://schemas.microsoft.com/office/drawing/2014/main" id="{A891E006-BE6F-0D3C-43D9-7EDEEB8ADE46}"/>
              </a:ext>
            </a:extLst>
          </p:cNvPr>
          <p:cNvCxnSpPr>
            <a:cxnSpLocks/>
          </p:cNvCxnSpPr>
          <p:nvPr/>
        </p:nvCxnSpPr>
        <p:spPr>
          <a:xfrm>
            <a:off x="1002506" y="5402717"/>
            <a:ext cx="40618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1374D0CF-8A3E-1E1E-AC03-4B79F7D4CE71}"/>
                  </a:ext>
                </a:extLst>
              </p:cNvPr>
              <p:cNvSpPr/>
              <p:nvPr/>
            </p:nvSpPr>
            <p:spPr>
              <a:xfrm>
                <a:off x="2023159" y="5148843"/>
                <a:ext cx="1522873" cy="5077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𝑦</m:t>
                          </m:r>
                        </m:sub>
                      </m:sSub>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[2]</m:t>
                          </m:r>
                        </m:e>
                      </m:d>
                    </m:oMath>
                  </m:oMathPara>
                </a14:m>
                <a:endParaRPr lang="ar-AE" sz="2400">
                  <a:solidFill>
                    <a:schemeClr val="tx1"/>
                  </a:solidFill>
                </a:endParaRPr>
              </a:p>
            </p:txBody>
          </p:sp>
        </mc:Choice>
        <mc:Fallback xmlns="">
          <p:sp>
            <p:nvSpPr>
              <p:cNvPr id="34" name="Rectangle 33">
                <a:extLst>
                  <a:ext uri="{FF2B5EF4-FFF2-40B4-BE49-F238E27FC236}">
                    <a16:creationId xmlns:a16="http://schemas.microsoft.com/office/drawing/2014/main" id="{1374D0CF-8A3E-1E1E-AC03-4B79F7D4CE71}"/>
                  </a:ext>
                </a:extLst>
              </p:cNvPr>
              <p:cNvSpPr>
                <a:spLocks noRot="1" noChangeAspect="1" noMove="1" noResize="1" noEditPoints="1" noAdjustHandles="1" noChangeArrowheads="1" noChangeShapeType="1" noTextEdit="1"/>
              </p:cNvSpPr>
              <p:nvPr/>
            </p:nvSpPr>
            <p:spPr>
              <a:xfrm>
                <a:off x="2023159" y="5148843"/>
                <a:ext cx="1522873" cy="507748"/>
              </a:xfrm>
              <a:prstGeom prst="rect">
                <a:avLst/>
              </a:prstGeom>
              <a:blipFill>
                <a:blip r:embed="rId9"/>
                <a:stretch>
                  <a:fillRect b="-8235"/>
                </a:stretch>
              </a:blipFill>
              <a:ln>
                <a:solidFill>
                  <a:schemeClr val="tx1"/>
                </a:solidFill>
              </a:ln>
            </p:spPr>
            <p:txBody>
              <a:bodyPr/>
              <a:lstStyle/>
              <a:p>
                <a:r>
                  <a:rPr lang="vi-VN">
                    <a:noFill/>
                  </a:rPr>
                  <a:t> </a:t>
                </a:r>
              </a:p>
            </p:txBody>
          </p:sp>
        </mc:Fallback>
      </mc:AlternateContent>
      <p:sp>
        <p:nvSpPr>
          <p:cNvPr id="38" name="TextBox 37">
            <a:extLst>
              <a:ext uri="{FF2B5EF4-FFF2-40B4-BE49-F238E27FC236}">
                <a16:creationId xmlns:a16="http://schemas.microsoft.com/office/drawing/2014/main" id="{D0892B8F-3816-BDA6-AEE6-5D1A2D7E57DF}"/>
              </a:ext>
            </a:extLst>
          </p:cNvPr>
          <p:cNvSpPr txBox="1"/>
          <p:nvPr/>
        </p:nvSpPr>
        <p:spPr>
          <a:xfrm>
            <a:off x="914400" y="6033184"/>
            <a:ext cx="6378222" cy="646331"/>
          </a:xfrm>
          <a:prstGeom prst="rect">
            <a:avLst/>
          </a:prstGeom>
          <a:noFill/>
          <a:ln>
            <a:solidFill>
              <a:srgbClr val="FF0000"/>
            </a:solidFill>
          </a:ln>
        </p:spPr>
        <p:txBody>
          <a:bodyPr wrap="square">
            <a:spAutoFit/>
          </a:bodyPr>
          <a:lstStyle/>
          <a:p>
            <a:r>
              <a:rPr lang="en-US" b="1">
                <a:solidFill>
                  <a:srgbClr val="FF0000"/>
                </a:solidFill>
                <a:latin typeface="Calibri" panose="020F0502020204030204" pitchFamily="34" charset="0"/>
                <a:ea typeface="Calibri" panose="020F0502020204030204" pitchFamily="34" charset="0"/>
                <a:cs typeface="Calibri" panose="020F0502020204030204" pitchFamily="34" charset="0"/>
              </a:rPr>
              <a:t>Readmore</a:t>
            </a:r>
            <a:r>
              <a:rPr lang="en-US">
                <a:solidFill>
                  <a:srgbClr val="FF0000"/>
                </a:solidFill>
                <a:latin typeface="Calibri" panose="020F0502020204030204" pitchFamily="34" charset="0"/>
                <a:ea typeface="Calibri" panose="020F0502020204030204" pitchFamily="34" charset="0"/>
                <a:cs typeface="Calibri" panose="020F0502020204030204" pitchFamily="34" charset="0"/>
              </a:rPr>
              <a:t>:</a:t>
            </a:r>
          </a:p>
          <a:p>
            <a:r>
              <a:rPr lang="vi-VN">
                <a:solidFill>
                  <a:srgbClr val="FF0000"/>
                </a:solidFill>
                <a:latin typeface="Calibri" panose="020F0502020204030204" pitchFamily="34" charset="0"/>
                <a:ea typeface="Calibri" panose="020F0502020204030204" pitchFamily="34" charset="0"/>
                <a:cs typeface="Calibri" panose="020F0502020204030204" pitchFamily="34" charset="0"/>
              </a:rPr>
              <a:t>https://docs.pennylane.ai/en/stable/introduction/templates.html</a:t>
            </a:r>
          </a:p>
        </p:txBody>
      </p:sp>
    </p:spTree>
    <p:extLst>
      <p:ext uri="{BB962C8B-B14F-4D97-AF65-F5344CB8AC3E}">
        <p14:creationId xmlns:p14="http://schemas.microsoft.com/office/powerpoint/2010/main" val="40254204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Straight Connector 48">
            <a:extLst>
              <a:ext uri="{FF2B5EF4-FFF2-40B4-BE49-F238E27FC236}">
                <a16:creationId xmlns:a16="http://schemas.microsoft.com/office/drawing/2014/main" id="{1495C2AD-6176-B3FC-45FB-50A20B28E237}"/>
              </a:ext>
            </a:extLst>
          </p:cNvPr>
          <p:cNvCxnSpPr/>
          <p:nvPr/>
        </p:nvCxnSpPr>
        <p:spPr>
          <a:xfrm>
            <a:off x="1043459" y="5349103"/>
            <a:ext cx="28997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ADD38E-63EF-154C-B348-F04AF9E1AA4A}"/>
              </a:ext>
            </a:extLst>
          </p:cNvPr>
          <p:cNvSpPr>
            <a:spLocks noGrp="1"/>
          </p:cNvSpPr>
          <p:nvPr>
            <p:ph type="title"/>
          </p:nvPr>
        </p:nvSpPr>
        <p:spPr/>
        <p:txBody>
          <a:bodyPr>
            <a:normAutofit/>
          </a:bodyPr>
          <a:lstStyle/>
          <a:p>
            <a:r>
              <a:rPr lang="en-US"/>
              <a:t>Quantum optimization</a:t>
            </a:r>
            <a:endParaRPr lang="en-VN"/>
          </a:p>
        </p:txBody>
      </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D21E891-5D4C-C534-335C-0F82247E7E6C}"/>
                  </a:ext>
                </a:extLst>
              </p:cNvPr>
              <p:cNvSpPr/>
              <p:nvPr/>
            </p:nvSpPr>
            <p:spPr>
              <a:xfrm>
                <a:off x="838200" y="1441622"/>
                <a:ext cx="8772611" cy="12137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Considering a </a:t>
                </a:r>
                <a:r>
                  <a:rPr lang="vi-VN" sz="2800">
                    <a:solidFill>
                      <a:srgbClr val="FF0000"/>
                    </a:solidFill>
                    <a:latin typeface="Calibri" panose="020F0502020204030204" pitchFamily="34" charset="0"/>
                    <a:ea typeface="Cambria Math" panose="02040503050406030204" pitchFamily="18" charset="0"/>
                    <a:cs typeface="Calibri" panose="020F0502020204030204" pitchFamily="34" charset="0"/>
                  </a:rPr>
                  <a:t>PQC</a:t>
                </a:r>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a:t>
                </a:r>
              </a:p>
              <a:p>
                <a:pPr lvl="1"/>
                <a14:m>
                  <m:oMath xmlns:m="http://schemas.openxmlformats.org/officeDocument/2006/math">
                    <m:r>
                      <a:rPr lang="vi-VN" sz="2800" i="1">
                        <a:solidFill>
                          <a:srgbClr val="FF0000"/>
                        </a:solidFill>
                        <a:latin typeface="Cambria Math" panose="02040503050406030204" pitchFamily="18" charset="0"/>
                        <a:ea typeface="Cambria Math" panose="02040503050406030204" pitchFamily="18" charset="0"/>
                      </a:rPr>
                      <m:t>𝑈</m:t>
                    </m:r>
                    <m:d>
                      <m:dPr>
                        <m:ctrlPr>
                          <a:rPr lang="vi-VN" sz="2800" i="1">
                            <a:solidFill>
                              <a:srgbClr val="FF0000"/>
                            </a:solidFill>
                            <a:latin typeface="Cambria Math" panose="02040503050406030204" pitchFamily="18" charset="0"/>
                            <a:ea typeface="Cambria Math" panose="02040503050406030204" pitchFamily="18" charset="0"/>
                          </a:rPr>
                        </m:ctrlPr>
                      </m:dPr>
                      <m:e>
                        <m:r>
                          <a:rPr lang="vi-VN" sz="2800" b="1" i="1">
                            <a:solidFill>
                              <a:srgbClr val="FF0000"/>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−1</m:t>
                        </m:r>
                      </m:sub>
                    </m:sSub>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𝑚</m:t>
                        </m:r>
                        <m:r>
                          <a:rPr lang="vi-VN" sz="2800" i="1">
                            <a:solidFill>
                              <a:schemeClr val="tx1"/>
                            </a:solidFill>
                            <a:latin typeface="Cambria Math" panose="02040503050406030204" pitchFamily="18" charset="0"/>
                            <a:ea typeface="Cambria Math" panose="02040503050406030204" pitchFamily="18" charset="0"/>
                          </a:rPr>
                          <m:t>−2</m:t>
                        </m:r>
                      </m:sub>
                    </m:sSub>
                    <m:r>
                      <a:rPr lang="vi-VN" sz="2800" i="1">
                        <a:solidFill>
                          <a:schemeClr val="tx1"/>
                        </a:solidFill>
                        <a:latin typeface="Cambria Math" panose="02040503050406030204" pitchFamily="18" charset="0"/>
                        <a:ea typeface="Cambria Math" panose="02040503050406030204" pitchFamily="18" charset="0"/>
                      </a:rPr>
                      <m:t>…</m:t>
                    </m:r>
                    <m:sSub>
                      <m:sSubPr>
                        <m:ctrlPr>
                          <a:rPr lang="vi-VN" sz="2800" i="1">
                            <a:solidFill>
                              <a:schemeClr val="tx1"/>
                            </a:solidFill>
                            <a:latin typeface="Cambria Math" panose="02040503050406030204" pitchFamily="18" charset="0"/>
                            <a:ea typeface="Cambria Math" panose="02040503050406030204" pitchFamily="18" charset="0"/>
                          </a:rPr>
                        </m:ctrlPr>
                      </m:sSubPr>
                      <m:e>
                        <m:r>
                          <a:rPr lang="vi-VN" sz="2800" i="1">
                            <a:solidFill>
                              <a:schemeClr val="tx1"/>
                            </a:solidFill>
                            <a:latin typeface="Cambria Math" panose="02040503050406030204" pitchFamily="18" charset="0"/>
                            <a:ea typeface="Cambria Math" panose="02040503050406030204" pitchFamily="18" charset="0"/>
                          </a:rPr>
                          <m:t>𝑈</m:t>
                        </m:r>
                      </m:e>
                      <m:sub>
                        <m:r>
                          <a:rPr lang="vi-VN" sz="2800" i="1">
                            <a:solidFill>
                              <a:schemeClr val="tx1"/>
                            </a:solidFill>
                            <a:latin typeface="Cambria Math" panose="02040503050406030204" pitchFamily="18" charset="0"/>
                            <a:ea typeface="Cambria Math" panose="02040503050406030204" pitchFamily="18" charset="0"/>
                          </a:rPr>
                          <m:t>0</m:t>
                        </m:r>
                      </m:sub>
                    </m:sSub>
                  </m:oMath>
                </a14:m>
                <a:r>
                  <a:rPr lang="en-VN" i="1">
                    <a:solidFill>
                      <a:schemeClr val="tx1"/>
                    </a:solidFill>
                    <a:latin typeface="Calibri" panose="020F0502020204030204" pitchFamily="34" charset="0"/>
                    <a:cs typeface="Calibri" panose="020F0502020204030204" pitchFamily="34" charset="0"/>
                  </a:rPr>
                  <a:t> </a:t>
                </a:r>
              </a:p>
              <a:p>
                <a:endPar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endParaRP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and </a:t>
                </a:r>
                <a:r>
                  <a:rPr lang="vi-VN" sz="2800">
                    <a:solidFill>
                      <a:srgbClr val="FF0000"/>
                    </a:solidFill>
                    <a:latin typeface="Calibri" panose="020F0502020204030204" pitchFamily="34" charset="0"/>
                    <a:ea typeface="Cambria Math" panose="02040503050406030204" pitchFamily="18" charset="0"/>
                    <a:cs typeface="Calibri" panose="020F0502020204030204" pitchFamily="34" charset="0"/>
                  </a:rPr>
                  <a:t>cost function</a:t>
                </a:r>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a:t>
                </a:r>
              </a:p>
              <a:p>
                <a:r>
                  <a:rPr lang="vi-VN" sz="280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vi-VN" sz="2800" i="1">
                        <a:solidFill>
                          <a:srgbClr val="FF0000"/>
                        </a:solidFill>
                        <a:latin typeface="Cambria Math" panose="02040503050406030204" pitchFamily="18" charset="0"/>
                        <a:ea typeface="Cambria Math" panose="02040503050406030204" pitchFamily="18" charset="0"/>
                      </a:rPr>
                      <m:t>𝐶</m:t>
                    </m:r>
                    <m:d>
                      <m:dPr>
                        <m:ctrlPr>
                          <a:rPr lang="vi-VN" sz="2800" i="1">
                            <a:solidFill>
                              <a:srgbClr val="FF0000"/>
                            </a:solidFill>
                            <a:latin typeface="Cambria Math" panose="02040503050406030204" pitchFamily="18" charset="0"/>
                            <a:ea typeface="Cambria Math" panose="02040503050406030204" pitchFamily="18" charset="0"/>
                          </a:rPr>
                        </m:ctrlPr>
                      </m:dPr>
                      <m:e>
                        <m:r>
                          <a:rPr lang="vi-VN" sz="2800" b="1" i="1">
                            <a:solidFill>
                              <a:srgbClr val="FF0000"/>
                            </a:solidFill>
                            <a:latin typeface="Cambria Math" panose="02040503050406030204" pitchFamily="18" charset="0"/>
                            <a:ea typeface="Cambria Math" panose="02040503050406030204" pitchFamily="18" charset="0"/>
                          </a:rPr>
                          <m:t>𝜽</m:t>
                        </m:r>
                      </m:e>
                    </m:d>
                    <m:r>
                      <a:rPr lang="vi-VN" sz="2800" i="1">
                        <a:solidFill>
                          <a:schemeClr val="tx1"/>
                        </a:solidFill>
                        <a:latin typeface="Cambria Math" panose="02040503050406030204" pitchFamily="18" charset="0"/>
                        <a:ea typeface="Cambria Math" panose="02040503050406030204" pitchFamily="18" charset="0"/>
                      </a:rPr>
                      <m:t>=⟨</m:t>
                    </m:r>
                    <m:r>
                      <a:rPr lang="vi-VN" sz="2800" b="1" i="1">
                        <a:solidFill>
                          <a:schemeClr val="tx1"/>
                        </a:solidFill>
                        <a:latin typeface="Cambria Math" panose="02040503050406030204" pitchFamily="18" charset="0"/>
                        <a:ea typeface="Cambria Math" panose="02040503050406030204" pitchFamily="18" charset="0"/>
                      </a:rPr>
                      <m:t>𝟎</m:t>
                    </m:r>
                    <m:d>
                      <m:dPr>
                        <m:begChr m:val="|"/>
                        <m:endChr m:val="|"/>
                        <m:ctrlPr>
                          <a:rPr lang="vi-VN" sz="2800" i="1">
                            <a:solidFill>
                              <a:schemeClr val="tx1"/>
                            </a:solidFill>
                            <a:latin typeface="Cambria Math" panose="02040503050406030204" pitchFamily="18" charset="0"/>
                            <a:ea typeface="Cambria Math" panose="02040503050406030204" pitchFamily="18" charset="0"/>
                          </a:rPr>
                        </m:ctrlPr>
                      </m:dPr>
                      <m:e>
                        <m:sSup>
                          <m:sSupPr>
                            <m:ctrlPr>
                              <a:rPr lang="vi-VN" sz="2800" i="1">
                                <a:solidFill>
                                  <a:schemeClr val="tx1"/>
                                </a:solidFill>
                                <a:latin typeface="Cambria Math" panose="02040503050406030204" pitchFamily="18" charset="0"/>
                                <a:ea typeface="Cambria Math" panose="02040503050406030204" pitchFamily="18" charset="0"/>
                              </a:rPr>
                            </m:ctrlPr>
                          </m:sSupPr>
                          <m:e>
                            <m:r>
                              <a:rPr lang="vi-VN" sz="2800" i="1">
                                <a:solidFill>
                                  <a:schemeClr val="tx1"/>
                                </a:solidFill>
                                <a:latin typeface="Cambria Math" panose="02040503050406030204" pitchFamily="18" charset="0"/>
                                <a:ea typeface="Cambria Math" panose="02040503050406030204" pitchFamily="18" charset="0"/>
                              </a:rPr>
                              <m:t>𝑈</m:t>
                            </m:r>
                          </m:e>
                          <m:sup>
                            <m:r>
                              <a:rPr lang="vi-VN" sz="2800" i="1">
                                <a:solidFill>
                                  <a:schemeClr val="tx1"/>
                                </a:solidFill>
                                <a:latin typeface="Cambria Math" panose="02040503050406030204" pitchFamily="18" charset="0"/>
                                <a:ea typeface="Cambria Math" panose="02040503050406030204" pitchFamily="18" charset="0"/>
                              </a:rPr>
                              <m:t>†</m:t>
                            </m:r>
                          </m:sup>
                        </m:sSup>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acc>
                          <m:accPr>
                            <m:chr m:val="̂"/>
                            <m:ctrlPr>
                              <a:rPr lang="vi-VN" sz="2800" i="1">
                                <a:solidFill>
                                  <a:schemeClr val="tx1"/>
                                </a:solidFill>
                                <a:latin typeface="Cambria Math" panose="02040503050406030204" pitchFamily="18" charset="0"/>
                                <a:ea typeface="Cambria Math" panose="02040503050406030204" pitchFamily="18" charset="0"/>
                              </a:rPr>
                            </m:ctrlPr>
                          </m:accPr>
                          <m:e>
                            <m:r>
                              <a:rPr lang="vi-VN" sz="2800" i="1">
                                <a:solidFill>
                                  <a:schemeClr val="tx1"/>
                                </a:solidFill>
                                <a:latin typeface="Cambria Math" panose="02040503050406030204" pitchFamily="18" charset="0"/>
                                <a:ea typeface="Cambria Math" panose="02040503050406030204" pitchFamily="18" charset="0"/>
                              </a:rPr>
                              <m:t>𝐵</m:t>
                            </m:r>
                          </m:e>
                        </m:acc>
                        <m:r>
                          <a:rPr lang="vi-VN" sz="2800" i="1">
                            <a:solidFill>
                              <a:schemeClr val="tx1"/>
                            </a:solidFill>
                            <a:latin typeface="Cambria Math" panose="02040503050406030204" pitchFamily="18" charset="0"/>
                            <a:ea typeface="Cambria Math" panose="02040503050406030204" pitchFamily="18" charset="0"/>
                          </a:rPr>
                          <m:t>𝑈</m:t>
                        </m:r>
                        <m:d>
                          <m:dPr>
                            <m:ctrlPr>
                              <a:rPr lang="vi-VN" sz="2800" i="1">
                                <a:solidFill>
                                  <a:schemeClr val="tx1"/>
                                </a:solidFill>
                                <a:latin typeface="Cambria Math" panose="02040503050406030204" pitchFamily="18" charset="0"/>
                                <a:ea typeface="Cambria Math" panose="02040503050406030204" pitchFamily="18" charset="0"/>
                              </a:rPr>
                            </m:ctrlPr>
                          </m:dPr>
                          <m:e>
                            <m:r>
                              <a:rPr lang="vi-VN" sz="2800" b="1" i="1">
                                <a:solidFill>
                                  <a:schemeClr val="tx1"/>
                                </a:solidFill>
                                <a:latin typeface="Cambria Math" panose="02040503050406030204" pitchFamily="18" charset="0"/>
                                <a:ea typeface="Cambria Math" panose="02040503050406030204" pitchFamily="18" charset="0"/>
                              </a:rPr>
                              <m:t>𝜽</m:t>
                            </m:r>
                          </m:e>
                        </m:d>
                      </m:e>
                    </m:d>
                    <m:r>
                      <a:rPr lang="vi-VN" sz="2800" b="1" i="1">
                        <a:solidFill>
                          <a:schemeClr val="tx1"/>
                        </a:solidFill>
                        <a:latin typeface="Cambria Math" panose="02040503050406030204" pitchFamily="18" charset="0"/>
                        <a:ea typeface="Cambria Math" panose="02040503050406030204" pitchFamily="18" charset="0"/>
                      </a:rPr>
                      <m:t>𝟎</m:t>
                    </m:r>
                    <m:r>
                      <a:rPr lang="vi-VN" sz="2800" i="1">
                        <a:solidFill>
                          <a:schemeClr val="tx1"/>
                        </a:solidFill>
                        <a:latin typeface="Cambria Math" panose="02040503050406030204" pitchFamily="18" charset="0"/>
                        <a:ea typeface="Cambria Math" panose="02040503050406030204" pitchFamily="18" charset="0"/>
                      </a:rPr>
                      <m:t>⟩</m:t>
                    </m:r>
                  </m:oMath>
                </a14:m>
                <a:endParaRPr lang="en-VN" sz="2800" b="1" i="1">
                  <a:solidFill>
                    <a:schemeClr val="tx1"/>
                  </a:solidFill>
                  <a:latin typeface="Calibri" panose="020F0502020204030204" pitchFamily="34" charset="0"/>
                  <a:cs typeface="Calibri" panose="020F0502020204030204" pitchFamily="34" charset="0"/>
                </a:endParaRPr>
              </a:p>
              <a:p>
                <a:r>
                  <a:rPr lang="en-VN" sz="2800">
                    <a:solidFill>
                      <a:schemeClr val="tx1"/>
                    </a:solidFill>
                    <a:latin typeface="Calibri" panose="020F0502020204030204" pitchFamily="34" charset="0"/>
                    <a:cs typeface="Calibri" panose="020F0502020204030204" pitchFamily="34" charset="0"/>
                  </a:rPr>
                  <a:t>We want to find:</a:t>
                </a:r>
              </a:p>
              <a:p>
                <a:pPr lvl="1"/>
                <a14:m>
                  <m:oMath xmlns:m="http://schemas.openxmlformats.org/officeDocument/2006/math">
                    <m:sSup>
                      <m:sSupPr>
                        <m:ctrlPr>
                          <a:rPr lang="vi-VN" sz="2800" b="1" i="1">
                            <a:solidFill>
                              <a:schemeClr val="tx1"/>
                            </a:solidFill>
                            <a:latin typeface="Cambria Math" panose="02040503050406030204" pitchFamily="18" charset="0"/>
                          </a:rPr>
                        </m:ctrlPr>
                      </m:sSupPr>
                      <m:e>
                        <m:r>
                          <a:rPr lang="vi-VN" sz="2800" b="1" i="1">
                            <a:solidFill>
                              <a:schemeClr val="tx1"/>
                            </a:solidFill>
                            <a:latin typeface="Cambria Math" panose="02040503050406030204" pitchFamily="18" charset="0"/>
                          </a:rPr>
                          <m:t>𝜽</m:t>
                        </m:r>
                      </m:e>
                      <m:sup>
                        <m:r>
                          <a:rPr lang="vi-VN" sz="2800" b="1" i="1">
                            <a:solidFill>
                              <a:schemeClr val="tx1"/>
                            </a:solidFill>
                            <a:latin typeface="Cambria Math" panose="02040503050406030204" pitchFamily="18" charset="0"/>
                          </a:rPr>
                          <m:t>∗</m:t>
                        </m:r>
                      </m:sup>
                    </m:sSup>
                    <m:r>
                      <a:rPr lang="vi-VN" sz="2800" b="1" i="1">
                        <a:solidFill>
                          <a:schemeClr val="tx1"/>
                        </a:solidFill>
                        <a:latin typeface="Cambria Math" panose="02040503050406030204" pitchFamily="18" charset="0"/>
                      </a:rPr>
                      <m:t>=</m:t>
                    </m:r>
                    <m:sSub>
                      <m:sSubPr>
                        <m:ctrlPr>
                          <a:rPr lang="vi-VN" sz="2800" i="1">
                            <a:solidFill>
                              <a:schemeClr val="tx1"/>
                            </a:solidFill>
                            <a:latin typeface="Cambria Math" panose="02040503050406030204" pitchFamily="18" charset="0"/>
                          </a:rPr>
                        </m:ctrlPr>
                      </m:sSubPr>
                      <m:e>
                        <m:r>
                          <m:rPr>
                            <m:sty m:val="p"/>
                          </m:rPr>
                          <a:rPr lang="vi-VN" sz="2800">
                            <a:solidFill>
                              <a:schemeClr val="tx1"/>
                            </a:solidFill>
                            <a:latin typeface="Cambria Math" panose="02040503050406030204" pitchFamily="18" charset="0"/>
                          </a:rPr>
                          <m:t>argmin</m:t>
                        </m:r>
                      </m:e>
                      <m:sub>
                        <m:r>
                          <a:rPr lang="vi-VN" sz="2800" b="1" i="1">
                            <a:solidFill>
                              <a:schemeClr val="tx1"/>
                            </a:solidFill>
                            <a:latin typeface="Cambria Math" panose="02040503050406030204" pitchFamily="18" charset="0"/>
                          </a:rPr>
                          <m:t>𝜽</m:t>
                        </m:r>
                      </m:sub>
                    </m:sSub>
                    <m:r>
                      <a:rPr lang="vi-VN" sz="2800" i="1">
                        <a:solidFill>
                          <a:schemeClr val="tx1"/>
                        </a:solidFill>
                        <a:latin typeface="Cambria Math" panose="02040503050406030204" pitchFamily="18" charset="0"/>
                      </a:rPr>
                      <m:t>𝐶</m:t>
                    </m:r>
                    <m:d>
                      <m:dPr>
                        <m:ctrlPr>
                          <a:rPr lang="vi-VN" sz="2800" b="1" i="1">
                            <a:solidFill>
                              <a:schemeClr val="tx1"/>
                            </a:solidFill>
                            <a:latin typeface="Cambria Math" panose="02040503050406030204" pitchFamily="18" charset="0"/>
                          </a:rPr>
                        </m:ctrlPr>
                      </m:dPr>
                      <m:e>
                        <m:r>
                          <a:rPr lang="vi-VN" sz="2800" b="1" i="1">
                            <a:solidFill>
                              <a:schemeClr val="tx1"/>
                            </a:solidFill>
                            <a:latin typeface="Cambria Math" panose="02040503050406030204" pitchFamily="18" charset="0"/>
                          </a:rPr>
                          <m:t>𝜽</m:t>
                        </m:r>
                      </m:e>
                    </m:d>
                  </m:oMath>
                </a14:m>
                <a:r>
                  <a:rPr lang="en-VN" sz="2800" b="1" i="1">
                    <a:solidFill>
                      <a:schemeClr val="tx1"/>
                    </a:solidFill>
                    <a:latin typeface="Calibri" panose="020F0502020204030204" pitchFamily="34" charset="0"/>
                    <a:cs typeface="Calibri" panose="020F0502020204030204" pitchFamily="34" charset="0"/>
                  </a:rPr>
                  <a:t> </a:t>
                </a:r>
              </a:p>
              <a:p>
                <a:r>
                  <a:rPr lang="en-VN" sz="2800" i="1">
                    <a:solidFill>
                      <a:schemeClr val="tx1"/>
                    </a:solidFill>
                    <a:latin typeface="Calibri" panose="020F0502020204030204" pitchFamily="34" charset="0"/>
                    <a:cs typeface="Calibri" panose="020F0502020204030204" pitchFamily="34" charset="0"/>
                  </a:rPr>
                  <a:t> </a:t>
                </a:r>
              </a:p>
            </p:txBody>
          </p:sp>
        </mc:Choice>
        <mc:Fallback xmlns="">
          <p:sp>
            <p:nvSpPr>
              <p:cNvPr id="50" name="Rectangle 49">
                <a:extLst>
                  <a:ext uri="{FF2B5EF4-FFF2-40B4-BE49-F238E27FC236}">
                    <a16:creationId xmlns:a16="http://schemas.microsoft.com/office/drawing/2014/main" id="{5D21E891-5D4C-C534-335C-0F82247E7E6C}"/>
                  </a:ext>
                </a:extLst>
              </p:cNvPr>
              <p:cNvSpPr>
                <a:spLocks noRot="1" noChangeAspect="1" noMove="1" noResize="1" noEditPoints="1" noAdjustHandles="1" noChangeArrowheads="1" noChangeShapeType="1" noTextEdit="1"/>
              </p:cNvSpPr>
              <p:nvPr/>
            </p:nvSpPr>
            <p:spPr>
              <a:xfrm>
                <a:off x="838200" y="1441622"/>
                <a:ext cx="8772611" cy="1213764"/>
              </a:xfrm>
              <a:prstGeom prst="rect">
                <a:avLst/>
              </a:prstGeom>
              <a:blipFill>
                <a:blip r:embed="rId2"/>
                <a:stretch>
                  <a:fillRect l="-1447" t="-5155" b="-161856"/>
                </a:stretch>
              </a:blipFill>
              <a:ln>
                <a:noFill/>
              </a:ln>
            </p:spPr>
            <p:txBody>
              <a:bodyPr/>
              <a:lstStyle/>
              <a:p>
                <a:r>
                  <a:rPr lang="en-VN">
                    <a:noFill/>
                  </a:rPr>
                  <a:t> </a:t>
                </a:r>
              </a:p>
            </p:txBody>
          </p:sp>
        </mc:Fallback>
      </mc:AlternateContent>
      <p:sp>
        <p:nvSpPr>
          <p:cNvPr id="52" name="Slide Number Placeholder 51">
            <a:extLst>
              <a:ext uri="{FF2B5EF4-FFF2-40B4-BE49-F238E27FC236}">
                <a16:creationId xmlns:a16="http://schemas.microsoft.com/office/drawing/2014/main" id="{C82A7B59-BBF9-E075-9F5C-BC2E6CDB6379}"/>
              </a:ext>
            </a:extLst>
          </p:cNvPr>
          <p:cNvSpPr>
            <a:spLocks noGrp="1"/>
          </p:cNvSpPr>
          <p:nvPr>
            <p:ph type="sldNum" sz="quarter" idx="12"/>
          </p:nvPr>
        </p:nvSpPr>
        <p:spPr/>
        <p:txBody>
          <a:bodyPr/>
          <a:lstStyle/>
          <a:p>
            <a:fld id="{D98A4569-6716-F649-8F1C-6F4A1EFC2E5C}" type="slidenum">
              <a:t>36</a:t>
            </a:fld>
            <a:endParaRPr lang="en-VN"/>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A8A39BA6-8714-E404-42DE-F41BAB3062DD}"/>
                  </a:ext>
                </a:extLst>
              </p:cNvPr>
              <p:cNvSpPr/>
              <p:nvPr/>
            </p:nvSpPr>
            <p:spPr>
              <a:xfrm>
                <a:off x="1548716" y="4924383"/>
                <a:ext cx="1691501" cy="86771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sz="2400" i="1">
                          <a:solidFill>
                            <a:schemeClr val="tx1"/>
                          </a:solidFill>
                          <a:latin typeface="Cambria Math" panose="02040503050406030204" pitchFamily="18" charset="0"/>
                        </a:rPr>
                        <m:t>𝑈</m:t>
                      </m:r>
                      <m:r>
                        <a:rPr lang="en-VN" sz="2400" i="1">
                          <a:solidFill>
                            <a:schemeClr val="tx1"/>
                          </a:solidFill>
                          <a:latin typeface="Cambria Math" panose="02040503050406030204" pitchFamily="18" charset="0"/>
                        </a:rPr>
                        <m:t>(</m:t>
                      </m:r>
                      <m:r>
                        <a:rPr lang="en-VN" sz="2400" b="1" i="1">
                          <a:solidFill>
                            <a:schemeClr val="tx1"/>
                          </a:solidFill>
                          <a:latin typeface="Cambria Math" panose="02040503050406030204" pitchFamily="18" charset="0"/>
                        </a:rPr>
                        <m:t>𝜽</m:t>
                      </m:r>
                      <m:r>
                        <a:rPr lang="en-VN" sz="2400" i="1">
                          <a:solidFill>
                            <a:schemeClr val="tx1"/>
                          </a:solidFill>
                          <a:latin typeface="Cambria Math" panose="02040503050406030204" pitchFamily="18" charset="0"/>
                        </a:rPr>
                        <m:t>)</m:t>
                      </m:r>
                    </m:oMath>
                  </m:oMathPara>
                </a14:m>
                <a:endParaRPr sz="2400"/>
              </a:p>
            </p:txBody>
          </p:sp>
        </mc:Choice>
        <mc:Fallback xmlns="">
          <p:sp>
            <p:nvSpPr>
              <p:cNvPr id="46" name="Rectangle 45">
                <a:extLst>
                  <a:ext uri="{FF2B5EF4-FFF2-40B4-BE49-F238E27FC236}">
                    <a16:creationId xmlns:a16="http://schemas.microsoft.com/office/drawing/2014/main" id="{A8A39BA6-8714-E404-42DE-F41BAB3062DD}"/>
                  </a:ext>
                </a:extLst>
              </p:cNvPr>
              <p:cNvSpPr>
                <a:spLocks noRot="1" noChangeAspect="1" noMove="1" noResize="1" noEditPoints="1" noAdjustHandles="1" noChangeArrowheads="1" noChangeShapeType="1" noTextEdit="1"/>
              </p:cNvSpPr>
              <p:nvPr/>
            </p:nvSpPr>
            <p:spPr>
              <a:xfrm>
                <a:off x="1548716" y="4924383"/>
                <a:ext cx="1691501" cy="867719"/>
              </a:xfrm>
              <a:prstGeom prst="rect">
                <a:avLst/>
              </a:prstGeom>
              <a:blipFill>
                <a:blip r:embed="rId3"/>
                <a:stretch>
                  <a:fillRect/>
                </a:stretch>
              </a:blipFill>
              <a:ln>
                <a:solidFill>
                  <a:schemeClr val="tx1"/>
                </a:solidFill>
              </a:ln>
            </p:spPr>
            <p:txBody>
              <a:bodyPr/>
              <a:lstStyle/>
              <a:p>
                <a:r>
                  <a:rPr lang="en-VN">
                    <a:noFill/>
                  </a:rPr>
                  <a:t> </a:t>
                </a:r>
              </a:p>
            </p:txBody>
          </p:sp>
        </mc:Fallback>
      </mc:AlternateContent>
      <p:sp>
        <p:nvSpPr>
          <p:cNvPr id="57" name="Hình chữ nhật 93">
            <a:extLst>
              <a:ext uri="{FF2B5EF4-FFF2-40B4-BE49-F238E27FC236}">
                <a16:creationId xmlns:a16="http://schemas.microsoft.com/office/drawing/2014/main" id="{2A3779FB-3879-7CD9-2EE1-E1E2E279A9D6}"/>
              </a:ext>
            </a:extLst>
          </p:cNvPr>
          <p:cNvSpPr/>
          <p:nvPr/>
        </p:nvSpPr>
        <p:spPr>
          <a:xfrm>
            <a:off x="3943180" y="5144481"/>
            <a:ext cx="408425" cy="4092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33" i="1">
              <a:solidFill>
                <a:schemeClr val="tx1"/>
              </a:solidFill>
              <a:latin typeface="+mj-lt"/>
              <a:cs typeface="Times New Roman" panose="02020603050405020304" pitchFamily="18" charset="0"/>
            </a:endParaRPr>
          </a:p>
        </p:txBody>
      </p:sp>
      <p:sp>
        <p:nvSpPr>
          <p:cNvPr id="58" name="Arc 57">
            <a:extLst>
              <a:ext uri="{FF2B5EF4-FFF2-40B4-BE49-F238E27FC236}">
                <a16:creationId xmlns:a16="http://schemas.microsoft.com/office/drawing/2014/main" id="{9F9FE0D3-5F91-F63F-2F6D-63D493FB67F6}"/>
              </a:ext>
            </a:extLst>
          </p:cNvPr>
          <p:cNvSpPr/>
          <p:nvPr/>
        </p:nvSpPr>
        <p:spPr>
          <a:xfrm>
            <a:off x="4017441" y="5337280"/>
            <a:ext cx="259899" cy="214184"/>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2400"/>
          </a:p>
        </p:txBody>
      </p:sp>
      <p:cxnSp>
        <p:nvCxnSpPr>
          <p:cNvPr id="59" name="Straight Arrow Connector 58">
            <a:extLst>
              <a:ext uri="{FF2B5EF4-FFF2-40B4-BE49-F238E27FC236}">
                <a16:creationId xmlns:a16="http://schemas.microsoft.com/office/drawing/2014/main" id="{39AF0994-ACA4-4DEF-5097-6E879D161E49}"/>
              </a:ext>
            </a:extLst>
          </p:cNvPr>
          <p:cNvCxnSpPr>
            <a:cxnSpLocks/>
          </p:cNvCxnSpPr>
          <p:nvPr/>
        </p:nvCxnSpPr>
        <p:spPr>
          <a:xfrm flipV="1">
            <a:off x="4089730" y="5233775"/>
            <a:ext cx="204212" cy="20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D35146D7-1EB0-06B3-27DE-48561DB42421}"/>
              </a:ext>
            </a:extLst>
          </p:cNvPr>
          <p:cNvCxnSpPr>
            <a:cxnSpLocks/>
          </p:cNvCxnSpPr>
          <p:nvPr/>
        </p:nvCxnSpPr>
        <p:spPr>
          <a:xfrm flipV="1">
            <a:off x="1213708" y="5222791"/>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986C42-0EFF-70AA-817C-3CBF7B091F7F}"/>
              </a:ext>
            </a:extLst>
          </p:cNvPr>
          <p:cNvCxnSpPr>
            <a:cxnSpLocks/>
          </p:cNvCxnSpPr>
          <p:nvPr/>
        </p:nvCxnSpPr>
        <p:spPr>
          <a:xfrm flipV="1">
            <a:off x="3532721" y="5217449"/>
            <a:ext cx="192217" cy="3185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7708B677-147A-6A63-0034-BADA4C3CE1A8}"/>
                  </a:ext>
                </a:extLst>
              </p:cNvPr>
              <p:cNvSpPr txBox="1"/>
              <p:nvPr/>
            </p:nvSpPr>
            <p:spPr>
              <a:xfrm>
                <a:off x="4887780" y="5112021"/>
                <a:ext cx="9116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oMath>
                  </m:oMathPara>
                </a14:m>
                <a:endParaRPr lang="en-VN" sz="2400"/>
              </a:p>
            </p:txBody>
          </p:sp>
        </mc:Choice>
        <mc:Fallback xmlns="">
          <p:sp>
            <p:nvSpPr>
              <p:cNvPr id="64" name="TextBox 63">
                <a:extLst>
                  <a:ext uri="{FF2B5EF4-FFF2-40B4-BE49-F238E27FC236}">
                    <a16:creationId xmlns:a16="http://schemas.microsoft.com/office/drawing/2014/main" id="{7708B677-147A-6A63-0034-BADA4C3CE1A8}"/>
                  </a:ext>
                </a:extLst>
              </p:cNvPr>
              <p:cNvSpPr txBox="1">
                <a:spLocks noRot="1" noChangeAspect="1" noMove="1" noResize="1" noEditPoints="1" noAdjustHandles="1" noChangeArrowheads="1" noChangeShapeType="1" noTextEdit="1"/>
              </p:cNvSpPr>
              <p:nvPr/>
            </p:nvSpPr>
            <p:spPr>
              <a:xfrm>
                <a:off x="4887780" y="5112021"/>
                <a:ext cx="911656" cy="461665"/>
              </a:xfrm>
              <a:prstGeom prst="rect">
                <a:avLst/>
              </a:prstGeom>
              <a:blipFill>
                <a:blip r:embed="rId4"/>
                <a:stretch>
                  <a:fillRect/>
                </a:stretch>
              </a:blipFill>
            </p:spPr>
            <p:txBody>
              <a:bodyPr/>
              <a:lstStyle/>
              <a:p>
                <a:r>
                  <a:rPr lang="en-VN">
                    <a:noFill/>
                  </a:rPr>
                  <a:t> </a:t>
                </a:r>
              </a:p>
            </p:txBody>
          </p:sp>
        </mc:Fallback>
      </mc:AlternateContent>
      <p:cxnSp>
        <p:nvCxnSpPr>
          <p:cNvPr id="66" name="Straight Arrow Connector 65">
            <a:extLst>
              <a:ext uri="{FF2B5EF4-FFF2-40B4-BE49-F238E27FC236}">
                <a16:creationId xmlns:a16="http://schemas.microsoft.com/office/drawing/2014/main" id="{595471C7-86EB-7471-4A9D-B32FE7AE12EF}"/>
              </a:ext>
            </a:extLst>
          </p:cNvPr>
          <p:cNvCxnSpPr>
            <a:stCxn id="57" idx="3"/>
            <a:endCxn id="64" idx="1"/>
          </p:cNvCxnSpPr>
          <p:nvPr/>
        </p:nvCxnSpPr>
        <p:spPr>
          <a:xfrm flipV="1">
            <a:off x="4351605" y="5342854"/>
            <a:ext cx="536175" cy="624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780FC65-407E-2595-D7CC-35B757880195}"/>
                  </a:ext>
                </a:extLst>
              </p:cNvPr>
              <p:cNvSpPr txBox="1"/>
              <p:nvPr/>
            </p:nvSpPr>
            <p:spPr>
              <a:xfrm>
                <a:off x="6365938" y="5112172"/>
                <a:ext cx="105444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vi-VN" sz="2400">
                          <a:latin typeface="Cambria Math" panose="02040503050406030204" pitchFamily="18" charset="0"/>
                          <a:ea typeface="Cambria Math" panose="02040503050406030204" pitchFamily="18" charset="0"/>
                        </a:rPr>
                        <m:t>∇</m:t>
                      </m:r>
                      <m:r>
                        <a:rPr lang="vi-VN" sz="2400" i="1">
                          <a:latin typeface="Cambria Math" panose="02040503050406030204" pitchFamily="18" charset="0"/>
                          <a:ea typeface="Cambria Math" panose="02040503050406030204" pitchFamily="18" charset="0"/>
                        </a:rPr>
                        <m:t>𝐶</m:t>
                      </m:r>
                    </m:oMath>
                  </m:oMathPara>
                </a14:m>
                <a:endParaRPr lang="en-VN" sz="2400"/>
              </a:p>
            </p:txBody>
          </p:sp>
        </mc:Choice>
        <mc:Fallback xmlns="">
          <p:sp>
            <p:nvSpPr>
              <p:cNvPr id="67" name="TextBox 66">
                <a:extLst>
                  <a:ext uri="{FF2B5EF4-FFF2-40B4-BE49-F238E27FC236}">
                    <a16:creationId xmlns:a16="http://schemas.microsoft.com/office/drawing/2014/main" id="{B780FC65-407E-2595-D7CC-35B757880195}"/>
                  </a:ext>
                </a:extLst>
              </p:cNvPr>
              <p:cNvSpPr txBox="1">
                <a:spLocks noRot="1" noChangeAspect="1" noMove="1" noResize="1" noEditPoints="1" noAdjustHandles="1" noChangeArrowheads="1" noChangeShapeType="1" noTextEdit="1"/>
              </p:cNvSpPr>
              <p:nvPr/>
            </p:nvSpPr>
            <p:spPr>
              <a:xfrm>
                <a:off x="6365938" y="5112172"/>
                <a:ext cx="1054447" cy="461665"/>
              </a:xfrm>
              <a:prstGeom prst="rect">
                <a:avLst/>
              </a:prstGeom>
              <a:blipFill>
                <a:blip r:embed="rId5"/>
                <a:stretch>
                  <a:fillRect/>
                </a:stretch>
              </a:blipFill>
            </p:spPr>
            <p:txBody>
              <a:bodyPr/>
              <a:lstStyle/>
              <a:p>
                <a:r>
                  <a:rPr lang="en-VN">
                    <a:noFill/>
                  </a:rPr>
                  <a:t> </a:t>
                </a:r>
              </a:p>
            </p:txBody>
          </p:sp>
        </mc:Fallback>
      </mc:AlternateContent>
      <p:cxnSp>
        <p:nvCxnSpPr>
          <p:cNvPr id="68" name="Straight Arrow Connector 67">
            <a:extLst>
              <a:ext uri="{FF2B5EF4-FFF2-40B4-BE49-F238E27FC236}">
                <a16:creationId xmlns:a16="http://schemas.microsoft.com/office/drawing/2014/main" id="{AD23F435-A588-E5AA-F720-DAADCAEE6234}"/>
              </a:ext>
            </a:extLst>
          </p:cNvPr>
          <p:cNvCxnSpPr>
            <a:cxnSpLocks/>
            <a:stCxn id="64" idx="3"/>
            <a:endCxn id="67" idx="1"/>
          </p:cNvCxnSpPr>
          <p:nvPr/>
        </p:nvCxnSpPr>
        <p:spPr>
          <a:xfrm>
            <a:off x="5799436" y="5342854"/>
            <a:ext cx="566502" cy="15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1143910-BC54-FA73-56ED-84D98CB4DBBD}"/>
                  </a:ext>
                </a:extLst>
              </p:cNvPr>
              <p:cNvSpPr txBox="1"/>
              <p:nvPr/>
            </p:nvSpPr>
            <p:spPr>
              <a:xfrm>
                <a:off x="7952258" y="5119509"/>
                <a:ext cx="3401543" cy="461665"/>
              </a:xfrm>
              <a:prstGeom prst="rect">
                <a:avLst/>
              </a:prstGeom>
              <a:noFill/>
              <a:ln>
                <a:solidFill>
                  <a:schemeClr val="tx1"/>
                </a:solidFill>
                <a:prstDash val="dash"/>
              </a:ln>
            </p:spPr>
            <p:txBody>
              <a:bodyPr wrap="square">
                <a:spAutoFit/>
              </a:bodyPr>
              <a:lstStyle/>
              <a:p>
                <a14:m>
                  <m:oMath xmlns:m="http://schemas.openxmlformats.org/officeDocument/2006/math">
                    <m:sSup>
                      <m:sSupPr>
                        <m:ctrlPr>
                          <a:rPr lang="vi-VN" sz="2400" i="1">
                            <a:latin typeface="Cambria Math" panose="02040503050406030204" pitchFamily="18" charset="0"/>
                          </a:rPr>
                        </m:ctrlPr>
                      </m:sSupPr>
                      <m:e>
                        <m:r>
                          <a:rPr lang="vi-VN" sz="2400" b="1" i="1">
                            <a:latin typeface="Cambria Math" panose="02040503050406030204" pitchFamily="18" charset="0"/>
                          </a:rPr>
                          <m:t>𝜽</m:t>
                        </m:r>
                      </m:e>
                      <m:sup>
                        <m:r>
                          <m:rPr>
                            <m:sty m:val="p"/>
                          </m:rPr>
                          <a:rPr lang="vi-VN" sz="2400" i="1">
                            <a:latin typeface="Cambria Math" panose="02040503050406030204" pitchFamily="18" charset="0"/>
                          </a:rPr>
                          <m:t>t</m:t>
                        </m:r>
                        <m:r>
                          <a:rPr lang="vi-VN" sz="2400" i="1">
                            <a:latin typeface="Cambria Math" panose="02040503050406030204" pitchFamily="18" charset="0"/>
                          </a:rPr>
                          <m:t>+1</m:t>
                        </m:r>
                      </m:sup>
                    </m:sSup>
                    <m:r>
                      <a:rPr lang="vi-VN" sz="2400" i="1">
                        <a:latin typeface="Cambria Math" panose="02040503050406030204" pitchFamily="18" charset="0"/>
                      </a:rPr>
                      <m:t>←</m:t>
                    </m:r>
                  </m:oMath>
                </a14:m>
                <a:r>
                  <a:rPr lang="en-VN" sz="2400"/>
                  <a:t> </a:t>
                </a:r>
                <a:r>
                  <a:rPr lang="en-VN" sz="2400">
                    <a:solidFill>
                      <a:srgbClr val="FF0000"/>
                    </a:solidFill>
                  </a:rPr>
                  <a:t>Optimizer</a:t>
                </a:r>
                <a14:m>
                  <m:oMath xmlns:m="http://schemas.openxmlformats.org/officeDocument/2006/math">
                    <m:r>
                      <a:rPr lang="en-VN" sz="2400" i="1">
                        <a:latin typeface="Cambria Math" panose="02040503050406030204" pitchFamily="18" charset="0"/>
                      </a:rPr>
                      <m:t>(</m:t>
                    </m:r>
                    <m:r>
                      <a:rPr lang="vi-VN" sz="2400" b="1" i="1">
                        <a:latin typeface="Cambria Math" panose="02040503050406030204" pitchFamily="18" charset="0"/>
                      </a:rPr>
                      <m:t>𝜽</m:t>
                    </m:r>
                    <m:r>
                      <a:rPr lang="vi-VN" sz="2400" i="1">
                        <a:latin typeface="Cambria Math" panose="02040503050406030204" pitchFamily="18" charset="0"/>
                      </a:rPr>
                      <m:t>,</m:t>
                    </m:r>
                    <m:r>
                      <m:rPr>
                        <m:sty m:val="p"/>
                      </m:rPr>
                      <a:rPr lang="vi-VN" sz="2400">
                        <a:latin typeface="Cambria Math" panose="02040503050406030204" pitchFamily="18" charset="0"/>
                      </a:rPr>
                      <m:t>∇</m:t>
                    </m:r>
                    <m:r>
                      <a:rPr lang="vi-VN" sz="2400" i="1">
                        <a:latin typeface="Cambria Math" panose="02040503050406030204" pitchFamily="18" charset="0"/>
                      </a:rPr>
                      <m:t>𝐶</m:t>
                    </m:r>
                    <m:r>
                      <a:rPr lang="en-VN" sz="2400" i="1">
                        <a:latin typeface="Cambria Math" panose="02040503050406030204" pitchFamily="18" charset="0"/>
                      </a:rPr>
                      <m:t>)</m:t>
                    </m:r>
                  </m:oMath>
                </a14:m>
                <a:endParaRPr lang="en-VN" sz="2400"/>
              </a:p>
            </p:txBody>
          </p:sp>
        </mc:Choice>
        <mc:Fallback xmlns="">
          <p:sp>
            <p:nvSpPr>
              <p:cNvPr id="72" name="TextBox 71">
                <a:extLst>
                  <a:ext uri="{FF2B5EF4-FFF2-40B4-BE49-F238E27FC236}">
                    <a16:creationId xmlns:a16="http://schemas.microsoft.com/office/drawing/2014/main" id="{01143910-BC54-FA73-56ED-84D98CB4DBBD}"/>
                  </a:ext>
                </a:extLst>
              </p:cNvPr>
              <p:cNvSpPr txBox="1">
                <a:spLocks noRot="1" noChangeAspect="1" noMove="1" noResize="1" noEditPoints="1" noAdjustHandles="1" noChangeArrowheads="1" noChangeShapeType="1" noTextEdit="1"/>
              </p:cNvSpPr>
              <p:nvPr/>
            </p:nvSpPr>
            <p:spPr>
              <a:xfrm>
                <a:off x="7952258" y="5119509"/>
                <a:ext cx="3401543" cy="461665"/>
              </a:xfrm>
              <a:prstGeom prst="rect">
                <a:avLst/>
              </a:prstGeom>
              <a:blipFill>
                <a:blip r:embed="rId6"/>
                <a:stretch>
                  <a:fillRect l="-370" t="-5128" b="-25641"/>
                </a:stretch>
              </a:blipFill>
              <a:ln>
                <a:solidFill>
                  <a:schemeClr val="tx1"/>
                </a:solidFill>
                <a:prstDash val="dash"/>
              </a:ln>
            </p:spPr>
            <p:txBody>
              <a:bodyPr/>
              <a:lstStyle/>
              <a:p>
                <a:r>
                  <a:rPr lang="en-VN">
                    <a:noFill/>
                  </a:rPr>
                  <a:t> </a:t>
                </a:r>
              </a:p>
            </p:txBody>
          </p:sp>
        </mc:Fallback>
      </mc:AlternateContent>
      <p:cxnSp>
        <p:nvCxnSpPr>
          <p:cNvPr id="73" name="Straight Arrow Connector 72">
            <a:extLst>
              <a:ext uri="{FF2B5EF4-FFF2-40B4-BE49-F238E27FC236}">
                <a16:creationId xmlns:a16="http://schemas.microsoft.com/office/drawing/2014/main" id="{50E22070-189C-4084-0DA3-9D4910284806}"/>
              </a:ext>
            </a:extLst>
          </p:cNvPr>
          <p:cNvCxnSpPr>
            <a:cxnSpLocks/>
            <a:stCxn id="67" idx="3"/>
            <a:endCxn id="72" idx="1"/>
          </p:cNvCxnSpPr>
          <p:nvPr/>
        </p:nvCxnSpPr>
        <p:spPr>
          <a:xfrm>
            <a:off x="7420385" y="5343005"/>
            <a:ext cx="531873" cy="733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DB988B16-DAAE-E8B2-143C-A8F15EC09A5C}"/>
              </a:ext>
            </a:extLst>
          </p:cNvPr>
          <p:cNvCxnSpPr>
            <a:cxnSpLocks/>
            <a:stCxn id="72" idx="2"/>
            <a:endCxn id="46" idx="2"/>
          </p:cNvCxnSpPr>
          <p:nvPr/>
        </p:nvCxnSpPr>
        <p:spPr>
          <a:xfrm rot="5400000">
            <a:off x="5918285" y="2057357"/>
            <a:ext cx="210928" cy="7258563"/>
          </a:xfrm>
          <a:prstGeom prst="bentConnector3">
            <a:avLst>
              <a:gd name="adj1" fmla="val 208378"/>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A50D1D80-D9B7-5ED7-3B35-6399690675AF}"/>
                  </a:ext>
                </a:extLst>
              </p:cNvPr>
              <p:cNvSpPr txBox="1"/>
              <p:nvPr/>
            </p:nvSpPr>
            <p:spPr>
              <a:xfrm>
                <a:off x="4492370" y="5640366"/>
                <a:ext cx="4613189" cy="461665"/>
              </a:xfrm>
              <a:prstGeom prst="rect">
                <a:avLst/>
              </a:prstGeom>
              <a:noFill/>
            </p:spPr>
            <p:txBody>
              <a:bodyPr wrap="square" rtlCol="0">
                <a:spAutoFit/>
              </a:bodyPr>
              <a:lstStyle/>
              <a:p>
                <a:r>
                  <a:rPr lang="en-VN" sz="2400"/>
                  <a:t>Update </a:t>
                </a:r>
                <a14:m>
                  <m:oMath xmlns:m="http://schemas.openxmlformats.org/officeDocument/2006/math">
                    <m:r>
                      <a:rPr lang="en-VN" sz="2400" b="1" i="1">
                        <a:latin typeface="Cambria Math" panose="02040503050406030204" pitchFamily="18" charset="0"/>
                      </a:rPr>
                      <m:t>𝜽</m:t>
                    </m:r>
                  </m:oMath>
                </a14:m>
                <a:r>
                  <a:rPr lang="en-VN" sz="2400" b="1"/>
                  <a:t> </a:t>
                </a:r>
                <a:r>
                  <a:rPr lang="en-VN" sz="2400"/>
                  <a:t>until </a:t>
                </a:r>
                <a14:m>
                  <m:oMath xmlns:m="http://schemas.openxmlformats.org/officeDocument/2006/math">
                    <m:r>
                      <a:rPr lang="vi-VN" sz="2400" i="1">
                        <a:latin typeface="Cambria Math" panose="02040503050406030204" pitchFamily="18" charset="0"/>
                        <a:ea typeface="Cambria Math" panose="02040503050406030204" pitchFamily="18" charset="0"/>
                      </a:rPr>
                      <m:t>𝐶</m:t>
                    </m:r>
                    <m:d>
                      <m:dPr>
                        <m:ctrlPr>
                          <a:rPr lang="vi-VN" sz="2400" i="1">
                            <a:latin typeface="Cambria Math" panose="02040503050406030204" pitchFamily="18" charset="0"/>
                            <a:ea typeface="Cambria Math" panose="02040503050406030204" pitchFamily="18" charset="0"/>
                          </a:rPr>
                        </m:ctrlPr>
                      </m:dPr>
                      <m:e>
                        <m:r>
                          <a:rPr lang="vi-VN" sz="2400" b="1" i="1">
                            <a:latin typeface="Cambria Math" panose="02040503050406030204" pitchFamily="18" charset="0"/>
                            <a:ea typeface="Cambria Math" panose="02040503050406030204" pitchFamily="18" charset="0"/>
                          </a:rPr>
                          <m:t>𝜽</m:t>
                        </m:r>
                      </m:e>
                    </m:d>
                    <m:r>
                      <a:rPr lang="vi-VN" sz="2400" b="1" i="1">
                        <a:latin typeface="Cambria Math" panose="02040503050406030204" pitchFamily="18" charset="0"/>
                        <a:ea typeface="Cambria Math" panose="02040503050406030204" pitchFamily="18" charset="0"/>
                      </a:rPr>
                      <m:t>&lt;</m:t>
                    </m:r>
                    <m:r>
                      <a:rPr lang="vi-VN" sz="2400" i="1">
                        <a:latin typeface="Cambria Math" panose="02040503050406030204" pitchFamily="18" charset="0"/>
                        <a:ea typeface="Cambria Math" panose="02040503050406030204" pitchFamily="18" charset="0"/>
                      </a:rPr>
                      <m:t>𝜏</m:t>
                    </m:r>
                  </m:oMath>
                </a14:m>
                <a:endParaRPr lang="en-VN" sz="2400"/>
              </a:p>
            </p:txBody>
          </p:sp>
        </mc:Choice>
        <mc:Fallback xmlns="">
          <p:sp>
            <p:nvSpPr>
              <p:cNvPr id="79" name="TextBox 78">
                <a:extLst>
                  <a:ext uri="{FF2B5EF4-FFF2-40B4-BE49-F238E27FC236}">
                    <a16:creationId xmlns:a16="http://schemas.microsoft.com/office/drawing/2014/main" id="{A50D1D80-D9B7-5ED7-3B35-6399690675AF}"/>
                  </a:ext>
                </a:extLst>
              </p:cNvPr>
              <p:cNvSpPr txBox="1">
                <a:spLocks noRot="1" noChangeAspect="1" noMove="1" noResize="1" noEditPoints="1" noAdjustHandles="1" noChangeArrowheads="1" noChangeShapeType="1" noTextEdit="1"/>
              </p:cNvSpPr>
              <p:nvPr/>
            </p:nvSpPr>
            <p:spPr>
              <a:xfrm>
                <a:off x="4492370" y="5640366"/>
                <a:ext cx="4613189" cy="461665"/>
              </a:xfrm>
              <a:prstGeom prst="rect">
                <a:avLst/>
              </a:prstGeom>
              <a:blipFill>
                <a:blip r:embed="rId7"/>
                <a:stretch>
                  <a:fillRect l="-1918" t="-8108" b="-29730"/>
                </a:stretch>
              </a:blipFill>
            </p:spPr>
            <p:txBody>
              <a:bodyPr/>
              <a:lstStyle/>
              <a:p>
                <a:r>
                  <a:rPr lang="en-VN">
                    <a:noFill/>
                  </a:rPr>
                  <a:t> </a:t>
                </a:r>
              </a:p>
            </p:txBody>
          </p:sp>
        </mc:Fallback>
      </mc:AlternateContent>
      <p:sp>
        <p:nvSpPr>
          <p:cNvPr id="6" name="Rectangle 5">
            <a:extLst>
              <a:ext uri="{FF2B5EF4-FFF2-40B4-BE49-F238E27FC236}">
                <a16:creationId xmlns:a16="http://schemas.microsoft.com/office/drawing/2014/main" id="{A2A43D14-B38A-7BA4-101F-1EF021714EE1}"/>
              </a:ext>
            </a:extLst>
          </p:cNvPr>
          <p:cNvSpPr/>
          <p:nvPr/>
        </p:nvSpPr>
        <p:spPr>
          <a:xfrm>
            <a:off x="1763432" y="1913306"/>
            <a:ext cx="285287" cy="4959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7" name="TextBox 6">
            <a:extLst>
              <a:ext uri="{FF2B5EF4-FFF2-40B4-BE49-F238E27FC236}">
                <a16:creationId xmlns:a16="http://schemas.microsoft.com/office/drawing/2014/main" id="{5D4F94FE-75C5-38EE-2508-AE4FAA037C1F}"/>
              </a:ext>
            </a:extLst>
          </p:cNvPr>
          <p:cNvSpPr txBox="1"/>
          <p:nvPr/>
        </p:nvSpPr>
        <p:spPr>
          <a:xfrm>
            <a:off x="8307591" y="2307890"/>
            <a:ext cx="2963333" cy="461665"/>
          </a:xfrm>
          <a:prstGeom prst="rect">
            <a:avLst/>
          </a:prstGeom>
          <a:noFill/>
        </p:spPr>
        <p:txBody>
          <a:bodyPr wrap="square" rtlCol="0">
            <a:spAutoFit/>
          </a:bodyPr>
          <a:lstStyle/>
          <a:p>
            <a:r>
              <a:rPr lang="en-US" sz="2400">
                <a:solidFill>
                  <a:srgbClr val="FF0000"/>
                </a:solidFill>
              </a:rPr>
              <a:t>Trainable parameters</a:t>
            </a:r>
            <a:endParaRPr lang="en-VN" sz="2400">
              <a:solidFill>
                <a:srgbClr val="FF0000"/>
              </a:solidFill>
            </a:endParaRPr>
          </a:p>
        </p:txBody>
      </p:sp>
      <p:sp>
        <p:nvSpPr>
          <p:cNvPr id="8" name="TextBox 7">
            <a:extLst>
              <a:ext uri="{FF2B5EF4-FFF2-40B4-BE49-F238E27FC236}">
                <a16:creationId xmlns:a16="http://schemas.microsoft.com/office/drawing/2014/main" id="{60B90AA3-0B5D-988B-9767-7A6B473D0B91}"/>
              </a:ext>
            </a:extLst>
          </p:cNvPr>
          <p:cNvSpPr txBox="1"/>
          <p:nvPr/>
        </p:nvSpPr>
        <p:spPr>
          <a:xfrm>
            <a:off x="8307591" y="3040317"/>
            <a:ext cx="3401543" cy="830997"/>
          </a:xfrm>
          <a:prstGeom prst="rect">
            <a:avLst/>
          </a:prstGeom>
          <a:noFill/>
        </p:spPr>
        <p:txBody>
          <a:bodyPr wrap="square" rtlCol="0">
            <a:spAutoFit/>
          </a:bodyPr>
          <a:lstStyle/>
          <a:p>
            <a:r>
              <a:rPr lang="en-US" sz="2400">
                <a:solidFill>
                  <a:srgbClr val="FF0000"/>
                </a:solidFill>
              </a:rPr>
              <a:t>Objective associated with expectation values</a:t>
            </a:r>
            <a:endParaRPr lang="en-VN" sz="2400">
              <a:solidFill>
                <a:srgbClr val="FF0000"/>
              </a:solidFill>
            </a:endParaRPr>
          </a:p>
        </p:txBody>
      </p:sp>
      <p:sp>
        <p:nvSpPr>
          <p:cNvPr id="9" name="Rectangle 8">
            <a:extLst>
              <a:ext uri="{FF2B5EF4-FFF2-40B4-BE49-F238E27FC236}">
                <a16:creationId xmlns:a16="http://schemas.microsoft.com/office/drawing/2014/main" id="{A53AD4C7-4814-A909-94F3-B3A04E55034E}"/>
              </a:ext>
            </a:extLst>
          </p:cNvPr>
          <p:cNvSpPr/>
          <p:nvPr/>
        </p:nvSpPr>
        <p:spPr>
          <a:xfrm>
            <a:off x="1397821" y="3184000"/>
            <a:ext cx="4238977" cy="5469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0" name="Rectangle 9">
            <a:extLst>
              <a:ext uri="{FF2B5EF4-FFF2-40B4-BE49-F238E27FC236}">
                <a16:creationId xmlns:a16="http://schemas.microsoft.com/office/drawing/2014/main" id="{351D5153-17DB-D23D-CE98-EB34709A72AA}"/>
              </a:ext>
            </a:extLst>
          </p:cNvPr>
          <p:cNvSpPr/>
          <p:nvPr/>
        </p:nvSpPr>
        <p:spPr>
          <a:xfrm>
            <a:off x="1363097" y="4083577"/>
            <a:ext cx="3087513" cy="5469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11" name="TextBox 10">
            <a:extLst>
              <a:ext uri="{FF2B5EF4-FFF2-40B4-BE49-F238E27FC236}">
                <a16:creationId xmlns:a16="http://schemas.microsoft.com/office/drawing/2014/main" id="{DCB6FF76-2AC9-802B-8F69-14D057DCDAA6}"/>
              </a:ext>
            </a:extLst>
          </p:cNvPr>
          <p:cNvSpPr txBox="1"/>
          <p:nvPr/>
        </p:nvSpPr>
        <p:spPr>
          <a:xfrm>
            <a:off x="8390467" y="4110846"/>
            <a:ext cx="2963333" cy="461665"/>
          </a:xfrm>
          <a:prstGeom prst="rect">
            <a:avLst/>
          </a:prstGeom>
          <a:noFill/>
        </p:spPr>
        <p:txBody>
          <a:bodyPr wrap="square" rtlCol="0">
            <a:spAutoFit/>
          </a:bodyPr>
          <a:lstStyle/>
          <a:p>
            <a:r>
              <a:rPr lang="en-US" sz="2400">
                <a:solidFill>
                  <a:srgbClr val="FF0000"/>
                </a:solidFill>
              </a:rPr>
              <a:t>Optimal parameters</a:t>
            </a:r>
            <a:endParaRPr lang="en-VN" sz="2400">
              <a:solidFill>
                <a:srgbClr val="FF0000"/>
              </a:solidFill>
            </a:endParaRPr>
          </a:p>
        </p:txBody>
      </p:sp>
      <p:cxnSp>
        <p:nvCxnSpPr>
          <p:cNvPr id="17" name="Straight Arrow Connector 16">
            <a:extLst>
              <a:ext uri="{FF2B5EF4-FFF2-40B4-BE49-F238E27FC236}">
                <a16:creationId xmlns:a16="http://schemas.microsoft.com/office/drawing/2014/main" id="{7C94D54A-916E-DE73-58CD-AD75DC9B88A7}"/>
              </a:ext>
            </a:extLst>
          </p:cNvPr>
          <p:cNvCxnSpPr>
            <a:cxnSpLocks/>
            <a:stCxn id="9" idx="3"/>
            <a:endCxn id="8" idx="1"/>
          </p:cNvCxnSpPr>
          <p:nvPr/>
        </p:nvCxnSpPr>
        <p:spPr>
          <a:xfrm flipV="1">
            <a:off x="5636798" y="3455816"/>
            <a:ext cx="2670793" cy="1674"/>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19ED62C-BA76-35F3-7535-A4F39DAB0BD4}"/>
              </a:ext>
            </a:extLst>
          </p:cNvPr>
          <p:cNvCxnSpPr>
            <a:cxnSpLocks/>
            <a:stCxn id="10" idx="3"/>
            <a:endCxn id="11" idx="1"/>
          </p:cNvCxnSpPr>
          <p:nvPr/>
        </p:nvCxnSpPr>
        <p:spPr>
          <a:xfrm flipV="1">
            <a:off x="4450610" y="4341679"/>
            <a:ext cx="3939857" cy="15388"/>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D5C6F1A-6163-519A-A13B-16C9EA2B56CE}"/>
              </a:ext>
            </a:extLst>
          </p:cNvPr>
          <p:cNvSpPr txBox="1"/>
          <p:nvPr/>
        </p:nvSpPr>
        <p:spPr>
          <a:xfrm>
            <a:off x="838199" y="6378536"/>
            <a:ext cx="3575756" cy="338554"/>
          </a:xfrm>
          <a:prstGeom prst="rect">
            <a:avLst/>
          </a:prstGeom>
          <a:noFill/>
        </p:spPr>
        <p:txBody>
          <a:bodyPr wrap="square" rtlCol="0">
            <a:spAutoFit/>
          </a:bodyPr>
          <a:lstStyle/>
          <a:p>
            <a:pPr algn="ctr"/>
            <a:r>
              <a:rPr lang="en-US" sz="1600"/>
              <a:t>Quantum computer</a:t>
            </a:r>
            <a:endParaRPr lang="en-VN" sz="1600"/>
          </a:p>
        </p:txBody>
      </p:sp>
      <p:sp>
        <p:nvSpPr>
          <p:cNvPr id="28" name="TextBox 27">
            <a:extLst>
              <a:ext uri="{FF2B5EF4-FFF2-40B4-BE49-F238E27FC236}">
                <a16:creationId xmlns:a16="http://schemas.microsoft.com/office/drawing/2014/main" id="{24720B65-445F-C30A-B878-7B4FE3B5EB6C}"/>
              </a:ext>
            </a:extLst>
          </p:cNvPr>
          <p:cNvSpPr txBox="1"/>
          <p:nvPr/>
        </p:nvSpPr>
        <p:spPr>
          <a:xfrm>
            <a:off x="4492370" y="6378536"/>
            <a:ext cx="6977001" cy="338554"/>
          </a:xfrm>
          <a:prstGeom prst="rect">
            <a:avLst/>
          </a:prstGeom>
          <a:noFill/>
        </p:spPr>
        <p:txBody>
          <a:bodyPr wrap="square" rtlCol="0">
            <a:spAutoFit/>
          </a:bodyPr>
          <a:lstStyle/>
          <a:p>
            <a:pPr algn="ctr"/>
            <a:r>
              <a:rPr lang="en-US" sz="1600"/>
              <a:t>Classical computer</a:t>
            </a:r>
            <a:endParaRPr lang="en-VN" sz="1600"/>
          </a:p>
        </p:txBody>
      </p:sp>
      <p:cxnSp>
        <p:nvCxnSpPr>
          <p:cNvPr id="30" name="Straight Connector 29">
            <a:extLst>
              <a:ext uri="{FF2B5EF4-FFF2-40B4-BE49-F238E27FC236}">
                <a16:creationId xmlns:a16="http://schemas.microsoft.com/office/drawing/2014/main" id="{18C54759-6889-BF0B-1E06-0D5F8880378B}"/>
              </a:ext>
            </a:extLst>
          </p:cNvPr>
          <p:cNvCxnSpPr>
            <a:cxnSpLocks/>
          </p:cNvCxnSpPr>
          <p:nvPr/>
        </p:nvCxnSpPr>
        <p:spPr>
          <a:xfrm>
            <a:off x="4470395" y="4924383"/>
            <a:ext cx="0" cy="17970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347E615B-F0C9-0789-25A9-A59EE10F4D5C}"/>
              </a:ext>
            </a:extLst>
          </p:cNvPr>
          <p:cNvCxnSpPr>
            <a:stCxn id="6" idx="2"/>
            <a:endCxn id="7" idx="1"/>
          </p:cNvCxnSpPr>
          <p:nvPr/>
        </p:nvCxnSpPr>
        <p:spPr>
          <a:xfrm rot="16200000" flipH="1">
            <a:off x="5042089" y="-726779"/>
            <a:ext cx="129488" cy="6401515"/>
          </a:xfrm>
          <a:prstGeom prst="bentConnector2">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8758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38604-639C-7BDA-0A93-4B7B0DCB4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0EAF2-32B3-2AF0-B6DB-958EE4ADF636}"/>
              </a:ext>
            </a:extLst>
          </p:cNvPr>
          <p:cNvSpPr>
            <a:spLocks noGrp="1"/>
          </p:cNvSpPr>
          <p:nvPr>
            <p:ph type="title"/>
          </p:nvPr>
        </p:nvSpPr>
        <p:spPr/>
        <p:txBody>
          <a:bodyPr/>
          <a:lstStyle/>
          <a:p>
            <a:r>
              <a:rPr lang="en-US"/>
              <a:t>Notation</a:t>
            </a:r>
            <a:endParaRPr lang="vi-VN"/>
          </a:p>
        </p:txBody>
      </p:sp>
      <p:sp>
        <p:nvSpPr>
          <p:cNvPr id="4" name="Slide Number Placeholder 3">
            <a:extLst>
              <a:ext uri="{FF2B5EF4-FFF2-40B4-BE49-F238E27FC236}">
                <a16:creationId xmlns:a16="http://schemas.microsoft.com/office/drawing/2014/main" id="{49583095-A7FC-FF80-A15E-B740DAEF0958}"/>
              </a:ext>
            </a:extLst>
          </p:cNvPr>
          <p:cNvSpPr>
            <a:spLocks noGrp="1"/>
          </p:cNvSpPr>
          <p:nvPr>
            <p:ph type="sldNum" sz="quarter" idx="12"/>
          </p:nvPr>
        </p:nvSpPr>
        <p:spPr/>
        <p:txBody>
          <a:bodyPr/>
          <a:lstStyle/>
          <a:p>
            <a:fld id="{71331178-9F85-4EDF-BDD3-1E7064DA4C59}" type="slidenum">
              <a:rPr lang="vi-VN" smtClean="0"/>
              <a:t>37</a:t>
            </a:fld>
            <a:endParaRPr lang="vi-VN"/>
          </a:p>
        </p:txBody>
      </p:sp>
      <p:cxnSp>
        <p:nvCxnSpPr>
          <p:cNvPr id="14" name="Straight Connector 13">
            <a:extLst>
              <a:ext uri="{FF2B5EF4-FFF2-40B4-BE49-F238E27FC236}">
                <a16:creationId xmlns:a16="http://schemas.microsoft.com/office/drawing/2014/main" id="{C50594B5-2DF3-F4E4-8D06-A751C2B4CA77}"/>
              </a:ext>
            </a:extLst>
          </p:cNvPr>
          <p:cNvCxnSpPr>
            <a:cxnSpLocks/>
            <a:endCxn id="35" idx="1"/>
          </p:cNvCxnSpPr>
          <p:nvPr/>
        </p:nvCxnSpPr>
        <p:spPr>
          <a:xfrm flipV="1">
            <a:off x="3991755" y="3230636"/>
            <a:ext cx="2287592" cy="5654"/>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BBBAE9E3-E638-7865-FD31-93E2910F549D}"/>
                  </a:ext>
                </a:extLst>
              </p:cNvPr>
              <p:cNvSpPr/>
              <p:nvPr/>
            </p:nvSpPr>
            <p:spPr>
              <a:xfrm>
                <a:off x="4818006" y="2964141"/>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𝑈</m:t>
                      </m:r>
                    </m:oMath>
                  </m:oMathPara>
                </a14:m>
                <a:endParaRPr lang="vi-VN" sz="2400">
                  <a:solidFill>
                    <a:schemeClr val="tx1"/>
                  </a:solidFill>
                </a:endParaRPr>
              </a:p>
            </p:txBody>
          </p:sp>
        </mc:Choice>
        <mc:Fallback xmlns="">
          <p:sp>
            <p:nvSpPr>
              <p:cNvPr id="20" name="Rectangle 19">
                <a:extLst>
                  <a:ext uri="{FF2B5EF4-FFF2-40B4-BE49-F238E27FC236}">
                    <a16:creationId xmlns:a16="http://schemas.microsoft.com/office/drawing/2014/main" id="{BBBAE9E3-E638-7865-FD31-93E2910F549D}"/>
                  </a:ext>
                </a:extLst>
              </p:cNvPr>
              <p:cNvSpPr>
                <a:spLocks noRot="1" noChangeAspect="1" noMove="1" noResize="1" noEditPoints="1" noAdjustHandles="1" noChangeArrowheads="1" noChangeShapeType="1" noTextEdit="1"/>
              </p:cNvSpPr>
              <p:nvPr/>
            </p:nvSpPr>
            <p:spPr>
              <a:xfrm>
                <a:off x="4818006" y="2964141"/>
                <a:ext cx="1152626" cy="544297"/>
              </a:xfrm>
              <a:prstGeom prst="rect">
                <a:avLst/>
              </a:prstGeom>
              <a:blipFill>
                <a:blip r:embed="rId2"/>
                <a:stretch>
                  <a:fillRect/>
                </a:stretch>
              </a:blipFill>
              <a:ln>
                <a:solidFill>
                  <a:schemeClr val="tx1"/>
                </a:solidFill>
              </a:ln>
            </p:spPr>
            <p:txBody>
              <a:bodyPr/>
              <a:lstStyle/>
              <a:p>
                <a:r>
                  <a:rPr lang="en-VN">
                    <a:noFill/>
                  </a:rPr>
                  <a:t> </a:t>
                </a:r>
              </a:p>
            </p:txBody>
          </p:sp>
        </mc:Fallback>
      </mc:AlternateContent>
      <p:cxnSp>
        <p:nvCxnSpPr>
          <p:cNvPr id="21" name="Straight Connector 20">
            <a:extLst>
              <a:ext uri="{FF2B5EF4-FFF2-40B4-BE49-F238E27FC236}">
                <a16:creationId xmlns:a16="http://schemas.microsoft.com/office/drawing/2014/main" id="{0CEE9EF0-7B1F-6203-DDEA-BEA42FF53C1B}"/>
              </a:ext>
            </a:extLst>
          </p:cNvPr>
          <p:cNvCxnSpPr>
            <a:cxnSpLocks/>
          </p:cNvCxnSpPr>
          <p:nvPr/>
        </p:nvCxnSpPr>
        <p:spPr>
          <a:xfrm flipV="1">
            <a:off x="4378664" y="3062488"/>
            <a:ext cx="290162" cy="34760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7A08EF4-F2EB-15A1-8CDC-2EC02513D083}"/>
                  </a:ext>
                </a:extLst>
              </p:cNvPr>
              <p:cNvSpPr txBox="1"/>
              <p:nvPr/>
            </p:nvSpPr>
            <p:spPr>
              <a:xfrm>
                <a:off x="4286554" y="2608419"/>
                <a:ext cx="6651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𝑛</m:t>
                      </m:r>
                    </m:oMath>
                  </m:oMathPara>
                </a14:m>
                <a:endParaRPr lang="vi-VN" sz="2400"/>
              </a:p>
            </p:txBody>
          </p:sp>
        </mc:Choice>
        <mc:Fallback xmlns="">
          <p:sp>
            <p:nvSpPr>
              <p:cNvPr id="22" name="TextBox 21">
                <a:extLst>
                  <a:ext uri="{FF2B5EF4-FFF2-40B4-BE49-F238E27FC236}">
                    <a16:creationId xmlns:a16="http://schemas.microsoft.com/office/drawing/2014/main" id="{B7A08EF4-F2EB-15A1-8CDC-2EC02513D083}"/>
                  </a:ext>
                </a:extLst>
              </p:cNvPr>
              <p:cNvSpPr txBox="1">
                <a:spLocks noRot="1" noChangeAspect="1" noMove="1" noResize="1" noEditPoints="1" noAdjustHandles="1" noChangeArrowheads="1" noChangeShapeType="1" noTextEdit="1"/>
              </p:cNvSpPr>
              <p:nvPr/>
            </p:nvSpPr>
            <p:spPr>
              <a:xfrm>
                <a:off x="4286554" y="2608419"/>
                <a:ext cx="665170" cy="461665"/>
              </a:xfrm>
              <a:prstGeom prst="rect">
                <a:avLst/>
              </a:prstGeom>
              <a:blipFill>
                <a:blip r:embed="rId3"/>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6CFD79C-9046-523F-90D3-70484096B9E1}"/>
                  </a:ext>
                </a:extLst>
              </p:cNvPr>
              <p:cNvSpPr txBox="1"/>
              <p:nvPr/>
            </p:nvSpPr>
            <p:spPr>
              <a:xfrm>
                <a:off x="3962392" y="2855020"/>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xmlns="">
          <p:sp>
            <p:nvSpPr>
              <p:cNvPr id="24" name="TextBox 23">
                <a:extLst>
                  <a:ext uri="{FF2B5EF4-FFF2-40B4-BE49-F238E27FC236}">
                    <a16:creationId xmlns:a16="http://schemas.microsoft.com/office/drawing/2014/main" id="{C6CFD79C-9046-523F-90D3-70484096B9E1}"/>
                  </a:ext>
                </a:extLst>
              </p:cNvPr>
              <p:cNvSpPr txBox="1">
                <a:spLocks noRot="1" noChangeAspect="1" noMove="1" noResize="1" noEditPoints="1" noAdjustHandles="1" noChangeArrowheads="1" noChangeShapeType="1" noTextEdit="1"/>
              </p:cNvSpPr>
              <p:nvPr/>
            </p:nvSpPr>
            <p:spPr>
              <a:xfrm>
                <a:off x="3962392" y="2855020"/>
                <a:ext cx="196144" cy="276999"/>
              </a:xfrm>
              <a:prstGeom prst="rect">
                <a:avLst/>
              </a:prstGeom>
              <a:blipFill>
                <a:blip r:embed="rId4"/>
                <a:stretch>
                  <a:fillRect l="-31250" r="-25000" b="-30435"/>
                </a:stretch>
              </a:blipFill>
            </p:spPr>
            <p:txBody>
              <a:bodyPr/>
              <a:lstStyle/>
              <a:p>
                <a:r>
                  <a:rPr lang="en-VN">
                    <a:noFill/>
                  </a:rPr>
                  <a:t> </a:t>
                </a:r>
              </a:p>
            </p:txBody>
          </p:sp>
        </mc:Fallback>
      </mc:AlternateContent>
      <p:sp>
        <p:nvSpPr>
          <p:cNvPr id="35" name="Hình chữ nhật 93">
            <a:extLst>
              <a:ext uri="{FF2B5EF4-FFF2-40B4-BE49-F238E27FC236}">
                <a16:creationId xmlns:a16="http://schemas.microsoft.com/office/drawing/2014/main" id="{D4777B2F-26D7-EF23-6888-66E88C23B96D}"/>
              </a:ext>
            </a:extLst>
          </p:cNvPr>
          <p:cNvSpPr/>
          <p:nvPr/>
        </p:nvSpPr>
        <p:spPr>
          <a:xfrm>
            <a:off x="6279347" y="3077169"/>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36" name="Arc 35">
            <a:extLst>
              <a:ext uri="{FF2B5EF4-FFF2-40B4-BE49-F238E27FC236}">
                <a16:creationId xmlns:a16="http://schemas.microsoft.com/office/drawing/2014/main" id="{428A4EBE-5DEC-FC80-6FD9-9D25421A981A}"/>
              </a:ext>
            </a:extLst>
          </p:cNvPr>
          <p:cNvSpPr/>
          <p:nvPr/>
        </p:nvSpPr>
        <p:spPr>
          <a:xfrm>
            <a:off x="6335044" y="3221769"/>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37" name="Straight Arrow Connector 36">
            <a:extLst>
              <a:ext uri="{FF2B5EF4-FFF2-40B4-BE49-F238E27FC236}">
                <a16:creationId xmlns:a16="http://schemas.microsoft.com/office/drawing/2014/main" id="{ADE8D60A-DE6F-3424-EDB8-F40CC72DEA10}"/>
              </a:ext>
            </a:extLst>
          </p:cNvPr>
          <p:cNvCxnSpPr>
            <a:cxnSpLocks/>
          </p:cNvCxnSpPr>
          <p:nvPr/>
        </p:nvCxnSpPr>
        <p:spPr>
          <a:xfrm flipV="1">
            <a:off x="6389260" y="3144140"/>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5AC98B44-CC92-90F2-7D8F-E334FC56A34F}"/>
              </a:ext>
            </a:extLst>
          </p:cNvPr>
          <p:cNvCxnSpPr>
            <a:cxnSpLocks/>
          </p:cNvCxnSpPr>
          <p:nvPr/>
        </p:nvCxnSpPr>
        <p:spPr>
          <a:xfrm>
            <a:off x="3993666" y="4718314"/>
            <a:ext cx="25920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E06CD9B8-CF78-92D5-E661-BBC185225F20}"/>
              </a:ext>
            </a:extLst>
          </p:cNvPr>
          <p:cNvCxnSpPr>
            <a:cxnSpLocks/>
          </p:cNvCxnSpPr>
          <p:nvPr/>
        </p:nvCxnSpPr>
        <p:spPr>
          <a:xfrm>
            <a:off x="3993666" y="4663277"/>
            <a:ext cx="2592000" cy="0"/>
          </a:xfrm>
          <a:prstGeom prst="line">
            <a:avLst/>
          </a:prstGeom>
          <a:ln w="28575"/>
        </p:spPr>
        <p:style>
          <a:lnRef idx="1">
            <a:schemeClr val="dk1"/>
          </a:lnRef>
          <a:fillRef idx="0">
            <a:schemeClr val="dk1"/>
          </a:fillRef>
          <a:effectRef idx="0">
            <a:schemeClr val="dk1"/>
          </a:effectRef>
          <a:fontRef idx="minor">
            <a:schemeClr val="tx1"/>
          </a:fontRef>
        </p:style>
      </p:cxnSp>
      <p:sp>
        <p:nvSpPr>
          <p:cNvPr id="40" name="Arrow: Down 25">
            <a:extLst>
              <a:ext uri="{FF2B5EF4-FFF2-40B4-BE49-F238E27FC236}">
                <a16:creationId xmlns:a16="http://schemas.microsoft.com/office/drawing/2014/main" id="{34306185-4BF5-1F86-1AAC-7DC0B2812DD8}"/>
              </a:ext>
            </a:extLst>
          </p:cNvPr>
          <p:cNvSpPr/>
          <p:nvPr/>
        </p:nvSpPr>
        <p:spPr>
          <a:xfrm>
            <a:off x="6384054" y="3385581"/>
            <a:ext cx="118029" cy="1257100"/>
          </a:xfrm>
          <a:prstGeom prst="downArrow">
            <a:avLst>
              <a:gd name="adj1" fmla="val 50000"/>
              <a:gd name="adj2" fmla="val 5272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6697497-8E48-689D-9C3D-69838A47C8AD}"/>
                  </a:ext>
                </a:extLst>
              </p:cNvPr>
              <p:cNvSpPr txBox="1"/>
              <p:nvPr/>
            </p:nvSpPr>
            <p:spPr>
              <a:xfrm>
                <a:off x="3960415" y="4365682"/>
                <a:ext cx="1772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xmlns="">
          <p:sp>
            <p:nvSpPr>
              <p:cNvPr id="41" name="TextBox 40">
                <a:extLst>
                  <a:ext uri="{FF2B5EF4-FFF2-40B4-BE49-F238E27FC236}">
                    <a16:creationId xmlns:a16="http://schemas.microsoft.com/office/drawing/2014/main" id="{D6697497-8E48-689D-9C3D-69838A47C8AD}"/>
                  </a:ext>
                </a:extLst>
              </p:cNvPr>
              <p:cNvSpPr txBox="1">
                <a:spLocks noRot="1" noChangeAspect="1" noMove="1" noResize="1" noEditPoints="1" noAdjustHandles="1" noChangeArrowheads="1" noChangeShapeType="1" noTextEdit="1"/>
              </p:cNvSpPr>
              <p:nvPr/>
            </p:nvSpPr>
            <p:spPr>
              <a:xfrm>
                <a:off x="3960415" y="4365682"/>
                <a:ext cx="177228" cy="276999"/>
              </a:xfrm>
              <a:prstGeom prst="rect">
                <a:avLst/>
              </a:prstGeom>
              <a:blipFill>
                <a:blip r:embed="rId5"/>
                <a:stretch>
                  <a:fillRect l="-21429" r="-14286" b="-4348"/>
                </a:stretch>
              </a:blipFill>
            </p:spPr>
            <p:txBody>
              <a:bodyPr/>
              <a:lstStyle/>
              <a:p>
                <a:r>
                  <a:rPr lang="en-VN">
                    <a:noFill/>
                  </a:rPr>
                  <a:t> </a:t>
                </a:r>
              </a:p>
            </p:txBody>
          </p:sp>
        </mc:Fallback>
      </mc:AlternateContent>
      <p:sp>
        <p:nvSpPr>
          <p:cNvPr id="7" name="TextBox 6">
            <a:extLst>
              <a:ext uri="{FF2B5EF4-FFF2-40B4-BE49-F238E27FC236}">
                <a16:creationId xmlns:a16="http://schemas.microsoft.com/office/drawing/2014/main" id="{DEDFF167-9B79-A5F1-DFB4-A21573607493}"/>
              </a:ext>
            </a:extLst>
          </p:cNvPr>
          <p:cNvSpPr txBox="1"/>
          <p:nvPr/>
        </p:nvSpPr>
        <p:spPr>
          <a:xfrm>
            <a:off x="4818006" y="3582760"/>
            <a:ext cx="1362457" cy="642163"/>
          </a:xfrm>
          <a:prstGeom prst="rect">
            <a:avLst/>
          </a:prstGeom>
          <a:noFill/>
          <a:ln>
            <a:solidFill>
              <a:srgbClr val="FF0000"/>
            </a:solidFill>
          </a:ln>
        </p:spPr>
        <p:txBody>
          <a:bodyPr wrap="square">
            <a:spAutoFit/>
          </a:bodyPr>
          <a:lstStyle/>
          <a:p>
            <a:pPr>
              <a:lnSpc>
                <a:spcPts val="1350"/>
              </a:lnSpc>
              <a:buNone/>
            </a:pPr>
            <a:r>
              <a:rPr lang="en-US" sz="1400" b="1">
                <a:solidFill>
                  <a:srgbClr val="C9D1D9"/>
                </a:solidFill>
                <a:effectLst/>
                <a:latin typeface="Menlo" panose="020B0609030804020204" pitchFamily="49" charset="0"/>
              </a:rPr>
              <a:t>qc</a:t>
            </a:r>
            <a:r>
              <a:rPr lang="en-US" sz="1400" b="1">
                <a:solidFill>
                  <a:srgbClr val="BBBEBF"/>
                </a:solidFill>
                <a:effectLst/>
                <a:latin typeface="Menlo" panose="020B0609030804020204" pitchFamily="49" charset="0"/>
              </a:rPr>
              <a:t>.</a:t>
            </a:r>
            <a:r>
              <a:rPr lang="en-US" sz="1400" b="1">
                <a:solidFill>
                  <a:srgbClr val="D2A8FF"/>
                </a:solidFill>
                <a:effectLst/>
                <a:latin typeface="Menlo" panose="020B0609030804020204" pitchFamily="49" charset="0"/>
              </a:rPr>
              <a:t>h</a:t>
            </a:r>
            <a:r>
              <a:rPr lang="en-US" sz="1400" b="1">
                <a:solidFill>
                  <a:srgbClr val="BBBEBF"/>
                </a:solidFill>
                <a:effectLst/>
                <a:latin typeface="Menlo" panose="020B0609030804020204" pitchFamily="49" charset="0"/>
              </a:rPr>
              <a:t>(</a:t>
            </a:r>
            <a:r>
              <a:rPr lang="en-US" sz="1400" b="1">
                <a:solidFill>
                  <a:srgbClr val="B5CEA8"/>
                </a:solidFill>
                <a:effectLst/>
                <a:latin typeface="Menlo" panose="020B0609030804020204" pitchFamily="49" charset="0"/>
              </a:rPr>
              <a:t>0</a:t>
            </a:r>
            <a:r>
              <a:rPr lang="en-US" sz="1400" b="1">
                <a:solidFill>
                  <a:srgbClr val="BBBEBF"/>
                </a:solidFill>
                <a:effectLst/>
                <a:latin typeface="Menlo" panose="020B0609030804020204" pitchFamily="49" charset="0"/>
              </a:rPr>
              <a:t>)</a:t>
            </a:r>
          </a:p>
          <a:p>
            <a:pPr>
              <a:lnSpc>
                <a:spcPts val="1350"/>
              </a:lnSpc>
              <a:buNone/>
            </a:pPr>
            <a:r>
              <a:rPr lang="en-US" sz="1400" b="1">
                <a:solidFill>
                  <a:srgbClr val="C9D1D9"/>
                </a:solidFill>
                <a:effectLst/>
                <a:latin typeface="Menlo" panose="020B0609030804020204" pitchFamily="49" charset="0"/>
              </a:rPr>
              <a:t>qc</a:t>
            </a:r>
            <a:r>
              <a:rPr lang="en-US" sz="1400" b="1">
                <a:solidFill>
                  <a:srgbClr val="BBBEBF"/>
                </a:solidFill>
                <a:effectLst/>
                <a:latin typeface="Menlo" panose="020B0609030804020204" pitchFamily="49" charset="0"/>
              </a:rPr>
              <a:t>.</a:t>
            </a:r>
            <a:r>
              <a:rPr lang="en-US" sz="1400" b="1">
                <a:solidFill>
                  <a:srgbClr val="D2A8FF"/>
                </a:solidFill>
                <a:effectLst/>
                <a:latin typeface="Menlo" panose="020B0609030804020204" pitchFamily="49" charset="0"/>
              </a:rPr>
              <a:t>cx</a:t>
            </a:r>
            <a:r>
              <a:rPr lang="en-US" sz="1400" b="1">
                <a:solidFill>
                  <a:srgbClr val="BBBEBF"/>
                </a:solidFill>
                <a:effectLst/>
                <a:latin typeface="Menlo" panose="020B0609030804020204" pitchFamily="49" charset="0"/>
              </a:rPr>
              <a:t>(</a:t>
            </a:r>
            <a:r>
              <a:rPr lang="en-US" sz="1400" b="1">
                <a:solidFill>
                  <a:srgbClr val="B5CEA8"/>
                </a:solidFill>
                <a:effectLst/>
                <a:latin typeface="Menlo" panose="020B0609030804020204" pitchFamily="49" charset="0"/>
              </a:rPr>
              <a:t>0</a:t>
            </a:r>
            <a:r>
              <a:rPr lang="en-US" sz="1400" b="1">
                <a:solidFill>
                  <a:srgbClr val="BBBEBF"/>
                </a:solidFill>
                <a:effectLst/>
                <a:latin typeface="Menlo" panose="020B0609030804020204" pitchFamily="49" charset="0"/>
              </a:rPr>
              <a:t>, </a:t>
            </a:r>
            <a:r>
              <a:rPr lang="en-US" sz="1400" b="1">
                <a:solidFill>
                  <a:srgbClr val="B5CEA8"/>
                </a:solidFill>
                <a:effectLst/>
                <a:latin typeface="Menlo" panose="020B0609030804020204" pitchFamily="49" charset="0"/>
              </a:rPr>
              <a:t>1</a:t>
            </a:r>
            <a:r>
              <a:rPr lang="en-US" sz="1400" b="1">
                <a:solidFill>
                  <a:srgbClr val="BBBEBF"/>
                </a:solidFill>
                <a:effectLst/>
                <a:latin typeface="Menlo" panose="020B0609030804020204" pitchFamily="49" charset="0"/>
              </a:rPr>
              <a:t>)</a:t>
            </a:r>
          </a:p>
          <a:p>
            <a:pPr>
              <a:lnSpc>
                <a:spcPts val="1350"/>
              </a:lnSpc>
              <a:buNone/>
            </a:pPr>
            <a:r>
              <a:rPr lang="en-US" sz="1400" b="1">
                <a:solidFill>
                  <a:srgbClr val="C9D1D9"/>
                </a:solidFill>
                <a:effectLst/>
                <a:latin typeface="Menlo" panose="020B0609030804020204" pitchFamily="49" charset="0"/>
              </a:rPr>
              <a:t>qc</a:t>
            </a:r>
            <a:r>
              <a:rPr lang="en-US" sz="1400" b="1">
                <a:solidFill>
                  <a:srgbClr val="BBBEBF"/>
                </a:solidFill>
                <a:effectLst/>
                <a:latin typeface="Menlo" panose="020B0609030804020204" pitchFamily="49" charset="0"/>
              </a:rPr>
              <a:t>.</a:t>
            </a:r>
            <a:r>
              <a:rPr lang="en-US" sz="1400" b="1">
                <a:solidFill>
                  <a:srgbClr val="D2A8FF"/>
                </a:solidFill>
                <a:effectLst/>
                <a:latin typeface="Menlo" panose="020B0609030804020204" pitchFamily="49" charset="0"/>
              </a:rPr>
              <a:t>cx</a:t>
            </a:r>
            <a:r>
              <a:rPr lang="en-US" sz="1400" b="1">
                <a:solidFill>
                  <a:srgbClr val="BBBEBF"/>
                </a:solidFill>
                <a:effectLst/>
                <a:latin typeface="Menlo" panose="020B0609030804020204" pitchFamily="49" charset="0"/>
              </a:rPr>
              <a:t>(</a:t>
            </a:r>
            <a:r>
              <a:rPr lang="en-US" sz="1400" b="1">
                <a:solidFill>
                  <a:srgbClr val="B5CEA8"/>
                </a:solidFill>
                <a:effectLst/>
                <a:latin typeface="Menlo" panose="020B0609030804020204" pitchFamily="49" charset="0"/>
              </a:rPr>
              <a:t>1</a:t>
            </a:r>
            <a:r>
              <a:rPr lang="en-US" sz="1400" b="1">
                <a:solidFill>
                  <a:srgbClr val="BBBEBF"/>
                </a:solidFill>
                <a:effectLst/>
                <a:latin typeface="Menlo" panose="020B0609030804020204" pitchFamily="49" charset="0"/>
              </a:rPr>
              <a:t>, </a:t>
            </a:r>
            <a:r>
              <a:rPr lang="en-US" sz="1400" b="1">
                <a:solidFill>
                  <a:srgbClr val="B5CEA8"/>
                </a:solidFill>
                <a:effectLst/>
                <a:latin typeface="Menlo" panose="020B0609030804020204" pitchFamily="49" charset="0"/>
              </a:rPr>
              <a:t>2</a:t>
            </a:r>
            <a:r>
              <a:rPr lang="en-US" sz="1400" b="1">
                <a:solidFill>
                  <a:srgbClr val="BBBEBF"/>
                </a:solidFill>
                <a:effectLst/>
                <a:latin typeface="Menlo" panose="020B0609030804020204" pitchFamily="49" charset="0"/>
              </a:rPr>
              <a:t>)</a:t>
            </a:r>
          </a:p>
        </p:txBody>
      </p:sp>
      <p:sp>
        <p:nvSpPr>
          <p:cNvPr id="34" name="TextBox 33">
            <a:extLst>
              <a:ext uri="{FF2B5EF4-FFF2-40B4-BE49-F238E27FC236}">
                <a16:creationId xmlns:a16="http://schemas.microsoft.com/office/drawing/2014/main" id="{6EBEA8DF-C78B-7BAF-438C-FC75C0821BB0}"/>
              </a:ext>
            </a:extLst>
          </p:cNvPr>
          <p:cNvSpPr txBox="1"/>
          <p:nvPr/>
        </p:nvSpPr>
        <p:spPr>
          <a:xfrm>
            <a:off x="1816721" y="3701163"/>
            <a:ext cx="3715438" cy="271869"/>
          </a:xfrm>
          <a:prstGeom prst="rect">
            <a:avLst/>
          </a:prstGeom>
          <a:noFill/>
        </p:spPr>
        <p:txBody>
          <a:bodyPr wrap="square">
            <a:spAutoFit/>
          </a:bodyPr>
          <a:lstStyle/>
          <a:p>
            <a:pPr>
              <a:lnSpc>
                <a:spcPts val="1350"/>
              </a:lnSpc>
              <a:buNone/>
            </a:pP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 </a:t>
            </a:r>
            <a:r>
              <a:rPr lang="en-US" sz="1400" b="0">
                <a:solidFill>
                  <a:srgbClr val="D4D4D4"/>
                </a:solidFill>
                <a:effectLst/>
                <a:latin typeface="Menlo" panose="020B0609030804020204" pitchFamily="49" charset="0"/>
              </a:rPr>
              <a:t>=</a:t>
            </a:r>
            <a:r>
              <a:rPr lang="en-US" sz="1400" b="0">
                <a:solidFill>
                  <a:srgbClr val="BBBEBF"/>
                </a:solidFill>
                <a:effectLst/>
                <a:latin typeface="Menlo" panose="020B0609030804020204" pitchFamily="49" charset="0"/>
              </a:rPr>
              <a:t> </a:t>
            </a:r>
            <a:r>
              <a:rPr lang="en-US" sz="1400" b="0">
                <a:solidFill>
                  <a:srgbClr val="4EC9B0"/>
                </a:solidFill>
                <a:effectLst/>
                <a:latin typeface="Menlo" panose="020B0609030804020204" pitchFamily="49" charset="0"/>
              </a:rPr>
              <a:t>QuantumCircuit</a:t>
            </a:r>
            <a:r>
              <a:rPr lang="en-US" sz="1400" b="0">
                <a:solidFill>
                  <a:srgbClr val="BBBEBF"/>
                </a:solidFill>
                <a:effectLst/>
                <a:latin typeface="Menlo" panose="020B0609030804020204" pitchFamily="49" charset="0"/>
              </a:rPr>
              <a:t>(</a:t>
            </a:r>
            <a:r>
              <a:rPr lang="en-US" sz="1400" b="0">
                <a:solidFill>
                  <a:srgbClr val="B5CEA8"/>
                </a:solidFill>
                <a:effectLst/>
                <a:latin typeface="Menlo" panose="020B0609030804020204" pitchFamily="49" charset="0"/>
              </a:rPr>
              <a:t>3</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3</a:t>
            </a:r>
            <a:r>
              <a:rPr lang="en-US" sz="1400" b="0">
                <a:solidFill>
                  <a:srgbClr val="BBBEBF"/>
                </a:solidFill>
                <a:effectLst/>
                <a:latin typeface="Menlo" panose="020B0609030804020204" pitchFamily="49" charset="0"/>
              </a:rPr>
              <a:t>)</a:t>
            </a:r>
          </a:p>
        </p:txBody>
      </p:sp>
      <p:cxnSp>
        <p:nvCxnSpPr>
          <p:cNvPr id="43" name="Straight Arrow Connector 42">
            <a:extLst>
              <a:ext uri="{FF2B5EF4-FFF2-40B4-BE49-F238E27FC236}">
                <a16:creationId xmlns:a16="http://schemas.microsoft.com/office/drawing/2014/main" id="{C299A64A-53A9-95B8-6988-25074330BE9E}"/>
              </a:ext>
            </a:extLst>
          </p:cNvPr>
          <p:cNvCxnSpPr/>
          <p:nvPr/>
        </p:nvCxnSpPr>
        <p:spPr>
          <a:xfrm flipV="1">
            <a:off x="2908453" y="3230635"/>
            <a:ext cx="947451" cy="3521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94ADDFA-83B6-F844-8F91-162FAE9F620B}"/>
              </a:ext>
            </a:extLst>
          </p:cNvPr>
          <p:cNvCxnSpPr>
            <a:cxnSpLocks/>
          </p:cNvCxnSpPr>
          <p:nvPr/>
        </p:nvCxnSpPr>
        <p:spPr>
          <a:xfrm>
            <a:off x="2896002" y="3993294"/>
            <a:ext cx="959902" cy="6149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82BA79C-C7DA-9404-3C99-011B7B7FA1B6}"/>
              </a:ext>
            </a:extLst>
          </p:cNvPr>
          <p:cNvSpPr txBox="1"/>
          <p:nvPr/>
        </p:nvSpPr>
        <p:spPr>
          <a:xfrm>
            <a:off x="6665793" y="4365682"/>
            <a:ext cx="3778197" cy="810478"/>
          </a:xfrm>
          <a:prstGeom prst="rect">
            <a:avLst/>
          </a:prstGeom>
          <a:noFill/>
          <a:ln>
            <a:solidFill>
              <a:srgbClr val="FF0000"/>
            </a:solidFill>
          </a:ln>
        </p:spPr>
        <p:txBody>
          <a:bodyPr wrap="square">
            <a:spAutoFit/>
          </a:bodyPr>
          <a:lstStyle/>
          <a:p>
            <a:pPr>
              <a:lnSpc>
                <a:spcPts val="1350"/>
              </a:lnSpc>
              <a:buNone/>
            </a:pPr>
            <a:r>
              <a:rPr lang="en-US" sz="1400" b="0">
                <a:solidFill>
                  <a:srgbClr val="C9D1D9"/>
                </a:solidFill>
                <a:effectLst/>
                <a:latin typeface="Menlo" panose="020B0609030804020204" pitchFamily="49" charset="0"/>
              </a:rPr>
              <a:t>simulator</a:t>
            </a:r>
            <a:r>
              <a:rPr lang="en-US" sz="1400" b="0">
                <a:solidFill>
                  <a:srgbClr val="BBBEBF"/>
                </a:solidFill>
                <a:effectLst/>
                <a:latin typeface="Menlo" panose="020B0609030804020204" pitchFamily="49" charset="0"/>
              </a:rPr>
              <a:t> </a:t>
            </a:r>
            <a:r>
              <a:rPr lang="en-US" sz="1400" b="0">
                <a:solidFill>
                  <a:srgbClr val="D4D4D4"/>
                </a:solidFill>
                <a:effectLst/>
                <a:latin typeface="Menlo" panose="020B0609030804020204" pitchFamily="49" charset="0"/>
              </a:rPr>
              <a:t>=</a:t>
            </a:r>
            <a:r>
              <a:rPr lang="en-US" sz="1400" b="0">
                <a:solidFill>
                  <a:srgbClr val="BBBEBF"/>
                </a:solidFill>
                <a:effectLst/>
                <a:latin typeface="Menlo" panose="020B0609030804020204" pitchFamily="49" charset="0"/>
              </a:rPr>
              <a:t> </a:t>
            </a:r>
            <a:r>
              <a:rPr lang="en-US" sz="1400" b="0">
                <a:solidFill>
                  <a:srgbClr val="4EC9B0"/>
                </a:solidFill>
                <a:effectLst/>
                <a:latin typeface="Menlo" panose="020B0609030804020204" pitchFamily="49" charset="0"/>
              </a:rPr>
              <a:t>AerSimulator</a:t>
            </a:r>
            <a:r>
              <a:rPr lang="en-US" sz="1400" b="0">
                <a:solidFill>
                  <a:srgbClr val="BBBEBF"/>
                </a:solidFill>
                <a:effectLst/>
                <a:latin typeface="Menlo" panose="020B0609030804020204" pitchFamily="49" charset="0"/>
              </a:rPr>
              <a:t>(</a:t>
            </a:r>
            <a:r>
              <a:rPr lang="en-US" sz="1400" b="0">
                <a:solidFill>
                  <a:srgbClr val="FFA657"/>
                </a:solidFill>
                <a:effectLst/>
                <a:latin typeface="Menlo" panose="020B0609030804020204" pitchFamily="49" charset="0"/>
              </a:rPr>
              <a:t>method</a:t>
            </a:r>
            <a:r>
              <a:rPr lang="en-US" sz="1400" b="0">
                <a:solidFill>
                  <a:srgbClr val="BBBEBF"/>
                </a:solidFill>
                <a:effectLst/>
                <a:latin typeface="Menlo" panose="020B0609030804020204" pitchFamily="49" charset="0"/>
              </a:rPr>
              <a:t> </a:t>
            </a:r>
            <a:r>
              <a:rPr lang="en-US" sz="1400" b="0">
                <a:solidFill>
                  <a:srgbClr val="D4D4D4"/>
                </a:solidFill>
                <a:effectLst/>
                <a:latin typeface="Menlo" panose="020B0609030804020204" pitchFamily="49" charset="0"/>
              </a:rPr>
              <a:t>=</a:t>
            </a:r>
            <a:r>
              <a:rPr lang="en-US" sz="1400" b="0">
                <a:solidFill>
                  <a:srgbClr val="BBBEBF"/>
                </a:solidFill>
                <a:effectLst/>
                <a:latin typeface="Menlo" panose="020B0609030804020204" pitchFamily="49" charset="0"/>
              </a:rPr>
              <a:t> </a:t>
            </a:r>
            <a:r>
              <a:rPr lang="en-US" sz="1400" b="0">
                <a:solidFill>
                  <a:srgbClr val="A5D6FF"/>
                </a:solidFill>
                <a:effectLst/>
                <a:latin typeface="Menlo" panose="020B0609030804020204" pitchFamily="49" charset="0"/>
              </a:rPr>
              <a:t>'statevector'</a:t>
            </a:r>
            <a:r>
              <a:rPr lang="en-US" sz="1400" b="0">
                <a:solidFill>
                  <a:srgbClr val="BBBEBF"/>
                </a:solidFill>
                <a:effectLst/>
                <a:latin typeface="Menlo" panose="020B0609030804020204" pitchFamily="49" charset="0"/>
              </a:rPr>
              <a:t>)</a:t>
            </a:r>
          </a:p>
          <a:p>
            <a:pPr>
              <a:lnSpc>
                <a:spcPts val="1350"/>
              </a:lnSpc>
              <a:buNone/>
            </a:pPr>
            <a:r>
              <a:rPr lang="en-US" sz="1400" b="0">
                <a:solidFill>
                  <a:srgbClr val="C9D1D9"/>
                </a:solidFill>
                <a:effectLst/>
                <a:latin typeface="Menlo" panose="020B0609030804020204" pitchFamily="49" charset="0"/>
              </a:rPr>
              <a:t>result</a:t>
            </a:r>
            <a:r>
              <a:rPr lang="en-US" sz="1400" b="0">
                <a:solidFill>
                  <a:srgbClr val="BBBEBF"/>
                </a:solidFill>
                <a:effectLst/>
                <a:latin typeface="Menlo" panose="020B0609030804020204" pitchFamily="49" charset="0"/>
              </a:rPr>
              <a:t> </a:t>
            </a:r>
            <a:r>
              <a:rPr lang="en-US" sz="1400" b="0">
                <a:solidFill>
                  <a:srgbClr val="D4D4D4"/>
                </a:solidFill>
                <a:effectLst/>
                <a:latin typeface="Menlo" panose="020B0609030804020204" pitchFamily="49" charset="0"/>
              </a:rPr>
              <a:t>=</a:t>
            </a:r>
            <a:r>
              <a:rPr lang="en-US" sz="1400" b="0">
                <a:solidFill>
                  <a:srgbClr val="BBBEBF"/>
                </a:solidFill>
                <a:effectLst/>
                <a:latin typeface="Menlo" panose="020B0609030804020204" pitchFamily="49" charset="0"/>
              </a:rPr>
              <a:t> </a:t>
            </a:r>
            <a:r>
              <a:rPr lang="en-US" sz="1400" b="0">
                <a:solidFill>
                  <a:srgbClr val="C9D1D9"/>
                </a:solidFill>
                <a:effectLst/>
                <a:latin typeface="Menlo" panose="020B0609030804020204" pitchFamily="49" charset="0"/>
              </a:rPr>
              <a:t>simulator</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run</a:t>
            </a:r>
            <a:r>
              <a:rPr lang="en-US" sz="1400" b="0">
                <a:solidFill>
                  <a:srgbClr val="BBBEBF"/>
                </a:solidFill>
                <a:effectLst/>
                <a:latin typeface="Menlo" panose="020B0609030804020204" pitchFamily="49" charset="0"/>
              </a:rPr>
              <a:t>(</a:t>
            </a: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 </a:t>
            </a:r>
            <a:r>
              <a:rPr lang="en-US" sz="1400" b="0">
                <a:solidFill>
                  <a:srgbClr val="FFA657"/>
                </a:solidFill>
                <a:effectLst/>
                <a:latin typeface="Menlo" panose="020B0609030804020204" pitchFamily="49" charset="0"/>
              </a:rPr>
              <a:t>shots</a:t>
            </a:r>
            <a:r>
              <a:rPr lang="en-US" sz="1400" b="0">
                <a:solidFill>
                  <a:srgbClr val="D4D4D4"/>
                </a:solidFill>
                <a:effectLst/>
                <a:latin typeface="Menlo" panose="020B0609030804020204" pitchFamily="49" charset="0"/>
              </a:rPr>
              <a:t>=</a:t>
            </a:r>
            <a:r>
              <a:rPr lang="en-US" sz="1400" b="0">
                <a:solidFill>
                  <a:srgbClr val="B5CEA8"/>
                </a:solidFill>
                <a:effectLst/>
                <a:latin typeface="Menlo" panose="020B0609030804020204" pitchFamily="49" charset="0"/>
              </a:rPr>
              <a:t>1000</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result</a:t>
            </a:r>
            <a:r>
              <a:rPr lang="en-US" sz="1400" b="0">
                <a:solidFill>
                  <a:srgbClr val="BBBEBF"/>
                </a:solidFill>
                <a:effectLst/>
                <a:latin typeface="Menlo" panose="020B0609030804020204" pitchFamily="49" charset="0"/>
              </a:rPr>
              <a:t>().get_counts()</a:t>
            </a:r>
          </a:p>
        </p:txBody>
      </p:sp>
      <p:sp>
        <p:nvSpPr>
          <p:cNvPr id="50" name="TextBox 49">
            <a:extLst>
              <a:ext uri="{FF2B5EF4-FFF2-40B4-BE49-F238E27FC236}">
                <a16:creationId xmlns:a16="http://schemas.microsoft.com/office/drawing/2014/main" id="{30143FCA-D9B1-AA93-810C-2BCEBEDF0726}"/>
              </a:ext>
            </a:extLst>
          </p:cNvPr>
          <p:cNvSpPr txBox="1"/>
          <p:nvPr/>
        </p:nvSpPr>
        <p:spPr>
          <a:xfrm>
            <a:off x="6665793" y="3070084"/>
            <a:ext cx="3778197" cy="271869"/>
          </a:xfrm>
          <a:prstGeom prst="rect">
            <a:avLst/>
          </a:prstGeom>
          <a:noFill/>
          <a:ln>
            <a:solidFill>
              <a:srgbClr val="FF0000"/>
            </a:solidFill>
          </a:ln>
        </p:spPr>
        <p:txBody>
          <a:bodyPr wrap="square">
            <a:spAutoFit/>
          </a:bodyPr>
          <a:lstStyle/>
          <a:p>
            <a:pPr>
              <a:lnSpc>
                <a:spcPts val="1350"/>
              </a:lnSpc>
              <a:buNone/>
            </a:pP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measure</a:t>
            </a:r>
            <a:r>
              <a:rPr lang="en-US" sz="1400" b="0">
                <a:solidFill>
                  <a:srgbClr val="BBBEBF"/>
                </a:solidFill>
                <a:effectLst/>
                <a:latin typeface="Menlo" panose="020B0609030804020204" pitchFamily="49" charset="0"/>
              </a:rPr>
              <a:t>([</a:t>
            </a:r>
            <a:r>
              <a:rPr lang="en-US" sz="1400" b="0">
                <a:solidFill>
                  <a:srgbClr val="B5CEA8"/>
                </a:solidFill>
                <a:effectLst/>
                <a:latin typeface="Menlo" panose="020B0609030804020204" pitchFamily="49" charset="0"/>
              </a:rPr>
              <a:t>0</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1</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2</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0</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1</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2</a:t>
            </a:r>
            <a:r>
              <a:rPr lang="en-US" sz="1400" b="0">
                <a:solidFill>
                  <a:srgbClr val="BBBEBF"/>
                </a:solidFill>
                <a:effectLst/>
                <a:latin typeface="Menlo" panose="020B0609030804020204" pitchFamily="49" charset="0"/>
              </a:rPr>
              <a:t>])</a:t>
            </a:r>
          </a:p>
        </p:txBody>
      </p:sp>
    </p:spTree>
    <p:extLst>
      <p:ext uri="{BB962C8B-B14F-4D97-AF65-F5344CB8AC3E}">
        <p14:creationId xmlns:p14="http://schemas.microsoft.com/office/powerpoint/2010/main" val="9098083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318F65-320F-D9B9-6E86-64FA738DC114}"/>
              </a:ext>
            </a:extLst>
          </p:cNvPr>
          <p:cNvSpPr>
            <a:spLocks noGrp="1"/>
          </p:cNvSpPr>
          <p:nvPr>
            <p:ph type="sldNum" sz="quarter" idx="12"/>
          </p:nvPr>
        </p:nvSpPr>
        <p:spPr/>
        <p:txBody>
          <a:bodyPr/>
          <a:lstStyle/>
          <a:p>
            <a:fld id="{71331178-9F85-4EDF-BDD3-1E7064DA4C59}" type="slidenum">
              <a:rPr lang="vi-VN" smtClean="0"/>
              <a:t>38</a:t>
            </a:fld>
            <a:endParaRPr lang="vi-VN"/>
          </a:p>
        </p:txBody>
      </p:sp>
      <p:cxnSp>
        <p:nvCxnSpPr>
          <p:cNvPr id="5" name="Straight Connector 4">
            <a:extLst>
              <a:ext uri="{FF2B5EF4-FFF2-40B4-BE49-F238E27FC236}">
                <a16:creationId xmlns:a16="http://schemas.microsoft.com/office/drawing/2014/main" id="{1B1CB552-E1C3-8993-A70E-B06AF9D70814}"/>
              </a:ext>
            </a:extLst>
          </p:cNvPr>
          <p:cNvCxnSpPr>
            <a:cxnSpLocks/>
            <a:endCxn id="10" idx="1"/>
          </p:cNvCxnSpPr>
          <p:nvPr/>
        </p:nvCxnSpPr>
        <p:spPr>
          <a:xfrm flipV="1">
            <a:off x="3991755" y="3230636"/>
            <a:ext cx="2287592" cy="5654"/>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98B3C66-2B86-FD97-1848-D92FE6D3BD63}"/>
                  </a:ext>
                </a:extLst>
              </p:cNvPr>
              <p:cNvSpPr/>
              <p:nvPr/>
            </p:nvSpPr>
            <p:spPr>
              <a:xfrm>
                <a:off x="4818006" y="2964141"/>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a:solidFill>
                      <a:schemeClr val="tx1"/>
                    </a:solidFill>
                  </a:rPr>
                  <a:t> </a:t>
                </a:r>
                <a14:m>
                  <m:oMath xmlns:m="http://schemas.openxmlformats.org/officeDocument/2006/math">
                    <m:r>
                      <a:rPr lang="en-US" sz="2400" b="0" i="1" smtClean="0">
                        <a:solidFill>
                          <a:schemeClr val="tx1"/>
                        </a:solidFill>
                        <a:latin typeface="Cambria Math" panose="02040503050406030204" pitchFamily="18" charset="0"/>
                      </a:rPr>
                      <m:t>𝑈</m:t>
                    </m:r>
                    <m:d>
                      <m:dPr>
                        <m:ctrlPr>
                          <a:rPr lang="vi-VN" sz="2400" b="0" i="1" smtClean="0">
                            <a:solidFill>
                              <a:schemeClr val="tx1"/>
                            </a:solidFill>
                            <a:latin typeface="Cambria Math" panose="02040503050406030204" pitchFamily="18" charset="0"/>
                          </a:rPr>
                        </m:ctrlPr>
                      </m:dPr>
                      <m:e>
                        <m:r>
                          <a:rPr lang="vi-VN" sz="2400" b="1" i="1" smtClean="0">
                            <a:solidFill>
                              <a:schemeClr val="tx1"/>
                            </a:solidFill>
                            <a:latin typeface="Cambria Math" panose="02040503050406030204" pitchFamily="18" charset="0"/>
                          </a:rPr>
                          <m:t>𝜽</m:t>
                        </m:r>
                      </m:e>
                    </m:d>
                  </m:oMath>
                </a14:m>
                <a:endParaRPr lang="vi-VN" sz="2400">
                  <a:solidFill>
                    <a:schemeClr val="tx1"/>
                  </a:solidFill>
                </a:endParaRPr>
              </a:p>
            </p:txBody>
          </p:sp>
        </mc:Choice>
        <mc:Fallback xmlns="">
          <p:sp>
            <p:nvSpPr>
              <p:cNvPr id="6" name="Rectangle 5">
                <a:extLst>
                  <a:ext uri="{FF2B5EF4-FFF2-40B4-BE49-F238E27FC236}">
                    <a16:creationId xmlns:a16="http://schemas.microsoft.com/office/drawing/2014/main" id="{898B3C66-2B86-FD97-1848-D92FE6D3BD63}"/>
                  </a:ext>
                </a:extLst>
              </p:cNvPr>
              <p:cNvSpPr>
                <a:spLocks noRot="1" noChangeAspect="1" noMove="1" noResize="1" noEditPoints="1" noAdjustHandles="1" noChangeArrowheads="1" noChangeShapeType="1" noTextEdit="1"/>
              </p:cNvSpPr>
              <p:nvPr/>
            </p:nvSpPr>
            <p:spPr>
              <a:xfrm>
                <a:off x="4818006" y="2964141"/>
                <a:ext cx="1152626" cy="544297"/>
              </a:xfrm>
              <a:prstGeom prst="rect">
                <a:avLst/>
              </a:prstGeom>
              <a:blipFill>
                <a:blip r:embed="rId2"/>
                <a:stretch>
                  <a:fillRect/>
                </a:stretch>
              </a:blipFill>
              <a:ln>
                <a:solidFill>
                  <a:schemeClr val="tx1"/>
                </a:solidFill>
              </a:ln>
            </p:spPr>
            <p:txBody>
              <a:bodyPr/>
              <a:lstStyle/>
              <a:p>
                <a:r>
                  <a:rPr lang="en-VN">
                    <a:noFill/>
                  </a:rPr>
                  <a:t> </a:t>
                </a:r>
              </a:p>
            </p:txBody>
          </p:sp>
        </mc:Fallback>
      </mc:AlternateContent>
      <p:cxnSp>
        <p:nvCxnSpPr>
          <p:cNvPr id="7" name="Straight Connector 6">
            <a:extLst>
              <a:ext uri="{FF2B5EF4-FFF2-40B4-BE49-F238E27FC236}">
                <a16:creationId xmlns:a16="http://schemas.microsoft.com/office/drawing/2014/main" id="{CCB288CD-C915-9D40-1512-B47C2109182C}"/>
              </a:ext>
            </a:extLst>
          </p:cNvPr>
          <p:cNvCxnSpPr>
            <a:cxnSpLocks/>
          </p:cNvCxnSpPr>
          <p:nvPr/>
        </p:nvCxnSpPr>
        <p:spPr>
          <a:xfrm flipV="1">
            <a:off x="4378664" y="3062488"/>
            <a:ext cx="290162" cy="347602"/>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C8B1722-FEE6-4DE4-3BF5-E611AE93E338}"/>
                  </a:ext>
                </a:extLst>
              </p:cNvPr>
              <p:cNvSpPr txBox="1"/>
              <p:nvPr/>
            </p:nvSpPr>
            <p:spPr>
              <a:xfrm>
                <a:off x="4286554" y="2608419"/>
                <a:ext cx="6651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𝑛</m:t>
                      </m:r>
                    </m:oMath>
                  </m:oMathPara>
                </a14:m>
                <a:endParaRPr lang="vi-VN" sz="2400"/>
              </a:p>
            </p:txBody>
          </p:sp>
        </mc:Choice>
        <mc:Fallback xmlns="">
          <p:sp>
            <p:nvSpPr>
              <p:cNvPr id="8" name="TextBox 7">
                <a:extLst>
                  <a:ext uri="{FF2B5EF4-FFF2-40B4-BE49-F238E27FC236}">
                    <a16:creationId xmlns:a16="http://schemas.microsoft.com/office/drawing/2014/main" id="{6C8B1722-FEE6-4DE4-3BF5-E611AE93E338}"/>
                  </a:ext>
                </a:extLst>
              </p:cNvPr>
              <p:cNvSpPr txBox="1">
                <a:spLocks noRot="1" noChangeAspect="1" noMove="1" noResize="1" noEditPoints="1" noAdjustHandles="1" noChangeArrowheads="1" noChangeShapeType="1" noTextEdit="1"/>
              </p:cNvSpPr>
              <p:nvPr/>
            </p:nvSpPr>
            <p:spPr>
              <a:xfrm>
                <a:off x="4286554" y="2608419"/>
                <a:ext cx="665170" cy="461665"/>
              </a:xfrm>
              <a:prstGeom prst="rect">
                <a:avLst/>
              </a:prstGeom>
              <a:blipFill>
                <a:blip r:embed="rId3"/>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C18E56A-FFC6-4A34-A45D-2BB1C027D77D}"/>
                  </a:ext>
                </a:extLst>
              </p:cNvPr>
              <p:cNvSpPr txBox="1"/>
              <p:nvPr/>
            </p:nvSpPr>
            <p:spPr>
              <a:xfrm>
                <a:off x="3962392" y="2855020"/>
                <a:ext cx="1961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vi-VN"/>
              </a:p>
            </p:txBody>
          </p:sp>
        </mc:Choice>
        <mc:Fallback xmlns="">
          <p:sp>
            <p:nvSpPr>
              <p:cNvPr id="9" name="TextBox 8">
                <a:extLst>
                  <a:ext uri="{FF2B5EF4-FFF2-40B4-BE49-F238E27FC236}">
                    <a16:creationId xmlns:a16="http://schemas.microsoft.com/office/drawing/2014/main" id="{1C18E56A-FFC6-4A34-A45D-2BB1C027D77D}"/>
                  </a:ext>
                </a:extLst>
              </p:cNvPr>
              <p:cNvSpPr txBox="1">
                <a:spLocks noRot="1" noChangeAspect="1" noMove="1" noResize="1" noEditPoints="1" noAdjustHandles="1" noChangeArrowheads="1" noChangeShapeType="1" noTextEdit="1"/>
              </p:cNvSpPr>
              <p:nvPr/>
            </p:nvSpPr>
            <p:spPr>
              <a:xfrm>
                <a:off x="3962392" y="2855020"/>
                <a:ext cx="196144" cy="276999"/>
              </a:xfrm>
              <a:prstGeom prst="rect">
                <a:avLst/>
              </a:prstGeom>
              <a:blipFill>
                <a:blip r:embed="rId4"/>
                <a:stretch>
                  <a:fillRect l="-31250" r="-25000" b="-30435"/>
                </a:stretch>
              </a:blipFill>
            </p:spPr>
            <p:txBody>
              <a:bodyPr/>
              <a:lstStyle/>
              <a:p>
                <a:r>
                  <a:rPr lang="en-VN">
                    <a:noFill/>
                  </a:rPr>
                  <a:t> </a:t>
                </a:r>
              </a:p>
            </p:txBody>
          </p:sp>
        </mc:Fallback>
      </mc:AlternateContent>
      <p:sp>
        <p:nvSpPr>
          <p:cNvPr id="10" name="Hình chữ nhật 93">
            <a:extLst>
              <a:ext uri="{FF2B5EF4-FFF2-40B4-BE49-F238E27FC236}">
                <a16:creationId xmlns:a16="http://schemas.microsoft.com/office/drawing/2014/main" id="{2CFB9CF8-198F-750E-AF9B-1279C0974AD3}"/>
              </a:ext>
            </a:extLst>
          </p:cNvPr>
          <p:cNvSpPr/>
          <p:nvPr/>
        </p:nvSpPr>
        <p:spPr>
          <a:xfrm>
            <a:off x="6279347" y="3077169"/>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1" name="Arc 10">
            <a:extLst>
              <a:ext uri="{FF2B5EF4-FFF2-40B4-BE49-F238E27FC236}">
                <a16:creationId xmlns:a16="http://schemas.microsoft.com/office/drawing/2014/main" id="{A49D3694-B6EF-62FC-1C77-00DBE2D90CEE}"/>
              </a:ext>
            </a:extLst>
          </p:cNvPr>
          <p:cNvSpPr/>
          <p:nvPr/>
        </p:nvSpPr>
        <p:spPr>
          <a:xfrm>
            <a:off x="6335044" y="3221769"/>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2" name="Straight Arrow Connector 11">
            <a:extLst>
              <a:ext uri="{FF2B5EF4-FFF2-40B4-BE49-F238E27FC236}">
                <a16:creationId xmlns:a16="http://schemas.microsoft.com/office/drawing/2014/main" id="{637C4521-91B1-BB8D-1B67-8DD4A23AD2A2}"/>
              </a:ext>
            </a:extLst>
          </p:cNvPr>
          <p:cNvCxnSpPr>
            <a:cxnSpLocks/>
          </p:cNvCxnSpPr>
          <p:nvPr/>
        </p:nvCxnSpPr>
        <p:spPr>
          <a:xfrm flipV="1">
            <a:off x="6389260" y="3144140"/>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90AEB751-E635-4007-AC34-24862C95B881}"/>
              </a:ext>
            </a:extLst>
          </p:cNvPr>
          <p:cNvCxnSpPr>
            <a:cxnSpLocks/>
          </p:cNvCxnSpPr>
          <p:nvPr/>
        </p:nvCxnSpPr>
        <p:spPr>
          <a:xfrm>
            <a:off x="3993666" y="3870014"/>
            <a:ext cx="25920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C3442A2-6875-611A-3194-E7A433839816}"/>
              </a:ext>
            </a:extLst>
          </p:cNvPr>
          <p:cNvCxnSpPr>
            <a:cxnSpLocks/>
          </p:cNvCxnSpPr>
          <p:nvPr/>
        </p:nvCxnSpPr>
        <p:spPr>
          <a:xfrm>
            <a:off x="3993666" y="3814977"/>
            <a:ext cx="25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5" name="Arrow: Down 25">
            <a:extLst>
              <a:ext uri="{FF2B5EF4-FFF2-40B4-BE49-F238E27FC236}">
                <a16:creationId xmlns:a16="http://schemas.microsoft.com/office/drawing/2014/main" id="{58E547D7-467E-BFA8-7AAA-43BB0BEB1418}"/>
              </a:ext>
            </a:extLst>
          </p:cNvPr>
          <p:cNvSpPr/>
          <p:nvPr/>
        </p:nvSpPr>
        <p:spPr>
          <a:xfrm>
            <a:off x="6384054" y="3385581"/>
            <a:ext cx="118030" cy="408800"/>
          </a:xfrm>
          <a:prstGeom prst="downArrow">
            <a:avLst>
              <a:gd name="adj1" fmla="val 50000"/>
              <a:gd name="adj2" fmla="val 5272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E71AB36-345D-5CA1-B334-FDF3C21ED063}"/>
                  </a:ext>
                </a:extLst>
              </p:cNvPr>
              <p:cNvSpPr txBox="1"/>
              <p:nvPr/>
            </p:nvSpPr>
            <p:spPr>
              <a:xfrm>
                <a:off x="3960415" y="3517382"/>
                <a:ext cx="1772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xmlns="">
          <p:sp>
            <p:nvSpPr>
              <p:cNvPr id="16" name="TextBox 15">
                <a:extLst>
                  <a:ext uri="{FF2B5EF4-FFF2-40B4-BE49-F238E27FC236}">
                    <a16:creationId xmlns:a16="http://schemas.microsoft.com/office/drawing/2014/main" id="{5E71AB36-345D-5CA1-B334-FDF3C21ED063}"/>
                  </a:ext>
                </a:extLst>
              </p:cNvPr>
              <p:cNvSpPr txBox="1">
                <a:spLocks noRot="1" noChangeAspect="1" noMove="1" noResize="1" noEditPoints="1" noAdjustHandles="1" noChangeArrowheads="1" noChangeShapeType="1" noTextEdit="1"/>
              </p:cNvSpPr>
              <p:nvPr/>
            </p:nvSpPr>
            <p:spPr>
              <a:xfrm>
                <a:off x="3960415" y="3517382"/>
                <a:ext cx="177228" cy="276999"/>
              </a:xfrm>
              <a:prstGeom prst="rect">
                <a:avLst/>
              </a:prstGeom>
              <a:blipFill>
                <a:blip r:embed="rId5"/>
                <a:stretch>
                  <a:fillRect l="-21429" r="-14286" b="-4348"/>
                </a:stretch>
              </a:blipFill>
            </p:spPr>
            <p:txBody>
              <a:bodyPr/>
              <a:lstStyle/>
              <a:p>
                <a:r>
                  <a:rPr lang="en-VN">
                    <a:noFill/>
                  </a:rPr>
                  <a:t> </a:t>
                </a:r>
              </a:p>
            </p:txBody>
          </p:sp>
        </mc:Fallback>
      </mc:AlternateContent>
      <p:sp>
        <p:nvSpPr>
          <p:cNvPr id="19" name="TextBox 18">
            <a:extLst>
              <a:ext uri="{FF2B5EF4-FFF2-40B4-BE49-F238E27FC236}">
                <a16:creationId xmlns:a16="http://schemas.microsoft.com/office/drawing/2014/main" id="{BAC125A4-E755-975F-0E48-31A48AA72EB7}"/>
              </a:ext>
            </a:extLst>
          </p:cNvPr>
          <p:cNvSpPr txBox="1"/>
          <p:nvPr/>
        </p:nvSpPr>
        <p:spPr>
          <a:xfrm>
            <a:off x="5579686" y="1628928"/>
            <a:ext cx="4699052" cy="1169551"/>
          </a:xfrm>
          <a:prstGeom prst="rect">
            <a:avLst/>
          </a:prstGeom>
          <a:noFill/>
          <a:ln>
            <a:solidFill>
              <a:srgbClr val="FF0000"/>
            </a:solidFill>
          </a:ln>
        </p:spPr>
        <p:txBody>
          <a:bodyPr wrap="square">
            <a:spAutoFit/>
          </a:bodyPr>
          <a:lstStyle/>
          <a:p>
            <a:pPr>
              <a:buNone/>
            </a:pPr>
            <a:r>
              <a:rPr lang="en-US" sz="1400" b="0">
                <a:solidFill>
                  <a:srgbClr val="C586C0"/>
                </a:solidFill>
                <a:effectLst/>
                <a:latin typeface="Menlo" panose="020B0609030804020204" pitchFamily="49" charset="0"/>
              </a:rPr>
              <a:t>from</a:t>
            </a:r>
            <a:r>
              <a:rPr lang="en-US" sz="1400" b="0">
                <a:solidFill>
                  <a:srgbClr val="BBBEBF"/>
                </a:solidFill>
                <a:effectLst/>
                <a:latin typeface="Menlo" panose="020B0609030804020204" pitchFamily="49" charset="0"/>
              </a:rPr>
              <a:t> </a:t>
            </a:r>
            <a:r>
              <a:rPr lang="en-US" sz="1400" b="0">
                <a:solidFill>
                  <a:srgbClr val="4EC9B0"/>
                </a:solidFill>
                <a:effectLst/>
                <a:latin typeface="Menlo" panose="020B0609030804020204" pitchFamily="49" charset="0"/>
              </a:rPr>
              <a:t>qiskit</a:t>
            </a:r>
            <a:r>
              <a:rPr lang="en-US" sz="1400" b="0">
                <a:solidFill>
                  <a:srgbClr val="BBBEBF"/>
                </a:solidFill>
                <a:effectLst/>
                <a:latin typeface="Menlo" panose="020B0609030804020204" pitchFamily="49" charset="0"/>
              </a:rPr>
              <a:t>.</a:t>
            </a:r>
            <a:r>
              <a:rPr lang="en-US" sz="1400" b="0">
                <a:solidFill>
                  <a:srgbClr val="4EC9B0"/>
                </a:solidFill>
                <a:effectLst/>
                <a:latin typeface="Menlo" panose="020B0609030804020204" pitchFamily="49" charset="0"/>
              </a:rPr>
              <a:t>circuit</a:t>
            </a:r>
            <a:r>
              <a:rPr lang="en-US" sz="1400" b="0">
                <a:solidFill>
                  <a:srgbClr val="BBBEBF"/>
                </a:solidFill>
                <a:effectLst/>
                <a:latin typeface="Menlo" panose="020B0609030804020204" pitchFamily="49" charset="0"/>
              </a:rPr>
              <a:t> </a:t>
            </a:r>
            <a:r>
              <a:rPr lang="en-US" sz="1400" b="0">
                <a:solidFill>
                  <a:srgbClr val="C586C0"/>
                </a:solidFill>
                <a:effectLst/>
                <a:latin typeface="Menlo" panose="020B0609030804020204" pitchFamily="49" charset="0"/>
              </a:rPr>
              <a:t>import</a:t>
            </a:r>
            <a:r>
              <a:rPr lang="en-US" sz="1400" b="0">
                <a:solidFill>
                  <a:srgbClr val="BBBEBF"/>
                </a:solidFill>
                <a:effectLst/>
                <a:latin typeface="Menlo" panose="020B0609030804020204" pitchFamily="49" charset="0"/>
              </a:rPr>
              <a:t> </a:t>
            </a:r>
            <a:r>
              <a:rPr lang="en-US" sz="1400" b="0">
                <a:solidFill>
                  <a:srgbClr val="4EC9B0"/>
                </a:solidFill>
                <a:effectLst/>
                <a:latin typeface="Menlo" panose="020B0609030804020204" pitchFamily="49" charset="0"/>
              </a:rPr>
              <a:t>ParameterVector</a:t>
            </a:r>
            <a:endParaRPr lang="en-US" sz="1400" b="0">
              <a:solidFill>
                <a:srgbClr val="BBBEBF"/>
              </a:solidFill>
              <a:effectLst/>
              <a:latin typeface="Menlo" panose="020B0609030804020204" pitchFamily="49" charset="0"/>
            </a:endParaRPr>
          </a:p>
          <a:p>
            <a:pPr>
              <a:buNone/>
            </a:pPr>
            <a:r>
              <a:rPr lang="en-US" sz="1400" b="0">
                <a:solidFill>
                  <a:srgbClr val="C9D1D9"/>
                </a:solidFill>
                <a:effectLst/>
                <a:latin typeface="Menlo" panose="020B0609030804020204" pitchFamily="49" charset="0"/>
              </a:rPr>
              <a:t>thetas</a:t>
            </a:r>
            <a:r>
              <a:rPr lang="en-US" sz="1400" b="0">
                <a:solidFill>
                  <a:srgbClr val="BBBEBF"/>
                </a:solidFill>
                <a:effectLst/>
                <a:latin typeface="Menlo" panose="020B0609030804020204" pitchFamily="49" charset="0"/>
              </a:rPr>
              <a:t> </a:t>
            </a:r>
            <a:r>
              <a:rPr lang="en-US" sz="1400" b="0">
                <a:solidFill>
                  <a:srgbClr val="D4D4D4"/>
                </a:solidFill>
                <a:effectLst/>
                <a:latin typeface="Menlo" panose="020B0609030804020204" pitchFamily="49" charset="0"/>
              </a:rPr>
              <a:t>=</a:t>
            </a:r>
            <a:r>
              <a:rPr lang="en-US" sz="1400" b="0">
                <a:solidFill>
                  <a:srgbClr val="BBBEBF"/>
                </a:solidFill>
                <a:effectLst/>
                <a:latin typeface="Menlo" panose="020B0609030804020204" pitchFamily="49" charset="0"/>
              </a:rPr>
              <a:t> </a:t>
            </a:r>
            <a:r>
              <a:rPr lang="en-US" sz="1400" b="0">
                <a:solidFill>
                  <a:srgbClr val="4EC9B0"/>
                </a:solidFill>
                <a:effectLst/>
                <a:latin typeface="Menlo" panose="020B0609030804020204" pitchFamily="49" charset="0"/>
              </a:rPr>
              <a:t>ParameterVector</a:t>
            </a:r>
            <a:r>
              <a:rPr lang="en-US" sz="1400" b="0">
                <a:solidFill>
                  <a:srgbClr val="BBBEBF"/>
                </a:solidFill>
                <a:effectLst/>
                <a:latin typeface="Menlo" panose="020B0609030804020204" pitchFamily="49" charset="0"/>
              </a:rPr>
              <a:t>(</a:t>
            </a:r>
            <a:r>
              <a:rPr lang="en-US" sz="1400" b="0">
                <a:solidFill>
                  <a:srgbClr val="A5D6FF"/>
                </a:solidFill>
                <a:effectLst/>
                <a:latin typeface="Menlo" panose="020B0609030804020204" pitchFamily="49" charset="0"/>
              </a:rPr>
              <a:t>'theta'</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3</a:t>
            </a:r>
            <a:r>
              <a:rPr lang="en-US" sz="1400" b="0">
                <a:solidFill>
                  <a:srgbClr val="BBBEBF"/>
                </a:solidFill>
                <a:effectLst/>
                <a:latin typeface="Menlo" panose="020B0609030804020204" pitchFamily="49" charset="0"/>
              </a:rPr>
              <a:t>)</a:t>
            </a:r>
            <a:endParaRPr lang="en-US" sz="1400" b="0">
              <a:solidFill>
                <a:srgbClr val="C9D1D9"/>
              </a:solidFill>
              <a:effectLst/>
              <a:latin typeface="Menlo" panose="020B0609030804020204" pitchFamily="49" charset="0"/>
            </a:endParaRPr>
          </a:p>
          <a:p>
            <a:pPr>
              <a:buNone/>
            </a:pP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rx</a:t>
            </a:r>
            <a:r>
              <a:rPr lang="en-US" sz="1400" b="0">
                <a:solidFill>
                  <a:srgbClr val="BBBEBF"/>
                </a:solidFill>
                <a:effectLst/>
                <a:latin typeface="Menlo" panose="020B0609030804020204" pitchFamily="49" charset="0"/>
              </a:rPr>
              <a:t>(</a:t>
            </a:r>
            <a:r>
              <a:rPr lang="en-US" sz="1400" b="0">
                <a:solidFill>
                  <a:srgbClr val="C9D1D9"/>
                </a:solidFill>
                <a:effectLst/>
                <a:latin typeface="Menlo" panose="020B0609030804020204" pitchFamily="49" charset="0"/>
              </a:rPr>
              <a:t>thetas</a:t>
            </a:r>
            <a:r>
              <a:rPr lang="en-US" sz="1400" b="0">
                <a:solidFill>
                  <a:srgbClr val="BBBEBF"/>
                </a:solidFill>
                <a:effectLst/>
                <a:latin typeface="Menlo" panose="020B0609030804020204" pitchFamily="49" charset="0"/>
              </a:rPr>
              <a:t>[</a:t>
            </a:r>
            <a:r>
              <a:rPr lang="en-US" sz="1400" b="0">
                <a:solidFill>
                  <a:srgbClr val="B5CEA8"/>
                </a:solidFill>
                <a:effectLst/>
                <a:latin typeface="Menlo" panose="020B0609030804020204" pitchFamily="49" charset="0"/>
              </a:rPr>
              <a:t>0</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0</a:t>
            </a:r>
            <a:r>
              <a:rPr lang="en-US" sz="1400" b="0">
                <a:solidFill>
                  <a:srgbClr val="BBBEBF"/>
                </a:solidFill>
                <a:effectLst/>
                <a:latin typeface="Menlo" panose="020B0609030804020204" pitchFamily="49" charset="0"/>
              </a:rPr>
              <a:t>)</a:t>
            </a:r>
          </a:p>
          <a:p>
            <a:pPr>
              <a:buNone/>
            </a:pP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ry</a:t>
            </a:r>
            <a:r>
              <a:rPr lang="en-US" sz="1400" b="0">
                <a:solidFill>
                  <a:srgbClr val="BBBEBF"/>
                </a:solidFill>
                <a:effectLst/>
                <a:latin typeface="Menlo" panose="020B0609030804020204" pitchFamily="49" charset="0"/>
              </a:rPr>
              <a:t>(</a:t>
            </a:r>
            <a:r>
              <a:rPr lang="en-US" sz="1400" b="0">
                <a:solidFill>
                  <a:srgbClr val="C9D1D9"/>
                </a:solidFill>
                <a:effectLst/>
                <a:latin typeface="Menlo" panose="020B0609030804020204" pitchFamily="49" charset="0"/>
              </a:rPr>
              <a:t>thetas</a:t>
            </a:r>
            <a:r>
              <a:rPr lang="en-US" sz="1400" b="0">
                <a:solidFill>
                  <a:srgbClr val="BBBEBF"/>
                </a:solidFill>
                <a:effectLst/>
                <a:latin typeface="Menlo" panose="020B0609030804020204" pitchFamily="49" charset="0"/>
              </a:rPr>
              <a:t>[</a:t>
            </a:r>
            <a:r>
              <a:rPr lang="en-US" sz="1400" b="0">
                <a:solidFill>
                  <a:srgbClr val="B5CEA8"/>
                </a:solidFill>
                <a:effectLst/>
                <a:latin typeface="Menlo" panose="020B0609030804020204" pitchFamily="49" charset="0"/>
              </a:rPr>
              <a:t>1</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1</a:t>
            </a:r>
            <a:r>
              <a:rPr lang="en-US" sz="1400" b="0">
                <a:solidFill>
                  <a:srgbClr val="BBBEBF"/>
                </a:solidFill>
                <a:effectLst/>
                <a:latin typeface="Menlo" panose="020B0609030804020204" pitchFamily="49" charset="0"/>
              </a:rPr>
              <a:t>)</a:t>
            </a:r>
          </a:p>
          <a:p>
            <a:pPr>
              <a:buNone/>
            </a:pPr>
            <a:r>
              <a:rPr lang="en-US" sz="1400" b="0">
                <a:solidFill>
                  <a:srgbClr val="C9D1D9"/>
                </a:solidFill>
                <a:effectLst/>
                <a:latin typeface="Menlo" panose="020B0609030804020204" pitchFamily="49" charset="0"/>
              </a:rPr>
              <a:t>qc</a:t>
            </a:r>
            <a:r>
              <a:rPr lang="en-US" sz="1400" b="0">
                <a:solidFill>
                  <a:srgbClr val="BBBEBF"/>
                </a:solidFill>
                <a:effectLst/>
                <a:latin typeface="Menlo" panose="020B0609030804020204" pitchFamily="49" charset="0"/>
              </a:rPr>
              <a:t>.</a:t>
            </a:r>
            <a:r>
              <a:rPr lang="en-US" sz="1400" b="0">
                <a:solidFill>
                  <a:srgbClr val="D2A8FF"/>
                </a:solidFill>
                <a:effectLst/>
                <a:latin typeface="Menlo" panose="020B0609030804020204" pitchFamily="49" charset="0"/>
              </a:rPr>
              <a:t>crz</a:t>
            </a:r>
            <a:r>
              <a:rPr lang="en-US" sz="1400" b="0">
                <a:solidFill>
                  <a:srgbClr val="BBBEBF"/>
                </a:solidFill>
                <a:effectLst/>
                <a:latin typeface="Menlo" panose="020B0609030804020204" pitchFamily="49" charset="0"/>
              </a:rPr>
              <a:t>(</a:t>
            </a:r>
            <a:r>
              <a:rPr lang="en-US" sz="1400" b="0">
                <a:solidFill>
                  <a:srgbClr val="C9D1D9"/>
                </a:solidFill>
                <a:effectLst/>
                <a:latin typeface="Menlo" panose="020B0609030804020204" pitchFamily="49" charset="0"/>
              </a:rPr>
              <a:t>thetas</a:t>
            </a:r>
            <a:r>
              <a:rPr lang="en-US" sz="1400" b="0">
                <a:solidFill>
                  <a:srgbClr val="BBBEBF"/>
                </a:solidFill>
                <a:effectLst/>
                <a:latin typeface="Menlo" panose="020B0609030804020204" pitchFamily="49" charset="0"/>
              </a:rPr>
              <a:t>[</a:t>
            </a:r>
            <a:r>
              <a:rPr lang="en-US" sz="1400" b="0">
                <a:solidFill>
                  <a:srgbClr val="B5CEA8"/>
                </a:solidFill>
                <a:effectLst/>
                <a:latin typeface="Menlo" panose="020B0609030804020204" pitchFamily="49" charset="0"/>
              </a:rPr>
              <a:t>2</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2</a:t>
            </a:r>
            <a:r>
              <a:rPr lang="en-US" sz="1400" b="0">
                <a:solidFill>
                  <a:srgbClr val="BBBEBF"/>
                </a:solidFill>
                <a:effectLst/>
                <a:latin typeface="Menlo" panose="020B0609030804020204" pitchFamily="49" charset="0"/>
              </a:rPr>
              <a:t>, </a:t>
            </a:r>
            <a:r>
              <a:rPr lang="en-US" sz="1400" b="0">
                <a:solidFill>
                  <a:srgbClr val="B5CEA8"/>
                </a:solidFill>
                <a:effectLst/>
                <a:latin typeface="Menlo" panose="020B0609030804020204" pitchFamily="49" charset="0"/>
              </a:rPr>
              <a:t>0</a:t>
            </a:r>
            <a:r>
              <a:rPr lang="en-US" sz="1400" b="0">
                <a:solidFill>
                  <a:srgbClr val="BBBEBF"/>
                </a:solidFill>
                <a:effectLst/>
                <a:latin typeface="Menlo" panose="020B0609030804020204" pitchFamily="49" charset="0"/>
              </a:rPr>
              <a:t>)</a:t>
            </a:r>
          </a:p>
        </p:txBody>
      </p:sp>
      <p:cxnSp>
        <p:nvCxnSpPr>
          <p:cNvPr id="22" name="Curved Connector 21">
            <a:extLst>
              <a:ext uri="{FF2B5EF4-FFF2-40B4-BE49-F238E27FC236}">
                <a16:creationId xmlns:a16="http://schemas.microsoft.com/office/drawing/2014/main" id="{A78F2573-B8A8-4A5F-9148-C1484439F061}"/>
              </a:ext>
            </a:extLst>
          </p:cNvPr>
          <p:cNvCxnSpPr>
            <a:cxnSpLocks/>
            <a:stCxn id="23" idx="1"/>
          </p:cNvCxnSpPr>
          <p:nvPr/>
        </p:nvCxnSpPr>
        <p:spPr>
          <a:xfrm rot="10800000" flipV="1">
            <a:off x="5475388" y="2021595"/>
            <a:ext cx="104299" cy="1055574"/>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3310F88D-6E96-54BE-77FD-242976E16A54}"/>
              </a:ext>
            </a:extLst>
          </p:cNvPr>
          <p:cNvSpPr/>
          <p:nvPr/>
        </p:nvSpPr>
        <p:spPr>
          <a:xfrm>
            <a:off x="5579686" y="1916935"/>
            <a:ext cx="105018" cy="209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536023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5A4FCA9-55A3-F37F-5260-6F2D9A619159}"/>
              </a:ext>
            </a:extLst>
          </p:cNvPr>
          <p:cNvCxnSpPr>
            <a:cxnSpLocks/>
          </p:cNvCxnSpPr>
          <p:nvPr/>
        </p:nvCxnSpPr>
        <p:spPr>
          <a:xfrm flipV="1">
            <a:off x="2183298" y="887014"/>
            <a:ext cx="2287592" cy="5654"/>
          </a:xfrm>
          <a:prstGeom prst="line">
            <a:avLst/>
          </a:prstGeom>
          <a:ln w="38100"/>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0415B483-D735-B614-D161-08FBD60684D5}"/>
              </a:ext>
            </a:extLst>
          </p:cNvPr>
          <p:cNvSpPr>
            <a:spLocks noGrp="1"/>
          </p:cNvSpPr>
          <p:nvPr>
            <p:ph type="sldNum" sz="quarter" idx="12"/>
          </p:nvPr>
        </p:nvSpPr>
        <p:spPr/>
        <p:txBody>
          <a:bodyPr/>
          <a:lstStyle/>
          <a:p>
            <a:fld id="{71331178-9F85-4EDF-BDD3-1E7064DA4C59}" type="slidenum">
              <a:rPr lang="vi-VN" smtClean="0"/>
              <a:t>39</a:t>
            </a:fld>
            <a:endParaRPr lang="vi-VN"/>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62FCD0BD-F3F9-9FE5-CF5C-4B4F3041EE81}"/>
                  </a:ext>
                </a:extLst>
              </p:cNvPr>
              <p:cNvSpPr/>
              <p:nvPr/>
            </p:nvSpPr>
            <p:spPr>
              <a:xfrm>
                <a:off x="264859" y="1073125"/>
                <a:ext cx="1152626" cy="5442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a:solidFill>
                      <a:schemeClr val="tx1"/>
                    </a:solidFill>
                  </a:rPr>
                  <a:t> </a:t>
                </a:r>
                <a14:m>
                  <m:oMath xmlns:m="http://schemas.openxmlformats.org/officeDocument/2006/math">
                    <m:r>
                      <a:rPr lang="en-US" sz="2400" b="0" i="1" smtClean="0">
                        <a:solidFill>
                          <a:schemeClr val="tx1"/>
                        </a:solidFill>
                        <a:latin typeface="Cambria Math" panose="02040503050406030204" pitchFamily="18" charset="0"/>
                      </a:rPr>
                      <m:t>𝑈</m:t>
                    </m:r>
                  </m:oMath>
                </a14:m>
                <a:endParaRPr lang="vi-VN" sz="2400">
                  <a:solidFill>
                    <a:schemeClr val="tx1"/>
                  </a:solidFill>
                </a:endParaRPr>
              </a:p>
            </p:txBody>
          </p:sp>
        </mc:Choice>
        <mc:Fallback xmlns="">
          <p:sp>
            <p:nvSpPr>
              <p:cNvPr id="5" name="Rectangle 4">
                <a:extLst>
                  <a:ext uri="{FF2B5EF4-FFF2-40B4-BE49-F238E27FC236}">
                    <a16:creationId xmlns:a16="http://schemas.microsoft.com/office/drawing/2014/main" id="{62FCD0BD-F3F9-9FE5-CF5C-4B4F3041EE81}"/>
                  </a:ext>
                </a:extLst>
              </p:cNvPr>
              <p:cNvSpPr>
                <a:spLocks noRot="1" noChangeAspect="1" noMove="1" noResize="1" noEditPoints="1" noAdjustHandles="1" noChangeArrowheads="1" noChangeShapeType="1" noTextEdit="1"/>
              </p:cNvSpPr>
              <p:nvPr/>
            </p:nvSpPr>
            <p:spPr>
              <a:xfrm>
                <a:off x="264859" y="1073125"/>
                <a:ext cx="1152626" cy="544297"/>
              </a:xfrm>
              <a:prstGeom prst="rect">
                <a:avLst/>
              </a:prstGeom>
              <a:blipFill>
                <a:blip r:embed="rId2"/>
                <a:stretch>
                  <a:fillRect/>
                </a:stretch>
              </a:blipFill>
              <a:ln>
                <a:solidFill>
                  <a:schemeClr val="tx1"/>
                </a:solidFill>
              </a:ln>
            </p:spPr>
            <p:txBody>
              <a:bodyPr/>
              <a:lstStyle/>
              <a:p>
                <a:r>
                  <a:rPr lang="en-VN">
                    <a:noFill/>
                  </a:rPr>
                  <a:t> </a:t>
                </a:r>
              </a:p>
            </p:txBody>
          </p:sp>
        </mc:Fallback>
      </mc:AlternateContent>
      <p:sp>
        <p:nvSpPr>
          <p:cNvPr id="6" name="Rectangle 5">
            <a:extLst>
              <a:ext uri="{FF2B5EF4-FFF2-40B4-BE49-F238E27FC236}">
                <a16:creationId xmlns:a16="http://schemas.microsoft.com/office/drawing/2014/main" id="{32F63A20-C19B-880A-0067-1D25BF5CC1C9}"/>
              </a:ext>
            </a:extLst>
          </p:cNvPr>
          <p:cNvSpPr/>
          <p:nvPr/>
        </p:nvSpPr>
        <p:spPr>
          <a:xfrm>
            <a:off x="2533880" y="694063"/>
            <a:ext cx="484742" cy="397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8" name="Straight Connector 7">
            <a:extLst>
              <a:ext uri="{FF2B5EF4-FFF2-40B4-BE49-F238E27FC236}">
                <a16:creationId xmlns:a16="http://schemas.microsoft.com/office/drawing/2014/main" id="{47641F57-CFBC-D99F-FEB4-CE948F1C0357}"/>
              </a:ext>
            </a:extLst>
          </p:cNvPr>
          <p:cNvCxnSpPr>
            <a:cxnSpLocks/>
          </p:cNvCxnSpPr>
          <p:nvPr/>
        </p:nvCxnSpPr>
        <p:spPr>
          <a:xfrm flipV="1">
            <a:off x="2183298" y="1345274"/>
            <a:ext cx="2287592" cy="5654"/>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9373DC21-768B-9C37-610B-214F35953D72}"/>
              </a:ext>
            </a:extLst>
          </p:cNvPr>
          <p:cNvCxnSpPr>
            <a:cxnSpLocks/>
          </p:cNvCxnSpPr>
          <p:nvPr/>
        </p:nvCxnSpPr>
        <p:spPr>
          <a:xfrm flipV="1">
            <a:off x="2183298" y="1803534"/>
            <a:ext cx="2287592" cy="5654"/>
          </a:xfrm>
          <a:prstGeom prst="line">
            <a:avLst/>
          </a:prstGeom>
          <a:ln w="38100"/>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286924BA-B69F-5E16-A03D-DF75C5ADFF70}"/>
              </a:ext>
            </a:extLst>
          </p:cNvPr>
          <p:cNvSpPr/>
          <p:nvPr/>
        </p:nvSpPr>
        <p:spPr>
          <a:xfrm>
            <a:off x="2533880" y="1658207"/>
            <a:ext cx="484742" cy="397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ectangle 10">
            <a:extLst>
              <a:ext uri="{FF2B5EF4-FFF2-40B4-BE49-F238E27FC236}">
                <a16:creationId xmlns:a16="http://schemas.microsoft.com/office/drawing/2014/main" id="{8122FD03-C0EA-087B-DF53-31751815DCC6}"/>
              </a:ext>
            </a:extLst>
          </p:cNvPr>
          <p:cNvSpPr/>
          <p:nvPr/>
        </p:nvSpPr>
        <p:spPr>
          <a:xfrm>
            <a:off x="3126833" y="1085619"/>
            <a:ext cx="484742" cy="96979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ectangle 11">
            <a:extLst>
              <a:ext uri="{FF2B5EF4-FFF2-40B4-BE49-F238E27FC236}">
                <a16:creationId xmlns:a16="http://schemas.microsoft.com/office/drawing/2014/main" id="{C68EBD84-9953-8BF6-2EF2-2395D2056AAB}"/>
              </a:ext>
            </a:extLst>
          </p:cNvPr>
          <p:cNvSpPr/>
          <p:nvPr/>
        </p:nvSpPr>
        <p:spPr>
          <a:xfrm>
            <a:off x="3748204" y="607433"/>
            <a:ext cx="484742" cy="96979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6D666A6-7A68-6671-1352-C7BBBAE66B4F}"/>
                  </a:ext>
                </a:extLst>
              </p:cNvPr>
              <p:cNvSpPr txBox="1"/>
              <p:nvPr/>
            </p:nvSpPr>
            <p:spPr>
              <a:xfrm>
                <a:off x="1453716" y="1115566"/>
                <a:ext cx="59295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400" b="0" i="1">
                          <a:latin typeface="Cambria Math" panose="02040503050406030204" pitchFamily="18" charset="0"/>
                        </a:rPr>
                        <m:t>=</m:t>
                      </m:r>
                    </m:oMath>
                  </m:oMathPara>
                </a14:m>
                <a:endParaRPr lang="en-VN" sz="2400"/>
              </a:p>
            </p:txBody>
          </p:sp>
        </mc:Choice>
        <mc:Fallback xmlns="">
          <p:sp>
            <p:nvSpPr>
              <p:cNvPr id="13" name="TextBox 12">
                <a:extLst>
                  <a:ext uri="{FF2B5EF4-FFF2-40B4-BE49-F238E27FC236}">
                    <a16:creationId xmlns:a16="http://schemas.microsoft.com/office/drawing/2014/main" id="{D6D666A6-7A68-6671-1352-C7BBBAE66B4F}"/>
                  </a:ext>
                </a:extLst>
              </p:cNvPr>
              <p:cNvSpPr txBox="1">
                <a:spLocks noRot="1" noChangeAspect="1" noMove="1" noResize="1" noEditPoints="1" noAdjustHandles="1" noChangeArrowheads="1" noChangeShapeType="1" noTextEdit="1"/>
              </p:cNvSpPr>
              <p:nvPr/>
            </p:nvSpPr>
            <p:spPr>
              <a:xfrm>
                <a:off x="1453716" y="1115566"/>
                <a:ext cx="592953" cy="461665"/>
              </a:xfrm>
              <a:prstGeom prst="rect">
                <a:avLst/>
              </a:prstGeom>
              <a:blipFill>
                <a:blip r:embed="rId3"/>
                <a:stretch>
                  <a:fillRect/>
                </a:stretch>
              </a:blipFill>
            </p:spPr>
            <p:txBody>
              <a:bodyPr/>
              <a:lstStyle/>
              <a:p>
                <a:r>
                  <a:rPr lang="en-VN">
                    <a:noFill/>
                  </a:rPr>
                  <a:t> </a:t>
                </a:r>
              </a:p>
            </p:txBody>
          </p:sp>
        </mc:Fallback>
      </mc:AlternateContent>
      <p:sp>
        <p:nvSpPr>
          <p:cNvPr id="14" name="Rectangle 13">
            <a:extLst>
              <a:ext uri="{FF2B5EF4-FFF2-40B4-BE49-F238E27FC236}">
                <a16:creationId xmlns:a16="http://schemas.microsoft.com/office/drawing/2014/main" id="{8356E564-A3A1-8E6F-67B0-14BE58F5513F}"/>
              </a:ext>
            </a:extLst>
          </p:cNvPr>
          <p:cNvSpPr/>
          <p:nvPr/>
        </p:nvSpPr>
        <p:spPr>
          <a:xfrm>
            <a:off x="356430" y="2441693"/>
            <a:ext cx="484742" cy="397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5" name="Rectangle 14">
            <a:extLst>
              <a:ext uri="{FF2B5EF4-FFF2-40B4-BE49-F238E27FC236}">
                <a16:creationId xmlns:a16="http://schemas.microsoft.com/office/drawing/2014/main" id="{32B79683-48E0-AF47-BF29-20C0F7FFE5F7}"/>
              </a:ext>
            </a:extLst>
          </p:cNvPr>
          <p:cNvSpPr/>
          <p:nvPr/>
        </p:nvSpPr>
        <p:spPr>
          <a:xfrm>
            <a:off x="968974" y="2195111"/>
            <a:ext cx="484742" cy="96979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B0AAD4B-2198-5386-968D-F82DDFF763EA}"/>
                  </a:ext>
                </a:extLst>
              </p:cNvPr>
              <p:cNvSpPr txBox="1"/>
              <p:nvPr/>
            </p:nvSpPr>
            <p:spPr>
              <a:xfrm>
                <a:off x="109435" y="2346460"/>
                <a:ext cx="1667123"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3200" b="0" i="1">
                          <a:latin typeface="Cambria Math" panose="02040503050406030204" pitchFamily="18" charset="0"/>
                        </a:rPr>
                        <m:t>{              }</m:t>
                      </m:r>
                    </m:oMath>
                  </m:oMathPara>
                </a14:m>
                <a:endParaRPr lang="en-VN" sz="3200"/>
              </a:p>
            </p:txBody>
          </p:sp>
        </mc:Choice>
        <mc:Fallback xmlns="">
          <p:sp>
            <p:nvSpPr>
              <p:cNvPr id="16" name="TextBox 15">
                <a:extLst>
                  <a:ext uri="{FF2B5EF4-FFF2-40B4-BE49-F238E27FC236}">
                    <a16:creationId xmlns:a16="http://schemas.microsoft.com/office/drawing/2014/main" id="{CB0AAD4B-2198-5386-968D-F82DDFF763EA}"/>
                  </a:ext>
                </a:extLst>
              </p:cNvPr>
              <p:cNvSpPr txBox="1">
                <a:spLocks noRot="1" noChangeAspect="1" noMove="1" noResize="1" noEditPoints="1" noAdjustHandles="1" noChangeArrowheads="1" noChangeShapeType="1" noTextEdit="1"/>
              </p:cNvSpPr>
              <p:nvPr/>
            </p:nvSpPr>
            <p:spPr>
              <a:xfrm>
                <a:off x="109435" y="2346460"/>
                <a:ext cx="1667123" cy="492443"/>
              </a:xfrm>
              <a:prstGeom prst="rect">
                <a:avLst/>
              </a:prstGeom>
              <a:blipFill>
                <a:blip r:embed="rId4"/>
                <a:stretch>
                  <a:fillRect l="-8333" t="-7500" r="-8333" b="-37500"/>
                </a:stretch>
              </a:blipFill>
            </p:spPr>
            <p:txBody>
              <a:bodyPr/>
              <a:lstStyle/>
              <a:p>
                <a:r>
                  <a:rPr lang="en-VN">
                    <a:noFill/>
                  </a:rPr>
                  <a:t> </a:t>
                </a:r>
              </a:p>
            </p:txBody>
          </p:sp>
        </mc:Fallback>
      </mc:AlternateContent>
      <p:sp>
        <p:nvSpPr>
          <p:cNvPr id="17" name="TextBox 16">
            <a:extLst>
              <a:ext uri="{FF2B5EF4-FFF2-40B4-BE49-F238E27FC236}">
                <a16:creationId xmlns:a16="http://schemas.microsoft.com/office/drawing/2014/main" id="{A23D6F6C-080E-DCBC-3CAA-59B2F1DE358E}"/>
              </a:ext>
            </a:extLst>
          </p:cNvPr>
          <p:cNvSpPr txBox="1"/>
          <p:nvPr/>
        </p:nvSpPr>
        <p:spPr>
          <a:xfrm>
            <a:off x="1639045" y="2430676"/>
            <a:ext cx="1699066" cy="369332"/>
          </a:xfrm>
          <a:prstGeom prst="rect">
            <a:avLst/>
          </a:prstGeom>
          <a:noFill/>
        </p:spPr>
        <p:txBody>
          <a:bodyPr wrap="square" rtlCol="0">
            <a:spAutoFit/>
          </a:bodyPr>
          <a:lstStyle/>
          <a:p>
            <a:r>
              <a:rPr lang="en-VN"/>
              <a:t>: basis gates</a:t>
            </a:r>
          </a:p>
        </p:txBody>
      </p:sp>
      <p:sp>
        <p:nvSpPr>
          <p:cNvPr id="18" name="TextBox 17">
            <a:extLst>
              <a:ext uri="{FF2B5EF4-FFF2-40B4-BE49-F238E27FC236}">
                <a16:creationId xmlns:a16="http://schemas.microsoft.com/office/drawing/2014/main" id="{3E29AD09-6622-20ED-EFA0-7ECC113B9627}"/>
              </a:ext>
            </a:extLst>
          </p:cNvPr>
          <p:cNvSpPr txBox="1"/>
          <p:nvPr/>
        </p:nvSpPr>
        <p:spPr>
          <a:xfrm>
            <a:off x="329003" y="85913"/>
            <a:ext cx="3492857" cy="369332"/>
          </a:xfrm>
          <a:prstGeom prst="rect">
            <a:avLst/>
          </a:prstGeom>
          <a:noFill/>
          <a:ln>
            <a:solidFill>
              <a:srgbClr val="FF0000"/>
            </a:solidFill>
          </a:ln>
        </p:spPr>
        <p:txBody>
          <a:bodyPr wrap="square" rtlCol="0">
            <a:spAutoFit/>
          </a:bodyPr>
          <a:lstStyle/>
          <a:p>
            <a:r>
              <a:rPr lang="en-VN"/>
              <a:t>transpile(qc, backend, basis_gates)</a:t>
            </a:r>
          </a:p>
        </p:txBody>
      </p:sp>
      <p:cxnSp>
        <p:nvCxnSpPr>
          <p:cNvPr id="20" name="Straight Arrow Connector 19">
            <a:extLst>
              <a:ext uri="{FF2B5EF4-FFF2-40B4-BE49-F238E27FC236}">
                <a16:creationId xmlns:a16="http://schemas.microsoft.com/office/drawing/2014/main" id="{4441601E-50D5-F44C-9F20-B2484FCFC81D}"/>
              </a:ext>
            </a:extLst>
          </p:cNvPr>
          <p:cNvCxnSpPr>
            <a:stCxn id="18" idx="2"/>
            <a:endCxn id="13" idx="0"/>
          </p:cNvCxnSpPr>
          <p:nvPr/>
        </p:nvCxnSpPr>
        <p:spPr>
          <a:xfrm flipH="1">
            <a:off x="1750193" y="455245"/>
            <a:ext cx="325239" cy="6603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55078DE-3BC3-A50E-61CD-E2A5FDF2B528}"/>
              </a:ext>
            </a:extLst>
          </p:cNvPr>
          <p:cNvCxnSpPr>
            <a:cxnSpLocks/>
          </p:cNvCxnSpPr>
          <p:nvPr/>
        </p:nvCxnSpPr>
        <p:spPr>
          <a:xfrm flipV="1">
            <a:off x="4232946" y="4802583"/>
            <a:ext cx="2287592" cy="5654"/>
          </a:xfrm>
          <a:prstGeom prst="line">
            <a:avLst/>
          </a:prstGeom>
          <a:ln w="3810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53EA2F85-52EC-3DB0-FE9C-249AD0370B5B}"/>
              </a:ext>
            </a:extLst>
          </p:cNvPr>
          <p:cNvCxnSpPr>
            <a:cxnSpLocks/>
          </p:cNvCxnSpPr>
          <p:nvPr/>
        </p:nvCxnSpPr>
        <p:spPr>
          <a:xfrm flipV="1">
            <a:off x="4232946" y="5260843"/>
            <a:ext cx="2287592" cy="5654"/>
          </a:xfrm>
          <a:prstGeom prst="line">
            <a:avLst/>
          </a:prstGeom>
          <a:ln w="3810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D7296B4F-9B59-DDED-7ABE-EA703C5D28E1}"/>
              </a:ext>
            </a:extLst>
          </p:cNvPr>
          <p:cNvCxnSpPr>
            <a:cxnSpLocks/>
          </p:cNvCxnSpPr>
          <p:nvPr/>
        </p:nvCxnSpPr>
        <p:spPr>
          <a:xfrm flipV="1">
            <a:off x="4232946" y="5719103"/>
            <a:ext cx="2287592" cy="5654"/>
          </a:xfrm>
          <a:prstGeom prst="line">
            <a:avLst/>
          </a:prstGeom>
          <a:ln w="38100"/>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EAF2A627-552B-33C2-6B1D-BB51D67A48E6}"/>
              </a:ext>
            </a:extLst>
          </p:cNvPr>
          <p:cNvSpPr/>
          <p:nvPr/>
        </p:nvSpPr>
        <p:spPr>
          <a:xfrm>
            <a:off x="4470890" y="4523002"/>
            <a:ext cx="1089018" cy="9697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8" name="TextBox 27">
            <a:extLst>
              <a:ext uri="{FF2B5EF4-FFF2-40B4-BE49-F238E27FC236}">
                <a16:creationId xmlns:a16="http://schemas.microsoft.com/office/drawing/2014/main" id="{746BA085-48F2-3C41-529B-7656EA2B6BD5}"/>
              </a:ext>
            </a:extLst>
          </p:cNvPr>
          <p:cNvSpPr txBox="1"/>
          <p:nvPr/>
        </p:nvSpPr>
        <p:spPr>
          <a:xfrm>
            <a:off x="4514958" y="4838970"/>
            <a:ext cx="1089018" cy="369332"/>
          </a:xfrm>
          <a:prstGeom prst="rect">
            <a:avLst/>
          </a:prstGeom>
          <a:noFill/>
        </p:spPr>
        <p:txBody>
          <a:bodyPr wrap="square" rtlCol="0">
            <a:spAutoFit/>
          </a:bodyPr>
          <a:lstStyle/>
          <a:p>
            <a:r>
              <a:rPr lang="en-VN"/>
              <a:t>MyGate1</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3D40F4E-3AEC-5B63-98D8-F99246085575}"/>
                  </a:ext>
                </a:extLst>
              </p:cNvPr>
              <p:cNvSpPr txBox="1"/>
              <p:nvPr/>
            </p:nvSpPr>
            <p:spPr>
              <a:xfrm>
                <a:off x="3748204" y="4593694"/>
                <a:ext cx="5410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𝑞</m:t>
                          </m:r>
                        </m:e>
                        <m:sub>
                          <m:r>
                            <a:rPr lang="en-VN" i="1">
                              <a:latin typeface="Cambria Math" panose="02040503050406030204" pitchFamily="18" charset="0"/>
                            </a:rPr>
                            <m:t>0</m:t>
                          </m:r>
                        </m:sub>
                      </m:sSub>
                    </m:oMath>
                  </m:oMathPara>
                </a14:m>
                <a:endParaRPr/>
              </a:p>
            </p:txBody>
          </p:sp>
        </mc:Choice>
        <mc:Fallback xmlns="">
          <p:sp>
            <p:nvSpPr>
              <p:cNvPr id="30" name="TextBox 29">
                <a:extLst>
                  <a:ext uri="{FF2B5EF4-FFF2-40B4-BE49-F238E27FC236}">
                    <a16:creationId xmlns:a16="http://schemas.microsoft.com/office/drawing/2014/main" id="{C3D40F4E-3AEC-5B63-98D8-F99246085575}"/>
                  </a:ext>
                </a:extLst>
              </p:cNvPr>
              <p:cNvSpPr txBox="1">
                <a:spLocks noRot="1" noChangeAspect="1" noMove="1" noResize="1" noEditPoints="1" noAdjustHandles="1" noChangeArrowheads="1" noChangeShapeType="1" noTextEdit="1"/>
              </p:cNvSpPr>
              <p:nvPr/>
            </p:nvSpPr>
            <p:spPr>
              <a:xfrm>
                <a:off x="3748204" y="4593694"/>
                <a:ext cx="541060" cy="369332"/>
              </a:xfrm>
              <a:prstGeom prst="rect">
                <a:avLst/>
              </a:prstGeom>
              <a:blipFill>
                <a:blip r:embed="rId5"/>
                <a:stretch>
                  <a:fillRect t="-6667" r="-6977" b="-2666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DCBC18C-5A11-9528-9530-9D9B01894C1F}"/>
                  </a:ext>
                </a:extLst>
              </p:cNvPr>
              <p:cNvSpPr txBox="1"/>
              <p:nvPr/>
            </p:nvSpPr>
            <p:spPr>
              <a:xfrm>
                <a:off x="3748204" y="5004663"/>
                <a:ext cx="5410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𝑞</m:t>
                          </m:r>
                        </m:e>
                        <m:sub>
                          <m:r>
                            <a:rPr lang="vi-VN" b="0" i="1">
                              <a:latin typeface="Cambria Math" panose="02040503050406030204" pitchFamily="18" charset="0"/>
                            </a:rPr>
                            <m:t>1</m:t>
                          </m:r>
                        </m:sub>
                      </m:sSub>
                    </m:oMath>
                  </m:oMathPara>
                </a14:m>
                <a:endParaRPr/>
              </a:p>
            </p:txBody>
          </p:sp>
        </mc:Choice>
        <mc:Fallback xmlns="">
          <p:sp>
            <p:nvSpPr>
              <p:cNvPr id="31" name="TextBox 30">
                <a:extLst>
                  <a:ext uri="{FF2B5EF4-FFF2-40B4-BE49-F238E27FC236}">
                    <a16:creationId xmlns:a16="http://schemas.microsoft.com/office/drawing/2014/main" id="{0DCBC18C-5A11-9528-9530-9D9B01894C1F}"/>
                  </a:ext>
                </a:extLst>
              </p:cNvPr>
              <p:cNvSpPr txBox="1">
                <a:spLocks noRot="1" noChangeAspect="1" noMove="1" noResize="1" noEditPoints="1" noAdjustHandles="1" noChangeArrowheads="1" noChangeShapeType="1" noTextEdit="1"/>
              </p:cNvSpPr>
              <p:nvPr/>
            </p:nvSpPr>
            <p:spPr>
              <a:xfrm>
                <a:off x="3748204" y="5004663"/>
                <a:ext cx="541060" cy="369332"/>
              </a:xfrm>
              <a:prstGeom prst="rect">
                <a:avLst/>
              </a:prstGeom>
              <a:blipFill>
                <a:blip r:embed="rId6"/>
                <a:stretch>
                  <a:fillRect t="-6667" r="-6977" b="-2666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B5DA3F6-05E3-1C55-2D91-F9111C10BE5C}"/>
                  </a:ext>
                </a:extLst>
              </p:cNvPr>
              <p:cNvSpPr txBox="1"/>
              <p:nvPr/>
            </p:nvSpPr>
            <p:spPr>
              <a:xfrm>
                <a:off x="3748204" y="5492800"/>
                <a:ext cx="5410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𝑞</m:t>
                          </m:r>
                        </m:e>
                        <m:sub>
                          <m:r>
                            <a:rPr lang="vi-VN" b="0" i="1">
                              <a:latin typeface="Cambria Math" panose="02040503050406030204" pitchFamily="18" charset="0"/>
                            </a:rPr>
                            <m:t>2</m:t>
                          </m:r>
                        </m:sub>
                      </m:sSub>
                    </m:oMath>
                  </m:oMathPara>
                </a14:m>
                <a:endParaRPr/>
              </a:p>
            </p:txBody>
          </p:sp>
        </mc:Choice>
        <mc:Fallback xmlns="">
          <p:sp>
            <p:nvSpPr>
              <p:cNvPr id="32" name="TextBox 31">
                <a:extLst>
                  <a:ext uri="{FF2B5EF4-FFF2-40B4-BE49-F238E27FC236}">
                    <a16:creationId xmlns:a16="http://schemas.microsoft.com/office/drawing/2014/main" id="{4B5DA3F6-05E3-1C55-2D91-F9111C10BE5C}"/>
                  </a:ext>
                </a:extLst>
              </p:cNvPr>
              <p:cNvSpPr txBox="1">
                <a:spLocks noRot="1" noChangeAspect="1" noMove="1" noResize="1" noEditPoints="1" noAdjustHandles="1" noChangeArrowheads="1" noChangeShapeType="1" noTextEdit="1"/>
              </p:cNvSpPr>
              <p:nvPr/>
            </p:nvSpPr>
            <p:spPr>
              <a:xfrm>
                <a:off x="3748204" y="5492800"/>
                <a:ext cx="541060" cy="369332"/>
              </a:xfrm>
              <a:prstGeom prst="rect">
                <a:avLst/>
              </a:prstGeom>
              <a:blipFill>
                <a:blip r:embed="rId7"/>
                <a:stretch>
                  <a:fillRect t="-6667" r="-6977" b="-26667"/>
                </a:stretch>
              </a:blipFill>
            </p:spPr>
            <p:txBody>
              <a:bodyPr/>
              <a:lstStyle/>
              <a:p>
                <a:r>
                  <a:rPr lang="en-VN">
                    <a:noFill/>
                  </a:rPr>
                  <a:t> </a:t>
                </a:r>
              </a:p>
            </p:txBody>
          </p:sp>
        </mc:Fallback>
      </mc:AlternateContent>
      <p:sp>
        <p:nvSpPr>
          <p:cNvPr id="34" name="TextBox 33">
            <a:extLst>
              <a:ext uri="{FF2B5EF4-FFF2-40B4-BE49-F238E27FC236}">
                <a16:creationId xmlns:a16="http://schemas.microsoft.com/office/drawing/2014/main" id="{F85EE848-0694-2B64-B363-7B6B6B141279}"/>
              </a:ext>
            </a:extLst>
          </p:cNvPr>
          <p:cNvSpPr txBox="1"/>
          <p:nvPr/>
        </p:nvSpPr>
        <p:spPr>
          <a:xfrm>
            <a:off x="3990575" y="3886063"/>
            <a:ext cx="3662190" cy="283091"/>
          </a:xfrm>
          <a:prstGeom prst="rect">
            <a:avLst/>
          </a:prstGeom>
          <a:noFill/>
        </p:spPr>
        <p:txBody>
          <a:bodyPr wrap="square">
            <a:spAutoFit/>
          </a:bodyPr>
          <a:lstStyle/>
          <a:p>
            <a:pPr>
              <a:lnSpc>
                <a:spcPts val="1350"/>
              </a:lnSpc>
              <a:buNone/>
            </a:pPr>
            <a:r>
              <a:rPr lang="en-US" sz="1600" b="1">
                <a:solidFill>
                  <a:srgbClr val="C9D1D9"/>
                </a:solidFill>
                <a:effectLst/>
                <a:latin typeface="Menlo" panose="020B0609030804020204" pitchFamily="49" charset="0"/>
              </a:rPr>
              <a:t>qc</a:t>
            </a:r>
            <a:r>
              <a:rPr lang="en-US" sz="1600" b="1">
                <a:solidFill>
                  <a:srgbClr val="BBBEBF"/>
                </a:solidFill>
                <a:effectLst/>
                <a:latin typeface="Menlo" panose="020B0609030804020204" pitchFamily="49" charset="0"/>
              </a:rPr>
              <a:t>.</a:t>
            </a:r>
            <a:r>
              <a:rPr lang="en-US" sz="1600" b="1">
                <a:solidFill>
                  <a:srgbClr val="D2A8FF"/>
                </a:solidFill>
                <a:effectLst/>
                <a:latin typeface="Menlo" panose="020B0609030804020204" pitchFamily="49" charset="0"/>
              </a:rPr>
              <a:t>append</a:t>
            </a:r>
            <a:r>
              <a:rPr lang="en-US" sz="1600" b="1">
                <a:solidFill>
                  <a:srgbClr val="BBBEBF"/>
                </a:solidFill>
                <a:effectLst/>
                <a:latin typeface="Menlo" panose="020B0609030804020204" pitchFamily="49" charset="0"/>
              </a:rPr>
              <a:t>(</a:t>
            </a:r>
            <a:r>
              <a:rPr lang="en-US" sz="1600" b="1">
                <a:solidFill>
                  <a:srgbClr val="C9D1D9"/>
                </a:solidFill>
                <a:effectLst/>
                <a:latin typeface="Menlo" panose="020B0609030804020204" pitchFamily="49" charset="0"/>
              </a:rPr>
              <a:t>my_gate_1</a:t>
            </a:r>
            <a:r>
              <a:rPr lang="en-US" sz="1600" b="1">
                <a:solidFill>
                  <a:srgbClr val="BBBEBF"/>
                </a:solidFill>
                <a:effectLst/>
                <a:latin typeface="Menlo" panose="020B0609030804020204" pitchFamily="49" charset="0"/>
              </a:rPr>
              <a:t>, [</a:t>
            </a:r>
            <a:r>
              <a:rPr lang="en-US" sz="1600" b="1">
                <a:solidFill>
                  <a:srgbClr val="B5CEA8"/>
                </a:solidFill>
                <a:effectLst/>
                <a:latin typeface="Menlo" panose="020B0609030804020204" pitchFamily="49" charset="0"/>
              </a:rPr>
              <a:t>0</a:t>
            </a:r>
            <a:r>
              <a:rPr lang="en-US" sz="1600" b="1">
                <a:solidFill>
                  <a:srgbClr val="BBBEBF"/>
                </a:solidFill>
                <a:effectLst/>
                <a:latin typeface="Menlo" panose="020B0609030804020204" pitchFamily="49" charset="0"/>
              </a:rPr>
              <a:t>, </a:t>
            </a:r>
            <a:r>
              <a:rPr lang="en-US" sz="1600" b="1">
                <a:solidFill>
                  <a:srgbClr val="B5CEA8"/>
                </a:solidFill>
                <a:effectLst/>
                <a:latin typeface="Menlo" panose="020B0609030804020204" pitchFamily="49" charset="0"/>
              </a:rPr>
              <a:t>1</a:t>
            </a:r>
            <a:r>
              <a:rPr lang="en-US" sz="1600" b="1">
                <a:solidFill>
                  <a:srgbClr val="BBBEBF"/>
                </a:solidFill>
                <a:effectLst/>
                <a:latin typeface="Menlo" panose="020B0609030804020204" pitchFamily="49" charset="0"/>
              </a:rPr>
              <a:t>])</a:t>
            </a:r>
          </a:p>
        </p:txBody>
      </p:sp>
      <p:cxnSp>
        <p:nvCxnSpPr>
          <p:cNvPr id="35" name="Straight Arrow Connector 34">
            <a:extLst>
              <a:ext uri="{FF2B5EF4-FFF2-40B4-BE49-F238E27FC236}">
                <a16:creationId xmlns:a16="http://schemas.microsoft.com/office/drawing/2014/main" id="{399538C5-4049-F933-237E-CA1B178125A8}"/>
              </a:ext>
            </a:extLst>
          </p:cNvPr>
          <p:cNvCxnSpPr>
            <a:cxnSpLocks/>
          </p:cNvCxnSpPr>
          <p:nvPr/>
        </p:nvCxnSpPr>
        <p:spPr>
          <a:xfrm flipH="1">
            <a:off x="5059467" y="4184101"/>
            <a:ext cx="707128" cy="6334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C0C08AB-6930-2DC3-0184-D7E639C68FAC}"/>
              </a:ext>
            </a:extLst>
          </p:cNvPr>
          <p:cNvCxnSpPr>
            <a:cxnSpLocks/>
          </p:cNvCxnSpPr>
          <p:nvPr/>
        </p:nvCxnSpPr>
        <p:spPr>
          <a:xfrm>
            <a:off x="5810879" y="1467019"/>
            <a:ext cx="104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38" name="Straight Connector 37">
            <a:extLst>
              <a:ext uri="{FF2B5EF4-FFF2-40B4-BE49-F238E27FC236}">
                <a16:creationId xmlns:a16="http://schemas.microsoft.com/office/drawing/2014/main" id="{00574FF8-6DF0-0577-279E-062E47EAAF95}"/>
              </a:ext>
            </a:extLst>
          </p:cNvPr>
          <p:cNvCxnSpPr>
            <a:cxnSpLocks/>
          </p:cNvCxnSpPr>
          <p:nvPr/>
        </p:nvCxnSpPr>
        <p:spPr>
          <a:xfrm>
            <a:off x="5810879" y="1645546"/>
            <a:ext cx="104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39" name="Straight Connector 38">
            <a:extLst>
              <a:ext uri="{FF2B5EF4-FFF2-40B4-BE49-F238E27FC236}">
                <a16:creationId xmlns:a16="http://schemas.microsoft.com/office/drawing/2014/main" id="{6069DB9B-7D61-C7E4-D577-69C9C05A63EC}"/>
              </a:ext>
            </a:extLst>
          </p:cNvPr>
          <p:cNvCxnSpPr>
            <a:cxnSpLocks/>
          </p:cNvCxnSpPr>
          <p:nvPr/>
        </p:nvCxnSpPr>
        <p:spPr>
          <a:xfrm>
            <a:off x="5810879" y="1824073"/>
            <a:ext cx="104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40" name="Straight Connector 39">
            <a:extLst>
              <a:ext uri="{FF2B5EF4-FFF2-40B4-BE49-F238E27FC236}">
                <a16:creationId xmlns:a16="http://schemas.microsoft.com/office/drawing/2014/main" id="{F485EA51-EBED-2DC2-0875-3373515DEBC4}"/>
              </a:ext>
            </a:extLst>
          </p:cNvPr>
          <p:cNvCxnSpPr>
            <a:cxnSpLocks/>
          </p:cNvCxnSpPr>
          <p:nvPr/>
        </p:nvCxnSpPr>
        <p:spPr>
          <a:xfrm>
            <a:off x="5810879" y="2002599"/>
            <a:ext cx="104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43" name="Left Bracket 42">
            <a:extLst>
              <a:ext uri="{FF2B5EF4-FFF2-40B4-BE49-F238E27FC236}">
                <a16:creationId xmlns:a16="http://schemas.microsoft.com/office/drawing/2014/main" id="{D714E9BD-191A-DC27-CB79-F38DF62FF8A1}"/>
              </a:ext>
            </a:extLst>
          </p:cNvPr>
          <p:cNvSpPr/>
          <p:nvPr/>
        </p:nvSpPr>
        <p:spPr>
          <a:xfrm>
            <a:off x="5875268" y="1322333"/>
            <a:ext cx="84457" cy="806737"/>
          </a:xfrm>
          <a:prstGeom prst="leftBracket">
            <a:avLst/>
          </a:prstGeom>
          <a:ln>
            <a:solidFill>
              <a:schemeClr val="tx1"/>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VN" sz="600"/>
          </a:p>
        </p:txBody>
      </p:sp>
      <p:sp>
        <p:nvSpPr>
          <p:cNvPr id="44" name="Left Bracket 43">
            <a:extLst>
              <a:ext uri="{FF2B5EF4-FFF2-40B4-BE49-F238E27FC236}">
                <a16:creationId xmlns:a16="http://schemas.microsoft.com/office/drawing/2014/main" id="{A7EBF821-A905-D008-F17A-8B68E39E24EA}"/>
              </a:ext>
            </a:extLst>
          </p:cNvPr>
          <p:cNvSpPr/>
          <p:nvPr/>
        </p:nvSpPr>
        <p:spPr>
          <a:xfrm flipH="1">
            <a:off x="6387483" y="1322143"/>
            <a:ext cx="84457" cy="806737"/>
          </a:xfrm>
          <a:prstGeom prst="leftBracket">
            <a:avLst/>
          </a:prstGeom>
          <a:ln>
            <a:solidFill>
              <a:schemeClr val="tx1"/>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VN" sz="600"/>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C64F878-706B-FE48-E2BB-DB66CEC5253F}"/>
                  </a:ext>
                </a:extLst>
              </p:cNvPr>
              <p:cNvSpPr txBox="1"/>
              <p:nvPr/>
            </p:nvSpPr>
            <p:spPr>
              <a:xfrm>
                <a:off x="6477022" y="2053616"/>
                <a:ext cx="192863" cy="923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vi-VN" sz="600" b="0" i="1">
                          <a:latin typeface="Cambria Math" panose="02040503050406030204" pitchFamily="18" charset="0"/>
                          <a:ea typeface="Verdana" panose="020B0604030504040204" pitchFamily="34" charset="0"/>
                          <a:cs typeface="Verdana" panose="020B0604030504040204" pitchFamily="34" charset="0"/>
                        </a:rPr>
                        <m:t>×</m:t>
                      </m:r>
                      <m:r>
                        <a:rPr lang="vi-VN" sz="600" i="1">
                          <a:latin typeface="Cambria Math" panose="02040503050406030204" pitchFamily="18" charset="0"/>
                          <a:ea typeface="Verdana" panose="020B0604030504040204" pitchFamily="34" charset="0"/>
                          <a:cs typeface="Verdana" panose="020B0604030504040204" pitchFamily="34" charset="0"/>
                        </a:rPr>
                        <m:t>𝐿</m:t>
                      </m:r>
                    </m:oMath>
                  </m:oMathPara>
                </a14:m>
                <a:endParaRPr lang="en-VN" sz="600" i="1">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5" name="TextBox 44">
                <a:extLst>
                  <a:ext uri="{FF2B5EF4-FFF2-40B4-BE49-F238E27FC236}">
                    <a16:creationId xmlns:a16="http://schemas.microsoft.com/office/drawing/2014/main" id="{CC64F878-706B-FE48-E2BB-DB66CEC5253F}"/>
                  </a:ext>
                </a:extLst>
              </p:cNvPr>
              <p:cNvSpPr txBox="1">
                <a:spLocks noRot="1" noChangeAspect="1" noMove="1" noResize="1" noEditPoints="1" noAdjustHandles="1" noChangeArrowheads="1" noChangeShapeType="1" noTextEdit="1"/>
              </p:cNvSpPr>
              <p:nvPr/>
            </p:nvSpPr>
            <p:spPr>
              <a:xfrm>
                <a:off x="6477022" y="2053616"/>
                <a:ext cx="192863" cy="92333"/>
              </a:xfrm>
              <a:prstGeom prst="rect">
                <a:avLst/>
              </a:prstGeom>
              <a:blipFill>
                <a:blip r:embed="rId8"/>
                <a:stretch>
                  <a:fillRect b="-12500"/>
                </a:stretch>
              </a:blipFill>
            </p:spPr>
            <p:txBody>
              <a:bodyPr/>
              <a:lstStyle/>
              <a:p>
                <a:r>
                  <a:rPr lang="en-VN">
                    <a:noFill/>
                  </a:rPr>
                  <a:t> </a:t>
                </a:r>
              </a:p>
            </p:txBody>
          </p:sp>
        </mc:Fallback>
      </mc:AlternateContent>
      <p:cxnSp>
        <p:nvCxnSpPr>
          <p:cNvPr id="46" name="Straight Connector 45">
            <a:extLst>
              <a:ext uri="{FF2B5EF4-FFF2-40B4-BE49-F238E27FC236}">
                <a16:creationId xmlns:a16="http://schemas.microsoft.com/office/drawing/2014/main" id="{240B7AA4-8F9A-003F-1389-5DBE7E697EDD}"/>
              </a:ext>
            </a:extLst>
          </p:cNvPr>
          <p:cNvCxnSpPr>
            <a:cxnSpLocks/>
          </p:cNvCxnSpPr>
          <p:nvPr/>
        </p:nvCxnSpPr>
        <p:spPr>
          <a:xfrm flipV="1">
            <a:off x="6183580" y="1467019"/>
            <a:ext cx="0" cy="171432"/>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47" name="Oval 46">
            <a:extLst>
              <a:ext uri="{FF2B5EF4-FFF2-40B4-BE49-F238E27FC236}">
                <a16:creationId xmlns:a16="http://schemas.microsoft.com/office/drawing/2014/main" id="{DA920DBB-718E-BF2D-08F0-A203BCDF6723}"/>
              </a:ext>
            </a:extLst>
          </p:cNvPr>
          <p:cNvSpPr>
            <a:spLocks noChangeAspect="1"/>
          </p:cNvSpPr>
          <p:nvPr/>
        </p:nvSpPr>
        <p:spPr>
          <a:xfrm>
            <a:off x="6166570" y="1454319"/>
            <a:ext cx="36000" cy="34559"/>
          </a:xfrm>
          <a:prstGeom prst="ellips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VN" sz="80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5296C872-2619-34BF-3CD7-FDD06F458CB7}"/>
                  </a:ext>
                </a:extLst>
              </p:cNvPr>
              <p:cNvSpPr txBox="1"/>
              <p:nvPr/>
            </p:nvSpPr>
            <p:spPr>
              <a:xfrm>
                <a:off x="6123264" y="1581841"/>
                <a:ext cx="125034"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800" b="0" i="1">
                          <a:latin typeface="Cambria Math" panose="02040503050406030204" pitchFamily="18" charset="0"/>
                          <a:ea typeface="Cambria Math" panose="02040503050406030204" pitchFamily="18" charset="0"/>
                        </a:rPr>
                        <m:t>⊕</m:t>
                      </m:r>
                    </m:oMath>
                  </m:oMathPara>
                </a14:m>
                <a:endParaRPr lang="en-VN" sz="800"/>
              </a:p>
            </p:txBody>
          </p:sp>
        </mc:Choice>
        <mc:Fallback xmlns="">
          <p:sp>
            <p:nvSpPr>
              <p:cNvPr id="48" name="TextBox 47">
                <a:extLst>
                  <a:ext uri="{FF2B5EF4-FFF2-40B4-BE49-F238E27FC236}">
                    <a16:creationId xmlns:a16="http://schemas.microsoft.com/office/drawing/2014/main" id="{5296C872-2619-34BF-3CD7-FDD06F458CB7}"/>
                  </a:ext>
                </a:extLst>
              </p:cNvPr>
              <p:cNvSpPr txBox="1">
                <a:spLocks noRot="1" noChangeAspect="1" noMove="1" noResize="1" noEditPoints="1" noAdjustHandles="1" noChangeArrowheads="1" noChangeShapeType="1" noTextEdit="1"/>
              </p:cNvSpPr>
              <p:nvPr/>
            </p:nvSpPr>
            <p:spPr>
              <a:xfrm>
                <a:off x="6123264" y="1581841"/>
                <a:ext cx="125034" cy="123111"/>
              </a:xfrm>
              <a:prstGeom prst="rect">
                <a:avLst/>
              </a:prstGeom>
              <a:blipFill>
                <a:blip r:embed="rId9"/>
                <a:stretch>
                  <a:fillRect l="-16667" r="-16667" b="-27273"/>
                </a:stretch>
              </a:blipFill>
            </p:spPr>
            <p:txBody>
              <a:bodyPr/>
              <a:lstStyle/>
              <a:p>
                <a:r>
                  <a:rPr lang="en-VN">
                    <a:noFill/>
                  </a:rPr>
                  <a:t> </a:t>
                </a:r>
              </a:p>
            </p:txBody>
          </p:sp>
        </mc:Fallback>
      </mc:AlternateContent>
      <p:cxnSp>
        <p:nvCxnSpPr>
          <p:cNvPr id="49" name="Straight Connector 48">
            <a:extLst>
              <a:ext uri="{FF2B5EF4-FFF2-40B4-BE49-F238E27FC236}">
                <a16:creationId xmlns:a16="http://schemas.microsoft.com/office/drawing/2014/main" id="{5FDBBCC3-527F-7814-493D-8663B77FA2AC}"/>
              </a:ext>
            </a:extLst>
          </p:cNvPr>
          <p:cNvCxnSpPr>
            <a:cxnSpLocks/>
          </p:cNvCxnSpPr>
          <p:nvPr/>
        </p:nvCxnSpPr>
        <p:spPr>
          <a:xfrm flipV="1">
            <a:off x="6288680" y="1658121"/>
            <a:ext cx="0" cy="171432"/>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50" name="Oval 49">
            <a:extLst>
              <a:ext uri="{FF2B5EF4-FFF2-40B4-BE49-F238E27FC236}">
                <a16:creationId xmlns:a16="http://schemas.microsoft.com/office/drawing/2014/main" id="{2F31283A-92FE-D214-1D41-85DCC2F76A18}"/>
              </a:ext>
            </a:extLst>
          </p:cNvPr>
          <p:cNvSpPr>
            <a:spLocks noChangeAspect="1"/>
          </p:cNvSpPr>
          <p:nvPr/>
        </p:nvSpPr>
        <p:spPr>
          <a:xfrm>
            <a:off x="6271670" y="1629546"/>
            <a:ext cx="36000" cy="34559"/>
          </a:xfrm>
          <a:prstGeom prst="ellips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VN" sz="800"/>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1502659E-CC78-8920-B0C6-5E02F5B51E42}"/>
                  </a:ext>
                </a:extLst>
              </p:cNvPr>
              <p:cNvSpPr txBox="1"/>
              <p:nvPr/>
            </p:nvSpPr>
            <p:spPr>
              <a:xfrm>
                <a:off x="6228364" y="1763418"/>
                <a:ext cx="125034"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800" b="0" i="1">
                          <a:latin typeface="Cambria Math" panose="02040503050406030204" pitchFamily="18" charset="0"/>
                          <a:ea typeface="Cambria Math" panose="02040503050406030204" pitchFamily="18" charset="0"/>
                        </a:rPr>
                        <m:t>⊕</m:t>
                      </m:r>
                    </m:oMath>
                  </m:oMathPara>
                </a14:m>
                <a:endParaRPr lang="en-VN" sz="800"/>
              </a:p>
            </p:txBody>
          </p:sp>
        </mc:Choice>
        <mc:Fallback xmlns="">
          <p:sp>
            <p:nvSpPr>
              <p:cNvPr id="51" name="TextBox 50">
                <a:extLst>
                  <a:ext uri="{FF2B5EF4-FFF2-40B4-BE49-F238E27FC236}">
                    <a16:creationId xmlns:a16="http://schemas.microsoft.com/office/drawing/2014/main" id="{1502659E-CC78-8920-B0C6-5E02F5B51E42}"/>
                  </a:ext>
                </a:extLst>
              </p:cNvPr>
              <p:cNvSpPr txBox="1">
                <a:spLocks noRot="1" noChangeAspect="1" noMove="1" noResize="1" noEditPoints="1" noAdjustHandles="1" noChangeArrowheads="1" noChangeShapeType="1" noTextEdit="1"/>
              </p:cNvSpPr>
              <p:nvPr/>
            </p:nvSpPr>
            <p:spPr>
              <a:xfrm>
                <a:off x="6228364" y="1763418"/>
                <a:ext cx="125034" cy="123111"/>
              </a:xfrm>
              <a:prstGeom prst="rect">
                <a:avLst/>
              </a:prstGeom>
              <a:blipFill>
                <a:blip r:embed="rId10"/>
                <a:stretch>
                  <a:fillRect l="-27273" r="-27273" b="-27273"/>
                </a:stretch>
              </a:blipFill>
            </p:spPr>
            <p:txBody>
              <a:bodyPr/>
              <a:lstStyle/>
              <a:p>
                <a:r>
                  <a:rPr lang="en-VN">
                    <a:noFill/>
                  </a:rPr>
                  <a:t> </a:t>
                </a:r>
              </a:p>
            </p:txBody>
          </p:sp>
        </mc:Fallback>
      </mc:AlternateContent>
      <p:cxnSp>
        <p:nvCxnSpPr>
          <p:cNvPr id="52" name="Straight Connector 51">
            <a:extLst>
              <a:ext uri="{FF2B5EF4-FFF2-40B4-BE49-F238E27FC236}">
                <a16:creationId xmlns:a16="http://schemas.microsoft.com/office/drawing/2014/main" id="{8D5F2365-D61D-7C23-0BF0-FB5F679C071B}"/>
              </a:ext>
            </a:extLst>
          </p:cNvPr>
          <p:cNvCxnSpPr>
            <a:cxnSpLocks/>
          </p:cNvCxnSpPr>
          <p:nvPr/>
        </p:nvCxnSpPr>
        <p:spPr>
          <a:xfrm flipV="1">
            <a:off x="6383531" y="1832979"/>
            <a:ext cx="0" cy="171432"/>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53" name="Oval 52">
            <a:extLst>
              <a:ext uri="{FF2B5EF4-FFF2-40B4-BE49-F238E27FC236}">
                <a16:creationId xmlns:a16="http://schemas.microsoft.com/office/drawing/2014/main" id="{21D70DD6-9FB2-23B2-5008-257C911E3502}"/>
              </a:ext>
            </a:extLst>
          </p:cNvPr>
          <p:cNvSpPr>
            <a:spLocks noChangeAspect="1"/>
          </p:cNvSpPr>
          <p:nvPr/>
        </p:nvSpPr>
        <p:spPr>
          <a:xfrm>
            <a:off x="6366521" y="1807579"/>
            <a:ext cx="36000" cy="34559"/>
          </a:xfrm>
          <a:prstGeom prst="ellips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VN" sz="800"/>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DE731D96-13F3-92CC-046C-49F5952F9AE4}"/>
                  </a:ext>
                </a:extLst>
              </p:cNvPr>
              <p:cNvSpPr txBox="1"/>
              <p:nvPr/>
            </p:nvSpPr>
            <p:spPr>
              <a:xfrm>
                <a:off x="6323215" y="1938276"/>
                <a:ext cx="125034"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800" b="0" i="1">
                          <a:latin typeface="Cambria Math" panose="02040503050406030204" pitchFamily="18" charset="0"/>
                          <a:ea typeface="Cambria Math" panose="02040503050406030204" pitchFamily="18" charset="0"/>
                        </a:rPr>
                        <m:t>⊕</m:t>
                      </m:r>
                    </m:oMath>
                  </m:oMathPara>
                </a14:m>
                <a:endParaRPr lang="en-VN" sz="800"/>
              </a:p>
            </p:txBody>
          </p:sp>
        </mc:Choice>
        <mc:Fallback xmlns="">
          <p:sp>
            <p:nvSpPr>
              <p:cNvPr id="54" name="TextBox 53">
                <a:extLst>
                  <a:ext uri="{FF2B5EF4-FFF2-40B4-BE49-F238E27FC236}">
                    <a16:creationId xmlns:a16="http://schemas.microsoft.com/office/drawing/2014/main" id="{DE731D96-13F3-92CC-046C-49F5952F9AE4}"/>
                  </a:ext>
                </a:extLst>
              </p:cNvPr>
              <p:cNvSpPr txBox="1">
                <a:spLocks noRot="1" noChangeAspect="1" noMove="1" noResize="1" noEditPoints="1" noAdjustHandles="1" noChangeArrowheads="1" noChangeShapeType="1" noTextEdit="1"/>
              </p:cNvSpPr>
              <p:nvPr/>
            </p:nvSpPr>
            <p:spPr>
              <a:xfrm>
                <a:off x="6323215" y="1938276"/>
                <a:ext cx="125034" cy="123111"/>
              </a:xfrm>
              <a:prstGeom prst="rect">
                <a:avLst/>
              </a:prstGeom>
              <a:blipFill>
                <a:blip r:embed="rId11"/>
                <a:stretch>
                  <a:fillRect l="-27273" r="-27273" b="-2727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A3A6FAF3-BAC6-AE84-8631-C741A03EE52A}"/>
                  </a:ext>
                </a:extLst>
              </p:cNvPr>
              <p:cNvSpPr/>
              <p:nvPr/>
            </p:nvSpPr>
            <p:spPr>
              <a:xfrm rot="16200000">
                <a:off x="5703190" y="1660606"/>
                <a:ext cx="648000" cy="180000"/>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600" b="0" i="1" dirty="0">
                          <a:solidFill>
                            <a:schemeClr val="tx1"/>
                          </a:solidFill>
                          <a:latin typeface="Cambria Math" panose="02040503050406030204" pitchFamily="18" charset="0"/>
                        </a:rPr>
                        <m:t> </m:t>
                      </m:r>
                      <m:sSub>
                        <m:sSubPr>
                          <m:ctrlPr>
                            <a:rPr lang="vi-VN" sz="600" i="1" dirty="0">
                              <a:solidFill>
                                <a:schemeClr val="tx1"/>
                              </a:solidFill>
                              <a:latin typeface="Cambria Math" panose="02040503050406030204" pitchFamily="18" charset="0"/>
                            </a:rPr>
                          </m:ctrlPr>
                        </m:sSubPr>
                        <m:e>
                          <m:r>
                            <a:rPr lang="vi-VN" sz="600" i="1" dirty="0">
                              <a:solidFill>
                                <a:schemeClr val="tx1"/>
                              </a:solidFill>
                              <a:latin typeface="Cambria Math" panose="02040503050406030204" pitchFamily="18" charset="0"/>
                            </a:rPr>
                            <m:t>𝑅</m:t>
                          </m:r>
                        </m:e>
                        <m:sub>
                          <m:r>
                            <a:rPr lang="vi-VN" sz="600" i="1" dirty="0">
                              <a:solidFill>
                                <a:schemeClr val="tx1"/>
                              </a:solidFill>
                              <a:latin typeface="Cambria Math" panose="02040503050406030204" pitchFamily="18" charset="0"/>
                            </a:rPr>
                            <m:t>𝑦</m:t>
                          </m:r>
                        </m:sub>
                      </m:sSub>
                      <m:r>
                        <a:rPr lang="en-US" sz="600" i="1" dirty="0">
                          <a:solidFill>
                            <a:schemeClr val="tx1"/>
                          </a:solidFill>
                          <a:latin typeface="Cambria Math" panose="02040503050406030204" pitchFamily="18" charset="0"/>
                        </a:rPr>
                        <m:t>(</m:t>
                      </m:r>
                      <m:r>
                        <a:rPr lang="vi-VN" sz="600" b="1" i="1" dirty="0">
                          <a:solidFill>
                            <a:schemeClr val="tx1"/>
                          </a:solidFill>
                          <a:latin typeface="Cambria Math" panose="02040503050406030204" pitchFamily="18" charset="0"/>
                        </a:rPr>
                        <m:t>𝜽</m:t>
                      </m:r>
                      <m:r>
                        <a:rPr lang="en-US" sz="600" i="1" dirty="0">
                          <a:solidFill>
                            <a:schemeClr val="tx1"/>
                          </a:solidFill>
                          <a:latin typeface="Cambria Math" panose="02040503050406030204" pitchFamily="18" charset="0"/>
                        </a:rPr>
                        <m:t>)</m:t>
                      </m:r>
                    </m:oMath>
                  </m:oMathPara>
                </a14:m>
                <a:endParaRPr lang="en-CA" sz="600" i="1" dirty="0">
                  <a:solidFill>
                    <a:schemeClr val="tx1"/>
                  </a:solidFill>
                </a:endParaRPr>
              </a:p>
            </p:txBody>
          </p:sp>
        </mc:Choice>
        <mc:Fallback xmlns="">
          <p:sp>
            <p:nvSpPr>
              <p:cNvPr id="55" name="Rectangle 54">
                <a:extLst>
                  <a:ext uri="{FF2B5EF4-FFF2-40B4-BE49-F238E27FC236}">
                    <a16:creationId xmlns:a16="http://schemas.microsoft.com/office/drawing/2014/main" id="{A3A6FAF3-BAC6-AE84-8631-C741A03EE52A}"/>
                  </a:ext>
                </a:extLst>
              </p:cNvPr>
              <p:cNvSpPr>
                <a:spLocks noRot="1" noChangeAspect="1" noMove="1" noResize="1" noEditPoints="1" noAdjustHandles="1" noChangeArrowheads="1" noChangeShapeType="1" noTextEdit="1"/>
              </p:cNvSpPr>
              <p:nvPr/>
            </p:nvSpPr>
            <p:spPr>
              <a:xfrm rot="16200000">
                <a:off x="5703190" y="1660606"/>
                <a:ext cx="648000" cy="180000"/>
              </a:xfrm>
              <a:prstGeom prst="rect">
                <a:avLst/>
              </a:prstGeom>
              <a:blipFill>
                <a:blip r:embed="rId12"/>
                <a:stretch>
                  <a:fillRect/>
                </a:stretch>
              </a:blipFill>
              <a:ln w="12700">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89F8304F-AFD1-E2AF-04EB-8486397571B3}"/>
                  </a:ext>
                </a:extLst>
              </p:cNvPr>
              <p:cNvSpPr/>
              <p:nvPr/>
            </p:nvSpPr>
            <p:spPr>
              <a:xfrm rot="16200000">
                <a:off x="6397290" y="1654187"/>
                <a:ext cx="648000" cy="180000"/>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vi-VN" sz="600" b="0" i="1" dirty="0">
                          <a:solidFill>
                            <a:schemeClr val="tx1"/>
                          </a:solidFill>
                          <a:latin typeface="Cambria Math" panose="02040503050406030204" pitchFamily="18" charset="0"/>
                        </a:rPr>
                        <m:t> </m:t>
                      </m:r>
                      <m:sSub>
                        <m:sSubPr>
                          <m:ctrlPr>
                            <a:rPr lang="vi-VN" sz="600" i="1" dirty="0">
                              <a:solidFill>
                                <a:schemeClr val="tx1"/>
                              </a:solidFill>
                              <a:latin typeface="Cambria Math" panose="02040503050406030204" pitchFamily="18" charset="0"/>
                            </a:rPr>
                          </m:ctrlPr>
                        </m:sSubPr>
                        <m:e>
                          <m:r>
                            <a:rPr lang="vi-VN" sz="600" i="1" dirty="0">
                              <a:solidFill>
                                <a:schemeClr val="tx1"/>
                              </a:solidFill>
                              <a:latin typeface="Cambria Math" panose="02040503050406030204" pitchFamily="18" charset="0"/>
                            </a:rPr>
                            <m:t>𝑅</m:t>
                          </m:r>
                        </m:e>
                        <m:sub>
                          <m:r>
                            <a:rPr lang="vi-VN" sz="600" i="1" dirty="0">
                              <a:solidFill>
                                <a:schemeClr val="tx1"/>
                              </a:solidFill>
                              <a:latin typeface="Cambria Math" panose="02040503050406030204" pitchFamily="18" charset="0"/>
                            </a:rPr>
                            <m:t>𝑦</m:t>
                          </m:r>
                        </m:sub>
                      </m:sSub>
                      <m:r>
                        <a:rPr lang="en-US" sz="600" i="1" dirty="0">
                          <a:solidFill>
                            <a:schemeClr val="tx1"/>
                          </a:solidFill>
                          <a:latin typeface="Cambria Math" panose="02040503050406030204" pitchFamily="18" charset="0"/>
                        </a:rPr>
                        <m:t>(</m:t>
                      </m:r>
                      <m:r>
                        <a:rPr lang="vi-VN" sz="600" b="1" i="1" dirty="0">
                          <a:solidFill>
                            <a:schemeClr val="tx1"/>
                          </a:solidFill>
                          <a:latin typeface="Cambria Math" panose="02040503050406030204" pitchFamily="18" charset="0"/>
                        </a:rPr>
                        <m:t>𝜽</m:t>
                      </m:r>
                      <m:r>
                        <a:rPr lang="en-US" sz="600" i="1" dirty="0">
                          <a:solidFill>
                            <a:schemeClr val="tx1"/>
                          </a:solidFill>
                          <a:latin typeface="Cambria Math" panose="02040503050406030204" pitchFamily="18" charset="0"/>
                        </a:rPr>
                        <m:t>)</m:t>
                      </m:r>
                    </m:oMath>
                  </m:oMathPara>
                </a14:m>
                <a:endParaRPr lang="en-CA" sz="600" i="1" dirty="0">
                  <a:solidFill>
                    <a:schemeClr val="tx1"/>
                  </a:solidFill>
                </a:endParaRPr>
              </a:p>
            </p:txBody>
          </p:sp>
        </mc:Choice>
        <mc:Fallback xmlns="">
          <p:sp>
            <p:nvSpPr>
              <p:cNvPr id="56" name="Rectangle 55">
                <a:extLst>
                  <a:ext uri="{FF2B5EF4-FFF2-40B4-BE49-F238E27FC236}">
                    <a16:creationId xmlns:a16="http://schemas.microsoft.com/office/drawing/2014/main" id="{89F8304F-AFD1-E2AF-04EB-8486397571B3}"/>
                  </a:ext>
                </a:extLst>
              </p:cNvPr>
              <p:cNvSpPr>
                <a:spLocks noRot="1" noChangeAspect="1" noMove="1" noResize="1" noEditPoints="1" noAdjustHandles="1" noChangeArrowheads="1" noChangeShapeType="1" noTextEdit="1"/>
              </p:cNvSpPr>
              <p:nvPr/>
            </p:nvSpPr>
            <p:spPr>
              <a:xfrm rot="16200000">
                <a:off x="6397290" y="1654187"/>
                <a:ext cx="648000" cy="180000"/>
              </a:xfrm>
              <a:prstGeom prst="rect">
                <a:avLst/>
              </a:prstGeom>
              <a:blipFill>
                <a:blip r:embed="rId13"/>
                <a:stretch>
                  <a:fillRect/>
                </a:stretch>
              </a:blipFill>
              <a:ln w="12700">
                <a:solidFill>
                  <a:schemeClr val="tx1"/>
                </a:solidFill>
              </a:ln>
            </p:spPr>
            <p:txBody>
              <a:bodyPr/>
              <a:lstStyle/>
              <a:p>
                <a:r>
                  <a:rPr lang="en-VN">
                    <a:noFill/>
                  </a:rPr>
                  <a:t> </a:t>
                </a:r>
              </a:p>
            </p:txBody>
          </p:sp>
        </mc:Fallback>
      </mc:AlternateContent>
      <p:cxnSp>
        <p:nvCxnSpPr>
          <p:cNvPr id="57" name="Straight Connector 56">
            <a:extLst>
              <a:ext uri="{FF2B5EF4-FFF2-40B4-BE49-F238E27FC236}">
                <a16:creationId xmlns:a16="http://schemas.microsoft.com/office/drawing/2014/main" id="{72322F4F-4B94-8023-C5D7-A85A80832A5B}"/>
              </a:ext>
            </a:extLst>
          </p:cNvPr>
          <p:cNvCxnSpPr>
            <a:cxnSpLocks/>
          </p:cNvCxnSpPr>
          <p:nvPr/>
        </p:nvCxnSpPr>
        <p:spPr>
          <a:xfrm>
            <a:off x="7679567" y="1483367"/>
            <a:ext cx="50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8" name="Straight Connector 57">
            <a:extLst>
              <a:ext uri="{FF2B5EF4-FFF2-40B4-BE49-F238E27FC236}">
                <a16:creationId xmlns:a16="http://schemas.microsoft.com/office/drawing/2014/main" id="{55B96FA2-CBFD-9031-F4C7-B0EFCE6D68BF}"/>
              </a:ext>
            </a:extLst>
          </p:cNvPr>
          <p:cNvCxnSpPr>
            <a:cxnSpLocks/>
          </p:cNvCxnSpPr>
          <p:nvPr/>
        </p:nvCxnSpPr>
        <p:spPr>
          <a:xfrm>
            <a:off x="7679567" y="1661894"/>
            <a:ext cx="50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9" name="Straight Connector 58">
            <a:extLst>
              <a:ext uri="{FF2B5EF4-FFF2-40B4-BE49-F238E27FC236}">
                <a16:creationId xmlns:a16="http://schemas.microsoft.com/office/drawing/2014/main" id="{D4466D6F-F13F-4D33-53B4-7B346715AFF4}"/>
              </a:ext>
            </a:extLst>
          </p:cNvPr>
          <p:cNvCxnSpPr>
            <a:cxnSpLocks/>
          </p:cNvCxnSpPr>
          <p:nvPr/>
        </p:nvCxnSpPr>
        <p:spPr>
          <a:xfrm>
            <a:off x="7679567" y="2018947"/>
            <a:ext cx="50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60" name="Straight Connector 59">
            <a:extLst>
              <a:ext uri="{FF2B5EF4-FFF2-40B4-BE49-F238E27FC236}">
                <a16:creationId xmlns:a16="http://schemas.microsoft.com/office/drawing/2014/main" id="{4841B428-B26C-D013-1B76-911BAA9C389C}"/>
              </a:ext>
            </a:extLst>
          </p:cNvPr>
          <p:cNvCxnSpPr>
            <a:cxnSpLocks/>
          </p:cNvCxnSpPr>
          <p:nvPr/>
        </p:nvCxnSpPr>
        <p:spPr>
          <a:xfrm>
            <a:off x="7154702" y="1484846"/>
            <a:ext cx="32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61" name="Straight Connector 60">
            <a:extLst>
              <a:ext uri="{FF2B5EF4-FFF2-40B4-BE49-F238E27FC236}">
                <a16:creationId xmlns:a16="http://schemas.microsoft.com/office/drawing/2014/main" id="{D4660F95-D0F5-B42F-A036-E8CAEA3746B1}"/>
              </a:ext>
            </a:extLst>
          </p:cNvPr>
          <p:cNvCxnSpPr>
            <a:cxnSpLocks/>
          </p:cNvCxnSpPr>
          <p:nvPr/>
        </p:nvCxnSpPr>
        <p:spPr>
          <a:xfrm>
            <a:off x="7154702" y="1663373"/>
            <a:ext cx="32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62" name="Straight Connector 61">
            <a:extLst>
              <a:ext uri="{FF2B5EF4-FFF2-40B4-BE49-F238E27FC236}">
                <a16:creationId xmlns:a16="http://schemas.microsoft.com/office/drawing/2014/main" id="{9548D889-8FD3-A742-E5D9-AAE9A18CFB09}"/>
              </a:ext>
            </a:extLst>
          </p:cNvPr>
          <p:cNvCxnSpPr>
            <a:cxnSpLocks/>
          </p:cNvCxnSpPr>
          <p:nvPr/>
        </p:nvCxnSpPr>
        <p:spPr>
          <a:xfrm>
            <a:off x="7154702" y="2020426"/>
            <a:ext cx="324000" cy="2117"/>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BBDF534D-6E86-B8C9-F333-0D3663D43A97}"/>
                  </a:ext>
                </a:extLst>
              </p:cNvPr>
              <p:cNvSpPr/>
              <p:nvPr/>
            </p:nvSpPr>
            <p:spPr>
              <a:xfrm>
                <a:off x="7738042" y="1389479"/>
                <a:ext cx="376220" cy="160107"/>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sz="600" i="1" dirty="0">
                              <a:solidFill>
                                <a:schemeClr val="tx1"/>
                              </a:solidFill>
                              <a:latin typeface="Cambria Math" panose="02040503050406030204" pitchFamily="18" charset="0"/>
                            </a:rPr>
                          </m:ctrlPr>
                        </m:sSubPr>
                        <m:e>
                          <m:r>
                            <a:rPr lang="vi-VN" sz="600" i="1" dirty="0">
                              <a:solidFill>
                                <a:schemeClr val="tx1"/>
                              </a:solidFill>
                              <a:latin typeface="Cambria Math" panose="02040503050406030204" pitchFamily="18" charset="0"/>
                            </a:rPr>
                            <m:t>𝑅</m:t>
                          </m:r>
                        </m:e>
                        <m:sub>
                          <m:r>
                            <a:rPr lang="vi-VN" sz="600" i="1" dirty="0">
                              <a:solidFill>
                                <a:schemeClr val="tx1"/>
                              </a:solidFill>
                              <a:latin typeface="Cambria Math" panose="02040503050406030204" pitchFamily="18" charset="0"/>
                            </a:rPr>
                            <m:t>𝑦</m:t>
                          </m:r>
                        </m:sub>
                      </m:sSub>
                      <m:r>
                        <a:rPr lang="en-US" sz="600" i="1" dirty="0">
                          <a:solidFill>
                            <a:schemeClr val="tx1"/>
                          </a:solidFill>
                          <a:latin typeface="Cambria Math" panose="02040503050406030204" pitchFamily="18" charset="0"/>
                        </a:rPr>
                        <m:t>(</m:t>
                      </m:r>
                      <m:r>
                        <a:rPr lang="vi-VN" sz="600" i="1" dirty="0">
                          <a:solidFill>
                            <a:schemeClr val="tx1"/>
                          </a:solidFill>
                          <a:latin typeface="Cambria Math" panose="02040503050406030204" pitchFamily="18" charset="0"/>
                        </a:rPr>
                        <m:t>…</m:t>
                      </m:r>
                      <m:r>
                        <a:rPr lang="en-US" sz="600" i="1" dirty="0">
                          <a:solidFill>
                            <a:schemeClr val="tx1"/>
                          </a:solidFill>
                          <a:latin typeface="Cambria Math" panose="02040503050406030204" pitchFamily="18" charset="0"/>
                        </a:rPr>
                        <m:t>)</m:t>
                      </m:r>
                    </m:oMath>
                  </m:oMathPara>
                </a14:m>
                <a:endParaRPr lang="en-CA" sz="600" i="1" dirty="0">
                  <a:solidFill>
                    <a:schemeClr val="tx1"/>
                  </a:solidFill>
                </a:endParaRPr>
              </a:p>
            </p:txBody>
          </p:sp>
        </mc:Choice>
        <mc:Fallback xmlns="">
          <p:sp>
            <p:nvSpPr>
              <p:cNvPr id="63" name="Rectangle 62">
                <a:extLst>
                  <a:ext uri="{FF2B5EF4-FFF2-40B4-BE49-F238E27FC236}">
                    <a16:creationId xmlns:a16="http://schemas.microsoft.com/office/drawing/2014/main" id="{BBDF534D-6E86-B8C9-F333-0D3663D43A97}"/>
                  </a:ext>
                </a:extLst>
              </p:cNvPr>
              <p:cNvSpPr>
                <a:spLocks noRot="1" noChangeAspect="1" noMove="1" noResize="1" noEditPoints="1" noAdjustHandles="1" noChangeArrowheads="1" noChangeShapeType="1" noTextEdit="1"/>
              </p:cNvSpPr>
              <p:nvPr/>
            </p:nvSpPr>
            <p:spPr>
              <a:xfrm>
                <a:off x="7738042" y="1389479"/>
                <a:ext cx="376220" cy="160107"/>
              </a:xfrm>
              <a:prstGeom prst="rect">
                <a:avLst/>
              </a:prstGeom>
              <a:blipFill>
                <a:blip r:embed="rId14"/>
                <a:stretch>
                  <a:fillRect/>
                </a:stretch>
              </a:blipFill>
              <a:ln w="12700">
                <a:solidFill>
                  <a:schemeClr val="tx1"/>
                </a:solidFill>
              </a:ln>
            </p:spPr>
            <p:txBody>
              <a:bodyPr/>
              <a:lstStyle/>
              <a:p>
                <a:r>
                  <a:rPr lang="en-VN">
                    <a:noFill/>
                  </a:rPr>
                  <a:t> </a:t>
                </a:r>
              </a:p>
            </p:txBody>
          </p:sp>
        </mc:Fallback>
      </mc:AlternateContent>
      <p:sp>
        <p:nvSpPr>
          <p:cNvPr id="64" name="Rectangle 63">
            <a:extLst>
              <a:ext uri="{FF2B5EF4-FFF2-40B4-BE49-F238E27FC236}">
                <a16:creationId xmlns:a16="http://schemas.microsoft.com/office/drawing/2014/main" id="{8D10BE95-1996-FEA9-D9C9-DE1707A0BBAC}"/>
              </a:ext>
            </a:extLst>
          </p:cNvPr>
          <p:cNvSpPr/>
          <p:nvPr/>
        </p:nvSpPr>
        <p:spPr>
          <a:xfrm>
            <a:off x="7738041" y="1572884"/>
            <a:ext cx="376221" cy="160107"/>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sz="550" i="1" dirty="0">
              <a:solidFill>
                <a:schemeClr val="tx1"/>
              </a:solidFill>
            </a:endParaRPr>
          </a:p>
        </p:txBody>
      </p:sp>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8DCCC7DD-B54F-95CC-70B4-9C6E7E0ADF9B}"/>
                  </a:ext>
                </a:extLst>
              </p:cNvPr>
              <p:cNvSpPr/>
              <p:nvPr/>
            </p:nvSpPr>
            <p:spPr>
              <a:xfrm>
                <a:off x="7738042" y="1938276"/>
                <a:ext cx="376220" cy="160107"/>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sz="600" i="1" dirty="0">
                              <a:solidFill>
                                <a:schemeClr val="tx1"/>
                              </a:solidFill>
                              <a:latin typeface="Cambria Math" panose="02040503050406030204" pitchFamily="18" charset="0"/>
                            </a:rPr>
                          </m:ctrlPr>
                        </m:sSubPr>
                        <m:e>
                          <m:r>
                            <a:rPr lang="vi-VN" sz="600" i="1" dirty="0">
                              <a:solidFill>
                                <a:schemeClr val="tx1"/>
                              </a:solidFill>
                              <a:latin typeface="Cambria Math" panose="02040503050406030204" pitchFamily="18" charset="0"/>
                            </a:rPr>
                            <m:t>𝑅</m:t>
                          </m:r>
                        </m:e>
                        <m:sub>
                          <m:r>
                            <a:rPr lang="vi-VN" sz="600" i="1" dirty="0">
                              <a:solidFill>
                                <a:schemeClr val="tx1"/>
                              </a:solidFill>
                              <a:latin typeface="Cambria Math" panose="02040503050406030204" pitchFamily="18" charset="0"/>
                            </a:rPr>
                            <m:t>𝑦</m:t>
                          </m:r>
                        </m:sub>
                      </m:sSub>
                      <m:r>
                        <a:rPr lang="en-US" sz="600" i="1" dirty="0">
                          <a:solidFill>
                            <a:schemeClr val="tx1"/>
                          </a:solidFill>
                          <a:latin typeface="Cambria Math" panose="02040503050406030204" pitchFamily="18" charset="0"/>
                        </a:rPr>
                        <m:t>(</m:t>
                      </m:r>
                      <m:r>
                        <a:rPr lang="vi-VN" sz="600" i="1" dirty="0">
                          <a:solidFill>
                            <a:schemeClr val="tx1"/>
                          </a:solidFill>
                          <a:latin typeface="Cambria Math" panose="02040503050406030204" pitchFamily="18" charset="0"/>
                        </a:rPr>
                        <m:t>…</m:t>
                      </m:r>
                      <m:r>
                        <a:rPr lang="en-US" sz="600" i="1" dirty="0">
                          <a:solidFill>
                            <a:schemeClr val="tx1"/>
                          </a:solidFill>
                          <a:latin typeface="Cambria Math" panose="02040503050406030204" pitchFamily="18" charset="0"/>
                        </a:rPr>
                        <m:t>)</m:t>
                      </m:r>
                    </m:oMath>
                  </m:oMathPara>
                </a14:m>
                <a:endParaRPr lang="en-CA" sz="600" i="1" dirty="0">
                  <a:solidFill>
                    <a:schemeClr val="tx1"/>
                  </a:solidFill>
                </a:endParaRPr>
              </a:p>
            </p:txBody>
          </p:sp>
        </mc:Choice>
        <mc:Fallback xmlns="">
          <p:sp>
            <p:nvSpPr>
              <p:cNvPr id="65" name="Rectangle 64">
                <a:extLst>
                  <a:ext uri="{FF2B5EF4-FFF2-40B4-BE49-F238E27FC236}">
                    <a16:creationId xmlns:a16="http://schemas.microsoft.com/office/drawing/2014/main" id="{8DCCC7DD-B54F-95CC-70B4-9C6E7E0ADF9B}"/>
                  </a:ext>
                </a:extLst>
              </p:cNvPr>
              <p:cNvSpPr>
                <a:spLocks noRot="1" noChangeAspect="1" noMove="1" noResize="1" noEditPoints="1" noAdjustHandles="1" noChangeArrowheads="1" noChangeShapeType="1" noTextEdit="1"/>
              </p:cNvSpPr>
              <p:nvPr/>
            </p:nvSpPr>
            <p:spPr>
              <a:xfrm>
                <a:off x="7738042" y="1938276"/>
                <a:ext cx="376220" cy="160107"/>
              </a:xfrm>
              <a:prstGeom prst="rect">
                <a:avLst/>
              </a:prstGeom>
              <a:blipFill>
                <a:blip r:embed="rId15"/>
                <a:stretch>
                  <a:fillRect/>
                </a:stretch>
              </a:blipFill>
              <a:ln w="12700">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C2B37294-B5AD-B7C2-D817-E5A7DC45AC12}"/>
                  </a:ext>
                </a:extLst>
              </p:cNvPr>
              <p:cNvSpPr/>
              <p:nvPr/>
            </p:nvSpPr>
            <p:spPr>
              <a:xfrm rot="16200000">
                <a:off x="6981394" y="1661641"/>
                <a:ext cx="648000" cy="180000"/>
              </a:xfrm>
              <a:prstGeom prst="rect">
                <a:avLst/>
              </a:prstGeom>
              <a:solidFill>
                <a:schemeClr val="bg1"/>
              </a:solid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sz="600" i="1" dirty="0">
                              <a:solidFill>
                                <a:schemeClr val="tx1"/>
                              </a:solidFill>
                              <a:latin typeface="Cambria Math" panose="02040503050406030204" pitchFamily="18" charset="0"/>
                            </a:rPr>
                          </m:ctrlPr>
                        </m:sSubPr>
                        <m:e>
                          <m:r>
                            <a:rPr lang="vi-VN" sz="600" i="1" dirty="0">
                              <a:solidFill>
                                <a:schemeClr val="tx1"/>
                              </a:solidFill>
                              <a:latin typeface="Cambria Math" panose="02040503050406030204" pitchFamily="18" charset="0"/>
                            </a:rPr>
                            <m:t>𝑅</m:t>
                          </m:r>
                        </m:e>
                        <m:sub>
                          <m:r>
                            <a:rPr lang="vi-VN" sz="600" i="1" dirty="0">
                              <a:solidFill>
                                <a:schemeClr val="tx1"/>
                              </a:solidFill>
                              <a:latin typeface="Cambria Math" panose="02040503050406030204" pitchFamily="18" charset="0"/>
                            </a:rPr>
                            <m:t>𝑦</m:t>
                          </m:r>
                        </m:sub>
                      </m:sSub>
                      <m:r>
                        <a:rPr lang="en-US" sz="600" i="1" dirty="0">
                          <a:solidFill>
                            <a:schemeClr val="tx1"/>
                          </a:solidFill>
                          <a:latin typeface="Cambria Math" panose="02040503050406030204" pitchFamily="18" charset="0"/>
                        </a:rPr>
                        <m:t>(</m:t>
                      </m:r>
                      <m:r>
                        <a:rPr lang="vi-VN" sz="600" b="1" i="1" dirty="0">
                          <a:solidFill>
                            <a:schemeClr val="tx1"/>
                          </a:solidFill>
                          <a:latin typeface="Cambria Math" panose="02040503050406030204" pitchFamily="18" charset="0"/>
                        </a:rPr>
                        <m:t>𝜽</m:t>
                      </m:r>
                      <m:r>
                        <a:rPr lang="en-US" sz="600" i="1" dirty="0">
                          <a:solidFill>
                            <a:schemeClr val="tx1"/>
                          </a:solidFill>
                          <a:latin typeface="Cambria Math" panose="02040503050406030204" pitchFamily="18" charset="0"/>
                        </a:rPr>
                        <m:t>)</m:t>
                      </m:r>
                    </m:oMath>
                  </m:oMathPara>
                </a14:m>
                <a:endParaRPr lang="en-CA" sz="600" i="1" dirty="0">
                  <a:solidFill>
                    <a:schemeClr val="tx1"/>
                  </a:solidFill>
                </a:endParaRPr>
              </a:p>
            </p:txBody>
          </p:sp>
        </mc:Choice>
        <mc:Fallback xmlns="">
          <p:sp>
            <p:nvSpPr>
              <p:cNvPr id="66" name="Rectangle 65">
                <a:extLst>
                  <a:ext uri="{FF2B5EF4-FFF2-40B4-BE49-F238E27FC236}">
                    <a16:creationId xmlns:a16="http://schemas.microsoft.com/office/drawing/2014/main" id="{C2B37294-B5AD-B7C2-D817-E5A7DC45AC12}"/>
                  </a:ext>
                </a:extLst>
              </p:cNvPr>
              <p:cNvSpPr>
                <a:spLocks noRot="1" noChangeAspect="1" noMove="1" noResize="1" noEditPoints="1" noAdjustHandles="1" noChangeArrowheads="1" noChangeShapeType="1" noTextEdit="1"/>
              </p:cNvSpPr>
              <p:nvPr/>
            </p:nvSpPr>
            <p:spPr>
              <a:xfrm rot="16200000">
                <a:off x="6981394" y="1661641"/>
                <a:ext cx="648000" cy="180000"/>
              </a:xfrm>
              <a:prstGeom prst="rect">
                <a:avLst/>
              </a:prstGeom>
              <a:blipFill>
                <a:blip r:embed="rId16"/>
                <a:stretch>
                  <a:fillRect/>
                </a:stretch>
              </a:blipFill>
              <a:ln w="12700">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FB3AEE20-B9E0-1F24-23D6-E67258DCCFAC}"/>
                  </a:ext>
                </a:extLst>
              </p:cNvPr>
              <p:cNvSpPr txBox="1"/>
              <p:nvPr/>
            </p:nvSpPr>
            <p:spPr>
              <a:xfrm>
                <a:off x="7901652" y="1756134"/>
                <a:ext cx="68930"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VN" sz="1000" i="1">
                          <a:latin typeface="Cambria Math" panose="02040503050406030204" pitchFamily="18" charset="0"/>
                          <a:ea typeface="Cambria Math" panose="02040503050406030204" pitchFamily="18" charset="0"/>
                        </a:rPr>
                        <m:t>⋮</m:t>
                      </m:r>
                    </m:oMath>
                  </m:oMathPara>
                </a14:m>
                <a:endParaRPr lang="en-VN" sz="1000"/>
              </a:p>
            </p:txBody>
          </p:sp>
        </mc:Choice>
        <mc:Fallback xmlns="">
          <p:sp>
            <p:nvSpPr>
              <p:cNvPr id="67" name="TextBox 66">
                <a:extLst>
                  <a:ext uri="{FF2B5EF4-FFF2-40B4-BE49-F238E27FC236}">
                    <a16:creationId xmlns:a16="http://schemas.microsoft.com/office/drawing/2014/main" id="{FB3AEE20-B9E0-1F24-23D6-E67258DCCFAC}"/>
                  </a:ext>
                </a:extLst>
              </p:cNvPr>
              <p:cNvSpPr txBox="1">
                <a:spLocks noRot="1" noChangeAspect="1" noMove="1" noResize="1" noEditPoints="1" noAdjustHandles="1" noChangeArrowheads="1" noChangeShapeType="1" noTextEdit="1"/>
              </p:cNvSpPr>
              <p:nvPr/>
            </p:nvSpPr>
            <p:spPr>
              <a:xfrm>
                <a:off x="7901652" y="1756134"/>
                <a:ext cx="68930" cy="153888"/>
              </a:xfrm>
              <a:prstGeom prst="rect">
                <a:avLst/>
              </a:prstGeom>
              <a:blipFill>
                <a:blip r:embed="rId17"/>
                <a:stretch>
                  <a:fillRect l="-33333" r="-3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3CBEE11F-9E19-5D0D-49EB-026D6DEAC673}"/>
                  </a:ext>
                </a:extLst>
              </p:cNvPr>
              <p:cNvSpPr txBox="1"/>
              <p:nvPr/>
            </p:nvSpPr>
            <p:spPr>
              <a:xfrm>
                <a:off x="7509812" y="1670399"/>
                <a:ext cx="166484" cy="15388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vi-VN" sz="1000" b="0" i="1">
                          <a:latin typeface="Cambria Math" panose="02040503050406030204" pitchFamily="18" charset="0"/>
                        </a:rPr>
                        <m:t>≡</m:t>
                      </m:r>
                    </m:oMath>
                  </m:oMathPara>
                </a14:m>
                <a:endParaRPr lang="en-VN" sz="1000"/>
              </a:p>
            </p:txBody>
          </p:sp>
        </mc:Choice>
        <mc:Fallback xmlns="">
          <p:sp>
            <p:nvSpPr>
              <p:cNvPr id="68" name="TextBox 67">
                <a:extLst>
                  <a:ext uri="{FF2B5EF4-FFF2-40B4-BE49-F238E27FC236}">
                    <a16:creationId xmlns:a16="http://schemas.microsoft.com/office/drawing/2014/main" id="{3CBEE11F-9E19-5D0D-49EB-026D6DEAC673}"/>
                  </a:ext>
                </a:extLst>
              </p:cNvPr>
              <p:cNvSpPr txBox="1">
                <a:spLocks noRot="1" noChangeAspect="1" noMove="1" noResize="1" noEditPoints="1" noAdjustHandles="1" noChangeArrowheads="1" noChangeShapeType="1" noTextEdit="1"/>
              </p:cNvSpPr>
              <p:nvPr/>
            </p:nvSpPr>
            <p:spPr>
              <a:xfrm>
                <a:off x="7509812" y="1670399"/>
                <a:ext cx="166484" cy="153888"/>
              </a:xfrm>
              <a:prstGeom prst="rect">
                <a:avLst/>
              </a:prstGeom>
              <a:blipFill>
                <a:blip r:embed="rId18"/>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B7331F9F-8F8A-F7DB-E117-B928D7BAB4A3}"/>
                  </a:ext>
                </a:extLst>
              </p:cNvPr>
              <p:cNvSpPr txBox="1"/>
              <p:nvPr/>
            </p:nvSpPr>
            <p:spPr>
              <a:xfrm>
                <a:off x="7734770" y="1561731"/>
                <a:ext cx="379492" cy="19204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vi-VN" sz="600" i="1" dirty="0">
                              <a:latin typeface="Cambria Math" panose="02040503050406030204" pitchFamily="18" charset="0"/>
                            </a:rPr>
                          </m:ctrlPr>
                        </m:sSubPr>
                        <m:e>
                          <m:r>
                            <a:rPr lang="vi-VN" sz="600" i="1" dirty="0">
                              <a:latin typeface="Cambria Math" panose="02040503050406030204" pitchFamily="18" charset="0"/>
                            </a:rPr>
                            <m:t>𝑅</m:t>
                          </m:r>
                        </m:e>
                        <m:sub>
                          <m:r>
                            <a:rPr lang="vi-VN" sz="600" i="1" dirty="0">
                              <a:latin typeface="Cambria Math" panose="02040503050406030204" pitchFamily="18" charset="0"/>
                            </a:rPr>
                            <m:t>𝑦</m:t>
                          </m:r>
                        </m:sub>
                      </m:sSub>
                      <m:r>
                        <a:rPr lang="en-US" sz="600" i="1" dirty="0">
                          <a:latin typeface="Cambria Math" panose="02040503050406030204" pitchFamily="18" charset="0"/>
                        </a:rPr>
                        <m:t>(</m:t>
                      </m:r>
                      <m:r>
                        <a:rPr lang="vi-VN" sz="600" i="1" dirty="0">
                          <a:latin typeface="Cambria Math" panose="02040503050406030204" pitchFamily="18" charset="0"/>
                        </a:rPr>
                        <m:t>…</m:t>
                      </m:r>
                      <m:r>
                        <a:rPr lang="en-US" sz="600" i="1" dirty="0">
                          <a:latin typeface="Cambria Math" panose="02040503050406030204" pitchFamily="18" charset="0"/>
                        </a:rPr>
                        <m:t>)</m:t>
                      </m:r>
                    </m:oMath>
                  </m:oMathPara>
                </a14:m>
                <a:endParaRPr lang="en-CA" sz="600" i="1" dirty="0"/>
              </a:p>
            </p:txBody>
          </p:sp>
        </mc:Choice>
        <mc:Fallback xmlns="">
          <p:sp>
            <p:nvSpPr>
              <p:cNvPr id="69" name="TextBox 68">
                <a:extLst>
                  <a:ext uri="{FF2B5EF4-FFF2-40B4-BE49-F238E27FC236}">
                    <a16:creationId xmlns:a16="http://schemas.microsoft.com/office/drawing/2014/main" id="{B7331F9F-8F8A-F7DB-E117-B928D7BAB4A3}"/>
                  </a:ext>
                </a:extLst>
              </p:cNvPr>
              <p:cNvSpPr txBox="1">
                <a:spLocks noRot="1" noChangeAspect="1" noMove="1" noResize="1" noEditPoints="1" noAdjustHandles="1" noChangeArrowheads="1" noChangeShapeType="1" noTextEdit="1"/>
              </p:cNvSpPr>
              <p:nvPr/>
            </p:nvSpPr>
            <p:spPr>
              <a:xfrm>
                <a:off x="7734770" y="1561731"/>
                <a:ext cx="379492" cy="192040"/>
              </a:xfrm>
              <a:prstGeom prst="rect">
                <a:avLst/>
              </a:prstGeom>
              <a:blipFill>
                <a:blip r:embed="rId19"/>
                <a:stretch>
                  <a:fillRect/>
                </a:stretch>
              </a:blipFill>
            </p:spPr>
            <p:txBody>
              <a:bodyPr/>
              <a:lstStyle/>
              <a:p>
                <a:r>
                  <a:rPr lang="en-VN">
                    <a:noFill/>
                  </a:rPr>
                  <a:t> </a:t>
                </a:r>
              </a:p>
            </p:txBody>
          </p:sp>
        </mc:Fallback>
      </mc:AlternateContent>
    </p:spTree>
    <p:extLst>
      <p:ext uri="{BB962C8B-B14F-4D97-AF65-F5344CB8AC3E}">
        <p14:creationId xmlns:p14="http://schemas.microsoft.com/office/powerpoint/2010/main" val="472191146"/>
      </p:ext>
    </p:extLst>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13577</TotalTime>
  <Words>3522</Words>
  <Application>Microsoft Macintosh PowerPoint</Application>
  <PresentationFormat>Widescreen</PresentationFormat>
  <Paragraphs>698</Paragraphs>
  <Slides>39</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39</vt:i4>
      </vt:variant>
    </vt:vector>
  </HeadingPairs>
  <TitlesOfParts>
    <vt:vector size="51" baseType="lpstr">
      <vt:lpstr>__Roboto_22ceb1</vt:lpstr>
      <vt:lpstr>-apple-system</vt:lpstr>
      <vt:lpstr>Arial</vt:lpstr>
      <vt:lpstr>Calibri</vt:lpstr>
      <vt:lpstr>Calibri (Body)</vt:lpstr>
      <vt:lpstr>Calibri (Thân)</vt:lpstr>
      <vt:lpstr>Cambria Math</vt:lpstr>
      <vt:lpstr>Menlo</vt:lpstr>
      <vt:lpstr>Quicksand</vt:lpstr>
      <vt:lpstr>Times New Roman</vt:lpstr>
      <vt:lpstr>Verdana</vt:lpstr>
      <vt:lpstr>Chủ đề Office</vt:lpstr>
      <vt:lpstr>PowerPoint Presentation</vt:lpstr>
      <vt:lpstr>PowerPoint Presentation</vt:lpstr>
      <vt:lpstr>Basic quantum computing</vt:lpstr>
      <vt:lpstr>Overview</vt:lpstr>
      <vt:lpstr>Notation</vt:lpstr>
      <vt:lpstr>Single qubit gate</vt:lpstr>
      <vt:lpstr>Single qubit gate: phase gate</vt:lpstr>
      <vt:lpstr>Single qubit gate: parameterized gate </vt:lpstr>
      <vt:lpstr>Single qubit gate: universal (U) gate</vt:lpstr>
      <vt:lpstr>Multi-qubit gate: control-NOT (CX) gate</vt:lpstr>
      <vt:lpstr>Basis</vt:lpstr>
      <vt:lpstr>Quantum circuit: single qubit</vt:lpstr>
      <vt:lpstr>Quantum circuit: multi-qubit</vt:lpstr>
      <vt:lpstr>Arbitary gate / circuit</vt:lpstr>
      <vt:lpstr>Arbitary gate / circuit</vt:lpstr>
      <vt:lpstr>Equivalent gate / circuit</vt:lpstr>
      <vt:lpstr>Parameterized quantum circuit (PQC)</vt:lpstr>
      <vt:lpstr>Measurement</vt:lpstr>
      <vt:lpstr>Measurement</vt:lpstr>
      <vt:lpstr>Measurement</vt:lpstr>
      <vt:lpstr>Measurement: global phase</vt:lpstr>
      <vt:lpstr>Measurement commutes with controls*</vt:lpstr>
      <vt:lpstr>Measuring an operator</vt:lpstr>
      <vt:lpstr>Seperable states</vt:lpstr>
      <vt:lpstr>Entangled states</vt:lpstr>
      <vt:lpstr>Entangled states: GHZ and W</vt:lpstr>
      <vt:lpstr>Entangled states: GHZ and W</vt:lpstr>
      <vt:lpstr>Gradient and optimizer</vt:lpstr>
      <vt:lpstr>Gradient</vt:lpstr>
      <vt:lpstr>Gradient Parameter-shift rule</vt:lpstr>
      <vt:lpstr>Encoding Quantum state preparation*</vt:lpstr>
      <vt:lpstr>PowerPoint Presentation</vt:lpstr>
      <vt:lpstr>Encoding Time-evolution Unitary approximation</vt:lpstr>
      <vt:lpstr>Encoding Time-evolution Unitary approximation*</vt:lpstr>
      <vt:lpstr>Quantum embedding (embedding x into U)</vt:lpstr>
      <vt:lpstr>Quantum optimization</vt:lpstr>
      <vt:lpstr>Notation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computing</dc:title>
  <dc:creator>Tuan Hai</dc:creator>
  <cp:lastModifiedBy>Vũ Tuấn Hải</cp:lastModifiedBy>
  <cp:revision>107</cp:revision>
  <dcterms:created xsi:type="dcterms:W3CDTF">2021-10-22T13:04:24Z</dcterms:created>
  <dcterms:modified xsi:type="dcterms:W3CDTF">2026-09-23T06:09:43Z</dcterms:modified>
</cp:coreProperties>
</file>