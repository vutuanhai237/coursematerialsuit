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325" r:id="rId2"/>
    <p:sldId id="257" r:id="rId3"/>
    <p:sldId id="256" r:id="rId4"/>
    <p:sldId id="324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32" autoAdjust="0"/>
    <p:restoredTop sz="78060" autoAdjust="0"/>
  </p:normalViewPr>
  <p:slideViewPr>
    <p:cSldViewPr snapToGrid="0">
      <p:cViewPr varScale="1">
        <p:scale>
          <a:sx n="58" d="100"/>
          <a:sy n="58" d="100"/>
        </p:scale>
        <p:origin x="942" y="36"/>
      </p:cViewPr>
      <p:guideLst/>
    </p:cSldViewPr>
  </p:slideViewPr>
  <p:outlineViewPr>
    <p:cViewPr>
      <p:scale>
        <a:sx n="33" d="100"/>
        <a:sy n="33" d="100"/>
      </p:scale>
      <p:origin x="0" y="-5565"/>
    </p:cViewPr>
  </p:outlineViewPr>
  <p:notesTextViewPr>
    <p:cViewPr>
      <p:scale>
        <a:sx n="1" d="1"/>
        <a:sy n="1" d="1"/>
      </p:scale>
      <p:origin x="0" y="-36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Counts, 1000 shots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00</c:v>
                </c:pt>
                <c:pt idx="1">
                  <c:v>01</c:v>
                </c:pt>
                <c:pt idx="2">
                  <c:v>10</c:v>
                </c:pt>
                <c:pt idx="3">
                  <c:v>11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652</c:v>
                </c:pt>
                <c:pt idx="1">
                  <c:v>233</c:v>
                </c:pt>
                <c:pt idx="2">
                  <c:v>89</c:v>
                </c:pt>
                <c:pt idx="3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58-413F-AA64-DAF22BF290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1"/>
  <c:style val="2"/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Qmes · regression (86)</c:v>
                </c:pt>
                <c:pt idx="1">
                  <c:v>Qmes · classification (105)</c:v>
                </c:pt>
                <c:pt idx="2">
                  <c:v>Paper 1 (200)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</c:v>
                </c:pt>
                <c:pt idx="1">
                  <c:v>48</c:v>
                </c:pt>
                <c:pt idx="2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A0-4511-9042-37A122AB15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Synthetic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Qmes · regression (86)</c:v>
                </c:pt>
                <c:pt idx="1">
                  <c:v>Qmes · classification (105)</c:v>
                </c:pt>
                <c:pt idx="2">
                  <c:v>Paper 1 (200)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63</c:v>
                </c:pt>
                <c:pt idx="1">
                  <c:v>57</c:v>
                </c:pt>
                <c:pt idx="2">
                  <c:v>174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A0-4511-9042-37A122AB15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Classification: score lost on average (lower = better)</c:v>
                </c:pt>
              </c:strCache>
            </c:strRef>
          </c:tx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all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1.7999999999999999E-2</c:v>
                </c:pt>
                <c:pt idx="1">
                  <c:v>1.6E-2</c:v>
                </c:pt>
                <c:pt idx="2">
                  <c:v>4.3999999999999997E-2</c:v>
                </c:pt>
                <c:pt idx="3">
                  <c:v>3.5999999999999997E-2</c:v>
                </c:pt>
                <c:pt idx="4">
                  <c:v>2.1999999999999999E-2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CF-4A79-B789-42F7A16685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Regression: score lost on average (lower = better)</c:v>
                </c:pt>
              </c:strCache>
            </c:strRef>
          </c:tx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</c:v>
                </c:pt>
                <c:pt idx="1">
                  <c:v>8</c:v>
                </c:pt>
                <c:pt idx="2">
                  <c:v>10</c:v>
                </c:pt>
                <c:pt idx="3">
                  <c:v>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3.7999999999999999E-2</c:v>
                </c:pt>
                <c:pt idx="1">
                  <c:v>1.7000000000000001E-2</c:v>
                </c:pt>
                <c:pt idx="2">
                  <c:v>1.4999999999999999E-2</c:v>
                </c:pt>
                <c:pt idx="3">
                  <c:v>6.4000000000000001E-2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7C-4D73-8B38-6D19F5C3E9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1"/>
  <c:style val="2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Naive</c:v>
                </c:pt>
              </c:strCache>
            </c:strRef>
          </c:tx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Classification</c:v>
                </c:pt>
                <c:pt idx="1">
                  <c:v>Regression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3.6999999999999998E-2</c:v>
                </c:pt>
                <c:pt idx="1">
                  <c:v>6.3E-2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AD-4B8D-8871-5DB9339AAE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Qmes</c:v>
                </c:pt>
              </c:strCache>
            </c:strRef>
          </c:tx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Classification</c:v>
                </c:pt>
                <c:pt idx="1">
                  <c:v>Regression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1.7000000000000001E-2</c:v>
                </c:pt>
                <c:pt idx="1">
                  <c:v>1.4999999999999999E-2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AD-4B8D-8871-5DB9339AAE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09A924-7DAE-452C-A66B-5495D88B70E2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454B55-B82F-44E2-B63A-387E8FC7DF4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86366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BE70D0D-3F62-D714-A1C3-3F1805FA5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FAC185A8-5A0B-5555-BCC9-8CF6B201F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76875892-5D6C-6ACD-11AF-D4A7121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2C40-503B-4C7B-817C-0C3801A38095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EE8D22F-F04B-9F27-9C41-035D3E989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DD6DF72-989F-1FAB-2F24-DB2E0B3D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8736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24F4F78-CFC2-DF75-CB07-59A0A38B6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6AED51A-D290-0657-3BE3-81D18BD8E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55A09FD3-FC7C-9FA7-8DDC-AE8727677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2C40-503B-4C7B-817C-0C3801A38095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F9C5289-3C5C-F125-9300-B3CBB1871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76570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E448F66-41E8-F7F5-6AB6-0A28B4686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729A355-1513-FEC4-C8A4-6A831D65F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654D9E3-3046-DFE0-208E-A98C1222C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2C40-503B-4C7B-817C-0C3801A38095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0CE1A3EA-856C-3E41-52D6-60CD3728F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E60A9D22-2479-F785-8559-D08640E94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6135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58AA84C-9372-DBCC-36C6-6FC7E5EC4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D6155D3-FB47-29B9-65D6-C8C981D237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B660C58-8D6E-F971-0AC6-0F4C27227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796706F-0B09-342A-2646-2407421E5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2C40-503B-4C7B-817C-0C3801A38095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A474454C-148E-A96F-BE88-0BF39DDB5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442D324D-3F30-C3F6-3E5C-B03F1A2F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8565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9CB155A-0AC3-F40A-3202-95E45EB1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ECD935F-2510-F0CA-04FD-772CADEF2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38187D96-2DAC-0527-4D39-FCD7CD796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EF723C5A-D13E-14F6-7ECC-0E6463D42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5D38C81A-9B87-104E-3A7D-3BD13DB837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F8C86AC0-7E70-C6FD-5F2A-CB530CB18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2C40-503B-4C7B-817C-0C3801A38095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A6DD3283-2742-186D-DAF3-1CC0F8259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2BFD1BE4-6606-5376-89B0-058E27474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6284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EE75009-0EB6-CCA9-F34B-DAC34ECDB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D7F182A4-E927-FC69-472E-563F26993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2C40-503B-4C7B-817C-0C3801A38095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B51760B-34AE-B70F-AE5D-17541DEA7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552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8880F115-AC33-B56C-F857-6AFCBE3B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2C40-503B-4C7B-817C-0C3801A38095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B6ECB58B-E280-AA05-D2DE-806F34830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BE22E8F-0FE5-9906-6BFD-89BB8E5DC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9471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0EE7496-B7D9-DAD9-DDE4-EE53E3BA3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CA45DCB-896C-A9BC-859C-A67D98D46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2373BEF8-00D8-2547-3AE6-68C1DDC42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9E4C313B-FB7A-B31F-6CFF-51ED2EF90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2C40-503B-4C7B-817C-0C3801A38095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E059BDC-9B09-9A51-05E4-BE6111C4A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6368CED9-FAEA-C9EB-D235-FD6B75419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95146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6D73730-7CBD-9FD3-4FD6-A4726AAF3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44A185EA-011D-F3BD-DABE-B87CAB16A34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A81B192E-362B-0DD8-13D6-93A139C18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DB16125B-284B-D772-8C3B-679134E1B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2C40-503B-4C7B-817C-0C3801A38095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ABEC712E-66DC-BB4E-D5CE-87D50BE8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A470ED4-4EAD-1CD1-20DB-9B3976F4F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92436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4F157BA-8E0E-1386-F232-E0B557DDE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F9CC7E6-B0D6-052B-019D-67AFCC5FE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72067C4F-B57C-84A1-08DA-F67C199EA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2C40-503B-4C7B-817C-0C3801A38095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0876670-9F92-492D-C280-A18D5C21B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791BD81-DF29-334F-A035-C367660F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66281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63AD725E-6784-8DA1-10C0-CAFAB0782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1C935445-26F7-86F5-7C71-7E11863B11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10A2787A-40BD-B125-A693-971D0B76F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52C40-503B-4C7B-817C-0C3801A38095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065C0ED-49EC-D4D8-BC8D-F323D626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0195BE3-D763-02C8-9173-3A354BB3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24764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E2B8B079-B021-3535-D645-0D97FED8A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AA48BB47-3A27-FC4C-40A9-1C0F684EB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46AC881-D583-4C3F-E453-BC90FF5AB1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252C40-503B-4C7B-817C-0C3801A38095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CAA201E-D5BE-7001-ECF5-57B47F31F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631AF8A-F2FB-3A64-E1BE-659E0507C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05458A-35DC-428B-AF0A-2F7B4F6B2F1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386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chart" Target="../charts/char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image7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gif"/><Relationship Id="rId3" Type="http://schemas.openxmlformats.org/officeDocument/2006/relationships/image" Target="../media/image9.gif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chart" Target="../charts/char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chart" Target="../charts/chart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4684D-7995-7CFE-773F-7ECC30135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2328-AC95-5887-C550-AA9C7161B0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 err="1"/>
              <a:t>Topic</a:t>
            </a:r>
            <a:r>
              <a:rPr lang="vi-VN" dirty="0"/>
              <a:t>: </a:t>
            </a:r>
            <a:r>
              <a:rPr lang="vi-VN" dirty="0" err="1"/>
              <a:t>Software</a:t>
            </a:r>
            <a:r>
              <a:rPr lang="vi-VN" dirty="0"/>
              <a:t> </a:t>
            </a:r>
            <a:r>
              <a:rPr lang="vi-VN" dirty="0" err="1"/>
              <a:t>packages</a:t>
            </a:r>
            <a:r>
              <a:rPr lang="vi-VN" dirty="0"/>
              <a:t> </a:t>
            </a:r>
            <a:r>
              <a:rPr lang="vi-VN" dirty="0" err="1"/>
              <a:t>for</a:t>
            </a:r>
            <a:r>
              <a:rPr lang="vi-VN" dirty="0"/>
              <a:t> </a:t>
            </a:r>
            <a:r>
              <a:rPr lang="vi-VN" dirty="0" err="1"/>
              <a:t>quantum</a:t>
            </a:r>
            <a:r>
              <a:rPr lang="vi-VN" dirty="0"/>
              <a:t> </a:t>
            </a:r>
            <a:r>
              <a:rPr lang="vi-VN" dirty="0" err="1"/>
              <a:t>computing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3341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What</a:t>
            </a:r>
            <a:r>
              <a:rPr lang="vi-VN" dirty="0"/>
              <a:t> </a:t>
            </a:r>
            <a:r>
              <a:rPr lang="vi-VN" dirty="0" err="1"/>
              <a:t>we</a:t>
            </a:r>
            <a:r>
              <a:rPr lang="vi-VN" dirty="0"/>
              <a:t> </a:t>
            </a:r>
            <a:r>
              <a:rPr lang="vi-VN" dirty="0" err="1"/>
              <a:t>will</a:t>
            </a:r>
            <a:r>
              <a:rPr lang="vi-VN" dirty="0"/>
              <a:t> </a:t>
            </a:r>
            <a:r>
              <a:rPr lang="vi-VN" dirty="0" err="1"/>
              <a:t>cover</a:t>
            </a:r>
            <a:r>
              <a:rPr lang="vi-VN" dirty="0"/>
              <a:t>?</a:t>
            </a:r>
            <a:endParaRPr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2</a:t>
            </a:fld>
            <a:endParaRPr lang="vi-VN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21421"/>
              </p:ext>
            </p:extLst>
          </p:nvPr>
        </p:nvGraphicFramePr>
        <p:xfrm>
          <a:off x="841248" y="1737360"/>
          <a:ext cx="10515600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Lesson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Topics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800" dirty="0"/>
                        <a:t>Stage 1: Understand QML</a:t>
                      </a:r>
                      <a:r>
                        <a:rPr lang="vi-VN" sz="1800" dirty="0"/>
                        <a:t> -</a:t>
                      </a:r>
                      <a:endParaRPr sz="1800" dirty="0"/>
                    </a:p>
                    <a:p>
                      <a:r>
                        <a:rPr sz="1800" dirty="0"/>
                        <a:t>concepts, applications, two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  What is QML? (today)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Taxonomy · Research goals ·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2  Quantum kernel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QKM </a:t>
                      </a:r>
                      <a:r>
                        <a:rPr lang="vi-VN" sz="1800" dirty="0"/>
                        <a:t>/</a:t>
                      </a:r>
                      <a:r>
                        <a:rPr sz="1800" dirty="0"/>
                        <a:t> SVM + RBF kernel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3  Quantum neural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QNN </a:t>
                      </a:r>
                      <a:r>
                        <a:rPr lang="vi-VN" sz="1800" dirty="0"/>
                        <a:t>/</a:t>
                      </a:r>
                      <a:r>
                        <a:rPr sz="1800" dirty="0"/>
                        <a:t> Neural networks · Wrap-up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800" dirty="0"/>
                        <a:t>Stage 2: Idea to software</a:t>
                      </a:r>
                      <a:r>
                        <a:rPr lang="vi-VN" sz="1800" dirty="0"/>
                        <a:t> - </a:t>
                      </a:r>
                      <a:endParaRPr sz="1800" dirty="0"/>
                    </a:p>
                    <a:p>
                      <a:r>
                        <a:rPr sz="1800" dirty="0"/>
                        <a:t>research question → paper →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4  From idea to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Research question </a:t>
                      </a:r>
                      <a:r>
                        <a:rPr lang="vi-VN" sz="1800" dirty="0"/>
                        <a:t>-</a:t>
                      </a:r>
                      <a:r>
                        <a:rPr sz="1800" dirty="0"/>
                        <a:t> First paper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5  From paper to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 err="1"/>
                        <a:t>Qmes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What is QML, and what tools do we use?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Lesson 1 · Quantum machine learning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dirty="0"/>
              <a:t>What is QML</a:t>
            </a:r>
          </a:p>
          <a:p>
            <a:pPr marL="457200" indent="-457200">
              <a:buAutoNum type="arabicPeriod"/>
            </a:pPr>
            <a:r>
              <a:rPr dirty="0"/>
              <a:t>Taxonomy</a:t>
            </a:r>
          </a:p>
          <a:p>
            <a:pPr marL="457200" indent="-457200">
              <a:buAutoNum type="arabicPeriod"/>
            </a:pPr>
            <a:r>
              <a:rPr dirty="0"/>
              <a:t>Research goals</a:t>
            </a:r>
          </a:p>
          <a:p>
            <a:pPr marL="457200" indent="-457200">
              <a:buAutoNum type="arabicPeriod"/>
            </a:pPr>
            <a:r>
              <a:rPr dirty="0"/>
              <a:t>Tools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4</a:t>
            </a:fld>
            <a:endParaRPr lang="vi-V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Machine learning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dirty="0"/>
              <a:t>What ML does: learn patterns from data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Instead of hand-written rules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Images, speech, spam, finance</a:t>
            </a:r>
          </a:p>
          <a:p>
            <a:r>
              <a:rPr sz="2200" dirty="0"/>
              <a:t>What powers it: CPU → GPU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The engine of AI and big data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Data and compute keep growing</a:t>
            </a:r>
          </a:p>
          <a:p>
            <a:r>
              <a:rPr sz="2200" dirty="0"/>
              <a:t>Where it is heading: bigger models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Rising training cost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Moore's law slowing down?</a:t>
            </a:r>
          </a:p>
          <a:p>
            <a:r>
              <a:rPr sz="2200" dirty="0"/>
              <a:t>Meanwhile, in physics: quantum computers, born for a different reason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5</a:t>
            </a:fld>
            <a:endParaRPr lang="vi-V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Quantum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dirty="0"/>
              <a:t>Built to simulate physics, not to do machine learning</a:t>
            </a:r>
          </a:p>
          <a:p>
            <a:r>
              <a:rPr sz="2200" dirty="0"/>
              <a:t>Early 1980s · Feynman's idea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Simulate quantum systems with quantum systems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>
                <a:latin typeface="Cambria Math"/>
              </a:rPr>
              <a:t>𝑁</a:t>
            </a:r>
            <a:r>
              <a:rPr sz="1800" dirty="0"/>
              <a:t> qubits need </a:t>
            </a:r>
            <a:r>
              <a:rPr sz="1800" dirty="0">
                <a:latin typeface="Cambria Math"/>
              </a:rPr>
              <a:t>2</a:t>
            </a:r>
            <a:r>
              <a:rPr sz="1800" baseline="30000" dirty="0">
                <a:latin typeface="Cambria Math"/>
              </a:rPr>
              <a:t>𝑁</a:t>
            </a:r>
            <a:r>
              <a:rPr sz="1800" dirty="0"/>
              <a:t> numbers on a classical computer</a:t>
            </a:r>
          </a:p>
          <a:p>
            <a:r>
              <a:rPr sz="2200" dirty="0"/>
              <a:t>1990s · Beyond simulation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Shor: factoring in polynomial time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Grover: quadratic speedup for unstructured search</a:t>
            </a:r>
          </a:p>
          <a:p>
            <a:r>
              <a:rPr sz="2200" dirty="0"/>
              <a:t>2019 → · Hardware today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Quantum supremacy on one chosen task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Tens to hundreds of qubits, still noisy</a:t>
            </a:r>
          </a:p>
          <a:p>
            <a:r>
              <a:rPr sz="2200" dirty="0"/>
              <a:t>Note: the most famous result, factoring, has nothing to do with AI at first sight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6</a:t>
            </a:fld>
            <a:endParaRPr lang="vi-V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Quantum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dirty="0"/>
              <a:t>Machine learning + quantum computing → Q</a:t>
            </a:r>
            <a:r>
              <a:rPr lang="vi-VN" sz="2200" dirty="0" err="1"/>
              <a:t>uantum</a:t>
            </a:r>
            <a:r>
              <a:rPr lang="vi-VN" sz="2200" dirty="0"/>
              <a:t> </a:t>
            </a:r>
            <a:r>
              <a:rPr lang="vi-VN" sz="2200" dirty="0" err="1"/>
              <a:t>machine</a:t>
            </a:r>
            <a:r>
              <a:rPr lang="vi-VN" sz="2200" dirty="0"/>
              <a:t> </a:t>
            </a:r>
            <a:r>
              <a:rPr lang="vi-VN" sz="2200" dirty="0" err="1"/>
              <a:t>learning</a:t>
            </a:r>
            <a:r>
              <a:rPr lang="vi-VN" sz="2200" dirty="0"/>
              <a:t> (QML)</a:t>
            </a:r>
            <a:endParaRPr sz="2200" dirty="0"/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Common ground: linear algebra (vectors, matrices, Hilbert space)</a:t>
            </a:r>
          </a:p>
          <a:p>
            <a:r>
              <a:rPr sz="2200" dirty="0"/>
              <a:t>Era 1 · fault-tolerant algorithms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HHL, quantum PCA, quantum SVM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Needs error-corrected hardware</a:t>
            </a:r>
          </a:p>
          <a:p>
            <a:r>
              <a:rPr sz="2200" dirty="0"/>
              <a:t>Era 2 · from ~2018: models for noisy devices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Quantum kernels, quantum neural networks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Lessons 2–3</a:t>
            </a:r>
          </a:p>
          <a:p>
            <a:r>
              <a:rPr sz="2200" dirty="0"/>
              <a:t>QML: running a learning algorithm on a quantum computer for a specific task, hoping for an advantage over classical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7</a:t>
            </a:fld>
            <a:endParaRPr lang="vi-V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QML </a:t>
            </a:r>
            <a:r>
              <a:rPr lang="vi-VN" dirty="0" err="1"/>
              <a:t>taxonomy</a:t>
            </a:r>
            <a:r>
              <a:rPr lang="vi-VN" dirty="0"/>
              <a:t>?</a:t>
            </a:r>
            <a:endParaRPr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8</a:t>
            </a:fld>
            <a:endParaRPr lang="vi-VN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234706"/>
              </p:ext>
            </p:extLst>
          </p:nvPr>
        </p:nvGraphicFramePr>
        <p:xfrm>
          <a:off x="841248" y="173736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Classical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Quantum algorithm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Classical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Classical ML</a:t>
                      </a:r>
                    </a:p>
                    <a:p>
                      <a:r>
                        <a:rPr sz="1800" dirty="0"/>
                        <a:t>Images, speech, spam, finance</a:t>
                      </a:r>
                    </a:p>
                    <a:p>
                      <a:r>
                        <a:rPr sz="1800" dirty="0"/>
                        <a:t>In daily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0000"/>
                          </a:solidFill>
                        </a:rPr>
                        <a:t>Quantum models on classical data (this course)</a:t>
                      </a:r>
                    </a:p>
                    <a:p>
                      <a:r>
                        <a:rPr sz="1800" dirty="0"/>
                        <a:t>Classification, clustering, recommendation, finance</a:t>
                      </a:r>
                    </a:p>
                    <a:p>
                      <a:r>
                        <a:rPr sz="1800" dirty="0"/>
                        <a:t>Small trials, no known advantage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Quantum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ML for quantum experiments</a:t>
                      </a:r>
                    </a:p>
                    <a:p>
                      <a:r>
                        <a:rPr sz="1800" dirty="0"/>
                        <a:t>Phases of matter, state reconstruction, ground states</a:t>
                      </a:r>
                    </a:p>
                    <a:p>
                      <a:r>
                        <a:rPr sz="1800" dirty="0"/>
                        <a:t>Applied in physics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Quantum processing of quantum data</a:t>
                      </a:r>
                    </a:p>
                    <a:p>
                      <a:r>
                        <a:rPr sz="1800" dirty="0"/>
                        <a:t>Learning directly from quantum experiments</a:t>
                      </a:r>
                    </a:p>
                    <a:p>
                      <a:r>
                        <a:rPr sz="1800" dirty="0"/>
                        <a:t>Proof of principle, up to 40 qubits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Two research goals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· Quantum advantage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/>
              <a:t>Can quantum do what classical cannot?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Now, briefly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 · Quantum learning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/>
              <a:t>How do QML models work?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Lessons 2–3, in </a:t>
            </a:r>
            <a:r>
              <a:rPr lang="vi-VN" dirty="0" err="1"/>
              <a:t>detail</a:t>
            </a:r>
            <a:endParaRPr dirty="0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2BFD1BE4-6606-5376-89B0-058E27474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9</a:t>
            </a:fld>
            <a:endParaRPr lang="vi-V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Goal A: quantum advantage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10</a:t>
            </a:fld>
            <a:endParaRPr lang="vi-VN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981098"/>
              </p:ext>
            </p:extLst>
          </p:nvPr>
        </p:nvGraphicFramePr>
        <p:xfrm>
          <a:off x="841248" y="173736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600"/>
                        <a:t>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/>
                        <a:t>Promise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/>
                        <a:t>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600"/>
                        <a:t>Runtime speedup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Linear systems, PCA, SVM in ~log N instead of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Sparse, well-conditioned data; error correction; data loading; only one number 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600"/>
                        <a:t>Classical hardness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Quantum kernels that classical computers cannot 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Proven only on purpose-built problems; error correction; not yet for images or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600"/>
                        <a:t>Quantum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Exponentially fewer experiments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Quantum memory; proof of principle so far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600"/>
                        <a:t>Counter-argument: dequantization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Classical algorithm, same data access, nearly as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The exponential gap disappears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557784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dirty="0">
                <a:sym typeface="Wingdings" panose="05000000000000000000" pitchFamily="2" charset="2"/>
              </a:rPr>
              <a:t> </a:t>
            </a:r>
            <a:r>
              <a:rPr lang="vi-VN" sz="2000" dirty="0" err="1"/>
              <a:t>It</a:t>
            </a:r>
            <a:r>
              <a:rPr lang="vi-VN" sz="2000" dirty="0"/>
              <a:t> </a:t>
            </a:r>
            <a:r>
              <a:rPr lang="vi-VN" sz="2000" dirty="0" err="1"/>
              <a:t>always</a:t>
            </a:r>
            <a:r>
              <a:rPr lang="vi-VN" sz="2000" dirty="0"/>
              <a:t> </a:t>
            </a:r>
            <a:r>
              <a:rPr lang="vi-VN" sz="2000" dirty="0" err="1"/>
              <a:t>depends</a:t>
            </a:r>
            <a:r>
              <a:rPr lang="vi-VN" sz="2000" dirty="0"/>
              <a:t> </a:t>
            </a:r>
            <a:r>
              <a:rPr lang="vi-VN" sz="2000" dirty="0" err="1"/>
              <a:t>on</a:t>
            </a:r>
            <a:r>
              <a:rPr lang="vi-VN" sz="2000" dirty="0"/>
              <a:t> the </a:t>
            </a:r>
            <a:r>
              <a:rPr lang="vi-VN" sz="2000" dirty="0" err="1"/>
              <a:t>data</a:t>
            </a:r>
            <a:r>
              <a:rPr lang="vi-VN" sz="2000" dirty="0"/>
              <a:t>, the </a:t>
            </a:r>
            <a:r>
              <a:rPr lang="vi-VN" sz="2000" dirty="0" err="1"/>
              <a:t>input</a:t>
            </a:r>
            <a:r>
              <a:rPr lang="vi-VN" sz="2000" dirty="0"/>
              <a:t> </a:t>
            </a:r>
            <a:r>
              <a:rPr lang="vi-VN" sz="2000" dirty="0" err="1"/>
              <a:t>model</a:t>
            </a:r>
            <a:r>
              <a:rPr lang="vi-VN" sz="2000" dirty="0"/>
              <a:t>, </a:t>
            </a:r>
            <a:r>
              <a:rPr lang="vi-VN" sz="2000" dirty="0" err="1"/>
              <a:t>and</a:t>
            </a:r>
            <a:r>
              <a:rPr lang="vi-VN" sz="2000" dirty="0"/>
              <a:t> the </a:t>
            </a:r>
            <a:r>
              <a:rPr lang="vi-VN" sz="2000" dirty="0" err="1"/>
              <a:t>classical</a:t>
            </a:r>
            <a:r>
              <a:rPr lang="vi-VN" sz="2000" dirty="0"/>
              <a:t> </a:t>
            </a:r>
            <a:r>
              <a:rPr lang="vi-VN" sz="2000" dirty="0" err="1"/>
              <a:t>baseline</a:t>
            </a:r>
            <a:r>
              <a:rPr lang="vi-VN" sz="2000" dirty="0"/>
              <a:t>.</a:t>
            </a:r>
            <a:endParaRPr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Why goal A is hard for ML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11</a:t>
            </a:fld>
            <a:endParaRPr lang="vi-VN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73736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Problems studied in quantum computing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Problems solved by machine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sz="1800"/>
                        <a:t>Classical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Weak: problems chosen to be hard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Strong: industrial 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sz="1800"/>
                        <a:t>Input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Small: few qubits, short bit strings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Very large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sz="1800"/>
                        <a:t>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Highly 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Messy, real-world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sz="1800"/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Asymptotic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Empirical benchmarks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521208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dirty="0">
                <a:sym typeface="Wingdings" panose="05000000000000000000" pitchFamily="2" charset="2"/>
              </a:rPr>
              <a:t> </a:t>
            </a:r>
            <a:r>
              <a:rPr sz="2000" dirty="0"/>
              <a:t>Goal B: understand how QML models work, without having to beat classical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Three libraries, three purposes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12</a:t>
            </a:fld>
            <a:endParaRPr lang="vi-VN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73736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PennyLane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Qiskit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Cirq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r>
                        <a:rPr sz="1700"/>
                        <a:t>Built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Differentiable programming: a circuit as a layer in an ML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Build circuits, optimize them for a device, run on 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Fine-grained control of circuits on today's noisy devices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r>
                        <a:rPr sz="1700"/>
                        <a:t>Gradients &amp;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Built in, connects to PyTorch / JAX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Separate library, not in the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Not the focus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r>
                        <a:rPr sz="1700"/>
                        <a:t>Runs 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Many simulators and hardware via plugins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Hardware via vendor runtimes and providers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Built-in simulators, noise models, Google chips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4. Summary</a:t>
            </a:r>
            <a:r>
              <a:rPr dirty="0"/>
              <a:t>: from taxonomy to tools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13</a:t>
            </a:fld>
            <a:endParaRPr lang="vi-VN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092860"/>
              </p:ext>
            </p:extLst>
          </p:nvPr>
        </p:nvGraphicFramePr>
        <p:xfrm>
          <a:off x="841248" y="1737360"/>
          <a:ext cx="10515600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600"/>
                        <a:t>1  Taxonomy: where does QML live?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  Objective: what do researchers want?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  Platform: how do we build it?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sz="1600" dirty="0"/>
                        <a:t>Classical / quantum data × classical / quantum algorithm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sz="1600" dirty="0"/>
                        <a:t>This course: quantum models on classical data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sz="1600" dirty="0"/>
                        <a:t>Context only: classical ML, ML for quantum experiments, quantum processing of quantum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sz="1600" dirty="0"/>
                        <a:t>A · Quantum advantage: can quantum beat classical?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sz="1600" dirty="0"/>
                        <a:t>Runtime speedup · classical hardness · quantum data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sz="1600" dirty="0"/>
                        <a:t>Counter-argument: dequantization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sz="1600" dirty="0"/>
                        <a:t>B · Quantum learning: how do QML models work?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sz="1600" dirty="0"/>
                        <a:t>QKM (Lesson 2) · QNN (Lesson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sz="1600" dirty="0" err="1"/>
                        <a:t>Qiskit</a:t>
                      </a:r>
                      <a:r>
                        <a:rPr sz="1600" dirty="0"/>
                        <a:t>: build circuits, compile, run on hardware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sz="1600" dirty="0"/>
                        <a:t>Cirq: fine-grained control of noisy devices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sz="1600" dirty="0"/>
                        <a:t>PennyLane: used in this course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sz="1600" dirty="0"/>
                        <a:t>Built-in gradients · circuits as Python functions · </a:t>
                      </a:r>
                      <a:r>
                        <a:rPr sz="1600" dirty="0" err="1"/>
                        <a:t>PyTorch</a:t>
                      </a:r>
                      <a:r>
                        <a:rPr sz="1600" dirty="0"/>
                        <a:t> / JAX interfaces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Quantum kernel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What does the quantum computer do inside an SVM?</a:t>
            </a:r>
          </a:p>
          <a:p>
            <a:r>
              <a:rPr dirty="0"/>
              <a:t>Lesson 2 · Quantum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471039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dirty="0"/>
              <a:t>SVM &amp; kernels</a:t>
            </a:r>
          </a:p>
          <a:p>
            <a:pPr marL="457200" indent="-457200">
              <a:buAutoNum type="arabicPeriod"/>
            </a:pPr>
            <a:r>
              <a:rPr dirty="0"/>
              <a:t>Quantum kernel</a:t>
            </a:r>
          </a:p>
          <a:p>
            <a:pPr marL="457200" indent="-457200">
              <a:buAutoNum type="arabicPeriod"/>
            </a:pPr>
            <a:r>
              <a:rPr dirty="0"/>
              <a:t>Cost &amp; failure</a:t>
            </a:r>
            <a:endParaRPr lang="vi-VN" dirty="0"/>
          </a:p>
          <a:p>
            <a:pPr marL="0" indent="0">
              <a:buNone/>
            </a:pPr>
            <a:endParaRPr lang="vi-VN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15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82144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1. Kernel methods: </a:t>
            </a:r>
            <a:r>
              <a:rPr lang="vi-VN" dirty="0"/>
              <a:t>the </a:t>
            </a:r>
            <a:r>
              <a:rPr lang="vi-VN" dirty="0" err="1"/>
              <a:t>original</a:t>
            </a:r>
            <a:r>
              <a:rPr dirty="0"/>
              <a:t> idea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16</a:t>
            </a:fld>
            <a:endParaRPr lang="vi-VN"/>
          </a:p>
        </p:txBody>
      </p:sp>
      <p:pic>
        <p:nvPicPr>
          <p:cNvPr id="6" name="Picture 5" descr="tiet2_fig_du2025_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737360"/>
            <a:ext cx="10515600" cy="21256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3544" y="4045927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/>
              <a:t>Separable by a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4045927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/>
              <a:t>Not separable by a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9620" y="4045927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/>
              <a:t>Higher dimension: separable by a plane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/>
              <a:t>Map the data to a higher dimension, then separate it with a hyperplane</a:t>
            </a:r>
          </a:p>
        </p:txBody>
      </p:sp>
    </p:spTree>
    <p:extLst>
      <p:ext uri="{BB962C8B-B14F-4D97-AF65-F5344CB8AC3E}">
        <p14:creationId xmlns:p14="http://schemas.microsoft.com/office/powerpoint/2010/main" val="88108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Feature map and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sz="2400" dirty="0"/>
              <a:t>Feature map</a:t>
            </a:r>
          </a:p>
          <a:p>
            <a:pPr lvl="1"/>
            <a:r>
              <a:rPr sz="2000" dirty="0">
                <a:latin typeface="Cambria Math"/>
              </a:rPr>
              <a:t>𝑥 ∈ ℝ</a:t>
            </a:r>
            <a:r>
              <a:rPr sz="2000" baseline="30000" dirty="0">
                <a:latin typeface="Cambria Math"/>
              </a:rPr>
              <a:t>𝑑</a:t>
            </a:r>
            <a:r>
              <a:rPr sz="2000" dirty="0">
                <a:latin typeface="Cambria Math"/>
              </a:rPr>
              <a:t>  →  𝜑(𝑥) ∈ ℝ</a:t>
            </a:r>
            <a:r>
              <a:rPr sz="2000" baseline="30000" dirty="0">
                <a:latin typeface="Cambria Math"/>
              </a:rPr>
              <a:t>𝐷</a:t>
            </a:r>
            <a:r>
              <a:rPr sz="2000" dirty="0">
                <a:latin typeface="Cambria Math"/>
              </a:rPr>
              <a:t>,   𝐷 ≥ 𝑑</a:t>
            </a:r>
          </a:p>
          <a:p>
            <a:pPr lvl="1"/>
            <a:r>
              <a:rPr sz="2000" dirty="0">
                <a:latin typeface="Cambria Math"/>
              </a:rPr>
              <a:t>𝜑(𝑥)</a:t>
            </a:r>
            <a:r>
              <a:rPr sz="2000" dirty="0"/>
              <a:t>: feature vector</a:t>
            </a:r>
          </a:p>
          <a:p>
            <a:r>
              <a:rPr sz="2400" dirty="0"/>
              <a:t>Kernel</a:t>
            </a:r>
          </a:p>
          <a:p>
            <a:pPr lvl="1"/>
            <a:r>
              <a:rPr sz="2000" dirty="0">
                <a:latin typeface="Cambria Math"/>
              </a:rPr>
              <a:t>𝑘(𝑥, 𝑥′) = ⟨𝜑(𝑥), 𝜑(𝑥′)⟩</a:t>
            </a:r>
          </a:p>
          <a:p>
            <a:pPr lvl="1"/>
            <a:r>
              <a:rPr sz="2000" dirty="0"/>
              <a:t>Similarity of two points</a:t>
            </a:r>
          </a:p>
          <a:p>
            <a:pPr lvl="1"/>
            <a:r>
              <a:rPr sz="2000" dirty="0"/>
              <a:t>Computed without writing </a:t>
            </a:r>
            <a:r>
              <a:rPr sz="2000" dirty="0">
                <a:latin typeface="Cambria Math"/>
              </a:rPr>
              <a:t>𝜑(𝑥)</a:t>
            </a:r>
            <a:r>
              <a:rPr sz="2000" dirty="0"/>
              <a:t>: kernel trick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sz="2400" dirty="0"/>
              <a:t>RBF kernel: </a:t>
            </a:r>
            <a:r>
              <a:rPr sz="2400" dirty="0">
                <a:latin typeface="Cambria Math"/>
              </a:rPr>
              <a:t>𝜑</a:t>
            </a:r>
            <a:r>
              <a:rPr sz="2400" dirty="0"/>
              <a:t> hidden, </a:t>
            </a:r>
            <a:r>
              <a:rPr sz="2400" dirty="0">
                <a:latin typeface="Cambria Math"/>
              </a:rPr>
              <a:t>𝑘</a:t>
            </a:r>
            <a:r>
              <a:rPr sz="2400" dirty="0"/>
              <a:t> by formula</a:t>
            </a:r>
          </a:p>
          <a:p>
            <a:pPr lvl="1"/>
            <a:r>
              <a:rPr sz="2000" dirty="0">
                <a:latin typeface="Cambria Math"/>
              </a:rPr>
              <a:t>𝑘(𝑥, 𝑥′) = 𝑒</a:t>
            </a:r>
            <a:r>
              <a:rPr sz="2000" baseline="30000" dirty="0">
                <a:latin typeface="Cambria Math"/>
              </a:rPr>
              <a:t>−𝛾‖𝑥 − 𝑥′‖²</a:t>
            </a:r>
          </a:p>
          <a:p>
            <a:pPr lvl="1"/>
            <a:r>
              <a:rPr sz="2000" dirty="0">
                <a:latin typeface="Cambria Math"/>
              </a:rPr>
              <a:t>𝜑(𝑥)</a:t>
            </a:r>
            <a:r>
              <a:rPr sz="2000" dirty="0"/>
              <a:t> infinite-dimensional, never written down</a:t>
            </a:r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442D324D-3F30-C3F6-3E5C-B03F1A2F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17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5473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Support vector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Max-margin hyperplane: separates the two classes, as far as possible from both</a:t>
            </a:r>
          </a:p>
          <a:p>
            <a:r>
              <a:t>Support vectors: the points closest to the hyperplane</a:t>
            </a:r>
          </a:p>
          <a:p>
            <a:r>
              <a:t>Non-linear data: use a kernel, separate in feature space</a:t>
            </a:r>
          </a:p>
          <a:p>
            <a:r>
              <a:t>SVM only needs the numbers </a:t>
            </a:r>
            <a:r>
              <a:rPr>
                <a:latin typeface="Cambria Math"/>
              </a:rPr>
              <a:t>𝑘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18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3015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Quantum kernel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sz="2200" dirty="0"/>
              <a:t>Feature map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>
                <a:latin typeface="Cambria Math"/>
              </a:rPr>
              <a:t>|𝜓(𝑥)⟩ = 𝑈(𝑥)|0⟩</a:t>
            </a:r>
            <a:r>
              <a:rPr sz="2000" baseline="30000" dirty="0">
                <a:latin typeface="Cambria Math"/>
              </a:rPr>
              <a:t>⊗𝑛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>
                <a:latin typeface="Cambria Math"/>
              </a:rPr>
              <a:t>𝑈(𝑥)</a:t>
            </a:r>
            <a:r>
              <a:rPr sz="2000" dirty="0"/>
              <a:t>: data-dependent circuit on </a:t>
            </a:r>
            <a:r>
              <a:rPr sz="2000" dirty="0">
                <a:latin typeface="Cambria Math"/>
              </a:rPr>
              <a:t>𝑛</a:t>
            </a:r>
            <a:r>
              <a:rPr sz="2000" dirty="0"/>
              <a:t> qubits</a:t>
            </a:r>
          </a:p>
          <a:p>
            <a:r>
              <a:rPr sz="2200" dirty="0"/>
              <a:t>Kernel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>
                <a:latin typeface="Cambria Math"/>
              </a:rPr>
              <a:t>𝑘(𝑥, 𝑥′) = |⟨𝜓(𝑥)|𝜓(𝑥′)⟩|</a:t>
            </a:r>
            <a:r>
              <a:rPr sz="2000" baseline="30000" dirty="0">
                <a:latin typeface="Cambria Math"/>
              </a:rPr>
              <a:t>2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/>
              <a:t>1: same state · 0: very different</a:t>
            </a:r>
          </a:p>
          <a:p>
            <a:r>
              <a:rPr sz="2200" dirty="0"/>
              <a:t>Only the feature map changes: </a:t>
            </a:r>
            <a:r>
              <a:rPr sz="2200" dirty="0">
                <a:latin typeface="Cambria Math"/>
              </a:rPr>
              <a:t>𝜑(𝑥) → |𝜓(𝑥)⟩</a:t>
            </a:r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442D324D-3F30-C3F6-3E5C-B03F1A2F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19</a:t>
            </a:fld>
            <a:endParaRPr lang="vi-VN"/>
          </a:p>
        </p:txBody>
      </p:sp>
      <p:pic>
        <p:nvPicPr>
          <p:cNvPr id="8" name="Picture 7" descr="tiet2_fig_du2025_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5181600" cy="293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074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2. </a:t>
            </a:r>
            <a:r>
              <a:rPr lang="vi-VN" dirty="0" err="1"/>
              <a:t>How</a:t>
            </a:r>
            <a:r>
              <a:rPr lang="vi-VN" dirty="0"/>
              <a:t> to </a:t>
            </a:r>
            <a:r>
              <a:rPr lang="vi-VN" dirty="0" err="1"/>
              <a:t>calculate</a:t>
            </a:r>
            <a:r>
              <a:rPr lang="vi-VN" dirty="0"/>
              <a:t> K (</a:t>
            </a:r>
            <a:r>
              <a:rPr lang="vi-VN" dirty="0" err="1"/>
              <a:t>Gram</a:t>
            </a:r>
            <a:r>
              <a:rPr lang="vi-VN" dirty="0"/>
              <a:t> </a:t>
            </a:r>
            <a:r>
              <a:rPr lang="vi-VN" dirty="0" err="1"/>
              <a:t>matrix</a:t>
            </a:r>
            <a:r>
              <a:rPr lang="vi-VN" dirty="0"/>
              <a:t>) </a:t>
            </a:r>
            <a:endParaRPr dirty="0">
              <a:latin typeface="Cambria Math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20</a:t>
            </a:fld>
            <a:endParaRPr lang="vi-VN"/>
          </a:p>
        </p:txBody>
      </p:sp>
      <p:sp>
        <p:nvSpPr>
          <p:cNvPr id="6" name="TextBox 5"/>
          <p:cNvSpPr txBox="1"/>
          <p:nvPr/>
        </p:nvSpPr>
        <p:spPr>
          <a:xfrm>
            <a:off x="841248" y="1645920"/>
            <a:ext cx="51206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/>
              <a:t>Quantum hardware</a:t>
            </a:r>
          </a:p>
          <a:p>
            <a:r>
              <a:rPr sz="1800" dirty="0"/>
              <a:t>One circuit per pair, repeated many times</a:t>
            </a:r>
          </a:p>
          <a:p>
            <a:r>
              <a:rPr sz="1800" dirty="0"/>
              <a:t>Circuit: </a:t>
            </a:r>
            <a:r>
              <a:rPr sz="1800" dirty="0">
                <a:latin typeface="Cambria Math"/>
              </a:rPr>
              <a:t>|00⟩</a:t>
            </a:r>
            <a:r>
              <a:rPr sz="1800" dirty="0"/>
              <a:t> → </a:t>
            </a:r>
            <a:r>
              <a:rPr sz="1800" dirty="0">
                <a:latin typeface="Cambria Math"/>
              </a:rPr>
              <a:t>𝑈(𝑥</a:t>
            </a:r>
            <a:r>
              <a:rPr sz="1800" baseline="-25000" dirty="0">
                <a:latin typeface="Cambria Math"/>
              </a:rPr>
              <a:t>1</a:t>
            </a:r>
            <a:r>
              <a:rPr sz="1800" dirty="0">
                <a:latin typeface="Cambria Math"/>
              </a:rPr>
              <a:t>)</a:t>
            </a:r>
            <a:r>
              <a:rPr sz="1800" dirty="0"/>
              <a:t> → </a:t>
            </a:r>
            <a:r>
              <a:rPr sz="1800" dirty="0">
                <a:latin typeface="Cambria Math"/>
              </a:rPr>
              <a:t>𝑈</a:t>
            </a:r>
            <a:r>
              <a:rPr sz="1800" baseline="30000" dirty="0">
                <a:latin typeface="Cambria Math"/>
              </a:rPr>
              <a:t>†</a:t>
            </a:r>
            <a:r>
              <a:rPr sz="1800" dirty="0">
                <a:latin typeface="Cambria Math"/>
              </a:rPr>
              <a:t>(𝑥</a:t>
            </a:r>
            <a:r>
              <a:rPr sz="1800" baseline="-25000" dirty="0">
                <a:latin typeface="Cambria Math"/>
              </a:rPr>
              <a:t>2</a:t>
            </a:r>
            <a:r>
              <a:rPr sz="1800" dirty="0">
                <a:latin typeface="Cambria Math"/>
              </a:rPr>
              <a:t>)</a:t>
            </a:r>
            <a:r>
              <a:rPr sz="1800" dirty="0"/>
              <a:t> → measure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41248" y="2788920"/>
          <a:ext cx="32004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60520" y="34747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Cambria Math"/>
              </a:rPr>
              <a:t>𝐾</a:t>
            </a:r>
            <a:r>
              <a:rPr sz="1800" baseline="-25000">
                <a:latin typeface="Cambria Math"/>
              </a:rPr>
              <a:t>12</a:t>
            </a:r>
            <a:r>
              <a:rPr sz="1800"/>
              <a:t> ≈ 652/1000</a:t>
            </a:r>
          </a:p>
          <a:p>
            <a:r>
              <a:rPr sz="1800"/>
              <a:t>= 0.652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645920"/>
            <a:ext cx="51846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/>
              <a:t>Simulator (lab)</a:t>
            </a:r>
          </a:p>
          <a:p>
            <a:r>
              <a:rPr sz="1800" dirty="0"/>
              <a:t>Simulate each point once, keep the state in memory</a:t>
            </a:r>
          </a:p>
          <a:p>
            <a:r>
              <a:rPr sz="1800" dirty="0">
                <a:latin typeface="Cambria Math"/>
              </a:rPr>
              <a:t>|𝜓(𝑥</a:t>
            </a:r>
            <a:r>
              <a:rPr sz="1800" baseline="-25000" dirty="0">
                <a:latin typeface="Cambria Math"/>
              </a:rPr>
              <a:t>1</a:t>
            </a:r>
            <a:r>
              <a:rPr sz="1800" dirty="0">
                <a:latin typeface="Cambria Math"/>
              </a:rPr>
              <a:t>)⟩ = (0.816,  −0.558𝑖,  −0.084,  −0.123𝑖)</a:t>
            </a:r>
          </a:p>
          <a:p>
            <a:r>
              <a:rPr sz="1800" dirty="0">
                <a:latin typeface="Cambria Math"/>
              </a:rPr>
              <a:t>|𝜓(𝑥</a:t>
            </a:r>
            <a:r>
              <a:rPr sz="1800" baseline="-25000" dirty="0">
                <a:latin typeface="Cambria Math"/>
              </a:rPr>
              <a:t>2</a:t>
            </a:r>
            <a:r>
              <a:rPr sz="1800" dirty="0">
                <a:latin typeface="Cambria Math"/>
              </a:rPr>
              <a:t>)⟩ = (0.358,  −0.801𝑖,  −0.438,  −0.196𝑖)</a:t>
            </a:r>
          </a:p>
          <a:p>
            <a:r>
              <a:rPr sz="1800" dirty="0">
                <a:latin typeface="Cambria Math"/>
              </a:rPr>
              <a:t>2</a:t>
            </a:r>
            <a:r>
              <a:rPr sz="1800" baseline="30000" dirty="0">
                <a:latin typeface="Cambria Math"/>
              </a:rPr>
              <a:t>𝑛</a:t>
            </a:r>
            <a:r>
              <a:rPr sz="1800" dirty="0">
                <a:latin typeface="Cambria Math"/>
              </a:rPr>
              <a:t> = 4</a:t>
            </a:r>
            <a:r>
              <a:rPr sz="1800" dirty="0"/>
              <a:t> numbers per point</a:t>
            </a:r>
          </a:p>
          <a:p>
            <a:r>
              <a:rPr sz="1800" dirty="0">
                <a:latin typeface="Cambria Math"/>
              </a:rPr>
              <a:t>𝐾</a:t>
            </a:r>
            <a:r>
              <a:rPr sz="1800" baseline="-25000" dirty="0">
                <a:latin typeface="Cambria Math"/>
              </a:rPr>
              <a:t>12</a:t>
            </a:r>
            <a:r>
              <a:rPr sz="1800" dirty="0">
                <a:latin typeface="Cambria Math"/>
              </a:rPr>
              <a:t> = |⟨𝜓(𝑥</a:t>
            </a:r>
            <a:r>
              <a:rPr sz="1800" baseline="-25000" dirty="0">
                <a:latin typeface="Cambria Math"/>
              </a:rPr>
              <a:t>1</a:t>
            </a:r>
            <a:r>
              <a:rPr sz="1800" dirty="0">
                <a:latin typeface="Cambria Math"/>
              </a:rPr>
              <a:t>)|𝜓(𝑥</a:t>
            </a:r>
            <a:r>
              <a:rPr sz="1800" baseline="-25000" dirty="0">
                <a:latin typeface="Cambria Math"/>
              </a:rPr>
              <a:t>2</a:t>
            </a:r>
            <a:r>
              <a:rPr sz="1800" dirty="0">
                <a:latin typeface="Cambria Math"/>
              </a:rPr>
              <a:t>)⟩|</a:t>
            </a:r>
            <a:r>
              <a:rPr sz="1800" baseline="30000" dirty="0">
                <a:latin typeface="Cambria Math"/>
              </a:rPr>
              <a:t>2</a:t>
            </a:r>
            <a:r>
              <a:rPr sz="1800" dirty="0"/>
              <a:t> = 0.641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257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2 qubits, toy encoding RX + CNOT,  </a:t>
            </a:r>
            <a:r>
              <a:rPr sz="1400">
                <a:latin typeface="Cambria Math"/>
              </a:rPr>
              <a:t>𝑥</a:t>
            </a:r>
            <a:r>
              <a:rPr sz="1400" baseline="-25000">
                <a:latin typeface="Cambria Math"/>
              </a:rPr>
              <a:t>1</a:t>
            </a:r>
            <a:r>
              <a:rPr sz="1400">
                <a:latin typeface="Cambria Math"/>
              </a:rPr>
              <a:t> = (0.3, 1.2)</a:t>
            </a:r>
            <a:r>
              <a:rPr sz="1400"/>
              <a:t>,  </a:t>
            </a:r>
            <a:r>
              <a:rPr sz="1400">
                <a:latin typeface="Cambria Math"/>
              </a:rPr>
              <a:t>𝑥</a:t>
            </a:r>
            <a:r>
              <a:rPr sz="1400" baseline="-25000">
                <a:latin typeface="Cambria Math"/>
              </a:rPr>
              <a:t>2</a:t>
            </a:r>
            <a:r>
              <a:rPr sz="1400">
                <a:latin typeface="Cambria Math"/>
              </a:rPr>
              <a:t> = (1.0, 2.3)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Same </a:t>
            </a:r>
            <a:r>
              <a:rPr sz="2000">
                <a:latin typeface="Cambria Math"/>
              </a:rPr>
              <a:t>𝐾</a:t>
            </a:r>
            <a:r>
              <a:rPr sz="2000"/>
              <a:t>: 0.652 from 1000 shots, 0.641 exact</a:t>
            </a:r>
          </a:p>
        </p:txBody>
      </p:sp>
    </p:spTree>
    <p:extLst>
      <p:ext uri="{BB962C8B-B14F-4D97-AF65-F5344CB8AC3E}">
        <p14:creationId xmlns:p14="http://schemas.microsoft.com/office/powerpoint/2010/main" val="4122374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QKM = two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dirty="0"/>
              <a:t>Train data: pairs </a:t>
            </a:r>
            <a:r>
              <a:rPr sz="2200" dirty="0">
                <a:latin typeface="Cambria Math"/>
              </a:rPr>
              <a:t>(𝑥</a:t>
            </a:r>
            <a:r>
              <a:rPr sz="2200" baseline="-25000" dirty="0">
                <a:latin typeface="Cambria Math"/>
              </a:rPr>
              <a:t>𝑖</a:t>
            </a:r>
            <a:r>
              <a:rPr sz="2200" dirty="0">
                <a:latin typeface="Cambria Math"/>
              </a:rPr>
              <a:t>, 𝑥</a:t>
            </a:r>
            <a:r>
              <a:rPr sz="2200" baseline="-25000" dirty="0">
                <a:latin typeface="Cambria Math"/>
              </a:rPr>
              <a:t>𝑗</a:t>
            </a:r>
            <a:r>
              <a:rPr sz="2200" dirty="0">
                <a:latin typeface="Cambria Math"/>
              </a:rPr>
              <a:t>)</a:t>
            </a:r>
            <a:r>
              <a:rPr sz="2200" dirty="0"/>
              <a:t> → quantum block</a:t>
            </a:r>
          </a:p>
          <a:p>
            <a:r>
              <a:rPr sz="2200" b="1" dirty="0"/>
              <a:t>Quantum</a:t>
            </a:r>
            <a:r>
              <a:rPr sz="2200" dirty="0"/>
              <a:t>: compute </a:t>
            </a:r>
            <a:r>
              <a:rPr sz="2200" dirty="0">
                <a:latin typeface="Cambria Math"/>
              </a:rPr>
              <a:t>𝐾</a:t>
            </a:r>
            <a:r>
              <a:rPr sz="2200" dirty="0"/>
              <a:t> (fixed circuit, nothing trained · hardware or simulator)</a:t>
            </a:r>
          </a:p>
          <a:p>
            <a:pPr marL="914400" lvl="1" indent="-457200">
              <a:buAutoNum type="arabicPeriod"/>
            </a:pPr>
            <a:r>
              <a:rPr sz="2000" dirty="0"/>
              <a:t>Feature map: </a:t>
            </a:r>
            <a:r>
              <a:rPr sz="2000" dirty="0">
                <a:latin typeface="Cambria Math"/>
              </a:rPr>
              <a:t>|𝜓(𝑥)⟩ = 𝑈(𝑥)|0⟩</a:t>
            </a:r>
            <a:r>
              <a:rPr sz="2000" baseline="30000" dirty="0">
                <a:latin typeface="Cambria Math"/>
              </a:rPr>
              <a:t>⊗𝑛</a:t>
            </a:r>
          </a:p>
          <a:p>
            <a:pPr marL="914400" lvl="1" indent="-457200">
              <a:buAutoNum type="arabicPeriod"/>
            </a:pPr>
            <a:r>
              <a:rPr sz="2000" dirty="0"/>
              <a:t>Kernel evaluation: </a:t>
            </a:r>
            <a:r>
              <a:rPr sz="2000" dirty="0">
                <a:latin typeface="Cambria Math"/>
              </a:rPr>
              <a:t>𝐾</a:t>
            </a:r>
            <a:r>
              <a:rPr sz="2000" baseline="-25000" dirty="0">
                <a:latin typeface="Cambria Math"/>
              </a:rPr>
              <a:t>𝑖𝑗</a:t>
            </a:r>
            <a:r>
              <a:rPr sz="2000" dirty="0">
                <a:latin typeface="Cambria Math"/>
              </a:rPr>
              <a:t> = |⟨𝜓(𝑥</a:t>
            </a:r>
            <a:r>
              <a:rPr sz="2000" baseline="-25000" dirty="0">
                <a:latin typeface="Cambria Math"/>
              </a:rPr>
              <a:t>𝑖</a:t>
            </a:r>
            <a:r>
              <a:rPr sz="2000" dirty="0">
                <a:latin typeface="Cambria Math"/>
              </a:rPr>
              <a:t>)|𝜓(𝑥</a:t>
            </a:r>
            <a:r>
              <a:rPr sz="2000" baseline="-25000" dirty="0">
                <a:latin typeface="Cambria Math"/>
              </a:rPr>
              <a:t>𝑗</a:t>
            </a:r>
            <a:r>
              <a:rPr sz="2000" dirty="0">
                <a:latin typeface="Cambria Math"/>
              </a:rPr>
              <a:t>)⟩|</a:t>
            </a:r>
            <a:r>
              <a:rPr sz="2000" baseline="30000" dirty="0">
                <a:latin typeface="Cambria Math"/>
              </a:rPr>
              <a:t>2</a:t>
            </a:r>
          </a:p>
          <a:p>
            <a:pPr marL="914400" lvl="1" indent="-457200">
              <a:buAutoNum type="arabicPeriod"/>
            </a:pPr>
            <a:r>
              <a:rPr sz="2000" dirty="0"/>
              <a:t>Post-processing: all pairs → matrix </a:t>
            </a:r>
            <a:r>
              <a:rPr sz="2000" dirty="0">
                <a:latin typeface="Cambria Math"/>
              </a:rPr>
              <a:t>𝐾</a:t>
            </a:r>
          </a:p>
          <a:p>
            <a:r>
              <a:rPr sz="2200" b="1" dirty="0"/>
              <a:t>Classical</a:t>
            </a:r>
            <a:r>
              <a:rPr sz="2200" dirty="0"/>
              <a:t>: SVM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/>
              <a:t>Train: </a:t>
            </a:r>
            <a:r>
              <a:rPr sz="2000" dirty="0">
                <a:latin typeface="Cambria Math"/>
              </a:rPr>
              <a:t>𝐾 → 𝛼, 𝑏</a:t>
            </a:r>
            <a:r>
              <a:rPr sz="2000" dirty="0"/>
              <a:t> (trained here)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/>
              <a:t>Predict: </a:t>
            </a:r>
            <a:r>
              <a:rPr sz="2000" dirty="0">
                <a:latin typeface="Cambria Math"/>
              </a:rPr>
              <a:t>sign(Σ</a:t>
            </a:r>
            <a:r>
              <a:rPr sz="2000" baseline="-25000" dirty="0">
                <a:latin typeface="Cambria Math"/>
              </a:rPr>
              <a:t>𝑖</a:t>
            </a:r>
            <a:r>
              <a:rPr sz="2000" dirty="0">
                <a:latin typeface="Cambria Math"/>
              </a:rPr>
              <a:t> 𝛼</a:t>
            </a:r>
            <a:r>
              <a:rPr sz="2000" baseline="-25000" dirty="0">
                <a:latin typeface="Cambria Math"/>
              </a:rPr>
              <a:t>𝑖</a:t>
            </a:r>
            <a:r>
              <a:rPr sz="2000" dirty="0">
                <a:latin typeface="Cambria Math"/>
              </a:rPr>
              <a:t> 𝑦</a:t>
            </a:r>
            <a:r>
              <a:rPr sz="2000" baseline="-25000" dirty="0">
                <a:latin typeface="Cambria Math"/>
              </a:rPr>
              <a:t>𝑖</a:t>
            </a:r>
            <a:r>
              <a:rPr sz="2000" dirty="0">
                <a:latin typeface="Cambria Math"/>
              </a:rPr>
              <a:t> 𝑘(𝑥</a:t>
            </a:r>
            <a:r>
              <a:rPr sz="2000" baseline="-25000" dirty="0">
                <a:latin typeface="Cambria Math"/>
              </a:rPr>
              <a:t>𝑖</a:t>
            </a:r>
            <a:r>
              <a:rPr sz="2000" dirty="0">
                <a:latin typeface="Cambria Math"/>
              </a:rPr>
              <a:t>, 𝑥) + 𝑏)</a:t>
            </a:r>
          </a:p>
          <a:p>
            <a:r>
              <a:rPr sz="2200" dirty="0"/>
              <a:t>Prediction: new </a:t>
            </a:r>
            <a:r>
              <a:rPr sz="2200" dirty="0">
                <a:latin typeface="Cambria Math"/>
              </a:rPr>
              <a:t>𝑥</a:t>
            </a:r>
            <a:r>
              <a:rPr sz="2200" dirty="0"/>
              <a:t> → quantum block gives </a:t>
            </a:r>
            <a:r>
              <a:rPr sz="2200" dirty="0">
                <a:latin typeface="Cambria Math"/>
              </a:rPr>
              <a:t>𝑘(𝑥</a:t>
            </a:r>
            <a:r>
              <a:rPr sz="2200" baseline="-25000" dirty="0">
                <a:latin typeface="Cambria Math"/>
              </a:rPr>
              <a:t>𝑖</a:t>
            </a:r>
            <a:r>
              <a:rPr sz="2200" dirty="0">
                <a:latin typeface="Cambria Math"/>
              </a:rPr>
              <a:t>, 𝑥)</a:t>
            </a:r>
            <a:r>
              <a:rPr sz="2200" dirty="0"/>
              <a:t> → Predict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21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09903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Training = SVM dual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dirty="0"/>
              <a:t>Train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200" dirty="0">
                <a:latin typeface="Cambria Math"/>
              </a:rPr>
              <a:t>max</a:t>
            </a:r>
            <a:r>
              <a:rPr sz="2200" baseline="-25000" dirty="0">
                <a:latin typeface="Cambria Math"/>
              </a:rPr>
              <a:t>𝛼</a:t>
            </a:r>
            <a:r>
              <a:rPr sz="2200" dirty="0">
                <a:latin typeface="Cambria Math"/>
              </a:rPr>
              <a:t>   Σ</a:t>
            </a:r>
            <a:r>
              <a:rPr sz="2200" baseline="-25000" dirty="0">
                <a:latin typeface="Cambria Math"/>
              </a:rPr>
              <a:t>𝑖</a:t>
            </a:r>
            <a:r>
              <a:rPr sz="2200" dirty="0">
                <a:latin typeface="Cambria Math"/>
              </a:rPr>
              <a:t> 𝛼</a:t>
            </a:r>
            <a:r>
              <a:rPr sz="2200" baseline="-25000" dirty="0">
                <a:latin typeface="Cambria Math"/>
              </a:rPr>
              <a:t>𝑖</a:t>
            </a:r>
            <a:r>
              <a:rPr sz="2200" dirty="0">
                <a:latin typeface="Cambria Math"/>
              </a:rPr>
              <a:t>  −  ½ Σ</a:t>
            </a:r>
            <a:r>
              <a:rPr sz="2200" baseline="-25000" dirty="0">
                <a:latin typeface="Cambria Math"/>
              </a:rPr>
              <a:t>𝑖,𝑗</a:t>
            </a:r>
            <a:r>
              <a:rPr sz="2200" dirty="0">
                <a:latin typeface="Cambria Math"/>
              </a:rPr>
              <a:t> 𝛼</a:t>
            </a:r>
            <a:r>
              <a:rPr sz="2200" baseline="-25000" dirty="0">
                <a:latin typeface="Cambria Math"/>
              </a:rPr>
              <a:t>𝑖</a:t>
            </a:r>
            <a:r>
              <a:rPr sz="2200" dirty="0">
                <a:latin typeface="Cambria Math"/>
              </a:rPr>
              <a:t> 𝛼</a:t>
            </a:r>
            <a:r>
              <a:rPr sz="2200" baseline="-25000" dirty="0">
                <a:latin typeface="Cambria Math"/>
              </a:rPr>
              <a:t>𝑗</a:t>
            </a:r>
            <a:r>
              <a:rPr sz="2200" dirty="0">
                <a:latin typeface="Cambria Math"/>
              </a:rPr>
              <a:t> 𝑦</a:t>
            </a:r>
            <a:r>
              <a:rPr sz="2200" baseline="-25000" dirty="0">
                <a:latin typeface="Cambria Math"/>
              </a:rPr>
              <a:t>𝑖</a:t>
            </a:r>
            <a:r>
              <a:rPr sz="2200" dirty="0">
                <a:latin typeface="Cambria Math"/>
              </a:rPr>
              <a:t> 𝑦</a:t>
            </a:r>
            <a:r>
              <a:rPr sz="2200" baseline="-25000" dirty="0">
                <a:latin typeface="Cambria Math"/>
              </a:rPr>
              <a:t>𝑗</a:t>
            </a:r>
            <a:r>
              <a:rPr sz="2200" dirty="0">
                <a:latin typeface="Cambria Math"/>
              </a:rPr>
              <a:t> </a:t>
            </a:r>
            <a:r>
              <a:rPr sz="2200" b="1" dirty="0">
                <a:solidFill>
                  <a:srgbClr val="0070C0"/>
                </a:solidFill>
                <a:latin typeface="Cambria Math"/>
              </a:rPr>
              <a:t>𝐾</a:t>
            </a:r>
            <a:r>
              <a:rPr sz="2200" b="1" baseline="-25000" dirty="0">
                <a:solidFill>
                  <a:srgbClr val="0070C0"/>
                </a:solidFill>
                <a:latin typeface="Cambria Math"/>
              </a:rPr>
              <a:t>𝑖𝑗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200" dirty="0">
                <a:latin typeface="Cambria Math"/>
              </a:rPr>
              <a:t>0 ≤ 𝛼</a:t>
            </a:r>
            <a:r>
              <a:rPr sz="2200" baseline="-25000" dirty="0">
                <a:latin typeface="Cambria Math"/>
              </a:rPr>
              <a:t>𝑖</a:t>
            </a:r>
            <a:r>
              <a:rPr sz="2200" dirty="0">
                <a:latin typeface="Cambria Math"/>
              </a:rPr>
              <a:t> ≤ 𝐶,     Σ</a:t>
            </a:r>
            <a:r>
              <a:rPr sz="2200" baseline="-25000" dirty="0">
                <a:latin typeface="Cambria Math"/>
              </a:rPr>
              <a:t>𝑖</a:t>
            </a:r>
            <a:r>
              <a:rPr sz="2200" dirty="0">
                <a:latin typeface="Cambria Math"/>
              </a:rPr>
              <a:t> 𝛼</a:t>
            </a:r>
            <a:r>
              <a:rPr sz="2200" baseline="-25000" dirty="0">
                <a:latin typeface="Cambria Math"/>
              </a:rPr>
              <a:t>𝑖</a:t>
            </a:r>
            <a:r>
              <a:rPr sz="2200" dirty="0">
                <a:latin typeface="Cambria Math"/>
              </a:rPr>
              <a:t> 𝑦</a:t>
            </a:r>
            <a:r>
              <a:rPr sz="2200" baseline="-25000" dirty="0">
                <a:latin typeface="Cambria Math"/>
              </a:rPr>
              <a:t>𝑖</a:t>
            </a:r>
            <a:r>
              <a:rPr sz="2200" dirty="0">
                <a:latin typeface="Cambria Math"/>
              </a:rPr>
              <a:t> = 0</a:t>
            </a:r>
          </a:p>
          <a:p>
            <a:r>
              <a:rPr sz="2200" dirty="0"/>
              <a:t>Predict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200" dirty="0">
                <a:latin typeface="Cambria Math"/>
              </a:rPr>
              <a:t>ŷ(𝑥) = sign( Σ</a:t>
            </a:r>
            <a:r>
              <a:rPr sz="2200" baseline="-25000" dirty="0">
                <a:latin typeface="Cambria Math"/>
              </a:rPr>
              <a:t>𝑖</a:t>
            </a:r>
            <a:r>
              <a:rPr sz="2200" dirty="0">
                <a:latin typeface="Cambria Math"/>
              </a:rPr>
              <a:t> 𝛼</a:t>
            </a:r>
            <a:r>
              <a:rPr sz="2200" baseline="-25000" dirty="0">
                <a:latin typeface="Cambria Math"/>
              </a:rPr>
              <a:t>𝑖</a:t>
            </a:r>
            <a:r>
              <a:rPr sz="2200" dirty="0">
                <a:latin typeface="Cambria Math"/>
              </a:rPr>
              <a:t> 𝑦</a:t>
            </a:r>
            <a:r>
              <a:rPr sz="2200" baseline="-25000" dirty="0">
                <a:latin typeface="Cambria Math"/>
              </a:rPr>
              <a:t>𝑖</a:t>
            </a:r>
            <a:r>
              <a:rPr sz="2200" dirty="0">
                <a:latin typeface="Cambria Math"/>
              </a:rPr>
              <a:t> </a:t>
            </a:r>
            <a:r>
              <a:rPr sz="2200" b="1" dirty="0">
                <a:solidFill>
                  <a:srgbClr val="0070C0"/>
                </a:solidFill>
                <a:latin typeface="Cambria Math"/>
              </a:rPr>
              <a:t>𝑘(𝑥</a:t>
            </a:r>
            <a:r>
              <a:rPr sz="2200" b="1" baseline="-25000" dirty="0">
                <a:solidFill>
                  <a:srgbClr val="0070C0"/>
                </a:solidFill>
                <a:latin typeface="Cambria Math"/>
              </a:rPr>
              <a:t>𝑖</a:t>
            </a:r>
            <a:r>
              <a:rPr sz="2200" b="1" dirty="0">
                <a:solidFill>
                  <a:srgbClr val="0070C0"/>
                </a:solidFill>
                <a:latin typeface="Cambria Math"/>
              </a:rPr>
              <a:t>, 𝑥) </a:t>
            </a:r>
            <a:r>
              <a:rPr sz="2200" dirty="0">
                <a:latin typeface="Cambria Math"/>
              </a:rPr>
              <a:t>+ 𝑏 )</a:t>
            </a:r>
          </a:p>
          <a:p>
            <a:r>
              <a:rPr sz="2200" dirty="0">
                <a:latin typeface="Cambria Math"/>
              </a:rPr>
              <a:t>𝐾</a:t>
            </a:r>
            <a:r>
              <a:rPr sz="2200" baseline="-25000" dirty="0">
                <a:latin typeface="Cambria Math"/>
              </a:rPr>
              <a:t>𝑖𝑗</a:t>
            </a:r>
            <a:r>
              <a:rPr sz="2200" dirty="0"/>
              <a:t> from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200" dirty="0"/>
              <a:t>Classical (RBF): formula  </a:t>
            </a:r>
            <a:r>
              <a:rPr sz="2200" dirty="0">
                <a:latin typeface="Cambria Math"/>
              </a:rPr>
              <a:t>exp(−𝛾‖𝑥</a:t>
            </a:r>
            <a:r>
              <a:rPr sz="2200" baseline="-25000" dirty="0">
                <a:latin typeface="Cambria Math"/>
              </a:rPr>
              <a:t>𝑖</a:t>
            </a:r>
            <a:r>
              <a:rPr sz="2200" dirty="0">
                <a:latin typeface="Cambria Math"/>
              </a:rPr>
              <a:t> − 𝑥</a:t>
            </a:r>
            <a:r>
              <a:rPr sz="2200" baseline="-25000" dirty="0">
                <a:latin typeface="Cambria Math"/>
              </a:rPr>
              <a:t>𝑗</a:t>
            </a:r>
            <a:r>
              <a:rPr sz="2200" dirty="0">
                <a:latin typeface="Cambria Math"/>
              </a:rPr>
              <a:t>‖</a:t>
            </a:r>
            <a:r>
              <a:rPr sz="2200" baseline="30000" dirty="0">
                <a:latin typeface="Cambria Math"/>
              </a:rPr>
              <a:t>2</a:t>
            </a:r>
            <a:r>
              <a:rPr sz="2200" dirty="0">
                <a:latin typeface="Cambria Math"/>
              </a:rPr>
              <a:t>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200" dirty="0"/>
              <a:t>Quantum: circuit  </a:t>
            </a:r>
            <a:r>
              <a:rPr sz="2200" dirty="0">
                <a:latin typeface="Cambria Math"/>
              </a:rPr>
              <a:t>|⟨𝜓(𝑥</a:t>
            </a:r>
            <a:r>
              <a:rPr sz="2200" baseline="-25000" dirty="0">
                <a:latin typeface="Cambria Math"/>
              </a:rPr>
              <a:t>𝑖</a:t>
            </a:r>
            <a:r>
              <a:rPr sz="2200" dirty="0">
                <a:latin typeface="Cambria Math"/>
              </a:rPr>
              <a:t>)|𝜓(𝑥</a:t>
            </a:r>
            <a:r>
              <a:rPr sz="2200" baseline="-25000" dirty="0">
                <a:latin typeface="Cambria Math"/>
              </a:rPr>
              <a:t>𝑗</a:t>
            </a:r>
            <a:r>
              <a:rPr sz="2200" dirty="0">
                <a:latin typeface="Cambria Math"/>
              </a:rPr>
              <a:t>)⟩|</a:t>
            </a:r>
            <a:r>
              <a:rPr sz="2200" baseline="30000" dirty="0">
                <a:latin typeface="Cambria Math"/>
              </a:rPr>
              <a:t>2</a:t>
            </a:r>
          </a:p>
          <a:p>
            <a:r>
              <a:rPr sz="2200" dirty="0"/>
              <a:t>Data enters only through </a:t>
            </a:r>
            <a:r>
              <a:rPr sz="2200" dirty="0">
                <a:latin typeface="Cambria Math"/>
              </a:rPr>
              <a:t>𝐾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22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50900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What this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/>
              <a:t>Quantum: only </a:t>
            </a:r>
            <a:r>
              <a:rPr sz="2400" dirty="0">
                <a:latin typeface="Cambria Math"/>
              </a:rPr>
              <a:t>𝐾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/>
              <a:t>Optimization runs on a classical computer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/>
              <a:t>SVC(kernel="precomputed")</a:t>
            </a:r>
          </a:p>
          <a:p>
            <a:r>
              <a:rPr sz="2400" dirty="0"/>
              <a:t>Convex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/>
              <a:t>Global optimum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/>
              <a:t>No circuit gradients</a:t>
            </a:r>
          </a:p>
          <a:p>
            <a:r>
              <a:rPr sz="2400" dirty="0"/>
              <a:t>Quality of </a:t>
            </a:r>
            <a:r>
              <a:rPr sz="2400" dirty="0">
                <a:latin typeface="Cambria Math"/>
              </a:rPr>
              <a:t>𝐾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/>
              <a:t>Model quality ≈ quality of </a:t>
            </a:r>
            <a:r>
              <a:rPr sz="2000" dirty="0">
                <a:latin typeface="Cambria Math"/>
              </a:rPr>
              <a:t>𝐾</a:t>
            </a:r>
            <a:r>
              <a:rPr sz="2000" dirty="0"/>
              <a:t> ≈ </a:t>
            </a:r>
            <a:r>
              <a:rPr sz="2000" b="1" dirty="0">
                <a:solidFill>
                  <a:srgbClr val="0070C0"/>
                </a:solidFill>
              </a:rPr>
              <a:t>choice of encoding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23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07379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3. </a:t>
            </a:r>
            <a:r>
              <a:rPr lang="vi-VN" dirty="0"/>
              <a:t>SVM + RBF </a:t>
            </a:r>
            <a:r>
              <a:rPr lang="vi-VN" dirty="0" err="1"/>
              <a:t>vs</a:t>
            </a:r>
            <a:r>
              <a:rPr lang="vi-VN" dirty="0"/>
              <a:t> </a:t>
            </a:r>
            <a:r>
              <a:rPr lang="vi-VN" dirty="0" err="1"/>
              <a:t>QKMs</a:t>
            </a:r>
            <a:endParaRPr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24</a:t>
            </a:fld>
            <a:endParaRPr lang="vi-VN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64592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SVM + RBF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QKM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700"/>
                        <a:t>Already seen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700"/>
                        <a:t>Feature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Hidden, infinite-dim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Circuit </a:t>
                      </a:r>
                      <a:r>
                        <a:rPr sz="1700">
                          <a:latin typeface="Cambria Math"/>
                        </a:rPr>
                        <a:t>𝑈(𝑥) → |𝜓(𝑥)⟩</a:t>
                      </a:r>
                      <a:r>
                        <a:rPr sz="1700"/>
                        <a:t>, </a:t>
                      </a:r>
                      <a:r>
                        <a:rPr sz="1700">
                          <a:latin typeface="Cambria Math"/>
                        </a:rPr>
                        <a:t>2</a:t>
                      </a:r>
                      <a:r>
                        <a:rPr sz="1700" baseline="30000">
                          <a:latin typeface="Cambria Math"/>
                        </a:rPr>
                        <a:t>𝑛</a:t>
                      </a:r>
                      <a:r>
                        <a:rPr sz="1700"/>
                        <a:t> amplitudes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700"/>
                        <a:t>Kernel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Formula </a:t>
                      </a:r>
                      <a:r>
                        <a:rPr sz="1700">
                          <a:latin typeface="Cambria Math"/>
                        </a:rPr>
                        <a:t>𝑒</a:t>
                      </a:r>
                      <a:r>
                        <a:rPr sz="1700" baseline="30000">
                          <a:latin typeface="Cambria Math"/>
                        </a:rPr>
                        <a:t>−𝛾‖𝑥−𝑥′‖²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Run circuit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700"/>
                        <a:t>Optimization,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SVM dual, convex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Identical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700"/>
                        <a:t>What follows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700"/>
                        <a:t>Hyperparameters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latin typeface="Cambria Math"/>
                        </a:rPr>
                        <a:t>𝐶, 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latin typeface="Cambria Math"/>
                        </a:rPr>
                        <a:t>𝐶</a:t>
                      </a:r>
                      <a:r>
                        <a:rPr sz="1700"/>
                        <a:t>, encoding, data 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700"/>
                        <a:t>Cost of </a:t>
                      </a:r>
                      <a:r>
                        <a:rPr sz="1700">
                          <a:latin typeface="Cambria Math"/>
                        </a:rPr>
                        <a:t>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latin typeface="Cambria Math"/>
                        </a:rPr>
                        <a:t>𝑁(𝑁−1)/2</a:t>
                      </a:r>
                      <a:r>
                        <a:rPr sz="1700"/>
                        <a:t> formula evaluations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latin typeface="Cambria Math"/>
                        </a:rPr>
                        <a:t>𝑁(𝑁−1)/2</a:t>
                      </a:r>
                      <a:r>
                        <a:rPr sz="1700"/>
                        <a:t> circuits × shots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700"/>
                        <a:t>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dirty="0">
                          <a:latin typeface="Cambria Math"/>
                        </a:rPr>
                        <a:t>𝛾</a:t>
                      </a:r>
                      <a:r>
                        <a:rPr sz="1700" dirty="0"/>
                        <a:t> too large → </a:t>
                      </a:r>
                      <a:r>
                        <a:rPr sz="1700" dirty="0">
                          <a:latin typeface="Cambria Math"/>
                        </a:rPr>
                        <a:t>𝐾 ≈ 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dirty="0">
                          <a:latin typeface="Cambria Math"/>
                        </a:rPr>
                        <a:t>𝐾 ≈ 𝐼</a:t>
                      </a:r>
                      <a:r>
                        <a:rPr sz="1700" dirty="0"/>
                        <a:t>  (next)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75657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Exponential concentration: </a:t>
            </a:r>
            <a:r>
              <a:rPr>
                <a:latin typeface="Cambria Math"/>
              </a:rPr>
              <a:t>𝐾 ≈ 𝐼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25</a:t>
            </a:fld>
            <a:endParaRPr lang="vi-VN"/>
          </a:p>
        </p:txBody>
      </p:sp>
      <p:sp>
        <p:nvSpPr>
          <p:cNvPr id="6" name="TextBox 5"/>
          <p:cNvSpPr txBox="1"/>
          <p:nvPr/>
        </p:nvSpPr>
        <p:spPr>
          <a:xfrm>
            <a:off x="841248" y="18288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sz="1800"/>
              <a:t>More qubits → </a:t>
            </a:r>
            <a:r>
              <a:rPr sz="1800">
                <a:latin typeface="Cambria Math"/>
              </a:rPr>
              <a:t>𝑘(𝑥, 𝑥′) → 0</a:t>
            </a:r>
            <a:r>
              <a:rPr sz="1800"/>
              <a:t> for </a:t>
            </a:r>
            <a:r>
              <a:rPr sz="1800">
                <a:latin typeface="Cambria Math"/>
              </a:rPr>
              <a:t>𝑥 ≠ 𝑥′</a:t>
            </a:r>
            <a:r>
              <a:rPr sz="1800"/>
              <a:t>: </a:t>
            </a:r>
            <a:r>
              <a:rPr sz="1800">
                <a:latin typeface="Cambria Math"/>
              </a:rPr>
              <a:t>𝐾 ≈ 𝐼</a:t>
            </a:r>
          </a:p>
          <a:p>
            <a:pPr marL="457200" indent="-457200">
              <a:buAutoNum type="arabicPeriod"/>
            </a:pPr>
            <a:r>
              <a:rPr sz="1800"/>
              <a:t>Product encoding: </a:t>
            </a:r>
            <a:r>
              <a:rPr sz="1800">
                <a:latin typeface="Cambria Math"/>
              </a:rPr>
              <a:t>𝑘</a:t>
            </a:r>
            <a:r>
              <a:rPr sz="1800"/>
              <a:t> = product of </a:t>
            </a:r>
            <a:r>
              <a:rPr sz="1800">
                <a:latin typeface="Cambria Math"/>
              </a:rPr>
              <a:t>𝑛</a:t>
            </a:r>
            <a:r>
              <a:rPr sz="1800"/>
              <a:t> numbers </a:t>
            </a:r>
            <a:r>
              <a:rPr sz="1800">
                <a:latin typeface="Cambria Math"/>
              </a:rPr>
              <a:t>&lt; 1</a:t>
            </a:r>
          </a:p>
          <a:p>
            <a:pPr marL="457200" indent="-457200">
              <a:buAutoNum type="arabicPeriod"/>
            </a:pPr>
            <a:r>
              <a:rPr sz="1800"/>
              <a:t>Hardware: 0…0 almost never seen: measured </a:t>
            </a:r>
            <a:r>
              <a:rPr sz="1800">
                <a:latin typeface="Cambria Math"/>
              </a:rPr>
              <a:t>𝐾 = 𝐼</a:t>
            </a:r>
            <a:r>
              <a:rPr sz="1800"/>
              <a:t> → same prediction for every input</a:t>
            </a:r>
          </a:p>
        </p:txBody>
      </p:sp>
      <p:pic>
        <p:nvPicPr>
          <p:cNvPr id="7" name="Picture 6" descr="tiet2_heatmap_concen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737360"/>
            <a:ext cx="6400800" cy="30723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56048" y="485546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Breast cancer, 100 train points, product-RX encoding, exact </a:t>
            </a:r>
            <a:r>
              <a:rPr sz="1300">
                <a:latin typeface="Cambria Math"/>
              </a:rPr>
              <a:t>𝐾</a:t>
            </a:r>
          </a:p>
        </p:txBody>
      </p:sp>
    </p:spTree>
    <p:extLst>
      <p:ext uri="{BB962C8B-B14F-4D97-AF65-F5344CB8AC3E}">
        <p14:creationId xmlns:p14="http://schemas.microsoft.com/office/powerpoint/2010/main" val="1541742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Three sources of concentration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/>
              <a:t>Expressivity: encoding covers too much of state space → states nearly orthogonal</a:t>
            </a:r>
          </a:p>
          <a:p>
            <a:r>
              <a:rPr sz="2400" dirty="0"/>
              <a:t>Global measurement: all </a:t>
            </a:r>
            <a:r>
              <a:rPr sz="2400" dirty="0">
                <a:latin typeface="Cambria Math"/>
              </a:rPr>
              <a:t>𝑛</a:t>
            </a:r>
            <a:r>
              <a:rPr sz="2400" dirty="0"/>
              <a:t> qubits measured at once; even without entanglement</a:t>
            </a:r>
          </a:p>
          <a:p>
            <a:r>
              <a:rPr sz="2400" dirty="0"/>
              <a:t>Noise: hardware noise, worse with deeper circuits</a:t>
            </a:r>
          </a:p>
          <a:p>
            <a:r>
              <a:rPr sz="2400" dirty="0"/>
              <a:t>Fix: keep </a:t>
            </a:r>
            <a:r>
              <a:rPr sz="2400" dirty="0">
                <a:latin typeface="Cambria Math"/>
              </a:rPr>
              <a:t>𝑘</a:t>
            </a:r>
            <a:r>
              <a:rPr sz="2400" dirty="0"/>
              <a:t> from getting tiny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/>
              <a:t>Simpler encoding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/>
              <a:t>Smaller data scale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/>
              <a:t>Encoding built on data structure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26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50030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Quantum neural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Lesson 3 · Quantum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944439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dirty="0"/>
              <a:t>Definition</a:t>
            </a:r>
          </a:p>
          <a:p>
            <a:pPr marL="457200" indent="-457200">
              <a:buAutoNum type="arabicPeriod"/>
            </a:pPr>
            <a:r>
              <a:rPr dirty="0"/>
              <a:t>Training</a:t>
            </a:r>
          </a:p>
          <a:p>
            <a:pPr marL="457200" indent="-457200">
              <a:buAutoNum type="arabicPeriod"/>
            </a:pPr>
            <a:r>
              <a:rPr dirty="0"/>
              <a:t>NN vs QNN</a:t>
            </a:r>
          </a:p>
          <a:p>
            <a:pPr marL="457200" indent="-457200">
              <a:buAutoNum type="arabicPeriod"/>
            </a:pPr>
            <a:r>
              <a:rPr dirty="0"/>
              <a:t>Barren plateau</a:t>
            </a:r>
          </a:p>
          <a:p>
            <a:pPr marL="457200" indent="-457200">
              <a:buAutoNum type="arabicPeriod"/>
            </a:pPr>
            <a:r>
              <a:rPr dirty="0"/>
              <a:t>Wrap-up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28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198563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1. Neural </a:t>
            </a:r>
            <a:r>
              <a:rPr dirty="0" err="1"/>
              <a:t>networ</a:t>
            </a:r>
            <a:r>
              <a:rPr lang="vi-VN" dirty="0"/>
              <a:t>k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sz="2400" dirty="0"/>
              <a:t>Three parts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/>
              <a:t>Input layer → hidden layers → output layer</a:t>
            </a:r>
          </a:p>
          <a:p>
            <a:r>
              <a:rPr sz="2400" dirty="0"/>
              <a:t>Each layer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>
                <a:latin typeface="Cambria Math"/>
              </a:rPr>
              <a:t>𝑧 = 𝑊𝑥 + 𝑏</a:t>
            </a:r>
            <a:r>
              <a:rPr sz="2000" dirty="0"/>
              <a:t>,  then  </a:t>
            </a:r>
            <a:r>
              <a:rPr sz="2000" dirty="0">
                <a:latin typeface="Cambria Math"/>
              </a:rPr>
              <a:t>𝜎(𝑧)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/>
              <a:t>Non-linear activation</a:t>
            </a:r>
          </a:p>
          <a:p>
            <a:r>
              <a:rPr sz="2400" dirty="0"/>
              <a:t>Trained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>
                <a:latin typeface="Cambria Math"/>
              </a:rPr>
              <a:t>𝑊, 𝑏</a:t>
            </a:r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442D324D-3F30-C3F6-3E5C-B03F1A2F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29</a:t>
            </a:fld>
            <a:endParaRPr lang="vi-VN"/>
          </a:p>
        </p:txBody>
      </p:sp>
      <p:pic>
        <p:nvPicPr>
          <p:cNvPr id="8" name="Picture 7" descr="tiet3_fig_du2025_4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5181600" cy="338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723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lang="vi-VN" dirty="0" err="1"/>
              <a:t>Quantum</a:t>
            </a:r>
            <a:r>
              <a:rPr lang="vi-VN" dirty="0"/>
              <a:t> </a:t>
            </a:r>
            <a:r>
              <a:rPr lang="vi-VN" dirty="0" err="1"/>
              <a:t>neural</a:t>
            </a:r>
            <a:r>
              <a:rPr lang="vi-VN" dirty="0"/>
              <a:t> </a:t>
            </a:r>
            <a:r>
              <a:rPr lang="vi-VN" dirty="0" err="1"/>
              <a:t>network</a:t>
            </a:r>
            <a:r>
              <a:rPr lang="vi-VN" dirty="0"/>
              <a:t> (QNN)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dirty="0"/>
              <a:t>Circuit: </a:t>
            </a:r>
            <a:r>
              <a:rPr sz="2200" dirty="0">
                <a:latin typeface="Cambria Math"/>
              </a:rPr>
              <a:t>|0⟩</a:t>
            </a:r>
            <a:r>
              <a:rPr sz="2200" baseline="30000" dirty="0">
                <a:latin typeface="Cambria Math"/>
              </a:rPr>
              <a:t>⊗𝑛</a:t>
            </a:r>
            <a:r>
              <a:rPr sz="2200" dirty="0"/>
              <a:t> → encoding </a:t>
            </a:r>
            <a:r>
              <a:rPr sz="2200" dirty="0">
                <a:latin typeface="Cambria Math"/>
              </a:rPr>
              <a:t>𝑈(𝑥)</a:t>
            </a:r>
            <a:r>
              <a:rPr sz="2200" dirty="0"/>
              <a:t> → ansatz </a:t>
            </a:r>
            <a:r>
              <a:rPr sz="2200" dirty="0">
                <a:latin typeface="Cambria Math"/>
              </a:rPr>
              <a:t>𝑉(𝜃)</a:t>
            </a:r>
            <a:r>
              <a:rPr sz="2200" dirty="0"/>
              <a:t> → measure </a:t>
            </a:r>
            <a:r>
              <a:rPr sz="2200" dirty="0">
                <a:latin typeface="Cambria Math"/>
              </a:rPr>
              <a:t>𝑂</a:t>
            </a:r>
          </a:p>
          <a:p>
            <a:pPr marL="457200" indent="-457200">
              <a:buAutoNum type="arabicPeriod"/>
            </a:pPr>
            <a:r>
              <a:rPr sz="2200" dirty="0"/>
              <a:t>Encoding: </a:t>
            </a:r>
            <a:r>
              <a:rPr sz="2200" dirty="0">
                <a:latin typeface="Cambria Math"/>
              </a:rPr>
              <a:t>|𝜓(𝑥)⟩ = 𝑈(𝑥)|0⟩</a:t>
            </a:r>
            <a:r>
              <a:rPr sz="2200" baseline="30000" dirty="0">
                <a:latin typeface="Cambria Math"/>
              </a:rPr>
              <a:t>⊗𝑛</a:t>
            </a:r>
            <a:r>
              <a:rPr sz="2200" dirty="0"/>
              <a:t> · same as QKM</a:t>
            </a:r>
          </a:p>
          <a:p>
            <a:pPr marL="457200" indent="-457200">
              <a:buAutoNum type="arabicPeriod"/>
            </a:pPr>
            <a:r>
              <a:rPr sz="2200" dirty="0"/>
              <a:t>Ansatz </a:t>
            </a:r>
            <a:r>
              <a:rPr sz="2200" dirty="0">
                <a:latin typeface="Cambria Math"/>
              </a:rPr>
              <a:t>𝑉(𝜃)</a:t>
            </a:r>
            <a:r>
              <a:rPr sz="2200" dirty="0"/>
              <a:t>: trainable circuit · new</a:t>
            </a:r>
          </a:p>
          <a:p>
            <a:pPr marL="457200" indent="-457200">
              <a:buAutoNum type="arabicPeriod"/>
            </a:pPr>
            <a:r>
              <a:rPr sz="2200" dirty="0"/>
              <a:t>Measure observable </a:t>
            </a:r>
            <a:r>
              <a:rPr sz="2200" dirty="0">
                <a:latin typeface="Cambria Math"/>
              </a:rPr>
              <a:t>𝑂</a:t>
            </a:r>
            <a:r>
              <a:rPr sz="2200" dirty="0"/>
              <a:t>: e.g. </a:t>
            </a:r>
            <a:r>
              <a:rPr sz="2200" dirty="0">
                <a:latin typeface="Cambria Math"/>
              </a:rPr>
              <a:t>𝑍</a:t>
            </a:r>
            <a:r>
              <a:rPr sz="2200" dirty="0"/>
              <a:t> on qubit 1</a:t>
            </a:r>
          </a:p>
          <a:p>
            <a:r>
              <a:rPr sz="2200" dirty="0">
                <a:latin typeface="Cambria Math"/>
              </a:rPr>
              <a:t>𝑓</a:t>
            </a:r>
            <a:r>
              <a:rPr sz="2200" baseline="-25000" dirty="0">
                <a:latin typeface="Cambria Math"/>
              </a:rPr>
              <a:t>𝜃</a:t>
            </a:r>
            <a:r>
              <a:rPr sz="2200" dirty="0">
                <a:latin typeface="Cambria Math"/>
              </a:rPr>
              <a:t>(𝑥) = ⟨𝜓(𝑥)| 𝑉(𝜃)</a:t>
            </a:r>
            <a:r>
              <a:rPr sz="2200" baseline="30000" dirty="0">
                <a:latin typeface="Cambria Math"/>
              </a:rPr>
              <a:t>†</a:t>
            </a:r>
            <a:r>
              <a:rPr sz="2200" dirty="0">
                <a:latin typeface="Cambria Math"/>
              </a:rPr>
              <a:t> 𝑂 𝑉(𝜃) |𝜓(𝑥)⟩  ∈  [−1, 1]</a:t>
            </a:r>
          </a:p>
          <a:p>
            <a:r>
              <a:rPr sz="2200" dirty="0"/>
              <a:t>Prediction:  </a:t>
            </a:r>
            <a:r>
              <a:rPr sz="2200" dirty="0">
                <a:latin typeface="Cambria Math"/>
              </a:rPr>
              <a:t>sign(𝑓</a:t>
            </a:r>
            <a:r>
              <a:rPr sz="2200" baseline="-25000" dirty="0">
                <a:latin typeface="Cambria Math"/>
              </a:rPr>
              <a:t>𝜃</a:t>
            </a:r>
            <a:r>
              <a:rPr sz="2200" dirty="0">
                <a:latin typeface="Cambria Math"/>
              </a:rPr>
              <a:t>(𝑥))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30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880905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lang="vi-VN" dirty="0" err="1"/>
              <a:t>Variational</a:t>
            </a:r>
            <a:r>
              <a:rPr lang="vi-VN" dirty="0"/>
              <a:t> </a:t>
            </a:r>
            <a:r>
              <a:rPr lang="vi-VN" dirty="0" err="1"/>
              <a:t>block</a:t>
            </a:r>
            <a:r>
              <a:rPr lang="vi-VN" dirty="0"/>
              <a:t>: </a:t>
            </a:r>
            <a:r>
              <a:rPr dirty="0"/>
              <a:t>ansatz </a:t>
            </a:r>
            <a:r>
              <a:rPr dirty="0">
                <a:latin typeface="Cambria Math"/>
              </a:rPr>
              <a:t>𝑉(𝜃)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sz="2000" dirty="0"/>
              <a:t>Trainable: single-qubit rotations RX, RY, RZ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Angles = </a:t>
            </a:r>
            <a:r>
              <a:rPr sz="1800" dirty="0">
                <a:latin typeface="Cambria Math"/>
              </a:rPr>
              <a:t>𝜃</a:t>
            </a:r>
          </a:p>
          <a:p>
            <a:r>
              <a:rPr sz="2000" dirty="0"/>
              <a:t>Fixed: two-qubit gates CNOT / CZ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Entanglement</a:t>
            </a:r>
          </a:p>
          <a:p>
            <a:r>
              <a:rPr sz="2000" dirty="0"/>
              <a:t>Repeat </a:t>
            </a:r>
            <a:r>
              <a:rPr sz="2000" dirty="0">
                <a:latin typeface="Cambria Math"/>
              </a:rPr>
              <a:t>𝐿</a:t>
            </a:r>
            <a:r>
              <a:rPr sz="2000" dirty="0"/>
              <a:t> layers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>
                <a:latin typeface="Cambria Math"/>
              </a:rPr>
              <a:t>𝐿</a:t>
            </a:r>
            <a:r>
              <a:rPr sz="1800" dirty="0"/>
              <a:t> is a hyperparameter</a:t>
            </a:r>
          </a:p>
          <a:p>
            <a:r>
              <a:rPr sz="2000" dirty="0"/>
              <a:t>QKM: fixed circuit · trained </a:t>
            </a:r>
            <a:r>
              <a:rPr sz="2000" dirty="0">
                <a:latin typeface="Cambria Math"/>
              </a:rPr>
              <a:t>𝛼</a:t>
            </a:r>
            <a:r>
              <a:rPr sz="2000" dirty="0"/>
              <a:t> outside the quantum computer</a:t>
            </a:r>
          </a:p>
          <a:p>
            <a:r>
              <a:rPr sz="2000" dirty="0"/>
              <a:t>QNN: trained </a:t>
            </a:r>
            <a:r>
              <a:rPr sz="2000" dirty="0">
                <a:latin typeface="Cambria Math"/>
              </a:rPr>
              <a:t>𝜃</a:t>
            </a:r>
            <a:r>
              <a:rPr sz="2000" dirty="0"/>
              <a:t> inside the circuit</a:t>
            </a:r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442D324D-3F30-C3F6-3E5C-B03F1A2F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31</a:t>
            </a:fld>
            <a:endParaRPr lang="vi-VN"/>
          </a:p>
        </p:txBody>
      </p:sp>
      <p:pic>
        <p:nvPicPr>
          <p:cNvPr id="8" name="Picture 7" descr="tiet3_fig_du2025_4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5181600" cy="221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136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QNN = two blocks and a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dirty="0"/>
              <a:t>Train data: </a:t>
            </a:r>
            <a:r>
              <a:rPr sz="2200" dirty="0">
                <a:latin typeface="Cambria Math"/>
              </a:rPr>
              <a:t>(𝑥</a:t>
            </a:r>
            <a:r>
              <a:rPr sz="2200" baseline="-25000" dirty="0">
                <a:latin typeface="Cambria Math"/>
              </a:rPr>
              <a:t>𝑖</a:t>
            </a:r>
            <a:r>
              <a:rPr sz="2200" dirty="0">
                <a:latin typeface="Cambria Math"/>
              </a:rPr>
              <a:t>, 𝑦</a:t>
            </a:r>
            <a:r>
              <a:rPr sz="2200" baseline="-25000" dirty="0">
                <a:latin typeface="Cambria Math"/>
              </a:rPr>
              <a:t>𝑖</a:t>
            </a:r>
            <a:r>
              <a:rPr sz="2200" dirty="0">
                <a:latin typeface="Cambria Math"/>
              </a:rPr>
              <a:t>)</a:t>
            </a:r>
            <a:r>
              <a:rPr sz="2200" dirty="0"/>
              <a:t> → quantum block</a:t>
            </a:r>
          </a:p>
          <a:p>
            <a:r>
              <a:rPr sz="2200" b="1" dirty="0"/>
              <a:t>Quantum</a:t>
            </a:r>
            <a:r>
              <a:rPr sz="2200" dirty="0"/>
              <a:t>: compute </a:t>
            </a:r>
            <a:r>
              <a:rPr sz="2200" dirty="0">
                <a:latin typeface="Cambria Math"/>
              </a:rPr>
              <a:t>𝑓</a:t>
            </a:r>
            <a:r>
              <a:rPr sz="2200" dirty="0"/>
              <a:t> (hardware: average over shots · simulator: exact)</a:t>
            </a:r>
          </a:p>
          <a:p>
            <a:pPr marL="914400" lvl="1" indent="-457200">
              <a:buAutoNum type="arabicPeriod"/>
            </a:pPr>
            <a:r>
              <a:rPr sz="2000" dirty="0"/>
              <a:t>Encoding: </a:t>
            </a:r>
            <a:r>
              <a:rPr sz="2000" dirty="0">
                <a:latin typeface="Cambria Math"/>
              </a:rPr>
              <a:t>𝑈(𝑥</a:t>
            </a:r>
            <a:r>
              <a:rPr sz="2000" baseline="-25000" dirty="0">
                <a:latin typeface="Cambria Math"/>
              </a:rPr>
              <a:t>𝑖</a:t>
            </a:r>
            <a:r>
              <a:rPr sz="2000" dirty="0">
                <a:latin typeface="Cambria Math"/>
              </a:rPr>
              <a:t>)</a:t>
            </a:r>
          </a:p>
          <a:p>
            <a:pPr marL="914400" lvl="1" indent="-457200">
              <a:buAutoNum type="arabicPeriod"/>
            </a:pPr>
            <a:r>
              <a:rPr sz="2000" dirty="0"/>
              <a:t>Ansatz: </a:t>
            </a:r>
            <a:r>
              <a:rPr sz="2000" dirty="0">
                <a:latin typeface="Cambria Math"/>
              </a:rPr>
              <a:t>𝑉(𝜃)</a:t>
            </a:r>
            <a:r>
              <a:rPr sz="2000" dirty="0"/>
              <a:t>, trainable</a:t>
            </a:r>
          </a:p>
          <a:p>
            <a:pPr marL="914400" lvl="1" indent="-457200">
              <a:buAutoNum type="arabicPeriod"/>
            </a:pPr>
            <a:r>
              <a:rPr sz="2000" dirty="0"/>
              <a:t>Measure: </a:t>
            </a:r>
            <a:r>
              <a:rPr sz="2000" dirty="0">
                <a:latin typeface="Cambria Math"/>
              </a:rPr>
              <a:t>𝑂</a:t>
            </a:r>
            <a:r>
              <a:rPr sz="2000" dirty="0"/>
              <a:t>  →  </a:t>
            </a:r>
            <a:r>
              <a:rPr sz="2000" dirty="0">
                <a:latin typeface="Cambria Math"/>
              </a:rPr>
              <a:t>𝑓</a:t>
            </a:r>
            <a:r>
              <a:rPr sz="2000" baseline="-25000" dirty="0">
                <a:latin typeface="Cambria Math"/>
              </a:rPr>
              <a:t>𝜃</a:t>
            </a:r>
            <a:r>
              <a:rPr sz="2000" dirty="0">
                <a:latin typeface="Cambria Math"/>
              </a:rPr>
              <a:t>(𝑥</a:t>
            </a:r>
            <a:r>
              <a:rPr sz="2000" baseline="-25000" dirty="0">
                <a:latin typeface="Cambria Math"/>
              </a:rPr>
              <a:t>𝑖</a:t>
            </a:r>
            <a:r>
              <a:rPr sz="2000" dirty="0">
                <a:latin typeface="Cambria Math"/>
              </a:rPr>
              <a:t>)</a:t>
            </a:r>
          </a:p>
          <a:p>
            <a:r>
              <a:rPr sz="2200" b="1" dirty="0"/>
              <a:t>Classical</a:t>
            </a:r>
            <a:r>
              <a:rPr sz="2200" dirty="0"/>
              <a:t>: train </a:t>
            </a:r>
            <a:r>
              <a:rPr sz="2200" dirty="0">
                <a:latin typeface="Cambria Math"/>
              </a:rPr>
              <a:t>𝜃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/>
              <a:t>Loss: compare </a:t>
            </a:r>
            <a:r>
              <a:rPr sz="2000" dirty="0">
                <a:latin typeface="Cambria Math"/>
              </a:rPr>
              <a:t>𝑓</a:t>
            </a:r>
            <a:r>
              <a:rPr sz="2000" baseline="-25000" dirty="0">
                <a:latin typeface="Cambria Math"/>
              </a:rPr>
              <a:t>𝜃</a:t>
            </a:r>
            <a:r>
              <a:rPr sz="2000" dirty="0">
                <a:latin typeface="Cambria Math"/>
              </a:rPr>
              <a:t>(𝑥</a:t>
            </a:r>
            <a:r>
              <a:rPr sz="2000" baseline="-25000" dirty="0">
                <a:latin typeface="Cambria Math"/>
              </a:rPr>
              <a:t>𝑖</a:t>
            </a:r>
            <a:r>
              <a:rPr sz="2000" dirty="0">
                <a:latin typeface="Cambria Math"/>
              </a:rPr>
              <a:t>)</a:t>
            </a:r>
            <a:r>
              <a:rPr sz="2000" dirty="0"/>
              <a:t> with </a:t>
            </a:r>
            <a:r>
              <a:rPr sz="2000" dirty="0">
                <a:latin typeface="Cambria Math"/>
              </a:rPr>
              <a:t>𝑦</a:t>
            </a:r>
            <a:r>
              <a:rPr sz="2000" baseline="-25000" dirty="0">
                <a:latin typeface="Cambria Math"/>
              </a:rPr>
              <a:t>𝑖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/>
              <a:t>Optimizer: </a:t>
            </a:r>
            <a:r>
              <a:rPr sz="2000" dirty="0">
                <a:latin typeface="Cambria Math"/>
              </a:rPr>
              <a:t>𝜃</a:t>
            </a:r>
            <a:r>
              <a:rPr sz="2000" dirty="0"/>
              <a:t> → new </a:t>
            </a:r>
            <a:r>
              <a:rPr sz="2000" dirty="0">
                <a:latin typeface="Cambria Math"/>
              </a:rPr>
              <a:t>𝜃</a:t>
            </a:r>
            <a:r>
              <a:rPr sz="2000" dirty="0"/>
              <a:t>, back into the ansatz</a:t>
            </a:r>
          </a:p>
          <a:p>
            <a:r>
              <a:rPr sz="2200" dirty="0"/>
              <a:t>Training loop: measure → loss → optimizer → ansatz</a:t>
            </a:r>
          </a:p>
          <a:p>
            <a:r>
              <a:rPr sz="2200" dirty="0"/>
              <a:t>Prediction: new </a:t>
            </a:r>
            <a:r>
              <a:rPr sz="2200" dirty="0">
                <a:latin typeface="Cambria Math"/>
              </a:rPr>
              <a:t>𝑥</a:t>
            </a:r>
            <a:r>
              <a:rPr sz="2200" dirty="0"/>
              <a:t> + trained </a:t>
            </a:r>
            <a:r>
              <a:rPr sz="2200" dirty="0">
                <a:latin typeface="Cambria Math"/>
              </a:rPr>
              <a:t>𝜃</a:t>
            </a:r>
            <a:r>
              <a:rPr sz="2200" dirty="0"/>
              <a:t> → </a:t>
            </a:r>
            <a:r>
              <a:rPr sz="2200" dirty="0">
                <a:latin typeface="Cambria Math"/>
              </a:rPr>
              <a:t>𝑓</a:t>
            </a:r>
            <a:r>
              <a:rPr sz="2200" baseline="-25000" dirty="0">
                <a:latin typeface="Cambria Math"/>
              </a:rPr>
              <a:t>𝜃</a:t>
            </a:r>
            <a:r>
              <a:rPr sz="2200" dirty="0">
                <a:latin typeface="Cambria Math"/>
              </a:rPr>
              <a:t>(𝑥)</a:t>
            </a:r>
            <a:r>
              <a:rPr sz="2200" dirty="0"/>
              <a:t> → </a:t>
            </a:r>
            <a:r>
              <a:rPr sz="2200" dirty="0">
                <a:latin typeface="Cambria Math"/>
              </a:rPr>
              <a:t>sign(𝑓</a:t>
            </a:r>
            <a:r>
              <a:rPr sz="2200" baseline="-25000" dirty="0">
                <a:latin typeface="Cambria Math"/>
              </a:rPr>
              <a:t>𝜃</a:t>
            </a:r>
            <a:r>
              <a:rPr sz="2200" dirty="0">
                <a:latin typeface="Cambria Math"/>
              </a:rPr>
              <a:t>(𝑥))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32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45366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2. Training: same as NN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33</a:t>
            </a:fld>
            <a:endParaRPr lang="vi-VN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73736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QNN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2000"/>
                        <a:t>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ambria Math"/>
                        </a:rPr>
                        <a:t>𝐿 = ½ Σ</a:t>
                      </a:r>
                      <a:r>
                        <a:rPr sz="2000" baseline="-25000">
                          <a:latin typeface="Cambria Math"/>
                        </a:rPr>
                        <a:t>𝑖</a:t>
                      </a:r>
                      <a:r>
                        <a:rPr sz="2000">
                          <a:latin typeface="Cambria Math"/>
                        </a:rPr>
                        <a:t> (ŷ</a:t>
                      </a:r>
                      <a:r>
                        <a:rPr sz="2000" baseline="-25000">
                          <a:latin typeface="Cambria Math"/>
                        </a:rPr>
                        <a:t>𝑖</a:t>
                      </a:r>
                      <a:r>
                        <a:rPr sz="2000">
                          <a:latin typeface="Cambria Math"/>
                        </a:rPr>
                        <a:t> − 𝑦</a:t>
                      </a:r>
                      <a:r>
                        <a:rPr sz="2000" baseline="-25000">
                          <a:latin typeface="Cambria Math"/>
                        </a:rPr>
                        <a:t>𝑖</a:t>
                      </a:r>
                      <a:r>
                        <a:rPr sz="2000">
                          <a:latin typeface="Cambria Math"/>
                        </a:rPr>
                        <a:t>)</a:t>
                      </a:r>
                      <a:r>
                        <a:rPr sz="2000" baseline="30000">
                          <a:latin typeface="Cambria Math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ambria Math"/>
                        </a:rPr>
                        <a:t>𝐿(𝜃) = ½ Σ</a:t>
                      </a:r>
                      <a:r>
                        <a:rPr sz="2000" baseline="-25000">
                          <a:latin typeface="Cambria Math"/>
                        </a:rPr>
                        <a:t>𝑖</a:t>
                      </a:r>
                      <a:r>
                        <a:rPr sz="2000">
                          <a:latin typeface="Cambria Math"/>
                        </a:rPr>
                        <a:t> (𝑓</a:t>
                      </a:r>
                      <a:r>
                        <a:rPr sz="2000" baseline="-25000">
                          <a:latin typeface="Cambria Math"/>
                        </a:rPr>
                        <a:t>𝜃</a:t>
                      </a:r>
                      <a:r>
                        <a:rPr sz="2000">
                          <a:latin typeface="Cambria Math"/>
                        </a:rPr>
                        <a:t>(𝑥</a:t>
                      </a:r>
                      <a:r>
                        <a:rPr sz="2000" baseline="-25000">
                          <a:latin typeface="Cambria Math"/>
                        </a:rPr>
                        <a:t>𝑖</a:t>
                      </a:r>
                      <a:r>
                        <a:rPr sz="2000">
                          <a:latin typeface="Cambria Math"/>
                        </a:rPr>
                        <a:t>) − 𝑦</a:t>
                      </a:r>
                      <a:r>
                        <a:rPr sz="2000" baseline="-25000">
                          <a:latin typeface="Cambria Math"/>
                        </a:rPr>
                        <a:t>𝑖</a:t>
                      </a:r>
                      <a:r>
                        <a:rPr sz="2000">
                          <a:latin typeface="Cambria Math"/>
                        </a:rPr>
                        <a:t>)</a:t>
                      </a:r>
                      <a:r>
                        <a:rPr sz="2000" baseline="30000">
                          <a:latin typeface="Cambria Math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2000"/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ambria Math"/>
                        </a:rPr>
                        <a:t>𝑊 ← 𝑊 − 𝜂∇𝐿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ambria Math"/>
                        </a:rPr>
                        <a:t>𝜃 ← 𝜃 − 𝜂∇𝐿</a:t>
                      </a:r>
                      <a:r>
                        <a:rPr sz="2000"/>
                        <a:t>    (or Adam)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2000"/>
                        <a:t>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Backprop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ambria Math"/>
                        </a:rPr>
                        <a:t>∇𝐿 = Σ</a:t>
                      </a:r>
                      <a:r>
                        <a:rPr sz="2000" baseline="-25000">
                          <a:latin typeface="Cambria Math"/>
                        </a:rPr>
                        <a:t>𝑖</a:t>
                      </a:r>
                      <a:r>
                        <a:rPr sz="2000">
                          <a:latin typeface="Cambria Math"/>
                        </a:rPr>
                        <a:t> (𝑓</a:t>
                      </a:r>
                      <a:r>
                        <a:rPr sz="2000" baseline="-25000">
                          <a:latin typeface="Cambria Math"/>
                        </a:rPr>
                        <a:t>𝜃</a:t>
                      </a:r>
                      <a:r>
                        <a:rPr sz="2000">
                          <a:latin typeface="Cambria Math"/>
                        </a:rPr>
                        <a:t>(𝑥</a:t>
                      </a:r>
                      <a:r>
                        <a:rPr sz="2000" baseline="-25000">
                          <a:latin typeface="Cambria Math"/>
                        </a:rPr>
                        <a:t>𝑖</a:t>
                      </a:r>
                      <a:r>
                        <a:rPr sz="2000">
                          <a:latin typeface="Cambria Math"/>
                        </a:rPr>
                        <a:t>) − 𝑦</a:t>
                      </a:r>
                      <a:r>
                        <a:rPr sz="2000" baseline="-25000">
                          <a:latin typeface="Cambria Math"/>
                        </a:rPr>
                        <a:t>𝑖</a:t>
                      </a:r>
                      <a:r>
                        <a:rPr sz="2000">
                          <a:latin typeface="Cambria Math"/>
                        </a:rPr>
                        <a:t>) ∇𝑓</a:t>
                      </a:r>
                      <a:r>
                        <a:rPr sz="2000" baseline="-25000">
                          <a:latin typeface="Cambria Math"/>
                        </a:rPr>
                        <a:t>𝜃</a:t>
                      </a:r>
                      <a:r>
                        <a:rPr sz="2000">
                          <a:latin typeface="Cambria Math"/>
                        </a:rPr>
                        <a:t>(𝑥</a:t>
                      </a:r>
                      <a:r>
                        <a:rPr sz="2000" baseline="-25000">
                          <a:latin typeface="Cambria Math"/>
                        </a:rPr>
                        <a:t>𝑖</a:t>
                      </a:r>
                      <a:r>
                        <a:rPr sz="2000">
                          <a:latin typeface="Cambria Math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2000"/>
                        <a:t>Landscape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Usually non-convex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Usually non-convex    (QKM: convex)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/>
              <a:t>New: </a:t>
            </a:r>
            <a:r>
              <a:rPr sz="2200">
                <a:latin typeface="Cambria Math"/>
              </a:rPr>
              <a:t>∇𝑓</a:t>
            </a:r>
            <a:r>
              <a:rPr sz="2200" baseline="-25000">
                <a:latin typeface="Cambria Math"/>
              </a:rPr>
              <a:t>𝜃</a:t>
            </a:r>
            <a:r>
              <a:rPr sz="2200">
                <a:latin typeface="Cambria Math"/>
              </a:rPr>
              <a:t>(𝑥)</a:t>
            </a:r>
            <a:r>
              <a:rPr sz="2200"/>
              <a:t>, with </a:t>
            </a:r>
            <a:r>
              <a:rPr sz="2200">
                <a:latin typeface="Cambria Math"/>
              </a:rPr>
              <a:t>𝜃</a:t>
            </a:r>
            <a:r>
              <a:rPr sz="2200"/>
              <a:t> inside the circuit</a:t>
            </a:r>
          </a:p>
        </p:txBody>
      </p:sp>
    </p:spTree>
    <p:extLst>
      <p:ext uri="{BB962C8B-B14F-4D97-AF65-F5344CB8AC3E}">
        <p14:creationId xmlns:p14="http://schemas.microsoft.com/office/powerpoint/2010/main" val="38560645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On hardware, </a:t>
            </a:r>
            <a:r>
              <a:rPr>
                <a:latin typeface="Cambria Math"/>
              </a:rPr>
              <a:t>∇𝑓</a:t>
            </a:r>
            <a:r>
              <a:t> costs 2 runs per parameter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Quantum hardware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sz="1800" dirty="0"/>
              <a:t>State cannot be read mid-circuit → no backprop</a:t>
            </a:r>
          </a:p>
          <a:p>
            <a:r>
              <a:rPr lang="vi-VN" sz="1800">
                <a:latin typeface="Cambria Math"/>
              </a:rPr>
              <a:t>∂𝑓/∂𝜃</a:t>
            </a:r>
            <a:r>
              <a:rPr lang="vi-VN" sz="1800" baseline="-25000">
                <a:latin typeface="Cambria Math"/>
              </a:rPr>
              <a:t>𝑘</a:t>
            </a:r>
            <a:r>
              <a:rPr lang="vi-VN" sz="1800">
                <a:latin typeface="Cambria Math"/>
              </a:rPr>
              <a:t> = ½ [ 𝑓(𝜃</a:t>
            </a:r>
            <a:r>
              <a:rPr lang="vi-VN" sz="1800" baseline="-25000">
                <a:latin typeface="Cambria Math"/>
              </a:rPr>
              <a:t>𝑘</a:t>
            </a:r>
            <a:r>
              <a:rPr lang="vi-VN" sz="1800">
                <a:latin typeface="Cambria Math"/>
              </a:rPr>
              <a:t> + 𝜋/2) − 𝑓(𝜃</a:t>
            </a:r>
            <a:r>
              <a:rPr lang="vi-VN" sz="1800" baseline="-25000">
                <a:latin typeface="Cambria Math"/>
              </a:rPr>
              <a:t>𝑘</a:t>
            </a:r>
            <a:r>
              <a:rPr lang="vi-VN" sz="1800">
                <a:latin typeface="Cambria Math"/>
              </a:rPr>
              <a:t> − 𝜋/2) ]</a:t>
            </a:r>
            <a:endParaRPr sz="1800" dirty="0">
              <a:latin typeface="Cambria Math"/>
            </a:endParaRPr>
          </a:p>
          <a:p>
            <a:r>
              <a:rPr sz="1800" dirty="0"/>
              <a:t>2 circuit runs per parameter, each averaged over shots</a:t>
            </a:r>
          </a:p>
          <a:p>
            <a:r>
              <a:rPr sz="1800" dirty="0"/>
              <a:t>Per training step: 21,840 circuit runs, each × shots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600" dirty="0">
                <a:latin typeface="Cambria Math"/>
              </a:rPr>
              <a:t>2𝑃𝑁</a:t>
            </a:r>
            <a:r>
              <a:rPr sz="1600" dirty="0"/>
              <a:t> with </a:t>
            </a:r>
            <a:r>
              <a:rPr sz="1600" dirty="0">
                <a:latin typeface="Cambria Math"/>
              </a:rPr>
              <a:t>𝑃 = 24</a:t>
            </a:r>
            <a:r>
              <a:rPr sz="1600" dirty="0"/>
              <a:t> parameters, </a:t>
            </a:r>
            <a:r>
              <a:rPr sz="1600" dirty="0">
                <a:latin typeface="Cambria Math"/>
              </a:rPr>
              <a:t>𝑁 = 455</a:t>
            </a:r>
            <a:r>
              <a:rPr sz="1600" dirty="0"/>
              <a:t> training points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Simulator (lab)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sz="1800" dirty="0"/>
              <a:t>State in memory → backprop, as in NN</a:t>
            </a:r>
          </a:p>
          <a:p>
            <a:r>
              <a:rPr sz="1800" dirty="0">
                <a:latin typeface="Cambria Math"/>
              </a:rPr>
              <a:t>∂𝑓/∂𝜃</a:t>
            </a:r>
            <a:r>
              <a:rPr sz="1800" baseline="-25000" dirty="0">
                <a:latin typeface="Cambria Math"/>
              </a:rPr>
              <a:t>1</a:t>
            </a:r>
            <a:r>
              <a:rPr sz="1800" dirty="0"/>
              <a:t> on the lab circuit: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600" dirty="0"/>
              <a:t>+0.0809 (parameter-shift)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600" dirty="0"/>
              <a:t>+0.0809 (backprop)</a:t>
            </a:r>
          </a:p>
          <a:p>
            <a:r>
              <a:rPr sz="1800" dirty="0"/>
              <a:t>Same gradient</a:t>
            </a:r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2BFD1BE4-6606-5376-89B0-058E27474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34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349662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3. </a:t>
            </a:r>
            <a:r>
              <a:rPr lang="vi-VN" dirty="0"/>
              <a:t>NN </a:t>
            </a:r>
            <a:r>
              <a:rPr lang="vi-VN" dirty="0" err="1"/>
              <a:t>vs</a:t>
            </a:r>
            <a:r>
              <a:rPr lang="vi-VN" dirty="0"/>
              <a:t> QNN</a:t>
            </a:r>
            <a:endParaRPr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35</a:t>
            </a:fld>
            <a:endParaRPr lang="vi-VN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645920"/>
          <a:ext cx="10515599" cy="4743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QNN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700"/>
                        <a:t>Same recipe as 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70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Layers: affine + activation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Encoding → ansatz </a:t>
                      </a:r>
                      <a:r>
                        <a:rPr sz="1700">
                          <a:latin typeface="Cambria Math"/>
                        </a:rPr>
                        <a:t>𝑉(𝜃)</a:t>
                      </a:r>
                      <a:r>
                        <a:rPr sz="1700"/>
                        <a:t> → measure </a:t>
                      </a:r>
                      <a:r>
                        <a:rPr sz="1700">
                          <a:latin typeface="Cambria Math"/>
                        </a:rPr>
                        <a:t>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700"/>
                        <a:t>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Same loss, GD / Adam, usually non-convex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Identical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700"/>
                        <a:t>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Backprop, exact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Parameter-shift: 2 runs per parameter, shot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700"/>
                        <a:t>What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700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Learned: hidden layers change with </a:t>
                      </a:r>
                      <a:r>
                        <a:rPr sz="1700">
                          <a:latin typeface="Cambria Math"/>
                        </a:rPr>
                        <a:t>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Fixed by the encoding; </a:t>
                      </a:r>
                      <a:r>
                        <a:rPr sz="1700">
                          <a:latin typeface="Cambria Math"/>
                        </a:rPr>
                        <a:t>𝜃</a:t>
                      </a:r>
                      <a:r>
                        <a:rPr sz="1700"/>
                        <a:t> cannot change them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700"/>
                        <a:t>Non-linearity in </a:t>
                      </a:r>
                      <a:r>
                        <a:rPr sz="1700">
                          <a:latin typeface="Cambria Math"/>
                        </a:rPr>
                        <a:t>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At every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Only in the encoding; </a:t>
                      </a:r>
                      <a:r>
                        <a:rPr sz="1700">
                          <a:latin typeface="Cambria Math"/>
                        </a:rPr>
                        <a:t>𝐿</a:t>
                      </a:r>
                      <a:r>
                        <a:rPr sz="1700"/>
                        <a:t> layers = one unitary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700"/>
                        <a:t>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dirty="0"/>
                        <a:t>Vanishing gradient with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dirty="0"/>
                        <a:t>Barren plateau with qubit number  (next)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28453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3. </a:t>
            </a:r>
            <a:r>
              <a:rPr lang="vi-VN" dirty="0"/>
              <a:t>QNN </a:t>
            </a:r>
            <a:r>
              <a:rPr lang="vi-VN" dirty="0" err="1"/>
              <a:t>as</a:t>
            </a:r>
            <a:r>
              <a:rPr lang="vi-VN" dirty="0"/>
              <a:t> a </a:t>
            </a:r>
            <a:r>
              <a:rPr lang="vi-VN" dirty="0" err="1"/>
              <a:t>linear</a:t>
            </a:r>
            <a:r>
              <a:rPr lang="vi-VN" dirty="0"/>
              <a:t> </a:t>
            </a:r>
            <a:r>
              <a:rPr lang="vi-VN" dirty="0" err="1"/>
              <a:t>model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dirty="0">
                <a:latin typeface="Cambria Math"/>
              </a:rPr>
              <a:t>𝑓</a:t>
            </a:r>
            <a:r>
              <a:rPr sz="2200" baseline="-25000" dirty="0">
                <a:latin typeface="Cambria Math"/>
              </a:rPr>
              <a:t>𝜃</a:t>
            </a:r>
            <a:r>
              <a:rPr sz="2200" dirty="0">
                <a:latin typeface="Cambria Math"/>
              </a:rPr>
              <a:t>(𝑥) = ⟨𝜓(𝑥)| 𝑉(𝜃)</a:t>
            </a:r>
            <a:r>
              <a:rPr sz="2200" baseline="30000" dirty="0">
                <a:latin typeface="Cambria Math"/>
              </a:rPr>
              <a:t>†</a:t>
            </a:r>
            <a:r>
              <a:rPr sz="2200" dirty="0">
                <a:latin typeface="Cambria Math"/>
              </a:rPr>
              <a:t> 𝑂 𝑉(𝜃) |𝜓(𝑥)⟩  =  ⟨𝜓(𝑥)| 𝑀(𝜃) |𝜓(𝑥)⟩</a:t>
            </a:r>
          </a:p>
          <a:p>
            <a:r>
              <a:rPr sz="2200" dirty="0">
                <a:latin typeface="Cambria Math"/>
              </a:rPr>
              <a:t>𝑥</a:t>
            </a:r>
            <a:r>
              <a:rPr sz="2200" dirty="0"/>
              <a:t> enters only through </a:t>
            </a:r>
            <a:r>
              <a:rPr sz="2200" dirty="0">
                <a:latin typeface="Cambria Math"/>
              </a:rPr>
              <a:t>|𝜓(𝑥)⟩</a:t>
            </a:r>
            <a:r>
              <a:rPr sz="2200" dirty="0"/>
              <a:t>  →  fixed features</a:t>
            </a:r>
          </a:p>
          <a:p>
            <a:r>
              <a:rPr sz="2200" dirty="0">
                <a:latin typeface="Cambria Math"/>
              </a:rPr>
              <a:t>𝜃</a:t>
            </a:r>
            <a:r>
              <a:rPr sz="2200" dirty="0"/>
              <a:t> enters only through </a:t>
            </a:r>
            <a:r>
              <a:rPr sz="2200" dirty="0">
                <a:latin typeface="Cambria Math"/>
              </a:rPr>
              <a:t>𝑀(𝜃)</a:t>
            </a:r>
            <a:r>
              <a:rPr sz="2200" dirty="0"/>
              <a:t>  →  trained weights</a:t>
            </a:r>
          </a:p>
          <a:p>
            <a:r>
              <a:rPr sz="2200" dirty="0"/>
              <a:t>Closer to a linear model on fixed features (like logistic regression) than to an NN</a:t>
            </a:r>
          </a:p>
          <a:p>
            <a:r>
              <a:rPr sz="2200" dirty="0"/>
              <a:t>Same features as the quantum kernel: a large class of QML models are kernel methods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36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718442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Barren plateau: gradient below shot noise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37</a:t>
            </a:fld>
            <a:endParaRPr lang="vi-VN"/>
          </a:p>
        </p:txBody>
      </p:sp>
      <p:sp>
        <p:nvSpPr>
          <p:cNvPr id="6" name="TextBox 5"/>
          <p:cNvSpPr txBox="1"/>
          <p:nvPr/>
        </p:nvSpPr>
        <p:spPr>
          <a:xfrm>
            <a:off x="841248" y="173736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NN: vanishing gradient with depth, still computed exactly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5176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sz="1800"/>
              <a:t>Random enough ansatz: average </a:t>
            </a:r>
            <a:r>
              <a:rPr sz="1800">
                <a:latin typeface="Cambria Math"/>
              </a:rPr>
              <a:t>∂𝑓/∂𝜃 = 0</a:t>
            </a:r>
            <a:r>
              <a:rPr sz="1800"/>
              <a:t>,  </a:t>
            </a:r>
            <a:r>
              <a:rPr sz="1800">
                <a:latin typeface="Cambria Math"/>
              </a:rPr>
              <a:t>Var[∂𝑓/∂𝜃] ∼ 2</a:t>
            </a:r>
            <a:r>
              <a:rPr sz="1800" baseline="30000">
                <a:latin typeface="Cambria Math"/>
              </a:rPr>
              <a:t>−𝑛</a:t>
            </a:r>
          </a:p>
          <a:p>
            <a:pPr marL="457200" indent="-457200">
              <a:buAutoNum type="arabicPeriod"/>
            </a:pPr>
            <a:r>
              <a:rPr sz="1800"/>
              <a:t>Hardware: gradient from shots below shot noise → the sign is a coin flip</a:t>
            </a:r>
          </a:p>
        </p:txBody>
      </p:sp>
      <p:pic>
        <p:nvPicPr>
          <p:cNvPr id="8" name="Picture 7" descr="tiet3_barren_platea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828800"/>
            <a:ext cx="6400800" cy="2880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56048" y="4754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Random enough circuit, 1000 random </a:t>
            </a:r>
            <a:r>
              <a:rPr sz="1300">
                <a:latin typeface="Cambria Math"/>
              </a:rPr>
              <a:t>𝜃</a:t>
            </a:r>
            <a:r>
              <a:rPr sz="1300"/>
              <a:t>, gradient estimated from 1000 shots</a:t>
            </a:r>
          </a:p>
        </p:txBody>
      </p:sp>
    </p:spTree>
    <p:extLst>
      <p:ext uri="{BB962C8B-B14F-4D97-AF65-F5344CB8AC3E}">
        <p14:creationId xmlns:p14="http://schemas.microsoft.com/office/powerpoint/2010/main" val="35330848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Three sources of barren plateaus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/>
              <a:t>Expressive ansatz: deep, random-like circuit</a:t>
            </a:r>
          </a:p>
          <a:p>
            <a:r>
              <a:rPr sz="2400" dirty="0"/>
              <a:t>Global measurement: many qubits measured at once</a:t>
            </a:r>
          </a:p>
          <a:p>
            <a:r>
              <a:rPr sz="2400" dirty="0"/>
              <a:t>Noise: hardware noise, worse with deeper circuits</a:t>
            </a:r>
          </a:p>
          <a:p>
            <a:r>
              <a:rPr sz="2400" dirty="0"/>
              <a:t>Same three as kernel concentration</a:t>
            </a:r>
            <a:endParaRPr lang="vi-VN" sz="2400" dirty="0"/>
          </a:p>
          <a:p>
            <a:pPr marL="0" indent="0">
              <a:buNone/>
            </a:pPr>
            <a:endParaRPr sz="2400" dirty="0"/>
          </a:p>
          <a:p>
            <a:r>
              <a:rPr sz="2400" dirty="0"/>
              <a:t>Fix: shallow circuit + local measurement</a:t>
            </a:r>
          </a:p>
          <a:p>
            <a:pPr marL="914400" lvl="1" indent="-457200">
              <a:buFont typeface="+mj-lt"/>
              <a:buAutoNum type="arabicPeriod"/>
            </a:pPr>
            <a:r>
              <a:rPr sz="2000" dirty="0"/>
              <a:t>Shallow circuit</a:t>
            </a:r>
          </a:p>
          <a:p>
            <a:pPr marL="914400" lvl="1" indent="-457200">
              <a:buFont typeface="+mj-lt"/>
              <a:buAutoNum type="arabicPeriod"/>
            </a:pPr>
            <a:r>
              <a:rPr sz="2000" dirty="0"/>
              <a:t>Local measurement, e.g. </a:t>
            </a:r>
            <a:r>
              <a:rPr sz="2000" dirty="0">
                <a:latin typeface="Cambria Math"/>
              </a:rPr>
              <a:t>𝑍</a:t>
            </a:r>
            <a:r>
              <a:rPr sz="2000" dirty="0"/>
              <a:t> on one qubit</a:t>
            </a:r>
          </a:p>
          <a:p>
            <a:pPr marL="914400" lvl="1" indent="-457200">
              <a:buFont typeface="+mj-lt"/>
              <a:buAutoNum type="arabicPeriod"/>
            </a:pPr>
            <a:r>
              <a:rPr sz="2000" dirty="0"/>
              <a:t>Gradient no longer vanishes exponentially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38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840307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Three questions, two models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39</a:t>
            </a:fld>
            <a:endParaRPr lang="vi-VN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737360"/>
          <a:ext cx="10515598" cy="4206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QKM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QNN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259">
                <a:tc>
                  <a:txBody>
                    <a:bodyPr/>
                    <a:lstStyle/>
                    <a:p>
                      <a:r>
                        <a:rPr sz="2000"/>
                        <a:t>What can it fit?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Features set by the encoding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Same features</a:t>
                      </a:r>
                    </a:p>
                    <a:p>
                      <a:r>
                        <a:rPr sz="2000"/>
                        <a:t>Ansatz only picks the weights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7259">
                <a:tc>
                  <a:txBody>
                    <a:bodyPr/>
                    <a:lstStyle/>
                    <a:p>
                      <a:r>
                        <a:rPr sz="2000"/>
                        <a:t>Does it train at scale?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Convex: one optimum</a:t>
                      </a:r>
                    </a:p>
                    <a:p>
                      <a:r>
                        <a:rPr sz="2000"/>
                        <a:t>Fails: concentration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Non-convex: depends on init</a:t>
                      </a:r>
                    </a:p>
                    <a:p>
                      <a:r>
                        <a:rPr sz="2000"/>
                        <a:t>Fails: barren plateau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7259">
                <a:tc>
                  <a:txBody>
                    <a:bodyPr/>
                    <a:lstStyle/>
                    <a:p>
                      <a:r>
                        <a:rPr sz="2000"/>
                        <a:t>Can it run?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≈  </a:t>
                      </a:r>
                      <a:r>
                        <a:rPr sz="2000">
                          <a:latin typeface="Cambria Math"/>
                        </a:rPr>
                        <a:t>𝑁</a:t>
                      </a:r>
                      <a:r>
                        <a:rPr sz="2000" baseline="30000">
                          <a:latin typeface="Cambria Math"/>
                        </a:rPr>
                        <a:t>2</a:t>
                      </a:r>
                      <a:r>
                        <a:rPr sz="2000">
                          <a:latin typeface="Cambria Math"/>
                        </a:rPr>
                        <a:t>/2</a:t>
                      </a:r>
                      <a:r>
                        <a:rPr sz="2000"/>
                        <a:t> circuits</a:t>
                      </a:r>
                    </a:p>
                    <a:p>
                      <a:r>
                        <a:rPr sz="2000"/>
                        <a:t>Simulator: cheap at small </a:t>
                      </a:r>
                      <a:r>
                        <a:rPr sz="2000">
                          <a:latin typeface="Cambria Math"/>
                        </a:rPr>
                        <a:t>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≈  </a:t>
                      </a:r>
                      <a:r>
                        <a:rPr sz="2000">
                          <a:latin typeface="Cambria Math"/>
                        </a:rPr>
                        <a:t>2𝑃𝑁</a:t>
                      </a:r>
                      <a:r>
                        <a:rPr sz="2000"/>
                        <a:t> per step, many steps</a:t>
                      </a:r>
                    </a:p>
                    <a:p>
                      <a:r>
                        <a:rPr sz="2000"/>
                        <a:t>Simulator: slower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7259">
                <a:tc>
                  <a:txBody>
                    <a:bodyPr/>
                    <a:lstStyle/>
                    <a:p>
                      <a:r>
                        <a:rPr sz="2000"/>
                        <a:t>Strongest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Small </a:t>
                      </a:r>
                      <a:r>
                        <a:rPr sz="2000">
                          <a:latin typeface="Cambria Math"/>
                        </a:rPr>
                        <a:t>𝑁</a:t>
                      </a:r>
                      <a:r>
                        <a:rPr sz="2000"/>
                        <a:t>, stable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Large </a:t>
                      </a:r>
                      <a:r>
                        <a:rPr sz="2000">
                          <a:latin typeface="Cambria Math"/>
                        </a:rPr>
                        <a:t>𝑁</a:t>
                      </a:r>
                      <a:r>
                        <a:rPr sz="2000"/>
                        <a:t> (cost </a:t>
                      </a:r>
                      <a:r>
                        <a:rPr sz="2000">
                          <a:latin typeface="Cambria Math"/>
                        </a:rPr>
                        <a:t>∝ 𝑁</a:t>
                      </a:r>
                      <a:r>
                        <a:rPr sz="2000"/>
                        <a:t>)</a:t>
                      </a:r>
                    </a:p>
                    <a:p>
                      <a:r>
                        <a:rPr sz="2000"/>
                        <a:t>One circuit per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9232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From question to paper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Lesson 4 · Quantum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4423815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t>Getting started</a:t>
            </a:r>
          </a:p>
          <a:p>
            <a:pPr marL="457200" indent="-457200">
              <a:buAutoNum type="arabicPeriod"/>
            </a:pPr>
            <a:r>
              <a:t>The problem</a:t>
            </a:r>
          </a:p>
          <a:p>
            <a:pPr marL="457200" indent="-457200">
              <a:buAutoNum type="arabicPeriod"/>
            </a:pPr>
            <a:r>
              <a:t>Problem formulation</a:t>
            </a:r>
          </a:p>
          <a:p>
            <a:pPr marL="457200" indent="-457200">
              <a:buAutoNum type="arabicPeriod"/>
            </a:pPr>
            <a:r>
              <a:t>Training</a:t>
            </a:r>
          </a:p>
          <a:p>
            <a:pPr marL="457200" indent="-457200">
              <a:buAutoNum type="arabicPeriod"/>
            </a:pPr>
            <a:r>
              <a:t>Results</a:t>
            </a:r>
          </a:p>
          <a:p>
            <a:pPr marL="457200" indent="-457200">
              <a:buAutoNum type="arabicPeriod"/>
            </a:pPr>
            <a:r>
              <a:t>Limits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41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882465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Our group: QuantumLab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sz="2000" dirty="0"/>
              <a:t>Mission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Develop new quantum computational methods for molecules and materials, on classical and quantum hardware</a:t>
            </a:r>
          </a:p>
          <a:p>
            <a:r>
              <a:rPr sz="2000" dirty="0"/>
              <a:t>Team (2026)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1 research associate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3 PhD students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4 MSc students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11 undergraduate researchers</a:t>
            </a:r>
          </a:p>
          <a:p>
            <a:r>
              <a:rPr sz="2000" dirty="0"/>
              <a:t>Infrastructure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HPC cluster COMPHYS (CPU + GPU)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Open-source code </a:t>
            </a:r>
            <a:r>
              <a:rPr sz="1800" dirty="0" err="1"/>
              <a:t>pyCMF</a:t>
            </a:r>
            <a:r>
              <a:rPr lang="vi-VN" sz="1800" dirty="0"/>
              <a:t>, </a:t>
            </a:r>
            <a:r>
              <a:rPr lang="vi-VN" sz="1800" dirty="0" err="1"/>
              <a:t>Qmes</a:t>
            </a:r>
            <a:endParaRPr sz="1800" dirty="0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442D324D-3F30-C3F6-3E5C-B03F1A2F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42</a:t>
            </a:fld>
            <a:endParaRPr lang="vi-VN"/>
          </a:p>
        </p:txBody>
      </p:sp>
      <p:pic>
        <p:nvPicPr>
          <p:cNvPr id="8" name="Picture 7" descr="quantumlab_membe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5625"/>
            <a:ext cx="5181600" cy="38821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72200" y="5753484"/>
            <a:ext cx="518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QuantumLab members, 2026 · University of Science, Ho Chi Minh City</a:t>
            </a:r>
          </a:p>
        </p:txBody>
      </p:sp>
    </p:spTree>
    <p:extLst>
      <p:ext uri="{BB962C8B-B14F-4D97-AF65-F5344CB8AC3E}">
        <p14:creationId xmlns:p14="http://schemas.microsoft.com/office/powerpoint/2010/main" val="25073587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lang="vi-VN" dirty="0" err="1"/>
              <a:t>How</a:t>
            </a:r>
            <a:r>
              <a:rPr lang="vi-VN" dirty="0"/>
              <a:t> a Project </a:t>
            </a:r>
            <a:r>
              <a:rPr lang="vi-VN" dirty="0" err="1"/>
              <a:t>gets</a:t>
            </a:r>
            <a:r>
              <a:rPr lang="vi-VN" dirty="0"/>
              <a:t> </a:t>
            </a:r>
            <a:r>
              <a:rPr lang="vi-VN" dirty="0" err="1"/>
              <a:t>started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/>
              <a:t>Phase 0 · Foundations: textbook, terms and definitions, hands-on software → report</a:t>
            </a:r>
          </a:p>
          <a:p>
            <a:r>
              <a:rPr sz="2400" dirty="0"/>
              <a:t>Advisors: ready → a paper</a:t>
            </a:r>
          </a:p>
          <a:p>
            <a:r>
              <a:rPr sz="2400" dirty="0"/>
              <a:t>Phase 1 · Reproduce: read the paper, re-run its experiments → report</a:t>
            </a:r>
          </a:p>
          <a:p>
            <a:r>
              <a:rPr sz="2400" dirty="0"/>
              <a:t>Then the loop: read → report → experiment → read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dirty="0"/>
              <a:t>Each meeting: progress + discussion</a:t>
            </a:r>
          </a:p>
          <a:p>
            <a:r>
              <a:rPr sz="2400" dirty="0"/>
              <a:t>Paper 1 </a:t>
            </a:r>
            <a:r>
              <a:rPr lang="vi-VN" sz="2400" dirty="0" err="1"/>
              <a:t>stems</a:t>
            </a:r>
            <a:r>
              <a:rPr lang="vi-VN" sz="2400" dirty="0"/>
              <a:t> </a:t>
            </a:r>
            <a:r>
              <a:rPr lang="vi-VN" sz="2400" dirty="0" err="1"/>
              <a:t>from</a:t>
            </a:r>
            <a:r>
              <a:rPr sz="2400" dirty="0"/>
              <a:t> this loop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43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332377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Change the encoding, change the result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sz="2000" dirty="0"/>
              <a:t>New dataset → which encoding?</a:t>
            </a:r>
          </a:p>
          <a:p>
            <a:r>
              <a:rPr sz="2000" dirty="0"/>
              <a:t>Why hard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Expressive circuit → concentration (Lesson 2)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May not match the problem's structure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Number of circuits grows combinatorially</a:t>
            </a:r>
          </a:p>
          <a:p>
            <a:r>
              <a:rPr sz="2000" dirty="0"/>
              <a:t>Today's practice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Fixed circuit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Brute force: </a:t>
            </a:r>
            <a:r>
              <a:rPr sz="1800" dirty="0">
                <a:latin typeface="Cambria Math"/>
              </a:rPr>
              <a:t>𝒪(|𝐾| 𝑁</a:t>
            </a:r>
            <a:r>
              <a:rPr sz="1800" baseline="30000" dirty="0">
                <a:latin typeface="Cambria Math"/>
              </a:rPr>
              <a:t>2</a:t>
            </a:r>
            <a:r>
              <a:rPr sz="1800" dirty="0">
                <a:latin typeface="Cambria Math"/>
              </a:rPr>
              <a:t>)</a:t>
            </a:r>
            <a:r>
              <a:rPr sz="1800" dirty="0"/>
              <a:t> circuit runs, per dataset</a:t>
            </a:r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442D324D-3F30-C3F6-3E5C-B03F1A2F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44</a:t>
            </a:fld>
            <a:endParaRPr lang="vi-VN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8200" y="2282825"/>
          <a:ext cx="5181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/>
                        <a:t>Encoding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Acc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RBF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0.961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SRx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0.957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HERx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0.963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ZFM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0.922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58337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Two prior directions, two gaps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45</a:t>
            </a:fld>
            <a:endParaRPr lang="vi-VN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667925"/>
              </p:ext>
            </p:extLst>
          </p:nvPr>
        </p:nvGraphicFramePr>
        <p:xfrm>
          <a:off x="841248" y="173736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Incudini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Neto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Paper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600"/>
                        <a:t>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Search over many circuits, scoring each 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Data complexity measures → ML recommends a circuit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Data complexity measures → ML recommends an encoding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60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Quantum kernel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Variational circuit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Quantum kernel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600"/>
                        <a:t>Learns from the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600" b="1" dirty="0">
                          <a:solidFill>
                            <a:srgbClr val="FF0000"/>
                          </a:solidFill>
                        </a:rPr>
                        <a:t>✓</a:t>
                      </a:r>
                      <a:endParaRPr sz="16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600" b="1" dirty="0">
                          <a:solidFill>
                            <a:srgbClr val="FF0000"/>
                          </a:solidFill>
                        </a:rPr>
                        <a:t>✓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600"/>
                        <a:t>New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New optimization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One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One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600"/>
                        <a:t>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Costly loop per dataset; ignores the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Not for quantum kernels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Their gaps are what Paper 1 builds on: quantum kernel + learn from the data</a:t>
            </a:r>
          </a:p>
        </p:txBody>
      </p:sp>
    </p:spTree>
    <p:extLst>
      <p:ext uri="{BB962C8B-B14F-4D97-AF65-F5344CB8AC3E}">
        <p14:creationId xmlns:p14="http://schemas.microsoft.com/office/powerpoint/2010/main" val="10969098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Papers in Zotero, ideas in Obsidian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12" y="1746913"/>
            <a:ext cx="5160963" cy="457911"/>
          </a:xfrm>
        </p:spPr>
        <p:txBody>
          <a:bodyPr/>
          <a:lstStyle/>
          <a:p>
            <a:r>
              <a:rPr dirty="0"/>
              <a:t>Zotero: </a:t>
            </a:r>
            <a:r>
              <a:rPr b="0" dirty="0"/>
              <a:t>collect · organize · cite papers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Obsidian: </a:t>
            </a:r>
            <a:r>
              <a:rPr b="0" dirty="0"/>
              <a:t>notes · meeting minutes · reports, linked</a:t>
            </a:r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2BFD1BE4-6606-5376-89B0-058E27474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46</a:t>
            </a:fld>
            <a:endParaRPr lang="vi-VN"/>
          </a:p>
        </p:txBody>
      </p:sp>
      <p:pic>
        <p:nvPicPr>
          <p:cNvPr id="10" name="Picture 9" descr="zote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8" y="2505075"/>
            <a:ext cx="5157787" cy="3223617"/>
          </a:xfrm>
          <a:prstGeom prst="rect">
            <a:avLst/>
          </a:prstGeom>
        </p:spPr>
      </p:pic>
      <p:pic>
        <p:nvPicPr>
          <p:cNvPr id="11" name="Picture 10" descr="obsidia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505075"/>
            <a:ext cx="5183188" cy="323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4922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2. </a:t>
            </a:r>
            <a:r>
              <a:rPr lang="vi-VN" dirty="0" err="1"/>
              <a:t>Other</a:t>
            </a:r>
            <a:r>
              <a:rPr lang="vi-VN" dirty="0"/>
              <a:t> </a:t>
            </a:r>
            <a:r>
              <a:rPr lang="vi-VN" dirty="0" err="1"/>
              <a:t>tools</a:t>
            </a:r>
            <a:endParaRPr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47</a:t>
            </a:fld>
            <a:endParaRPr lang="vi-VN"/>
          </a:p>
        </p:txBody>
      </p:sp>
      <p:pic>
        <p:nvPicPr>
          <p:cNvPr id="6" name="Picture 5" descr="arx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45920"/>
            <a:ext cx="2468880" cy="1543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323468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arXiv · read</a:t>
            </a:r>
          </a:p>
        </p:txBody>
      </p:sp>
      <p:pic>
        <p:nvPicPr>
          <p:cNvPr id="8" name="Picture 7" descr="scho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487" y="1645920"/>
            <a:ext cx="2468880" cy="1543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23487" y="323468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Google Scholar · read</a:t>
            </a:r>
          </a:p>
        </p:txBody>
      </p:sp>
      <p:pic>
        <p:nvPicPr>
          <p:cNvPr id="10" name="Picture 9" descr="connectedpap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728" y="1645920"/>
            <a:ext cx="2468880" cy="1543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05728" y="323468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Connected Papers · read</a:t>
            </a:r>
          </a:p>
        </p:txBody>
      </p:sp>
      <p:pic>
        <p:nvPicPr>
          <p:cNvPr id="12" name="Picture 11" descr="beam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7967" y="1645920"/>
            <a:ext cx="2468880" cy="1543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87967" y="323468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Beamer / Google Slides · report</a:t>
            </a:r>
          </a:p>
        </p:txBody>
      </p:sp>
      <p:pic>
        <p:nvPicPr>
          <p:cNvPr id="14" name="Picture 13" descr="g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840480"/>
            <a:ext cx="2468880" cy="1543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248" y="542925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Git + run log · experiment</a:t>
            </a:r>
          </a:p>
        </p:txBody>
      </p:sp>
      <p:pic>
        <p:nvPicPr>
          <p:cNvPr id="16" name="Picture 15" descr="assista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3487" y="3840480"/>
            <a:ext cx="2468880" cy="15430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23487" y="542925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AI coding assistant · experiment</a:t>
            </a:r>
          </a:p>
        </p:txBody>
      </p:sp>
      <p:pic>
        <p:nvPicPr>
          <p:cNvPr id="18" name="Picture 17" descr="late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5728" y="3840480"/>
            <a:ext cx="2468880" cy="15430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05728" y="542925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LaTeX: Overleaf / local + git · 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7" y="384048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/>
              <a:t>Read → report → experiment → write</a:t>
            </a:r>
          </a:p>
          <a:p>
            <a:r>
              <a:rPr sz="1300" dirty="0"/>
              <a:t>The loop of slide 4, then the paper</a:t>
            </a:r>
          </a:p>
          <a:p>
            <a:endParaRPr sz="1300" dirty="0"/>
          </a:p>
          <a:p>
            <a:r>
              <a:rPr sz="1300" dirty="0"/>
              <a:t>Real: </a:t>
            </a:r>
            <a:r>
              <a:rPr sz="1300" dirty="0" err="1"/>
              <a:t>arXiv</a:t>
            </a:r>
            <a:r>
              <a:rPr sz="1300" dirty="0"/>
              <a:t>, Connected Papers, Beamer</a:t>
            </a:r>
          </a:p>
          <a:p>
            <a:r>
              <a:rPr sz="1300" dirty="0"/>
              <a:t>Mock-ups: Scholar, terminals, editor</a:t>
            </a:r>
          </a:p>
        </p:txBody>
      </p:sp>
    </p:spTree>
    <p:extLst>
      <p:ext uri="{BB962C8B-B14F-4D97-AF65-F5344CB8AC3E}">
        <p14:creationId xmlns:p14="http://schemas.microsoft.com/office/powerpoint/2010/main" val="20419069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 dataset vs a meta-dataset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48</a:t>
            </a:fld>
            <a:endParaRPr lang="vi-VN"/>
          </a:p>
        </p:txBody>
      </p:sp>
      <p:sp>
        <p:nvSpPr>
          <p:cNvPr id="7" name="TextBox 6"/>
          <p:cNvSpPr txBox="1"/>
          <p:nvPr/>
        </p:nvSpPr>
        <p:spPr>
          <a:xfrm>
            <a:off x="841248" y="4343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(a) Build the meta-dataset: quantum only here, it generates the labels</a:t>
            </a:r>
          </a:p>
          <a:p>
            <a:r>
              <a:rPr sz="2000"/>
              <a:t>(b) Train </a:t>
            </a:r>
            <a:r>
              <a:rPr sz="2000">
                <a:latin typeface="Cambria Math"/>
              </a:rPr>
              <a:t>𝑓</a:t>
            </a:r>
          </a:p>
          <a:p>
            <a:r>
              <a:rPr sz="2000"/>
              <a:t>(c) New dataset → Top-</a:t>
            </a:r>
            <a:r>
              <a:rPr sz="2000">
                <a:latin typeface="Cambria Math"/>
              </a:rPr>
              <a:t>𝑘</a:t>
            </a:r>
            <a:r>
              <a:rPr sz="2000"/>
              <a:t> circuits: classical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00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US" sz="1800" b="1" dirty="0"/>
              <a:t>Normal dataset</a:t>
            </a:r>
            <a:endParaRPr sz="1800" b="1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873517"/>
              </p:ext>
            </p:extLst>
          </p:nvPr>
        </p:nvGraphicFramePr>
        <p:xfrm>
          <a:off x="841248" y="2011680"/>
          <a:ext cx="40050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sz="1600"/>
                        <a:t>x₁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 dirty="0"/>
                        <a:t>x₂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x₃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x₄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sz="1600"/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malignant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sz="1600"/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1.83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1.32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benign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sz="1600"/>
                        <a:t>1.73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2.18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malignant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sz="1600"/>
                        <a:t>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38404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sz="1400" b="0"/>
              <a:t>455 rows · 4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00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sz="1800" b="1"/>
              <a:t>Meta-dataset: one row = one dataset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120640" y="2011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sz="160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Best circuit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sz="1600"/>
                        <a:t>Breast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HERx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sz="1600"/>
                        <a:t>Moons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HD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sz="1600"/>
                        <a:t>Pima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1600"/>
                        <a:t>SRx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sz="1600"/>
                        <a:t>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120640" y="3840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sz="1400" b="0"/>
              <a:t>200 rows · 24 metrics</a:t>
            </a:r>
          </a:p>
        </p:txBody>
      </p:sp>
    </p:spTree>
    <p:extLst>
      <p:ext uri="{BB962C8B-B14F-4D97-AF65-F5344CB8AC3E}">
        <p14:creationId xmlns:p14="http://schemas.microsoft.com/office/powerpoint/2010/main" val="29905823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3. </a:t>
            </a:r>
            <a:r>
              <a:rPr lang="vi-VN" dirty="0" err="1"/>
              <a:t>How</a:t>
            </a:r>
            <a:r>
              <a:rPr lang="vi-VN" dirty="0"/>
              <a:t> to </a:t>
            </a:r>
            <a:r>
              <a:rPr lang="vi-VN" dirty="0" err="1"/>
              <a:t>build</a:t>
            </a:r>
            <a:r>
              <a:rPr lang="vi-VN" dirty="0"/>
              <a:t> a </a:t>
            </a:r>
            <a:r>
              <a:rPr lang="vi-VN" dirty="0" err="1"/>
              <a:t>row</a:t>
            </a:r>
            <a:r>
              <a:rPr lang="vi-VN" dirty="0"/>
              <a:t> in </a:t>
            </a:r>
            <a:r>
              <a:rPr lang="vi-VN" dirty="0" err="1"/>
              <a:t>meta-dataset</a:t>
            </a:r>
            <a:endParaRPr dirty="0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2BFD1BE4-6606-5376-89B0-058E27474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49</a:t>
            </a:fld>
            <a:endParaRPr lang="vi-VN" dirty="0"/>
          </a:p>
        </p:txBody>
      </p:sp>
      <p:pic>
        <p:nvPicPr>
          <p:cNvPr id="10" name="Picture 9" descr="paper1_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6949440" cy="33962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179299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sz="1200" b="0" dirty="0"/>
              <a:t>Source: </a:t>
            </a:r>
            <a:r>
              <a:rPr lang="en-US" sz="1200" b="1" i="1" dirty="0"/>
              <a:t>Towards Automated Selection of Quantum  Encoding Circuits via Meta-Learning</a:t>
            </a:r>
            <a:r>
              <a:rPr sz="1200" b="0" dirty="0"/>
              <a:t>, Fig.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92024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sz="1800" b="1"/>
              <a:t>① Features</a:t>
            </a:r>
          </a:p>
          <a:p>
            <a:pPr>
              <a:defRPr sz="1600"/>
            </a:pPr>
            <a:r>
              <a:rPr sz="1600" b="0"/>
              <a:t>Describe the dataset, classical</a:t>
            </a:r>
          </a:p>
          <a:p>
            <a:pPr>
              <a:defRPr sz="1600"/>
            </a:pPr>
            <a:r>
              <a:rPr sz="1600" b="0"/>
              <a:t>L2: error of a linear classifier</a:t>
            </a:r>
          </a:p>
          <a:p>
            <a:pPr>
              <a:defRPr sz="1600"/>
            </a:pPr>
            <a:endParaRPr sz="1600" b="0"/>
          </a:p>
          <a:p>
            <a:pPr>
              <a:defRPr sz="1600"/>
            </a:pPr>
            <a:r>
              <a:rPr sz="1800" b="1"/>
              <a:t>② Label</a:t>
            </a:r>
          </a:p>
          <a:p>
            <a:pPr>
              <a:defRPr sz="1600"/>
            </a:pPr>
            <a:r>
              <a:rPr sz="1600" b="0"/>
              <a:t>Run every circuit, keep the best</a:t>
            </a:r>
          </a:p>
          <a:p>
            <a:pPr>
              <a:defRPr sz="1600"/>
            </a:pPr>
            <a:r>
              <a:rPr sz="1600" b="0"/>
              <a:t>Only quantum step, the costliest</a:t>
            </a:r>
          </a:p>
          <a:p>
            <a:pPr>
              <a:defRPr sz="1600"/>
            </a:pPr>
            <a:endParaRPr sz="1600" b="0"/>
          </a:p>
          <a:p>
            <a:pPr>
              <a:defRPr sz="1600"/>
            </a:pPr>
            <a:r>
              <a:rPr sz="1800" b="1"/>
              <a:t>③ Repeat</a:t>
            </a:r>
          </a:p>
          <a:p>
            <a:pPr>
              <a:defRPr sz="1600"/>
            </a:pPr>
            <a:r>
              <a:rPr sz="1600" b="0"/>
              <a:t>200 datasets → 200 rows</a:t>
            </a:r>
          </a:p>
          <a:p>
            <a:pPr>
              <a:defRPr sz="1600"/>
            </a:pPr>
            <a:r>
              <a:rPr sz="1600" b="0"/>
              <a:t>Most datasets are generated</a:t>
            </a:r>
          </a:p>
        </p:txBody>
      </p:sp>
    </p:spTree>
    <p:extLst>
      <p:ext uri="{BB962C8B-B14F-4D97-AF65-F5344CB8AC3E}">
        <p14:creationId xmlns:p14="http://schemas.microsoft.com/office/powerpoint/2010/main" val="5442862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3. </a:t>
            </a:r>
            <a:r>
              <a:rPr lang="vi-VN" dirty="0" err="1"/>
              <a:t>How</a:t>
            </a:r>
            <a:r>
              <a:rPr lang="vi-VN" dirty="0"/>
              <a:t> to </a:t>
            </a:r>
            <a:r>
              <a:rPr lang="vi-VN" dirty="0" err="1"/>
              <a:t>choose</a:t>
            </a:r>
            <a:r>
              <a:rPr dirty="0"/>
              <a:t> the best circuit?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Score of circuit</a:t>
            </a:r>
            <a:r>
              <a:rPr lang="vi-VN" sz="2000" dirty="0"/>
              <a:t> </a:t>
            </a:r>
            <a:r>
              <a:rPr sz="2000" dirty="0"/>
              <a:t>on dataset:  </a:t>
            </a:r>
            <a:r>
              <a:rPr sz="2000" dirty="0">
                <a:latin typeface="Cambria Math"/>
              </a:rPr>
              <a:t>𝑎𝑐𝑐</a:t>
            </a:r>
            <a:r>
              <a:rPr sz="2000" dirty="0"/>
              <a:t> = max(SVC, GPC, KRC)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700" dirty="0"/>
              <a:t>“Upper bound on what circuit </a:t>
            </a:r>
            <a:r>
              <a:rPr sz="1700" dirty="0">
                <a:latin typeface="Cambria Math"/>
              </a:rPr>
              <a:t>𝑘</a:t>
            </a:r>
            <a:r>
              <a:rPr sz="1700" dirty="0"/>
              <a:t> can do”</a:t>
            </a:r>
          </a:p>
          <a:p>
            <a:r>
              <a:rPr sz="2000" dirty="0"/>
              <a:t>What if the scores are equal, </a:t>
            </a:r>
            <a:r>
              <a:rPr lang="vi-VN" sz="2000" dirty="0" err="1"/>
              <a:t>how</a:t>
            </a:r>
            <a:r>
              <a:rPr lang="vi-VN" sz="2000" dirty="0"/>
              <a:t> can </a:t>
            </a:r>
            <a:r>
              <a:rPr lang="vi-VN" sz="2000" dirty="0" err="1"/>
              <a:t>we</a:t>
            </a:r>
            <a:r>
              <a:rPr lang="vi-VN" sz="2000" dirty="0"/>
              <a:t> </a:t>
            </a:r>
            <a:r>
              <a:rPr lang="vi-VN" sz="2000" dirty="0" err="1"/>
              <a:t>choose</a:t>
            </a:r>
            <a:r>
              <a:rPr lang="vi-VN" sz="2000" dirty="0"/>
              <a:t> the </a:t>
            </a:r>
            <a:r>
              <a:rPr lang="vi-VN" sz="2000" dirty="0" err="1"/>
              <a:t>most</a:t>
            </a:r>
            <a:r>
              <a:rPr lang="vi-VN" sz="2000" dirty="0"/>
              <a:t> </a:t>
            </a:r>
            <a:r>
              <a:rPr lang="vi-VN" sz="2000" dirty="0" err="1"/>
              <a:t>optimal</a:t>
            </a:r>
            <a:r>
              <a:rPr sz="2000" dirty="0"/>
              <a:t>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700" dirty="0"/>
              <a:t>Equal: HD 0.8625 · </a:t>
            </a:r>
            <a:r>
              <a:rPr sz="1700" dirty="0" err="1"/>
              <a:t>HERx</a:t>
            </a:r>
            <a:r>
              <a:rPr sz="1700" dirty="0"/>
              <a:t> 0.8625 · </a:t>
            </a:r>
            <a:r>
              <a:rPr sz="1700" dirty="0" err="1"/>
              <a:t>SRx</a:t>
            </a:r>
            <a:r>
              <a:rPr sz="1700" dirty="0"/>
              <a:t> 0.8625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700" dirty="0"/>
              <a:t>Does the single max really show what each circuit can do?</a:t>
            </a:r>
          </a:p>
          <a:p>
            <a:r>
              <a:rPr sz="2000" dirty="0"/>
              <a:t>One winner: label = exactly one circuit, the best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700" dirty="0"/>
              <a:t>HD is 33% of all labels</a:t>
            </a:r>
          </a:p>
          <a:p>
            <a:r>
              <a:rPr sz="2000" dirty="0"/>
              <a:t>Ties within 1%: label = every circuit within 1% of the best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700" dirty="0"/>
              <a:t>HD 20% · ZFM 20% · </a:t>
            </a:r>
            <a:r>
              <a:rPr sz="1700" dirty="0" err="1"/>
              <a:t>HERx</a:t>
            </a:r>
            <a:r>
              <a:rPr sz="1700" dirty="0"/>
              <a:t> 19% · </a:t>
            </a:r>
            <a:r>
              <a:rPr sz="1700" dirty="0" err="1"/>
              <a:t>SRx</a:t>
            </a:r>
            <a:r>
              <a:rPr sz="1700" dirty="0"/>
              <a:t> 17%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50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428211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Building</a:t>
            </a:r>
            <a:r>
              <a:rPr lang="en-US" dirty="0"/>
              <a:t> the </a:t>
            </a:r>
            <a:r>
              <a:rPr lang="en-US" dirty="0" err="1"/>
              <a:t>recommender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946648" cy="4351338"/>
          </a:xfrm>
        </p:spPr>
        <p:txBody>
          <a:bodyPr/>
          <a:lstStyle/>
          <a:p>
            <a:r>
              <a:rPr sz="2000" dirty="0"/>
              <a:t>14 ordinary classifiers (see table)</a:t>
            </a:r>
          </a:p>
          <a:p>
            <a:r>
              <a:rPr sz="2000" dirty="0"/>
              <a:t>MV (majority voting): keeps all 14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Train all 14 on the meta-dataset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Each one votes for a circuit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Most votes = recommendation · vote order = Top-</a:t>
            </a:r>
            <a:r>
              <a:rPr sz="1800" dirty="0">
                <a:latin typeface="Cambria Math"/>
              </a:rPr>
              <a:t>𝑘</a:t>
            </a:r>
          </a:p>
          <a:p>
            <a:r>
              <a:rPr sz="2000" dirty="0"/>
              <a:t>LOOCV: keeps only the best one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Hide one dataset, train on the rest, check the guess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Repeat for every dataset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The classifier that guesses best wins</a:t>
            </a:r>
          </a:p>
          <a:p>
            <a:r>
              <a:rPr sz="2000" dirty="0"/>
              <a:t>A guess counts as right if it is one of the circuits tied for best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51</a:t>
            </a:fld>
            <a:endParaRPr lang="vi-VN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599232"/>
              </p:ext>
            </p:extLst>
          </p:nvPr>
        </p:nvGraphicFramePr>
        <p:xfrm>
          <a:off x="6876287" y="1581665"/>
          <a:ext cx="5043863" cy="4020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6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1186">
                <a:tc>
                  <a:txBody>
                    <a:bodyPr/>
                    <a:lstStyle/>
                    <a:p>
                      <a:r>
                        <a:rPr sz="13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Classifiers (14)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479">
                <a:tc>
                  <a:txBody>
                    <a:bodyPr/>
                    <a:lstStyle/>
                    <a:p>
                      <a:r>
                        <a:rPr sz="1300"/>
                        <a:t>Tree-based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Decision tree, random forest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479">
                <a:tc>
                  <a:txBody>
                    <a:bodyPr/>
                    <a:lstStyle/>
                    <a:p>
                      <a:r>
                        <a:rPr sz="1300"/>
                        <a:t>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Gradient boosting, AdaBoost, bagging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479">
                <a:tc>
                  <a:txBody>
                    <a:bodyPr/>
                    <a:lstStyle/>
                    <a:p>
                      <a:r>
                        <a:rPr sz="1300"/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Linear, RBF, sigmoid kernel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479">
                <a:tc>
                  <a:txBody>
                    <a:bodyPr/>
                    <a:lstStyle/>
                    <a:p>
                      <a:r>
                        <a:rPr sz="1300"/>
                        <a:t>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MLP, 1 or 3 hidden layers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479">
                <a:tc>
                  <a:txBody>
                    <a:bodyPr/>
                    <a:lstStyle/>
                    <a:p>
                      <a:r>
                        <a:rPr sz="1300"/>
                        <a:t>Instance-based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k-NN, nearest centroid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479">
                <a:tc>
                  <a:txBody>
                    <a:bodyPr/>
                    <a:lstStyle/>
                    <a:p>
                      <a:r>
                        <a:rPr sz="1300"/>
                        <a:t>Probabilistic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dirty="0"/>
                        <a:t>Naive Bayes, logistic regression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22435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On the meta-dataset: ties make it learnable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52</a:t>
            </a:fld>
            <a:endParaRPr lang="vi-VN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73736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One winner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Ties within 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2000"/>
                        <a:t>24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≈ 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≈ 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2000"/>
                        <a:t>1 metric (the best one)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≈ 0.55 – 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" y="4114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24 metrics beat 1: no single metric is enough</a:t>
            </a:r>
          </a:p>
          <a:p>
            <a:r>
              <a:rPr sz="2000"/>
              <a:t>With ties, the classifier only needs the right family of circuits</a:t>
            </a:r>
          </a:p>
        </p:txBody>
      </p:sp>
    </p:spTree>
    <p:extLst>
      <p:ext uri="{BB962C8B-B14F-4D97-AF65-F5344CB8AC3E}">
        <p14:creationId xmlns:p14="http://schemas.microsoft.com/office/powerpoint/2010/main" val="23634395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5. </a:t>
            </a:r>
            <a:r>
              <a:rPr lang="vi-VN" dirty="0" err="1"/>
              <a:t>Inference</a:t>
            </a:r>
            <a:r>
              <a:rPr lang="vi-VN" dirty="0"/>
              <a:t> </a:t>
            </a:r>
            <a:r>
              <a:rPr lang="vi-VN" dirty="0" err="1"/>
              <a:t>on</a:t>
            </a:r>
            <a:r>
              <a:rPr lang="vi-VN" dirty="0"/>
              <a:t> </a:t>
            </a:r>
            <a:r>
              <a:rPr lang="vi-VN" dirty="0" err="1"/>
              <a:t>new</a:t>
            </a:r>
            <a:r>
              <a:rPr lang="vi-VN" dirty="0"/>
              <a:t> </a:t>
            </a:r>
            <a:r>
              <a:rPr lang="vi-VN" dirty="0" err="1"/>
              <a:t>dataset</a:t>
            </a:r>
            <a:endParaRPr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53</a:t>
            </a:fld>
            <a:endParaRPr lang="vi-VN"/>
          </a:p>
        </p:txBody>
      </p:sp>
      <p:sp>
        <p:nvSpPr>
          <p:cNvPr id="6" name="TextBox 5"/>
          <p:cNvSpPr txBox="1"/>
          <p:nvPr/>
        </p:nvSpPr>
        <p:spPr>
          <a:xfrm>
            <a:off x="841248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Digits 0v1 · Moons · Circles · Synthetic · GaussianQuantiles · MultiRing · Imbalanced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1248" y="210312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Top-1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Top-3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2000"/>
                        <a:t>MV · 24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3/7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6/7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2000"/>
                        <a:t>LOOCV · 24 metrics (RF)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5/7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6/7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2000"/>
                        <a:t>MV · 1 metric (N4)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2/7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5/7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2000"/>
                        <a:t>LOOCV · 1 metric (E-GB, N4)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2/7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5/7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" y="4937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Top-3: run ≤ 3 of 9 circuits, not all 9</a:t>
            </a:r>
          </a:p>
          <a:p>
            <a:r>
              <a:rPr sz="2000"/>
              <a:t>One metric is not enough</a:t>
            </a:r>
          </a:p>
        </p:txBody>
      </p:sp>
    </p:spTree>
    <p:extLst>
      <p:ext uri="{BB962C8B-B14F-4D97-AF65-F5344CB8AC3E}">
        <p14:creationId xmlns:p14="http://schemas.microsoft.com/office/powerpoint/2010/main" val="4808012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Paper 1 in a nutshell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54</a:t>
            </a:fld>
            <a:endParaRPr lang="vi-VN"/>
          </a:p>
        </p:txBody>
      </p:sp>
      <p:pic>
        <p:nvPicPr>
          <p:cNvPr id="6" name="Picture 5" descr="paper1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91640"/>
            <a:ext cx="10515600" cy="25459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4255901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200" b="1" i="1" dirty="0" err="1"/>
              <a:t>Towards</a:t>
            </a:r>
            <a:r>
              <a:rPr lang="vi-VN" sz="1200" b="1" i="1" dirty="0"/>
              <a:t> </a:t>
            </a:r>
            <a:r>
              <a:rPr lang="vi-VN" sz="1200" b="1" i="1" dirty="0" err="1"/>
              <a:t>Automated</a:t>
            </a:r>
            <a:r>
              <a:rPr lang="vi-VN" sz="1200" b="1" i="1" dirty="0"/>
              <a:t> </a:t>
            </a:r>
            <a:r>
              <a:rPr lang="vi-VN" sz="1200" b="1" i="1" dirty="0" err="1"/>
              <a:t>Selection</a:t>
            </a:r>
            <a:r>
              <a:rPr lang="vi-VN" sz="1200" b="1" i="1" dirty="0"/>
              <a:t> </a:t>
            </a:r>
            <a:r>
              <a:rPr lang="vi-VN" sz="1200" b="1" i="1" dirty="0" err="1"/>
              <a:t>of</a:t>
            </a:r>
            <a:r>
              <a:rPr lang="vi-VN" sz="1200" b="1" i="1" dirty="0"/>
              <a:t> </a:t>
            </a:r>
            <a:r>
              <a:rPr lang="vi-VN" sz="1200" b="1" i="1" dirty="0" err="1"/>
              <a:t>Quantum</a:t>
            </a:r>
            <a:r>
              <a:rPr lang="vi-VN" sz="1200" b="1" i="1" dirty="0"/>
              <a:t> </a:t>
            </a:r>
            <a:r>
              <a:rPr lang="vi-VN" sz="1200" b="1" i="1" dirty="0" err="1"/>
              <a:t>Encoding</a:t>
            </a:r>
            <a:r>
              <a:rPr lang="vi-VN" sz="1200" b="1" i="1" dirty="0"/>
              <a:t> </a:t>
            </a:r>
            <a:r>
              <a:rPr lang="vi-VN" sz="1200" b="1" i="1" dirty="0" err="1"/>
              <a:t>Circuits</a:t>
            </a:r>
            <a:r>
              <a:rPr lang="vi-VN" sz="1200" b="1" i="1" dirty="0"/>
              <a:t> </a:t>
            </a:r>
            <a:r>
              <a:rPr lang="vi-VN" sz="1200" b="1" i="1" dirty="0" err="1"/>
              <a:t>via</a:t>
            </a:r>
            <a:r>
              <a:rPr lang="vi-VN" sz="1200" b="1" i="1" dirty="0"/>
              <a:t> </a:t>
            </a:r>
            <a:r>
              <a:rPr lang="vi-VN" sz="1200" b="1" i="1" dirty="0" err="1"/>
              <a:t>Meta-Learning</a:t>
            </a:r>
            <a:endParaRPr lang="vi-VN" sz="1200" b="1" i="1" dirty="0"/>
          </a:p>
          <a:p>
            <a:br>
              <a:rPr lang="vi-VN" sz="1200" dirty="0"/>
            </a:br>
            <a:endParaRPr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841248" y="4649094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(a) A point = a dataset, its metrics, its best circuit; quantum runs only here, once, offline</a:t>
            </a:r>
          </a:p>
          <a:p>
            <a:r>
              <a:rPr sz="1800"/>
              <a:t>(b) MV or LOOCV: 14 classifiers → one recommender</a:t>
            </a:r>
          </a:p>
          <a:p>
            <a:r>
              <a:rPr sz="1800"/>
              <a:t>(c) New dataset → Top-</a:t>
            </a:r>
            <a:r>
              <a:rPr sz="1800">
                <a:latin typeface="Cambria Math"/>
              </a:rPr>
              <a:t>𝑘</a:t>
            </a:r>
            <a:r>
              <a:rPr sz="1800"/>
              <a:t> circuits; no circuit runs</a:t>
            </a:r>
          </a:p>
        </p:txBody>
      </p:sp>
    </p:spTree>
    <p:extLst>
      <p:ext uri="{BB962C8B-B14F-4D97-AF65-F5344CB8AC3E}">
        <p14:creationId xmlns:p14="http://schemas.microsoft.com/office/powerpoint/2010/main" val="16988061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Paper 1 answers one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Answered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Classical complexity metrics carry enough signal to choose an encoding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New dataset: no circuit runs to get a recommendation</a:t>
            </a:r>
          </a:p>
          <a:p>
            <a:r>
              <a:rPr sz="2000" dirty="0"/>
              <a:t>Limits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Proof-of-concept: 200 datasets, mostly synthetic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Tested on 7 new datasets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Classification only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Research code: no package, no pre-trained model</a:t>
            </a:r>
          </a:p>
          <a:p>
            <a:r>
              <a:rPr sz="2000" dirty="0"/>
              <a:t>Also open: quantum descriptors (</a:t>
            </a:r>
            <a:r>
              <a:rPr sz="2000" dirty="0" err="1"/>
              <a:t>expressibility</a:t>
            </a:r>
            <a:r>
              <a:rPr sz="2000" dirty="0"/>
              <a:t>, entanglement) · noise models · recommender → designer</a:t>
            </a:r>
          </a:p>
          <a:p>
            <a:r>
              <a:rPr sz="2000" dirty="0"/>
              <a:t>Lesson 5: from a paper to a package others can use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55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849599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From paper to package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Lesson 5 · Quantum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9246874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dirty="0"/>
              <a:t>Purpose</a:t>
            </a:r>
          </a:p>
          <a:p>
            <a:pPr marL="457200" indent="-457200">
              <a:buAutoNum type="arabicPeriod"/>
            </a:pPr>
            <a:r>
              <a:rPr dirty="0"/>
              <a:t>Bottlenecks</a:t>
            </a:r>
          </a:p>
          <a:p>
            <a:pPr marL="457200" indent="-457200">
              <a:buAutoNum type="arabicPeriod"/>
            </a:pPr>
            <a:r>
              <a:rPr dirty="0"/>
              <a:t>Architecture</a:t>
            </a:r>
          </a:p>
          <a:p>
            <a:pPr marL="457200" indent="-457200">
              <a:buAutoNum type="arabicPeriod"/>
            </a:pPr>
            <a:r>
              <a:rPr dirty="0"/>
              <a:t>Wrap-up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57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91946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From “is the idea right?” to “can others use it?”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58</a:t>
            </a:fld>
            <a:endParaRPr lang="vi-VN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82880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Paper 1 · research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Paper 2 · software paper (Qmes)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80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Is the idea right?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Can others use it?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800"/>
                        <a:t>What a reader 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Paper · code on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Installable package · pre-trained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800"/>
                        <a:t>To use it on your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Rerun the pipeline, train </a:t>
                      </a:r>
                      <a:r>
                        <a:rPr sz="1800">
                          <a:latin typeface="Cambria Math"/>
                        </a:rPr>
                        <a:t>𝑓</a:t>
                      </a:r>
                      <a:r>
                        <a:rPr sz="1800"/>
                        <a:t> yourself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pip install  →  recommend(X, 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4069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Without a recommender: </a:t>
            </a:r>
            <a:r>
              <a:rPr sz="1800">
                <a:latin typeface="Cambria Math"/>
              </a:rPr>
              <a:t>𝒪(|𝐾| 𝑁</a:t>
            </a:r>
            <a:r>
              <a:rPr sz="1800" baseline="30000">
                <a:latin typeface="Cambria Math"/>
              </a:rPr>
              <a:t>2</a:t>
            </a:r>
            <a:r>
              <a:rPr sz="1800">
                <a:latin typeface="Cambria Math"/>
              </a:rPr>
              <a:t>)</a:t>
            </a:r>
            <a:r>
              <a:rPr sz="1800"/>
              <a:t> circuit runs per new dataset  (</a:t>
            </a:r>
            <a:r>
              <a:rPr sz="1800">
                <a:latin typeface="Cambria Math"/>
              </a:rPr>
              <a:t>|𝐾|</a:t>
            </a:r>
            <a:r>
              <a:rPr sz="1800"/>
              <a:t> circuits · </a:t>
            </a:r>
            <a:r>
              <a:rPr sz="1800">
                <a:latin typeface="Cambria Math"/>
              </a:rPr>
              <a:t>𝑁</a:t>
            </a:r>
            <a:r>
              <a:rPr sz="1800"/>
              <a:t> samples)</a:t>
            </a:r>
          </a:p>
          <a:p>
            <a:r>
              <a:rPr sz="1800"/>
              <a:t>With Qmes: a recommendation without running any circuit</a:t>
            </a:r>
          </a:p>
          <a:p>
            <a:r>
              <a:rPr sz="1800"/>
              <a:t>We already tried every circuit on ≈ 100 datasets per task, once, offline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We try every circuit once, offline, so users don't have to.</a:t>
            </a:r>
          </a:p>
        </p:txBody>
      </p:sp>
    </p:spTree>
    <p:extLst>
      <p:ext uri="{BB962C8B-B14F-4D97-AF65-F5344CB8AC3E}">
        <p14:creationId xmlns:p14="http://schemas.microsoft.com/office/powerpoint/2010/main" val="13480250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1. Three goals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A7BD96C-0A5D-49B4-65B6-FA378E8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59</a:t>
            </a:fld>
            <a:endParaRPr lang="vi-VN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645920"/>
          <a:ext cx="10515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2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1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600"/>
                        <a:t>Usable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Applicable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Extensible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r>
                        <a:rPr sz="1600"/>
                        <a:t>Install and run</a:t>
                      </a:r>
                    </a:p>
                    <a:p>
                      <a:r>
                        <a:rPr sz="1600"/>
                        <a:t>Recommend without running any circuit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The user's own data</a:t>
                      </a:r>
                    </a:p>
                    <a:p>
                      <a:r>
                        <a:rPr sz="1600"/>
                        <a:t>Classification + regression</a:t>
                      </a:r>
                    </a:p>
                    <a:p>
                      <a:r>
                        <a:rPr sz="1600"/>
                        <a:t>Checked on 105 + 86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Add your own circuit or task</a:t>
                      </a:r>
                    </a:p>
                    <a:p>
                      <a:r>
                        <a:rPr sz="1600"/>
                        <a:t>Pluggable 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361188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/>
              <a:t>Usable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023360"/>
            <a:ext cx="7132320" cy="1188720"/>
          </a:xfrm>
          <a:prstGeom prst="rect">
            <a:avLst/>
          </a:prstGeom>
          <a:solidFill>
            <a:srgbClr val="F3F3F3"/>
          </a:solidFill>
        </p:spPr>
        <p:txBody>
          <a:bodyPr wrap="square" lIns="137160" tIns="91440" rIns="137160" bIns="91440">
            <a:spAutoFit/>
          </a:bodyPr>
          <a:lstStyle/>
          <a:p>
            <a:r>
              <a:rPr sz="1400" noProof="1">
                <a:solidFill>
                  <a:srgbClr val="AF00DB"/>
                </a:solidFill>
                <a:latin typeface="Consolas"/>
              </a:rPr>
              <a:t>from</a:t>
            </a:r>
            <a:r>
              <a:rPr sz="1400" noProof="1">
                <a:solidFill>
                  <a:srgbClr val="000000"/>
                </a:solidFill>
                <a:latin typeface="Consolas"/>
              </a:rPr>
              <a:t> </a:t>
            </a:r>
            <a:r>
              <a:rPr sz="1400" noProof="1">
                <a:solidFill>
                  <a:srgbClr val="267F99"/>
                </a:solidFill>
                <a:latin typeface="Consolas"/>
              </a:rPr>
              <a:t>Qmes</a:t>
            </a:r>
            <a:r>
              <a:rPr sz="1400" noProof="1">
                <a:solidFill>
                  <a:srgbClr val="000000"/>
                </a:solidFill>
                <a:latin typeface="Consolas"/>
              </a:rPr>
              <a:t> </a:t>
            </a:r>
            <a:r>
              <a:rPr sz="1400" noProof="1">
                <a:solidFill>
                  <a:srgbClr val="AF00DB"/>
                </a:solidFill>
                <a:latin typeface="Consolas"/>
              </a:rPr>
              <a:t>import</a:t>
            </a:r>
            <a:r>
              <a:rPr sz="1400" noProof="1">
                <a:solidFill>
                  <a:srgbClr val="000000"/>
                </a:solidFill>
                <a:latin typeface="Consolas"/>
              </a:rPr>
              <a:t> </a:t>
            </a:r>
            <a:r>
              <a:rPr sz="1400" noProof="1">
                <a:solidFill>
                  <a:srgbClr val="795E26"/>
                </a:solidFill>
                <a:latin typeface="Consolas"/>
              </a:rPr>
              <a:t>get_extractor</a:t>
            </a:r>
            <a:r>
              <a:rPr sz="1400" noProof="1">
                <a:solidFill>
                  <a:srgbClr val="000000"/>
                </a:solidFill>
                <a:latin typeface="Consolas"/>
              </a:rPr>
              <a:t>, </a:t>
            </a:r>
            <a:r>
              <a:rPr sz="1400" noProof="1">
                <a:solidFill>
                  <a:srgbClr val="795E26"/>
                </a:solidFill>
                <a:latin typeface="Consolas"/>
              </a:rPr>
              <a:t>load_default_recommender</a:t>
            </a:r>
            <a:r>
              <a:rPr sz="1400" noProof="1">
                <a:solidFill>
                  <a:srgbClr val="000000"/>
                </a:solidFill>
                <a:latin typeface="Consolas"/>
              </a:rPr>
              <a:t>, </a:t>
            </a:r>
            <a:r>
              <a:rPr sz="1400" noProof="1">
                <a:solidFill>
                  <a:srgbClr val="795E26"/>
                </a:solidFill>
                <a:latin typeface="Consolas"/>
              </a:rPr>
              <a:t>recommend</a:t>
            </a:r>
          </a:p>
          <a:p>
            <a:r>
              <a:rPr sz="1400" noProof="1">
                <a:solidFill>
                  <a:srgbClr val="001080"/>
                </a:solidFill>
                <a:latin typeface="Consolas"/>
              </a:rPr>
              <a:t>ext</a:t>
            </a:r>
            <a:r>
              <a:rPr sz="1400" noProof="1">
                <a:solidFill>
                  <a:srgbClr val="000000"/>
                </a:solidFill>
                <a:latin typeface="Consolas"/>
              </a:rPr>
              <a:t> = </a:t>
            </a:r>
            <a:r>
              <a:rPr sz="1400" noProof="1">
                <a:solidFill>
                  <a:srgbClr val="795E26"/>
                </a:solidFill>
                <a:latin typeface="Consolas"/>
              </a:rPr>
              <a:t>get_extractor</a:t>
            </a:r>
            <a:r>
              <a:rPr sz="1400" noProof="1">
                <a:solidFill>
                  <a:srgbClr val="000000"/>
                </a:solidFill>
                <a:latin typeface="Consolas"/>
              </a:rPr>
              <a:t>(</a:t>
            </a:r>
            <a:r>
              <a:rPr sz="1400" noProof="1">
                <a:solidFill>
                  <a:srgbClr val="A31515"/>
                </a:solidFill>
                <a:latin typeface="Consolas"/>
              </a:rPr>
              <a:t>"classification"</a:t>
            </a:r>
            <a:r>
              <a:rPr sz="1400" noProof="1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sz="1400" noProof="1">
                <a:solidFill>
                  <a:srgbClr val="001080"/>
                </a:solidFill>
                <a:latin typeface="Consolas"/>
              </a:rPr>
              <a:t>rec</a:t>
            </a:r>
            <a:r>
              <a:rPr sz="1400" noProof="1">
                <a:solidFill>
                  <a:srgbClr val="000000"/>
                </a:solidFill>
                <a:latin typeface="Consolas"/>
              </a:rPr>
              <a:t> = </a:t>
            </a:r>
            <a:r>
              <a:rPr sz="1400" noProof="1">
                <a:solidFill>
                  <a:srgbClr val="795E26"/>
                </a:solidFill>
                <a:latin typeface="Consolas"/>
              </a:rPr>
              <a:t>load_default_recommender</a:t>
            </a:r>
            <a:r>
              <a:rPr sz="1400" noProof="1">
                <a:solidFill>
                  <a:srgbClr val="000000"/>
                </a:solidFill>
                <a:latin typeface="Consolas"/>
              </a:rPr>
              <a:t>(</a:t>
            </a:r>
            <a:r>
              <a:rPr sz="1400" noProof="1">
                <a:solidFill>
                  <a:srgbClr val="A31515"/>
                </a:solidFill>
                <a:latin typeface="Consolas"/>
              </a:rPr>
              <a:t>"classification"</a:t>
            </a:r>
            <a:r>
              <a:rPr sz="1400" noProof="1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sz="1400" noProof="1">
                <a:solidFill>
                  <a:srgbClr val="795E26"/>
                </a:solidFill>
                <a:latin typeface="Consolas"/>
              </a:rPr>
              <a:t>recommend</a:t>
            </a:r>
            <a:r>
              <a:rPr sz="1400" noProof="1">
                <a:solidFill>
                  <a:srgbClr val="000000"/>
                </a:solidFill>
                <a:latin typeface="Consolas"/>
              </a:rPr>
              <a:t>(</a:t>
            </a:r>
            <a:r>
              <a:rPr sz="1400" noProof="1">
                <a:solidFill>
                  <a:srgbClr val="001080"/>
                </a:solidFill>
                <a:latin typeface="Consolas"/>
              </a:rPr>
              <a:t>X</a:t>
            </a:r>
            <a:r>
              <a:rPr sz="1400" noProof="1">
                <a:solidFill>
                  <a:srgbClr val="000000"/>
                </a:solidFill>
                <a:latin typeface="Consolas"/>
              </a:rPr>
              <a:t>, </a:t>
            </a:r>
            <a:r>
              <a:rPr sz="1400" noProof="1">
                <a:solidFill>
                  <a:srgbClr val="001080"/>
                </a:solidFill>
                <a:latin typeface="Consolas"/>
              </a:rPr>
              <a:t>y</a:t>
            </a:r>
            <a:r>
              <a:rPr sz="1400" noProof="1">
                <a:solidFill>
                  <a:srgbClr val="000000"/>
                </a:solidFill>
                <a:latin typeface="Consolas"/>
              </a:rPr>
              <a:t>, </a:t>
            </a:r>
            <a:r>
              <a:rPr sz="1400" noProof="1">
                <a:solidFill>
                  <a:srgbClr val="001080"/>
                </a:solidFill>
                <a:latin typeface="Consolas"/>
              </a:rPr>
              <a:t>extractor</a:t>
            </a:r>
            <a:r>
              <a:rPr sz="1400" noProof="1">
                <a:solidFill>
                  <a:srgbClr val="000000"/>
                </a:solidFill>
                <a:latin typeface="Consolas"/>
              </a:rPr>
              <a:t>=</a:t>
            </a:r>
            <a:r>
              <a:rPr sz="1400" noProof="1">
                <a:solidFill>
                  <a:srgbClr val="001080"/>
                </a:solidFill>
                <a:latin typeface="Consolas"/>
              </a:rPr>
              <a:t>ext</a:t>
            </a:r>
            <a:r>
              <a:rPr sz="1400" noProof="1">
                <a:solidFill>
                  <a:srgbClr val="000000"/>
                </a:solidFill>
                <a:latin typeface="Consolas"/>
              </a:rPr>
              <a:t>, </a:t>
            </a:r>
            <a:r>
              <a:rPr sz="1400" noProof="1">
                <a:solidFill>
                  <a:srgbClr val="001080"/>
                </a:solidFill>
                <a:latin typeface="Consolas"/>
              </a:rPr>
              <a:t>recommender</a:t>
            </a:r>
            <a:r>
              <a:rPr sz="1400" noProof="1">
                <a:solidFill>
                  <a:srgbClr val="000000"/>
                </a:solidFill>
                <a:latin typeface="Consolas"/>
              </a:rPr>
              <a:t>=</a:t>
            </a:r>
            <a:r>
              <a:rPr sz="1400" noProof="1">
                <a:solidFill>
                  <a:srgbClr val="001080"/>
                </a:solidFill>
                <a:latin typeface="Consolas"/>
              </a:rPr>
              <a:t>rec</a:t>
            </a:r>
            <a:r>
              <a:rPr sz="1400" noProof="1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0233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No circuit runs, classical only</a:t>
            </a:r>
          </a:p>
          <a:p>
            <a:r>
              <a:rPr sz="1600"/>
              <a:t>To use the chosen circuit, you still run it</a:t>
            </a:r>
          </a:p>
        </p:txBody>
      </p:sp>
    </p:spTree>
    <p:extLst>
      <p:ext uri="{BB962C8B-B14F-4D97-AF65-F5344CB8AC3E}">
        <p14:creationId xmlns:p14="http://schemas.microsoft.com/office/powerpoint/2010/main" val="27447354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Q1 · From synthetic to real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sz="2000" dirty="0"/>
              <a:t>New problems</a:t>
            </a:r>
          </a:p>
          <a:p>
            <a:pPr marL="457200" indent="-457200">
              <a:buAutoNum type="arabicPeriod"/>
            </a:pPr>
            <a:r>
              <a:rPr sz="2000" dirty="0"/>
              <a:t>Real data are often imbalanced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Accuracy can look good while the model learns nothing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Score each circuit with MCC</a:t>
            </a:r>
          </a:p>
          <a:p>
            <a:pPr marL="457200" indent="-457200">
              <a:buAutoNum type="arabicPeriod"/>
            </a:pPr>
            <a:r>
              <a:rPr sz="2000"/>
              <a:t>Some </a:t>
            </a:r>
            <a:r>
              <a:rPr sz="2000" dirty="0"/>
              <a:t>datasets teach nothing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Every circuit ≈ random, or every circuit ≈ perfect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Drop them before training</a:t>
            </a:r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442D324D-3F30-C3F6-3E5C-B03F1A2F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60</a:t>
            </a:fld>
            <a:endParaRPr lang="vi-VN"/>
          </a:p>
        </p:txBody>
      </p:sp>
      <p:sp>
        <p:nvSpPr>
          <p:cNvPr id="8" name="TextBox 7"/>
          <p:cNvSpPr txBox="1"/>
          <p:nvPr/>
        </p:nvSpPr>
        <p:spPr>
          <a:xfrm>
            <a:off x="838200" y="1825625"/>
            <a:ext cx="518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Real vs synthetic datasets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38200" y="2237105"/>
          <a:ext cx="51816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659241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Q2 · Only ≈100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800000" cy="4351338"/>
          </a:xfrm>
        </p:spPr>
        <p:txBody>
          <a:bodyPr/>
          <a:lstStyle/>
          <a:p>
            <a:pPr>
              <a:spcAft>
                <a:spcPts val="1800"/>
              </a:spcAft>
              <a:defRPr sz="2400"/>
            </a:pPr>
            <a:r>
              <a:t>1 dataset = 1 sample</a:t>
            </a:r>
            <a:br/>
            <a:r>
              <a:t>label = best of 7 circuits</a:t>
            </a:r>
          </a:p>
          <a:p>
            <a:pPr>
              <a:spcAft>
                <a:spcPts val="1800"/>
              </a:spcAft>
              <a:defRPr sz="2400"/>
            </a:pPr>
            <a:r>
              <a:t>≈100 samples, 7 labels</a:t>
            </a:r>
            <a:br/>
            <a:r>
              <a:t>→ too few examples per label</a:t>
            </a:r>
          </a:p>
          <a:p>
            <a:pPr>
              <a:spcAft>
                <a:spcPts val="1800"/>
              </a:spcAft>
              <a:defRPr sz="2400"/>
            </a:pPr>
            <a:r>
              <a:t>Easier question:</a:t>
            </a:r>
            <a:br/>
            <a:r>
              <a:t>“is A better than B?” (yes/no)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61</a:t>
            </a:fld>
            <a:endParaRPr lang="vi-VN"/>
          </a:p>
        </p:txBody>
      </p:sp>
      <p:sp>
        <p:nvSpPr>
          <p:cNvPr id="7" name="TextBox 6"/>
          <p:cNvSpPr txBox="1"/>
          <p:nvPr/>
        </p:nvSpPr>
        <p:spPr>
          <a:xfrm>
            <a:off x="6000000" y="1825625"/>
            <a:ext cx="535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 i="0">
                <a:solidFill>
                  <a:srgbClr val="202020"/>
                </a:solidFill>
              </a:defRPr>
            </a:pPr>
            <a:r>
              <a:t>Training (once): a ✓/✗ on every dataset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00000" y="2280000"/>
          <a:ext cx="5350000" cy="7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02020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02020"/>
                          </a:solidFill>
                        </a:defRPr>
                      </a:pPr>
                      <a:r>
                        <a:t>D1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02020"/>
                          </a:solidFill>
                        </a:defRPr>
                      </a:pPr>
                      <a:r>
                        <a:t>D2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02020"/>
                          </a:solidFill>
                        </a:defRPr>
                      </a:pPr>
                      <a:r>
                        <a:t>D3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02020"/>
                          </a:solidFill>
                        </a:defRPr>
                      </a:pPr>
                      <a:r>
                        <a:t>…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02020"/>
                          </a:solidFill>
                        </a:defRPr>
                      </a:pPr>
                      <a:r>
                        <a:t>D100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02020"/>
                          </a:solidFill>
                        </a:defRPr>
                      </a:pPr>
                      <a:r>
                        <a:t>HD &gt; RY 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E7D32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757575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E7D32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02020"/>
                          </a:solidFill>
                        </a:defRPr>
                      </a:pPr>
                      <a:r>
                        <a:t>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E7D32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00000" y="3250000"/>
            <a:ext cx="535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 i="0">
                <a:solidFill>
                  <a:srgbClr val="202020"/>
                </a:solidFill>
              </a:defRPr>
            </a:pPr>
            <a:r>
              <a:t>New dataset: each answer is a vote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00000" y="3705000"/>
          <a:ext cx="5350000" cy="11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02020"/>
                          </a:solidFill>
                        </a:defRPr>
                      </a:pPr>
                      <a:r>
                        <a:t>HD &gt; RY ?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E7D32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E7D32"/>
                          </a:solidFill>
                        </a:defRPr>
                      </a:pPr>
                      <a:r>
                        <a:t>HD +1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02020"/>
                          </a:solidFill>
                        </a:defRPr>
                      </a:pPr>
                      <a:r>
                        <a:t>HD &gt; SRx 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E7D32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E7D32"/>
                          </a:solidFill>
                        </a:defRPr>
                      </a:pPr>
                      <a:r>
                        <a:t>HD +1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02020"/>
                          </a:solidFill>
                        </a:defRPr>
                      </a:pPr>
                      <a:r>
                        <a:t>RY &gt; SRx ?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757575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E7D32"/>
                          </a:solidFill>
                        </a:defRPr>
                      </a:pPr>
                      <a:r>
                        <a:t>SRx +1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00000" y="4950000"/>
            <a:ext cx="535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 i="0">
                <a:solidFill>
                  <a:srgbClr val="202020"/>
                </a:solidFill>
              </a:defRPr>
            </a:pPr>
            <a:r>
              <a:t>Votes: HD 2 · SRx 1 · RY 0  →  Ranking: HD, SRx, 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0" y="5450000"/>
            <a:ext cx="535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 i="1">
                <a:solidFill>
                  <a:srgbClr val="757575"/>
                </a:solidFill>
              </a:defRPr>
            </a:pPr>
            <a:r>
              <a:t>7 circuits → 21 questions, same voting (OvO)</a:t>
            </a:r>
          </a:p>
        </p:txBody>
      </p:sp>
    </p:spTree>
    <p:extLst>
      <p:ext uri="{BB962C8B-B14F-4D97-AF65-F5344CB8AC3E}">
        <p14:creationId xmlns:p14="http://schemas.microsoft.com/office/powerpoint/2010/main" val="22534399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2. Q3 · </a:t>
            </a:r>
            <a:r>
              <a:rPr lang="vi-VN" dirty="0" err="1"/>
              <a:t>How</a:t>
            </a:r>
            <a:r>
              <a:rPr lang="vi-VN" dirty="0"/>
              <a:t> </a:t>
            </a:r>
            <a:r>
              <a:rPr lang="vi-VN" dirty="0" err="1"/>
              <a:t>many</a:t>
            </a:r>
            <a:r>
              <a:rPr lang="vi-VN" dirty="0"/>
              <a:t> </a:t>
            </a:r>
            <a:r>
              <a:rPr lang="vi-VN" dirty="0" err="1"/>
              <a:t>features</a:t>
            </a:r>
            <a:r>
              <a:rPr lang="vi-VN" dirty="0"/>
              <a:t> do </a:t>
            </a:r>
            <a:r>
              <a:rPr lang="vi-VN" dirty="0" err="1"/>
              <a:t>we</a:t>
            </a:r>
            <a:r>
              <a:rPr lang="vi-VN" dirty="0"/>
              <a:t> </a:t>
            </a:r>
            <a:r>
              <a:rPr lang="vi-VN" dirty="0" err="1"/>
              <a:t>need</a:t>
            </a:r>
            <a:r>
              <a:rPr lang="vi-VN" dirty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024" y="1825625"/>
            <a:ext cx="5181600" cy="4351338"/>
          </a:xfrm>
        </p:spPr>
        <p:txBody>
          <a:bodyPr>
            <a:normAutofit/>
          </a:bodyPr>
          <a:lstStyle/>
          <a:p>
            <a:pPr lvl="0"/>
            <a:r>
              <a:rPr lang="vi-VN" sz="2000" b="1" dirty="0" err="1"/>
              <a:t>Problem</a:t>
            </a:r>
            <a:r>
              <a:rPr lang="vi-VN" sz="2000" b="1" dirty="0"/>
              <a:t>:</a:t>
            </a:r>
            <a:r>
              <a:rPr lang="vi-VN" sz="2000" dirty="0"/>
              <a:t> </a:t>
            </a:r>
            <a:r>
              <a:rPr lang="vi-VN" sz="2000" dirty="0" err="1"/>
              <a:t>Paper</a:t>
            </a:r>
            <a:r>
              <a:rPr lang="vi-VN" sz="2000" dirty="0"/>
              <a:t> 1 </a:t>
            </a:r>
            <a:r>
              <a:rPr lang="vi-VN" sz="2000" dirty="0" err="1"/>
              <a:t>uses</a:t>
            </a:r>
            <a:r>
              <a:rPr lang="vi-VN" sz="2000" dirty="0"/>
              <a:t> </a:t>
            </a:r>
            <a:r>
              <a:rPr lang="vi-VN" sz="2000" dirty="0" err="1"/>
              <a:t>all</a:t>
            </a:r>
            <a:r>
              <a:rPr lang="vi-VN" sz="2000" dirty="0"/>
              <a:t> </a:t>
            </a:r>
            <a:r>
              <a:rPr lang="vi-VN" sz="2000" dirty="0" err="1"/>
              <a:t>metrics</a:t>
            </a:r>
            <a:r>
              <a:rPr lang="vi-VN" sz="2000" dirty="0"/>
              <a:t>. </a:t>
            </a:r>
            <a:r>
              <a:rPr lang="vi-VN" sz="2000" dirty="0" err="1"/>
              <a:t>Are</a:t>
            </a:r>
            <a:r>
              <a:rPr lang="vi-VN" sz="2000" dirty="0"/>
              <a:t> </a:t>
            </a:r>
            <a:r>
              <a:rPr lang="vi-VN" sz="2000" dirty="0" err="1"/>
              <a:t>all</a:t>
            </a:r>
            <a:r>
              <a:rPr lang="vi-VN" sz="2000" dirty="0"/>
              <a:t> </a:t>
            </a:r>
            <a:r>
              <a:rPr lang="vi-VN" sz="2000" dirty="0" err="1"/>
              <a:t>of</a:t>
            </a:r>
            <a:r>
              <a:rPr lang="vi-VN" sz="2000" dirty="0"/>
              <a:t> </a:t>
            </a:r>
            <a:r>
              <a:rPr lang="vi-VN" sz="2000" dirty="0" err="1"/>
              <a:t>them</a:t>
            </a:r>
            <a:r>
              <a:rPr lang="vi-VN" sz="2000" dirty="0"/>
              <a:t> </a:t>
            </a:r>
            <a:r>
              <a:rPr lang="vi-VN" sz="2000" dirty="0" err="1"/>
              <a:t>needed</a:t>
            </a:r>
            <a:r>
              <a:rPr lang="vi-VN" sz="2000" dirty="0"/>
              <a:t>?</a:t>
            </a:r>
          </a:p>
          <a:p>
            <a:pPr marL="0" lvl="0" indent="0">
              <a:buNone/>
            </a:pPr>
            <a:endParaRPr lang="vi-VN" sz="2000" dirty="0"/>
          </a:p>
          <a:p>
            <a:pPr lvl="0"/>
            <a:r>
              <a:rPr lang="vi-VN" sz="2000" b="1" dirty="0" err="1"/>
              <a:t>Our</a:t>
            </a:r>
            <a:r>
              <a:rPr lang="vi-VN" sz="2000" b="1" dirty="0"/>
              <a:t> </a:t>
            </a:r>
            <a:r>
              <a:rPr lang="vi-VN" sz="2000" b="1" dirty="0" err="1"/>
              <a:t>solution</a:t>
            </a:r>
            <a:r>
              <a:rPr lang="vi-VN" sz="2000" b="1" dirty="0"/>
              <a:t>:</a:t>
            </a:r>
            <a:r>
              <a:rPr lang="vi-VN" sz="2000" dirty="0"/>
              <a:t> </a:t>
            </a:r>
            <a:r>
              <a:rPr lang="vi-VN" sz="2000" dirty="0" err="1"/>
              <a:t>keep</a:t>
            </a:r>
            <a:r>
              <a:rPr lang="vi-VN" sz="2000" dirty="0"/>
              <a:t> </a:t>
            </a:r>
            <a:r>
              <a:rPr lang="vi-VN" sz="2000" dirty="0" err="1"/>
              <a:t>only</a:t>
            </a:r>
            <a:r>
              <a:rPr lang="vi-VN" sz="2000" dirty="0"/>
              <a:t> the </a:t>
            </a:r>
            <a:r>
              <a:rPr lang="vi-VN" sz="2000" dirty="0" err="1"/>
              <a:t>most</a:t>
            </a:r>
            <a:r>
              <a:rPr lang="vi-VN" sz="2000" dirty="0"/>
              <a:t> </a:t>
            </a:r>
            <a:r>
              <a:rPr lang="vi-VN" sz="2000" dirty="0" err="1"/>
              <a:t>informative</a:t>
            </a:r>
            <a:r>
              <a:rPr lang="vi-VN" sz="2000" dirty="0"/>
              <a:t> </a:t>
            </a:r>
            <a:r>
              <a:rPr lang="vi-VN" sz="2000" dirty="0" err="1"/>
              <a:t>metrics</a:t>
            </a:r>
            <a:endParaRPr lang="vi-VN" sz="20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vi-VN" sz="2000" dirty="0" err="1"/>
              <a:t>rank</a:t>
            </a:r>
            <a:r>
              <a:rPr lang="vi-VN" sz="2000" dirty="0"/>
              <a:t> </a:t>
            </a:r>
            <a:r>
              <a:rPr lang="vi-VN" sz="2000" dirty="0" err="1"/>
              <a:t>metrics</a:t>
            </a:r>
            <a:r>
              <a:rPr lang="vi-VN" sz="2000" dirty="0"/>
              <a:t> → </a:t>
            </a:r>
            <a:r>
              <a:rPr lang="vi-VN" sz="2000" dirty="0" err="1"/>
              <a:t>keep</a:t>
            </a:r>
            <a:r>
              <a:rPr lang="vi-VN" sz="2000" dirty="0"/>
              <a:t> </a:t>
            </a:r>
            <a:r>
              <a:rPr lang="vi-VN" sz="2000" dirty="0" err="1"/>
              <a:t>top</a:t>
            </a:r>
            <a:r>
              <a:rPr lang="vi-VN" sz="2000" dirty="0"/>
              <a:t> k → </a:t>
            </a:r>
            <a:r>
              <a:rPr lang="vi-VN" sz="2000" dirty="0" err="1"/>
              <a:t>test</a:t>
            </a:r>
            <a:r>
              <a:rPr lang="vi-VN" sz="2000" dirty="0"/>
              <a:t> </a:t>
            </a:r>
            <a:r>
              <a:rPr lang="vi-VN" sz="2000" dirty="0" err="1"/>
              <a:t>each</a:t>
            </a:r>
            <a:r>
              <a:rPr lang="vi-VN" sz="2000" dirty="0"/>
              <a:t> k</a:t>
            </a:r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442D324D-3F30-C3F6-3E5C-B03F1A2F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62</a:t>
            </a:fld>
            <a:endParaRPr lang="vi-VN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72200" y="1825625"/>
          <a:ext cx="5181600" cy="2175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72200" y="4001294"/>
          <a:ext cx="5181600" cy="2175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992253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2. Q4 · </a:t>
            </a:r>
            <a:r>
              <a:rPr lang="en-US" dirty="0" err="1"/>
              <a:t>Performance</a:t>
            </a:r>
            <a:r>
              <a:rPr lang="en-US" dirty="0"/>
              <a:t> </a:t>
            </a:r>
            <a:r>
              <a:rPr lang="en-US" dirty="0" err="1"/>
              <a:t>evaluation</a:t>
            </a:r>
            <a:r>
              <a:rPr lang="en-US" dirty="0"/>
              <a:t> </a:t>
            </a:r>
            <a:r>
              <a:rPr lang="en-US" dirty="0" err="1"/>
              <a:t>metric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693085"/>
            <a:ext cx="5181600" cy="3483878"/>
          </a:xfrm>
        </p:spPr>
        <p:txBody>
          <a:bodyPr/>
          <a:lstStyle/>
          <a:p>
            <a:r>
              <a:rPr sz="1800" dirty="0"/>
              <a:t>Paper 1: only hit / miss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600" dirty="0"/>
              <a:t>A miss can lose 0.001 or 0.08 → hit/miss can’t tell them apart</a:t>
            </a:r>
          </a:p>
          <a:p>
            <a:r>
              <a:rPr sz="1800" dirty="0"/>
              <a:t>Need: how much is lost? → regret</a:t>
            </a:r>
          </a:p>
          <a:p>
            <a:r>
              <a:rPr sz="1800" dirty="0"/>
              <a:t>With regret: better than a naive choice?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600" dirty="0"/>
              <a:t>Naive = always the best-on-average circuit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600" dirty="0" err="1"/>
              <a:t>Qmes loses 2–4× less</a:t>
            </a:r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442D324D-3F30-C3F6-3E5C-B03F1A2F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63</a:t>
            </a:fld>
            <a:endParaRPr lang="vi-VN"/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607346"/>
              </p:ext>
            </p:extLst>
          </p:nvPr>
        </p:nvGraphicFramePr>
        <p:xfrm>
          <a:off x="6172200" y="2044729"/>
          <a:ext cx="5181600" cy="3481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5571519"/>
            <a:ext cx="5181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200" b="1" i="1" dirty="0" err="1"/>
              <a:t>Qmes</a:t>
            </a:r>
            <a:r>
              <a:rPr lang="vi-VN" sz="1200" b="1" i="1" dirty="0"/>
              <a:t>: </a:t>
            </a:r>
            <a:r>
              <a:rPr lang="vi-VN" sz="1200" b="1" i="1" dirty="0" err="1"/>
              <a:t>Quantum</a:t>
            </a:r>
            <a:r>
              <a:rPr lang="vi-VN" sz="1200" b="1" i="1" dirty="0"/>
              <a:t> </a:t>
            </a:r>
            <a:r>
              <a:rPr lang="vi-VN" sz="1200" b="1" i="1" dirty="0" err="1"/>
              <a:t>Meta-Learning</a:t>
            </a:r>
            <a:r>
              <a:rPr lang="vi-VN" sz="1200" b="1" i="1" dirty="0"/>
              <a:t> </a:t>
            </a:r>
            <a:r>
              <a:rPr lang="vi-VN" sz="1200" b="1" i="1" dirty="0" err="1"/>
              <a:t>for</a:t>
            </a:r>
            <a:r>
              <a:rPr lang="vi-VN" sz="1200" b="1" i="1" dirty="0"/>
              <a:t> </a:t>
            </a:r>
            <a:r>
              <a:rPr lang="vi-VN" sz="1200" b="1" i="1" dirty="0" err="1"/>
              <a:t>Encoding</a:t>
            </a:r>
            <a:r>
              <a:rPr lang="vi-VN" sz="1200" b="1" i="1" dirty="0"/>
              <a:t> </a:t>
            </a:r>
            <a:r>
              <a:rPr lang="vi-VN" sz="1200" b="1" i="1" dirty="0" err="1"/>
              <a:t>Selection</a:t>
            </a:r>
            <a:r>
              <a:rPr lang="vi-VN" sz="1200" b="1" i="1" dirty="0"/>
              <a:t> in </a:t>
            </a:r>
            <a:r>
              <a:rPr lang="vi-VN" sz="1200" b="1" i="1" dirty="0" err="1"/>
              <a:t>Quantum</a:t>
            </a:r>
            <a:r>
              <a:rPr lang="vi-VN" sz="1200" b="1" i="1" dirty="0"/>
              <a:t> </a:t>
            </a:r>
            <a:r>
              <a:rPr lang="vi-VN" sz="1200" b="1" i="1" dirty="0" err="1"/>
              <a:t>Kernel</a:t>
            </a:r>
            <a:r>
              <a:rPr lang="vi-VN" sz="1200" b="1" i="1" dirty="0"/>
              <a:t> </a:t>
            </a:r>
            <a:r>
              <a:rPr lang="vi-VN" sz="1200" b="1" i="1" dirty="0" err="1"/>
              <a:t>Methods</a:t>
            </a:r>
            <a:endParaRPr lang="vi-VN" sz="1200" b="1" i="1" dirty="0"/>
          </a:p>
          <a:p>
            <a:br>
              <a:rPr lang="vi-VN" sz="1200" i="1" dirty="0"/>
            </a:br>
            <a:endParaRPr sz="1200" i="1" dirty="0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5A540962-4B86-0ED4-1F4A-78DF85FFCC97}"/>
              </a:ext>
            </a:extLst>
          </p:cNvPr>
          <p:cNvSpPr txBox="1"/>
          <p:nvPr/>
        </p:nvSpPr>
        <p:spPr>
          <a:xfrm>
            <a:off x="1146412" y="1480836"/>
            <a:ext cx="92258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1" dirty="0"/>
              <a:t>Regret</a:t>
            </a:r>
            <a:r>
              <a:rPr lang="en-US" sz="2000" i="1" dirty="0"/>
              <a:t> = score of the best circuit − score of the recommended circuit</a:t>
            </a:r>
          </a:p>
        </p:txBody>
      </p:sp>
    </p:spTree>
    <p:extLst>
      <p:ext uri="{BB962C8B-B14F-4D97-AF65-F5344CB8AC3E}">
        <p14:creationId xmlns:p14="http://schemas.microsoft.com/office/powerpoint/2010/main" val="30816004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2. Q5 · </a:t>
            </a:r>
            <a:r>
              <a:rPr lang="vi-VN" dirty="0" err="1"/>
              <a:t>From</a:t>
            </a:r>
            <a:r>
              <a:rPr lang="vi-VN" dirty="0"/>
              <a:t> </a:t>
            </a:r>
            <a:r>
              <a:rPr lang="vi-VN" dirty="0" err="1"/>
              <a:t>code</a:t>
            </a:r>
            <a:r>
              <a:rPr lang="vi-VN" dirty="0"/>
              <a:t> to a </a:t>
            </a:r>
            <a:r>
              <a:rPr lang="vi-VN" dirty="0" err="1"/>
              <a:t>ready</a:t>
            </a:r>
            <a:r>
              <a:rPr lang="vi-VN" dirty="0"/>
              <a:t>-to-</a:t>
            </a:r>
            <a:r>
              <a:rPr lang="vi-VN" dirty="0" err="1"/>
              <a:t>use</a:t>
            </a:r>
            <a:r>
              <a:rPr lang="vi-VN" dirty="0"/>
              <a:t> </a:t>
            </a:r>
            <a:r>
              <a:rPr lang="vi-VN" dirty="0" err="1"/>
              <a:t>model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603375"/>
          </a:xfrm>
        </p:spPr>
        <p:txBody>
          <a:bodyPr/>
          <a:lstStyle/>
          <a:p>
            <a:r>
              <a:rPr sz="1800" dirty="0"/>
              <a:t>Code only (Paper 1)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600" dirty="0"/>
              <a:t>To get a recommendation on your data: rebuild the meta-dataset = run every circuit on every dataset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600" dirty="0"/>
              <a:t>Then train the recommender yourself</a:t>
            </a:r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442D324D-3F30-C3F6-3E5C-B03F1A2F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64</a:t>
            </a:fld>
            <a:endParaRPr lang="vi-VN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0553502A-0D73-BCA5-B0B4-A5E9A170ACA7}"/>
              </a:ext>
            </a:extLst>
          </p:cNvPr>
          <p:cNvSpPr txBox="1"/>
          <p:nvPr/>
        </p:nvSpPr>
        <p:spPr>
          <a:xfrm>
            <a:off x="6172202" y="1825625"/>
            <a:ext cx="609713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Qmes</a:t>
            </a:r>
            <a:r>
              <a:rPr lang="en-US" sz="1800" dirty="0"/>
              <a:t> package: pip install from GitHub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/>
              <a:t>✓ The code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/>
              <a:t>✓ The simulator (</a:t>
            </a:r>
            <a:r>
              <a:rPr lang="en-US" sz="1600" dirty="0" err="1"/>
              <a:t>Qsun</a:t>
            </a:r>
            <a:r>
              <a:rPr lang="en-US" sz="1600" dirty="0"/>
              <a:t>): nothing else to install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/>
              <a:t>✓ Trained recommenders, one per task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096B916E-0581-F8A2-D959-2578D62C34A4}"/>
              </a:ext>
            </a:extLst>
          </p:cNvPr>
          <p:cNvSpPr txBox="1"/>
          <p:nvPr/>
        </p:nvSpPr>
        <p:spPr>
          <a:xfrm>
            <a:off x="2374710" y="3489993"/>
            <a:ext cx="6712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/>
              <a:t>Users get the result of the expensive part without redoing it</a:t>
            </a:r>
          </a:p>
        </p:txBody>
      </p:sp>
    </p:spTree>
    <p:extLst>
      <p:ext uri="{BB962C8B-B14F-4D97-AF65-F5344CB8AC3E}">
        <p14:creationId xmlns:p14="http://schemas.microsoft.com/office/powerpoint/2010/main" val="32307526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 Display" panose="020B0004020202020204" pitchFamily="34" charset="0"/>
              </a:rPr>
              <a:t>3. Qmes pipeline</a:t>
            </a:r>
            <a:endParaRPr dirty="0">
              <a:latin typeface="Aptos Display" panose="020B00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Offline · run once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Dataset → Extractor: describe the dataset (metrics)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Dataset → Evaluator: run every circuit, score it; the only quantum block (Q1)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Meta-dataset → train </a:t>
            </a:r>
            <a:r>
              <a:rPr sz="1800"/>
              <a:t>the Recommender </a:t>
            </a:r>
            <a:r>
              <a:rPr sz="1800" dirty="0"/>
              <a:t>(Q2 · Q3 · Q4)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Trained Recommender → in the package (Q5)</a:t>
            </a:r>
          </a:p>
          <a:p>
            <a:r>
              <a:rPr sz="2000" dirty="0"/>
              <a:t>Per new dataset · no circuit runs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1800" dirty="0"/>
              <a:t>New dataset → Extractor → Recommender → top-3 circuits</a:t>
            </a:r>
          </a:p>
          <a:p>
            <a:r>
              <a:rPr sz="2000" dirty="0"/>
              <a:t>Each block can be swapped: regression was added </a:t>
            </a:r>
            <a:r>
              <a:rPr sz="2000"/>
              <a:t>this way</a:t>
            </a:r>
            <a:endParaRPr sz="2000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C9D181C-3D38-30EC-FD34-52862BFD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5458A-35DC-428B-AF0A-2F7B4F6B2F1E}" type="slidenum">
              <a:rPr lang="vi-VN" smtClean="0"/>
              <a:t>65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99557615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1493</TotalTime>
  <Words>22021</Words>
  <Application>Microsoft Office PowerPoint</Application>
  <PresentationFormat>Màn hình rộng</PresentationFormat>
  <Paragraphs>1136</Paragraphs>
  <Slides>65</Slides>
  <Notes>61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65</vt:i4>
      </vt:variant>
    </vt:vector>
  </HeadingPairs>
  <TitlesOfParts>
    <vt:vector size="72" baseType="lpstr">
      <vt:lpstr>Aptos Display</vt:lpstr>
      <vt:lpstr>Arial</vt:lpstr>
      <vt:lpstr>Cambria Math</vt:lpstr>
      <vt:lpstr>Consolas</vt:lpstr>
      <vt:lpstr>Times New Roman</vt:lpstr>
      <vt:lpstr>Wingdings</vt:lpstr>
      <vt:lpstr>Chủ đề Office</vt:lpstr>
      <vt:lpstr>Topic: Software packages for quantum computing</vt:lpstr>
      <vt:lpstr>What we will cover?</vt:lpstr>
      <vt:lpstr>What is QML, and what tools do we use?</vt:lpstr>
      <vt:lpstr>Outline</vt:lpstr>
      <vt:lpstr>1. Machine learning today</vt:lpstr>
      <vt:lpstr>1. Quantum computers</vt:lpstr>
      <vt:lpstr>1. Quantum machine learning</vt:lpstr>
      <vt:lpstr>2. QML taxonomy?</vt:lpstr>
      <vt:lpstr>3. Two research goals</vt:lpstr>
      <vt:lpstr>3. Goal A: quantum advantage</vt:lpstr>
      <vt:lpstr>3. Why goal A is hard for ML</vt:lpstr>
      <vt:lpstr>4. Three libraries, three purposes</vt:lpstr>
      <vt:lpstr>4. Summary: from taxonomy to tools</vt:lpstr>
      <vt:lpstr>Quantum kernel methods</vt:lpstr>
      <vt:lpstr>Outline</vt:lpstr>
      <vt:lpstr>1. Kernel methods: the original idea</vt:lpstr>
      <vt:lpstr>1. Feature map and kernel</vt:lpstr>
      <vt:lpstr>1. Support vector machine</vt:lpstr>
      <vt:lpstr>2. Quantum kernel</vt:lpstr>
      <vt:lpstr>2. How to calculate K (Gram matrix) </vt:lpstr>
      <vt:lpstr>2. QKM = two blocks</vt:lpstr>
      <vt:lpstr>2. Training = SVM dual</vt:lpstr>
      <vt:lpstr>2. What this means</vt:lpstr>
      <vt:lpstr>3. SVM + RBF vs QKMs</vt:lpstr>
      <vt:lpstr>3. Exponential concentration: 𝐾 ≈ 𝐼</vt:lpstr>
      <vt:lpstr>3. Three sources of concentration</vt:lpstr>
      <vt:lpstr>Quantum neural networks</vt:lpstr>
      <vt:lpstr>Outline</vt:lpstr>
      <vt:lpstr>1. Neural network</vt:lpstr>
      <vt:lpstr>1. Quantum neural network (QNN)</vt:lpstr>
      <vt:lpstr>1. Variational block: ansatz 𝑉(𝜃)</vt:lpstr>
      <vt:lpstr>1. QNN = two blocks and a loop</vt:lpstr>
      <vt:lpstr>2. Training: same as NN</vt:lpstr>
      <vt:lpstr>2. On hardware, ∇𝑓 costs 2 runs per parameter</vt:lpstr>
      <vt:lpstr>3. NN vs QNN</vt:lpstr>
      <vt:lpstr>3. QNN as a linear model</vt:lpstr>
      <vt:lpstr>4. Barren plateau: gradient below shot noise</vt:lpstr>
      <vt:lpstr>4. Three sources of barren plateaus</vt:lpstr>
      <vt:lpstr>6. Three questions, two models</vt:lpstr>
      <vt:lpstr>From question to paper</vt:lpstr>
      <vt:lpstr>Outline</vt:lpstr>
      <vt:lpstr>1. Our group: QuantumLab</vt:lpstr>
      <vt:lpstr>1. How a Project gets started</vt:lpstr>
      <vt:lpstr>2. Change the encoding, change the result</vt:lpstr>
      <vt:lpstr>2. Two prior directions, two gaps</vt:lpstr>
      <vt:lpstr>2. Papers in Zotero, ideas in Obsidian</vt:lpstr>
      <vt:lpstr>2. Other tools</vt:lpstr>
      <vt:lpstr>3. A dataset vs a meta-dataset</vt:lpstr>
      <vt:lpstr>3. How to build a row in meta-dataset</vt:lpstr>
      <vt:lpstr>3. How to choose the best circuit?</vt:lpstr>
      <vt:lpstr>4. Building the recommender</vt:lpstr>
      <vt:lpstr>4. On the meta-dataset: ties make it learnable</vt:lpstr>
      <vt:lpstr>5. Inference on new dataset</vt:lpstr>
      <vt:lpstr>5. Paper 1 in a nutshell</vt:lpstr>
      <vt:lpstr>6. Paper 1 answers one question</vt:lpstr>
      <vt:lpstr>From paper to package</vt:lpstr>
      <vt:lpstr>Outline</vt:lpstr>
      <vt:lpstr>1. From “is the idea right?” to “can others use it?”</vt:lpstr>
      <vt:lpstr>1. Three goals</vt:lpstr>
      <vt:lpstr>2. Q1 · From synthetic to real data</vt:lpstr>
      <vt:lpstr>2. Q2 · Only ≈100 datasets</vt:lpstr>
      <vt:lpstr>2. Q3 · How many features do we need?</vt:lpstr>
      <vt:lpstr>2. Q4 · Performance evaluation metric</vt:lpstr>
      <vt:lpstr>2. Q5 · From code to a ready-to-use model</vt:lpstr>
      <vt:lpstr>3. Qmes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Tùng Đào</dc:creator>
  <cp:lastModifiedBy>DAO DUY TUNG</cp:lastModifiedBy>
  <cp:revision>162</cp:revision>
  <dcterms:created xsi:type="dcterms:W3CDTF">2026-10-19T09:13:13Z</dcterms:created>
  <dcterms:modified xsi:type="dcterms:W3CDTF">2026-10-25T04:14:00Z</dcterms:modified>
</cp:coreProperties>
</file>