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322" r:id="rId4"/>
    <p:sldId id="360" r:id="rId5"/>
    <p:sldId id="361" r:id="rId6"/>
    <p:sldId id="362" r:id="rId7"/>
    <p:sldId id="364" r:id="rId8"/>
    <p:sldId id="365" r:id="rId9"/>
    <p:sldId id="323" r:id="rId10"/>
    <p:sldId id="363" r:id="rId11"/>
    <p:sldId id="343" r:id="rId12"/>
    <p:sldId id="324" r:id="rId13"/>
    <p:sldId id="325" r:id="rId14"/>
    <p:sldId id="345" r:id="rId15"/>
    <p:sldId id="369" r:id="rId16"/>
    <p:sldId id="326" r:id="rId17"/>
    <p:sldId id="258" r:id="rId18"/>
    <p:sldId id="259" r:id="rId19"/>
    <p:sldId id="260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284" r:id="rId28"/>
    <p:sldId id="377" r:id="rId29"/>
    <p:sldId id="273" r:id="rId30"/>
    <p:sldId id="275" r:id="rId31"/>
    <p:sldId id="274" r:id="rId32"/>
    <p:sldId id="285" r:id="rId33"/>
    <p:sldId id="271" r:id="rId34"/>
    <p:sldId id="380" r:id="rId35"/>
    <p:sldId id="381" r:id="rId36"/>
    <p:sldId id="263" r:id="rId37"/>
    <p:sldId id="264" r:id="rId38"/>
    <p:sldId id="265" r:id="rId39"/>
    <p:sldId id="261" r:id="rId40"/>
    <p:sldId id="266" r:id="rId41"/>
    <p:sldId id="267" r:id="rId42"/>
    <p:sldId id="382" r:id="rId4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4745"/>
  </p:normalViewPr>
  <p:slideViewPr>
    <p:cSldViewPr snapToGrid="0">
      <p:cViewPr varScale="1">
        <p:scale>
          <a:sx n="109" d="100"/>
          <a:sy n="109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823AA-519E-954A-B332-1D321F08CEC7}" type="datetimeFigureOut">
              <a:t>8/10/26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BC7AF-5D40-A44A-AFBC-4EFE8EC77990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5200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x xichma x {L, R} is a function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8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 x xichma x {L, R} is a function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A8EB9-2BA2-44D5-82C9-5C7C352621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26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BC7AF-5D40-A44A-AFBC-4EFE8EC77990}" type="slidenum">
              <a:rPr lang="en-VN"/>
              <a:t>42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2704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42139-FD9E-02D3-D8AE-513EFD873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42E0B-EE67-2196-BE39-F5F2D58D2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28438-98C7-65D2-A1D5-59E592714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A0BE4-4309-6B4B-AB5A-651AF3CAB337}" type="datetime1">
              <a:t>8/10/26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E57E-C737-22AE-460F-56F882D3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64B16-0CAF-FB09-A8F9-3D03846A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6573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8A93-8455-F7CB-B215-A59706BA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C7043-FCDD-5B34-FF5C-33CFEF7B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513CD-8CC4-C8BD-E009-87B3CB4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8CB1-29D3-554D-9CCB-EF08ED4E6DE2}" type="datetime1">
              <a:t>8/10/26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7E95D-51C6-2784-880F-D0775FEF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E7F66-8EE4-1446-8002-A3C43685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6140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3BFE-06E7-D8B8-55BB-EC4134771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FB180-C1DC-41E9-E8A3-C8388A5F3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131C2-2B1C-035A-B10E-0810D92B9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1E78B-09B4-7047-A94A-2FCDC21354B5}" type="datetime1">
              <a:t>8/10/26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C0399-E7D8-620E-456A-AE4B41A4D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D3772-8F40-441E-FE44-D0B3B472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898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18F1-04C7-1B2F-D376-CF76ED05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D1539-70F3-8397-E22E-DB2644EF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3BA0A-5033-E95C-6555-9A9A5017C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7F59E-3D0E-EDA8-6D57-99B14B89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94FF-1081-FD46-B38C-71B58007D06B}" type="datetime1">
              <a:t>8/10/26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9981D-D8AB-1B78-ECE9-679FA8A7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E2CD4-4026-E1F9-A60B-9DF081A8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95131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F215-8163-8AB9-25AF-4F270527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00802-5D3A-C3AB-5A91-71767D458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E38B0-F17F-20A7-59AE-65907C93B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DF78D-536F-173B-F2F1-C64120567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8156F-731E-5FD1-54BD-842E2F900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C64C0-4FFF-F229-B37D-FF6C37DC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AD967-E1BD-A043-AF41-31CE8D5925B8}" type="datetime1">
              <a:t>8/10/26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7EFD4-E989-375C-A844-7E49C570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18110-486F-39C5-DAEC-3D1B47B7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8627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1754-21B8-99BD-9E41-8FC8743D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B5B99-73AF-AC62-8E80-111B15DFA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8CA4B-EA68-F949-AA20-A296BC1EAE8A}" type="datetime1">
              <a:t>8/10/26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81CA1-2C76-1628-6748-5C808B9F4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124BD-AF8A-216E-0064-66C42B08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9841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1DF8DA-ECEF-64D6-1AEC-34187944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3C233-DBA3-244F-BB61-8910BD72C6EA}" type="datetime1">
              <a:t>8/10/26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FB8E2-AD57-19D4-DD01-F89E69A0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9BE02-C008-AB12-016A-BA779D3D8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2180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FE6A-DE56-E5C1-8E0E-36801490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49B83-489A-5522-232D-3B05BD36F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C8915-C6B1-70DC-3186-4F737D09B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1D8D1-3250-2CCA-591F-8431B4D0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6832-197D-A04B-AC70-7BD6CE44AE62}" type="datetime1">
              <a:t>8/10/26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BDC50-B879-2E3B-E992-8BBBA6DF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DB478-0690-795F-678D-EEC11D4A7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9090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4F57-F83F-B524-E656-2A40A9BB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77638-42E8-FC3F-A3C4-FBC6D9FAE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7A235-9DCD-0CA3-63FF-36AE51D3C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93676-992A-7996-FF7B-B911ADF8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9A1-BDCA-7F4D-8F48-15EF0EFF5458}" type="datetime1">
              <a:t>8/10/26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E276C-AE6F-D21B-E9FE-E909E344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FB6ED-ADC2-E05E-F043-FBC4DE34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044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5C64-B89D-0621-77EE-6E5AE22E3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5D04E-77E1-F35A-F3ED-0C943E927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1C768-60C1-4E86-0941-FAEF9FD00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50B9-45CD-3949-8B18-EEB0F843CC59}" type="datetime1">
              <a:t>8/10/26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A4C19-8DEE-9BF1-EBED-B0324A92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BF282-DB2C-2F33-11FC-AACFD14E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1782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D44955-7FCD-32B6-345F-DDF5008B4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96824-9BE8-8FA1-D651-902C065D9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0BF68-9D4C-0F7B-3DB5-C55E134C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97AFB-FD7B-3B4B-B256-3F925B94CDF2}" type="datetime1">
              <a:t>8/10/26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58131-564B-A394-1601-29E13143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68C3-B8D2-05D8-82C8-3E72A845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4527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7A152-E423-022B-9C2B-A85EF374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3A1D2-AD6A-BF10-EF2E-0A54BE9E7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4317B-9E35-BC64-F184-29B33FA59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E3D78-58FB-B34D-90F8-AAFCEE706DF6}" type="datetime1">
              <a:t>8/10/26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248AC-595F-7616-D1EF-118D66104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B9F7E-B8F3-07D2-F94F-234F16CEC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20652-EDBF-5741-A5EB-DBD4F612B0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503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97.png"/><Relationship Id="rId4" Type="http://schemas.openxmlformats.org/officeDocument/2006/relationships/image" Target="../media/image18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2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90.png"/><Relationship Id="rId7" Type="http://schemas.openxmlformats.org/officeDocument/2006/relationships/image" Target="../media/image472.png"/><Relationship Id="rId12" Type="http://schemas.openxmlformats.org/officeDocument/2006/relationships/image" Target="../media/image5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1.png"/><Relationship Id="rId11" Type="http://schemas.openxmlformats.org/officeDocument/2006/relationships/image" Target="../media/image4.png"/><Relationship Id="rId5" Type="http://schemas.openxmlformats.org/officeDocument/2006/relationships/image" Target="../media/image441.png"/><Relationship Id="rId10" Type="http://schemas.openxmlformats.org/officeDocument/2006/relationships/image" Target="../media/image50.png"/><Relationship Id="rId4" Type="http://schemas.openxmlformats.org/officeDocument/2006/relationships/image" Target="../media/image400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10.png"/><Relationship Id="rId4" Type="http://schemas.openxmlformats.org/officeDocument/2006/relationships/image" Target="../media/image31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0.png"/><Relationship Id="rId3" Type="http://schemas.openxmlformats.org/officeDocument/2006/relationships/image" Target="../media/image710.png"/><Relationship Id="rId7" Type="http://schemas.openxmlformats.org/officeDocument/2006/relationships/image" Target="../media/image1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0.png"/><Relationship Id="rId11" Type="http://schemas.openxmlformats.org/officeDocument/2006/relationships/image" Target="../media/image1500.png"/><Relationship Id="rId5" Type="http://schemas.openxmlformats.org/officeDocument/2006/relationships/image" Target="../media/image910.png"/><Relationship Id="rId10" Type="http://schemas.openxmlformats.org/officeDocument/2006/relationships/image" Target="../media/image140.png"/><Relationship Id="rId4" Type="http://schemas.openxmlformats.org/officeDocument/2006/relationships/image" Target="../media/image810.png"/><Relationship Id="rId9" Type="http://schemas.openxmlformats.org/officeDocument/2006/relationships/image" Target="../media/image13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1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1.png"/><Relationship Id="rId5" Type="http://schemas.openxmlformats.org/officeDocument/2006/relationships/image" Target="../media/image1801.png"/><Relationship Id="rId4" Type="http://schemas.openxmlformats.org/officeDocument/2006/relationships/image" Target="../media/image171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0.png"/><Relationship Id="rId3" Type="http://schemas.openxmlformats.org/officeDocument/2006/relationships/image" Target="../media/image211.png"/><Relationship Id="rId7" Type="http://schemas.openxmlformats.org/officeDocument/2006/relationships/image" Target="../media/image252.png"/><Relationship Id="rId2" Type="http://schemas.openxmlformats.org/officeDocument/2006/relationships/image" Target="../media/image2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0.png"/><Relationship Id="rId11" Type="http://schemas.openxmlformats.org/officeDocument/2006/relationships/image" Target="../media/image2800.png"/><Relationship Id="rId5" Type="http://schemas.openxmlformats.org/officeDocument/2006/relationships/image" Target="../media/image2310.png"/><Relationship Id="rId10" Type="http://schemas.openxmlformats.org/officeDocument/2006/relationships/image" Target="../media/image271.png"/><Relationship Id="rId4" Type="http://schemas.openxmlformats.org/officeDocument/2006/relationships/image" Target="../media/image220.png"/><Relationship Id="rId9" Type="http://schemas.openxmlformats.org/officeDocument/2006/relationships/image" Target="../media/image180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4" Type="http://schemas.openxmlformats.org/officeDocument/2006/relationships/image" Target="../media/image30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0.png"/><Relationship Id="rId3" Type="http://schemas.openxmlformats.org/officeDocument/2006/relationships/image" Target="../media/image340.png"/><Relationship Id="rId7" Type="http://schemas.openxmlformats.org/officeDocument/2006/relationships/image" Target="../media/image3800.png"/><Relationship Id="rId2" Type="http://schemas.openxmlformats.org/officeDocument/2006/relationships/image" Target="../media/image3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2.png"/><Relationship Id="rId5" Type="http://schemas.openxmlformats.org/officeDocument/2006/relationships/image" Target="../media/image360.png"/><Relationship Id="rId10" Type="http://schemas.openxmlformats.org/officeDocument/2006/relationships/image" Target="../media/image401.png"/><Relationship Id="rId4" Type="http://schemas.openxmlformats.org/officeDocument/2006/relationships/image" Target="../media/image350.png"/><Relationship Id="rId9" Type="http://schemas.openxmlformats.org/officeDocument/2006/relationships/image" Target="../media/image3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image" Target="../media/image440.png"/><Relationship Id="rId4" Type="http://schemas.openxmlformats.org/officeDocument/2006/relationships/image" Target="../media/image4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9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12" Type="http://schemas.openxmlformats.org/officeDocument/2006/relationships/image" Target="../media/image580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70.png"/><Relationship Id="rId5" Type="http://schemas.openxmlformats.org/officeDocument/2006/relationships/image" Target="../media/image512.png"/><Relationship Id="rId10" Type="http://schemas.openxmlformats.org/officeDocument/2006/relationships/image" Target="../media/image560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Relationship Id="rId14" Type="http://schemas.openxmlformats.org/officeDocument/2006/relationships/image" Target="../media/image6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0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713.png"/><Relationship Id="rId5" Type="http://schemas.openxmlformats.org/officeDocument/2006/relationships/image" Target="../media/image650.png"/><Relationship Id="rId15" Type="http://schemas.openxmlformats.org/officeDocument/2006/relationships/image" Target="../media/image141.png"/><Relationship Id="rId10" Type="http://schemas.openxmlformats.org/officeDocument/2006/relationships/image" Target="../media/image700.png"/><Relationship Id="rId4" Type="http://schemas.openxmlformats.org/officeDocument/2006/relationships/image" Target="../media/image640.png"/><Relationship Id="rId9" Type="http://schemas.openxmlformats.org/officeDocument/2006/relationships/image" Target="../media/image690.png"/><Relationship Id="rId14" Type="http://schemas.openxmlformats.org/officeDocument/2006/relationships/image" Target="../media/image7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811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800.png"/><Relationship Id="rId5" Type="http://schemas.openxmlformats.org/officeDocument/2006/relationships/image" Target="../media/image77.png"/><Relationship Id="rId10" Type="http://schemas.openxmlformats.org/officeDocument/2006/relationships/image" Target="../media/image790.png"/><Relationship Id="rId4" Type="http://schemas.openxmlformats.org/officeDocument/2006/relationships/image" Target="../media/image640.png"/><Relationship Id="rId9" Type="http://schemas.openxmlformats.org/officeDocument/2006/relationships/image" Target="../media/image780.png"/><Relationship Id="rId14" Type="http://schemas.openxmlformats.org/officeDocument/2006/relationships/image" Target="../media/image8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0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800.png"/><Relationship Id="rId5" Type="http://schemas.openxmlformats.org/officeDocument/2006/relationships/image" Target="../media/image77.png"/><Relationship Id="rId10" Type="http://schemas.openxmlformats.org/officeDocument/2006/relationships/image" Target="../media/image700.png"/><Relationship Id="rId4" Type="http://schemas.openxmlformats.org/officeDocument/2006/relationships/image" Target="../media/image640.png"/><Relationship Id="rId9" Type="http://schemas.openxmlformats.org/officeDocument/2006/relationships/image" Target="../media/image780.png"/><Relationship Id="rId14" Type="http://schemas.openxmlformats.org/officeDocument/2006/relationships/image" Target="../media/image7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13" Type="http://schemas.openxmlformats.org/officeDocument/2006/relationships/image" Target="../media/image750.png"/><Relationship Id="rId3" Type="http://schemas.openxmlformats.org/officeDocument/2006/relationships/image" Target="../media/image900.png"/><Relationship Id="rId7" Type="http://schemas.openxmlformats.org/officeDocument/2006/relationships/image" Target="../media/image940.png"/><Relationship Id="rId12" Type="http://schemas.openxmlformats.org/officeDocument/2006/relationships/image" Target="../media/image620.png"/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11" Type="http://schemas.openxmlformats.org/officeDocument/2006/relationships/image" Target="../media/image612.png"/><Relationship Id="rId5" Type="http://schemas.openxmlformats.org/officeDocument/2006/relationships/image" Target="../media/image1910.png"/><Relationship Id="rId10" Type="http://schemas.openxmlformats.org/officeDocument/2006/relationships/image" Target="../media/image480.png"/><Relationship Id="rId4" Type="http://schemas.openxmlformats.org/officeDocument/2006/relationships/image" Target="../media/image911.png"/><Relationship Id="rId9" Type="http://schemas.openxmlformats.org/officeDocument/2006/relationships/image" Target="../media/image460.png"/><Relationship Id="rId14" Type="http://schemas.openxmlformats.org/officeDocument/2006/relationships/image" Target="../media/image76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13" Type="http://schemas.openxmlformats.org/officeDocument/2006/relationships/image" Target="../media/image1000.png"/><Relationship Id="rId18" Type="http://schemas.openxmlformats.org/officeDocument/2006/relationships/image" Target="../media/image105.png"/><Relationship Id="rId3" Type="http://schemas.openxmlformats.org/officeDocument/2006/relationships/image" Target="../media/image900.png"/><Relationship Id="rId7" Type="http://schemas.openxmlformats.org/officeDocument/2006/relationships/image" Target="../media/image940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2210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1.png"/><Relationship Id="rId9" Type="http://schemas.openxmlformats.org/officeDocument/2006/relationships/image" Target="../media/image960.png"/><Relationship Id="rId14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027C4-C775-E04E-A0F1-013AD742C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On Problems Quantum Computers Can Solve Efficiently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B77A5-0D30-7A7E-7233-388F3F5A94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/>
              <a:t>(FEE2026)</a:t>
            </a:r>
          </a:p>
          <a:p>
            <a:r>
              <a:rPr lang="vi-VN"/>
              <a:t>09/10/2026</a:t>
            </a:r>
          </a:p>
          <a:p>
            <a:r>
              <a:t>Vu Tuan Hai</a:t>
            </a:r>
            <a:r>
              <a:rPr lang="vi-VN"/>
              <a:t>, UIT-VNUHCM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F6113-9A8E-3281-347D-81AEA1D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3933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6AE1-A2B8-C2BD-09DA-CF9C9A70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4800"/>
              <a:t>Outline</a:t>
            </a:r>
            <a:endParaRPr lang="en-VN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610A9-D610-B04B-8B3C-63074AC76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vi-VN" sz="3600"/>
              <a:t>Q</a:t>
            </a:r>
            <a:r>
              <a:rPr sz="3600"/>
              <a:t>uantum complexity theory</a:t>
            </a:r>
            <a:endParaRPr lang="vi-VN" sz="3600"/>
          </a:p>
          <a:p>
            <a:pPr marL="514350" indent="-514350">
              <a:buFont typeface="+mj-lt"/>
              <a:buAutoNum type="arabicPeriod"/>
            </a:pPr>
            <a:r>
              <a:rPr lang="vi-VN" sz="3600"/>
              <a:t>R</a:t>
            </a:r>
            <a:r>
              <a:rPr sz="3600"/>
              <a:t>epresentative algorithms (Grover's </a:t>
            </a:r>
            <a:r>
              <a:rPr lang="en-VN" sz="3600"/>
              <a:t>algo</a:t>
            </a:r>
            <a:r>
              <a:rPr sz="3600"/>
              <a:t>)</a:t>
            </a:r>
            <a:endParaRPr lang="vi-VN" sz="3600"/>
          </a:p>
          <a:p>
            <a:pPr marL="514350" indent="-514350">
              <a:buFont typeface="+mj-lt"/>
              <a:buAutoNum type="arabicPeriod"/>
            </a:pPr>
            <a:r>
              <a:rPr lang="vi-VN" sz="3600"/>
              <a:t>S</a:t>
            </a:r>
            <a:r>
              <a:rPr sz="3600"/>
              <a:t>ources of quantum advantage</a:t>
            </a:r>
            <a:endParaRPr lang="vi-VN" sz="3600"/>
          </a:p>
          <a:p>
            <a:pPr marL="514350" indent="-514350">
              <a:buFont typeface="+mj-lt"/>
              <a:buAutoNum type="arabicPeriod"/>
            </a:pPr>
            <a:r>
              <a:rPr lang="vi-VN" sz="3600"/>
              <a:t>Q</a:t>
            </a:r>
            <a:r>
              <a:rPr sz="3600"/>
              <a:t>uantum machine learning bottlenecks.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B1A80-900A-9131-F1D8-934A31821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3094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754772" cy="523220"/>
              </a:xfrm>
              <a:blipFill>
                <a:blip r:embed="rId3"/>
                <a:stretch>
                  <a:fillRect l="-1125" t="-15116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71477E4-3708-4A92-A28D-D61C54414C5C}"/>
                  </a:ext>
                </a:extLst>
              </p:cNvPr>
              <p:cNvSpPr txBox="1"/>
              <p:nvPr/>
            </p:nvSpPr>
            <p:spPr>
              <a:xfrm>
                <a:off x="838199" y="2350831"/>
                <a:ext cx="248177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𝑆𝑡𝑎𝑡𝑒𝑠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671477E4-3708-4A92-A28D-D61C54414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350831"/>
                <a:ext cx="248177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B9F29AF-B7ED-4B76-B36D-16CD3FA94208}"/>
                  </a:ext>
                </a:extLst>
              </p:cNvPr>
              <p:cNvSpPr txBox="1"/>
              <p:nvPr/>
            </p:nvSpPr>
            <p:spPr>
              <a:xfrm>
                <a:off x="3029828" y="2380171"/>
                <a:ext cx="42824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𝐴𝑙𝑝h𝑎𝑏𝑒𝑙𝑡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={0,1,#}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6B9F29AF-B7ED-4B76-B36D-16CD3FA94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828" y="2380171"/>
                <a:ext cx="428244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B7807655-C20D-45AE-8DEF-0EEFB1B2077F}"/>
                  </a:ext>
                </a:extLst>
              </p:cNvPr>
              <p:cNvSpPr txBox="1"/>
              <p:nvPr/>
            </p:nvSpPr>
            <p:spPr>
              <a:xfrm>
                <a:off x="839665" y="2932731"/>
                <a:ext cx="79465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{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/>
                  <a:t> (transition function)</a:t>
                </a:r>
              </a:p>
            </p:txBody>
          </p:sp>
        </mc:Choice>
        <mc:Fallback xmlns="">
          <p:sp>
            <p:nvSpPr>
              <p:cNvPr id="7" name="Hộp Văn bản 6">
                <a:extLst>
                  <a:ext uri="{FF2B5EF4-FFF2-40B4-BE49-F238E27FC236}">
                    <a16:creationId xmlns:a16="http://schemas.microsoft.com/office/drawing/2014/main" id="{B7807655-C20D-45AE-8DEF-0EEFB1B20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65" y="2932731"/>
                <a:ext cx="7946526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Hình ảnh 28">
            <a:extLst>
              <a:ext uri="{FF2B5EF4-FFF2-40B4-BE49-F238E27FC236}">
                <a16:creationId xmlns:a16="http://schemas.microsoft.com/office/drawing/2014/main" id="{16B9172C-B5D1-4CBD-A08A-342A1E56F4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774" y="3648348"/>
            <a:ext cx="6969520" cy="1721615"/>
          </a:xfrm>
          <a:prstGeom prst="rect">
            <a:avLst/>
          </a:prstGeom>
        </p:spPr>
      </p:pic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000624-780D-4752-9231-01CF20EC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2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1AF477-930E-4302-B3EE-9AC4ED3C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Nondeterministic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39DCE85-C6C8-403C-92D6-725D61FA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4</a:t>
            </a:fld>
            <a:endParaRPr lang="vi-VN"/>
          </a:p>
        </p:txBody>
      </p:sp>
      <p:graphicFrame>
        <p:nvGraphicFramePr>
          <p:cNvPr id="5" name="Bảng 5">
            <a:extLst>
              <a:ext uri="{FF2B5EF4-FFF2-40B4-BE49-F238E27FC236}">
                <a16:creationId xmlns:a16="http://schemas.microsoft.com/office/drawing/2014/main" id="{29AE3E99-5E65-443F-95B2-2872B6A3E34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91218"/>
          <a:ext cx="8128000" cy="5085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8317092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532800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898535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7364575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116987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42759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0228261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11833016"/>
                    </a:ext>
                  </a:extLst>
                </a:gridCol>
              </a:tblGrid>
              <a:tr h="50850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#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#</a:t>
                      </a:r>
                      <a:endParaRPr lang="vi-V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449240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43682D6-8910-4935-9A06-DF553F395132}"/>
              </a:ext>
            </a:extLst>
          </p:cNvPr>
          <p:cNvSpPr/>
          <p:nvPr/>
        </p:nvSpPr>
        <p:spPr>
          <a:xfrm>
            <a:off x="3909391" y="2004807"/>
            <a:ext cx="980661" cy="632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Reader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D3008B2A-DC2F-4DB0-8C7C-1F99089AF5EC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399722" y="2636961"/>
            <a:ext cx="0" cy="125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B550DC39-AE65-4D24-9C2F-7B8D6B25E375}"/>
              </a:ext>
            </a:extLst>
          </p:cNvPr>
          <p:cNvSpPr txBox="1"/>
          <p:nvPr/>
        </p:nvSpPr>
        <p:spPr>
          <a:xfrm>
            <a:off x="4562613" y="3207767"/>
            <a:ext cx="212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 – write head</a:t>
            </a:r>
            <a:endParaRPr lang="vi-VN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1D9C9DEA-308A-47C8-88E0-64DA73646AA9}"/>
              </a:ext>
            </a:extLst>
          </p:cNvPr>
          <p:cNvSpPr/>
          <p:nvPr/>
        </p:nvSpPr>
        <p:spPr>
          <a:xfrm>
            <a:off x="1921565" y="2004807"/>
            <a:ext cx="1398105" cy="632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Guessing module</a:t>
            </a:r>
            <a:endParaRPr lang="vi-VN" b="1">
              <a:solidFill>
                <a:schemeClr val="tx1"/>
              </a:solidFill>
            </a:endParaRPr>
          </a:p>
        </p:txBody>
      </p: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E367457E-BDA6-411D-853E-C240825DBEF9}"/>
              </a:ext>
            </a:extLst>
          </p:cNvPr>
          <p:cNvCxnSpPr>
            <a:stCxn id="14" idx="3"/>
            <a:endCxn id="6" idx="1"/>
          </p:cNvCxnSpPr>
          <p:nvPr/>
        </p:nvCxnSpPr>
        <p:spPr>
          <a:xfrm>
            <a:off x="3319670" y="2320884"/>
            <a:ext cx="58972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80A6FDE9-2CE4-429B-AD94-5863FBAE274C}"/>
              </a:ext>
            </a:extLst>
          </p:cNvPr>
          <p:cNvSpPr txBox="1"/>
          <p:nvPr/>
        </p:nvSpPr>
        <p:spPr>
          <a:xfrm>
            <a:off x="9114734" y="3960804"/>
            <a:ext cx="69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Tape</a:t>
            </a:r>
            <a:endParaRPr lang="vi-VN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85BCC914-0851-429F-B6B6-19621D5D327B}"/>
              </a:ext>
            </a:extLst>
          </p:cNvPr>
          <p:cNvCxnSpPr>
            <a:stCxn id="14" idx="2"/>
          </p:cNvCxnSpPr>
          <p:nvPr/>
        </p:nvCxnSpPr>
        <p:spPr>
          <a:xfrm>
            <a:off x="2620618" y="2636961"/>
            <a:ext cx="1487556" cy="125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79E155EA-EEBF-49B0-BA92-8AFBB0C39ABD}"/>
              </a:ext>
            </a:extLst>
          </p:cNvPr>
          <p:cNvSpPr txBox="1"/>
          <p:nvPr/>
        </p:nvSpPr>
        <p:spPr>
          <a:xfrm>
            <a:off x="1356692" y="326408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Write - only head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32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Nondeterministic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Nondeterministic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  <a:blipFill>
                <a:blip r:embed="rId2"/>
                <a:stretch>
                  <a:fillRect l="-1043" t="-31507" b="-26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8F89BA8-C804-49F1-AF16-C98ACEB3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/>
              <p:nvPr/>
            </p:nvSpPr>
            <p:spPr>
              <a:xfrm>
                <a:off x="838200" y="2405485"/>
                <a:ext cx="103068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sz="2800" i="1" smtClean="0">
                        <a:latin typeface="Cambria Math" panose="02040503050406030204" pitchFamily="18" charset="0"/>
                      </a:rPr>
                      <m:t> × </m:t>
                    </m:r>
                    <m:d>
                      <m:dPr>
                        <m:begChr m:val="{"/>
                        <m:endChr m:val="}"/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l-GR" sz="2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 denotes for power set of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485"/>
                <a:ext cx="10306878" cy="523220"/>
              </a:xfrm>
              <a:prstGeom prst="rect">
                <a:avLst/>
              </a:prstGeom>
              <a:blipFill>
                <a:blip r:embed="rId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621B9B49-9838-45E7-BE03-0CC167A0C02C}"/>
              </a:ext>
            </a:extLst>
          </p:cNvPr>
          <p:cNvSpPr txBox="1"/>
          <p:nvPr/>
        </p:nvSpPr>
        <p:spPr>
          <a:xfrm>
            <a:off x="838200" y="3190064"/>
            <a:ext cx="10730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>
                <a:solidFill>
                  <a:srgbClr val="000000"/>
                </a:solidFill>
                <a:effectLst/>
                <a:latin typeface="Calibri (Thân)"/>
              </a:rPr>
              <a:t>If the problem is solvable in polynomial time by a non-deterministic Turing machine, the problem belongs to NP class</a:t>
            </a:r>
            <a:endParaRPr lang="vi-VN" sz="2800">
              <a:latin typeface="Calibri (Thân)"/>
            </a:endParaRPr>
          </a:p>
        </p:txBody>
      </p:sp>
    </p:spTree>
    <p:extLst>
      <p:ext uri="{BB962C8B-B14F-4D97-AF65-F5344CB8AC3E}">
        <p14:creationId xmlns:p14="http://schemas.microsoft.com/office/powerpoint/2010/main" val="233782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98C885DC-C1BB-44B4-BED5-368EDF7ECB8A}"/>
              </a:ext>
            </a:extLst>
          </p:cNvPr>
          <p:cNvCxnSpPr>
            <a:cxnSpLocks/>
          </p:cNvCxnSpPr>
          <p:nvPr/>
        </p:nvCxnSpPr>
        <p:spPr>
          <a:xfrm>
            <a:off x="5570806" y="661182"/>
            <a:ext cx="0" cy="46142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6542C27-5933-4543-A6EC-BE2B06C6A6DD}"/>
              </a:ext>
            </a:extLst>
          </p:cNvPr>
          <p:cNvSpPr txBox="1"/>
          <p:nvPr/>
        </p:nvSpPr>
        <p:spPr>
          <a:xfrm>
            <a:off x="2096087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Deterministic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B5464A6-3670-4D09-AFCA-D31B740FB6DD}"/>
              </a:ext>
            </a:extLst>
          </p:cNvPr>
          <p:cNvSpPr txBox="1"/>
          <p:nvPr/>
        </p:nvSpPr>
        <p:spPr>
          <a:xfrm>
            <a:off x="6096000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Nondeterministic</a:t>
            </a:r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EB26EA95-6673-4865-843C-5E7D8BD08EAC}"/>
              </a:ext>
            </a:extLst>
          </p:cNvPr>
          <p:cNvCxnSpPr>
            <a:cxnSpLocks/>
          </p:cNvCxnSpPr>
          <p:nvPr/>
        </p:nvCxnSpPr>
        <p:spPr>
          <a:xfrm flipH="1">
            <a:off x="1596098" y="661182"/>
            <a:ext cx="49236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D926BDF1-53C3-4E5E-B535-154D8439F2B9}"/>
              </a:ext>
            </a:extLst>
          </p:cNvPr>
          <p:cNvCxnSpPr>
            <a:cxnSpLocks/>
          </p:cNvCxnSpPr>
          <p:nvPr/>
        </p:nvCxnSpPr>
        <p:spPr>
          <a:xfrm flipH="1">
            <a:off x="1614855" y="5275385"/>
            <a:ext cx="49236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B71046D7-D684-43AB-9E56-7142AB5E1C78}"/>
              </a:ext>
            </a:extLst>
          </p:cNvPr>
          <p:cNvCxnSpPr/>
          <p:nvPr/>
        </p:nvCxnSpPr>
        <p:spPr>
          <a:xfrm>
            <a:off x="1842282" y="661182"/>
            <a:ext cx="0" cy="461420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35CA6449-6970-43A8-A34C-2FB64E42A74E}"/>
              </a:ext>
            </a:extLst>
          </p:cNvPr>
          <p:cNvSpPr/>
          <p:nvPr/>
        </p:nvSpPr>
        <p:spPr>
          <a:xfrm>
            <a:off x="3334042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2502F663-AFF8-4D6A-8C6F-68F258F5EACE}"/>
              </a:ext>
            </a:extLst>
          </p:cNvPr>
          <p:cNvCxnSpPr/>
          <p:nvPr/>
        </p:nvCxnSpPr>
        <p:spPr>
          <a:xfrm>
            <a:off x="3411414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56A85EC9-422A-47E4-B0A7-832A7F683AEF}"/>
              </a:ext>
            </a:extLst>
          </p:cNvPr>
          <p:cNvSpPr/>
          <p:nvPr/>
        </p:nvSpPr>
        <p:spPr>
          <a:xfrm>
            <a:off x="3334042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0102FB7B-626F-4CCD-B447-01826C94DEB9}"/>
              </a:ext>
            </a:extLst>
          </p:cNvPr>
          <p:cNvCxnSpPr/>
          <p:nvPr/>
        </p:nvCxnSpPr>
        <p:spPr>
          <a:xfrm>
            <a:off x="3411414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140251EC-3A24-4C5B-A3AC-FD094CC2A81F}"/>
              </a:ext>
            </a:extLst>
          </p:cNvPr>
          <p:cNvSpPr txBox="1"/>
          <p:nvPr/>
        </p:nvSpPr>
        <p:spPr>
          <a:xfrm>
            <a:off x="2060917" y="2947309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49C45E2D-2766-485D-AC86-AB4640FD5CFC}"/>
              </a:ext>
            </a:extLst>
          </p:cNvPr>
          <p:cNvSpPr/>
          <p:nvPr/>
        </p:nvSpPr>
        <p:spPr>
          <a:xfrm>
            <a:off x="3322321" y="340814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7197D440-AC18-4984-A38C-0E0C2B7FC8CB}"/>
              </a:ext>
            </a:extLst>
          </p:cNvPr>
          <p:cNvCxnSpPr/>
          <p:nvPr/>
        </p:nvCxnSpPr>
        <p:spPr>
          <a:xfrm>
            <a:off x="3399693" y="366839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Hình Bầu dục 28">
            <a:extLst>
              <a:ext uri="{FF2B5EF4-FFF2-40B4-BE49-F238E27FC236}">
                <a16:creationId xmlns:a16="http://schemas.microsoft.com/office/drawing/2014/main" id="{6566661C-E04F-452B-9476-BA510BEFC87A}"/>
              </a:ext>
            </a:extLst>
          </p:cNvPr>
          <p:cNvSpPr/>
          <p:nvPr/>
        </p:nvSpPr>
        <p:spPr>
          <a:xfrm>
            <a:off x="3322321" y="42067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/>
              <p:nvPr/>
            </p:nvSpPr>
            <p:spPr>
              <a:xfrm>
                <a:off x="3147652" y="4079245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𝑟𝑒𝑗𝑒𝑐𝑡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652" y="4079245"/>
                <a:ext cx="2423154" cy="395045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Hình Bầu dục 31">
            <a:extLst>
              <a:ext uri="{FF2B5EF4-FFF2-40B4-BE49-F238E27FC236}">
                <a16:creationId xmlns:a16="http://schemas.microsoft.com/office/drawing/2014/main" id="{325C2661-97EA-4516-9A0A-A2F21FB4E879}"/>
              </a:ext>
            </a:extLst>
          </p:cNvPr>
          <p:cNvSpPr/>
          <p:nvPr/>
        </p:nvSpPr>
        <p:spPr>
          <a:xfrm>
            <a:off x="7380845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8C58C3E4-897E-4A15-9BEB-17295D8344F9}"/>
              </a:ext>
            </a:extLst>
          </p:cNvPr>
          <p:cNvCxnSpPr/>
          <p:nvPr/>
        </p:nvCxnSpPr>
        <p:spPr>
          <a:xfrm>
            <a:off x="7458217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Hình Bầu dục 33">
            <a:extLst>
              <a:ext uri="{FF2B5EF4-FFF2-40B4-BE49-F238E27FC236}">
                <a16:creationId xmlns:a16="http://schemas.microsoft.com/office/drawing/2014/main" id="{90D7F1BD-5445-4564-B3FA-579C692A04F3}"/>
              </a:ext>
            </a:extLst>
          </p:cNvPr>
          <p:cNvSpPr/>
          <p:nvPr/>
        </p:nvSpPr>
        <p:spPr>
          <a:xfrm>
            <a:off x="7380845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CFDF060B-E9E1-4017-9A43-706323FEFB6D}"/>
              </a:ext>
            </a:extLst>
          </p:cNvPr>
          <p:cNvCxnSpPr/>
          <p:nvPr/>
        </p:nvCxnSpPr>
        <p:spPr>
          <a:xfrm>
            <a:off x="7458217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C885114B-9D68-474D-862D-7D34B9536C66}"/>
              </a:ext>
            </a:extLst>
          </p:cNvPr>
          <p:cNvSpPr/>
          <p:nvPr/>
        </p:nvSpPr>
        <p:spPr>
          <a:xfrm>
            <a:off x="7369124" y="403679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E613FF65-91EB-45A3-BF49-AF4EAC4C7840}"/>
              </a:ext>
            </a:extLst>
          </p:cNvPr>
          <p:cNvCxnSpPr/>
          <p:nvPr/>
        </p:nvCxnSpPr>
        <p:spPr>
          <a:xfrm>
            <a:off x="7446496" y="429704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Hình Bầu dục 37">
            <a:extLst>
              <a:ext uri="{FF2B5EF4-FFF2-40B4-BE49-F238E27FC236}">
                <a16:creationId xmlns:a16="http://schemas.microsoft.com/office/drawing/2014/main" id="{8CA780A9-8CF9-499E-83C2-E445D315576A}"/>
              </a:ext>
            </a:extLst>
          </p:cNvPr>
          <p:cNvSpPr/>
          <p:nvPr/>
        </p:nvSpPr>
        <p:spPr>
          <a:xfrm>
            <a:off x="7369124" y="483544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9D9B1284-CD8A-4063-841F-69E5F5AFC010}"/>
              </a:ext>
            </a:extLst>
          </p:cNvPr>
          <p:cNvCxnSpPr>
            <a:cxnSpLocks/>
          </p:cNvCxnSpPr>
          <p:nvPr/>
        </p:nvCxnSpPr>
        <p:spPr>
          <a:xfrm>
            <a:off x="7613103" y="1631852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2F0FC994-B3D9-40D4-A60F-AC750D2F250F}"/>
              </a:ext>
            </a:extLst>
          </p:cNvPr>
          <p:cNvSpPr/>
          <p:nvPr/>
        </p:nvSpPr>
        <p:spPr>
          <a:xfrm>
            <a:off x="7993961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C78F5842-CA3E-4364-83D2-C97C56D124DB}"/>
              </a:ext>
            </a:extLst>
          </p:cNvPr>
          <p:cNvCxnSpPr>
            <a:cxnSpLocks/>
          </p:cNvCxnSpPr>
          <p:nvPr/>
        </p:nvCxnSpPr>
        <p:spPr>
          <a:xfrm>
            <a:off x="8242341" y="2400603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Hình Bầu dục 46">
            <a:extLst>
              <a:ext uri="{FF2B5EF4-FFF2-40B4-BE49-F238E27FC236}">
                <a16:creationId xmlns:a16="http://schemas.microsoft.com/office/drawing/2014/main" id="{930BFBEB-B1E6-4C07-B713-50B19569385D}"/>
              </a:ext>
            </a:extLst>
          </p:cNvPr>
          <p:cNvSpPr/>
          <p:nvPr/>
        </p:nvSpPr>
        <p:spPr>
          <a:xfrm>
            <a:off x="8648839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ABD51419-3BAD-45F9-A956-81DC7F531BB3}"/>
              </a:ext>
            </a:extLst>
          </p:cNvPr>
          <p:cNvCxnSpPr>
            <a:cxnSpLocks/>
          </p:cNvCxnSpPr>
          <p:nvPr/>
        </p:nvCxnSpPr>
        <p:spPr>
          <a:xfrm flipH="1">
            <a:off x="6723908" y="238929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ình Bầu dục 51">
            <a:extLst>
              <a:ext uri="{FF2B5EF4-FFF2-40B4-BE49-F238E27FC236}">
                <a16:creationId xmlns:a16="http://schemas.microsoft.com/office/drawing/2014/main" id="{EB763FB4-A8B8-4601-97B2-366B1B629733}"/>
              </a:ext>
            </a:extLst>
          </p:cNvPr>
          <p:cNvSpPr/>
          <p:nvPr/>
        </p:nvSpPr>
        <p:spPr>
          <a:xfrm>
            <a:off x="7380845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Hình Bầu dục 53">
            <a:extLst>
              <a:ext uri="{FF2B5EF4-FFF2-40B4-BE49-F238E27FC236}">
                <a16:creationId xmlns:a16="http://schemas.microsoft.com/office/drawing/2014/main" id="{431AEF0E-812A-4D14-8ABA-1FC3530E8486}"/>
              </a:ext>
            </a:extLst>
          </p:cNvPr>
          <p:cNvSpPr/>
          <p:nvPr/>
        </p:nvSpPr>
        <p:spPr>
          <a:xfrm>
            <a:off x="6555318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Hộp Văn bản 55">
            <a:extLst>
              <a:ext uri="{FF2B5EF4-FFF2-40B4-BE49-F238E27FC236}">
                <a16:creationId xmlns:a16="http://schemas.microsoft.com/office/drawing/2014/main" id="{9EA18BD4-60E6-4189-91EE-BC7E3939A5EE}"/>
              </a:ext>
            </a:extLst>
          </p:cNvPr>
          <p:cNvSpPr txBox="1"/>
          <p:nvPr/>
        </p:nvSpPr>
        <p:spPr>
          <a:xfrm>
            <a:off x="6107720" y="3542390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cxnSp>
        <p:nvCxnSpPr>
          <p:cNvPr id="57" name="Đường kết nối Mũi tên Thẳng 56">
            <a:extLst>
              <a:ext uri="{FF2B5EF4-FFF2-40B4-BE49-F238E27FC236}">
                <a16:creationId xmlns:a16="http://schemas.microsoft.com/office/drawing/2014/main" id="{C0BE01FB-C9AB-4F61-99E9-75058299AC5D}"/>
              </a:ext>
            </a:extLst>
          </p:cNvPr>
          <p:cNvCxnSpPr/>
          <p:nvPr/>
        </p:nvCxnSpPr>
        <p:spPr>
          <a:xfrm>
            <a:off x="7458217" y="3131975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Hộp Văn bản 58">
                <a:extLst>
                  <a:ext uri="{FF2B5EF4-FFF2-40B4-BE49-F238E27FC236}">
                    <a16:creationId xmlns:a16="http://schemas.microsoft.com/office/drawing/2014/main" id="{78CB9E21-3C4F-4F0C-9EBF-855950F3B346}"/>
                  </a:ext>
                </a:extLst>
              </p:cNvPr>
              <p:cNvSpPr txBox="1"/>
              <p:nvPr/>
            </p:nvSpPr>
            <p:spPr>
              <a:xfrm>
                <a:off x="8134051" y="2749786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59" name="Hộp Văn bản 58">
                <a:extLst>
                  <a:ext uri="{FF2B5EF4-FFF2-40B4-BE49-F238E27FC236}">
                    <a16:creationId xmlns:a16="http://schemas.microsoft.com/office/drawing/2014/main" id="{78CB9E21-3C4F-4F0C-9EBF-855950F3B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051" y="2749786"/>
                <a:ext cx="2423154" cy="395045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/>
              <p:nvPr/>
            </p:nvSpPr>
            <p:spPr>
              <a:xfrm>
                <a:off x="6859756" y="4710953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756" y="4710953"/>
                <a:ext cx="2423154" cy="395045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Hộp Văn bản 62">
                <a:extLst>
                  <a:ext uri="{FF2B5EF4-FFF2-40B4-BE49-F238E27FC236}">
                    <a16:creationId xmlns:a16="http://schemas.microsoft.com/office/drawing/2014/main" id="{DA483DAA-C2DF-4319-A0A3-772B36F1737D}"/>
                  </a:ext>
                </a:extLst>
              </p:cNvPr>
              <p:cNvSpPr txBox="1"/>
              <p:nvPr/>
            </p:nvSpPr>
            <p:spPr>
              <a:xfrm>
                <a:off x="4901345" y="2732469"/>
                <a:ext cx="2423154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𝑟𝑒𝑗𝑒𝑐𝑡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3" name="Hộp Văn bản 62">
                <a:extLst>
                  <a:ext uri="{FF2B5EF4-FFF2-40B4-BE49-F238E27FC236}">
                    <a16:creationId xmlns:a16="http://schemas.microsoft.com/office/drawing/2014/main" id="{DA483DAA-C2DF-4319-A0A3-772B36F17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345" y="2732469"/>
                <a:ext cx="2423154" cy="391646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/>
              <p:nvPr/>
            </p:nvSpPr>
            <p:spPr>
              <a:xfrm>
                <a:off x="262600" y="2743626"/>
                <a:ext cx="2339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0" y="2743626"/>
                <a:ext cx="233926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F4F34DB-85AE-444C-A414-B156C67D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6</a:t>
            </a:fld>
            <a:endParaRPr lang="en-US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1DEE39F-21A2-4712-B59A-A857340A934B}"/>
              </a:ext>
            </a:extLst>
          </p:cNvPr>
          <p:cNvSpPr txBox="1"/>
          <p:nvPr/>
        </p:nvSpPr>
        <p:spPr>
          <a:xfrm>
            <a:off x="2511744" y="5275385"/>
            <a:ext cx="223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 computation path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A22AFEA1-8CA9-4BD2-BE15-C6D025568D8B}"/>
                  </a:ext>
                </a:extLst>
              </p:cNvPr>
              <p:cNvSpPr txBox="1"/>
              <p:nvPr/>
            </p:nvSpPr>
            <p:spPr>
              <a:xfrm>
                <a:off x="6723908" y="5287375"/>
                <a:ext cx="2232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computation path</a:t>
                </a:r>
                <a:endParaRPr lang="vi-VN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A22AFEA1-8CA9-4BD2-BE15-C6D025568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908" y="5287375"/>
                <a:ext cx="2232886" cy="369332"/>
              </a:xfrm>
              <a:prstGeom prst="rect">
                <a:avLst/>
              </a:prstGeom>
              <a:blipFill>
                <a:blip r:embed="rId7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96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03CF82-CE53-40AD-9D89-6216C2FD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Sub-set sum problem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A9E0ED7-BAE1-44DA-89F7-48FB9D912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Given a set 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{1,−2, 5,3}</m:t>
                    </m:r>
                  </m:oMath>
                </a14:m>
                <a:r>
                  <a:rPr lang="en-US"/>
                  <a:t>. What sub-set of S has sum equal 7?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A9E0ED7-BAE1-44DA-89F7-48FB9D912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582ABA6-3A1B-4C50-8824-990A625E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279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98C885DC-C1BB-44B4-BED5-368EDF7ECB8A}"/>
              </a:ext>
            </a:extLst>
          </p:cNvPr>
          <p:cNvCxnSpPr>
            <a:cxnSpLocks/>
          </p:cNvCxnSpPr>
          <p:nvPr/>
        </p:nvCxnSpPr>
        <p:spPr>
          <a:xfrm>
            <a:off x="5570806" y="661182"/>
            <a:ext cx="0" cy="46142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6542C27-5933-4543-A6EC-BE2B06C6A6DD}"/>
              </a:ext>
            </a:extLst>
          </p:cNvPr>
          <p:cNvSpPr txBox="1"/>
          <p:nvPr/>
        </p:nvSpPr>
        <p:spPr>
          <a:xfrm>
            <a:off x="2096087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Deterministic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B5464A6-3670-4D09-AFCA-D31B740FB6DD}"/>
              </a:ext>
            </a:extLst>
          </p:cNvPr>
          <p:cNvSpPr txBox="1"/>
          <p:nvPr/>
        </p:nvSpPr>
        <p:spPr>
          <a:xfrm>
            <a:off x="7686260" y="661182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Nondeterministic</a:t>
            </a:r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35CA6449-6970-43A8-A34C-2FB64E42A74E}"/>
              </a:ext>
            </a:extLst>
          </p:cNvPr>
          <p:cNvSpPr/>
          <p:nvPr/>
        </p:nvSpPr>
        <p:spPr>
          <a:xfrm>
            <a:off x="3334042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2502F663-AFF8-4D6A-8C6F-68F258F5EACE}"/>
              </a:ext>
            </a:extLst>
          </p:cNvPr>
          <p:cNvCxnSpPr/>
          <p:nvPr/>
        </p:nvCxnSpPr>
        <p:spPr>
          <a:xfrm>
            <a:off x="3411414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56A85EC9-422A-47E4-B0A7-832A7F683AEF}"/>
              </a:ext>
            </a:extLst>
          </p:cNvPr>
          <p:cNvSpPr/>
          <p:nvPr/>
        </p:nvSpPr>
        <p:spPr>
          <a:xfrm>
            <a:off x="3334042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0102FB7B-626F-4CCD-B447-01826C94DEB9}"/>
              </a:ext>
            </a:extLst>
          </p:cNvPr>
          <p:cNvCxnSpPr/>
          <p:nvPr/>
        </p:nvCxnSpPr>
        <p:spPr>
          <a:xfrm>
            <a:off x="3411414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140251EC-3A24-4C5B-A3AC-FD094CC2A81F}"/>
              </a:ext>
            </a:extLst>
          </p:cNvPr>
          <p:cNvSpPr txBox="1"/>
          <p:nvPr/>
        </p:nvSpPr>
        <p:spPr>
          <a:xfrm>
            <a:off x="2060917" y="2947309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49C45E2D-2766-485D-AC86-AB4640FD5CFC}"/>
              </a:ext>
            </a:extLst>
          </p:cNvPr>
          <p:cNvSpPr/>
          <p:nvPr/>
        </p:nvSpPr>
        <p:spPr>
          <a:xfrm>
            <a:off x="3322321" y="340814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7197D440-AC18-4984-A38C-0E0C2B7FC8CB}"/>
              </a:ext>
            </a:extLst>
          </p:cNvPr>
          <p:cNvCxnSpPr/>
          <p:nvPr/>
        </p:nvCxnSpPr>
        <p:spPr>
          <a:xfrm>
            <a:off x="3399693" y="366839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Hình Bầu dục 28">
            <a:extLst>
              <a:ext uri="{FF2B5EF4-FFF2-40B4-BE49-F238E27FC236}">
                <a16:creationId xmlns:a16="http://schemas.microsoft.com/office/drawing/2014/main" id="{6566661C-E04F-452B-9476-BA510BEFC87A}"/>
              </a:ext>
            </a:extLst>
          </p:cNvPr>
          <p:cNvSpPr/>
          <p:nvPr/>
        </p:nvSpPr>
        <p:spPr>
          <a:xfrm>
            <a:off x="3322321" y="42067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/>
              <p:nvPr/>
            </p:nvSpPr>
            <p:spPr>
              <a:xfrm>
                <a:off x="3147652" y="4079245"/>
                <a:ext cx="1753693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EA2263D8-C584-44F7-9430-F3E032A0D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652" y="4079245"/>
                <a:ext cx="1753693" cy="395045"/>
              </a:xfrm>
              <a:prstGeom prst="rect">
                <a:avLst/>
              </a:prstGeom>
              <a:blipFill>
                <a:blip r:embed="rId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Hình Bầu dục 31">
            <a:extLst>
              <a:ext uri="{FF2B5EF4-FFF2-40B4-BE49-F238E27FC236}">
                <a16:creationId xmlns:a16="http://schemas.microsoft.com/office/drawing/2014/main" id="{325C2661-97EA-4516-9A0A-A2F21FB4E879}"/>
              </a:ext>
            </a:extLst>
          </p:cNvPr>
          <p:cNvSpPr/>
          <p:nvPr/>
        </p:nvSpPr>
        <p:spPr>
          <a:xfrm>
            <a:off x="8971105" y="1371607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8C58C3E4-897E-4A15-9BEB-17295D8344F9}"/>
              </a:ext>
            </a:extLst>
          </p:cNvPr>
          <p:cNvCxnSpPr/>
          <p:nvPr/>
        </p:nvCxnSpPr>
        <p:spPr>
          <a:xfrm>
            <a:off x="9048477" y="1631852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Hình Bầu dục 33">
            <a:extLst>
              <a:ext uri="{FF2B5EF4-FFF2-40B4-BE49-F238E27FC236}">
                <a16:creationId xmlns:a16="http://schemas.microsoft.com/office/drawing/2014/main" id="{90D7F1BD-5445-4564-B3FA-579C692A04F3}"/>
              </a:ext>
            </a:extLst>
          </p:cNvPr>
          <p:cNvSpPr/>
          <p:nvPr/>
        </p:nvSpPr>
        <p:spPr>
          <a:xfrm>
            <a:off x="8971105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CFDF060B-E9E1-4017-9A43-706323FEFB6D}"/>
              </a:ext>
            </a:extLst>
          </p:cNvPr>
          <p:cNvCxnSpPr/>
          <p:nvPr/>
        </p:nvCxnSpPr>
        <p:spPr>
          <a:xfrm>
            <a:off x="9048477" y="241970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C885114B-9D68-474D-862D-7D34B9536C66}"/>
              </a:ext>
            </a:extLst>
          </p:cNvPr>
          <p:cNvSpPr/>
          <p:nvPr/>
        </p:nvSpPr>
        <p:spPr>
          <a:xfrm>
            <a:off x="8959384" y="403679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E613FF65-91EB-45A3-BF49-AF4EAC4C7840}"/>
              </a:ext>
            </a:extLst>
          </p:cNvPr>
          <p:cNvCxnSpPr/>
          <p:nvPr/>
        </p:nvCxnSpPr>
        <p:spPr>
          <a:xfrm>
            <a:off x="9036756" y="4297043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Hình Bầu dục 37">
            <a:extLst>
              <a:ext uri="{FF2B5EF4-FFF2-40B4-BE49-F238E27FC236}">
                <a16:creationId xmlns:a16="http://schemas.microsoft.com/office/drawing/2014/main" id="{8CA780A9-8CF9-499E-83C2-E445D315576A}"/>
              </a:ext>
            </a:extLst>
          </p:cNvPr>
          <p:cNvSpPr/>
          <p:nvPr/>
        </p:nvSpPr>
        <p:spPr>
          <a:xfrm>
            <a:off x="8959384" y="483544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9D9B1284-CD8A-4063-841F-69E5F5AFC010}"/>
              </a:ext>
            </a:extLst>
          </p:cNvPr>
          <p:cNvCxnSpPr>
            <a:cxnSpLocks/>
          </p:cNvCxnSpPr>
          <p:nvPr/>
        </p:nvCxnSpPr>
        <p:spPr>
          <a:xfrm>
            <a:off x="9203363" y="1631852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2F0FC994-B3D9-40D4-A60F-AC750D2F250F}"/>
              </a:ext>
            </a:extLst>
          </p:cNvPr>
          <p:cNvSpPr/>
          <p:nvPr/>
        </p:nvSpPr>
        <p:spPr>
          <a:xfrm>
            <a:off x="9584221" y="2159458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C78F5842-CA3E-4364-83D2-C97C56D124DB}"/>
              </a:ext>
            </a:extLst>
          </p:cNvPr>
          <p:cNvCxnSpPr>
            <a:cxnSpLocks/>
          </p:cNvCxnSpPr>
          <p:nvPr/>
        </p:nvCxnSpPr>
        <p:spPr>
          <a:xfrm>
            <a:off x="9832601" y="2400603"/>
            <a:ext cx="391555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Hình Bầu dục 46">
            <a:extLst>
              <a:ext uri="{FF2B5EF4-FFF2-40B4-BE49-F238E27FC236}">
                <a16:creationId xmlns:a16="http://schemas.microsoft.com/office/drawing/2014/main" id="{930BFBEB-B1E6-4C07-B713-50B19569385D}"/>
              </a:ext>
            </a:extLst>
          </p:cNvPr>
          <p:cNvSpPr/>
          <p:nvPr/>
        </p:nvSpPr>
        <p:spPr>
          <a:xfrm>
            <a:off x="10239099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ABD51419-3BAD-45F9-A956-81DC7F531BB3}"/>
              </a:ext>
            </a:extLst>
          </p:cNvPr>
          <p:cNvCxnSpPr>
            <a:cxnSpLocks/>
          </p:cNvCxnSpPr>
          <p:nvPr/>
        </p:nvCxnSpPr>
        <p:spPr>
          <a:xfrm flipH="1">
            <a:off x="8314168" y="238929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ình Bầu dục 51">
            <a:extLst>
              <a:ext uri="{FF2B5EF4-FFF2-40B4-BE49-F238E27FC236}">
                <a16:creationId xmlns:a16="http://schemas.microsoft.com/office/drawing/2014/main" id="{EB763FB4-A8B8-4601-97B2-366B1B629733}"/>
              </a:ext>
            </a:extLst>
          </p:cNvPr>
          <p:cNvSpPr/>
          <p:nvPr/>
        </p:nvSpPr>
        <p:spPr>
          <a:xfrm>
            <a:off x="8971105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Hình Bầu dục 53">
            <a:extLst>
              <a:ext uri="{FF2B5EF4-FFF2-40B4-BE49-F238E27FC236}">
                <a16:creationId xmlns:a16="http://schemas.microsoft.com/office/drawing/2014/main" id="{431AEF0E-812A-4D14-8ABA-1FC3530E8486}"/>
              </a:ext>
            </a:extLst>
          </p:cNvPr>
          <p:cNvSpPr/>
          <p:nvPr/>
        </p:nvSpPr>
        <p:spPr>
          <a:xfrm>
            <a:off x="8145578" y="2890915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Hộp Văn bản 55">
            <a:extLst>
              <a:ext uri="{FF2B5EF4-FFF2-40B4-BE49-F238E27FC236}">
                <a16:creationId xmlns:a16="http://schemas.microsoft.com/office/drawing/2014/main" id="{9EA18BD4-60E6-4189-91EE-BC7E3939A5EE}"/>
              </a:ext>
            </a:extLst>
          </p:cNvPr>
          <p:cNvSpPr txBox="1"/>
          <p:nvPr/>
        </p:nvSpPr>
        <p:spPr>
          <a:xfrm>
            <a:off x="7697980" y="3542390"/>
            <a:ext cx="270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…</a:t>
            </a:r>
          </a:p>
        </p:txBody>
      </p:sp>
      <p:cxnSp>
        <p:nvCxnSpPr>
          <p:cNvPr id="57" name="Đường kết nối Mũi tên Thẳng 56">
            <a:extLst>
              <a:ext uri="{FF2B5EF4-FFF2-40B4-BE49-F238E27FC236}">
                <a16:creationId xmlns:a16="http://schemas.microsoft.com/office/drawing/2014/main" id="{C0BE01FB-C9AB-4F61-99E9-75058299AC5D}"/>
              </a:ext>
            </a:extLst>
          </p:cNvPr>
          <p:cNvCxnSpPr/>
          <p:nvPr/>
        </p:nvCxnSpPr>
        <p:spPr>
          <a:xfrm>
            <a:off x="9048477" y="3131975"/>
            <a:ext cx="0" cy="4360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/>
              <p:nvPr/>
            </p:nvSpPr>
            <p:spPr>
              <a:xfrm>
                <a:off x="8450016" y="4710953"/>
                <a:ext cx="2423154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𝑎𝑐𝑐𝑒𝑝𝑡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61" name="Hộp Văn bản 60">
                <a:extLst>
                  <a:ext uri="{FF2B5EF4-FFF2-40B4-BE49-F238E27FC236}">
                    <a16:creationId xmlns:a16="http://schemas.microsoft.com/office/drawing/2014/main" id="{3255920D-B384-4052-99C8-A89F4764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016" y="4710953"/>
                <a:ext cx="2423154" cy="395045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/>
              <p:nvPr/>
            </p:nvSpPr>
            <p:spPr>
              <a:xfrm>
                <a:off x="1844112" y="1264309"/>
                <a:ext cx="1218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5" name="Hộp Văn bản 64">
                <a:extLst>
                  <a:ext uri="{FF2B5EF4-FFF2-40B4-BE49-F238E27FC236}">
                    <a16:creationId xmlns:a16="http://schemas.microsoft.com/office/drawing/2014/main" id="{C35F36B6-B1C0-4B0B-8843-5EFC2CAE5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112" y="1264309"/>
                <a:ext cx="1218687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7F4F34DB-85AE-444C-A414-B156C67D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5485D25E-9CDA-46D6-999B-1F452381E793}"/>
                  </a:ext>
                </a:extLst>
              </p:cNvPr>
              <p:cNvSpPr txBox="1"/>
              <p:nvPr/>
            </p:nvSpPr>
            <p:spPr>
              <a:xfrm>
                <a:off x="262600" y="632366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{1,−2, 5,3}</m:t>
                    </m:r>
                  </m:oMath>
                </a14:m>
                <a:r>
                  <a:rPr lang="en-US"/>
                  <a:t>. </a:t>
                </a:r>
                <a:endParaRPr lang="vi-VN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5485D25E-9CDA-46D6-999B-1F452381E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0" y="6323665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l="-800" t="-8197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D96A668F-8641-4105-B6EB-77E071EB2BA8}"/>
                  </a:ext>
                </a:extLst>
              </p:cNvPr>
              <p:cNvSpPr txBox="1"/>
              <p:nvPr/>
            </p:nvSpPr>
            <p:spPr>
              <a:xfrm>
                <a:off x="1844112" y="2026015"/>
                <a:ext cx="1218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{−2}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D96A668F-8641-4105-B6EB-77E071EB2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112" y="2026015"/>
                <a:ext cx="1218687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DDC1A039-87F2-4449-A5BC-387FC447AC22}"/>
                  </a:ext>
                </a:extLst>
              </p:cNvPr>
              <p:cNvSpPr txBox="1"/>
              <p:nvPr/>
            </p:nvSpPr>
            <p:spPr>
              <a:xfrm>
                <a:off x="1800747" y="3306278"/>
                <a:ext cx="1262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DDC1A039-87F2-4449-A5BC-387FC447A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747" y="3306278"/>
                <a:ext cx="1262052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3C1DDFB9-EFB3-4C37-8E02-030667349452}"/>
                  </a:ext>
                </a:extLst>
              </p:cNvPr>
              <p:cNvSpPr txBox="1"/>
              <p:nvPr/>
            </p:nvSpPr>
            <p:spPr>
              <a:xfrm>
                <a:off x="1434911" y="4106165"/>
                <a:ext cx="1712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{1,−2,5,3}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3C1DDFB9-EFB3-4C37-8E02-030667349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911" y="4106165"/>
                <a:ext cx="1712739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2C4EC7CD-C5A4-49F3-9361-39391B0C0A7F}"/>
                  </a:ext>
                </a:extLst>
              </p:cNvPr>
              <p:cNvSpPr txBox="1"/>
              <p:nvPr/>
            </p:nvSpPr>
            <p:spPr>
              <a:xfrm>
                <a:off x="8290172" y="1853420"/>
                <a:ext cx="6918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{−2}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2C4EC7CD-C5A4-49F3-9361-39391B0C0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172" y="1853420"/>
                <a:ext cx="691809" cy="369332"/>
              </a:xfrm>
              <a:prstGeom prst="rect">
                <a:avLst/>
              </a:prstGeom>
              <a:blipFill>
                <a:blip r:embed="rId9"/>
                <a:stretch>
                  <a:fillRect l="-4425"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94C6036A-413B-4882-A840-630805F5FEE3}"/>
                  </a:ext>
                </a:extLst>
              </p:cNvPr>
              <p:cNvSpPr txBox="1"/>
              <p:nvPr/>
            </p:nvSpPr>
            <p:spPr>
              <a:xfrm>
                <a:off x="9568414" y="1874170"/>
                <a:ext cx="798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94C6036A-413B-4882-A840-630805F5F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414" y="1874170"/>
                <a:ext cx="798894" cy="369332"/>
              </a:xfrm>
              <a:prstGeom prst="rect">
                <a:avLst/>
              </a:prstGeom>
              <a:blipFill>
                <a:blip r:embed="rId1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Đường kết nối Mũi tên Thẳng 50">
            <a:extLst>
              <a:ext uri="{FF2B5EF4-FFF2-40B4-BE49-F238E27FC236}">
                <a16:creationId xmlns:a16="http://schemas.microsoft.com/office/drawing/2014/main" id="{9FF72441-5101-4454-83F8-3CA453D680C4}"/>
              </a:ext>
            </a:extLst>
          </p:cNvPr>
          <p:cNvCxnSpPr>
            <a:cxnSpLocks/>
          </p:cNvCxnSpPr>
          <p:nvPr/>
        </p:nvCxnSpPr>
        <p:spPr>
          <a:xfrm flipH="1">
            <a:off x="8078814" y="1610367"/>
            <a:ext cx="835946" cy="414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Hình Bầu dục 52">
            <a:extLst>
              <a:ext uri="{FF2B5EF4-FFF2-40B4-BE49-F238E27FC236}">
                <a16:creationId xmlns:a16="http://schemas.microsoft.com/office/drawing/2014/main" id="{9A225D5B-DD69-4E74-90A4-40370BB1C1F2}"/>
              </a:ext>
            </a:extLst>
          </p:cNvPr>
          <p:cNvSpPr/>
          <p:nvPr/>
        </p:nvSpPr>
        <p:spPr>
          <a:xfrm>
            <a:off x="7946355" y="2179992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Hộp Văn bản 54">
                <a:extLst>
                  <a:ext uri="{FF2B5EF4-FFF2-40B4-BE49-F238E27FC236}">
                    <a16:creationId xmlns:a16="http://schemas.microsoft.com/office/drawing/2014/main" id="{D751FFFD-EB53-47AD-849F-8F1674BCCC2E}"/>
                  </a:ext>
                </a:extLst>
              </p:cNvPr>
              <p:cNvSpPr txBox="1"/>
              <p:nvPr/>
            </p:nvSpPr>
            <p:spPr>
              <a:xfrm>
                <a:off x="7209359" y="1859977"/>
                <a:ext cx="615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Hộp Văn bản 54">
                <a:extLst>
                  <a:ext uri="{FF2B5EF4-FFF2-40B4-BE49-F238E27FC236}">
                    <a16:creationId xmlns:a16="http://schemas.microsoft.com/office/drawing/2014/main" id="{D751FFFD-EB53-47AD-849F-8F1674BCC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359" y="1859977"/>
                <a:ext cx="615146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Đường kết nối Mũi tên Thẳng 57">
            <a:extLst>
              <a:ext uri="{FF2B5EF4-FFF2-40B4-BE49-F238E27FC236}">
                <a16:creationId xmlns:a16="http://schemas.microsoft.com/office/drawing/2014/main" id="{C25BB3C1-BE7B-4F4A-AB58-4153B1ACF79B}"/>
              </a:ext>
            </a:extLst>
          </p:cNvPr>
          <p:cNvCxnSpPr>
            <a:cxnSpLocks/>
            <a:endCxn id="50" idx="3"/>
          </p:cNvCxnSpPr>
          <p:nvPr/>
        </p:nvCxnSpPr>
        <p:spPr>
          <a:xfrm>
            <a:off x="9353923" y="1526343"/>
            <a:ext cx="1013385" cy="5324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Hình Bầu dục 59">
            <a:extLst>
              <a:ext uri="{FF2B5EF4-FFF2-40B4-BE49-F238E27FC236}">
                <a16:creationId xmlns:a16="http://schemas.microsoft.com/office/drawing/2014/main" id="{A84F3858-5A2F-4814-B927-B75709F5F00E}"/>
              </a:ext>
            </a:extLst>
          </p:cNvPr>
          <p:cNvSpPr/>
          <p:nvPr/>
        </p:nvSpPr>
        <p:spPr>
          <a:xfrm>
            <a:off x="10404509" y="2166134"/>
            <a:ext cx="154744" cy="154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Hộp Văn bản 61">
                <a:extLst>
                  <a:ext uri="{FF2B5EF4-FFF2-40B4-BE49-F238E27FC236}">
                    <a16:creationId xmlns:a16="http://schemas.microsoft.com/office/drawing/2014/main" id="{7FC78DF3-BA87-4475-BFED-9296E2D31C28}"/>
                  </a:ext>
                </a:extLst>
              </p:cNvPr>
              <p:cNvSpPr txBox="1"/>
              <p:nvPr/>
            </p:nvSpPr>
            <p:spPr>
              <a:xfrm>
                <a:off x="10412103" y="1890780"/>
                <a:ext cx="798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2" name="Hộp Văn bản 61">
                <a:extLst>
                  <a:ext uri="{FF2B5EF4-FFF2-40B4-BE49-F238E27FC236}">
                    <a16:creationId xmlns:a16="http://schemas.microsoft.com/office/drawing/2014/main" id="{7FC78DF3-BA87-4475-BFED-9296E2D31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103" y="1890780"/>
                <a:ext cx="798894" cy="369332"/>
              </a:xfrm>
              <a:prstGeom prst="rect">
                <a:avLst/>
              </a:prstGeom>
              <a:blipFill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Hộp Văn bản 63">
                <a:extLst>
                  <a:ext uri="{FF2B5EF4-FFF2-40B4-BE49-F238E27FC236}">
                    <a16:creationId xmlns:a16="http://schemas.microsoft.com/office/drawing/2014/main" id="{8E1FBC0B-F1D9-4DBD-B2C2-FD30F6776CFA}"/>
                  </a:ext>
                </a:extLst>
              </p:cNvPr>
              <p:cNvSpPr txBox="1"/>
              <p:nvPr/>
            </p:nvSpPr>
            <p:spPr>
              <a:xfrm>
                <a:off x="7414364" y="4693655"/>
                <a:ext cx="17127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{1,−2,5,3}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Hộp Văn bản 63">
                <a:extLst>
                  <a:ext uri="{FF2B5EF4-FFF2-40B4-BE49-F238E27FC236}">
                    <a16:creationId xmlns:a16="http://schemas.microsoft.com/office/drawing/2014/main" id="{8E1FBC0B-F1D9-4DBD-B2C2-FD30F6776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364" y="4693655"/>
                <a:ext cx="1712739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Đường kết nối Mũi tên Thẳng 65">
            <a:extLst>
              <a:ext uri="{FF2B5EF4-FFF2-40B4-BE49-F238E27FC236}">
                <a16:creationId xmlns:a16="http://schemas.microsoft.com/office/drawing/2014/main" id="{5BFAC735-3EA9-434F-A978-A8F1473B37AE}"/>
              </a:ext>
            </a:extLst>
          </p:cNvPr>
          <p:cNvCxnSpPr>
            <a:cxnSpLocks/>
          </p:cNvCxnSpPr>
          <p:nvPr/>
        </p:nvCxnSpPr>
        <p:spPr>
          <a:xfrm flipH="1">
            <a:off x="7516932" y="3121112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Đường kết nối Mũi tên Thẳng 66">
            <a:extLst>
              <a:ext uri="{FF2B5EF4-FFF2-40B4-BE49-F238E27FC236}">
                <a16:creationId xmlns:a16="http://schemas.microsoft.com/office/drawing/2014/main" id="{1F249832-6DDA-4E51-A016-D8EDD18D8B1D}"/>
              </a:ext>
            </a:extLst>
          </p:cNvPr>
          <p:cNvCxnSpPr>
            <a:cxnSpLocks/>
          </p:cNvCxnSpPr>
          <p:nvPr/>
        </p:nvCxnSpPr>
        <p:spPr>
          <a:xfrm flipH="1">
            <a:off x="9661593" y="3184443"/>
            <a:ext cx="524617" cy="447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Đường kết nối Mũi tên Thẳng 67">
            <a:extLst>
              <a:ext uri="{FF2B5EF4-FFF2-40B4-BE49-F238E27FC236}">
                <a16:creationId xmlns:a16="http://schemas.microsoft.com/office/drawing/2014/main" id="{0C8569F8-01D6-4597-8DED-C5194E50C5DC}"/>
              </a:ext>
            </a:extLst>
          </p:cNvPr>
          <p:cNvCxnSpPr>
            <a:cxnSpLocks/>
          </p:cNvCxnSpPr>
          <p:nvPr/>
        </p:nvCxnSpPr>
        <p:spPr>
          <a:xfrm>
            <a:off x="10473415" y="3177457"/>
            <a:ext cx="338135" cy="4909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Đường kết nối Mũi tên Thẳng 68">
            <a:extLst>
              <a:ext uri="{FF2B5EF4-FFF2-40B4-BE49-F238E27FC236}">
                <a16:creationId xmlns:a16="http://schemas.microsoft.com/office/drawing/2014/main" id="{FDCE744D-74E2-46AD-B1BE-9F3DDC526EC5}"/>
              </a:ext>
            </a:extLst>
          </p:cNvPr>
          <p:cNvCxnSpPr>
            <a:cxnSpLocks/>
          </p:cNvCxnSpPr>
          <p:nvPr/>
        </p:nvCxnSpPr>
        <p:spPr>
          <a:xfrm>
            <a:off x="8266294" y="3158130"/>
            <a:ext cx="338135" cy="4909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24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3">
            <a:extLst>
              <a:ext uri="{FF2B5EF4-FFF2-40B4-BE49-F238E27FC236}">
                <a16:creationId xmlns:a16="http://schemas.microsoft.com/office/drawing/2014/main" id="{4899650B-827B-4A4A-8A8E-D2939D513AF3}"/>
              </a:ext>
            </a:extLst>
          </p:cNvPr>
          <p:cNvSpPr txBox="1"/>
          <p:nvPr/>
        </p:nvSpPr>
        <p:spPr>
          <a:xfrm>
            <a:off x="5335862" y="131454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7" name="Hộp Văn bản 5">
            <a:extLst>
              <a:ext uri="{FF2B5EF4-FFF2-40B4-BE49-F238E27FC236}">
                <a16:creationId xmlns:a16="http://schemas.microsoft.com/office/drawing/2014/main" id="{3BE36AF5-A4AD-4883-9B2D-DE5A3D3748EF}"/>
              </a:ext>
            </a:extLst>
          </p:cNvPr>
          <p:cNvSpPr txBox="1"/>
          <p:nvPr/>
        </p:nvSpPr>
        <p:spPr>
          <a:xfrm>
            <a:off x="3359938" y="356160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195C7464-A932-4FB0-8EB8-7693BC9A186E}"/>
              </a:ext>
            </a:extLst>
          </p:cNvPr>
          <p:cNvSpPr txBox="1"/>
          <p:nvPr/>
        </p:nvSpPr>
        <p:spPr>
          <a:xfrm>
            <a:off x="7240277" y="356160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9" name="Hộp Văn bản 9">
            <a:extLst>
              <a:ext uri="{FF2B5EF4-FFF2-40B4-BE49-F238E27FC236}">
                <a16:creationId xmlns:a16="http://schemas.microsoft.com/office/drawing/2014/main" id="{69B0EA51-C736-47B0-9846-0C6061CB3F2D}"/>
              </a:ext>
            </a:extLst>
          </p:cNvPr>
          <p:cNvSpPr txBox="1"/>
          <p:nvPr/>
        </p:nvSpPr>
        <p:spPr>
          <a:xfrm>
            <a:off x="5335862" y="462600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 = coP</a:t>
            </a:r>
          </a:p>
        </p:txBody>
      </p:sp>
      <p:cxnSp>
        <p:nvCxnSpPr>
          <p:cNvPr id="10" name="Đường nối Thẳng 11">
            <a:extLst>
              <a:ext uri="{FF2B5EF4-FFF2-40B4-BE49-F238E27FC236}">
                <a16:creationId xmlns:a16="http://schemas.microsoft.com/office/drawing/2014/main" id="{5A907E54-FE09-4559-ADB9-851D6826B0B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3873409" y="1683873"/>
            <a:ext cx="1975924" cy="18777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2">
            <a:extLst>
              <a:ext uri="{FF2B5EF4-FFF2-40B4-BE49-F238E27FC236}">
                <a16:creationId xmlns:a16="http://schemas.microsoft.com/office/drawing/2014/main" id="{443D0DA4-990F-43E0-9B8C-38A2BD4EA196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5849333" y="1683873"/>
            <a:ext cx="1904415" cy="18777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5">
            <a:extLst>
              <a:ext uri="{FF2B5EF4-FFF2-40B4-BE49-F238E27FC236}">
                <a16:creationId xmlns:a16="http://schemas.microsoft.com/office/drawing/2014/main" id="{502D5CC6-A8C1-4C7E-BA0B-D47FEBEE9BB1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H="1" flipV="1">
            <a:off x="3873409" y="3930932"/>
            <a:ext cx="1975924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8">
            <a:extLst>
              <a:ext uri="{FF2B5EF4-FFF2-40B4-BE49-F238E27FC236}">
                <a16:creationId xmlns:a16="http://schemas.microsoft.com/office/drawing/2014/main" id="{179866E4-94B3-416F-9738-9FBA2BD0346C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5849333" y="3930932"/>
            <a:ext cx="1904415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51DC0F0-6D17-48B8-B24E-DCFBB15DCF29}"/>
              </a:ext>
            </a:extLst>
          </p:cNvPr>
          <p:cNvSpPr txBox="1"/>
          <p:nvPr/>
        </p:nvSpPr>
        <p:spPr>
          <a:xfrm>
            <a:off x="4705747" y="50631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olynomial number of step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B564330D-7689-406B-8A9E-29046928DE0F}"/>
              </a:ext>
            </a:extLst>
          </p:cNvPr>
          <p:cNvSpPr txBox="1"/>
          <p:nvPr/>
        </p:nvSpPr>
        <p:spPr>
          <a:xfrm>
            <a:off x="4386879" y="7977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olynomial number of </a:t>
            </a:r>
            <a:r>
              <a:rPr lang="en-US" b="1"/>
              <a:t>SPACE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28D65A1-9899-4286-9F68-7771F26C957A}"/>
              </a:ext>
            </a:extLst>
          </p:cNvPr>
          <p:cNvSpPr txBox="1"/>
          <p:nvPr/>
        </p:nvSpPr>
        <p:spPr>
          <a:xfrm>
            <a:off x="1039784" y="3355136"/>
            <a:ext cx="3035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onderterministic Turing machine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in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olynomial number of step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0F25A91E-BDB0-493A-8229-2ABE891879EF}"/>
              </a:ext>
            </a:extLst>
          </p:cNvPr>
          <p:cNvSpPr txBox="1"/>
          <p:nvPr/>
        </p:nvSpPr>
        <p:spPr>
          <a:xfrm>
            <a:off x="8104216" y="3513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 b="1"/>
              <a:t>co</a:t>
            </a:r>
            <a:r>
              <a:rPr lang="en-US"/>
              <a:t>mplement of </a:t>
            </a:r>
            <a:r>
              <a:rPr lang="en-US" b="1"/>
              <a:t>NP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4DA6B99-48C1-4EEE-B84C-595268F5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9</a:t>
            </a:fld>
            <a:endParaRPr lang="en-US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D7DB7CAF-2ECD-40A0-8814-9DAF602FE61A}"/>
              </a:ext>
            </a:extLst>
          </p:cNvPr>
          <p:cNvSpPr txBox="1"/>
          <p:nvPr/>
        </p:nvSpPr>
        <p:spPr>
          <a:xfrm>
            <a:off x="1039783" y="4300264"/>
            <a:ext cx="3035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Cho một tập hợp các số nguyên, tồn tại hay không một tập hợp con có tổng bằng T không?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21D2ACE9-0056-43F3-A892-7A082DA3A157}"/>
              </a:ext>
            </a:extLst>
          </p:cNvPr>
          <p:cNvSpPr txBox="1"/>
          <p:nvPr/>
        </p:nvSpPr>
        <p:spPr>
          <a:xfrm>
            <a:off x="4861371" y="5500359"/>
            <a:ext cx="3035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Tồn tại lời giải trong thời gian đa thức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6266F116-CFAF-4EAB-A338-8785887B097D}"/>
              </a:ext>
            </a:extLst>
          </p:cNvPr>
          <p:cNvSpPr txBox="1"/>
          <p:nvPr/>
        </p:nvSpPr>
        <p:spPr>
          <a:xfrm>
            <a:off x="1039782" y="2656860"/>
            <a:ext cx="3035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Kiểm tra lời giải trong thời gian đa thức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044E8B89-CCF2-4EBF-9C07-3462AEFBDEB2}"/>
              </a:ext>
            </a:extLst>
          </p:cNvPr>
          <p:cNvSpPr txBox="1"/>
          <p:nvPr/>
        </p:nvSpPr>
        <p:spPr>
          <a:xfrm>
            <a:off x="8212067" y="3978985"/>
            <a:ext cx="3035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libri" panose="020F0502020204030204" pitchFamily="34" charset="0"/>
                <a:cs typeface="Calibri" panose="020F0502020204030204" pitchFamily="34" charset="0"/>
              </a:rPr>
              <a:t>Cho một tập hợp các số nguyên, có phải tất cả tập hợp con đều có tổng khác T không?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399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Nondeterministic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4923"/>
              </a:xfrm>
              <a:blipFill>
                <a:blip r:embed="rId2"/>
                <a:stretch>
                  <a:fillRect l="-1043" t="-31507" b="-26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8F89BA8-C804-49F1-AF16-C98ACEB3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/>
              <p:nvPr/>
            </p:nvSpPr>
            <p:spPr>
              <a:xfrm>
                <a:off x="838200" y="2405485"/>
                <a:ext cx="10306878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m:rPr>
                              <m:sty m:val="p"/>
                            </m:rPr>
                            <a:rPr lang="el-GR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 ×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l-G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l-GR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85497540-82E5-44C4-88E3-34180F35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485"/>
                <a:ext cx="10306878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Hình ảnh 6">
            <a:extLst>
              <a:ext uri="{FF2B5EF4-FFF2-40B4-BE49-F238E27FC236}">
                <a16:creationId xmlns:a16="http://schemas.microsoft.com/office/drawing/2014/main" id="{60A31778-4DD9-4ED2-A19B-29111639A2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409" t="24653" r="24684" b="26570"/>
          <a:stretch/>
        </p:blipFill>
        <p:spPr>
          <a:xfrm>
            <a:off x="848357" y="3193774"/>
            <a:ext cx="6466844" cy="297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24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4">
                <a:extLst>
                  <a:ext uri="{FF2B5EF4-FFF2-40B4-BE49-F238E27FC236}">
                    <a16:creationId xmlns:a16="http://schemas.microsoft.com/office/drawing/2014/main" id="{812456B0-C35E-4B63-8355-F7A16793307F}"/>
                  </a:ext>
                </a:extLst>
              </p:cNvPr>
              <p:cNvSpPr txBox="1"/>
              <p:nvPr/>
            </p:nvSpPr>
            <p:spPr>
              <a:xfrm>
                <a:off x="109330" y="406872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Hộp Văn bản 4">
                <a:extLst>
                  <a:ext uri="{FF2B5EF4-FFF2-40B4-BE49-F238E27FC236}">
                    <a16:creationId xmlns:a16="http://schemas.microsoft.com/office/drawing/2014/main" id="{812456B0-C35E-4B63-8355-F7A167933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30" y="4068723"/>
                <a:ext cx="130829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6">
                <a:extLst>
                  <a:ext uri="{FF2B5EF4-FFF2-40B4-BE49-F238E27FC236}">
                    <a16:creationId xmlns:a16="http://schemas.microsoft.com/office/drawing/2014/main" id="{15A9794A-28F9-48F8-8E48-6185A87CF852}"/>
                  </a:ext>
                </a:extLst>
              </p:cNvPr>
              <p:cNvSpPr txBox="1"/>
              <p:nvPr/>
            </p:nvSpPr>
            <p:spPr>
              <a:xfrm>
                <a:off x="3113761" y="288402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Hộp Văn bản 6">
                <a:extLst>
                  <a:ext uri="{FF2B5EF4-FFF2-40B4-BE49-F238E27FC236}">
                    <a16:creationId xmlns:a16="http://schemas.microsoft.com/office/drawing/2014/main" id="{15A9794A-28F9-48F8-8E48-6185A87CF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1" y="2884024"/>
                <a:ext cx="130829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10">
                <a:extLst>
                  <a:ext uri="{FF2B5EF4-FFF2-40B4-BE49-F238E27FC236}">
                    <a16:creationId xmlns:a16="http://schemas.microsoft.com/office/drawing/2014/main" id="{0F78B7B3-6C60-4602-A2AC-DC616FAC65FD}"/>
                  </a:ext>
                </a:extLst>
              </p:cNvPr>
              <p:cNvSpPr txBox="1"/>
              <p:nvPr/>
            </p:nvSpPr>
            <p:spPr>
              <a:xfrm>
                <a:off x="3113760" y="3514725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Hộp Văn bản 10">
                <a:extLst>
                  <a:ext uri="{FF2B5EF4-FFF2-40B4-BE49-F238E27FC236}">
                    <a16:creationId xmlns:a16="http://schemas.microsoft.com/office/drawing/2014/main" id="{0F78B7B3-6C60-4602-A2AC-DC616FAC6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0" y="3514725"/>
                <a:ext cx="1308295" cy="369332"/>
              </a:xfrm>
              <a:prstGeom prst="rect">
                <a:avLst/>
              </a:prstGeom>
              <a:blipFill>
                <a:blip r:embed="rId4"/>
                <a:stretch>
                  <a:fillRect l="-1402" r="-3738" b="-1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12">
                <a:extLst>
                  <a:ext uri="{FF2B5EF4-FFF2-40B4-BE49-F238E27FC236}">
                    <a16:creationId xmlns:a16="http://schemas.microsoft.com/office/drawing/2014/main" id="{718814C1-FA0B-4428-B434-AE5DC099D2EC}"/>
                  </a:ext>
                </a:extLst>
              </p:cNvPr>
              <p:cNvSpPr txBox="1"/>
              <p:nvPr/>
            </p:nvSpPr>
            <p:spPr>
              <a:xfrm>
                <a:off x="3113760" y="4145426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4" name="Hộp Văn bản 12">
                <a:extLst>
                  <a:ext uri="{FF2B5EF4-FFF2-40B4-BE49-F238E27FC236}">
                    <a16:creationId xmlns:a16="http://schemas.microsoft.com/office/drawing/2014/main" id="{718814C1-FA0B-4428-B434-AE5DC099D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60" y="4145426"/>
                <a:ext cx="1308295" cy="369332"/>
              </a:xfrm>
              <a:prstGeom prst="rect">
                <a:avLst/>
              </a:prstGeom>
              <a:blipFill>
                <a:blip r:embed="rId5"/>
                <a:stretch>
                  <a:fillRect l="-1402" r="-3738" b="-1311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Hộp Văn bản 14">
                <a:extLst>
                  <a:ext uri="{FF2B5EF4-FFF2-40B4-BE49-F238E27FC236}">
                    <a16:creationId xmlns:a16="http://schemas.microsoft.com/office/drawing/2014/main" id="{DC0E278D-5285-47B8-8073-ACF4FB819305}"/>
                  </a:ext>
                </a:extLst>
              </p:cNvPr>
              <p:cNvSpPr txBox="1"/>
              <p:nvPr/>
            </p:nvSpPr>
            <p:spPr>
              <a:xfrm>
                <a:off x="3159481" y="4796858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Hộp Văn bản 14">
                <a:extLst>
                  <a:ext uri="{FF2B5EF4-FFF2-40B4-BE49-F238E27FC236}">
                    <a16:creationId xmlns:a16="http://schemas.microsoft.com/office/drawing/2014/main" id="{DC0E278D-5285-47B8-8073-ACF4FB819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481" y="4796858"/>
                <a:ext cx="1308295" cy="369332"/>
              </a:xfrm>
              <a:prstGeom prst="rect">
                <a:avLst/>
              </a:prstGeom>
              <a:blipFill>
                <a:blip r:embed="rId6"/>
                <a:stretch>
                  <a:fillRect l="-1395" r="-1860" b="-13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Đường kết nối Mũi tên Thẳng 16">
            <a:extLst>
              <a:ext uri="{FF2B5EF4-FFF2-40B4-BE49-F238E27FC236}">
                <a16:creationId xmlns:a16="http://schemas.microsoft.com/office/drawing/2014/main" id="{9601C23A-172B-4E59-A10A-5CBAD2AC9DD7}"/>
              </a:ext>
            </a:extLst>
          </p:cNvPr>
          <p:cNvCxnSpPr/>
          <p:nvPr/>
        </p:nvCxnSpPr>
        <p:spPr>
          <a:xfrm>
            <a:off x="1925432" y="33877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Đường kết nối Mũi tên Thẳng 17">
            <a:extLst>
              <a:ext uri="{FF2B5EF4-FFF2-40B4-BE49-F238E27FC236}">
                <a16:creationId xmlns:a16="http://schemas.microsoft.com/office/drawing/2014/main" id="{B1A83D17-BC83-4A1F-9913-96C1F7BEB4B9}"/>
              </a:ext>
            </a:extLst>
          </p:cNvPr>
          <p:cNvCxnSpPr/>
          <p:nvPr/>
        </p:nvCxnSpPr>
        <p:spPr>
          <a:xfrm>
            <a:off x="1904720" y="4068723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Đường kết nối Mũi tên Thẳng 18">
            <a:extLst>
              <a:ext uri="{FF2B5EF4-FFF2-40B4-BE49-F238E27FC236}">
                <a16:creationId xmlns:a16="http://schemas.microsoft.com/office/drawing/2014/main" id="{21D822B5-504A-43C0-8D9A-26B708CCF172}"/>
              </a:ext>
            </a:extLst>
          </p:cNvPr>
          <p:cNvCxnSpPr/>
          <p:nvPr/>
        </p:nvCxnSpPr>
        <p:spPr>
          <a:xfrm>
            <a:off x="1904720" y="47594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Hộp Văn bản 20">
                <a:extLst>
                  <a:ext uri="{FF2B5EF4-FFF2-40B4-BE49-F238E27FC236}">
                    <a16:creationId xmlns:a16="http://schemas.microsoft.com/office/drawing/2014/main" id="{DE347BB2-00ED-4533-83CB-A20B449DAC66}"/>
                  </a:ext>
                </a:extLst>
              </p:cNvPr>
              <p:cNvSpPr txBox="1"/>
              <p:nvPr/>
            </p:nvSpPr>
            <p:spPr>
              <a:xfrm>
                <a:off x="1474874" y="2900431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9" name="Hộp Văn bản 20">
                <a:extLst>
                  <a:ext uri="{FF2B5EF4-FFF2-40B4-BE49-F238E27FC236}">
                    <a16:creationId xmlns:a16="http://schemas.microsoft.com/office/drawing/2014/main" id="{DE347BB2-00ED-4533-83CB-A20B449DA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2900431"/>
                <a:ext cx="130829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Hộp Văn bản 22">
                <a:extLst>
                  <a:ext uri="{FF2B5EF4-FFF2-40B4-BE49-F238E27FC236}">
                    <a16:creationId xmlns:a16="http://schemas.microsoft.com/office/drawing/2014/main" id="{548402DE-069D-488F-A8FC-B69F9149631F}"/>
                  </a:ext>
                </a:extLst>
              </p:cNvPr>
              <p:cNvSpPr txBox="1"/>
              <p:nvPr/>
            </p:nvSpPr>
            <p:spPr>
              <a:xfrm>
                <a:off x="1474874" y="357239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0.23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Hộp Văn bản 22">
                <a:extLst>
                  <a:ext uri="{FF2B5EF4-FFF2-40B4-BE49-F238E27FC236}">
                    <a16:creationId xmlns:a16="http://schemas.microsoft.com/office/drawing/2014/main" id="{548402DE-069D-488F-A8FC-B69F91496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3572393"/>
                <a:ext cx="130829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Hộp Văn bản 24">
                <a:extLst>
                  <a:ext uri="{FF2B5EF4-FFF2-40B4-BE49-F238E27FC236}">
                    <a16:creationId xmlns:a16="http://schemas.microsoft.com/office/drawing/2014/main" id="{DCCFA05C-A32B-42B6-8837-75238F0FE1D8}"/>
                  </a:ext>
                </a:extLst>
              </p:cNvPr>
              <p:cNvSpPr txBox="1"/>
              <p:nvPr/>
            </p:nvSpPr>
            <p:spPr>
              <a:xfrm>
                <a:off x="1474874" y="4276463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1" name="Hộp Văn bản 24">
                <a:extLst>
                  <a:ext uri="{FF2B5EF4-FFF2-40B4-BE49-F238E27FC236}">
                    <a16:creationId xmlns:a16="http://schemas.microsoft.com/office/drawing/2014/main" id="{DCCFA05C-A32B-42B6-8837-75238F0FE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874" y="4276463"/>
                <a:ext cx="130829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Đường kết nối Mũi tên Thẳng 25">
            <a:extLst>
              <a:ext uri="{FF2B5EF4-FFF2-40B4-BE49-F238E27FC236}">
                <a16:creationId xmlns:a16="http://schemas.microsoft.com/office/drawing/2014/main" id="{D5DDF98E-7329-4CCE-8909-B81D717E02D1}"/>
              </a:ext>
            </a:extLst>
          </p:cNvPr>
          <p:cNvCxnSpPr/>
          <p:nvPr/>
        </p:nvCxnSpPr>
        <p:spPr>
          <a:xfrm>
            <a:off x="1925432" y="5432526"/>
            <a:ext cx="3024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Hộp Văn bản 27">
                <a:extLst>
                  <a:ext uri="{FF2B5EF4-FFF2-40B4-BE49-F238E27FC236}">
                    <a16:creationId xmlns:a16="http://schemas.microsoft.com/office/drawing/2014/main" id="{D3CA02B6-BD8B-4260-94E2-4EF2EFDE66B8}"/>
                  </a:ext>
                </a:extLst>
              </p:cNvPr>
              <p:cNvSpPr txBox="1"/>
              <p:nvPr/>
            </p:nvSpPr>
            <p:spPr>
              <a:xfrm>
                <a:off x="1495977" y="4977944"/>
                <a:ext cx="1308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3" name="Hộp Văn bản 27">
                <a:extLst>
                  <a:ext uri="{FF2B5EF4-FFF2-40B4-BE49-F238E27FC236}">
                    <a16:creationId xmlns:a16="http://schemas.microsoft.com/office/drawing/2014/main" id="{D3CA02B6-BD8B-4260-94E2-4EF2EFDE6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977" y="4977944"/>
                <a:ext cx="130829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Đường nối Thẳng 29">
            <a:extLst>
              <a:ext uri="{FF2B5EF4-FFF2-40B4-BE49-F238E27FC236}">
                <a16:creationId xmlns:a16="http://schemas.microsoft.com/office/drawing/2014/main" id="{7FDD6D6A-1139-41F4-818B-6AC902A82DBC}"/>
              </a:ext>
            </a:extLst>
          </p:cNvPr>
          <p:cNvCxnSpPr>
            <a:endCxn id="51" idx="3"/>
          </p:cNvCxnSpPr>
          <p:nvPr/>
        </p:nvCxnSpPr>
        <p:spPr>
          <a:xfrm flipH="1">
            <a:off x="1417625" y="3387726"/>
            <a:ext cx="507807" cy="8656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Đường nối Thẳng 30">
            <a:extLst>
              <a:ext uri="{FF2B5EF4-FFF2-40B4-BE49-F238E27FC236}">
                <a16:creationId xmlns:a16="http://schemas.microsoft.com/office/drawing/2014/main" id="{CB8B904F-291F-4929-A330-3630E476F1B3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1417625" y="4060826"/>
            <a:ext cx="507807" cy="1925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Đường nối Thẳng 36">
            <a:extLst>
              <a:ext uri="{FF2B5EF4-FFF2-40B4-BE49-F238E27FC236}">
                <a16:creationId xmlns:a16="http://schemas.microsoft.com/office/drawing/2014/main" id="{942B4C86-68FC-4083-85BD-A0D2C7160BEB}"/>
              </a:ext>
            </a:extLst>
          </p:cNvPr>
          <p:cNvCxnSpPr>
            <a:cxnSpLocks/>
            <a:endCxn id="51" idx="3"/>
          </p:cNvCxnSpPr>
          <p:nvPr/>
        </p:nvCxnSpPr>
        <p:spPr>
          <a:xfrm flipH="1" flipV="1">
            <a:off x="1417625" y="4253389"/>
            <a:ext cx="487095" cy="5167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Đường nối Thẳng 40">
            <a:extLst>
              <a:ext uri="{FF2B5EF4-FFF2-40B4-BE49-F238E27FC236}">
                <a16:creationId xmlns:a16="http://schemas.microsoft.com/office/drawing/2014/main" id="{ADBC72EC-3E7B-4257-8AE7-EA2A88391C39}"/>
              </a:ext>
            </a:extLst>
          </p:cNvPr>
          <p:cNvCxnSpPr>
            <a:cxnSpLocks/>
            <a:endCxn id="51" idx="3"/>
          </p:cNvCxnSpPr>
          <p:nvPr/>
        </p:nvCxnSpPr>
        <p:spPr>
          <a:xfrm flipH="1" flipV="1">
            <a:off x="1417625" y="4253389"/>
            <a:ext cx="507808" cy="11791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48855A97-1F69-46DC-8F29-E5AB51D1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11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EF4A38D8-B0AF-49B6-8568-E5368FFBEE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3743" y="136525"/>
            <a:ext cx="6753714" cy="2484644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A66E0A68-98C4-41AA-8F31-721F64B715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9863" y="2642093"/>
            <a:ext cx="6727593" cy="2565035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96A06B8D-2317-4D43-A32C-DA19024A8213}"/>
              </a:ext>
            </a:extLst>
          </p:cNvPr>
          <p:cNvSpPr txBox="1"/>
          <p:nvPr/>
        </p:nvSpPr>
        <p:spPr>
          <a:xfrm>
            <a:off x="5936974" y="1126435"/>
            <a:ext cx="728869" cy="366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BFCE8099-47DB-40D5-A990-B1A8B5D6FD97}"/>
              </a:ext>
            </a:extLst>
          </p:cNvPr>
          <p:cNvSpPr txBox="1"/>
          <p:nvPr/>
        </p:nvSpPr>
        <p:spPr>
          <a:xfrm>
            <a:off x="6818244" y="1126435"/>
            <a:ext cx="1689652" cy="366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B2A4C77-6D5A-4D48-ACD4-BDF80185F64E}"/>
              </a:ext>
            </a:extLst>
          </p:cNvPr>
          <p:cNvSpPr txBox="1"/>
          <p:nvPr/>
        </p:nvSpPr>
        <p:spPr>
          <a:xfrm>
            <a:off x="3557375" y="1657905"/>
            <a:ext cx="1371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Calibri (Thân)"/>
              </a:rPr>
              <a:t>Lời giải đúng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91E29CCE-C7E4-4E98-A38A-B867E99FD64F}"/>
              </a:ext>
            </a:extLst>
          </p:cNvPr>
          <p:cNvSpPr txBox="1"/>
          <p:nvPr/>
        </p:nvSpPr>
        <p:spPr>
          <a:xfrm>
            <a:off x="2491409" y="2026259"/>
            <a:ext cx="243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Calibri (Thân)"/>
              </a:rPr>
              <a:t>Chấp nhận lời giải đúng</a:t>
            </a:r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94F4A55E-62B7-4685-854C-CB37FA514011}"/>
              </a:ext>
            </a:extLst>
          </p:cNvPr>
          <p:cNvCxnSpPr>
            <a:cxnSpLocks/>
            <a:stCxn id="4" idx="2"/>
            <a:endCxn id="5" idx="3"/>
          </p:cNvCxnSpPr>
          <p:nvPr/>
        </p:nvCxnSpPr>
        <p:spPr>
          <a:xfrm flipH="1">
            <a:off x="4929273" y="1492871"/>
            <a:ext cx="1372136" cy="34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A7D80986-88E4-47AB-8D59-40238C81BA24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4929272" y="1504123"/>
            <a:ext cx="2719176" cy="706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Hộp Văn bản 23">
            <a:extLst>
              <a:ext uri="{FF2B5EF4-FFF2-40B4-BE49-F238E27FC236}">
                <a16:creationId xmlns:a16="http://schemas.microsoft.com/office/drawing/2014/main" id="{DAA8A532-FCEE-9978-E23F-E58D4E3E9AE0}"/>
              </a:ext>
            </a:extLst>
          </p:cNvPr>
          <p:cNvSpPr txBox="1"/>
          <p:nvPr/>
        </p:nvSpPr>
        <p:spPr>
          <a:xfrm>
            <a:off x="8660297" y="1057732"/>
            <a:ext cx="260679" cy="593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F20B7E-A7B9-8825-4CF9-58B7365860A7}"/>
              </a:ext>
            </a:extLst>
          </p:cNvPr>
          <p:cNvSpPr txBox="1"/>
          <p:nvPr/>
        </p:nvSpPr>
        <p:spPr>
          <a:xfrm>
            <a:off x="9054790" y="1126435"/>
            <a:ext cx="1642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Tính hội tụ!</a:t>
            </a:r>
          </a:p>
        </p:txBody>
      </p:sp>
    </p:spTree>
    <p:extLst>
      <p:ext uri="{BB962C8B-B14F-4D97-AF65-F5344CB8AC3E}">
        <p14:creationId xmlns:p14="http://schemas.microsoft.com/office/powerpoint/2010/main" val="165413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</a:t>
            </a:r>
            <a:endParaRPr lang="en-US" dirty="0"/>
          </a:p>
        </p:txBody>
      </p:sp>
      <p:sp>
        <p:nvSpPr>
          <p:cNvPr id="6" name="Hộp Văn bản 35">
            <a:extLst>
              <a:ext uri="{FF2B5EF4-FFF2-40B4-BE49-F238E27FC236}">
                <a16:creationId xmlns:a16="http://schemas.microsoft.com/office/drawing/2014/main" id="{6BB01E60-7200-4A0D-8F37-6D0E676E6F46}"/>
              </a:ext>
            </a:extLst>
          </p:cNvPr>
          <p:cNvSpPr txBox="1"/>
          <p:nvPr/>
        </p:nvSpPr>
        <p:spPr>
          <a:xfrm>
            <a:off x="4111379" y="2461759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sp>
        <p:nvSpPr>
          <p:cNvPr id="7" name="Hộp Văn bản 36">
            <a:extLst>
              <a:ext uri="{FF2B5EF4-FFF2-40B4-BE49-F238E27FC236}">
                <a16:creationId xmlns:a16="http://schemas.microsoft.com/office/drawing/2014/main" id="{64D1F4EF-4076-49B7-BE66-4A42AB0C2C73}"/>
              </a:ext>
            </a:extLst>
          </p:cNvPr>
          <p:cNvSpPr txBox="1"/>
          <p:nvPr/>
        </p:nvSpPr>
        <p:spPr>
          <a:xfrm>
            <a:off x="3155356" y="354262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8" name="Hộp Văn bản 37">
            <a:extLst>
              <a:ext uri="{FF2B5EF4-FFF2-40B4-BE49-F238E27FC236}">
                <a16:creationId xmlns:a16="http://schemas.microsoft.com/office/drawing/2014/main" id="{ACFB5F97-D996-427A-83C2-C90C003069C3}"/>
              </a:ext>
            </a:extLst>
          </p:cNvPr>
          <p:cNvSpPr txBox="1"/>
          <p:nvPr/>
        </p:nvSpPr>
        <p:spPr>
          <a:xfrm>
            <a:off x="5031062" y="354262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38">
                <a:extLst>
                  <a:ext uri="{FF2B5EF4-FFF2-40B4-BE49-F238E27FC236}">
                    <a16:creationId xmlns:a16="http://schemas.microsoft.com/office/drawing/2014/main" id="{33995811-D71E-4305-A2F9-DF1BAA3351C0}"/>
                  </a:ext>
                </a:extLst>
              </p:cNvPr>
              <p:cNvSpPr txBox="1"/>
              <p:nvPr/>
            </p:nvSpPr>
            <p:spPr>
              <a:xfrm>
                <a:off x="3162396" y="4607028"/>
                <a:ext cx="29249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latin typeface="Cambria" panose="02040503050406030204" pitchFamily="18" charset="0"/>
                    <a:ea typeface="Cambria" panose="02040503050406030204" pitchFamily="18" charset="0"/>
                  </a:rPr>
                  <a:t>ZPP = RP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>
                    <a:latin typeface="Cambria" panose="02040503050406030204" pitchFamily="18" charset="0"/>
                    <a:ea typeface="Cambria" panose="02040503050406030204" pitchFamily="18" charset="0"/>
                  </a:rPr>
                  <a:t> coRP</a:t>
                </a:r>
              </a:p>
            </p:txBody>
          </p:sp>
        </mc:Choice>
        <mc:Fallback xmlns="">
          <p:sp>
            <p:nvSpPr>
              <p:cNvPr id="9" name="Hộp Văn bản 38">
                <a:extLst>
                  <a:ext uri="{FF2B5EF4-FFF2-40B4-BE49-F238E27FC236}">
                    <a16:creationId xmlns:a16="http://schemas.microsoft.com/office/drawing/2014/main" id="{33995811-D71E-4305-A2F9-DF1BAA33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396" y="4607028"/>
                <a:ext cx="2924907" cy="369332"/>
              </a:xfrm>
              <a:prstGeom prst="rect">
                <a:avLst/>
              </a:prstGeom>
              <a:blipFill>
                <a:blip r:embed="rId2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39">
            <a:extLst>
              <a:ext uri="{FF2B5EF4-FFF2-40B4-BE49-F238E27FC236}">
                <a16:creationId xmlns:a16="http://schemas.microsoft.com/office/drawing/2014/main" id="{64E97606-DF47-48B8-80EA-CED041388C0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668827" y="2831091"/>
            <a:ext cx="956023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40">
            <a:extLst>
              <a:ext uri="{FF2B5EF4-FFF2-40B4-BE49-F238E27FC236}">
                <a16:creationId xmlns:a16="http://schemas.microsoft.com/office/drawing/2014/main" id="{BAE2A05C-BED8-488A-B679-4BDA387ACE3C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4624850" y="2831091"/>
            <a:ext cx="919683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41">
            <a:extLst>
              <a:ext uri="{FF2B5EF4-FFF2-40B4-BE49-F238E27FC236}">
                <a16:creationId xmlns:a16="http://schemas.microsoft.com/office/drawing/2014/main" id="{9A70A531-26C8-4572-B5EE-F9B8B4435155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H="1" flipV="1">
            <a:off x="3668827" y="3911959"/>
            <a:ext cx="956023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42">
            <a:extLst>
              <a:ext uri="{FF2B5EF4-FFF2-40B4-BE49-F238E27FC236}">
                <a16:creationId xmlns:a16="http://schemas.microsoft.com/office/drawing/2014/main" id="{C57E1D4E-8C15-4CF2-A6DC-B6C91ABB266A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4624850" y="3911959"/>
            <a:ext cx="919683" cy="6950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Hộp Văn bản 68">
            <a:extLst>
              <a:ext uri="{FF2B5EF4-FFF2-40B4-BE49-F238E27FC236}">
                <a16:creationId xmlns:a16="http://schemas.microsoft.com/office/drawing/2014/main" id="{57F8D259-0F2F-4C83-97CA-DFD0E6FD5B8F}"/>
              </a:ext>
            </a:extLst>
          </p:cNvPr>
          <p:cNvSpPr txBox="1"/>
          <p:nvPr/>
        </p:nvSpPr>
        <p:spPr>
          <a:xfrm>
            <a:off x="2908130" y="1571400"/>
            <a:ext cx="28127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robabilistic Turing Machine in </a:t>
            </a:r>
            <a:r>
              <a:rPr lang="en-US" b="1"/>
              <a:t>P</a:t>
            </a:r>
            <a:r>
              <a:rPr lang="en-US"/>
              <a:t>olynomial time với khả năng xảy ra lỗi</a:t>
            </a:r>
          </a:p>
        </p:txBody>
      </p:sp>
      <p:sp>
        <p:nvSpPr>
          <p:cNvPr id="71" name="Hộp Văn bản 70">
            <a:extLst>
              <a:ext uri="{FF2B5EF4-FFF2-40B4-BE49-F238E27FC236}">
                <a16:creationId xmlns:a16="http://schemas.microsoft.com/office/drawing/2014/main" id="{521D1BA4-5C11-481F-9F2E-3B8ABDEA9337}"/>
              </a:ext>
            </a:extLst>
          </p:cNvPr>
          <p:cNvSpPr txBox="1"/>
          <p:nvPr/>
        </p:nvSpPr>
        <p:spPr>
          <a:xfrm>
            <a:off x="621711" y="3127128"/>
            <a:ext cx="26095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/>
              <a:t>Probabilistic / </a:t>
            </a:r>
            <a:r>
              <a:rPr lang="en-US" b="1"/>
              <a:t>R</a:t>
            </a:r>
            <a:r>
              <a:rPr lang="en-US"/>
              <a:t>andom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false negative </a:t>
            </a:r>
            <a:r>
              <a:rPr lang="en-US"/>
              <a:t>only</a:t>
            </a:r>
          </a:p>
        </p:txBody>
      </p:sp>
      <p:sp>
        <p:nvSpPr>
          <p:cNvPr id="73" name="Hộp Văn bản 72">
            <a:extLst>
              <a:ext uri="{FF2B5EF4-FFF2-40B4-BE49-F238E27FC236}">
                <a16:creationId xmlns:a16="http://schemas.microsoft.com/office/drawing/2014/main" id="{55B088EB-589C-4691-99C5-3CEAEA0370F3}"/>
              </a:ext>
            </a:extLst>
          </p:cNvPr>
          <p:cNvSpPr txBox="1"/>
          <p:nvPr/>
        </p:nvSpPr>
        <p:spPr>
          <a:xfrm>
            <a:off x="5897394" y="2988628"/>
            <a:ext cx="22223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Probabilistic / </a:t>
            </a:r>
            <a:r>
              <a:rPr lang="en-US" b="1"/>
              <a:t>R</a:t>
            </a:r>
            <a:r>
              <a:rPr lang="en-US"/>
              <a:t>andom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false positive </a:t>
            </a:r>
            <a:r>
              <a:rPr lang="en-US"/>
              <a:t>only</a:t>
            </a:r>
          </a:p>
        </p:txBody>
      </p:sp>
      <p:sp>
        <p:nvSpPr>
          <p:cNvPr id="75" name="Hộp Văn bản 74">
            <a:extLst>
              <a:ext uri="{FF2B5EF4-FFF2-40B4-BE49-F238E27FC236}">
                <a16:creationId xmlns:a16="http://schemas.microsoft.com/office/drawing/2014/main" id="{9A135786-D991-4979-B009-960D493A947B}"/>
              </a:ext>
            </a:extLst>
          </p:cNvPr>
          <p:cNvSpPr txBox="1"/>
          <p:nvPr/>
        </p:nvSpPr>
        <p:spPr>
          <a:xfrm>
            <a:off x="2908130" y="5053511"/>
            <a:ext cx="3341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</a:t>
            </a:r>
            <a:r>
              <a:rPr lang="en-US"/>
              <a:t>robabilistic / Random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Z</a:t>
            </a:r>
            <a:r>
              <a:rPr lang="en-US"/>
              <a:t>ero error, allow ? result</a:t>
            </a:r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B4857F7C-0AB3-446F-B314-0D3B48F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12</a:t>
            </a:fld>
            <a:endParaRPr lang="en-US"/>
          </a:p>
        </p:txBody>
      </p:sp>
      <p:sp>
        <p:nvSpPr>
          <p:cNvPr id="4" name="Hộp Văn bản 57">
            <a:extLst>
              <a:ext uri="{FF2B5EF4-FFF2-40B4-BE49-F238E27FC236}">
                <a16:creationId xmlns:a16="http://schemas.microsoft.com/office/drawing/2014/main" id="{61018FFB-D409-7B1E-866B-2A4649ABF0A6}"/>
              </a:ext>
            </a:extLst>
          </p:cNvPr>
          <p:cNvSpPr txBox="1"/>
          <p:nvPr/>
        </p:nvSpPr>
        <p:spPr>
          <a:xfrm>
            <a:off x="9254819" y="138089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5" name="Hộp Văn bản 58">
            <a:extLst>
              <a:ext uri="{FF2B5EF4-FFF2-40B4-BE49-F238E27FC236}">
                <a16:creationId xmlns:a16="http://schemas.microsoft.com/office/drawing/2014/main" id="{1BE7FA0D-1939-0A32-835F-605DC9E773DD}"/>
              </a:ext>
            </a:extLst>
          </p:cNvPr>
          <p:cNvSpPr txBox="1"/>
          <p:nvPr/>
        </p:nvSpPr>
        <p:spPr>
          <a:xfrm>
            <a:off x="7278895" y="2461759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14" name="Hộp Văn bản 59">
            <a:extLst>
              <a:ext uri="{FF2B5EF4-FFF2-40B4-BE49-F238E27FC236}">
                <a16:creationId xmlns:a16="http://schemas.microsoft.com/office/drawing/2014/main" id="{FBC355E1-B7D2-2D78-628E-18AC8286B3CD}"/>
              </a:ext>
            </a:extLst>
          </p:cNvPr>
          <p:cNvSpPr txBox="1"/>
          <p:nvPr/>
        </p:nvSpPr>
        <p:spPr>
          <a:xfrm>
            <a:off x="11159234" y="2461759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15" name="Hộp Văn bản 60">
            <a:extLst>
              <a:ext uri="{FF2B5EF4-FFF2-40B4-BE49-F238E27FC236}">
                <a16:creationId xmlns:a16="http://schemas.microsoft.com/office/drawing/2014/main" id="{B4A0A31F-35FE-6AF6-BF14-D0E063FA4370}"/>
              </a:ext>
            </a:extLst>
          </p:cNvPr>
          <p:cNvSpPr txBox="1"/>
          <p:nvPr/>
        </p:nvSpPr>
        <p:spPr>
          <a:xfrm>
            <a:off x="9271818" y="527029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</a:p>
        </p:txBody>
      </p:sp>
      <p:cxnSp>
        <p:nvCxnSpPr>
          <p:cNvPr id="16" name="Đường nối Thẳng 61">
            <a:extLst>
              <a:ext uri="{FF2B5EF4-FFF2-40B4-BE49-F238E27FC236}">
                <a16:creationId xmlns:a16="http://schemas.microsoft.com/office/drawing/2014/main" id="{875EF112-96B4-241D-F26C-D03101D8423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92366" y="1750223"/>
            <a:ext cx="1975924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Đường nối Thẳng 62">
            <a:extLst>
              <a:ext uri="{FF2B5EF4-FFF2-40B4-BE49-F238E27FC236}">
                <a16:creationId xmlns:a16="http://schemas.microsoft.com/office/drawing/2014/main" id="{43292B1F-9740-0419-D07C-6E9A9666E00C}"/>
              </a:ext>
            </a:extLst>
          </p:cNvPr>
          <p:cNvCxnSpPr>
            <a:cxnSpLocks/>
            <a:stCxn id="14" idx="0"/>
            <a:endCxn id="4" idx="2"/>
          </p:cNvCxnSpPr>
          <p:nvPr/>
        </p:nvCxnSpPr>
        <p:spPr>
          <a:xfrm flipH="1" flipV="1">
            <a:off x="9768290" y="1750223"/>
            <a:ext cx="1904415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nối Thẳng 63">
            <a:extLst>
              <a:ext uri="{FF2B5EF4-FFF2-40B4-BE49-F238E27FC236}">
                <a16:creationId xmlns:a16="http://schemas.microsoft.com/office/drawing/2014/main" id="{335C0447-92CB-2FFC-CCBD-63504FC54DE8}"/>
              </a:ext>
            </a:extLst>
          </p:cNvPr>
          <p:cNvCxnSpPr>
            <a:cxnSpLocks/>
            <a:stCxn id="15" idx="0"/>
            <a:endCxn id="5" idx="2"/>
          </p:cNvCxnSpPr>
          <p:nvPr/>
        </p:nvCxnSpPr>
        <p:spPr>
          <a:xfrm flipH="1" flipV="1">
            <a:off x="7792366" y="2831091"/>
            <a:ext cx="1992923" cy="24392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64">
            <a:extLst>
              <a:ext uri="{FF2B5EF4-FFF2-40B4-BE49-F238E27FC236}">
                <a16:creationId xmlns:a16="http://schemas.microsoft.com/office/drawing/2014/main" id="{F5D4EF26-F464-EAF6-0371-487A78542974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V="1">
            <a:off x="9785289" y="2831091"/>
            <a:ext cx="1887416" cy="24392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Hộp Văn bản 75">
            <a:extLst>
              <a:ext uri="{FF2B5EF4-FFF2-40B4-BE49-F238E27FC236}">
                <a16:creationId xmlns:a16="http://schemas.microsoft.com/office/drawing/2014/main" id="{3CFF2BC4-DB21-9767-BCDB-D8E9F52523DD}"/>
              </a:ext>
            </a:extLst>
          </p:cNvPr>
          <p:cNvSpPr txBox="1"/>
          <p:nvPr/>
        </p:nvSpPr>
        <p:spPr>
          <a:xfrm>
            <a:off x="9254818" y="2461759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cxnSp>
        <p:nvCxnSpPr>
          <p:cNvPr id="21" name="Đường nối Thẳng 76">
            <a:extLst>
              <a:ext uri="{FF2B5EF4-FFF2-40B4-BE49-F238E27FC236}">
                <a16:creationId xmlns:a16="http://schemas.microsoft.com/office/drawing/2014/main" id="{1855781B-C14D-9F61-AAE3-C820B92F39EC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flipH="1">
            <a:off x="9768289" y="1750223"/>
            <a:ext cx="1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Hộp Văn bản 85">
            <a:extLst>
              <a:ext uri="{FF2B5EF4-FFF2-40B4-BE49-F238E27FC236}">
                <a16:creationId xmlns:a16="http://schemas.microsoft.com/office/drawing/2014/main" id="{06262612-AE6A-EF77-1EAA-4CD925E55858}"/>
              </a:ext>
            </a:extLst>
          </p:cNvPr>
          <p:cNvSpPr txBox="1"/>
          <p:nvPr/>
        </p:nvSpPr>
        <p:spPr>
          <a:xfrm>
            <a:off x="8499757" y="311650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23" name="Hộp Văn bản 87">
            <a:extLst>
              <a:ext uri="{FF2B5EF4-FFF2-40B4-BE49-F238E27FC236}">
                <a16:creationId xmlns:a16="http://schemas.microsoft.com/office/drawing/2014/main" id="{A8F45C2A-6B27-8BC8-79DC-965426CA7B18}"/>
              </a:ext>
            </a:extLst>
          </p:cNvPr>
          <p:cNvSpPr txBox="1"/>
          <p:nvPr/>
        </p:nvSpPr>
        <p:spPr>
          <a:xfrm>
            <a:off x="9957131" y="311650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p:sp>
        <p:nvSpPr>
          <p:cNvPr id="24" name="Hộp Văn bản 89">
            <a:extLst>
              <a:ext uri="{FF2B5EF4-FFF2-40B4-BE49-F238E27FC236}">
                <a16:creationId xmlns:a16="http://schemas.microsoft.com/office/drawing/2014/main" id="{6E417483-B1B3-7350-7EB8-46DA390C3C73}"/>
              </a:ext>
            </a:extLst>
          </p:cNvPr>
          <p:cNvSpPr txBox="1"/>
          <p:nvPr/>
        </p:nvSpPr>
        <p:spPr>
          <a:xfrm>
            <a:off x="9271818" y="4029454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ZPP</a:t>
            </a:r>
          </a:p>
        </p:txBody>
      </p:sp>
      <p:cxnSp>
        <p:nvCxnSpPr>
          <p:cNvPr id="25" name="Đường nối Thẳng 91">
            <a:extLst>
              <a:ext uri="{FF2B5EF4-FFF2-40B4-BE49-F238E27FC236}">
                <a16:creationId xmlns:a16="http://schemas.microsoft.com/office/drawing/2014/main" id="{C13761D8-6C99-ED61-1809-B0D88B987535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flipH="1">
            <a:off x="9013228" y="2831091"/>
            <a:ext cx="755061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Đường nối Thẳng 94">
            <a:extLst>
              <a:ext uri="{FF2B5EF4-FFF2-40B4-BE49-F238E27FC236}">
                <a16:creationId xmlns:a16="http://schemas.microsoft.com/office/drawing/2014/main" id="{0866C329-881A-99BC-0EB7-8881578EFD89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9768289" y="2831091"/>
            <a:ext cx="702313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nối Thẳng 97">
            <a:extLst>
              <a:ext uri="{FF2B5EF4-FFF2-40B4-BE49-F238E27FC236}">
                <a16:creationId xmlns:a16="http://schemas.microsoft.com/office/drawing/2014/main" id="{81669B04-3894-5B5C-64E5-9761EA375459}"/>
              </a:ext>
            </a:extLst>
          </p:cNvPr>
          <p:cNvCxnSpPr>
            <a:cxnSpLocks/>
            <a:stCxn id="24" idx="0"/>
            <a:endCxn id="23" idx="2"/>
          </p:cNvCxnSpPr>
          <p:nvPr/>
        </p:nvCxnSpPr>
        <p:spPr>
          <a:xfrm flipV="1">
            <a:off x="9785289" y="3485835"/>
            <a:ext cx="685313" cy="543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nối Thẳng 100">
            <a:extLst>
              <a:ext uri="{FF2B5EF4-FFF2-40B4-BE49-F238E27FC236}">
                <a16:creationId xmlns:a16="http://schemas.microsoft.com/office/drawing/2014/main" id="{467E4E2D-C457-0012-72BB-046D2F197E02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9013228" y="3485835"/>
            <a:ext cx="772061" cy="543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Đường nối Thẳng 103">
            <a:extLst>
              <a:ext uri="{FF2B5EF4-FFF2-40B4-BE49-F238E27FC236}">
                <a16:creationId xmlns:a16="http://schemas.microsoft.com/office/drawing/2014/main" id="{8E927B9F-5675-405D-8066-01520EB83802}"/>
              </a:ext>
            </a:extLst>
          </p:cNvPr>
          <p:cNvCxnSpPr>
            <a:cxnSpLocks/>
            <a:stCxn id="24" idx="2"/>
            <a:endCxn id="15" idx="0"/>
          </p:cNvCxnSpPr>
          <p:nvPr/>
        </p:nvCxnSpPr>
        <p:spPr>
          <a:xfrm>
            <a:off x="9785289" y="4398786"/>
            <a:ext cx="0" cy="8715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nối Thẳng 106">
            <a:extLst>
              <a:ext uri="{FF2B5EF4-FFF2-40B4-BE49-F238E27FC236}">
                <a16:creationId xmlns:a16="http://schemas.microsoft.com/office/drawing/2014/main" id="{151E9DBE-DF9A-56B2-A5DA-9536EBFD0F59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>
            <a:off x="7792366" y="2831091"/>
            <a:ext cx="1220862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nối Thẳng 109">
            <a:extLst>
              <a:ext uri="{FF2B5EF4-FFF2-40B4-BE49-F238E27FC236}">
                <a16:creationId xmlns:a16="http://schemas.microsoft.com/office/drawing/2014/main" id="{48BA437F-B454-C55C-2CB0-740368173E50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flipH="1">
            <a:off x="10470602" y="2831091"/>
            <a:ext cx="1202103" cy="2854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59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Quantum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20D0CDB7-408E-4087-97A3-9FD1143A2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B697F9B-229F-4F77-8417-6960F27DA648}"/>
                  </a:ext>
                </a:extLst>
              </p:cNvPr>
              <p:cNvSpPr txBox="1"/>
              <p:nvPr/>
            </p:nvSpPr>
            <p:spPr>
              <a:xfrm>
                <a:off x="838200" y="2474893"/>
                <a:ext cx="6096000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2800"/>
                  <a:t>𝑄𝑇𝑀 = {𝑄, 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el-GR" sz="28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</m:oMath>
                </a14:m>
                <a:r>
                  <a:rPr lang="el-GR" sz="28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𝑟𝑒𝑗𝑒𝑐𝑡</m:t>
                        </m:r>
                      </m:sub>
                    </m:sSub>
                  </m:oMath>
                </a14:m>
                <a:r>
                  <a:rPr lang="el-GR" sz="2800"/>
                  <a:t>, 𝛿′}</a:t>
                </a:r>
                <a:endParaRPr lang="en-US" sz="2800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EB697F9B-229F-4F77-8417-6960F27DA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74893"/>
                <a:ext cx="6096000" cy="557910"/>
              </a:xfrm>
              <a:prstGeom prst="rect">
                <a:avLst/>
              </a:prstGeom>
              <a:blipFill>
                <a:blip r:embed="rId3"/>
                <a:stretch>
                  <a:fillRect l="-2100" t="-1304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2BA585BF-8BC1-485B-BD62-BC514802A0D8}"/>
              </a:ext>
            </a:extLst>
          </p:cNvPr>
          <p:cNvSpPr txBox="1"/>
          <p:nvPr/>
        </p:nvSpPr>
        <p:spPr>
          <a:xfrm>
            <a:off x="838200" y="324693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𝛿′: 𝑄 × 𝛴 × 𝑄 × 𝛴 × {𝐿, 𝑅} → ℂ</a:t>
            </a: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2AF9AEF5-84F2-4F5E-87BD-0441BF7DA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70156"/>
            <a:ext cx="7883181" cy="114108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2E371DA-E0CA-4F0F-BD5E-32BB4881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08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</a:t>
            </a:r>
            <a:endParaRPr lang="en-US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DFBE3D19-6A1C-48C5-AF34-97C9CB19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5456583" cy="2712993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16FF15A8-2064-430B-B40C-BE4FEC899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4673553"/>
            <a:ext cx="5305425" cy="1962150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64771D7D-CFE2-4F45-813C-F1D21020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62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78F44C9-F3A7-4881-9CAF-A147B540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7092590-C6FC-4AC2-B353-34CC98DD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7CBD-B9A5-4D53-9D65-FFCCF7EF1299}" type="slidenum">
              <a:rPr lang="vi-VN" smtClean="0"/>
              <a:t>15</a:t>
            </a:fld>
            <a:endParaRPr lang="vi-V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E7929C97-214B-41CC-96F5-1F51D01C2D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95" t="33149" r="12876" b="18888"/>
          <a:stretch/>
        </p:blipFill>
        <p:spPr>
          <a:xfrm>
            <a:off x="5963479" y="136525"/>
            <a:ext cx="6008756" cy="2350858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4D37776E-F5F9-41FF-82B9-7B749D3ECA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12" t="21449" r="10388" b="30048"/>
          <a:stretch/>
        </p:blipFill>
        <p:spPr>
          <a:xfrm>
            <a:off x="5963479" y="2487383"/>
            <a:ext cx="6008756" cy="2159824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04D6DB95-9B2A-4210-BB71-1CED7702EE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12" t="38841" r="9952" b="15752"/>
          <a:stretch/>
        </p:blipFill>
        <p:spPr>
          <a:xfrm>
            <a:off x="5963479" y="4647207"/>
            <a:ext cx="6032449" cy="2018421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55D743A1-7A7B-46D7-BCD9-822EFAB6B585}"/>
              </a:ext>
            </a:extLst>
          </p:cNvPr>
          <p:cNvSpPr txBox="1"/>
          <p:nvPr/>
        </p:nvSpPr>
        <p:spPr>
          <a:xfrm>
            <a:off x="838200" y="1827425"/>
            <a:ext cx="4214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>
                <a:latin typeface="Calibri (Thân)"/>
              </a:rPr>
              <a:t>𝑬𝑸𝑷 ⊆ 𝒁𝑸𝑷 ⊆ 𝑩𝑸𝑷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E0E2C50-2275-45DC-BAAA-78F45A84C5C0}"/>
              </a:ext>
            </a:extLst>
          </p:cNvPr>
          <p:cNvSpPr txBox="1"/>
          <p:nvPr/>
        </p:nvSpPr>
        <p:spPr>
          <a:xfrm>
            <a:off x="4450953" y="5259236"/>
            <a:ext cx="1762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Deutsch-Jozsa,</a:t>
            </a:r>
          </a:p>
          <a:p>
            <a:r>
              <a:rPr lang="en-US"/>
              <a:t>Require only 1 query</a:t>
            </a:r>
            <a:endParaRPr lang="vi-VN"/>
          </a:p>
        </p:txBody>
      </p:sp>
      <p:sp>
        <p:nvSpPr>
          <p:cNvPr id="5" name="Hộp Văn bản 2">
            <a:extLst>
              <a:ext uri="{FF2B5EF4-FFF2-40B4-BE49-F238E27FC236}">
                <a16:creationId xmlns:a16="http://schemas.microsoft.com/office/drawing/2014/main" id="{19A29E29-5C8D-352F-CDD9-89F78ED1C0CD}"/>
              </a:ext>
            </a:extLst>
          </p:cNvPr>
          <p:cNvSpPr txBox="1"/>
          <p:nvPr/>
        </p:nvSpPr>
        <p:spPr>
          <a:xfrm>
            <a:off x="4450952" y="904095"/>
            <a:ext cx="1762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Simon, Grover</a:t>
            </a:r>
            <a:endParaRPr lang="vi-VN"/>
          </a:p>
        </p:txBody>
      </p:sp>
      <p:sp>
        <p:nvSpPr>
          <p:cNvPr id="7" name="Hộp Văn bản 2">
            <a:extLst>
              <a:ext uri="{FF2B5EF4-FFF2-40B4-BE49-F238E27FC236}">
                <a16:creationId xmlns:a16="http://schemas.microsoft.com/office/drawing/2014/main" id="{5D1A2BBF-B1B7-7796-342E-BDA93F5D5B43}"/>
              </a:ext>
            </a:extLst>
          </p:cNvPr>
          <p:cNvSpPr txBox="1"/>
          <p:nvPr/>
        </p:nvSpPr>
        <p:spPr>
          <a:xfrm>
            <a:off x="4450951" y="3105630"/>
            <a:ext cx="1762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Same as ZPP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7717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1612F00-E5D1-41F8-B014-EE0C414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</a:t>
            </a:r>
          </a:p>
        </p:txBody>
      </p:sp>
      <p:sp>
        <p:nvSpPr>
          <p:cNvPr id="32" name="Hộp Văn bản 57">
            <a:extLst>
              <a:ext uri="{FF2B5EF4-FFF2-40B4-BE49-F238E27FC236}">
                <a16:creationId xmlns:a16="http://schemas.microsoft.com/office/drawing/2014/main" id="{232CADA4-D0F0-422E-8F50-7D00CE5AB7F1}"/>
              </a:ext>
            </a:extLst>
          </p:cNvPr>
          <p:cNvSpPr txBox="1"/>
          <p:nvPr/>
        </p:nvSpPr>
        <p:spPr>
          <a:xfrm>
            <a:off x="7882621" y="576775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PSPACE</a:t>
            </a:r>
          </a:p>
        </p:txBody>
      </p:sp>
      <p:sp>
        <p:nvSpPr>
          <p:cNvPr id="33" name="Hộp Văn bản 58">
            <a:extLst>
              <a:ext uri="{FF2B5EF4-FFF2-40B4-BE49-F238E27FC236}">
                <a16:creationId xmlns:a16="http://schemas.microsoft.com/office/drawing/2014/main" id="{2F534D8C-F0A5-47F6-AB4C-A177BEA34A5D}"/>
              </a:ext>
            </a:extLst>
          </p:cNvPr>
          <p:cNvSpPr txBox="1"/>
          <p:nvPr/>
        </p:nvSpPr>
        <p:spPr>
          <a:xfrm>
            <a:off x="5288331" y="165764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NP</a:t>
            </a:r>
          </a:p>
        </p:txBody>
      </p:sp>
      <p:sp>
        <p:nvSpPr>
          <p:cNvPr id="34" name="Hộp Văn bản 59">
            <a:extLst>
              <a:ext uri="{FF2B5EF4-FFF2-40B4-BE49-F238E27FC236}">
                <a16:creationId xmlns:a16="http://schemas.microsoft.com/office/drawing/2014/main" id="{59B35F93-CA0F-4281-8D97-95ECB68847E2}"/>
              </a:ext>
            </a:extLst>
          </p:cNvPr>
          <p:cNvSpPr txBox="1"/>
          <p:nvPr/>
        </p:nvSpPr>
        <p:spPr>
          <a:xfrm>
            <a:off x="10324218" y="165764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coNP</a:t>
            </a:r>
          </a:p>
        </p:txBody>
      </p:sp>
      <p:sp>
        <p:nvSpPr>
          <p:cNvPr id="35" name="Hộp Văn bản 60">
            <a:extLst>
              <a:ext uri="{FF2B5EF4-FFF2-40B4-BE49-F238E27FC236}">
                <a16:creationId xmlns:a16="http://schemas.microsoft.com/office/drawing/2014/main" id="{3D880954-0A29-42D2-82AB-9710B92A226F}"/>
              </a:ext>
            </a:extLst>
          </p:cNvPr>
          <p:cNvSpPr txBox="1"/>
          <p:nvPr/>
        </p:nvSpPr>
        <p:spPr>
          <a:xfrm>
            <a:off x="7882619" y="6258468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</a:p>
        </p:txBody>
      </p:sp>
      <p:cxnSp>
        <p:nvCxnSpPr>
          <p:cNvPr id="36" name="Đường nối Thẳng 61">
            <a:extLst>
              <a:ext uri="{FF2B5EF4-FFF2-40B4-BE49-F238E27FC236}">
                <a16:creationId xmlns:a16="http://schemas.microsoft.com/office/drawing/2014/main" id="{AD2D291B-4367-42D3-815B-61484D0EED01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flipH="1">
            <a:off x="5801802" y="946107"/>
            <a:ext cx="2594290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nối Thẳng 62">
            <a:extLst>
              <a:ext uri="{FF2B5EF4-FFF2-40B4-BE49-F238E27FC236}">
                <a16:creationId xmlns:a16="http://schemas.microsoft.com/office/drawing/2014/main" id="{FFEF63AC-19D5-4683-BB61-38F42DC9DF66}"/>
              </a:ext>
            </a:extLst>
          </p:cNvPr>
          <p:cNvCxnSpPr>
            <a:cxnSpLocks/>
            <a:stCxn id="34" idx="0"/>
            <a:endCxn id="32" idx="2"/>
          </p:cNvCxnSpPr>
          <p:nvPr/>
        </p:nvCxnSpPr>
        <p:spPr>
          <a:xfrm flipH="1" flipV="1">
            <a:off x="8396092" y="946107"/>
            <a:ext cx="2441597" cy="7115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nối Thẳng 63">
            <a:extLst>
              <a:ext uri="{FF2B5EF4-FFF2-40B4-BE49-F238E27FC236}">
                <a16:creationId xmlns:a16="http://schemas.microsoft.com/office/drawing/2014/main" id="{F51F30A2-2B2C-4281-ADF1-BC7539311D02}"/>
              </a:ext>
            </a:extLst>
          </p:cNvPr>
          <p:cNvCxnSpPr>
            <a:cxnSpLocks/>
            <a:stCxn id="35" idx="0"/>
            <a:endCxn id="33" idx="2"/>
          </p:cNvCxnSpPr>
          <p:nvPr/>
        </p:nvCxnSpPr>
        <p:spPr>
          <a:xfrm flipH="1" flipV="1">
            <a:off x="5801802" y="2026975"/>
            <a:ext cx="2594288" cy="42314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nối Thẳng 64">
            <a:extLst>
              <a:ext uri="{FF2B5EF4-FFF2-40B4-BE49-F238E27FC236}">
                <a16:creationId xmlns:a16="http://schemas.microsoft.com/office/drawing/2014/main" id="{22927535-D4ED-4FDC-9426-5A26BBD13A2B}"/>
              </a:ext>
            </a:extLst>
          </p:cNvPr>
          <p:cNvCxnSpPr>
            <a:cxnSpLocks/>
            <a:stCxn id="35" idx="0"/>
            <a:endCxn id="34" idx="2"/>
          </p:cNvCxnSpPr>
          <p:nvPr/>
        </p:nvCxnSpPr>
        <p:spPr>
          <a:xfrm flipV="1">
            <a:off x="8396090" y="2026975"/>
            <a:ext cx="2441599" cy="423149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Hộp Văn bản 75">
            <a:extLst>
              <a:ext uri="{FF2B5EF4-FFF2-40B4-BE49-F238E27FC236}">
                <a16:creationId xmlns:a16="http://schemas.microsoft.com/office/drawing/2014/main" id="{0EC4E1DE-35B6-4D07-AE59-EECAECE162A5}"/>
              </a:ext>
            </a:extLst>
          </p:cNvPr>
          <p:cNvSpPr txBox="1"/>
          <p:nvPr/>
        </p:nvSpPr>
        <p:spPr>
          <a:xfrm>
            <a:off x="6756524" y="232006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BPP</a:t>
            </a:r>
          </a:p>
        </p:txBody>
      </p:sp>
      <p:cxnSp>
        <p:nvCxnSpPr>
          <p:cNvPr id="41" name="Đường nối Thẳng 76">
            <a:extLst>
              <a:ext uri="{FF2B5EF4-FFF2-40B4-BE49-F238E27FC236}">
                <a16:creationId xmlns:a16="http://schemas.microsoft.com/office/drawing/2014/main" id="{55570F54-C16E-4F11-8004-84313CB07331}"/>
              </a:ext>
            </a:extLst>
          </p:cNvPr>
          <p:cNvCxnSpPr>
            <a:cxnSpLocks/>
            <a:stCxn id="52" idx="2"/>
            <a:endCxn id="40" idx="0"/>
          </p:cNvCxnSpPr>
          <p:nvPr/>
        </p:nvCxnSpPr>
        <p:spPr>
          <a:xfrm flipH="1">
            <a:off x="7269995" y="1764735"/>
            <a:ext cx="1118612" cy="55532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Hộp Văn bản 85">
            <a:extLst>
              <a:ext uri="{FF2B5EF4-FFF2-40B4-BE49-F238E27FC236}">
                <a16:creationId xmlns:a16="http://schemas.microsoft.com/office/drawing/2014/main" id="{F882B1EA-FB5B-41BA-9564-753D00F834E0}"/>
              </a:ext>
            </a:extLst>
          </p:cNvPr>
          <p:cNvSpPr txBox="1"/>
          <p:nvPr/>
        </p:nvSpPr>
        <p:spPr>
          <a:xfrm>
            <a:off x="7013259" y="3958056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RP</a:t>
            </a:r>
          </a:p>
        </p:txBody>
      </p:sp>
      <p:sp>
        <p:nvSpPr>
          <p:cNvPr id="43" name="Hộp Văn bản 87">
            <a:extLst>
              <a:ext uri="{FF2B5EF4-FFF2-40B4-BE49-F238E27FC236}">
                <a16:creationId xmlns:a16="http://schemas.microsoft.com/office/drawing/2014/main" id="{0CF5A416-DADE-49E0-B566-778237358E20}"/>
              </a:ext>
            </a:extLst>
          </p:cNvPr>
          <p:cNvSpPr txBox="1"/>
          <p:nvPr/>
        </p:nvSpPr>
        <p:spPr>
          <a:xfrm>
            <a:off x="7899620" y="4022497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coRP</a:t>
            </a:r>
          </a:p>
        </p:txBody>
      </p:sp>
      <p:sp>
        <p:nvSpPr>
          <p:cNvPr id="44" name="Hộp Văn bản 89">
            <a:extLst>
              <a:ext uri="{FF2B5EF4-FFF2-40B4-BE49-F238E27FC236}">
                <a16:creationId xmlns:a16="http://schemas.microsoft.com/office/drawing/2014/main" id="{DFB0F095-AD77-485F-8008-1CA647D76310}"/>
              </a:ext>
            </a:extLst>
          </p:cNvPr>
          <p:cNvSpPr txBox="1"/>
          <p:nvPr/>
        </p:nvSpPr>
        <p:spPr>
          <a:xfrm>
            <a:off x="7899620" y="4851830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ZPP</a:t>
            </a:r>
          </a:p>
        </p:txBody>
      </p:sp>
      <p:cxnSp>
        <p:nvCxnSpPr>
          <p:cNvPr id="45" name="Đường nối Thẳng 91">
            <a:extLst>
              <a:ext uri="{FF2B5EF4-FFF2-40B4-BE49-F238E27FC236}">
                <a16:creationId xmlns:a16="http://schemas.microsoft.com/office/drawing/2014/main" id="{D8E2A341-4780-441B-B64D-D82F2C049E89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7269995" y="2689393"/>
            <a:ext cx="256735" cy="12686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Đường nối Thẳng 94">
            <a:extLst>
              <a:ext uri="{FF2B5EF4-FFF2-40B4-BE49-F238E27FC236}">
                <a16:creationId xmlns:a16="http://schemas.microsoft.com/office/drawing/2014/main" id="{76A604EC-3B48-491F-8AAD-6C8E00C55A61}"/>
              </a:ext>
            </a:extLst>
          </p:cNvPr>
          <p:cNvCxnSpPr>
            <a:cxnSpLocks/>
            <a:stCxn id="40" idx="2"/>
            <a:endCxn id="43" idx="0"/>
          </p:cNvCxnSpPr>
          <p:nvPr/>
        </p:nvCxnSpPr>
        <p:spPr>
          <a:xfrm>
            <a:off x="7269995" y="2689393"/>
            <a:ext cx="1143096" cy="13331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Đường nối Thẳng 97">
            <a:extLst>
              <a:ext uri="{FF2B5EF4-FFF2-40B4-BE49-F238E27FC236}">
                <a16:creationId xmlns:a16="http://schemas.microsoft.com/office/drawing/2014/main" id="{0627547A-EF77-48E9-B764-4BA1311AE2A2}"/>
              </a:ext>
            </a:extLst>
          </p:cNvPr>
          <p:cNvCxnSpPr>
            <a:cxnSpLocks/>
            <a:stCxn id="44" idx="0"/>
            <a:endCxn id="43" idx="2"/>
          </p:cNvCxnSpPr>
          <p:nvPr/>
        </p:nvCxnSpPr>
        <p:spPr>
          <a:xfrm flipV="1">
            <a:off x="8413091" y="4391829"/>
            <a:ext cx="0" cy="4600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nối Thẳng 100">
            <a:extLst>
              <a:ext uri="{FF2B5EF4-FFF2-40B4-BE49-F238E27FC236}">
                <a16:creationId xmlns:a16="http://schemas.microsoft.com/office/drawing/2014/main" id="{F5104D3D-A610-40DB-BC30-5EB991548EEC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7526730" y="4327388"/>
            <a:ext cx="886361" cy="524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Đường nối Thẳng 103">
            <a:extLst>
              <a:ext uri="{FF2B5EF4-FFF2-40B4-BE49-F238E27FC236}">
                <a16:creationId xmlns:a16="http://schemas.microsoft.com/office/drawing/2014/main" id="{5DBA1211-0D45-4683-830C-B98D6886FDE8}"/>
              </a:ext>
            </a:extLst>
          </p:cNvPr>
          <p:cNvCxnSpPr>
            <a:cxnSpLocks/>
            <a:stCxn id="44" idx="2"/>
            <a:endCxn id="35" idx="0"/>
          </p:cNvCxnSpPr>
          <p:nvPr/>
        </p:nvCxnSpPr>
        <p:spPr>
          <a:xfrm flipH="1">
            <a:off x="8396090" y="5221162"/>
            <a:ext cx="17001" cy="10373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Đường nối Thẳng 106">
            <a:extLst>
              <a:ext uri="{FF2B5EF4-FFF2-40B4-BE49-F238E27FC236}">
                <a16:creationId xmlns:a16="http://schemas.microsoft.com/office/drawing/2014/main" id="{70F0B276-13C8-4B04-9D19-2A4381BFFAF9}"/>
              </a:ext>
            </a:extLst>
          </p:cNvPr>
          <p:cNvCxnSpPr>
            <a:cxnSpLocks/>
            <a:stCxn id="33" idx="2"/>
            <a:endCxn id="42" idx="0"/>
          </p:cNvCxnSpPr>
          <p:nvPr/>
        </p:nvCxnSpPr>
        <p:spPr>
          <a:xfrm>
            <a:off x="5801802" y="2026975"/>
            <a:ext cx="1724928" cy="19310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Đường nối Thẳng 109">
            <a:extLst>
              <a:ext uri="{FF2B5EF4-FFF2-40B4-BE49-F238E27FC236}">
                <a16:creationId xmlns:a16="http://schemas.microsoft.com/office/drawing/2014/main" id="{0A917821-E4F5-4FC3-BE7A-7A4B082EFAFC}"/>
              </a:ext>
            </a:extLst>
          </p:cNvPr>
          <p:cNvCxnSpPr>
            <a:cxnSpLocks/>
            <a:stCxn id="34" idx="2"/>
            <a:endCxn id="43" idx="0"/>
          </p:cNvCxnSpPr>
          <p:nvPr/>
        </p:nvCxnSpPr>
        <p:spPr>
          <a:xfrm flipH="1">
            <a:off x="8413091" y="2026975"/>
            <a:ext cx="2424598" cy="199552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Hộp Văn bản 34">
            <a:extLst>
              <a:ext uri="{FF2B5EF4-FFF2-40B4-BE49-F238E27FC236}">
                <a16:creationId xmlns:a16="http://schemas.microsoft.com/office/drawing/2014/main" id="{CB53AB43-8C26-4AAF-9CC5-003868497CD5}"/>
              </a:ext>
            </a:extLst>
          </p:cNvPr>
          <p:cNvSpPr txBox="1"/>
          <p:nvPr/>
        </p:nvSpPr>
        <p:spPr>
          <a:xfrm>
            <a:off x="7875136" y="1395403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BQP</a:t>
            </a:r>
          </a:p>
        </p:txBody>
      </p:sp>
      <p:cxnSp>
        <p:nvCxnSpPr>
          <p:cNvPr id="53" name="Đường nối Thẳng 66">
            <a:extLst>
              <a:ext uri="{FF2B5EF4-FFF2-40B4-BE49-F238E27FC236}">
                <a16:creationId xmlns:a16="http://schemas.microsoft.com/office/drawing/2014/main" id="{C337DE81-D9CF-43BF-AA07-98CD4532527B}"/>
              </a:ext>
            </a:extLst>
          </p:cNvPr>
          <p:cNvCxnSpPr>
            <a:cxnSpLocks/>
            <a:stCxn id="52" idx="0"/>
            <a:endCxn id="32" idx="2"/>
          </p:cNvCxnSpPr>
          <p:nvPr/>
        </p:nvCxnSpPr>
        <p:spPr>
          <a:xfrm flipV="1">
            <a:off x="8388607" y="946107"/>
            <a:ext cx="7485" cy="44929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Hộp Văn bản 47">
            <a:extLst>
              <a:ext uri="{FF2B5EF4-FFF2-40B4-BE49-F238E27FC236}">
                <a16:creationId xmlns:a16="http://schemas.microsoft.com/office/drawing/2014/main" id="{780348F1-4920-498A-83BA-A5DFDC975EF5}"/>
              </a:ext>
            </a:extLst>
          </p:cNvPr>
          <p:cNvSpPr txBox="1"/>
          <p:nvPr/>
        </p:nvSpPr>
        <p:spPr>
          <a:xfrm>
            <a:off x="8773436" y="2312386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ZQP</a:t>
            </a:r>
          </a:p>
        </p:txBody>
      </p:sp>
      <p:sp>
        <p:nvSpPr>
          <p:cNvPr id="55" name="Hộp Văn bản 48">
            <a:extLst>
              <a:ext uri="{FF2B5EF4-FFF2-40B4-BE49-F238E27FC236}">
                <a16:creationId xmlns:a16="http://schemas.microsoft.com/office/drawing/2014/main" id="{C376342D-A64D-4C29-B9C7-8B4F5B86D39F}"/>
              </a:ext>
            </a:extLst>
          </p:cNvPr>
          <p:cNvSpPr txBox="1"/>
          <p:nvPr/>
        </p:nvSpPr>
        <p:spPr>
          <a:xfrm>
            <a:off x="8773704" y="3611621"/>
            <a:ext cx="1026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EQP</a:t>
            </a:r>
          </a:p>
        </p:txBody>
      </p:sp>
      <p:cxnSp>
        <p:nvCxnSpPr>
          <p:cNvPr id="56" name="Đường nối Thẳng 73">
            <a:extLst>
              <a:ext uri="{FF2B5EF4-FFF2-40B4-BE49-F238E27FC236}">
                <a16:creationId xmlns:a16="http://schemas.microsoft.com/office/drawing/2014/main" id="{83733A3A-ABCE-4B45-B819-0C7FF88841C3}"/>
              </a:ext>
            </a:extLst>
          </p:cNvPr>
          <p:cNvCxnSpPr>
            <a:cxnSpLocks/>
            <a:stCxn id="52" idx="2"/>
            <a:endCxn id="54" idx="0"/>
          </p:cNvCxnSpPr>
          <p:nvPr/>
        </p:nvCxnSpPr>
        <p:spPr>
          <a:xfrm>
            <a:off x="8388607" y="1764735"/>
            <a:ext cx="898300" cy="5476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Đường nối Thẳng 77">
            <a:extLst>
              <a:ext uri="{FF2B5EF4-FFF2-40B4-BE49-F238E27FC236}">
                <a16:creationId xmlns:a16="http://schemas.microsoft.com/office/drawing/2014/main" id="{017D9973-55BD-4EA6-826A-AF1F28E8035A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9286907" y="2681718"/>
            <a:ext cx="268" cy="9299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Đường nối Thẳng 80">
            <a:extLst>
              <a:ext uri="{FF2B5EF4-FFF2-40B4-BE49-F238E27FC236}">
                <a16:creationId xmlns:a16="http://schemas.microsoft.com/office/drawing/2014/main" id="{3B09B0E1-88A6-417F-9D1D-86C2654D62FF}"/>
              </a:ext>
            </a:extLst>
          </p:cNvPr>
          <p:cNvCxnSpPr>
            <a:cxnSpLocks/>
            <a:stCxn id="55" idx="2"/>
            <a:endCxn id="35" idx="0"/>
          </p:cNvCxnSpPr>
          <p:nvPr/>
        </p:nvCxnSpPr>
        <p:spPr>
          <a:xfrm flipH="1">
            <a:off x="8396090" y="3980953"/>
            <a:ext cx="891085" cy="22775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Hộp Văn bản 76">
            <a:extLst>
              <a:ext uri="{FF2B5EF4-FFF2-40B4-BE49-F238E27FC236}">
                <a16:creationId xmlns:a16="http://schemas.microsoft.com/office/drawing/2014/main" id="{0E912871-008A-4544-AC8A-46C00357851C}"/>
              </a:ext>
            </a:extLst>
          </p:cNvPr>
          <p:cNvSpPr txBox="1"/>
          <p:nvPr/>
        </p:nvSpPr>
        <p:spPr>
          <a:xfrm>
            <a:off x="833687" y="1918584"/>
            <a:ext cx="3720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B</a:t>
            </a:r>
            <a:r>
              <a:rPr lang="en-US"/>
              <a:t>ounded error (sai số bị chặn)</a:t>
            </a:r>
          </a:p>
        </p:txBody>
      </p:sp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B74130E4-08DE-459C-9A6B-BB6878E429B3}"/>
              </a:ext>
            </a:extLst>
          </p:cNvPr>
          <p:cNvCxnSpPr>
            <a:stCxn id="77" idx="3"/>
            <a:endCxn id="52" idx="1"/>
          </p:cNvCxnSpPr>
          <p:nvPr/>
        </p:nvCxnSpPr>
        <p:spPr>
          <a:xfrm flipV="1">
            <a:off x="4554235" y="1580069"/>
            <a:ext cx="3320901" cy="800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9BED436-FF0C-466B-B2C5-F95489EB6E20}"/>
              </a:ext>
            </a:extLst>
          </p:cNvPr>
          <p:cNvSpPr txBox="1"/>
          <p:nvPr/>
        </p:nvSpPr>
        <p:spPr>
          <a:xfrm>
            <a:off x="833687" y="3064492"/>
            <a:ext cx="372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time with </a:t>
            </a:r>
            <a:r>
              <a:rPr lang="en-US" b="1"/>
              <a:t>Z</a:t>
            </a:r>
            <a:r>
              <a:rPr lang="en-US"/>
              <a:t>ero error</a:t>
            </a:r>
          </a:p>
        </p:txBody>
      </p:sp>
      <p:cxnSp>
        <p:nvCxnSpPr>
          <p:cNvPr id="79" name="Đường kết nối Mũi tên Thẳng 78">
            <a:extLst>
              <a:ext uri="{FF2B5EF4-FFF2-40B4-BE49-F238E27FC236}">
                <a16:creationId xmlns:a16="http://schemas.microsoft.com/office/drawing/2014/main" id="{126E8A83-A87F-4EC8-BF69-7D3D5716BB38}"/>
              </a:ext>
            </a:extLst>
          </p:cNvPr>
          <p:cNvCxnSpPr>
            <a:cxnSpLocks/>
            <a:stCxn id="6" idx="3"/>
            <a:endCxn id="54" idx="1"/>
          </p:cNvCxnSpPr>
          <p:nvPr/>
        </p:nvCxnSpPr>
        <p:spPr>
          <a:xfrm flipV="1">
            <a:off x="4554235" y="2497052"/>
            <a:ext cx="4219201" cy="89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7051BF4-0975-4B1D-915A-5B9D9055FE59}"/>
              </a:ext>
            </a:extLst>
          </p:cNvPr>
          <p:cNvSpPr txBox="1"/>
          <p:nvPr/>
        </p:nvSpPr>
        <p:spPr>
          <a:xfrm>
            <a:off x="833687" y="4510298"/>
            <a:ext cx="372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Q</a:t>
            </a:r>
            <a:r>
              <a:rPr lang="en-US"/>
              <a:t>uantum Turing Machine in </a:t>
            </a:r>
            <a:r>
              <a:rPr lang="en-US" b="1"/>
              <a:t>P</a:t>
            </a:r>
            <a:r>
              <a:rPr lang="en-US"/>
              <a:t>olynomial </a:t>
            </a:r>
            <a:r>
              <a:rPr lang="en-US" b="1"/>
              <a:t>E</a:t>
            </a:r>
            <a:r>
              <a:rPr lang="en-US"/>
              <a:t>xactly time with no error</a:t>
            </a:r>
          </a:p>
        </p:txBody>
      </p:sp>
      <p:cxnSp>
        <p:nvCxnSpPr>
          <p:cNvPr id="81" name="Đường kết nối Mũi tên Thẳng 80">
            <a:extLst>
              <a:ext uri="{FF2B5EF4-FFF2-40B4-BE49-F238E27FC236}">
                <a16:creationId xmlns:a16="http://schemas.microsoft.com/office/drawing/2014/main" id="{D9C5A16C-35BB-4207-A642-39513EA8F076}"/>
              </a:ext>
            </a:extLst>
          </p:cNvPr>
          <p:cNvCxnSpPr>
            <a:cxnSpLocks/>
            <a:stCxn id="9" idx="3"/>
            <a:endCxn id="55" idx="1"/>
          </p:cNvCxnSpPr>
          <p:nvPr/>
        </p:nvCxnSpPr>
        <p:spPr>
          <a:xfrm flipV="1">
            <a:off x="4554235" y="3796287"/>
            <a:ext cx="4219469" cy="1037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DEF3551F-68C3-44FE-8E49-7FDF2441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BA0F-ED8F-4A6E-AA06-FEAFBF3D52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67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A826116F-C8D6-4CDA-9E22-AB03BD3F74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8" t="17364" r="36776" b="12905"/>
          <a:stretch/>
        </p:blipFill>
        <p:spPr>
          <a:xfrm>
            <a:off x="8377766" y="1186971"/>
            <a:ext cx="300016" cy="593883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Spatial search (discrete time)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 that we have a complete graph with 4 nodes.</a:t>
                </a:r>
              </a:p>
              <a:p>
                <a:pPr marL="0" indent="0">
                  <a:buNone/>
                </a:pPr>
                <a:r>
                  <a:rPr lang="en-US"/>
                  <a:t>One approach is using random walk.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that:</a:t>
                </a:r>
              </a:p>
              <a:p>
                <a:pPr marL="0" indent="0">
                  <a:buNone/>
                </a:pPr>
                <a:r>
                  <a:rPr lang="en-US"/>
                  <a:t>Walker must be in somewhere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  <a:blipFill>
                <a:blip r:embed="rId3"/>
                <a:stretch>
                  <a:fillRect l="-2618" t="-2326" b="-4534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9EF332C5-B0CC-4C53-97F2-248F2BFC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17</a:t>
            </a:fld>
            <a:endParaRPr lang="vi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6AF75C-7D94-3412-CBF5-740462C6F991}"/>
              </a:ext>
            </a:extLst>
          </p:cNvPr>
          <p:cNvSpPr txBox="1"/>
          <p:nvPr/>
        </p:nvSpPr>
        <p:spPr>
          <a:xfrm>
            <a:off x="838200" y="2749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/>
              <a:t>2. Grover algo</a:t>
            </a:r>
          </a:p>
        </p:txBody>
      </p:sp>
    </p:spTree>
    <p:extLst>
      <p:ext uri="{BB962C8B-B14F-4D97-AF65-F5344CB8AC3E}">
        <p14:creationId xmlns:p14="http://schemas.microsoft.com/office/powerpoint/2010/main" val="2392119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4218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Initial state: ¼ at all node</a:t>
                </a:r>
              </a:p>
              <a:p>
                <a:pPr marL="0" indent="0">
                  <a:buNone/>
                </a:pPr>
                <a:r>
                  <a:rPr lang="en-US"/>
                  <a:t>At step k: jump to other random nodes</a:t>
                </a:r>
              </a:p>
              <a:p>
                <a:pPr marL="0" indent="0">
                  <a:buNone/>
                </a:pPr>
                <a:r>
                  <a:rPr lang="en-US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=1/4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42181" cy="4351338"/>
              </a:xfrm>
              <a:blipFill>
                <a:blip r:embed="rId2"/>
                <a:stretch>
                  <a:fillRect l="-2793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48B9277-4A81-438F-876A-8241EAB48EBF}"/>
                  </a:ext>
                </a:extLst>
              </p:cNvPr>
              <p:cNvSpPr txBox="1"/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48B9277-4A81-438F-876A-8241EAB48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D0FB004E-BC38-4B2A-9532-E6D1E6856A13}"/>
                  </a:ext>
                </a:extLst>
              </p:cNvPr>
              <p:cNvSpPr txBox="1"/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D0FB004E-BC38-4B2A-9532-E6D1E6856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997F51D2-915E-45AF-9777-F9364E011F10}"/>
                  </a:ext>
                </a:extLst>
              </p:cNvPr>
              <p:cNvSpPr txBox="1"/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997F51D2-915E-45AF-9777-F9364E011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  <a:endCxn id="18" idx="1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157EA582-F420-4EB0-9125-C1FD5BEFEF2B}"/>
              </a:ext>
            </a:extLst>
          </p:cNvPr>
          <p:cNvSpPr txBox="1"/>
          <p:nvPr/>
        </p:nvSpPr>
        <p:spPr>
          <a:xfrm>
            <a:off x="10704444" y="1998139"/>
            <a:ext cx="139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Acts as absorb node</a:t>
            </a:r>
            <a:endParaRPr lang="vi-VN"/>
          </a:p>
        </p:txBody>
      </p:sp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709B8F26-83B1-4733-8E78-285521A4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5936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1: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F4F0A7A1-4C0C-4839-8A9B-1D16CE38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9047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1: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∗2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</m:t>
                      </m:r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1/2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ED3F1501-ABE8-4322-BF12-9800D125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0627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2: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9BF078AB-C9D4-4634-A717-03C585C2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4742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2: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∗2=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1EAD8B3-E959-40F7-9B9A-F0797BD9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8868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3: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ECCBF69C-1021-4359-A204-C93359E6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3049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When done step 3: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∗2=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∗3=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8CEF8962-AC60-4E08-AE83-E8FD385B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8630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F870A8-6CCC-49C9-90B7-A824D68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875B2ADD-B0C9-4A04-A0D5-6FF558640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33" t="40642" r="32035" b="8281"/>
          <a:stretch/>
        </p:blipFill>
        <p:spPr>
          <a:xfrm>
            <a:off x="838200" y="1690688"/>
            <a:ext cx="6244778" cy="318611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/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blipFill>
                <a:blip r:embed="rId3"/>
                <a:stretch>
                  <a:fillRect l="-3148" t="-2890" b="-722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E45699BA-3936-4F5C-A44B-1C377A36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0427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EBC716A-C7CE-499C-AC91-0C0DBB9E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A15F07-DF3C-49AD-9523-61F458A68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Change 4 probs to 12 amplitudes of a wave function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Init: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 at intermediate steps we cannot observe the system. Then we do not know the current node is the marked node or not.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A15F07-DF3C-49AD-9523-61F458A68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  <a:blipFill>
                <a:blip r:embed="rId2"/>
                <a:stretch>
                  <a:fillRect l="-2983" t="-2241" r="-2699" b="-32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99115616-464F-4168-87BB-EA1EC03F6149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9684E85B-428C-4543-8725-AE018CFCED5A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57D812CC-19EA-4713-B1BB-AAB3BA2AAF90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C8571D22-3C12-43C1-AF38-A7412EA6DDB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513DB62C-4961-402B-ADFB-AC457C21ABB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0CC72069-8258-4088-8910-43E57A6B97E6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34238372-EBF7-4D22-8017-1E0C9D5F6A20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B59491BA-5F94-4A13-81E2-035CB1208423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236E6C80-9897-4AB2-A61D-A8246FA7D43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7E1AEACC-371A-41C4-9A76-C11C449A1AD6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3A9A09E9-005D-4285-8737-6A1201C31B80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716DE38D-A6B2-475A-B2E3-D258C9C48CA2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D1AA7F03-2D77-45AB-ADBC-A1B4A0201731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C295A4CB-BFDA-4D46-90D5-EBF6BBBCB7A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641BA443-90B5-4567-BBE1-19E9EF0D0BB7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70CE9047-D81B-453C-8CF1-877A2DAC4E71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3255B1A0-5878-437E-863F-326C0693095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A23F6F56-9B44-41AD-8685-840A0C1776B7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F5235566-7BE0-40D4-9D6A-4434CEBAB33D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587D231-9425-48A5-9DAC-FC3F11F6D4D5}"/>
                  </a:ext>
                </a:extLst>
              </p:cNvPr>
              <p:cNvSpPr txBox="1"/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587D231-9425-48A5-9DAC-FC3F11F6D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4B63E84F-BD29-47E8-9560-55ADBE2A12C8}"/>
                  </a:ext>
                </a:extLst>
              </p:cNvPr>
              <p:cNvSpPr txBox="1"/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4B63E84F-BD29-47E8-9560-55ADBE2A1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DA550A11-9474-4600-B061-D1E336CF106E}"/>
                  </a:ext>
                </a:extLst>
              </p:cNvPr>
              <p:cNvSpPr txBox="1"/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DA550A11-9474-4600-B061-D1E336CF1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2C596160-1254-45AD-B4CA-98451E876C35}"/>
                  </a:ext>
                </a:extLst>
              </p:cNvPr>
              <p:cNvSpPr txBox="1"/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2C596160-1254-45AD-B4CA-98451E876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38D83C10-F0FC-464E-B5A2-C73C12A0E2DF}"/>
                  </a:ext>
                </a:extLst>
              </p:cNvPr>
              <p:cNvSpPr txBox="1"/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38D83C10-F0FC-464E-B5A2-C73C12A0E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9A526844-9177-46F7-8470-8F497CFBBCF0}"/>
                  </a:ext>
                </a:extLst>
              </p:cNvPr>
              <p:cNvSpPr txBox="1"/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9A526844-9177-46F7-8470-8F497CFBB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8393DCB-809E-4D48-B145-815A2B846A62}"/>
                  </a:ext>
                </a:extLst>
              </p:cNvPr>
              <p:cNvSpPr txBox="1"/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8393DCB-809E-4D48-B145-815A2B846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6851321-B546-4602-9E92-E4A4B916BF14}"/>
                  </a:ext>
                </a:extLst>
              </p:cNvPr>
              <p:cNvSpPr txBox="1"/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6851321-B546-4602-9E92-E4A4B916B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blipFill>
                <a:blip r:embed="rId10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5ADFD28-42A3-40CE-AED0-749326C40C32}"/>
                  </a:ext>
                </a:extLst>
              </p:cNvPr>
              <p:cNvSpPr txBox="1"/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5ADFD28-42A3-40CE-AED0-749326C40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1E487595-DC74-4A0D-BAE4-D29304B89453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CB808353-128E-43CB-895B-AA4F6365523F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15EDD0FA-12C2-475B-A544-D00364097A7E}"/>
                  </a:ext>
                </a:extLst>
              </p:cNvPr>
              <p:cNvSpPr txBox="1"/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15EDD0FA-12C2-475B-A544-D00364097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blipFill>
                <a:blip r:embed="rId1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CF5EAAD-B3DF-4F1B-8936-43C3506F1C0D}"/>
                  </a:ext>
                </a:extLst>
              </p:cNvPr>
              <p:cNvSpPr txBox="1"/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CF5EAAD-B3DF-4F1B-8936-43C3506F1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Đường kết nối Mũi tên Thẳng 48">
            <a:extLst>
              <a:ext uri="{FF2B5EF4-FFF2-40B4-BE49-F238E27FC236}">
                <a16:creationId xmlns:a16="http://schemas.microsoft.com/office/drawing/2014/main" id="{2F36073C-84DD-46ED-8846-F14666CE1BA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DE72232-EF6B-4561-849C-3A67A66EB48F}"/>
                  </a:ext>
                </a:extLst>
              </p:cNvPr>
              <p:cNvSpPr txBox="1"/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DE72232-EF6B-4561-849C-3A67A66E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hỗ dành sẵn cho Số hiệu Bản chiếu 13">
            <a:extLst>
              <a:ext uri="{FF2B5EF4-FFF2-40B4-BE49-F238E27FC236}">
                <a16:creationId xmlns:a16="http://schemas.microsoft.com/office/drawing/2014/main" id="{49EA9290-FEF4-405C-AB1C-AF86DD0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8573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At step 1 </a:t>
                </a:r>
              </a:p>
              <a:p>
                <a:pPr marL="0" indent="0">
                  <a:buNone/>
                </a:pPr>
                <a:r>
                  <a:rPr lang="en-US"/>
                  <a:t>1a.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1b. Apply a quantum coin flip+shift (-I+2A) that inverts each amplitude about the average amplitude at its vertex. (Nothing happen)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493" t="-348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20A00173-95D1-4C85-8F44-CA54ACBB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27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BF270F6-B37E-4358-9471-987EC8A506CD}"/>
                  </a:ext>
                </a:extLst>
              </p:cNvPr>
              <p:cNvSpPr txBox="1"/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node 2: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BF270F6-B37E-4358-9471-987EC8A50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blipFill>
                <a:blip r:embed="rId15"/>
                <a:stretch>
                  <a:fillRect l="-1022" b="-48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103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1c. Shift operator (walk): walker at vertex i pointing to vertex j to hop to vertex j and point back to vertex 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𝑆𝐶𝑄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770" t="-2326" r="-16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B563F709-F15A-4367-9FCC-284FCBC3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6864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At step 2 </a:t>
                </a:r>
              </a:p>
              <a:p>
                <a:pPr marL="0" indent="0">
                  <a:buNone/>
                </a:pPr>
                <a:r>
                  <a:rPr lang="en-US"/>
                  <a:t>2a.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1CD6F08E-CCDD-4C8F-A2F5-949EECB7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62467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49C2F54C-DC73-455C-9F6C-C779E4949B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74" t="25509" r="39135" b="28684"/>
          <a:stretch/>
        </p:blipFill>
        <p:spPr>
          <a:xfrm>
            <a:off x="5897219" y="0"/>
            <a:ext cx="6007364" cy="3895524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2b. The coin inverts or reflects each amplitude about their average.</a:t>
                </a:r>
              </a:p>
              <a:p>
                <a:pPr marL="0" indent="0">
                  <a:buNone/>
                </a:pPr>
                <a:r>
                  <a:rPr lang="en-US"/>
                  <a:t>(-I+2A)</a:t>
                </a:r>
              </a:p>
              <a:p>
                <a:pPr marL="0" indent="0">
                  <a:buNone/>
                </a:pPr>
                <a:r>
                  <a:rPr lang="en-US"/>
                  <a:t>At node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b="0"/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  <a:blipFill>
                <a:blip r:embed="rId3"/>
                <a:stretch>
                  <a:fillRect l="-2494" t="-266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252553FC-76BE-470E-819B-13212B66F364}"/>
              </a:ext>
            </a:extLst>
          </p:cNvPr>
          <p:cNvSpPr/>
          <p:nvPr/>
        </p:nvSpPr>
        <p:spPr>
          <a:xfrm>
            <a:off x="6188765" y="662609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2" name="Hình Bầu dục 41">
            <a:extLst>
              <a:ext uri="{FF2B5EF4-FFF2-40B4-BE49-F238E27FC236}">
                <a16:creationId xmlns:a16="http://schemas.microsoft.com/office/drawing/2014/main" id="{B806DB49-B5A5-48E5-8AB5-DD66EDC3F1A6}"/>
              </a:ext>
            </a:extLst>
          </p:cNvPr>
          <p:cNvSpPr/>
          <p:nvPr/>
        </p:nvSpPr>
        <p:spPr>
          <a:xfrm>
            <a:off x="9455426" y="2690784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6504C5A7-1B6E-43D6-911B-A540161644AD}"/>
              </a:ext>
            </a:extLst>
          </p:cNvPr>
          <p:cNvSpPr txBox="1"/>
          <p:nvPr/>
        </p:nvSpPr>
        <p:spPr>
          <a:xfrm>
            <a:off x="10469217" y="3114853"/>
            <a:ext cx="143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Current amp</a:t>
            </a:r>
            <a:endParaRPr lang="vi-VN"/>
          </a:p>
        </p:txBody>
      </p: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8E319A5A-4E3B-43F2-87B3-D4BD2F0A13A4}"/>
              </a:ext>
            </a:extLst>
          </p:cNvPr>
          <p:cNvSpPr/>
          <p:nvPr/>
        </p:nvSpPr>
        <p:spPr>
          <a:xfrm>
            <a:off x="7284657" y="2690783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4" name="Hình Bầu dục 43">
            <a:extLst>
              <a:ext uri="{FF2B5EF4-FFF2-40B4-BE49-F238E27FC236}">
                <a16:creationId xmlns:a16="http://schemas.microsoft.com/office/drawing/2014/main" id="{C011A9E8-C874-49EB-84EA-55D5210FAC9D}"/>
              </a:ext>
            </a:extLst>
          </p:cNvPr>
          <p:cNvSpPr/>
          <p:nvPr/>
        </p:nvSpPr>
        <p:spPr>
          <a:xfrm>
            <a:off x="10492408" y="628261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1E401CEA-4E2E-44EC-AFC1-D89A23C67D50}"/>
              </a:ext>
            </a:extLst>
          </p:cNvPr>
          <p:cNvSpPr txBox="1"/>
          <p:nvPr/>
        </p:nvSpPr>
        <p:spPr>
          <a:xfrm>
            <a:off x="10018643" y="1544563"/>
            <a:ext cx="173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Reflected amp</a:t>
            </a:r>
            <a:endParaRPr lang="vi-VN"/>
          </a:p>
        </p:txBody>
      </p:sp>
      <p:sp>
        <p:nvSpPr>
          <p:cNvPr id="18" name="Chỗ dành sẵn cho Số hiệu Bản chiếu 17">
            <a:extLst>
              <a:ext uri="{FF2B5EF4-FFF2-40B4-BE49-F238E27FC236}">
                <a16:creationId xmlns:a16="http://schemas.microsoft.com/office/drawing/2014/main" id="{4DA7B37A-CA80-4037-B899-BEEC6731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30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77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1D678C0-F49A-4349-9154-D6FAD240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31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40614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81939DC2-A15A-492D-99FD-48015EA67E9C}"/>
                  </a:ext>
                </a:extLst>
              </p:cNvPr>
              <p:cNvSpPr txBox="1"/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81939DC2-A15A-492D-99FD-48015EA67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75A44E07-7528-4C5D-BC67-C942341922B2}"/>
                  </a:ext>
                </a:extLst>
              </p:cNvPr>
              <p:cNvSpPr txBox="1"/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75A44E07-7528-4C5D-BC67-C9423419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E466987B-930C-4E3B-A7C4-25797C8E6023}"/>
                  </a:ext>
                </a:extLst>
              </p:cNvPr>
              <p:cNvSpPr txBox="1"/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E466987B-930C-4E3B-A7C4-25797C8E6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ACB11BB7-F8DF-4F88-9783-DDF524B51AE3}"/>
                  </a:ext>
                </a:extLst>
              </p:cNvPr>
              <p:cNvSpPr txBox="1"/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ACB11BB7-F8DF-4F88-9783-DDF524B51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1D678C0-F49A-4349-9154-D6FAD240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32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8878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F870A8-6CCC-49C9-90B7-A824D68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/>
              <p:nvPr/>
            </p:nvSpPr>
            <p:spPr>
              <a:xfrm>
                <a:off x="7442199" y="1905000"/>
                <a:ext cx="4569691" cy="3149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</a:t>
                </a:r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199" y="1905000"/>
                <a:ext cx="4569691" cy="3149067"/>
              </a:xfrm>
              <a:prstGeom prst="rect">
                <a:avLst/>
              </a:prstGeom>
              <a:blipFill>
                <a:blip r:embed="rId2"/>
                <a:stretch>
                  <a:fillRect l="-2778" t="-2419" b="-443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hỗ dành sẵn cho Nội dung 7">
            <a:extLst>
              <a:ext uri="{FF2B5EF4-FFF2-40B4-BE49-F238E27FC236}">
                <a16:creationId xmlns:a16="http://schemas.microsoft.com/office/drawing/2014/main" id="{5B04DF3B-AF75-42EA-9EE3-E188E75A4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2007" t="46627" r="37646" b="18457"/>
          <a:stretch/>
        </p:blipFill>
        <p:spPr>
          <a:xfrm>
            <a:off x="838200" y="1560145"/>
            <a:ext cx="5031403" cy="2458785"/>
          </a:xfr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5600745-9931-4D78-BFB1-D6B7D848B6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36" t="35077" r="22420" b="33334"/>
          <a:stretch>
            <a:fillRect/>
          </a:stretch>
        </p:blipFill>
        <p:spPr>
          <a:xfrm>
            <a:off x="7446536" y="2616829"/>
            <a:ext cx="4763049" cy="1708109"/>
          </a:xfrm>
          <a:prstGeom prst="rect">
            <a:avLst/>
          </a:prstGeom>
        </p:spPr>
      </p:pic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C81663C-D263-4C35-B738-6C980C68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33</a:t>
            </a:fld>
            <a:endParaRPr lang="vi-VN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3EE736B-A309-460F-AF15-651FF27C0E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69" t="33633" r="10347" b="7554"/>
          <a:stretch/>
        </p:blipFill>
        <p:spPr>
          <a:xfrm>
            <a:off x="838200" y="4089271"/>
            <a:ext cx="5031403" cy="2267079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386D36C-16F2-4392-92BF-D37E2DB648D5}"/>
              </a:ext>
            </a:extLst>
          </p:cNvPr>
          <p:cNvSpPr txBox="1"/>
          <p:nvPr/>
        </p:nvSpPr>
        <p:spPr>
          <a:xfrm>
            <a:off x="6096000" y="2770496"/>
            <a:ext cx="5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N=4</a:t>
            </a:r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432273D6-A8E4-4448-A2BD-186511523269}"/>
              </a:ext>
            </a:extLst>
          </p:cNvPr>
          <p:cNvSpPr txBox="1"/>
          <p:nvPr/>
        </p:nvSpPr>
        <p:spPr>
          <a:xfrm>
            <a:off x="6096000" y="5038144"/>
            <a:ext cx="99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N=100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3461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7D1E-B5F1-E7DA-2AA0-4CA3A90A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N"/>
              <a:t>3. </a:t>
            </a:r>
            <a:r>
              <a:rPr lang="en-US"/>
              <a:t>Sources of quantum advantage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160E-EF89-B4FE-E8AC-357283728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Largely it comes from superposition.</a:t>
            </a:r>
          </a:p>
          <a:p>
            <a:pPr marL="0" indent="0">
              <a:buNone/>
            </a:pPr>
            <a:r>
              <a:rPr lang="en-VN"/>
              <a:t>Look Deutsh-Josza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4ACBC-5E35-68E3-1425-48C882B3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34</a:t>
            </a:fld>
            <a:endParaRPr lang="en-VN"/>
          </a:p>
        </p:txBody>
      </p:sp>
      <p:pic>
        <p:nvPicPr>
          <p:cNvPr id="3074" name="Picture 2" descr="image1">
            <a:extLst>
              <a:ext uri="{FF2B5EF4-FFF2-40B4-BE49-F238E27FC236}">
                <a16:creationId xmlns:a16="http://schemas.microsoft.com/office/drawing/2014/main" id="{573EE60E-DAF6-37BF-78F9-13DF0972A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8" y="2856364"/>
            <a:ext cx="10688267" cy="332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5761BE7-BEF5-C106-899A-C85934A6C373}"/>
              </a:ext>
            </a:extLst>
          </p:cNvPr>
          <p:cNvSpPr/>
          <p:nvPr/>
        </p:nvSpPr>
        <p:spPr>
          <a:xfrm>
            <a:off x="2696308" y="3317631"/>
            <a:ext cx="2039815" cy="15005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00017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3CB5E-A5C8-0B3D-2DB1-E981CC2C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823B-CB71-08E8-8509-5C45E70A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N"/>
              <a:t>3. </a:t>
            </a:r>
            <a:r>
              <a:rPr lang="en-US"/>
              <a:t>Sources of quantum advantage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5F54-E671-8F6A-CCDB-7233AE221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Largely it comes from superposition.</a:t>
            </a:r>
          </a:p>
          <a:p>
            <a:pPr marL="0" indent="0">
              <a:buNone/>
            </a:pPr>
            <a:r>
              <a:rPr lang="en-VN"/>
              <a:t>Look Shor’s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D1958-CC73-8D3B-BD31-6FBB4DA0D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35</a:t>
            </a:fld>
            <a:endParaRPr lang="en-VN"/>
          </a:p>
        </p:txBody>
      </p:sp>
      <p:pic>
        <p:nvPicPr>
          <p:cNvPr id="7" name="Picture 6" descr="A diagram of a guitar chord&#10;&#10;AI-generated content may be incorrect.">
            <a:extLst>
              <a:ext uri="{FF2B5EF4-FFF2-40B4-BE49-F238E27FC236}">
                <a16:creationId xmlns:a16="http://schemas.microsoft.com/office/drawing/2014/main" id="{30A5F4C9-500C-4AF8-A7DE-068CE161E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0319"/>
            <a:ext cx="10765090" cy="188888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C2134DD-6C3F-D3A3-F2AD-C8A27A5AF127}"/>
              </a:ext>
            </a:extLst>
          </p:cNvPr>
          <p:cNvSpPr/>
          <p:nvPr/>
        </p:nvSpPr>
        <p:spPr>
          <a:xfrm>
            <a:off x="597877" y="3810000"/>
            <a:ext cx="2555631" cy="1676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59795C-C801-0394-0030-95AF30955B42}"/>
              </a:ext>
            </a:extLst>
          </p:cNvPr>
          <p:cNvSpPr/>
          <p:nvPr/>
        </p:nvSpPr>
        <p:spPr>
          <a:xfrm>
            <a:off x="8798169" y="2869832"/>
            <a:ext cx="3045444" cy="13255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50499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VN" sz="3200"/>
              <a:t>3. </a:t>
            </a:r>
            <a:r>
              <a:rPr lang="en-US" sz="3200"/>
              <a:t>Sources of quantum advantage</a:t>
            </a:r>
            <a:endParaRPr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wrap="square"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/>
                  <a:t>Total runtime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𝒑𝒓𝒆𝒑𝒂𝒓𝒆</m:t>
                        </m:r>
                      </m:sub>
                    </m:sSub>
                    <m:r>
                      <a:rPr lang="ar-AE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b="1"/>
                  <a:t>(</a:t>
                </a:r>
                <a:r>
                  <a:rPr lang="en-US" sz="2400" b="1"/>
                  <a:t>build a useful representation)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𝒔𝒐𝒍𝒗𝒆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/>
                  <a:t>(find the solution).</a:t>
                </a:r>
              </a:p>
              <a:p>
                <a:pPr marL="0" indent="0">
                  <a:buNone/>
                </a:pPr>
                <a:r>
                  <a:rPr lang="en-US" sz="2400"/>
                  <a:t>Recent quantum algorithms: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𝒑𝒓𝒆𝒑𝒂𝒓𝒆</m:t>
                        </m:r>
                      </m:sub>
                    </m:sSub>
                    <m:r>
                      <a:rPr lang="vi-VN" sz="2400" b="1" i="1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𝒔𝒐𝒍𝒗𝒆</m:t>
                        </m:r>
                      </m:sub>
                    </m:sSub>
                  </m:oMath>
                </a14:m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The right benchmark is the strongest available classical workflow, heuristics included - not an idealized worst case.</a:t>
                </a:r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Q: “Can quantum give speedups under the same heuristic assumptions classical methods use?”</a:t>
                </a:r>
                <a:endParaRPr sz="24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AB69F-CE22-8E14-2D87-93CDB2BA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36</a:t>
            </a:fld>
            <a:endParaRPr lang="en-V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3</a:t>
            </a:r>
            <a:r>
              <a:rPr lang="vi-VN" sz="3200"/>
              <a:t>. </a:t>
            </a:r>
            <a:r>
              <a:rPr sz="3200"/>
              <a:t>Source of Advantage</a:t>
            </a:r>
            <a:r>
              <a:rPr lang="vi-VN" sz="3200"/>
              <a:t>: </a:t>
            </a:r>
            <a:r>
              <a:rPr lang="en-US" sz="3200"/>
              <a:t>e</a:t>
            </a:r>
            <a:r>
              <a:rPr lang="en-VN" sz="3200"/>
              <a:t>xample in quantum s</a:t>
            </a:r>
            <a:r>
              <a:rPr sz="3200"/>
              <a:t>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 wrap="square">
                <a:normAutofit/>
              </a:bodyPr>
              <a:lstStyle/>
              <a:p>
                <a:pPr marL="0" indent="0">
                  <a:buNone/>
                </a:pPr>
                <a:r>
                  <a:rPr lang="en-US" sz="3200" b="1"/>
                  <a:t>Classical</a:t>
                </a:r>
              </a:p>
              <a:p>
                <a:pPr lvl="1"/>
                <a:r>
                  <a:rPr lang="en-US" sz="2800"/>
                  <a:t>Must store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sz="2800"/>
                  <a:t> </a:t>
                </a:r>
                <a:r>
                  <a:rPr lang="en-US" sz="2800"/>
                  <a:t>complex amplitudes explicitly.</a:t>
                </a:r>
              </a:p>
              <a:p>
                <a:pPr lvl="1"/>
                <a:r>
                  <a:rPr lang="en-US" sz="2800"/>
                  <a:t>Matrix–vector multiplication scales as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.</a:t>
                </a:r>
                <a:endParaRPr sz="28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178" t="-2907" r="-293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 wrap="square">
                <a:normAutofit/>
              </a:bodyPr>
              <a:lstStyle/>
              <a:p>
                <a:r>
                  <a:rPr sz="3200" b="1"/>
                  <a:t>Quantum</a:t>
                </a:r>
              </a:p>
              <a:p>
                <a:pPr lvl="1"/>
                <a:r>
                  <a:rPr sz="2800"/>
                  <a:t>Represents the same Hilbert space with only </a:t>
                </a:r>
                <a14:m>
                  <m:oMath xmlns:m="http://schemas.openxmlformats.org/officeDocument/2006/math">
                    <m:r>
                      <a:rPr lang="en-V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800"/>
                  <a:t> qubits.</a:t>
                </a:r>
              </a:p>
              <a:p>
                <a:pPr lvl="1"/>
                <a:r>
                  <a:rPr sz="2800"/>
                  <a:t>Under efficient block encodings, cost can scale as </a:t>
                </a:r>
                <a14:m>
                  <m:oMath xmlns:m="http://schemas.openxmlformats.org/officeDocument/2006/math">
                    <m:r>
                      <a:rPr lang="en-VN" sz="2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𝑝𝑜𝑙𝑦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sz="2800"/>
                  <a:t>; storage becomes </a:t>
                </a:r>
                <a14:m>
                  <m:oMath xmlns:m="http://schemas.openxmlformats.org/officeDocument/2006/math">
                    <m:r>
                      <a:rPr lang="en-VN" sz="2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/>
                  <a:t>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689" t="-290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B6291-3ACE-A1D7-F4C3-F1C659CB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37</a:t>
            </a:fld>
            <a:endParaRPr lang="en-V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sz="3200"/>
              <a:t>3. Source of Advantage: locality and light cone</a:t>
            </a:r>
            <a:endParaRPr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wrap="square"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We usually solving the eigenvalue problem:</a:t>
                </a:r>
              </a:p>
              <a:p>
                <a:pPr marL="914400" lvl="2" indent="0">
                  <a:buNone/>
                </a:pPr>
                <a:r>
                  <a:rPr lang="en-US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V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𝐸𝑐</m:t>
                    </m:r>
                  </m:oMath>
                </a14:m>
                <a:endParaRPr lang="en-US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/>
                  <a:t> is sparsity =&gt; ok, solvable on classical computer</a:t>
                </a:r>
              </a:p>
              <a:p>
                <a:pPr marL="514350" indent="-514350">
                  <a:buAutoNum type="arabicPeriod"/>
                </a:pPr>
                <a:r>
                  <a:rPr lang="en-US"/>
                  <a:t>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V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/>
                  <a:t> generate a light-cone structure. We must to use resources for saving correlation information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BDB6A-7F0A-8915-C318-39E89148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38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E2E443-2F31-A824-5966-AB10F2085603}"/>
                  </a:ext>
                </a:extLst>
              </p:cNvPr>
              <p:cNvSpPr txBox="1"/>
              <p:nvPr/>
            </p:nvSpPr>
            <p:spPr>
              <a:xfrm>
                <a:off x="1354014" y="4112280"/>
                <a:ext cx="9548447" cy="2165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2800">
                        <a:latin typeface="Cambria Math" panose="02040503050406030204" pitchFamily="18" charset="0"/>
                      </a:rPr>
                      <m:t>∼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sz="2800"/>
                  <a:t>, </a:t>
                </a:r>
                <a:r>
                  <a:rPr lang="en-US" sz="2800"/>
                  <a:t>where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/>
                  <a:t> is the number of iterations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sz="2800"/>
                  <a:t> </a:t>
                </a:r>
                <a:r>
                  <a:rPr lang="en-US" sz="2800"/>
                  <a:t>denotes the interaction range. Consequently,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corr</m:t>
                        </m:r>
                      </m:sub>
                    </m:sSub>
                    <m:r>
                      <a:rPr lang="ar-AE" sz="2800">
                        <a:latin typeface="Cambria Math" panose="02040503050406030204" pitchFamily="18" charset="0"/>
                      </a:rPr>
                      <m:t>∼(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𝑚𝐷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𝑚𝐷</m:t>
                        </m:r>
                      </m:sup>
                    </m:sSubSup>
                  </m:oMath>
                </a14:m>
                <a:r>
                  <a:rPr lang="ar-AE" sz="2800"/>
                  <a:t> </a:t>
                </a:r>
                <a:r>
                  <a:rPr lang="en-US" sz="2800"/>
                  <a:t>where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/>
                  <a:t> is the physical dimension of the system.</a:t>
                </a:r>
                <a:endParaRPr lang="vi-VN" sz="2800"/>
              </a:p>
              <a:p>
                <a:pPr marL="0" indent="0">
                  <a:buNone/>
                </a:pPr>
                <a:r>
                  <a:rPr lang="en-US" sz="2800"/>
                  <a:t>The resulting quantum advantage is approximately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f>
                            <m:f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den>
                          </m:f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∼</m:t>
                          </m:r>
                          <m:f>
                            <m:f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𝑚𝐷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𝐵𝐸</m:t>
                                  </m:r>
                                </m:sub>
                              </m:sSub>
                            </m:den>
                          </m:f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mr>
                    </m:m>
                  </m:oMath>
                </a14:m>
                <a:endParaRPr lang="ar-AE" sz="1600" b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E2E443-2F31-A824-5966-AB10F208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014" y="4112280"/>
                <a:ext cx="9548447" cy="2165978"/>
              </a:xfrm>
              <a:prstGeom prst="rect">
                <a:avLst/>
              </a:prstGeom>
              <a:blipFill>
                <a:blip r:embed="rId3"/>
                <a:stretch>
                  <a:fillRect l="-1328" t="-4094" r="-1726" b="-11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Bottleneck: Data Preparation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14538" cy="4351338"/>
              </a:xfrm>
            </p:spPr>
            <p:txBody>
              <a:bodyPr wrap="square"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3200"/>
                  <a:t>Classical data must first be converted into quantum state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3200"/>
                  <a:t>A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3200"/>
                  <a:t> – dim classical vector may need only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i="1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/>
                  <a:t> qubits.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3200"/>
                  <a:t>Without QRAM, state-preparation cost can scale badly enough to eliminate any theoretical speedup entirely.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3200"/>
                  <a:t>Block encoding: QSVT and Hamiltonian simulation assume a unitary that embeds a matrix - constructing it is often non-trivial and costly for dense matrices.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14538" cy="4351338"/>
              </a:xfrm>
              <a:blipFill>
                <a:blip r:embed="rId2"/>
                <a:stretch>
                  <a:fillRect l="-1526" t="-2907" r="-3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A7D9D-F7A6-4C4B-CBE7-9644D86D2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39</a:t>
            </a:fld>
            <a:endParaRPr lang="en-V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4. Limitations of Quantum Machine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wrap="square"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t>QML is one of the most </a:t>
                </a:r>
                <a:r>
                  <a:rPr u="sng"/>
                  <a:t>actively studied topics</a:t>
                </a:r>
                <a:r>
                  <a:t>, with many claimed advantages over classical ML.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t>Small-scale evidence: reported gains often come from small experiments or idealized simulations, not current noisy hardware.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t>Hidden data cost: many claimed speedups neglect the cost of data preparation</a:t>
                </a:r>
                <a:r>
                  <a:rPr lang="vi-VN"/>
                  <a:t>,</a:t>
                </a:r>
                <a:r>
                  <a:t> building the block encoding can cost more than solving the problem classically.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t>Idealized access: complexities like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𝑝𝑜𝑙𝑦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t>frequently assume access models that hide real data-acquisition and encoding costs.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448" b="-319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9D401-93D7-64A1-A6FA-61249B7A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40</a:t>
            </a:fld>
            <a:endParaRPr lang="en-V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Which </a:t>
            </a:r>
            <a:r>
              <a:rPr lang="en-VN" sz="3200"/>
              <a:t>p</a:t>
            </a:r>
            <a:r>
              <a:rPr sz="3200"/>
              <a:t>roblems </a:t>
            </a:r>
            <a:r>
              <a:rPr lang="en-VN" sz="3200"/>
              <a:t>d</a:t>
            </a:r>
            <a:r>
              <a:rPr sz="3200"/>
              <a:t>o </a:t>
            </a:r>
            <a:r>
              <a:rPr lang="en-VN" sz="3200"/>
              <a:t>q</a:t>
            </a:r>
            <a:r>
              <a:rPr sz="3200"/>
              <a:t>uantum </a:t>
            </a:r>
            <a:r>
              <a:rPr lang="en-VN" sz="3200"/>
              <a:t>c</a:t>
            </a:r>
            <a:r>
              <a:rPr sz="3200"/>
              <a:t>omputers </a:t>
            </a:r>
            <a:r>
              <a:rPr lang="en-VN" sz="3200"/>
              <a:t>s</a:t>
            </a:r>
            <a:r>
              <a:rPr sz="3200"/>
              <a:t>olve </a:t>
            </a:r>
            <a:r>
              <a:rPr lang="en-VN" sz="3200"/>
              <a:t>e</a:t>
            </a:r>
            <a:r>
              <a:rPr sz="3200"/>
              <a:t>fficiently?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b="1"/>
              <a:t>A quantum speedup must be judged end-to-end — not by the quantum portion alone.</a:t>
            </a:r>
          </a:p>
          <a:p>
            <a:pPr marL="342900" indent="-342900">
              <a:buFont typeface="+mj-lt"/>
              <a:buAutoNum type="arabicPeriod"/>
            </a:pPr>
            <a:r>
              <a:rPr u="sng"/>
              <a:t>Quantum simulation, condensed matter physics, and quantum chemistry</a:t>
            </a:r>
            <a:r>
              <a:t> offer the most near-term opportunities.</a:t>
            </a:r>
          </a:p>
          <a:p>
            <a:pPr marL="342900" indent="-342900">
              <a:buFont typeface="+mj-lt"/>
              <a:buAutoNum type="arabicPeriod"/>
            </a:pPr>
            <a:r>
              <a:t>For QML, the bottleneck is typically converting classical data into quantum-ready form, not the circuit itself.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62E63-F715-E970-68EA-4D28842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41</a:t>
            </a:fld>
            <a:endParaRPr lang="en-V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45C5-1277-FFA6-7913-616882B3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6" name="Content Placeholder 5" descr="A person standing at a podium&#10;&#10;AI-generated content may be incorrect.">
            <a:extLst>
              <a:ext uri="{FF2B5EF4-FFF2-40B4-BE49-F238E27FC236}">
                <a16:creationId xmlns:a16="http://schemas.microsoft.com/office/drawing/2014/main" id="{78DDDF7A-2364-825B-A921-EE4CA2A57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8360" b="7190"/>
          <a:stretch>
            <a:fillRect/>
          </a:stretch>
        </p:blipFill>
        <p:spPr>
          <a:xfrm>
            <a:off x="5826369" y="0"/>
            <a:ext cx="6361766" cy="33577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02A13-80B2-9390-4FDB-E83DB030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0652-EDBF-5741-A5EB-DBD4F612B0BB}" type="slidenum">
              <a:rPr lang="en-VN"/>
              <a:t>42</a:t>
            </a:fld>
            <a:endParaRPr lang="en-VN"/>
          </a:p>
        </p:txBody>
      </p:sp>
      <p:pic>
        <p:nvPicPr>
          <p:cNvPr id="6146" name="Picture 2" descr="No description available.">
            <a:extLst>
              <a:ext uri="{FF2B5EF4-FFF2-40B4-BE49-F238E27FC236}">
                <a16:creationId xmlns:a16="http://schemas.microsoft.com/office/drawing/2014/main" id="{EEFAA8CC-8507-9ABA-B2AF-1228DD5DE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369" y="3353754"/>
            <a:ext cx="6361765" cy="3505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No description available.">
            <a:extLst>
              <a:ext uri="{FF2B5EF4-FFF2-40B4-BE49-F238E27FC236}">
                <a16:creationId xmlns:a16="http://schemas.microsoft.com/office/drawing/2014/main" id="{1D3B3836-5A62-C712-99E5-C986C4F50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0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889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3376</TotalTime>
  <Words>1823</Words>
  <Application>Microsoft Macintosh PowerPoint</Application>
  <PresentationFormat>Widescreen</PresentationFormat>
  <Paragraphs>494</Paragraphs>
  <Slides>42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Calibri (Thân)</vt:lpstr>
      <vt:lpstr>Cambria</vt:lpstr>
      <vt:lpstr>Cambria Math</vt:lpstr>
      <vt:lpstr>Office Theme</vt:lpstr>
      <vt:lpstr>On Problems Quantum Computers Can Solve Efficiently</vt:lpstr>
      <vt:lpstr>Outline</vt:lpstr>
      <vt:lpstr>Deterministic</vt:lpstr>
      <vt:lpstr>Nondeterministic</vt:lpstr>
      <vt:lpstr>Nondeterministic</vt:lpstr>
      <vt:lpstr>PowerPoint Presentation</vt:lpstr>
      <vt:lpstr>Example: Sub-set sum problem</vt:lpstr>
      <vt:lpstr>PowerPoint Presentation</vt:lpstr>
      <vt:lpstr>PowerPoint Presentation</vt:lpstr>
      <vt:lpstr>Probability</vt:lpstr>
      <vt:lpstr>Probability</vt:lpstr>
      <vt:lpstr>Probability</vt:lpstr>
      <vt:lpstr>Quantum</vt:lpstr>
      <vt:lpstr>Quantum</vt:lpstr>
      <vt:lpstr>Quantum</vt:lpstr>
      <vt:lpstr>Quantum</vt:lpstr>
      <vt:lpstr>Spatial search (discrete time)</vt:lpstr>
      <vt:lpstr>Random walk</vt:lpstr>
      <vt:lpstr>Random walk</vt:lpstr>
      <vt:lpstr>Random walk</vt:lpstr>
      <vt:lpstr>Random walk</vt:lpstr>
      <vt:lpstr>Random walk</vt:lpstr>
      <vt:lpstr>Random walk</vt:lpstr>
      <vt:lpstr>Random walk</vt:lpstr>
      <vt:lpstr>Random walk</vt:lpstr>
      <vt:lpstr>Quantum walk</vt:lpstr>
      <vt:lpstr>Quantum walk</vt:lpstr>
      <vt:lpstr>Quantum walk</vt:lpstr>
      <vt:lpstr>Quantum walk</vt:lpstr>
      <vt:lpstr>Quantum walk</vt:lpstr>
      <vt:lpstr>Quantum walk</vt:lpstr>
      <vt:lpstr>Quantum walk</vt:lpstr>
      <vt:lpstr>Quantum walk</vt:lpstr>
      <vt:lpstr>3. Sources of quantum advantage</vt:lpstr>
      <vt:lpstr>3. Sources of quantum advantage</vt:lpstr>
      <vt:lpstr>3. Sources of quantum advantage</vt:lpstr>
      <vt:lpstr>3. Source of Advantage: example in quantum simulation</vt:lpstr>
      <vt:lpstr>3. Source of Advantage: locality and light cone</vt:lpstr>
      <vt:lpstr>Bottleneck: Data Preparation</vt:lpstr>
      <vt:lpstr>4. Limitations of Quantum Machine Learning</vt:lpstr>
      <vt:lpstr>Which problems do quantum computers solve efficiently?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Vũ Tuấn Hải</cp:lastModifiedBy>
  <cp:revision>9</cp:revision>
  <dcterms:created xsi:type="dcterms:W3CDTF">2026-07-24T02:29:22Z</dcterms:created>
  <dcterms:modified xsi:type="dcterms:W3CDTF">2026-10-10T04:56:42Z</dcterms:modified>
</cp:coreProperties>
</file>