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322" r:id="rId4"/>
    <p:sldId id="360" r:id="rId5"/>
    <p:sldId id="361" r:id="rId6"/>
    <p:sldId id="362" r:id="rId7"/>
    <p:sldId id="364" r:id="rId8"/>
    <p:sldId id="365" r:id="rId9"/>
    <p:sldId id="323" r:id="rId10"/>
    <p:sldId id="363" r:id="rId11"/>
    <p:sldId id="343" r:id="rId12"/>
    <p:sldId id="324" r:id="rId13"/>
    <p:sldId id="325" r:id="rId14"/>
    <p:sldId id="345" r:id="rId15"/>
    <p:sldId id="369" r:id="rId16"/>
    <p:sldId id="326" r:id="rId17"/>
    <p:sldId id="258" r:id="rId18"/>
    <p:sldId id="259" r:id="rId19"/>
    <p:sldId id="260" r:id="rId20"/>
    <p:sldId id="370" r:id="rId21"/>
    <p:sldId id="371" r:id="rId22"/>
    <p:sldId id="372" r:id="rId23"/>
    <p:sldId id="373" r:id="rId24"/>
    <p:sldId id="374" r:id="rId25"/>
    <p:sldId id="375" r:id="rId26"/>
    <p:sldId id="376" r:id="rId27"/>
    <p:sldId id="284" r:id="rId28"/>
    <p:sldId id="377" r:id="rId29"/>
    <p:sldId id="273" r:id="rId30"/>
    <p:sldId id="275" r:id="rId31"/>
    <p:sldId id="274" r:id="rId32"/>
    <p:sldId id="285" r:id="rId33"/>
    <p:sldId id="271" r:id="rId34"/>
    <p:sldId id="380" r:id="rId35"/>
    <p:sldId id="381" r:id="rId36"/>
    <p:sldId id="263" r:id="rId37"/>
    <p:sldId id="264" r:id="rId38"/>
    <p:sldId id="265" r:id="rId39"/>
    <p:sldId id="261" r:id="rId40"/>
    <p:sldId id="266" r:id="rId41"/>
    <p:sldId id="267" r:id="rId42"/>
    <p:sldId id="382" r:id="rId4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99"/>
    <p:restoredTop sz="94670"/>
  </p:normalViewPr>
  <p:slideViewPr>
    <p:cSldViewPr snapToGrid="0">
      <p:cViewPr varScale="1">
        <p:scale>
          <a:sx n="109" d="100"/>
          <a:sy n="109" d="100"/>
        </p:scale>
        <p:origin x="7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C823AA-519E-954A-B332-1D321F08CEC7}" type="datetimeFigureOut">
              <a:t>8/10/26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BC7AF-5D40-A44A-AFBC-4EFE8EC77990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52001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526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BC7AF-5D40-A44A-AFBC-4EFE8EC77990}" type="slidenum">
              <a:rPr lang="en-VN"/>
              <a:t>42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12704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2139-FD9E-02D3-D8AE-513EFD873E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42E0B-EE67-2196-BE39-F5F2D58D2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28438-98C7-65D2-A1D5-59E592714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A0BE4-4309-6B4B-AB5A-651AF3CAB337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EE57E-C737-22AE-460F-56F882D3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64B16-0CAF-FB09-A8F9-3D03846A9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6573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8A93-8455-F7CB-B215-A59706BA1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C7043-FCDD-5B34-FF5C-33CFEF7B2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513CD-8CC4-C8BD-E009-87B3CB4DB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8CB1-29D3-554D-9CCB-EF08ED4E6DE2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7E95D-51C6-2784-880F-D0775FEF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E7F66-8EE4-1446-8002-A3C43685B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61404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73BFE-06E7-D8B8-55BB-EC4134771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FB180-C1DC-41E9-E8A3-C8388A5F3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1C2-2B1C-035A-B10E-0810D92B9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1E78B-09B4-7047-A94A-2FCDC21354B5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C0399-E7D8-620E-456A-AE4B41A4D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D3772-8F40-441E-FE44-D0B3B4722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5898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8F1-04C7-1B2F-D376-CF76ED05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D1539-70F3-8397-E22E-DB2644EFB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3BA0A-5033-E95C-6555-9A9A5017C1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27F59E-3D0E-EDA8-6D57-99B14B896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694FF-1081-FD46-B38C-71B58007D06B}" type="datetime1">
              <a:t>8/10/26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9981D-D8AB-1B78-ECE9-679FA8A7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E2CD4-4026-E1F9-A60B-9DF081A8C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95131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F215-8163-8AB9-25AF-4F2705270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00802-5D3A-C3AB-5A91-71767D458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E38B0-F17F-20A7-59AE-65907C93B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EDF78D-536F-173B-F2F1-C64120567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68156F-731E-5FD1-54BD-842E2F900B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2C64C0-4FFF-F229-B37D-FF6C37DC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AD967-E1BD-A043-AF41-31CE8D5925B8}" type="datetime1">
              <a:t>8/10/26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7EFD4-E989-375C-A844-7E49C5708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E18110-486F-39C5-DAEC-3D1B47B77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272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61754-21B8-99BD-9E41-8FC8743D5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EB5B99-73AF-AC62-8E80-111B15DFA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8CA4B-EA68-F949-AA20-A296BC1EAE8A}" type="datetime1">
              <a:t>8/10/26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681CA1-2C76-1628-6748-5C808B9F4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E124BD-AF8A-216E-0064-66C42B080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98417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1DF8DA-ECEF-64D6-1AEC-34187944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3C233-DBA3-244F-BB61-8910BD72C6EA}" type="datetime1">
              <a:t>8/10/26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FB8E2-AD57-19D4-DD01-F89E69A05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BE02-C008-AB12-016A-BA779D3D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218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BFE6A-DE56-E5C1-8E0E-36801490B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49B83-489A-5522-232D-3B05BD36F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C8915-C6B1-70DC-3186-4F737D09B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1D8D1-3250-2CCA-591F-8431B4D0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6832-197D-A04B-AC70-7BD6CE44AE62}" type="datetime1">
              <a:t>8/10/26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9BDC50-B879-2E3B-E992-8BBBA6DF0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B478-0690-795F-678D-EEC11D4A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9090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44F57-F83F-B524-E656-2A40A9BB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777638-42E8-FC3F-A3C4-FBC6D9FAEC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7A235-9DCD-0CA3-63FF-36AE51D3C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93676-992A-7996-FF7B-B911ADF8F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809A1-BDCA-7F4D-8F48-15EF0EFF5458}" type="datetime1">
              <a:t>8/10/26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E276C-AE6F-D21B-E9FE-E909E344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4FB6ED-ADC2-E05E-F043-FBC4DE34A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90444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5C64-B89D-0621-77EE-6E5AE22E3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5D04E-77E1-F35A-F3ED-0C943E927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1C768-60C1-4E86-0941-FAEF9FD0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50B9-45CD-3949-8B18-EEB0F843CC59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A4C19-8DEE-9BF1-EBED-B0324A92D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BF282-DB2C-2F33-11FC-AACFD14E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1782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D44955-7FCD-32B6-345F-DDF5008B4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296824-9BE8-8FA1-D651-902C065D9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0BF68-9D4C-0F7B-3DB5-C55E134C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97AFB-FD7B-3B4B-B256-3F925B94CDF2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58131-564B-A394-1601-29E13143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68C3-B8D2-05D8-82C8-3E72A845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45270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7A152-E423-022B-9C2B-A85EF3741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3A1D2-AD6A-BF10-EF2E-0A54BE9E7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4317B-9E35-BC64-F184-29B33FA59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BE3D78-58FB-B34D-90F8-AAFCEE706DF6}" type="datetime1">
              <a:t>8/10/26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248AC-595F-7616-D1EF-118D66104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B9F7E-B8F3-07D2-F94F-234F16CEC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503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image" Target="../media/image197.png"/><Relationship Id="rId4" Type="http://schemas.openxmlformats.org/officeDocument/2006/relationships/image" Target="../media/image18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6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90.png"/><Relationship Id="rId7" Type="http://schemas.openxmlformats.org/officeDocument/2006/relationships/image" Target="../media/image472.png"/><Relationship Id="rId12" Type="http://schemas.openxmlformats.org/officeDocument/2006/relationships/image" Target="../media/image5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.png"/><Relationship Id="rId5" Type="http://schemas.openxmlformats.org/officeDocument/2006/relationships/image" Target="../media/image441.png"/><Relationship Id="rId10" Type="http://schemas.openxmlformats.org/officeDocument/2006/relationships/image" Target="../media/image50.png"/><Relationship Id="rId4" Type="http://schemas.openxmlformats.org/officeDocument/2006/relationships/image" Target="../media/image400.png"/><Relationship Id="rId9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410.png"/><Relationship Id="rId4" Type="http://schemas.openxmlformats.org/officeDocument/2006/relationships/image" Target="../media/image310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0.png"/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11" Type="http://schemas.openxmlformats.org/officeDocument/2006/relationships/image" Target="../media/image1500.png"/><Relationship Id="rId5" Type="http://schemas.openxmlformats.org/officeDocument/2006/relationships/image" Target="../media/image910.png"/><Relationship Id="rId10" Type="http://schemas.openxmlformats.org/officeDocument/2006/relationships/image" Target="../media/image140.png"/><Relationship Id="rId4" Type="http://schemas.openxmlformats.org/officeDocument/2006/relationships/image" Target="../media/image810.png"/><Relationship Id="rId9" Type="http://schemas.openxmlformats.org/officeDocument/2006/relationships/image" Target="../media/image130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1.png"/><Relationship Id="rId5" Type="http://schemas.openxmlformats.org/officeDocument/2006/relationships/image" Target="../media/image1801.png"/><Relationship Id="rId4" Type="http://schemas.openxmlformats.org/officeDocument/2006/relationships/image" Target="../media/image1710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0.png"/><Relationship Id="rId3" Type="http://schemas.openxmlformats.org/officeDocument/2006/relationships/image" Target="../media/image211.png"/><Relationship Id="rId7" Type="http://schemas.openxmlformats.org/officeDocument/2006/relationships/image" Target="../media/image252.png"/><Relationship Id="rId2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0.png"/><Relationship Id="rId11" Type="http://schemas.openxmlformats.org/officeDocument/2006/relationships/image" Target="../media/image2800.png"/><Relationship Id="rId5" Type="http://schemas.openxmlformats.org/officeDocument/2006/relationships/image" Target="../media/image2310.png"/><Relationship Id="rId10" Type="http://schemas.openxmlformats.org/officeDocument/2006/relationships/image" Target="../media/image271.png"/><Relationship Id="rId4" Type="http://schemas.openxmlformats.org/officeDocument/2006/relationships/image" Target="../media/image220.png"/><Relationship Id="rId9" Type="http://schemas.openxmlformats.org/officeDocument/2006/relationships/image" Target="../media/image180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30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0.png"/><Relationship Id="rId3" Type="http://schemas.openxmlformats.org/officeDocument/2006/relationships/image" Target="../media/image340.png"/><Relationship Id="rId7" Type="http://schemas.openxmlformats.org/officeDocument/2006/relationships/image" Target="../media/image3800.png"/><Relationship Id="rId2" Type="http://schemas.openxmlformats.org/officeDocument/2006/relationships/image" Target="../media/image3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2.png"/><Relationship Id="rId5" Type="http://schemas.openxmlformats.org/officeDocument/2006/relationships/image" Target="../media/image360.png"/><Relationship Id="rId10" Type="http://schemas.openxmlformats.org/officeDocument/2006/relationships/image" Target="../media/image401.png"/><Relationship Id="rId4" Type="http://schemas.openxmlformats.org/officeDocument/2006/relationships/image" Target="../media/image350.png"/><Relationship Id="rId9" Type="http://schemas.openxmlformats.org/officeDocument/2006/relationships/image" Target="../media/image3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0.png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9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2.png"/><Relationship Id="rId10" Type="http://schemas.openxmlformats.org/officeDocument/2006/relationships/image" Target="../media/image560.png"/><Relationship Id="rId4" Type="http://schemas.openxmlformats.org/officeDocument/2006/relationships/image" Target="../media/image50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713.png"/><Relationship Id="rId5" Type="http://schemas.openxmlformats.org/officeDocument/2006/relationships/image" Target="../media/image650.png"/><Relationship Id="rId15" Type="http://schemas.openxmlformats.org/officeDocument/2006/relationships/image" Target="../media/image141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690.png"/><Relationship Id="rId14" Type="http://schemas.openxmlformats.org/officeDocument/2006/relationships/image" Target="../media/image74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811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9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82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7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7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620.png"/><Relationship Id="rId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612.png"/><Relationship Id="rId5" Type="http://schemas.openxmlformats.org/officeDocument/2006/relationships/image" Target="../media/image1910.png"/><Relationship Id="rId10" Type="http://schemas.openxmlformats.org/officeDocument/2006/relationships/image" Target="../media/image480.png"/><Relationship Id="rId4" Type="http://schemas.openxmlformats.org/officeDocument/2006/relationships/image" Target="../media/image911.png"/><Relationship Id="rId9" Type="http://schemas.openxmlformats.org/officeDocument/2006/relationships/image" Target="../media/image460.png"/><Relationship Id="rId14" Type="http://schemas.openxmlformats.org/officeDocument/2006/relationships/image" Target="../media/image76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000.png"/><Relationship Id="rId18" Type="http://schemas.openxmlformats.org/officeDocument/2006/relationships/image" Target="../media/image105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image" Target="../media/image2210.png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1.png"/><Relationship Id="rId9" Type="http://schemas.openxmlformats.org/officeDocument/2006/relationships/image" Target="../media/image960.png"/><Relationship Id="rId14" Type="http://schemas.openxmlformats.org/officeDocument/2006/relationships/image" Target="../media/image10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27C4-C775-E04E-A0F1-013AD742C0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On Problems Quantum Computers Can Solve Efficiently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B77A5-0D30-7A7E-7233-388F3F5A94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/>
              <a:t>(FEE2026)</a:t>
            </a:r>
          </a:p>
          <a:p>
            <a:r>
              <a:rPr lang="vi-VN"/>
              <a:t>09/10/2026</a:t>
            </a:r>
          </a:p>
          <a:p>
            <a:r>
              <a:t>Vu Tuan Hai</a:t>
            </a:r>
            <a:r>
              <a:rPr lang="vi-VN"/>
              <a:t>, UIT-VNUHCM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F6113-9A8E-3281-347D-81AEA1D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39335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6AE1-A2B8-C2BD-09DA-CF9C9A704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rPr lang="en-US" sz="4800"/>
              <a:t>Outline</a:t>
            </a:r>
            <a:endParaRPr lang="en-VN" sz="6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610A9-D610-B04B-8B3C-63074AC7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vi-VN" sz="3600"/>
              <a:t>Q</a:t>
            </a:r>
            <a:r>
              <a:rPr sz="3600"/>
              <a:t>uantum complexity theory</a:t>
            </a:r>
            <a:endParaRPr lang="vi-VN" sz="3600"/>
          </a:p>
          <a:p>
            <a:pPr marL="514350" indent="-514350">
              <a:buFont typeface="+mj-lt"/>
              <a:buAutoNum type="arabicPeriod"/>
            </a:pPr>
            <a:r>
              <a:rPr lang="vi-VN" sz="3600"/>
              <a:t>R</a:t>
            </a:r>
            <a:r>
              <a:rPr sz="3600"/>
              <a:t>epresentative algorithms (Grover's </a:t>
            </a:r>
            <a:r>
              <a:rPr lang="en-VN" sz="3600"/>
              <a:t>algo</a:t>
            </a:r>
            <a:r>
              <a:rPr sz="3600"/>
              <a:t>)</a:t>
            </a:r>
            <a:endParaRPr lang="vi-VN" sz="3600"/>
          </a:p>
          <a:p>
            <a:pPr marL="514350" indent="-514350">
              <a:buFont typeface="+mj-lt"/>
              <a:buAutoNum type="arabicPeriod"/>
            </a:pPr>
            <a:r>
              <a:rPr lang="vi-VN" sz="3600"/>
              <a:t>S</a:t>
            </a:r>
            <a:r>
              <a:rPr sz="3600"/>
              <a:t>ources of quantum advantage</a:t>
            </a:r>
            <a:endParaRPr lang="vi-VN" sz="3600"/>
          </a:p>
          <a:p>
            <a:pPr marL="514350" indent="-514350">
              <a:buFont typeface="+mj-lt"/>
              <a:buAutoNum type="arabicPeriod"/>
            </a:pPr>
            <a:r>
              <a:rPr lang="vi-VN" sz="3600"/>
              <a:t>Q</a:t>
            </a:r>
            <a:r>
              <a:rPr sz="3600"/>
              <a:t>uantum machine learning bottlenecks.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B1A80-900A-9131-F1D8-934A31821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53094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  <a:blipFill>
                <a:blip r:embed="rId3"/>
                <a:stretch>
                  <a:fillRect l="-1125" t="-15116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/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𝑆𝑡𝑎𝑡𝑒𝑠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/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𝐴𝑙𝑝h𝑎𝑏𝑒𝑙𝑡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={0,1,#}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/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{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/>
                  <a:t> (transition function)</a:t>
                </a:r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blipFill>
                <a:blip r:embed="rId6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Hình ảnh 28">
            <a:extLst>
              <a:ext uri="{FF2B5EF4-FFF2-40B4-BE49-F238E27FC236}">
                <a16:creationId xmlns:a16="http://schemas.microsoft.com/office/drawing/2014/main" id="{16B9172C-B5D1-4CBD-A08A-342A1E56F4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74" y="3648348"/>
            <a:ext cx="6969520" cy="1721615"/>
          </a:xfrm>
          <a:prstGeom prst="rect">
            <a:avLst/>
          </a:prstGeom>
        </p:spPr>
      </p:pic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FD000624-780D-4752-9231-01CF20EC4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2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1AF477-930E-4302-B3EE-9AC4ED3C4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39DCE85-C6C8-403C-92D6-725D61FA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4</a:t>
            </a:fld>
            <a:endParaRPr lang="vi-VN"/>
          </a:p>
        </p:txBody>
      </p:sp>
      <p:graphicFrame>
        <p:nvGraphicFramePr>
          <p:cNvPr id="5" name="Bảng 5">
            <a:extLst>
              <a:ext uri="{FF2B5EF4-FFF2-40B4-BE49-F238E27FC236}">
                <a16:creationId xmlns:a16="http://schemas.microsoft.com/office/drawing/2014/main" id="{29AE3E99-5E65-443F-95B2-2872B6A3E3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91218"/>
          <a:ext cx="8128000" cy="5085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83170927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65328006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8985353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97364575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1169872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427591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02282619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11833016"/>
                    </a:ext>
                  </a:extLst>
                </a:gridCol>
              </a:tblGrid>
              <a:tr h="50850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1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449240"/>
                  </a:ext>
                </a:extLst>
              </a:tr>
            </a:tbl>
          </a:graphicData>
        </a:graphic>
      </p:graphicFrame>
      <p:sp>
        <p:nvSpPr>
          <p:cNvPr id="6" name="Hình chữ nhật 5">
            <a:extLst>
              <a:ext uri="{FF2B5EF4-FFF2-40B4-BE49-F238E27FC236}">
                <a16:creationId xmlns:a16="http://schemas.microsoft.com/office/drawing/2014/main" id="{643682D6-8910-4935-9A06-DF553F395132}"/>
              </a:ext>
            </a:extLst>
          </p:cNvPr>
          <p:cNvSpPr/>
          <p:nvPr/>
        </p:nvSpPr>
        <p:spPr>
          <a:xfrm>
            <a:off x="3909391" y="2004807"/>
            <a:ext cx="980661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Reader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8" name="Đường kết nối Mũi tên Thẳng 7">
            <a:extLst>
              <a:ext uri="{FF2B5EF4-FFF2-40B4-BE49-F238E27FC236}">
                <a16:creationId xmlns:a16="http://schemas.microsoft.com/office/drawing/2014/main" id="{D3008B2A-DC2F-4DB0-8C7C-1F99089AF5E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399722" y="2636961"/>
            <a:ext cx="0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B550DC39-AE65-4D24-9C2F-7B8D6B25E375}"/>
              </a:ext>
            </a:extLst>
          </p:cNvPr>
          <p:cNvSpPr txBox="1"/>
          <p:nvPr/>
        </p:nvSpPr>
        <p:spPr>
          <a:xfrm>
            <a:off x="4562613" y="3207767"/>
            <a:ext cx="212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Read – write head</a:t>
            </a:r>
            <a:endParaRPr lang="vi-VN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1D9C9DEA-308A-47C8-88E0-64DA73646AA9}"/>
              </a:ext>
            </a:extLst>
          </p:cNvPr>
          <p:cNvSpPr/>
          <p:nvPr/>
        </p:nvSpPr>
        <p:spPr>
          <a:xfrm>
            <a:off x="1921565" y="2004807"/>
            <a:ext cx="1398105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Guessing module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E367457E-BDA6-411D-853E-C240825DBEF9}"/>
              </a:ext>
            </a:extLst>
          </p:cNvPr>
          <p:cNvCxnSpPr>
            <a:stCxn id="14" idx="3"/>
            <a:endCxn id="6" idx="1"/>
          </p:cNvCxnSpPr>
          <p:nvPr/>
        </p:nvCxnSpPr>
        <p:spPr>
          <a:xfrm>
            <a:off x="3319670" y="2320884"/>
            <a:ext cx="58972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0A6FDE9-2CE4-429B-AD94-5863FBAE274C}"/>
              </a:ext>
            </a:extLst>
          </p:cNvPr>
          <p:cNvSpPr txBox="1"/>
          <p:nvPr/>
        </p:nvSpPr>
        <p:spPr>
          <a:xfrm>
            <a:off x="9114734" y="3960804"/>
            <a:ext cx="691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Tape</a:t>
            </a:r>
            <a:endParaRPr lang="vi-VN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85BCC914-0851-429F-B6B6-19621D5D327B}"/>
              </a:ext>
            </a:extLst>
          </p:cNvPr>
          <p:cNvCxnSpPr>
            <a:stCxn id="14" idx="2"/>
          </p:cNvCxnSpPr>
          <p:nvPr/>
        </p:nvCxnSpPr>
        <p:spPr>
          <a:xfrm>
            <a:off x="2620618" y="2636961"/>
            <a:ext cx="1487556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79E155EA-EEBF-49B0-BA92-8AFBB0C39ABD}"/>
              </a:ext>
            </a:extLst>
          </p:cNvPr>
          <p:cNvSpPr txBox="1"/>
          <p:nvPr/>
        </p:nvSpPr>
        <p:spPr>
          <a:xfrm>
            <a:off x="1356692" y="3264089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Write - only head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322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begChr m:val="{"/>
                        <m:endChr m:val="}"/>
                        <m:ctrlPr>
                          <a:rPr lang="el-G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 denotes for power set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blipFill>
                <a:blip r:embed="rId3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21B9B49-9838-45E7-BE03-0CC167A0C02C}"/>
              </a:ext>
            </a:extLst>
          </p:cNvPr>
          <p:cNvSpPr txBox="1"/>
          <p:nvPr/>
        </p:nvSpPr>
        <p:spPr>
          <a:xfrm>
            <a:off x="838200" y="3190064"/>
            <a:ext cx="107309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>
                <a:solidFill>
                  <a:srgbClr val="000000"/>
                </a:solidFill>
                <a:effectLst/>
                <a:latin typeface="Calibri (Thân)"/>
              </a:rPr>
              <a:t>If the problem is solvable in polynomial time by a non-deterministic Turing machine, the problem belongs to NP class</a:t>
            </a:r>
            <a:endParaRPr lang="vi-VN" sz="2800">
              <a:latin typeface="Calibri (Thân)"/>
            </a:endParaRPr>
          </a:p>
        </p:txBody>
      </p:sp>
    </p:spTree>
    <p:extLst>
      <p:ext uri="{BB962C8B-B14F-4D97-AF65-F5344CB8AC3E}">
        <p14:creationId xmlns:p14="http://schemas.microsoft.com/office/powerpoint/2010/main" val="2337822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609600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EB26EA95-6673-4865-843C-5E7D8BD08EAC}"/>
              </a:ext>
            </a:extLst>
          </p:cNvPr>
          <p:cNvCxnSpPr>
            <a:cxnSpLocks/>
          </p:cNvCxnSpPr>
          <p:nvPr/>
        </p:nvCxnSpPr>
        <p:spPr>
          <a:xfrm flipH="1">
            <a:off x="1596098" y="661182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D926BDF1-53C3-4E5E-B535-154D8439F2B9}"/>
              </a:ext>
            </a:extLst>
          </p:cNvPr>
          <p:cNvCxnSpPr>
            <a:cxnSpLocks/>
          </p:cNvCxnSpPr>
          <p:nvPr/>
        </p:nvCxnSpPr>
        <p:spPr>
          <a:xfrm flipH="1">
            <a:off x="1614855" y="5275385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B71046D7-D684-43AB-9E56-7142AB5E1C78}"/>
              </a:ext>
            </a:extLst>
          </p:cNvPr>
          <p:cNvCxnSpPr/>
          <p:nvPr/>
        </p:nvCxnSpPr>
        <p:spPr>
          <a:xfrm>
            <a:off x="1842282" y="661182"/>
            <a:ext cx="0" cy="4614203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738084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745821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738084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745821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736912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744649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736912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761310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799396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824234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864883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672390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738084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655531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610772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745821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/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/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6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C1DEE39F-21A2-4712-B59A-A857340A934B}"/>
              </a:ext>
            </a:extLst>
          </p:cNvPr>
          <p:cNvSpPr txBox="1"/>
          <p:nvPr/>
        </p:nvSpPr>
        <p:spPr>
          <a:xfrm>
            <a:off x="2511744" y="5275385"/>
            <a:ext cx="22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 computation path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A22AFEA1-8CA9-4BD2-BE15-C6D025568D8B}"/>
                  </a:ext>
                </a:extLst>
              </p:cNvPr>
              <p:cNvSpPr txBox="1"/>
              <p:nvPr/>
            </p:nvSpPr>
            <p:spPr>
              <a:xfrm>
                <a:off x="6723908" y="5287375"/>
                <a:ext cx="2232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computation path</a:t>
                </a:r>
                <a:endParaRPr lang="vi-VN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A22AFEA1-8CA9-4BD2-BE15-C6D02556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908" y="5287375"/>
                <a:ext cx="2232886" cy="369332"/>
              </a:xfrm>
              <a:prstGeom prst="rect">
                <a:avLst/>
              </a:prstGeom>
              <a:blipFill>
                <a:blip r:embed="rId7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196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403CF82-CE53-40AD-9D89-6216C2FD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Sub-set sum problem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Given a set 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What sub-set of S has sum equal 7?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582ABA6-3A1B-4C50-8824-990A625E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52797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768626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897110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904847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897110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904847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895938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903675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895938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920336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958422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983260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1023909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831416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897110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814557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769798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904847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/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/>
                  <a:t>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</a:t>
                </a:r>
                <a:endParaRPr lang="vi-VN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l="-800" t="-8197" b="-2459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/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/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/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/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blipFill>
                <a:blip r:embed="rId9"/>
                <a:stretch>
                  <a:fillRect l="-4425"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/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{5}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blipFill>
                <a:blip r:embed="rId10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Đường kết nối Mũi tên Thẳng 50">
            <a:extLst>
              <a:ext uri="{FF2B5EF4-FFF2-40B4-BE49-F238E27FC236}">
                <a16:creationId xmlns:a16="http://schemas.microsoft.com/office/drawing/2014/main" id="{9FF72441-5101-4454-83F8-3CA453D680C4}"/>
              </a:ext>
            </a:extLst>
          </p:cNvPr>
          <p:cNvCxnSpPr>
            <a:cxnSpLocks/>
          </p:cNvCxnSpPr>
          <p:nvPr/>
        </p:nvCxnSpPr>
        <p:spPr>
          <a:xfrm flipH="1">
            <a:off x="8078814" y="1610367"/>
            <a:ext cx="835946" cy="4148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Hình Bầu dục 52">
            <a:extLst>
              <a:ext uri="{FF2B5EF4-FFF2-40B4-BE49-F238E27FC236}">
                <a16:creationId xmlns:a16="http://schemas.microsoft.com/office/drawing/2014/main" id="{9A225D5B-DD69-4E74-90A4-40370BB1C1F2}"/>
              </a:ext>
            </a:extLst>
          </p:cNvPr>
          <p:cNvSpPr/>
          <p:nvPr/>
        </p:nvSpPr>
        <p:spPr>
          <a:xfrm>
            <a:off x="7946355" y="21799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/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blipFill>
                <a:blip r:embed="rId11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Đường kết nối Mũi tên Thẳng 57">
            <a:extLst>
              <a:ext uri="{FF2B5EF4-FFF2-40B4-BE49-F238E27FC236}">
                <a16:creationId xmlns:a16="http://schemas.microsoft.com/office/drawing/2014/main" id="{C25BB3C1-BE7B-4F4A-AB58-4153B1ACF79B}"/>
              </a:ext>
            </a:extLst>
          </p:cNvPr>
          <p:cNvCxnSpPr>
            <a:cxnSpLocks/>
            <a:endCxn id="50" idx="3"/>
          </p:cNvCxnSpPr>
          <p:nvPr/>
        </p:nvCxnSpPr>
        <p:spPr>
          <a:xfrm>
            <a:off x="9353923" y="1526343"/>
            <a:ext cx="1013385" cy="53249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Hình Bầu dục 59">
            <a:extLst>
              <a:ext uri="{FF2B5EF4-FFF2-40B4-BE49-F238E27FC236}">
                <a16:creationId xmlns:a16="http://schemas.microsoft.com/office/drawing/2014/main" id="{A84F3858-5A2F-4814-B927-B75709F5F00E}"/>
              </a:ext>
            </a:extLst>
          </p:cNvPr>
          <p:cNvSpPr/>
          <p:nvPr/>
        </p:nvSpPr>
        <p:spPr>
          <a:xfrm>
            <a:off x="10404509" y="2166134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/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blipFill>
                <a:blip r:embed="rId12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/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Đường kết nối Mũi tên Thẳng 65">
            <a:extLst>
              <a:ext uri="{FF2B5EF4-FFF2-40B4-BE49-F238E27FC236}">
                <a16:creationId xmlns:a16="http://schemas.microsoft.com/office/drawing/2014/main" id="{5BFAC735-3EA9-434F-A978-A8F1473B37AE}"/>
              </a:ext>
            </a:extLst>
          </p:cNvPr>
          <p:cNvCxnSpPr>
            <a:cxnSpLocks/>
          </p:cNvCxnSpPr>
          <p:nvPr/>
        </p:nvCxnSpPr>
        <p:spPr>
          <a:xfrm flipH="1">
            <a:off x="7516932" y="312111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kết nối Mũi tên Thẳng 66">
            <a:extLst>
              <a:ext uri="{FF2B5EF4-FFF2-40B4-BE49-F238E27FC236}">
                <a16:creationId xmlns:a16="http://schemas.microsoft.com/office/drawing/2014/main" id="{1F249832-6DDA-4E51-A016-D8EDD18D8B1D}"/>
              </a:ext>
            </a:extLst>
          </p:cNvPr>
          <p:cNvCxnSpPr>
            <a:cxnSpLocks/>
          </p:cNvCxnSpPr>
          <p:nvPr/>
        </p:nvCxnSpPr>
        <p:spPr>
          <a:xfrm flipH="1">
            <a:off x="9661593" y="3184443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Đường kết nối Mũi tên Thẳng 67">
            <a:extLst>
              <a:ext uri="{FF2B5EF4-FFF2-40B4-BE49-F238E27FC236}">
                <a16:creationId xmlns:a16="http://schemas.microsoft.com/office/drawing/2014/main" id="{0C8569F8-01D6-4597-8DED-C5194E50C5DC}"/>
              </a:ext>
            </a:extLst>
          </p:cNvPr>
          <p:cNvCxnSpPr>
            <a:cxnSpLocks/>
          </p:cNvCxnSpPr>
          <p:nvPr/>
        </p:nvCxnSpPr>
        <p:spPr>
          <a:xfrm>
            <a:off x="10473415" y="3177457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Đường kết nối Mũi tên Thẳng 68">
            <a:extLst>
              <a:ext uri="{FF2B5EF4-FFF2-40B4-BE49-F238E27FC236}">
                <a16:creationId xmlns:a16="http://schemas.microsoft.com/office/drawing/2014/main" id="{FDCE744D-74E2-46AD-B1BE-9F3DDC526EC5}"/>
              </a:ext>
            </a:extLst>
          </p:cNvPr>
          <p:cNvCxnSpPr>
            <a:cxnSpLocks/>
          </p:cNvCxnSpPr>
          <p:nvPr/>
        </p:nvCxnSpPr>
        <p:spPr>
          <a:xfrm>
            <a:off x="8266294" y="3158130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241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ộp Văn bản 3">
            <a:extLst>
              <a:ext uri="{FF2B5EF4-FFF2-40B4-BE49-F238E27FC236}">
                <a16:creationId xmlns:a16="http://schemas.microsoft.com/office/drawing/2014/main" id="{4899650B-827B-4A4A-8A8E-D2939D513AF3}"/>
              </a:ext>
            </a:extLst>
          </p:cNvPr>
          <p:cNvSpPr txBox="1"/>
          <p:nvPr/>
        </p:nvSpPr>
        <p:spPr>
          <a:xfrm>
            <a:off x="5335862" y="13145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7" name="Hộp Văn bản 5">
            <a:extLst>
              <a:ext uri="{FF2B5EF4-FFF2-40B4-BE49-F238E27FC236}">
                <a16:creationId xmlns:a16="http://schemas.microsoft.com/office/drawing/2014/main" id="{3BE36AF5-A4AD-4883-9B2D-DE5A3D3748EF}"/>
              </a:ext>
            </a:extLst>
          </p:cNvPr>
          <p:cNvSpPr txBox="1"/>
          <p:nvPr/>
        </p:nvSpPr>
        <p:spPr>
          <a:xfrm>
            <a:off x="3359938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195C7464-A932-4FB0-8EB8-7693BC9A186E}"/>
              </a:ext>
            </a:extLst>
          </p:cNvPr>
          <p:cNvSpPr txBox="1"/>
          <p:nvPr/>
        </p:nvSpPr>
        <p:spPr>
          <a:xfrm>
            <a:off x="7240277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9" name="Hộp Văn bản 9">
            <a:extLst>
              <a:ext uri="{FF2B5EF4-FFF2-40B4-BE49-F238E27FC236}">
                <a16:creationId xmlns:a16="http://schemas.microsoft.com/office/drawing/2014/main" id="{69B0EA51-C736-47B0-9846-0C6061CB3F2D}"/>
              </a:ext>
            </a:extLst>
          </p:cNvPr>
          <p:cNvSpPr txBox="1"/>
          <p:nvPr/>
        </p:nvSpPr>
        <p:spPr>
          <a:xfrm>
            <a:off x="5335862" y="462600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 = coP</a:t>
            </a:r>
          </a:p>
        </p:txBody>
      </p:sp>
      <p:cxnSp>
        <p:nvCxnSpPr>
          <p:cNvPr id="10" name="Đường nối Thẳng 11">
            <a:extLst>
              <a:ext uri="{FF2B5EF4-FFF2-40B4-BE49-F238E27FC236}">
                <a16:creationId xmlns:a16="http://schemas.microsoft.com/office/drawing/2014/main" id="{5A907E54-FE09-4559-ADB9-851D6826B0BC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3873409" y="1683873"/>
            <a:ext cx="1975924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2">
            <a:extLst>
              <a:ext uri="{FF2B5EF4-FFF2-40B4-BE49-F238E27FC236}">
                <a16:creationId xmlns:a16="http://schemas.microsoft.com/office/drawing/2014/main" id="{443D0DA4-990F-43E0-9B8C-38A2BD4EA196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5849333" y="1683873"/>
            <a:ext cx="1904415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5">
            <a:extLst>
              <a:ext uri="{FF2B5EF4-FFF2-40B4-BE49-F238E27FC236}">
                <a16:creationId xmlns:a16="http://schemas.microsoft.com/office/drawing/2014/main" id="{502D5CC6-A8C1-4C7E-BA0B-D47FEBEE9BB1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3873409" y="3930932"/>
            <a:ext cx="1975924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8">
            <a:extLst>
              <a:ext uri="{FF2B5EF4-FFF2-40B4-BE49-F238E27FC236}">
                <a16:creationId xmlns:a16="http://schemas.microsoft.com/office/drawing/2014/main" id="{179866E4-94B3-416F-9738-9FBA2BD0346C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5849333" y="3930932"/>
            <a:ext cx="1904415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51DC0F0-6D17-48B8-B24E-DCFBB15DCF29}"/>
              </a:ext>
            </a:extLst>
          </p:cNvPr>
          <p:cNvSpPr txBox="1"/>
          <p:nvPr/>
        </p:nvSpPr>
        <p:spPr>
          <a:xfrm>
            <a:off x="4705747" y="50631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step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B564330D-7689-406B-8A9E-29046928DE0F}"/>
              </a:ext>
            </a:extLst>
          </p:cNvPr>
          <p:cNvSpPr txBox="1"/>
          <p:nvPr/>
        </p:nvSpPr>
        <p:spPr>
          <a:xfrm>
            <a:off x="4386879" y="7977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</a:t>
            </a:r>
            <a:r>
              <a:rPr lang="en-US" b="1"/>
              <a:t>SPACE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28D65A1-9899-4286-9F68-7771F26C957A}"/>
              </a:ext>
            </a:extLst>
          </p:cNvPr>
          <p:cNvSpPr txBox="1"/>
          <p:nvPr/>
        </p:nvSpPr>
        <p:spPr>
          <a:xfrm>
            <a:off x="1039784" y="3355136"/>
            <a:ext cx="30352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onderterministic Turing machine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in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olynomial number of step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F25A91E-BDB0-493A-8229-2ABE891879EF}"/>
              </a:ext>
            </a:extLst>
          </p:cNvPr>
          <p:cNvSpPr txBox="1"/>
          <p:nvPr/>
        </p:nvSpPr>
        <p:spPr>
          <a:xfrm>
            <a:off x="8104216" y="35135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 </a:t>
            </a:r>
            <a:r>
              <a:rPr lang="en-US" b="1"/>
              <a:t>co</a:t>
            </a:r>
            <a:r>
              <a:rPr lang="en-US"/>
              <a:t>mplement of </a:t>
            </a:r>
            <a:r>
              <a:rPr lang="en-US" b="1"/>
              <a:t>NP</a:t>
            </a:r>
          </a:p>
        </p:txBody>
      </p:sp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14DA6B99-48C1-4EEE-B84C-595268F5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9</a:t>
            </a:fld>
            <a:endParaRPr lang="en-US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D7DB7CAF-2ECD-40A0-8814-9DAF602FE61A}"/>
              </a:ext>
            </a:extLst>
          </p:cNvPr>
          <p:cNvSpPr txBox="1"/>
          <p:nvPr/>
        </p:nvSpPr>
        <p:spPr>
          <a:xfrm>
            <a:off x="1039783" y="4300264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tồn tại hay không một tập hợp con có tổng bằng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1D2ACE9-0056-43F3-A892-7A082DA3A157}"/>
              </a:ext>
            </a:extLst>
          </p:cNvPr>
          <p:cNvSpPr txBox="1"/>
          <p:nvPr/>
        </p:nvSpPr>
        <p:spPr>
          <a:xfrm>
            <a:off x="4861371" y="5500359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Tồn tại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6266F116-CFAF-4EAB-A338-8785887B097D}"/>
              </a:ext>
            </a:extLst>
          </p:cNvPr>
          <p:cNvSpPr txBox="1"/>
          <p:nvPr/>
        </p:nvSpPr>
        <p:spPr>
          <a:xfrm>
            <a:off x="1039782" y="2656860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Kiểm tra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044E8B89-CCF2-4EBF-9C07-3462AEFBDEB2}"/>
              </a:ext>
            </a:extLst>
          </p:cNvPr>
          <p:cNvSpPr txBox="1"/>
          <p:nvPr/>
        </p:nvSpPr>
        <p:spPr>
          <a:xfrm>
            <a:off x="8212067" y="3978985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có phải tất cả tập hợp con đều có tổng khác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399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el-GR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l-G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Hình ảnh 6">
            <a:extLst>
              <a:ext uri="{FF2B5EF4-FFF2-40B4-BE49-F238E27FC236}">
                <a16:creationId xmlns:a16="http://schemas.microsoft.com/office/drawing/2014/main" id="{60A31778-4DD9-4ED2-A19B-29111639A2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409" t="24653" r="24684" b="26570"/>
          <a:stretch/>
        </p:blipFill>
        <p:spPr>
          <a:xfrm>
            <a:off x="848357" y="3193774"/>
            <a:ext cx="6466844" cy="297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24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/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/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/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blipFill>
                <a:blip r:embed="rId4"/>
                <a:stretch>
                  <a:fillRect l="-1402" r="-3738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/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blipFill>
                <a:blip r:embed="rId5"/>
                <a:stretch>
                  <a:fillRect l="-1402" r="-3738"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/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blipFill>
                <a:blip r:embed="rId6"/>
                <a:stretch>
                  <a:fillRect l="-1395" r="-1860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Đường kết nối Mũi tên Thẳng 16">
            <a:extLst>
              <a:ext uri="{FF2B5EF4-FFF2-40B4-BE49-F238E27FC236}">
                <a16:creationId xmlns:a16="http://schemas.microsoft.com/office/drawing/2014/main" id="{9601C23A-172B-4E59-A10A-5CBAD2AC9DD7}"/>
              </a:ext>
            </a:extLst>
          </p:cNvPr>
          <p:cNvCxnSpPr/>
          <p:nvPr/>
        </p:nvCxnSpPr>
        <p:spPr>
          <a:xfrm>
            <a:off x="1925432" y="33877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kết nối Mũi tên Thẳng 17">
            <a:extLst>
              <a:ext uri="{FF2B5EF4-FFF2-40B4-BE49-F238E27FC236}">
                <a16:creationId xmlns:a16="http://schemas.microsoft.com/office/drawing/2014/main" id="{B1A83D17-BC83-4A1F-9913-96C1F7BEB4B9}"/>
              </a:ext>
            </a:extLst>
          </p:cNvPr>
          <p:cNvCxnSpPr/>
          <p:nvPr/>
        </p:nvCxnSpPr>
        <p:spPr>
          <a:xfrm>
            <a:off x="1904720" y="4068723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kết nối Mũi tên Thẳng 18">
            <a:extLst>
              <a:ext uri="{FF2B5EF4-FFF2-40B4-BE49-F238E27FC236}">
                <a16:creationId xmlns:a16="http://schemas.microsoft.com/office/drawing/2014/main" id="{21D822B5-504A-43C0-8D9A-26B708CCF172}"/>
              </a:ext>
            </a:extLst>
          </p:cNvPr>
          <p:cNvCxnSpPr/>
          <p:nvPr/>
        </p:nvCxnSpPr>
        <p:spPr>
          <a:xfrm>
            <a:off x="1904720" y="47594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/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/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0.23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/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0.08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Đường kết nối Mũi tên Thẳng 25">
            <a:extLst>
              <a:ext uri="{FF2B5EF4-FFF2-40B4-BE49-F238E27FC236}">
                <a16:creationId xmlns:a16="http://schemas.microsoft.com/office/drawing/2014/main" id="{D5DDF98E-7329-4CCE-8909-B81D717E02D1}"/>
              </a:ext>
            </a:extLst>
          </p:cNvPr>
          <p:cNvCxnSpPr/>
          <p:nvPr/>
        </p:nvCxnSpPr>
        <p:spPr>
          <a:xfrm>
            <a:off x="1925432" y="54325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/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Đường nối Thẳng 29">
            <a:extLst>
              <a:ext uri="{FF2B5EF4-FFF2-40B4-BE49-F238E27FC236}">
                <a16:creationId xmlns:a16="http://schemas.microsoft.com/office/drawing/2014/main" id="{7FDD6D6A-1139-41F4-818B-6AC902A82DBC}"/>
              </a:ext>
            </a:extLst>
          </p:cNvPr>
          <p:cNvCxnSpPr>
            <a:endCxn id="51" idx="3"/>
          </p:cNvCxnSpPr>
          <p:nvPr/>
        </p:nvCxnSpPr>
        <p:spPr>
          <a:xfrm flipH="1">
            <a:off x="1417625" y="3387726"/>
            <a:ext cx="507807" cy="865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Đường nối Thẳng 30">
            <a:extLst>
              <a:ext uri="{FF2B5EF4-FFF2-40B4-BE49-F238E27FC236}">
                <a16:creationId xmlns:a16="http://schemas.microsoft.com/office/drawing/2014/main" id="{CB8B904F-291F-4929-A330-3630E476F1B3}"/>
              </a:ext>
            </a:extLst>
          </p:cNvPr>
          <p:cNvCxnSpPr>
            <a:cxnSpLocks/>
            <a:endCxn id="51" idx="3"/>
          </p:cNvCxnSpPr>
          <p:nvPr/>
        </p:nvCxnSpPr>
        <p:spPr>
          <a:xfrm flipH="1">
            <a:off x="1417625" y="4060826"/>
            <a:ext cx="507807" cy="1925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Đường nối Thẳng 36">
            <a:extLst>
              <a:ext uri="{FF2B5EF4-FFF2-40B4-BE49-F238E27FC236}">
                <a16:creationId xmlns:a16="http://schemas.microsoft.com/office/drawing/2014/main" id="{942B4C86-68FC-4083-85BD-A0D2C7160BEB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487095" cy="51678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nối Thẳng 40">
            <a:extLst>
              <a:ext uri="{FF2B5EF4-FFF2-40B4-BE49-F238E27FC236}">
                <a16:creationId xmlns:a16="http://schemas.microsoft.com/office/drawing/2014/main" id="{ADBC72EC-3E7B-4257-8AE7-EA2A88391C39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507808" cy="117913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48855A97-1F69-46DC-8F29-E5AB51D1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11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F4A38D8-B0AF-49B6-8568-E5368FFBEE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3743" y="136525"/>
            <a:ext cx="6753714" cy="2484644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A66E0A68-98C4-41AA-8F31-721F64B715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59863" y="2642093"/>
            <a:ext cx="6727593" cy="2565035"/>
          </a:xfrm>
          <a:prstGeom prst="rect">
            <a:avLst/>
          </a:prstGeom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96A06B8D-2317-4D43-A32C-DA19024A8213}"/>
              </a:ext>
            </a:extLst>
          </p:cNvPr>
          <p:cNvSpPr txBox="1"/>
          <p:nvPr/>
        </p:nvSpPr>
        <p:spPr>
          <a:xfrm>
            <a:off x="5936974" y="1126435"/>
            <a:ext cx="728869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BFCE8099-47DB-40D5-A990-B1A8B5D6FD97}"/>
              </a:ext>
            </a:extLst>
          </p:cNvPr>
          <p:cNvSpPr txBox="1"/>
          <p:nvPr/>
        </p:nvSpPr>
        <p:spPr>
          <a:xfrm>
            <a:off x="6818244" y="1126435"/>
            <a:ext cx="1689652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7B2A4C77-6D5A-4D48-ACD4-BDF80185F64E}"/>
              </a:ext>
            </a:extLst>
          </p:cNvPr>
          <p:cNvSpPr txBox="1"/>
          <p:nvPr/>
        </p:nvSpPr>
        <p:spPr>
          <a:xfrm>
            <a:off x="3557375" y="1657905"/>
            <a:ext cx="1371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Lời giải đúng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91E29CCE-C7E4-4E98-A38A-B867E99FD64F}"/>
              </a:ext>
            </a:extLst>
          </p:cNvPr>
          <p:cNvSpPr txBox="1"/>
          <p:nvPr/>
        </p:nvSpPr>
        <p:spPr>
          <a:xfrm>
            <a:off x="2491409" y="2026259"/>
            <a:ext cx="2437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Chấp nhận lời giải đúng</a:t>
            </a:r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94F4A55E-62B7-4685-854C-CB37FA514011}"/>
              </a:ext>
            </a:extLst>
          </p:cNvPr>
          <p:cNvCxnSpPr>
            <a:cxnSpLocks/>
            <a:stCxn id="4" idx="2"/>
            <a:endCxn id="5" idx="3"/>
          </p:cNvCxnSpPr>
          <p:nvPr/>
        </p:nvCxnSpPr>
        <p:spPr>
          <a:xfrm flipH="1">
            <a:off x="4929273" y="1492871"/>
            <a:ext cx="1372136" cy="349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A7D80986-88E4-47AB-8D59-40238C81BA24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929272" y="1504123"/>
            <a:ext cx="2719176" cy="706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Hộp Văn bản 23">
            <a:extLst>
              <a:ext uri="{FF2B5EF4-FFF2-40B4-BE49-F238E27FC236}">
                <a16:creationId xmlns:a16="http://schemas.microsoft.com/office/drawing/2014/main" id="{DAA8A532-FCEE-9978-E23F-E58D4E3E9AE0}"/>
              </a:ext>
            </a:extLst>
          </p:cNvPr>
          <p:cNvSpPr txBox="1"/>
          <p:nvPr/>
        </p:nvSpPr>
        <p:spPr>
          <a:xfrm>
            <a:off x="8660297" y="1057732"/>
            <a:ext cx="260679" cy="5931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20B7E-A7B9-8825-4CF9-58B7365860A7}"/>
              </a:ext>
            </a:extLst>
          </p:cNvPr>
          <p:cNvSpPr txBox="1"/>
          <p:nvPr/>
        </p:nvSpPr>
        <p:spPr>
          <a:xfrm>
            <a:off x="9054790" y="1126435"/>
            <a:ext cx="1642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Tính hội tụ!</a:t>
            </a:r>
          </a:p>
        </p:txBody>
      </p:sp>
    </p:spTree>
    <p:extLst>
      <p:ext uri="{BB962C8B-B14F-4D97-AF65-F5344CB8AC3E}">
        <p14:creationId xmlns:p14="http://schemas.microsoft.com/office/powerpoint/2010/main" val="1654131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p:sp>
        <p:nvSpPr>
          <p:cNvPr id="6" name="Hộp Văn bản 35">
            <a:extLst>
              <a:ext uri="{FF2B5EF4-FFF2-40B4-BE49-F238E27FC236}">
                <a16:creationId xmlns:a16="http://schemas.microsoft.com/office/drawing/2014/main" id="{6BB01E60-7200-4A0D-8F37-6D0E676E6F46}"/>
              </a:ext>
            </a:extLst>
          </p:cNvPr>
          <p:cNvSpPr txBox="1"/>
          <p:nvPr/>
        </p:nvSpPr>
        <p:spPr>
          <a:xfrm>
            <a:off x="4111379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sp>
        <p:nvSpPr>
          <p:cNvPr id="7" name="Hộp Văn bản 36">
            <a:extLst>
              <a:ext uri="{FF2B5EF4-FFF2-40B4-BE49-F238E27FC236}">
                <a16:creationId xmlns:a16="http://schemas.microsoft.com/office/drawing/2014/main" id="{64D1F4EF-4076-49B7-BE66-4A42AB0C2C73}"/>
              </a:ext>
            </a:extLst>
          </p:cNvPr>
          <p:cNvSpPr txBox="1"/>
          <p:nvPr/>
        </p:nvSpPr>
        <p:spPr>
          <a:xfrm>
            <a:off x="3155356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8" name="Hộp Văn bản 37">
            <a:extLst>
              <a:ext uri="{FF2B5EF4-FFF2-40B4-BE49-F238E27FC236}">
                <a16:creationId xmlns:a16="http://schemas.microsoft.com/office/drawing/2014/main" id="{ACFB5F97-D996-427A-83C2-C90C003069C3}"/>
              </a:ext>
            </a:extLst>
          </p:cNvPr>
          <p:cNvSpPr txBox="1"/>
          <p:nvPr/>
        </p:nvSpPr>
        <p:spPr>
          <a:xfrm>
            <a:off x="5031062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/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ZPP = RP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 coRP</a:t>
                </a:r>
              </a:p>
            </p:txBody>
          </p:sp>
        </mc:Choice>
        <mc:Fallback xmlns="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blipFill>
                <a:blip r:embed="rId2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39">
            <a:extLst>
              <a:ext uri="{FF2B5EF4-FFF2-40B4-BE49-F238E27FC236}">
                <a16:creationId xmlns:a16="http://schemas.microsoft.com/office/drawing/2014/main" id="{64E97606-DF47-48B8-80EA-CED041388C0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3668827" y="2831091"/>
            <a:ext cx="956023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40">
            <a:extLst>
              <a:ext uri="{FF2B5EF4-FFF2-40B4-BE49-F238E27FC236}">
                <a16:creationId xmlns:a16="http://schemas.microsoft.com/office/drawing/2014/main" id="{BAE2A05C-BED8-488A-B679-4BDA387ACE3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4624850" y="2831091"/>
            <a:ext cx="919683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41">
            <a:extLst>
              <a:ext uri="{FF2B5EF4-FFF2-40B4-BE49-F238E27FC236}">
                <a16:creationId xmlns:a16="http://schemas.microsoft.com/office/drawing/2014/main" id="{9A70A531-26C8-4572-B5EE-F9B8B4435155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3668827" y="3911959"/>
            <a:ext cx="956023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42">
            <a:extLst>
              <a:ext uri="{FF2B5EF4-FFF2-40B4-BE49-F238E27FC236}">
                <a16:creationId xmlns:a16="http://schemas.microsoft.com/office/drawing/2014/main" id="{C57E1D4E-8C15-4CF2-A6DC-B6C91ABB266A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624850" y="3911959"/>
            <a:ext cx="919683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Hộp Văn bản 68">
            <a:extLst>
              <a:ext uri="{FF2B5EF4-FFF2-40B4-BE49-F238E27FC236}">
                <a16:creationId xmlns:a16="http://schemas.microsoft.com/office/drawing/2014/main" id="{57F8D259-0F2F-4C83-97CA-DFD0E6FD5B8F}"/>
              </a:ext>
            </a:extLst>
          </p:cNvPr>
          <p:cNvSpPr txBox="1"/>
          <p:nvPr/>
        </p:nvSpPr>
        <p:spPr>
          <a:xfrm>
            <a:off x="2908130" y="1571400"/>
            <a:ext cx="28127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Turing Machine in </a:t>
            </a:r>
            <a:r>
              <a:rPr lang="en-US" b="1"/>
              <a:t>P</a:t>
            </a:r>
            <a:r>
              <a:rPr lang="en-US"/>
              <a:t>olynomial time với khả năng xảy ra lỗi</a:t>
            </a:r>
          </a:p>
        </p:txBody>
      </p:sp>
      <p:sp>
        <p:nvSpPr>
          <p:cNvPr id="71" name="Hộp Văn bản 70">
            <a:extLst>
              <a:ext uri="{FF2B5EF4-FFF2-40B4-BE49-F238E27FC236}">
                <a16:creationId xmlns:a16="http://schemas.microsoft.com/office/drawing/2014/main" id="{521D1BA4-5C11-481F-9F2E-3B8ABDEA9337}"/>
              </a:ext>
            </a:extLst>
          </p:cNvPr>
          <p:cNvSpPr txBox="1"/>
          <p:nvPr/>
        </p:nvSpPr>
        <p:spPr>
          <a:xfrm>
            <a:off x="621711" y="3127128"/>
            <a:ext cx="26095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negative </a:t>
            </a:r>
            <a:r>
              <a:rPr lang="en-US"/>
              <a:t>only</a:t>
            </a:r>
          </a:p>
        </p:txBody>
      </p:sp>
      <p:sp>
        <p:nvSpPr>
          <p:cNvPr id="73" name="Hộp Văn bản 72">
            <a:extLst>
              <a:ext uri="{FF2B5EF4-FFF2-40B4-BE49-F238E27FC236}">
                <a16:creationId xmlns:a16="http://schemas.microsoft.com/office/drawing/2014/main" id="{55B088EB-589C-4691-99C5-3CEAEA0370F3}"/>
              </a:ext>
            </a:extLst>
          </p:cNvPr>
          <p:cNvSpPr txBox="1"/>
          <p:nvPr/>
        </p:nvSpPr>
        <p:spPr>
          <a:xfrm>
            <a:off x="5897394" y="2988628"/>
            <a:ext cx="22223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positive </a:t>
            </a:r>
            <a:r>
              <a:rPr lang="en-US"/>
              <a:t>only</a:t>
            </a:r>
          </a:p>
        </p:txBody>
      </p:sp>
      <p:sp>
        <p:nvSpPr>
          <p:cNvPr id="75" name="Hộp Văn bản 74">
            <a:extLst>
              <a:ext uri="{FF2B5EF4-FFF2-40B4-BE49-F238E27FC236}">
                <a16:creationId xmlns:a16="http://schemas.microsoft.com/office/drawing/2014/main" id="{9A135786-D991-4979-B009-960D493A947B}"/>
              </a:ext>
            </a:extLst>
          </p:cNvPr>
          <p:cNvSpPr txBox="1"/>
          <p:nvPr/>
        </p:nvSpPr>
        <p:spPr>
          <a:xfrm>
            <a:off x="2908130" y="5053511"/>
            <a:ext cx="33413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/ Random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error, allow ? result</a:t>
            </a:r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B4857F7C-0AB3-446F-B314-0D3B48FD3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12</a:t>
            </a:fld>
            <a:endParaRPr lang="en-US"/>
          </a:p>
        </p:txBody>
      </p:sp>
      <p:sp>
        <p:nvSpPr>
          <p:cNvPr id="4" name="Hộp Văn bản 57">
            <a:extLst>
              <a:ext uri="{FF2B5EF4-FFF2-40B4-BE49-F238E27FC236}">
                <a16:creationId xmlns:a16="http://schemas.microsoft.com/office/drawing/2014/main" id="{61018FFB-D409-7B1E-866B-2A4649ABF0A6}"/>
              </a:ext>
            </a:extLst>
          </p:cNvPr>
          <p:cNvSpPr txBox="1"/>
          <p:nvPr/>
        </p:nvSpPr>
        <p:spPr>
          <a:xfrm>
            <a:off x="9254819" y="138089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5" name="Hộp Văn bản 58">
            <a:extLst>
              <a:ext uri="{FF2B5EF4-FFF2-40B4-BE49-F238E27FC236}">
                <a16:creationId xmlns:a16="http://schemas.microsoft.com/office/drawing/2014/main" id="{1BE7FA0D-1939-0A32-835F-605DC9E773DD}"/>
              </a:ext>
            </a:extLst>
          </p:cNvPr>
          <p:cNvSpPr txBox="1"/>
          <p:nvPr/>
        </p:nvSpPr>
        <p:spPr>
          <a:xfrm>
            <a:off x="7278895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14" name="Hộp Văn bản 59">
            <a:extLst>
              <a:ext uri="{FF2B5EF4-FFF2-40B4-BE49-F238E27FC236}">
                <a16:creationId xmlns:a16="http://schemas.microsoft.com/office/drawing/2014/main" id="{FBC355E1-B7D2-2D78-628E-18AC8286B3CD}"/>
              </a:ext>
            </a:extLst>
          </p:cNvPr>
          <p:cNvSpPr txBox="1"/>
          <p:nvPr/>
        </p:nvSpPr>
        <p:spPr>
          <a:xfrm>
            <a:off x="11159234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15" name="Hộp Văn bản 60">
            <a:extLst>
              <a:ext uri="{FF2B5EF4-FFF2-40B4-BE49-F238E27FC236}">
                <a16:creationId xmlns:a16="http://schemas.microsoft.com/office/drawing/2014/main" id="{B4A0A31F-35FE-6AF6-BF14-D0E063FA4370}"/>
              </a:ext>
            </a:extLst>
          </p:cNvPr>
          <p:cNvSpPr txBox="1"/>
          <p:nvPr/>
        </p:nvSpPr>
        <p:spPr>
          <a:xfrm>
            <a:off x="9271818" y="527029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16" name="Đường nối Thẳng 61">
            <a:extLst>
              <a:ext uri="{FF2B5EF4-FFF2-40B4-BE49-F238E27FC236}">
                <a16:creationId xmlns:a16="http://schemas.microsoft.com/office/drawing/2014/main" id="{875EF112-96B4-241D-F26C-D03101D8423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7792366" y="1750223"/>
            <a:ext cx="1975924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nối Thẳng 62">
            <a:extLst>
              <a:ext uri="{FF2B5EF4-FFF2-40B4-BE49-F238E27FC236}">
                <a16:creationId xmlns:a16="http://schemas.microsoft.com/office/drawing/2014/main" id="{43292B1F-9740-0419-D07C-6E9A9666E00C}"/>
              </a:ext>
            </a:extLst>
          </p:cNvPr>
          <p:cNvCxnSpPr>
            <a:cxnSpLocks/>
            <a:stCxn id="14" idx="0"/>
            <a:endCxn id="4" idx="2"/>
          </p:cNvCxnSpPr>
          <p:nvPr/>
        </p:nvCxnSpPr>
        <p:spPr>
          <a:xfrm flipH="1" flipV="1">
            <a:off x="9768290" y="1750223"/>
            <a:ext cx="1904415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nối Thẳng 63">
            <a:extLst>
              <a:ext uri="{FF2B5EF4-FFF2-40B4-BE49-F238E27FC236}">
                <a16:creationId xmlns:a16="http://schemas.microsoft.com/office/drawing/2014/main" id="{335C0447-92CB-2FFC-CCBD-63504FC54DE8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H="1" flipV="1">
            <a:off x="7792366" y="2831091"/>
            <a:ext cx="1992923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64">
            <a:extLst>
              <a:ext uri="{FF2B5EF4-FFF2-40B4-BE49-F238E27FC236}">
                <a16:creationId xmlns:a16="http://schemas.microsoft.com/office/drawing/2014/main" id="{F5D4EF26-F464-EAF6-0371-487A78542974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V="1">
            <a:off x="9785289" y="2831091"/>
            <a:ext cx="1887416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Hộp Văn bản 75">
            <a:extLst>
              <a:ext uri="{FF2B5EF4-FFF2-40B4-BE49-F238E27FC236}">
                <a16:creationId xmlns:a16="http://schemas.microsoft.com/office/drawing/2014/main" id="{3CFF2BC4-DB21-9767-BCDB-D8E9F52523DD}"/>
              </a:ext>
            </a:extLst>
          </p:cNvPr>
          <p:cNvSpPr txBox="1"/>
          <p:nvPr/>
        </p:nvSpPr>
        <p:spPr>
          <a:xfrm>
            <a:off x="9254818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21" name="Đường nối Thẳng 76">
            <a:extLst>
              <a:ext uri="{FF2B5EF4-FFF2-40B4-BE49-F238E27FC236}">
                <a16:creationId xmlns:a16="http://schemas.microsoft.com/office/drawing/2014/main" id="{1855781B-C14D-9F61-AAE3-C820B92F39EC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9768289" y="1750223"/>
            <a:ext cx="1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Hộp Văn bản 85">
            <a:extLst>
              <a:ext uri="{FF2B5EF4-FFF2-40B4-BE49-F238E27FC236}">
                <a16:creationId xmlns:a16="http://schemas.microsoft.com/office/drawing/2014/main" id="{06262612-AE6A-EF77-1EAA-4CD925E55858}"/>
              </a:ext>
            </a:extLst>
          </p:cNvPr>
          <p:cNvSpPr txBox="1"/>
          <p:nvPr/>
        </p:nvSpPr>
        <p:spPr>
          <a:xfrm>
            <a:off x="8499757" y="311650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23" name="Hộp Văn bản 87">
            <a:extLst>
              <a:ext uri="{FF2B5EF4-FFF2-40B4-BE49-F238E27FC236}">
                <a16:creationId xmlns:a16="http://schemas.microsoft.com/office/drawing/2014/main" id="{A8F45C2A-6B27-8BC8-79DC-965426CA7B18}"/>
              </a:ext>
            </a:extLst>
          </p:cNvPr>
          <p:cNvSpPr txBox="1"/>
          <p:nvPr/>
        </p:nvSpPr>
        <p:spPr>
          <a:xfrm>
            <a:off x="9957131" y="311650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24" name="Hộp Văn bản 89">
            <a:extLst>
              <a:ext uri="{FF2B5EF4-FFF2-40B4-BE49-F238E27FC236}">
                <a16:creationId xmlns:a16="http://schemas.microsoft.com/office/drawing/2014/main" id="{6E417483-B1B3-7350-7EB8-46DA390C3C73}"/>
              </a:ext>
            </a:extLst>
          </p:cNvPr>
          <p:cNvSpPr txBox="1"/>
          <p:nvPr/>
        </p:nvSpPr>
        <p:spPr>
          <a:xfrm>
            <a:off x="9271818" y="4029454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25" name="Đường nối Thẳng 91">
            <a:extLst>
              <a:ext uri="{FF2B5EF4-FFF2-40B4-BE49-F238E27FC236}">
                <a16:creationId xmlns:a16="http://schemas.microsoft.com/office/drawing/2014/main" id="{C13761D8-6C99-ED61-1809-B0D88B987535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flipH="1">
            <a:off x="9013228" y="2831091"/>
            <a:ext cx="755061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Đường nối Thẳng 94">
            <a:extLst>
              <a:ext uri="{FF2B5EF4-FFF2-40B4-BE49-F238E27FC236}">
                <a16:creationId xmlns:a16="http://schemas.microsoft.com/office/drawing/2014/main" id="{0866C329-881A-99BC-0EB7-8881578EFD89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9768289" y="2831091"/>
            <a:ext cx="70231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nối Thẳng 97">
            <a:extLst>
              <a:ext uri="{FF2B5EF4-FFF2-40B4-BE49-F238E27FC236}">
                <a16:creationId xmlns:a16="http://schemas.microsoft.com/office/drawing/2014/main" id="{81669B04-3894-5B5C-64E5-9761EA375459}"/>
              </a:ext>
            </a:extLst>
          </p:cNvPr>
          <p:cNvCxnSpPr>
            <a:cxnSpLocks/>
            <a:stCxn id="24" idx="0"/>
            <a:endCxn id="23" idx="2"/>
          </p:cNvCxnSpPr>
          <p:nvPr/>
        </p:nvCxnSpPr>
        <p:spPr>
          <a:xfrm flipV="1">
            <a:off x="9785289" y="3485835"/>
            <a:ext cx="685313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nối Thẳng 100">
            <a:extLst>
              <a:ext uri="{FF2B5EF4-FFF2-40B4-BE49-F238E27FC236}">
                <a16:creationId xmlns:a16="http://schemas.microsoft.com/office/drawing/2014/main" id="{467E4E2D-C457-0012-72BB-046D2F197E02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9013228" y="3485835"/>
            <a:ext cx="772061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nối Thẳng 103">
            <a:extLst>
              <a:ext uri="{FF2B5EF4-FFF2-40B4-BE49-F238E27FC236}">
                <a16:creationId xmlns:a16="http://schemas.microsoft.com/office/drawing/2014/main" id="{8E927B9F-5675-405D-8066-01520EB83802}"/>
              </a:ext>
            </a:extLst>
          </p:cNvPr>
          <p:cNvCxnSpPr>
            <a:cxnSpLocks/>
            <a:stCxn id="24" idx="2"/>
            <a:endCxn id="15" idx="0"/>
          </p:cNvCxnSpPr>
          <p:nvPr/>
        </p:nvCxnSpPr>
        <p:spPr>
          <a:xfrm>
            <a:off x="9785289" y="4398786"/>
            <a:ext cx="0" cy="87150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nối Thẳng 106">
            <a:extLst>
              <a:ext uri="{FF2B5EF4-FFF2-40B4-BE49-F238E27FC236}">
                <a16:creationId xmlns:a16="http://schemas.microsoft.com/office/drawing/2014/main" id="{151E9DBE-DF9A-56B2-A5DA-9536EBFD0F59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>
            <a:off x="7792366" y="2831091"/>
            <a:ext cx="1220862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nối Thẳng 109">
            <a:extLst>
              <a:ext uri="{FF2B5EF4-FFF2-40B4-BE49-F238E27FC236}">
                <a16:creationId xmlns:a16="http://schemas.microsoft.com/office/drawing/2014/main" id="{48BA437F-B454-C55C-2CB0-740368173E50}"/>
              </a:ext>
            </a:extLst>
          </p:cNvPr>
          <p:cNvCxnSpPr>
            <a:cxnSpLocks/>
            <a:stCxn id="14" idx="2"/>
            <a:endCxn id="23" idx="0"/>
          </p:cNvCxnSpPr>
          <p:nvPr/>
        </p:nvCxnSpPr>
        <p:spPr>
          <a:xfrm flipH="1">
            <a:off x="10470602" y="2831091"/>
            <a:ext cx="120210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596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Quantum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/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l-GR" sz="2800"/>
                  <a:t>𝑄𝑇𝑀 = {𝑄, Σ,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</m:oMath>
                </a14:m>
                <a:r>
                  <a:rPr lang="el-GR" sz="2800"/>
                  <a:t>, 𝛿′}</a:t>
                </a:r>
                <a:endParaRPr lang="en-US" sz="2800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blipFill>
                <a:blip r:embed="rId3"/>
                <a:stretch>
                  <a:fillRect l="-2100" t="-1304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2BA585BF-8BC1-485B-BD62-BC514802A0D8}"/>
              </a:ext>
            </a:extLst>
          </p:cNvPr>
          <p:cNvSpPr txBox="1"/>
          <p:nvPr/>
        </p:nvSpPr>
        <p:spPr>
          <a:xfrm>
            <a:off x="838200" y="324693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/>
              <a:t>𝛿′: 𝑄 × 𝛴 × 𝑄 × 𝛴 × {𝐿, 𝑅} → ℂ</a:t>
            </a: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2AF9AEF5-84F2-4F5E-87BD-0441BF7DAC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770156"/>
            <a:ext cx="7883181" cy="1141085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2E371DA-E0CA-4F0F-BD5E-32BB48811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08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en-US" dirty="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DFBE3D19-6A1C-48C5-AF34-97C9CB19D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5456583" cy="2712993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16FF15A8-2064-430B-B40C-BE4FEC899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4673553"/>
            <a:ext cx="5305425" cy="1962150"/>
          </a:xfrm>
          <a:prstGeom prst="rect">
            <a:avLst/>
          </a:prstGeo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64771D7D-CFE2-4F45-813C-F1D21020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623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78F44C9-F3A7-4881-9CAF-A147B540E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7092590-C6FC-4AC2-B353-34CC98DD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15</a:t>
            </a:fld>
            <a:endParaRPr lang="vi-VN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7929C97-214B-41CC-96F5-1F51D01C2D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895" t="33149" r="12876" b="18888"/>
          <a:stretch/>
        </p:blipFill>
        <p:spPr>
          <a:xfrm>
            <a:off x="5963479" y="136525"/>
            <a:ext cx="6008756" cy="2350858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4D37776E-F5F9-41FF-82B9-7B749D3ECA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412" t="21449" r="10388" b="30048"/>
          <a:stretch/>
        </p:blipFill>
        <p:spPr>
          <a:xfrm>
            <a:off x="5963479" y="2487383"/>
            <a:ext cx="6008756" cy="2159824"/>
          </a:xfrm>
          <a:prstGeom prst="rect">
            <a:avLst/>
          </a:prstGeo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04D6DB95-9B2A-4210-BB71-1CED7702EE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412" t="38841" r="9952" b="15752"/>
          <a:stretch/>
        </p:blipFill>
        <p:spPr>
          <a:xfrm>
            <a:off x="5963479" y="4647207"/>
            <a:ext cx="6032449" cy="2018421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55D743A1-7A7B-46D7-BCD9-822EFAB6B585}"/>
              </a:ext>
            </a:extLst>
          </p:cNvPr>
          <p:cNvSpPr txBox="1"/>
          <p:nvPr/>
        </p:nvSpPr>
        <p:spPr>
          <a:xfrm>
            <a:off x="838200" y="1827425"/>
            <a:ext cx="4214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>
                <a:latin typeface="Calibri (Thân)"/>
              </a:rPr>
              <a:t>𝑬𝑸𝑷 ⊆ 𝒁𝑸𝑷 ⊆ 𝑩𝑸𝑷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E0E2C50-2275-45DC-BAAA-78F45A84C5C0}"/>
              </a:ext>
            </a:extLst>
          </p:cNvPr>
          <p:cNvSpPr txBox="1"/>
          <p:nvPr/>
        </p:nvSpPr>
        <p:spPr>
          <a:xfrm>
            <a:off x="4450953" y="5259236"/>
            <a:ext cx="17625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Deutsch-Jozsa,</a:t>
            </a:r>
          </a:p>
          <a:p>
            <a:r>
              <a:rPr lang="en-US"/>
              <a:t>Require only 1 query</a:t>
            </a:r>
            <a:endParaRPr lang="vi-VN"/>
          </a:p>
        </p:txBody>
      </p:sp>
      <p:sp>
        <p:nvSpPr>
          <p:cNvPr id="5" name="Hộp Văn bản 2">
            <a:extLst>
              <a:ext uri="{FF2B5EF4-FFF2-40B4-BE49-F238E27FC236}">
                <a16:creationId xmlns:a16="http://schemas.microsoft.com/office/drawing/2014/main" id="{19A29E29-5C8D-352F-CDD9-89F78ED1C0CD}"/>
              </a:ext>
            </a:extLst>
          </p:cNvPr>
          <p:cNvSpPr txBox="1"/>
          <p:nvPr/>
        </p:nvSpPr>
        <p:spPr>
          <a:xfrm>
            <a:off x="4450952" y="904095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Simon, Grover</a:t>
            </a:r>
            <a:endParaRPr lang="vi-VN"/>
          </a:p>
        </p:txBody>
      </p:sp>
      <p:sp>
        <p:nvSpPr>
          <p:cNvPr id="7" name="Hộp Văn bản 2">
            <a:extLst>
              <a:ext uri="{FF2B5EF4-FFF2-40B4-BE49-F238E27FC236}">
                <a16:creationId xmlns:a16="http://schemas.microsoft.com/office/drawing/2014/main" id="{5D1A2BBF-B1B7-7796-342E-BDA93F5D5B43}"/>
              </a:ext>
            </a:extLst>
          </p:cNvPr>
          <p:cNvSpPr txBox="1"/>
          <p:nvPr/>
        </p:nvSpPr>
        <p:spPr>
          <a:xfrm>
            <a:off x="4450951" y="3105630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Same as ZPP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27717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p:sp>
        <p:nvSpPr>
          <p:cNvPr id="32" name="Hộp Văn bản 57">
            <a:extLst>
              <a:ext uri="{FF2B5EF4-FFF2-40B4-BE49-F238E27FC236}">
                <a16:creationId xmlns:a16="http://schemas.microsoft.com/office/drawing/2014/main" id="{232CADA4-D0F0-422E-8F50-7D00CE5AB7F1}"/>
              </a:ext>
            </a:extLst>
          </p:cNvPr>
          <p:cNvSpPr txBox="1"/>
          <p:nvPr/>
        </p:nvSpPr>
        <p:spPr>
          <a:xfrm>
            <a:off x="7882621" y="57677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33" name="Hộp Văn bản 58">
            <a:extLst>
              <a:ext uri="{FF2B5EF4-FFF2-40B4-BE49-F238E27FC236}">
                <a16:creationId xmlns:a16="http://schemas.microsoft.com/office/drawing/2014/main" id="{2F534D8C-F0A5-47F6-AB4C-A177BEA34A5D}"/>
              </a:ext>
            </a:extLst>
          </p:cNvPr>
          <p:cNvSpPr txBox="1"/>
          <p:nvPr/>
        </p:nvSpPr>
        <p:spPr>
          <a:xfrm>
            <a:off x="5288331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34" name="Hộp Văn bản 59">
            <a:extLst>
              <a:ext uri="{FF2B5EF4-FFF2-40B4-BE49-F238E27FC236}">
                <a16:creationId xmlns:a16="http://schemas.microsoft.com/office/drawing/2014/main" id="{59B35F93-CA0F-4281-8D97-95ECB68847E2}"/>
              </a:ext>
            </a:extLst>
          </p:cNvPr>
          <p:cNvSpPr txBox="1"/>
          <p:nvPr/>
        </p:nvSpPr>
        <p:spPr>
          <a:xfrm>
            <a:off x="10324218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35" name="Hộp Văn bản 60">
            <a:extLst>
              <a:ext uri="{FF2B5EF4-FFF2-40B4-BE49-F238E27FC236}">
                <a16:creationId xmlns:a16="http://schemas.microsoft.com/office/drawing/2014/main" id="{3D880954-0A29-42D2-82AB-9710B92A226F}"/>
              </a:ext>
            </a:extLst>
          </p:cNvPr>
          <p:cNvSpPr txBox="1"/>
          <p:nvPr/>
        </p:nvSpPr>
        <p:spPr>
          <a:xfrm>
            <a:off x="7882619" y="6258468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36" name="Đường nối Thẳng 61">
            <a:extLst>
              <a:ext uri="{FF2B5EF4-FFF2-40B4-BE49-F238E27FC236}">
                <a16:creationId xmlns:a16="http://schemas.microsoft.com/office/drawing/2014/main" id="{AD2D291B-4367-42D3-815B-61484D0EED01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5801802" y="946107"/>
            <a:ext cx="2594290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nối Thẳng 62">
            <a:extLst>
              <a:ext uri="{FF2B5EF4-FFF2-40B4-BE49-F238E27FC236}">
                <a16:creationId xmlns:a16="http://schemas.microsoft.com/office/drawing/2014/main" id="{FFEF63AC-19D5-4683-BB61-38F42DC9DF66}"/>
              </a:ext>
            </a:extLst>
          </p:cNvPr>
          <p:cNvCxnSpPr>
            <a:cxnSpLocks/>
            <a:stCxn id="34" idx="0"/>
            <a:endCxn id="32" idx="2"/>
          </p:cNvCxnSpPr>
          <p:nvPr/>
        </p:nvCxnSpPr>
        <p:spPr>
          <a:xfrm flipH="1" flipV="1">
            <a:off x="8396092" y="946107"/>
            <a:ext cx="2441597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nối Thẳng 63">
            <a:extLst>
              <a:ext uri="{FF2B5EF4-FFF2-40B4-BE49-F238E27FC236}">
                <a16:creationId xmlns:a16="http://schemas.microsoft.com/office/drawing/2014/main" id="{F51F30A2-2B2C-4281-ADF1-BC7539311D02}"/>
              </a:ext>
            </a:extLst>
          </p:cNvPr>
          <p:cNvCxnSpPr>
            <a:cxnSpLocks/>
            <a:stCxn id="35" idx="0"/>
            <a:endCxn id="33" idx="2"/>
          </p:cNvCxnSpPr>
          <p:nvPr/>
        </p:nvCxnSpPr>
        <p:spPr>
          <a:xfrm flipH="1" flipV="1">
            <a:off x="5801802" y="2026975"/>
            <a:ext cx="2594288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64">
            <a:extLst>
              <a:ext uri="{FF2B5EF4-FFF2-40B4-BE49-F238E27FC236}">
                <a16:creationId xmlns:a16="http://schemas.microsoft.com/office/drawing/2014/main" id="{22927535-D4ED-4FDC-9426-5A26BBD13A2B}"/>
              </a:ext>
            </a:extLst>
          </p:cNvPr>
          <p:cNvCxnSpPr>
            <a:cxnSpLocks/>
            <a:stCxn id="35" idx="0"/>
            <a:endCxn id="34" idx="2"/>
          </p:cNvCxnSpPr>
          <p:nvPr/>
        </p:nvCxnSpPr>
        <p:spPr>
          <a:xfrm flipV="1">
            <a:off x="8396090" y="2026975"/>
            <a:ext cx="2441599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Hộp Văn bản 75">
            <a:extLst>
              <a:ext uri="{FF2B5EF4-FFF2-40B4-BE49-F238E27FC236}">
                <a16:creationId xmlns:a16="http://schemas.microsoft.com/office/drawing/2014/main" id="{0EC4E1DE-35B6-4D07-AE59-EECAECE162A5}"/>
              </a:ext>
            </a:extLst>
          </p:cNvPr>
          <p:cNvSpPr txBox="1"/>
          <p:nvPr/>
        </p:nvSpPr>
        <p:spPr>
          <a:xfrm>
            <a:off x="6756524" y="232006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41" name="Đường nối Thẳng 76">
            <a:extLst>
              <a:ext uri="{FF2B5EF4-FFF2-40B4-BE49-F238E27FC236}">
                <a16:creationId xmlns:a16="http://schemas.microsoft.com/office/drawing/2014/main" id="{55570F54-C16E-4F11-8004-84313CB07331}"/>
              </a:ext>
            </a:extLst>
          </p:cNvPr>
          <p:cNvCxnSpPr>
            <a:cxnSpLocks/>
            <a:stCxn id="52" idx="2"/>
            <a:endCxn id="40" idx="0"/>
          </p:cNvCxnSpPr>
          <p:nvPr/>
        </p:nvCxnSpPr>
        <p:spPr>
          <a:xfrm flipH="1">
            <a:off x="7269995" y="1764735"/>
            <a:ext cx="1118612" cy="55532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Hộp Văn bản 85">
            <a:extLst>
              <a:ext uri="{FF2B5EF4-FFF2-40B4-BE49-F238E27FC236}">
                <a16:creationId xmlns:a16="http://schemas.microsoft.com/office/drawing/2014/main" id="{F882B1EA-FB5B-41BA-9564-753D00F834E0}"/>
              </a:ext>
            </a:extLst>
          </p:cNvPr>
          <p:cNvSpPr txBox="1"/>
          <p:nvPr/>
        </p:nvSpPr>
        <p:spPr>
          <a:xfrm>
            <a:off x="7013259" y="395805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43" name="Hộp Văn bản 87">
            <a:extLst>
              <a:ext uri="{FF2B5EF4-FFF2-40B4-BE49-F238E27FC236}">
                <a16:creationId xmlns:a16="http://schemas.microsoft.com/office/drawing/2014/main" id="{0CF5A416-DADE-49E0-B566-778237358E20}"/>
              </a:ext>
            </a:extLst>
          </p:cNvPr>
          <p:cNvSpPr txBox="1"/>
          <p:nvPr/>
        </p:nvSpPr>
        <p:spPr>
          <a:xfrm>
            <a:off x="7899620" y="402249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44" name="Hộp Văn bản 89">
            <a:extLst>
              <a:ext uri="{FF2B5EF4-FFF2-40B4-BE49-F238E27FC236}">
                <a16:creationId xmlns:a16="http://schemas.microsoft.com/office/drawing/2014/main" id="{DFB0F095-AD77-485F-8008-1CA647D76310}"/>
              </a:ext>
            </a:extLst>
          </p:cNvPr>
          <p:cNvSpPr txBox="1"/>
          <p:nvPr/>
        </p:nvSpPr>
        <p:spPr>
          <a:xfrm>
            <a:off x="7899620" y="485183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45" name="Đường nối Thẳng 91">
            <a:extLst>
              <a:ext uri="{FF2B5EF4-FFF2-40B4-BE49-F238E27FC236}">
                <a16:creationId xmlns:a16="http://schemas.microsoft.com/office/drawing/2014/main" id="{D8E2A341-4780-441B-B64D-D82F2C049E89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>
            <a:off x="7269995" y="2689393"/>
            <a:ext cx="256735" cy="1268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Đường nối Thẳng 94">
            <a:extLst>
              <a:ext uri="{FF2B5EF4-FFF2-40B4-BE49-F238E27FC236}">
                <a16:creationId xmlns:a16="http://schemas.microsoft.com/office/drawing/2014/main" id="{76A604EC-3B48-491F-8AAD-6C8E00C55A61}"/>
              </a:ext>
            </a:extLst>
          </p:cNvPr>
          <p:cNvCxnSpPr>
            <a:cxnSpLocks/>
            <a:stCxn id="40" idx="2"/>
            <a:endCxn id="43" idx="0"/>
          </p:cNvCxnSpPr>
          <p:nvPr/>
        </p:nvCxnSpPr>
        <p:spPr>
          <a:xfrm>
            <a:off x="7269995" y="2689393"/>
            <a:ext cx="1143096" cy="133310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Đường nối Thẳng 97">
            <a:extLst>
              <a:ext uri="{FF2B5EF4-FFF2-40B4-BE49-F238E27FC236}">
                <a16:creationId xmlns:a16="http://schemas.microsoft.com/office/drawing/2014/main" id="{0627547A-EF77-48E9-B764-4BA1311AE2A2}"/>
              </a:ext>
            </a:extLst>
          </p:cNvPr>
          <p:cNvCxnSpPr>
            <a:cxnSpLocks/>
            <a:stCxn id="44" idx="0"/>
            <a:endCxn id="43" idx="2"/>
          </p:cNvCxnSpPr>
          <p:nvPr/>
        </p:nvCxnSpPr>
        <p:spPr>
          <a:xfrm flipV="1">
            <a:off x="8413091" y="4391829"/>
            <a:ext cx="0" cy="46000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nối Thẳng 100">
            <a:extLst>
              <a:ext uri="{FF2B5EF4-FFF2-40B4-BE49-F238E27FC236}">
                <a16:creationId xmlns:a16="http://schemas.microsoft.com/office/drawing/2014/main" id="{F5104D3D-A610-40DB-BC30-5EB991548EEC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7526730" y="4327388"/>
            <a:ext cx="886361" cy="52444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Đường nối Thẳng 103">
            <a:extLst>
              <a:ext uri="{FF2B5EF4-FFF2-40B4-BE49-F238E27FC236}">
                <a16:creationId xmlns:a16="http://schemas.microsoft.com/office/drawing/2014/main" id="{5DBA1211-0D45-4683-830C-B98D6886FDE8}"/>
              </a:ext>
            </a:extLst>
          </p:cNvPr>
          <p:cNvCxnSpPr>
            <a:cxnSpLocks/>
            <a:stCxn id="44" idx="2"/>
            <a:endCxn id="35" idx="0"/>
          </p:cNvCxnSpPr>
          <p:nvPr/>
        </p:nvCxnSpPr>
        <p:spPr>
          <a:xfrm flipH="1">
            <a:off x="8396090" y="5221162"/>
            <a:ext cx="17001" cy="103730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Đường nối Thẳng 106">
            <a:extLst>
              <a:ext uri="{FF2B5EF4-FFF2-40B4-BE49-F238E27FC236}">
                <a16:creationId xmlns:a16="http://schemas.microsoft.com/office/drawing/2014/main" id="{70F0B276-13C8-4B04-9D19-2A4381BFFAF9}"/>
              </a:ext>
            </a:extLst>
          </p:cNvPr>
          <p:cNvCxnSpPr>
            <a:cxnSpLocks/>
            <a:stCxn id="33" idx="2"/>
            <a:endCxn id="42" idx="0"/>
          </p:cNvCxnSpPr>
          <p:nvPr/>
        </p:nvCxnSpPr>
        <p:spPr>
          <a:xfrm>
            <a:off x="5801802" y="2026975"/>
            <a:ext cx="1724928" cy="19310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Đường nối Thẳng 109">
            <a:extLst>
              <a:ext uri="{FF2B5EF4-FFF2-40B4-BE49-F238E27FC236}">
                <a16:creationId xmlns:a16="http://schemas.microsoft.com/office/drawing/2014/main" id="{0A917821-E4F5-4FC3-BE7A-7A4B082EFAFC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8413091" y="2026975"/>
            <a:ext cx="2424598" cy="199552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ộp Văn bản 34">
            <a:extLst>
              <a:ext uri="{FF2B5EF4-FFF2-40B4-BE49-F238E27FC236}">
                <a16:creationId xmlns:a16="http://schemas.microsoft.com/office/drawing/2014/main" id="{CB53AB43-8C26-4AAF-9CC5-003868497CD5}"/>
              </a:ext>
            </a:extLst>
          </p:cNvPr>
          <p:cNvSpPr txBox="1"/>
          <p:nvPr/>
        </p:nvSpPr>
        <p:spPr>
          <a:xfrm>
            <a:off x="7875136" y="139540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BQP</a:t>
            </a:r>
          </a:p>
        </p:txBody>
      </p:sp>
      <p:cxnSp>
        <p:nvCxnSpPr>
          <p:cNvPr id="53" name="Đường nối Thẳng 66">
            <a:extLst>
              <a:ext uri="{FF2B5EF4-FFF2-40B4-BE49-F238E27FC236}">
                <a16:creationId xmlns:a16="http://schemas.microsoft.com/office/drawing/2014/main" id="{C337DE81-D9CF-43BF-AA07-98CD4532527B}"/>
              </a:ext>
            </a:extLst>
          </p:cNvPr>
          <p:cNvCxnSpPr>
            <a:cxnSpLocks/>
            <a:stCxn id="52" idx="0"/>
            <a:endCxn id="32" idx="2"/>
          </p:cNvCxnSpPr>
          <p:nvPr/>
        </p:nvCxnSpPr>
        <p:spPr>
          <a:xfrm flipV="1">
            <a:off x="8388607" y="946107"/>
            <a:ext cx="7485" cy="44929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Hộp Văn bản 47">
            <a:extLst>
              <a:ext uri="{FF2B5EF4-FFF2-40B4-BE49-F238E27FC236}">
                <a16:creationId xmlns:a16="http://schemas.microsoft.com/office/drawing/2014/main" id="{780348F1-4920-498A-83BA-A5DFDC975EF5}"/>
              </a:ext>
            </a:extLst>
          </p:cNvPr>
          <p:cNvSpPr txBox="1"/>
          <p:nvPr/>
        </p:nvSpPr>
        <p:spPr>
          <a:xfrm>
            <a:off x="8773436" y="231238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ZQP</a:t>
            </a:r>
          </a:p>
        </p:txBody>
      </p:sp>
      <p:sp>
        <p:nvSpPr>
          <p:cNvPr id="55" name="Hộp Văn bản 48">
            <a:extLst>
              <a:ext uri="{FF2B5EF4-FFF2-40B4-BE49-F238E27FC236}">
                <a16:creationId xmlns:a16="http://schemas.microsoft.com/office/drawing/2014/main" id="{C376342D-A64D-4C29-B9C7-8B4F5B86D39F}"/>
              </a:ext>
            </a:extLst>
          </p:cNvPr>
          <p:cNvSpPr txBox="1"/>
          <p:nvPr/>
        </p:nvSpPr>
        <p:spPr>
          <a:xfrm>
            <a:off x="8773704" y="361162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EQP</a:t>
            </a:r>
          </a:p>
        </p:txBody>
      </p:sp>
      <p:cxnSp>
        <p:nvCxnSpPr>
          <p:cNvPr id="56" name="Đường nối Thẳng 73">
            <a:extLst>
              <a:ext uri="{FF2B5EF4-FFF2-40B4-BE49-F238E27FC236}">
                <a16:creationId xmlns:a16="http://schemas.microsoft.com/office/drawing/2014/main" id="{83733A3A-ABCE-4B45-B819-0C7FF88841C3}"/>
              </a:ext>
            </a:extLst>
          </p:cNvPr>
          <p:cNvCxnSpPr>
            <a:cxnSpLocks/>
            <a:stCxn id="52" idx="2"/>
            <a:endCxn id="54" idx="0"/>
          </p:cNvCxnSpPr>
          <p:nvPr/>
        </p:nvCxnSpPr>
        <p:spPr>
          <a:xfrm>
            <a:off x="8388607" y="1764735"/>
            <a:ext cx="898300" cy="54765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nối Thẳng 77">
            <a:extLst>
              <a:ext uri="{FF2B5EF4-FFF2-40B4-BE49-F238E27FC236}">
                <a16:creationId xmlns:a16="http://schemas.microsoft.com/office/drawing/2014/main" id="{017D9973-55BD-4EA6-826A-AF1F28E8035A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9286907" y="2681718"/>
            <a:ext cx="268" cy="9299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nối Thẳng 80">
            <a:extLst>
              <a:ext uri="{FF2B5EF4-FFF2-40B4-BE49-F238E27FC236}">
                <a16:creationId xmlns:a16="http://schemas.microsoft.com/office/drawing/2014/main" id="{3B09B0E1-88A6-417F-9D1D-86C2654D62FF}"/>
              </a:ext>
            </a:extLst>
          </p:cNvPr>
          <p:cNvCxnSpPr>
            <a:cxnSpLocks/>
            <a:stCxn id="55" idx="2"/>
            <a:endCxn id="35" idx="0"/>
          </p:cNvCxnSpPr>
          <p:nvPr/>
        </p:nvCxnSpPr>
        <p:spPr>
          <a:xfrm flipH="1">
            <a:off x="8396090" y="3980953"/>
            <a:ext cx="891085" cy="22775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Hộp Văn bản 76">
            <a:extLst>
              <a:ext uri="{FF2B5EF4-FFF2-40B4-BE49-F238E27FC236}">
                <a16:creationId xmlns:a16="http://schemas.microsoft.com/office/drawing/2014/main" id="{0E912871-008A-4544-AC8A-46C00357851C}"/>
              </a:ext>
            </a:extLst>
          </p:cNvPr>
          <p:cNvSpPr txBox="1"/>
          <p:nvPr/>
        </p:nvSpPr>
        <p:spPr>
          <a:xfrm>
            <a:off x="833687" y="1918584"/>
            <a:ext cx="37205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B</a:t>
            </a:r>
            <a:r>
              <a:rPr lang="en-US"/>
              <a:t>ounded error (sai số bị chặn)</a:t>
            </a:r>
          </a:p>
        </p:txBody>
      </p:sp>
      <p:cxnSp>
        <p:nvCxnSpPr>
          <p:cNvPr id="5" name="Đường kết nối Mũi tên Thẳng 4">
            <a:extLst>
              <a:ext uri="{FF2B5EF4-FFF2-40B4-BE49-F238E27FC236}">
                <a16:creationId xmlns:a16="http://schemas.microsoft.com/office/drawing/2014/main" id="{B74130E4-08DE-459C-9A6B-BB6878E429B3}"/>
              </a:ext>
            </a:extLst>
          </p:cNvPr>
          <p:cNvCxnSpPr>
            <a:stCxn id="77" idx="3"/>
            <a:endCxn id="52" idx="1"/>
          </p:cNvCxnSpPr>
          <p:nvPr/>
        </p:nvCxnSpPr>
        <p:spPr>
          <a:xfrm flipV="1">
            <a:off x="4554235" y="1580069"/>
            <a:ext cx="3320901" cy="800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9BED436-FF0C-466B-B2C5-F95489EB6E20}"/>
              </a:ext>
            </a:extLst>
          </p:cNvPr>
          <p:cNvSpPr txBox="1"/>
          <p:nvPr/>
        </p:nvSpPr>
        <p:spPr>
          <a:xfrm>
            <a:off x="833687" y="3064492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</a:t>
            </a:r>
          </a:p>
        </p:txBody>
      </p:sp>
      <p:cxnSp>
        <p:nvCxnSpPr>
          <p:cNvPr id="79" name="Đường kết nối Mũi tên Thẳng 78">
            <a:extLst>
              <a:ext uri="{FF2B5EF4-FFF2-40B4-BE49-F238E27FC236}">
                <a16:creationId xmlns:a16="http://schemas.microsoft.com/office/drawing/2014/main" id="{126E8A83-A87F-4EC8-BF69-7D3D5716BB38}"/>
              </a:ext>
            </a:extLst>
          </p:cNvPr>
          <p:cNvCxnSpPr>
            <a:cxnSpLocks/>
            <a:stCxn id="6" idx="3"/>
            <a:endCxn id="54" idx="1"/>
          </p:cNvCxnSpPr>
          <p:nvPr/>
        </p:nvCxnSpPr>
        <p:spPr>
          <a:xfrm flipV="1">
            <a:off x="4554235" y="2497052"/>
            <a:ext cx="4219201" cy="89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7051BF4-0975-4B1D-915A-5B9D9055FE59}"/>
              </a:ext>
            </a:extLst>
          </p:cNvPr>
          <p:cNvSpPr txBox="1"/>
          <p:nvPr/>
        </p:nvSpPr>
        <p:spPr>
          <a:xfrm>
            <a:off x="833687" y="4510298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</a:t>
            </a:r>
            <a:r>
              <a:rPr lang="en-US" b="1"/>
              <a:t>E</a:t>
            </a:r>
            <a:r>
              <a:rPr lang="en-US"/>
              <a:t>xactly time with no error</a:t>
            </a:r>
          </a:p>
        </p:txBody>
      </p:sp>
      <p:cxnSp>
        <p:nvCxnSpPr>
          <p:cNvPr id="81" name="Đường kết nối Mũi tên Thẳng 80">
            <a:extLst>
              <a:ext uri="{FF2B5EF4-FFF2-40B4-BE49-F238E27FC236}">
                <a16:creationId xmlns:a16="http://schemas.microsoft.com/office/drawing/2014/main" id="{D9C5A16C-35BB-4207-A642-39513EA8F076}"/>
              </a:ext>
            </a:extLst>
          </p:cNvPr>
          <p:cNvCxnSpPr>
            <a:cxnSpLocks/>
            <a:stCxn id="9" idx="3"/>
            <a:endCxn id="55" idx="1"/>
          </p:cNvCxnSpPr>
          <p:nvPr/>
        </p:nvCxnSpPr>
        <p:spPr>
          <a:xfrm flipV="1">
            <a:off x="4554235" y="3796287"/>
            <a:ext cx="4219469" cy="1037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DEF3551F-68C3-44FE-8E49-7FDF2441B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67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A826116F-C8D6-4CDA-9E22-AB03BD3F74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98" t="17364" r="36776" b="12905"/>
          <a:stretch/>
        </p:blipFill>
        <p:spPr>
          <a:xfrm>
            <a:off x="8377766" y="1186971"/>
            <a:ext cx="300016" cy="5938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Spatial search (discrete time)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that we have a complete graph with 4 nodes.</a:t>
                </a:r>
              </a:p>
              <a:p>
                <a:pPr marL="0" indent="0">
                  <a:buNone/>
                </a:pPr>
                <a:r>
                  <a:rPr lang="en-US"/>
                  <a:t>One approach is using random walk.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that:</a:t>
                </a:r>
              </a:p>
              <a:p>
                <a:pPr marL="0" indent="0">
                  <a:buNone/>
                </a:pPr>
                <a:r>
                  <a:rPr lang="en-US"/>
                  <a:t>Walker must be in somewhere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  <a:blipFill>
                <a:blip r:embed="rId3"/>
                <a:stretch>
                  <a:fillRect l="-2618" t="-2326" b="-4534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9EF332C5-B0CC-4C53-97F2-248F2BFCB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17</a:t>
            </a:fld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AF75C-7D94-3412-CBF5-740462C6F991}"/>
              </a:ext>
            </a:extLst>
          </p:cNvPr>
          <p:cNvSpPr txBox="1"/>
          <p:nvPr/>
        </p:nvSpPr>
        <p:spPr>
          <a:xfrm>
            <a:off x="838200" y="27495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400"/>
              <a:t>2. Grover algo</a:t>
            </a:r>
          </a:p>
        </p:txBody>
      </p:sp>
    </p:spTree>
    <p:extLst>
      <p:ext uri="{BB962C8B-B14F-4D97-AF65-F5344CB8AC3E}">
        <p14:creationId xmlns:p14="http://schemas.microsoft.com/office/powerpoint/2010/main" val="23921193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Initial state: ¼ at all node</a:t>
                </a:r>
              </a:p>
              <a:p>
                <a:pPr marL="0" indent="0">
                  <a:buNone/>
                </a:pPr>
                <a:r>
                  <a:rPr lang="en-US"/>
                  <a:t>At step k: jump to other random nodes</a:t>
                </a:r>
              </a:p>
              <a:p>
                <a:pPr marL="0" indent="0">
                  <a:buNone/>
                </a:pPr>
                <a:r>
                  <a:rPr lang="en-US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  <a:blipFill>
                <a:blip r:embed="rId2"/>
                <a:stretch>
                  <a:fillRect l="-2793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/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/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/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  <a:endCxn id="18" idx="1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157EA582-F420-4EB0-9125-C1FD5BEFEF2B}"/>
              </a:ext>
            </a:extLst>
          </p:cNvPr>
          <p:cNvSpPr txBox="1"/>
          <p:nvPr/>
        </p:nvSpPr>
        <p:spPr>
          <a:xfrm>
            <a:off x="10704444" y="1998139"/>
            <a:ext cx="1398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Acts as absorb node</a:t>
            </a:r>
            <a:endParaRPr lang="vi-VN"/>
          </a:p>
        </p:txBody>
      </p:sp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709B8F26-83B1-4733-8E78-285521A4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593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1: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F4F0A7A1-4C0C-4839-8A9B-1D16CE38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9047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1: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 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D3F1501-ABE8-4322-BF12-9800D1258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062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2: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9BF078AB-C9D4-4634-A717-03C585C2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64742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2: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∗2=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1EAD8B3-E959-40F7-9B9A-F0797BD96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78868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3: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CCBF69C-1021-4359-A204-C93359E6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3049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3: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8CEF8962-AC60-4E08-AE83-E8FD385B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86303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875B2ADD-B0C9-4A04-A0D5-6FF558640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433" t="40642" r="32035" b="8281"/>
          <a:stretch/>
        </p:blipFill>
        <p:spPr>
          <a:xfrm>
            <a:off x="838200" y="1690688"/>
            <a:ext cx="6244778" cy="318611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num>
                              <m:den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blipFill>
                <a:blip r:embed="rId3"/>
                <a:stretch>
                  <a:fillRect l="-3148" t="-2890" b="-722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E45699BA-3936-4F5C-A44B-1C377A36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04276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EBC716A-C7CE-499C-AC91-0C0DBB9E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Change 4 probs to 12 amplitudes of a wave function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Init: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at intermediate steps we cannot observe the system. Then we do not know the current node is the marked node or not.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  <a:blipFill>
                <a:blip r:embed="rId2"/>
                <a:stretch>
                  <a:fillRect l="-2983" t="-2241" r="-2699" b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99115616-464F-4168-87BB-EA1EC03F6149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9684E85B-428C-4543-8725-AE018CFCED5A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57D812CC-19EA-4713-B1BB-AAB3BA2AAF90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C8571D22-3C12-43C1-AF38-A7412EA6DDB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513DB62C-4961-402B-ADFB-AC457C21ABB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0CC72069-8258-4088-8910-43E57A6B97E6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34238372-EBF7-4D22-8017-1E0C9D5F6A20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B59491BA-5F94-4A13-81E2-035CB1208423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236E6C80-9897-4AB2-A61D-A8246FA7D43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7E1AEACC-371A-41C4-9A76-C11C449A1AD6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3A9A09E9-005D-4285-8737-6A1201C31B80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716DE38D-A6B2-475A-B2E3-D258C9C48CA2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D1AA7F03-2D77-45AB-ADBC-A1B4A0201731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C295A4CB-BFDA-4D46-90D5-EBF6BBBCB7A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641BA443-90B5-4567-BBE1-19E9EF0D0BB7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70CE9047-D81B-453C-8CF1-877A2DAC4E71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255B1A0-5878-437E-863F-326C0693095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A23F6F56-9B44-41AD-8685-840A0C1776B7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F5235566-7BE0-40D4-9D6A-4434CEBAB33D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/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/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/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/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blipFill>
                <a:blip r:embed="rId6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/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blipFill>
                <a:blip r:embed="rId7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/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/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/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blipFill>
                <a:blip r:embed="rId10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/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1E487595-DC74-4A0D-BAE4-D29304B89453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CB808353-128E-43CB-895B-AA4F6365523F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/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/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blipFill>
                <a:blip r:embed="rId1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Đường kết nối Mũi tên Thẳng 48">
            <a:extLst>
              <a:ext uri="{FF2B5EF4-FFF2-40B4-BE49-F238E27FC236}">
                <a16:creationId xmlns:a16="http://schemas.microsoft.com/office/drawing/2014/main" id="{2F36073C-84DD-46ED-8846-F14666CE1BA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/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ỗ dành sẵn cho Số hiệu Bản chiếu 13">
            <a:extLst>
              <a:ext uri="{FF2B5EF4-FFF2-40B4-BE49-F238E27FC236}">
                <a16:creationId xmlns:a16="http://schemas.microsoft.com/office/drawing/2014/main" id="{49EA9290-FEF4-405C-AB1C-AF86DD03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98573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At step 1 </a:t>
                </a:r>
              </a:p>
              <a:p>
                <a:pPr marL="0" indent="0">
                  <a:buNone/>
                </a:pPr>
                <a:r>
                  <a:rPr lang="en-US"/>
                  <a:t>1a.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1b. Apply a quantum coin flip+shift (-I+2A) that inverts each amplitude about the average amplitude at its vertex. (Nothing happen)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493" t="-348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20A00173-95D1-4C85-8F44-CA54ACB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27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/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node 2: A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blipFill>
                <a:blip r:embed="rId15"/>
                <a:stretch>
                  <a:fillRect l="-1022" b="-487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1039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1c. Shift operator (walk): walker at vertex i pointing to vertex j to hop to vertex j and point back to vertex 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𝑆𝐶𝑄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 r="-16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B563F709-F15A-4367-9FCC-284FCBC3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68641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At step 2 </a:t>
                </a:r>
              </a:p>
              <a:p>
                <a:pPr marL="0" indent="0">
                  <a:buNone/>
                </a:pPr>
                <a:r>
                  <a:rPr lang="en-US"/>
                  <a:t>2a.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1CD6F08E-CCDD-4C8F-A2F5-949EECB7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62467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49C2F54C-DC73-455C-9F6C-C779E4949B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74" t="25509" r="39135" b="28684"/>
          <a:stretch/>
        </p:blipFill>
        <p:spPr>
          <a:xfrm>
            <a:off x="5897219" y="0"/>
            <a:ext cx="6007364" cy="38955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2b. The coin inverts or reflects each amplitude about their average.</a:t>
                </a:r>
              </a:p>
              <a:p>
                <a:pPr marL="0" indent="0">
                  <a:buNone/>
                </a:pPr>
                <a:r>
                  <a:rPr lang="en-US"/>
                  <a:t>(-I+2A)</a:t>
                </a:r>
              </a:p>
              <a:p>
                <a:pPr marL="0" indent="0">
                  <a:buNone/>
                </a:pPr>
                <a:r>
                  <a:rPr lang="en-US"/>
                  <a:t>At node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  <a:blipFill>
                <a:blip r:embed="rId3"/>
                <a:stretch>
                  <a:fillRect l="-2494" t="-266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252553FC-76BE-470E-819B-13212B66F364}"/>
              </a:ext>
            </a:extLst>
          </p:cNvPr>
          <p:cNvSpPr/>
          <p:nvPr/>
        </p:nvSpPr>
        <p:spPr>
          <a:xfrm>
            <a:off x="6188765" y="662609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Hình Bầu dục 41">
            <a:extLst>
              <a:ext uri="{FF2B5EF4-FFF2-40B4-BE49-F238E27FC236}">
                <a16:creationId xmlns:a16="http://schemas.microsoft.com/office/drawing/2014/main" id="{B806DB49-B5A5-48E5-8AB5-DD66EDC3F1A6}"/>
              </a:ext>
            </a:extLst>
          </p:cNvPr>
          <p:cNvSpPr/>
          <p:nvPr/>
        </p:nvSpPr>
        <p:spPr>
          <a:xfrm>
            <a:off x="9455426" y="2690784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504C5A7-1B6E-43D6-911B-A540161644AD}"/>
              </a:ext>
            </a:extLst>
          </p:cNvPr>
          <p:cNvSpPr txBox="1"/>
          <p:nvPr/>
        </p:nvSpPr>
        <p:spPr>
          <a:xfrm>
            <a:off x="10469217" y="3114853"/>
            <a:ext cx="143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Current amp</a:t>
            </a:r>
            <a:endParaRPr lang="vi-VN"/>
          </a:p>
        </p:txBody>
      </p: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8E319A5A-4E3B-43F2-87B3-D4BD2F0A13A4}"/>
              </a:ext>
            </a:extLst>
          </p:cNvPr>
          <p:cNvSpPr/>
          <p:nvPr/>
        </p:nvSpPr>
        <p:spPr>
          <a:xfrm>
            <a:off x="7284657" y="2690783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Hình Bầu dục 43">
            <a:extLst>
              <a:ext uri="{FF2B5EF4-FFF2-40B4-BE49-F238E27FC236}">
                <a16:creationId xmlns:a16="http://schemas.microsoft.com/office/drawing/2014/main" id="{C011A9E8-C874-49EB-84EA-55D5210FAC9D}"/>
              </a:ext>
            </a:extLst>
          </p:cNvPr>
          <p:cNvSpPr/>
          <p:nvPr/>
        </p:nvSpPr>
        <p:spPr>
          <a:xfrm>
            <a:off x="10492408" y="628261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1E401CEA-4E2E-44EC-AFC1-D89A23C67D50}"/>
              </a:ext>
            </a:extLst>
          </p:cNvPr>
          <p:cNvSpPr txBox="1"/>
          <p:nvPr/>
        </p:nvSpPr>
        <p:spPr>
          <a:xfrm>
            <a:off x="10018643" y="1544563"/>
            <a:ext cx="173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Reflected amp</a:t>
            </a:r>
            <a:endParaRPr lang="vi-VN"/>
          </a:p>
        </p:txBody>
      </p:sp>
      <p:sp>
        <p:nvSpPr>
          <p:cNvPr id="18" name="Chỗ dành sẵn cho Số hiệu Bản chiếu 17">
            <a:extLst>
              <a:ext uri="{FF2B5EF4-FFF2-40B4-BE49-F238E27FC236}">
                <a16:creationId xmlns:a16="http://schemas.microsoft.com/office/drawing/2014/main" id="{4DA7B37A-CA80-4037-B899-BEEC6731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977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0614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/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/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/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/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8878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</a:t>
                </a:r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blipFill>
                <a:blip r:embed="rId2"/>
                <a:stretch>
                  <a:fillRect l="-2778" t="-2419" b="-44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hỗ dành sẵn cho Nội dung 7">
            <a:extLst>
              <a:ext uri="{FF2B5EF4-FFF2-40B4-BE49-F238E27FC236}">
                <a16:creationId xmlns:a16="http://schemas.microsoft.com/office/drawing/2014/main" id="{5B04DF3B-AF75-42EA-9EE3-E188E75A4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2007" t="46627" r="37646" b="18457"/>
          <a:stretch/>
        </p:blipFill>
        <p:spPr>
          <a:xfrm>
            <a:off x="838200" y="1560145"/>
            <a:ext cx="5031403" cy="2458785"/>
          </a:xfr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5600745-9931-4D78-BFB1-D6B7D848B6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836" t="35077" r="22420" b="33334"/>
          <a:stretch>
            <a:fillRect/>
          </a:stretch>
        </p:blipFill>
        <p:spPr>
          <a:xfrm>
            <a:off x="7446536" y="2616829"/>
            <a:ext cx="4763049" cy="1708109"/>
          </a:xfrm>
          <a:prstGeom prst="rect">
            <a:avLst/>
          </a:prstGeom>
        </p:spPr>
      </p:pic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C81663C-D263-4C35-B738-6C980C684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33</a:t>
            </a:fld>
            <a:endParaRPr lang="vi-VN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73EE736B-A309-460F-AF15-651FF27C0E3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3633" r="10347" b="7554"/>
          <a:stretch/>
        </p:blipFill>
        <p:spPr>
          <a:xfrm>
            <a:off x="838200" y="4089271"/>
            <a:ext cx="5031403" cy="2267079"/>
          </a:xfrm>
          <a:prstGeom prst="rect">
            <a:avLst/>
          </a:prstGeom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386D36C-16F2-4392-92BF-D37E2DB648D5}"/>
              </a:ext>
            </a:extLst>
          </p:cNvPr>
          <p:cNvSpPr txBox="1"/>
          <p:nvPr/>
        </p:nvSpPr>
        <p:spPr>
          <a:xfrm>
            <a:off x="6096000" y="2770496"/>
            <a:ext cx="59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N=4</a:t>
            </a:r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32273D6-A8E4-4448-A2BD-186511523269}"/>
              </a:ext>
            </a:extLst>
          </p:cNvPr>
          <p:cNvSpPr txBox="1"/>
          <p:nvPr/>
        </p:nvSpPr>
        <p:spPr>
          <a:xfrm>
            <a:off x="6096000" y="5038144"/>
            <a:ext cx="796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N=100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34615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07D1E-B5F1-E7DA-2AA0-4CA3A90A3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160E-EF89-B4FE-E8AC-357283728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Deutsh-Josza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4ACBC-5E35-68E3-1425-48C882B36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34</a:t>
            </a:fld>
            <a:endParaRPr lang="en-VN"/>
          </a:p>
        </p:txBody>
      </p:sp>
      <p:pic>
        <p:nvPicPr>
          <p:cNvPr id="3074" name="Picture 2" descr="image1">
            <a:extLst>
              <a:ext uri="{FF2B5EF4-FFF2-40B4-BE49-F238E27FC236}">
                <a16:creationId xmlns:a16="http://schemas.microsoft.com/office/drawing/2014/main" id="{573EE60E-DAF6-37BF-78F9-13DF0972A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8" y="2856364"/>
            <a:ext cx="10688267" cy="332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5761BE7-BEF5-C106-899A-C85934A6C373}"/>
              </a:ext>
            </a:extLst>
          </p:cNvPr>
          <p:cNvSpPr/>
          <p:nvPr/>
        </p:nvSpPr>
        <p:spPr>
          <a:xfrm>
            <a:off x="2696308" y="3317631"/>
            <a:ext cx="2039815" cy="15005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000174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CB5E-A5C8-0B3D-2DB1-E981CC2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23B-CB71-08E8-8509-5C45E70A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5F54-E671-8F6A-CCDB-7233AE221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Shor’s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D1958-CC73-8D3B-BD31-6FBB4DA0D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35</a:t>
            </a:fld>
            <a:endParaRPr lang="en-VN"/>
          </a:p>
        </p:txBody>
      </p:sp>
      <p:pic>
        <p:nvPicPr>
          <p:cNvPr id="7" name="Picture 6" descr="A diagram of a guitar chord&#10;&#10;AI-generated content may be incorrect.">
            <a:extLst>
              <a:ext uri="{FF2B5EF4-FFF2-40B4-BE49-F238E27FC236}">
                <a16:creationId xmlns:a16="http://schemas.microsoft.com/office/drawing/2014/main" id="{30A5F4C9-500C-4AF8-A7DE-068CE161E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0319"/>
            <a:ext cx="10765090" cy="18888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C2134DD-6C3F-D3A3-F2AD-C8A27A5AF127}"/>
              </a:ext>
            </a:extLst>
          </p:cNvPr>
          <p:cNvSpPr/>
          <p:nvPr/>
        </p:nvSpPr>
        <p:spPr>
          <a:xfrm>
            <a:off x="597877" y="3810000"/>
            <a:ext cx="2555631" cy="1676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59795C-C801-0394-0030-95AF30955B42}"/>
              </a:ext>
            </a:extLst>
          </p:cNvPr>
          <p:cNvSpPr/>
          <p:nvPr/>
        </p:nvSpPr>
        <p:spPr>
          <a:xfrm>
            <a:off x="8798169" y="2869832"/>
            <a:ext cx="3045444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50499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VN" sz="3200"/>
              <a:t>3. </a:t>
            </a:r>
            <a:r>
              <a:rPr lang="en-US" sz="3200"/>
              <a:t>Sources of quantum advantage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/>
                  <a:t>Total runtime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ar-AE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r-AE" sz="2400" b="1"/>
                  <a:t>(</a:t>
                </a:r>
                <a:r>
                  <a:rPr lang="en-US" sz="2400" b="1"/>
                  <a:t>build a useful representation)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  <m:r>
                      <a:rPr lang="en-US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/>
                  <a:t>(find the solution).</a:t>
                </a:r>
              </a:p>
              <a:p>
                <a:pPr marL="0" indent="0">
                  <a:buNone/>
                </a:pPr>
                <a:r>
                  <a:rPr lang="en-US" sz="2400"/>
                  <a:t>Recent quantum algorithms: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vi-VN" sz="2400" b="1" i="1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The right benchmark is the strongest available classical workflow, heuristics included - not an idealized worst case.</a:t>
                </a:r>
              </a:p>
              <a:p>
                <a:pPr marL="0" indent="0">
                  <a:buNone/>
                </a:pPr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Q: “Can quantum give speedups under the same heuristic assumptions classical methods use?”</a:t>
                </a:r>
                <a:endParaRPr sz="24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AB69F-CE22-8E14-2D87-93CDB2BA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36</a:t>
            </a:fld>
            <a:endParaRPr lang="en-V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3</a:t>
            </a:r>
            <a:r>
              <a:rPr lang="vi-VN" sz="3200"/>
              <a:t>. </a:t>
            </a:r>
            <a:r>
              <a:rPr sz="3200"/>
              <a:t>Source of Advantage</a:t>
            </a:r>
            <a:r>
              <a:rPr lang="vi-VN" sz="3200"/>
              <a:t>: </a:t>
            </a:r>
            <a:r>
              <a:rPr lang="en-US" sz="3200"/>
              <a:t>e</a:t>
            </a:r>
            <a:r>
              <a:rPr lang="en-VN" sz="3200"/>
              <a:t>xample in quantum s</a:t>
            </a:r>
            <a:r>
              <a:rPr sz="3200"/>
              <a:t>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3200" b="1"/>
                  <a:t>Classical</a:t>
                </a:r>
              </a:p>
              <a:p>
                <a:pPr lvl="1"/>
                <a:r>
                  <a:rPr lang="en-US" sz="2800"/>
                  <a:t>Must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complex amplitudes explicitly.</a:t>
                </a:r>
              </a:p>
              <a:p>
                <a:pPr lvl="1"/>
                <a:r>
                  <a:rPr lang="en-US" sz="2800"/>
                  <a:t>Matrix–vector multiplication scales as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.</a:t>
                </a:r>
                <a:endParaRPr sz="28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178" t="-2907" r="-293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 wrap="square">
                <a:normAutofit/>
              </a:bodyPr>
              <a:lstStyle/>
              <a:p>
                <a:r>
                  <a:rPr sz="3200" b="1"/>
                  <a:t>Quantum</a:t>
                </a:r>
              </a:p>
              <a:p>
                <a:pPr lvl="1"/>
                <a:r>
                  <a:rPr sz="2800"/>
                  <a:t>Represents the same Hilbert space with only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800"/>
                  <a:t> qubits.</a:t>
                </a:r>
              </a:p>
              <a:p>
                <a:pPr lvl="1"/>
                <a:r>
                  <a:rPr sz="2800"/>
                  <a:t>Under efficient block encodings, cost can scale as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𝑝𝑜𝑙𝑦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sz="2800"/>
                  <a:t>; storage becomes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800"/>
                  <a:t>.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689" t="-2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B6291-3ACE-A1D7-F4C3-F1C659CBB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37</a:t>
            </a:fld>
            <a:endParaRPr lang="en-V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3. Source of Advantage: locality and light cone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We usually solving the eigenvalue problem:</a:t>
                </a:r>
              </a:p>
              <a:p>
                <a:pPr marL="914400" lvl="2" indent="0">
                  <a:buNone/>
                </a:pPr>
                <a:r>
                  <a:rPr lang="en-US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𝐸𝑐</m:t>
                    </m:r>
                  </m:oMath>
                </a14:m>
                <a:endParaRPr lang="en-US"/>
              </a:p>
              <a:p>
                <a:pPr marL="514350" indent="-514350"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/>
                  <a:t> is sparsity =&gt; ok, solvable on classical computer</a:t>
                </a:r>
              </a:p>
              <a:p>
                <a:pPr marL="514350" indent="-514350">
                  <a:buAutoNum type="arabicPeriod"/>
                </a:pPr>
                <a:r>
                  <a:rPr lang="en-US"/>
                  <a:t>But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/>
                  <a:t> generate a light-cone structure. We must to use resources for saving correlation information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BDB6A-7F0A-8915-C318-39E89148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38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/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,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/>
                  <a:t> is the number of iterations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 </a:t>
                </a:r>
                <a:r>
                  <a:rPr lang="en-US" sz="2800"/>
                  <a:t>denotes the interaction range. Consequently,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corr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∼(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b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800"/>
                  <a:t> is the physical dimension of the system.</a:t>
                </a:r>
                <a:endParaRPr lang="vi-VN" sz="2800"/>
              </a:p>
              <a:p>
                <a:pPr marL="0" indent="0">
                  <a:buNone/>
                </a:pPr>
                <a:r>
                  <a:rPr lang="en-US" sz="2800"/>
                  <a:t>The resulting quantum advantage is approximately </a:t>
                </a: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∼</m:t>
                          </m:r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𝑚𝐷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𝐵𝐸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</m:mr>
                    </m:m>
                  </m:oMath>
                </a14:m>
                <a:endParaRPr lang="ar-AE" sz="1600" b="1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blipFill>
                <a:blip r:embed="rId3"/>
                <a:stretch>
                  <a:fillRect l="-1328" t="-4094" r="-1726" b="-11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rPr lang="en-US"/>
              <a:t>Bottleneck: Data Preparation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14538" cy="4351338"/>
              </a:xfrm>
            </p:spPr>
            <p:txBody>
              <a:bodyPr wrap="square"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sz="3200"/>
                  <a:t>Classical data must first be converted into quantum state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3200"/>
                  <a:t>A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/>
                  <a:t> – dim classical vector may need only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i="1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/>
                  <a:t> qubits.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3200"/>
                  <a:t>Without QRAM, state-preparation cost can scale badly enough to eliminate any theoretical speedup entirely.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3200"/>
                  <a:t>Block encoding: QSVT and Hamiltonian simulation assume a unitary that embeds a matrix - constructing it is often non-trivial and costly for dense matrices.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14538" cy="4351338"/>
              </a:xfrm>
              <a:blipFill>
                <a:blip r:embed="rId2"/>
                <a:stretch>
                  <a:fillRect l="-1526" t="-2907" r="-3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A7D9D-F7A6-4C4B-CBE7-9644D86D2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39</a:t>
            </a:fld>
            <a:endParaRPr lang="en-V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4. Limitations of Quantum Machine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t>QML is one of the most </a:t>
                </a:r>
                <a:r>
                  <a:rPr u="sng"/>
                  <a:t>actively studied topics</a:t>
                </a:r>
                <a:r>
                  <a:t>, with many claimed advantages over classical ML.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t>Small-scale evidence: reported gains often come from small experiments or idealized simulations, not current noisy hardware.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t>Hidden data cost: many claimed speedups neglect the cost of data preparation</a:t>
                </a:r>
                <a:r>
                  <a:rPr lang="vi-VN"/>
                  <a:t>,</a:t>
                </a:r>
                <a:r>
                  <a:t> building the block encoding can cost more than solving the problem classically.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t>Idealized access: complexities like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𝑝𝑜𝑙𝑦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t>frequently assume access models that hide real data-acquisition and encoding costs.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448" b="-319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9D401-93D7-64A1-A6FA-61249B7A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40</a:t>
            </a:fld>
            <a:endParaRPr lang="en-V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Which </a:t>
            </a:r>
            <a:r>
              <a:rPr lang="en-VN" sz="3200"/>
              <a:t>p</a:t>
            </a:r>
            <a:r>
              <a:rPr sz="3200"/>
              <a:t>roblems </a:t>
            </a:r>
            <a:r>
              <a:rPr lang="en-VN" sz="3200"/>
              <a:t>d</a:t>
            </a:r>
            <a:r>
              <a:rPr sz="3200"/>
              <a:t>o </a:t>
            </a:r>
            <a:r>
              <a:rPr lang="en-VN" sz="3200"/>
              <a:t>q</a:t>
            </a:r>
            <a:r>
              <a:rPr sz="3200"/>
              <a:t>uantum </a:t>
            </a:r>
            <a:r>
              <a:rPr lang="en-VN" sz="3200"/>
              <a:t>c</a:t>
            </a:r>
            <a:r>
              <a:rPr sz="3200"/>
              <a:t>omputers </a:t>
            </a:r>
            <a:r>
              <a:rPr lang="en-VN" sz="3200"/>
              <a:t>s</a:t>
            </a:r>
            <a:r>
              <a:rPr sz="3200"/>
              <a:t>olve </a:t>
            </a:r>
            <a:r>
              <a:rPr lang="en-VN" sz="3200"/>
              <a:t>e</a:t>
            </a:r>
            <a:r>
              <a:rPr sz="3200"/>
              <a:t>fficiently?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b="1"/>
              <a:t>A quantum speedup must be judged end-to-end — not by the quantum portion alone.</a:t>
            </a:r>
          </a:p>
          <a:p>
            <a:pPr marL="342900" indent="-342900">
              <a:buFont typeface="+mj-lt"/>
              <a:buAutoNum type="arabicPeriod"/>
            </a:pPr>
            <a:r>
              <a:rPr u="sng"/>
              <a:t>Quantum simulation, condensed matter physics, and quantum chemistry</a:t>
            </a:r>
            <a:r>
              <a:t> offer the most near-term opportunities.</a:t>
            </a:r>
          </a:p>
          <a:p>
            <a:pPr marL="342900" indent="-342900">
              <a:buFont typeface="+mj-lt"/>
              <a:buAutoNum type="arabicPeriod"/>
            </a:pPr>
            <a:r>
              <a:t>For QML, the bottleneck is typically converting classical data into quantum-ready form, not the circuit itself.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62E63-F715-E970-68EA-4D28842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41</a:t>
            </a:fld>
            <a:endParaRPr lang="en-V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5C5-1277-FFA6-7913-616882B37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6" name="Content Placeholder 5" descr="A person standing at a podium&#10;&#10;AI-generated content may be incorrect.">
            <a:extLst>
              <a:ext uri="{FF2B5EF4-FFF2-40B4-BE49-F238E27FC236}">
                <a16:creationId xmlns:a16="http://schemas.microsoft.com/office/drawing/2014/main" id="{78DDDF7A-2364-825B-A921-EE4CA2A57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8360" b="7190"/>
          <a:stretch>
            <a:fillRect/>
          </a:stretch>
        </p:blipFill>
        <p:spPr>
          <a:xfrm>
            <a:off x="5826369" y="0"/>
            <a:ext cx="6361766" cy="33577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2A13-80B2-9390-4FDB-E83DB0300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42</a:t>
            </a:fld>
            <a:endParaRPr lang="en-VN"/>
          </a:p>
        </p:txBody>
      </p:sp>
      <p:pic>
        <p:nvPicPr>
          <p:cNvPr id="6146" name="Picture 2" descr="No description available.">
            <a:extLst>
              <a:ext uri="{FF2B5EF4-FFF2-40B4-BE49-F238E27FC236}">
                <a16:creationId xmlns:a16="http://schemas.microsoft.com/office/drawing/2014/main" id="{EEFAA8CC-8507-9ABA-B2AF-1228DD5DE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6369" y="3353754"/>
            <a:ext cx="6361765" cy="3505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o description available.">
            <a:extLst>
              <a:ext uri="{FF2B5EF4-FFF2-40B4-BE49-F238E27FC236}">
                <a16:creationId xmlns:a16="http://schemas.microsoft.com/office/drawing/2014/main" id="{1D3B3836-5A62-C712-99E5-C986C4F50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00" y="0"/>
            <a:ext cx="5143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0889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1823</Words>
  <Application>Microsoft Macintosh PowerPoint</Application>
  <PresentationFormat>Widescreen</PresentationFormat>
  <Paragraphs>494</Paragraphs>
  <Slides>42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Calibri (Thân)</vt:lpstr>
      <vt:lpstr>Cambria</vt:lpstr>
      <vt:lpstr>Cambria Math</vt:lpstr>
      <vt:lpstr>Office Theme</vt:lpstr>
      <vt:lpstr>On Problems Quantum Computers Can Solve Efficiently</vt:lpstr>
      <vt:lpstr>Outline</vt:lpstr>
      <vt:lpstr>Deterministic</vt:lpstr>
      <vt:lpstr>Nondeterministic</vt:lpstr>
      <vt:lpstr>Nondeterministic</vt:lpstr>
      <vt:lpstr>PowerPoint Presentation</vt:lpstr>
      <vt:lpstr>Example: Sub-set sum problem</vt:lpstr>
      <vt:lpstr>PowerPoint Presentation</vt:lpstr>
      <vt:lpstr>PowerPoint Presentation</vt:lpstr>
      <vt:lpstr>Probability</vt:lpstr>
      <vt:lpstr>Probability</vt:lpstr>
      <vt:lpstr>Probability</vt:lpstr>
      <vt:lpstr>Quantum</vt:lpstr>
      <vt:lpstr>Quantum</vt:lpstr>
      <vt:lpstr>Quantum</vt:lpstr>
      <vt:lpstr>Quantum</vt:lpstr>
      <vt:lpstr>Spatial search (discrete time)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3. Sources of quantum advantage</vt:lpstr>
      <vt:lpstr>3. Sources of quantum advantage</vt:lpstr>
      <vt:lpstr>3. Sources of quantum advantage</vt:lpstr>
      <vt:lpstr>3. Source of Advantage: example in quantum simulation</vt:lpstr>
      <vt:lpstr>3. Source of Advantage: locality and light cone</vt:lpstr>
      <vt:lpstr>Bottleneck: Data Preparation</vt:lpstr>
      <vt:lpstr>4. Limitations of Quantum Machine Learning</vt:lpstr>
      <vt:lpstr>Which problems do quantum computers solve efficiently?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Vũ Tuấn Hải</cp:lastModifiedBy>
  <cp:revision>8</cp:revision>
  <dcterms:created xsi:type="dcterms:W3CDTF">2026-07-24T02:29:22Z</dcterms:created>
  <dcterms:modified xsi:type="dcterms:W3CDTF">2026-10-08T07:53:10Z</dcterms:modified>
</cp:coreProperties>
</file>