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381" r:id="rId3"/>
    <p:sldId id="263" r:id="rId4"/>
    <p:sldId id="372" r:id="rId5"/>
    <p:sldId id="373" r:id="rId6"/>
    <p:sldId id="374" r:id="rId7"/>
    <p:sldId id="375" r:id="rId8"/>
    <p:sldId id="376" r:id="rId9"/>
    <p:sldId id="377" r:id="rId10"/>
    <p:sldId id="378" r:id="rId11"/>
    <p:sldId id="322" r:id="rId12"/>
    <p:sldId id="363" r:id="rId13"/>
    <p:sldId id="325" r:id="rId14"/>
    <p:sldId id="351" r:id="rId15"/>
    <p:sldId id="361" r:id="rId16"/>
    <p:sldId id="353" r:id="rId17"/>
    <p:sldId id="354" r:id="rId18"/>
    <p:sldId id="362" r:id="rId19"/>
    <p:sldId id="370" r:id="rId20"/>
    <p:sldId id="355" r:id="rId21"/>
    <p:sldId id="356" r:id="rId22"/>
    <p:sldId id="357" r:id="rId23"/>
    <p:sldId id="358" r:id="rId24"/>
    <p:sldId id="359" r:id="rId25"/>
    <p:sldId id="360" r:id="rId26"/>
    <p:sldId id="366" r:id="rId27"/>
    <p:sldId id="367" r:id="rId28"/>
    <p:sldId id="368" r:id="rId29"/>
    <p:sldId id="267" r:id="rId30"/>
    <p:sldId id="364" r:id="rId31"/>
    <p:sldId id="379" r:id="rId32"/>
    <p:sldId id="323" r:id="rId33"/>
    <p:sldId id="324" r:id="rId34"/>
    <p:sldId id="369" r:id="rId35"/>
    <p:sldId id="326" r:id="rId36"/>
    <p:sldId id="258" r:id="rId37"/>
    <p:sldId id="259" r:id="rId38"/>
    <p:sldId id="260" r:id="rId39"/>
    <p:sldId id="261" r:id="rId40"/>
    <p:sldId id="262" r:id="rId41"/>
    <p:sldId id="382" r:id="rId42"/>
    <p:sldId id="264" r:id="rId43"/>
    <p:sldId id="265" r:id="rId44"/>
    <p:sldId id="266" r:id="rId45"/>
    <p:sldId id="284" r:id="rId46"/>
    <p:sldId id="285" r:id="rId47"/>
    <p:sldId id="271" r:id="rId48"/>
    <p:sldId id="383" r:id="rId49"/>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Kiểu Trung bình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Kiểu Trung bình 2 - Màu chủ đề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21" autoAdjust="0"/>
    <p:restoredTop sz="94660"/>
  </p:normalViewPr>
  <p:slideViewPr>
    <p:cSldViewPr snapToGrid="0">
      <p:cViewPr varScale="1">
        <p:scale>
          <a:sx n="114" d="100"/>
          <a:sy n="114" d="100"/>
        </p:scale>
        <p:origin x="18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CAF24-FB94-4574-A55E-47923F811846}" type="datetimeFigureOut">
              <a:rPr lang="vi-VN" smtClean="0"/>
              <a:t>18/7/26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CFF2AF-AE97-47EC-BF90-7C189517B765}" type="slidenum">
              <a:rPr lang="vi-VN" smtClean="0"/>
              <a:t>‹#›</a:t>
            </a:fld>
            <a:endParaRPr lang="vi-VN"/>
          </a:p>
        </p:txBody>
      </p:sp>
    </p:spTree>
    <p:extLst>
      <p:ext uri="{BB962C8B-B14F-4D97-AF65-F5344CB8AC3E}">
        <p14:creationId xmlns:p14="http://schemas.microsoft.com/office/powerpoint/2010/main" val="455269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Q x xichma x {L, R} is a function</a:t>
            </a:r>
          </a:p>
        </p:txBody>
      </p:sp>
      <p:sp>
        <p:nvSpPr>
          <p:cNvPr id="4" name="Chỗ dành sẵn cho Số hiệu Bản chiếu 3"/>
          <p:cNvSpPr>
            <a:spLocks noGrp="1"/>
          </p:cNvSpPr>
          <p:nvPr>
            <p:ph type="sldNum" sz="quarter" idx="5"/>
          </p:nvPr>
        </p:nvSpPr>
        <p:spPr/>
        <p:txBody>
          <a:bodyPr/>
          <a:lstStyle/>
          <a:p>
            <a:fld id="{0C0A8EB9-2BA2-44D5-82C9-5C7C35262192}" type="slidenum">
              <a:rPr lang="en-US" smtClean="0"/>
              <a:t>11</a:t>
            </a:fld>
            <a:endParaRPr lang="en-US"/>
          </a:p>
        </p:txBody>
      </p:sp>
    </p:spTree>
    <p:extLst>
      <p:ext uri="{BB962C8B-B14F-4D97-AF65-F5344CB8AC3E}">
        <p14:creationId xmlns:p14="http://schemas.microsoft.com/office/powerpoint/2010/main" val="1542882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Q x xichma x {L, R} is a function</a:t>
            </a:r>
          </a:p>
        </p:txBody>
      </p:sp>
      <p:sp>
        <p:nvSpPr>
          <p:cNvPr id="4" name="Chỗ dành sẵn cho Số hiệu Bản chiếu 3"/>
          <p:cNvSpPr>
            <a:spLocks noGrp="1"/>
          </p:cNvSpPr>
          <p:nvPr>
            <p:ph type="sldNum" sz="quarter" idx="5"/>
          </p:nvPr>
        </p:nvSpPr>
        <p:spPr/>
        <p:txBody>
          <a:bodyPr/>
          <a:lstStyle/>
          <a:p>
            <a:fld id="{0C0A8EB9-2BA2-44D5-82C9-5C7C35262192}" type="slidenum">
              <a:rPr lang="en-US" smtClean="0"/>
              <a:t>32</a:t>
            </a:fld>
            <a:endParaRPr lang="en-US"/>
          </a:p>
        </p:txBody>
      </p:sp>
    </p:spTree>
    <p:extLst>
      <p:ext uri="{BB962C8B-B14F-4D97-AF65-F5344CB8AC3E}">
        <p14:creationId xmlns:p14="http://schemas.microsoft.com/office/powerpoint/2010/main" val="1138526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45E904E-41B9-4DD6-BAB5-28F7902FDC6B}"/>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AF8FDC21-C9D2-4D8B-BA4F-FFA40733F6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008506C0-0991-4C67-8AAF-2F8873593D0E}"/>
              </a:ext>
            </a:extLst>
          </p:cNvPr>
          <p:cNvSpPr>
            <a:spLocks noGrp="1"/>
          </p:cNvSpPr>
          <p:nvPr>
            <p:ph type="dt" sz="half" idx="10"/>
          </p:nvPr>
        </p:nvSpPr>
        <p:spPr/>
        <p:txBody>
          <a:bodyPr/>
          <a:lstStyle/>
          <a:p>
            <a:fld id="{2208C20F-554A-4D96-B4E2-D2CF84C3B608}" type="datetime1">
              <a:rPr lang="vi-VN" smtClean="0"/>
              <a:t>18/7/26</a:t>
            </a:fld>
            <a:endParaRPr lang="vi-VN"/>
          </a:p>
        </p:txBody>
      </p:sp>
      <p:sp>
        <p:nvSpPr>
          <p:cNvPr id="5" name="Chỗ dành sẵn cho Chân trang 4">
            <a:extLst>
              <a:ext uri="{FF2B5EF4-FFF2-40B4-BE49-F238E27FC236}">
                <a16:creationId xmlns:a16="http://schemas.microsoft.com/office/drawing/2014/main" id="{965E96CA-891A-4CCC-BC52-18DD7B8E9EF3}"/>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1868B738-9303-4A10-88A4-EA8F9D0A632E}"/>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77630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460016D-5B52-4234-BC0A-FE9DD0A138B8}"/>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2AFB8D1A-6BDB-409E-8F1D-2A541E1A73BF}"/>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9CF57D82-B6E2-472A-A438-E995CF130E72}"/>
              </a:ext>
            </a:extLst>
          </p:cNvPr>
          <p:cNvSpPr>
            <a:spLocks noGrp="1"/>
          </p:cNvSpPr>
          <p:nvPr>
            <p:ph type="dt" sz="half" idx="10"/>
          </p:nvPr>
        </p:nvSpPr>
        <p:spPr/>
        <p:txBody>
          <a:bodyPr/>
          <a:lstStyle/>
          <a:p>
            <a:fld id="{CC1D380E-E649-48DF-A257-75BF96F48B59}" type="datetime1">
              <a:rPr lang="vi-VN" smtClean="0"/>
              <a:t>18/7/26</a:t>
            </a:fld>
            <a:endParaRPr lang="vi-VN"/>
          </a:p>
        </p:txBody>
      </p:sp>
      <p:sp>
        <p:nvSpPr>
          <p:cNvPr id="5" name="Chỗ dành sẵn cho Chân trang 4">
            <a:extLst>
              <a:ext uri="{FF2B5EF4-FFF2-40B4-BE49-F238E27FC236}">
                <a16:creationId xmlns:a16="http://schemas.microsoft.com/office/drawing/2014/main" id="{B24E5EE0-78DF-4679-B974-F35C875AF98B}"/>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9406FC9C-2A33-4D7E-8BA9-42AE1224FD58}"/>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3159980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D32BF96-75A9-4309-B97E-416DE93CB96C}"/>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8A54D760-175C-4D60-A6B7-B0E0211EE8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60517207-A19A-4986-A06E-FDB65A8E1CC5}"/>
              </a:ext>
            </a:extLst>
          </p:cNvPr>
          <p:cNvSpPr>
            <a:spLocks noGrp="1"/>
          </p:cNvSpPr>
          <p:nvPr>
            <p:ph type="dt" sz="half" idx="10"/>
          </p:nvPr>
        </p:nvSpPr>
        <p:spPr/>
        <p:txBody>
          <a:bodyPr/>
          <a:lstStyle/>
          <a:p>
            <a:fld id="{F0D67613-28DF-48E3-B7BE-1E08485F151C}" type="datetime1">
              <a:rPr lang="vi-VN" smtClean="0"/>
              <a:t>18/7/26</a:t>
            </a:fld>
            <a:endParaRPr lang="vi-VN"/>
          </a:p>
        </p:txBody>
      </p:sp>
      <p:sp>
        <p:nvSpPr>
          <p:cNvPr id="5" name="Chỗ dành sẵn cho Chân trang 4">
            <a:extLst>
              <a:ext uri="{FF2B5EF4-FFF2-40B4-BE49-F238E27FC236}">
                <a16:creationId xmlns:a16="http://schemas.microsoft.com/office/drawing/2014/main" id="{7B7D328D-2295-41B4-B237-7F0038A67201}"/>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42F4941B-C677-469E-A982-3EB981192B09}"/>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232631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5B65592-0E39-42A2-BBA6-DB2281F95DF1}"/>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84FAB6E9-CA43-4D1C-BE63-96EE161519FA}"/>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CCE1A1C4-D894-44A8-A0A1-C176CF7E43D9}"/>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11C63561-0A49-49E4-894D-A96683BC56A8}"/>
              </a:ext>
            </a:extLst>
          </p:cNvPr>
          <p:cNvSpPr>
            <a:spLocks noGrp="1"/>
          </p:cNvSpPr>
          <p:nvPr>
            <p:ph type="dt" sz="half" idx="10"/>
          </p:nvPr>
        </p:nvSpPr>
        <p:spPr/>
        <p:txBody>
          <a:bodyPr/>
          <a:lstStyle/>
          <a:p>
            <a:fld id="{5FB3284E-9110-4BE1-A370-B994B46C90B9}" type="datetime1">
              <a:rPr lang="vi-VN" smtClean="0"/>
              <a:t>18/7/26</a:t>
            </a:fld>
            <a:endParaRPr lang="vi-VN"/>
          </a:p>
        </p:txBody>
      </p:sp>
      <p:sp>
        <p:nvSpPr>
          <p:cNvPr id="6" name="Chỗ dành sẵn cho Chân trang 5">
            <a:extLst>
              <a:ext uri="{FF2B5EF4-FFF2-40B4-BE49-F238E27FC236}">
                <a16:creationId xmlns:a16="http://schemas.microsoft.com/office/drawing/2014/main" id="{CE0000F3-F2AB-40DC-9405-4657C3850DA6}"/>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60AB07AF-FACD-4A3E-8395-ECC04E362998}"/>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2453837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DB6D23-D093-4CF5-921E-EFE3E8611A37}"/>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47E4B3F8-D5DD-461D-B5AE-021398E72E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6498957D-793D-4C4F-B0E0-81FBF4C16AE5}"/>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B9E3C53E-2268-45AD-862F-C80C2B7271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76D123D2-A316-449E-9E3E-60B7627856B4}"/>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61A19DF4-B0B4-4CF0-8507-98BBD6EB2AEA}"/>
              </a:ext>
            </a:extLst>
          </p:cNvPr>
          <p:cNvSpPr>
            <a:spLocks noGrp="1"/>
          </p:cNvSpPr>
          <p:nvPr>
            <p:ph type="dt" sz="half" idx="10"/>
          </p:nvPr>
        </p:nvSpPr>
        <p:spPr/>
        <p:txBody>
          <a:bodyPr/>
          <a:lstStyle/>
          <a:p>
            <a:fld id="{6E7C9FEA-240E-4FCB-9D1E-FA8B3DCA4107}" type="datetime1">
              <a:rPr lang="vi-VN" smtClean="0"/>
              <a:t>18/7/26</a:t>
            </a:fld>
            <a:endParaRPr lang="vi-VN"/>
          </a:p>
        </p:txBody>
      </p:sp>
      <p:sp>
        <p:nvSpPr>
          <p:cNvPr id="8" name="Chỗ dành sẵn cho Chân trang 7">
            <a:extLst>
              <a:ext uri="{FF2B5EF4-FFF2-40B4-BE49-F238E27FC236}">
                <a16:creationId xmlns:a16="http://schemas.microsoft.com/office/drawing/2014/main" id="{FD0FA5C0-9486-43DE-9E3C-32759820EC6A}"/>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374E3331-F568-4CB9-B8A8-F0F1417A7D59}"/>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2358096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685D22D-32C9-4EF9-ACCB-629C9BB4A8F8}"/>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6091912A-AF4A-437C-A7B7-C4E16EFFF432}"/>
              </a:ext>
            </a:extLst>
          </p:cNvPr>
          <p:cNvSpPr>
            <a:spLocks noGrp="1"/>
          </p:cNvSpPr>
          <p:nvPr>
            <p:ph type="dt" sz="half" idx="10"/>
          </p:nvPr>
        </p:nvSpPr>
        <p:spPr/>
        <p:txBody>
          <a:bodyPr/>
          <a:lstStyle/>
          <a:p>
            <a:fld id="{182F377E-49A1-42CE-9EF6-CFF24B12823A}" type="datetime1">
              <a:rPr lang="vi-VN" smtClean="0"/>
              <a:t>18/7/26</a:t>
            </a:fld>
            <a:endParaRPr lang="vi-VN"/>
          </a:p>
        </p:txBody>
      </p:sp>
      <p:sp>
        <p:nvSpPr>
          <p:cNvPr id="4" name="Chỗ dành sẵn cho Chân trang 3">
            <a:extLst>
              <a:ext uri="{FF2B5EF4-FFF2-40B4-BE49-F238E27FC236}">
                <a16:creationId xmlns:a16="http://schemas.microsoft.com/office/drawing/2014/main" id="{A740B77C-9563-4798-9039-660B1B6B4382}"/>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73D2C2D9-E801-44FB-8D0D-7B1F64002785}"/>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76696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4B003107-C8D2-4DA5-ACDD-75D1C68186D9}"/>
              </a:ext>
            </a:extLst>
          </p:cNvPr>
          <p:cNvSpPr>
            <a:spLocks noGrp="1"/>
          </p:cNvSpPr>
          <p:nvPr>
            <p:ph type="dt" sz="half" idx="10"/>
          </p:nvPr>
        </p:nvSpPr>
        <p:spPr/>
        <p:txBody>
          <a:bodyPr/>
          <a:lstStyle/>
          <a:p>
            <a:fld id="{9F63C755-0E19-4490-A8F9-FB381E54D176}" type="datetime1">
              <a:rPr lang="vi-VN" smtClean="0"/>
              <a:t>18/7/26</a:t>
            </a:fld>
            <a:endParaRPr lang="vi-VN"/>
          </a:p>
        </p:txBody>
      </p:sp>
      <p:sp>
        <p:nvSpPr>
          <p:cNvPr id="3" name="Chỗ dành sẵn cho Chân trang 2">
            <a:extLst>
              <a:ext uri="{FF2B5EF4-FFF2-40B4-BE49-F238E27FC236}">
                <a16:creationId xmlns:a16="http://schemas.microsoft.com/office/drawing/2014/main" id="{6E5CE142-8C1D-48D0-9039-ACCE3DC72BC2}"/>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DC99DE61-EB0E-4D84-A14B-F09267A7BBDA}"/>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3757745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9FFE773-0A98-4F90-9793-5F128B4D2E2A}"/>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ED59BA4B-49B8-4CE4-AC0F-BCEA5EBE4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0AEC98B4-7280-4E8B-BA87-D330A74284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4FF44C9D-0E9D-43D7-A4D2-F545786BD72E}"/>
              </a:ext>
            </a:extLst>
          </p:cNvPr>
          <p:cNvSpPr>
            <a:spLocks noGrp="1"/>
          </p:cNvSpPr>
          <p:nvPr>
            <p:ph type="dt" sz="half" idx="10"/>
          </p:nvPr>
        </p:nvSpPr>
        <p:spPr/>
        <p:txBody>
          <a:bodyPr/>
          <a:lstStyle/>
          <a:p>
            <a:fld id="{1DEDA61A-65FB-4656-9924-0B0A0F62022C}" type="datetime1">
              <a:rPr lang="vi-VN" smtClean="0"/>
              <a:t>18/7/26</a:t>
            </a:fld>
            <a:endParaRPr lang="vi-VN"/>
          </a:p>
        </p:txBody>
      </p:sp>
      <p:sp>
        <p:nvSpPr>
          <p:cNvPr id="6" name="Chỗ dành sẵn cho Chân trang 5">
            <a:extLst>
              <a:ext uri="{FF2B5EF4-FFF2-40B4-BE49-F238E27FC236}">
                <a16:creationId xmlns:a16="http://schemas.microsoft.com/office/drawing/2014/main" id="{F054A1BB-7F40-445A-B707-C724EC78BE29}"/>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E0F9B801-A18D-4AFF-92EC-911FC4B7F421}"/>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454963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AB74EBE-EA89-41A3-BDAA-239BF01A8791}"/>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C9C3348C-AF36-4122-813E-AD2CA96FA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9F959C4A-4991-4D11-B311-BDD9158981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5EF698C9-2BFE-4A2D-9EDA-2D635163B203}"/>
              </a:ext>
            </a:extLst>
          </p:cNvPr>
          <p:cNvSpPr>
            <a:spLocks noGrp="1"/>
          </p:cNvSpPr>
          <p:nvPr>
            <p:ph type="dt" sz="half" idx="10"/>
          </p:nvPr>
        </p:nvSpPr>
        <p:spPr/>
        <p:txBody>
          <a:bodyPr/>
          <a:lstStyle/>
          <a:p>
            <a:fld id="{E102CACD-4A31-4457-A5C8-6C5E2262C000}" type="datetime1">
              <a:rPr lang="vi-VN" smtClean="0"/>
              <a:t>18/7/26</a:t>
            </a:fld>
            <a:endParaRPr lang="vi-VN"/>
          </a:p>
        </p:txBody>
      </p:sp>
      <p:sp>
        <p:nvSpPr>
          <p:cNvPr id="6" name="Chỗ dành sẵn cho Chân trang 5">
            <a:extLst>
              <a:ext uri="{FF2B5EF4-FFF2-40B4-BE49-F238E27FC236}">
                <a16:creationId xmlns:a16="http://schemas.microsoft.com/office/drawing/2014/main" id="{DA861632-76A4-4F78-920E-C732CEC2BF4C}"/>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5A815982-5CE3-498C-9858-6F4D4D731F65}"/>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89361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E748A3B-6307-40D0-96EB-181F2AA579BB}"/>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DF6A0B97-CA27-48AD-AB6F-DAD0087FBF8D}"/>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031363E3-5B87-4BE7-9F4F-1AB0AC1AD7F6}"/>
              </a:ext>
            </a:extLst>
          </p:cNvPr>
          <p:cNvSpPr>
            <a:spLocks noGrp="1"/>
          </p:cNvSpPr>
          <p:nvPr>
            <p:ph type="dt" sz="half" idx="10"/>
          </p:nvPr>
        </p:nvSpPr>
        <p:spPr/>
        <p:txBody>
          <a:bodyPr/>
          <a:lstStyle/>
          <a:p>
            <a:fld id="{6A4D0B5A-882B-4D55-A946-2C17B7ED0364}" type="datetime1">
              <a:rPr lang="vi-VN" smtClean="0"/>
              <a:t>18/7/26</a:t>
            </a:fld>
            <a:endParaRPr lang="vi-VN"/>
          </a:p>
        </p:txBody>
      </p:sp>
      <p:sp>
        <p:nvSpPr>
          <p:cNvPr id="5" name="Chỗ dành sẵn cho Chân trang 4">
            <a:extLst>
              <a:ext uri="{FF2B5EF4-FFF2-40B4-BE49-F238E27FC236}">
                <a16:creationId xmlns:a16="http://schemas.microsoft.com/office/drawing/2014/main" id="{9225A6C4-8769-47D1-BDF6-1EE2BB0FC41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72C0EA36-4FD0-4F5E-9498-7684B462A3C2}"/>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2817879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D4598D20-4EE5-4907-8FEE-E708324ED83A}"/>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89BF4EE9-29FD-4313-AD93-EAA2A0D0E434}"/>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A456228A-1F68-4361-93C1-EC730174CDCA}"/>
              </a:ext>
            </a:extLst>
          </p:cNvPr>
          <p:cNvSpPr>
            <a:spLocks noGrp="1"/>
          </p:cNvSpPr>
          <p:nvPr>
            <p:ph type="dt" sz="half" idx="10"/>
          </p:nvPr>
        </p:nvSpPr>
        <p:spPr/>
        <p:txBody>
          <a:bodyPr/>
          <a:lstStyle/>
          <a:p>
            <a:fld id="{0CD32ECF-03C5-4FD7-83C3-211A4374A6E0}" type="datetime1">
              <a:rPr lang="vi-VN" smtClean="0"/>
              <a:t>18/7/26</a:t>
            </a:fld>
            <a:endParaRPr lang="vi-VN"/>
          </a:p>
        </p:txBody>
      </p:sp>
      <p:sp>
        <p:nvSpPr>
          <p:cNvPr id="5" name="Chỗ dành sẵn cho Chân trang 4">
            <a:extLst>
              <a:ext uri="{FF2B5EF4-FFF2-40B4-BE49-F238E27FC236}">
                <a16:creationId xmlns:a16="http://schemas.microsoft.com/office/drawing/2014/main" id="{1524AB81-4025-4491-8817-8A72122C80C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A1AEB6C2-9629-4E83-92D9-024BE1CC5193}"/>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514671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0E55C26B-671E-4921-B552-0FC2C1AEF6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B7EF0498-038E-4CA3-A007-A1E4FACC3B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333A460A-77F9-4A3E-89BD-F0C826F2C0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ECDA88-E22B-4E1B-86A9-EB4377FEE542}" type="datetime1">
              <a:rPr lang="vi-VN" smtClean="0"/>
              <a:t>18/7/26</a:t>
            </a:fld>
            <a:endParaRPr lang="vi-VN"/>
          </a:p>
        </p:txBody>
      </p:sp>
      <p:sp>
        <p:nvSpPr>
          <p:cNvPr id="5" name="Chỗ dành sẵn cho Chân trang 4">
            <a:extLst>
              <a:ext uri="{FF2B5EF4-FFF2-40B4-BE49-F238E27FC236}">
                <a16:creationId xmlns:a16="http://schemas.microsoft.com/office/drawing/2014/main" id="{094847D1-A749-4C01-8A44-ABFFE65A5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Chỗ dành sẵn cho Số hiệu Bản chiếu 5">
            <a:extLst>
              <a:ext uri="{FF2B5EF4-FFF2-40B4-BE49-F238E27FC236}">
                <a16:creationId xmlns:a16="http://schemas.microsoft.com/office/drawing/2014/main" id="{F9EF462B-2F70-4C09-ABF5-7EC6E6BF82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F7CBD-B9A5-4D53-9D65-FFCCF7EF1299}" type="slidenum">
              <a:rPr lang="vi-VN" smtClean="0"/>
              <a:t>‹#›</a:t>
            </a:fld>
            <a:endParaRPr lang="vi-VN"/>
          </a:p>
        </p:txBody>
      </p:sp>
    </p:spTree>
    <p:extLst>
      <p:ext uri="{BB962C8B-B14F-4D97-AF65-F5344CB8AC3E}">
        <p14:creationId xmlns:p14="http://schemas.microsoft.com/office/powerpoint/2010/main" val="3419546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5.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97.png"/><Relationship Id="rId4" Type="http://schemas.openxmlformats.org/officeDocument/2006/relationships/image" Target="../media/image185.png"/><Relationship Id="rId9"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44.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5.jpeg"/><Relationship Id="rId7" Type="http://schemas.openxmlformats.org/officeDocument/2006/relationships/image" Target="../media/image48.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7.png"/><Relationship Id="rId5" Type="http://schemas.microsoft.com/office/2007/relationships/hdphoto" Target="../media/hdphoto2.wdp"/><Relationship Id="rId4" Type="http://schemas.openxmlformats.org/officeDocument/2006/relationships/image" Target="../media/image45.png"/><Relationship Id="rId9"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510.png"/><Relationship Id="rId5" Type="http://schemas.openxmlformats.org/officeDocument/2006/relationships/image" Target="../media/image410.png"/><Relationship Id="rId4" Type="http://schemas.openxmlformats.org/officeDocument/2006/relationships/image" Target="../media/image310.png"/></Relationships>
</file>

<file path=ppt/slides/_rels/slide38.xml.rels><?xml version="1.0" encoding="UTF-8" standalone="yes"?>
<Relationships xmlns="http://schemas.openxmlformats.org/package/2006/relationships"><Relationship Id="rId8" Type="http://schemas.openxmlformats.org/officeDocument/2006/relationships/image" Target="../media/image1200.png"/><Relationship Id="rId3" Type="http://schemas.openxmlformats.org/officeDocument/2006/relationships/image" Target="../media/image710.png"/><Relationship Id="rId7" Type="http://schemas.openxmlformats.org/officeDocument/2006/relationships/image" Target="../media/image111.png"/><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1010.png"/><Relationship Id="rId11" Type="http://schemas.openxmlformats.org/officeDocument/2006/relationships/image" Target="../media/image1500.png"/><Relationship Id="rId5" Type="http://schemas.openxmlformats.org/officeDocument/2006/relationships/image" Target="../media/image910.png"/><Relationship Id="rId10" Type="http://schemas.openxmlformats.org/officeDocument/2006/relationships/image" Target="../media/image57.png"/><Relationship Id="rId4" Type="http://schemas.openxmlformats.org/officeDocument/2006/relationships/image" Target="../media/image810.png"/><Relationship Id="rId9" Type="http://schemas.openxmlformats.org/officeDocument/2006/relationships/image" Target="../media/image1300.png"/></Relationships>
</file>

<file path=ppt/slides/_rels/slide39.xml.rels><?xml version="1.0" encoding="UTF-8" standalone="yes"?>
<Relationships xmlns="http://schemas.openxmlformats.org/package/2006/relationships"><Relationship Id="rId3" Type="http://schemas.openxmlformats.org/officeDocument/2006/relationships/image" Target="../media/image1601.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1901.png"/><Relationship Id="rId5" Type="http://schemas.openxmlformats.org/officeDocument/2006/relationships/image" Target="../media/image1801.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11.png"/><Relationship Id="rId7" Type="http://schemas.openxmlformats.org/officeDocument/2006/relationships/image" Target="../media/image252.png"/><Relationship Id="rId2" Type="http://schemas.openxmlformats.org/officeDocument/2006/relationships/image" Target="../media/image2000.png"/><Relationship Id="rId1" Type="http://schemas.openxmlformats.org/officeDocument/2006/relationships/slideLayout" Target="../slideLayouts/slideLayout2.xml"/><Relationship Id="rId6" Type="http://schemas.openxmlformats.org/officeDocument/2006/relationships/image" Target="../media/image2410.png"/><Relationship Id="rId11" Type="http://schemas.openxmlformats.org/officeDocument/2006/relationships/image" Target="../media/image280.png"/><Relationship Id="rId5" Type="http://schemas.openxmlformats.org/officeDocument/2006/relationships/image" Target="../media/image2310.png"/><Relationship Id="rId10" Type="http://schemas.openxmlformats.org/officeDocument/2006/relationships/image" Target="../media/image60.png"/><Relationship Id="rId4" Type="http://schemas.openxmlformats.org/officeDocument/2006/relationships/image" Target="../media/image220.png"/><Relationship Id="rId9" Type="http://schemas.openxmlformats.org/officeDocument/2006/relationships/image" Target="../media/image1801.png"/></Relationships>
</file>

<file path=ppt/slides/_rels/slide4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image" Target="../media/image311.png"/><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8" Type="http://schemas.openxmlformats.org/officeDocument/2006/relationships/image" Target="../media/image390.png"/><Relationship Id="rId3" Type="http://schemas.openxmlformats.org/officeDocument/2006/relationships/image" Target="../media/image340.png"/><Relationship Id="rId7" Type="http://schemas.openxmlformats.org/officeDocument/2006/relationships/image" Target="../media/image38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12.png"/><Relationship Id="rId5" Type="http://schemas.openxmlformats.org/officeDocument/2006/relationships/image" Target="../media/image360.png"/><Relationship Id="rId10" Type="http://schemas.openxmlformats.org/officeDocument/2006/relationships/image" Target="../media/image63.png"/><Relationship Id="rId4" Type="http://schemas.openxmlformats.org/officeDocument/2006/relationships/image" Target="../media/image350.png"/><Relationship Id="rId9" Type="http://schemas.openxmlformats.org/officeDocument/2006/relationships/image" Target="../media/image311.png"/></Relationships>
</file>

<file path=ppt/slides/_rels/slide43.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450.png"/><Relationship Id="rId5" Type="http://schemas.openxmlformats.org/officeDocument/2006/relationships/image" Target="../media/image440.png"/><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png"/></Relationships>
</file>

<file path=ppt/slides/_rels/slide46.xml.rels><?xml version="1.0" encoding="UTF-8" standalone="yes"?>
<Relationships xmlns="http://schemas.openxmlformats.org/package/2006/relationships"><Relationship Id="rId8" Type="http://schemas.openxmlformats.org/officeDocument/2006/relationships/image" Target="../media/image950.png"/><Relationship Id="rId13" Type="http://schemas.openxmlformats.org/officeDocument/2006/relationships/image" Target="../media/image1000.png"/><Relationship Id="rId18" Type="http://schemas.openxmlformats.org/officeDocument/2006/relationships/image" Target="../media/image105.png"/><Relationship Id="rId3" Type="http://schemas.openxmlformats.org/officeDocument/2006/relationships/image" Target="../media/image900.png"/><Relationship Id="rId7" Type="http://schemas.openxmlformats.org/officeDocument/2006/relationships/image" Target="../media/image940.png"/><Relationship Id="rId12" Type="http://schemas.openxmlformats.org/officeDocument/2006/relationships/image" Target="../media/image99.png"/><Relationship Id="rId17" Type="http://schemas.openxmlformats.org/officeDocument/2006/relationships/image" Target="../media/image81.png"/><Relationship Id="rId16"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930.png"/><Relationship Id="rId11" Type="http://schemas.openxmlformats.org/officeDocument/2006/relationships/image" Target="../media/image98.png"/><Relationship Id="rId5" Type="http://schemas.openxmlformats.org/officeDocument/2006/relationships/image" Target="../media/image92.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911.png"/><Relationship Id="rId9" Type="http://schemas.openxmlformats.org/officeDocument/2006/relationships/image" Target="../media/image960.png"/><Relationship Id="rId14" Type="http://schemas.openxmlformats.org/officeDocument/2006/relationships/image" Target="../media/image80.png"/></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1D6EE3C-28C5-4E84-9EF0-5F8CDDE251E3}"/>
              </a:ext>
            </a:extLst>
          </p:cNvPr>
          <p:cNvSpPr>
            <a:spLocks noGrp="1"/>
          </p:cNvSpPr>
          <p:nvPr>
            <p:ph type="ctrTitle"/>
          </p:nvPr>
        </p:nvSpPr>
        <p:spPr/>
        <p:txBody>
          <a:bodyPr>
            <a:normAutofit/>
          </a:bodyPr>
          <a:lstStyle/>
          <a:p>
            <a:r>
              <a:rPr lang="en-US"/>
              <a:t>Tính toán cổ điển, xác suất và  lượng tử</a:t>
            </a:r>
            <a:endParaRPr lang="vi-VN"/>
          </a:p>
        </p:txBody>
      </p:sp>
      <p:sp>
        <p:nvSpPr>
          <p:cNvPr id="3" name="Tiêu đề phụ 2">
            <a:extLst>
              <a:ext uri="{FF2B5EF4-FFF2-40B4-BE49-F238E27FC236}">
                <a16:creationId xmlns:a16="http://schemas.microsoft.com/office/drawing/2014/main" id="{5AEF7168-F8D5-4C61-9736-0AD0501EB9CA}"/>
              </a:ext>
            </a:extLst>
          </p:cNvPr>
          <p:cNvSpPr>
            <a:spLocks noGrp="1"/>
          </p:cNvSpPr>
          <p:nvPr>
            <p:ph type="subTitle" idx="1"/>
          </p:nvPr>
        </p:nvSpPr>
        <p:spPr>
          <a:xfrm>
            <a:off x="1524000" y="3813910"/>
            <a:ext cx="9144000" cy="1655762"/>
          </a:xfrm>
        </p:spPr>
        <p:txBody>
          <a:bodyPr/>
          <a:lstStyle/>
          <a:p>
            <a:r>
              <a:rPr lang="en-US"/>
              <a:t>27/07/2026</a:t>
            </a:r>
          </a:p>
          <a:p>
            <a:r>
              <a:rPr lang="en-US"/>
              <a:t>Vũ Tuấn Hải. haivt@uit.edu.vn</a:t>
            </a:r>
          </a:p>
          <a:p>
            <a:r>
              <a:rPr lang="en-US"/>
              <a:t>Trường Đại học Công nghệ thông tin, ĐHQG TP. HCM</a:t>
            </a:r>
            <a:endParaRPr lang="vi-VN"/>
          </a:p>
        </p:txBody>
      </p:sp>
      <p:sp>
        <p:nvSpPr>
          <p:cNvPr id="4" name="Chỗ dành sẵn cho Số hiệu Bản chiếu 3">
            <a:extLst>
              <a:ext uri="{FF2B5EF4-FFF2-40B4-BE49-F238E27FC236}">
                <a16:creationId xmlns:a16="http://schemas.microsoft.com/office/drawing/2014/main" id="{86056B53-C03F-48A7-B3A3-12748DC9A68F}"/>
              </a:ext>
            </a:extLst>
          </p:cNvPr>
          <p:cNvSpPr>
            <a:spLocks noGrp="1"/>
          </p:cNvSpPr>
          <p:nvPr>
            <p:ph type="sldNum" sz="quarter" idx="12"/>
          </p:nvPr>
        </p:nvSpPr>
        <p:spPr/>
        <p:txBody>
          <a:bodyPr/>
          <a:lstStyle/>
          <a:p>
            <a:fld id="{95CF7CBD-B9A5-4D53-9D65-FFCCF7EF1299}" type="slidenum">
              <a:rPr lang="vi-VN" smtClean="0"/>
              <a:t>1</a:t>
            </a:fld>
            <a:endParaRPr lang="vi-VN"/>
          </a:p>
        </p:txBody>
      </p:sp>
      <p:sp>
        <p:nvSpPr>
          <p:cNvPr id="5" name="Rounded Rectangle 4">
            <a:extLst>
              <a:ext uri="{FF2B5EF4-FFF2-40B4-BE49-F238E27FC236}">
                <a16:creationId xmlns:a16="http://schemas.microsoft.com/office/drawing/2014/main" id="{17DC8EE6-D67A-4D00-32C9-F66B5F5BF089}"/>
              </a:ext>
            </a:extLst>
          </p:cNvPr>
          <p:cNvSpPr/>
          <p:nvPr/>
        </p:nvSpPr>
        <p:spPr>
          <a:xfrm>
            <a:off x="5185317" y="2587083"/>
            <a:ext cx="2899317" cy="92288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TextBox 5">
            <a:extLst>
              <a:ext uri="{FF2B5EF4-FFF2-40B4-BE49-F238E27FC236}">
                <a16:creationId xmlns:a16="http://schemas.microsoft.com/office/drawing/2014/main" id="{99890C3C-E886-74D0-3A7E-EC7DF503A380}"/>
              </a:ext>
            </a:extLst>
          </p:cNvPr>
          <p:cNvSpPr txBox="1"/>
          <p:nvPr/>
        </p:nvSpPr>
        <p:spPr>
          <a:xfrm>
            <a:off x="1339118" y="5312847"/>
            <a:ext cx="9513763" cy="1200329"/>
          </a:xfrm>
          <a:prstGeom prst="rect">
            <a:avLst/>
          </a:prstGeom>
          <a:noFill/>
        </p:spPr>
        <p:txBody>
          <a:bodyPr wrap="square" rtlCol="0">
            <a:spAutoFit/>
          </a:bodyPr>
          <a:lstStyle/>
          <a:p>
            <a:pPr algn="ctr"/>
            <a:r>
              <a:rPr lang="en-VN" sz="3600"/>
              <a:t>Tính toán là khai thác quá khứ, vận hành hiện tại và dự đoán tương lai</a:t>
            </a:r>
          </a:p>
        </p:txBody>
      </p:sp>
    </p:spTree>
    <p:extLst>
      <p:ext uri="{BB962C8B-B14F-4D97-AF65-F5344CB8AC3E}">
        <p14:creationId xmlns:p14="http://schemas.microsoft.com/office/powerpoint/2010/main" val="106342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F25C-4F76-3C30-76FE-2A4EB0FC844E}"/>
              </a:ext>
            </a:extLst>
          </p:cNvPr>
          <p:cNvSpPr>
            <a:spLocks noGrp="1"/>
          </p:cNvSpPr>
          <p:nvPr>
            <p:ph type="title"/>
          </p:nvPr>
        </p:nvSpPr>
        <p:spPr/>
        <p:txBody>
          <a:bodyPr/>
          <a:lstStyle/>
          <a:p>
            <a:r>
              <a:rPr lang="en-VN"/>
              <a:t>Về tôi</a:t>
            </a:r>
          </a:p>
        </p:txBody>
      </p:sp>
      <p:sp>
        <p:nvSpPr>
          <p:cNvPr id="3" name="Content Placeholder 2">
            <a:extLst>
              <a:ext uri="{FF2B5EF4-FFF2-40B4-BE49-F238E27FC236}">
                <a16:creationId xmlns:a16="http://schemas.microsoft.com/office/drawing/2014/main" id="{E78E82ED-C15C-B0A6-7F5B-4EEB0059859D}"/>
              </a:ext>
            </a:extLst>
          </p:cNvPr>
          <p:cNvSpPr>
            <a:spLocks noGrp="1"/>
          </p:cNvSpPr>
          <p:nvPr>
            <p:ph idx="1"/>
          </p:nvPr>
        </p:nvSpPr>
        <p:spPr>
          <a:xfrm>
            <a:off x="838200" y="1825625"/>
            <a:ext cx="11064498" cy="2095446"/>
          </a:xfrm>
        </p:spPr>
        <p:txBody>
          <a:bodyPr>
            <a:normAutofit/>
          </a:bodyPr>
          <a:lstStyle/>
          <a:p>
            <a:pPr marL="0" indent="0">
              <a:buNone/>
            </a:pPr>
            <a:r>
              <a:rPr lang="en-VN" sz="3600"/>
              <a:t>THPT: Xã Chư Prông, Gia Lai (thị trấn Chư Prông cũ)</a:t>
            </a:r>
          </a:p>
          <a:p>
            <a:pPr marL="0" indent="0">
              <a:buNone/>
            </a:pPr>
            <a:r>
              <a:rPr lang="en-VN" sz="3600"/>
              <a:t>ĐH - ThS: Đại học Công nghệ thông tin, ĐHQG TP. HCM</a:t>
            </a:r>
          </a:p>
          <a:p>
            <a:pPr marL="0" indent="0">
              <a:buNone/>
            </a:pPr>
            <a:r>
              <a:rPr lang="en-VN" sz="3600"/>
              <a:t>TS: Viện khoa học &amp; Công nghệ Nara, Nhật Bản</a:t>
            </a:r>
          </a:p>
          <a:p>
            <a:pPr marL="0" indent="0">
              <a:buNone/>
            </a:pPr>
            <a:endParaRPr lang="en-VN" sz="3600"/>
          </a:p>
          <a:p>
            <a:pPr marL="0" indent="0">
              <a:buNone/>
            </a:pPr>
            <a:endParaRPr lang="en-VN" sz="3600"/>
          </a:p>
        </p:txBody>
      </p:sp>
      <p:sp>
        <p:nvSpPr>
          <p:cNvPr id="4" name="Slide Number Placeholder 3">
            <a:extLst>
              <a:ext uri="{FF2B5EF4-FFF2-40B4-BE49-F238E27FC236}">
                <a16:creationId xmlns:a16="http://schemas.microsoft.com/office/drawing/2014/main" id="{06C1CC01-F456-0C0F-F47A-322CCDEDF2D9}"/>
              </a:ext>
            </a:extLst>
          </p:cNvPr>
          <p:cNvSpPr>
            <a:spLocks noGrp="1"/>
          </p:cNvSpPr>
          <p:nvPr>
            <p:ph type="sldNum" sz="quarter" idx="12"/>
          </p:nvPr>
        </p:nvSpPr>
        <p:spPr/>
        <p:txBody>
          <a:bodyPr/>
          <a:lstStyle/>
          <a:p>
            <a:fld id="{95CF7CBD-B9A5-4D53-9D65-FFCCF7EF1299}" type="slidenum">
              <a:rPr lang="vi-VN" smtClean="0"/>
              <a:t>2</a:t>
            </a:fld>
            <a:endParaRPr lang="vi-VN"/>
          </a:p>
        </p:txBody>
      </p:sp>
      <p:pic>
        <p:nvPicPr>
          <p:cNvPr id="5" name="Picture 2">
            <a:extLst>
              <a:ext uri="{FF2B5EF4-FFF2-40B4-BE49-F238E27FC236}">
                <a16:creationId xmlns:a16="http://schemas.microsoft.com/office/drawing/2014/main" id="{1C366AA3-6DB8-B6DF-5778-9877AB8E9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986" y="4807697"/>
            <a:ext cx="5117240" cy="96551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Graduate | Tohoku University Global Site">
            <a:extLst>
              <a:ext uri="{FF2B5EF4-FFF2-40B4-BE49-F238E27FC236}">
                <a16:creationId xmlns:a16="http://schemas.microsoft.com/office/drawing/2014/main" id="{27F553BC-905E-2CEC-C8D7-BDF9A49715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9034" y="4550581"/>
            <a:ext cx="1209603" cy="16332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a:extLst>
              <a:ext uri="{FF2B5EF4-FFF2-40B4-BE49-F238E27FC236}">
                <a16:creationId xmlns:a16="http://schemas.microsoft.com/office/drawing/2014/main" id="{501C56D9-BAC3-5256-7EA2-742F83784A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5579" y="4550581"/>
            <a:ext cx="1528530" cy="19883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of a company&#10;&#10;AI-generated content may be incorrect.">
            <a:extLst>
              <a:ext uri="{FF2B5EF4-FFF2-40B4-BE49-F238E27FC236}">
                <a16:creationId xmlns:a16="http://schemas.microsoft.com/office/drawing/2014/main" id="{7DCEA1AC-9E9F-60BD-1412-24CCB21A10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4109" y="4550581"/>
            <a:ext cx="1693399" cy="1633243"/>
          </a:xfrm>
          <a:prstGeom prst="rect">
            <a:avLst/>
          </a:prstGeom>
        </p:spPr>
      </p:pic>
    </p:spTree>
    <p:extLst>
      <p:ext uri="{BB962C8B-B14F-4D97-AF65-F5344CB8AC3E}">
        <p14:creationId xmlns:p14="http://schemas.microsoft.com/office/powerpoint/2010/main" val="2558911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37FC017-C0D9-9185-4E0A-515380BE434A}"/>
              </a:ext>
            </a:extLst>
          </p:cNvPr>
          <p:cNvSpPr/>
          <p:nvPr/>
        </p:nvSpPr>
        <p:spPr>
          <a:xfrm>
            <a:off x="888379" y="2196307"/>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4" name="Oval 23">
            <a:extLst>
              <a:ext uri="{FF2B5EF4-FFF2-40B4-BE49-F238E27FC236}">
                <a16:creationId xmlns:a16="http://schemas.microsoft.com/office/drawing/2014/main" id="{27FC4076-B069-9E10-1BEC-D6510CAD88EF}"/>
              </a:ext>
            </a:extLst>
          </p:cNvPr>
          <p:cNvSpPr>
            <a:spLocks noChangeAspect="1"/>
          </p:cNvSpPr>
          <p:nvPr/>
        </p:nvSpPr>
        <p:spPr>
          <a:xfrm>
            <a:off x="1648775" y="224861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3" name="Oval 22">
            <a:extLst>
              <a:ext uri="{FF2B5EF4-FFF2-40B4-BE49-F238E27FC236}">
                <a16:creationId xmlns:a16="http://schemas.microsoft.com/office/drawing/2014/main" id="{EDA4A14E-C8BE-A3D3-B3C2-42103BC8F478}"/>
              </a:ext>
            </a:extLst>
          </p:cNvPr>
          <p:cNvSpPr>
            <a:spLocks noChangeAspect="1"/>
          </p:cNvSpPr>
          <p:nvPr/>
        </p:nvSpPr>
        <p:spPr>
          <a:xfrm>
            <a:off x="2009289" y="224861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Bi xanh, bi đỏ, bi vàng</a:t>
            </a:r>
            <a:endParaRPr lang="en-US" dirty="0"/>
          </a:p>
        </p:txBody>
      </p:sp>
      <p:sp>
        <p:nvSpPr>
          <p:cNvPr id="4" name="Chỗ dành sẵn cho Số hiệu Bản chiếu 3">
            <a:extLst>
              <a:ext uri="{FF2B5EF4-FFF2-40B4-BE49-F238E27FC236}">
                <a16:creationId xmlns:a16="http://schemas.microsoft.com/office/drawing/2014/main" id="{2559A6E9-FB34-4903-BE38-6073882C50A4}"/>
              </a:ext>
            </a:extLst>
          </p:cNvPr>
          <p:cNvSpPr>
            <a:spLocks noGrp="1"/>
          </p:cNvSpPr>
          <p:nvPr>
            <p:ph type="sldNum" sz="quarter" idx="12"/>
          </p:nvPr>
        </p:nvSpPr>
        <p:spPr/>
        <p:txBody>
          <a:bodyPr/>
          <a:lstStyle/>
          <a:p>
            <a:fld id="{74ABBA0F-ED8F-4A6E-AA06-FEAFBF3D52EE}" type="slidenum">
              <a:rPr lang="en-US" smtClean="0"/>
              <a:t>3</a:t>
            </a:fld>
            <a:endParaRPr lang="en-US"/>
          </a:p>
        </p:txBody>
      </p:sp>
      <p:sp>
        <p:nvSpPr>
          <p:cNvPr id="3" name="Oval 2">
            <a:extLst>
              <a:ext uri="{FF2B5EF4-FFF2-40B4-BE49-F238E27FC236}">
                <a16:creationId xmlns:a16="http://schemas.microsoft.com/office/drawing/2014/main" id="{91053656-B45C-20B6-4CB7-237EFA9EF4F4}"/>
              </a:ext>
            </a:extLst>
          </p:cNvPr>
          <p:cNvSpPr/>
          <p:nvPr/>
        </p:nvSpPr>
        <p:spPr>
          <a:xfrm>
            <a:off x="6657278" y="3014333"/>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Oval 5">
            <a:extLst>
              <a:ext uri="{FF2B5EF4-FFF2-40B4-BE49-F238E27FC236}">
                <a16:creationId xmlns:a16="http://schemas.microsoft.com/office/drawing/2014/main" id="{A166AD04-0249-00A8-60B5-5ECF128E5932}"/>
              </a:ext>
            </a:extLst>
          </p:cNvPr>
          <p:cNvSpPr/>
          <p:nvPr/>
        </p:nvSpPr>
        <p:spPr>
          <a:xfrm>
            <a:off x="4014439" y="505483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Arc 16">
            <a:extLst>
              <a:ext uri="{FF2B5EF4-FFF2-40B4-BE49-F238E27FC236}">
                <a16:creationId xmlns:a16="http://schemas.microsoft.com/office/drawing/2014/main" id="{066BB68C-EAD9-CEAD-3BE6-EF83236E8A0E}"/>
              </a:ext>
            </a:extLst>
          </p:cNvPr>
          <p:cNvSpPr/>
          <p:nvPr/>
        </p:nvSpPr>
        <p:spPr>
          <a:xfrm rot="18235881" flipH="1">
            <a:off x="4421735" y="817678"/>
            <a:ext cx="2637371" cy="5972997"/>
          </a:xfrm>
          <a:prstGeom prst="arc">
            <a:avLst>
              <a:gd name="adj1" fmla="val 16756193"/>
              <a:gd name="adj2" fmla="val 85741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8" name="Arc 17">
            <a:extLst>
              <a:ext uri="{FF2B5EF4-FFF2-40B4-BE49-F238E27FC236}">
                <a16:creationId xmlns:a16="http://schemas.microsoft.com/office/drawing/2014/main" id="{8F0D7DEC-6343-98BD-8D07-165129E98DB7}"/>
              </a:ext>
            </a:extLst>
          </p:cNvPr>
          <p:cNvSpPr/>
          <p:nvPr/>
        </p:nvSpPr>
        <p:spPr>
          <a:xfrm rot="18235881" flipH="1">
            <a:off x="2165691" y="958928"/>
            <a:ext cx="2637371" cy="5972997"/>
          </a:xfrm>
          <a:prstGeom prst="arc">
            <a:avLst>
              <a:gd name="adj1" fmla="val 16756193"/>
              <a:gd name="adj2" fmla="val 378224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9" name="Arc 18">
            <a:extLst>
              <a:ext uri="{FF2B5EF4-FFF2-40B4-BE49-F238E27FC236}">
                <a16:creationId xmlns:a16="http://schemas.microsoft.com/office/drawing/2014/main" id="{69CF83FB-E443-E73F-B841-11E65C5489F4}"/>
              </a:ext>
            </a:extLst>
          </p:cNvPr>
          <p:cNvSpPr/>
          <p:nvPr/>
        </p:nvSpPr>
        <p:spPr>
          <a:xfrm rot="4290804">
            <a:off x="4838382" y="1213143"/>
            <a:ext cx="2136092" cy="6372685"/>
          </a:xfrm>
          <a:prstGeom prst="arc">
            <a:avLst>
              <a:gd name="adj1" fmla="val 16314377"/>
              <a:gd name="adj2" fmla="val 1136162"/>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0" name="Arc 19">
            <a:extLst>
              <a:ext uri="{FF2B5EF4-FFF2-40B4-BE49-F238E27FC236}">
                <a16:creationId xmlns:a16="http://schemas.microsoft.com/office/drawing/2014/main" id="{128F6437-0401-70A6-C128-E44B2C1768EF}"/>
              </a:ext>
            </a:extLst>
          </p:cNvPr>
          <p:cNvSpPr/>
          <p:nvPr/>
        </p:nvSpPr>
        <p:spPr>
          <a:xfrm rot="3585143">
            <a:off x="3356364" y="2011152"/>
            <a:ext cx="2136092" cy="5032754"/>
          </a:xfrm>
          <a:prstGeom prst="arc">
            <a:avLst>
              <a:gd name="adj1" fmla="val 16526374"/>
              <a:gd name="adj2" fmla="val 19856783"/>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1" name="Oval 20">
            <a:extLst>
              <a:ext uri="{FF2B5EF4-FFF2-40B4-BE49-F238E27FC236}">
                <a16:creationId xmlns:a16="http://schemas.microsoft.com/office/drawing/2014/main" id="{6CBB7549-0E5B-7DF0-4A74-2A6A57269A4C}"/>
              </a:ext>
            </a:extLst>
          </p:cNvPr>
          <p:cNvSpPr>
            <a:spLocks noChangeAspect="1"/>
          </p:cNvSpPr>
          <p:nvPr/>
        </p:nvSpPr>
        <p:spPr>
          <a:xfrm>
            <a:off x="1448834" y="2598902"/>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554707D3-B1DB-2446-53B9-2BC444C8EE59}"/>
              </a:ext>
            </a:extLst>
          </p:cNvPr>
          <p:cNvSpPr>
            <a:spLocks noChangeAspect="1"/>
          </p:cNvSpPr>
          <p:nvPr/>
        </p:nvSpPr>
        <p:spPr>
          <a:xfrm>
            <a:off x="1913110" y="2598902"/>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5" name="Up Arrow 24">
            <a:extLst>
              <a:ext uri="{FF2B5EF4-FFF2-40B4-BE49-F238E27FC236}">
                <a16:creationId xmlns:a16="http://schemas.microsoft.com/office/drawing/2014/main" id="{C892DF4E-3821-F9E6-9656-7D43FB037B81}"/>
              </a:ext>
            </a:extLst>
          </p:cNvPr>
          <p:cNvSpPr/>
          <p:nvPr/>
        </p:nvSpPr>
        <p:spPr>
          <a:xfrm rot="8511635">
            <a:off x="2494979" y="3469421"/>
            <a:ext cx="418011" cy="954890"/>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Up Arrow 25">
            <a:extLst>
              <a:ext uri="{FF2B5EF4-FFF2-40B4-BE49-F238E27FC236}">
                <a16:creationId xmlns:a16="http://schemas.microsoft.com/office/drawing/2014/main" id="{4BE7927E-563B-91AC-5AFA-8B9FC971BCC6}"/>
              </a:ext>
            </a:extLst>
          </p:cNvPr>
          <p:cNvSpPr/>
          <p:nvPr/>
        </p:nvSpPr>
        <p:spPr>
          <a:xfrm rot="2835365">
            <a:off x="6704887" y="4148329"/>
            <a:ext cx="299577" cy="785502"/>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CDE4EE4F-78E7-ED2F-CF50-3E2F925F091B}"/>
              </a:ext>
            </a:extLst>
          </p:cNvPr>
          <p:cNvSpPr>
            <a:spLocks noChangeAspect="1"/>
          </p:cNvSpPr>
          <p:nvPr/>
        </p:nvSpPr>
        <p:spPr>
          <a:xfrm>
            <a:off x="4744778" y="4945679"/>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9" name="Oval 28">
            <a:extLst>
              <a:ext uri="{FF2B5EF4-FFF2-40B4-BE49-F238E27FC236}">
                <a16:creationId xmlns:a16="http://schemas.microsoft.com/office/drawing/2014/main" id="{77981EEC-E344-5813-F829-4314F3266E95}"/>
              </a:ext>
            </a:extLst>
          </p:cNvPr>
          <p:cNvSpPr>
            <a:spLocks noChangeAspect="1"/>
          </p:cNvSpPr>
          <p:nvPr/>
        </p:nvSpPr>
        <p:spPr>
          <a:xfrm>
            <a:off x="4490661" y="517262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0" name="Oval 29">
            <a:extLst>
              <a:ext uri="{FF2B5EF4-FFF2-40B4-BE49-F238E27FC236}">
                <a16:creationId xmlns:a16="http://schemas.microsoft.com/office/drawing/2014/main" id="{00AC2E86-8943-1619-8182-0B414829B2A2}"/>
              </a:ext>
            </a:extLst>
          </p:cNvPr>
          <p:cNvSpPr>
            <a:spLocks noChangeAspect="1"/>
          </p:cNvSpPr>
          <p:nvPr/>
        </p:nvSpPr>
        <p:spPr>
          <a:xfrm>
            <a:off x="4954937" y="517262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1" name="U-Turn Arrow 30">
            <a:extLst>
              <a:ext uri="{FF2B5EF4-FFF2-40B4-BE49-F238E27FC236}">
                <a16:creationId xmlns:a16="http://schemas.microsoft.com/office/drawing/2014/main" id="{AF9462D1-938D-6E02-A953-CE1AA071131B}"/>
              </a:ext>
            </a:extLst>
          </p:cNvPr>
          <p:cNvSpPr/>
          <p:nvPr/>
        </p:nvSpPr>
        <p:spPr>
          <a:xfrm flipH="1">
            <a:off x="7546906" y="1524263"/>
            <a:ext cx="1367045" cy="1918010"/>
          </a:xfrm>
          <a:prstGeom prst="uturnArrow">
            <a:avLst>
              <a:gd name="adj1" fmla="val 14530"/>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33" name="Oval 32">
            <a:extLst>
              <a:ext uri="{FF2B5EF4-FFF2-40B4-BE49-F238E27FC236}">
                <a16:creationId xmlns:a16="http://schemas.microsoft.com/office/drawing/2014/main" id="{8FDED442-FB05-F4EC-47B3-13A32697B10C}"/>
              </a:ext>
            </a:extLst>
          </p:cNvPr>
          <p:cNvSpPr>
            <a:spLocks noChangeAspect="1"/>
          </p:cNvSpPr>
          <p:nvPr/>
        </p:nvSpPr>
        <p:spPr>
          <a:xfrm>
            <a:off x="7546906" y="2891218"/>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1F25C618-F442-1B60-066C-F7EFA7401B37}"/>
              </a:ext>
            </a:extLst>
          </p:cNvPr>
          <p:cNvSpPr txBox="1"/>
          <p:nvPr/>
        </p:nvSpPr>
        <p:spPr>
          <a:xfrm>
            <a:off x="1703359" y="3212497"/>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D9007251-CD02-FC1A-62AE-DBD8D20D0869}"/>
              </a:ext>
            </a:extLst>
          </p:cNvPr>
          <p:cNvSpPr txBox="1"/>
          <p:nvPr/>
        </p:nvSpPr>
        <p:spPr>
          <a:xfrm>
            <a:off x="4792840" y="5955658"/>
            <a:ext cx="791138" cy="523220"/>
          </a:xfrm>
          <a:prstGeom prst="rect">
            <a:avLst/>
          </a:prstGeom>
          <a:noFill/>
        </p:spPr>
        <p:txBody>
          <a:bodyPr wrap="square" rtlCol="0">
            <a:spAutoFit/>
          </a:bodyPr>
          <a:lstStyle/>
          <a:p>
            <a:r>
              <a:rPr lang="en-VN" sz="2800"/>
              <a:t>2</a:t>
            </a:r>
          </a:p>
        </p:txBody>
      </p:sp>
      <p:sp>
        <p:nvSpPr>
          <p:cNvPr id="37" name="TextBox 36">
            <a:extLst>
              <a:ext uri="{FF2B5EF4-FFF2-40B4-BE49-F238E27FC236}">
                <a16:creationId xmlns:a16="http://schemas.microsoft.com/office/drawing/2014/main" id="{C5BD4B2D-E3D9-A14F-0191-785D52217AC1}"/>
              </a:ext>
            </a:extLst>
          </p:cNvPr>
          <p:cNvSpPr txBox="1"/>
          <p:nvPr/>
        </p:nvSpPr>
        <p:spPr>
          <a:xfrm>
            <a:off x="7653322" y="4034559"/>
            <a:ext cx="791138" cy="523220"/>
          </a:xfrm>
          <a:prstGeom prst="rect">
            <a:avLst/>
          </a:prstGeom>
          <a:noFill/>
        </p:spPr>
        <p:txBody>
          <a:bodyPr wrap="square" rtlCol="0">
            <a:spAutoFit/>
          </a:bodyPr>
          <a:lstStyle/>
          <a:p>
            <a:r>
              <a:rPr lang="en-VN" sz="2800"/>
              <a:t>3</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E81D5E2-56C6-A435-5141-5D6E91223568}"/>
                  </a:ext>
                </a:extLst>
              </p:cNvPr>
              <p:cNvSpPr txBox="1"/>
              <p:nvPr/>
            </p:nvSpPr>
            <p:spPr>
              <a:xfrm>
                <a:off x="8332789" y="3852114"/>
                <a:ext cx="3325533" cy="1713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𝑥</m:t>
                          </m:r>
                        </m:e>
                        <m:sup>
                          <m:r>
                            <a:rPr lang="vi-VN" sz="4000" b="0" i="1">
                              <a:latin typeface="Cambria Math" panose="02040503050406030204" pitchFamily="18" charset="0"/>
                            </a:rPr>
                            <m:t>(1)</m:t>
                          </m:r>
                        </m:sup>
                      </m:sSup>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4</m:t>
                                </m:r>
                              </m:e>
                            </m:mr>
                            <m:mr>
                              <m:e>
                                <m:r>
                                  <a:rPr lang="vi-VN" sz="4000" b="0" i="1">
                                    <a:solidFill>
                                      <a:srgbClr val="FF0000"/>
                                    </a:solidFill>
                                    <a:latin typeface="Cambria Math" panose="02040503050406030204" pitchFamily="18" charset="0"/>
                                  </a:rPr>
                                  <m:t>3</m:t>
                                </m:r>
                              </m:e>
                            </m:mr>
                            <m:mr>
                              <m:e>
                                <m:r>
                                  <a:rPr lang="vi-VN" sz="4000" b="0" i="1">
                                    <a:solidFill>
                                      <a:schemeClr val="accent4"/>
                                    </a:solidFill>
                                    <a:latin typeface="Cambria Math" panose="02040503050406030204" pitchFamily="18" charset="0"/>
                                  </a:rPr>
                                  <m:t>1</m:t>
                                </m:r>
                              </m:e>
                            </m:mr>
                          </m:m>
                        </m:e>
                      </m:d>
                    </m:oMath>
                  </m:oMathPara>
                </a14:m>
                <a:endParaRPr lang="en-VN" sz="4000" i="1"/>
              </a:p>
            </p:txBody>
          </p:sp>
        </mc:Choice>
        <mc:Fallback xmlns="">
          <p:sp>
            <p:nvSpPr>
              <p:cNvPr id="38" name="TextBox 37">
                <a:extLst>
                  <a:ext uri="{FF2B5EF4-FFF2-40B4-BE49-F238E27FC236}">
                    <a16:creationId xmlns:a16="http://schemas.microsoft.com/office/drawing/2014/main" id="{AE81D5E2-56C6-A435-5141-5D6E91223568}"/>
                  </a:ext>
                </a:extLst>
              </p:cNvPr>
              <p:cNvSpPr txBox="1">
                <a:spLocks noRot="1" noChangeAspect="1" noMove="1" noResize="1" noEditPoints="1" noAdjustHandles="1" noChangeArrowheads="1" noChangeShapeType="1" noTextEdit="1"/>
              </p:cNvSpPr>
              <p:nvPr/>
            </p:nvSpPr>
            <p:spPr>
              <a:xfrm>
                <a:off x="8332789" y="3852114"/>
                <a:ext cx="3325533" cy="1713867"/>
              </a:xfrm>
              <a:prstGeom prst="rect">
                <a:avLst/>
              </a:prstGeom>
              <a:blipFill>
                <a:blip r:embed="rId2"/>
                <a:stretch>
                  <a:fillRect b="-6618"/>
                </a:stretch>
              </a:blipFill>
            </p:spPr>
            <p:txBody>
              <a:bodyPr/>
              <a:lstStyle/>
              <a:p>
                <a:r>
                  <a:rPr lang="en-VN">
                    <a:noFill/>
                  </a:rPr>
                  <a:t> </a:t>
                </a:r>
              </a:p>
            </p:txBody>
          </p:sp>
        </mc:Fallback>
      </mc:AlternateContent>
    </p:spTree>
    <p:extLst>
      <p:ext uri="{BB962C8B-B14F-4D97-AF65-F5344CB8AC3E}">
        <p14:creationId xmlns:p14="http://schemas.microsoft.com/office/powerpoint/2010/main" val="785280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F1EA-CA91-B154-3F41-DCF7F1E72BE3}"/>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58EDB7E7-1DA9-0803-F65F-028B8C49BE9B}"/>
              </a:ext>
            </a:extLst>
          </p:cNvPr>
          <p:cNvSpPr/>
          <p:nvPr/>
        </p:nvSpPr>
        <p:spPr>
          <a:xfrm>
            <a:off x="888379" y="2196307"/>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2AB6D0EF-BCDB-30E8-F37E-DBE6614881B5}"/>
              </a:ext>
            </a:extLst>
          </p:cNvPr>
          <p:cNvSpPr>
            <a:spLocks noGrp="1"/>
          </p:cNvSpPr>
          <p:nvPr>
            <p:ph type="title"/>
          </p:nvPr>
        </p:nvSpPr>
        <p:spPr/>
        <p:txBody>
          <a:bodyPr/>
          <a:lstStyle/>
          <a:p>
            <a:r>
              <a:rPr lang="en-US"/>
              <a:t>Bi xanh, bi đỏ, bi vàng</a:t>
            </a:r>
            <a:endParaRPr lang="en-US" dirty="0"/>
          </a:p>
        </p:txBody>
      </p:sp>
      <p:sp>
        <p:nvSpPr>
          <p:cNvPr id="4" name="Chỗ dành sẵn cho Số hiệu Bản chiếu 3">
            <a:extLst>
              <a:ext uri="{FF2B5EF4-FFF2-40B4-BE49-F238E27FC236}">
                <a16:creationId xmlns:a16="http://schemas.microsoft.com/office/drawing/2014/main" id="{D3723410-5073-D8A3-9FA8-14B7C639DDCB}"/>
              </a:ext>
            </a:extLst>
          </p:cNvPr>
          <p:cNvSpPr>
            <a:spLocks noGrp="1"/>
          </p:cNvSpPr>
          <p:nvPr>
            <p:ph type="sldNum" sz="quarter" idx="12"/>
          </p:nvPr>
        </p:nvSpPr>
        <p:spPr/>
        <p:txBody>
          <a:bodyPr/>
          <a:lstStyle/>
          <a:p>
            <a:fld id="{74ABBA0F-ED8F-4A6E-AA06-FEAFBF3D52EE}" type="slidenum">
              <a:rPr lang="en-US" smtClean="0"/>
              <a:t>4</a:t>
            </a:fld>
            <a:endParaRPr lang="en-US"/>
          </a:p>
        </p:txBody>
      </p:sp>
      <p:sp>
        <p:nvSpPr>
          <p:cNvPr id="3" name="Oval 2">
            <a:extLst>
              <a:ext uri="{FF2B5EF4-FFF2-40B4-BE49-F238E27FC236}">
                <a16:creationId xmlns:a16="http://schemas.microsoft.com/office/drawing/2014/main" id="{043117B7-7D59-F026-963A-077DBDD64E53}"/>
              </a:ext>
            </a:extLst>
          </p:cNvPr>
          <p:cNvSpPr/>
          <p:nvPr/>
        </p:nvSpPr>
        <p:spPr>
          <a:xfrm>
            <a:off x="6657278" y="3014333"/>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Oval 5">
            <a:extLst>
              <a:ext uri="{FF2B5EF4-FFF2-40B4-BE49-F238E27FC236}">
                <a16:creationId xmlns:a16="http://schemas.microsoft.com/office/drawing/2014/main" id="{8C81D26E-BACC-25F7-ECC1-3A62B7C9A6AE}"/>
              </a:ext>
            </a:extLst>
          </p:cNvPr>
          <p:cNvSpPr/>
          <p:nvPr/>
        </p:nvSpPr>
        <p:spPr>
          <a:xfrm>
            <a:off x="4014439" y="505483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Arc 16">
            <a:extLst>
              <a:ext uri="{FF2B5EF4-FFF2-40B4-BE49-F238E27FC236}">
                <a16:creationId xmlns:a16="http://schemas.microsoft.com/office/drawing/2014/main" id="{A6BB5C04-EE5C-375C-810B-6934CB10C18E}"/>
              </a:ext>
            </a:extLst>
          </p:cNvPr>
          <p:cNvSpPr/>
          <p:nvPr/>
        </p:nvSpPr>
        <p:spPr>
          <a:xfrm rot="18235881" flipH="1">
            <a:off x="4421735" y="817678"/>
            <a:ext cx="2637371" cy="5972997"/>
          </a:xfrm>
          <a:prstGeom prst="arc">
            <a:avLst>
              <a:gd name="adj1" fmla="val 16756193"/>
              <a:gd name="adj2" fmla="val 85741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8" name="Arc 17">
            <a:extLst>
              <a:ext uri="{FF2B5EF4-FFF2-40B4-BE49-F238E27FC236}">
                <a16:creationId xmlns:a16="http://schemas.microsoft.com/office/drawing/2014/main" id="{9257BDB1-24BA-A821-E87D-711F47FF8788}"/>
              </a:ext>
            </a:extLst>
          </p:cNvPr>
          <p:cNvSpPr/>
          <p:nvPr/>
        </p:nvSpPr>
        <p:spPr>
          <a:xfrm rot="18235881" flipH="1">
            <a:off x="2165691" y="958928"/>
            <a:ext cx="2637371" cy="5972997"/>
          </a:xfrm>
          <a:prstGeom prst="arc">
            <a:avLst>
              <a:gd name="adj1" fmla="val 16756193"/>
              <a:gd name="adj2" fmla="val 378224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9" name="Arc 18">
            <a:extLst>
              <a:ext uri="{FF2B5EF4-FFF2-40B4-BE49-F238E27FC236}">
                <a16:creationId xmlns:a16="http://schemas.microsoft.com/office/drawing/2014/main" id="{588D6FBB-015C-E061-C238-889CBC3D3DC6}"/>
              </a:ext>
            </a:extLst>
          </p:cNvPr>
          <p:cNvSpPr/>
          <p:nvPr/>
        </p:nvSpPr>
        <p:spPr>
          <a:xfrm rot="4290804">
            <a:off x="4838382" y="1213143"/>
            <a:ext cx="2136092" cy="6372685"/>
          </a:xfrm>
          <a:prstGeom prst="arc">
            <a:avLst>
              <a:gd name="adj1" fmla="val 16314377"/>
              <a:gd name="adj2" fmla="val 1136162"/>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0" name="Arc 19">
            <a:extLst>
              <a:ext uri="{FF2B5EF4-FFF2-40B4-BE49-F238E27FC236}">
                <a16:creationId xmlns:a16="http://schemas.microsoft.com/office/drawing/2014/main" id="{A9E25027-343F-5585-99BE-63FD2E9F7275}"/>
              </a:ext>
            </a:extLst>
          </p:cNvPr>
          <p:cNvSpPr/>
          <p:nvPr/>
        </p:nvSpPr>
        <p:spPr>
          <a:xfrm rot="3585143">
            <a:off x="3356364" y="2011152"/>
            <a:ext cx="2136092" cy="5032754"/>
          </a:xfrm>
          <a:prstGeom prst="arc">
            <a:avLst>
              <a:gd name="adj1" fmla="val 16526374"/>
              <a:gd name="adj2" fmla="val 19856783"/>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5" name="Up Arrow 24">
            <a:extLst>
              <a:ext uri="{FF2B5EF4-FFF2-40B4-BE49-F238E27FC236}">
                <a16:creationId xmlns:a16="http://schemas.microsoft.com/office/drawing/2014/main" id="{6D4A6B05-E5D7-2420-F156-06B4648BA614}"/>
              </a:ext>
            </a:extLst>
          </p:cNvPr>
          <p:cNvSpPr/>
          <p:nvPr/>
        </p:nvSpPr>
        <p:spPr>
          <a:xfrm rot="8511635">
            <a:off x="2494979" y="3469421"/>
            <a:ext cx="418011" cy="954890"/>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Up Arrow 25">
            <a:extLst>
              <a:ext uri="{FF2B5EF4-FFF2-40B4-BE49-F238E27FC236}">
                <a16:creationId xmlns:a16="http://schemas.microsoft.com/office/drawing/2014/main" id="{ABF1EEFA-9542-1CF0-C27B-AE13627B00F8}"/>
              </a:ext>
            </a:extLst>
          </p:cNvPr>
          <p:cNvSpPr/>
          <p:nvPr/>
        </p:nvSpPr>
        <p:spPr>
          <a:xfrm rot="2835365">
            <a:off x="6704887" y="4148329"/>
            <a:ext cx="299577" cy="785502"/>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1" name="U-Turn Arrow 30">
            <a:extLst>
              <a:ext uri="{FF2B5EF4-FFF2-40B4-BE49-F238E27FC236}">
                <a16:creationId xmlns:a16="http://schemas.microsoft.com/office/drawing/2014/main" id="{EC148708-72C8-C405-F221-0166D2D29A3C}"/>
              </a:ext>
            </a:extLst>
          </p:cNvPr>
          <p:cNvSpPr/>
          <p:nvPr/>
        </p:nvSpPr>
        <p:spPr>
          <a:xfrm flipH="1">
            <a:off x="7546906" y="1524263"/>
            <a:ext cx="1367045" cy="1918010"/>
          </a:xfrm>
          <a:prstGeom prst="uturnArrow">
            <a:avLst>
              <a:gd name="adj1" fmla="val 14530"/>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33" name="Oval 32">
            <a:extLst>
              <a:ext uri="{FF2B5EF4-FFF2-40B4-BE49-F238E27FC236}">
                <a16:creationId xmlns:a16="http://schemas.microsoft.com/office/drawing/2014/main" id="{40A05495-81AB-FDE9-BCF2-12A07483ECE3}"/>
              </a:ext>
            </a:extLst>
          </p:cNvPr>
          <p:cNvSpPr>
            <a:spLocks noChangeAspect="1"/>
          </p:cNvSpPr>
          <p:nvPr/>
        </p:nvSpPr>
        <p:spPr>
          <a:xfrm>
            <a:off x="7546906" y="2891218"/>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C9FAE102-1A59-2287-01E5-641EB32B11A3}"/>
              </a:ext>
            </a:extLst>
          </p:cNvPr>
          <p:cNvSpPr txBox="1"/>
          <p:nvPr/>
        </p:nvSpPr>
        <p:spPr>
          <a:xfrm>
            <a:off x="1703359" y="3212497"/>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1532AC26-83FC-5FC1-F65B-711A11AD34CC}"/>
              </a:ext>
            </a:extLst>
          </p:cNvPr>
          <p:cNvSpPr txBox="1"/>
          <p:nvPr/>
        </p:nvSpPr>
        <p:spPr>
          <a:xfrm>
            <a:off x="4792840" y="5955658"/>
            <a:ext cx="791138" cy="523220"/>
          </a:xfrm>
          <a:prstGeom prst="rect">
            <a:avLst/>
          </a:prstGeom>
          <a:noFill/>
        </p:spPr>
        <p:txBody>
          <a:bodyPr wrap="square" rtlCol="0">
            <a:spAutoFit/>
          </a:bodyPr>
          <a:lstStyle/>
          <a:p>
            <a:r>
              <a:rPr lang="en-VN" sz="2800"/>
              <a:t>2</a:t>
            </a:r>
          </a:p>
        </p:txBody>
      </p:sp>
      <p:sp>
        <p:nvSpPr>
          <p:cNvPr id="37" name="TextBox 36">
            <a:extLst>
              <a:ext uri="{FF2B5EF4-FFF2-40B4-BE49-F238E27FC236}">
                <a16:creationId xmlns:a16="http://schemas.microsoft.com/office/drawing/2014/main" id="{94B22BD0-684B-89F7-9494-4F27B763EE5D}"/>
              </a:ext>
            </a:extLst>
          </p:cNvPr>
          <p:cNvSpPr txBox="1"/>
          <p:nvPr/>
        </p:nvSpPr>
        <p:spPr>
          <a:xfrm>
            <a:off x="7653322" y="4034559"/>
            <a:ext cx="791138" cy="523220"/>
          </a:xfrm>
          <a:prstGeom prst="rect">
            <a:avLst/>
          </a:prstGeom>
          <a:noFill/>
        </p:spPr>
        <p:txBody>
          <a:bodyPr wrap="square" rtlCol="0">
            <a:spAutoFit/>
          </a:bodyPr>
          <a:lstStyle/>
          <a:p>
            <a:r>
              <a:rPr lang="en-VN" sz="2800"/>
              <a:t>3</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34C344-966D-7619-9E76-3DEC0F6567E0}"/>
                  </a:ext>
                </a:extLst>
              </p:cNvPr>
              <p:cNvSpPr txBox="1"/>
              <p:nvPr/>
            </p:nvSpPr>
            <p:spPr>
              <a:xfrm>
                <a:off x="8332789" y="3852114"/>
                <a:ext cx="3325533" cy="1713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𝑥</m:t>
                          </m:r>
                        </m:e>
                        <m:sup>
                          <m:r>
                            <a:rPr lang="vi-VN" sz="4000" b="0" i="1">
                              <a:latin typeface="Cambria Math" panose="02040503050406030204" pitchFamily="18" charset="0"/>
                            </a:rPr>
                            <m:t>(2)</m:t>
                          </m:r>
                        </m:sup>
                      </m:sSup>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0</m:t>
                                </m:r>
                              </m:e>
                            </m:mr>
                            <m:mr>
                              <m:e>
                                <m:r>
                                  <a:rPr lang="vi-VN" sz="4000" b="0" i="1">
                                    <a:solidFill>
                                      <a:srgbClr val="FF0000"/>
                                    </a:solidFill>
                                    <a:latin typeface="Cambria Math" panose="02040503050406030204" pitchFamily="18" charset="0"/>
                                  </a:rPr>
                                  <m:t>4</m:t>
                                </m:r>
                              </m:e>
                            </m:mr>
                            <m:mr>
                              <m:e>
                                <m:r>
                                  <a:rPr lang="vi-VN" sz="4000" b="0" i="1">
                                    <a:solidFill>
                                      <a:schemeClr val="accent4"/>
                                    </a:solidFill>
                                    <a:latin typeface="Cambria Math" panose="02040503050406030204" pitchFamily="18" charset="0"/>
                                  </a:rPr>
                                  <m:t>4</m:t>
                                </m:r>
                              </m:e>
                            </m:mr>
                          </m:m>
                        </m:e>
                      </m:d>
                    </m:oMath>
                  </m:oMathPara>
                </a14:m>
                <a:endParaRPr lang="en-VN" sz="4000" i="1"/>
              </a:p>
            </p:txBody>
          </p:sp>
        </mc:Choice>
        <mc:Fallback xmlns="">
          <p:sp>
            <p:nvSpPr>
              <p:cNvPr id="38" name="TextBox 37">
                <a:extLst>
                  <a:ext uri="{FF2B5EF4-FFF2-40B4-BE49-F238E27FC236}">
                    <a16:creationId xmlns:a16="http://schemas.microsoft.com/office/drawing/2014/main" id="{4934C344-966D-7619-9E76-3DEC0F6567E0}"/>
                  </a:ext>
                </a:extLst>
              </p:cNvPr>
              <p:cNvSpPr txBox="1">
                <a:spLocks noRot="1" noChangeAspect="1" noMove="1" noResize="1" noEditPoints="1" noAdjustHandles="1" noChangeArrowheads="1" noChangeShapeType="1" noTextEdit="1"/>
              </p:cNvSpPr>
              <p:nvPr/>
            </p:nvSpPr>
            <p:spPr>
              <a:xfrm>
                <a:off x="8332789" y="3852114"/>
                <a:ext cx="3325533" cy="1713867"/>
              </a:xfrm>
              <a:prstGeom prst="rect">
                <a:avLst/>
              </a:prstGeom>
              <a:blipFill>
                <a:blip r:embed="rId2"/>
                <a:stretch>
                  <a:fillRect b="-6618"/>
                </a:stretch>
              </a:blipFill>
            </p:spPr>
            <p:txBody>
              <a:bodyPr/>
              <a:lstStyle/>
              <a:p>
                <a:r>
                  <a:rPr lang="en-VN">
                    <a:noFill/>
                  </a:rPr>
                  <a:t> </a:t>
                </a:r>
              </a:p>
            </p:txBody>
          </p:sp>
        </mc:Fallback>
      </mc:AlternateContent>
      <p:sp>
        <p:nvSpPr>
          <p:cNvPr id="24" name="Oval 23">
            <a:extLst>
              <a:ext uri="{FF2B5EF4-FFF2-40B4-BE49-F238E27FC236}">
                <a16:creationId xmlns:a16="http://schemas.microsoft.com/office/drawing/2014/main" id="{4829C569-9D59-7507-D94A-59D20F51CBC6}"/>
              </a:ext>
            </a:extLst>
          </p:cNvPr>
          <p:cNvSpPr>
            <a:spLocks noChangeAspect="1"/>
          </p:cNvSpPr>
          <p:nvPr/>
        </p:nvSpPr>
        <p:spPr>
          <a:xfrm>
            <a:off x="4621310" y="4853983"/>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3" name="Oval 22">
            <a:extLst>
              <a:ext uri="{FF2B5EF4-FFF2-40B4-BE49-F238E27FC236}">
                <a16:creationId xmlns:a16="http://schemas.microsoft.com/office/drawing/2014/main" id="{6EE887EC-7F4C-0A98-DF03-91ECF914FA76}"/>
              </a:ext>
            </a:extLst>
          </p:cNvPr>
          <p:cNvSpPr>
            <a:spLocks noChangeAspect="1"/>
          </p:cNvSpPr>
          <p:nvPr/>
        </p:nvSpPr>
        <p:spPr>
          <a:xfrm>
            <a:off x="4981824" y="4853983"/>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C50443B1-5BEC-84A1-D100-2FBF51CC7320}"/>
              </a:ext>
            </a:extLst>
          </p:cNvPr>
          <p:cNvSpPr>
            <a:spLocks noChangeAspect="1"/>
          </p:cNvSpPr>
          <p:nvPr/>
        </p:nvSpPr>
        <p:spPr>
          <a:xfrm>
            <a:off x="4421369" y="5204275"/>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79A2A20D-31F7-7F90-9B9D-214A1B2991DC}"/>
              </a:ext>
            </a:extLst>
          </p:cNvPr>
          <p:cNvSpPr>
            <a:spLocks noChangeAspect="1"/>
          </p:cNvSpPr>
          <p:nvPr/>
        </p:nvSpPr>
        <p:spPr>
          <a:xfrm>
            <a:off x="4885645" y="5204275"/>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9D9AACE9-8418-B941-6D3D-DAAFD88FE4E7}"/>
              </a:ext>
            </a:extLst>
          </p:cNvPr>
          <p:cNvSpPr>
            <a:spLocks noChangeAspect="1"/>
          </p:cNvSpPr>
          <p:nvPr/>
        </p:nvSpPr>
        <p:spPr>
          <a:xfrm>
            <a:off x="7744403" y="3147188"/>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9" name="Oval 28">
            <a:extLst>
              <a:ext uri="{FF2B5EF4-FFF2-40B4-BE49-F238E27FC236}">
                <a16:creationId xmlns:a16="http://schemas.microsoft.com/office/drawing/2014/main" id="{96376B21-39A6-8601-A1FA-48F4ECD55312}"/>
              </a:ext>
            </a:extLst>
          </p:cNvPr>
          <p:cNvSpPr>
            <a:spLocks noChangeAspect="1"/>
          </p:cNvSpPr>
          <p:nvPr/>
        </p:nvSpPr>
        <p:spPr>
          <a:xfrm>
            <a:off x="7490286" y="3374129"/>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0" name="Oval 29">
            <a:extLst>
              <a:ext uri="{FF2B5EF4-FFF2-40B4-BE49-F238E27FC236}">
                <a16:creationId xmlns:a16="http://schemas.microsoft.com/office/drawing/2014/main" id="{40D97234-7830-AD35-1B1D-C1CA7BE7806E}"/>
              </a:ext>
            </a:extLst>
          </p:cNvPr>
          <p:cNvSpPr>
            <a:spLocks noChangeAspect="1"/>
          </p:cNvSpPr>
          <p:nvPr/>
        </p:nvSpPr>
        <p:spPr>
          <a:xfrm>
            <a:off x="7954562" y="3374129"/>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554850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1FBB-0281-674E-2C01-6531650B730B}"/>
              </a:ext>
            </a:extLst>
          </p:cNvPr>
          <p:cNvSpPr>
            <a:spLocks noGrp="1"/>
          </p:cNvSpPr>
          <p:nvPr>
            <p:ph type="title"/>
          </p:nvPr>
        </p:nvSpPr>
        <p:spPr/>
        <p:txBody>
          <a:bodyPr/>
          <a:lstStyle/>
          <a:p>
            <a:r>
              <a:rPr lang="en-US"/>
              <a:t>Bi xanh, bi đỏ, bi vàng</a:t>
            </a:r>
            <a:endParaRPr lang="en-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484C68-9AFC-10F2-44DD-11BAA9A1FB4A}"/>
                  </a:ext>
                </a:extLst>
              </p:cNvPr>
              <p:cNvSpPr>
                <a:spLocks noGrp="1"/>
              </p:cNvSpPr>
              <p:nvPr>
                <p:ph idx="1"/>
              </p:nvPr>
            </p:nvSpPr>
            <p:spPr>
              <a:xfrm>
                <a:off x="818398" y="5033518"/>
                <a:ext cx="4280845" cy="1459357"/>
              </a:xfrm>
            </p:spPr>
            <p:txBody>
              <a:bodyPr>
                <a:noAutofit/>
              </a:bodyPr>
              <a:lstStyle/>
              <a:p>
                <a:pPr marL="0" indent="0">
                  <a:buNone/>
                </a:pPr>
                <a14:m>
                  <m:oMath xmlns:m="http://schemas.openxmlformats.org/officeDocument/2006/math">
                    <m:r>
                      <a:rPr lang="en-VN" sz="4000" i="1">
                        <a:latin typeface="Cambria Math" panose="02040503050406030204" pitchFamily="18" charset="0"/>
                      </a:rPr>
                      <m:t>𝑀</m:t>
                    </m:r>
                    <m:r>
                      <a:rPr lang="vi-VN" sz="4000" b="0" i="1">
                        <a:latin typeface="Cambria Math" panose="02040503050406030204" pitchFamily="18" charset="0"/>
                      </a:rPr>
                      <m:t>=   </m:t>
                    </m:r>
                    <m:d>
                      <m:dPr>
                        <m:begChr m:val="["/>
                        <m:endChr m:val="]"/>
                        <m:ctrlPr>
                          <a:rPr lang="vi-VN" sz="4000" b="0" i="1">
                            <a:latin typeface="Cambria Math" panose="02040503050406030204" pitchFamily="18" charset="0"/>
                          </a:rPr>
                        </m:ctrlPr>
                      </m:dPr>
                      <m:e>
                        <m:m>
                          <m:mPr>
                            <m:mcs>
                              <m:mc>
                                <m:mcPr>
                                  <m:count m:val="3"/>
                                  <m:mcJc m:val="center"/>
                                </m:mcPr>
                              </m:mc>
                            </m:mcs>
                            <m:ctrlPr>
                              <a:rPr lang="vi-VN" sz="4000" b="0" i="1">
                                <a:latin typeface="Cambria Math" panose="02040503050406030204" pitchFamily="18" charset="0"/>
                              </a:rPr>
                            </m:ctrlPr>
                          </m:mPr>
                          <m:mr>
                            <m:e>
                              <m:r>
                                <m:rPr>
                                  <m:brk m:alnAt="7"/>
                                </m:rPr>
                                <a:rPr lang="vi-VN" sz="4000" b="0" i="1">
                                  <a:latin typeface="Cambria Math" panose="02040503050406030204" pitchFamily="18" charset="0"/>
                                </a:rPr>
                                <m:t>0</m:t>
                              </m:r>
                            </m:e>
                            <m:e>
                              <m:r>
                                <a:rPr lang="vi-VN" sz="4000" b="0" i="1">
                                  <a:latin typeface="Cambria Math" panose="02040503050406030204" pitchFamily="18" charset="0"/>
                                </a:rPr>
                                <m:t>0</m:t>
                              </m:r>
                            </m:e>
                            <m:e>
                              <m:r>
                                <a:rPr lang="vi-VN" sz="4000" b="0" i="1">
                                  <a:latin typeface="Cambria Math" panose="02040503050406030204" pitchFamily="18" charset="0"/>
                                </a:rPr>
                                <m:t>0</m:t>
                              </m:r>
                            </m:e>
                          </m:mr>
                          <m:mr>
                            <m:e>
                              <m:r>
                                <a:rPr lang="vi-VN" sz="4000" b="0" i="1">
                                  <a:latin typeface="Cambria Math" panose="02040503050406030204" pitchFamily="18" charset="0"/>
                                </a:rPr>
                                <m:t>1</m:t>
                              </m:r>
                            </m:e>
                            <m:e>
                              <m:r>
                                <a:rPr lang="vi-VN" sz="4000" b="0" i="1">
                                  <a:latin typeface="Cambria Math" panose="02040503050406030204" pitchFamily="18" charset="0"/>
                                </a:rPr>
                                <m:t>0</m:t>
                              </m:r>
                            </m:e>
                            <m:e>
                              <m:r>
                                <a:rPr lang="vi-VN" sz="4000" b="0" i="1">
                                  <a:latin typeface="Cambria Math" panose="02040503050406030204" pitchFamily="18" charset="0"/>
                                </a:rPr>
                                <m:t>0</m:t>
                              </m:r>
                            </m:e>
                          </m:mr>
                          <m:mr>
                            <m:e>
                              <m:r>
                                <a:rPr lang="vi-VN" sz="4000" b="0" i="1">
                                  <a:latin typeface="Cambria Math" panose="02040503050406030204" pitchFamily="18" charset="0"/>
                                </a:rPr>
                                <m:t>0</m:t>
                              </m:r>
                            </m:e>
                            <m:e>
                              <m:r>
                                <a:rPr lang="vi-VN" sz="4000" b="0" i="1">
                                  <a:latin typeface="Cambria Math" panose="02040503050406030204" pitchFamily="18" charset="0"/>
                                </a:rPr>
                                <m:t>1</m:t>
                              </m:r>
                            </m:e>
                            <m:e>
                              <m:r>
                                <a:rPr lang="vi-VN" sz="4000" b="0" i="1">
                                  <a:latin typeface="Cambria Math" panose="02040503050406030204" pitchFamily="18" charset="0"/>
                                </a:rPr>
                                <m:t>1</m:t>
                              </m:r>
                            </m:e>
                          </m:mr>
                        </m:m>
                      </m:e>
                    </m:d>
                  </m:oMath>
                </a14:m>
                <a:r>
                  <a:rPr lang="en-VN" sz="4000"/>
                  <a:t> </a:t>
                </a:r>
              </a:p>
            </p:txBody>
          </p:sp>
        </mc:Choice>
        <mc:Fallback xmlns="">
          <p:sp>
            <p:nvSpPr>
              <p:cNvPr id="3" name="Content Placeholder 2">
                <a:extLst>
                  <a:ext uri="{FF2B5EF4-FFF2-40B4-BE49-F238E27FC236}">
                    <a16:creationId xmlns:a16="http://schemas.microsoft.com/office/drawing/2014/main" id="{9B484C68-9AFC-10F2-44DD-11BAA9A1FB4A}"/>
                  </a:ext>
                </a:extLst>
              </p:cNvPr>
              <p:cNvSpPr>
                <a:spLocks noGrp="1" noRot="1" noChangeAspect="1" noMove="1" noResize="1" noEditPoints="1" noAdjustHandles="1" noChangeArrowheads="1" noChangeShapeType="1" noTextEdit="1"/>
              </p:cNvSpPr>
              <p:nvPr>
                <p:ph idx="1"/>
              </p:nvPr>
            </p:nvSpPr>
            <p:spPr>
              <a:xfrm>
                <a:off x="818398" y="5033518"/>
                <a:ext cx="4280845" cy="1459357"/>
              </a:xfrm>
              <a:blipFill>
                <a:blip r:embed="rId2"/>
                <a:stretch>
                  <a:fillRect l="-1775" t="-6897" b="-17241"/>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0708A5BF-66D2-FB3C-637F-6DBA703C9EFB}"/>
              </a:ext>
            </a:extLst>
          </p:cNvPr>
          <p:cNvSpPr>
            <a:spLocks noGrp="1"/>
          </p:cNvSpPr>
          <p:nvPr>
            <p:ph type="sldNum" sz="quarter" idx="12"/>
          </p:nvPr>
        </p:nvSpPr>
        <p:spPr/>
        <p:txBody>
          <a:bodyPr/>
          <a:lstStyle/>
          <a:p>
            <a:fld id="{95CF7CBD-B9A5-4D53-9D65-FFCCF7EF1299}" type="slidenum">
              <a:rPr lang="vi-VN" smtClean="0"/>
              <a:t>5</a:t>
            </a:fld>
            <a:endParaRPr lang="vi-VN"/>
          </a:p>
        </p:txBody>
      </p:sp>
      <p:grpSp>
        <p:nvGrpSpPr>
          <p:cNvPr id="45" name="Group 44">
            <a:extLst>
              <a:ext uri="{FF2B5EF4-FFF2-40B4-BE49-F238E27FC236}">
                <a16:creationId xmlns:a16="http://schemas.microsoft.com/office/drawing/2014/main" id="{452A3807-1EE3-F7AB-D2FE-AE7A7F791D87}"/>
              </a:ext>
            </a:extLst>
          </p:cNvPr>
          <p:cNvGrpSpPr/>
          <p:nvPr/>
        </p:nvGrpSpPr>
        <p:grpSpPr>
          <a:xfrm>
            <a:off x="758284" y="1690688"/>
            <a:ext cx="4375804" cy="2545932"/>
            <a:chOff x="3631371" y="1814195"/>
            <a:chExt cx="8594892" cy="4954615"/>
          </a:xfrm>
        </p:grpSpPr>
        <p:sp>
          <p:nvSpPr>
            <p:cNvPr id="23" name="Oval 22">
              <a:extLst>
                <a:ext uri="{FF2B5EF4-FFF2-40B4-BE49-F238E27FC236}">
                  <a16:creationId xmlns:a16="http://schemas.microsoft.com/office/drawing/2014/main" id="{919906FA-3761-5E64-321E-2FCE2CE98E9E}"/>
                </a:ext>
              </a:extLst>
            </p:cNvPr>
            <p:cNvSpPr/>
            <p:nvPr/>
          </p:nvSpPr>
          <p:spPr>
            <a:xfrm>
              <a:off x="4021872" y="2486239"/>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Oval 25">
              <a:extLst>
                <a:ext uri="{FF2B5EF4-FFF2-40B4-BE49-F238E27FC236}">
                  <a16:creationId xmlns:a16="http://schemas.microsoft.com/office/drawing/2014/main" id="{D93D2BA8-1F83-E45D-4E91-6076C4BF299B}"/>
                </a:ext>
              </a:extLst>
            </p:cNvPr>
            <p:cNvSpPr/>
            <p:nvPr/>
          </p:nvSpPr>
          <p:spPr>
            <a:xfrm>
              <a:off x="9790771" y="3304265"/>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B9DAF8FE-0DE6-CFEB-E027-58AB28C0C353}"/>
                </a:ext>
              </a:extLst>
            </p:cNvPr>
            <p:cNvSpPr/>
            <p:nvPr/>
          </p:nvSpPr>
          <p:spPr>
            <a:xfrm>
              <a:off x="7147932" y="5344766"/>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8" name="Arc 27">
              <a:extLst>
                <a:ext uri="{FF2B5EF4-FFF2-40B4-BE49-F238E27FC236}">
                  <a16:creationId xmlns:a16="http://schemas.microsoft.com/office/drawing/2014/main" id="{EB235DF1-278E-0339-9A37-D6BF447A436C}"/>
                </a:ext>
              </a:extLst>
            </p:cNvPr>
            <p:cNvSpPr/>
            <p:nvPr/>
          </p:nvSpPr>
          <p:spPr>
            <a:xfrm rot="18235881" flipH="1">
              <a:off x="7555228" y="1107610"/>
              <a:ext cx="2637371" cy="5972997"/>
            </a:xfrm>
            <a:prstGeom prst="arc">
              <a:avLst>
                <a:gd name="adj1" fmla="val 16756193"/>
                <a:gd name="adj2" fmla="val 85741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9" name="Arc 28">
              <a:extLst>
                <a:ext uri="{FF2B5EF4-FFF2-40B4-BE49-F238E27FC236}">
                  <a16:creationId xmlns:a16="http://schemas.microsoft.com/office/drawing/2014/main" id="{9B46B979-08A9-7C32-C7AA-589A08210061}"/>
                </a:ext>
              </a:extLst>
            </p:cNvPr>
            <p:cNvSpPr/>
            <p:nvPr/>
          </p:nvSpPr>
          <p:spPr>
            <a:xfrm rot="18235881" flipH="1">
              <a:off x="5299184" y="1248860"/>
              <a:ext cx="2637371" cy="5972997"/>
            </a:xfrm>
            <a:prstGeom prst="arc">
              <a:avLst>
                <a:gd name="adj1" fmla="val 16756193"/>
                <a:gd name="adj2" fmla="val 378224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0" name="Arc 29">
              <a:extLst>
                <a:ext uri="{FF2B5EF4-FFF2-40B4-BE49-F238E27FC236}">
                  <a16:creationId xmlns:a16="http://schemas.microsoft.com/office/drawing/2014/main" id="{8BB50B68-F353-6DE9-6DCC-8F5B7420549E}"/>
                </a:ext>
              </a:extLst>
            </p:cNvPr>
            <p:cNvSpPr/>
            <p:nvPr/>
          </p:nvSpPr>
          <p:spPr>
            <a:xfrm rot="4290804">
              <a:off x="7971875" y="1503075"/>
              <a:ext cx="2136092" cy="6372685"/>
            </a:xfrm>
            <a:prstGeom prst="arc">
              <a:avLst>
                <a:gd name="adj1" fmla="val 16314377"/>
                <a:gd name="adj2" fmla="val 1136162"/>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1" name="Arc 30">
              <a:extLst>
                <a:ext uri="{FF2B5EF4-FFF2-40B4-BE49-F238E27FC236}">
                  <a16:creationId xmlns:a16="http://schemas.microsoft.com/office/drawing/2014/main" id="{6BCA88D2-0C44-459B-0AD1-CFCEEF51F9E3}"/>
                </a:ext>
              </a:extLst>
            </p:cNvPr>
            <p:cNvSpPr/>
            <p:nvPr/>
          </p:nvSpPr>
          <p:spPr>
            <a:xfrm rot="3585143">
              <a:off x="6489857" y="2301084"/>
              <a:ext cx="2136092" cy="5032754"/>
            </a:xfrm>
            <a:prstGeom prst="arc">
              <a:avLst>
                <a:gd name="adj1" fmla="val 16526374"/>
                <a:gd name="adj2" fmla="val 19856783"/>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4" name="Up Arrow 33">
              <a:extLst>
                <a:ext uri="{FF2B5EF4-FFF2-40B4-BE49-F238E27FC236}">
                  <a16:creationId xmlns:a16="http://schemas.microsoft.com/office/drawing/2014/main" id="{4B4068CD-27FB-B605-F0C8-E92D8827A61C}"/>
                </a:ext>
              </a:extLst>
            </p:cNvPr>
            <p:cNvSpPr/>
            <p:nvPr/>
          </p:nvSpPr>
          <p:spPr>
            <a:xfrm rot="8511635">
              <a:off x="5628472" y="3759353"/>
              <a:ext cx="418011" cy="954890"/>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Up Arrow 34">
              <a:extLst>
                <a:ext uri="{FF2B5EF4-FFF2-40B4-BE49-F238E27FC236}">
                  <a16:creationId xmlns:a16="http://schemas.microsoft.com/office/drawing/2014/main" id="{7C23D19A-D961-9E36-A844-D1D1277C8F1D}"/>
                </a:ext>
              </a:extLst>
            </p:cNvPr>
            <p:cNvSpPr/>
            <p:nvPr/>
          </p:nvSpPr>
          <p:spPr>
            <a:xfrm rot="2835365">
              <a:off x="9838380" y="4438261"/>
              <a:ext cx="299577" cy="785502"/>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9" name="U-Turn Arrow 38">
              <a:extLst>
                <a:ext uri="{FF2B5EF4-FFF2-40B4-BE49-F238E27FC236}">
                  <a16:creationId xmlns:a16="http://schemas.microsoft.com/office/drawing/2014/main" id="{5CCBB230-0040-5DC7-356F-11DBFD356004}"/>
                </a:ext>
              </a:extLst>
            </p:cNvPr>
            <p:cNvSpPr/>
            <p:nvPr/>
          </p:nvSpPr>
          <p:spPr>
            <a:xfrm flipH="1">
              <a:off x="10680399" y="1814195"/>
              <a:ext cx="1367045" cy="1918010"/>
            </a:xfrm>
            <a:prstGeom prst="uturnArrow">
              <a:avLst>
                <a:gd name="adj1" fmla="val 14530"/>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41" name="TextBox 40">
              <a:extLst>
                <a:ext uri="{FF2B5EF4-FFF2-40B4-BE49-F238E27FC236}">
                  <a16:creationId xmlns:a16="http://schemas.microsoft.com/office/drawing/2014/main" id="{BB9C4321-1B14-59A8-7195-2A7B7E6B8527}"/>
                </a:ext>
              </a:extLst>
            </p:cNvPr>
            <p:cNvSpPr txBox="1"/>
            <p:nvPr/>
          </p:nvSpPr>
          <p:spPr>
            <a:xfrm>
              <a:off x="4836852" y="3502429"/>
              <a:ext cx="791138" cy="523220"/>
            </a:xfrm>
            <a:prstGeom prst="rect">
              <a:avLst/>
            </a:prstGeom>
            <a:noFill/>
          </p:spPr>
          <p:txBody>
            <a:bodyPr wrap="square" rtlCol="0">
              <a:spAutoFit/>
            </a:bodyPr>
            <a:lstStyle/>
            <a:p>
              <a:r>
                <a:rPr lang="en-VN" sz="2800"/>
                <a:t>1</a:t>
              </a:r>
            </a:p>
          </p:txBody>
        </p:sp>
        <p:sp>
          <p:nvSpPr>
            <p:cNvPr id="42" name="TextBox 41">
              <a:extLst>
                <a:ext uri="{FF2B5EF4-FFF2-40B4-BE49-F238E27FC236}">
                  <a16:creationId xmlns:a16="http://schemas.microsoft.com/office/drawing/2014/main" id="{F7508F8E-C692-18D0-C98E-2DD1030642B4}"/>
                </a:ext>
              </a:extLst>
            </p:cNvPr>
            <p:cNvSpPr txBox="1"/>
            <p:nvPr/>
          </p:nvSpPr>
          <p:spPr>
            <a:xfrm>
              <a:off x="7926333" y="6245590"/>
              <a:ext cx="791138" cy="523220"/>
            </a:xfrm>
            <a:prstGeom prst="rect">
              <a:avLst/>
            </a:prstGeom>
            <a:noFill/>
          </p:spPr>
          <p:txBody>
            <a:bodyPr wrap="square" rtlCol="0">
              <a:spAutoFit/>
            </a:bodyPr>
            <a:lstStyle/>
            <a:p>
              <a:r>
                <a:rPr lang="en-VN" sz="2800"/>
                <a:t>2</a:t>
              </a:r>
            </a:p>
          </p:txBody>
        </p:sp>
        <p:sp>
          <p:nvSpPr>
            <p:cNvPr id="43" name="TextBox 42">
              <a:extLst>
                <a:ext uri="{FF2B5EF4-FFF2-40B4-BE49-F238E27FC236}">
                  <a16:creationId xmlns:a16="http://schemas.microsoft.com/office/drawing/2014/main" id="{B1F30BBE-10E1-407A-C293-9CBF9E53538D}"/>
                </a:ext>
              </a:extLst>
            </p:cNvPr>
            <p:cNvSpPr txBox="1"/>
            <p:nvPr/>
          </p:nvSpPr>
          <p:spPr>
            <a:xfrm>
              <a:off x="10445852" y="4195282"/>
              <a:ext cx="791139" cy="523220"/>
            </a:xfrm>
            <a:prstGeom prst="rect">
              <a:avLst/>
            </a:prstGeom>
            <a:noFill/>
          </p:spPr>
          <p:txBody>
            <a:bodyPr wrap="square" rtlCol="0">
              <a:spAutoFit/>
            </a:bodyPr>
            <a:lstStyle/>
            <a:p>
              <a:r>
                <a:rPr lang="en-VN" sz="2800"/>
                <a:t>3</a:t>
              </a:r>
            </a:p>
          </p:txBody>
        </p:sp>
      </p:grpSp>
      <p:sp>
        <p:nvSpPr>
          <p:cNvPr id="46" name="Oval 45">
            <a:extLst>
              <a:ext uri="{FF2B5EF4-FFF2-40B4-BE49-F238E27FC236}">
                <a16:creationId xmlns:a16="http://schemas.microsoft.com/office/drawing/2014/main" id="{D1B6BACD-2E80-1E89-7155-856CF9F0D8F1}"/>
              </a:ext>
            </a:extLst>
          </p:cNvPr>
          <p:cNvSpPr>
            <a:spLocks noChangeAspect="1"/>
          </p:cNvSpPr>
          <p:nvPr/>
        </p:nvSpPr>
        <p:spPr>
          <a:xfrm>
            <a:off x="2570134" y="4705931"/>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7" name="Oval 46">
            <a:extLst>
              <a:ext uri="{FF2B5EF4-FFF2-40B4-BE49-F238E27FC236}">
                <a16:creationId xmlns:a16="http://schemas.microsoft.com/office/drawing/2014/main" id="{A0B817C5-837F-1D74-C952-C7043996AE6A}"/>
              </a:ext>
            </a:extLst>
          </p:cNvPr>
          <p:cNvSpPr>
            <a:spLocks noChangeAspect="1"/>
          </p:cNvSpPr>
          <p:nvPr/>
        </p:nvSpPr>
        <p:spPr>
          <a:xfrm>
            <a:off x="4190594" y="4705931"/>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8" name="Oval 47">
            <a:extLst>
              <a:ext uri="{FF2B5EF4-FFF2-40B4-BE49-F238E27FC236}">
                <a16:creationId xmlns:a16="http://schemas.microsoft.com/office/drawing/2014/main" id="{E4C976A9-FB31-8547-BC8F-2CF615DA2B94}"/>
              </a:ext>
            </a:extLst>
          </p:cNvPr>
          <p:cNvSpPr>
            <a:spLocks noChangeAspect="1"/>
          </p:cNvSpPr>
          <p:nvPr/>
        </p:nvSpPr>
        <p:spPr>
          <a:xfrm>
            <a:off x="3380364" y="4705931"/>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9" name="Oval 48">
            <a:extLst>
              <a:ext uri="{FF2B5EF4-FFF2-40B4-BE49-F238E27FC236}">
                <a16:creationId xmlns:a16="http://schemas.microsoft.com/office/drawing/2014/main" id="{12EB7A31-C9E1-1012-76EB-2865EF05A311}"/>
              </a:ext>
            </a:extLst>
          </p:cNvPr>
          <p:cNvSpPr>
            <a:spLocks noChangeAspect="1"/>
          </p:cNvSpPr>
          <p:nvPr/>
        </p:nvSpPr>
        <p:spPr>
          <a:xfrm>
            <a:off x="2025259" y="5154140"/>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0" name="Oval 49">
            <a:extLst>
              <a:ext uri="{FF2B5EF4-FFF2-40B4-BE49-F238E27FC236}">
                <a16:creationId xmlns:a16="http://schemas.microsoft.com/office/drawing/2014/main" id="{F8C4FFF4-A0A7-676E-8EFA-469BA2B1CCB1}"/>
              </a:ext>
            </a:extLst>
          </p:cNvPr>
          <p:cNvSpPr>
            <a:spLocks noChangeAspect="1"/>
          </p:cNvSpPr>
          <p:nvPr/>
        </p:nvSpPr>
        <p:spPr>
          <a:xfrm>
            <a:off x="2025259" y="6312874"/>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1" name="Oval 50">
            <a:extLst>
              <a:ext uri="{FF2B5EF4-FFF2-40B4-BE49-F238E27FC236}">
                <a16:creationId xmlns:a16="http://schemas.microsoft.com/office/drawing/2014/main" id="{B1F99853-AF3C-0BCE-0C11-3E7ED809E3FD}"/>
              </a:ext>
            </a:extLst>
          </p:cNvPr>
          <p:cNvSpPr>
            <a:spLocks noChangeAspect="1"/>
          </p:cNvSpPr>
          <p:nvPr/>
        </p:nvSpPr>
        <p:spPr>
          <a:xfrm>
            <a:off x="2025259" y="5733507"/>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3D178038-F852-CE44-7125-00472E01EC24}"/>
                  </a:ext>
                </a:extLst>
              </p:cNvPr>
              <p:cNvSpPr txBox="1">
                <a:spLocks/>
              </p:cNvSpPr>
              <p:nvPr/>
            </p:nvSpPr>
            <p:spPr>
              <a:xfrm>
                <a:off x="5417368" y="1403569"/>
                <a:ext cx="6685719" cy="26777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𝑀𝑥</m:t>
                        </m:r>
                      </m:e>
                      <m:sup>
                        <m:r>
                          <a:rPr lang="vi-VN" sz="4000" b="0" i="1">
                            <a:latin typeface="Cambria Math" panose="02040503050406030204" pitchFamily="18" charset="0"/>
                          </a:rPr>
                          <m:t>(1)</m:t>
                        </m:r>
                      </m:sup>
                    </m:sSup>
                  </m:oMath>
                </a14:m>
                <a:r>
                  <a:rPr lang="vi-VN" sz="4000" i="1">
                    <a:latin typeface="Cambria Math" panose="02040503050406030204" pitchFamily="18" charset="0"/>
                  </a:rPr>
                  <a:t> </a:t>
                </a:r>
                <a14:m>
                  <m:oMath xmlns:m="http://schemas.openxmlformats.org/officeDocument/2006/math">
                    <m:r>
                      <a:rPr lang="vi-VN" sz="4000" i="1">
                        <a:latin typeface="Cambria Math" panose="02040503050406030204" pitchFamily="18" charset="0"/>
                      </a:rPr>
                      <m:t>=</m:t>
                    </m:r>
                    <m:d>
                      <m:dPr>
                        <m:begChr m:val="["/>
                        <m:endChr m:val="]"/>
                        <m:ctrlPr>
                          <a:rPr lang="vi-VN" sz="4000" i="1">
                            <a:latin typeface="Cambria Math" panose="02040503050406030204" pitchFamily="18" charset="0"/>
                          </a:rPr>
                        </m:ctrlPr>
                      </m:dPr>
                      <m:e>
                        <m:m>
                          <m:mPr>
                            <m:mcs>
                              <m:mc>
                                <m:mcPr>
                                  <m:count m:val="3"/>
                                  <m:mcJc m:val="center"/>
                                </m:mcPr>
                              </m:mc>
                            </m:mcs>
                            <m:ctrlPr>
                              <a:rPr lang="vi-VN" sz="4000" i="1">
                                <a:latin typeface="Cambria Math" panose="02040503050406030204" pitchFamily="18" charset="0"/>
                              </a:rPr>
                            </m:ctrlPr>
                          </m:mPr>
                          <m:mr>
                            <m:e>
                              <m:r>
                                <m:rPr>
                                  <m:brk m:alnAt="7"/>
                                </m:rPr>
                                <a:rPr lang="vi-VN" sz="4000" i="1">
                                  <a:latin typeface="Cambria Math" panose="02040503050406030204" pitchFamily="18" charset="0"/>
                                </a:rPr>
                                <m:t>0</m:t>
                              </m:r>
                            </m:e>
                            <m:e>
                              <m:r>
                                <a:rPr lang="vi-VN" sz="4000" i="1">
                                  <a:latin typeface="Cambria Math" panose="02040503050406030204" pitchFamily="18" charset="0"/>
                                </a:rPr>
                                <m:t>0</m:t>
                              </m:r>
                            </m:e>
                            <m:e>
                              <m:r>
                                <a:rPr lang="vi-VN" sz="4000" i="1">
                                  <a:latin typeface="Cambria Math" panose="02040503050406030204" pitchFamily="18" charset="0"/>
                                </a:rPr>
                                <m:t>0</m:t>
                              </m:r>
                            </m:e>
                          </m:mr>
                          <m:mr>
                            <m:e>
                              <m:r>
                                <a:rPr lang="vi-VN" sz="4000" i="1">
                                  <a:latin typeface="Cambria Math" panose="02040503050406030204" pitchFamily="18" charset="0"/>
                                </a:rPr>
                                <m:t>1</m:t>
                              </m:r>
                            </m:e>
                            <m:e>
                              <m:r>
                                <a:rPr lang="vi-VN" sz="4000" i="1">
                                  <a:latin typeface="Cambria Math" panose="02040503050406030204" pitchFamily="18" charset="0"/>
                                </a:rPr>
                                <m:t>0</m:t>
                              </m:r>
                            </m:e>
                            <m:e>
                              <m:r>
                                <a:rPr lang="vi-VN" sz="4000" i="1">
                                  <a:latin typeface="Cambria Math" panose="02040503050406030204" pitchFamily="18" charset="0"/>
                                </a:rPr>
                                <m:t>0</m:t>
                              </m:r>
                            </m:e>
                          </m:mr>
                          <m:mr>
                            <m:e>
                              <m:r>
                                <a:rPr lang="vi-VN" sz="4000" i="1">
                                  <a:latin typeface="Cambria Math" panose="02040503050406030204" pitchFamily="18" charset="0"/>
                                </a:rPr>
                                <m:t>0</m:t>
                              </m:r>
                            </m:e>
                            <m:e>
                              <m:r>
                                <a:rPr lang="vi-VN" sz="4000" i="1">
                                  <a:latin typeface="Cambria Math" panose="02040503050406030204" pitchFamily="18" charset="0"/>
                                </a:rPr>
                                <m:t>1</m:t>
                              </m:r>
                            </m:e>
                            <m:e>
                              <m:r>
                                <a:rPr lang="vi-VN" sz="4000" i="1">
                                  <a:latin typeface="Cambria Math" panose="02040503050406030204" pitchFamily="18" charset="0"/>
                                </a:rPr>
                                <m:t>1</m:t>
                              </m:r>
                            </m:e>
                          </m:mr>
                        </m:m>
                      </m:e>
                    </m:d>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4</m:t>
                              </m:r>
                            </m:e>
                          </m:mr>
                          <m:mr>
                            <m:e>
                              <m:r>
                                <a:rPr lang="vi-VN" sz="4000" b="0" i="1">
                                  <a:solidFill>
                                    <a:srgbClr val="FF0000"/>
                                  </a:solidFill>
                                  <a:latin typeface="Cambria Math" panose="02040503050406030204" pitchFamily="18" charset="0"/>
                                </a:rPr>
                                <m:t>3</m:t>
                              </m:r>
                            </m:e>
                          </m:mr>
                          <m:mr>
                            <m:e>
                              <m:r>
                                <a:rPr lang="vi-VN" sz="4000" b="0" i="1">
                                  <a:solidFill>
                                    <a:schemeClr val="accent2"/>
                                  </a:solidFill>
                                  <a:latin typeface="Cambria Math" panose="02040503050406030204" pitchFamily="18" charset="0"/>
                                </a:rPr>
                                <m:t>1</m:t>
                              </m:r>
                            </m:e>
                          </m:mr>
                        </m:m>
                      </m:e>
                    </m:d>
                  </m:oMath>
                </a14:m>
                <a:r>
                  <a:rPr lang="vi-VN" sz="4000" b="0" i="1"/>
                  <a:t> </a:t>
                </a:r>
                <a14:m>
                  <m:oMath xmlns:m="http://schemas.openxmlformats.org/officeDocument/2006/math">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0</m:t>
                              </m:r>
                            </m:e>
                          </m:mr>
                          <m:mr>
                            <m:e>
                              <m:r>
                                <a:rPr lang="vi-VN" sz="4000" b="0" i="1">
                                  <a:solidFill>
                                    <a:srgbClr val="FF0000"/>
                                  </a:solidFill>
                                  <a:latin typeface="Cambria Math" panose="02040503050406030204" pitchFamily="18" charset="0"/>
                                </a:rPr>
                                <m:t>4</m:t>
                              </m:r>
                            </m:e>
                          </m:mr>
                          <m:mr>
                            <m:e>
                              <m:r>
                                <a:rPr lang="vi-VN" sz="4000" b="0" i="1">
                                  <a:solidFill>
                                    <a:schemeClr val="accent2"/>
                                  </a:solidFill>
                                  <a:latin typeface="Cambria Math" panose="02040503050406030204" pitchFamily="18" charset="0"/>
                                </a:rPr>
                                <m:t>4</m:t>
                              </m:r>
                            </m:e>
                          </m:mr>
                        </m:m>
                      </m:e>
                    </m:d>
                  </m:oMath>
                </a14:m>
                <a:endParaRPr lang="en-VN" sz="4000" i="1"/>
              </a:p>
              <a:p>
                <a:pPr marL="0" indent="0">
                  <a:buFont typeface="Arial" panose="020B0604020202020204" pitchFamily="34" charset="0"/>
                  <a:buNone/>
                </a:pPr>
                <a:endParaRPr lang="en-VN" sz="4000" i="1"/>
              </a:p>
            </p:txBody>
          </p:sp>
        </mc:Choice>
        <mc:Fallback xmlns="">
          <p:sp>
            <p:nvSpPr>
              <p:cNvPr id="52" name="Content Placeholder 2">
                <a:extLst>
                  <a:ext uri="{FF2B5EF4-FFF2-40B4-BE49-F238E27FC236}">
                    <a16:creationId xmlns:a16="http://schemas.microsoft.com/office/drawing/2014/main" id="{3D178038-F852-CE44-7125-00472E01EC24}"/>
                  </a:ext>
                </a:extLst>
              </p:cNvPr>
              <p:cNvSpPr txBox="1">
                <a:spLocks noRot="1" noChangeAspect="1" noMove="1" noResize="1" noEditPoints="1" noAdjustHandles="1" noChangeArrowheads="1" noChangeShapeType="1" noTextEdit="1"/>
              </p:cNvSpPr>
              <p:nvPr/>
            </p:nvSpPr>
            <p:spPr>
              <a:xfrm>
                <a:off x="5417368" y="1403569"/>
                <a:ext cx="6685719" cy="2677777"/>
              </a:xfrm>
              <a:prstGeom prst="rect">
                <a:avLst/>
              </a:prstGeom>
              <a:blipFill>
                <a:blip r:embed="rId3"/>
                <a:stretch>
                  <a:fillRect l="-1139" t="-330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562AABE-4F60-2723-CD16-0A8A5ECD543B}"/>
                  </a:ext>
                </a:extLst>
              </p:cNvPr>
              <p:cNvSpPr txBox="1"/>
              <p:nvPr/>
            </p:nvSpPr>
            <p:spPr>
              <a:xfrm>
                <a:off x="5417368" y="3214155"/>
                <a:ext cx="7090871" cy="605294"/>
              </a:xfrm>
              <a:prstGeom prst="rect">
                <a:avLst/>
              </a:prstGeom>
              <a:noFill/>
            </p:spPr>
            <p:txBody>
              <a:bodyPr wrap="square" rtlCol="0">
                <a:spAutoFit/>
              </a:bodyPr>
              <a:lstStyle/>
              <a:p>
                <a:r>
                  <a:rPr lang="en-VN" sz="3200"/>
                  <a:t>Qua </a:t>
                </a:r>
                <a14:m>
                  <m:oMath xmlns:m="http://schemas.openxmlformats.org/officeDocument/2006/math">
                    <m:r>
                      <a:rPr lang="en-VN" sz="3200" i="1">
                        <a:latin typeface="Cambria Math" panose="02040503050406030204" pitchFamily="18" charset="0"/>
                      </a:rPr>
                      <m:t>𝑀</m:t>
                    </m:r>
                  </m:oMath>
                </a14:m>
                <a:r>
                  <a:rPr lang="en-VN" sz="3200"/>
                  <a:t> và </a:t>
                </a:r>
                <a14:m>
                  <m:oMath xmlns:m="http://schemas.openxmlformats.org/officeDocument/2006/math">
                    <m:sSup>
                      <m:sSupPr>
                        <m:ctrlPr>
                          <a:rPr lang="vi-VN" sz="3200" i="1">
                            <a:latin typeface="Cambria Math" panose="02040503050406030204" pitchFamily="18" charset="0"/>
                          </a:rPr>
                        </m:ctrlPr>
                      </m:sSupPr>
                      <m:e>
                        <m:r>
                          <a:rPr lang="en-VN" sz="3200" i="1">
                            <a:latin typeface="Cambria Math" panose="02040503050406030204" pitchFamily="18" charset="0"/>
                          </a:rPr>
                          <m:t>𝑥</m:t>
                        </m:r>
                      </m:e>
                      <m:sup>
                        <m:r>
                          <a:rPr lang="vi-VN" sz="3200" i="1">
                            <a:latin typeface="Cambria Math" panose="02040503050406030204" pitchFamily="18" charset="0"/>
                          </a:rPr>
                          <m:t>(</m:t>
                        </m:r>
                        <m:r>
                          <a:rPr lang="vi-VN" sz="3200" i="1">
                            <a:latin typeface="Cambria Math" panose="02040503050406030204" pitchFamily="18" charset="0"/>
                          </a:rPr>
                          <m:t>𝑡</m:t>
                        </m:r>
                        <m:r>
                          <a:rPr lang="vi-VN" sz="3200" i="1">
                            <a:latin typeface="Cambria Math" panose="02040503050406030204" pitchFamily="18" charset="0"/>
                          </a:rPr>
                          <m:t>)</m:t>
                        </m:r>
                      </m:sup>
                    </m:sSup>
                  </m:oMath>
                </a14:m>
                <a:r>
                  <a:rPr lang="en-VN" sz="3200"/>
                  <a:t>, ta có thể dự đoán </a:t>
                </a:r>
                <a14:m>
                  <m:oMath xmlns:m="http://schemas.openxmlformats.org/officeDocument/2006/math">
                    <m:sSup>
                      <m:sSupPr>
                        <m:ctrlPr>
                          <a:rPr lang="vi-VN" sz="3200" b="0" i="1">
                            <a:latin typeface="Cambria Math" panose="02040503050406030204" pitchFamily="18" charset="0"/>
                          </a:rPr>
                        </m:ctrlPr>
                      </m:sSupPr>
                      <m:e>
                        <m:r>
                          <a:rPr lang="en-VN" sz="3200" i="1">
                            <a:latin typeface="Cambria Math" panose="02040503050406030204" pitchFamily="18" charset="0"/>
                          </a:rPr>
                          <m:t>𝑥</m:t>
                        </m:r>
                      </m:e>
                      <m:sup>
                        <m:r>
                          <a:rPr lang="vi-VN" sz="3200" b="0" i="1">
                            <a:latin typeface="Cambria Math" panose="02040503050406030204" pitchFamily="18" charset="0"/>
                          </a:rPr>
                          <m:t>(</m:t>
                        </m:r>
                        <m:r>
                          <a:rPr lang="vi-VN" sz="3200" i="1">
                            <a:latin typeface="Cambria Math" panose="02040503050406030204" pitchFamily="18" charset="0"/>
                          </a:rPr>
                          <m:t>𝑡</m:t>
                        </m:r>
                        <m:r>
                          <a:rPr lang="vi-VN" sz="3200" b="0" i="1">
                            <a:latin typeface="Cambria Math" panose="02040503050406030204" pitchFamily="18" charset="0"/>
                          </a:rPr>
                          <m:t>+</m:t>
                        </m:r>
                        <m:r>
                          <a:rPr lang="vi-VN" sz="3200" i="1">
                            <a:latin typeface="Cambria Math" panose="02040503050406030204" pitchFamily="18" charset="0"/>
                          </a:rPr>
                          <m:t>𝑘</m:t>
                        </m:r>
                        <m:r>
                          <a:rPr lang="vi-VN" sz="3200" b="0" i="1">
                            <a:latin typeface="Cambria Math" panose="02040503050406030204" pitchFamily="18" charset="0"/>
                          </a:rPr>
                          <m:t>)</m:t>
                        </m:r>
                      </m:sup>
                    </m:sSup>
                  </m:oMath>
                </a14:m>
                <a:endParaRPr lang="en-VN" sz="3200"/>
              </a:p>
            </p:txBody>
          </p:sp>
        </mc:Choice>
        <mc:Fallback xmlns="">
          <p:sp>
            <p:nvSpPr>
              <p:cNvPr id="53" name="TextBox 52">
                <a:extLst>
                  <a:ext uri="{FF2B5EF4-FFF2-40B4-BE49-F238E27FC236}">
                    <a16:creationId xmlns:a16="http://schemas.microsoft.com/office/drawing/2014/main" id="{E562AABE-4F60-2723-CD16-0A8A5ECD543B}"/>
                  </a:ext>
                </a:extLst>
              </p:cNvPr>
              <p:cNvSpPr txBox="1">
                <a:spLocks noRot="1" noChangeAspect="1" noMove="1" noResize="1" noEditPoints="1" noAdjustHandles="1" noChangeArrowheads="1" noChangeShapeType="1" noTextEdit="1"/>
              </p:cNvSpPr>
              <p:nvPr/>
            </p:nvSpPr>
            <p:spPr>
              <a:xfrm>
                <a:off x="5417368" y="3214155"/>
                <a:ext cx="7090871" cy="605294"/>
              </a:xfrm>
              <a:prstGeom prst="rect">
                <a:avLst/>
              </a:prstGeom>
              <a:blipFill>
                <a:blip r:embed="rId4"/>
                <a:stretch>
                  <a:fillRect l="-2147" t="-6122" b="-3061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D37CE27-BEC0-6D11-A885-119BA0F4E866}"/>
                  </a:ext>
                </a:extLst>
              </p:cNvPr>
              <p:cNvSpPr txBox="1"/>
              <p:nvPr/>
            </p:nvSpPr>
            <p:spPr>
              <a:xfrm>
                <a:off x="11056203" y="557893"/>
                <a:ext cx="1228785" cy="6839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3600" b="0" i="1">
                              <a:latin typeface="Cambria Math" panose="02040503050406030204" pitchFamily="18" charset="0"/>
                            </a:rPr>
                          </m:ctrlPr>
                        </m:sSupPr>
                        <m:e>
                          <m:r>
                            <a:rPr lang="vi-VN" sz="3600" i="1">
                              <a:latin typeface="Cambria Math" panose="02040503050406030204" pitchFamily="18" charset="0"/>
                            </a:rPr>
                            <m:t>𝑥</m:t>
                          </m:r>
                        </m:e>
                        <m:sup>
                          <m:d>
                            <m:dPr>
                              <m:ctrlPr>
                                <a:rPr lang="vi-VN" sz="3600" b="0" i="1">
                                  <a:latin typeface="Cambria Math" panose="02040503050406030204" pitchFamily="18" charset="0"/>
                                </a:rPr>
                              </m:ctrlPr>
                            </m:dPr>
                            <m:e>
                              <m:r>
                                <a:rPr lang="vi-VN" sz="3600" b="0" i="1">
                                  <a:latin typeface="Cambria Math" panose="02040503050406030204" pitchFamily="18" charset="0"/>
                                </a:rPr>
                                <m:t>2</m:t>
                              </m:r>
                            </m:e>
                          </m:d>
                        </m:sup>
                      </m:sSup>
                    </m:oMath>
                  </m:oMathPara>
                </a14:m>
                <a:endParaRPr lang="en-VN" sz="3600"/>
              </a:p>
            </p:txBody>
          </p:sp>
        </mc:Choice>
        <mc:Fallback xmlns="">
          <p:sp>
            <p:nvSpPr>
              <p:cNvPr id="56" name="TextBox 55">
                <a:extLst>
                  <a:ext uri="{FF2B5EF4-FFF2-40B4-BE49-F238E27FC236}">
                    <a16:creationId xmlns:a16="http://schemas.microsoft.com/office/drawing/2014/main" id="{FD37CE27-BEC0-6D11-A885-119BA0F4E866}"/>
                  </a:ext>
                </a:extLst>
              </p:cNvPr>
              <p:cNvSpPr txBox="1">
                <a:spLocks noRot="1" noChangeAspect="1" noMove="1" noResize="1" noEditPoints="1" noAdjustHandles="1" noChangeArrowheads="1" noChangeShapeType="1" noTextEdit="1"/>
              </p:cNvSpPr>
              <p:nvPr/>
            </p:nvSpPr>
            <p:spPr>
              <a:xfrm>
                <a:off x="11056203" y="557893"/>
                <a:ext cx="1228785" cy="683905"/>
              </a:xfrm>
              <a:prstGeom prst="rect">
                <a:avLst/>
              </a:prstGeom>
              <a:blipFill>
                <a:blip r:embed="rId5"/>
                <a:stretch>
                  <a:fillRect/>
                </a:stretch>
              </a:blipFill>
            </p:spPr>
            <p:txBody>
              <a:bodyPr/>
              <a:lstStyle/>
              <a:p>
                <a:r>
                  <a:rPr lang="en-VN">
                    <a:noFill/>
                  </a:rPr>
                  <a:t> </a:t>
                </a:r>
              </a:p>
            </p:txBody>
          </p:sp>
        </mc:Fallback>
      </mc:AlternateContent>
      <p:sp>
        <p:nvSpPr>
          <p:cNvPr id="57" name="Rectangle 56">
            <a:extLst>
              <a:ext uri="{FF2B5EF4-FFF2-40B4-BE49-F238E27FC236}">
                <a16:creationId xmlns:a16="http://schemas.microsoft.com/office/drawing/2014/main" id="{C621117E-1B42-966F-D501-F5AD518201AE}"/>
              </a:ext>
            </a:extLst>
          </p:cNvPr>
          <p:cNvSpPr/>
          <p:nvPr/>
        </p:nvSpPr>
        <p:spPr>
          <a:xfrm>
            <a:off x="11087199" y="1303790"/>
            <a:ext cx="726109" cy="1738102"/>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8" name="Rectangle 57">
            <a:extLst>
              <a:ext uri="{FF2B5EF4-FFF2-40B4-BE49-F238E27FC236}">
                <a16:creationId xmlns:a16="http://schemas.microsoft.com/office/drawing/2014/main" id="{C4DF7EA2-8261-5B72-C54B-7E03D055991A}"/>
              </a:ext>
            </a:extLst>
          </p:cNvPr>
          <p:cNvSpPr/>
          <p:nvPr/>
        </p:nvSpPr>
        <p:spPr>
          <a:xfrm>
            <a:off x="5532895" y="4079011"/>
            <a:ext cx="5284930" cy="10407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9" name="TextBox 58">
            <a:extLst>
              <a:ext uri="{FF2B5EF4-FFF2-40B4-BE49-F238E27FC236}">
                <a16:creationId xmlns:a16="http://schemas.microsoft.com/office/drawing/2014/main" id="{56FB6194-13DD-A356-D41C-AE4FF740D34B}"/>
              </a:ext>
            </a:extLst>
          </p:cNvPr>
          <p:cNvSpPr txBox="1"/>
          <p:nvPr/>
        </p:nvSpPr>
        <p:spPr>
          <a:xfrm>
            <a:off x="5687878" y="4273167"/>
            <a:ext cx="5083444" cy="646331"/>
          </a:xfrm>
          <a:prstGeom prst="rect">
            <a:avLst/>
          </a:prstGeom>
          <a:noFill/>
        </p:spPr>
        <p:txBody>
          <a:bodyPr wrap="square" rtlCol="0">
            <a:spAutoFit/>
          </a:bodyPr>
          <a:lstStyle/>
          <a:p>
            <a:r>
              <a:rPr lang="en-VN" sz="3600">
                <a:solidFill>
                  <a:srgbClr val="FF0000"/>
                </a:solidFill>
              </a:rPr>
              <a:t>Số viên bi được bảo toàn!</a:t>
            </a:r>
          </a:p>
        </p:txBody>
      </p:sp>
    </p:spTree>
    <p:extLst>
      <p:ext uri="{BB962C8B-B14F-4D97-AF65-F5344CB8AC3E}">
        <p14:creationId xmlns:p14="http://schemas.microsoft.com/office/powerpoint/2010/main" val="544746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D267C-9649-203F-BFB0-174B90B79DC8}"/>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2AE2A72F-1F64-9DD1-8ECA-8037F6F27A01}"/>
              </a:ext>
            </a:extLst>
          </p:cNvPr>
          <p:cNvSpPr/>
          <p:nvPr/>
        </p:nvSpPr>
        <p:spPr>
          <a:xfrm>
            <a:off x="888379" y="2196307"/>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3BE183B1-4602-25FA-2A9E-E956DA3DA987}"/>
              </a:ext>
            </a:extLst>
          </p:cNvPr>
          <p:cNvSpPr>
            <a:spLocks noGrp="1"/>
          </p:cNvSpPr>
          <p:nvPr>
            <p:ph type="title"/>
          </p:nvPr>
        </p:nvSpPr>
        <p:spPr/>
        <p:txBody>
          <a:bodyPr/>
          <a:lstStyle/>
          <a:p>
            <a:r>
              <a:rPr lang="en-US"/>
              <a:t>Bi xanh, bi đỏ, bi vàng xác suất</a:t>
            </a:r>
            <a:endParaRPr lang="en-US" dirty="0"/>
          </a:p>
        </p:txBody>
      </p:sp>
      <p:sp>
        <p:nvSpPr>
          <p:cNvPr id="4" name="Chỗ dành sẵn cho Số hiệu Bản chiếu 3">
            <a:extLst>
              <a:ext uri="{FF2B5EF4-FFF2-40B4-BE49-F238E27FC236}">
                <a16:creationId xmlns:a16="http://schemas.microsoft.com/office/drawing/2014/main" id="{62196949-85E9-7E56-B3E3-2BEFD7C79344}"/>
              </a:ext>
            </a:extLst>
          </p:cNvPr>
          <p:cNvSpPr>
            <a:spLocks noGrp="1"/>
          </p:cNvSpPr>
          <p:nvPr>
            <p:ph type="sldNum" sz="quarter" idx="12"/>
          </p:nvPr>
        </p:nvSpPr>
        <p:spPr/>
        <p:txBody>
          <a:bodyPr/>
          <a:lstStyle/>
          <a:p>
            <a:fld id="{74ABBA0F-ED8F-4A6E-AA06-FEAFBF3D52EE}" type="slidenum">
              <a:rPr lang="en-US" smtClean="0"/>
              <a:t>6</a:t>
            </a:fld>
            <a:endParaRPr lang="en-US"/>
          </a:p>
        </p:txBody>
      </p:sp>
      <p:sp>
        <p:nvSpPr>
          <p:cNvPr id="3" name="Oval 2">
            <a:extLst>
              <a:ext uri="{FF2B5EF4-FFF2-40B4-BE49-F238E27FC236}">
                <a16:creationId xmlns:a16="http://schemas.microsoft.com/office/drawing/2014/main" id="{E0CE6C53-3B14-04FF-A4A0-CF0123B8C375}"/>
              </a:ext>
            </a:extLst>
          </p:cNvPr>
          <p:cNvSpPr/>
          <p:nvPr/>
        </p:nvSpPr>
        <p:spPr>
          <a:xfrm>
            <a:off x="6657278" y="3014333"/>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Oval 5">
            <a:extLst>
              <a:ext uri="{FF2B5EF4-FFF2-40B4-BE49-F238E27FC236}">
                <a16:creationId xmlns:a16="http://schemas.microsoft.com/office/drawing/2014/main" id="{E74C2E8D-87C4-43BF-CE83-58C593CB427B}"/>
              </a:ext>
            </a:extLst>
          </p:cNvPr>
          <p:cNvSpPr/>
          <p:nvPr/>
        </p:nvSpPr>
        <p:spPr>
          <a:xfrm>
            <a:off x="4014439" y="505483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78CF51FD-3A76-319C-7756-254299F68FDD}"/>
              </a:ext>
            </a:extLst>
          </p:cNvPr>
          <p:cNvSpPr>
            <a:spLocks noChangeAspect="1"/>
          </p:cNvSpPr>
          <p:nvPr/>
        </p:nvSpPr>
        <p:spPr>
          <a:xfrm>
            <a:off x="1521210" y="1871451"/>
            <a:ext cx="1009185" cy="100918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B83556E5-DBA3-719D-8701-67DE2A8DAD87}"/>
              </a:ext>
            </a:extLst>
          </p:cNvPr>
          <p:cNvSpPr txBox="1"/>
          <p:nvPr/>
        </p:nvSpPr>
        <p:spPr>
          <a:xfrm>
            <a:off x="1703359" y="3212497"/>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AA4E01B4-C592-FFC9-B412-498A7FE6FBF1}"/>
              </a:ext>
            </a:extLst>
          </p:cNvPr>
          <p:cNvSpPr txBox="1"/>
          <p:nvPr/>
        </p:nvSpPr>
        <p:spPr>
          <a:xfrm>
            <a:off x="4792840" y="5955658"/>
            <a:ext cx="791138" cy="523220"/>
          </a:xfrm>
          <a:prstGeom prst="rect">
            <a:avLst/>
          </a:prstGeom>
          <a:noFill/>
        </p:spPr>
        <p:txBody>
          <a:bodyPr wrap="square" rtlCol="0">
            <a:spAutoFit/>
          </a:bodyPr>
          <a:lstStyle/>
          <a:p>
            <a:r>
              <a:rPr lang="en-VN" sz="2800"/>
              <a:t>2</a:t>
            </a:r>
          </a:p>
        </p:txBody>
      </p:sp>
      <p:sp>
        <p:nvSpPr>
          <p:cNvPr id="37" name="TextBox 36">
            <a:extLst>
              <a:ext uri="{FF2B5EF4-FFF2-40B4-BE49-F238E27FC236}">
                <a16:creationId xmlns:a16="http://schemas.microsoft.com/office/drawing/2014/main" id="{28D0674A-C3E0-BE8B-0FC2-F2591D7044A9}"/>
              </a:ext>
            </a:extLst>
          </p:cNvPr>
          <p:cNvSpPr txBox="1"/>
          <p:nvPr/>
        </p:nvSpPr>
        <p:spPr>
          <a:xfrm>
            <a:off x="7653322" y="4034559"/>
            <a:ext cx="791138" cy="523220"/>
          </a:xfrm>
          <a:prstGeom prst="rect">
            <a:avLst/>
          </a:prstGeom>
          <a:noFill/>
        </p:spPr>
        <p:txBody>
          <a:bodyPr wrap="square" rtlCol="0">
            <a:spAutoFit/>
          </a:bodyPr>
          <a:lstStyle/>
          <a:p>
            <a:r>
              <a:rPr lang="en-VN" sz="2800"/>
              <a:t>3</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E8A04C7-3F3A-178E-73A1-2648A7A561C2}"/>
                  </a:ext>
                </a:extLst>
              </p:cNvPr>
              <p:cNvSpPr txBox="1"/>
              <p:nvPr/>
            </p:nvSpPr>
            <p:spPr>
              <a:xfrm>
                <a:off x="8332789" y="3852114"/>
                <a:ext cx="3325533" cy="1713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𝑥</m:t>
                          </m:r>
                        </m:e>
                        <m:sup>
                          <m:r>
                            <a:rPr lang="vi-VN" sz="4000" b="0" i="1">
                              <a:latin typeface="Cambria Math" panose="02040503050406030204" pitchFamily="18" charset="0"/>
                            </a:rPr>
                            <m:t>(1)</m:t>
                          </m:r>
                        </m:sup>
                      </m:sSup>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1</m:t>
                                </m:r>
                              </m:e>
                            </m:mr>
                            <m:mr>
                              <m:e>
                                <m:r>
                                  <a:rPr lang="vi-VN" sz="4000" b="0" i="1">
                                    <a:solidFill>
                                      <a:srgbClr val="FF0000"/>
                                    </a:solidFill>
                                    <a:latin typeface="Cambria Math" panose="02040503050406030204" pitchFamily="18" charset="0"/>
                                  </a:rPr>
                                  <m:t>0</m:t>
                                </m:r>
                              </m:e>
                            </m:mr>
                            <m:mr>
                              <m:e>
                                <m:r>
                                  <a:rPr lang="vi-VN" sz="4000" b="0" i="1">
                                    <a:solidFill>
                                      <a:schemeClr val="accent4"/>
                                    </a:solidFill>
                                    <a:latin typeface="Cambria Math" panose="02040503050406030204" pitchFamily="18" charset="0"/>
                                  </a:rPr>
                                  <m:t>0</m:t>
                                </m:r>
                              </m:e>
                            </m:mr>
                          </m:m>
                        </m:e>
                      </m:d>
                    </m:oMath>
                  </m:oMathPara>
                </a14:m>
                <a:endParaRPr lang="en-VN" sz="4000" i="1"/>
              </a:p>
            </p:txBody>
          </p:sp>
        </mc:Choice>
        <mc:Fallback xmlns="">
          <p:sp>
            <p:nvSpPr>
              <p:cNvPr id="38" name="TextBox 37">
                <a:extLst>
                  <a:ext uri="{FF2B5EF4-FFF2-40B4-BE49-F238E27FC236}">
                    <a16:creationId xmlns:a16="http://schemas.microsoft.com/office/drawing/2014/main" id="{6E8A04C7-3F3A-178E-73A1-2648A7A561C2}"/>
                  </a:ext>
                </a:extLst>
              </p:cNvPr>
              <p:cNvSpPr txBox="1">
                <a:spLocks noRot="1" noChangeAspect="1" noMove="1" noResize="1" noEditPoints="1" noAdjustHandles="1" noChangeArrowheads="1" noChangeShapeType="1" noTextEdit="1"/>
              </p:cNvSpPr>
              <p:nvPr/>
            </p:nvSpPr>
            <p:spPr>
              <a:xfrm>
                <a:off x="8332789" y="3852114"/>
                <a:ext cx="3325533" cy="1713867"/>
              </a:xfrm>
              <a:prstGeom prst="rect">
                <a:avLst/>
              </a:prstGeom>
              <a:blipFill>
                <a:blip r:embed="rId2"/>
                <a:stretch>
                  <a:fillRect b="-7353"/>
                </a:stretch>
              </a:blipFill>
            </p:spPr>
            <p:txBody>
              <a:bodyPr/>
              <a:lstStyle/>
              <a:p>
                <a:r>
                  <a:rPr lang="en-VN">
                    <a:noFill/>
                  </a:rPr>
                  <a:t> </a:t>
                </a:r>
              </a:p>
            </p:txBody>
          </p:sp>
        </mc:Fallback>
      </mc:AlternateContent>
      <p:sp>
        <p:nvSpPr>
          <p:cNvPr id="5" name="Right Arrow 4">
            <a:extLst>
              <a:ext uri="{FF2B5EF4-FFF2-40B4-BE49-F238E27FC236}">
                <a16:creationId xmlns:a16="http://schemas.microsoft.com/office/drawing/2014/main" id="{29B91950-25D6-0A1C-022F-F2C37AB3F146}"/>
              </a:ext>
            </a:extLst>
          </p:cNvPr>
          <p:cNvSpPr/>
          <p:nvPr/>
        </p:nvSpPr>
        <p:spPr>
          <a:xfrm rot="2609382">
            <a:off x="2460621" y="3822539"/>
            <a:ext cx="218563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A3D15198-3C65-42FF-9498-86C6590E6C6E}"/>
              </a:ext>
            </a:extLst>
          </p:cNvPr>
          <p:cNvSpPr txBox="1"/>
          <p:nvPr/>
        </p:nvSpPr>
        <p:spPr>
          <a:xfrm>
            <a:off x="3567340" y="3518925"/>
            <a:ext cx="791138" cy="523220"/>
          </a:xfrm>
          <a:prstGeom prst="rect">
            <a:avLst/>
          </a:prstGeom>
          <a:noFill/>
        </p:spPr>
        <p:txBody>
          <a:bodyPr wrap="square" rtlCol="0">
            <a:spAutoFit/>
          </a:bodyPr>
          <a:lstStyle/>
          <a:p>
            <a:r>
              <a:rPr lang="en-VN" sz="2800"/>
              <a:t>1/3</a:t>
            </a:r>
          </a:p>
        </p:txBody>
      </p:sp>
      <p:sp>
        <p:nvSpPr>
          <p:cNvPr id="10" name="TextBox 9">
            <a:extLst>
              <a:ext uri="{FF2B5EF4-FFF2-40B4-BE49-F238E27FC236}">
                <a16:creationId xmlns:a16="http://schemas.microsoft.com/office/drawing/2014/main" id="{667F7E30-E052-C055-006F-D56F0F01A25D}"/>
              </a:ext>
            </a:extLst>
          </p:cNvPr>
          <p:cNvSpPr txBox="1"/>
          <p:nvPr/>
        </p:nvSpPr>
        <p:spPr>
          <a:xfrm>
            <a:off x="4670404" y="3167390"/>
            <a:ext cx="791138" cy="523220"/>
          </a:xfrm>
          <a:prstGeom prst="rect">
            <a:avLst/>
          </a:prstGeom>
          <a:noFill/>
        </p:spPr>
        <p:txBody>
          <a:bodyPr wrap="square" rtlCol="0">
            <a:spAutoFit/>
          </a:bodyPr>
          <a:lstStyle/>
          <a:p>
            <a:r>
              <a:rPr lang="en-VN" sz="2800"/>
              <a:t>2/3</a:t>
            </a:r>
          </a:p>
        </p:txBody>
      </p:sp>
      <p:sp>
        <p:nvSpPr>
          <p:cNvPr id="11" name="Right Arrow 10">
            <a:extLst>
              <a:ext uri="{FF2B5EF4-FFF2-40B4-BE49-F238E27FC236}">
                <a16:creationId xmlns:a16="http://schemas.microsoft.com/office/drawing/2014/main" id="{2AA71478-7426-A0E8-046A-56F10A3B28B4}"/>
              </a:ext>
            </a:extLst>
          </p:cNvPr>
          <p:cNvSpPr/>
          <p:nvPr/>
        </p:nvSpPr>
        <p:spPr>
          <a:xfrm rot="664967">
            <a:off x="3279174" y="2823974"/>
            <a:ext cx="326215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ight Arrow 11">
            <a:extLst>
              <a:ext uri="{FF2B5EF4-FFF2-40B4-BE49-F238E27FC236}">
                <a16:creationId xmlns:a16="http://schemas.microsoft.com/office/drawing/2014/main" id="{82A6CCA3-D40E-B305-259B-E5B300A13127}"/>
              </a:ext>
            </a:extLst>
          </p:cNvPr>
          <p:cNvSpPr/>
          <p:nvPr/>
        </p:nvSpPr>
        <p:spPr>
          <a:xfrm rot="13418479">
            <a:off x="2126784" y="4218870"/>
            <a:ext cx="218563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TextBox 12">
            <a:extLst>
              <a:ext uri="{FF2B5EF4-FFF2-40B4-BE49-F238E27FC236}">
                <a16:creationId xmlns:a16="http://schemas.microsoft.com/office/drawing/2014/main" id="{FA670A28-E88C-56EF-5180-DF335E490EAC}"/>
              </a:ext>
            </a:extLst>
          </p:cNvPr>
          <p:cNvSpPr txBox="1"/>
          <p:nvPr/>
        </p:nvSpPr>
        <p:spPr>
          <a:xfrm>
            <a:off x="2494497" y="4845801"/>
            <a:ext cx="791138" cy="523220"/>
          </a:xfrm>
          <a:prstGeom prst="rect">
            <a:avLst/>
          </a:prstGeom>
          <a:noFill/>
        </p:spPr>
        <p:txBody>
          <a:bodyPr wrap="square" rtlCol="0">
            <a:spAutoFit/>
          </a:bodyPr>
          <a:lstStyle/>
          <a:p>
            <a:r>
              <a:rPr lang="en-VN" sz="2800"/>
              <a:t>1/6</a:t>
            </a:r>
          </a:p>
        </p:txBody>
      </p:sp>
      <p:sp>
        <p:nvSpPr>
          <p:cNvPr id="14" name="Right Arrow 13">
            <a:extLst>
              <a:ext uri="{FF2B5EF4-FFF2-40B4-BE49-F238E27FC236}">
                <a16:creationId xmlns:a16="http://schemas.microsoft.com/office/drawing/2014/main" id="{DE6CFFE3-37C5-3FD0-03C1-A186D3571B91}"/>
              </a:ext>
            </a:extLst>
          </p:cNvPr>
          <p:cNvSpPr/>
          <p:nvPr/>
        </p:nvSpPr>
        <p:spPr>
          <a:xfrm rot="18502719">
            <a:off x="5328620" y="4192964"/>
            <a:ext cx="1609275"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TextBox 14">
            <a:extLst>
              <a:ext uri="{FF2B5EF4-FFF2-40B4-BE49-F238E27FC236}">
                <a16:creationId xmlns:a16="http://schemas.microsoft.com/office/drawing/2014/main" id="{14EE5E44-2336-E482-D570-3486A1FAFCE4}"/>
              </a:ext>
            </a:extLst>
          </p:cNvPr>
          <p:cNvSpPr txBox="1"/>
          <p:nvPr/>
        </p:nvSpPr>
        <p:spPr>
          <a:xfrm>
            <a:off x="5395851" y="3989217"/>
            <a:ext cx="791138" cy="523220"/>
          </a:xfrm>
          <a:prstGeom prst="rect">
            <a:avLst/>
          </a:prstGeom>
          <a:noFill/>
        </p:spPr>
        <p:txBody>
          <a:bodyPr wrap="square" rtlCol="0">
            <a:spAutoFit/>
          </a:bodyPr>
          <a:lstStyle/>
          <a:p>
            <a:r>
              <a:rPr lang="en-VN" sz="2800"/>
              <a:t>1/3</a:t>
            </a:r>
          </a:p>
        </p:txBody>
      </p: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FA2295F9-B3D3-BF29-C707-6467E08F1265}"/>
                  </a:ext>
                </a:extLst>
              </p:cNvPr>
              <p:cNvSpPr>
                <a:spLocks noGrp="1"/>
              </p:cNvSpPr>
              <p:nvPr>
                <p:ph idx="1"/>
              </p:nvPr>
            </p:nvSpPr>
            <p:spPr>
              <a:xfrm>
                <a:off x="7711881" y="1292019"/>
                <a:ext cx="5062654" cy="1459357"/>
              </a:xfrm>
            </p:spPr>
            <p:txBody>
              <a:bodyPr>
                <a:noAutofit/>
              </a:bodyPr>
              <a:lstStyle/>
              <a:p>
                <a:pPr marL="0" indent="0">
                  <a:buNone/>
                </a:pPr>
                <a14:m>
                  <m:oMath xmlns:m="http://schemas.openxmlformats.org/officeDocument/2006/math">
                    <m:r>
                      <a:rPr lang="en-VN" sz="3200" i="1">
                        <a:latin typeface="Cambria Math" panose="02040503050406030204" pitchFamily="18" charset="0"/>
                      </a:rPr>
                      <m:t>𝑀</m:t>
                    </m:r>
                    <m:r>
                      <a:rPr lang="vi-VN" sz="3200" b="0" i="1">
                        <a:latin typeface="Cambria Math" panose="02040503050406030204" pitchFamily="18" charset="0"/>
                      </a:rPr>
                      <m:t>=   </m:t>
                    </m:r>
                    <m:d>
                      <m:dPr>
                        <m:begChr m:val="["/>
                        <m:endChr m:val="]"/>
                        <m:ctrlPr>
                          <a:rPr lang="vi-VN" sz="3200" b="0" i="1">
                            <a:latin typeface="Cambria Math" panose="02040503050406030204" pitchFamily="18" charset="0"/>
                          </a:rPr>
                        </m:ctrlPr>
                      </m:dPr>
                      <m:e>
                        <m:m>
                          <m:mPr>
                            <m:mcs>
                              <m:mc>
                                <m:mcPr>
                                  <m:count m:val="3"/>
                                  <m:mcJc m:val="center"/>
                                </m:mcPr>
                              </m:mc>
                            </m:mcs>
                            <m:ctrlPr>
                              <a:rPr lang="vi-VN" sz="3200" b="0" i="1">
                                <a:latin typeface="Cambria Math" panose="02040503050406030204" pitchFamily="18" charset="0"/>
                              </a:rPr>
                            </m:ctrlPr>
                          </m:mPr>
                          <m:mr>
                            <m:e>
                              <m:r>
                                <m:rPr>
                                  <m:brk m:alnAt="7"/>
                                </m:rPr>
                                <a:rPr lang="vi-VN" sz="3200" b="0" i="1">
                                  <a:latin typeface="Cambria Math" panose="02040503050406030204" pitchFamily="18" charset="0"/>
                                </a:rPr>
                                <m:t>0</m:t>
                              </m:r>
                            </m:e>
                            <m:e>
                              <m:r>
                                <a:rPr lang="vi-VN" sz="3200" b="0" i="1">
                                  <a:latin typeface="Cambria Math" panose="02040503050406030204" pitchFamily="18" charset="0"/>
                                </a:rPr>
                                <m:t>1/6</m:t>
                              </m:r>
                            </m:e>
                            <m:e>
                              <m:r>
                                <a:rPr lang="vi-VN" sz="3200" b="0" i="1">
                                  <a:latin typeface="Cambria Math" panose="02040503050406030204" pitchFamily="18" charset="0"/>
                                </a:rPr>
                                <m:t>5/6</m:t>
                              </m:r>
                            </m:e>
                          </m:mr>
                          <m:mr>
                            <m:e>
                              <m:r>
                                <a:rPr lang="vi-VN" sz="3200" b="0" i="1">
                                  <a:latin typeface="Cambria Math" panose="02040503050406030204" pitchFamily="18" charset="0"/>
                                </a:rPr>
                                <m:t>1/3</m:t>
                              </m:r>
                            </m:e>
                            <m:e>
                              <m:r>
                                <a:rPr lang="vi-VN" sz="3200" b="0" i="1">
                                  <a:latin typeface="Cambria Math" panose="02040503050406030204" pitchFamily="18" charset="0"/>
                                </a:rPr>
                                <m:t>1/2</m:t>
                              </m:r>
                            </m:e>
                            <m:e>
                              <m:r>
                                <a:rPr lang="vi-VN" sz="3200" b="0" i="1">
                                  <a:latin typeface="Cambria Math" panose="02040503050406030204" pitchFamily="18" charset="0"/>
                                </a:rPr>
                                <m:t>1/6</m:t>
                              </m:r>
                            </m:e>
                          </m:mr>
                          <m:mr>
                            <m:e>
                              <m:r>
                                <a:rPr lang="vi-VN" sz="3200" b="0" i="1">
                                  <a:latin typeface="Cambria Math" panose="02040503050406030204" pitchFamily="18" charset="0"/>
                                </a:rPr>
                                <m:t>2/3</m:t>
                              </m:r>
                            </m:e>
                            <m:e>
                              <m:r>
                                <a:rPr lang="vi-VN" sz="3200" b="0" i="1">
                                  <a:latin typeface="Cambria Math" panose="02040503050406030204" pitchFamily="18" charset="0"/>
                                </a:rPr>
                                <m:t>1/3</m:t>
                              </m:r>
                            </m:e>
                            <m:e>
                              <m:r>
                                <a:rPr lang="vi-VN" sz="3200" b="0" i="1">
                                  <a:latin typeface="Cambria Math" panose="02040503050406030204" pitchFamily="18" charset="0"/>
                                </a:rPr>
                                <m:t>0</m:t>
                              </m:r>
                            </m:e>
                          </m:mr>
                        </m:m>
                      </m:e>
                    </m:d>
                  </m:oMath>
                </a14:m>
                <a:r>
                  <a:rPr lang="en-VN" sz="3200"/>
                  <a:t> </a:t>
                </a:r>
              </a:p>
            </p:txBody>
          </p:sp>
        </mc:Choice>
        <mc:Fallback xmlns="">
          <p:sp>
            <p:nvSpPr>
              <p:cNvPr id="16" name="Content Placeholder 2">
                <a:extLst>
                  <a:ext uri="{FF2B5EF4-FFF2-40B4-BE49-F238E27FC236}">
                    <a16:creationId xmlns:a16="http://schemas.microsoft.com/office/drawing/2014/main" id="{FA2295F9-B3D3-BF29-C707-6467E08F1265}"/>
                  </a:ext>
                </a:extLst>
              </p:cNvPr>
              <p:cNvSpPr>
                <a:spLocks noGrp="1" noRot="1" noChangeAspect="1" noMove="1" noResize="1" noEditPoints="1" noAdjustHandles="1" noChangeArrowheads="1" noChangeShapeType="1" noTextEdit="1"/>
              </p:cNvSpPr>
              <p:nvPr>
                <p:ph idx="1"/>
              </p:nvPr>
            </p:nvSpPr>
            <p:spPr>
              <a:xfrm>
                <a:off x="7711881" y="1292019"/>
                <a:ext cx="5062654" cy="1459357"/>
              </a:xfrm>
              <a:blipFill>
                <a:blip r:embed="rId3"/>
                <a:stretch>
                  <a:fillRect l="-1000" t="-6897" b="-6897"/>
                </a:stretch>
              </a:blipFill>
            </p:spPr>
            <p:txBody>
              <a:bodyPr/>
              <a:lstStyle/>
              <a:p>
                <a:r>
                  <a:rPr lang="en-VN">
                    <a:noFill/>
                  </a:rPr>
                  <a:t> </a:t>
                </a:r>
              </a:p>
            </p:txBody>
          </p:sp>
        </mc:Fallback>
      </mc:AlternateContent>
      <p:sp>
        <p:nvSpPr>
          <p:cNvPr id="28" name="Oval 27">
            <a:extLst>
              <a:ext uri="{FF2B5EF4-FFF2-40B4-BE49-F238E27FC236}">
                <a16:creationId xmlns:a16="http://schemas.microsoft.com/office/drawing/2014/main" id="{3B17E46A-7301-5970-384C-714EAFBB81EB}"/>
              </a:ext>
            </a:extLst>
          </p:cNvPr>
          <p:cNvSpPr>
            <a:spLocks noChangeAspect="1"/>
          </p:cNvSpPr>
          <p:nvPr/>
        </p:nvSpPr>
        <p:spPr>
          <a:xfrm>
            <a:off x="9298187" y="988800"/>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2" name="Oval 31">
            <a:extLst>
              <a:ext uri="{FF2B5EF4-FFF2-40B4-BE49-F238E27FC236}">
                <a16:creationId xmlns:a16="http://schemas.microsoft.com/office/drawing/2014/main" id="{FAA95EA1-BBA5-D99E-C274-9B71DB4C94BB}"/>
              </a:ext>
            </a:extLst>
          </p:cNvPr>
          <p:cNvSpPr>
            <a:spLocks noChangeAspect="1"/>
          </p:cNvSpPr>
          <p:nvPr/>
        </p:nvSpPr>
        <p:spPr>
          <a:xfrm>
            <a:off x="11452015" y="988800"/>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Oval 33">
            <a:extLst>
              <a:ext uri="{FF2B5EF4-FFF2-40B4-BE49-F238E27FC236}">
                <a16:creationId xmlns:a16="http://schemas.microsoft.com/office/drawing/2014/main" id="{0A4B8117-4DF8-11D1-1138-E25B110A2F94}"/>
              </a:ext>
            </a:extLst>
          </p:cNvPr>
          <p:cNvSpPr>
            <a:spLocks noChangeAspect="1"/>
          </p:cNvSpPr>
          <p:nvPr/>
        </p:nvSpPr>
        <p:spPr>
          <a:xfrm>
            <a:off x="10418761" y="988800"/>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9" name="Oval 38">
            <a:extLst>
              <a:ext uri="{FF2B5EF4-FFF2-40B4-BE49-F238E27FC236}">
                <a16:creationId xmlns:a16="http://schemas.microsoft.com/office/drawing/2014/main" id="{1C476EF1-CD28-8EB2-0322-85C74E00B118}"/>
              </a:ext>
            </a:extLst>
          </p:cNvPr>
          <p:cNvSpPr>
            <a:spLocks noChangeAspect="1"/>
          </p:cNvSpPr>
          <p:nvPr/>
        </p:nvSpPr>
        <p:spPr>
          <a:xfrm>
            <a:off x="8691320" y="1390513"/>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0" name="Oval 39">
            <a:extLst>
              <a:ext uri="{FF2B5EF4-FFF2-40B4-BE49-F238E27FC236}">
                <a16:creationId xmlns:a16="http://schemas.microsoft.com/office/drawing/2014/main" id="{AE2039E7-70CD-B2B1-4933-E5F07489D4AD}"/>
              </a:ext>
            </a:extLst>
          </p:cNvPr>
          <p:cNvSpPr>
            <a:spLocks noChangeAspect="1"/>
          </p:cNvSpPr>
          <p:nvPr/>
        </p:nvSpPr>
        <p:spPr>
          <a:xfrm>
            <a:off x="8691320" y="2378769"/>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1" name="Oval 40">
            <a:extLst>
              <a:ext uri="{FF2B5EF4-FFF2-40B4-BE49-F238E27FC236}">
                <a16:creationId xmlns:a16="http://schemas.microsoft.com/office/drawing/2014/main" id="{33F1CC82-ADA7-BF1A-D463-5D18C53C0B2D}"/>
              </a:ext>
            </a:extLst>
          </p:cNvPr>
          <p:cNvSpPr>
            <a:spLocks noChangeAspect="1"/>
          </p:cNvSpPr>
          <p:nvPr/>
        </p:nvSpPr>
        <p:spPr>
          <a:xfrm>
            <a:off x="8691320" y="1892390"/>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2" name="Right Arrow 41">
            <a:extLst>
              <a:ext uri="{FF2B5EF4-FFF2-40B4-BE49-F238E27FC236}">
                <a16:creationId xmlns:a16="http://schemas.microsoft.com/office/drawing/2014/main" id="{9276FB35-AC71-B7AB-C032-38298BF005EA}"/>
              </a:ext>
            </a:extLst>
          </p:cNvPr>
          <p:cNvSpPr/>
          <p:nvPr/>
        </p:nvSpPr>
        <p:spPr>
          <a:xfrm rot="639625" flipH="1">
            <a:off x="3264865" y="2374800"/>
            <a:ext cx="326215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3" name="TextBox 42">
            <a:extLst>
              <a:ext uri="{FF2B5EF4-FFF2-40B4-BE49-F238E27FC236}">
                <a16:creationId xmlns:a16="http://schemas.microsoft.com/office/drawing/2014/main" id="{68B9DD41-FBC8-A2E5-C46F-7206DC6FDD7F}"/>
              </a:ext>
            </a:extLst>
          </p:cNvPr>
          <p:cNvSpPr txBox="1"/>
          <p:nvPr/>
        </p:nvSpPr>
        <p:spPr>
          <a:xfrm>
            <a:off x="4964670" y="2018529"/>
            <a:ext cx="791138" cy="523220"/>
          </a:xfrm>
          <a:prstGeom prst="rect">
            <a:avLst/>
          </a:prstGeom>
          <a:noFill/>
        </p:spPr>
        <p:txBody>
          <a:bodyPr wrap="square" rtlCol="0">
            <a:spAutoFit/>
          </a:bodyPr>
          <a:lstStyle/>
          <a:p>
            <a:r>
              <a:rPr lang="en-VN" sz="2800"/>
              <a:t>5/6</a:t>
            </a:r>
          </a:p>
        </p:txBody>
      </p:sp>
      <p:sp>
        <p:nvSpPr>
          <p:cNvPr id="44" name="Curved Left Arrow 43">
            <a:extLst>
              <a:ext uri="{FF2B5EF4-FFF2-40B4-BE49-F238E27FC236}">
                <a16:creationId xmlns:a16="http://schemas.microsoft.com/office/drawing/2014/main" id="{4035BC3A-26FE-4302-9560-4F69866BE707}"/>
              </a:ext>
            </a:extLst>
          </p:cNvPr>
          <p:cNvSpPr/>
          <p:nvPr/>
        </p:nvSpPr>
        <p:spPr>
          <a:xfrm rot="1630143" flipV="1">
            <a:off x="5820276" y="5364301"/>
            <a:ext cx="609039" cy="929913"/>
          </a:xfrm>
          <a:prstGeom prst="curvedLeftArrow">
            <a:avLst>
              <a:gd name="adj1" fmla="val 11509"/>
              <a:gd name="adj2" fmla="val 50000"/>
              <a:gd name="adj3" fmla="val 25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45" name="TextBox 44">
            <a:extLst>
              <a:ext uri="{FF2B5EF4-FFF2-40B4-BE49-F238E27FC236}">
                <a16:creationId xmlns:a16="http://schemas.microsoft.com/office/drawing/2014/main" id="{EC25D792-3635-999E-4055-58B730599B20}"/>
              </a:ext>
            </a:extLst>
          </p:cNvPr>
          <p:cNvSpPr txBox="1"/>
          <p:nvPr/>
        </p:nvSpPr>
        <p:spPr>
          <a:xfrm>
            <a:off x="6360109" y="5905559"/>
            <a:ext cx="791138" cy="523220"/>
          </a:xfrm>
          <a:prstGeom prst="rect">
            <a:avLst/>
          </a:prstGeom>
          <a:noFill/>
        </p:spPr>
        <p:txBody>
          <a:bodyPr wrap="square" rtlCol="0">
            <a:spAutoFit/>
          </a:bodyPr>
          <a:lstStyle/>
          <a:p>
            <a:r>
              <a:rPr lang="en-VN" sz="2800"/>
              <a:t>1/2</a:t>
            </a:r>
          </a:p>
        </p:txBody>
      </p:sp>
      <p:sp>
        <p:nvSpPr>
          <p:cNvPr id="46" name="Right Arrow 45">
            <a:extLst>
              <a:ext uri="{FF2B5EF4-FFF2-40B4-BE49-F238E27FC236}">
                <a16:creationId xmlns:a16="http://schemas.microsoft.com/office/drawing/2014/main" id="{7B827F30-180B-0F40-931A-1E7D09E94106}"/>
              </a:ext>
            </a:extLst>
          </p:cNvPr>
          <p:cNvSpPr/>
          <p:nvPr/>
        </p:nvSpPr>
        <p:spPr>
          <a:xfrm rot="7630727">
            <a:off x="5895847" y="4366419"/>
            <a:ext cx="1463186"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7" name="TextBox 46">
            <a:extLst>
              <a:ext uri="{FF2B5EF4-FFF2-40B4-BE49-F238E27FC236}">
                <a16:creationId xmlns:a16="http://schemas.microsoft.com/office/drawing/2014/main" id="{2D7704DE-20E4-CAD0-3F59-39DFBED23D55}"/>
              </a:ext>
            </a:extLst>
          </p:cNvPr>
          <p:cNvSpPr txBox="1"/>
          <p:nvPr/>
        </p:nvSpPr>
        <p:spPr>
          <a:xfrm>
            <a:off x="6730351" y="4490240"/>
            <a:ext cx="791138" cy="523220"/>
          </a:xfrm>
          <a:prstGeom prst="rect">
            <a:avLst/>
          </a:prstGeom>
          <a:noFill/>
        </p:spPr>
        <p:txBody>
          <a:bodyPr wrap="square" rtlCol="0">
            <a:spAutoFit/>
          </a:bodyPr>
          <a:lstStyle/>
          <a:p>
            <a:r>
              <a:rPr lang="en-VN" sz="2800"/>
              <a:t>1/6</a:t>
            </a:r>
          </a:p>
        </p:txBody>
      </p:sp>
    </p:spTree>
    <p:extLst>
      <p:ext uri="{BB962C8B-B14F-4D97-AF65-F5344CB8AC3E}">
        <p14:creationId xmlns:p14="http://schemas.microsoft.com/office/powerpoint/2010/main" val="675366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13B44-1366-577C-E4F7-6A5F490BD548}"/>
              </a:ext>
            </a:extLst>
          </p:cNvPr>
          <p:cNvSpPr>
            <a:spLocks noGrp="1"/>
          </p:cNvSpPr>
          <p:nvPr>
            <p:ph type="title"/>
          </p:nvPr>
        </p:nvSpPr>
        <p:spPr/>
        <p:txBody>
          <a:bodyPr/>
          <a:lstStyle/>
          <a:p>
            <a:r>
              <a:rPr lang="en-US"/>
              <a:t>Bi xanh, bi đỏ, bi vàng xác suất</a:t>
            </a:r>
            <a:endParaRPr lang="en-VN"/>
          </a:p>
        </p:txBody>
      </p:sp>
      <p:sp>
        <p:nvSpPr>
          <p:cNvPr id="3" name="Content Placeholder 2">
            <a:extLst>
              <a:ext uri="{FF2B5EF4-FFF2-40B4-BE49-F238E27FC236}">
                <a16:creationId xmlns:a16="http://schemas.microsoft.com/office/drawing/2014/main" id="{83D822AE-01EE-736B-53AA-7265D78D9ABF}"/>
              </a:ext>
            </a:extLst>
          </p:cNvPr>
          <p:cNvSpPr>
            <a:spLocks noGrp="1"/>
          </p:cNvSpPr>
          <p:nvPr>
            <p:ph idx="1"/>
          </p:nvPr>
        </p:nvSpPr>
        <p:spPr>
          <a:xfrm>
            <a:off x="838200" y="1825625"/>
            <a:ext cx="10515600" cy="552471"/>
          </a:xfrm>
        </p:spPr>
        <p:txBody>
          <a:bodyPr/>
          <a:lstStyle/>
          <a:p>
            <a:pPr marL="0" indent="0">
              <a:buNone/>
            </a:pPr>
            <a:r>
              <a:rPr lang="en-VN"/>
              <a:t>Ở thời điểm kế tiếp, viên bi sẽ có xác suất ở đâu nhiều nhất?</a:t>
            </a:r>
          </a:p>
        </p:txBody>
      </p:sp>
      <p:sp>
        <p:nvSpPr>
          <p:cNvPr id="4" name="Slide Number Placeholder 3">
            <a:extLst>
              <a:ext uri="{FF2B5EF4-FFF2-40B4-BE49-F238E27FC236}">
                <a16:creationId xmlns:a16="http://schemas.microsoft.com/office/drawing/2014/main" id="{1B6021C5-1042-3367-1DE5-5C40BED99256}"/>
              </a:ext>
            </a:extLst>
          </p:cNvPr>
          <p:cNvSpPr>
            <a:spLocks noGrp="1"/>
          </p:cNvSpPr>
          <p:nvPr>
            <p:ph type="sldNum" sz="quarter" idx="12"/>
          </p:nvPr>
        </p:nvSpPr>
        <p:spPr/>
        <p:txBody>
          <a:bodyPr/>
          <a:lstStyle/>
          <a:p>
            <a:fld id="{95CF7CBD-B9A5-4D53-9D65-FFCCF7EF1299}" type="slidenum">
              <a:rPr lang="vi-VN" smtClean="0"/>
              <a:t>7</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6682D3B-9066-5D2F-70B1-330ACF9BCFB0}"/>
                  </a:ext>
                </a:extLst>
              </p:cNvPr>
              <p:cNvSpPr txBox="1"/>
              <p:nvPr/>
            </p:nvSpPr>
            <p:spPr>
              <a:xfrm>
                <a:off x="838200" y="2378096"/>
                <a:ext cx="8311375" cy="1713033"/>
              </a:xfrm>
              <a:prstGeom prst="rect">
                <a:avLst/>
              </a:prstGeom>
              <a:noFill/>
            </p:spPr>
            <p:txBody>
              <a:bodyPr wrap="square">
                <a:spAutoFit/>
              </a:bodyPr>
              <a:lstStyle/>
              <a:p>
                <a14:m>
                  <m:oMath xmlns:m="http://schemas.openxmlformats.org/officeDocument/2006/math">
                    <m:sSup>
                      <m:sSupPr>
                        <m:ctrlPr>
                          <a:rPr lang="vi-VN" sz="3600" b="0" i="1">
                            <a:latin typeface="Cambria Math" panose="02040503050406030204" pitchFamily="18" charset="0"/>
                          </a:rPr>
                        </m:ctrlPr>
                      </m:sSupPr>
                      <m:e>
                        <m:r>
                          <a:rPr lang="vi-VN" sz="3600" i="1">
                            <a:latin typeface="Cambria Math" panose="02040503050406030204" pitchFamily="18" charset="0"/>
                          </a:rPr>
                          <m:t>𝑀𝑥</m:t>
                        </m:r>
                      </m:e>
                      <m:sup>
                        <m:r>
                          <a:rPr lang="vi-VN" sz="3600" b="0" i="1">
                            <a:latin typeface="Cambria Math" panose="02040503050406030204" pitchFamily="18" charset="0"/>
                          </a:rPr>
                          <m:t>(1)</m:t>
                        </m:r>
                      </m:sup>
                    </m:sSup>
                  </m:oMath>
                </a14:m>
                <a:r>
                  <a:rPr lang="vi-VN" sz="3600" i="1">
                    <a:latin typeface="Cambria Math" panose="02040503050406030204" pitchFamily="18" charset="0"/>
                  </a:rPr>
                  <a:t> </a:t>
                </a:r>
                <a14:m>
                  <m:oMath xmlns:m="http://schemas.openxmlformats.org/officeDocument/2006/math">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3"/>
                                  <m:mcJc m:val="center"/>
                                </m:mcPr>
                              </m:mc>
                            </m:mcs>
                            <m:ctrlPr>
                              <a:rPr lang="vi-VN" sz="3600" i="1">
                                <a:latin typeface="Cambria Math" panose="02040503050406030204" pitchFamily="18" charset="0"/>
                              </a:rPr>
                            </m:ctrlPr>
                          </m:mPr>
                          <m:mr>
                            <m:e>
                              <m:r>
                                <m:rPr>
                                  <m:brk m:alnAt="7"/>
                                </m:rPr>
                                <a:rPr lang="vi-VN" sz="3600" i="1">
                                  <a:latin typeface="Cambria Math" panose="02040503050406030204" pitchFamily="18" charset="0"/>
                                </a:rPr>
                                <m:t>0</m:t>
                              </m:r>
                            </m:e>
                            <m:e>
                              <m:r>
                                <a:rPr lang="vi-VN" sz="3600" i="1">
                                  <a:latin typeface="Cambria Math" panose="02040503050406030204" pitchFamily="18" charset="0"/>
                                </a:rPr>
                                <m:t>1/6</m:t>
                              </m:r>
                            </m:e>
                            <m:e>
                              <m:r>
                                <a:rPr lang="vi-VN" sz="3600" i="1">
                                  <a:latin typeface="Cambria Math" panose="02040503050406030204" pitchFamily="18" charset="0"/>
                                </a:rPr>
                                <m:t>5/6</m:t>
                              </m:r>
                            </m:e>
                          </m:mr>
                          <m:mr>
                            <m:e>
                              <m:r>
                                <a:rPr lang="vi-VN" sz="3600" i="1">
                                  <a:latin typeface="Cambria Math" panose="02040503050406030204" pitchFamily="18" charset="0"/>
                                </a:rPr>
                                <m:t>1/3</m:t>
                              </m:r>
                            </m:e>
                            <m:e>
                              <m:r>
                                <a:rPr lang="vi-VN" sz="3600" i="1">
                                  <a:latin typeface="Cambria Math" panose="02040503050406030204" pitchFamily="18" charset="0"/>
                                </a:rPr>
                                <m:t>1/2</m:t>
                              </m:r>
                            </m:e>
                            <m:e>
                              <m:r>
                                <a:rPr lang="vi-VN" sz="3600" i="1">
                                  <a:latin typeface="Cambria Math" panose="02040503050406030204" pitchFamily="18" charset="0"/>
                                </a:rPr>
                                <m:t>1/6</m:t>
                              </m:r>
                            </m:e>
                          </m:mr>
                          <m:mr>
                            <m:e>
                              <m:r>
                                <a:rPr lang="vi-VN" sz="3600" i="1">
                                  <a:latin typeface="Cambria Math" panose="02040503050406030204" pitchFamily="18" charset="0"/>
                                </a:rPr>
                                <m:t>2/3</m:t>
                              </m:r>
                            </m:e>
                            <m:e>
                              <m:r>
                                <a:rPr lang="vi-VN" sz="3600" i="1">
                                  <a:latin typeface="Cambria Math" panose="02040503050406030204" pitchFamily="18" charset="0"/>
                                </a:rPr>
                                <m:t>1/3</m:t>
                              </m:r>
                            </m:e>
                            <m:e>
                              <m:r>
                                <a:rPr lang="vi-VN" sz="3600" i="1">
                                  <a:latin typeface="Cambria Math" panose="02040503050406030204" pitchFamily="18" charset="0"/>
                                </a:rPr>
                                <m:t>0</m:t>
                              </m:r>
                            </m:e>
                          </m:mr>
                        </m:m>
                      </m:e>
                    </m:d>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solidFill>
                                    <a:schemeClr val="accent1"/>
                                  </a:solidFill>
                                  <a:latin typeface="Cambria Math" panose="02040503050406030204" pitchFamily="18" charset="0"/>
                                </a:rPr>
                                <m:t>1</m:t>
                              </m:r>
                            </m:e>
                          </m:mr>
                          <m:mr>
                            <m:e>
                              <m:r>
                                <a:rPr lang="vi-VN" sz="3600" b="0" i="1">
                                  <a:solidFill>
                                    <a:srgbClr val="FF0000"/>
                                  </a:solidFill>
                                  <a:latin typeface="Cambria Math" panose="02040503050406030204" pitchFamily="18" charset="0"/>
                                </a:rPr>
                                <m:t>0</m:t>
                              </m:r>
                            </m:e>
                          </m:mr>
                          <m:mr>
                            <m:e>
                              <m:r>
                                <a:rPr lang="vi-VN" sz="3600" b="0" i="1">
                                  <a:solidFill>
                                    <a:schemeClr val="accent2"/>
                                  </a:solidFill>
                                  <a:latin typeface="Cambria Math" panose="02040503050406030204" pitchFamily="18" charset="0"/>
                                </a:rPr>
                                <m:t>0</m:t>
                              </m:r>
                            </m:e>
                          </m:mr>
                        </m:m>
                      </m:e>
                    </m:d>
                  </m:oMath>
                </a14:m>
                <a:r>
                  <a:rPr lang="vi-VN" sz="3600" b="0" i="1"/>
                  <a:t> </a:t>
                </a:r>
                <a14:m>
                  <m:oMath xmlns:m="http://schemas.openxmlformats.org/officeDocument/2006/math">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solidFill>
                                    <a:schemeClr val="accent1"/>
                                  </a:solidFill>
                                  <a:latin typeface="Cambria Math" panose="02040503050406030204" pitchFamily="18" charset="0"/>
                                </a:rPr>
                                <m:t>0</m:t>
                              </m:r>
                            </m:e>
                          </m:mr>
                          <m:mr>
                            <m:e>
                              <m:r>
                                <a:rPr lang="vi-VN" sz="3600" b="0" i="1">
                                  <a:solidFill>
                                    <a:srgbClr val="FF0000"/>
                                  </a:solidFill>
                                  <a:latin typeface="Cambria Math" panose="02040503050406030204" pitchFamily="18" charset="0"/>
                                </a:rPr>
                                <m:t>1/3</m:t>
                              </m:r>
                            </m:e>
                          </m:mr>
                          <m:mr>
                            <m:e>
                              <m:r>
                                <a:rPr lang="vi-VN" sz="3600" b="0" i="1">
                                  <a:solidFill>
                                    <a:schemeClr val="accent2"/>
                                  </a:solidFill>
                                  <a:latin typeface="Cambria Math" panose="02040503050406030204" pitchFamily="18" charset="0"/>
                                </a:rPr>
                                <m:t>2/3</m:t>
                              </m:r>
                            </m:e>
                          </m:mr>
                        </m:m>
                      </m:e>
                    </m:d>
                  </m:oMath>
                </a14:m>
                <a:endParaRPr lang="en-VN" sz="3600" i="1"/>
              </a:p>
            </p:txBody>
          </p:sp>
        </mc:Choice>
        <mc:Fallback xmlns="">
          <p:sp>
            <p:nvSpPr>
              <p:cNvPr id="6" name="TextBox 5">
                <a:extLst>
                  <a:ext uri="{FF2B5EF4-FFF2-40B4-BE49-F238E27FC236}">
                    <a16:creationId xmlns:a16="http://schemas.microsoft.com/office/drawing/2014/main" id="{C6682D3B-9066-5D2F-70B1-330ACF9BCFB0}"/>
                  </a:ext>
                </a:extLst>
              </p:cNvPr>
              <p:cNvSpPr txBox="1">
                <a:spLocks noRot="1" noChangeAspect="1" noMove="1" noResize="1" noEditPoints="1" noAdjustHandles="1" noChangeArrowheads="1" noChangeShapeType="1" noTextEdit="1"/>
              </p:cNvSpPr>
              <p:nvPr/>
            </p:nvSpPr>
            <p:spPr>
              <a:xfrm>
                <a:off x="838200" y="2378096"/>
                <a:ext cx="8311375" cy="1713033"/>
              </a:xfrm>
              <a:prstGeom prst="rect">
                <a:avLst/>
              </a:prstGeom>
              <a:blipFill>
                <a:blip r:embed="rId2"/>
                <a:stretch>
                  <a:fillRect l="-916" b="-8824"/>
                </a:stretch>
              </a:blipFill>
            </p:spPr>
            <p:txBody>
              <a:bodyPr/>
              <a:lstStyle/>
              <a:p>
                <a:r>
                  <a:rPr lang="en-VN">
                    <a:noFill/>
                  </a:rPr>
                  <a:t> </a:t>
                </a:r>
              </a:p>
            </p:txBody>
          </p:sp>
        </mc:Fallback>
      </mc:AlternateContent>
      <p:sp>
        <p:nvSpPr>
          <p:cNvPr id="7" name="Content Placeholder 2">
            <a:extLst>
              <a:ext uri="{FF2B5EF4-FFF2-40B4-BE49-F238E27FC236}">
                <a16:creationId xmlns:a16="http://schemas.microsoft.com/office/drawing/2014/main" id="{273B29A3-5BF3-E552-2FCF-0E873156FC0D}"/>
              </a:ext>
            </a:extLst>
          </p:cNvPr>
          <p:cNvSpPr txBox="1">
            <a:spLocks/>
          </p:cNvSpPr>
          <p:nvPr/>
        </p:nvSpPr>
        <p:spPr>
          <a:xfrm>
            <a:off x="4259766" y="4999528"/>
            <a:ext cx="7315200" cy="552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a:t>Viên bi sẽ có 1/3 cơ hội ở lỗ </a:t>
            </a:r>
            <a:r>
              <a:rPr lang="en-VN" b="1">
                <a:solidFill>
                  <a:srgbClr val="FF0000"/>
                </a:solidFill>
              </a:rPr>
              <a:t>Đỏ</a:t>
            </a:r>
            <a:r>
              <a:rPr lang="en-VN"/>
              <a:t> và 2/3 ở lỗ </a:t>
            </a:r>
            <a:r>
              <a:rPr lang="en-VN" b="1">
                <a:solidFill>
                  <a:srgbClr val="FFC000"/>
                </a:solidFill>
              </a:rPr>
              <a:t>Vàng</a:t>
            </a:r>
          </a:p>
        </p:txBody>
      </p:sp>
      <p:cxnSp>
        <p:nvCxnSpPr>
          <p:cNvPr id="9" name="Straight Arrow Connector 8">
            <a:extLst>
              <a:ext uri="{FF2B5EF4-FFF2-40B4-BE49-F238E27FC236}">
                <a16:creationId xmlns:a16="http://schemas.microsoft.com/office/drawing/2014/main" id="{D4E8E76A-398B-AD6F-BB60-70252F16288A}"/>
              </a:ext>
            </a:extLst>
          </p:cNvPr>
          <p:cNvCxnSpPr>
            <a:cxnSpLocks/>
            <a:stCxn id="7" idx="0"/>
          </p:cNvCxnSpPr>
          <p:nvPr/>
        </p:nvCxnSpPr>
        <p:spPr>
          <a:xfrm flipV="1">
            <a:off x="7917366" y="4117141"/>
            <a:ext cx="0" cy="88238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D7792A2D-33CA-2117-FC03-E61456B8F23B}"/>
              </a:ext>
            </a:extLst>
          </p:cNvPr>
          <p:cNvSpPr/>
          <p:nvPr/>
        </p:nvSpPr>
        <p:spPr>
          <a:xfrm>
            <a:off x="838199" y="5671358"/>
            <a:ext cx="6260024" cy="10407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97BCE50C-A526-1D96-943D-BC45FCCB2026}"/>
              </a:ext>
            </a:extLst>
          </p:cNvPr>
          <p:cNvSpPr txBox="1"/>
          <p:nvPr/>
        </p:nvSpPr>
        <p:spPr>
          <a:xfrm>
            <a:off x="993182" y="5865514"/>
            <a:ext cx="6105041" cy="646331"/>
          </a:xfrm>
          <a:prstGeom prst="rect">
            <a:avLst/>
          </a:prstGeom>
          <a:noFill/>
        </p:spPr>
        <p:txBody>
          <a:bodyPr wrap="square" rtlCol="0">
            <a:spAutoFit/>
          </a:bodyPr>
          <a:lstStyle/>
          <a:p>
            <a:r>
              <a:rPr lang="en-VN" sz="3600">
                <a:solidFill>
                  <a:srgbClr val="FF0000"/>
                </a:solidFill>
              </a:rPr>
              <a:t>Xác suất viên bi được bảo toàn!</a:t>
            </a:r>
          </a:p>
        </p:txBody>
      </p:sp>
    </p:spTree>
    <p:extLst>
      <p:ext uri="{BB962C8B-B14F-4D97-AF65-F5344CB8AC3E}">
        <p14:creationId xmlns:p14="http://schemas.microsoft.com/office/powerpoint/2010/main" val="1647676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91AAF-2D32-F188-CB4D-95FD107161B2}"/>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2786C3D3-D99E-CCAB-E72C-17808699CAFC}"/>
              </a:ext>
            </a:extLst>
          </p:cNvPr>
          <p:cNvSpPr/>
          <p:nvPr/>
        </p:nvSpPr>
        <p:spPr>
          <a:xfrm>
            <a:off x="3153936" y="1498410"/>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6FDD95CD-4771-E4C5-D470-3C19891909AD}"/>
              </a:ext>
            </a:extLst>
          </p:cNvPr>
          <p:cNvSpPr>
            <a:spLocks noGrp="1"/>
          </p:cNvSpPr>
          <p:nvPr>
            <p:ph type="title"/>
          </p:nvPr>
        </p:nvSpPr>
        <p:spPr>
          <a:xfrm>
            <a:off x="493486" y="26"/>
            <a:ext cx="10022114" cy="1325563"/>
          </a:xfrm>
        </p:spPr>
        <p:txBody>
          <a:bodyPr/>
          <a:lstStyle/>
          <a:p>
            <a:r>
              <a:rPr lang="en-US"/>
              <a:t>Bi lượng tử</a:t>
            </a:r>
            <a:endParaRPr lang="en-US" dirty="0"/>
          </a:p>
        </p:txBody>
      </p:sp>
      <p:sp>
        <p:nvSpPr>
          <p:cNvPr id="4" name="Chỗ dành sẵn cho Số hiệu Bản chiếu 3">
            <a:extLst>
              <a:ext uri="{FF2B5EF4-FFF2-40B4-BE49-F238E27FC236}">
                <a16:creationId xmlns:a16="http://schemas.microsoft.com/office/drawing/2014/main" id="{2B0AD11B-903C-6A94-BDE3-767B79A88BAE}"/>
              </a:ext>
            </a:extLst>
          </p:cNvPr>
          <p:cNvSpPr>
            <a:spLocks noGrp="1"/>
          </p:cNvSpPr>
          <p:nvPr>
            <p:ph type="sldNum" sz="quarter" idx="12"/>
          </p:nvPr>
        </p:nvSpPr>
        <p:spPr/>
        <p:txBody>
          <a:bodyPr/>
          <a:lstStyle/>
          <a:p>
            <a:fld id="{74ABBA0F-ED8F-4A6E-AA06-FEAFBF3D52EE}" type="slidenum">
              <a:rPr lang="en-US" smtClean="0"/>
              <a:t>8</a:t>
            </a:fld>
            <a:endParaRPr lang="en-US"/>
          </a:p>
        </p:txBody>
      </p:sp>
      <p:sp>
        <p:nvSpPr>
          <p:cNvPr id="6" name="Oval 5">
            <a:extLst>
              <a:ext uri="{FF2B5EF4-FFF2-40B4-BE49-F238E27FC236}">
                <a16:creationId xmlns:a16="http://schemas.microsoft.com/office/drawing/2014/main" id="{F3804F84-F4CE-41B5-41B5-2A70D4ADBBFB}"/>
              </a:ext>
            </a:extLst>
          </p:cNvPr>
          <p:cNvSpPr/>
          <p:nvPr/>
        </p:nvSpPr>
        <p:spPr>
          <a:xfrm>
            <a:off x="3327473" y="544799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56719657-7C98-B096-8B20-BB9765D1A6B8}"/>
              </a:ext>
            </a:extLst>
          </p:cNvPr>
          <p:cNvSpPr txBox="1"/>
          <p:nvPr/>
        </p:nvSpPr>
        <p:spPr>
          <a:xfrm>
            <a:off x="4262317" y="2507595"/>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3F6D083B-0ABE-6B1F-FEAD-118221685CC2}"/>
              </a:ext>
            </a:extLst>
          </p:cNvPr>
          <p:cNvSpPr txBox="1"/>
          <p:nvPr/>
        </p:nvSpPr>
        <p:spPr>
          <a:xfrm>
            <a:off x="4105874" y="6421388"/>
            <a:ext cx="791138" cy="523220"/>
          </a:xfrm>
          <a:prstGeom prst="rect">
            <a:avLst/>
          </a:prstGeom>
          <a:noFill/>
        </p:spPr>
        <p:txBody>
          <a:bodyPr wrap="square" rtlCol="0">
            <a:spAutoFit/>
          </a:bodyPr>
          <a:lstStyle/>
          <a:p>
            <a:r>
              <a:rPr lang="en-VN" sz="2800"/>
              <a:t>2</a:t>
            </a:r>
          </a:p>
        </p:txBody>
      </p:sp>
      <p:sp>
        <p:nvSpPr>
          <p:cNvPr id="5" name="Oval 4">
            <a:extLst>
              <a:ext uri="{FF2B5EF4-FFF2-40B4-BE49-F238E27FC236}">
                <a16:creationId xmlns:a16="http://schemas.microsoft.com/office/drawing/2014/main" id="{5D9A895A-DF91-6ACD-F214-63AE70FF39F3}"/>
              </a:ext>
            </a:extLst>
          </p:cNvPr>
          <p:cNvSpPr>
            <a:spLocks noChangeAspect="1"/>
          </p:cNvSpPr>
          <p:nvPr/>
        </p:nvSpPr>
        <p:spPr>
          <a:xfrm>
            <a:off x="1587127" y="1182032"/>
            <a:ext cx="5300624" cy="5300624"/>
          </a:xfrm>
          <a:prstGeom prst="ellipse">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Oval 7">
            <a:extLst>
              <a:ext uri="{FF2B5EF4-FFF2-40B4-BE49-F238E27FC236}">
                <a16:creationId xmlns:a16="http://schemas.microsoft.com/office/drawing/2014/main" id="{B56D135D-2B14-1998-7C77-A6D490084CA0}"/>
              </a:ext>
            </a:extLst>
          </p:cNvPr>
          <p:cNvSpPr>
            <a:spLocks noChangeAspect="1"/>
          </p:cNvSpPr>
          <p:nvPr/>
        </p:nvSpPr>
        <p:spPr>
          <a:xfrm>
            <a:off x="3519335" y="4977593"/>
            <a:ext cx="742981" cy="742981"/>
          </a:xfrm>
          <a:prstGeom prst="ellipse">
            <a:avLst/>
          </a:prstGeom>
          <a:solidFill>
            <a:schemeClr val="bg1">
              <a:alpha val="61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Oval 8">
            <a:extLst>
              <a:ext uri="{FF2B5EF4-FFF2-40B4-BE49-F238E27FC236}">
                <a16:creationId xmlns:a16="http://schemas.microsoft.com/office/drawing/2014/main" id="{4084FD2D-2D70-A79B-839B-E488B76B4524}"/>
              </a:ext>
            </a:extLst>
          </p:cNvPr>
          <p:cNvSpPr>
            <a:spLocks noChangeAspect="1"/>
          </p:cNvSpPr>
          <p:nvPr/>
        </p:nvSpPr>
        <p:spPr>
          <a:xfrm>
            <a:off x="3919869" y="1591793"/>
            <a:ext cx="742981" cy="742981"/>
          </a:xfrm>
          <a:prstGeom prst="ellipse">
            <a:avLst/>
          </a:prstGeom>
          <a:solidFill>
            <a:schemeClr val="bg1">
              <a:alpha val="61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Content Placeholder 2">
            <a:extLst>
              <a:ext uri="{FF2B5EF4-FFF2-40B4-BE49-F238E27FC236}">
                <a16:creationId xmlns:a16="http://schemas.microsoft.com/office/drawing/2014/main" id="{B42A253F-E42B-DF42-ADAC-C26B1D716C3C}"/>
              </a:ext>
            </a:extLst>
          </p:cNvPr>
          <p:cNvSpPr>
            <a:spLocks noGrp="1"/>
          </p:cNvSpPr>
          <p:nvPr>
            <p:ph idx="1"/>
          </p:nvPr>
        </p:nvSpPr>
        <p:spPr>
          <a:xfrm>
            <a:off x="5504543" y="310457"/>
            <a:ext cx="4845256" cy="1063243"/>
          </a:xfrm>
        </p:spPr>
        <p:txBody>
          <a:bodyPr>
            <a:normAutofit/>
          </a:bodyPr>
          <a:lstStyle/>
          <a:p>
            <a:pPr marL="0" indent="0">
              <a:buNone/>
            </a:pPr>
            <a:r>
              <a:rPr lang="en-VN" sz="3200"/>
              <a:t>1 viên đi đang ở lỗ </a:t>
            </a:r>
            <a:r>
              <a:rPr lang="en-VN" sz="3200" b="1">
                <a:solidFill>
                  <a:schemeClr val="accent1"/>
                </a:solidFill>
              </a:rPr>
              <a:t>Xanh</a:t>
            </a:r>
            <a:r>
              <a:rPr lang="en-VN" sz="3200"/>
              <a:t>, hoặc lỗ </a:t>
            </a:r>
            <a:r>
              <a:rPr lang="en-VN" sz="3200" b="1">
                <a:solidFill>
                  <a:srgbClr val="FF0000"/>
                </a:solidFill>
              </a:rPr>
              <a:t>Đỏ</a:t>
            </a:r>
            <a:r>
              <a:rPr lang="en-VN" sz="3200"/>
              <a:t>, hoặc ở đâu đó</a:t>
            </a:r>
          </a:p>
        </p:txBody>
      </p:sp>
      <p:sp>
        <p:nvSpPr>
          <p:cNvPr id="12" name="Content Placeholder 2">
            <a:extLst>
              <a:ext uri="{FF2B5EF4-FFF2-40B4-BE49-F238E27FC236}">
                <a16:creationId xmlns:a16="http://schemas.microsoft.com/office/drawing/2014/main" id="{00676733-EEA8-0CE9-1E33-EC26EB4BA22D}"/>
              </a:ext>
            </a:extLst>
          </p:cNvPr>
          <p:cNvSpPr txBox="1">
            <a:spLocks/>
          </p:cNvSpPr>
          <p:nvPr/>
        </p:nvSpPr>
        <p:spPr>
          <a:xfrm>
            <a:off x="6205469" y="5838022"/>
            <a:ext cx="4845256" cy="10340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200"/>
              <a:t>Vùng không gian chắc chắn tìm thấy viên bi</a:t>
            </a:r>
          </a:p>
        </p:txBody>
      </p:sp>
      <p:sp>
        <p:nvSpPr>
          <p:cNvPr id="13" name="Up Arrow 12">
            <a:extLst>
              <a:ext uri="{FF2B5EF4-FFF2-40B4-BE49-F238E27FC236}">
                <a16:creationId xmlns:a16="http://schemas.microsoft.com/office/drawing/2014/main" id="{B7CEDAF5-EBB2-C268-6EFC-37FD0A1C632F}"/>
              </a:ext>
            </a:extLst>
          </p:cNvPr>
          <p:cNvSpPr/>
          <p:nvPr/>
        </p:nvSpPr>
        <p:spPr>
          <a:xfrm rot="18066314">
            <a:off x="6200870" y="5100786"/>
            <a:ext cx="414380" cy="742981"/>
          </a:xfrm>
          <a:prstGeom prst="upArrow">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1" name="U-Turn Arrow 30">
            <a:extLst>
              <a:ext uri="{FF2B5EF4-FFF2-40B4-BE49-F238E27FC236}">
                <a16:creationId xmlns:a16="http://schemas.microsoft.com/office/drawing/2014/main" id="{C9A41C85-9D00-EA2A-162D-605C9B6EFCEE}"/>
              </a:ext>
            </a:extLst>
          </p:cNvPr>
          <p:cNvSpPr/>
          <p:nvPr/>
        </p:nvSpPr>
        <p:spPr>
          <a:xfrm flipH="1">
            <a:off x="4411611" y="878285"/>
            <a:ext cx="668181" cy="1063243"/>
          </a:xfrm>
          <a:prstGeom prst="uturnArrow">
            <a:avLst>
              <a:gd name="adj1" fmla="val 21047"/>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4" name="U-Turn Arrow 13">
            <a:extLst>
              <a:ext uri="{FF2B5EF4-FFF2-40B4-BE49-F238E27FC236}">
                <a16:creationId xmlns:a16="http://schemas.microsoft.com/office/drawing/2014/main" id="{7EDC939F-40DB-796F-EDEA-467372BEB7E7}"/>
              </a:ext>
            </a:extLst>
          </p:cNvPr>
          <p:cNvSpPr/>
          <p:nvPr/>
        </p:nvSpPr>
        <p:spPr>
          <a:xfrm flipH="1">
            <a:off x="4395480" y="4792542"/>
            <a:ext cx="668181" cy="1063243"/>
          </a:xfrm>
          <a:prstGeom prst="uturnArrow">
            <a:avLst>
              <a:gd name="adj1" fmla="val 21047"/>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AFEDA23-67D6-9EC6-397D-849E7F6E55C0}"/>
                  </a:ext>
                </a:extLst>
              </p:cNvPr>
              <p:cNvSpPr txBox="1"/>
              <p:nvPr/>
            </p:nvSpPr>
            <p:spPr>
              <a:xfrm>
                <a:off x="4026201" y="234712"/>
                <a:ext cx="1312541" cy="5739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800" i="1">
                          <a:latin typeface="Cambria Math" panose="02040503050406030204" pitchFamily="18" charset="0"/>
                        </a:rPr>
                        <m:t>1</m:t>
                      </m:r>
                      <m:r>
                        <a:rPr lang="en-VN" sz="2800" i="1">
                          <a:latin typeface="Cambria Math" panose="02040503050406030204" pitchFamily="18" charset="0"/>
                        </a:rPr>
                        <m:t>/</m:t>
                      </m:r>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e>
                      </m:rad>
                    </m:oMath>
                  </m:oMathPara>
                </a14:m>
                <a:endParaRPr/>
              </a:p>
            </p:txBody>
          </p:sp>
        </mc:Choice>
        <mc:Fallback xmlns="">
          <p:sp>
            <p:nvSpPr>
              <p:cNvPr id="15" name="TextBox 14">
                <a:extLst>
                  <a:ext uri="{FF2B5EF4-FFF2-40B4-BE49-F238E27FC236}">
                    <a16:creationId xmlns:a16="http://schemas.microsoft.com/office/drawing/2014/main" id="{CAFEDA23-67D6-9EC6-397D-849E7F6E55C0}"/>
                  </a:ext>
                </a:extLst>
              </p:cNvPr>
              <p:cNvSpPr txBox="1">
                <a:spLocks noRot="1" noChangeAspect="1" noMove="1" noResize="1" noEditPoints="1" noAdjustHandles="1" noChangeArrowheads="1" noChangeShapeType="1" noTextEdit="1"/>
              </p:cNvSpPr>
              <p:nvPr/>
            </p:nvSpPr>
            <p:spPr>
              <a:xfrm>
                <a:off x="4026201" y="234712"/>
                <a:ext cx="1312541" cy="573940"/>
              </a:xfrm>
              <a:prstGeom prst="rect">
                <a:avLst/>
              </a:prstGeom>
              <a:blipFill>
                <a:blip r:embed="rId2"/>
                <a:stretch>
                  <a:fillRect t="-2174" r="-2857" b="-2826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2EF4292-340E-BECC-8530-7FA9DBD48329}"/>
                  </a:ext>
                </a:extLst>
              </p:cNvPr>
              <p:cNvSpPr txBox="1"/>
              <p:nvPr/>
            </p:nvSpPr>
            <p:spPr>
              <a:xfrm>
                <a:off x="4218565" y="4124556"/>
                <a:ext cx="1312541" cy="573940"/>
              </a:xfrm>
              <a:prstGeom prst="rect">
                <a:avLst/>
              </a:prstGeom>
              <a:noFill/>
            </p:spPr>
            <p:txBody>
              <a:bodyPr wrap="square" rtlCol="0">
                <a:spAutoFit/>
              </a:bodyPr>
              <a:lstStyle/>
              <a:p>
                <a:r>
                  <a:rPr lang="en-VN" sz="2800"/>
                  <a:t>1</a:t>
                </a:r>
                <a14:m>
                  <m:oMath xmlns:m="http://schemas.openxmlformats.org/officeDocument/2006/math">
                    <m:r>
                      <a:rPr lang="en-VN" sz="2800" i="1">
                        <a:latin typeface="Cambria Math" panose="02040503050406030204" pitchFamily="18" charset="0"/>
                      </a:rPr>
                      <m:t>/</m:t>
                    </m:r>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e>
                    </m:rad>
                  </m:oMath>
                </a14:m>
                <a:endParaRPr lang="en-VN" sz="2800"/>
              </a:p>
            </p:txBody>
          </p:sp>
        </mc:Choice>
        <mc:Fallback xmlns="">
          <p:sp>
            <p:nvSpPr>
              <p:cNvPr id="28" name="TextBox 27">
                <a:extLst>
                  <a:ext uri="{FF2B5EF4-FFF2-40B4-BE49-F238E27FC236}">
                    <a16:creationId xmlns:a16="http://schemas.microsoft.com/office/drawing/2014/main" id="{82EF4292-340E-BECC-8530-7FA9DBD48329}"/>
                  </a:ext>
                </a:extLst>
              </p:cNvPr>
              <p:cNvSpPr txBox="1">
                <a:spLocks noRot="1" noChangeAspect="1" noMove="1" noResize="1" noEditPoints="1" noAdjustHandles="1" noChangeArrowheads="1" noChangeShapeType="1" noTextEdit="1"/>
              </p:cNvSpPr>
              <p:nvPr/>
            </p:nvSpPr>
            <p:spPr>
              <a:xfrm>
                <a:off x="4218565" y="4124556"/>
                <a:ext cx="1312541" cy="573940"/>
              </a:xfrm>
              <a:prstGeom prst="rect">
                <a:avLst/>
              </a:prstGeom>
              <a:blipFill>
                <a:blip r:embed="rId3"/>
                <a:stretch>
                  <a:fillRect l="-9615" t="-2128" b="-25532"/>
                </a:stretch>
              </a:blipFill>
            </p:spPr>
            <p:txBody>
              <a:bodyPr/>
              <a:lstStyle/>
              <a:p>
                <a:r>
                  <a:rPr lang="en-VN">
                    <a:noFill/>
                  </a:rPr>
                  <a:t> </a:t>
                </a:r>
              </a:p>
            </p:txBody>
          </p:sp>
        </mc:Fallback>
      </mc:AlternateContent>
      <p:sp>
        <p:nvSpPr>
          <p:cNvPr id="34" name="Arc 33">
            <a:extLst>
              <a:ext uri="{FF2B5EF4-FFF2-40B4-BE49-F238E27FC236}">
                <a16:creationId xmlns:a16="http://schemas.microsoft.com/office/drawing/2014/main" id="{DC58DB5D-A507-D82A-C57C-B4853DEC5BDE}"/>
              </a:ext>
            </a:extLst>
          </p:cNvPr>
          <p:cNvSpPr/>
          <p:nvPr/>
        </p:nvSpPr>
        <p:spPr>
          <a:xfrm rot="259711">
            <a:off x="4125832" y="2060543"/>
            <a:ext cx="2183301" cy="3784561"/>
          </a:xfrm>
          <a:prstGeom prst="arc">
            <a:avLst>
              <a:gd name="adj1" fmla="val 16508197"/>
              <a:gd name="adj2" fmla="val 4945759"/>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p:sp>
        <p:nvSpPr>
          <p:cNvPr id="39" name="Arc 38">
            <a:extLst>
              <a:ext uri="{FF2B5EF4-FFF2-40B4-BE49-F238E27FC236}">
                <a16:creationId xmlns:a16="http://schemas.microsoft.com/office/drawing/2014/main" id="{7832729F-27EA-76DB-ECE2-9E7AA039B298}"/>
              </a:ext>
            </a:extLst>
          </p:cNvPr>
          <p:cNvSpPr/>
          <p:nvPr/>
        </p:nvSpPr>
        <p:spPr>
          <a:xfrm rot="10800000">
            <a:off x="2084010" y="1963282"/>
            <a:ext cx="2257756" cy="3784561"/>
          </a:xfrm>
          <a:prstGeom prst="arc">
            <a:avLst>
              <a:gd name="adj1" fmla="val 16508197"/>
              <a:gd name="adj2" fmla="val 5020713"/>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F901D1A-CE75-BEB5-F961-F38BB6EEB713}"/>
                  </a:ext>
                </a:extLst>
              </p:cNvPr>
              <p:cNvSpPr txBox="1"/>
              <p:nvPr/>
            </p:nvSpPr>
            <p:spPr>
              <a:xfrm>
                <a:off x="5073802" y="3296140"/>
                <a:ext cx="1312541" cy="5739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800" b="0" i="1">
                          <a:latin typeface="Cambria Math" panose="02040503050406030204" pitchFamily="18" charset="0"/>
                        </a:rPr>
                        <m:t>1</m:t>
                      </m:r>
                      <m:r>
                        <a:rPr lang="en-VN" sz="2800" i="1">
                          <a:latin typeface="Cambria Math" panose="02040503050406030204" pitchFamily="18" charset="0"/>
                        </a:rPr>
                        <m:t>/</m:t>
                      </m:r>
                      <m:rad>
                        <m:radPr>
                          <m:degHide m:val="on"/>
                          <m:ctrlPr>
                            <a:rPr lang="vi-VN" sz="2800" i="1">
                              <a:latin typeface="Cambria Math" panose="02040503050406030204" pitchFamily="18" charset="0"/>
                            </a:rPr>
                          </m:ctrlPr>
                        </m:radPr>
                        <m:deg/>
                        <m:e>
                          <m:r>
                            <a:rPr lang="vi-VN" sz="2800" i="1">
                              <a:latin typeface="Cambria Math" panose="02040503050406030204" pitchFamily="18" charset="0"/>
                            </a:rPr>
                            <m:t>2</m:t>
                          </m:r>
                        </m:e>
                      </m:rad>
                    </m:oMath>
                  </m:oMathPara>
                </a14:m>
                <a:endParaRPr/>
              </a:p>
            </p:txBody>
          </p:sp>
        </mc:Choice>
        <mc:Fallback xmlns="">
          <p:sp>
            <p:nvSpPr>
              <p:cNvPr id="40" name="TextBox 39">
                <a:extLst>
                  <a:ext uri="{FF2B5EF4-FFF2-40B4-BE49-F238E27FC236}">
                    <a16:creationId xmlns:a16="http://schemas.microsoft.com/office/drawing/2014/main" id="{1F901D1A-CE75-BEB5-F961-F38BB6EEB713}"/>
                  </a:ext>
                </a:extLst>
              </p:cNvPr>
              <p:cNvSpPr txBox="1">
                <a:spLocks noRot="1" noChangeAspect="1" noMove="1" noResize="1" noEditPoints="1" noAdjustHandles="1" noChangeArrowheads="1" noChangeShapeType="1" noTextEdit="1"/>
              </p:cNvSpPr>
              <p:nvPr/>
            </p:nvSpPr>
            <p:spPr>
              <a:xfrm>
                <a:off x="5073802" y="3296140"/>
                <a:ext cx="1312541" cy="573940"/>
              </a:xfrm>
              <a:prstGeom prst="rect">
                <a:avLst/>
              </a:prstGeom>
              <a:blipFill>
                <a:blip r:embed="rId4"/>
                <a:stretch>
                  <a:fillRect t="-2174" r="-1905" b="-2826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0A9807A-BC74-3453-95E4-0ABDF500B145}"/>
                  </a:ext>
                </a:extLst>
              </p:cNvPr>
              <p:cNvSpPr txBox="1"/>
              <p:nvPr/>
            </p:nvSpPr>
            <p:spPr>
              <a:xfrm>
                <a:off x="2084010" y="3756462"/>
                <a:ext cx="1312541" cy="5739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800" b="0" i="1">
                          <a:latin typeface="Cambria Math" panose="02040503050406030204" pitchFamily="18" charset="0"/>
                        </a:rPr>
                        <m:t>1</m:t>
                      </m:r>
                      <m:r>
                        <a:rPr lang="en-VN" sz="2800" i="1">
                          <a:latin typeface="Cambria Math" panose="02040503050406030204" pitchFamily="18" charset="0"/>
                        </a:rPr>
                        <m:t>/</m:t>
                      </m:r>
                      <m:rad>
                        <m:radPr>
                          <m:degHide m:val="on"/>
                          <m:ctrlPr>
                            <a:rPr lang="vi-VN" sz="2800" i="1">
                              <a:latin typeface="Cambria Math" panose="02040503050406030204" pitchFamily="18" charset="0"/>
                            </a:rPr>
                          </m:ctrlPr>
                        </m:radPr>
                        <m:deg/>
                        <m:e>
                          <m:r>
                            <a:rPr lang="vi-VN" sz="2800" i="1">
                              <a:latin typeface="Cambria Math" panose="02040503050406030204" pitchFamily="18" charset="0"/>
                            </a:rPr>
                            <m:t>2</m:t>
                          </m:r>
                        </m:e>
                      </m:rad>
                    </m:oMath>
                  </m:oMathPara>
                </a14:m>
                <a:endParaRPr/>
              </a:p>
            </p:txBody>
          </p:sp>
        </mc:Choice>
        <mc:Fallback xmlns="">
          <p:sp>
            <p:nvSpPr>
              <p:cNvPr id="41" name="TextBox 40">
                <a:extLst>
                  <a:ext uri="{FF2B5EF4-FFF2-40B4-BE49-F238E27FC236}">
                    <a16:creationId xmlns:a16="http://schemas.microsoft.com/office/drawing/2014/main" id="{70A9807A-BC74-3453-95E4-0ABDF500B145}"/>
                  </a:ext>
                </a:extLst>
              </p:cNvPr>
              <p:cNvSpPr txBox="1">
                <a:spLocks noRot="1" noChangeAspect="1" noMove="1" noResize="1" noEditPoints="1" noAdjustHandles="1" noChangeArrowheads="1" noChangeShapeType="1" noTextEdit="1"/>
              </p:cNvSpPr>
              <p:nvPr/>
            </p:nvSpPr>
            <p:spPr>
              <a:xfrm>
                <a:off x="2084010" y="3756462"/>
                <a:ext cx="1312541" cy="573940"/>
              </a:xfrm>
              <a:prstGeom prst="rect">
                <a:avLst/>
              </a:prstGeom>
              <a:blipFill>
                <a:blip r:embed="rId5"/>
                <a:stretch>
                  <a:fillRect t="-2174" r="-2885" b="-2826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E17AB6A7-1642-5222-4B77-4FC206400E41}"/>
                  </a:ext>
                </a:extLst>
              </p:cNvPr>
              <p:cNvSpPr txBox="1">
                <a:spLocks/>
              </p:cNvSpPr>
              <p:nvPr/>
            </p:nvSpPr>
            <p:spPr>
              <a:xfrm>
                <a:off x="7465442" y="2094824"/>
                <a:ext cx="4375264" cy="14593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vi-VN" sz="3600" i="1">
                        <a:latin typeface="Cambria Math" panose="02040503050406030204" pitchFamily="18" charset="0"/>
                      </a:rPr>
                      <m:t>𝐻</m:t>
                    </m:r>
                    <m:r>
                      <a:rPr lang="vi-VN" sz="3600" i="1">
                        <a:latin typeface="Cambria Math" panose="02040503050406030204" pitchFamily="18" charset="0"/>
                      </a:rPr>
                      <m:t>=   </m:t>
                    </m:r>
                    <m:d>
                      <m:dPr>
                        <m:begChr m:val="["/>
                        <m:endChr m:val="]"/>
                        <m:ctrlPr>
                          <a:rPr lang="vi-VN" sz="3600" i="1">
                            <a:latin typeface="Cambria Math" panose="02040503050406030204" pitchFamily="18" charset="0"/>
                          </a:rPr>
                        </m:ctrlPr>
                      </m:dPr>
                      <m:e>
                        <m:m>
                          <m:mPr>
                            <m:mcs>
                              <m:mc>
                                <m:mcPr>
                                  <m:count m:val="2"/>
                                  <m:mcJc m:val="center"/>
                                </m:mcPr>
                              </m:mc>
                            </m:mcs>
                            <m:ctrlPr>
                              <a:rPr lang="vi-VN" sz="3600" i="1">
                                <a:latin typeface="Cambria Math" panose="02040503050406030204" pitchFamily="18" charset="0"/>
                              </a:rPr>
                            </m:ctrlPr>
                          </m:mPr>
                          <m:mr>
                            <m:e>
                              <m:r>
                                <m:rPr>
                                  <m:brk m:alnAt="7"/>
                                </m:rP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r>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
                      </m:e>
                    </m:d>
                  </m:oMath>
                </a14:m>
                <a:r>
                  <a:rPr lang="en-VN" sz="3600" i="1"/>
                  <a:t> </a:t>
                </a:r>
              </a:p>
            </p:txBody>
          </p:sp>
        </mc:Choice>
        <mc:Fallback xmlns="">
          <p:sp>
            <p:nvSpPr>
              <p:cNvPr id="42" name="Content Placeholder 2">
                <a:extLst>
                  <a:ext uri="{FF2B5EF4-FFF2-40B4-BE49-F238E27FC236}">
                    <a16:creationId xmlns:a16="http://schemas.microsoft.com/office/drawing/2014/main" id="{E17AB6A7-1642-5222-4B77-4FC206400E41}"/>
                  </a:ext>
                </a:extLst>
              </p:cNvPr>
              <p:cNvSpPr txBox="1">
                <a:spLocks noRot="1" noChangeAspect="1" noMove="1" noResize="1" noEditPoints="1" noAdjustHandles="1" noChangeArrowheads="1" noChangeShapeType="1" noTextEdit="1"/>
              </p:cNvSpPr>
              <p:nvPr/>
            </p:nvSpPr>
            <p:spPr>
              <a:xfrm>
                <a:off x="7465442" y="2094824"/>
                <a:ext cx="4375264" cy="1459357"/>
              </a:xfrm>
              <a:prstGeom prst="rect">
                <a:avLst/>
              </a:prstGeom>
              <a:blipFill>
                <a:blip r:embed="rId6"/>
                <a:stretch>
                  <a:fillRect l="-1739"/>
                </a:stretch>
              </a:blipFill>
            </p:spPr>
            <p:txBody>
              <a:bodyPr/>
              <a:lstStyle/>
              <a:p>
                <a:r>
                  <a:rPr lang="en-VN">
                    <a:noFill/>
                  </a:rPr>
                  <a:t> </a:t>
                </a:r>
              </a:p>
            </p:txBody>
          </p:sp>
        </mc:Fallback>
      </mc:AlternateContent>
      <p:sp>
        <p:nvSpPr>
          <p:cNvPr id="43" name="Oval 42">
            <a:extLst>
              <a:ext uri="{FF2B5EF4-FFF2-40B4-BE49-F238E27FC236}">
                <a16:creationId xmlns:a16="http://schemas.microsoft.com/office/drawing/2014/main" id="{90FFD959-C329-8338-4F76-078383CE0A00}"/>
              </a:ext>
            </a:extLst>
          </p:cNvPr>
          <p:cNvSpPr>
            <a:spLocks noChangeAspect="1"/>
          </p:cNvSpPr>
          <p:nvPr/>
        </p:nvSpPr>
        <p:spPr>
          <a:xfrm>
            <a:off x="9439699" y="1841790"/>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5" name="Oval 44">
            <a:extLst>
              <a:ext uri="{FF2B5EF4-FFF2-40B4-BE49-F238E27FC236}">
                <a16:creationId xmlns:a16="http://schemas.microsoft.com/office/drawing/2014/main" id="{B80B2725-238F-FE08-26AC-5A1B3B72335D}"/>
              </a:ext>
            </a:extLst>
          </p:cNvPr>
          <p:cNvSpPr>
            <a:spLocks noChangeAspect="1"/>
          </p:cNvSpPr>
          <p:nvPr/>
        </p:nvSpPr>
        <p:spPr>
          <a:xfrm>
            <a:off x="11056710" y="1841791"/>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6" name="Oval 45">
            <a:extLst>
              <a:ext uri="{FF2B5EF4-FFF2-40B4-BE49-F238E27FC236}">
                <a16:creationId xmlns:a16="http://schemas.microsoft.com/office/drawing/2014/main" id="{7F638FD6-D950-2CF4-AC01-F695BA14C3A1}"/>
              </a:ext>
            </a:extLst>
          </p:cNvPr>
          <p:cNvSpPr>
            <a:spLocks noChangeAspect="1"/>
          </p:cNvSpPr>
          <p:nvPr/>
        </p:nvSpPr>
        <p:spPr>
          <a:xfrm>
            <a:off x="8590024" y="2290001"/>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8" name="Oval 47">
            <a:extLst>
              <a:ext uri="{FF2B5EF4-FFF2-40B4-BE49-F238E27FC236}">
                <a16:creationId xmlns:a16="http://schemas.microsoft.com/office/drawing/2014/main" id="{8F8B88A5-20D3-6325-F20E-27B4A27C8601}"/>
              </a:ext>
            </a:extLst>
          </p:cNvPr>
          <p:cNvSpPr>
            <a:spLocks noChangeAspect="1"/>
          </p:cNvSpPr>
          <p:nvPr/>
        </p:nvSpPr>
        <p:spPr>
          <a:xfrm>
            <a:off x="8590024" y="2999995"/>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9" name="TextBox 48">
            <a:extLst>
              <a:ext uri="{FF2B5EF4-FFF2-40B4-BE49-F238E27FC236}">
                <a16:creationId xmlns:a16="http://schemas.microsoft.com/office/drawing/2014/main" id="{08033C53-4D40-C430-EED8-5393B8C5B511}"/>
              </a:ext>
            </a:extLst>
          </p:cNvPr>
          <p:cNvSpPr txBox="1"/>
          <p:nvPr/>
        </p:nvSpPr>
        <p:spPr>
          <a:xfrm>
            <a:off x="10810506" y="3426178"/>
            <a:ext cx="852407" cy="646331"/>
          </a:xfrm>
          <a:prstGeom prst="rect">
            <a:avLst/>
          </a:prstGeom>
          <a:noFill/>
        </p:spPr>
        <p:txBody>
          <a:bodyPr wrap="square" rtlCol="0">
            <a:spAutoFit/>
          </a:bodyPr>
          <a:lstStyle/>
          <a:p>
            <a:r>
              <a:rPr lang="en-VN" sz="3600"/>
              <a:t>?</a:t>
            </a:r>
          </a:p>
        </p:txBody>
      </p:sp>
      <p:sp>
        <p:nvSpPr>
          <p:cNvPr id="50" name="Rectangle 49">
            <a:extLst>
              <a:ext uri="{FF2B5EF4-FFF2-40B4-BE49-F238E27FC236}">
                <a16:creationId xmlns:a16="http://schemas.microsoft.com/office/drawing/2014/main" id="{B8394893-4700-557A-C341-860D9C46327B}"/>
              </a:ext>
            </a:extLst>
          </p:cNvPr>
          <p:cNvSpPr/>
          <p:nvPr/>
        </p:nvSpPr>
        <p:spPr>
          <a:xfrm>
            <a:off x="10397963" y="2742915"/>
            <a:ext cx="1264950" cy="660950"/>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286702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4BB5B-54B6-0B8E-FFDC-5BA02F29B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56B83-7BD2-E3C8-3FDE-D0B8D476689A}"/>
              </a:ext>
            </a:extLst>
          </p:cNvPr>
          <p:cNvSpPr>
            <a:spLocks noGrp="1"/>
          </p:cNvSpPr>
          <p:nvPr>
            <p:ph type="title"/>
          </p:nvPr>
        </p:nvSpPr>
        <p:spPr/>
        <p:txBody>
          <a:bodyPr/>
          <a:lstStyle/>
          <a:p>
            <a:r>
              <a:rPr lang="en-US"/>
              <a:t>Bi lượng tử</a:t>
            </a:r>
            <a:endParaRPr lang="en-VN"/>
          </a:p>
        </p:txBody>
      </p:sp>
      <p:sp>
        <p:nvSpPr>
          <p:cNvPr id="3" name="Content Placeholder 2">
            <a:extLst>
              <a:ext uri="{FF2B5EF4-FFF2-40B4-BE49-F238E27FC236}">
                <a16:creationId xmlns:a16="http://schemas.microsoft.com/office/drawing/2014/main" id="{D3157C0F-7BDC-82D3-73C6-CE5792E4791C}"/>
              </a:ext>
            </a:extLst>
          </p:cNvPr>
          <p:cNvSpPr>
            <a:spLocks noGrp="1"/>
          </p:cNvSpPr>
          <p:nvPr>
            <p:ph idx="1"/>
          </p:nvPr>
        </p:nvSpPr>
        <p:spPr>
          <a:xfrm>
            <a:off x="838200" y="1825625"/>
            <a:ext cx="10515600" cy="552471"/>
          </a:xfrm>
        </p:spPr>
        <p:txBody>
          <a:bodyPr/>
          <a:lstStyle/>
          <a:p>
            <a:pPr marL="0" indent="0">
              <a:buNone/>
            </a:pPr>
            <a:r>
              <a:rPr lang="en-VN"/>
              <a:t>Ở thời điểm kế, viên bi sẽ có xác suất ở đâu nhiều nhất?</a:t>
            </a:r>
          </a:p>
        </p:txBody>
      </p:sp>
      <p:sp>
        <p:nvSpPr>
          <p:cNvPr id="4" name="Slide Number Placeholder 3">
            <a:extLst>
              <a:ext uri="{FF2B5EF4-FFF2-40B4-BE49-F238E27FC236}">
                <a16:creationId xmlns:a16="http://schemas.microsoft.com/office/drawing/2014/main" id="{1ED240AD-27EC-DDE4-77E9-0DC710DFB266}"/>
              </a:ext>
            </a:extLst>
          </p:cNvPr>
          <p:cNvSpPr>
            <a:spLocks noGrp="1"/>
          </p:cNvSpPr>
          <p:nvPr>
            <p:ph type="sldNum" sz="quarter" idx="12"/>
          </p:nvPr>
        </p:nvSpPr>
        <p:spPr/>
        <p:txBody>
          <a:bodyPr/>
          <a:lstStyle/>
          <a:p>
            <a:fld id="{95CF7CBD-B9A5-4D53-9D65-FFCCF7EF1299}" type="slidenum">
              <a:rPr lang="vi-VN" smtClean="0"/>
              <a:t>9</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9B16A6-4FDF-FAE7-5DFB-D1391E506474}"/>
                  </a:ext>
                </a:extLst>
              </p:cNvPr>
              <p:cNvSpPr txBox="1"/>
              <p:nvPr/>
            </p:nvSpPr>
            <p:spPr>
              <a:xfrm>
                <a:off x="838200" y="2378096"/>
                <a:ext cx="10715171" cy="1400576"/>
              </a:xfrm>
              <a:prstGeom prst="rect">
                <a:avLst/>
              </a:prstGeom>
              <a:noFill/>
            </p:spPr>
            <p:txBody>
              <a:bodyPr wrap="square">
                <a:spAutoFit/>
              </a:bodyPr>
              <a:lstStyle/>
              <a:p>
                <a14:m>
                  <m:oMath xmlns:m="http://schemas.openxmlformats.org/officeDocument/2006/math">
                    <m:sSup>
                      <m:sSupPr>
                        <m:ctrlPr>
                          <a:rPr lang="vi-VN" sz="3600" b="0" i="1">
                            <a:latin typeface="Cambria Math" panose="02040503050406030204" pitchFamily="18" charset="0"/>
                          </a:rPr>
                        </m:ctrlPr>
                      </m:sSupPr>
                      <m:e>
                        <m:r>
                          <a:rPr lang="vi-VN" sz="3600" i="1">
                            <a:latin typeface="Cambria Math" panose="02040503050406030204" pitchFamily="18" charset="0"/>
                          </a:rPr>
                          <m:t>𝐻𝑥</m:t>
                        </m:r>
                      </m:e>
                      <m:sup>
                        <m:r>
                          <a:rPr lang="vi-VN" sz="3600" b="0" i="1">
                            <a:latin typeface="Cambria Math" panose="02040503050406030204" pitchFamily="18" charset="0"/>
                          </a:rPr>
                          <m:t>(1)</m:t>
                        </m:r>
                      </m:sup>
                    </m:sSup>
                  </m:oMath>
                </a14:m>
                <a:r>
                  <a:rPr lang="vi-VN" sz="3600" i="1">
                    <a:latin typeface="Cambria Math" panose="02040503050406030204" pitchFamily="18" charset="0"/>
                  </a:rPr>
                  <a:t> </a:t>
                </a:r>
                <a14:m>
                  <m:oMath xmlns:m="http://schemas.openxmlformats.org/officeDocument/2006/math">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2"/>
                                  <m:mcJc m:val="center"/>
                                </m:mcPr>
                              </m:mc>
                            </m:mcs>
                            <m:ctrlPr>
                              <a:rPr lang="vi-VN" sz="3600" i="1">
                                <a:latin typeface="Cambria Math" panose="02040503050406030204" pitchFamily="18" charset="0"/>
                              </a:rPr>
                            </m:ctrlPr>
                          </m:mPr>
                          <m:mr>
                            <m:e>
                              <m:r>
                                <m:rPr>
                                  <m:brk m:alnAt="7"/>
                                </m:rP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i="1">
                                  <a:latin typeface="Cambria Math" panose="02040503050406030204" pitchFamily="18" charset="0"/>
                                </a:rPr>
                                <m:t>1/</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r>
                            <m:e>
                              <m:r>
                                <a:rPr lang="vi-VN" sz="3600" i="1">
                                  <a:latin typeface="Cambria Math" panose="02040503050406030204" pitchFamily="18" charset="0"/>
                                </a:rPr>
                                <m:t>1/</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
                      </m:e>
                    </m:d>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latin typeface="Cambria Math" panose="02040503050406030204" pitchFamily="18" charset="0"/>
                                </a:rPr>
                                <m:t>1</m:t>
                              </m:r>
                            </m:e>
                          </m:mr>
                          <m:mr>
                            <m:e>
                              <m:r>
                                <a:rPr lang="vi-VN" sz="3600" b="0" i="1">
                                  <a:latin typeface="Cambria Math" panose="02040503050406030204" pitchFamily="18" charset="0"/>
                                </a:rPr>
                                <m:t>0</m:t>
                              </m:r>
                            </m:e>
                          </m:mr>
                        </m:m>
                      </m:e>
                    </m:d>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latin typeface="Cambria Math" panose="02040503050406030204" pitchFamily="18" charset="0"/>
                                </a:rPr>
                                <m:t>1</m:t>
                              </m:r>
                              <m:r>
                                <a:rPr lang="vi-VN" sz="3600" b="0" i="1">
                                  <a:latin typeface="Cambria Math" panose="02040503050406030204" pitchFamily="18" charset="0"/>
                                </a:rPr>
                                <m:t>/</m:t>
                              </m:r>
                              <m:rad>
                                <m:radPr>
                                  <m:degHide m:val="on"/>
                                  <m:ctrlPr>
                                    <a:rPr lang="vi-VN" sz="3600" b="0" i="1">
                                      <a:latin typeface="Cambria Math" panose="02040503050406030204" pitchFamily="18" charset="0"/>
                                    </a:rPr>
                                  </m:ctrlPr>
                                </m:radPr>
                                <m:deg/>
                                <m:e>
                                  <m:r>
                                    <a:rPr lang="vi-VN" sz="3600" b="0" i="1">
                                      <a:latin typeface="Cambria Math" panose="02040503050406030204" pitchFamily="18" charset="0"/>
                                    </a:rPr>
                                    <m:t>2</m:t>
                                  </m:r>
                                </m:e>
                              </m:rad>
                            </m:e>
                          </m:mr>
                          <m:mr>
                            <m:e>
                              <m:r>
                                <a:rPr lang="vi-VN" sz="3600" b="0" i="1">
                                  <a:latin typeface="Cambria Math" panose="02040503050406030204" pitchFamily="18" charset="0"/>
                                </a:rPr>
                                <m:t>1/</m:t>
                              </m:r>
                              <m:rad>
                                <m:radPr>
                                  <m:degHide m:val="on"/>
                                  <m:ctrlPr>
                                    <a:rPr lang="vi-VN" sz="3600" b="0" i="1">
                                      <a:latin typeface="Cambria Math" panose="02040503050406030204" pitchFamily="18" charset="0"/>
                                    </a:rPr>
                                  </m:ctrlPr>
                                </m:radPr>
                                <m:deg/>
                                <m:e>
                                  <m:r>
                                    <a:rPr lang="vi-VN" sz="3600" b="0" i="1">
                                      <a:latin typeface="Cambria Math" panose="02040503050406030204" pitchFamily="18" charset="0"/>
                                    </a:rPr>
                                    <m:t>2</m:t>
                                  </m:r>
                                </m:e>
                              </m:rad>
                            </m:e>
                          </m:mr>
                        </m:m>
                      </m:e>
                    </m:d>
                  </m:oMath>
                </a14:m>
                <a:endParaRPr lang="en-VN" sz="3600" i="1"/>
              </a:p>
            </p:txBody>
          </p:sp>
        </mc:Choice>
        <mc:Fallback xmlns="">
          <p:sp>
            <p:nvSpPr>
              <p:cNvPr id="6" name="TextBox 5">
                <a:extLst>
                  <a:ext uri="{FF2B5EF4-FFF2-40B4-BE49-F238E27FC236}">
                    <a16:creationId xmlns:a16="http://schemas.microsoft.com/office/drawing/2014/main" id="{279B16A6-4FDF-FAE7-5DFB-D1391E506474}"/>
                  </a:ext>
                </a:extLst>
              </p:cNvPr>
              <p:cNvSpPr txBox="1">
                <a:spLocks noRot="1" noChangeAspect="1" noMove="1" noResize="1" noEditPoints="1" noAdjustHandles="1" noChangeArrowheads="1" noChangeShapeType="1" noTextEdit="1"/>
              </p:cNvSpPr>
              <p:nvPr/>
            </p:nvSpPr>
            <p:spPr>
              <a:xfrm>
                <a:off x="838200" y="2378096"/>
                <a:ext cx="10715171" cy="1400576"/>
              </a:xfrm>
              <a:prstGeom prst="rect">
                <a:avLst/>
              </a:prstGeom>
              <a:blipFill>
                <a:blip r:embed="rId2"/>
                <a:stretch>
                  <a:fillRect l="-711" b="-9910"/>
                </a:stretch>
              </a:blipFill>
            </p:spPr>
            <p:txBody>
              <a:bodyPr/>
              <a:lstStyle/>
              <a:p>
                <a:r>
                  <a:rPr lang="en-VN">
                    <a:noFill/>
                  </a:rPr>
                  <a:t> </a:t>
                </a:r>
              </a:p>
            </p:txBody>
          </p:sp>
        </mc:Fallback>
      </mc:AlternateContent>
      <p:sp>
        <p:nvSpPr>
          <p:cNvPr id="7" name="Content Placeholder 2">
            <a:extLst>
              <a:ext uri="{FF2B5EF4-FFF2-40B4-BE49-F238E27FC236}">
                <a16:creationId xmlns:a16="http://schemas.microsoft.com/office/drawing/2014/main" id="{FD3E605A-3F34-FAEC-D916-1D031FE952BF}"/>
              </a:ext>
            </a:extLst>
          </p:cNvPr>
          <p:cNvSpPr txBox="1">
            <a:spLocks/>
          </p:cNvSpPr>
          <p:nvPr/>
        </p:nvSpPr>
        <p:spPr>
          <a:xfrm>
            <a:off x="2795024" y="4723292"/>
            <a:ext cx="5815576" cy="552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VN"/>
              <a:t>Giả sử viên bi đang ở lỗ </a:t>
            </a:r>
            <a:r>
              <a:rPr lang="en-VN" b="1">
                <a:solidFill>
                  <a:schemeClr val="accent1"/>
                </a:solidFill>
              </a:rPr>
              <a:t>Xanh</a:t>
            </a:r>
            <a:endParaRPr lang="en-VN" b="1">
              <a:solidFill>
                <a:srgbClr val="FFC000"/>
              </a:solidFill>
            </a:endParaRPr>
          </a:p>
        </p:txBody>
      </p:sp>
      <p:cxnSp>
        <p:nvCxnSpPr>
          <p:cNvPr id="9" name="Straight Arrow Connector 8">
            <a:extLst>
              <a:ext uri="{FF2B5EF4-FFF2-40B4-BE49-F238E27FC236}">
                <a16:creationId xmlns:a16="http://schemas.microsoft.com/office/drawing/2014/main" id="{FE209024-C94A-79CB-519C-E2B712E369FB}"/>
              </a:ext>
            </a:extLst>
          </p:cNvPr>
          <p:cNvCxnSpPr>
            <a:cxnSpLocks/>
          </p:cNvCxnSpPr>
          <p:nvPr/>
        </p:nvCxnSpPr>
        <p:spPr>
          <a:xfrm flipV="1">
            <a:off x="5872052" y="3778672"/>
            <a:ext cx="0" cy="88238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 name="Content Placeholder 2">
            <a:extLst>
              <a:ext uri="{FF2B5EF4-FFF2-40B4-BE49-F238E27FC236}">
                <a16:creationId xmlns:a16="http://schemas.microsoft.com/office/drawing/2014/main" id="{04AFBA98-86FB-FC72-A974-C15A80E24278}"/>
              </a:ext>
            </a:extLst>
          </p:cNvPr>
          <p:cNvSpPr txBox="1">
            <a:spLocks/>
          </p:cNvSpPr>
          <p:nvPr/>
        </p:nvSpPr>
        <p:spPr>
          <a:xfrm>
            <a:off x="6319949" y="4180332"/>
            <a:ext cx="5815576" cy="552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VN"/>
              <a:t>Viên bi vừa ở lỗ </a:t>
            </a:r>
            <a:r>
              <a:rPr lang="en-VN" b="1">
                <a:solidFill>
                  <a:schemeClr val="accent1"/>
                </a:solidFill>
              </a:rPr>
              <a:t>Xanh</a:t>
            </a:r>
            <a:r>
              <a:rPr lang="en-VN"/>
              <a:t>, vừa ở lỗ </a:t>
            </a:r>
            <a:r>
              <a:rPr lang="en-VN" b="1">
                <a:solidFill>
                  <a:srgbClr val="FF0000"/>
                </a:solidFill>
              </a:rPr>
              <a:t>Đỏ</a:t>
            </a:r>
          </a:p>
        </p:txBody>
      </p:sp>
      <p:cxnSp>
        <p:nvCxnSpPr>
          <p:cNvPr id="12" name="Straight Arrow Connector 11">
            <a:extLst>
              <a:ext uri="{FF2B5EF4-FFF2-40B4-BE49-F238E27FC236}">
                <a16:creationId xmlns:a16="http://schemas.microsoft.com/office/drawing/2014/main" id="{9A189821-D5AE-11A7-A501-BD2DAB4BBC43}"/>
              </a:ext>
            </a:extLst>
          </p:cNvPr>
          <p:cNvCxnSpPr>
            <a:cxnSpLocks/>
          </p:cNvCxnSpPr>
          <p:nvPr/>
        </p:nvCxnSpPr>
        <p:spPr>
          <a:xfrm flipV="1">
            <a:off x="7408520" y="3738971"/>
            <a:ext cx="0" cy="42662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BFAA8970-9B48-8A50-23BD-026802FF2791}"/>
              </a:ext>
            </a:extLst>
          </p:cNvPr>
          <p:cNvSpPr/>
          <p:nvPr/>
        </p:nvSpPr>
        <p:spPr>
          <a:xfrm>
            <a:off x="838199" y="5671358"/>
            <a:ext cx="6260024" cy="10407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TextBox 15">
            <a:extLst>
              <a:ext uri="{FF2B5EF4-FFF2-40B4-BE49-F238E27FC236}">
                <a16:creationId xmlns:a16="http://schemas.microsoft.com/office/drawing/2014/main" id="{D8AD8A34-5130-4C8B-CB99-15336B61D03C}"/>
              </a:ext>
            </a:extLst>
          </p:cNvPr>
          <p:cNvSpPr txBox="1"/>
          <p:nvPr/>
        </p:nvSpPr>
        <p:spPr>
          <a:xfrm>
            <a:off x="993182" y="5865514"/>
            <a:ext cx="6105041" cy="646331"/>
          </a:xfrm>
          <a:prstGeom prst="rect">
            <a:avLst/>
          </a:prstGeom>
          <a:noFill/>
        </p:spPr>
        <p:txBody>
          <a:bodyPr wrap="square" rtlCol="0">
            <a:spAutoFit/>
          </a:bodyPr>
          <a:lstStyle/>
          <a:p>
            <a:r>
              <a:rPr lang="en-VN" sz="3600">
                <a:solidFill>
                  <a:srgbClr val="FF0000"/>
                </a:solidFill>
              </a:rPr>
              <a:t>Xác suất viên bi được bảo toàn!</a:t>
            </a:r>
          </a:p>
        </p:txBody>
      </p:sp>
    </p:spTree>
    <p:extLst>
      <p:ext uri="{BB962C8B-B14F-4D97-AF65-F5344CB8AC3E}">
        <p14:creationId xmlns:p14="http://schemas.microsoft.com/office/powerpoint/2010/main" val="55543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2DB36-BE58-6294-4A6D-09B3153A2E71}"/>
              </a:ext>
            </a:extLst>
          </p:cNvPr>
          <p:cNvSpPr>
            <a:spLocks noGrp="1"/>
          </p:cNvSpPr>
          <p:nvPr>
            <p:ph idx="1"/>
          </p:nvPr>
        </p:nvSpPr>
        <p:spPr>
          <a:xfrm>
            <a:off x="838200" y="802737"/>
            <a:ext cx="10515600" cy="683905"/>
          </a:xfrm>
        </p:spPr>
        <p:txBody>
          <a:bodyPr>
            <a:normAutofit/>
          </a:bodyPr>
          <a:lstStyle/>
          <a:p>
            <a:pPr marL="0" indent="0">
              <a:buNone/>
            </a:pPr>
            <a:r>
              <a:rPr lang="en-VN" sz="3600"/>
              <a:t>Nhiệm vụ của chúng ta (con người) là:</a:t>
            </a:r>
          </a:p>
        </p:txBody>
      </p:sp>
      <p:sp>
        <p:nvSpPr>
          <p:cNvPr id="4" name="Slide Number Placeholder 3">
            <a:extLst>
              <a:ext uri="{FF2B5EF4-FFF2-40B4-BE49-F238E27FC236}">
                <a16:creationId xmlns:a16="http://schemas.microsoft.com/office/drawing/2014/main" id="{93C2AA1E-1B83-4902-E212-693C2CFDE5FB}"/>
              </a:ext>
            </a:extLst>
          </p:cNvPr>
          <p:cNvSpPr>
            <a:spLocks noGrp="1"/>
          </p:cNvSpPr>
          <p:nvPr>
            <p:ph type="sldNum" sz="quarter" idx="12"/>
          </p:nvPr>
        </p:nvSpPr>
        <p:spPr/>
        <p:txBody>
          <a:bodyPr/>
          <a:lstStyle/>
          <a:p>
            <a:fld id="{95CF7CBD-B9A5-4D53-9D65-FFCCF7EF1299}" type="slidenum">
              <a:rPr lang="vi-VN" smtClean="0"/>
              <a:t>10</a:t>
            </a:fld>
            <a:endParaRPr lang="vi-VN"/>
          </a:p>
        </p:txBody>
      </p:sp>
      <p:sp>
        <p:nvSpPr>
          <p:cNvPr id="6" name="Rectangle 5">
            <a:extLst>
              <a:ext uri="{FF2B5EF4-FFF2-40B4-BE49-F238E27FC236}">
                <a16:creationId xmlns:a16="http://schemas.microsoft.com/office/drawing/2014/main" id="{187E679E-C51E-58F4-6A29-AE402902E1B1}"/>
              </a:ext>
            </a:extLst>
          </p:cNvPr>
          <p:cNvSpPr/>
          <p:nvPr/>
        </p:nvSpPr>
        <p:spPr>
          <a:xfrm>
            <a:off x="3595605" y="3436750"/>
            <a:ext cx="3115159" cy="100739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3600" b="1">
                <a:solidFill>
                  <a:schemeClr val="tx1"/>
                </a:solidFill>
              </a:rPr>
              <a:t>Máy tính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3D8AEA-39D2-D4EC-CBC2-69E57EB1C205}"/>
                  </a:ext>
                </a:extLst>
              </p:cNvPr>
              <p:cNvSpPr txBox="1"/>
              <p:nvPr/>
            </p:nvSpPr>
            <p:spPr>
              <a:xfrm>
                <a:off x="4075408" y="5371358"/>
                <a:ext cx="2155555" cy="6839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3600" i="1">
                              <a:latin typeface="Cambria Math" panose="02040503050406030204" pitchFamily="18" charset="0"/>
                            </a:rPr>
                          </m:ctrlPr>
                        </m:sSupPr>
                        <m:e>
                          <m:r>
                            <a:rPr lang="en-VN" sz="3600" i="1">
                              <a:latin typeface="Cambria Math" panose="02040503050406030204" pitchFamily="18" charset="0"/>
                            </a:rPr>
                            <m:t>𝑥</m:t>
                          </m:r>
                        </m:e>
                        <m:sup>
                          <m:d>
                            <m:dPr>
                              <m:ctrlPr>
                                <a:rPr lang="vi-VN" sz="3600" i="1">
                                  <a:latin typeface="Cambria Math" panose="02040503050406030204" pitchFamily="18" charset="0"/>
                                </a:rPr>
                              </m:ctrlPr>
                            </m:dPr>
                            <m:e>
                              <m:r>
                                <a:rPr lang="vi-VN" sz="3600" i="1">
                                  <a:latin typeface="Cambria Math" panose="02040503050406030204" pitchFamily="18" charset="0"/>
                                </a:rPr>
                                <m:t>𝑡</m:t>
                              </m:r>
                              <m:r>
                                <a:rPr lang="vi-VN" sz="3600" b="0" i="1">
                                  <a:latin typeface="Cambria Math" panose="02040503050406030204" pitchFamily="18" charset="0"/>
                                </a:rPr>
                                <m:t>+</m:t>
                              </m:r>
                              <m:r>
                                <a:rPr lang="vi-VN" sz="3600" i="1">
                                  <a:latin typeface="Cambria Math" panose="02040503050406030204" pitchFamily="18" charset="0"/>
                                </a:rPr>
                                <m:t>𝑘</m:t>
                              </m:r>
                            </m:e>
                          </m:d>
                        </m:sup>
                      </m:sSup>
                    </m:oMath>
                  </m:oMathPara>
                </a14:m>
                <a:endParaRPr lang="en-VN" sz="3600"/>
              </a:p>
            </p:txBody>
          </p:sp>
        </mc:Choice>
        <mc:Fallback xmlns="">
          <p:sp>
            <p:nvSpPr>
              <p:cNvPr id="8" name="TextBox 7">
                <a:extLst>
                  <a:ext uri="{FF2B5EF4-FFF2-40B4-BE49-F238E27FC236}">
                    <a16:creationId xmlns:a16="http://schemas.microsoft.com/office/drawing/2014/main" id="{EE3D8AEA-39D2-D4EC-CBC2-69E57EB1C205}"/>
                  </a:ext>
                </a:extLst>
              </p:cNvPr>
              <p:cNvSpPr txBox="1">
                <a:spLocks noRot="1" noChangeAspect="1" noMove="1" noResize="1" noEditPoints="1" noAdjustHandles="1" noChangeArrowheads="1" noChangeShapeType="1" noTextEdit="1"/>
              </p:cNvSpPr>
              <p:nvPr/>
            </p:nvSpPr>
            <p:spPr>
              <a:xfrm>
                <a:off x="4075408" y="5371358"/>
                <a:ext cx="2155555" cy="683905"/>
              </a:xfrm>
              <a:prstGeom prst="rect">
                <a:avLst/>
              </a:prstGeom>
              <a:blipFill>
                <a:blip r:embed="rId2"/>
                <a:stretch>
                  <a:fillRect/>
                </a:stretch>
              </a:blipFill>
            </p:spPr>
            <p:txBody>
              <a:bodyPr/>
              <a:lstStyle/>
              <a:p>
                <a:r>
                  <a:rPr lang="en-VN">
                    <a:noFill/>
                  </a:rPr>
                  <a:t> </a:t>
                </a:r>
              </a:p>
            </p:txBody>
          </p:sp>
        </mc:Fallback>
      </mc:AlternateContent>
      <p:cxnSp>
        <p:nvCxnSpPr>
          <p:cNvPr id="10" name="Straight Arrow Connector 9">
            <a:extLst>
              <a:ext uri="{FF2B5EF4-FFF2-40B4-BE49-F238E27FC236}">
                <a16:creationId xmlns:a16="http://schemas.microsoft.com/office/drawing/2014/main" id="{D1DA48C8-9F60-D438-704B-64820252E0DA}"/>
              </a:ext>
            </a:extLst>
          </p:cNvPr>
          <p:cNvCxnSpPr>
            <a:stCxn id="6" idx="2"/>
            <a:endCxn id="8" idx="0"/>
          </p:cNvCxnSpPr>
          <p:nvPr/>
        </p:nvCxnSpPr>
        <p:spPr>
          <a:xfrm>
            <a:off x="5153185" y="4444140"/>
            <a:ext cx="1" cy="927218"/>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BC7B638-83F4-2BE9-E517-28C033FD7A38}"/>
                  </a:ext>
                </a:extLst>
              </p:cNvPr>
              <p:cNvSpPr txBox="1"/>
              <p:nvPr/>
            </p:nvSpPr>
            <p:spPr>
              <a:xfrm>
                <a:off x="3595605" y="2087535"/>
                <a:ext cx="1073258" cy="646331"/>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𝑀</m:t>
                      </m:r>
                    </m:oMath>
                  </m:oMathPara>
                </a14:m>
                <a:endParaRPr lang="en-VN" sz="3600"/>
              </a:p>
            </p:txBody>
          </p:sp>
        </mc:Choice>
        <mc:Fallback xmlns="">
          <p:sp>
            <p:nvSpPr>
              <p:cNvPr id="12" name="TextBox 11">
                <a:extLst>
                  <a:ext uri="{FF2B5EF4-FFF2-40B4-BE49-F238E27FC236}">
                    <a16:creationId xmlns:a16="http://schemas.microsoft.com/office/drawing/2014/main" id="{0BC7B638-83F4-2BE9-E517-28C033FD7A38}"/>
                  </a:ext>
                </a:extLst>
              </p:cNvPr>
              <p:cNvSpPr txBox="1">
                <a:spLocks noRot="1" noChangeAspect="1" noMove="1" noResize="1" noEditPoints="1" noAdjustHandles="1" noChangeArrowheads="1" noChangeShapeType="1" noTextEdit="1"/>
              </p:cNvSpPr>
              <p:nvPr/>
            </p:nvSpPr>
            <p:spPr>
              <a:xfrm>
                <a:off x="3595605" y="2087535"/>
                <a:ext cx="1073258" cy="646331"/>
              </a:xfrm>
              <a:prstGeom prst="rect">
                <a:avLst/>
              </a:prstGeom>
              <a:blipFill>
                <a:blip r:embed="rId3"/>
                <a:stretch>
                  <a:fillRect/>
                </a:stretch>
              </a:blipFill>
              <a:ln>
                <a:no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F1518CF-0401-8D3C-05D7-1DFC2F8F48C7}"/>
                  </a:ext>
                </a:extLst>
              </p:cNvPr>
              <p:cNvSpPr txBox="1"/>
              <p:nvPr/>
            </p:nvSpPr>
            <p:spPr>
              <a:xfrm>
                <a:off x="5559371" y="2049961"/>
                <a:ext cx="1073258" cy="6839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3600" b="0" i="1">
                              <a:latin typeface="Cambria Math" panose="02040503050406030204" pitchFamily="18" charset="0"/>
                            </a:rPr>
                          </m:ctrlPr>
                        </m:sSupPr>
                        <m:e>
                          <m:r>
                            <a:rPr lang="en-VN" sz="3600" i="1">
                              <a:latin typeface="Cambria Math" panose="02040503050406030204" pitchFamily="18" charset="0"/>
                            </a:rPr>
                            <m:t>𝑥</m:t>
                          </m:r>
                        </m:e>
                        <m:sup>
                          <m:d>
                            <m:dPr>
                              <m:ctrlPr>
                                <a:rPr lang="vi-VN" sz="3600" b="0" i="1">
                                  <a:latin typeface="Cambria Math" panose="02040503050406030204" pitchFamily="18" charset="0"/>
                                </a:rPr>
                              </m:ctrlPr>
                            </m:dPr>
                            <m:e>
                              <m:r>
                                <a:rPr lang="vi-VN" sz="3600" i="1">
                                  <a:latin typeface="Cambria Math" panose="02040503050406030204" pitchFamily="18" charset="0"/>
                                </a:rPr>
                                <m:t>𝑡</m:t>
                              </m:r>
                            </m:e>
                          </m:d>
                        </m:sup>
                      </m:sSup>
                    </m:oMath>
                  </m:oMathPara>
                </a14:m>
                <a:endParaRPr lang="en-VN" sz="3600"/>
              </a:p>
            </p:txBody>
          </p:sp>
        </mc:Choice>
        <mc:Fallback xmlns="">
          <p:sp>
            <p:nvSpPr>
              <p:cNvPr id="14" name="TextBox 13">
                <a:extLst>
                  <a:ext uri="{FF2B5EF4-FFF2-40B4-BE49-F238E27FC236}">
                    <a16:creationId xmlns:a16="http://schemas.microsoft.com/office/drawing/2014/main" id="{1F1518CF-0401-8D3C-05D7-1DFC2F8F48C7}"/>
                  </a:ext>
                </a:extLst>
              </p:cNvPr>
              <p:cNvSpPr txBox="1">
                <a:spLocks noRot="1" noChangeAspect="1" noMove="1" noResize="1" noEditPoints="1" noAdjustHandles="1" noChangeArrowheads="1" noChangeShapeType="1" noTextEdit="1"/>
              </p:cNvSpPr>
              <p:nvPr/>
            </p:nvSpPr>
            <p:spPr>
              <a:xfrm>
                <a:off x="5559371" y="2049961"/>
                <a:ext cx="1073258" cy="683905"/>
              </a:xfrm>
              <a:prstGeom prst="rect">
                <a:avLst/>
              </a:prstGeom>
              <a:blipFill>
                <a:blip r:embed="rId4"/>
                <a:stretch>
                  <a:fillRect/>
                </a:stretch>
              </a:blipFill>
            </p:spPr>
            <p:txBody>
              <a:bodyPr/>
              <a:lstStyle/>
              <a:p>
                <a:r>
                  <a:rPr lang="en-VN">
                    <a:noFill/>
                  </a:rPr>
                  <a:t> </a:t>
                </a:r>
              </a:p>
            </p:txBody>
          </p:sp>
        </mc:Fallback>
      </mc:AlternateContent>
      <p:sp>
        <p:nvSpPr>
          <p:cNvPr id="15" name="Rectangle 14">
            <a:extLst>
              <a:ext uri="{FF2B5EF4-FFF2-40B4-BE49-F238E27FC236}">
                <a16:creationId xmlns:a16="http://schemas.microsoft.com/office/drawing/2014/main" id="{BE41EFF8-7B52-6D9F-5C2F-0615FADB19CA}"/>
              </a:ext>
            </a:extLst>
          </p:cNvPr>
          <p:cNvSpPr/>
          <p:nvPr/>
        </p:nvSpPr>
        <p:spPr>
          <a:xfrm>
            <a:off x="3595605" y="2061438"/>
            <a:ext cx="1073258" cy="660950"/>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6" name="Straight Arrow Connector 15">
            <a:extLst>
              <a:ext uri="{FF2B5EF4-FFF2-40B4-BE49-F238E27FC236}">
                <a16:creationId xmlns:a16="http://schemas.microsoft.com/office/drawing/2014/main" id="{F28DDD31-9B75-5987-E5A0-E44B5F110CC9}"/>
              </a:ext>
            </a:extLst>
          </p:cNvPr>
          <p:cNvCxnSpPr>
            <a:cxnSpLocks/>
          </p:cNvCxnSpPr>
          <p:nvPr/>
        </p:nvCxnSpPr>
        <p:spPr>
          <a:xfrm>
            <a:off x="4137400" y="2752845"/>
            <a:ext cx="0" cy="683905"/>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1A1980E-FD37-DED6-FED2-F732D2886326}"/>
              </a:ext>
            </a:extLst>
          </p:cNvPr>
          <p:cNvCxnSpPr>
            <a:cxnSpLocks/>
          </p:cNvCxnSpPr>
          <p:nvPr/>
        </p:nvCxnSpPr>
        <p:spPr>
          <a:xfrm>
            <a:off x="5886126" y="2733866"/>
            <a:ext cx="0" cy="683905"/>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92D64C8D-7ACA-103F-D759-845172DE728C}"/>
                  </a:ext>
                </a:extLst>
              </p:cNvPr>
              <p:cNvSpPr txBox="1">
                <a:spLocks/>
              </p:cNvSpPr>
              <p:nvPr/>
            </p:nvSpPr>
            <p:spPr>
              <a:xfrm>
                <a:off x="742629" y="1837223"/>
                <a:ext cx="1962468" cy="11469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solidFill>
                      <a:srgbClr val="FF0000"/>
                    </a:solidFill>
                  </a:rPr>
                  <a:t>Tìm ra </a:t>
                </a:r>
                <a14:m>
                  <m:oMath xmlns:m="http://schemas.openxmlformats.org/officeDocument/2006/math">
                    <m:r>
                      <a:rPr lang="en-VN" sz="3600" i="1">
                        <a:solidFill>
                          <a:srgbClr val="FF0000"/>
                        </a:solidFill>
                        <a:latin typeface="Cambria Math" panose="02040503050406030204" pitchFamily="18" charset="0"/>
                      </a:rPr>
                      <m:t>𝑀</m:t>
                    </m:r>
                  </m:oMath>
                </a14:m>
                <a:r>
                  <a:rPr lang="en-VN" sz="3600">
                    <a:solidFill>
                      <a:srgbClr val="FF0000"/>
                    </a:solidFill>
                  </a:rPr>
                  <a:t> </a:t>
                </a:r>
              </a:p>
              <a:p>
                <a:pPr marL="0" indent="0">
                  <a:buFont typeface="Arial" panose="020B0604020202020204" pitchFamily="34" charset="0"/>
                  <a:buNone/>
                </a:pPr>
                <a:r>
                  <a:rPr lang="en-VN" sz="3600">
                    <a:solidFill>
                      <a:srgbClr val="FF0000"/>
                    </a:solidFill>
                  </a:rPr>
                  <a:t>(khá khó)</a:t>
                </a:r>
              </a:p>
            </p:txBody>
          </p:sp>
        </mc:Choice>
        <mc:Fallback xmlns="">
          <p:sp>
            <p:nvSpPr>
              <p:cNvPr id="19" name="Content Placeholder 2">
                <a:extLst>
                  <a:ext uri="{FF2B5EF4-FFF2-40B4-BE49-F238E27FC236}">
                    <a16:creationId xmlns:a16="http://schemas.microsoft.com/office/drawing/2014/main" id="{92D64C8D-7ACA-103F-D759-845172DE728C}"/>
                  </a:ext>
                </a:extLst>
              </p:cNvPr>
              <p:cNvSpPr txBox="1">
                <a:spLocks noRot="1" noChangeAspect="1" noMove="1" noResize="1" noEditPoints="1" noAdjustHandles="1" noChangeArrowheads="1" noChangeShapeType="1" noTextEdit="1"/>
              </p:cNvSpPr>
              <p:nvPr/>
            </p:nvSpPr>
            <p:spPr>
              <a:xfrm>
                <a:off x="742629" y="1837223"/>
                <a:ext cx="1962468" cy="1146956"/>
              </a:xfrm>
              <a:prstGeom prst="rect">
                <a:avLst/>
              </a:prstGeom>
              <a:blipFill>
                <a:blip r:embed="rId5"/>
                <a:stretch>
                  <a:fillRect l="-8974" t="-16304" r="-7051" b="-15217"/>
                </a:stretch>
              </a:blipFill>
            </p:spPr>
            <p:txBody>
              <a:bodyPr/>
              <a:lstStyle/>
              <a:p>
                <a:r>
                  <a:rPr lang="en-VN">
                    <a:noFill/>
                  </a:rPr>
                  <a:t> </a:t>
                </a:r>
              </a:p>
            </p:txBody>
          </p:sp>
        </mc:Fallback>
      </mc:AlternateContent>
      <p:cxnSp>
        <p:nvCxnSpPr>
          <p:cNvPr id="20" name="Straight Arrow Connector 19">
            <a:extLst>
              <a:ext uri="{FF2B5EF4-FFF2-40B4-BE49-F238E27FC236}">
                <a16:creationId xmlns:a16="http://schemas.microsoft.com/office/drawing/2014/main" id="{D913F316-D3E3-342A-B35D-7EC98BF9135A}"/>
              </a:ext>
            </a:extLst>
          </p:cNvPr>
          <p:cNvCxnSpPr>
            <a:cxnSpLocks/>
            <a:stCxn id="19" idx="3"/>
            <a:endCxn id="12" idx="1"/>
          </p:cNvCxnSpPr>
          <p:nvPr/>
        </p:nvCxnSpPr>
        <p:spPr>
          <a:xfrm>
            <a:off x="2705097" y="2410701"/>
            <a:ext cx="890508" cy="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A143C8F1-26D3-500B-1C7B-60EF7311E845}"/>
                  </a:ext>
                </a:extLst>
              </p:cNvPr>
              <p:cNvSpPr txBox="1">
                <a:spLocks/>
              </p:cNvSpPr>
              <p:nvPr/>
            </p:nvSpPr>
            <p:spPr>
              <a:xfrm>
                <a:off x="7582546" y="1821725"/>
                <a:ext cx="3157779" cy="11469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solidFill>
                      <a:srgbClr val="00B050"/>
                    </a:solidFill>
                  </a:rPr>
                  <a:t>Tìm/ tạo </a:t>
                </a:r>
                <a14:m>
                  <m:oMath xmlns:m="http://schemas.openxmlformats.org/officeDocument/2006/math">
                    <m:sSup>
                      <m:sSupPr>
                        <m:ctrlPr>
                          <a:rPr lang="vi-VN" sz="3600" b="0" i="1">
                            <a:solidFill>
                              <a:srgbClr val="00B050"/>
                            </a:solidFill>
                            <a:latin typeface="Cambria Math" panose="02040503050406030204" pitchFamily="18" charset="0"/>
                          </a:rPr>
                        </m:ctrlPr>
                      </m:sSupPr>
                      <m:e>
                        <m:r>
                          <a:rPr lang="en-VN" sz="3600" i="1">
                            <a:solidFill>
                              <a:srgbClr val="00B050"/>
                            </a:solidFill>
                            <a:latin typeface="Cambria Math" panose="02040503050406030204" pitchFamily="18" charset="0"/>
                          </a:rPr>
                          <m:t>𝑥</m:t>
                        </m:r>
                      </m:e>
                      <m:sup>
                        <m:d>
                          <m:dPr>
                            <m:ctrlPr>
                              <a:rPr lang="vi-VN" sz="3600" b="0" i="1">
                                <a:solidFill>
                                  <a:srgbClr val="00B050"/>
                                </a:solidFill>
                                <a:latin typeface="Cambria Math" panose="02040503050406030204" pitchFamily="18" charset="0"/>
                              </a:rPr>
                            </m:ctrlPr>
                          </m:dPr>
                          <m:e>
                            <m:r>
                              <a:rPr lang="vi-VN" sz="3600" i="1">
                                <a:solidFill>
                                  <a:srgbClr val="00B050"/>
                                </a:solidFill>
                                <a:latin typeface="Cambria Math" panose="02040503050406030204" pitchFamily="18" charset="0"/>
                              </a:rPr>
                              <m:t>𝑡</m:t>
                            </m:r>
                          </m:e>
                        </m:d>
                      </m:sup>
                    </m:sSup>
                  </m:oMath>
                </a14:m>
                <a:r>
                  <a:rPr lang="en-VN" sz="3600" i="1">
                    <a:solidFill>
                      <a:srgbClr val="00B050"/>
                    </a:solidFill>
                  </a:rPr>
                  <a:t> </a:t>
                </a:r>
              </a:p>
              <a:p>
                <a:pPr marL="0" indent="0">
                  <a:buFont typeface="Arial" panose="020B0604020202020204" pitchFamily="34" charset="0"/>
                  <a:buNone/>
                </a:pPr>
                <a:r>
                  <a:rPr lang="en-VN" sz="3600">
                    <a:solidFill>
                      <a:srgbClr val="00B050"/>
                    </a:solidFill>
                  </a:rPr>
                  <a:t>(khá dễ)</a:t>
                </a:r>
              </a:p>
            </p:txBody>
          </p:sp>
        </mc:Choice>
        <mc:Fallback xmlns="">
          <p:sp>
            <p:nvSpPr>
              <p:cNvPr id="25" name="Content Placeholder 2">
                <a:extLst>
                  <a:ext uri="{FF2B5EF4-FFF2-40B4-BE49-F238E27FC236}">
                    <a16:creationId xmlns:a16="http://schemas.microsoft.com/office/drawing/2014/main" id="{A143C8F1-26D3-500B-1C7B-60EF7311E845}"/>
                  </a:ext>
                </a:extLst>
              </p:cNvPr>
              <p:cNvSpPr txBox="1">
                <a:spLocks noRot="1" noChangeAspect="1" noMove="1" noResize="1" noEditPoints="1" noAdjustHandles="1" noChangeArrowheads="1" noChangeShapeType="1" noTextEdit="1"/>
              </p:cNvSpPr>
              <p:nvPr/>
            </p:nvSpPr>
            <p:spPr>
              <a:xfrm>
                <a:off x="7582546" y="1821725"/>
                <a:ext cx="3157779" cy="1146956"/>
              </a:xfrm>
              <a:prstGeom prst="rect">
                <a:avLst/>
              </a:prstGeom>
              <a:blipFill>
                <a:blip r:embed="rId6"/>
                <a:stretch>
                  <a:fillRect l="-6024" t="-14286" b="-18681"/>
                </a:stretch>
              </a:blipFill>
            </p:spPr>
            <p:txBody>
              <a:bodyPr/>
              <a:lstStyle/>
              <a:p>
                <a:r>
                  <a:rPr lang="en-VN">
                    <a:noFill/>
                  </a:rPr>
                  <a:t> </a:t>
                </a:r>
              </a:p>
            </p:txBody>
          </p:sp>
        </mc:Fallback>
      </mc:AlternateContent>
      <p:sp>
        <p:nvSpPr>
          <p:cNvPr id="26" name="Rectangle 25">
            <a:extLst>
              <a:ext uri="{FF2B5EF4-FFF2-40B4-BE49-F238E27FC236}">
                <a16:creationId xmlns:a16="http://schemas.microsoft.com/office/drawing/2014/main" id="{AEE21076-6DD4-9E99-B7C8-FAF40D2894FB}"/>
              </a:ext>
            </a:extLst>
          </p:cNvPr>
          <p:cNvSpPr/>
          <p:nvPr/>
        </p:nvSpPr>
        <p:spPr>
          <a:xfrm>
            <a:off x="5457986" y="2061438"/>
            <a:ext cx="1073258" cy="660950"/>
          </a:xfrm>
          <a:prstGeom prst="rect">
            <a:avLst/>
          </a:prstGeom>
          <a:noFill/>
          <a:ln w="381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7" name="Straight Arrow Connector 26">
            <a:extLst>
              <a:ext uri="{FF2B5EF4-FFF2-40B4-BE49-F238E27FC236}">
                <a16:creationId xmlns:a16="http://schemas.microsoft.com/office/drawing/2014/main" id="{FC3FE2E0-1D43-F4C1-5108-B4A6504940E2}"/>
              </a:ext>
            </a:extLst>
          </p:cNvPr>
          <p:cNvCxnSpPr>
            <a:cxnSpLocks/>
            <a:stCxn id="25" idx="1"/>
            <a:endCxn id="26" idx="3"/>
          </p:cNvCxnSpPr>
          <p:nvPr/>
        </p:nvCxnSpPr>
        <p:spPr>
          <a:xfrm flipH="1" flipV="1">
            <a:off x="6531244" y="2391913"/>
            <a:ext cx="1051302" cy="3290"/>
          </a:xfrm>
          <a:prstGeom prst="straightConnector1">
            <a:avLst/>
          </a:prstGeom>
          <a:ln w="3810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00083294-D971-1FE4-A597-8AEB8BB8DB4E}"/>
              </a:ext>
            </a:extLst>
          </p:cNvPr>
          <p:cNvSpPr txBox="1"/>
          <p:nvPr/>
        </p:nvSpPr>
        <p:spPr>
          <a:xfrm>
            <a:off x="7826645" y="4874311"/>
            <a:ext cx="2913676" cy="1200329"/>
          </a:xfrm>
          <a:prstGeom prst="rect">
            <a:avLst/>
          </a:prstGeom>
          <a:noFill/>
        </p:spPr>
        <p:txBody>
          <a:bodyPr wrap="square">
            <a:spAutoFit/>
          </a:bodyPr>
          <a:lstStyle/>
          <a:p>
            <a:r>
              <a:rPr lang="en-VN" sz="3600"/>
              <a:t>Hoạt động như thế nào?</a:t>
            </a:r>
          </a:p>
        </p:txBody>
      </p:sp>
      <p:cxnSp>
        <p:nvCxnSpPr>
          <p:cNvPr id="33" name="Curved Connector 32">
            <a:extLst>
              <a:ext uri="{FF2B5EF4-FFF2-40B4-BE49-F238E27FC236}">
                <a16:creationId xmlns:a16="http://schemas.microsoft.com/office/drawing/2014/main" id="{BE8E4D8F-6F8D-884D-A790-73EDE1F6DEDA}"/>
              </a:ext>
            </a:extLst>
          </p:cNvPr>
          <p:cNvCxnSpPr>
            <a:stCxn id="31" idx="0"/>
            <a:endCxn id="6" idx="3"/>
          </p:cNvCxnSpPr>
          <p:nvPr/>
        </p:nvCxnSpPr>
        <p:spPr>
          <a:xfrm rot="16200000" flipV="1">
            <a:off x="7530191" y="3121018"/>
            <a:ext cx="933866" cy="2572719"/>
          </a:xfrm>
          <a:prstGeom prst="curvedConnector2">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2413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Máy Turing cổ điển (đơn định)</a:t>
            </a:r>
            <a:endParaRPr lang="en-US" dirty="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0D0CDB7-408E-4087-97A3-9FD1143A2DD2}"/>
                  </a:ext>
                </a:extLst>
              </p:cNvPr>
              <p:cNvSpPr>
                <a:spLocks noGrp="1"/>
              </p:cNvSpPr>
              <p:nvPr>
                <p:ph idx="1"/>
              </p:nvPr>
            </p:nvSpPr>
            <p:spPr>
              <a:xfrm>
                <a:off x="838200" y="1825625"/>
                <a:ext cx="9754772" cy="523220"/>
              </a:xfrm>
            </p:spPr>
            <p:txBody>
              <a:bodyPr>
                <a:normAutofit/>
              </a:bodyPr>
              <a:lstStyle/>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𝒯</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𝑠𝑡𝑎𝑟𝑡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𝑟𝑒𝑗𝑒𝑐𝑡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𝑎𝑐𝑐𝑒𝑝𝑡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rPr>
                      <m:t>}</m:t>
                    </m:r>
                  </m:oMath>
                </a14:m>
                <a:r>
                  <a:rPr lang="en-US" b="0" dirty="0"/>
                  <a:t> </a:t>
                </a:r>
              </a:p>
              <a:p>
                <a:pPr marL="0" indent="0">
                  <a:buNone/>
                </a:pPr>
                <a:endParaRPr lang="en-US" dirty="0"/>
              </a:p>
            </p:txBody>
          </p:sp>
        </mc:Choice>
        <mc:Fallback xmlns="">
          <p:sp>
            <p:nvSpPr>
              <p:cNvPr id="3" name="Chỗ dành sẵn cho Nội dung 2">
                <a:extLst>
                  <a:ext uri="{FF2B5EF4-FFF2-40B4-BE49-F238E27FC236}">
                    <a16:creationId xmlns:a16="http://schemas.microsoft.com/office/drawing/2014/main" id="{20D0CDB7-408E-4087-97A3-9FD1143A2DD2}"/>
                  </a:ext>
                </a:extLst>
              </p:cNvPr>
              <p:cNvSpPr>
                <a:spLocks noGrp="1" noRot="1" noChangeAspect="1" noMove="1" noResize="1" noEditPoints="1" noAdjustHandles="1" noChangeArrowheads="1" noChangeShapeType="1" noTextEdit="1"/>
              </p:cNvSpPr>
              <p:nvPr>
                <p:ph idx="1"/>
              </p:nvPr>
            </p:nvSpPr>
            <p:spPr>
              <a:xfrm>
                <a:off x="838200" y="1825625"/>
                <a:ext cx="9754772" cy="523220"/>
              </a:xfrm>
              <a:blipFill>
                <a:blip r:embed="rId3"/>
                <a:stretch>
                  <a:fillRect l="-390" b="-1428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 name="Hộp Văn bản 3">
                <a:extLst>
                  <a:ext uri="{FF2B5EF4-FFF2-40B4-BE49-F238E27FC236}">
                    <a16:creationId xmlns:a16="http://schemas.microsoft.com/office/drawing/2014/main" id="{671477E4-3708-4A92-A28D-D61C54414C5C}"/>
                  </a:ext>
                </a:extLst>
              </p:cNvPr>
              <p:cNvSpPr txBox="1"/>
              <p:nvPr/>
            </p:nvSpPr>
            <p:spPr>
              <a:xfrm>
                <a:off x="838199" y="2350831"/>
                <a:ext cx="248177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1" smtClean="0">
                          <a:latin typeface="Cambria Math" panose="02040503050406030204" pitchFamily="18" charset="0"/>
                        </a:rPr>
                        <m:t>𝑄</m:t>
                      </m:r>
                      <m:r>
                        <a:rPr lang="en-US" sz="2800" i="1">
                          <a:latin typeface="Cambria Math" panose="02040503050406030204" pitchFamily="18" charset="0"/>
                        </a:rPr>
                        <m:t>=</m:t>
                      </m:r>
                      <m:r>
                        <a:rPr lang="en-US" sz="2800" i="1" smtClean="0">
                          <a:latin typeface="Cambria Math" panose="02040503050406030204" pitchFamily="18" charset="0"/>
                        </a:rPr>
                        <m:t>{</m:t>
                      </m:r>
                      <m:r>
                        <a:rPr lang="en-US" sz="2800" i="1" smtClean="0">
                          <a:latin typeface="Cambria Math" panose="02040503050406030204" pitchFamily="18" charset="0"/>
                        </a:rPr>
                        <m:t>𝑆𝑡𝑎𝑡𝑒𝑠</m:t>
                      </m:r>
                      <m:r>
                        <a:rPr lang="en-US" sz="2800" i="1" smtClean="0">
                          <a:latin typeface="Cambria Math" panose="02040503050406030204" pitchFamily="18" charset="0"/>
                        </a:rPr>
                        <m:t>}</m:t>
                      </m:r>
                    </m:oMath>
                  </m:oMathPara>
                </a14:m>
                <a:endParaRPr lang="en-US" sz="2800"/>
              </a:p>
            </p:txBody>
          </p:sp>
        </mc:Choice>
        <mc:Fallback xmlns="">
          <p:sp>
            <p:nvSpPr>
              <p:cNvPr id="4" name="Hộp Văn bản 3">
                <a:extLst>
                  <a:ext uri="{FF2B5EF4-FFF2-40B4-BE49-F238E27FC236}">
                    <a16:creationId xmlns:a16="http://schemas.microsoft.com/office/drawing/2014/main" id="{671477E4-3708-4A92-A28D-D61C54414C5C}"/>
                  </a:ext>
                </a:extLst>
              </p:cNvPr>
              <p:cNvSpPr txBox="1">
                <a:spLocks noRot="1" noChangeAspect="1" noMove="1" noResize="1" noEditPoints="1" noAdjustHandles="1" noChangeArrowheads="1" noChangeShapeType="1" noTextEdit="1"/>
              </p:cNvSpPr>
              <p:nvPr/>
            </p:nvSpPr>
            <p:spPr>
              <a:xfrm>
                <a:off x="838199" y="2350831"/>
                <a:ext cx="2481775"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6B9F29AF-B7ED-4B76-B36D-16CD3FA94208}"/>
                  </a:ext>
                </a:extLst>
              </p:cNvPr>
              <p:cNvSpPr txBox="1"/>
              <p:nvPr/>
            </p:nvSpPr>
            <p:spPr>
              <a:xfrm>
                <a:off x="3029828" y="2380171"/>
                <a:ext cx="428244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Σ</m:t>
                      </m:r>
                      <m:r>
                        <a:rPr lang="en-US" sz="2800" i="1" smtClean="0">
                          <a:latin typeface="Cambria Math" panose="02040503050406030204" pitchFamily="18" charset="0"/>
                        </a:rPr>
                        <m:t>=</m:t>
                      </m:r>
                      <m:d>
                        <m:dPr>
                          <m:begChr m:val="{"/>
                          <m:endChr m:val="}"/>
                          <m:ctrlPr>
                            <a:rPr lang="en-US" sz="2800" i="1" smtClean="0">
                              <a:latin typeface="Cambria Math" panose="02040503050406030204" pitchFamily="18" charset="0"/>
                            </a:rPr>
                          </m:ctrlPr>
                        </m:dPr>
                        <m:e>
                          <m:r>
                            <a:rPr lang="en-US" sz="2800" i="1" smtClean="0">
                              <a:latin typeface="Cambria Math" panose="02040503050406030204" pitchFamily="18" charset="0"/>
                            </a:rPr>
                            <m:t>𝐴𝑙𝑝h𝑎𝑏𝑒𝑙𝑡</m:t>
                          </m:r>
                        </m:e>
                      </m:d>
                      <m:r>
                        <a:rPr lang="en-US" sz="2800" b="0" i="1" smtClean="0">
                          <a:latin typeface="Cambria Math" panose="02040503050406030204" pitchFamily="18" charset="0"/>
                        </a:rPr>
                        <m:t>={0,1,#}</m:t>
                      </m:r>
                    </m:oMath>
                  </m:oMathPara>
                </a14:m>
                <a:endParaRPr lang="en-US" sz="2800"/>
              </a:p>
            </p:txBody>
          </p:sp>
        </mc:Choice>
        <mc:Fallback xmlns="">
          <p:sp>
            <p:nvSpPr>
              <p:cNvPr id="6" name="Hộp Văn bản 5">
                <a:extLst>
                  <a:ext uri="{FF2B5EF4-FFF2-40B4-BE49-F238E27FC236}">
                    <a16:creationId xmlns:a16="http://schemas.microsoft.com/office/drawing/2014/main" id="{6B9F29AF-B7ED-4B76-B36D-16CD3FA94208}"/>
                  </a:ext>
                </a:extLst>
              </p:cNvPr>
              <p:cNvSpPr txBox="1">
                <a:spLocks noRot="1" noChangeAspect="1" noMove="1" noResize="1" noEditPoints="1" noAdjustHandles="1" noChangeArrowheads="1" noChangeShapeType="1" noTextEdit="1"/>
              </p:cNvSpPr>
              <p:nvPr/>
            </p:nvSpPr>
            <p:spPr>
              <a:xfrm>
                <a:off x="3029828" y="2380171"/>
                <a:ext cx="4282441"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B7807655-C20D-45AE-8DEF-0EEFB1B2077F}"/>
                  </a:ext>
                </a:extLst>
              </p:cNvPr>
              <p:cNvSpPr txBox="1"/>
              <p:nvPr/>
            </p:nvSpPr>
            <p:spPr>
              <a:xfrm>
                <a:off x="839665" y="2932731"/>
                <a:ext cx="7946526" cy="523220"/>
              </a:xfrm>
              <a:prstGeom prst="rect">
                <a:avLst/>
              </a:prstGeom>
              <a:noFill/>
            </p:spPr>
            <p:txBody>
              <a:bodyPr wrap="square" rtlCol="0">
                <a:spAutoFit/>
              </a:bodyPr>
              <a:lstStyle/>
              <a:p>
                <a14:m>
                  <m:oMath xmlns:m="http://schemas.openxmlformats.org/officeDocument/2006/math">
                    <m:r>
                      <a:rPr lang="en-US" sz="2800" i="1" smtClean="0">
                        <a:latin typeface="Cambria Math" panose="02040503050406030204" pitchFamily="18" charset="0"/>
                        <a:ea typeface="Cambria Math" panose="02040503050406030204" pitchFamily="18" charset="0"/>
                      </a:rPr>
                      <m:t>𝛿</m:t>
                    </m:r>
                    <m:r>
                      <a:rPr lang="en-US" sz="2800" b="0" i="1" smtClean="0">
                        <a:latin typeface="Cambria Math" panose="02040503050406030204" pitchFamily="18" charset="0"/>
                        <a:ea typeface="Cambria Math" panose="02040503050406030204" pitchFamily="18" charset="0"/>
                      </a:rPr>
                      <m:t>=</m:t>
                    </m:r>
                    <m:r>
                      <a:rPr lang="el-GR" sz="2800" i="1" smtClean="0">
                        <a:latin typeface="Cambria Math" panose="02040503050406030204" pitchFamily="18" charset="0"/>
                      </a:rPr>
                      <m:t>𝑄</m:t>
                    </m:r>
                    <m:r>
                      <a:rPr lang="el-GR" sz="2800" i="1" smtClean="0">
                        <a:latin typeface="Cambria Math" panose="02040503050406030204" pitchFamily="18" charset="0"/>
                      </a:rPr>
                      <m:t> × </m:t>
                    </m:r>
                    <m:r>
                      <m:rPr>
                        <m:sty m:val="p"/>
                      </m:rPr>
                      <a:rPr lang="el-GR" sz="2800" i="0" smtClean="0">
                        <a:latin typeface="Cambria Math" panose="02040503050406030204" pitchFamily="18" charset="0"/>
                        <a:ea typeface="Cambria Math" panose="02040503050406030204" pitchFamily="18" charset="0"/>
                      </a:rPr>
                      <m:t>Σ</m:t>
                    </m:r>
                    <m:r>
                      <a:rPr lang="en-US" sz="2800" b="0" i="1" smtClean="0">
                        <a:latin typeface="Cambria Math" panose="02040503050406030204" pitchFamily="18" charset="0"/>
                      </a:rPr>
                      <m:t>→</m:t>
                    </m:r>
                    <m:r>
                      <a:rPr lang="el-GR" sz="2800" i="1" smtClean="0">
                        <a:latin typeface="Cambria Math" panose="02040503050406030204" pitchFamily="18" charset="0"/>
                      </a:rPr>
                      <m:t>𝑄</m:t>
                    </m:r>
                    <m:r>
                      <a:rPr lang="el-GR" sz="2800" i="1" smtClean="0">
                        <a:latin typeface="Cambria Math" panose="02040503050406030204" pitchFamily="18" charset="0"/>
                      </a:rPr>
                      <m:t> × </m:t>
                    </m:r>
                    <m:r>
                      <m:rPr>
                        <m:sty m:val="p"/>
                      </m:rPr>
                      <a:rPr lang="el-GR" sz="2800" i="0" smtClean="0">
                        <a:latin typeface="Cambria Math" panose="02040503050406030204" pitchFamily="18" charset="0"/>
                        <a:ea typeface="Cambria Math" panose="02040503050406030204" pitchFamily="18" charset="0"/>
                      </a:rPr>
                      <m:t>Σ</m:t>
                    </m:r>
                    <m:r>
                      <a:rPr lang="el-GR" sz="2800" i="1" smtClean="0">
                        <a:latin typeface="Cambria Math" panose="02040503050406030204" pitchFamily="18" charset="0"/>
                      </a:rPr>
                      <m:t> × {</m:t>
                    </m:r>
                    <m:r>
                      <a:rPr lang="el-GR" sz="2800" i="1" smtClean="0">
                        <a:latin typeface="Cambria Math" panose="02040503050406030204" pitchFamily="18" charset="0"/>
                      </a:rPr>
                      <m:t>𝐿</m:t>
                    </m:r>
                    <m:r>
                      <a:rPr lang="el-GR" sz="2800" i="1" smtClean="0">
                        <a:latin typeface="Cambria Math" panose="02040503050406030204" pitchFamily="18" charset="0"/>
                      </a:rPr>
                      <m:t>, </m:t>
                    </m:r>
                    <m:r>
                      <a:rPr lang="el-GR" sz="2800" i="1" smtClean="0">
                        <a:latin typeface="Cambria Math" panose="02040503050406030204" pitchFamily="18" charset="0"/>
                      </a:rPr>
                      <m:t>𝑅</m:t>
                    </m:r>
                    <m:r>
                      <a:rPr lang="el-GR" sz="2800" i="1" smtClean="0">
                        <a:latin typeface="Cambria Math" panose="02040503050406030204" pitchFamily="18" charset="0"/>
                      </a:rPr>
                      <m:t>}</m:t>
                    </m:r>
                  </m:oMath>
                </a14:m>
                <a:r>
                  <a:rPr lang="en-US" sz="2800"/>
                  <a:t> (transition function)</a:t>
                </a:r>
              </a:p>
            </p:txBody>
          </p:sp>
        </mc:Choice>
        <mc:Fallback xmlns="">
          <p:sp>
            <p:nvSpPr>
              <p:cNvPr id="7" name="Hộp Văn bản 6">
                <a:extLst>
                  <a:ext uri="{FF2B5EF4-FFF2-40B4-BE49-F238E27FC236}">
                    <a16:creationId xmlns:a16="http://schemas.microsoft.com/office/drawing/2014/main" id="{B7807655-C20D-45AE-8DEF-0EEFB1B2077F}"/>
                  </a:ext>
                </a:extLst>
              </p:cNvPr>
              <p:cNvSpPr txBox="1">
                <a:spLocks noRot="1" noChangeAspect="1" noMove="1" noResize="1" noEditPoints="1" noAdjustHandles="1" noChangeArrowheads="1" noChangeShapeType="1" noTextEdit="1"/>
              </p:cNvSpPr>
              <p:nvPr/>
            </p:nvSpPr>
            <p:spPr>
              <a:xfrm>
                <a:off x="839665" y="2932731"/>
                <a:ext cx="7946526" cy="523220"/>
              </a:xfrm>
              <a:prstGeom prst="rect">
                <a:avLst/>
              </a:prstGeom>
              <a:blipFill>
                <a:blip r:embed="rId6"/>
                <a:stretch>
                  <a:fillRect t="-10465" b="-32558"/>
                </a:stretch>
              </a:blipFill>
            </p:spPr>
            <p:txBody>
              <a:bodyPr/>
              <a:lstStyle/>
              <a:p>
                <a:r>
                  <a:rPr lang="vi-VN">
                    <a:noFill/>
                  </a:rPr>
                  <a:t> </a:t>
                </a:r>
              </a:p>
            </p:txBody>
          </p:sp>
        </mc:Fallback>
      </mc:AlternateContent>
      <p:pic>
        <p:nvPicPr>
          <p:cNvPr id="29" name="Hình ảnh 28">
            <a:extLst>
              <a:ext uri="{FF2B5EF4-FFF2-40B4-BE49-F238E27FC236}">
                <a16:creationId xmlns:a16="http://schemas.microsoft.com/office/drawing/2014/main" id="{16B9172C-B5D1-4CBD-A08A-342A1E56F450}"/>
              </a:ext>
            </a:extLst>
          </p:cNvPr>
          <p:cNvPicPr>
            <a:picLocks noChangeAspect="1"/>
          </p:cNvPicPr>
          <p:nvPr/>
        </p:nvPicPr>
        <p:blipFill>
          <a:blip r:embed="rId7"/>
          <a:stretch>
            <a:fillRect/>
          </a:stretch>
        </p:blipFill>
        <p:spPr>
          <a:xfrm>
            <a:off x="791774" y="3648348"/>
            <a:ext cx="6969520" cy="1721615"/>
          </a:xfrm>
          <a:prstGeom prst="rect">
            <a:avLst/>
          </a:prstGeom>
        </p:spPr>
      </p:pic>
      <p:sp>
        <p:nvSpPr>
          <p:cNvPr id="5" name="Chỗ dành sẵn cho Số hiệu Bản chiếu 4">
            <a:extLst>
              <a:ext uri="{FF2B5EF4-FFF2-40B4-BE49-F238E27FC236}">
                <a16:creationId xmlns:a16="http://schemas.microsoft.com/office/drawing/2014/main" id="{FD000624-780D-4752-9231-01CF20EC4300}"/>
              </a:ext>
            </a:extLst>
          </p:cNvPr>
          <p:cNvSpPr>
            <a:spLocks noGrp="1"/>
          </p:cNvSpPr>
          <p:nvPr>
            <p:ph type="sldNum" sz="quarter" idx="12"/>
          </p:nvPr>
        </p:nvSpPr>
        <p:spPr/>
        <p:txBody>
          <a:bodyPr/>
          <a:lstStyle/>
          <a:p>
            <a:fld id="{74ABBA0F-ED8F-4A6E-AA06-FEAFBF3D52EE}" type="slidenum">
              <a:rPr lang="en-US" smtClean="0"/>
              <a:t>11</a:t>
            </a:fld>
            <a:endParaRPr lang="en-US"/>
          </a:p>
        </p:txBody>
      </p:sp>
      <p:pic>
        <p:nvPicPr>
          <p:cNvPr id="9" name="Picture 8" descr="A cartoon of a green round object with its hand over its face&#10;&#10;AI-generated content may be incorrect.">
            <a:extLst>
              <a:ext uri="{FF2B5EF4-FFF2-40B4-BE49-F238E27FC236}">
                <a16:creationId xmlns:a16="http://schemas.microsoft.com/office/drawing/2014/main" id="{B9607CC1-0C93-75D8-5D24-8F0399E5DCD9}"/>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939" b="89985" l="7337" r="89946">
                        <a14:foregroundMark x1="8560" y1="58792" x2="7337" y2="51529"/>
                        <a14:foregroundMark x1="7337" y1="51529" x2="10462" y2="46789"/>
                      </a14:backgroundRemoval>
                    </a14:imgEffect>
                  </a14:imgLayer>
                </a14:imgProps>
              </a:ext>
              <a:ext uri="{28A0092B-C50C-407E-A947-70E740481C1C}">
                <a14:useLocalDpi xmlns:a14="http://schemas.microsoft.com/office/drawing/2010/main" val="0"/>
              </a:ext>
            </a:extLst>
          </a:blip>
          <a:srcRect t="23422" b="24897"/>
          <a:stretch>
            <a:fillRect/>
          </a:stretch>
        </p:blipFill>
        <p:spPr>
          <a:xfrm>
            <a:off x="4057362" y="1556561"/>
            <a:ext cx="4077275" cy="3744877"/>
          </a:xfrm>
          <a:prstGeom prst="rect">
            <a:avLst/>
          </a:prstGeom>
        </p:spPr>
      </p:pic>
      <p:sp>
        <p:nvSpPr>
          <p:cNvPr id="10" name="TextBox 9">
            <a:extLst>
              <a:ext uri="{FF2B5EF4-FFF2-40B4-BE49-F238E27FC236}">
                <a16:creationId xmlns:a16="http://schemas.microsoft.com/office/drawing/2014/main" id="{0C4084C3-C2FE-F807-C6B7-022F66968898}"/>
              </a:ext>
            </a:extLst>
          </p:cNvPr>
          <p:cNvSpPr txBox="1"/>
          <p:nvPr/>
        </p:nvSpPr>
        <p:spPr>
          <a:xfrm>
            <a:off x="2574009" y="5562360"/>
            <a:ext cx="8212811" cy="646331"/>
          </a:xfrm>
          <a:prstGeom prst="rect">
            <a:avLst/>
          </a:prstGeom>
          <a:noFill/>
        </p:spPr>
        <p:txBody>
          <a:bodyPr wrap="square" rtlCol="0">
            <a:spAutoFit/>
          </a:bodyPr>
          <a:lstStyle/>
          <a:p>
            <a:r>
              <a:rPr lang="en-VN" sz="3600">
                <a:solidFill>
                  <a:srgbClr val="FF0000"/>
                </a:solidFill>
              </a:rPr>
              <a:t>Học Lý thuyết độ phức tạp lần đầu belike*</a:t>
            </a:r>
          </a:p>
        </p:txBody>
      </p:sp>
      <p:sp>
        <p:nvSpPr>
          <p:cNvPr id="11" name="TextBox 10">
            <a:extLst>
              <a:ext uri="{FF2B5EF4-FFF2-40B4-BE49-F238E27FC236}">
                <a16:creationId xmlns:a16="http://schemas.microsoft.com/office/drawing/2014/main" id="{D9535149-B1FC-65B5-6A91-E0DA1AEBC8E5}"/>
              </a:ext>
            </a:extLst>
          </p:cNvPr>
          <p:cNvSpPr txBox="1"/>
          <p:nvPr/>
        </p:nvSpPr>
        <p:spPr>
          <a:xfrm>
            <a:off x="7578188" y="2087235"/>
            <a:ext cx="4243952" cy="646331"/>
          </a:xfrm>
          <a:prstGeom prst="rect">
            <a:avLst/>
          </a:prstGeom>
          <a:noFill/>
        </p:spPr>
        <p:txBody>
          <a:bodyPr wrap="square" rtlCol="0">
            <a:spAutoFit/>
          </a:bodyPr>
          <a:lstStyle/>
          <a:p>
            <a:r>
              <a:rPr lang="en-VN" sz="3600">
                <a:solidFill>
                  <a:srgbClr val="FF0000"/>
                </a:solidFill>
              </a:rPr>
              <a:t>Tạm thời bỏ qua nhé</a:t>
            </a:r>
          </a:p>
        </p:txBody>
      </p:sp>
    </p:spTree>
    <p:extLst>
      <p:ext uri="{BB962C8B-B14F-4D97-AF65-F5344CB8AC3E}">
        <p14:creationId xmlns:p14="http://schemas.microsoft.com/office/powerpoint/2010/main" val="148952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Máy Turing không đơn định</a:t>
            </a:r>
            <a:endParaRPr lang="en-US" dirty="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0D0CDB7-408E-4087-97A3-9FD1143A2DD2}"/>
                  </a:ext>
                </a:extLst>
              </p:cNvPr>
              <p:cNvSpPr>
                <a:spLocks noGrp="1"/>
              </p:cNvSpPr>
              <p:nvPr>
                <p:ph idx="1"/>
              </p:nvPr>
            </p:nvSpPr>
            <p:spPr>
              <a:xfrm>
                <a:off x="838200" y="1825625"/>
                <a:ext cx="10515600" cy="444923"/>
              </a:xfrm>
            </p:spPr>
            <p:txBody>
              <a:bodyPr>
                <a:noAutofit/>
              </a:bodyPr>
              <a:lstStyle/>
              <a:p>
                <a:pPr marL="0" indent="0">
                  <a:buNone/>
                </a:pPr>
                <a14:m>
                  <m:oMath xmlns:m="http://schemas.openxmlformats.org/officeDocument/2006/math">
                    <m:r>
                      <a:rPr lang="en-US" sz="3600" b="0" i="1" smtClean="0">
                        <a:latin typeface="Cambria Math" panose="02040503050406030204" pitchFamily="18" charset="0"/>
                        <a:ea typeface="Cambria Math" panose="02040503050406030204" pitchFamily="18" charset="0"/>
                      </a:rPr>
                      <m:t>𝒯</m:t>
                    </m:r>
                    <m:r>
                      <a:rPr lang="en-US" sz="3600" b="0" i="1" smtClean="0">
                        <a:latin typeface="Cambria Math" panose="02040503050406030204" pitchFamily="18" charset="0"/>
                      </a:rPr>
                      <m:t>={</m:t>
                    </m:r>
                    <m:r>
                      <a:rPr lang="en-US" sz="3600" b="0" i="1" smtClean="0">
                        <a:latin typeface="Cambria Math" panose="02040503050406030204" pitchFamily="18" charset="0"/>
                      </a:rPr>
                      <m:t>𝑄</m:t>
                    </m:r>
                    <m:r>
                      <a:rPr lang="en-US" sz="3600" b="0" i="1" smtClean="0">
                        <a:latin typeface="Cambria Math" panose="02040503050406030204" pitchFamily="18" charset="0"/>
                      </a:rPr>
                      <m:t>,</m:t>
                    </m:r>
                    <m:r>
                      <m:rPr>
                        <m:sty m:val="p"/>
                      </m:rPr>
                      <a:rPr lang="el-GR" sz="3600" b="0" i="1" smtClean="0">
                        <a:latin typeface="Cambria Math" panose="02040503050406030204" pitchFamily="18" charset="0"/>
                        <a:ea typeface="Cambria Math" panose="02040503050406030204" pitchFamily="18" charset="0"/>
                      </a:rPr>
                      <m:t>Σ</m:t>
                    </m:r>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𝑞</m:t>
                        </m:r>
                      </m:e>
                      <m:sub>
                        <m:r>
                          <a:rPr lang="en-US" sz="3600" b="0" i="1" smtClean="0">
                            <a:latin typeface="Cambria Math" panose="02040503050406030204" pitchFamily="18" charset="0"/>
                            <a:ea typeface="Cambria Math" panose="02040503050406030204" pitchFamily="18" charset="0"/>
                          </a:rPr>
                          <m:t>𝑠𝑡𝑎𝑟𝑡</m:t>
                        </m:r>
                      </m:sub>
                    </m:sSub>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𝑞</m:t>
                        </m:r>
                      </m:e>
                      <m:sub>
                        <m:r>
                          <a:rPr lang="en-US" sz="3600" b="0" i="1" smtClean="0">
                            <a:latin typeface="Cambria Math" panose="02040503050406030204" pitchFamily="18" charset="0"/>
                            <a:ea typeface="Cambria Math" panose="02040503050406030204" pitchFamily="18" charset="0"/>
                          </a:rPr>
                          <m:t>𝑟𝑒𝑗𝑒𝑐𝑡</m:t>
                        </m:r>
                      </m:sub>
                    </m:sSub>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𝑞</m:t>
                        </m:r>
                      </m:e>
                      <m:sub>
                        <m:r>
                          <a:rPr lang="en-US" sz="3600" b="0" i="1" smtClean="0">
                            <a:latin typeface="Cambria Math" panose="02040503050406030204" pitchFamily="18" charset="0"/>
                            <a:ea typeface="Cambria Math" panose="02040503050406030204" pitchFamily="18" charset="0"/>
                          </a:rPr>
                          <m:t>𝑎𝑐𝑐𝑒𝑝𝑡</m:t>
                        </m:r>
                      </m:sub>
                    </m:sSub>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𝛿</m:t>
                    </m:r>
                    <m:r>
                      <a:rPr lang="en-US" sz="3600" b="0" i="1" smtClean="0">
                        <a:latin typeface="Cambria Math" panose="02040503050406030204" pitchFamily="18" charset="0"/>
                      </a:rPr>
                      <m:t>}</m:t>
                    </m:r>
                  </m:oMath>
                </a14:m>
                <a:r>
                  <a:rPr lang="en-US" sz="3600" b="0" dirty="0"/>
                  <a:t> </a:t>
                </a:r>
              </a:p>
            </p:txBody>
          </p:sp>
        </mc:Choice>
        <mc:Fallback xmlns="">
          <p:sp>
            <p:nvSpPr>
              <p:cNvPr id="3" name="Chỗ dành sẵn cho Nội dung 2">
                <a:extLst>
                  <a:ext uri="{FF2B5EF4-FFF2-40B4-BE49-F238E27FC236}">
                    <a16:creationId xmlns:a16="http://schemas.microsoft.com/office/drawing/2014/main" id="{20D0CDB7-408E-4087-97A3-9FD1143A2DD2}"/>
                  </a:ext>
                </a:extLst>
              </p:cNvPr>
              <p:cNvSpPr>
                <a:spLocks noGrp="1" noRot="1" noChangeAspect="1" noMove="1" noResize="1" noEditPoints="1" noAdjustHandles="1" noChangeArrowheads="1" noChangeShapeType="1" noTextEdit="1"/>
              </p:cNvSpPr>
              <p:nvPr>
                <p:ph idx="1"/>
              </p:nvPr>
            </p:nvSpPr>
            <p:spPr>
              <a:xfrm>
                <a:off x="838200" y="1825625"/>
                <a:ext cx="10515600" cy="444923"/>
              </a:xfrm>
              <a:blipFill>
                <a:blip r:embed="rId2"/>
                <a:stretch>
                  <a:fillRect l="-724" b="-69444"/>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F8F89BA8-C804-49F1-AF16-C98ACEB3D90E}"/>
              </a:ext>
            </a:extLst>
          </p:cNvPr>
          <p:cNvSpPr>
            <a:spLocks noGrp="1"/>
          </p:cNvSpPr>
          <p:nvPr>
            <p:ph type="sldNum" sz="quarter" idx="12"/>
          </p:nvPr>
        </p:nvSpPr>
        <p:spPr/>
        <p:txBody>
          <a:bodyPr/>
          <a:lstStyle/>
          <a:p>
            <a:fld id="{74ABBA0F-ED8F-4A6E-AA06-FEAFBF3D52EE}" type="slidenum">
              <a:rPr lang="en-US" smtClean="0"/>
              <a:t>12</a:t>
            </a:fld>
            <a:endParaRPr lang="en-US"/>
          </a:p>
        </p:txBody>
      </p:sp>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85497540-82E5-44C4-88E3-34180F358CF5}"/>
                  </a:ext>
                </a:extLst>
              </p:cNvPr>
              <p:cNvSpPr txBox="1"/>
              <p:nvPr/>
            </p:nvSpPr>
            <p:spPr>
              <a:xfrm>
                <a:off x="838200" y="2498474"/>
                <a:ext cx="10306878" cy="68473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3600" i="1" smtClean="0">
                          <a:latin typeface="Cambria Math" panose="02040503050406030204" pitchFamily="18" charset="0"/>
                          <a:ea typeface="Cambria Math" panose="02040503050406030204" pitchFamily="18" charset="0"/>
                        </a:rPr>
                        <m:t>𝛿</m:t>
                      </m:r>
                      <m:r>
                        <a:rPr lang="en-US" sz="3600" b="0" i="1" smtClean="0">
                          <a:latin typeface="Cambria Math" panose="02040503050406030204" pitchFamily="18" charset="0"/>
                          <a:ea typeface="Cambria Math" panose="02040503050406030204" pitchFamily="18" charset="0"/>
                        </a:rPr>
                        <m:t>=</m:t>
                      </m:r>
                      <m:r>
                        <a:rPr lang="el-GR" sz="3600" i="1" smtClean="0">
                          <a:latin typeface="Cambria Math" panose="02040503050406030204" pitchFamily="18" charset="0"/>
                        </a:rPr>
                        <m:t>𝑄</m:t>
                      </m:r>
                      <m:r>
                        <a:rPr lang="el-GR" sz="3600" i="1" smtClean="0">
                          <a:latin typeface="Cambria Math" panose="02040503050406030204" pitchFamily="18" charset="0"/>
                        </a:rPr>
                        <m:t> × </m:t>
                      </m:r>
                      <m:r>
                        <m:rPr>
                          <m:sty m:val="p"/>
                        </m:rPr>
                        <a:rPr lang="el-GR" sz="3600" i="0" smtClean="0">
                          <a:latin typeface="Cambria Math" panose="02040503050406030204" pitchFamily="18" charset="0"/>
                          <a:ea typeface="Cambria Math" panose="02040503050406030204" pitchFamily="18" charset="0"/>
                        </a:rPr>
                        <m:t>Σ</m:t>
                      </m:r>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0,1</m:t>
                              </m:r>
                            </m:e>
                          </m:d>
                        </m:e>
                        <m:sup>
                          <m:r>
                            <a:rPr lang="en-US" sz="3600" i="1">
                              <a:latin typeface="Cambria Math" panose="02040503050406030204" pitchFamily="18" charset="0"/>
                            </a:rPr>
                            <m:t>(</m:t>
                          </m:r>
                          <m:r>
                            <a:rPr lang="el-GR" sz="3600" i="1">
                              <a:latin typeface="Cambria Math" panose="02040503050406030204" pitchFamily="18" charset="0"/>
                            </a:rPr>
                            <m:t>𝑄</m:t>
                          </m:r>
                          <m:r>
                            <a:rPr lang="el-GR" sz="3600" i="1">
                              <a:latin typeface="Cambria Math" panose="02040503050406030204" pitchFamily="18" charset="0"/>
                            </a:rPr>
                            <m:t> × </m:t>
                          </m:r>
                          <m:r>
                            <m:rPr>
                              <m:sty m:val="p"/>
                            </m:rPr>
                            <a:rPr lang="el-GR" sz="3600">
                              <a:latin typeface="Cambria Math" panose="02040503050406030204" pitchFamily="18" charset="0"/>
                              <a:ea typeface="Cambria Math" panose="02040503050406030204" pitchFamily="18" charset="0"/>
                            </a:rPr>
                            <m:t>Σ</m:t>
                          </m:r>
                          <m:r>
                            <a:rPr lang="el-GR" sz="3600" i="1">
                              <a:latin typeface="Cambria Math" panose="02040503050406030204" pitchFamily="18" charset="0"/>
                            </a:rPr>
                            <m:t> × </m:t>
                          </m:r>
                          <m:d>
                            <m:dPr>
                              <m:begChr m:val="{"/>
                              <m:endChr m:val="}"/>
                              <m:ctrlPr>
                                <a:rPr lang="el-GR" sz="3600" i="1">
                                  <a:latin typeface="Cambria Math" panose="02040503050406030204" pitchFamily="18" charset="0"/>
                                </a:rPr>
                              </m:ctrlPr>
                            </m:dPr>
                            <m:e>
                              <m:r>
                                <a:rPr lang="el-GR" sz="3600" i="1">
                                  <a:latin typeface="Cambria Math" panose="02040503050406030204" pitchFamily="18" charset="0"/>
                                </a:rPr>
                                <m:t>𝐿</m:t>
                              </m:r>
                              <m:r>
                                <a:rPr lang="el-GR" sz="3600" i="1">
                                  <a:latin typeface="Cambria Math" panose="02040503050406030204" pitchFamily="18" charset="0"/>
                                </a:rPr>
                                <m:t>, </m:t>
                              </m:r>
                              <m:r>
                                <a:rPr lang="el-GR" sz="3600" i="1">
                                  <a:latin typeface="Cambria Math" panose="02040503050406030204" pitchFamily="18" charset="0"/>
                                </a:rPr>
                                <m:t>𝑅</m:t>
                              </m:r>
                            </m:e>
                          </m:d>
                          <m:r>
                            <a:rPr lang="en-US" sz="3600" i="1">
                              <a:latin typeface="Cambria Math" panose="02040503050406030204" pitchFamily="18" charset="0"/>
                            </a:rPr>
                            <m:t>)</m:t>
                          </m:r>
                        </m:sup>
                      </m:sSup>
                    </m:oMath>
                  </m:oMathPara>
                </a14:m>
                <a:endParaRPr lang="en-US" sz="3600"/>
              </a:p>
            </p:txBody>
          </p:sp>
        </mc:Choice>
        <mc:Fallback xmlns="">
          <p:sp>
            <p:nvSpPr>
              <p:cNvPr id="6" name="Hộp Văn bản 5">
                <a:extLst>
                  <a:ext uri="{FF2B5EF4-FFF2-40B4-BE49-F238E27FC236}">
                    <a16:creationId xmlns:a16="http://schemas.microsoft.com/office/drawing/2014/main" id="{85497540-82E5-44C4-88E3-34180F358CF5}"/>
                  </a:ext>
                </a:extLst>
              </p:cNvPr>
              <p:cNvSpPr txBox="1">
                <a:spLocks noRot="1" noChangeAspect="1" noMove="1" noResize="1" noEditPoints="1" noAdjustHandles="1" noChangeArrowheads="1" noChangeShapeType="1" noTextEdit="1"/>
              </p:cNvSpPr>
              <p:nvPr/>
            </p:nvSpPr>
            <p:spPr>
              <a:xfrm>
                <a:off x="838200" y="2498474"/>
                <a:ext cx="10306878" cy="684739"/>
              </a:xfrm>
              <a:prstGeom prst="rect">
                <a:avLst/>
              </a:prstGeom>
              <a:blipFill>
                <a:blip r:embed="rId3"/>
                <a:stretch>
                  <a:fillRect l="-739" b="-23636"/>
                </a:stretch>
              </a:blipFill>
            </p:spPr>
            <p:txBody>
              <a:bodyPr/>
              <a:lstStyle/>
              <a:p>
                <a:r>
                  <a:rPr lang="en-VN">
                    <a:noFill/>
                  </a:rPr>
                  <a:t> </a:t>
                </a:r>
              </a:p>
            </p:txBody>
          </p:sp>
        </mc:Fallback>
      </mc:AlternateContent>
      <p:pic>
        <p:nvPicPr>
          <p:cNvPr id="7" name="Hình ảnh 6">
            <a:extLst>
              <a:ext uri="{FF2B5EF4-FFF2-40B4-BE49-F238E27FC236}">
                <a16:creationId xmlns:a16="http://schemas.microsoft.com/office/drawing/2014/main" id="{60A31778-4DD9-4ED2-A19B-29111639A290}"/>
              </a:ext>
            </a:extLst>
          </p:cNvPr>
          <p:cNvPicPr>
            <a:picLocks noChangeAspect="1"/>
          </p:cNvPicPr>
          <p:nvPr/>
        </p:nvPicPr>
        <p:blipFill rotWithShape="1">
          <a:blip r:embed="rId4"/>
          <a:srcRect l="15409" t="24653" r="24684" b="26570"/>
          <a:stretch/>
        </p:blipFill>
        <p:spPr>
          <a:xfrm>
            <a:off x="848356" y="3254644"/>
            <a:ext cx="7446809" cy="3423929"/>
          </a:xfrm>
          <a:prstGeom prst="rect">
            <a:avLst/>
          </a:prstGeom>
        </p:spPr>
      </p:pic>
    </p:spTree>
    <p:extLst>
      <p:ext uri="{BB962C8B-B14F-4D97-AF65-F5344CB8AC3E}">
        <p14:creationId xmlns:p14="http://schemas.microsoft.com/office/powerpoint/2010/main" val="406936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Máy Turing lượng tử</a:t>
            </a:r>
            <a:endParaRPr lang="en-US" dirty="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0D0CDB7-408E-4087-97A3-9FD1143A2DD2}"/>
                  </a:ext>
                </a:extLst>
              </p:cNvPr>
              <p:cNvSpPr>
                <a:spLocks noGrp="1"/>
              </p:cNvSpPr>
              <p:nvPr>
                <p:ph idx="1"/>
              </p:nvPr>
            </p:nvSpPr>
            <p:spPr>
              <a:xfrm>
                <a:off x="838199" y="1825625"/>
                <a:ext cx="11606939" cy="4351338"/>
              </a:xfrm>
            </p:spPr>
            <p:txBody>
              <a:bodyPr>
                <a:normAutofit/>
              </a:bodyPr>
              <a:lstStyle/>
              <a:p>
                <a:pPr marL="0" indent="0">
                  <a:buNone/>
                </a:pPr>
                <a14:m>
                  <m:oMath xmlns:m="http://schemas.openxmlformats.org/officeDocument/2006/math">
                    <m:r>
                      <a:rPr lang="en-US" sz="3600" i="0">
                        <a:latin typeface="Cambria Math" panose="02040503050406030204" pitchFamily="18" charset="0"/>
                        <a:ea typeface="Cambria Math" panose="02040503050406030204" pitchFamily="18" charset="0"/>
                      </a:rPr>
                      <m:t>𝒯</m:t>
                    </m:r>
                  </m:oMath>
                </a14:m>
                <a:r>
                  <a:rPr lang="el-GR" sz="3600"/>
                  <a:t> = {𝑄, Σ,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𝑞</m:t>
                        </m:r>
                      </m:e>
                      <m:sub>
                        <m:r>
                          <a:rPr lang="en-US" sz="3600" i="1">
                            <a:latin typeface="Cambria Math" panose="02040503050406030204" pitchFamily="18" charset="0"/>
                          </a:rPr>
                          <m:t>𝑠𝑡𝑎𝑟𝑡</m:t>
                        </m:r>
                      </m:sub>
                    </m:sSub>
                  </m:oMath>
                </a14:m>
                <a:r>
                  <a:rPr lang="el-GR" sz="3600" i="1"/>
                  <a: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𝑞</m:t>
                        </m:r>
                      </m:e>
                      <m:sub>
                        <m:r>
                          <a:rPr lang="en-US" sz="3600" i="1">
                            <a:latin typeface="Cambria Math" panose="02040503050406030204" pitchFamily="18" charset="0"/>
                          </a:rPr>
                          <m:t>𝑎𝑐𝑐𝑒𝑝𝑡</m:t>
                        </m:r>
                      </m:sub>
                    </m:sSub>
                  </m:oMath>
                </a14:m>
                <a:r>
                  <a:rPr lang="el-GR" sz="3600" i="1"/>
                  <a: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𝑞</m:t>
                        </m:r>
                      </m:e>
                      <m:sub>
                        <m:r>
                          <a:rPr lang="en-US" sz="3600" i="1">
                            <a:latin typeface="Cambria Math" panose="02040503050406030204" pitchFamily="18" charset="0"/>
                          </a:rPr>
                          <m:t>𝑟𝑒𝑗𝑒𝑐𝑡</m:t>
                        </m:r>
                      </m:sub>
                    </m:sSub>
                  </m:oMath>
                </a14:m>
                <a:r>
                  <a:rPr lang="el-GR" sz="3600"/>
                  <a:t>, 𝛿′}</a:t>
                </a:r>
                <a:endParaRPr lang="vi-VN" sz="3600"/>
              </a:p>
              <a:p>
                <a:pPr marL="0" indent="0">
                  <a:buNone/>
                </a:pPr>
                <a:r>
                  <a:rPr lang="en-US" sz="3600"/>
                  <a:t>𝛿′: 𝑄 × 𝛴 × 𝑄 × 𝛴 × {𝐿, 𝑅} → ℂ</a:t>
                </a:r>
              </a:p>
              <a:p>
                <a:pPr marL="0" indent="0">
                  <a:buNone/>
                </a:pPr>
                <a14:m>
                  <m:oMath xmlns:m="http://schemas.openxmlformats.org/officeDocument/2006/math">
                    <m:d>
                      <m:dPr>
                        <m:ctrlPr>
                          <a:rPr lang="vi-VN" sz="3600" b="0" i="1">
                            <a:latin typeface="Cambria Math" panose="02040503050406030204" pitchFamily="18" charset="0"/>
                          </a:rPr>
                        </m:ctrlPr>
                      </m:dPr>
                      <m:e>
                        <m:r>
                          <a:rPr lang="vi-VN" sz="3600" b="0" i="1">
                            <a:latin typeface="Cambria Math" panose="02040503050406030204" pitchFamily="18" charset="0"/>
                          </a:rPr>
                          <m:t>∀</m:t>
                        </m:r>
                        <m:r>
                          <a:rPr lang="vi-VN" sz="3600" i="1">
                            <a:latin typeface="Cambria Math" panose="02040503050406030204" pitchFamily="18" charset="0"/>
                          </a:rPr>
                          <m:t>𝑞</m:t>
                        </m:r>
                        <m:r>
                          <a:rPr lang="vi-VN" sz="3600" b="0" i="1">
                            <a:latin typeface="Cambria Math" panose="02040503050406030204" pitchFamily="18" charset="0"/>
                          </a:rPr>
                          <m:t>∈</m:t>
                        </m:r>
                        <m:r>
                          <a:rPr lang="vi-VN" sz="3600" i="1">
                            <a:latin typeface="Cambria Math" panose="02040503050406030204" pitchFamily="18" charset="0"/>
                          </a:rPr>
                          <m:t>𝑄</m:t>
                        </m:r>
                        <m:r>
                          <a:rPr lang="vi-VN" sz="3600" b="0" i="1">
                            <a:latin typeface="Cambria Math" panose="02040503050406030204" pitchFamily="18" charset="0"/>
                          </a:rPr>
                          <m:t>,∀</m:t>
                        </m:r>
                        <m:r>
                          <a:rPr lang="vi-VN" sz="3600" b="0" i="1">
                            <a:latin typeface="Cambria Math" panose="02040503050406030204" pitchFamily="18" charset="0"/>
                          </a:rPr>
                          <m:t>𝜎</m:t>
                        </m:r>
                        <m:r>
                          <a:rPr lang="vi-VN" sz="3600" b="0" i="1">
                            <a:latin typeface="Cambria Math" panose="02040503050406030204" pitchFamily="18" charset="0"/>
                          </a:rPr>
                          <m:t>∈</m:t>
                        </m:r>
                        <m:r>
                          <a:rPr lang="vi-VN" sz="3600" b="0" i="1">
                            <a:latin typeface="Cambria Math" panose="02040503050406030204" pitchFamily="18" charset="0"/>
                          </a:rPr>
                          <m:t>𝛴</m:t>
                        </m:r>
                      </m:e>
                    </m:d>
                    <m:nary>
                      <m:naryPr>
                        <m:chr m:val="∑"/>
                        <m:supHide m:val="on"/>
                        <m:ctrlPr>
                          <a:rPr lang="vi-VN" sz="3600" b="0" i="1">
                            <a:latin typeface="Cambria Math" panose="02040503050406030204" pitchFamily="18" charset="0"/>
                          </a:rPr>
                        </m:ctrlPr>
                      </m:naryPr>
                      <m:sub>
                        <m:sSup>
                          <m:sSupPr>
                            <m:ctrlPr>
                              <a:rPr lang="vi-VN" sz="3600" b="0" i="1">
                                <a:latin typeface="Cambria Math" panose="02040503050406030204" pitchFamily="18" charset="0"/>
                              </a:rPr>
                            </m:ctrlPr>
                          </m:sSupPr>
                          <m:e>
                            <m:r>
                              <m:rPr>
                                <m:brk m:alnAt="7"/>
                              </m:rPr>
                              <a:rPr lang="vi-VN" sz="3600" i="1">
                                <a:latin typeface="Cambria Math" panose="02040503050406030204" pitchFamily="18" charset="0"/>
                              </a:rPr>
                              <m:t>𝑞</m:t>
                            </m:r>
                          </m:e>
                          <m:sup>
                            <m:r>
                              <a:rPr lang="vi-VN" sz="3600" b="0" i="1">
                                <a:latin typeface="Cambria Math" panose="02040503050406030204" pitchFamily="18" charset="0"/>
                              </a:rPr>
                              <m:t>′</m:t>
                            </m:r>
                          </m:sup>
                        </m:sSup>
                        <m:r>
                          <a:rPr lang="vi-VN" sz="3600" b="0" i="1">
                            <a:latin typeface="Cambria Math" panose="02040503050406030204" pitchFamily="18" charset="0"/>
                          </a:rPr>
                          <m:t>∈</m:t>
                        </m:r>
                        <m:r>
                          <a:rPr lang="vi-VN" sz="3600" i="1">
                            <a:latin typeface="Cambria Math" panose="02040503050406030204" pitchFamily="18" charset="0"/>
                          </a:rPr>
                          <m:t>𝑄</m:t>
                        </m:r>
                        <m:r>
                          <a:rPr lang="vi-VN" sz="3600" b="0" i="1">
                            <a:latin typeface="Cambria Math" panose="02040503050406030204" pitchFamily="18" charset="0"/>
                          </a:rPr>
                          <m:t>,</m:t>
                        </m:r>
                        <m:sSup>
                          <m:sSupPr>
                            <m:ctrlPr>
                              <a:rPr lang="vi-VN" sz="3600" b="0" i="1">
                                <a:latin typeface="Cambria Math" panose="02040503050406030204" pitchFamily="18" charset="0"/>
                              </a:rPr>
                            </m:ctrlPr>
                          </m:sSupPr>
                          <m:e>
                            <m:r>
                              <a:rPr lang="vi-VN" sz="3600" b="0" i="1">
                                <a:latin typeface="Cambria Math" panose="02040503050406030204" pitchFamily="18" charset="0"/>
                              </a:rPr>
                              <m:t>𝜎</m:t>
                            </m:r>
                          </m:e>
                          <m:sup>
                            <m:r>
                              <a:rPr lang="vi-VN" sz="3600" b="0" i="1">
                                <a:latin typeface="Cambria Math" panose="02040503050406030204" pitchFamily="18" charset="0"/>
                              </a:rPr>
                              <m:t>′</m:t>
                            </m:r>
                          </m:sup>
                        </m:sSup>
                        <m:r>
                          <a:rPr lang="vi-VN" sz="3600" b="0" i="1">
                            <a:latin typeface="Cambria Math" panose="02040503050406030204" pitchFamily="18" charset="0"/>
                          </a:rPr>
                          <m:t>∈</m:t>
                        </m:r>
                        <m:r>
                          <a:rPr lang="vi-VN" sz="3600" b="0" i="1">
                            <a:latin typeface="Cambria Math" panose="02040503050406030204" pitchFamily="18" charset="0"/>
                          </a:rPr>
                          <m:t>𝛴</m:t>
                        </m:r>
                        <m:r>
                          <a:rPr lang="vi-VN" sz="3600" b="0" i="1">
                            <a:latin typeface="Cambria Math" panose="02040503050406030204" pitchFamily="18" charset="0"/>
                          </a:rPr>
                          <m:t>,</m:t>
                        </m:r>
                        <m:r>
                          <a:rPr lang="vi-VN" sz="3600" i="1">
                            <a:latin typeface="Cambria Math" panose="02040503050406030204" pitchFamily="18" charset="0"/>
                          </a:rPr>
                          <m:t>𝐷</m:t>
                        </m:r>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r>
                              <a:rPr lang="vi-VN" sz="3600" i="1">
                                <a:latin typeface="Cambria Math" panose="02040503050406030204" pitchFamily="18" charset="0"/>
                              </a:rPr>
                              <m:t>𝐿</m:t>
                            </m:r>
                            <m:r>
                              <a:rPr lang="vi-VN" sz="3600" b="0" i="1">
                                <a:latin typeface="Cambria Math" panose="02040503050406030204" pitchFamily="18" charset="0"/>
                              </a:rPr>
                              <m:t>,</m:t>
                            </m:r>
                            <m:r>
                              <a:rPr lang="vi-VN" sz="3600" i="1">
                                <a:latin typeface="Cambria Math" panose="02040503050406030204" pitchFamily="18" charset="0"/>
                              </a:rPr>
                              <m:t>𝑅</m:t>
                            </m:r>
                          </m:e>
                        </m:d>
                      </m:sub>
                      <m:sup/>
                      <m:e>
                        <m:sSup>
                          <m:sSupPr>
                            <m:ctrlPr>
                              <a:rPr lang="vi-VN" sz="3600" b="0" i="1">
                                <a:latin typeface="Cambria Math" panose="02040503050406030204" pitchFamily="18" charset="0"/>
                              </a:rPr>
                            </m:ctrlPr>
                          </m:sSupPr>
                          <m:e>
                            <m:d>
                              <m:dPr>
                                <m:begChr m:val="|"/>
                                <m:endChr m:val="|"/>
                                <m:ctrlPr>
                                  <a:rPr lang="vi-VN" sz="3600" b="0" i="1">
                                    <a:latin typeface="Cambria Math" panose="02040503050406030204" pitchFamily="18" charset="0"/>
                                  </a:rPr>
                                </m:ctrlPr>
                              </m:dPr>
                              <m:e>
                                <m:sSup>
                                  <m:sSupPr>
                                    <m:ctrlPr>
                                      <a:rPr lang="vi-VN" sz="3600" b="0" i="1">
                                        <a:latin typeface="Cambria Math" panose="02040503050406030204" pitchFamily="18" charset="0"/>
                                      </a:rPr>
                                    </m:ctrlPr>
                                  </m:sSupPr>
                                  <m:e>
                                    <m:r>
                                      <a:rPr lang="vi-VN" sz="3600" b="0" i="1">
                                        <a:latin typeface="Cambria Math" panose="02040503050406030204" pitchFamily="18" charset="0"/>
                                      </a:rPr>
                                      <m:t>𝛿</m:t>
                                    </m:r>
                                  </m:e>
                                  <m:sup>
                                    <m:r>
                                      <a:rPr lang="vi-VN" sz="3600" b="0" i="1">
                                        <a:latin typeface="Cambria Math" panose="02040503050406030204" pitchFamily="18" charset="0"/>
                                      </a:rPr>
                                      <m:t>′</m:t>
                                    </m:r>
                                  </m:sup>
                                </m:sSup>
                                <m:d>
                                  <m:dPr>
                                    <m:ctrlPr>
                                      <a:rPr lang="vi-VN" sz="3600" b="0" i="1">
                                        <a:latin typeface="Cambria Math" panose="02040503050406030204" pitchFamily="18" charset="0"/>
                                      </a:rPr>
                                    </m:ctrlPr>
                                  </m:dPr>
                                  <m:e>
                                    <m:r>
                                      <a:rPr lang="vi-VN" sz="3600" i="1">
                                        <a:latin typeface="Cambria Math" panose="02040503050406030204" pitchFamily="18" charset="0"/>
                                      </a:rPr>
                                      <m:t>𝑞</m:t>
                                    </m:r>
                                    <m:r>
                                      <a:rPr lang="vi-VN" sz="3600" b="0" i="1">
                                        <a:latin typeface="Cambria Math" panose="02040503050406030204" pitchFamily="18" charset="0"/>
                                      </a:rPr>
                                      <m:t>,</m:t>
                                    </m:r>
                                    <m:r>
                                      <a:rPr lang="vi-VN" sz="3600" b="0" i="1">
                                        <a:latin typeface="Cambria Math" panose="02040503050406030204" pitchFamily="18" charset="0"/>
                                      </a:rPr>
                                      <m:t>𝜎</m:t>
                                    </m:r>
                                    <m:r>
                                      <a:rPr lang="vi-VN" sz="3600" b="0" i="1">
                                        <a:latin typeface="Cambria Math" panose="02040503050406030204" pitchFamily="18" charset="0"/>
                                      </a:rPr>
                                      <m:t>,</m:t>
                                    </m:r>
                                    <m:sSup>
                                      <m:sSupPr>
                                        <m:ctrlPr>
                                          <a:rPr lang="vi-VN" sz="3600" b="0" i="1">
                                            <a:latin typeface="Cambria Math" panose="02040503050406030204" pitchFamily="18" charset="0"/>
                                          </a:rPr>
                                        </m:ctrlPr>
                                      </m:sSupPr>
                                      <m:e>
                                        <m:r>
                                          <a:rPr lang="vi-VN" sz="3600" i="1">
                                            <a:latin typeface="Cambria Math" panose="02040503050406030204" pitchFamily="18" charset="0"/>
                                          </a:rPr>
                                          <m:t>𝑞</m:t>
                                        </m:r>
                                      </m:e>
                                      <m:sup>
                                        <m:r>
                                          <a:rPr lang="vi-VN" sz="3600" b="0" i="1">
                                            <a:latin typeface="Cambria Math" panose="02040503050406030204" pitchFamily="18" charset="0"/>
                                          </a:rPr>
                                          <m:t>′</m:t>
                                        </m:r>
                                      </m:sup>
                                    </m:sSup>
                                    <m:r>
                                      <a:rPr lang="vi-VN" sz="3600" b="0" i="1">
                                        <a:latin typeface="Cambria Math" panose="02040503050406030204" pitchFamily="18" charset="0"/>
                                      </a:rPr>
                                      <m:t>,</m:t>
                                    </m:r>
                                    <m:sSup>
                                      <m:sSupPr>
                                        <m:ctrlPr>
                                          <a:rPr lang="vi-VN" sz="3600" b="0" i="1">
                                            <a:latin typeface="Cambria Math" panose="02040503050406030204" pitchFamily="18" charset="0"/>
                                          </a:rPr>
                                        </m:ctrlPr>
                                      </m:sSupPr>
                                      <m:e>
                                        <m:r>
                                          <a:rPr lang="vi-VN" sz="3600" b="0" i="1">
                                            <a:latin typeface="Cambria Math" panose="02040503050406030204" pitchFamily="18" charset="0"/>
                                          </a:rPr>
                                          <m:t>𝜎</m:t>
                                        </m:r>
                                      </m:e>
                                      <m:sup>
                                        <m:r>
                                          <a:rPr lang="vi-VN" sz="3600" b="0" i="1">
                                            <a:latin typeface="Cambria Math" panose="02040503050406030204" pitchFamily="18" charset="0"/>
                                          </a:rPr>
                                          <m:t>′</m:t>
                                        </m:r>
                                      </m:sup>
                                    </m:sSup>
                                    <m:r>
                                      <a:rPr lang="vi-VN" sz="3600" b="0" i="1">
                                        <a:latin typeface="Cambria Math" panose="02040503050406030204" pitchFamily="18" charset="0"/>
                                      </a:rPr>
                                      <m:t>,</m:t>
                                    </m:r>
                                    <m:r>
                                      <a:rPr lang="vi-VN" sz="3600" i="1">
                                        <a:latin typeface="Cambria Math" panose="02040503050406030204" pitchFamily="18" charset="0"/>
                                      </a:rPr>
                                      <m:t>𝐷</m:t>
                                    </m:r>
                                  </m:e>
                                </m:d>
                              </m:e>
                            </m:d>
                          </m:e>
                          <m:sup>
                            <m:r>
                              <a:rPr lang="vi-VN" sz="3600" b="0" i="0">
                                <a:latin typeface="Cambria Math" panose="02040503050406030204" pitchFamily="18" charset="0"/>
                              </a:rPr>
                              <m:t>2</m:t>
                            </m:r>
                          </m:sup>
                        </m:sSup>
                        <m:r>
                          <a:rPr lang="vi-VN" sz="3600" b="0" i="0">
                            <a:latin typeface="Cambria Math" panose="02040503050406030204" pitchFamily="18" charset="0"/>
                          </a:rPr>
                          <m:t>=1</m:t>
                        </m:r>
                      </m:e>
                    </m:nary>
                  </m:oMath>
                </a14:m>
                <a:r>
                  <a:rPr lang="en-US" sz="3600"/>
                  <a:t> </a:t>
                </a:r>
              </a:p>
              <a:p>
                <a:pPr marL="0" indent="0">
                  <a:buNone/>
                </a:pPr>
                <a:endParaRPr lang="en-US" sz="3600"/>
              </a:p>
              <a:p>
                <a:pPr marL="0" indent="0">
                  <a:buNone/>
                </a:pPr>
                <a:r>
                  <a:rPr lang="en-US" sz="3600" b="0" dirty="0"/>
                  <a:t> </a:t>
                </a:r>
              </a:p>
            </p:txBody>
          </p:sp>
        </mc:Choice>
        <mc:Fallback xmlns="">
          <p:sp>
            <p:nvSpPr>
              <p:cNvPr id="3" name="Chỗ dành sẵn cho Nội dung 2">
                <a:extLst>
                  <a:ext uri="{FF2B5EF4-FFF2-40B4-BE49-F238E27FC236}">
                    <a16:creationId xmlns:a16="http://schemas.microsoft.com/office/drawing/2014/main" id="{20D0CDB7-408E-4087-97A3-9FD1143A2DD2}"/>
                  </a:ext>
                </a:extLst>
              </p:cNvPr>
              <p:cNvSpPr>
                <a:spLocks noGrp="1" noRot="1" noChangeAspect="1" noMove="1" noResize="1" noEditPoints="1" noAdjustHandles="1" noChangeArrowheads="1" noChangeShapeType="1" noTextEdit="1"/>
              </p:cNvSpPr>
              <p:nvPr>
                <p:ph idx="1"/>
              </p:nvPr>
            </p:nvSpPr>
            <p:spPr>
              <a:xfrm>
                <a:off x="838199" y="1825625"/>
                <a:ext cx="11606939" cy="4351338"/>
              </a:xfrm>
              <a:blipFill>
                <a:blip r:embed="rId2"/>
                <a:stretch>
                  <a:fillRect l="-1528" t="-2907"/>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B2E371DA-E0CA-4F0F-BD5E-32BB4881170C}"/>
              </a:ext>
            </a:extLst>
          </p:cNvPr>
          <p:cNvSpPr>
            <a:spLocks noGrp="1"/>
          </p:cNvSpPr>
          <p:nvPr>
            <p:ph type="sldNum" sz="quarter" idx="12"/>
          </p:nvPr>
        </p:nvSpPr>
        <p:spPr/>
        <p:txBody>
          <a:bodyPr/>
          <a:lstStyle/>
          <a:p>
            <a:fld id="{74ABBA0F-ED8F-4A6E-AA06-FEAFBF3D52EE}" type="slidenum">
              <a:rPr lang="en-US" smtClean="0"/>
              <a:t>13</a:t>
            </a:fld>
            <a:endParaRPr lang="en-US"/>
          </a:p>
        </p:txBody>
      </p:sp>
      <p:pic>
        <p:nvPicPr>
          <p:cNvPr id="6" name="Hình ảnh 7">
            <a:extLst>
              <a:ext uri="{FF2B5EF4-FFF2-40B4-BE49-F238E27FC236}">
                <a16:creationId xmlns:a16="http://schemas.microsoft.com/office/drawing/2014/main" id="{BC16BBA5-A1E6-D514-1139-E251B00EEC6D}"/>
              </a:ext>
            </a:extLst>
          </p:cNvPr>
          <p:cNvPicPr>
            <a:picLocks noChangeAspect="1"/>
          </p:cNvPicPr>
          <p:nvPr/>
        </p:nvPicPr>
        <p:blipFill>
          <a:blip r:embed="rId3"/>
          <a:stretch>
            <a:fillRect/>
          </a:stretch>
        </p:blipFill>
        <p:spPr>
          <a:xfrm>
            <a:off x="838199" y="4001294"/>
            <a:ext cx="5456583" cy="2712993"/>
          </a:xfrm>
          <a:prstGeom prst="rect">
            <a:avLst/>
          </a:prstGeom>
        </p:spPr>
      </p:pic>
      <p:pic>
        <p:nvPicPr>
          <p:cNvPr id="8" name="Hình ảnh 8">
            <a:extLst>
              <a:ext uri="{FF2B5EF4-FFF2-40B4-BE49-F238E27FC236}">
                <a16:creationId xmlns:a16="http://schemas.microsoft.com/office/drawing/2014/main" id="{4C05F0B6-4C82-CE3C-FD26-5023C39DBF97}"/>
              </a:ext>
            </a:extLst>
          </p:cNvPr>
          <p:cNvPicPr>
            <a:picLocks noChangeAspect="1"/>
          </p:cNvPicPr>
          <p:nvPr/>
        </p:nvPicPr>
        <p:blipFill>
          <a:blip r:embed="rId4"/>
          <a:stretch>
            <a:fillRect/>
          </a:stretch>
        </p:blipFill>
        <p:spPr>
          <a:xfrm>
            <a:off x="6407282" y="4001294"/>
            <a:ext cx="5305425" cy="1962150"/>
          </a:xfrm>
          <a:prstGeom prst="rect">
            <a:avLst/>
          </a:prstGeom>
        </p:spPr>
      </p:pic>
    </p:spTree>
    <p:extLst>
      <p:ext uri="{BB962C8B-B14F-4D97-AF65-F5344CB8AC3E}">
        <p14:creationId xmlns:p14="http://schemas.microsoft.com/office/powerpoint/2010/main" val="1069824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14</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extLst>
              <p:ext uri="{D42A27DB-BD31-4B8C-83A1-F6EECF244321}">
                <p14:modId xmlns:p14="http://schemas.microsoft.com/office/powerpoint/2010/main" val="3415070170"/>
              </p:ext>
            </p:extLst>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72619" y="316739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stCxn id="8" idx="1"/>
            <a:endCxn id="5" idx="3"/>
          </p:cNvCxnSpPr>
          <p:nvPr/>
        </p:nvCxnSpPr>
        <p:spPr>
          <a:xfrm flipH="1">
            <a:off x="5148699" y="3429000"/>
            <a:ext cx="723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5E1624B9-355F-4622-B5E2-DFFDC03CC872}"/>
                  </a:ext>
                </a:extLst>
              </p:cNvPr>
              <p:cNvSpPr txBox="1"/>
              <p:nvPr/>
            </p:nvSpPr>
            <p:spPr>
              <a:xfrm>
                <a:off x="7222434" y="2842363"/>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11" name="Hộp Văn bản 10">
                <a:extLst>
                  <a:ext uri="{FF2B5EF4-FFF2-40B4-BE49-F238E27FC236}">
                    <a16:creationId xmlns:a16="http://schemas.microsoft.com/office/drawing/2014/main" id="{5E1624B9-355F-4622-B5E2-DFFDC03CC872}"/>
                  </a:ext>
                </a:extLst>
              </p:cNvPr>
              <p:cNvSpPr txBox="1">
                <a:spLocks noRot="1" noChangeAspect="1" noMove="1" noResize="1" noEditPoints="1" noAdjustHandles="1" noChangeArrowheads="1" noChangeShapeType="1" noTextEdit="1"/>
              </p:cNvSpPr>
              <p:nvPr/>
            </p:nvSpPr>
            <p:spPr>
              <a:xfrm>
                <a:off x="7222434" y="2842363"/>
                <a:ext cx="2913457" cy="1077218"/>
              </a:xfrm>
              <a:prstGeom prst="rect">
                <a:avLst/>
              </a:prstGeom>
              <a:blipFill>
                <a:blip r:embed="rId2"/>
                <a:stretch>
                  <a:fillRect l="-5195" t="-6977" b="-16279"/>
                </a:stretch>
              </a:blipFill>
            </p:spPr>
            <p:txBody>
              <a:bodyPr/>
              <a:lstStyle/>
              <a:p>
                <a:r>
                  <a:rPr lang="en-VN">
                    <a:noFill/>
                  </a:rPr>
                  <a:t> </a:t>
                </a:r>
              </a:p>
            </p:txBody>
          </p:sp>
        </mc:Fallback>
      </mc:AlternateContent>
      <p:sp>
        <p:nvSpPr>
          <p:cNvPr id="2" name="TextBox 1">
            <a:extLst>
              <a:ext uri="{FF2B5EF4-FFF2-40B4-BE49-F238E27FC236}">
                <a16:creationId xmlns:a16="http://schemas.microsoft.com/office/drawing/2014/main" id="{AB9C79A1-0EF0-F152-80F4-0E72862CAD3D}"/>
              </a:ext>
            </a:extLst>
          </p:cNvPr>
          <p:cNvSpPr txBox="1"/>
          <p:nvPr/>
        </p:nvSpPr>
        <p:spPr>
          <a:xfrm>
            <a:off x="5928214" y="86629"/>
            <a:ext cx="6411132" cy="1815882"/>
          </a:xfrm>
          <a:prstGeom prst="rect">
            <a:avLst/>
          </a:prstGeom>
          <a:noFill/>
        </p:spPr>
        <p:txBody>
          <a:bodyPr wrap="square" rtlCol="0">
            <a:spAutoFit/>
          </a:bodyPr>
          <a:lstStyle/>
          <a:p>
            <a:r>
              <a:rPr lang="en-VN" sz="2800"/>
              <a:t>Thuật toán “Tìm Imposter”: </a:t>
            </a:r>
          </a:p>
          <a:p>
            <a:pPr marL="342900" indent="-342900">
              <a:buAutoNum type="arabicParenBoth"/>
            </a:pPr>
            <a:r>
              <a:rPr lang="en-VN" sz="2800"/>
              <a:t> Tìm thấy số 1 thì dừng</a:t>
            </a:r>
          </a:p>
          <a:p>
            <a:pPr marL="342900" indent="-342900">
              <a:buAutoNum type="arabicParenBoth"/>
            </a:pPr>
            <a:r>
              <a:rPr lang="en-VN" sz="2800"/>
              <a:t> Di chuyển về phía L, nếu gặp #, đến (3)</a:t>
            </a:r>
          </a:p>
          <a:p>
            <a:pPr marL="342900" indent="-342900">
              <a:buAutoNum type="arabicParenBoth"/>
            </a:pPr>
            <a:r>
              <a:rPr lang="en-VN" sz="2800"/>
              <a:t> Di chuyển về phía R, nếu gặp #, dừng</a:t>
            </a:r>
          </a:p>
        </p:txBody>
      </p:sp>
    </p:spTree>
    <p:extLst>
      <p:ext uri="{BB962C8B-B14F-4D97-AF65-F5344CB8AC3E}">
        <p14:creationId xmlns:p14="http://schemas.microsoft.com/office/powerpoint/2010/main" val="3884058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15</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658674"/>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73298" y="2920284"/>
            <a:ext cx="723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B7046539-E9ED-BB23-31AC-8A5B73F86AA5}"/>
                  </a:ext>
                </a:extLst>
              </p:cNvPr>
              <p:cNvSpPr txBox="1"/>
              <p:nvPr/>
            </p:nvSpPr>
            <p:spPr>
              <a:xfrm>
                <a:off x="7153871" y="2381675"/>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B7046539-E9ED-BB23-31AC-8A5B73F86AA5}"/>
                  </a:ext>
                </a:extLst>
              </p:cNvPr>
              <p:cNvSpPr txBox="1">
                <a:spLocks noRot="1" noChangeAspect="1" noMove="1" noResize="1" noEditPoints="1" noAdjustHandles="1" noChangeArrowheads="1" noChangeShapeType="1" noTextEdit="1"/>
              </p:cNvSpPr>
              <p:nvPr/>
            </p:nvSpPr>
            <p:spPr>
              <a:xfrm>
                <a:off x="7153871" y="2381675"/>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711434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16</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124625"/>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386235"/>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D7D5E711-585A-FD09-A3B6-1A57802F421C}"/>
                  </a:ext>
                </a:extLst>
              </p:cNvPr>
              <p:cNvSpPr txBox="1"/>
              <p:nvPr/>
            </p:nvSpPr>
            <p:spPr>
              <a:xfrm>
                <a:off x="7153871" y="1847626"/>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D7D5E711-585A-FD09-A3B6-1A57802F421C}"/>
                  </a:ext>
                </a:extLst>
              </p:cNvPr>
              <p:cNvSpPr txBox="1">
                <a:spLocks noRot="1" noChangeAspect="1" noMove="1" noResize="1" noEditPoints="1" noAdjustHandles="1" noChangeArrowheads="1" noChangeShapeType="1" noTextEdit="1"/>
              </p:cNvSpPr>
              <p:nvPr/>
            </p:nvSpPr>
            <p:spPr>
              <a:xfrm>
                <a:off x="7153871" y="1847626"/>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3240496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17</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1604648"/>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1866258"/>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A284C228-AF0A-B002-5F59-DC1DE42BC95B}"/>
                  </a:ext>
                </a:extLst>
              </p:cNvPr>
              <p:cNvSpPr txBox="1"/>
              <p:nvPr/>
            </p:nvSpPr>
            <p:spPr>
              <a:xfrm>
                <a:off x="7153871" y="1327649"/>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A284C228-AF0A-B002-5F59-DC1DE42BC95B}"/>
                  </a:ext>
                </a:extLst>
              </p:cNvPr>
              <p:cNvSpPr txBox="1">
                <a:spLocks noRot="1" noChangeAspect="1" noMove="1" noResize="1" noEditPoints="1" noAdjustHandles="1" noChangeArrowheads="1" noChangeShapeType="1" noTextEdit="1"/>
              </p:cNvSpPr>
              <p:nvPr/>
            </p:nvSpPr>
            <p:spPr>
              <a:xfrm>
                <a:off x="7153871" y="1327649"/>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2532714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18</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574060"/>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109728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1358890"/>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5E1624B9-355F-4622-B5E2-DFFDC03CC872}"/>
                  </a:ext>
                </a:extLst>
              </p:cNvPr>
              <p:cNvSpPr txBox="1"/>
              <p:nvPr/>
            </p:nvSpPr>
            <p:spPr>
              <a:xfrm>
                <a:off x="7153317" y="759986"/>
                <a:ext cx="4516907" cy="1200329"/>
              </a:xfrm>
              <a:prstGeom prst="rect">
                <a:avLst/>
              </a:prstGeom>
              <a:noFill/>
            </p:spPr>
            <p:txBody>
              <a:bodyPr wrap="square" rtlCol="0">
                <a:spAutoFit/>
              </a:bodyPr>
              <a:lstStyle/>
              <a:p>
                <a:r>
                  <a:rPr lang="en-US" sz="3600"/>
                  <a:t>Đọc được </a:t>
                </a:r>
                <a14:m>
                  <m:oMath xmlns:m="http://schemas.openxmlformats.org/officeDocument/2006/math">
                    <m:r>
                      <a:rPr lang="vi-VN" sz="3600" b="0" i="1">
                        <a:latin typeface="Cambria Math" panose="02040503050406030204" pitchFamily="18" charset="0"/>
                      </a:rPr>
                      <m:t>#</m:t>
                    </m:r>
                  </m:oMath>
                </a14:m>
                <a:r>
                  <a:rPr lang="en-US" sz="3600"/>
                  <a:t> (kết thúc)</a:t>
                </a:r>
              </a:p>
              <a:p>
                <a:r>
                  <a:rPr lang="en-US" sz="3600"/>
                  <a:t>Di chuyển về R</a:t>
                </a:r>
              </a:p>
            </p:txBody>
          </p:sp>
        </mc:Choice>
        <mc:Fallback xmlns="">
          <p:sp>
            <p:nvSpPr>
              <p:cNvPr id="11" name="Hộp Văn bản 10">
                <a:extLst>
                  <a:ext uri="{FF2B5EF4-FFF2-40B4-BE49-F238E27FC236}">
                    <a16:creationId xmlns:a16="http://schemas.microsoft.com/office/drawing/2014/main" id="{5E1624B9-355F-4622-B5E2-DFFDC03CC872}"/>
                  </a:ext>
                </a:extLst>
              </p:cNvPr>
              <p:cNvSpPr txBox="1">
                <a:spLocks noRot="1" noChangeAspect="1" noMove="1" noResize="1" noEditPoints="1" noAdjustHandles="1" noChangeArrowheads="1" noChangeShapeType="1" noTextEdit="1"/>
              </p:cNvSpPr>
              <p:nvPr/>
            </p:nvSpPr>
            <p:spPr>
              <a:xfrm>
                <a:off x="7153317" y="759986"/>
                <a:ext cx="4516907" cy="1200329"/>
              </a:xfrm>
              <a:prstGeom prst="rect">
                <a:avLst/>
              </a:prstGeom>
              <a:blipFill>
                <a:blip r:embed="rId2"/>
                <a:stretch>
                  <a:fillRect l="-4213" t="-8421" b="-17895"/>
                </a:stretch>
              </a:blipFill>
            </p:spPr>
            <p:txBody>
              <a:bodyPr/>
              <a:lstStyle/>
              <a:p>
                <a:r>
                  <a:rPr lang="en-VN">
                    <a:noFill/>
                  </a:rPr>
                  <a:t> </a:t>
                </a:r>
              </a:p>
            </p:txBody>
          </p:sp>
        </mc:Fallback>
      </mc:AlternateContent>
    </p:spTree>
    <p:extLst>
      <p:ext uri="{BB962C8B-B14F-4D97-AF65-F5344CB8AC3E}">
        <p14:creationId xmlns:p14="http://schemas.microsoft.com/office/powerpoint/2010/main" val="4059247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19</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1604648"/>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1866258"/>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D0ECE3B9-28F1-54EB-4A26-B81148D79980}"/>
                  </a:ext>
                </a:extLst>
              </p:cNvPr>
              <p:cNvSpPr txBox="1"/>
              <p:nvPr/>
            </p:nvSpPr>
            <p:spPr>
              <a:xfrm>
                <a:off x="7153871" y="1327649"/>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R</a:t>
                </a:r>
              </a:p>
            </p:txBody>
          </p:sp>
        </mc:Choice>
        <mc:Fallback xmlns="">
          <p:sp>
            <p:nvSpPr>
              <p:cNvPr id="2" name="Hộp Văn bản 10">
                <a:extLst>
                  <a:ext uri="{FF2B5EF4-FFF2-40B4-BE49-F238E27FC236}">
                    <a16:creationId xmlns:a16="http://schemas.microsoft.com/office/drawing/2014/main" id="{D0ECE3B9-28F1-54EB-4A26-B81148D79980}"/>
                  </a:ext>
                </a:extLst>
              </p:cNvPr>
              <p:cNvSpPr txBox="1">
                <a:spLocks noRot="1" noChangeAspect="1" noMove="1" noResize="1" noEditPoints="1" noAdjustHandles="1" noChangeArrowheads="1" noChangeShapeType="1" noTextEdit="1"/>
              </p:cNvSpPr>
              <p:nvPr/>
            </p:nvSpPr>
            <p:spPr>
              <a:xfrm>
                <a:off x="7153871" y="1327649"/>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1927172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20</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124625"/>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386235"/>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3B3710AB-F108-B0A8-9DD8-7FD790A7CECB}"/>
                  </a:ext>
                </a:extLst>
              </p:cNvPr>
              <p:cNvSpPr txBox="1"/>
              <p:nvPr/>
            </p:nvSpPr>
            <p:spPr>
              <a:xfrm>
                <a:off x="7153871" y="1839092"/>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3B3710AB-F108-B0A8-9DD8-7FD790A7CECB}"/>
                  </a:ext>
                </a:extLst>
              </p:cNvPr>
              <p:cNvSpPr txBox="1">
                <a:spLocks noRot="1" noChangeAspect="1" noMove="1" noResize="1" noEditPoints="1" noAdjustHandles="1" noChangeArrowheads="1" noChangeShapeType="1" noTextEdit="1"/>
              </p:cNvSpPr>
              <p:nvPr/>
            </p:nvSpPr>
            <p:spPr>
              <a:xfrm>
                <a:off x="7153871" y="1839092"/>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335266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21</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58629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847900"/>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88D5B00B-230C-92B1-1D88-1D4D299ABE88}"/>
                  </a:ext>
                </a:extLst>
              </p:cNvPr>
              <p:cNvSpPr txBox="1"/>
              <p:nvPr/>
            </p:nvSpPr>
            <p:spPr>
              <a:xfrm>
                <a:off x="7153871" y="2319544"/>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88D5B00B-230C-92B1-1D88-1D4D299ABE88}"/>
                  </a:ext>
                </a:extLst>
              </p:cNvPr>
              <p:cNvSpPr txBox="1">
                <a:spLocks noRot="1" noChangeAspect="1" noMove="1" noResize="1" noEditPoints="1" noAdjustHandles="1" noChangeArrowheads="1" noChangeShapeType="1" noTextEdit="1"/>
              </p:cNvSpPr>
              <p:nvPr/>
            </p:nvSpPr>
            <p:spPr>
              <a:xfrm>
                <a:off x="7153871" y="2319544"/>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1484336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22</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3180642"/>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3442252"/>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4A9625A9-4B04-E47C-9E76-BF8CB0409463}"/>
                  </a:ext>
                </a:extLst>
              </p:cNvPr>
              <p:cNvSpPr txBox="1"/>
              <p:nvPr/>
            </p:nvSpPr>
            <p:spPr>
              <a:xfrm>
                <a:off x="7153871" y="2908476"/>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4A9625A9-4B04-E47C-9E76-BF8CB0409463}"/>
                  </a:ext>
                </a:extLst>
              </p:cNvPr>
              <p:cNvSpPr txBox="1">
                <a:spLocks noRot="1" noChangeAspect="1" noMove="1" noResize="1" noEditPoints="1" noAdjustHandles="1" noChangeArrowheads="1" noChangeShapeType="1" noTextEdit="1"/>
              </p:cNvSpPr>
              <p:nvPr/>
            </p:nvSpPr>
            <p:spPr>
              <a:xfrm>
                <a:off x="7153871" y="2908476"/>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965662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23</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3642307"/>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3903917"/>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5A4CCD54-F748-E22D-6321-FE5108BDAFD0}"/>
                  </a:ext>
                </a:extLst>
              </p:cNvPr>
              <p:cNvSpPr txBox="1"/>
              <p:nvPr/>
            </p:nvSpPr>
            <p:spPr>
              <a:xfrm>
                <a:off x="7153871" y="3373424"/>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5A4CCD54-F748-E22D-6321-FE5108BDAFD0}"/>
                  </a:ext>
                </a:extLst>
              </p:cNvPr>
              <p:cNvSpPr txBox="1">
                <a:spLocks noRot="1" noChangeAspect="1" noMove="1" noResize="1" noEditPoints="1" noAdjustHandles="1" noChangeArrowheads="1" noChangeShapeType="1" noTextEdit="1"/>
              </p:cNvSpPr>
              <p:nvPr/>
            </p:nvSpPr>
            <p:spPr>
              <a:xfrm>
                <a:off x="7153871" y="3373424"/>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3026778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24</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4172394"/>
            <a:ext cx="1146085" cy="52322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Reader</a:t>
            </a:r>
            <a:endParaRPr lang="vi-VN" b="1">
              <a:solidFill>
                <a:schemeClr val="bg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4434004"/>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61B2DC24-B2DF-5C1B-E80B-B67A63096C77}"/>
                  </a:ext>
                </a:extLst>
              </p:cNvPr>
              <p:cNvSpPr txBox="1"/>
              <p:nvPr/>
            </p:nvSpPr>
            <p:spPr>
              <a:xfrm>
                <a:off x="7153871" y="3869372"/>
                <a:ext cx="3880922" cy="1077218"/>
              </a:xfrm>
              <a:prstGeom prst="rect">
                <a:avLst/>
              </a:prstGeom>
              <a:noFill/>
            </p:spPr>
            <p:txBody>
              <a:bodyPr wrap="square" rtlCol="0">
                <a:spAutoFit/>
              </a:bodyPr>
              <a:lstStyle/>
              <a:p>
                <a:r>
                  <a:rPr lang="en-US" sz="3200" b="0"/>
                  <a:t>Đọc được </a:t>
                </a:r>
                <a14:m>
                  <m:oMath xmlns:m="http://schemas.openxmlformats.org/officeDocument/2006/math">
                    <m:r>
                      <a:rPr lang="vi-VN" sz="3200" b="0" i="1" smtClean="0">
                        <a:latin typeface="Cambria Math" panose="02040503050406030204" pitchFamily="18" charset="0"/>
                      </a:rPr>
                      <m:t>1</m:t>
                    </m:r>
                  </m:oMath>
                </a14:m>
                <a:r>
                  <a:rPr lang="en-US" sz="3200"/>
                  <a:t> (accept)</a:t>
                </a:r>
              </a:p>
              <a:p>
                <a:r>
                  <a:rPr lang="en-US" sz="3200"/>
                  <a:t>Ngừng</a:t>
                </a:r>
              </a:p>
            </p:txBody>
          </p:sp>
        </mc:Choice>
        <mc:Fallback xmlns="">
          <p:sp>
            <p:nvSpPr>
              <p:cNvPr id="2" name="Hộp Văn bản 10">
                <a:extLst>
                  <a:ext uri="{FF2B5EF4-FFF2-40B4-BE49-F238E27FC236}">
                    <a16:creationId xmlns:a16="http://schemas.microsoft.com/office/drawing/2014/main" id="{61B2DC24-B2DF-5C1B-E80B-B67A63096C77}"/>
                  </a:ext>
                </a:extLst>
              </p:cNvPr>
              <p:cNvSpPr txBox="1">
                <a:spLocks noRot="1" noChangeAspect="1" noMove="1" noResize="1" noEditPoints="1" noAdjustHandles="1" noChangeArrowheads="1" noChangeShapeType="1" noTextEdit="1"/>
              </p:cNvSpPr>
              <p:nvPr/>
            </p:nvSpPr>
            <p:spPr>
              <a:xfrm>
                <a:off x="7153871" y="3869372"/>
                <a:ext cx="3880922" cy="1077218"/>
              </a:xfrm>
              <a:prstGeom prst="rect">
                <a:avLst/>
              </a:prstGeom>
              <a:blipFill>
                <a:blip r:embed="rId2"/>
                <a:stretch>
                  <a:fillRect l="-3922"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1271561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C1AF477-930E-4302-B3EE-9AC4ED3C43AC}"/>
              </a:ext>
            </a:extLst>
          </p:cNvPr>
          <p:cNvSpPr>
            <a:spLocks noGrp="1"/>
          </p:cNvSpPr>
          <p:nvPr>
            <p:ph type="title"/>
          </p:nvPr>
        </p:nvSpPr>
        <p:spPr/>
        <p:txBody>
          <a:bodyPr/>
          <a:lstStyle/>
          <a:p>
            <a:r>
              <a:rPr lang="en-US"/>
              <a:t>Máy Turing không đơn định</a:t>
            </a:r>
            <a:endParaRPr lang="vi-VN"/>
          </a:p>
        </p:txBody>
      </p:sp>
      <p:sp>
        <p:nvSpPr>
          <p:cNvPr id="4" name="Chỗ dành sẵn cho Số hiệu Bản chiếu 3">
            <a:extLst>
              <a:ext uri="{FF2B5EF4-FFF2-40B4-BE49-F238E27FC236}">
                <a16:creationId xmlns:a16="http://schemas.microsoft.com/office/drawing/2014/main" id="{A39DCE85-C6C8-403C-92D6-725D61FA121F}"/>
              </a:ext>
            </a:extLst>
          </p:cNvPr>
          <p:cNvSpPr>
            <a:spLocks noGrp="1"/>
          </p:cNvSpPr>
          <p:nvPr>
            <p:ph type="sldNum" sz="quarter" idx="12"/>
          </p:nvPr>
        </p:nvSpPr>
        <p:spPr/>
        <p:txBody>
          <a:bodyPr/>
          <a:lstStyle/>
          <a:p>
            <a:fld id="{95CF7CBD-B9A5-4D53-9D65-FFCCF7EF1299}" type="slidenum">
              <a:rPr lang="vi-VN" smtClean="0"/>
              <a:t>25</a:t>
            </a:fld>
            <a:endParaRPr lang="vi-VN"/>
          </a:p>
        </p:txBody>
      </p:sp>
      <p:graphicFrame>
        <p:nvGraphicFramePr>
          <p:cNvPr id="5" name="Bảng 5">
            <a:extLst>
              <a:ext uri="{FF2B5EF4-FFF2-40B4-BE49-F238E27FC236}">
                <a16:creationId xmlns:a16="http://schemas.microsoft.com/office/drawing/2014/main" id="{29AE3E99-5E65-443F-95B2-2872B6A3E343}"/>
              </a:ext>
            </a:extLst>
          </p:cNvPr>
          <p:cNvGraphicFramePr>
            <a:graphicFrameLocks noGrp="1"/>
          </p:cNvGraphicFramePr>
          <p:nvPr>
            <p:extLst>
              <p:ext uri="{D42A27DB-BD31-4B8C-83A1-F6EECF244321}">
                <p14:modId xmlns:p14="http://schemas.microsoft.com/office/powerpoint/2010/main" val="682118207"/>
              </p:ext>
            </p:extLst>
          </p:nvPr>
        </p:nvGraphicFramePr>
        <p:xfrm>
          <a:off x="838200" y="3891218"/>
          <a:ext cx="8128000" cy="508504"/>
        </p:xfrm>
        <a:graphic>
          <a:graphicData uri="http://schemas.openxmlformats.org/drawingml/2006/table">
            <a:tbl>
              <a:tblPr firstRow="1" bandRow="1">
                <a:tableStyleId>{F5AB1C69-6EDB-4FF4-983F-18BD219EF322}</a:tableStyleId>
              </a:tblPr>
              <a:tblGrid>
                <a:gridCol w="1016000">
                  <a:extLst>
                    <a:ext uri="{9D8B030D-6E8A-4147-A177-3AD203B41FA5}">
                      <a16:colId xmlns:a16="http://schemas.microsoft.com/office/drawing/2014/main" val="3831709274"/>
                    </a:ext>
                  </a:extLst>
                </a:gridCol>
                <a:gridCol w="1016000">
                  <a:extLst>
                    <a:ext uri="{9D8B030D-6E8A-4147-A177-3AD203B41FA5}">
                      <a16:colId xmlns:a16="http://schemas.microsoft.com/office/drawing/2014/main" val="2653280063"/>
                    </a:ext>
                  </a:extLst>
                </a:gridCol>
                <a:gridCol w="1016000">
                  <a:extLst>
                    <a:ext uri="{9D8B030D-6E8A-4147-A177-3AD203B41FA5}">
                      <a16:colId xmlns:a16="http://schemas.microsoft.com/office/drawing/2014/main" val="1289853530"/>
                    </a:ext>
                  </a:extLst>
                </a:gridCol>
                <a:gridCol w="1016000">
                  <a:extLst>
                    <a:ext uri="{9D8B030D-6E8A-4147-A177-3AD203B41FA5}">
                      <a16:colId xmlns:a16="http://schemas.microsoft.com/office/drawing/2014/main" val="973645758"/>
                    </a:ext>
                  </a:extLst>
                </a:gridCol>
                <a:gridCol w="1016000">
                  <a:extLst>
                    <a:ext uri="{9D8B030D-6E8A-4147-A177-3AD203B41FA5}">
                      <a16:colId xmlns:a16="http://schemas.microsoft.com/office/drawing/2014/main" val="3811698728"/>
                    </a:ext>
                  </a:extLst>
                </a:gridCol>
                <a:gridCol w="1016000">
                  <a:extLst>
                    <a:ext uri="{9D8B030D-6E8A-4147-A177-3AD203B41FA5}">
                      <a16:colId xmlns:a16="http://schemas.microsoft.com/office/drawing/2014/main" val="3274275911"/>
                    </a:ext>
                  </a:extLst>
                </a:gridCol>
                <a:gridCol w="1016000">
                  <a:extLst>
                    <a:ext uri="{9D8B030D-6E8A-4147-A177-3AD203B41FA5}">
                      <a16:colId xmlns:a16="http://schemas.microsoft.com/office/drawing/2014/main" val="4022826193"/>
                    </a:ext>
                  </a:extLst>
                </a:gridCol>
                <a:gridCol w="1016000">
                  <a:extLst>
                    <a:ext uri="{9D8B030D-6E8A-4147-A177-3AD203B41FA5}">
                      <a16:colId xmlns:a16="http://schemas.microsoft.com/office/drawing/2014/main" val="2911833016"/>
                    </a:ext>
                  </a:extLst>
                </a:gridCol>
              </a:tblGrid>
              <a:tr h="508504">
                <a:tc>
                  <a:txBody>
                    <a:bodyPr/>
                    <a:lstStyle/>
                    <a:p>
                      <a:pPr algn="ctr"/>
                      <a:r>
                        <a:rPr lang="en-US">
                          <a:solidFill>
                            <a:schemeClr val="tx1"/>
                          </a:solidFill>
                        </a:rPr>
                        <a:t>#</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1</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5449240"/>
                  </a:ext>
                </a:extLst>
              </a:tr>
            </a:tbl>
          </a:graphicData>
        </a:graphic>
      </p:graphicFrame>
      <p:sp>
        <p:nvSpPr>
          <p:cNvPr id="6" name="Hình chữ nhật 5">
            <a:extLst>
              <a:ext uri="{FF2B5EF4-FFF2-40B4-BE49-F238E27FC236}">
                <a16:creationId xmlns:a16="http://schemas.microsoft.com/office/drawing/2014/main" id="{643682D6-8910-4935-9A06-DF553F395132}"/>
              </a:ext>
            </a:extLst>
          </p:cNvPr>
          <p:cNvSpPr/>
          <p:nvPr/>
        </p:nvSpPr>
        <p:spPr>
          <a:xfrm>
            <a:off x="3909391" y="2004807"/>
            <a:ext cx="980661" cy="632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8" name="Đường kết nối Mũi tên Thẳng 7">
            <a:extLst>
              <a:ext uri="{FF2B5EF4-FFF2-40B4-BE49-F238E27FC236}">
                <a16:creationId xmlns:a16="http://schemas.microsoft.com/office/drawing/2014/main" id="{D3008B2A-DC2F-4DB0-8C7C-1F99089AF5EC}"/>
              </a:ext>
            </a:extLst>
          </p:cNvPr>
          <p:cNvCxnSpPr>
            <a:cxnSpLocks/>
            <a:stCxn id="6" idx="2"/>
          </p:cNvCxnSpPr>
          <p:nvPr/>
        </p:nvCxnSpPr>
        <p:spPr>
          <a:xfrm>
            <a:off x="4399722" y="2636961"/>
            <a:ext cx="0" cy="12542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Hộp Văn bản 12">
            <a:extLst>
              <a:ext uri="{FF2B5EF4-FFF2-40B4-BE49-F238E27FC236}">
                <a16:creationId xmlns:a16="http://schemas.microsoft.com/office/drawing/2014/main" id="{B550DC39-AE65-4D24-9C2F-7B8D6B25E375}"/>
              </a:ext>
            </a:extLst>
          </p:cNvPr>
          <p:cNvSpPr txBox="1"/>
          <p:nvPr/>
        </p:nvSpPr>
        <p:spPr>
          <a:xfrm>
            <a:off x="4562613" y="3207767"/>
            <a:ext cx="2120348" cy="369332"/>
          </a:xfrm>
          <a:prstGeom prst="rect">
            <a:avLst/>
          </a:prstGeom>
          <a:noFill/>
        </p:spPr>
        <p:txBody>
          <a:bodyPr wrap="square" rtlCol="0">
            <a:spAutoFit/>
          </a:bodyPr>
          <a:lstStyle/>
          <a:p>
            <a:r>
              <a:rPr lang="en-US"/>
              <a:t>Read – write head</a:t>
            </a:r>
            <a:endParaRPr lang="vi-VN"/>
          </a:p>
        </p:txBody>
      </p:sp>
      <p:sp>
        <p:nvSpPr>
          <p:cNvPr id="14" name="Hình chữ nhật 13">
            <a:extLst>
              <a:ext uri="{FF2B5EF4-FFF2-40B4-BE49-F238E27FC236}">
                <a16:creationId xmlns:a16="http://schemas.microsoft.com/office/drawing/2014/main" id="{1D9C9DEA-308A-47C8-88E0-64DA73646AA9}"/>
              </a:ext>
            </a:extLst>
          </p:cNvPr>
          <p:cNvSpPr/>
          <p:nvPr/>
        </p:nvSpPr>
        <p:spPr>
          <a:xfrm>
            <a:off x="1921565" y="2004807"/>
            <a:ext cx="1398105" cy="632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Guessing module</a:t>
            </a:r>
            <a:endParaRPr lang="vi-VN" b="1">
              <a:solidFill>
                <a:schemeClr val="tx1"/>
              </a:solidFill>
            </a:endParaRPr>
          </a:p>
        </p:txBody>
      </p:sp>
      <p:cxnSp>
        <p:nvCxnSpPr>
          <p:cNvPr id="17" name="Đường kết nối Mũi tên Thẳng 16">
            <a:extLst>
              <a:ext uri="{FF2B5EF4-FFF2-40B4-BE49-F238E27FC236}">
                <a16:creationId xmlns:a16="http://schemas.microsoft.com/office/drawing/2014/main" id="{E367457E-BDA6-411D-853E-C240825DBEF9}"/>
              </a:ext>
            </a:extLst>
          </p:cNvPr>
          <p:cNvCxnSpPr>
            <a:stCxn id="14" idx="3"/>
            <a:endCxn id="6" idx="1"/>
          </p:cNvCxnSpPr>
          <p:nvPr/>
        </p:nvCxnSpPr>
        <p:spPr>
          <a:xfrm>
            <a:off x="3319670" y="2320884"/>
            <a:ext cx="589721"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8" name="Hộp Văn bản 17">
            <a:extLst>
              <a:ext uri="{FF2B5EF4-FFF2-40B4-BE49-F238E27FC236}">
                <a16:creationId xmlns:a16="http://schemas.microsoft.com/office/drawing/2014/main" id="{80A6FDE9-2CE4-429B-AD94-5863FBAE274C}"/>
              </a:ext>
            </a:extLst>
          </p:cNvPr>
          <p:cNvSpPr txBox="1"/>
          <p:nvPr/>
        </p:nvSpPr>
        <p:spPr>
          <a:xfrm>
            <a:off x="9114734" y="3960804"/>
            <a:ext cx="691875" cy="369332"/>
          </a:xfrm>
          <a:prstGeom prst="rect">
            <a:avLst/>
          </a:prstGeom>
          <a:noFill/>
        </p:spPr>
        <p:txBody>
          <a:bodyPr wrap="square" rtlCol="0">
            <a:spAutoFit/>
          </a:bodyPr>
          <a:lstStyle/>
          <a:p>
            <a:r>
              <a:rPr lang="en-US"/>
              <a:t>Tape</a:t>
            </a:r>
            <a:endParaRPr lang="vi-VN"/>
          </a:p>
        </p:txBody>
      </p:sp>
      <p:cxnSp>
        <p:nvCxnSpPr>
          <p:cNvPr id="22" name="Đường kết nối Mũi tên Thẳng 21">
            <a:extLst>
              <a:ext uri="{FF2B5EF4-FFF2-40B4-BE49-F238E27FC236}">
                <a16:creationId xmlns:a16="http://schemas.microsoft.com/office/drawing/2014/main" id="{85BCC914-0851-429F-B6B6-19621D5D327B}"/>
              </a:ext>
            </a:extLst>
          </p:cNvPr>
          <p:cNvCxnSpPr>
            <a:stCxn id="14" idx="2"/>
          </p:cNvCxnSpPr>
          <p:nvPr/>
        </p:nvCxnSpPr>
        <p:spPr>
          <a:xfrm>
            <a:off x="2620618" y="2636961"/>
            <a:ext cx="1487556" cy="12542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Hộp Văn bản 22">
            <a:extLst>
              <a:ext uri="{FF2B5EF4-FFF2-40B4-BE49-F238E27FC236}">
                <a16:creationId xmlns:a16="http://schemas.microsoft.com/office/drawing/2014/main" id="{79E155EA-EEBF-49B0-BA92-8AFBB0C39ABD}"/>
              </a:ext>
            </a:extLst>
          </p:cNvPr>
          <p:cNvSpPr txBox="1"/>
          <p:nvPr/>
        </p:nvSpPr>
        <p:spPr>
          <a:xfrm>
            <a:off x="1356692" y="3264089"/>
            <a:ext cx="1828800" cy="369332"/>
          </a:xfrm>
          <a:prstGeom prst="rect">
            <a:avLst/>
          </a:prstGeom>
          <a:noFill/>
        </p:spPr>
        <p:txBody>
          <a:bodyPr wrap="square" rtlCol="0">
            <a:spAutoFit/>
          </a:bodyPr>
          <a:lstStyle/>
          <a:p>
            <a:r>
              <a:rPr lang="en-US"/>
              <a:t>Write - only head</a:t>
            </a:r>
            <a:endParaRPr lang="vi-VN"/>
          </a:p>
        </p:txBody>
      </p:sp>
    </p:spTree>
    <p:extLst>
      <p:ext uri="{BB962C8B-B14F-4D97-AF65-F5344CB8AC3E}">
        <p14:creationId xmlns:p14="http://schemas.microsoft.com/office/powerpoint/2010/main" val="232322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26</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316739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3429000"/>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FBA9D1-47CB-7448-BB13-1625FAA0CB3E}"/>
                  </a:ext>
                </a:extLst>
              </p:cNvPr>
              <p:cNvSpPr txBox="1"/>
              <p:nvPr/>
            </p:nvSpPr>
            <p:spPr>
              <a:xfrm>
                <a:off x="7237709" y="2524810"/>
                <a:ext cx="4602996" cy="1808380"/>
              </a:xfrm>
              <a:prstGeom prst="rect">
                <a:avLst/>
              </a:prstGeom>
              <a:noFill/>
            </p:spPr>
            <p:txBody>
              <a:bodyPr wrap="square" rtlCol="0">
                <a:spAutoFit/>
              </a:bodyPr>
              <a:lstStyle/>
              <a:p>
                <a:r>
                  <a:rPr lang="en-VN" sz="3600"/>
                  <a:t>Đọc được 0</a:t>
                </a:r>
              </a:p>
              <a:p>
                <a:r>
                  <a:rPr lang="en-VN" sz="3600"/>
                  <a:t>Di chuyển về cả 2 phía với biên độ </a:t>
                </a:r>
                <a14:m>
                  <m:oMath xmlns:m="http://schemas.openxmlformats.org/officeDocument/2006/math">
                    <m:r>
                      <a:rPr lang="vi-VN" sz="3600" b="0" i="1">
                        <a:latin typeface="Cambria Math" panose="02040503050406030204" pitchFamily="18" charset="0"/>
                      </a:rPr>
                      <m:t>1/</m:t>
                    </m:r>
                    <m:rad>
                      <m:radPr>
                        <m:degHide m:val="on"/>
                        <m:ctrlPr>
                          <a:rPr lang="vi-VN" sz="3600" b="0" i="1">
                            <a:latin typeface="Cambria Math" panose="02040503050406030204" pitchFamily="18" charset="0"/>
                          </a:rPr>
                        </m:ctrlPr>
                      </m:radPr>
                      <m:deg/>
                      <m:e>
                        <m:r>
                          <a:rPr lang="vi-VN" sz="3600" b="0" i="1">
                            <a:latin typeface="Cambria Math" panose="02040503050406030204" pitchFamily="18" charset="0"/>
                          </a:rPr>
                          <m:t>2</m:t>
                        </m:r>
                      </m:e>
                    </m:rad>
                  </m:oMath>
                </a14:m>
                <a:endParaRPr lang="en-VN" sz="3600"/>
              </a:p>
            </p:txBody>
          </p:sp>
        </mc:Choice>
        <mc:Fallback xmlns="">
          <p:sp>
            <p:nvSpPr>
              <p:cNvPr id="2" name="TextBox 1">
                <a:extLst>
                  <a:ext uri="{FF2B5EF4-FFF2-40B4-BE49-F238E27FC236}">
                    <a16:creationId xmlns:a16="http://schemas.microsoft.com/office/drawing/2014/main" id="{B5FBA9D1-47CB-7448-BB13-1625FAA0CB3E}"/>
                  </a:ext>
                </a:extLst>
              </p:cNvPr>
              <p:cNvSpPr txBox="1">
                <a:spLocks noRot="1" noChangeAspect="1" noMove="1" noResize="1" noEditPoints="1" noAdjustHandles="1" noChangeArrowheads="1" noChangeShapeType="1" noTextEdit="1"/>
              </p:cNvSpPr>
              <p:nvPr/>
            </p:nvSpPr>
            <p:spPr>
              <a:xfrm>
                <a:off x="7237709" y="2524810"/>
                <a:ext cx="4602996" cy="1808380"/>
              </a:xfrm>
              <a:prstGeom prst="rect">
                <a:avLst/>
              </a:prstGeom>
              <a:blipFill>
                <a:blip r:embed="rId2"/>
                <a:stretch>
                  <a:fillRect l="-3846" t="-4861" b="-11806"/>
                </a:stretch>
              </a:blipFill>
            </p:spPr>
            <p:txBody>
              <a:bodyPr/>
              <a:lstStyle/>
              <a:p>
                <a:r>
                  <a:rPr lang="en-VN">
                    <a:noFill/>
                  </a:rPr>
                  <a:t> </a:t>
                </a:r>
              </a:p>
            </p:txBody>
          </p:sp>
        </mc:Fallback>
      </mc:AlternateContent>
    </p:spTree>
    <p:extLst>
      <p:ext uri="{BB962C8B-B14F-4D97-AF65-F5344CB8AC3E}">
        <p14:creationId xmlns:p14="http://schemas.microsoft.com/office/powerpoint/2010/main" val="388879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27</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623348"/>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884958"/>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1" name="Hộp Văn bản 10">
            <a:extLst>
              <a:ext uri="{FF2B5EF4-FFF2-40B4-BE49-F238E27FC236}">
                <a16:creationId xmlns:a16="http://schemas.microsoft.com/office/drawing/2014/main" id="{5E1624B9-355F-4622-B5E2-DFFDC03CC872}"/>
              </a:ext>
            </a:extLst>
          </p:cNvPr>
          <p:cNvSpPr txBox="1"/>
          <p:nvPr/>
        </p:nvSpPr>
        <p:spPr>
          <a:xfrm>
            <a:off x="7153317" y="2410041"/>
            <a:ext cx="3556011" cy="1200329"/>
          </a:xfrm>
          <a:prstGeom prst="rect">
            <a:avLst/>
          </a:prstGeom>
          <a:noFill/>
        </p:spPr>
        <p:txBody>
          <a:bodyPr wrap="square" rtlCol="0">
            <a:spAutoFit/>
          </a:bodyPr>
          <a:lstStyle/>
          <a:p>
            <a:r>
              <a:rPr lang="en-US" sz="3600"/>
              <a:t>Đọc được 0, </a:t>
            </a:r>
          </a:p>
          <a:p>
            <a:r>
              <a:rPr lang="en-US" sz="3600"/>
              <a:t>di chuyển về L</a:t>
            </a:r>
          </a:p>
        </p:txBody>
      </p:sp>
      <p:sp>
        <p:nvSpPr>
          <p:cNvPr id="9" name="Hình chữ nhật 8">
            <a:extLst>
              <a:ext uri="{FF2B5EF4-FFF2-40B4-BE49-F238E27FC236}">
                <a16:creationId xmlns:a16="http://schemas.microsoft.com/office/drawing/2014/main" id="{5965A58C-6F36-4435-8470-4495C535FFA7}"/>
              </a:ext>
            </a:extLst>
          </p:cNvPr>
          <p:cNvSpPr/>
          <p:nvPr/>
        </p:nvSpPr>
        <p:spPr>
          <a:xfrm>
            <a:off x="5897218" y="3695058"/>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2" name="Đường kết nối Mũi tên Thẳng 11">
            <a:extLst>
              <a:ext uri="{FF2B5EF4-FFF2-40B4-BE49-F238E27FC236}">
                <a16:creationId xmlns:a16="http://schemas.microsoft.com/office/drawing/2014/main" id="{CACF6923-08CE-4756-91D1-DB63571A542E}"/>
              </a:ext>
            </a:extLst>
          </p:cNvPr>
          <p:cNvCxnSpPr>
            <a:cxnSpLocks/>
            <a:stCxn id="9" idx="1"/>
          </p:cNvCxnSpPr>
          <p:nvPr/>
        </p:nvCxnSpPr>
        <p:spPr>
          <a:xfrm flipH="1">
            <a:off x="5160998" y="3956668"/>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3" name="Hộp Văn bản 12">
            <a:extLst>
              <a:ext uri="{FF2B5EF4-FFF2-40B4-BE49-F238E27FC236}">
                <a16:creationId xmlns:a16="http://schemas.microsoft.com/office/drawing/2014/main" id="{AFF0BFA7-CAAF-4AD2-87B7-01916AD4FAA4}"/>
              </a:ext>
            </a:extLst>
          </p:cNvPr>
          <p:cNvSpPr txBox="1"/>
          <p:nvPr/>
        </p:nvSpPr>
        <p:spPr>
          <a:xfrm>
            <a:off x="7153317" y="3481751"/>
            <a:ext cx="4485909" cy="1200329"/>
          </a:xfrm>
          <a:prstGeom prst="rect">
            <a:avLst/>
          </a:prstGeom>
          <a:noFill/>
        </p:spPr>
        <p:txBody>
          <a:bodyPr wrap="square" rtlCol="0">
            <a:spAutoFit/>
          </a:bodyPr>
          <a:lstStyle/>
          <a:p>
            <a:r>
              <a:rPr lang="en-US" sz="3600"/>
              <a:t>Đọc được 0, </a:t>
            </a:r>
          </a:p>
          <a:p>
            <a:r>
              <a:rPr lang="en-US" sz="3600"/>
              <a:t>di chuyển về R</a:t>
            </a:r>
          </a:p>
        </p:txBody>
      </p:sp>
    </p:spTree>
    <p:extLst>
      <p:ext uri="{BB962C8B-B14F-4D97-AF65-F5344CB8AC3E}">
        <p14:creationId xmlns:p14="http://schemas.microsoft.com/office/powerpoint/2010/main" val="485967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28</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117492"/>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379102"/>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1" name="Hộp Văn bản 10">
            <a:extLst>
              <a:ext uri="{FF2B5EF4-FFF2-40B4-BE49-F238E27FC236}">
                <a16:creationId xmlns:a16="http://schemas.microsoft.com/office/drawing/2014/main" id="{5E1624B9-355F-4622-B5E2-DFFDC03CC872}"/>
              </a:ext>
            </a:extLst>
          </p:cNvPr>
          <p:cNvSpPr txBox="1"/>
          <p:nvPr/>
        </p:nvSpPr>
        <p:spPr>
          <a:xfrm>
            <a:off x="7153318" y="1749202"/>
            <a:ext cx="3230546" cy="1200329"/>
          </a:xfrm>
          <a:prstGeom prst="rect">
            <a:avLst/>
          </a:prstGeom>
          <a:noFill/>
        </p:spPr>
        <p:txBody>
          <a:bodyPr wrap="square" rtlCol="0">
            <a:spAutoFit/>
          </a:bodyPr>
          <a:lstStyle/>
          <a:p>
            <a:r>
              <a:rPr lang="en-US" sz="3600"/>
              <a:t>Đọc được 0, </a:t>
            </a:r>
          </a:p>
          <a:p>
            <a:r>
              <a:rPr lang="en-US" sz="3600"/>
              <a:t>di chuyển về L</a:t>
            </a:r>
          </a:p>
        </p:txBody>
      </p:sp>
      <p:sp>
        <p:nvSpPr>
          <p:cNvPr id="9" name="Hình chữ nhật 8">
            <a:extLst>
              <a:ext uri="{FF2B5EF4-FFF2-40B4-BE49-F238E27FC236}">
                <a16:creationId xmlns:a16="http://schemas.microsoft.com/office/drawing/2014/main" id="{5965A58C-6F36-4435-8470-4495C535FFA7}"/>
              </a:ext>
            </a:extLst>
          </p:cNvPr>
          <p:cNvSpPr/>
          <p:nvPr/>
        </p:nvSpPr>
        <p:spPr>
          <a:xfrm>
            <a:off x="5897218" y="4196157"/>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2" name="Đường kết nối Mũi tên Thẳng 11">
            <a:extLst>
              <a:ext uri="{FF2B5EF4-FFF2-40B4-BE49-F238E27FC236}">
                <a16:creationId xmlns:a16="http://schemas.microsoft.com/office/drawing/2014/main" id="{CACF6923-08CE-4756-91D1-DB63571A542E}"/>
              </a:ext>
            </a:extLst>
          </p:cNvPr>
          <p:cNvCxnSpPr>
            <a:cxnSpLocks/>
            <a:stCxn id="9" idx="1"/>
          </p:cNvCxnSpPr>
          <p:nvPr/>
        </p:nvCxnSpPr>
        <p:spPr>
          <a:xfrm flipH="1">
            <a:off x="5160998" y="4457767"/>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2" name="Hộp Văn bản 10">
            <a:extLst>
              <a:ext uri="{FF2B5EF4-FFF2-40B4-BE49-F238E27FC236}">
                <a16:creationId xmlns:a16="http://schemas.microsoft.com/office/drawing/2014/main" id="{E79342AB-088E-9FE5-DF80-A03016C792B7}"/>
              </a:ext>
            </a:extLst>
          </p:cNvPr>
          <p:cNvSpPr txBox="1"/>
          <p:nvPr/>
        </p:nvSpPr>
        <p:spPr>
          <a:xfrm>
            <a:off x="7153318" y="3857602"/>
            <a:ext cx="3230546" cy="1200329"/>
          </a:xfrm>
          <a:prstGeom prst="rect">
            <a:avLst/>
          </a:prstGeom>
          <a:noFill/>
        </p:spPr>
        <p:txBody>
          <a:bodyPr wrap="square" rtlCol="0">
            <a:spAutoFit/>
          </a:bodyPr>
          <a:lstStyle/>
          <a:p>
            <a:r>
              <a:rPr lang="en-US" sz="3600"/>
              <a:t>Đọc được 1, </a:t>
            </a:r>
          </a:p>
          <a:p>
            <a:r>
              <a:rPr lang="en-US" sz="3600"/>
              <a:t>dừng</a:t>
            </a:r>
          </a:p>
        </p:txBody>
      </p:sp>
    </p:spTree>
    <p:extLst>
      <p:ext uri="{BB962C8B-B14F-4D97-AF65-F5344CB8AC3E}">
        <p14:creationId xmlns:p14="http://schemas.microsoft.com/office/powerpoint/2010/main" val="2089011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Đường nối Thẳng 4">
            <a:extLst>
              <a:ext uri="{FF2B5EF4-FFF2-40B4-BE49-F238E27FC236}">
                <a16:creationId xmlns:a16="http://schemas.microsoft.com/office/drawing/2014/main" id="{98C885DC-C1BB-44B4-BED5-368EDF7ECB8A}"/>
              </a:ext>
            </a:extLst>
          </p:cNvPr>
          <p:cNvCxnSpPr>
            <a:cxnSpLocks/>
          </p:cNvCxnSpPr>
          <p:nvPr/>
        </p:nvCxnSpPr>
        <p:spPr>
          <a:xfrm>
            <a:off x="7756067" y="1121898"/>
            <a:ext cx="0" cy="4614203"/>
          </a:xfrm>
          <a:prstGeom prst="line">
            <a:avLst/>
          </a:prstGeom>
          <a:ln w="28575"/>
        </p:spPr>
        <p:style>
          <a:lnRef idx="1">
            <a:schemeClr val="dk1"/>
          </a:lnRef>
          <a:fillRef idx="0">
            <a:schemeClr val="dk1"/>
          </a:fillRef>
          <a:effectRef idx="0">
            <a:schemeClr val="dk1"/>
          </a:effectRef>
          <a:fontRef idx="minor">
            <a:schemeClr val="tx1"/>
          </a:fontRef>
        </p:style>
      </p:cxnSp>
      <p:sp>
        <p:nvSpPr>
          <p:cNvPr id="6" name="Hộp Văn bản 5">
            <a:extLst>
              <a:ext uri="{FF2B5EF4-FFF2-40B4-BE49-F238E27FC236}">
                <a16:creationId xmlns:a16="http://schemas.microsoft.com/office/drawing/2014/main" id="{A6542C27-5933-4543-A6EC-BE2B06C6A6DD}"/>
              </a:ext>
            </a:extLst>
          </p:cNvPr>
          <p:cNvSpPr txBox="1"/>
          <p:nvPr/>
        </p:nvSpPr>
        <p:spPr>
          <a:xfrm>
            <a:off x="4281348" y="1121898"/>
            <a:ext cx="2700993" cy="646331"/>
          </a:xfrm>
          <a:prstGeom prst="rect">
            <a:avLst/>
          </a:prstGeom>
          <a:noFill/>
        </p:spPr>
        <p:txBody>
          <a:bodyPr wrap="square" rtlCol="0">
            <a:spAutoFit/>
          </a:bodyPr>
          <a:lstStyle/>
          <a:p>
            <a:pPr algn="ctr"/>
            <a:r>
              <a:rPr lang="en-US" sz="3600"/>
              <a:t>Đơn định</a:t>
            </a:r>
          </a:p>
        </p:txBody>
      </p:sp>
      <p:sp>
        <p:nvSpPr>
          <p:cNvPr id="8" name="Hộp Văn bản 7">
            <a:extLst>
              <a:ext uri="{FF2B5EF4-FFF2-40B4-BE49-F238E27FC236}">
                <a16:creationId xmlns:a16="http://schemas.microsoft.com/office/drawing/2014/main" id="{BB5464A6-3670-4D09-AFCA-D31B740FB6DD}"/>
              </a:ext>
            </a:extLst>
          </p:cNvPr>
          <p:cNvSpPr txBox="1"/>
          <p:nvPr/>
        </p:nvSpPr>
        <p:spPr>
          <a:xfrm>
            <a:off x="7756067" y="1121898"/>
            <a:ext cx="4100129" cy="646331"/>
          </a:xfrm>
          <a:prstGeom prst="rect">
            <a:avLst/>
          </a:prstGeom>
          <a:noFill/>
        </p:spPr>
        <p:txBody>
          <a:bodyPr wrap="square" rtlCol="0">
            <a:spAutoFit/>
          </a:bodyPr>
          <a:lstStyle/>
          <a:p>
            <a:pPr algn="ctr"/>
            <a:r>
              <a:rPr lang="en-US" sz="3600"/>
              <a:t>Không đơn định</a:t>
            </a:r>
          </a:p>
        </p:txBody>
      </p:sp>
      <p:sp>
        <p:nvSpPr>
          <p:cNvPr id="18" name="Hình Bầu dục 17">
            <a:extLst>
              <a:ext uri="{FF2B5EF4-FFF2-40B4-BE49-F238E27FC236}">
                <a16:creationId xmlns:a16="http://schemas.microsoft.com/office/drawing/2014/main" id="{35CA6449-6970-43A8-A34C-2FB64E42A74E}"/>
              </a:ext>
            </a:extLst>
          </p:cNvPr>
          <p:cNvSpPr/>
          <p:nvPr/>
        </p:nvSpPr>
        <p:spPr>
          <a:xfrm>
            <a:off x="5519303" y="1832323"/>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Đường kết nối Mũi tên Thẳng 19">
            <a:extLst>
              <a:ext uri="{FF2B5EF4-FFF2-40B4-BE49-F238E27FC236}">
                <a16:creationId xmlns:a16="http://schemas.microsoft.com/office/drawing/2014/main" id="{2502F663-AFF8-4D6A-8C6F-68F258F5EACE}"/>
              </a:ext>
            </a:extLst>
          </p:cNvPr>
          <p:cNvCxnSpPr/>
          <p:nvPr/>
        </p:nvCxnSpPr>
        <p:spPr>
          <a:xfrm>
            <a:off x="5596675" y="2092568"/>
            <a:ext cx="0" cy="43609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1" name="Hình Bầu dục 20">
            <a:extLst>
              <a:ext uri="{FF2B5EF4-FFF2-40B4-BE49-F238E27FC236}">
                <a16:creationId xmlns:a16="http://schemas.microsoft.com/office/drawing/2014/main" id="{56A85EC9-422A-47E4-B0A7-832A7F683AEF}"/>
              </a:ext>
            </a:extLst>
          </p:cNvPr>
          <p:cNvSpPr/>
          <p:nvPr/>
        </p:nvSpPr>
        <p:spPr>
          <a:xfrm>
            <a:off x="5519303" y="262017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Đường kết nối Mũi tên Thẳng 21">
            <a:extLst>
              <a:ext uri="{FF2B5EF4-FFF2-40B4-BE49-F238E27FC236}">
                <a16:creationId xmlns:a16="http://schemas.microsoft.com/office/drawing/2014/main" id="{0102FB7B-626F-4CCD-B447-01826C94DEB9}"/>
              </a:ext>
            </a:extLst>
          </p:cNvPr>
          <p:cNvCxnSpPr/>
          <p:nvPr/>
        </p:nvCxnSpPr>
        <p:spPr>
          <a:xfrm>
            <a:off x="5596675" y="2880419"/>
            <a:ext cx="0" cy="43609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Hộp Văn bản 23">
            <a:extLst>
              <a:ext uri="{FF2B5EF4-FFF2-40B4-BE49-F238E27FC236}">
                <a16:creationId xmlns:a16="http://schemas.microsoft.com/office/drawing/2014/main" id="{140251EC-3A24-4C5B-A3AC-FD094CC2A81F}"/>
              </a:ext>
            </a:extLst>
          </p:cNvPr>
          <p:cNvSpPr txBox="1"/>
          <p:nvPr/>
        </p:nvSpPr>
        <p:spPr>
          <a:xfrm>
            <a:off x="4246178" y="3408025"/>
            <a:ext cx="2700993" cy="369332"/>
          </a:xfrm>
          <a:prstGeom prst="rect">
            <a:avLst/>
          </a:prstGeom>
          <a:noFill/>
        </p:spPr>
        <p:txBody>
          <a:bodyPr wrap="square" rtlCol="0">
            <a:spAutoFit/>
          </a:bodyPr>
          <a:lstStyle/>
          <a:p>
            <a:pPr algn="ctr"/>
            <a:r>
              <a:rPr lang="en-US"/>
              <a:t>…</a:t>
            </a:r>
          </a:p>
        </p:txBody>
      </p:sp>
      <p:sp>
        <p:nvSpPr>
          <p:cNvPr id="26" name="Hình Bầu dục 25">
            <a:extLst>
              <a:ext uri="{FF2B5EF4-FFF2-40B4-BE49-F238E27FC236}">
                <a16:creationId xmlns:a16="http://schemas.microsoft.com/office/drawing/2014/main" id="{49C45E2D-2766-485D-AC86-AB4640FD5CFC}"/>
              </a:ext>
            </a:extLst>
          </p:cNvPr>
          <p:cNvSpPr/>
          <p:nvPr/>
        </p:nvSpPr>
        <p:spPr>
          <a:xfrm>
            <a:off x="5507582" y="386886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7" name="Đường kết nối Mũi tên Thẳng 26">
            <a:extLst>
              <a:ext uri="{FF2B5EF4-FFF2-40B4-BE49-F238E27FC236}">
                <a16:creationId xmlns:a16="http://schemas.microsoft.com/office/drawing/2014/main" id="{7197D440-AC18-4984-A38C-0E0C2B7FC8CB}"/>
              </a:ext>
            </a:extLst>
          </p:cNvPr>
          <p:cNvCxnSpPr/>
          <p:nvPr/>
        </p:nvCxnSpPr>
        <p:spPr>
          <a:xfrm>
            <a:off x="5584954" y="4129109"/>
            <a:ext cx="0" cy="43609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9" name="Hình Bầu dục 28">
            <a:extLst>
              <a:ext uri="{FF2B5EF4-FFF2-40B4-BE49-F238E27FC236}">
                <a16:creationId xmlns:a16="http://schemas.microsoft.com/office/drawing/2014/main" id="{6566661C-E04F-452B-9476-BA510BEFC87A}"/>
              </a:ext>
            </a:extLst>
          </p:cNvPr>
          <p:cNvSpPr/>
          <p:nvPr/>
        </p:nvSpPr>
        <p:spPr>
          <a:xfrm>
            <a:off x="5507582" y="4667508"/>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Hộp Văn bản 30">
                <a:extLst>
                  <a:ext uri="{FF2B5EF4-FFF2-40B4-BE49-F238E27FC236}">
                    <a16:creationId xmlns:a16="http://schemas.microsoft.com/office/drawing/2014/main" id="{EA2263D8-C584-44F7-9430-F3E032A0D63B}"/>
                  </a:ext>
                </a:extLst>
              </p:cNvPr>
              <p:cNvSpPr txBox="1"/>
              <p:nvPr/>
            </p:nvSpPr>
            <p:spPr>
              <a:xfrm>
                <a:off x="4246178" y="4926470"/>
                <a:ext cx="3509889" cy="6908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𝑎𝑐𝑐𝑒𝑝𝑡</m:t>
                          </m:r>
                        </m:sub>
                      </m:sSub>
                      <m:r>
                        <a:rPr lang="en-US" sz="3600" b="0" i="0"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𝑟𝑒𝑗𝑒𝑐𝑡</m:t>
                          </m:r>
                        </m:sub>
                      </m:sSub>
                    </m:oMath>
                  </m:oMathPara>
                </a14:m>
                <a:endParaRPr lang="en-US" sz="3600" i="1"/>
              </a:p>
            </p:txBody>
          </p:sp>
        </mc:Choice>
        <mc:Fallback xmlns="">
          <p:sp>
            <p:nvSpPr>
              <p:cNvPr id="31" name="Hộp Văn bản 30">
                <a:extLst>
                  <a:ext uri="{FF2B5EF4-FFF2-40B4-BE49-F238E27FC236}">
                    <a16:creationId xmlns:a16="http://schemas.microsoft.com/office/drawing/2014/main" id="{EA2263D8-C584-44F7-9430-F3E032A0D63B}"/>
                  </a:ext>
                </a:extLst>
              </p:cNvPr>
              <p:cNvSpPr txBox="1">
                <a:spLocks noRot="1" noChangeAspect="1" noMove="1" noResize="1" noEditPoints="1" noAdjustHandles="1" noChangeArrowheads="1" noChangeShapeType="1" noTextEdit="1"/>
              </p:cNvSpPr>
              <p:nvPr/>
            </p:nvSpPr>
            <p:spPr>
              <a:xfrm>
                <a:off x="4246178" y="4926470"/>
                <a:ext cx="3509889" cy="690895"/>
              </a:xfrm>
              <a:prstGeom prst="rect">
                <a:avLst/>
              </a:prstGeom>
              <a:blipFill>
                <a:blip r:embed="rId2"/>
                <a:stretch>
                  <a:fillRect b="-14286"/>
                </a:stretch>
              </a:blipFill>
            </p:spPr>
            <p:txBody>
              <a:bodyPr/>
              <a:lstStyle/>
              <a:p>
                <a:r>
                  <a:rPr lang="en-VN">
                    <a:noFill/>
                  </a:rPr>
                  <a:t> </a:t>
                </a:r>
              </a:p>
            </p:txBody>
          </p:sp>
        </mc:Fallback>
      </mc:AlternateContent>
      <p:sp>
        <p:nvSpPr>
          <p:cNvPr id="32" name="Hình Bầu dục 31">
            <a:extLst>
              <a:ext uri="{FF2B5EF4-FFF2-40B4-BE49-F238E27FC236}">
                <a16:creationId xmlns:a16="http://schemas.microsoft.com/office/drawing/2014/main" id="{325C2661-97EA-4516-9A0A-A2F21FB4E879}"/>
              </a:ext>
            </a:extLst>
          </p:cNvPr>
          <p:cNvSpPr/>
          <p:nvPr/>
        </p:nvSpPr>
        <p:spPr>
          <a:xfrm>
            <a:off x="9566106" y="1832323"/>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3" name="Đường kết nối Mũi tên Thẳng 32">
            <a:extLst>
              <a:ext uri="{FF2B5EF4-FFF2-40B4-BE49-F238E27FC236}">
                <a16:creationId xmlns:a16="http://schemas.microsoft.com/office/drawing/2014/main" id="{8C58C3E4-897E-4A15-9BEB-17295D8344F9}"/>
              </a:ext>
            </a:extLst>
          </p:cNvPr>
          <p:cNvCxnSpPr/>
          <p:nvPr/>
        </p:nvCxnSpPr>
        <p:spPr>
          <a:xfrm>
            <a:off x="9643478" y="2092568"/>
            <a:ext cx="0" cy="436099"/>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34" name="Hình Bầu dục 33">
            <a:extLst>
              <a:ext uri="{FF2B5EF4-FFF2-40B4-BE49-F238E27FC236}">
                <a16:creationId xmlns:a16="http://schemas.microsoft.com/office/drawing/2014/main" id="{90D7F1BD-5445-4564-B3FA-579C692A04F3}"/>
              </a:ext>
            </a:extLst>
          </p:cNvPr>
          <p:cNvSpPr/>
          <p:nvPr/>
        </p:nvSpPr>
        <p:spPr>
          <a:xfrm>
            <a:off x="9566106" y="262017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5" name="Đường kết nối Mũi tên Thẳng 34">
            <a:extLst>
              <a:ext uri="{FF2B5EF4-FFF2-40B4-BE49-F238E27FC236}">
                <a16:creationId xmlns:a16="http://schemas.microsoft.com/office/drawing/2014/main" id="{CFDF060B-E9E1-4017-9A43-706323FEFB6D}"/>
              </a:ext>
            </a:extLst>
          </p:cNvPr>
          <p:cNvCxnSpPr/>
          <p:nvPr/>
        </p:nvCxnSpPr>
        <p:spPr>
          <a:xfrm>
            <a:off x="9643478" y="2880419"/>
            <a:ext cx="0" cy="43609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6" name="Hình Bầu dục 35">
            <a:extLst>
              <a:ext uri="{FF2B5EF4-FFF2-40B4-BE49-F238E27FC236}">
                <a16:creationId xmlns:a16="http://schemas.microsoft.com/office/drawing/2014/main" id="{C885114B-9D68-474D-862D-7D34B9536C66}"/>
              </a:ext>
            </a:extLst>
          </p:cNvPr>
          <p:cNvSpPr/>
          <p:nvPr/>
        </p:nvSpPr>
        <p:spPr>
          <a:xfrm>
            <a:off x="9554385" y="449751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7" name="Đường kết nối Mũi tên Thẳng 36">
            <a:extLst>
              <a:ext uri="{FF2B5EF4-FFF2-40B4-BE49-F238E27FC236}">
                <a16:creationId xmlns:a16="http://schemas.microsoft.com/office/drawing/2014/main" id="{E613FF65-91EB-45A3-BF49-AF4EAC4C7840}"/>
              </a:ext>
            </a:extLst>
          </p:cNvPr>
          <p:cNvCxnSpPr/>
          <p:nvPr/>
        </p:nvCxnSpPr>
        <p:spPr>
          <a:xfrm>
            <a:off x="9631757" y="4757759"/>
            <a:ext cx="0" cy="43609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8" name="Hình Bầu dục 37">
            <a:extLst>
              <a:ext uri="{FF2B5EF4-FFF2-40B4-BE49-F238E27FC236}">
                <a16:creationId xmlns:a16="http://schemas.microsoft.com/office/drawing/2014/main" id="{8CA780A9-8CF9-499E-83C2-E445D315576A}"/>
              </a:ext>
            </a:extLst>
          </p:cNvPr>
          <p:cNvSpPr/>
          <p:nvPr/>
        </p:nvSpPr>
        <p:spPr>
          <a:xfrm>
            <a:off x="9554385" y="5296158"/>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9" name="Đường kết nối Mũi tên Thẳng 38">
            <a:extLst>
              <a:ext uri="{FF2B5EF4-FFF2-40B4-BE49-F238E27FC236}">
                <a16:creationId xmlns:a16="http://schemas.microsoft.com/office/drawing/2014/main" id="{9D9B1284-CD8A-4063-841F-69E5F5AFC010}"/>
              </a:ext>
            </a:extLst>
          </p:cNvPr>
          <p:cNvCxnSpPr>
            <a:cxnSpLocks/>
          </p:cNvCxnSpPr>
          <p:nvPr/>
        </p:nvCxnSpPr>
        <p:spPr>
          <a:xfrm>
            <a:off x="9798364" y="2092568"/>
            <a:ext cx="391555" cy="436099"/>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sp>
        <p:nvSpPr>
          <p:cNvPr id="43" name="Hình Bầu dục 42">
            <a:extLst>
              <a:ext uri="{FF2B5EF4-FFF2-40B4-BE49-F238E27FC236}">
                <a16:creationId xmlns:a16="http://schemas.microsoft.com/office/drawing/2014/main" id="{2F0FC994-B3D9-40D4-A60F-AC750D2F250F}"/>
              </a:ext>
            </a:extLst>
          </p:cNvPr>
          <p:cNvSpPr/>
          <p:nvPr/>
        </p:nvSpPr>
        <p:spPr>
          <a:xfrm>
            <a:off x="10179222" y="262017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5" name="Đường kết nối Mũi tên Thẳng 44">
            <a:extLst>
              <a:ext uri="{FF2B5EF4-FFF2-40B4-BE49-F238E27FC236}">
                <a16:creationId xmlns:a16="http://schemas.microsoft.com/office/drawing/2014/main" id="{C78F5842-CA3E-4364-83D2-C97C56D124DB}"/>
              </a:ext>
            </a:extLst>
          </p:cNvPr>
          <p:cNvCxnSpPr>
            <a:cxnSpLocks/>
          </p:cNvCxnSpPr>
          <p:nvPr/>
        </p:nvCxnSpPr>
        <p:spPr>
          <a:xfrm>
            <a:off x="10427602" y="2861319"/>
            <a:ext cx="391555" cy="436099"/>
          </a:xfrm>
          <a:prstGeom prst="straightConnector1">
            <a:avLst/>
          </a:prstGeom>
          <a:ln w="28575">
            <a:solidFill>
              <a:srgbClr val="FFC000"/>
            </a:solidFill>
            <a:tailEnd type="triangle"/>
          </a:ln>
        </p:spPr>
        <p:style>
          <a:lnRef idx="1">
            <a:schemeClr val="dk1"/>
          </a:lnRef>
          <a:fillRef idx="0">
            <a:schemeClr val="dk1"/>
          </a:fillRef>
          <a:effectRef idx="0">
            <a:schemeClr val="dk1"/>
          </a:effectRef>
          <a:fontRef idx="minor">
            <a:schemeClr val="tx1"/>
          </a:fontRef>
        </p:style>
      </p:cxnSp>
      <p:sp>
        <p:nvSpPr>
          <p:cNvPr id="47" name="Hình Bầu dục 46">
            <a:extLst>
              <a:ext uri="{FF2B5EF4-FFF2-40B4-BE49-F238E27FC236}">
                <a16:creationId xmlns:a16="http://schemas.microsoft.com/office/drawing/2014/main" id="{930BFBEB-B1E6-4C07-B713-50B19569385D}"/>
              </a:ext>
            </a:extLst>
          </p:cNvPr>
          <p:cNvSpPr/>
          <p:nvPr/>
        </p:nvSpPr>
        <p:spPr>
          <a:xfrm>
            <a:off x="10834100" y="3351631"/>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8" name="Đường kết nối Mũi tên Thẳng 47">
            <a:extLst>
              <a:ext uri="{FF2B5EF4-FFF2-40B4-BE49-F238E27FC236}">
                <a16:creationId xmlns:a16="http://schemas.microsoft.com/office/drawing/2014/main" id="{ABD51419-3BAD-45F9-A956-81DC7F531BB3}"/>
              </a:ext>
            </a:extLst>
          </p:cNvPr>
          <p:cNvCxnSpPr>
            <a:cxnSpLocks/>
          </p:cNvCxnSpPr>
          <p:nvPr/>
        </p:nvCxnSpPr>
        <p:spPr>
          <a:xfrm flipH="1">
            <a:off x="8909169" y="2850008"/>
            <a:ext cx="524617" cy="447410"/>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52" name="Hình Bầu dục 51">
            <a:extLst>
              <a:ext uri="{FF2B5EF4-FFF2-40B4-BE49-F238E27FC236}">
                <a16:creationId xmlns:a16="http://schemas.microsoft.com/office/drawing/2014/main" id="{EB763FB4-A8B8-4601-97B2-366B1B629733}"/>
              </a:ext>
            </a:extLst>
          </p:cNvPr>
          <p:cNvSpPr/>
          <p:nvPr/>
        </p:nvSpPr>
        <p:spPr>
          <a:xfrm>
            <a:off x="9566106" y="3351631"/>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Hình Bầu dục 53">
            <a:extLst>
              <a:ext uri="{FF2B5EF4-FFF2-40B4-BE49-F238E27FC236}">
                <a16:creationId xmlns:a16="http://schemas.microsoft.com/office/drawing/2014/main" id="{431AEF0E-812A-4D14-8ABA-1FC3530E8486}"/>
              </a:ext>
            </a:extLst>
          </p:cNvPr>
          <p:cNvSpPr/>
          <p:nvPr/>
        </p:nvSpPr>
        <p:spPr>
          <a:xfrm>
            <a:off x="8740579" y="3351631"/>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6" name="Hộp Văn bản 55">
            <a:extLst>
              <a:ext uri="{FF2B5EF4-FFF2-40B4-BE49-F238E27FC236}">
                <a16:creationId xmlns:a16="http://schemas.microsoft.com/office/drawing/2014/main" id="{9EA18BD4-60E6-4189-91EE-BC7E3939A5EE}"/>
              </a:ext>
            </a:extLst>
          </p:cNvPr>
          <p:cNvSpPr txBox="1"/>
          <p:nvPr/>
        </p:nvSpPr>
        <p:spPr>
          <a:xfrm>
            <a:off x="8292981" y="4003106"/>
            <a:ext cx="2700993" cy="369332"/>
          </a:xfrm>
          <a:prstGeom prst="rect">
            <a:avLst/>
          </a:prstGeom>
          <a:noFill/>
        </p:spPr>
        <p:txBody>
          <a:bodyPr wrap="square" rtlCol="0">
            <a:spAutoFit/>
          </a:bodyPr>
          <a:lstStyle/>
          <a:p>
            <a:pPr algn="ctr"/>
            <a:r>
              <a:rPr lang="en-US"/>
              <a:t>…</a:t>
            </a:r>
          </a:p>
        </p:txBody>
      </p:sp>
      <p:cxnSp>
        <p:nvCxnSpPr>
          <p:cNvPr id="57" name="Đường kết nối Mũi tên Thẳng 56">
            <a:extLst>
              <a:ext uri="{FF2B5EF4-FFF2-40B4-BE49-F238E27FC236}">
                <a16:creationId xmlns:a16="http://schemas.microsoft.com/office/drawing/2014/main" id="{C0BE01FB-C9AB-4F61-99E9-75058299AC5D}"/>
              </a:ext>
            </a:extLst>
          </p:cNvPr>
          <p:cNvCxnSpPr/>
          <p:nvPr/>
        </p:nvCxnSpPr>
        <p:spPr>
          <a:xfrm>
            <a:off x="9643478" y="3592691"/>
            <a:ext cx="0" cy="43609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9" name="Hộp Văn bản 58">
                <a:extLst>
                  <a:ext uri="{FF2B5EF4-FFF2-40B4-BE49-F238E27FC236}">
                    <a16:creationId xmlns:a16="http://schemas.microsoft.com/office/drawing/2014/main" id="{78CB9E21-3C4F-4F0C-9EBF-855950F3B346}"/>
                  </a:ext>
                </a:extLst>
              </p:cNvPr>
              <p:cNvSpPr txBox="1"/>
              <p:nvPr/>
            </p:nvSpPr>
            <p:spPr>
              <a:xfrm>
                <a:off x="10117789" y="3380612"/>
                <a:ext cx="2423154" cy="6890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𝑎𝑐𝑐𝑒𝑝𝑡</m:t>
                          </m:r>
                        </m:sub>
                      </m:sSub>
                    </m:oMath>
                  </m:oMathPara>
                </a14:m>
                <a:endParaRPr lang="en-US" sz="3600" i="1"/>
              </a:p>
            </p:txBody>
          </p:sp>
        </mc:Choice>
        <mc:Fallback xmlns="">
          <p:sp>
            <p:nvSpPr>
              <p:cNvPr id="59" name="Hộp Văn bản 58">
                <a:extLst>
                  <a:ext uri="{FF2B5EF4-FFF2-40B4-BE49-F238E27FC236}">
                    <a16:creationId xmlns:a16="http://schemas.microsoft.com/office/drawing/2014/main" id="{78CB9E21-3C4F-4F0C-9EBF-855950F3B346}"/>
                  </a:ext>
                </a:extLst>
              </p:cNvPr>
              <p:cNvSpPr txBox="1">
                <a:spLocks noRot="1" noChangeAspect="1" noMove="1" noResize="1" noEditPoints="1" noAdjustHandles="1" noChangeArrowheads="1" noChangeShapeType="1" noTextEdit="1"/>
              </p:cNvSpPr>
              <p:nvPr/>
            </p:nvSpPr>
            <p:spPr>
              <a:xfrm>
                <a:off x="10117789" y="3380612"/>
                <a:ext cx="2423154" cy="689099"/>
              </a:xfrm>
              <a:prstGeom prst="rect">
                <a:avLst/>
              </a:prstGeom>
              <a:blipFill>
                <a:blip r:embed="rId3"/>
                <a:stretch>
                  <a:fillRect b="-1090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1" name="Hộp Văn bản 60">
                <a:extLst>
                  <a:ext uri="{FF2B5EF4-FFF2-40B4-BE49-F238E27FC236}">
                    <a16:creationId xmlns:a16="http://schemas.microsoft.com/office/drawing/2014/main" id="{3255920D-B384-4052-99C8-A89F47648D8D}"/>
                  </a:ext>
                </a:extLst>
              </p:cNvPr>
              <p:cNvSpPr txBox="1"/>
              <p:nvPr/>
            </p:nvSpPr>
            <p:spPr>
              <a:xfrm>
                <a:off x="8930646" y="5337544"/>
                <a:ext cx="2423154" cy="6890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𝑎𝑐𝑐𝑒𝑝𝑡</m:t>
                          </m:r>
                        </m:sub>
                      </m:sSub>
                    </m:oMath>
                  </m:oMathPara>
                </a14:m>
                <a:endParaRPr lang="en-US" sz="3600" i="1"/>
              </a:p>
            </p:txBody>
          </p:sp>
        </mc:Choice>
        <mc:Fallback xmlns="">
          <p:sp>
            <p:nvSpPr>
              <p:cNvPr id="61" name="Hộp Văn bản 60">
                <a:extLst>
                  <a:ext uri="{FF2B5EF4-FFF2-40B4-BE49-F238E27FC236}">
                    <a16:creationId xmlns:a16="http://schemas.microsoft.com/office/drawing/2014/main" id="{3255920D-B384-4052-99C8-A89F47648D8D}"/>
                  </a:ext>
                </a:extLst>
              </p:cNvPr>
              <p:cNvSpPr txBox="1">
                <a:spLocks noRot="1" noChangeAspect="1" noMove="1" noResize="1" noEditPoints="1" noAdjustHandles="1" noChangeArrowheads="1" noChangeShapeType="1" noTextEdit="1"/>
              </p:cNvSpPr>
              <p:nvPr/>
            </p:nvSpPr>
            <p:spPr>
              <a:xfrm>
                <a:off x="8930646" y="5337544"/>
                <a:ext cx="2423154" cy="689099"/>
              </a:xfrm>
              <a:prstGeom prst="rect">
                <a:avLst/>
              </a:prstGeom>
              <a:blipFill>
                <a:blip r:embed="rId4"/>
                <a:stretch>
                  <a:fillRect b="-1090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3" name="Hộp Văn bản 62">
                <a:extLst>
                  <a:ext uri="{FF2B5EF4-FFF2-40B4-BE49-F238E27FC236}">
                    <a16:creationId xmlns:a16="http://schemas.microsoft.com/office/drawing/2014/main" id="{DA483DAA-C2DF-4319-A0A3-772B36F1737D}"/>
                  </a:ext>
                </a:extLst>
              </p:cNvPr>
              <p:cNvSpPr txBox="1"/>
              <p:nvPr/>
            </p:nvSpPr>
            <p:spPr>
              <a:xfrm>
                <a:off x="7375210" y="3455287"/>
                <a:ext cx="2423154" cy="6908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𝑟𝑒𝑗𝑒𝑐𝑡</m:t>
                          </m:r>
                        </m:sub>
                      </m:sSub>
                    </m:oMath>
                  </m:oMathPara>
                </a14:m>
                <a:endParaRPr lang="en-US" sz="3600" i="1"/>
              </a:p>
            </p:txBody>
          </p:sp>
        </mc:Choice>
        <mc:Fallback xmlns="">
          <p:sp>
            <p:nvSpPr>
              <p:cNvPr id="63" name="Hộp Văn bản 62">
                <a:extLst>
                  <a:ext uri="{FF2B5EF4-FFF2-40B4-BE49-F238E27FC236}">
                    <a16:creationId xmlns:a16="http://schemas.microsoft.com/office/drawing/2014/main" id="{DA483DAA-C2DF-4319-A0A3-772B36F1737D}"/>
                  </a:ext>
                </a:extLst>
              </p:cNvPr>
              <p:cNvSpPr txBox="1">
                <a:spLocks noRot="1" noChangeAspect="1" noMove="1" noResize="1" noEditPoints="1" noAdjustHandles="1" noChangeArrowheads="1" noChangeShapeType="1" noTextEdit="1"/>
              </p:cNvSpPr>
              <p:nvPr/>
            </p:nvSpPr>
            <p:spPr>
              <a:xfrm>
                <a:off x="7375210" y="3455287"/>
                <a:ext cx="2423154" cy="690895"/>
              </a:xfrm>
              <a:prstGeom prst="rect">
                <a:avLst/>
              </a:prstGeom>
              <a:blipFill>
                <a:blip r:embed="rId5"/>
                <a:stretch>
                  <a:fillRect b="-12727"/>
                </a:stretch>
              </a:blipFill>
            </p:spPr>
            <p:txBody>
              <a:bodyPr/>
              <a:lstStyle/>
              <a:p>
                <a:r>
                  <a:rPr lang="en-VN">
                    <a:noFill/>
                  </a:rPr>
                  <a:t> </a:t>
                </a:r>
              </a:p>
            </p:txBody>
          </p:sp>
        </mc:Fallback>
      </mc:AlternateContent>
      <p:sp>
        <p:nvSpPr>
          <p:cNvPr id="2" name="Chỗ dành sẵn cho Số hiệu Bản chiếu 1">
            <a:extLst>
              <a:ext uri="{FF2B5EF4-FFF2-40B4-BE49-F238E27FC236}">
                <a16:creationId xmlns:a16="http://schemas.microsoft.com/office/drawing/2014/main" id="{7F4F34DB-85AE-444C-A414-B156C67D9010}"/>
              </a:ext>
            </a:extLst>
          </p:cNvPr>
          <p:cNvSpPr>
            <a:spLocks noGrp="1"/>
          </p:cNvSpPr>
          <p:nvPr>
            <p:ph type="sldNum" sz="quarter" idx="12"/>
          </p:nvPr>
        </p:nvSpPr>
        <p:spPr/>
        <p:txBody>
          <a:bodyPr/>
          <a:lstStyle/>
          <a:p>
            <a:fld id="{74ABBA0F-ED8F-4A6E-AA06-FEAFBF3D52EE}" type="slidenum">
              <a:rPr lang="en-US" smtClean="0"/>
              <a:t>29</a:t>
            </a:fld>
            <a:endParaRPr lang="en-US"/>
          </a:p>
        </p:txBody>
      </p:sp>
      <p:pic>
        <p:nvPicPr>
          <p:cNvPr id="1026" name="Picture 2" descr="Cách đây không lâu, tôi nhận ra là mình sống khá gần cái biển báo đã được  chỉnh sửa vào cái meme trôi xe nổi tiếng. Ảnh đầu tiên là biển báo">
            <a:extLst>
              <a:ext uri="{FF2B5EF4-FFF2-40B4-BE49-F238E27FC236}">
                <a16:creationId xmlns:a16="http://schemas.microsoft.com/office/drawing/2014/main" id="{B1460A37-F5BE-F15E-AAAE-EE4EF934487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495" t="5021" r="23733"/>
          <a:stretch>
            <a:fillRect/>
          </a:stretch>
        </p:blipFill>
        <p:spPr bwMode="auto">
          <a:xfrm>
            <a:off x="15531" y="1"/>
            <a:ext cx="437428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96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DA9E0ED7-BAE1-44DA-89F7-48FB9D912D04}"/>
                  </a:ext>
                </a:extLst>
              </p:cNvPr>
              <p:cNvSpPr>
                <a:spLocks noGrp="1"/>
              </p:cNvSpPr>
              <p:nvPr>
                <p:ph idx="1"/>
              </p:nvPr>
            </p:nvSpPr>
            <p:spPr>
              <a:xfrm>
                <a:off x="590226" y="854265"/>
                <a:ext cx="11601773" cy="700599"/>
              </a:xfrm>
            </p:spPr>
            <p:txBody>
              <a:bodyPr>
                <a:noAutofit/>
              </a:bodyPr>
              <a:lstStyle/>
              <a:p>
                <a:pPr marL="0" indent="0">
                  <a:buNone/>
                </a:pPr>
                <a:r>
                  <a:rPr lang="en-US" sz="3600"/>
                  <a:t>Cho tập S = </a:t>
                </a:r>
                <a14:m>
                  <m:oMath xmlns:m="http://schemas.openxmlformats.org/officeDocument/2006/math">
                    <m:r>
                      <a:rPr lang="en-US" sz="3600" b="0" i="1" smtClean="0">
                        <a:latin typeface="Cambria Math" panose="02040503050406030204" pitchFamily="18" charset="0"/>
                      </a:rPr>
                      <m:t>{1,−2, 5,3</m:t>
                    </m:r>
                    <m:r>
                      <a:rPr lang="vi-VN" sz="3600" b="0" i="1" smtClean="0">
                        <a:latin typeface="Cambria Math" panose="02040503050406030204" pitchFamily="18" charset="0"/>
                      </a:rPr>
                      <m:t>,5</m:t>
                    </m:r>
                    <m:r>
                      <a:rPr lang="en-US" sz="3600" b="0" i="1" smtClean="0">
                        <a:latin typeface="Cambria Math" panose="02040503050406030204" pitchFamily="18" charset="0"/>
                      </a:rPr>
                      <m:t>}</m:t>
                    </m:r>
                  </m:oMath>
                </a14:m>
                <a:r>
                  <a:rPr lang="en-US" sz="3600"/>
                  <a:t>. Tập con nào của S có tổng bằng 7?</a:t>
                </a:r>
                <a:endParaRPr lang="vi-VN" sz="3600"/>
              </a:p>
            </p:txBody>
          </p:sp>
        </mc:Choice>
        <mc:Fallback xmlns="">
          <p:sp>
            <p:nvSpPr>
              <p:cNvPr id="3" name="Chỗ dành sẵn cho Nội dung 2">
                <a:extLst>
                  <a:ext uri="{FF2B5EF4-FFF2-40B4-BE49-F238E27FC236}">
                    <a16:creationId xmlns:a16="http://schemas.microsoft.com/office/drawing/2014/main" id="{DA9E0ED7-BAE1-44DA-89F7-48FB9D912D04}"/>
                  </a:ext>
                </a:extLst>
              </p:cNvPr>
              <p:cNvSpPr>
                <a:spLocks noGrp="1" noRot="1" noChangeAspect="1" noMove="1" noResize="1" noEditPoints="1" noAdjustHandles="1" noChangeArrowheads="1" noChangeShapeType="1" noTextEdit="1"/>
              </p:cNvSpPr>
              <p:nvPr>
                <p:ph idx="1"/>
              </p:nvPr>
            </p:nvSpPr>
            <p:spPr>
              <a:xfrm>
                <a:off x="590226" y="854265"/>
                <a:ext cx="11601773" cy="700599"/>
              </a:xfrm>
              <a:blipFill>
                <a:blip r:embed="rId2"/>
                <a:stretch>
                  <a:fillRect l="-1530" t="-21429" b="-16071"/>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D582ABA6-3A1B-4C50-8824-990A625EDFFC}"/>
              </a:ext>
            </a:extLst>
          </p:cNvPr>
          <p:cNvSpPr>
            <a:spLocks noGrp="1"/>
          </p:cNvSpPr>
          <p:nvPr>
            <p:ph type="sldNum" sz="quarter" idx="12"/>
          </p:nvPr>
        </p:nvSpPr>
        <p:spPr/>
        <p:txBody>
          <a:bodyPr/>
          <a:lstStyle/>
          <a:p>
            <a:fld id="{95CF7CBD-B9A5-4D53-9D65-FFCCF7EF1299}" type="slidenum">
              <a:rPr lang="vi-VN" smtClean="0"/>
              <a:t>30</a:t>
            </a:fld>
            <a:endParaRPr lang="vi-VN"/>
          </a:p>
        </p:txBody>
      </p:sp>
      <p:pic>
        <p:nvPicPr>
          <p:cNvPr id="2050" name="Picture 2" descr="P Vs NP Problem In A Nutshell.. One of the unanswered questions in… | by  Bilal Aamir | Medium">
            <a:extLst>
              <a:ext uri="{FF2B5EF4-FFF2-40B4-BE49-F238E27FC236}">
                <a16:creationId xmlns:a16="http://schemas.microsoft.com/office/drawing/2014/main" id="{BAFB50C2-D0A5-80DB-6118-8125AE9ECA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72" t="15594" r="4289" b="5324"/>
          <a:stretch>
            <a:fillRect/>
          </a:stretch>
        </p:blipFill>
        <p:spPr bwMode="auto">
          <a:xfrm>
            <a:off x="590227" y="1524783"/>
            <a:ext cx="8708756" cy="52634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ull 200+ ảnh Ếch Xanh Pepe Meme hài bựa với hàng loạt cảm xúc hành động vô tri">
            <a:extLst>
              <a:ext uri="{FF2B5EF4-FFF2-40B4-BE49-F238E27FC236}">
                <a16:creationId xmlns:a16="http://schemas.microsoft.com/office/drawing/2014/main" id="{E14F75B4-97D3-622A-E55F-CBC25393F81A}"/>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626" b="95989" l="5000" r="96200">
                        <a14:foregroundMark x1="3800" y1="56417" x2="5000" y2="46257"/>
                        <a14:foregroundMark x1="5000" y1="46257" x2="5000" y2="46257"/>
                        <a14:foregroundMark x1="42200" y1="33957" x2="60400" y2="37433"/>
                        <a14:foregroundMark x1="60400" y1="37433" x2="66800" y2="36631"/>
                        <a14:foregroundMark x1="66800" y1="35027" x2="70600" y2="36631"/>
                        <a14:foregroundMark x1="92200" y1="61765" x2="91400" y2="44385"/>
                        <a14:foregroundMark x1="96200" y1="60963" x2="96000" y2="55080"/>
                        <a14:foregroundMark x1="37200" y1="95187" x2="58000" y2="95989"/>
                      </a14:backgroundRemoval>
                    </a14:imgEffect>
                  </a14:imgLayer>
                </a14:imgProps>
              </a:ext>
              <a:ext uri="{28A0092B-C50C-407E-A947-70E740481C1C}">
                <a14:useLocalDpi xmlns:a14="http://schemas.microsoft.com/office/drawing/2010/main" val="0"/>
              </a:ext>
            </a:extLst>
          </a:blip>
          <a:srcRect/>
          <a:stretch>
            <a:fillRect/>
          </a:stretch>
        </p:blipFill>
        <p:spPr bwMode="auto">
          <a:xfrm>
            <a:off x="5575876" y="4393611"/>
            <a:ext cx="3034724" cy="226997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azen | Hài hước về chó, Anh và em, Bảng chữ cái tiếng anh">
            <a:extLst>
              <a:ext uri="{FF2B5EF4-FFF2-40B4-BE49-F238E27FC236}">
                <a16:creationId xmlns:a16="http://schemas.microsoft.com/office/drawing/2014/main" id="{4491AD5C-5299-8C96-C31A-A730A83A57E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7634"/>
          <a:stretch>
            <a:fillRect/>
          </a:stretch>
        </p:blipFill>
        <p:spPr bwMode="auto">
          <a:xfrm>
            <a:off x="4578609" y="2542477"/>
            <a:ext cx="2096096" cy="172646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Meme - Ếch buồn meme với dây thừng - CleanPNG / KissPNG">
            <a:extLst>
              <a:ext uri="{FF2B5EF4-FFF2-40B4-BE49-F238E27FC236}">
                <a16:creationId xmlns:a16="http://schemas.microsoft.com/office/drawing/2014/main" id="{00EADD38-8549-5B60-152C-6141DB4D2F94}"/>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13097" y="1936372"/>
            <a:ext cx="2529788" cy="25690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Chỗ dành sẵn cho Nội dung 2">
                <a:extLst>
                  <a:ext uri="{FF2B5EF4-FFF2-40B4-BE49-F238E27FC236}">
                    <a16:creationId xmlns:a16="http://schemas.microsoft.com/office/drawing/2014/main" id="{180C4BEF-B0CC-4E34-AB04-B3D1200CDC38}"/>
                  </a:ext>
                </a:extLst>
              </p:cNvPr>
              <p:cNvSpPr txBox="1">
                <a:spLocks/>
              </p:cNvSpPr>
              <p:nvPr/>
            </p:nvSpPr>
            <p:spPr>
              <a:xfrm>
                <a:off x="590225" y="236286"/>
                <a:ext cx="11601773" cy="7005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a:t>Cho dãy </a:t>
                </a:r>
                <a14:m>
                  <m:oMath xmlns:m="http://schemas.openxmlformats.org/officeDocument/2006/math">
                    <m:r>
                      <m:rPr>
                        <m:sty m:val="p"/>
                      </m:rPr>
                      <a:rPr lang="en-US" sz="3600" i="1" smtClean="0">
                        <a:latin typeface="Cambria Math" panose="02040503050406030204" pitchFamily="18" charset="0"/>
                      </a:rPr>
                      <m:t>A</m:t>
                    </m:r>
                    <m:r>
                      <a:rPr lang="vi-VN" sz="3600" b="0" i="1" smtClean="0">
                        <a:latin typeface="Cambria Math" panose="02040503050406030204" pitchFamily="18" charset="0"/>
                      </a:rPr>
                      <m:t>=</m:t>
                    </m:r>
                    <m:r>
                      <a:rPr lang="en-US" sz="3600" i="1" smtClean="0">
                        <a:latin typeface="Cambria Math" panose="02040503050406030204" pitchFamily="18" charset="0"/>
                      </a:rPr>
                      <m:t>{</m:t>
                    </m:r>
                    <m:r>
                      <a:rPr lang="vi-VN" sz="3600" b="0" i="1" smtClean="0">
                        <a:latin typeface="Cambria Math" panose="02040503050406030204" pitchFamily="18" charset="0"/>
                      </a:rPr>
                      <m:t>6,2,9,10,15,3</m:t>
                    </m:r>
                    <m:r>
                      <a:rPr lang="en-US" sz="3600" i="1" smtClean="0">
                        <a:latin typeface="Cambria Math" panose="02040503050406030204" pitchFamily="18" charset="0"/>
                      </a:rPr>
                      <m:t>}</m:t>
                    </m:r>
                  </m:oMath>
                </a14:m>
                <a:r>
                  <a:rPr lang="en-US" sz="3600"/>
                  <a:t>. Phần tử lớn nhất là?</a:t>
                </a:r>
                <a:endParaRPr lang="vi-VN" sz="3600"/>
              </a:p>
            </p:txBody>
          </p:sp>
        </mc:Choice>
        <mc:Fallback xmlns="">
          <p:sp>
            <p:nvSpPr>
              <p:cNvPr id="11" name="Chỗ dành sẵn cho Nội dung 2">
                <a:extLst>
                  <a:ext uri="{FF2B5EF4-FFF2-40B4-BE49-F238E27FC236}">
                    <a16:creationId xmlns:a16="http://schemas.microsoft.com/office/drawing/2014/main" id="{180C4BEF-B0CC-4E34-AB04-B3D1200CDC38}"/>
                  </a:ext>
                </a:extLst>
              </p:cNvPr>
              <p:cNvSpPr txBox="1">
                <a:spLocks noRot="1" noChangeAspect="1" noMove="1" noResize="1" noEditPoints="1" noAdjustHandles="1" noChangeArrowheads="1" noChangeShapeType="1" noTextEdit="1"/>
              </p:cNvSpPr>
              <p:nvPr/>
            </p:nvSpPr>
            <p:spPr>
              <a:xfrm>
                <a:off x="590225" y="236286"/>
                <a:ext cx="11601773" cy="700599"/>
              </a:xfrm>
              <a:prstGeom prst="rect">
                <a:avLst/>
              </a:prstGeom>
              <a:blipFill>
                <a:blip r:embed="rId9"/>
                <a:stretch>
                  <a:fillRect l="-1530" t="-19643" b="-17857"/>
                </a:stretch>
              </a:blipFill>
            </p:spPr>
            <p:txBody>
              <a:bodyPr/>
              <a:lstStyle/>
              <a:p>
                <a:r>
                  <a:rPr lang="en-VN">
                    <a:noFill/>
                  </a:rPr>
                  <a:t> </a:t>
                </a:r>
              </a:p>
            </p:txBody>
          </p:sp>
        </mc:Fallback>
      </mc:AlternateContent>
    </p:spTree>
    <p:extLst>
      <p:ext uri="{BB962C8B-B14F-4D97-AF65-F5344CB8AC3E}">
        <p14:creationId xmlns:p14="http://schemas.microsoft.com/office/powerpoint/2010/main" val="425279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B5600-B9AE-317D-5B95-4BCA7ED07C2E}"/>
              </a:ext>
            </a:extLst>
          </p:cNvPr>
          <p:cNvSpPr>
            <a:spLocks noGrp="1"/>
          </p:cNvSpPr>
          <p:nvPr>
            <p:ph type="title"/>
          </p:nvPr>
        </p:nvSpPr>
        <p:spPr>
          <a:xfrm>
            <a:off x="838200" y="365125"/>
            <a:ext cx="9018722" cy="1325563"/>
          </a:xfrm>
        </p:spPr>
        <p:txBody>
          <a:bodyPr/>
          <a:lstStyle/>
          <a:p>
            <a:r>
              <a:rPr lang="en-VN"/>
              <a:t>Nhiều bài toán máy Turing đơn định </a:t>
            </a:r>
            <a:r>
              <a:rPr lang="en-VN" u="sng"/>
              <a:t>gần như không thể</a:t>
            </a:r>
            <a:r>
              <a:rPr lang="en-VN"/>
              <a:t> giải chính xác</a:t>
            </a:r>
          </a:p>
        </p:txBody>
      </p:sp>
      <p:sp>
        <p:nvSpPr>
          <p:cNvPr id="4" name="Slide Number Placeholder 3">
            <a:extLst>
              <a:ext uri="{FF2B5EF4-FFF2-40B4-BE49-F238E27FC236}">
                <a16:creationId xmlns:a16="http://schemas.microsoft.com/office/drawing/2014/main" id="{CD84BE43-40F0-E285-206A-7BA5F75E56BB}"/>
              </a:ext>
            </a:extLst>
          </p:cNvPr>
          <p:cNvSpPr>
            <a:spLocks noGrp="1"/>
          </p:cNvSpPr>
          <p:nvPr>
            <p:ph type="sldNum" sz="quarter" idx="12"/>
          </p:nvPr>
        </p:nvSpPr>
        <p:spPr/>
        <p:txBody>
          <a:bodyPr/>
          <a:lstStyle/>
          <a:p>
            <a:fld id="{95CF7CBD-B9A5-4D53-9D65-FFCCF7EF1299}" type="slidenum">
              <a:rPr lang="vi-VN" smtClean="0"/>
              <a:t>31</a:t>
            </a:fld>
            <a:endParaRPr lang="vi-VN"/>
          </a:p>
        </p:txBody>
      </p:sp>
      <p:pic>
        <p:nvPicPr>
          <p:cNvPr id="3074" name="Picture 2" descr="A brief introduction to VRP - PyVRP 0.13.4 documentation">
            <a:extLst>
              <a:ext uri="{FF2B5EF4-FFF2-40B4-BE49-F238E27FC236}">
                <a16:creationId xmlns:a16="http://schemas.microsoft.com/office/drawing/2014/main" id="{561E04DD-3018-EAE5-2C97-8AA4C054F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05818"/>
            <a:ext cx="4365944" cy="26761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927A36-B505-3C22-C4E0-33BB0C188FF6}"/>
              </a:ext>
            </a:extLst>
          </p:cNvPr>
          <p:cNvSpPr txBox="1"/>
          <p:nvPr/>
        </p:nvSpPr>
        <p:spPr>
          <a:xfrm>
            <a:off x="1376063" y="5102628"/>
            <a:ext cx="3828081" cy="646331"/>
          </a:xfrm>
          <a:prstGeom prst="rect">
            <a:avLst/>
          </a:prstGeom>
          <a:noFill/>
        </p:spPr>
        <p:txBody>
          <a:bodyPr wrap="square" rtlCol="0">
            <a:spAutoFit/>
          </a:bodyPr>
          <a:lstStyle/>
          <a:p>
            <a:r>
              <a:rPr lang="en-VN" sz="3600"/>
              <a:t>Người giao hàng</a:t>
            </a:r>
          </a:p>
        </p:txBody>
      </p:sp>
      <p:pic>
        <p:nvPicPr>
          <p:cNvPr id="3076" name="Picture 4" descr="Electron configuration - Wikipedia">
            <a:extLst>
              <a:ext uri="{FF2B5EF4-FFF2-40B4-BE49-F238E27FC236}">
                <a16:creationId xmlns:a16="http://schemas.microsoft.com/office/drawing/2014/main" id="{92814D99-9684-3D69-66C0-525B7AC6B4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214" r="6913" b="11865"/>
          <a:stretch>
            <a:fillRect/>
          </a:stretch>
        </p:blipFill>
        <p:spPr bwMode="auto">
          <a:xfrm>
            <a:off x="6096001" y="2044865"/>
            <a:ext cx="2970508" cy="309758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4D6725C-917E-59B8-753A-8C436D22A928}"/>
              </a:ext>
            </a:extLst>
          </p:cNvPr>
          <p:cNvSpPr txBox="1"/>
          <p:nvPr/>
        </p:nvSpPr>
        <p:spPr>
          <a:xfrm>
            <a:off x="5667214" y="5142453"/>
            <a:ext cx="3828081" cy="646331"/>
          </a:xfrm>
          <a:prstGeom prst="rect">
            <a:avLst/>
          </a:prstGeom>
          <a:noFill/>
        </p:spPr>
        <p:txBody>
          <a:bodyPr wrap="square" rtlCol="0">
            <a:spAutoFit/>
          </a:bodyPr>
          <a:lstStyle/>
          <a:p>
            <a:r>
              <a:rPr lang="en-VN" sz="3600"/>
              <a:t>Mô phỏng tự nhiên</a:t>
            </a:r>
          </a:p>
        </p:txBody>
      </p:sp>
    </p:spTree>
    <p:extLst>
      <p:ext uri="{BB962C8B-B14F-4D97-AF65-F5344CB8AC3E}">
        <p14:creationId xmlns:p14="http://schemas.microsoft.com/office/powerpoint/2010/main" val="3961283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ộp Văn bản 3">
            <a:extLst>
              <a:ext uri="{FF2B5EF4-FFF2-40B4-BE49-F238E27FC236}">
                <a16:creationId xmlns:a16="http://schemas.microsoft.com/office/drawing/2014/main" id="{4899650B-827B-4A4A-8A8E-D2939D513AF3}"/>
              </a:ext>
            </a:extLst>
          </p:cNvPr>
          <p:cNvSpPr txBox="1"/>
          <p:nvPr/>
        </p:nvSpPr>
        <p:spPr>
          <a:xfrm>
            <a:off x="5335862" y="1314541"/>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PSPACE</a:t>
            </a:r>
          </a:p>
        </p:txBody>
      </p:sp>
      <p:sp>
        <p:nvSpPr>
          <p:cNvPr id="7" name="Hộp Văn bản 5">
            <a:extLst>
              <a:ext uri="{FF2B5EF4-FFF2-40B4-BE49-F238E27FC236}">
                <a16:creationId xmlns:a16="http://schemas.microsoft.com/office/drawing/2014/main" id="{3BE36AF5-A4AD-4883-9B2D-DE5A3D3748EF}"/>
              </a:ext>
            </a:extLst>
          </p:cNvPr>
          <p:cNvSpPr txBox="1"/>
          <p:nvPr/>
        </p:nvSpPr>
        <p:spPr>
          <a:xfrm>
            <a:off x="3359938" y="35616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NP</a:t>
            </a:r>
          </a:p>
        </p:txBody>
      </p:sp>
      <p:sp>
        <p:nvSpPr>
          <p:cNvPr id="8" name="Hộp Văn bản 7">
            <a:extLst>
              <a:ext uri="{FF2B5EF4-FFF2-40B4-BE49-F238E27FC236}">
                <a16:creationId xmlns:a16="http://schemas.microsoft.com/office/drawing/2014/main" id="{195C7464-A932-4FB0-8EB8-7693BC9A186E}"/>
              </a:ext>
            </a:extLst>
          </p:cNvPr>
          <p:cNvSpPr txBox="1"/>
          <p:nvPr/>
        </p:nvSpPr>
        <p:spPr>
          <a:xfrm>
            <a:off x="7240277" y="35616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coNP</a:t>
            </a:r>
          </a:p>
        </p:txBody>
      </p:sp>
      <p:sp>
        <p:nvSpPr>
          <p:cNvPr id="9" name="Hộp Văn bản 9">
            <a:extLst>
              <a:ext uri="{FF2B5EF4-FFF2-40B4-BE49-F238E27FC236}">
                <a16:creationId xmlns:a16="http://schemas.microsoft.com/office/drawing/2014/main" id="{69B0EA51-C736-47B0-9846-0C6061CB3F2D}"/>
              </a:ext>
            </a:extLst>
          </p:cNvPr>
          <p:cNvSpPr txBox="1"/>
          <p:nvPr/>
        </p:nvSpPr>
        <p:spPr>
          <a:xfrm>
            <a:off x="5335862" y="4626001"/>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 = coP</a:t>
            </a:r>
          </a:p>
        </p:txBody>
      </p:sp>
      <p:cxnSp>
        <p:nvCxnSpPr>
          <p:cNvPr id="10" name="Đường nối Thẳng 11">
            <a:extLst>
              <a:ext uri="{FF2B5EF4-FFF2-40B4-BE49-F238E27FC236}">
                <a16:creationId xmlns:a16="http://schemas.microsoft.com/office/drawing/2014/main" id="{5A907E54-FE09-4559-ADB9-851D6826B0BC}"/>
              </a:ext>
            </a:extLst>
          </p:cNvPr>
          <p:cNvCxnSpPr>
            <a:stCxn id="6" idx="2"/>
            <a:endCxn id="7" idx="0"/>
          </p:cNvCxnSpPr>
          <p:nvPr/>
        </p:nvCxnSpPr>
        <p:spPr>
          <a:xfrm flipH="1">
            <a:off x="3873409" y="1683873"/>
            <a:ext cx="1975924" cy="1877727"/>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Đường nối Thẳng 12">
            <a:extLst>
              <a:ext uri="{FF2B5EF4-FFF2-40B4-BE49-F238E27FC236}">
                <a16:creationId xmlns:a16="http://schemas.microsoft.com/office/drawing/2014/main" id="{443D0DA4-990F-43E0-9B8C-38A2BD4EA196}"/>
              </a:ext>
            </a:extLst>
          </p:cNvPr>
          <p:cNvCxnSpPr>
            <a:cxnSpLocks/>
            <a:stCxn id="8" idx="0"/>
            <a:endCxn id="6" idx="2"/>
          </p:cNvCxnSpPr>
          <p:nvPr/>
        </p:nvCxnSpPr>
        <p:spPr>
          <a:xfrm flipH="1" flipV="1">
            <a:off x="5849333" y="1683873"/>
            <a:ext cx="1904415" cy="1877727"/>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Đường nối Thẳng 15">
            <a:extLst>
              <a:ext uri="{FF2B5EF4-FFF2-40B4-BE49-F238E27FC236}">
                <a16:creationId xmlns:a16="http://schemas.microsoft.com/office/drawing/2014/main" id="{502D5CC6-A8C1-4C7E-BA0B-D47FEBEE9BB1}"/>
              </a:ext>
            </a:extLst>
          </p:cNvPr>
          <p:cNvCxnSpPr>
            <a:cxnSpLocks/>
            <a:stCxn id="9" idx="0"/>
            <a:endCxn id="7" idx="2"/>
          </p:cNvCxnSpPr>
          <p:nvPr/>
        </p:nvCxnSpPr>
        <p:spPr>
          <a:xfrm flipH="1" flipV="1">
            <a:off x="3873409" y="3930932"/>
            <a:ext cx="1975924" cy="695069"/>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Đường nối Thẳng 18">
            <a:extLst>
              <a:ext uri="{FF2B5EF4-FFF2-40B4-BE49-F238E27FC236}">
                <a16:creationId xmlns:a16="http://schemas.microsoft.com/office/drawing/2014/main" id="{179866E4-94B3-416F-9738-9FBA2BD0346C}"/>
              </a:ext>
            </a:extLst>
          </p:cNvPr>
          <p:cNvCxnSpPr>
            <a:cxnSpLocks/>
            <a:stCxn id="9" idx="0"/>
            <a:endCxn id="8" idx="2"/>
          </p:cNvCxnSpPr>
          <p:nvPr/>
        </p:nvCxnSpPr>
        <p:spPr>
          <a:xfrm flipV="1">
            <a:off x="5849333" y="3930932"/>
            <a:ext cx="1904415" cy="695069"/>
          </a:xfrm>
          <a:prstGeom prst="line">
            <a:avLst/>
          </a:prstGeom>
          <a:ln w="28575"/>
        </p:spPr>
        <p:style>
          <a:lnRef idx="1">
            <a:schemeClr val="dk1"/>
          </a:lnRef>
          <a:fillRef idx="0">
            <a:schemeClr val="dk1"/>
          </a:fillRef>
          <a:effectRef idx="0">
            <a:schemeClr val="dk1"/>
          </a:effectRef>
          <a:fontRef idx="minor">
            <a:schemeClr val="tx1"/>
          </a:fontRef>
        </p:style>
      </p:cxnSp>
      <p:sp>
        <p:nvSpPr>
          <p:cNvPr id="14" name="Hộp Văn bản 13">
            <a:extLst>
              <a:ext uri="{FF2B5EF4-FFF2-40B4-BE49-F238E27FC236}">
                <a16:creationId xmlns:a16="http://schemas.microsoft.com/office/drawing/2014/main" id="{351DC0F0-6D17-48B8-B24E-DCFBB15DCF29}"/>
              </a:ext>
            </a:extLst>
          </p:cNvPr>
          <p:cNvSpPr txBox="1"/>
          <p:nvPr/>
        </p:nvSpPr>
        <p:spPr>
          <a:xfrm>
            <a:off x="4705747" y="5063180"/>
            <a:ext cx="6096000" cy="369332"/>
          </a:xfrm>
          <a:prstGeom prst="rect">
            <a:avLst/>
          </a:prstGeom>
          <a:noFill/>
        </p:spPr>
        <p:txBody>
          <a:bodyPr wrap="square">
            <a:spAutoFit/>
          </a:bodyPr>
          <a:lstStyle/>
          <a:p>
            <a:r>
              <a:rPr lang="en-US" b="1"/>
              <a:t>P</a:t>
            </a:r>
            <a:r>
              <a:rPr lang="en-US"/>
              <a:t>olynomial number of step</a:t>
            </a:r>
          </a:p>
        </p:txBody>
      </p:sp>
      <p:sp>
        <p:nvSpPr>
          <p:cNvPr id="15" name="Hộp Văn bản 14">
            <a:extLst>
              <a:ext uri="{FF2B5EF4-FFF2-40B4-BE49-F238E27FC236}">
                <a16:creationId xmlns:a16="http://schemas.microsoft.com/office/drawing/2014/main" id="{B564330D-7689-406B-8A9E-29046928DE0F}"/>
              </a:ext>
            </a:extLst>
          </p:cNvPr>
          <p:cNvSpPr txBox="1"/>
          <p:nvPr/>
        </p:nvSpPr>
        <p:spPr>
          <a:xfrm>
            <a:off x="4386879" y="797723"/>
            <a:ext cx="6096000" cy="369332"/>
          </a:xfrm>
          <a:prstGeom prst="rect">
            <a:avLst/>
          </a:prstGeom>
          <a:noFill/>
        </p:spPr>
        <p:txBody>
          <a:bodyPr wrap="square">
            <a:spAutoFit/>
          </a:bodyPr>
          <a:lstStyle/>
          <a:p>
            <a:r>
              <a:rPr lang="en-US" b="1"/>
              <a:t>P</a:t>
            </a:r>
            <a:r>
              <a:rPr lang="en-US"/>
              <a:t>olynomial number of </a:t>
            </a:r>
            <a:r>
              <a:rPr lang="en-US" b="1"/>
              <a:t>SPACE</a:t>
            </a:r>
          </a:p>
        </p:txBody>
      </p:sp>
      <p:sp>
        <p:nvSpPr>
          <p:cNvPr id="16" name="Hộp Văn bản 15">
            <a:extLst>
              <a:ext uri="{FF2B5EF4-FFF2-40B4-BE49-F238E27FC236}">
                <a16:creationId xmlns:a16="http://schemas.microsoft.com/office/drawing/2014/main" id="{528D65A1-9899-4286-9F68-7771F26C957A}"/>
              </a:ext>
            </a:extLst>
          </p:cNvPr>
          <p:cNvSpPr txBox="1"/>
          <p:nvPr/>
        </p:nvSpPr>
        <p:spPr>
          <a:xfrm>
            <a:off x="1039784" y="3355136"/>
            <a:ext cx="3035209" cy="923330"/>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N</a:t>
            </a:r>
            <a:r>
              <a:rPr lang="vi-VN">
                <a:latin typeface="Calibri" panose="020F0502020204030204" pitchFamily="34" charset="0"/>
                <a:cs typeface="Calibri" panose="020F0502020204030204" pitchFamily="34" charset="0"/>
              </a:rPr>
              <a:t>onderterministic Turing machine</a:t>
            </a:r>
            <a:r>
              <a:rPr lang="en-US">
                <a:latin typeface="Calibri" panose="020F0502020204030204" pitchFamily="34" charset="0"/>
                <a:cs typeface="Calibri" panose="020F0502020204030204" pitchFamily="34" charset="0"/>
              </a:rPr>
              <a:t> in</a:t>
            </a:r>
            <a:r>
              <a:rPr lang="vi-VN">
                <a:latin typeface="Calibri" panose="020F0502020204030204" pitchFamily="34" charset="0"/>
                <a:cs typeface="Calibri" panose="020F0502020204030204" pitchFamily="34" charset="0"/>
              </a:rPr>
              <a:t> </a:t>
            </a:r>
            <a:r>
              <a:rPr lang="vi-VN" b="1">
                <a:latin typeface="Calibri" panose="020F0502020204030204" pitchFamily="34" charset="0"/>
                <a:cs typeface="Calibri" panose="020F0502020204030204" pitchFamily="34" charset="0"/>
              </a:rPr>
              <a:t>P</a:t>
            </a:r>
            <a:r>
              <a:rPr lang="vi-VN">
                <a:latin typeface="Calibri" panose="020F0502020204030204" pitchFamily="34" charset="0"/>
                <a:cs typeface="Calibri" panose="020F0502020204030204" pitchFamily="34" charset="0"/>
              </a:rPr>
              <a:t>olynomial number of step</a:t>
            </a:r>
            <a:endParaRPr lang="en-US">
              <a:latin typeface="Calibri" panose="020F0502020204030204" pitchFamily="34" charset="0"/>
              <a:cs typeface="Calibri" panose="020F0502020204030204" pitchFamily="34" charset="0"/>
            </a:endParaRPr>
          </a:p>
        </p:txBody>
      </p:sp>
      <p:sp>
        <p:nvSpPr>
          <p:cNvPr id="18" name="Hộp Văn bản 17">
            <a:extLst>
              <a:ext uri="{FF2B5EF4-FFF2-40B4-BE49-F238E27FC236}">
                <a16:creationId xmlns:a16="http://schemas.microsoft.com/office/drawing/2014/main" id="{0F25A91E-BDB0-493A-8229-2ABE891879EF}"/>
              </a:ext>
            </a:extLst>
          </p:cNvPr>
          <p:cNvSpPr txBox="1"/>
          <p:nvPr/>
        </p:nvSpPr>
        <p:spPr>
          <a:xfrm>
            <a:off x="8104216" y="3513547"/>
            <a:ext cx="6096000" cy="369332"/>
          </a:xfrm>
          <a:prstGeom prst="rect">
            <a:avLst/>
          </a:prstGeom>
          <a:noFill/>
        </p:spPr>
        <p:txBody>
          <a:bodyPr wrap="square">
            <a:spAutoFit/>
          </a:bodyPr>
          <a:lstStyle/>
          <a:p>
            <a:r>
              <a:rPr lang="en-US"/>
              <a:t> </a:t>
            </a:r>
            <a:r>
              <a:rPr lang="en-US" b="1"/>
              <a:t>co</a:t>
            </a:r>
            <a:r>
              <a:rPr lang="en-US"/>
              <a:t>mplement of </a:t>
            </a:r>
            <a:r>
              <a:rPr lang="en-US" b="1"/>
              <a:t>NP</a:t>
            </a:r>
          </a:p>
        </p:txBody>
      </p:sp>
      <p:sp>
        <p:nvSpPr>
          <p:cNvPr id="2" name="Chỗ dành sẵn cho Số hiệu Bản chiếu 1">
            <a:extLst>
              <a:ext uri="{FF2B5EF4-FFF2-40B4-BE49-F238E27FC236}">
                <a16:creationId xmlns:a16="http://schemas.microsoft.com/office/drawing/2014/main" id="{14DA6B99-48C1-4EEE-B84C-595268F5C245}"/>
              </a:ext>
            </a:extLst>
          </p:cNvPr>
          <p:cNvSpPr>
            <a:spLocks noGrp="1"/>
          </p:cNvSpPr>
          <p:nvPr>
            <p:ph type="sldNum" sz="quarter" idx="12"/>
          </p:nvPr>
        </p:nvSpPr>
        <p:spPr/>
        <p:txBody>
          <a:bodyPr/>
          <a:lstStyle/>
          <a:p>
            <a:fld id="{74ABBA0F-ED8F-4A6E-AA06-FEAFBF3D52EE}" type="slidenum">
              <a:rPr lang="en-US" smtClean="0"/>
              <a:t>32</a:t>
            </a:fld>
            <a:endParaRPr lang="en-US"/>
          </a:p>
        </p:txBody>
      </p:sp>
      <p:sp>
        <p:nvSpPr>
          <p:cNvPr id="17" name="Hộp Văn bản 16">
            <a:extLst>
              <a:ext uri="{FF2B5EF4-FFF2-40B4-BE49-F238E27FC236}">
                <a16:creationId xmlns:a16="http://schemas.microsoft.com/office/drawing/2014/main" id="{D7DB7CAF-2ECD-40A0-8814-9DAF602FE61A}"/>
              </a:ext>
            </a:extLst>
          </p:cNvPr>
          <p:cNvSpPr txBox="1"/>
          <p:nvPr/>
        </p:nvSpPr>
        <p:spPr>
          <a:xfrm>
            <a:off x="1039783" y="4300264"/>
            <a:ext cx="3035209" cy="1200329"/>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Cho một tập hợp các số nguyên, tồn tại hay không một tập hợp con có tổng bằng T không?</a:t>
            </a:r>
            <a:endParaRPr lang="en-US">
              <a:latin typeface="Calibri" panose="020F0502020204030204" pitchFamily="34" charset="0"/>
              <a:cs typeface="Calibri" panose="020F0502020204030204" pitchFamily="34" charset="0"/>
            </a:endParaRPr>
          </a:p>
        </p:txBody>
      </p:sp>
      <p:sp>
        <p:nvSpPr>
          <p:cNvPr id="19" name="Hộp Văn bản 18">
            <a:extLst>
              <a:ext uri="{FF2B5EF4-FFF2-40B4-BE49-F238E27FC236}">
                <a16:creationId xmlns:a16="http://schemas.microsoft.com/office/drawing/2014/main" id="{21D2ACE9-0056-43F3-A892-7A082DA3A157}"/>
              </a:ext>
            </a:extLst>
          </p:cNvPr>
          <p:cNvSpPr txBox="1"/>
          <p:nvPr/>
        </p:nvSpPr>
        <p:spPr>
          <a:xfrm>
            <a:off x="4861371" y="5500359"/>
            <a:ext cx="3035209" cy="646331"/>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Tồn tại lời giải trong thời gian đa thức</a:t>
            </a:r>
            <a:endParaRPr lang="en-US">
              <a:latin typeface="Calibri" panose="020F0502020204030204" pitchFamily="34" charset="0"/>
              <a:cs typeface="Calibri" panose="020F0502020204030204" pitchFamily="34" charset="0"/>
            </a:endParaRPr>
          </a:p>
        </p:txBody>
      </p:sp>
      <p:sp>
        <p:nvSpPr>
          <p:cNvPr id="20" name="Hộp Văn bản 19">
            <a:extLst>
              <a:ext uri="{FF2B5EF4-FFF2-40B4-BE49-F238E27FC236}">
                <a16:creationId xmlns:a16="http://schemas.microsoft.com/office/drawing/2014/main" id="{6266F116-CFAF-4EAB-A338-8785887B097D}"/>
              </a:ext>
            </a:extLst>
          </p:cNvPr>
          <p:cNvSpPr txBox="1"/>
          <p:nvPr/>
        </p:nvSpPr>
        <p:spPr>
          <a:xfrm>
            <a:off x="1039782" y="2656860"/>
            <a:ext cx="3035209" cy="646331"/>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Kiểm tra lời giải trong thời gian đa thức</a:t>
            </a:r>
            <a:endParaRPr lang="en-US">
              <a:latin typeface="Calibri" panose="020F0502020204030204" pitchFamily="34" charset="0"/>
              <a:cs typeface="Calibri" panose="020F0502020204030204" pitchFamily="34" charset="0"/>
            </a:endParaRPr>
          </a:p>
        </p:txBody>
      </p:sp>
      <p:sp>
        <p:nvSpPr>
          <p:cNvPr id="21" name="Hộp Văn bản 20">
            <a:extLst>
              <a:ext uri="{FF2B5EF4-FFF2-40B4-BE49-F238E27FC236}">
                <a16:creationId xmlns:a16="http://schemas.microsoft.com/office/drawing/2014/main" id="{044E8B89-CCF2-4EBF-9C07-3462AEFBDEB2}"/>
              </a:ext>
            </a:extLst>
          </p:cNvPr>
          <p:cNvSpPr txBox="1"/>
          <p:nvPr/>
        </p:nvSpPr>
        <p:spPr>
          <a:xfrm>
            <a:off x="8212067" y="3978985"/>
            <a:ext cx="3035209" cy="1200329"/>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Cho một tập hợp các số nguyên, có phải tất cả tập hợp con đều có tổng khác T không?</a:t>
            </a:r>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0399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ộp Văn bản 35">
            <a:extLst>
              <a:ext uri="{FF2B5EF4-FFF2-40B4-BE49-F238E27FC236}">
                <a16:creationId xmlns:a16="http://schemas.microsoft.com/office/drawing/2014/main" id="{6BB01E60-7200-4A0D-8F37-6D0E676E6F46}"/>
              </a:ext>
            </a:extLst>
          </p:cNvPr>
          <p:cNvSpPr txBox="1"/>
          <p:nvPr/>
        </p:nvSpPr>
        <p:spPr>
          <a:xfrm>
            <a:off x="4777806" y="1795332"/>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BPP</a:t>
            </a:r>
          </a:p>
        </p:txBody>
      </p:sp>
      <p:sp>
        <p:nvSpPr>
          <p:cNvPr id="7" name="Hộp Văn bản 36">
            <a:extLst>
              <a:ext uri="{FF2B5EF4-FFF2-40B4-BE49-F238E27FC236}">
                <a16:creationId xmlns:a16="http://schemas.microsoft.com/office/drawing/2014/main" id="{64D1F4EF-4076-49B7-BE66-4A42AB0C2C73}"/>
              </a:ext>
            </a:extLst>
          </p:cNvPr>
          <p:cNvSpPr txBox="1"/>
          <p:nvPr/>
        </p:nvSpPr>
        <p:spPr>
          <a:xfrm>
            <a:off x="2801882" y="28762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RP</a:t>
            </a:r>
          </a:p>
        </p:txBody>
      </p:sp>
      <p:sp>
        <p:nvSpPr>
          <p:cNvPr id="8" name="Hộp Văn bản 37">
            <a:extLst>
              <a:ext uri="{FF2B5EF4-FFF2-40B4-BE49-F238E27FC236}">
                <a16:creationId xmlns:a16="http://schemas.microsoft.com/office/drawing/2014/main" id="{ACFB5F97-D996-427A-83C2-C90C003069C3}"/>
              </a:ext>
            </a:extLst>
          </p:cNvPr>
          <p:cNvSpPr txBox="1"/>
          <p:nvPr/>
        </p:nvSpPr>
        <p:spPr>
          <a:xfrm>
            <a:off x="6682221" y="28762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coRP</a:t>
            </a:r>
          </a:p>
        </p:txBody>
      </p:sp>
      <mc:AlternateContent xmlns:mc="http://schemas.openxmlformats.org/markup-compatibility/2006" xmlns:a14="http://schemas.microsoft.com/office/drawing/2010/main">
        <mc:Choice Requires="a14">
          <p:sp>
            <p:nvSpPr>
              <p:cNvPr id="9" name="Hộp Văn bản 38">
                <a:extLst>
                  <a:ext uri="{FF2B5EF4-FFF2-40B4-BE49-F238E27FC236}">
                    <a16:creationId xmlns:a16="http://schemas.microsoft.com/office/drawing/2014/main" id="{33995811-D71E-4305-A2F9-DF1BAA3351C0}"/>
                  </a:ext>
                </a:extLst>
              </p:cNvPr>
              <p:cNvSpPr txBox="1"/>
              <p:nvPr/>
            </p:nvSpPr>
            <p:spPr>
              <a:xfrm>
                <a:off x="3828823" y="3940601"/>
                <a:ext cx="2924907"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ZPP = RP </a:t>
                </a:r>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b="1">
                    <a:latin typeface="Cambria" panose="02040503050406030204" pitchFamily="18" charset="0"/>
                    <a:ea typeface="Cambria" panose="02040503050406030204" pitchFamily="18" charset="0"/>
                  </a:rPr>
                  <a:t> coRP</a:t>
                </a:r>
              </a:p>
            </p:txBody>
          </p:sp>
        </mc:Choice>
        <mc:Fallback xmlns="">
          <p:sp>
            <p:nvSpPr>
              <p:cNvPr id="9" name="Hộp Văn bản 38">
                <a:extLst>
                  <a:ext uri="{FF2B5EF4-FFF2-40B4-BE49-F238E27FC236}">
                    <a16:creationId xmlns:a16="http://schemas.microsoft.com/office/drawing/2014/main" id="{33995811-D71E-4305-A2F9-DF1BAA3351C0}"/>
                  </a:ext>
                </a:extLst>
              </p:cNvPr>
              <p:cNvSpPr txBox="1">
                <a:spLocks noRot="1" noChangeAspect="1" noMove="1" noResize="1" noEditPoints="1" noAdjustHandles="1" noChangeArrowheads="1" noChangeShapeType="1" noTextEdit="1"/>
              </p:cNvSpPr>
              <p:nvPr/>
            </p:nvSpPr>
            <p:spPr>
              <a:xfrm>
                <a:off x="3828823" y="3940601"/>
                <a:ext cx="2924907" cy="369332"/>
              </a:xfrm>
              <a:prstGeom prst="rect">
                <a:avLst/>
              </a:prstGeom>
              <a:blipFill>
                <a:blip r:embed="rId2"/>
                <a:stretch>
                  <a:fillRect t="-6667" b="-26667"/>
                </a:stretch>
              </a:blipFill>
            </p:spPr>
            <p:txBody>
              <a:bodyPr/>
              <a:lstStyle/>
              <a:p>
                <a:r>
                  <a:rPr lang="en-VN">
                    <a:noFill/>
                  </a:rPr>
                  <a:t> </a:t>
                </a:r>
              </a:p>
            </p:txBody>
          </p:sp>
        </mc:Fallback>
      </mc:AlternateContent>
      <p:cxnSp>
        <p:nvCxnSpPr>
          <p:cNvPr id="10" name="Đường nối Thẳng 39">
            <a:extLst>
              <a:ext uri="{FF2B5EF4-FFF2-40B4-BE49-F238E27FC236}">
                <a16:creationId xmlns:a16="http://schemas.microsoft.com/office/drawing/2014/main" id="{64E97606-DF47-48B8-80EA-CED041388C04}"/>
              </a:ext>
            </a:extLst>
          </p:cNvPr>
          <p:cNvCxnSpPr>
            <a:cxnSpLocks/>
            <a:stCxn id="6" idx="2"/>
            <a:endCxn id="7" idx="0"/>
          </p:cNvCxnSpPr>
          <p:nvPr/>
        </p:nvCxnSpPr>
        <p:spPr>
          <a:xfrm flipH="1">
            <a:off x="3315353" y="2164664"/>
            <a:ext cx="1975924"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Đường nối Thẳng 40">
            <a:extLst>
              <a:ext uri="{FF2B5EF4-FFF2-40B4-BE49-F238E27FC236}">
                <a16:creationId xmlns:a16="http://schemas.microsoft.com/office/drawing/2014/main" id="{BAE2A05C-BED8-488A-B679-4BDA387ACE3C}"/>
              </a:ext>
            </a:extLst>
          </p:cNvPr>
          <p:cNvCxnSpPr>
            <a:cxnSpLocks/>
            <a:stCxn id="8" idx="0"/>
            <a:endCxn id="6" idx="2"/>
          </p:cNvCxnSpPr>
          <p:nvPr/>
        </p:nvCxnSpPr>
        <p:spPr>
          <a:xfrm flipH="1" flipV="1">
            <a:off x="5291277" y="2164664"/>
            <a:ext cx="1904415"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Đường nối Thẳng 41">
            <a:extLst>
              <a:ext uri="{FF2B5EF4-FFF2-40B4-BE49-F238E27FC236}">
                <a16:creationId xmlns:a16="http://schemas.microsoft.com/office/drawing/2014/main" id="{9A70A531-26C8-4572-B5EE-F9B8B4435155}"/>
              </a:ext>
            </a:extLst>
          </p:cNvPr>
          <p:cNvCxnSpPr>
            <a:cxnSpLocks/>
            <a:stCxn id="9" idx="0"/>
            <a:endCxn id="7" idx="2"/>
          </p:cNvCxnSpPr>
          <p:nvPr/>
        </p:nvCxnSpPr>
        <p:spPr>
          <a:xfrm flipH="1" flipV="1">
            <a:off x="3315353" y="3245532"/>
            <a:ext cx="1975924" cy="695069"/>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Đường nối Thẳng 42">
            <a:extLst>
              <a:ext uri="{FF2B5EF4-FFF2-40B4-BE49-F238E27FC236}">
                <a16:creationId xmlns:a16="http://schemas.microsoft.com/office/drawing/2014/main" id="{C57E1D4E-8C15-4CF2-A6DC-B6C91ABB266A}"/>
              </a:ext>
            </a:extLst>
          </p:cNvPr>
          <p:cNvCxnSpPr>
            <a:cxnSpLocks/>
            <a:stCxn id="9" idx="0"/>
            <a:endCxn id="8" idx="2"/>
          </p:cNvCxnSpPr>
          <p:nvPr/>
        </p:nvCxnSpPr>
        <p:spPr>
          <a:xfrm flipV="1">
            <a:off x="5291277" y="3245532"/>
            <a:ext cx="1904415" cy="695069"/>
          </a:xfrm>
          <a:prstGeom prst="line">
            <a:avLst/>
          </a:prstGeom>
          <a:ln w="28575"/>
        </p:spPr>
        <p:style>
          <a:lnRef idx="1">
            <a:schemeClr val="dk1"/>
          </a:lnRef>
          <a:fillRef idx="0">
            <a:schemeClr val="dk1"/>
          </a:fillRef>
          <a:effectRef idx="0">
            <a:schemeClr val="dk1"/>
          </a:effectRef>
          <a:fontRef idx="minor">
            <a:schemeClr val="tx1"/>
          </a:fontRef>
        </p:style>
      </p:cxnSp>
      <p:sp>
        <p:nvSpPr>
          <p:cNvPr id="69" name="Hộp Văn bản 68">
            <a:extLst>
              <a:ext uri="{FF2B5EF4-FFF2-40B4-BE49-F238E27FC236}">
                <a16:creationId xmlns:a16="http://schemas.microsoft.com/office/drawing/2014/main" id="{57F8D259-0F2F-4C83-97CA-DFD0E6FD5B8F}"/>
              </a:ext>
            </a:extLst>
          </p:cNvPr>
          <p:cNvSpPr txBox="1"/>
          <p:nvPr/>
        </p:nvSpPr>
        <p:spPr>
          <a:xfrm>
            <a:off x="3574557" y="1033095"/>
            <a:ext cx="3814053" cy="923330"/>
          </a:xfrm>
          <a:prstGeom prst="rect">
            <a:avLst/>
          </a:prstGeom>
          <a:noFill/>
        </p:spPr>
        <p:txBody>
          <a:bodyPr wrap="square">
            <a:spAutoFit/>
          </a:bodyPr>
          <a:lstStyle/>
          <a:p>
            <a:r>
              <a:rPr lang="en-US" b="1"/>
              <a:t>P</a:t>
            </a:r>
            <a:r>
              <a:rPr lang="en-US"/>
              <a:t>robabilistic Turing Machine in </a:t>
            </a:r>
            <a:r>
              <a:rPr lang="en-US" b="1"/>
              <a:t>P</a:t>
            </a:r>
            <a:r>
              <a:rPr lang="en-US"/>
              <a:t>olynomial time với khả năng xảy ra lỗi</a:t>
            </a:r>
          </a:p>
        </p:txBody>
      </p:sp>
      <p:sp>
        <p:nvSpPr>
          <p:cNvPr id="71" name="Hộp Văn bản 70">
            <a:extLst>
              <a:ext uri="{FF2B5EF4-FFF2-40B4-BE49-F238E27FC236}">
                <a16:creationId xmlns:a16="http://schemas.microsoft.com/office/drawing/2014/main" id="{521D1BA4-5C11-481F-9F2E-3B8ABDEA9337}"/>
              </a:ext>
            </a:extLst>
          </p:cNvPr>
          <p:cNvSpPr txBox="1"/>
          <p:nvPr/>
        </p:nvSpPr>
        <p:spPr>
          <a:xfrm>
            <a:off x="728078" y="2452957"/>
            <a:ext cx="2222380" cy="1477328"/>
          </a:xfrm>
          <a:prstGeom prst="rect">
            <a:avLst/>
          </a:prstGeom>
          <a:noFill/>
        </p:spPr>
        <p:txBody>
          <a:bodyPr wrap="square">
            <a:spAutoFit/>
          </a:bodyPr>
          <a:lstStyle/>
          <a:p>
            <a:pPr algn="r"/>
            <a:r>
              <a:rPr lang="en-US"/>
              <a:t>Probabilistic / </a:t>
            </a:r>
            <a:r>
              <a:rPr lang="en-US" b="1"/>
              <a:t>R</a:t>
            </a:r>
            <a:r>
              <a:rPr lang="en-US"/>
              <a:t>andom Turing Machine in </a:t>
            </a:r>
            <a:r>
              <a:rPr lang="en-US" b="1"/>
              <a:t>P</a:t>
            </a:r>
            <a:r>
              <a:rPr lang="en-US"/>
              <a:t>olynomial time with </a:t>
            </a:r>
            <a:r>
              <a:rPr lang="en-US" b="1"/>
              <a:t>false negative </a:t>
            </a:r>
            <a:r>
              <a:rPr lang="en-US"/>
              <a:t>only</a:t>
            </a:r>
          </a:p>
        </p:txBody>
      </p:sp>
      <p:sp>
        <p:nvSpPr>
          <p:cNvPr id="73" name="Hộp Văn bản 72">
            <a:extLst>
              <a:ext uri="{FF2B5EF4-FFF2-40B4-BE49-F238E27FC236}">
                <a16:creationId xmlns:a16="http://schemas.microsoft.com/office/drawing/2014/main" id="{55B088EB-589C-4691-99C5-3CEAEA0370F3}"/>
              </a:ext>
            </a:extLst>
          </p:cNvPr>
          <p:cNvSpPr txBox="1"/>
          <p:nvPr/>
        </p:nvSpPr>
        <p:spPr>
          <a:xfrm>
            <a:off x="7709162" y="2322202"/>
            <a:ext cx="2222380" cy="1477328"/>
          </a:xfrm>
          <a:prstGeom prst="rect">
            <a:avLst/>
          </a:prstGeom>
          <a:noFill/>
        </p:spPr>
        <p:txBody>
          <a:bodyPr wrap="square">
            <a:spAutoFit/>
          </a:bodyPr>
          <a:lstStyle/>
          <a:p>
            <a:r>
              <a:rPr lang="en-US"/>
              <a:t>Probabilistic / </a:t>
            </a:r>
            <a:r>
              <a:rPr lang="en-US" b="1"/>
              <a:t>R</a:t>
            </a:r>
            <a:r>
              <a:rPr lang="en-US"/>
              <a:t>andom Turing Machine in </a:t>
            </a:r>
            <a:r>
              <a:rPr lang="en-US" b="1"/>
              <a:t>P</a:t>
            </a:r>
            <a:r>
              <a:rPr lang="en-US"/>
              <a:t>olynomial time with </a:t>
            </a:r>
            <a:r>
              <a:rPr lang="en-US" b="1"/>
              <a:t>false positive </a:t>
            </a:r>
            <a:r>
              <a:rPr lang="en-US"/>
              <a:t>only</a:t>
            </a:r>
          </a:p>
        </p:txBody>
      </p:sp>
      <p:sp>
        <p:nvSpPr>
          <p:cNvPr id="75" name="Hộp Văn bản 74">
            <a:extLst>
              <a:ext uri="{FF2B5EF4-FFF2-40B4-BE49-F238E27FC236}">
                <a16:creationId xmlns:a16="http://schemas.microsoft.com/office/drawing/2014/main" id="{9A135786-D991-4979-B009-960D493A947B}"/>
              </a:ext>
            </a:extLst>
          </p:cNvPr>
          <p:cNvSpPr txBox="1"/>
          <p:nvPr/>
        </p:nvSpPr>
        <p:spPr>
          <a:xfrm>
            <a:off x="3574557" y="4387084"/>
            <a:ext cx="3341380" cy="923330"/>
          </a:xfrm>
          <a:prstGeom prst="rect">
            <a:avLst/>
          </a:prstGeom>
          <a:noFill/>
        </p:spPr>
        <p:txBody>
          <a:bodyPr wrap="square">
            <a:spAutoFit/>
          </a:bodyPr>
          <a:lstStyle/>
          <a:p>
            <a:r>
              <a:rPr lang="en-US" b="1"/>
              <a:t>P</a:t>
            </a:r>
            <a:r>
              <a:rPr lang="en-US"/>
              <a:t>robabilistic / Random Turing Machine in </a:t>
            </a:r>
            <a:r>
              <a:rPr lang="en-US" b="1"/>
              <a:t>P</a:t>
            </a:r>
            <a:r>
              <a:rPr lang="en-US"/>
              <a:t>olynomial time with </a:t>
            </a:r>
            <a:r>
              <a:rPr lang="en-US" b="1"/>
              <a:t>Z</a:t>
            </a:r>
            <a:r>
              <a:rPr lang="en-US"/>
              <a:t>ero error, allow ? result</a:t>
            </a:r>
          </a:p>
        </p:txBody>
      </p:sp>
      <p:sp>
        <p:nvSpPr>
          <p:cNvPr id="3" name="Chỗ dành sẵn cho Số hiệu Bản chiếu 2">
            <a:extLst>
              <a:ext uri="{FF2B5EF4-FFF2-40B4-BE49-F238E27FC236}">
                <a16:creationId xmlns:a16="http://schemas.microsoft.com/office/drawing/2014/main" id="{B4857F7C-0AB3-446F-B314-0D3B48FD36B8}"/>
              </a:ext>
            </a:extLst>
          </p:cNvPr>
          <p:cNvSpPr>
            <a:spLocks noGrp="1"/>
          </p:cNvSpPr>
          <p:nvPr>
            <p:ph type="sldNum" sz="quarter" idx="12"/>
          </p:nvPr>
        </p:nvSpPr>
        <p:spPr/>
        <p:txBody>
          <a:bodyPr/>
          <a:lstStyle/>
          <a:p>
            <a:fld id="{74ABBA0F-ED8F-4A6E-AA06-FEAFBF3D52EE}" type="slidenum">
              <a:rPr lang="en-US" smtClean="0"/>
              <a:t>33</a:t>
            </a:fld>
            <a:endParaRPr lang="en-US"/>
          </a:p>
        </p:txBody>
      </p:sp>
    </p:spTree>
    <p:extLst>
      <p:ext uri="{BB962C8B-B14F-4D97-AF65-F5344CB8AC3E}">
        <p14:creationId xmlns:p14="http://schemas.microsoft.com/office/powerpoint/2010/main" val="2465596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17092590-C6FC-4AC2-B353-34CC98DDF34F}"/>
              </a:ext>
            </a:extLst>
          </p:cNvPr>
          <p:cNvSpPr>
            <a:spLocks noGrp="1"/>
          </p:cNvSpPr>
          <p:nvPr>
            <p:ph type="sldNum" sz="quarter" idx="12"/>
          </p:nvPr>
        </p:nvSpPr>
        <p:spPr/>
        <p:txBody>
          <a:bodyPr/>
          <a:lstStyle/>
          <a:p>
            <a:fld id="{95CF7CBD-B9A5-4D53-9D65-FFCCF7EF1299}" type="slidenum">
              <a:rPr lang="vi-VN" smtClean="0"/>
              <a:t>34</a:t>
            </a:fld>
            <a:endParaRPr lang="vi-VN"/>
          </a:p>
        </p:txBody>
      </p:sp>
      <p:pic>
        <p:nvPicPr>
          <p:cNvPr id="6" name="Hình ảnh 5">
            <a:extLst>
              <a:ext uri="{FF2B5EF4-FFF2-40B4-BE49-F238E27FC236}">
                <a16:creationId xmlns:a16="http://schemas.microsoft.com/office/drawing/2014/main" id="{E7929C97-214B-41CC-96F5-1F51D01C2D74}"/>
              </a:ext>
            </a:extLst>
          </p:cNvPr>
          <p:cNvPicPr>
            <a:picLocks noChangeAspect="1"/>
          </p:cNvPicPr>
          <p:nvPr/>
        </p:nvPicPr>
        <p:blipFill rotWithShape="1">
          <a:blip r:embed="rId2"/>
          <a:srcRect l="17895" t="33149" r="12876" b="18888"/>
          <a:stretch/>
        </p:blipFill>
        <p:spPr>
          <a:xfrm>
            <a:off x="5963479" y="136525"/>
            <a:ext cx="6008756" cy="2350858"/>
          </a:xfrm>
          <a:prstGeom prst="rect">
            <a:avLst/>
          </a:prstGeom>
        </p:spPr>
      </p:pic>
      <p:pic>
        <p:nvPicPr>
          <p:cNvPr id="8" name="Hình ảnh 7">
            <a:extLst>
              <a:ext uri="{FF2B5EF4-FFF2-40B4-BE49-F238E27FC236}">
                <a16:creationId xmlns:a16="http://schemas.microsoft.com/office/drawing/2014/main" id="{4D37776E-F5F9-41FF-82B9-7B749D3ECA40}"/>
              </a:ext>
            </a:extLst>
          </p:cNvPr>
          <p:cNvPicPr>
            <a:picLocks noChangeAspect="1"/>
          </p:cNvPicPr>
          <p:nvPr/>
        </p:nvPicPr>
        <p:blipFill rotWithShape="1">
          <a:blip r:embed="rId3"/>
          <a:srcRect l="13412" t="21449" r="10388" b="30048"/>
          <a:stretch/>
        </p:blipFill>
        <p:spPr>
          <a:xfrm>
            <a:off x="5963479" y="2487383"/>
            <a:ext cx="6008756" cy="2159824"/>
          </a:xfrm>
          <a:prstGeom prst="rect">
            <a:avLst/>
          </a:prstGeom>
        </p:spPr>
      </p:pic>
      <p:pic>
        <p:nvPicPr>
          <p:cNvPr id="10" name="Hình ảnh 9">
            <a:extLst>
              <a:ext uri="{FF2B5EF4-FFF2-40B4-BE49-F238E27FC236}">
                <a16:creationId xmlns:a16="http://schemas.microsoft.com/office/drawing/2014/main" id="{04D6DB95-9B2A-4210-BB71-1CED7702EE95}"/>
              </a:ext>
            </a:extLst>
          </p:cNvPr>
          <p:cNvPicPr>
            <a:picLocks noChangeAspect="1"/>
          </p:cNvPicPr>
          <p:nvPr/>
        </p:nvPicPr>
        <p:blipFill rotWithShape="1">
          <a:blip r:embed="rId4"/>
          <a:srcRect l="13412" t="38841" r="9952" b="15752"/>
          <a:stretch/>
        </p:blipFill>
        <p:spPr>
          <a:xfrm>
            <a:off x="5963479" y="4647207"/>
            <a:ext cx="6032449" cy="2018421"/>
          </a:xfrm>
          <a:prstGeom prst="rect">
            <a:avLst/>
          </a:prstGeom>
        </p:spPr>
      </p:pic>
      <p:sp>
        <p:nvSpPr>
          <p:cNvPr id="11" name="Hộp Văn bản 10">
            <a:extLst>
              <a:ext uri="{FF2B5EF4-FFF2-40B4-BE49-F238E27FC236}">
                <a16:creationId xmlns:a16="http://schemas.microsoft.com/office/drawing/2014/main" id="{55D743A1-7A7B-46D7-BCD9-822EFAB6B585}"/>
              </a:ext>
            </a:extLst>
          </p:cNvPr>
          <p:cNvSpPr txBox="1"/>
          <p:nvPr/>
        </p:nvSpPr>
        <p:spPr>
          <a:xfrm>
            <a:off x="652221" y="3057701"/>
            <a:ext cx="4214191" cy="523220"/>
          </a:xfrm>
          <a:prstGeom prst="rect">
            <a:avLst/>
          </a:prstGeom>
          <a:noFill/>
        </p:spPr>
        <p:txBody>
          <a:bodyPr wrap="square" rtlCol="0">
            <a:spAutoFit/>
          </a:bodyPr>
          <a:lstStyle/>
          <a:p>
            <a:r>
              <a:rPr lang="vi-VN" sz="2800">
                <a:latin typeface="Calibri (Thân)"/>
              </a:rPr>
              <a:t>𝑬𝑸𝑷 ⊆ 𝒁𝑸𝑷 ⊆ 𝑩𝑸𝑷</a:t>
            </a:r>
          </a:p>
        </p:txBody>
      </p:sp>
      <p:sp>
        <p:nvSpPr>
          <p:cNvPr id="3" name="Hộp Văn bản 2">
            <a:extLst>
              <a:ext uri="{FF2B5EF4-FFF2-40B4-BE49-F238E27FC236}">
                <a16:creationId xmlns:a16="http://schemas.microsoft.com/office/drawing/2014/main" id="{5E0E2C50-2275-45DC-BAAA-78F45A84C5C0}"/>
              </a:ext>
            </a:extLst>
          </p:cNvPr>
          <p:cNvSpPr txBox="1"/>
          <p:nvPr/>
        </p:nvSpPr>
        <p:spPr>
          <a:xfrm>
            <a:off x="4450953" y="5259236"/>
            <a:ext cx="1762539" cy="923330"/>
          </a:xfrm>
          <a:prstGeom prst="rect">
            <a:avLst/>
          </a:prstGeom>
          <a:noFill/>
        </p:spPr>
        <p:txBody>
          <a:bodyPr wrap="square" rtlCol="0">
            <a:spAutoFit/>
          </a:bodyPr>
          <a:lstStyle/>
          <a:p>
            <a:r>
              <a:rPr lang="en-US"/>
              <a:t>Deutsch-Jozsa,</a:t>
            </a:r>
          </a:p>
          <a:p>
            <a:r>
              <a:rPr lang="en-US"/>
              <a:t>Require only 1 query</a:t>
            </a:r>
            <a:endParaRPr lang="vi-VN"/>
          </a:p>
        </p:txBody>
      </p:sp>
      <p:sp>
        <p:nvSpPr>
          <p:cNvPr id="5" name="Hộp Văn bản 2">
            <a:extLst>
              <a:ext uri="{FF2B5EF4-FFF2-40B4-BE49-F238E27FC236}">
                <a16:creationId xmlns:a16="http://schemas.microsoft.com/office/drawing/2014/main" id="{19A29E29-5C8D-352F-CDD9-89F78ED1C0CD}"/>
              </a:ext>
            </a:extLst>
          </p:cNvPr>
          <p:cNvSpPr txBox="1"/>
          <p:nvPr/>
        </p:nvSpPr>
        <p:spPr>
          <a:xfrm>
            <a:off x="4450952" y="904095"/>
            <a:ext cx="1762539" cy="369332"/>
          </a:xfrm>
          <a:prstGeom prst="rect">
            <a:avLst/>
          </a:prstGeom>
          <a:noFill/>
        </p:spPr>
        <p:txBody>
          <a:bodyPr wrap="square" rtlCol="0">
            <a:spAutoFit/>
          </a:bodyPr>
          <a:lstStyle/>
          <a:p>
            <a:r>
              <a:rPr lang="en-US"/>
              <a:t>Simon, Grover</a:t>
            </a:r>
            <a:endParaRPr lang="vi-VN"/>
          </a:p>
        </p:txBody>
      </p:sp>
      <p:sp>
        <p:nvSpPr>
          <p:cNvPr id="7" name="Hộp Văn bản 2">
            <a:extLst>
              <a:ext uri="{FF2B5EF4-FFF2-40B4-BE49-F238E27FC236}">
                <a16:creationId xmlns:a16="http://schemas.microsoft.com/office/drawing/2014/main" id="{5D1A2BBF-B1B7-7796-342E-BDA93F5D5B43}"/>
              </a:ext>
            </a:extLst>
          </p:cNvPr>
          <p:cNvSpPr txBox="1"/>
          <p:nvPr/>
        </p:nvSpPr>
        <p:spPr>
          <a:xfrm>
            <a:off x="4450951" y="3105630"/>
            <a:ext cx="1762539" cy="369332"/>
          </a:xfrm>
          <a:prstGeom prst="rect">
            <a:avLst/>
          </a:prstGeom>
          <a:noFill/>
        </p:spPr>
        <p:txBody>
          <a:bodyPr wrap="square" rtlCol="0">
            <a:spAutoFit/>
          </a:bodyPr>
          <a:lstStyle/>
          <a:p>
            <a:r>
              <a:rPr lang="en-US"/>
              <a:t>Same as ZPP</a:t>
            </a:r>
            <a:endParaRPr lang="vi-VN"/>
          </a:p>
        </p:txBody>
      </p:sp>
    </p:spTree>
    <p:extLst>
      <p:ext uri="{BB962C8B-B14F-4D97-AF65-F5344CB8AC3E}">
        <p14:creationId xmlns:p14="http://schemas.microsoft.com/office/powerpoint/2010/main" val="527717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Hộp Văn bản 57">
            <a:extLst>
              <a:ext uri="{FF2B5EF4-FFF2-40B4-BE49-F238E27FC236}">
                <a16:creationId xmlns:a16="http://schemas.microsoft.com/office/drawing/2014/main" id="{232CADA4-D0F0-422E-8F50-7D00CE5AB7F1}"/>
              </a:ext>
            </a:extLst>
          </p:cNvPr>
          <p:cNvSpPr txBox="1"/>
          <p:nvPr/>
        </p:nvSpPr>
        <p:spPr>
          <a:xfrm>
            <a:off x="7882621" y="576775"/>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PSPACE</a:t>
            </a:r>
          </a:p>
        </p:txBody>
      </p:sp>
      <p:sp>
        <p:nvSpPr>
          <p:cNvPr id="33" name="Hộp Văn bản 58">
            <a:extLst>
              <a:ext uri="{FF2B5EF4-FFF2-40B4-BE49-F238E27FC236}">
                <a16:creationId xmlns:a16="http://schemas.microsoft.com/office/drawing/2014/main" id="{2F534D8C-F0A5-47F6-AB4C-A177BEA34A5D}"/>
              </a:ext>
            </a:extLst>
          </p:cNvPr>
          <p:cNvSpPr txBox="1"/>
          <p:nvPr/>
        </p:nvSpPr>
        <p:spPr>
          <a:xfrm>
            <a:off x="5288331" y="1657643"/>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NP</a:t>
            </a:r>
          </a:p>
        </p:txBody>
      </p:sp>
      <p:sp>
        <p:nvSpPr>
          <p:cNvPr id="34" name="Hộp Văn bản 59">
            <a:extLst>
              <a:ext uri="{FF2B5EF4-FFF2-40B4-BE49-F238E27FC236}">
                <a16:creationId xmlns:a16="http://schemas.microsoft.com/office/drawing/2014/main" id="{59B35F93-CA0F-4281-8D97-95ECB68847E2}"/>
              </a:ext>
            </a:extLst>
          </p:cNvPr>
          <p:cNvSpPr txBox="1"/>
          <p:nvPr/>
        </p:nvSpPr>
        <p:spPr>
          <a:xfrm>
            <a:off x="10324218" y="1657643"/>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coNP</a:t>
            </a:r>
          </a:p>
        </p:txBody>
      </p:sp>
      <p:sp>
        <p:nvSpPr>
          <p:cNvPr id="35" name="Hộp Văn bản 60">
            <a:extLst>
              <a:ext uri="{FF2B5EF4-FFF2-40B4-BE49-F238E27FC236}">
                <a16:creationId xmlns:a16="http://schemas.microsoft.com/office/drawing/2014/main" id="{3D880954-0A29-42D2-82AB-9710B92A226F}"/>
              </a:ext>
            </a:extLst>
          </p:cNvPr>
          <p:cNvSpPr txBox="1"/>
          <p:nvPr/>
        </p:nvSpPr>
        <p:spPr>
          <a:xfrm>
            <a:off x="7882619" y="6258468"/>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a:t>
            </a:r>
          </a:p>
        </p:txBody>
      </p:sp>
      <p:cxnSp>
        <p:nvCxnSpPr>
          <p:cNvPr id="36" name="Đường nối Thẳng 61">
            <a:extLst>
              <a:ext uri="{FF2B5EF4-FFF2-40B4-BE49-F238E27FC236}">
                <a16:creationId xmlns:a16="http://schemas.microsoft.com/office/drawing/2014/main" id="{AD2D291B-4367-42D3-815B-61484D0EED01}"/>
              </a:ext>
            </a:extLst>
          </p:cNvPr>
          <p:cNvCxnSpPr>
            <a:stCxn id="32" idx="2"/>
            <a:endCxn id="33" idx="0"/>
          </p:cNvCxnSpPr>
          <p:nvPr/>
        </p:nvCxnSpPr>
        <p:spPr>
          <a:xfrm flipH="1">
            <a:off x="5801802" y="946107"/>
            <a:ext cx="2594290"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37" name="Đường nối Thẳng 62">
            <a:extLst>
              <a:ext uri="{FF2B5EF4-FFF2-40B4-BE49-F238E27FC236}">
                <a16:creationId xmlns:a16="http://schemas.microsoft.com/office/drawing/2014/main" id="{FFEF63AC-19D5-4683-BB61-38F42DC9DF66}"/>
              </a:ext>
            </a:extLst>
          </p:cNvPr>
          <p:cNvCxnSpPr>
            <a:cxnSpLocks/>
            <a:stCxn id="34" idx="0"/>
            <a:endCxn id="32" idx="2"/>
          </p:cNvCxnSpPr>
          <p:nvPr/>
        </p:nvCxnSpPr>
        <p:spPr>
          <a:xfrm flipH="1" flipV="1">
            <a:off x="8396092" y="946107"/>
            <a:ext cx="2441597"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38" name="Đường nối Thẳng 63">
            <a:extLst>
              <a:ext uri="{FF2B5EF4-FFF2-40B4-BE49-F238E27FC236}">
                <a16:creationId xmlns:a16="http://schemas.microsoft.com/office/drawing/2014/main" id="{F51F30A2-2B2C-4281-ADF1-BC7539311D02}"/>
              </a:ext>
            </a:extLst>
          </p:cNvPr>
          <p:cNvCxnSpPr>
            <a:cxnSpLocks/>
            <a:stCxn id="35" idx="0"/>
            <a:endCxn id="33" idx="2"/>
          </p:cNvCxnSpPr>
          <p:nvPr/>
        </p:nvCxnSpPr>
        <p:spPr>
          <a:xfrm flipH="1" flipV="1">
            <a:off x="5801802" y="2026975"/>
            <a:ext cx="2594288" cy="4231493"/>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Đường nối Thẳng 64">
            <a:extLst>
              <a:ext uri="{FF2B5EF4-FFF2-40B4-BE49-F238E27FC236}">
                <a16:creationId xmlns:a16="http://schemas.microsoft.com/office/drawing/2014/main" id="{22927535-D4ED-4FDC-9426-5A26BBD13A2B}"/>
              </a:ext>
            </a:extLst>
          </p:cNvPr>
          <p:cNvCxnSpPr>
            <a:cxnSpLocks/>
            <a:stCxn id="35" idx="0"/>
            <a:endCxn id="34" idx="2"/>
          </p:cNvCxnSpPr>
          <p:nvPr/>
        </p:nvCxnSpPr>
        <p:spPr>
          <a:xfrm flipV="1">
            <a:off x="8396090" y="2026975"/>
            <a:ext cx="2441599" cy="4231493"/>
          </a:xfrm>
          <a:prstGeom prst="line">
            <a:avLst/>
          </a:prstGeom>
          <a:ln w="28575"/>
        </p:spPr>
        <p:style>
          <a:lnRef idx="1">
            <a:schemeClr val="dk1"/>
          </a:lnRef>
          <a:fillRef idx="0">
            <a:schemeClr val="dk1"/>
          </a:fillRef>
          <a:effectRef idx="0">
            <a:schemeClr val="dk1"/>
          </a:effectRef>
          <a:fontRef idx="minor">
            <a:schemeClr val="tx1"/>
          </a:fontRef>
        </p:style>
      </p:cxnSp>
      <p:sp>
        <p:nvSpPr>
          <p:cNvPr id="40" name="Hộp Văn bản 75">
            <a:extLst>
              <a:ext uri="{FF2B5EF4-FFF2-40B4-BE49-F238E27FC236}">
                <a16:creationId xmlns:a16="http://schemas.microsoft.com/office/drawing/2014/main" id="{0EC4E1DE-35B6-4D07-AE59-EECAECE162A5}"/>
              </a:ext>
            </a:extLst>
          </p:cNvPr>
          <p:cNvSpPr txBox="1"/>
          <p:nvPr/>
        </p:nvSpPr>
        <p:spPr>
          <a:xfrm>
            <a:off x="6756524" y="2320061"/>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BPP</a:t>
            </a:r>
          </a:p>
        </p:txBody>
      </p:sp>
      <p:cxnSp>
        <p:nvCxnSpPr>
          <p:cNvPr id="41" name="Đường nối Thẳng 76">
            <a:extLst>
              <a:ext uri="{FF2B5EF4-FFF2-40B4-BE49-F238E27FC236}">
                <a16:creationId xmlns:a16="http://schemas.microsoft.com/office/drawing/2014/main" id="{55570F54-C16E-4F11-8004-84313CB07331}"/>
              </a:ext>
            </a:extLst>
          </p:cNvPr>
          <p:cNvCxnSpPr>
            <a:cxnSpLocks/>
            <a:stCxn id="52" idx="2"/>
            <a:endCxn id="40" idx="0"/>
          </p:cNvCxnSpPr>
          <p:nvPr/>
        </p:nvCxnSpPr>
        <p:spPr>
          <a:xfrm flipH="1">
            <a:off x="7269995" y="1764735"/>
            <a:ext cx="1118612" cy="555326"/>
          </a:xfrm>
          <a:prstGeom prst="line">
            <a:avLst/>
          </a:prstGeom>
          <a:ln w="28575"/>
        </p:spPr>
        <p:style>
          <a:lnRef idx="1">
            <a:schemeClr val="dk1"/>
          </a:lnRef>
          <a:fillRef idx="0">
            <a:schemeClr val="dk1"/>
          </a:fillRef>
          <a:effectRef idx="0">
            <a:schemeClr val="dk1"/>
          </a:effectRef>
          <a:fontRef idx="minor">
            <a:schemeClr val="tx1"/>
          </a:fontRef>
        </p:style>
      </p:cxnSp>
      <p:sp>
        <p:nvSpPr>
          <p:cNvPr id="42" name="Hộp Văn bản 85">
            <a:extLst>
              <a:ext uri="{FF2B5EF4-FFF2-40B4-BE49-F238E27FC236}">
                <a16:creationId xmlns:a16="http://schemas.microsoft.com/office/drawing/2014/main" id="{F882B1EA-FB5B-41BA-9564-753D00F834E0}"/>
              </a:ext>
            </a:extLst>
          </p:cNvPr>
          <p:cNvSpPr txBox="1"/>
          <p:nvPr/>
        </p:nvSpPr>
        <p:spPr>
          <a:xfrm>
            <a:off x="7013259" y="3958056"/>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RP</a:t>
            </a:r>
          </a:p>
        </p:txBody>
      </p:sp>
      <p:sp>
        <p:nvSpPr>
          <p:cNvPr id="43" name="Hộp Văn bản 87">
            <a:extLst>
              <a:ext uri="{FF2B5EF4-FFF2-40B4-BE49-F238E27FC236}">
                <a16:creationId xmlns:a16="http://schemas.microsoft.com/office/drawing/2014/main" id="{0CF5A416-DADE-49E0-B566-778237358E20}"/>
              </a:ext>
            </a:extLst>
          </p:cNvPr>
          <p:cNvSpPr txBox="1"/>
          <p:nvPr/>
        </p:nvSpPr>
        <p:spPr>
          <a:xfrm>
            <a:off x="7899620" y="4022497"/>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coRP</a:t>
            </a:r>
          </a:p>
        </p:txBody>
      </p:sp>
      <p:sp>
        <p:nvSpPr>
          <p:cNvPr id="44" name="Hộp Văn bản 89">
            <a:extLst>
              <a:ext uri="{FF2B5EF4-FFF2-40B4-BE49-F238E27FC236}">
                <a16:creationId xmlns:a16="http://schemas.microsoft.com/office/drawing/2014/main" id="{DFB0F095-AD77-485F-8008-1CA647D76310}"/>
              </a:ext>
            </a:extLst>
          </p:cNvPr>
          <p:cNvSpPr txBox="1"/>
          <p:nvPr/>
        </p:nvSpPr>
        <p:spPr>
          <a:xfrm>
            <a:off x="7899620" y="485183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ZPP</a:t>
            </a:r>
          </a:p>
        </p:txBody>
      </p:sp>
      <p:cxnSp>
        <p:nvCxnSpPr>
          <p:cNvPr id="45" name="Đường nối Thẳng 91">
            <a:extLst>
              <a:ext uri="{FF2B5EF4-FFF2-40B4-BE49-F238E27FC236}">
                <a16:creationId xmlns:a16="http://schemas.microsoft.com/office/drawing/2014/main" id="{D8E2A341-4780-441B-B64D-D82F2C049E89}"/>
              </a:ext>
            </a:extLst>
          </p:cNvPr>
          <p:cNvCxnSpPr>
            <a:cxnSpLocks/>
            <a:stCxn id="40" idx="2"/>
            <a:endCxn id="42" idx="0"/>
          </p:cNvCxnSpPr>
          <p:nvPr/>
        </p:nvCxnSpPr>
        <p:spPr>
          <a:xfrm>
            <a:off x="7269995" y="2689393"/>
            <a:ext cx="256735" cy="1268663"/>
          </a:xfrm>
          <a:prstGeom prst="line">
            <a:avLst/>
          </a:prstGeom>
          <a:ln w="28575"/>
        </p:spPr>
        <p:style>
          <a:lnRef idx="1">
            <a:schemeClr val="dk1"/>
          </a:lnRef>
          <a:fillRef idx="0">
            <a:schemeClr val="dk1"/>
          </a:fillRef>
          <a:effectRef idx="0">
            <a:schemeClr val="dk1"/>
          </a:effectRef>
          <a:fontRef idx="minor">
            <a:schemeClr val="tx1"/>
          </a:fontRef>
        </p:style>
      </p:cxnSp>
      <p:cxnSp>
        <p:nvCxnSpPr>
          <p:cNvPr id="46" name="Đường nối Thẳng 94">
            <a:extLst>
              <a:ext uri="{FF2B5EF4-FFF2-40B4-BE49-F238E27FC236}">
                <a16:creationId xmlns:a16="http://schemas.microsoft.com/office/drawing/2014/main" id="{76A604EC-3B48-491F-8AAD-6C8E00C55A61}"/>
              </a:ext>
            </a:extLst>
          </p:cNvPr>
          <p:cNvCxnSpPr>
            <a:cxnSpLocks/>
            <a:stCxn id="40" idx="2"/>
            <a:endCxn id="43" idx="0"/>
          </p:cNvCxnSpPr>
          <p:nvPr/>
        </p:nvCxnSpPr>
        <p:spPr>
          <a:xfrm>
            <a:off x="7269995" y="2689393"/>
            <a:ext cx="1143096" cy="1333104"/>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Đường nối Thẳng 97">
            <a:extLst>
              <a:ext uri="{FF2B5EF4-FFF2-40B4-BE49-F238E27FC236}">
                <a16:creationId xmlns:a16="http://schemas.microsoft.com/office/drawing/2014/main" id="{0627547A-EF77-48E9-B764-4BA1311AE2A2}"/>
              </a:ext>
            </a:extLst>
          </p:cNvPr>
          <p:cNvCxnSpPr>
            <a:cxnSpLocks/>
            <a:stCxn id="44" idx="0"/>
            <a:endCxn id="43" idx="2"/>
          </p:cNvCxnSpPr>
          <p:nvPr/>
        </p:nvCxnSpPr>
        <p:spPr>
          <a:xfrm flipV="1">
            <a:off x="8413091" y="4391829"/>
            <a:ext cx="0" cy="460001"/>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Đường nối Thẳng 100">
            <a:extLst>
              <a:ext uri="{FF2B5EF4-FFF2-40B4-BE49-F238E27FC236}">
                <a16:creationId xmlns:a16="http://schemas.microsoft.com/office/drawing/2014/main" id="{F5104D3D-A610-40DB-BC30-5EB991548EEC}"/>
              </a:ext>
            </a:extLst>
          </p:cNvPr>
          <p:cNvCxnSpPr>
            <a:cxnSpLocks/>
            <a:stCxn id="42" idx="2"/>
            <a:endCxn id="44" idx="0"/>
          </p:cNvCxnSpPr>
          <p:nvPr/>
        </p:nvCxnSpPr>
        <p:spPr>
          <a:xfrm>
            <a:off x="7526730" y="4327388"/>
            <a:ext cx="886361" cy="524442"/>
          </a:xfrm>
          <a:prstGeom prst="line">
            <a:avLst/>
          </a:prstGeom>
          <a:ln w="28575"/>
        </p:spPr>
        <p:style>
          <a:lnRef idx="1">
            <a:schemeClr val="dk1"/>
          </a:lnRef>
          <a:fillRef idx="0">
            <a:schemeClr val="dk1"/>
          </a:fillRef>
          <a:effectRef idx="0">
            <a:schemeClr val="dk1"/>
          </a:effectRef>
          <a:fontRef idx="minor">
            <a:schemeClr val="tx1"/>
          </a:fontRef>
        </p:style>
      </p:cxnSp>
      <p:cxnSp>
        <p:nvCxnSpPr>
          <p:cNvPr id="49" name="Đường nối Thẳng 103">
            <a:extLst>
              <a:ext uri="{FF2B5EF4-FFF2-40B4-BE49-F238E27FC236}">
                <a16:creationId xmlns:a16="http://schemas.microsoft.com/office/drawing/2014/main" id="{5DBA1211-0D45-4683-830C-B98D6886FDE8}"/>
              </a:ext>
            </a:extLst>
          </p:cNvPr>
          <p:cNvCxnSpPr>
            <a:cxnSpLocks/>
            <a:stCxn id="44" idx="2"/>
            <a:endCxn id="35" idx="0"/>
          </p:cNvCxnSpPr>
          <p:nvPr/>
        </p:nvCxnSpPr>
        <p:spPr>
          <a:xfrm flipH="1">
            <a:off x="8396090" y="5221162"/>
            <a:ext cx="17001" cy="1037306"/>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Đường nối Thẳng 106">
            <a:extLst>
              <a:ext uri="{FF2B5EF4-FFF2-40B4-BE49-F238E27FC236}">
                <a16:creationId xmlns:a16="http://schemas.microsoft.com/office/drawing/2014/main" id="{70F0B276-13C8-4B04-9D19-2A4381BFFAF9}"/>
              </a:ext>
            </a:extLst>
          </p:cNvPr>
          <p:cNvCxnSpPr>
            <a:cxnSpLocks/>
            <a:stCxn id="33" idx="2"/>
            <a:endCxn id="42" idx="0"/>
          </p:cNvCxnSpPr>
          <p:nvPr/>
        </p:nvCxnSpPr>
        <p:spPr>
          <a:xfrm>
            <a:off x="5801802" y="2026975"/>
            <a:ext cx="1724928" cy="1931081"/>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Đường nối Thẳng 109">
            <a:extLst>
              <a:ext uri="{FF2B5EF4-FFF2-40B4-BE49-F238E27FC236}">
                <a16:creationId xmlns:a16="http://schemas.microsoft.com/office/drawing/2014/main" id="{0A917821-E4F5-4FC3-BE7A-7A4B082EFAFC}"/>
              </a:ext>
            </a:extLst>
          </p:cNvPr>
          <p:cNvCxnSpPr>
            <a:cxnSpLocks/>
            <a:stCxn id="34" idx="2"/>
            <a:endCxn id="43" idx="0"/>
          </p:cNvCxnSpPr>
          <p:nvPr/>
        </p:nvCxnSpPr>
        <p:spPr>
          <a:xfrm flipH="1">
            <a:off x="8413091" y="2026975"/>
            <a:ext cx="2424598" cy="1995522"/>
          </a:xfrm>
          <a:prstGeom prst="line">
            <a:avLst/>
          </a:prstGeom>
          <a:ln w="28575"/>
        </p:spPr>
        <p:style>
          <a:lnRef idx="1">
            <a:schemeClr val="dk1"/>
          </a:lnRef>
          <a:fillRef idx="0">
            <a:schemeClr val="dk1"/>
          </a:fillRef>
          <a:effectRef idx="0">
            <a:schemeClr val="dk1"/>
          </a:effectRef>
          <a:fontRef idx="minor">
            <a:schemeClr val="tx1"/>
          </a:fontRef>
        </p:style>
      </p:cxnSp>
      <p:sp>
        <p:nvSpPr>
          <p:cNvPr id="52" name="Hộp Văn bản 34">
            <a:extLst>
              <a:ext uri="{FF2B5EF4-FFF2-40B4-BE49-F238E27FC236}">
                <a16:creationId xmlns:a16="http://schemas.microsoft.com/office/drawing/2014/main" id="{CB53AB43-8C26-4AAF-9CC5-003868497CD5}"/>
              </a:ext>
            </a:extLst>
          </p:cNvPr>
          <p:cNvSpPr txBox="1"/>
          <p:nvPr/>
        </p:nvSpPr>
        <p:spPr>
          <a:xfrm>
            <a:off x="7875136" y="1395403"/>
            <a:ext cx="1026941" cy="369332"/>
          </a:xfrm>
          <a:prstGeom prst="rect">
            <a:avLst/>
          </a:prstGeom>
          <a:noFill/>
        </p:spPr>
        <p:txBody>
          <a:bodyPr wrap="square" rtlCol="0">
            <a:spAutoFit/>
          </a:bodyPr>
          <a:lstStyle/>
          <a:p>
            <a:pPr algn="ctr"/>
            <a:r>
              <a:rPr lang="en-US" b="1">
                <a:solidFill>
                  <a:srgbClr val="FF0000"/>
                </a:solidFill>
                <a:latin typeface="Cambria" panose="02040503050406030204" pitchFamily="18" charset="0"/>
                <a:ea typeface="Cambria" panose="02040503050406030204" pitchFamily="18" charset="0"/>
              </a:rPr>
              <a:t>BQP</a:t>
            </a:r>
          </a:p>
        </p:txBody>
      </p:sp>
      <p:cxnSp>
        <p:nvCxnSpPr>
          <p:cNvPr id="53" name="Đường nối Thẳng 66">
            <a:extLst>
              <a:ext uri="{FF2B5EF4-FFF2-40B4-BE49-F238E27FC236}">
                <a16:creationId xmlns:a16="http://schemas.microsoft.com/office/drawing/2014/main" id="{C337DE81-D9CF-43BF-AA07-98CD4532527B}"/>
              </a:ext>
            </a:extLst>
          </p:cNvPr>
          <p:cNvCxnSpPr>
            <a:cxnSpLocks/>
            <a:stCxn id="52" idx="0"/>
            <a:endCxn id="32" idx="2"/>
          </p:cNvCxnSpPr>
          <p:nvPr/>
        </p:nvCxnSpPr>
        <p:spPr>
          <a:xfrm flipV="1">
            <a:off x="8388607" y="946107"/>
            <a:ext cx="7485" cy="449296"/>
          </a:xfrm>
          <a:prstGeom prst="line">
            <a:avLst/>
          </a:prstGeom>
          <a:ln w="28575"/>
        </p:spPr>
        <p:style>
          <a:lnRef idx="1">
            <a:schemeClr val="dk1"/>
          </a:lnRef>
          <a:fillRef idx="0">
            <a:schemeClr val="dk1"/>
          </a:fillRef>
          <a:effectRef idx="0">
            <a:schemeClr val="dk1"/>
          </a:effectRef>
          <a:fontRef idx="minor">
            <a:schemeClr val="tx1"/>
          </a:fontRef>
        </p:style>
      </p:cxnSp>
      <p:sp>
        <p:nvSpPr>
          <p:cNvPr id="54" name="Hộp Văn bản 47">
            <a:extLst>
              <a:ext uri="{FF2B5EF4-FFF2-40B4-BE49-F238E27FC236}">
                <a16:creationId xmlns:a16="http://schemas.microsoft.com/office/drawing/2014/main" id="{780348F1-4920-498A-83BA-A5DFDC975EF5}"/>
              </a:ext>
            </a:extLst>
          </p:cNvPr>
          <p:cNvSpPr txBox="1"/>
          <p:nvPr/>
        </p:nvSpPr>
        <p:spPr>
          <a:xfrm>
            <a:off x="8773436" y="2312386"/>
            <a:ext cx="1026941" cy="369332"/>
          </a:xfrm>
          <a:prstGeom prst="rect">
            <a:avLst/>
          </a:prstGeom>
          <a:noFill/>
        </p:spPr>
        <p:txBody>
          <a:bodyPr wrap="square" rtlCol="0">
            <a:spAutoFit/>
          </a:bodyPr>
          <a:lstStyle/>
          <a:p>
            <a:pPr algn="ctr"/>
            <a:r>
              <a:rPr lang="en-US" b="1">
                <a:solidFill>
                  <a:srgbClr val="FF0000"/>
                </a:solidFill>
                <a:latin typeface="Cambria" panose="02040503050406030204" pitchFamily="18" charset="0"/>
                <a:ea typeface="Cambria" panose="02040503050406030204" pitchFamily="18" charset="0"/>
              </a:rPr>
              <a:t>ZQP</a:t>
            </a:r>
          </a:p>
        </p:txBody>
      </p:sp>
      <p:sp>
        <p:nvSpPr>
          <p:cNvPr id="55" name="Hộp Văn bản 48">
            <a:extLst>
              <a:ext uri="{FF2B5EF4-FFF2-40B4-BE49-F238E27FC236}">
                <a16:creationId xmlns:a16="http://schemas.microsoft.com/office/drawing/2014/main" id="{C376342D-A64D-4C29-B9C7-8B4F5B86D39F}"/>
              </a:ext>
            </a:extLst>
          </p:cNvPr>
          <p:cNvSpPr txBox="1"/>
          <p:nvPr/>
        </p:nvSpPr>
        <p:spPr>
          <a:xfrm>
            <a:off x="8773704" y="3611621"/>
            <a:ext cx="1026941" cy="369332"/>
          </a:xfrm>
          <a:prstGeom prst="rect">
            <a:avLst/>
          </a:prstGeom>
          <a:noFill/>
        </p:spPr>
        <p:txBody>
          <a:bodyPr wrap="square" rtlCol="0">
            <a:spAutoFit/>
          </a:bodyPr>
          <a:lstStyle/>
          <a:p>
            <a:pPr algn="ctr"/>
            <a:r>
              <a:rPr lang="en-US" b="1">
                <a:solidFill>
                  <a:srgbClr val="FF0000"/>
                </a:solidFill>
                <a:latin typeface="Cambria" panose="02040503050406030204" pitchFamily="18" charset="0"/>
                <a:ea typeface="Cambria" panose="02040503050406030204" pitchFamily="18" charset="0"/>
              </a:rPr>
              <a:t>EQP</a:t>
            </a:r>
          </a:p>
        </p:txBody>
      </p:sp>
      <p:cxnSp>
        <p:nvCxnSpPr>
          <p:cNvPr id="56" name="Đường nối Thẳng 73">
            <a:extLst>
              <a:ext uri="{FF2B5EF4-FFF2-40B4-BE49-F238E27FC236}">
                <a16:creationId xmlns:a16="http://schemas.microsoft.com/office/drawing/2014/main" id="{83733A3A-ABCE-4B45-B819-0C7FF88841C3}"/>
              </a:ext>
            </a:extLst>
          </p:cNvPr>
          <p:cNvCxnSpPr>
            <a:cxnSpLocks/>
            <a:stCxn id="52" idx="2"/>
            <a:endCxn id="54" idx="0"/>
          </p:cNvCxnSpPr>
          <p:nvPr/>
        </p:nvCxnSpPr>
        <p:spPr>
          <a:xfrm>
            <a:off x="8388607" y="1764735"/>
            <a:ext cx="898300" cy="547651"/>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Đường nối Thẳng 77">
            <a:extLst>
              <a:ext uri="{FF2B5EF4-FFF2-40B4-BE49-F238E27FC236}">
                <a16:creationId xmlns:a16="http://schemas.microsoft.com/office/drawing/2014/main" id="{017D9973-55BD-4EA6-826A-AF1F28E8035A}"/>
              </a:ext>
            </a:extLst>
          </p:cNvPr>
          <p:cNvCxnSpPr>
            <a:cxnSpLocks/>
            <a:stCxn id="54" idx="2"/>
            <a:endCxn id="55" idx="0"/>
          </p:cNvCxnSpPr>
          <p:nvPr/>
        </p:nvCxnSpPr>
        <p:spPr>
          <a:xfrm>
            <a:off x="9286907" y="2681718"/>
            <a:ext cx="268" cy="929903"/>
          </a:xfrm>
          <a:prstGeom prst="line">
            <a:avLst/>
          </a:prstGeom>
          <a:ln w="28575"/>
        </p:spPr>
        <p:style>
          <a:lnRef idx="1">
            <a:schemeClr val="dk1"/>
          </a:lnRef>
          <a:fillRef idx="0">
            <a:schemeClr val="dk1"/>
          </a:fillRef>
          <a:effectRef idx="0">
            <a:schemeClr val="dk1"/>
          </a:effectRef>
          <a:fontRef idx="minor">
            <a:schemeClr val="tx1"/>
          </a:fontRef>
        </p:style>
      </p:cxnSp>
      <p:cxnSp>
        <p:nvCxnSpPr>
          <p:cNvPr id="58" name="Đường nối Thẳng 80">
            <a:extLst>
              <a:ext uri="{FF2B5EF4-FFF2-40B4-BE49-F238E27FC236}">
                <a16:creationId xmlns:a16="http://schemas.microsoft.com/office/drawing/2014/main" id="{3B09B0E1-88A6-417F-9D1D-86C2654D62FF}"/>
              </a:ext>
            </a:extLst>
          </p:cNvPr>
          <p:cNvCxnSpPr>
            <a:cxnSpLocks/>
            <a:stCxn id="55" idx="2"/>
            <a:endCxn id="35" idx="0"/>
          </p:cNvCxnSpPr>
          <p:nvPr/>
        </p:nvCxnSpPr>
        <p:spPr>
          <a:xfrm flipH="1">
            <a:off x="8396090" y="3980953"/>
            <a:ext cx="891085" cy="2277515"/>
          </a:xfrm>
          <a:prstGeom prst="line">
            <a:avLst/>
          </a:prstGeom>
          <a:ln w="28575"/>
        </p:spPr>
        <p:style>
          <a:lnRef idx="1">
            <a:schemeClr val="dk1"/>
          </a:lnRef>
          <a:fillRef idx="0">
            <a:schemeClr val="dk1"/>
          </a:fillRef>
          <a:effectRef idx="0">
            <a:schemeClr val="dk1"/>
          </a:effectRef>
          <a:fontRef idx="minor">
            <a:schemeClr val="tx1"/>
          </a:fontRef>
        </p:style>
      </p:cxnSp>
      <p:sp>
        <p:nvSpPr>
          <p:cNvPr id="77" name="Hộp Văn bản 76">
            <a:extLst>
              <a:ext uri="{FF2B5EF4-FFF2-40B4-BE49-F238E27FC236}">
                <a16:creationId xmlns:a16="http://schemas.microsoft.com/office/drawing/2014/main" id="{0E912871-008A-4544-AC8A-46C00357851C}"/>
              </a:ext>
            </a:extLst>
          </p:cNvPr>
          <p:cNvSpPr txBox="1"/>
          <p:nvPr/>
        </p:nvSpPr>
        <p:spPr>
          <a:xfrm>
            <a:off x="833687" y="1918584"/>
            <a:ext cx="3720548" cy="923330"/>
          </a:xfrm>
          <a:prstGeom prst="rect">
            <a:avLst/>
          </a:prstGeom>
          <a:noFill/>
        </p:spPr>
        <p:txBody>
          <a:bodyPr wrap="square">
            <a:spAutoFit/>
          </a:bodyPr>
          <a:lstStyle/>
          <a:p>
            <a:r>
              <a:rPr lang="en-US" b="1"/>
              <a:t>Q</a:t>
            </a:r>
            <a:r>
              <a:rPr lang="en-US"/>
              <a:t>uantum Turing Machine in </a:t>
            </a:r>
            <a:r>
              <a:rPr lang="en-US" b="1"/>
              <a:t>P</a:t>
            </a:r>
            <a:r>
              <a:rPr lang="en-US"/>
              <a:t>olynomial time with </a:t>
            </a:r>
            <a:r>
              <a:rPr lang="en-US" b="1"/>
              <a:t>B</a:t>
            </a:r>
            <a:r>
              <a:rPr lang="en-US"/>
              <a:t>ounded error (sai số bị chặn)</a:t>
            </a:r>
          </a:p>
        </p:txBody>
      </p:sp>
      <p:cxnSp>
        <p:nvCxnSpPr>
          <p:cNvPr id="5" name="Đường kết nối Mũi tên Thẳng 4">
            <a:extLst>
              <a:ext uri="{FF2B5EF4-FFF2-40B4-BE49-F238E27FC236}">
                <a16:creationId xmlns:a16="http://schemas.microsoft.com/office/drawing/2014/main" id="{B74130E4-08DE-459C-9A6B-BB6878E429B3}"/>
              </a:ext>
            </a:extLst>
          </p:cNvPr>
          <p:cNvCxnSpPr>
            <a:stCxn id="77" idx="3"/>
            <a:endCxn id="52" idx="1"/>
          </p:cNvCxnSpPr>
          <p:nvPr/>
        </p:nvCxnSpPr>
        <p:spPr>
          <a:xfrm flipV="1">
            <a:off x="4554235" y="1580069"/>
            <a:ext cx="3320901" cy="8001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Hộp Văn bản 5">
            <a:extLst>
              <a:ext uri="{FF2B5EF4-FFF2-40B4-BE49-F238E27FC236}">
                <a16:creationId xmlns:a16="http://schemas.microsoft.com/office/drawing/2014/main" id="{09BED436-FF0C-466B-B2C5-F95489EB6E20}"/>
              </a:ext>
            </a:extLst>
          </p:cNvPr>
          <p:cNvSpPr txBox="1"/>
          <p:nvPr/>
        </p:nvSpPr>
        <p:spPr>
          <a:xfrm>
            <a:off x="833687" y="3064492"/>
            <a:ext cx="3720548" cy="646331"/>
          </a:xfrm>
          <a:prstGeom prst="rect">
            <a:avLst/>
          </a:prstGeom>
          <a:noFill/>
        </p:spPr>
        <p:txBody>
          <a:bodyPr wrap="square">
            <a:spAutoFit/>
          </a:bodyPr>
          <a:lstStyle/>
          <a:p>
            <a:r>
              <a:rPr lang="en-US" b="1"/>
              <a:t>Q</a:t>
            </a:r>
            <a:r>
              <a:rPr lang="en-US"/>
              <a:t>uantum Turing Machine in </a:t>
            </a:r>
            <a:r>
              <a:rPr lang="en-US" b="1"/>
              <a:t>P</a:t>
            </a:r>
            <a:r>
              <a:rPr lang="en-US"/>
              <a:t>olynomial time with </a:t>
            </a:r>
            <a:r>
              <a:rPr lang="en-US" b="1"/>
              <a:t>Z</a:t>
            </a:r>
            <a:r>
              <a:rPr lang="en-US"/>
              <a:t>ero error</a:t>
            </a:r>
          </a:p>
        </p:txBody>
      </p:sp>
      <p:cxnSp>
        <p:nvCxnSpPr>
          <p:cNvPr id="79" name="Đường kết nối Mũi tên Thẳng 78">
            <a:extLst>
              <a:ext uri="{FF2B5EF4-FFF2-40B4-BE49-F238E27FC236}">
                <a16:creationId xmlns:a16="http://schemas.microsoft.com/office/drawing/2014/main" id="{126E8A83-A87F-4EC8-BF69-7D3D5716BB38}"/>
              </a:ext>
            </a:extLst>
          </p:cNvPr>
          <p:cNvCxnSpPr>
            <a:cxnSpLocks/>
            <a:stCxn id="6" idx="3"/>
            <a:endCxn id="54" idx="1"/>
          </p:cNvCxnSpPr>
          <p:nvPr/>
        </p:nvCxnSpPr>
        <p:spPr>
          <a:xfrm flipV="1">
            <a:off x="4554235" y="2497052"/>
            <a:ext cx="4219201" cy="8906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Hộp Văn bản 8">
            <a:extLst>
              <a:ext uri="{FF2B5EF4-FFF2-40B4-BE49-F238E27FC236}">
                <a16:creationId xmlns:a16="http://schemas.microsoft.com/office/drawing/2014/main" id="{C7051BF4-0975-4B1D-915A-5B9D9055FE59}"/>
              </a:ext>
            </a:extLst>
          </p:cNvPr>
          <p:cNvSpPr txBox="1"/>
          <p:nvPr/>
        </p:nvSpPr>
        <p:spPr>
          <a:xfrm>
            <a:off x="833687" y="4510298"/>
            <a:ext cx="3720548" cy="646331"/>
          </a:xfrm>
          <a:prstGeom prst="rect">
            <a:avLst/>
          </a:prstGeom>
          <a:noFill/>
        </p:spPr>
        <p:txBody>
          <a:bodyPr wrap="square">
            <a:spAutoFit/>
          </a:bodyPr>
          <a:lstStyle/>
          <a:p>
            <a:r>
              <a:rPr lang="en-US" b="1"/>
              <a:t>Q</a:t>
            </a:r>
            <a:r>
              <a:rPr lang="en-US"/>
              <a:t>uantum Turing Machine in </a:t>
            </a:r>
            <a:r>
              <a:rPr lang="en-US" b="1"/>
              <a:t>P</a:t>
            </a:r>
            <a:r>
              <a:rPr lang="en-US"/>
              <a:t>olynomial </a:t>
            </a:r>
            <a:r>
              <a:rPr lang="en-US" b="1"/>
              <a:t>E</a:t>
            </a:r>
            <a:r>
              <a:rPr lang="en-US"/>
              <a:t>xactly time with no error</a:t>
            </a:r>
          </a:p>
        </p:txBody>
      </p:sp>
      <p:cxnSp>
        <p:nvCxnSpPr>
          <p:cNvPr id="81" name="Đường kết nối Mũi tên Thẳng 80">
            <a:extLst>
              <a:ext uri="{FF2B5EF4-FFF2-40B4-BE49-F238E27FC236}">
                <a16:creationId xmlns:a16="http://schemas.microsoft.com/office/drawing/2014/main" id="{D9C5A16C-35BB-4207-A642-39513EA8F076}"/>
              </a:ext>
            </a:extLst>
          </p:cNvPr>
          <p:cNvCxnSpPr>
            <a:cxnSpLocks/>
            <a:stCxn id="9" idx="3"/>
            <a:endCxn id="55" idx="1"/>
          </p:cNvCxnSpPr>
          <p:nvPr/>
        </p:nvCxnSpPr>
        <p:spPr>
          <a:xfrm flipV="1">
            <a:off x="4554235" y="3796287"/>
            <a:ext cx="4219469" cy="10371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 name="Chỗ dành sẵn cho Số hiệu Bản chiếu 2">
            <a:extLst>
              <a:ext uri="{FF2B5EF4-FFF2-40B4-BE49-F238E27FC236}">
                <a16:creationId xmlns:a16="http://schemas.microsoft.com/office/drawing/2014/main" id="{DEF3551F-68C3-44FE-8E49-7FDF2441B221}"/>
              </a:ext>
            </a:extLst>
          </p:cNvPr>
          <p:cNvSpPr>
            <a:spLocks noGrp="1"/>
          </p:cNvSpPr>
          <p:nvPr>
            <p:ph type="sldNum" sz="quarter" idx="12"/>
          </p:nvPr>
        </p:nvSpPr>
        <p:spPr/>
        <p:txBody>
          <a:bodyPr/>
          <a:lstStyle/>
          <a:p>
            <a:fld id="{74ABBA0F-ED8F-4A6E-AA06-FEAFBF3D52EE}" type="slidenum">
              <a:rPr lang="en-US" smtClean="0"/>
              <a:t>35</a:t>
            </a:fld>
            <a:endParaRPr lang="en-US"/>
          </a:p>
        </p:txBody>
      </p:sp>
    </p:spTree>
    <p:extLst>
      <p:ext uri="{BB962C8B-B14F-4D97-AF65-F5344CB8AC3E}">
        <p14:creationId xmlns:p14="http://schemas.microsoft.com/office/powerpoint/2010/main" val="3776767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Hình ảnh 11">
            <a:extLst>
              <a:ext uri="{FF2B5EF4-FFF2-40B4-BE49-F238E27FC236}">
                <a16:creationId xmlns:a16="http://schemas.microsoft.com/office/drawing/2014/main" id="{A826116F-C8D6-4CDA-9E22-AB03BD3F74C8}"/>
              </a:ext>
            </a:extLst>
          </p:cNvPr>
          <p:cNvPicPr>
            <a:picLocks noChangeAspect="1"/>
          </p:cNvPicPr>
          <p:nvPr/>
        </p:nvPicPr>
        <p:blipFill rotWithShape="1">
          <a:blip r:embed="rId2">
            <a:extLst>
              <a:ext uri="{28A0092B-C50C-407E-A947-70E740481C1C}">
                <a14:useLocalDpi xmlns:a14="http://schemas.microsoft.com/office/drawing/2010/main" val="0"/>
              </a:ext>
            </a:extLst>
          </a:blip>
          <a:srcRect l="27998" t="17364" r="36776" b="12905"/>
          <a:stretch/>
        </p:blipFill>
        <p:spPr>
          <a:xfrm>
            <a:off x="8377766" y="1186971"/>
            <a:ext cx="300016" cy="593883"/>
          </a:xfrm>
          <a:prstGeom prst="rect">
            <a:avLst/>
          </a:prstGeom>
        </p:spPr>
      </p:pic>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846983" cy="4351338"/>
          </a:xfrm>
        </p:spPr>
        <p:txBody>
          <a:bodyPr>
            <a:normAutofit/>
          </a:bodyPr>
          <a:lstStyle/>
          <a:p>
            <a:pPr marL="0" indent="0">
              <a:buNone/>
            </a:pPr>
            <a:r>
              <a:rPr lang="en-US" sz="3600"/>
              <a:t>Giả sử ta đang bị lạc, và di chuyển ngẫu nhiên giữa các địa điểm trong thành phố</a:t>
            </a:r>
          </a:p>
          <a:p>
            <a:pPr marL="0" indent="0">
              <a:buNone/>
            </a:pPr>
            <a:endParaRPr lang="en-US" sz="3600"/>
          </a:p>
          <a:p>
            <a:pPr marL="0" indent="0">
              <a:buNone/>
            </a:pPr>
            <a:endParaRPr lang="en-US" sz="3600"/>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p:sp>
        <p:nvSpPr>
          <p:cNvPr id="8" name="Chỗ dành sẵn cho Số hiệu Bản chiếu 7">
            <a:extLst>
              <a:ext uri="{FF2B5EF4-FFF2-40B4-BE49-F238E27FC236}">
                <a16:creationId xmlns:a16="http://schemas.microsoft.com/office/drawing/2014/main" id="{9EF332C5-B0CC-4C53-97F2-248F2BFCBF9F}"/>
              </a:ext>
            </a:extLst>
          </p:cNvPr>
          <p:cNvSpPr>
            <a:spLocks noGrp="1"/>
          </p:cNvSpPr>
          <p:nvPr>
            <p:ph type="sldNum" sz="quarter" idx="12"/>
          </p:nvPr>
        </p:nvSpPr>
        <p:spPr/>
        <p:txBody>
          <a:bodyPr/>
          <a:lstStyle/>
          <a:p>
            <a:fld id="{EF27BFFA-55D5-419F-87EC-45C1B812D548}" type="slidenum">
              <a:rPr lang="vi-VN" smtClean="0"/>
              <a:t>36</a:t>
            </a:fld>
            <a:endParaRPr lang="vi-VN"/>
          </a:p>
        </p:txBody>
      </p:sp>
      <p:sp>
        <p:nvSpPr>
          <p:cNvPr id="11" name="TextBox 10">
            <a:extLst>
              <a:ext uri="{FF2B5EF4-FFF2-40B4-BE49-F238E27FC236}">
                <a16:creationId xmlns:a16="http://schemas.microsoft.com/office/drawing/2014/main" id="{01498E40-18C7-C261-D2D0-62CEC16C6497}"/>
              </a:ext>
            </a:extLst>
          </p:cNvPr>
          <p:cNvSpPr txBox="1"/>
          <p:nvPr/>
        </p:nvSpPr>
        <p:spPr>
          <a:xfrm>
            <a:off x="10750658" y="1780854"/>
            <a:ext cx="1441342" cy="646331"/>
          </a:xfrm>
          <a:prstGeom prst="rect">
            <a:avLst/>
          </a:prstGeom>
          <a:noFill/>
        </p:spPr>
        <p:txBody>
          <a:bodyPr wrap="square" rtlCol="0">
            <a:spAutoFit/>
          </a:bodyPr>
          <a:lstStyle/>
          <a:p>
            <a:r>
              <a:rPr lang="en-VN" sz="3600">
                <a:solidFill>
                  <a:srgbClr val="FF0000"/>
                </a:solidFill>
              </a:rPr>
              <a:t>Nhà</a:t>
            </a:r>
          </a:p>
        </p:txBody>
      </p:sp>
      <p:cxnSp>
        <p:nvCxnSpPr>
          <p:cNvPr id="15" name="Curved Connector 14">
            <a:extLst>
              <a:ext uri="{FF2B5EF4-FFF2-40B4-BE49-F238E27FC236}">
                <a16:creationId xmlns:a16="http://schemas.microsoft.com/office/drawing/2014/main" id="{6C46C015-5D2A-EEBD-3511-5B5E6A689438}"/>
              </a:ext>
            </a:extLst>
          </p:cNvPr>
          <p:cNvCxnSpPr>
            <a:stCxn id="11" idx="2"/>
            <a:endCxn id="6" idx="6"/>
          </p:cNvCxnSpPr>
          <p:nvPr/>
        </p:nvCxnSpPr>
        <p:spPr>
          <a:xfrm rot="5400000">
            <a:off x="10674775" y="2619193"/>
            <a:ext cx="988563" cy="604546"/>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119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42181" cy="4351338"/>
          </a:xfrm>
        </p:spPr>
        <p:txBody>
          <a:bodyPr/>
          <a:lstStyle/>
          <a:p>
            <a:pPr marL="0" indent="0">
              <a:buNone/>
            </a:pPr>
            <a:r>
              <a:rPr lang="en-US"/>
              <a:t>Ta di chuyển qua các địa điểm khác với xác suất 1/4</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57322" y="544547"/>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57322" y="544547"/>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Hộp Văn bản 14">
                <a:extLst>
                  <a:ext uri="{FF2B5EF4-FFF2-40B4-BE49-F238E27FC236}">
                    <a16:creationId xmlns:a16="http://schemas.microsoft.com/office/drawing/2014/main" id="{548B9277-4A81-438F-876A-8241EAB48EBF}"/>
                  </a:ext>
                </a:extLst>
              </p:cNvPr>
              <p:cNvSpPr txBox="1"/>
              <p:nvPr/>
            </p:nvSpPr>
            <p:spPr>
              <a:xfrm>
                <a:off x="8057322" y="5785061"/>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15" name="Hộp Văn bản 14">
                <a:extLst>
                  <a:ext uri="{FF2B5EF4-FFF2-40B4-BE49-F238E27FC236}">
                    <a16:creationId xmlns:a16="http://schemas.microsoft.com/office/drawing/2014/main" id="{548B9277-4A81-438F-876A-8241EAB48EBF}"/>
                  </a:ext>
                </a:extLst>
              </p:cNvPr>
              <p:cNvSpPr txBox="1">
                <a:spLocks noRot="1" noChangeAspect="1" noMove="1" noResize="1" noEditPoints="1" noAdjustHandles="1" noChangeArrowheads="1" noChangeShapeType="1" noTextEdit="1"/>
              </p:cNvSpPr>
              <p:nvPr/>
            </p:nvSpPr>
            <p:spPr>
              <a:xfrm>
                <a:off x="8057322" y="5785061"/>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Hộp Văn bản 16">
                <a:extLst>
                  <a:ext uri="{FF2B5EF4-FFF2-40B4-BE49-F238E27FC236}">
                    <a16:creationId xmlns:a16="http://schemas.microsoft.com/office/drawing/2014/main" id="{D0FB004E-BC38-4B2A-9532-E6D1E6856A13}"/>
                  </a:ext>
                </a:extLst>
              </p:cNvPr>
              <p:cNvSpPr txBox="1"/>
              <p:nvPr/>
            </p:nvSpPr>
            <p:spPr>
              <a:xfrm>
                <a:off x="5261113" y="303709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17" name="Hộp Văn bản 16">
                <a:extLst>
                  <a:ext uri="{FF2B5EF4-FFF2-40B4-BE49-F238E27FC236}">
                    <a16:creationId xmlns:a16="http://schemas.microsoft.com/office/drawing/2014/main" id="{D0FB004E-BC38-4B2A-9532-E6D1E6856A13}"/>
                  </a:ext>
                </a:extLst>
              </p:cNvPr>
              <p:cNvSpPr txBox="1">
                <a:spLocks noRot="1" noChangeAspect="1" noMove="1" noResize="1" noEditPoints="1" noAdjustHandles="1" noChangeArrowheads="1" noChangeShapeType="1" noTextEdit="1"/>
              </p:cNvSpPr>
              <p:nvPr/>
            </p:nvSpPr>
            <p:spPr>
              <a:xfrm>
                <a:off x="5261113" y="3037098"/>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Hộp Văn bản 17">
                <a:extLst>
                  <a:ext uri="{FF2B5EF4-FFF2-40B4-BE49-F238E27FC236}">
                    <a16:creationId xmlns:a16="http://schemas.microsoft.com/office/drawing/2014/main" id="{997F51D2-915E-45AF-9777-F9364E011F10}"/>
                  </a:ext>
                </a:extLst>
              </p:cNvPr>
              <p:cNvSpPr txBox="1"/>
              <p:nvPr/>
            </p:nvSpPr>
            <p:spPr>
              <a:xfrm>
                <a:off x="10840280" y="303709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18" name="Hộp Văn bản 17">
                <a:extLst>
                  <a:ext uri="{FF2B5EF4-FFF2-40B4-BE49-F238E27FC236}">
                    <a16:creationId xmlns:a16="http://schemas.microsoft.com/office/drawing/2014/main" id="{997F51D2-915E-45AF-9777-F9364E011F10}"/>
                  </a:ext>
                </a:extLst>
              </p:cNvPr>
              <p:cNvSpPr txBox="1">
                <a:spLocks noRot="1" noChangeAspect="1" noMove="1" noResize="1" noEditPoints="1" noAdjustHandles="1" noChangeArrowheads="1" noChangeShapeType="1" noTextEdit="1"/>
              </p:cNvSpPr>
              <p:nvPr/>
            </p:nvSpPr>
            <p:spPr>
              <a:xfrm>
                <a:off x="10840280" y="3037098"/>
                <a:ext cx="940904" cy="783804"/>
              </a:xfrm>
              <a:prstGeom prst="rect">
                <a:avLst/>
              </a:prstGeom>
              <a:blipFill>
                <a:blip r:embed="rId6"/>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a:endCxn id="18" idx="1"/>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6" name="Hộp Văn bản 35">
            <a:extLst>
              <a:ext uri="{FF2B5EF4-FFF2-40B4-BE49-F238E27FC236}">
                <a16:creationId xmlns:a16="http://schemas.microsoft.com/office/drawing/2014/main" id="{157EA582-F420-4EB0-9125-C1FD5BEFEF2B}"/>
              </a:ext>
            </a:extLst>
          </p:cNvPr>
          <p:cNvSpPr txBox="1"/>
          <p:nvPr/>
        </p:nvSpPr>
        <p:spPr>
          <a:xfrm>
            <a:off x="10234154" y="776257"/>
            <a:ext cx="1957846" cy="1815882"/>
          </a:xfrm>
          <a:prstGeom prst="rect">
            <a:avLst/>
          </a:prstGeom>
          <a:noFill/>
        </p:spPr>
        <p:txBody>
          <a:bodyPr wrap="square" rtlCol="0">
            <a:spAutoFit/>
          </a:bodyPr>
          <a:lstStyle/>
          <a:p>
            <a:r>
              <a:rPr lang="en-US" sz="2800"/>
              <a:t>Nếu đã về nhà thì sẽ không di chuyển nữa</a:t>
            </a:r>
            <a:endParaRPr lang="vi-VN" sz="2800"/>
          </a:p>
        </p:txBody>
      </p:sp>
      <p:sp>
        <p:nvSpPr>
          <p:cNvPr id="11" name="Chỗ dành sẵn cho Số hiệu Bản chiếu 10">
            <a:extLst>
              <a:ext uri="{FF2B5EF4-FFF2-40B4-BE49-F238E27FC236}">
                <a16:creationId xmlns:a16="http://schemas.microsoft.com/office/drawing/2014/main" id="{709B8F26-83B1-4733-8E78-285521A4289E}"/>
              </a:ext>
            </a:extLst>
          </p:cNvPr>
          <p:cNvSpPr>
            <a:spLocks noGrp="1"/>
          </p:cNvSpPr>
          <p:nvPr>
            <p:ph type="sldNum" sz="quarter" idx="12"/>
          </p:nvPr>
        </p:nvSpPr>
        <p:spPr/>
        <p:txBody>
          <a:bodyPr/>
          <a:lstStyle/>
          <a:p>
            <a:fld id="{EF27BFFA-55D5-419F-87EC-45C1B812D548}" type="slidenum">
              <a:rPr lang="vi-VN" smtClean="0"/>
              <a:t>37</a:t>
            </a:fld>
            <a:endParaRPr lang="vi-VN"/>
          </a:p>
        </p:txBody>
      </p:sp>
    </p:spTree>
    <p:extLst>
      <p:ext uri="{BB962C8B-B14F-4D97-AF65-F5344CB8AC3E}">
        <p14:creationId xmlns:p14="http://schemas.microsoft.com/office/powerpoint/2010/main" val="1495936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Ta tiếp tục di chuyển qua các địa điểm khác với xác suất bằng nhau.</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783804"/>
              </a:xfrm>
              <a:prstGeom prst="rect">
                <a:avLst/>
              </a:prstGeom>
              <a:blipFill>
                <a:blip r:embed="rId2"/>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783804"/>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783804"/>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783804"/>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7" y="1072391"/>
                <a:ext cx="1760049"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4</m:t>
                          </m:r>
                        </m:den>
                      </m:f>
                      <m:r>
                        <a:rPr lang="vi-VN" sz="2400" b="0" i="1" smtClean="0">
                          <a:latin typeface="Cambria Math" panose="02040503050406030204" pitchFamily="18" charset="0"/>
                        </a:rPr>
                        <m:t>/3</m:t>
                      </m:r>
                    </m:oMath>
                  </m:oMathPara>
                </a14:m>
                <a:endParaRPr lang="vi-VN" sz="2400"/>
              </a:p>
            </p:txBody>
          </p:sp>
        </mc:Choice>
        <mc:Fallback xmlns="">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7" y="1072391"/>
                <a:ext cx="1760049" cy="783804"/>
              </a:xfrm>
              <a:prstGeom prst="rect">
                <a:avLst/>
              </a:prstGeom>
              <a:blipFill>
                <a:blip r:embed="rId10"/>
                <a:stretch>
                  <a:fillRect b="-806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783804"/>
              </a:xfrm>
              <a:prstGeom prst="rect">
                <a:avLst/>
              </a:prstGeom>
              <a:blipFill>
                <a:blip r:embed="rId11"/>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F4F0A7A1-4C0C-4839-8A9B-1D16CE3880E9}"/>
              </a:ext>
            </a:extLst>
          </p:cNvPr>
          <p:cNvSpPr>
            <a:spLocks noGrp="1"/>
          </p:cNvSpPr>
          <p:nvPr>
            <p:ph type="sldNum" sz="quarter" idx="12"/>
          </p:nvPr>
        </p:nvSpPr>
        <p:spPr/>
        <p:txBody>
          <a:bodyPr/>
          <a:lstStyle/>
          <a:p>
            <a:fld id="{EF27BFFA-55D5-419F-87EC-45C1B812D548}" type="slidenum">
              <a:rPr lang="vi-VN" smtClean="0"/>
              <a:t>38</a:t>
            </a:fld>
            <a:endParaRPr lang="vi-VN"/>
          </a:p>
        </p:txBody>
      </p:sp>
    </p:spTree>
    <p:extLst>
      <p:ext uri="{BB962C8B-B14F-4D97-AF65-F5344CB8AC3E}">
        <p14:creationId xmlns:p14="http://schemas.microsoft.com/office/powerpoint/2010/main" val="3699047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Tổng các xác suất đi vào từng vị trí sẽ là:</a:t>
                </a:r>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1</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3</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4</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12</m:t>
                          </m:r>
                        </m:den>
                      </m:f>
                      <m:r>
                        <a:rPr lang="en-US" i="1">
                          <a:latin typeface="Cambria Math" panose="02040503050406030204" pitchFamily="18" charset="0"/>
                        </a:rPr>
                        <m:t>∗2 =</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oMath>
                  </m:oMathPara>
                </a14:m>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4</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12</m:t>
                          </m:r>
                        </m:den>
                      </m:f>
                      <m:r>
                        <a:rPr lang="en-US" i="1">
                          <a:latin typeface="Cambria Math" panose="02040503050406030204" pitchFamily="18" charset="0"/>
                        </a:rPr>
                        <m:t>∗3</m:t>
                      </m:r>
                      <m:r>
                        <a:rPr lang="vi-VN" b="0" i="1">
                          <a:latin typeface="Cambria Math" panose="02040503050406030204" pitchFamily="18" charset="0"/>
                        </a:rPr>
                        <m:t>=</m:t>
                      </m:r>
                      <m:r>
                        <a:rPr lang="en-US" i="1">
                          <a:latin typeface="Cambria Math" panose="02040503050406030204" pitchFamily="18" charset="0"/>
                        </a:rPr>
                        <m:t>1/2</m:t>
                      </m:r>
                    </m:oMath>
                  </m:oMathPara>
                </a14:m>
                <a:endParaRPr lang="en-US"/>
              </a:p>
              <a:p>
                <a:pPr marL="0" indent="0">
                  <a:buNone/>
                </a:pPr>
                <a:endParaRPr lang="en-US"/>
              </a:p>
              <a:p>
                <a:pPr marL="0" indent="0">
                  <a:buNone/>
                </a:pPr>
                <a:endParaRPr lang="en-US"/>
              </a:p>
            </p:txBody>
          </p:sp>
        </mc:Choice>
        <mc:Fallback xmlns="">
          <p:sp>
            <p:nvSpPr>
              <p:cNvPr id="3" name="Chỗ dành sẵn cho Nội dung 2">
                <a:extLst>
                  <a:ext uri="{FF2B5EF4-FFF2-40B4-BE49-F238E27FC236}">
                    <a16:creationId xmlns:a16="http://schemas.microsoft.com/office/drawing/2014/main" id="{79730584-F1CB-40F7-BA77-EFE205355087}"/>
                  </a:ext>
                </a:extLst>
              </p:cNvPr>
              <p:cNvSpPr>
                <a:spLocks noGrp="1" noRot="1" noChangeAspect="1" noMove="1" noResize="1" noEditPoints="1" noAdjustHandles="1" noChangeArrowheads="1" noChangeShapeType="1" noTextEdit="1"/>
              </p:cNvSpPr>
              <p:nvPr>
                <p:ph idx="1"/>
              </p:nvPr>
            </p:nvSpPr>
            <p:spPr>
              <a:xfrm>
                <a:off x="838200" y="1825625"/>
                <a:ext cx="4575311" cy="4351338"/>
              </a:xfrm>
              <a:blipFill>
                <a:blip r:embed="rId2"/>
                <a:stretch>
                  <a:fillRect l="-2770" t="-2326" r="-277"/>
                </a:stretch>
              </a:blipFill>
            </p:spPr>
            <p:txBody>
              <a:bodyPr/>
              <a:lstStyle/>
              <a:p>
                <a:r>
                  <a:rPr lang="en-VN">
                    <a:noFill/>
                  </a:rPr>
                  <a:t> </a:t>
                </a:r>
              </a:p>
            </p:txBody>
          </p:sp>
        </mc:Fallback>
      </mc:AlternateContent>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cxnSpLocks/>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87139" y="53992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6</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87139" y="539928"/>
                <a:ext cx="940904" cy="783804"/>
              </a:xfrm>
              <a:prstGeom prst="rect">
                <a:avLst/>
              </a:prstGeom>
              <a:blipFill>
                <a:blip r:embed="rId3"/>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5542722" y="297025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6</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5542722" y="2970258"/>
                <a:ext cx="940904" cy="783804"/>
              </a:xfrm>
              <a:prstGeom prst="rect">
                <a:avLst/>
              </a:prstGeom>
              <a:blipFill>
                <a:blip r:embed="rId4"/>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Hộp Văn bản 34">
                <a:extLst>
                  <a:ext uri="{FF2B5EF4-FFF2-40B4-BE49-F238E27FC236}">
                    <a16:creationId xmlns:a16="http://schemas.microsoft.com/office/drawing/2014/main" id="{2EF752FF-19B5-4D00-AF85-E37F5CB7AB22}"/>
                  </a:ext>
                </a:extLst>
              </p:cNvPr>
              <p:cNvSpPr txBox="1"/>
              <p:nvPr/>
            </p:nvSpPr>
            <p:spPr>
              <a:xfrm>
                <a:off x="8087139" y="569898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6</m:t>
                          </m:r>
                        </m:den>
                      </m:f>
                    </m:oMath>
                  </m:oMathPara>
                </a14:m>
                <a:endParaRPr lang="vi-VN" sz="2400"/>
              </a:p>
            </p:txBody>
          </p:sp>
        </mc:Choice>
        <mc:Fallback xmlns="">
          <p:sp>
            <p:nvSpPr>
              <p:cNvPr id="35" name="Hộp Văn bản 34">
                <a:extLst>
                  <a:ext uri="{FF2B5EF4-FFF2-40B4-BE49-F238E27FC236}">
                    <a16:creationId xmlns:a16="http://schemas.microsoft.com/office/drawing/2014/main" id="{2EF752FF-19B5-4D00-AF85-E37F5CB7AB22}"/>
                  </a:ext>
                </a:extLst>
              </p:cNvPr>
              <p:cNvSpPr txBox="1">
                <a:spLocks noRot="1" noChangeAspect="1" noMove="1" noResize="1" noEditPoints="1" noAdjustHandles="1" noChangeArrowheads="1" noChangeShapeType="1" noTextEdit="1"/>
              </p:cNvSpPr>
              <p:nvPr/>
            </p:nvSpPr>
            <p:spPr>
              <a:xfrm>
                <a:off x="8087139" y="5698984"/>
                <a:ext cx="940904" cy="783804"/>
              </a:xfrm>
              <a:prstGeom prst="rect">
                <a:avLst/>
              </a:prstGeom>
              <a:blipFill>
                <a:blip r:embed="rId6"/>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ED3F1501-ABE8-4322-BF12-9800D1258878}"/>
              </a:ext>
            </a:extLst>
          </p:cNvPr>
          <p:cNvSpPr>
            <a:spLocks noGrp="1"/>
          </p:cNvSpPr>
          <p:nvPr>
            <p:ph type="sldNum" sz="quarter" idx="12"/>
          </p:nvPr>
        </p:nvSpPr>
        <p:spPr/>
        <p:txBody>
          <a:bodyPr/>
          <a:lstStyle/>
          <a:p>
            <a:fld id="{EF27BFFA-55D5-419F-87EC-45C1B812D548}" type="slidenum">
              <a:rPr lang="vi-VN" smtClean="0"/>
              <a:t>39</a:t>
            </a:fld>
            <a:endParaRPr lang="vi-VN"/>
          </a:p>
        </p:txBody>
      </p:sp>
    </p:spTree>
    <p:extLst>
      <p:ext uri="{BB962C8B-B14F-4D97-AF65-F5344CB8AC3E}">
        <p14:creationId xmlns:p14="http://schemas.microsoft.com/office/powerpoint/2010/main" val="4200627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Ta tiếp tục di chuyển qua các địa điểm khác với xác suất bằng nhau.</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783804"/>
              </a:xfrm>
              <a:prstGeom prst="rect">
                <a:avLst/>
              </a:prstGeom>
              <a:blipFill>
                <a:blip r:embed="rId2"/>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783804"/>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783804"/>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783804"/>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7" y="1072391"/>
                <a:ext cx="1644151"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6</m:t>
                          </m:r>
                        </m:den>
                      </m:f>
                      <m:r>
                        <a:rPr lang="vi-VN" sz="2400" b="0" i="1" smtClean="0">
                          <a:latin typeface="Cambria Math" panose="02040503050406030204" pitchFamily="18" charset="0"/>
                        </a:rPr>
                        <m:t>/3</m:t>
                      </m:r>
                    </m:oMath>
                  </m:oMathPara>
                </a14:m>
                <a:endParaRPr lang="vi-VN" sz="2400"/>
              </a:p>
            </p:txBody>
          </p:sp>
        </mc:Choice>
        <mc:Fallback xmlns="">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7" y="1072391"/>
                <a:ext cx="1644151" cy="786177"/>
              </a:xfrm>
              <a:prstGeom prst="rect">
                <a:avLst/>
              </a:prstGeom>
              <a:blipFill>
                <a:blip r:embed="rId10"/>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783804"/>
              </a:xfrm>
              <a:prstGeom prst="rect">
                <a:avLst/>
              </a:prstGeom>
              <a:blipFill>
                <a:blip r:embed="rId11"/>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9BF078AB-C9D4-4634-A717-03C585C27652}"/>
              </a:ext>
            </a:extLst>
          </p:cNvPr>
          <p:cNvSpPr>
            <a:spLocks noGrp="1"/>
          </p:cNvSpPr>
          <p:nvPr>
            <p:ph type="sldNum" sz="quarter" idx="12"/>
          </p:nvPr>
        </p:nvSpPr>
        <p:spPr/>
        <p:txBody>
          <a:bodyPr/>
          <a:lstStyle/>
          <a:p>
            <a:fld id="{EF27BFFA-55D5-419F-87EC-45C1B812D548}" type="slidenum">
              <a:rPr lang="vi-VN" smtClean="0"/>
              <a:t>40</a:t>
            </a:fld>
            <a:endParaRPr lang="vi-VN"/>
          </a:p>
        </p:txBody>
      </p:sp>
    </p:spTree>
    <p:extLst>
      <p:ext uri="{BB962C8B-B14F-4D97-AF65-F5344CB8AC3E}">
        <p14:creationId xmlns:p14="http://schemas.microsoft.com/office/powerpoint/2010/main" val="1664742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Tổng các xác suất đi vào từng vị trí sẽ là:</a:t>
                </a:r>
              </a:p>
              <a:p>
                <a:pPr marL="0" indent="0">
                  <a:buNone/>
                </a:pPr>
                <a:endParaRPr lang="en-US"/>
              </a:p>
              <a:p>
                <a:pPr marL="0" indent="0">
                  <a:buNone/>
                </a:pP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3</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4</m:t>
                        </m:r>
                      </m:sub>
                    </m:sSub>
                    <m:r>
                      <a:rPr lang="vi-VN"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18</m:t>
                        </m:r>
                      </m:den>
                    </m:f>
                    <m:r>
                      <a:rPr lang="en-US" i="1">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9</m:t>
                        </m:r>
                      </m:den>
                    </m:f>
                  </m:oMath>
                </a14:m>
                <a:r>
                  <a:rPr lang="en-US"/>
                  <a:t> </a:t>
                </a:r>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2</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18</m:t>
                          </m:r>
                        </m:den>
                      </m:f>
                      <m:r>
                        <a:rPr lang="en-US" i="1">
                          <a:latin typeface="Cambria Math" panose="02040503050406030204" pitchFamily="18" charset="0"/>
                        </a:rPr>
                        <m:t>∗3=</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3</m:t>
                          </m:r>
                        </m:den>
                      </m:f>
                    </m:oMath>
                  </m:oMathPara>
                </a14:m>
                <a:endParaRPr lang="en-US"/>
              </a:p>
              <a:p>
                <a:pPr marL="0" indent="0">
                  <a:buNone/>
                </a:pPr>
                <a:endParaRPr lang="en-US"/>
              </a:p>
              <a:p>
                <a:pPr marL="0" indent="0">
                  <a:buNone/>
                </a:pPr>
                <a:endParaRPr lang="en-US"/>
              </a:p>
            </p:txBody>
          </p:sp>
        </mc:Choice>
        <mc:Fallback xmlns="">
          <p:sp>
            <p:nvSpPr>
              <p:cNvPr id="3" name="Chỗ dành sẵn cho Nội dung 2">
                <a:extLst>
                  <a:ext uri="{FF2B5EF4-FFF2-40B4-BE49-F238E27FC236}">
                    <a16:creationId xmlns:a16="http://schemas.microsoft.com/office/drawing/2014/main" id="{79730584-F1CB-40F7-BA77-EFE205355087}"/>
                  </a:ext>
                </a:extLst>
              </p:cNvPr>
              <p:cNvSpPr>
                <a:spLocks noGrp="1" noRot="1" noChangeAspect="1" noMove="1" noResize="1" noEditPoints="1" noAdjustHandles="1" noChangeArrowheads="1" noChangeShapeType="1" noTextEdit="1"/>
              </p:cNvSpPr>
              <p:nvPr>
                <p:ph idx="1"/>
              </p:nvPr>
            </p:nvSpPr>
            <p:spPr>
              <a:xfrm>
                <a:off x="838200" y="1825625"/>
                <a:ext cx="4575311" cy="4351338"/>
              </a:xfrm>
              <a:blipFill>
                <a:blip r:embed="rId2"/>
                <a:stretch>
                  <a:fillRect l="-2770" t="-2326" r="-277"/>
                </a:stretch>
              </a:blipFill>
            </p:spPr>
            <p:txBody>
              <a:bodyPr/>
              <a:lstStyle/>
              <a:p>
                <a:r>
                  <a:rPr lang="en-VN">
                    <a:noFill/>
                  </a:rPr>
                  <a:t> </a:t>
                </a:r>
              </a:p>
            </p:txBody>
          </p:sp>
        </mc:Fallback>
      </mc:AlternateContent>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cxnSpLocks/>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87139" y="53992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87139" y="539928"/>
                <a:ext cx="940904" cy="783804"/>
              </a:xfrm>
              <a:prstGeom prst="rect">
                <a:avLst/>
              </a:prstGeom>
              <a:blipFill>
                <a:blip r:embed="rId3"/>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5542722" y="2997577"/>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5542722" y="2997577"/>
                <a:ext cx="940904" cy="783804"/>
              </a:xfrm>
              <a:prstGeom prst="rect">
                <a:avLst/>
              </a:prstGeom>
              <a:blipFill>
                <a:blip r:embed="rId4"/>
                <a:stretch>
                  <a:fillRect b="-645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Hộp Văn bản 34">
                <a:extLst>
                  <a:ext uri="{FF2B5EF4-FFF2-40B4-BE49-F238E27FC236}">
                    <a16:creationId xmlns:a16="http://schemas.microsoft.com/office/drawing/2014/main" id="{2EF752FF-19B5-4D00-AF85-E37F5CB7AB22}"/>
                  </a:ext>
                </a:extLst>
              </p:cNvPr>
              <p:cNvSpPr txBox="1"/>
              <p:nvPr/>
            </p:nvSpPr>
            <p:spPr>
              <a:xfrm>
                <a:off x="8087139" y="569898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oMath>
                  </m:oMathPara>
                </a14:m>
                <a:endParaRPr lang="vi-VN" sz="2400"/>
              </a:p>
            </p:txBody>
          </p:sp>
        </mc:Choice>
        <mc:Fallback xmlns="">
          <p:sp>
            <p:nvSpPr>
              <p:cNvPr id="35" name="Hộp Văn bản 34">
                <a:extLst>
                  <a:ext uri="{FF2B5EF4-FFF2-40B4-BE49-F238E27FC236}">
                    <a16:creationId xmlns:a16="http://schemas.microsoft.com/office/drawing/2014/main" id="{2EF752FF-19B5-4D00-AF85-E37F5CB7AB22}"/>
                  </a:ext>
                </a:extLst>
              </p:cNvPr>
              <p:cNvSpPr txBox="1">
                <a:spLocks noRot="1" noChangeAspect="1" noMove="1" noResize="1" noEditPoints="1" noAdjustHandles="1" noChangeArrowheads="1" noChangeShapeType="1" noTextEdit="1"/>
              </p:cNvSpPr>
              <p:nvPr/>
            </p:nvSpPr>
            <p:spPr>
              <a:xfrm>
                <a:off x="8087139" y="5698984"/>
                <a:ext cx="940904" cy="783804"/>
              </a:xfrm>
              <a:prstGeom prst="rect">
                <a:avLst/>
              </a:prstGeom>
              <a:blipFill>
                <a:blip r:embed="rId6"/>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61EAD8B3-E959-40F7-9B9A-F0797BD9612F}"/>
              </a:ext>
            </a:extLst>
          </p:cNvPr>
          <p:cNvSpPr>
            <a:spLocks noGrp="1"/>
          </p:cNvSpPr>
          <p:nvPr>
            <p:ph type="sldNum" sz="quarter" idx="12"/>
          </p:nvPr>
        </p:nvSpPr>
        <p:spPr/>
        <p:txBody>
          <a:bodyPr/>
          <a:lstStyle/>
          <a:p>
            <a:fld id="{EF27BFFA-55D5-419F-87EC-45C1B812D548}" type="slidenum">
              <a:rPr lang="vi-VN" smtClean="0"/>
              <a:t>41</a:t>
            </a:fld>
            <a:endParaRPr lang="vi-VN"/>
          </a:p>
        </p:txBody>
      </p:sp>
    </p:spTree>
    <p:extLst>
      <p:ext uri="{BB962C8B-B14F-4D97-AF65-F5344CB8AC3E}">
        <p14:creationId xmlns:p14="http://schemas.microsoft.com/office/powerpoint/2010/main" val="3778868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Ta tiếp tục di chuyển qua các địa điểm khác với xác suất bằng nhau.</a:t>
            </a:r>
          </a:p>
          <a:p>
            <a:pPr marL="0" indent="0">
              <a:buNone/>
            </a:pPr>
            <a:endParaRPr lang="en-US"/>
          </a:p>
          <a:p>
            <a:pPr marL="0" indent="0">
              <a:buNone/>
            </a:pPr>
            <a:endParaRPr lang="en-US"/>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783804"/>
              </a:xfrm>
              <a:prstGeom prst="rect">
                <a:avLst/>
              </a:prstGeom>
              <a:blipFill>
                <a:blip r:embed="rId2"/>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783804"/>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783804"/>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783804"/>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7" y="1072391"/>
                <a:ext cx="1844869"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9</m:t>
                          </m:r>
                        </m:den>
                      </m:f>
                      <m:r>
                        <a:rPr lang="vi-VN" sz="2400" b="0" i="1" smtClean="0">
                          <a:latin typeface="Cambria Math" panose="02040503050406030204" pitchFamily="18" charset="0"/>
                        </a:rPr>
                        <m:t>/3</m:t>
                      </m:r>
                    </m:oMath>
                  </m:oMathPara>
                </a14:m>
                <a:endParaRPr lang="vi-VN" sz="2400"/>
              </a:p>
            </p:txBody>
          </p:sp>
        </mc:Choice>
        <mc:Fallback xmlns="">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7" y="1072391"/>
                <a:ext cx="1844869" cy="786177"/>
              </a:xfrm>
              <a:prstGeom prst="rect">
                <a:avLst/>
              </a:prstGeom>
              <a:blipFill>
                <a:blip r:embed="rId10"/>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783804"/>
              </a:xfrm>
              <a:prstGeom prst="rect">
                <a:avLst/>
              </a:prstGeom>
              <a:blipFill>
                <a:blip r:embed="rId11"/>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ECCBF69C-1021-4359-A204-C93359E65048}"/>
              </a:ext>
            </a:extLst>
          </p:cNvPr>
          <p:cNvSpPr>
            <a:spLocks noGrp="1"/>
          </p:cNvSpPr>
          <p:nvPr>
            <p:ph type="sldNum" sz="quarter" idx="12"/>
          </p:nvPr>
        </p:nvSpPr>
        <p:spPr/>
        <p:txBody>
          <a:bodyPr/>
          <a:lstStyle/>
          <a:p>
            <a:fld id="{EF27BFFA-55D5-419F-87EC-45C1B812D548}" type="slidenum">
              <a:rPr lang="vi-VN" smtClean="0"/>
              <a:t>42</a:t>
            </a:fld>
            <a:endParaRPr lang="vi-VN"/>
          </a:p>
        </p:txBody>
      </p:sp>
    </p:spTree>
    <p:extLst>
      <p:ext uri="{BB962C8B-B14F-4D97-AF65-F5344CB8AC3E}">
        <p14:creationId xmlns:p14="http://schemas.microsoft.com/office/powerpoint/2010/main" val="3003049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Tổng các xác suất đi vào từng vị trí sẽ là:</a:t>
                </a:r>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3</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4</m:t>
                          </m:r>
                        </m:sub>
                      </m:sSub>
                      <m:r>
                        <a:rPr lang="vi-VN"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27</m:t>
                          </m:r>
                        </m:den>
                      </m:f>
                      <m:r>
                        <a:rPr lang="en-US" i="1">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27</m:t>
                          </m:r>
                        </m:den>
                      </m:f>
                    </m:oMath>
                  </m:oMathPara>
                </a14:m>
                <a:endParaRPr lang="en-US"/>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2</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3</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27</m:t>
                          </m:r>
                        </m:den>
                      </m:f>
                      <m:r>
                        <a:rPr lang="en-US" i="1">
                          <a:latin typeface="Cambria Math" panose="02040503050406030204" pitchFamily="18" charset="0"/>
                        </a:rPr>
                        <m:t>∗3=</m:t>
                      </m:r>
                      <m:f>
                        <m:fPr>
                          <m:ctrlPr>
                            <a:rPr lang="en-US" i="1">
                              <a:latin typeface="Cambria Math" panose="02040503050406030204" pitchFamily="18" charset="0"/>
                            </a:rPr>
                          </m:ctrlPr>
                        </m:fPr>
                        <m:num>
                          <m:r>
                            <a:rPr lang="en-US" i="1">
                              <a:latin typeface="Cambria Math" panose="02040503050406030204" pitchFamily="18" charset="0"/>
                            </a:rPr>
                            <m:t>7</m:t>
                          </m:r>
                        </m:num>
                        <m:den>
                          <m:r>
                            <a:rPr lang="en-US" i="1">
                              <a:latin typeface="Cambria Math" panose="02040503050406030204" pitchFamily="18" charset="0"/>
                            </a:rPr>
                            <m:t>9</m:t>
                          </m:r>
                        </m:den>
                      </m:f>
                    </m:oMath>
                  </m:oMathPara>
                </a14:m>
                <a:endParaRPr lang="en-US"/>
              </a:p>
              <a:p>
                <a:pPr marL="0" indent="0">
                  <a:buNone/>
                </a:pPr>
                <a:endParaRPr lang="en-US"/>
              </a:p>
              <a:p>
                <a:pPr marL="0" indent="0">
                  <a:buNone/>
                </a:pPr>
                <a:endParaRPr lang="en-US"/>
              </a:p>
            </p:txBody>
          </p:sp>
        </mc:Choice>
        <mc:Fallback xmlns="">
          <p:sp>
            <p:nvSpPr>
              <p:cNvPr id="3" name="Chỗ dành sẵn cho Nội dung 2">
                <a:extLst>
                  <a:ext uri="{FF2B5EF4-FFF2-40B4-BE49-F238E27FC236}">
                    <a16:creationId xmlns:a16="http://schemas.microsoft.com/office/drawing/2014/main" id="{79730584-F1CB-40F7-BA77-EFE205355087}"/>
                  </a:ext>
                </a:extLst>
              </p:cNvPr>
              <p:cNvSpPr>
                <a:spLocks noGrp="1" noRot="1" noChangeAspect="1" noMove="1" noResize="1" noEditPoints="1" noAdjustHandles="1" noChangeArrowheads="1" noChangeShapeType="1" noTextEdit="1"/>
              </p:cNvSpPr>
              <p:nvPr>
                <p:ph idx="1"/>
              </p:nvPr>
            </p:nvSpPr>
            <p:spPr>
              <a:xfrm>
                <a:off x="838200" y="1825625"/>
                <a:ext cx="4575311" cy="4351338"/>
              </a:xfrm>
              <a:blipFill>
                <a:blip r:embed="rId2"/>
                <a:stretch>
                  <a:fillRect l="-2770" t="-2326" r="-277"/>
                </a:stretch>
              </a:blipFill>
            </p:spPr>
            <p:txBody>
              <a:bodyPr/>
              <a:lstStyle/>
              <a:p>
                <a:r>
                  <a:rPr lang="en-VN">
                    <a:noFill/>
                  </a:rPr>
                  <a:t> </a:t>
                </a:r>
              </a:p>
            </p:txBody>
          </p:sp>
        </mc:Fallback>
      </mc:AlternateContent>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cxnSpLocks/>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87139" y="53992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27</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87139" y="539928"/>
                <a:ext cx="940904" cy="783804"/>
              </a:xfrm>
              <a:prstGeom prst="rect">
                <a:avLst/>
              </a:prstGeom>
              <a:blipFill>
                <a:blip r:embed="rId3"/>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5465249" y="302384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27</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5465249" y="3023846"/>
                <a:ext cx="940904" cy="783804"/>
              </a:xfrm>
              <a:prstGeom prst="rect">
                <a:avLst/>
              </a:prstGeom>
              <a:blipFill>
                <a:blip r:embed="rId4"/>
                <a:stretch>
                  <a:fillRect b="-645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7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7</m:t>
                          </m:r>
                        </m:num>
                        <m:den>
                          <m:r>
                            <a:rPr lang="en-US" sz="2400" b="0" i="1" smtClean="0">
                              <a:latin typeface="Cambria Math" panose="02040503050406030204" pitchFamily="18" charset="0"/>
                            </a:rPr>
                            <m:t>9</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741"/>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Hộp Văn bản 34">
                <a:extLst>
                  <a:ext uri="{FF2B5EF4-FFF2-40B4-BE49-F238E27FC236}">
                    <a16:creationId xmlns:a16="http://schemas.microsoft.com/office/drawing/2014/main" id="{2EF752FF-19B5-4D00-AF85-E37F5CB7AB22}"/>
                  </a:ext>
                </a:extLst>
              </p:cNvPr>
              <p:cNvSpPr txBox="1"/>
              <p:nvPr/>
            </p:nvSpPr>
            <p:spPr>
              <a:xfrm>
                <a:off x="8087139" y="5698984"/>
                <a:ext cx="940904"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27</m:t>
                          </m:r>
                        </m:den>
                      </m:f>
                    </m:oMath>
                  </m:oMathPara>
                </a14:m>
                <a:endParaRPr lang="vi-VN" sz="2400"/>
              </a:p>
            </p:txBody>
          </p:sp>
        </mc:Choice>
        <mc:Fallback xmlns="">
          <p:sp>
            <p:nvSpPr>
              <p:cNvPr id="35" name="Hộp Văn bản 34">
                <a:extLst>
                  <a:ext uri="{FF2B5EF4-FFF2-40B4-BE49-F238E27FC236}">
                    <a16:creationId xmlns:a16="http://schemas.microsoft.com/office/drawing/2014/main" id="{2EF752FF-19B5-4D00-AF85-E37F5CB7AB22}"/>
                  </a:ext>
                </a:extLst>
              </p:cNvPr>
              <p:cNvSpPr txBox="1">
                <a:spLocks noRot="1" noChangeAspect="1" noMove="1" noResize="1" noEditPoints="1" noAdjustHandles="1" noChangeArrowheads="1" noChangeShapeType="1" noTextEdit="1"/>
              </p:cNvSpPr>
              <p:nvPr/>
            </p:nvSpPr>
            <p:spPr>
              <a:xfrm>
                <a:off x="8087139" y="5698984"/>
                <a:ext cx="940904" cy="786177"/>
              </a:xfrm>
              <a:prstGeom prst="rect">
                <a:avLst/>
              </a:prstGeom>
              <a:blipFill>
                <a:blip r:embed="rId6"/>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8CEF8962-AC60-4E08-AE83-E8FD385BE088}"/>
              </a:ext>
            </a:extLst>
          </p:cNvPr>
          <p:cNvSpPr>
            <a:spLocks noGrp="1"/>
          </p:cNvSpPr>
          <p:nvPr>
            <p:ph type="sldNum" sz="quarter" idx="12"/>
          </p:nvPr>
        </p:nvSpPr>
        <p:spPr/>
        <p:txBody>
          <a:bodyPr/>
          <a:lstStyle/>
          <a:p>
            <a:fld id="{EF27BFFA-55D5-419F-87EC-45C1B812D548}" type="slidenum">
              <a:rPr lang="vi-VN" smtClean="0"/>
              <a:t>43</a:t>
            </a:fld>
            <a:endParaRPr lang="vi-VN"/>
          </a:p>
        </p:txBody>
      </p:sp>
    </p:spTree>
    <p:extLst>
      <p:ext uri="{BB962C8B-B14F-4D97-AF65-F5344CB8AC3E}">
        <p14:creationId xmlns:p14="http://schemas.microsoft.com/office/powerpoint/2010/main" val="3728630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F870A8-6CCC-49C9-90B7-A824D6802C3C}"/>
              </a:ext>
            </a:extLst>
          </p:cNvPr>
          <p:cNvSpPr>
            <a:spLocks noGrp="1"/>
          </p:cNvSpPr>
          <p:nvPr>
            <p:ph type="title"/>
          </p:nvPr>
        </p:nvSpPr>
        <p:spPr>
          <a:xfrm>
            <a:off x="838200" y="-14015"/>
            <a:ext cx="10515600" cy="1325563"/>
          </a:xfrm>
        </p:spPr>
        <p:txBody>
          <a:bodyPr/>
          <a:lstStyle/>
          <a:p>
            <a:r>
              <a:rPr lang="en-US"/>
              <a:t>Tìm đường về nhà</a:t>
            </a:r>
            <a:endParaRPr lang="vi-VN"/>
          </a:p>
        </p:txBody>
      </p:sp>
      <p:pic>
        <p:nvPicPr>
          <p:cNvPr id="5" name="Chỗ dành sẵn cho Nội dung 4">
            <a:extLst>
              <a:ext uri="{FF2B5EF4-FFF2-40B4-BE49-F238E27FC236}">
                <a16:creationId xmlns:a16="http://schemas.microsoft.com/office/drawing/2014/main" id="{875B2ADD-B0C9-4A04-A0D5-6FF558640EEA}"/>
              </a:ext>
            </a:extLst>
          </p:cNvPr>
          <p:cNvPicPr>
            <a:picLocks noGrp="1" noChangeAspect="1"/>
          </p:cNvPicPr>
          <p:nvPr>
            <p:ph idx="1"/>
          </p:nvPr>
        </p:nvPicPr>
        <p:blipFill rotWithShape="1">
          <a:blip r:embed="rId2"/>
          <a:srcRect l="11433" t="40642" r="32035" b="8281"/>
          <a:stretch/>
        </p:blipFill>
        <p:spPr>
          <a:xfrm>
            <a:off x="838199" y="956803"/>
            <a:ext cx="11461596" cy="5847754"/>
          </a:xfrm>
        </p:spPr>
      </p:pic>
      <p:sp>
        <p:nvSpPr>
          <p:cNvPr id="6" name="Hộp Văn bản 5">
            <a:extLst>
              <a:ext uri="{FF2B5EF4-FFF2-40B4-BE49-F238E27FC236}">
                <a16:creationId xmlns:a16="http://schemas.microsoft.com/office/drawing/2014/main" id="{76942EA6-97A4-4021-A53E-68616161ADA8}"/>
              </a:ext>
            </a:extLst>
          </p:cNvPr>
          <p:cNvSpPr txBox="1"/>
          <p:nvPr/>
        </p:nvSpPr>
        <p:spPr>
          <a:xfrm>
            <a:off x="5523570" y="2998995"/>
            <a:ext cx="5415776" cy="1200329"/>
          </a:xfrm>
          <a:prstGeom prst="rect">
            <a:avLst/>
          </a:prstGeom>
          <a:noFill/>
        </p:spPr>
        <p:txBody>
          <a:bodyPr wrap="square" rtlCol="0">
            <a:spAutoFit/>
          </a:bodyPr>
          <a:lstStyle/>
          <a:p>
            <a:r>
              <a:rPr lang="en-US" sz="3600">
                <a:solidFill>
                  <a:srgbClr val="FF0000"/>
                </a:solidFill>
              </a:rPr>
              <a:t>Xác suất đi vào vị trí 2 (Nhà </a:t>
            </a:r>
          </a:p>
          <a:p>
            <a:r>
              <a:rPr lang="en-US" sz="3600">
                <a:solidFill>
                  <a:srgbClr val="FF0000"/>
                </a:solidFill>
              </a:rPr>
              <a:t>sẽ tăng dần theo thời gian</a:t>
            </a:r>
          </a:p>
        </p:txBody>
      </p:sp>
      <p:sp>
        <p:nvSpPr>
          <p:cNvPr id="3" name="Chỗ dành sẵn cho Số hiệu Bản chiếu 2">
            <a:extLst>
              <a:ext uri="{FF2B5EF4-FFF2-40B4-BE49-F238E27FC236}">
                <a16:creationId xmlns:a16="http://schemas.microsoft.com/office/drawing/2014/main" id="{E45699BA-3936-4F5C-A44B-1C377A368072}"/>
              </a:ext>
            </a:extLst>
          </p:cNvPr>
          <p:cNvSpPr>
            <a:spLocks noGrp="1"/>
          </p:cNvSpPr>
          <p:nvPr>
            <p:ph type="sldNum" sz="quarter" idx="12"/>
          </p:nvPr>
        </p:nvSpPr>
        <p:spPr/>
        <p:txBody>
          <a:bodyPr/>
          <a:lstStyle/>
          <a:p>
            <a:fld id="{EF27BFFA-55D5-419F-87EC-45C1B812D548}" type="slidenum">
              <a:rPr lang="vi-VN" smtClean="0"/>
              <a:t>44</a:t>
            </a:fld>
            <a:endParaRPr lang="vi-VN"/>
          </a:p>
        </p:txBody>
      </p:sp>
    </p:spTree>
    <p:extLst>
      <p:ext uri="{BB962C8B-B14F-4D97-AF65-F5344CB8AC3E}">
        <p14:creationId xmlns:p14="http://schemas.microsoft.com/office/powerpoint/2010/main" val="36404276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 </a:t>
            </a:r>
            <a:r>
              <a:rPr lang="en-US" u="sng"/>
              <a:t>lượng tử</a:t>
            </a:r>
            <a:endParaRPr lang="vi-VN" u="sng"/>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964096"/>
          </a:xfrm>
        </p:spPr>
        <p:txBody>
          <a:bodyPr>
            <a:normAutofit/>
          </a:bodyPr>
          <a:lstStyle/>
          <a:p>
            <a:pPr marL="0" indent="0">
              <a:buNone/>
            </a:pPr>
            <a:r>
              <a:rPr lang="en-US"/>
              <a:t>Chúng ta sẽ đi tất cả các con đường cùng một lúc</a:t>
            </a:r>
          </a:p>
          <a:p>
            <a:pPr marL="0" indent="0">
              <a:buNone/>
            </a:pPr>
            <a:endParaRPr lang="en-US"/>
          </a:p>
          <a:p>
            <a:pPr marL="0" indent="0">
              <a:buNone/>
            </a:pPr>
            <a:endParaRPr lang="en-US"/>
          </a:p>
          <a:p>
            <a:pPr marL="0" indent="0">
              <a:buNone/>
            </a:pPr>
            <a:endParaRPr lang="en-US"/>
          </a:p>
        </p:txBody>
      </p:sp>
      <p:sp>
        <p:nvSpPr>
          <p:cNvPr id="4" name="Hình Bầu dục 3">
            <a:extLst>
              <a:ext uri="{FF2B5EF4-FFF2-40B4-BE49-F238E27FC236}">
                <a16:creationId xmlns:a16="http://schemas.microsoft.com/office/drawing/2014/main" id="{A13B7A7D-3BE5-4C71-9A4C-E7D44E389BE8}"/>
              </a:ext>
            </a:extLst>
          </p:cNvPr>
          <p:cNvSpPr/>
          <p:nvPr/>
        </p:nvSpPr>
        <p:spPr>
          <a:xfrm>
            <a:off x="7176375" y="227843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5367453" y="3706356"/>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044932" y="3693104"/>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7176375" y="5306555"/>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5837905" y="2742260"/>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5837905" y="4634008"/>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117279" y="4620756"/>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117279" y="2742260"/>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6308357" y="4156930"/>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7646827" y="3206086"/>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6308357" y="1814608"/>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12</m:t>
                              </m:r>
                            </m:e>
                          </m:rad>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6308357" y="1814608"/>
                <a:ext cx="940904" cy="855299"/>
              </a:xfrm>
              <a:prstGeom prst="rect">
                <a:avLst/>
              </a:prstGeom>
              <a:blipFill>
                <a:blip r:embed="rId2"/>
                <a:stretch>
                  <a:fillRect b="-2941"/>
                </a:stretch>
              </a:blipFill>
            </p:spPr>
            <p:txBody>
              <a:bodyPr/>
              <a:lstStyle/>
              <a:p>
                <a:r>
                  <a:rPr lang="en-VN">
                    <a:noFill/>
                  </a:rPr>
                  <a:t> </a:t>
                </a:r>
              </a:p>
            </p:txBody>
          </p:sp>
        </mc:Fallback>
      </mc:AlternateContent>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6699296" y="2742260"/>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5837905" y="4634008"/>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8143784" y="2742260"/>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5837905" y="3359522"/>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8120592" y="5423547"/>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6658091" y="5306555"/>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7646827" y="4738369"/>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6308357" y="4170182"/>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7646827" y="3206086"/>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5393956" y="249054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5393956" y="2490542"/>
                <a:ext cx="940904" cy="855299"/>
              </a:xfrm>
              <a:prstGeom prst="rect">
                <a:avLst/>
              </a:prstGeom>
              <a:blipFill>
                <a:blip r:embed="rId3"/>
                <a:stretch>
                  <a:fillRect b="-294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6202341" y="327857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6202341" y="3278570"/>
                <a:ext cx="940904" cy="855299"/>
              </a:xfrm>
              <a:prstGeom prst="rect">
                <a:avLst/>
              </a:prstGeom>
              <a:blipFill>
                <a:blip r:embed="rId4"/>
                <a:stretch>
                  <a:fillRect b="-294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5128914" y="466989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5128914" y="4669892"/>
                <a:ext cx="940904" cy="855299"/>
              </a:xfrm>
              <a:prstGeom prst="rect">
                <a:avLst/>
              </a:prstGeom>
              <a:blipFill>
                <a:blip r:embed="rId5"/>
                <a:stretch>
                  <a:fillRect b="-441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6245409" y="561039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6245409" y="5610392"/>
                <a:ext cx="940904" cy="855299"/>
              </a:xfrm>
              <a:prstGeom prst="rect">
                <a:avLst/>
              </a:prstGeom>
              <a:blipFill>
                <a:blip r:embed="rId6"/>
                <a:stretch>
                  <a:fillRect b="-289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7620324" y="4411764"/>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7620324" y="4411764"/>
                <a:ext cx="940904" cy="855299"/>
              </a:xfrm>
              <a:prstGeom prst="rect">
                <a:avLst/>
              </a:prstGeom>
              <a:blipFill>
                <a:blip r:embed="rId7"/>
                <a:stretch>
                  <a:fillRect b="-441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043565" y="563200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043565" y="5632000"/>
                <a:ext cx="940904" cy="855299"/>
              </a:xfrm>
              <a:prstGeom prst="rect">
                <a:avLst/>
              </a:prstGeom>
              <a:blipFill>
                <a:blip r:embed="rId8"/>
                <a:stretch>
                  <a:fillRect b="-441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9189878" y="2543479"/>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9189878" y="2543479"/>
                <a:ext cx="940904" cy="855299"/>
              </a:xfrm>
              <a:prstGeom prst="rect">
                <a:avLst/>
              </a:prstGeom>
              <a:blipFill>
                <a:blip r:embed="rId9"/>
                <a:stretch>
                  <a:fillRect r="-8000" b="-294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Hộp Văn bản 55">
                <a:extLst>
                  <a:ext uri="{FF2B5EF4-FFF2-40B4-BE49-F238E27FC236}">
                    <a16:creationId xmlns:a16="http://schemas.microsoft.com/office/drawing/2014/main" id="{9CC99E96-2956-49CF-A1B4-6A4175A4B26A}"/>
                  </a:ext>
                </a:extLst>
              </p:cNvPr>
              <p:cNvSpPr txBox="1"/>
              <p:nvPr/>
            </p:nvSpPr>
            <p:spPr>
              <a:xfrm>
                <a:off x="7968191" y="1813573"/>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7968191" y="1813573"/>
                <a:ext cx="940904" cy="855299"/>
              </a:xfrm>
              <a:prstGeom prst="rect">
                <a:avLst/>
              </a:prstGeom>
              <a:blipFill>
                <a:blip r:embed="rId10"/>
                <a:stretch>
                  <a:fillRect b="-294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7448874" y="3188181"/>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7448874" y="3188181"/>
                <a:ext cx="940904" cy="855299"/>
              </a:xfrm>
              <a:prstGeom prst="rect">
                <a:avLst/>
              </a:prstGeom>
              <a:blipFill>
                <a:blip r:embed="rId11"/>
                <a:stretch>
                  <a:fillRect b="-2941"/>
                </a:stretch>
              </a:blipFill>
            </p:spPr>
            <p:txBody>
              <a:bodyPr/>
              <a:lstStyle/>
              <a:p>
                <a:r>
                  <a:rPr lang="en-VN">
                    <a:noFill/>
                  </a:rPr>
                  <a:t> </a:t>
                </a:r>
              </a:p>
            </p:txBody>
          </p:sp>
        </mc:Fallback>
      </mc:AlternateContent>
      <p:cxnSp>
        <p:nvCxnSpPr>
          <p:cNvPr id="35" name="Đường kết nối Mũi tên Thẳng 34">
            <a:extLst>
              <a:ext uri="{FF2B5EF4-FFF2-40B4-BE49-F238E27FC236}">
                <a16:creationId xmlns:a16="http://schemas.microsoft.com/office/drawing/2014/main" id="{D3F484ED-7DC2-4958-93A2-7310CBCCFE49}"/>
              </a:ext>
            </a:extLst>
          </p:cNvPr>
          <p:cNvCxnSpPr>
            <a:cxnSpLocks/>
          </p:cNvCxnSpPr>
          <p:nvPr/>
        </p:nvCxnSpPr>
        <p:spPr>
          <a:xfrm flipH="1" flipV="1">
            <a:off x="8985298" y="3323729"/>
            <a:ext cx="541888" cy="3644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Đường kết nối Mũi tên Thẳng 35">
            <a:extLst>
              <a:ext uri="{FF2B5EF4-FFF2-40B4-BE49-F238E27FC236}">
                <a16:creationId xmlns:a16="http://schemas.microsoft.com/office/drawing/2014/main" id="{BC3AEDB1-B385-48D5-884A-CE7BF1D87298}"/>
              </a:ext>
            </a:extLst>
          </p:cNvPr>
          <p:cNvCxnSpPr>
            <a:cxnSpLocks/>
          </p:cNvCxnSpPr>
          <p:nvPr/>
        </p:nvCxnSpPr>
        <p:spPr>
          <a:xfrm flipH="1">
            <a:off x="8985298" y="4620756"/>
            <a:ext cx="530086"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7" name="Đường kết nối Mũi tên Thẳng 36">
            <a:extLst>
              <a:ext uri="{FF2B5EF4-FFF2-40B4-BE49-F238E27FC236}">
                <a16:creationId xmlns:a16="http://schemas.microsoft.com/office/drawing/2014/main" id="{D7E31F0A-4C86-4EBA-94F6-AE533B5EBB4E}"/>
              </a:ext>
            </a:extLst>
          </p:cNvPr>
          <p:cNvCxnSpPr>
            <a:cxnSpLocks/>
          </p:cNvCxnSpPr>
          <p:nvPr/>
        </p:nvCxnSpPr>
        <p:spPr>
          <a:xfrm flipH="1">
            <a:off x="8352505" y="4156930"/>
            <a:ext cx="692427" cy="1325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Hộp Văn bản 38">
                <a:extLst>
                  <a:ext uri="{FF2B5EF4-FFF2-40B4-BE49-F238E27FC236}">
                    <a16:creationId xmlns:a16="http://schemas.microsoft.com/office/drawing/2014/main" id="{B7D0E8D1-10A8-4E3E-96CA-39155D0748EA}"/>
                  </a:ext>
                </a:extLst>
              </p:cNvPr>
              <p:cNvSpPr txBox="1"/>
              <p:nvPr/>
            </p:nvSpPr>
            <p:spPr>
              <a:xfrm>
                <a:off x="9189878" y="4865924"/>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39" name="Hộp Văn bản 38">
                <a:extLst>
                  <a:ext uri="{FF2B5EF4-FFF2-40B4-BE49-F238E27FC236}">
                    <a16:creationId xmlns:a16="http://schemas.microsoft.com/office/drawing/2014/main" id="{B7D0E8D1-10A8-4E3E-96CA-39155D0748EA}"/>
                  </a:ext>
                </a:extLst>
              </p:cNvPr>
              <p:cNvSpPr txBox="1">
                <a:spLocks noRot="1" noChangeAspect="1" noMove="1" noResize="1" noEditPoints="1" noAdjustHandles="1" noChangeArrowheads="1" noChangeShapeType="1" noTextEdit="1"/>
              </p:cNvSpPr>
              <p:nvPr/>
            </p:nvSpPr>
            <p:spPr>
              <a:xfrm>
                <a:off x="9189878" y="4865924"/>
                <a:ext cx="940904" cy="855299"/>
              </a:xfrm>
              <a:prstGeom prst="rect">
                <a:avLst/>
              </a:prstGeom>
              <a:blipFill>
                <a:blip r:embed="rId12"/>
                <a:stretch>
                  <a:fillRect r="-8000" b="-294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Hộp Văn bản 39">
                <a:extLst>
                  <a:ext uri="{FF2B5EF4-FFF2-40B4-BE49-F238E27FC236}">
                    <a16:creationId xmlns:a16="http://schemas.microsoft.com/office/drawing/2014/main" id="{27290793-F020-4373-980F-095B6B4FAD28}"/>
                  </a:ext>
                </a:extLst>
              </p:cNvPr>
              <p:cNvSpPr txBox="1"/>
              <p:nvPr/>
            </p:nvSpPr>
            <p:spPr>
              <a:xfrm>
                <a:off x="8091705" y="3316714"/>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xmlns="">
          <p:sp>
            <p:nvSpPr>
              <p:cNvPr id="40" name="Hộp Văn bản 39">
                <a:extLst>
                  <a:ext uri="{FF2B5EF4-FFF2-40B4-BE49-F238E27FC236}">
                    <a16:creationId xmlns:a16="http://schemas.microsoft.com/office/drawing/2014/main" id="{27290793-F020-4373-980F-095B6B4FAD28}"/>
                  </a:ext>
                </a:extLst>
              </p:cNvPr>
              <p:cNvSpPr txBox="1">
                <a:spLocks noRot="1" noChangeAspect="1" noMove="1" noResize="1" noEditPoints="1" noAdjustHandles="1" noChangeArrowheads="1" noChangeShapeType="1" noTextEdit="1"/>
              </p:cNvSpPr>
              <p:nvPr/>
            </p:nvSpPr>
            <p:spPr>
              <a:xfrm>
                <a:off x="8091705" y="3316714"/>
                <a:ext cx="940904" cy="855299"/>
              </a:xfrm>
              <a:prstGeom prst="rect">
                <a:avLst/>
              </a:prstGeom>
              <a:blipFill>
                <a:blip r:embed="rId13"/>
                <a:stretch>
                  <a:fillRect r="-6579" b="-2941"/>
                </a:stretch>
              </a:blipFill>
            </p:spPr>
            <p:txBody>
              <a:bodyPr/>
              <a:lstStyle/>
              <a:p>
                <a:r>
                  <a:rPr lang="en-VN">
                    <a:noFill/>
                  </a:rPr>
                  <a:t> </a:t>
                </a:r>
              </a:p>
            </p:txBody>
          </p:sp>
        </mc:Fallback>
      </mc:AlternateContent>
      <p:sp>
        <p:nvSpPr>
          <p:cNvPr id="11" name="Chỗ dành sẵn cho Số hiệu Bản chiếu 10">
            <a:extLst>
              <a:ext uri="{FF2B5EF4-FFF2-40B4-BE49-F238E27FC236}">
                <a16:creationId xmlns:a16="http://schemas.microsoft.com/office/drawing/2014/main" id="{20A00173-95D1-4C85-8F44-CA54ACBBAB5B}"/>
              </a:ext>
            </a:extLst>
          </p:cNvPr>
          <p:cNvSpPr>
            <a:spLocks noGrp="1"/>
          </p:cNvSpPr>
          <p:nvPr>
            <p:ph type="sldNum" sz="quarter" idx="12"/>
          </p:nvPr>
        </p:nvSpPr>
        <p:spPr/>
        <p:txBody>
          <a:bodyPr/>
          <a:lstStyle/>
          <a:p>
            <a:fld id="{EF27BFFA-55D5-419F-87EC-45C1B812D548}" type="slidenum">
              <a:rPr lang="vi-VN" smtClean="0"/>
              <a:t>45</a:t>
            </a:fld>
            <a:endParaRPr lang="vi-VN"/>
          </a:p>
        </p:txBody>
      </p:sp>
      <mc:AlternateContent xmlns:mc="http://schemas.openxmlformats.org/markup-compatibility/2006" xmlns:a14="http://schemas.microsoft.com/office/drawing/2010/main">
        <mc:Choice Requires="a14">
          <p:sp>
            <p:nvSpPr>
              <p:cNvPr id="15" name="Chỗ dành sẵn cho Nội dung 2">
                <a:extLst>
                  <a:ext uri="{FF2B5EF4-FFF2-40B4-BE49-F238E27FC236}">
                    <a16:creationId xmlns:a16="http://schemas.microsoft.com/office/drawing/2014/main" id="{1F2255D2-6CBC-6ADF-2B8E-672327E629B8}"/>
                  </a:ext>
                </a:extLst>
              </p:cNvPr>
              <p:cNvSpPr txBox="1">
                <a:spLocks/>
              </p:cNvSpPr>
              <p:nvPr/>
            </p:nvSpPr>
            <p:spPr>
              <a:xfrm>
                <a:off x="835214" y="2967547"/>
                <a:ext cx="4253113" cy="2802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Lưu ý</a:t>
                </a:r>
                <a:r>
                  <a:rPr lang="en-US"/>
                  <a:t>: biên độ trạng thái là số phức, nên xác suất sẽ là </a:t>
                </a:r>
                <a14:m>
                  <m:oMath xmlns:m="http://schemas.openxmlformats.org/officeDocument/2006/math">
                    <m:sSup>
                      <m:sSupPr>
                        <m:ctrlPr>
                          <a:rPr lang="vi-VN" b="0" i="1">
                            <a:latin typeface="Cambria Math" panose="02040503050406030204" pitchFamily="18" charset="0"/>
                          </a:rPr>
                        </m:ctrlPr>
                      </m:sSupPr>
                      <m:e>
                        <m:d>
                          <m:dPr>
                            <m:begChr m:val="|"/>
                            <m:endChr m:val="|"/>
                            <m:ctrlPr>
                              <a:rPr lang="vi-VN" b="0" i="1">
                                <a:latin typeface="Cambria Math" panose="02040503050406030204" pitchFamily="18" charset="0"/>
                              </a:rPr>
                            </m:ctrlPr>
                          </m:dPr>
                          <m:e>
                            <m:f>
                              <m:fPr>
                                <m:ctrlPr>
                                  <a:rPr lang="vi-VN" i="1">
                                    <a:latin typeface="Cambria Math" panose="02040503050406030204" pitchFamily="18" charset="0"/>
                                  </a:rPr>
                                </m:ctrlPr>
                              </m:fPr>
                              <m:num>
                                <m:r>
                                  <a:rPr lang="vi-VN" i="1">
                                    <a:latin typeface="Cambria Math" panose="02040503050406030204" pitchFamily="18" charset="0"/>
                                  </a:rPr>
                                  <m:t>1</m:t>
                                </m:r>
                              </m:num>
                              <m:den>
                                <m:rad>
                                  <m:radPr>
                                    <m:degHide m:val="on"/>
                                    <m:ctrlPr>
                                      <a:rPr lang="vi-VN" i="1">
                                        <a:latin typeface="Cambria Math" panose="02040503050406030204" pitchFamily="18" charset="0"/>
                                      </a:rPr>
                                    </m:ctrlPr>
                                  </m:radPr>
                                  <m:deg/>
                                  <m:e>
                                    <m:r>
                                      <a:rPr lang="vi-VN" i="1">
                                        <a:latin typeface="Cambria Math" panose="02040503050406030204" pitchFamily="18" charset="0"/>
                                      </a:rPr>
                                      <m:t>12</m:t>
                                    </m:r>
                                  </m:e>
                                </m:rad>
                              </m:den>
                            </m:f>
                          </m:e>
                        </m:d>
                      </m:e>
                      <m:sup>
                        <m:r>
                          <a:rPr lang="vi-VN" b="0" i="1">
                            <a:latin typeface="Cambria Math" panose="02040503050406030204" pitchFamily="18" charset="0"/>
                          </a:rPr>
                          <m:t>2</m:t>
                        </m:r>
                      </m:sup>
                    </m:sSup>
                    <m:r>
                      <a:rPr lang="vi-VN" b="0" i="1">
                        <a:latin typeface="Cambria Math" panose="02040503050406030204" pitchFamily="18" charset="0"/>
                      </a:rPr>
                      <m:t>=</m:t>
                    </m:r>
                    <m:f>
                      <m:fPr>
                        <m:ctrlPr>
                          <a:rPr lang="vi-VN" b="0" i="1">
                            <a:latin typeface="Cambria Math" panose="02040503050406030204" pitchFamily="18" charset="0"/>
                          </a:rPr>
                        </m:ctrlPr>
                      </m:fPr>
                      <m:num>
                        <m:r>
                          <a:rPr lang="vi-VN" b="0" i="1">
                            <a:latin typeface="Cambria Math" panose="02040503050406030204" pitchFamily="18" charset="0"/>
                          </a:rPr>
                          <m:t>1</m:t>
                        </m:r>
                      </m:num>
                      <m:den>
                        <m:r>
                          <a:rPr lang="vi-VN" b="0" i="1">
                            <a:latin typeface="Cambria Math" panose="02040503050406030204" pitchFamily="18" charset="0"/>
                          </a:rPr>
                          <m:t>12</m:t>
                        </m:r>
                      </m:den>
                    </m:f>
                  </m:oMath>
                </a14:m>
                <a:endParaRPr lang="en-US"/>
              </a:p>
              <a:p>
                <a:pPr marL="0" indent="0">
                  <a:buFont typeface="Arial" panose="020B0604020202020204" pitchFamily="34" charset="0"/>
                  <a:buNone/>
                </a:pPr>
                <a:endParaRPr lang="en-US"/>
              </a:p>
              <a:p>
                <a:pPr marL="0" indent="0">
                  <a:buFont typeface="Arial" panose="020B0604020202020204" pitchFamily="34" charset="0"/>
                  <a:buNone/>
                </a:pPr>
                <a:endParaRPr lang="en-US"/>
              </a:p>
            </p:txBody>
          </p:sp>
        </mc:Choice>
        <mc:Fallback xmlns="">
          <p:sp>
            <p:nvSpPr>
              <p:cNvPr id="15" name="Chỗ dành sẵn cho Nội dung 2">
                <a:extLst>
                  <a:ext uri="{FF2B5EF4-FFF2-40B4-BE49-F238E27FC236}">
                    <a16:creationId xmlns:a16="http://schemas.microsoft.com/office/drawing/2014/main" id="{1F2255D2-6CBC-6ADF-2B8E-672327E629B8}"/>
                  </a:ext>
                </a:extLst>
              </p:cNvPr>
              <p:cNvSpPr txBox="1">
                <a:spLocks noRot="1" noChangeAspect="1" noMove="1" noResize="1" noEditPoints="1" noAdjustHandles="1" noChangeArrowheads="1" noChangeShapeType="1" noTextEdit="1"/>
              </p:cNvSpPr>
              <p:nvPr/>
            </p:nvSpPr>
            <p:spPr>
              <a:xfrm>
                <a:off x="835214" y="2967547"/>
                <a:ext cx="4253113" cy="2802834"/>
              </a:xfrm>
              <a:prstGeom prst="rect">
                <a:avLst/>
              </a:prstGeom>
              <a:blipFill>
                <a:blip r:embed="rId14"/>
                <a:stretch>
                  <a:fillRect l="-2976" t="-3604" r="-1190"/>
                </a:stretch>
              </a:blipFill>
            </p:spPr>
            <p:txBody>
              <a:bodyPr/>
              <a:lstStyle/>
              <a:p>
                <a:r>
                  <a:rPr lang="en-VN">
                    <a:noFill/>
                  </a:rPr>
                  <a:t> </a:t>
                </a:r>
              </a:p>
            </p:txBody>
          </p:sp>
        </mc:Fallback>
      </mc:AlternateContent>
    </p:spTree>
    <p:extLst>
      <p:ext uri="{BB962C8B-B14F-4D97-AF65-F5344CB8AC3E}">
        <p14:creationId xmlns:p14="http://schemas.microsoft.com/office/powerpoint/2010/main" val="7261039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 lượng tử</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Chúng ta sẽ áp dụng các toán tử coin-flip và shift để gia tăng biên độ tại vị trí 2.</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855299"/>
              </a:xfrm>
              <a:prstGeom prst="rect">
                <a:avLst/>
              </a:prstGeom>
              <a:blipFill>
                <a:blip r:embed="rId3"/>
                <a:stretch>
                  <a:fillRect/>
                </a:stretch>
              </a:blipFill>
            </p:spPr>
            <p:txBody>
              <a:bodyPr/>
              <a:lstStyle/>
              <a:p>
                <a:r>
                  <a:rPr lang="vi-VN">
                    <a:noFill/>
                  </a:rPr>
                  <a:t> </a:t>
                </a:r>
              </a:p>
            </p:txBody>
          </p:sp>
        </mc:Fallback>
      </mc:AlternateContent>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855299"/>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855299"/>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855299"/>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855299"/>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855299"/>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855299"/>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0070825" y="1802297"/>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3</m:t>
                              </m:r>
                            </m:e>
                          </m:rad>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0070825" y="1802297"/>
                <a:ext cx="940904" cy="855299"/>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8" y="1072391"/>
                <a:ext cx="940904" cy="8484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3</m:t>
                              </m:r>
                            </m:e>
                          </m:rad>
                        </m:den>
                      </m:f>
                    </m:oMath>
                  </m:oMathPara>
                </a14:m>
                <a:endParaRPr lang="vi-VN" sz="2400"/>
              </a:p>
            </p:txBody>
          </p:sp>
        </mc:Choice>
        <mc:Fallback xmlns="">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8" y="1072391"/>
                <a:ext cx="940904" cy="848437"/>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m:t>
                          </m:r>
                          <m:r>
                            <a:rPr lang="en-US" sz="2400" i="1">
                              <a:latin typeface="Cambria Math" panose="02040503050406030204" pitchFamily="18" charset="0"/>
                            </a:rPr>
                            <m:t>1</m:t>
                          </m:r>
                        </m:num>
                        <m:den>
                          <m:r>
                            <a:rPr lang="en-US" sz="2400" b="0" i="1" smtClean="0">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3</m:t>
                              </m:r>
                            </m:e>
                          </m:rad>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855299"/>
              </a:xfrm>
              <a:prstGeom prst="rect">
                <a:avLst/>
              </a:prstGeom>
              <a:blipFill>
                <a:blip r:embed="rId12"/>
                <a:stretch>
                  <a:fillRect/>
                </a:stretch>
              </a:blipFill>
            </p:spPr>
            <p:txBody>
              <a:bodyPr/>
              <a:lstStyle/>
              <a:p>
                <a:r>
                  <a:rPr lang="vi-VN">
                    <a:noFill/>
                  </a:rPr>
                  <a:t> </a:t>
                </a:r>
              </a:p>
            </p:txBody>
          </p:sp>
        </mc:Fallback>
      </mc:AlternateContent>
      <p:cxnSp>
        <p:nvCxnSpPr>
          <p:cNvPr id="35" name="Đường kết nối Mũi tên Thẳng 34">
            <a:extLst>
              <a:ext uri="{FF2B5EF4-FFF2-40B4-BE49-F238E27FC236}">
                <a16:creationId xmlns:a16="http://schemas.microsoft.com/office/drawing/2014/main" id="{D3F484ED-7DC2-4958-93A2-7310CBCCFE49}"/>
              </a:ext>
            </a:extLst>
          </p:cNvPr>
          <p:cNvCxnSpPr>
            <a:cxnSpLocks/>
          </p:cNvCxnSpPr>
          <p:nvPr/>
        </p:nvCxnSpPr>
        <p:spPr>
          <a:xfrm flipH="1" flipV="1">
            <a:off x="9866245" y="2582547"/>
            <a:ext cx="541888" cy="3644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Đường kết nối Mũi tên Thẳng 35">
            <a:extLst>
              <a:ext uri="{FF2B5EF4-FFF2-40B4-BE49-F238E27FC236}">
                <a16:creationId xmlns:a16="http://schemas.microsoft.com/office/drawing/2014/main" id="{BC3AEDB1-B385-48D5-884A-CE7BF1D87298}"/>
              </a:ext>
            </a:extLst>
          </p:cNvPr>
          <p:cNvCxnSpPr>
            <a:cxnSpLocks/>
          </p:cNvCxnSpPr>
          <p:nvPr/>
        </p:nvCxnSpPr>
        <p:spPr>
          <a:xfrm flipH="1">
            <a:off x="9866245" y="3879574"/>
            <a:ext cx="530086"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7" name="Đường kết nối Mũi tên Thẳng 36">
            <a:extLst>
              <a:ext uri="{FF2B5EF4-FFF2-40B4-BE49-F238E27FC236}">
                <a16:creationId xmlns:a16="http://schemas.microsoft.com/office/drawing/2014/main" id="{D7E31F0A-4C86-4EBA-94F6-AE533B5EBB4E}"/>
              </a:ext>
            </a:extLst>
          </p:cNvPr>
          <p:cNvCxnSpPr>
            <a:cxnSpLocks/>
          </p:cNvCxnSpPr>
          <p:nvPr/>
        </p:nvCxnSpPr>
        <p:spPr>
          <a:xfrm flipH="1">
            <a:off x="9233452" y="3415748"/>
            <a:ext cx="692427" cy="1325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Hộp Văn bản 38">
                <a:extLst>
                  <a:ext uri="{FF2B5EF4-FFF2-40B4-BE49-F238E27FC236}">
                    <a16:creationId xmlns:a16="http://schemas.microsoft.com/office/drawing/2014/main" id="{B7D0E8D1-10A8-4E3E-96CA-39155D0748EA}"/>
                  </a:ext>
                </a:extLst>
              </p:cNvPr>
              <p:cNvSpPr txBox="1"/>
              <p:nvPr/>
            </p:nvSpPr>
            <p:spPr>
              <a:xfrm>
                <a:off x="10070825" y="412474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5</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39" name="Hộp Văn bản 38">
                <a:extLst>
                  <a:ext uri="{FF2B5EF4-FFF2-40B4-BE49-F238E27FC236}">
                    <a16:creationId xmlns:a16="http://schemas.microsoft.com/office/drawing/2014/main" id="{B7D0E8D1-10A8-4E3E-96CA-39155D0748EA}"/>
                  </a:ext>
                </a:extLst>
              </p:cNvPr>
              <p:cNvSpPr txBox="1">
                <a:spLocks noRot="1" noChangeAspect="1" noMove="1" noResize="1" noEditPoints="1" noAdjustHandles="1" noChangeArrowheads="1" noChangeShapeType="1" noTextEdit="1"/>
              </p:cNvSpPr>
              <p:nvPr/>
            </p:nvSpPr>
            <p:spPr>
              <a:xfrm>
                <a:off x="10070825" y="4124742"/>
                <a:ext cx="940904" cy="855299"/>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Hộp Văn bản 39">
                <a:extLst>
                  <a:ext uri="{FF2B5EF4-FFF2-40B4-BE49-F238E27FC236}">
                    <a16:creationId xmlns:a16="http://schemas.microsoft.com/office/drawing/2014/main" id="{27290793-F020-4373-980F-095B6B4FAD28}"/>
                  </a:ext>
                </a:extLst>
              </p:cNvPr>
              <p:cNvSpPr txBox="1"/>
              <p:nvPr/>
            </p:nvSpPr>
            <p:spPr>
              <a:xfrm>
                <a:off x="9054549" y="254202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5</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40" name="Hộp Văn bản 39">
                <a:extLst>
                  <a:ext uri="{FF2B5EF4-FFF2-40B4-BE49-F238E27FC236}">
                    <a16:creationId xmlns:a16="http://schemas.microsoft.com/office/drawing/2014/main" id="{27290793-F020-4373-980F-095B6B4FAD28}"/>
                  </a:ext>
                </a:extLst>
              </p:cNvPr>
              <p:cNvSpPr txBox="1">
                <a:spLocks noRot="1" noChangeAspect="1" noMove="1" noResize="1" noEditPoints="1" noAdjustHandles="1" noChangeArrowheads="1" noChangeShapeType="1" noTextEdit="1"/>
              </p:cNvSpPr>
              <p:nvPr/>
            </p:nvSpPr>
            <p:spPr>
              <a:xfrm>
                <a:off x="9054549" y="2542020"/>
                <a:ext cx="940904" cy="855299"/>
              </a:xfrm>
              <a:prstGeom prst="rect">
                <a:avLst/>
              </a:prstGeom>
              <a:blipFill>
                <a:blip r:embed="rId14"/>
                <a:stretch>
                  <a:fillRect b="-588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2" name="Hộp Văn bản 41">
                <a:extLst>
                  <a:ext uri="{FF2B5EF4-FFF2-40B4-BE49-F238E27FC236}">
                    <a16:creationId xmlns:a16="http://schemas.microsoft.com/office/drawing/2014/main" id="{81939DC2-A15A-492D-99FD-48015EA67E9C}"/>
                  </a:ext>
                </a:extLst>
              </p:cNvPr>
              <p:cNvSpPr txBox="1"/>
              <p:nvPr/>
            </p:nvSpPr>
            <p:spPr>
              <a:xfrm>
                <a:off x="8030819" y="7254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108</m:t>
                          </m:r>
                        </m:den>
                      </m:f>
                    </m:oMath>
                  </m:oMathPara>
                </a14:m>
                <a:endParaRPr lang="vi-VN" sz="2400"/>
              </a:p>
            </p:txBody>
          </p:sp>
        </mc:Choice>
        <mc:Fallback xmlns="">
          <p:sp>
            <p:nvSpPr>
              <p:cNvPr id="42" name="Hộp Văn bản 41">
                <a:extLst>
                  <a:ext uri="{FF2B5EF4-FFF2-40B4-BE49-F238E27FC236}">
                    <a16:creationId xmlns:a16="http://schemas.microsoft.com/office/drawing/2014/main" id="{81939DC2-A15A-492D-99FD-48015EA67E9C}"/>
                  </a:ext>
                </a:extLst>
              </p:cNvPr>
              <p:cNvSpPr txBox="1">
                <a:spLocks noRot="1" noChangeAspect="1" noMove="1" noResize="1" noEditPoints="1" noAdjustHandles="1" noChangeArrowheads="1" noChangeShapeType="1" noTextEdit="1"/>
              </p:cNvSpPr>
              <p:nvPr/>
            </p:nvSpPr>
            <p:spPr>
              <a:xfrm>
                <a:off x="8030819" y="72540"/>
                <a:ext cx="940904" cy="783804"/>
              </a:xfrm>
              <a:prstGeom prst="rect">
                <a:avLst/>
              </a:prstGeom>
              <a:blipFill>
                <a:blip r:embed="rId1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Hộp Văn bản 42">
                <a:extLst>
                  <a:ext uri="{FF2B5EF4-FFF2-40B4-BE49-F238E27FC236}">
                    <a16:creationId xmlns:a16="http://schemas.microsoft.com/office/drawing/2014/main" id="{75A44E07-7528-4C5D-BC67-C942341922B2}"/>
                  </a:ext>
                </a:extLst>
              </p:cNvPr>
              <p:cNvSpPr txBox="1"/>
              <p:nvPr/>
            </p:nvSpPr>
            <p:spPr>
              <a:xfrm>
                <a:off x="8140146" y="5901633"/>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108</m:t>
                          </m:r>
                        </m:den>
                      </m:f>
                    </m:oMath>
                  </m:oMathPara>
                </a14:m>
                <a:endParaRPr lang="vi-VN" sz="2400"/>
              </a:p>
            </p:txBody>
          </p:sp>
        </mc:Choice>
        <mc:Fallback xmlns="">
          <p:sp>
            <p:nvSpPr>
              <p:cNvPr id="43" name="Hộp Văn bản 42">
                <a:extLst>
                  <a:ext uri="{FF2B5EF4-FFF2-40B4-BE49-F238E27FC236}">
                    <a16:creationId xmlns:a16="http://schemas.microsoft.com/office/drawing/2014/main" id="{75A44E07-7528-4C5D-BC67-C942341922B2}"/>
                  </a:ext>
                </a:extLst>
              </p:cNvPr>
              <p:cNvSpPr txBox="1">
                <a:spLocks noRot="1" noChangeAspect="1" noMove="1" noResize="1" noEditPoints="1" noAdjustHandles="1" noChangeArrowheads="1" noChangeShapeType="1" noTextEdit="1"/>
              </p:cNvSpPr>
              <p:nvPr/>
            </p:nvSpPr>
            <p:spPr>
              <a:xfrm>
                <a:off x="8140146" y="5901633"/>
                <a:ext cx="940904" cy="783804"/>
              </a:xfrm>
              <a:prstGeom prst="rect">
                <a:avLst/>
              </a:prstGeom>
              <a:blipFill>
                <a:blip r:embed="rId1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Hộp Văn bản 43">
                <a:extLst>
                  <a:ext uri="{FF2B5EF4-FFF2-40B4-BE49-F238E27FC236}">
                    <a16:creationId xmlns:a16="http://schemas.microsoft.com/office/drawing/2014/main" id="{E466987B-930C-4E3B-A7C4-25797C8E6023}"/>
                  </a:ext>
                </a:extLst>
              </p:cNvPr>
              <p:cNvSpPr txBox="1"/>
              <p:nvPr/>
            </p:nvSpPr>
            <p:spPr>
              <a:xfrm>
                <a:off x="5380382" y="29702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108</m:t>
                          </m:r>
                        </m:den>
                      </m:f>
                    </m:oMath>
                  </m:oMathPara>
                </a14:m>
                <a:endParaRPr lang="vi-VN" sz="2400"/>
              </a:p>
            </p:txBody>
          </p:sp>
        </mc:Choice>
        <mc:Fallback xmlns="">
          <p:sp>
            <p:nvSpPr>
              <p:cNvPr id="44" name="Hộp Văn bản 43">
                <a:extLst>
                  <a:ext uri="{FF2B5EF4-FFF2-40B4-BE49-F238E27FC236}">
                    <a16:creationId xmlns:a16="http://schemas.microsoft.com/office/drawing/2014/main" id="{E466987B-930C-4E3B-A7C4-25797C8E6023}"/>
                  </a:ext>
                </a:extLst>
              </p:cNvPr>
              <p:cNvSpPr txBox="1">
                <a:spLocks noRot="1" noChangeAspect="1" noMove="1" noResize="1" noEditPoints="1" noAdjustHandles="1" noChangeArrowheads="1" noChangeShapeType="1" noTextEdit="1"/>
              </p:cNvSpPr>
              <p:nvPr/>
            </p:nvSpPr>
            <p:spPr>
              <a:xfrm>
                <a:off x="5380382" y="2970218"/>
                <a:ext cx="940904" cy="783804"/>
              </a:xfrm>
              <a:prstGeom prst="rect">
                <a:avLst/>
              </a:prstGeom>
              <a:blipFill>
                <a:blip r:embed="rId17"/>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6" name="Hộp Văn bản 45">
                <a:extLst>
                  <a:ext uri="{FF2B5EF4-FFF2-40B4-BE49-F238E27FC236}">
                    <a16:creationId xmlns:a16="http://schemas.microsoft.com/office/drawing/2014/main" id="{ACB11BB7-F8DF-4F88-9783-DDF524B51AE3}"/>
                  </a:ext>
                </a:extLst>
              </p:cNvPr>
              <p:cNvSpPr txBox="1"/>
              <p:nvPr/>
            </p:nvSpPr>
            <p:spPr>
              <a:xfrm>
                <a:off x="11005930" y="2999267"/>
                <a:ext cx="940904"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25</m:t>
                          </m:r>
                        </m:num>
                        <m:den>
                          <m:r>
                            <a:rPr lang="en-US" sz="2400" b="0" i="1" smtClean="0">
                              <a:latin typeface="Cambria Math" panose="02040503050406030204" pitchFamily="18" charset="0"/>
                            </a:rPr>
                            <m:t>36</m:t>
                          </m:r>
                        </m:den>
                      </m:f>
                    </m:oMath>
                  </m:oMathPara>
                </a14:m>
                <a:endParaRPr lang="vi-VN" sz="2400"/>
              </a:p>
            </p:txBody>
          </p:sp>
        </mc:Choice>
        <mc:Fallback xmlns="">
          <p:sp>
            <p:nvSpPr>
              <p:cNvPr id="46" name="Hộp Văn bản 45">
                <a:extLst>
                  <a:ext uri="{FF2B5EF4-FFF2-40B4-BE49-F238E27FC236}">
                    <a16:creationId xmlns:a16="http://schemas.microsoft.com/office/drawing/2014/main" id="{ACB11BB7-F8DF-4F88-9783-DDF524B51AE3}"/>
                  </a:ext>
                </a:extLst>
              </p:cNvPr>
              <p:cNvSpPr txBox="1">
                <a:spLocks noRot="1" noChangeAspect="1" noMove="1" noResize="1" noEditPoints="1" noAdjustHandles="1" noChangeArrowheads="1" noChangeShapeType="1" noTextEdit="1"/>
              </p:cNvSpPr>
              <p:nvPr/>
            </p:nvSpPr>
            <p:spPr>
              <a:xfrm>
                <a:off x="11005930" y="2999267"/>
                <a:ext cx="940904" cy="786177"/>
              </a:xfrm>
              <a:prstGeom prst="rect">
                <a:avLst/>
              </a:prstGeom>
              <a:blipFill>
                <a:blip r:embed="rId18"/>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01D678C0-F49A-4349-9154-D6FAD240D97A}"/>
              </a:ext>
            </a:extLst>
          </p:cNvPr>
          <p:cNvSpPr>
            <a:spLocks noGrp="1"/>
          </p:cNvSpPr>
          <p:nvPr>
            <p:ph type="sldNum" sz="quarter" idx="12"/>
          </p:nvPr>
        </p:nvSpPr>
        <p:spPr/>
        <p:txBody>
          <a:bodyPr/>
          <a:lstStyle/>
          <a:p>
            <a:fld id="{EF27BFFA-55D5-419F-87EC-45C1B812D548}" type="slidenum">
              <a:rPr lang="vi-VN" smtClean="0"/>
              <a:t>46</a:t>
            </a:fld>
            <a:endParaRPr lang="vi-VN"/>
          </a:p>
        </p:txBody>
      </p:sp>
    </p:spTree>
    <p:extLst>
      <p:ext uri="{BB962C8B-B14F-4D97-AF65-F5344CB8AC3E}">
        <p14:creationId xmlns:p14="http://schemas.microsoft.com/office/powerpoint/2010/main" val="3788878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F870A8-6CCC-49C9-90B7-A824D6802C3C}"/>
              </a:ext>
            </a:extLst>
          </p:cNvPr>
          <p:cNvSpPr>
            <a:spLocks noGrp="1"/>
          </p:cNvSpPr>
          <p:nvPr>
            <p:ph type="title"/>
          </p:nvPr>
        </p:nvSpPr>
        <p:spPr>
          <a:xfrm>
            <a:off x="838200" y="51367"/>
            <a:ext cx="10515600" cy="963393"/>
          </a:xfrm>
        </p:spPr>
        <p:txBody>
          <a:bodyPr>
            <a:normAutofit/>
          </a:bodyPr>
          <a:lstStyle/>
          <a:p>
            <a:r>
              <a:rPr lang="en-US"/>
              <a:t>Tìm đường về nhà lượng tử</a:t>
            </a:r>
            <a:endParaRPr lang="vi-VN"/>
          </a:p>
        </p:txBody>
      </p:sp>
      <p:sp>
        <p:nvSpPr>
          <p:cNvPr id="6" name="Hộp Văn bản 5">
            <a:extLst>
              <a:ext uri="{FF2B5EF4-FFF2-40B4-BE49-F238E27FC236}">
                <a16:creationId xmlns:a16="http://schemas.microsoft.com/office/drawing/2014/main" id="{76942EA6-97A4-4021-A53E-68616161ADA8}"/>
              </a:ext>
            </a:extLst>
          </p:cNvPr>
          <p:cNvSpPr txBox="1"/>
          <p:nvPr/>
        </p:nvSpPr>
        <p:spPr>
          <a:xfrm>
            <a:off x="6746645" y="1014758"/>
            <a:ext cx="5011441" cy="646331"/>
          </a:xfrm>
          <a:prstGeom prst="rect">
            <a:avLst/>
          </a:prstGeom>
          <a:noFill/>
        </p:spPr>
        <p:txBody>
          <a:bodyPr wrap="square" rtlCol="0">
            <a:spAutoFit/>
          </a:bodyPr>
          <a:lstStyle/>
          <a:p>
            <a:r>
              <a:rPr lang="en-US" sz="3600"/>
              <a:t>Xác suất đi vào vị trí 2:</a:t>
            </a:r>
          </a:p>
        </p:txBody>
      </p:sp>
      <p:pic>
        <p:nvPicPr>
          <p:cNvPr id="8" name="Chỗ dành sẵn cho Nội dung 7">
            <a:extLst>
              <a:ext uri="{FF2B5EF4-FFF2-40B4-BE49-F238E27FC236}">
                <a16:creationId xmlns:a16="http://schemas.microsoft.com/office/drawing/2014/main" id="{5B04DF3B-AF75-42EA-9EE3-E188E75A4793}"/>
              </a:ext>
            </a:extLst>
          </p:cNvPr>
          <p:cNvPicPr>
            <a:picLocks noGrp="1" noChangeAspect="1"/>
          </p:cNvPicPr>
          <p:nvPr>
            <p:ph idx="1"/>
          </p:nvPr>
        </p:nvPicPr>
        <p:blipFill rotWithShape="1">
          <a:blip r:embed="rId2"/>
          <a:srcRect l="22007" t="46627" r="37646" b="18457"/>
          <a:stretch/>
        </p:blipFill>
        <p:spPr>
          <a:xfrm>
            <a:off x="433915" y="1014760"/>
            <a:ext cx="6312730" cy="3084954"/>
          </a:xfrm>
        </p:spPr>
      </p:pic>
      <p:sp>
        <p:nvSpPr>
          <p:cNvPr id="11" name="Chỗ dành sẵn cho Số hiệu Bản chiếu 10">
            <a:extLst>
              <a:ext uri="{FF2B5EF4-FFF2-40B4-BE49-F238E27FC236}">
                <a16:creationId xmlns:a16="http://schemas.microsoft.com/office/drawing/2014/main" id="{6C81663C-D263-4C35-B738-6C980C6846AC}"/>
              </a:ext>
            </a:extLst>
          </p:cNvPr>
          <p:cNvSpPr>
            <a:spLocks noGrp="1"/>
          </p:cNvSpPr>
          <p:nvPr>
            <p:ph type="sldNum" sz="quarter" idx="12"/>
          </p:nvPr>
        </p:nvSpPr>
        <p:spPr/>
        <p:txBody>
          <a:bodyPr/>
          <a:lstStyle/>
          <a:p>
            <a:fld id="{EF27BFFA-55D5-419F-87EC-45C1B812D548}" type="slidenum">
              <a:rPr lang="vi-VN" smtClean="0"/>
              <a:t>47</a:t>
            </a:fld>
            <a:endParaRPr lang="vi-VN"/>
          </a:p>
        </p:txBody>
      </p:sp>
      <p:pic>
        <p:nvPicPr>
          <p:cNvPr id="4" name="Hình ảnh 3">
            <a:extLst>
              <a:ext uri="{FF2B5EF4-FFF2-40B4-BE49-F238E27FC236}">
                <a16:creationId xmlns:a16="http://schemas.microsoft.com/office/drawing/2014/main" id="{73EE736B-A309-460F-AF15-651FF27C0E3A}"/>
              </a:ext>
            </a:extLst>
          </p:cNvPr>
          <p:cNvPicPr>
            <a:picLocks noChangeAspect="1"/>
          </p:cNvPicPr>
          <p:nvPr/>
        </p:nvPicPr>
        <p:blipFill rotWithShape="1">
          <a:blip r:embed="rId3"/>
          <a:srcRect l="16269" t="33633" r="10347" b="10181"/>
          <a:stretch>
            <a:fillRect/>
          </a:stretch>
        </p:blipFill>
        <p:spPr>
          <a:xfrm>
            <a:off x="433915" y="4099716"/>
            <a:ext cx="6220522" cy="2677657"/>
          </a:xfrm>
          <a:prstGeom prst="rect">
            <a:avLst/>
          </a:prstGeom>
        </p:spPr>
      </p:pic>
      <mc:AlternateContent xmlns:mc="http://schemas.openxmlformats.org/markup-compatibility/2006" xmlns:a14="http://schemas.microsoft.com/office/drawing/2010/main">
        <mc:Choice Requires="a14">
          <p:sp>
            <p:nvSpPr>
              <p:cNvPr id="5" name="Hộp Văn bản 4">
                <a:extLst>
                  <a:ext uri="{FF2B5EF4-FFF2-40B4-BE49-F238E27FC236}">
                    <a16:creationId xmlns:a16="http://schemas.microsoft.com/office/drawing/2014/main" id="{3386D36C-16F2-4392-92BF-D37E2DB648D5}"/>
                  </a:ext>
                </a:extLst>
              </p:cNvPr>
              <p:cNvSpPr txBox="1"/>
              <p:nvPr/>
            </p:nvSpPr>
            <p:spPr>
              <a:xfrm>
                <a:off x="2925286" y="1309518"/>
                <a:ext cx="176473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𝑁</m:t>
                      </m:r>
                      <m:r>
                        <a:rPr lang="vi-VN" sz="2800" b="0" i="1">
                          <a:latin typeface="Cambria Math" panose="02040503050406030204" pitchFamily="18" charset="0"/>
                        </a:rPr>
                        <m:t>=4</m:t>
                      </m:r>
                    </m:oMath>
                  </m:oMathPara>
                </a14:m>
                <a:endParaRPr lang="vi-VN" sz="2800" i="1"/>
              </a:p>
            </p:txBody>
          </p:sp>
        </mc:Choice>
        <mc:Fallback xmlns="">
          <p:sp>
            <p:nvSpPr>
              <p:cNvPr id="5" name="Hộp Văn bản 4">
                <a:extLst>
                  <a:ext uri="{FF2B5EF4-FFF2-40B4-BE49-F238E27FC236}">
                    <a16:creationId xmlns:a16="http://schemas.microsoft.com/office/drawing/2014/main" id="{3386D36C-16F2-4392-92BF-D37E2DB648D5}"/>
                  </a:ext>
                </a:extLst>
              </p:cNvPr>
              <p:cNvSpPr txBox="1">
                <a:spLocks noRot="1" noChangeAspect="1" noMove="1" noResize="1" noEditPoints="1" noAdjustHandles="1" noChangeArrowheads="1" noChangeShapeType="1" noTextEdit="1"/>
              </p:cNvSpPr>
              <p:nvPr/>
            </p:nvSpPr>
            <p:spPr>
              <a:xfrm>
                <a:off x="2925286" y="1309518"/>
                <a:ext cx="1764734" cy="523220"/>
              </a:xfrm>
              <a:prstGeom prst="rect">
                <a:avLst/>
              </a:prstGeom>
              <a:blipFill>
                <a:blip r:embed="rId4"/>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 name="Hộp Văn bản 4">
                <a:extLst>
                  <a:ext uri="{FF2B5EF4-FFF2-40B4-BE49-F238E27FC236}">
                    <a16:creationId xmlns:a16="http://schemas.microsoft.com/office/drawing/2014/main" id="{5B9FE417-923A-4CD8-7B7B-F997AA47EB8F}"/>
                  </a:ext>
                </a:extLst>
              </p:cNvPr>
              <p:cNvSpPr txBox="1"/>
              <p:nvPr/>
            </p:nvSpPr>
            <p:spPr>
              <a:xfrm>
                <a:off x="2867232" y="4416776"/>
                <a:ext cx="2126164"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𝑁</m:t>
                      </m:r>
                      <m:r>
                        <a:rPr lang="vi-VN" sz="3600" b="0" i="1">
                          <a:latin typeface="Cambria Math" panose="02040503050406030204" pitchFamily="18" charset="0"/>
                        </a:rPr>
                        <m:t>=100</m:t>
                      </m:r>
                    </m:oMath>
                  </m:oMathPara>
                </a14:m>
                <a:endParaRPr lang="vi-VN" sz="3600" i="1"/>
              </a:p>
            </p:txBody>
          </p:sp>
        </mc:Choice>
        <mc:Fallback xmlns="">
          <p:sp>
            <p:nvSpPr>
              <p:cNvPr id="3" name="Hộp Văn bản 4">
                <a:extLst>
                  <a:ext uri="{FF2B5EF4-FFF2-40B4-BE49-F238E27FC236}">
                    <a16:creationId xmlns:a16="http://schemas.microsoft.com/office/drawing/2014/main" id="{5B9FE417-923A-4CD8-7B7B-F997AA47EB8F}"/>
                  </a:ext>
                </a:extLst>
              </p:cNvPr>
              <p:cNvSpPr txBox="1">
                <a:spLocks noRot="1" noChangeAspect="1" noMove="1" noResize="1" noEditPoints="1" noAdjustHandles="1" noChangeArrowheads="1" noChangeShapeType="1" noTextEdit="1"/>
              </p:cNvSpPr>
              <p:nvPr/>
            </p:nvSpPr>
            <p:spPr>
              <a:xfrm>
                <a:off x="2867232" y="4416776"/>
                <a:ext cx="2126164" cy="646331"/>
              </a:xfrm>
              <a:prstGeom prst="rect">
                <a:avLst/>
              </a:prstGeom>
              <a:blipFill>
                <a:blip r:embed="rId5"/>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EE2993-902D-6055-FA1D-95074E020B59}"/>
                  </a:ext>
                </a:extLst>
              </p:cNvPr>
              <p:cNvSpPr txBox="1"/>
              <p:nvPr/>
            </p:nvSpPr>
            <p:spPr>
              <a:xfrm>
                <a:off x="6767133" y="1692317"/>
                <a:ext cx="5424868" cy="1868268"/>
              </a:xfrm>
              <a:prstGeom prst="rect">
                <a:avLst/>
              </a:prstGeom>
              <a:noFill/>
            </p:spPr>
            <p:txBody>
              <a:bodyPr wrap="square" rtlCol="0">
                <a:spAutoFit/>
              </a:bodyPr>
              <a:lstStyle/>
              <a:p>
                <a14:m>
                  <m:oMath xmlns:m="http://schemas.openxmlformats.org/officeDocument/2006/math">
                    <m:sSup>
                      <m:sSupPr>
                        <m:ctrlPr>
                          <a:rPr lang="vi-VN" sz="2800" b="0" i="1">
                            <a:latin typeface="Cambria Math" panose="02040503050406030204" pitchFamily="18" charset="0"/>
                          </a:rPr>
                        </m:ctrlPr>
                      </m:sSupPr>
                      <m:e>
                        <m:d>
                          <m:dPr>
                            <m:begChr m:val="{"/>
                            <m:endChr m:val="}"/>
                            <m:ctrlPr>
                              <a:rPr lang="vi-VN" sz="2800" b="0" i="1">
                                <a:latin typeface="Cambria Math" panose="02040503050406030204" pitchFamily="18" charset="0"/>
                              </a:rPr>
                            </m:ctrlPr>
                          </m:dPr>
                          <m:e>
                            <m:d>
                              <m:dPr>
                                <m:ctrlPr>
                                  <a:rPr lang="vi-VN" sz="2800" b="0" i="1">
                                    <a:latin typeface="Cambria Math" panose="02040503050406030204" pitchFamily="18" charset="0"/>
                                  </a:rPr>
                                </m:ctrlPr>
                              </m:dPr>
                              <m:e>
                                <m:r>
                                  <a:rPr lang="vi-VN" sz="2800" i="1">
                                    <a:latin typeface="Cambria Math" panose="02040503050406030204" pitchFamily="18" charset="0"/>
                                  </a:rPr>
                                  <m:t>𝑁</m:t>
                                </m:r>
                                <m:r>
                                  <a:rPr lang="vi-VN" sz="2800" b="0" i="1">
                                    <a:latin typeface="Cambria Math" panose="02040503050406030204" pitchFamily="18" charset="0"/>
                                  </a:rPr>
                                  <m:t>−1</m:t>
                                </m:r>
                              </m:e>
                            </m:d>
                            <m:d>
                              <m:dPr>
                                <m:begChr m:val="["/>
                                <m:endChr m:val="]"/>
                                <m:ctrlPr>
                                  <a:rPr lang="vi-VN" sz="2800" b="0" i="1">
                                    <a:latin typeface="Cambria Math" panose="02040503050406030204" pitchFamily="18" charset="0"/>
                                  </a:rPr>
                                </m:ctrlPr>
                              </m:dPr>
                              <m:e>
                                <m:r>
                                  <a:rPr lang="vi-VN" sz="2800" i="1">
                                    <a:latin typeface="Cambria Math" panose="02040503050406030204" pitchFamily="18" charset="0"/>
                                  </a:rPr>
                                  <m:t>𝑐𝑜𝑠</m:t>
                                </m:r>
                                <m:d>
                                  <m:dPr>
                                    <m:ctrlPr>
                                      <a:rPr lang="vi-VN" sz="2800" b="0" i="1">
                                        <a:latin typeface="Cambria Math" panose="02040503050406030204" pitchFamily="18" charset="0"/>
                                      </a:rPr>
                                    </m:ctrlPr>
                                  </m:dPr>
                                  <m:e>
                                    <m:r>
                                      <a:rPr lang="vi-VN" sz="2800" b="0" i="1">
                                        <a:latin typeface="Cambria Math" panose="02040503050406030204" pitchFamily="18" charset="0"/>
                                      </a:rPr>
                                      <m:t>𝜙</m:t>
                                    </m:r>
                                    <m:r>
                                      <a:rPr lang="vi-VN" sz="2800" i="1">
                                        <a:latin typeface="Cambria Math" panose="02040503050406030204" pitchFamily="18" charset="0"/>
                                      </a:rPr>
                                      <m:t>𝑡</m:t>
                                    </m:r>
                                  </m:e>
                                </m:d>
                                <m:r>
                                  <a:rPr lang="vi-VN" sz="2800" b="0" i="1">
                                    <a:latin typeface="Cambria Math" panose="02040503050406030204" pitchFamily="18" charset="0"/>
                                  </a:rPr>
                                  <m:t>+</m:t>
                                </m:r>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r>
                                      <a:rPr lang="vi-VN" sz="2800" i="1">
                                        <a:latin typeface="Cambria Math" panose="02040503050406030204" pitchFamily="18" charset="0"/>
                                      </a:rPr>
                                      <m:t>𝑁</m:t>
                                    </m:r>
                                    <m:r>
                                      <a:rPr lang="vi-VN" sz="2800" b="0" i="1">
                                        <a:latin typeface="Cambria Math" panose="02040503050406030204" pitchFamily="18" charset="0"/>
                                      </a:rPr>
                                      <m:t>−3</m:t>
                                    </m:r>
                                  </m:e>
                                </m:rad>
                                <m:r>
                                  <a:rPr lang="vi-VN" sz="2800" i="1">
                                    <a:latin typeface="Cambria Math" panose="02040503050406030204" pitchFamily="18" charset="0"/>
                                  </a:rPr>
                                  <m:t>𝑠𝑖𝑛</m:t>
                                </m:r>
                                <m:d>
                                  <m:dPr>
                                    <m:ctrlPr>
                                      <a:rPr lang="vi-VN" sz="2800" b="0" i="1">
                                        <a:latin typeface="Cambria Math" panose="02040503050406030204" pitchFamily="18" charset="0"/>
                                      </a:rPr>
                                    </m:ctrlPr>
                                  </m:dPr>
                                  <m:e>
                                    <m:r>
                                      <a:rPr lang="vi-VN" sz="2800" b="0" i="1">
                                        <a:latin typeface="Cambria Math" panose="02040503050406030204" pitchFamily="18" charset="0"/>
                                      </a:rPr>
                                      <m:t>𝜙</m:t>
                                    </m:r>
                                    <m:r>
                                      <a:rPr lang="vi-VN" sz="2800" i="1">
                                        <a:latin typeface="Cambria Math" panose="02040503050406030204" pitchFamily="18" charset="0"/>
                                      </a:rPr>
                                      <m:t>𝑡</m:t>
                                    </m:r>
                                  </m:e>
                                </m:d>
                              </m:e>
                            </m:d>
                          </m:e>
                        </m:d>
                      </m:e>
                      <m:sup>
                        <m:r>
                          <a:rPr lang="vi-VN" sz="2800" b="0" i="1">
                            <a:latin typeface="Cambria Math" panose="02040503050406030204" pitchFamily="18" charset="0"/>
                          </a:rPr>
                          <m:t>2</m:t>
                        </m:r>
                      </m:sup>
                    </m:sSup>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sSup>
                          <m:sSupPr>
                            <m:ctrlPr>
                              <a:rPr lang="vi-VN" sz="2800" b="0" i="1">
                                <a:latin typeface="Cambria Math" panose="02040503050406030204" pitchFamily="18" charset="0"/>
                              </a:rPr>
                            </m:ctrlPr>
                          </m:sSupPr>
                          <m:e>
                            <m:d>
                              <m:dPr>
                                <m:ctrlPr>
                                  <a:rPr lang="vi-VN" sz="2800" b="0" i="1">
                                    <a:latin typeface="Cambria Math" panose="02040503050406030204" pitchFamily="18" charset="0"/>
                                  </a:rPr>
                                </m:ctrlPr>
                              </m:dPr>
                              <m:e>
                                <m:r>
                                  <a:rPr lang="vi-VN" sz="2800" b="0" i="1">
                                    <a:latin typeface="Cambria Math" panose="02040503050406030204" pitchFamily="18" charset="0"/>
                                  </a:rPr>
                                  <m:t>2</m:t>
                                </m:r>
                                <m:r>
                                  <a:rPr lang="vi-VN" sz="2800" i="1">
                                    <a:latin typeface="Cambria Math" panose="02040503050406030204" pitchFamily="18" charset="0"/>
                                  </a:rPr>
                                  <m:t>𝑁</m:t>
                                </m:r>
                                <m:r>
                                  <a:rPr lang="vi-VN" sz="2800" b="0" i="1">
                                    <a:latin typeface="Cambria Math" panose="02040503050406030204" pitchFamily="18" charset="0"/>
                                  </a:rPr>
                                  <m:t>−3</m:t>
                                </m:r>
                              </m:e>
                            </m:d>
                          </m:e>
                          <m:sup>
                            <m:r>
                              <a:rPr lang="vi-VN" sz="2800" b="0" i="1">
                                <a:latin typeface="Cambria Math" panose="02040503050406030204" pitchFamily="18" charset="0"/>
                              </a:rPr>
                              <m:t>2</m:t>
                            </m:r>
                          </m:sup>
                        </m:sSup>
                        <m:r>
                          <a:rPr lang="vi-VN" sz="2800" i="1">
                            <a:latin typeface="Cambria Math" panose="02040503050406030204" pitchFamily="18" charset="0"/>
                          </a:rPr>
                          <m:t>𝑁</m:t>
                        </m:r>
                      </m:e>
                    </m:d>
                  </m:oMath>
                </a14:m>
                <a:r>
                  <a:rPr lang="en-VN" sz="2800" i="1"/>
                  <a:t> </a:t>
                </a:r>
                <a:r>
                  <a:rPr lang="en-VN" sz="2800"/>
                  <a:t>với</a:t>
                </a:r>
                <a:r>
                  <a:rPr lang="en-VN" sz="2800" i="1"/>
                  <a:t> </a:t>
                </a:r>
                <a14:m>
                  <m:oMath xmlns:m="http://schemas.openxmlformats.org/officeDocument/2006/math">
                    <m:r>
                      <a:rPr lang="vi-VN" sz="2800" b="0" i="1">
                        <a:latin typeface="Cambria Math" panose="02040503050406030204" pitchFamily="18" charset="0"/>
                      </a:rPr>
                      <m:t>𝜙</m:t>
                    </m:r>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𝑠𝑖𝑛</m:t>
                        </m:r>
                      </m:e>
                      <m:sup>
                        <m:r>
                          <a:rPr lang="vi-VN" sz="2800" b="0" i="1">
                            <a:latin typeface="Cambria Math" panose="02040503050406030204" pitchFamily="18" charset="0"/>
                          </a:rPr>
                          <m:t>−1</m:t>
                        </m:r>
                      </m:sup>
                    </m:sSup>
                    <m:d>
                      <m:dPr>
                        <m:ctrlPr>
                          <a:rPr lang="vi-VN" sz="2800" b="0" i="1">
                            <a:latin typeface="Cambria Math" panose="02040503050406030204" pitchFamily="18" charset="0"/>
                          </a:rPr>
                        </m:ctrlPr>
                      </m:dPr>
                      <m:e>
                        <m:f>
                          <m:fPr>
                            <m:ctrlPr>
                              <a:rPr lang="vi-VN" sz="2800" b="0" i="1">
                                <a:latin typeface="Cambria Math" panose="02040503050406030204" pitchFamily="18" charset="0"/>
                              </a:rPr>
                            </m:ctrlPr>
                          </m:fPr>
                          <m:num>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r>
                                  <a:rPr lang="vi-VN" sz="2800" i="1">
                                    <a:latin typeface="Cambria Math" panose="02040503050406030204" pitchFamily="18" charset="0"/>
                                  </a:rPr>
                                  <m:t>𝑁</m:t>
                                </m:r>
                                <m:r>
                                  <a:rPr lang="vi-VN" sz="2800" b="0" i="1">
                                    <a:latin typeface="Cambria Math" panose="02040503050406030204" pitchFamily="18" charset="0"/>
                                  </a:rPr>
                                  <m:t>−3</m:t>
                                </m:r>
                              </m:e>
                            </m:rad>
                          </m:num>
                          <m:den>
                            <m:r>
                              <a:rPr lang="vi-VN" sz="2800" i="1">
                                <a:latin typeface="Cambria Math" panose="02040503050406030204" pitchFamily="18" charset="0"/>
                              </a:rPr>
                              <m:t>𝑁</m:t>
                            </m:r>
                            <m:r>
                              <a:rPr lang="vi-VN" sz="2800" b="0" i="1">
                                <a:latin typeface="Cambria Math" panose="02040503050406030204" pitchFamily="18" charset="0"/>
                              </a:rPr>
                              <m:t>−1</m:t>
                            </m:r>
                          </m:den>
                        </m:f>
                      </m:e>
                    </m:d>
                  </m:oMath>
                </a14:m>
                <a:endParaRPr lang="en-VN" sz="2800" i="1"/>
              </a:p>
            </p:txBody>
          </p:sp>
        </mc:Choice>
        <mc:Fallback xmlns="">
          <p:sp>
            <p:nvSpPr>
              <p:cNvPr id="7" name="TextBox 6">
                <a:extLst>
                  <a:ext uri="{FF2B5EF4-FFF2-40B4-BE49-F238E27FC236}">
                    <a16:creationId xmlns:a16="http://schemas.microsoft.com/office/drawing/2014/main" id="{7BEE2993-902D-6055-FA1D-95074E020B59}"/>
                  </a:ext>
                </a:extLst>
              </p:cNvPr>
              <p:cNvSpPr txBox="1">
                <a:spLocks noRot="1" noChangeAspect="1" noMove="1" noResize="1" noEditPoints="1" noAdjustHandles="1" noChangeArrowheads="1" noChangeShapeType="1" noTextEdit="1"/>
              </p:cNvSpPr>
              <p:nvPr/>
            </p:nvSpPr>
            <p:spPr>
              <a:xfrm>
                <a:off x="6767133" y="1692317"/>
                <a:ext cx="5424868" cy="1868268"/>
              </a:xfrm>
              <a:prstGeom prst="rect">
                <a:avLst/>
              </a:prstGeom>
              <a:blipFill>
                <a:blip r:embed="rId6"/>
                <a:stretch>
                  <a:fillRect l="-14219" t="-52703" b="-40541"/>
                </a:stretch>
              </a:blipFill>
            </p:spPr>
            <p:txBody>
              <a:bodyPr/>
              <a:lstStyle/>
              <a:p>
                <a:r>
                  <a:rPr lang="en-VN">
                    <a:noFill/>
                  </a:rPr>
                  <a:t> </a:t>
                </a:r>
              </a:p>
            </p:txBody>
          </p:sp>
        </mc:Fallback>
      </mc:AlternateContent>
    </p:spTree>
    <p:extLst>
      <p:ext uri="{BB962C8B-B14F-4D97-AF65-F5344CB8AC3E}">
        <p14:creationId xmlns:p14="http://schemas.microsoft.com/office/powerpoint/2010/main" val="6234615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04F7-AFF2-B514-ED8B-F0F049A69F6B}"/>
              </a:ext>
            </a:extLst>
          </p:cNvPr>
          <p:cNvSpPr>
            <a:spLocks noGrp="1"/>
          </p:cNvSpPr>
          <p:nvPr>
            <p:ph type="title"/>
          </p:nvPr>
        </p:nvSpPr>
        <p:spPr>
          <a:xfrm>
            <a:off x="838200" y="2766218"/>
            <a:ext cx="10515600" cy="1325563"/>
          </a:xfrm>
        </p:spPr>
        <p:txBody>
          <a:bodyPr/>
          <a:lstStyle/>
          <a:p>
            <a:r>
              <a:rPr lang="en-VN"/>
              <a:t>Thank you!</a:t>
            </a:r>
          </a:p>
        </p:txBody>
      </p:sp>
      <p:sp>
        <p:nvSpPr>
          <p:cNvPr id="4" name="Slide Number Placeholder 3">
            <a:extLst>
              <a:ext uri="{FF2B5EF4-FFF2-40B4-BE49-F238E27FC236}">
                <a16:creationId xmlns:a16="http://schemas.microsoft.com/office/drawing/2014/main" id="{5540EA63-CFB9-AC5B-461A-439C814A5A92}"/>
              </a:ext>
            </a:extLst>
          </p:cNvPr>
          <p:cNvSpPr>
            <a:spLocks noGrp="1"/>
          </p:cNvSpPr>
          <p:nvPr>
            <p:ph type="sldNum" sz="quarter" idx="12"/>
          </p:nvPr>
        </p:nvSpPr>
        <p:spPr/>
        <p:txBody>
          <a:bodyPr/>
          <a:lstStyle/>
          <a:p>
            <a:fld id="{95CF7CBD-B9A5-4D53-9D65-FFCCF7EF1299}" type="slidenum">
              <a:rPr lang="vi-VN" smtClean="0"/>
              <a:t>48</a:t>
            </a:fld>
            <a:endParaRPr lang="vi-VN"/>
          </a:p>
        </p:txBody>
      </p:sp>
    </p:spTree>
    <p:extLst>
      <p:ext uri="{BB962C8B-B14F-4D97-AF65-F5344CB8AC3E}">
        <p14:creationId xmlns:p14="http://schemas.microsoft.com/office/powerpoint/2010/main" val="1807114131"/>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4919</TotalTime>
  <Words>1685</Words>
  <Application>Microsoft Macintosh PowerPoint</Application>
  <PresentationFormat>Widescreen</PresentationFormat>
  <Paragraphs>571</Paragraphs>
  <Slides>48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(Thân)</vt:lpstr>
      <vt:lpstr>Cambria</vt:lpstr>
      <vt:lpstr>Cambria Math</vt:lpstr>
      <vt:lpstr>Times New Roman</vt:lpstr>
      <vt:lpstr>Chủ đề Office</vt:lpstr>
      <vt:lpstr>Tính toán cổ điển, xác suất và  lượng tử</vt:lpstr>
      <vt:lpstr>Về tôi</vt:lpstr>
      <vt:lpstr>Bi xanh, bi đỏ, bi vàng</vt:lpstr>
      <vt:lpstr>Bi xanh, bi đỏ, bi vàng</vt:lpstr>
      <vt:lpstr>Bi xanh, bi đỏ, bi vàng</vt:lpstr>
      <vt:lpstr>Bi xanh, bi đỏ, bi vàng xác suất</vt:lpstr>
      <vt:lpstr>Bi xanh, bi đỏ, bi vàng xác suất</vt:lpstr>
      <vt:lpstr>Bi lượng tử</vt:lpstr>
      <vt:lpstr>Bi lượng tử</vt:lpstr>
      <vt:lpstr>PowerPoint Presentation</vt:lpstr>
      <vt:lpstr>Máy Turing cổ điển (đơn định)</vt:lpstr>
      <vt:lpstr>Máy Turing không đơn định</vt:lpstr>
      <vt:lpstr>Máy Turing lượng tử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Máy Turing không đơn định</vt:lpstr>
      <vt:lpstr>PowerPoint Presentation</vt:lpstr>
      <vt:lpstr>PowerPoint Presentation</vt:lpstr>
      <vt:lpstr>PowerPoint Presentation</vt:lpstr>
      <vt:lpstr>PowerPoint Presentation</vt:lpstr>
      <vt:lpstr>PowerPoint Presentation</vt:lpstr>
      <vt:lpstr>Nhiều bài toán máy Turing đơn định gần như không thể giải chính xác</vt:lpstr>
      <vt:lpstr>PowerPoint Presentation</vt:lpstr>
      <vt:lpstr>PowerPoint Presentation</vt:lpstr>
      <vt:lpstr>PowerPoint Presentation</vt:lpstr>
      <vt:lpstr>PowerPoint Presentation</vt:lpstr>
      <vt:lpstr>Tìm đường về nhà</vt:lpstr>
      <vt:lpstr>Tìm đường về nhà</vt:lpstr>
      <vt:lpstr>Tìm đường về nhà</vt:lpstr>
      <vt:lpstr>Tìm đường về nhà</vt:lpstr>
      <vt:lpstr>Tìm đường về nhà</vt:lpstr>
      <vt:lpstr>Tìm đường về nhà</vt:lpstr>
      <vt:lpstr>Tìm đường về nhà</vt:lpstr>
      <vt:lpstr>Tìm đường về nhà</vt:lpstr>
      <vt:lpstr>Tìm đường về nhà</vt:lpstr>
      <vt:lpstr>Tìm đường về nhà lượng tử</vt:lpstr>
      <vt:lpstr>Tìm đường về nhà lượng tử</vt:lpstr>
      <vt:lpstr>Tìm đường về nhà lượng tử</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markov</dc:title>
  <dc:creator>Tuan Hai</dc:creator>
  <cp:lastModifiedBy>Tuan Hai Vu</cp:lastModifiedBy>
  <cp:revision>26</cp:revision>
  <dcterms:created xsi:type="dcterms:W3CDTF">2021-08-20T01:36:07Z</dcterms:created>
  <dcterms:modified xsi:type="dcterms:W3CDTF">2026-07-18T02:20:21Z</dcterms:modified>
</cp:coreProperties>
</file>