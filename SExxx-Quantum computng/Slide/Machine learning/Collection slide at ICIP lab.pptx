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3"/>
  </p:notesMasterIdLst>
  <p:sldIdLst>
    <p:sldId id="346" r:id="rId2"/>
    <p:sldId id="347" r:id="rId3"/>
    <p:sldId id="348" r:id="rId4"/>
    <p:sldId id="349" r:id="rId5"/>
    <p:sldId id="350" r:id="rId6"/>
    <p:sldId id="351" r:id="rId7"/>
    <p:sldId id="352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363" r:id="rId19"/>
    <p:sldId id="364" r:id="rId20"/>
    <p:sldId id="365" r:id="rId21"/>
    <p:sldId id="366" r:id="rId22"/>
    <p:sldId id="335" r:id="rId23"/>
    <p:sldId id="336" r:id="rId24"/>
    <p:sldId id="337" r:id="rId25"/>
    <p:sldId id="338" r:id="rId26"/>
    <p:sldId id="339" r:id="rId27"/>
    <p:sldId id="340" r:id="rId28"/>
    <p:sldId id="341" r:id="rId29"/>
    <p:sldId id="342" r:id="rId30"/>
    <p:sldId id="343" r:id="rId31"/>
    <p:sldId id="344" r:id="rId32"/>
    <p:sldId id="345" r:id="rId33"/>
    <p:sldId id="320" r:id="rId34"/>
    <p:sldId id="321" r:id="rId35"/>
    <p:sldId id="322" r:id="rId36"/>
    <p:sldId id="323" r:id="rId37"/>
    <p:sldId id="324" r:id="rId38"/>
    <p:sldId id="325" r:id="rId39"/>
    <p:sldId id="326" r:id="rId40"/>
    <p:sldId id="327" r:id="rId41"/>
    <p:sldId id="328" r:id="rId42"/>
    <p:sldId id="329" r:id="rId43"/>
    <p:sldId id="330" r:id="rId44"/>
    <p:sldId id="331" r:id="rId45"/>
    <p:sldId id="332" r:id="rId46"/>
    <p:sldId id="333" r:id="rId47"/>
    <p:sldId id="334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294" r:id="rId65"/>
    <p:sldId id="295" r:id="rId66"/>
    <p:sldId id="296" r:id="rId67"/>
    <p:sldId id="297" r:id="rId68"/>
    <p:sldId id="298" r:id="rId69"/>
    <p:sldId id="299" r:id="rId70"/>
    <p:sldId id="300" r:id="rId71"/>
    <p:sldId id="301" r:id="rId72"/>
    <p:sldId id="302" r:id="rId73"/>
    <p:sldId id="303" r:id="rId74"/>
    <p:sldId id="281" r:id="rId75"/>
    <p:sldId id="282" r:id="rId76"/>
    <p:sldId id="283" r:id="rId77"/>
    <p:sldId id="284" r:id="rId78"/>
    <p:sldId id="285" r:id="rId79"/>
    <p:sldId id="286" r:id="rId80"/>
    <p:sldId id="287" r:id="rId81"/>
    <p:sldId id="288" r:id="rId82"/>
    <p:sldId id="289" r:id="rId83"/>
    <p:sldId id="290" r:id="rId84"/>
    <p:sldId id="291" r:id="rId85"/>
    <p:sldId id="292" r:id="rId86"/>
    <p:sldId id="293" r:id="rId87"/>
    <p:sldId id="256" r:id="rId88"/>
    <p:sldId id="260" r:id="rId89"/>
    <p:sldId id="261" r:id="rId90"/>
    <p:sldId id="265" r:id="rId91"/>
    <p:sldId id="273" r:id="rId92"/>
    <p:sldId id="274" r:id="rId93"/>
    <p:sldId id="275" r:id="rId94"/>
    <p:sldId id="276" r:id="rId95"/>
    <p:sldId id="277" r:id="rId96"/>
    <p:sldId id="278" r:id="rId97"/>
    <p:sldId id="279" r:id="rId98"/>
    <p:sldId id="280" r:id="rId99"/>
    <p:sldId id="263" r:id="rId100"/>
    <p:sldId id="264" r:id="rId101"/>
    <p:sldId id="262" r:id="rId102"/>
    <p:sldId id="267" r:id="rId103"/>
    <p:sldId id="257" r:id="rId104"/>
    <p:sldId id="258" r:id="rId105"/>
    <p:sldId id="259" r:id="rId106"/>
    <p:sldId id="270" r:id="rId107"/>
    <p:sldId id="266" r:id="rId108"/>
    <p:sldId id="272" r:id="rId109"/>
    <p:sldId id="268" r:id="rId110"/>
    <p:sldId id="269" r:id="rId111"/>
    <p:sldId id="271" r:id="rId1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5169" autoAdjust="0"/>
    <p:restoredTop sz="86000" autoAdjust="0"/>
  </p:normalViewPr>
  <p:slideViewPr>
    <p:cSldViewPr snapToGrid="0">
      <p:cViewPr varScale="1">
        <p:scale>
          <a:sx n="41" d="100"/>
          <a:sy n="41" d="100"/>
        </p:scale>
        <p:origin x="208" y="1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ableStyles" Target="tableStyle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93EBD2-C0AB-48EF-AD7E-7F62463FD496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B65C3E-1FF3-406A-A9C5-49101B203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89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Activated part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ở </a:t>
            </a:r>
            <a:r>
              <a:rPr lang="en-US" dirty="0" err="1"/>
              <a:t>gân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ở </a:t>
            </a:r>
            <a:r>
              <a:rPr lang="en-US" dirty="0" err="1"/>
              <a:t>gân</a:t>
            </a:r>
            <a:r>
              <a:rPr lang="en-US" dirty="0"/>
              <a:t> </a:t>
            </a:r>
            <a:r>
              <a:rPr lang="en-US" dirty="0" err="1"/>
              <a:t>lá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tán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-&gt;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gân</a:t>
            </a:r>
            <a:r>
              <a:rPr lang="en-US" dirty="0"/>
              <a:t> </a:t>
            </a:r>
            <a:r>
              <a:rPr lang="en-US" dirty="0" err="1"/>
              <a:t>lá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kì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khác</a:t>
            </a:r>
            <a:endParaRPr lang="en-US" dirty="0"/>
          </a:p>
          <a:p>
            <a:r>
              <a:rPr lang="en-US" dirty="0" err="1"/>
              <a:t>Thảo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:</a:t>
            </a:r>
          </a:p>
          <a:p>
            <a:pPr marL="342900" indent="-342900">
              <a:buAutoNum type="arabicPeriod"/>
            </a:pP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duy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lá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,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loài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họ</a:t>
            </a:r>
            <a:r>
              <a:rPr lang="en-US" dirty="0"/>
              <a:t> hay chi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counter </a:t>
            </a:r>
            <a:r>
              <a:rPr lang="en-US" dirty="0" err="1"/>
              <a:t>giống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gân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xuyên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(</a:t>
            </a:r>
            <a:r>
              <a:rPr lang="en-US" dirty="0" err="1"/>
              <a:t>gân</a:t>
            </a:r>
            <a:r>
              <a:rPr lang="en-US" dirty="0"/>
              <a:t> </a:t>
            </a:r>
            <a:r>
              <a:rPr lang="en-US" dirty="0" err="1"/>
              <a:t>lá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gân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)</a:t>
            </a:r>
          </a:p>
          <a:p>
            <a:pPr marL="342900" indent="-342900">
              <a:buAutoNum type="arabicPeriod"/>
            </a:pP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9BE77-B6CB-4AFC-9E95-9CD04CD10AA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857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D1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giàu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7 </a:t>
            </a:r>
            <a:r>
              <a:rPr lang="en-US" dirty="0" err="1"/>
              <a:t>góc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: 45, 90, 135, 180, 225, 270 </a:t>
            </a:r>
            <a:r>
              <a:rPr lang="en-US" dirty="0" err="1"/>
              <a:t>và</a:t>
            </a:r>
            <a:r>
              <a:rPr lang="en-US" dirty="0"/>
              <a:t> 315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528 image for testing </a:t>
            </a:r>
            <a:r>
              <a:rPr lang="en-US" dirty="0" err="1"/>
              <a:t>và</a:t>
            </a:r>
            <a:r>
              <a:rPr lang="en-US" dirty="0"/>
              <a:t> 2288 image for training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D2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cắt</a:t>
            </a:r>
            <a:r>
              <a:rPr lang="en-US" dirty="0"/>
              <a:t> </a:t>
            </a:r>
            <a:r>
              <a:rPr lang="en-US" dirty="0" err="1"/>
              <a:t>tay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D1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patch (500x500, 400x400, 256x256)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giàu</a:t>
            </a:r>
            <a:r>
              <a:rPr lang="en-US" dirty="0"/>
              <a:t> D2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D1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8800 image for testing </a:t>
            </a:r>
            <a:r>
              <a:rPr lang="en-US" dirty="0" err="1"/>
              <a:t>và</a:t>
            </a:r>
            <a:r>
              <a:rPr lang="en-US" dirty="0"/>
              <a:t> 34672 image for training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9BE77-B6CB-4AFC-9E95-9CD04CD10AA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4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Tấm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4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layer 1. </a:t>
            </a:r>
          </a:p>
          <a:p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thảy</a:t>
            </a:r>
            <a:r>
              <a:rPr lang="en-US" dirty="0"/>
              <a:t> </a:t>
            </a:r>
            <a:r>
              <a:rPr lang="en-US" dirty="0" err="1"/>
              <a:t>rằng</a:t>
            </a:r>
            <a:r>
              <a:rPr lang="en-US" dirty="0"/>
              <a:t> layer 1 </a:t>
            </a:r>
            <a:r>
              <a:rPr lang="en-US" dirty="0" err="1"/>
              <a:t>trích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low-level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màu</a:t>
            </a:r>
            <a:r>
              <a:rPr lang="en-US" dirty="0"/>
              <a:t> </a:t>
            </a:r>
            <a:r>
              <a:rPr lang="en-US" dirty="0" err="1"/>
              <a:t>sắc</a:t>
            </a:r>
            <a:endParaRPr lang="en-US" dirty="0"/>
          </a:p>
          <a:p>
            <a:r>
              <a:rPr lang="en-US" dirty="0"/>
              <a:t>Layer 2-4,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tấm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4, </a:t>
            </a: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thấy</a:t>
            </a:r>
            <a:r>
              <a:rPr lang="en-US" dirty="0"/>
              <a:t> 2 patch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training </a:t>
            </a:r>
            <a:r>
              <a:rPr lang="en-US" dirty="0" err="1"/>
              <a:t>mà</a:t>
            </a:r>
            <a:r>
              <a:rPr lang="en-US" dirty="0"/>
              <a:t> activation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channel </a:t>
            </a:r>
            <a:r>
              <a:rPr lang="en-US" dirty="0" err="1"/>
              <a:t>trong</a:t>
            </a:r>
            <a:r>
              <a:rPr lang="en-US" dirty="0"/>
              <a:t> layer 2-4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9BE77-B6CB-4AFC-9E95-9CD04CD10AA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8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Hình</a:t>
            </a:r>
            <a:r>
              <a:rPr lang="en-US" dirty="0"/>
              <a:t> 6 </a:t>
            </a:r>
            <a:r>
              <a:rPr lang="en-US" dirty="0" err="1"/>
              <a:t>là</a:t>
            </a:r>
            <a:r>
              <a:rPr lang="en-US" dirty="0"/>
              <a:t> convolutional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nó</a:t>
            </a:r>
            <a:endParaRPr lang="en-US" dirty="0"/>
          </a:p>
          <a:p>
            <a:r>
              <a:rPr lang="en-US" dirty="0" err="1"/>
              <a:t>Từ</a:t>
            </a:r>
            <a:r>
              <a:rPr lang="en-US" baseline="0" dirty="0"/>
              <a:t> a -&gt; c </a:t>
            </a:r>
            <a:r>
              <a:rPr lang="en-US" baseline="0" dirty="0" err="1"/>
              <a:t>cho</a:t>
            </a:r>
            <a:r>
              <a:rPr lang="en-US" baseline="0" dirty="0"/>
              <a:t> </a:t>
            </a:r>
            <a:r>
              <a:rPr lang="en-US" baseline="0" dirty="0" err="1"/>
              <a:t>thấy</a:t>
            </a:r>
            <a:r>
              <a:rPr lang="en-US" baseline="0" dirty="0"/>
              <a:t> </a:t>
            </a:r>
            <a:r>
              <a:rPr lang="en-US" baseline="0" dirty="0" err="1"/>
              <a:t>neurol</a:t>
            </a:r>
            <a:r>
              <a:rPr lang="en-US" baseline="0" dirty="0"/>
              <a:t> activated </a:t>
            </a:r>
            <a:r>
              <a:rPr lang="en-US" baseline="0" dirty="0" err="1"/>
              <a:t>phiến</a:t>
            </a:r>
            <a:r>
              <a:rPr lang="en-US" baseline="0" dirty="0"/>
              <a:t> </a:t>
            </a:r>
            <a:r>
              <a:rPr lang="en-US" baseline="0" dirty="0" err="1"/>
              <a:t>lá</a:t>
            </a:r>
            <a:r>
              <a:rPr lang="en-US" baseline="0" dirty="0"/>
              <a:t>, chop </a:t>
            </a:r>
            <a:r>
              <a:rPr lang="en-US" baseline="0" dirty="0" err="1"/>
              <a:t>lá</a:t>
            </a:r>
            <a:r>
              <a:rPr lang="en-US" baseline="0" dirty="0"/>
              <a:t> </a:t>
            </a:r>
            <a:r>
              <a:rPr lang="en-US" baseline="0" dirty="0" err="1"/>
              <a:t>và</a:t>
            </a:r>
            <a:r>
              <a:rPr lang="en-US" baseline="0" dirty="0"/>
              <a:t> </a:t>
            </a:r>
            <a:r>
              <a:rPr lang="en-US" baseline="0" dirty="0" err="1"/>
              <a:t>trong</a:t>
            </a:r>
            <a:r>
              <a:rPr lang="en-US" baseline="0" dirty="0"/>
              <a:t> </a:t>
            </a:r>
            <a:r>
              <a:rPr lang="en-US" baseline="0" dirty="0" err="1"/>
              <a:t>vùng</a:t>
            </a:r>
            <a:r>
              <a:rPr lang="en-US" baseline="0" dirty="0"/>
              <a:t> </a:t>
            </a:r>
            <a:r>
              <a:rPr lang="en-US" baseline="0" dirty="0" err="1"/>
              <a:t>phiến</a:t>
            </a:r>
            <a:r>
              <a:rPr lang="en-US" baseline="0" dirty="0"/>
              <a:t> </a:t>
            </a:r>
            <a:r>
              <a:rPr lang="en-US" baseline="0" dirty="0" err="1"/>
              <a:t>lá</a:t>
            </a:r>
            <a:r>
              <a:rPr lang="en-US" baseline="0" dirty="0"/>
              <a:t> </a:t>
            </a:r>
            <a:r>
              <a:rPr lang="en-US" baseline="0" dirty="0" err="1"/>
              <a:t>nhất</a:t>
            </a:r>
            <a:r>
              <a:rPr lang="en-US" baseline="0" dirty="0"/>
              <a:t> </a:t>
            </a:r>
            <a:r>
              <a:rPr lang="en-US" baseline="0" dirty="0" err="1"/>
              <a:t>định</a:t>
            </a:r>
            <a:r>
              <a:rPr lang="en-US" baseline="0" dirty="0"/>
              <a:t> </a:t>
            </a:r>
            <a:r>
              <a:rPr lang="en-US" baseline="0" dirty="0" err="1"/>
              <a:t>tương</a:t>
            </a:r>
            <a:r>
              <a:rPr lang="en-US" baseline="0" dirty="0"/>
              <a:t> </a:t>
            </a:r>
            <a:r>
              <a:rPr lang="en-US" baseline="0" dirty="0" err="1"/>
              <a:t>ứng</a:t>
            </a:r>
            <a:endParaRPr lang="en-US" baseline="0" dirty="0"/>
          </a:p>
          <a:p>
            <a:r>
              <a:rPr lang="en-US" baseline="0" dirty="0" err="1"/>
              <a:t>Dựa</a:t>
            </a:r>
            <a:r>
              <a:rPr lang="en-US" baseline="0" dirty="0"/>
              <a:t> </a:t>
            </a:r>
            <a:r>
              <a:rPr lang="en-US" baseline="0" dirty="0" err="1"/>
              <a:t>vào</a:t>
            </a:r>
            <a:r>
              <a:rPr lang="en-US" baseline="0" dirty="0"/>
              <a:t> </a:t>
            </a:r>
            <a:r>
              <a:rPr lang="en-US" baseline="0" dirty="0" err="1"/>
              <a:t>việc</a:t>
            </a:r>
            <a:r>
              <a:rPr lang="en-US" baseline="0" dirty="0"/>
              <a:t> </a:t>
            </a:r>
            <a:r>
              <a:rPr lang="en-US" baseline="0" dirty="0" err="1"/>
              <a:t>deconvolutional</a:t>
            </a:r>
            <a:r>
              <a:rPr lang="en-US" baseline="0" dirty="0"/>
              <a:t> </a:t>
            </a:r>
            <a:r>
              <a:rPr lang="en-US" baseline="0" dirty="0" err="1"/>
              <a:t>trên</a:t>
            </a:r>
            <a:r>
              <a:rPr lang="en-US" baseline="0" dirty="0"/>
              <a:t> </a:t>
            </a:r>
            <a:r>
              <a:rPr lang="en-US" baseline="0" dirty="0" err="1"/>
              <a:t>tập</a:t>
            </a:r>
            <a:r>
              <a:rPr lang="en-US" baseline="0" dirty="0"/>
              <a:t> validation, </a:t>
            </a:r>
            <a:r>
              <a:rPr lang="en-US" baseline="0" dirty="0" err="1"/>
              <a:t>chúng</a:t>
            </a:r>
            <a:r>
              <a:rPr lang="en-US" baseline="0" dirty="0"/>
              <a:t> ta </a:t>
            </a:r>
            <a:r>
              <a:rPr lang="en-US" baseline="0" dirty="0" err="1"/>
              <a:t>chú</a:t>
            </a:r>
            <a:r>
              <a:rPr lang="en-US" baseline="0" dirty="0"/>
              <a:t> ý </a:t>
            </a:r>
            <a:r>
              <a:rPr lang="en-US" baseline="0" dirty="0" err="1"/>
              <a:t>có</a:t>
            </a:r>
            <a:r>
              <a:rPr lang="en-US" baseline="0" dirty="0"/>
              <a:t> </a:t>
            </a:r>
            <a:r>
              <a:rPr lang="en-US" baseline="0" dirty="0" err="1"/>
              <a:t>sự</a:t>
            </a:r>
            <a:r>
              <a:rPr lang="en-US" baseline="0" dirty="0"/>
              <a:t> </a:t>
            </a:r>
            <a:r>
              <a:rPr lang="en-US" baseline="0" dirty="0" err="1"/>
              <a:t>thay</a:t>
            </a:r>
            <a:r>
              <a:rPr lang="en-US" baseline="0" dirty="0"/>
              <a:t> </a:t>
            </a:r>
            <a:r>
              <a:rPr lang="en-US" baseline="0" dirty="0" err="1"/>
              <a:t>đổi</a:t>
            </a:r>
            <a:r>
              <a:rPr lang="en-US" baseline="0" dirty="0"/>
              <a:t> </a:t>
            </a:r>
            <a:r>
              <a:rPr lang="en-US" baseline="0" dirty="0" err="1"/>
              <a:t>về</a:t>
            </a:r>
            <a:r>
              <a:rPr lang="en-US" baseline="0" dirty="0"/>
              <a:t> </a:t>
            </a:r>
            <a:r>
              <a:rPr lang="en-US" baseline="0" dirty="0" err="1"/>
              <a:t>độ</a:t>
            </a:r>
            <a:r>
              <a:rPr lang="en-US" baseline="0" dirty="0"/>
              <a:t> </a:t>
            </a:r>
            <a:r>
              <a:rPr lang="en-US" baseline="0" dirty="0" err="1"/>
              <a:t>dốc</a:t>
            </a:r>
            <a:r>
              <a:rPr lang="en-US" baseline="0" dirty="0"/>
              <a:t> </a:t>
            </a:r>
            <a:r>
              <a:rPr lang="en-US" baseline="0" dirty="0" err="1"/>
              <a:t>dọc</a:t>
            </a:r>
            <a:r>
              <a:rPr lang="en-US" baseline="0" dirty="0"/>
              <a:t> </a:t>
            </a:r>
            <a:r>
              <a:rPr lang="en-US" baseline="0" dirty="0" err="1"/>
              <a:t>theo</a:t>
            </a:r>
            <a:r>
              <a:rPr lang="en-US" baseline="0" dirty="0"/>
              <a:t> </a:t>
            </a:r>
            <a:r>
              <a:rPr lang="en-US" baseline="0" dirty="0" err="1"/>
              <a:t>cấu</a:t>
            </a:r>
            <a:r>
              <a:rPr lang="en-US" baseline="0" dirty="0"/>
              <a:t> </a:t>
            </a:r>
            <a:r>
              <a:rPr lang="en-US" baseline="0" dirty="0" err="1"/>
              <a:t>trúc</a:t>
            </a:r>
            <a:r>
              <a:rPr lang="en-US" baseline="0" dirty="0"/>
              <a:t> </a:t>
            </a:r>
            <a:r>
              <a:rPr lang="en-US" baseline="0" dirty="0" err="1"/>
              <a:t>lá</a:t>
            </a:r>
            <a:r>
              <a:rPr lang="en-US" baseline="0" dirty="0"/>
              <a:t> </a:t>
            </a:r>
            <a:r>
              <a:rPr lang="en-US" baseline="0" dirty="0" err="1"/>
              <a:t>tại</a:t>
            </a:r>
            <a:r>
              <a:rPr lang="en-US" baseline="0" dirty="0"/>
              <a:t> </a:t>
            </a:r>
            <a:r>
              <a:rPr lang="en-US" baseline="0" dirty="0" err="1"/>
              <a:t>các</a:t>
            </a:r>
            <a:r>
              <a:rPr lang="en-US" baseline="0" dirty="0"/>
              <a:t> </a:t>
            </a:r>
            <a:r>
              <a:rPr lang="en-US" baseline="0" dirty="0" err="1"/>
              <a:t>hướng</a:t>
            </a:r>
            <a:r>
              <a:rPr lang="en-US" baseline="0" dirty="0"/>
              <a:t> </a:t>
            </a:r>
            <a:r>
              <a:rPr lang="en-US" baseline="0" dirty="0" err="1"/>
              <a:t>khác</a:t>
            </a:r>
            <a:r>
              <a:rPr lang="en-US" baseline="0" dirty="0"/>
              <a:t> </a:t>
            </a:r>
            <a:r>
              <a:rPr lang="en-US" baseline="0" dirty="0" err="1"/>
              <a:t>nhau</a:t>
            </a:r>
            <a:endParaRPr lang="en-US" baseline="0" dirty="0"/>
          </a:p>
          <a:p>
            <a:r>
              <a:rPr lang="en-US" baseline="0" dirty="0" err="1"/>
              <a:t>Deconvolutional</a:t>
            </a:r>
            <a:r>
              <a:rPr lang="en-US" baseline="0" dirty="0"/>
              <a:t> </a:t>
            </a:r>
            <a:r>
              <a:rPr lang="en-US" baseline="0" dirty="0" err="1"/>
              <a:t>của</a:t>
            </a:r>
            <a:r>
              <a:rPr lang="en-US" baseline="0" dirty="0"/>
              <a:t> conv2(202) </a:t>
            </a:r>
            <a:r>
              <a:rPr lang="en-US" baseline="0" dirty="0" err="1"/>
              <a:t>khá</a:t>
            </a:r>
            <a:r>
              <a:rPr lang="en-US" baseline="0" dirty="0"/>
              <a:t> </a:t>
            </a:r>
            <a:r>
              <a:rPr lang="en-US" baseline="0" dirty="0" err="1"/>
              <a:t>giống</a:t>
            </a:r>
            <a:r>
              <a:rPr lang="en-US" baseline="0" dirty="0"/>
              <a:t> </a:t>
            </a:r>
            <a:r>
              <a:rPr lang="en-US" baseline="0" dirty="0" err="1"/>
              <a:t>với</a:t>
            </a:r>
            <a:r>
              <a:rPr lang="en-US" baseline="0" dirty="0"/>
              <a:t> </a:t>
            </a:r>
            <a:r>
              <a:rPr lang="en-US" baseline="0" dirty="0" err="1"/>
              <a:t>hình</a:t>
            </a:r>
            <a:r>
              <a:rPr lang="en-US" baseline="0" dirty="0"/>
              <a:t> 5.d -&gt; filter </a:t>
            </a:r>
            <a:r>
              <a:rPr lang="en-US" baseline="0" dirty="0" err="1"/>
              <a:t>đó</a:t>
            </a:r>
            <a:r>
              <a:rPr lang="en-US" baseline="0" dirty="0"/>
              <a:t> </a:t>
            </a:r>
            <a:r>
              <a:rPr lang="en-US" baseline="0" dirty="0" err="1"/>
              <a:t>tập</a:t>
            </a:r>
            <a:r>
              <a:rPr lang="en-US" baseline="0" dirty="0"/>
              <a:t> </a:t>
            </a:r>
            <a:r>
              <a:rPr lang="en-US" baseline="0" dirty="0" err="1"/>
              <a:t>trung</a:t>
            </a:r>
            <a:r>
              <a:rPr lang="en-US" baseline="0" dirty="0"/>
              <a:t> </a:t>
            </a:r>
            <a:r>
              <a:rPr lang="en-US" baseline="0" dirty="0" err="1"/>
              <a:t>vào</a:t>
            </a:r>
            <a:r>
              <a:rPr lang="en-US" baseline="0" dirty="0"/>
              <a:t> </a:t>
            </a:r>
            <a:r>
              <a:rPr lang="en-US" baseline="0" dirty="0" err="1"/>
              <a:t>màu</a:t>
            </a:r>
            <a:r>
              <a:rPr lang="en-US" baseline="0" dirty="0"/>
              <a:t> </a:t>
            </a:r>
            <a:r>
              <a:rPr lang="en-US" baseline="0" dirty="0" err="1"/>
              <a:t>sắc</a:t>
            </a:r>
            <a:r>
              <a:rPr lang="en-US" baseline="0" dirty="0"/>
              <a:t> </a:t>
            </a:r>
            <a:r>
              <a:rPr lang="en-US" baseline="0" dirty="0" err="1"/>
              <a:t>của</a:t>
            </a:r>
            <a:r>
              <a:rPr lang="en-US" baseline="0" dirty="0"/>
              <a:t> </a:t>
            </a:r>
            <a:r>
              <a:rPr lang="en-US" baseline="0" dirty="0" err="1"/>
              <a:t>lá</a:t>
            </a: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9BE77-B6CB-4AFC-9E95-9CD04CD10AA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415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Layer3,</a:t>
            </a:r>
          </a:p>
          <a:p>
            <a:r>
              <a:rPr lang="en-US" dirty="0"/>
              <a:t>Conv3(4) </a:t>
            </a:r>
            <a:r>
              <a:rPr lang="en-US" dirty="0" err="1"/>
              <a:t>các</a:t>
            </a:r>
            <a:r>
              <a:rPr lang="en-US" baseline="0" dirty="0"/>
              <a:t> </a:t>
            </a:r>
            <a:r>
              <a:rPr lang="en-US" baseline="0" dirty="0" err="1"/>
              <a:t>vùng</a:t>
            </a:r>
            <a:r>
              <a:rPr lang="en-US" baseline="0" dirty="0"/>
              <a:t> activation </a:t>
            </a:r>
            <a:r>
              <a:rPr lang="en-US" baseline="0" dirty="0" err="1"/>
              <a:t>trên</a:t>
            </a:r>
            <a:r>
              <a:rPr lang="en-US" baseline="0" dirty="0"/>
              <a:t> </a:t>
            </a:r>
            <a:r>
              <a:rPr lang="en-US" baseline="0" dirty="0" err="1"/>
              <a:t>các</a:t>
            </a:r>
            <a:r>
              <a:rPr lang="en-US" baseline="0" dirty="0"/>
              <a:t> </a:t>
            </a:r>
            <a:r>
              <a:rPr lang="en-US" baseline="0" dirty="0" err="1"/>
              <a:t>cấu</a:t>
            </a:r>
            <a:r>
              <a:rPr lang="en-US" baseline="0" dirty="0"/>
              <a:t> </a:t>
            </a:r>
            <a:r>
              <a:rPr lang="en-US" baseline="0" dirty="0" err="1"/>
              <a:t>trúc</a:t>
            </a:r>
            <a:r>
              <a:rPr lang="en-US" baseline="0" dirty="0"/>
              <a:t> </a:t>
            </a:r>
            <a:r>
              <a:rPr lang="en-US" baseline="0" dirty="0" err="1"/>
              <a:t>khác</a:t>
            </a:r>
            <a:r>
              <a:rPr lang="en-US" baseline="0" dirty="0"/>
              <a:t> </a:t>
            </a:r>
            <a:r>
              <a:rPr lang="en-US" baseline="0" dirty="0" err="1"/>
              <a:t>nhau</a:t>
            </a:r>
            <a:r>
              <a:rPr lang="en-US" baseline="0" dirty="0"/>
              <a:t> </a:t>
            </a:r>
            <a:r>
              <a:rPr lang="en-US" baseline="0" dirty="0" err="1"/>
              <a:t>giống</a:t>
            </a:r>
            <a:r>
              <a:rPr lang="en-US" baseline="0" dirty="0"/>
              <a:t> </a:t>
            </a:r>
            <a:r>
              <a:rPr lang="en-US" baseline="0" dirty="0" err="1"/>
              <a:t>như</a:t>
            </a:r>
            <a:r>
              <a:rPr lang="en-US" baseline="0" dirty="0"/>
              <a:t> </a:t>
            </a:r>
            <a:r>
              <a:rPr lang="en-US" baseline="0" dirty="0" err="1"/>
              <a:t>hình</a:t>
            </a:r>
            <a:r>
              <a:rPr lang="en-US" baseline="0" dirty="0"/>
              <a:t> 5.e</a:t>
            </a:r>
          </a:p>
          <a:p>
            <a:r>
              <a:rPr lang="en-US" baseline="0" dirty="0"/>
              <a:t>Conv3(50 </a:t>
            </a:r>
            <a:r>
              <a:rPr lang="en-US" baseline="0" dirty="0" err="1"/>
              <a:t>các</a:t>
            </a:r>
            <a:r>
              <a:rPr lang="en-US" baseline="0" dirty="0"/>
              <a:t> </a:t>
            </a:r>
            <a:r>
              <a:rPr lang="en-US" baseline="0" dirty="0" err="1"/>
              <a:t>đường</a:t>
            </a:r>
            <a:r>
              <a:rPr lang="en-US" baseline="0" dirty="0"/>
              <a:t> </a:t>
            </a:r>
            <a:r>
              <a:rPr lang="en-US" baseline="0" dirty="0" err="1"/>
              <a:t>bao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9BE77-B6CB-4AFC-9E95-9CD04CD10AA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45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Càng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layer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trừu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càng</a:t>
            </a:r>
            <a:r>
              <a:rPr lang="en-US" dirty="0"/>
              <a:t> tang, </a:t>
            </a:r>
            <a:r>
              <a:rPr lang="en-US" dirty="0" err="1"/>
              <a:t>từ</a:t>
            </a:r>
            <a:r>
              <a:rPr lang="en-US" dirty="0"/>
              <a:t> gradient </a:t>
            </a:r>
            <a:r>
              <a:rPr lang="en-US" dirty="0" err="1"/>
              <a:t>đến</a:t>
            </a:r>
            <a:r>
              <a:rPr lang="en-US" dirty="0"/>
              <a:t> edge, </a:t>
            </a:r>
            <a:r>
              <a:rPr lang="en-US" dirty="0" err="1"/>
              <a:t>rồi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mid-level </a:t>
            </a:r>
            <a:r>
              <a:rPr lang="en-US" dirty="0" err="1"/>
              <a:t>là</a:t>
            </a:r>
            <a:r>
              <a:rPr lang="en-US" dirty="0"/>
              <a:t> venation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Chúng</a:t>
            </a:r>
            <a:r>
              <a:rPr lang="en-US" baseline="0" dirty="0"/>
              <a:t> ta </a:t>
            </a:r>
            <a:r>
              <a:rPr lang="en-US" baseline="0" dirty="0" err="1"/>
              <a:t>có</a:t>
            </a:r>
            <a:r>
              <a:rPr lang="en-US" baseline="0" dirty="0"/>
              <a:t> </a:t>
            </a:r>
            <a:r>
              <a:rPr lang="en-US" baseline="0" dirty="0" err="1"/>
              <a:t>thể</a:t>
            </a:r>
            <a:r>
              <a:rPr lang="en-US" baseline="0" dirty="0"/>
              <a:t> </a:t>
            </a:r>
            <a:r>
              <a:rPr lang="en-US" baseline="0" dirty="0" err="1"/>
              <a:t>thấy</a:t>
            </a:r>
            <a:r>
              <a:rPr lang="en-US" baseline="0" dirty="0"/>
              <a:t> rang a </a:t>
            </a:r>
            <a:r>
              <a:rPr lang="en-US" baseline="0" dirty="0" err="1"/>
              <a:t>và</a:t>
            </a:r>
            <a:r>
              <a:rPr lang="en-US" baseline="0" dirty="0"/>
              <a:t> b </a:t>
            </a:r>
            <a:r>
              <a:rPr lang="en-US" baseline="0" dirty="0" err="1"/>
              <a:t>mặc</a:t>
            </a:r>
            <a:r>
              <a:rPr lang="en-US" baseline="0" dirty="0"/>
              <a:t> </a:t>
            </a:r>
            <a:r>
              <a:rPr lang="en-US" baseline="0" dirty="0" err="1"/>
              <a:t>dù</a:t>
            </a:r>
            <a:r>
              <a:rPr lang="en-US" baseline="0" dirty="0"/>
              <a:t> </a:t>
            </a:r>
            <a:r>
              <a:rPr lang="en-US" baseline="0" dirty="0" err="1"/>
              <a:t>có</a:t>
            </a:r>
            <a:r>
              <a:rPr lang="en-US" baseline="0" dirty="0"/>
              <a:t> </a:t>
            </a:r>
            <a:r>
              <a:rPr lang="en-US" baseline="0" dirty="0" err="1"/>
              <a:t>cùng</a:t>
            </a:r>
            <a:r>
              <a:rPr lang="en-US" baseline="0" dirty="0"/>
              <a:t> </a:t>
            </a:r>
            <a:r>
              <a:rPr lang="en-US" baseline="0" dirty="0" err="1"/>
              <a:t>hình</a:t>
            </a:r>
            <a:r>
              <a:rPr lang="en-US" baseline="0" dirty="0"/>
              <a:t> </a:t>
            </a:r>
            <a:r>
              <a:rPr lang="en-US" baseline="0" dirty="0" err="1"/>
              <a:t>dạng</a:t>
            </a:r>
            <a:r>
              <a:rPr lang="en-US" baseline="0" dirty="0"/>
              <a:t> </a:t>
            </a:r>
            <a:r>
              <a:rPr lang="en-US" baseline="0" dirty="0" err="1"/>
              <a:t>là</a:t>
            </a:r>
            <a:r>
              <a:rPr lang="en-US" baseline="0" dirty="0"/>
              <a:t> </a:t>
            </a:r>
            <a:r>
              <a:rPr lang="en-US" baseline="0" dirty="0" err="1"/>
              <a:t>hình</a:t>
            </a:r>
            <a:r>
              <a:rPr lang="en-US" baseline="0" dirty="0"/>
              <a:t> </a:t>
            </a:r>
            <a:r>
              <a:rPr lang="en-US" baseline="0" dirty="0" err="1"/>
              <a:t>thùy</a:t>
            </a:r>
            <a:r>
              <a:rPr lang="en-US" baseline="0" dirty="0"/>
              <a:t>, </a:t>
            </a:r>
            <a:r>
              <a:rPr lang="en-US" baseline="0" dirty="0" err="1"/>
              <a:t>nhưng</a:t>
            </a:r>
            <a:r>
              <a:rPr lang="en-US" baseline="0" dirty="0"/>
              <a:t> </a:t>
            </a:r>
            <a:r>
              <a:rPr lang="en-US" baseline="0" dirty="0" err="1"/>
              <a:t>deconvolutional</a:t>
            </a:r>
            <a:r>
              <a:rPr lang="en-US" baseline="0" dirty="0"/>
              <a:t> </a:t>
            </a:r>
            <a:r>
              <a:rPr lang="en-US" baseline="0" dirty="0" err="1"/>
              <a:t>của</a:t>
            </a:r>
            <a:r>
              <a:rPr lang="en-US" baseline="0" dirty="0"/>
              <a:t> </a:t>
            </a:r>
            <a:r>
              <a:rPr lang="en-US" baseline="0" dirty="0" err="1"/>
              <a:t>nó</a:t>
            </a:r>
            <a:r>
              <a:rPr lang="en-US" baseline="0" dirty="0"/>
              <a:t> </a:t>
            </a:r>
            <a:r>
              <a:rPr lang="en-US" baseline="0" dirty="0" err="1"/>
              <a:t>vẫn</a:t>
            </a:r>
            <a:r>
              <a:rPr lang="en-US" baseline="0" dirty="0"/>
              <a:t> </a:t>
            </a:r>
            <a:r>
              <a:rPr lang="en-US" baseline="0" dirty="0" err="1"/>
              <a:t>khác</a:t>
            </a:r>
            <a:r>
              <a:rPr lang="en-US" baseline="0" dirty="0"/>
              <a:t> </a:t>
            </a:r>
            <a:r>
              <a:rPr lang="en-US" baseline="0" dirty="0" err="1"/>
              <a:t>nhau</a:t>
            </a:r>
            <a:r>
              <a:rPr lang="en-US" baseline="0" dirty="0"/>
              <a:t> </a:t>
            </a:r>
            <a:r>
              <a:rPr lang="en-US" baseline="0" dirty="0" err="1"/>
              <a:t>rõ</a:t>
            </a:r>
            <a:r>
              <a:rPr lang="en-US" baseline="0" dirty="0"/>
              <a:t> </a:t>
            </a:r>
            <a:r>
              <a:rPr lang="en-US" baseline="0" dirty="0" err="1"/>
              <a:t>rệt</a:t>
            </a:r>
            <a:endParaRPr lang="en-US" dirty="0"/>
          </a:p>
          <a:p>
            <a:pPr marL="0" indent="0">
              <a:buNone/>
            </a:pPr>
            <a:r>
              <a:rPr lang="en-US" sz="1200" dirty="0" err="1"/>
              <a:t>Chúng</a:t>
            </a:r>
            <a:r>
              <a:rPr lang="en-US" sz="1200" dirty="0"/>
              <a:t> ta </a:t>
            </a:r>
            <a:r>
              <a:rPr lang="en-US" sz="1200" dirty="0" err="1"/>
              <a:t>đã</a:t>
            </a:r>
            <a:r>
              <a:rPr lang="en-US" sz="1200" dirty="0"/>
              <a:t> </a:t>
            </a:r>
            <a:r>
              <a:rPr lang="en-US" sz="1200" dirty="0" err="1"/>
              <a:t>thấy</a:t>
            </a:r>
            <a:r>
              <a:rPr lang="en-US" sz="1200" dirty="0"/>
              <a:t> </a:t>
            </a:r>
            <a:r>
              <a:rPr lang="en-US" sz="1200" dirty="0" err="1"/>
              <a:t>được</a:t>
            </a:r>
            <a:r>
              <a:rPr lang="en-US" sz="1200" dirty="0"/>
              <a:t> </a:t>
            </a:r>
            <a:r>
              <a:rPr lang="en-US" sz="1200" dirty="0" err="1"/>
              <a:t>các</a:t>
            </a:r>
            <a:r>
              <a:rPr lang="en-US" sz="1200" dirty="0"/>
              <a:t> </a:t>
            </a:r>
            <a:r>
              <a:rPr lang="en-US" sz="1200" dirty="0" err="1"/>
              <a:t>đặc</a:t>
            </a:r>
            <a:r>
              <a:rPr lang="en-US" sz="1200" dirty="0"/>
              <a:t> </a:t>
            </a:r>
            <a:r>
              <a:rPr lang="en-US" sz="1200" dirty="0" err="1"/>
              <a:t>trưng</a:t>
            </a:r>
            <a:r>
              <a:rPr lang="en-US" sz="1200" dirty="0"/>
              <a:t> </a:t>
            </a:r>
            <a:r>
              <a:rPr lang="en-US" sz="1200" dirty="0" err="1"/>
              <a:t>được</a:t>
            </a:r>
            <a:r>
              <a:rPr lang="en-US" sz="1200" dirty="0"/>
              <a:t> </a:t>
            </a:r>
            <a:r>
              <a:rPr lang="en-US" sz="1200" dirty="0" err="1"/>
              <a:t>tạo</a:t>
            </a:r>
            <a:r>
              <a:rPr lang="en-US" sz="1200" dirty="0"/>
              <a:t> </a:t>
            </a:r>
            <a:r>
              <a:rPr lang="en-US" sz="1200" dirty="0" err="1"/>
              <a:t>ra</a:t>
            </a:r>
            <a:r>
              <a:rPr lang="en-US" sz="1200" dirty="0"/>
              <a:t> </a:t>
            </a:r>
            <a:r>
              <a:rPr lang="en-US" sz="1200" dirty="0" err="1"/>
              <a:t>từ</a:t>
            </a:r>
            <a:r>
              <a:rPr lang="en-US" sz="1200" dirty="0"/>
              <a:t> low-level -&gt; mid-level, </a:t>
            </a:r>
            <a:r>
              <a:rPr lang="en-US" sz="1200" dirty="0" err="1"/>
              <a:t>cuối</a:t>
            </a:r>
            <a:r>
              <a:rPr lang="en-US" sz="1200" dirty="0"/>
              <a:t> </a:t>
            </a:r>
            <a:r>
              <a:rPr lang="en-US" sz="1200" dirty="0" err="1"/>
              <a:t>cùng</a:t>
            </a:r>
            <a:r>
              <a:rPr lang="en-US" sz="1200" dirty="0"/>
              <a:t> </a:t>
            </a:r>
            <a:r>
              <a:rPr lang="en-US" sz="1200" dirty="0" err="1"/>
              <a:t>là</a:t>
            </a:r>
            <a:r>
              <a:rPr lang="en-US" sz="1200" dirty="0"/>
              <a:t> </a:t>
            </a:r>
            <a:r>
              <a:rPr lang="en-US" sz="1200" dirty="0" err="1"/>
              <a:t>đặc</a:t>
            </a:r>
            <a:r>
              <a:rPr lang="en-US" sz="1200" dirty="0"/>
              <a:t> </a:t>
            </a:r>
            <a:r>
              <a:rPr lang="en-US" sz="1200" dirty="0" err="1"/>
              <a:t>trưng</a:t>
            </a:r>
            <a:r>
              <a:rPr lang="en-US" sz="1200" dirty="0"/>
              <a:t> </a:t>
            </a:r>
            <a:r>
              <a:rPr lang="en-US" sz="1200" dirty="0" err="1"/>
              <a:t>trừu</a:t>
            </a:r>
            <a:r>
              <a:rPr lang="en-US" sz="1200" dirty="0"/>
              <a:t> </a:t>
            </a:r>
            <a:r>
              <a:rPr lang="en-US" sz="1200" dirty="0" err="1"/>
              <a:t>tượng</a:t>
            </a:r>
            <a:r>
              <a:rPr lang="en-US" sz="1200" dirty="0"/>
              <a:t>/ </a:t>
            </a:r>
            <a:r>
              <a:rPr lang="en-US" sz="1200" dirty="0" err="1"/>
              <a:t>chuyên</a:t>
            </a:r>
            <a:r>
              <a:rPr lang="en-US" sz="1200" dirty="0"/>
              <a:t> </a:t>
            </a:r>
            <a:r>
              <a:rPr lang="en-US" sz="1200" dirty="0" err="1"/>
              <a:t>biệt</a:t>
            </a:r>
            <a:r>
              <a:rPr lang="en-US" sz="1200" dirty="0"/>
              <a:t> </a:t>
            </a:r>
            <a:r>
              <a:rPr lang="en-US" sz="1200" dirty="0" err="1"/>
              <a:t>hóa</a:t>
            </a:r>
            <a:r>
              <a:rPr lang="en-US" sz="1200" dirty="0"/>
              <a:t> </a:t>
            </a:r>
            <a:r>
              <a:rPr lang="en-US" sz="1200" dirty="0" err="1"/>
              <a:t>nhất</a:t>
            </a:r>
            <a:r>
              <a:rPr lang="en-US" sz="1200" dirty="0"/>
              <a:t> ở layer </a:t>
            </a:r>
            <a:r>
              <a:rPr lang="en-US" sz="1200" dirty="0" err="1"/>
              <a:t>cuối</a:t>
            </a:r>
            <a:r>
              <a:rPr lang="en-US" sz="1200" dirty="0"/>
              <a:t> </a:t>
            </a:r>
            <a:r>
              <a:rPr lang="en-US" sz="1200" dirty="0" err="1"/>
              <a:t>cùng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/>
              <a:t>Những</a:t>
            </a:r>
            <a:r>
              <a:rPr lang="en-US" sz="1200" dirty="0"/>
              <a:t> </a:t>
            </a:r>
            <a:r>
              <a:rPr lang="en-US" sz="1200" dirty="0" err="1"/>
              <a:t>đặc</a:t>
            </a:r>
            <a:r>
              <a:rPr lang="en-US" sz="1200" dirty="0"/>
              <a:t> </a:t>
            </a:r>
            <a:r>
              <a:rPr lang="en-US" sz="1200" dirty="0" err="1"/>
              <a:t>trưng</a:t>
            </a:r>
            <a:r>
              <a:rPr lang="en-US" sz="1200" dirty="0"/>
              <a:t> </a:t>
            </a:r>
            <a:r>
              <a:rPr lang="en-US" sz="1200" dirty="0" err="1"/>
              <a:t>này</a:t>
            </a:r>
            <a:r>
              <a:rPr lang="en-US" sz="1200" dirty="0"/>
              <a:t> </a:t>
            </a:r>
            <a:r>
              <a:rPr lang="en-US" sz="1200" dirty="0" err="1"/>
              <a:t>trùng</a:t>
            </a:r>
            <a:r>
              <a:rPr lang="en-US" sz="1200" dirty="0"/>
              <a:t> </a:t>
            </a:r>
            <a:r>
              <a:rPr lang="en-US" sz="1200" dirty="0" err="1"/>
              <a:t>khớp</a:t>
            </a:r>
            <a:r>
              <a:rPr lang="en-US" sz="1200" dirty="0"/>
              <a:t> </a:t>
            </a:r>
            <a:r>
              <a:rPr lang="en-US" sz="1200" dirty="0" err="1"/>
              <a:t>với</a:t>
            </a:r>
            <a:r>
              <a:rPr lang="en-US" sz="1200" dirty="0"/>
              <a:t> </a:t>
            </a:r>
            <a:r>
              <a:rPr lang="en-US" sz="1200" dirty="0" err="1"/>
              <a:t>cách</a:t>
            </a:r>
            <a:r>
              <a:rPr lang="en-US" sz="1200" dirty="0"/>
              <a:t> </a:t>
            </a:r>
            <a:r>
              <a:rPr lang="en-US" sz="1200" dirty="0" err="1"/>
              <a:t>làm</a:t>
            </a:r>
            <a:r>
              <a:rPr lang="en-US" sz="1200" dirty="0"/>
              <a:t> </a:t>
            </a:r>
            <a:r>
              <a:rPr lang="en-US" sz="1200" dirty="0" err="1"/>
              <a:t>của</a:t>
            </a:r>
            <a:r>
              <a:rPr lang="en-US" sz="1200" dirty="0"/>
              <a:t> </a:t>
            </a:r>
            <a:r>
              <a:rPr lang="en-US" sz="1200" dirty="0" err="1"/>
              <a:t>các</a:t>
            </a:r>
            <a:r>
              <a:rPr lang="en-US" sz="1200" dirty="0"/>
              <a:t> </a:t>
            </a:r>
            <a:r>
              <a:rPr lang="en-US" sz="1200" dirty="0" err="1"/>
              <a:t>nhà</a:t>
            </a:r>
            <a:r>
              <a:rPr lang="en-US" sz="1200" dirty="0"/>
              <a:t> </a:t>
            </a:r>
            <a:r>
              <a:rPr lang="en-US" sz="1200" dirty="0" err="1"/>
              <a:t>thực</a:t>
            </a:r>
            <a:r>
              <a:rPr lang="en-US" sz="1200" dirty="0"/>
              <a:t> </a:t>
            </a:r>
            <a:r>
              <a:rPr lang="en-US" sz="1200" dirty="0" err="1"/>
              <a:t>vật</a:t>
            </a:r>
            <a:r>
              <a:rPr lang="en-US" sz="1200" dirty="0"/>
              <a:t> </a:t>
            </a:r>
            <a:r>
              <a:rPr lang="en-US" sz="1200" dirty="0" err="1"/>
              <a:t>học</a:t>
            </a:r>
            <a:r>
              <a:rPr lang="en-US" sz="1200" dirty="0"/>
              <a:t> </a:t>
            </a:r>
            <a:r>
              <a:rPr lang="en-US" sz="1200" dirty="0" err="1"/>
              <a:t>khi</a:t>
            </a:r>
            <a:r>
              <a:rPr lang="en-US" sz="1200" dirty="0"/>
              <a:t> </a:t>
            </a:r>
            <a:r>
              <a:rPr lang="en-US" sz="1200" dirty="0" err="1"/>
              <a:t>định</a:t>
            </a:r>
            <a:r>
              <a:rPr lang="en-US" sz="1200" dirty="0"/>
              <a:t> </a:t>
            </a:r>
            <a:r>
              <a:rPr lang="en-US" sz="1200" dirty="0" err="1"/>
              <a:t>nghĩa</a:t>
            </a:r>
            <a:r>
              <a:rPr lang="en-US" sz="1200" dirty="0"/>
              <a:t> </a:t>
            </a:r>
            <a:r>
              <a:rPr lang="en-US" sz="1200" dirty="0" err="1"/>
              <a:t>về</a:t>
            </a:r>
            <a:r>
              <a:rPr lang="en-US" sz="1200" dirty="0"/>
              <a:t> </a:t>
            </a:r>
            <a:r>
              <a:rPr lang="en-US" sz="1200" dirty="0" err="1"/>
              <a:t>loài</a:t>
            </a:r>
            <a:r>
              <a:rPr lang="en-US" sz="1200" dirty="0"/>
              <a:t>:  </a:t>
            </a:r>
            <a:r>
              <a:rPr lang="en-US" sz="1200" dirty="0" err="1"/>
              <a:t>từ</a:t>
            </a:r>
            <a:r>
              <a:rPr lang="en-US" sz="1200" dirty="0"/>
              <a:t> </a:t>
            </a:r>
            <a:r>
              <a:rPr lang="en-US" sz="1200" dirty="0" err="1"/>
              <a:t>chung</a:t>
            </a:r>
            <a:r>
              <a:rPr lang="en-US" sz="1200" dirty="0"/>
              <a:t> (</a:t>
            </a:r>
            <a:r>
              <a:rPr lang="en-US" sz="1200" dirty="0" err="1"/>
              <a:t>countour</a:t>
            </a:r>
            <a:r>
              <a:rPr lang="en-US" sz="1200" dirty="0"/>
              <a:t>, overall pattern, major vein) </a:t>
            </a:r>
            <a:r>
              <a:rPr lang="en-US" sz="1200" dirty="0" err="1"/>
              <a:t>đến</a:t>
            </a:r>
            <a:r>
              <a:rPr lang="en-US" sz="1200" dirty="0"/>
              <a:t> </a:t>
            </a:r>
            <a:r>
              <a:rPr lang="en-US" sz="1200" dirty="0" err="1"/>
              <a:t>cụ</a:t>
            </a:r>
            <a:r>
              <a:rPr lang="en-US" sz="1200" dirty="0"/>
              <a:t> </a:t>
            </a:r>
            <a:r>
              <a:rPr lang="en-US" sz="1200" dirty="0" err="1"/>
              <a:t>thể</a:t>
            </a:r>
            <a:r>
              <a:rPr lang="en-US" sz="1200" dirty="0"/>
              <a:t> (</a:t>
            </a:r>
            <a:r>
              <a:rPr lang="en-US" sz="1200" dirty="0" err="1"/>
              <a:t>thùy</a:t>
            </a:r>
            <a:r>
              <a:rPr lang="en-US" sz="1200" dirty="0"/>
              <a:t> </a:t>
            </a:r>
            <a:r>
              <a:rPr lang="en-US" sz="1200" dirty="0" err="1"/>
              <a:t>trước</a:t>
            </a:r>
            <a:r>
              <a:rPr lang="en-US" sz="1200" dirty="0"/>
              <a:t> </a:t>
            </a:r>
            <a:r>
              <a:rPr lang="en-US" sz="1200" dirty="0" err="1"/>
              <a:t>thùy</a:t>
            </a:r>
            <a:r>
              <a:rPr lang="en-US" sz="1200" dirty="0"/>
              <a:t> </a:t>
            </a:r>
            <a:r>
              <a:rPr lang="en-US" sz="1200" dirty="0" err="1"/>
              <a:t>sau</a:t>
            </a:r>
            <a:r>
              <a:rPr lang="en-US" sz="1200" dirty="0"/>
              <a:t>, </a:t>
            </a:r>
            <a:r>
              <a:rPr lang="en-US" sz="1200" dirty="0" err="1"/>
              <a:t>gân</a:t>
            </a:r>
            <a:r>
              <a:rPr lang="en-US" sz="1200" dirty="0"/>
              <a:t> </a:t>
            </a:r>
            <a:r>
              <a:rPr lang="en-US" sz="1200" dirty="0" err="1"/>
              <a:t>chính</a:t>
            </a:r>
            <a:r>
              <a:rPr lang="en-US" sz="1200" dirty="0"/>
              <a:t> </a:t>
            </a:r>
            <a:r>
              <a:rPr lang="en-US" sz="1200" dirty="0" err="1"/>
              <a:t>gân</a:t>
            </a:r>
            <a:r>
              <a:rPr lang="en-US" sz="1200" dirty="0"/>
              <a:t> </a:t>
            </a:r>
            <a:r>
              <a:rPr lang="en-US" sz="1200" dirty="0" err="1"/>
              <a:t>phụ</a:t>
            </a:r>
            <a:r>
              <a:rPr lang="en-US" sz="1200" dirty="0"/>
              <a:t> &amp; tertiary vein)</a:t>
            </a:r>
          </a:p>
          <a:p>
            <a:pPr marL="0" indent="0">
              <a:buNone/>
            </a:pPr>
            <a:r>
              <a:rPr lang="en-US" sz="1200" dirty="0" err="1"/>
              <a:t>Những</a:t>
            </a:r>
            <a:r>
              <a:rPr lang="en-US" sz="1200" dirty="0"/>
              <a:t> feature </a:t>
            </a:r>
            <a:r>
              <a:rPr lang="en-US" sz="1200" dirty="0" err="1"/>
              <a:t>này</a:t>
            </a:r>
            <a:r>
              <a:rPr lang="en-US" sz="1200" dirty="0"/>
              <a:t> </a:t>
            </a:r>
            <a:r>
              <a:rPr lang="en-US" sz="1200" dirty="0" err="1"/>
              <a:t>có</a:t>
            </a:r>
            <a:r>
              <a:rPr lang="en-US" sz="1200" dirty="0"/>
              <a:t> </a:t>
            </a:r>
            <a:r>
              <a:rPr lang="en-US" sz="1200" dirty="0" err="1"/>
              <a:t>một</a:t>
            </a:r>
            <a:r>
              <a:rPr lang="en-US" sz="1200" dirty="0"/>
              <a:t> </a:t>
            </a:r>
            <a:r>
              <a:rPr lang="en-US" sz="1200" dirty="0" err="1"/>
              <a:t>số</a:t>
            </a:r>
            <a:r>
              <a:rPr lang="en-US" sz="1200" dirty="0"/>
              <a:t> </a:t>
            </a:r>
            <a:r>
              <a:rPr lang="en-US" sz="1200" dirty="0" err="1"/>
              <a:t>trạng</a:t>
            </a:r>
            <a:r>
              <a:rPr lang="en-US" sz="1200" dirty="0"/>
              <a:t> </a:t>
            </a:r>
            <a:r>
              <a:rPr lang="en-US" sz="1200" dirty="0" err="1"/>
              <a:t>thái</a:t>
            </a:r>
            <a:r>
              <a:rPr lang="en-US" sz="1200" dirty="0"/>
              <a:t> </a:t>
            </a:r>
            <a:r>
              <a:rPr lang="en-US" sz="1200" dirty="0" err="1"/>
              <a:t>tại</a:t>
            </a:r>
            <a:r>
              <a:rPr lang="en-US" sz="1200" dirty="0"/>
              <a:t> </a:t>
            </a:r>
            <a:r>
              <a:rPr lang="en-US" sz="1200" dirty="0" err="1"/>
              <a:t>từng</a:t>
            </a:r>
            <a:r>
              <a:rPr lang="en-US" sz="1200" dirty="0"/>
              <a:t> </a:t>
            </a:r>
            <a:r>
              <a:rPr lang="en-US" sz="1200" dirty="0" err="1"/>
              <a:t>mức</a:t>
            </a:r>
            <a:r>
              <a:rPr lang="en-US" sz="1200" dirty="0"/>
              <a:t> </a:t>
            </a:r>
            <a:r>
              <a:rPr lang="en-US" sz="1200" dirty="0" err="1"/>
              <a:t>độ</a:t>
            </a:r>
            <a:r>
              <a:rPr lang="en-US" sz="1200" dirty="0"/>
              <a:t> </a:t>
            </a:r>
            <a:r>
              <a:rPr lang="en-US" sz="1200" dirty="0" err="1"/>
              <a:t>phân</a:t>
            </a:r>
            <a:r>
              <a:rPr lang="en-US" sz="1200" dirty="0"/>
              <a:t> </a:t>
            </a:r>
            <a:r>
              <a:rPr lang="en-US" sz="1200" dirty="0" err="1"/>
              <a:t>loại.Feature</a:t>
            </a:r>
            <a:r>
              <a:rPr lang="en-US" sz="1200" dirty="0"/>
              <a:t> </a:t>
            </a:r>
            <a:r>
              <a:rPr lang="en-US" sz="1200" dirty="0" err="1"/>
              <a:t>không</a:t>
            </a:r>
            <a:r>
              <a:rPr lang="en-US" sz="1200" dirty="0"/>
              <a:t> </a:t>
            </a:r>
            <a:r>
              <a:rPr lang="en-US" sz="1200" dirty="0" err="1"/>
              <a:t>bị</a:t>
            </a:r>
            <a:r>
              <a:rPr lang="en-US" sz="1200" dirty="0"/>
              <a:t> </a:t>
            </a:r>
            <a:r>
              <a:rPr lang="en-US" sz="1200" dirty="0" err="1"/>
              <a:t>hạn</a:t>
            </a:r>
            <a:r>
              <a:rPr lang="en-US" sz="1200" dirty="0"/>
              <a:t> </a:t>
            </a:r>
            <a:r>
              <a:rPr lang="en-US" sz="1200" dirty="0" err="1"/>
              <a:t>chế</a:t>
            </a:r>
            <a:r>
              <a:rPr lang="en-US" sz="1200" dirty="0"/>
              <a:t> </a:t>
            </a:r>
            <a:r>
              <a:rPr lang="en-US" sz="1200" dirty="0" err="1"/>
              <a:t>đối</a:t>
            </a:r>
            <a:r>
              <a:rPr lang="en-US" sz="1200" dirty="0"/>
              <a:t> </a:t>
            </a:r>
            <a:r>
              <a:rPr lang="en-US" sz="1200" dirty="0" err="1"/>
              <a:t>với</a:t>
            </a:r>
            <a:r>
              <a:rPr lang="en-US" sz="1200" dirty="0"/>
              <a:t> </a:t>
            </a:r>
            <a:r>
              <a:rPr lang="en-US" sz="1200" dirty="0" err="1"/>
              <a:t>hình</a:t>
            </a:r>
            <a:r>
              <a:rPr lang="en-US" sz="1200" dirty="0"/>
              <a:t> </a:t>
            </a:r>
            <a:r>
              <a:rPr lang="en-US" sz="1200" dirty="0" err="1"/>
              <a:t>dạng</a:t>
            </a:r>
            <a:r>
              <a:rPr lang="en-US" sz="1200" dirty="0"/>
              <a:t>, </a:t>
            </a:r>
            <a:r>
              <a:rPr lang="en-US" sz="1200" dirty="0" err="1"/>
              <a:t>cấu</a:t>
            </a:r>
            <a:r>
              <a:rPr lang="en-US" sz="1200" dirty="0"/>
              <a:t> </a:t>
            </a:r>
            <a:r>
              <a:rPr lang="en-US" sz="1200" dirty="0" err="1"/>
              <a:t>trúc</a:t>
            </a:r>
            <a:r>
              <a:rPr lang="en-US" sz="1200" dirty="0"/>
              <a:t> hay </a:t>
            </a:r>
            <a:r>
              <a:rPr lang="en-US" sz="1200" dirty="0" err="1"/>
              <a:t>màu</a:t>
            </a:r>
            <a:r>
              <a:rPr lang="en-US" sz="1200" dirty="0"/>
              <a:t> </a:t>
            </a:r>
            <a:r>
              <a:rPr lang="en-US" sz="1200" dirty="0" err="1"/>
              <a:t>sắc</a:t>
            </a:r>
            <a:r>
              <a:rPr lang="en-US" sz="1200" dirty="0"/>
              <a:t> </a:t>
            </a:r>
            <a:r>
              <a:rPr lang="en-US" sz="1200" dirty="0" err="1"/>
              <a:t>mà</a:t>
            </a:r>
            <a:r>
              <a:rPr lang="en-US" sz="1200" dirty="0"/>
              <a:t> </a:t>
            </a:r>
            <a:r>
              <a:rPr lang="en-US" sz="1200" dirty="0" err="1"/>
              <a:t>còn</a:t>
            </a:r>
            <a:r>
              <a:rPr lang="en-US" sz="1200" dirty="0"/>
              <a:t> </a:t>
            </a:r>
            <a:r>
              <a:rPr lang="en-US" sz="1200" dirty="0" err="1"/>
              <a:t>mở</a:t>
            </a:r>
            <a:r>
              <a:rPr lang="en-US" sz="1200" dirty="0"/>
              <a:t> </a:t>
            </a:r>
            <a:r>
              <a:rPr lang="en-US" sz="1200" dirty="0" err="1"/>
              <a:t>rộng</a:t>
            </a:r>
            <a:r>
              <a:rPr lang="en-US" sz="1200" dirty="0"/>
              <a:t> </a:t>
            </a:r>
            <a:r>
              <a:rPr lang="en-US" sz="1200" dirty="0" err="1"/>
              <a:t>đối</a:t>
            </a:r>
            <a:r>
              <a:rPr lang="en-US" sz="1200" dirty="0"/>
              <a:t> </a:t>
            </a:r>
            <a:r>
              <a:rPr lang="en-US" sz="1200" dirty="0" err="1"/>
              <a:t>với</a:t>
            </a:r>
            <a:r>
              <a:rPr lang="en-US" sz="1200" dirty="0"/>
              <a:t> </a:t>
            </a:r>
            <a:r>
              <a:rPr lang="en-US" sz="1200" dirty="0" err="1"/>
              <a:t>loại</a:t>
            </a:r>
            <a:r>
              <a:rPr lang="en-US" sz="1200" dirty="0"/>
              <a:t> </a:t>
            </a:r>
            <a:r>
              <a:rPr lang="en-US" sz="1200" dirty="0" err="1"/>
              <a:t>hình</a:t>
            </a:r>
            <a:r>
              <a:rPr lang="en-US" sz="1200" dirty="0"/>
              <a:t> </a:t>
            </a:r>
            <a:r>
              <a:rPr lang="en-US" sz="1200" dirty="0" err="1"/>
              <a:t>đặc</a:t>
            </a:r>
            <a:r>
              <a:rPr lang="en-US" sz="1200" dirty="0"/>
              <a:t> </a:t>
            </a:r>
            <a:r>
              <a:rPr lang="en-US" sz="1200" dirty="0" err="1"/>
              <a:t>biệt</a:t>
            </a:r>
            <a:r>
              <a:rPr lang="en-US" sz="1200" dirty="0"/>
              <a:t> </a:t>
            </a:r>
            <a:r>
              <a:rPr lang="en-US" sz="1200" dirty="0" err="1"/>
              <a:t>như</a:t>
            </a:r>
            <a:r>
              <a:rPr lang="en-US" sz="1200" dirty="0"/>
              <a:t> structural division, </a:t>
            </a:r>
            <a:r>
              <a:rPr lang="en-US" sz="1200" dirty="0" err="1"/>
              <a:t>chóp</a:t>
            </a:r>
            <a:r>
              <a:rPr lang="en-US" sz="1200" dirty="0"/>
              <a:t> </a:t>
            </a:r>
            <a:r>
              <a:rPr lang="en-US" sz="1200" dirty="0" err="1"/>
              <a:t>lá</a:t>
            </a:r>
            <a:r>
              <a:rPr lang="en-US" sz="1200" dirty="0"/>
              <a:t>, </a:t>
            </a:r>
            <a:r>
              <a:rPr lang="en-US" sz="1200" dirty="0" err="1"/>
              <a:t>gốc</a:t>
            </a:r>
            <a:r>
              <a:rPr lang="en-US" sz="1200" dirty="0"/>
              <a:t> </a:t>
            </a:r>
            <a:r>
              <a:rPr lang="en-US" sz="1200" dirty="0" err="1"/>
              <a:t>lá</a:t>
            </a:r>
            <a:r>
              <a:rPr lang="en-US" sz="1200" dirty="0"/>
              <a:t>, </a:t>
            </a:r>
            <a:r>
              <a:rPr lang="en-US" sz="1200" dirty="0" err="1"/>
              <a:t>kiểu</a:t>
            </a:r>
            <a:r>
              <a:rPr lang="en-US" sz="1200" dirty="0"/>
              <a:t> </a:t>
            </a:r>
            <a:r>
              <a:rPr lang="en-US" sz="1200" dirty="0" err="1"/>
              <a:t>viền</a:t>
            </a:r>
            <a:r>
              <a:rPr lang="en-US" sz="1200" dirty="0"/>
              <a:t>, …</a:t>
            </a:r>
          </a:p>
          <a:p>
            <a:pPr marL="0" indent="0">
              <a:buNone/>
            </a:pPr>
            <a:r>
              <a:rPr lang="en-US" sz="1200" dirty="0" err="1"/>
              <a:t>Điều</a:t>
            </a:r>
            <a:r>
              <a:rPr lang="en-US" sz="1200" dirty="0"/>
              <a:t> </a:t>
            </a:r>
            <a:r>
              <a:rPr lang="en-US" sz="1200" dirty="0" err="1"/>
              <a:t>đó</a:t>
            </a:r>
            <a:r>
              <a:rPr lang="en-US" sz="1200" dirty="0"/>
              <a:t> </a:t>
            </a:r>
            <a:r>
              <a:rPr lang="en-US" sz="1200" dirty="0" err="1"/>
              <a:t>cho</a:t>
            </a:r>
            <a:r>
              <a:rPr lang="en-US" sz="1200" dirty="0"/>
              <a:t> </a:t>
            </a:r>
            <a:r>
              <a:rPr lang="en-US" sz="1200" dirty="0" err="1"/>
              <a:t>thấy</a:t>
            </a:r>
            <a:r>
              <a:rPr lang="en-US" sz="1200" dirty="0"/>
              <a:t> </a:t>
            </a:r>
            <a:r>
              <a:rPr lang="en-US" sz="1200" dirty="0" err="1"/>
              <a:t>rằng</a:t>
            </a:r>
            <a:r>
              <a:rPr lang="en-US" sz="1200" dirty="0"/>
              <a:t> </a:t>
            </a:r>
            <a:r>
              <a:rPr lang="en-US" sz="1200" dirty="0" err="1"/>
              <a:t>sử</a:t>
            </a:r>
            <a:r>
              <a:rPr lang="en-US" sz="1200" dirty="0"/>
              <a:t> </a:t>
            </a:r>
            <a:r>
              <a:rPr lang="en-US" sz="1200" dirty="0" err="1"/>
              <a:t>dụng</a:t>
            </a:r>
            <a:r>
              <a:rPr lang="en-US" sz="1200" dirty="0"/>
              <a:t> DL, </a:t>
            </a:r>
            <a:r>
              <a:rPr lang="en-US" sz="1200" dirty="0" err="1"/>
              <a:t>chúng</a:t>
            </a:r>
            <a:r>
              <a:rPr lang="en-US" sz="1200" dirty="0"/>
              <a:t> ta </a:t>
            </a:r>
            <a:r>
              <a:rPr lang="en-US" sz="1200" dirty="0" err="1"/>
              <a:t>có</a:t>
            </a:r>
            <a:r>
              <a:rPr lang="en-US" sz="1200" dirty="0"/>
              <a:t> </a:t>
            </a:r>
            <a:r>
              <a:rPr lang="en-US" sz="1200" dirty="0" err="1"/>
              <a:t>thể</a:t>
            </a:r>
            <a:r>
              <a:rPr lang="en-US" sz="1200" dirty="0"/>
              <a:t> </a:t>
            </a:r>
            <a:r>
              <a:rPr lang="en-US" sz="1200" dirty="0" err="1"/>
              <a:t>nhận</a:t>
            </a:r>
            <a:r>
              <a:rPr lang="en-US" sz="1200" dirty="0"/>
              <a:t> </a:t>
            </a:r>
            <a:r>
              <a:rPr lang="en-US" sz="1200" dirty="0" err="1"/>
              <a:t>thức</a:t>
            </a:r>
            <a:r>
              <a:rPr lang="en-US" sz="1200" dirty="0"/>
              <a:t> </a:t>
            </a:r>
            <a:r>
              <a:rPr lang="en-US" sz="1200" dirty="0" err="1"/>
              <a:t>được</a:t>
            </a:r>
            <a:r>
              <a:rPr lang="en-US" sz="1200" dirty="0"/>
              <a:t> </a:t>
            </a:r>
            <a:r>
              <a:rPr lang="en-US" sz="1200" dirty="0" err="1"/>
              <a:t>cách</a:t>
            </a:r>
            <a:r>
              <a:rPr lang="en-US" sz="1200" dirty="0"/>
              <a:t> </a:t>
            </a:r>
            <a:r>
              <a:rPr lang="en-US" sz="1200" dirty="0" err="1"/>
              <a:t>thức</a:t>
            </a:r>
            <a:r>
              <a:rPr lang="en-US" sz="1200" dirty="0"/>
              <a:t> </a:t>
            </a:r>
            <a:r>
              <a:rPr lang="en-US" sz="1200" dirty="0" err="1"/>
              <a:t>mà</a:t>
            </a:r>
            <a:r>
              <a:rPr lang="en-US" sz="1200" dirty="0"/>
              <a:t> </a:t>
            </a:r>
            <a:r>
              <a:rPr lang="en-US" sz="1200" dirty="0" err="1"/>
              <a:t>thị</a:t>
            </a:r>
            <a:r>
              <a:rPr lang="en-US" sz="1200" dirty="0"/>
              <a:t> </a:t>
            </a:r>
            <a:r>
              <a:rPr lang="en-US" sz="1200" dirty="0" err="1"/>
              <a:t>giác</a:t>
            </a:r>
            <a:r>
              <a:rPr lang="en-US" sz="1200" dirty="0"/>
              <a:t> </a:t>
            </a:r>
            <a:r>
              <a:rPr lang="en-US" sz="1200" dirty="0" err="1"/>
              <a:t>của</a:t>
            </a:r>
            <a:r>
              <a:rPr lang="en-US" sz="1200" dirty="0"/>
              <a:t> </a:t>
            </a:r>
            <a:r>
              <a:rPr lang="en-US" sz="1200" dirty="0" err="1"/>
              <a:t>chúng</a:t>
            </a:r>
            <a:r>
              <a:rPr lang="en-US" sz="1200" dirty="0"/>
              <a:t> ta </a:t>
            </a:r>
            <a:r>
              <a:rPr lang="en-US" sz="1200" dirty="0" err="1"/>
              <a:t>nhận</a:t>
            </a:r>
            <a:r>
              <a:rPr lang="en-US" sz="1200" dirty="0"/>
              <a:t> </a:t>
            </a:r>
            <a:r>
              <a:rPr lang="en-US" sz="1200" dirty="0" err="1"/>
              <a:t>thức</a:t>
            </a:r>
            <a:r>
              <a:rPr lang="en-US" sz="1200" dirty="0"/>
              <a:t> </a:t>
            </a:r>
            <a:r>
              <a:rPr lang="en-US" sz="1200" dirty="0" err="1"/>
              <a:t>được</a:t>
            </a:r>
            <a:r>
              <a:rPr lang="en-US" sz="1200" dirty="0"/>
              <a:t> </a:t>
            </a:r>
            <a:r>
              <a:rPr lang="en-US" sz="1200" dirty="0" err="1"/>
              <a:t>lá</a:t>
            </a:r>
            <a:r>
              <a:rPr lang="en-US" sz="1200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9BE77-B6CB-4AFC-9E95-9CD04CD10AA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862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Global network train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lá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Local network train </a:t>
            </a:r>
            <a:r>
              <a:rPr lang="en-US" dirty="0" err="1"/>
              <a:t>trên</a:t>
            </a:r>
            <a:r>
              <a:rPr lang="en-US" dirty="0"/>
              <a:t> patch</a:t>
            </a:r>
          </a:p>
          <a:p>
            <a:pPr marL="0" indent="0">
              <a:buNone/>
            </a:pPr>
            <a:r>
              <a:rPr lang="en-US" dirty="0"/>
              <a:t>-&gt;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feature fusion</a:t>
            </a:r>
          </a:p>
          <a:p>
            <a:pPr marL="0" indent="0">
              <a:buNone/>
            </a:pPr>
            <a:r>
              <a:rPr lang="en-US" dirty="0"/>
              <a:t>Late fusion: </a:t>
            </a:r>
            <a:r>
              <a:rPr lang="en-US" dirty="0" err="1"/>
              <a:t>đặt</a:t>
            </a:r>
            <a:r>
              <a:rPr lang="en-US" dirty="0"/>
              <a:t> fusion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softmax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Early fusion: </a:t>
            </a:r>
            <a:r>
              <a:rPr lang="en-US" dirty="0" err="1"/>
              <a:t>đặt</a:t>
            </a:r>
            <a:r>
              <a:rPr lang="en-US" dirty="0"/>
              <a:t> fusion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feature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9BE77-B6CB-4AFC-9E95-9CD04CD10AA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27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/>
              <a:t>Hình</a:t>
            </a:r>
            <a:r>
              <a:rPr lang="en-US" sz="1200" dirty="0"/>
              <a:t> </a:t>
            </a:r>
            <a:r>
              <a:rPr lang="en-US" sz="1200" dirty="0" err="1"/>
              <a:t>ảnh</a:t>
            </a:r>
            <a:r>
              <a:rPr lang="en-US" sz="1200" dirty="0"/>
              <a:t> </a:t>
            </a:r>
            <a:r>
              <a:rPr lang="en-US" sz="1200" dirty="0" err="1"/>
              <a:t>thu</a:t>
            </a:r>
            <a:r>
              <a:rPr lang="en-US" sz="1200" dirty="0"/>
              <a:t> </a:t>
            </a:r>
            <a:r>
              <a:rPr lang="en-US" sz="1200" dirty="0" err="1"/>
              <a:t>được</a:t>
            </a:r>
            <a:r>
              <a:rPr lang="en-US" sz="1200" dirty="0"/>
              <a:t> </a:t>
            </a:r>
            <a:r>
              <a:rPr lang="en-US" sz="1200" dirty="0" err="1"/>
              <a:t>từ</a:t>
            </a:r>
            <a:r>
              <a:rPr lang="en-US" sz="1200" dirty="0"/>
              <a:t> </a:t>
            </a:r>
            <a:r>
              <a:rPr lang="en-US" sz="1200" dirty="0" err="1"/>
              <a:t>bước</a:t>
            </a:r>
            <a:r>
              <a:rPr lang="en-US" sz="1200" dirty="0"/>
              <a:t> (a) </a:t>
            </a:r>
            <a:r>
              <a:rPr lang="en-US" sz="1200" dirty="0" err="1"/>
              <a:t>được</a:t>
            </a:r>
            <a:r>
              <a:rPr lang="en-US" sz="1200" dirty="0"/>
              <a:t> </a:t>
            </a:r>
            <a:r>
              <a:rPr lang="en-US" sz="1200" dirty="0" err="1"/>
              <a:t>giới</a:t>
            </a:r>
            <a:r>
              <a:rPr lang="en-US" sz="1200" dirty="0"/>
              <a:t> </a:t>
            </a:r>
            <a:r>
              <a:rPr lang="en-US" sz="1200" dirty="0" err="1"/>
              <a:t>hạn</a:t>
            </a:r>
            <a:endParaRPr lang="en-US" sz="1200" dirty="0"/>
          </a:p>
          <a:p>
            <a:r>
              <a:rPr lang="en-US" sz="1200" dirty="0" err="1"/>
              <a:t>Hình</a:t>
            </a:r>
            <a:r>
              <a:rPr lang="en-US" sz="1200" dirty="0"/>
              <a:t> </a:t>
            </a:r>
            <a:r>
              <a:rPr lang="en-US" sz="1200" dirty="0" err="1"/>
              <a:t>ảnh</a:t>
            </a:r>
            <a:r>
              <a:rPr lang="en-US" sz="1200" dirty="0"/>
              <a:t> </a:t>
            </a:r>
            <a:r>
              <a:rPr lang="en-US" sz="1200" dirty="0" err="1"/>
              <a:t>được</a:t>
            </a:r>
            <a:r>
              <a:rPr lang="en-US" sz="1200" dirty="0"/>
              <a:t> chia </a:t>
            </a:r>
            <a:r>
              <a:rPr lang="en-US" sz="1200" dirty="0" err="1"/>
              <a:t>thành</a:t>
            </a:r>
            <a:r>
              <a:rPr lang="en-US" sz="1200" dirty="0"/>
              <a:t> </a:t>
            </a:r>
            <a:r>
              <a:rPr lang="en-US" sz="1200" dirty="0" err="1"/>
              <a:t>hai</a:t>
            </a:r>
            <a:r>
              <a:rPr lang="en-US" sz="1200" dirty="0"/>
              <a:t> </a:t>
            </a:r>
            <a:r>
              <a:rPr lang="en-US" sz="1200" dirty="0" err="1"/>
              <a:t>phần</a:t>
            </a:r>
            <a:r>
              <a:rPr lang="en-US" sz="1200" dirty="0"/>
              <a:t> </a:t>
            </a:r>
            <a:r>
              <a:rPr lang="en-US" sz="1200" dirty="0" err="1"/>
              <a:t>theo</a:t>
            </a:r>
            <a:r>
              <a:rPr lang="en-US" sz="1200" dirty="0"/>
              <a:t> </a:t>
            </a:r>
            <a:r>
              <a:rPr lang="en-US" sz="1200" dirty="0" err="1"/>
              <a:t>hai</a:t>
            </a:r>
            <a:r>
              <a:rPr lang="en-US" sz="1200" dirty="0"/>
              <a:t> </a:t>
            </a:r>
            <a:r>
              <a:rPr lang="en-US" sz="1200" dirty="0" err="1"/>
              <a:t>lần</a:t>
            </a:r>
            <a:r>
              <a:rPr lang="en-US" sz="1200" dirty="0"/>
              <a:t>, </a:t>
            </a:r>
            <a:r>
              <a:rPr lang="en-US" sz="1200" dirty="0" err="1"/>
              <a:t>một</a:t>
            </a:r>
            <a:r>
              <a:rPr lang="en-US" sz="1200" dirty="0"/>
              <a:t> </a:t>
            </a:r>
            <a:r>
              <a:rPr lang="en-US" sz="1200" dirty="0" err="1"/>
              <a:t>lần</a:t>
            </a:r>
            <a:r>
              <a:rPr lang="en-US" sz="1200" dirty="0"/>
              <a:t> </a:t>
            </a:r>
            <a:r>
              <a:rPr lang="en-US" sz="1200" dirty="0" err="1"/>
              <a:t>theo</a:t>
            </a:r>
            <a:r>
              <a:rPr lang="en-US" sz="1200" dirty="0"/>
              <a:t> </a:t>
            </a:r>
            <a:r>
              <a:rPr lang="en-US" sz="1200" dirty="0" err="1"/>
              <a:t>chiều</a:t>
            </a:r>
            <a:r>
              <a:rPr lang="en-US" sz="1200" dirty="0"/>
              <a:t> </a:t>
            </a:r>
            <a:r>
              <a:rPr lang="en-US" sz="1200" dirty="0" err="1"/>
              <a:t>dọc</a:t>
            </a:r>
            <a:r>
              <a:rPr lang="en-US" sz="1200" dirty="0"/>
              <a:t> </a:t>
            </a:r>
            <a:r>
              <a:rPr lang="en-US" sz="1200" dirty="0" err="1"/>
              <a:t>và</a:t>
            </a:r>
            <a:r>
              <a:rPr lang="en-US" sz="1200" dirty="0"/>
              <a:t> </a:t>
            </a:r>
            <a:r>
              <a:rPr lang="en-US" sz="1200" dirty="0" err="1"/>
              <a:t>một</a:t>
            </a:r>
            <a:r>
              <a:rPr lang="en-US" sz="1200" dirty="0"/>
              <a:t> </a:t>
            </a:r>
            <a:r>
              <a:rPr lang="en-US" sz="1200" dirty="0" err="1"/>
              <a:t>chiều</a:t>
            </a:r>
            <a:r>
              <a:rPr lang="en-US" sz="1200" dirty="0"/>
              <a:t> </a:t>
            </a:r>
            <a:r>
              <a:rPr lang="en-US" sz="1200" dirty="0" err="1"/>
              <a:t>ngang</a:t>
            </a:r>
            <a:r>
              <a:rPr lang="en-US" sz="1200" dirty="0"/>
              <a:t>. </a:t>
            </a:r>
          </a:p>
          <a:p>
            <a:r>
              <a:rPr lang="en-US" sz="1200" dirty="0"/>
              <a:t>2 </a:t>
            </a:r>
            <a:r>
              <a:rPr lang="en-US" sz="1200" dirty="0" err="1"/>
              <a:t>nửa</a:t>
            </a:r>
            <a:r>
              <a:rPr lang="en-US" sz="1200" dirty="0"/>
              <a:t> </a:t>
            </a:r>
            <a:r>
              <a:rPr lang="en-US" sz="1200" dirty="0" err="1"/>
              <a:t>của</a:t>
            </a:r>
            <a:r>
              <a:rPr lang="en-US" sz="1200" dirty="0"/>
              <a:t> </a:t>
            </a:r>
            <a:r>
              <a:rPr lang="en-US" sz="1200" dirty="0" err="1"/>
              <a:t>lá</a:t>
            </a:r>
            <a:r>
              <a:rPr lang="en-US" sz="1200" dirty="0"/>
              <a:t> </a:t>
            </a:r>
            <a:r>
              <a:rPr lang="en-US" sz="1200" dirty="0" err="1"/>
              <a:t>được</a:t>
            </a:r>
            <a:r>
              <a:rPr lang="en-US" sz="1200" dirty="0"/>
              <a:t> AND </a:t>
            </a:r>
            <a:r>
              <a:rPr lang="en-US" sz="1200" dirty="0" err="1"/>
              <a:t>với</a:t>
            </a:r>
            <a:r>
              <a:rPr lang="en-US" sz="1200" dirty="0"/>
              <a:t> </a:t>
            </a:r>
            <a:r>
              <a:rPr lang="en-US" sz="1200" dirty="0" err="1"/>
              <a:t>nhau</a:t>
            </a:r>
            <a:r>
              <a:rPr lang="en-US" sz="1200" dirty="0"/>
              <a:t> </a:t>
            </a:r>
            <a:r>
              <a:rPr lang="en-US" sz="1200" dirty="0" err="1"/>
              <a:t>để</a:t>
            </a:r>
            <a:r>
              <a:rPr lang="en-US" sz="1200" dirty="0"/>
              <a:t> </a:t>
            </a:r>
            <a:r>
              <a:rPr lang="en-US" sz="1200" dirty="0" err="1"/>
              <a:t>tạo</a:t>
            </a:r>
            <a:r>
              <a:rPr lang="en-US" sz="1200" dirty="0"/>
              <a:t> S1 </a:t>
            </a:r>
            <a:r>
              <a:rPr lang="en-US" sz="1200" dirty="0" err="1"/>
              <a:t>và</a:t>
            </a:r>
            <a:r>
              <a:rPr lang="en-US" sz="1200" dirty="0"/>
              <a:t> S2</a:t>
            </a:r>
          </a:p>
          <a:p>
            <a:r>
              <a:rPr lang="en-US" sz="1200" dirty="0"/>
              <a:t>So </a:t>
            </a:r>
            <a:r>
              <a:rPr lang="en-US" sz="1200" dirty="0" err="1"/>
              <a:t>sánh</a:t>
            </a:r>
            <a:r>
              <a:rPr lang="en-US" sz="1200" dirty="0"/>
              <a:t> S1 </a:t>
            </a:r>
            <a:r>
              <a:rPr lang="en-US" sz="1200" dirty="0" err="1"/>
              <a:t>với</a:t>
            </a:r>
            <a:r>
              <a:rPr lang="en-US" sz="1200" dirty="0"/>
              <a:t> S2 </a:t>
            </a:r>
            <a:r>
              <a:rPr lang="en-US" sz="1200" dirty="0" err="1"/>
              <a:t>và</a:t>
            </a:r>
            <a:r>
              <a:rPr lang="en-US" sz="1200" dirty="0"/>
              <a:t> </a:t>
            </a:r>
            <a:r>
              <a:rPr lang="en-US" sz="1200" dirty="0" err="1"/>
              <a:t>tỷ</a:t>
            </a:r>
            <a:r>
              <a:rPr lang="en-US" sz="1200" dirty="0"/>
              <a:t> </a:t>
            </a:r>
            <a:r>
              <a:rPr lang="en-US" sz="1200" dirty="0" err="1"/>
              <a:t>lệ</a:t>
            </a:r>
            <a:r>
              <a:rPr lang="en-US" sz="1200" dirty="0"/>
              <a:t> </a:t>
            </a:r>
            <a:r>
              <a:rPr lang="en-US" sz="1200" dirty="0" err="1"/>
              <a:t>khung</a:t>
            </a:r>
            <a:r>
              <a:rPr lang="en-US" sz="1200" dirty="0"/>
              <a:t> </a:t>
            </a:r>
            <a:r>
              <a:rPr lang="en-US" sz="1200" dirty="0" err="1"/>
              <a:t>hình</a:t>
            </a:r>
            <a:r>
              <a:rPr lang="en-US" sz="1200" dirty="0"/>
              <a:t> (AR) </a:t>
            </a:r>
            <a:r>
              <a:rPr lang="en-US" sz="1200" dirty="0" err="1"/>
              <a:t>với</a:t>
            </a:r>
            <a:r>
              <a:rPr lang="en-US" sz="1200" dirty="0"/>
              <a:t> </a:t>
            </a:r>
            <a:r>
              <a:rPr lang="en-US" sz="1200" dirty="0" err="1"/>
              <a:t>ngưỡng</a:t>
            </a:r>
            <a:r>
              <a:rPr lang="en-US" sz="1200" dirty="0"/>
              <a:t> (T). </a:t>
            </a:r>
          </a:p>
          <a:p>
            <a:r>
              <a:rPr lang="en-US" sz="1200" dirty="0"/>
              <a:t>So </a:t>
            </a:r>
            <a:r>
              <a:rPr lang="en-US" sz="1200" dirty="0" err="1"/>
              <a:t>sánh</a:t>
            </a:r>
            <a:r>
              <a:rPr lang="en-US" sz="1200" dirty="0"/>
              <a:t> </a:t>
            </a:r>
            <a:r>
              <a:rPr lang="en-US" sz="1200" dirty="0" err="1"/>
              <a:t>với</a:t>
            </a:r>
            <a:r>
              <a:rPr lang="en-US" sz="1200" dirty="0"/>
              <a:t> </a:t>
            </a:r>
            <a:r>
              <a:rPr lang="en-US" sz="1200" dirty="0" err="1"/>
              <a:t>tỷ</a:t>
            </a:r>
            <a:r>
              <a:rPr lang="en-US" sz="1200" dirty="0"/>
              <a:t> </a:t>
            </a:r>
            <a:r>
              <a:rPr lang="en-US" sz="1200" dirty="0" err="1"/>
              <a:t>lệ</a:t>
            </a:r>
            <a:r>
              <a:rPr lang="en-US" sz="1200" dirty="0"/>
              <a:t> </a:t>
            </a:r>
            <a:r>
              <a:rPr lang="en-US" sz="1200" dirty="0" err="1"/>
              <a:t>khung</a:t>
            </a:r>
            <a:r>
              <a:rPr lang="en-US" sz="1200" dirty="0"/>
              <a:t> </a:t>
            </a:r>
            <a:r>
              <a:rPr lang="en-US" sz="1200" dirty="0" err="1"/>
              <a:t>hình</a:t>
            </a:r>
            <a:r>
              <a:rPr lang="en-US" sz="1200" dirty="0"/>
              <a:t> </a:t>
            </a:r>
            <a:r>
              <a:rPr lang="en-US" sz="1200" dirty="0" err="1"/>
              <a:t>là</a:t>
            </a:r>
            <a:r>
              <a:rPr lang="en-US" sz="1200" dirty="0"/>
              <a:t> </a:t>
            </a:r>
            <a:r>
              <a:rPr lang="en-US" sz="1200" dirty="0" err="1"/>
              <a:t>cần</a:t>
            </a:r>
            <a:r>
              <a:rPr lang="en-US" sz="1200" dirty="0"/>
              <a:t> </a:t>
            </a:r>
            <a:r>
              <a:rPr lang="en-US" sz="1200" dirty="0" err="1"/>
              <a:t>thiết</a:t>
            </a:r>
            <a:r>
              <a:rPr lang="en-US" sz="1200" dirty="0"/>
              <a:t> </a:t>
            </a:r>
            <a:r>
              <a:rPr lang="en-US" sz="1200" dirty="0" err="1"/>
              <a:t>để</a:t>
            </a:r>
            <a:r>
              <a:rPr lang="en-US" sz="1200" dirty="0"/>
              <a:t> </a:t>
            </a:r>
            <a:r>
              <a:rPr lang="en-US" sz="1200" dirty="0" err="1"/>
              <a:t>đảm</a:t>
            </a:r>
            <a:r>
              <a:rPr lang="en-US" sz="1200" dirty="0"/>
              <a:t> </a:t>
            </a:r>
            <a:r>
              <a:rPr lang="en-US" sz="1200" dirty="0" err="1"/>
              <a:t>bảo</a:t>
            </a:r>
            <a:r>
              <a:rPr lang="en-US" sz="1200" dirty="0"/>
              <a:t> </a:t>
            </a:r>
            <a:r>
              <a:rPr lang="en-US" sz="1200" dirty="0" err="1"/>
              <a:t>rằng</a:t>
            </a:r>
            <a:r>
              <a:rPr lang="en-US" sz="1200" dirty="0"/>
              <a:t> </a:t>
            </a:r>
            <a:r>
              <a:rPr lang="en-US" sz="1200" dirty="0" err="1"/>
              <a:t>chỉ</a:t>
            </a:r>
            <a:r>
              <a:rPr lang="en-US" sz="1200" dirty="0"/>
              <a:t> </a:t>
            </a:r>
            <a:r>
              <a:rPr lang="en-US" sz="1200" dirty="0" err="1"/>
              <a:t>có</a:t>
            </a:r>
            <a:r>
              <a:rPr lang="en-US" sz="1200" dirty="0"/>
              <a:t> </a:t>
            </a:r>
            <a:r>
              <a:rPr lang="en-US" sz="1200" dirty="0" err="1"/>
              <a:t>các</a:t>
            </a:r>
            <a:r>
              <a:rPr lang="en-US" sz="1200" dirty="0"/>
              <a:t> </a:t>
            </a:r>
            <a:r>
              <a:rPr lang="en-US" sz="1200" dirty="0" err="1"/>
              <a:t>lá</a:t>
            </a:r>
            <a:r>
              <a:rPr lang="en-US" sz="1200" dirty="0"/>
              <a:t> </a:t>
            </a:r>
            <a:r>
              <a:rPr lang="en-US" sz="1200" dirty="0" err="1"/>
              <a:t>rộng</a:t>
            </a:r>
            <a:r>
              <a:rPr lang="en-US" sz="1200" dirty="0"/>
              <a:t> </a:t>
            </a:r>
            <a:r>
              <a:rPr lang="en-US" sz="1200" dirty="0" err="1"/>
              <a:t>được</a:t>
            </a:r>
            <a:r>
              <a:rPr lang="en-US" sz="1200" dirty="0"/>
              <a:t> </a:t>
            </a:r>
            <a:r>
              <a:rPr lang="en-US" sz="1200" dirty="0" err="1"/>
              <a:t>xoay</a:t>
            </a:r>
            <a:r>
              <a:rPr lang="en-US" sz="1200" dirty="0"/>
              <a:t>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/>
              <a:t>Tiếp</a:t>
            </a:r>
            <a:r>
              <a:rPr lang="en-US" sz="1200" dirty="0"/>
              <a:t> </a:t>
            </a:r>
            <a:r>
              <a:rPr lang="en-US" sz="1200" dirty="0" err="1"/>
              <a:t>tục</a:t>
            </a:r>
            <a:r>
              <a:rPr lang="en-US" sz="1200" dirty="0"/>
              <a:t> chia </a:t>
            </a:r>
            <a:r>
              <a:rPr lang="en-US" sz="1200" dirty="0" err="1"/>
              <a:t>ảnh</a:t>
            </a:r>
            <a:r>
              <a:rPr lang="en-US" sz="1200" dirty="0"/>
              <a:t> </a:t>
            </a:r>
            <a:r>
              <a:rPr lang="en-US" sz="1200" dirty="0" err="1"/>
              <a:t>làm</a:t>
            </a:r>
            <a:r>
              <a:rPr lang="en-US" sz="1200" dirty="0"/>
              <a:t> 2 </a:t>
            </a:r>
            <a:r>
              <a:rPr lang="en-US" sz="1200" dirty="0" err="1"/>
              <a:t>phần</a:t>
            </a:r>
            <a:r>
              <a:rPr lang="en-US" sz="1200" dirty="0"/>
              <a:t>, </a:t>
            </a:r>
            <a:r>
              <a:rPr lang="en-US" sz="1200" dirty="0" err="1"/>
              <a:t>nếu</a:t>
            </a:r>
            <a:r>
              <a:rPr lang="en-US" sz="1200" dirty="0"/>
              <a:t> </a:t>
            </a:r>
            <a:r>
              <a:rPr lang="en-US" sz="1200" dirty="0" err="1"/>
              <a:t>diện</a:t>
            </a:r>
            <a:r>
              <a:rPr lang="en-US" sz="1200" dirty="0"/>
              <a:t> </a:t>
            </a:r>
            <a:r>
              <a:rPr lang="en-US" sz="1200" dirty="0" err="1"/>
              <a:t>tích</a:t>
            </a:r>
            <a:r>
              <a:rPr lang="en-US" sz="1200" dirty="0"/>
              <a:t> </a:t>
            </a:r>
            <a:r>
              <a:rPr lang="en-US" sz="1200" dirty="0" err="1"/>
              <a:t>phải</a:t>
            </a:r>
            <a:r>
              <a:rPr lang="en-US" sz="1200" dirty="0"/>
              <a:t> &gt; </a:t>
            </a:r>
            <a:r>
              <a:rPr lang="en-US" sz="1200" dirty="0" err="1"/>
              <a:t>diện</a:t>
            </a:r>
            <a:r>
              <a:rPr lang="en-US" sz="1200" dirty="0"/>
              <a:t> </a:t>
            </a:r>
            <a:r>
              <a:rPr lang="en-US" sz="1200" dirty="0" err="1"/>
              <a:t>tích</a:t>
            </a:r>
            <a:r>
              <a:rPr lang="en-US" sz="1200" dirty="0"/>
              <a:t> </a:t>
            </a:r>
            <a:r>
              <a:rPr lang="en-US" sz="1200" dirty="0" err="1"/>
              <a:t>trái</a:t>
            </a:r>
            <a:r>
              <a:rPr lang="en-US" sz="1200" dirty="0"/>
              <a:t> </a:t>
            </a:r>
            <a:r>
              <a:rPr lang="en-US" sz="1200" dirty="0" err="1"/>
              <a:t>thì</a:t>
            </a:r>
            <a:r>
              <a:rPr lang="en-US" sz="1200" dirty="0"/>
              <a:t> </a:t>
            </a:r>
            <a:r>
              <a:rPr lang="en-US" sz="1200" dirty="0" err="1"/>
              <a:t>xoay</a:t>
            </a:r>
            <a:r>
              <a:rPr lang="en-US" sz="1200" dirty="0"/>
              <a:t> 180 </a:t>
            </a:r>
            <a:r>
              <a:rPr lang="en-US" sz="1200" dirty="0" err="1"/>
              <a:t>độ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endParaRPr lang="en-US" dirty="0"/>
          </a:p>
          <a:p>
            <a:r>
              <a:rPr lang="en-US" dirty="0" err="1"/>
              <a:t>Lá</a:t>
            </a:r>
            <a:r>
              <a:rPr lang="en-US" baseline="0" dirty="0"/>
              <a:t> </a:t>
            </a:r>
            <a:r>
              <a:rPr lang="en-US" baseline="0" dirty="0" err="1"/>
              <a:t>dài</a:t>
            </a:r>
            <a:r>
              <a:rPr lang="en-US" baseline="0" dirty="0"/>
              <a:t> </a:t>
            </a:r>
            <a:r>
              <a:rPr lang="en-US" baseline="0" dirty="0" err="1"/>
              <a:t>thì</a:t>
            </a:r>
            <a:r>
              <a:rPr lang="en-US" baseline="0" dirty="0"/>
              <a:t> </a:t>
            </a:r>
            <a:r>
              <a:rPr lang="en-US" baseline="0" dirty="0" err="1"/>
              <a:t>có</a:t>
            </a:r>
            <a:r>
              <a:rPr lang="en-US" baseline="0" dirty="0"/>
              <a:t> </a:t>
            </a:r>
            <a:r>
              <a:rPr lang="en-US" baseline="0" dirty="0" err="1"/>
              <a:t>đặc</a:t>
            </a:r>
            <a:r>
              <a:rPr lang="en-US" baseline="0" dirty="0"/>
              <a:t> </a:t>
            </a:r>
            <a:r>
              <a:rPr lang="en-US" baseline="0" dirty="0" err="1"/>
              <a:t>điểm</a:t>
            </a:r>
            <a:r>
              <a:rPr lang="en-US" baseline="0" dirty="0"/>
              <a:t> </a:t>
            </a:r>
            <a:r>
              <a:rPr lang="en-US" baseline="0" dirty="0" err="1"/>
              <a:t>phân</a:t>
            </a:r>
            <a:r>
              <a:rPr lang="en-US" baseline="0" dirty="0"/>
              <a:t> </a:t>
            </a:r>
            <a:r>
              <a:rPr lang="en-US" baseline="0" dirty="0" err="1"/>
              <a:t>biệt</a:t>
            </a:r>
            <a:r>
              <a:rPr lang="en-US" baseline="0" dirty="0"/>
              <a:t> </a:t>
            </a:r>
            <a:r>
              <a:rPr lang="en-US" baseline="0" dirty="0" err="1"/>
              <a:t>nên</a:t>
            </a:r>
            <a:r>
              <a:rPr lang="en-US" baseline="0" dirty="0"/>
              <a:t> </a:t>
            </a:r>
            <a:r>
              <a:rPr lang="en-US" baseline="0" dirty="0" err="1"/>
              <a:t>chúng</a:t>
            </a:r>
            <a:r>
              <a:rPr lang="en-US" baseline="0" dirty="0"/>
              <a:t> ta </a:t>
            </a:r>
            <a:r>
              <a:rPr lang="en-US" baseline="0" dirty="0" err="1"/>
              <a:t>biết</a:t>
            </a:r>
            <a:r>
              <a:rPr lang="en-US" baseline="0" dirty="0"/>
              <a:t> </a:t>
            </a:r>
            <a:r>
              <a:rPr lang="en-US" baseline="0" dirty="0" err="1"/>
              <a:t>hướng</a:t>
            </a:r>
            <a:r>
              <a:rPr lang="en-US" baseline="0" dirty="0"/>
              <a:t> </a:t>
            </a:r>
            <a:r>
              <a:rPr lang="en-US" baseline="0" dirty="0" err="1"/>
              <a:t>và</a:t>
            </a:r>
            <a:r>
              <a:rPr lang="en-US" baseline="0" dirty="0"/>
              <a:t> </a:t>
            </a:r>
            <a:r>
              <a:rPr lang="en-US" baseline="0" dirty="0" err="1"/>
              <a:t>không</a:t>
            </a:r>
            <a:r>
              <a:rPr lang="en-US" baseline="0" dirty="0"/>
              <a:t> </a:t>
            </a:r>
            <a:r>
              <a:rPr lang="en-US" baseline="0" dirty="0" err="1"/>
              <a:t>cần</a:t>
            </a:r>
            <a:r>
              <a:rPr lang="en-US" baseline="0" dirty="0"/>
              <a:t> </a:t>
            </a:r>
            <a:r>
              <a:rPr lang="en-US" baseline="0" dirty="0" err="1"/>
              <a:t>xoay</a:t>
            </a: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A6BFB9-8CDC-4B92-B8AC-437783B7E08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3709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Shapelet là</a:t>
            </a:r>
            <a:r>
              <a:rPr lang="en-US" baseline="0"/>
              <a:t> feature cần tìm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A6BFB9-8CDC-4B92-B8AC-437783B7E08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158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Nhiễu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A6BFB9-8CDC-4B92-B8AC-437783B7E08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2820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Easy overloading if the problem provides too many classes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calculation time increases slowly while the dataset size increases quickly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A6BFB9-8CDC-4B92-B8AC-437783B7E08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316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-&gt; Bỏ</a:t>
            </a:r>
            <a:r>
              <a:rPr lang="en-US" baseline="0"/>
              <a:t> saturation -&gt; bỏ độ đậm đà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6D9B3-1620-4B02-82EC-53B9412D7EB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1238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-&gt; Bỏ</a:t>
            </a:r>
            <a:r>
              <a:rPr lang="en-US" baseline="0"/>
              <a:t> saturation -&gt; bỏ độ đậm đà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6D9B3-1620-4B02-82EC-53B9412D7EB3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040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Xác</a:t>
            </a:r>
            <a:r>
              <a:rPr lang="en-US" baseline="0"/>
              <a:t> suất là ob &gt; 0 thì w (s – ob, u) lớn</a:t>
            </a:r>
          </a:p>
          <a:p>
            <a:r>
              <a:rPr lang="en-US" baseline="0"/>
              <a:t>Nhân 0.9 để w luôn &lt; 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B65C3E-1FF3-406A-A9C5-49101B203BEE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7400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Xác</a:t>
            </a:r>
            <a:r>
              <a:rPr lang="en-US" baseline="0"/>
              <a:t> suất là ob &gt; 0 thì w (s – ob, u) lớn</a:t>
            </a:r>
          </a:p>
          <a:p>
            <a:r>
              <a:rPr lang="en-US" baseline="0"/>
              <a:t>Nhân 0.9 để w luôn &lt; 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B65C3E-1FF3-406A-A9C5-49101B203BEE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1894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Xác</a:t>
            </a:r>
            <a:r>
              <a:rPr lang="en-US" baseline="0"/>
              <a:t> suất là ob &gt; 0 thì w (s – ob, u) lớn</a:t>
            </a:r>
          </a:p>
          <a:p>
            <a:r>
              <a:rPr lang="en-US" baseline="0"/>
              <a:t>Nhân 0.9 để w luôn &lt; 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B65C3E-1FF3-406A-A9C5-49101B203BEE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7400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Xác</a:t>
            </a:r>
            <a:r>
              <a:rPr lang="en-US" baseline="0"/>
              <a:t> suất là ob &gt; 0 thì w (s – ob, u) lớn</a:t>
            </a:r>
          </a:p>
          <a:p>
            <a:r>
              <a:rPr lang="en-US" baseline="0"/>
              <a:t>Nhân 0.9 để w luôn &lt; 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B65C3E-1FF3-406A-A9C5-49101B203BEE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189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B368-CD72-4054-90C4-BACAAC3DD5E0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99E11-12EA-470D-B050-1D2338102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796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B368-CD72-4054-90C4-BACAAC3DD5E0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99E11-12EA-470D-B050-1D2338102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83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B368-CD72-4054-90C4-BACAAC3DD5E0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99E11-12EA-470D-B050-1D2338102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714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B368-CD72-4054-90C4-BACAAC3DD5E0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99E11-12EA-470D-B050-1D2338102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99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B368-CD72-4054-90C4-BACAAC3DD5E0}" type="datetimeFigureOut">
              <a:rPr lang="en-US" smtClean="0"/>
              <a:t>7/22/26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99E11-12EA-470D-B050-1D2338102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13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B368-CD72-4054-90C4-BACAAC3DD5E0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99E11-12EA-470D-B050-1D2338102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644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B368-CD72-4054-90C4-BACAAC3DD5E0}" type="datetimeFigureOut">
              <a:rPr lang="en-US" smtClean="0"/>
              <a:t>7/22/26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99E11-12EA-470D-B050-1D2338102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60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B368-CD72-4054-90C4-BACAAC3DD5E0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99E11-12EA-470D-B050-1D2338102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335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B368-CD72-4054-90C4-BACAAC3DD5E0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99E11-12EA-470D-B050-1D2338102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392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B368-CD72-4054-90C4-BACAAC3DD5E0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99E11-12EA-470D-B050-1D2338102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4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8B368-CD72-4054-90C4-BACAAC3DD5E0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99E11-12EA-470D-B050-1D2338102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262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8B368-CD72-4054-90C4-BACAAC3DD5E0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99E11-12EA-470D-B050-1D2338102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694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0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gif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1.png"/><Relationship Id="rId4" Type="http://schemas.openxmlformats.org/officeDocument/2006/relationships/image" Target="../media/image120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0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5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71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gif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2.png"/><Relationship Id="rId4" Type="http://schemas.openxmlformats.org/officeDocument/2006/relationships/image" Target="../media/image121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.png"/><Relationship Id="rId5" Type="http://schemas.openxmlformats.org/officeDocument/2006/relationships/image" Target="../media/image161.png"/><Relationship Id="rId4" Type="http://schemas.openxmlformats.org/officeDocument/2006/relationships/image" Target="../media/image151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0907486" cy="7968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09006" y="121418"/>
            <a:ext cx="109074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err="1">
                <a:solidFill>
                  <a:schemeClr val="bg1"/>
                </a:solidFill>
              </a:rPr>
              <a:t>Giới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 err="1">
                <a:solidFill>
                  <a:schemeClr val="bg1"/>
                </a:solidFill>
              </a:rPr>
              <a:t>thiệu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 err="1">
                <a:solidFill>
                  <a:schemeClr val="bg1"/>
                </a:solidFill>
              </a:rPr>
              <a:t>chung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056" y="1153613"/>
            <a:ext cx="10341429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 err="1"/>
              <a:t>Tên</a:t>
            </a:r>
            <a:r>
              <a:rPr lang="en-US" sz="2600" dirty="0"/>
              <a:t> </a:t>
            </a:r>
            <a:r>
              <a:rPr lang="en-US" sz="2600" dirty="0" err="1"/>
              <a:t>bài</a:t>
            </a:r>
            <a:r>
              <a:rPr lang="en-US" sz="2600" dirty="0"/>
              <a:t> </a:t>
            </a:r>
            <a:r>
              <a:rPr lang="en-US" sz="2600" dirty="0" err="1"/>
              <a:t>báo</a:t>
            </a:r>
            <a:r>
              <a:rPr lang="en-US" sz="2600" dirty="0"/>
              <a:t>: How deep learning extracts and learns leaf features for plant classiﬁcation?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056" y="2032469"/>
            <a:ext cx="1034142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Sue Han Lee, Chee Seng Chan – University of Malaysia, Malaysia</a:t>
            </a:r>
          </a:p>
          <a:p>
            <a:r>
              <a:rPr lang="en-US" sz="2600" dirty="0"/>
              <a:t>Simon Joseph - Royal Botanic Gardens, UK </a:t>
            </a:r>
          </a:p>
          <a:p>
            <a:r>
              <a:rPr lang="en-US" sz="2600" dirty="0"/>
              <a:t>Paolo </a:t>
            </a:r>
            <a:r>
              <a:rPr lang="en-US" sz="2600" dirty="0" err="1"/>
              <a:t>Remagnino</a:t>
            </a:r>
            <a:r>
              <a:rPr lang="en-US" sz="2600" dirty="0"/>
              <a:t> – Kingston University, 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056" y="3325131"/>
            <a:ext cx="739625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Public online 18/5/2017</a:t>
            </a:r>
          </a:p>
        </p:txBody>
      </p:sp>
    </p:spTree>
    <p:extLst>
      <p:ext uri="{BB962C8B-B14F-4D97-AF65-F5344CB8AC3E}">
        <p14:creationId xmlns:p14="http://schemas.microsoft.com/office/powerpoint/2010/main" val="1973449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0907486" cy="7968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09006" y="121418"/>
            <a:ext cx="109074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err="1">
                <a:solidFill>
                  <a:schemeClr val="bg1"/>
                </a:solidFill>
              </a:rPr>
              <a:t>Mục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 err="1">
                <a:solidFill>
                  <a:schemeClr val="bg1"/>
                </a:solidFill>
              </a:rPr>
              <a:t>tiêu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 err="1">
                <a:solidFill>
                  <a:schemeClr val="bg1"/>
                </a:solidFill>
              </a:rPr>
              <a:t>của</a:t>
            </a:r>
            <a:r>
              <a:rPr lang="en-US" sz="3000" dirty="0">
                <a:solidFill>
                  <a:schemeClr val="bg1"/>
                </a:solidFill>
              </a:rPr>
              <a:t> paper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2750" y="1234056"/>
            <a:ext cx="104947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1.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lượng</a:t>
            </a:r>
            <a:r>
              <a:rPr lang="en-US" sz="2400" dirty="0"/>
              <a:t> </a:t>
            </a:r>
            <a:r>
              <a:rPr lang="en-US" sz="2400" dirty="0" err="1"/>
              <a:t>những</a:t>
            </a:r>
            <a:r>
              <a:rPr lang="en-US" sz="2400" dirty="0"/>
              <a:t> feature </a:t>
            </a:r>
            <a:r>
              <a:rPr lang="en-US" sz="2400" dirty="0" err="1"/>
              <a:t>cần</a:t>
            </a:r>
            <a:r>
              <a:rPr lang="en-US" sz="2400" dirty="0"/>
              <a:t> </a:t>
            </a:r>
            <a:r>
              <a:rPr lang="en-US" sz="2400" dirty="0" err="1"/>
              <a:t>thiết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lá</a:t>
            </a:r>
            <a:r>
              <a:rPr lang="en-US" sz="2400" dirty="0"/>
              <a:t> </a:t>
            </a:r>
            <a:r>
              <a:rPr lang="en-US" sz="2400" dirty="0" err="1"/>
              <a:t>cây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412749" y="1769224"/>
            <a:ext cx="10494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2.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CNN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thô</a:t>
            </a:r>
            <a:r>
              <a:rPr lang="en-US" sz="2400" dirty="0"/>
              <a:t>, </a:t>
            </a:r>
            <a:r>
              <a:rPr lang="en-US" sz="2400" dirty="0" err="1"/>
              <a:t>sau</a:t>
            </a:r>
            <a:r>
              <a:rPr lang="en-US" sz="2400" dirty="0"/>
              <a:t> </a:t>
            </a:r>
            <a:r>
              <a:rPr lang="en-US" sz="2400" dirty="0" err="1"/>
              <a:t>đó</a:t>
            </a:r>
            <a:r>
              <a:rPr lang="en-US" sz="2400" dirty="0"/>
              <a:t> </a:t>
            </a:r>
            <a:r>
              <a:rPr lang="en-US" sz="2400" dirty="0" err="1"/>
              <a:t>dùng</a:t>
            </a:r>
            <a:r>
              <a:rPr lang="en-US" sz="2400" dirty="0"/>
              <a:t> DN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hiểu</a:t>
            </a:r>
            <a:r>
              <a:rPr lang="en-US" sz="2400" dirty="0"/>
              <a:t> </a:t>
            </a:r>
            <a:r>
              <a:rPr lang="en-US" sz="2400" dirty="0" err="1"/>
              <a:t>cách</a:t>
            </a:r>
            <a:r>
              <a:rPr lang="en-US" sz="2400" dirty="0"/>
              <a:t> CNN </a:t>
            </a:r>
            <a:r>
              <a:rPr lang="en-US" sz="2400" dirty="0" err="1"/>
              <a:t>trích</a:t>
            </a:r>
            <a:r>
              <a:rPr lang="en-US" sz="2400" dirty="0"/>
              <a:t> </a:t>
            </a:r>
            <a:r>
              <a:rPr lang="en-US" sz="2400" dirty="0" err="1"/>
              <a:t>xuất</a:t>
            </a:r>
            <a:r>
              <a:rPr lang="en-US" sz="2400" dirty="0"/>
              <a:t> </a:t>
            </a:r>
            <a:r>
              <a:rPr lang="en-US" sz="2400" dirty="0" err="1"/>
              <a:t>đặc</a:t>
            </a:r>
            <a:r>
              <a:rPr lang="en-US" sz="2400" dirty="0"/>
              <a:t> </a:t>
            </a:r>
            <a:r>
              <a:rPr lang="en-US" sz="2400" dirty="0" err="1"/>
              <a:t>trưng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412750" y="3390620"/>
            <a:ext cx="10494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4. </a:t>
            </a:r>
            <a:r>
              <a:rPr lang="en-US" sz="2400" dirty="0" err="1"/>
              <a:t>Ảnh</a:t>
            </a:r>
            <a:r>
              <a:rPr lang="en-US" sz="2400" dirty="0"/>
              <a:t> </a:t>
            </a:r>
            <a:r>
              <a:rPr lang="en-US" sz="2400" dirty="0" err="1"/>
              <a:t>hưởng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nghĩa</a:t>
            </a:r>
            <a:r>
              <a:rPr lang="en-US" sz="2400" dirty="0"/>
              <a:t> </a:t>
            </a:r>
            <a:r>
              <a:rPr lang="en-US" sz="2400" dirty="0" err="1"/>
              <a:t>loài</a:t>
            </a:r>
            <a:r>
              <a:rPr lang="en-US" sz="2400" dirty="0"/>
              <a:t> </a:t>
            </a:r>
            <a:r>
              <a:rPr lang="en-US" sz="2400" dirty="0" err="1"/>
              <a:t>đến</a:t>
            </a:r>
            <a:r>
              <a:rPr lang="en-US" sz="2400" dirty="0"/>
              <a:t> </a:t>
            </a:r>
            <a:r>
              <a:rPr lang="en-US" sz="2400" dirty="0" err="1"/>
              <a:t>những</a:t>
            </a:r>
            <a:r>
              <a:rPr lang="en-US" sz="2400" dirty="0"/>
              <a:t> 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2749" y="2581391"/>
            <a:ext cx="10494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 </a:t>
            </a:r>
            <a:r>
              <a:rPr lang="en-US" sz="2400" dirty="0" err="1"/>
              <a:t>Thử</a:t>
            </a:r>
            <a:r>
              <a:rPr lang="en-US" sz="2400" dirty="0"/>
              <a:t> </a:t>
            </a:r>
            <a:r>
              <a:rPr lang="en-US" sz="2400" dirty="0" err="1"/>
              <a:t>nghiệm</a:t>
            </a:r>
            <a:r>
              <a:rPr lang="en-US" sz="2400" dirty="0"/>
              <a:t>: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dạng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phải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feature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ảnh</a:t>
            </a:r>
            <a:r>
              <a:rPr lang="en-US" sz="2400" dirty="0"/>
              <a:t> </a:t>
            </a:r>
            <a:r>
              <a:rPr lang="en-US" sz="2400" dirty="0" err="1"/>
              <a:t>hưởng</a:t>
            </a:r>
            <a:r>
              <a:rPr lang="en-US" sz="2400" dirty="0"/>
              <a:t> </a:t>
            </a:r>
            <a:r>
              <a:rPr lang="en-US" sz="2400" dirty="0" err="1"/>
              <a:t>hơn</a:t>
            </a:r>
            <a:r>
              <a:rPr lang="en-US" sz="2400" dirty="0"/>
              <a:t> </a:t>
            </a:r>
            <a:r>
              <a:rPr lang="en-US" sz="2400" dirty="0" err="1"/>
              <a:t>những</a:t>
            </a:r>
            <a:r>
              <a:rPr lang="en-US" sz="2400" dirty="0"/>
              <a:t> feature </a:t>
            </a:r>
            <a:r>
              <a:rPr lang="en-US" sz="2400" dirty="0" err="1"/>
              <a:t>khác</a:t>
            </a:r>
            <a:r>
              <a:rPr lang="en-US" sz="2400" dirty="0"/>
              <a:t> hay </a:t>
            </a:r>
            <a:r>
              <a:rPr lang="en-US" sz="2400" dirty="0" err="1"/>
              <a:t>không</a:t>
            </a:r>
            <a:r>
              <a:rPr lang="en-US" sz="2400" dirty="0"/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748" y="3864440"/>
            <a:ext cx="10494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5. </a:t>
            </a:r>
            <a:r>
              <a:rPr lang="en-US" sz="2400" dirty="0" err="1"/>
              <a:t>Thử</a:t>
            </a:r>
            <a:r>
              <a:rPr lang="en-US" sz="2400" dirty="0"/>
              <a:t> </a:t>
            </a:r>
            <a:r>
              <a:rPr lang="en-US" sz="2400" dirty="0" err="1"/>
              <a:t>nghiệm</a:t>
            </a:r>
            <a:r>
              <a:rPr lang="en-US" sz="2400" dirty="0"/>
              <a:t>: train </a:t>
            </a:r>
            <a:r>
              <a:rPr lang="en-US" sz="2400" dirty="0" err="1"/>
              <a:t>bằng</a:t>
            </a:r>
            <a:r>
              <a:rPr lang="en-US" sz="2400" dirty="0"/>
              <a:t> CNN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lá</a:t>
            </a:r>
            <a:r>
              <a:rPr lang="en-US" sz="2400" dirty="0"/>
              <a:t> </a:t>
            </a:r>
            <a:r>
              <a:rPr lang="en-US" sz="2400" dirty="0" err="1"/>
              <a:t>hoàn</a:t>
            </a:r>
            <a:r>
              <a:rPr lang="en-US" sz="2400" dirty="0"/>
              <a:t> </a:t>
            </a:r>
            <a:r>
              <a:rPr lang="en-US" sz="2400" dirty="0" err="1"/>
              <a:t>chỉnh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hoàn</a:t>
            </a:r>
            <a:r>
              <a:rPr lang="en-US" sz="2400" dirty="0"/>
              <a:t> </a:t>
            </a:r>
            <a:r>
              <a:rPr lang="en-US" sz="2400" dirty="0" err="1"/>
              <a:t>chỉnh</a:t>
            </a:r>
            <a:r>
              <a:rPr lang="en-US" sz="2400" dirty="0"/>
              <a:t>. </a:t>
            </a:r>
            <a:r>
              <a:rPr lang="en-US" sz="2400" dirty="0" err="1"/>
              <a:t>Nhóm</a:t>
            </a:r>
            <a:r>
              <a:rPr lang="en-US" sz="2400" dirty="0"/>
              <a:t> feature </a:t>
            </a:r>
            <a:r>
              <a:rPr lang="en-US" sz="2400" dirty="0" err="1"/>
              <a:t>toàn</a:t>
            </a:r>
            <a:r>
              <a:rPr lang="en-US" sz="2400" dirty="0"/>
              <a:t> </a:t>
            </a:r>
            <a:r>
              <a:rPr lang="en-US" sz="2400" dirty="0" err="1"/>
              <a:t>cục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tả</a:t>
            </a:r>
            <a:r>
              <a:rPr lang="en-US" sz="2400" dirty="0"/>
              <a:t> </a:t>
            </a:r>
            <a:r>
              <a:rPr lang="en-US" sz="2400" dirty="0" err="1"/>
              <a:t>toàn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cấu</a:t>
            </a:r>
            <a:r>
              <a:rPr lang="en-US" sz="2400" dirty="0"/>
              <a:t> </a:t>
            </a:r>
            <a:r>
              <a:rPr lang="en-US" sz="2400" dirty="0" err="1"/>
              <a:t>trúc</a:t>
            </a:r>
            <a:r>
              <a:rPr lang="en-US" sz="2400" dirty="0"/>
              <a:t> </a:t>
            </a:r>
            <a:r>
              <a:rPr lang="en-US" sz="2400" dirty="0" err="1"/>
              <a:t>lá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cục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mô</a:t>
            </a:r>
            <a:r>
              <a:rPr lang="en-US" sz="2400" dirty="0"/>
              <a:t> ta </a:t>
            </a:r>
            <a:r>
              <a:rPr lang="en-US" sz="2400" dirty="0" err="1"/>
              <a:t>gân</a:t>
            </a:r>
            <a:r>
              <a:rPr lang="en-US" sz="2400" dirty="0"/>
              <a:t> </a:t>
            </a:r>
            <a:r>
              <a:rPr lang="en-US" sz="2400" dirty="0" err="1"/>
              <a:t>lá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12749" y="4804613"/>
            <a:ext cx="10494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6.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en-US" sz="2400" dirty="0" err="1"/>
              <a:t>xuất</a:t>
            </a:r>
            <a:r>
              <a:rPr lang="en-US" sz="2400" dirty="0"/>
              <a:t> </a:t>
            </a:r>
            <a:r>
              <a:rPr lang="en-US" sz="2400" dirty="0" err="1"/>
              <a:t>việc</a:t>
            </a:r>
            <a:r>
              <a:rPr lang="en-US" sz="2400" dirty="0"/>
              <a:t> </a:t>
            </a:r>
            <a:r>
              <a:rPr lang="en-US" sz="2400" dirty="0" err="1"/>
              <a:t>tích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2 CNN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2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khác</a:t>
            </a:r>
            <a:r>
              <a:rPr lang="en-US" sz="2400" dirty="0"/>
              <a:t> </a:t>
            </a:r>
            <a:r>
              <a:rPr lang="en-US" sz="2400" dirty="0" err="1"/>
              <a:t>nhau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cùng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loài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90940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52" y="0"/>
            <a:ext cx="10599821" cy="686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982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400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95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53852" cy="19724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65758" y="2142309"/>
                <a:ext cx="10592974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Framework: </a:t>
                </a:r>
                <a:r>
                  <a:rPr lang="en-US" sz="2400" dirty="0" err="1"/>
                  <a:t>Caffe</a:t>
                </a:r>
                <a:endParaRPr lang="en-US" sz="2400" dirty="0"/>
              </a:p>
              <a:p>
                <a:r>
                  <a:rPr lang="en-US" sz="2400" dirty="0"/>
                  <a:t>Learning rate: 0.001 </a:t>
                </a:r>
                <a:r>
                  <a:rPr lang="en-US" sz="2400" dirty="0" err="1"/>
                  <a:t>cho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mọi</a:t>
                </a:r>
                <a:r>
                  <a:rPr lang="en-US" sz="2400" dirty="0"/>
                  <a:t> layer </a:t>
                </a:r>
                <a:r>
                  <a:rPr lang="en-US" sz="2400" dirty="0" err="1"/>
                  <a:t>và</a:t>
                </a:r>
                <a:r>
                  <a:rPr lang="en-US" sz="2400" dirty="0"/>
                  <a:t> 0.01 </a:t>
                </a:r>
                <a:r>
                  <a:rPr lang="en-US" sz="2400" dirty="0" err="1"/>
                  <a:t>đối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với</a:t>
                </a:r>
                <a:r>
                  <a:rPr lang="en-US" sz="2400" dirty="0"/>
                  <a:t> fc, </a:t>
                </a:r>
                <a:r>
                  <a:rPr lang="en-US" sz="2400" dirty="0" err="1"/>
                  <a:t>được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giảm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sau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mỗi</a:t>
                </a:r>
                <a:r>
                  <a:rPr lang="en-US" sz="2400" dirty="0"/>
                  <a:t> 20k </a:t>
                </a:r>
                <a:r>
                  <a:rPr lang="en-US" sz="2400" dirty="0" err="1"/>
                  <a:t>vòng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lặp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dừng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sau</a:t>
                </a:r>
                <a:r>
                  <a:rPr lang="en-US" sz="2400" dirty="0"/>
                  <a:t> 100k </a:t>
                </a:r>
                <a:r>
                  <a:rPr lang="en-US" sz="2400" dirty="0" err="1"/>
                  <a:t>vòng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lặp</a:t>
                </a:r>
                <a:endParaRPr lang="en-US" sz="2400" dirty="0"/>
              </a:p>
              <a:p>
                <a:r>
                  <a:rPr lang="en-US" sz="2400" dirty="0" err="1"/>
                  <a:t>Số</a:t>
                </a:r>
                <a:r>
                  <a:rPr lang="en-US" sz="2400" dirty="0"/>
                  <a:t> node </a:t>
                </a:r>
                <a:r>
                  <a:rPr lang="en-US" sz="2400" dirty="0" err="1"/>
                  <a:t>của</a:t>
                </a:r>
                <a:r>
                  <a:rPr lang="en-US" sz="2400" dirty="0"/>
                  <a:t> fc8 </a:t>
                </a:r>
                <a:r>
                  <a:rPr lang="en-US" sz="2400" dirty="0" err="1"/>
                  <a:t>thay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đổi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theo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số</a:t>
                </a:r>
                <a:r>
                  <a:rPr lang="en-US" sz="2400" dirty="0"/>
                  <a:t> class</a:t>
                </a:r>
              </a:p>
              <a:p>
                <a:r>
                  <a:rPr lang="en-US" sz="2400" dirty="0"/>
                  <a:t>Batch size: 50</a:t>
                </a:r>
              </a:p>
              <a:p>
                <a:r>
                  <a:rPr lang="en-US" sz="2400" dirty="0"/>
                  <a:t>Momentum: 0.9</a:t>
                </a:r>
              </a:p>
              <a:p>
                <a:r>
                  <a:rPr lang="en-US" sz="2400" dirty="0"/>
                  <a:t>L2 weight: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5∗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Dropout ratio: 0.5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58" y="2142309"/>
                <a:ext cx="10592974" cy="3046988"/>
              </a:xfrm>
              <a:prstGeom prst="rect">
                <a:avLst/>
              </a:prstGeom>
              <a:blipFill>
                <a:blip r:embed="rId3"/>
                <a:stretch>
                  <a:fillRect l="-863"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3894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0907486" cy="7968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09006" y="121418"/>
            <a:ext cx="109074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err="1">
                <a:solidFill>
                  <a:schemeClr val="bg1"/>
                </a:solidFill>
              </a:rPr>
              <a:t>Deconvolutional</a:t>
            </a:r>
            <a:endParaRPr lang="en-US" sz="3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86373" y="2243928"/>
                <a:ext cx="6096000" cy="128022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bSup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sSup>
                        <m:s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73" y="2243928"/>
                <a:ext cx="6096000" cy="12802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686373" y="3645568"/>
            <a:ext cx="646001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K </a:t>
            </a:r>
            <a:r>
              <a:rPr lang="en-US" sz="2600" dirty="0" err="1"/>
              <a:t>là</a:t>
            </a:r>
            <a:r>
              <a:rPr lang="en-US" sz="2600" dirty="0"/>
              <a:t> filter </a:t>
            </a:r>
            <a:r>
              <a:rPr lang="en-US" sz="2600" dirty="0" err="1"/>
              <a:t>và</a:t>
            </a:r>
            <a:r>
              <a:rPr lang="en-US" sz="2600" dirty="0"/>
              <a:t> </a:t>
            </a:r>
            <a:r>
              <a:rPr lang="en-US" sz="2600" dirty="0" err="1"/>
              <a:t>i</a:t>
            </a:r>
            <a:r>
              <a:rPr lang="en-US" sz="2600" dirty="0"/>
              <a:t> </a:t>
            </a:r>
            <a:r>
              <a:rPr lang="en-US" sz="2600" dirty="0" err="1"/>
              <a:t>là</a:t>
            </a:r>
            <a:r>
              <a:rPr lang="en-US" sz="2600" dirty="0"/>
              <a:t> channel</a:t>
            </a:r>
          </a:p>
          <a:p>
            <a:r>
              <a:rPr lang="en-US" sz="2600" dirty="0"/>
              <a:t>L </a:t>
            </a:r>
            <a:r>
              <a:rPr lang="en-US" sz="2600" dirty="0" err="1"/>
              <a:t>là</a:t>
            </a:r>
            <a:r>
              <a:rPr lang="en-US" sz="2600" dirty="0"/>
              <a:t>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6373" y="4425579"/>
            <a:ext cx="793712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/>
              <a:t>Trong</a:t>
            </a:r>
            <a:r>
              <a:rPr lang="en-US" sz="2600" dirty="0"/>
              <a:t> layer l, </a:t>
            </a:r>
            <a:r>
              <a:rPr lang="en-US" sz="2600" dirty="0" err="1"/>
              <a:t>xác</a:t>
            </a:r>
            <a:r>
              <a:rPr lang="en-US" sz="2600" dirty="0"/>
              <a:t> </a:t>
            </a:r>
            <a:r>
              <a:rPr lang="en-US" sz="2600" dirty="0" err="1"/>
              <a:t>định</a:t>
            </a:r>
            <a:r>
              <a:rPr lang="en-US" sz="2600" dirty="0"/>
              <a:t> S pixel </a:t>
            </a:r>
            <a:r>
              <a:rPr lang="en-US" sz="2600" dirty="0" err="1"/>
              <a:t>đầu</a:t>
            </a:r>
            <a:r>
              <a:rPr lang="en-US" sz="2600" dirty="0"/>
              <a:t> </a:t>
            </a:r>
            <a:r>
              <a:rPr lang="en-US" sz="2600" dirty="0" err="1"/>
              <a:t>tiên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trị</a:t>
            </a:r>
            <a:r>
              <a:rPr lang="en-US" sz="2600" dirty="0"/>
              <a:t> </a:t>
            </a:r>
            <a:r>
              <a:rPr lang="en-US" sz="2600" dirty="0" err="1"/>
              <a:t>lớn</a:t>
            </a:r>
            <a:r>
              <a:rPr lang="en-US" sz="2600" dirty="0"/>
              <a:t> </a:t>
            </a:r>
            <a:r>
              <a:rPr lang="en-US" sz="2600" dirty="0" err="1"/>
              <a:t>nhất</a:t>
            </a:r>
            <a:r>
              <a:rPr lang="en-US" sz="2600" dirty="0"/>
              <a:t> </a:t>
            </a:r>
            <a:r>
              <a:rPr lang="en-US" sz="2600" dirty="0" err="1"/>
              <a:t>và</a:t>
            </a:r>
            <a:r>
              <a:rPr lang="en-US" sz="2600" dirty="0"/>
              <a:t> </a:t>
            </a:r>
            <a:r>
              <a:rPr lang="en-US" sz="2600" dirty="0" err="1"/>
              <a:t>phần</a:t>
            </a:r>
            <a:r>
              <a:rPr lang="en-US" sz="2600" dirty="0"/>
              <a:t> </a:t>
            </a:r>
            <a:r>
              <a:rPr lang="en-US" sz="2600" dirty="0" err="1"/>
              <a:t>còn</a:t>
            </a:r>
            <a:r>
              <a:rPr lang="en-US" sz="2600" dirty="0"/>
              <a:t> </a:t>
            </a:r>
            <a:r>
              <a:rPr lang="en-US" sz="2600" dirty="0" err="1"/>
              <a:t>lại</a:t>
            </a:r>
            <a:r>
              <a:rPr lang="en-US" sz="2600" dirty="0"/>
              <a:t> set </a:t>
            </a:r>
            <a:r>
              <a:rPr lang="en-US" sz="2600" dirty="0" err="1"/>
              <a:t>về</a:t>
            </a:r>
            <a:r>
              <a:rPr lang="en-US" sz="2600" dirty="0"/>
              <a:t> 0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877361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66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890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489" y="0"/>
            <a:ext cx="11268221" cy="680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13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9801" cy="626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468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609"/>
            <a:ext cx="12192000" cy="588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472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440" y="0"/>
            <a:ext cx="12206440" cy="437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785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3" y="839449"/>
            <a:ext cx="12192213" cy="421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652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9036"/>
            <a:ext cx="12200027" cy="375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565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4419"/>
            <a:ext cx="12177207" cy="452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11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4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000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886" y="1146074"/>
            <a:ext cx="10515600" cy="53461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dirty="0"/>
              <a:t>CNN </a:t>
            </a:r>
            <a:r>
              <a:rPr lang="en-US" sz="2600" dirty="0" err="1"/>
              <a:t>được</a:t>
            </a:r>
            <a:r>
              <a:rPr lang="en-US" sz="2600" dirty="0"/>
              <a:t> training </a:t>
            </a:r>
            <a:r>
              <a:rPr lang="en-US" sz="2600" dirty="0" err="1"/>
              <a:t>trên</a:t>
            </a:r>
            <a:r>
              <a:rPr lang="en-US" sz="2600" dirty="0"/>
              <a:t> D1 </a:t>
            </a:r>
            <a:r>
              <a:rPr lang="en-US" sz="2600" dirty="0" err="1"/>
              <a:t>và</a:t>
            </a:r>
            <a:r>
              <a:rPr lang="en-US" sz="2600" dirty="0"/>
              <a:t> D2 </a:t>
            </a:r>
            <a:r>
              <a:rPr lang="en-US" sz="2600" dirty="0" err="1"/>
              <a:t>trích</a:t>
            </a:r>
            <a:r>
              <a:rPr lang="en-US" sz="2600" dirty="0"/>
              <a:t> </a:t>
            </a:r>
            <a:r>
              <a:rPr lang="en-US" sz="2600" dirty="0" err="1"/>
              <a:t>xuất</a:t>
            </a:r>
            <a:r>
              <a:rPr lang="en-US" sz="2600" dirty="0"/>
              <a:t> </a:t>
            </a:r>
            <a:r>
              <a:rPr lang="en-US" sz="2600" dirty="0" err="1"/>
              <a:t>những</a:t>
            </a:r>
            <a:r>
              <a:rPr lang="en-US" sz="2600" dirty="0"/>
              <a:t> </a:t>
            </a:r>
            <a:r>
              <a:rPr lang="en-US" sz="2600" dirty="0" err="1"/>
              <a:t>thông</a:t>
            </a:r>
            <a:r>
              <a:rPr lang="en-US" sz="2600" dirty="0"/>
              <a:t> tin </a:t>
            </a:r>
            <a:r>
              <a:rPr lang="en-US" sz="2600" dirty="0" err="1"/>
              <a:t>với</a:t>
            </a:r>
            <a:r>
              <a:rPr lang="en-US" sz="2600" dirty="0"/>
              <a:t> </a:t>
            </a:r>
            <a:r>
              <a:rPr lang="en-US" sz="2600" dirty="0" err="1"/>
              <a:t>mức</a:t>
            </a:r>
            <a:r>
              <a:rPr lang="en-US" sz="2600" dirty="0"/>
              <a:t> </a:t>
            </a:r>
            <a:r>
              <a:rPr lang="en-US" sz="2600" dirty="0" err="1"/>
              <a:t>độ</a:t>
            </a:r>
            <a:r>
              <a:rPr lang="en-US" sz="2600" dirty="0"/>
              <a:t> </a:t>
            </a:r>
            <a:r>
              <a:rPr lang="en-US" sz="2600" dirty="0" err="1"/>
              <a:t>khác</a:t>
            </a:r>
            <a:r>
              <a:rPr lang="en-US" sz="2600" dirty="0"/>
              <a:t> </a:t>
            </a:r>
            <a:r>
              <a:rPr lang="en-US" sz="2600" dirty="0" err="1"/>
              <a:t>nhau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r>
              <a:rPr lang="en-US" sz="2600" dirty="0" err="1"/>
              <a:t>Sử</a:t>
            </a:r>
            <a:r>
              <a:rPr lang="en-US" sz="2600" dirty="0"/>
              <a:t> </a:t>
            </a:r>
            <a:r>
              <a:rPr lang="en-US" sz="2600" dirty="0" err="1"/>
              <a:t>dụng</a:t>
            </a:r>
            <a:r>
              <a:rPr lang="en-US" sz="2600" dirty="0"/>
              <a:t> </a:t>
            </a:r>
            <a:r>
              <a:rPr lang="en-US" sz="2600" dirty="0" err="1"/>
              <a:t>toàn</a:t>
            </a:r>
            <a:r>
              <a:rPr lang="en-US" sz="2600" dirty="0"/>
              <a:t> </a:t>
            </a:r>
            <a:r>
              <a:rPr lang="en-US" sz="2600" dirty="0" err="1"/>
              <a:t>bộ</a:t>
            </a:r>
            <a:r>
              <a:rPr lang="en-US" sz="2600" dirty="0"/>
              <a:t> </a:t>
            </a:r>
            <a:r>
              <a:rPr lang="en-US" sz="2600" dirty="0" err="1"/>
              <a:t>lá</a:t>
            </a:r>
            <a:r>
              <a:rPr lang="en-US" sz="2600" dirty="0"/>
              <a:t>, </a:t>
            </a:r>
            <a:r>
              <a:rPr lang="en-US" sz="2600" dirty="0" err="1"/>
              <a:t>chúng</a:t>
            </a:r>
            <a:r>
              <a:rPr lang="en-US" sz="2600" dirty="0"/>
              <a:t> ta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được</a:t>
            </a:r>
            <a:r>
              <a:rPr lang="en-US" sz="2600" dirty="0"/>
              <a:t> </a:t>
            </a:r>
            <a:r>
              <a:rPr lang="en-US" sz="2600" dirty="0" err="1"/>
              <a:t>những</a:t>
            </a:r>
            <a:r>
              <a:rPr lang="en-US" sz="2600" dirty="0"/>
              <a:t> global </a:t>
            </a:r>
            <a:r>
              <a:rPr lang="en-US" sz="2600" dirty="0" err="1"/>
              <a:t>featre</a:t>
            </a:r>
            <a:r>
              <a:rPr lang="en-US" sz="2600" dirty="0"/>
              <a:t> </a:t>
            </a:r>
            <a:r>
              <a:rPr lang="en-US" sz="2600" dirty="0" err="1"/>
              <a:t>mô</a:t>
            </a:r>
            <a:r>
              <a:rPr lang="en-US" sz="2600" dirty="0"/>
              <a:t> </a:t>
            </a:r>
            <a:r>
              <a:rPr lang="en-US" sz="2600" dirty="0" err="1"/>
              <a:t>tả</a:t>
            </a:r>
            <a:r>
              <a:rPr lang="en-US" sz="2600" dirty="0"/>
              <a:t> </a:t>
            </a:r>
            <a:r>
              <a:rPr lang="en-US" sz="2600" dirty="0" err="1"/>
              <a:t>cấu</a:t>
            </a:r>
            <a:r>
              <a:rPr lang="en-US" sz="2600" dirty="0"/>
              <a:t> </a:t>
            </a:r>
            <a:r>
              <a:rPr lang="en-US" sz="2600" dirty="0" err="1"/>
              <a:t>trúc</a:t>
            </a:r>
            <a:r>
              <a:rPr lang="en-US" sz="2600" dirty="0"/>
              <a:t> </a:t>
            </a:r>
            <a:r>
              <a:rPr lang="en-US" sz="2600" dirty="0" err="1"/>
              <a:t>tổng</a:t>
            </a:r>
            <a:r>
              <a:rPr lang="en-US" sz="2600" dirty="0"/>
              <a:t> </a:t>
            </a:r>
            <a:r>
              <a:rPr lang="en-US" sz="2600" dirty="0" err="1"/>
              <a:t>thể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</a:t>
            </a:r>
            <a:r>
              <a:rPr lang="en-US" sz="2600" dirty="0" err="1"/>
              <a:t>lá</a:t>
            </a:r>
            <a:r>
              <a:rPr lang="en-US" sz="2600" dirty="0"/>
              <a:t> </a:t>
            </a:r>
            <a:r>
              <a:rPr lang="en-US" sz="2600" dirty="0" err="1"/>
              <a:t>nhưng</a:t>
            </a:r>
            <a:r>
              <a:rPr lang="en-US" sz="2600" dirty="0"/>
              <a:t> </a:t>
            </a:r>
            <a:r>
              <a:rPr lang="en-US" sz="2600" dirty="0" err="1"/>
              <a:t>hình</a:t>
            </a:r>
            <a:r>
              <a:rPr lang="en-US" sz="2600" dirty="0"/>
              <a:t> </a:t>
            </a:r>
            <a:r>
              <a:rPr lang="en-US" sz="2600" dirty="0" err="1"/>
              <a:t>dạng</a:t>
            </a:r>
            <a:r>
              <a:rPr lang="en-US" sz="2600" dirty="0"/>
              <a:t>, </a:t>
            </a:r>
            <a:r>
              <a:rPr lang="en-US" sz="2600" dirty="0" err="1"/>
              <a:t>màu</a:t>
            </a:r>
            <a:r>
              <a:rPr lang="en-US" sz="2600" dirty="0"/>
              <a:t> </a:t>
            </a:r>
            <a:r>
              <a:rPr lang="en-US" sz="2600" dirty="0" err="1"/>
              <a:t>sắc</a:t>
            </a:r>
            <a:r>
              <a:rPr lang="en-US" sz="2600" dirty="0"/>
              <a:t>, </a:t>
            </a:r>
            <a:r>
              <a:rPr lang="en-US" sz="2600" dirty="0" err="1"/>
              <a:t>kết</a:t>
            </a:r>
            <a:r>
              <a:rPr lang="en-US" sz="2600" dirty="0"/>
              <a:t> </a:t>
            </a:r>
            <a:r>
              <a:rPr lang="en-US" sz="2600" dirty="0" err="1"/>
              <a:t>cấu</a:t>
            </a:r>
            <a:r>
              <a:rPr lang="en-US" sz="2600" dirty="0"/>
              <a:t> </a:t>
            </a:r>
            <a:r>
              <a:rPr lang="en-US" sz="2600" dirty="0" err="1"/>
              <a:t>và</a:t>
            </a:r>
            <a:r>
              <a:rPr lang="en-US" sz="2600" dirty="0"/>
              <a:t> </a:t>
            </a:r>
            <a:r>
              <a:rPr lang="en-US" sz="2600" dirty="0" err="1"/>
              <a:t>viền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r>
              <a:rPr lang="en-US" sz="2600" dirty="0" err="1"/>
              <a:t>Sử</a:t>
            </a:r>
            <a:r>
              <a:rPr lang="en-US" sz="2600" dirty="0"/>
              <a:t> </a:t>
            </a:r>
            <a:r>
              <a:rPr lang="en-US" sz="2600" dirty="0" err="1"/>
              <a:t>dụng</a:t>
            </a:r>
            <a:r>
              <a:rPr lang="en-US" sz="2600" dirty="0"/>
              <a:t> patch, </a:t>
            </a:r>
            <a:r>
              <a:rPr lang="en-US" sz="2600" dirty="0" err="1"/>
              <a:t>chúng</a:t>
            </a:r>
            <a:r>
              <a:rPr lang="en-US" sz="2600" dirty="0"/>
              <a:t> ta </a:t>
            </a:r>
            <a:r>
              <a:rPr lang="en-US" sz="2600" dirty="0" err="1"/>
              <a:t>thấy</a:t>
            </a:r>
            <a:r>
              <a:rPr lang="en-US" sz="2600" dirty="0"/>
              <a:t> CNN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xu</a:t>
            </a:r>
            <a:r>
              <a:rPr lang="en-US" sz="2600" dirty="0"/>
              <a:t> </a:t>
            </a:r>
            <a:r>
              <a:rPr lang="en-US" sz="2600" dirty="0" err="1"/>
              <a:t>hướng</a:t>
            </a:r>
            <a:r>
              <a:rPr lang="en-US" sz="2600" dirty="0"/>
              <a:t> </a:t>
            </a:r>
            <a:r>
              <a:rPr lang="en-US" sz="2600" dirty="0" err="1"/>
              <a:t>nắm</a:t>
            </a:r>
            <a:r>
              <a:rPr lang="en-US" sz="2600" dirty="0"/>
              <a:t> </a:t>
            </a:r>
            <a:r>
              <a:rPr lang="en-US" sz="2600" dirty="0" err="1"/>
              <a:t>bắt</a:t>
            </a:r>
            <a:r>
              <a:rPr lang="en-US" sz="2600" dirty="0"/>
              <a:t> </a:t>
            </a:r>
            <a:r>
              <a:rPr lang="en-US" sz="2600" dirty="0" err="1"/>
              <a:t>những</a:t>
            </a:r>
            <a:r>
              <a:rPr lang="en-US" sz="2600" dirty="0"/>
              <a:t> </a:t>
            </a:r>
            <a:r>
              <a:rPr lang="en-US" sz="2600" dirty="0" err="1"/>
              <a:t>mẫu</a:t>
            </a:r>
            <a:r>
              <a:rPr lang="en-US" sz="2600" dirty="0"/>
              <a:t> </a:t>
            </a:r>
            <a:r>
              <a:rPr lang="en-US" sz="2600" dirty="0" err="1"/>
              <a:t>gân</a:t>
            </a:r>
            <a:r>
              <a:rPr lang="en-US" sz="2600" dirty="0"/>
              <a:t> </a:t>
            </a:r>
            <a:r>
              <a:rPr lang="en-US" sz="2600" dirty="0" err="1"/>
              <a:t>lá</a:t>
            </a:r>
            <a:r>
              <a:rPr lang="en-US" sz="2600" dirty="0"/>
              <a:t> </a:t>
            </a:r>
            <a:r>
              <a:rPr lang="en-US" sz="2600" dirty="0" err="1"/>
              <a:t>cục</a:t>
            </a:r>
            <a:r>
              <a:rPr lang="en-US" sz="2600" dirty="0"/>
              <a:t> </a:t>
            </a:r>
            <a:r>
              <a:rPr lang="en-US" sz="2600" dirty="0" err="1"/>
              <a:t>bộ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r>
              <a:rPr lang="en-US" sz="2600" dirty="0"/>
              <a:t>-&gt; CNN </a:t>
            </a:r>
            <a:r>
              <a:rPr lang="en-US" sz="2600" dirty="0" err="1"/>
              <a:t>sử</a:t>
            </a:r>
            <a:r>
              <a:rPr lang="en-US" sz="2600" dirty="0"/>
              <a:t> </a:t>
            </a:r>
            <a:r>
              <a:rPr lang="en-US" sz="2600" dirty="0" err="1"/>
              <a:t>dụng</a:t>
            </a:r>
            <a:r>
              <a:rPr lang="en-US" sz="2600" dirty="0"/>
              <a:t> D2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khả</a:t>
            </a:r>
            <a:r>
              <a:rPr lang="en-US" sz="2600" dirty="0"/>
              <a:t> </a:t>
            </a:r>
            <a:r>
              <a:rPr lang="en-US" sz="2600" dirty="0" err="1"/>
              <a:t>năng</a:t>
            </a:r>
            <a:r>
              <a:rPr lang="en-US" sz="2600" dirty="0"/>
              <a:t> </a:t>
            </a:r>
            <a:r>
              <a:rPr lang="en-US" sz="2600" dirty="0" err="1"/>
              <a:t>nhận</a:t>
            </a:r>
            <a:r>
              <a:rPr lang="en-US" sz="2600" dirty="0"/>
              <a:t> </a:t>
            </a:r>
            <a:r>
              <a:rPr lang="en-US" sz="2600" dirty="0" err="1"/>
              <a:t>ra</a:t>
            </a:r>
            <a:r>
              <a:rPr lang="en-US" sz="2600" dirty="0"/>
              <a:t> </a:t>
            </a:r>
            <a:r>
              <a:rPr lang="en-US" sz="2600" dirty="0" err="1"/>
              <a:t>gân</a:t>
            </a:r>
            <a:r>
              <a:rPr lang="en-US" sz="2600" dirty="0"/>
              <a:t> </a:t>
            </a:r>
            <a:r>
              <a:rPr lang="en-US" sz="2600" dirty="0" err="1"/>
              <a:t>lá</a:t>
            </a:r>
            <a:r>
              <a:rPr lang="en-US" sz="2600" dirty="0"/>
              <a:t> </a:t>
            </a:r>
            <a:r>
              <a:rPr lang="en-US" sz="2600" dirty="0" err="1"/>
              <a:t>mà</a:t>
            </a:r>
            <a:r>
              <a:rPr lang="en-US" sz="2600" dirty="0"/>
              <a:t> </a:t>
            </a:r>
            <a:r>
              <a:rPr lang="en-US" sz="2600" dirty="0" err="1"/>
              <a:t>không</a:t>
            </a:r>
            <a:r>
              <a:rPr lang="en-US" sz="2600" dirty="0"/>
              <a:t> </a:t>
            </a:r>
            <a:r>
              <a:rPr lang="en-US" sz="2600" dirty="0" err="1"/>
              <a:t>cần</a:t>
            </a:r>
            <a:r>
              <a:rPr lang="en-US" sz="2600" dirty="0"/>
              <a:t> </a:t>
            </a:r>
            <a:r>
              <a:rPr lang="en-US" sz="2600" dirty="0" err="1"/>
              <a:t>bất</a:t>
            </a:r>
            <a:r>
              <a:rPr lang="en-US" sz="2600" dirty="0"/>
              <a:t> </a:t>
            </a:r>
            <a:r>
              <a:rPr lang="en-US" sz="2600" dirty="0" err="1"/>
              <a:t>kì</a:t>
            </a:r>
            <a:r>
              <a:rPr lang="en-US" sz="2600" dirty="0"/>
              <a:t> </a:t>
            </a:r>
            <a:r>
              <a:rPr lang="en-US" sz="2600" dirty="0" err="1"/>
              <a:t>tiền</a:t>
            </a:r>
            <a:r>
              <a:rPr lang="en-US" sz="2600" dirty="0"/>
              <a:t> </a:t>
            </a:r>
            <a:r>
              <a:rPr lang="en-US" sz="2600" dirty="0" err="1"/>
              <a:t>xử</a:t>
            </a:r>
            <a:r>
              <a:rPr lang="en-US" sz="2600" dirty="0"/>
              <a:t> </a:t>
            </a:r>
            <a:r>
              <a:rPr lang="en-US" sz="2600" dirty="0" err="1"/>
              <a:t>lý</a:t>
            </a:r>
            <a:r>
              <a:rPr lang="en-US" sz="2600" dirty="0"/>
              <a:t> hay segmentation </a:t>
            </a:r>
            <a:r>
              <a:rPr lang="en-US" sz="2600" dirty="0" err="1"/>
              <a:t>nào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r>
              <a:rPr lang="en-US" sz="2600" dirty="0" err="1"/>
              <a:t>Mặc</a:t>
            </a:r>
            <a:r>
              <a:rPr lang="en-US" sz="2600" dirty="0"/>
              <a:t> </a:t>
            </a:r>
            <a:r>
              <a:rPr lang="en-US" sz="2600" dirty="0" err="1"/>
              <a:t>dù</a:t>
            </a:r>
            <a:r>
              <a:rPr lang="en-US" sz="2600" dirty="0"/>
              <a:t> </a:t>
            </a:r>
            <a:r>
              <a:rPr lang="en-US" sz="2600" dirty="0" err="1"/>
              <a:t>gân</a:t>
            </a:r>
            <a:r>
              <a:rPr lang="en-US" sz="2600" dirty="0"/>
              <a:t> </a:t>
            </a:r>
            <a:r>
              <a:rPr lang="en-US" sz="2600" dirty="0" err="1"/>
              <a:t>lá</a:t>
            </a:r>
            <a:r>
              <a:rPr lang="en-US" sz="2600" dirty="0"/>
              <a:t> </a:t>
            </a:r>
            <a:r>
              <a:rPr lang="en-US" sz="2600" dirty="0" err="1"/>
              <a:t>là</a:t>
            </a:r>
            <a:r>
              <a:rPr lang="en-US" sz="2600" dirty="0"/>
              <a:t> feature </a:t>
            </a:r>
            <a:r>
              <a:rPr lang="en-US" sz="2600" dirty="0" err="1"/>
              <a:t>mạnh</a:t>
            </a:r>
            <a:r>
              <a:rPr lang="en-US" sz="2600" dirty="0"/>
              <a:t> </a:t>
            </a:r>
            <a:r>
              <a:rPr lang="en-US" sz="2600" dirty="0" err="1"/>
              <a:t>mẽ</a:t>
            </a:r>
            <a:r>
              <a:rPr lang="en-US" sz="2600" dirty="0"/>
              <a:t> </a:t>
            </a:r>
            <a:r>
              <a:rPr lang="en-US" sz="2600" dirty="0" err="1"/>
              <a:t>cho</a:t>
            </a:r>
            <a:r>
              <a:rPr lang="en-US" sz="2600" dirty="0"/>
              <a:t> classification leaf, </a:t>
            </a:r>
            <a:r>
              <a:rPr lang="en-US" sz="2600" dirty="0" err="1"/>
              <a:t>những</a:t>
            </a:r>
            <a:r>
              <a:rPr lang="en-US" sz="2600" dirty="0"/>
              <a:t> feature </a:t>
            </a:r>
            <a:r>
              <a:rPr lang="en-US" sz="2600" dirty="0" err="1"/>
              <a:t>khác</a:t>
            </a:r>
            <a:r>
              <a:rPr lang="en-US" sz="2600" dirty="0"/>
              <a:t> </a:t>
            </a:r>
            <a:r>
              <a:rPr lang="en-US" sz="2600" dirty="0" err="1"/>
              <a:t>như</a:t>
            </a:r>
            <a:r>
              <a:rPr lang="en-US" sz="2600" dirty="0"/>
              <a:t> </a:t>
            </a:r>
            <a:r>
              <a:rPr lang="en-US" sz="2600" dirty="0" err="1"/>
              <a:t>hình</a:t>
            </a:r>
            <a:r>
              <a:rPr lang="en-US" sz="2600" dirty="0"/>
              <a:t> </a:t>
            </a:r>
            <a:r>
              <a:rPr lang="en-US" sz="2600" dirty="0" err="1"/>
              <a:t>dáng</a:t>
            </a:r>
            <a:r>
              <a:rPr lang="en-US" sz="2600" dirty="0"/>
              <a:t> </a:t>
            </a:r>
            <a:r>
              <a:rPr lang="en-US" sz="2600" dirty="0" err="1"/>
              <a:t>và</a:t>
            </a:r>
            <a:r>
              <a:rPr lang="en-US" sz="2600" dirty="0"/>
              <a:t> </a:t>
            </a:r>
            <a:r>
              <a:rPr lang="en-US" sz="2600" dirty="0" err="1"/>
              <a:t>viền</a:t>
            </a:r>
            <a:r>
              <a:rPr lang="en-US" sz="2600" dirty="0"/>
              <a:t> </a:t>
            </a:r>
            <a:r>
              <a:rPr lang="en-US" sz="2600" dirty="0" err="1"/>
              <a:t>vẫn</a:t>
            </a:r>
            <a:r>
              <a:rPr lang="en-US" sz="2600" dirty="0"/>
              <a:t> </a:t>
            </a:r>
            <a:r>
              <a:rPr lang="en-US" sz="2600" dirty="0" err="1"/>
              <a:t>thường</a:t>
            </a:r>
            <a:r>
              <a:rPr lang="en-US" sz="2600" dirty="0"/>
              <a:t> </a:t>
            </a:r>
            <a:r>
              <a:rPr lang="en-US" sz="2600" dirty="0" err="1"/>
              <a:t>được</a:t>
            </a:r>
            <a:r>
              <a:rPr lang="en-US" sz="2600" dirty="0"/>
              <a:t> </a:t>
            </a:r>
            <a:r>
              <a:rPr lang="en-US" sz="2600" dirty="0" err="1"/>
              <a:t>sử</a:t>
            </a:r>
            <a:r>
              <a:rPr lang="en-US" sz="2600" dirty="0"/>
              <a:t> </a:t>
            </a:r>
            <a:r>
              <a:rPr lang="en-US" sz="2600" dirty="0" err="1"/>
              <a:t>dụng</a:t>
            </a:r>
            <a:r>
              <a:rPr lang="en-US" sz="2600" dirty="0"/>
              <a:t> </a:t>
            </a:r>
            <a:r>
              <a:rPr lang="en-US" sz="2600" dirty="0" err="1"/>
              <a:t>cùng</a:t>
            </a:r>
            <a:r>
              <a:rPr lang="en-US" sz="2600" dirty="0"/>
              <a:t> </a:t>
            </a:r>
            <a:r>
              <a:rPr lang="en-US" sz="2600" dirty="0" err="1"/>
              <a:t>bởi</a:t>
            </a:r>
            <a:r>
              <a:rPr lang="en-US" sz="2600" dirty="0"/>
              <a:t> </a:t>
            </a:r>
            <a:r>
              <a:rPr lang="en-US" sz="2600" dirty="0" err="1"/>
              <a:t>nhà</a:t>
            </a:r>
            <a:r>
              <a:rPr lang="en-US" sz="2600" dirty="0"/>
              <a:t> </a:t>
            </a:r>
            <a:r>
              <a:rPr lang="en-US" sz="2600" dirty="0" err="1"/>
              <a:t>thực</a:t>
            </a:r>
            <a:r>
              <a:rPr lang="en-US" sz="2600" dirty="0"/>
              <a:t> </a:t>
            </a:r>
            <a:r>
              <a:rPr lang="en-US" sz="2600" dirty="0" err="1"/>
              <a:t>vật</a:t>
            </a:r>
            <a:r>
              <a:rPr lang="en-US" sz="2600" dirty="0"/>
              <a:t> </a:t>
            </a:r>
            <a:r>
              <a:rPr lang="en-US" sz="2600" dirty="0" err="1"/>
              <a:t>học</a:t>
            </a:r>
            <a:r>
              <a:rPr lang="en-US" sz="2600" dirty="0"/>
              <a:t> </a:t>
            </a:r>
            <a:r>
              <a:rPr lang="en-US" sz="2600" dirty="0" err="1"/>
              <a:t>để</a:t>
            </a:r>
            <a:r>
              <a:rPr lang="en-US" sz="2600" dirty="0"/>
              <a:t> </a:t>
            </a:r>
            <a:r>
              <a:rPr lang="en-US" sz="2600" dirty="0" err="1"/>
              <a:t>phân</a:t>
            </a:r>
            <a:r>
              <a:rPr lang="en-US" sz="2600" dirty="0"/>
              <a:t> </a:t>
            </a:r>
            <a:r>
              <a:rPr lang="en-US" sz="2600" dirty="0" err="1"/>
              <a:t>loại</a:t>
            </a:r>
            <a:r>
              <a:rPr lang="en-US" sz="2600" dirty="0"/>
              <a:t> </a:t>
            </a:r>
            <a:r>
              <a:rPr lang="en-US" sz="2600" dirty="0" err="1"/>
              <a:t>các</a:t>
            </a:r>
            <a:r>
              <a:rPr lang="en-US" sz="2600" dirty="0"/>
              <a:t> </a:t>
            </a:r>
            <a:r>
              <a:rPr lang="en-US" sz="2600" dirty="0" err="1"/>
              <a:t>loài</a:t>
            </a:r>
            <a:r>
              <a:rPr lang="en-US" sz="2600" dirty="0"/>
              <a:t>. </a:t>
            </a:r>
          </a:p>
          <a:p>
            <a:pPr marL="0" indent="0">
              <a:buNone/>
            </a:pPr>
            <a:r>
              <a:rPr lang="en-US" sz="2600" dirty="0"/>
              <a:t>-&gt; Design hybrid local-global feature extraction model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07486" cy="7968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09006" y="121418"/>
            <a:ext cx="10907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Hypbrid</a:t>
            </a:r>
            <a:r>
              <a:rPr lang="en-US" sz="3200" dirty="0">
                <a:solidFill>
                  <a:schemeClr val="bg1"/>
                </a:solidFill>
              </a:rPr>
              <a:t> local-global feature extraction</a:t>
            </a:r>
            <a:endParaRPr lang="en-US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328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892" y="1160607"/>
            <a:ext cx="10515600" cy="1278522"/>
          </a:xfrm>
        </p:spPr>
        <p:txBody>
          <a:bodyPr/>
          <a:lstStyle/>
          <a:p>
            <a:pPr marL="0" indent="0">
              <a:buNone/>
            </a:pPr>
            <a:r>
              <a:rPr lang="en-US" sz="2600" dirty="0"/>
              <a:t>Design single stream CNN </a:t>
            </a:r>
            <a:r>
              <a:rPr lang="en-US" sz="2600" dirty="0" err="1"/>
              <a:t>bao</a:t>
            </a:r>
            <a:r>
              <a:rPr lang="en-US" sz="2600" dirty="0"/>
              <a:t> </a:t>
            </a:r>
            <a:r>
              <a:rPr lang="en-US" sz="2600" dirty="0" err="1"/>
              <a:t>gồm</a:t>
            </a:r>
            <a:r>
              <a:rPr lang="en-US" sz="2600" dirty="0"/>
              <a:t>: layer </a:t>
            </a:r>
            <a:r>
              <a:rPr lang="en-US" sz="2600" dirty="0" err="1"/>
              <a:t>nông</a:t>
            </a:r>
            <a:r>
              <a:rPr lang="en-US" sz="2600" dirty="0"/>
              <a:t> </a:t>
            </a:r>
            <a:r>
              <a:rPr lang="en-US" sz="2600" dirty="0" err="1"/>
              <a:t>nhất</a:t>
            </a:r>
            <a:r>
              <a:rPr lang="en-US" sz="2600" dirty="0"/>
              <a:t> </a:t>
            </a:r>
            <a:r>
              <a:rPr lang="en-US" sz="2600" dirty="0" err="1"/>
              <a:t>cho</a:t>
            </a:r>
            <a:r>
              <a:rPr lang="en-US" sz="2600" dirty="0"/>
              <a:t> </a:t>
            </a:r>
            <a:r>
              <a:rPr lang="en-US" sz="2600" dirty="0" err="1"/>
              <a:t>mục</a:t>
            </a:r>
            <a:r>
              <a:rPr lang="en-US" sz="2600" dirty="0"/>
              <a:t> </a:t>
            </a:r>
            <a:r>
              <a:rPr lang="en-US" sz="2600" dirty="0" err="1"/>
              <a:t>đích</a:t>
            </a:r>
            <a:r>
              <a:rPr lang="en-US" sz="2600" dirty="0"/>
              <a:t> test </a:t>
            </a:r>
            <a:r>
              <a:rPr lang="en-US" sz="2600" dirty="0" err="1"/>
              <a:t>tính</a:t>
            </a:r>
            <a:r>
              <a:rPr lang="en-US" sz="2600" dirty="0"/>
              <a:t> </a:t>
            </a:r>
            <a:r>
              <a:rPr lang="en-US" sz="2600" dirty="0" err="1"/>
              <a:t>ổn</a:t>
            </a:r>
            <a:r>
              <a:rPr lang="en-US" sz="2600" dirty="0"/>
              <a:t> </a:t>
            </a:r>
            <a:r>
              <a:rPr lang="en-US" sz="2600" dirty="0" err="1"/>
              <a:t>định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CNN </a:t>
            </a:r>
            <a:r>
              <a:rPr lang="en-US" sz="2600" dirty="0" err="1"/>
              <a:t>trong</a:t>
            </a:r>
            <a:r>
              <a:rPr lang="en-US" sz="2600" dirty="0"/>
              <a:t> </a:t>
            </a:r>
            <a:r>
              <a:rPr lang="en-US" sz="2600" dirty="0" err="1"/>
              <a:t>việc</a:t>
            </a:r>
            <a:r>
              <a:rPr lang="en-US" sz="2600" dirty="0"/>
              <a:t> </a:t>
            </a:r>
            <a:r>
              <a:rPr lang="en-US" sz="2600" dirty="0" err="1"/>
              <a:t>đánh</a:t>
            </a:r>
            <a:r>
              <a:rPr lang="en-US" sz="2600" dirty="0"/>
              <a:t>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sự</a:t>
            </a:r>
            <a:r>
              <a:rPr lang="en-US" sz="2600" dirty="0"/>
              <a:t> </a:t>
            </a:r>
            <a:r>
              <a:rPr lang="en-US" sz="2600" dirty="0" err="1"/>
              <a:t>phân</a:t>
            </a:r>
            <a:r>
              <a:rPr lang="en-US" sz="2600" dirty="0"/>
              <a:t> </a:t>
            </a:r>
            <a:r>
              <a:rPr lang="en-US" sz="2600" dirty="0" err="1"/>
              <a:t>bố</a:t>
            </a:r>
            <a:r>
              <a:rPr lang="en-US" sz="2600" dirty="0"/>
              <a:t> </a:t>
            </a:r>
            <a:r>
              <a:rPr lang="en-US" sz="2600" dirty="0" err="1"/>
              <a:t>của</a:t>
            </a:r>
            <a:r>
              <a:rPr lang="en-US" sz="2600" dirty="0"/>
              <a:t> feature hybrid </a:t>
            </a:r>
            <a:r>
              <a:rPr lang="en-US" sz="2600" dirty="0" err="1"/>
              <a:t>trong</a:t>
            </a:r>
            <a:r>
              <a:rPr lang="en-US" sz="2600" dirty="0"/>
              <a:t> </a:t>
            </a:r>
            <a:r>
              <a:rPr lang="en-US" sz="2600" dirty="0" err="1"/>
              <a:t>quá</a:t>
            </a:r>
            <a:r>
              <a:rPr lang="en-US" sz="2600" dirty="0"/>
              <a:t> </a:t>
            </a:r>
            <a:r>
              <a:rPr lang="en-US" sz="2600" dirty="0" err="1"/>
              <a:t>trình</a:t>
            </a:r>
            <a:r>
              <a:rPr lang="en-US" sz="2600" dirty="0"/>
              <a:t> </a:t>
            </a:r>
            <a:r>
              <a:rPr lang="en-US" sz="2600" dirty="0" err="1"/>
              <a:t>phân</a:t>
            </a:r>
            <a:r>
              <a:rPr lang="en-US" sz="2600" dirty="0"/>
              <a:t> </a:t>
            </a:r>
            <a:r>
              <a:rPr lang="en-US" sz="2600" dirty="0" err="1"/>
              <a:t>loại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4" name="TextBox 3"/>
          <p:cNvSpPr txBox="1"/>
          <p:nvPr/>
        </p:nvSpPr>
        <p:spPr>
          <a:xfrm>
            <a:off x="600891" y="2439129"/>
            <a:ext cx="1030659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Conv1(96,11,4) - pool1(96,3,2) – norm - conv2(256,5,1) - pool2(256,3,2) – norm - conv3(384,3,1) - pool3(384,3,2) - fc6(2048) - fc7(44)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890" y="3331681"/>
            <a:ext cx="836299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/>
              <a:t>Convl</a:t>
            </a:r>
            <a:r>
              <a:rPr lang="en-US" sz="2600" dirty="0"/>
              <a:t>(</a:t>
            </a:r>
            <a:r>
              <a:rPr lang="en-US" sz="2600" dirty="0" err="1"/>
              <a:t>c,k,s</a:t>
            </a:r>
            <a:r>
              <a:rPr lang="en-US" sz="2600" dirty="0"/>
              <a:t>) </a:t>
            </a:r>
            <a:r>
              <a:rPr lang="en-US" sz="2600" dirty="0" err="1"/>
              <a:t>là</a:t>
            </a:r>
            <a:r>
              <a:rPr lang="en-US" sz="2600" dirty="0"/>
              <a:t> convolutional ở layer l </a:t>
            </a:r>
            <a:r>
              <a:rPr lang="en-US" sz="2600" dirty="0" err="1"/>
              <a:t>với</a:t>
            </a:r>
            <a:r>
              <a:rPr lang="en-US" sz="2600" dirty="0"/>
              <a:t> c channel </a:t>
            </a:r>
            <a:r>
              <a:rPr lang="en-US" sz="2600" dirty="0" err="1"/>
              <a:t>được</a:t>
            </a:r>
            <a:r>
              <a:rPr lang="en-US" sz="2600" dirty="0"/>
              <a:t> </a:t>
            </a:r>
            <a:r>
              <a:rPr lang="en-US" sz="2600" dirty="0" err="1"/>
              <a:t>tính</a:t>
            </a:r>
            <a:r>
              <a:rPr lang="en-US" sz="2600" dirty="0"/>
              <a:t> </a:t>
            </a:r>
            <a:r>
              <a:rPr lang="en-US" sz="2600" dirty="0" err="1"/>
              <a:t>bởi</a:t>
            </a:r>
            <a:r>
              <a:rPr lang="en-US" sz="2600" dirty="0"/>
              <a:t> filter k x k </a:t>
            </a:r>
            <a:r>
              <a:rPr lang="en-US" sz="2600" dirty="0" err="1"/>
              <a:t>với</a:t>
            </a:r>
            <a:r>
              <a:rPr lang="en-US" sz="2600" dirty="0"/>
              <a:t> </a:t>
            </a:r>
            <a:r>
              <a:rPr lang="en-US" sz="2600" dirty="0" err="1"/>
              <a:t>sải</a:t>
            </a:r>
            <a:r>
              <a:rPr lang="en-US" sz="2600" dirty="0"/>
              <a:t> </a:t>
            </a:r>
            <a:r>
              <a:rPr lang="en-US" sz="2600" dirty="0" err="1"/>
              <a:t>bước</a:t>
            </a:r>
            <a:r>
              <a:rPr lang="en-US" sz="2600" dirty="0"/>
              <a:t> 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0907486" cy="7968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09006" y="121418"/>
            <a:ext cx="10907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Single stream</a:t>
            </a:r>
            <a:endParaRPr lang="en-US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101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892" y="12160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 err="1"/>
              <a:t>Để</a:t>
            </a:r>
            <a:r>
              <a:rPr lang="en-US" sz="2600" dirty="0"/>
              <a:t> </a:t>
            </a:r>
            <a:r>
              <a:rPr lang="en-US" sz="2600" dirty="0" err="1"/>
              <a:t>xây</a:t>
            </a:r>
            <a:r>
              <a:rPr lang="en-US" sz="2600" dirty="0"/>
              <a:t> </a:t>
            </a:r>
            <a:r>
              <a:rPr lang="en-US" sz="2600" dirty="0" err="1"/>
              <a:t>dựng</a:t>
            </a:r>
            <a:r>
              <a:rPr lang="en-US" sz="2600" dirty="0"/>
              <a:t> model </a:t>
            </a:r>
            <a:r>
              <a:rPr lang="en-US" sz="2600" dirty="0" err="1"/>
              <a:t>trích</a:t>
            </a:r>
            <a:r>
              <a:rPr lang="en-US" sz="2600" dirty="0"/>
              <a:t> </a:t>
            </a:r>
            <a:r>
              <a:rPr lang="en-US" sz="2600" dirty="0" err="1"/>
              <a:t>xuất</a:t>
            </a:r>
            <a:r>
              <a:rPr lang="en-US" sz="2600" dirty="0"/>
              <a:t> feature </a:t>
            </a:r>
            <a:r>
              <a:rPr lang="en-US" sz="2600" dirty="0" err="1"/>
              <a:t>kết</a:t>
            </a:r>
            <a:r>
              <a:rPr lang="en-US" sz="2600" dirty="0"/>
              <a:t> </a:t>
            </a:r>
            <a:r>
              <a:rPr lang="en-US" sz="2600" dirty="0" err="1"/>
              <a:t>hợp</a:t>
            </a:r>
            <a:r>
              <a:rPr lang="en-US" sz="2600" dirty="0"/>
              <a:t>, </a:t>
            </a:r>
            <a:r>
              <a:rPr lang="en-US" sz="2600" dirty="0" err="1"/>
              <a:t>chúng</a:t>
            </a:r>
            <a:r>
              <a:rPr lang="en-US" sz="2600" dirty="0"/>
              <a:t> ta chia </a:t>
            </a:r>
            <a:r>
              <a:rPr lang="en-US" sz="2600" dirty="0" err="1"/>
              <a:t>kiến</a:t>
            </a:r>
            <a:r>
              <a:rPr lang="en-US" sz="2600" dirty="0"/>
              <a:t> </a:t>
            </a:r>
            <a:r>
              <a:rPr lang="en-US" sz="2600" dirty="0" err="1"/>
              <a:t>trúc</a:t>
            </a:r>
            <a:r>
              <a:rPr lang="en-US" sz="2600" dirty="0"/>
              <a:t> </a:t>
            </a:r>
            <a:r>
              <a:rPr lang="en-US" sz="2600" dirty="0" err="1"/>
              <a:t>mạng</a:t>
            </a:r>
            <a:r>
              <a:rPr lang="en-US" sz="2600" dirty="0"/>
              <a:t> </a:t>
            </a:r>
            <a:r>
              <a:rPr lang="en-US" sz="2600" dirty="0" err="1"/>
              <a:t>làm</a:t>
            </a:r>
            <a:r>
              <a:rPr lang="en-US" sz="2600" dirty="0"/>
              <a:t> 2: global </a:t>
            </a:r>
            <a:r>
              <a:rPr lang="en-US" sz="2600" dirty="0" err="1"/>
              <a:t>và</a:t>
            </a:r>
            <a:r>
              <a:rPr lang="en-US" sz="2600" dirty="0"/>
              <a:t> local network</a:t>
            </a:r>
          </a:p>
          <a:p>
            <a:pPr marL="0" indent="0">
              <a:buNone/>
            </a:pPr>
            <a:r>
              <a:rPr lang="en-US" sz="2600" dirty="0"/>
              <a:t>B1: pre-training </a:t>
            </a:r>
            <a:r>
              <a:rPr lang="en-US" sz="2600" dirty="0" err="1"/>
              <a:t>mỗi</a:t>
            </a:r>
            <a:r>
              <a:rPr lang="en-US" sz="2600" dirty="0"/>
              <a:t> network </a:t>
            </a:r>
            <a:r>
              <a:rPr lang="en-US" sz="2600" dirty="0" err="1"/>
              <a:t>bằng</a:t>
            </a:r>
            <a:r>
              <a:rPr lang="en-US" sz="2600" dirty="0"/>
              <a:t> dataset </a:t>
            </a:r>
            <a:r>
              <a:rPr lang="en-US" sz="2600" dirty="0" err="1"/>
              <a:t>chính</a:t>
            </a:r>
            <a:r>
              <a:rPr lang="en-US" sz="2600" dirty="0"/>
              <a:t> </a:t>
            </a:r>
            <a:r>
              <a:rPr lang="en-US" sz="2600" dirty="0" err="1"/>
              <a:t>nó</a:t>
            </a:r>
            <a:r>
              <a:rPr lang="en-US" sz="2600" dirty="0"/>
              <a:t>, </a:t>
            </a:r>
            <a:r>
              <a:rPr lang="en-US" sz="2600" dirty="0" err="1"/>
              <a:t>trong</a:t>
            </a:r>
            <a:r>
              <a:rPr lang="en-US" sz="2600" dirty="0"/>
              <a:t> </a:t>
            </a:r>
            <a:r>
              <a:rPr lang="en-US" sz="2600" dirty="0" err="1"/>
              <a:t>pha</a:t>
            </a:r>
            <a:r>
              <a:rPr lang="en-US" sz="2600" dirty="0"/>
              <a:t> validation, </a:t>
            </a:r>
            <a:r>
              <a:rPr lang="en-US" sz="2600" dirty="0" err="1"/>
              <a:t>kết</a:t>
            </a:r>
            <a:r>
              <a:rPr lang="en-US" sz="2600" dirty="0"/>
              <a:t> </a:t>
            </a:r>
            <a:r>
              <a:rPr lang="en-US" sz="2600" dirty="0" err="1"/>
              <a:t>hợp</a:t>
            </a:r>
            <a:r>
              <a:rPr lang="en-US" sz="2600" dirty="0"/>
              <a:t> 2 </a:t>
            </a:r>
            <a:r>
              <a:rPr lang="en-US" sz="2600" dirty="0" err="1"/>
              <a:t>softmax</a:t>
            </a:r>
            <a:r>
              <a:rPr lang="en-US" sz="2600" dirty="0"/>
              <a:t> output </a:t>
            </a:r>
            <a:r>
              <a:rPr lang="en-US" sz="2600" dirty="0" err="1"/>
              <a:t>và</a:t>
            </a:r>
            <a:r>
              <a:rPr lang="en-US" sz="2600" dirty="0"/>
              <a:t> </a:t>
            </a:r>
            <a:r>
              <a:rPr lang="en-US" sz="2600" dirty="0" err="1"/>
              <a:t>tính</a:t>
            </a:r>
            <a:r>
              <a:rPr lang="en-US" sz="2600" dirty="0"/>
              <a:t> finally class score </a:t>
            </a:r>
            <a:r>
              <a:rPr lang="en-US" sz="2600" dirty="0" err="1"/>
              <a:t>bằng</a:t>
            </a:r>
            <a:r>
              <a:rPr lang="en-US" sz="2600" dirty="0"/>
              <a:t> fusion method: average </a:t>
            </a:r>
            <a:r>
              <a:rPr lang="en-US" sz="2600" dirty="0" err="1"/>
              <a:t>hoặc</a:t>
            </a:r>
            <a:r>
              <a:rPr lang="en-US" sz="2600" dirty="0"/>
              <a:t> max voting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07486" cy="7968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09006" y="121418"/>
            <a:ext cx="10907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Late fusion</a:t>
            </a:r>
            <a:endParaRPr lang="en-US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097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892" y="127144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 err="1"/>
              <a:t>Tích</a:t>
            </a:r>
            <a:r>
              <a:rPr lang="en-US" sz="2600" dirty="0"/>
              <a:t> </a:t>
            </a:r>
            <a:r>
              <a:rPr lang="en-US" sz="2600" dirty="0" err="1"/>
              <a:t>hợp</a:t>
            </a:r>
            <a:r>
              <a:rPr lang="en-US" sz="2600" dirty="0"/>
              <a:t> 2 network </a:t>
            </a:r>
            <a:r>
              <a:rPr lang="en-US" sz="2600" dirty="0" err="1"/>
              <a:t>và</a:t>
            </a:r>
            <a:r>
              <a:rPr lang="en-US" sz="2600" dirty="0"/>
              <a:t> </a:t>
            </a:r>
            <a:r>
              <a:rPr lang="en-US" sz="2600" dirty="0" err="1"/>
              <a:t>cùng</a:t>
            </a:r>
            <a:r>
              <a:rPr lang="en-US" sz="2600" dirty="0"/>
              <a:t> train </a:t>
            </a:r>
            <a:r>
              <a:rPr lang="en-US" sz="2600" dirty="0" err="1"/>
              <a:t>từ</a:t>
            </a:r>
            <a:r>
              <a:rPr lang="en-US" sz="2600" dirty="0"/>
              <a:t> </a:t>
            </a:r>
            <a:r>
              <a:rPr lang="en-US" sz="2600" dirty="0" err="1"/>
              <a:t>đầu</a:t>
            </a:r>
            <a:r>
              <a:rPr lang="en-US" sz="2600" dirty="0"/>
              <a:t> </a:t>
            </a:r>
            <a:r>
              <a:rPr lang="en-US" sz="2600" dirty="0" err="1"/>
              <a:t>đến</a:t>
            </a:r>
            <a:r>
              <a:rPr lang="en-US" sz="2600" dirty="0"/>
              <a:t> </a:t>
            </a:r>
            <a:r>
              <a:rPr lang="en-US" sz="2600" dirty="0" err="1"/>
              <a:t>cuối</a:t>
            </a:r>
            <a:r>
              <a:rPr lang="en-US" sz="2600" dirty="0"/>
              <a:t> </a:t>
            </a:r>
            <a:r>
              <a:rPr lang="en-US" sz="2600" dirty="0" err="1"/>
              <a:t>với</a:t>
            </a:r>
            <a:r>
              <a:rPr lang="en-US" sz="2600" dirty="0"/>
              <a:t> fused representation </a:t>
            </a:r>
            <a:r>
              <a:rPr lang="en-US" sz="2600" dirty="0" err="1"/>
              <a:t>liên</a:t>
            </a:r>
            <a:r>
              <a:rPr lang="en-US" sz="2600" dirty="0"/>
              <a:t> </a:t>
            </a:r>
            <a:r>
              <a:rPr lang="en-US" sz="2600" dirty="0" err="1"/>
              <a:t>kết</a:t>
            </a:r>
            <a:r>
              <a:rPr lang="en-US" sz="2600" dirty="0"/>
              <a:t> </a:t>
            </a:r>
            <a:r>
              <a:rPr lang="en-US" sz="2600" dirty="0" err="1"/>
              <a:t>trực</a:t>
            </a:r>
            <a:r>
              <a:rPr lang="en-US" sz="2600" dirty="0"/>
              <a:t> </a:t>
            </a:r>
            <a:r>
              <a:rPr lang="en-US" sz="2600" dirty="0" err="1"/>
              <a:t>tiếp</a:t>
            </a:r>
            <a:r>
              <a:rPr lang="en-US" sz="2600" dirty="0"/>
              <a:t> </a:t>
            </a:r>
            <a:r>
              <a:rPr lang="en-US" sz="2600" dirty="0" err="1"/>
              <a:t>với</a:t>
            </a:r>
            <a:r>
              <a:rPr lang="en-US" sz="2600" dirty="0"/>
              <a:t> </a:t>
            </a:r>
            <a:r>
              <a:rPr lang="en-US" sz="2600" dirty="0" err="1"/>
              <a:t>phân</a:t>
            </a:r>
            <a:r>
              <a:rPr lang="en-US" sz="2600" dirty="0"/>
              <a:t> </a:t>
            </a:r>
            <a:r>
              <a:rPr lang="en-US" sz="2600" dirty="0" err="1"/>
              <a:t>lớp</a:t>
            </a:r>
            <a:r>
              <a:rPr lang="en-US" sz="2600" dirty="0"/>
              <a:t> </a:t>
            </a:r>
            <a:r>
              <a:rPr lang="en-US" sz="2600" dirty="0" err="1"/>
              <a:t>loài</a:t>
            </a:r>
            <a:r>
              <a:rPr lang="en-US" sz="2600" dirty="0"/>
              <a:t> </a:t>
            </a:r>
            <a:r>
              <a:rPr lang="en-US" sz="2600" dirty="0" err="1"/>
              <a:t>thông</a:t>
            </a:r>
            <a:r>
              <a:rPr lang="en-US" sz="2600" dirty="0"/>
              <a:t> </a:t>
            </a:r>
            <a:r>
              <a:rPr lang="en-US" sz="2600" dirty="0" err="1"/>
              <a:t>quan</a:t>
            </a:r>
            <a:r>
              <a:rPr lang="en-US" sz="2600" dirty="0"/>
              <a:t> </a:t>
            </a:r>
            <a:r>
              <a:rPr lang="en-US" sz="2600" dirty="0" err="1"/>
              <a:t>softmax</a:t>
            </a:r>
            <a:r>
              <a:rPr lang="en-US" sz="2600" dirty="0"/>
              <a:t> layer.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07486" cy="7968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09006" y="121418"/>
            <a:ext cx="10907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Early fusion</a:t>
            </a:r>
            <a:endParaRPr lang="en-US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042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892" y="125758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D1: 1325 (57.9%)</a:t>
            </a:r>
          </a:p>
          <a:p>
            <a:pPr marL="0" indent="0">
              <a:buNone/>
            </a:pPr>
            <a:r>
              <a:rPr lang="en-US" sz="2600" dirty="0"/>
              <a:t>D2: 3960 (11.4%)</a:t>
            </a:r>
          </a:p>
          <a:p>
            <a:pPr marL="0" indent="0">
              <a:buNone/>
            </a:pPr>
            <a:r>
              <a:rPr lang="en-US" sz="2600" dirty="0"/>
              <a:t>Testing set: 528</a:t>
            </a:r>
          </a:p>
          <a:p>
            <a:pPr marL="0" indent="0">
              <a:buNone/>
            </a:pPr>
            <a:r>
              <a:rPr lang="en-US" sz="2600" dirty="0" err="1"/>
              <a:t>Thay</a:t>
            </a:r>
            <a:r>
              <a:rPr lang="en-US" sz="2600" dirty="0"/>
              <a:t> </a:t>
            </a:r>
            <a:r>
              <a:rPr lang="en-US" sz="2600" dirty="0" err="1"/>
              <a:t>vì</a:t>
            </a:r>
            <a:r>
              <a:rPr lang="en-US" sz="2600" dirty="0"/>
              <a:t> </a:t>
            </a:r>
            <a:r>
              <a:rPr lang="en-US" sz="2600" dirty="0" err="1"/>
              <a:t>khởi</a:t>
            </a:r>
            <a:r>
              <a:rPr lang="en-US" sz="2600" dirty="0"/>
              <a:t> </a:t>
            </a:r>
            <a:r>
              <a:rPr lang="en-US" sz="2600" dirty="0" err="1"/>
              <a:t>tạo</a:t>
            </a:r>
            <a:r>
              <a:rPr lang="en-US" sz="2600" dirty="0"/>
              <a:t> weight </a:t>
            </a:r>
            <a:r>
              <a:rPr lang="en-US" sz="2600" dirty="0" err="1"/>
              <a:t>ngẫu</a:t>
            </a:r>
            <a:r>
              <a:rPr lang="en-US" sz="2600" dirty="0"/>
              <a:t> </a:t>
            </a:r>
            <a:r>
              <a:rPr lang="en-US" sz="2600" dirty="0" err="1"/>
              <a:t>nhiên</a:t>
            </a:r>
            <a:r>
              <a:rPr lang="en-US" sz="2600" dirty="0"/>
              <a:t>, </a:t>
            </a:r>
            <a:r>
              <a:rPr lang="en-US" sz="2600" dirty="0" err="1"/>
              <a:t>chuyển</a:t>
            </a:r>
            <a:r>
              <a:rPr lang="en-US" sz="2600" dirty="0"/>
              <a:t> </a:t>
            </a:r>
            <a:r>
              <a:rPr lang="en-US" sz="2600" dirty="0" err="1"/>
              <a:t>từ</a:t>
            </a:r>
            <a:r>
              <a:rPr lang="en-US" sz="2600" dirty="0"/>
              <a:t> model pre-trained</a:t>
            </a:r>
          </a:p>
          <a:p>
            <a:pPr marL="0" indent="0">
              <a:buNone/>
            </a:pPr>
            <a:r>
              <a:rPr lang="en-US" sz="2600" dirty="0"/>
              <a:t>Learning rate: 10^-3, </a:t>
            </a:r>
            <a:r>
              <a:rPr lang="en-US" sz="2600" dirty="0" err="1"/>
              <a:t>giảm</a:t>
            </a:r>
            <a:r>
              <a:rPr lang="en-US" sz="2600" dirty="0"/>
              <a:t> </a:t>
            </a:r>
            <a:r>
              <a:rPr lang="en-US" sz="2600" dirty="0" err="1"/>
              <a:t>đi</a:t>
            </a:r>
            <a:r>
              <a:rPr lang="en-US" sz="2600" dirty="0"/>
              <a:t> 10 </a:t>
            </a:r>
            <a:r>
              <a:rPr lang="en-US" sz="2600" dirty="0" err="1"/>
              <a:t>lẫn</a:t>
            </a:r>
            <a:r>
              <a:rPr lang="en-US" sz="2600" dirty="0"/>
              <a:t> </a:t>
            </a:r>
            <a:r>
              <a:rPr lang="en-US" sz="2600" dirty="0" err="1"/>
              <a:t>mỗi</a:t>
            </a:r>
            <a:r>
              <a:rPr lang="en-US" sz="2600" dirty="0"/>
              <a:t> </a:t>
            </a:r>
            <a:r>
              <a:rPr lang="en-US" sz="2600" dirty="0" err="1"/>
              <a:t>khi</a:t>
            </a:r>
            <a:r>
              <a:rPr lang="en-US" sz="2600" dirty="0"/>
              <a:t> validation err rate </a:t>
            </a:r>
            <a:r>
              <a:rPr lang="en-US" sz="2600" dirty="0" err="1"/>
              <a:t>ko</a:t>
            </a:r>
            <a:r>
              <a:rPr lang="en-US" sz="2600" dirty="0"/>
              <a:t> </a:t>
            </a:r>
            <a:r>
              <a:rPr lang="en-US" sz="2600" dirty="0" err="1"/>
              <a:t>đổi</a:t>
            </a:r>
            <a:r>
              <a:rPr lang="en-US" sz="2600" dirty="0"/>
              <a:t>. Momentum 0.9 weight decay 10^-4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07486" cy="7968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09006" y="121418"/>
            <a:ext cx="10907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/>
                </a:solidFill>
              </a:rPr>
              <a:t>Thử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nghiệm</a:t>
            </a:r>
            <a:endParaRPr lang="en-US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9140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6595"/>
            <a:ext cx="12192000" cy="360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672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76263"/>
            <a:ext cx="9144000" cy="1658938"/>
          </a:xfrm>
        </p:spPr>
        <p:txBody>
          <a:bodyPr>
            <a:normAutofit fontScale="90000"/>
          </a:bodyPr>
          <a:lstStyle/>
          <a:p>
            <a:r>
              <a:rPr lang="en-US" dirty="0"/>
              <a:t>Image Segmentation Using Minimal Graph Cuts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235201"/>
            <a:ext cx="9144000" cy="1655762"/>
          </a:xfrm>
        </p:spPr>
        <p:txBody>
          <a:bodyPr/>
          <a:lstStyle/>
          <a:p>
            <a:r>
              <a:rPr lang="en-US" dirty="0"/>
              <a:t>Anders P. Eriksson, </a:t>
            </a:r>
            <a:r>
              <a:rPr lang="en-US" dirty="0" err="1"/>
              <a:t>Olof</a:t>
            </a:r>
            <a:r>
              <a:rPr lang="en-US" dirty="0"/>
              <a:t> Barr and </a:t>
            </a:r>
            <a:r>
              <a:rPr lang="en-US" dirty="0" err="1"/>
              <a:t>Kalle</a:t>
            </a:r>
            <a:r>
              <a:rPr lang="en-US" dirty="0"/>
              <a:t> ˚</a:t>
            </a:r>
            <a:r>
              <a:rPr lang="en-US" dirty="0" err="1"/>
              <a:t>Astr¨om</a:t>
            </a:r>
            <a:r>
              <a:rPr lang="en-US" dirty="0"/>
              <a:t>, 2006</a:t>
            </a:r>
          </a:p>
        </p:txBody>
      </p:sp>
    </p:spTree>
    <p:extLst>
      <p:ext uri="{BB962C8B-B14F-4D97-AF65-F5344CB8AC3E}">
        <p14:creationId xmlns:p14="http://schemas.microsoft.com/office/powerpoint/2010/main" val="17978597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US" dirty="0"/>
              <a:t>Graph cut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28700"/>
                <a:ext cx="10515600" cy="127027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Cho </a:t>
                </a:r>
                <a:r>
                  <a:rPr lang="en-US" dirty="0" err="1"/>
                  <a:t>đồ</a:t>
                </a:r>
                <a:r>
                  <a:rPr lang="en-US" dirty="0"/>
                  <a:t> </a:t>
                </a:r>
                <a:r>
                  <a:rPr lang="en-US" dirty="0" err="1"/>
                  <a:t>thị</a:t>
                </a:r>
                <a:r>
                  <a:rPr lang="en-US" dirty="0"/>
                  <a:t> (E, V, W). Min - cut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đường</a:t>
                </a:r>
                <a:r>
                  <a:rPr lang="en-US" dirty="0"/>
                  <a:t> </a:t>
                </a:r>
                <a:r>
                  <a:rPr lang="en-US" dirty="0" err="1"/>
                  <a:t>cắt</a:t>
                </a:r>
                <a:r>
                  <a:rPr lang="en-US" dirty="0"/>
                  <a:t> V </a:t>
                </a:r>
                <a:r>
                  <a:rPr lang="en-US" dirty="0" err="1"/>
                  <a:t>thành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A </a:t>
                </a:r>
                <a:r>
                  <a:rPr lang="en-US" dirty="0" err="1"/>
                  <a:t>và</a:t>
                </a:r>
                <a:r>
                  <a:rPr lang="en-US" dirty="0"/>
                  <a:t> B </a:t>
                </a:r>
                <a:r>
                  <a:rPr lang="en-US" dirty="0" err="1"/>
                  <a:t>sao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⋃</m:t>
                    </m:r>
                  </m:oMath>
                </a14:m>
                <a:r>
                  <a:rPr lang="en-US" dirty="0"/>
                  <a:t> B = V, 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/>
                  <a:t> B = 0 </a:t>
                </a:r>
                <a:r>
                  <a:rPr lang="en-US" dirty="0" err="1"/>
                  <a:t>sao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phần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cắt</a:t>
                </a:r>
                <a:r>
                  <a:rPr lang="en-US" dirty="0"/>
                  <a:t> </a:t>
                </a:r>
                <a:r>
                  <a:rPr lang="en-US" dirty="0" err="1"/>
                  <a:t>ít</a:t>
                </a:r>
                <a:r>
                  <a:rPr lang="en-US" dirty="0"/>
                  <a:t> </a:t>
                </a:r>
                <a:r>
                  <a:rPr lang="en-US" dirty="0" err="1"/>
                  <a:t>liên</a:t>
                </a:r>
                <a:r>
                  <a:rPr lang="en-US" dirty="0"/>
                  <a:t> </a:t>
                </a:r>
                <a:r>
                  <a:rPr lang="en-US" dirty="0" err="1"/>
                  <a:t>quan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đến</a:t>
                </a:r>
                <a:r>
                  <a:rPr lang="en-US" dirty="0"/>
                  <a:t> A </a:t>
                </a:r>
                <a:r>
                  <a:rPr lang="en-US" dirty="0" err="1"/>
                  <a:t>và</a:t>
                </a:r>
                <a:r>
                  <a:rPr lang="en-US" dirty="0"/>
                  <a:t> B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28700"/>
                <a:ext cx="10515600" cy="1270272"/>
              </a:xfrm>
              <a:blipFill>
                <a:blip r:embed="rId2"/>
                <a:stretch>
                  <a:fillRect l="-1217" t="-8173" r="-522" b="-12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62547"/>
            <a:ext cx="5576887" cy="269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9280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US" dirty="0"/>
              <a:t>The image seen as a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8700"/>
            <a:ext cx="10515600" cy="12702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Cho </a:t>
            </a:r>
            <a:r>
              <a:rPr lang="en-US" i="1" dirty="0"/>
              <a:t>n </a:t>
            </a:r>
            <a:r>
              <a:rPr lang="en-US" dirty="0"/>
              <a:t>pixel </a:t>
            </a:r>
            <a:r>
              <a:rPr lang="en-US" dirty="0" err="1"/>
              <a:t>lân</a:t>
            </a:r>
            <a:r>
              <a:rPr lang="en-US" dirty="0"/>
              <a:t> </a:t>
            </a:r>
            <a:r>
              <a:rPr lang="en-US" dirty="0" err="1"/>
              <a:t>cận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1 node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 node </a:t>
            </a:r>
            <a:r>
              <a:rPr lang="en-US" dirty="0" err="1"/>
              <a:t>và</a:t>
            </a:r>
            <a:r>
              <a:rPr lang="en-US" dirty="0"/>
              <a:t> S node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object </a:t>
            </a:r>
            <a:r>
              <a:rPr lang="en-US" dirty="0" err="1"/>
              <a:t>và</a:t>
            </a:r>
            <a:r>
              <a:rPr lang="en-US" dirty="0"/>
              <a:t> background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66650"/>
            <a:ext cx="4635500" cy="447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9081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3991"/>
          </a:xfrm>
        </p:spPr>
        <p:txBody>
          <a:bodyPr/>
          <a:lstStyle/>
          <a:p>
            <a:r>
              <a:rPr lang="en-US" dirty="0"/>
              <a:t>Weight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38200" y="1565332"/>
                <a:ext cx="4861267" cy="12755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p>
                    </m:sSubSup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d>
                                  <m:dPr>
                                    <m:ctrlP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36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</m:den>
                    </m:f>
                  </m:oMath>
                </a14:m>
                <a:r>
                  <a:rPr lang="en-US" sz="3600" dirty="0"/>
                  <a:t> 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3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3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en-US" sz="3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3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36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sz="3600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3600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3600" i="1" dirty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3600" i="1" dirty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sz="3600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sz="3600" i="1" dirty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sz="3600" i="1" dirty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3600" i="1" dirty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sz="3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sSubPr>
                                    <m:ctrlPr>
                                      <a:rPr lang="en-US" sz="3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3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𝑊</m:t>
                                    </m:r>
                                  </m:sub>
                                </m:sSub>
                              </m:den>
                            </m:f>
                          </m:sup>
                        </m:sSup>
                      </m:den>
                    </m:f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65332"/>
                <a:ext cx="4861267" cy="12755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38200" y="3287090"/>
                <a:ext cx="7131568" cy="11683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b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287090"/>
                <a:ext cx="7131568" cy="11683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38200" y="4828611"/>
                <a:ext cx="7108549" cy="11683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828611"/>
                <a:ext cx="7108549" cy="11683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81864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04" y="1556317"/>
            <a:ext cx="10103777" cy="202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5304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488" y="242570"/>
            <a:ext cx="3685226" cy="634603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558" y="242569"/>
            <a:ext cx="2812528" cy="626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5219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44" y="-1"/>
            <a:ext cx="12076356" cy="6858001"/>
          </a:xfrm>
        </p:spPr>
      </p:pic>
    </p:spTree>
    <p:extLst>
      <p:ext uri="{BB962C8B-B14F-4D97-AF65-F5344CB8AC3E}">
        <p14:creationId xmlns:p14="http://schemas.microsoft.com/office/powerpoint/2010/main" val="4109346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28544"/>
          </a:xfrm>
        </p:spPr>
        <p:txBody>
          <a:bodyPr>
            <a:normAutofit fontScale="90000"/>
          </a:bodyPr>
          <a:lstStyle/>
          <a:p>
            <a:r>
              <a:rPr lang="en-US" dirty="0"/>
              <a:t>Automated Leaf Alignment and Partial Shape Feature Extraction for Plant Leaf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3669"/>
            <a:ext cx="10515600" cy="46373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Received 17th June 2017; accepted 30th March 2019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2057400"/>
            <a:ext cx="10515600" cy="46373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Dataset: Flavia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41614"/>
            <a:ext cx="8135485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8496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794" y="904106"/>
            <a:ext cx="9144000" cy="495844"/>
          </a:xfrm>
        </p:spPr>
        <p:txBody>
          <a:bodyPr>
            <a:normAutofit/>
          </a:bodyPr>
          <a:lstStyle/>
          <a:p>
            <a:pPr algn="l"/>
            <a:r>
              <a:rPr lang="en-US" sz="2600" dirty="0"/>
              <a:t>Proposed System: segmented, white background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94" y="3229472"/>
            <a:ext cx="8154538" cy="261974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7794" y="1676400"/>
            <a:ext cx="2152106" cy="1028700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600" dirty="0"/>
              <a:t>RGB</a:t>
            </a:r>
          </a:p>
        </p:txBody>
      </p:sp>
      <p:cxnSp>
        <p:nvCxnSpPr>
          <p:cNvPr id="7" name="Straight Arrow Connector 6"/>
          <p:cNvCxnSpPr>
            <a:stCxn id="5" idx="3"/>
          </p:cNvCxnSpPr>
          <p:nvPr/>
        </p:nvCxnSpPr>
        <p:spPr>
          <a:xfrm>
            <a:off x="3009900" y="2190750"/>
            <a:ext cx="5207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30600" y="1676400"/>
            <a:ext cx="2152106" cy="1028700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Gray</a:t>
            </a:r>
            <a:endParaRPr lang="en-US" sz="26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5682706" y="2190750"/>
            <a:ext cx="5207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03406" y="1676400"/>
            <a:ext cx="3613694" cy="1028700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 err="1"/>
              <a:t>Binarized</a:t>
            </a:r>
            <a:r>
              <a:rPr lang="en-US" sz="2800" dirty="0"/>
              <a:t> by Otsu ‘s </a:t>
            </a:r>
            <a:r>
              <a:rPr lang="en-US" sz="2800" dirty="0" err="1"/>
              <a:t>thresholding</a:t>
            </a:r>
            <a:r>
              <a:rPr lang="en-US" sz="2800" dirty="0"/>
              <a:t> algorithm</a:t>
            </a:r>
          </a:p>
        </p:txBody>
      </p:sp>
    </p:spTree>
    <p:extLst>
      <p:ext uri="{BB962C8B-B14F-4D97-AF65-F5344CB8AC3E}">
        <p14:creationId xmlns:p14="http://schemas.microsoft.com/office/powerpoint/2010/main" val="5269062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028871" y="3278256"/>
                <a:ext cx="3673929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Hướng ban đầu</a:t>
                </a:r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vi-VN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n-US" sz="2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vi-VN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𝛼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(</m:t>
                    </m:r>
                  </m:oMath>
                </a14:m>
                <a:r>
                  <a:rPr lang="vi-VN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trục ngang</a:t>
                </a:r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vi-VN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trục chính</a:t>
                </a:r>
                <a:r>
                  <a:rPr lang="en-US" sz="2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8871" y="3278256"/>
                <a:ext cx="3673929" cy="892552"/>
              </a:xfrm>
              <a:prstGeom prst="rect">
                <a:avLst/>
              </a:prstGeom>
              <a:blipFill>
                <a:blip r:embed="rId2"/>
                <a:stretch>
                  <a:fillRect l="-2985" t="-5479" r="-1658" b="-17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5927271" y="1962978"/>
            <a:ext cx="4646023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Trục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chính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của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lá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không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đều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có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thể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được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định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nghĩa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là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trục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chính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của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hình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elip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bao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quanh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lá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1" y="220337"/>
            <a:ext cx="4537442" cy="58572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28871" y="647700"/>
            <a:ext cx="537572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/>
              <a:t>Trục</a:t>
            </a:r>
            <a:r>
              <a:rPr lang="en-US" sz="2600" dirty="0"/>
              <a:t> </a:t>
            </a:r>
            <a:r>
              <a:rPr lang="en-US" sz="2600" dirty="0" err="1"/>
              <a:t>chính</a:t>
            </a:r>
            <a:r>
              <a:rPr lang="en-US" sz="2600" dirty="0"/>
              <a:t>:</a:t>
            </a:r>
          </a:p>
          <a:p>
            <a:r>
              <a:rPr lang="en-US" sz="2600" dirty="0"/>
              <a:t>- </a:t>
            </a:r>
            <a:r>
              <a:rPr lang="en-US" sz="2600" dirty="0" err="1"/>
              <a:t>Lá</a:t>
            </a:r>
            <a:r>
              <a:rPr lang="en-US" sz="2600" dirty="0"/>
              <a:t> </a:t>
            </a:r>
            <a:r>
              <a:rPr lang="en-US" sz="2600" dirty="0" err="1"/>
              <a:t>đều</a:t>
            </a:r>
            <a:r>
              <a:rPr lang="en-US" sz="2600" dirty="0"/>
              <a:t>: </a:t>
            </a:r>
            <a:r>
              <a:rPr lang="en-US" sz="2600" dirty="0" err="1"/>
              <a:t>tìm</a:t>
            </a:r>
            <a:r>
              <a:rPr lang="en-US" sz="2600" dirty="0"/>
              <a:t> </a:t>
            </a:r>
            <a:r>
              <a:rPr lang="en-US" sz="2600" dirty="0" err="1"/>
              <a:t>đường</a:t>
            </a:r>
            <a:r>
              <a:rPr lang="en-US" sz="2600" dirty="0"/>
              <a:t> </a:t>
            </a:r>
            <a:r>
              <a:rPr lang="en-US" sz="2600" dirty="0" err="1"/>
              <a:t>thẳng</a:t>
            </a:r>
            <a:r>
              <a:rPr lang="en-US" sz="2600" dirty="0"/>
              <a:t> chia </a:t>
            </a:r>
            <a:r>
              <a:rPr lang="en-US" sz="2600" dirty="0" err="1"/>
              <a:t>ảnh</a:t>
            </a:r>
            <a:r>
              <a:rPr lang="en-US" sz="2600" dirty="0"/>
              <a:t> </a:t>
            </a:r>
            <a:r>
              <a:rPr lang="en-US" sz="2600" dirty="0" err="1"/>
              <a:t>làm</a:t>
            </a:r>
            <a:r>
              <a:rPr lang="en-US" sz="2600" dirty="0"/>
              <a:t> 2 </a:t>
            </a:r>
            <a:r>
              <a:rPr lang="en-US" sz="2600" dirty="0" err="1"/>
              <a:t>phần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s</a:t>
            </a:r>
          </a:p>
        </p:txBody>
      </p:sp>
    </p:spTree>
    <p:extLst>
      <p:ext uri="{BB962C8B-B14F-4D97-AF65-F5344CB8AC3E}">
        <p14:creationId xmlns:p14="http://schemas.microsoft.com/office/powerpoint/2010/main" val="8743874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9" y="810322"/>
            <a:ext cx="12124701" cy="547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7581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76263"/>
            <a:ext cx="9144000" cy="1658938"/>
          </a:xfrm>
        </p:spPr>
        <p:txBody>
          <a:bodyPr>
            <a:normAutofit fontScale="90000"/>
          </a:bodyPr>
          <a:lstStyle/>
          <a:p>
            <a:r>
              <a:rPr lang="en-US"/>
              <a:t>Time Series Shapelets: A New Primitive for Data Mining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235201"/>
            <a:ext cx="9144000" cy="1655762"/>
          </a:xfrm>
        </p:spPr>
        <p:txBody>
          <a:bodyPr/>
          <a:lstStyle/>
          <a:p>
            <a:r>
              <a:rPr lang="en-US"/>
              <a:t>Lexiang Ye, Eamonn Keogh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7589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US"/>
              <a:t>Timeseries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2410"/>
            <a:ext cx="10515600" cy="966561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Way to convert each leaf into a one-dimensional representation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98971"/>
            <a:ext cx="5549537" cy="24572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436" y="2298971"/>
            <a:ext cx="5539358" cy="3069456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2403566" y="5538153"/>
            <a:ext cx="3396343" cy="954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Angel - based</a:t>
            </a:r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341326" y="5538153"/>
            <a:ext cx="4396468" cy="1047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Euclidean distance</a:t>
            </a:r>
          </a:p>
        </p:txBody>
      </p:sp>
    </p:spTree>
    <p:extLst>
      <p:ext uri="{BB962C8B-B14F-4D97-AF65-F5344CB8AC3E}">
        <p14:creationId xmlns:p14="http://schemas.microsoft.com/office/powerpoint/2010/main" val="3751163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US"/>
              <a:t>Shapelet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2410"/>
            <a:ext cx="10515600" cy="966561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 subsection of the time series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70313"/>
            <a:ext cx="9581043" cy="410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4862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Subsequence &amp;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516208" cy="419635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mtClean="0"/>
                        <m:t>Subsequence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or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1 ≤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–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+ 1</m:t>
                      </m:r>
                    </m:oMath>
                  </m:oMathPara>
                </a14:m>
                <a:endParaRPr lang="en-U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>
                  <a:latin typeface="Cambria Math" panose="02040503050406030204" pitchFamily="18" charset="0"/>
                  <a:cs typeface="Segoe UI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𝐷𝑖𝑠𝑡</m:t>
                    </m:r>
                    <m:r>
                      <a:rPr lang="en-US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𝑆</m:t>
                    </m:r>
                    <m:r>
                      <a:rPr lang="en-US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, </m:t>
                    </m:r>
                    <m:r>
                      <a:rPr lang="en-US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𝑆</m:t>
                    </m:r>
                    <m:r>
                      <a:rPr lang="en-US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’) </m:t>
                    </m:r>
                  </m:oMath>
                </a14:m>
                <a:r>
                  <a:rPr lang="en-US">
                    <a:latin typeface="Segoe UI" panose="020B0502040204020203" pitchFamily="34" charset="0"/>
                    <a:cs typeface="Segoe UI" panose="020B0502040204020203" pitchFamily="34" charset="0"/>
                  </a:rPr>
                  <a:t>= similarity between 2 time series S &amp; S’. Including 2 method:</a:t>
                </a:r>
              </a:p>
              <a:p>
                <a:pPr marL="0" indent="0">
                  <a:buNone/>
                </a:pPr>
                <a:r>
                  <a:rPr lang="en-US">
                    <a:latin typeface="Segoe UI" panose="020B0502040204020203" pitchFamily="34" charset="0"/>
                    <a:cs typeface="Segoe UI" panose="020B0502040204020203" pitchFamily="34" charset="0"/>
                  </a:rPr>
                  <a:t>+ Euclidean</a:t>
                </a:r>
              </a:p>
              <a:p>
                <a:pPr marL="0" indent="0">
                  <a:buNone/>
                </a:pPr>
                <a:r>
                  <a:rPr lang="en-US">
                    <a:latin typeface="Segoe UI" panose="020B0502040204020203" pitchFamily="34" charset="0"/>
                    <a:cs typeface="Segoe UI" panose="020B0502040204020203" pitchFamily="34" charset="0"/>
                  </a:rPr>
                  <a:t>+ Dynamic Time Warping</a:t>
                </a:r>
              </a:p>
              <a:p>
                <a:pPr marL="0" indent="0">
                  <a:buNone/>
                </a:pPr>
                <a:endParaRPr lang="en-U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𝑆𝑢𝑏𝑠𝑒𝑞𝑢𝑒𝑛𝑐𝑒𝐷𝑖𝑠𝑡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𝐷𝑖𝑠𝑡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</a:rPr>
                        <m:t> )),</m:t>
                      </m:r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′∈</m:t>
                      </m:r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</m:sSubSup>
                      <m:r>
                        <a:rPr lang="en-US" i="1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n-US" i="1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516208" cy="4196352"/>
              </a:xfrm>
              <a:blipFill>
                <a:blip r:embed="rId2"/>
                <a:stretch>
                  <a:fillRect l="-1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407" y="0"/>
            <a:ext cx="48375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1092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Gain Infomation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353801" cy="292374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Dataset D consists 2 class A &amp; B, p(A), p(B) – the propotion of object in class: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Dataset D can split into 2 subset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&amp;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, 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), 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) – the fraction of object: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A split strategy is called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𝑠𝑝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353801" cy="2923743"/>
              </a:xfrm>
              <a:blipFill>
                <a:blip r:embed="rId3"/>
                <a:stretch>
                  <a:fillRect l="-1074" t="-3333" r="-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4749368"/>
            <a:ext cx="10058400" cy="8295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38199" y="5578926"/>
                <a:ext cx="1188720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num>
                                    <m:den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5578926"/>
                <a:ext cx="11887200" cy="9221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96134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OSP – Optimal split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>
                    <a:latin typeface="Segoe UI" panose="020B0502040204020203" pitchFamily="34" charset="0"/>
                    <a:cs typeface="Segoe UI" panose="020B0502040204020203" pitchFamily="34" charset="0"/>
                  </a:rPr>
                  <a:t>For every shapelet S in timeseries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</m:oMath>
                </a14:m>
                <a:r>
                  <a:rPr lang="en-US">
                    <a:latin typeface="Segoe UI" panose="020B0502040204020203" pitchFamily="34" charset="0"/>
                    <a:cs typeface="Segoe UI" panose="020B0502040204020203" pitchFamily="34" charset="0"/>
                  </a:rPr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>
                    <a:latin typeface="Segoe UI" panose="020B0502040204020203" pitchFamily="34" charset="0"/>
                    <a:cs typeface="Segoe UI" panose="020B0502040204020203" pitchFamily="34" charset="0"/>
                  </a:rPr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</m:oMath>
                </a14:m>
                <a:r>
                  <a:rPr lang="en-US">
                    <a:latin typeface="Segoe UI" panose="020B0502040204020203" pitchFamily="34" charset="0"/>
                    <a:cs typeface="Segoe UI" panose="020B0502040204020203" pitchFamily="34" charset="0"/>
                  </a:rPr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>
                    <a:latin typeface="Segoe UI" panose="020B0502040204020203" pitchFamily="34" charset="0"/>
                    <a:cs typeface="Segoe UI" panose="020B0502040204020203" pitchFamily="34" charset="0"/>
                  </a:rPr>
                  <a:t>,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>
                    <a:latin typeface="Segoe UI" panose="020B0502040204020203" pitchFamily="34" charset="0"/>
                    <a:cs typeface="Segoe UI" panose="020B0502040204020203" pitchFamily="34" charset="0"/>
                  </a:rPr>
                  <a:t>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𝑆𝑢𝑏𝑠𝑒𝑞𝑢𝑒𝑛𝑐𝑒𝐷𝑖𝑠𝑡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)&lt;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i="1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𝑆𝑢𝑏𝑠𝑒𝑞𝑢𝑒𝑛𝑐𝑒𝐷𝑖𝑠𝑡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𝑡h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i="1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>
                    <a:latin typeface="Segoe UI" panose="020B0502040204020203" pitchFamily="34" charset="0"/>
                    <a:cs typeface="Segoe UI" panose="020B0502040204020203" pitchFamily="34" charset="0"/>
                  </a:rPr>
                  <a:t>An Optimal Split Point is a distance threshold that: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𝑂𝑆𝑃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d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 ≥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𝑡h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i="1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00109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Shapelet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>
                    <a:latin typeface="Segoe UI" panose="020B0502040204020203" pitchFamily="34" charset="0"/>
                    <a:cs typeface="Segoe UI" panose="020B0502040204020203" pitchFamily="34" charset="0"/>
                  </a:rPr>
                  <a:t>Subsequence Shapelet(D), with its correspond OSP: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𝐺𝑎𝑖𝑛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𝑆h𝑎𝑝𝑒𝑙𝑒𝑡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𝑂𝑆𝑃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 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𝐺𝑎𝑖𝑛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𝑂𝑆𝑃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d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/>
                  <a:t> </a:t>
                </a:r>
                <a:r>
                  <a:rPr lang="en-US"/>
                  <a:t>for any other subsequence 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03070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345607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Number of candidates is too many: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𝑀𝐼𝑁𝐿𝐸𝑁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𝑀𝐴𝑋𝐿𝐸𝑁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=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𝑀𝐴𝑋𝐿𝐸𝑁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𝑀𝐼𝑁𝐿𝐸𝑁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)∗(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+1)∗|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3456078"/>
              </a:xfrm>
              <a:blipFill>
                <a:blip r:embed="rId2"/>
                <a:stretch>
                  <a:fillRect l="-1217" t="-2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67420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Finding Shaplet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2626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Brute – Force Algorithm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73188"/>
            <a:ext cx="8278380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1696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Finding Shaplet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2626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Generate candidates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73188"/>
            <a:ext cx="8324688" cy="318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8393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Finding Shaplet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4375"/>
            <a:ext cx="10515600" cy="512626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Check candidates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509" y="1306285"/>
            <a:ext cx="7143078" cy="55517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838200" y="1947001"/>
                <a:ext cx="3838303" cy="33592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lang="en-US"/>
                  <a:t> average length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elements 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/>
                  <a:t>The size of candidate: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/>
                  <a:t>Check for one candidate: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)</a:t>
                </a:r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47001"/>
                <a:ext cx="3838303" cy="3359290"/>
              </a:xfrm>
              <a:prstGeom prst="rect">
                <a:avLst/>
              </a:prstGeom>
              <a:blipFill>
                <a:blip r:embed="rId3"/>
                <a:stretch>
                  <a:fillRect l="-3339" t="-2904" r="-34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75896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Resolving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5181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Subsequence Distance Early Abandon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524713"/>
            <a:ext cx="7713691" cy="1642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38199" y="4450893"/>
                <a:ext cx="7156270" cy="2207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>
                    <a:latin typeface="Cambria Math" panose="02040503050406030204" pitchFamily="18" charset="0"/>
                  </a:rPr>
                  <a:t>for each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sz="2800">
                    <a:latin typeface="Cambria Math" panose="02040503050406030204" pitchFamily="18" charset="0"/>
                  </a:rPr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>
                    <a:latin typeface="Cambria Math" panose="02040503050406030204" pitchFamily="18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𝑑𝑖𝑠𝑡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𝑠𝑢𝑚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𝑑𝑖𝑠𝑡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 + 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800" i="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𝑠𝑢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𝑑𝑖𝑠𝑡</m:t>
                          </m:r>
                        </m:sub>
                      </m:sSub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𝑑𝑖𝑠𝑡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sz="2800" i="0" smtClean="0">
                          <a:latin typeface="Cambria Math" panose="02040503050406030204" pitchFamily="18" charset="0"/>
                        </a:rPr>
                        <m:t>stop</m:t>
                      </m:r>
                    </m:oMath>
                  </m:oMathPara>
                </a14:m>
                <a:endParaRPr lang="en-US" sz="280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800" i="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sz="280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i="0" smtClean="0">
                          <a:latin typeface="Cambria Math" panose="02040503050406030204" pitchFamily="18" charset="0"/>
                        </a:rPr>
                        <m:t>not</m:t>
                      </m:r>
                      <m:r>
                        <a:rPr lang="en-US" sz="280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i="0" smtClean="0">
                          <a:latin typeface="Cambria Math" panose="02040503050406030204" pitchFamily="18" charset="0"/>
                        </a:rPr>
                        <m:t>stop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𝑑𝑖𝑠𝑡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𝑠𝑢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𝑑𝑖𝑠𝑡</m:t>
                          </m:r>
                        </m:sub>
                      </m:sSub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450893"/>
                <a:ext cx="7156270" cy="2207912"/>
              </a:xfrm>
              <a:prstGeom prst="rect">
                <a:avLst/>
              </a:prstGeom>
              <a:blipFill>
                <a:blip r:embed="rId3"/>
                <a:stretch>
                  <a:fillRect l="-1704" t="-30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1817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Resolving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5181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Admissible Entropy Pruning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42503"/>
            <a:ext cx="10058400" cy="8295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8200" y="3393043"/>
            <a:ext cx="1005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Assume that we calculated the first candidate and its corresponding Gain Information G</a:t>
            </a:r>
          </a:p>
        </p:txBody>
      </p:sp>
    </p:spTree>
    <p:extLst>
      <p:ext uri="{BB962C8B-B14F-4D97-AF65-F5344CB8AC3E}">
        <p14:creationId xmlns:p14="http://schemas.microsoft.com/office/powerpoint/2010/main" val="16182181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Resolving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058400" cy="8186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082367"/>
            <a:ext cx="9886951" cy="12948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8200" y="2728024"/>
            <a:ext cx="1005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Segoe UI" panose="020B0502040204020203" pitchFamily="34" charset="0"/>
                <a:cs typeface="Segoe UI" panose="020B0502040204020203" pitchFamily="34" charset="0"/>
              </a:rPr>
              <a:t>For next candidate, we don’t need to calculate all distance, assume that all remaining cases are the best and recalculate gain.</a:t>
            </a:r>
          </a:p>
        </p:txBody>
      </p:sp>
    </p:spTree>
    <p:extLst>
      <p:ext uri="{BB962C8B-B14F-4D97-AF65-F5344CB8AC3E}">
        <p14:creationId xmlns:p14="http://schemas.microsoft.com/office/powerpoint/2010/main" val="15385261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My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868891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Advantages:</a:t>
            </a:r>
          </a:p>
          <a:p>
            <a:r>
              <a:rPr lang="en-US"/>
              <a:t>Good method for shape features</a:t>
            </a:r>
          </a:p>
          <a:p>
            <a:pPr marL="0" indent="0">
              <a:buNone/>
            </a:pPr>
            <a:r>
              <a:rPr lang="en-US"/>
              <a:t>Disadvantages:</a:t>
            </a:r>
          </a:p>
          <a:p>
            <a:r>
              <a:rPr lang="en-US"/>
              <a:t>Difference species may have the same shapelet</a:t>
            </a:r>
          </a:p>
        </p:txBody>
      </p:sp>
    </p:spTree>
    <p:extLst>
      <p:ext uri="{BB962C8B-B14F-4D97-AF65-F5344CB8AC3E}">
        <p14:creationId xmlns:p14="http://schemas.microsoft.com/office/powerpoint/2010/main" val="37074860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9443" y="365125"/>
            <a:ext cx="3593113" cy="6123473"/>
          </a:xfrm>
        </p:spPr>
      </p:pic>
    </p:spTree>
    <p:extLst>
      <p:ext uri="{BB962C8B-B14F-4D97-AF65-F5344CB8AC3E}">
        <p14:creationId xmlns:p14="http://schemas.microsoft.com/office/powerpoint/2010/main" val="6570925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Gray transformation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6124303" cy="2746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In RGB color space:</a:t>
            </a:r>
          </a:p>
          <a:p>
            <a:pPr marL="0" indent="0">
              <a:buNone/>
            </a:pPr>
            <a:r>
              <a:rPr lang="en-US"/>
              <a:t>Y = 0.299R + 0.587G + 0.114B</a:t>
            </a:r>
          </a:p>
          <a:p>
            <a:pPr marL="0" indent="0">
              <a:buNone/>
            </a:pPr>
            <a:r>
              <a:rPr lang="en-US"/>
              <a:t>In HSV color space: </a:t>
            </a:r>
          </a:p>
          <a:p>
            <a:pPr marL="0" indent="0">
              <a:buNone/>
            </a:pPr>
            <a:r>
              <a:rPr lang="en-US"/>
              <a:t>Y = (((H+90) % 360) / 90 + 1 – V) / 2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1669" y="365125"/>
            <a:ext cx="2902131" cy="612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719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Texture Feature Extraction for Identification of Medicinal Plants and Comparison of Different Classifiers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C. H. Arun, W. R. Sam Emmanuel, D. Christopher Duraira, 2010</a:t>
            </a:r>
          </a:p>
        </p:txBody>
      </p:sp>
    </p:spTree>
    <p:extLst>
      <p:ext uri="{BB962C8B-B14F-4D97-AF65-F5344CB8AC3E}">
        <p14:creationId xmlns:p14="http://schemas.microsoft.com/office/powerpoint/2010/main" val="36832702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First order statistical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The distribution of gray levels</a:t>
            </a:r>
          </a:p>
        </p:txBody>
      </p:sp>
    </p:spTree>
    <p:extLst>
      <p:ext uri="{BB962C8B-B14F-4D97-AF65-F5344CB8AC3E}">
        <p14:creationId xmlns:p14="http://schemas.microsoft.com/office/powerpoint/2010/main" val="39213883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First order statistical features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là biến ngẫu nhiên kí hiệu cho mức xám trong ảnh và L là số mức xám khác nhau.</a:t>
                </a:r>
              </a:p>
              <a:p>
                <a:pPr marL="0" indent="0">
                  <a:buNone/>
                </a:pPr>
                <a:r>
                  <a:rPr lang="en-US"/>
                  <a:t>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/>
                  <a:t>) là xác suất xuất hiện pixel có giá trị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/>
                  <a:t>, 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en-US" b="0"/>
                  <a:t> (N là tổng số pixel trong region, k là số pixel có mức xám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/>
                  <a:t>)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08584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First order statistical features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Trung vị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Phương sai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Skewness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Độ lệch chuẩn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68651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order statistical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The relative positions of the various gray levels</a:t>
            </a:r>
          </a:p>
        </p:txBody>
      </p:sp>
    </p:spTree>
    <p:extLst>
      <p:ext uri="{BB962C8B-B14F-4D97-AF65-F5344CB8AC3E}">
        <p14:creationId xmlns:p14="http://schemas.microsoft.com/office/powerpoint/2010/main" val="25372366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54035" y="1358538"/>
            <a:ext cx="2677885" cy="9797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Leaf 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1254034" y="2843349"/>
            <a:ext cx="2677886" cy="9797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Gray image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54033" y="4524103"/>
            <a:ext cx="2677887" cy="9797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Quantization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72594" y="1358538"/>
            <a:ext cx="2590801" cy="9797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Normalization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972594" y="2843349"/>
            <a:ext cx="2590801" cy="9797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Symmetry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972593" y="4524103"/>
            <a:ext cx="2590801" cy="9797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Co-occurrence Matrix</a:t>
            </a:r>
          </a:p>
        </p:txBody>
      </p:sp>
      <p:cxnSp>
        <p:nvCxnSpPr>
          <p:cNvPr id="11" name="Straight Arrow Connector 10"/>
          <p:cNvCxnSpPr>
            <a:stCxn id="4" idx="2"/>
            <a:endCxn id="5" idx="0"/>
          </p:cNvCxnSpPr>
          <p:nvPr/>
        </p:nvCxnSpPr>
        <p:spPr>
          <a:xfrm flipH="1">
            <a:off x="2592977" y="2338252"/>
            <a:ext cx="1" cy="5050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6" idx="0"/>
          </p:cNvCxnSpPr>
          <p:nvPr/>
        </p:nvCxnSpPr>
        <p:spPr>
          <a:xfrm>
            <a:off x="2592977" y="3823063"/>
            <a:ext cx="0" cy="7010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3"/>
            <a:endCxn id="9" idx="1"/>
          </p:cNvCxnSpPr>
          <p:nvPr/>
        </p:nvCxnSpPr>
        <p:spPr>
          <a:xfrm>
            <a:off x="3931920" y="5013960"/>
            <a:ext cx="10406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0"/>
            <a:endCxn id="8" idx="2"/>
          </p:cNvCxnSpPr>
          <p:nvPr/>
        </p:nvCxnSpPr>
        <p:spPr>
          <a:xfrm flipV="1">
            <a:off x="6267994" y="3823063"/>
            <a:ext cx="1" cy="7010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0"/>
            <a:endCxn id="7" idx="2"/>
          </p:cNvCxnSpPr>
          <p:nvPr/>
        </p:nvCxnSpPr>
        <p:spPr>
          <a:xfrm flipV="1">
            <a:off x="6267995" y="2338252"/>
            <a:ext cx="0" cy="5050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86018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54035" y="1358538"/>
            <a:ext cx="2677885" cy="9797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Leaf 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1254034" y="2843349"/>
            <a:ext cx="2677886" cy="9797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Gray image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54033" y="4524103"/>
            <a:ext cx="2677887" cy="97971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bg1"/>
                </a:solidFill>
              </a:rPr>
              <a:t>Quantization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72594" y="1358538"/>
            <a:ext cx="2590801" cy="9797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Normalization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972594" y="2843349"/>
            <a:ext cx="2590801" cy="9797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Symmetry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972593" y="4524103"/>
            <a:ext cx="2590801" cy="9797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Co-occurrence Matrix</a:t>
            </a:r>
          </a:p>
        </p:txBody>
      </p:sp>
      <p:cxnSp>
        <p:nvCxnSpPr>
          <p:cNvPr id="11" name="Straight Arrow Connector 10"/>
          <p:cNvCxnSpPr>
            <a:stCxn id="4" idx="2"/>
            <a:endCxn id="5" idx="0"/>
          </p:cNvCxnSpPr>
          <p:nvPr/>
        </p:nvCxnSpPr>
        <p:spPr>
          <a:xfrm flipH="1">
            <a:off x="2592977" y="2338252"/>
            <a:ext cx="1" cy="5050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6" idx="0"/>
          </p:cNvCxnSpPr>
          <p:nvPr/>
        </p:nvCxnSpPr>
        <p:spPr>
          <a:xfrm>
            <a:off x="2592977" y="3823063"/>
            <a:ext cx="0" cy="7010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3"/>
            <a:endCxn id="9" idx="1"/>
          </p:cNvCxnSpPr>
          <p:nvPr/>
        </p:nvCxnSpPr>
        <p:spPr>
          <a:xfrm>
            <a:off x="3931920" y="5013960"/>
            <a:ext cx="10406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0"/>
            <a:endCxn id="8" idx="2"/>
          </p:cNvCxnSpPr>
          <p:nvPr/>
        </p:nvCxnSpPr>
        <p:spPr>
          <a:xfrm flipV="1">
            <a:off x="6267994" y="3823063"/>
            <a:ext cx="1" cy="7010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0"/>
            <a:endCxn id="7" idx="2"/>
          </p:cNvCxnSpPr>
          <p:nvPr/>
        </p:nvCxnSpPr>
        <p:spPr>
          <a:xfrm flipV="1">
            <a:off x="6267995" y="2338252"/>
            <a:ext cx="0" cy="5050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2196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Quantization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To reduces the number of gray tones (256)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/>
                  <a:t> …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04637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54035" y="1358538"/>
            <a:ext cx="2677885" cy="9797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Leaf 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1254034" y="2843349"/>
            <a:ext cx="2677886" cy="9797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Gray image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54033" y="4524103"/>
            <a:ext cx="2677887" cy="9797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Quantization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72594" y="1358538"/>
            <a:ext cx="2590801" cy="9797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Normalization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972594" y="2843349"/>
            <a:ext cx="2590801" cy="9797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Symmetry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972593" y="4524103"/>
            <a:ext cx="2590801" cy="97971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bg1"/>
                </a:solidFill>
              </a:rPr>
              <a:t>Co-occurrence Matrix</a:t>
            </a:r>
          </a:p>
        </p:txBody>
      </p:sp>
      <p:cxnSp>
        <p:nvCxnSpPr>
          <p:cNvPr id="11" name="Straight Arrow Connector 10"/>
          <p:cNvCxnSpPr>
            <a:stCxn id="4" idx="2"/>
            <a:endCxn id="5" idx="0"/>
          </p:cNvCxnSpPr>
          <p:nvPr/>
        </p:nvCxnSpPr>
        <p:spPr>
          <a:xfrm flipH="1">
            <a:off x="2592977" y="2338252"/>
            <a:ext cx="1" cy="5050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6" idx="0"/>
          </p:cNvCxnSpPr>
          <p:nvPr/>
        </p:nvCxnSpPr>
        <p:spPr>
          <a:xfrm>
            <a:off x="2592977" y="3823063"/>
            <a:ext cx="0" cy="7010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931920" y="5027023"/>
            <a:ext cx="10406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0"/>
            <a:endCxn id="8" idx="2"/>
          </p:cNvCxnSpPr>
          <p:nvPr/>
        </p:nvCxnSpPr>
        <p:spPr>
          <a:xfrm flipV="1">
            <a:off x="6267994" y="3823063"/>
            <a:ext cx="1" cy="7010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0"/>
            <a:endCxn id="7" idx="2"/>
          </p:cNvCxnSpPr>
          <p:nvPr/>
        </p:nvCxnSpPr>
        <p:spPr>
          <a:xfrm flipV="1">
            <a:off x="6267995" y="2338252"/>
            <a:ext cx="0" cy="5050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2384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Gray-Level Co-Occurrence Matrix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9732818" cy="4408394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590903" y="5837472"/>
                <a:ext cx="304364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903" y="5837472"/>
                <a:ext cx="304364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99379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Gray-Level Co-Occurrence Matrix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9732818" cy="3598689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36468" y="5654592"/>
                <a:ext cx="304364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468" y="5654592"/>
                <a:ext cx="304364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18854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758055" cy="1325563"/>
          </a:xfrm>
        </p:spPr>
        <p:txBody>
          <a:bodyPr/>
          <a:lstStyle/>
          <a:p>
            <a:r>
              <a:rPr lang="en-US"/>
              <a:t>2. Grey Tone Spatial Dependency Matrix(GTSDM)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Với mỗi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/>
                  <a:t> chúng ta có ma trận k x 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/>
                  <a:t> tần suất xuất hiện pixel có grey level j tình từ pixel grey level i (k: number of grey levels).</a:t>
                </a:r>
              </a:p>
              <a:p>
                <a:pPr marL="0" indent="0">
                  <a:buNone/>
                </a:pPr>
                <a:r>
                  <a:rPr lang="en-US"/>
                  <a:t>VD: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=1..4,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=0°,45°,90°,135°</m:t>
                    </m:r>
                  </m:oMath>
                </a14:m>
                <a:r>
                  <a:rPr lang="en-US"/>
                  <a:t>. Input image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𝐺𝑠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35071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54035" y="1358538"/>
            <a:ext cx="2677885" cy="9797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Leaf 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1254034" y="2843349"/>
            <a:ext cx="2677886" cy="9797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Gray image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54033" y="4524103"/>
            <a:ext cx="2677887" cy="9797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Quantization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72594" y="1358538"/>
            <a:ext cx="2590801" cy="9797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Normalization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972594" y="2843349"/>
            <a:ext cx="2590801" cy="97971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bg1"/>
                </a:solidFill>
              </a:rPr>
              <a:t>Symmetry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972593" y="4524103"/>
            <a:ext cx="2590801" cy="9797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</a:rPr>
              <a:t>Co-occurrence Matrix</a:t>
            </a:r>
          </a:p>
        </p:txBody>
      </p:sp>
      <p:cxnSp>
        <p:nvCxnSpPr>
          <p:cNvPr id="11" name="Straight Arrow Connector 10"/>
          <p:cNvCxnSpPr>
            <a:stCxn id="4" idx="2"/>
            <a:endCxn id="5" idx="0"/>
          </p:cNvCxnSpPr>
          <p:nvPr/>
        </p:nvCxnSpPr>
        <p:spPr>
          <a:xfrm flipH="1">
            <a:off x="2592977" y="2338252"/>
            <a:ext cx="1" cy="5050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6" idx="0"/>
          </p:cNvCxnSpPr>
          <p:nvPr/>
        </p:nvCxnSpPr>
        <p:spPr>
          <a:xfrm>
            <a:off x="2592977" y="3823063"/>
            <a:ext cx="0" cy="7010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931920" y="5027023"/>
            <a:ext cx="104067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9" idx="0"/>
            <a:endCxn id="8" idx="2"/>
          </p:cNvCxnSpPr>
          <p:nvPr/>
        </p:nvCxnSpPr>
        <p:spPr>
          <a:xfrm flipV="1">
            <a:off x="6267994" y="3823063"/>
            <a:ext cx="1" cy="7010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0"/>
            <a:endCxn id="7" idx="2"/>
          </p:cNvCxnSpPr>
          <p:nvPr/>
        </p:nvCxnSpPr>
        <p:spPr>
          <a:xfrm flipV="1">
            <a:off x="6267995" y="2338252"/>
            <a:ext cx="0" cy="50509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67951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758055" cy="1325563"/>
          </a:xfrm>
        </p:spPr>
        <p:txBody>
          <a:bodyPr/>
          <a:lstStyle/>
          <a:p>
            <a:r>
              <a:rPr lang="en-US"/>
              <a:t>3. Symmetry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To make G symmetrical, transposed G into G’: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Normalised: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den>
                      </m:f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Entropy: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421086" y="4153989"/>
                <a:ext cx="4402183" cy="1533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ts val="1000"/>
                  </a:spcBef>
                </a:pPr>
                <a:r>
                  <a:rPr lang="en-US" sz="2800"/>
                  <a:t>Mean feature vector: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n-NO" sz="2800" i="1" smtClean="0">
                          <a:latin typeface="Cambria Math" panose="02040503050406030204" pitchFamily="18" charset="0"/>
                        </a:rPr>
                        <m:t>𝑀𝐹</m:t>
                      </m:r>
                      <m:r>
                        <a:rPr lang="nn-NO" sz="2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grow m:val="on"/>
                              <m:supHide m:val="on"/>
                              <m:ctrlPr>
                                <a:rPr lang="nn-NO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nn-NO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nn-NO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nn-NO" sz="28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nn-NO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nn-NO" sz="2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</m:oMath>
                  </m:oMathPara>
                </a14:m>
                <a:endParaRPr lang="nn-NO" sz="280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086" y="4153989"/>
                <a:ext cx="4402183" cy="1533177"/>
              </a:xfrm>
              <a:prstGeom prst="rect">
                <a:avLst/>
              </a:prstGeom>
              <a:blipFill>
                <a:blip r:embed="rId3"/>
                <a:stretch>
                  <a:fillRect l="-2770" t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15252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Deep Learning for plant identiﬁcation using vein morphological patterns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Guillermo L. Grinblat, Lucas C. Uzal, M´onica G. Larese and Pablo M. Granitto</a:t>
            </a:r>
          </a:p>
        </p:txBody>
      </p:sp>
    </p:spTree>
    <p:extLst>
      <p:ext uri="{BB962C8B-B14F-4D97-AF65-F5344CB8AC3E}">
        <p14:creationId xmlns:p14="http://schemas.microsoft.com/office/powerpoint/2010/main" val="38755005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441700" cy="1325563"/>
          </a:xfrm>
        </p:spPr>
        <p:txBody>
          <a:bodyPr/>
          <a:lstStyle/>
          <a:p>
            <a:r>
              <a:rPr lang="en-US"/>
              <a:t>1. Pipeline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93" y="1782128"/>
            <a:ext cx="11282613" cy="4501106"/>
          </a:xfrm>
        </p:spPr>
      </p:pic>
      <p:cxnSp>
        <p:nvCxnSpPr>
          <p:cNvPr id="6" name="Straight Arrow Connector 5"/>
          <p:cNvCxnSpPr/>
          <p:nvPr/>
        </p:nvCxnSpPr>
        <p:spPr>
          <a:xfrm flipV="1">
            <a:off x="2032363" y="4992438"/>
            <a:ext cx="968466" cy="5955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08353" y="489466"/>
            <a:ext cx="55372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A central patch (100x100 pixels) of the binary image is cropped and the rest of the image is discarded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5375729" y="1361089"/>
            <a:ext cx="440871" cy="8420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9600" y="5679440"/>
            <a:ext cx="22987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Binary image</a:t>
            </a:r>
          </a:p>
        </p:txBody>
      </p:sp>
    </p:spTree>
    <p:extLst>
      <p:ext uri="{BB962C8B-B14F-4D97-AF65-F5344CB8AC3E}">
        <p14:creationId xmlns:p14="http://schemas.microsoft.com/office/powerpoint/2010/main" val="14673943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254500" cy="1325563"/>
          </a:xfrm>
        </p:spPr>
        <p:txBody>
          <a:bodyPr/>
          <a:lstStyle/>
          <a:p>
            <a:r>
              <a:rPr lang="en-US"/>
              <a:t>2. Central pacth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1232082" y="4674069"/>
            <a:ext cx="12518" cy="7908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48828" y="2454254"/>
            <a:ext cx="574947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S1 were be scaled 100% (no resize), 80%, and 60% by (hit and miss algorithm). The processed images were resized back to the original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5643552"/>
            <a:ext cx="889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S1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3791479" cy="2819794"/>
          </a:xfrm>
        </p:spPr>
      </p:pic>
      <p:sp>
        <p:nvSpPr>
          <p:cNvPr id="21" name="Left Bracket 20"/>
          <p:cNvSpPr/>
          <p:nvPr/>
        </p:nvSpPr>
        <p:spPr>
          <a:xfrm rot="16200000">
            <a:off x="2641838" y="3568934"/>
            <a:ext cx="291630" cy="2501900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2520950" y="5069479"/>
            <a:ext cx="889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S2</a:t>
            </a:r>
          </a:p>
        </p:txBody>
      </p:sp>
      <p:sp>
        <p:nvSpPr>
          <p:cNvPr id="23" name="Left Bracket 22"/>
          <p:cNvSpPr/>
          <p:nvPr/>
        </p:nvSpPr>
        <p:spPr>
          <a:xfrm rot="10800000">
            <a:off x="4867307" y="2171699"/>
            <a:ext cx="450786" cy="1981200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9254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679" y="2451100"/>
            <a:ext cx="10140196" cy="2779080"/>
          </a:xfr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254500" cy="1325563"/>
          </a:xfrm>
        </p:spPr>
        <p:txBody>
          <a:bodyPr/>
          <a:lstStyle/>
          <a:p>
            <a:r>
              <a:rPr lang="en-US"/>
              <a:t>2. Central pacth</a:t>
            </a:r>
          </a:p>
        </p:txBody>
      </p:sp>
    </p:spTree>
    <p:extLst>
      <p:ext uri="{BB962C8B-B14F-4D97-AF65-F5344CB8AC3E}">
        <p14:creationId xmlns:p14="http://schemas.microsoft.com/office/powerpoint/2010/main" val="37580205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597400" cy="1325563"/>
          </a:xfrm>
        </p:spPr>
        <p:txBody>
          <a:bodyPr/>
          <a:lstStyle/>
          <a:p>
            <a:r>
              <a:rPr lang="en-US"/>
              <a:t>3. Vein measures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93" y="1782128"/>
            <a:ext cx="11282613" cy="4501106"/>
          </a:xfrm>
        </p:spPr>
      </p:pic>
      <p:cxnSp>
        <p:nvCxnSpPr>
          <p:cNvPr id="6" name="Straight Arrow Connector 5"/>
          <p:cNvCxnSpPr/>
          <p:nvPr/>
        </p:nvCxnSpPr>
        <p:spPr>
          <a:xfrm flipH="1">
            <a:off x="6988630" y="1657787"/>
            <a:ext cx="440870" cy="4644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577876" y="365125"/>
            <a:ext cx="484777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Total number of veins, total number of nodes, mean vein width, among others</a:t>
            </a:r>
          </a:p>
        </p:txBody>
      </p:sp>
    </p:spTree>
    <p:extLst>
      <p:ext uri="{BB962C8B-B14F-4D97-AF65-F5344CB8AC3E}">
        <p14:creationId xmlns:p14="http://schemas.microsoft.com/office/powerpoint/2010/main" val="27753836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013200" cy="1325563"/>
          </a:xfrm>
        </p:spPr>
        <p:txBody>
          <a:bodyPr>
            <a:normAutofit/>
          </a:bodyPr>
          <a:lstStyle/>
          <a:p>
            <a:r>
              <a:rPr lang="en-US"/>
              <a:t>3. Vein measures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93" y="1782128"/>
            <a:ext cx="11282613" cy="4501106"/>
          </a:xfrm>
        </p:spPr>
      </p:pic>
      <p:cxnSp>
        <p:nvCxnSpPr>
          <p:cNvPr id="6" name="Straight Arrow Connector 5"/>
          <p:cNvCxnSpPr/>
          <p:nvPr/>
        </p:nvCxnSpPr>
        <p:spPr>
          <a:xfrm>
            <a:off x="6988629" y="1280160"/>
            <a:ext cx="0" cy="8420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16600" y="536733"/>
            <a:ext cx="22987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Using LEAF GUI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8701661" y="1269649"/>
            <a:ext cx="440871" cy="8420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371131" y="365125"/>
            <a:ext cx="332123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52 features for one patch / sample</a:t>
            </a:r>
          </a:p>
          <a:p>
            <a:r>
              <a:rPr lang="en-US" sz="2600"/>
              <a:t>208 features for 4 patchs / sample</a:t>
            </a:r>
          </a:p>
        </p:txBody>
      </p:sp>
    </p:spTree>
    <p:extLst>
      <p:ext uri="{BB962C8B-B14F-4D97-AF65-F5344CB8AC3E}">
        <p14:creationId xmlns:p14="http://schemas.microsoft.com/office/powerpoint/2010/main" val="227120490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2388326" cy="1325563"/>
          </a:xfrm>
        </p:spPr>
        <p:txBody>
          <a:bodyPr/>
          <a:lstStyle/>
          <a:p>
            <a:r>
              <a:rPr lang="en-US"/>
              <a:t>3. CNN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93" y="1782128"/>
            <a:ext cx="11282613" cy="4501106"/>
          </a:xfrm>
        </p:spPr>
      </p:pic>
    </p:spTree>
    <p:extLst>
      <p:ext uri="{BB962C8B-B14F-4D97-AF65-F5344CB8AC3E}">
        <p14:creationId xmlns:p14="http://schemas.microsoft.com/office/powerpoint/2010/main" val="127151171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3.1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For the S1 setup, one channel (100 x 100 x 1)</a:t>
            </a:r>
          </a:p>
          <a:p>
            <a:pPr marL="0" indent="0">
              <a:buNone/>
            </a:pPr>
            <a:r>
              <a:rPr lang="en-US"/>
              <a:t>For the S2 setup, four channels (100 x 100 x 4)</a:t>
            </a:r>
          </a:p>
          <a:p>
            <a:pPr marL="0" indent="0">
              <a:buNone/>
            </a:pPr>
            <a:r>
              <a:rPr lang="en-US"/>
              <a:t>422 images correspond to soybean leaves, 272 to red bean leaves and 172 to white bean leaves (12 days grow)</a:t>
            </a:r>
          </a:p>
          <a:p>
            <a:pPr marL="0" indent="0">
              <a:buNone/>
            </a:pPr>
            <a:r>
              <a:rPr lang="en-US"/>
              <a:t>The images were acquired using a standard ﬂatbed scanner (Hewlett Packard Scanjet-G 3110) at a resolution of 200 ppi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64311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3.2 Model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510345"/>
            <a:ext cx="10570225" cy="2794956"/>
          </a:xfrm>
        </p:spPr>
      </p:pic>
    </p:spTree>
    <p:extLst>
      <p:ext uri="{BB962C8B-B14F-4D97-AF65-F5344CB8AC3E}">
        <p14:creationId xmlns:p14="http://schemas.microsoft.com/office/powerpoint/2010/main" val="244624272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3.3.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The parameters were optimized using stochastic gradient descent (SGD) over a training set using minibatches of 20 samples.</a:t>
            </a:r>
          </a:p>
          <a:p>
            <a:pPr marL="0" indent="0">
              <a:buNone/>
            </a:pPr>
            <a:r>
              <a:rPr lang="en-US"/>
              <a:t>Dropout: 50 %</a:t>
            </a:r>
          </a:p>
          <a:p>
            <a:pPr marL="0" indent="0">
              <a:buNone/>
            </a:pPr>
            <a:r>
              <a:rPr lang="en-US"/>
              <a:t>Learning rate: 0.01</a:t>
            </a:r>
          </a:p>
        </p:txBody>
      </p:sp>
    </p:spTree>
    <p:extLst>
      <p:ext uri="{BB962C8B-B14F-4D97-AF65-F5344CB8AC3E}">
        <p14:creationId xmlns:p14="http://schemas.microsoft.com/office/powerpoint/2010/main" val="285733744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738403"/>
          </a:xfrm>
        </p:spPr>
        <p:txBody>
          <a:bodyPr/>
          <a:lstStyle/>
          <a:p>
            <a:r>
              <a:rPr lang="en-US"/>
              <a:t>Leaf Vein Extraction Based on Gray-scale Morphology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991394"/>
            <a:ext cx="9144000" cy="2266406"/>
          </a:xfrm>
        </p:spPr>
        <p:txBody>
          <a:bodyPr/>
          <a:lstStyle/>
          <a:p>
            <a:r>
              <a:rPr lang="en-US"/>
              <a:t>Xiaodong Zheng, Xiaojie Wang, 2010</a:t>
            </a:r>
          </a:p>
        </p:txBody>
      </p:sp>
    </p:spTree>
    <p:extLst>
      <p:ext uri="{BB962C8B-B14F-4D97-AF65-F5344CB8AC3E}">
        <p14:creationId xmlns:p14="http://schemas.microsoft.com/office/powerpoint/2010/main" val="2510908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9443" y="365125"/>
            <a:ext cx="3593113" cy="6123473"/>
          </a:xfrm>
        </p:spPr>
      </p:pic>
      <p:sp>
        <p:nvSpPr>
          <p:cNvPr id="3" name="TextBox 2"/>
          <p:cNvSpPr txBox="1"/>
          <p:nvPr/>
        </p:nvSpPr>
        <p:spPr>
          <a:xfrm>
            <a:off x="8812687" y="1903497"/>
            <a:ext cx="16209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Top 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12687" y="2494252"/>
            <a:ext cx="16209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Bot hat</a:t>
            </a:r>
          </a:p>
        </p:txBody>
      </p:sp>
      <p:cxnSp>
        <p:nvCxnSpPr>
          <p:cNvPr id="7" name="Straight Arrow Connector 6"/>
          <p:cNvCxnSpPr>
            <a:endCxn id="3" idx="1"/>
          </p:cNvCxnSpPr>
          <p:nvPr/>
        </p:nvCxnSpPr>
        <p:spPr>
          <a:xfrm flipV="1">
            <a:off x="7716982" y="2088163"/>
            <a:ext cx="1095705" cy="4060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7317876" y="4332060"/>
            <a:ext cx="1269864" cy="119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7716982" y="2517259"/>
            <a:ext cx="1095705" cy="1846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87740" y="4159389"/>
            <a:ext cx="16209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Otsu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7299189" y="5177189"/>
            <a:ext cx="1269864" cy="119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587739" y="4973965"/>
            <a:ext cx="18459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/>
              <a:t>Opening / Closing</a:t>
            </a:r>
          </a:p>
        </p:txBody>
      </p:sp>
    </p:spTree>
    <p:extLst>
      <p:ext uri="{BB962C8B-B14F-4D97-AF65-F5344CB8AC3E}">
        <p14:creationId xmlns:p14="http://schemas.microsoft.com/office/powerpoint/2010/main" val="12022755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Gray transformation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6124303" cy="2746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In RGB color space:</a:t>
            </a:r>
          </a:p>
          <a:p>
            <a:pPr marL="0" indent="0">
              <a:buNone/>
            </a:pPr>
            <a:r>
              <a:rPr lang="en-US"/>
              <a:t>Y = 0.299R + 0.587G + 0.114B</a:t>
            </a:r>
          </a:p>
          <a:p>
            <a:pPr marL="0" indent="0">
              <a:buNone/>
            </a:pPr>
            <a:r>
              <a:rPr lang="en-US"/>
              <a:t>In HSV color space: </a:t>
            </a:r>
          </a:p>
          <a:p>
            <a:pPr marL="0" indent="0">
              <a:buNone/>
            </a:pPr>
            <a:r>
              <a:rPr lang="en-US"/>
              <a:t>Y = (((H+90) % 360) / 90 + 1 – V) / 2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1669" y="365125"/>
            <a:ext cx="2902131" cy="612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3063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Morphological transform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767945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Problem: gray overlap in the whole leaf vein</a:t>
            </a:r>
          </a:p>
          <a:p>
            <a:pPr marL="0" indent="0">
              <a:buNone/>
            </a:pPr>
            <a:r>
              <a:rPr lang="en-US"/>
              <a:t>and the whole background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655223"/>
            <a:ext cx="5103449" cy="365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41719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Morphological transform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7294418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Erosion operation -&gt; Reduce brightness</a:t>
            </a:r>
          </a:p>
          <a:p>
            <a:pPr marL="0" indent="0">
              <a:buNone/>
            </a:pPr>
            <a:r>
              <a:rPr lang="en-US"/>
              <a:t>Dilation operation -&gt; Enhance brightness</a:t>
            </a:r>
          </a:p>
          <a:p>
            <a:pPr marL="0" indent="0">
              <a:buNone/>
            </a:pPr>
            <a:r>
              <a:rPr lang="en-US"/>
              <a:t>Opening operation -&gt; Elimate the little brightness regions</a:t>
            </a:r>
          </a:p>
          <a:p>
            <a:pPr marL="0" indent="0">
              <a:buNone/>
            </a:pPr>
            <a:r>
              <a:rPr lang="en-US"/>
              <a:t>Closing operation -&gt; Elimate the little darker regions</a:t>
            </a:r>
          </a:p>
          <a:p>
            <a:pPr marL="0" indent="0">
              <a:buNone/>
            </a:pPr>
            <a:r>
              <a:rPr lang="en-US"/>
              <a:t>Top-hat transformation -&gt; Extract the little brighter region</a:t>
            </a:r>
          </a:p>
          <a:p>
            <a:pPr marL="0" indent="0">
              <a:buNone/>
            </a:pPr>
            <a:r>
              <a:rPr lang="en-US"/>
              <a:t>Bot-hat transformation -&gt; Extract the little darker regions</a:t>
            </a:r>
          </a:p>
        </p:txBody>
      </p:sp>
    </p:spTree>
    <p:extLst>
      <p:ext uri="{BB962C8B-B14F-4D97-AF65-F5344CB8AC3E}">
        <p14:creationId xmlns:p14="http://schemas.microsoft.com/office/powerpoint/2010/main" val="306655603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Morphological transform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811" y="1313752"/>
            <a:ext cx="4065960" cy="50013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42109" y="1690688"/>
                <a:ext cx="555567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∘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−(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0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109" y="1690688"/>
                <a:ext cx="5555673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27666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Image enhancement: linear intensity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91545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=255∗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𝑚𝑖𝑛𝑣</m:t>
                          </m:r>
                        </m:den>
                      </m:f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91545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9745" y="1825625"/>
            <a:ext cx="5713389" cy="360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92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Image Segmentation - binarize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3863" y="1690688"/>
            <a:ext cx="3305729" cy="435133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011382" y="1690688"/>
                <a:ext cx="5306291" cy="1328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 (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0 (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3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36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382" y="1690688"/>
                <a:ext cx="5306291" cy="13281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011382" y="3266192"/>
            <a:ext cx="6137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/>
              <a:t>t is the threshold calculated by Otsu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1382" y="4466521"/>
            <a:ext cx="6137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/>
              <a:t>Problem: isolated points and discontinuous lines</a:t>
            </a:r>
          </a:p>
        </p:txBody>
      </p:sp>
    </p:spTree>
    <p:extLst>
      <p:ext uri="{BB962C8B-B14F-4D97-AF65-F5344CB8AC3E}">
        <p14:creationId xmlns:p14="http://schemas.microsoft.com/office/powerpoint/2010/main" val="19979649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Processing on details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268325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58862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Processing 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494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/>
              <a:t>Linking the discontinuous lines: for each black pixel, count the number of white pixels around in its neighborhood - n. If n &lt; specificed number -&gt; Ignore it.</a:t>
            </a:r>
          </a:p>
          <a:p>
            <a:pPr marL="0" indent="0">
              <a:buNone/>
            </a:pPr>
            <a:r>
              <a:rPr lang="en-US" sz="3200"/>
              <a:t>Eliminating the isolated points: opening operation</a:t>
            </a:r>
          </a:p>
        </p:txBody>
      </p:sp>
    </p:spTree>
    <p:extLst>
      <p:ext uri="{BB962C8B-B14F-4D97-AF65-F5344CB8AC3E}">
        <p14:creationId xmlns:p14="http://schemas.microsoft.com/office/powerpoint/2010/main" val="119151394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Processing on details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5715000" cy="4776877"/>
          </a:xfrm>
        </p:spPr>
      </p:pic>
    </p:spTree>
    <p:extLst>
      <p:ext uri="{BB962C8B-B14F-4D97-AF65-F5344CB8AC3E}">
        <p14:creationId xmlns:p14="http://schemas.microsoft.com/office/powerpoint/2010/main" val="10304613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36" y="304799"/>
            <a:ext cx="9848982" cy="640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1565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The method can just find the parts of leaf vein which can be detected with eyes. </a:t>
            </a:r>
          </a:p>
        </p:txBody>
      </p:sp>
    </p:spTree>
    <p:extLst>
      <p:ext uri="{BB962C8B-B14F-4D97-AF65-F5344CB8AC3E}">
        <p14:creationId xmlns:p14="http://schemas.microsoft.com/office/powerpoint/2010/main" val="358127619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46963"/>
          </a:xfrm>
        </p:spPr>
        <p:txBody>
          <a:bodyPr>
            <a:normAutofit fontScale="90000"/>
          </a:bodyPr>
          <a:lstStyle/>
          <a:p>
            <a:r>
              <a:rPr lang="en-US"/>
              <a:t>Fast Interactive </a:t>
            </a:r>
            <a:r>
              <a:rPr lang="en-US" err="1"/>
              <a:t>Superpixel</a:t>
            </a:r>
            <a:r>
              <a:rPr lang="en-US"/>
              <a:t> Based Image Region Generation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922769"/>
            <a:ext cx="9144000" cy="1655762"/>
          </a:xfrm>
        </p:spPr>
        <p:txBody>
          <a:bodyPr/>
          <a:lstStyle/>
          <a:p>
            <a:r>
              <a:rPr lang="en-US"/>
              <a:t>Dinesh </a:t>
            </a:r>
            <a:r>
              <a:rPr lang="en-US" err="1"/>
              <a:t>Naik</a:t>
            </a:r>
            <a:r>
              <a:rPr lang="en-US"/>
              <a:t>, Muhammed </a:t>
            </a:r>
            <a:r>
              <a:rPr lang="en-US" err="1"/>
              <a:t>Shameem</a:t>
            </a:r>
            <a:r>
              <a:rPr lang="en-US"/>
              <a:t> P.K, June 2019 </a:t>
            </a:r>
          </a:p>
        </p:txBody>
      </p:sp>
    </p:spTree>
    <p:extLst>
      <p:ext uri="{BB962C8B-B14F-4D97-AF65-F5344CB8AC3E}">
        <p14:creationId xmlns:p14="http://schemas.microsoft.com/office/powerpoint/2010/main" val="271047366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" y="1915033"/>
            <a:ext cx="4324954" cy="31585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981" y="1146073"/>
            <a:ext cx="6077798" cy="469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82396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" y="2053858"/>
            <a:ext cx="4324954" cy="288090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5981" y="1285204"/>
            <a:ext cx="6077798" cy="441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27634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9233" y="1476101"/>
            <a:ext cx="5864904" cy="38065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75" y="1937337"/>
            <a:ext cx="4602249" cy="288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99915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18457" y="522514"/>
            <a:ext cx="2547258" cy="12017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</a:rPr>
              <a:t>Image (RGB)</a:t>
            </a:r>
          </a:p>
        </p:txBody>
      </p:sp>
      <p:sp>
        <p:nvSpPr>
          <p:cNvPr id="5" name="Rectangle 4"/>
          <p:cNvSpPr/>
          <p:nvPr/>
        </p:nvSpPr>
        <p:spPr>
          <a:xfrm>
            <a:off x="718457" y="2425336"/>
            <a:ext cx="2547258" cy="12017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</a:rPr>
              <a:t>Image (</a:t>
            </a:r>
            <a:r>
              <a:rPr lang="en-US" sz="2600" err="1">
                <a:solidFill>
                  <a:schemeClr val="tx1"/>
                </a:solidFill>
              </a:rPr>
              <a:t>CIELab</a:t>
            </a:r>
            <a:r>
              <a:rPr lang="en-US" sz="26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8457" y="4550228"/>
            <a:ext cx="2547258" cy="12017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err="1">
                <a:solidFill>
                  <a:schemeClr val="tx1"/>
                </a:solidFill>
              </a:rPr>
              <a:t>Superpixel</a:t>
            </a:r>
            <a:r>
              <a:rPr lang="en-US" sz="2600">
                <a:solidFill>
                  <a:schemeClr val="tx1"/>
                </a:solidFill>
              </a:rPr>
              <a:t> generation (SLIC)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3954" y="4550228"/>
            <a:ext cx="2547258" cy="12017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</a:rPr>
              <a:t>Mapping into Graph</a:t>
            </a:r>
          </a:p>
        </p:txBody>
      </p:sp>
      <p:sp>
        <p:nvSpPr>
          <p:cNvPr id="8" name="Rectangle 7"/>
          <p:cNvSpPr/>
          <p:nvPr/>
        </p:nvSpPr>
        <p:spPr>
          <a:xfrm>
            <a:off x="8286206" y="4550228"/>
            <a:ext cx="2547258" cy="12017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err="1">
                <a:solidFill>
                  <a:schemeClr val="tx1"/>
                </a:solidFill>
              </a:rPr>
              <a:t>Boykov</a:t>
            </a:r>
            <a:r>
              <a:rPr lang="en-US" sz="2600">
                <a:solidFill>
                  <a:schemeClr val="tx1"/>
                </a:solidFill>
              </a:rPr>
              <a:t>-Kolmogorov Min-Cut/Max-Flow </a:t>
            </a:r>
          </a:p>
        </p:txBody>
      </p:sp>
      <p:cxnSp>
        <p:nvCxnSpPr>
          <p:cNvPr id="10" name="Straight Arrow Connector 9"/>
          <p:cNvCxnSpPr>
            <a:stCxn id="4" idx="2"/>
            <a:endCxn id="5" idx="0"/>
          </p:cNvCxnSpPr>
          <p:nvPr/>
        </p:nvCxnSpPr>
        <p:spPr>
          <a:xfrm>
            <a:off x="1992086" y="1724296"/>
            <a:ext cx="0" cy="7010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2"/>
            <a:endCxn id="6" idx="0"/>
          </p:cNvCxnSpPr>
          <p:nvPr/>
        </p:nvCxnSpPr>
        <p:spPr>
          <a:xfrm>
            <a:off x="1992086" y="3627118"/>
            <a:ext cx="0" cy="9231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3"/>
            <a:endCxn id="7" idx="1"/>
          </p:cNvCxnSpPr>
          <p:nvPr/>
        </p:nvCxnSpPr>
        <p:spPr>
          <a:xfrm>
            <a:off x="3265715" y="5151119"/>
            <a:ext cx="115823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8" idx="1"/>
          </p:cNvCxnSpPr>
          <p:nvPr/>
        </p:nvCxnSpPr>
        <p:spPr>
          <a:xfrm>
            <a:off x="6971212" y="5151119"/>
            <a:ext cx="131499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024643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SLIC (simple linear Iterative cluster)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1344205"/>
            <a:ext cx="2547258" cy="12017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err="1">
                <a:solidFill>
                  <a:schemeClr val="tx1"/>
                </a:solidFill>
              </a:rPr>
              <a:t>Init</a:t>
            </a:r>
            <a:endParaRPr lang="en-US" sz="26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94463" y="1213577"/>
                <a:ext cx="5003074" cy="1706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/>
                  <a:t>N: </a:t>
                </a:r>
                <a:r>
                  <a:rPr lang="en-US" sz="2600" err="1"/>
                  <a:t>số</a:t>
                </a:r>
                <a:r>
                  <a:rPr lang="en-US" sz="2600"/>
                  <a:t> pixel</a:t>
                </a:r>
              </a:p>
              <a:p>
                <a:r>
                  <a:rPr lang="en-US" sz="2600"/>
                  <a:t>K: </a:t>
                </a:r>
                <a:r>
                  <a:rPr lang="en-US" sz="2600" err="1"/>
                  <a:t>số</a:t>
                </a:r>
                <a:r>
                  <a:rPr lang="en-US" sz="2600"/>
                  <a:t> </a:t>
                </a:r>
                <a:r>
                  <a:rPr lang="en-US" sz="2600" err="1"/>
                  <a:t>superpixel</a:t>
                </a:r>
                <a:r>
                  <a:rPr lang="en-US" sz="2600"/>
                  <a:t> (SP)</a:t>
                </a:r>
              </a:p>
              <a:p>
                <a:r>
                  <a:rPr lang="en-US" sz="2600"/>
                  <a:t>S: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sz="2600"/>
                  <a:t>  </a:t>
                </a:r>
                <a:r>
                  <a:rPr lang="en-US" sz="2600" err="1"/>
                  <a:t>khoảng</a:t>
                </a:r>
                <a:r>
                  <a:rPr lang="en-US" sz="2600"/>
                  <a:t> </a:t>
                </a:r>
                <a:r>
                  <a:rPr lang="en-US" sz="2600" err="1"/>
                  <a:t>cách</a:t>
                </a:r>
                <a:r>
                  <a:rPr lang="en-US" sz="2600"/>
                  <a:t> </a:t>
                </a:r>
                <a:r>
                  <a:rPr lang="en-US" sz="2600" err="1"/>
                  <a:t>giữa</a:t>
                </a:r>
                <a:r>
                  <a:rPr lang="en-US" sz="2600"/>
                  <a:t> </a:t>
                </a:r>
                <a:r>
                  <a:rPr lang="en-US" sz="2600" err="1"/>
                  <a:t>các</a:t>
                </a:r>
                <a:r>
                  <a:rPr lang="en-US" sz="2600"/>
                  <a:t> SP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463" y="1213577"/>
                <a:ext cx="5003074" cy="1706749"/>
              </a:xfrm>
              <a:prstGeom prst="rect">
                <a:avLst/>
              </a:prstGeom>
              <a:blipFill>
                <a:blip r:embed="rId2"/>
                <a:stretch>
                  <a:fillRect l="-2195" t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838200" y="3965484"/>
                <a:ext cx="4948646" cy="15947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>
                    <a:solidFill>
                      <a:schemeClr val="tx1"/>
                    </a:solidFill>
                  </a:rPr>
                  <a:t>Foreach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sz="2600" b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600" err="1">
                    <a:solidFill>
                      <a:schemeClr val="tx1"/>
                    </a:solidFill>
                  </a:rPr>
                  <a:t>Tính</a:t>
                </a:r>
                <a:r>
                  <a:rPr lang="en-US" sz="260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𝐿𝑎𝑏</m:t>
                        </m:r>
                      </m:sub>
                    </m:sSub>
                    <m:r>
                      <a:rPr lang="en-US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  <m:sSub>
                      <m:sSubPr>
                        <m:ctrlP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endParaRPr lang="en-US" sz="2600" b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65484"/>
                <a:ext cx="4948646" cy="15947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4" idx="2"/>
          </p:cNvCxnSpPr>
          <p:nvPr/>
        </p:nvCxnSpPr>
        <p:spPr>
          <a:xfrm flipH="1">
            <a:off x="2103120" y="2545987"/>
            <a:ext cx="8709" cy="14194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786845" y="3965485"/>
                <a:ext cx="6113417" cy="502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𝐿𝑎𝑏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220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845" y="3965485"/>
                <a:ext cx="6113417" cy="5023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061166" y="4467802"/>
                <a:ext cx="5839096" cy="5300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220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1166" y="4467802"/>
                <a:ext cx="5839096" cy="5300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061166" y="5011555"/>
            <a:ext cx="58390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0" i="0">
                <a:latin typeface="+mj-lt"/>
              </a:rPr>
              <a:t>m </a:t>
            </a:r>
            <a:r>
              <a:rPr lang="en-US" sz="2200" b="0" i="0" err="1">
                <a:latin typeface="+mj-lt"/>
              </a:rPr>
              <a:t>là</a:t>
            </a:r>
            <a:r>
              <a:rPr lang="en-US" sz="2200" b="0" i="0">
                <a:latin typeface="+mj-lt"/>
              </a:rPr>
              <a:t> </a:t>
            </a:r>
            <a:r>
              <a:rPr lang="en-US" sz="2200" b="0" i="0" err="1">
                <a:latin typeface="+mj-lt"/>
              </a:rPr>
              <a:t>tham</a:t>
            </a:r>
            <a:r>
              <a:rPr lang="en-US" sz="2200" b="0" i="0">
                <a:latin typeface="+mj-lt"/>
              </a:rPr>
              <a:t> </a:t>
            </a:r>
            <a:r>
              <a:rPr lang="en-US" sz="2200" b="0" i="0" err="1">
                <a:latin typeface="+mj-lt"/>
              </a:rPr>
              <a:t>số</a:t>
            </a:r>
            <a:r>
              <a:rPr lang="en-US" sz="2200" b="0" i="0">
                <a:latin typeface="+mj-lt"/>
              </a:rPr>
              <a:t> </a:t>
            </a:r>
            <a:r>
              <a:rPr lang="en-US" sz="2200" b="0" i="0" err="1">
                <a:latin typeface="+mj-lt"/>
              </a:rPr>
              <a:t>tỉ</a:t>
            </a:r>
            <a:r>
              <a:rPr lang="en-US" sz="2200" b="0" i="0">
                <a:latin typeface="+mj-lt"/>
              </a:rPr>
              <a:t> </a:t>
            </a:r>
            <a:r>
              <a:rPr lang="en-US" sz="2200" b="0" i="0" err="1">
                <a:latin typeface="+mj-lt"/>
              </a:rPr>
              <a:t>trọng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64251634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SLIC (simple linear Iterative cluster)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38199" y="1344205"/>
                <a:ext cx="4948645" cy="12017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>
                    <a:solidFill>
                      <a:schemeClr val="tx1"/>
                    </a:solidFill>
                  </a:rPr>
                  <a:t>Tìm </a:t>
                </a:r>
                <a:r>
                  <a:rPr lang="en-US" sz="2600" err="1">
                    <a:solidFill>
                      <a:schemeClr val="tx1"/>
                    </a:solidFill>
                  </a:rPr>
                  <a:t>trong</a:t>
                </a:r>
                <a:r>
                  <a:rPr lang="en-US" sz="2600">
                    <a:solidFill>
                      <a:schemeClr val="tx1"/>
                    </a:solidFill>
                  </a:rPr>
                  <a:t> </a:t>
                </a:r>
                <a:r>
                  <a:rPr lang="en-US" sz="2600" err="1">
                    <a:solidFill>
                      <a:schemeClr val="tx1"/>
                    </a:solidFill>
                  </a:rPr>
                  <a:t>không</a:t>
                </a:r>
                <a:r>
                  <a:rPr lang="en-US" sz="2600">
                    <a:solidFill>
                      <a:schemeClr val="tx1"/>
                    </a:solidFill>
                  </a:rPr>
                  <a:t> </a:t>
                </a:r>
                <a:r>
                  <a:rPr lang="en-US" sz="2600" err="1">
                    <a:solidFill>
                      <a:schemeClr val="tx1"/>
                    </a:solidFill>
                  </a:rPr>
                  <a:t>gian</a:t>
                </a:r>
                <a:r>
                  <a:rPr lang="en-US" sz="2600">
                    <a:solidFill>
                      <a:schemeClr val="tx1"/>
                    </a:solidFill>
                  </a:rPr>
                  <a:t> 2S*2S </a:t>
                </a:r>
                <a:r>
                  <a:rPr lang="en-US" sz="2600" err="1">
                    <a:solidFill>
                      <a:schemeClr val="tx1"/>
                    </a:solidFill>
                  </a:rPr>
                  <a:t>xung</a:t>
                </a:r>
                <a:r>
                  <a:rPr lang="en-US" sz="2600">
                    <a:solidFill>
                      <a:schemeClr val="tx1"/>
                    </a:solidFill>
                  </a:rPr>
                  <a:t> </a:t>
                </a:r>
                <a:r>
                  <a:rPr lang="en-US" sz="2600" err="1">
                    <a:solidFill>
                      <a:schemeClr val="tx1"/>
                    </a:solidFill>
                  </a:rPr>
                  <a:t>quanh</a:t>
                </a:r>
                <a:r>
                  <a:rPr lang="en-US" sz="2600">
                    <a:solidFill>
                      <a:schemeClr val="tx1"/>
                    </a:solidFill>
                  </a:rPr>
                  <a:t> center N/K pixel </a:t>
                </a:r>
                <a:r>
                  <a:rPr lang="en-US" sz="2600" err="1">
                    <a:solidFill>
                      <a:schemeClr val="tx1"/>
                    </a:solidFill>
                  </a:rPr>
                  <a:t>có</a:t>
                </a:r>
                <a:r>
                  <a:rPr lang="en-US" sz="260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𝑚𝑖𝑛</m:t>
                    </m:r>
                  </m:oMath>
                </a14:m>
                <a:endParaRPr lang="en-US" sz="2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344205"/>
                <a:ext cx="4948645" cy="12017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838200" y="3965485"/>
            <a:ext cx="2571206" cy="7632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err="1">
                <a:solidFill>
                  <a:schemeClr val="tx1"/>
                </a:solidFill>
              </a:rPr>
              <a:t>Tính</a:t>
            </a:r>
            <a:r>
              <a:rPr lang="en-US" sz="2600">
                <a:solidFill>
                  <a:schemeClr val="tx1"/>
                </a:solidFill>
              </a:rPr>
              <a:t> new center</a:t>
            </a:r>
            <a:endParaRPr lang="en-US" sz="2600" b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/>
          <p:cNvCxnSpPr>
            <a:stCxn id="4" idx="2"/>
          </p:cNvCxnSpPr>
          <p:nvPr/>
        </p:nvCxnSpPr>
        <p:spPr>
          <a:xfrm flipH="1">
            <a:off x="2103120" y="2545987"/>
            <a:ext cx="8709" cy="14194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38199" y="5384983"/>
            <a:ext cx="4948645" cy="10941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</a:rPr>
              <a:t>d(center, new center) &lt; threshold ?</a:t>
            </a:r>
            <a:endParaRPr lang="en-US" sz="2600" b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2103120" y="4732693"/>
            <a:ext cx="2" cy="6522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10" idx="3"/>
          </p:cNvCxnSpPr>
          <p:nvPr/>
        </p:nvCxnSpPr>
        <p:spPr>
          <a:xfrm flipV="1">
            <a:off x="5786844" y="1828800"/>
            <a:ext cx="12700" cy="4103280"/>
          </a:xfrm>
          <a:prstGeom prst="bentConnector4">
            <a:avLst>
              <a:gd name="adj1" fmla="val 7868567"/>
              <a:gd name="adj2" fmla="val 9996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91348" y="3474720"/>
            <a:ext cx="73152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No</a:t>
            </a:r>
          </a:p>
        </p:txBody>
      </p:sp>
      <p:cxnSp>
        <p:nvCxnSpPr>
          <p:cNvPr id="22" name="Straight Arrow Connector 21"/>
          <p:cNvCxnSpPr>
            <a:stCxn id="10" idx="3"/>
          </p:cNvCxnSpPr>
          <p:nvPr/>
        </p:nvCxnSpPr>
        <p:spPr>
          <a:xfrm>
            <a:off x="5786844" y="5932080"/>
            <a:ext cx="244275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051764" y="5384983"/>
            <a:ext cx="73152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5842130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ounded Rectangle 37"/>
          <p:cNvSpPr/>
          <p:nvPr/>
        </p:nvSpPr>
        <p:spPr>
          <a:xfrm>
            <a:off x="7188200" y="3863062"/>
            <a:ext cx="2032000" cy="199740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7188200" y="1181100"/>
            <a:ext cx="2032000" cy="199740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" y="1616074"/>
            <a:ext cx="5549900" cy="36968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267200" y="3898899"/>
            <a:ext cx="123825" cy="1206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629025" y="3464504"/>
            <a:ext cx="123825" cy="1206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794125" y="2270704"/>
            <a:ext cx="123825" cy="120651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340225" y="2486604"/>
            <a:ext cx="123825" cy="120651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endCxn id="10" idx="6"/>
          </p:cNvCxnSpPr>
          <p:nvPr/>
        </p:nvCxnSpPr>
        <p:spPr>
          <a:xfrm flipH="1">
            <a:off x="4464050" y="1714500"/>
            <a:ext cx="2724150" cy="83243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3856038" y="1714500"/>
            <a:ext cx="3332162" cy="59171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99324" y="1468278"/>
            <a:ext cx="223837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sink node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3629025" y="2651994"/>
            <a:ext cx="3559175" cy="8918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4329113" y="2651994"/>
            <a:ext cx="2859087" cy="13072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299323" y="2032520"/>
            <a:ext cx="16891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source node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H="1" flipV="1">
            <a:off x="5758658" y="4897870"/>
            <a:ext cx="1429542" cy="1645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4804571" y="4355346"/>
            <a:ext cx="2383629" cy="1806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88200" y="3278607"/>
            <a:ext cx="284479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Node (no label):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9323" y="4143635"/>
            <a:ext cx="223837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(ob) node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99324" y="4989613"/>
            <a:ext cx="181927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(bk) node t</a:t>
            </a:r>
          </a:p>
        </p:txBody>
      </p:sp>
      <p:sp>
        <p:nvSpPr>
          <p:cNvPr id="2" name="TextBox 28">
            <a:extLst>
              <a:ext uri="{FF2B5EF4-FFF2-40B4-BE49-F238E27FC236}">
                <a16:creationId xmlns:a16="http://schemas.microsoft.com/office/drawing/2014/main" id="{9CDCA0BA-4D43-4017-AFEF-F9901E9AB391}"/>
              </a:ext>
            </a:extLst>
          </p:cNvPr>
          <p:cNvSpPr txBox="1"/>
          <p:nvPr/>
        </p:nvSpPr>
        <p:spPr>
          <a:xfrm>
            <a:off x="7175498" y="538756"/>
            <a:ext cx="284479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Node (labeled):</a:t>
            </a:r>
          </a:p>
        </p:txBody>
      </p:sp>
    </p:spTree>
    <p:extLst>
      <p:ext uri="{BB962C8B-B14F-4D97-AF65-F5344CB8AC3E}">
        <p14:creationId xmlns:p14="http://schemas.microsoft.com/office/powerpoint/2010/main" val="417348603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575"/>
          </a:xfrm>
        </p:spPr>
        <p:txBody>
          <a:bodyPr/>
          <a:lstStyle/>
          <a:p>
            <a:r>
              <a:rPr lang="en-US"/>
              <a:t>Mapping into Graph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90688"/>
            <a:ext cx="4844143" cy="4763407"/>
          </a:xfrm>
        </p:spPr>
      </p:pic>
      <p:cxnSp>
        <p:nvCxnSpPr>
          <p:cNvPr id="6" name="Straight Arrow Connector 5"/>
          <p:cNvCxnSpPr/>
          <p:nvPr/>
        </p:nvCxnSpPr>
        <p:spPr>
          <a:xfrm flipH="1">
            <a:off x="4767944" y="1933303"/>
            <a:ext cx="2795450" cy="9274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33211" y="1690688"/>
            <a:ext cx="3017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W giữa s </a:t>
            </a:r>
            <a:r>
              <a:rPr lang="en-US" sz="2600" err="1"/>
              <a:t>và</a:t>
            </a:r>
            <a:r>
              <a:rPr lang="en-US" sz="2600"/>
              <a:t> n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5225144" y="3762103"/>
            <a:ext cx="2338250" cy="261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33211" y="3508694"/>
            <a:ext cx="3017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W giữa s </a:t>
            </a:r>
            <a:r>
              <a:rPr lang="en-US" sz="2600" err="1"/>
              <a:t>và</a:t>
            </a:r>
            <a:r>
              <a:rPr lang="en-US" sz="2600"/>
              <a:t> n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 flipV="1">
            <a:off x="4056019" y="5655129"/>
            <a:ext cx="3677192" cy="2884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33211" y="5697378"/>
            <a:ext cx="3017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W giữa t </a:t>
            </a:r>
            <a:r>
              <a:rPr lang="en-US" sz="2600" err="1"/>
              <a:t>và</a:t>
            </a:r>
            <a:r>
              <a:rPr lang="en-US" sz="2600"/>
              <a:t> n</a:t>
            </a:r>
          </a:p>
        </p:txBody>
      </p:sp>
    </p:spTree>
    <p:extLst>
      <p:ext uri="{BB962C8B-B14F-4D97-AF65-F5344CB8AC3E}">
        <p14:creationId xmlns:p14="http://schemas.microsoft.com/office/powerpoint/2010/main" val="63323342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575"/>
          </a:xfrm>
        </p:spPr>
        <p:txBody>
          <a:bodyPr/>
          <a:lstStyle/>
          <a:p>
            <a:r>
              <a:rPr lang="en-US"/>
              <a:t>Mapping into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4301"/>
                <a:ext cx="10515600" cy="558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Node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𝑐𝑒𝑛𝑡𝑒𝑟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h𝑖𝑠𝑡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/>
                  <a:t>và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𝑐𝑒𝑛𝑡𝑒𝑟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h𝑖𝑠𝑡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4301"/>
                <a:ext cx="10515600" cy="558800"/>
              </a:xfrm>
              <a:blipFill>
                <a:blip r:embed="rId2"/>
                <a:stretch>
                  <a:fillRect l="-1217" t="-17391" b="-16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38200" y="2044702"/>
                <a:ext cx="10972800" cy="9650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600" i="1" smtClean="0">
                          <a:latin typeface="Cambria Math" panose="02040503050406030204" pitchFamily="18" charset="0"/>
                        </a:rPr>
                        <m:t>𝑠𝑖𝑚</m:t>
                      </m:r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(−</m:t>
                          </m:r>
                          <m:f>
                            <m:f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𝑐𝑣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2. 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𝑐𝑜𝑚𝑝𝑎𝑟𝑒𝐻𝑖𝑠𝑡</m:t>
                              </m:r>
                              <m:sSup>
                                <m:sSup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h𝑖𝑠𝑡</m:t>
                                      </m:r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h𝑖𝑠𝑡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2∗</m:t>
                              </m:r>
                              <m:sSup>
                                <m:sSup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𝑑𝑖𝑠𝑡𝑎𝑛𝑐𝑒</m:t>
                          </m:r>
                          <m:d>
                            <m:dPr>
                              <m:ctrlP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𝑐𝑒𝑛𝑡𝑒𝑟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𝑐𝑒𝑛𝑡𝑒𝑟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60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44702"/>
                <a:ext cx="10972800" cy="9650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838200" y="3771712"/>
                <a:ext cx="10972800" cy="9829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600">
                    <a:solidFill>
                      <a:srgbClr val="000000"/>
                    </a:solidFill>
                  </a:rPr>
                  <a:t>c</a:t>
                </a:r>
                <a14:m>
                  <m:oMath xmlns:m="http://schemas.openxmlformats.org/officeDocument/2006/math">
                    <m:r>
                      <a:rPr lang="en-US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2.</m:t>
                    </m:r>
                    <m:r>
                      <a:rPr lang="en-US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𝑐𝑜𝑚𝑝𝑎𝑟𝑒𝐻𝑖𝑠𝑡</m:t>
                    </m:r>
                    <m:r>
                      <a:rPr lang="en-US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a:rPr lang="en-US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2)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⋮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a:rPr lang="en-US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2)=</m:t>
                    </m:r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600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en-US" sz="2600" i="0">
                                <a:latin typeface="Cambria Math" panose="02040503050406030204" pitchFamily="18" charset="0"/>
                              </a:rPr>
                              <m:t>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26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</m:d>
                                <m:r>
                                  <a:rPr lang="en-US" sz="260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26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nary>
                  </m:oMath>
                </a14:m>
                <a:br>
                  <a:rPr lang="en-US" sz="2600"/>
                </a:br>
                <a:endParaRPr lang="en-US" sz="260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771712"/>
                <a:ext cx="10972800" cy="982961"/>
              </a:xfrm>
              <a:prstGeom prst="rect">
                <a:avLst/>
              </a:prstGeom>
              <a:blipFill>
                <a:blip r:embed="rId4"/>
                <a:stretch>
                  <a:fillRect l="-1000" t="-2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838200" y="3111311"/>
                <a:ext cx="10972800" cy="4924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𝑠𝑖𝑚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60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11311"/>
                <a:ext cx="10972800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07298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575"/>
          </a:xfrm>
        </p:spPr>
        <p:txBody>
          <a:bodyPr/>
          <a:lstStyle/>
          <a:p>
            <a:r>
              <a:rPr lang="en-US"/>
              <a:t>Mapping into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4301"/>
                <a:ext cx="10515600" cy="558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Node 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𝑐𝑒𝑛𝑡𝑒𝑟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h𝑖𝑠𝑡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/>
                  <a:t>và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𝑐𝑒𝑛𝑡𝑒𝑟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h𝑖𝑠𝑡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𝑙𝑎𝑏𝑒𝑙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4301"/>
                <a:ext cx="10515600" cy="558800"/>
              </a:xfrm>
              <a:blipFill>
                <a:blip r:embed="rId3"/>
                <a:stretch>
                  <a:fillRect l="-1217" t="-17391" b="-16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38200" y="2044702"/>
                <a:ext cx="10972800" cy="13365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𝑜𝑏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h𝑖</m:t>
                          </m:r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𝑠𝑡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𝑜𝑏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num>
                        <m:den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h𝑖𝑠</m:t>
                          </m:r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𝑜𝑏</m:t>
                              </m:r>
                            </m:sub>
                          </m:sSub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𝑠𝑢𝑚</m:t>
                          </m:r>
                        </m:den>
                      </m:f>
                      <m:r>
                        <a:rPr lang="en-US" sz="2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h𝑖</m:t>
                          </m:r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𝑠𝑡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num>
                        <m:den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h𝑖𝑠</m:t>
                          </m:r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𝑏𝑘</m:t>
                              </m:r>
                            </m:sub>
                          </m:sSub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𝑠𝑢𝑚</m:t>
                          </m:r>
                        </m:den>
                      </m:f>
                    </m:oMath>
                  </m:oMathPara>
                </a14:m>
                <a:endParaRPr lang="en-US" sz="2600"/>
              </a:p>
              <a:p>
                <a:endParaRPr lang="en-US" sz="260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44702"/>
                <a:ext cx="10972800" cy="13365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838200" y="3381286"/>
                <a:ext cx="10972800" cy="4924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600"/>
                  <a:t>Nếu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𝑝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𝑏𝑘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&gt;0 →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=100000,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=0.9∗−</m:t>
                    </m:r>
                    <m:func>
                      <m:func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𝑜𝑏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sz="260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381286"/>
                <a:ext cx="10972800" cy="492443"/>
              </a:xfrm>
              <a:prstGeom prst="rect">
                <a:avLst/>
              </a:prstGeom>
              <a:blipFill>
                <a:blip r:embed="rId5"/>
                <a:stretch>
                  <a:fillRect l="-1000" t="-11250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838200" y="3897066"/>
                <a:ext cx="10972800" cy="4924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600"/>
                  <a:t>Nếu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𝑝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𝑜𝑏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&gt;0 →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=100000,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=0.9∗−</m:t>
                    </m:r>
                    <m:func>
                      <m:func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𝑜𝑏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sz="260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97066"/>
                <a:ext cx="10972800" cy="492443"/>
              </a:xfrm>
              <a:prstGeom prst="rect">
                <a:avLst/>
              </a:prstGeom>
              <a:blipFill>
                <a:blip r:embed="rId6"/>
                <a:stretch>
                  <a:fillRect l="-1000" t="-9877" b="-32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909374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575"/>
          </a:xfrm>
        </p:spPr>
        <p:txBody>
          <a:bodyPr/>
          <a:lstStyle/>
          <a:p>
            <a:r>
              <a:rPr lang="en-US"/>
              <a:t>Mapping into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4301"/>
                <a:ext cx="10515600" cy="558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𝑐𝑒𝑛𝑡𝑒𝑟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h𝑖𝑠𝑡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/>
                  <a:t>và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𝑐𝑒𝑛𝑡𝑒𝑟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h𝑖𝑠𝑡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4301"/>
                <a:ext cx="10515600" cy="558800"/>
              </a:xfrm>
              <a:blipFill>
                <a:blip r:embed="rId3"/>
                <a:stretch>
                  <a:fillRect l="-1217" t="-17391" b="-16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38200" y="2044702"/>
                <a:ext cx="10972800" cy="16927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𝑙𝑎𝑏𝑒𝑙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𝑆𝑜𝑢𝑟𝑐𝑒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𝑛𝑜𝑑𝑒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/>
                  <a:t>,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𝑠𝑖𝑚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600" b="0"/>
              </a:p>
              <a:p>
                <a14:m>
                  <m:oMath xmlns:m="http://schemas.openxmlformats.org/officeDocument/2006/math">
                    <m:r>
                      <a:rPr lang="en-US" sz="260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𝑙𝑎𝑏𝑒𝑙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𝑆𝑖𝑛𝑘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𝑛𝑜𝑑𝑒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/>
                  <a:t>,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𝑠𝑖𝑚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600"/>
              </a:p>
              <a:p>
                <a:endParaRPr lang="en-US" sz="2600"/>
              </a:p>
              <a:p>
                <a:endParaRPr lang="en-US" sz="260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44702"/>
                <a:ext cx="10972800" cy="1692771"/>
              </a:xfrm>
              <a:prstGeom prst="rect">
                <a:avLst/>
              </a:prstGeom>
              <a:blipFill>
                <a:blip r:embed="rId4"/>
                <a:stretch>
                  <a:fillRect t="-2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181364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305" y="1640425"/>
            <a:ext cx="5894832" cy="4050191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057" y="574765"/>
            <a:ext cx="4405931" cy="5797744"/>
          </a:xfrm>
        </p:spPr>
      </p:pic>
    </p:spTree>
    <p:extLst>
      <p:ext uri="{BB962C8B-B14F-4D97-AF65-F5344CB8AC3E}">
        <p14:creationId xmlns:p14="http://schemas.microsoft.com/office/powerpoint/2010/main" val="20074541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599" y="289221"/>
            <a:ext cx="5893837" cy="627955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74" y="1601633"/>
            <a:ext cx="5128913" cy="365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8103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Find Symmetry &amp; rotate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1214845"/>
            <a:ext cx="2547258" cy="12017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</a:rPr>
              <a:t>Image (RGB)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2651" y="1214845"/>
            <a:ext cx="2547258" cy="12017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</a:rPr>
              <a:t>Gray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49194" y="1214845"/>
            <a:ext cx="2547258" cy="12017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err="1">
                <a:solidFill>
                  <a:schemeClr val="tx1"/>
                </a:solidFill>
              </a:rPr>
              <a:t>FindContours</a:t>
            </a:r>
            <a:endParaRPr lang="en-US" sz="260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22651" y="3067593"/>
            <a:ext cx="2547258" cy="12017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err="1">
                <a:solidFill>
                  <a:schemeClr val="tx1"/>
                </a:solidFill>
              </a:rPr>
              <a:t>FitEllipse</a:t>
            </a:r>
            <a:endParaRPr lang="en-US" sz="260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5" idx="3"/>
            <a:endCxn id="6" idx="1"/>
          </p:cNvCxnSpPr>
          <p:nvPr/>
        </p:nvCxnSpPr>
        <p:spPr>
          <a:xfrm>
            <a:off x="7069909" y="1815736"/>
            <a:ext cx="117928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2"/>
          </p:cNvCxnSpPr>
          <p:nvPr/>
        </p:nvCxnSpPr>
        <p:spPr>
          <a:xfrm>
            <a:off x="9522823" y="2416627"/>
            <a:ext cx="0" cy="6509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38200" y="3067593"/>
            <a:ext cx="2547258" cy="12017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</a:rPr>
              <a:t>Find angle rotate</a:t>
            </a:r>
          </a:p>
        </p:txBody>
      </p:sp>
      <p:cxnSp>
        <p:nvCxnSpPr>
          <p:cNvPr id="14" name="Straight Arrow Connector 13"/>
          <p:cNvCxnSpPr>
            <a:stCxn id="15" idx="1"/>
            <a:endCxn id="7" idx="3"/>
          </p:cNvCxnSpPr>
          <p:nvPr/>
        </p:nvCxnSpPr>
        <p:spPr>
          <a:xfrm flipH="1">
            <a:off x="7069909" y="3668484"/>
            <a:ext cx="117928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3374935" y="1815736"/>
            <a:ext cx="1158239" cy="14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249194" y="3067593"/>
            <a:ext cx="2547258" cy="12017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</a:rPr>
              <a:t>ConvexHull</a:t>
            </a:r>
          </a:p>
        </p:txBody>
      </p:sp>
      <p:cxnSp>
        <p:nvCxnSpPr>
          <p:cNvPr id="27" name="Straight Arrow Connector 26"/>
          <p:cNvCxnSpPr>
            <a:stCxn id="7" idx="1"/>
          </p:cNvCxnSpPr>
          <p:nvPr/>
        </p:nvCxnSpPr>
        <p:spPr>
          <a:xfrm flipH="1">
            <a:off x="3385459" y="3668484"/>
            <a:ext cx="113719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10671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Automated Leaf Alignment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52617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8417" y="246205"/>
            <a:ext cx="2342606" cy="11052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</a:rPr>
              <a:t>Image (RGB)</a:t>
            </a:r>
          </a:p>
        </p:txBody>
      </p:sp>
      <p:sp>
        <p:nvSpPr>
          <p:cNvPr id="5" name="Rectangle 4"/>
          <p:cNvSpPr/>
          <p:nvPr/>
        </p:nvSpPr>
        <p:spPr>
          <a:xfrm>
            <a:off x="398417" y="2149027"/>
            <a:ext cx="2342606" cy="11052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</a:rPr>
              <a:t>Image (</a:t>
            </a:r>
            <a:r>
              <a:rPr lang="en-US" sz="2600" err="1">
                <a:solidFill>
                  <a:schemeClr val="tx1"/>
                </a:solidFill>
              </a:rPr>
              <a:t>CIELab</a:t>
            </a:r>
            <a:r>
              <a:rPr lang="en-US" sz="26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398417" y="4273919"/>
            <a:ext cx="2342606" cy="11052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err="1">
                <a:solidFill>
                  <a:schemeClr val="tx1"/>
                </a:solidFill>
              </a:rPr>
              <a:t>Superpixel</a:t>
            </a:r>
            <a:r>
              <a:rPr lang="en-US" sz="2600">
                <a:solidFill>
                  <a:schemeClr val="tx1"/>
                </a:solidFill>
              </a:rPr>
              <a:t> generation (SLIC)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03914" y="4273919"/>
            <a:ext cx="2342606" cy="11052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</a:rPr>
              <a:t>Mapping into 1 graph</a:t>
            </a:r>
          </a:p>
        </p:txBody>
      </p:sp>
      <p:sp>
        <p:nvSpPr>
          <p:cNvPr id="8" name="Rectangle 7"/>
          <p:cNvSpPr/>
          <p:nvPr/>
        </p:nvSpPr>
        <p:spPr>
          <a:xfrm>
            <a:off x="7717971" y="4273919"/>
            <a:ext cx="2549435" cy="11052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err="1">
                <a:solidFill>
                  <a:schemeClr val="tx1"/>
                </a:solidFill>
              </a:rPr>
              <a:t>Boykov</a:t>
            </a:r>
            <a:r>
              <a:rPr lang="en-US" sz="2600">
                <a:solidFill>
                  <a:schemeClr val="tx1"/>
                </a:solidFill>
              </a:rPr>
              <a:t>-Kolmogorov Min-Cut/Max-Flow </a:t>
            </a:r>
          </a:p>
        </p:txBody>
      </p:sp>
      <p:cxnSp>
        <p:nvCxnSpPr>
          <p:cNvPr id="10" name="Straight Arrow Connector 9"/>
          <p:cNvCxnSpPr>
            <a:stCxn id="4" idx="2"/>
            <a:endCxn id="5" idx="0"/>
          </p:cNvCxnSpPr>
          <p:nvPr/>
        </p:nvCxnSpPr>
        <p:spPr>
          <a:xfrm>
            <a:off x="1569720" y="1351433"/>
            <a:ext cx="0" cy="7975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2"/>
            <a:endCxn id="6" idx="0"/>
          </p:cNvCxnSpPr>
          <p:nvPr/>
        </p:nvCxnSpPr>
        <p:spPr>
          <a:xfrm>
            <a:off x="1569720" y="3254255"/>
            <a:ext cx="0" cy="10196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3"/>
            <a:endCxn id="7" idx="1"/>
          </p:cNvCxnSpPr>
          <p:nvPr/>
        </p:nvCxnSpPr>
        <p:spPr>
          <a:xfrm>
            <a:off x="2741023" y="4826533"/>
            <a:ext cx="136289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6444343" y="4815266"/>
            <a:ext cx="1275806" cy="225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8992688" y="3002797"/>
            <a:ext cx="0" cy="12635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717971" y="1897569"/>
            <a:ext cx="2549436" cy="11052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</a:rPr>
              <a:t>2 independent graphs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8417" y="5689787"/>
            <a:ext cx="3705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Nhóm những pixel có phổ màu giống nhau lại thành cụm, hay superpixel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5191" y="5689786"/>
            <a:ext cx="2747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Khởi tạo trọng số cho 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7971" y="5689787"/>
            <a:ext cx="3551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Thuật toán tìm đường cắt qua các cạnh sao cho tổng trọng số của các cạnh đó là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8610" y="3353196"/>
            <a:ext cx="3705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Đổi color space sang CIELab</a:t>
            </a:r>
          </a:p>
        </p:txBody>
      </p:sp>
      <p:sp>
        <p:nvSpPr>
          <p:cNvPr id="29" name="Oval 28"/>
          <p:cNvSpPr/>
          <p:nvPr/>
        </p:nvSpPr>
        <p:spPr>
          <a:xfrm>
            <a:off x="4224202" y="2244441"/>
            <a:ext cx="2114006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API</a:t>
            </a:r>
          </a:p>
        </p:txBody>
      </p:sp>
      <p:cxnSp>
        <p:nvCxnSpPr>
          <p:cNvPr id="30" name="Straight Arrow Connector 29"/>
          <p:cNvCxnSpPr>
            <a:stCxn id="29" idx="3"/>
          </p:cNvCxnSpPr>
          <p:nvPr/>
        </p:nvCxnSpPr>
        <p:spPr>
          <a:xfrm flipH="1">
            <a:off x="2741023" y="3024930"/>
            <a:ext cx="1792768" cy="12489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9" idx="5"/>
          </p:cNvCxnSpPr>
          <p:nvPr/>
        </p:nvCxnSpPr>
        <p:spPr>
          <a:xfrm>
            <a:off x="6028619" y="3024930"/>
            <a:ext cx="1689351" cy="12489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143625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8200" y="1344205"/>
            <a:ext cx="2547258" cy="12017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err="1">
                <a:solidFill>
                  <a:schemeClr val="tx1"/>
                </a:solidFill>
              </a:rPr>
              <a:t>Init</a:t>
            </a:r>
            <a:endParaRPr lang="en-US" sz="26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94463" y="1213577"/>
                <a:ext cx="5003074" cy="1706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/>
                  <a:t>N: </a:t>
                </a:r>
                <a:r>
                  <a:rPr lang="en-US" sz="2600" err="1"/>
                  <a:t>số</a:t>
                </a:r>
                <a:r>
                  <a:rPr lang="en-US" sz="2600"/>
                  <a:t> pixel</a:t>
                </a:r>
              </a:p>
              <a:p>
                <a:r>
                  <a:rPr lang="en-US" sz="2600"/>
                  <a:t>K: </a:t>
                </a:r>
                <a:r>
                  <a:rPr lang="en-US" sz="2600" err="1"/>
                  <a:t>số</a:t>
                </a:r>
                <a:r>
                  <a:rPr lang="en-US" sz="2600"/>
                  <a:t> </a:t>
                </a:r>
                <a:r>
                  <a:rPr lang="en-US" sz="2600" err="1"/>
                  <a:t>superpixel</a:t>
                </a:r>
                <a:r>
                  <a:rPr lang="en-US" sz="2600"/>
                  <a:t> (SP)</a:t>
                </a:r>
              </a:p>
              <a:p>
                <a:r>
                  <a:rPr lang="en-US" sz="2600"/>
                  <a:t>S: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sz="2600"/>
                  <a:t>  </a:t>
                </a:r>
                <a:r>
                  <a:rPr lang="en-US" sz="2600" err="1"/>
                  <a:t>khoảng</a:t>
                </a:r>
                <a:r>
                  <a:rPr lang="en-US" sz="2600"/>
                  <a:t> </a:t>
                </a:r>
                <a:r>
                  <a:rPr lang="en-US" sz="2600" err="1"/>
                  <a:t>cách</a:t>
                </a:r>
                <a:r>
                  <a:rPr lang="en-US" sz="2600"/>
                  <a:t> </a:t>
                </a:r>
                <a:r>
                  <a:rPr lang="en-US" sz="2600" err="1"/>
                  <a:t>giữa</a:t>
                </a:r>
                <a:r>
                  <a:rPr lang="en-US" sz="2600"/>
                  <a:t> </a:t>
                </a:r>
                <a:r>
                  <a:rPr lang="en-US" sz="2600" err="1"/>
                  <a:t>các</a:t>
                </a:r>
                <a:r>
                  <a:rPr lang="en-US" sz="2600"/>
                  <a:t> SP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463" y="1213577"/>
                <a:ext cx="5003074" cy="1706749"/>
              </a:xfrm>
              <a:prstGeom prst="rect">
                <a:avLst/>
              </a:prstGeom>
              <a:blipFill>
                <a:blip r:embed="rId2"/>
                <a:stretch>
                  <a:fillRect l="-2195" t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838200" y="3965484"/>
                <a:ext cx="4948646" cy="15947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>
                    <a:solidFill>
                      <a:schemeClr val="tx1"/>
                    </a:solidFill>
                  </a:rPr>
                  <a:t>Foreach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sz="2600" b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600" err="1">
                    <a:solidFill>
                      <a:schemeClr val="tx1"/>
                    </a:solidFill>
                  </a:rPr>
                  <a:t>Tính</a:t>
                </a:r>
                <a:r>
                  <a:rPr lang="en-US" sz="260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𝐿𝑎𝑏</m:t>
                        </m:r>
                      </m:sub>
                    </m:sSub>
                    <m:r>
                      <a:rPr lang="en-US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  <m:sSub>
                      <m:sSubPr>
                        <m:ctrlP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endParaRPr lang="en-US" sz="2600" b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65484"/>
                <a:ext cx="4948646" cy="15947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4" idx="2"/>
          </p:cNvCxnSpPr>
          <p:nvPr/>
        </p:nvCxnSpPr>
        <p:spPr>
          <a:xfrm flipH="1">
            <a:off x="2103120" y="2545987"/>
            <a:ext cx="8709" cy="14194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786845" y="3965485"/>
                <a:ext cx="6113417" cy="502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𝐿𝑎𝑏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220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845" y="3965485"/>
                <a:ext cx="6113417" cy="5023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061166" y="4467802"/>
                <a:ext cx="5839096" cy="5300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220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1166" y="4467802"/>
                <a:ext cx="5839096" cy="5300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061166" y="5011555"/>
            <a:ext cx="58390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0" i="0">
                <a:latin typeface="+mj-lt"/>
              </a:rPr>
              <a:t>m </a:t>
            </a:r>
            <a:r>
              <a:rPr lang="en-US" sz="2200" b="0" i="0" err="1">
                <a:latin typeface="+mj-lt"/>
              </a:rPr>
              <a:t>là</a:t>
            </a:r>
            <a:r>
              <a:rPr lang="en-US" sz="2200" b="0" i="0">
                <a:latin typeface="+mj-lt"/>
              </a:rPr>
              <a:t> </a:t>
            </a:r>
            <a:r>
              <a:rPr lang="en-US" sz="2200" b="0" i="0" err="1">
                <a:latin typeface="+mj-lt"/>
              </a:rPr>
              <a:t>tham</a:t>
            </a:r>
            <a:r>
              <a:rPr lang="en-US" sz="2200" b="0" i="0">
                <a:latin typeface="+mj-lt"/>
              </a:rPr>
              <a:t> </a:t>
            </a:r>
            <a:r>
              <a:rPr lang="en-US" sz="2200" b="0" i="0" err="1">
                <a:latin typeface="+mj-lt"/>
              </a:rPr>
              <a:t>số</a:t>
            </a:r>
            <a:r>
              <a:rPr lang="en-US" sz="2200" b="0" i="0">
                <a:latin typeface="+mj-lt"/>
              </a:rPr>
              <a:t> </a:t>
            </a:r>
            <a:r>
              <a:rPr lang="en-US" sz="2200" b="0" i="0" err="1">
                <a:latin typeface="+mj-lt"/>
              </a:rPr>
              <a:t>tỉ</a:t>
            </a:r>
            <a:r>
              <a:rPr lang="en-US" sz="2200" b="0" i="0">
                <a:latin typeface="+mj-lt"/>
              </a:rPr>
              <a:t> </a:t>
            </a:r>
            <a:r>
              <a:rPr lang="en-US" sz="2200" b="0" i="0" err="1">
                <a:latin typeface="+mj-lt"/>
              </a:rPr>
              <a:t>trọng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45835116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38199" y="1344205"/>
                <a:ext cx="4948645" cy="12017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>
                    <a:solidFill>
                      <a:schemeClr val="tx1"/>
                    </a:solidFill>
                  </a:rPr>
                  <a:t>Tìm </a:t>
                </a:r>
                <a:r>
                  <a:rPr lang="en-US" sz="2600" err="1">
                    <a:solidFill>
                      <a:schemeClr val="tx1"/>
                    </a:solidFill>
                  </a:rPr>
                  <a:t>trong</a:t>
                </a:r>
                <a:r>
                  <a:rPr lang="en-US" sz="2600">
                    <a:solidFill>
                      <a:schemeClr val="tx1"/>
                    </a:solidFill>
                  </a:rPr>
                  <a:t> </a:t>
                </a:r>
                <a:r>
                  <a:rPr lang="en-US" sz="2600" err="1">
                    <a:solidFill>
                      <a:schemeClr val="tx1"/>
                    </a:solidFill>
                  </a:rPr>
                  <a:t>không</a:t>
                </a:r>
                <a:r>
                  <a:rPr lang="en-US" sz="2600">
                    <a:solidFill>
                      <a:schemeClr val="tx1"/>
                    </a:solidFill>
                  </a:rPr>
                  <a:t> </a:t>
                </a:r>
                <a:r>
                  <a:rPr lang="en-US" sz="2600" err="1">
                    <a:solidFill>
                      <a:schemeClr val="tx1"/>
                    </a:solidFill>
                  </a:rPr>
                  <a:t>gian</a:t>
                </a:r>
                <a:r>
                  <a:rPr lang="en-US" sz="2600">
                    <a:solidFill>
                      <a:schemeClr val="tx1"/>
                    </a:solidFill>
                  </a:rPr>
                  <a:t> 2S*2S </a:t>
                </a:r>
                <a:r>
                  <a:rPr lang="en-US" sz="2600" err="1">
                    <a:solidFill>
                      <a:schemeClr val="tx1"/>
                    </a:solidFill>
                  </a:rPr>
                  <a:t>xung</a:t>
                </a:r>
                <a:r>
                  <a:rPr lang="en-US" sz="2600">
                    <a:solidFill>
                      <a:schemeClr val="tx1"/>
                    </a:solidFill>
                  </a:rPr>
                  <a:t> </a:t>
                </a:r>
                <a:r>
                  <a:rPr lang="en-US" sz="2600" err="1">
                    <a:solidFill>
                      <a:schemeClr val="tx1"/>
                    </a:solidFill>
                  </a:rPr>
                  <a:t>quanh</a:t>
                </a:r>
                <a:r>
                  <a:rPr lang="en-US" sz="2600">
                    <a:solidFill>
                      <a:schemeClr val="tx1"/>
                    </a:solidFill>
                  </a:rPr>
                  <a:t> center N/K pixel </a:t>
                </a:r>
                <a:r>
                  <a:rPr lang="en-US" sz="2600" err="1">
                    <a:solidFill>
                      <a:schemeClr val="tx1"/>
                    </a:solidFill>
                  </a:rPr>
                  <a:t>có</a:t>
                </a:r>
                <a:r>
                  <a:rPr lang="en-US" sz="260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𝑚𝑖𝑛</m:t>
                    </m:r>
                  </m:oMath>
                </a14:m>
                <a:endParaRPr lang="en-US" sz="2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344205"/>
                <a:ext cx="4948645" cy="12017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838200" y="3965485"/>
            <a:ext cx="2571206" cy="7632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err="1">
                <a:solidFill>
                  <a:schemeClr val="tx1"/>
                </a:solidFill>
              </a:rPr>
              <a:t>Tính</a:t>
            </a:r>
            <a:r>
              <a:rPr lang="en-US" sz="2600">
                <a:solidFill>
                  <a:schemeClr val="tx1"/>
                </a:solidFill>
              </a:rPr>
              <a:t> new center</a:t>
            </a:r>
            <a:endParaRPr lang="en-US" sz="2600" b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/>
          <p:cNvCxnSpPr>
            <a:stCxn id="4" idx="2"/>
          </p:cNvCxnSpPr>
          <p:nvPr/>
        </p:nvCxnSpPr>
        <p:spPr>
          <a:xfrm flipH="1">
            <a:off x="2103120" y="2545987"/>
            <a:ext cx="8709" cy="14194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38199" y="5384983"/>
            <a:ext cx="4948645" cy="10941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>
                <a:solidFill>
                  <a:schemeClr val="tx1"/>
                </a:solidFill>
              </a:rPr>
              <a:t>d(center, new center) &lt; threshold ?</a:t>
            </a:r>
            <a:endParaRPr lang="en-US" sz="2600" b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2103120" y="4732693"/>
            <a:ext cx="2" cy="6522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10" idx="3"/>
          </p:cNvCxnSpPr>
          <p:nvPr/>
        </p:nvCxnSpPr>
        <p:spPr>
          <a:xfrm flipV="1">
            <a:off x="5786844" y="1828800"/>
            <a:ext cx="12700" cy="4103280"/>
          </a:xfrm>
          <a:prstGeom prst="bentConnector4">
            <a:avLst>
              <a:gd name="adj1" fmla="val 7868567"/>
              <a:gd name="adj2" fmla="val 9996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91348" y="3474720"/>
            <a:ext cx="73152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No</a:t>
            </a:r>
          </a:p>
        </p:txBody>
      </p:sp>
      <p:cxnSp>
        <p:nvCxnSpPr>
          <p:cNvPr id="22" name="Straight Arrow Connector 21"/>
          <p:cNvCxnSpPr>
            <a:stCxn id="10" idx="3"/>
          </p:cNvCxnSpPr>
          <p:nvPr/>
        </p:nvCxnSpPr>
        <p:spPr>
          <a:xfrm>
            <a:off x="5786844" y="5932080"/>
            <a:ext cx="244275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051764" y="5384983"/>
            <a:ext cx="73152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Yes</a:t>
            </a:r>
          </a:p>
        </p:txBody>
      </p:sp>
      <p:sp>
        <p:nvSpPr>
          <p:cNvPr id="5" name="Tiêu đề 4">
            <a:extLst>
              <a:ext uri="{FF2B5EF4-FFF2-40B4-BE49-F238E27FC236}">
                <a16:creationId xmlns:a16="http://schemas.microsoft.com/office/drawing/2014/main" id="{2F5F27BA-ECFA-4099-832E-99E89B26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6105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ình ảnh 1">
            <a:extLst>
              <a:ext uri="{FF2B5EF4-FFF2-40B4-BE49-F238E27FC236}">
                <a16:creationId xmlns:a16="http://schemas.microsoft.com/office/drawing/2014/main" id="{39ADA4F8-5B3D-46C8-A53B-0CFAC3E59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702" y="1714499"/>
            <a:ext cx="3905911" cy="3921109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7188200" y="3863062"/>
            <a:ext cx="2032000" cy="199740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7188200" y="1181100"/>
            <a:ext cx="2032000" cy="199740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cxnSpLocks/>
          </p:cNvCxnSpPr>
          <p:nvPr/>
        </p:nvCxnSpPr>
        <p:spPr>
          <a:xfrm flipH="1">
            <a:off x="4200939" y="1714500"/>
            <a:ext cx="2987261" cy="1821282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cxnSpLocks/>
          </p:cNvCxnSpPr>
          <p:nvPr/>
        </p:nvCxnSpPr>
        <p:spPr>
          <a:xfrm flipH="1">
            <a:off x="3074504" y="1714500"/>
            <a:ext cx="4113696" cy="165221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99324" y="1468278"/>
            <a:ext cx="223837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sink node</a:t>
            </a:r>
          </a:p>
        </p:txBody>
      </p:sp>
      <p:cxnSp>
        <p:nvCxnSpPr>
          <p:cNvPr id="19" name="Straight Arrow Connector 18"/>
          <p:cNvCxnSpPr>
            <a:cxnSpLocks/>
          </p:cNvCxnSpPr>
          <p:nvPr/>
        </p:nvCxnSpPr>
        <p:spPr>
          <a:xfrm flipH="1">
            <a:off x="4011614" y="2651994"/>
            <a:ext cx="3176590" cy="11531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</p:cNvCxnSpPr>
          <p:nvPr/>
        </p:nvCxnSpPr>
        <p:spPr>
          <a:xfrm flipH="1">
            <a:off x="4250072" y="2651994"/>
            <a:ext cx="2938129" cy="154625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299323" y="2032520"/>
            <a:ext cx="16891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source node</a:t>
            </a:r>
          </a:p>
        </p:txBody>
      </p:sp>
      <p:cxnSp>
        <p:nvCxnSpPr>
          <p:cNvPr id="24" name="Straight Arrow Connector 23"/>
          <p:cNvCxnSpPr>
            <a:cxnSpLocks/>
          </p:cNvCxnSpPr>
          <p:nvPr/>
        </p:nvCxnSpPr>
        <p:spPr>
          <a:xfrm flipH="1" flipV="1">
            <a:off x="3631096" y="4003125"/>
            <a:ext cx="3557104" cy="10592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cxnSpLocks/>
          </p:cNvCxnSpPr>
          <p:nvPr/>
        </p:nvCxnSpPr>
        <p:spPr>
          <a:xfrm flipH="1" flipV="1">
            <a:off x="5003801" y="2205175"/>
            <a:ext cx="2184400" cy="21501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88200" y="3278607"/>
            <a:ext cx="284479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Node (no label):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9323" y="4143635"/>
            <a:ext cx="223837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(ob) node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99324" y="4989613"/>
            <a:ext cx="181927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(bk) node 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31324" y="1958954"/>
            <a:ext cx="16891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Đã có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31324" y="4651648"/>
            <a:ext cx="16891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Chưa có</a:t>
            </a:r>
          </a:p>
        </p:txBody>
      </p:sp>
    </p:spTree>
    <p:extLst>
      <p:ext uri="{BB962C8B-B14F-4D97-AF65-F5344CB8AC3E}">
        <p14:creationId xmlns:p14="http://schemas.microsoft.com/office/powerpoint/2010/main" val="270068446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575"/>
          </a:xfrm>
        </p:spPr>
        <p:txBody>
          <a:bodyPr/>
          <a:lstStyle/>
          <a:p>
            <a:r>
              <a:rPr lang="en-US"/>
              <a:t>Mapping into Graph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690688"/>
            <a:ext cx="4844143" cy="4763407"/>
          </a:xfrm>
        </p:spPr>
      </p:pic>
      <p:cxnSp>
        <p:nvCxnSpPr>
          <p:cNvPr id="6" name="Straight Arrow Connector 5"/>
          <p:cNvCxnSpPr/>
          <p:nvPr/>
        </p:nvCxnSpPr>
        <p:spPr>
          <a:xfrm flipH="1">
            <a:off x="4767944" y="1933303"/>
            <a:ext cx="2795450" cy="9274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33211" y="1690688"/>
            <a:ext cx="3017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W giữa s </a:t>
            </a:r>
            <a:r>
              <a:rPr lang="en-US" sz="2600" err="1"/>
              <a:t>và</a:t>
            </a:r>
            <a:r>
              <a:rPr lang="en-US" sz="2600"/>
              <a:t> n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5225144" y="3762103"/>
            <a:ext cx="2338250" cy="261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33211" y="3508694"/>
            <a:ext cx="3017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W giữa s </a:t>
            </a:r>
            <a:r>
              <a:rPr lang="en-US" sz="2600" err="1"/>
              <a:t>và</a:t>
            </a:r>
            <a:r>
              <a:rPr lang="en-US" sz="2600"/>
              <a:t> n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 flipV="1">
            <a:off x="4056019" y="5655129"/>
            <a:ext cx="3677192" cy="28847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33211" y="5697378"/>
            <a:ext cx="301752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W giữa t </a:t>
            </a:r>
            <a:r>
              <a:rPr lang="en-US" sz="2600" err="1"/>
              <a:t>và</a:t>
            </a:r>
            <a:r>
              <a:rPr lang="en-US" sz="2600"/>
              <a:t> n</a:t>
            </a:r>
          </a:p>
        </p:txBody>
      </p:sp>
    </p:spTree>
    <p:extLst>
      <p:ext uri="{BB962C8B-B14F-4D97-AF65-F5344CB8AC3E}">
        <p14:creationId xmlns:p14="http://schemas.microsoft.com/office/powerpoint/2010/main" val="358884272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19"/>
          <p:cNvSpPr/>
          <p:nvPr/>
        </p:nvSpPr>
        <p:spPr>
          <a:xfrm>
            <a:off x="3215640" y="2209800"/>
            <a:ext cx="4823094" cy="4069080"/>
          </a:xfrm>
          <a:custGeom>
            <a:avLst/>
            <a:gdLst>
              <a:gd name="connsiteX0" fmla="*/ 4130040 w 4823094"/>
              <a:gd name="connsiteY0" fmla="*/ 1127760 h 4069080"/>
              <a:gd name="connsiteX1" fmla="*/ 3718560 w 4823094"/>
              <a:gd name="connsiteY1" fmla="*/ 1158240 h 4069080"/>
              <a:gd name="connsiteX2" fmla="*/ 3627120 w 4823094"/>
              <a:gd name="connsiteY2" fmla="*/ 1173480 h 4069080"/>
              <a:gd name="connsiteX3" fmla="*/ 3215640 w 4823094"/>
              <a:gd name="connsiteY3" fmla="*/ 1158240 h 4069080"/>
              <a:gd name="connsiteX4" fmla="*/ 3169920 w 4823094"/>
              <a:gd name="connsiteY4" fmla="*/ 1143000 h 4069080"/>
              <a:gd name="connsiteX5" fmla="*/ 3108960 w 4823094"/>
              <a:gd name="connsiteY5" fmla="*/ 1036320 h 4069080"/>
              <a:gd name="connsiteX6" fmla="*/ 3032760 w 4823094"/>
              <a:gd name="connsiteY6" fmla="*/ 914400 h 4069080"/>
              <a:gd name="connsiteX7" fmla="*/ 2987040 w 4823094"/>
              <a:gd name="connsiteY7" fmla="*/ 838200 h 4069080"/>
              <a:gd name="connsiteX8" fmla="*/ 2956560 w 4823094"/>
              <a:gd name="connsiteY8" fmla="*/ 670560 h 4069080"/>
              <a:gd name="connsiteX9" fmla="*/ 2941320 w 4823094"/>
              <a:gd name="connsiteY9" fmla="*/ 624840 h 4069080"/>
              <a:gd name="connsiteX10" fmla="*/ 2926080 w 4823094"/>
              <a:gd name="connsiteY10" fmla="*/ 563880 h 4069080"/>
              <a:gd name="connsiteX11" fmla="*/ 2880360 w 4823094"/>
              <a:gd name="connsiteY11" fmla="*/ 441960 h 4069080"/>
              <a:gd name="connsiteX12" fmla="*/ 2865120 w 4823094"/>
              <a:gd name="connsiteY12" fmla="*/ 381000 h 4069080"/>
              <a:gd name="connsiteX13" fmla="*/ 2819400 w 4823094"/>
              <a:gd name="connsiteY13" fmla="*/ 335280 h 4069080"/>
              <a:gd name="connsiteX14" fmla="*/ 2743200 w 4823094"/>
              <a:gd name="connsiteY14" fmla="*/ 243840 h 4069080"/>
              <a:gd name="connsiteX15" fmla="*/ 2727960 w 4823094"/>
              <a:gd name="connsiteY15" fmla="*/ 198120 h 4069080"/>
              <a:gd name="connsiteX16" fmla="*/ 2667000 w 4823094"/>
              <a:gd name="connsiteY16" fmla="*/ 152400 h 4069080"/>
              <a:gd name="connsiteX17" fmla="*/ 2499360 w 4823094"/>
              <a:gd name="connsiteY17" fmla="*/ 106680 h 4069080"/>
              <a:gd name="connsiteX18" fmla="*/ 2377440 w 4823094"/>
              <a:gd name="connsiteY18" fmla="*/ 60960 h 4069080"/>
              <a:gd name="connsiteX19" fmla="*/ 2255520 w 4823094"/>
              <a:gd name="connsiteY19" fmla="*/ 30480 h 4069080"/>
              <a:gd name="connsiteX20" fmla="*/ 2057400 w 4823094"/>
              <a:gd name="connsiteY20" fmla="*/ 0 h 4069080"/>
              <a:gd name="connsiteX21" fmla="*/ 1752600 w 4823094"/>
              <a:gd name="connsiteY21" fmla="*/ 121920 h 4069080"/>
              <a:gd name="connsiteX22" fmla="*/ 1691640 w 4823094"/>
              <a:gd name="connsiteY22" fmla="*/ 182880 h 4069080"/>
              <a:gd name="connsiteX23" fmla="*/ 1645920 w 4823094"/>
              <a:gd name="connsiteY23" fmla="*/ 228600 h 4069080"/>
              <a:gd name="connsiteX24" fmla="*/ 1630680 w 4823094"/>
              <a:gd name="connsiteY24" fmla="*/ 441960 h 4069080"/>
              <a:gd name="connsiteX25" fmla="*/ 1615440 w 4823094"/>
              <a:gd name="connsiteY25" fmla="*/ 792480 h 4069080"/>
              <a:gd name="connsiteX26" fmla="*/ 1554480 w 4823094"/>
              <a:gd name="connsiteY26" fmla="*/ 883920 h 4069080"/>
              <a:gd name="connsiteX27" fmla="*/ 1493520 w 4823094"/>
              <a:gd name="connsiteY27" fmla="*/ 899160 h 4069080"/>
              <a:gd name="connsiteX28" fmla="*/ 1386840 w 4823094"/>
              <a:gd name="connsiteY28" fmla="*/ 944880 h 4069080"/>
              <a:gd name="connsiteX29" fmla="*/ 853440 w 4823094"/>
              <a:gd name="connsiteY29" fmla="*/ 990600 h 4069080"/>
              <a:gd name="connsiteX30" fmla="*/ 640080 w 4823094"/>
              <a:gd name="connsiteY30" fmla="*/ 1021080 h 4069080"/>
              <a:gd name="connsiteX31" fmla="*/ 533400 w 4823094"/>
              <a:gd name="connsiteY31" fmla="*/ 1082040 h 4069080"/>
              <a:gd name="connsiteX32" fmla="*/ 411480 w 4823094"/>
              <a:gd name="connsiteY32" fmla="*/ 1112520 h 4069080"/>
              <a:gd name="connsiteX33" fmla="*/ 243840 w 4823094"/>
              <a:gd name="connsiteY33" fmla="*/ 1234440 h 4069080"/>
              <a:gd name="connsiteX34" fmla="*/ 121920 w 4823094"/>
              <a:gd name="connsiteY34" fmla="*/ 1325880 h 4069080"/>
              <a:gd name="connsiteX35" fmla="*/ 30480 w 4823094"/>
              <a:gd name="connsiteY35" fmla="*/ 1493520 h 4069080"/>
              <a:gd name="connsiteX36" fmla="*/ 15240 w 4823094"/>
              <a:gd name="connsiteY36" fmla="*/ 1630680 h 4069080"/>
              <a:gd name="connsiteX37" fmla="*/ 0 w 4823094"/>
              <a:gd name="connsiteY37" fmla="*/ 1676400 h 4069080"/>
              <a:gd name="connsiteX38" fmla="*/ 15240 w 4823094"/>
              <a:gd name="connsiteY38" fmla="*/ 2072640 h 4069080"/>
              <a:gd name="connsiteX39" fmla="*/ 45720 w 4823094"/>
              <a:gd name="connsiteY39" fmla="*/ 2118360 h 4069080"/>
              <a:gd name="connsiteX40" fmla="*/ 152400 w 4823094"/>
              <a:gd name="connsiteY40" fmla="*/ 2286000 h 4069080"/>
              <a:gd name="connsiteX41" fmla="*/ 167640 w 4823094"/>
              <a:gd name="connsiteY41" fmla="*/ 2331720 h 4069080"/>
              <a:gd name="connsiteX42" fmla="*/ 274320 w 4823094"/>
              <a:gd name="connsiteY42" fmla="*/ 2453640 h 4069080"/>
              <a:gd name="connsiteX43" fmla="*/ 365760 w 4823094"/>
              <a:gd name="connsiteY43" fmla="*/ 2514600 h 4069080"/>
              <a:gd name="connsiteX44" fmla="*/ 411480 w 4823094"/>
              <a:gd name="connsiteY44" fmla="*/ 2545080 h 4069080"/>
              <a:gd name="connsiteX45" fmla="*/ 548640 w 4823094"/>
              <a:gd name="connsiteY45" fmla="*/ 2575560 h 4069080"/>
              <a:gd name="connsiteX46" fmla="*/ 1127760 w 4823094"/>
              <a:gd name="connsiteY46" fmla="*/ 2590800 h 4069080"/>
              <a:gd name="connsiteX47" fmla="*/ 1173480 w 4823094"/>
              <a:gd name="connsiteY47" fmla="*/ 2636520 h 4069080"/>
              <a:gd name="connsiteX48" fmla="*/ 1203960 w 4823094"/>
              <a:gd name="connsiteY48" fmla="*/ 2743200 h 4069080"/>
              <a:gd name="connsiteX49" fmla="*/ 1234440 w 4823094"/>
              <a:gd name="connsiteY49" fmla="*/ 2788920 h 4069080"/>
              <a:gd name="connsiteX50" fmla="*/ 1264920 w 4823094"/>
              <a:gd name="connsiteY50" fmla="*/ 2880360 h 4069080"/>
              <a:gd name="connsiteX51" fmla="*/ 1295400 w 4823094"/>
              <a:gd name="connsiteY51" fmla="*/ 3032760 h 4069080"/>
              <a:gd name="connsiteX52" fmla="*/ 1310640 w 4823094"/>
              <a:gd name="connsiteY52" fmla="*/ 3108960 h 4069080"/>
              <a:gd name="connsiteX53" fmla="*/ 1402080 w 4823094"/>
              <a:gd name="connsiteY53" fmla="*/ 3276600 h 4069080"/>
              <a:gd name="connsiteX54" fmla="*/ 1447800 w 4823094"/>
              <a:gd name="connsiteY54" fmla="*/ 3337560 h 4069080"/>
              <a:gd name="connsiteX55" fmla="*/ 1493520 w 4823094"/>
              <a:gd name="connsiteY55" fmla="*/ 3429000 h 4069080"/>
              <a:gd name="connsiteX56" fmla="*/ 1524000 w 4823094"/>
              <a:gd name="connsiteY56" fmla="*/ 3474720 h 4069080"/>
              <a:gd name="connsiteX57" fmla="*/ 1584960 w 4823094"/>
              <a:gd name="connsiteY57" fmla="*/ 3596640 h 4069080"/>
              <a:gd name="connsiteX58" fmla="*/ 1600200 w 4823094"/>
              <a:gd name="connsiteY58" fmla="*/ 3657600 h 4069080"/>
              <a:gd name="connsiteX59" fmla="*/ 1630680 w 4823094"/>
              <a:gd name="connsiteY59" fmla="*/ 3703320 h 4069080"/>
              <a:gd name="connsiteX60" fmla="*/ 1661160 w 4823094"/>
              <a:gd name="connsiteY60" fmla="*/ 3764280 h 4069080"/>
              <a:gd name="connsiteX61" fmla="*/ 1905000 w 4823094"/>
              <a:gd name="connsiteY61" fmla="*/ 3992880 h 4069080"/>
              <a:gd name="connsiteX62" fmla="*/ 2148840 w 4823094"/>
              <a:gd name="connsiteY62" fmla="*/ 4069080 h 4069080"/>
              <a:gd name="connsiteX63" fmla="*/ 2712720 w 4823094"/>
              <a:gd name="connsiteY63" fmla="*/ 4053840 h 4069080"/>
              <a:gd name="connsiteX64" fmla="*/ 2758440 w 4823094"/>
              <a:gd name="connsiteY64" fmla="*/ 4023360 h 4069080"/>
              <a:gd name="connsiteX65" fmla="*/ 2804160 w 4823094"/>
              <a:gd name="connsiteY65" fmla="*/ 3977640 h 4069080"/>
              <a:gd name="connsiteX66" fmla="*/ 2849880 w 4823094"/>
              <a:gd name="connsiteY66" fmla="*/ 3870960 h 4069080"/>
              <a:gd name="connsiteX67" fmla="*/ 2895600 w 4823094"/>
              <a:gd name="connsiteY67" fmla="*/ 3749040 h 4069080"/>
              <a:gd name="connsiteX68" fmla="*/ 2865120 w 4823094"/>
              <a:gd name="connsiteY68" fmla="*/ 3124200 h 4069080"/>
              <a:gd name="connsiteX69" fmla="*/ 2849880 w 4823094"/>
              <a:gd name="connsiteY69" fmla="*/ 3048000 h 4069080"/>
              <a:gd name="connsiteX70" fmla="*/ 2819400 w 4823094"/>
              <a:gd name="connsiteY70" fmla="*/ 2849880 h 4069080"/>
              <a:gd name="connsiteX71" fmla="*/ 2910840 w 4823094"/>
              <a:gd name="connsiteY71" fmla="*/ 2636520 h 4069080"/>
              <a:gd name="connsiteX72" fmla="*/ 2987040 w 4823094"/>
              <a:gd name="connsiteY72" fmla="*/ 2621280 h 4069080"/>
              <a:gd name="connsiteX73" fmla="*/ 4008120 w 4823094"/>
              <a:gd name="connsiteY73" fmla="*/ 2575560 h 4069080"/>
              <a:gd name="connsiteX74" fmla="*/ 4191000 w 4823094"/>
              <a:gd name="connsiteY74" fmla="*/ 2545080 h 4069080"/>
              <a:gd name="connsiteX75" fmla="*/ 4358640 w 4823094"/>
              <a:gd name="connsiteY75" fmla="*/ 2529840 h 4069080"/>
              <a:gd name="connsiteX76" fmla="*/ 4465320 w 4823094"/>
              <a:gd name="connsiteY76" fmla="*/ 2499360 h 4069080"/>
              <a:gd name="connsiteX77" fmla="*/ 4739640 w 4823094"/>
              <a:gd name="connsiteY77" fmla="*/ 2468880 h 4069080"/>
              <a:gd name="connsiteX78" fmla="*/ 4770120 w 4823094"/>
              <a:gd name="connsiteY78" fmla="*/ 2042160 h 4069080"/>
              <a:gd name="connsiteX79" fmla="*/ 4739640 w 4823094"/>
              <a:gd name="connsiteY79" fmla="*/ 1661160 h 4069080"/>
              <a:gd name="connsiteX80" fmla="*/ 4693920 w 4823094"/>
              <a:gd name="connsiteY80" fmla="*/ 1493520 h 4069080"/>
              <a:gd name="connsiteX81" fmla="*/ 4648200 w 4823094"/>
              <a:gd name="connsiteY81" fmla="*/ 1386840 h 4069080"/>
              <a:gd name="connsiteX82" fmla="*/ 4602480 w 4823094"/>
              <a:gd name="connsiteY82" fmla="*/ 1341120 h 4069080"/>
              <a:gd name="connsiteX83" fmla="*/ 4572000 w 4823094"/>
              <a:gd name="connsiteY83" fmla="*/ 1295400 h 4069080"/>
              <a:gd name="connsiteX84" fmla="*/ 4526280 w 4823094"/>
              <a:gd name="connsiteY84" fmla="*/ 1264920 h 4069080"/>
              <a:gd name="connsiteX85" fmla="*/ 4389120 w 4823094"/>
              <a:gd name="connsiteY85" fmla="*/ 1158240 h 4069080"/>
              <a:gd name="connsiteX86" fmla="*/ 4236720 w 4823094"/>
              <a:gd name="connsiteY86" fmla="*/ 1127760 h 4069080"/>
              <a:gd name="connsiteX87" fmla="*/ 4130040 w 4823094"/>
              <a:gd name="connsiteY87" fmla="*/ 1127760 h 406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4823094" h="4069080">
                <a:moveTo>
                  <a:pt x="4130040" y="1127760"/>
                </a:moveTo>
                <a:cubicBezTo>
                  <a:pt x="4043680" y="1132840"/>
                  <a:pt x="3846701" y="1143165"/>
                  <a:pt x="3718560" y="1158240"/>
                </a:cubicBezTo>
                <a:cubicBezTo>
                  <a:pt x="3687871" y="1161850"/>
                  <a:pt x="3657600" y="1168400"/>
                  <a:pt x="3627120" y="1173480"/>
                </a:cubicBezTo>
                <a:cubicBezTo>
                  <a:pt x="3489960" y="1168400"/>
                  <a:pt x="3352590" y="1167370"/>
                  <a:pt x="3215640" y="1158240"/>
                </a:cubicBezTo>
                <a:cubicBezTo>
                  <a:pt x="3199611" y="1157171"/>
                  <a:pt x="3182464" y="1153035"/>
                  <a:pt x="3169920" y="1143000"/>
                </a:cubicBezTo>
                <a:cubicBezTo>
                  <a:pt x="3150760" y="1127672"/>
                  <a:pt x="3117960" y="1052520"/>
                  <a:pt x="3108960" y="1036320"/>
                </a:cubicBezTo>
                <a:cubicBezTo>
                  <a:pt x="3052646" y="934955"/>
                  <a:pt x="3080394" y="990615"/>
                  <a:pt x="3032760" y="914400"/>
                </a:cubicBezTo>
                <a:cubicBezTo>
                  <a:pt x="3017061" y="889281"/>
                  <a:pt x="3002280" y="863600"/>
                  <a:pt x="2987040" y="838200"/>
                </a:cubicBezTo>
                <a:cubicBezTo>
                  <a:pt x="2980246" y="797438"/>
                  <a:pt x="2967210" y="713160"/>
                  <a:pt x="2956560" y="670560"/>
                </a:cubicBezTo>
                <a:cubicBezTo>
                  <a:pt x="2952664" y="654975"/>
                  <a:pt x="2945733" y="640286"/>
                  <a:pt x="2941320" y="624840"/>
                </a:cubicBezTo>
                <a:cubicBezTo>
                  <a:pt x="2935566" y="604701"/>
                  <a:pt x="2931834" y="584019"/>
                  <a:pt x="2926080" y="563880"/>
                </a:cubicBezTo>
                <a:cubicBezTo>
                  <a:pt x="2904678" y="488973"/>
                  <a:pt x="2912568" y="538583"/>
                  <a:pt x="2880360" y="441960"/>
                </a:cubicBezTo>
                <a:cubicBezTo>
                  <a:pt x="2873736" y="422089"/>
                  <a:pt x="2875512" y="399186"/>
                  <a:pt x="2865120" y="381000"/>
                </a:cubicBezTo>
                <a:cubicBezTo>
                  <a:pt x="2854427" y="362287"/>
                  <a:pt x="2833198" y="351837"/>
                  <a:pt x="2819400" y="335280"/>
                </a:cubicBezTo>
                <a:cubicBezTo>
                  <a:pt x="2713312" y="207974"/>
                  <a:pt x="2876772" y="377412"/>
                  <a:pt x="2743200" y="243840"/>
                </a:cubicBezTo>
                <a:cubicBezTo>
                  <a:pt x="2738120" y="228600"/>
                  <a:pt x="2738244" y="210461"/>
                  <a:pt x="2727960" y="198120"/>
                </a:cubicBezTo>
                <a:cubicBezTo>
                  <a:pt x="2711699" y="178607"/>
                  <a:pt x="2689718" y="163759"/>
                  <a:pt x="2667000" y="152400"/>
                </a:cubicBezTo>
                <a:cubicBezTo>
                  <a:pt x="2601610" y="119705"/>
                  <a:pt x="2566250" y="123403"/>
                  <a:pt x="2499360" y="106680"/>
                </a:cubicBezTo>
                <a:cubicBezTo>
                  <a:pt x="2445607" y="93242"/>
                  <a:pt x="2438039" y="79606"/>
                  <a:pt x="2377440" y="60960"/>
                </a:cubicBezTo>
                <a:cubicBezTo>
                  <a:pt x="2337402" y="48641"/>
                  <a:pt x="2296990" y="36404"/>
                  <a:pt x="2255520" y="30480"/>
                </a:cubicBezTo>
                <a:cubicBezTo>
                  <a:pt x="2118250" y="10870"/>
                  <a:pt x="2184272" y="21145"/>
                  <a:pt x="2057400" y="0"/>
                </a:cubicBezTo>
                <a:cubicBezTo>
                  <a:pt x="1809139" y="19097"/>
                  <a:pt x="1906115" y="-31595"/>
                  <a:pt x="1752600" y="121920"/>
                </a:cubicBezTo>
                <a:lnTo>
                  <a:pt x="1691640" y="182880"/>
                </a:lnTo>
                <a:lnTo>
                  <a:pt x="1645920" y="228600"/>
                </a:lnTo>
                <a:cubicBezTo>
                  <a:pt x="1640840" y="299720"/>
                  <a:pt x="1634529" y="370763"/>
                  <a:pt x="1630680" y="441960"/>
                </a:cubicBezTo>
                <a:cubicBezTo>
                  <a:pt x="1624368" y="558740"/>
                  <a:pt x="1635311" y="677230"/>
                  <a:pt x="1615440" y="792480"/>
                </a:cubicBezTo>
                <a:cubicBezTo>
                  <a:pt x="1609216" y="828580"/>
                  <a:pt x="1590019" y="875035"/>
                  <a:pt x="1554480" y="883920"/>
                </a:cubicBezTo>
                <a:lnTo>
                  <a:pt x="1493520" y="899160"/>
                </a:lnTo>
                <a:cubicBezTo>
                  <a:pt x="1413161" y="952733"/>
                  <a:pt x="1485252" y="912076"/>
                  <a:pt x="1386840" y="944880"/>
                </a:cubicBezTo>
                <a:cubicBezTo>
                  <a:pt x="1120666" y="1033605"/>
                  <a:pt x="1607734" y="965457"/>
                  <a:pt x="853440" y="990600"/>
                </a:cubicBezTo>
                <a:cubicBezTo>
                  <a:pt x="782320" y="1000760"/>
                  <a:pt x="709158" y="1001343"/>
                  <a:pt x="640080" y="1021080"/>
                </a:cubicBezTo>
                <a:cubicBezTo>
                  <a:pt x="600700" y="1032332"/>
                  <a:pt x="571427" y="1066829"/>
                  <a:pt x="533400" y="1082040"/>
                </a:cubicBezTo>
                <a:cubicBezTo>
                  <a:pt x="494505" y="1097598"/>
                  <a:pt x="452120" y="1102360"/>
                  <a:pt x="411480" y="1112520"/>
                </a:cubicBezTo>
                <a:cubicBezTo>
                  <a:pt x="340187" y="1160049"/>
                  <a:pt x="306723" y="1178544"/>
                  <a:pt x="243840" y="1234440"/>
                </a:cubicBezTo>
                <a:cubicBezTo>
                  <a:pt x="144809" y="1322468"/>
                  <a:pt x="225981" y="1273849"/>
                  <a:pt x="121920" y="1325880"/>
                </a:cubicBezTo>
                <a:cubicBezTo>
                  <a:pt x="52769" y="1464183"/>
                  <a:pt x="86164" y="1409994"/>
                  <a:pt x="30480" y="1493520"/>
                </a:cubicBezTo>
                <a:cubicBezTo>
                  <a:pt x="25400" y="1539240"/>
                  <a:pt x="22803" y="1585305"/>
                  <a:pt x="15240" y="1630680"/>
                </a:cubicBezTo>
                <a:cubicBezTo>
                  <a:pt x="12599" y="1646526"/>
                  <a:pt x="0" y="1660336"/>
                  <a:pt x="0" y="1676400"/>
                </a:cubicBezTo>
                <a:cubicBezTo>
                  <a:pt x="0" y="1808578"/>
                  <a:pt x="1639" y="1941164"/>
                  <a:pt x="15240" y="2072640"/>
                </a:cubicBezTo>
                <a:cubicBezTo>
                  <a:pt x="17125" y="2090859"/>
                  <a:pt x="36825" y="2102349"/>
                  <a:pt x="45720" y="2118360"/>
                </a:cubicBezTo>
                <a:cubicBezTo>
                  <a:pt x="127902" y="2266288"/>
                  <a:pt x="49233" y="2157042"/>
                  <a:pt x="152400" y="2286000"/>
                </a:cubicBezTo>
                <a:cubicBezTo>
                  <a:pt x="157480" y="2301240"/>
                  <a:pt x="159126" y="2318097"/>
                  <a:pt x="167640" y="2331720"/>
                </a:cubicBezTo>
                <a:cubicBezTo>
                  <a:pt x="182352" y="2355260"/>
                  <a:pt x="245164" y="2430963"/>
                  <a:pt x="274320" y="2453640"/>
                </a:cubicBezTo>
                <a:cubicBezTo>
                  <a:pt x="303236" y="2476130"/>
                  <a:pt x="335280" y="2494280"/>
                  <a:pt x="365760" y="2514600"/>
                </a:cubicBezTo>
                <a:cubicBezTo>
                  <a:pt x="381000" y="2524760"/>
                  <a:pt x="393413" y="2542069"/>
                  <a:pt x="411480" y="2545080"/>
                </a:cubicBezTo>
                <a:cubicBezTo>
                  <a:pt x="518766" y="2562961"/>
                  <a:pt x="473605" y="2550548"/>
                  <a:pt x="548640" y="2575560"/>
                </a:cubicBezTo>
                <a:cubicBezTo>
                  <a:pt x="597359" y="2574038"/>
                  <a:pt x="975086" y="2505981"/>
                  <a:pt x="1127760" y="2590800"/>
                </a:cubicBezTo>
                <a:cubicBezTo>
                  <a:pt x="1146600" y="2601267"/>
                  <a:pt x="1158240" y="2621280"/>
                  <a:pt x="1173480" y="2636520"/>
                </a:cubicBezTo>
                <a:cubicBezTo>
                  <a:pt x="1183640" y="2672080"/>
                  <a:pt x="1190225" y="2708862"/>
                  <a:pt x="1203960" y="2743200"/>
                </a:cubicBezTo>
                <a:cubicBezTo>
                  <a:pt x="1210762" y="2760206"/>
                  <a:pt x="1227001" y="2772182"/>
                  <a:pt x="1234440" y="2788920"/>
                </a:cubicBezTo>
                <a:cubicBezTo>
                  <a:pt x="1247489" y="2818280"/>
                  <a:pt x="1254760" y="2849880"/>
                  <a:pt x="1264920" y="2880360"/>
                </a:cubicBezTo>
                <a:cubicBezTo>
                  <a:pt x="1302258" y="3141724"/>
                  <a:pt x="1259934" y="2890897"/>
                  <a:pt x="1295400" y="3032760"/>
                </a:cubicBezTo>
                <a:cubicBezTo>
                  <a:pt x="1301682" y="3057890"/>
                  <a:pt x="1301341" y="3084784"/>
                  <a:pt x="1310640" y="3108960"/>
                </a:cubicBezTo>
                <a:cubicBezTo>
                  <a:pt x="1333704" y="3168927"/>
                  <a:pt x="1364974" y="3224652"/>
                  <a:pt x="1402080" y="3276600"/>
                </a:cubicBezTo>
                <a:cubicBezTo>
                  <a:pt x="1416843" y="3297269"/>
                  <a:pt x="1434732" y="3315780"/>
                  <a:pt x="1447800" y="3337560"/>
                </a:cubicBezTo>
                <a:cubicBezTo>
                  <a:pt x="1465333" y="3366781"/>
                  <a:pt x="1476970" y="3399211"/>
                  <a:pt x="1493520" y="3429000"/>
                </a:cubicBezTo>
                <a:cubicBezTo>
                  <a:pt x="1502415" y="3445011"/>
                  <a:pt x="1515229" y="3458640"/>
                  <a:pt x="1524000" y="3474720"/>
                </a:cubicBezTo>
                <a:cubicBezTo>
                  <a:pt x="1545758" y="3514609"/>
                  <a:pt x="1573940" y="3552560"/>
                  <a:pt x="1584960" y="3596640"/>
                </a:cubicBezTo>
                <a:cubicBezTo>
                  <a:pt x="1590040" y="3616960"/>
                  <a:pt x="1591949" y="3638348"/>
                  <a:pt x="1600200" y="3657600"/>
                </a:cubicBezTo>
                <a:cubicBezTo>
                  <a:pt x="1607415" y="3674435"/>
                  <a:pt x="1621593" y="3687417"/>
                  <a:pt x="1630680" y="3703320"/>
                </a:cubicBezTo>
                <a:cubicBezTo>
                  <a:pt x="1641952" y="3723045"/>
                  <a:pt x="1646375" y="3747031"/>
                  <a:pt x="1661160" y="3764280"/>
                </a:cubicBezTo>
                <a:cubicBezTo>
                  <a:pt x="1668361" y="3772681"/>
                  <a:pt x="1854052" y="3965708"/>
                  <a:pt x="1905000" y="3992880"/>
                </a:cubicBezTo>
                <a:cubicBezTo>
                  <a:pt x="1938124" y="4010546"/>
                  <a:pt x="2102581" y="4055863"/>
                  <a:pt x="2148840" y="4069080"/>
                </a:cubicBezTo>
                <a:cubicBezTo>
                  <a:pt x="2336800" y="4064000"/>
                  <a:pt x="2525218" y="4067903"/>
                  <a:pt x="2712720" y="4053840"/>
                </a:cubicBezTo>
                <a:cubicBezTo>
                  <a:pt x="2730985" y="4052470"/>
                  <a:pt x="2744369" y="4035086"/>
                  <a:pt x="2758440" y="4023360"/>
                </a:cubicBezTo>
                <a:cubicBezTo>
                  <a:pt x="2774997" y="4009562"/>
                  <a:pt x="2791633" y="3995178"/>
                  <a:pt x="2804160" y="3977640"/>
                </a:cubicBezTo>
                <a:cubicBezTo>
                  <a:pt x="2832329" y="3938204"/>
                  <a:pt x="2834170" y="3912853"/>
                  <a:pt x="2849880" y="3870960"/>
                </a:cubicBezTo>
                <a:cubicBezTo>
                  <a:pt x="2904549" y="3725175"/>
                  <a:pt x="2861008" y="3852816"/>
                  <a:pt x="2895600" y="3749040"/>
                </a:cubicBezTo>
                <a:cubicBezTo>
                  <a:pt x="2889829" y="3587449"/>
                  <a:pt x="2885770" y="3310047"/>
                  <a:pt x="2865120" y="3124200"/>
                </a:cubicBezTo>
                <a:cubicBezTo>
                  <a:pt x="2862259" y="3098455"/>
                  <a:pt x="2853543" y="3073643"/>
                  <a:pt x="2849880" y="3048000"/>
                </a:cubicBezTo>
                <a:cubicBezTo>
                  <a:pt x="2820625" y="2843215"/>
                  <a:pt x="2851125" y="2976781"/>
                  <a:pt x="2819400" y="2849880"/>
                </a:cubicBezTo>
                <a:cubicBezTo>
                  <a:pt x="2851289" y="2642599"/>
                  <a:pt x="2785615" y="2664348"/>
                  <a:pt x="2910840" y="2636520"/>
                </a:cubicBezTo>
                <a:cubicBezTo>
                  <a:pt x="2936126" y="2630901"/>
                  <a:pt x="2961640" y="2626360"/>
                  <a:pt x="2987040" y="2621280"/>
                </a:cubicBezTo>
                <a:cubicBezTo>
                  <a:pt x="3337947" y="2445826"/>
                  <a:pt x="2973735" y="2616935"/>
                  <a:pt x="4008120" y="2575560"/>
                </a:cubicBezTo>
                <a:cubicBezTo>
                  <a:pt x="4069871" y="2573090"/>
                  <a:pt x="4129718" y="2553073"/>
                  <a:pt x="4191000" y="2545080"/>
                </a:cubicBezTo>
                <a:cubicBezTo>
                  <a:pt x="4246639" y="2537823"/>
                  <a:pt x="4302760" y="2534920"/>
                  <a:pt x="4358640" y="2529840"/>
                </a:cubicBezTo>
                <a:cubicBezTo>
                  <a:pt x="4394200" y="2519680"/>
                  <a:pt x="4428709" y="2504590"/>
                  <a:pt x="4465320" y="2499360"/>
                </a:cubicBezTo>
                <a:cubicBezTo>
                  <a:pt x="4855740" y="2443586"/>
                  <a:pt x="4563632" y="2512882"/>
                  <a:pt x="4739640" y="2468880"/>
                </a:cubicBezTo>
                <a:cubicBezTo>
                  <a:pt x="4894829" y="2365421"/>
                  <a:pt x="4789743" y="2454250"/>
                  <a:pt x="4770120" y="2042160"/>
                </a:cubicBezTo>
                <a:cubicBezTo>
                  <a:pt x="4768395" y="2005938"/>
                  <a:pt x="4754618" y="1736052"/>
                  <a:pt x="4739640" y="1661160"/>
                </a:cubicBezTo>
                <a:cubicBezTo>
                  <a:pt x="4728281" y="1604364"/>
                  <a:pt x="4709832" y="1549212"/>
                  <a:pt x="4693920" y="1493520"/>
                </a:cubicBezTo>
                <a:cubicBezTo>
                  <a:pt x="4684444" y="1460355"/>
                  <a:pt x="4667552" y="1413933"/>
                  <a:pt x="4648200" y="1386840"/>
                </a:cubicBezTo>
                <a:cubicBezTo>
                  <a:pt x="4635673" y="1369302"/>
                  <a:pt x="4616278" y="1357677"/>
                  <a:pt x="4602480" y="1341120"/>
                </a:cubicBezTo>
                <a:cubicBezTo>
                  <a:pt x="4590754" y="1327049"/>
                  <a:pt x="4584952" y="1308352"/>
                  <a:pt x="4572000" y="1295400"/>
                </a:cubicBezTo>
                <a:cubicBezTo>
                  <a:pt x="4559048" y="1282448"/>
                  <a:pt x="4540351" y="1276646"/>
                  <a:pt x="4526280" y="1264920"/>
                </a:cubicBezTo>
                <a:cubicBezTo>
                  <a:pt x="4473682" y="1221089"/>
                  <a:pt x="4466156" y="1183919"/>
                  <a:pt x="4389120" y="1158240"/>
                </a:cubicBezTo>
                <a:cubicBezTo>
                  <a:pt x="4309322" y="1131641"/>
                  <a:pt x="4359303" y="1145272"/>
                  <a:pt x="4236720" y="1127760"/>
                </a:cubicBezTo>
                <a:cubicBezTo>
                  <a:pt x="4171723" y="1106094"/>
                  <a:pt x="4216400" y="1122680"/>
                  <a:pt x="4130040" y="1127760"/>
                </a:cubicBezTo>
                <a:close/>
              </a:path>
            </a:pathLst>
          </a:cu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2148840" y="1173480"/>
            <a:ext cx="838200" cy="883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148840" y="2346960"/>
            <a:ext cx="838200" cy="883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148840" y="3642360"/>
            <a:ext cx="838200" cy="883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148840" y="4937760"/>
            <a:ext cx="838200" cy="883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520440" y="1173480"/>
            <a:ext cx="838200" cy="883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520440" y="2346960"/>
            <a:ext cx="838200" cy="883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520440" y="3642360"/>
            <a:ext cx="838200" cy="88392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520440" y="4937760"/>
            <a:ext cx="838200" cy="883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998720" y="1173480"/>
            <a:ext cx="838200" cy="883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998720" y="2346960"/>
            <a:ext cx="838200" cy="88392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998720" y="3642360"/>
            <a:ext cx="838200" cy="88392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998720" y="4937760"/>
            <a:ext cx="838200" cy="88392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477000" y="1173480"/>
            <a:ext cx="838200" cy="883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6477000" y="2346960"/>
            <a:ext cx="838200" cy="883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477000" y="3642360"/>
            <a:ext cx="838200" cy="88392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477000" y="4937760"/>
            <a:ext cx="838200" cy="8839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>
            <a:endCxn id="20" idx="82"/>
          </p:cNvCxnSpPr>
          <p:nvPr/>
        </p:nvCxnSpPr>
        <p:spPr>
          <a:xfrm flipH="1">
            <a:off x="7818120" y="2514600"/>
            <a:ext cx="1234440" cy="10363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59240" y="2329934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Counter</a:t>
            </a:r>
          </a:p>
        </p:txBody>
      </p:sp>
    </p:spTree>
    <p:extLst>
      <p:ext uri="{BB962C8B-B14F-4D97-AF65-F5344CB8AC3E}">
        <p14:creationId xmlns:p14="http://schemas.microsoft.com/office/powerpoint/2010/main" val="175486327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575"/>
          </a:xfrm>
        </p:spPr>
        <p:txBody>
          <a:bodyPr/>
          <a:lstStyle/>
          <a:p>
            <a:r>
              <a:rPr lang="en-US"/>
              <a:t>Mapping into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4301"/>
                <a:ext cx="10515600" cy="558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Node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𝑐𝑒𝑛𝑡𝑒𝑟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h𝑖𝑠𝑡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/>
                  <a:t>và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𝑐𝑒𝑛𝑡𝑒𝑟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h𝑖𝑠𝑡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4301"/>
                <a:ext cx="10515600" cy="558800"/>
              </a:xfrm>
              <a:blipFill>
                <a:blip r:embed="rId2"/>
                <a:stretch>
                  <a:fillRect l="-1217" t="-17391" b="-16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38200" y="2044702"/>
                <a:ext cx="10972800" cy="9650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600" i="1" smtClean="0">
                          <a:latin typeface="Cambria Math" panose="02040503050406030204" pitchFamily="18" charset="0"/>
                        </a:rPr>
                        <m:t>𝑠𝑖𝑚</m:t>
                      </m:r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(−</m:t>
                          </m:r>
                          <m:f>
                            <m:f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𝑐𝑣</m:t>
                              </m:r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2. 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𝑐𝑜𝑚𝑝𝑎𝑟𝑒𝐻𝑖𝑠𝑡</m:t>
                              </m:r>
                              <m:sSup>
                                <m:sSup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h𝑖𝑠𝑡</m:t>
                                      </m:r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h𝑖𝑠𝑡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2∗</m:t>
                              </m:r>
                              <m:sSup>
                                <m:sSup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𝑑𝑖𝑠𝑡𝑎𝑛𝑐𝑒</m:t>
                          </m:r>
                          <m:d>
                            <m:dPr>
                              <m:ctrlP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𝑐𝑒𝑛𝑡𝑒𝑟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𝑐𝑒𝑛𝑡𝑒𝑟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60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44702"/>
                <a:ext cx="10972800" cy="9650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838200" y="3771712"/>
                <a:ext cx="10972800" cy="9829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600">
                    <a:solidFill>
                      <a:srgbClr val="000000"/>
                    </a:solidFill>
                  </a:rPr>
                  <a:t>c</a:t>
                </a:r>
                <a14:m>
                  <m:oMath xmlns:m="http://schemas.openxmlformats.org/officeDocument/2006/math">
                    <m:r>
                      <a:rPr lang="en-US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2.</m:t>
                    </m:r>
                    <m:r>
                      <a:rPr lang="en-US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𝑐𝑜𝑚𝑝𝑎𝑟𝑒𝐻𝑖𝑠𝑡</m:t>
                    </m:r>
                    <m:r>
                      <a:rPr lang="en-US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a:rPr lang="en-US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2)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⋮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a:rPr lang="en-US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6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2)=</m:t>
                    </m:r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600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en-US" sz="2600" i="0">
                                <a:latin typeface="Cambria Math" panose="02040503050406030204" pitchFamily="18" charset="0"/>
                              </a:rPr>
                              <m:t>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26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</m:d>
                                <m:r>
                                  <a:rPr lang="en-US" sz="2600" i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26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nary>
                  </m:oMath>
                </a14:m>
                <a:br>
                  <a:rPr lang="en-US" sz="2600"/>
                </a:br>
                <a:endParaRPr lang="en-US" sz="260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771712"/>
                <a:ext cx="10972800" cy="982961"/>
              </a:xfrm>
              <a:prstGeom prst="rect">
                <a:avLst/>
              </a:prstGeom>
              <a:blipFill>
                <a:blip r:embed="rId4"/>
                <a:stretch>
                  <a:fillRect l="-1000" t="-2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838200" y="3111311"/>
                <a:ext cx="10972800" cy="4924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𝑠𝑖𝑚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60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11311"/>
                <a:ext cx="10972800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392230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575"/>
          </a:xfrm>
        </p:spPr>
        <p:txBody>
          <a:bodyPr/>
          <a:lstStyle/>
          <a:p>
            <a:r>
              <a:rPr lang="en-US"/>
              <a:t>Mapping into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4301"/>
                <a:ext cx="10515600" cy="558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Node 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𝑐𝑒𝑛𝑡𝑒𝑟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h𝑖𝑠𝑡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/>
                  <a:t>và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𝑐𝑒𝑛𝑡𝑒𝑟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h𝑖𝑠𝑡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𝑙𝑎𝑏𝑒𝑙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4301"/>
                <a:ext cx="10515600" cy="558800"/>
              </a:xfrm>
              <a:blipFill>
                <a:blip r:embed="rId3"/>
                <a:stretch>
                  <a:fillRect l="-1217" t="-17391" b="-16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38200" y="2044702"/>
                <a:ext cx="10972800" cy="13365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𝑜𝑏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h𝑖</m:t>
                          </m:r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𝑠𝑡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𝑜𝑏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num>
                        <m:den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h𝑖𝑠</m:t>
                          </m:r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𝑜𝑏</m:t>
                              </m:r>
                            </m:sub>
                          </m:sSub>
                          <m:r>
                            <a:rPr lang="en-US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𝑠𝑢𝑚</m:t>
                          </m:r>
                        </m:den>
                      </m:f>
                      <m:r>
                        <a:rPr lang="en-US" sz="2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𝑏𝑘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h𝑖</m:t>
                          </m:r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𝑠𝑡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num>
                        <m:den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h𝑖𝑠</m:t>
                          </m:r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𝑏𝑘</m:t>
                              </m:r>
                            </m:sub>
                          </m:sSub>
                          <m:r>
                            <a:rPr lang="en-US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𝑠𝑢𝑚</m:t>
                          </m:r>
                        </m:den>
                      </m:f>
                    </m:oMath>
                  </m:oMathPara>
                </a14:m>
                <a:endParaRPr lang="en-US" sz="2600"/>
              </a:p>
              <a:p>
                <a:endParaRPr lang="en-US" sz="260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44702"/>
                <a:ext cx="10972800" cy="13365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838200" y="3381286"/>
                <a:ext cx="10972800" cy="4924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600"/>
                  <a:t>Nếu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𝑝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𝑏𝑘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&gt;0 →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=100000,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=0.9∗−</m:t>
                    </m:r>
                    <m:func>
                      <m:func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𝑜𝑏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sz="260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381286"/>
                <a:ext cx="10972800" cy="492443"/>
              </a:xfrm>
              <a:prstGeom prst="rect">
                <a:avLst/>
              </a:prstGeom>
              <a:blipFill>
                <a:blip r:embed="rId5"/>
                <a:stretch>
                  <a:fillRect l="-1000" t="-11250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838200" y="3897066"/>
                <a:ext cx="10972800" cy="4924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600"/>
                  <a:t>Nếu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𝑝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𝑜𝑏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&gt;0 →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=100000,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=0.9∗−</m:t>
                    </m:r>
                    <m:func>
                      <m:func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 panose="02040503050406030204" pitchFamily="18" charset="0"/>
                                  </a:rPr>
                                  <m:t>𝑜𝑏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sz="260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97066"/>
                <a:ext cx="10972800" cy="492443"/>
              </a:xfrm>
              <a:prstGeom prst="rect">
                <a:avLst/>
              </a:prstGeom>
              <a:blipFill>
                <a:blip r:embed="rId6"/>
                <a:stretch>
                  <a:fillRect l="-1000" t="-9877" b="-32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762368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575"/>
          </a:xfrm>
        </p:spPr>
        <p:txBody>
          <a:bodyPr/>
          <a:lstStyle/>
          <a:p>
            <a:r>
              <a:rPr lang="en-US"/>
              <a:t>Mapping into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4301"/>
                <a:ext cx="10515600" cy="558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𝑐𝑒𝑛𝑡𝑒𝑟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h𝑖𝑠𝑡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/>
                  <a:t>và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𝑐𝑒𝑛𝑡𝑒𝑟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h𝑖𝑠𝑡</m:t>
                        </m:r>
                      </m:e>
                    </m:d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4301"/>
                <a:ext cx="10515600" cy="558800"/>
              </a:xfrm>
              <a:blipFill>
                <a:blip r:embed="rId3"/>
                <a:stretch>
                  <a:fillRect l="-1217" t="-17391" b="-16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38200" y="2044702"/>
                <a:ext cx="10972800" cy="16927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𝑙𝑎𝑏𝑒𝑙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𝑆𝑜𝑢𝑟𝑐𝑒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𝑛𝑜𝑑𝑒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/>
                  <a:t>,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𝑠𝑖𝑚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600" b="0"/>
              </a:p>
              <a:p>
                <a14:m>
                  <m:oMath xmlns:m="http://schemas.openxmlformats.org/officeDocument/2006/math">
                    <m:r>
                      <a:rPr lang="en-US" sz="260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𝑙𝑎𝑏𝑒𝑙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𝑆𝑖𝑛𝑘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𝑛𝑜𝑑𝑒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/>
                  <a:t>,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𝑠𝑖𝑚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600"/>
              </a:p>
              <a:p>
                <a:endParaRPr lang="en-US" sz="2600"/>
              </a:p>
              <a:p>
                <a:endParaRPr lang="en-US" sz="260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44702"/>
                <a:ext cx="10972800" cy="1692771"/>
              </a:xfrm>
              <a:prstGeom prst="rect">
                <a:avLst/>
              </a:prstGeom>
              <a:blipFill>
                <a:blip r:embed="rId4"/>
                <a:stretch>
                  <a:fillRect t="-2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017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</TotalTime>
  <Words>3782</Words>
  <Application>Microsoft Macintosh PowerPoint</Application>
  <PresentationFormat>Widescreen</PresentationFormat>
  <Paragraphs>439</Paragraphs>
  <Slides>111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111</vt:i4>
      </vt:variant>
    </vt:vector>
  </HeadingPairs>
  <TitlesOfParts>
    <vt:vector size="117" baseType="lpstr">
      <vt:lpstr>Arial</vt:lpstr>
      <vt:lpstr>Calibri</vt:lpstr>
      <vt:lpstr>Calibri Light</vt:lpstr>
      <vt:lpstr>Cambria Math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Image Segmentation Using Minimal Graph Cuts</vt:lpstr>
      <vt:lpstr>Graph cut</vt:lpstr>
      <vt:lpstr>The image seen as a graph</vt:lpstr>
      <vt:lpstr>Weight</vt:lpstr>
      <vt:lpstr>Weight</vt:lpstr>
      <vt:lpstr>PowerPoint Presentation</vt:lpstr>
      <vt:lpstr>PowerPoint Presentation</vt:lpstr>
      <vt:lpstr>Automated Leaf Alignment and Partial Shape Feature Extraction for Plant Leaf Classification</vt:lpstr>
      <vt:lpstr>PowerPoint Presentation</vt:lpstr>
      <vt:lpstr>PowerPoint Presentation</vt:lpstr>
      <vt:lpstr>PowerPoint Presentation</vt:lpstr>
      <vt:lpstr>Time Series Shapelets: A New Primitive for Data Mining</vt:lpstr>
      <vt:lpstr>Timeseries</vt:lpstr>
      <vt:lpstr>Shapelet</vt:lpstr>
      <vt:lpstr>Subsequence &amp; Distance</vt:lpstr>
      <vt:lpstr>Gain Infomation</vt:lpstr>
      <vt:lpstr>OSP – Optimal split point</vt:lpstr>
      <vt:lpstr>Shapelet</vt:lpstr>
      <vt:lpstr>Problem</vt:lpstr>
      <vt:lpstr>Finding Shaplet</vt:lpstr>
      <vt:lpstr>Finding Shaplet</vt:lpstr>
      <vt:lpstr>Finding Shaplet</vt:lpstr>
      <vt:lpstr>Resolving</vt:lpstr>
      <vt:lpstr>Resolving</vt:lpstr>
      <vt:lpstr>Resolving</vt:lpstr>
      <vt:lpstr>My comments</vt:lpstr>
      <vt:lpstr>Method</vt:lpstr>
      <vt:lpstr>1. Gray transformation </vt:lpstr>
      <vt:lpstr>Texture Feature Extraction for Identification of Medicinal Plants and Comparison of Different Classifiers</vt:lpstr>
      <vt:lpstr>First order statistical features</vt:lpstr>
      <vt:lpstr>First order statistical features</vt:lpstr>
      <vt:lpstr>First order statistical features</vt:lpstr>
      <vt:lpstr>Second order statistical features</vt:lpstr>
      <vt:lpstr>PowerPoint Presentation</vt:lpstr>
      <vt:lpstr>PowerPoint Presentation</vt:lpstr>
      <vt:lpstr>1. Quantization</vt:lpstr>
      <vt:lpstr>PowerPoint Presentation</vt:lpstr>
      <vt:lpstr>2. Gray-Level Co-Occurrence Matrix</vt:lpstr>
      <vt:lpstr>2. Gray-Level Co-Occurrence Matrix</vt:lpstr>
      <vt:lpstr>2. Grey Tone Spatial Dependency Matrix(GTSDM)</vt:lpstr>
      <vt:lpstr>PowerPoint Presentation</vt:lpstr>
      <vt:lpstr>3. Symmetry</vt:lpstr>
      <vt:lpstr>Deep Learning for plant identiﬁcation using vein morphological patterns</vt:lpstr>
      <vt:lpstr>1. Pipeline</vt:lpstr>
      <vt:lpstr>2. Central pacth</vt:lpstr>
      <vt:lpstr>2. Central pacth</vt:lpstr>
      <vt:lpstr>3. Vein measures</vt:lpstr>
      <vt:lpstr>3. Vein measures</vt:lpstr>
      <vt:lpstr>3. CNN</vt:lpstr>
      <vt:lpstr>3.1 Datasets</vt:lpstr>
      <vt:lpstr>3.2 Model</vt:lpstr>
      <vt:lpstr>3.3. Training</vt:lpstr>
      <vt:lpstr>Leaf Vein Extraction Based on Gray-scale Morphology </vt:lpstr>
      <vt:lpstr>Method</vt:lpstr>
      <vt:lpstr>1. Gray transformation </vt:lpstr>
      <vt:lpstr>2. Morphological transform</vt:lpstr>
      <vt:lpstr>2. Morphological transform</vt:lpstr>
      <vt:lpstr>2. Morphological transform</vt:lpstr>
      <vt:lpstr>3. Image enhancement: linear intensity</vt:lpstr>
      <vt:lpstr>4. Image Segmentation - binarize</vt:lpstr>
      <vt:lpstr>5. Processing on details</vt:lpstr>
      <vt:lpstr>5. Processing on details</vt:lpstr>
      <vt:lpstr>5. Processing on details</vt:lpstr>
      <vt:lpstr>PowerPoint Presentation</vt:lpstr>
      <vt:lpstr>Comments</vt:lpstr>
      <vt:lpstr>Fast Interactive Superpixel Based Image Region Generation </vt:lpstr>
      <vt:lpstr>PowerPoint Presentation</vt:lpstr>
      <vt:lpstr>PowerPoint Presentation</vt:lpstr>
      <vt:lpstr>PowerPoint Presentation</vt:lpstr>
      <vt:lpstr>PowerPoint Presentation</vt:lpstr>
      <vt:lpstr>SLIC (simple linear Iterative cluster)</vt:lpstr>
      <vt:lpstr>SLIC (simple linear Iterative cluster)</vt:lpstr>
      <vt:lpstr>PowerPoint Presentation</vt:lpstr>
      <vt:lpstr>Mapping into Graph</vt:lpstr>
      <vt:lpstr>Mapping into Graph</vt:lpstr>
      <vt:lpstr>Mapping into Graph</vt:lpstr>
      <vt:lpstr>Mapping into Graph</vt:lpstr>
      <vt:lpstr>PowerPoint Presentation</vt:lpstr>
      <vt:lpstr>PowerPoint Presentation</vt:lpstr>
      <vt:lpstr>Find Symmetry &amp; rotate</vt:lpstr>
      <vt:lpstr>Automated Leaf Alignment </vt:lpstr>
      <vt:lpstr>PowerPoint Presentation</vt:lpstr>
      <vt:lpstr>PowerPoint Presentation</vt:lpstr>
      <vt:lpstr>PowerPoint Presentation</vt:lpstr>
      <vt:lpstr>PowerPoint Presentation</vt:lpstr>
      <vt:lpstr>Mapping into Graph</vt:lpstr>
      <vt:lpstr>PowerPoint Presentation</vt:lpstr>
      <vt:lpstr>Mapping into Graph</vt:lpstr>
      <vt:lpstr>Mapping into Graph</vt:lpstr>
      <vt:lpstr>Mapping into Graph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 Interactive Superpixel Based Image Region Generation</dc:title>
  <dc:creator>Admin</dc:creator>
  <cp:lastModifiedBy>Tuan Hai Vu</cp:lastModifiedBy>
  <cp:revision>39</cp:revision>
  <dcterms:created xsi:type="dcterms:W3CDTF">2019-10-26T01:04:15Z</dcterms:created>
  <dcterms:modified xsi:type="dcterms:W3CDTF">2026-07-22T05:38:31Z</dcterms:modified>
</cp:coreProperties>
</file>