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699" autoAdjust="0"/>
  </p:normalViewPr>
  <p:slideViewPr>
    <p:cSldViewPr snapToGrid="0" snapToObjects="1">
      <p:cViewPr varScale="1">
        <p:scale>
          <a:sx n="67" d="100"/>
          <a:sy n="67" d="100"/>
        </p:scale>
        <p:origin x="129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078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hỏi, giới thiệu bản thân. Nói ngắn gọn: hôm nay không học lý thuyết AI mà học hai việc cụ thể, làm được ngay sau buổi học: (1) sắp xếp công việc với AI theo từng học phần bằng Project, (2) dùng AI đi từ giáo trình đến đề cương và nội dung slide. Có demo trên cả ChatGPT và Claude, và có thời gian thực hành.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nhanh lịch trình. Nhấn mạnh: tiết 1 tạo "chỗ làm việc" (Project), tiết 2 dùng chính chỗ làm việc đó để soạn nội dung. Sản phẩm của tiết 1 sẽ được dùng lại ở tiết 2, nên thầy/cô cần làm phần thực hành tiết 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ba mục tiêu. Mục tiêu 3 quan trọng nhất: AI làm nhanh nhưng có thể sai, nên giảng viên phải biết cách kiểm tra lại. Cuối buổi sẽ quay lại ba mục tiêu này.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với môi trường giáo dục quốc phòng. Dừng lại đủ lâu. Thao tác mẫu ngay trên màn hình: mở phần cài đặt của ChatGPT và Claude, chỉ chỗ tắt chia sẻ dữ liệu huấn luyện. Lưu ý: tên mục có thể hiển thị bằng tiếng Việt nếu giao diện để tiếng Việt. Nhắc: trong buổi này chỉ dùng giáo trình đã xuất bản để demo và thực hành.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tiết 1. Hỏi lớp: "Ai đã từng dùng ChatGPT hoặc Claude? Ai từng phải dán lại giáo trình nhiều lần?" Giơ tay để nắm trình độ lớp.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Bắt đầu từ cái khó chịu mà giảng viên đã gặp: mỗi lần hỏi lại phải dán tài liệu, dặn lại yêu cầu. Dùng hình ảnh "cặp hồ sơ học phần" — quen thuộc với giảng viên — để giải thích Project. Khoảng 3 phút.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thành phần này có ở cả ChatGPT và Claude, chỉ khác tên gọi trên giao diện. ChatGPT gọi là Files và Project settings (instructions); Claude gọi là Project knowledge và Instructions. Khoảng 4 phút.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học thuộc bảng này. Ý chính: cả hai đều dùng được miễn phí để thực hành. ChatGPT miễn phí giới hạn 5 tệp mỗi Project, và mỗi lần chỉ tải lên được tối đa 10 tệp; Claude miễn phí giới hạn 5 Project. Với giáo trình dài, nên gộp hoặc tách tệp theo chương. Khoảng 3 phút. Kiểm tra lại giao diện thực tế trước buổi dạy vì các công cụ cập nhật thường xuyên.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TRỰC TIẾP. Chuẩn bị trước: tài khoản ChatGPT đã đăng nhập, tệp giáo trình mẫu [tên tệp] trên máy. Thao tác chậm, phóng to màn hình (Ctrl +). Ở bước 2, giải thích Project-only: AI không lấy thông tin từ các cuộc trò chuyện khác ngoài Project, giữ nội dung học phần tách biệt. Ở bước 5, đọc to câu trả lời, rồi mở giáo trình đối chiếu số trang trước lớp — đây là thói quen cần hình thành. Nếu Internet chậm, dùng ảnh chụp màn hình dự phòng.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Gửi trước đoạn hướng dẫn này cho học viên (qua Zalo nhóm hoặc tệp văn bản) để họ dán vào, khỏi gõ lại. Giải thích dòng quan trọng nhất: "Chỉ dựa vào tài liệu trong Project" và "ghi rõ số trang" — hai dòng này giúp hạn chế AI tự bịa nội dung. Học viên sửa phần trong ngoặc vuông cho đúng học phần mình dạy.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TRỰC TIẾP. Làm nhanh hơn demo 1 vì học viên đã hiểu khái niệm. Nhấn mạnh: khái niệm giống hệt, chỉ khác vị trí nút. Mục đích so sánh hai công cụ: không có công cụ nào luôn đúng, nên giảng viên cần biết dùng cả hai để kiểm tra chéo — sẽ áp dụng ở tiết 2. Lưu ý: tên mục trên giao diện Claude có thể hơi khác (Files / Project knowledge) tùy phiên bản; kiểm tra lại trước buổi dạy.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Thói quen "Lưu lại kết quả tốt" là cầu nối sang tiết 2: bảng cấu trúc giáo trình sẽ được lưu vào Project để các cuộc trò chuyện sau dùng lại. Nhãn "Save to project" trên ChatGPT có thể hiển thị khác tùy phiên bản.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600"/>
              </a:spcAft>
              <a:buNone/>
            </a:pPr>
            <a:r>
              <a:rPr lang="en-US" dirty="0"/>
              <a:t>Đi một vòng lớp hỗ trợ. Lỗi hay gặp với người mới: chưa đăng nhập; tải tệp ảnh scan quá mờ nên AI đọc sai; dán hướng dẫn vào ô chat thay vì vào phần cài đặt Project; mở chat bên ngoài Project. Ai chưa có tài khoản thì ngồi cùng đồng nghiệp. Hết 10 phút, mời 1 người chia sẻ câu trả lời và kết quả đối chiếu số </a:t>
            </a:r>
            <a:r>
              <a:rPr lang="en-US"/>
              <a:t>trang.</a:t>
            </a:r>
            <a:br>
              <a:rPr lang="en-US"/>
            </a:br>
            <a:br>
              <a:rPr lang="en-US"/>
            </a:br>
            <a:r>
              <a:rPr lang="en-US" sz="1200" b="1">
                <a:solidFill>
                  <a:schemeClr val="accent1"/>
                </a:solidFill>
              </a:rPr>
              <a:t>Xong sớm?</a:t>
            </a:r>
            <a:endParaRPr lang="en-US" sz="1200"/>
          </a:p>
          <a:p>
            <a:pPr marL="0" indent="0">
              <a:spcAft>
                <a:spcPts val="2400"/>
              </a:spcAft>
              <a:buNone/>
            </a:pPr>
            <a:r>
              <a:rPr lang="en-US" sz="1200">
                <a:solidFill>
                  <a:schemeClr val="tx1"/>
                </a:solidFill>
              </a:rPr>
              <a:t>Làm lại trên công cụ còn lại và so sánh hai câu trả lời.</a:t>
            </a:r>
            <a:endParaRPr lang="en-US" sz="1200"/>
          </a:p>
          <a:p>
            <a:pPr marL="0" indent="0">
              <a:spcAft>
                <a:spcPts val="600"/>
              </a:spcAft>
              <a:buNone/>
            </a:pPr>
            <a:r>
              <a:rPr lang="en-US" sz="1200" b="1">
                <a:solidFill>
                  <a:schemeClr val="accent1"/>
                </a:solidFill>
              </a:rPr>
              <a:t>Giữ lại Project này</a:t>
            </a:r>
            <a:endParaRPr lang="en-US" sz="1200"/>
          </a:p>
          <a:p>
            <a:pPr marL="0" indent="0">
              <a:spcAft>
                <a:spcPts val="600"/>
              </a:spcAft>
              <a:buNone/>
            </a:pPr>
            <a:r>
              <a:rPr lang="en-US" sz="1200">
                <a:solidFill>
                  <a:schemeClr val="tx1"/>
                </a:solidFill>
              </a:rPr>
              <a:t>Tiết 2 sẽ dùng tiếp chính Project này.</a:t>
            </a:r>
            <a:endParaRPr lang="en-US" sz="120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tiết. Nhắc học viên mở lại Project đã tạo ở tiết 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8 phút cho slide này và phần giới thiệu. Đây là quy trình giảng viên vẫn làm thủ công khi soạn bài; AI chỉ giúp làm nhanh hơn từng bước. Nhấn mạnh: không yêu cầu AI "soạn hết bài giảng" trong một câu lệnh — kết quả sẽ dài, khó kiểm tra và dễ sai. Chia nhỏ thành 4 bước để kiểm soát được.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slide này trước khi demo để lớp biết trước diễn tiến; có thể quay lại slide này sau demo để tóm tắt. Chuẩn bị dự phòng: chạy thử toàn bộ kịch bản trước buổi dạy và lưu sẵn kết quả, phòng khi mạng chậm.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khoảng 5 phút. Dán câu lệnh vào chat mới trong Project, đặt tên chat "Cấu trúc giáo trình". Trong khi AI trả lời, mở mục lục giáo trình bản giấy/PDF cạnh bên. Đếm cùng lớp: số chương, số bài có khớp không? Nếu AI bỏ sót, yêu cầu bổ sung ngay — đây là ví dụ thật cho phần rà soát sau. Giáo trình dài thì làm theo từng chương.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khoảng 6 phút. Điền các chỗ [__] theo chương trình thực tế của học phần, ví dụ [Chương 1] thành [2] buổi, mỗi buổi [2] tiết. Chỉ ra cho lớp: nếu không nói rõ số buổi, số tiết thì AI sẽ tự đoán — luôn đưa thông số cụ thể. Nếu đề cương chưa ưng, yêu cầu sửa từng phần: "Viết lại mục tiêu buổi 2 theo dạng có thể đo được".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khoảng 6 phút. Chọn buổi 1 trong đề cương vừa soạn. Giới hạn "không quá 15 chữ mỗi ý" giúp slide gọn, phần giải thích chuyển sang lời giảng. Phần "nguồn" là chìa khóa cho bước rà soát. Nếu còn thời gian, demo nhanh việc yêu cầu AI xuất tệp PowerPoint và mở thử — nhưng nhấn mạnh duyệt nội dung trước, định dạng sau.</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ba tiêu chí </a:t>
            </a:r>
            <a:r>
              <a:rPr lang="en-US"/>
              <a:t>trước khi demo rà soát. Đây chính là ba tiêu chí giảng viên vẫn dùng khi thẩm định bài giảng của đồng nghiệp — chỉ khác là giờ có AI hỗ trợ tìm lỗi nhanh. Khoảng 3 phút.</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accent1"/>
                </a:solidFill>
              </a:rPr>
              <a:t>AI giúp tìm nhanh chỗ nghi ngờ; giảng viên là người kết luận.</a:t>
            </a:r>
            <a:endParaRPr lang="en-US" sz="120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RÀ SOÁT CHÉO khoảng 10 phút. Mở Project trên Claude (đã có giáo trình từ tiết 1). Dán đề cương và nội dung slide vừa soạn bằng ChatGPT vào chat, rồi chạy lần lượt ba câu lệnh. Với mỗi lỗi Claude chỉ ra, mở giáo trình kiểm tra trước lớp: lỗi thật hay Claude cũng nhầm? Đây là thông điệp chính: cả hai công cụ đều có thể sai, giảng viên là người kết luận.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nằm trong 10 phút của phần rà soát; tốt nhất dẫn bằng chính lỗi vừa gặp trong demo. Với môn Giáo dục quốc phòng và an ninh, lưu ý đặc biệt hai điểm: thuật ngữ quân sự phải chính xác, và các văn bản luật, nghị định trích dẫn phải còn hiệu lực. AI có thể dùng kiến thức cũ hoặc nhầm số hiệu văn bản.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phút thực hành, 3 phút còn lại cho tổng kết. Thời gian ngắn nên chỉ làm một chương, một buổi. Ai chưa xong có thể hoàn thành sau buổi học. Mời 1–2 người chia sẻ lỗi AI mà họ phát hiện — đây là phần học viên nhớ lâu nhất.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Quay lại ba mục tiêu ở đầu buổi, hỏi lớp: mục tiêu nào đã đạt, mục tiêu nào cần luyện thêm. Gợi ý việc làm tiếp: tuần này hoàn thiện Project cho một học phần và soạn đề cương cho một chương. Dành thời gian còn lại cho hỏi – đáp.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24305" y="1121969"/>
            <a:ext cx="9144000" cy="2387498"/>
          </a:xfrm>
          <a:prstGeom prst="rect">
            <a:avLst/>
          </a:prstGeom>
          <a:noFill/>
          <a:ln/>
        </p:spPr>
        <p:txBody>
          <a:bodyPr wrap="square" rtlCol="0"/>
          <a:lstStyle>
            <a:lvl1pPr marL="0" indent="0" algn="ctr">
              <a:buNone/>
              <a:defRPr lang="en-US" sz="5400" dirty="0">
                <a:solidFill>
                  <a:schemeClr val="tx1"/>
                </a:solidFill>
              </a:defRPr>
            </a:lvl1pPr>
          </a:lstStyle>
          <a:p>
            <a:pPr marL="0" indent="0" algn="ctr">
              <a:buNone/>
            </a:pPr>
            <a:endParaRPr lang="en-US" sz="5400" dirty="0"/>
          </a:p>
        </p:txBody>
      </p:sp>
      <p:sp>
        <p:nvSpPr>
          <p:cNvPr id="3" name="Text 0"/>
          <p:cNvSpPr>
            <a:spLocks noGrp="1"/>
          </p:cNvSpPr>
          <p:nvPr>
            <p:ph type="body" idx="101" hasCustomPrompt="1"/>
          </p:nvPr>
        </p:nvSpPr>
        <p:spPr>
          <a:xfrm>
            <a:off x="1524305" y="3601822"/>
            <a:ext cx="9144000" cy="1655978"/>
          </a:xfrm>
          <a:prstGeom prst="rect">
            <a:avLst/>
          </a:prstGeom>
          <a:noFill/>
          <a:ln/>
        </p:spPr>
        <p:txBody>
          <a:bodyPr wrap="square" rtlCol="0"/>
          <a:lstStyle>
            <a:lvl1pPr marL="0" indent="0" algn="ctr">
              <a:buNone/>
              <a:defRPr lang="en-US" sz="2200" dirty="0">
                <a:solidFill>
                  <a:schemeClr val="tx1"/>
                </a:solidFill>
              </a:defRPr>
            </a:lvl1pPr>
          </a:lstStyle>
          <a:p>
            <a:pPr marL="0" indent="0" algn="ctr">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31190" y="1709928"/>
            <a:ext cx="10515600" cy="2852928"/>
          </a:xfrm>
          <a:prstGeom prst="rect">
            <a:avLst/>
          </a:prstGeom>
          <a:noFill/>
          <a:ln/>
        </p:spPr>
        <p:txBody>
          <a:bodyPr wrap="square" rtlCol="0"/>
          <a:lstStyle>
            <a:lvl1pPr marL="0" indent="0">
              <a:buNone/>
              <a:defRPr lang="en-US" sz="5400" dirty="0">
                <a:solidFill>
                  <a:schemeClr val="tx1"/>
                </a:solidFill>
              </a:defRPr>
            </a:lvl1pPr>
          </a:lstStyle>
          <a:p>
            <a:pPr marL="0" indent="0">
              <a:buNone/>
            </a:pPr>
            <a:endParaRPr lang="en-US" sz="5400" dirty="0"/>
          </a:p>
        </p:txBody>
      </p:sp>
      <p:sp>
        <p:nvSpPr>
          <p:cNvPr id="3" name="Text 0"/>
          <p:cNvSpPr>
            <a:spLocks noGrp="1"/>
          </p:cNvSpPr>
          <p:nvPr>
            <p:ph type="body" idx="101" hasCustomPrompt="1"/>
          </p:nvPr>
        </p:nvSpPr>
        <p:spPr>
          <a:xfrm>
            <a:off x="831190" y="4590288"/>
            <a:ext cx="10515600" cy="1499616"/>
          </a:xfrm>
          <a:prstGeom prst="rect">
            <a:avLst/>
          </a:prstGeom>
          <a:noFill/>
          <a:ln/>
        </p:spPr>
        <p:txBody>
          <a:bodyPr wrap="square" rtlCol="0"/>
          <a:lstStyle>
            <a:lvl1pPr marL="0" indent="0">
              <a:buNone/>
              <a:defRPr lang="en-US" sz="2200" dirty="0">
                <a:solidFill>
                  <a:srgbClr val="595959"/>
                </a:solidFill>
              </a:defRPr>
            </a:lvl1pPr>
          </a:lstStyle>
          <a:p>
            <a:pPr marL="0" indent="0">
              <a:buNone/>
            </a:pP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38505" y="365760"/>
            <a:ext cx="10515600" cy="1325880"/>
          </a:xfrm>
          <a:prstGeom prst="rect">
            <a:avLst/>
          </a:prstGeom>
          <a:noFill/>
          <a:ln/>
        </p:spPr>
        <p:txBody>
          <a:bodyPr wrap="square" rtlCol="0"/>
          <a:lstStyle>
            <a:lvl1pPr marL="0" indent="0">
              <a:buNone/>
              <a:defRPr lang="en-US" sz="4000" dirty="0">
                <a:solidFill>
                  <a:schemeClr val="tx1"/>
                </a:solidFill>
              </a:defRPr>
            </a:lvl1pPr>
          </a:lstStyle>
          <a:p>
            <a:pPr marL="0" indent="0">
              <a:buNone/>
            </a:pPr>
            <a:endParaRPr lang="en-US" sz="4000" dirty="0"/>
          </a:p>
        </p:txBody>
      </p:sp>
      <p:sp>
        <p:nvSpPr>
          <p:cNvPr id="3" name="Text 0"/>
          <p:cNvSpPr>
            <a:spLocks noGrp="1"/>
          </p:cNvSpPr>
          <p:nvPr>
            <p:ph type="body" idx="101" hasCustomPrompt="1"/>
          </p:nvPr>
        </p:nvSpPr>
        <p:spPr>
          <a:xfrm>
            <a:off x="838505" y="1826057"/>
            <a:ext cx="10515600" cy="4352544"/>
          </a:xfrm>
          <a:prstGeom prst="rect">
            <a:avLst/>
          </a:prstGeom>
          <a:noFill/>
          <a:ln/>
        </p:spPr>
        <p:txBody>
          <a:bodyPr wrap="square" rtlCol="0"/>
          <a:lstStyle>
            <a:lvl1pPr marL="0" indent="0">
              <a:buNone/>
              <a:defRPr lang="en-US" sz="2400" dirty="0">
                <a:solidFill>
                  <a:schemeClr val="tx1"/>
                </a:solidFill>
              </a:defRPr>
            </a:lvl1pPr>
          </a:lstStyle>
          <a:p>
            <a:pPr marL="0" indent="0">
              <a:buNone/>
            </a:pPr>
            <a:endParaRPr lang="en-US" sz="24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38505" y="365760"/>
            <a:ext cx="10515600" cy="1325880"/>
          </a:xfrm>
          <a:prstGeom prst="rect">
            <a:avLst/>
          </a:prstGeom>
          <a:noFill/>
          <a:ln/>
        </p:spPr>
        <p:txBody>
          <a:bodyPr wrap="square" rtlCol="0"/>
          <a:lstStyle>
            <a:lvl1pPr marL="0" indent="0">
              <a:buNone/>
              <a:defRPr lang="en-US" sz="4000" dirty="0">
                <a:solidFill>
                  <a:schemeClr val="tx1"/>
                </a:solidFill>
              </a:defRPr>
            </a:lvl1pPr>
          </a:lstStyle>
          <a:p>
            <a:pPr marL="0" indent="0">
              <a:buNone/>
            </a:pPr>
            <a:endParaRPr lang="en-US" sz="4000" dirty="0"/>
          </a:p>
        </p:txBody>
      </p:sp>
      <p:sp>
        <p:nvSpPr>
          <p:cNvPr id="3" name="Text 0"/>
          <p:cNvSpPr>
            <a:spLocks noGrp="1"/>
          </p:cNvSpPr>
          <p:nvPr>
            <p:ph type="body" idx="101" hasCustomPrompt="1"/>
          </p:nvPr>
        </p:nvSpPr>
        <p:spPr>
          <a:xfrm>
            <a:off x="838505" y="1826057"/>
            <a:ext cx="5181905" cy="4352544"/>
          </a:xfrm>
          <a:prstGeom prst="rect">
            <a:avLst/>
          </a:prstGeom>
          <a:noFill/>
          <a:ln/>
        </p:spPr>
        <p:txBody>
          <a:bodyPr wrap="square" rtlCol="0"/>
          <a:lstStyle>
            <a:lvl1pPr marL="0" indent="0">
              <a:buNone/>
              <a:defRPr lang="en-US" sz="2200" dirty="0">
                <a:solidFill>
                  <a:schemeClr val="tx1"/>
                </a:solidFill>
              </a:defRPr>
            </a:lvl1pPr>
          </a:lstStyle>
          <a:p>
            <a:pPr marL="0" indent="0">
              <a:buNone/>
            </a:pPr>
            <a:endParaRPr lang="en-US" sz="2200" dirty="0"/>
          </a:p>
        </p:txBody>
      </p:sp>
      <p:sp>
        <p:nvSpPr>
          <p:cNvPr id="4" name="Text 0"/>
          <p:cNvSpPr>
            <a:spLocks noGrp="1"/>
          </p:cNvSpPr>
          <p:nvPr>
            <p:ph type="body" idx="102" hasCustomPrompt="1"/>
          </p:nvPr>
        </p:nvSpPr>
        <p:spPr>
          <a:xfrm>
            <a:off x="6172200" y="1826057"/>
            <a:ext cx="5181905" cy="4352544"/>
          </a:xfrm>
          <a:prstGeom prst="rect">
            <a:avLst/>
          </a:prstGeom>
          <a:noFill/>
          <a:ln/>
        </p:spPr>
        <p:txBody>
          <a:bodyPr wrap="square" rtlCol="0"/>
          <a:lstStyle>
            <a:lvl1pPr marL="0" indent="0">
              <a:buNone/>
              <a:defRPr lang="en-US" sz="2200" dirty="0">
                <a:solidFill>
                  <a:schemeClr val="tx1"/>
                </a:solidFill>
              </a:defRPr>
            </a:lvl1pPr>
          </a:lstStyle>
          <a:p>
            <a:pPr marL="0" indent="0">
              <a:buNone/>
            </a:pP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38505" y="365760"/>
            <a:ext cx="10515600" cy="1325880"/>
          </a:xfrm>
          <a:prstGeom prst="rect">
            <a:avLst/>
          </a:prstGeom>
          <a:noFill/>
          <a:ln/>
        </p:spPr>
        <p:txBody>
          <a:bodyPr wrap="square" rtlCol="0"/>
          <a:lstStyle>
            <a:lvl1pPr marL="0" indent="0">
              <a:buNone/>
              <a:defRPr lang="en-US" sz="4000" dirty="0">
                <a:solidFill>
                  <a:schemeClr val="tx1"/>
                </a:solidFill>
              </a:defRPr>
            </a:lvl1pPr>
          </a:lstStyle>
          <a:p>
            <a:pPr marL="0" indent="0">
              <a:buNone/>
            </a:pPr>
            <a:endParaRPr lang="en-US" sz="4000" dirty="0"/>
          </a:p>
        </p:txBody>
      </p:sp>
      <p:sp>
        <p:nvSpPr>
          <p:cNvPr id="3" name="Text 0"/>
          <p:cNvSpPr>
            <a:spLocks noGrp="1"/>
          </p:cNvSpPr>
          <p:nvPr>
            <p:ph type="body" idx="101" hasCustomPrompt="1"/>
          </p:nvPr>
        </p:nvSpPr>
        <p:spPr>
          <a:xfrm>
            <a:off x="839419" y="1678838"/>
            <a:ext cx="5158130" cy="822960"/>
          </a:xfrm>
          <a:prstGeom prst="rect">
            <a:avLst/>
          </a:prstGeom>
          <a:noFill/>
          <a:ln/>
        </p:spPr>
        <p:txBody>
          <a:bodyPr wrap="square" rtlCol="0"/>
          <a:lstStyle>
            <a:lvl1pPr marL="0" indent="0">
              <a:buNone/>
              <a:defRPr lang="en-US" sz="2200" b="1" dirty="0">
                <a:solidFill>
                  <a:schemeClr val="tx1"/>
                </a:solidFill>
              </a:defRPr>
            </a:lvl1pPr>
          </a:lstStyle>
          <a:p>
            <a:pPr marL="0" indent="0">
              <a:buNone/>
            </a:pPr>
            <a:endParaRPr lang="en-US" sz="2200" dirty="0"/>
          </a:p>
        </p:txBody>
      </p:sp>
      <p:sp>
        <p:nvSpPr>
          <p:cNvPr id="4" name="Text 0"/>
          <p:cNvSpPr>
            <a:spLocks noGrp="1"/>
          </p:cNvSpPr>
          <p:nvPr>
            <p:ph type="body" idx="102" hasCustomPrompt="1"/>
          </p:nvPr>
        </p:nvSpPr>
        <p:spPr>
          <a:xfrm>
            <a:off x="839419" y="2501798"/>
            <a:ext cx="5158130" cy="3685032"/>
          </a:xfrm>
          <a:prstGeom prst="rect">
            <a:avLst/>
          </a:prstGeom>
          <a:noFill/>
          <a:ln/>
        </p:spPr>
        <p:txBody>
          <a:bodyPr wrap="square" rtlCol="0"/>
          <a:lstStyle>
            <a:lvl1pPr marL="0" indent="0">
              <a:buNone/>
              <a:defRPr lang="en-US" sz="2000" dirty="0">
                <a:solidFill>
                  <a:schemeClr val="tx1"/>
                </a:solidFill>
              </a:defRPr>
            </a:lvl1pPr>
          </a:lstStyle>
          <a:p>
            <a:pPr marL="0" indent="0">
              <a:buNone/>
            </a:pPr>
            <a:endParaRPr lang="en-US" sz="2000" dirty="0"/>
          </a:p>
        </p:txBody>
      </p:sp>
      <p:sp>
        <p:nvSpPr>
          <p:cNvPr id="5" name="Text 0"/>
          <p:cNvSpPr>
            <a:spLocks noGrp="1"/>
          </p:cNvSpPr>
          <p:nvPr>
            <p:ph type="body" idx="103" hasCustomPrompt="1"/>
          </p:nvPr>
        </p:nvSpPr>
        <p:spPr>
          <a:xfrm>
            <a:off x="6172200" y="1678838"/>
            <a:ext cx="5183734" cy="822960"/>
          </a:xfrm>
          <a:prstGeom prst="rect">
            <a:avLst/>
          </a:prstGeom>
          <a:noFill/>
          <a:ln/>
        </p:spPr>
        <p:txBody>
          <a:bodyPr wrap="square" rtlCol="0"/>
          <a:lstStyle>
            <a:lvl1pPr marL="0" indent="0">
              <a:buNone/>
              <a:defRPr lang="en-US" sz="2200" b="1" dirty="0">
                <a:solidFill>
                  <a:schemeClr val="tx1"/>
                </a:solidFill>
              </a:defRPr>
            </a:lvl1pPr>
          </a:lstStyle>
          <a:p>
            <a:pPr marL="0" indent="0">
              <a:buNone/>
            </a:pPr>
            <a:endParaRPr lang="en-US" sz="2200" dirty="0"/>
          </a:p>
        </p:txBody>
      </p:sp>
      <p:sp>
        <p:nvSpPr>
          <p:cNvPr id="6" name="Text 0"/>
          <p:cNvSpPr>
            <a:spLocks noGrp="1"/>
          </p:cNvSpPr>
          <p:nvPr>
            <p:ph type="body" idx="104" hasCustomPrompt="1"/>
          </p:nvPr>
        </p:nvSpPr>
        <p:spPr>
          <a:xfrm>
            <a:off x="6172200" y="2501798"/>
            <a:ext cx="5183734" cy="3685032"/>
          </a:xfrm>
          <a:prstGeom prst="rect">
            <a:avLst/>
          </a:prstGeom>
          <a:noFill/>
          <a:ln/>
        </p:spPr>
        <p:txBody>
          <a:bodyPr wrap="square" rtlCol="0"/>
          <a:lstStyle>
            <a:lvl1pPr marL="0" indent="0">
              <a:buNone/>
              <a:defRPr lang="en-US" sz="2000" dirty="0">
                <a:solidFill>
                  <a:schemeClr val="tx1"/>
                </a:solidFill>
              </a:defRPr>
            </a:lvl1pPr>
          </a:lstStyle>
          <a:p>
            <a:pPr marL="0" indent="0">
              <a:buNone/>
            </a:pPr>
            <a:endParaRPr lang="en-US" sz="20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38505" y="365760"/>
            <a:ext cx="10515600" cy="1325880"/>
          </a:xfrm>
          <a:prstGeom prst="rect">
            <a:avLst/>
          </a:prstGeom>
          <a:noFill/>
          <a:ln/>
        </p:spPr>
        <p:txBody>
          <a:bodyPr wrap="square" rtlCol="0"/>
          <a:lstStyle>
            <a:lvl1pPr marL="0" indent="0">
              <a:buNone/>
              <a:defRPr lang="en-US" sz="4000" dirty="0">
                <a:solidFill>
                  <a:schemeClr val="tx1"/>
                </a:solidFill>
              </a:defRPr>
            </a:lvl1pPr>
          </a:lstStyle>
          <a:p>
            <a:pPr marL="0" indent="0">
              <a:buNone/>
            </a:pPr>
            <a:endParaRPr lang="en-US" sz="40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1524305" y="1121969"/>
            <a:ext cx="9144000" cy="2387498"/>
          </a:xfrm>
          <a:prstGeom prst="rect">
            <a:avLst/>
          </a:prstGeom>
          <a:noFill/>
          <a:ln/>
        </p:spPr>
        <p:txBody>
          <a:bodyPr wrap="square" rtlCol="0" anchor="b"/>
          <a:lstStyle/>
          <a:p>
            <a:pPr marL="0" indent="0" algn="ctr">
              <a:buNone/>
            </a:pPr>
            <a:r>
              <a:rPr lang="en-US" sz="5400" dirty="0">
                <a:solidFill>
                  <a:schemeClr val="tx1"/>
                </a:solidFill>
              </a:rPr>
              <a:t>Ứng dụng AI</a:t>
            </a:r>
            <a:endParaRPr lang="en-US" sz="5400" dirty="0"/>
          </a:p>
          <a:p>
            <a:pPr marL="0" indent="0" algn="ctr">
              <a:buNone/>
            </a:pPr>
            <a:r>
              <a:rPr lang="en-US" sz="5400" dirty="0">
                <a:solidFill>
                  <a:schemeClr val="tx1"/>
                </a:solidFill>
              </a:rPr>
              <a:t>trong </a:t>
            </a:r>
            <a:r>
              <a:rPr lang="en-US" sz="5400">
                <a:solidFill>
                  <a:schemeClr val="tx1"/>
                </a:solidFill>
              </a:rPr>
              <a:t>soạn bài giảng</a:t>
            </a:r>
            <a:endParaRPr lang="en-US" sz="5400" dirty="0"/>
          </a:p>
        </p:txBody>
      </p:sp>
      <p:sp>
        <p:nvSpPr>
          <p:cNvPr id="2" name="TextBox 1">
            <a:extLst>
              <a:ext uri="{FF2B5EF4-FFF2-40B4-BE49-F238E27FC236}">
                <a16:creationId xmlns:a16="http://schemas.microsoft.com/office/drawing/2014/main" id="{B6473858-C28E-E4DB-A74C-C8438B73127E}"/>
              </a:ext>
            </a:extLst>
          </p:cNvPr>
          <p:cNvSpPr txBox="1"/>
          <p:nvPr/>
        </p:nvSpPr>
        <p:spPr>
          <a:xfrm>
            <a:off x="685800" y="4325170"/>
            <a:ext cx="4583430" cy="1815882"/>
          </a:xfrm>
          <a:prstGeom prst="rect">
            <a:avLst/>
          </a:prstGeom>
          <a:noFill/>
        </p:spPr>
        <p:txBody>
          <a:bodyPr wrap="square" rtlCol="0">
            <a:spAutoFit/>
          </a:bodyPr>
          <a:lstStyle/>
          <a:p>
            <a:r>
              <a:rPr lang="en-US" sz="2800"/>
              <a:t>TS. Vũ Tuấn Hải, </a:t>
            </a:r>
          </a:p>
          <a:p>
            <a:r>
              <a:rPr lang="en-US" sz="2800"/>
              <a:t>khoa Công nghệ phần mềm, trường Đại học Công nghệ thông tin, ĐHQG TP. HCM</a:t>
            </a:r>
            <a:endParaRPr lang="vi-VN" sz="2800"/>
          </a:p>
        </p:txBody>
      </p:sp>
      <p:sp>
        <p:nvSpPr>
          <p:cNvPr id="4" name="TextBox 3">
            <a:extLst>
              <a:ext uri="{FF2B5EF4-FFF2-40B4-BE49-F238E27FC236}">
                <a16:creationId xmlns:a16="http://schemas.microsoft.com/office/drawing/2014/main" id="{F7A6E2FC-C993-0108-F923-212086AAB6E4}"/>
              </a:ext>
            </a:extLst>
          </p:cNvPr>
          <p:cNvSpPr txBox="1"/>
          <p:nvPr/>
        </p:nvSpPr>
        <p:spPr>
          <a:xfrm>
            <a:off x="685800" y="6141052"/>
            <a:ext cx="4583430" cy="523220"/>
          </a:xfrm>
          <a:prstGeom prst="rect">
            <a:avLst/>
          </a:prstGeom>
          <a:noFill/>
        </p:spPr>
        <p:txBody>
          <a:bodyPr wrap="square" rtlCol="0">
            <a:spAutoFit/>
          </a:bodyPr>
          <a:lstStyle/>
          <a:p>
            <a:r>
              <a:rPr lang="en-US" sz="2800" b="1"/>
              <a:t>Email</a:t>
            </a:r>
            <a:r>
              <a:rPr lang="en-US" sz="2800"/>
              <a:t>: haivt@uit.edu.vn</a:t>
            </a:r>
            <a:endParaRPr lang="vi-VN"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a:solidFill>
                  <a:schemeClr val="tx1"/>
                </a:solidFill>
              </a:rPr>
              <a:t>Lịch trình</a:t>
            </a:r>
            <a:endParaRPr lang="en-US" sz="4000" dirty="0"/>
          </a:p>
        </p:txBody>
      </p:sp>
      <p:sp>
        <p:nvSpPr>
          <p:cNvPr id="4" name="Text 0"/>
          <p:cNvSpPr>
            <a:spLocks noGrp="1"/>
          </p:cNvSpPr>
          <p:nvPr>
            <p:ph type="body" idx="101" hasCustomPrompt="1"/>
          </p:nvPr>
        </p:nvSpPr>
        <p:spPr>
          <a:xfrm>
            <a:off x="839419" y="1678838"/>
            <a:ext cx="5158130" cy="822960"/>
          </a:xfrm>
          <a:prstGeom prst="rect">
            <a:avLst/>
          </a:prstGeom>
          <a:noFill/>
          <a:ln/>
        </p:spPr>
        <p:txBody>
          <a:bodyPr wrap="square" rtlCol="0" anchor="b"/>
          <a:lstStyle/>
          <a:p>
            <a:pPr marL="0" indent="0">
              <a:buNone/>
            </a:pPr>
            <a:r>
              <a:rPr lang="en-US" sz="2200" b="1" dirty="0">
                <a:solidFill>
                  <a:schemeClr val="tx1"/>
                </a:solidFill>
              </a:rPr>
              <a:t>Tiết 1 (45 phút): Tổ chức công việc với Projects</a:t>
            </a:r>
            <a:endParaRPr lang="en-US" sz="2200" dirty="0"/>
          </a:p>
        </p:txBody>
      </p:sp>
      <p:sp>
        <p:nvSpPr>
          <p:cNvPr id="5" name="Text 0"/>
          <p:cNvSpPr>
            <a:spLocks noGrp="1"/>
          </p:cNvSpPr>
          <p:nvPr>
            <p:ph type="body" idx="102" hasCustomPrompt="1"/>
          </p:nvPr>
        </p:nvSpPr>
        <p:spPr>
          <a:xfrm>
            <a:off x="839419" y="2501798"/>
            <a:ext cx="5158130" cy="3685032"/>
          </a:xfrm>
          <a:prstGeom prst="rect">
            <a:avLst/>
          </a:prstGeom>
          <a:noFill/>
          <a:ln/>
        </p:spPr>
        <p:txBody>
          <a:bodyPr wrap="square" rtlCol="0" anchor="t"/>
          <a:lstStyle/>
          <a:p>
            <a:pPr marL="342900" indent="-342900">
              <a:spcAft>
                <a:spcPts val="600"/>
              </a:spcAft>
              <a:buSzPct val="100000"/>
              <a:buChar char="•"/>
            </a:pPr>
            <a:r>
              <a:rPr lang="en-US"/>
              <a:t>N</a:t>
            </a:r>
            <a:r>
              <a:rPr lang="en-US" sz="2000">
                <a:solidFill>
                  <a:schemeClr val="tx1"/>
                </a:solidFill>
              </a:rPr>
              <a:t>guyên </a:t>
            </a:r>
            <a:r>
              <a:rPr lang="en-US" sz="2000" dirty="0">
                <a:solidFill>
                  <a:schemeClr val="tx1"/>
                </a:solidFill>
              </a:rPr>
              <a:t>tắc an toàn</a:t>
            </a:r>
            <a:endParaRPr lang="en-US" sz="2000" dirty="0"/>
          </a:p>
          <a:p>
            <a:pPr marL="342900" indent="-342900">
              <a:spcAft>
                <a:spcPts val="600"/>
              </a:spcAft>
              <a:buSzPct val="100000"/>
              <a:buChar char="•"/>
            </a:pPr>
            <a:r>
              <a:rPr lang="en-US" sz="2000">
                <a:solidFill>
                  <a:schemeClr val="tx1"/>
                </a:solidFill>
              </a:rPr>
              <a:t>Project </a:t>
            </a:r>
            <a:r>
              <a:rPr lang="en-US" sz="2000" dirty="0">
                <a:solidFill>
                  <a:schemeClr val="tx1"/>
                </a:solidFill>
              </a:rPr>
              <a:t>là gì? ChatGPT và Claude</a:t>
            </a:r>
            <a:endParaRPr lang="en-US" sz="2000" dirty="0"/>
          </a:p>
          <a:p>
            <a:pPr marL="342900" indent="-342900">
              <a:spcAft>
                <a:spcPts val="600"/>
              </a:spcAft>
              <a:buSzPct val="100000"/>
              <a:buChar char="•"/>
            </a:pPr>
            <a:r>
              <a:rPr lang="en-US" sz="2000">
                <a:solidFill>
                  <a:schemeClr val="tx1"/>
                </a:solidFill>
              </a:rPr>
              <a:t>Demo </a:t>
            </a:r>
            <a:r>
              <a:rPr lang="en-US" sz="2000" dirty="0">
                <a:solidFill>
                  <a:schemeClr val="tx1"/>
                </a:solidFill>
              </a:rPr>
              <a:t>Project trên ChatGPT</a:t>
            </a:r>
            <a:endParaRPr lang="en-US" sz="2000" dirty="0"/>
          </a:p>
          <a:p>
            <a:pPr marL="342900" indent="-342900">
              <a:spcAft>
                <a:spcPts val="600"/>
              </a:spcAft>
              <a:buSzPct val="100000"/>
              <a:buChar char="•"/>
            </a:pPr>
            <a:r>
              <a:rPr lang="en-US" sz="2000">
                <a:solidFill>
                  <a:schemeClr val="tx1"/>
                </a:solidFill>
              </a:rPr>
              <a:t>Demo </a:t>
            </a:r>
            <a:r>
              <a:rPr lang="en-US" sz="2000" dirty="0">
                <a:solidFill>
                  <a:schemeClr val="tx1"/>
                </a:solidFill>
              </a:rPr>
              <a:t>Project trên Claude</a:t>
            </a:r>
            <a:endParaRPr lang="en-US" sz="2000" dirty="0"/>
          </a:p>
          <a:p>
            <a:pPr marL="342900" indent="-342900">
              <a:spcAft>
                <a:spcPts val="600"/>
              </a:spcAft>
              <a:buSzPct val="100000"/>
              <a:buChar char="•"/>
            </a:pPr>
            <a:r>
              <a:rPr lang="en-US" sz="2000">
                <a:solidFill>
                  <a:schemeClr val="tx1"/>
                </a:solidFill>
              </a:rPr>
              <a:t>Thực </a:t>
            </a:r>
            <a:r>
              <a:rPr lang="en-US" sz="2000" dirty="0">
                <a:solidFill>
                  <a:schemeClr val="tx1"/>
                </a:solidFill>
              </a:rPr>
              <a:t>hành tạo Project</a:t>
            </a:r>
            <a:endParaRPr lang="en-US" sz="2000" dirty="0"/>
          </a:p>
        </p:txBody>
      </p:sp>
      <p:sp>
        <p:nvSpPr>
          <p:cNvPr id="6" name="Text 0"/>
          <p:cNvSpPr>
            <a:spLocks noGrp="1"/>
          </p:cNvSpPr>
          <p:nvPr>
            <p:ph type="body" idx="103" hasCustomPrompt="1"/>
          </p:nvPr>
        </p:nvSpPr>
        <p:spPr>
          <a:xfrm>
            <a:off x="6172200" y="1678838"/>
            <a:ext cx="5183734" cy="822960"/>
          </a:xfrm>
          <a:prstGeom prst="rect">
            <a:avLst/>
          </a:prstGeom>
          <a:noFill/>
          <a:ln/>
        </p:spPr>
        <p:txBody>
          <a:bodyPr wrap="square" rtlCol="0" anchor="b"/>
          <a:lstStyle/>
          <a:p>
            <a:pPr marL="0" indent="0">
              <a:buNone/>
            </a:pPr>
            <a:r>
              <a:rPr lang="en-US" sz="2200" b="1" dirty="0">
                <a:solidFill>
                  <a:schemeClr val="tx1"/>
                </a:solidFill>
              </a:rPr>
              <a:t>Tiết 2 (45 phút): Xây dựng nội dung từ giáo trình</a:t>
            </a:r>
            <a:endParaRPr lang="en-US" sz="2200" dirty="0"/>
          </a:p>
        </p:txBody>
      </p:sp>
      <p:sp>
        <p:nvSpPr>
          <p:cNvPr id="7" name="Text 0"/>
          <p:cNvSpPr>
            <a:spLocks noGrp="1"/>
          </p:cNvSpPr>
          <p:nvPr>
            <p:ph type="body" idx="104" hasCustomPrompt="1"/>
          </p:nvPr>
        </p:nvSpPr>
        <p:spPr>
          <a:xfrm>
            <a:off x="6172200" y="2501798"/>
            <a:ext cx="5183734" cy="3685032"/>
          </a:xfrm>
          <a:prstGeom prst="rect">
            <a:avLst/>
          </a:prstGeom>
          <a:noFill/>
          <a:ln/>
        </p:spPr>
        <p:txBody>
          <a:bodyPr wrap="square" rtlCol="0" anchor="t"/>
          <a:lstStyle/>
          <a:p>
            <a:pPr marL="342900" indent="-342900">
              <a:spcAft>
                <a:spcPts val="600"/>
              </a:spcAft>
              <a:buSzPct val="100000"/>
              <a:buChar char="•"/>
            </a:pPr>
            <a:r>
              <a:rPr lang="en-US" sz="2000">
                <a:solidFill>
                  <a:schemeClr val="tx1"/>
                </a:solidFill>
              </a:rPr>
              <a:t>Quy </a:t>
            </a:r>
            <a:r>
              <a:rPr lang="en-US" sz="2000" dirty="0">
                <a:solidFill>
                  <a:schemeClr val="tx1"/>
                </a:solidFill>
              </a:rPr>
              <a:t>trình 4 bước</a:t>
            </a:r>
            <a:endParaRPr lang="en-US" sz="2000" dirty="0"/>
          </a:p>
          <a:p>
            <a:pPr marL="342900" indent="-342900">
              <a:spcAft>
                <a:spcPts val="600"/>
              </a:spcAft>
              <a:buSzPct val="100000"/>
              <a:buChar char="•"/>
            </a:pPr>
            <a:r>
              <a:rPr lang="en-US" sz="2000">
                <a:solidFill>
                  <a:schemeClr val="tx1"/>
                </a:solidFill>
              </a:rPr>
              <a:t>Demo </a:t>
            </a:r>
            <a:r>
              <a:rPr lang="en-US" sz="2000" dirty="0">
                <a:solidFill>
                  <a:schemeClr val="tx1"/>
                </a:solidFill>
              </a:rPr>
              <a:t>cấu trúc, đề cương, slide</a:t>
            </a:r>
            <a:endParaRPr lang="en-US" sz="2000" dirty="0"/>
          </a:p>
          <a:p>
            <a:pPr marL="342900" indent="-342900">
              <a:spcAft>
                <a:spcPts val="600"/>
              </a:spcAft>
              <a:buSzPct val="100000"/>
              <a:buChar char="•"/>
            </a:pPr>
            <a:r>
              <a:rPr lang="en-US" sz="2000">
                <a:solidFill>
                  <a:schemeClr val="tx1"/>
                </a:solidFill>
              </a:rPr>
              <a:t>Demo </a:t>
            </a:r>
            <a:r>
              <a:rPr lang="en-US" sz="2000" dirty="0">
                <a:solidFill>
                  <a:schemeClr val="tx1"/>
                </a:solidFill>
              </a:rPr>
              <a:t>rà soát chéo bằng Claude</a:t>
            </a:r>
            <a:endParaRPr lang="en-US" sz="2000" dirty="0"/>
          </a:p>
          <a:p>
            <a:pPr marL="342900" indent="-342900">
              <a:spcAft>
                <a:spcPts val="600"/>
              </a:spcAft>
              <a:buSzPct val="100000"/>
              <a:buChar char="•"/>
            </a:pPr>
            <a:r>
              <a:rPr lang="en-US" sz="2000">
                <a:solidFill>
                  <a:schemeClr val="tx1"/>
                </a:solidFill>
              </a:rPr>
              <a:t>Thực </a:t>
            </a:r>
            <a:r>
              <a:rPr lang="en-US" sz="2000" dirty="0">
                <a:solidFill>
                  <a:schemeClr val="tx1"/>
                </a:solidFill>
              </a:rPr>
              <a:t>hành và tổng kết</a:t>
            </a:r>
            <a:endParaRPr lang="en-US" sz="20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a:solidFill>
                  <a:schemeClr val="tx1"/>
                </a:solidFill>
              </a:rPr>
              <a:t>Mục tiêu</a:t>
            </a:r>
            <a:endParaRPr lang="en-US" sz="4000" dirty="0"/>
          </a:p>
        </p:txBody>
      </p:sp>
      <p:sp>
        <p:nvSpPr>
          <p:cNvPr id="4" name="Text 0"/>
          <p:cNvSpPr>
            <a:spLocks noGrp="1"/>
          </p:cNvSpPr>
          <p:nvPr>
            <p:ph type="body" idx="101" hasCustomPrompt="1"/>
          </p:nvPr>
        </p:nvSpPr>
        <p:spPr>
          <a:xfrm>
            <a:off x="838505" y="1826057"/>
            <a:ext cx="10515600" cy="4352544"/>
          </a:xfrm>
          <a:prstGeom prst="rect">
            <a:avLst/>
          </a:prstGeom>
          <a:noFill/>
          <a:ln/>
        </p:spPr>
        <p:txBody>
          <a:bodyPr wrap="square" rtlCol="0" anchor="t"/>
          <a:lstStyle/>
          <a:p>
            <a:pPr marL="342900" indent="-342900">
              <a:spcAft>
                <a:spcPts val="1800"/>
              </a:spcAft>
              <a:buSzPct val="100000"/>
              <a:buFont typeface="+mj-lt"/>
              <a:buAutoNum type="arabicPeriod"/>
            </a:pPr>
            <a:r>
              <a:rPr lang="en-US" sz="2400" b="1" dirty="0">
                <a:solidFill>
                  <a:schemeClr val="tx1"/>
                </a:solidFill>
              </a:rPr>
              <a:t>Tạo và dùng Project </a:t>
            </a:r>
            <a:r>
              <a:rPr lang="en-US" sz="2400" dirty="0">
                <a:solidFill>
                  <a:schemeClr val="tx1"/>
                </a:solidFill>
              </a:rPr>
              <a:t>để gom giáo trình, lời dặn và các cuộc trao đổi của một học phần vào một chỗ</a:t>
            </a:r>
            <a:endParaRPr lang="en-US" sz="2400" dirty="0"/>
          </a:p>
          <a:p>
            <a:pPr marL="342900" indent="-342900">
              <a:spcAft>
                <a:spcPts val="1800"/>
              </a:spcAft>
              <a:buSzPct val="100000"/>
              <a:buFont typeface="+mj-lt"/>
              <a:buAutoNum type="arabicPeriod"/>
            </a:pPr>
            <a:r>
              <a:rPr lang="en-US" sz="2400" b="1" dirty="0">
                <a:solidFill>
                  <a:schemeClr val="tx1"/>
                </a:solidFill>
              </a:rPr>
              <a:t>Dùng AI dựng nội dung từ giáo trình: </a:t>
            </a:r>
            <a:r>
              <a:rPr lang="en-US" sz="2400" dirty="0">
                <a:solidFill>
                  <a:schemeClr val="tx1"/>
                </a:solidFill>
              </a:rPr>
              <a:t>cấu trúc nội dung, đề cương từng buổi và nội dung slide</a:t>
            </a:r>
            <a:endParaRPr lang="en-US" sz="2400" dirty="0"/>
          </a:p>
          <a:p>
            <a:pPr marL="342900" indent="-342900">
              <a:spcAft>
                <a:spcPts val="1800"/>
              </a:spcAft>
              <a:buSzPct val="100000"/>
              <a:buFont typeface="+mj-lt"/>
              <a:buAutoNum type="arabicPeriod"/>
            </a:pPr>
            <a:r>
              <a:rPr lang="en-US" sz="2400" b="1" dirty="0">
                <a:solidFill>
                  <a:schemeClr val="tx1"/>
                </a:solidFill>
              </a:rPr>
              <a:t>Rà soát kết quả của AI </a:t>
            </a:r>
            <a:r>
              <a:rPr lang="en-US" sz="2400" dirty="0">
                <a:solidFill>
                  <a:schemeClr val="tx1"/>
                </a:solidFill>
              </a:rPr>
              <a:t>về tính liên kết, độ bao phủ và sự phù hợp với tài liệu nguồn</a:t>
            </a:r>
            <a:endParaRPr lang="en-US" sz="24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An toàn </a:t>
            </a:r>
            <a:r>
              <a:rPr lang="en-US" sz="4000">
                <a:solidFill>
                  <a:schemeClr val="tx1"/>
                </a:solidFill>
              </a:rPr>
              <a:t>thông tin</a:t>
            </a:r>
            <a:endParaRPr lang="en-US" sz="4000" dirty="0"/>
          </a:p>
        </p:txBody>
      </p:sp>
      <p:sp>
        <p:nvSpPr>
          <p:cNvPr id="4" name="Text 0"/>
          <p:cNvSpPr>
            <a:spLocks noGrp="1"/>
          </p:cNvSpPr>
          <p:nvPr>
            <p:ph type="body" idx="101" hasCustomPrompt="1"/>
          </p:nvPr>
        </p:nvSpPr>
        <p:spPr>
          <a:xfrm>
            <a:off x="838505" y="1826057"/>
            <a:ext cx="10515600" cy="4352544"/>
          </a:xfrm>
          <a:prstGeom prst="rect">
            <a:avLst/>
          </a:prstGeom>
          <a:noFill/>
          <a:ln/>
        </p:spPr>
        <p:txBody>
          <a:bodyPr wrap="square" rtlCol="0" anchor="t"/>
          <a:lstStyle/>
          <a:p>
            <a:pPr>
              <a:spcAft>
                <a:spcPts val="600"/>
              </a:spcAft>
              <a:buSzPct val="100000"/>
            </a:pPr>
            <a:r>
              <a:rPr lang="en-US" sz="2400" b="1" dirty="0">
                <a:solidFill>
                  <a:schemeClr val="tx1"/>
                </a:solidFill>
              </a:rPr>
              <a:t>Chỉ tải tài liệu đã </a:t>
            </a:r>
            <a:r>
              <a:rPr lang="en-US" sz="2400" b="1">
                <a:solidFill>
                  <a:schemeClr val="tx1"/>
                </a:solidFill>
              </a:rPr>
              <a:t>công khai</a:t>
            </a:r>
            <a:endParaRPr lang="en-US" b="1" dirty="0"/>
          </a:p>
          <a:p>
            <a:pPr>
              <a:spcAft>
                <a:spcPts val="600"/>
              </a:spcAft>
              <a:buSzPct val="100000"/>
            </a:pPr>
            <a:r>
              <a:rPr lang="en-US" sz="2000">
                <a:solidFill>
                  <a:schemeClr val="tx1"/>
                </a:solidFill>
              </a:rPr>
              <a:t>Giáo </a:t>
            </a:r>
            <a:r>
              <a:rPr lang="en-US" sz="2000" dirty="0">
                <a:solidFill>
                  <a:schemeClr val="tx1"/>
                </a:solidFill>
              </a:rPr>
              <a:t>trình đã xuất bản thì được. Không tải văn bản mật, tài liệu nội bộ, danh sách học viên.</a:t>
            </a:r>
            <a:endParaRPr lang="en-US" sz="2400" dirty="0"/>
          </a:p>
          <a:p>
            <a:pPr>
              <a:spcAft>
                <a:spcPts val="600"/>
              </a:spcAft>
              <a:buSzPct val="100000"/>
            </a:pPr>
            <a:r>
              <a:rPr lang="en-US" sz="2400" b="1" dirty="0">
                <a:solidFill>
                  <a:schemeClr val="tx1"/>
                </a:solidFill>
              </a:rPr>
              <a:t>Tắt dùng dữ liệu để </a:t>
            </a:r>
            <a:r>
              <a:rPr lang="en-US" sz="2400" b="1">
                <a:solidFill>
                  <a:schemeClr val="tx1"/>
                </a:solidFill>
              </a:rPr>
              <a:t>huấn luyện</a:t>
            </a:r>
            <a:endParaRPr lang="en-US" b="1" dirty="0"/>
          </a:p>
          <a:p>
            <a:pPr>
              <a:spcAft>
                <a:spcPts val="600"/>
              </a:spcAft>
              <a:buSzPct val="100000"/>
            </a:pPr>
            <a:r>
              <a:rPr lang="en-US" sz="2000">
                <a:solidFill>
                  <a:schemeClr val="tx1"/>
                </a:solidFill>
              </a:rPr>
              <a:t>ChatGPT</a:t>
            </a:r>
            <a:r>
              <a:rPr lang="en-US" sz="2000" dirty="0">
                <a:solidFill>
                  <a:schemeClr val="tx1"/>
                </a:solidFill>
              </a:rPr>
              <a:t>: Settings › Data controls › tắt “Improve the model for everyone”. Claude: Settings › Privacy › tắt “Help improve Claude”.</a:t>
            </a:r>
            <a:endParaRPr lang="en-US" sz="2400" dirty="0"/>
          </a:p>
          <a:p>
            <a:pPr>
              <a:spcAft>
                <a:spcPts val="600"/>
              </a:spcAft>
              <a:buSzPct val="100000"/>
            </a:pPr>
            <a:r>
              <a:rPr lang="en-US" sz="2400" b="1" dirty="0">
                <a:solidFill>
                  <a:schemeClr val="tx1"/>
                </a:solidFill>
              </a:rPr>
              <a:t>Tuân thủ quy định </a:t>
            </a:r>
            <a:r>
              <a:rPr lang="en-US" sz="2400" b="1">
                <a:solidFill>
                  <a:schemeClr val="tx1"/>
                </a:solidFill>
              </a:rPr>
              <a:t>đơn vị</a:t>
            </a:r>
            <a:endParaRPr lang="en-US" b="1" dirty="0"/>
          </a:p>
          <a:p>
            <a:pPr>
              <a:spcAft>
                <a:spcPts val="600"/>
              </a:spcAft>
              <a:buSzPct val="100000"/>
            </a:pPr>
            <a:r>
              <a:rPr lang="en-US" sz="2000">
                <a:solidFill>
                  <a:schemeClr val="tx1"/>
                </a:solidFill>
              </a:rPr>
              <a:t>Về </a:t>
            </a:r>
            <a:r>
              <a:rPr lang="en-US" sz="2000" dirty="0">
                <a:solidFill>
                  <a:schemeClr val="tx1"/>
                </a:solidFill>
              </a:rPr>
              <a:t>sử dụng Internet, thiết bị và công cụ AI trong </a:t>
            </a:r>
            <a:r>
              <a:rPr lang="en-US" sz="2000">
                <a:solidFill>
                  <a:schemeClr val="tx1"/>
                </a:solidFill>
              </a:rPr>
              <a:t>giảng dạy</a:t>
            </a:r>
            <a:endParaRPr lang="en-US" sz="2000"/>
          </a:p>
          <a:p>
            <a:pPr>
              <a:spcAft>
                <a:spcPts val="600"/>
              </a:spcAft>
              <a:buSzPct val="100000"/>
            </a:pPr>
            <a:r>
              <a:rPr lang="en-US" sz="2400" b="1">
                <a:solidFill>
                  <a:schemeClr val="tx1"/>
                </a:solidFill>
              </a:rPr>
              <a:t>Giảng </a:t>
            </a:r>
            <a:r>
              <a:rPr lang="en-US" sz="2400" b="1" dirty="0">
                <a:solidFill>
                  <a:schemeClr val="tx1"/>
                </a:solidFill>
              </a:rPr>
              <a:t>viên chịu trách nhiệm </a:t>
            </a:r>
            <a:r>
              <a:rPr lang="en-US" sz="2400" b="1">
                <a:solidFill>
                  <a:schemeClr val="tx1"/>
                </a:solidFill>
              </a:rPr>
              <a:t>cuối cùng</a:t>
            </a:r>
            <a:endParaRPr lang="en-US" b="1" dirty="0"/>
          </a:p>
          <a:p>
            <a:pPr>
              <a:spcAft>
                <a:spcPts val="600"/>
              </a:spcAft>
              <a:buSzPct val="100000"/>
            </a:pPr>
            <a:r>
              <a:rPr lang="en-US" sz="2000">
                <a:solidFill>
                  <a:schemeClr val="tx1"/>
                </a:solidFill>
              </a:rPr>
              <a:t>AI </a:t>
            </a:r>
            <a:r>
              <a:rPr lang="en-US" sz="2000" dirty="0">
                <a:solidFill>
                  <a:schemeClr val="tx1"/>
                </a:solidFill>
              </a:rPr>
              <a:t>là trợ lý soạn nháp. Mọi nội dung đưa lên lớp đều phải được giảng viên đọc, đối chiếu và duyệt.</a:t>
            </a:r>
            <a:endParaRPr lang="en-US" sz="24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028996"/>
            <a:ext cx="10515600" cy="800007"/>
          </a:xfrm>
          <a:prstGeom prst="rect">
            <a:avLst/>
          </a:prstGeom>
          <a:noFill/>
          <a:ln/>
        </p:spPr>
        <p:txBody>
          <a:bodyPr wrap="square" rtlCol="0" anchor="b"/>
          <a:lstStyle/>
          <a:p>
            <a:pPr marL="0" indent="0" algn="l">
              <a:buNone/>
            </a:pPr>
            <a:r>
              <a:rPr lang="en-US" sz="5400">
                <a:solidFill>
                  <a:schemeClr val="tx1"/>
                </a:solidFill>
              </a:rPr>
              <a:t>Tổ </a:t>
            </a:r>
            <a:r>
              <a:rPr lang="en-US" sz="5400" dirty="0">
                <a:solidFill>
                  <a:schemeClr val="tx1"/>
                </a:solidFill>
              </a:rPr>
              <a:t>chức công việc với Projects</a:t>
            </a:r>
            <a:endParaRPr lang="en-US" sz="54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Vì sao cần Project?</a:t>
            </a:r>
            <a:endParaRPr lang="en-US" sz="4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38505" y="1828800"/>
          <a:ext cx="10515600" cy="2932176"/>
        </p:xfrm>
        <a:graphic>
          <a:graphicData uri="http://schemas.openxmlformats.org/drawingml/2006/table">
            <a:tbl>
              <a:tblPr/>
              <a:tblGrid>
                <a:gridCol w="19202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0">
                <a:tc>
                  <a:txBody>
                    <a:bodyPr/>
                    <a:lstStyle/>
                    <a:p>
                      <a:pPr marL="0" indent="0">
                        <a:buNone/>
                      </a:pPr>
                      <a:r>
                        <a:rPr lang="en-US" sz="2200" b="1" dirty="0">
                          <a:solidFill>
                            <a:srgbClr val="FFFFFF"/>
                          </a:solidFill>
                        </a:rPr>
                        <a:t>Việc</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buNone/>
                      </a:pPr>
                      <a:r>
                        <a:rPr lang="en-US" sz="2200" b="1" dirty="0">
                          <a:solidFill>
                            <a:srgbClr val="FFFFFF"/>
                          </a:solidFill>
                        </a:rPr>
                        <a:t>Chat thông thường</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buNone/>
                      </a:pPr>
                      <a:r>
                        <a:rPr lang="en-US" sz="2200" b="1" dirty="0">
                          <a:solidFill>
                            <a:srgbClr val="FFFFFF"/>
                          </a:solidFill>
                        </a:rPr>
                        <a:t>Trong một Project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0">
                <a:tc>
                  <a:txBody>
                    <a:bodyPr/>
                    <a:lstStyle/>
                    <a:p>
                      <a:pPr marL="0" indent="0">
                        <a:buNone/>
                      </a:pPr>
                      <a:r>
                        <a:rPr lang="en-US" sz="2200" b="1" dirty="0">
                          <a:solidFill>
                            <a:srgbClr val="000000"/>
                          </a:solidFill>
                        </a:rPr>
                        <a:t>Tài liệu</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Mỗi lần chat mới lại phải tải giáo trình lên</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Tải một lần, mọi cuộc trò chuyện đều dùng được</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1"/>
                  </a:ext>
                </a:extLst>
              </a:tr>
              <a:tr h="0">
                <a:tc>
                  <a:txBody>
                    <a:bodyPr/>
                    <a:lstStyle/>
                    <a:p>
                      <a:pPr marL="0" indent="0">
                        <a:buNone/>
                      </a:pPr>
                      <a:r>
                        <a:rPr lang="en-US" sz="2200" b="1" dirty="0">
                          <a:solidFill>
                            <a:srgbClr val="000000"/>
                          </a:solidFill>
                        </a:rPr>
                        <a:t>Lời dặn</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Phải dặn lại: “trả lời tiếng Việt, bám sát giáo trình…”</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Viết một lần, tự áp dụng cho mọi cuộc trò chuyện</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0">
                <a:tc>
                  <a:txBody>
                    <a:bodyPr/>
                    <a:lstStyle/>
                    <a:p>
                      <a:pPr marL="0" indent="0">
                        <a:buNone/>
                      </a:pPr>
                      <a:r>
                        <a:rPr lang="en-US" sz="2200" b="1" dirty="0">
                          <a:solidFill>
                            <a:srgbClr val="000000"/>
                          </a:solidFill>
                        </a:rPr>
                        <a:t>Lịch sử</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Các cuộc trao đổi nằm lẫn lộn, khó tìm lại</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Mọi việc của một học phần nằm chung một chỗ</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3"/>
                  </a:ext>
                </a:extLst>
              </a:tr>
            </a:tbl>
          </a:graphicData>
        </a:graphic>
      </p:graphicFrame>
      <p:sp>
        <p:nvSpPr>
          <p:cNvPr id="5" name="Text 1"/>
          <p:cNvSpPr txBox="1"/>
          <p:nvPr/>
        </p:nvSpPr>
        <p:spPr>
          <a:xfrm>
            <a:off x="838505" y="4892040"/>
            <a:ext cx="10515600" cy="1005840"/>
          </a:xfrm>
          <a:prstGeom prst="rect">
            <a:avLst/>
          </a:prstGeom>
          <a:noFill/>
          <a:ln/>
        </p:spPr>
        <p:txBody>
          <a:bodyPr wrap="square" rtlCol="0" anchor="t"/>
          <a:lstStyle/>
          <a:p>
            <a:pPr marL="0" indent="0">
              <a:buNone/>
            </a:pPr>
            <a:r>
              <a:rPr lang="en-US" sz="2000" b="1" dirty="0">
                <a:solidFill>
                  <a:schemeClr val="tx1"/>
                </a:solidFill>
              </a:rPr>
              <a:t>Hình dung: </a:t>
            </a:r>
            <a:r>
              <a:rPr lang="en-US" sz="2000" dirty="0">
                <a:solidFill>
                  <a:schemeClr val="tx1"/>
                </a:solidFill>
              </a:rPr>
              <a:t>Project giống một cặp hồ sơ học phần: tài liệu bên trong, tờ dặn dò dán ngoài bìa, các bản nháp làm việc xếp gọn trong cặp.</a:t>
            </a:r>
            <a:endParaRPr lang="en-US" sz="20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Một Project gồm 3 thành phần</a:t>
            </a:r>
            <a:endParaRPr lang="en-US" sz="4000" dirty="0"/>
          </a:p>
        </p:txBody>
      </p:sp>
      <p:sp>
        <p:nvSpPr>
          <p:cNvPr id="4" name="Text 0"/>
          <p:cNvSpPr>
            <a:spLocks noGrp="1"/>
          </p:cNvSpPr>
          <p:nvPr>
            <p:ph type="body" idx="101" hasCustomPrompt="1"/>
          </p:nvPr>
        </p:nvSpPr>
        <p:spPr>
          <a:xfrm>
            <a:off x="838505" y="1826057"/>
            <a:ext cx="10515600" cy="4352544"/>
          </a:xfrm>
          <a:prstGeom prst="rect">
            <a:avLst/>
          </a:prstGeom>
          <a:noFill/>
          <a:ln/>
        </p:spPr>
        <p:txBody>
          <a:bodyPr wrap="square" rtlCol="0" anchor="t"/>
          <a:lstStyle/>
          <a:p>
            <a:pPr marL="342900" indent="-342900">
              <a:spcAft>
                <a:spcPts val="1400"/>
              </a:spcAft>
              <a:buSzPct val="100000"/>
              <a:buChar char="•"/>
            </a:pPr>
            <a:r>
              <a:rPr lang="en-US" sz="2400" b="1" dirty="0">
                <a:solidFill>
                  <a:schemeClr val="tx1"/>
                </a:solidFill>
              </a:rPr>
              <a:t>Tài liệu: </a:t>
            </a:r>
            <a:r>
              <a:rPr lang="en-US" sz="2400" dirty="0">
                <a:solidFill>
                  <a:schemeClr val="tx1"/>
                </a:solidFill>
              </a:rPr>
              <a:t>giáo trình, đề cương, tài liệu tham khảo. AI đọc và dựa vào đó để trả lời.</a:t>
            </a:r>
            <a:endParaRPr lang="en-US" sz="2400" dirty="0"/>
          </a:p>
          <a:p>
            <a:pPr marL="342900" indent="-342900">
              <a:spcAft>
                <a:spcPts val="1400"/>
              </a:spcAft>
              <a:buSzPct val="100000"/>
              <a:buChar char="•"/>
            </a:pPr>
            <a:r>
              <a:rPr lang="en-US" sz="2400" b="1" dirty="0">
                <a:solidFill>
                  <a:schemeClr val="tx1"/>
                </a:solidFill>
              </a:rPr>
              <a:t>Hướng dẫn: </a:t>
            </a:r>
            <a:r>
              <a:rPr lang="en-US" sz="2400" dirty="0">
                <a:solidFill>
                  <a:schemeClr val="tx1"/>
                </a:solidFill>
              </a:rPr>
              <a:t>lời dặn cố định về vai trò, văn phong, phạm vi. Tự áp dụng cho mọi cuộc trò chuyện trong Project.</a:t>
            </a:r>
            <a:endParaRPr lang="en-US" sz="2400" dirty="0"/>
          </a:p>
          <a:p>
            <a:pPr marL="342900" indent="-342900">
              <a:spcAft>
                <a:spcPts val="3000"/>
              </a:spcAft>
              <a:buSzPct val="100000"/>
              <a:buChar char="•"/>
            </a:pPr>
            <a:r>
              <a:rPr lang="en-US" sz="2400" b="1" dirty="0">
                <a:solidFill>
                  <a:schemeClr val="tx1"/>
                </a:solidFill>
              </a:rPr>
              <a:t>Cuộc trò chuyện: </a:t>
            </a:r>
            <a:r>
              <a:rPr lang="en-US" sz="2400" dirty="0">
                <a:solidFill>
                  <a:schemeClr val="tx1"/>
                </a:solidFill>
              </a:rPr>
              <a:t>mỗi việc một cuộc (tóm tắt chương, soạn đề cương, ra câu hỏi…), tất cả nằm chung một chỗ.</a:t>
            </a:r>
            <a:endParaRPr lang="en-US" sz="2400" dirty="0"/>
          </a:p>
          <a:p>
            <a:pPr marL="0" indent="0">
              <a:spcAft>
                <a:spcPts val="600"/>
              </a:spcAft>
              <a:buNone/>
            </a:pPr>
            <a:r>
              <a:rPr lang="en-US" sz="2000" b="1" dirty="0">
                <a:solidFill>
                  <a:schemeClr val="tx1"/>
                </a:solidFill>
              </a:rPr>
              <a:t>Ví dụ tên Project: </a:t>
            </a:r>
            <a:r>
              <a:rPr lang="en-US" sz="2000" dirty="0">
                <a:solidFill>
                  <a:schemeClr val="tx1"/>
                </a:solidFill>
              </a:rPr>
              <a:t>“[Mã học phần] – Giáo dục quốc phòng và an ninh – Học phần [__]”</a:t>
            </a:r>
            <a:endParaRPr lang="en-US" sz="24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Projects trên ChatGPT và Claude</a:t>
            </a:r>
            <a:endParaRPr lang="en-US" sz="4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38505" y="1828800"/>
          <a:ext cx="10515600" cy="3413760"/>
        </p:xfrm>
        <a:graphic>
          <a:graphicData uri="http://schemas.openxmlformats.org/drawingml/2006/table">
            <a:tbl>
              <a:tblPr/>
              <a:tblGrid>
                <a:gridCol w="28346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0">
                <a:tc>
                  <a:txBody>
                    <a:bodyPr/>
                    <a:lstStyle/>
                    <a:p>
                      <a:pPr marL="0" indent="0">
                        <a:buNone/>
                      </a:pP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buNone/>
                      </a:pPr>
                      <a:r>
                        <a:rPr lang="en-US" sz="2200" b="1" dirty="0">
                          <a:solidFill>
                            <a:srgbClr val="FFFFFF"/>
                          </a:solidFill>
                        </a:rPr>
                        <a:t>ChatGPT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buNone/>
                      </a:pPr>
                      <a:r>
                        <a:rPr lang="en-US" sz="2200" b="1" dirty="0">
                          <a:solidFill>
                            <a:srgbClr val="FFFFFF"/>
                          </a:solidFill>
                        </a:rPr>
                        <a:t>Claude</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0">
                <a:tc>
                  <a:txBody>
                    <a:bodyPr/>
                    <a:lstStyle/>
                    <a:p>
                      <a:pPr marL="0" indent="0">
                        <a:buNone/>
                      </a:pPr>
                      <a:r>
                        <a:rPr lang="en-US" sz="2200" b="1" dirty="0">
                          <a:solidFill>
                            <a:srgbClr val="000000"/>
                          </a:solidFill>
                        </a:rPr>
                        <a:t>Gói miễn phí</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Có; không giới hạn số Project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Có; tối đa 5 Project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1"/>
                  </a:ext>
                </a:extLst>
              </a:tr>
              <a:tr h="0">
                <a:tc>
                  <a:txBody>
                    <a:bodyPr/>
                    <a:lstStyle/>
                    <a:p>
                      <a:pPr marL="0" indent="0">
                        <a:buNone/>
                      </a:pPr>
                      <a:r>
                        <a:rPr lang="en-US" sz="2200" b="1" dirty="0">
                          <a:solidFill>
                            <a:srgbClr val="000000"/>
                          </a:solidFill>
                        </a:rPr>
                        <a:t>Số tệp mỗi Project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Miễn phí 5 · Go/Plus 25 · Pro/Edu 40</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Tính theo dung lượng; gói trả phí được mở rộng</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0">
                <a:tc>
                  <a:txBody>
                    <a:bodyPr/>
                    <a:lstStyle/>
                    <a:p>
                      <a:pPr marL="0" indent="0">
                        <a:buNone/>
                      </a:pPr>
                      <a:r>
                        <a:rPr lang="en-US" sz="2200" b="1" dirty="0">
                          <a:solidFill>
                            <a:srgbClr val="000000"/>
                          </a:solidFill>
                        </a:rPr>
                        <a:t>Chỗ viết hướng dẫn</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 › Project settings</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Ô Instructions trong trang Project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3"/>
                  </a:ext>
                </a:extLst>
              </a:tr>
              <a:tr h="0">
                <a:tc>
                  <a:txBody>
                    <a:bodyPr/>
                    <a:lstStyle/>
                    <a:p>
                      <a:pPr marL="0" indent="0">
                        <a:buNone/>
                      </a:pPr>
                      <a:r>
                        <a:rPr lang="en-US" sz="2200" b="1" dirty="0">
                          <a:solidFill>
                            <a:srgbClr val="000000"/>
                          </a:solidFill>
                        </a:rPr>
                        <a:t>Chia sẻ cho đồng nghiệp</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Có, kể cả gói miễn phí (tối đa 5 người)</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Chỉ gói Team và Enterprise</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Demo 1: tạo Project </a:t>
            </a:r>
            <a:r>
              <a:rPr lang="en-US" sz="4000">
                <a:solidFill>
                  <a:schemeClr val="tx1"/>
                </a:solidFill>
              </a:rPr>
              <a:t>trên ChatGPT</a:t>
            </a:r>
            <a:endParaRPr lang="en-US" sz="4000" dirty="0"/>
          </a:p>
        </p:txBody>
      </p:sp>
      <p:sp>
        <p:nvSpPr>
          <p:cNvPr id="4" name="Text 0"/>
          <p:cNvSpPr>
            <a:spLocks noGrp="1"/>
          </p:cNvSpPr>
          <p:nvPr>
            <p:ph type="body" idx="101" hasCustomPrompt="1"/>
          </p:nvPr>
        </p:nvSpPr>
        <p:spPr>
          <a:xfrm>
            <a:off x="838505" y="1826057"/>
            <a:ext cx="5181905" cy="4352544"/>
          </a:xfrm>
          <a:prstGeom prst="rect">
            <a:avLst/>
          </a:prstGeom>
          <a:noFill/>
          <a:ln/>
        </p:spPr>
        <p:txBody>
          <a:bodyPr wrap="square" rtlCol="0" anchor="t"/>
          <a:lstStyle/>
          <a:p>
            <a:pPr marL="342900" indent="-342900">
              <a:spcAft>
                <a:spcPts val="600"/>
              </a:spcAft>
              <a:buSzPct val="100000"/>
              <a:buFont typeface="+mj-lt"/>
              <a:buAutoNum type="arabicPeriod"/>
            </a:pPr>
            <a:r>
              <a:rPr lang="en-US" sz="2200" dirty="0">
                <a:solidFill>
                  <a:schemeClr val="tx1"/>
                </a:solidFill>
              </a:rPr>
              <a:t>Thanh bên trái › </a:t>
            </a:r>
            <a:r>
              <a:rPr lang="en-US" sz="2200" b="1" dirty="0">
                <a:solidFill>
                  <a:schemeClr val="tx1"/>
                </a:solidFill>
              </a:rPr>
              <a:t>New project</a:t>
            </a:r>
            <a:r>
              <a:rPr lang="en-US" sz="2200" dirty="0">
                <a:solidFill>
                  <a:schemeClr val="tx1"/>
                </a:solidFill>
              </a:rPr>
              <a:t> › đặt tên, chọn biểu tượng, màu</a:t>
            </a:r>
            <a:endParaRPr lang="en-US" sz="2200" dirty="0"/>
          </a:p>
          <a:p>
            <a:pPr marL="342900" indent="-342900">
              <a:spcAft>
                <a:spcPts val="600"/>
              </a:spcAft>
              <a:buSzPct val="100000"/>
              <a:buFont typeface="+mj-lt"/>
              <a:buAutoNum type="arabicPeriod"/>
            </a:pPr>
            <a:r>
              <a:rPr lang="en-US" sz="2200" dirty="0">
                <a:solidFill>
                  <a:schemeClr val="tx1"/>
                </a:solidFill>
              </a:rPr>
              <a:t>Chọn bộ nhớ </a:t>
            </a:r>
            <a:r>
              <a:rPr lang="en-US" sz="2200" b="1" dirty="0">
                <a:solidFill>
                  <a:schemeClr val="tx1"/>
                </a:solidFill>
              </a:rPr>
              <a:t>Project-only</a:t>
            </a:r>
            <a:r>
              <a:rPr lang="en-US" sz="2200" dirty="0">
                <a:solidFill>
                  <a:schemeClr val="tx1"/>
                </a:solidFill>
              </a:rPr>
              <a:t>: chỉ dùng thông tin trong Project</a:t>
            </a:r>
            <a:endParaRPr lang="en-US" sz="2200" dirty="0"/>
          </a:p>
          <a:p>
            <a:pPr marL="342900" indent="-342900">
              <a:spcAft>
                <a:spcPts val="600"/>
              </a:spcAft>
              <a:buSzPct val="100000"/>
              <a:buFont typeface="+mj-lt"/>
              <a:buAutoNum type="arabicPeriod"/>
            </a:pPr>
            <a:r>
              <a:rPr lang="en-US" sz="2200" dirty="0">
                <a:solidFill>
                  <a:schemeClr val="tx1"/>
                </a:solidFill>
              </a:rPr>
              <a:t>Thêm tệp: tải giáo trình (PDF, Word…) vào Project</a:t>
            </a:r>
            <a:endParaRPr lang="en-US" sz="2200" dirty="0"/>
          </a:p>
          <a:p>
            <a:pPr marL="342900" indent="-342900">
              <a:spcAft>
                <a:spcPts val="600"/>
              </a:spcAft>
              <a:buSzPct val="100000"/>
              <a:buFont typeface="+mj-lt"/>
              <a:buAutoNum type="arabicPeriod"/>
            </a:pPr>
            <a:r>
              <a:rPr lang="en-US" sz="2200" dirty="0">
                <a:solidFill>
                  <a:schemeClr val="tx1"/>
                </a:solidFill>
              </a:rPr>
              <a:t>••• › </a:t>
            </a:r>
            <a:r>
              <a:rPr lang="en-US" sz="2200" b="1" dirty="0">
                <a:solidFill>
                  <a:schemeClr val="tx1"/>
                </a:solidFill>
              </a:rPr>
              <a:t>Project settings</a:t>
            </a:r>
            <a:r>
              <a:rPr lang="en-US" sz="2200" dirty="0">
                <a:solidFill>
                  <a:schemeClr val="tx1"/>
                </a:solidFill>
              </a:rPr>
              <a:t> › dán hướng dẫn (slide sau)</a:t>
            </a:r>
            <a:endParaRPr lang="en-US" sz="2200" dirty="0"/>
          </a:p>
          <a:p>
            <a:pPr marL="342900" indent="-342900">
              <a:spcAft>
                <a:spcPts val="600"/>
              </a:spcAft>
              <a:buSzPct val="100000"/>
              <a:buFont typeface="+mj-lt"/>
              <a:buAutoNum type="arabicPeriod"/>
            </a:pPr>
            <a:r>
              <a:rPr lang="en-US" sz="2200" dirty="0">
                <a:solidFill>
                  <a:schemeClr val="tx1"/>
                </a:solidFill>
              </a:rPr>
              <a:t>Mở cuộc trò chuyện mới ngay trong Project và hỏi thử</a:t>
            </a:r>
            <a:endParaRPr lang="en-US" sz="2200" dirty="0"/>
          </a:p>
          <a:p>
            <a:pPr marL="342900" indent="-342900">
              <a:spcAft>
                <a:spcPts val="600"/>
              </a:spcAft>
              <a:buSzPct val="100000"/>
              <a:buFont typeface="+mj-lt"/>
              <a:buAutoNum type="arabicPeriod"/>
            </a:pPr>
            <a:r>
              <a:rPr lang="en-US" sz="2200" dirty="0">
                <a:solidFill>
                  <a:schemeClr val="tx1"/>
                </a:solidFill>
              </a:rPr>
              <a:t>Chat cũ: kéo thả vào Project, hoặc ••• › </a:t>
            </a:r>
            <a:r>
              <a:rPr lang="en-US" sz="2200" b="1" dirty="0">
                <a:solidFill>
                  <a:schemeClr val="tx1"/>
                </a:solidFill>
              </a:rPr>
              <a:t>Move to project</a:t>
            </a:r>
            <a:endParaRPr lang="en-US" sz="2200" dirty="0"/>
          </a:p>
        </p:txBody>
      </p:sp>
      <p:sp>
        <p:nvSpPr>
          <p:cNvPr id="5" name="Text 0"/>
          <p:cNvSpPr>
            <a:spLocks noGrp="1"/>
          </p:cNvSpPr>
          <p:nvPr>
            <p:ph type="body" idx="102" hasCustomPrompt="1"/>
          </p:nvPr>
        </p:nvSpPr>
        <p:spPr>
          <a:xfrm>
            <a:off x="6172200" y="1826057"/>
            <a:ext cx="5181905" cy="4352544"/>
          </a:xfrm>
          <a:prstGeom prst="rect">
            <a:avLst/>
          </a:prstGeom>
          <a:noFill/>
          <a:ln/>
        </p:spPr>
        <p:txBody>
          <a:bodyPr wrap="square" rtlCol="0" anchor="t"/>
          <a:lstStyle/>
          <a:p>
            <a:pPr marL="0" indent="0">
              <a:spcAft>
                <a:spcPts val="600"/>
              </a:spcAft>
              <a:buNone/>
            </a:pPr>
            <a:r>
              <a:rPr lang="en-US" sz="2200" b="1" dirty="0">
                <a:solidFill>
                  <a:schemeClr val="accent1"/>
                </a:solidFill>
              </a:rPr>
              <a:t>Câu hỏi thử</a:t>
            </a:r>
            <a:endParaRPr lang="en-US" sz="2200" dirty="0"/>
          </a:p>
          <a:p>
            <a:pPr marL="0" indent="0">
              <a:spcAft>
                <a:spcPts val="2400"/>
              </a:spcAft>
              <a:buNone/>
            </a:pPr>
            <a:r>
              <a:rPr lang="en-US" sz="2200" dirty="0">
                <a:solidFill>
                  <a:schemeClr val="tx1"/>
                </a:solidFill>
              </a:rPr>
              <a:t>“Tóm tắt chương 1 của giáo trình thành 5 ý chính. Ghi rõ số trang của từng ý.”</a:t>
            </a:r>
            <a:endParaRPr lang="en-US" sz="2200" dirty="0"/>
          </a:p>
          <a:p>
            <a:pPr marL="0" indent="0">
              <a:spcAft>
                <a:spcPts val="600"/>
              </a:spcAft>
              <a:buNone/>
            </a:pPr>
            <a:r>
              <a:rPr lang="en-US" sz="2200" b="1" dirty="0">
                <a:solidFill>
                  <a:schemeClr val="accent1"/>
                </a:solidFill>
              </a:rPr>
              <a:t>Kiểm tra</a:t>
            </a:r>
            <a:endParaRPr lang="en-US" sz="2200" dirty="0"/>
          </a:p>
          <a:p>
            <a:pPr marL="0" indent="0">
              <a:spcAft>
                <a:spcPts val="600"/>
              </a:spcAft>
              <a:buNone/>
            </a:pPr>
            <a:r>
              <a:rPr lang="en-US" sz="2200" dirty="0">
                <a:solidFill>
                  <a:schemeClr val="tx1"/>
                </a:solidFill>
              </a:rPr>
              <a:t>Mở giáo trình, đối chiếu 2–3 số trang bất kỳ.</a:t>
            </a: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Hướng dẫn mẫu cho Project</a:t>
            </a:r>
            <a:endParaRPr lang="en-US" sz="4000" dirty="0"/>
          </a:p>
        </p:txBody>
      </p:sp>
      <p:sp>
        <p:nvSpPr>
          <p:cNvPr id="4" name="Text 0"/>
          <p:cNvSpPr>
            <a:spLocks noGrp="1"/>
          </p:cNvSpPr>
          <p:nvPr>
            <p:ph type="body" idx="101" hasCustomPrompt="1"/>
          </p:nvPr>
        </p:nvSpPr>
        <p:spPr>
          <a:xfrm>
            <a:off x="838505" y="1826057"/>
            <a:ext cx="5181905" cy="4352544"/>
          </a:xfrm>
          <a:prstGeom prst="rect">
            <a:avLst/>
          </a:prstGeom>
          <a:noFill/>
          <a:ln/>
        </p:spPr>
        <p:txBody>
          <a:bodyPr wrap="square" rtlCol="0" anchor="t"/>
          <a:lstStyle/>
          <a:p>
            <a:pPr marL="0" indent="0">
              <a:spcAft>
                <a:spcPts val="600"/>
              </a:spcAft>
              <a:buNone/>
            </a:pPr>
            <a:r>
              <a:rPr lang="en-US" sz="2000" dirty="0">
                <a:solidFill>
                  <a:schemeClr val="tx1"/>
                </a:solidFill>
              </a:rPr>
              <a:t>Bạn là trợ lý soạn giảng cho giảng viên môn Giáo dục quốc phòng và an ninh.</a:t>
            </a:r>
            <a:endParaRPr lang="en-US" sz="2200" dirty="0"/>
          </a:p>
          <a:p>
            <a:pPr marL="342900" indent="-342900">
              <a:spcAft>
                <a:spcPts val="600"/>
              </a:spcAft>
              <a:buSzPct val="100000"/>
              <a:buChar char="•"/>
            </a:pPr>
            <a:r>
              <a:rPr lang="en-US" sz="2000" dirty="0">
                <a:solidFill>
                  <a:schemeClr val="tx1"/>
                </a:solidFill>
              </a:rPr>
              <a:t>Luôn trả lời bằng tiếng Việt, văn phong chuẩn mực, ngắn gọn.</a:t>
            </a:r>
            <a:endParaRPr lang="en-US" sz="2200" dirty="0"/>
          </a:p>
          <a:p>
            <a:pPr marL="342900" indent="-342900">
              <a:spcAft>
                <a:spcPts val="600"/>
              </a:spcAft>
              <a:buSzPct val="100000"/>
              <a:buChar char="•"/>
            </a:pPr>
            <a:r>
              <a:rPr lang="en-US" sz="2000" dirty="0">
                <a:solidFill>
                  <a:schemeClr val="tx1"/>
                </a:solidFill>
              </a:rPr>
              <a:t>Chỉ dựa vào tài liệu trong Project. Nếu tài liệu không có, trả lời: “Không có trong tài liệu”.</a:t>
            </a:r>
            <a:endParaRPr lang="en-US" sz="2200" dirty="0"/>
          </a:p>
          <a:p>
            <a:pPr marL="342900" indent="-342900">
              <a:spcAft>
                <a:spcPts val="600"/>
              </a:spcAft>
              <a:buSzPct val="100000"/>
              <a:buChar char="•"/>
            </a:pPr>
            <a:r>
              <a:rPr lang="en-US" sz="2000" dirty="0">
                <a:solidFill>
                  <a:schemeClr val="tx1"/>
                </a:solidFill>
              </a:rPr>
              <a:t>Khi nêu nội dung, ghi rõ chương, mục và số trang.</a:t>
            </a:r>
            <a:endParaRPr lang="en-US" sz="2200" dirty="0"/>
          </a:p>
          <a:p>
            <a:pPr marL="342900" indent="-342900">
              <a:spcAft>
                <a:spcPts val="600"/>
              </a:spcAft>
              <a:buSzPct val="100000"/>
              <a:buChar char="•"/>
            </a:pPr>
            <a:r>
              <a:rPr lang="en-US" sz="2000" dirty="0">
                <a:solidFill>
                  <a:schemeClr val="tx1"/>
                </a:solidFill>
              </a:rPr>
              <a:t>Người học: sinh viên [đại học/cao đẳng], học phần [__].</a:t>
            </a:r>
            <a:endParaRPr lang="en-US" sz="2200" dirty="0"/>
          </a:p>
          <a:p>
            <a:pPr marL="342900" indent="-342900">
              <a:spcAft>
                <a:spcPts val="600"/>
              </a:spcAft>
              <a:buSzPct val="100000"/>
              <a:buChar char="•"/>
            </a:pPr>
            <a:r>
              <a:rPr lang="en-US" sz="2000" dirty="0">
                <a:solidFill>
                  <a:schemeClr val="tx1"/>
                </a:solidFill>
              </a:rPr>
              <a:t>Nếu yêu cầu chưa rõ, hỏi lại trước khi làm.</a:t>
            </a:r>
            <a:endParaRPr lang="en-US" sz="2200" dirty="0"/>
          </a:p>
        </p:txBody>
      </p:sp>
      <p:sp>
        <p:nvSpPr>
          <p:cNvPr id="5" name="Text 0"/>
          <p:cNvSpPr>
            <a:spLocks noGrp="1"/>
          </p:cNvSpPr>
          <p:nvPr>
            <p:ph type="body" idx="102" hasCustomPrompt="1"/>
          </p:nvPr>
        </p:nvSpPr>
        <p:spPr>
          <a:xfrm>
            <a:off x="6172200" y="1826057"/>
            <a:ext cx="5181905" cy="4352544"/>
          </a:xfrm>
          <a:prstGeom prst="rect">
            <a:avLst/>
          </a:prstGeom>
          <a:noFill/>
          <a:ln/>
        </p:spPr>
        <p:txBody>
          <a:bodyPr wrap="square" rtlCol="0" anchor="t"/>
          <a:lstStyle/>
          <a:p>
            <a:pPr marL="0" indent="0">
              <a:spcAft>
                <a:spcPts val="600"/>
              </a:spcAft>
              <a:buNone/>
            </a:pPr>
            <a:r>
              <a:rPr lang="en-US" sz="2200" b="1" dirty="0">
                <a:solidFill>
                  <a:schemeClr val="accent1"/>
                </a:solidFill>
              </a:rPr>
              <a:t>Công thức 4 phần</a:t>
            </a:r>
            <a:endParaRPr lang="en-US" sz="2200" dirty="0"/>
          </a:p>
          <a:p>
            <a:pPr marL="342900" indent="-342900">
              <a:spcAft>
                <a:spcPts val="600"/>
              </a:spcAft>
              <a:buSzPct val="100000"/>
              <a:buChar char="•"/>
            </a:pPr>
            <a:r>
              <a:rPr lang="en-US" sz="2200" b="1" dirty="0">
                <a:solidFill>
                  <a:schemeClr val="tx1"/>
                </a:solidFill>
              </a:rPr>
              <a:t>Vai trò: </a:t>
            </a:r>
            <a:r>
              <a:rPr lang="en-US" sz="2200" dirty="0">
                <a:solidFill>
                  <a:schemeClr val="tx1"/>
                </a:solidFill>
              </a:rPr>
              <a:t>AI đóng vai gì</a:t>
            </a:r>
            <a:endParaRPr lang="en-US" sz="2200" dirty="0"/>
          </a:p>
          <a:p>
            <a:pPr marL="342900" indent="-342900">
              <a:spcAft>
                <a:spcPts val="600"/>
              </a:spcAft>
              <a:buSzPct val="100000"/>
              <a:buChar char="•"/>
            </a:pPr>
            <a:r>
              <a:rPr lang="en-US" sz="2200" b="1" dirty="0">
                <a:solidFill>
                  <a:schemeClr val="tx1"/>
                </a:solidFill>
              </a:rPr>
              <a:t>Văn phong: </a:t>
            </a:r>
            <a:r>
              <a:rPr lang="en-US" sz="2200" dirty="0">
                <a:solidFill>
                  <a:schemeClr val="tx1"/>
                </a:solidFill>
              </a:rPr>
              <a:t>viết thế nào</a:t>
            </a:r>
            <a:endParaRPr lang="en-US" sz="2200" dirty="0"/>
          </a:p>
          <a:p>
            <a:pPr marL="342900" indent="-342900">
              <a:spcAft>
                <a:spcPts val="600"/>
              </a:spcAft>
              <a:buSzPct val="100000"/>
              <a:buChar char="•"/>
            </a:pPr>
            <a:r>
              <a:rPr lang="en-US" sz="2200" b="1" dirty="0">
                <a:solidFill>
                  <a:schemeClr val="tx1"/>
                </a:solidFill>
              </a:rPr>
              <a:t>Phạm vi: </a:t>
            </a:r>
            <a:r>
              <a:rPr lang="en-US" sz="2200" dirty="0">
                <a:solidFill>
                  <a:schemeClr val="tx1"/>
                </a:solidFill>
              </a:rPr>
              <a:t>dựa vào nguồn nào</a:t>
            </a:r>
            <a:endParaRPr lang="en-US" sz="2200" dirty="0"/>
          </a:p>
          <a:p>
            <a:pPr marL="342900" indent="-342900">
              <a:spcAft>
                <a:spcPts val="2400"/>
              </a:spcAft>
              <a:buSzPct val="100000"/>
              <a:buChar char="•"/>
            </a:pPr>
            <a:r>
              <a:rPr lang="en-US" sz="2200" b="1" dirty="0">
                <a:solidFill>
                  <a:schemeClr val="tx1"/>
                </a:solidFill>
              </a:rPr>
              <a:t>Đối tượng: </a:t>
            </a:r>
            <a:r>
              <a:rPr lang="en-US" sz="2200" dirty="0">
                <a:solidFill>
                  <a:schemeClr val="tx1"/>
                </a:solidFill>
              </a:rPr>
              <a:t>dạy cho ai</a:t>
            </a:r>
            <a:endParaRPr lang="en-US" sz="2200" dirty="0"/>
          </a:p>
          <a:p>
            <a:pPr marL="0" indent="0">
              <a:spcAft>
                <a:spcPts val="600"/>
              </a:spcAft>
              <a:buNone/>
            </a:pPr>
            <a:r>
              <a:rPr lang="en-US" sz="1800" i="1" dirty="0">
                <a:solidFill>
                  <a:schemeClr val="tx1"/>
                </a:solidFill>
              </a:rPr>
              <a:t>Dùng được cho cả ChatGPT và Claude.</a:t>
            </a: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Demo 2: cùng việc đó </a:t>
            </a:r>
            <a:r>
              <a:rPr lang="en-US" sz="4000">
                <a:solidFill>
                  <a:schemeClr val="tx1"/>
                </a:solidFill>
              </a:rPr>
              <a:t>trên Claude</a:t>
            </a:r>
            <a:endParaRPr lang="en-US" sz="4000" dirty="0"/>
          </a:p>
        </p:txBody>
      </p:sp>
      <p:sp>
        <p:nvSpPr>
          <p:cNvPr id="4" name="Text 0"/>
          <p:cNvSpPr>
            <a:spLocks noGrp="1"/>
          </p:cNvSpPr>
          <p:nvPr>
            <p:ph type="body" idx="101" hasCustomPrompt="1"/>
          </p:nvPr>
        </p:nvSpPr>
        <p:spPr>
          <a:xfrm>
            <a:off x="838505" y="1826057"/>
            <a:ext cx="5181905" cy="4352544"/>
          </a:xfrm>
          <a:prstGeom prst="rect">
            <a:avLst/>
          </a:prstGeom>
          <a:noFill/>
          <a:ln/>
        </p:spPr>
        <p:txBody>
          <a:bodyPr wrap="square" rtlCol="0" anchor="t"/>
          <a:lstStyle/>
          <a:p>
            <a:pPr marL="342900" indent="-342900">
              <a:spcAft>
                <a:spcPts val="600"/>
              </a:spcAft>
              <a:buSzPct val="100000"/>
              <a:buFont typeface="+mj-lt"/>
              <a:buAutoNum type="arabicPeriod"/>
            </a:pPr>
            <a:r>
              <a:rPr lang="en-US" sz="2200" dirty="0">
                <a:solidFill>
                  <a:schemeClr val="tx1"/>
                </a:solidFill>
              </a:rPr>
              <a:t>Thanh bên trái › </a:t>
            </a:r>
            <a:r>
              <a:rPr lang="en-US" sz="2200" b="1" dirty="0">
                <a:solidFill>
                  <a:schemeClr val="tx1"/>
                </a:solidFill>
              </a:rPr>
              <a:t>Projects</a:t>
            </a:r>
            <a:r>
              <a:rPr lang="en-US" sz="2200" dirty="0">
                <a:solidFill>
                  <a:schemeClr val="tx1"/>
                </a:solidFill>
              </a:rPr>
              <a:t> › </a:t>
            </a:r>
            <a:r>
              <a:rPr lang="en-US" sz="2200" b="1" dirty="0">
                <a:solidFill>
                  <a:schemeClr val="tx1"/>
                </a:solidFill>
              </a:rPr>
              <a:t>New project</a:t>
            </a:r>
            <a:r>
              <a:rPr lang="en-US" sz="2200" dirty="0">
                <a:solidFill>
                  <a:schemeClr val="tx1"/>
                </a:solidFill>
              </a:rPr>
              <a:t> › đặt tên và mô tả</a:t>
            </a:r>
            <a:endParaRPr lang="en-US" sz="2200" dirty="0"/>
          </a:p>
          <a:p>
            <a:pPr marL="342900" indent="-342900">
              <a:spcAft>
                <a:spcPts val="600"/>
              </a:spcAft>
              <a:buSzPct val="100000"/>
              <a:buFont typeface="+mj-lt"/>
              <a:buAutoNum type="arabicPeriod"/>
            </a:pPr>
            <a:r>
              <a:rPr lang="en-US" sz="2200" dirty="0">
                <a:solidFill>
                  <a:schemeClr val="tx1"/>
                </a:solidFill>
              </a:rPr>
              <a:t>Ô </a:t>
            </a:r>
            <a:r>
              <a:rPr lang="en-US" sz="2200" b="1" dirty="0">
                <a:solidFill>
                  <a:schemeClr val="tx1"/>
                </a:solidFill>
              </a:rPr>
              <a:t>Instructions</a:t>
            </a:r>
            <a:r>
              <a:rPr lang="en-US" sz="2200" dirty="0">
                <a:solidFill>
                  <a:schemeClr val="tx1"/>
                </a:solidFill>
              </a:rPr>
              <a:t>: dán cùng hướng dẫn mẫu</a:t>
            </a:r>
            <a:endParaRPr lang="en-US" sz="2200" dirty="0"/>
          </a:p>
          <a:p>
            <a:pPr marL="342900" indent="-342900">
              <a:spcAft>
                <a:spcPts val="600"/>
              </a:spcAft>
              <a:buSzPct val="100000"/>
              <a:buFont typeface="+mj-lt"/>
              <a:buAutoNum type="arabicPeriod"/>
            </a:pPr>
            <a:r>
              <a:rPr lang="en-US" sz="2200" dirty="0">
                <a:solidFill>
                  <a:schemeClr val="tx1"/>
                </a:solidFill>
              </a:rPr>
              <a:t>Mục </a:t>
            </a:r>
            <a:r>
              <a:rPr lang="en-US" sz="2200" b="1" dirty="0">
                <a:solidFill>
                  <a:schemeClr val="tx1"/>
                </a:solidFill>
              </a:rPr>
              <a:t>Files</a:t>
            </a:r>
            <a:r>
              <a:rPr lang="en-US" sz="2200" dirty="0">
                <a:solidFill>
                  <a:schemeClr val="tx1"/>
                </a:solidFill>
              </a:rPr>
              <a:t> (Project knowledge): tải giáo trình lên</a:t>
            </a:r>
            <a:endParaRPr lang="en-US" sz="2200" dirty="0"/>
          </a:p>
          <a:p>
            <a:pPr marL="342900" indent="-342900">
              <a:spcAft>
                <a:spcPts val="2000"/>
              </a:spcAft>
              <a:buSzPct val="100000"/>
              <a:buFont typeface="+mj-lt"/>
              <a:buAutoNum type="arabicPeriod"/>
            </a:pPr>
            <a:r>
              <a:rPr lang="en-US" sz="2200" dirty="0">
                <a:solidFill>
                  <a:schemeClr val="tx1"/>
                </a:solidFill>
              </a:rPr>
              <a:t>Mở chat mới trong Project, hỏi cùng câu hỏi thử như </a:t>
            </a:r>
            <a:r>
              <a:rPr lang="en-US" sz="2200">
                <a:solidFill>
                  <a:schemeClr val="tx1"/>
                </a:solidFill>
              </a:rPr>
              <a:t>ở ChatGPT</a:t>
            </a:r>
            <a:endParaRPr lang="en-US" sz="2200" dirty="0"/>
          </a:p>
        </p:txBody>
      </p:sp>
      <p:sp>
        <p:nvSpPr>
          <p:cNvPr id="5" name="Text 0"/>
          <p:cNvSpPr>
            <a:spLocks noGrp="1"/>
          </p:cNvSpPr>
          <p:nvPr>
            <p:ph type="body" idx="102" hasCustomPrompt="1"/>
          </p:nvPr>
        </p:nvSpPr>
        <p:spPr>
          <a:xfrm>
            <a:off x="6172200" y="1826057"/>
            <a:ext cx="5181905" cy="4352544"/>
          </a:xfrm>
          <a:prstGeom prst="rect">
            <a:avLst/>
          </a:prstGeom>
          <a:noFill/>
          <a:ln/>
        </p:spPr>
        <p:txBody>
          <a:bodyPr wrap="square" rtlCol="0" anchor="t"/>
          <a:lstStyle/>
          <a:p>
            <a:pPr marL="0" indent="0">
              <a:spcAft>
                <a:spcPts val="600"/>
              </a:spcAft>
              <a:buNone/>
            </a:pPr>
            <a:r>
              <a:rPr lang="en-US" sz="2200" b="1" dirty="0">
                <a:solidFill>
                  <a:schemeClr val="accent1"/>
                </a:solidFill>
              </a:rPr>
              <a:t>Lưu ý khi dùng Claude</a:t>
            </a:r>
            <a:endParaRPr lang="en-US" sz="2200" dirty="0"/>
          </a:p>
          <a:p>
            <a:pPr marL="342900" indent="-342900">
              <a:spcAft>
                <a:spcPts val="600"/>
              </a:spcAft>
              <a:buSzPct val="100000"/>
              <a:buChar char="•"/>
            </a:pPr>
            <a:r>
              <a:rPr lang="en-US" sz="2200" dirty="0">
                <a:solidFill>
                  <a:schemeClr val="tx1"/>
                </a:solidFill>
              </a:rPr>
              <a:t>Gói miễn phí: tối đa 5 Project.</a:t>
            </a:r>
            <a:endParaRPr lang="en-US" sz="2200" dirty="0"/>
          </a:p>
          <a:p>
            <a:pPr marL="342900" indent="-342900">
              <a:spcAft>
                <a:spcPts val="600"/>
              </a:spcAft>
              <a:buSzPct val="100000"/>
              <a:buChar char="•"/>
            </a:pPr>
            <a:r>
              <a:rPr lang="en-US" sz="2200" dirty="0">
                <a:solidFill>
                  <a:schemeClr val="tx1"/>
                </a:solidFill>
              </a:rPr>
              <a:t>Chia sẻ Project cho đồng nghiệp: chỉ gói Team, Enterprise.</a:t>
            </a:r>
            <a:endParaRPr lang="en-US" sz="2200" dirty="0"/>
          </a:p>
          <a:p>
            <a:pPr marL="342900" indent="-342900">
              <a:spcAft>
                <a:spcPts val="600"/>
              </a:spcAft>
              <a:buSzPct val="100000"/>
              <a:buChar char="•"/>
            </a:pPr>
            <a:r>
              <a:rPr lang="en-US" sz="2200" dirty="0">
                <a:solidFill>
                  <a:schemeClr val="tx1"/>
                </a:solidFill>
              </a:rPr>
              <a:t>Kết quả muốn mọi cuộc trò chuyện dùng lại → thêm vào Project knowledge.</a:t>
            </a: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4 thói quen để dùng Project lâu dài</a:t>
            </a:r>
            <a:endParaRPr lang="en-US" sz="4000" dirty="0"/>
          </a:p>
        </p:txBody>
      </p:sp>
      <p:sp>
        <p:nvSpPr>
          <p:cNvPr id="4" name="Text 0"/>
          <p:cNvSpPr>
            <a:spLocks noGrp="1"/>
          </p:cNvSpPr>
          <p:nvPr>
            <p:ph type="body" idx="101" hasCustomPrompt="1"/>
          </p:nvPr>
        </p:nvSpPr>
        <p:spPr>
          <a:xfrm>
            <a:off x="838505" y="1826057"/>
            <a:ext cx="10515600" cy="4352544"/>
          </a:xfrm>
          <a:prstGeom prst="rect">
            <a:avLst/>
          </a:prstGeom>
          <a:noFill/>
          <a:ln/>
        </p:spPr>
        <p:txBody>
          <a:bodyPr wrap="square" rtlCol="0" anchor="t"/>
          <a:lstStyle/>
          <a:p>
            <a:pPr marL="342900" indent="-342900">
              <a:spcAft>
                <a:spcPts val="1400"/>
              </a:spcAft>
              <a:buSzPct val="100000"/>
              <a:buChar char="•"/>
            </a:pPr>
            <a:r>
              <a:rPr lang="en-US" sz="2400" b="1" dirty="0">
                <a:solidFill>
                  <a:schemeClr val="tx1"/>
                </a:solidFill>
              </a:rPr>
              <a:t>Một học phần, một Project: </a:t>
            </a:r>
            <a:r>
              <a:rPr lang="en-US" sz="2400" dirty="0">
                <a:solidFill>
                  <a:schemeClr val="tx1"/>
                </a:solidFill>
              </a:rPr>
              <a:t>không gom nhiều học phần vào chung để AI không lẫn tài liệu.</a:t>
            </a:r>
            <a:endParaRPr lang="en-US" sz="2400" dirty="0"/>
          </a:p>
          <a:p>
            <a:pPr marL="342900" indent="-342900">
              <a:spcAft>
                <a:spcPts val="1400"/>
              </a:spcAft>
              <a:buSzPct val="100000"/>
              <a:buChar char="•"/>
            </a:pPr>
            <a:r>
              <a:rPr lang="en-US" sz="2400" b="1" dirty="0">
                <a:solidFill>
                  <a:schemeClr val="tx1"/>
                </a:solidFill>
              </a:rPr>
              <a:t>Đặt tên tệp rõ ràng: </a:t>
            </a:r>
            <a:r>
              <a:rPr lang="en-US" sz="2400" dirty="0">
                <a:solidFill>
                  <a:schemeClr val="tx1"/>
                </a:solidFill>
              </a:rPr>
              <a:t>“GiaoTrinh_HP1_Chuong1-4.pdf” thay vì “scan001.pdf”, để AI và mình dễ dẫn nguồn.</a:t>
            </a:r>
            <a:endParaRPr lang="en-US" sz="2400" dirty="0"/>
          </a:p>
          <a:p>
            <a:pPr marL="342900" indent="-342900">
              <a:spcAft>
                <a:spcPts val="1400"/>
              </a:spcAft>
              <a:buSzPct val="100000"/>
              <a:buChar char="•"/>
            </a:pPr>
            <a:r>
              <a:rPr lang="en-US" sz="2400" b="1" dirty="0">
                <a:solidFill>
                  <a:schemeClr val="tx1"/>
                </a:solidFill>
              </a:rPr>
              <a:t>Lưu lại kết quả tốt: </a:t>
            </a:r>
            <a:r>
              <a:rPr lang="en-US" sz="2400" dirty="0">
                <a:solidFill>
                  <a:schemeClr val="tx1"/>
                </a:solidFill>
              </a:rPr>
              <a:t>ChatGPT: menu của câu trả lời › Save to project. Claude: thêm vào Project knowledge.</a:t>
            </a:r>
            <a:endParaRPr lang="en-US" sz="2400" dirty="0"/>
          </a:p>
          <a:p>
            <a:pPr marL="342900" indent="-342900">
              <a:spcAft>
                <a:spcPts val="1400"/>
              </a:spcAft>
              <a:buSzPct val="100000"/>
              <a:buChar char="•"/>
            </a:pPr>
            <a:r>
              <a:rPr lang="en-US" sz="2400" b="1" dirty="0">
                <a:solidFill>
                  <a:schemeClr val="tx1"/>
                </a:solidFill>
              </a:rPr>
              <a:t>Mỗi việc một cuộc trò chuyện: </a:t>
            </a:r>
            <a:r>
              <a:rPr lang="en-US" sz="2400" dirty="0">
                <a:solidFill>
                  <a:schemeClr val="tx1"/>
                </a:solidFill>
              </a:rPr>
              <a:t>đặt tên theo việc, ví dụ “Đề cương buổi 3”, “Câu hỏi chương 2”.</a:t>
            </a:r>
            <a:endParaRPr lang="en-US" sz="24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a:solidFill>
                  <a:schemeClr val="tx1"/>
                </a:solidFill>
              </a:rPr>
              <a:t>Thực hành: </a:t>
            </a:r>
            <a:r>
              <a:rPr lang="en-US" sz="4000" dirty="0">
                <a:solidFill>
                  <a:schemeClr val="tx1"/>
                </a:solidFill>
              </a:rPr>
              <a:t>tạo Project cho học phần đang dạy</a:t>
            </a:r>
            <a:endParaRPr lang="en-US" sz="4000" dirty="0"/>
          </a:p>
        </p:txBody>
      </p:sp>
      <p:sp>
        <p:nvSpPr>
          <p:cNvPr id="4" name="Text 0"/>
          <p:cNvSpPr>
            <a:spLocks noGrp="1"/>
          </p:cNvSpPr>
          <p:nvPr>
            <p:ph type="body" idx="101" hasCustomPrompt="1"/>
          </p:nvPr>
        </p:nvSpPr>
        <p:spPr>
          <a:xfrm>
            <a:off x="838505" y="1826057"/>
            <a:ext cx="5181905" cy="4352544"/>
          </a:xfrm>
          <a:prstGeom prst="rect">
            <a:avLst/>
          </a:prstGeom>
          <a:noFill/>
          <a:ln/>
        </p:spPr>
        <p:txBody>
          <a:bodyPr wrap="square" rtlCol="0" anchor="t"/>
          <a:lstStyle/>
          <a:p>
            <a:pPr marL="342900" indent="-342900">
              <a:spcAft>
                <a:spcPts val="600"/>
              </a:spcAft>
              <a:buSzPct val="100000"/>
              <a:buFont typeface="+mj-lt"/>
              <a:buAutoNum type="arabicPeriod"/>
            </a:pPr>
            <a:r>
              <a:rPr lang="en-US" sz="2200" dirty="0">
                <a:solidFill>
                  <a:schemeClr val="tx1"/>
                </a:solidFill>
              </a:rPr>
              <a:t>Tạo Project, đặt tên theo học phần</a:t>
            </a:r>
            <a:endParaRPr lang="en-US" sz="2200" dirty="0"/>
          </a:p>
          <a:p>
            <a:pPr marL="342900" indent="-342900">
              <a:spcAft>
                <a:spcPts val="600"/>
              </a:spcAft>
              <a:buSzPct val="100000"/>
              <a:buFont typeface="+mj-lt"/>
              <a:buAutoNum type="arabicPeriod"/>
            </a:pPr>
            <a:r>
              <a:rPr lang="en-US" sz="2200" dirty="0">
                <a:solidFill>
                  <a:schemeClr val="tx1"/>
                </a:solidFill>
              </a:rPr>
              <a:t>Tải lên 1–2 tệp giáo trình (bản đã công khai)</a:t>
            </a:r>
            <a:endParaRPr lang="en-US" sz="2200" dirty="0"/>
          </a:p>
          <a:p>
            <a:pPr marL="342900" indent="-342900">
              <a:spcAft>
                <a:spcPts val="600"/>
              </a:spcAft>
              <a:buSzPct val="100000"/>
              <a:buFont typeface="+mj-lt"/>
              <a:buAutoNum type="arabicPeriod"/>
            </a:pPr>
            <a:r>
              <a:rPr lang="en-US" sz="2200" dirty="0">
                <a:solidFill>
                  <a:schemeClr val="tx1"/>
                </a:solidFill>
              </a:rPr>
              <a:t>Dán hướng dẫn mẫu, sửa phần trong [ ] cho đúng học phần</a:t>
            </a:r>
            <a:endParaRPr lang="en-US" sz="2200" dirty="0"/>
          </a:p>
          <a:p>
            <a:pPr marL="342900" indent="-342900">
              <a:spcAft>
                <a:spcPts val="600"/>
              </a:spcAft>
              <a:buSzPct val="100000"/>
              <a:buFont typeface="+mj-lt"/>
              <a:buAutoNum type="arabicPeriod"/>
            </a:pPr>
            <a:r>
              <a:rPr lang="en-US" sz="2200">
                <a:solidFill>
                  <a:schemeClr val="tx1"/>
                </a:solidFill>
              </a:rPr>
              <a:t>Hỏi thử</a:t>
            </a:r>
            <a:r>
              <a:rPr lang="en-US" dirty="0"/>
              <a:t>:</a:t>
            </a:r>
            <a:r>
              <a:rPr lang="en-US" sz="2200">
                <a:solidFill>
                  <a:schemeClr val="tx1"/>
                </a:solidFill>
              </a:rPr>
              <a:t> </a:t>
            </a:r>
            <a:r>
              <a:rPr lang="en-US" sz="2200" dirty="0">
                <a:solidFill>
                  <a:schemeClr val="tx1"/>
                </a:solidFill>
              </a:rPr>
              <a:t>đối </a:t>
            </a:r>
            <a:r>
              <a:rPr lang="en-US" sz="2200">
                <a:solidFill>
                  <a:schemeClr val="tx1"/>
                </a:solidFill>
              </a:rPr>
              <a:t>chiếu số </a:t>
            </a:r>
            <a:r>
              <a:rPr lang="en-US" sz="2200" dirty="0">
                <a:solidFill>
                  <a:schemeClr val="tx1"/>
                </a:solidFill>
              </a:rPr>
              <a:t>trang với giáo trình</a:t>
            </a: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1190" y="1709928"/>
            <a:ext cx="8201974" cy="2852928"/>
          </a:xfrm>
          <a:prstGeom prst="rect">
            <a:avLst/>
          </a:prstGeom>
          <a:noFill/>
          <a:ln/>
        </p:spPr>
        <p:txBody>
          <a:bodyPr wrap="square" rtlCol="0" anchor="b"/>
          <a:lstStyle/>
          <a:p>
            <a:pPr marL="0" indent="0" algn="l">
              <a:buNone/>
            </a:pPr>
            <a:r>
              <a:rPr lang="en-US" sz="5400">
                <a:solidFill>
                  <a:schemeClr val="tx1"/>
                </a:solidFill>
              </a:rPr>
              <a:t>Xây </a:t>
            </a:r>
            <a:r>
              <a:rPr lang="en-US" sz="5400" dirty="0">
                <a:solidFill>
                  <a:schemeClr val="tx1"/>
                </a:solidFill>
              </a:rPr>
              <a:t>dựng nội dung giảng dạy từ giáo trình</a:t>
            </a:r>
            <a:endParaRPr lang="en-US" sz="54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a:solidFill>
                  <a:schemeClr val="tx1"/>
                </a:solidFill>
              </a:rPr>
              <a:t>4 </a:t>
            </a:r>
            <a:r>
              <a:rPr lang="en-US" sz="4000" dirty="0">
                <a:solidFill>
                  <a:schemeClr val="tx1"/>
                </a:solidFill>
              </a:rPr>
              <a:t>bước</a:t>
            </a:r>
            <a:endParaRPr lang="en-US" sz="4000" dirty="0"/>
          </a:p>
        </p:txBody>
      </p:sp>
      <p:sp>
        <p:nvSpPr>
          <p:cNvPr id="4" name="Bước 1"/>
          <p:cNvSpPr/>
          <p:nvPr/>
        </p:nvSpPr>
        <p:spPr>
          <a:xfrm>
            <a:off x="838505" y="2011680"/>
            <a:ext cx="2697480" cy="1005840"/>
          </a:xfrm>
          <a:prstGeom prst="homePlate">
            <a:avLst/>
          </a:prstGeom>
          <a:solidFill>
            <a:schemeClr val="accent1"/>
          </a:solidFill>
          <a:ln w="12700">
            <a:solidFill>
              <a:srgbClr val="FFFFFF"/>
            </a:solidFill>
            <a:prstDash val="solid"/>
          </a:ln>
        </p:spPr>
      </p:sp>
      <p:sp>
        <p:nvSpPr>
          <p:cNvPr id="5" name="Text 2"/>
          <p:cNvSpPr txBox="1"/>
          <p:nvPr/>
        </p:nvSpPr>
        <p:spPr>
          <a:xfrm>
            <a:off x="975665" y="2011680"/>
            <a:ext cx="2011680" cy="1005840"/>
          </a:xfrm>
          <a:prstGeom prst="rect">
            <a:avLst/>
          </a:prstGeom>
          <a:noFill/>
          <a:ln/>
        </p:spPr>
        <p:txBody>
          <a:bodyPr wrap="square" lIns="0" tIns="0" rIns="0" bIns="0" rtlCol="0" anchor="ctr"/>
          <a:lstStyle/>
          <a:p>
            <a:pPr marL="0" indent="0" algn="ctr">
              <a:buNone/>
            </a:pPr>
            <a:r>
              <a:rPr lang="en-US" sz="1800" b="1" dirty="0">
                <a:solidFill>
                  <a:srgbClr val="FFFFFF"/>
                </a:solidFill>
              </a:rPr>
              <a:t>1. Cấu trúc giáo trình</a:t>
            </a:r>
            <a:endParaRPr lang="en-US" sz="1800" dirty="0"/>
          </a:p>
        </p:txBody>
      </p:sp>
      <p:sp>
        <p:nvSpPr>
          <p:cNvPr id="6" name="Text 3"/>
          <p:cNvSpPr txBox="1"/>
          <p:nvPr/>
        </p:nvSpPr>
        <p:spPr>
          <a:xfrm>
            <a:off x="1021385" y="3200400"/>
            <a:ext cx="2194560" cy="914400"/>
          </a:xfrm>
          <a:prstGeom prst="rect">
            <a:avLst/>
          </a:prstGeom>
          <a:noFill/>
          <a:ln/>
        </p:spPr>
        <p:txBody>
          <a:bodyPr wrap="square" rtlCol="0" anchor="t"/>
          <a:lstStyle/>
          <a:p>
            <a:pPr marL="0" indent="0" algn="ctr">
              <a:buNone/>
            </a:pPr>
            <a:r>
              <a:rPr lang="en-US" sz="1800" dirty="0">
                <a:solidFill>
                  <a:schemeClr val="tx1"/>
                </a:solidFill>
              </a:rPr>
              <a:t>Bảng chương – bài – mục – trang</a:t>
            </a:r>
            <a:endParaRPr lang="en-US" sz="1800" dirty="0"/>
          </a:p>
        </p:txBody>
      </p:sp>
      <p:sp>
        <p:nvSpPr>
          <p:cNvPr id="7" name="Bước 2"/>
          <p:cNvSpPr/>
          <p:nvPr/>
        </p:nvSpPr>
        <p:spPr>
          <a:xfrm>
            <a:off x="3444545" y="2011680"/>
            <a:ext cx="2697480" cy="1005840"/>
          </a:xfrm>
          <a:prstGeom prst="chevron">
            <a:avLst/>
          </a:prstGeom>
          <a:solidFill>
            <a:schemeClr val="accent1"/>
          </a:solidFill>
          <a:ln w="12700">
            <a:solidFill>
              <a:srgbClr val="FFFFFF"/>
            </a:solidFill>
            <a:prstDash val="solid"/>
          </a:ln>
        </p:spPr>
      </p:sp>
      <p:sp>
        <p:nvSpPr>
          <p:cNvPr id="8" name="Text 5"/>
          <p:cNvSpPr txBox="1"/>
          <p:nvPr/>
        </p:nvSpPr>
        <p:spPr>
          <a:xfrm>
            <a:off x="3856025" y="2011680"/>
            <a:ext cx="2011680" cy="1005840"/>
          </a:xfrm>
          <a:prstGeom prst="rect">
            <a:avLst/>
          </a:prstGeom>
          <a:noFill/>
          <a:ln/>
        </p:spPr>
        <p:txBody>
          <a:bodyPr wrap="square" lIns="0" tIns="0" rIns="0" bIns="0" rtlCol="0" anchor="ctr"/>
          <a:lstStyle/>
          <a:p>
            <a:pPr marL="0" indent="0" algn="ctr">
              <a:buNone/>
            </a:pPr>
            <a:r>
              <a:rPr lang="en-US" sz="1800" b="1" dirty="0">
                <a:solidFill>
                  <a:srgbClr val="FFFFFF"/>
                </a:solidFill>
              </a:rPr>
              <a:t>2. Đề cương từng buổi</a:t>
            </a:r>
            <a:endParaRPr lang="en-US" sz="1800" dirty="0"/>
          </a:p>
        </p:txBody>
      </p:sp>
      <p:sp>
        <p:nvSpPr>
          <p:cNvPr id="9" name="Text 6"/>
          <p:cNvSpPr txBox="1"/>
          <p:nvPr/>
        </p:nvSpPr>
        <p:spPr>
          <a:xfrm>
            <a:off x="3627425" y="3200400"/>
            <a:ext cx="2194560" cy="914400"/>
          </a:xfrm>
          <a:prstGeom prst="rect">
            <a:avLst/>
          </a:prstGeom>
          <a:noFill/>
          <a:ln/>
        </p:spPr>
        <p:txBody>
          <a:bodyPr wrap="square" rtlCol="0" anchor="t"/>
          <a:lstStyle/>
          <a:p>
            <a:pPr marL="0" indent="0" algn="ctr">
              <a:buNone/>
            </a:pPr>
            <a:r>
              <a:rPr lang="en-US" sz="1800" dirty="0">
                <a:solidFill>
                  <a:schemeClr val="tx1"/>
                </a:solidFill>
              </a:rPr>
              <a:t>Mục tiêu, nội dung, hoạt động, câu hỏi kiểm tra</a:t>
            </a:r>
            <a:endParaRPr lang="en-US" sz="1800" dirty="0"/>
          </a:p>
        </p:txBody>
      </p:sp>
      <p:sp>
        <p:nvSpPr>
          <p:cNvPr id="10" name="Bước 3"/>
          <p:cNvSpPr/>
          <p:nvPr/>
        </p:nvSpPr>
        <p:spPr>
          <a:xfrm>
            <a:off x="6050585" y="2011680"/>
            <a:ext cx="2697480" cy="1005840"/>
          </a:xfrm>
          <a:prstGeom prst="chevron">
            <a:avLst/>
          </a:prstGeom>
          <a:solidFill>
            <a:schemeClr val="accent1"/>
          </a:solidFill>
          <a:ln w="12700">
            <a:solidFill>
              <a:srgbClr val="FFFFFF"/>
            </a:solidFill>
            <a:prstDash val="solid"/>
          </a:ln>
        </p:spPr>
      </p:sp>
      <p:sp>
        <p:nvSpPr>
          <p:cNvPr id="11" name="Text 8"/>
          <p:cNvSpPr txBox="1"/>
          <p:nvPr/>
        </p:nvSpPr>
        <p:spPr>
          <a:xfrm>
            <a:off x="6462065" y="2011680"/>
            <a:ext cx="2011680" cy="1005840"/>
          </a:xfrm>
          <a:prstGeom prst="rect">
            <a:avLst/>
          </a:prstGeom>
          <a:noFill/>
          <a:ln/>
        </p:spPr>
        <p:txBody>
          <a:bodyPr wrap="square" lIns="0" tIns="0" rIns="0" bIns="0" rtlCol="0" anchor="ctr"/>
          <a:lstStyle/>
          <a:p>
            <a:pPr marL="0" indent="0" algn="ctr">
              <a:buNone/>
            </a:pPr>
            <a:r>
              <a:rPr lang="en-US" sz="1800" b="1" dirty="0">
                <a:solidFill>
                  <a:srgbClr val="FFFFFF"/>
                </a:solidFill>
              </a:rPr>
              <a:t>3. Nội dung slide</a:t>
            </a:r>
            <a:endParaRPr lang="en-US" sz="1800" dirty="0"/>
          </a:p>
        </p:txBody>
      </p:sp>
      <p:sp>
        <p:nvSpPr>
          <p:cNvPr id="12" name="Text 9"/>
          <p:cNvSpPr txBox="1"/>
          <p:nvPr/>
        </p:nvSpPr>
        <p:spPr>
          <a:xfrm>
            <a:off x="6233465" y="3200400"/>
            <a:ext cx="2194560" cy="914400"/>
          </a:xfrm>
          <a:prstGeom prst="rect">
            <a:avLst/>
          </a:prstGeom>
          <a:noFill/>
          <a:ln/>
        </p:spPr>
        <p:txBody>
          <a:bodyPr wrap="square" rtlCol="0" anchor="t"/>
          <a:lstStyle/>
          <a:p>
            <a:pPr marL="0" indent="0" algn="ctr">
              <a:buNone/>
            </a:pPr>
            <a:r>
              <a:rPr lang="en-US" sz="1800" dirty="0">
                <a:solidFill>
                  <a:schemeClr val="tx1"/>
                </a:solidFill>
              </a:rPr>
              <a:t>Tiêu đề, ý chính, lời giảng, nguồn</a:t>
            </a:r>
            <a:endParaRPr lang="en-US" sz="1800" dirty="0"/>
          </a:p>
        </p:txBody>
      </p:sp>
      <p:sp>
        <p:nvSpPr>
          <p:cNvPr id="13" name="Bước 4"/>
          <p:cNvSpPr/>
          <p:nvPr/>
        </p:nvSpPr>
        <p:spPr>
          <a:xfrm>
            <a:off x="8656625" y="2011680"/>
            <a:ext cx="2697480" cy="1005840"/>
          </a:xfrm>
          <a:prstGeom prst="chevron">
            <a:avLst/>
          </a:prstGeom>
          <a:solidFill>
            <a:schemeClr val="accent2"/>
          </a:solidFill>
          <a:ln w="12700">
            <a:solidFill>
              <a:srgbClr val="FFFFFF"/>
            </a:solidFill>
            <a:prstDash val="solid"/>
          </a:ln>
        </p:spPr>
      </p:sp>
      <p:sp>
        <p:nvSpPr>
          <p:cNvPr id="14" name="Text 11"/>
          <p:cNvSpPr txBox="1"/>
          <p:nvPr/>
        </p:nvSpPr>
        <p:spPr>
          <a:xfrm>
            <a:off x="9068105" y="2011680"/>
            <a:ext cx="2011680" cy="1005840"/>
          </a:xfrm>
          <a:prstGeom prst="rect">
            <a:avLst/>
          </a:prstGeom>
          <a:noFill/>
          <a:ln/>
        </p:spPr>
        <p:txBody>
          <a:bodyPr wrap="square" lIns="0" tIns="0" rIns="0" bIns="0" rtlCol="0" anchor="ctr"/>
          <a:lstStyle/>
          <a:p>
            <a:pPr marL="0" indent="0" algn="ctr">
              <a:buNone/>
            </a:pPr>
            <a:r>
              <a:rPr lang="en-US" sz="1800" b="1" dirty="0">
                <a:solidFill>
                  <a:srgbClr val="FFFFFF"/>
                </a:solidFill>
              </a:rPr>
              <a:t>4. Rà soát</a:t>
            </a:r>
            <a:endParaRPr lang="en-US" sz="1800" dirty="0"/>
          </a:p>
        </p:txBody>
      </p:sp>
      <p:sp>
        <p:nvSpPr>
          <p:cNvPr id="15" name="Text 12"/>
          <p:cNvSpPr txBox="1"/>
          <p:nvPr/>
        </p:nvSpPr>
        <p:spPr>
          <a:xfrm>
            <a:off x="8839505" y="3200400"/>
            <a:ext cx="2194560" cy="914400"/>
          </a:xfrm>
          <a:prstGeom prst="rect">
            <a:avLst/>
          </a:prstGeom>
          <a:noFill/>
          <a:ln/>
        </p:spPr>
        <p:txBody>
          <a:bodyPr wrap="square" rtlCol="0" anchor="t"/>
          <a:lstStyle/>
          <a:p>
            <a:pPr marL="0" indent="0" algn="ctr">
              <a:buNone/>
            </a:pPr>
            <a:r>
              <a:rPr lang="en-US" sz="1800" dirty="0">
                <a:solidFill>
                  <a:schemeClr val="tx1"/>
                </a:solidFill>
              </a:rPr>
              <a:t>Liên kết · Bao phủ · Phù hợp nguồn</a:t>
            </a:r>
            <a:endParaRPr lang="en-US" sz="1800" dirty="0"/>
          </a:p>
        </p:txBody>
      </p:sp>
      <p:sp>
        <p:nvSpPr>
          <p:cNvPr id="16" name="Text 13"/>
          <p:cNvSpPr txBox="1"/>
          <p:nvPr/>
        </p:nvSpPr>
        <p:spPr>
          <a:xfrm>
            <a:off x="838505" y="4663440"/>
            <a:ext cx="10515600" cy="914400"/>
          </a:xfrm>
          <a:prstGeom prst="rect">
            <a:avLst/>
          </a:prstGeom>
          <a:noFill/>
          <a:ln/>
        </p:spPr>
        <p:txBody>
          <a:bodyPr wrap="square" rtlCol="0" anchor="t"/>
          <a:lstStyle/>
          <a:p>
            <a:pPr marL="0" indent="0">
              <a:buNone/>
            </a:pPr>
            <a:r>
              <a:rPr lang="en-US" sz="2200" b="1" dirty="0">
                <a:solidFill>
                  <a:schemeClr val="tx1"/>
                </a:solidFill>
              </a:rPr>
              <a:t>Nguyên tắc: </a:t>
            </a:r>
            <a:r>
              <a:rPr lang="en-US" sz="2200" dirty="0">
                <a:solidFill>
                  <a:schemeClr val="tx1"/>
                </a:solidFill>
              </a:rPr>
              <a:t>xong bước nào, kiểm tra bước đó rồi mới đi tiếp. Sai ở bước 1 sẽ kéo theo sai ở bước 2 và 3.</a:t>
            </a: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a:solidFill>
                  <a:schemeClr val="tx1"/>
                </a:solidFill>
              </a:rPr>
              <a:t>Soạn </a:t>
            </a:r>
            <a:r>
              <a:rPr lang="en-US" sz="4000" dirty="0">
                <a:solidFill>
                  <a:schemeClr val="tx1"/>
                </a:solidFill>
              </a:rPr>
              <a:t>bằng ChatGPT, rà soát chéo bằng Claude</a:t>
            </a:r>
            <a:endParaRPr lang="en-US" sz="4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38505" y="1828800"/>
          <a:ext cx="10515600" cy="2743200"/>
        </p:xfrm>
        <a:graphic>
          <a:graphicData uri="http://schemas.openxmlformats.org/drawingml/2006/table">
            <a:tbl>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tblGrid>
              <a:tr h="0">
                <a:tc>
                  <a:txBody>
                    <a:bodyPr/>
                    <a:lstStyle/>
                    <a:p>
                      <a:pPr marL="0" indent="0">
                        <a:buNone/>
                      </a:pPr>
                      <a:r>
                        <a:rPr lang="en-US" sz="2200" b="1" dirty="0">
                          <a:solidFill>
                            <a:srgbClr val="FFFFFF"/>
                          </a:solidFill>
                        </a:rPr>
                        <a:t>Thời gian</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buNone/>
                      </a:pPr>
                      <a:r>
                        <a:rPr lang="en-US" sz="2200" b="1" dirty="0">
                          <a:solidFill>
                            <a:srgbClr val="FFFFFF"/>
                          </a:solidFill>
                        </a:rPr>
                        <a:t>Công cụ</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buNone/>
                      </a:pPr>
                      <a:r>
                        <a:rPr lang="en-US" sz="2200" b="1" dirty="0">
                          <a:solidFill>
                            <a:srgbClr val="FFFFFF"/>
                          </a:solidFill>
                        </a:rPr>
                        <a:t>Việc làm</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0">
                <a:tc>
                  <a:txBody>
                    <a:bodyPr/>
                    <a:lstStyle/>
                    <a:p>
                      <a:pPr marL="0" indent="0">
                        <a:buNone/>
                      </a:pPr>
                      <a:r>
                        <a:rPr lang="en-US" sz="2200" b="1" dirty="0">
                          <a:solidFill>
                            <a:srgbClr val="000000"/>
                          </a:solidFill>
                        </a:rPr>
                        <a:t>0–5’</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ChatGPT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Mở Project từ tiết 1, chạy Bước 1: bảng cấu trúc</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1"/>
                  </a:ext>
                </a:extLst>
              </a:tr>
              <a:tr h="0">
                <a:tc>
                  <a:txBody>
                    <a:bodyPr/>
                    <a:lstStyle/>
                    <a:p>
                      <a:pPr marL="0" indent="0">
                        <a:buNone/>
                      </a:pPr>
                      <a:r>
                        <a:rPr lang="en-US" sz="2200" b="1" dirty="0">
                          <a:solidFill>
                            <a:srgbClr val="000000"/>
                          </a:solidFill>
                        </a:rPr>
                        <a:t>5–11’</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ChatGPT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Bước 2: đề cương [Chương __]</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0">
                <a:tc>
                  <a:txBody>
                    <a:bodyPr/>
                    <a:lstStyle/>
                    <a:p>
                      <a:pPr marL="0" indent="0">
                        <a:buNone/>
                      </a:pPr>
                      <a:r>
                        <a:rPr lang="en-US" sz="2200" b="1" dirty="0">
                          <a:solidFill>
                            <a:srgbClr val="000000"/>
                          </a:solidFill>
                        </a:rPr>
                        <a:t>11–17’</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ChatGPT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Bước 3: nội dung slide buổi 1</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3"/>
                  </a:ext>
                </a:extLst>
              </a:tr>
              <a:tr h="0">
                <a:tc>
                  <a:txBody>
                    <a:bodyPr/>
                    <a:lstStyle/>
                    <a:p>
                      <a:pPr marL="0" indent="0">
                        <a:buNone/>
                      </a:pPr>
                      <a:r>
                        <a:rPr lang="en-US" sz="2200" b="1" dirty="0">
                          <a:solidFill>
                            <a:srgbClr val="000000"/>
                          </a:solidFill>
                        </a:rPr>
                        <a:t>17–27’</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Claude</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Dán đề cương và slide vào Project Claude, chạy 3 câu lệnh rà soát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bl>
          </a:graphicData>
        </a:graphic>
      </p:graphicFrame>
      <p:sp>
        <p:nvSpPr>
          <p:cNvPr id="5" name="Text 1"/>
          <p:cNvSpPr txBox="1"/>
          <p:nvPr/>
        </p:nvSpPr>
        <p:spPr>
          <a:xfrm>
            <a:off x="838505" y="4892040"/>
            <a:ext cx="10515600" cy="914400"/>
          </a:xfrm>
          <a:prstGeom prst="rect">
            <a:avLst/>
          </a:prstGeom>
          <a:noFill/>
          <a:ln/>
        </p:spPr>
        <p:txBody>
          <a:bodyPr wrap="square" rtlCol="0" anchor="t"/>
          <a:lstStyle/>
          <a:p>
            <a:pPr marL="0" indent="0">
              <a:buNone/>
            </a:pPr>
            <a:r>
              <a:rPr lang="en-US" sz="2000" b="1" dirty="0">
                <a:solidFill>
                  <a:schemeClr val="tx1"/>
                </a:solidFill>
              </a:rPr>
              <a:t>Vì sao rà soát bằng công cụ thứ hai? </a:t>
            </a:r>
            <a:r>
              <a:rPr lang="en-US" sz="2000" dirty="0">
                <a:solidFill>
                  <a:schemeClr val="tx1"/>
                </a:solidFill>
              </a:rPr>
              <a:t>Một “người đọc” khác xem lại từ đầu, giúp lộ ra chỗ thiếu sót mà công cụ thứ nhất bỏ qua.</a:t>
            </a:r>
            <a:endParaRPr lang="en-US" sz="20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Bước 1: dựng cấu trúc giáo trình</a:t>
            </a:r>
            <a:endParaRPr lang="en-US" sz="4000" dirty="0"/>
          </a:p>
        </p:txBody>
      </p:sp>
      <p:sp>
        <p:nvSpPr>
          <p:cNvPr id="4" name="Text 0"/>
          <p:cNvSpPr>
            <a:spLocks noGrp="1"/>
          </p:cNvSpPr>
          <p:nvPr>
            <p:ph type="body" idx="101" hasCustomPrompt="1"/>
          </p:nvPr>
        </p:nvSpPr>
        <p:spPr>
          <a:xfrm>
            <a:off x="838505" y="1826057"/>
            <a:ext cx="5181905" cy="4352544"/>
          </a:xfrm>
          <a:prstGeom prst="rect">
            <a:avLst/>
          </a:prstGeom>
          <a:noFill/>
          <a:ln/>
        </p:spPr>
        <p:txBody>
          <a:bodyPr wrap="square" rtlCol="0" anchor="t"/>
          <a:lstStyle/>
          <a:p>
            <a:pPr marL="0" indent="0">
              <a:spcAft>
                <a:spcPts val="600"/>
              </a:spcAft>
              <a:buNone/>
            </a:pPr>
            <a:r>
              <a:rPr lang="en-US" sz="2200" b="1" dirty="0">
                <a:solidFill>
                  <a:schemeClr val="accent1"/>
                </a:solidFill>
              </a:rPr>
              <a:t>Câu lệnh mẫu</a:t>
            </a:r>
            <a:endParaRPr lang="en-US" sz="2200" dirty="0"/>
          </a:p>
          <a:p>
            <a:pPr marL="0" indent="0">
              <a:spcAft>
                <a:spcPts val="600"/>
              </a:spcAft>
              <a:buNone/>
            </a:pPr>
            <a:r>
              <a:rPr lang="en-US" sz="2200" dirty="0">
                <a:solidFill>
                  <a:schemeClr val="tx1"/>
                </a:solidFill>
              </a:rPr>
              <a:t>“Dựa vào giáo trình trong Project, lập bảng cấu trúc nội dung gồm các cột</a:t>
            </a:r>
            <a:r>
              <a:rPr lang="en-US" sz="2200">
                <a:solidFill>
                  <a:schemeClr val="tx1"/>
                </a:solidFill>
              </a:rPr>
              <a:t>: </a:t>
            </a:r>
          </a:p>
          <a:p>
            <a:pPr marL="0" indent="0">
              <a:spcAft>
                <a:spcPts val="600"/>
              </a:spcAft>
              <a:buNone/>
            </a:pPr>
            <a:endParaRPr lang="en-US"/>
          </a:p>
          <a:p>
            <a:pPr marL="0" indent="0">
              <a:spcAft>
                <a:spcPts val="600"/>
              </a:spcAft>
              <a:buNone/>
            </a:pPr>
            <a:r>
              <a:rPr lang="en-US" sz="2200">
                <a:solidFill>
                  <a:schemeClr val="tx1"/>
                </a:solidFill>
              </a:rPr>
              <a:t>Chương </a:t>
            </a:r>
            <a:r>
              <a:rPr lang="en-US" sz="2200" dirty="0">
                <a:solidFill>
                  <a:schemeClr val="tx1"/>
                </a:solidFill>
              </a:rPr>
              <a:t>| Bài | Các mục chính | Trang</a:t>
            </a:r>
            <a:r>
              <a:rPr lang="en-US" sz="2200">
                <a:solidFill>
                  <a:schemeClr val="tx1"/>
                </a:solidFill>
              </a:rPr>
              <a:t>. </a:t>
            </a:r>
          </a:p>
          <a:p>
            <a:pPr marL="0" indent="0">
              <a:spcAft>
                <a:spcPts val="600"/>
              </a:spcAft>
              <a:buNone/>
            </a:pPr>
            <a:endParaRPr lang="en-US"/>
          </a:p>
          <a:p>
            <a:pPr marL="0" indent="0">
              <a:spcAft>
                <a:spcPts val="600"/>
              </a:spcAft>
              <a:buNone/>
            </a:pPr>
            <a:r>
              <a:rPr lang="en-US" sz="2200">
                <a:solidFill>
                  <a:schemeClr val="tx1"/>
                </a:solidFill>
              </a:rPr>
              <a:t>Chỉ </a:t>
            </a:r>
            <a:r>
              <a:rPr lang="en-US" sz="2200" dirty="0">
                <a:solidFill>
                  <a:schemeClr val="tx1"/>
                </a:solidFill>
              </a:rPr>
              <a:t>dùng nội dung có trong giáo trình, không thêm, không bớt.”</a:t>
            </a:r>
            <a:endParaRPr lang="en-US" sz="2200" dirty="0"/>
          </a:p>
        </p:txBody>
      </p:sp>
      <p:sp>
        <p:nvSpPr>
          <p:cNvPr id="5" name="Text 0"/>
          <p:cNvSpPr>
            <a:spLocks noGrp="1"/>
          </p:cNvSpPr>
          <p:nvPr>
            <p:ph type="body" idx="102" hasCustomPrompt="1"/>
          </p:nvPr>
        </p:nvSpPr>
        <p:spPr>
          <a:xfrm>
            <a:off x="6172200" y="1826057"/>
            <a:ext cx="5181905" cy="4352544"/>
          </a:xfrm>
          <a:prstGeom prst="rect">
            <a:avLst/>
          </a:prstGeom>
          <a:noFill/>
          <a:ln/>
        </p:spPr>
        <p:txBody>
          <a:bodyPr wrap="square" rtlCol="0" anchor="t"/>
          <a:lstStyle/>
          <a:p>
            <a:pPr marL="0" indent="0">
              <a:spcAft>
                <a:spcPts val="400"/>
              </a:spcAft>
              <a:buNone/>
            </a:pPr>
            <a:r>
              <a:rPr lang="en-US" sz="2200" b="1" dirty="0">
                <a:solidFill>
                  <a:schemeClr val="accent1"/>
                </a:solidFill>
              </a:rPr>
              <a:t>Kết quả mong đợi</a:t>
            </a:r>
            <a:endParaRPr lang="en-US" sz="2200" dirty="0"/>
          </a:p>
          <a:p>
            <a:pPr marL="0" indent="0">
              <a:spcAft>
                <a:spcPts val="2000"/>
              </a:spcAft>
              <a:buNone/>
            </a:pPr>
            <a:r>
              <a:rPr lang="en-US" sz="2200" dirty="0">
                <a:solidFill>
                  <a:schemeClr val="tx1"/>
                </a:solidFill>
              </a:rPr>
              <a:t>Một bảng đủ các chương, bài, mục, kèm số trang.</a:t>
            </a:r>
            <a:endParaRPr lang="en-US" sz="2200" dirty="0"/>
          </a:p>
          <a:p>
            <a:pPr marL="0" indent="0">
              <a:spcAft>
                <a:spcPts val="400"/>
              </a:spcAft>
              <a:buNone/>
            </a:pPr>
            <a:r>
              <a:rPr lang="en-US" sz="2200" b="1" dirty="0">
                <a:solidFill>
                  <a:schemeClr val="accent1"/>
                </a:solidFill>
              </a:rPr>
              <a:t>Kiểm tra nhanh</a:t>
            </a:r>
            <a:endParaRPr lang="en-US" sz="2200" dirty="0"/>
          </a:p>
          <a:p>
            <a:pPr marL="0" indent="0">
              <a:spcAft>
                <a:spcPts val="2000"/>
              </a:spcAft>
              <a:buNone/>
            </a:pPr>
            <a:r>
              <a:rPr lang="en-US" sz="2200" dirty="0">
                <a:solidFill>
                  <a:schemeClr val="tx1"/>
                </a:solidFill>
              </a:rPr>
              <a:t>So số chương, số bài với mục lục. Mở 2–3 số trang bất kỳ để đối chiếu.</a:t>
            </a:r>
            <a:endParaRPr lang="en-US" sz="2200" dirty="0"/>
          </a:p>
          <a:p>
            <a:pPr marL="0" indent="0">
              <a:spcAft>
                <a:spcPts val="400"/>
              </a:spcAft>
              <a:buNone/>
            </a:pPr>
            <a:r>
              <a:rPr lang="en-US" sz="2200" b="1" dirty="0">
                <a:solidFill>
                  <a:schemeClr val="accent1"/>
                </a:solidFill>
              </a:rPr>
              <a:t>Mẹo</a:t>
            </a:r>
            <a:endParaRPr lang="en-US" sz="2200" dirty="0"/>
          </a:p>
          <a:p>
            <a:pPr marL="0" indent="0">
              <a:spcAft>
                <a:spcPts val="600"/>
              </a:spcAft>
              <a:buNone/>
            </a:pPr>
            <a:r>
              <a:rPr lang="en-US" sz="2200" dirty="0">
                <a:solidFill>
                  <a:schemeClr val="tx1"/>
                </a:solidFill>
              </a:rPr>
              <a:t>Lưu bảng này vào Project để các cuộc trò chuyện sau dùng lại.</a:t>
            </a: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Bước 2: soạn đề cương từng buổi</a:t>
            </a:r>
            <a:endParaRPr lang="en-US" sz="4000" dirty="0"/>
          </a:p>
        </p:txBody>
      </p:sp>
      <p:sp>
        <p:nvSpPr>
          <p:cNvPr id="4" name="Text 0"/>
          <p:cNvSpPr>
            <a:spLocks noGrp="1"/>
          </p:cNvSpPr>
          <p:nvPr>
            <p:ph type="body" idx="101" hasCustomPrompt="1"/>
          </p:nvPr>
        </p:nvSpPr>
        <p:spPr>
          <a:xfrm>
            <a:off x="838505" y="1826057"/>
            <a:ext cx="5181905" cy="4352544"/>
          </a:xfrm>
          <a:prstGeom prst="rect">
            <a:avLst/>
          </a:prstGeom>
          <a:noFill/>
          <a:ln/>
        </p:spPr>
        <p:txBody>
          <a:bodyPr wrap="square" rtlCol="0" anchor="t"/>
          <a:lstStyle/>
          <a:p>
            <a:pPr marL="0" indent="0">
              <a:spcAft>
                <a:spcPts val="600"/>
              </a:spcAft>
              <a:buNone/>
            </a:pPr>
            <a:r>
              <a:rPr lang="en-US" sz="2200" b="1" dirty="0">
                <a:solidFill>
                  <a:schemeClr val="accent1"/>
                </a:solidFill>
              </a:rPr>
              <a:t>Câu lệnh mẫu</a:t>
            </a:r>
            <a:endParaRPr lang="en-US" sz="2200" dirty="0"/>
          </a:p>
          <a:p>
            <a:pPr marL="0" indent="0">
              <a:spcAft>
                <a:spcPts val="600"/>
              </a:spcAft>
              <a:buNone/>
            </a:pPr>
            <a:r>
              <a:rPr lang="en-US" sz="2200" dirty="0">
                <a:solidFill>
                  <a:schemeClr val="tx1"/>
                </a:solidFill>
              </a:rPr>
              <a:t>“Dựa trên bảng cấu trúc giáo trình, chia [Chương __] thành [__] buổi, mỗi buổi [__] tiết. Với mỗi buổi, nêu: (1) mục tiêu; (2) nội dung chính kèm số trang; (3) hoạt động dạy học; (4) 2–3 câu hỏi kiểm tra cuối buổi.”</a:t>
            </a:r>
            <a:endParaRPr lang="en-US" sz="2200" dirty="0"/>
          </a:p>
        </p:txBody>
      </p:sp>
      <p:sp>
        <p:nvSpPr>
          <p:cNvPr id="5" name="Text 0"/>
          <p:cNvSpPr>
            <a:spLocks noGrp="1"/>
          </p:cNvSpPr>
          <p:nvPr>
            <p:ph type="body" idx="102" hasCustomPrompt="1"/>
          </p:nvPr>
        </p:nvSpPr>
        <p:spPr>
          <a:xfrm>
            <a:off x="6172200" y="1826057"/>
            <a:ext cx="5181905" cy="4352544"/>
          </a:xfrm>
          <a:prstGeom prst="rect">
            <a:avLst/>
          </a:prstGeom>
          <a:noFill/>
          <a:ln/>
        </p:spPr>
        <p:txBody>
          <a:bodyPr wrap="square" rtlCol="0" anchor="t"/>
          <a:lstStyle/>
          <a:p>
            <a:pPr marL="0" indent="0">
              <a:spcAft>
                <a:spcPts val="400"/>
              </a:spcAft>
              <a:buNone/>
            </a:pPr>
            <a:r>
              <a:rPr lang="en-US" sz="2200" b="1" dirty="0">
                <a:solidFill>
                  <a:schemeClr val="accent1"/>
                </a:solidFill>
              </a:rPr>
              <a:t>Kết quả mong đợi</a:t>
            </a:r>
            <a:endParaRPr lang="en-US" sz="2200" dirty="0"/>
          </a:p>
          <a:p>
            <a:pPr marL="0" indent="0">
              <a:spcAft>
                <a:spcPts val="2000"/>
              </a:spcAft>
              <a:buNone/>
            </a:pPr>
            <a:r>
              <a:rPr lang="en-US" sz="2200" dirty="0">
                <a:solidFill>
                  <a:schemeClr val="tx1"/>
                </a:solidFill>
              </a:rPr>
              <a:t>Đề cương từng buổi, mỗi buổi đủ 4 phần.</a:t>
            </a:r>
            <a:endParaRPr lang="en-US" sz="2200" dirty="0"/>
          </a:p>
          <a:p>
            <a:pPr marL="0" indent="0">
              <a:spcAft>
                <a:spcPts val="400"/>
              </a:spcAft>
              <a:buNone/>
            </a:pPr>
            <a:r>
              <a:rPr lang="en-US" sz="2200" b="1" dirty="0">
                <a:solidFill>
                  <a:schemeClr val="accent1"/>
                </a:solidFill>
              </a:rPr>
              <a:t>Kiểm tra nhanh</a:t>
            </a:r>
            <a:endParaRPr lang="en-US" sz="2200" dirty="0"/>
          </a:p>
          <a:p>
            <a:pPr marL="0" indent="0">
              <a:spcAft>
                <a:spcPts val="600"/>
              </a:spcAft>
              <a:buNone/>
            </a:pPr>
            <a:r>
              <a:rPr lang="en-US" sz="2200" dirty="0">
                <a:solidFill>
                  <a:schemeClr val="tx1"/>
                </a:solidFill>
              </a:rPr>
              <a:t>Thời lượng có khớp chương trình? Mục tiêu có đo được không? Có buổi nào quá tải?</a:t>
            </a: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Bước 3: soạn nội dung slide cho một buổi</a:t>
            </a:r>
            <a:endParaRPr lang="en-US" sz="4000" dirty="0"/>
          </a:p>
        </p:txBody>
      </p:sp>
      <p:sp>
        <p:nvSpPr>
          <p:cNvPr id="4" name="Text 0"/>
          <p:cNvSpPr>
            <a:spLocks noGrp="1"/>
          </p:cNvSpPr>
          <p:nvPr>
            <p:ph type="body" idx="101" hasCustomPrompt="1"/>
          </p:nvPr>
        </p:nvSpPr>
        <p:spPr>
          <a:xfrm>
            <a:off x="838505" y="1826057"/>
            <a:ext cx="5181905" cy="4352544"/>
          </a:xfrm>
          <a:prstGeom prst="rect">
            <a:avLst/>
          </a:prstGeom>
          <a:noFill/>
          <a:ln/>
        </p:spPr>
        <p:txBody>
          <a:bodyPr wrap="square" rtlCol="0" anchor="t"/>
          <a:lstStyle/>
          <a:p>
            <a:pPr marL="0" indent="0">
              <a:spcAft>
                <a:spcPts val="600"/>
              </a:spcAft>
              <a:buNone/>
            </a:pPr>
            <a:r>
              <a:rPr lang="en-US" sz="2200" b="1" dirty="0">
                <a:solidFill>
                  <a:schemeClr val="accent1"/>
                </a:solidFill>
              </a:rPr>
              <a:t>Câu lệnh mẫu</a:t>
            </a:r>
            <a:endParaRPr lang="en-US" sz="2200" dirty="0"/>
          </a:p>
          <a:p>
            <a:pPr marL="0" indent="0">
              <a:spcAft>
                <a:spcPts val="600"/>
              </a:spcAft>
              <a:buNone/>
            </a:pPr>
            <a:r>
              <a:rPr lang="en-US" sz="2200" dirty="0">
                <a:solidFill>
                  <a:schemeClr val="tx1"/>
                </a:solidFill>
              </a:rPr>
              <a:t>“Soạn nội dung slide cho buổi [__] theo đề cương trên, khoảng [__] slide. Mỗi slide gồm: tiêu đề; 3–5 ý chính, mỗi ý không quá 15 chữ; lời giảng cho giảng viên; nguồn (chương, trang).”</a:t>
            </a:r>
            <a:endParaRPr lang="en-US" sz="2200" dirty="0"/>
          </a:p>
        </p:txBody>
      </p:sp>
      <p:sp>
        <p:nvSpPr>
          <p:cNvPr id="5" name="Text 0"/>
          <p:cNvSpPr>
            <a:spLocks noGrp="1"/>
          </p:cNvSpPr>
          <p:nvPr>
            <p:ph type="body" idx="102" hasCustomPrompt="1"/>
          </p:nvPr>
        </p:nvSpPr>
        <p:spPr>
          <a:xfrm>
            <a:off x="6172200" y="1826057"/>
            <a:ext cx="5181905" cy="4352544"/>
          </a:xfrm>
          <a:prstGeom prst="rect">
            <a:avLst/>
          </a:prstGeom>
          <a:noFill/>
          <a:ln/>
        </p:spPr>
        <p:txBody>
          <a:bodyPr wrap="square" rtlCol="0" anchor="t"/>
          <a:lstStyle/>
          <a:p>
            <a:pPr marL="0" indent="0">
              <a:spcAft>
                <a:spcPts val="400"/>
              </a:spcAft>
              <a:buNone/>
            </a:pPr>
            <a:r>
              <a:rPr lang="en-US" sz="2200" b="1" dirty="0">
                <a:solidFill>
                  <a:schemeClr val="accent1"/>
                </a:solidFill>
              </a:rPr>
              <a:t>Kết quả mong đợi</a:t>
            </a:r>
            <a:endParaRPr lang="en-US" sz="2200" dirty="0"/>
          </a:p>
          <a:p>
            <a:pPr marL="0" indent="0">
              <a:spcAft>
                <a:spcPts val="2000"/>
              </a:spcAft>
              <a:buNone/>
            </a:pPr>
            <a:r>
              <a:rPr lang="en-US" sz="2200" dirty="0">
                <a:solidFill>
                  <a:schemeClr val="tx1"/>
                </a:solidFill>
              </a:rPr>
              <a:t>Dàn nội dung từng slide, sẵn sàng đưa vào PowerPoint.</a:t>
            </a:r>
            <a:endParaRPr lang="en-US" sz="2200" dirty="0"/>
          </a:p>
          <a:p>
            <a:pPr marL="0" indent="0">
              <a:spcAft>
                <a:spcPts val="400"/>
              </a:spcAft>
              <a:buNone/>
            </a:pPr>
            <a:r>
              <a:rPr lang="en-US" sz="2200" b="1" dirty="0">
                <a:solidFill>
                  <a:schemeClr val="accent1"/>
                </a:solidFill>
              </a:rPr>
              <a:t>Kiểm tra nhanh</a:t>
            </a:r>
            <a:endParaRPr lang="en-US" sz="2200" dirty="0"/>
          </a:p>
          <a:p>
            <a:pPr marL="0" indent="0">
              <a:spcAft>
                <a:spcPts val="2000"/>
              </a:spcAft>
              <a:buNone/>
            </a:pPr>
            <a:r>
              <a:rPr lang="en-US" sz="2200" dirty="0">
                <a:solidFill>
                  <a:schemeClr val="tx1"/>
                </a:solidFill>
              </a:rPr>
              <a:t>Mỗi slide một ý chính? Thuật ngữ chuyên ngành đúng chưa? Có đủ nguồn?</a:t>
            </a:r>
            <a:endParaRPr lang="en-US" sz="2200" dirty="0"/>
          </a:p>
          <a:p>
            <a:pPr marL="0" indent="0">
              <a:spcAft>
                <a:spcPts val="400"/>
              </a:spcAft>
              <a:buNone/>
            </a:pPr>
            <a:r>
              <a:rPr lang="en-US" sz="2200" b="1" dirty="0">
                <a:solidFill>
                  <a:schemeClr val="accent1"/>
                </a:solidFill>
              </a:rPr>
              <a:t>Mở rộng</a:t>
            </a:r>
            <a:endParaRPr lang="en-US" sz="2200" dirty="0"/>
          </a:p>
          <a:p>
            <a:pPr marL="0" indent="0">
              <a:spcAft>
                <a:spcPts val="600"/>
              </a:spcAft>
              <a:buNone/>
            </a:pPr>
            <a:r>
              <a:rPr lang="en-US" sz="2200" dirty="0">
                <a:solidFill>
                  <a:schemeClr val="tx1"/>
                </a:solidFill>
              </a:rPr>
              <a:t>Có thể yêu cầu xuất thành tệp PowerPoint, nhưng duyệt dàn nội dung trước.</a:t>
            </a: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dirty="0">
                <a:solidFill>
                  <a:schemeClr val="tx1"/>
                </a:solidFill>
              </a:rPr>
              <a:t>Bước 4: rà soát theo 3 tiêu chí</a:t>
            </a:r>
            <a:endParaRPr lang="en-US" sz="4000" dirty="0"/>
          </a:p>
        </p:txBody>
      </p:sp>
      <p:sp>
        <p:nvSpPr>
          <p:cNvPr id="4" name="Text 0"/>
          <p:cNvSpPr>
            <a:spLocks noGrp="1"/>
          </p:cNvSpPr>
          <p:nvPr>
            <p:ph type="body" idx="101" hasCustomPrompt="1"/>
          </p:nvPr>
        </p:nvSpPr>
        <p:spPr>
          <a:xfrm>
            <a:off x="838505" y="1826057"/>
            <a:ext cx="10515600" cy="4352544"/>
          </a:xfrm>
          <a:prstGeom prst="rect">
            <a:avLst/>
          </a:prstGeom>
          <a:noFill/>
          <a:ln/>
        </p:spPr>
        <p:txBody>
          <a:bodyPr wrap="square" rtlCol="0" anchor="t"/>
          <a:lstStyle/>
          <a:p>
            <a:pPr marL="342900" indent="-342900">
              <a:spcAft>
                <a:spcPts val="1400"/>
              </a:spcAft>
              <a:buSzPct val="100000"/>
              <a:buChar char="•"/>
            </a:pPr>
            <a:r>
              <a:rPr lang="en-US" sz="2400" b="1" dirty="0">
                <a:solidFill>
                  <a:schemeClr val="tx1"/>
                </a:solidFill>
              </a:rPr>
              <a:t>Tính liên kết: </a:t>
            </a:r>
            <a:r>
              <a:rPr lang="en-US" sz="2400" dirty="0">
                <a:solidFill>
                  <a:schemeClr val="tx1"/>
                </a:solidFill>
              </a:rPr>
              <a:t>các buổi nối tiếp hợp lý; mục tiêu, nội dung và câu hỏi kiểm tra của mỗi buổi khớp nhau; không trùng lặp.</a:t>
            </a:r>
            <a:endParaRPr lang="en-US" sz="2400" dirty="0"/>
          </a:p>
          <a:p>
            <a:pPr marL="342900" indent="-342900">
              <a:spcAft>
                <a:spcPts val="1400"/>
              </a:spcAft>
              <a:buSzPct val="100000"/>
              <a:buChar char="•"/>
            </a:pPr>
            <a:r>
              <a:rPr lang="en-US" sz="2400" b="1" dirty="0">
                <a:solidFill>
                  <a:schemeClr val="tx1"/>
                </a:solidFill>
              </a:rPr>
              <a:t>Độ bao phủ: </a:t>
            </a:r>
            <a:r>
              <a:rPr lang="en-US" sz="2400" dirty="0">
                <a:solidFill>
                  <a:schemeClr val="tx1"/>
                </a:solidFill>
              </a:rPr>
              <a:t>mọi mục trong giáo trình đều có buổi dạy; không mục nào bị bỏ sót hoặc lướt quá sơ sài.</a:t>
            </a:r>
            <a:endParaRPr lang="en-US" sz="2400" dirty="0"/>
          </a:p>
          <a:p>
            <a:pPr marL="342900" indent="-342900">
              <a:spcAft>
                <a:spcPts val="3000"/>
              </a:spcAft>
              <a:buSzPct val="100000"/>
              <a:buChar char="•"/>
            </a:pPr>
            <a:r>
              <a:rPr lang="en-US" sz="2400" b="1" dirty="0">
                <a:solidFill>
                  <a:schemeClr val="tx1"/>
                </a:solidFill>
              </a:rPr>
              <a:t>Phù hợp nguồn: </a:t>
            </a:r>
            <a:r>
              <a:rPr lang="en-US" sz="2400" dirty="0">
                <a:solidFill>
                  <a:schemeClr val="tx1"/>
                </a:solidFill>
              </a:rPr>
              <a:t>mọi nội dung đều có trong giáo trình; số trang, số liệu, thuật ngữ, trích dẫn đúng với bản </a:t>
            </a:r>
            <a:r>
              <a:rPr lang="en-US" sz="2400">
                <a:solidFill>
                  <a:schemeClr val="tx1"/>
                </a:solidFill>
              </a:rPr>
              <a:t>gốc.</a:t>
            </a:r>
            <a:endParaRPr lang="en-US" sz="24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buNone/>
            </a:pPr>
            <a:r>
              <a:rPr lang="en-US" sz="4000" dirty="0">
                <a:solidFill>
                  <a:schemeClr val="tx1"/>
                </a:solidFill>
              </a:rPr>
              <a:t>Câu lệnh rà soát mẫu (demo trên Claude)</a:t>
            </a:r>
            <a:endParaRPr lang="en-US" sz="4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38505" y="1828800"/>
          <a:ext cx="1051560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0">
                <a:tc>
                  <a:txBody>
                    <a:bodyPr/>
                    <a:lstStyle/>
                    <a:p>
                      <a:pPr marL="0" indent="0">
                        <a:buNone/>
                      </a:pPr>
                      <a:r>
                        <a:rPr lang="en-US" sz="2000" b="1" dirty="0">
                          <a:solidFill>
                            <a:srgbClr val="FFFFFF"/>
                          </a:solidFill>
                        </a:rPr>
                        <a:t>Tiêu chí</a:t>
                      </a:r>
                      <a:endParaRPr lang="en-US" sz="20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buNone/>
                      </a:pPr>
                      <a:r>
                        <a:rPr lang="en-US" sz="2000" b="1" dirty="0">
                          <a:solidFill>
                            <a:srgbClr val="FFFFFF"/>
                          </a:solidFill>
                        </a:rPr>
                        <a:t>Câu lệnh mẫu</a:t>
                      </a:r>
                      <a:endParaRPr lang="en-US" sz="20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0">
                <a:tc>
                  <a:txBody>
                    <a:bodyPr/>
                    <a:lstStyle/>
                    <a:p>
                      <a:pPr marL="0" indent="0">
                        <a:buNone/>
                      </a:pPr>
                      <a:r>
                        <a:rPr lang="en-US" sz="2000" b="1" dirty="0">
                          <a:solidFill>
                            <a:srgbClr val="000000"/>
                          </a:solidFill>
                        </a:rPr>
                        <a:t>Tính liên kết</a:t>
                      </a:r>
                      <a:endParaRPr lang="en-US" sz="20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000" dirty="0">
                          <a:solidFill>
                            <a:srgbClr val="000000"/>
                          </a:solidFill>
                        </a:rPr>
                        <a:t>“Kiểm tra đề cương các buổi: mục tiêu, nội dung và câu hỏi kiểm tra của mỗi buổi có khớp nhau không? Các buổi có nối tiếp hợp lý, có trùng lặp không? Liệt kê vấn đề kèm đề xuất sửa.”</a:t>
                      </a:r>
                      <a:endParaRPr lang="en-US" sz="20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1"/>
                  </a:ext>
                </a:extLst>
              </a:tr>
              <a:tr h="0">
                <a:tc>
                  <a:txBody>
                    <a:bodyPr/>
                    <a:lstStyle/>
                    <a:p>
                      <a:pPr marL="0" indent="0">
                        <a:buNone/>
                      </a:pPr>
                      <a:r>
                        <a:rPr lang="en-US" sz="2000" b="1" dirty="0">
                          <a:solidFill>
                            <a:srgbClr val="000000"/>
                          </a:solidFill>
                        </a:rPr>
                        <a:t>Độ bao phủ</a:t>
                      </a:r>
                      <a:endParaRPr lang="en-US" sz="20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000" dirty="0">
                          <a:solidFill>
                            <a:srgbClr val="000000"/>
                          </a:solidFill>
                        </a:rPr>
                        <a:t>“Đối chiếu đề cương với giáo trình. Lập bảng: Mục trong giáo trình | Dạy ở buổi nào | Đủ / Thiếu / Sơ sài.”</a:t>
                      </a:r>
                      <a:endParaRPr lang="en-US" sz="20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0">
                <a:tc>
                  <a:txBody>
                    <a:bodyPr/>
                    <a:lstStyle/>
                    <a:p>
                      <a:pPr marL="0" indent="0">
                        <a:buNone/>
                      </a:pPr>
                      <a:r>
                        <a:rPr lang="en-US" sz="2000" b="1" dirty="0">
                          <a:solidFill>
                            <a:srgbClr val="000000"/>
                          </a:solidFill>
                        </a:rPr>
                        <a:t>Phù hợp nguồn</a:t>
                      </a:r>
                      <a:endParaRPr lang="en-US" sz="20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000" dirty="0">
                          <a:solidFill>
                            <a:srgbClr val="000000"/>
                          </a:solidFill>
                        </a:rPr>
                        <a:t>“Liệt kê mọi nhận định, số liệu trong nội dung slide không tìm thấy trong giáo trình, hoặc ghi sai số trang.”</a:t>
                      </a:r>
                      <a:endParaRPr lang="en-US" sz="20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buNone/>
            </a:pPr>
            <a:r>
              <a:rPr lang="en-US" sz="4000" dirty="0">
                <a:solidFill>
                  <a:schemeClr val="tx1"/>
                </a:solidFill>
              </a:rPr>
              <a:t>AI hay sai </a:t>
            </a:r>
            <a:r>
              <a:rPr lang="en-US" sz="4000">
                <a:solidFill>
                  <a:schemeClr val="tx1"/>
                </a:solidFill>
              </a:rPr>
              <a:t>ở đâu?</a:t>
            </a:r>
            <a:endParaRPr lang="en-US" sz="4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38505" y="1828800"/>
          <a:ext cx="10515600" cy="3749040"/>
        </p:xfrm>
        <a:graphic>
          <a:graphicData uri="http://schemas.openxmlformats.org/drawingml/2006/table">
            <a:tbl>
              <a:tblPr/>
              <a:tblGrid>
                <a:gridCol w="4572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0">
                <a:tc>
                  <a:txBody>
                    <a:bodyPr/>
                    <a:lstStyle/>
                    <a:p>
                      <a:pPr marL="0" indent="0">
                        <a:buNone/>
                      </a:pPr>
                      <a:r>
                        <a:rPr lang="en-US" sz="2200" b="1" dirty="0">
                          <a:solidFill>
                            <a:srgbClr val="FFFFFF"/>
                          </a:solidFill>
                        </a:rPr>
                        <a:t>Lỗi thường gặp</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buNone/>
                      </a:pPr>
                      <a:r>
                        <a:rPr lang="en-US" sz="2200" b="1" dirty="0">
                          <a:solidFill>
                            <a:srgbClr val="FFFFFF"/>
                          </a:solidFill>
                        </a:rPr>
                        <a:t>Cách phòng</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0">
                <a:tc>
                  <a:txBody>
                    <a:bodyPr/>
                    <a:lstStyle/>
                    <a:p>
                      <a:pPr marL="0" indent="0">
                        <a:buNone/>
                      </a:pPr>
                      <a:r>
                        <a:rPr lang="en-US" sz="2200" b="1" dirty="0">
                          <a:solidFill>
                            <a:srgbClr val="000000"/>
                          </a:solidFill>
                        </a:rPr>
                        <a:t>Bịa số trang, trích dẫn, tên văn bản</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Yêu cầu ghi nguồn; mở giáo trình đối chiếu ngẫu nhiên</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1"/>
                  </a:ext>
                </a:extLst>
              </a:tr>
              <a:tr h="0">
                <a:tc>
                  <a:txBody>
                    <a:bodyPr/>
                    <a:lstStyle/>
                    <a:p>
                      <a:pPr marL="0" indent="0">
                        <a:buNone/>
                      </a:pPr>
                      <a:r>
                        <a:rPr lang="en-US" sz="2200" b="1" dirty="0">
                          <a:solidFill>
                            <a:srgbClr val="000000"/>
                          </a:solidFill>
                        </a:rPr>
                        <a:t>Bỏ sót mục khi tài liệu dài</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Làm theo từng chương; chạy câu lệnh rà soát độ bao phủ</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0">
                <a:tc>
                  <a:txBody>
                    <a:bodyPr/>
                    <a:lstStyle/>
                    <a:p>
                      <a:pPr marL="0" indent="0">
                        <a:buNone/>
                      </a:pPr>
                      <a:r>
                        <a:rPr lang="en-US" sz="2200" b="1" dirty="0">
                          <a:solidFill>
                            <a:srgbClr val="000000"/>
                          </a:solidFill>
                        </a:rPr>
                        <a:t>Thuật ngữ chuyên ngành chưa chuẩn</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buNone/>
                      </a:pPr>
                      <a:r>
                        <a:rPr lang="en-US" sz="2200" dirty="0">
                          <a:solidFill>
                            <a:srgbClr val="000000"/>
                          </a:solidFill>
                        </a:rPr>
                        <a:t>Giảng viên duyệt; ghi danh mục thuật ngữ chuẩn vào hướng dẫn Project</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3"/>
                  </a:ext>
                </a:extLst>
              </a:tr>
              <a:tr h="0">
                <a:tc>
                  <a:txBody>
                    <a:bodyPr/>
                    <a:lstStyle/>
                    <a:p>
                      <a:pPr marL="0" indent="0">
                        <a:buNone/>
                      </a:pPr>
                      <a:r>
                        <a:rPr lang="en-US" sz="2200" b="1" dirty="0">
                          <a:solidFill>
                            <a:srgbClr val="000000"/>
                          </a:solidFill>
                        </a:rPr>
                        <a:t>Lấy kiến thức bên ngoài, văn bản đã hết hiệu lực</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buNone/>
                      </a:pPr>
                      <a:r>
                        <a:rPr lang="en-US" sz="2200" dirty="0">
                          <a:solidFill>
                            <a:srgbClr val="000000"/>
                          </a:solidFill>
                        </a:rPr>
                        <a:t>Dặn “chỉ dựa vào tài liệu”; kiểm tra văn bản pháp luật còn hiệu lực</a:t>
                      </a:r>
                      <a:endParaRPr lang="en-US" sz="2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a:solidFill>
                  <a:schemeClr val="tx1"/>
                </a:solidFill>
              </a:rPr>
              <a:t>Thực hành: tạo </a:t>
            </a:r>
            <a:r>
              <a:rPr lang="en-US" sz="4000" dirty="0">
                <a:solidFill>
                  <a:schemeClr val="tx1"/>
                </a:solidFill>
              </a:rPr>
              <a:t>đề cương một buổi</a:t>
            </a:r>
            <a:endParaRPr lang="en-US" sz="4000" dirty="0"/>
          </a:p>
        </p:txBody>
      </p:sp>
      <p:sp>
        <p:nvSpPr>
          <p:cNvPr id="4" name="Text 0"/>
          <p:cNvSpPr>
            <a:spLocks noGrp="1"/>
          </p:cNvSpPr>
          <p:nvPr>
            <p:ph type="body" idx="101" hasCustomPrompt="1"/>
          </p:nvPr>
        </p:nvSpPr>
        <p:spPr>
          <a:xfrm>
            <a:off x="838505" y="1826057"/>
            <a:ext cx="5181905" cy="4352544"/>
          </a:xfrm>
          <a:prstGeom prst="rect">
            <a:avLst/>
          </a:prstGeom>
          <a:noFill/>
          <a:ln/>
        </p:spPr>
        <p:txBody>
          <a:bodyPr wrap="square" rtlCol="0" anchor="t"/>
          <a:lstStyle/>
          <a:p>
            <a:pPr marL="342900" indent="-342900">
              <a:spcAft>
                <a:spcPts val="600"/>
              </a:spcAft>
              <a:buSzPct val="100000"/>
              <a:buFont typeface="+mj-lt"/>
              <a:buAutoNum type="arabicPeriod"/>
            </a:pPr>
            <a:r>
              <a:rPr lang="en-US" sz="2200" dirty="0">
                <a:solidFill>
                  <a:schemeClr val="tx1"/>
                </a:solidFill>
              </a:rPr>
              <a:t>Mở Project đã tạo ở tiết 1</a:t>
            </a:r>
            <a:endParaRPr lang="en-US" sz="2200" dirty="0"/>
          </a:p>
          <a:p>
            <a:pPr marL="342900" indent="-342900">
              <a:spcAft>
                <a:spcPts val="600"/>
              </a:spcAft>
              <a:buSzPct val="100000"/>
              <a:buFont typeface="+mj-lt"/>
              <a:buAutoNum type="arabicPeriod"/>
            </a:pPr>
            <a:r>
              <a:rPr lang="en-US" sz="2200" dirty="0">
                <a:solidFill>
                  <a:schemeClr val="tx1"/>
                </a:solidFill>
              </a:rPr>
              <a:t>Chạy Bước 1 cho một chương</a:t>
            </a:r>
            <a:endParaRPr lang="en-US" sz="2200" dirty="0"/>
          </a:p>
          <a:p>
            <a:pPr marL="342900" indent="-342900">
              <a:spcAft>
                <a:spcPts val="600"/>
              </a:spcAft>
              <a:buSzPct val="100000"/>
              <a:buFont typeface="+mj-lt"/>
              <a:buAutoNum type="arabicPeriod"/>
            </a:pPr>
            <a:r>
              <a:rPr lang="en-US" sz="2200" dirty="0">
                <a:solidFill>
                  <a:schemeClr val="tx1"/>
                </a:solidFill>
              </a:rPr>
              <a:t>Chạy Bước 2 cho một buổi</a:t>
            </a:r>
            <a:endParaRPr lang="en-US" sz="2200" dirty="0"/>
          </a:p>
          <a:p>
            <a:pPr marL="342900" indent="-342900">
              <a:spcAft>
                <a:spcPts val="600"/>
              </a:spcAft>
              <a:buSzPct val="100000"/>
              <a:buFont typeface="+mj-lt"/>
              <a:buAutoNum type="arabicPeriod"/>
            </a:pPr>
            <a:r>
              <a:rPr lang="en-US" sz="2200" dirty="0">
                <a:solidFill>
                  <a:schemeClr val="tx1"/>
                </a:solidFill>
              </a:rPr>
              <a:t>Chạy câu lệnh rà soát độ bao phủ, ghi lại 1 lỗi AI mắc phải</a:t>
            </a:r>
            <a:endParaRPr lang="en-US" sz="2200" dirty="0"/>
          </a:p>
        </p:txBody>
      </p:sp>
      <p:sp>
        <p:nvSpPr>
          <p:cNvPr id="5" name="Text 0"/>
          <p:cNvSpPr>
            <a:spLocks noGrp="1"/>
          </p:cNvSpPr>
          <p:nvPr>
            <p:ph type="body" idx="102" hasCustomPrompt="1"/>
          </p:nvPr>
        </p:nvSpPr>
        <p:spPr>
          <a:xfrm>
            <a:off x="6172200" y="1826057"/>
            <a:ext cx="5181905" cy="4352544"/>
          </a:xfrm>
          <a:prstGeom prst="rect">
            <a:avLst/>
          </a:prstGeom>
          <a:noFill/>
          <a:ln/>
        </p:spPr>
        <p:txBody>
          <a:bodyPr wrap="square" rtlCol="0" anchor="t"/>
          <a:lstStyle/>
          <a:p>
            <a:pPr marL="0" indent="0">
              <a:spcAft>
                <a:spcPts val="600"/>
              </a:spcAft>
              <a:buNone/>
            </a:pPr>
            <a:r>
              <a:rPr lang="en-US" sz="2200" b="1" dirty="0">
                <a:solidFill>
                  <a:schemeClr val="accent1"/>
                </a:solidFill>
              </a:rPr>
              <a:t>Sản phẩm</a:t>
            </a:r>
            <a:endParaRPr lang="en-US" sz="2200" dirty="0"/>
          </a:p>
          <a:p>
            <a:pPr marL="0" indent="0">
              <a:spcAft>
                <a:spcPts val="2400"/>
              </a:spcAft>
              <a:buNone/>
            </a:pPr>
            <a:r>
              <a:rPr lang="en-US" sz="2200" dirty="0">
                <a:solidFill>
                  <a:schemeClr val="tx1"/>
                </a:solidFill>
              </a:rPr>
              <a:t>Đề cương 1 buổi + 1 lỗi AI đã phát hiện và cách </a:t>
            </a:r>
            <a:r>
              <a:rPr lang="en-US" sz="2200">
                <a:solidFill>
                  <a:schemeClr val="tx1"/>
                </a:solidFill>
              </a:rPr>
              <a:t>sửa.</a:t>
            </a:r>
            <a:endParaRPr lang="en-US" sz="22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838505" y="365760"/>
            <a:ext cx="10515600" cy="1325880"/>
          </a:xfrm>
          <a:prstGeom prst="rect">
            <a:avLst/>
          </a:prstGeom>
          <a:noFill/>
          <a:ln/>
        </p:spPr>
        <p:txBody>
          <a:bodyPr wrap="square" rtlCol="0" anchor="ctr"/>
          <a:lstStyle/>
          <a:p>
            <a:pPr marL="0" indent="0" algn="l">
              <a:buNone/>
            </a:pPr>
            <a:r>
              <a:rPr lang="en-US" sz="4000">
                <a:solidFill>
                  <a:schemeClr val="tx1"/>
                </a:solidFill>
              </a:rPr>
              <a:t>Tổng kết</a:t>
            </a:r>
            <a:endParaRPr lang="en-US" sz="4000" dirty="0"/>
          </a:p>
        </p:txBody>
      </p:sp>
      <p:sp>
        <p:nvSpPr>
          <p:cNvPr id="4" name="Text 0"/>
          <p:cNvSpPr>
            <a:spLocks noGrp="1"/>
          </p:cNvSpPr>
          <p:nvPr>
            <p:ph type="body" idx="101" hasCustomPrompt="1"/>
          </p:nvPr>
        </p:nvSpPr>
        <p:spPr>
          <a:xfrm>
            <a:off x="838505" y="1826057"/>
            <a:ext cx="10515600" cy="4352544"/>
          </a:xfrm>
          <a:prstGeom prst="rect">
            <a:avLst/>
          </a:prstGeom>
          <a:noFill/>
          <a:ln/>
        </p:spPr>
        <p:txBody>
          <a:bodyPr wrap="square" rtlCol="0" anchor="t"/>
          <a:lstStyle/>
          <a:p>
            <a:pPr marL="342900" indent="-342900">
              <a:spcAft>
                <a:spcPts val="1800"/>
              </a:spcAft>
              <a:buSzPct val="100000"/>
              <a:buFont typeface="+mj-lt"/>
              <a:buAutoNum type="arabicPeriod"/>
            </a:pPr>
            <a:r>
              <a:rPr lang="en-US" sz="2400" b="1" dirty="0">
                <a:solidFill>
                  <a:schemeClr val="tx1"/>
                </a:solidFill>
              </a:rPr>
              <a:t>Một học phần, một Project: </a:t>
            </a:r>
            <a:r>
              <a:rPr lang="en-US" sz="2400" dirty="0">
                <a:solidFill>
                  <a:schemeClr val="tx1"/>
                </a:solidFill>
              </a:rPr>
              <a:t>tài liệu, hướng dẫn và các cuộc trao đổi ở cùng một chỗ.</a:t>
            </a:r>
            <a:endParaRPr lang="en-US" sz="2400" dirty="0"/>
          </a:p>
          <a:p>
            <a:pPr marL="342900" indent="-342900">
              <a:spcAft>
                <a:spcPts val="1800"/>
              </a:spcAft>
              <a:buSzPct val="100000"/>
              <a:buFont typeface="+mj-lt"/>
              <a:buAutoNum type="arabicPeriod"/>
            </a:pPr>
            <a:r>
              <a:rPr lang="en-US" sz="2400" b="1" dirty="0">
                <a:solidFill>
                  <a:schemeClr val="tx1"/>
                </a:solidFill>
              </a:rPr>
              <a:t>Đi từng bước: </a:t>
            </a:r>
            <a:r>
              <a:rPr lang="en-US" sz="2400" dirty="0">
                <a:solidFill>
                  <a:schemeClr val="tx1"/>
                </a:solidFill>
              </a:rPr>
              <a:t>cấu trúc → đề cương → slide; kiểm tra xong bước nào mới đi tiếp.</a:t>
            </a:r>
            <a:endParaRPr lang="en-US" sz="2400" dirty="0"/>
          </a:p>
          <a:p>
            <a:pPr marL="342900" indent="-342900">
              <a:spcAft>
                <a:spcPts val="3600"/>
              </a:spcAft>
              <a:buSzPct val="100000"/>
              <a:buFont typeface="+mj-lt"/>
              <a:buAutoNum type="arabicPeriod"/>
            </a:pPr>
            <a:r>
              <a:rPr lang="en-US" sz="2400" b="1" dirty="0">
                <a:solidFill>
                  <a:schemeClr val="tx1"/>
                </a:solidFill>
              </a:rPr>
              <a:t>AI soạn nhanh, giảng viên quyết định: </a:t>
            </a:r>
            <a:r>
              <a:rPr lang="en-US" sz="2400" dirty="0">
                <a:solidFill>
                  <a:schemeClr val="tx1"/>
                </a:solidFill>
              </a:rPr>
              <a:t>rà soát liên kết, bao phủ và phù hợp nguồn trước khi lên </a:t>
            </a:r>
            <a:r>
              <a:rPr lang="en-US" sz="2400">
                <a:solidFill>
                  <a:schemeClr val="tx1"/>
                </a:solidFill>
              </a:rPr>
              <a:t>lớp.</a:t>
            </a:r>
            <a:endParaRPr lang="en-US" sz="2400" dirty="0"/>
          </a:p>
        </p:txBody>
      </p:sp>
      <p:sp>
        <p:nvSpPr>
          <p:cNvPr id="25" name="Slide Number Placeholder 0"/>
          <p:cNvSpPr>
            <a:spLocks noGrp="1"/>
          </p:cNvSpPr>
          <p:nvPr>
            <p:ph type="sldNum" sz="quarter" idx="4294967295"/>
          </p:nvPr>
        </p:nvSpPr>
        <p:spPr>
          <a:xfrm>
            <a:off x="8610905" y="6355994"/>
            <a:ext cx="2743200" cy="365760"/>
          </a:xfrm>
          <a:prstGeom prst="rect">
            <a:avLst/>
          </a:prstGeom>
          <a:extLst>
            <a:ext uri="{C572A759-6A51-4108-AA02-DFA0A04FC94B}">
              <ma14:wrappingTextBoxFlag xmlns="" xmlns:ma14="http://schemas.microsoft.com/office/mac/drawingml/2011/main" val="0"/>
            </a:ext>
          </a:extLst>
        </p:spPr>
        <p:txBody>
          <a:bodyPr/>
          <a:lstStyle>
            <a:lvl1pPr>
              <a:defRPr sz="1200">
                <a:solidFill>
                  <a:srgbClr val="898989"/>
                </a:solidFill>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3854</Words>
  <Application>Microsoft Office PowerPoint</Application>
  <PresentationFormat>Widescreen</PresentationFormat>
  <Paragraphs>276</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Ứng dụng AI trong soạn bài giảng</vt:lpstr>
      <vt:lpstr>Lịch trình</vt:lpstr>
      <vt:lpstr>Mục tiêu</vt:lpstr>
      <vt:lpstr>An toàn thông tin</vt:lpstr>
      <vt:lpstr>Tổ chức công việc với Projects</vt:lpstr>
      <vt:lpstr>Vì sao cần Project?</vt:lpstr>
      <vt:lpstr>Một Project gồm 3 thành phần</vt:lpstr>
      <vt:lpstr>Projects trên ChatGPT và Claude</vt:lpstr>
      <vt:lpstr>Demo 1: tạo Project trên ChatGPT</vt:lpstr>
      <vt:lpstr>Hướng dẫn mẫu cho Project</vt:lpstr>
      <vt:lpstr>Demo 2: cùng việc đó trên Claude</vt:lpstr>
      <vt:lpstr>4 thói quen để dùng Project lâu dài</vt:lpstr>
      <vt:lpstr>Thực hành: tạo Project cho học phần đang dạy</vt:lpstr>
      <vt:lpstr>Xây dựng nội dung giảng dạy từ giáo trình</vt:lpstr>
      <vt:lpstr>4 bước</vt:lpstr>
      <vt:lpstr>Soạn bằng ChatGPT, rà soát chéo bằng Claude</vt:lpstr>
      <vt:lpstr>Bước 1: dựng cấu trúc giáo trình</vt:lpstr>
      <vt:lpstr>Bước 2: soạn đề cương từng buổi</vt:lpstr>
      <vt:lpstr>Bước 3: soạn nội dung slide cho một buổi</vt:lpstr>
      <vt:lpstr>Bước 4: rà soát theo 3 tiêu chí</vt:lpstr>
      <vt:lpstr>Câu lệnh rà soát mẫu (demo trên Claude)</vt:lpstr>
      <vt:lpstr>AI hay sai ở đâu?</vt:lpstr>
      <vt:lpstr>Thực hành: tạo đề cương một buổi</vt:lpstr>
      <vt:lpstr>Tổng kết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Ứng dụng AI trong soạn giảng</dc:title>
  <dc:subject>PptxGenJS Presentation</dc:subject>
  <dc:creator>PptxGenJS</dc:creator>
  <cp:lastModifiedBy>VU TRUC QUYNH</cp:lastModifiedBy>
  <cp:revision>4</cp:revision>
  <dcterms:created xsi:type="dcterms:W3CDTF">2026-10-15T04:03:47Z</dcterms:created>
  <dcterms:modified xsi:type="dcterms:W3CDTF">2026-10-15T05:30:45Z</dcterms:modified>
</cp:coreProperties>
</file>