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4627"/>
  </p:normalViewPr>
  <p:slideViewPr>
    <p:cSldViewPr snapToGrid="0">
      <p:cViewPr>
        <p:scale>
          <a:sx n="103" d="100"/>
          <a:sy n="103" d="100"/>
        </p:scale>
        <p:origin x="560" y="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19AE4-EE94-5B62-4413-A7B8F9CD3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4C986F-CEF4-8737-6522-F57D122157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0BD3D-291B-4931-6726-2A8A6A4E4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974E0-69CB-5345-814F-86DC42B5F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690D4E-D17D-A6B3-5FC8-2211582FC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07148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98C46-2C3C-ADBD-BCE5-362F8EBBF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EEF91-E5A6-A4AB-3798-02C0E944E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87BF1-28D8-B386-AE4A-B628ACC35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AA53B-D0E3-B0E6-4F9C-C01932972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DDC8D-66B9-E25F-D282-6A3D48306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94944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9675-AA93-5AC2-B0B3-0ED08B53B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DF7C6-484E-D143-42A5-1A1D965870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1DBEC-78BB-7F8F-3BA1-6795B75B3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B513A-A645-BD25-56BE-538E11BBF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17A6C-3047-1532-2410-373706AED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74351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3B5E4-A785-E801-DAFA-CFB7FFA82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28264-BE8C-8429-5538-4600CA5BEC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A7BDA7-8002-BD5B-8725-34F82654A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33E6D0-1BCA-0B7A-6444-3ACF2E747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DAAD8-DCDB-1353-B359-B30F70E26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BC09D-791F-4DCA-CD54-FF7A7134D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725754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FF3F6-FC03-A294-A0A3-7EC759C2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58C73F-053F-5F7F-7FF2-781A33628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948868-5627-7D4C-28A5-01887F879B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19782-1558-DDCB-5180-D7E85FDA3F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2A7037-2D47-8E84-117C-E7C788B07B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D6C910-5CD4-3FE4-9D03-213FBF275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897D1C-26E0-6E31-85BE-474C1315E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163718-1B80-F76C-4A6C-4B0ADB757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061564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FF99F-9837-8813-0F81-BC45C9BF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4A57A-9B11-3820-4009-DE0661B9B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146069-1986-C3A3-CEAD-90DB5093A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407F0-CDFA-D42B-88A6-E1C6E000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18546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E5B786-4764-803E-9ADD-1C801232B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C9A640-63D9-975E-9C70-E65E93451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7479CD-09C3-E160-66EF-EA3FD72A4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8397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C184C-051D-F48B-86AD-0DC977B0C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ED83A6-15F9-CA24-D982-4F0B23590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06264-8ABE-760B-AD6B-DC35B9B39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768841-D74A-A37F-BD11-CCEC4FCE6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BFA758-F433-23BD-0E31-8845A83B9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5CD98-F8A6-3EC2-DFD7-B7643934C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50191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26D21-F58D-6B5D-7C8A-951E0058C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3BFB4-7B1E-60A2-A059-D5567A1489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9A91E-0CA4-8F3D-E08E-3E51B235B7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37ED0A-7993-8DA6-68FB-6CDB8D5BC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E2A34D-8A1A-ADDD-D1DE-1DD35E449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85A115-F37D-BE41-481B-B3198ABC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991613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A9B0B-4C8D-249E-5859-09069689F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7828DA-9F73-702D-45F5-93137E43FE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17661-D2DF-1855-C125-A193B36CE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EB263-D2E2-8F4D-99C9-796502056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696EE5-F312-04AD-8A21-1F374103A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48710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E1B4FB-6FCA-DA71-6B4C-F71402E87F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29733B-EDEE-C524-5320-CB7792E09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EE7AD0-C14F-99B6-32FA-75F66C6F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BEBF4-4174-9868-D63B-F1A5D4399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9B94A9-3177-33EB-9DB9-51A40CCF9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32503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BAA26-6533-591C-722F-987D5419D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33893-7E9E-77AA-4EE6-70F62DBE46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9778DB-5DAF-B7D1-163C-E25E3F4D12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402507-E8A2-A144-8982-33D991F6B51E}" type="datetimeFigureOut">
              <a:t>13/4/26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77B5E-EF7A-4809-5B08-BF28A474B7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7E56A7-66C1-1AF0-CE2C-5BCF2C781A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E420D-21ED-E34D-824E-D92106E0D2A9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77022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gif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gi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5ED90-42DC-4F3A-1A1B-D9C5B7094A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A59565-5F7A-E721-E8B8-DE7DE0F879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53225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E949A1-A152-A7BB-5364-BAC68F7F88DD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-814947" y="1091535"/>
            <a:ext cx="6611686" cy="467493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34753-D52E-091E-9C1A-17F22724DD2D}"/>
              </a:ext>
            </a:extLst>
          </p:cNvPr>
          <p:cNvSpPr txBox="1">
            <a:spLocks/>
          </p:cNvSpPr>
          <p:nvPr/>
        </p:nvSpPr>
        <p:spPr>
          <a:xfrm>
            <a:off x="347446" y="902755"/>
            <a:ext cx="44089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2026 </a:t>
            </a:r>
            <a:r>
              <a:rPr lang="en-US" sz="24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School on Quantum Optimization Algorithms (SQOA)</a:t>
            </a:r>
            <a:endParaRPr lang="en-VN" sz="2400" b="1">
              <a:solidFill>
                <a:schemeClr val="bg1"/>
              </a:solidFill>
              <a:latin typeface="Bungee" pitchFamily="2" charset="77"/>
              <a:ea typeface="Bungee" pitchFamily="2" charset="77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E68A66-584F-9145-EEEA-91F89E632229}"/>
              </a:ext>
            </a:extLst>
          </p:cNvPr>
          <p:cNvSpPr>
            <a:spLocks/>
          </p:cNvSpPr>
          <p:nvPr/>
        </p:nvSpPr>
        <p:spPr>
          <a:xfrm>
            <a:off x="431348" y="2616330"/>
            <a:ext cx="1023671" cy="3352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 b="1">
                <a:solidFill>
                  <a:schemeClr val="tx1"/>
                </a:solidFill>
              </a:rPr>
              <a:t>22 – 25/4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DB6736-F90C-6951-3AA3-4F3687091B04}"/>
              </a:ext>
            </a:extLst>
          </p:cNvPr>
          <p:cNvSpPr txBox="1">
            <a:spLocks/>
          </p:cNvSpPr>
          <p:nvPr/>
        </p:nvSpPr>
        <p:spPr>
          <a:xfrm>
            <a:off x="1455019" y="2578237"/>
            <a:ext cx="3500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>
                <a:solidFill>
                  <a:schemeClr val="bg1"/>
                </a:solidFill>
              </a:rPr>
              <a:t>University of Phan Thiet</a:t>
            </a:r>
            <a:r>
              <a:rPr lang="en-VN" sz="1000" b="1">
                <a:solidFill>
                  <a:schemeClr val="bg1"/>
                </a:solidFill>
              </a:rPr>
              <a:t>, </a:t>
            </a:r>
            <a:r>
              <a:rPr lang="en-VN" sz="900" b="1">
                <a:solidFill>
                  <a:schemeClr val="bg1"/>
                </a:solidFill>
              </a:rPr>
              <a:t>Phu Thuy, Lam Dong</a:t>
            </a:r>
            <a:endParaRPr lang="en-VN" sz="1000" b="1">
              <a:solidFill>
                <a:schemeClr val="bg1"/>
              </a:solidFill>
            </a:endParaRPr>
          </a:p>
        </p:txBody>
      </p:sp>
      <p:sp>
        <p:nvSpPr>
          <p:cNvPr id="10" name="Pentagon 9">
            <a:extLst>
              <a:ext uri="{FF2B5EF4-FFF2-40B4-BE49-F238E27FC236}">
                <a16:creationId xmlns:a16="http://schemas.microsoft.com/office/drawing/2014/main" id="{9E5D5A20-D701-079A-91D4-1FA83F6CAE48}"/>
              </a:ext>
            </a:extLst>
          </p:cNvPr>
          <p:cNvSpPr>
            <a:spLocks/>
          </p:cNvSpPr>
          <p:nvPr/>
        </p:nvSpPr>
        <p:spPr>
          <a:xfrm>
            <a:off x="467871" y="3094802"/>
            <a:ext cx="136800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Scientific Advisors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D371CC-10A5-AC1A-07FA-8FF1DDDAB682}"/>
              </a:ext>
            </a:extLst>
          </p:cNvPr>
          <p:cNvSpPr txBox="1">
            <a:spLocks/>
          </p:cNvSpPr>
          <p:nvPr/>
        </p:nvSpPr>
        <p:spPr>
          <a:xfrm>
            <a:off x="392151" y="3355549"/>
            <a:ext cx="2313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Nguyen Minh Tho, VinUni </a:t>
            </a:r>
          </a:p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Le Van Hoang, HCMUE</a:t>
            </a:r>
            <a:endParaRPr lang="en-VN" sz="1200"/>
          </a:p>
        </p:txBody>
      </p:sp>
      <p:sp>
        <p:nvSpPr>
          <p:cNvPr id="13" name="Pentagon 12">
            <a:extLst>
              <a:ext uri="{FF2B5EF4-FFF2-40B4-BE49-F238E27FC236}">
                <a16:creationId xmlns:a16="http://schemas.microsoft.com/office/drawing/2014/main" id="{9DDC8B92-E6A1-74CC-BDD0-D7E0ED57F506}"/>
              </a:ext>
            </a:extLst>
          </p:cNvPr>
          <p:cNvSpPr>
            <a:spLocks/>
          </p:cNvSpPr>
          <p:nvPr/>
        </p:nvSpPr>
        <p:spPr>
          <a:xfrm>
            <a:off x="467871" y="3871154"/>
            <a:ext cx="161096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Organizing Committee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49E463-01BF-72AF-867B-468782A5F5CB}"/>
              </a:ext>
            </a:extLst>
          </p:cNvPr>
          <p:cNvSpPr txBox="1">
            <a:spLocks/>
          </p:cNvSpPr>
          <p:nvPr/>
        </p:nvSpPr>
        <p:spPr>
          <a:xfrm>
            <a:off x="392150" y="4131901"/>
            <a:ext cx="25888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Tran Nguyen Lan,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Minh Tam, UPT</a:t>
            </a:r>
            <a:endParaRPr lang="en-VN" sz="1200" b="0" i="0">
              <a:solidFill>
                <a:srgbClr val="E2E5E9"/>
              </a:solidFill>
              <a:effectLst/>
              <a:latin typeface="system-ui"/>
            </a:endParaRPr>
          </a:p>
          <a:p>
            <a:r>
              <a:rPr lang="en-VN" sz="1200">
                <a:solidFill>
                  <a:srgbClr val="E2E5E9"/>
                </a:solidFill>
                <a:latin typeface="system-ui"/>
              </a:rPr>
              <a:t>Msc. Truong Đuc Toan, VLU</a:t>
            </a:r>
            <a:endParaRPr lang="vi-VN" sz="1200" b="0" i="0">
              <a:solidFill>
                <a:srgbClr val="E2E5E9"/>
              </a:solidFill>
              <a:effectLst/>
              <a:latin typeface="system-ui"/>
            </a:endParaRPr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BEC74E81-53C6-395B-3373-90E70F2EF915}"/>
              </a:ext>
            </a:extLst>
          </p:cNvPr>
          <p:cNvSpPr>
            <a:spLocks/>
          </p:cNvSpPr>
          <p:nvPr/>
        </p:nvSpPr>
        <p:spPr>
          <a:xfrm>
            <a:off x="477393" y="4833629"/>
            <a:ext cx="751332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Lecturer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E67B1-7946-8544-8FD4-F07D25210351}"/>
              </a:ext>
            </a:extLst>
          </p:cNvPr>
          <p:cNvSpPr>
            <a:spLocks/>
          </p:cNvSpPr>
          <p:nvPr/>
        </p:nvSpPr>
        <p:spPr>
          <a:xfrm>
            <a:off x="1561773" y="2859668"/>
            <a:ext cx="3276000" cy="497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6" name="Freeform 13">
            <a:extLst>
              <a:ext uri="{FF2B5EF4-FFF2-40B4-BE49-F238E27FC236}">
                <a16:creationId xmlns:a16="http://schemas.microsoft.com/office/drawing/2014/main" id="{10F60DB3-FC03-7BDD-7541-AE023758A8E2}"/>
              </a:ext>
            </a:extLst>
          </p:cNvPr>
          <p:cNvSpPr>
            <a:spLocks noChangeAspect="1"/>
          </p:cNvSpPr>
          <p:nvPr/>
        </p:nvSpPr>
        <p:spPr>
          <a:xfrm>
            <a:off x="4142508" y="1695438"/>
            <a:ext cx="542562" cy="574238"/>
          </a:xfrm>
          <a:custGeom>
            <a:avLst/>
            <a:gdLst/>
            <a:ahLst/>
            <a:cxnLst/>
            <a:rect l="l" t="t" r="r" b="b"/>
            <a:pathLst>
              <a:path w="1244967" h="1317652">
                <a:moveTo>
                  <a:pt x="0" y="0"/>
                </a:moveTo>
                <a:lnTo>
                  <a:pt x="1244968" y="0"/>
                </a:lnTo>
                <a:lnTo>
                  <a:pt x="1244968" y="1317653"/>
                </a:lnTo>
                <a:lnTo>
                  <a:pt x="0" y="13176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VN"/>
          </a:p>
        </p:txBody>
      </p:sp>
      <p:pic>
        <p:nvPicPr>
          <p:cNvPr id="31" name="Picture 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98D2D4C-AAEB-61F0-B279-2E19DEA9935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3192408" y="959281"/>
            <a:ext cx="323109" cy="323109"/>
          </a:xfrm>
          <a:prstGeom prst="rect">
            <a:avLst/>
          </a:prstGeom>
        </p:spPr>
      </p:pic>
      <p:sp>
        <p:nvSpPr>
          <p:cNvPr id="33" name="Triangle 32">
            <a:extLst>
              <a:ext uri="{FF2B5EF4-FFF2-40B4-BE49-F238E27FC236}">
                <a16:creationId xmlns:a16="http://schemas.microsoft.com/office/drawing/2014/main" id="{308CDD5A-3BD9-E885-EA8B-E0A678C76FAC}"/>
              </a:ext>
            </a:extLst>
          </p:cNvPr>
          <p:cNvSpPr>
            <a:spLocks/>
          </p:cNvSpPr>
          <p:nvPr/>
        </p:nvSpPr>
        <p:spPr>
          <a:xfrm>
            <a:off x="153431" y="5096419"/>
            <a:ext cx="1848363" cy="1637173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AB212C-6E73-031C-9A7F-BAE2EC533B15}"/>
              </a:ext>
            </a:extLst>
          </p:cNvPr>
          <p:cNvSpPr txBox="1">
            <a:spLocks/>
          </p:cNvSpPr>
          <p:nvPr/>
        </p:nvSpPr>
        <p:spPr>
          <a:xfrm>
            <a:off x="3216588" y="6264901"/>
            <a:ext cx="1340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00" b="1">
                <a:solidFill>
                  <a:schemeClr val="bg1"/>
                </a:solidFill>
              </a:rPr>
              <a:t>Registration deadline: 31/03/2026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62B2D-12CF-D056-30F1-3E6A55C47759}"/>
              </a:ext>
            </a:extLst>
          </p:cNvPr>
          <p:cNvSpPr txBox="1">
            <a:spLocks/>
          </p:cNvSpPr>
          <p:nvPr/>
        </p:nvSpPr>
        <p:spPr>
          <a:xfrm>
            <a:off x="401672" y="5094375"/>
            <a:ext cx="28371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Assist.Prof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Le Bin Ho, Tohoku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Van Duy, Phenikaa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Huynh Minh Trung,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Vu Tuan Hai, UIT-VNUHCM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MA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Quoc Chuong, DTU</a:t>
            </a:r>
            <a:endParaRPr lang="en-VN" sz="1200"/>
          </a:p>
        </p:txBody>
      </p:sp>
      <p:pic>
        <p:nvPicPr>
          <p:cNvPr id="18" name="Graphic 17" descr="Envelope with solid fill">
            <a:extLst>
              <a:ext uri="{FF2B5EF4-FFF2-40B4-BE49-F238E27FC236}">
                <a16:creationId xmlns:a16="http://schemas.microsoft.com/office/drawing/2014/main" id="{81FA308E-CBFB-EB6A-1A71-F8119E95C7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0656" y="6315130"/>
            <a:ext cx="297535" cy="29753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16DBCC6-6AC5-EF1A-D35E-02EE7B82836B}"/>
              </a:ext>
            </a:extLst>
          </p:cNvPr>
          <p:cNvSpPr txBox="1">
            <a:spLocks/>
          </p:cNvSpPr>
          <p:nvPr/>
        </p:nvSpPr>
        <p:spPr>
          <a:xfrm>
            <a:off x="757302" y="6358494"/>
            <a:ext cx="21258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900" b="1">
                <a:solidFill>
                  <a:schemeClr val="bg1"/>
                </a:solidFill>
              </a:rPr>
              <a:t>Email: quantum.vnuhcm@gmail.com</a:t>
            </a:r>
          </a:p>
        </p:txBody>
      </p:sp>
      <p:sp>
        <p:nvSpPr>
          <p:cNvPr id="34" name="Triangle 33">
            <a:extLst>
              <a:ext uri="{FF2B5EF4-FFF2-40B4-BE49-F238E27FC236}">
                <a16:creationId xmlns:a16="http://schemas.microsoft.com/office/drawing/2014/main" id="{871776F9-EA02-F1E7-DFD3-3D92A731DC71}"/>
              </a:ext>
            </a:extLst>
          </p:cNvPr>
          <p:cNvSpPr>
            <a:spLocks/>
          </p:cNvSpPr>
          <p:nvPr/>
        </p:nvSpPr>
        <p:spPr>
          <a:xfrm flipH="1" flipV="1">
            <a:off x="1826096" y="2961028"/>
            <a:ext cx="3002262" cy="2713005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EF4744-43B3-79E1-C347-E643DD592B52}"/>
              </a:ext>
            </a:extLst>
          </p:cNvPr>
          <p:cNvSpPr txBox="1">
            <a:spLocks/>
          </p:cNvSpPr>
          <p:nvPr/>
        </p:nvSpPr>
        <p:spPr>
          <a:xfrm>
            <a:off x="2402543" y="3006753"/>
            <a:ext cx="24143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i="0" u="sng">
                <a:effectLst/>
                <a:latin typeface="system-ui"/>
              </a:rPr>
              <a:t>Date 1:</a:t>
            </a:r>
          </a:p>
          <a:p>
            <a:pPr algn="r"/>
            <a:r>
              <a:rPr lang="en-US" sz="1200">
                <a:latin typeface="system-ui"/>
              </a:rPr>
              <a:t>Foundation for quantum computing</a:t>
            </a:r>
          </a:p>
          <a:p>
            <a:pPr algn="r"/>
            <a:r>
              <a:rPr lang="en-US" sz="1200" b="1" u="sng">
                <a:latin typeface="system-ui"/>
              </a:rPr>
              <a:t>Date 2:</a:t>
            </a:r>
          </a:p>
          <a:p>
            <a:pPr algn="r"/>
            <a:r>
              <a:rPr lang="en-US" sz="1200">
                <a:latin typeface="system-ui"/>
              </a:rPr>
              <a:t>Basic quantum computing</a:t>
            </a:r>
          </a:p>
          <a:p>
            <a:pPr algn="r"/>
            <a:r>
              <a:rPr lang="en-US" sz="1200" b="1" u="sng">
                <a:latin typeface="system-ui"/>
              </a:rPr>
              <a:t>Date 3:</a:t>
            </a:r>
          </a:p>
          <a:p>
            <a:pPr algn="r"/>
            <a:r>
              <a:rPr lang="en-US" sz="1200">
                <a:latin typeface="system-ui"/>
              </a:rPr>
              <a:t>Project: Q-optimization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AB9890-B64B-1C6B-ECD9-E5DCD740BF48}"/>
              </a:ext>
            </a:extLst>
          </p:cNvPr>
          <p:cNvSpPr txBox="1">
            <a:spLocks/>
          </p:cNvSpPr>
          <p:nvPr/>
        </p:nvSpPr>
        <p:spPr>
          <a:xfrm>
            <a:off x="364600" y="2012666"/>
            <a:ext cx="38013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vi-VN" sz="800" b="0" i="0">
                <a:solidFill>
                  <a:srgbClr val="E2E5E9"/>
                </a:solidFill>
                <a:effectLst/>
                <a:latin typeface="system-ui"/>
              </a:rPr>
              <a:t>The School on Quantum Optimization Algorithms (SQOA) 2026 is a specialized program for undergraduate and graduate students interested in quantum optimization algorithms. The course provides a theoretical foundation, the latest results, and the implementation of quantum optimization algorithms through hands-on projects.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E0C123-E6F2-CDC6-D271-7AECA014F482}"/>
              </a:ext>
            </a:extLst>
          </p:cNvPr>
          <p:cNvSpPr>
            <a:spLocks noChangeAspect="1"/>
          </p:cNvSpPr>
          <p:nvPr/>
        </p:nvSpPr>
        <p:spPr>
          <a:xfrm rot="10800000" flipH="1">
            <a:off x="4967556" y="123156"/>
            <a:ext cx="6910851" cy="4607234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F61B92-4450-48F5-334C-0B0F02152E3D}"/>
              </a:ext>
            </a:extLst>
          </p:cNvPr>
          <p:cNvSpPr txBox="1">
            <a:spLocks/>
          </p:cNvSpPr>
          <p:nvPr/>
        </p:nvSpPr>
        <p:spPr>
          <a:xfrm>
            <a:off x="5088960" y="911890"/>
            <a:ext cx="680194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2026 </a:t>
            </a:r>
            <a:r>
              <a:rPr lang="en-US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School on </a:t>
            </a:r>
          </a:p>
          <a:p>
            <a:r>
              <a:rPr lang="en-US" sz="2300" b="1">
                <a:solidFill>
                  <a:schemeClr val="bg1"/>
                </a:solidFill>
                <a:latin typeface="Bungee" pitchFamily="2" charset="77"/>
                <a:ea typeface="Bungee" pitchFamily="2" charset="77"/>
              </a:rPr>
              <a:t>Quantum Optimization Algorithms </a:t>
            </a:r>
            <a:endParaRPr lang="en-VN" sz="2300" b="1">
              <a:solidFill>
                <a:schemeClr val="bg1"/>
              </a:solidFill>
              <a:latin typeface="Bungee" pitchFamily="2" charset="77"/>
              <a:ea typeface="Bungee" pitchFamily="2" charset="77"/>
            </a:endParaRPr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A9C8A1E2-8BAD-0E7F-BE6C-4605C2BF8B0D}"/>
              </a:ext>
            </a:extLst>
          </p:cNvPr>
          <p:cNvSpPr>
            <a:spLocks noChangeAspect="1"/>
          </p:cNvSpPr>
          <p:nvPr/>
        </p:nvSpPr>
        <p:spPr>
          <a:xfrm rot="16200000" flipV="1">
            <a:off x="11134923" y="318789"/>
            <a:ext cx="481921" cy="476663"/>
          </a:xfrm>
          <a:custGeom>
            <a:avLst/>
            <a:gdLst/>
            <a:ahLst/>
            <a:cxnLst/>
            <a:rect l="l" t="t" r="r" b="b"/>
            <a:pathLst>
              <a:path w="1246344" h="1232747">
                <a:moveTo>
                  <a:pt x="1246344" y="0"/>
                </a:moveTo>
                <a:lnTo>
                  <a:pt x="0" y="0"/>
                </a:lnTo>
                <a:lnTo>
                  <a:pt x="0" y="1232747"/>
                </a:lnTo>
                <a:lnTo>
                  <a:pt x="1246344" y="1232747"/>
                </a:lnTo>
                <a:lnTo>
                  <a:pt x="1246344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V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63B351-1FF1-1172-76F5-52F447EBBFCB}"/>
              </a:ext>
            </a:extLst>
          </p:cNvPr>
          <p:cNvSpPr txBox="1">
            <a:spLocks/>
          </p:cNvSpPr>
          <p:nvPr/>
        </p:nvSpPr>
        <p:spPr>
          <a:xfrm>
            <a:off x="5106279" y="2040514"/>
            <a:ext cx="37910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vi-VN" sz="800" b="0" i="0">
                <a:solidFill>
                  <a:srgbClr val="E2E5E9"/>
                </a:solidFill>
                <a:effectLst/>
                <a:latin typeface="system-ui"/>
              </a:rPr>
              <a:t>The School on Quantum Optimization Algorithms (SQOA) 2026 is a specialized program for undergraduate and graduate students interested in quantum optimization algorithms. The course provides a theoretical foundation, the latest results, and the implementation of quantum optimization algorithms through hands-on projects.</a:t>
            </a:r>
          </a:p>
        </p:txBody>
      </p:sp>
      <p:sp>
        <p:nvSpPr>
          <p:cNvPr id="49" name="Pentagon 48">
            <a:extLst>
              <a:ext uri="{FF2B5EF4-FFF2-40B4-BE49-F238E27FC236}">
                <a16:creationId xmlns:a16="http://schemas.microsoft.com/office/drawing/2014/main" id="{88059F23-E693-87A7-66C1-346A99B7BF8A}"/>
              </a:ext>
            </a:extLst>
          </p:cNvPr>
          <p:cNvSpPr>
            <a:spLocks/>
          </p:cNvSpPr>
          <p:nvPr/>
        </p:nvSpPr>
        <p:spPr>
          <a:xfrm>
            <a:off x="5191205" y="2661068"/>
            <a:ext cx="136800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Scientific Advisors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D7D2F62-00B4-ED7A-1067-43D3E31D3310}"/>
              </a:ext>
            </a:extLst>
          </p:cNvPr>
          <p:cNvSpPr txBox="1">
            <a:spLocks/>
          </p:cNvSpPr>
          <p:nvPr/>
        </p:nvSpPr>
        <p:spPr>
          <a:xfrm>
            <a:off x="5115484" y="2921815"/>
            <a:ext cx="22502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Nguyen Minh Tho, VinUni </a:t>
            </a:r>
          </a:p>
          <a:p>
            <a:r>
              <a:rPr lang="en-US" sz="1200">
                <a:solidFill>
                  <a:srgbClr val="E2E5E9"/>
                </a:solidFill>
                <a:latin typeface="system-ui"/>
              </a:rPr>
              <a:t>Prof</a:t>
            </a:r>
            <a:r>
              <a:rPr lang="en-US" sz="1200" b="0" i="0">
                <a:solidFill>
                  <a:srgbClr val="E2E5E9"/>
                </a:solidFill>
                <a:effectLst/>
                <a:latin typeface="system-ui"/>
              </a:rPr>
              <a:t>. Le Van Hoang, HCMUE</a:t>
            </a:r>
            <a:endParaRPr lang="en-VN" sz="120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471021-AFC5-6FE4-AFB6-0214E80BDBE2}"/>
              </a:ext>
            </a:extLst>
          </p:cNvPr>
          <p:cNvSpPr txBox="1">
            <a:spLocks/>
          </p:cNvSpPr>
          <p:nvPr/>
        </p:nvSpPr>
        <p:spPr>
          <a:xfrm>
            <a:off x="5115484" y="3648739"/>
            <a:ext cx="2481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Tran Nguyen Lan,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Minh Tam, UPT</a:t>
            </a:r>
            <a:endParaRPr lang="en-VN" sz="1200" b="0" i="0">
              <a:solidFill>
                <a:srgbClr val="E2E5E9"/>
              </a:solidFill>
              <a:effectLst/>
              <a:latin typeface="system-ui"/>
            </a:endParaRPr>
          </a:p>
          <a:p>
            <a:r>
              <a:rPr lang="en-VN" sz="1200">
                <a:solidFill>
                  <a:srgbClr val="E2E5E9"/>
                </a:solidFill>
                <a:latin typeface="system-ui"/>
              </a:rPr>
              <a:t>Msc. Truong Đuc Toan, VLU</a:t>
            </a:r>
            <a:endParaRPr lang="vi-VN" sz="1200" b="0" i="0">
              <a:solidFill>
                <a:srgbClr val="E2E5E9"/>
              </a:solidFill>
              <a:effectLst/>
              <a:latin typeface="system-ui"/>
            </a:endParaRPr>
          </a:p>
        </p:txBody>
      </p:sp>
      <p:sp>
        <p:nvSpPr>
          <p:cNvPr id="53" name="Pentagon 52">
            <a:extLst>
              <a:ext uri="{FF2B5EF4-FFF2-40B4-BE49-F238E27FC236}">
                <a16:creationId xmlns:a16="http://schemas.microsoft.com/office/drawing/2014/main" id="{E851EB87-7C15-A6F2-EE46-000C97761553}"/>
              </a:ext>
            </a:extLst>
          </p:cNvPr>
          <p:cNvSpPr>
            <a:spLocks/>
          </p:cNvSpPr>
          <p:nvPr/>
        </p:nvSpPr>
        <p:spPr>
          <a:xfrm>
            <a:off x="7487755" y="2659025"/>
            <a:ext cx="763276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Lecturer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54" name="Triangle 53">
            <a:extLst>
              <a:ext uri="{FF2B5EF4-FFF2-40B4-BE49-F238E27FC236}">
                <a16:creationId xmlns:a16="http://schemas.microsoft.com/office/drawing/2014/main" id="{0CEE697C-D5B2-3B28-5716-CA3B5D19142C}"/>
              </a:ext>
            </a:extLst>
          </p:cNvPr>
          <p:cNvSpPr>
            <a:spLocks/>
          </p:cNvSpPr>
          <p:nvPr/>
        </p:nvSpPr>
        <p:spPr>
          <a:xfrm>
            <a:off x="4963291" y="3094802"/>
            <a:ext cx="1848363" cy="1637173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711563E-14F6-CC55-C424-186C2FF4C85C}"/>
              </a:ext>
            </a:extLst>
          </p:cNvPr>
          <p:cNvSpPr txBox="1">
            <a:spLocks/>
          </p:cNvSpPr>
          <p:nvPr/>
        </p:nvSpPr>
        <p:spPr>
          <a:xfrm>
            <a:off x="7412034" y="2919771"/>
            <a:ext cx="283712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200">
                <a:solidFill>
                  <a:srgbClr val="E2E5E9"/>
                </a:solidFill>
                <a:latin typeface="system-ui"/>
              </a:rPr>
              <a:t>Assist.Prof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Le Bin Ho, Tohoku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Van Duy, Phenikaa Univ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Huynh Minh Trung, US-VNUHCM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Dr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Vu Tuan Hai, UIT-VNUHCM</a:t>
            </a:r>
          </a:p>
          <a:p>
            <a:r>
              <a:rPr lang="vi-VN" sz="1200">
                <a:solidFill>
                  <a:srgbClr val="E2E5E9"/>
                </a:solidFill>
                <a:latin typeface="system-ui"/>
              </a:rPr>
              <a:t>MA</a:t>
            </a:r>
            <a:r>
              <a:rPr lang="vi-VN" sz="1200" b="0" i="0">
                <a:solidFill>
                  <a:srgbClr val="E2E5E9"/>
                </a:solidFill>
                <a:effectLst/>
                <a:latin typeface="system-ui"/>
              </a:rPr>
              <a:t>. Nguyen Quoc Chuong, DTU</a:t>
            </a:r>
            <a:endParaRPr lang="en-VN" sz="1200"/>
          </a:p>
        </p:txBody>
      </p:sp>
      <p:pic>
        <p:nvPicPr>
          <p:cNvPr id="56" name="Graphic 55" descr="Envelope with solid fill">
            <a:extLst>
              <a:ext uri="{FF2B5EF4-FFF2-40B4-BE49-F238E27FC236}">
                <a16:creationId xmlns:a16="http://schemas.microsoft.com/office/drawing/2014/main" id="{ED992CF2-E787-EBB7-F491-A42D3DBFD6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89816" y="4334457"/>
            <a:ext cx="297535" cy="297535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A769457-9CE4-2071-D5D7-48954A39AE4D}"/>
              </a:ext>
            </a:extLst>
          </p:cNvPr>
          <p:cNvSpPr txBox="1">
            <a:spLocks/>
          </p:cNvSpPr>
          <p:nvPr/>
        </p:nvSpPr>
        <p:spPr>
          <a:xfrm>
            <a:off x="5486462" y="4377821"/>
            <a:ext cx="212586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900" b="1">
                <a:solidFill>
                  <a:schemeClr val="bg1"/>
                </a:solidFill>
              </a:rPr>
              <a:t>Email: quantum.vnuhcm@gmail.com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647BD4D1-6CBD-40BB-CBA6-A9861D55CF6B}"/>
              </a:ext>
            </a:extLst>
          </p:cNvPr>
          <p:cNvSpPr>
            <a:spLocks/>
          </p:cNvSpPr>
          <p:nvPr/>
        </p:nvSpPr>
        <p:spPr>
          <a:xfrm flipH="1" flipV="1">
            <a:off x="8897371" y="2112219"/>
            <a:ext cx="3002262" cy="2618172"/>
          </a:xfrm>
          <a:prstGeom prst="triangle">
            <a:avLst>
              <a:gd name="adj" fmla="val 0"/>
            </a:avLst>
          </a:prstGeom>
          <a:gradFill flip="none" rotWithShape="1">
            <a:gsLst>
              <a:gs pos="27000">
                <a:schemeClr val="accent1">
                  <a:lumMod val="60000"/>
                  <a:lumOff val="40000"/>
                  <a:tint val="66000"/>
                  <a:satMod val="160000"/>
                  <a:alpha val="0"/>
                </a:schemeClr>
              </a:gs>
              <a:gs pos="93000">
                <a:schemeClr val="accent1">
                  <a:tint val="44500"/>
                  <a:satMod val="160000"/>
                  <a:lumMod val="57967"/>
                  <a:lumOff val="42033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973744-897A-A7B9-DB92-2ECE8EBF6DE1}"/>
              </a:ext>
            </a:extLst>
          </p:cNvPr>
          <p:cNvSpPr txBox="1">
            <a:spLocks/>
          </p:cNvSpPr>
          <p:nvPr/>
        </p:nvSpPr>
        <p:spPr>
          <a:xfrm>
            <a:off x="9417771" y="2157944"/>
            <a:ext cx="24703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i="0" u="sng">
                <a:effectLst/>
                <a:latin typeface="system-ui"/>
              </a:rPr>
              <a:t>Date 1:</a:t>
            </a:r>
          </a:p>
          <a:p>
            <a:pPr algn="r"/>
            <a:r>
              <a:rPr lang="en-US" sz="1200">
                <a:latin typeface="system-ui"/>
              </a:rPr>
              <a:t>Foundation for quantum computing</a:t>
            </a:r>
          </a:p>
          <a:p>
            <a:pPr algn="r"/>
            <a:r>
              <a:rPr lang="en-US" sz="1200" b="1" u="sng">
                <a:latin typeface="system-ui"/>
              </a:rPr>
              <a:t>Date 2:</a:t>
            </a:r>
          </a:p>
          <a:p>
            <a:pPr algn="r"/>
            <a:r>
              <a:rPr lang="en-US" sz="1200">
                <a:latin typeface="system-ui"/>
              </a:rPr>
              <a:t>Basic quantum computing</a:t>
            </a:r>
          </a:p>
          <a:p>
            <a:pPr algn="r"/>
            <a:r>
              <a:rPr lang="en-US" sz="1200" b="1" u="sng">
                <a:latin typeface="system-ui"/>
              </a:rPr>
              <a:t>Date 3:</a:t>
            </a:r>
          </a:p>
          <a:p>
            <a:pPr algn="r"/>
            <a:r>
              <a:rPr lang="en-US" sz="1200">
                <a:latin typeface="system-ui"/>
              </a:rPr>
              <a:t>Project: Q-optimization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43C83327-C070-8469-587D-0F9D02204F34}"/>
              </a:ext>
            </a:extLst>
          </p:cNvPr>
          <p:cNvSpPr>
            <a:spLocks/>
          </p:cNvSpPr>
          <p:nvPr/>
        </p:nvSpPr>
        <p:spPr>
          <a:xfrm>
            <a:off x="5189816" y="1691692"/>
            <a:ext cx="1023671" cy="33528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VN" sz="1600" b="1">
                <a:solidFill>
                  <a:schemeClr val="tx1"/>
                </a:solidFill>
              </a:rPr>
              <a:t>22 – 25/4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2B5265-4F37-0BBE-59F6-59FB0D2A4868}"/>
              </a:ext>
            </a:extLst>
          </p:cNvPr>
          <p:cNvSpPr txBox="1">
            <a:spLocks/>
          </p:cNvSpPr>
          <p:nvPr/>
        </p:nvSpPr>
        <p:spPr>
          <a:xfrm>
            <a:off x="6213487" y="1669510"/>
            <a:ext cx="35000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>
                <a:solidFill>
                  <a:schemeClr val="bg1"/>
                </a:solidFill>
              </a:rPr>
              <a:t>University of Phan Thiet</a:t>
            </a:r>
            <a:r>
              <a:rPr lang="en-VN" sz="1000" b="1">
                <a:solidFill>
                  <a:schemeClr val="bg1"/>
                </a:solidFill>
              </a:rPr>
              <a:t>, </a:t>
            </a:r>
            <a:r>
              <a:rPr lang="en-VN" sz="900" b="1">
                <a:solidFill>
                  <a:schemeClr val="bg1"/>
                </a:solidFill>
              </a:rPr>
              <a:t>Phu Thuy, Lam Dong</a:t>
            </a:r>
            <a:endParaRPr lang="en-VN" sz="1000" b="1">
              <a:solidFill>
                <a:schemeClr val="bg1"/>
              </a:solidFill>
            </a:endParaRP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80F9B21A-3FB7-120F-2A63-502E3D2E3248}"/>
              </a:ext>
            </a:extLst>
          </p:cNvPr>
          <p:cNvSpPr>
            <a:spLocks/>
          </p:cNvSpPr>
          <p:nvPr/>
        </p:nvSpPr>
        <p:spPr>
          <a:xfrm>
            <a:off x="6302847" y="1948903"/>
            <a:ext cx="5585273" cy="556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031" name="Picture 103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827FDB-B2A2-90C5-0ABC-6A7981D7C48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826667" y="952034"/>
            <a:ext cx="323109" cy="323109"/>
          </a:xfrm>
          <a:prstGeom prst="rect">
            <a:avLst/>
          </a:prstGeom>
        </p:spPr>
      </p:pic>
      <p:pic>
        <p:nvPicPr>
          <p:cNvPr id="1045" name="Picture 104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E8AEC535-917E-A4BD-489B-CCDBBEC9001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672" t="9171" r="8088" b="9178"/>
          <a:stretch>
            <a:fillRect/>
          </a:stretch>
        </p:blipFill>
        <p:spPr>
          <a:xfrm>
            <a:off x="3329394" y="5173171"/>
            <a:ext cx="1114449" cy="1093173"/>
          </a:xfrm>
          <a:prstGeom prst="rect">
            <a:avLst/>
          </a:prstGeom>
        </p:spPr>
      </p:pic>
      <p:pic>
        <p:nvPicPr>
          <p:cNvPr id="1053" name="Picture 1052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10AC08F0-A369-902E-DD8E-F4EEA4E3112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8672" t="9171" r="8088" b="9178"/>
          <a:stretch>
            <a:fillRect/>
          </a:stretch>
        </p:blipFill>
        <p:spPr>
          <a:xfrm>
            <a:off x="10753511" y="3430661"/>
            <a:ext cx="881233" cy="864409"/>
          </a:xfrm>
          <a:prstGeom prst="rect">
            <a:avLst/>
          </a:prstGeom>
        </p:spPr>
      </p:pic>
      <p:sp>
        <p:nvSpPr>
          <p:cNvPr id="1054" name="TextBox 1053">
            <a:extLst>
              <a:ext uri="{FF2B5EF4-FFF2-40B4-BE49-F238E27FC236}">
                <a16:creationId xmlns:a16="http://schemas.microsoft.com/office/drawing/2014/main" id="{80A57BA8-AB67-836D-4D9B-4ECC347BE1FD}"/>
              </a:ext>
            </a:extLst>
          </p:cNvPr>
          <p:cNvSpPr txBox="1">
            <a:spLocks/>
          </p:cNvSpPr>
          <p:nvPr/>
        </p:nvSpPr>
        <p:spPr>
          <a:xfrm>
            <a:off x="10498150" y="4309583"/>
            <a:ext cx="135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 sz="900" b="1">
                <a:solidFill>
                  <a:schemeClr val="bg1"/>
                </a:solidFill>
              </a:rPr>
              <a:t>Registration deadline: 31/03/2026</a:t>
            </a:r>
          </a:p>
        </p:txBody>
      </p:sp>
      <p:sp>
        <p:nvSpPr>
          <p:cNvPr id="1055" name="Pentagon 1054">
            <a:extLst>
              <a:ext uri="{FF2B5EF4-FFF2-40B4-BE49-F238E27FC236}">
                <a16:creationId xmlns:a16="http://schemas.microsoft.com/office/drawing/2014/main" id="{08285779-61BE-EFA3-810E-B82573610759}"/>
              </a:ext>
            </a:extLst>
          </p:cNvPr>
          <p:cNvSpPr>
            <a:spLocks/>
          </p:cNvSpPr>
          <p:nvPr/>
        </p:nvSpPr>
        <p:spPr>
          <a:xfrm>
            <a:off x="5205551" y="3402299"/>
            <a:ext cx="1610960" cy="224758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>
                <a:solidFill>
                  <a:schemeClr val="tx1"/>
                </a:solidFill>
              </a:rPr>
              <a:t>Organizing Committee</a:t>
            </a:r>
            <a:endParaRPr lang="en-VN" sz="110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42470F0-3215-085E-DCFE-7D1D8F882F29}"/>
              </a:ext>
            </a:extLst>
          </p:cNvPr>
          <p:cNvSpPr>
            <a:spLocks/>
          </p:cNvSpPr>
          <p:nvPr/>
        </p:nvSpPr>
        <p:spPr>
          <a:xfrm>
            <a:off x="392150" y="315457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28" name="Picture 4">
            <a:extLst>
              <a:ext uri="{FF2B5EF4-FFF2-40B4-BE49-F238E27FC236}">
                <a16:creationId xmlns:a16="http://schemas.microsoft.com/office/drawing/2014/main" id="{04E3119B-42BE-F9A2-9BCD-1FF8840E6E46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1514726" y="373655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LOGO TRƯỜNG - Trường Đại học Phan Thiết">
            <a:extLst>
              <a:ext uri="{FF2B5EF4-FFF2-40B4-BE49-F238E27FC236}">
                <a16:creationId xmlns:a16="http://schemas.microsoft.com/office/drawing/2014/main" id="{7C03FF4F-749D-44B2-08F5-F2BEE951B05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85" y="399179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FA62FAB6-EA04-F6E4-1B90-E322C2B5D5A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13" y="399178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4F189D55-89DA-9FC7-0FC7-3DB1F730829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0417" y="402365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2" descr="About | Tohoku University">
            <a:extLst>
              <a:ext uri="{FF2B5EF4-FFF2-40B4-BE49-F238E27FC236}">
                <a16:creationId xmlns:a16="http://schemas.microsoft.com/office/drawing/2014/main" id="{8EBAC310-4C91-B179-0FAF-D403223A56E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609" y="384165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6A810B8-94C8-7F10-66E5-C38BAB664B3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1318244" y="386314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2" descr="No description available.">
            <a:extLst>
              <a:ext uri="{FF2B5EF4-FFF2-40B4-BE49-F238E27FC236}">
                <a16:creationId xmlns:a16="http://schemas.microsoft.com/office/drawing/2014/main" id="{A2F7B5A1-CCE4-FC84-7DF1-C42AB7A4D2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8" y="373655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" name="Picture 4" descr="No description available.">
            <a:extLst>
              <a:ext uri="{FF2B5EF4-FFF2-40B4-BE49-F238E27FC236}">
                <a16:creationId xmlns:a16="http://schemas.microsoft.com/office/drawing/2014/main" id="{C152D016-149F-D2E6-8C49-E84405B1DD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377" y="351649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DD4F9CAD-2032-0C9A-39D4-84570919589B}"/>
              </a:ext>
            </a:extLst>
          </p:cNvPr>
          <p:cNvSpPr>
            <a:spLocks/>
          </p:cNvSpPr>
          <p:nvPr/>
        </p:nvSpPr>
        <p:spPr>
          <a:xfrm>
            <a:off x="5196549" y="316308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4" name="Picture 4">
            <a:extLst>
              <a:ext uri="{FF2B5EF4-FFF2-40B4-BE49-F238E27FC236}">
                <a16:creationId xmlns:a16="http://schemas.microsoft.com/office/drawing/2014/main" id="{95AA6FF5-7ED0-8B04-306F-154857BB72E1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6319125" y="374506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6" descr="LOGO TRƯỜNG - Trường Đại học Phan Thiết">
            <a:extLst>
              <a:ext uri="{FF2B5EF4-FFF2-40B4-BE49-F238E27FC236}">
                <a16:creationId xmlns:a16="http://schemas.microsoft.com/office/drawing/2014/main" id="{450C6EDA-59F7-F2A0-B33A-48675EEBD36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5484" y="400030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7C74FA34-1FE3-92D2-AA87-8ADF4AB64FC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3112" y="400029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8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262B85D5-C159-1B9D-5E9D-03A774340C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4816" y="403216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12" descr="About | Tohoku University">
            <a:extLst>
              <a:ext uri="{FF2B5EF4-FFF2-40B4-BE49-F238E27FC236}">
                <a16:creationId xmlns:a16="http://schemas.microsoft.com/office/drawing/2014/main" id="{CAC9E764-64A0-5F37-201E-667C7AD70E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3008" y="385016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024">
            <a:extLst>
              <a:ext uri="{FF2B5EF4-FFF2-40B4-BE49-F238E27FC236}">
                <a16:creationId xmlns:a16="http://schemas.microsoft.com/office/drawing/2014/main" id="{A0AF364C-26AF-1936-F068-7367F1D445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6122643" y="387165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 description available.">
            <a:extLst>
              <a:ext uri="{FF2B5EF4-FFF2-40B4-BE49-F238E27FC236}">
                <a16:creationId xmlns:a16="http://schemas.microsoft.com/office/drawing/2014/main" id="{D818843F-ECE5-F985-FA94-7AA149242E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0557" y="374506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4" descr="No description available.">
            <a:extLst>
              <a:ext uri="{FF2B5EF4-FFF2-40B4-BE49-F238E27FC236}">
                <a16:creationId xmlns:a16="http://schemas.microsoft.com/office/drawing/2014/main" id="{75DCF351-A182-7395-CD99-A2EC878760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7776" y="352500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76852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001572F-ED10-AEAE-AD3E-B75E528B91BB}"/>
              </a:ext>
            </a:extLst>
          </p:cNvPr>
          <p:cNvSpPr>
            <a:spLocks/>
          </p:cNvSpPr>
          <p:nvPr/>
        </p:nvSpPr>
        <p:spPr>
          <a:xfrm>
            <a:off x="392150" y="315457"/>
            <a:ext cx="3990664" cy="490655"/>
          </a:xfrm>
          <a:prstGeom prst="roundRect">
            <a:avLst>
              <a:gd name="adj" fmla="val 42424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12" name="Picture 4">
            <a:extLst>
              <a:ext uri="{FF2B5EF4-FFF2-40B4-BE49-F238E27FC236}">
                <a16:creationId xmlns:a16="http://schemas.microsoft.com/office/drawing/2014/main" id="{B2EDC079-13E6-4475-B0AD-569C261DD82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10"/>
          <a:stretch>
            <a:fillRect/>
          </a:stretch>
        </p:blipFill>
        <p:spPr bwMode="auto">
          <a:xfrm>
            <a:off x="1514726" y="373655"/>
            <a:ext cx="1138372" cy="43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LOGO TRƯỜNG - Trường Đại học Phan Thiết">
            <a:extLst>
              <a:ext uri="{FF2B5EF4-FFF2-40B4-BE49-F238E27FC236}">
                <a16:creationId xmlns:a16="http://schemas.microsoft.com/office/drawing/2014/main" id="{506966DA-FE64-4363-B1CD-B80B909AFC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085" y="399179"/>
            <a:ext cx="324000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Giới Thiệu Trường Đại Học Thương Mại - TMU">
            <a:extLst>
              <a:ext uri="{FF2B5EF4-FFF2-40B4-BE49-F238E27FC236}">
                <a16:creationId xmlns:a16="http://schemas.microsoft.com/office/drawing/2014/main" id="{8591AF70-4AE9-C263-F76C-7060CFED83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713" y="399178"/>
            <a:ext cx="528973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0" descr="Logo Phenikaa University - International Institute for Environmental Studies">
            <a:extLst>
              <a:ext uri="{FF2B5EF4-FFF2-40B4-BE49-F238E27FC236}">
                <a16:creationId xmlns:a16="http://schemas.microsoft.com/office/drawing/2014/main" id="{07EF1A8E-C67C-24FF-B0A7-E2EB937A5BF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0417" y="402365"/>
            <a:ext cx="472064" cy="3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About | Tohoku University">
            <a:extLst>
              <a:ext uri="{FF2B5EF4-FFF2-40B4-BE49-F238E27FC236}">
                <a16:creationId xmlns:a16="http://schemas.microsoft.com/office/drawing/2014/main" id="{58A84739-46FB-5B93-5508-0C4E655169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8609" y="384165"/>
            <a:ext cx="26620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7F9E5ED-5AF6-8245-1E7A-FC6F2697B4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575" t="79869" r="35762" b="14847"/>
          <a:stretch>
            <a:fillRect/>
          </a:stretch>
        </p:blipFill>
        <p:spPr bwMode="auto">
          <a:xfrm>
            <a:off x="1318244" y="386314"/>
            <a:ext cx="296328" cy="330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No description available.">
            <a:extLst>
              <a:ext uri="{FF2B5EF4-FFF2-40B4-BE49-F238E27FC236}">
                <a16:creationId xmlns:a16="http://schemas.microsoft.com/office/drawing/2014/main" id="{3BBB2C06-E9AB-AC7A-44B1-7043C6E05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6158" y="373655"/>
            <a:ext cx="373999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o description available.">
            <a:extLst>
              <a:ext uri="{FF2B5EF4-FFF2-40B4-BE49-F238E27FC236}">
                <a16:creationId xmlns:a16="http://schemas.microsoft.com/office/drawing/2014/main" id="{3A2ED54E-79DB-E2D3-D7C6-49FA7DFC2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3377" y="351649"/>
            <a:ext cx="504000" cy="413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5100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5591</TotalTime>
  <Words>357</Words>
  <Application>Microsoft Macintosh PowerPoint</Application>
  <PresentationFormat>Widescreen</PresentationFormat>
  <Paragraphs>51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Bungee</vt:lpstr>
      <vt:lpstr>system-ui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Nguyễn Thị Lê Thủy</dc:creator>
  <cp:lastModifiedBy>Tuan Hai Vu</cp:lastModifiedBy>
  <cp:revision>15</cp:revision>
  <dcterms:created xsi:type="dcterms:W3CDTF">2026-01-16T15:45:33Z</dcterms:created>
  <dcterms:modified xsi:type="dcterms:W3CDTF">2026-04-13T02:55:20Z</dcterms:modified>
</cp:coreProperties>
</file>