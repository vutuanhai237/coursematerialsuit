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627"/>
  </p:normalViewPr>
  <p:slideViewPr>
    <p:cSldViewPr snapToGrid="0">
      <p:cViewPr>
        <p:scale>
          <a:sx n="285" d="100"/>
          <a:sy n="285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19AE4-EE94-5B62-4413-A7B8F9CD30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C986F-CEF4-8737-6522-F57D12215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0BD3D-291B-4931-6726-2A8A6A4E4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2507-E8A2-A144-8982-33D991F6B51E}" type="datetimeFigureOut">
              <a:t>5/4/26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974E0-69CB-5345-814F-86DC42B5F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90D4E-D17D-A6B3-5FC8-2211582FC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E420D-21ED-E34D-824E-D92106E0D2A9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07148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98C46-2C3C-ADBD-BCE5-362F8EBBF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EEF91-E5A6-A4AB-3798-02C0E944E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87BF1-28D8-B386-AE4A-B628ACC35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2507-E8A2-A144-8982-33D991F6B51E}" type="datetimeFigureOut">
              <a:t>5/4/26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AA53B-D0E3-B0E6-4F9C-C01932972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DDC8D-66B9-E25F-D282-6A3D48306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E420D-21ED-E34D-824E-D92106E0D2A9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94944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F9675-AA93-5AC2-B0B3-0ED08B53B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DF7C6-484E-D143-42A5-1A1D96587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1DBEC-78BB-7F8F-3BA1-6795B75B3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2507-E8A2-A144-8982-33D991F6B51E}" type="datetimeFigureOut">
              <a:t>5/4/26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B513A-A645-BD25-56BE-538E11BBF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17A6C-3047-1532-2410-373706AED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E420D-21ED-E34D-824E-D92106E0D2A9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74351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3B5E4-A785-E801-DAFA-CFB7FFA82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28264-BE8C-8429-5538-4600CA5BEC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A7BDA7-8002-BD5B-8725-34F82654A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33E6D0-1BCA-0B7A-6444-3ACF2E747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2507-E8A2-A144-8982-33D991F6B51E}" type="datetimeFigureOut">
              <a:t>5/4/26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DAAD8-DCDB-1353-B359-B30F70E26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BC09D-791F-4DCA-CD54-FF7A7134D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E420D-21ED-E34D-824E-D92106E0D2A9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72575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FF3F6-FC03-A294-A0A3-7EC759C2C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58C73F-053F-5F7F-7FF2-781A33628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48868-5627-7D4C-28A5-01887F879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919782-1558-DDCB-5180-D7E85FDA3F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2A7037-2D47-8E84-117C-E7C788B07B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D6C910-5CD4-3FE4-9D03-213FBF275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2507-E8A2-A144-8982-33D991F6B51E}" type="datetimeFigureOut">
              <a:t>5/4/26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897D1C-26E0-6E31-85BE-474C1315E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163718-1B80-F76C-4A6C-4B0ADB75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E420D-21ED-E34D-824E-D92106E0D2A9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61564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FF99F-9837-8813-0F81-BC45C9BFD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4A57A-9B11-3820-4009-DE0661B9B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2507-E8A2-A144-8982-33D991F6B51E}" type="datetimeFigureOut">
              <a:t>5/4/26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146069-1986-C3A3-CEAD-90DB5093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8407F0-CDFA-D42B-88A6-E1C6E000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E420D-21ED-E34D-824E-D92106E0D2A9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518546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5B786-4764-803E-9ADD-1C801232B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2507-E8A2-A144-8982-33D991F6B51E}" type="datetimeFigureOut">
              <a:t>5/4/26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C9A640-63D9-975E-9C70-E65E9345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479CD-09C3-E160-66EF-EA3FD72A4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E420D-21ED-E34D-824E-D92106E0D2A9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83972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C184C-051D-F48B-86AD-0DC977B0C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D83A6-15F9-CA24-D982-4F0B23590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06264-8ABE-760B-AD6B-DC35B9B399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768841-D74A-A37F-BD11-CCEC4FCE6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2507-E8A2-A144-8982-33D991F6B51E}" type="datetimeFigureOut">
              <a:t>5/4/26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BFA758-F433-23BD-0E31-8845A83B9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5CD98-F8A6-3EC2-DFD7-B7643934C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E420D-21ED-E34D-824E-D92106E0D2A9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50191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26D21-F58D-6B5D-7C8A-951E0058C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3BFB4-7B1E-60A2-A059-D5567A1489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9A91E-0CA4-8F3D-E08E-3E51B235B7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7ED0A-7993-8DA6-68FB-6CDB8D5BC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2507-E8A2-A144-8982-33D991F6B51E}" type="datetimeFigureOut">
              <a:t>5/4/26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2A34D-8A1A-ADDD-D1DE-1DD35E449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85A115-F37D-BE41-481B-B3198ABC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E420D-21ED-E34D-824E-D92106E0D2A9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91613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A9B0B-4C8D-249E-5859-09069689F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7828DA-9F73-702D-45F5-93137E43F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17661-D2DF-1855-C125-A193B36CE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2507-E8A2-A144-8982-33D991F6B51E}" type="datetimeFigureOut">
              <a:t>5/4/26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EB263-D2E2-8F4D-99C9-796502056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96EE5-F312-04AD-8A21-1F374103A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E420D-21ED-E34D-824E-D92106E0D2A9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48710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E1B4FB-6FCA-DA71-6B4C-F71402E87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9733B-EDEE-C524-5320-CB7792E091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E7AD0-C14F-99B6-32FA-75F66C6F9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2507-E8A2-A144-8982-33D991F6B51E}" type="datetimeFigureOut">
              <a:t>5/4/26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BEBF4-4174-9868-D63B-F1A5D4399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B94A9-3177-33EB-9DB9-51A40CCF9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E420D-21ED-E34D-824E-D92106E0D2A9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32503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BAA26-6533-591C-722F-987D5419D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33893-7E9E-77AA-4EE6-70F62DBE4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778DB-5DAF-B7D1-163C-E25E3F4D12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402507-E8A2-A144-8982-33D991F6B51E}" type="datetimeFigureOut">
              <a:t>5/4/26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77B5E-EF7A-4809-5B08-BF28A474B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E56A7-66C1-1AF0-CE2C-5BCF2C781A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8E420D-21ED-E34D-824E-D92106E0D2A9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577022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5ED90-42DC-4F3A-1A1B-D9C5B7094A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A59565-5F7A-E721-E8B8-DE7DE0F879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53225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E949A1-A152-A7BB-5364-BAC68F7F88DD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-814947" y="1091535"/>
            <a:ext cx="6611686" cy="467493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734753-D52E-091E-9C1A-17F22724DD2D}"/>
              </a:ext>
            </a:extLst>
          </p:cNvPr>
          <p:cNvSpPr txBox="1">
            <a:spLocks/>
          </p:cNvSpPr>
          <p:nvPr/>
        </p:nvSpPr>
        <p:spPr>
          <a:xfrm>
            <a:off x="347446" y="902755"/>
            <a:ext cx="44089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>
                <a:solidFill>
                  <a:schemeClr val="bg1"/>
                </a:solidFill>
                <a:latin typeface="Bungee" pitchFamily="2" charset="77"/>
                <a:ea typeface="Bungee" pitchFamily="2" charset="77"/>
              </a:rPr>
              <a:t>2026 </a:t>
            </a:r>
            <a:r>
              <a:rPr lang="en-US" sz="2400" b="1">
                <a:solidFill>
                  <a:schemeClr val="bg1"/>
                </a:solidFill>
                <a:latin typeface="Bungee" pitchFamily="2" charset="77"/>
                <a:ea typeface="Bungee" pitchFamily="2" charset="77"/>
              </a:rPr>
              <a:t>School on Quantum Optimization Algorithms (SQOA)</a:t>
            </a:r>
            <a:endParaRPr lang="en-VN" sz="2400" b="1">
              <a:solidFill>
                <a:schemeClr val="bg1"/>
              </a:solidFill>
              <a:latin typeface="Bungee" pitchFamily="2" charset="77"/>
              <a:ea typeface="Bungee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F4C3CC4-3F97-2762-88B3-8A0AD41D3B8F}"/>
              </a:ext>
            </a:extLst>
          </p:cNvPr>
          <p:cNvSpPr>
            <a:spLocks/>
          </p:cNvSpPr>
          <p:nvPr/>
        </p:nvSpPr>
        <p:spPr>
          <a:xfrm>
            <a:off x="392151" y="315457"/>
            <a:ext cx="3786198" cy="490655"/>
          </a:xfrm>
          <a:prstGeom prst="roundRect">
            <a:avLst>
              <a:gd name="adj" fmla="val 4242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5CCE88B-BFC6-788D-14D5-BAD390136F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143" y="234795"/>
            <a:ext cx="1134505" cy="55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GO TRƯỜNG - Trường Đại học Phan Thiết">
            <a:extLst>
              <a:ext uri="{FF2B5EF4-FFF2-40B4-BE49-F238E27FC236}">
                <a16:creationId xmlns:a16="http://schemas.microsoft.com/office/drawing/2014/main" id="{CDE9C993-47C0-402D-6199-3E8243FEF6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48" y="365981"/>
            <a:ext cx="400115" cy="400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iới Thiệu Trường Đại Học Thương Mại - TMU">
            <a:extLst>
              <a:ext uri="{FF2B5EF4-FFF2-40B4-BE49-F238E27FC236}">
                <a16:creationId xmlns:a16="http://schemas.microsoft.com/office/drawing/2014/main" id="{DA07B877-7FF3-DF08-C49F-D4E70F3C55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279" y="360726"/>
            <a:ext cx="649073" cy="397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ogo Phenikaa University - International Institute for Environmental Studies">
            <a:extLst>
              <a:ext uri="{FF2B5EF4-FFF2-40B4-BE49-F238E27FC236}">
                <a16:creationId xmlns:a16="http://schemas.microsoft.com/office/drawing/2014/main" id="{EE290FA9-928B-70B4-837F-DBA542C543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5057" y="348147"/>
            <a:ext cx="608946" cy="417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About | Tohoku University">
            <a:extLst>
              <a:ext uri="{FF2B5EF4-FFF2-40B4-BE49-F238E27FC236}">
                <a16:creationId xmlns:a16="http://schemas.microsoft.com/office/drawing/2014/main" id="{E702C1A8-DC90-4A53-8D3D-3928F86A1F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205" y="360582"/>
            <a:ext cx="302791" cy="409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1E68A66-584F-9145-EEEA-91F89E632229}"/>
              </a:ext>
            </a:extLst>
          </p:cNvPr>
          <p:cNvSpPr>
            <a:spLocks/>
          </p:cNvSpPr>
          <p:nvPr/>
        </p:nvSpPr>
        <p:spPr>
          <a:xfrm>
            <a:off x="431348" y="2616330"/>
            <a:ext cx="1023671" cy="33528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600" b="1">
                <a:solidFill>
                  <a:schemeClr val="tx1"/>
                </a:solidFill>
              </a:rPr>
              <a:t>22 – 25/4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DB6736-F90C-6951-3AA3-4F3687091B04}"/>
              </a:ext>
            </a:extLst>
          </p:cNvPr>
          <p:cNvSpPr txBox="1">
            <a:spLocks/>
          </p:cNvSpPr>
          <p:nvPr/>
        </p:nvSpPr>
        <p:spPr>
          <a:xfrm>
            <a:off x="1455019" y="2578237"/>
            <a:ext cx="35000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solidFill>
                  <a:schemeClr val="bg1"/>
                </a:solidFill>
              </a:rPr>
              <a:t>University of Phan Thiet</a:t>
            </a:r>
            <a:r>
              <a:rPr lang="en-VN" sz="1000" b="1">
                <a:solidFill>
                  <a:schemeClr val="bg1"/>
                </a:solidFill>
              </a:rPr>
              <a:t>, </a:t>
            </a:r>
            <a:r>
              <a:rPr lang="en-VN" sz="900" b="1">
                <a:solidFill>
                  <a:schemeClr val="bg1"/>
                </a:solidFill>
              </a:rPr>
              <a:t>Phu Thuy, Lam Dong</a:t>
            </a:r>
            <a:endParaRPr lang="en-VN" sz="1000" b="1">
              <a:solidFill>
                <a:schemeClr val="bg1"/>
              </a:solidFill>
            </a:endParaRPr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9E5D5A20-D701-079A-91D4-1FA83F6CAE48}"/>
              </a:ext>
            </a:extLst>
          </p:cNvPr>
          <p:cNvSpPr>
            <a:spLocks/>
          </p:cNvSpPr>
          <p:nvPr/>
        </p:nvSpPr>
        <p:spPr>
          <a:xfrm>
            <a:off x="467871" y="3094802"/>
            <a:ext cx="1368000" cy="224758"/>
          </a:xfrm>
          <a:prstGeom prst="homePlat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tx1"/>
                </a:solidFill>
              </a:rPr>
              <a:t>Scientific Advisors</a:t>
            </a:r>
            <a:endParaRPr lang="en-VN" sz="110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D371CC-10A5-AC1A-07FA-8FF1DDDAB682}"/>
              </a:ext>
            </a:extLst>
          </p:cNvPr>
          <p:cNvSpPr txBox="1">
            <a:spLocks/>
          </p:cNvSpPr>
          <p:nvPr/>
        </p:nvSpPr>
        <p:spPr>
          <a:xfrm>
            <a:off x="392151" y="3355549"/>
            <a:ext cx="2313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E2E5E9"/>
                </a:solidFill>
                <a:latin typeface="system-ui"/>
              </a:rPr>
              <a:t>Prof</a:t>
            </a:r>
            <a:r>
              <a:rPr lang="en-US" sz="1200" b="0" i="0">
                <a:solidFill>
                  <a:srgbClr val="E2E5E9"/>
                </a:solidFill>
                <a:effectLst/>
                <a:latin typeface="system-ui"/>
              </a:rPr>
              <a:t>. Nguyen Minh Tho, VinUni </a:t>
            </a:r>
          </a:p>
          <a:p>
            <a:r>
              <a:rPr lang="en-US" sz="1200">
                <a:solidFill>
                  <a:srgbClr val="E2E5E9"/>
                </a:solidFill>
                <a:latin typeface="system-ui"/>
              </a:rPr>
              <a:t>Prof</a:t>
            </a:r>
            <a:r>
              <a:rPr lang="en-US" sz="1200" b="0" i="0">
                <a:solidFill>
                  <a:srgbClr val="E2E5E9"/>
                </a:solidFill>
                <a:effectLst/>
                <a:latin typeface="system-ui"/>
              </a:rPr>
              <a:t>. Le Van Hoang, HCMUE</a:t>
            </a:r>
            <a:endParaRPr lang="en-VN" sz="1200"/>
          </a:p>
        </p:txBody>
      </p:sp>
      <p:sp>
        <p:nvSpPr>
          <p:cNvPr id="13" name="Pentagon 12">
            <a:extLst>
              <a:ext uri="{FF2B5EF4-FFF2-40B4-BE49-F238E27FC236}">
                <a16:creationId xmlns:a16="http://schemas.microsoft.com/office/drawing/2014/main" id="{9DDC8B92-E6A1-74CC-BDD0-D7E0ED57F506}"/>
              </a:ext>
            </a:extLst>
          </p:cNvPr>
          <p:cNvSpPr>
            <a:spLocks/>
          </p:cNvSpPr>
          <p:nvPr/>
        </p:nvSpPr>
        <p:spPr>
          <a:xfrm>
            <a:off x="467871" y="3871154"/>
            <a:ext cx="1610960" cy="224758"/>
          </a:xfrm>
          <a:prstGeom prst="homePlat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tx1"/>
                </a:solidFill>
              </a:rPr>
              <a:t>Organizing Committee</a:t>
            </a:r>
            <a:endParaRPr lang="en-VN" sz="110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49E463-01BF-72AF-867B-468782A5F5CB}"/>
              </a:ext>
            </a:extLst>
          </p:cNvPr>
          <p:cNvSpPr txBox="1">
            <a:spLocks/>
          </p:cNvSpPr>
          <p:nvPr/>
        </p:nvSpPr>
        <p:spPr>
          <a:xfrm>
            <a:off x="392150" y="4131901"/>
            <a:ext cx="2588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200">
                <a:solidFill>
                  <a:srgbClr val="E2E5E9"/>
                </a:solidFill>
                <a:latin typeface="system-ui"/>
              </a:rPr>
              <a:t>Dr</a:t>
            </a:r>
            <a:r>
              <a:rPr lang="vi-VN" sz="1200" b="0" i="0">
                <a:solidFill>
                  <a:srgbClr val="E2E5E9"/>
                </a:solidFill>
                <a:effectLst/>
                <a:latin typeface="system-ui"/>
              </a:rPr>
              <a:t>. Tran Nguyen Lan, US-VNUHCM</a:t>
            </a:r>
          </a:p>
          <a:p>
            <a:r>
              <a:rPr lang="vi-VN" sz="1200">
                <a:solidFill>
                  <a:srgbClr val="E2E5E9"/>
                </a:solidFill>
                <a:latin typeface="system-ui"/>
              </a:rPr>
              <a:t>Dr</a:t>
            </a:r>
            <a:r>
              <a:rPr lang="vi-VN" sz="1200" b="0" i="0">
                <a:solidFill>
                  <a:srgbClr val="E2E5E9"/>
                </a:solidFill>
                <a:effectLst/>
                <a:latin typeface="system-ui"/>
              </a:rPr>
              <a:t>. Nguyen Minh Tam, UPT</a:t>
            </a:r>
            <a:endParaRPr lang="en-VN" sz="1200" b="0" i="0">
              <a:solidFill>
                <a:srgbClr val="E2E5E9"/>
              </a:solidFill>
              <a:effectLst/>
              <a:latin typeface="system-ui"/>
            </a:endParaRPr>
          </a:p>
          <a:p>
            <a:r>
              <a:rPr lang="en-VN" sz="1200">
                <a:solidFill>
                  <a:srgbClr val="E2E5E9"/>
                </a:solidFill>
                <a:latin typeface="system-ui"/>
              </a:rPr>
              <a:t>Msc. Truong Đuc Toan, VLU</a:t>
            </a:r>
            <a:endParaRPr lang="vi-VN" sz="1200" b="0" i="0">
              <a:solidFill>
                <a:srgbClr val="E2E5E9"/>
              </a:solidFill>
              <a:effectLst/>
              <a:latin typeface="system-ui"/>
            </a:endParaRPr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BEC74E81-53C6-395B-3373-90E70F2EF915}"/>
              </a:ext>
            </a:extLst>
          </p:cNvPr>
          <p:cNvSpPr>
            <a:spLocks/>
          </p:cNvSpPr>
          <p:nvPr/>
        </p:nvSpPr>
        <p:spPr>
          <a:xfrm>
            <a:off x="477393" y="4833629"/>
            <a:ext cx="751332" cy="224758"/>
          </a:xfrm>
          <a:prstGeom prst="homePlat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tx1"/>
                </a:solidFill>
              </a:rPr>
              <a:t>Lecturer</a:t>
            </a:r>
            <a:endParaRPr lang="en-VN" sz="110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2E67B1-7946-8544-8FD4-F07D25210351}"/>
              </a:ext>
            </a:extLst>
          </p:cNvPr>
          <p:cNvSpPr>
            <a:spLocks/>
          </p:cNvSpPr>
          <p:nvPr/>
        </p:nvSpPr>
        <p:spPr>
          <a:xfrm>
            <a:off x="1561773" y="2859668"/>
            <a:ext cx="3276000" cy="497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6" name="Freeform 13">
            <a:extLst>
              <a:ext uri="{FF2B5EF4-FFF2-40B4-BE49-F238E27FC236}">
                <a16:creationId xmlns:a16="http://schemas.microsoft.com/office/drawing/2014/main" id="{10F60DB3-FC03-7BDD-7541-AE023758A8E2}"/>
              </a:ext>
            </a:extLst>
          </p:cNvPr>
          <p:cNvSpPr>
            <a:spLocks noChangeAspect="1"/>
          </p:cNvSpPr>
          <p:nvPr/>
        </p:nvSpPr>
        <p:spPr>
          <a:xfrm>
            <a:off x="4142508" y="1695438"/>
            <a:ext cx="542562" cy="574238"/>
          </a:xfrm>
          <a:custGeom>
            <a:avLst/>
            <a:gdLst/>
            <a:ahLst/>
            <a:cxnLst/>
            <a:rect l="l" t="t" r="r" b="b"/>
            <a:pathLst>
              <a:path w="1244967" h="1317652">
                <a:moveTo>
                  <a:pt x="0" y="0"/>
                </a:moveTo>
                <a:lnTo>
                  <a:pt x="1244968" y="0"/>
                </a:lnTo>
                <a:lnTo>
                  <a:pt x="1244968" y="1317653"/>
                </a:lnTo>
                <a:lnTo>
                  <a:pt x="0" y="13176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VN"/>
          </a:p>
        </p:txBody>
      </p:sp>
      <p:sp>
        <p:nvSpPr>
          <p:cNvPr id="29" name="Freeform 14">
            <a:extLst>
              <a:ext uri="{FF2B5EF4-FFF2-40B4-BE49-F238E27FC236}">
                <a16:creationId xmlns:a16="http://schemas.microsoft.com/office/drawing/2014/main" id="{1D4B7C81-512E-FF50-B58F-92A638DE1DEC}"/>
              </a:ext>
            </a:extLst>
          </p:cNvPr>
          <p:cNvSpPr>
            <a:spLocks noChangeAspect="1"/>
          </p:cNvSpPr>
          <p:nvPr/>
        </p:nvSpPr>
        <p:spPr>
          <a:xfrm rot="16200000" flipV="1">
            <a:off x="4332205" y="325872"/>
            <a:ext cx="308221" cy="304858"/>
          </a:xfrm>
          <a:custGeom>
            <a:avLst/>
            <a:gdLst/>
            <a:ahLst/>
            <a:cxnLst/>
            <a:rect l="l" t="t" r="r" b="b"/>
            <a:pathLst>
              <a:path w="1246344" h="1232747">
                <a:moveTo>
                  <a:pt x="1246344" y="0"/>
                </a:moveTo>
                <a:lnTo>
                  <a:pt x="0" y="0"/>
                </a:lnTo>
                <a:lnTo>
                  <a:pt x="0" y="1232747"/>
                </a:lnTo>
                <a:lnTo>
                  <a:pt x="1246344" y="1232747"/>
                </a:lnTo>
                <a:lnTo>
                  <a:pt x="1246344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pic>
        <p:nvPicPr>
          <p:cNvPr id="31" name="Picture 3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98D2D4C-AAEB-61F0-B279-2E19DEA9935A}"/>
              </a:ext>
            </a:extLst>
          </p:cNvPr>
          <p:cNvPicPr>
            <a:picLocks noChangeAspect="1"/>
          </p:cNvPicPr>
          <p:nvPr/>
        </p:nvPicPr>
        <p:blipFill>
          <a:blip r:embed="rId11">
            <a:lum bright="70000" contrast="-70000"/>
          </a:blip>
          <a:stretch>
            <a:fillRect/>
          </a:stretch>
        </p:blipFill>
        <p:spPr>
          <a:xfrm>
            <a:off x="3192408" y="959281"/>
            <a:ext cx="323109" cy="323109"/>
          </a:xfrm>
          <a:prstGeom prst="rect">
            <a:avLst/>
          </a:prstGeom>
        </p:spPr>
      </p:pic>
      <p:sp>
        <p:nvSpPr>
          <p:cNvPr id="33" name="Triangle 32">
            <a:extLst>
              <a:ext uri="{FF2B5EF4-FFF2-40B4-BE49-F238E27FC236}">
                <a16:creationId xmlns:a16="http://schemas.microsoft.com/office/drawing/2014/main" id="{308CDD5A-3BD9-E885-EA8B-E0A678C76FAC}"/>
              </a:ext>
            </a:extLst>
          </p:cNvPr>
          <p:cNvSpPr>
            <a:spLocks/>
          </p:cNvSpPr>
          <p:nvPr/>
        </p:nvSpPr>
        <p:spPr>
          <a:xfrm>
            <a:off x="153431" y="5096419"/>
            <a:ext cx="1848363" cy="1637173"/>
          </a:xfrm>
          <a:prstGeom prst="triangle">
            <a:avLst>
              <a:gd name="adj" fmla="val 0"/>
            </a:avLst>
          </a:prstGeom>
          <a:gradFill flip="none" rotWithShape="1">
            <a:gsLst>
              <a:gs pos="27000">
                <a:schemeClr val="accent1">
                  <a:lumMod val="60000"/>
                  <a:lumOff val="40000"/>
                  <a:tint val="66000"/>
                  <a:satMod val="160000"/>
                  <a:alpha val="0"/>
                </a:schemeClr>
              </a:gs>
              <a:gs pos="93000">
                <a:schemeClr val="accent1">
                  <a:tint val="44500"/>
                  <a:satMod val="160000"/>
                  <a:lumMod val="57967"/>
                  <a:lumOff val="42033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AB212C-6E73-031C-9A7F-BAE2EC533B15}"/>
              </a:ext>
            </a:extLst>
          </p:cNvPr>
          <p:cNvSpPr txBox="1">
            <a:spLocks/>
          </p:cNvSpPr>
          <p:nvPr/>
        </p:nvSpPr>
        <p:spPr>
          <a:xfrm>
            <a:off x="3216588" y="6264901"/>
            <a:ext cx="134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900" b="1">
                <a:solidFill>
                  <a:schemeClr val="bg1"/>
                </a:solidFill>
              </a:rPr>
              <a:t>Registration deadline: 31/03/2026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362B2D-12CF-D056-30F1-3E6A55C47759}"/>
              </a:ext>
            </a:extLst>
          </p:cNvPr>
          <p:cNvSpPr txBox="1">
            <a:spLocks/>
          </p:cNvSpPr>
          <p:nvPr/>
        </p:nvSpPr>
        <p:spPr>
          <a:xfrm>
            <a:off x="401672" y="5094375"/>
            <a:ext cx="283712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200">
                <a:solidFill>
                  <a:srgbClr val="E2E5E9"/>
                </a:solidFill>
                <a:latin typeface="system-ui"/>
              </a:rPr>
              <a:t>Assist.Prof</a:t>
            </a:r>
            <a:r>
              <a:rPr lang="vi-VN" sz="1200" b="0" i="0">
                <a:solidFill>
                  <a:srgbClr val="E2E5E9"/>
                </a:solidFill>
                <a:effectLst/>
                <a:latin typeface="system-ui"/>
              </a:rPr>
              <a:t>. Le Bin Ho, Tohoku Univ</a:t>
            </a:r>
          </a:p>
          <a:p>
            <a:r>
              <a:rPr lang="vi-VN" sz="1200">
                <a:solidFill>
                  <a:srgbClr val="E2E5E9"/>
                </a:solidFill>
                <a:latin typeface="system-ui"/>
              </a:rPr>
              <a:t>Dr</a:t>
            </a:r>
            <a:r>
              <a:rPr lang="vi-VN" sz="1200" b="0" i="0">
                <a:solidFill>
                  <a:srgbClr val="E2E5E9"/>
                </a:solidFill>
                <a:effectLst/>
                <a:latin typeface="system-ui"/>
              </a:rPr>
              <a:t>. Nguyen Van Duy, Phenikaa Univ</a:t>
            </a:r>
          </a:p>
          <a:p>
            <a:r>
              <a:rPr lang="vi-VN" sz="1200">
                <a:solidFill>
                  <a:srgbClr val="E2E5E9"/>
                </a:solidFill>
                <a:latin typeface="system-ui"/>
              </a:rPr>
              <a:t>Dr</a:t>
            </a:r>
            <a:r>
              <a:rPr lang="vi-VN" sz="1200" b="0" i="0">
                <a:solidFill>
                  <a:srgbClr val="E2E5E9"/>
                </a:solidFill>
                <a:effectLst/>
                <a:latin typeface="system-ui"/>
              </a:rPr>
              <a:t>. Huynh Minh Trung, US-VNUHCM</a:t>
            </a:r>
          </a:p>
          <a:p>
            <a:r>
              <a:rPr lang="vi-VN" sz="1200">
                <a:solidFill>
                  <a:srgbClr val="E2E5E9"/>
                </a:solidFill>
                <a:latin typeface="system-ui"/>
              </a:rPr>
              <a:t>Dr</a:t>
            </a:r>
            <a:r>
              <a:rPr lang="vi-VN" sz="1200" b="0" i="0">
                <a:solidFill>
                  <a:srgbClr val="E2E5E9"/>
                </a:solidFill>
                <a:effectLst/>
                <a:latin typeface="system-ui"/>
              </a:rPr>
              <a:t>. Vu Tuan Hai, UIT-VNUHCM</a:t>
            </a:r>
          </a:p>
          <a:p>
            <a:r>
              <a:rPr lang="vi-VN" sz="1200">
                <a:solidFill>
                  <a:srgbClr val="E2E5E9"/>
                </a:solidFill>
                <a:latin typeface="system-ui"/>
              </a:rPr>
              <a:t>MA</a:t>
            </a:r>
            <a:r>
              <a:rPr lang="vi-VN" sz="1200" b="0" i="0">
                <a:solidFill>
                  <a:srgbClr val="E2E5E9"/>
                </a:solidFill>
                <a:effectLst/>
                <a:latin typeface="system-ui"/>
              </a:rPr>
              <a:t>. Nguyen Quoc Chuong, DTU</a:t>
            </a:r>
            <a:endParaRPr lang="en-VN" sz="1200"/>
          </a:p>
        </p:txBody>
      </p:sp>
      <p:pic>
        <p:nvPicPr>
          <p:cNvPr id="18" name="Graphic 17" descr="Envelope with solid fill">
            <a:extLst>
              <a:ext uri="{FF2B5EF4-FFF2-40B4-BE49-F238E27FC236}">
                <a16:creationId xmlns:a16="http://schemas.microsoft.com/office/drawing/2014/main" id="{81FA308E-CBFB-EB6A-1A71-F8119E95C70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0656" y="6315130"/>
            <a:ext cx="297535" cy="29753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16DBCC6-6AC5-EF1A-D35E-02EE7B82836B}"/>
              </a:ext>
            </a:extLst>
          </p:cNvPr>
          <p:cNvSpPr txBox="1">
            <a:spLocks/>
          </p:cNvSpPr>
          <p:nvPr/>
        </p:nvSpPr>
        <p:spPr>
          <a:xfrm>
            <a:off x="757302" y="6358494"/>
            <a:ext cx="21258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900" b="1">
                <a:solidFill>
                  <a:schemeClr val="bg1"/>
                </a:solidFill>
              </a:rPr>
              <a:t>Email: quantum.vnuhcm@gmail.com</a:t>
            </a:r>
          </a:p>
        </p:txBody>
      </p:sp>
      <p:sp>
        <p:nvSpPr>
          <p:cNvPr id="34" name="Triangle 33">
            <a:extLst>
              <a:ext uri="{FF2B5EF4-FFF2-40B4-BE49-F238E27FC236}">
                <a16:creationId xmlns:a16="http://schemas.microsoft.com/office/drawing/2014/main" id="{871776F9-EA02-F1E7-DFD3-3D92A731DC71}"/>
              </a:ext>
            </a:extLst>
          </p:cNvPr>
          <p:cNvSpPr>
            <a:spLocks/>
          </p:cNvSpPr>
          <p:nvPr/>
        </p:nvSpPr>
        <p:spPr>
          <a:xfrm flipH="1" flipV="1">
            <a:off x="1826096" y="2961028"/>
            <a:ext cx="3002262" cy="2713005"/>
          </a:xfrm>
          <a:prstGeom prst="triangle">
            <a:avLst>
              <a:gd name="adj" fmla="val 0"/>
            </a:avLst>
          </a:prstGeom>
          <a:gradFill flip="none" rotWithShape="1">
            <a:gsLst>
              <a:gs pos="27000">
                <a:schemeClr val="accent1">
                  <a:lumMod val="60000"/>
                  <a:lumOff val="40000"/>
                  <a:tint val="66000"/>
                  <a:satMod val="160000"/>
                  <a:alpha val="0"/>
                </a:schemeClr>
              </a:gs>
              <a:gs pos="93000">
                <a:schemeClr val="accent1">
                  <a:tint val="44500"/>
                  <a:satMod val="160000"/>
                  <a:lumMod val="57967"/>
                  <a:lumOff val="42033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EF4744-43B3-79E1-C347-E643DD592B52}"/>
              </a:ext>
            </a:extLst>
          </p:cNvPr>
          <p:cNvSpPr txBox="1">
            <a:spLocks/>
          </p:cNvSpPr>
          <p:nvPr/>
        </p:nvSpPr>
        <p:spPr>
          <a:xfrm>
            <a:off x="2402543" y="3006753"/>
            <a:ext cx="24143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1" i="0" u="sng">
                <a:effectLst/>
                <a:latin typeface="system-ui"/>
              </a:rPr>
              <a:t>Date 1:</a:t>
            </a:r>
          </a:p>
          <a:p>
            <a:pPr algn="r"/>
            <a:r>
              <a:rPr lang="en-US" sz="1200">
                <a:latin typeface="system-ui"/>
              </a:rPr>
              <a:t>Foundation for quantum computing</a:t>
            </a:r>
          </a:p>
          <a:p>
            <a:pPr algn="r"/>
            <a:r>
              <a:rPr lang="en-US" sz="1200" b="1" u="sng">
                <a:latin typeface="system-ui"/>
              </a:rPr>
              <a:t>Date 2:</a:t>
            </a:r>
          </a:p>
          <a:p>
            <a:pPr algn="r"/>
            <a:r>
              <a:rPr lang="en-US" sz="1200">
                <a:latin typeface="system-ui"/>
              </a:rPr>
              <a:t>Basic quantum computing</a:t>
            </a:r>
          </a:p>
          <a:p>
            <a:pPr algn="r"/>
            <a:r>
              <a:rPr lang="en-US" sz="1200" b="1" u="sng">
                <a:latin typeface="system-ui"/>
              </a:rPr>
              <a:t>Date 3:</a:t>
            </a:r>
          </a:p>
          <a:p>
            <a:pPr algn="r"/>
            <a:r>
              <a:rPr lang="en-US" sz="1200">
                <a:latin typeface="system-ui"/>
              </a:rPr>
              <a:t>Project: Q-optimization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AB9890-B64B-1C6B-ECD9-E5DCD740BF48}"/>
              </a:ext>
            </a:extLst>
          </p:cNvPr>
          <p:cNvSpPr txBox="1">
            <a:spLocks/>
          </p:cNvSpPr>
          <p:nvPr/>
        </p:nvSpPr>
        <p:spPr>
          <a:xfrm>
            <a:off x="364600" y="2012666"/>
            <a:ext cx="38013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sz="800" b="0" i="0">
                <a:solidFill>
                  <a:srgbClr val="E2E5E9"/>
                </a:solidFill>
                <a:effectLst/>
                <a:latin typeface="system-ui"/>
              </a:rPr>
              <a:t>The School on Quantum Optimization Algorithms (SQOA) 2026 is a specialized program for undergraduate and graduate students interested in quantum optimization algorithms. The course provides a theoretical foundation, the latest results, and the implementation of quantum optimization algorithms through hands-on projects.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1E0C123-E6F2-CDC6-D271-7AECA014F482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4967556" y="123156"/>
            <a:ext cx="6910851" cy="46072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1F61B92-4450-48F5-334C-0B0F02152E3D}"/>
              </a:ext>
            </a:extLst>
          </p:cNvPr>
          <p:cNvSpPr txBox="1">
            <a:spLocks/>
          </p:cNvSpPr>
          <p:nvPr/>
        </p:nvSpPr>
        <p:spPr>
          <a:xfrm>
            <a:off x="5088960" y="911890"/>
            <a:ext cx="680194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300" b="1">
                <a:solidFill>
                  <a:schemeClr val="bg1"/>
                </a:solidFill>
                <a:latin typeface="Bungee" pitchFamily="2" charset="77"/>
                <a:ea typeface="Bungee" pitchFamily="2" charset="77"/>
              </a:rPr>
              <a:t>2026 </a:t>
            </a:r>
            <a:r>
              <a:rPr lang="en-US" sz="2300" b="1">
                <a:solidFill>
                  <a:schemeClr val="bg1"/>
                </a:solidFill>
                <a:latin typeface="Bungee" pitchFamily="2" charset="77"/>
                <a:ea typeface="Bungee" pitchFamily="2" charset="77"/>
              </a:rPr>
              <a:t>School on </a:t>
            </a:r>
          </a:p>
          <a:p>
            <a:r>
              <a:rPr lang="en-US" sz="2300" b="1">
                <a:solidFill>
                  <a:schemeClr val="bg1"/>
                </a:solidFill>
                <a:latin typeface="Bungee" pitchFamily="2" charset="77"/>
                <a:ea typeface="Bungee" pitchFamily="2" charset="77"/>
              </a:rPr>
              <a:t>Quantum Optimization Algorithms </a:t>
            </a:r>
            <a:endParaRPr lang="en-VN" sz="2300" b="1">
              <a:solidFill>
                <a:schemeClr val="bg1"/>
              </a:solidFill>
              <a:latin typeface="Bungee" pitchFamily="2" charset="77"/>
              <a:ea typeface="Bungee" pitchFamily="2" charset="77"/>
            </a:endParaRPr>
          </a:p>
        </p:txBody>
      </p:sp>
      <p:sp>
        <p:nvSpPr>
          <p:cNvPr id="47" name="Freeform 14">
            <a:extLst>
              <a:ext uri="{FF2B5EF4-FFF2-40B4-BE49-F238E27FC236}">
                <a16:creationId xmlns:a16="http://schemas.microsoft.com/office/drawing/2014/main" id="{A9C8A1E2-8BAD-0E7F-BE6C-4605C2BF8B0D}"/>
              </a:ext>
            </a:extLst>
          </p:cNvPr>
          <p:cNvSpPr>
            <a:spLocks noChangeAspect="1"/>
          </p:cNvSpPr>
          <p:nvPr/>
        </p:nvSpPr>
        <p:spPr>
          <a:xfrm rot="16200000" flipV="1">
            <a:off x="11134923" y="318789"/>
            <a:ext cx="481921" cy="476663"/>
          </a:xfrm>
          <a:custGeom>
            <a:avLst/>
            <a:gdLst/>
            <a:ahLst/>
            <a:cxnLst/>
            <a:rect l="l" t="t" r="r" b="b"/>
            <a:pathLst>
              <a:path w="1246344" h="1232747">
                <a:moveTo>
                  <a:pt x="1246344" y="0"/>
                </a:moveTo>
                <a:lnTo>
                  <a:pt x="0" y="0"/>
                </a:lnTo>
                <a:lnTo>
                  <a:pt x="0" y="1232747"/>
                </a:lnTo>
                <a:lnTo>
                  <a:pt x="1246344" y="1232747"/>
                </a:lnTo>
                <a:lnTo>
                  <a:pt x="1246344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E63B351-1FF1-1172-76F5-52F447EBBFCB}"/>
              </a:ext>
            </a:extLst>
          </p:cNvPr>
          <p:cNvSpPr txBox="1">
            <a:spLocks/>
          </p:cNvSpPr>
          <p:nvPr/>
        </p:nvSpPr>
        <p:spPr>
          <a:xfrm>
            <a:off x="5106279" y="2040514"/>
            <a:ext cx="37910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sz="800" b="0" i="0">
                <a:solidFill>
                  <a:srgbClr val="E2E5E9"/>
                </a:solidFill>
                <a:effectLst/>
                <a:latin typeface="system-ui"/>
              </a:rPr>
              <a:t>The School on Quantum Optimization Algorithms (SQOA) 2026 is a specialized program for undergraduate and graduate students interested in quantum optimization algorithms. The course provides a theoretical foundation, the latest results, and the implementation of quantum optimization algorithms through hands-on projects.</a:t>
            </a:r>
          </a:p>
        </p:txBody>
      </p:sp>
      <p:sp>
        <p:nvSpPr>
          <p:cNvPr id="49" name="Pentagon 48">
            <a:extLst>
              <a:ext uri="{FF2B5EF4-FFF2-40B4-BE49-F238E27FC236}">
                <a16:creationId xmlns:a16="http://schemas.microsoft.com/office/drawing/2014/main" id="{88059F23-E693-87A7-66C1-346A99B7BF8A}"/>
              </a:ext>
            </a:extLst>
          </p:cNvPr>
          <p:cNvSpPr>
            <a:spLocks/>
          </p:cNvSpPr>
          <p:nvPr/>
        </p:nvSpPr>
        <p:spPr>
          <a:xfrm>
            <a:off x="5191205" y="2661068"/>
            <a:ext cx="1368000" cy="224758"/>
          </a:xfrm>
          <a:prstGeom prst="homePlat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tx1"/>
                </a:solidFill>
              </a:rPr>
              <a:t>Scientific Advisors</a:t>
            </a:r>
            <a:endParaRPr lang="en-VN" sz="1100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D7D2F62-00B4-ED7A-1067-43D3E31D3310}"/>
              </a:ext>
            </a:extLst>
          </p:cNvPr>
          <p:cNvSpPr txBox="1">
            <a:spLocks/>
          </p:cNvSpPr>
          <p:nvPr/>
        </p:nvSpPr>
        <p:spPr>
          <a:xfrm>
            <a:off x="5115484" y="2921815"/>
            <a:ext cx="22502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E2E5E9"/>
                </a:solidFill>
                <a:latin typeface="system-ui"/>
              </a:rPr>
              <a:t>Prof</a:t>
            </a:r>
            <a:r>
              <a:rPr lang="en-US" sz="1200" b="0" i="0">
                <a:solidFill>
                  <a:srgbClr val="E2E5E9"/>
                </a:solidFill>
                <a:effectLst/>
                <a:latin typeface="system-ui"/>
              </a:rPr>
              <a:t>. Nguyen Minh Tho, VinUni </a:t>
            </a:r>
          </a:p>
          <a:p>
            <a:r>
              <a:rPr lang="en-US" sz="1200">
                <a:solidFill>
                  <a:srgbClr val="E2E5E9"/>
                </a:solidFill>
                <a:latin typeface="system-ui"/>
              </a:rPr>
              <a:t>Prof</a:t>
            </a:r>
            <a:r>
              <a:rPr lang="en-US" sz="1200" b="0" i="0">
                <a:solidFill>
                  <a:srgbClr val="E2E5E9"/>
                </a:solidFill>
                <a:effectLst/>
                <a:latin typeface="system-ui"/>
              </a:rPr>
              <a:t>. Le Van Hoang, HCMUE</a:t>
            </a:r>
            <a:endParaRPr lang="en-VN" sz="12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471021-AFC5-6FE4-AFB6-0214E80BDBE2}"/>
              </a:ext>
            </a:extLst>
          </p:cNvPr>
          <p:cNvSpPr txBox="1">
            <a:spLocks/>
          </p:cNvSpPr>
          <p:nvPr/>
        </p:nvSpPr>
        <p:spPr>
          <a:xfrm>
            <a:off x="5115484" y="3648739"/>
            <a:ext cx="2481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200">
                <a:solidFill>
                  <a:srgbClr val="E2E5E9"/>
                </a:solidFill>
                <a:latin typeface="system-ui"/>
              </a:rPr>
              <a:t>Dr</a:t>
            </a:r>
            <a:r>
              <a:rPr lang="vi-VN" sz="1200" b="0" i="0">
                <a:solidFill>
                  <a:srgbClr val="E2E5E9"/>
                </a:solidFill>
                <a:effectLst/>
                <a:latin typeface="system-ui"/>
              </a:rPr>
              <a:t>. Tran Nguyen Lan, US-VNUHCM</a:t>
            </a:r>
          </a:p>
          <a:p>
            <a:r>
              <a:rPr lang="vi-VN" sz="1200">
                <a:solidFill>
                  <a:srgbClr val="E2E5E9"/>
                </a:solidFill>
                <a:latin typeface="system-ui"/>
              </a:rPr>
              <a:t>Dr</a:t>
            </a:r>
            <a:r>
              <a:rPr lang="vi-VN" sz="1200" b="0" i="0">
                <a:solidFill>
                  <a:srgbClr val="E2E5E9"/>
                </a:solidFill>
                <a:effectLst/>
                <a:latin typeface="system-ui"/>
              </a:rPr>
              <a:t>. Nguyen Minh Tam, UPT</a:t>
            </a:r>
            <a:endParaRPr lang="en-VN" sz="1200" b="0" i="0">
              <a:solidFill>
                <a:srgbClr val="E2E5E9"/>
              </a:solidFill>
              <a:effectLst/>
              <a:latin typeface="system-ui"/>
            </a:endParaRPr>
          </a:p>
          <a:p>
            <a:r>
              <a:rPr lang="en-VN" sz="1200">
                <a:solidFill>
                  <a:srgbClr val="E2E5E9"/>
                </a:solidFill>
                <a:latin typeface="system-ui"/>
              </a:rPr>
              <a:t>Msc. Truong Đuc Toan, VLU</a:t>
            </a:r>
            <a:endParaRPr lang="vi-VN" sz="1200" b="0" i="0">
              <a:solidFill>
                <a:srgbClr val="E2E5E9"/>
              </a:solidFill>
              <a:effectLst/>
              <a:latin typeface="system-ui"/>
            </a:endParaRPr>
          </a:p>
        </p:txBody>
      </p:sp>
      <p:sp>
        <p:nvSpPr>
          <p:cNvPr id="53" name="Pentagon 52">
            <a:extLst>
              <a:ext uri="{FF2B5EF4-FFF2-40B4-BE49-F238E27FC236}">
                <a16:creationId xmlns:a16="http://schemas.microsoft.com/office/drawing/2014/main" id="{E851EB87-7C15-A6F2-EE46-000C97761553}"/>
              </a:ext>
            </a:extLst>
          </p:cNvPr>
          <p:cNvSpPr>
            <a:spLocks/>
          </p:cNvSpPr>
          <p:nvPr/>
        </p:nvSpPr>
        <p:spPr>
          <a:xfrm>
            <a:off x="7487755" y="2659025"/>
            <a:ext cx="763276" cy="224758"/>
          </a:xfrm>
          <a:prstGeom prst="homePlat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tx1"/>
                </a:solidFill>
              </a:rPr>
              <a:t>Lecturer</a:t>
            </a:r>
            <a:endParaRPr lang="en-VN" sz="1100">
              <a:solidFill>
                <a:schemeClr val="tx1"/>
              </a:solidFill>
            </a:endParaRPr>
          </a:p>
        </p:txBody>
      </p:sp>
      <p:sp>
        <p:nvSpPr>
          <p:cNvPr id="54" name="Triangle 53">
            <a:extLst>
              <a:ext uri="{FF2B5EF4-FFF2-40B4-BE49-F238E27FC236}">
                <a16:creationId xmlns:a16="http://schemas.microsoft.com/office/drawing/2014/main" id="{0CEE697C-D5B2-3B28-5716-CA3B5D19142C}"/>
              </a:ext>
            </a:extLst>
          </p:cNvPr>
          <p:cNvSpPr>
            <a:spLocks/>
          </p:cNvSpPr>
          <p:nvPr/>
        </p:nvSpPr>
        <p:spPr>
          <a:xfrm>
            <a:off x="4963291" y="3094802"/>
            <a:ext cx="1848363" cy="1637173"/>
          </a:xfrm>
          <a:prstGeom prst="triangle">
            <a:avLst>
              <a:gd name="adj" fmla="val 0"/>
            </a:avLst>
          </a:prstGeom>
          <a:gradFill flip="none" rotWithShape="1">
            <a:gsLst>
              <a:gs pos="27000">
                <a:schemeClr val="accent1">
                  <a:lumMod val="60000"/>
                  <a:lumOff val="40000"/>
                  <a:tint val="66000"/>
                  <a:satMod val="160000"/>
                  <a:alpha val="0"/>
                </a:schemeClr>
              </a:gs>
              <a:gs pos="93000">
                <a:schemeClr val="accent1">
                  <a:tint val="44500"/>
                  <a:satMod val="160000"/>
                  <a:lumMod val="57967"/>
                  <a:lumOff val="42033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711563E-14F6-CC55-C424-186C2FF4C85C}"/>
              </a:ext>
            </a:extLst>
          </p:cNvPr>
          <p:cNvSpPr txBox="1">
            <a:spLocks/>
          </p:cNvSpPr>
          <p:nvPr/>
        </p:nvSpPr>
        <p:spPr>
          <a:xfrm>
            <a:off x="7412034" y="2919771"/>
            <a:ext cx="283712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200">
                <a:solidFill>
                  <a:srgbClr val="E2E5E9"/>
                </a:solidFill>
                <a:latin typeface="system-ui"/>
              </a:rPr>
              <a:t>Assist.Prof</a:t>
            </a:r>
            <a:r>
              <a:rPr lang="vi-VN" sz="1200" b="0" i="0">
                <a:solidFill>
                  <a:srgbClr val="E2E5E9"/>
                </a:solidFill>
                <a:effectLst/>
                <a:latin typeface="system-ui"/>
              </a:rPr>
              <a:t>. Le Bin Ho, Tohoku Univ</a:t>
            </a:r>
          </a:p>
          <a:p>
            <a:r>
              <a:rPr lang="vi-VN" sz="1200">
                <a:solidFill>
                  <a:srgbClr val="E2E5E9"/>
                </a:solidFill>
                <a:latin typeface="system-ui"/>
              </a:rPr>
              <a:t>Dr</a:t>
            </a:r>
            <a:r>
              <a:rPr lang="vi-VN" sz="1200" b="0" i="0">
                <a:solidFill>
                  <a:srgbClr val="E2E5E9"/>
                </a:solidFill>
                <a:effectLst/>
                <a:latin typeface="system-ui"/>
              </a:rPr>
              <a:t>. Nguyen Van Duy, Phenikaa Univ</a:t>
            </a:r>
          </a:p>
          <a:p>
            <a:r>
              <a:rPr lang="vi-VN" sz="1200">
                <a:solidFill>
                  <a:srgbClr val="E2E5E9"/>
                </a:solidFill>
                <a:latin typeface="system-ui"/>
              </a:rPr>
              <a:t>Dr</a:t>
            </a:r>
            <a:r>
              <a:rPr lang="vi-VN" sz="1200" b="0" i="0">
                <a:solidFill>
                  <a:srgbClr val="E2E5E9"/>
                </a:solidFill>
                <a:effectLst/>
                <a:latin typeface="system-ui"/>
              </a:rPr>
              <a:t>. Huynh Minh Trung, US-VNUHCM</a:t>
            </a:r>
          </a:p>
          <a:p>
            <a:r>
              <a:rPr lang="vi-VN" sz="1200">
                <a:solidFill>
                  <a:srgbClr val="E2E5E9"/>
                </a:solidFill>
                <a:latin typeface="system-ui"/>
              </a:rPr>
              <a:t>Dr</a:t>
            </a:r>
            <a:r>
              <a:rPr lang="vi-VN" sz="1200" b="0" i="0">
                <a:solidFill>
                  <a:srgbClr val="E2E5E9"/>
                </a:solidFill>
                <a:effectLst/>
                <a:latin typeface="system-ui"/>
              </a:rPr>
              <a:t>. Vu Tuan Hai, UIT-VNUHCM</a:t>
            </a:r>
          </a:p>
          <a:p>
            <a:r>
              <a:rPr lang="vi-VN" sz="1200">
                <a:solidFill>
                  <a:srgbClr val="E2E5E9"/>
                </a:solidFill>
                <a:latin typeface="system-ui"/>
              </a:rPr>
              <a:t>MA</a:t>
            </a:r>
            <a:r>
              <a:rPr lang="vi-VN" sz="1200" b="0" i="0">
                <a:solidFill>
                  <a:srgbClr val="E2E5E9"/>
                </a:solidFill>
                <a:effectLst/>
                <a:latin typeface="system-ui"/>
              </a:rPr>
              <a:t>. Nguyen Quoc Chuong, DTU</a:t>
            </a:r>
            <a:endParaRPr lang="en-VN" sz="1200"/>
          </a:p>
        </p:txBody>
      </p:sp>
      <p:pic>
        <p:nvPicPr>
          <p:cNvPr id="56" name="Graphic 55" descr="Envelope with solid fill">
            <a:extLst>
              <a:ext uri="{FF2B5EF4-FFF2-40B4-BE49-F238E27FC236}">
                <a16:creationId xmlns:a16="http://schemas.microsoft.com/office/drawing/2014/main" id="{ED992CF2-E787-EBB7-F491-A42D3DBFD6F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189816" y="4334457"/>
            <a:ext cx="297535" cy="297535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BA769457-9CE4-2071-D5D7-48954A39AE4D}"/>
              </a:ext>
            </a:extLst>
          </p:cNvPr>
          <p:cNvSpPr txBox="1">
            <a:spLocks/>
          </p:cNvSpPr>
          <p:nvPr/>
        </p:nvSpPr>
        <p:spPr>
          <a:xfrm>
            <a:off x="5486462" y="4377821"/>
            <a:ext cx="21258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900" b="1">
                <a:solidFill>
                  <a:schemeClr val="bg1"/>
                </a:solidFill>
              </a:rPr>
              <a:t>Email: quantum.vnuhcm@gmail.com</a:t>
            </a:r>
          </a:p>
        </p:txBody>
      </p:sp>
      <p:sp>
        <p:nvSpPr>
          <p:cNvPr id="60" name="Triangle 59">
            <a:extLst>
              <a:ext uri="{FF2B5EF4-FFF2-40B4-BE49-F238E27FC236}">
                <a16:creationId xmlns:a16="http://schemas.microsoft.com/office/drawing/2014/main" id="{647BD4D1-6CBD-40BB-CBA6-A9861D55CF6B}"/>
              </a:ext>
            </a:extLst>
          </p:cNvPr>
          <p:cNvSpPr>
            <a:spLocks/>
          </p:cNvSpPr>
          <p:nvPr/>
        </p:nvSpPr>
        <p:spPr>
          <a:xfrm flipH="1" flipV="1">
            <a:off x="8897371" y="2112219"/>
            <a:ext cx="3002262" cy="2618172"/>
          </a:xfrm>
          <a:prstGeom prst="triangle">
            <a:avLst>
              <a:gd name="adj" fmla="val 0"/>
            </a:avLst>
          </a:prstGeom>
          <a:gradFill flip="none" rotWithShape="1">
            <a:gsLst>
              <a:gs pos="27000">
                <a:schemeClr val="accent1">
                  <a:lumMod val="60000"/>
                  <a:lumOff val="40000"/>
                  <a:tint val="66000"/>
                  <a:satMod val="160000"/>
                  <a:alpha val="0"/>
                </a:schemeClr>
              </a:gs>
              <a:gs pos="93000">
                <a:schemeClr val="accent1">
                  <a:tint val="44500"/>
                  <a:satMod val="160000"/>
                  <a:lumMod val="57967"/>
                  <a:lumOff val="42033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0973744-897A-A7B9-DB92-2ECE8EBF6DE1}"/>
              </a:ext>
            </a:extLst>
          </p:cNvPr>
          <p:cNvSpPr txBox="1">
            <a:spLocks/>
          </p:cNvSpPr>
          <p:nvPr/>
        </p:nvSpPr>
        <p:spPr>
          <a:xfrm>
            <a:off x="9417771" y="2157944"/>
            <a:ext cx="24703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1" i="0" u="sng">
                <a:effectLst/>
                <a:latin typeface="system-ui"/>
              </a:rPr>
              <a:t>Date 1:</a:t>
            </a:r>
          </a:p>
          <a:p>
            <a:pPr algn="r"/>
            <a:r>
              <a:rPr lang="en-US" sz="1200">
                <a:latin typeface="system-ui"/>
              </a:rPr>
              <a:t>Foundation for quantum computing</a:t>
            </a:r>
          </a:p>
          <a:p>
            <a:pPr algn="r"/>
            <a:r>
              <a:rPr lang="en-US" sz="1200" b="1" u="sng">
                <a:latin typeface="system-ui"/>
              </a:rPr>
              <a:t>Date 2:</a:t>
            </a:r>
          </a:p>
          <a:p>
            <a:pPr algn="r"/>
            <a:r>
              <a:rPr lang="en-US" sz="1200">
                <a:latin typeface="system-ui"/>
              </a:rPr>
              <a:t>Basic quantum computing</a:t>
            </a:r>
          </a:p>
          <a:p>
            <a:pPr algn="r"/>
            <a:r>
              <a:rPr lang="en-US" sz="1200" b="1" u="sng">
                <a:latin typeface="system-ui"/>
              </a:rPr>
              <a:t>Date 3:</a:t>
            </a:r>
          </a:p>
          <a:p>
            <a:pPr algn="r"/>
            <a:r>
              <a:rPr lang="en-US" sz="1200">
                <a:latin typeface="system-ui"/>
              </a:rPr>
              <a:t>Project: Q-optimization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43C83327-C070-8469-587D-0F9D02204F34}"/>
              </a:ext>
            </a:extLst>
          </p:cNvPr>
          <p:cNvSpPr>
            <a:spLocks/>
          </p:cNvSpPr>
          <p:nvPr/>
        </p:nvSpPr>
        <p:spPr>
          <a:xfrm>
            <a:off x="5189816" y="1691692"/>
            <a:ext cx="1023671" cy="33528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600" b="1">
                <a:solidFill>
                  <a:schemeClr val="tx1"/>
                </a:solidFill>
              </a:rPr>
              <a:t>22 – 25/4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52B5265-4F37-0BBE-59F6-59FB0D2A4868}"/>
              </a:ext>
            </a:extLst>
          </p:cNvPr>
          <p:cNvSpPr txBox="1">
            <a:spLocks/>
          </p:cNvSpPr>
          <p:nvPr/>
        </p:nvSpPr>
        <p:spPr>
          <a:xfrm>
            <a:off x="6213487" y="1669510"/>
            <a:ext cx="35000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solidFill>
                  <a:schemeClr val="bg1"/>
                </a:solidFill>
              </a:rPr>
              <a:t>University of Phan Thiet</a:t>
            </a:r>
            <a:r>
              <a:rPr lang="en-VN" sz="1000" b="1">
                <a:solidFill>
                  <a:schemeClr val="bg1"/>
                </a:solidFill>
              </a:rPr>
              <a:t>, </a:t>
            </a:r>
            <a:r>
              <a:rPr lang="en-VN" sz="900" b="1">
                <a:solidFill>
                  <a:schemeClr val="bg1"/>
                </a:solidFill>
              </a:rPr>
              <a:t>Phu Thuy, Lam Dong</a:t>
            </a:r>
            <a:endParaRPr lang="en-VN" sz="1000" b="1">
              <a:solidFill>
                <a:schemeClr val="bg1"/>
              </a:solidFill>
            </a:endParaRPr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80F9B21A-3FB7-120F-2A63-502E3D2E3248}"/>
              </a:ext>
            </a:extLst>
          </p:cNvPr>
          <p:cNvSpPr>
            <a:spLocks/>
          </p:cNvSpPr>
          <p:nvPr/>
        </p:nvSpPr>
        <p:spPr>
          <a:xfrm>
            <a:off x="6302847" y="1948903"/>
            <a:ext cx="5585273" cy="556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1031" name="Picture 103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2827FDB-B2A2-90C5-0ABC-6A7981D7C481}"/>
              </a:ext>
            </a:extLst>
          </p:cNvPr>
          <p:cNvPicPr>
            <a:picLocks noChangeAspect="1"/>
          </p:cNvPicPr>
          <p:nvPr/>
        </p:nvPicPr>
        <p:blipFill>
          <a:blip r:embed="rId11">
            <a:lum bright="70000" contrast="-70000"/>
          </a:blip>
          <a:stretch>
            <a:fillRect/>
          </a:stretch>
        </p:blipFill>
        <p:spPr>
          <a:xfrm>
            <a:off x="7826667" y="952034"/>
            <a:ext cx="323109" cy="323109"/>
          </a:xfrm>
          <a:prstGeom prst="rect">
            <a:avLst/>
          </a:prstGeom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F12C7638-E0A9-DC5A-C1AA-9E1DAC6E95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7" t="79869" r="35513" b="13804"/>
          <a:stretch>
            <a:fillRect/>
          </a:stretch>
        </p:blipFill>
        <p:spPr bwMode="auto">
          <a:xfrm>
            <a:off x="1589614" y="368083"/>
            <a:ext cx="400115" cy="436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104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E8AEC535-917E-A4BD-489B-CCDBBEC90018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8672" t="9171" r="8088" b="9178"/>
          <a:stretch>
            <a:fillRect/>
          </a:stretch>
        </p:blipFill>
        <p:spPr>
          <a:xfrm>
            <a:off x="3329394" y="5173171"/>
            <a:ext cx="1114449" cy="1093173"/>
          </a:xfrm>
          <a:prstGeom prst="rect">
            <a:avLst/>
          </a:prstGeom>
        </p:spPr>
      </p:pic>
      <p:pic>
        <p:nvPicPr>
          <p:cNvPr id="1053" name="Picture 1052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10AC08F0-A369-902E-DD8E-F4EEA4E31120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8672" t="9171" r="8088" b="9178"/>
          <a:stretch>
            <a:fillRect/>
          </a:stretch>
        </p:blipFill>
        <p:spPr>
          <a:xfrm>
            <a:off x="10753511" y="3430661"/>
            <a:ext cx="881233" cy="864409"/>
          </a:xfrm>
          <a:prstGeom prst="rect">
            <a:avLst/>
          </a:prstGeom>
        </p:spPr>
      </p:pic>
      <p:sp>
        <p:nvSpPr>
          <p:cNvPr id="1054" name="TextBox 1053">
            <a:extLst>
              <a:ext uri="{FF2B5EF4-FFF2-40B4-BE49-F238E27FC236}">
                <a16:creationId xmlns:a16="http://schemas.microsoft.com/office/drawing/2014/main" id="{80A57BA8-AB67-836D-4D9B-4ECC347BE1FD}"/>
              </a:ext>
            </a:extLst>
          </p:cNvPr>
          <p:cNvSpPr txBox="1">
            <a:spLocks/>
          </p:cNvSpPr>
          <p:nvPr/>
        </p:nvSpPr>
        <p:spPr>
          <a:xfrm>
            <a:off x="10498150" y="4309583"/>
            <a:ext cx="135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900" b="1">
                <a:solidFill>
                  <a:schemeClr val="bg1"/>
                </a:solidFill>
              </a:rPr>
              <a:t>Registration deadline: 31/03/2026</a:t>
            </a:r>
          </a:p>
        </p:txBody>
      </p:sp>
      <p:sp>
        <p:nvSpPr>
          <p:cNvPr id="1055" name="Pentagon 1054">
            <a:extLst>
              <a:ext uri="{FF2B5EF4-FFF2-40B4-BE49-F238E27FC236}">
                <a16:creationId xmlns:a16="http://schemas.microsoft.com/office/drawing/2014/main" id="{08285779-61BE-EFA3-810E-B82573610759}"/>
              </a:ext>
            </a:extLst>
          </p:cNvPr>
          <p:cNvSpPr>
            <a:spLocks/>
          </p:cNvSpPr>
          <p:nvPr/>
        </p:nvSpPr>
        <p:spPr>
          <a:xfrm>
            <a:off x="5205551" y="3402299"/>
            <a:ext cx="1610960" cy="224758"/>
          </a:xfrm>
          <a:prstGeom prst="homePlat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tx1"/>
                </a:solidFill>
              </a:rPr>
              <a:t>Organizing Committee</a:t>
            </a:r>
            <a:endParaRPr lang="en-VN" sz="1100">
              <a:solidFill>
                <a:schemeClr val="tx1"/>
              </a:solidFill>
            </a:endParaRPr>
          </a:p>
        </p:txBody>
      </p:sp>
      <p:sp>
        <p:nvSpPr>
          <p:cNvPr id="1056" name="Rounded Rectangle 1055">
            <a:extLst>
              <a:ext uri="{FF2B5EF4-FFF2-40B4-BE49-F238E27FC236}">
                <a16:creationId xmlns:a16="http://schemas.microsoft.com/office/drawing/2014/main" id="{3D9DFACE-0DE4-4E80-5987-0AC9A111F627}"/>
              </a:ext>
            </a:extLst>
          </p:cNvPr>
          <p:cNvSpPr>
            <a:spLocks/>
          </p:cNvSpPr>
          <p:nvPr/>
        </p:nvSpPr>
        <p:spPr>
          <a:xfrm>
            <a:off x="5163761" y="317559"/>
            <a:ext cx="3786198" cy="490655"/>
          </a:xfrm>
          <a:prstGeom prst="roundRect">
            <a:avLst>
              <a:gd name="adj" fmla="val 4242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1057" name="Picture 4">
            <a:extLst>
              <a:ext uri="{FF2B5EF4-FFF2-40B4-BE49-F238E27FC236}">
                <a16:creationId xmlns:a16="http://schemas.microsoft.com/office/drawing/2014/main" id="{652C9490-1D66-DAD4-A1BB-F2CAA01DC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753" y="236897"/>
            <a:ext cx="1134505" cy="55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6" descr="LOGO TRƯỜNG - Trường Đại học Phan Thiết">
            <a:extLst>
              <a:ext uri="{FF2B5EF4-FFF2-40B4-BE49-F238E27FC236}">
                <a16:creationId xmlns:a16="http://schemas.microsoft.com/office/drawing/2014/main" id="{63FC44FC-4A9C-5E63-02FC-14DF2FD0D1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2958" y="368083"/>
            <a:ext cx="400115" cy="400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9" name="Picture 8" descr="Giới Thiệu Trường Đại Học Thương Mại - TMU">
            <a:extLst>
              <a:ext uri="{FF2B5EF4-FFF2-40B4-BE49-F238E27FC236}">
                <a16:creationId xmlns:a16="http://schemas.microsoft.com/office/drawing/2014/main" id="{DC47B612-FE08-2B92-148F-9D3CDAF563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3889" y="362828"/>
            <a:ext cx="649073" cy="397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10" descr="Logo Phenikaa University - International Institute for Environmental Studies">
            <a:extLst>
              <a:ext uri="{FF2B5EF4-FFF2-40B4-BE49-F238E27FC236}">
                <a16:creationId xmlns:a16="http://schemas.microsoft.com/office/drawing/2014/main" id="{FC45129C-AF14-5928-3BF5-58880F07DB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667" y="350249"/>
            <a:ext cx="608946" cy="417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1" name="Picture 12" descr="About | Tohoku University">
            <a:extLst>
              <a:ext uri="{FF2B5EF4-FFF2-40B4-BE49-F238E27FC236}">
                <a16:creationId xmlns:a16="http://schemas.microsoft.com/office/drawing/2014/main" id="{E8B2E8C9-1BAC-0994-A59D-38ECE6CD41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5815" y="362684"/>
            <a:ext cx="302791" cy="409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16">
            <a:extLst>
              <a:ext uri="{FF2B5EF4-FFF2-40B4-BE49-F238E27FC236}">
                <a16:creationId xmlns:a16="http://schemas.microsoft.com/office/drawing/2014/main" id="{69EE2BF8-1936-3019-FC18-6D538D3564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7" t="79840" r="35513" b="13804"/>
          <a:stretch>
            <a:fillRect/>
          </a:stretch>
        </p:blipFill>
        <p:spPr bwMode="auto">
          <a:xfrm>
            <a:off x="6361224" y="368083"/>
            <a:ext cx="400115" cy="438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7685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001572F-ED10-AEAE-AD3E-B75E528B91BB}"/>
              </a:ext>
            </a:extLst>
          </p:cNvPr>
          <p:cNvSpPr>
            <a:spLocks/>
          </p:cNvSpPr>
          <p:nvPr/>
        </p:nvSpPr>
        <p:spPr>
          <a:xfrm>
            <a:off x="392151" y="315457"/>
            <a:ext cx="3786198" cy="490655"/>
          </a:xfrm>
          <a:prstGeom prst="roundRect">
            <a:avLst>
              <a:gd name="adj" fmla="val 4242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B2EDC079-13E6-4475-B0AD-569C261DD8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10"/>
          <a:stretch>
            <a:fillRect/>
          </a:stretch>
        </p:blipFill>
        <p:spPr bwMode="auto">
          <a:xfrm>
            <a:off x="1910143" y="360582"/>
            <a:ext cx="1134505" cy="43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LOGO TRƯỜNG - Trường Đại học Phan Thiết">
            <a:extLst>
              <a:ext uri="{FF2B5EF4-FFF2-40B4-BE49-F238E27FC236}">
                <a16:creationId xmlns:a16="http://schemas.microsoft.com/office/drawing/2014/main" id="{506966DA-FE64-4363-B1CD-B80B909AFC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48" y="365981"/>
            <a:ext cx="400115" cy="400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Giới Thiệu Trường Đại Học Thương Mại - TMU">
            <a:extLst>
              <a:ext uri="{FF2B5EF4-FFF2-40B4-BE49-F238E27FC236}">
                <a16:creationId xmlns:a16="http://schemas.microsoft.com/office/drawing/2014/main" id="{8591AF70-4AE9-C263-F76C-7060CFED83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279" y="360726"/>
            <a:ext cx="649073" cy="397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 descr="Logo Phenikaa University - International Institute for Environmental Studies">
            <a:extLst>
              <a:ext uri="{FF2B5EF4-FFF2-40B4-BE49-F238E27FC236}">
                <a16:creationId xmlns:a16="http://schemas.microsoft.com/office/drawing/2014/main" id="{07EF1A8E-C67C-24FF-B0A7-E2EB937A5B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5057" y="348147"/>
            <a:ext cx="608946" cy="417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About | Tohoku University">
            <a:extLst>
              <a:ext uri="{FF2B5EF4-FFF2-40B4-BE49-F238E27FC236}">
                <a16:creationId xmlns:a16="http://schemas.microsoft.com/office/drawing/2014/main" id="{58A84739-46FB-5B93-5508-0C4E655169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205" y="360582"/>
            <a:ext cx="302791" cy="409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7F9E5ED-5AF6-8245-1E7A-FC6F2697B4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7" t="79869" r="35513" b="13804"/>
          <a:stretch>
            <a:fillRect/>
          </a:stretch>
        </p:blipFill>
        <p:spPr bwMode="auto">
          <a:xfrm>
            <a:off x="1589614" y="341323"/>
            <a:ext cx="400115" cy="436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5100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5584</TotalTime>
  <Words>357</Words>
  <Application>Microsoft Macintosh PowerPoint</Application>
  <PresentationFormat>Widescreen</PresentationFormat>
  <Paragraphs>51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Bungee</vt:lpstr>
      <vt:lpstr>system-ui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Thị Lê Thủy</dc:creator>
  <cp:lastModifiedBy>Tuan Hai Vu</cp:lastModifiedBy>
  <cp:revision>14</cp:revision>
  <dcterms:created xsi:type="dcterms:W3CDTF">2026-01-16T15:45:33Z</dcterms:created>
  <dcterms:modified xsi:type="dcterms:W3CDTF">2026-04-06T07:13:40Z</dcterms:modified>
</cp:coreProperties>
</file>