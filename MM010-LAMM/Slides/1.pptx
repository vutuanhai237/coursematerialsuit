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8"/>
  </p:notesMasterIdLst>
  <p:sldIdLst>
    <p:sldId id="572" r:id="rId2"/>
    <p:sldId id="585" r:id="rId3"/>
    <p:sldId id="586" r:id="rId4"/>
    <p:sldId id="574" r:id="rId5"/>
    <p:sldId id="575" r:id="rId6"/>
    <p:sldId id="576" r:id="rId7"/>
    <p:sldId id="584" r:id="rId8"/>
    <p:sldId id="573" r:id="rId9"/>
    <p:sldId id="577" r:id="rId10"/>
    <p:sldId id="578" r:id="rId11"/>
    <p:sldId id="579" r:id="rId12"/>
    <p:sldId id="580" r:id="rId13"/>
    <p:sldId id="581" r:id="rId14"/>
    <p:sldId id="582" r:id="rId15"/>
    <p:sldId id="583" r:id="rId16"/>
    <p:sldId id="587"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69"/>
    <p:restoredTop sz="88664"/>
  </p:normalViewPr>
  <p:slideViewPr>
    <p:cSldViewPr snapToGrid="0" snapToObjects="1">
      <p:cViewPr>
        <p:scale>
          <a:sx n="91" d="100"/>
          <a:sy n="91" d="100"/>
        </p:scale>
        <p:origin x="1376"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297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VN"/>
              <a:t>Quá trình nhấn mạnh có làm là đc, ko nặng nhẹ đúng sai</a:t>
            </a:r>
          </a:p>
        </p:txBody>
      </p:sp>
    </p:spTree>
    <p:extLst>
      <p:ext uri="{BB962C8B-B14F-4D97-AF65-F5344CB8AC3E}">
        <p14:creationId xmlns:p14="http://schemas.microsoft.com/office/powerpoint/2010/main" val="80901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Máy tính và các mô hình toán học/AI chỉ có thể tính toán trên số, không thể "hiểu" trực tiếp khái niệm định tính như "khách hàng trung thành" hay "nội dung hấp dẫn".</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Bước đầu tiên của mọi bài toán phân tích dữ liệu là chuyển đổi (encode) đối tượng thực tế thành một tập hợp con số có ý nghĩa — quá trình này gọi là trích xuất đặc trưng (feature extraction).</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Ví dụ: thay vì nói "khách hàng A khá tích cực", ta đo lường cụ thể: lượt xem = 45, lượt nhấp = 6, mức tương tác = 7.5/10.</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Khi đã có các con số, ta có thể so sánh, tính toán, và đưa vào các mô hình dự đoán — đó chính là lý do đại số tuyến tính trở thành công cụ nền tảng.</a:t>
            </a:r>
            <a:endParaRPr lang="en-US" sz="1200" dirty="0"/>
          </a:p>
          <a:p>
            <a:endParaRPr lang="en-VN"/>
          </a:p>
        </p:txBody>
      </p:sp>
    </p:spTree>
    <p:extLst>
      <p:ext uri="{BB962C8B-B14F-4D97-AF65-F5344CB8AC3E}">
        <p14:creationId xmlns:p14="http://schemas.microsoft.com/office/powerpoint/2010/main" val="4058190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1 — Dữ liệu trong truyền thông số (15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Các nguồn dữ liệu: khách hàng, chiến dịch, mạng xã hội, CRM</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2 — Khái niệm Đặc trưng &amp; Vector (30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Feature, vector, thành phần, số chiều, ký hiệu toán học</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3 — Biểu diễn đối tượng truyền thông bằng vector (20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Khách hàng, nội dung, chiến dịch — ví dụ cụ thể có số liệu</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4 — Lab Python (45 phút)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Tạo vector từ dữ liệu thật, trực quan hóa bằng Matplotlib</a:t>
            </a:r>
            <a:endParaRPr lang="en-US" sz="1800" dirty="0"/>
          </a:p>
          <a:p>
            <a:pPr marL="228600" indent="-228600">
              <a:lnSpc>
                <a:spcPts val="2500"/>
              </a:lnSpc>
              <a:spcAft>
                <a:spcPts val="1400"/>
              </a:spcAft>
              <a:buSzPct val="100000"/>
              <a:buChar char="•"/>
            </a:pPr>
            <a:r>
              <a:rPr lang="en-US" sz="1800" b="1" dirty="0">
                <a:solidFill>
                  <a:srgbClr val="262626"/>
                </a:solidFill>
                <a:latin typeface="Aptos" pitchFamily="34" charset="0"/>
                <a:ea typeface="Aptos" pitchFamily="34" charset="-122"/>
                <a:cs typeface="Aptos" pitchFamily="34" charset="-120"/>
              </a:rPr>
              <a:t>Phần 5 — Thảo luận &amp; Tổng kết (10 phút)</a:t>
            </a:r>
            <a:endParaRPr lang="en-US" sz="1800" dirty="0"/>
          </a:p>
          <a:p>
            <a:endParaRPr lang="en-VN"/>
          </a:p>
        </p:txBody>
      </p:sp>
    </p:spTree>
    <p:extLst>
      <p:ext uri="{BB962C8B-B14F-4D97-AF65-F5344CB8AC3E}">
        <p14:creationId xmlns:p14="http://schemas.microsoft.com/office/powerpoint/2010/main" val="1775937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Là mọi thông tin được thu thập, lưu trữ và xử lý dưới dạng số hóa trong quá trình một doanh nghiệp truyền thông/marketing vận hành.</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Bốn nhóm dữ liệu phổ biến nhất mà sinh viên ngành truyền thông đa phương tiện sẽ gặp:</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khách hàng (Customer Data) — hồ sơ, hành vi mua sắm, tương tác</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chiến dịch marketing (Campaign Data) — ngân sách, kênh, hiệu suất</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mạng xã hội (Social Data) — lượt thích, chia sẻ, bình luận, follower</a:t>
            </a:r>
            <a:endParaRPr lang="en-US" sz="1800" dirty="0"/>
          </a:p>
          <a:p>
            <a:pPr marL="457200" lvl="1" indent="-228600">
              <a:lnSpc>
                <a:spcPts val="2500"/>
              </a:lnSpc>
              <a:spcAft>
                <a:spcPts val="800"/>
              </a:spcAft>
              <a:buSzPct val="100000"/>
              <a:buChar char="–"/>
            </a:pPr>
            <a:r>
              <a:rPr lang="en-US" sz="1550" dirty="0">
                <a:solidFill>
                  <a:srgbClr val="262626"/>
                </a:solidFill>
                <a:latin typeface="Aptos" pitchFamily="34" charset="0"/>
                <a:ea typeface="Aptos" pitchFamily="34" charset="-122"/>
                <a:cs typeface="Aptos" pitchFamily="34" charset="-120"/>
              </a:rPr>
              <a:t>Dữ liệu CRM (Customer Relationship Management) — lịch sử liên hệ, hỗ trợ</a:t>
            </a:r>
            <a:endParaRPr lang="en-US" sz="1800" dirty="0"/>
          </a:p>
          <a:p>
            <a:pPr marL="228600" indent="-228600">
              <a:lnSpc>
                <a:spcPts val="2500"/>
              </a:lnSpc>
              <a:spcAft>
                <a:spcPts val="1400"/>
              </a:spcAft>
              <a:buSzPct val="100000"/>
              <a:buChar char="•"/>
            </a:pPr>
            <a:r>
              <a:rPr lang="en-US" sz="1800" dirty="0">
                <a:solidFill>
                  <a:srgbClr val="262626"/>
                </a:solidFill>
                <a:latin typeface="Aptos" pitchFamily="34" charset="0"/>
                <a:ea typeface="Aptos" pitchFamily="34" charset="-122"/>
                <a:cs typeface="Aptos" pitchFamily="34" charset="-120"/>
              </a:rPr>
              <a:t>Điểm chung: tất cả đều có thể mô tả bằng một tập hợp các con số đo lường được — đây chính là nền tảng để dùng đại số tuyến tính.</a:t>
            </a:r>
            <a:endParaRPr lang="en-US" sz="1800" dirty="0"/>
          </a:p>
          <a:p>
            <a:endParaRPr lang="en-VN"/>
          </a:p>
        </p:txBody>
      </p:sp>
    </p:spTree>
    <p:extLst>
      <p:ext uri="{BB962C8B-B14F-4D97-AF65-F5344CB8AC3E}">
        <p14:creationId xmlns:p14="http://schemas.microsoft.com/office/powerpoint/2010/main" val="2394205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Thông tin nhân khẩu học: tuổi, giới tính, khu vực, thu nhập ước tính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Hành vi duyệt web/app: số lượt xem trang, số lượt xem sản phẩm, thời gian truy cập</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Hành vi tương tác quảng cáo: số lượt nhấp (click), số lần hiển thị (impression)</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Hành vi mua sắm: số lần mua, tổng chi tiêu, giá trị đơn hàng trung bình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Chỉ số tổng hợp: điểm mức độ tương tác (engagement score), điểm trung thành</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 Toàn bộ các chỉ số này sẽ là các "đặc trưng" (feature) mà chúng ta dùng để mô tả một khách hàng bằng vector trong phần tiếp theo.</a:t>
            </a:r>
            <a:endParaRPr lang="en-US" sz="1200" dirty="0"/>
          </a:p>
          <a:p>
            <a:endParaRPr lang="en-VN"/>
          </a:p>
        </p:txBody>
      </p:sp>
    </p:spTree>
    <p:extLst>
      <p:ext uri="{BB962C8B-B14F-4D97-AF65-F5344CB8AC3E}">
        <p14:creationId xmlns:p14="http://schemas.microsoft.com/office/powerpoint/2010/main" val="2959080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VN"/>
          </a:p>
        </p:txBody>
      </p:sp>
    </p:spTree>
    <p:extLst>
      <p:ext uri="{BB962C8B-B14F-4D97-AF65-F5344CB8AC3E}">
        <p14:creationId xmlns:p14="http://schemas.microsoft.com/office/powerpoint/2010/main" val="8312648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Đặc trưng định lượng (numeric): tuổi, thu nhập, lượt xem, chi tiêu — đã sẵn là số</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Đặc trưng định tính cần mã hóa (categorical): giới tính, khu vực, loại sản phẩm — cần chuyển thành số (ví dụ: mã hóa 0/1)</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Một đối tượng dữ liệu (khách hàng, nội dung, chiến dịch) thường được mô tả bằng NHIỀU đặc trưng cùng lúc</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Tập hợp </a:t>
            </a:r>
            <a:r>
              <a:rPr lang="en-US" sz="1200" b="1" dirty="0">
                <a:solidFill>
                  <a:srgbClr val="262626"/>
                </a:solidFill>
                <a:latin typeface="Aptos" pitchFamily="34" charset="0"/>
                <a:ea typeface="Aptos" pitchFamily="34" charset="-122"/>
                <a:cs typeface="Aptos" pitchFamily="34" charset="-120"/>
              </a:rPr>
              <a:t>có thứ tự </a:t>
            </a:r>
            <a:r>
              <a:rPr lang="en-US" sz="1200" dirty="0">
                <a:solidFill>
                  <a:srgbClr val="262626"/>
                </a:solidFill>
                <a:latin typeface="Aptos" pitchFamily="34" charset="0"/>
                <a:ea typeface="Aptos" pitchFamily="34" charset="-122"/>
                <a:cs typeface="Aptos" pitchFamily="34" charset="-120"/>
              </a:rPr>
              <a:t>của nhiều đặc trưng chính là một VECTOR — nội dung của slide tiếp theo</a:t>
            </a:r>
          </a:p>
          <a:p>
            <a:pPr marL="0" indent="0">
              <a:lnSpc>
                <a:spcPts val="2500"/>
              </a:lnSpc>
              <a:spcAft>
                <a:spcPts val="1400"/>
              </a:spcAft>
              <a:buSzPct val="100000"/>
              <a:buNone/>
            </a:pPr>
            <a:endParaRPr lang="en-US" sz="1200" dirty="0">
              <a:solidFill>
                <a:srgbClr val="262626"/>
              </a:solidFill>
              <a:latin typeface="Aptos" pitchFamily="34" charset="0"/>
            </a:endParaRPr>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chọn để mô tả MỘT đối tượng</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Lưu ý thường gây nhầm lẫn: 200 khách hàng, mỗi người có vector 6 chiều — số chiều VẪN LÀ 6, không phải 200</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Chọn càng nhiều đặc trưng → số chiều càng cao → mô tả đối tượng càng chi tiết, nhưng cũng phức tạp hơn khi tính toán và trực quan hóa (sẽ học ở buổi 15 — PCA)</a:t>
            </a:r>
            <a:endParaRPr lang="en-US" sz="1200" dirty="0"/>
          </a:p>
          <a:p>
            <a:pPr marL="0" indent="0">
              <a:lnSpc>
                <a:spcPts val="2500"/>
              </a:lnSpc>
              <a:spcAft>
                <a:spcPts val="1400"/>
              </a:spcAft>
              <a:buSzPct val="100000"/>
              <a:buNone/>
            </a:pPr>
            <a:endParaRPr lang="en-US" sz="1200" dirty="0">
              <a:solidFill>
                <a:srgbClr val="262626"/>
              </a:solidFill>
              <a:latin typeface="Aptos" pitchFamily="34" charset="0"/>
            </a:endParaRPr>
          </a:p>
        </p:txBody>
      </p:sp>
    </p:spTree>
    <p:extLst>
      <p:ext uri="{BB962C8B-B14F-4D97-AF65-F5344CB8AC3E}">
        <p14:creationId xmlns:p14="http://schemas.microsoft.com/office/powerpoint/2010/main" val="702650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Mỗi vector đặc trưng có thể được xem như tọa độ của MỘT ĐIỂM trong một không gian n chiều — gọi là không gian đặc trưng (feature space).</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Với 2 đặc trưng (n=2), ta có thể vẽ trực tiếp trên mặt phẳng: trục hoành = đặc trưng 1, trục tung = đặc trưng 2, mỗi khách hàng là 1 điểm.</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Với 3 đặc trưng (n=3), vẫn vẽ được trong không gian 3 chiều.</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Với n &gt; 3 đặc trưng (trường hợp thực tế phổ biến), ta KHÔNG THỂ vẽ trực tiếp — nhưng về mặt toán học, khái niệm "điểm trong không gian n chiều" vẫn hoàn toàn hợp lệ và tính toán được.</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Ý nghĩa thực tế: hai khách hàng có vector đặc trưng gần nhau trong không gian này thường có hành vi tương tự nhau — đây là ý tưởng nền tảng cho buổi 9-10 (khoảng cách, độ tương đồng).</a:t>
            </a:r>
            <a:endParaRPr lang="en-US" sz="1200" dirty="0"/>
          </a:p>
          <a:p>
            <a:endParaRPr lang="en-VN"/>
          </a:p>
        </p:txBody>
      </p:sp>
    </p:spTree>
    <p:extLst>
      <p:ext uri="{BB962C8B-B14F-4D97-AF65-F5344CB8AC3E}">
        <p14:creationId xmlns:p14="http://schemas.microsoft.com/office/powerpoint/2010/main" val="3381676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1. Nếu muốn mô tả một khách hàng chi tiết hơn, bạn sẽ thêm đặc trưng nào vào vector hiện tại? Vì sao đặc trưng đó quan trọng trong bối cảnh truyền thông/marketing?</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2. Hai khách hàng có cùng số chiều vector nhưng khác thứ tự đặc trưng (ví dụ một người để tuổi ở vị trí 1, người kia để thu nhập ở vị trí 1) — điều gì sẽ xảy ra nếu ta so sánh trực tiếp hai vector này? Vì sao cần quy ước thứ tự thống nhất?</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3. Một bài đăng mạng xã hội và một khách hàng có thể có SỐ CHIỀU vector khác nhau — điều này có gây trở ngại gì khi phân tích dữ liệu không? Khi nào thì cần số chiều giống nhau?</a:t>
            </a:r>
            <a:endParaRPr lang="en-US" sz="1200" dirty="0"/>
          </a:p>
          <a:p>
            <a:endParaRPr lang="en-VN"/>
          </a:p>
        </p:txBody>
      </p:sp>
    </p:spTree>
    <p:extLst>
      <p:ext uri="{BB962C8B-B14F-4D97-AF65-F5344CB8AC3E}">
        <p14:creationId xmlns:p14="http://schemas.microsoft.com/office/powerpoint/2010/main" val="22178330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Buổi 1 học cách BIỂU DIỄN một đối tượng bằng vector — nhưng dữ liệu thực tế hiếm khi dùng riêng lẻ từng vector.</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thực tế: "Khách hàng điển hình của một phân khúc trông như thế nào?" — cần kết hợp NHIỀU vector khách hàng lại.</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Câu hỏi khác: "Khách hàng nào đáng ưu tiên chăm sóc nhất?" — cần một ĐIỂM TỔNG HỢP dựa trên nhiều tiêu chí có mức độ quan trọng khác nhau.</a:t>
            </a:r>
            <a:endParaRPr lang="en-US" sz="1200" dirty="0"/>
          </a:p>
          <a:p>
            <a:pPr marL="228600" indent="-228600">
              <a:lnSpc>
                <a:spcPts val="2500"/>
              </a:lnSpc>
              <a:spcAft>
                <a:spcPts val="1400"/>
              </a:spcAft>
              <a:buSzPct val="100000"/>
              <a:buChar char="•"/>
            </a:pPr>
            <a:r>
              <a:rPr lang="en-US" sz="1200" dirty="0">
                <a:solidFill>
                  <a:srgbClr val="262626"/>
                </a:solidFill>
                <a:latin typeface="Aptos" pitchFamily="34" charset="0"/>
                <a:ea typeface="Aptos" pitchFamily="34" charset="-122"/>
                <a:cs typeface="Aptos" pitchFamily="34" charset="-120"/>
              </a:rPr>
              <a:t>Cả hai bài toán trên đều được giải quyết bằng các PHÉP TOÁN VECTOR — nội dung trọng tâm hôm nay.</a:t>
            </a:r>
            <a:endParaRPr lang="en-US" sz="1200" dirty="0"/>
          </a:p>
          <a:p>
            <a:endParaRPr lang="en-VN"/>
          </a:p>
        </p:txBody>
      </p:sp>
    </p:spTree>
    <p:extLst>
      <p:ext uri="{BB962C8B-B14F-4D97-AF65-F5344CB8AC3E}">
        <p14:creationId xmlns:p14="http://schemas.microsoft.com/office/powerpoint/2010/main" val="1609449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D2EB7-1B1E-28B1-9F60-6F89DB11FD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BA10E7D4-303F-151E-71CF-993D44CAF8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0E3251FF-530A-5570-D42C-4D8BC6856A61}"/>
              </a:ext>
            </a:extLst>
          </p:cNvPr>
          <p:cNvSpPr>
            <a:spLocks noGrp="1"/>
          </p:cNvSpPr>
          <p:nvPr>
            <p:ph type="dt" sz="half" idx="10"/>
          </p:nvPr>
        </p:nvSpPr>
        <p:spPr/>
        <p:txBody>
          <a:bodyPr/>
          <a:lstStyle/>
          <a:p>
            <a:fld id="{82E25FF7-E26C-F848-811E-FC976A9B4525}" type="datetime1">
              <a:t>8/23/26</a:t>
            </a:fld>
            <a:endParaRPr lang="en-VN"/>
          </a:p>
        </p:txBody>
      </p:sp>
      <p:sp>
        <p:nvSpPr>
          <p:cNvPr id="5" name="Footer Placeholder 4">
            <a:extLst>
              <a:ext uri="{FF2B5EF4-FFF2-40B4-BE49-F238E27FC236}">
                <a16:creationId xmlns:a16="http://schemas.microsoft.com/office/drawing/2014/main" id="{072402C2-7131-4B9B-18FB-728835E6D43D}"/>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4DCB1298-9426-ECEB-3890-593BB5FC2244}"/>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615075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0BB85-BE59-D0B5-4A46-FBC8B602B4F4}"/>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3A05BD62-628F-8E38-88E3-97F5E2605E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3265BAEF-9B27-9553-CE23-E9CD13ECC476}"/>
              </a:ext>
            </a:extLst>
          </p:cNvPr>
          <p:cNvSpPr>
            <a:spLocks noGrp="1"/>
          </p:cNvSpPr>
          <p:nvPr>
            <p:ph type="dt" sz="half" idx="10"/>
          </p:nvPr>
        </p:nvSpPr>
        <p:spPr/>
        <p:txBody>
          <a:bodyPr/>
          <a:lstStyle/>
          <a:p>
            <a:fld id="{BC7294EA-9DF6-1847-B6C6-44CAAA92C54C}" type="datetime1">
              <a:t>8/23/26</a:t>
            </a:fld>
            <a:endParaRPr lang="en-VN"/>
          </a:p>
        </p:txBody>
      </p:sp>
      <p:sp>
        <p:nvSpPr>
          <p:cNvPr id="5" name="Footer Placeholder 4">
            <a:extLst>
              <a:ext uri="{FF2B5EF4-FFF2-40B4-BE49-F238E27FC236}">
                <a16:creationId xmlns:a16="http://schemas.microsoft.com/office/drawing/2014/main" id="{A5863DB3-E10F-307D-A8C9-2D13A97425D2}"/>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7CED4670-B1A3-6CFA-9FDC-84577D31B9F0}"/>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450762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63232-24CE-3495-24DB-3EF119FADA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49DE0179-B436-95FF-6881-470F44441F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212C8D-C181-EFA3-44AF-3F6BD573DDD6}"/>
              </a:ext>
            </a:extLst>
          </p:cNvPr>
          <p:cNvSpPr>
            <a:spLocks noGrp="1"/>
          </p:cNvSpPr>
          <p:nvPr>
            <p:ph type="dt" sz="half" idx="10"/>
          </p:nvPr>
        </p:nvSpPr>
        <p:spPr/>
        <p:txBody>
          <a:bodyPr/>
          <a:lstStyle/>
          <a:p>
            <a:fld id="{C58DC065-51A2-1944-89B3-2D8B92D32A40}" type="datetime1">
              <a:t>8/23/26</a:t>
            </a:fld>
            <a:endParaRPr lang="en-VN"/>
          </a:p>
        </p:txBody>
      </p:sp>
      <p:sp>
        <p:nvSpPr>
          <p:cNvPr id="5" name="Footer Placeholder 4">
            <a:extLst>
              <a:ext uri="{FF2B5EF4-FFF2-40B4-BE49-F238E27FC236}">
                <a16:creationId xmlns:a16="http://schemas.microsoft.com/office/drawing/2014/main" id="{0BA26F89-5465-6A77-8456-9DE942CDC3E7}"/>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E78FC6B7-C6A9-98B6-1371-82C3B87F48A5}"/>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3163775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553C-61E8-5B80-CA70-D79C0CA79194}"/>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467249FA-9B61-904A-E4E6-22D9FFB866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E9C3853C-55DB-3D30-F3E1-F638B824EA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514ACACB-8D0F-80CA-DF3E-B07D59DCBC57}"/>
              </a:ext>
            </a:extLst>
          </p:cNvPr>
          <p:cNvSpPr>
            <a:spLocks noGrp="1"/>
          </p:cNvSpPr>
          <p:nvPr>
            <p:ph type="dt" sz="half" idx="10"/>
          </p:nvPr>
        </p:nvSpPr>
        <p:spPr/>
        <p:txBody>
          <a:bodyPr/>
          <a:lstStyle/>
          <a:p>
            <a:fld id="{6F7E55AB-339B-6A45-B6AB-AC13DBDB4049}" type="datetime1">
              <a:t>8/23/26</a:t>
            </a:fld>
            <a:endParaRPr lang="en-VN"/>
          </a:p>
        </p:txBody>
      </p:sp>
      <p:sp>
        <p:nvSpPr>
          <p:cNvPr id="6" name="Footer Placeholder 5">
            <a:extLst>
              <a:ext uri="{FF2B5EF4-FFF2-40B4-BE49-F238E27FC236}">
                <a16:creationId xmlns:a16="http://schemas.microsoft.com/office/drawing/2014/main" id="{D80E34C5-1596-3C2B-A9FC-3BC8E0A4D3FA}"/>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D58F89E2-FBA0-D1F8-6C4B-AE8549FE756C}"/>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3210945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70040-5CE9-6ED3-99B1-EA779BFDD6A7}"/>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064FE46C-1E79-D7A9-2BBD-554E4B42F7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851B6F-8CF8-199D-CFA5-CCED6758D3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947B84DC-9EEC-810A-C96B-B6CDA434F5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D1F7DC-54A0-7F90-6075-FFBDED4CCA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F4A4FFD1-C671-ABED-DB75-F3849F98FE86}"/>
              </a:ext>
            </a:extLst>
          </p:cNvPr>
          <p:cNvSpPr>
            <a:spLocks noGrp="1"/>
          </p:cNvSpPr>
          <p:nvPr>
            <p:ph type="dt" sz="half" idx="10"/>
          </p:nvPr>
        </p:nvSpPr>
        <p:spPr/>
        <p:txBody>
          <a:bodyPr/>
          <a:lstStyle/>
          <a:p>
            <a:fld id="{AA389517-5F7B-1A48-B2D0-541A8D382216}" type="datetime1">
              <a:t>8/23/26</a:t>
            </a:fld>
            <a:endParaRPr lang="en-VN"/>
          </a:p>
        </p:txBody>
      </p:sp>
      <p:sp>
        <p:nvSpPr>
          <p:cNvPr id="8" name="Footer Placeholder 7">
            <a:extLst>
              <a:ext uri="{FF2B5EF4-FFF2-40B4-BE49-F238E27FC236}">
                <a16:creationId xmlns:a16="http://schemas.microsoft.com/office/drawing/2014/main" id="{B9C0B0CE-55A0-83CC-CC85-04CBA47996E1}"/>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31281213-971B-2418-A489-346C1BBE1AF6}"/>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798543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54DAC-8D71-54CC-960E-2297E53C4104}"/>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9CA86C8B-E30D-9149-F643-D09F30BC6F93}"/>
              </a:ext>
            </a:extLst>
          </p:cNvPr>
          <p:cNvSpPr>
            <a:spLocks noGrp="1"/>
          </p:cNvSpPr>
          <p:nvPr>
            <p:ph type="dt" sz="half" idx="10"/>
          </p:nvPr>
        </p:nvSpPr>
        <p:spPr/>
        <p:txBody>
          <a:bodyPr/>
          <a:lstStyle/>
          <a:p>
            <a:fld id="{736ADF89-C1D1-2C40-AB91-9FD0218BB13C}" type="datetime1">
              <a:t>8/23/26</a:t>
            </a:fld>
            <a:endParaRPr lang="en-VN"/>
          </a:p>
        </p:txBody>
      </p:sp>
      <p:sp>
        <p:nvSpPr>
          <p:cNvPr id="4" name="Footer Placeholder 3">
            <a:extLst>
              <a:ext uri="{FF2B5EF4-FFF2-40B4-BE49-F238E27FC236}">
                <a16:creationId xmlns:a16="http://schemas.microsoft.com/office/drawing/2014/main" id="{D47DF1D4-7EEB-F353-0AFC-F5987392C03A}"/>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8A0833DC-23E4-AA98-E6FF-0A9B8C346ACC}"/>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45979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E870E2-F76B-9BEF-594D-E3D0664B2497}"/>
              </a:ext>
            </a:extLst>
          </p:cNvPr>
          <p:cNvSpPr>
            <a:spLocks noGrp="1"/>
          </p:cNvSpPr>
          <p:nvPr>
            <p:ph type="dt" sz="half" idx="10"/>
          </p:nvPr>
        </p:nvSpPr>
        <p:spPr/>
        <p:txBody>
          <a:bodyPr/>
          <a:lstStyle/>
          <a:p>
            <a:fld id="{59CA9CF6-35E6-1B40-A0CF-6207030B0A37}" type="datetime1">
              <a:t>8/23/26</a:t>
            </a:fld>
            <a:endParaRPr lang="en-VN"/>
          </a:p>
        </p:txBody>
      </p:sp>
      <p:sp>
        <p:nvSpPr>
          <p:cNvPr id="3" name="Footer Placeholder 2">
            <a:extLst>
              <a:ext uri="{FF2B5EF4-FFF2-40B4-BE49-F238E27FC236}">
                <a16:creationId xmlns:a16="http://schemas.microsoft.com/office/drawing/2014/main" id="{3F4E854C-822C-4859-C98D-736E7647DAB9}"/>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27974099-E27E-A7FF-F26C-57DAC90695B1}"/>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384386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218B5-5616-ACF0-367C-0C106D1567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FD4F065C-C76C-4F5A-A9D0-FCA4050A2F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A10418F5-36E0-9499-C116-35CBB289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2DCED1-9871-8967-C1E0-694C31B94FF8}"/>
              </a:ext>
            </a:extLst>
          </p:cNvPr>
          <p:cNvSpPr>
            <a:spLocks noGrp="1"/>
          </p:cNvSpPr>
          <p:nvPr>
            <p:ph type="dt" sz="half" idx="10"/>
          </p:nvPr>
        </p:nvSpPr>
        <p:spPr/>
        <p:txBody>
          <a:bodyPr/>
          <a:lstStyle/>
          <a:p>
            <a:fld id="{3606A959-C3DA-6746-83B8-925C94531607}" type="datetime1">
              <a:t>8/23/26</a:t>
            </a:fld>
            <a:endParaRPr lang="en-VN"/>
          </a:p>
        </p:txBody>
      </p:sp>
      <p:sp>
        <p:nvSpPr>
          <p:cNvPr id="6" name="Footer Placeholder 5">
            <a:extLst>
              <a:ext uri="{FF2B5EF4-FFF2-40B4-BE49-F238E27FC236}">
                <a16:creationId xmlns:a16="http://schemas.microsoft.com/office/drawing/2014/main" id="{3AD29EC2-BD39-1120-4A3A-170E1E6B7D86}"/>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9DA3EDB8-0D18-76F8-AF17-ABE2E8127864}"/>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298456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0DC76-E440-DDDF-2E91-497334582B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042889E8-C3FB-CBB2-6791-6B14DC8644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F1008C5D-5800-B579-326B-B7A93F0627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48BAC9-BDE5-DCCB-353F-D062EB381464}"/>
              </a:ext>
            </a:extLst>
          </p:cNvPr>
          <p:cNvSpPr>
            <a:spLocks noGrp="1"/>
          </p:cNvSpPr>
          <p:nvPr>
            <p:ph type="dt" sz="half" idx="10"/>
          </p:nvPr>
        </p:nvSpPr>
        <p:spPr/>
        <p:txBody>
          <a:bodyPr/>
          <a:lstStyle/>
          <a:p>
            <a:fld id="{D5821FD2-5E6B-284F-BD68-6B80320A55AE}" type="datetime1">
              <a:t>8/23/26</a:t>
            </a:fld>
            <a:endParaRPr lang="en-VN"/>
          </a:p>
        </p:txBody>
      </p:sp>
      <p:sp>
        <p:nvSpPr>
          <p:cNvPr id="6" name="Footer Placeholder 5">
            <a:extLst>
              <a:ext uri="{FF2B5EF4-FFF2-40B4-BE49-F238E27FC236}">
                <a16:creationId xmlns:a16="http://schemas.microsoft.com/office/drawing/2014/main" id="{33485F42-C3F1-C298-2769-BE2C62171651}"/>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57CC4851-4822-DE59-0069-6BC05E607026}"/>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3572705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530CA-8C57-6C7D-3F33-620D6C9235E1}"/>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5D4585E-298D-1592-8170-EC4E1E55CC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BF51A3F4-80FE-567E-74E4-3B685269534F}"/>
              </a:ext>
            </a:extLst>
          </p:cNvPr>
          <p:cNvSpPr>
            <a:spLocks noGrp="1"/>
          </p:cNvSpPr>
          <p:nvPr>
            <p:ph type="dt" sz="half" idx="10"/>
          </p:nvPr>
        </p:nvSpPr>
        <p:spPr/>
        <p:txBody>
          <a:bodyPr/>
          <a:lstStyle/>
          <a:p>
            <a:fld id="{50E64214-25EB-4347-9246-150A384E9BE9}" type="datetime1">
              <a:t>8/23/26</a:t>
            </a:fld>
            <a:endParaRPr lang="en-VN"/>
          </a:p>
        </p:txBody>
      </p:sp>
      <p:sp>
        <p:nvSpPr>
          <p:cNvPr id="5" name="Footer Placeholder 4">
            <a:extLst>
              <a:ext uri="{FF2B5EF4-FFF2-40B4-BE49-F238E27FC236}">
                <a16:creationId xmlns:a16="http://schemas.microsoft.com/office/drawing/2014/main" id="{78F74EAE-ADAC-929E-772A-E15D535D3B3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A9621D65-3164-4A2B-6779-5CAD30487C3F}"/>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4185103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2EF072-C52F-4353-7B4F-25F1F96140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AD43B8C2-1AC2-9703-ADA1-B31EB81C14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2350AAE-0F3E-2104-B1A8-BAC1B65BF041}"/>
              </a:ext>
            </a:extLst>
          </p:cNvPr>
          <p:cNvSpPr>
            <a:spLocks noGrp="1"/>
          </p:cNvSpPr>
          <p:nvPr>
            <p:ph type="dt" sz="half" idx="10"/>
          </p:nvPr>
        </p:nvSpPr>
        <p:spPr/>
        <p:txBody>
          <a:bodyPr/>
          <a:lstStyle/>
          <a:p>
            <a:fld id="{1FB7D04D-469B-B843-8EC9-54A9E5D3433D}" type="datetime1">
              <a:t>8/23/26</a:t>
            </a:fld>
            <a:endParaRPr lang="en-VN"/>
          </a:p>
        </p:txBody>
      </p:sp>
      <p:sp>
        <p:nvSpPr>
          <p:cNvPr id="5" name="Footer Placeholder 4">
            <a:extLst>
              <a:ext uri="{FF2B5EF4-FFF2-40B4-BE49-F238E27FC236}">
                <a16:creationId xmlns:a16="http://schemas.microsoft.com/office/drawing/2014/main" id="{4A1396E2-279B-1204-A4E2-C63FF71731E9}"/>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6416E23-C9BD-3032-9A25-9EF3178CE931}"/>
              </a:ext>
            </a:extLst>
          </p:cNvPr>
          <p:cNvSpPr>
            <a:spLocks noGrp="1"/>
          </p:cNvSpPr>
          <p:nvPr>
            <p:ph type="sldNum" sz="quarter" idx="12"/>
          </p:nvPr>
        </p:nvSpPr>
        <p:spPr/>
        <p:txBody>
          <a:bodyPr/>
          <a:lstStyle/>
          <a:p>
            <a:fld id="{9663FB4D-4462-1148-A41B-A6D56F6F932D}" type="slidenum">
              <a:t>‹#›</a:t>
            </a:fld>
            <a:endParaRPr lang="en-VN"/>
          </a:p>
        </p:txBody>
      </p:sp>
    </p:spTree>
    <p:extLst>
      <p:ext uri="{BB962C8B-B14F-4D97-AF65-F5344CB8AC3E}">
        <p14:creationId xmlns:p14="http://schemas.microsoft.com/office/powerpoint/2010/main" val="1191311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7140A9-814D-6179-8FF7-A0DDCA7806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3AB1E57D-95B0-7EFF-CCFC-BDB7AB1676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21BBADB3-5637-E8A3-B39E-CDB22032D3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3B5607-7351-9A4C-87E7-7CA91C2F05ED}" type="datetime1">
              <a:t>8/23/26</a:t>
            </a:fld>
            <a:endParaRPr lang="en-VN"/>
          </a:p>
        </p:txBody>
      </p:sp>
      <p:sp>
        <p:nvSpPr>
          <p:cNvPr id="5" name="Footer Placeholder 4">
            <a:extLst>
              <a:ext uri="{FF2B5EF4-FFF2-40B4-BE49-F238E27FC236}">
                <a16:creationId xmlns:a16="http://schemas.microsoft.com/office/drawing/2014/main" id="{EBC0BCA7-3B2C-A1AA-BD03-31E0D0E600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DC42823E-5988-E291-BFD0-7FF3B6F618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63FB4D-4462-1148-A41B-A6D56F6F932D}" type="slidenum">
              <a:t>‹#›</a:t>
            </a:fld>
            <a:endParaRPr lang="en-VN"/>
          </a:p>
        </p:txBody>
      </p:sp>
    </p:spTree>
    <p:extLst>
      <p:ext uri="{BB962C8B-B14F-4D97-AF65-F5344CB8AC3E}">
        <p14:creationId xmlns:p14="http://schemas.microsoft.com/office/powerpoint/2010/main" val="4118571220"/>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F336-D6F7-D9FF-2856-17B61E7CC7AB}"/>
              </a:ext>
            </a:extLst>
          </p:cNvPr>
          <p:cNvSpPr>
            <a:spLocks noGrp="1"/>
          </p:cNvSpPr>
          <p:nvPr>
            <p:ph type="ctrTitle"/>
          </p:nvPr>
        </p:nvSpPr>
        <p:spPr/>
        <p:txBody>
          <a:bodyPr/>
          <a:lstStyle/>
          <a:p>
            <a:r>
              <a:rPr lang="en-VN"/>
              <a:t>MM010</a:t>
            </a:r>
          </a:p>
        </p:txBody>
      </p:sp>
      <p:sp>
        <p:nvSpPr>
          <p:cNvPr id="3" name="Subtitle 2">
            <a:extLst>
              <a:ext uri="{FF2B5EF4-FFF2-40B4-BE49-F238E27FC236}">
                <a16:creationId xmlns:a16="http://schemas.microsoft.com/office/drawing/2014/main" id="{D30950AD-7BA9-148A-31F4-19B8E9E66AF8}"/>
              </a:ext>
            </a:extLst>
          </p:cNvPr>
          <p:cNvSpPr>
            <a:spLocks noGrp="1"/>
          </p:cNvSpPr>
          <p:nvPr>
            <p:ph type="subTitle" idx="1"/>
          </p:nvPr>
        </p:nvSpPr>
        <p:spPr/>
        <p:txBody>
          <a:bodyPr/>
          <a:lstStyle/>
          <a:p>
            <a:r>
              <a:rPr lang="en-VN"/>
              <a:t>Đại số tuyến tính ứng dụng trong truyền thông</a:t>
            </a:r>
          </a:p>
          <a:p>
            <a:r>
              <a:rPr lang="en-VN"/>
              <a:t>LA for MM</a:t>
            </a:r>
          </a:p>
        </p:txBody>
      </p:sp>
      <p:sp>
        <p:nvSpPr>
          <p:cNvPr id="4" name="Slide Number Placeholder 3">
            <a:extLst>
              <a:ext uri="{FF2B5EF4-FFF2-40B4-BE49-F238E27FC236}">
                <a16:creationId xmlns:a16="http://schemas.microsoft.com/office/drawing/2014/main" id="{7D4937EE-EC28-131B-292C-184AA374E2ED}"/>
              </a:ext>
            </a:extLst>
          </p:cNvPr>
          <p:cNvSpPr>
            <a:spLocks noGrp="1"/>
          </p:cNvSpPr>
          <p:nvPr>
            <p:ph type="sldNum" sz="quarter" idx="12"/>
          </p:nvPr>
        </p:nvSpPr>
        <p:spPr/>
        <p:txBody>
          <a:bodyPr/>
          <a:lstStyle/>
          <a:p>
            <a:fld id="{9663FB4D-4462-1148-A41B-A6D56F6F932D}" type="slidenum">
              <a:t>1</a:t>
            </a:fld>
            <a:endParaRPr lang="en-VN"/>
          </a:p>
        </p:txBody>
      </p:sp>
    </p:spTree>
    <p:extLst>
      <p:ext uri="{BB962C8B-B14F-4D97-AF65-F5344CB8AC3E}">
        <p14:creationId xmlns:p14="http://schemas.microsoft.com/office/powerpoint/2010/main" val="863942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79915-846F-76B9-BA4E-E9FB5C06C074}"/>
              </a:ext>
            </a:extLst>
          </p:cNvPr>
          <p:cNvSpPr>
            <a:spLocks noGrp="1"/>
          </p:cNvSpPr>
          <p:nvPr>
            <p:ph type="title"/>
          </p:nvPr>
        </p:nvSpPr>
        <p:spPr/>
        <p:txBody>
          <a:bodyPr/>
          <a:lstStyle/>
          <a:p>
            <a:r>
              <a:rPr lang="en-VN"/>
              <a:t>Intro</a:t>
            </a:r>
          </a:p>
        </p:txBody>
      </p:sp>
      <p:sp>
        <p:nvSpPr>
          <p:cNvPr id="3" name="Content Placeholder 2">
            <a:extLst>
              <a:ext uri="{FF2B5EF4-FFF2-40B4-BE49-F238E27FC236}">
                <a16:creationId xmlns:a16="http://schemas.microsoft.com/office/drawing/2014/main" id="{BC9FB7C9-D285-6A44-F390-D64423B33F97}"/>
              </a:ext>
            </a:extLst>
          </p:cNvPr>
          <p:cNvSpPr>
            <a:spLocks noGrp="1"/>
          </p:cNvSpPr>
          <p:nvPr>
            <p:ph idx="1"/>
          </p:nvPr>
        </p:nvSpPr>
        <p:spPr/>
        <p:txBody>
          <a:bodyPr/>
          <a:lstStyle/>
          <a:p>
            <a:pPr marL="0" indent="0">
              <a:buNone/>
            </a:pPr>
            <a:r>
              <a:rPr lang="en-VN"/>
              <a:t>Personal/Intro.pptx</a:t>
            </a:r>
          </a:p>
        </p:txBody>
      </p:sp>
      <p:sp>
        <p:nvSpPr>
          <p:cNvPr id="4" name="Slide Number Placeholder 3">
            <a:extLst>
              <a:ext uri="{FF2B5EF4-FFF2-40B4-BE49-F238E27FC236}">
                <a16:creationId xmlns:a16="http://schemas.microsoft.com/office/drawing/2014/main" id="{C0EDFEBC-0CCB-E4ED-E057-19D5816702FD}"/>
              </a:ext>
            </a:extLst>
          </p:cNvPr>
          <p:cNvSpPr>
            <a:spLocks noGrp="1"/>
          </p:cNvSpPr>
          <p:nvPr>
            <p:ph type="sldNum" sz="quarter" idx="12"/>
          </p:nvPr>
        </p:nvSpPr>
        <p:spPr/>
        <p:txBody>
          <a:bodyPr/>
          <a:lstStyle/>
          <a:p>
            <a:fld id="{9663FB4D-4462-1148-A41B-A6D56F6F932D}" type="slidenum">
              <a:t>2</a:t>
            </a:fld>
            <a:endParaRPr lang="en-VN"/>
          </a:p>
        </p:txBody>
      </p:sp>
    </p:spTree>
    <p:extLst>
      <p:ext uri="{BB962C8B-B14F-4D97-AF65-F5344CB8AC3E}">
        <p14:creationId xmlns:p14="http://schemas.microsoft.com/office/powerpoint/2010/main" val="3846936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F46D4-618C-112E-F8E2-FCEE63794159}"/>
              </a:ext>
            </a:extLst>
          </p:cNvPr>
          <p:cNvSpPr>
            <a:spLocks noGrp="1"/>
          </p:cNvSpPr>
          <p:nvPr>
            <p:ph type="title"/>
          </p:nvPr>
        </p:nvSpPr>
        <p:spPr/>
        <p:txBody>
          <a:bodyPr/>
          <a:lstStyle/>
          <a:p>
            <a:r>
              <a:rPr lang="en-VN"/>
              <a:t>Intro</a:t>
            </a:r>
          </a:p>
        </p:txBody>
      </p:sp>
      <p:sp>
        <p:nvSpPr>
          <p:cNvPr id="3" name="Content Placeholder 2">
            <a:extLst>
              <a:ext uri="{FF2B5EF4-FFF2-40B4-BE49-F238E27FC236}">
                <a16:creationId xmlns:a16="http://schemas.microsoft.com/office/drawing/2014/main" id="{0423BD77-1499-65DE-AE3F-3B51F3C897F8}"/>
              </a:ext>
            </a:extLst>
          </p:cNvPr>
          <p:cNvSpPr>
            <a:spLocks noGrp="1"/>
          </p:cNvSpPr>
          <p:nvPr>
            <p:ph idx="1"/>
          </p:nvPr>
        </p:nvSpPr>
        <p:spPr/>
        <p:txBody>
          <a:bodyPr/>
          <a:lstStyle/>
          <a:p>
            <a:pPr marL="0" indent="0">
              <a:buNone/>
            </a:pPr>
            <a:r>
              <a:rPr lang="en-VN"/>
              <a:t>Quá trình: 50%</a:t>
            </a:r>
          </a:p>
          <a:p>
            <a:pPr>
              <a:buFontTx/>
              <a:buChar char="-"/>
            </a:pPr>
            <a:r>
              <a:rPr lang="en-US"/>
              <a:t>Trả lời câu hỏi </a:t>
            </a:r>
          </a:p>
          <a:p>
            <a:pPr>
              <a:buFontTx/>
              <a:buChar char="-"/>
            </a:pPr>
            <a:r>
              <a:rPr lang="en-US"/>
              <a:t>Bài tập</a:t>
            </a:r>
          </a:p>
          <a:p>
            <a:pPr>
              <a:buFontTx/>
              <a:buChar char="-"/>
            </a:pPr>
            <a:r>
              <a:rPr lang="en-US"/>
              <a:t>Thảo luận</a:t>
            </a:r>
          </a:p>
          <a:p>
            <a:pPr>
              <a:buFontTx/>
              <a:buChar char="-"/>
            </a:pPr>
            <a:r>
              <a:rPr lang="en-US"/>
              <a:t>Bài lab</a:t>
            </a:r>
            <a:endParaRPr lang="en-VN"/>
          </a:p>
          <a:p>
            <a:pPr marL="0" indent="0">
              <a:buNone/>
            </a:pPr>
            <a:r>
              <a:rPr lang="en-VN"/>
              <a:t>Đồ án cuối kì: 50%</a:t>
            </a:r>
          </a:p>
        </p:txBody>
      </p:sp>
      <p:sp>
        <p:nvSpPr>
          <p:cNvPr id="4" name="Slide Number Placeholder 3">
            <a:extLst>
              <a:ext uri="{FF2B5EF4-FFF2-40B4-BE49-F238E27FC236}">
                <a16:creationId xmlns:a16="http://schemas.microsoft.com/office/drawing/2014/main" id="{B6E8D7EB-0553-32DD-AA67-B8DD984A144A}"/>
              </a:ext>
            </a:extLst>
          </p:cNvPr>
          <p:cNvSpPr>
            <a:spLocks noGrp="1"/>
          </p:cNvSpPr>
          <p:nvPr>
            <p:ph type="sldNum" sz="quarter" idx="12"/>
          </p:nvPr>
        </p:nvSpPr>
        <p:spPr/>
        <p:txBody>
          <a:bodyPr/>
          <a:lstStyle/>
          <a:p>
            <a:fld id="{9663FB4D-4462-1148-A41B-A6D56F6F932D}" type="slidenum">
              <a:t>3</a:t>
            </a:fld>
            <a:endParaRPr lang="en-VN"/>
          </a:p>
        </p:txBody>
      </p:sp>
    </p:spTree>
    <p:extLst>
      <p:ext uri="{BB962C8B-B14F-4D97-AF65-F5344CB8AC3E}">
        <p14:creationId xmlns:p14="http://schemas.microsoft.com/office/powerpoint/2010/main" val="3969541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00876-148E-E389-3485-A7B7F5E7AB30}"/>
              </a:ext>
            </a:extLst>
          </p:cNvPr>
          <p:cNvSpPr>
            <a:spLocks noGrp="1"/>
          </p:cNvSpPr>
          <p:nvPr>
            <p:ph type="title"/>
          </p:nvPr>
        </p:nvSpPr>
        <p:spPr/>
        <p:txBody>
          <a:bodyPr/>
          <a:lstStyle/>
          <a:p>
            <a:r>
              <a:rPr lang="en-VN"/>
              <a:t>Intro</a:t>
            </a:r>
          </a:p>
        </p:txBody>
      </p:sp>
      <p:pic>
        <p:nvPicPr>
          <p:cNvPr id="1026" name="Picture 2" descr="Khám phá bộ sưu tập hình nền TikTok đẹp nhất - TikTok Wallpaper, mang đến  phong cách độc đáo cho thiết bị của bạn.">
            <a:extLst>
              <a:ext uri="{FF2B5EF4-FFF2-40B4-BE49-F238E27FC236}">
                <a16:creationId xmlns:a16="http://schemas.microsoft.com/office/drawing/2014/main" id="{3D411BD8-2046-07F7-C019-28FBBC9A673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690687"/>
            <a:ext cx="2593180" cy="48021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YouTube?">
            <a:extLst>
              <a:ext uri="{FF2B5EF4-FFF2-40B4-BE49-F238E27FC236}">
                <a16:creationId xmlns:a16="http://schemas.microsoft.com/office/drawing/2014/main" id="{A0EC80DA-D49B-7655-EB0D-AFF7375852A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9004" b="32222"/>
          <a:stretch>
            <a:fillRect/>
          </a:stretch>
        </p:blipFill>
        <p:spPr bwMode="auto">
          <a:xfrm rot="16200000">
            <a:off x="2007219" y="3239777"/>
            <a:ext cx="3962400" cy="8642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hiến lược giúp shop Shopee được nhiều người biết đến nhanh chóng | Height  Media">
            <a:extLst>
              <a:ext uri="{FF2B5EF4-FFF2-40B4-BE49-F238E27FC236}">
                <a16:creationId xmlns:a16="http://schemas.microsoft.com/office/drawing/2014/main" id="{F12230BA-9FA8-D2AC-A2C0-B3DBD1A4CDD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992" t="9791" r="24766" b="21875"/>
          <a:stretch>
            <a:fillRect/>
          </a:stretch>
        </p:blipFill>
        <p:spPr bwMode="auto">
          <a:xfrm>
            <a:off x="4545458" y="1690686"/>
            <a:ext cx="4024312" cy="26558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BDBA417-51A7-B1D8-6B2D-80C0319A7786}"/>
              </a:ext>
            </a:extLst>
          </p:cNvPr>
          <p:cNvSpPr txBox="1"/>
          <p:nvPr/>
        </p:nvSpPr>
        <p:spPr>
          <a:xfrm>
            <a:off x="9645804" y="2598003"/>
            <a:ext cx="1488688" cy="830997"/>
          </a:xfrm>
          <a:prstGeom prst="rect">
            <a:avLst/>
          </a:prstGeom>
          <a:noFill/>
        </p:spPr>
        <p:txBody>
          <a:bodyPr wrap="square" rtlCol="0">
            <a:spAutoFit/>
          </a:bodyPr>
          <a:lstStyle/>
          <a:p>
            <a:r>
              <a:rPr lang="en-VN" sz="4800"/>
              <a:t>Data</a:t>
            </a:r>
          </a:p>
        </p:txBody>
      </p:sp>
      <p:cxnSp>
        <p:nvCxnSpPr>
          <p:cNvPr id="7" name="Straight Arrow Connector 6">
            <a:extLst>
              <a:ext uri="{FF2B5EF4-FFF2-40B4-BE49-F238E27FC236}">
                <a16:creationId xmlns:a16="http://schemas.microsoft.com/office/drawing/2014/main" id="{8869D945-3236-00F3-7673-D5E7101B8450}"/>
              </a:ext>
            </a:extLst>
          </p:cNvPr>
          <p:cNvCxnSpPr>
            <a:stCxn id="1032" idx="3"/>
            <a:endCxn id="5" idx="1"/>
          </p:cNvCxnSpPr>
          <p:nvPr/>
        </p:nvCxnSpPr>
        <p:spPr>
          <a:xfrm flipV="1">
            <a:off x="8569770" y="3013502"/>
            <a:ext cx="1076034" cy="5126"/>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60EAD7C2-E4E4-AEB3-C8B5-8322D10BF37C}"/>
              </a:ext>
            </a:extLst>
          </p:cNvPr>
          <p:cNvSpPr txBox="1"/>
          <p:nvPr/>
        </p:nvSpPr>
        <p:spPr>
          <a:xfrm>
            <a:off x="8955836" y="5019444"/>
            <a:ext cx="2868623" cy="830997"/>
          </a:xfrm>
          <a:prstGeom prst="rect">
            <a:avLst/>
          </a:prstGeom>
          <a:noFill/>
        </p:spPr>
        <p:txBody>
          <a:bodyPr wrap="square" rtlCol="0">
            <a:spAutoFit/>
          </a:bodyPr>
          <a:lstStyle/>
          <a:p>
            <a:r>
              <a:rPr lang="en-VN" sz="4800"/>
              <a:t>Outcome</a:t>
            </a:r>
          </a:p>
        </p:txBody>
      </p:sp>
      <p:cxnSp>
        <p:nvCxnSpPr>
          <p:cNvPr id="10" name="Straight Arrow Connector 9">
            <a:extLst>
              <a:ext uri="{FF2B5EF4-FFF2-40B4-BE49-F238E27FC236}">
                <a16:creationId xmlns:a16="http://schemas.microsoft.com/office/drawing/2014/main" id="{9394E51F-F972-7D1F-C94B-3AD9CA69E6E8}"/>
              </a:ext>
            </a:extLst>
          </p:cNvPr>
          <p:cNvCxnSpPr>
            <a:cxnSpLocks/>
            <a:stCxn id="5" idx="2"/>
            <a:endCxn id="9" idx="0"/>
          </p:cNvCxnSpPr>
          <p:nvPr/>
        </p:nvCxnSpPr>
        <p:spPr>
          <a:xfrm>
            <a:off x="10390148" y="3429000"/>
            <a:ext cx="0" cy="1590444"/>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7A20F737-5903-E50C-3790-219F89BDD51E}"/>
              </a:ext>
            </a:extLst>
          </p:cNvPr>
          <p:cNvSpPr txBox="1"/>
          <p:nvPr/>
        </p:nvSpPr>
        <p:spPr>
          <a:xfrm>
            <a:off x="10496986" y="3993389"/>
            <a:ext cx="1327473" cy="461665"/>
          </a:xfrm>
          <a:prstGeom prst="rect">
            <a:avLst/>
          </a:prstGeom>
          <a:noFill/>
        </p:spPr>
        <p:txBody>
          <a:bodyPr wrap="square" rtlCol="0">
            <a:spAutoFit/>
          </a:bodyPr>
          <a:lstStyle/>
          <a:p>
            <a:r>
              <a:rPr lang="en-VN" sz="2400"/>
              <a:t>Process</a:t>
            </a:r>
          </a:p>
        </p:txBody>
      </p:sp>
      <p:sp>
        <p:nvSpPr>
          <p:cNvPr id="18" name="TextBox 17">
            <a:extLst>
              <a:ext uri="{FF2B5EF4-FFF2-40B4-BE49-F238E27FC236}">
                <a16:creationId xmlns:a16="http://schemas.microsoft.com/office/drawing/2014/main" id="{A300B451-39EA-ED9E-07CD-B5AD5A7C76BA}"/>
              </a:ext>
            </a:extLst>
          </p:cNvPr>
          <p:cNvSpPr txBox="1"/>
          <p:nvPr/>
        </p:nvSpPr>
        <p:spPr>
          <a:xfrm>
            <a:off x="4495902" y="5019443"/>
            <a:ext cx="2593180" cy="830997"/>
          </a:xfrm>
          <a:prstGeom prst="rect">
            <a:avLst/>
          </a:prstGeom>
          <a:noFill/>
        </p:spPr>
        <p:txBody>
          <a:bodyPr wrap="square" rtlCol="0">
            <a:spAutoFit/>
          </a:bodyPr>
          <a:lstStyle/>
          <a:p>
            <a:r>
              <a:rPr lang="en-VN" sz="4800"/>
              <a:t>Decision</a:t>
            </a:r>
          </a:p>
        </p:txBody>
      </p:sp>
      <p:cxnSp>
        <p:nvCxnSpPr>
          <p:cNvPr id="19" name="Straight Arrow Connector 18">
            <a:extLst>
              <a:ext uri="{FF2B5EF4-FFF2-40B4-BE49-F238E27FC236}">
                <a16:creationId xmlns:a16="http://schemas.microsoft.com/office/drawing/2014/main" id="{69732B69-947C-CEB7-13CF-D9ECAC86C880}"/>
              </a:ext>
            </a:extLst>
          </p:cNvPr>
          <p:cNvCxnSpPr>
            <a:cxnSpLocks/>
            <a:stCxn id="9" idx="1"/>
            <a:endCxn id="18" idx="3"/>
          </p:cNvCxnSpPr>
          <p:nvPr/>
        </p:nvCxnSpPr>
        <p:spPr>
          <a:xfrm flipH="1" flipV="1">
            <a:off x="7089082" y="5434942"/>
            <a:ext cx="1866754" cy="1"/>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23" name="TextBox 22">
            <a:extLst>
              <a:ext uri="{FF2B5EF4-FFF2-40B4-BE49-F238E27FC236}">
                <a16:creationId xmlns:a16="http://schemas.microsoft.com/office/drawing/2014/main" id="{A0C6A1E8-8B7B-FC9F-B66B-60691F1651E5}"/>
              </a:ext>
            </a:extLst>
          </p:cNvPr>
          <p:cNvSpPr txBox="1"/>
          <p:nvPr/>
        </p:nvSpPr>
        <p:spPr>
          <a:xfrm>
            <a:off x="7374674" y="5508537"/>
            <a:ext cx="1733113" cy="461665"/>
          </a:xfrm>
          <a:prstGeom prst="rect">
            <a:avLst/>
          </a:prstGeom>
          <a:noFill/>
        </p:spPr>
        <p:txBody>
          <a:bodyPr wrap="square" rtlCol="0">
            <a:spAutoFit/>
          </a:bodyPr>
          <a:lstStyle/>
          <a:p>
            <a:r>
              <a:rPr lang="en-VN" sz="2400"/>
              <a:t>Elaborate</a:t>
            </a:r>
          </a:p>
        </p:txBody>
      </p:sp>
      <p:sp>
        <p:nvSpPr>
          <p:cNvPr id="24" name="Slide Number Placeholder 23">
            <a:extLst>
              <a:ext uri="{FF2B5EF4-FFF2-40B4-BE49-F238E27FC236}">
                <a16:creationId xmlns:a16="http://schemas.microsoft.com/office/drawing/2014/main" id="{957406AC-F89E-34D3-8259-73DECCBCC3CA}"/>
              </a:ext>
            </a:extLst>
          </p:cNvPr>
          <p:cNvSpPr>
            <a:spLocks noGrp="1"/>
          </p:cNvSpPr>
          <p:nvPr>
            <p:ph type="sldNum" sz="quarter" idx="12"/>
          </p:nvPr>
        </p:nvSpPr>
        <p:spPr/>
        <p:txBody>
          <a:bodyPr/>
          <a:lstStyle/>
          <a:p>
            <a:fld id="{9663FB4D-4462-1148-A41B-A6D56F6F932D}" type="slidenum">
              <a:t>4</a:t>
            </a:fld>
            <a:endParaRPr lang="en-VN"/>
          </a:p>
        </p:txBody>
      </p:sp>
      <p:sp>
        <p:nvSpPr>
          <p:cNvPr id="25" name="Oval 24">
            <a:extLst>
              <a:ext uri="{FF2B5EF4-FFF2-40B4-BE49-F238E27FC236}">
                <a16:creationId xmlns:a16="http://schemas.microsoft.com/office/drawing/2014/main" id="{20CCFE26-E2C1-263E-5E36-2BAC7770F4B3}"/>
              </a:ext>
            </a:extLst>
          </p:cNvPr>
          <p:cNvSpPr/>
          <p:nvPr/>
        </p:nvSpPr>
        <p:spPr>
          <a:xfrm>
            <a:off x="10222523" y="3911328"/>
            <a:ext cx="1746739" cy="60205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6" name="TextBox 25">
            <a:extLst>
              <a:ext uri="{FF2B5EF4-FFF2-40B4-BE49-F238E27FC236}">
                <a16:creationId xmlns:a16="http://schemas.microsoft.com/office/drawing/2014/main" id="{F39C51CF-4A58-2129-D070-FB3E2D53D3BA}"/>
              </a:ext>
            </a:extLst>
          </p:cNvPr>
          <p:cNvSpPr txBox="1"/>
          <p:nvPr/>
        </p:nvSpPr>
        <p:spPr>
          <a:xfrm>
            <a:off x="10472181" y="1607986"/>
            <a:ext cx="1707996" cy="923330"/>
          </a:xfrm>
          <a:prstGeom prst="rect">
            <a:avLst/>
          </a:prstGeom>
          <a:noFill/>
        </p:spPr>
        <p:txBody>
          <a:bodyPr wrap="square" rtlCol="0">
            <a:spAutoFit/>
          </a:bodyPr>
          <a:lstStyle/>
          <a:p>
            <a:pPr algn="r"/>
            <a:r>
              <a:rPr lang="en-VN">
                <a:solidFill>
                  <a:srgbClr val="FF0000"/>
                </a:solidFill>
              </a:rPr>
              <a:t>Khối lượng tính toán lớn, cần máy tính</a:t>
            </a:r>
          </a:p>
        </p:txBody>
      </p:sp>
      <p:cxnSp>
        <p:nvCxnSpPr>
          <p:cNvPr id="28" name="Curved Connector 27">
            <a:extLst>
              <a:ext uri="{FF2B5EF4-FFF2-40B4-BE49-F238E27FC236}">
                <a16:creationId xmlns:a16="http://schemas.microsoft.com/office/drawing/2014/main" id="{F6A69010-D808-1761-27EF-FF649767F236}"/>
              </a:ext>
            </a:extLst>
          </p:cNvPr>
          <p:cNvCxnSpPr>
            <a:cxnSpLocks/>
            <a:stCxn id="26" idx="2"/>
            <a:endCxn id="25" idx="0"/>
          </p:cNvCxnSpPr>
          <p:nvPr/>
        </p:nvCxnSpPr>
        <p:spPr>
          <a:xfrm rot="5400000">
            <a:off x="10521030" y="3106179"/>
            <a:ext cx="1380012" cy="230286"/>
          </a:xfrm>
          <a:prstGeom prst="curvedConnector3">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71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A971B-9223-0089-59D7-D83E19709FD8}"/>
              </a:ext>
            </a:extLst>
          </p:cNvPr>
          <p:cNvSpPr>
            <a:spLocks noGrp="1"/>
          </p:cNvSpPr>
          <p:nvPr>
            <p:ph type="title"/>
          </p:nvPr>
        </p:nvSpPr>
        <p:spPr/>
        <p:txBody>
          <a:bodyPr/>
          <a:lstStyle/>
          <a:p>
            <a:r>
              <a:rPr lang="en-VN"/>
              <a:t>Linear algebra: backbone of data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0096ABC-8ED2-3FAB-CA83-39BCC571E40B}"/>
                  </a:ext>
                </a:extLst>
              </p:cNvPr>
              <p:cNvSpPr>
                <a:spLocks noGrp="1"/>
              </p:cNvSpPr>
              <p:nvPr>
                <p:ph idx="1"/>
              </p:nvPr>
            </p:nvSpPr>
            <p:spPr>
              <a:xfrm>
                <a:off x="921834" y="1827121"/>
                <a:ext cx="2272990" cy="1117600"/>
              </a:xfrm>
            </p:spPr>
            <p:txBody>
              <a:bodyPr>
                <a:noAutofit/>
              </a:bodyPr>
              <a:lstStyle/>
              <a:p>
                <a:pPr marL="0" indent="0" algn="ctr">
                  <a:buNone/>
                </a:pPr>
                <a:r>
                  <a:rPr lang="en-VN" sz="3600"/>
                  <a:t>Scalar (</a:t>
                </a:r>
                <a14:m>
                  <m:oMath xmlns:m="http://schemas.openxmlformats.org/officeDocument/2006/math">
                    <m:r>
                      <a:rPr lang="en-VN" sz="3600" i="1">
                        <a:latin typeface="Cambria Math" panose="02040503050406030204" pitchFamily="18" charset="0"/>
                      </a:rPr>
                      <m:t>𝑘</m:t>
                    </m:r>
                  </m:oMath>
                </a14:m>
                <a:r>
                  <a:rPr lang="en-VN" sz="3600"/>
                  <a:t>)</a:t>
                </a:r>
              </a:p>
              <a:p>
                <a:pPr marL="0" indent="0" algn="ctr">
                  <a:buNone/>
                </a:pPr>
                <a:r>
                  <a:rPr lang="en-VN" sz="3600"/>
                  <a:t>4</a:t>
                </a:r>
              </a:p>
            </p:txBody>
          </p:sp>
        </mc:Choice>
        <mc:Fallback>
          <p:sp>
            <p:nvSpPr>
              <p:cNvPr id="3" name="Content Placeholder 2">
                <a:extLst>
                  <a:ext uri="{FF2B5EF4-FFF2-40B4-BE49-F238E27FC236}">
                    <a16:creationId xmlns:a16="http://schemas.microsoft.com/office/drawing/2014/main" id="{90096ABC-8ED2-3FAB-CA83-39BCC571E40B}"/>
                  </a:ext>
                </a:extLst>
              </p:cNvPr>
              <p:cNvSpPr>
                <a:spLocks noGrp="1" noRot="1" noChangeAspect="1" noMove="1" noResize="1" noEditPoints="1" noAdjustHandles="1" noChangeArrowheads="1" noChangeShapeType="1" noTextEdit="1"/>
              </p:cNvSpPr>
              <p:nvPr>
                <p:ph idx="1"/>
              </p:nvPr>
            </p:nvSpPr>
            <p:spPr>
              <a:xfrm>
                <a:off x="921834" y="1827121"/>
                <a:ext cx="2272990" cy="1117600"/>
              </a:xfrm>
              <a:blipFill>
                <a:blip r:embed="rId2"/>
                <a:stretch>
                  <a:fillRect l="-3333" t="-13636" r="-3333" b="-2954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5C7DC644-8285-594D-7365-1328FAE1CE0F}"/>
                  </a:ext>
                </a:extLst>
              </p:cNvPr>
              <p:cNvSpPr txBox="1">
                <a:spLocks/>
              </p:cNvSpPr>
              <p:nvPr/>
            </p:nvSpPr>
            <p:spPr>
              <a:xfrm>
                <a:off x="3111190" y="1825625"/>
                <a:ext cx="2763644" cy="157011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VN" sz="3600"/>
                  <a:t>Vector(</a:t>
                </a:r>
                <a14:m>
                  <m:oMath xmlns:m="http://schemas.openxmlformats.org/officeDocument/2006/math">
                    <m:acc>
                      <m:accPr>
                        <m:chr m:val="⃗"/>
                        <m:ctrlPr>
                          <a:rPr lang="en-VN" sz="3600" i="1" smtClean="0">
                            <a:latin typeface="Cambria Math" panose="02040503050406030204" pitchFamily="18" charset="0"/>
                          </a:rPr>
                        </m:ctrlPr>
                      </m:accPr>
                      <m:e>
                        <m:r>
                          <a:rPr lang="en-VN" sz="3600" i="1">
                            <a:latin typeface="Cambria Math" panose="02040503050406030204" pitchFamily="18" charset="0"/>
                          </a:rPr>
                          <m:t>𝑣</m:t>
                        </m:r>
                      </m:e>
                    </m:acc>
                  </m:oMath>
                </a14:m>
                <a:r>
                  <a:rPr lang="en-VN" sz="3600"/>
                  <a:t>)</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sz="3600" b="0" i="1" smtClean="0">
                              <a:latin typeface="Cambria Math" panose="02040503050406030204" pitchFamily="18" charset="0"/>
                            </a:rPr>
                          </m:ctrlPr>
                        </m:dPr>
                        <m:e>
                          <m:m>
                            <m:mPr>
                              <m:mcs>
                                <m:mc>
                                  <m:mcPr>
                                    <m:count m:val="1"/>
                                    <m:mcJc m:val="center"/>
                                  </m:mcPr>
                                </m:mc>
                              </m:mcs>
                              <m:ctrlPr>
                                <a:rPr lang="vi-VN" sz="3600" b="0" i="1" smtClean="0">
                                  <a:latin typeface="Cambria Math" panose="02040503050406030204" pitchFamily="18" charset="0"/>
                                </a:rPr>
                              </m:ctrlPr>
                            </m:mPr>
                            <m:mr>
                              <m:e>
                                <m:r>
                                  <m:rPr>
                                    <m:brk m:alnAt="7"/>
                                  </m:rPr>
                                  <a:rPr lang="vi-VN" sz="3600" b="0" i="1" smtClean="0">
                                    <a:latin typeface="Cambria Math" panose="02040503050406030204" pitchFamily="18" charset="0"/>
                                  </a:rPr>
                                  <m:t>4</m:t>
                                </m:r>
                              </m:e>
                            </m:mr>
                            <m:mr>
                              <m:e>
                                <m:r>
                                  <a:rPr lang="vi-VN" sz="3600" b="0" i="1" smtClean="0">
                                    <a:latin typeface="Cambria Math" panose="02040503050406030204" pitchFamily="18" charset="0"/>
                                  </a:rPr>
                                  <m:t>5</m:t>
                                </m:r>
                              </m:e>
                            </m:mr>
                          </m:m>
                        </m:e>
                      </m:d>
                    </m:oMath>
                  </m:oMathPara>
                </a14:m>
                <a:endParaRPr lang="en-VN" sz="3600"/>
              </a:p>
              <a:p>
                <a:pPr marL="0" indent="0" algn="ctr">
                  <a:buFont typeface="Arial" panose="020B0604020202020204" pitchFamily="34" charset="0"/>
                  <a:buNone/>
                </a:pPr>
                <a:endParaRPr lang="en-VN" sz="3600"/>
              </a:p>
              <a:p>
                <a:pPr marL="0" indent="0" algn="ctr">
                  <a:buFont typeface="Arial" panose="020B0604020202020204" pitchFamily="34" charset="0"/>
                  <a:buNone/>
                </a:pPr>
                <a:endParaRPr lang="en-VN" sz="3600"/>
              </a:p>
              <a:p>
                <a:pPr marL="0" indent="0" algn="ctr">
                  <a:buFont typeface="Arial" panose="020B0604020202020204" pitchFamily="34" charset="0"/>
                  <a:buNone/>
                </a:pPr>
                <a:endParaRPr lang="en-VN" sz="3600"/>
              </a:p>
            </p:txBody>
          </p:sp>
        </mc:Choice>
        <mc:Fallback>
          <p:sp>
            <p:nvSpPr>
              <p:cNvPr id="5" name="Content Placeholder 2">
                <a:extLst>
                  <a:ext uri="{FF2B5EF4-FFF2-40B4-BE49-F238E27FC236}">
                    <a16:creationId xmlns:a16="http://schemas.microsoft.com/office/drawing/2014/main" id="{5C7DC644-8285-594D-7365-1328FAE1CE0F}"/>
                  </a:ext>
                </a:extLst>
              </p:cNvPr>
              <p:cNvSpPr txBox="1">
                <a:spLocks noRot="1" noChangeAspect="1" noMove="1" noResize="1" noEditPoints="1" noAdjustHandles="1" noChangeArrowheads="1" noChangeShapeType="1" noTextEdit="1"/>
              </p:cNvSpPr>
              <p:nvPr/>
            </p:nvSpPr>
            <p:spPr>
              <a:xfrm>
                <a:off x="3111190" y="1825625"/>
                <a:ext cx="2763644" cy="1570110"/>
              </a:xfrm>
              <a:prstGeom prst="rect">
                <a:avLst/>
              </a:prstGeom>
              <a:blipFill>
                <a:blip r:embed="rId3"/>
                <a:stretch>
                  <a:fillRect t="-136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30BC9808-65DB-92AA-1ADD-CCFCA7C2A021}"/>
                  </a:ext>
                </a:extLst>
              </p:cNvPr>
              <p:cNvSpPr txBox="1"/>
              <p:nvPr/>
            </p:nvSpPr>
            <p:spPr>
              <a:xfrm>
                <a:off x="838200" y="3401116"/>
                <a:ext cx="2440259" cy="1570110"/>
              </a:xfrm>
              <a:prstGeom prst="rect">
                <a:avLst/>
              </a:prstGeom>
              <a:noFill/>
            </p:spPr>
            <p:txBody>
              <a:bodyPr wrap="square">
                <a:spAutoFit/>
              </a:bodyPr>
              <a:lstStyle/>
              <a:p>
                <a:pPr marL="0" indent="0" algn="ctr">
                  <a:buFont typeface="Arial" panose="020B0604020202020204" pitchFamily="34" charset="0"/>
                  <a:buNone/>
                </a:pPr>
                <a:r>
                  <a:rPr lang="en-VN" sz="3600"/>
                  <a:t>Matrix (</a:t>
                </a:r>
                <a14:m>
                  <m:oMath xmlns:m="http://schemas.openxmlformats.org/officeDocument/2006/math">
                    <m:r>
                      <a:rPr lang="en-VN" sz="3600" i="1">
                        <a:latin typeface="Cambria Math" panose="02040503050406030204" pitchFamily="18" charset="0"/>
                      </a:rPr>
                      <m:t>𝑀</m:t>
                    </m:r>
                  </m:oMath>
                </a14:m>
                <a:r>
                  <a:rPr lang="en-VN" sz="3600"/>
                  <a:t>)</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sz="3600" b="0" i="1" smtClean="0">
                              <a:latin typeface="Cambria Math" panose="02040503050406030204" pitchFamily="18" charset="0"/>
                            </a:rPr>
                          </m:ctrlPr>
                        </m:dPr>
                        <m:e>
                          <m:m>
                            <m:mPr>
                              <m:mcs>
                                <m:mc>
                                  <m:mcPr>
                                    <m:count m:val="2"/>
                                    <m:mcJc m:val="center"/>
                                  </m:mcPr>
                                </m:mc>
                              </m:mcs>
                              <m:ctrlPr>
                                <a:rPr lang="vi-VN" sz="3600" b="0" i="1" smtClean="0">
                                  <a:latin typeface="Cambria Math" panose="02040503050406030204" pitchFamily="18" charset="0"/>
                                </a:rPr>
                              </m:ctrlPr>
                            </m:mPr>
                            <m:mr>
                              <m:e>
                                <m:r>
                                  <m:rPr>
                                    <m:brk m:alnAt="7"/>
                                  </m:rPr>
                                  <a:rPr lang="vi-VN" sz="3600" b="0" i="1" smtClean="0">
                                    <a:latin typeface="Cambria Math" panose="02040503050406030204" pitchFamily="18" charset="0"/>
                                  </a:rPr>
                                  <m:t>1</m:t>
                                </m:r>
                              </m:e>
                              <m:e>
                                <m:r>
                                  <a:rPr lang="vi-VN" sz="3600" b="0" i="1" smtClean="0">
                                    <a:latin typeface="Cambria Math" panose="02040503050406030204" pitchFamily="18" charset="0"/>
                                  </a:rPr>
                                  <m:t>2</m:t>
                                </m:r>
                              </m:e>
                            </m:mr>
                            <m:mr>
                              <m:e>
                                <m:r>
                                  <a:rPr lang="vi-VN" sz="3600" b="0" i="1" smtClean="0">
                                    <a:latin typeface="Cambria Math" panose="02040503050406030204" pitchFamily="18" charset="0"/>
                                  </a:rPr>
                                  <m:t>3</m:t>
                                </m:r>
                              </m:e>
                              <m:e>
                                <m:r>
                                  <a:rPr lang="vi-VN" sz="3600" b="0" i="1" smtClean="0">
                                    <a:latin typeface="Cambria Math" panose="02040503050406030204" pitchFamily="18" charset="0"/>
                                  </a:rPr>
                                  <m:t>4</m:t>
                                </m:r>
                              </m:e>
                            </m:mr>
                          </m:m>
                        </m:e>
                      </m:d>
                    </m:oMath>
                  </m:oMathPara>
                </a14:m>
                <a:endParaRPr lang="en-VN" sz="3600"/>
              </a:p>
            </p:txBody>
          </p:sp>
        </mc:Choice>
        <mc:Fallback>
          <p:sp>
            <p:nvSpPr>
              <p:cNvPr id="7" name="TextBox 6">
                <a:extLst>
                  <a:ext uri="{FF2B5EF4-FFF2-40B4-BE49-F238E27FC236}">
                    <a16:creationId xmlns:a16="http://schemas.microsoft.com/office/drawing/2014/main" id="{30BC9808-65DB-92AA-1ADD-CCFCA7C2A021}"/>
                  </a:ext>
                </a:extLst>
              </p:cNvPr>
              <p:cNvSpPr txBox="1">
                <a:spLocks noRot="1" noChangeAspect="1" noMove="1" noResize="1" noEditPoints="1" noAdjustHandles="1" noChangeArrowheads="1" noChangeShapeType="1" noTextEdit="1"/>
              </p:cNvSpPr>
              <p:nvPr/>
            </p:nvSpPr>
            <p:spPr>
              <a:xfrm>
                <a:off x="838200" y="3401116"/>
                <a:ext cx="2440259" cy="1570110"/>
              </a:xfrm>
              <a:prstGeom prst="rect">
                <a:avLst/>
              </a:prstGeom>
              <a:blipFill>
                <a:blip r:embed="rId4"/>
                <a:stretch>
                  <a:fillRect l="-2073" t="-5600" r="-1554" b="-56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CFF849B-6A20-5311-8ED3-553E83051F3D}"/>
                  </a:ext>
                </a:extLst>
              </p:cNvPr>
              <p:cNvSpPr txBox="1"/>
              <p:nvPr/>
            </p:nvSpPr>
            <p:spPr>
              <a:xfrm>
                <a:off x="3051717" y="3401116"/>
                <a:ext cx="3044283" cy="1785682"/>
              </a:xfrm>
              <a:prstGeom prst="rect">
                <a:avLst/>
              </a:prstGeom>
              <a:noFill/>
            </p:spPr>
            <p:txBody>
              <a:bodyPr wrap="square">
                <a:spAutoFit/>
              </a:bodyPr>
              <a:lstStyle/>
              <a:p>
                <a:pPr marL="0" indent="0" algn="ctr">
                  <a:buFont typeface="Arial" panose="020B0604020202020204" pitchFamily="34" charset="0"/>
                  <a:buNone/>
                </a:pPr>
                <a:r>
                  <a:rPr lang="en-VN" sz="3600"/>
                  <a:t>Tensor (</a:t>
                </a:r>
                <a14:m>
                  <m:oMath xmlns:m="http://schemas.openxmlformats.org/officeDocument/2006/math">
                    <m:sSub>
                      <m:sSubPr>
                        <m:ctrlPr>
                          <a:rPr lang="vi-VN" sz="3600" b="0" i="1">
                            <a:latin typeface="Cambria Math" panose="02040503050406030204" pitchFamily="18" charset="0"/>
                          </a:rPr>
                        </m:ctrlPr>
                      </m:sSubPr>
                      <m:e>
                        <m:r>
                          <a:rPr lang="vi-VN" sz="3600" b="0" i="1">
                            <a:latin typeface="Cambria Math" panose="02040503050406030204" pitchFamily="18" charset="0"/>
                            <a:ea typeface="Cambria Math" panose="02040503050406030204" pitchFamily="18" charset="0"/>
                          </a:rPr>
                          <m:t>𝒯</m:t>
                        </m:r>
                      </m:e>
                      <m:sub>
                        <m:r>
                          <a:rPr lang="vi-VN" sz="3600" i="1">
                            <a:latin typeface="Cambria Math" panose="02040503050406030204" pitchFamily="18" charset="0"/>
                          </a:rPr>
                          <m:t>𝑖𝑗𝑘</m:t>
                        </m:r>
                      </m:sub>
                    </m:sSub>
                  </m:oMath>
                </a14:m>
                <a:r>
                  <a:rPr lang="en-VN" sz="3600"/>
                  <a:t>)</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d>
                        <m:dPr>
                          <m:begChr m:val="["/>
                          <m:endChr m:val="]"/>
                          <m:ctrlPr>
                            <a:rPr lang="vi-VN" sz="3600" b="0" i="1" smtClean="0">
                              <a:latin typeface="Cambria Math" panose="02040503050406030204" pitchFamily="18" charset="0"/>
                            </a:rPr>
                          </m:ctrlPr>
                        </m:dPr>
                        <m:e>
                          <m:m>
                            <m:mPr>
                              <m:mcs>
                                <m:mc>
                                  <m:mcPr>
                                    <m:count m:val="2"/>
                                    <m:mcJc m:val="center"/>
                                  </m:mcPr>
                                </m:mc>
                              </m:mcs>
                              <m:ctrlPr>
                                <a:rPr lang="vi-VN" sz="3600" b="0" i="1" smtClean="0">
                                  <a:latin typeface="Cambria Math" panose="02040503050406030204" pitchFamily="18" charset="0"/>
                                </a:rPr>
                              </m:ctrlPr>
                            </m:mPr>
                            <m:mr>
                              <m:e>
                                <m:r>
                                  <m:rPr>
                                    <m:brk m:alnAt="7"/>
                                  </m:rPr>
                                  <a:rPr lang="vi-VN" sz="3600" b="0" i="1" smtClean="0">
                                    <a:latin typeface="Cambria Math" panose="02040503050406030204" pitchFamily="18" charset="0"/>
                                  </a:rPr>
                                  <m:t>[</m:t>
                                </m:r>
                                <m:r>
                                  <a:rPr lang="vi-VN" sz="3600" b="0" i="1" smtClean="0">
                                    <a:latin typeface="Cambria Math" panose="02040503050406030204" pitchFamily="18" charset="0"/>
                                  </a:rPr>
                                  <m:t>1 2]</m:t>
                                </m:r>
                              </m:e>
                              <m:e>
                                <m:d>
                                  <m:dPr>
                                    <m:begChr m:val="["/>
                                    <m:endChr m:val="]"/>
                                    <m:ctrlPr>
                                      <a:rPr lang="vi-VN" sz="3600" b="0" i="1" smtClean="0">
                                        <a:latin typeface="Cambria Math" panose="02040503050406030204" pitchFamily="18" charset="0"/>
                                      </a:rPr>
                                    </m:ctrlPr>
                                  </m:dPr>
                                  <m:e>
                                    <m:r>
                                      <a:rPr lang="vi-VN" sz="3600" b="0" i="1" smtClean="0">
                                        <a:latin typeface="Cambria Math" panose="02040503050406030204" pitchFamily="18" charset="0"/>
                                      </a:rPr>
                                      <m:t>5 6</m:t>
                                    </m:r>
                                  </m:e>
                                </m:d>
                              </m:e>
                            </m:mr>
                            <m:mr>
                              <m:e>
                                <m:d>
                                  <m:dPr>
                                    <m:begChr m:val="["/>
                                    <m:endChr m:val="]"/>
                                    <m:ctrlPr>
                                      <a:rPr lang="vi-VN" sz="3600" b="0" i="1" smtClean="0">
                                        <a:latin typeface="Cambria Math" panose="02040503050406030204" pitchFamily="18" charset="0"/>
                                      </a:rPr>
                                    </m:ctrlPr>
                                  </m:dPr>
                                  <m:e>
                                    <m:r>
                                      <a:rPr lang="vi-VN" sz="3600" b="0" i="1" smtClean="0">
                                        <a:latin typeface="Cambria Math" panose="02040503050406030204" pitchFamily="18" charset="0"/>
                                      </a:rPr>
                                      <m:t>3 4</m:t>
                                    </m:r>
                                  </m:e>
                                </m:d>
                              </m:e>
                              <m:e>
                                <m:d>
                                  <m:dPr>
                                    <m:begChr m:val="["/>
                                    <m:endChr m:val="]"/>
                                    <m:ctrlPr>
                                      <a:rPr lang="vi-VN" sz="3600" b="0" i="1" smtClean="0">
                                        <a:latin typeface="Cambria Math" panose="02040503050406030204" pitchFamily="18" charset="0"/>
                                      </a:rPr>
                                    </m:ctrlPr>
                                  </m:dPr>
                                  <m:e>
                                    <m:r>
                                      <a:rPr lang="vi-VN" sz="3600" b="0" i="1" smtClean="0">
                                        <a:latin typeface="Cambria Math" panose="02040503050406030204" pitchFamily="18" charset="0"/>
                                      </a:rPr>
                                      <m:t>7 8</m:t>
                                    </m:r>
                                  </m:e>
                                </m:d>
                              </m:e>
                            </m:mr>
                          </m:m>
                        </m:e>
                      </m:d>
                    </m:oMath>
                  </m:oMathPara>
                </a14:m>
                <a:endParaRPr lang="en-VN" sz="3600"/>
              </a:p>
            </p:txBody>
          </p:sp>
        </mc:Choice>
        <mc:Fallback>
          <p:sp>
            <p:nvSpPr>
              <p:cNvPr id="8" name="TextBox 7">
                <a:extLst>
                  <a:ext uri="{FF2B5EF4-FFF2-40B4-BE49-F238E27FC236}">
                    <a16:creationId xmlns:a16="http://schemas.microsoft.com/office/drawing/2014/main" id="{8CFF849B-6A20-5311-8ED3-553E83051F3D}"/>
                  </a:ext>
                </a:extLst>
              </p:cNvPr>
              <p:cNvSpPr txBox="1">
                <a:spLocks noRot="1" noChangeAspect="1" noMove="1" noResize="1" noEditPoints="1" noAdjustHandles="1" noChangeArrowheads="1" noChangeShapeType="1" noTextEdit="1"/>
              </p:cNvSpPr>
              <p:nvPr/>
            </p:nvSpPr>
            <p:spPr>
              <a:xfrm>
                <a:off x="3051717" y="3401116"/>
                <a:ext cx="3044283" cy="1785682"/>
              </a:xfrm>
              <a:prstGeom prst="rect">
                <a:avLst/>
              </a:prstGeom>
              <a:blipFill>
                <a:blip r:embed="rId5"/>
                <a:stretch>
                  <a:fillRect t="-4225" b="-9859"/>
                </a:stretch>
              </a:blipFill>
            </p:spPr>
            <p:txBody>
              <a:bodyPr/>
              <a:lstStyle/>
              <a:p>
                <a:r>
                  <a:rPr lang="en-VN">
                    <a:noFill/>
                  </a:rPr>
                  <a:t> </a:t>
                </a:r>
              </a:p>
            </p:txBody>
          </p:sp>
        </mc:Fallback>
      </mc:AlternateContent>
      <p:sp>
        <p:nvSpPr>
          <p:cNvPr id="9" name="Rectangle 8">
            <a:extLst>
              <a:ext uri="{FF2B5EF4-FFF2-40B4-BE49-F238E27FC236}">
                <a16:creationId xmlns:a16="http://schemas.microsoft.com/office/drawing/2014/main" id="{4DBDE117-58A4-00EE-16FC-A4807577C703}"/>
              </a:ext>
            </a:extLst>
          </p:cNvPr>
          <p:cNvSpPr/>
          <p:nvPr/>
        </p:nvSpPr>
        <p:spPr>
          <a:xfrm>
            <a:off x="925551" y="1825625"/>
            <a:ext cx="5170449" cy="3471204"/>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C53644D8-30CC-B022-03D5-F965228C27A5}"/>
              </a:ext>
            </a:extLst>
          </p:cNvPr>
          <p:cNvSpPr txBox="1"/>
          <p:nvPr/>
        </p:nvSpPr>
        <p:spPr>
          <a:xfrm>
            <a:off x="921834" y="5296829"/>
            <a:ext cx="5170449" cy="646331"/>
          </a:xfrm>
          <a:prstGeom prst="rect">
            <a:avLst/>
          </a:prstGeom>
          <a:noFill/>
        </p:spPr>
        <p:txBody>
          <a:bodyPr wrap="square" rtlCol="0">
            <a:spAutoFit/>
          </a:bodyPr>
          <a:lstStyle/>
          <a:p>
            <a:pPr algn="ctr"/>
            <a:r>
              <a:rPr lang="en-VN" sz="3600"/>
              <a:t>Data</a:t>
            </a:r>
          </a:p>
        </p:txBody>
      </p:sp>
      <p:sp>
        <p:nvSpPr>
          <p:cNvPr id="11" name="Rectangle 10">
            <a:extLst>
              <a:ext uri="{FF2B5EF4-FFF2-40B4-BE49-F238E27FC236}">
                <a16:creationId xmlns:a16="http://schemas.microsoft.com/office/drawing/2014/main" id="{1570C180-5F8B-0797-5151-25055F3F2A3B}"/>
              </a:ext>
            </a:extLst>
          </p:cNvPr>
          <p:cNvSpPr/>
          <p:nvPr/>
        </p:nvSpPr>
        <p:spPr>
          <a:xfrm>
            <a:off x="6328318" y="1825625"/>
            <a:ext cx="5170449" cy="3471204"/>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2" name="TextBox 11">
            <a:extLst>
              <a:ext uri="{FF2B5EF4-FFF2-40B4-BE49-F238E27FC236}">
                <a16:creationId xmlns:a16="http://schemas.microsoft.com/office/drawing/2014/main" id="{51D4AE55-251D-9647-C5B6-087165F94C75}"/>
              </a:ext>
            </a:extLst>
          </p:cNvPr>
          <p:cNvSpPr txBox="1"/>
          <p:nvPr/>
        </p:nvSpPr>
        <p:spPr>
          <a:xfrm>
            <a:off x="6324601" y="5296829"/>
            <a:ext cx="5170449" cy="1015663"/>
          </a:xfrm>
          <a:prstGeom prst="rect">
            <a:avLst/>
          </a:prstGeom>
          <a:noFill/>
        </p:spPr>
        <p:txBody>
          <a:bodyPr wrap="square" rtlCol="0">
            <a:spAutoFit/>
          </a:bodyPr>
          <a:lstStyle/>
          <a:p>
            <a:pPr algn="ctr"/>
            <a:r>
              <a:rPr lang="en-VN" sz="3600"/>
              <a:t>Process</a:t>
            </a:r>
          </a:p>
          <a:p>
            <a:pPr algn="ctr"/>
            <a:r>
              <a:rPr lang="en-VN" sz="2400"/>
              <a:t>Operation/Function/Mapping</a:t>
            </a:r>
          </a:p>
        </p:txBody>
      </p:sp>
      <mc:AlternateContent xmlns:mc="http://schemas.openxmlformats.org/markup-compatibility/2006">
        <mc:Choice xmlns:a14="http://schemas.microsoft.com/office/drawing/2010/main" Requires="a14">
          <p:sp>
            <p:nvSpPr>
              <p:cNvPr id="13" name="Content Placeholder 2">
                <a:extLst>
                  <a:ext uri="{FF2B5EF4-FFF2-40B4-BE49-F238E27FC236}">
                    <a16:creationId xmlns:a16="http://schemas.microsoft.com/office/drawing/2014/main" id="{E1E5D175-21F6-DDBC-4964-F31175765F22}"/>
                  </a:ext>
                </a:extLst>
              </p:cNvPr>
              <p:cNvSpPr txBox="1">
                <a:spLocks/>
              </p:cNvSpPr>
              <p:nvPr/>
            </p:nvSpPr>
            <p:spPr>
              <a:xfrm>
                <a:off x="6324601" y="1858890"/>
                <a:ext cx="2763644"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VN" sz="3600" i="1">
                          <a:latin typeface="Cambria Math" panose="02040503050406030204" pitchFamily="18" charset="0"/>
                        </a:rPr>
                        <m:t>𝑇</m:t>
                      </m:r>
                      <m:r>
                        <a:rPr lang="vi-VN" sz="3600" b="0" i="1">
                          <a:latin typeface="Cambria Math" panose="02040503050406030204" pitchFamily="18" charset="0"/>
                        </a:rPr>
                        <m:t>:</m:t>
                      </m:r>
                      <m:r>
                        <a:rPr lang="vi-VN" sz="3600" i="1">
                          <a:latin typeface="Cambria Math" panose="02040503050406030204" pitchFamily="18" charset="0"/>
                        </a:rPr>
                        <m:t>𝑉</m:t>
                      </m:r>
                      <m:r>
                        <a:rPr lang="vi-VN" sz="3600" b="0" i="1">
                          <a:latin typeface="Cambria Math" panose="02040503050406030204" pitchFamily="18" charset="0"/>
                        </a:rPr>
                        <m:t>→</m:t>
                      </m:r>
                      <m:r>
                        <a:rPr lang="vi-VN" sz="3600" i="1">
                          <a:latin typeface="Cambria Math" panose="02040503050406030204" pitchFamily="18" charset="0"/>
                        </a:rPr>
                        <m:t>𝑊</m:t>
                      </m:r>
                    </m:oMath>
                  </m:oMathPara>
                </a14:m>
                <a:endParaRPr lang="en-VN" sz="3600" i="1"/>
              </a:p>
            </p:txBody>
          </p:sp>
        </mc:Choice>
        <mc:Fallback>
          <p:sp>
            <p:nvSpPr>
              <p:cNvPr id="13" name="Content Placeholder 2">
                <a:extLst>
                  <a:ext uri="{FF2B5EF4-FFF2-40B4-BE49-F238E27FC236}">
                    <a16:creationId xmlns:a16="http://schemas.microsoft.com/office/drawing/2014/main" id="{E1E5D175-21F6-DDBC-4964-F31175765F22}"/>
                  </a:ext>
                </a:extLst>
              </p:cNvPr>
              <p:cNvSpPr txBox="1">
                <a:spLocks noRot="1" noChangeAspect="1" noMove="1" noResize="1" noEditPoints="1" noAdjustHandles="1" noChangeArrowheads="1" noChangeShapeType="1" noTextEdit="1"/>
              </p:cNvSpPr>
              <p:nvPr/>
            </p:nvSpPr>
            <p:spPr>
              <a:xfrm>
                <a:off x="6324601" y="1858890"/>
                <a:ext cx="2763644" cy="646331"/>
              </a:xfrm>
              <a:prstGeom prst="rect">
                <a:avLst/>
              </a:prstGeom>
              <a:blipFill>
                <a:blip r:embed="rId6"/>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4" name="Content Placeholder 2">
                <a:extLst>
                  <a:ext uri="{FF2B5EF4-FFF2-40B4-BE49-F238E27FC236}">
                    <a16:creationId xmlns:a16="http://schemas.microsoft.com/office/drawing/2014/main" id="{C8AC09AD-1C95-9780-D415-E913F84D19E5}"/>
                  </a:ext>
                </a:extLst>
              </p:cNvPr>
              <p:cNvSpPr txBox="1">
                <a:spLocks/>
              </p:cNvSpPr>
              <p:nvPr/>
            </p:nvSpPr>
            <p:spPr>
              <a:xfrm>
                <a:off x="6324600" y="2610680"/>
                <a:ext cx="3053575"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vi-VN" sz="3600" i="0">
                          <a:latin typeface="Cambria Math" panose="02040503050406030204" pitchFamily="18" charset="0"/>
                        </a:rPr>
                        <m:t>Ker</m:t>
                      </m:r>
                      <m:r>
                        <a:rPr lang="vi-VN" sz="3600" b="0" i="1">
                          <a:latin typeface="Cambria Math" panose="02040503050406030204" pitchFamily="18" charset="0"/>
                        </a:rPr>
                        <m:t>:</m:t>
                      </m:r>
                      <m:r>
                        <a:rPr lang="vi-VN" sz="3600" i="1">
                          <a:latin typeface="Cambria Math" panose="02040503050406030204" pitchFamily="18" charset="0"/>
                        </a:rPr>
                        <m:t>𝑉</m:t>
                      </m:r>
                      <m:r>
                        <a:rPr lang="vi-VN" sz="3600" b="0" i="1">
                          <a:latin typeface="Cambria Math" panose="02040503050406030204" pitchFamily="18" charset="0"/>
                        </a:rPr>
                        <m:t>→</m:t>
                      </m:r>
                      <m:r>
                        <a:rPr lang="vi-VN" sz="3600" i="1">
                          <a:latin typeface="Cambria Math" panose="02040503050406030204" pitchFamily="18" charset="0"/>
                        </a:rPr>
                        <m:t>𝑘</m:t>
                      </m:r>
                    </m:oMath>
                  </m:oMathPara>
                </a14:m>
                <a:endParaRPr lang="en-VN" sz="3600" i="1"/>
              </a:p>
            </p:txBody>
          </p:sp>
        </mc:Choice>
        <mc:Fallback>
          <p:sp>
            <p:nvSpPr>
              <p:cNvPr id="14" name="Content Placeholder 2">
                <a:extLst>
                  <a:ext uri="{FF2B5EF4-FFF2-40B4-BE49-F238E27FC236}">
                    <a16:creationId xmlns:a16="http://schemas.microsoft.com/office/drawing/2014/main" id="{C8AC09AD-1C95-9780-D415-E913F84D19E5}"/>
                  </a:ext>
                </a:extLst>
              </p:cNvPr>
              <p:cNvSpPr txBox="1">
                <a:spLocks noRot="1" noChangeAspect="1" noMove="1" noResize="1" noEditPoints="1" noAdjustHandles="1" noChangeArrowheads="1" noChangeShapeType="1" noTextEdit="1"/>
              </p:cNvSpPr>
              <p:nvPr/>
            </p:nvSpPr>
            <p:spPr>
              <a:xfrm>
                <a:off x="6324600" y="2610680"/>
                <a:ext cx="3053575" cy="646331"/>
              </a:xfrm>
              <a:prstGeom prst="rect">
                <a:avLst/>
              </a:prstGeom>
              <a:blipFill>
                <a:blip r:embed="rId7"/>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5" name="Content Placeholder 2">
                <a:extLst>
                  <a:ext uri="{FF2B5EF4-FFF2-40B4-BE49-F238E27FC236}">
                    <a16:creationId xmlns:a16="http://schemas.microsoft.com/office/drawing/2014/main" id="{B12DB163-C700-66CE-2E38-957CE37C9D5F}"/>
                  </a:ext>
                </a:extLst>
              </p:cNvPr>
              <p:cNvSpPr txBox="1">
                <a:spLocks/>
              </p:cNvSpPr>
              <p:nvPr/>
            </p:nvSpPr>
            <p:spPr>
              <a:xfrm>
                <a:off x="6324600" y="3362470"/>
                <a:ext cx="2172630"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VN" sz="3600" i="1">
                          <a:latin typeface="Cambria Math" panose="02040503050406030204" pitchFamily="18" charset="0"/>
                        </a:rPr>
                        <m:t>𝑣</m:t>
                      </m:r>
                      <m:r>
                        <a:rPr lang="vi-VN" sz="360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𝑉</m:t>
                      </m:r>
                    </m:oMath>
                  </m:oMathPara>
                </a14:m>
                <a:endParaRPr lang="en-VN" sz="3600" i="1"/>
              </a:p>
            </p:txBody>
          </p:sp>
        </mc:Choice>
        <mc:Fallback>
          <p:sp>
            <p:nvSpPr>
              <p:cNvPr id="15" name="Content Placeholder 2">
                <a:extLst>
                  <a:ext uri="{FF2B5EF4-FFF2-40B4-BE49-F238E27FC236}">
                    <a16:creationId xmlns:a16="http://schemas.microsoft.com/office/drawing/2014/main" id="{B12DB163-C700-66CE-2E38-957CE37C9D5F}"/>
                  </a:ext>
                </a:extLst>
              </p:cNvPr>
              <p:cNvSpPr txBox="1">
                <a:spLocks noRot="1" noChangeAspect="1" noMove="1" noResize="1" noEditPoints="1" noAdjustHandles="1" noChangeArrowheads="1" noChangeShapeType="1" noTextEdit="1"/>
              </p:cNvSpPr>
              <p:nvPr/>
            </p:nvSpPr>
            <p:spPr>
              <a:xfrm>
                <a:off x="6324600" y="3362470"/>
                <a:ext cx="2172630" cy="646331"/>
              </a:xfrm>
              <a:prstGeom prst="rect">
                <a:avLst/>
              </a:prstGeom>
              <a:blipFill>
                <a:blip r:embed="rId8"/>
                <a:stretch>
                  <a:fillRect/>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6" name="Content Placeholder 2">
                <a:extLst>
                  <a:ext uri="{FF2B5EF4-FFF2-40B4-BE49-F238E27FC236}">
                    <a16:creationId xmlns:a16="http://schemas.microsoft.com/office/drawing/2014/main" id="{B6861095-7F88-BB4D-F326-EA1778A9F85C}"/>
                  </a:ext>
                </a:extLst>
              </p:cNvPr>
              <p:cNvSpPr txBox="1">
                <a:spLocks/>
              </p:cNvSpPr>
              <p:nvPr/>
            </p:nvSpPr>
            <p:spPr>
              <a:xfrm>
                <a:off x="6659136" y="4114260"/>
                <a:ext cx="3053576" cy="646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left"/>
                    </m:oMathParaPr>
                    <m:oMath xmlns:m="http://schemas.openxmlformats.org/officeDocument/2006/math">
                      <m:r>
                        <a:rPr lang="vi-VN" sz="3600" i="1">
                          <a:latin typeface="Cambria Math" panose="02040503050406030204" pitchFamily="18" charset="0"/>
                          <a:ea typeface="Cambria Math" panose="02040503050406030204" pitchFamily="18" charset="0"/>
                        </a:rPr>
                        <m:t>⊙</m:t>
                      </m:r>
                      <m:r>
                        <a:rPr lang="vi-VN" sz="3600" b="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𝑢</m:t>
                      </m:r>
                      <m:r>
                        <a:rPr lang="vi-VN" sz="3600" b="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𝑣</m:t>
                      </m:r>
                      <m:r>
                        <a:rPr lang="vi-VN" sz="3600" b="0" i="1">
                          <a:latin typeface="Cambria Math" panose="02040503050406030204" pitchFamily="18" charset="0"/>
                          <a:ea typeface="Cambria Math" panose="02040503050406030204" pitchFamily="18" charset="0"/>
                        </a:rPr>
                        <m:t>→</m:t>
                      </m:r>
                      <m:r>
                        <a:rPr lang="vi-VN" sz="3600" i="1">
                          <a:latin typeface="Cambria Math" panose="02040503050406030204" pitchFamily="18" charset="0"/>
                          <a:ea typeface="Cambria Math" panose="02040503050406030204" pitchFamily="18" charset="0"/>
                        </a:rPr>
                        <m:t>𝑘</m:t>
                      </m:r>
                    </m:oMath>
                  </m:oMathPara>
                </a14:m>
                <a:endParaRPr lang="en-VN" sz="3600" i="1"/>
              </a:p>
            </p:txBody>
          </p:sp>
        </mc:Choice>
        <mc:Fallback>
          <p:sp>
            <p:nvSpPr>
              <p:cNvPr id="16" name="Content Placeholder 2">
                <a:extLst>
                  <a:ext uri="{FF2B5EF4-FFF2-40B4-BE49-F238E27FC236}">
                    <a16:creationId xmlns:a16="http://schemas.microsoft.com/office/drawing/2014/main" id="{B6861095-7F88-BB4D-F326-EA1778A9F85C}"/>
                  </a:ext>
                </a:extLst>
              </p:cNvPr>
              <p:cNvSpPr txBox="1">
                <a:spLocks noRot="1" noChangeAspect="1" noMove="1" noResize="1" noEditPoints="1" noAdjustHandles="1" noChangeArrowheads="1" noChangeShapeType="1" noTextEdit="1"/>
              </p:cNvSpPr>
              <p:nvPr/>
            </p:nvSpPr>
            <p:spPr>
              <a:xfrm>
                <a:off x="6659136" y="4114260"/>
                <a:ext cx="3053576" cy="646331"/>
              </a:xfrm>
              <a:prstGeom prst="rect">
                <a:avLst/>
              </a:prstGeom>
              <a:blipFill>
                <a:blip r:embed="rId9"/>
                <a:stretch>
                  <a:fillRect l="-3320" b="-3922"/>
                </a:stretch>
              </a:blipFill>
            </p:spPr>
            <p:txBody>
              <a:bodyPr/>
              <a:lstStyle/>
              <a:p>
                <a:r>
                  <a:rPr lang="en-VN">
                    <a:noFill/>
                  </a:rPr>
                  <a:t> </a:t>
                </a:r>
              </a:p>
            </p:txBody>
          </p:sp>
        </mc:Fallback>
      </mc:AlternateContent>
      <p:sp>
        <p:nvSpPr>
          <p:cNvPr id="17" name="Slide Number Placeholder 16">
            <a:extLst>
              <a:ext uri="{FF2B5EF4-FFF2-40B4-BE49-F238E27FC236}">
                <a16:creationId xmlns:a16="http://schemas.microsoft.com/office/drawing/2014/main" id="{5878C9D6-4335-762E-D7CB-4D76C18BDFDE}"/>
              </a:ext>
            </a:extLst>
          </p:cNvPr>
          <p:cNvSpPr>
            <a:spLocks noGrp="1"/>
          </p:cNvSpPr>
          <p:nvPr>
            <p:ph type="sldNum" sz="quarter" idx="12"/>
          </p:nvPr>
        </p:nvSpPr>
        <p:spPr/>
        <p:txBody>
          <a:bodyPr/>
          <a:lstStyle/>
          <a:p>
            <a:fld id="{9663FB4D-4462-1148-A41B-A6D56F6F932D}" type="slidenum">
              <a:t>5</a:t>
            </a:fld>
            <a:endParaRPr lang="en-VN"/>
          </a:p>
        </p:txBody>
      </p:sp>
    </p:spTree>
    <p:extLst>
      <p:ext uri="{BB962C8B-B14F-4D97-AF65-F5344CB8AC3E}">
        <p14:creationId xmlns:p14="http://schemas.microsoft.com/office/powerpoint/2010/main" val="3319070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528B-4C8D-A1A3-4443-833A1AB5ED02}"/>
              </a:ext>
            </a:extLst>
          </p:cNvPr>
          <p:cNvSpPr>
            <a:spLocks noGrp="1"/>
          </p:cNvSpPr>
          <p:nvPr>
            <p:ph type="title"/>
          </p:nvPr>
        </p:nvSpPr>
        <p:spPr/>
        <p:txBody>
          <a:bodyPr/>
          <a:lstStyle/>
          <a:p>
            <a:r>
              <a:rPr lang="en-VN"/>
              <a:t>Outline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BBD3523-12E1-29E7-0BA4-3DDC90EB646C}"/>
                  </a:ext>
                </a:extLst>
              </p:cNvPr>
              <p:cNvSpPr>
                <a:spLocks noGrp="1"/>
              </p:cNvSpPr>
              <p:nvPr>
                <p:ph idx="1"/>
              </p:nvPr>
            </p:nvSpPr>
            <p:spPr>
              <a:xfrm>
                <a:off x="838199" y="1825625"/>
                <a:ext cx="5696415" cy="4351338"/>
              </a:xfrm>
            </p:spPr>
            <p:txBody>
              <a:bodyPr>
                <a:normAutofit/>
              </a:bodyPr>
              <a:lstStyle/>
              <a:p>
                <a:pPr marL="514350" indent="-514350">
                  <a:buAutoNum type="arabicPeriod"/>
                </a:pPr>
                <a:r>
                  <a:rPr lang="en-VN"/>
                  <a:t>Vector</a:t>
                </a:r>
              </a:p>
              <a:p>
                <a:pPr marL="514350" indent="-514350">
                  <a:buAutoNum type="arabicPeriod"/>
                </a:pPr>
                <a:r>
                  <a:rPr lang="en-VN"/>
                  <a:t>Operations on vector: </a:t>
                </a:r>
                <a14:m>
                  <m:oMath xmlns:m="http://schemas.openxmlformats.org/officeDocument/2006/math">
                    <m:r>
                      <a:rPr lang="en-VN" i="1">
                        <a:latin typeface="Cambria Math" panose="02040503050406030204" pitchFamily="18" charset="0"/>
                      </a:rPr>
                      <m:t>+,−,∗,</m:t>
                    </m:r>
                    <m:r>
                      <a:rPr lang="en-VN" i="1">
                        <a:latin typeface="Cambria Math" panose="02040503050406030204" pitchFamily="18" charset="0"/>
                        <a:ea typeface="Cambria Math" panose="02040503050406030204" pitchFamily="18" charset="0"/>
                      </a:rPr>
                      <m:t>⨀</m:t>
                    </m:r>
                  </m:oMath>
                </a14:m>
                <a:endParaRPr lang="en-VN"/>
              </a:p>
              <a:p>
                <a:pPr marL="514350" indent="-514350">
                  <a:buAutoNum type="arabicPeriod"/>
                </a:pPr>
                <a:r>
                  <a:rPr lang="en-VN"/>
                  <a:t>Application</a:t>
                </a:r>
              </a:p>
              <a:p>
                <a:pPr marL="514350" indent="-514350">
                  <a:buAutoNum type="arabicPeriod"/>
                </a:pPr>
                <a:r>
                  <a:rPr lang="en-VN"/>
                  <a:t>Linear regression / Logistic regression</a:t>
                </a:r>
              </a:p>
              <a:p>
                <a:pPr marL="514350" indent="-514350">
                  <a:buAutoNum type="arabicPeriod"/>
                </a:pPr>
                <a:r>
                  <a:rPr lang="en-VN"/>
                  <a:t>Matrix</a:t>
                </a:r>
              </a:p>
              <a:p>
                <a:pPr marL="514350" indent="-514350">
                  <a:buAutoNum type="arabicPeriod"/>
                </a:pPr>
                <a:r>
                  <a:rPr lang="en-VN"/>
                  <a:t>Operations on matrix: </a:t>
                </a:r>
                <a14:m>
                  <m:oMath xmlns:m="http://schemas.openxmlformats.org/officeDocument/2006/math">
                    <m:r>
                      <a:rPr lang="en-VN" i="1">
                        <a:latin typeface="Cambria Math" panose="02040503050406030204" pitchFamily="18" charset="0"/>
                      </a:rPr>
                      <m:t>+,−,∗,</m:t>
                    </m:r>
                    <m:r>
                      <a:rPr lang="en-VN" i="1">
                        <a:latin typeface="Cambria Math" panose="02040503050406030204" pitchFamily="18" charset="0"/>
                        <a:ea typeface="Cambria Math" panose="02040503050406030204" pitchFamily="18" charset="0"/>
                      </a:rPr>
                      <m:t>⨀</m:t>
                    </m:r>
                  </m:oMath>
                </a14:m>
                <a:endParaRPr lang="en-VN"/>
              </a:p>
              <a:p>
                <a:pPr marL="0" indent="0">
                  <a:buNone/>
                </a:pPr>
                <a:r>
                  <a:rPr lang="en-VN"/>
                  <a:t>7, 8. Application: Neural net</a:t>
                </a:r>
              </a:p>
            </p:txBody>
          </p:sp>
        </mc:Choice>
        <mc:Fallback>
          <p:sp>
            <p:nvSpPr>
              <p:cNvPr id="3" name="Content Placeholder 2">
                <a:extLst>
                  <a:ext uri="{FF2B5EF4-FFF2-40B4-BE49-F238E27FC236}">
                    <a16:creationId xmlns:a16="http://schemas.microsoft.com/office/drawing/2014/main" id="{5BBD3523-12E1-29E7-0BA4-3DDC90EB646C}"/>
                  </a:ext>
                </a:extLst>
              </p:cNvPr>
              <p:cNvSpPr>
                <a:spLocks noGrp="1" noRot="1" noChangeAspect="1" noMove="1" noResize="1" noEditPoints="1" noAdjustHandles="1" noChangeArrowheads="1" noChangeShapeType="1" noTextEdit="1"/>
              </p:cNvSpPr>
              <p:nvPr>
                <p:ph idx="1"/>
              </p:nvPr>
            </p:nvSpPr>
            <p:spPr>
              <a:xfrm>
                <a:off x="838199" y="1825625"/>
                <a:ext cx="5696415" cy="4351338"/>
              </a:xfrm>
              <a:blipFill>
                <a:blip r:embed="rId2"/>
                <a:stretch>
                  <a:fillRect l="-2000" t="-2326"/>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981CB0C9-5E29-7259-303C-B657BBD8EFA4}"/>
              </a:ext>
            </a:extLst>
          </p:cNvPr>
          <p:cNvSpPr>
            <a:spLocks noGrp="1"/>
          </p:cNvSpPr>
          <p:nvPr>
            <p:ph type="sldNum" sz="quarter" idx="12"/>
          </p:nvPr>
        </p:nvSpPr>
        <p:spPr/>
        <p:txBody>
          <a:bodyPr/>
          <a:lstStyle/>
          <a:p>
            <a:fld id="{9663FB4D-4462-1148-A41B-A6D56F6F932D}" type="slidenum">
              <a:t>6</a:t>
            </a:fld>
            <a:endParaRPr lang="en-VN"/>
          </a:p>
        </p:txBody>
      </p:sp>
      <p:sp>
        <p:nvSpPr>
          <p:cNvPr id="6" name="TextBox 5">
            <a:extLst>
              <a:ext uri="{FF2B5EF4-FFF2-40B4-BE49-F238E27FC236}">
                <a16:creationId xmlns:a16="http://schemas.microsoft.com/office/drawing/2014/main" id="{D0C3635E-CFA6-1E93-3B15-6CBA75C5FAD4}"/>
              </a:ext>
            </a:extLst>
          </p:cNvPr>
          <p:cNvSpPr txBox="1"/>
          <p:nvPr/>
        </p:nvSpPr>
        <p:spPr>
          <a:xfrm>
            <a:off x="6595017" y="1825625"/>
            <a:ext cx="4758783" cy="2092881"/>
          </a:xfrm>
          <a:prstGeom prst="rect">
            <a:avLst/>
          </a:prstGeom>
          <a:noFill/>
        </p:spPr>
        <p:txBody>
          <a:bodyPr wrap="square">
            <a:spAutoFit/>
          </a:bodyPr>
          <a:lstStyle/>
          <a:p>
            <a:pPr marL="0" indent="0">
              <a:buNone/>
            </a:pPr>
            <a:r>
              <a:rPr lang="en-VN" sz="2600"/>
              <a:t>9, 10. Metrics</a:t>
            </a:r>
          </a:p>
          <a:p>
            <a:pPr marL="0" indent="0">
              <a:buNone/>
            </a:pPr>
            <a:r>
              <a:rPr lang="en-VN" sz="2600"/>
              <a:t>11. Adv operation on matrix</a:t>
            </a:r>
          </a:p>
          <a:p>
            <a:pPr marL="0" indent="0">
              <a:buNone/>
            </a:pPr>
            <a:r>
              <a:rPr lang="en-VN" sz="2600"/>
              <a:t>12. Intro research topics</a:t>
            </a:r>
          </a:p>
          <a:p>
            <a:pPr marL="0" indent="0">
              <a:buNone/>
            </a:pPr>
            <a:r>
              <a:rPr lang="en-VN" sz="2600"/>
              <a:t>13. Dicussion</a:t>
            </a:r>
          </a:p>
          <a:p>
            <a:pPr marL="0" indent="0">
              <a:buNone/>
            </a:pPr>
            <a:r>
              <a:rPr lang="en-VN" sz="2600"/>
              <a:t>14, 15. Presentation</a:t>
            </a:r>
          </a:p>
        </p:txBody>
      </p:sp>
      <p:pic>
        <p:nvPicPr>
          <p:cNvPr id="3074" name="Picture 2" descr="Bandai Ichibansho The Quintessential Quintuplets Encounter Trajectory Miku  Nakano Figure blue">
            <a:extLst>
              <a:ext uri="{FF2B5EF4-FFF2-40B4-BE49-F238E27FC236}">
                <a16:creationId xmlns:a16="http://schemas.microsoft.com/office/drawing/2014/main" id="{ACBF9C56-88E3-D8BD-BCEB-6D284B677A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244" r="16727"/>
          <a:stretch>
            <a:fillRect/>
          </a:stretch>
        </p:blipFill>
        <p:spPr bwMode="auto">
          <a:xfrm>
            <a:off x="6595017" y="4058302"/>
            <a:ext cx="1578827" cy="235543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Curved Connector 7">
            <a:extLst>
              <a:ext uri="{FF2B5EF4-FFF2-40B4-BE49-F238E27FC236}">
                <a16:creationId xmlns:a16="http://schemas.microsoft.com/office/drawing/2014/main" id="{1F695310-8464-BAC4-8A28-DC5AE7F33EDD}"/>
              </a:ext>
            </a:extLst>
          </p:cNvPr>
          <p:cNvCxnSpPr>
            <a:stCxn id="6" idx="2"/>
            <a:endCxn id="3074" idx="3"/>
          </p:cNvCxnSpPr>
          <p:nvPr/>
        </p:nvCxnSpPr>
        <p:spPr>
          <a:xfrm rot="5400000">
            <a:off x="7915370" y="4176981"/>
            <a:ext cx="1317515" cy="800565"/>
          </a:xfrm>
          <a:prstGeom prst="curvedConnector2">
            <a:avLst/>
          </a:prstGeom>
          <a:ln w="76200">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BB229E56-E25E-CEEE-4293-0B995DE5BCE1}"/>
              </a:ext>
            </a:extLst>
          </p:cNvPr>
          <p:cNvSpPr txBox="1"/>
          <p:nvPr/>
        </p:nvSpPr>
        <p:spPr>
          <a:xfrm>
            <a:off x="6595017" y="6423412"/>
            <a:ext cx="3135816" cy="369332"/>
          </a:xfrm>
          <a:prstGeom prst="rect">
            <a:avLst/>
          </a:prstGeom>
          <a:noFill/>
        </p:spPr>
        <p:txBody>
          <a:bodyPr wrap="square" rtlCol="0">
            <a:spAutoFit/>
          </a:bodyPr>
          <a:lstStyle/>
          <a:p>
            <a:r>
              <a:rPr lang="en-VN"/>
              <a:t>*Best presentation award</a:t>
            </a:r>
          </a:p>
        </p:txBody>
      </p:sp>
      <p:sp>
        <p:nvSpPr>
          <p:cNvPr id="10" name="Rectangle 9">
            <a:extLst>
              <a:ext uri="{FF2B5EF4-FFF2-40B4-BE49-F238E27FC236}">
                <a16:creationId xmlns:a16="http://schemas.microsoft.com/office/drawing/2014/main" id="{B85883E6-0C36-66BA-C66F-B4F9DC5EB082}"/>
              </a:ext>
            </a:extLst>
          </p:cNvPr>
          <p:cNvSpPr/>
          <p:nvPr/>
        </p:nvSpPr>
        <p:spPr>
          <a:xfrm>
            <a:off x="6595017" y="2680570"/>
            <a:ext cx="3738956" cy="12379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9D8A753-6FD4-0B1C-B918-AB863989AD03}"/>
                  </a:ext>
                </a:extLst>
              </p:cNvPr>
              <p:cNvSpPr txBox="1"/>
              <p:nvPr/>
            </p:nvSpPr>
            <p:spPr>
              <a:xfrm>
                <a:off x="10362017" y="2625844"/>
                <a:ext cx="1365337" cy="1292662"/>
              </a:xfrm>
              <a:prstGeom prst="rect">
                <a:avLst/>
              </a:prstGeom>
              <a:noFill/>
            </p:spPr>
            <p:txBody>
              <a:bodyPr wrap="square" rtlCol="0">
                <a:spAutoFit/>
              </a:bodyPr>
              <a:lstStyle/>
              <a:p>
                <a:r>
                  <a:rPr lang="en-VN" sz="2600">
                    <a:solidFill>
                      <a:srgbClr val="FF0000"/>
                    </a:solidFill>
                  </a:rPr>
                  <a:t>Group 1</a:t>
                </a:r>
                <a14:m>
                  <m:oMath xmlns:m="http://schemas.openxmlformats.org/officeDocument/2006/math">
                    <m:r>
                      <a:rPr lang="vi-VN" sz="2600" b="0" i="1">
                        <a:solidFill>
                          <a:srgbClr val="FF0000"/>
                        </a:solidFill>
                        <a:latin typeface="Cambria Math" panose="02040503050406030204" pitchFamily="18" charset="0"/>
                      </a:rPr>
                      <m:t>→</m:t>
                    </m:r>
                  </m:oMath>
                </a14:m>
                <a:r>
                  <a:rPr lang="en-VN" sz="2600">
                    <a:solidFill>
                      <a:srgbClr val="FF0000"/>
                    </a:solidFill>
                  </a:rPr>
                  <a:t>5 mem</a:t>
                </a:r>
              </a:p>
            </p:txBody>
          </p:sp>
        </mc:Choice>
        <mc:Fallback>
          <p:sp>
            <p:nvSpPr>
              <p:cNvPr id="11" name="TextBox 10">
                <a:extLst>
                  <a:ext uri="{FF2B5EF4-FFF2-40B4-BE49-F238E27FC236}">
                    <a16:creationId xmlns:a16="http://schemas.microsoft.com/office/drawing/2014/main" id="{A9D8A753-6FD4-0B1C-B918-AB863989AD03}"/>
                  </a:ext>
                </a:extLst>
              </p:cNvPr>
              <p:cNvSpPr txBox="1">
                <a:spLocks noRot="1" noChangeAspect="1" noMove="1" noResize="1" noEditPoints="1" noAdjustHandles="1" noChangeArrowheads="1" noChangeShapeType="1" noTextEdit="1"/>
              </p:cNvSpPr>
              <p:nvPr/>
            </p:nvSpPr>
            <p:spPr>
              <a:xfrm>
                <a:off x="10362017" y="2625844"/>
                <a:ext cx="1365337" cy="1292662"/>
              </a:xfrm>
              <a:prstGeom prst="rect">
                <a:avLst/>
              </a:prstGeom>
              <a:blipFill>
                <a:blip r:embed="rId4"/>
                <a:stretch>
                  <a:fillRect l="-8333" t="-3883" b="-10680"/>
                </a:stretch>
              </a:blipFill>
            </p:spPr>
            <p:txBody>
              <a:bodyPr/>
              <a:lstStyle/>
              <a:p>
                <a:r>
                  <a:rPr lang="en-VN">
                    <a:noFill/>
                  </a:rPr>
                  <a:t> </a:t>
                </a:r>
              </a:p>
            </p:txBody>
          </p:sp>
        </mc:Fallback>
      </mc:AlternateContent>
    </p:spTree>
    <p:extLst>
      <p:ext uri="{BB962C8B-B14F-4D97-AF65-F5344CB8AC3E}">
        <p14:creationId xmlns:p14="http://schemas.microsoft.com/office/powerpoint/2010/main" val="2630142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A7E02-3B9C-329F-3D39-1071C30601C3}"/>
              </a:ext>
            </a:extLst>
          </p:cNvPr>
          <p:cNvSpPr>
            <a:spLocks noGrp="1"/>
          </p:cNvSpPr>
          <p:nvPr>
            <p:ph type="title"/>
          </p:nvPr>
        </p:nvSpPr>
        <p:spPr/>
        <p:txBody>
          <a:bodyPr/>
          <a:lstStyle/>
          <a:p>
            <a:r>
              <a:rPr lang="en-VN"/>
              <a:t>Find your group</a:t>
            </a:r>
          </a:p>
        </p:txBody>
      </p:sp>
      <p:sp>
        <p:nvSpPr>
          <p:cNvPr id="4" name="Slide Number Placeholder 3">
            <a:extLst>
              <a:ext uri="{FF2B5EF4-FFF2-40B4-BE49-F238E27FC236}">
                <a16:creationId xmlns:a16="http://schemas.microsoft.com/office/drawing/2014/main" id="{CCF7A3A2-BBF3-15D4-BBB7-1A64D14184B9}"/>
              </a:ext>
            </a:extLst>
          </p:cNvPr>
          <p:cNvSpPr>
            <a:spLocks noGrp="1"/>
          </p:cNvSpPr>
          <p:nvPr>
            <p:ph type="sldNum" sz="quarter" idx="12"/>
          </p:nvPr>
        </p:nvSpPr>
        <p:spPr/>
        <p:txBody>
          <a:bodyPr/>
          <a:lstStyle/>
          <a:p>
            <a:fld id="{9663FB4D-4462-1148-A41B-A6D56F6F932D}" type="slidenum">
              <a:t>7</a:t>
            </a:fld>
            <a:endParaRPr lang="en-VN"/>
          </a:p>
        </p:txBody>
      </p:sp>
      <p:pic>
        <p:nvPicPr>
          <p:cNvPr id="4098" name="Picture 2">
            <a:extLst>
              <a:ext uri="{FF2B5EF4-FFF2-40B4-BE49-F238E27FC236}">
                <a16:creationId xmlns:a16="http://schemas.microsoft.com/office/drawing/2014/main" id="{DC3FF099-573C-95CA-A2BA-9217B40E99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45072"/>
            <a:ext cx="3784203" cy="3784203"/>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77EBD041-D91A-2048-F21A-099FA9EF42E6}"/>
              </a:ext>
            </a:extLst>
          </p:cNvPr>
          <p:cNvSpPr txBox="1">
            <a:spLocks/>
          </p:cNvSpPr>
          <p:nvPr/>
        </p:nvSpPr>
        <p:spPr>
          <a:xfrm>
            <a:off x="838200" y="5629275"/>
            <a:ext cx="3784203" cy="4959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VN"/>
              <a:t>MM010.R11</a:t>
            </a:r>
          </a:p>
        </p:txBody>
      </p:sp>
    </p:spTree>
    <p:extLst>
      <p:ext uri="{BB962C8B-B14F-4D97-AF65-F5344CB8AC3E}">
        <p14:creationId xmlns:p14="http://schemas.microsoft.com/office/powerpoint/2010/main" val="4021559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9AD4-D220-412D-B371-12AC5CE560D4}"/>
              </a:ext>
            </a:extLst>
          </p:cNvPr>
          <p:cNvSpPr>
            <a:spLocks noGrp="1"/>
          </p:cNvSpPr>
          <p:nvPr>
            <p:ph type="title"/>
          </p:nvPr>
        </p:nvSpPr>
        <p:spPr/>
        <p:txBody>
          <a:bodyPr/>
          <a:lstStyle/>
          <a:p>
            <a:r>
              <a:rPr lang="en-VN"/>
              <a:t>1. Vector</a:t>
            </a:r>
          </a:p>
        </p:txBody>
      </p:sp>
      <p:sp>
        <p:nvSpPr>
          <p:cNvPr id="3" name="Content Placeholder 2">
            <a:extLst>
              <a:ext uri="{FF2B5EF4-FFF2-40B4-BE49-F238E27FC236}">
                <a16:creationId xmlns:a16="http://schemas.microsoft.com/office/drawing/2014/main" id="{59A73791-71A1-2D76-22C6-D147BCCB7C7A}"/>
              </a:ext>
            </a:extLst>
          </p:cNvPr>
          <p:cNvSpPr>
            <a:spLocks noGrp="1"/>
          </p:cNvSpPr>
          <p:nvPr>
            <p:ph idx="1"/>
          </p:nvPr>
        </p:nvSpPr>
        <p:spPr/>
        <p:txBody>
          <a:bodyPr/>
          <a:lstStyle/>
          <a:p>
            <a:pPr>
              <a:buFontTx/>
              <a:buChar char="-"/>
            </a:pPr>
            <a:r>
              <a:rPr lang="en-VN"/>
              <a:t>Vector representation: element / dim</a:t>
            </a:r>
          </a:p>
          <a:p>
            <a:pPr>
              <a:buFontTx/>
              <a:buChar char="-"/>
            </a:pPr>
            <a:r>
              <a:rPr lang="en-VN"/>
              <a:t>Feature vector</a:t>
            </a:r>
          </a:p>
          <a:p>
            <a:pPr>
              <a:buFontTx/>
              <a:buChar char="-"/>
            </a:pPr>
            <a:r>
              <a:rPr lang="en-VN"/>
              <a:t>Lab</a:t>
            </a:r>
          </a:p>
        </p:txBody>
      </p:sp>
      <p:sp>
        <p:nvSpPr>
          <p:cNvPr id="4" name="Slide Number Placeholder 3">
            <a:extLst>
              <a:ext uri="{FF2B5EF4-FFF2-40B4-BE49-F238E27FC236}">
                <a16:creationId xmlns:a16="http://schemas.microsoft.com/office/drawing/2014/main" id="{16AAE229-15C8-2662-24E7-C62977E7AAD7}"/>
              </a:ext>
            </a:extLst>
          </p:cNvPr>
          <p:cNvSpPr>
            <a:spLocks noGrp="1"/>
          </p:cNvSpPr>
          <p:nvPr>
            <p:ph type="sldNum" sz="quarter" idx="12"/>
          </p:nvPr>
        </p:nvSpPr>
        <p:spPr/>
        <p:txBody>
          <a:bodyPr/>
          <a:lstStyle/>
          <a:p>
            <a:fld id="{9663FB4D-4462-1148-A41B-A6D56F6F932D}" type="slidenum">
              <a:t>8</a:t>
            </a:fld>
            <a:endParaRPr lang="en-VN"/>
          </a:p>
        </p:txBody>
      </p:sp>
    </p:spTree>
    <p:extLst>
      <p:ext uri="{BB962C8B-B14F-4D97-AF65-F5344CB8AC3E}">
        <p14:creationId xmlns:p14="http://schemas.microsoft.com/office/powerpoint/2010/main" val="155688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1DEE-35CB-8256-CE60-D8E63F0AEA7C}"/>
              </a:ext>
            </a:extLst>
          </p:cNvPr>
          <p:cNvSpPr>
            <a:spLocks noGrp="1"/>
          </p:cNvSpPr>
          <p:nvPr>
            <p:ph type="title"/>
          </p:nvPr>
        </p:nvSpPr>
        <p:spPr/>
        <p:txBody>
          <a:bodyPr/>
          <a:lstStyle/>
          <a:p>
            <a:r>
              <a:rPr lang="en-VN"/>
              <a:t>1.1. Vector: source of data</a:t>
            </a:r>
          </a:p>
        </p:txBody>
      </p:sp>
      <p:graphicFrame>
        <p:nvGraphicFramePr>
          <p:cNvPr id="5" name="Content Placeholder 4">
            <a:extLst>
              <a:ext uri="{FF2B5EF4-FFF2-40B4-BE49-F238E27FC236}">
                <a16:creationId xmlns:a16="http://schemas.microsoft.com/office/drawing/2014/main" id="{E7054E74-5335-900C-4281-36AEC242D8D3}"/>
              </a:ext>
            </a:extLst>
          </p:cNvPr>
          <p:cNvGraphicFramePr>
            <a:graphicFrameLocks noGrp="1"/>
          </p:cNvGraphicFramePr>
          <p:nvPr>
            <p:ph idx="1"/>
            <p:extLst>
              <p:ext uri="{D42A27DB-BD31-4B8C-83A1-F6EECF244321}">
                <p14:modId xmlns:p14="http://schemas.microsoft.com/office/powerpoint/2010/main" val="1670963536"/>
              </p:ext>
            </p:extLst>
          </p:nvPr>
        </p:nvGraphicFramePr>
        <p:xfrm>
          <a:off x="838200" y="1825624"/>
          <a:ext cx="10313019" cy="3270683"/>
        </p:xfrm>
        <a:graphic>
          <a:graphicData uri="http://schemas.openxmlformats.org/drawingml/2006/table">
            <a:tbl>
              <a:tblPr firstRow="1" bandRow="1">
                <a:tableStyleId>{5940675A-B579-460E-94D1-54222C63F5DA}</a:tableStyleId>
              </a:tblPr>
              <a:tblGrid>
                <a:gridCol w="3437673">
                  <a:extLst>
                    <a:ext uri="{9D8B030D-6E8A-4147-A177-3AD203B41FA5}">
                      <a16:colId xmlns:a16="http://schemas.microsoft.com/office/drawing/2014/main" val="2514291031"/>
                    </a:ext>
                  </a:extLst>
                </a:gridCol>
                <a:gridCol w="3437673">
                  <a:extLst>
                    <a:ext uri="{9D8B030D-6E8A-4147-A177-3AD203B41FA5}">
                      <a16:colId xmlns:a16="http://schemas.microsoft.com/office/drawing/2014/main" val="3422533869"/>
                    </a:ext>
                  </a:extLst>
                </a:gridCol>
                <a:gridCol w="3437673">
                  <a:extLst>
                    <a:ext uri="{9D8B030D-6E8A-4147-A177-3AD203B41FA5}">
                      <a16:colId xmlns:a16="http://schemas.microsoft.com/office/drawing/2014/main" val="360930221"/>
                    </a:ext>
                  </a:extLst>
                </a:gridCol>
              </a:tblGrid>
              <a:tr h="594191">
                <a:tc>
                  <a:txBody>
                    <a:bodyPr/>
                    <a:lstStyle/>
                    <a:p>
                      <a:r>
                        <a:rPr lang="en-VN" sz="2800">
                          <a:solidFill>
                            <a:schemeClr val="tx1"/>
                          </a:solidFill>
                        </a:rPr>
                        <a:t>Bài đăng mạng xã hội</a:t>
                      </a:r>
                    </a:p>
                  </a:txBody>
                  <a:tcPr anchor="ctr"/>
                </a:tc>
                <a:tc>
                  <a:txBody>
                    <a:bodyPr/>
                    <a:lstStyle/>
                    <a:p>
                      <a:r>
                        <a:rPr lang="en-VN" sz="2800">
                          <a:solidFill>
                            <a:schemeClr val="tx1"/>
                          </a:solidFill>
                        </a:rPr>
                        <a:t>Dữ liệu khách hàng</a:t>
                      </a:r>
                    </a:p>
                  </a:txBody>
                  <a:tcPr anchor="ctr"/>
                </a:tc>
                <a:tc>
                  <a:txBody>
                    <a:bodyPr/>
                    <a:lstStyle/>
                    <a:p>
                      <a:r>
                        <a:rPr lang="en-VN" sz="2800">
                          <a:solidFill>
                            <a:schemeClr val="tx1"/>
                          </a:solidFill>
                        </a:rPr>
                        <a:t>CRM</a:t>
                      </a:r>
                    </a:p>
                  </a:txBody>
                  <a:tcPr anchor="ctr"/>
                </a:tc>
                <a:extLst>
                  <a:ext uri="{0D108BD9-81ED-4DB2-BD59-A6C34878D82A}">
                    <a16:rowId xmlns:a16="http://schemas.microsoft.com/office/drawing/2014/main" val="935959999"/>
                  </a:ext>
                </a:extLst>
              </a:tr>
              <a:tr h="2676492">
                <a:tc>
                  <a:txBody>
                    <a:bodyPr/>
                    <a:lstStyle/>
                    <a:p>
                      <a:endParaRPr lang="en-VN" sz="2800">
                        <a:solidFill>
                          <a:schemeClr val="tx1"/>
                        </a:solidFill>
                      </a:endParaRPr>
                    </a:p>
                  </a:txBody>
                  <a:tcPr anchor="ctr"/>
                </a:tc>
                <a:tc>
                  <a:txBody>
                    <a:bodyPr/>
                    <a:lstStyle/>
                    <a:p>
                      <a:endParaRPr lang="en-VN" sz="2800">
                        <a:solidFill>
                          <a:schemeClr val="tx1"/>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VN" sz="2800">
                        <a:solidFill>
                          <a:schemeClr val="tx1"/>
                        </a:solidFill>
                      </a:endParaRPr>
                    </a:p>
                  </a:txBody>
                  <a:tcPr anchor="ctr"/>
                </a:tc>
                <a:extLst>
                  <a:ext uri="{0D108BD9-81ED-4DB2-BD59-A6C34878D82A}">
                    <a16:rowId xmlns:a16="http://schemas.microsoft.com/office/drawing/2014/main" val="894248750"/>
                  </a:ext>
                </a:extLst>
              </a:tr>
            </a:tbl>
          </a:graphicData>
        </a:graphic>
      </p:graphicFrame>
      <p:sp>
        <p:nvSpPr>
          <p:cNvPr id="4" name="Slide Number Placeholder 3">
            <a:extLst>
              <a:ext uri="{FF2B5EF4-FFF2-40B4-BE49-F238E27FC236}">
                <a16:creationId xmlns:a16="http://schemas.microsoft.com/office/drawing/2014/main" id="{22E35D34-665E-6BCA-43A2-673B37504EEB}"/>
              </a:ext>
            </a:extLst>
          </p:cNvPr>
          <p:cNvSpPr>
            <a:spLocks noGrp="1"/>
          </p:cNvSpPr>
          <p:nvPr>
            <p:ph type="sldNum" sz="quarter" idx="12"/>
          </p:nvPr>
        </p:nvSpPr>
        <p:spPr/>
        <p:txBody>
          <a:bodyPr/>
          <a:lstStyle/>
          <a:p>
            <a:fld id="{9663FB4D-4462-1148-A41B-A6D56F6F932D}" type="slidenum">
              <a:t>9</a:t>
            </a:fld>
            <a:endParaRPr lang="en-VN"/>
          </a:p>
        </p:txBody>
      </p:sp>
      <p:sp>
        <p:nvSpPr>
          <p:cNvPr id="6" name="TextBox 5">
            <a:extLst>
              <a:ext uri="{FF2B5EF4-FFF2-40B4-BE49-F238E27FC236}">
                <a16:creationId xmlns:a16="http://schemas.microsoft.com/office/drawing/2014/main" id="{E49EDDA0-EED7-D8FA-AF2D-07EB9922F6A4}"/>
              </a:ext>
            </a:extLst>
          </p:cNvPr>
          <p:cNvSpPr txBox="1"/>
          <p:nvPr/>
        </p:nvSpPr>
        <p:spPr>
          <a:xfrm>
            <a:off x="689516" y="5655456"/>
            <a:ext cx="3111190" cy="492443"/>
          </a:xfrm>
          <a:prstGeom prst="rect">
            <a:avLst/>
          </a:prstGeom>
          <a:noFill/>
        </p:spPr>
        <p:txBody>
          <a:bodyPr wrap="square" rtlCol="0">
            <a:spAutoFit/>
          </a:bodyPr>
          <a:lstStyle/>
          <a:p>
            <a:r>
              <a:rPr lang="en-VN" sz="2600"/>
              <a:t>Bài đăng ổn không?</a:t>
            </a:r>
          </a:p>
        </p:txBody>
      </p:sp>
      <p:sp>
        <p:nvSpPr>
          <p:cNvPr id="7" name="TextBox 6">
            <a:extLst>
              <a:ext uri="{FF2B5EF4-FFF2-40B4-BE49-F238E27FC236}">
                <a16:creationId xmlns:a16="http://schemas.microsoft.com/office/drawing/2014/main" id="{BBE703E3-BD24-8D92-CFFC-4AD95C79CBAA}"/>
              </a:ext>
            </a:extLst>
          </p:cNvPr>
          <p:cNvSpPr txBox="1"/>
          <p:nvPr/>
        </p:nvSpPr>
        <p:spPr>
          <a:xfrm>
            <a:off x="4198432" y="5665271"/>
            <a:ext cx="3111190" cy="892552"/>
          </a:xfrm>
          <a:prstGeom prst="rect">
            <a:avLst/>
          </a:prstGeom>
          <a:noFill/>
        </p:spPr>
        <p:txBody>
          <a:bodyPr wrap="square" rtlCol="0">
            <a:spAutoFit/>
          </a:bodyPr>
          <a:lstStyle/>
          <a:p>
            <a:r>
              <a:rPr lang="en-VN" sz="2600"/>
              <a:t>Nam hay nữ mua hàng nhiều hơn?</a:t>
            </a:r>
          </a:p>
        </p:txBody>
      </p:sp>
      <p:sp>
        <p:nvSpPr>
          <p:cNvPr id="8" name="TextBox 7">
            <a:extLst>
              <a:ext uri="{FF2B5EF4-FFF2-40B4-BE49-F238E27FC236}">
                <a16:creationId xmlns:a16="http://schemas.microsoft.com/office/drawing/2014/main" id="{EE307722-3811-15B1-1CBC-8B902A859BC4}"/>
              </a:ext>
            </a:extLst>
          </p:cNvPr>
          <p:cNvSpPr txBox="1"/>
          <p:nvPr/>
        </p:nvSpPr>
        <p:spPr>
          <a:xfrm>
            <a:off x="7707348" y="5655456"/>
            <a:ext cx="3111190" cy="892552"/>
          </a:xfrm>
          <a:prstGeom prst="rect">
            <a:avLst/>
          </a:prstGeom>
          <a:noFill/>
        </p:spPr>
        <p:txBody>
          <a:bodyPr wrap="square" rtlCol="0">
            <a:spAutoFit/>
          </a:bodyPr>
          <a:lstStyle/>
          <a:p>
            <a:r>
              <a:rPr lang="en-VN" sz="2600"/>
              <a:t>Nên đặt thêm loại hàng nào?</a:t>
            </a:r>
          </a:p>
        </p:txBody>
      </p:sp>
      <p:cxnSp>
        <p:nvCxnSpPr>
          <p:cNvPr id="10" name="Straight Arrow Connector 9">
            <a:extLst>
              <a:ext uri="{FF2B5EF4-FFF2-40B4-BE49-F238E27FC236}">
                <a16:creationId xmlns:a16="http://schemas.microsoft.com/office/drawing/2014/main" id="{2B4B5C4F-BE21-48F9-9D06-DDB10113889A}"/>
              </a:ext>
            </a:extLst>
          </p:cNvPr>
          <p:cNvCxnSpPr>
            <a:endCxn id="6" idx="0"/>
          </p:cNvCxnSpPr>
          <p:nvPr/>
        </p:nvCxnSpPr>
        <p:spPr>
          <a:xfrm>
            <a:off x="2245111" y="5096307"/>
            <a:ext cx="0" cy="5591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2EFC1E27-C81B-871F-8FEE-36BC2C215C06}"/>
              </a:ext>
            </a:extLst>
          </p:cNvPr>
          <p:cNvCxnSpPr/>
          <p:nvPr/>
        </p:nvCxnSpPr>
        <p:spPr>
          <a:xfrm>
            <a:off x="5994708" y="5106122"/>
            <a:ext cx="0" cy="5591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7878F52D-AC47-45F7-191D-086505C92BB2}"/>
              </a:ext>
            </a:extLst>
          </p:cNvPr>
          <p:cNvCxnSpPr/>
          <p:nvPr/>
        </p:nvCxnSpPr>
        <p:spPr>
          <a:xfrm>
            <a:off x="9492474" y="5096306"/>
            <a:ext cx="0" cy="559149"/>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6A20BF9E-00EB-BE80-A791-CC871C3EE493}"/>
              </a:ext>
            </a:extLst>
          </p:cNvPr>
          <p:cNvSpPr txBox="1"/>
          <p:nvPr/>
        </p:nvSpPr>
        <p:spPr>
          <a:xfrm>
            <a:off x="838200" y="2468381"/>
            <a:ext cx="3360232" cy="2492990"/>
          </a:xfrm>
          <a:prstGeom prst="rect">
            <a:avLst/>
          </a:prstGeom>
          <a:noFill/>
        </p:spPr>
        <p:txBody>
          <a:bodyPr wrap="square">
            <a:spAutoFit/>
          </a:bodyPr>
          <a:lstStyle/>
          <a:p>
            <a:r>
              <a:rPr lang="en-VN" sz="2600">
                <a:solidFill>
                  <a:schemeClr val="tx1"/>
                </a:solidFill>
              </a:rPr>
              <a:t>Lượt like / cảm xúc</a:t>
            </a:r>
          </a:p>
          <a:p>
            <a:r>
              <a:rPr lang="en-VN" sz="2600">
                <a:solidFill>
                  <a:schemeClr val="tx1"/>
                </a:solidFill>
              </a:rPr>
              <a:t>Lượt share</a:t>
            </a:r>
          </a:p>
          <a:p>
            <a:r>
              <a:rPr lang="en-VN" sz="2600">
                <a:solidFill>
                  <a:schemeClr val="tx1"/>
                </a:solidFill>
              </a:rPr>
              <a:t>Số bình luận</a:t>
            </a:r>
          </a:p>
          <a:p>
            <a:r>
              <a:rPr lang="en-VN" sz="2600">
                <a:solidFill>
                  <a:schemeClr val="tx1"/>
                </a:solidFill>
              </a:rPr>
              <a:t>Net follows</a:t>
            </a:r>
          </a:p>
          <a:p>
            <a:r>
              <a:rPr lang="en-VN" sz="2600">
                <a:solidFill>
                  <a:schemeClr val="tx1"/>
                </a:solidFill>
              </a:rPr>
              <a:t>Engagement</a:t>
            </a:r>
          </a:p>
          <a:p>
            <a:r>
              <a:rPr lang="en-VN" sz="2600">
                <a:solidFill>
                  <a:schemeClr val="tx1"/>
                </a:solidFill>
              </a:rPr>
              <a:t>…</a:t>
            </a:r>
          </a:p>
        </p:txBody>
      </p:sp>
      <p:sp>
        <p:nvSpPr>
          <p:cNvPr id="16" name="TextBox 15">
            <a:extLst>
              <a:ext uri="{FF2B5EF4-FFF2-40B4-BE49-F238E27FC236}">
                <a16:creationId xmlns:a16="http://schemas.microsoft.com/office/drawing/2014/main" id="{D4E52A9C-78F9-9FB5-9F42-A46B9966322E}"/>
              </a:ext>
            </a:extLst>
          </p:cNvPr>
          <p:cNvSpPr txBox="1"/>
          <p:nvPr/>
        </p:nvSpPr>
        <p:spPr>
          <a:xfrm>
            <a:off x="4311801" y="2468381"/>
            <a:ext cx="2635410" cy="2492990"/>
          </a:xfrm>
          <a:prstGeom prst="rect">
            <a:avLst/>
          </a:prstGeom>
          <a:noFill/>
        </p:spPr>
        <p:txBody>
          <a:bodyPr wrap="square">
            <a:spAutoFit/>
          </a:bodyPr>
          <a:lstStyle/>
          <a:p>
            <a:r>
              <a:rPr lang="en-VN" sz="2600">
                <a:solidFill>
                  <a:schemeClr val="tx1"/>
                </a:solidFill>
              </a:rPr>
              <a:t>Tên</a:t>
            </a:r>
          </a:p>
          <a:p>
            <a:r>
              <a:rPr lang="en-VN" sz="2600">
                <a:solidFill>
                  <a:schemeClr val="tx1"/>
                </a:solidFill>
              </a:rPr>
              <a:t>Tuổi</a:t>
            </a:r>
          </a:p>
          <a:p>
            <a:r>
              <a:rPr lang="en-VN" sz="2600">
                <a:solidFill>
                  <a:schemeClr val="tx1"/>
                </a:solidFill>
              </a:rPr>
              <a:t>Giới tính</a:t>
            </a:r>
          </a:p>
          <a:p>
            <a:r>
              <a:rPr lang="en-VN" sz="2600">
                <a:solidFill>
                  <a:schemeClr val="tx1"/>
                </a:solidFill>
              </a:rPr>
              <a:t>Số điện thoại</a:t>
            </a:r>
          </a:p>
          <a:p>
            <a:r>
              <a:rPr lang="en-VN" sz="2600">
                <a:solidFill>
                  <a:schemeClr val="tx1"/>
                </a:solidFill>
              </a:rPr>
              <a:t>Địa chỉ</a:t>
            </a:r>
          </a:p>
          <a:p>
            <a:r>
              <a:rPr lang="en-VN" sz="2600">
                <a:solidFill>
                  <a:schemeClr val="tx1"/>
                </a:solidFill>
              </a:rPr>
              <a:t>…</a:t>
            </a:r>
          </a:p>
        </p:txBody>
      </p:sp>
      <p:sp>
        <p:nvSpPr>
          <p:cNvPr id="18" name="TextBox 17">
            <a:extLst>
              <a:ext uri="{FF2B5EF4-FFF2-40B4-BE49-F238E27FC236}">
                <a16:creationId xmlns:a16="http://schemas.microsoft.com/office/drawing/2014/main" id="{8A109987-6255-9D08-504F-2B18FD60A175}"/>
              </a:ext>
            </a:extLst>
          </p:cNvPr>
          <p:cNvSpPr txBox="1"/>
          <p:nvPr/>
        </p:nvSpPr>
        <p:spPr>
          <a:xfrm>
            <a:off x="7707348" y="2468381"/>
            <a:ext cx="3087019" cy="24929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VN" sz="2600">
                <a:solidFill>
                  <a:schemeClr val="tx1"/>
                </a:solidFill>
              </a:rPr>
              <a:t>Lịch sử mua hàng</a:t>
            </a:r>
          </a:p>
          <a:p>
            <a:r>
              <a:rPr lang="en-VN" sz="2600">
                <a:solidFill>
                  <a:schemeClr val="tx1"/>
                </a:solidFill>
              </a:rPr>
              <a:t>Lịch sử liên hệ</a:t>
            </a:r>
          </a:p>
          <a:p>
            <a:r>
              <a:rPr lang="en-VN" sz="2600">
                <a:solidFill>
                  <a:schemeClr val="tx1"/>
                </a:solidFill>
              </a:rPr>
              <a:t>Lịch sử hỗ trợ</a:t>
            </a:r>
          </a:p>
          <a:p>
            <a:endParaRPr lang="en-VN" sz="2600">
              <a:solidFill>
                <a:schemeClr val="tx1"/>
              </a:solidFill>
            </a:endParaRPr>
          </a:p>
          <a:p>
            <a:endParaRPr lang="en-VN" sz="2600">
              <a:solidFill>
                <a:schemeClr val="tx1"/>
              </a:solidFill>
            </a:endParaRPr>
          </a:p>
          <a:p>
            <a:r>
              <a:rPr lang="en-VN" sz="2600">
                <a:solidFill>
                  <a:schemeClr val="tx1"/>
                </a:solidFill>
              </a:rPr>
              <a:t>…</a:t>
            </a:r>
          </a:p>
        </p:txBody>
      </p:sp>
    </p:spTree>
    <p:extLst>
      <p:ext uri="{BB962C8B-B14F-4D97-AF65-F5344CB8AC3E}">
        <p14:creationId xmlns:p14="http://schemas.microsoft.com/office/powerpoint/2010/main" val="320623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4" grpId="0"/>
      <p:bldP spid="16"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BEB41-7216-BA8A-A7AB-AAB30E0CA8AE}"/>
            </a:ext>
          </a:extLst>
        </p:cNvPr>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03C4C44F-42C4-C503-D6C8-360E7D916436}"/>
              </a:ext>
            </a:extLst>
          </p:cNvPr>
          <p:cNvGraphicFramePr>
            <a:graphicFrameLocks noGrp="1"/>
          </p:cNvGraphicFramePr>
          <p:nvPr>
            <p:ph idx="1"/>
            <p:extLst>
              <p:ext uri="{D42A27DB-BD31-4B8C-83A1-F6EECF244321}">
                <p14:modId xmlns:p14="http://schemas.microsoft.com/office/powerpoint/2010/main" val="1398602934"/>
              </p:ext>
            </p:extLst>
          </p:nvPr>
        </p:nvGraphicFramePr>
        <p:xfrm>
          <a:off x="838200" y="4699929"/>
          <a:ext cx="3437673" cy="2021546"/>
        </p:xfrm>
        <a:graphic>
          <a:graphicData uri="http://schemas.openxmlformats.org/drawingml/2006/table">
            <a:tbl>
              <a:tblPr firstRow="1" bandRow="1">
                <a:tableStyleId>{5940675A-B579-460E-94D1-54222C63F5DA}</a:tableStyleId>
              </a:tblPr>
              <a:tblGrid>
                <a:gridCol w="3437673">
                  <a:extLst>
                    <a:ext uri="{9D8B030D-6E8A-4147-A177-3AD203B41FA5}">
                      <a16:colId xmlns:a16="http://schemas.microsoft.com/office/drawing/2014/main" val="2514291031"/>
                    </a:ext>
                  </a:extLst>
                </a:gridCol>
              </a:tblGrid>
              <a:tr h="406479">
                <a:tc>
                  <a:txBody>
                    <a:bodyPr/>
                    <a:lstStyle/>
                    <a:p>
                      <a:r>
                        <a:rPr lang="en-VN" sz="2800">
                          <a:solidFill>
                            <a:schemeClr val="tx1"/>
                          </a:solidFill>
                        </a:rPr>
                        <a:t>Bài đăng mạng xã hội</a:t>
                      </a:r>
                    </a:p>
                  </a:txBody>
                  <a:tcPr anchor="ctr"/>
                </a:tc>
                <a:extLst>
                  <a:ext uri="{0D108BD9-81ED-4DB2-BD59-A6C34878D82A}">
                    <a16:rowId xmlns:a16="http://schemas.microsoft.com/office/drawing/2014/main" val="935959999"/>
                  </a:ext>
                </a:extLst>
              </a:tr>
              <a:tr h="1503386">
                <a:tc>
                  <a:txBody>
                    <a:bodyPr/>
                    <a:lstStyle/>
                    <a:p>
                      <a:endParaRPr lang="en-VN" sz="2800">
                        <a:solidFill>
                          <a:schemeClr val="tx1"/>
                        </a:solidFill>
                      </a:endParaRPr>
                    </a:p>
                  </a:txBody>
                  <a:tcPr anchor="ctr"/>
                </a:tc>
                <a:extLst>
                  <a:ext uri="{0D108BD9-81ED-4DB2-BD59-A6C34878D82A}">
                    <a16:rowId xmlns:a16="http://schemas.microsoft.com/office/drawing/2014/main" val="894248750"/>
                  </a:ext>
                </a:extLst>
              </a:tr>
            </a:tbl>
          </a:graphicData>
        </a:graphic>
      </p:graphicFrame>
      <p:sp>
        <p:nvSpPr>
          <p:cNvPr id="4" name="Slide Number Placeholder 3">
            <a:extLst>
              <a:ext uri="{FF2B5EF4-FFF2-40B4-BE49-F238E27FC236}">
                <a16:creationId xmlns:a16="http://schemas.microsoft.com/office/drawing/2014/main" id="{B6220D51-1BF6-0C9D-283B-30FE90C799FD}"/>
              </a:ext>
            </a:extLst>
          </p:cNvPr>
          <p:cNvSpPr>
            <a:spLocks noGrp="1"/>
          </p:cNvSpPr>
          <p:nvPr>
            <p:ph type="sldNum" sz="quarter" idx="12"/>
          </p:nvPr>
        </p:nvSpPr>
        <p:spPr/>
        <p:txBody>
          <a:bodyPr/>
          <a:lstStyle/>
          <a:p>
            <a:fld id="{9663FB4D-4462-1148-A41B-A6D56F6F932D}" type="slidenum">
              <a:t>10</a:t>
            </a:fld>
            <a:endParaRPr lang="en-VN"/>
          </a:p>
        </p:txBody>
      </p:sp>
      <p:sp>
        <p:nvSpPr>
          <p:cNvPr id="14" name="TextBox 13">
            <a:extLst>
              <a:ext uri="{FF2B5EF4-FFF2-40B4-BE49-F238E27FC236}">
                <a16:creationId xmlns:a16="http://schemas.microsoft.com/office/drawing/2014/main" id="{26F04328-9341-43BD-DCB5-663A9A8416D5}"/>
              </a:ext>
            </a:extLst>
          </p:cNvPr>
          <p:cNvSpPr txBox="1"/>
          <p:nvPr/>
        </p:nvSpPr>
        <p:spPr>
          <a:xfrm>
            <a:off x="838200" y="5342685"/>
            <a:ext cx="3360232" cy="1292662"/>
          </a:xfrm>
          <a:prstGeom prst="rect">
            <a:avLst/>
          </a:prstGeom>
          <a:noFill/>
        </p:spPr>
        <p:txBody>
          <a:bodyPr wrap="square">
            <a:spAutoFit/>
          </a:bodyPr>
          <a:lstStyle/>
          <a:p>
            <a:r>
              <a:rPr lang="en-VN" sz="2600">
                <a:solidFill>
                  <a:schemeClr val="tx1"/>
                </a:solidFill>
              </a:rPr>
              <a:t>Interactions</a:t>
            </a:r>
          </a:p>
          <a:p>
            <a:r>
              <a:rPr lang="en-VN" sz="2600">
                <a:solidFill>
                  <a:schemeClr val="tx1"/>
                </a:solidFill>
              </a:rPr>
              <a:t>Net follows</a:t>
            </a:r>
          </a:p>
          <a:p>
            <a:r>
              <a:rPr lang="en-VN" sz="2600">
                <a:solidFill>
                  <a:schemeClr val="tx1"/>
                </a:solidFill>
              </a:rPr>
              <a:t>Views</a:t>
            </a:r>
          </a:p>
        </p:txBody>
      </p:sp>
      <p:sp>
        <p:nvSpPr>
          <p:cNvPr id="16" name="TextBox 15">
            <a:extLst>
              <a:ext uri="{FF2B5EF4-FFF2-40B4-BE49-F238E27FC236}">
                <a16:creationId xmlns:a16="http://schemas.microsoft.com/office/drawing/2014/main" id="{29E9F71E-0006-DAB8-F814-401FCF1E4899}"/>
              </a:ext>
            </a:extLst>
          </p:cNvPr>
          <p:cNvSpPr txBox="1"/>
          <p:nvPr/>
        </p:nvSpPr>
        <p:spPr>
          <a:xfrm>
            <a:off x="3341645" y="5342685"/>
            <a:ext cx="1051936" cy="1292662"/>
          </a:xfrm>
          <a:prstGeom prst="rect">
            <a:avLst/>
          </a:prstGeom>
          <a:noFill/>
        </p:spPr>
        <p:txBody>
          <a:bodyPr wrap="square">
            <a:spAutoFit/>
          </a:bodyPr>
          <a:lstStyle/>
          <a:p>
            <a:r>
              <a:rPr lang="en-VN" sz="2600"/>
              <a:t>13</a:t>
            </a:r>
            <a:endParaRPr lang="en-VN" sz="2600">
              <a:solidFill>
                <a:schemeClr val="tx1"/>
              </a:solidFill>
            </a:endParaRPr>
          </a:p>
          <a:p>
            <a:r>
              <a:rPr lang="en-VN" sz="2600">
                <a:solidFill>
                  <a:schemeClr val="tx1"/>
                </a:solidFill>
              </a:rPr>
              <a:t>-1</a:t>
            </a:r>
          </a:p>
          <a:p>
            <a:r>
              <a:rPr lang="en-VN" sz="2600">
                <a:solidFill>
                  <a:schemeClr val="tx1"/>
                </a:solidFill>
              </a:rPr>
              <a:t>1665</a:t>
            </a:r>
          </a:p>
        </p:txBody>
      </p:sp>
      <p:pic>
        <p:nvPicPr>
          <p:cNvPr id="9" name="Picture 8" descr="A screenshot of a computer&#10;&#10;AI-generated content may be incorrect.">
            <a:extLst>
              <a:ext uri="{FF2B5EF4-FFF2-40B4-BE49-F238E27FC236}">
                <a16:creationId xmlns:a16="http://schemas.microsoft.com/office/drawing/2014/main" id="{84E4F092-4C00-ABFF-492C-F5097528B790}"/>
              </a:ext>
            </a:extLst>
          </p:cNvPr>
          <p:cNvPicPr>
            <a:picLocks noChangeAspect="1"/>
          </p:cNvPicPr>
          <p:nvPr/>
        </p:nvPicPr>
        <p:blipFill>
          <a:blip r:embed="rId3"/>
          <a:stretch>
            <a:fillRect/>
          </a:stretch>
        </p:blipFill>
        <p:spPr>
          <a:xfrm>
            <a:off x="838200" y="112861"/>
            <a:ext cx="9232726" cy="4485403"/>
          </a:xfrm>
          <a:prstGeom prst="rect">
            <a:avLst/>
          </a:prstGeom>
        </p:spPr>
      </p:pic>
      <p:cxnSp>
        <p:nvCxnSpPr>
          <p:cNvPr id="13" name="Straight Arrow Connector 12">
            <a:extLst>
              <a:ext uri="{FF2B5EF4-FFF2-40B4-BE49-F238E27FC236}">
                <a16:creationId xmlns:a16="http://schemas.microsoft.com/office/drawing/2014/main" id="{8B64B3AC-73BB-A425-C08F-90BD02ADA89E}"/>
              </a:ext>
            </a:extLst>
          </p:cNvPr>
          <p:cNvCxnSpPr>
            <a:cxnSpLocks/>
          </p:cNvCxnSpPr>
          <p:nvPr/>
        </p:nvCxnSpPr>
        <p:spPr>
          <a:xfrm>
            <a:off x="2724614" y="5606552"/>
            <a:ext cx="52039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DC1393E9-DB6E-24BD-E084-01D38DF75B7F}"/>
              </a:ext>
            </a:extLst>
          </p:cNvPr>
          <p:cNvCxnSpPr>
            <a:cxnSpLocks/>
          </p:cNvCxnSpPr>
          <p:nvPr/>
        </p:nvCxnSpPr>
        <p:spPr>
          <a:xfrm>
            <a:off x="2724614" y="6004279"/>
            <a:ext cx="52039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857E9C61-F656-9050-E7F6-2F7CED68DCF0}"/>
              </a:ext>
            </a:extLst>
          </p:cNvPr>
          <p:cNvCxnSpPr>
            <a:cxnSpLocks/>
          </p:cNvCxnSpPr>
          <p:nvPr/>
        </p:nvCxnSpPr>
        <p:spPr>
          <a:xfrm>
            <a:off x="2724614" y="6390855"/>
            <a:ext cx="52039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35DBA5D7-0BAA-09BB-C9AA-C14C69D90E12}"/>
                  </a:ext>
                </a:extLst>
              </p:cNvPr>
              <p:cNvSpPr txBox="1"/>
              <p:nvPr/>
            </p:nvSpPr>
            <p:spPr>
              <a:xfrm>
                <a:off x="4924186" y="5413123"/>
                <a:ext cx="1051936" cy="1182311"/>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vi-VN" sz="2600" b="0" i="1">
                              <a:solidFill>
                                <a:schemeClr val="tx1"/>
                              </a:solidFill>
                              <a:latin typeface="Cambria Math" panose="02040503050406030204" pitchFamily="18" charset="0"/>
                            </a:rPr>
                          </m:ctrlPr>
                        </m:dPr>
                        <m:e>
                          <m:m>
                            <m:mPr>
                              <m:mcs>
                                <m:mc>
                                  <m:mcPr>
                                    <m:count m:val="1"/>
                                    <m:mcJc m:val="center"/>
                                  </m:mcPr>
                                </m:mc>
                              </m:mcs>
                              <m:ctrlPr>
                                <a:rPr lang="vi-VN" sz="2600" b="0" i="1">
                                  <a:solidFill>
                                    <a:schemeClr val="tx1"/>
                                  </a:solidFill>
                                  <a:latin typeface="Cambria Math" panose="02040503050406030204" pitchFamily="18" charset="0"/>
                                </a:rPr>
                              </m:ctrlPr>
                            </m:mPr>
                            <m:mr>
                              <m:e>
                                <m:r>
                                  <m:rPr>
                                    <m:brk m:alnAt="7"/>
                                  </m:rPr>
                                  <a:rPr lang="vi-VN" sz="2600" b="0" i="1">
                                    <a:solidFill>
                                      <a:schemeClr val="tx1"/>
                                    </a:solidFill>
                                    <a:latin typeface="Cambria Math" panose="02040503050406030204" pitchFamily="18" charset="0"/>
                                  </a:rPr>
                                  <m:t>13</m:t>
                                </m:r>
                              </m:e>
                            </m:mr>
                            <m:mr>
                              <m:e>
                                <m:r>
                                  <a:rPr lang="vi-VN" sz="2600" b="0" i="1">
                                    <a:solidFill>
                                      <a:schemeClr val="tx1"/>
                                    </a:solidFill>
                                    <a:latin typeface="Cambria Math" panose="02040503050406030204" pitchFamily="18" charset="0"/>
                                  </a:rPr>
                                  <m:t>−1</m:t>
                                </m:r>
                              </m:e>
                            </m:mr>
                            <m:mr>
                              <m:e>
                                <m:r>
                                  <a:rPr lang="vi-VN" sz="2600" b="0" i="1">
                                    <a:solidFill>
                                      <a:schemeClr val="tx1"/>
                                    </a:solidFill>
                                    <a:latin typeface="Cambria Math" panose="02040503050406030204" pitchFamily="18" charset="0"/>
                                  </a:rPr>
                                  <m:t>1665</m:t>
                                </m:r>
                              </m:e>
                            </m:mr>
                          </m:m>
                        </m:e>
                      </m:d>
                    </m:oMath>
                  </m:oMathPara>
                </a14:m>
                <a:endParaRPr lang="en-VN" sz="2600">
                  <a:solidFill>
                    <a:schemeClr val="tx1"/>
                  </a:solidFill>
                </a:endParaRPr>
              </a:p>
            </p:txBody>
          </p:sp>
        </mc:Choice>
        <mc:Fallback>
          <p:sp>
            <p:nvSpPr>
              <p:cNvPr id="20" name="TextBox 19">
                <a:extLst>
                  <a:ext uri="{FF2B5EF4-FFF2-40B4-BE49-F238E27FC236}">
                    <a16:creationId xmlns:a16="http://schemas.microsoft.com/office/drawing/2014/main" id="{35DBA5D7-0BAA-09BB-C9AA-C14C69D90E12}"/>
                  </a:ext>
                </a:extLst>
              </p:cNvPr>
              <p:cNvSpPr txBox="1">
                <a:spLocks noRot="1" noChangeAspect="1" noMove="1" noResize="1" noEditPoints="1" noAdjustHandles="1" noChangeArrowheads="1" noChangeShapeType="1" noTextEdit="1"/>
              </p:cNvSpPr>
              <p:nvPr/>
            </p:nvSpPr>
            <p:spPr>
              <a:xfrm>
                <a:off x="4924186" y="5413123"/>
                <a:ext cx="1051936" cy="1182311"/>
              </a:xfrm>
              <a:prstGeom prst="rect">
                <a:avLst/>
              </a:prstGeom>
              <a:blipFill>
                <a:blip r:embed="rId4"/>
                <a:stretch>
                  <a:fillRect r="-1190" b="-212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8817D676-2A73-EE3F-ADCF-C07F92A301F9}"/>
                  </a:ext>
                </a:extLst>
              </p:cNvPr>
              <p:cNvSpPr txBox="1"/>
              <p:nvPr/>
            </p:nvSpPr>
            <p:spPr>
              <a:xfrm>
                <a:off x="4224137" y="5742793"/>
                <a:ext cx="936702" cy="49244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sz="2600" i="1">
                          <a:latin typeface="Cambria Math" panose="02040503050406030204" pitchFamily="18" charset="0"/>
                        </a:rPr>
                        <m:t>𝑣</m:t>
                      </m:r>
                      <m:r>
                        <a:rPr lang="vi-VN" sz="2600" b="0" i="1">
                          <a:latin typeface="Cambria Math" panose="02040503050406030204" pitchFamily="18" charset="0"/>
                        </a:rPr>
                        <m:t>=</m:t>
                      </m:r>
                    </m:oMath>
                  </m:oMathPara>
                </a14:m>
                <a:endParaRPr lang="en-VN" sz="2600" i="1"/>
              </a:p>
            </p:txBody>
          </p:sp>
        </mc:Choice>
        <mc:Fallback>
          <p:sp>
            <p:nvSpPr>
              <p:cNvPr id="23" name="TextBox 22">
                <a:extLst>
                  <a:ext uri="{FF2B5EF4-FFF2-40B4-BE49-F238E27FC236}">
                    <a16:creationId xmlns:a16="http://schemas.microsoft.com/office/drawing/2014/main" id="{8817D676-2A73-EE3F-ADCF-C07F92A301F9}"/>
                  </a:ext>
                </a:extLst>
              </p:cNvPr>
              <p:cNvSpPr txBox="1">
                <a:spLocks noRot="1" noChangeAspect="1" noMove="1" noResize="1" noEditPoints="1" noAdjustHandles="1" noChangeArrowheads="1" noChangeShapeType="1" noTextEdit="1"/>
              </p:cNvSpPr>
              <p:nvPr/>
            </p:nvSpPr>
            <p:spPr>
              <a:xfrm>
                <a:off x="4224137" y="5742793"/>
                <a:ext cx="936702" cy="492443"/>
              </a:xfrm>
              <a:prstGeom prst="rect">
                <a:avLst/>
              </a:prstGeom>
              <a:blipFill>
                <a:blip r:embed="rId5"/>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265790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33D1A-D75F-D6EF-3787-F9C809D5F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D45DF-E574-B67A-AC25-07C54C1AA606}"/>
              </a:ext>
            </a:extLst>
          </p:cNvPr>
          <p:cNvSpPr>
            <a:spLocks noGrp="1"/>
          </p:cNvSpPr>
          <p:nvPr>
            <p:ph type="title"/>
          </p:nvPr>
        </p:nvSpPr>
        <p:spPr/>
        <p:txBody>
          <a:bodyPr/>
          <a:lstStyle/>
          <a:p>
            <a:r>
              <a:rPr lang="en-VN"/>
              <a:t>1.2. Vector</a:t>
            </a:r>
          </a:p>
        </p:txBody>
      </p:sp>
      <p:sp>
        <p:nvSpPr>
          <p:cNvPr id="4" name="Slide Number Placeholder 3">
            <a:extLst>
              <a:ext uri="{FF2B5EF4-FFF2-40B4-BE49-F238E27FC236}">
                <a16:creationId xmlns:a16="http://schemas.microsoft.com/office/drawing/2014/main" id="{9B759638-C26B-4E16-9664-2FE4D4AF7CA5}"/>
              </a:ext>
            </a:extLst>
          </p:cNvPr>
          <p:cNvSpPr>
            <a:spLocks noGrp="1"/>
          </p:cNvSpPr>
          <p:nvPr>
            <p:ph type="sldNum" sz="quarter" idx="12"/>
          </p:nvPr>
        </p:nvSpPr>
        <p:spPr/>
        <p:txBody>
          <a:bodyPr/>
          <a:lstStyle/>
          <a:p>
            <a:fld id="{9663FB4D-4462-1148-A41B-A6D56F6F932D}" type="slidenum">
              <a:t>11</a:t>
            </a:fld>
            <a:endParaRPr lang="en-VN"/>
          </a:p>
        </p:txBody>
      </p: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B232033F-E94B-47D1-27F9-88FFFDF6750B}"/>
                  </a:ext>
                </a:extLst>
              </p:cNvPr>
              <p:cNvSpPr txBox="1"/>
              <p:nvPr/>
            </p:nvSpPr>
            <p:spPr>
              <a:xfrm>
                <a:off x="838200" y="1565953"/>
                <a:ext cx="2049966" cy="115038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600" i="1">
                          <a:latin typeface="Cambria Math" panose="02040503050406030204" pitchFamily="18" charset="0"/>
                        </a:rPr>
                        <m:t>𝑣</m:t>
                      </m:r>
                      <m:r>
                        <a:rPr lang="vi-VN" sz="2600" i="1">
                          <a:latin typeface="Cambria Math" panose="02040503050406030204" pitchFamily="18" charset="0"/>
                        </a:rPr>
                        <m:t>=</m:t>
                      </m:r>
                      <m:d>
                        <m:dPr>
                          <m:begChr m:val="["/>
                          <m:endChr m:val="]"/>
                          <m:ctrlPr>
                            <a:rPr lang="vi-VN" sz="2600" b="0" i="1">
                              <a:solidFill>
                                <a:schemeClr val="tx1"/>
                              </a:solidFill>
                              <a:latin typeface="Cambria Math" panose="02040503050406030204" pitchFamily="18" charset="0"/>
                            </a:rPr>
                          </m:ctrlPr>
                        </m:dPr>
                        <m:e>
                          <m:m>
                            <m:mPr>
                              <m:mcs>
                                <m:mc>
                                  <m:mcPr>
                                    <m:count m:val="1"/>
                                    <m:mcJc m:val="center"/>
                                  </m:mcPr>
                                </m:mc>
                              </m:mcs>
                              <m:ctrlPr>
                                <a:rPr lang="vi-VN" sz="2600" b="0" i="1">
                                  <a:solidFill>
                                    <a:schemeClr val="tx1"/>
                                  </a:solidFill>
                                  <a:latin typeface="Cambria Math" panose="02040503050406030204" pitchFamily="18" charset="0"/>
                                </a:rPr>
                              </m:ctrlPr>
                            </m:mPr>
                            <m:mr>
                              <m:e>
                                <m:r>
                                  <m:rPr>
                                    <m:brk m:alnAt="7"/>
                                  </m:rPr>
                                  <a:rPr lang="vi-VN" sz="2600" b="0" i="1">
                                    <a:solidFill>
                                      <a:schemeClr val="tx1"/>
                                    </a:solidFill>
                                    <a:latin typeface="Cambria Math" panose="02040503050406030204" pitchFamily="18" charset="0"/>
                                  </a:rPr>
                                  <m:t>13</m:t>
                                </m:r>
                              </m:e>
                            </m:mr>
                            <m:mr>
                              <m:e>
                                <m:r>
                                  <a:rPr lang="vi-VN" sz="2600" b="0" i="1">
                                    <a:solidFill>
                                      <a:schemeClr val="tx1"/>
                                    </a:solidFill>
                                    <a:latin typeface="Cambria Math" panose="02040503050406030204" pitchFamily="18" charset="0"/>
                                  </a:rPr>
                                  <m:t>−1</m:t>
                                </m:r>
                              </m:e>
                            </m:mr>
                            <m:mr>
                              <m:e>
                                <m:r>
                                  <a:rPr lang="vi-VN" sz="2600" b="0" i="1">
                                    <a:solidFill>
                                      <a:schemeClr val="tx1"/>
                                    </a:solidFill>
                                    <a:latin typeface="Cambria Math" panose="02040503050406030204" pitchFamily="18" charset="0"/>
                                  </a:rPr>
                                  <m:t>1665</m:t>
                                </m:r>
                              </m:e>
                            </m:mr>
                          </m:m>
                        </m:e>
                      </m:d>
                    </m:oMath>
                  </m:oMathPara>
                </a14:m>
                <a:endParaRPr lang="en-VN" sz="2600">
                  <a:solidFill>
                    <a:schemeClr val="tx1"/>
                  </a:solidFill>
                </a:endParaRPr>
              </a:p>
            </p:txBody>
          </p:sp>
        </mc:Choice>
        <mc:Fallback>
          <p:sp>
            <p:nvSpPr>
              <p:cNvPr id="20" name="TextBox 19">
                <a:extLst>
                  <a:ext uri="{FF2B5EF4-FFF2-40B4-BE49-F238E27FC236}">
                    <a16:creationId xmlns:a16="http://schemas.microsoft.com/office/drawing/2014/main" id="{B232033F-E94B-47D1-27F9-88FFFDF6750B}"/>
                  </a:ext>
                </a:extLst>
              </p:cNvPr>
              <p:cNvSpPr txBox="1">
                <a:spLocks noRot="1" noChangeAspect="1" noMove="1" noResize="1" noEditPoints="1" noAdjustHandles="1" noChangeArrowheads="1" noChangeShapeType="1" noTextEdit="1"/>
              </p:cNvSpPr>
              <p:nvPr/>
            </p:nvSpPr>
            <p:spPr>
              <a:xfrm>
                <a:off x="838200" y="1565953"/>
                <a:ext cx="2049966" cy="1150380"/>
              </a:xfrm>
              <a:prstGeom prst="rect">
                <a:avLst/>
              </a:prstGeom>
              <a:blipFill>
                <a:blip r:embed="rId3"/>
                <a:stretch>
                  <a:fillRect b="-4348"/>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EB3C2F9-AA7D-4911-5B31-29D1C5F61174}"/>
                  </a:ext>
                </a:extLst>
              </p:cNvPr>
              <p:cNvSpPr txBox="1"/>
              <p:nvPr/>
            </p:nvSpPr>
            <p:spPr>
              <a:xfrm>
                <a:off x="4361057" y="2390925"/>
                <a:ext cx="2049966" cy="156639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600" i="1">
                          <a:latin typeface="Cambria Math" panose="02040503050406030204" pitchFamily="18" charset="0"/>
                        </a:rPr>
                        <m:t>𝑣</m:t>
                      </m:r>
                      <m:r>
                        <a:rPr lang="vi-VN" sz="2600" i="1">
                          <a:latin typeface="Cambria Math" panose="02040503050406030204" pitchFamily="18" charset="0"/>
                        </a:rPr>
                        <m:t>=</m:t>
                      </m:r>
                      <m:d>
                        <m:dPr>
                          <m:begChr m:val="["/>
                          <m:endChr m:val="]"/>
                          <m:ctrlPr>
                            <a:rPr lang="vi-VN" sz="2600" b="0" i="1">
                              <a:solidFill>
                                <a:schemeClr val="tx1"/>
                              </a:solidFill>
                              <a:latin typeface="Cambria Math" panose="02040503050406030204" pitchFamily="18" charset="0"/>
                            </a:rPr>
                          </m:ctrlPr>
                        </m:dPr>
                        <m:e>
                          <m:m>
                            <m:mPr>
                              <m:mcs>
                                <m:mc>
                                  <m:mcPr>
                                    <m:count m:val="1"/>
                                    <m:mcJc m:val="center"/>
                                  </m:mcPr>
                                </m:mc>
                              </m:mcs>
                              <m:ctrlPr>
                                <a:rPr lang="vi-VN" sz="2600" b="0" i="1">
                                  <a:solidFill>
                                    <a:schemeClr val="tx1"/>
                                  </a:solidFill>
                                  <a:latin typeface="Cambria Math" panose="02040503050406030204" pitchFamily="18" charset="0"/>
                                </a:rPr>
                              </m:ctrlPr>
                            </m:mPr>
                            <m:mr>
                              <m:e>
                                <m:m>
                                  <m:mPr>
                                    <m:mcs>
                                      <m:mc>
                                        <m:mcPr>
                                          <m:count m:val="1"/>
                                          <m:mcJc m:val="center"/>
                                        </m:mcPr>
                                      </m:mc>
                                    </m:mcs>
                                    <m:ctrlPr>
                                      <a:rPr lang="vi-VN" sz="2600" b="0" i="1">
                                        <a:solidFill>
                                          <a:schemeClr val="tx1"/>
                                        </a:solidFill>
                                        <a:latin typeface="Cambria Math" panose="02040503050406030204" pitchFamily="18" charset="0"/>
                                      </a:rPr>
                                    </m:ctrlPr>
                                  </m:mPr>
                                  <m:mr>
                                    <m:e>
                                      <m:sSub>
                                        <m:sSubPr>
                                          <m:ctrlPr>
                                            <a:rPr lang="vi-VN" sz="2600" b="0" i="1">
                                              <a:latin typeface="Cambria Math" panose="02040503050406030204" pitchFamily="18" charset="0"/>
                                            </a:rPr>
                                          </m:ctrlPr>
                                        </m:sSubPr>
                                        <m:e>
                                          <m:r>
                                            <m:rPr>
                                              <m:brk m:alnAt="7"/>
                                            </m:rPr>
                                            <a:rPr lang="vi-VN" sz="2600" i="1">
                                              <a:latin typeface="Cambria Math" panose="02040503050406030204" pitchFamily="18" charset="0"/>
                                            </a:rPr>
                                            <m:t>𝑣</m:t>
                                          </m:r>
                                        </m:e>
                                        <m:sub>
                                          <m:r>
                                            <a:rPr lang="vi-VN" sz="2600" b="0" i="1">
                                              <a:latin typeface="Cambria Math" panose="02040503050406030204" pitchFamily="18" charset="0"/>
                                            </a:rPr>
                                            <m:t>1</m:t>
                                          </m:r>
                                        </m:sub>
                                      </m:sSub>
                                    </m:e>
                                  </m:mr>
                                  <m:mr>
                                    <m:e>
                                      <m:sSub>
                                        <m:sSubPr>
                                          <m:ctrlPr>
                                            <a:rPr lang="vi-VN" sz="2600" b="0" i="1">
                                              <a:latin typeface="Cambria Math" panose="02040503050406030204" pitchFamily="18" charset="0"/>
                                            </a:rPr>
                                          </m:ctrlPr>
                                        </m:sSubPr>
                                        <m:e>
                                          <m:r>
                                            <a:rPr lang="vi-VN" sz="2600" i="1">
                                              <a:latin typeface="Cambria Math" panose="02040503050406030204" pitchFamily="18" charset="0"/>
                                            </a:rPr>
                                            <m:t>𝑣</m:t>
                                          </m:r>
                                        </m:e>
                                        <m:sub>
                                          <m:r>
                                            <a:rPr lang="vi-VN" sz="2600" b="0" i="1">
                                              <a:latin typeface="Cambria Math" panose="02040503050406030204" pitchFamily="18" charset="0"/>
                                            </a:rPr>
                                            <m:t>2</m:t>
                                          </m:r>
                                        </m:sub>
                                      </m:sSub>
                                    </m:e>
                                  </m:mr>
                                </m:m>
                              </m:e>
                            </m:mr>
                            <m:mr>
                              <m:e>
                                <m:m>
                                  <m:mPr>
                                    <m:mcs>
                                      <m:mc>
                                        <m:mcPr>
                                          <m:count m:val="1"/>
                                          <m:mcJc m:val="center"/>
                                        </m:mcPr>
                                      </m:mc>
                                    </m:mcs>
                                    <m:ctrlPr>
                                      <a:rPr lang="vi-VN" sz="2600" b="0" i="1">
                                        <a:solidFill>
                                          <a:schemeClr val="tx1"/>
                                        </a:solidFill>
                                        <a:latin typeface="Cambria Math" panose="02040503050406030204" pitchFamily="18" charset="0"/>
                                      </a:rPr>
                                    </m:ctrlPr>
                                  </m:mPr>
                                  <m:mr>
                                    <m:e>
                                      <m:r>
                                        <m:rPr>
                                          <m:brk m:alnAt="7"/>
                                        </m:rPr>
                                        <a:rPr lang="vi-VN" sz="2600" b="0" i="1">
                                          <a:solidFill>
                                            <a:schemeClr val="tx1"/>
                                          </a:solidFill>
                                          <a:latin typeface="Cambria Math" panose="02040503050406030204" pitchFamily="18" charset="0"/>
                                        </a:rPr>
                                        <m:t>⋮</m:t>
                                      </m:r>
                                    </m:e>
                                  </m:mr>
                                  <m:mr>
                                    <m:e>
                                      <m:sSub>
                                        <m:sSubPr>
                                          <m:ctrlPr>
                                            <a:rPr lang="vi-VN" sz="2600" b="0" i="1">
                                              <a:latin typeface="Cambria Math" panose="02040503050406030204" pitchFamily="18" charset="0"/>
                                            </a:rPr>
                                          </m:ctrlPr>
                                        </m:sSubPr>
                                        <m:e>
                                          <m:r>
                                            <a:rPr lang="vi-VN" sz="2600" i="1">
                                              <a:latin typeface="Cambria Math" panose="02040503050406030204" pitchFamily="18" charset="0"/>
                                            </a:rPr>
                                            <m:t>𝑣</m:t>
                                          </m:r>
                                        </m:e>
                                        <m:sub>
                                          <m:r>
                                            <a:rPr lang="vi-VN" sz="2600" i="1">
                                              <a:latin typeface="Cambria Math" panose="02040503050406030204" pitchFamily="18" charset="0"/>
                                            </a:rPr>
                                            <m:t>𝑀</m:t>
                                          </m:r>
                                        </m:sub>
                                      </m:sSub>
                                    </m:e>
                                  </m:mr>
                                </m:m>
                              </m:e>
                            </m:mr>
                          </m:m>
                        </m:e>
                      </m:d>
                    </m:oMath>
                  </m:oMathPara>
                </a14:m>
                <a:endParaRPr lang="en-VN" sz="2600" i="1">
                  <a:solidFill>
                    <a:schemeClr val="tx1"/>
                  </a:solidFill>
                </a:endParaRPr>
              </a:p>
            </p:txBody>
          </p:sp>
        </mc:Choice>
        <mc:Fallback>
          <p:sp>
            <p:nvSpPr>
              <p:cNvPr id="7" name="TextBox 6">
                <a:extLst>
                  <a:ext uri="{FF2B5EF4-FFF2-40B4-BE49-F238E27FC236}">
                    <a16:creationId xmlns:a16="http://schemas.microsoft.com/office/drawing/2014/main" id="{4EB3C2F9-AA7D-4911-5B31-29D1C5F61174}"/>
                  </a:ext>
                </a:extLst>
              </p:cNvPr>
              <p:cNvSpPr txBox="1">
                <a:spLocks noRot="1" noChangeAspect="1" noMove="1" noResize="1" noEditPoints="1" noAdjustHandles="1" noChangeArrowheads="1" noChangeShapeType="1" noTextEdit="1"/>
              </p:cNvSpPr>
              <p:nvPr/>
            </p:nvSpPr>
            <p:spPr>
              <a:xfrm>
                <a:off x="4361057" y="2390925"/>
                <a:ext cx="2049966" cy="1566391"/>
              </a:xfrm>
              <a:prstGeom prst="rect">
                <a:avLst/>
              </a:prstGeom>
              <a:blipFill>
                <a:blip r:embed="rId4"/>
                <a:stretch>
                  <a:fillRect/>
                </a:stretch>
              </a:blipFill>
            </p:spPr>
            <p:txBody>
              <a:bodyPr/>
              <a:lstStyle/>
              <a:p>
                <a:r>
                  <a:rPr lang="en-VN">
                    <a:noFill/>
                  </a:rPr>
                  <a:t> </a:t>
                </a:r>
              </a:p>
            </p:txBody>
          </p:sp>
        </mc:Fallback>
      </mc:AlternateContent>
      <p:sp>
        <p:nvSpPr>
          <p:cNvPr id="8" name="TextBox 7">
            <a:extLst>
              <a:ext uri="{FF2B5EF4-FFF2-40B4-BE49-F238E27FC236}">
                <a16:creationId xmlns:a16="http://schemas.microsoft.com/office/drawing/2014/main" id="{C6BC2117-1EAF-113F-D65D-695A21646D98}"/>
              </a:ext>
            </a:extLst>
          </p:cNvPr>
          <p:cNvSpPr txBox="1"/>
          <p:nvPr/>
        </p:nvSpPr>
        <p:spPr>
          <a:xfrm>
            <a:off x="6690732" y="2214637"/>
            <a:ext cx="2174487" cy="492443"/>
          </a:xfrm>
          <a:prstGeom prst="rect">
            <a:avLst/>
          </a:prstGeom>
          <a:noFill/>
        </p:spPr>
        <p:txBody>
          <a:bodyPr wrap="square" rtlCol="0">
            <a:spAutoFit/>
          </a:bodyPr>
          <a:lstStyle/>
          <a:p>
            <a:r>
              <a:rPr lang="en-US" sz="2600"/>
              <a:t>I</a:t>
            </a:r>
            <a:r>
              <a:rPr lang="en-VN" sz="2600"/>
              <a:t>ndex (chỉ số)</a:t>
            </a:r>
          </a:p>
        </p:txBody>
      </p:sp>
      <p:cxnSp>
        <p:nvCxnSpPr>
          <p:cNvPr id="11" name="Straight Arrow Connector 10">
            <a:extLst>
              <a:ext uri="{FF2B5EF4-FFF2-40B4-BE49-F238E27FC236}">
                <a16:creationId xmlns:a16="http://schemas.microsoft.com/office/drawing/2014/main" id="{B53F8549-DA90-6316-3E2C-1B071190D895}"/>
              </a:ext>
            </a:extLst>
          </p:cNvPr>
          <p:cNvCxnSpPr>
            <a:endCxn id="8" idx="1"/>
          </p:cNvCxnSpPr>
          <p:nvPr/>
        </p:nvCxnSpPr>
        <p:spPr>
          <a:xfrm flipV="1">
            <a:off x="5586761" y="2460859"/>
            <a:ext cx="1103971" cy="24622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19F6065-29AA-EE16-AF03-87AD658EEEFD}"/>
              </a:ext>
            </a:extLst>
          </p:cNvPr>
          <p:cNvCxnSpPr>
            <a:cxnSpLocks/>
            <a:endCxn id="8" idx="1"/>
          </p:cNvCxnSpPr>
          <p:nvPr/>
        </p:nvCxnSpPr>
        <p:spPr>
          <a:xfrm flipV="1">
            <a:off x="5586761" y="2460859"/>
            <a:ext cx="1103971" cy="583424"/>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4F483DC-F93D-F41D-A173-D0C136F3208B}"/>
              </a:ext>
            </a:extLst>
          </p:cNvPr>
          <p:cNvCxnSpPr>
            <a:cxnSpLocks/>
            <a:endCxn id="8" idx="1"/>
          </p:cNvCxnSpPr>
          <p:nvPr/>
        </p:nvCxnSpPr>
        <p:spPr>
          <a:xfrm flipV="1">
            <a:off x="5586761" y="2460859"/>
            <a:ext cx="1103971" cy="1352859"/>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63B8DA50-A810-4DE6-D496-4E0BD8A5E6E2}"/>
              </a:ext>
            </a:extLst>
          </p:cNvPr>
          <p:cNvSpPr txBox="1"/>
          <p:nvPr/>
        </p:nvSpPr>
        <p:spPr>
          <a:xfrm>
            <a:off x="3970299" y="1460219"/>
            <a:ext cx="2887236" cy="492443"/>
          </a:xfrm>
          <a:prstGeom prst="rect">
            <a:avLst/>
          </a:prstGeom>
          <a:noFill/>
        </p:spPr>
        <p:txBody>
          <a:bodyPr wrap="square" rtlCol="0">
            <a:spAutoFit/>
          </a:bodyPr>
          <a:lstStyle/>
          <a:p>
            <a:r>
              <a:rPr lang="en-US" sz="2600"/>
              <a:t>Element</a:t>
            </a:r>
            <a:r>
              <a:rPr lang="en-VN" sz="2600"/>
              <a:t> (phần tử)</a:t>
            </a:r>
          </a:p>
        </p:txBody>
      </p:sp>
      <p:sp>
        <p:nvSpPr>
          <p:cNvPr id="26" name="Rectangle 25">
            <a:extLst>
              <a:ext uri="{FF2B5EF4-FFF2-40B4-BE49-F238E27FC236}">
                <a16:creationId xmlns:a16="http://schemas.microsoft.com/office/drawing/2014/main" id="{0B560CCA-04E0-19D9-620A-DB9DC8C580DD}"/>
              </a:ext>
            </a:extLst>
          </p:cNvPr>
          <p:cNvSpPr/>
          <p:nvPr/>
        </p:nvSpPr>
        <p:spPr>
          <a:xfrm>
            <a:off x="5029200" y="2341755"/>
            <a:ext cx="769434" cy="4687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7" name="Straight Arrow Connector 26">
            <a:extLst>
              <a:ext uri="{FF2B5EF4-FFF2-40B4-BE49-F238E27FC236}">
                <a16:creationId xmlns:a16="http://schemas.microsoft.com/office/drawing/2014/main" id="{3AC06A82-CE4C-D28A-7E93-8B332A25E109}"/>
              </a:ext>
            </a:extLst>
          </p:cNvPr>
          <p:cNvCxnSpPr>
            <a:cxnSpLocks/>
            <a:stCxn id="26" idx="0"/>
            <a:endCxn id="25" idx="2"/>
          </p:cNvCxnSpPr>
          <p:nvPr/>
        </p:nvCxnSpPr>
        <p:spPr>
          <a:xfrm flipV="1">
            <a:off x="5413917" y="1952662"/>
            <a:ext cx="0" cy="38909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35C77FFE-4B15-9BB0-0A83-27C340DC3659}"/>
                  </a:ext>
                </a:extLst>
              </p:cNvPr>
              <p:cNvSpPr txBox="1"/>
              <p:nvPr/>
            </p:nvSpPr>
            <p:spPr>
              <a:xfrm>
                <a:off x="838200" y="4141668"/>
                <a:ext cx="9132518" cy="1692771"/>
              </a:xfrm>
              <a:prstGeom prst="rect">
                <a:avLst/>
              </a:prstGeom>
              <a:noFill/>
            </p:spPr>
            <p:txBody>
              <a:bodyPr wrap="square" rtlCol="0">
                <a:spAutoFit/>
              </a:bodyPr>
              <a:lstStyle/>
              <a:p>
                <a:r>
                  <a:rPr lang="en-VN" sz="2600"/>
                  <a:t>Một số kí hiệu toán:</a:t>
                </a:r>
              </a:p>
              <a:p>
                <a:endParaRPr lang="en-VN" sz="2600"/>
              </a:p>
              <a:p>
                <a14:m>
                  <m:oMath xmlns:m="http://schemas.openxmlformats.org/officeDocument/2006/math">
                    <m:r>
                      <m:rPr>
                        <m:sty m:val="p"/>
                      </m:rPr>
                      <a:rPr lang="en-US" sz="2600" i="1">
                        <a:latin typeface="Cambria Math" panose="02040503050406030204" pitchFamily="18" charset="0"/>
                      </a:rPr>
                      <m:t>d</m:t>
                    </m:r>
                    <m:r>
                      <m:rPr>
                        <m:sty m:val="p"/>
                      </m:rPr>
                      <a:rPr lang="en-VN" sz="2600" i="1">
                        <a:latin typeface="Cambria Math" panose="02040503050406030204" pitchFamily="18" charset="0"/>
                      </a:rPr>
                      <m:t>im</m:t>
                    </m:r>
                    <m:d>
                      <m:dPr>
                        <m:ctrlPr>
                          <a:rPr lang="vi-VN" sz="2600" b="0" i="1">
                            <a:latin typeface="Cambria Math" panose="02040503050406030204" pitchFamily="18" charset="0"/>
                          </a:rPr>
                        </m:ctrlPr>
                      </m:dPr>
                      <m:e>
                        <m:r>
                          <a:rPr lang="vi-VN" sz="2600" i="1">
                            <a:latin typeface="Cambria Math" panose="02040503050406030204" pitchFamily="18" charset="0"/>
                          </a:rPr>
                          <m:t>𝑣</m:t>
                        </m:r>
                      </m:e>
                    </m:d>
                    <m:r>
                      <a:rPr lang="vi-VN" sz="2600" b="0" i="1">
                        <a:latin typeface="Cambria Math" panose="02040503050406030204" pitchFamily="18" charset="0"/>
                      </a:rPr>
                      <m:t>/</m:t>
                    </m:r>
                    <m:d>
                      <m:dPr>
                        <m:begChr m:val="|"/>
                        <m:endChr m:val="|"/>
                        <m:ctrlPr>
                          <a:rPr lang="vi-VN" sz="2600" b="0" i="1">
                            <a:latin typeface="Cambria Math" panose="02040503050406030204" pitchFamily="18" charset="0"/>
                          </a:rPr>
                        </m:ctrlPr>
                      </m:dPr>
                      <m:e>
                        <m:r>
                          <a:rPr lang="vi-VN" sz="2600" i="1">
                            <a:latin typeface="Cambria Math" panose="02040503050406030204" pitchFamily="18" charset="0"/>
                          </a:rPr>
                          <m:t>𝑣</m:t>
                        </m:r>
                      </m:e>
                    </m:d>
                  </m:oMath>
                </a14:m>
                <a:r>
                  <a:rPr lang="en-VN" sz="2600"/>
                  <a:t>: số lượng phần tử / số chiều của </a:t>
                </a:r>
                <a14:m>
                  <m:oMath xmlns:m="http://schemas.openxmlformats.org/officeDocument/2006/math">
                    <m:r>
                      <a:rPr lang="en-VN" sz="2600" i="1">
                        <a:latin typeface="Cambria Math" panose="02040503050406030204" pitchFamily="18" charset="0"/>
                      </a:rPr>
                      <m:t>𝑣</m:t>
                    </m:r>
                  </m:oMath>
                </a14:m>
                <a:endParaRPr lang="en-VN" sz="2600"/>
              </a:p>
              <a:p>
                <a14:m>
                  <m:oMath xmlns:m="http://schemas.openxmlformats.org/officeDocument/2006/math">
                    <m:sSub>
                      <m:sSubPr>
                        <m:ctrlPr>
                          <a:rPr lang="vi-VN" sz="2600" b="0" i="1">
                            <a:latin typeface="Cambria Math" panose="02040503050406030204" pitchFamily="18" charset="0"/>
                          </a:rPr>
                        </m:ctrlPr>
                      </m:sSubPr>
                      <m:e>
                        <m:r>
                          <a:rPr lang="en-US" sz="2600" i="1">
                            <a:latin typeface="Cambria Math" panose="02040503050406030204" pitchFamily="18" charset="0"/>
                          </a:rPr>
                          <m:t>𝑣</m:t>
                        </m:r>
                      </m:e>
                      <m:sub>
                        <m:r>
                          <a:rPr lang="vi-VN" sz="2600" i="1">
                            <a:latin typeface="Cambria Math" panose="02040503050406030204" pitchFamily="18" charset="0"/>
                          </a:rPr>
                          <m:t>𝑖</m:t>
                        </m:r>
                      </m:sub>
                    </m:sSub>
                    <m:r>
                      <a:rPr lang="vi-VN" sz="2600" b="0" i="1">
                        <a:latin typeface="Cambria Math" panose="02040503050406030204" pitchFamily="18" charset="0"/>
                      </a:rPr>
                      <m:t>/</m:t>
                    </m:r>
                    <m:r>
                      <a:rPr lang="vi-VN" sz="2600" i="1">
                        <a:latin typeface="Cambria Math" panose="02040503050406030204" pitchFamily="18" charset="0"/>
                      </a:rPr>
                      <m:t>𝑣</m:t>
                    </m:r>
                    <m:d>
                      <m:dPr>
                        <m:begChr m:val="["/>
                        <m:endChr m:val="]"/>
                        <m:ctrlPr>
                          <a:rPr lang="vi-VN" sz="2600" i="1">
                            <a:latin typeface="Cambria Math" panose="02040503050406030204" pitchFamily="18" charset="0"/>
                          </a:rPr>
                        </m:ctrlPr>
                      </m:dPr>
                      <m:e>
                        <m:r>
                          <a:rPr lang="vi-VN" sz="2600" i="1">
                            <a:latin typeface="Cambria Math" panose="02040503050406030204" pitchFamily="18" charset="0"/>
                          </a:rPr>
                          <m:t>𝑖</m:t>
                        </m:r>
                      </m:e>
                    </m:d>
                    <m:r>
                      <a:rPr lang="vi-VN" sz="2600" b="0" i="1">
                        <a:latin typeface="Cambria Math" panose="02040503050406030204" pitchFamily="18" charset="0"/>
                      </a:rPr>
                      <m:t>/</m:t>
                    </m:r>
                    <m:r>
                      <a:rPr lang="vi-VN" sz="2600" i="1">
                        <a:latin typeface="Cambria Math" panose="02040503050406030204" pitchFamily="18" charset="0"/>
                      </a:rPr>
                      <m:t>𝑣</m:t>
                    </m:r>
                    <m:d>
                      <m:dPr>
                        <m:ctrlPr>
                          <a:rPr lang="vi-VN" sz="2600" b="0" i="1">
                            <a:latin typeface="Cambria Math" panose="02040503050406030204" pitchFamily="18" charset="0"/>
                          </a:rPr>
                        </m:ctrlPr>
                      </m:dPr>
                      <m:e>
                        <m:r>
                          <a:rPr lang="vi-VN" sz="2600" i="1">
                            <a:latin typeface="Cambria Math" panose="02040503050406030204" pitchFamily="18" charset="0"/>
                          </a:rPr>
                          <m:t>𝑖</m:t>
                        </m:r>
                      </m:e>
                    </m:d>
                  </m:oMath>
                </a14:m>
                <a:r>
                  <a:rPr lang="en-VN" sz="2600"/>
                  <a:t>: phần tử thứ </a:t>
                </a:r>
                <a14:m>
                  <m:oMath xmlns:m="http://schemas.openxmlformats.org/officeDocument/2006/math">
                    <m:r>
                      <a:rPr lang="en-US" sz="2600" i="1">
                        <a:latin typeface="Cambria Math" panose="02040503050406030204" pitchFamily="18" charset="0"/>
                      </a:rPr>
                      <m:t>𝑖</m:t>
                    </m:r>
                  </m:oMath>
                </a14:m>
                <a:r>
                  <a:rPr lang="en-US" sz="2600"/>
                  <a:t> thuộc </a:t>
                </a:r>
                <a14:m>
                  <m:oMath xmlns:m="http://schemas.openxmlformats.org/officeDocument/2006/math">
                    <m:r>
                      <a:rPr lang="en-US" sz="2600" i="1">
                        <a:latin typeface="Cambria Math" panose="02040503050406030204" pitchFamily="18" charset="0"/>
                      </a:rPr>
                      <m:t>𝑣</m:t>
                    </m:r>
                  </m:oMath>
                </a14:m>
                <a:endParaRPr lang="en-VN" sz="2600"/>
              </a:p>
            </p:txBody>
          </p:sp>
        </mc:Choice>
        <mc:Fallback>
          <p:sp>
            <p:nvSpPr>
              <p:cNvPr id="31" name="TextBox 30">
                <a:extLst>
                  <a:ext uri="{FF2B5EF4-FFF2-40B4-BE49-F238E27FC236}">
                    <a16:creationId xmlns:a16="http://schemas.microsoft.com/office/drawing/2014/main" id="{35C77FFE-4B15-9BB0-0A83-27C340DC3659}"/>
                  </a:ext>
                </a:extLst>
              </p:cNvPr>
              <p:cNvSpPr txBox="1">
                <a:spLocks noRot="1" noChangeAspect="1" noMove="1" noResize="1" noEditPoints="1" noAdjustHandles="1" noChangeArrowheads="1" noChangeShapeType="1" noTextEdit="1"/>
              </p:cNvSpPr>
              <p:nvPr/>
            </p:nvSpPr>
            <p:spPr>
              <a:xfrm>
                <a:off x="838200" y="4141668"/>
                <a:ext cx="9132518" cy="1692771"/>
              </a:xfrm>
              <a:prstGeom prst="rect">
                <a:avLst/>
              </a:prstGeom>
              <a:blipFill>
                <a:blip r:embed="rId5"/>
                <a:stretch>
                  <a:fillRect l="-1250" t="-2963" b="-8148"/>
                </a:stretch>
              </a:blipFill>
            </p:spPr>
            <p:txBody>
              <a:bodyPr/>
              <a:lstStyle/>
              <a:p>
                <a:r>
                  <a:rPr lang="en-VN">
                    <a:noFill/>
                  </a:rPr>
                  <a:t> </a:t>
                </a:r>
              </a:p>
            </p:txBody>
          </p:sp>
        </mc:Fallback>
      </mc:AlternateContent>
    </p:spTree>
    <p:extLst>
      <p:ext uri="{BB962C8B-B14F-4D97-AF65-F5344CB8AC3E}">
        <p14:creationId xmlns:p14="http://schemas.microsoft.com/office/powerpoint/2010/main" val="2564692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74AA1-F016-1256-E2CD-690DA3922156}"/>
              </a:ext>
            </a:extLst>
          </p:cNvPr>
          <p:cNvSpPr>
            <a:spLocks noGrp="1"/>
          </p:cNvSpPr>
          <p:nvPr>
            <p:ph type="title"/>
          </p:nvPr>
        </p:nvSpPr>
        <p:spPr/>
        <p:txBody>
          <a:bodyPr/>
          <a:lstStyle/>
          <a:p>
            <a:r>
              <a:rPr lang="en-VN"/>
              <a:t>1.3. Feature vector</a:t>
            </a:r>
          </a:p>
        </p:txBody>
      </p:sp>
      <p:sp>
        <p:nvSpPr>
          <p:cNvPr id="3" name="Content Placeholder 2">
            <a:extLst>
              <a:ext uri="{FF2B5EF4-FFF2-40B4-BE49-F238E27FC236}">
                <a16:creationId xmlns:a16="http://schemas.microsoft.com/office/drawing/2014/main" id="{717162D9-B34D-68CE-BE4E-C38C78A2AADA}"/>
              </a:ext>
            </a:extLst>
          </p:cNvPr>
          <p:cNvSpPr>
            <a:spLocks noGrp="1"/>
          </p:cNvSpPr>
          <p:nvPr>
            <p:ph idx="1"/>
          </p:nvPr>
        </p:nvSpPr>
        <p:spPr/>
        <p:txBody>
          <a:bodyPr/>
          <a:lstStyle/>
          <a:p>
            <a:pPr marL="0" indent="0">
              <a:buNone/>
            </a:pPr>
            <a:r>
              <a:rPr lang="en-VN"/>
              <a:t>Feature vector (vector đặc trưng) đơn giản là vector</a:t>
            </a:r>
          </a:p>
        </p:txBody>
      </p:sp>
      <p:sp>
        <p:nvSpPr>
          <p:cNvPr id="4" name="Slide Number Placeholder 3">
            <a:extLst>
              <a:ext uri="{FF2B5EF4-FFF2-40B4-BE49-F238E27FC236}">
                <a16:creationId xmlns:a16="http://schemas.microsoft.com/office/drawing/2014/main" id="{2743446C-A2FE-90FE-D7ED-1644CF4F5670}"/>
              </a:ext>
            </a:extLst>
          </p:cNvPr>
          <p:cNvSpPr>
            <a:spLocks noGrp="1"/>
          </p:cNvSpPr>
          <p:nvPr>
            <p:ph type="sldNum" sz="quarter" idx="12"/>
          </p:nvPr>
        </p:nvSpPr>
        <p:spPr/>
        <p:txBody>
          <a:bodyPr/>
          <a:lstStyle/>
          <a:p>
            <a:fld id="{9663FB4D-4462-1148-A41B-A6D56F6F932D}" type="slidenum">
              <a:t>12</a:t>
            </a:fld>
            <a:endParaRPr lang="en-VN"/>
          </a:p>
        </p:txBody>
      </p:sp>
      <p:graphicFrame>
        <p:nvGraphicFramePr>
          <p:cNvPr id="6" name="Table 5">
            <a:extLst>
              <a:ext uri="{FF2B5EF4-FFF2-40B4-BE49-F238E27FC236}">
                <a16:creationId xmlns:a16="http://schemas.microsoft.com/office/drawing/2014/main" id="{D9F023FE-992D-BDD1-AED8-39C5F5A55CA8}"/>
              </a:ext>
            </a:extLst>
          </p:cNvPr>
          <p:cNvGraphicFramePr>
            <a:graphicFrameLocks noGrp="1"/>
          </p:cNvGraphicFramePr>
          <p:nvPr>
            <p:extLst>
              <p:ext uri="{D42A27DB-BD31-4B8C-83A1-F6EECF244321}">
                <p14:modId xmlns:p14="http://schemas.microsoft.com/office/powerpoint/2010/main" val="2638886369"/>
              </p:ext>
            </p:extLst>
          </p:nvPr>
        </p:nvGraphicFramePr>
        <p:xfrm>
          <a:off x="838200" y="2564661"/>
          <a:ext cx="3437673" cy="3270683"/>
        </p:xfrm>
        <a:graphic>
          <a:graphicData uri="http://schemas.openxmlformats.org/drawingml/2006/table">
            <a:tbl>
              <a:tblPr firstRow="1" bandRow="1">
                <a:tableStyleId>{5940675A-B579-460E-94D1-54222C63F5DA}</a:tableStyleId>
              </a:tblPr>
              <a:tblGrid>
                <a:gridCol w="3437673">
                  <a:extLst>
                    <a:ext uri="{9D8B030D-6E8A-4147-A177-3AD203B41FA5}">
                      <a16:colId xmlns:a16="http://schemas.microsoft.com/office/drawing/2014/main" val="2108448331"/>
                    </a:ext>
                  </a:extLst>
                </a:gridCol>
              </a:tblGrid>
              <a:tr h="594191">
                <a:tc>
                  <a:txBody>
                    <a:bodyPr/>
                    <a:lstStyle/>
                    <a:p>
                      <a:r>
                        <a:rPr lang="en-VN" sz="2800">
                          <a:solidFill>
                            <a:schemeClr val="tx1"/>
                          </a:solidFill>
                        </a:rPr>
                        <a:t>Dữ liệu khách hàng</a:t>
                      </a:r>
                    </a:p>
                  </a:txBody>
                  <a:tcPr anchor="ctr"/>
                </a:tc>
                <a:extLst>
                  <a:ext uri="{0D108BD9-81ED-4DB2-BD59-A6C34878D82A}">
                    <a16:rowId xmlns:a16="http://schemas.microsoft.com/office/drawing/2014/main" val="2830693018"/>
                  </a:ext>
                </a:extLst>
              </a:tr>
              <a:tr h="2676492">
                <a:tc>
                  <a:txBody>
                    <a:bodyPr/>
                    <a:lstStyle/>
                    <a:p>
                      <a:endParaRPr lang="en-VN" sz="2800">
                        <a:solidFill>
                          <a:schemeClr val="tx1"/>
                        </a:solidFill>
                      </a:endParaRPr>
                    </a:p>
                  </a:txBody>
                  <a:tcPr anchor="ctr"/>
                </a:tc>
                <a:extLst>
                  <a:ext uri="{0D108BD9-81ED-4DB2-BD59-A6C34878D82A}">
                    <a16:rowId xmlns:a16="http://schemas.microsoft.com/office/drawing/2014/main" val="4056907567"/>
                  </a:ext>
                </a:extLst>
              </a:tr>
            </a:tbl>
          </a:graphicData>
        </a:graphic>
      </p:graphicFrame>
      <p:sp>
        <p:nvSpPr>
          <p:cNvPr id="7" name="TextBox 6">
            <a:extLst>
              <a:ext uri="{FF2B5EF4-FFF2-40B4-BE49-F238E27FC236}">
                <a16:creationId xmlns:a16="http://schemas.microsoft.com/office/drawing/2014/main" id="{19E613F6-35A3-CB81-24D6-67BA1A67E147}"/>
              </a:ext>
            </a:extLst>
          </p:cNvPr>
          <p:cNvSpPr txBox="1"/>
          <p:nvPr/>
        </p:nvSpPr>
        <p:spPr>
          <a:xfrm>
            <a:off x="838200" y="3207416"/>
            <a:ext cx="2635410" cy="2492990"/>
          </a:xfrm>
          <a:prstGeom prst="rect">
            <a:avLst/>
          </a:prstGeom>
          <a:noFill/>
        </p:spPr>
        <p:txBody>
          <a:bodyPr wrap="square">
            <a:spAutoFit/>
          </a:bodyPr>
          <a:lstStyle/>
          <a:p>
            <a:r>
              <a:rPr lang="en-VN" sz="2600">
                <a:solidFill>
                  <a:schemeClr val="tx1"/>
                </a:solidFill>
              </a:rPr>
              <a:t>Tên</a:t>
            </a:r>
          </a:p>
          <a:p>
            <a:r>
              <a:rPr lang="en-VN" sz="2600">
                <a:solidFill>
                  <a:schemeClr val="tx1"/>
                </a:solidFill>
              </a:rPr>
              <a:t>Tuổi</a:t>
            </a:r>
          </a:p>
          <a:p>
            <a:r>
              <a:rPr lang="en-VN" sz="2600">
                <a:solidFill>
                  <a:schemeClr val="tx1"/>
                </a:solidFill>
              </a:rPr>
              <a:t>Giới tính</a:t>
            </a:r>
          </a:p>
          <a:p>
            <a:r>
              <a:rPr lang="en-VN" sz="2600">
                <a:solidFill>
                  <a:schemeClr val="tx1"/>
                </a:solidFill>
              </a:rPr>
              <a:t>Số điện thoại</a:t>
            </a:r>
          </a:p>
          <a:p>
            <a:r>
              <a:rPr lang="en-VN" sz="2600">
                <a:solidFill>
                  <a:schemeClr val="tx1"/>
                </a:solidFill>
              </a:rPr>
              <a:t>Địa chỉ</a:t>
            </a:r>
          </a:p>
          <a:p>
            <a:r>
              <a:rPr lang="en-VN" sz="2600">
                <a:solidFill>
                  <a:schemeClr val="tx1"/>
                </a:solidFill>
              </a:rPr>
              <a:t>…</a:t>
            </a:r>
          </a:p>
        </p:txBody>
      </p:sp>
      <p:sp>
        <p:nvSpPr>
          <p:cNvPr id="8" name="TextBox 7">
            <a:extLst>
              <a:ext uri="{FF2B5EF4-FFF2-40B4-BE49-F238E27FC236}">
                <a16:creationId xmlns:a16="http://schemas.microsoft.com/office/drawing/2014/main" id="{3C04E863-0090-0E70-E61A-5F151AAF529E}"/>
              </a:ext>
            </a:extLst>
          </p:cNvPr>
          <p:cNvSpPr txBox="1"/>
          <p:nvPr/>
        </p:nvSpPr>
        <p:spPr>
          <a:xfrm>
            <a:off x="4422731" y="3207416"/>
            <a:ext cx="4082441" cy="2492990"/>
          </a:xfrm>
          <a:prstGeom prst="rect">
            <a:avLst/>
          </a:prstGeom>
          <a:noFill/>
        </p:spPr>
        <p:txBody>
          <a:bodyPr wrap="square">
            <a:spAutoFit/>
          </a:bodyPr>
          <a:lstStyle/>
          <a:p>
            <a:r>
              <a:rPr lang="en-VN" sz="2600"/>
              <a:t>Vũ Tuấn Hải</a:t>
            </a:r>
            <a:endParaRPr lang="en-VN" sz="2600">
              <a:solidFill>
                <a:schemeClr val="tx1"/>
              </a:solidFill>
            </a:endParaRPr>
          </a:p>
          <a:p>
            <a:r>
              <a:rPr lang="en-VN" sz="2600">
                <a:solidFill>
                  <a:schemeClr val="tx1"/>
                </a:solidFill>
              </a:rPr>
              <a:t>27</a:t>
            </a:r>
          </a:p>
          <a:p>
            <a:r>
              <a:rPr lang="en-VN" sz="2600"/>
              <a:t>Nam</a:t>
            </a:r>
            <a:endParaRPr lang="en-VN" sz="2600">
              <a:solidFill>
                <a:schemeClr val="tx1"/>
              </a:solidFill>
            </a:endParaRPr>
          </a:p>
          <a:p>
            <a:r>
              <a:rPr lang="en-VN" sz="2600">
                <a:solidFill>
                  <a:schemeClr val="tx1"/>
                </a:solidFill>
              </a:rPr>
              <a:t>0814822188</a:t>
            </a:r>
          </a:p>
          <a:p>
            <a:r>
              <a:rPr lang="en-US" sz="2600">
                <a:solidFill>
                  <a:schemeClr val="tx1"/>
                </a:solidFill>
              </a:rPr>
              <a:t>P</a:t>
            </a:r>
            <a:r>
              <a:rPr lang="en-VN" sz="2600">
                <a:solidFill>
                  <a:schemeClr val="tx1"/>
                </a:solidFill>
              </a:rPr>
              <a:t>hường Đông Hoà, TPHCM</a:t>
            </a:r>
          </a:p>
          <a:p>
            <a:r>
              <a:rPr lang="en-VN" sz="2600">
                <a:solidFill>
                  <a:schemeClr val="tx1"/>
                </a:solidFill>
              </a:rPr>
              <a:t>…</a:t>
            </a:r>
          </a:p>
        </p:txBody>
      </p:sp>
      <p:sp>
        <p:nvSpPr>
          <p:cNvPr id="9" name="TextBox 8">
            <a:extLst>
              <a:ext uri="{FF2B5EF4-FFF2-40B4-BE49-F238E27FC236}">
                <a16:creationId xmlns:a16="http://schemas.microsoft.com/office/drawing/2014/main" id="{87009994-2103-9E11-E797-23C90A43C822}"/>
              </a:ext>
            </a:extLst>
          </p:cNvPr>
          <p:cNvSpPr txBox="1"/>
          <p:nvPr/>
        </p:nvSpPr>
        <p:spPr>
          <a:xfrm>
            <a:off x="9025526" y="3207416"/>
            <a:ext cx="2485894" cy="2492990"/>
          </a:xfrm>
          <a:prstGeom prst="rect">
            <a:avLst/>
          </a:prstGeom>
          <a:noFill/>
        </p:spPr>
        <p:txBody>
          <a:bodyPr wrap="square">
            <a:spAutoFit/>
          </a:bodyPr>
          <a:lstStyle/>
          <a:p>
            <a:r>
              <a:rPr lang="en-US" sz="2600"/>
              <a:t>56 C5 A9 20 …</a:t>
            </a:r>
          </a:p>
          <a:p>
            <a:r>
              <a:rPr lang="en-VN" sz="2600">
                <a:solidFill>
                  <a:schemeClr val="tx1"/>
                </a:solidFill>
              </a:rPr>
              <a:t>27</a:t>
            </a:r>
          </a:p>
          <a:p>
            <a:r>
              <a:rPr lang="en-VN" sz="2600"/>
              <a:t>1</a:t>
            </a:r>
            <a:endParaRPr lang="en-VN" sz="2600">
              <a:solidFill>
                <a:schemeClr val="tx1"/>
              </a:solidFill>
            </a:endParaRPr>
          </a:p>
          <a:p>
            <a:r>
              <a:rPr lang="en-VN" sz="2600">
                <a:solidFill>
                  <a:schemeClr val="tx1"/>
                </a:solidFill>
              </a:rPr>
              <a:t>0814822188</a:t>
            </a:r>
          </a:p>
          <a:p>
            <a:r>
              <a:rPr lang="en-US" sz="2600"/>
              <a:t>075308</a:t>
            </a:r>
          </a:p>
          <a:p>
            <a:r>
              <a:rPr lang="en-US" sz="2600">
                <a:solidFill>
                  <a:schemeClr val="tx1"/>
                </a:solidFill>
              </a:rPr>
              <a:t>…</a:t>
            </a:r>
            <a:endParaRPr lang="en-VN" sz="2600">
              <a:solidFill>
                <a:schemeClr val="tx1"/>
              </a:solidFill>
            </a:endParaRPr>
          </a:p>
        </p:txBody>
      </p:sp>
      <p:cxnSp>
        <p:nvCxnSpPr>
          <p:cNvPr id="11" name="Straight Arrow Connector 10">
            <a:extLst>
              <a:ext uri="{FF2B5EF4-FFF2-40B4-BE49-F238E27FC236}">
                <a16:creationId xmlns:a16="http://schemas.microsoft.com/office/drawing/2014/main" id="{993AC9F8-8E5C-FD97-3FF4-0AD39F52BD32}"/>
              </a:ext>
            </a:extLst>
          </p:cNvPr>
          <p:cNvCxnSpPr>
            <a:endCxn id="8" idx="1"/>
          </p:cNvCxnSpPr>
          <p:nvPr/>
        </p:nvCxnSpPr>
        <p:spPr>
          <a:xfrm>
            <a:off x="3473610" y="4453911"/>
            <a:ext cx="949121"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93780D9C-FE2C-18CD-A425-16DFD9AA8789}"/>
              </a:ext>
            </a:extLst>
          </p:cNvPr>
          <p:cNvCxnSpPr>
            <a:cxnSpLocks/>
            <a:stCxn id="8" idx="3"/>
            <a:endCxn id="9" idx="1"/>
          </p:cNvCxnSpPr>
          <p:nvPr/>
        </p:nvCxnSpPr>
        <p:spPr>
          <a:xfrm>
            <a:off x="8505172" y="4453911"/>
            <a:ext cx="520354"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sp>
        <p:nvSpPr>
          <p:cNvPr id="19" name="Double Bracket 18">
            <a:extLst>
              <a:ext uri="{FF2B5EF4-FFF2-40B4-BE49-F238E27FC236}">
                <a16:creationId xmlns:a16="http://schemas.microsoft.com/office/drawing/2014/main" id="{0FBDADB3-9B7B-ED0D-94ED-0BE8A5D1FE6D}"/>
              </a:ext>
            </a:extLst>
          </p:cNvPr>
          <p:cNvSpPr/>
          <p:nvPr/>
        </p:nvSpPr>
        <p:spPr>
          <a:xfrm>
            <a:off x="8987948" y="3133323"/>
            <a:ext cx="2272952" cy="2627928"/>
          </a:xfrm>
          <a:prstGeom prst="bracketPair">
            <a:avLst>
              <a:gd name="adj" fmla="val 1115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VN"/>
          </a:p>
        </p:txBody>
      </p:sp>
      <p:sp>
        <p:nvSpPr>
          <p:cNvPr id="20" name="TextBox 19">
            <a:extLst>
              <a:ext uri="{FF2B5EF4-FFF2-40B4-BE49-F238E27FC236}">
                <a16:creationId xmlns:a16="http://schemas.microsoft.com/office/drawing/2014/main" id="{FBBB233C-67E4-9E15-9A74-4B65E00BE02D}"/>
              </a:ext>
            </a:extLst>
          </p:cNvPr>
          <p:cNvSpPr txBox="1"/>
          <p:nvPr/>
        </p:nvSpPr>
        <p:spPr>
          <a:xfrm>
            <a:off x="2308082" y="3182778"/>
            <a:ext cx="1967791" cy="492443"/>
          </a:xfrm>
          <a:prstGeom prst="rect">
            <a:avLst/>
          </a:prstGeom>
          <a:noFill/>
        </p:spPr>
        <p:txBody>
          <a:bodyPr wrap="square">
            <a:spAutoFit/>
          </a:bodyPr>
          <a:lstStyle/>
          <a:p>
            <a:r>
              <a:rPr lang="en-VN" sz="2600">
                <a:solidFill>
                  <a:srgbClr val="FF0000"/>
                </a:solidFill>
              </a:rPr>
              <a:t>1 đặc trưng</a:t>
            </a:r>
          </a:p>
        </p:txBody>
      </p:sp>
      <p:cxnSp>
        <p:nvCxnSpPr>
          <p:cNvPr id="22" name="Straight Arrow Connector 21">
            <a:extLst>
              <a:ext uri="{FF2B5EF4-FFF2-40B4-BE49-F238E27FC236}">
                <a16:creationId xmlns:a16="http://schemas.microsoft.com/office/drawing/2014/main" id="{9AA69792-F77D-A742-0BA2-E30034737AD4}"/>
              </a:ext>
            </a:extLst>
          </p:cNvPr>
          <p:cNvCxnSpPr>
            <a:cxnSpLocks/>
            <a:endCxn id="20" idx="1"/>
          </p:cNvCxnSpPr>
          <p:nvPr/>
        </p:nvCxnSpPr>
        <p:spPr>
          <a:xfrm>
            <a:off x="1565753" y="3429000"/>
            <a:ext cx="742329" cy="0"/>
          </a:xfrm>
          <a:prstGeom prst="straightConnector1">
            <a:avLst/>
          </a:prstGeom>
          <a:ln>
            <a:solidFill>
              <a:srgbClr val="FF0000"/>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95219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E7966-94FF-F029-795F-9CC71E87F965}"/>
              </a:ext>
            </a:extLst>
          </p:cNvPr>
          <p:cNvSpPr>
            <a:spLocks noGrp="1"/>
          </p:cNvSpPr>
          <p:nvPr>
            <p:ph type="title"/>
          </p:nvPr>
        </p:nvSpPr>
        <p:spPr/>
        <p:txBody>
          <a:bodyPr/>
          <a:lstStyle/>
          <a:p>
            <a:r>
              <a:rPr lang="en-VN"/>
              <a:t>1.4. Vector space </a:t>
            </a:r>
          </a:p>
        </p:txBody>
      </p:sp>
      <p:sp>
        <p:nvSpPr>
          <p:cNvPr id="4" name="Slide Number Placeholder 3">
            <a:extLst>
              <a:ext uri="{FF2B5EF4-FFF2-40B4-BE49-F238E27FC236}">
                <a16:creationId xmlns:a16="http://schemas.microsoft.com/office/drawing/2014/main" id="{E9FC1AF6-062A-8BD5-CEC4-5D8F87CAECF1}"/>
              </a:ext>
            </a:extLst>
          </p:cNvPr>
          <p:cNvSpPr>
            <a:spLocks noGrp="1"/>
          </p:cNvSpPr>
          <p:nvPr>
            <p:ph type="sldNum" sz="quarter" idx="12"/>
          </p:nvPr>
        </p:nvSpPr>
        <p:spPr/>
        <p:txBody>
          <a:bodyPr/>
          <a:lstStyle/>
          <a:p>
            <a:fld id="{9663FB4D-4462-1148-A41B-A6D56F6F932D}" type="slidenum">
              <a:t>13</a:t>
            </a:fld>
            <a:endParaRPr lang="en-VN"/>
          </a:p>
        </p:txBody>
      </p:sp>
      <p:graphicFrame>
        <p:nvGraphicFramePr>
          <p:cNvPr id="5" name="Table 4">
            <a:extLst>
              <a:ext uri="{FF2B5EF4-FFF2-40B4-BE49-F238E27FC236}">
                <a16:creationId xmlns:a16="http://schemas.microsoft.com/office/drawing/2014/main" id="{8FD5876C-CE02-7947-1D59-635DFFCF9A42}"/>
              </a:ext>
            </a:extLst>
          </p:cNvPr>
          <p:cNvGraphicFramePr>
            <a:graphicFrameLocks noGrp="1"/>
          </p:cNvGraphicFramePr>
          <p:nvPr>
            <p:extLst>
              <p:ext uri="{D42A27DB-BD31-4B8C-83A1-F6EECF244321}">
                <p14:modId xmlns:p14="http://schemas.microsoft.com/office/powerpoint/2010/main" val="2303350969"/>
              </p:ext>
            </p:extLst>
          </p:nvPr>
        </p:nvGraphicFramePr>
        <p:xfrm>
          <a:off x="1056000" y="1681475"/>
          <a:ext cx="5040000" cy="5040000"/>
        </p:xfrm>
        <a:graphic>
          <a:graphicData uri="http://schemas.openxmlformats.org/drawingml/2006/table">
            <a:tbl>
              <a:tblPr firstRow="1" bandRow="1">
                <a:tableStyleId>{5940675A-B579-460E-94D1-54222C63F5DA}</a:tableStyleId>
              </a:tblPr>
              <a:tblGrid>
                <a:gridCol w="630000">
                  <a:extLst>
                    <a:ext uri="{9D8B030D-6E8A-4147-A177-3AD203B41FA5}">
                      <a16:colId xmlns:a16="http://schemas.microsoft.com/office/drawing/2014/main" val="3585201736"/>
                    </a:ext>
                  </a:extLst>
                </a:gridCol>
                <a:gridCol w="630000">
                  <a:extLst>
                    <a:ext uri="{9D8B030D-6E8A-4147-A177-3AD203B41FA5}">
                      <a16:colId xmlns:a16="http://schemas.microsoft.com/office/drawing/2014/main" val="90738605"/>
                    </a:ext>
                  </a:extLst>
                </a:gridCol>
                <a:gridCol w="630000">
                  <a:extLst>
                    <a:ext uri="{9D8B030D-6E8A-4147-A177-3AD203B41FA5}">
                      <a16:colId xmlns:a16="http://schemas.microsoft.com/office/drawing/2014/main" val="7944393"/>
                    </a:ext>
                  </a:extLst>
                </a:gridCol>
                <a:gridCol w="630000">
                  <a:extLst>
                    <a:ext uri="{9D8B030D-6E8A-4147-A177-3AD203B41FA5}">
                      <a16:colId xmlns:a16="http://schemas.microsoft.com/office/drawing/2014/main" val="3692114308"/>
                    </a:ext>
                  </a:extLst>
                </a:gridCol>
                <a:gridCol w="630000">
                  <a:extLst>
                    <a:ext uri="{9D8B030D-6E8A-4147-A177-3AD203B41FA5}">
                      <a16:colId xmlns:a16="http://schemas.microsoft.com/office/drawing/2014/main" val="883693823"/>
                    </a:ext>
                  </a:extLst>
                </a:gridCol>
                <a:gridCol w="630000">
                  <a:extLst>
                    <a:ext uri="{9D8B030D-6E8A-4147-A177-3AD203B41FA5}">
                      <a16:colId xmlns:a16="http://schemas.microsoft.com/office/drawing/2014/main" val="3559820191"/>
                    </a:ext>
                  </a:extLst>
                </a:gridCol>
                <a:gridCol w="630000">
                  <a:extLst>
                    <a:ext uri="{9D8B030D-6E8A-4147-A177-3AD203B41FA5}">
                      <a16:colId xmlns:a16="http://schemas.microsoft.com/office/drawing/2014/main" val="2795689282"/>
                    </a:ext>
                  </a:extLst>
                </a:gridCol>
                <a:gridCol w="630000">
                  <a:extLst>
                    <a:ext uri="{9D8B030D-6E8A-4147-A177-3AD203B41FA5}">
                      <a16:colId xmlns:a16="http://schemas.microsoft.com/office/drawing/2014/main" val="1971065981"/>
                    </a:ext>
                  </a:extLst>
                </a:gridCol>
              </a:tblGrid>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364711039"/>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946622004"/>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1658022670"/>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3564861562"/>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3858491976"/>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4246757713"/>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119722052"/>
                  </a:ext>
                </a:extLst>
              </a:tr>
              <a:tr h="630000">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tc>
                  <a:txBody>
                    <a:bodyPr/>
                    <a:lstStyle/>
                    <a:p>
                      <a:endParaRPr lang="en-VN"/>
                    </a:p>
                  </a:txBody>
                  <a:tcPr/>
                </a:tc>
                <a:extLst>
                  <a:ext uri="{0D108BD9-81ED-4DB2-BD59-A6C34878D82A}">
                    <a16:rowId xmlns:a16="http://schemas.microsoft.com/office/drawing/2014/main" val="1989482718"/>
                  </a:ext>
                </a:extLst>
              </a:tr>
            </a:tbl>
          </a:graphicData>
        </a:graphic>
      </p:graphicFrame>
      <p:cxnSp>
        <p:nvCxnSpPr>
          <p:cNvPr id="7" name="Straight Arrow Connector 6">
            <a:extLst>
              <a:ext uri="{FF2B5EF4-FFF2-40B4-BE49-F238E27FC236}">
                <a16:creationId xmlns:a16="http://schemas.microsoft.com/office/drawing/2014/main" id="{7DBB0C1E-76B5-133D-1B1C-7B2D726E2B0F}"/>
              </a:ext>
            </a:extLst>
          </p:cNvPr>
          <p:cNvCxnSpPr>
            <a:cxnSpLocks/>
            <a:stCxn id="5" idx="2"/>
          </p:cNvCxnSpPr>
          <p:nvPr/>
        </p:nvCxnSpPr>
        <p:spPr>
          <a:xfrm flipV="1">
            <a:off x="3576000" y="1415441"/>
            <a:ext cx="0" cy="5306034"/>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B7A800F3-1507-4E3A-F310-98A533DF3D70}"/>
              </a:ext>
            </a:extLst>
          </p:cNvPr>
          <p:cNvCxnSpPr>
            <a:cxnSpLocks/>
            <a:stCxn id="5" idx="1"/>
          </p:cNvCxnSpPr>
          <p:nvPr/>
        </p:nvCxnSpPr>
        <p:spPr>
          <a:xfrm>
            <a:off x="1056000" y="4201475"/>
            <a:ext cx="5357326" cy="0"/>
          </a:xfrm>
          <a:prstGeom prst="straightConnector1">
            <a:avLst/>
          </a:prstGeom>
          <a:ln w="7620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3A9BB51F-71D3-748C-70EA-FEAAE6DB57DA}"/>
                  </a:ext>
                </a:extLst>
              </p:cNvPr>
              <p:cNvSpPr txBox="1"/>
              <p:nvPr/>
            </p:nvSpPr>
            <p:spPr>
              <a:xfrm>
                <a:off x="6560634" y="1681475"/>
                <a:ext cx="3322402" cy="75687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vi-VN" sz="2600" b="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𝑣</m:t>
                          </m:r>
                        </m:e>
                        <m:sub>
                          <m:r>
                            <a:rPr lang="vi-VN" sz="2600" b="0" i="1">
                              <a:solidFill>
                                <a:srgbClr val="FF0000"/>
                              </a:solidFill>
                              <a:latin typeface="Cambria Math" panose="02040503050406030204" pitchFamily="18" charset="0"/>
                            </a:rPr>
                            <m:t>1</m:t>
                          </m:r>
                        </m:sub>
                      </m:sSub>
                      <m:r>
                        <a:rPr lang="vi-VN" sz="2600" i="1">
                          <a:solidFill>
                            <a:srgbClr val="FF0000"/>
                          </a:solidFill>
                          <a:latin typeface="Cambria Math" panose="02040503050406030204" pitchFamily="18" charset="0"/>
                        </a:rPr>
                        <m:t>=</m:t>
                      </m:r>
                      <m:d>
                        <m:dPr>
                          <m:begChr m:val="["/>
                          <m:endChr m:val="]"/>
                          <m:ctrlPr>
                            <a:rPr lang="vi-VN" sz="2600" b="0" i="1">
                              <a:solidFill>
                                <a:srgbClr val="FF0000"/>
                              </a:solidFill>
                              <a:latin typeface="Cambria Math" panose="02040503050406030204" pitchFamily="18" charset="0"/>
                            </a:rPr>
                          </m:ctrlPr>
                        </m:dPr>
                        <m:e>
                          <m:m>
                            <m:mPr>
                              <m:mcs>
                                <m:mc>
                                  <m:mcPr>
                                    <m:count m:val="1"/>
                                    <m:mcJc m:val="center"/>
                                  </m:mcPr>
                                </m:mc>
                              </m:mcs>
                              <m:ctrlPr>
                                <a:rPr lang="vi-VN" sz="2600" b="0" i="1">
                                  <a:solidFill>
                                    <a:srgbClr val="FF0000"/>
                                  </a:solidFill>
                                  <a:latin typeface="Cambria Math" panose="02040503050406030204" pitchFamily="18" charset="0"/>
                                </a:rPr>
                              </m:ctrlPr>
                            </m:mPr>
                            <m:mr>
                              <m:e>
                                <m:r>
                                  <m:rPr>
                                    <m:brk m:alnAt="7"/>
                                  </m:rPr>
                                  <a:rPr lang="vi-VN" sz="2600" b="0" i="1">
                                    <a:solidFill>
                                      <a:srgbClr val="FF0000"/>
                                    </a:solidFill>
                                    <a:latin typeface="Cambria Math" panose="02040503050406030204" pitchFamily="18" charset="0"/>
                                  </a:rPr>
                                  <m:t>1</m:t>
                                </m:r>
                              </m:e>
                            </m:mr>
                            <m:mr>
                              <m:e>
                                <m:r>
                                  <a:rPr lang="vi-VN" sz="2600" b="0" i="1">
                                    <a:solidFill>
                                      <a:srgbClr val="FF0000"/>
                                    </a:solidFill>
                                    <a:latin typeface="Cambria Math" panose="02040503050406030204" pitchFamily="18" charset="0"/>
                                  </a:rPr>
                                  <m:t>2</m:t>
                                </m:r>
                              </m:e>
                            </m:mr>
                          </m:m>
                        </m:e>
                      </m:d>
                      <m:r>
                        <a:rPr lang="vi-VN" sz="2600" b="0" i="1">
                          <a:solidFill>
                            <a:schemeClr val="tx1"/>
                          </a:solidFill>
                          <a:latin typeface="Cambria Math" panose="02040503050406030204" pitchFamily="18" charset="0"/>
                        </a:rPr>
                        <m:t>,</m:t>
                      </m:r>
                      <m:sSub>
                        <m:sSubPr>
                          <m:ctrlPr>
                            <a:rPr lang="vi-VN" sz="2600" b="0" i="1">
                              <a:solidFill>
                                <a:srgbClr val="0070C0"/>
                              </a:solidFill>
                              <a:latin typeface="Cambria Math" panose="02040503050406030204" pitchFamily="18" charset="0"/>
                            </a:rPr>
                          </m:ctrlPr>
                        </m:sSubPr>
                        <m:e>
                          <m:r>
                            <a:rPr lang="vi-VN" sz="2600" i="1">
                              <a:solidFill>
                                <a:srgbClr val="0070C0"/>
                              </a:solidFill>
                              <a:latin typeface="Cambria Math" panose="02040503050406030204" pitchFamily="18" charset="0"/>
                            </a:rPr>
                            <m:t>𝑣</m:t>
                          </m:r>
                        </m:e>
                        <m:sub>
                          <m:r>
                            <a:rPr lang="vi-VN" sz="2600" b="0" i="1">
                              <a:solidFill>
                                <a:srgbClr val="0070C0"/>
                              </a:solidFill>
                              <a:latin typeface="Cambria Math" panose="02040503050406030204" pitchFamily="18" charset="0"/>
                            </a:rPr>
                            <m:t>2</m:t>
                          </m:r>
                        </m:sub>
                      </m:sSub>
                      <m:r>
                        <a:rPr lang="vi-VN" sz="2600" b="0" i="1">
                          <a:solidFill>
                            <a:srgbClr val="0070C0"/>
                          </a:solidFill>
                          <a:latin typeface="Cambria Math" panose="02040503050406030204" pitchFamily="18" charset="0"/>
                        </a:rPr>
                        <m:t>=</m:t>
                      </m:r>
                      <m:d>
                        <m:dPr>
                          <m:begChr m:val="["/>
                          <m:endChr m:val="]"/>
                          <m:ctrlPr>
                            <a:rPr lang="vi-VN" sz="2600" b="0" i="1">
                              <a:solidFill>
                                <a:srgbClr val="0070C0"/>
                              </a:solidFill>
                              <a:latin typeface="Cambria Math" panose="02040503050406030204" pitchFamily="18" charset="0"/>
                            </a:rPr>
                          </m:ctrlPr>
                        </m:dPr>
                        <m:e>
                          <m:m>
                            <m:mPr>
                              <m:mcs>
                                <m:mc>
                                  <m:mcPr>
                                    <m:count m:val="1"/>
                                    <m:mcJc m:val="center"/>
                                  </m:mcPr>
                                </m:mc>
                              </m:mcs>
                              <m:ctrlPr>
                                <a:rPr lang="vi-VN" sz="2600" b="0" i="1">
                                  <a:solidFill>
                                    <a:srgbClr val="0070C0"/>
                                  </a:solidFill>
                                  <a:latin typeface="Cambria Math" panose="02040503050406030204" pitchFamily="18" charset="0"/>
                                </a:rPr>
                              </m:ctrlPr>
                            </m:mPr>
                            <m:mr>
                              <m:e>
                                <m:r>
                                  <m:rPr>
                                    <m:brk m:alnAt="7"/>
                                  </m:rPr>
                                  <a:rPr lang="vi-VN" sz="2600" b="0" i="1">
                                    <a:solidFill>
                                      <a:srgbClr val="0070C0"/>
                                    </a:solidFill>
                                    <a:latin typeface="Cambria Math" panose="02040503050406030204" pitchFamily="18" charset="0"/>
                                  </a:rPr>
                                  <m:t>−1</m:t>
                                </m:r>
                              </m:e>
                            </m:mr>
                            <m:mr>
                              <m:e>
                                <m:r>
                                  <a:rPr lang="vi-VN" sz="2600" b="0" i="1">
                                    <a:solidFill>
                                      <a:srgbClr val="0070C0"/>
                                    </a:solidFill>
                                    <a:latin typeface="Cambria Math" panose="02040503050406030204" pitchFamily="18" charset="0"/>
                                  </a:rPr>
                                  <m:t>1</m:t>
                                </m:r>
                              </m:e>
                            </m:mr>
                          </m:m>
                        </m:e>
                      </m:d>
                    </m:oMath>
                  </m:oMathPara>
                </a14:m>
                <a:endParaRPr lang="en-VN" sz="2600" i="1">
                  <a:solidFill>
                    <a:schemeClr val="tx1"/>
                  </a:solidFill>
                </a:endParaRPr>
              </a:p>
            </p:txBody>
          </p:sp>
        </mc:Choice>
        <mc:Fallback>
          <p:sp>
            <p:nvSpPr>
              <p:cNvPr id="14" name="TextBox 13">
                <a:extLst>
                  <a:ext uri="{FF2B5EF4-FFF2-40B4-BE49-F238E27FC236}">
                    <a16:creationId xmlns:a16="http://schemas.microsoft.com/office/drawing/2014/main" id="{3A9BB51F-71D3-748C-70EA-FEAAE6DB57DA}"/>
                  </a:ext>
                </a:extLst>
              </p:cNvPr>
              <p:cNvSpPr txBox="1">
                <a:spLocks noRot="1" noChangeAspect="1" noMove="1" noResize="1" noEditPoints="1" noAdjustHandles="1" noChangeArrowheads="1" noChangeShapeType="1" noTextEdit="1"/>
              </p:cNvSpPr>
              <p:nvPr/>
            </p:nvSpPr>
            <p:spPr>
              <a:xfrm>
                <a:off x="6560634" y="1681475"/>
                <a:ext cx="3322402" cy="756874"/>
              </a:xfrm>
              <a:prstGeom prst="rect">
                <a:avLst/>
              </a:prstGeom>
              <a:blipFill>
                <a:blip r:embed="rId3"/>
                <a:stretch>
                  <a:fillRect b="-8333"/>
                </a:stretch>
              </a:blipFill>
            </p:spPr>
            <p:txBody>
              <a:bodyPr/>
              <a:lstStyle/>
              <a:p>
                <a:r>
                  <a:rPr lang="en-VN">
                    <a:noFill/>
                  </a:rPr>
                  <a:t> </a:t>
                </a:r>
              </a:p>
            </p:txBody>
          </p:sp>
        </mc:Fallback>
      </mc:AlternateContent>
      <p:sp>
        <p:nvSpPr>
          <p:cNvPr id="15" name="Oval 14">
            <a:extLst>
              <a:ext uri="{FF2B5EF4-FFF2-40B4-BE49-F238E27FC236}">
                <a16:creationId xmlns:a16="http://schemas.microsoft.com/office/drawing/2014/main" id="{4812DC22-AC8D-9DB9-5ECD-33F244C40C37}"/>
              </a:ext>
            </a:extLst>
          </p:cNvPr>
          <p:cNvSpPr>
            <a:spLocks noChangeAspect="1"/>
          </p:cNvSpPr>
          <p:nvPr/>
        </p:nvSpPr>
        <p:spPr>
          <a:xfrm>
            <a:off x="4083485" y="2805830"/>
            <a:ext cx="288000" cy="28800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6" name="Oval 15">
            <a:extLst>
              <a:ext uri="{FF2B5EF4-FFF2-40B4-BE49-F238E27FC236}">
                <a16:creationId xmlns:a16="http://schemas.microsoft.com/office/drawing/2014/main" id="{175526F3-0DA1-B9BC-7D91-FE8656FC78E8}"/>
              </a:ext>
            </a:extLst>
          </p:cNvPr>
          <p:cNvSpPr>
            <a:spLocks noChangeAspect="1"/>
          </p:cNvSpPr>
          <p:nvPr/>
        </p:nvSpPr>
        <p:spPr>
          <a:xfrm>
            <a:off x="2823267" y="3399300"/>
            <a:ext cx="288000" cy="288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D4D8BAC3-99A0-59E5-DBC5-0E7ED88C1811}"/>
                  </a:ext>
                </a:extLst>
              </p:cNvPr>
              <p:cNvSpPr txBox="1"/>
              <p:nvPr/>
            </p:nvSpPr>
            <p:spPr>
              <a:xfrm>
                <a:off x="4186695" y="2456470"/>
                <a:ext cx="544880" cy="400110"/>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vi-VN" sz="2600" b="0" i="1">
                              <a:solidFill>
                                <a:srgbClr val="FF0000"/>
                              </a:solidFill>
                              <a:latin typeface="Cambria Math" panose="02040503050406030204" pitchFamily="18" charset="0"/>
                            </a:rPr>
                          </m:ctrlPr>
                        </m:sSubPr>
                        <m:e>
                          <m:r>
                            <a:rPr lang="en-US" sz="2600" i="1">
                              <a:solidFill>
                                <a:srgbClr val="FF0000"/>
                              </a:solidFill>
                              <a:latin typeface="Cambria Math" panose="02040503050406030204" pitchFamily="18" charset="0"/>
                            </a:rPr>
                            <m:t>𝑣</m:t>
                          </m:r>
                        </m:e>
                        <m:sub>
                          <m:r>
                            <a:rPr lang="vi-VN" sz="2600" b="0" i="1">
                              <a:solidFill>
                                <a:srgbClr val="FF0000"/>
                              </a:solidFill>
                              <a:latin typeface="Cambria Math" panose="02040503050406030204" pitchFamily="18" charset="0"/>
                            </a:rPr>
                            <m:t>1</m:t>
                          </m:r>
                        </m:sub>
                      </m:sSub>
                    </m:oMath>
                  </m:oMathPara>
                </a14:m>
                <a:endParaRPr lang="en-VN" sz="2600" i="1">
                  <a:solidFill>
                    <a:srgbClr val="FF0000"/>
                  </a:solidFill>
                </a:endParaRPr>
              </a:p>
            </p:txBody>
          </p:sp>
        </mc:Choice>
        <mc:Fallback>
          <p:sp>
            <p:nvSpPr>
              <p:cNvPr id="17" name="TextBox 16">
                <a:extLst>
                  <a:ext uri="{FF2B5EF4-FFF2-40B4-BE49-F238E27FC236}">
                    <a16:creationId xmlns:a16="http://schemas.microsoft.com/office/drawing/2014/main" id="{D4D8BAC3-99A0-59E5-DBC5-0E7ED88C1811}"/>
                  </a:ext>
                </a:extLst>
              </p:cNvPr>
              <p:cNvSpPr txBox="1">
                <a:spLocks noRot="1" noChangeAspect="1" noMove="1" noResize="1" noEditPoints="1" noAdjustHandles="1" noChangeArrowheads="1" noChangeShapeType="1" noTextEdit="1"/>
              </p:cNvSpPr>
              <p:nvPr/>
            </p:nvSpPr>
            <p:spPr>
              <a:xfrm>
                <a:off x="4186695" y="2456470"/>
                <a:ext cx="544880" cy="400110"/>
              </a:xfrm>
              <a:prstGeom prst="rect">
                <a:avLst/>
              </a:prstGeom>
              <a:blipFill>
                <a:blip r:embed="rId4"/>
                <a:stretch>
                  <a:fillRect b="-909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2114002D-B06C-D25C-EA4A-331AA1B2CAE0}"/>
                  </a:ext>
                </a:extLst>
              </p:cNvPr>
              <p:cNvSpPr txBox="1"/>
              <p:nvPr/>
            </p:nvSpPr>
            <p:spPr>
              <a:xfrm>
                <a:off x="2871734" y="3047488"/>
                <a:ext cx="544880" cy="400110"/>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vi-VN" sz="2600" b="0" i="1">
                              <a:solidFill>
                                <a:srgbClr val="0070C0"/>
                              </a:solidFill>
                              <a:latin typeface="Cambria Math" panose="02040503050406030204" pitchFamily="18" charset="0"/>
                            </a:rPr>
                          </m:ctrlPr>
                        </m:sSubPr>
                        <m:e>
                          <m:r>
                            <a:rPr lang="en-US" sz="2600" i="1">
                              <a:solidFill>
                                <a:srgbClr val="0070C0"/>
                              </a:solidFill>
                              <a:latin typeface="Cambria Math" panose="02040503050406030204" pitchFamily="18" charset="0"/>
                            </a:rPr>
                            <m:t>𝑣</m:t>
                          </m:r>
                        </m:e>
                        <m:sub>
                          <m:r>
                            <a:rPr lang="vi-VN" sz="2600" b="0" i="1">
                              <a:solidFill>
                                <a:srgbClr val="0070C0"/>
                              </a:solidFill>
                              <a:latin typeface="Cambria Math" panose="02040503050406030204" pitchFamily="18" charset="0"/>
                            </a:rPr>
                            <m:t>2</m:t>
                          </m:r>
                        </m:sub>
                      </m:sSub>
                    </m:oMath>
                  </m:oMathPara>
                </a14:m>
                <a:endParaRPr lang="en-VN" sz="2600" i="1">
                  <a:solidFill>
                    <a:srgbClr val="0070C0"/>
                  </a:solidFill>
                </a:endParaRPr>
              </a:p>
            </p:txBody>
          </p:sp>
        </mc:Choice>
        <mc:Fallback>
          <p:sp>
            <p:nvSpPr>
              <p:cNvPr id="18" name="TextBox 17">
                <a:extLst>
                  <a:ext uri="{FF2B5EF4-FFF2-40B4-BE49-F238E27FC236}">
                    <a16:creationId xmlns:a16="http://schemas.microsoft.com/office/drawing/2014/main" id="{2114002D-B06C-D25C-EA4A-331AA1B2CAE0}"/>
                  </a:ext>
                </a:extLst>
              </p:cNvPr>
              <p:cNvSpPr txBox="1">
                <a:spLocks noRot="1" noChangeAspect="1" noMove="1" noResize="1" noEditPoints="1" noAdjustHandles="1" noChangeArrowheads="1" noChangeShapeType="1" noTextEdit="1"/>
              </p:cNvSpPr>
              <p:nvPr/>
            </p:nvSpPr>
            <p:spPr>
              <a:xfrm>
                <a:off x="2871734" y="3047488"/>
                <a:ext cx="544880" cy="400110"/>
              </a:xfrm>
              <a:prstGeom prst="rect">
                <a:avLst/>
              </a:prstGeom>
              <a:blipFill>
                <a:blip r:embed="rId5"/>
                <a:stretch>
                  <a:fillRect b="-125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119E8747-95B3-334E-369E-BD3A383B75D9}"/>
                  </a:ext>
                </a:extLst>
              </p:cNvPr>
              <p:cNvSpPr txBox="1"/>
              <p:nvPr/>
            </p:nvSpPr>
            <p:spPr>
              <a:xfrm>
                <a:off x="4227485" y="5517826"/>
                <a:ext cx="2054269" cy="492443"/>
              </a:xfrm>
              <a:prstGeom prst="rect">
                <a:avLst/>
              </a:prstGeom>
              <a:noFill/>
            </p:spPr>
            <p:txBody>
              <a:bodyPr wrap="square" rtlCol="0">
                <a:spAutoFit/>
              </a:bodyPr>
              <a:lstStyle/>
              <a:p>
                <a14:m>
                  <m:oMath xmlns:m="http://schemas.openxmlformats.org/officeDocument/2006/math">
                    <m:sSup>
                      <m:sSupPr>
                        <m:ctrlPr>
                          <a:rPr lang="vi-VN" sz="2600" b="0" i="1">
                            <a:latin typeface="Cambria Math" panose="02040503050406030204" pitchFamily="18" charset="0"/>
                            <a:ea typeface="Cambria Math" panose="02040503050406030204" pitchFamily="18" charset="0"/>
                          </a:rPr>
                        </m:ctrlPr>
                      </m:sSupPr>
                      <m:e>
                        <m:r>
                          <a:rPr lang="en-VN" sz="2600" i="1">
                            <a:latin typeface="Cambria Math" panose="02040503050406030204" pitchFamily="18" charset="0"/>
                            <a:ea typeface="Cambria Math" panose="02040503050406030204" pitchFamily="18" charset="0"/>
                          </a:rPr>
                          <m:t>ℝ</m:t>
                        </m:r>
                      </m:e>
                      <m:sup>
                        <m:r>
                          <a:rPr lang="vi-VN" sz="2600" b="0" i="1">
                            <a:latin typeface="Cambria Math" panose="02040503050406030204" pitchFamily="18" charset="0"/>
                            <a:ea typeface="Cambria Math" panose="02040503050406030204" pitchFamily="18" charset="0"/>
                          </a:rPr>
                          <m:t>2</m:t>
                        </m:r>
                      </m:sup>
                    </m:sSup>
                  </m:oMath>
                </a14:m>
                <a:r>
                  <a:rPr lang="en-VN" sz="2600"/>
                  <a:t> space</a:t>
                </a:r>
              </a:p>
            </p:txBody>
          </p:sp>
        </mc:Choice>
        <mc:Fallback>
          <p:sp>
            <p:nvSpPr>
              <p:cNvPr id="19" name="TextBox 18">
                <a:extLst>
                  <a:ext uri="{FF2B5EF4-FFF2-40B4-BE49-F238E27FC236}">
                    <a16:creationId xmlns:a16="http://schemas.microsoft.com/office/drawing/2014/main" id="{119E8747-95B3-334E-369E-BD3A383B75D9}"/>
                  </a:ext>
                </a:extLst>
              </p:cNvPr>
              <p:cNvSpPr txBox="1">
                <a:spLocks noRot="1" noChangeAspect="1" noMove="1" noResize="1" noEditPoints="1" noAdjustHandles="1" noChangeArrowheads="1" noChangeShapeType="1" noTextEdit="1"/>
              </p:cNvSpPr>
              <p:nvPr/>
            </p:nvSpPr>
            <p:spPr>
              <a:xfrm>
                <a:off x="4227485" y="5517826"/>
                <a:ext cx="2054269" cy="492443"/>
              </a:xfrm>
              <a:prstGeom prst="rect">
                <a:avLst/>
              </a:prstGeom>
              <a:blipFill>
                <a:blip r:embed="rId6"/>
                <a:stretch>
                  <a:fillRect l="-613" t="-10000" b="-275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0D5DA2F7-3E69-C8A2-D40C-FAC188FF92B7}"/>
                  </a:ext>
                </a:extLst>
              </p:cNvPr>
              <p:cNvSpPr txBox="1"/>
              <p:nvPr/>
            </p:nvSpPr>
            <p:spPr>
              <a:xfrm>
                <a:off x="3576001" y="4254004"/>
                <a:ext cx="610694" cy="492443"/>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vi-VN" sz="2600" b="0" i="1">
                          <a:latin typeface="Cambria Math" panose="02040503050406030204" pitchFamily="18" charset="0"/>
                          <a:ea typeface="Cambria Math" panose="02040503050406030204" pitchFamily="18" charset="0"/>
                        </a:rPr>
                        <m:t>0</m:t>
                      </m:r>
                    </m:oMath>
                  </m:oMathPara>
                </a14:m>
                <a:endParaRPr lang="en-VN" sz="2600"/>
              </a:p>
            </p:txBody>
          </p:sp>
        </mc:Choice>
        <mc:Fallback>
          <p:sp>
            <p:nvSpPr>
              <p:cNvPr id="20" name="TextBox 19">
                <a:extLst>
                  <a:ext uri="{FF2B5EF4-FFF2-40B4-BE49-F238E27FC236}">
                    <a16:creationId xmlns:a16="http://schemas.microsoft.com/office/drawing/2014/main" id="{0D5DA2F7-3E69-C8A2-D40C-FAC188FF92B7}"/>
                  </a:ext>
                </a:extLst>
              </p:cNvPr>
              <p:cNvSpPr txBox="1">
                <a:spLocks noRot="1" noChangeAspect="1" noMove="1" noResize="1" noEditPoints="1" noAdjustHandles="1" noChangeArrowheads="1" noChangeShapeType="1" noTextEdit="1"/>
              </p:cNvSpPr>
              <p:nvPr/>
            </p:nvSpPr>
            <p:spPr>
              <a:xfrm>
                <a:off x="3576001" y="4254004"/>
                <a:ext cx="610694" cy="492443"/>
              </a:xfrm>
              <a:prstGeom prst="rect">
                <a:avLst/>
              </a:prstGeom>
              <a:blipFill>
                <a:blip r:embed="rId7"/>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49226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68E0-0A29-0541-B667-F2FE552D7627}"/>
              </a:ext>
            </a:extLst>
          </p:cNvPr>
          <p:cNvSpPr>
            <a:spLocks noGrp="1"/>
          </p:cNvSpPr>
          <p:nvPr>
            <p:ph type="title"/>
          </p:nvPr>
        </p:nvSpPr>
        <p:spPr/>
        <p:txBody>
          <a:bodyPr/>
          <a:lstStyle/>
          <a:p>
            <a:r>
              <a:rPr lang="en-VN"/>
              <a:t>1.5. Lab</a:t>
            </a:r>
          </a:p>
        </p:txBody>
      </p:sp>
      <p:sp>
        <p:nvSpPr>
          <p:cNvPr id="3" name="Content Placeholder 2">
            <a:extLst>
              <a:ext uri="{FF2B5EF4-FFF2-40B4-BE49-F238E27FC236}">
                <a16:creationId xmlns:a16="http://schemas.microsoft.com/office/drawing/2014/main" id="{7A8676E4-6D45-F36B-A621-5B78A5A336E5}"/>
              </a:ext>
            </a:extLst>
          </p:cNvPr>
          <p:cNvSpPr>
            <a:spLocks noGrp="1"/>
          </p:cNvSpPr>
          <p:nvPr>
            <p:ph idx="1"/>
          </p:nvPr>
        </p:nvSpPr>
        <p:spPr/>
        <p:txBody>
          <a:bodyPr/>
          <a:lstStyle/>
          <a:p>
            <a:pPr marL="0" indent="0">
              <a:buNone/>
            </a:pPr>
            <a:r>
              <a:rPr lang="en-VN"/>
              <a:t>Bước 1. Thu thập dữ liệu của menu quán caf</a:t>
            </a:r>
            <a:r>
              <a:rPr lang="en-US"/>
              <a:t>é</a:t>
            </a:r>
            <a:r>
              <a:rPr lang="en-VN"/>
              <a:t> REAL</a:t>
            </a:r>
          </a:p>
          <a:p>
            <a:pPr marL="0" indent="0">
              <a:buNone/>
            </a:pPr>
            <a:r>
              <a:rPr lang="en-VN"/>
              <a:t>(từ 2 đặc trưng trở lên, 10 món trở lên)</a:t>
            </a:r>
          </a:p>
          <a:p>
            <a:pPr marL="0" indent="0">
              <a:buNone/>
            </a:pPr>
            <a:r>
              <a:rPr lang="en-VN"/>
              <a:t>Bước 2. Vẽ trên một mặt phẳng 2 chiều</a:t>
            </a:r>
          </a:p>
          <a:p>
            <a:pPr>
              <a:buFontTx/>
              <a:buChar char="-"/>
            </a:pPr>
            <a:r>
              <a:rPr lang="en-VN"/>
              <a:t>Vẽ bằng máy hoặc</a:t>
            </a:r>
          </a:p>
          <a:p>
            <a:pPr>
              <a:buFontTx/>
              <a:buChar char="-"/>
            </a:pPr>
            <a:r>
              <a:rPr lang="en-VN"/>
              <a:t>Vẽ trên giấy</a:t>
            </a:r>
          </a:p>
          <a:p>
            <a:pPr marL="0" indent="0">
              <a:buNone/>
            </a:pPr>
            <a:r>
              <a:rPr lang="en-VN"/>
              <a:t>Bước 3. Có gì hay xuất hiện không?</a:t>
            </a:r>
          </a:p>
        </p:txBody>
      </p:sp>
      <p:sp>
        <p:nvSpPr>
          <p:cNvPr id="4" name="Slide Number Placeholder 3">
            <a:extLst>
              <a:ext uri="{FF2B5EF4-FFF2-40B4-BE49-F238E27FC236}">
                <a16:creationId xmlns:a16="http://schemas.microsoft.com/office/drawing/2014/main" id="{1955F1BF-6BE4-DB83-8A03-9766354CC2D6}"/>
              </a:ext>
            </a:extLst>
          </p:cNvPr>
          <p:cNvSpPr>
            <a:spLocks noGrp="1"/>
          </p:cNvSpPr>
          <p:nvPr>
            <p:ph type="sldNum" sz="quarter" idx="12"/>
          </p:nvPr>
        </p:nvSpPr>
        <p:spPr/>
        <p:txBody>
          <a:bodyPr/>
          <a:lstStyle/>
          <a:p>
            <a:fld id="{9663FB4D-4462-1148-A41B-A6D56F6F932D}" type="slidenum">
              <a:t>14</a:t>
            </a:fld>
            <a:endParaRPr lang="en-VN"/>
          </a:p>
        </p:txBody>
      </p:sp>
    </p:spTree>
    <p:extLst>
      <p:ext uri="{BB962C8B-B14F-4D97-AF65-F5344CB8AC3E}">
        <p14:creationId xmlns:p14="http://schemas.microsoft.com/office/powerpoint/2010/main" val="1007746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62866-8952-9D8D-22D4-6954CC937D76}"/>
              </a:ext>
            </a:extLst>
          </p:cNvPr>
          <p:cNvSpPr>
            <a:spLocks noGrp="1"/>
          </p:cNvSpPr>
          <p:nvPr>
            <p:ph type="title"/>
          </p:nvPr>
        </p:nvSpPr>
        <p:spPr/>
        <p:txBody>
          <a:bodyPr/>
          <a:lstStyle/>
          <a:p>
            <a:r>
              <a:rPr lang="en-VN"/>
              <a:t>1.6. Dicussion: Q&amp;A</a:t>
            </a:r>
          </a:p>
        </p:txBody>
      </p:sp>
      <p:sp>
        <p:nvSpPr>
          <p:cNvPr id="3" name="Content Placeholder 2">
            <a:extLst>
              <a:ext uri="{FF2B5EF4-FFF2-40B4-BE49-F238E27FC236}">
                <a16:creationId xmlns:a16="http://schemas.microsoft.com/office/drawing/2014/main" id="{FF42ADDF-D3A8-84E3-37C3-F86E52A59346}"/>
              </a:ext>
            </a:extLst>
          </p:cNvPr>
          <p:cNvSpPr>
            <a:spLocks noGrp="1"/>
          </p:cNvSpPr>
          <p:nvPr>
            <p:ph idx="1"/>
          </p:nvPr>
        </p:nvSpPr>
        <p:spPr/>
        <p:txBody>
          <a:bodyPr/>
          <a:lstStyle/>
          <a:p>
            <a:endParaRPr lang="en-VN"/>
          </a:p>
        </p:txBody>
      </p:sp>
      <p:sp>
        <p:nvSpPr>
          <p:cNvPr id="4" name="Slide Number Placeholder 3">
            <a:extLst>
              <a:ext uri="{FF2B5EF4-FFF2-40B4-BE49-F238E27FC236}">
                <a16:creationId xmlns:a16="http://schemas.microsoft.com/office/drawing/2014/main" id="{6B23EE38-F5CF-82E4-AD84-0C6EC800AB53}"/>
              </a:ext>
            </a:extLst>
          </p:cNvPr>
          <p:cNvSpPr>
            <a:spLocks noGrp="1"/>
          </p:cNvSpPr>
          <p:nvPr>
            <p:ph type="sldNum" sz="quarter" idx="12"/>
          </p:nvPr>
        </p:nvSpPr>
        <p:spPr/>
        <p:txBody>
          <a:bodyPr/>
          <a:lstStyle/>
          <a:p>
            <a:fld id="{9663FB4D-4462-1148-A41B-A6D56F6F932D}" type="slidenum">
              <a:t>15</a:t>
            </a:fld>
            <a:endParaRPr lang="en-VN"/>
          </a:p>
        </p:txBody>
      </p:sp>
    </p:spTree>
    <p:extLst>
      <p:ext uri="{BB962C8B-B14F-4D97-AF65-F5344CB8AC3E}">
        <p14:creationId xmlns:p14="http://schemas.microsoft.com/office/powerpoint/2010/main" val="7006668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29EA7-662B-05F1-B8D3-193478841499}"/>
              </a:ext>
            </a:extLst>
          </p:cNvPr>
          <p:cNvSpPr>
            <a:spLocks noGrp="1"/>
          </p:cNvSpPr>
          <p:nvPr>
            <p:ph type="title"/>
          </p:nvPr>
        </p:nvSpPr>
        <p:spPr/>
        <p:txBody>
          <a:bodyPr/>
          <a:lstStyle/>
          <a:p>
            <a:r>
              <a:rPr lang="en-VN"/>
              <a:t>2. Operations on vector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2D1F39B-570B-C4E1-A7A0-194E960CADA8}"/>
                  </a:ext>
                </a:extLst>
              </p:cNvPr>
              <p:cNvSpPr>
                <a:spLocks noGrp="1"/>
              </p:cNvSpPr>
              <p:nvPr>
                <p:ph idx="1"/>
              </p:nvPr>
            </p:nvSpPr>
            <p:spPr/>
            <p:txBody>
              <a:bodyPr/>
              <a:lstStyle/>
              <a:p>
                <a:pPr>
                  <a:buFontTx/>
                  <a:buChar char="-"/>
                </a:pPr>
                <a14:m>
                  <m:oMath xmlns:m="http://schemas.openxmlformats.org/officeDocument/2006/math">
                    <m:r>
                      <a:rPr lang="en-VN" i="1">
                        <a:latin typeface="Cambria Math" panose="02040503050406030204" pitchFamily="18" charset="0"/>
                      </a:rPr>
                      <m:t>+,−,∗,</m:t>
                    </m:r>
                    <m:nary>
                      <m:naryPr>
                        <m:chr m:val="⨀"/>
                        <m:subHide m:val="on"/>
                        <m:supHide m:val="on"/>
                        <m:ctrlPr>
                          <a:rPr lang="en-VN" i="1">
                            <a:latin typeface="Cambria Math" panose="02040503050406030204" pitchFamily="18" charset="0"/>
                            <a:ea typeface="Cambria Math" panose="02040503050406030204" pitchFamily="18" charset="0"/>
                          </a:rPr>
                        </m:ctrlPr>
                      </m:naryPr>
                      <m:sub/>
                      <m:sup/>
                      <m:e>
                        <m:r>
                          <a:rPr lang="vi-VN" b="0" i="1">
                            <a:latin typeface="Cambria Math" panose="02040503050406030204" pitchFamily="18" charset="0"/>
                          </a:rPr>
                          <m:t>,  </m:t>
                        </m:r>
                        <m:r>
                          <a:rPr lang="vi-VN" b="0" i="1">
                            <a:latin typeface="Cambria Math" panose="02040503050406030204" pitchFamily="18" charset="0"/>
                            <a:ea typeface="Cambria Math" panose="02040503050406030204" pitchFamily="18" charset="0"/>
                          </a:rPr>
                          <m:t>⊗,⊺</m:t>
                        </m:r>
                      </m:e>
                    </m:nary>
                  </m:oMath>
                </a14:m>
                <a:endParaRPr lang="vi-VN">
                  <a:ea typeface="Cambria Math" panose="02040503050406030204" pitchFamily="18" charset="0"/>
                </a:endParaRPr>
              </a:p>
              <a:p>
                <a:pPr marL="0" indent="0">
                  <a:buNone/>
                </a:pPr>
                <a:r>
                  <a:rPr lang="en-VN"/>
                  <a:t>- Linear combination</a:t>
                </a:r>
              </a:p>
              <a:p>
                <a:pPr>
                  <a:buFontTx/>
                  <a:buChar char="-"/>
                </a:pPr>
                <a:r>
                  <a:rPr lang="en-VN"/>
                  <a:t>Lab</a:t>
                </a:r>
              </a:p>
            </p:txBody>
          </p:sp>
        </mc:Choice>
        <mc:Fallback>
          <p:sp>
            <p:nvSpPr>
              <p:cNvPr id="3" name="Content Placeholder 2">
                <a:extLst>
                  <a:ext uri="{FF2B5EF4-FFF2-40B4-BE49-F238E27FC236}">
                    <a16:creationId xmlns:a16="http://schemas.microsoft.com/office/drawing/2014/main" id="{12D1F39B-570B-C4E1-A7A0-194E960CADA8}"/>
                  </a:ext>
                </a:extLst>
              </p:cNvPr>
              <p:cNvSpPr>
                <a:spLocks noGrp="1" noRot="1" noChangeAspect="1" noMove="1" noResize="1" noEditPoints="1" noAdjustHandles="1" noChangeArrowheads="1" noChangeShapeType="1" noTextEdit="1"/>
              </p:cNvSpPr>
              <p:nvPr>
                <p:ph idx="1"/>
              </p:nvPr>
            </p:nvSpPr>
            <p:spPr>
              <a:blipFill>
                <a:blip r:embed="rId3"/>
                <a:stretch>
                  <a:fillRect l="-1206" t="-12500"/>
                </a:stretch>
              </a:blipFill>
            </p:spPr>
            <p:txBody>
              <a:bodyPr/>
              <a:lstStyle/>
              <a:p>
                <a:r>
                  <a:rPr lang="en-VN">
                    <a:noFill/>
                  </a:rPr>
                  <a:t> </a:t>
                </a:r>
              </a:p>
            </p:txBody>
          </p:sp>
        </mc:Fallback>
      </mc:AlternateContent>
      <p:sp>
        <p:nvSpPr>
          <p:cNvPr id="4" name="Slide Number Placeholder 3">
            <a:extLst>
              <a:ext uri="{FF2B5EF4-FFF2-40B4-BE49-F238E27FC236}">
                <a16:creationId xmlns:a16="http://schemas.microsoft.com/office/drawing/2014/main" id="{4FBD9786-4E9A-5BBE-9039-B778362CF8E7}"/>
              </a:ext>
            </a:extLst>
          </p:cNvPr>
          <p:cNvSpPr>
            <a:spLocks noGrp="1"/>
          </p:cNvSpPr>
          <p:nvPr>
            <p:ph type="sldNum" sz="quarter" idx="12"/>
          </p:nvPr>
        </p:nvSpPr>
        <p:spPr/>
        <p:txBody>
          <a:bodyPr/>
          <a:lstStyle/>
          <a:p>
            <a:fld id="{9663FB4D-4462-1148-A41B-A6D56F6F932D}" type="slidenum">
              <a:t>16</a:t>
            </a:fld>
            <a:endParaRPr lang="en-VN"/>
          </a:p>
        </p:txBody>
      </p:sp>
    </p:spTree>
    <p:extLst>
      <p:ext uri="{BB962C8B-B14F-4D97-AF65-F5344CB8AC3E}">
        <p14:creationId xmlns:p14="http://schemas.microsoft.com/office/powerpoint/2010/main" val="425568004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27008</TotalTime>
  <Words>1699</Words>
  <Application>Microsoft Macintosh PowerPoint</Application>
  <PresentationFormat>Widescreen</PresentationFormat>
  <Paragraphs>203</Paragraphs>
  <Slides>16</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Cambria Math</vt:lpstr>
      <vt:lpstr>Custom Design</vt:lpstr>
      <vt:lpstr>MM010</vt:lpstr>
      <vt:lpstr>Intro</vt:lpstr>
      <vt:lpstr>Intro</vt:lpstr>
      <vt:lpstr>Intro</vt:lpstr>
      <vt:lpstr>Linear algebra: backbone of data</vt:lpstr>
      <vt:lpstr>Outline</vt:lpstr>
      <vt:lpstr>Find your group</vt:lpstr>
      <vt:lpstr>1. Vector</vt:lpstr>
      <vt:lpstr>1.1. Vector: source of data</vt:lpstr>
      <vt:lpstr>PowerPoint Presentation</vt:lpstr>
      <vt:lpstr>1.2. Vector</vt:lpstr>
      <vt:lpstr>1.3. Feature vector</vt:lpstr>
      <vt:lpstr>1.4. Vector space </vt:lpstr>
      <vt:lpstr>1.5. Lab</vt:lpstr>
      <vt:lpstr>1.6. Dicussion: Q&amp;A</vt:lpstr>
      <vt:lpstr>2. Operations on vector</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MM010 – Đại số tuyến tính ứng dụng trong Truyền thông</dc:title>
  <dc:subject>PptxGenJS Presentation</dc:subject>
  <dc:creator>TS. Vũ Tuấn Hải</dc:creator>
  <cp:lastModifiedBy>Vũ Tuấn Hải</cp:lastModifiedBy>
  <cp:revision>13</cp:revision>
  <dcterms:created xsi:type="dcterms:W3CDTF">2026-08-22T05:26:08Z</dcterms:created>
  <dcterms:modified xsi:type="dcterms:W3CDTF">2026-09-10T02:18:26Z</dcterms:modified>
</cp:coreProperties>
</file>