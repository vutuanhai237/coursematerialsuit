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2"/>
  </p:notesMasterIdLst>
  <p:sldIdLst>
    <p:sldId id="587" r:id="rId2"/>
    <p:sldId id="588" r:id="rId3"/>
    <p:sldId id="589" r:id="rId4"/>
    <p:sldId id="594" r:id="rId5"/>
    <p:sldId id="596" r:id="rId6"/>
    <p:sldId id="591" r:id="rId7"/>
    <p:sldId id="593" r:id="rId8"/>
    <p:sldId id="590" r:id="rId9"/>
    <p:sldId id="595" r:id="rId10"/>
    <p:sldId id="59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61"/>
    <p:restoredTop sz="87988"/>
  </p:normalViewPr>
  <p:slideViewPr>
    <p:cSldViewPr snapToGrid="0" snapToObjects="1">
      <p:cViewPr varScale="1">
        <p:scale>
          <a:sx n="101" d="100"/>
          <a:sy n="101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9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Buổi 1 học cách BIỂU DIỄN một đối tượng bằng vector — nhưng dữ liệu thực tế hiếm khi dùng riêng lẻ từng vector.</a:t>
            </a:r>
            <a:endParaRPr lang="en-US" sz="1200" dirty="0"/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thực tế: "Khách hàng điển hình của một phân khúc trông như thế nào?" — cần kết hợp NHIỀU vector khách hàng lại.</a:t>
            </a:r>
            <a:endParaRPr lang="en-US" sz="1200" dirty="0"/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Câu hỏi khác: "Khách hàng nào đáng ưu tiên chăm sóc nhất?" — cần một ĐIỂM TỔNG HỢP dựa trên nhiều tiêu chí có mức độ quan trọng khác nhau.</a:t>
            </a:r>
            <a:endParaRPr lang="en-US" sz="1200" dirty="0"/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Cả hai bài toán trên đều được giải quyết bằng các PHÉP TOÁN VECTOR — nội dung trọng tâm hôm nay.</a:t>
            </a: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8685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Phép cộng/trừ vector thực hiện theo TỪNG THÀNH PHẦN (element-wise) — vị trí nào cộng/trừ với đúng vị trí đó.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Điều kiện bắt buộc: hai vector phải CÙNG SỐ CHIỀU, nếu không phép toán không xác định.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Ý nghĩa: (x − y) biểu diễn "sự khác biệt" giữa hai đối tượng theo từng đặc trưng.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Ví dụ: khách hàng A và B cùng có 6 đặc trưng → (x_A − x_B) cho biết A hơn/kém B bao nhiêu ở mỗi đặc trưng.</a:t>
            </a: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06494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Nhân MỌI thành phần của vector với cùng một số thực c (gọi là scalar).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&gt; 1: "phóng đại" độ lớn vector; 0 &lt; c &lt; 1: "thu nhỏ"; c âm: đảo chiều vector.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dụng: điều chỉnh mức độ ảnh hưởng của một vector khi đưa vào một phép tính tổng hợp.</a:t>
            </a: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67429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quát hóa của phép cộng và nhân scalar: kết hợp NHIỀU vector với các HỆ SỐ (trọng số) khác nhau cho từng vector.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trung bình là một trường hợp đặc biệt của tổ hợp tuyến tính khi mọi hệ số đều bằng 1/k.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Hệ số cᵢ càng lớn → vector xᵢ càng đóng góp nhiều vào kết quả tổng hợp v.</a:t>
            </a:r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Hệ số dương: đặc trưng đó đóng góp CÙNG chiều vào kết quả; hệ số âm: đóng góp NGƯỢC chiều.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tổng các hệ số bằng 1, ta có tổ hợp "lồi" (convex combination) — thường dùng khi muốn kết quả nằm trong phạm vi hợp lý của dữ liệu gốc.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Thay đổi hệ số → thay đổi mức độ ưu tiên của mô hình. Đây chính là khái niệm "trọng số" (weight) sẽ theo sinh viên xuyên suốt phần còn lại của môn học.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65511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10753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659C-3723-EEFE-28E4-18435F02A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C1E8E-FB3F-C8B5-62DA-17B5BD1B6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01E1F-D033-708A-8955-F88A0EDB7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Nhân MỌI thành phần của vector với cùng một số thực c (gọi là scalar).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&gt; 1: "phóng đại" độ lớn vector; 0 &lt; c &lt; 1: "thu nhỏ"; c âm: đảo chiều vector.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dụng: điều chỉnh mức độ ảnh hưởng của một vector khi đưa vào một phép tính tổng hợp.</a:t>
            </a: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6307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trung bình của k đối tượng = cộng k vector rồi chia đều cho k, tính theo từng thành phần.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Đại diện cho "hồ sơ điển hình" (typical profile) của một nhóm/phân khúc dữ liệu.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Ứng dụng phổ biến: xây dựng "khách hàng mẫu" (customer persona) đại diện cho một phân khúc thị trường trong marketing.</a:t>
            </a: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53006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69BD1-C07F-6024-81CD-798E4521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BAC1D-D166-92BA-909C-D199671F7D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36EFB9-8599-97DA-D479-9E2F37586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Tổng quát hóa của phép cộng và nhân scalar: kết hợp NHIỀU vector với các HỆ SỐ (trọng số) khác nhau cho từng vector.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trung bình là một trường hợp đặc biệt của tổ hợp tuyến tính khi mọi hệ số đều bằng 1/k.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Hệ số cᵢ càng lớn → vector xᵢ càng đóng góp nhiều vào kết quả tổng hợp v.</a:t>
            </a:r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Hệ số dương: đặc trưng đó đóng góp CÙNG chiều vào kết quả; hệ số âm: đóng góp NGƯỢC chiều.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tổng các hệ số bằng 1, ta có tổ hợp "lồi" (convex combination) — thường dùng khi muốn kết quả nằm trong phạm vi hợp lý của dữ liệu gốc.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Thay đổi hệ số → thay đổi mức độ ưu tiên của mô hình. Đây chính là khái niệm "trọng số" (weight) sẽ theo sinh viên xuyên suốt phần còn lại của môn học.</a:t>
            </a:r>
            <a:endParaRPr lang="en-US" sz="1200" dirty="0"/>
          </a:p>
          <a:p>
            <a:pPr marL="228600" indent="-228600">
              <a:lnSpc>
                <a:spcPts val="2300"/>
              </a:lnSpc>
              <a:spcAft>
                <a:spcPts val="1400"/>
              </a:spcAft>
              <a:buSzPct val="100000"/>
              <a:buChar char="•"/>
            </a:pPr>
            <a:endParaRPr lang="en-US" sz="1200" dirty="0"/>
          </a:p>
          <a:p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52037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2EB7-1B1E-28B1-9F60-6F89DB11F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0E7D4-303F-151E-71CF-993D44CA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251FF-530A-5570-D42C-4D8BC685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5FF7-E26C-F848-811E-FC976A9B4525}" type="datetime1">
              <a:t>12/9/26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402C2-7131-4B9B-18FB-728835E6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B1298-9426-ECEB-3890-593BB5FC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5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BB85-BE59-D0B5-4A46-FBC8B602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BD62-628F-8E38-88E3-97F5E2605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5BAEF-9B27-9553-CE23-E9CD13EC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94EA-9DF6-1847-B6C6-44CAAA92C54C}" type="datetime1">
              <a:t>12/9/26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63DB3-E10F-307D-A8C9-2D13A974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D4670-B1A3-6CFA-9FDC-84577D31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076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3232-24CE-3495-24DB-3EF119FA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E0179-B436-95FF-6881-470F44441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12C8D-C181-EFA3-44AF-3F6BD573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C065-51A2-1944-89B3-2D8B92D32A40}" type="datetime1">
              <a:t>12/9/26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26F89-5465-6A77-8456-9DE942CD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FC6B7-C6A9-98B6-1371-82C3B87F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6377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553C-61E8-5B80-CA70-D79C0CA7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249FA-9B61-904A-E4E6-22D9FFB86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3853C-55DB-3D30-F3E1-F638B824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ACACB-8D0F-80CA-DF3E-B07D59DC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E55AB-339B-6A45-B6AB-AC13DBDB4049}" type="datetime1">
              <a:t>12/9/26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E34C5-1596-3C2B-A9FC-3BC8E0A4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F89E2-FBA0-D1F8-6C4B-AE8549FE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094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0040-5CE9-6ED3-99B1-EA779BFD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E46C-1E79-D7A9-2BBD-554E4B42F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51B6F-8CF8-199D-CFA5-CCED6758D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B84DC-9EEC-810A-C96B-B6CDA434F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1F7DC-54A0-7F90-6075-FFBDED4CC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4FFD1-C671-ABED-DB75-F3849F98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9517-5F7B-1A48-B2D0-541A8D382216}" type="datetime1">
              <a:t>12/9/26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0B0CE-55A0-83CC-CC85-04CBA479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281213-971B-2418-A489-346C1BBE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854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4DAC-8D71-54CC-960E-2297E53C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86C8B-E30D-9149-F643-D09F30BC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DF89-C1D1-2C40-AB91-9FD0218BB13C}" type="datetime1">
              <a:t>12/9/26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DF1D4-7EEB-F353-0AFC-F5987392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33DC-23E4-AA98-E6FF-0A9B8C34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97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E870E2-F76B-9BEF-594D-E3D0664B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9CF6-35E6-1B40-A0CF-6207030B0A37}" type="datetime1">
              <a:t>12/9/26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E854C-822C-4859-C98D-736E7647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74099-E27E-A7FF-F26C-57DAC906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8438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8B5-5616-ACF0-367C-0C106D15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F065C-C76C-4F5A-A9D0-FCA4050A2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418F5-36E0-9499-C116-35CBB289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DCED1-9871-8967-C1E0-694C31B9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6A959-C3DA-6746-83B8-925C94531607}" type="datetime1">
              <a:t>12/9/26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29EC2-BD39-1120-4A3A-170E1E6B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3EDB8-0D18-76F8-AF17-ABE2E812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45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DC76-E440-DDDF-2E91-49733458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889E8-C3FB-CBB2-6791-6B14DC86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08C5D-5800-B579-326B-B7A93F062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BAC9-BDE5-DCCB-353F-D062EB38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21FD2-5E6B-284F-BD68-6B80320A55AE}" type="datetime1">
              <a:t>12/9/26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85F42-C3F1-C298-2769-BE2C62171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C4851-4822-DE59-0069-6BC05E60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7270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30CA-8C57-6C7D-3F33-620D6C92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4585E-298D-1592-8170-EC4E1E55C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A3F4-80FE-567E-74E4-3B685269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4214-25EB-4347-9246-150A384E9BE9}" type="datetime1">
              <a:t>12/9/26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4EAE-ADAC-929E-772A-E15D535D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1D65-3164-4A2B-6779-5CAD3048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510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EF072-C52F-4353-7B4F-25F1F9614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3B8C2-1AC2-9703-ADA1-B31EB81C1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50AAE-0F3E-2104-B1A8-BAC1B65B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D04D-469B-B843-8EC9-54A9E5D3433D}" type="datetime1">
              <a:t>12/9/26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96E2-279B-1204-A4E2-C63FF717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16E23-C9BD-3032-9A25-9EF3178C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9131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140A9-814D-6179-8FF7-A0DDCA78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1E57D-95B0-7EFF-CCFC-BDB7AB16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ADB3-5637-E8A3-B39E-CDB22032D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B5607-7351-9A4C-87E7-7CA91C2F05ED}" type="datetime1">
              <a:t>12/9/26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BCA7-3B2C-A1AA-BD03-31E0D0E60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823E-5988-E291-BFD0-7FF3B6F61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857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9EA7-662B-05F1-B8D3-19347884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 Operations on vector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1F39B-570B-C4E1-A7A0-194E960CAD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+,−,∗,</m:t>
                    </m:r>
                    <m:nary>
                      <m:naryPr>
                        <m:chr m:val="⨀"/>
                        <m:subHide m:val="on"/>
                        <m:supHide m:val="on"/>
                        <m:ctrlPr>
                          <a:rPr lang="en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vi-VN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vi-V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⊗,⊺</m:t>
                        </m:r>
                      </m:e>
                    </m:nary>
                  </m:oMath>
                </a14:m>
                <a:endParaRPr lang="vi-VN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VN"/>
                  <a:t>- Linear combination</a:t>
                </a:r>
              </a:p>
              <a:p>
                <a:pPr>
                  <a:buFontTx/>
                  <a:buChar char="-"/>
                </a:pPr>
                <a:r>
                  <a:rPr lang="en-VN"/>
                  <a:t>Ex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D1F39B-570B-C4E1-A7A0-194E960CAD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06" t="-125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D9786-4E9A-5BBE-9039-B778362CF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1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09257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E7E43-2FF8-C840-21A0-8410E11EA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2.1. Element-wise operations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58D27-82A7-FBB0-90FC-A8A80022C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2926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VN" i="1"/>
                  <a:t> </a:t>
                </a:r>
                <a:r>
                  <a:rPr lang="en-VN"/>
                  <a:t>nếu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VN" i="1"/>
                  <a:t> </a:t>
                </a:r>
                <a:r>
                  <a:rPr lang="en-VN"/>
                  <a:t>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∈[1,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VN" i="1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B58D27-82A7-FBB0-90FC-A8A80022C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29268"/>
              </a:xfrm>
              <a:blipFill>
                <a:blip r:embed="rId3"/>
                <a:stretch>
                  <a:fillRect t="-18605" b="-2325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6675A-3647-34BB-BBFB-3AF9FD672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2</a:t>
            </a:fld>
            <a:endParaRPr lang="en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0C6BFE-E63F-49AF-4410-13EC68BA3C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489829"/>
                <a:ext cx="10515600" cy="12053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2+5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3+6</m:t>
                              </m:r>
                            </m:e>
                          </m:mr>
                        </m:m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VN" i="1"/>
                  <a:t> 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A0C6BFE-E63F-49AF-4410-13EC68BA3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89829"/>
                <a:ext cx="10515600" cy="1205349"/>
              </a:xfrm>
              <a:prstGeom prst="rect">
                <a:avLst/>
              </a:prstGeom>
              <a:blipFill>
                <a:blip r:embed="rId4"/>
                <a:stretch>
                  <a:fillRect t="-3125" b="-208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E8A90B-CFEE-E3D7-75F6-A328BB7FC6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830114"/>
                <a:ext cx="10515600" cy="12053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2−5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3−6</m:t>
                              </m:r>
                            </m:e>
                          </m:mr>
                        </m:m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VN" i="1"/>
                  <a:t> 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95E8A90B-CFEE-E3D7-75F6-A328BB7FC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30114"/>
                <a:ext cx="10515600" cy="1205349"/>
              </a:xfrm>
              <a:prstGeom prst="rect">
                <a:avLst/>
              </a:prstGeom>
              <a:blipFill>
                <a:blip r:embed="rId5"/>
                <a:stretch>
                  <a:fillRect t="-41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636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5939-B319-3E3A-D8C7-61619359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2FF1-87CD-468C-6B07-CBC2F11E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2.2. Mul operations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08A31-A414-4C15-598D-0B7B65EEA1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7"/>
                <a:ext cx="7992649" cy="173831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⨀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VN" i="1"/>
                  <a:t> </a:t>
                </a:r>
                <a:r>
                  <a:rPr lang="en-VN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r>
                  <a:rPr lang="en-VN" i="1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∈[1,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VN" i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VN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0"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VN" i="1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𝑘𝑢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  ∀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∈[1,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VN" i="1"/>
                  <a:t>, </a:t>
                </a:r>
                <a14:m>
                  <m:oMath xmlns:m="http://schemas.openxmlformats.org/officeDocument/2006/math">
                    <m:r>
                      <a:rPr lang="en-VN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VN" i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E08A31-A414-4C15-598D-0B7B65EEA1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7"/>
                <a:ext cx="7992649" cy="1738313"/>
              </a:xfrm>
              <a:blipFill>
                <a:blip r:embed="rId3"/>
                <a:stretch>
                  <a:fillRect l="-635" t="-575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25EA5-FF7C-E6E5-897A-9BEFF723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584200" cy="365125"/>
          </a:xfrm>
        </p:spPr>
        <p:txBody>
          <a:bodyPr/>
          <a:lstStyle/>
          <a:p>
            <a:fld id="{9663FB4D-4462-1148-A41B-A6D56F6F932D}" type="slidenum">
              <a:t>3</a:t>
            </a:fld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2D7328D-42AB-1529-CA2C-F7E7692870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8245" y="5151001"/>
                <a:ext cx="4226490" cy="12053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vi-VN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endChr m:val="]"/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×1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lang="vi-VN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brk m:alnAt="7"/>
                                </m:rPr>
                                <a:rPr lang="vi-VN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VN" i="1"/>
                  <a:t> 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2D7328D-42AB-1529-CA2C-F7E769287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245" y="5151001"/>
                <a:ext cx="4226490" cy="1205349"/>
              </a:xfrm>
              <a:prstGeom prst="rect">
                <a:avLst/>
              </a:prstGeom>
              <a:blipFill>
                <a:blip r:embed="rId4"/>
                <a:stretch>
                  <a:fillRect l="-901" t="-3125" b="-104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FB239DC-E782-9B3F-720B-205D4CF5F5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8519" y="1684425"/>
                <a:ext cx="1819927" cy="1603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VN" i="1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vi-V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VN" i="1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8FB239DC-E782-9B3F-720B-205D4CF5F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519" y="1684425"/>
                <a:ext cx="1819927" cy="1603658"/>
              </a:xfrm>
              <a:prstGeom prst="rect">
                <a:avLst/>
              </a:prstGeom>
              <a:blipFill>
                <a:blip r:embed="rId5"/>
                <a:stretch>
                  <a:fillRect l="-2069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0044F2-8FCA-2173-8A64-96FBDAA7B656}"/>
              </a:ext>
            </a:extLst>
          </p:cNvPr>
          <p:cNvCxnSpPr>
            <a:cxnSpLocks/>
          </p:cNvCxnSpPr>
          <p:nvPr/>
        </p:nvCxnSpPr>
        <p:spPr>
          <a:xfrm>
            <a:off x="8918532" y="1690687"/>
            <a:ext cx="0" cy="107756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64F3256-84A9-A5B8-4745-19F1D10D78B2}"/>
              </a:ext>
            </a:extLst>
          </p:cNvPr>
          <p:cNvSpPr txBox="1"/>
          <p:nvPr/>
        </p:nvSpPr>
        <p:spPr>
          <a:xfrm>
            <a:off x="9138519" y="1161205"/>
            <a:ext cx="150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solidFill>
                  <a:srgbClr val="FF0000"/>
                </a:solidFill>
              </a:rPr>
              <a:t>Python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0B20EFC5-6F9A-1307-BD95-203EA11490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1316" y="3818174"/>
                <a:ext cx="4948826" cy="11890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⨀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2×5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3×</m:t>
                                </m:r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vi-V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12" name="Content Placeholder 2">
                <a:extLst>
                  <a:ext uri="{FF2B5EF4-FFF2-40B4-BE49-F238E27FC236}">
                    <a16:creationId xmlns:a16="http://schemas.microsoft.com/office/drawing/2014/main" id="{0B20EFC5-6F9A-1307-BD95-203EA1149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16" y="3818174"/>
                <a:ext cx="4948826" cy="1189037"/>
              </a:xfrm>
              <a:prstGeom prst="rect">
                <a:avLst/>
              </a:prstGeom>
              <a:blipFill>
                <a:blip r:embed="rId6"/>
                <a:stretch>
                  <a:fillRect t="-4211" b="-105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32C0DE-7DB9-D2B0-EFF1-BD61E883AF3F}"/>
              </a:ext>
            </a:extLst>
          </p:cNvPr>
          <p:cNvCxnSpPr>
            <a:cxnSpLocks/>
          </p:cNvCxnSpPr>
          <p:nvPr/>
        </p:nvCxnSpPr>
        <p:spPr>
          <a:xfrm flipH="1">
            <a:off x="838200" y="3458725"/>
            <a:ext cx="46857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147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ACA2B-C088-9C6E-42D8-926524F36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2.3. Linear combination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863FD-A636-2206-063D-B18D0EF9D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88604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+…=</m:t>
                    </m:r>
                    <m:nary>
                      <m:naryPr>
                        <m:chr m:val="∑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VN" i="1"/>
                  <a:t> </a:t>
                </a:r>
                <a:r>
                  <a:rPr lang="en-VN"/>
                  <a:t>trong đó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VN" i="1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C863FD-A636-2206-063D-B18D0EF9D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886044"/>
              </a:xfrm>
              <a:blipFill>
                <a:blip r:embed="rId3"/>
                <a:stretch>
                  <a:fillRect t="-78873" b="-7042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86BBD-1F42-AE42-88D4-0C3D935B7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VN"/>
              <a:t>4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415862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FEE0-AC6A-75FE-C341-A3FC9EDB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2.3. Ex: Tính CPI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CA4303CB-4578-8958-F901-0C608062DB8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495425"/>
              <a:ext cx="10515598" cy="3017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460095775"/>
                        </a:ext>
                      </a:extLst>
                    </a:gridCol>
                    <a:gridCol w="2364828">
                      <a:extLst>
                        <a:ext uri="{9D8B030D-6E8A-4147-A177-3AD203B41FA5}">
                          <a16:colId xmlns:a16="http://schemas.microsoft.com/office/drawing/2014/main" val="4104809419"/>
                        </a:ext>
                      </a:extLst>
                    </a:gridCol>
                    <a:gridCol w="2885089">
                      <a:extLst>
                        <a:ext uri="{9D8B030D-6E8A-4147-A177-3AD203B41FA5}">
                          <a16:colId xmlns:a16="http://schemas.microsoft.com/office/drawing/2014/main" val="1382613692"/>
                        </a:ext>
                      </a:extLst>
                    </a:gridCol>
                    <a:gridCol w="2903481">
                      <a:extLst>
                        <a:ext uri="{9D8B030D-6E8A-4147-A177-3AD203B41FA5}">
                          <a16:colId xmlns:a16="http://schemas.microsoft.com/office/drawing/2014/main" val="200440284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Mặt hàng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Lượng năm gốc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VN" sz="28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Giá 2021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VN" sz="280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VN" sz="2800"/>
                            <a:t>Giá 2026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V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VN" sz="2800"/>
                            <a:t>)</a:t>
                          </a:r>
                        </a:p>
                        <a:p>
                          <a:endParaRPr lang="en-VN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1776301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Gạo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20 kg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13500 đ / kg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18500 đ / kg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05043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Xăng RON 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15 lít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20000 đ / lít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235000 đ / lít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63128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Điện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200 kWh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1850 đ / kWh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2100 đ / kWh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7499454"/>
                      </a:ext>
                    </a:extLst>
                  </a:tr>
                  <a:tr h="370840">
                    <a:tc gridSpan="4">
                      <a:txBody>
                        <a:bodyPr/>
                        <a:lstStyle/>
                        <a:p>
                          <a:r>
                            <a:rPr lang="en-VN" sz="2800" b="1">
                              <a:solidFill>
                                <a:srgbClr val="FF0000"/>
                              </a:solidFill>
                            </a:rPr>
                            <a:t>Tính CPI cho 10 mặt hàng tiêu dùng, tự tìm kiếm giá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VN" sz="28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VN" sz="28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VN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9788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CA4303CB-4578-8958-F901-0C608062DB85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495425"/>
              <a:ext cx="10515598" cy="30175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362200">
                      <a:extLst>
                        <a:ext uri="{9D8B030D-6E8A-4147-A177-3AD203B41FA5}">
                          <a16:colId xmlns:a16="http://schemas.microsoft.com/office/drawing/2014/main" val="2460095775"/>
                        </a:ext>
                      </a:extLst>
                    </a:gridCol>
                    <a:gridCol w="2364828">
                      <a:extLst>
                        <a:ext uri="{9D8B030D-6E8A-4147-A177-3AD203B41FA5}">
                          <a16:colId xmlns:a16="http://schemas.microsoft.com/office/drawing/2014/main" val="4104809419"/>
                        </a:ext>
                      </a:extLst>
                    </a:gridCol>
                    <a:gridCol w="2885089">
                      <a:extLst>
                        <a:ext uri="{9D8B030D-6E8A-4147-A177-3AD203B41FA5}">
                          <a16:colId xmlns:a16="http://schemas.microsoft.com/office/drawing/2014/main" val="1382613692"/>
                        </a:ext>
                      </a:extLst>
                    </a:gridCol>
                    <a:gridCol w="2903481">
                      <a:extLst>
                        <a:ext uri="{9D8B030D-6E8A-4147-A177-3AD203B41FA5}">
                          <a16:colId xmlns:a16="http://schemas.microsoft.com/office/drawing/2014/main" val="2004402840"/>
                        </a:ext>
                      </a:extLst>
                    </a:gridCol>
                  </a:tblGrid>
                  <a:tr h="94488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Mặt hàng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3"/>
                          <a:stretch>
                            <a:fillRect l="-100538" t="-6667" r="-246237" b="-23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3"/>
                          <a:stretch>
                            <a:fillRect l="-164317" t="-6667" r="-101762" b="-237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VN"/>
                        </a:p>
                      </a:txBody>
                      <a:tcPr>
                        <a:blipFill>
                          <a:blip r:embed="rId3"/>
                          <a:stretch>
                            <a:fillRect l="-262009" t="-6667" r="-873" b="-237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17763015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Gạo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20 kg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13500 đ / kg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18500 đ / kg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050439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Xăng RON 95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15 lít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20000 đ / lít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235000 đ / lít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631284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Điện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200 kWh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1850 đ / kWh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VN" sz="2800"/>
                            <a:t>2100 đ / kWh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87499454"/>
                      </a:ext>
                    </a:extLst>
                  </a:tr>
                  <a:tr h="518160">
                    <a:tc gridSpan="4">
                      <a:txBody>
                        <a:bodyPr/>
                        <a:lstStyle/>
                        <a:p>
                          <a:r>
                            <a:rPr lang="en-VN" sz="2800" b="1">
                              <a:solidFill>
                                <a:srgbClr val="FF0000"/>
                              </a:solidFill>
                            </a:rPr>
                            <a:t>Tính CPI cho 10 mặt hàng tiêu dùng, tự tìm kiếm giá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VN" sz="28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VN" sz="28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VN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690978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1386A-0908-52AC-BDDC-9A51B89F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VN"/>
              <a:t>5</a:t>
            </a:fld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8C9248-80F2-C099-B16B-11BAFC67C30C}"/>
                  </a:ext>
                </a:extLst>
              </p:cNvPr>
              <p:cNvSpPr txBox="1"/>
              <p:nvPr/>
            </p:nvSpPr>
            <p:spPr>
              <a:xfrm>
                <a:off x="812800" y="4673488"/>
                <a:ext cx="10198101" cy="20797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u="none" strike="noStrike">
                    <a:effectLst/>
                  </a:rPr>
                  <a:t>B1. Tính chi phí</a:t>
                </a:r>
                <a:r>
                  <a:rPr lang="en-US" sz="2800"/>
                  <a:t> mua giỏ hàng hóa 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/>
                        </m:ctrlPr>
                      </m:sSubPr>
                      <m:e>
                        <m:r>
                          <a:rPr lang="en-US" sz="2800" b="0" i="1"/>
                          <m:t>𝑝</m:t>
                        </m:r>
                      </m:e>
                      <m:sub>
                        <m:r>
                          <a:rPr lang="vi-VN" sz="2800" b="0" i="1"/>
                          <m:t>0</m:t>
                        </m:r>
                      </m:sub>
                    </m:sSub>
                  </m:oMath>
                </a14:m>
                <a:r>
                  <a:rPr lang="vi-VN" sz="280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/>
                        </m:ctrlPr>
                      </m:sSubPr>
                      <m:e>
                        <m:r>
                          <a:rPr lang="vi-VN" sz="2800" b="0" i="1"/>
                          <m:t>𝐶</m:t>
                        </m:r>
                      </m:e>
                      <m:sub>
                        <m:r>
                          <a:rPr lang="vi-VN" sz="2800" b="0" i="1"/>
                          <m:t>0</m:t>
                        </m:r>
                      </m:sub>
                    </m:sSub>
                  </m:oMath>
                </a14:m>
                <a:r>
                  <a:rPr lang="vi-VN" sz="2800"/>
                  <a:t>)</a:t>
                </a:r>
              </a:p>
              <a:p>
                <a:r>
                  <a:rPr lang="en-US" sz="2800"/>
                  <a:t>B2. Tính chi phí mua giỏ hàng hóa 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/>
                        </m:ctrlPr>
                      </m:sSubPr>
                      <m:e>
                        <m:r>
                          <a:rPr lang="en-US" sz="2800" b="0" i="1"/>
                          <m:t>𝑝</m:t>
                        </m:r>
                      </m:e>
                      <m:sub>
                        <m:r>
                          <a:rPr lang="vi-VN" sz="2800" b="0" i="1"/>
                          <m:t>1</m:t>
                        </m:r>
                      </m:sub>
                    </m:sSub>
                  </m:oMath>
                </a14:m>
                <a:r>
                  <a:rPr lang="vi-VN" sz="280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i="1"/>
                        </m:ctrlPr>
                      </m:sSubPr>
                      <m:e>
                        <m:r>
                          <a:rPr lang="vi-VN" sz="2800" b="0" i="1"/>
                          <m:t>𝐶</m:t>
                        </m:r>
                      </m:e>
                      <m:sub>
                        <m:r>
                          <a:rPr lang="vi-VN" sz="2800" b="0" i="1"/>
                          <m:t>1</m:t>
                        </m:r>
                      </m:sub>
                    </m:sSub>
                  </m:oMath>
                </a14:m>
                <a:r>
                  <a:rPr lang="vi-VN" sz="2800"/>
                  <a:t>)</a:t>
                </a:r>
              </a:p>
              <a:p>
                <a:r>
                  <a:rPr lang="en-US" sz="2800"/>
                  <a:t>B3. Tính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sz="2800" b="0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800" i="0"/>
                          <m:t>CPI</m:t>
                        </m:r>
                      </m:e>
                      <m:sub>
                        <m:r>
                          <a:rPr lang="vi-VN" sz="2800" b="0" i="1"/>
                          <m:t>2026</m:t>
                        </m:r>
                      </m:sub>
                    </m:sSub>
                    <m:r>
                      <a:rPr lang="vi-VN" sz="2800" b="0" i="1"/>
                      <m:t>=</m:t>
                    </m:r>
                    <m:d>
                      <m:dPr>
                        <m:ctrlPr>
                          <a:rPr lang="vi-VN" sz="2800" i="1"/>
                        </m:ctrlPr>
                      </m:dPr>
                      <m:e>
                        <m:sSub>
                          <m:sSubPr>
                            <m:ctrlPr>
                              <a:rPr lang="vi-VN" sz="2800" i="1"/>
                            </m:ctrlPr>
                          </m:sSubPr>
                          <m:e>
                            <m:r>
                              <a:rPr lang="vi-VN" sz="2800" b="0" i="1"/>
                              <m:t>𝐶</m:t>
                            </m:r>
                          </m:e>
                          <m:sub>
                            <m:r>
                              <a:rPr lang="vi-VN" sz="2800" b="0" i="1"/>
                              <m:t>1</m:t>
                            </m:r>
                          </m:sub>
                        </m:sSub>
                        <m:r>
                          <a:rPr lang="vi-VN" sz="2800" b="0" i="1"/>
                          <m:t>/</m:t>
                        </m:r>
                        <m:sSub>
                          <m:sSubPr>
                            <m:ctrlPr>
                              <a:rPr lang="vi-VN" sz="2800" i="1"/>
                            </m:ctrlPr>
                          </m:sSubPr>
                          <m:e>
                            <m:r>
                              <a:rPr lang="vi-VN" sz="2800" b="0" i="1"/>
                              <m:t>𝐶</m:t>
                            </m:r>
                          </m:e>
                          <m:sub>
                            <m:r>
                              <a:rPr lang="vi-VN" sz="2800" b="0" i="1"/>
                              <m:t>0</m:t>
                            </m:r>
                          </m:sub>
                        </m:sSub>
                      </m:e>
                    </m:d>
                    <m:r>
                      <a:rPr lang="vi-VN" sz="2800" b="0" i="1"/>
                      <m:t>×100%</m:t>
                    </m:r>
                  </m:oMath>
                </a14:m>
                <a:endParaRPr lang="vi-VN" sz="2800" i="1"/>
              </a:p>
              <a:p>
                <a:r>
                  <a:rPr lang="vi-VN" sz="2800">
                    <a:latin typeface="Aptos" panose="020B0004020202020204" pitchFamily="34" charset="0"/>
                  </a:rPr>
                  <a:t>B4. Tính lạm phát bằng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vi-VN" sz="2800" b="0" i="1"/>
                        </m:ctrlPr>
                      </m:fPr>
                      <m:num>
                        <m:d>
                          <m:dPr>
                            <m:ctrlPr>
                              <a:rPr lang="vi-VN" sz="2800" b="0" i="1"/>
                            </m:ctrlPr>
                          </m:dPr>
                          <m:e>
                            <m:sSub>
                              <m:sSubPr>
                                <m:ctrlPr>
                                  <a:rPr lang="vi-VN" sz="2800" i="1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/>
                                  <m:t>CPI</m:t>
                                </m:r>
                              </m:e>
                              <m:sub>
                                <m:r>
                                  <a:rPr lang="vi-VN" sz="2800" i="1"/>
                                  <m:t>2026</m:t>
                                </m:r>
                              </m:sub>
                            </m:sSub>
                            <m:r>
                              <a:rPr lang="vi-VN" sz="2800" i="1"/>
                              <m:t>−</m:t>
                            </m:r>
                            <m:sSub>
                              <m:sSubPr>
                                <m:ctrlPr>
                                  <a:rPr lang="vi-VN" sz="2800" i="1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/>
                                  <m:t>CPI</m:t>
                                </m:r>
                              </m:e>
                              <m:sub>
                                <m:r>
                                  <a:rPr lang="vi-VN" sz="2800" i="1"/>
                                  <m:t>2025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vi-VN" sz="2800" i="1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800"/>
                              <m:t>CPI</m:t>
                            </m:r>
                          </m:e>
                          <m:sub>
                            <m:r>
                              <a:rPr lang="vi-VN" sz="2800" i="1"/>
                              <m:t>2025</m:t>
                            </m:r>
                          </m:sub>
                        </m:sSub>
                      </m:den>
                    </m:f>
                    <m:r>
                      <a:rPr lang="vi-VN" sz="2800" b="0" i="1"/>
                      <m:t>×100%</m:t>
                    </m:r>
                  </m:oMath>
                </a14:m>
                <a:endParaRPr lang="vi-VN" sz="280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B8C9248-80F2-C099-B16B-11BAFC67C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800" y="4673488"/>
                <a:ext cx="10198101" cy="2079737"/>
              </a:xfrm>
              <a:prstGeom prst="rect">
                <a:avLst/>
              </a:prstGeom>
              <a:blipFill>
                <a:blip r:embed="rId4"/>
                <a:stretch>
                  <a:fillRect l="-1244" t="-4268" b="-122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7262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EFAE0-B2C9-D469-5710-20DDF16B9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2.4. Transpose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E1AB60-F59C-DA59-9D17-3201EFC2E4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vi-V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vi-VN" b="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VN"/>
                  <a:t> </a:t>
                </a:r>
              </a:p>
              <a:p>
                <a:pPr marL="0" indent="0">
                  <a:buNone/>
                </a:pPr>
                <a:endParaRPr lang="en-VN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vi-V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vi-V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vi-V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vi-VN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vi-VN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vi-VN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e>
                              <m:sup>
                                <m:r>
                                  <a:rPr lang="vi-V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⊺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vi-V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⊺</m:t>
                        </m:r>
                      </m:sup>
                    </m:sSup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vi-V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vi-V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VN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E1AB60-F59C-DA59-9D17-3201EFC2E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7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272C8-6F35-43A4-A4A7-D38ED11B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VN"/>
              <a:t>6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790811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DCDC1-2E1F-F65B-1CC4-8113A337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53CB-6458-CCDE-F385-D820C1AAD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2.5. Inner/Outer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C305D-08FD-D980-10C3-5B7AAE6A1D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7992649" cy="6391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𝑢𝑣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VN" i="1"/>
                  <a:t> </a:t>
                </a:r>
                <a:r>
                  <a:rPr lang="en-VN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vi-V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⊺</m:t>
                            </m:r>
                          </m:sup>
                        </m:sSup>
                      </m:e>
                    </m:d>
                  </m:oMath>
                </a14:m>
                <a:r>
                  <a:rPr lang="en-VN"/>
                  <a:t>, </a:t>
                </a:r>
                <a14:m>
                  <m:oMath xmlns:m="http://schemas.openxmlformats.org/officeDocument/2006/math">
                    <m:r>
                      <a:rPr lang="en-VN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vi-VN" b="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sup>
                      <m:e>
                        <m:sSub>
                          <m:sSub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VN" i="1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C305D-08FD-D980-10C3-5B7AAE6A1D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7992649" cy="639154"/>
              </a:xfrm>
              <a:blipFill>
                <a:blip r:embed="rId3"/>
                <a:stretch>
                  <a:fillRect t="-96154" b="-14230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A86D7-50E4-F93F-ACB5-F99A7945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356350"/>
            <a:ext cx="584200" cy="365125"/>
          </a:xfrm>
        </p:spPr>
        <p:txBody>
          <a:bodyPr/>
          <a:lstStyle/>
          <a:p>
            <a:fld id="{9663FB4D-4462-1148-A41B-A6D56F6F932D}" type="slidenum">
              <a:t>7</a:t>
            </a:fld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37E4680-2887-0F7E-53EC-91FA328FF2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655405"/>
                <a:ext cx="7772662" cy="11890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×4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1×5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1×6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2×4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2×5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2×6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3×4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3×5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3×6</m:t>
                                </m:r>
                              </m:e>
                            </m:mr>
                          </m:m>
                        </m:e>
                      </m:d>
                      <m:r>
                        <a:rPr lang="vi-V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vi-VN" i="1"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437E4680-2887-0F7E-53EC-91FA328FF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655405"/>
                <a:ext cx="7772662" cy="1189037"/>
              </a:xfrm>
              <a:prstGeom prst="rect">
                <a:avLst/>
              </a:prstGeom>
              <a:blipFill>
                <a:blip r:embed="rId4"/>
                <a:stretch>
                  <a:fillRect t="-425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12C5AA9-8550-7AC2-3A3E-65A848E32E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38519" y="1684425"/>
                <a:ext cx="2485628" cy="16036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𝑑𝑜𝑡</m:t>
                    </m:r>
                    <m:d>
                      <m:dPr>
                        <m:ctrlPr>
                          <a:rPr lang="vi-VN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vi-VN" b="0" i="1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𝑜𝑢𝑡𝑒𝑟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b="0" i="1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412C5AA9-8550-7AC2-3A3E-65A848E32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8519" y="1684425"/>
                <a:ext cx="2485628" cy="1603658"/>
              </a:xfrm>
              <a:prstGeom prst="rect">
                <a:avLst/>
              </a:prstGeom>
              <a:blipFill>
                <a:blip r:embed="rId5"/>
                <a:stretch>
                  <a:fillRect l="-1015" r="-152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22F2E7-7062-2BC8-EB7C-EF133DFD09D3}"/>
              </a:ext>
            </a:extLst>
          </p:cNvPr>
          <p:cNvCxnSpPr>
            <a:cxnSpLocks/>
          </p:cNvCxnSpPr>
          <p:nvPr/>
        </p:nvCxnSpPr>
        <p:spPr>
          <a:xfrm>
            <a:off x="8918532" y="1690687"/>
            <a:ext cx="0" cy="20318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2B23AE8-0FBE-92C2-D2C6-B061533E5DF6}"/>
              </a:ext>
            </a:extLst>
          </p:cNvPr>
          <p:cNvSpPr txBox="1"/>
          <p:nvPr/>
        </p:nvSpPr>
        <p:spPr>
          <a:xfrm>
            <a:off x="9138519" y="1161205"/>
            <a:ext cx="150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 b="1">
                <a:solidFill>
                  <a:srgbClr val="FF0000"/>
                </a:solidFill>
              </a:rPr>
              <a:t>Python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696DB7-9419-9F96-A507-2714108D53D5}"/>
              </a:ext>
            </a:extLst>
          </p:cNvPr>
          <p:cNvSpPr/>
          <p:nvPr/>
        </p:nvSpPr>
        <p:spPr>
          <a:xfrm>
            <a:off x="9226203" y="2604167"/>
            <a:ext cx="1219200" cy="132556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525A77-3F8A-D6B8-106A-DC961D1F6D44}"/>
                  </a:ext>
                </a:extLst>
              </p:cNvPr>
              <p:cNvSpPr txBox="1"/>
              <p:nvPr/>
            </p:nvSpPr>
            <p:spPr>
              <a:xfrm>
                <a:off x="9226203" y="2537039"/>
                <a:ext cx="1219200" cy="13926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lang="en-VN" sz="2800" i="1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V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vi-V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vi-V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vi-VN" sz="28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VN" sz="2800" i="1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vi-VN" sz="28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vi-VN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VN" sz="2800" i="1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525A77-3F8A-D6B8-106A-DC961D1F6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203" y="2537039"/>
                <a:ext cx="1219200" cy="1392689"/>
              </a:xfrm>
              <a:prstGeom prst="rect">
                <a:avLst/>
              </a:prstGeom>
              <a:blipFill>
                <a:blip r:embed="rId6"/>
                <a:stretch>
                  <a:fillRect l="-309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F4DDEEA7-4295-D994-2560-B1DB9D1769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241973"/>
                <a:ext cx="7992649" cy="6391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≡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𝑢𝑣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VN" i="1"/>
                  <a:t> </a:t>
                </a:r>
                <a:r>
                  <a:rPr lang="en-VN"/>
                  <a:t>if</a:t>
                </a:r>
                <a:r>
                  <a:rPr lang="en-VN" i="1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vi-V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vi-V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vi-VN" b="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 ∀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VN" i="1"/>
                  <a:t> </a:t>
                </a:r>
              </a:p>
            </p:txBody>
          </p:sp>
        </mc:Choice>
        <mc:Fallback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F4DDEEA7-4295-D994-2560-B1DB9D176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241973"/>
                <a:ext cx="7992649" cy="639154"/>
              </a:xfrm>
              <a:prstGeom prst="rect">
                <a:avLst/>
              </a:prstGeom>
              <a:blipFill>
                <a:blip r:embed="rId7"/>
                <a:stretch>
                  <a:fillRect t="-13462" b="-384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0BF7EE9D-1B27-CC62-F9FF-6A10104146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5024201"/>
                <a:ext cx="7516661" cy="118903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vi-V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vi-V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vi-V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vi-V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vi-VN" b="0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mr>
                          </m:m>
                        </m:e>
                      </m:d>
                      <m:r>
                        <a:rPr lang="vi-V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vi-VN" i="1">
                          <a:latin typeface="Cambria Math" panose="02040503050406030204" pitchFamily="18" charset="0"/>
                        </a:rPr>
                        <m:t>1×4+2×5+3×6=32</m:t>
                      </m:r>
                    </m:oMath>
                  </m:oMathPara>
                </a14:m>
                <a:endParaRPr lang="en-VN" i="1"/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0BF7EE9D-1B27-CC62-F9FF-6A1010414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024201"/>
                <a:ext cx="7516661" cy="1189037"/>
              </a:xfrm>
              <a:prstGeom prst="rect">
                <a:avLst/>
              </a:prstGeom>
              <a:blipFill>
                <a:blip r:embed="rId8"/>
                <a:stretch>
                  <a:fillRect t="-4211" b="-210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A0EA13C-2B15-3B2D-E774-A5AF63364E0D}"/>
              </a:ext>
            </a:extLst>
          </p:cNvPr>
          <p:cNvCxnSpPr>
            <a:cxnSpLocks/>
          </p:cNvCxnSpPr>
          <p:nvPr/>
        </p:nvCxnSpPr>
        <p:spPr>
          <a:xfrm>
            <a:off x="939452" y="3429000"/>
            <a:ext cx="74154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E5076CF-7156-3C67-D52D-C32F73EBCDF8}"/>
              </a:ext>
            </a:extLst>
          </p:cNvPr>
          <p:cNvSpPr txBox="1"/>
          <p:nvPr/>
        </p:nvSpPr>
        <p:spPr>
          <a:xfrm>
            <a:off x="838199" y="2799276"/>
            <a:ext cx="7020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/>
              <a:t>Lưu ý về tính giao hoán (commutative)!</a:t>
            </a:r>
          </a:p>
        </p:txBody>
      </p:sp>
    </p:spTree>
    <p:extLst>
      <p:ext uri="{BB962C8B-B14F-4D97-AF65-F5344CB8AC3E}">
        <p14:creationId xmlns:p14="http://schemas.microsoft.com/office/powerpoint/2010/main" val="2717332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49720-5FBC-98DD-3C5F-ED097CED4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2.5.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47B04-88AA-9DF9-98A0-77FF5D15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8</a:t>
            </a:fld>
            <a:endParaRPr lang="en-VN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46270AA6-9C0B-3D23-AC32-2F9CF4330FD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690688"/>
          <a:ext cx="4422732" cy="2438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54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latin typeface="Aptos" charset="0"/>
                          <a:ea typeface="Aptos" charset="0"/>
                          <a:cs typeface="Aptos" charset="0"/>
                        </a:rPr>
                        <a:t>ID</a:t>
                      </a: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62626"/>
                          </a:solidFill>
                        </a:rPr>
                        <a:t>Score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b="1" dirty="0">
                          <a:solidFill>
                            <a:srgbClr val="262626"/>
                          </a:solidFill>
                          <a:latin typeface="Aptos" charset="0"/>
                          <a:ea typeface="Aptos" charset="0"/>
                          <a:cs typeface="Aptos" charset="0"/>
                        </a:rPr>
                        <a:t>Credits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  <a:latin typeface="Aptos" charset="0"/>
                          <a:ea typeface="Aptos" charset="0"/>
                          <a:cs typeface="Aptos" charset="0"/>
                        </a:rPr>
                        <a:t>IT001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8.5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  <a:latin typeface="Aptos" charset="0"/>
                          <a:ea typeface="Aptos" charset="0"/>
                          <a:cs typeface="Aptos" charset="0"/>
                        </a:rPr>
                        <a:t>IT002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7.0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  <a:latin typeface="Aptos" charset="0"/>
                          <a:ea typeface="Aptos" charset="0"/>
                          <a:cs typeface="Aptos" charset="0"/>
                        </a:rPr>
                        <a:t>IT003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9.0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2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  <a:latin typeface="Aptos" charset="0"/>
                          <a:ea typeface="Aptos" charset="0"/>
                          <a:cs typeface="Aptos" charset="0"/>
                        </a:rPr>
                        <a:t>ENG003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8.0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600" dirty="0">
                          <a:solidFill>
                            <a:srgbClr val="262626"/>
                          </a:solidFill>
                        </a:rPr>
                        <a:t>3</a:t>
                      </a:r>
                      <a:endParaRPr lang="en-US" sz="2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8AF412-743B-1D3E-877A-E1D04CD3919B}"/>
                  </a:ext>
                </a:extLst>
              </p:cNvPr>
              <p:cNvSpPr txBox="1"/>
              <p:nvPr/>
            </p:nvSpPr>
            <p:spPr>
              <a:xfrm>
                <a:off x="2935266" y="4129087"/>
                <a:ext cx="7366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32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VN" sz="3200" i="1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8AF412-743B-1D3E-877A-E1D04CD39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266" y="4129087"/>
                <a:ext cx="73660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072C10-5547-2249-D9AC-4804845F3527}"/>
                  </a:ext>
                </a:extLst>
              </p:cNvPr>
              <p:cNvSpPr txBox="1"/>
              <p:nvPr/>
            </p:nvSpPr>
            <p:spPr>
              <a:xfrm>
                <a:off x="4243366" y="4129088"/>
                <a:ext cx="736600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VN" sz="32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VN" sz="3200" i="1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072C10-5547-2249-D9AC-4804845F3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366" y="4129088"/>
                <a:ext cx="7366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567488-EB81-E21D-D2E5-43D4AEF05AE8}"/>
                  </a:ext>
                </a:extLst>
              </p:cNvPr>
              <p:cNvSpPr txBox="1"/>
              <p:nvPr/>
            </p:nvSpPr>
            <p:spPr>
              <a:xfrm>
                <a:off x="757302" y="4740111"/>
                <a:ext cx="9007259" cy="8544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3200"/>
                  <a:t>Tính điểm trung bình với công thức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vi-VN" sz="3200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VN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vi-VN" sz="32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vi-VN" sz="3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vi-VN" sz="32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3200" b="0" i="1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vi-VN" sz="32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sz="32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vi-VN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vi-VN" sz="32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3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vi-VN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endParaRPr lang="en-VN" sz="3200" i="1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1567488-EB81-E21D-D2E5-43D4AEF05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02" y="4740111"/>
                <a:ext cx="9007259" cy="854401"/>
              </a:xfrm>
              <a:prstGeom prst="rect">
                <a:avLst/>
              </a:prstGeom>
              <a:blipFill>
                <a:blip r:embed="rId5"/>
                <a:stretch>
                  <a:fillRect l="-1690" b="-8824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03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4374-75F4-67DE-C9A6-5E5105B2A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C3C13-931F-13C6-0CC0-53B6BB448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2.6. Homework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F86B0-FB84-E884-B2CB-3AE610200A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55725"/>
                <a:ext cx="10515600" cy="886044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+…=</m:t>
                    </m:r>
                    <m:nary>
                      <m:naryPr>
                        <m:chr m:val="∑"/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vi-V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vi-VN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VN" i="1"/>
                  <a:t> </a:t>
                </a:r>
                <a:r>
                  <a:rPr lang="en-VN"/>
                  <a:t>trong đó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VN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vi-V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vi-V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vi-V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vi-V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VN" i="1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FF86B0-FB84-E884-B2CB-3AE610200A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55725"/>
                <a:ext cx="10515600" cy="886044"/>
              </a:xfrm>
              <a:blipFill>
                <a:blip r:embed="rId3"/>
                <a:stretch>
                  <a:fillRect t="-78873" b="-7042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759FD-55C5-90C0-A0CF-B623EAF83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VN"/>
              <a:t>9</a:t>
            </a:fld>
            <a:endParaRPr lang="en-V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45F72A-E1C0-8E74-AD72-17FC6B971348}"/>
              </a:ext>
            </a:extLst>
          </p:cNvPr>
          <p:cNvCxnSpPr>
            <a:cxnSpLocks/>
          </p:cNvCxnSpPr>
          <p:nvPr/>
        </p:nvCxnSpPr>
        <p:spPr>
          <a:xfrm>
            <a:off x="939452" y="2133600"/>
            <a:ext cx="74154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DC3C76-9163-9860-A1C7-EC9EC90526ED}"/>
              </a:ext>
            </a:extLst>
          </p:cNvPr>
          <p:cNvSpPr txBox="1"/>
          <p:nvPr/>
        </p:nvSpPr>
        <p:spPr>
          <a:xfrm>
            <a:off x="838200" y="2376706"/>
            <a:ext cx="1092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Khảo sát hoạt động một KOL hoạt động trong 1 tuần vừa rồi</a:t>
            </a:r>
            <a:endParaRPr lang="en-VN" sz="2800"/>
          </a:p>
        </p:txBody>
      </p:sp>
      <p:graphicFrame>
        <p:nvGraphicFramePr>
          <p:cNvPr id="10" name="Content Placeholder 6">
            <a:extLst>
              <a:ext uri="{FF2B5EF4-FFF2-40B4-BE49-F238E27FC236}">
                <a16:creationId xmlns:a16="http://schemas.microsoft.com/office/drawing/2014/main" id="{87ED5C0B-A922-99F9-B159-A01D40D98065}"/>
              </a:ext>
            </a:extLst>
          </p:cNvPr>
          <p:cNvGraphicFramePr>
            <a:graphicFrameLocks/>
          </p:cNvGraphicFramePr>
          <p:nvPr/>
        </p:nvGraphicFramePr>
        <p:xfrm>
          <a:off x="939452" y="3051492"/>
          <a:ext cx="10515598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460095775"/>
                    </a:ext>
                  </a:extLst>
                </a:gridCol>
                <a:gridCol w="1537048">
                  <a:extLst>
                    <a:ext uri="{9D8B030D-6E8A-4147-A177-3AD203B41FA5}">
                      <a16:colId xmlns:a16="http://schemas.microsoft.com/office/drawing/2014/main" val="4104809419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1382613692"/>
                    </a:ext>
                  </a:extLst>
                </a:gridCol>
                <a:gridCol w="4571650">
                  <a:extLst>
                    <a:ext uri="{9D8B030D-6E8A-4147-A177-3AD203B41FA5}">
                      <a16:colId xmlns:a16="http://schemas.microsoft.com/office/drawing/2014/main" val="2004402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VN" sz="2800"/>
                        <a:t>Nền tảng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Like ❤️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VN" sz="2800"/>
                        <a:t>Tần suất đăng bài (/ngày)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763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2800"/>
                        <a:t>Tiktok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504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2800"/>
                        <a:t>Instagram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6312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VN" sz="280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 sz="280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49945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DE17C3-936E-F8AB-5D81-8CAFD6EEA7AE}"/>
                  </a:ext>
                </a:extLst>
              </p:cNvPr>
              <p:cNvSpPr txBox="1"/>
              <p:nvPr/>
            </p:nvSpPr>
            <p:spPr>
              <a:xfrm>
                <a:off x="838200" y="5275698"/>
                <a:ext cx="8953848" cy="9680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800"/>
                  <a:t>Vector KOL = </a:t>
                </a:r>
                <a14:m>
                  <m:oMath xmlns:m="http://schemas.openxmlformats.org/officeDocument/2006/math">
                    <m:r>
                      <a:rPr lang="vi-VN" sz="2800" b="0" i="1">
                        <a:latin typeface="Cambria Math" panose="02040503050406030204" pitchFamily="18" charset="0"/>
                      </a:rPr>
                      <m:t>0.4×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Like</m:t>
                    </m:r>
                    <m:r>
                      <a:rPr lang="vi-VN" sz="2800" b="0" i="1">
                        <a:latin typeface="Cambria Math" panose="02040503050406030204" pitchFamily="18" charset="0"/>
                      </a:rPr>
                      <m:t>+0.5×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Comment</m:t>
                    </m:r>
                    <m:r>
                      <a:rPr lang="vi-VN" sz="2800" b="0" i="1">
                        <a:latin typeface="Cambria Math" panose="02040503050406030204" pitchFamily="18" charset="0"/>
                      </a:rPr>
                      <m:t>+0.1×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TT</m:t>
                    </m:r>
                    <m:r>
                      <a:rPr lang="vi-VN" sz="2800" i="1">
                        <a:latin typeface="Cambria Math" panose="02040503050406030204" pitchFamily="18" charset="0"/>
                      </a:rPr>
                      <m:t>Đ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vi-VN" sz="2800"/>
              </a:p>
              <a:p>
                <a:r>
                  <a:rPr lang="en-VN" sz="2800"/>
                  <a:t>Điểm KOL = </a:t>
                </a:r>
                <a14:m>
                  <m:oMath xmlns:m="http://schemas.openxmlformats.org/officeDocument/2006/math">
                    <m:r>
                      <a:rPr lang="vi-VN" sz="2800" b="0" i="1">
                        <a:latin typeface="Cambria Math" panose="02040503050406030204" pitchFamily="18" charset="0"/>
                      </a:rPr>
                      <m:t>0.5×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Tiktok</m:t>
                    </m:r>
                    <m:r>
                      <a:rPr lang="vi-VN" sz="2800" b="0" i="1">
                        <a:latin typeface="Cambria Math" panose="02040503050406030204" pitchFamily="18" charset="0"/>
                      </a:rPr>
                      <m:t>+0.3×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Insta</m:t>
                    </m:r>
                    <m:r>
                      <a:rPr lang="vi-VN" sz="2800" b="0" i="1">
                        <a:latin typeface="Cambria Math" panose="02040503050406030204" pitchFamily="18" charset="0"/>
                      </a:rPr>
                      <m:t>+0.2×</m:t>
                    </m:r>
                    <m:r>
                      <m:rPr>
                        <m:sty m:val="p"/>
                      </m:rPr>
                      <a:rPr lang="vi-VN" sz="2800" i="1">
                        <a:latin typeface="Cambria Math" panose="02040503050406030204" pitchFamily="18" charset="0"/>
                      </a:rPr>
                      <m:t>Fb</m:t>
                    </m:r>
                  </m:oMath>
                </a14:m>
                <a:endParaRPr lang="en-VN" sz="28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FDE17C3-936E-F8AB-5D81-8CAFD6EEA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275698"/>
                <a:ext cx="8953848" cy="968022"/>
              </a:xfrm>
              <a:prstGeom prst="rect">
                <a:avLst/>
              </a:prstGeom>
              <a:blipFill>
                <a:blip r:embed="rId4"/>
                <a:stretch>
                  <a:fillRect l="-1418" t="-6494" b="-16883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629EFD-DF9D-E21E-984E-2FA510ED0F20}"/>
              </a:ext>
            </a:extLst>
          </p:cNvPr>
          <p:cNvSpPr txBox="1"/>
          <p:nvPr/>
        </p:nvSpPr>
        <p:spPr>
          <a:xfrm>
            <a:off x="838200" y="6270109"/>
            <a:ext cx="9410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800">
                <a:solidFill>
                  <a:srgbClr val="FF0000"/>
                </a:solidFill>
              </a:rPr>
              <a:t>Stalk idol của bạn và xem thử ai có điểm KOL cao hơn</a:t>
            </a:r>
          </a:p>
        </p:txBody>
      </p:sp>
    </p:spTree>
    <p:extLst>
      <p:ext uri="{BB962C8B-B14F-4D97-AF65-F5344CB8AC3E}">
        <p14:creationId xmlns:p14="http://schemas.microsoft.com/office/powerpoint/2010/main" val="2780063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B2EC-9A7D-1DC4-897E-03C50934A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VN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6B7F-83A8-AD91-DDFE-872D5F229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vi-VN">
                <a:latin typeface="Aptos" panose="020B0004020202020204" pitchFamily="34" charset="0"/>
              </a:rPr>
              <a:t>Chỉ số CPI hay GPA đều là tổ hợp tuyến tính, nhưng ai là người QUYẾT ĐỊNH trọng số? </a:t>
            </a:r>
          </a:p>
          <a:p>
            <a:r>
              <a:rPr lang="vi-VN">
                <a:latin typeface="Aptos" panose="020B0004020202020204" pitchFamily="34" charset="0"/>
              </a:rPr>
              <a:t>Việc chọn trọng số có mang tính chủ quan hay thậm chí chính trị không? Cho ví dụ.</a:t>
            </a:r>
          </a:p>
          <a:p>
            <a:endParaRPr lang="vi-VN">
              <a:latin typeface="Aptos" panose="020B0004020202020204" pitchFamily="34" charset="0"/>
            </a:endParaRPr>
          </a:p>
          <a:p>
            <a:endParaRPr lang="en-VN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81F0C-3A54-7C99-A904-53F094820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VN"/>
              <a:t>10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6753107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38538</TotalTime>
  <Words>1315</Words>
  <Application>Microsoft Macintosh PowerPoint</Application>
  <PresentationFormat>Widescreen</PresentationFormat>
  <Paragraphs>138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Custom Design</vt:lpstr>
      <vt:lpstr>2. Operations on vector</vt:lpstr>
      <vt:lpstr>2.1. Element-wise operations</vt:lpstr>
      <vt:lpstr>2.2. Mul operations</vt:lpstr>
      <vt:lpstr>2.3. Linear combination</vt:lpstr>
      <vt:lpstr>2.3. Ex: Tính CPI</vt:lpstr>
      <vt:lpstr>2.4. Transpose</vt:lpstr>
      <vt:lpstr>2.5. Inner/Outer product</vt:lpstr>
      <vt:lpstr>2.5. Example</vt:lpstr>
      <vt:lpstr>2.6. Homework</vt:lpstr>
      <vt:lpstr>Q&amp;A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MM010 – Đại số tuyến tính ứng dụng trong Truyền thông</dc:title>
  <dc:subject>PptxGenJS Presentation</dc:subject>
  <dc:creator>TS. Vũ Tuấn Hải</dc:creator>
  <cp:lastModifiedBy>Vũ Tuấn Hải</cp:lastModifiedBy>
  <cp:revision>16</cp:revision>
  <dcterms:created xsi:type="dcterms:W3CDTF">2026-08-22T05:26:08Z</dcterms:created>
  <dcterms:modified xsi:type="dcterms:W3CDTF">2026-09-20T03:06:40Z</dcterms:modified>
</cp:coreProperties>
</file>