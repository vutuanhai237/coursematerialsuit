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82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8. Neural network" id="{F041F7B6-6BC6-408A-B5C9-0EB4F7AAAB7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9. LLM in practice" id="{C263358C-E604-4546-9506-420559911891}">
          <p14:sldIdLst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82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21"/>
    <p:restoredTop sz="95952"/>
  </p:normalViewPr>
  <p:slideViewPr>
    <p:cSldViewPr snapToGrid="0" snapToObjects="1">
      <p:cViewPr varScale="1">
        <p:scale>
          <a:sx n="114" d="100"/>
          <a:sy n="114" d="100"/>
        </p:scale>
        <p:origin x="5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297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Phần 8 chỉ giới thiệu neural network ở mức ứng dụng: hiểu cấu tạo bằng ngôn ngữ vector – ma trận, không đi vào đạo hàm hay lan truyền ngược.</a:t>
            </a:r>
          </a:p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Mục tiêu: SV thấy mọi khái niệm đại số tuyến tính đã học đều xuất hiện trong AI.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Neuron nhân tạo lấy cảm hứng từ neuron sinh học: nhận nhiều tín hiệu vào, cộng có trọng số, nếu đủ mạnh thì 'kích hoạt'.</a:t>
            </a:r>
          </a:p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Phần wᵀx + b chính là công thức hồi quy tuyến tính đã học ở buổi inner product; chỉ thêm một hàm σ ở ngoài.</a:t>
            </a:r>
          </a:p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Ví dụ: x1 = bài có video không, x2 = số hashtag, x3 = đăng giờ vàng không → ŷ = xác suất bài viral.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σ và ReLU đều KHÔNG tuyến tính – giống filter gamma ở slide 1.2. Chính sự phi tuyến này giúp mạng học được quan hệ phức tạp.</a:t>
            </a:r>
          </a:p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Sigmoid dùng ở lớp ra khi cần xác suất (có/không). ReLU dùng ở lớp ẩn vì tính nhanh và dễ huấn luyện.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w và b ở đây là số minh hoạ. Thực tế máy tự tìm w, b từ dữ liệu các bài đăng cũ (slide 8.7).</a:t>
            </a:r>
          </a:p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Đọc trọng số: w1 = 1.5 lớn nhất → 'có video' ảnh hưởng mạnh nhất; b = −2 nghĩa là mặc định bài đăng khó viral.</a:t>
            </a:r>
          </a:p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Bài B: z = 0.3·1 − 2 = −1.7 → ŷ = σ(−1.7) ≈ 0.15.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Đây là điểm nối quan trọng nhất với chương 5: mỗi lớp của mạng là một ánh xạ tuyến tính (ma trận W) rồi đến một hàm phi tuyến σ áp lên từng phần tử.</a:t>
            </a:r>
          </a:p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Tích hai ma trận là một ma trận → hai lớp tuyến tính liên tiếp gộp được thành một. Vì vậy σ là bắt buộc.</a:t>
            </a:r>
          </a:p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GPU vốn để xử lý đồ hoạ (cũng là nhân ma trận), nên được dùng để huấn luyện AI.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Tên gọi: MLP (multi-layer perceptron), mạng truyền thẳng (feed-forward).</a:t>
            </a:r>
          </a:p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Tham số = mọi phần tử của các ma trận W và vector b. W1 có kích thước 4×3, W2 là 4×4, W3 là 2×4.</a:t>
            </a:r>
          </a:p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Tính ŷ từ x gọi là forward pass: chỉ gồm nhân ma trận, cộng vector và áp σ.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Forward pass bằng tay: nhân ma trận, cộng bias, áp hàm kích hoạt — lặp lại cho từng lớp.</a:t>
            </a:r>
          </a:p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ReLU giữ nguyên số dương, biến số âm thành 0. Ở đây (1, 2) đều dương nên giữ nguyên.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Ở mức ứng dụng chỉ cần hiểu ý tưởng: thử – đo sai – chỉnh – lặp lại. Phần đạo hàm (lan truyền ngược) không thuộc phạm vi môn.</a:t>
            </a:r>
          </a:p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Gradient descent: hình dung đi xuống dốc trong sương mù, mỗi bước dò hướng dốc nhất rồi bước một bước nhỏ.</a:t>
            </a:r>
          </a:p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X là ma trận dữ liệu (mỗi hàng 1 bài đăng = 1 feature vector), y là vector nhãn 0/1.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Nhắc lại 1.1 'Vector: source of data': mọi thứ máy xử lý đều phải chuyển thành vector/ma trận.</a:t>
            </a:r>
          </a:p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1080 × 1080 × 3 = 3 499 200 số cho một ảnh Instagram vuông.</a:t>
            </a:r>
          </a:p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Embedding: 'vua' − 'nam' + 'nữ' ≈ 'nữ hoàng' là ví dụ nổi tiếng về phép cộng vector trên từ ngữ.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Đây là mô hình 'bag of words' đơn giản nhất: chỉ đếm từ, bỏ qua thứ tự.</a:t>
            </a:r>
          </a:p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'Không hay chút nào' có x = (1, 0, 0, 0) → z = 1.2 → ŷ ≈ 0.77: đoán nhầm là tích cực vì không hiểu chữ 'không'.</a:t>
            </a:r>
          </a:p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Các brand dùng sentiment analysis để theo dõi phản ứng của khán giả với chiến dịch (social listening).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Tất cả các hệ thống trên đều có cùng khung: dữ liệu → vector → nhiều lớp Wx + b và σ → đầu ra.</a:t>
            </a:r>
          </a:p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Gợi ý thảo luận: thuật toán gợi ý quyết định nội dung nào được nhìn thấy → ảnh hưởng lớn đến chiến lược nội dung của người làm truyền thông.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Slide tổng kết: đại số tuyến tính là 'ngôn ngữ' của AI. Hiểu vector – ma trận là hiểu được AI đang làm gì ở mức cơ bản.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Với SV truyền thông, kỹ năng kiểm chứng (fact-check) và sử dụng AI có trách nhiệm quan trọng không kém kỹ năng dùng công cụ.</a:t>
            </a:r>
          </a:p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Gợi ý trả lời: tìm nguồn gốc (tìm kiếm ngược hình ảnh), đối chiếu nhiều nguồn tin chính thống, để ý chi tiết bất thường (khẩu hình, ánh sáng, bàn tay).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Phần 9 giúp SV đọc hiểu các thuật ngữ gặp hằng ngày khi dùng hoặc tự chạy LLM: tên model, số tham số, lượng tử hoá, GPU, VRAM.</a:t>
            </a:r>
          </a:p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Mọi phép tính ở phần này chỉ là nhân/chia — dựa trên đúng các khái niệm vector, ma trận đã học.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Xác suất trong bảng là số minh hoạ.</a:t>
            </a:r>
          </a:p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Ở lớp ra, LLM cho một vector xác suất trên toàn bộ từ vựng (hàng chục nghìn token) — giống ŷ của 8.3 nhưng có rất nhiều lựa chọn.</a:t>
            </a:r>
          </a:p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Bên trong vẫn là các phép nhân ma trận Wx + b và hàm phi tuyến như phần 8, chỉ là rất nhiều lớp và rất nhiều tham số.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Thang log: mỗi vạch trục ngang lớn gấp 10 lần vạch trước. Từ mạng ở 8.5 đến Qwen3-4B là gấp khoảng 100 triệu lần.</a:t>
            </a:r>
          </a:p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Tên gọi: M = million (triệu), B = billion (tỉ), T = trillion (nghìn tỉ).</a:t>
            </a:r>
          </a:p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Số tham số chỉ là một yếu tố; dữ liệu và cách huấn luyện cũng quyết định chất lượng. Model nhỏ đời mới có thể tốt hơn model lớn đời cũ.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Tên model thường ghép theo thứ tự: họ – kích thước – loại tinh chỉnh – phiên bản – định dạng/lượng tử hoá. Không phải hãng nào cũng đặt tên giống hệt.</a:t>
            </a:r>
          </a:p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Qwen3 là ví dụ; các họ model ra phiên bản mới liên tục (Qwen3.5, Llama 4…), cách đọc tên vẫn tương tự.</a:t>
            </a:r>
          </a:p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File Qwen3-4B-Instruct-2507-Q4_K_M.gguf nặng khoảng 2.5 GB (xem 9.5).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MoE (Mixture of Experts): mạng gồm nhiều 'chuyên gia' con, mỗi token chỉ đi qua vài chuyên gia → tính ít hơn, nhưng vẫn phải chứa toàn bộ 30B tham số trong bộ nhớ.</a:t>
            </a:r>
          </a:p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Ví dụ tên thật: Qwen3-30B-A3B, Qwen3-4B-Thinking-2507, Gemma 3 12B it, DeepSeek-R1-Distill-Qwen-7B.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1 byte = 8 bit. FP16/BF16 là định dạng gốc phổ biến khi phát hành model.</a:t>
            </a:r>
          </a:p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Bảng là ước tính lý thuyết, chưa tính phần bộ nhớ cho context (KV cache) và phần mềm.</a:t>
            </a:r>
          </a:p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Đây là phép nhân đơn giản nhưng giúp trả lời câu hỏi thực tế: máy mình chạy được model nào?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Thực chất là nhân vector với một số vô hướng (chia cho s), làm tròn, rồi nhân lại với s — phép toán vector cơ bản.</a:t>
            </a:r>
          </a:p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Lưu ý: 4 bit có 16 mức (−8…7); ví dụ dùng −7…7 cho đối xứng, dễ tính tay.</a:t>
            </a:r>
          </a:p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Sai số lớn nhất ở ví dụ là 0.05. Các phương pháp thực tế (Q4_K_M, AWQ, GPTQ…) chia trọng số thành từng nhóm nhỏ, mỗi nhóm một hệ số s riêng để sai số nhỏ hơn.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VRAM = Video RAM: ban đầu dùng để chứa hình ảnh cho game/đồ hoạ, nay chứa trọng số model.</a:t>
            </a:r>
          </a:p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Bộ nhớ hợp nhất của Mac giúp chạy được model khá lớn, nhưng macOS chỉ cho GPU dùng một phần tổng bộ nhớ.</a:t>
            </a:r>
          </a:p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Một số laptop mới có NPU (bộ xử lý AI riêng) cho các model nhỏ, tiết kiệm điện.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Đây là ước tính nhanh để chọn model; con số thực tế phụ thuộc phần mềm, độ dài context và mức lượng tử hoá.</a:t>
            </a:r>
          </a:p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Trả lời Q: chatbot online chạy trên server nhiều GPU data center (hàng trăm GB VRAM), người dùng chỉ gửi văn bản và nhận kết quả qua mạng.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Tiếng Việt thường tốn nhiều token hơn tiếng Anh cho cùng một nội dung → tốn context và chi phí API hơn.</a:t>
            </a:r>
          </a:p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Temperature chia các giá trị trước softmax: T nhỏ làm phân phối xác suất 'nhọn' (gần như luôn chọn token xác suất cao nhất), T lớn làm phân phối 'phẳng' hơn.</a:t>
            </a:r>
          </a:p>
          <a:p>
            <a:pPr marL="228600" indent="-228600">
              <a:lnSpc>
                <a:spcPts val="2500"/>
              </a:lnSpc>
              <a:spcAft>
                <a:spcPts val="1400"/>
              </a:spcAft>
              <a:buSzPct val="100000"/>
              <a:buChar char="•"/>
            </a:pPr>
            <a:r>
              <a:rPr lang="vi-VN" sz="1200" dirty="0">
                <a:solidFill>
                  <a:srgbClr val="262626"/>
                </a:solidFill>
                <a:latin typeface="Aptos" pitchFamily="34" charset="0"/>
              </a:rPr>
              <a:t>Lệnh ollama tải model lần đầu (vài GB) rồi mở cửa sổ chat ngay trong terminal.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D2EB7-1B1E-28B1-9F60-6F89DB11FD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10E7D4-303F-151E-71CF-993D44CAF8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251FF-530A-5570-D42C-4D8BC6856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25FF7-E26C-F848-811E-FC976A9B4525}" type="datetime1">
              <a:t>16/10/26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402C2-7131-4B9B-18FB-728835E6D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CB1298-9426-ECEB-3890-593BB5FC2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15075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0BB85-BE59-D0B5-4A46-FBC8B602B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5BD62-628F-8E38-88E3-97F5E2605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5BAEF-9B27-9553-CE23-E9CD13ECC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294EA-9DF6-1847-B6C6-44CAAA92C54C}" type="datetime1">
              <a:t>16/10/26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63DB3-E10F-307D-A8C9-2D13A9742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D4670-B1A3-6CFA-9FDC-84577D31B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50762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63232-24CE-3495-24DB-3EF119FAD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DE0179-B436-95FF-6881-470F44441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12C8D-C181-EFA3-44AF-3F6BD573D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DC065-51A2-1944-89B3-2D8B92D32A40}" type="datetime1">
              <a:t>16/10/26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26F89-5465-6A77-8456-9DE942CDC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FC6B7-C6A9-98B6-1371-82C3B87F4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163775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7553C-61E8-5B80-CA70-D79C0CA79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249FA-9B61-904A-E4E6-22D9FFB866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C3853C-55DB-3D30-F3E1-F638B824E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4ACACB-8D0F-80CA-DF3E-B07D59DCB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E55AB-339B-6A45-B6AB-AC13DBDB4049}" type="datetime1">
              <a:t>16/10/26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0E34C5-1596-3C2B-A9FC-3BC8E0A4D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8F89E2-FBA0-D1F8-6C4B-AE8549FE7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210945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70040-5CE9-6ED3-99B1-EA779BFDD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FE46C-1E79-D7A9-2BBD-554E4B42F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851B6F-8CF8-199D-CFA5-CCED6758D3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7B84DC-9EEC-810A-C96B-B6CDA434F5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D1F7DC-54A0-7F90-6075-FFBDED4CCA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A4FFD1-C671-ABED-DB75-F3849F98F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89517-5F7B-1A48-B2D0-541A8D382216}" type="datetime1">
              <a:t>16/10/26</a:t>
            </a:fld>
            <a:endParaRPr lang="en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C0B0CE-55A0-83CC-CC85-04CBA4799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281213-971B-2418-A489-346C1BBE1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798543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54DAC-8D71-54CC-960E-2297E53C4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A86C8B-E30D-9149-F643-D09F30BC6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ADF89-C1D1-2C40-AB91-9FD0218BB13C}" type="datetime1">
              <a:t>16/10/26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7DF1D4-7EEB-F353-0AFC-F5987392C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33DC-23E4-AA98-E6FF-0A9B8C346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5979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E870E2-F76B-9BEF-594D-E3D0664B2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A9CF6-35E6-1B40-A0CF-6207030B0A37}" type="datetime1">
              <a:t>16/10/26</a:t>
            </a:fld>
            <a:endParaRPr lang="en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4E854C-822C-4859-C98D-736E7647D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974099-E27E-A7FF-F26C-57DAC9069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384386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218B5-5616-ACF0-367C-0C106D156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F065C-C76C-4F5A-A9D0-FCA4050A2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0418F5-36E0-9499-C116-35CBB2890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DCED1-9871-8967-C1E0-694C31B94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6A959-C3DA-6746-83B8-925C94531607}" type="datetime1">
              <a:t>16/10/26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D29EC2-BD39-1120-4A3A-170E1E6B7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A3EDB8-0D18-76F8-AF17-ABE2E8127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8456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0DC76-E440-DDDF-2E91-497334582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2889E8-C3FB-CBB2-6791-6B14DC8644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008C5D-5800-B579-326B-B7A93F0627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48BAC9-BDE5-DCCB-353F-D062EB381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21FD2-5E6B-284F-BD68-6B80320A55AE}" type="datetime1">
              <a:t>16/10/26</a:t>
            </a:fld>
            <a:endParaRPr lang="en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485F42-C3F1-C298-2769-BE2C62171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CC4851-4822-DE59-0069-6BC05E607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572705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530CA-8C57-6C7D-3F33-620D6C923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D4585E-298D-1592-8170-EC4E1E55CC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1A3F4-80FE-567E-74E4-3B6852695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64214-25EB-4347-9246-150A384E9BE9}" type="datetime1">
              <a:t>16/10/26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F74EAE-ADAC-929E-772A-E15D535D3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21D65-3164-4A2B-6779-5CAD30487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85103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2EF072-C52F-4353-7B4F-25F1F96140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43B8C2-1AC2-9703-ADA1-B31EB81C14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50AAE-0F3E-2104-B1A8-BAC1B65BF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7D04D-469B-B843-8EC9-54A9E5D3433D}" type="datetime1">
              <a:t>16/10/26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396E2-279B-1204-A4E2-C63FF7173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16E23-C9BD-3032-9A25-9EF3178CE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191311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7140A9-814D-6179-8FF7-A0DDCA780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1E57D-95B0-7EFF-CCFC-BDB7AB167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BADB3-5637-E8A3-B39E-CDB22032D3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3B5607-7351-9A4C-87E7-7CA91C2F05ED}" type="datetime1">
              <a:t>16/10/26</a:t>
            </a:fld>
            <a:endParaRPr lang="en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0BCA7-3B2C-A1AA-BD03-31E0D0E600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2823E-5988-E291-BFD0-7FF3B6F618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63FB4D-4462-1148-A41B-A6D56F6F932D}" type="slidenum"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18571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Neural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vi-VN" dirty="0"/>
              <a:t>Từ z = wᵀx + b đến một neuron</a:t>
            </a:r>
          </a:p>
          <a:p>
            <a:pPr>
              <a:buFontTx/>
              <a:buChar char="-"/>
            </a:pPr>
            <a:r>
              <a:rPr lang="vi-VN" dirty="0"/>
              <a:t>Hàm kích hoạt</a:t>
            </a:r>
          </a:p>
          <a:p>
            <a:pPr>
              <a:buFontTx/>
              <a:buChar char="-"/>
            </a:pPr>
            <a:r>
              <a:rPr lang="vi-VN" dirty="0"/>
              <a:t>Một lớp = phép nhân ma trận; mạng nhiều lớp</a:t>
            </a:r>
          </a:p>
          <a:p>
            <a:pPr>
              <a:buFontTx/>
              <a:buChar char="-"/>
            </a:pPr>
            <a:r>
              <a:rPr lang="vi-VN" dirty="0"/>
              <a:t>Huấn luyện: máy “học” như thế nào?</a:t>
            </a:r>
          </a:p>
          <a:p>
            <a:pPr>
              <a:buFontTx/>
              <a:buChar char="-"/>
            </a:pPr>
            <a:r>
              <a:rPr lang="vi-VN" dirty="0"/>
              <a:t>Ứng dụng trong truyền thông</a:t>
            </a:r>
          </a:p>
          <a:p>
            <a:pPr>
              <a:buFontTx/>
              <a:buChar char="-"/>
            </a:pPr>
            <a:r>
              <a:rPr lang="vi-VN" dirty="0"/>
              <a:t>Lưu ý khi dùng 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8.1. From linear regression to neuron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rPr lang="en-US"/>
              <a:t>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101"/>
              <p:cNvSpPr txBox="1"/>
              <p:nvPr/>
            </p:nvSpPr>
            <p:spPr>
              <a:xfrm>
                <a:off x="841248" y="1645920"/>
                <a:ext cx="10515600" cy="4796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 algn="l">
                  <a:buNone/>
                </a:pPr>
                <a:r>
                  <a:rPr lang="vi-VN" sz="2600" dirty="0"/>
                  <a:t>Nhắc lại (3.3):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⊺</m:t>
                        </m:r>
                      </m:sup>
                    </m:sSup>
                    <m:r>
                      <a:rPr lang="en-US" sz="2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vi-VN" sz="2600" dirty="0"/>
                  <a:t>   →   1 neuron: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⊺</m:t>
                        </m:r>
                      </m:sup>
                    </m:sSup>
                    <m:r>
                      <a:rPr lang="en-US" sz="2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vi-VN" sz="2600" dirty="0"/>
              </a:p>
            </p:txBody>
          </p:sp>
        </mc:Choice>
        <mc:Fallback xmlns="">
          <p:sp>
            <p:nvSpPr>
              <p:cNvPr id="4" name="Text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248" y="1645920"/>
                <a:ext cx="10515600" cy="4796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 </a:t>
                </a:r>
              </a:p>
            </p:txBody>
          </p:sp>
        </mc:Fallback>
      </mc:AlternateContent>
      <p:pic>
        <p:nvPicPr>
          <p:cNvPr id="5" name="Picture 101" descr="neur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2514600"/>
            <a:ext cx="7680960" cy="2672927"/>
          </a:xfrm>
          <a:prstGeom prst="rect">
            <a:avLst/>
          </a:prstGeom>
        </p:spPr>
      </p:pic>
      <p:sp>
        <p:nvSpPr>
          <p:cNvPr id="6" name="TextBox 102"/>
          <p:cNvSpPr txBox="1"/>
          <p:nvPr/>
        </p:nvSpPr>
        <p:spPr>
          <a:xfrm>
            <a:off x="841248" y="5532120"/>
            <a:ext cx="105156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vi-VN" sz="2200" b="1" dirty="0">
                <a:solidFill>
                  <a:srgbClr val="FF0000"/>
                </a:solidFill>
              </a:rPr>
              <a:t>1 neuron = tích vô hướng + bias + hàm kích hoạt σ</a:t>
            </a:r>
            <a:endParaRPr lang="vi-VN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8.2. Activation function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rPr lang="en-US"/>
              <a:t>3</a:t>
            </a:fld>
            <a:endParaRPr lang="en-US"/>
          </a:p>
        </p:txBody>
      </p:sp>
      <p:pic>
        <p:nvPicPr>
          <p:cNvPr id="4" name="Picture 90" descr="activ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691640"/>
            <a:ext cx="6035040" cy="21664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101"/>
              <p:cNvSpPr txBox="1"/>
              <p:nvPr/>
            </p:nvSpPr>
            <p:spPr>
              <a:xfrm>
                <a:off x="7178040" y="1737360"/>
                <a:ext cx="4754880" cy="2569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 algn="l">
                  <a:buNone/>
                </a:pPr>
                <a:r>
                  <a:rPr lang="vi-VN" sz="2400" b="1" dirty="0"/>
                  <a:t>Sigmoid:</a:t>
                </a:r>
                <a:endParaRPr lang="vi-VN" sz="2400" dirty="0"/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vi-VN" sz="2400" dirty="0"/>
              </a:p>
              <a:p>
                <a:pPr marL="0" indent="0" algn="l">
                  <a:buNone/>
                </a:pPr>
                <a:r>
                  <a:rPr lang="vi-VN" sz="2000" dirty="0">
                    <a:solidFill>
                      <a:srgbClr val="FF0000"/>
                    </a:solidFill>
                  </a:rPr>
                  <a:t>→ đầu ra trong (0, 1): xác suất</a:t>
                </a:r>
                <a:endParaRPr lang="vi-VN" sz="2000" dirty="0"/>
              </a:p>
              <a:p>
                <a:pPr marL="0" indent="0" algn="l">
                  <a:spcBef>
                    <a:spcPts val="1400"/>
                  </a:spcBef>
                  <a:buNone/>
                </a:pPr>
                <a:r>
                  <a:rPr lang="vi-VN" sz="2400" b="1" dirty="0"/>
                  <a:t>ReLU:</a:t>
                </a:r>
                <a:endParaRPr lang="vi-VN" sz="2400" dirty="0"/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ReLU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sz="2400" i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(0,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vi-VN" sz="2400" dirty="0"/>
              </a:p>
              <a:p>
                <a:pPr marL="0" indent="0" algn="l">
                  <a:buNone/>
                </a:pPr>
                <a:r>
                  <a:rPr lang="vi-VN" sz="2000" dirty="0">
                    <a:solidFill>
                      <a:srgbClr val="FF0000"/>
                    </a:solidFill>
                  </a:rPr>
                  <a:t>→ phổ biến nhất cho lớp ẩn</a:t>
                </a:r>
                <a:endParaRPr lang="vi-VN" sz="2000" dirty="0"/>
              </a:p>
            </p:txBody>
          </p:sp>
        </mc:Choice>
        <mc:Fallback xmlns="">
          <p:sp>
            <p:nvSpPr>
              <p:cNvPr id="5" name="Text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8040" y="1737360"/>
                <a:ext cx="4754880" cy="25693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 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102"/>
              <p:cNvSpPr txBox="1"/>
              <p:nvPr/>
            </p:nvSpPr>
            <p:spPr>
              <a:xfrm>
                <a:off x="841248" y="4800600"/>
                <a:ext cx="10515600" cy="6507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 algn="l">
                  <a:buNone/>
                </a:pPr>
                <a:r>
                  <a:rPr lang="vi-VN" sz="2000" dirty="0"/>
                  <a:t>Q: Hàm kích hoạt có phải ánh xạ tuyến tính không?  (gợi ý: kiểm tra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(2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)=2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vi-VN" sz="2000" dirty="0"/>
                  <a:t> như ở 1.2)</a:t>
                </a:r>
              </a:p>
            </p:txBody>
          </p:sp>
        </mc:Choice>
        <mc:Fallback xmlns="">
          <p:sp>
            <p:nvSpPr>
              <p:cNvPr id="6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248" y="4800600"/>
                <a:ext cx="10515600" cy="6507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 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8.3. Ex: Bài đăng có viral không?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rPr lang="en-US"/>
              <a:t>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101"/>
              <p:cNvSpPr txBox="1"/>
              <p:nvPr/>
            </p:nvSpPr>
            <p:spPr>
              <a:xfrm>
                <a:off x="841248" y="1645920"/>
                <a:ext cx="7863840" cy="4004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 algn="l">
                  <a:buNone/>
                </a:pPr>
                <a:r>
                  <a:rPr lang="vi-VN" sz="2400" dirty="0"/>
                  <a:t>Giả sử mô hình đã học được: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=(1.5,0.3,1.0),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endParaRPr lang="vi-VN" sz="2400" dirty="0"/>
              </a:p>
            </p:txBody>
          </p:sp>
        </mc:Choice>
        <mc:Fallback xmlns="">
          <p:sp>
            <p:nvSpPr>
              <p:cNvPr id="4" name="Text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248" y="1645920"/>
                <a:ext cx="7863840" cy="4004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 </a:t>
                </a:r>
              </a:p>
            </p:txBody>
          </p:sp>
        </mc:Fallback>
      </mc:AlternateContent>
      <p:graphicFrame>
        <p:nvGraphicFramePr>
          <p:cNvPr id="5" name="Table 101"/>
          <p:cNvGraphicFramePr>
            <a:graphicFrameLocks noGrp="1"/>
          </p:cNvGraphicFramePr>
          <p:nvPr/>
        </p:nvGraphicFramePr>
        <p:xfrm>
          <a:off x="841248" y="2377440"/>
          <a:ext cx="7498080" cy="121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sz="2000"/>
                        <a:t>Bài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Video x₁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Hashtag x₂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Giờ vàng x₃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200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F0000"/>
                          </a:solidFill>
                        </a:rPr>
                        <a:t>0.80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200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−1.7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70C0"/>
                          </a:solidFill>
                        </a:rPr>
                        <a:t>0.15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102"/>
              <p:cNvSpPr txBox="1"/>
              <p:nvPr/>
            </p:nvSpPr>
            <p:spPr>
              <a:xfrm>
                <a:off x="841248" y="4206240"/>
                <a:ext cx="7863840" cy="1030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=1.5·1+0.3·3+1.0·1−2=1.4</m:t>
                      </m:r>
                    </m:oMath>
                  </m:oMathPara>
                </a14:m>
                <a:endParaRPr lang="vi-VN" sz="2200" dirty="0"/>
              </a:p>
              <a:p>
                <a:pPr marL="0" indent="0" algn="l">
                  <a:spcBef>
                    <a:spcPts val="6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(1.4)=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1+</m:t>
                        </m:r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−1.4</m:t>
                            </m:r>
                          </m:sup>
                        </m:sSup>
                      </m:den>
                    </m:f>
                    <m:r>
                      <a:rPr lang="en-US" sz="2200" i="1">
                        <a:latin typeface="Cambria Math" panose="02040503050406030204" pitchFamily="18" charset="0"/>
                      </a:rPr>
                      <m:t>≈0.80</m:t>
                    </m:r>
                  </m:oMath>
                </a14:m>
                <a:r>
                  <a:rPr lang="vi-VN" sz="2200" dirty="0">
                    <a:solidFill>
                      <a:srgbClr val="FF0000"/>
                    </a:solidFill>
                  </a:rPr>
                  <a:t>  → 80% khả năng viral</a:t>
                </a:r>
                <a:endParaRPr lang="vi-VN" sz="2200" dirty="0"/>
              </a:p>
            </p:txBody>
          </p:sp>
        </mc:Choice>
        <mc:Fallback xmlns="">
          <p:sp>
            <p:nvSpPr>
              <p:cNvPr id="6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248" y="4206240"/>
                <a:ext cx="7863840" cy="10304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 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8.4. One layer = matrix multiplication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rPr lang="en-US"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101"/>
              <p:cNvSpPr txBox="1"/>
              <p:nvPr/>
            </p:nvSpPr>
            <p:spPr>
              <a:xfrm>
                <a:off x="841248" y="1645920"/>
                <a:ext cx="7863840" cy="2411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 algn="l">
                  <a:buNone/>
                </a:pPr>
                <a:r>
                  <a:rPr lang="vi-VN" sz="2400" dirty="0"/>
                  <a:t>Nhiều neuron cùng nhận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vi-VN" sz="2400" dirty="0"/>
                  <a:t> → xếp trọng số thành ma trận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vi-VN" sz="2400" dirty="0"/>
                  <a:t>:</a:t>
                </a:r>
              </a:p>
              <a:p>
                <a:pPr marL="0" indent="0" algn="ctr"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vi-VN" sz="2400" dirty="0"/>
              </a:p>
              <a:p>
                <a:pPr marL="0" indent="0" algn="ctr">
                  <a:spcBef>
                    <a:spcPts val="6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𝑊𝑥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vi-VN" sz="2400" dirty="0"/>
                  <a:t>,  hàng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vi-VN" sz="2400" dirty="0"/>
                  <a:t> của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vi-VN" sz="2400" dirty="0"/>
                  <a:t> = trọng số của neuron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vi-VN" sz="2400" dirty="0"/>
              </a:p>
            </p:txBody>
          </p:sp>
        </mc:Choice>
        <mc:Fallback xmlns="">
          <p:sp>
            <p:nvSpPr>
              <p:cNvPr id="4" name="Text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248" y="1645920"/>
                <a:ext cx="7863840" cy="24112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 </a:t>
                </a:r>
              </a:p>
            </p:txBody>
          </p:sp>
        </mc:Fallback>
      </mc:AlternateContent>
      <p:cxnSp>
        <p:nvCxnSpPr>
          <p:cNvPr id="5" name="Connector 101"/>
          <p:cNvCxnSpPr/>
          <p:nvPr/>
        </p:nvCxnSpPr>
        <p:spPr>
          <a:xfrm>
            <a:off x="932688" y="4148659"/>
            <a:ext cx="768096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102"/>
              <p:cNvSpPr txBox="1"/>
              <p:nvPr/>
            </p:nvSpPr>
            <p:spPr>
              <a:xfrm>
                <a:off x="841248" y="4285819"/>
                <a:ext cx="7863840" cy="11722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 algn="l">
                  <a:buNone/>
                </a:pPr>
                <a14:m>
                  <m:oMath xmlns:m="http://schemas.openxmlformats.org/officeDocument/2006/math">
                    <m:r>
                      <a:rPr lang="en-US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a:rPr lang="en-US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𝑊𝑥</m:t>
                    </m:r>
                  </m:oMath>
                </a14:m>
                <a:r>
                  <a:rPr lang="vi-VN" sz="2200" dirty="0">
                    <a:solidFill>
                      <a:srgbClr val="FF0000"/>
                    </a:solidFill>
                  </a:rPr>
                  <a:t> là ánh xạ tuyến tính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vi-VN" sz="2200" dirty="0">
                    <a:solidFill>
                      <a:srgbClr val="FF0000"/>
                    </a:solidFill>
                  </a:rPr>
                  <a:t> (phần 2)!</a:t>
                </a:r>
                <a:endParaRPr lang="vi-VN" sz="2200" dirty="0"/>
              </a:p>
              <a:p>
                <a:pPr marL="0" indent="0" algn="l">
                  <a:spcBef>
                    <a:spcPts val="800"/>
                  </a:spcBef>
                  <a:buNone/>
                </a:pPr>
                <a:r>
                  <a:rPr lang="vi-VN" sz="2200" dirty="0"/>
                  <a:t>Vì sao cần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vi-VN" sz="2200" dirty="0"/>
                  <a:t>?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)=(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vi-VN" sz="2200" dirty="0"/>
                  <a:t> → không có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vi-VN" sz="2200" dirty="0"/>
                  <a:t>, xếp bao nhiêu lớp cũng chỉ như 1 lớp.</a:t>
                </a:r>
              </a:p>
            </p:txBody>
          </p:sp>
        </mc:Choice>
        <mc:Fallback xmlns="">
          <p:sp>
            <p:nvSpPr>
              <p:cNvPr id="6" name="TextBox 1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248" y="4285819"/>
                <a:ext cx="7863840" cy="11722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7" name="TextBox 103"/>
          <p:cNvSpPr txBox="1"/>
          <p:nvPr/>
        </p:nvSpPr>
        <p:spPr>
          <a:xfrm>
            <a:off x="9025128" y="1783080"/>
            <a:ext cx="3154680" cy="1737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vi-VN" sz="2400" b="1" dirty="0">
                <a:solidFill>
                  <a:srgbClr val="FF0000"/>
                </a:solidFill>
              </a:rPr>
              <a:t>GPU</a:t>
            </a:r>
            <a:endParaRPr lang="vi-VN" sz="1800" dirty="0"/>
          </a:p>
          <a:p>
            <a:pPr marL="0" indent="0" algn="l">
              <a:buNone/>
            </a:pPr>
            <a:r>
              <a:rPr lang="vi-VN" sz="1800" dirty="0">
                <a:solidFill>
                  <a:srgbClr val="FF0000"/>
                </a:solidFill>
              </a:rPr>
              <a:t>AI = hàng tỉ phép</a:t>
            </a:r>
            <a:endParaRPr lang="vi-VN" sz="1800" dirty="0"/>
          </a:p>
          <a:p>
            <a:pPr marL="0" indent="0" algn="l">
              <a:buNone/>
            </a:pPr>
            <a:r>
              <a:rPr lang="vi-VN" sz="1800" dirty="0">
                <a:solidFill>
                  <a:srgbClr val="FF0000"/>
                </a:solidFill>
              </a:rPr>
              <a:t>nhân ma trận</a:t>
            </a:r>
            <a:endParaRPr lang="vi-VN" sz="1800" dirty="0"/>
          </a:p>
          <a:p>
            <a:pPr marL="0" indent="0" algn="l">
              <a:buNone/>
            </a:pPr>
            <a:r>
              <a:rPr lang="vi-VN" sz="1800" dirty="0">
                <a:solidFill>
                  <a:srgbClr val="FF0000"/>
                </a:solidFill>
              </a:rPr>
              <a:t>→ card đồ hoạ (GPU)</a:t>
            </a:r>
            <a:endParaRPr lang="vi-VN" sz="1800" dirty="0"/>
          </a:p>
          <a:p>
            <a:pPr marL="0" indent="0" algn="l">
              <a:buNone/>
            </a:pPr>
            <a:r>
              <a:rPr lang="vi-VN" sz="1800" dirty="0">
                <a:solidFill>
                  <a:srgbClr val="FF0000"/>
                </a:solidFill>
              </a:rPr>
              <a:t>tính song song</a:t>
            </a:r>
            <a:endParaRPr lang="vi-VN" sz="1800" dirty="0"/>
          </a:p>
          <a:p>
            <a:pPr marL="0" indent="0" algn="l">
              <a:buNone/>
            </a:pPr>
            <a:r>
              <a:rPr lang="vi-VN" sz="1800" dirty="0">
                <a:solidFill>
                  <a:srgbClr val="FF0000"/>
                </a:solidFill>
              </a:rPr>
              <a:t>rất nhanh</a:t>
            </a:r>
            <a:endParaRPr lang="vi-VN" sz="1800" dirty="0"/>
          </a:p>
        </p:txBody>
      </p:sp>
      <p:cxnSp>
        <p:nvCxnSpPr>
          <p:cNvPr id="8" name="Connector 103"/>
          <p:cNvCxnSpPr/>
          <p:nvPr/>
        </p:nvCxnSpPr>
        <p:spPr>
          <a:xfrm>
            <a:off x="8915400" y="1828800"/>
            <a:ext cx="0" cy="16916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8.5. Multi-layer network (MLP)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rPr lang="en-US"/>
              <a:t>6</a:t>
            </a:fld>
            <a:endParaRPr lang="en-US"/>
          </a:p>
        </p:txBody>
      </p:sp>
      <p:pic>
        <p:nvPicPr>
          <p:cNvPr id="4" name="Picture 90" descr="m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91640"/>
            <a:ext cx="6400800" cy="37884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101"/>
              <p:cNvSpPr txBox="1"/>
              <p:nvPr/>
            </p:nvSpPr>
            <p:spPr>
              <a:xfrm>
                <a:off x="7269480" y="1783080"/>
                <a:ext cx="4754880" cy="20687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vi-VN" sz="2400" dirty="0"/>
              </a:p>
              <a:p>
                <a:pPr marL="0" indent="0" algn="l">
                  <a:spcBef>
                    <a:spcPts val="8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vi-VN" sz="2400" dirty="0"/>
              </a:p>
              <a:p>
                <a:pPr marL="0" indent="0" algn="l">
                  <a:spcBef>
                    <a:spcPts val="8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vi-VN" sz="2400" dirty="0"/>
              </a:p>
              <a:p>
                <a:pPr marL="0" indent="0" algn="l">
                  <a:spcBef>
                    <a:spcPts val="1400"/>
                  </a:spcBef>
                  <a:buNone/>
                </a:pPr>
                <a:r>
                  <a:rPr lang="vi-VN" sz="2000" dirty="0"/>
                  <a:t>Số tham số: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3·4+4+4·4+4+4·2+2=46</m:t>
                    </m:r>
                  </m:oMath>
                </a14:m>
                <a:endParaRPr lang="vi-VN" sz="2000" dirty="0"/>
              </a:p>
            </p:txBody>
          </p:sp>
        </mc:Choice>
        <mc:Fallback xmlns="">
          <p:sp>
            <p:nvSpPr>
              <p:cNvPr id="5" name="Text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9480" y="1783080"/>
                <a:ext cx="4754880" cy="206879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6" name="TextBox 102"/>
          <p:cNvSpPr txBox="1"/>
          <p:nvPr/>
        </p:nvSpPr>
        <p:spPr>
          <a:xfrm>
            <a:off x="7269480" y="4480560"/>
            <a:ext cx="4754880" cy="822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vi-VN" sz="2000" b="1" dirty="0">
                <a:solidFill>
                  <a:srgbClr val="FF0000"/>
                </a:solidFill>
              </a:rPr>
              <a:t>Deep learning = mạng có nhiều lớp ẩn.</a:t>
            </a:r>
            <a:endParaRPr lang="vi-VN" sz="2400" dirty="0"/>
          </a:p>
          <a:p>
            <a:pPr marL="0" indent="0" algn="l">
              <a:buNone/>
            </a:pPr>
            <a:r>
              <a:rPr lang="vi-VN" sz="1800" dirty="0">
                <a:solidFill>
                  <a:srgbClr val="FF0000"/>
                </a:solidFill>
              </a:rPr>
              <a:t>Các mô hình ngôn ngữ lớn (chatbot AI) có hàng tỉ tham số.</a:t>
            </a:r>
            <a:endParaRPr lang="vi-VN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8.6. Ex: Forward pass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rPr lang="en-US"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101"/>
              <p:cNvSpPr txBox="1"/>
              <p:nvPr/>
            </p:nvSpPr>
            <p:spPr>
              <a:xfrm>
                <a:off x="841248" y="1645920"/>
                <a:ext cx="10607040" cy="19979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vi-VN" sz="2200" dirty="0"/>
              </a:p>
              <a:p>
                <a:pPr marL="0" indent="0" algn="l">
                  <a:spcBef>
                    <a:spcPts val="1000"/>
                  </a:spcBef>
                  <a:buNone/>
                </a:pPr>
                <a:r>
                  <a:rPr lang="vi-VN" sz="2200" dirty="0"/>
                  <a:t>Lớp ẩn (ReLU):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200" i="0">
                        <a:latin typeface="Cambria Math" panose="02040503050406030204" pitchFamily="18" charset="0"/>
                      </a:rPr>
                      <m:t>ReLU</m:t>
                    </m:r>
                    <m:d>
                      <m:dPr>
                        <m:begChr m:val="["/>
                        <m:endChr m:val="]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vi-VN" sz="2200" dirty="0"/>
              </a:p>
              <a:p>
                <a:pPr marL="0" indent="0" algn="l">
                  <a:spcBef>
                    <a:spcPts val="1000"/>
                  </a:spcBef>
                  <a:buNone/>
                </a:pPr>
                <a:r>
                  <a:rPr lang="vi-VN" sz="2200" dirty="0"/>
                  <a:t>Lớp ra (sigmoid):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=1−2+0.5=−0.5⇒</m:t>
                    </m:r>
                    <m:acc>
                      <m:accPr>
                        <m:chr m:val="̂"/>
                        <m:ctrlPr>
                          <a:rPr lang="en-US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(−0.5)≈0.38</m:t>
                    </m:r>
                  </m:oMath>
                </a14:m>
                <a:endParaRPr lang="vi-VN" sz="2200" dirty="0"/>
              </a:p>
            </p:txBody>
          </p:sp>
        </mc:Choice>
        <mc:Fallback xmlns="">
          <p:sp>
            <p:nvSpPr>
              <p:cNvPr id="4" name="Text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248" y="1645920"/>
                <a:ext cx="10607040" cy="19979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 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8.7. Training: máy “học” như thế nào?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rPr lang="en-US"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101"/>
              <p:cNvSpPr txBox="1"/>
              <p:nvPr/>
            </p:nvSpPr>
            <p:spPr>
              <a:xfrm>
                <a:off x="841248" y="1691640"/>
                <a:ext cx="7863840" cy="28994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11480" indent="-411480" algn="l">
                  <a:buFont typeface="+mj-lt"/>
                  <a:buAutoNum type="arabicPeriod"/>
                </a:pPr>
                <a:r>
                  <a:rPr lang="vi-VN" sz="2400" dirty="0"/>
                  <a:t>Khởi tạo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vi-VN" sz="2400" dirty="0"/>
                  <a:t> ngẫu nhiên</a:t>
                </a:r>
              </a:p>
              <a:p>
                <a:pPr marL="411480" indent="-411480" algn="l"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vi-VN" sz="2400" dirty="0"/>
                  <a:t>Dự đoán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vi-VN" sz="2400" dirty="0"/>
                  <a:t> cho dữ liệu đã có nhãn (bài cũ: viral hay không)</a:t>
                </a:r>
              </a:p>
              <a:p>
                <a:pPr marL="411480" indent="-411480" algn="l"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vi-VN" sz="2400" dirty="0"/>
                  <a:t>Đo sai số (loss) giữa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vi-VN" sz="2400" dirty="0"/>
                  <a:t> và nhãn thật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vi-VN" sz="2400" dirty="0"/>
              </a:p>
              <a:p>
                <a:pPr marL="411480" indent="-411480" algn="l"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vi-VN" sz="2400" dirty="0"/>
                  <a:t>Chỉnh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vi-VN" sz="2400" dirty="0"/>
                  <a:t> một chút theo hướng giảm loss (gradient descent)</a:t>
                </a:r>
              </a:p>
              <a:p>
                <a:pPr marL="411480" indent="-411480" algn="l">
                  <a:spcBef>
                    <a:spcPts val="600"/>
                  </a:spcBef>
                  <a:buFont typeface="+mj-lt"/>
                  <a:buAutoNum type="arabicPeriod"/>
                </a:pPr>
                <a:r>
                  <a:rPr lang="vi-VN" sz="2400" dirty="0"/>
                  <a:t>Lặp lại hàng nghìn lần</a:t>
                </a:r>
              </a:p>
            </p:txBody>
          </p:sp>
        </mc:Choice>
        <mc:Fallback xmlns="">
          <p:sp>
            <p:nvSpPr>
              <p:cNvPr id="4" name="Text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248" y="1691640"/>
                <a:ext cx="7863840" cy="2899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 </a:t>
                </a:r>
              </a:p>
            </p:txBody>
          </p:sp>
        </mc:Fallback>
      </mc:AlternateContent>
      <p:sp>
        <p:nvSpPr>
          <p:cNvPr id="5" name="TextBox 102"/>
          <p:cNvSpPr txBox="1"/>
          <p:nvPr/>
        </p:nvSpPr>
        <p:spPr>
          <a:xfrm>
            <a:off x="841248" y="4846320"/>
            <a:ext cx="7863840" cy="822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vi-VN" sz="2200" b="1" dirty="0">
                <a:solidFill>
                  <a:srgbClr val="FF0000"/>
                </a:solidFill>
              </a:rPr>
              <a:t>“Học” = tìm W, b sao cho dự đoán khớp dữ liệu.</a:t>
            </a:r>
            <a:endParaRPr lang="vi-VN" sz="2400" dirty="0"/>
          </a:p>
          <a:p>
            <a:pPr marL="0" indent="0" algn="l">
              <a:buNone/>
            </a:pPr>
            <a:r>
              <a:rPr lang="vi-VN" sz="2000" dirty="0">
                <a:solidFill>
                  <a:srgbClr val="FF0000"/>
                </a:solidFill>
              </a:rPr>
              <a:t>Mô hình chỉ tốt bằng dữ liệu dùng để huấn luyện.</a:t>
            </a:r>
            <a:endParaRPr lang="vi-VN" sz="2400" dirty="0"/>
          </a:p>
        </p:txBody>
      </p:sp>
      <p:sp>
        <p:nvSpPr>
          <p:cNvPr id="6" name="TextBox 103"/>
          <p:cNvSpPr txBox="1"/>
          <p:nvPr/>
        </p:nvSpPr>
        <p:spPr>
          <a:xfrm>
            <a:off x="9025128" y="1783080"/>
            <a:ext cx="3154680" cy="1554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vi-VN" sz="2400" b="1" dirty="0">
                <a:solidFill>
                  <a:srgbClr val="FF0000"/>
                </a:solidFill>
              </a:rPr>
              <a:t>Python</a:t>
            </a:r>
            <a:endParaRPr lang="vi-VN" sz="1600" dirty="0"/>
          </a:p>
          <a:p>
            <a:pPr marL="0" indent="0" algn="l">
              <a:buNone/>
            </a:pPr>
            <a:r>
              <a:rPr lang="vi-VN" sz="1600" i="1" dirty="0">
                <a:solidFill>
                  <a:srgbClr val="FF0000"/>
                </a:solidFill>
                <a:latin typeface="Cambria Math"/>
              </a:rPr>
              <a:t>from sklearn.neural_network</a:t>
            </a:r>
            <a:endParaRPr lang="vi-VN" sz="1600" dirty="0"/>
          </a:p>
          <a:p>
            <a:pPr marL="0" indent="0" algn="l">
              <a:buNone/>
            </a:pPr>
            <a:r>
              <a:rPr lang="vi-VN" sz="1600" i="1" dirty="0">
                <a:solidFill>
                  <a:srgbClr val="FF0000"/>
                </a:solidFill>
                <a:latin typeface="Cambria Math"/>
              </a:rPr>
              <a:t>    import MLPClassifier</a:t>
            </a:r>
            <a:endParaRPr lang="vi-VN" sz="1600" dirty="0"/>
          </a:p>
          <a:p>
            <a:pPr marL="0" indent="0" algn="l">
              <a:buNone/>
            </a:pPr>
            <a:r>
              <a:rPr lang="vi-VN" sz="1600" i="1" dirty="0">
                <a:solidFill>
                  <a:srgbClr val="FF0000"/>
                </a:solidFill>
                <a:latin typeface="Cambria Math"/>
              </a:rPr>
              <a:t>model = MLPClassifier((4, 4))</a:t>
            </a:r>
            <a:endParaRPr lang="vi-VN" sz="1600" dirty="0"/>
          </a:p>
          <a:p>
            <a:pPr marL="0" indent="0" algn="l">
              <a:buNone/>
            </a:pPr>
            <a:r>
              <a:rPr lang="vi-VN" sz="1600" i="1" dirty="0">
                <a:solidFill>
                  <a:srgbClr val="FF0000"/>
                </a:solidFill>
                <a:latin typeface="Cambria Math"/>
              </a:rPr>
              <a:t>model.fit(X, y)</a:t>
            </a:r>
            <a:endParaRPr lang="vi-VN" sz="1600" dirty="0"/>
          </a:p>
          <a:p>
            <a:pPr marL="0" indent="0" algn="l">
              <a:buNone/>
            </a:pPr>
            <a:r>
              <a:rPr lang="vi-VN" sz="1600" i="1" dirty="0">
                <a:solidFill>
                  <a:srgbClr val="FF0000"/>
                </a:solidFill>
                <a:latin typeface="Cambria Math"/>
              </a:rPr>
              <a:t>model.predict_proba(X_new)</a:t>
            </a:r>
            <a:endParaRPr lang="vi-VN" sz="1600" dirty="0"/>
          </a:p>
        </p:txBody>
      </p:sp>
      <p:cxnSp>
        <p:nvCxnSpPr>
          <p:cNvPr id="7" name="Connector 103"/>
          <p:cNvCxnSpPr/>
          <p:nvPr/>
        </p:nvCxnSpPr>
        <p:spPr>
          <a:xfrm>
            <a:off x="8915400" y="1828800"/>
            <a:ext cx="0" cy="150876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8.8. Mọi dữ liệu → vector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rPr lang="en-US"/>
              <a:t>9</a:t>
            </a:fld>
            <a:endParaRPr lang="en-US"/>
          </a:p>
        </p:txBody>
      </p:sp>
      <p:pic>
        <p:nvPicPr>
          <p:cNvPr id="4" name="Picture 90" descr="img2v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645920"/>
            <a:ext cx="9601200" cy="29991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101"/>
              <p:cNvSpPr txBox="1"/>
              <p:nvPr/>
            </p:nvSpPr>
            <p:spPr>
              <a:xfrm>
                <a:off x="841248" y="4800600"/>
                <a:ext cx="10515600" cy="11762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74320" indent="-274320" algn="l">
                  <a:buFontTx/>
                  <a:buChar char="-"/>
                </a:pPr>
                <a:r>
                  <a:rPr lang="vi-VN" sz="2200" dirty="0"/>
                  <a:t>Ảnh màu 1080 × 1080: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1080·1080·3≈3.5</m:t>
                    </m:r>
                  </m:oMath>
                </a14:m>
                <a:r>
                  <a:rPr lang="vi-VN" sz="2200" dirty="0"/>
                  <a:t> triệu chiều</a:t>
                </a:r>
              </a:p>
              <a:p>
                <a:pPr marL="274320" indent="-274320" algn="l">
                  <a:spcBef>
                    <a:spcPts val="400"/>
                  </a:spcBef>
                  <a:buFontTx/>
                  <a:buChar char="-"/>
                </a:pPr>
                <a:r>
                  <a:rPr lang="vi-VN" sz="2200" dirty="0"/>
                  <a:t>Văn bản: mỗi từ → một vector (embedding), từ gần nghĩa → vector gần nhau</a:t>
                </a:r>
              </a:p>
              <a:p>
                <a:pPr marL="274320" indent="-274320" algn="l">
                  <a:spcBef>
                    <a:spcPts val="400"/>
                  </a:spcBef>
                  <a:buFontTx/>
                  <a:buChar char="-"/>
                </a:pPr>
                <a:r>
                  <a:rPr lang="vi-VN" sz="2200" dirty="0"/>
                  <a:t>Âm thanh: phổ tần số theo thời gian → ma trận</a:t>
                </a:r>
              </a:p>
            </p:txBody>
          </p:sp>
        </mc:Choice>
        <mc:Fallback xmlns="">
          <p:sp>
            <p:nvSpPr>
              <p:cNvPr id="5" name="Text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248" y="4800600"/>
                <a:ext cx="10515600" cy="11762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 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8.9. Ex: Phân tích cảm xúc bình luận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rPr lang="en-US"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101"/>
              <p:cNvSpPr txBox="1"/>
              <p:nvPr/>
            </p:nvSpPr>
            <p:spPr>
              <a:xfrm>
                <a:off x="841248" y="1645920"/>
                <a:ext cx="10607040" cy="8842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 algn="l">
                  <a:buNone/>
                </a:pPr>
                <a:r>
                  <a:rPr lang="vi-VN" sz="2400" dirty="0"/>
                  <a:t>Đếm số lần xuất hiện các từ </a:t>
                </a:r>
                <a:r>
                  <a:rPr lang="vi-VN" sz="2400" b="1" dirty="0"/>
                  <a:t>(hay, đỉnh, tệ, chán)</a:t>
                </a:r>
                <a:r>
                  <a:rPr lang="vi-VN" sz="2400" dirty="0"/>
                  <a:t> →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vi-VN" sz="2400" dirty="0"/>
              </a:p>
              <a:p>
                <a:pPr marL="0" indent="0" algn="l">
                  <a:spcBef>
                    <a:spcPts val="6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=(1.2,1.5,−1.8,−1.3),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=0,</m:t>
                    </m:r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⊺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vi-VN" sz="2400" dirty="0"/>
                  <a:t>: xác suất tích cực</a:t>
                </a:r>
              </a:p>
            </p:txBody>
          </p:sp>
        </mc:Choice>
        <mc:Fallback xmlns="">
          <p:sp>
            <p:nvSpPr>
              <p:cNvPr id="4" name="Text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248" y="1645920"/>
                <a:ext cx="10607040" cy="8842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 </a:t>
                </a:r>
              </a:p>
            </p:txBody>
          </p:sp>
        </mc:Fallback>
      </mc:AlternateContent>
      <p:graphicFrame>
        <p:nvGraphicFramePr>
          <p:cNvPr id="5" name="Table 101"/>
          <p:cNvGraphicFramePr>
            <a:graphicFrameLocks noGrp="1"/>
          </p:cNvGraphicFramePr>
          <p:nvPr/>
        </p:nvGraphicFramePr>
        <p:xfrm>
          <a:off x="841248" y="2788920"/>
          <a:ext cx="10424160" cy="1625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sz="2000"/>
                        <a:t>Bình luận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Kết luận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2000"/>
                        <a:t>“Video hay quá, đỉnh thật”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(1, 1, 0, 0)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0070C0"/>
                          </a:solidFill>
                        </a:rPr>
                        <a:t>Tích cực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2000"/>
                        <a:t>“Chán, nội dung tệ”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(0, 0, 1, 1)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−3.1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FF0000"/>
                          </a:solidFill>
                        </a:rPr>
                        <a:t>Tiêu cực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2000"/>
                        <a:t>“Hay nhưng hơi chán”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(1, 0, 0, 1)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−0.1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Phân vân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102"/>
          <p:cNvSpPr txBox="1"/>
          <p:nvPr/>
        </p:nvSpPr>
        <p:spPr>
          <a:xfrm>
            <a:off x="841248" y="4892040"/>
            <a:ext cx="105156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vi-VN" sz="2000" dirty="0">
                <a:solidFill>
                  <a:srgbClr val="FF0000"/>
                </a:solidFill>
              </a:rPr>
              <a:t>Q: “Không hay chút nào” → mô hình đoán sai thế nào? Thực tế dùng embedding + mạng nhiều lớp để hiểu ngữ cảnh.</a:t>
            </a:r>
            <a:endParaRPr lang="vi-VN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8.10. Applications in communications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rPr lang="en-US"/>
              <a:t>11</a:t>
            </a:fld>
            <a:endParaRPr lang="en-US"/>
          </a:p>
        </p:txBody>
      </p:sp>
      <p:graphicFrame>
        <p:nvGraphicFramePr>
          <p:cNvPr id="4" name="Table 90"/>
          <p:cNvGraphicFramePr>
            <a:graphicFrameLocks noGrp="1"/>
          </p:cNvGraphicFramePr>
          <p:nvPr/>
        </p:nvGraphicFramePr>
        <p:xfrm>
          <a:off x="841248" y="1691640"/>
          <a:ext cx="10515600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8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800" b="1"/>
                        <a:t>Ứng dụng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/>
                        <a:t>Input (vector)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/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800"/>
                        <a:t>Gợi ý video (TikTok, YouTube)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Lịch sử xem, đặc trưng video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Xác suất xem hết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800"/>
                        <a:t>Phân tích cảm xúc (social listening)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Embedding bình luận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Tích cực / tiêu cực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800"/>
                        <a:t>Tự động gắn thẻ, nhận diện ảnh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Pixel ảnh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Nhãn: người, vật, cảnh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800"/>
                        <a:t>Phụ đề tự động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Phổ âm thanh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Văn bản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800"/>
                        <a:t>Kiểm duyệt nội dung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Ảnh, văn bản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Vi phạm / không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800"/>
                        <a:t>AI tạo sinh (chatbot, sinh ảnh)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Prompt (văn bản)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Văn bản, ảnh, video mới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101"/>
          <p:cNvSpPr txBox="1"/>
          <p:nvPr/>
        </p:nvSpPr>
        <p:spPr>
          <a:xfrm>
            <a:off x="841248" y="5715000"/>
            <a:ext cx="105156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vi-VN" sz="2000" dirty="0">
                <a:solidFill>
                  <a:srgbClr val="FF0000"/>
                </a:solidFill>
              </a:rPr>
              <a:t>Ex: Mở app bạn dùng nhiều nhất — tìm 2 chỗ có neural network đang chạy phía sau.</a:t>
            </a:r>
            <a:endParaRPr lang="vi-VN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8.11. Linear algebra in AI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rPr lang="en-US"/>
              <a:t>12</a:t>
            </a:fld>
            <a:endParaRPr lang="en-US"/>
          </a:p>
        </p:txBody>
      </p:sp>
      <p:graphicFrame>
        <p:nvGraphicFramePr>
          <p:cNvPr id="4" name="Table 90"/>
          <p:cNvGraphicFramePr>
            <a:graphicFrameLocks noGrp="1"/>
          </p:cNvGraphicFramePr>
          <p:nvPr/>
        </p:nvGraphicFramePr>
        <p:xfrm>
          <a:off x="841248" y="1691640"/>
          <a:ext cx="10058400" cy="284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sz="2000" b="1"/>
                        <a:t>Đã học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1"/>
                        <a:t>Vai trò trong neural network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2000"/>
                        <a:t>Vector, feature vector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Input x, embedding của ảnh / chữ / âm thanh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2000"/>
                        <a:t>Inner product  wᵀx +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Một neuron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2000"/>
                        <a:t>Ma trận, nhân ma trận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Một lớp: Wx + b; tính cả batch dữ liệu cùng lúc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2000"/>
                        <a:t>Ánh xạ tuyến tính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Phần tuyến tính của mỗi lớp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2000"/>
                        <a:t>Chuyển vị Wᵀ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Dùng khi huấn luyện (lan truyền ngược)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2000"/>
                        <a:t>Eigen, PCA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Giảm chiều dữ liệu, trực quan hoá embedding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8.12. Lưu ý khi dùng AI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rPr lang="en-US"/>
              <a:t>13</a:t>
            </a:fld>
            <a:endParaRPr lang="en-US"/>
          </a:p>
        </p:txBody>
      </p:sp>
      <p:sp>
        <p:nvSpPr>
          <p:cNvPr id="4" name="TextBox 101"/>
          <p:cNvSpPr txBox="1"/>
          <p:nvPr/>
        </p:nvSpPr>
        <p:spPr>
          <a:xfrm>
            <a:off x="841248" y="1691640"/>
            <a:ext cx="7863840" cy="1859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l">
              <a:buFontTx/>
              <a:buChar char="-"/>
            </a:pPr>
            <a:r>
              <a:rPr lang="vi-VN" sz="2400" b="1" dirty="0"/>
              <a:t>Deepfake: </a:t>
            </a:r>
            <a:r>
              <a:rPr lang="vi-VN" sz="2400" dirty="0"/>
              <a:t>ảnh, video, giọng nói giả rất giống thật</a:t>
            </a:r>
          </a:p>
          <a:p>
            <a:pPr marL="274320" indent="-274320" algn="l">
              <a:spcBef>
                <a:spcPts val="800"/>
              </a:spcBef>
              <a:buFontTx/>
              <a:buChar char="-"/>
            </a:pPr>
            <a:r>
              <a:rPr lang="vi-VN" sz="2400" b="1" dirty="0"/>
              <a:t>Thiên lệch (bias): </a:t>
            </a:r>
            <a:r>
              <a:rPr lang="vi-VN" sz="2400" dirty="0"/>
              <a:t>dữ liệu lệch → dự đoán lệch</a:t>
            </a:r>
          </a:p>
          <a:p>
            <a:pPr marL="274320" indent="-274320" algn="l">
              <a:spcBef>
                <a:spcPts val="800"/>
              </a:spcBef>
              <a:buFontTx/>
              <a:buChar char="-"/>
            </a:pPr>
            <a:r>
              <a:rPr lang="vi-VN" sz="2400" b="1" dirty="0"/>
              <a:t>Thông tin sai: </a:t>
            </a:r>
            <a:r>
              <a:rPr lang="vi-VN" sz="2400" dirty="0"/>
              <a:t>AI tạo sinh có thể “bịa” nội dung nghe hợp lý</a:t>
            </a:r>
          </a:p>
          <a:p>
            <a:pPr marL="274320" indent="-274320" algn="l">
              <a:spcBef>
                <a:spcPts val="800"/>
              </a:spcBef>
              <a:buFontTx/>
              <a:buChar char="-"/>
            </a:pPr>
            <a:r>
              <a:rPr lang="vi-VN" sz="2400" b="1" dirty="0"/>
              <a:t>Bản quyền &amp; minh bạch: </a:t>
            </a:r>
            <a:r>
              <a:rPr lang="vi-VN" sz="2400" dirty="0"/>
              <a:t>ghi rõ khi nội dung có dùng AI</a:t>
            </a:r>
          </a:p>
        </p:txBody>
      </p:sp>
      <p:sp>
        <p:nvSpPr>
          <p:cNvPr id="5" name="TextBox 102"/>
          <p:cNvSpPr txBox="1"/>
          <p:nvPr/>
        </p:nvSpPr>
        <p:spPr>
          <a:xfrm>
            <a:off x="841248" y="4572000"/>
            <a:ext cx="105156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vi-VN" sz="2200" dirty="0">
                <a:solidFill>
                  <a:srgbClr val="FF0000"/>
                </a:solidFill>
              </a:rPr>
              <a:t>Q: Làm sao kiểm chứng một video nghi là deepfake trước khi đăng lại?</a:t>
            </a:r>
            <a:endParaRPr lang="vi-VN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LLM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vi-VN" dirty="0"/>
              <a:t>LLM là gì?</a:t>
            </a:r>
          </a:p>
          <a:p>
            <a:pPr>
              <a:buFontTx/>
              <a:buChar char="-"/>
            </a:pPr>
            <a:r>
              <a:rPr lang="vi-VN" dirty="0"/>
              <a:t>Tham số: “4B” nghĩa là gì?</a:t>
            </a:r>
          </a:p>
          <a:p>
            <a:pPr>
              <a:buFontTx/>
              <a:buChar char="-"/>
            </a:pPr>
            <a:r>
              <a:rPr lang="vi-VN" dirty="0"/>
              <a:t>Đọc tên một model: Qwen3-4B-Instruct-2507-Q4_K_M</a:t>
            </a:r>
          </a:p>
          <a:p>
            <a:pPr>
              <a:buFontTx/>
              <a:buChar char="-"/>
            </a:pPr>
            <a:r>
              <a:rPr lang="vi-VN" dirty="0"/>
              <a:t>Model nặng bao nhiêu? Quantization</a:t>
            </a:r>
          </a:p>
          <a:p>
            <a:pPr>
              <a:buFontTx/>
              <a:buChar char="-"/>
            </a:pPr>
            <a:r>
              <a:rPr lang="vi-VN" dirty="0"/>
              <a:t>GPU, VRAM: model nào chạy được trên máy nào?</a:t>
            </a:r>
          </a:p>
          <a:p>
            <a:pPr>
              <a:buFontTx/>
              <a:buChar char="-"/>
            </a:pPr>
            <a:r>
              <a:rPr lang="vi-VN" dirty="0"/>
              <a:t>Các thông số khi sử dụng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9.1. LLM là gì?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rPr lang="en-US"/>
              <a:t>15</a:t>
            </a:fld>
            <a:endParaRPr lang="en-US"/>
          </a:p>
        </p:txBody>
      </p:sp>
      <p:sp>
        <p:nvSpPr>
          <p:cNvPr id="4" name="TextBox 101"/>
          <p:cNvSpPr txBox="1"/>
          <p:nvPr/>
        </p:nvSpPr>
        <p:spPr>
          <a:xfrm>
            <a:off x="841248" y="1691640"/>
            <a:ext cx="10515600" cy="863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vi-VN" sz="2200" b="1" dirty="0"/>
              <a:t>LLM (Large Language Model)</a:t>
            </a:r>
            <a:r>
              <a:rPr lang="vi-VN" sz="2200" dirty="0"/>
              <a:t> = neural network rất lớn (kiến trúc Transformer), học từ lượng văn bản khổng lồ.</a:t>
            </a:r>
          </a:p>
          <a:p>
            <a:pPr marL="0" indent="0" algn="l">
              <a:spcBef>
                <a:spcPts val="800"/>
              </a:spcBef>
              <a:buNone/>
            </a:pPr>
            <a:r>
              <a:rPr lang="vi-VN" sz="2200" dirty="0"/>
              <a:t>Cách hoạt động: đọc chuỗi </a:t>
            </a:r>
            <a:r>
              <a:rPr lang="vi-VN" sz="2200" b="1" dirty="0"/>
              <a:t>token</a:t>
            </a:r>
            <a:r>
              <a:rPr lang="vi-VN" sz="2200" dirty="0"/>
              <a:t> → dự đoán token tiếp theo → nối vào → lặp lại.</a:t>
            </a:r>
          </a:p>
        </p:txBody>
      </p:sp>
      <p:sp>
        <p:nvSpPr>
          <p:cNvPr id="5" name="TextBox 102"/>
          <p:cNvSpPr txBox="1"/>
          <p:nvPr/>
        </p:nvSpPr>
        <p:spPr>
          <a:xfrm>
            <a:off x="841248" y="3246120"/>
            <a:ext cx="10058400" cy="396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vi-VN" sz="2000" b="1" dirty="0"/>
              <a:t>Input: “Đại số tuyến tính ứng dụng trong …”</a:t>
            </a:r>
            <a:endParaRPr lang="vi-VN" sz="2000" dirty="0"/>
          </a:p>
        </p:txBody>
      </p:sp>
      <p:graphicFrame>
        <p:nvGraphicFramePr>
          <p:cNvPr id="6" name="Table 102"/>
          <p:cNvGraphicFramePr>
            <a:graphicFrameLocks noGrp="1"/>
          </p:cNvGraphicFramePr>
          <p:nvPr/>
        </p:nvGraphicFramePr>
        <p:xfrm>
          <a:off x="841248" y="3749040"/>
          <a:ext cx="4754880" cy="203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sz="2000" b="1"/>
                        <a:t>Token tiếp theo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1"/>
                        <a:t>Xác suất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FF0000"/>
                          </a:solidFill>
                        </a:rPr>
                        <a:t>truyền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FF0000"/>
                          </a:solidFill>
                        </a:rPr>
                        <a:t>0.62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2000"/>
                        <a:t>kinh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2000"/>
                        <a:t>khoa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0.09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200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103"/>
          <p:cNvSpPr txBox="1"/>
          <p:nvPr/>
        </p:nvSpPr>
        <p:spPr>
          <a:xfrm>
            <a:off x="6510528" y="3749040"/>
            <a:ext cx="3154680" cy="1737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vi-VN" sz="2400" b="1" dirty="0">
                <a:solidFill>
                  <a:srgbClr val="FF0000"/>
                </a:solidFill>
              </a:rPr>
              <a:t>Lưu ý</a:t>
            </a:r>
            <a:endParaRPr lang="vi-VN" sz="1800" dirty="0"/>
          </a:p>
          <a:p>
            <a:pPr marL="0" indent="0" algn="l">
              <a:buNone/>
            </a:pPr>
            <a:r>
              <a:rPr lang="vi-VN" sz="1800" dirty="0">
                <a:solidFill>
                  <a:srgbClr val="FF0000"/>
                </a:solidFill>
              </a:rPr>
              <a:t>Token ≈ một mảnh của từ</a:t>
            </a:r>
            <a:endParaRPr lang="vi-VN" sz="1800" dirty="0"/>
          </a:p>
          <a:p>
            <a:pPr marL="0" indent="0" algn="l">
              <a:buNone/>
            </a:pPr>
            <a:r>
              <a:rPr lang="vi-VN" sz="1800" dirty="0">
                <a:solidFill>
                  <a:srgbClr val="FF0000"/>
                </a:solidFill>
              </a:rPr>
              <a:t>Chatbot = LLM</a:t>
            </a:r>
            <a:endParaRPr lang="vi-VN" sz="1800" dirty="0"/>
          </a:p>
          <a:p>
            <a:pPr marL="0" indent="0" algn="l">
              <a:buNone/>
            </a:pPr>
            <a:r>
              <a:rPr lang="vi-VN" sz="1800" dirty="0">
                <a:solidFill>
                  <a:srgbClr val="FF0000"/>
                </a:solidFill>
              </a:rPr>
              <a:t>đã tinh chỉnh để</a:t>
            </a:r>
            <a:endParaRPr lang="vi-VN" sz="1800" dirty="0"/>
          </a:p>
          <a:p>
            <a:pPr marL="0" indent="0" algn="l">
              <a:buNone/>
            </a:pPr>
            <a:r>
              <a:rPr lang="vi-VN" sz="1800" dirty="0">
                <a:solidFill>
                  <a:srgbClr val="FF0000"/>
                </a:solidFill>
              </a:rPr>
              <a:t>làm theo hướng dẫn</a:t>
            </a:r>
            <a:endParaRPr lang="vi-VN" sz="1800" dirty="0"/>
          </a:p>
          <a:p>
            <a:pPr marL="0" indent="0" algn="l">
              <a:buNone/>
            </a:pPr>
            <a:r>
              <a:rPr lang="vi-VN" sz="1800" dirty="0">
                <a:solidFill>
                  <a:srgbClr val="FF0000"/>
                </a:solidFill>
              </a:rPr>
              <a:t>(bản Instruct, 9.4)</a:t>
            </a:r>
            <a:endParaRPr lang="vi-VN" sz="1800" dirty="0"/>
          </a:p>
        </p:txBody>
      </p:sp>
      <p:cxnSp>
        <p:nvCxnSpPr>
          <p:cNvPr id="8" name="Connector 103"/>
          <p:cNvCxnSpPr/>
          <p:nvPr/>
        </p:nvCxnSpPr>
        <p:spPr>
          <a:xfrm>
            <a:off x="6400800" y="3794760"/>
            <a:ext cx="0" cy="16916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9.2. Parameters: “4B” nghĩa là gì?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rPr lang="en-US"/>
              <a:t>16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101"/>
              <p:cNvSpPr txBox="1"/>
              <p:nvPr/>
            </p:nvSpPr>
            <p:spPr>
              <a:xfrm>
                <a:off x="841248" y="1645920"/>
                <a:ext cx="10515600" cy="688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 algn="l">
                  <a:buNone/>
                </a:pPr>
                <a:r>
                  <a:rPr lang="vi-VN" sz="2200" dirty="0"/>
                  <a:t>Tham số = các số trong mọi ma trận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vi-VN" sz="2200" dirty="0"/>
                  <a:t> và vector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vi-VN" sz="2200" dirty="0"/>
                  <a:t> (8.5).   </a:t>
                </a:r>
                <a:r>
                  <a:rPr lang="vi-VN" sz="2200" b="1" dirty="0"/>
                  <a:t>B = billion = tỉ</a:t>
                </a:r>
                <a:r>
                  <a:rPr lang="vi-VN" sz="2200" dirty="0"/>
                  <a:t>: 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=4·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vi-VN" sz="2200" dirty="0"/>
                  <a:t> tham số</a:t>
                </a:r>
              </a:p>
            </p:txBody>
          </p:sp>
        </mc:Choice>
        <mc:Fallback xmlns="">
          <p:sp>
            <p:nvSpPr>
              <p:cNvPr id="4" name="Text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248" y="1645920"/>
                <a:ext cx="10515600" cy="6882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 </a:t>
                </a:r>
              </a:p>
            </p:txBody>
          </p:sp>
        </mc:Fallback>
      </mc:AlternateContent>
      <p:pic>
        <p:nvPicPr>
          <p:cNvPr id="5" name="Picture 101" descr="params_sca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2606040"/>
            <a:ext cx="6949440" cy="3031186"/>
          </a:xfrm>
          <a:prstGeom prst="rect">
            <a:avLst/>
          </a:prstGeom>
        </p:spPr>
      </p:pic>
      <p:sp>
        <p:nvSpPr>
          <p:cNvPr id="6" name="TextBox 102"/>
          <p:cNvSpPr txBox="1"/>
          <p:nvPr/>
        </p:nvSpPr>
        <p:spPr>
          <a:xfrm>
            <a:off x="8293608" y="2423160"/>
            <a:ext cx="3154680" cy="1737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vi-VN" sz="2400" b="1" dirty="0">
                <a:solidFill>
                  <a:srgbClr val="FF0000"/>
                </a:solidFill>
              </a:rPr>
              <a:t>Nhiều tham số hơn</a:t>
            </a:r>
            <a:endParaRPr lang="vi-VN" sz="1800" dirty="0"/>
          </a:p>
          <a:p>
            <a:pPr marL="0" indent="0" algn="l">
              <a:buNone/>
            </a:pPr>
            <a:r>
              <a:rPr lang="vi-VN" sz="1800" dirty="0">
                <a:solidFill>
                  <a:srgbClr val="FF0000"/>
                </a:solidFill>
              </a:rPr>
              <a:t>→ thường “giỏi” hơn</a:t>
            </a:r>
            <a:endParaRPr lang="vi-VN" sz="1800" dirty="0"/>
          </a:p>
          <a:p>
            <a:pPr marL="0" indent="0" algn="l">
              <a:buNone/>
            </a:pPr>
            <a:r>
              <a:rPr lang="vi-VN" sz="1800" dirty="0">
                <a:solidFill>
                  <a:srgbClr val="FF0000"/>
                </a:solidFill>
              </a:rPr>
              <a:t>→ nặng hơn, chậm hơn,</a:t>
            </a:r>
            <a:endParaRPr lang="vi-VN" sz="1800" dirty="0"/>
          </a:p>
          <a:p>
            <a:pPr marL="0" indent="0" algn="l">
              <a:buNone/>
            </a:pPr>
            <a:r>
              <a:rPr lang="vi-VN" sz="1800" dirty="0">
                <a:solidFill>
                  <a:srgbClr val="FF0000"/>
                </a:solidFill>
              </a:rPr>
              <a:t>cần phần cứng mạnh hơn</a:t>
            </a:r>
            <a:endParaRPr lang="vi-VN" sz="1800" dirty="0"/>
          </a:p>
          <a:p>
            <a:pPr marL="0" indent="0" algn="l">
              <a:buNone/>
            </a:pPr>
            <a:r>
              <a:rPr lang="vi-VN" sz="1800" dirty="0">
                <a:solidFill>
                  <a:srgbClr val="FF0000"/>
                </a:solidFill>
              </a:rPr>
              <a:t>Model nhỏ (1–8B): chạy</a:t>
            </a:r>
            <a:endParaRPr lang="vi-VN" sz="1800" dirty="0"/>
          </a:p>
          <a:p>
            <a:pPr marL="0" indent="0" algn="l">
              <a:buNone/>
            </a:pPr>
            <a:r>
              <a:rPr lang="vi-VN" sz="1800" dirty="0">
                <a:solidFill>
                  <a:srgbClr val="FF0000"/>
                </a:solidFill>
              </a:rPr>
              <a:t>được trên laptop, điện thoại</a:t>
            </a:r>
            <a:endParaRPr lang="vi-VN" sz="1800" dirty="0"/>
          </a:p>
        </p:txBody>
      </p:sp>
      <p:cxnSp>
        <p:nvCxnSpPr>
          <p:cNvPr id="7" name="Connector 102"/>
          <p:cNvCxnSpPr/>
          <p:nvPr/>
        </p:nvCxnSpPr>
        <p:spPr>
          <a:xfrm>
            <a:off x="8183880" y="2468880"/>
            <a:ext cx="0" cy="16916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9.3. Đọc tên một model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rPr lang="en-US"/>
              <a:t>17</a:t>
            </a:fld>
            <a:endParaRPr lang="en-US"/>
          </a:p>
        </p:txBody>
      </p:sp>
      <p:sp>
        <p:nvSpPr>
          <p:cNvPr id="4" name="Rounded Rectangle 90"/>
          <p:cNvSpPr/>
          <p:nvPr/>
        </p:nvSpPr>
        <p:spPr>
          <a:xfrm>
            <a:off x="868680" y="1737360"/>
            <a:ext cx="1417320" cy="64008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600">
                <a:solidFill>
                  <a:srgbClr val="000000"/>
                </a:solidFill>
              </a:rPr>
              <a:t>Qwen3</a:t>
            </a:r>
          </a:p>
        </p:txBody>
      </p:sp>
      <p:sp>
        <p:nvSpPr>
          <p:cNvPr id="5" name="TextBox 101"/>
          <p:cNvSpPr txBox="1"/>
          <p:nvPr/>
        </p:nvSpPr>
        <p:spPr>
          <a:xfrm>
            <a:off x="2286000" y="1783080"/>
            <a:ext cx="274320" cy="487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vi-VN" sz="2600" dirty="0"/>
              <a:t>-</a:t>
            </a:r>
          </a:p>
        </p:txBody>
      </p:sp>
      <p:sp>
        <p:nvSpPr>
          <p:cNvPr id="6" name="Rounded Rectangle 101"/>
          <p:cNvSpPr/>
          <p:nvPr/>
        </p:nvSpPr>
        <p:spPr>
          <a:xfrm>
            <a:off x="2560320" y="1737360"/>
            <a:ext cx="822960" cy="640080"/>
          </a:xfrm>
          <a:prstGeom prst="roundRect">
            <a:avLst/>
          </a:prstGeom>
          <a:noFill/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600">
                <a:solidFill>
                  <a:srgbClr val="000000"/>
                </a:solidFill>
              </a:rPr>
              <a:t>4B</a:t>
            </a:r>
          </a:p>
        </p:txBody>
      </p:sp>
      <p:sp>
        <p:nvSpPr>
          <p:cNvPr id="7" name="TextBox 102"/>
          <p:cNvSpPr txBox="1"/>
          <p:nvPr/>
        </p:nvSpPr>
        <p:spPr>
          <a:xfrm>
            <a:off x="3383280" y="1783080"/>
            <a:ext cx="274320" cy="487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vi-VN" sz="2600" dirty="0"/>
              <a:t>-</a:t>
            </a:r>
          </a:p>
        </p:txBody>
      </p:sp>
      <p:sp>
        <p:nvSpPr>
          <p:cNvPr id="8" name="Rounded Rectangle 102"/>
          <p:cNvSpPr/>
          <p:nvPr/>
        </p:nvSpPr>
        <p:spPr>
          <a:xfrm>
            <a:off x="3657600" y="1737360"/>
            <a:ext cx="1737360" cy="64008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600">
                <a:solidFill>
                  <a:srgbClr val="000000"/>
                </a:solidFill>
              </a:rPr>
              <a:t>Instruct</a:t>
            </a:r>
          </a:p>
        </p:txBody>
      </p:sp>
      <p:sp>
        <p:nvSpPr>
          <p:cNvPr id="9" name="TextBox 103"/>
          <p:cNvSpPr txBox="1"/>
          <p:nvPr/>
        </p:nvSpPr>
        <p:spPr>
          <a:xfrm>
            <a:off x="5394960" y="1783080"/>
            <a:ext cx="274320" cy="487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vi-VN" sz="2600" dirty="0"/>
              <a:t>-</a:t>
            </a:r>
          </a:p>
        </p:txBody>
      </p:sp>
      <p:sp>
        <p:nvSpPr>
          <p:cNvPr id="10" name="Rounded Rectangle 103"/>
          <p:cNvSpPr/>
          <p:nvPr/>
        </p:nvSpPr>
        <p:spPr>
          <a:xfrm>
            <a:off x="5669280" y="1737360"/>
            <a:ext cx="1051560" cy="640080"/>
          </a:xfrm>
          <a:prstGeom prst="roundRect">
            <a:avLst/>
          </a:prstGeom>
          <a:noFill/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600">
                <a:solidFill>
                  <a:srgbClr val="000000"/>
                </a:solidFill>
              </a:rPr>
              <a:t>2507</a:t>
            </a:r>
          </a:p>
        </p:txBody>
      </p:sp>
      <p:sp>
        <p:nvSpPr>
          <p:cNvPr id="11" name="TextBox 104"/>
          <p:cNvSpPr txBox="1"/>
          <p:nvPr/>
        </p:nvSpPr>
        <p:spPr>
          <a:xfrm>
            <a:off x="6720840" y="1783080"/>
            <a:ext cx="274320" cy="487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vi-VN" sz="2600" dirty="0"/>
              <a:t>-</a:t>
            </a:r>
          </a:p>
        </p:txBody>
      </p:sp>
      <p:sp>
        <p:nvSpPr>
          <p:cNvPr id="12" name="Rounded Rectangle 104"/>
          <p:cNvSpPr/>
          <p:nvPr/>
        </p:nvSpPr>
        <p:spPr>
          <a:xfrm>
            <a:off x="6995160" y="1737360"/>
            <a:ext cx="1691640" cy="64008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600">
                <a:solidFill>
                  <a:srgbClr val="000000"/>
                </a:solidFill>
              </a:rPr>
              <a:t>Q4_K_M</a:t>
            </a:r>
          </a:p>
        </p:txBody>
      </p:sp>
      <p:sp>
        <p:nvSpPr>
          <p:cNvPr id="13" name="Rounded Rectangle 105"/>
          <p:cNvSpPr/>
          <p:nvPr/>
        </p:nvSpPr>
        <p:spPr>
          <a:xfrm>
            <a:off x="8686800" y="1737360"/>
            <a:ext cx="1188720" cy="640080"/>
          </a:xfrm>
          <a:prstGeom prst="roundRect">
            <a:avLst/>
          </a:prstGeom>
          <a:noFill/>
          <a:ln w="254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600">
                <a:solidFill>
                  <a:srgbClr val="000000"/>
                </a:solidFill>
              </a:rPr>
              <a:t>.gguf</a:t>
            </a:r>
          </a:p>
        </p:txBody>
      </p:sp>
      <p:graphicFrame>
        <p:nvGraphicFramePr>
          <p:cNvPr id="14" name="Table 106"/>
          <p:cNvGraphicFramePr>
            <a:graphicFrameLocks noGrp="1"/>
          </p:cNvGraphicFramePr>
          <p:nvPr/>
        </p:nvGraphicFramePr>
        <p:xfrm>
          <a:off x="841248" y="2743200"/>
          <a:ext cx="10424160" cy="2733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5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FF0000"/>
                          </a:solidFill>
                        </a:rPr>
                        <a:t>Qwen3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Họ model + thế hệ (Qwen của Alibaba; tương tự Llama, Gemma, Mistral, DeepSeek…)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0070C0"/>
                          </a:solidFill>
                        </a:rPr>
                        <a:t>4B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4 tỉ tham số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FF0000"/>
                          </a:solidFill>
                        </a:rPr>
                        <a:t>Instruct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Đã tinh chỉnh để trò chuyện, làm theo hướng dẫn (ngược lại: Base)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0070C0"/>
                          </a:solidFill>
                        </a:rPr>
                        <a:t>2507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Phiên bản phát hành 07/2025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FF0000"/>
                          </a:solidFill>
                        </a:rPr>
                        <a:t>Q4_K_M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Lượng tử hoá ≈ 4 bit / tham số (K_M: một kiểu lượng tử hoá cỡ vừa)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2000">
                          <a:solidFill>
                            <a:srgbClr val="0070C0"/>
                          </a:solidFill>
                        </a:rPr>
                        <a:t>.gguf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Định dạng file chạy bằng llama.cpp, Ollama, LM Studio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9.4. Các hậu tố thường gặp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rPr lang="en-US"/>
              <a:t>18</a:t>
            </a:fld>
            <a:endParaRPr lang="en-US"/>
          </a:p>
        </p:txBody>
      </p:sp>
      <p:graphicFrame>
        <p:nvGraphicFramePr>
          <p:cNvPr id="4" name="Table 90"/>
          <p:cNvGraphicFramePr>
            <a:graphicFrameLocks noGrp="1"/>
          </p:cNvGraphicFramePr>
          <p:nvPr/>
        </p:nvGraphicFramePr>
        <p:xfrm>
          <a:off x="841248" y="1691640"/>
          <a:ext cx="10424160" cy="3566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800" b="1"/>
                        <a:t>Hậu tố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 b="1"/>
                        <a:t>Ý nghĩa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80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Chỉ học đoán chữ tiếp theo, chưa biết trò chuyện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800"/>
                        <a:t>Instruct / Chat / -it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Đã tinh chỉnh để làm theo hướng dẫn, trò chuyện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800"/>
                        <a:t>Thinking / Reasoning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“Suy nghĩ” từng bước trước khi trả lời (chậm hơn, giỏi toán / logic hơn)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800"/>
                        <a:t>VL / 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Đọc được cả ảnh (vision-language)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800"/>
                        <a:t>Coder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Chuyên viết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800"/>
                        <a:t>Distill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Model nhỏ học lại từ model lớn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800"/>
                        <a:t>30B-A3B (MoE)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Tổng 30B tham số, mỗi token chỉ dùng 3B (Mixture of Experts) → chạy nhanh hơn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800"/>
                        <a:t>128K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800"/>
                        <a:t>Context window: đọc được 128 nghìn token một lần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9.5. Model nặng bao nhiêu?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rPr lang="en-US"/>
              <a:t>19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101"/>
              <p:cNvSpPr txBox="1"/>
              <p:nvPr/>
            </p:nvSpPr>
            <p:spPr>
              <a:xfrm>
                <a:off x="841248" y="1645920"/>
                <a:ext cx="10515600" cy="13347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 algn="l">
                  <a:buNone/>
                </a:pPr>
                <a:r>
                  <a:rPr lang="vi-VN" sz="2200" dirty="0"/>
                  <a:t>Bộ nhớ ≈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·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vi-VN" sz="2200" dirty="0"/>
                  <a:t> byte,  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vi-VN" sz="2200" dirty="0"/>
                  <a:t>: số tham số, 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vi-VN" sz="2200" dirty="0"/>
                  <a:t>: số bit / tham số</a:t>
                </a:r>
              </a:p>
              <a:p>
                <a:pPr marL="0" indent="0" algn="l">
                  <a:spcBef>
                    <a:spcPts val="600"/>
                  </a:spcBef>
                  <a:buNone/>
                </a:pPr>
                <a:r>
                  <a:rPr lang="vi-VN" sz="2200" dirty="0"/>
                  <a:t>Ex: Qwen3-4B, FP16: 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4·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</a:rPr>
                      <m:t>·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sz="2200" i="1">
                        <a:latin typeface="Cambria Math" panose="02040503050406030204" pitchFamily="18" charset="0"/>
                      </a:rPr>
                      <m:t>=8·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vi-VN" sz="2200" dirty="0"/>
                  <a:t> byte = 8 GB</a:t>
                </a:r>
              </a:p>
            </p:txBody>
          </p:sp>
        </mc:Choice>
        <mc:Fallback xmlns="">
          <p:sp>
            <p:nvSpPr>
              <p:cNvPr id="4" name="Text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248" y="1645920"/>
                <a:ext cx="10515600" cy="13347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 </a:t>
                </a:r>
              </a:p>
            </p:txBody>
          </p:sp>
        </mc:Fallback>
      </mc:AlternateContent>
      <p:graphicFrame>
        <p:nvGraphicFramePr>
          <p:cNvPr id="5" name="Table 101"/>
          <p:cNvGraphicFramePr>
            <a:graphicFrameLocks noGrp="1"/>
          </p:cNvGraphicFramePr>
          <p:nvPr/>
        </p:nvGraphicFramePr>
        <p:xfrm>
          <a:off x="841248" y="3291840"/>
          <a:ext cx="10424160" cy="203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sz="2000" b="1"/>
                        <a:t>Định dạng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bit/tham số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Qwen3-4B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Llama 3.1 8B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Llama 3.1 70B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2000"/>
                        <a:t>FP32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16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32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280 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2000"/>
                        <a:t>FP16 / BF16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8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16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140 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2000"/>
                        <a:t>INT8 (Q8)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4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8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70 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2000"/>
                        <a:t>4-bit (Q4)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F0000"/>
                          </a:solidFill>
                        </a:rPr>
                        <a:t>2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F0000"/>
                          </a:solidFill>
                        </a:rPr>
                        <a:t>4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F0000"/>
                          </a:solidFill>
                        </a:rPr>
                        <a:t>35 GB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102"/>
          <p:cNvSpPr txBox="1"/>
          <p:nvPr/>
        </p:nvSpPr>
        <p:spPr>
          <a:xfrm>
            <a:off x="841248" y="5760720"/>
            <a:ext cx="105156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vi-VN" sz="1800" dirty="0">
                <a:solidFill>
                  <a:srgbClr val="FF0000"/>
                </a:solidFill>
              </a:rPr>
              <a:t>Thực tế Q4_K_M ≈ 4.5–5 bit/tham số → Qwen3-4B Q4_K_M ≈ 2.5 GB; khi chạy cần thêm bộ nhớ cho context.</a:t>
            </a:r>
            <a:endParaRPr lang="vi-VN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9.6. Quantization (lượng tử hoá)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rPr lang="en-US"/>
              <a:t>20</a:t>
            </a:fld>
            <a:endParaRPr lang="en-US"/>
          </a:p>
        </p:txBody>
      </p:sp>
      <p:pic>
        <p:nvPicPr>
          <p:cNvPr id="4" name="Picture 90" descr="quantiz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600200"/>
            <a:ext cx="6949440" cy="20725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101"/>
              <p:cNvSpPr txBox="1"/>
              <p:nvPr/>
            </p:nvSpPr>
            <p:spPr>
              <a:xfrm>
                <a:off x="841248" y="3520440"/>
                <a:ext cx="7680960" cy="9882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 algn="l">
                  <a:buNone/>
                </a:pPr>
                <a:r>
                  <a:rPr lang="vi-VN" sz="2000" dirty="0"/>
                  <a:t>Làm tròn trọng số về ít mức hơn (4 bit → 16 mức):</a:t>
                </a:r>
              </a:p>
              <a:p>
                <a:pPr marL="0" indent="0" algn="l">
                  <a:spcBef>
                    <a:spcPts val="4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max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|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=0.14,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0" i="0">
                          <a:latin typeface="Cambria Math" panose="02040503050406030204" pitchFamily="18" charset="0"/>
                        </a:rPr>
                        <m:t>round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</a:rPr>
                        <m:t>),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vi-VN" sz="2000" dirty="0"/>
              </a:p>
            </p:txBody>
          </p:sp>
        </mc:Choice>
        <mc:Fallback xmlns="">
          <p:sp>
            <p:nvSpPr>
              <p:cNvPr id="5" name="Text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248" y="3520440"/>
                <a:ext cx="7680960" cy="9882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 </a:t>
                </a:r>
              </a:p>
            </p:txBody>
          </p:sp>
        </mc:Fallback>
      </mc:AlternateContent>
      <p:graphicFrame>
        <p:nvGraphicFramePr>
          <p:cNvPr id="6" name="Table 101"/>
          <p:cNvGraphicFramePr>
            <a:graphicFrameLocks noGrp="1"/>
          </p:cNvGraphicFramePr>
          <p:nvPr/>
        </p:nvGraphicFramePr>
        <p:xfrm>
          <a:off x="841248" y="4709160"/>
          <a:ext cx="6858000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80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−0.87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−0.33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80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FF0000"/>
                          </a:solidFill>
                        </a:rPr>
                        <a:t>−6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FF0000"/>
                          </a:solidFill>
                        </a:rPr>
                        <a:t>−2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800"/>
                        <a:t>ŵ = q·s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−0.84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−0.28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102"/>
          <p:cNvSpPr txBox="1"/>
          <p:nvPr/>
        </p:nvSpPr>
        <p:spPr>
          <a:xfrm>
            <a:off x="9025128" y="1783080"/>
            <a:ext cx="3154680" cy="2011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vi-VN" sz="2400" b="1" dirty="0">
                <a:solidFill>
                  <a:srgbClr val="FF0000"/>
                </a:solidFill>
              </a:rPr>
              <a:t>Giống như</a:t>
            </a:r>
            <a:endParaRPr lang="vi-VN" sz="1800" dirty="0"/>
          </a:p>
          <a:p>
            <a:pPr marL="0" indent="0" algn="l">
              <a:buNone/>
            </a:pPr>
            <a:r>
              <a:rPr lang="vi-VN" sz="1800" dirty="0">
                <a:solidFill>
                  <a:srgbClr val="FF0000"/>
                </a:solidFill>
              </a:rPr>
              <a:t>Ảnh JPEG, nhạc MP3:</a:t>
            </a:r>
            <a:endParaRPr lang="vi-VN" sz="1800" dirty="0"/>
          </a:p>
          <a:p>
            <a:pPr marL="0" indent="0" algn="l">
              <a:buNone/>
            </a:pPr>
            <a:r>
              <a:rPr lang="vi-VN" sz="1800" dirty="0">
                <a:solidFill>
                  <a:srgbClr val="FF0000"/>
                </a:solidFill>
              </a:rPr>
              <a:t>bỏ bớt chi tiết khó</a:t>
            </a:r>
            <a:endParaRPr lang="vi-VN" sz="1800" dirty="0"/>
          </a:p>
          <a:p>
            <a:pPr marL="0" indent="0" algn="l">
              <a:buNone/>
            </a:pPr>
            <a:r>
              <a:rPr lang="vi-VN" sz="1800" dirty="0">
                <a:solidFill>
                  <a:srgbClr val="FF0000"/>
                </a:solidFill>
              </a:rPr>
              <a:t>nhận ra → file nhẹ hơn</a:t>
            </a:r>
            <a:endParaRPr lang="vi-VN" sz="1800" dirty="0"/>
          </a:p>
          <a:p>
            <a:pPr marL="0" indent="0" algn="l">
              <a:buNone/>
            </a:pPr>
            <a:r>
              <a:rPr lang="vi-VN" sz="1800" dirty="0">
                <a:solidFill>
                  <a:srgbClr val="FF0000"/>
                </a:solidFill>
              </a:rPr>
              <a:t>Q4: nhẹ hơn FP16 ~4 lần,</a:t>
            </a:r>
            <a:endParaRPr lang="vi-VN" sz="1800" dirty="0"/>
          </a:p>
          <a:p>
            <a:pPr marL="0" indent="0" algn="l">
              <a:buNone/>
            </a:pPr>
            <a:r>
              <a:rPr lang="vi-VN" sz="1800" dirty="0">
                <a:solidFill>
                  <a:srgbClr val="FF0000"/>
                </a:solidFill>
              </a:rPr>
              <a:t>chất lượng giảm nhẹ</a:t>
            </a:r>
            <a:endParaRPr lang="vi-VN" sz="1800" dirty="0"/>
          </a:p>
          <a:p>
            <a:pPr marL="0" indent="0" algn="l">
              <a:buNone/>
            </a:pPr>
            <a:r>
              <a:rPr lang="vi-VN" sz="1800" dirty="0">
                <a:solidFill>
                  <a:srgbClr val="FF0000"/>
                </a:solidFill>
              </a:rPr>
              <a:t>Q2, Q3: giảm rõ rệt</a:t>
            </a:r>
            <a:endParaRPr lang="vi-VN" sz="1800" dirty="0"/>
          </a:p>
        </p:txBody>
      </p:sp>
      <p:cxnSp>
        <p:nvCxnSpPr>
          <p:cNvPr id="8" name="Connector 102"/>
          <p:cNvCxnSpPr/>
          <p:nvPr/>
        </p:nvCxnSpPr>
        <p:spPr>
          <a:xfrm>
            <a:off x="8915400" y="1828800"/>
            <a:ext cx="0" cy="196596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9.7. GPU &amp; VRAM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rPr lang="en-US"/>
              <a:t>21</a:t>
            </a:fld>
            <a:endParaRPr lang="en-US"/>
          </a:p>
        </p:txBody>
      </p:sp>
      <p:sp>
        <p:nvSpPr>
          <p:cNvPr id="4" name="TextBox 101"/>
          <p:cNvSpPr txBox="1"/>
          <p:nvPr/>
        </p:nvSpPr>
        <p:spPr>
          <a:xfrm>
            <a:off x="841248" y="1691640"/>
            <a:ext cx="6035040" cy="1920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l">
              <a:buFontTx/>
              <a:buChar char="-"/>
            </a:pPr>
            <a:r>
              <a:rPr lang="vi-VN" sz="2000" b="1" dirty="0"/>
              <a:t>CPU: </a:t>
            </a:r>
            <a:r>
              <a:rPr lang="vi-VN" sz="2000" dirty="0"/>
              <a:t>ít nhân mạnh, giỏi việc tuần tự</a:t>
            </a:r>
          </a:p>
          <a:p>
            <a:pPr marL="274320" indent="-274320" algn="l">
              <a:spcBef>
                <a:spcPts val="600"/>
              </a:spcBef>
              <a:buFontTx/>
              <a:buChar char="-"/>
            </a:pPr>
            <a:r>
              <a:rPr lang="vi-VN" sz="2000" b="1" dirty="0"/>
              <a:t>GPU (card đồ hoạ): </a:t>
            </a:r>
            <a:r>
              <a:rPr lang="vi-VN" sz="2000" dirty="0"/>
              <a:t>hàng nghìn nhân nhỏ tính song song → nhân ma trận rất nhanh</a:t>
            </a:r>
          </a:p>
          <a:p>
            <a:pPr marL="274320" indent="-274320" algn="l">
              <a:spcBef>
                <a:spcPts val="600"/>
              </a:spcBef>
              <a:buFontTx/>
              <a:buChar char="-"/>
            </a:pPr>
            <a:r>
              <a:rPr lang="vi-VN" sz="2000" b="1" dirty="0"/>
              <a:t>VRAM: </a:t>
            </a:r>
            <a:r>
              <a:rPr lang="vi-VN" sz="2000" dirty="0"/>
              <a:t>bộ nhớ riêng trên GPU. Model phải nằm gọn trong VRAM để chạy nhanh</a:t>
            </a:r>
          </a:p>
          <a:p>
            <a:pPr marL="274320" indent="-274320" algn="l">
              <a:spcBef>
                <a:spcPts val="600"/>
              </a:spcBef>
              <a:buFontTx/>
              <a:buChar char="-"/>
            </a:pPr>
            <a:r>
              <a:rPr lang="vi-VN" sz="2000" dirty="0"/>
              <a:t>Không đủ VRAM → để bớt sang RAM → chậm hơn nhiều</a:t>
            </a:r>
          </a:p>
          <a:p>
            <a:pPr marL="274320" indent="-274320" algn="l">
              <a:spcBef>
                <a:spcPts val="600"/>
              </a:spcBef>
              <a:buFontTx/>
              <a:buChar char="-"/>
            </a:pPr>
            <a:r>
              <a:rPr lang="vi-VN" sz="2000" b="1" dirty="0"/>
              <a:t>Apple Silicon (M-series): </a:t>
            </a:r>
            <a:r>
              <a:rPr lang="vi-VN" sz="2000" dirty="0"/>
              <a:t>bộ nhớ hợp nhất, CPU và GPU dùng chung</a:t>
            </a:r>
          </a:p>
        </p:txBody>
      </p:sp>
      <p:graphicFrame>
        <p:nvGraphicFramePr>
          <p:cNvPr id="5" name="Table 1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659667"/>
              </p:ext>
            </p:extLst>
          </p:nvPr>
        </p:nvGraphicFramePr>
        <p:xfrm>
          <a:off x="7133436" y="221910"/>
          <a:ext cx="4846320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b="1"/>
                        <a:t>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VRAM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Phân khúc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RTX 4060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8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Phổ thông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RTX 3060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12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Phổ thông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RTX 4090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24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Cao cấp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RTX 5090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32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Cao cấp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NVIDIA H100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80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Data center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20A13DE7-903F-293F-44CA-E5992153D3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90" r="27735"/>
          <a:stretch>
            <a:fillRect/>
          </a:stretch>
        </p:blipFill>
        <p:spPr bwMode="auto">
          <a:xfrm>
            <a:off x="9912934" y="2651760"/>
            <a:ext cx="2015837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CE2129-CDD6-0DFF-8CFF-35C012156476}"/>
              </a:ext>
            </a:extLst>
          </p:cNvPr>
          <p:cNvSpPr txBox="1"/>
          <p:nvPr/>
        </p:nvSpPr>
        <p:spPr>
          <a:xfrm>
            <a:off x="10381447" y="5711428"/>
            <a:ext cx="1385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solidFill>
                  <a:schemeClr val="bg1"/>
                </a:solidFill>
              </a:rPr>
              <a:t>DGX A100</a:t>
            </a:r>
          </a:p>
        </p:txBody>
      </p:sp>
      <p:pic>
        <p:nvPicPr>
          <p:cNvPr id="1028" name="Picture 4" descr="May be an image of text">
            <a:extLst>
              <a:ext uri="{FF2B5EF4-FFF2-40B4-BE49-F238E27FC236}">
                <a16:creationId xmlns:a16="http://schemas.microsoft.com/office/drawing/2014/main" id="{6C137AA1-03B5-5122-BDA8-B318027DA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3883" y="2651760"/>
            <a:ext cx="2293434" cy="2866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E1243E-D58F-A113-9282-D4D8301749E5}"/>
              </a:ext>
            </a:extLst>
          </p:cNvPr>
          <p:cNvSpPr txBox="1"/>
          <p:nvPr/>
        </p:nvSpPr>
        <p:spPr>
          <a:xfrm>
            <a:off x="8047125" y="5149221"/>
            <a:ext cx="1385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>
                <a:solidFill>
                  <a:schemeClr val="bg1"/>
                </a:solidFill>
              </a:rPr>
              <a:t>DGX H200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F0C800-C23B-CC62-D10E-0AD769BAA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rPr lang="en-VN"/>
              <a:t>22</a:t>
            </a:fld>
            <a:endParaRPr lang="en-VN"/>
          </a:p>
        </p:txBody>
      </p:sp>
      <p:pic>
        <p:nvPicPr>
          <p:cNvPr id="2050" name="Picture 2" descr="Computex】輝達：GB300今年三季度推出，全液冷路線已定調| 美股| 鉅亨號| Anue鉅亨">
            <a:extLst>
              <a:ext uri="{FF2B5EF4-FFF2-40B4-BE49-F238E27FC236}">
                <a16:creationId xmlns:a16="http://schemas.microsoft.com/office/drawing/2014/main" id="{D46AA334-479B-FACA-7A7E-3DA372289A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893"/>
            <a:ext cx="12192000" cy="6860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34837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9.8. Máy nào chạy model nào?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rPr lang="en-US"/>
              <a:t>23</a:t>
            </a:fld>
            <a:endParaRPr lang="en-US"/>
          </a:p>
        </p:txBody>
      </p:sp>
      <p:sp>
        <p:nvSpPr>
          <p:cNvPr id="4" name="TextBox 101"/>
          <p:cNvSpPr txBox="1"/>
          <p:nvPr/>
        </p:nvSpPr>
        <p:spPr>
          <a:xfrm>
            <a:off x="841248" y="1645920"/>
            <a:ext cx="10515600" cy="426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vi-VN" sz="2200" dirty="0"/>
              <a:t>Quy tắc nhanh:  </a:t>
            </a:r>
            <a:r>
              <a:rPr lang="vi-VN" sz="2200" b="1" dirty="0">
                <a:solidFill>
                  <a:srgbClr val="FF0000"/>
                </a:solidFill>
              </a:rPr>
              <a:t>VRAM cần ≈ dung lượng model + 1–2 GB</a:t>
            </a:r>
            <a:r>
              <a:rPr lang="vi-VN" sz="2200" dirty="0"/>
              <a:t> (cho context)</a:t>
            </a:r>
          </a:p>
        </p:txBody>
      </p:sp>
      <p:graphicFrame>
        <p:nvGraphicFramePr>
          <p:cNvPr id="5" name="Table 101"/>
          <p:cNvGraphicFramePr>
            <a:graphicFrameLocks noGrp="1"/>
          </p:cNvGraphicFramePr>
          <p:nvPr/>
        </p:nvGraphicFramePr>
        <p:xfrm>
          <a:off x="841248" y="2377440"/>
          <a:ext cx="10424160" cy="203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r>
                        <a:rPr sz="2000" b="1"/>
                        <a:t>Thiết bị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1"/>
                        <a:t>Bộ nhớ cho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1"/>
                        <a:t>Gợi 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2000"/>
                        <a:t>Điện thoại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vài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Model 1–4B, Q4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2000"/>
                        <a:t>Laptop RTX 4060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8 GB VRAM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4B–8B, Q4 (≈ 2.5–5 GB)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2000"/>
                        <a:t>PC RTX 4090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24 GB VRAM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Đến ~32B, Q4 (≈ 20 GB)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r>
                        <a:rPr sz="2000"/>
                        <a:t>Server 8 × H100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640 GB VRAM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/>
                        <a:t>Model hàng trăm tỉ tham số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102"/>
          <p:cNvSpPr txBox="1"/>
          <p:nvPr/>
        </p:nvSpPr>
        <p:spPr>
          <a:xfrm>
            <a:off x="841248" y="4709160"/>
            <a:ext cx="10515600" cy="777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vi-VN" sz="2000" dirty="0"/>
              <a:t>Ex: Llama 3.1 70B, Q4 ≈ 40 GB → không vừa RTX 4090 (24 GB) → chạy chậm hoặc không chạy được.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vi-VN" sz="2000" dirty="0">
                <a:solidFill>
                  <a:srgbClr val="FF0000"/>
                </a:solidFill>
              </a:rPr>
              <a:t>Q: Vì sao chatbot online trả lời nhanh dù model rất lớn?</a:t>
            </a:r>
            <a:endParaRPr lang="vi-VN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9.9. Các thông số khi sử dụng</a:t>
            </a:r>
          </a:p>
        </p:txBody>
      </p:sp>
      <p:sp>
        <p:nvSpPr>
          <p:cNvPr id="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3FB4D-4462-1148-A41B-A6D56F6F932D}" type="slidenum">
              <a:rPr lang="en-US"/>
              <a:t>24</a:t>
            </a:fld>
            <a:endParaRPr lang="en-US"/>
          </a:p>
        </p:txBody>
      </p:sp>
      <p:sp>
        <p:nvSpPr>
          <p:cNvPr id="4" name="TextBox 101"/>
          <p:cNvSpPr txBox="1"/>
          <p:nvPr/>
        </p:nvSpPr>
        <p:spPr>
          <a:xfrm>
            <a:off x="841248" y="1691640"/>
            <a:ext cx="7863840" cy="1539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74320" algn="l">
              <a:buFontTx/>
              <a:buChar char="-"/>
            </a:pPr>
            <a:r>
              <a:rPr lang="vi-VN" sz="2000" b="1" dirty="0"/>
              <a:t>Context window (vd 128K): </a:t>
            </a:r>
            <a:r>
              <a:rPr lang="vi-VN" sz="2000" dirty="0"/>
              <a:t>số token model đọc được trong một lần (cỡ một cuốn sách vài trăm trang)</a:t>
            </a:r>
          </a:p>
          <a:p>
            <a:pPr marL="274320" indent="-274320" algn="l">
              <a:spcBef>
                <a:spcPts val="600"/>
              </a:spcBef>
              <a:buFontTx/>
              <a:buChar char="-"/>
            </a:pPr>
            <a:r>
              <a:rPr lang="vi-VN" sz="2000" b="1" dirty="0"/>
              <a:t>Tokens/s: </a:t>
            </a:r>
            <a:r>
              <a:rPr lang="vi-VN" sz="2000" dirty="0"/>
              <a:t>tốc độ sinh chữ; phụ thuộc GPU, kích thước model, mức lượng tử hoá</a:t>
            </a:r>
          </a:p>
          <a:p>
            <a:pPr marL="274320" indent="-274320" algn="l">
              <a:spcBef>
                <a:spcPts val="600"/>
              </a:spcBef>
              <a:buFontTx/>
              <a:buChar char="-"/>
            </a:pPr>
            <a:r>
              <a:rPr lang="vi-VN" sz="2000" b="1" dirty="0"/>
              <a:t>Temperature: </a:t>
            </a:r>
            <a:r>
              <a:rPr lang="vi-VN" sz="2000" dirty="0"/>
              <a:t>độ ngẫu nhiên khi chọn token; thấp → ổn định, cao → sáng tạo hơn</a:t>
            </a:r>
          </a:p>
          <a:p>
            <a:pPr marL="274320" indent="-274320" algn="l">
              <a:spcBef>
                <a:spcPts val="600"/>
              </a:spcBef>
              <a:buFontTx/>
              <a:buChar char="-"/>
            </a:pPr>
            <a:r>
              <a:rPr lang="vi-VN" sz="2000" b="1" dirty="0"/>
              <a:t>Local </a:t>
            </a:r>
            <a:r>
              <a:rPr lang="vi-VN" sz="2000" dirty="0"/>
              <a:t>(Ollama, LM Studio): riêng tư, không tốn phí, cần phần cứng.  </a:t>
            </a:r>
            <a:r>
              <a:rPr lang="vi-VN" sz="2000" b="1" dirty="0"/>
              <a:t>Cloud </a:t>
            </a:r>
            <a:r>
              <a:rPr lang="vi-VN" sz="2000" dirty="0"/>
              <a:t>(API): mạnh hơn, trả phí theo token</a:t>
            </a:r>
          </a:p>
        </p:txBody>
      </p:sp>
      <p:sp>
        <p:nvSpPr>
          <p:cNvPr id="5" name="TextBox 102"/>
          <p:cNvSpPr txBox="1"/>
          <p:nvPr/>
        </p:nvSpPr>
        <p:spPr>
          <a:xfrm>
            <a:off x="9025128" y="1783080"/>
            <a:ext cx="3154680" cy="640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vi-VN" sz="2400" b="1" dirty="0">
                <a:solidFill>
                  <a:srgbClr val="FF0000"/>
                </a:solidFill>
              </a:rPr>
              <a:t>Thử ngay</a:t>
            </a:r>
            <a:endParaRPr lang="vi-VN" sz="1800" dirty="0"/>
          </a:p>
          <a:p>
            <a:pPr marL="0" indent="0" algn="l">
              <a:buNone/>
            </a:pPr>
            <a:r>
              <a:rPr lang="vi-VN" sz="1800" i="1" dirty="0">
                <a:solidFill>
                  <a:srgbClr val="FF0000"/>
                </a:solidFill>
                <a:latin typeface="Cambria Math"/>
              </a:rPr>
              <a:t>ollama run qwen3:4b</a:t>
            </a:r>
            <a:endParaRPr lang="vi-VN" sz="1800" dirty="0"/>
          </a:p>
        </p:txBody>
      </p:sp>
      <p:cxnSp>
        <p:nvCxnSpPr>
          <p:cNvPr id="6" name="Connector 102"/>
          <p:cNvCxnSpPr/>
          <p:nvPr/>
        </p:nvCxnSpPr>
        <p:spPr>
          <a:xfrm>
            <a:off x="8915400" y="1828800"/>
            <a:ext cx="0" cy="59436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103"/>
          <p:cNvSpPr txBox="1"/>
          <p:nvPr/>
        </p:nvSpPr>
        <p:spPr>
          <a:xfrm>
            <a:off x="841248" y="5120640"/>
            <a:ext cx="105156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vi-VN" sz="2000" dirty="0">
                <a:solidFill>
                  <a:srgbClr val="FF0000"/>
                </a:solidFill>
              </a:rPr>
              <a:t>Viết caption quảng cáo: temperature cao để có nhiều ý tưởng; tóm tắt số liệu: temperature thấp để chính xác.</a:t>
            </a:r>
            <a:endParaRPr lang="vi-VN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50614</TotalTime>
  <Words>3798</Words>
  <Application>Microsoft Macintosh PowerPoint</Application>
  <PresentationFormat>Widescreen</PresentationFormat>
  <Paragraphs>419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Cambria Math</vt:lpstr>
      <vt:lpstr>Custom Design</vt:lpstr>
      <vt:lpstr>8. Neural network</vt:lpstr>
      <vt:lpstr>8.1. From linear regression to neuron</vt:lpstr>
      <vt:lpstr>8.2. Activation function</vt:lpstr>
      <vt:lpstr>8.3. Ex: Bài đăng có viral không?</vt:lpstr>
      <vt:lpstr>8.4. One layer = matrix multiplication</vt:lpstr>
      <vt:lpstr>8.5. Multi-layer network (MLP)</vt:lpstr>
      <vt:lpstr>8.6. Ex: Forward pass</vt:lpstr>
      <vt:lpstr>8.7. Training: máy “học” như thế nào?</vt:lpstr>
      <vt:lpstr>8.8. Mọi dữ liệu → vector</vt:lpstr>
      <vt:lpstr>8.9. Ex: Phân tích cảm xúc bình luận</vt:lpstr>
      <vt:lpstr>8.10. Applications in communications</vt:lpstr>
      <vt:lpstr>8.11. Linear algebra in AI</vt:lpstr>
      <vt:lpstr>8.12. Lưu ý khi dùng AI</vt:lpstr>
      <vt:lpstr>9. LLM in practice</vt:lpstr>
      <vt:lpstr>9.1. LLM là gì?</vt:lpstr>
      <vt:lpstr>9.2. Parameters: “4B” nghĩa là gì?</vt:lpstr>
      <vt:lpstr>9.3. Đọc tên một model</vt:lpstr>
      <vt:lpstr>9.4. Các hậu tố thường gặp</vt:lpstr>
      <vt:lpstr>9.5. Model nặng bao nhiêu?</vt:lpstr>
      <vt:lpstr>9.6. Quantization (lượng tử hoá)</vt:lpstr>
      <vt:lpstr>9.7. GPU &amp; VRAM</vt:lpstr>
      <vt:lpstr>PowerPoint Presentation</vt:lpstr>
      <vt:lpstr>9.8. Máy nào chạy model nào?</vt:lpstr>
      <vt:lpstr>9.9. Các thông số khi sử dụng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MM010 – Đại số tuyến tính ứng dụng trong Truyền thông</dc:title>
  <dc:subject>PptxGenJS Presentation</dc:subject>
  <dc:creator>TS. Vũ Tuấn Hải</dc:creator>
  <cp:lastModifiedBy>Vũ Tuấn Hải</cp:lastModifiedBy>
  <cp:revision>31</cp:revision>
  <dcterms:created xsi:type="dcterms:W3CDTF">2026-08-22T05:26:08Z</dcterms:created>
  <dcterms:modified xsi:type="dcterms:W3CDTF">2026-10-16T08:59:26Z</dcterms:modified>
</cp:coreProperties>
</file>