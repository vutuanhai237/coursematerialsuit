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9" r:id="rId2"/>
    <p:sldId id="272" r:id="rId3"/>
    <p:sldId id="273" r:id="rId4"/>
    <p:sldId id="274" r:id="rId5"/>
    <p:sldId id="256" r:id="rId6"/>
    <p:sldId id="267" r:id="rId7"/>
    <p:sldId id="257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9" autoAdjust="0"/>
    <p:restoredTop sz="94660"/>
  </p:normalViewPr>
  <p:slideViewPr>
    <p:cSldViewPr snapToGrid="0">
      <p:cViewPr varScale="1">
        <p:scale>
          <a:sx n="97" d="100"/>
          <a:sy n="97" d="100"/>
        </p:scale>
        <p:origin x="8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EBEF0-1929-6C4C-9D10-0A24CA585262}" type="datetimeFigureOut">
              <a:t>29/01/2026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8A350-7AA6-6B4E-830A-A5509294DF43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06862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0C27-5CC0-AE4B-A9B6-1C1A8F15976E}" type="datetime1">
              <a:t>29/01/2026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6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5C2EC-D52B-4E49-9BD2-7F34EF2A2110}" type="datetime1">
              <a:t>29/01/2026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9BA2-5EDF-204F-BDB5-47A63D89879F}" type="datetime1">
              <a:t>29/01/2026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7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C0A1-3625-D949-894B-12A4B1103545}" type="datetime1">
              <a:t>29/01/2026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6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F034-057E-7E42-A703-A16CE37858B1}" type="datetime1">
              <a:t>29/01/2026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9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2224-5262-0D45-8752-AD88DF7DF160}" type="datetime1">
              <a:t>29/01/2026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7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3894-04D4-E046-8AC0-98EC70D1D50C}" type="datetime1">
              <a:t>29/01/2026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2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227EF-D3E1-B74B-97FE-FE43DF3D709B}" type="datetime1">
              <a:t>29/01/2026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1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ECCB-56EF-1541-9CBC-CE4FC0155FEE}" type="datetime1">
              <a:t>29/01/2026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37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976C-5E89-BE46-B6A2-18E033DC7B7F}" type="datetime1">
              <a:t>29/01/2026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6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9961-F7AC-F442-9DA7-5C044E83E8F0}" type="datetime1">
              <a:t>29/01/2026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72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D353B-B5AB-CF4C-8D9F-51BDAFC66301}" type="datetime1">
              <a:t>29/01/2026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63E13-6253-4AA0-BAE6-80A963751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8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utuanhai237/CourseMaterials" TargetMode="External"/><Relationship Id="rId2" Type="http://schemas.openxmlformats.org/officeDocument/2006/relationships/hyperlink" Target="mailto:haivt@uit.edu.vn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acebook.com/groups/bht.cnpm.uit" TargetMode="External"/><Relationship Id="rId4" Type="http://schemas.openxmlformats.org/officeDocument/2006/relationships/hyperlink" Target="https://www.facebook.com/groups/bht.cnpm.uit/files/files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08409"/>
            <a:ext cx="9144000" cy="1004705"/>
          </a:xfrm>
        </p:spPr>
        <p:txBody>
          <a:bodyPr/>
          <a:lstStyle/>
          <a:p>
            <a:pPr algn="l"/>
            <a:r>
              <a:rPr lang="en-US"/>
              <a:t>Giới thiệu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43743"/>
            <a:ext cx="8871858" cy="436517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/>
              <a:t>Vũ Tuấn Hải, Bộ môn Phát triển phần mềm, khoa CNPM</a:t>
            </a:r>
          </a:p>
          <a:p>
            <a:pPr algn="l"/>
            <a:r>
              <a:rPr lang="en-US"/>
              <a:t>Email: </a:t>
            </a:r>
            <a:r>
              <a:rPr lang="en-US">
                <a:hlinkClick r:id="rId2"/>
              </a:rPr>
              <a:t>haivt@uit.edu.vn</a:t>
            </a:r>
            <a:endParaRPr lang="en-US"/>
          </a:p>
          <a:p>
            <a:pPr algn="l"/>
            <a:r>
              <a:rPr lang="en-US"/>
              <a:t>Tài liệu học tập: </a:t>
            </a:r>
          </a:p>
          <a:p>
            <a:pPr marL="342900" indent="-342900" algn="l">
              <a:buFontTx/>
              <a:buChar char="-"/>
            </a:pPr>
            <a:r>
              <a:rPr lang="en-US"/>
              <a:t>Moodle hoặc </a:t>
            </a:r>
            <a:r>
              <a:rPr lang="en-US">
                <a:hlinkClick r:id="rId3"/>
              </a:rPr>
              <a:t>Github</a:t>
            </a:r>
            <a:endParaRPr lang="en-US"/>
          </a:p>
          <a:p>
            <a:pPr marL="342900" indent="-342900" algn="l">
              <a:buFontTx/>
              <a:buChar char="-"/>
            </a:pPr>
            <a:r>
              <a:rPr lang="en-US">
                <a:hlinkClick r:id="rId4"/>
              </a:rPr>
              <a:t>Bài viết tóm tắt</a:t>
            </a:r>
            <a:endParaRPr lang="en-US"/>
          </a:p>
          <a:p>
            <a:pPr algn="l"/>
            <a:r>
              <a:rPr lang="en-US"/>
              <a:t>Giải đáp bài tập hàng tuần:</a:t>
            </a:r>
          </a:p>
          <a:p>
            <a:pPr marL="342900" indent="-342900" algn="l">
              <a:buFontTx/>
              <a:buChar char="-"/>
            </a:pPr>
            <a:r>
              <a:rPr lang="en-US"/>
              <a:t>Vui lòng post tại group: </a:t>
            </a:r>
            <a:r>
              <a:rPr lang="en-US">
                <a:hlinkClick r:id="rId5"/>
              </a:rPr>
              <a:t>Ban học tập CNPM - Ngôi nhà sẻ chia</a:t>
            </a:r>
            <a:r>
              <a:rPr lang="en-US"/>
              <a:t> theo định dạng</a:t>
            </a:r>
          </a:p>
          <a:p>
            <a:pPr algn="l"/>
            <a:r>
              <a:rPr lang="en-US"/>
              <a:t>[Bài Lab] – [Problem cần hỏi]</a:t>
            </a:r>
          </a:p>
          <a:p>
            <a:pPr algn="l"/>
            <a:r>
              <a:rPr lang="en-US"/>
              <a:t>[Trình bày vấn đề]</a:t>
            </a:r>
          </a:p>
          <a:p>
            <a:pPr algn="l"/>
            <a:r>
              <a:rPr lang="en-US"/>
              <a:t>#OOP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33275-80ED-C475-7A0C-867978AF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5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2E09-B0A8-E8B9-48E6-7DFDBC66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Nội dung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8A95BAC-2D72-099D-A4C4-6645783D16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317972"/>
              </p:ext>
            </p:extLst>
          </p:nvPr>
        </p:nvGraphicFramePr>
        <p:xfrm>
          <a:off x="838201" y="1825625"/>
          <a:ext cx="10330541" cy="4313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056">
                  <a:extLst>
                    <a:ext uri="{9D8B030D-6E8A-4147-A177-3AD203B41FA5}">
                      <a16:colId xmlns:a16="http://schemas.microsoft.com/office/drawing/2014/main" val="1597097040"/>
                    </a:ext>
                  </a:extLst>
                </a:gridCol>
                <a:gridCol w="2662410">
                  <a:extLst>
                    <a:ext uri="{9D8B030D-6E8A-4147-A177-3AD203B41FA5}">
                      <a16:colId xmlns:a16="http://schemas.microsoft.com/office/drawing/2014/main" val="3095679711"/>
                    </a:ext>
                  </a:extLst>
                </a:gridCol>
                <a:gridCol w="2933803">
                  <a:extLst>
                    <a:ext uri="{9D8B030D-6E8A-4147-A177-3AD203B41FA5}">
                      <a16:colId xmlns:a16="http://schemas.microsoft.com/office/drawing/2014/main" val="3708879986"/>
                    </a:ext>
                  </a:extLst>
                </a:gridCol>
                <a:gridCol w="1893636">
                  <a:extLst>
                    <a:ext uri="{9D8B030D-6E8A-4147-A177-3AD203B41FA5}">
                      <a16:colId xmlns:a16="http://schemas.microsoft.com/office/drawing/2014/main" val="3511080248"/>
                    </a:ext>
                  </a:extLst>
                </a:gridCol>
                <a:gridCol w="1893636">
                  <a:extLst>
                    <a:ext uri="{9D8B030D-6E8A-4147-A177-3AD203B41FA5}">
                      <a16:colId xmlns:a16="http://schemas.microsoft.com/office/drawing/2014/main" val="3683299383"/>
                    </a:ext>
                  </a:extLst>
                </a:gridCol>
              </a:tblGrid>
              <a:tr h="616274"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Tuần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Nội dung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Tài liệu học tập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Deadline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Trọng số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85586"/>
                  </a:ext>
                </a:extLst>
              </a:tr>
              <a:tr h="616274"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3 - 4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1. Ôn tập C++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1 Hackerrank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 tuần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092040"/>
                  </a:ext>
                </a:extLst>
              </a:tr>
              <a:tr h="616274"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5 - 6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2. OOP cơ bản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2 Hackerrank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 tuần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877085"/>
                  </a:ext>
                </a:extLst>
              </a:tr>
              <a:tr h="616274"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7 - 8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3. 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3 Hackerrank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2 tuần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915165"/>
                  </a:ext>
                </a:extLst>
              </a:tr>
              <a:tr h="616274"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9 - 10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4. Kế thừa, đa hình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4 Hackerrank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 tuần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824033"/>
                  </a:ext>
                </a:extLst>
              </a:tr>
              <a:tr h="616274"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11 - 12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5. Ôn tập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5 Hackerrank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2 tuần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97364"/>
                  </a:ext>
                </a:extLst>
              </a:tr>
              <a:tr h="616274"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13 - 14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Lab 6. Thi cuối kì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Đề thi thực hành các năm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120 phút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1823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C5A5C-B4D0-43F2-C574-6D11E876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36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5BB5-470E-6BE1-91E7-0DEF567D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Quy định trong lớp thực hành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845D9-F0FD-DE3A-C291-BCDF3355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Có thể làm bài tập tại nhà và không cần tới lớp.</a:t>
            </a:r>
          </a:p>
          <a:p>
            <a:r>
              <a:rPr lang="en-VN"/>
              <a:t>Sinh viên lớp .1 (hoặc .2) phải làm đúng theo contest lớp .1 (hoặc .2), trường hợp nộp sai contest sẽ không được tính điểm.</a:t>
            </a:r>
          </a:p>
          <a:p>
            <a:r>
              <a:rPr lang="en-VN"/>
              <a:t>Đổi tên username Hackerrank theo đúng định dạng _2x52xxxx (có mã số sinh viên sau cùng).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A59E1-7796-494C-E32C-07E1C966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0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DE1D-5218-3F1F-6883-B51BD45E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Một số câu hỏi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5D8E6-5791-BBC3-7777-4A414C03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62B03-52A4-2A31-A5A0-829B2A0F8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3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Lab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Ôn tập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5A5AA-092F-F762-FC4A-5FE44A096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8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Lý thuyết tuần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Quy tắc đặt tên biến, hàm, …</a:t>
            </a:r>
          </a:p>
          <a:p>
            <a:r>
              <a:rPr lang="en-US"/>
              <a:t>Quy tắc cách lề, xuống dòng, …</a:t>
            </a:r>
          </a:p>
          <a:p>
            <a:r>
              <a:rPr lang="en-US"/>
              <a:t>Quy tắc ghi comment</a:t>
            </a:r>
          </a:p>
          <a:p>
            <a:r>
              <a:rPr lang="en-US"/>
              <a:t>C++ cơ bản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3737D-6DC2-9949-18DB-A8A6DF6C3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68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1.1. cin &amp; cout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384777"/>
            <a:ext cx="55756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accent2"/>
                </a:solidFill>
              </a:rPr>
              <a:t>&lt;include iostream&gt;</a:t>
            </a:r>
          </a:p>
          <a:p>
            <a:r>
              <a:rPr lang="en-US" sz="3200"/>
              <a:t>int count_elements;</a:t>
            </a:r>
          </a:p>
          <a:p>
            <a:r>
              <a:rPr lang="en-US" sz="3200">
                <a:solidFill>
                  <a:schemeClr val="accent2">
                    <a:lumMod val="50000"/>
                  </a:schemeClr>
                </a:solidFill>
              </a:rPr>
              <a:t>cin</a:t>
            </a:r>
            <a:r>
              <a:rPr lang="en-US" sz="3200"/>
              <a:t> </a:t>
            </a:r>
            <a:r>
              <a:rPr lang="en-US" sz="3200">
                <a:solidFill>
                  <a:srgbClr val="0070C0"/>
                </a:solidFill>
              </a:rPr>
              <a:t>&gt;&gt;</a:t>
            </a:r>
            <a:r>
              <a:rPr lang="en-US" sz="3200"/>
              <a:t> </a:t>
            </a:r>
            <a:r>
              <a:rPr lang="en-US" sz="3200">
                <a:solidFill>
                  <a:schemeClr val="accent2">
                    <a:lumMod val="50000"/>
                  </a:schemeClr>
                </a:solidFill>
              </a:rPr>
              <a:t>count_elements;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9048" y="4384777"/>
            <a:ext cx="55756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accent2"/>
                </a:solidFill>
              </a:rPr>
              <a:t>&lt;include XeOto.h&gt;</a:t>
            </a:r>
          </a:p>
          <a:p>
            <a:r>
              <a:rPr lang="en-US" sz="3200"/>
              <a:t>XeOto xe_audi, xe_ford;</a:t>
            </a:r>
          </a:p>
          <a:p>
            <a:r>
              <a:rPr lang="en-US" sz="3200">
                <a:solidFill>
                  <a:schemeClr val="accent2">
                    <a:lumMod val="50000"/>
                  </a:schemeClr>
                </a:solidFill>
              </a:rPr>
              <a:t>xe_audi</a:t>
            </a:r>
            <a:r>
              <a:rPr lang="en-US" sz="3200"/>
              <a:t> </a:t>
            </a:r>
            <a:r>
              <a:rPr lang="en-US" sz="3200">
                <a:solidFill>
                  <a:srgbClr val="0070C0"/>
                </a:solidFill>
              </a:rPr>
              <a:t>+=</a:t>
            </a:r>
            <a:r>
              <a:rPr lang="en-US" sz="3200"/>
              <a:t> </a:t>
            </a:r>
            <a:r>
              <a:rPr lang="en-US" sz="3200">
                <a:solidFill>
                  <a:schemeClr val="accent2">
                    <a:lumMod val="50000"/>
                  </a:schemeClr>
                </a:solidFill>
              </a:rPr>
              <a:t>xe_ford</a:t>
            </a:r>
            <a:r>
              <a:rPr lang="en-US" sz="3200"/>
              <a:t>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49229F-E639-0A3E-E918-54110FCD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11" name="Table 17">
            <a:extLst>
              <a:ext uri="{FF2B5EF4-FFF2-40B4-BE49-F238E27FC236}">
                <a16:creationId xmlns:a16="http://schemas.microsoft.com/office/drawing/2014/main" id="{2AE1F48E-4F28-6436-916D-AE3A48948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622363"/>
              </p:ext>
            </p:extLst>
          </p:nvPr>
        </p:nvGraphicFramePr>
        <p:xfrm>
          <a:off x="986790" y="1878664"/>
          <a:ext cx="9220200" cy="1950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50">
                  <a:extLst>
                    <a:ext uri="{9D8B030D-6E8A-4147-A177-3AD203B41FA5}">
                      <a16:colId xmlns:a16="http://schemas.microsoft.com/office/drawing/2014/main" val="351112269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909741625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134083649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1705683265"/>
                    </a:ext>
                  </a:extLst>
                </a:gridCol>
              </a:tblGrid>
              <a:tr h="715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olidFill>
                            <a:schemeClr val="tx1"/>
                          </a:solidFill>
                        </a:rPr>
                        <a:t>namespace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olidFill>
                            <a:schemeClr val="accent2"/>
                          </a:solidFill>
                        </a:rPr>
                        <a:t>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olidFill>
                            <a:srgbClr val="0070C0"/>
                          </a:solidFill>
                        </a:rPr>
                        <a:t>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75117"/>
                  </a:ext>
                </a:extLst>
              </a:tr>
              <a:tr h="123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>
                          <a:solidFill>
                            <a:schemeClr val="tx1"/>
                          </a:solidFill>
                        </a:rPr>
                        <a:t>iostream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/>
                        <a:t>&lt;istream&gt;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/>
                        <a:t>XeOto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/>
                        <a:t>cin</a:t>
                      </a:r>
                      <a:endParaRPr lang="en-VN" sz="32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/>
                        <a:t>xe_audi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/>
                        <a:t>&gt;&gt;</a:t>
                      </a:r>
                    </a:p>
                    <a:p>
                      <a:r>
                        <a:rPr lang="en-VN" sz="3200">
                          <a:solidFill>
                            <a:schemeClr val="tx1"/>
                          </a:solidFill>
                        </a:rPr>
                        <a:t>+=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402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855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3186F-ACA5-2CDC-07A3-119704A9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1.4. Một số mẹo hữu ích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32ADA-8D2E-7714-C5A9-ED45B7731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+ Từ khoá auto.</a:t>
            </a:r>
          </a:p>
          <a:p>
            <a:pPr marL="0" indent="0">
              <a:buNone/>
            </a:pPr>
            <a:r>
              <a:rPr lang="en-VN"/>
              <a:t>+ Đối tượng vector&lt;&gt; để tạo kiểu dữ liệu 1 chiều, hoặc vector&lt;vector&lt;&gt;&gt; để tạo kiểu dữ liệu 2 chiều.</a:t>
            </a:r>
          </a:p>
          <a:p>
            <a:pPr marL="0" indent="0">
              <a:buNone/>
            </a:pPr>
            <a:r>
              <a:rPr lang="en-VN"/>
              <a:t>+ CTDL stack, queue, tree, hashmap,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7A83D-8964-2019-7D8B-8AD86666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63E13-6253-4AA0-BAE6-80A9637511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99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</TotalTime>
  <Words>419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Giới thiệu</vt:lpstr>
      <vt:lpstr>Nội dung</vt:lpstr>
      <vt:lpstr>Quy định trong lớp thực hành</vt:lpstr>
      <vt:lpstr>Một số câu hỏi</vt:lpstr>
      <vt:lpstr>Lab 1</vt:lpstr>
      <vt:lpstr>1. Lý thuyết tuần 1</vt:lpstr>
      <vt:lpstr>1.1. cin &amp; cout</vt:lpstr>
      <vt:lpstr>1.4. Một số mẹo hữu ích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thực hành tuần 1</dc:title>
  <dc:creator>Tuan Hai Vu</dc:creator>
  <cp:lastModifiedBy>Vũ Tuấn Hải</cp:lastModifiedBy>
  <cp:revision>33</cp:revision>
  <dcterms:created xsi:type="dcterms:W3CDTF">2020-03-13T13:49:04Z</dcterms:created>
  <dcterms:modified xsi:type="dcterms:W3CDTF">2026-01-29T05:30:59Z</dcterms:modified>
</cp:coreProperties>
</file>